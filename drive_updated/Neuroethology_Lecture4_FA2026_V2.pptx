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Crayfish tail-flip: lateral and medial giant fiber circuits (Wine &amp; Krasne)
Monday, August 31, 2026
Herberholz et al. (2011), Fig. 1(B). Juvenile Procambarus clarkii used in the imaging study.
Source: https://doi.org/10.3389/fnbeh.2011.00016
Full reference: J. Herberholz; S. H. Mishra; D. Uma; M. W. Germann; D. H. Edwards; K. Potter (2011). Non-invasive imaging of neuroanatomical structures and neural activation with high-resolution MRI. Frontiers in Behavioral Neuroscience 5:16. https://doi.org/10.3389/fnbeh.2011.00016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tail flip is a rapid abdominal flexion that propels a crayfish through water. Wine and Krasne studied Procambarus clarkii with chronically implanted electrodes and high-speed film. The lateral giant, or LG, and medial giant, or MG, are large interneurons that recruit different escape movements.
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
The response depends on which circuit is recruited, rather than abdominal flexion having one obligatory direction. These experiments connected neural signals with freely moving behavior; they did not identify every synapse contributing to each appendage movement.
An interneuron links other neurons within the nervous system. LG and MG are interneurons rather than the motor neurons whose axons directly leave the nervous system to innervate muscles.
References:
J. J. Wine; F. B. Krasne (1972). The Organization of Escape Behaviour in the Crayfish. Journal of Experimental Biology 56(1):1–18. https://doi.org/10.1242/jeb.56.1.1
Wine &amp; Krasne (1972), Fig. 5. Original tracings of filmed lateral- and medial-giant tail flips.
Figure source: https://doi.org/10.1242/jeb.56.1.1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Wine and Krasne implanted pairs of 0.5 mm silver-ball electrodes near the nerve cord of crayfish 6–8 cm long. An extracellular recording measures voltage outside neurons and can detect passing action potentials. The animals subsequently moved freely while their escape responses were recorded.
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
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
An action potential is a regenerative electrical signal propagated along a neuronal membrane. The implanted leads allowed the investigators to relate such signals to behavior without assuming that every tail flip used a giant neuron.
References:
J. J. Wine; F. B. Krasne (1972). The Organization of Escape Behaviour in the Crayfish. Journal of Experimental Biology 56(1):1–18. https://doi.org/10.1242/jeb.56.1.1
Wine &amp; Krasne (1972), Fig. 2. Simultaneous connective and abdominal recordings of giant-fiber activity.
Figure source: https://doi.org/10.1242/jeb.56.1.1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phasic stimulus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
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
These findings associate giant recruitment with stimulus timing, rather than a simple requirement for damaging intensity. The latency graph compares giant spikes with first major muscle potentials for nongiant responses, so its response markers are related but not identical.
Latency means the elapsed time between a defined stimulus event and a defined response event. The paper used a microphone on the stimulating rod to mark contact; it did not measure neuronal latency from an inferred subjective perception.
References:
J. J. Wine; F. B. Krasne (1972). The Organization of Escape Behaviour in the Crayfish. Journal of Experimental Biology 56(1):1–18. https://doi.org/10.1242/jeb.56.1.1
Wine &amp; Krasne (1972), Fig. 4. Original distributions of giant-spike and nongiant muscle-response latency.
Figure source: https://doi.org/10.1242/jeb.56.1.1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Nongiant escape is a tail flip produced without detected activity in either giant-fiber pathway. Wine and Krasne recorded sequences in which an anterior tap triggered an MG spike or an abdominal tap triggered an LG spike. Subsequent flexions generally occurred without corresponding giant spikes.
The implanted cord recordings retained both the large initial neural event and later muscle activity. In one sequence, swimming resumed after a 350 ms pause with a nongiant first flip. A sequence of similar-looking flexions therefore need not be a sequence of giant-mediated reflexes.
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
The slower, larger voltage swings are muscle potentials. Distinguishing them from the narrow giant spikes prevents a motor recording from being mistaken for renewed giant-neuron firing.
References:
J. J. Wine; F. B. Krasne (1972). The Organization of Escape Behaviour in the Crayfish. Journal of Experimental Biology 56(1):1–18. https://doi.org/10.1242/jeb.56.1.1
Wine &amp; Krasne (1972), Fig. 3(A,B). Giant-mediated initial responses followed by nongiant swimming.
Figure source: https://doi.org/10.1242/jeb.56.1.1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truncated tail flip stops before completing full flexion or re-extension. Wine and Krasne filmed nongiant swimming and observed truncated movements, changes of direction, and flexions resembling either giant-mediated trajectory. Their published sequence contains tracings separated by about 10 ms.
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
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
The paper uses spontaneous to describe a response without an obvious immediate change in the environment. That operational description does not establish absence of internal or previously sustained external causes.
References:
J. J. Wine; F. B. Krasne (1972). The Organization of Escape Behaviour in the Crayfish. Journal of Experimental Biology 56(1):1–18. https://doi.org/10.1242/jeb.56.1.1
Wine &amp; Krasne (1972), Fig. 6. Filmed truncated tail flip during a swimming sequence.
Figure source: https://doi.org/10.1242/jeb.56.1.1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transection severs a neural pathway to test whether signals crossing it are required for a response. Wine and Krasne cut the crayfish nerve cord at several levels and tested responses to taps, gradual caudal stimuli, and swimming. They spared nearby arteries during the operations.
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
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
A ganglion is a concentration of neuronal cell bodies and neuropil. Neuropil contains the interwoven neuronal processes and synapses where much of the local circuit interaction occurs.
References:
J. J. Wine; F. B. Krasne (1972). The Organization of Escape Behaviour in the Crayfish. Journal of Experimental Biology 56(1):1–18. https://doi.org/10.1242/jeb.56.1.1
Wine &amp; Krasne (1972), Fig. 8. Published locations of nerve-cord transections.
Figure source: https://doi.org/10.1242/jeb.56.1.1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paired MG neurons originate in the brain, cross the midline, and continue along the ventral nerve cord to the final abdominal ganglion. Decussation means crossing from one side of the nervous system to the other. Wine and Krasne related this anatomy to anterior receptive fields and descending recorded activity.
MG axons can reach approximately 200 μm in diameter in the connectives surrounding the oesophagus, tapering in the abdomen. Rostral taps and sufficiently rapid approaching visual objects activated MG in free animals. Gradual anterior stimuli more often recruited nongiant responses.
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
A receptive field is the part of the sensory surface or stimulus space capable of affecting a neuron. The anatomical arrangement in the modern MG paper concerns antenna II inputs; additional sensory pathways are explicitly omitted from that source diagram.
References:
J. J. Wine; F. B. Krasne (1972). The Organization of Escape Behaviour in the Crayfish. Journal of Experimental Biology 56(1):1–18. https://doi.org/10.1242/jeb.56.1.1
M. E. Swierzbinski; J. Herberholz (2018). Effects of ethanol on sensory inputs to the medial giant interneurons of crayfish. Frontiers in Physiology 9:448. https://doi.org/10.3389/fphys.2018.00448
Wine &amp; Krasne (1972), Fig. 1. Receptive fields and giant-axon cross sections.
Figure source: https://doi.org/10.1242/jeb.56.1.1
Swierzbinski &amp; Herberholz (2018), Fig. 1(A). Published anatomical arrangement of antenna II input and the MG neuron.
Figure source: https://doi.org/10.3389/fphys.2018.00448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
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
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
A dendrite is a neuronal process that receives and distributes synaptic input. The color micrograph is an original confocal image of LG dendritic contacts, rather than a newly drawn representation of the segmental pathway.
References:
J. J. Wine; F. B. Krasne (1972). The Organization of Escape Behaviour in the Crayfish. Journal of Experimental Biology 56(1):1–18. https://doi.org/10.1242/jeb.56.1.1
J. Herberholz; B. L. Antonsen; D. H. Edwards (2002). A lateral excitatory network in the escape circuit of crayfish. Journal of Neuroscience 22(20):9078–9085. https://doi.org/10.1523/JNEUROSCI.22-20-09078.2002
Wine &amp; Krasne (1972), Fig. 1. Giant-axon organization and posterior receptive fields.
Figure source: https://doi.org/10.1242/jeb.56.1.1
Herberholz et al. (2002), Fig. 2(B). LG dendritic contacts with primary afferents; original 10 μm scale.
Figure source: https://doi.org/10.1523/JNEUROSCI.22-20-09078.2002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used magnetic resonance imaging, or MRI, to examine the nervous system without dissecting away the animal’s surrounding tissues. Juvenile crayfish were injected with manganese chloride, allowed to move, and then held motionless in narrow imaging tubes.
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
Repeated ganglia provide the anatomical setting for segmental giant and motor circuitry. The scan does not resolve every neuronal connection or identify active LG spikes. Anatomical visibility and activity measurement are separate properties of the imaging method.
Sagittal sections cut along the animal’s front-to-back axis. The reported scan lasted four hours and thirty-three minutes, so its spatial detail must not be confused with millisecond temporal resolution.
References:
J. Herberholz; S. H. Mishra; D. Uma; M. W. Germann; D. H. Edwards; K. Potter (2011). Non-invasive imaging of neuroanatomical structures and neural activation with high-resolution MRI. Frontiers in Behavioral Neuroscience 5:16. https://doi.org/10.3389/fnbeh.2011.00016
Herberholz et al. (2011), Fig. 2(D). Sagittal manganese-enhanced MRI of the ventral nerve cord.
Figure source: https://doi.org/10.3389/fnbeh.2011.00016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pressure-injected LG with two fluorescent tracers. Large dextran-linked Texas Red remained predominantly within the injected neuron, whereas low-molecular-weight Neurobiotin could pass into electrically coupled cells. Fluorescent detection distinguished LG from its coupled partners.
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
Dye coupling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
A primary afferent carries sensory information from a receptor toward the central nervous system. The published fluorescence colors are preserved exactly; they are labels of tracer distribution, not colors assigned to natural tissue.
References:
J. Herberholz; B. L. Antonsen; D. H. Edwards (2002). A lateral excitatory network in the escape circuit of crayfish. Journal of Neuroscience 22(20):9078–9085. https://doi.org/10.1523/JNEUROSCI.22-20-09078.2002
Herberholz et al. (2002), Fig. 2(A). LG and dye-coupled neurons in the terminal ganglion.
Figure source: https://doi.org/10.1523/JNEUROSCI.22-20-09078.2002</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
High-resolution confocal images revealed thin, vine-like LG processes wrapping around afferent axons. The original panel retains a 10 μm scale bar. These contacts occur near distal endings of the major LG dendritic branches, where sensory input enters the command neuron.
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
Distal means farther along a dendritic branch from the main axon or cell body. Because a confocal projection combines optical sections, apparent overlap must be interpreted with attention to separation in the depth dimension.
References:
J. Herberholz; B. L. Antonsen; D. H. Edwards (2002). A lateral excitatory network in the escape circuit of crayfish. Journal of Neuroscience 22(20):9078–9085. https://doi.org/10.1523/JNEUROSCI.22-20-09078.2002
Herberholz et al. (2002), Fig. 2(B). Fine dendritic processes surrounding afferent axons.
Figure source: https://doi.org/10.1523/JNEUROSCI.22-20-09078.2002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
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
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
Lateral excitation means excitation spreading between neurons at a similar stage of processing. It differs from the common sensory arrangement of lateral inhibition, in which neighboring activity suppresses rather than recruits a response.
References:
J. Herberholz; B. L. Antonsen; D. H. Edwards (2002). A lateral excitatory network in the escape circuit of crayfish. Journal of Neuroscience 22(20):9078–9085. https://doi.org/10.1523/JNEUROSCI.22-20-09078.2002
Herberholz et al. (2002), Fig. 3(A,B). A filled afferent and its coupled neighbors beside LG.
Figure source: https://doi.org/10.1523/JNEUROSCI.22-20-09078.2002</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excitatory postsynaptic potential, or EPSP, is a synaptic voltage change that promotes neuronal excitation. Herberholz and colleagues recorded a small, brief LG EPSP when an individual afferent fired after intracellular current injection. They also recorded simultaneously from pairs of afferent axons.
Depolarizing one afferent produced a smaller depolarization and corresponding EPSPs in its neighbor. Applying current to the other cell produced reciprocal effects. LG did not fire during these paired-afferent tests, excluding an LG spike as the required intermediary event.
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
Depolarization is a shift of membrane voltage in the positive direction relative to its resting value. An electrical synapse permits current flow through intercellular channels instead of requiring transmitter release at every signal transfer.
References:
J. Herberholz; B. L. Antonsen; D. H. Edwards (2002). A lateral excitatory network in the escape circuit of crayfish. Journal of Neuroscience 22(20):9078–9085. https://doi.org/10.1523/JNEUROSCI.22-20-09078.2002
Herberholz et al. (2002), Fig. 3(C,D). Afferent-to-LG transmission and interactions between sensory axons.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
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
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
Threshold is the stimulus or membrane condition at which a defined response first appears. A direct nerve-shock threshold differs from the threshold at which an afferent fires after receiving an EPSP from its neighbors.
References:
J. Herberholz; B. L. Antonsen; D. H. Edwards (2002). A lateral excitatory network in the escape circuit of crayfish. Journal of Neuroscience 22(20):9078–9085. https://doi.org/10.1523/JNEUROSCI.22-20-09078.2002
Herberholz et al. (2002), Fig. 4(A,B). Increasing nerve shocks recruit sensory EPSPs and afferent spikes.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
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
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
Presynaptic and postsynaptic describe the conventional direction of information flow at a connection. Electrical junctions can also pass current opposite that direction, so the postsynaptic cell can influence neurons supplying its input.
References:
J. Herberholz; B. L. Antonsen; D. H. Edwards (2002). A lateral excitatory network in the escape circuit of crayfish. Journal of Neuroscience 22(20):9078–9085. https://doi.org/10.1523/JNEUROSCI.22-20-09078.2002
Herberholz et al. (2002), Fig. 5(A,B). Opposite effects of LG depolarization and hyperpolarization.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Hyperpolarization shifts membrane voltage in the negative direction relative to its resting level. Herberholz and colleagues injected hyperpolarizing current into LG while presenting the same sensory-nerve stimulus. A previously suprathreshold afferent EPSP then failed to evoke its recruited spike.
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
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
The figure includes both current polarities from the original publication. The comparison retains the same sensory preparation and tests the effect of changing LG voltage rather than changing the external stimulus.
References:
J. Herberholz; B. L. Antonsen; D. H. Edwards (2002). A lateral excitatory network in the escape circuit of crayfish. Journal of Neuroscience 22(20):9078–9085. https://doi.org/10.1523/JNEUROSCI.22-20-09078.2002
Herberholz et al. (2002), Fig. 5(B). Reduction of afferent recruitment during LG hyperpolarization.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first-order mechanosensory interneuron receives input from primary sensory afferents and can transmit excitation onward to LG. Herberholz and colleagues recorded interneuron A while altering LG voltage by current injection. They compared identical nerve stimuli at rest and during imposed voltage shifts.
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
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
Interneuron A is an identified sensory interneuron with a known morphology and response pattern. Its recruitment adds the indirect afferent-to-interneuron-to-LG route to the direct afferent-to-LG route.
References:
J. Herberholz; B. L. Antonsen; D. H. Edwards (2002). A lateral excitatory network in the escape circuit of crayfish. Journal of Neuroscience 22(20):9078–9085. https://doi.org/10.1523/JNEUROSCI.22-20-09078.2002
Herberholz et al. (2002), Fig. 6(A,B). LG voltage shifts alter the firing of interneuron A.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 clamp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
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
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
The alpha component includes the direct afferent pathway; the beta component includes first-order interneuron input. The source uses these labels for compound LG responses, not for two different LG neurons.
References:
J. Herberholz; B. L. Antonsen; D. H. Edwards (2002). A lateral excitatory network in the escape circuit of crayfish. Journal of Neuroscience 22(20):9078–9085. https://doi.org/10.1523/JNEUROSCI.22-20-09078.2002
Herberholz et al. (2002), Fig. 7(A,B). LG voltage and synaptic-current responses during depolarization.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unitary synaptic response is the response associated with firing of a defined presynaptic neuron. Edwards and colleagues activated interneuron A while recording LG and imposed positive or negative shifts in LG voltage. This controlled presynaptic source differs from stimulating an entire sensory network.
Hyperpolarizing LG enlarged both the EPSP and measured excitatory synaptic current; depolarizing LG reduced them. At rest, the EPSP peaked within approximately 1 ms and decayed over the following 20 ms. The authors related these changes to voltage-sensitive electrical transmission.
The result supports a rectifying junction, whose conductance depends on the voltage difference across the connection. It does not contradict enhanced network recruitment during LG depolarization: one experiment measures a fixed unitary input, while the other allows additional afferents and interneurons to become active.
Conductance describes how readily current passes through a membrane or junction. A rectifying electrical synapse is not a fixed resistor: the relative voltages of its two cells influence the amount and direction of current.
References:
D. H. Edwards; W. J. Heitler; E. M. Leise; R. A. Fricke (1991). Postsynaptic modulation of rectifying electrical synaptic inputs to the LG escape command neuron in crayfish. Journal of Neuroscience 11(7):2117–2129. https://doi.org/10.1523/JNEUROSCI.11-07-02117.1991
J. Herberholz; B. L. Antonsen; D. H. Edwards (2002). A lateral excitatory network in the escape circuit of crayfish. Journal of Neuroscience 22(20):9078–9085. https://doi.org/10.1523/JNEUROSCI.22-20-09078.2002
Edwards et al. (1991), Fig. 3(A–D). Interneuron A transmission and voltage-dependent LG responses.
Figure source: https://doi.org/10.1523/JNEUROSCI.11-07-02117.1991
Herberholz et al. (2002), Fig. 2(B). LG dendritic contacts with primary afferents; original 10 μm scale.
Figure source: https://doi.org/10.1523/JNEUROSCI.22-20-09078.2002</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Orthodromic transmission follows the usual sensory-to-command direction, while antidromic transmission proceeds in the reverse direction. Edwards and colleagues recorded interneuron A while shifting LG voltage or evoking an LG action potential. They tested electrical communication in both directions across the same connection.
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
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
The paper controlled LG voltage with separate current-injection and recording electrodes. This reduces confusion between a true change in neuronal membrane potential and a voltage drop across the electrode itself.
References:
D. H. Edwards; W. J. Heitler; E. M. Leise; R. A. Fricke (1991). Postsynaptic modulation of rectifying electrical synaptic inputs to the LG escape command neuron in crayfish. Journal of Neuroscience 11(7):2117–2129. https://doi.org/10.1523/JNEUROSCI.11-07-02117.1991
J. Herberholz; B. L. Antonsen; D. H. Edwards (2002). A lateral excitatory network in the escape circuit of crayfish. Journal of Neuroscience 22(20):9078–9085. https://doi.org/10.1523/JNEUROSCI.22-20-09078.2002
Edwards et al. (1991), Fig. 4(A–C). Reverse transfer from LG to interneuron A.
Figure source: https://doi.org/10.1523/JNEUROSCI.11-07-02117.1991
Herberholz et al. (2002), Fig. 2(B). LG dendritic contacts with primary afferents; original 10 μm scale.
Figure source: https://doi.org/10.1523/JNEUROSCI.22-20-09078.2002</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Coincidence detection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
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
The experiment establishes very precise timing sensitivity in sensory input to LG. It does not measure the timing of natural receptor spikes during every predator encounter. Nerve shocks synchronize recruited axons and provide a controlled test of the central integration mechanism.
The Greek μ in the original article denotes microseconds. One hundred microseconds is 0.1 ms, rather than the 100 ms that can appear in faulty text extraction from this PDF.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3(B). LG EPSP amplitude as a function of sensory-input delay.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Edwards and colleagues asked whether precise timing sensitivity required excitation through sensory interneurons. They isolated the early alpha component, dominated by direct afferent-to-LG electrical input, either by weakening the nerve stimuli or by blocking nicotinic transmission with mecamylamine.
Acetylcholine is the transmitter implicated at the afferent-to-interneuron chemical synapses; a nicotinic receptor is an acetylcholine-gated ion channel. Mecamylamine reduced this chemical route. Even after the indirect pathway was suppressed, the alpha response remained largest for coincident inputs and declined with increasing delay.
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
The source reports 50 μM mecamylamine in the pharmacological isolation test. That concentration blocks nicotinic transmission in this preparation; the experiment does not establish that every crayfish chemical synapse is cholinergic.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4(A–C). Timing sensitivity of full, alpha-only, and picrotoxin-treated responses.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Picrotoxin blocks the inhibitory channel mechanisms tested in these crayfish preparations. Edwards and colleagues applied 10 μM picrotoxin while comparing paired nerve inputs at different delays. They tested whether delayed inhibition could account for the very narrow coincidence peak.
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
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
Feed-forward inhibition occurs when sensory excitation also recruits an inhibitory pathway to the target neuron. It can curtail later excitation even when the first fractions of a millisecond are filtered by electrical-junction properties.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4(C). Coincidence sensitivity during picrotoxin superfusion.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
Their computational comparisons reproduced reduced summation for short input delays with voltage-sensitive junctions. The experimental nerve-pair data confirmed sharp coincidence sensitivity, including a decrease for 0.1 ms separation. Shunting means diverting current through an available conductance so that it contributes less to the desired voltage response.
The model supplies a mechanistic account consistent with the recordings, not a direct measurement of every individual gap-junction current in vivo. Its assumed channel kinetics must remain distinguishable from the physiological evidence for timing-dependent EPSP reduction.
Repolarization is the return of a depolarized membrane toward its resting voltage. An open electrical connection can change its current direction as the voltage difference reverses; rectification does not prevent this while the junction remains conductive.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3(B). Measured timing sensitivity used to test the rectifying-junction account.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Postexcitatory inhibition, or PEI, is inhibition that follows the early excitation evoked by sensory input. Vu and colleagues recorded LG in isolated crayfish abdomens and stimulated sensory roots. They compared the compound response before and during picrotoxin application.
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
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
The original paper reports the effective picrotoxin range as 7–10 μM. Inhibitory pharmacology is interpreted together with the current-injection controls, rather than using one altered waveform to assign a complete circuit.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2(A,B). Picrotoxin changes the late portion of a root-evoked LG response.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
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
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
The experiment avoids refractoriness of the test interneuron caused by the initial root stimulus. A refractory interval is a period after a spike when a neuron cannot fire again normally; here the test spike was separately evoked.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3(A,B). Reduction of an interneuron A test EPSP at different delays.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repeated the interneuron A test during picrotoxin exposure. The test spike was timed so its LG EPSP occurred 8 ms after a sensory-root stimulus. The control comparison retained the same type of defined presynaptic input and compound LG response.
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
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
An antagonist reduces the action of a receptor or channel-mediated process. Picrotoxin acts on inhibitory channel function in this experiment; attenuation remaining during its application requires an explanation beyond complete removal of one GABAergic component.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5(A,B). Test-EPSP attenuation before and during picrotoxin treatment.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Input resistance is the voltage response produced by an injected current, expressed relative to that current. A smaller response to the same current indicates that more current can escape through membrane conductance. Vu and colleagues measured this property during the sensory-evoked LG potential.
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
GABA,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
A reversal potential is the membrane voltage at which the net current through a particular conductance changes direction. The study found the PEI reversal level more positive than rest but below spike threshold, consistent with depolarizing inhibition.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6(A,B). Reduced attenuation of injected-current responses during picrotoxin.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compared pairs of sensory-root shocks separated by 8 ms. The second shock was delivered either to the same root or to a different root in the same ganglion. These roots supply partly distinct dendritic regions, allowing a test of spatial specificity.
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
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
Distal dendritic inhibition can suppress sensory input where it enters LG. Recurrent inhibition near the spike-generating region has a different spatial effect, so the two inhibitory processes should not be treated as identical.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11(A–E). Comparison of repeated same-root and different-root stimuli.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segmental giant, or SG, is a relay neuron through which giant-fiber activity excites many fast-flexor motor neurons. Fraser and Heitler filled SG with Lucifer Yellow and illuminated it to disrupt its function. This photoinactivation allowed them to test pathways normally obscured by the relay’s strong output.
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
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
A motor neuron carries its axon out of the central nervous system toward an effector. SG has unusual motor-neuron-like anatomy but functions as an internal relay; the fast-flexor cells provide motor output to abdominal muscles.
References:
K. Fraser; W. J. Heitler (1991). Photoinactivation of the crayfish segmental giant neuron reveals a direct giant-fiber to fast-flexor connection with a chemical component. Journal of Neuroscience 11(1):59–71. https://doi.org/10.1523/JNEUROSCI.11-01-00059.1991
Fraser &amp; Heitler (1991), Fig. 1(A–C). Recordings before and during dye-mediated segmental-giant inactivation.
Figure source: https://doi.org/10.1523/JNEUROSCI.11-01-00059.1991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photoinactivated SG on both sides of an abdominal ganglion. Removing only one SG would leave a contralateral route capable of exciting the recorded fast-flexor motor neuron. Bilateral manipulation therefore controlled an important parallel pathway.
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
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
The motor giant, MoG, is a specialized abdominal flexor motor neuron with a powerful electrical input from the giant fibers. It is distinct from SG and from the broader group of nongiant fast-flexor motor neurons.
References:
K. Fraser; W. J. Heitler (1991). Photoinactivation of the crayfish segmental giant neuron reveals a direct giant-fiber to fast-flexor connection with a chemical component. Journal of Neuroscience 11(1):59–71. https://doi.org/10.1523/JNEUROSCI.11-01-00059.1991
Fraser &amp; Heitler (1991), Fig. 2(A–C). Residual LG-to-fast-flexor responses after bilateral SG inactivation.
Figure source: https://doi.org/10.1523/JNEUROSCI.11-01-00059.1991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
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
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
A monosynaptic pathway crosses one synaptic connection; a disynaptic pathway crosses two. SG photoinactivation separates the dominant disynaptic relay contribution from a smaller direct connection, rather than proving that every remaining signal has one universal amplitude.
References:
K. Fraser; W. J. Heitler (1991). Photoinactivation of the crayfish segmental giant neuron reveals a direct giant-fiber to fast-flexor connection with a chemical component. Journal of Neuroscience 11(1):59–71. https://doi.org/10.1523/JNEUROSCI.11-01-00059.1991
Fraser &amp; Heitler (1991), Fig. 4(A,B). Comparisons of LG and MG input after SG removal.
Figure source: https://doi.org/10.1523/JNEUROSCI.11-01-00059.1991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chemical synapse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
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
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
The source tested cadmium at 2–2.5 mM in the relevant preparations. Calcium-dependent release is a mechanistic class; the paper does not establish which calcium-channel subtype provides the presynaptic calcium entry.
References:
K. Fraser; W. J. Heitler (1991). Photoinactivation of the crayfish segmental giant neuron reveals a direct giant-fiber to fast-flexor connection with a chemical component. Journal of Neuroscience 11(1):59–71. https://doi.org/10.1523/JNEUROSCI.11-01-00059.1991
Fraser &amp; Heitler (1991), Fig. 9(A,B). Residual LG-to-fast-flexor response during cadmium exposure.
Figure source: https://doi.org/10.1523/JNEUROSCI.11-01-00059.1991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
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
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
Temperature is an experimental manipulation here. The short-latency component is consistent with electrical transmission, while the longer-latency cadmium-sensitive component supports transmitter-mediated input; neither component is newly redrawn in the deck.
References:
K. Fraser; W. J. Heitler (1991). Photoinactivation of the crayfish segmental giant neuron reveals a direct giant-fiber to fast-flexor connection with a chemical component. Journal of Neuroscience 11(1):59–71. https://doi.org/10.1523/JNEUROSCI.11-01-00059.1991
Fraser &amp; Heitler (1991), Fig. 10(A–C). Residual motor EPSPs at 20°C, 7°C, and with cadmium.
Figure source: https://doi.org/10.1523/JNEUROSCI.11-01-00059.1991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
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
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
A stimulus artifact is the recorded electrical disturbance produced directly by the applied shock. The 3 ms and 6 ms measurements are delays from that artifact, not independent measurements of the first natural antenna movement.
References:
M. E. Swierzbinski; J. Herberholz (2018). Effects of ethanol on sensory inputs to the medial giant interneurons of crayfish. Frontiers in Physiology 9:448. https://doi.org/10.3389/fphys.2018.00448
Swierzbinski &amp; Herberholz (2018), Fig. 1(B). Antenna II-evoked connective activity and intracellular MG potentials.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baseline control measures the preparation without the tested drug, allowing changes over time to be distinguished from treatment effects. Swierzbinski and Herberholz stimulated the antenna II nerve every 90 s while continuously superfusing the exposed MG preparation with normal crayfish saline.
After a ten-minute baseline, responses were followed for another 90 minutes. The early and late potentials fluctuated but did not undergo the major sustained increase seen with ethanol. The original published traces retain their color coding for successive recording times.
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
Superfusion continually replaces the solution bathing the tissue. The study kept flow at 5 ml per minute, making solution exchange a controlled part of the experiment rather than an unspecified exposure.
References:
M. E. Swierzbinski; J. Herberholz (2018). Effects of ethanol on sensory inputs to the medial giant interneurons of crayfish. Frontiers in Physiology 9:448. https://doi.org/10.3389/fphys.2018.00448
Swierzbinski &amp; Herberholz (2018), Fig. 2(B). Early and late MG potentials during repeated saline stimulation.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superfused MG preparations with 100 mM ethanol, the alcohol molecule tested here, after a saline baseline. Antenna II stimuli remained 90 s apart. Early and late MG potentials were measured separately to avoid treating the compound response as a single uniform signal.
The early potential rose to roughly one-and-a-half times its baseline amplitude during ethanol exposure. Enhancement remained after 60 minutes of saline washout. The late component varied and did not provide comparably strong evidence for a sustained enhancement.
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
The source reports an early response of approximately 157% of baseline after 60 minutes of ethanol and approximately 156% after 60 minutes of washout. These values describe normalized potential amplitude, not percentage of animals escaping.
References:
M. E. Swierzbinski; J. Herberholz (2018). Effects of ethanol on sensory inputs to the medial giant interneurons of crayfish. Frontiers in Physiology 9:448. https://doi.org/10.3389/fphys.2018.00448
Swierzbinski &amp; Herberholz (2018), Fig. 3. MG potential amplitudes before, during, and after ethanol exposure.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applied 25 μM picrotoxin to test inhibitory-channel contributions to MG input. An antagonist reduces a receptor-associated process; this drug interferes with inhibitory ion-channel function. The experiment compared early and late sensory potentials with their saline baseline.
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
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
GABAergic means mediated by GABA. The paper interprets its pharmacology in that framework, but receptor subunit composition and the precise cellular locations of all affected receptors were not directly identified.
References:
M. E. Swierzbinski; J. Herberholz (2018). Effects of ethanol on sensory inputs to the medial giant interneurons of crayfish. Frontiers in Physiology 9:448. https://doi.org/10.3389/fphys.2018.00448
Swierzbinski &amp; Herberholz (2018), Fig. 4(B). Early and late MG potentials during picrotoxin and washout.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Muscimol is an agonist of ionotropic GABA receptors; an agonist activates a receptor-associated response. An ionotropic receptor directly gates an ion channel. Swierzbinski and Herberholz applied 25 μM muscimol for 30 minutes while repeatedly measuring antenna II-evoked MG potentials.
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
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
The study measured input resistance with a second intracellular electrode and current steps from −40 to 40 nA. This tested MG membrane responsiveness, while the sensory potential also depended on the pathways supplying MG.
References:
M. E. Swierzbinski; J. Herberholz (2018). Effects of ethanol on sensory inputs to the medial giant interneurons of crayfish. Frontiers in Physiology 9:448. https://doi.org/10.3389/fphys.2018.00448
Swierzbinski &amp; Herberholz (2018), Fig. 4(C). MG potentials during muscimol exposure and saline washout.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exposed MG preparations to muscimol before applying ethanol. The sequence included a saline baseline, 30 minutes of 25 μM muscimol, 30 minutes of 100 mM ethanol, and 60 minutes of saline washout. Early and late sensory potentials were measured throughout.
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
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
Comparing treatment sequences distinguishes interaction from a claim that two drugs merely add independent effects. The source did not identify a unique biochemical pathway sufficient to account for the observed interaction.
References:
M. E. Swierzbinski; J. Herberholz (2018). Effects of ethanol on sensory inputs to the medial giant interneurons of crayfish. Frontiers in Physiology 9:448. https://doi.org/10.3389/fphys.2018.00448
Swierzbinski &amp; Herberholz (2018), Fig. 5. MG responses to muscimol followed by ethanol.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Manganese-enhanced MRI, or MEMRI, uses manganese ions to increase tissue contrast and mark activity-associated uptake. Manganese can enter depolarized cells through voltage-gated calcium channels. Such channels open in response to membrane voltage and normally provide a route for calcium entry.
Herberholz and colleagues injected 40 μl of 25 mM manganese chloride and stimulated the antenna II nerve at 4 Hz. T1-weighted brain images at 31 μm in-plane resolution contained greater uptake on the stimulated side, including the antenna II nerve and accessory-lobe region.
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
The published sections retain 1 mm scale bars and the original directional arrows. Manganese entry is used as an activity-related marker; these scans do not identify a calcium-channel subtype or a synapse-specific tracer transfer rate.
References:
J. Herberholz; S. H. Mishra; D. Uma; M. W. Germann; D. H. Edwards; K. Potter (2011). Non-invasive imaging of neuroanatomical structures and neural activation with high-resolution MRI. Frontiers in Behavioral Neuroscience 5:16. https://doi.org/10.3389/fnbeh.2011.00016
Herberholz et al. (2011), Fig. 3(A,B). Axial brain sections after antenna II stimulation and manganese injection.
Figure source: https://doi.org/10.3389/fnbeh.2011.00016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
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
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
T1 and T2 are different magnetic relaxation measures, not two neural pathways. An image with stronger overall contrast can be less informative about a subtle activity-associated difference between the two sides of the brain.
References:
J. Herberholz; S. H. Mishra; D. Uma; M. W. Germann; D. H. Edwards; K. Potter (2011). Non-invasive imaging of neuroanatomical structures and neural activation with high-resolution MRI. Frontiers in Behavioral Neuroscience 5:16. https://doi.org/10.3389/fnbeh.2011.00016
Herberholz et al. (2011), Fig. 4. Original stimulated and unstimulated brain-image stacks.
Figure source: https://doi.org/10.3389/fnbeh.2011.00016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
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
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
The injected dose was 10 μl of 50 mM manganese chloride. The investigators used a T1-weighted scan with 78 μm in-plane resolution for the cord overview and higher spatial detail in the enlarged ganglion acquisition.
References:
J. Herberholz; S. H. Mishra; D. Uma; M. W. Germann; D. H. Edwards; K. Potter (2011). Non-invasive imaging of neuroanatomical structures and neural activation with high-resolution MRI. Frontiers in Behavioral Neuroscience 5:16. https://doi.org/10.3389/fnbeh.2011.00016
Herberholz et al. (2011), Fig. 5(A–C). Cord, ganglion, and enlarged neuropil after repeated escape stimulation.
Figure source: https://doi.org/10.3389/fnbeh.2011.00016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
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
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
A command neuron is a neuron whose activity can initiate a defined motor program in the studied circuit. This functional term does not imply that the cell alone evaluates every sensory input, controls all later swimming, or determines the animal’s behavior independently of state.
References:
J. J. Wine; F. B. Krasne (1972). The Organization of Escape Behaviour in the Crayfish. Journal of Experimental Biology 56(1):1–18. https://doi.org/10.1242/jeb.56.1.1
D. H. Edwards; S.-R. Yeh; F. B. Krasne (1998). Neuronal coincidence detection by voltage-sensitive electrical synapses. Proceedings of the National Academy of Sciences USA 95(12):7145–7150. https://doi.org/10.1073/pnas.95.12.7145
K. Fraser; W. J. Heitler (1991). Photoinactivation of the crayfish segmental giant neuron reveals a direct giant-fiber to fast-flexor connection with a chemical component. Journal of Neuroscience 11(1):59–71. https://doi.org/10.1523/JNEUROSCI.11-01-00059.1991
Wine &amp; Krasne (1972), Fig. 5. Distinct filmed LG and MG escape movements.
Figure source: https://doi.org/10.1242/jeb.56.1.1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Stimulus timing and location. Abrupt posterior stimuli recruit LG-mediated upward pitching, while anterior stimuli can recruit MG-mediated backward escape; intensity alone does not determine the pathway.
Parallel escape systems. Nongiant circuits mediate slower, flexible responses and most successive swimming flips, so a tail flip does not by itself establish giant-neuron activity.
Electrical integration. Voltage-sensitive rectifying junctions support submillisecond coincidence selectivity, while lateral afferent coupling and reverse current from LG can recruit additional sensory input.
Delayed inhibition. Sensory-evoked GABAergic shunting curtails later LG excitation and is partly localized to dendritic input regions; inhibition can be depolarizing yet reduce firing.
Output connectivity. Motor-giant and segmental-giant pathways recruit abdominal flexion; removing SG exposes unequal residual LG and MG fast-flexor connections and a chemical component.
Mechanistic evidence. Defined inputs, voltage control, pharmacology, and selective relay disruption test different causal stages; proposed channel or evolutionary explanations must remain separate from measured effects.
References:
J. J. Wine; F. B. Krasne (1972). The Organization of Escape Behaviour in the Crayfish. Journal of Experimental Biology 56(1):1–18. https://doi.org/10.1242/jeb.56.1.1
D. H. Edwards; S.-R. Yeh; F. B. Krasne (1998). Neuronal coincidence detection by voltage-sensitive electrical synapses. Proceedings of the National Academy of Sciences USA 95(12):7145–7150. https://doi.org/10.1073/pnas.95.12.7145
E. T. Vu; A. Berkowitz; F. B. Krasne (1997). Postexcitatory inhibition of the crayfish lateral giant neuron: a mechanism for sensory temporal filtering. Journal of Neuroscience 17(22):8867–8879. https://doi.org/10.1523/JNEUROSCI.17-22-08867.1997
K. Fraser; W. J. Heitler (1991). Photoinactivation of the crayfish segmental giant neuron reveals a direct giant-fiber to fast-flexor connection with a chemical component. Journal of Neuroscience 11(1):59–71. https://doi.org/10.1523/JNEUROSCI.11-01-00059.1991
J. Herberholz; B. L. Antonsen; D. H. Edwards (2002). A lateral excitatory network in the escape circuit of crayfish. Journal of Neuroscience 22(20):9078–9085. https://doi.org/10.1523/JNEUROSCI.22-20-09078.2002
M. E. Swierzbinski; J. Herberholz (2018). Effects of ethanol on sensory inputs to the medial giant interneurons of crayfish. Frontiers in Physiology 9:448. https://doi.org/10.3389/fphys.2018.00448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3.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5.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54" name="Shape 554"/>
          <p:cNvSpPr/>
          <p:nvPr/>
        </p:nvSpPr>
        <p:spPr>
          <a:xfrm>
            <a:off x="0" y="0"/>
            <a:ext cx="6096000" cy="6858000"/>
          </a:xfrm>
          <a:prstGeom prst="rect">
            <a:avLst/>
          </a:prstGeom>
          <a:solidFill>
            <a:srgbClr val="0B2A45"/>
          </a:solidFill>
        </p:spPr>
        <p:txBody>
          <a:bodyPr/>
          <a:lstStyle/>
          <a:p/>
        </p:txBody>
      </p:sp>
      <p:sp>
        <p:nvSpPr>
          <p:cNvPr id="555" name="Shape 555"/>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9FC4DE"/>
                </a:solidFill>
                <a:latin typeface="Arial"/>
                <a:ea typeface="Arial"/>
              </a:rPr>
              <a:t>NEUR 411 · NEUROETHOLOGY · FALL 2026 · Lecture 4</a:t>
            </a:r>
            <a:endParaRPr lang="en-US"/>
          </a:p>
        </p:txBody>
      </p:sp>
      <p:sp>
        <p:nvSpPr>
          <p:cNvPr id="556" name="Shape 556"/>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 xml:space="preserve">Crayfish tail-flip: lateral and medial giant fiber circuits (Wine </a:t>
            </a:r>
            <a:r>
              <a:rPr sz="3000" b="1" i="0">
                <a:solidFill>
                  <a:srgbClr val="FFFFFF"/>
                </a:solidFill>
                <a:latin typeface="Arial"/>
                <a:ea typeface="Arial"/>
              </a:rPr>
              <a:t>&amp;</a:t>
            </a:r>
            <a:r>
              <a:rPr sz="3000" b="1" i="0">
                <a:solidFill>
                  <a:srgbClr val="FFFFFF"/>
                </a:solidFill>
                <a:latin typeface="Arial"/>
                <a:ea typeface="Arial"/>
              </a:rPr>
              <a:t xml:space="preserve"> Krasne)</a:t>
            </a:r>
            <a:endParaRPr lang="en-US"/>
          </a:p>
        </p:txBody>
      </p:sp>
      <p:sp>
        <p:nvSpPr>
          <p:cNvPr id="557" name="Shape 557"/>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9FC4DE"/>
                </a:solidFill>
                <a:latin typeface="Arial"/>
                <a:ea typeface="Arial"/>
              </a:rPr>
              <a:t>Monday, August 31, 2026</a:t>
            </a:r>
            <a:endParaRPr lang="en-US"/>
          </a:p>
        </p:txBody>
      </p:sp>
      <p:sp>
        <p:nvSpPr>
          <p:cNvPr id="558" name="Shape 558"/>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188" name="Presenton Native Image 1" descr=""/>
          <p:cNvPicPr/>
          <p:nvPr/>
        </p:nvPicPr>
        <p:blipFill>
          <a:blip r:embed="rId2" cstate="none"/>
          <a:stretch>
            <a:fillRect/>
          </a:stretch>
        </p:blipFill>
        <p:spPr>
          <a:xfrm>
            <a:off x="6477000" y="1670062"/>
            <a:ext cx="5238750" cy="2813025"/>
          </a:xfrm>
          <a:prstGeom prst="rect">
            <a:avLst/>
          </a:prstGeom>
        </p:spPr>
      </p:pic>
      <p:sp>
        <p:nvSpPr>
          <p:cNvPr id="559" name="Shape 559"/>
          <p:cNvSpPr/>
          <p:nvPr/>
        </p:nvSpPr>
        <p:spPr>
          <a:xfrm>
            <a:off x="6477000" y="5810250"/>
            <a:ext cx="52578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1(B). Juvenile Procambarus clarkii used in the imaging study.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60" name="Shape 56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Two giant pathways produce different escape trajectories</a:t>
            </a:r>
            <a:endParaRPr lang="en-US"/>
          </a:p>
        </p:txBody>
      </p:sp>
      <p:sp>
        <p:nvSpPr>
          <p:cNvPr id="561" name="Shape 561"/>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tail flip</a:t>
            </a:r>
            <a:r>
              <a:rPr sz="1500" b="0" i="0">
                <a:solidFill>
                  <a:srgbClr val="1C242C"/>
                </a:solidFill>
                <a:latin typeface="Arial"/>
                <a:ea typeface="Arial"/>
              </a:rPr>
              <a:t xml:space="preserve"> is a rapid abdominal flexion that propels a crayfish through water. Wine and Krasne studied </a:t>
            </a:r>
            <a:r>
              <a:rPr sz="1500" b="0" i="1">
                <a:solidFill>
                  <a:srgbClr val="1C242C"/>
                </a:solidFill>
                <a:latin typeface="Arial"/>
                <a:ea typeface="Arial"/>
              </a:rPr>
              <a:t>Procambarus clarkii</a:t>
            </a:r>
            <a:r>
              <a:rPr sz="1500" b="0" i="0">
                <a:solidFill>
                  <a:srgbClr val="1C242C"/>
                </a:solidFill>
                <a:latin typeface="Arial"/>
                <a:ea typeface="Arial"/>
              </a:rPr>
              <a:t xml:space="preserve"> with chronically implanted electrodes and high-speed film. The </a:t>
            </a:r>
            <a:r>
              <a:rPr sz="1500" b="1" i="0">
                <a:solidFill>
                  <a:srgbClr val="1C242C"/>
                </a:solidFill>
                <a:latin typeface="Arial"/>
                <a:ea typeface="Arial"/>
              </a:rPr>
              <a:t>lateral giant</a:t>
            </a:r>
            <a:r>
              <a:rPr sz="1500" b="0" i="0">
                <a:solidFill>
                  <a:srgbClr val="1C242C"/>
                </a:solidFill>
                <a:latin typeface="Arial"/>
                <a:ea typeface="Arial"/>
              </a:rPr>
              <a:t xml:space="preserve">, or LG, and </a:t>
            </a:r>
            <a:r>
              <a:rPr sz="1500" b="1" i="0">
                <a:solidFill>
                  <a:srgbClr val="1C242C"/>
                </a:solidFill>
                <a:latin typeface="Arial"/>
                <a:ea typeface="Arial"/>
              </a:rPr>
              <a:t>medial giant</a:t>
            </a:r>
            <a:r>
              <a:rPr sz="1500" b="0" i="0">
                <a:solidFill>
                  <a:srgbClr val="1C242C"/>
                </a:solidFill>
                <a:latin typeface="Arial"/>
                <a:ea typeface="Arial"/>
              </a:rPr>
              <a:t>, or MG, are large interneurons that recruit different escape movements.</a:t>
            </a:r>
            <a:endParaRPr lang="en-US"/>
          </a:p>
        </p:txBody>
      </p:sp>
      <p:sp>
        <p:nvSpPr>
          <p:cNvPr id="562" name="Shape 562"/>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a:t>
            </a:r>
            <a:endParaRPr lang="en-US"/>
          </a:p>
        </p:txBody>
      </p:sp>
      <p:sp>
        <p:nvSpPr>
          <p:cNvPr id="563" name="Shape 563"/>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response depends on which circuit is recruited, rather than abdominal flexion having one obligatory direction. These experiments connected neural signals with freely moving behavior; they did not identify every synapse contributing to each appendage movement.</a:t>
            </a:r>
            <a:endParaRPr lang="en-US"/>
          </a:p>
        </p:txBody>
      </p:sp>
      <p:pic>
        <p:nvPicPr>
          <p:cNvPr id="189" name="Presenton Native Image 2" descr=""/>
          <p:cNvPicPr/>
          <p:nvPr/>
        </p:nvPicPr>
        <p:blipFill>
          <a:blip r:embed="rId2" cstate="none"/>
          <a:stretch>
            <a:fillRect/>
          </a:stretch>
        </p:blipFill>
        <p:spPr>
          <a:xfrm>
            <a:off x="7736971" y="1055340"/>
            <a:ext cx="2795007" cy="4000500"/>
          </a:xfrm>
          <a:prstGeom prst="rect">
            <a:avLst/>
          </a:prstGeom>
        </p:spPr>
      </p:pic>
      <p:sp>
        <p:nvSpPr>
          <p:cNvPr id="564" name="Shape 56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5. Original tracings of filmed lateral- and medial-giant tail flips.</a:t>
            </a:r>
            <a:endParaRPr lang="en-US"/>
          </a:p>
        </p:txBody>
      </p:sp>
      <p:sp>
        <p:nvSpPr>
          <p:cNvPr id="565" name="Shape 565"/>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66" name="Shape 566"/>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67" name="Shape 56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Implanted recordings identify the active giant pathway</a:t>
            </a:r>
            <a:endParaRPr lang="en-US"/>
          </a:p>
        </p:txBody>
      </p:sp>
      <p:sp>
        <p:nvSpPr>
          <p:cNvPr id="568" name="Shape 568"/>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Wine and Krasne implanted pairs of 0.5 mm silver-ball electrodes near the nerve cord of crayfish 6–8 cm long. An </a:t>
            </a:r>
            <a:r>
              <a:rPr sz="1500" b="1" i="0">
                <a:solidFill>
                  <a:srgbClr val="1C242C"/>
                </a:solidFill>
                <a:latin typeface="Arial"/>
                <a:ea typeface="Arial"/>
              </a:rPr>
              <a:t>extracellular recording</a:t>
            </a:r>
            <a:r>
              <a:rPr sz="1500" b="0" i="0">
                <a:solidFill>
                  <a:srgbClr val="1C242C"/>
                </a:solidFill>
                <a:latin typeface="Arial"/>
                <a:ea typeface="Arial"/>
              </a:rPr>
              <a:t xml:space="preserve"> measures voltage outside neurons and can detect passing action potentials. The animals subsequently moved freely while their escape responses were recorded.</a:t>
            </a:r>
            <a:endParaRPr lang="en-US"/>
          </a:p>
        </p:txBody>
      </p:sp>
      <p:sp>
        <p:nvSpPr>
          <p:cNvPr id="569" name="Shape 569"/>
          <p:cNvSpPr/>
          <p:nvPr/>
        </p:nvSpPr>
        <p:spPr>
          <a:xfrm>
            <a:off x="457200" y="2455515"/>
            <a:ext cx="582930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a:t>
            </a:r>
            <a:endParaRPr lang="en-US"/>
          </a:p>
        </p:txBody>
      </p:sp>
      <p:sp>
        <p:nvSpPr>
          <p:cNvPr id="570" name="Shape 570"/>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a:t>
            </a:r>
            <a:endParaRPr lang="en-US"/>
          </a:p>
        </p:txBody>
      </p:sp>
      <p:pic>
        <p:nvPicPr>
          <p:cNvPr id="190" name="Presenton Native Image 3" descr=""/>
          <p:cNvPicPr/>
          <p:nvPr/>
        </p:nvPicPr>
        <p:blipFill>
          <a:blip r:embed="rId2" cstate="none"/>
          <a:stretch>
            <a:fillRect/>
          </a:stretch>
        </p:blipFill>
        <p:spPr>
          <a:xfrm>
            <a:off x="6610350" y="1337314"/>
            <a:ext cx="5048250" cy="3436553"/>
          </a:xfrm>
          <a:prstGeom prst="rect">
            <a:avLst/>
          </a:prstGeom>
        </p:spPr>
      </p:pic>
      <p:sp>
        <p:nvSpPr>
          <p:cNvPr id="571" name="Shape 57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2. Simultaneous connective and abdominal recordings of giant-fiber activity.</a:t>
            </a:r>
            <a:endParaRPr lang="en-US"/>
          </a:p>
        </p:txBody>
      </p:sp>
      <p:sp>
        <p:nvSpPr>
          <p:cNvPr id="572" name="Shape 572"/>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73" name="Shape 57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4" name="Shape 57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Abruptness recruits giants more reliably than intensity</a:t>
            </a:r>
            <a:endParaRPr lang="en-US"/>
          </a:p>
        </p:txBody>
      </p:sp>
      <p:sp>
        <p:nvSpPr>
          <p:cNvPr id="575" name="Shape 575"/>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phasic stimulus</a:t>
            </a:r>
            <a:r>
              <a:rPr sz="1500" b="0" i="0">
                <a:solidFill>
                  <a:srgbClr val="1C242C"/>
                </a:solidFill>
                <a:latin typeface="Arial"/>
                <a:ea typeface="Arial"/>
              </a:rPr>
              <a:t xml:space="preserve">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a:t>
            </a:r>
            <a:endParaRPr lang="en-US"/>
          </a:p>
        </p:txBody>
      </p:sp>
      <p:sp>
        <p:nvSpPr>
          <p:cNvPr id="576" name="Shape 576"/>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a:t>
            </a:r>
            <a:endParaRPr lang="en-US"/>
          </a:p>
        </p:txBody>
      </p:sp>
      <p:sp>
        <p:nvSpPr>
          <p:cNvPr id="577" name="Shape 577"/>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findings associate giant recruitment with stimulus timing, rather than a simple requirement for damaging intensity. The latency graph compares giant spikes with first major muscle potentials for nongiant responses, so its response markers are related but not identical.</a:t>
            </a:r>
            <a:endParaRPr lang="en-US"/>
          </a:p>
        </p:txBody>
      </p:sp>
      <p:pic>
        <p:nvPicPr>
          <p:cNvPr id="191" name="Presenton Native Image 4" descr=""/>
          <p:cNvPicPr/>
          <p:nvPr/>
        </p:nvPicPr>
        <p:blipFill>
          <a:blip r:embed="rId2" cstate="none"/>
          <a:stretch>
            <a:fillRect/>
          </a:stretch>
        </p:blipFill>
        <p:spPr>
          <a:xfrm>
            <a:off x="6610350" y="1334210"/>
            <a:ext cx="5048250" cy="3442760"/>
          </a:xfrm>
          <a:prstGeom prst="rect">
            <a:avLst/>
          </a:prstGeom>
        </p:spPr>
      </p:pic>
      <p:sp>
        <p:nvSpPr>
          <p:cNvPr id="578" name="Shape 57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4. Original distributions of giant-spike and nongiant muscle-response latency.</a:t>
            </a:r>
            <a:endParaRPr lang="en-US"/>
          </a:p>
        </p:txBody>
      </p:sp>
      <p:sp>
        <p:nvSpPr>
          <p:cNvPr id="579" name="Shape 579"/>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80" name="Shape 58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1" name="Shape 5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initiating flip and later swimming use different paths</a:t>
            </a:r>
            <a:endParaRPr lang="en-US"/>
          </a:p>
        </p:txBody>
      </p:sp>
      <p:sp>
        <p:nvSpPr>
          <p:cNvPr id="582" name="Shape 582"/>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Nongiant escape</a:t>
            </a:r>
            <a:r>
              <a:rPr sz="1500" b="0" i="0">
                <a:solidFill>
                  <a:srgbClr val="1C242C"/>
                </a:solidFill>
                <a:latin typeface="Arial"/>
                <a:ea typeface="Arial"/>
              </a:rPr>
              <a:t xml:space="preserve"> is a tail flip produced without detected activity in either giant-fiber pathway. Wine and Krasne recorded sequences in which an anterior tap triggered an MG spike or an abdominal tap triggered an LG spike. Subsequent flexions generally occurred without corresponding giant spikes.</a:t>
            </a:r>
            <a:endParaRPr lang="en-US"/>
          </a:p>
        </p:txBody>
      </p:sp>
      <p:sp>
        <p:nvSpPr>
          <p:cNvPr id="583" name="Shape 583"/>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implanted cord recordings retained both the large initial neural event and later muscle activity. In one sequence, swimming resumed after a 350 ms pause with a nongiant first flip. A sequence of similar-looking flexions therefore need not be a sequence of giant-mediated reflexes.</a:t>
            </a:r>
            <a:endParaRPr lang="en-US"/>
          </a:p>
        </p:txBody>
      </p:sp>
      <p:sp>
        <p:nvSpPr>
          <p:cNvPr id="584" name="Shape 584"/>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a:t>
            </a:r>
            <a:endParaRPr lang="en-US"/>
          </a:p>
        </p:txBody>
      </p:sp>
      <p:pic>
        <p:nvPicPr>
          <p:cNvPr id="192" name="Presenton Native Image 5" descr=""/>
          <p:cNvPicPr/>
          <p:nvPr/>
        </p:nvPicPr>
        <p:blipFill>
          <a:blip r:embed="rId2" cstate="none"/>
          <a:stretch>
            <a:fillRect/>
          </a:stretch>
        </p:blipFill>
        <p:spPr>
          <a:xfrm>
            <a:off x="6610350" y="1211396"/>
            <a:ext cx="5048250" cy="3688389"/>
          </a:xfrm>
          <a:prstGeom prst="rect">
            <a:avLst/>
          </a:prstGeom>
        </p:spPr>
      </p:pic>
      <p:sp>
        <p:nvSpPr>
          <p:cNvPr id="585" name="Shape 58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3(A,B). Giant-mediated initial responses followed by nongiant swimming.</a:t>
            </a:r>
            <a:endParaRPr lang="en-US"/>
          </a:p>
        </p:txBody>
      </p:sp>
      <p:sp>
        <p:nvSpPr>
          <p:cNvPr id="586" name="Shape 586"/>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87" name="Shape 58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Nongiant swimming permits varied abdominal movements</a:t>
            </a:r>
            <a:endParaRPr lang="en-US"/>
          </a:p>
        </p:txBody>
      </p:sp>
      <p:sp>
        <p:nvSpPr>
          <p:cNvPr id="589" name="Shape 589"/>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truncated tail flip</a:t>
            </a:r>
            <a:r>
              <a:rPr sz="1500" b="0" i="0">
                <a:solidFill>
                  <a:srgbClr val="1C242C"/>
                </a:solidFill>
                <a:latin typeface="Arial"/>
                <a:ea typeface="Arial"/>
              </a:rPr>
              <a:t xml:space="preserve"> stops before completing full flexion or re-extension. Wine and Krasne filmed nongiant swimming and observed truncated movements, changes of direction, and flexions resembling either giant-mediated trajectory. Their published sequence contains tracings separated by about 10 ms.</a:t>
            </a:r>
            <a:endParaRPr lang="en-US"/>
          </a:p>
        </p:txBody>
      </p:sp>
      <p:sp>
        <p:nvSpPr>
          <p:cNvPr id="590" name="Shape 590"/>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a:t>
            </a:r>
            <a:endParaRPr lang="en-US"/>
          </a:p>
        </p:txBody>
      </p:sp>
      <p:sp>
        <p:nvSpPr>
          <p:cNvPr id="591" name="Shape 591"/>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a:t>
            </a:r>
            <a:endParaRPr lang="en-US"/>
          </a:p>
        </p:txBody>
      </p:sp>
      <p:pic>
        <p:nvPicPr>
          <p:cNvPr id="193" name="Presenton Native Image 6" descr=""/>
          <p:cNvPicPr/>
          <p:nvPr/>
        </p:nvPicPr>
        <p:blipFill>
          <a:blip r:embed="rId2" cstate="none"/>
          <a:stretch>
            <a:fillRect/>
          </a:stretch>
        </p:blipFill>
        <p:spPr>
          <a:xfrm>
            <a:off x="6610350" y="1919876"/>
            <a:ext cx="5048250" cy="2271429"/>
          </a:xfrm>
          <a:prstGeom prst="rect">
            <a:avLst/>
          </a:prstGeom>
        </p:spPr>
      </p:pic>
      <p:sp>
        <p:nvSpPr>
          <p:cNvPr id="592" name="Shape 59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6. Filmed truncated tail flip during a swimming sequence.</a:t>
            </a:r>
            <a:endParaRPr lang="en-US"/>
          </a:p>
        </p:txBody>
      </p:sp>
      <p:sp>
        <p:nvSpPr>
          <p:cNvPr id="593" name="Shape 593"/>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94" name="Shape 59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5" name="Shape 59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Cord lesions separate nongiant initiation from local escape</a:t>
            </a:r>
            <a:endParaRPr lang="en-US"/>
          </a:p>
        </p:txBody>
      </p:sp>
      <p:sp>
        <p:nvSpPr>
          <p:cNvPr id="596" name="Shape 596"/>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transection</a:t>
            </a:r>
            <a:r>
              <a:rPr sz="1500" b="0" i="0">
                <a:solidFill>
                  <a:srgbClr val="1C242C"/>
                </a:solidFill>
                <a:latin typeface="Arial"/>
                <a:ea typeface="Arial"/>
              </a:rPr>
              <a:t xml:space="preserve"> severs a neural pathway to test whether signals crossing it are required for a response. Wine and Krasne cut the crayfish nerve cord at several levels and tested responses to taps, gradual caudal stimuli, and swimming. They spared nearby arteries during the operations.</a:t>
            </a:r>
            <a:endParaRPr lang="en-US"/>
          </a:p>
        </p:txBody>
      </p:sp>
      <p:sp>
        <p:nvSpPr>
          <p:cNvPr id="597" name="Shape 597"/>
          <p:cNvSpPr/>
          <p:nvPr/>
        </p:nvSpPr>
        <p:spPr>
          <a:xfrm>
            <a:off x="457200" y="2455515"/>
            <a:ext cx="582930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a:t>
            </a:r>
            <a:endParaRPr lang="en-US"/>
          </a:p>
        </p:txBody>
      </p:sp>
      <p:sp>
        <p:nvSpPr>
          <p:cNvPr id="598" name="Shape 598"/>
          <p:cNvSpPr/>
          <p:nvPr/>
        </p:nvSpPr>
        <p:spPr>
          <a:xfrm>
            <a:off x="457200" y="43700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a:t>
            </a:r>
            <a:endParaRPr lang="en-US"/>
          </a:p>
        </p:txBody>
      </p:sp>
      <p:pic>
        <p:nvPicPr>
          <p:cNvPr id="194" name="Presenton Native Image 7" descr=""/>
          <p:cNvPicPr/>
          <p:nvPr/>
        </p:nvPicPr>
        <p:blipFill>
          <a:blip r:embed="rId2" cstate="none"/>
          <a:stretch>
            <a:fillRect/>
          </a:stretch>
        </p:blipFill>
        <p:spPr>
          <a:xfrm>
            <a:off x="6610350" y="2121278"/>
            <a:ext cx="5048250" cy="1868624"/>
          </a:xfrm>
          <a:prstGeom prst="rect">
            <a:avLst/>
          </a:prstGeom>
        </p:spPr>
      </p:pic>
      <p:sp>
        <p:nvSpPr>
          <p:cNvPr id="599" name="Shape 59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8. Published locations of nerve-cord transections.</a:t>
            </a:r>
            <a:endParaRPr lang="en-US"/>
          </a:p>
        </p:txBody>
      </p:sp>
      <p:sp>
        <p:nvSpPr>
          <p:cNvPr id="600" name="Shape 600"/>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601" name="Shape 601"/>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2" name="Shape 60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Medial giants originate anteriorly and descend the cord</a:t>
            </a:r>
            <a:endParaRPr lang="en-US"/>
          </a:p>
        </p:txBody>
      </p:sp>
      <p:sp>
        <p:nvSpPr>
          <p:cNvPr id="603" name="Shape 603"/>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paired MG neurons originate in the brain, cross the midline, and continue along the ventral nerve cord to the final abdominal ganglion. </a:t>
            </a:r>
            <a:r>
              <a:rPr sz="1500" b="1" i="0">
                <a:solidFill>
                  <a:srgbClr val="1C242C"/>
                </a:solidFill>
                <a:latin typeface="Arial"/>
                <a:ea typeface="Arial"/>
              </a:rPr>
              <a:t>Decussation</a:t>
            </a:r>
            <a:r>
              <a:rPr sz="1500" b="0" i="0">
                <a:solidFill>
                  <a:srgbClr val="1C242C"/>
                </a:solidFill>
                <a:latin typeface="Arial"/>
                <a:ea typeface="Arial"/>
              </a:rPr>
              <a:t xml:space="preserve"> means crossing from one side of the nervous system to the other. Wine and Krasne related this anatomy to anterior receptive fields and descending recorded activity.</a:t>
            </a:r>
            <a:endParaRPr lang="en-US"/>
          </a:p>
        </p:txBody>
      </p:sp>
      <p:sp>
        <p:nvSpPr>
          <p:cNvPr id="604" name="Shape 604"/>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MG axons can reach approximately 200 μm in diameter in the connectives surrounding the oesophagus, tapering in the abdomen. Rostral taps and sufficiently rapid approaching visual objects activated MG in free animals. Gradual anterior stimuli more often recruited nongiant responses.</a:t>
            </a:r>
            <a:endParaRPr lang="en-US"/>
          </a:p>
        </p:txBody>
      </p:sp>
      <p:sp>
        <p:nvSpPr>
          <p:cNvPr id="605" name="Shape 60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a:t>
            </a:r>
            <a:endParaRPr lang="en-US"/>
          </a:p>
        </p:txBody>
      </p:sp>
      <p:pic>
        <p:nvPicPr>
          <p:cNvPr id="195" name="Presenton Native Image 8" descr=""/>
          <p:cNvPicPr/>
          <p:nvPr/>
        </p:nvPicPr>
        <p:blipFill>
          <a:blip r:embed="rId2" cstate="none"/>
          <a:stretch>
            <a:fillRect/>
          </a:stretch>
        </p:blipFill>
        <p:spPr>
          <a:xfrm>
            <a:off x="7287995" y="1055340"/>
            <a:ext cx="3521510" cy="2190750"/>
          </a:xfrm>
          <a:prstGeom prst="rect">
            <a:avLst/>
          </a:prstGeom>
        </p:spPr>
      </p:pic>
      <p:sp>
        <p:nvSpPr>
          <p:cNvPr id="606" name="Shape 606"/>
          <p:cNvSpPr/>
          <p:nvPr/>
        </p:nvSpPr>
        <p:spPr>
          <a:xfrm>
            <a:off x="6362700" y="3322290"/>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Wine </a:t>
            </a:r>
            <a:r>
              <a:rPr sz="1050" b="0" i="0">
                <a:solidFill>
                  <a:srgbClr val="1C242C"/>
                </a:solidFill>
                <a:latin typeface="Arial"/>
                <a:ea typeface="Arial"/>
              </a:rPr>
              <a:t>&amp;</a:t>
            </a:r>
            <a:r>
              <a:rPr sz="1050" b="0" i="0">
                <a:solidFill>
                  <a:srgbClr val="1C242C"/>
                </a:solidFill>
                <a:latin typeface="Arial"/>
                <a:ea typeface="Arial"/>
              </a:rPr>
              <a:t xml:space="preserve"> Krasne (1972), Fig. 1. Receptive fields and giant-axon cross sections.</a:t>
            </a:r>
            <a:endParaRPr lang="en-US"/>
          </a:p>
        </p:txBody>
      </p:sp>
      <p:pic>
        <p:nvPicPr>
          <p:cNvPr id="196" name="Presenton Native Image 9" descr=""/>
          <p:cNvPicPr/>
          <p:nvPr/>
        </p:nvPicPr>
        <p:blipFill>
          <a:blip r:embed="rId3" cstate="none"/>
          <a:stretch>
            <a:fillRect/>
          </a:stretch>
        </p:blipFill>
        <p:spPr>
          <a:xfrm>
            <a:off x="8454966" y="3660428"/>
            <a:ext cx="1187568" cy="1752600"/>
          </a:xfrm>
          <a:prstGeom prst="rect">
            <a:avLst/>
          </a:prstGeom>
        </p:spPr>
      </p:pic>
      <p:sp>
        <p:nvSpPr>
          <p:cNvPr id="607" name="Shape 607"/>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608" name="Shape 608"/>
          <p:cNvSpPr/>
          <p:nvPr/>
        </p:nvSpPr>
        <p:spPr>
          <a:xfrm>
            <a:off x="457200" y="6462713"/>
            <a:ext cx="323790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609" name="Shape 609"/>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0" name="Shape 6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Lateral giants combine segmental neurons and local inputs</a:t>
            </a:r>
            <a:endParaRPr lang="en-US"/>
          </a:p>
        </p:txBody>
      </p:sp>
      <p:sp>
        <p:nvSpPr>
          <p:cNvPr id="611" name="Shape 61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a:t>
            </a:r>
            <a:endParaRPr lang="en-US"/>
          </a:p>
        </p:txBody>
      </p:sp>
      <p:sp>
        <p:nvSpPr>
          <p:cNvPr id="612" name="Shape 612"/>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a:t>
            </a:r>
            <a:endParaRPr lang="en-US"/>
          </a:p>
        </p:txBody>
      </p:sp>
      <p:sp>
        <p:nvSpPr>
          <p:cNvPr id="613" name="Shape 613"/>
          <p:cNvSpPr/>
          <p:nvPr/>
        </p:nvSpPr>
        <p:spPr>
          <a:xfrm>
            <a:off x="457200" y="43700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a:t>
            </a:r>
            <a:endParaRPr lang="en-US"/>
          </a:p>
        </p:txBody>
      </p:sp>
      <p:pic>
        <p:nvPicPr>
          <p:cNvPr id="197" name="Presenton Native Image 10" descr=""/>
          <p:cNvPicPr/>
          <p:nvPr/>
        </p:nvPicPr>
        <p:blipFill>
          <a:blip r:embed="rId2" cstate="none"/>
          <a:stretch>
            <a:fillRect/>
          </a:stretch>
        </p:blipFill>
        <p:spPr>
          <a:xfrm>
            <a:off x="6698525" y="1055340"/>
            <a:ext cx="4700451" cy="2924175"/>
          </a:xfrm>
          <a:prstGeom prst="rect">
            <a:avLst/>
          </a:prstGeom>
        </p:spPr>
      </p:pic>
      <p:sp>
        <p:nvSpPr>
          <p:cNvPr id="614" name="Shape 614"/>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Wine </a:t>
            </a:r>
            <a:r>
              <a:rPr sz="1050" b="0" i="0">
                <a:solidFill>
                  <a:srgbClr val="1C242C"/>
                </a:solidFill>
                <a:latin typeface="Arial"/>
                <a:ea typeface="Arial"/>
              </a:rPr>
              <a:t>&amp;</a:t>
            </a:r>
            <a:r>
              <a:rPr sz="1050" b="0" i="0">
                <a:solidFill>
                  <a:srgbClr val="1C242C"/>
                </a:solidFill>
                <a:latin typeface="Arial"/>
                <a:ea typeface="Arial"/>
              </a:rPr>
              <a:t xml:space="preserve"> Krasne (1972), Fig. 1. Giant-axon organization and posterior receptive fields.</a:t>
            </a:r>
            <a:endParaRPr lang="en-US"/>
          </a:p>
        </p:txBody>
      </p:sp>
      <p:pic>
        <p:nvPicPr>
          <p:cNvPr id="198" name="Presenton Native Image 11" descr=""/>
          <p:cNvPicPr/>
          <p:nvPr/>
        </p:nvPicPr>
        <p:blipFill>
          <a:blip r:embed="rId3" cstate="none"/>
          <a:stretch>
            <a:fillRect/>
          </a:stretch>
        </p:blipFill>
        <p:spPr>
          <a:xfrm>
            <a:off x="8568775" y="4393853"/>
            <a:ext cx="959949" cy="1019175"/>
          </a:xfrm>
          <a:prstGeom prst="rect">
            <a:avLst/>
          </a:prstGeom>
        </p:spPr>
      </p:pic>
      <p:sp>
        <p:nvSpPr>
          <p:cNvPr id="615" name="Shape 615"/>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16" name="Shape 616"/>
          <p:cNvSpPr/>
          <p:nvPr/>
        </p:nvSpPr>
        <p:spPr>
          <a:xfrm>
            <a:off x="457200" y="6462713"/>
            <a:ext cx="267801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Herberholz et al. (2002)</a:t>
            </a:r>
            <a:endParaRPr lang="en-US"/>
          </a:p>
        </p:txBody>
      </p:sp>
      <p:sp>
        <p:nvSpPr>
          <p:cNvPr id="617" name="Shape 61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8" name="Shape 6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intact ventral cord contains repeated ganglia</a:t>
            </a:r>
            <a:endParaRPr lang="en-US"/>
          </a:p>
        </p:txBody>
      </p:sp>
      <p:sp>
        <p:nvSpPr>
          <p:cNvPr id="619" name="Shape 619"/>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Herberholz and colleagues used </a:t>
            </a:r>
            <a:r>
              <a:rPr sz="1500" b="1" i="0">
                <a:solidFill>
                  <a:srgbClr val="1C242C"/>
                </a:solidFill>
                <a:latin typeface="Arial"/>
                <a:ea typeface="Arial"/>
              </a:rPr>
              <a:t>magnetic resonance imaging</a:t>
            </a:r>
            <a:r>
              <a:rPr sz="1500" b="0" i="0">
                <a:solidFill>
                  <a:srgbClr val="1C242C"/>
                </a:solidFill>
                <a:latin typeface="Arial"/>
                <a:ea typeface="Arial"/>
              </a:rPr>
              <a:t>, or MRI, to examine the nervous system without dissecting away the animal’s surrounding tissues. Juvenile crayfish were injected with manganese chloride, allowed to move, and then held motionless in narrow imaging tubes.</a:t>
            </a:r>
            <a:endParaRPr lang="en-US"/>
          </a:p>
        </p:txBody>
      </p:sp>
      <p:sp>
        <p:nvSpPr>
          <p:cNvPr id="620" name="Shape 620"/>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a:t>
            </a:r>
            <a:endParaRPr lang="en-US"/>
          </a:p>
        </p:txBody>
      </p:sp>
      <p:sp>
        <p:nvSpPr>
          <p:cNvPr id="621" name="Shape 621"/>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Repeated ganglia provide the anatomical setting for segmental giant and motor circuitry. The scan does not resolve every neuronal connection or identify active LG spikes. Anatomical visibility and activity measurement are separate properties of the imaging method.</a:t>
            </a:r>
            <a:endParaRPr lang="en-US"/>
          </a:p>
        </p:txBody>
      </p:sp>
      <p:pic>
        <p:nvPicPr>
          <p:cNvPr id="199" name="Presenton Native Image 12" descr=""/>
          <p:cNvPicPr/>
          <p:nvPr/>
        </p:nvPicPr>
        <p:blipFill>
          <a:blip r:embed="rId2" cstate="none"/>
          <a:stretch>
            <a:fillRect/>
          </a:stretch>
        </p:blipFill>
        <p:spPr>
          <a:xfrm>
            <a:off x="6610350" y="1982750"/>
            <a:ext cx="5048250" cy="2145680"/>
          </a:xfrm>
          <a:prstGeom prst="rect">
            <a:avLst/>
          </a:prstGeom>
        </p:spPr>
      </p:pic>
      <p:sp>
        <p:nvSpPr>
          <p:cNvPr id="622" name="Shape 62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2(D). Sagittal manganese-enhanced MRI of the ventral nerve cord.</a:t>
            </a:r>
            <a:endParaRPr lang="en-US"/>
          </a:p>
        </p:txBody>
      </p:sp>
      <p:sp>
        <p:nvSpPr>
          <p:cNvPr id="623" name="Shape 623"/>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624" name="Shape 6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Tracer size distinguishes the filled neuron from partners</a:t>
            </a:r>
            <a:endParaRPr lang="en-US"/>
          </a:p>
        </p:txBody>
      </p:sp>
      <p:sp>
        <p:nvSpPr>
          <p:cNvPr id="626" name="Shape 626"/>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Herberholz and colleagues pressure-injected LG with two fluorescent tracers. Large dextran-linked Texas Red remained predominantly within the injected neuron, whereas low-molecular-weight </a:t>
            </a:r>
            <a:r>
              <a:rPr sz="1500" b="1" i="0">
                <a:solidFill>
                  <a:srgbClr val="1C242C"/>
                </a:solidFill>
                <a:latin typeface="Arial"/>
                <a:ea typeface="Arial"/>
              </a:rPr>
              <a:t>Neurobiotin</a:t>
            </a:r>
            <a:r>
              <a:rPr sz="1500" b="0" i="0">
                <a:solidFill>
                  <a:srgbClr val="1C242C"/>
                </a:solidFill>
                <a:latin typeface="Arial"/>
                <a:ea typeface="Arial"/>
              </a:rPr>
              <a:t xml:space="preserve"> could pass into electrically coupled cells. Fluorescent detection distinguished LG from its coupled partners.</a:t>
            </a:r>
            <a:endParaRPr lang="en-US"/>
          </a:p>
        </p:txBody>
      </p:sp>
      <p:sp>
        <p:nvSpPr>
          <p:cNvPr id="627" name="Shape 627"/>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a:t>
            </a:r>
            <a:endParaRPr lang="en-US"/>
          </a:p>
        </p:txBody>
      </p:sp>
      <p:sp>
        <p:nvSpPr>
          <p:cNvPr id="628" name="Shape 628"/>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Dye coupling</a:t>
            </a:r>
            <a:r>
              <a:rPr sz="1500" b="0" i="0">
                <a:solidFill>
                  <a:srgbClr val="1C242C"/>
                </a:solidFill>
                <a:latin typeface="Arial"/>
                <a:ea typeface="Arial"/>
              </a:rPr>
              <a:t xml:space="preserve">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a:t>
            </a:r>
            <a:endParaRPr lang="en-US"/>
          </a:p>
        </p:txBody>
      </p:sp>
      <p:pic>
        <p:nvPicPr>
          <p:cNvPr id="200" name="Presenton Native Image 13" descr=""/>
          <p:cNvPicPr/>
          <p:nvPr/>
        </p:nvPicPr>
        <p:blipFill>
          <a:blip r:embed="rId2" cstate="none"/>
          <a:stretch>
            <a:fillRect/>
          </a:stretch>
        </p:blipFill>
        <p:spPr>
          <a:xfrm>
            <a:off x="7202030" y="1055340"/>
            <a:ext cx="3864890" cy="4000500"/>
          </a:xfrm>
          <a:prstGeom prst="rect">
            <a:avLst/>
          </a:prstGeom>
        </p:spPr>
      </p:pic>
      <p:sp>
        <p:nvSpPr>
          <p:cNvPr id="629" name="Shape 62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2(A). LG and dye-coupled neurons in the terminal ganglion.</a:t>
            </a:r>
            <a:endParaRPr lang="en-US"/>
          </a:p>
        </p:txBody>
      </p:sp>
      <p:sp>
        <p:nvSpPr>
          <p:cNvPr id="630" name="Shape 63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31" name="Shape 63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2" name="Shape 63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Fine LG dendrites contact primary afferent terminals</a:t>
            </a:r>
            <a:endParaRPr lang="en-US"/>
          </a:p>
        </p:txBody>
      </p:sp>
      <p:sp>
        <p:nvSpPr>
          <p:cNvPr id="633" name="Shape 633"/>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a:t>
            </a:r>
            <a:endParaRPr lang="en-US"/>
          </a:p>
        </p:txBody>
      </p:sp>
      <p:sp>
        <p:nvSpPr>
          <p:cNvPr id="634" name="Shape 634"/>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High-resolution confocal images revealed thin, vine-like LG processes wrapping around afferent axons. The original panel retains a 10 μm scale bar. These contacts occur near distal endings of the major LG dendritic branches, where sensory input enters the command neuron.</a:t>
            </a:r>
            <a:endParaRPr lang="en-US"/>
          </a:p>
        </p:txBody>
      </p:sp>
      <p:sp>
        <p:nvSpPr>
          <p:cNvPr id="635" name="Shape 635"/>
          <p:cNvSpPr/>
          <p:nvPr/>
        </p:nvSpPr>
        <p:spPr>
          <a:xfrm>
            <a:off x="457200" y="3855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a:t>
            </a:r>
            <a:endParaRPr lang="en-US"/>
          </a:p>
        </p:txBody>
      </p:sp>
      <p:pic>
        <p:nvPicPr>
          <p:cNvPr id="201" name="Presenton Native Image 14" descr=""/>
          <p:cNvPicPr/>
          <p:nvPr/>
        </p:nvPicPr>
        <p:blipFill>
          <a:blip r:embed="rId2" cstate="none"/>
          <a:stretch>
            <a:fillRect/>
          </a:stretch>
        </p:blipFill>
        <p:spPr>
          <a:xfrm>
            <a:off x="7250462" y="1055340"/>
            <a:ext cx="3768025" cy="4000500"/>
          </a:xfrm>
          <a:prstGeom prst="rect">
            <a:avLst/>
          </a:prstGeom>
        </p:spPr>
      </p:pic>
      <p:sp>
        <p:nvSpPr>
          <p:cNvPr id="636" name="Shape 63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2(B). Fine dendritic processes surrounding afferent axons.</a:t>
            </a:r>
            <a:endParaRPr lang="en-US"/>
          </a:p>
        </p:txBody>
      </p:sp>
      <p:sp>
        <p:nvSpPr>
          <p:cNvPr id="637" name="Shape 637"/>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38" name="Shape 63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9" name="Shape 63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Neighboring afferents form a dye-coupled network</a:t>
            </a:r>
            <a:endParaRPr lang="en-US"/>
          </a:p>
        </p:txBody>
      </p:sp>
      <p:sp>
        <p:nvSpPr>
          <p:cNvPr id="640" name="Shape 64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a:t>
            </a:r>
            <a:endParaRPr lang="en-US"/>
          </a:p>
        </p:txBody>
      </p:sp>
      <p:sp>
        <p:nvSpPr>
          <p:cNvPr id="641" name="Shape 641"/>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a:t>
            </a:r>
            <a:endParaRPr lang="en-US"/>
          </a:p>
        </p:txBody>
      </p:sp>
      <p:sp>
        <p:nvSpPr>
          <p:cNvPr id="642" name="Shape 642"/>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a:t>
            </a:r>
            <a:endParaRPr lang="en-US"/>
          </a:p>
        </p:txBody>
      </p:sp>
      <p:pic>
        <p:nvPicPr>
          <p:cNvPr id="202" name="Presenton Native Image 15" descr=""/>
          <p:cNvPicPr/>
          <p:nvPr/>
        </p:nvPicPr>
        <p:blipFill>
          <a:blip r:embed="rId2" cstate="none"/>
          <a:stretch>
            <a:fillRect/>
          </a:stretch>
        </p:blipFill>
        <p:spPr>
          <a:xfrm>
            <a:off x="6610350" y="1829246"/>
            <a:ext cx="5048250" cy="2452688"/>
          </a:xfrm>
          <a:prstGeom prst="rect">
            <a:avLst/>
          </a:prstGeom>
        </p:spPr>
      </p:pic>
      <p:sp>
        <p:nvSpPr>
          <p:cNvPr id="643" name="Shape 64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3(A,B). A filled afferent and its coupled neighbors beside LG.</a:t>
            </a:r>
            <a:endParaRPr lang="en-US"/>
          </a:p>
        </p:txBody>
      </p:sp>
      <p:sp>
        <p:nvSpPr>
          <p:cNvPr id="644" name="Shape 64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45" name="Shape 64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6" name="Shape 64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Paired recordings establish electrical afferent coupling</a:t>
            </a:r>
            <a:endParaRPr lang="en-US"/>
          </a:p>
        </p:txBody>
      </p:sp>
      <p:sp>
        <p:nvSpPr>
          <p:cNvPr id="647" name="Shape 64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An </a:t>
            </a:r>
            <a:r>
              <a:rPr sz="1500" b="1" i="0">
                <a:solidFill>
                  <a:srgbClr val="1C242C"/>
                </a:solidFill>
                <a:latin typeface="Arial"/>
                <a:ea typeface="Arial"/>
              </a:rPr>
              <a:t>excitatory postsynaptic potential</a:t>
            </a:r>
            <a:r>
              <a:rPr sz="1500" b="0" i="0">
                <a:solidFill>
                  <a:srgbClr val="1C242C"/>
                </a:solidFill>
                <a:latin typeface="Arial"/>
                <a:ea typeface="Arial"/>
              </a:rPr>
              <a:t>, or EPSP, is a synaptic voltage change that promotes neuronal excitation. Herberholz and colleagues recorded a small, brief LG EPSP when an individual afferent fired after intracellular current injection. They also recorded simultaneously from pairs of afferent axons.</a:t>
            </a:r>
            <a:endParaRPr lang="en-US"/>
          </a:p>
        </p:txBody>
      </p:sp>
      <p:sp>
        <p:nvSpPr>
          <p:cNvPr id="648" name="Shape 648"/>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Depolarizing one afferent produced a smaller depolarization and corresponding EPSPs in its neighbor. Applying current to the other cell produced reciprocal effects. LG did not fire during these paired-afferent tests, excluding an LG spike as the required intermediary event.</a:t>
            </a:r>
            <a:endParaRPr lang="en-US"/>
          </a:p>
        </p:txBody>
      </p:sp>
      <p:sp>
        <p:nvSpPr>
          <p:cNvPr id="649" name="Shape 64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a:t>
            </a:r>
            <a:endParaRPr lang="en-US"/>
          </a:p>
        </p:txBody>
      </p:sp>
      <p:pic>
        <p:nvPicPr>
          <p:cNvPr id="203" name="Presenton Native Image 16" descr=""/>
          <p:cNvPicPr/>
          <p:nvPr/>
        </p:nvPicPr>
        <p:blipFill>
          <a:blip r:embed="rId3" cstate="none"/>
          <a:stretch>
            <a:fillRect/>
          </a:stretch>
        </p:blipFill>
        <p:spPr>
          <a:xfrm>
            <a:off x="6362700" y="1739752"/>
            <a:ext cx="5372100" cy="1555351"/>
          </a:xfrm>
          <a:prstGeom prst="rect">
            <a:avLst/>
          </a:prstGeom>
        </p:spPr>
      </p:pic>
      <p:sp>
        <p:nvSpPr>
          <p:cNvPr id="650" name="Shape 65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3(C,D). Afferent-to-LG transmission and interactions between sensory axons.</a:t>
            </a:r>
            <a:endParaRPr lang="en-US"/>
          </a:p>
        </p:txBody>
      </p:sp>
      <p:pic>
        <p:nvPicPr>
          <p:cNvPr id="204" name="Presenton Native Image 17" descr=""/>
          <p:cNvPicPr/>
          <p:nvPr/>
        </p:nvPicPr>
        <p:blipFill>
          <a:blip r:embed="rId2" cstate="none"/>
          <a:stretch>
            <a:fillRect/>
          </a:stretch>
        </p:blipFill>
        <p:spPr>
          <a:xfrm>
            <a:off x="8568775" y="4560540"/>
            <a:ext cx="959949" cy="1019175"/>
          </a:xfrm>
          <a:prstGeom prst="rect">
            <a:avLst/>
          </a:prstGeom>
        </p:spPr>
      </p:pic>
      <p:sp>
        <p:nvSpPr>
          <p:cNvPr id="651" name="Shape 65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52" name="Shape 652"/>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53" name="Shape 65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4" name="Shape 65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Sensory stimulation can recruit an unstimulated afferent</a:t>
            </a:r>
            <a:endParaRPr lang="en-US"/>
          </a:p>
        </p:txBody>
      </p:sp>
      <p:sp>
        <p:nvSpPr>
          <p:cNvPr id="655" name="Shape 65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a:t>
            </a:r>
            <a:endParaRPr lang="en-US"/>
          </a:p>
        </p:txBody>
      </p:sp>
      <p:sp>
        <p:nvSpPr>
          <p:cNvPr id="656" name="Shape 656"/>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a:t>
            </a:r>
            <a:endParaRPr lang="en-US"/>
          </a:p>
        </p:txBody>
      </p:sp>
      <p:sp>
        <p:nvSpPr>
          <p:cNvPr id="657" name="Shape 657"/>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a:t>
            </a:r>
            <a:endParaRPr lang="en-US"/>
          </a:p>
        </p:txBody>
      </p:sp>
      <p:pic>
        <p:nvPicPr>
          <p:cNvPr id="205" name="Presenton Native Image 18" descr=""/>
          <p:cNvPicPr/>
          <p:nvPr/>
        </p:nvPicPr>
        <p:blipFill>
          <a:blip r:embed="rId3" cstate="none"/>
          <a:stretch>
            <a:fillRect/>
          </a:stretch>
        </p:blipFill>
        <p:spPr>
          <a:xfrm>
            <a:off x="6362700" y="1116893"/>
            <a:ext cx="5372100" cy="2801070"/>
          </a:xfrm>
          <a:prstGeom prst="rect">
            <a:avLst/>
          </a:prstGeom>
        </p:spPr>
      </p:pic>
      <p:sp>
        <p:nvSpPr>
          <p:cNvPr id="658" name="Shape 65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4(A,B). Increasing nerve shocks recruit sensory EPSPs and afferent spikes.</a:t>
            </a:r>
            <a:endParaRPr lang="en-US"/>
          </a:p>
        </p:txBody>
      </p:sp>
      <p:pic>
        <p:nvPicPr>
          <p:cNvPr id="206" name="Presenton Native Image 19" descr=""/>
          <p:cNvPicPr/>
          <p:nvPr/>
        </p:nvPicPr>
        <p:blipFill>
          <a:blip r:embed="rId2" cstate="none"/>
          <a:stretch>
            <a:fillRect/>
          </a:stretch>
        </p:blipFill>
        <p:spPr>
          <a:xfrm>
            <a:off x="8568775" y="4560540"/>
            <a:ext cx="959949" cy="1019175"/>
          </a:xfrm>
          <a:prstGeom prst="rect">
            <a:avLst/>
          </a:prstGeom>
        </p:spPr>
      </p:pic>
      <p:sp>
        <p:nvSpPr>
          <p:cNvPr id="659" name="Shape 65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60" name="Shape 66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61" name="Shape 66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2" name="Shape 66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depolarization enhances sensory-afferent recruitment</a:t>
            </a:r>
            <a:endParaRPr lang="en-US"/>
          </a:p>
        </p:txBody>
      </p:sp>
      <p:sp>
        <p:nvSpPr>
          <p:cNvPr id="663" name="Shape 663"/>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a:t>
            </a:r>
            <a:endParaRPr lang="en-US"/>
          </a:p>
        </p:txBody>
      </p:sp>
      <p:sp>
        <p:nvSpPr>
          <p:cNvPr id="664" name="Shape 664"/>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a:t>
            </a:r>
            <a:endParaRPr lang="en-US"/>
          </a:p>
        </p:txBody>
      </p:sp>
      <p:sp>
        <p:nvSpPr>
          <p:cNvPr id="665" name="Shape 66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a:t>
            </a:r>
            <a:endParaRPr lang="en-US"/>
          </a:p>
        </p:txBody>
      </p:sp>
      <p:pic>
        <p:nvPicPr>
          <p:cNvPr id="207" name="Presenton Native Image 20" descr=""/>
          <p:cNvPicPr/>
          <p:nvPr/>
        </p:nvPicPr>
        <p:blipFill>
          <a:blip r:embed="rId3" cstate="none"/>
          <a:stretch>
            <a:fillRect/>
          </a:stretch>
        </p:blipFill>
        <p:spPr>
          <a:xfrm>
            <a:off x="6362700" y="1150481"/>
            <a:ext cx="5372100" cy="2733893"/>
          </a:xfrm>
          <a:prstGeom prst="rect">
            <a:avLst/>
          </a:prstGeom>
        </p:spPr>
      </p:pic>
      <p:sp>
        <p:nvSpPr>
          <p:cNvPr id="666" name="Shape 666"/>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5(A,B). Opposite effects of LG depolarization and hyperpolarization.</a:t>
            </a:r>
            <a:endParaRPr lang="en-US"/>
          </a:p>
        </p:txBody>
      </p:sp>
      <p:pic>
        <p:nvPicPr>
          <p:cNvPr id="208" name="Presenton Native Image 21" descr=""/>
          <p:cNvPicPr/>
          <p:nvPr/>
        </p:nvPicPr>
        <p:blipFill>
          <a:blip r:embed="rId2" cstate="none"/>
          <a:stretch>
            <a:fillRect/>
          </a:stretch>
        </p:blipFill>
        <p:spPr>
          <a:xfrm>
            <a:off x="8568775" y="4560540"/>
            <a:ext cx="959949" cy="1019175"/>
          </a:xfrm>
          <a:prstGeom prst="rect">
            <a:avLst/>
          </a:prstGeom>
        </p:spPr>
      </p:pic>
      <p:sp>
        <p:nvSpPr>
          <p:cNvPr id="667" name="Shape 667"/>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68" name="Shape 668"/>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69" name="Shape 6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0" name="Shape 6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hyperpolarization suppresses recruited sensory spikes</a:t>
            </a:r>
            <a:endParaRPr lang="en-US"/>
          </a:p>
        </p:txBody>
      </p:sp>
      <p:sp>
        <p:nvSpPr>
          <p:cNvPr id="671" name="Shape 67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Hyperpolarization</a:t>
            </a:r>
            <a:r>
              <a:rPr sz="1500" b="0" i="0">
                <a:solidFill>
                  <a:srgbClr val="1C242C"/>
                </a:solidFill>
                <a:latin typeface="Arial"/>
                <a:ea typeface="Arial"/>
              </a:rPr>
              <a:t xml:space="preserve"> shifts membrane voltage in the negative direction relative to its resting level. Herberholz and colleagues injected hyperpolarizing current into LG while presenting the same sensory-nerve stimulus. A previously suprathreshold afferent EPSP then failed to evoke its recruited spike.</a:t>
            </a:r>
            <a:endParaRPr lang="en-US"/>
          </a:p>
        </p:txBody>
      </p:sp>
      <p:sp>
        <p:nvSpPr>
          <p:cNvPr id="672" name="Shape 672"/>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a:t>
            </a:r>
            <a:endParaRPr lang="en-US"/>
          </a:p>
        </p:txBody>
      </p:sp>
      <p:sp>
        <p:nvSpPr>
          <p:cNvPr id="673" name="Shape 673"/>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a:t>
            </a:r>
            <a:endParaRPr lang="en-US"/>
          </a:p>
        </p:txBody>
      </p:sp>
      <p:pic>
        <p:nvPicPr>
          <p:cNvPr id="209" name="Presenton Native Image 22" descr=""/>
          <p:cNvPicPr/>
          <p:nvPr/>
        </p:nvPicPr>
        <p:blipFill>
          <a:blip r:embed="rId3" cstate="none"/>
          <a:stretch>
            <a:fillRect/>
          </a:stretch>
        </p:blipFill>
        <p:spPr>
          <a:xfrm>
            <a:off x="6362700" y="1150481"/>
            <a:ext cx="5372100" cy="2733893"/>
          </a:xfrm>
          <a:prstGeom prst="rect">
            <a:avLst/>
          </a:prstGeom>
        </p:spPr>
      </p:pic>
      <p:sp>
        <p:nvSpPr>
          <p:cNvPr id="674" name="Shape 67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5(B). Reduction of afferent recruitment during LG hyperpolarization.</a:t>
            </a:r>
            <a:endParaRPr lang="en-US"/>
          </a:p>
        </p:txBody>
      </p:sp>
      <p:pic>
        <p:nvPicPr>
          <p:cNvPr id="210" name="Presenton Native Image 23" descr=""/>
          <p:cNvPicPr/>
          <p:nvPr/>
        </p:nvPicPr>
        <p:blipFill>
          <a:blip r:embed="rId2" cstate="none"/>
          <a:stretch>
            <a:fillRect/>
          </a:stretch>
        </p:blipFill>
        <p:spPr>
          <a:xfrm>
            <a:off x="8568775" y="4560540"/>
            <a:ext cx="959949" cy="1019175"/>
          </a:xfrm>
          <a:prstGeom prst="rect">
            <a:avLst/>
          </a:prstGeom>
        </p:spPr>
      </p:pic>
      <p:sp>
        <p:nvSpPr>
          <p:cNvPr id="675" name="Shape 67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76" name="Shape 676"/>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77" name="Shape 6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8" name="Shape 6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Command-neuron voltage also changes interneuron recruitment</a:t>
            </a:r>
            <a:endParaRPr lang="en-US"/>
          </a:p>
        </p:txBody>
      </p:sp>
      <p:sp>
        <p:nvSpPr>
          <p:cNvPr id="679" name="Shape 67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first-order mechanosensory interneuron</a:t>
            </a:r>
            <a:r>
              <a:rPr sz="1500" b="0" i="0">
                <a:solidFill>
                  <a:srgbClr val="1C242C"/>
                </a:solidFill>
                <a:latin typeface="Arial"/>
                <a:ea typeface="Arial"/>
              </a:rPr>
              <a:t xml:space="preserve"> receives input from primary sensory afferents and can transmit excitation onward to LG. Herberholz and colleagues recorded interneuron A while altering LG voltage by current injection. They compared identical nerve stimuli at rest and during imposed voltage shifts.</a:t>
            </a:r>
            <a:endParaRPr lang="en-US"/>
          </a:p>
        </p:txBody>
      </p:sp>
      <p:sp>
        <p:nvSpPr>
          <p:cNvPr id="680" name="Shape 680"/>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a:t>
            </a:r>
            <a:endParaRPr lang="en-US"/>
          </a:p>
        </p:txBody>
      </p:sp>
      <p:sp>
        <p:nvSpPr>
          <p:cNvPr id="681" name="Shape 681"/>
          <p:cNvSpPr/>
          <p:nvPr/>
        </p:nvSpPr>
        <p:spPr>
          <a:xfrm>
            <a:off x="457200" y="437004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a:t>
            </a:r>
            <a:endParaRPr lang="en-US"/>
          </a:p>
        </p:txBody>
      </p:sp>
      <p:pic>
        <p:nvPicPr>
          <p:cNvPr id="211" name="Presenton Native Image 24" descr=""/>
          <p:cNvPicPr/>
          <p:nvPr/>
        </p:nvPicPr>
        <p:blipFill>
          <a:blip r:embed="rId3" cstate="none"/>
          <a:stretch>
            <a:fillRect/>
          </a:stretch>
        </p:blipFill>
        <p:spPr>
          <a:xfrm>
            <a:off x="6362700" y="1355985"/>
            <a:ext cx="5372100" cy="2322885"/>
          </a:xfrm>
          <a:prstGeom prst="rect">
            <a:avLst/>
          </a:prstGeom>
        </p:spPr>
      </p:pic>
      <p:sp>
        <p:nvSpPr>
          <p:cNvPr id="682" name="Shape 682"/>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6(A,B). LG voltage shifts alter the firing of interneuron A.</a:t>
            </a:r>
            <a:endParaRPr lang="en-US"/>
          </a:p>
        </p:txBody>
      </p:sp>
      <p:pic>
        <p:nvPicPr>
          <p:cNvPr id="212" name="Presenton Native Image 25" descr=""/>
          <p:cNvPicPr/>
          <p:nvPr/>
        </p:nvPicPr>
        <p:blipFill>
          <a:blip r:embed="rId2" cstate="none"/>
          <a:stretch>
            <a:fillRect/>
          </a:stretch>
        </p:blipFill>
        <p:spPr>
          <a:xfrm>
            <a:off x="8568775" y="4393853"/>
            <a:ext cx="959949" cy="1019175"/>
          </a:xfrm>
          <a:prstGeom prst="rect">
            <a:avLst/>
          </a:prstGeom>
        </p:spPr>
      </p:pic>
      <p:sp>
        <p:nvSpPr>
          <p:cNvPr id="683" name="Shape 683"/>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84" name="Shape 68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85" name="Shape 68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6" name="Shape 68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Voltage clamp separates added current from voltage bias</a:t>
            </a:r>
            <a:endParaRPr lang="en-US"/>
          </a:p>
        </p:txBody>
      </p:sp>
      <p:sp>
        <p:nvSpPr>
          <p:cNvPr id="687" name="Shape 68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voltage clamp</a:t>
            </a:r>
            <a:r>
              <a:rPr sz="1500" b="0" i="0">
                <a:solidFill>
                  <a:srgbClr val="1C242C"/>
                </a:solidFill>
                <a:latin typeface="Arial"/>
                <a:ea typeface="Arial"/>
              </a:rPr>
              <a:t xml:space="preserve">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a:t>
            </a:r>
            <a:endParaRPr lang="en-US"/>
          </a:p>
        </p:txBody>
      </p:sp>
      <p:sp>
        <p:nvSpPr>
          <p:cNvPr id="688" name="Shape 688"/>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a:t>
            </a:r>
            <a:endParaRPr lang="en-US"/>
          </a:p>
        </p:txBody>
      </p:sp>
      <p:sp>
        <p:nvSpPr>
          <p:cNvPr id="689" name="Shape 689"/>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a:t>
            </a:r>
            <a:endParaRPr lang="en-US"/>
          </a:p>
        </p:txBody>
      </p:sp>
      <p:pic>
        <p:nvPicPr>
          <p:cNvPr id="213" name="Presenton Native Image 26" descr=""/>
          <p:cNvPicPr/>
          <p:nvPr/>
        </p:nvPicPr>
        <p:blipFill>
          <a:blip r:embed="rId3" cstate="none"/>
          <a:stretch>
            <a:fillRect/>
          </a:stretch>
        </p:blipFill>
        <p:spPr>
          <a:xfrm>
            <a:off x="6894386" y="1055340"/>
            <a:ext cx="4308728" cy="2924175"/>
          </a:xfrm>
          <a:prstGeom prst="rect">
            <a:avLst/>
          </a:prstGeom>
        </p:spPr>
      </p:pic>
      <p:sp>
        <p:nvSpPr>
          <p:cNvPr id="690" name="Shape 69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7(A,B). LG voltage and synaptic-current responses during depolarization.</a:t>
            </a:r>
            <a:endParaRPr lang="en-US"/>
          </a:p>
        </p:txBody>
      </p:sp>
      <p:pic>
        <p:nvPicPr>
          <p:cNvPr id="214" name="Presenton Native Image 27" descr=""/>
          <p:cNvPicPr/>
          <p:nvPr/>
        </p:nvPicPr>
        <p:blipFill>
          <a:blip r:embed="rId2" cstate="none"/>
          <a:stretch>
            <a:fillRect/>
          </a:stretch>
        </p:blipFill>
        <p:spPr>
          <a:xfrm>
            <a:off x="8568775" y="4560540"/>
            <a:ext cx="959949" cy="1019175"/>
          </a:xfrm>
          <a:prstGeom prst="rect">
            <a:avLst/>
          </a:prstGeom>
        </p:spPr>
      </p:pic>
      <p:sp>
        <p:nvSpPr>
          <p:cNvPr id="691" name="Shape 69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92" name="Shape 692"/>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93" name="Shape 69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4" name="Shape 69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Unitary electrical input depends on postsynaptic voltage</a:t>
            </a:r>
            <a:endParaRPr lang="en-US"/>
          </a:p>
        </p:txBody>
      </p:sp>
      <p:sp>
        <p:nvSpPr>
          <p:cNvPr id="695" name="Shape 69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unitary synaptic response</a:t>
            </a:r>
            <a:r>
              <a:rPr sz="1500" b="0" i="0">
                <a:solidFill>
                  <a:srgbClr val="1C242C"/>
                </a:solidFill>
                <a:latin typeface="Arial"/>
                <a:ea typeface="Arial"/>
              </a:rPr>
              <a:t xml:space="preserve"> is the response associated with firing of a defined presynaptic neuron. Edwards and colleagues activated interneuron A while recording LG and imposed positive or negative shifts in LG voltage. This controlled presynaptic source differs from stimulating an entire sensory network.</a:t>
            </a:r>
            <a:endParaRPr lang="en-US"/>
          </a:p>
        </p:txBody>
      </p:sp>
      <p:sp>
        <p:nvSpPr>
          <p:cNvPr id="696" name="Shape 696"/>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Hyperpolarizing LG enlarged both the EPSP and measured excitatory synaptic current; depolarizing LG reduced them. At rest, the EPSP peaked within approximately 1 ms and decayed over the following 20 ms. The authors related these changes to voltage-sensitive electrical transmission.</a:t>
            </a:r>
            <a:endParaRPr lang="en-US"/>
          </a:p>
        </p:txBody>
      </p:sp>
      <p:sp>
        <p:nvSpPr>
          <p:cNvPr id="697" name="Shape 697"/>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result supports a </a:t>
            </a:r>
            <a:r>
              <a:rPr sz="1500" b="1" i="0">
                <a:solidFill>
                  <a:srgbClr val="1C242C"/>
                </a:solidFill>
                <a:latin typeface="Arial"/>
                <a:ea typeface="Arial"/>
              </a:rPr>
              <a:t>rectifying junction</a:t>
            </a:r>
            <a:r>
              <a:rPr sz="1500" b="0" i="0">
                <a:solidFill>
                  <a:srgbClr val="1C242C"/>
                </a:solidFill>
                <a:latin typeface="Arial"/>
                <a:ea typeface="Arial"/>
              </a:rPr>
              <a:t>, whose conductance depends on the voltage difference across the connection. It does not contradict enhanced network recruitment during LG depolarization: one experiment measures a fixed unitary input, while the other allows additional afferents and interneurons to become active.</a:t>
            </a:r>
            <a:endParaRPr lang="en-US"/>
          </a:p>
        </p:txBody>
      </p:sp>
      <p:pic>
        <p:nvPicPr>
          <p:cNvPr id="215" name="Presenton Native Image 28" descr=""/>
          <p:cNvPicPr/>
          <p:nvPr/>
        </p:nvPicPr>
        <p:blipFill>
          <a:blip r:embed="rId3" cstate="none"/>
          <a:stretch>
            <a:fillRect/>
          </a:stretch>
        </p:blipFill>
        <p:spPr>
          <a:xfrm>
            <a:off x="6480661" y="1055340"/>
            <a:ext cx="5136177" cy="2924175"/>
          </a:xfrm>
          <a:prstGeom prst="rect">
            <a:avLst/>
          </a:prstGeom>
        </p:spPr>
      </p:pic>
      <p:sp>
        <p:nvSpPr>
          <p:cNvPr id="698" name="Shape 69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(1991), Fig. 3(A–D). Interneuron A transmission and voltage-dependent LG responses.</a:t>
            </a:r>
            <a:endParaRPr lang="en-US"/>
          </a:p>
        </p:txBody>
      </p:sp>
      <p:pic>
        <p:nvPicPr>
          <p:cNvPr id="216" name="Presenton Native Image 29" descr=""/>
          <p:cNvPicPr/>
          <p:nvPr/>
        </p:nvPicPr>
        <p:blipFill>
          <a:blip r:embed="rId2" cstate="none"/>
          <a:stretch>
            <a:fillRect/>
          </a:stretch>
        </p:blipFill>
        <p:spPr>
          <a:xfrm>
            <a:off x="8568775" y="4560540"/>
            <a:ext cx="959949" cy="1019175"/>
          </a:xfrm>
          <a:prstGeom prst="rect">
            <a:avLst/>
          </a:prstGeom>
        </p:spPr>
      </p:pic>
      <p:sp>
        <p:nvSpPr>
          <p:cNvPr id="699" name="Shape 69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00" name="Shape 700"/>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(1991); Herberholz et al. (2002)</a:t>
            </a:r>
            <a:endParaRPr lang="en-US"/>
          </a:p>
        </p:txBody>
      </p:sp>
      <p:sp>
        <p:nvSpPr>
          <p:cNvPr id="701" name="Shape 70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2" name="Shape 70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Rectification permits selective reverse electrical transfer</a:t>
            </a:r>
            <a:endParaRPr lang="en-US"/>
          </a:p>
        </p:txBody>
      </p:sp>
      <p:sp>
        <p:nvSpPr>
          <p:cNvPr id="703" name="Shape 703"/>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Orthodromic</a:t>
            </a:r>
            <a:r>
              <a:rPr sz="1500" b="0" i="0">
                <a:solidFill>
                  <a:srgbClr val="1C242C"/>
                </a:solidFill>
                <a:latin typeface="Arial"/>
                <a:ea typeface="Arial"/>
              </a:rPr>
              <a:t xml:space="preserve"> transmission follows the usual sensory-to-command direction, while </a:t>
            </a:r>
            <a:r>
              <a:rPr sz="1500" b="1" i="0">
                <a:solidFill>
                  <a:srgbClr val="1C242C"/>
                </a:solidFill>
                <a:latin typeface="Arial"/>
                <a:ea typeface="Arial"/>
              </a:rPr>
              <a:t>antidromic</a:t>
            </a:r>
            <a:r>
              <a:rPr sz="1500" b="0" i="0">
                <a:solidFill>
                  <a:srgbClr val="1C242C"/>
                </a:solidFill>
                <a:latin typeface="Arial"/>
                <a:ea typeface="Arial"/>
              </a:rPr>
              <a:t xml:space="preserve"> transmission proceeds in the reverse direction. Edwards and colleagues recorded interneuron A while shifting LG voltage or evoking an LG action potential. They tested electrical communication in both directions across the same connection.</a:t>
            </a:r>
            <a:endParaRPr lang="en-US"/>
          </a:p>
        </p:txBody>
      </p:sp>
      <p:sp>
        <p:nvSpPr>
          <p:cNvPr id="704" name="Shape 704"/>
          <p:cNvSpPr/>
          <p:nvPr/>
        </p:nvSpPr>
        <p:spPr>
          <a:xfrm>
            <a:off x="457200" y="271269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a:t>
            </a:r>
            <a:endParaRPr lang="en-US"/>
          </a:p>
        </p:txBody>
      </p:sp>
      <p:sp>
        <p:nvSpPr>
          <p:cNvPr id="705" name="Shape 705"/>
          <p:cNvSpPr/>
          <p:nvPr/>
        </p:nvSpPr>
        <p:spPr>
          <a:xfrm>
            <a:off x="457200" y="46272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a:t>
            </a:r>
            <a:endParaRPr lang="en-US"/>
          </a:p>
        </p:txBody>
      </p:sp>
      <p:pic>
        <p:nvPicPr>
          <p:cNvPr id="217" name="Presenton Native Image 30" descr=""/>
          <p:cNvPicPr/>
          <p:nvPr/>
        </p:nvPicPr>
        <p:blipFill>
          <a:blip r:embed="rId3" cstate="none"/>
          <a:stretch>
            <a:fillRect/>
          </a:stretch>
        </p:blipFill>
        <p:spPr>
          <a:xfrm>
            <a:off x="7517167" y="1055340"/>
            <a:ext cx="3063167" cy="2924175"/>
          </a:xfrm>
          <a:prstGeom prst="rect">
            <a:avLst/>
          </a:prstGeom>
        </p:spPr>
      </p:pic>
      <p:sp>
        <p:nvSpPr>
          <p:cNvPr id="706" name="Shape 706"/>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(1991), Fig. 4(A–C). Reverse transfer from LG to interneuron A.</a:t>
            </a:r>
            <a:endParaRPr lang="en-US"/>
          </a:p>
        </p:txBody>
      </p:sp>
      <p:pic>
        <p:nvPicPr>
          <p:cNvPr id="218" name="Presenton Native Image 31" descr=""/>
          <p:cNvPicPr/>
          <p:nvPr/>
        </p:nvPicPr>
        <p:blipFill>
          <a:blip r:embed="rId2" cstate="none"/>
          <a:stretch>
            <a:fillRect/>
          </a:stretch>
        </p:blipFill>
        <p:spPr>
          <a:xfrm>
            <a:off x="8568775" y="4393853"/>
            <a:ext cx="959949" cy="1019175"/>
          </a:xfrm>
          <a:prstGeom prst="rect">
            <a:avLst/>
          </a:prstGeom>
        </p:spPr>
      </p:pic>
      <p:sp>
        <p:nvSpPr>
          <p:cNvPr id="707" name="Shape 707"/>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08" name="Shape 708"/>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(1991); Herberholz et al. (2002)</a:t>
            </a:r>
            <a:endParaRPr lang="en-US"/>
          </a:p>
        </p:txBody>
      </p:sp>
      <p:sp>
        <p:nvSpPr>
          <p:cNvPr id="709" name="Shape 70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0" name="Shape 7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detects coincidence on a submillisecond scale</a:t>
            </a:r>
            <a:endParaRPr lang="en-US"/>
          </a:p>
        </p:txBody>
      </p:sp>
      <p:sp>
        <p:nvSpPr>
          <p:cNvPr id="711" name="Shape 71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Coincidence detection</a:t>
            </a:r>
            <a:r>
              <a:rPr sz="1500" b="0" i="0">
                <a:solidFill>
                  <a:srgbClr val="1C242C"/>
                </a:solidFill>
                <a:latin typeface="Arial"/>
                <a:ea typeface="Arial"/>
              </a:rPr>
              <a:t xml:space="preserve">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a:t>
            </a:r>
            <a:endParaRPr lang="en-US"/>
          </a:p>
        </p:txBody>
      </p:sp>
      <p:sp>
        <p:nvSpPr>
          <p:cNvPr id="712" name="Shape 712"/>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a:t>
            </a:r>
            <a:endParaRPr lang="en-US"/>
          </a:p>
        </p:txBody>
      </p:sp>
      <p:sp>
        <p:nvSpPr>
          <p:cNvPr id="713" name="Shape 713"/>
          <p:cNvSpPr/>
          <p:nvPr/>
        </p:nvSpPr>
        <p:spPr>
          <a:xfrm>
            <a:off x="457200" y="43700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establishes very precise timing sensitivity in sensory input to LG. It does not measure the timing of natural receptor spikes during every predator encounter. Nerve shocks synchronize recruited axons and provide a controlled test of the central integration mechanism.</a:t>
            </a:r>
            <a:endParaRPr lang="en-US"/>
          </a:p>
        </p:txBody>
      </p:sp>
      <p:pic>
        <p:nvPicPr>
          <p:cNvPr id="219" name="Presenton Native Image 32" descr=""/>
          <p:cNvPicPr/>
          <p:nvPr/>
        </p:nvPicPr>
        <p:blipFill>
          <a:blip r:embed="rId3" cstate="none"/>
          <a:stretch>
            <a:fillRect/>
          </a:stretch>
        </p:blipFill>
        <p:spPr>
          <a:xfrm>
            <a:off x="7174944" y="1055340"/>
            <a:ext cx="3747612" cy="2924175"/>
          </a:xfrm>
          <a:prstGeom prst="rect">
            <a:avLst/>
          </a:prstGeom>
        </p:spPr>
      </p:pic>
      <p:sp>
        <p:nvSpPr>
          <p:cNvPr id="714" name="Shape 71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3(B). LG EPSP amplitude as a function of sensory-input delay.</a:t>
            </a:r>
            <a:endParaRPr lang="en-US"/>
          </a:p>
        </p:txBody>
      </p:sp>
      <p:pic>
        <p:nvPicPr>
          <p:cNvPr id="220" name="Presenton Native Image 33" descr=""/>
          <p:cNvPicPr/>
          <p:nvPr/>
        </p:nvPicPr>
        <p:blipFill>
          <a:blip r:embed="rId2" cstate="none"/>
          <a:stretch>
            <a:fillRect/>
          </a:stretch>
        </p:blipFill>
        <p:spPr>
          <a:xfrm>
            <a:off x="8568775" y="4560540"/>
            <a:ext cx="959949" cy="1019175"/>
          </a:xfrm>
          <a:prstGeom prst="rect">
            <a:avLst/>
          </a:prstGeom>
        </p:spPr>
      </p:pic>
      <p:sp>
        <p:nvSpPr>
          <p:cNvPr id="715" name="Shape 71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16" name="Shape 716"/>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17" name="Shape 71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8" name="Shape 7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direct afferent pathway retains coincidence selectivity</a:t>
            </a:r>
            <a:endParaRPr lang="en-US"/>
          </a:p>
        </p:txBody>
      </p:sp>
      <p:sp>
        <p:nvSpPr>
          <p:cNvPr id="719" name="Shape 71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Edwards and colleagues asked whether precise timing sensitivity required excitation through sensory interneurons. They isolated the early </a:t>
            </a:r>
            <a:r>
              <a:rPr sz="1500" b="1" i="0">
                <a:solidFill>
                  <a:srgbClr val="1C242C"/>
                </a:solidFill>
                <a:latin typeface="Arial"/>
                <a:ea typeface="Arial"/>
              </a:rPr>
              <a:t>alpha component</a:t>
            </a:r>
            <a:r>
              <a:rPr sz="1500" b="0" i="0">
                <a:solidFill>
                  <a:srgbClr val="1C242C"/>
                </a:solidFill>
                <a:latin typeface="Arial"/>
                <a:ea typeface="Arial"/>
              </a:rPr>
              <a:t>, dominated by direct afferent-to-LG electrical input, either by weakening the nerve stimuli or by blocking nicotinic transmission with mecamylamine.</a:t>
            </a:r>
            <a:endParaRPr lang="en-US"/>
          </a:p>
        </p:txBody>
      </p:sp>
      <p:sp>
        <p:nvSpPr>
          <p:cNvPr id="720" name="Shape 720"/>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Acetylcholine</a:t>
            </a:r>
            <a:r>
              <a:rPr sz="1500" b="0" i="0">
                <a:solidFill>
                  <a:srgbClr val="1C242C"/>
                </a:solidFill>
                <a:latin typeface="Arial"/>
                <a:ea typeface="Arial"/>
              </a:rPr>
              <a:t xml:space="preserve"> is the transmitter implicated at the afferent-to-interneuron chemical synapses; a </a:t>
            </a:r>
            <a:r>
              <a:rPr sz="1500" b="1" i="0">
                <a:solidFill>
                  <a:srgbClr val="1C242C"/>
                </a:solidFill>
                <a:latin typeface="Arial"/>
                <a:ea typeface="Arial"/>
              </a:rPr>
              <a:t>nicotinic receptor</a:t>
            </a:r>
            <a:r>
              <a:rPr sz="1500" b="0" i="0">
                <a:solidFill>
                  <a:srgbClr val="1C242C"/>
                </a:solidFill>
                <a:latin typeface="Arial"/>
                <a:ea typeface="Arial"/>
              </a:rPr>
              <a:t xml:space="preserve"> is an acetylcholine-gated ion channel. Mecamylamine reduced this chemical route. Even after the indirect pathway was suppressed, the alpha response remained largest for coincident inputs and declined with increasing delay.</a:t>
            </a:r>
            <a:endParaRPr lang="en-US"/>
          </a:p>
        </p:txBody>
      </p:sp>
      <p:sp>
        <p:nvSpPr>
          <p:cNvPr id="721" name="Shape 721"/>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a:t>
            </a:r>
            <a:endParaRPr lang="en-US"/>
          </a:p>
        </p:txBody>
      </p:sp>
      <p:pic>
        <p:nvPicPr>
          <p:cNvPr id="221" name="Presenton Native Image 34" descr=""/>
          <p:cNvPicPr/>
          <p:nvPr/>
        </p:nvPicPr>
        <p:blipFill>
          <a:blip r:embed="rId3" cstate="none"/>
          <a:stretch>
            <a:fillRect/>
          </a:stretch>
        </p:blipFill>
        <p:spPr>
          <a:xfrm>
            <a:off x="8062691" y="1055340"/>
            <a:ext cx="1972118" cy="2924175"/>
          </a:xfrm>
          <a:prstGeom prst="rect">
            <a:avLst/>
          </a:prstGeom>
        </p:spPr>
      </p:pic>
      <p:sp>
        <p:nvSpPr>
          <p:cNvPr id="722" name="Shape 722"/>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4(A–C). Timing sensitivity of full, alpha-only, and picrotoxin-treated responses.</a:t>
            </a:r>
            <a:endParaRPr lang="en-US"/>
          </a:p>
        </p:txBody>
      </p:sp>
      <p:pic>
        <p:nvPicPr>
          <p:cNvPr id="222" name="Presenton Native Image 35" descr=""/>
          <p:cNvPicPr/>
          <p:nvPr/>
        </p:nvPicPr>
        <p:blipFill>
          <a:blip r:embed="rId2" cstate="none"/>
          <a:stretch>
            <a:fillRect/>
          </a:stretch>
        </p:blipFill>
        <p:spPr>
          <a:xfrm>
            <a:off x="8568775" y="4560540"/>
            <a:ext cx="959949" cy="1019175"/>
          </a:xfrm>
          <a:prstGeom prst="rect">
            <a:avLst/>
          </a:prstGeom>
        </p:spPr>
      </p:pic>
      <p:sp>
        <p:nvSpPr>
          <p:cNvPr id="723" name="Shape 723"/>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24" name="Shape 724"/>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25" name="Shape 72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6" name="Shape 72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Fast coincidence selectivity survives inhibition blockade</a:t>
            </a:r>
            <a:endParaRPr lang="en-US"/>
          </a:p>
        </p:txBody>
      </p:sp>
      <p:sp>
        <p:nvSpPr>
          <p:cNvPr id="727" name="Shape 727"/>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Picrotoxin</a:t>
            </a:r>
            <a:r>
              <a:rPr sz="1500" b="0" i="0">
                <a:solidFill>
                  <a:srgbClr val="1C242C"/>
                </a:solidFill>
                <a:latin typeface="Arial"/>
                <a:ea typeface="Arial"/>
              </a:rPr>
              <a:t xml:space="preserve"> blocks the inhibitory channel mechanisms tested in these crayfish preparations. Edwards and colleagues applied 10 μM picrotoxin while comparing paired nerve inputs at different delays. They tested whether delayed inhibition could account for the very narrow coincidence peak.</a:t>
            </a:r>
            <a:endParaRPr lang="en-US"/>
          </a:p>
        </p:txBody>
      </p:sp>
      <p:sp>
        <p:nvSpPr>
          <p:cNvPr id="728" name="Shape 728"/>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a:t>
            </a:r>
            <a:endParaRPr lang="en-US"/>
          </a:p>
        </p:txBody>
      </p:sp>
      <p:sp>
        <p:nvSpPr>
          <p:cNvPr id="729" name="Shape 72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a:t>
            </a:r>
            <a:endParaRPr lang="en-US"/>
          </a:p>
        </p:txBody>
      </p:sp>
      <p:pic>
        <p:nvPicPr>
          <p:cNvPr id="223" name="Presenton Native Image 36" descr=""/>
          <p:cNvPicPr/>
          <p:nvPr/>
        </p:nvPicPr>
        <p:blipFill>
          <a:blip r:embed="rId3" cstate="none"/>
          <a:stretch>
            <a:fillRect/>
          </a:stretch>
        </p:blipFill>
        <p:spPr>
          <a:xfrm>
            <a:off x="8062691" y="1055340"/>
            <a:ext cx="1972118" cy="2924175"/>
          </a:xfrm>
          <a:prstGeom prst="rect">
            <a:avLst/>
          </a:prstGeom>
        </p:spPr>
      </p:pic>
      <p:sp>
        <p:nvSpPr>
          <p:cNvPr id="730" name="Shape 730"/>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4(C). Coincidence sensitivity during picrotoxin superfusion.</a:t>
            </a:r>
            <a:endParaRPr lang="en-US"/>
          </a:p>
        </p:txBody>
      </p:sp>
      <p:pic>
        <p:nvPicPr>
          <p:cNvPr id="224" name="Presenton Native Image 37" descr=""/>
          <p:cNvPicPr/>
          <p:nvPr/>
        </p:nvPicPr>
        <p:blipFill>
          <a:blip r:embed="rId2" cstate="none"/>
          <a:stretch>
            <a:fillRect/>
          </a:stretch>
        </p:blipFill>
        <p:spPr>
          <a:xfrm>
            <a:off x="8568775" y="4393853"/>
            <a:ext cx="959949" cy="1019175"/>
          </a:xfrm>
          <a:prstGeom prst="rect">
            <a:avLst/>
          </a:prstGeom>
        </p:spPr>
      </p:pic>
      <p:sp>
        <p:nvSpPr>
          <p:cNvPr id="731" name="Shape 731"/>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32" name="Shape 732"/>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33" name="Shape 73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4" name="Shape 73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Opened electrical junctions can reduce late excitation</a:t>
            </a:r>
            <a:endParaRPr lang="en-US"/>
          </a:p>
        </p:txBody>
      </p:sp>
      <p:sp>
        <p:nvSpPr>
          <p:cNvPr id="735" name="Shape 73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a:t>
            </a:r>
            <a:endParaRPr lang="en-US"/>
          </a:p>
        </p:txBody>
      </p:sp>
      <p:sp>
        <p:nvSpPr>
          <p:cNvPr id="736" name="Shape 736"/>
          <p:cNvSpPr/>
          <p:nvPr/>
        </p:nvSpPr>
        <p:spPr>
          <a:xfrm>
            <a:off x="457200" y="271269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Their computational comparisons reproduced reduced summation for short input delays with voltage-sensitive junctions. The experimental nerve-pair data confirmed sharp coincidence sensitivity, including a decrease for 0.1 ms separation. </a:t>
            </a:r>
            <a:r>
              <a:rPr sz="1500" b="1" i="0">
                <a:solidFill>
                  <a:srgbClr val="1C242C"/>
                </a:solidFill>
                <a:latin typeface="Arial"/>
                <a:ea typeface="Arial"/>
              </a:rPr>
              <a:t>Shunting</a:t>
            </a:r>
            <a:r>
              <a:rPr sz="1500" b="0" i="0">
                <a:solidFill>
                  <a:srgbClr val="1C242C"/>
                </a:solidFill>
                <a:latin typeface="Arial"/>
                <a:ea typeface="Arial"/>
              </a:rPr>
              <a:t xml:space="preserve"> means diverting current through an available conductance so that it contributes less to the desired voltage response.</a:t>
            </a:r>
            <a:endParaRPr lang="en-US"/>
          </a:p>
        </p:txBody>
      </p:sp>
      <p:sp>
        <p:nvSpPr>
          <p:cNvPr id="737" name="Shape 737"/>
          <p:cNvSpPr/>
          <p:nvPr/>
        </p:nvSpPr>
        <p:spPr>
          <a:xfrm>
            <a:off x="457200" y="462721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model supplies a mechanistic account consistent with the recordings, not a direct measurement of every individual gap-junction current in vivo. Its assumed channel kinetics must remain distinguishable from the physiological evidence for timing-dependent EPSP reduction.</a:t>
            </a:r>
            <a:endParaRPr lang="en-US"/>
          </a:p>
        </p:txBody>
      </p:sp>
      <p:pic>
        <p:nvPicPr>
          <p:cNvPr id="225" name="Presenton Native Image 38" descr=""/>
          <p:cNvPicPr/>
          <p:nvPr/>
        </p:nvPicPr>
        <p:blipFill>
          <a:blip r:embed="rId3" cstate="none"/>
          <a:stretch>
            <a:fillRect/>
          </a:stretch>
        </p:blipFill>
        <p:spPr>
          <a:xfrm>
            <a:off x="7174944" y="1055340"/>
            <a:ext cx="3747612" cy="2924175"/>
          </a:xfrm>
          <a:prstGeom prst="rect">
            <a:avLst/>
          </a:prstGeom>
        </p:spPr>
      </p:pic>
      <p:sp>
        <p:nvSpPr>
          <p:cNvPr id="738" name="Shape 73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3(B). Measured timing sensitivity used to test the rectifying-junction account.</a:t>
            </a:r>
            <a:endParaRPr lang="en-US"/>
          </a:p>
        </p:txBody>
      </p:sp>
      <p:pic>
        <p:nvPicPr>
          <p:cNvPr id="226" name="Presenton Native Image 39" descr=""/>
          <p:cNvPicPr/>
          <p:nvPr/>
        </p:nvPicPr>
        <p:blipFill>
          <a:blip r:embed="rId2" cstate="none"/>
          <a:stretch>
            <a:fillRect/>
          </a:stretch>
        </p:blipFill>
        <p:spPr>
          <a:xfrm>
            <a:off x="8568775" y="4560540"/>
            <a:ext cx="959949" cy="1019175"/>
          </a:xfrm>
          <a:prstGeom prst="rect">
            <a:avLst/>
          </a:prstGeom>
        </p:spPr>
      </p:pic>
      <p:sp>
        <p:nvSpPr>
          <p:cNvPr id="739" name="Shape 73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40" name="Shape 740"/>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41" name="Shape 74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2" name="Shape 74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Sensory excitation is followed by delayed LG inhibition</a:t>
            </a:r>
            <a:endParaRPr lang="en-US"/>
          </a:p>
        </p:txBody>
      </p:sp>
      <p:sp>
        <p:nvSpPr>
          <p:cNvPr id="743" name="Shape 743"/>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Postexcitatory inhibition</a:t>
            </a:r>
            <a:r>
              <a:rPr sz="1500" b="0" i="0">
                <a:solidFill>
                  <a:srgbClr val="1C242C"/>
                </a:solidFill>
                <a:latin typeface="Arial"/>
                <a:ea typeface="Arial"/>
              </a:rPr>
              <a:t>, or PEI, is inhibition that follows the early excitation evoked by sensory input. Vu and colleagues recorded LG in isolated crayfish abdomens and stimulated sensory roots. They compared the compound response before and during picrotoxin application.</a:t>
            </a:r>
            <a:endParaRPr lang="en-US"/>
          </a:p>
        </p:txBody>
      </p:sp>
      <p:sp>
        <p:nvSpPr>
          <p:cNvPr id="744" name="Shape 744"/>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a:t>
            </a:r>
            <a:endParaRPr lang="en-US"/>
          </a:p>
        </p:txBody>
      </p:sp>
      <p:sp>
        <p:nvSpPr>
          <p:cNvPr id="745" name="Shape 74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a:t>
            </a:r>
            <a:endParaRPr lang="en-US"/>
          </a:p>
        </p:txBody>
      </p:sp>
      <p:pic>
        <p:nvPicPr>
          <p:cNvPr id="227" name="Presenton Native Image 40" descr=""/>
          <p:cNvPicPr/>
          <p:nvPr/>
        </p:nvPicPr>
        <p:blipFill>
          <a:blip r:embed="rId3" cstate="none"/>
          <a:stretch>
            <a:fillRect/>
          </a:stretch>
        </p:blipFill>
        <p:spPr>
          <a:xfrm>
            <a:off x="8166158" y="1055340"/>
            <a:ext cx="1765184" cy="2924175"/>
          </a:xfrm>
          <a:prstGeom prst="rect">
            <a:avLst/>
          </a:prstGeom>
        </p:spPr>
      </p:pic>
      <p:sp>
        <p:nvSpPr>
          <p:cNvPr id="746" name="Shape 746"/>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2(A,B). Picrotoxin changes the late portion of a root-evoked LG response.</a:t>
            </a:r>
            <a:endParaRPr lang="en-US"/>
          </a:p>
        </p:txBody>
      </p:sp>
      <p:pic>
        <p:nvPicPr>
          <p:cNvPr id="228" name="Presenton Native Image 41" descr=""/>
          <p:cNvPicPr/>
          <p:nvPr/>
        </p:nvPicPr>
        <p:blipFill>
          <a:blip r:embed="rId2" cstate="none"/>
          <a:stretch>
            <a:fillRect/>
          </a:stretch>
        </p:blipFill>
        <p:spPr>
          <a:xfrm>
            <a:off x="8568775" y="4560540"/>
            <a:ext cx="959949" cy="1019175"/>
          </a:xfrm>
          <a:prstGeom prst="rect">
            <a:avLst/>
          </a:prstGeom>
        </p:spPr>
      </p:pic>
      <p:sp>
        <p:nvSpPr>
          <p:cNvPr id="747" name="Shape 747"/>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48" name="Shape 748"/>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49" name="Shape 7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0" name="Shape 75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 defined test EPSP is attenuated after sensory excitation</a:t>
            </a:r>
            <a:endParaRPr lang="en-US"/>
          </a:p>
        </p:txBody>
      </p:sp>
      <p:sp>
        <p:nvSpPr>
          <p:cNvPr id="751" name="Shape 751"/>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a:t>
            </a:r>
            <a:endParaRPr lang="en-US"/>
          </a:p>
        </p:txBody>
      </p:sp>
      <p:sp>
        <p:nvSpPr>
          <p:cNvPr id="752" name="Shape 752"/>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a:t>
            </a:r>
            <a:endParaRPr lang="en-US"/>
          </a:p>
        </p:txBody>
      </p:sp>
      <p:sp>
        <p:nvSpPr>
          <p:cNvPr id="753" name="Shape 753"/>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a:t>
            </a:r>
            <a:endParaRPr lang="en-US"/>
          </a:p>
        </p:txBody>
      </p:sp>
      <p:pic>
        <p:nvPicPr>
          <p:cNvPr id="229" name="Presenton Native Image 42" descr=""/>
          <p:cNvPicPr/>
          <p:nvPr/>
        </p:nvPicPr>
        <p:blipFill>
          <a:blip r:embed="rId3" cstate="none"/>
          <a:stretch>
            <a:fillRect/>
          </a:stretch>
        </p:blipFill>
        <p:spPr>
          <a:xfrm>
            <a:off x="6362700" y="1198471"/>
            <a:ext cx="5372100" cy="2637913"/>
          </a:xfrm>
          <a:prstGeom prst="rect">
            <a:avLst/>
          </a:prstGeom>
        </p:spPr>
      </p:pic>
      <p:sp>
        <p:nvSpPr>
          <p:cNvPr id="754" name="Shape 75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3(A,B). Reduction of an interneuron A test EPSP at different delays.</a:t>
            </a:r>
            <a:endParaRPr lang="en-US"/>
          </a:p>
        </p:txBody>
      </p:sp>
      <p:pic>
        <p:nvPicPr>
          <p:cNvPr id="230" name="Presenton Native Image 43" descr=""/>
          <p:cNvPicPr/>
          <p:nvPr/>
        </p:nvPicPr>
        <p:blipFill>
          <a:blip r:embed="rId2" cstate="none"/>
          <a:stretch>
            <a:fillRect/>
          </a:stretch>
        </p:blipFill>
        <p:spPr>
          <a:xfrm>
            <a:off x="8568775" y="4560540"/>
            <a:ext cx="959949" cy="1019175"/>
          </a:xfrm>
          <a:prstGeom prst="rect">
            <a:avLst/>
          </a:prstGeom>
        </p:spPr>
      </p:pic>
      <p:sp>
        <p:nvSpPr>
          <p:cNvPr id="755" name="Shape 75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56" name="Shape 756"/>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57" name="Shape 75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8" name="Shape 75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Picrotoxin removes much of the delayed EPSP attenuation</a:t>
            </a:r>
            <a:endParaRPr lang="en-US"/>
          </a:p>
        </p:txBody>
      </p:sp>
      <p:sp>
        <p:nvSpPr>
          <p:cNvPr id="759" name="Shape 759"/>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repeated the interneuron A test during picrotoxin exposure. The test spike was timed so its LG EPSP occurred 8 ms after a sensory-root stimulus. The control comparison retained the same type of defined presynaptic input and compound LG response.</a:t>
            </a:r>
            <a:endParaRPr lang="en-US"/>
          </a:p>
        </p:txBody>
      </p:sp>
      <p:sp>
        <p:nvSpPr>
          <p:cNvPr id="760" name="Shape 760"/>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a:t>
            </a:r>
            <a:endParaRPr lang="en-US"/>
          </a:p>
        </p:txBody>
      </p:sp>
      <p:sp>
        <p:nvSpPr>
          <p:cNvPr id="761" name="Shape 761"/>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a:t>
            </a:r>
            <a:endParaRPr lang="en-US"/>
          </a:p>
        </p:txBody>
      </p:sp>
      <p:pic>
        <p:nvPicPr>
          <p:cNvPr id="231" name="Presenton Native Image 44" descr=""/>
          <p:cNvPicPr/>
          <p:nvPr/>
        </p:nvPicPr>
        <p:blipFill>
          <a:blip r:embed="rId3" cstate="none"/>
          <a:stretch>
            <a:fillRect/>
          </a:stretch>
        </p:blipFill>
        <p:spPr>
          <a:xfrm>
            <a:off x="6362700" y="1067147"/>
            <a:ext cx="5372100" cy="2900561"/>
          </a:xfrm>
          <a:prstGeom prst="rect">
            <a:avLst/>
          </a:prstGeom>
        </p:spPr>
      </p:pic>
      <p:sp>
        <p:nvSpPr>
          <p:cNvPr id="762" name="Shape 762"/>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5(A,B). Test-EPSP attenuation before and during picrotoxin treatment.</a:t>
            </a:r>
            <a:endParaRPr lang="en-US"/>
          </a:p>
        </p:txBody>
      </p:sp>
      <p:pic>
        <p:nvPicPr>
          <p:cNvPr id="232" name="Presenton Native Image 45" descr=""/>
          <p:cNvPicPr/>
          <p:nvPr/>
        </p:nvPicPr>
        <p:blipFill>
          <a:blip r:embed="rId2" cstate="none"/>
          <a:stretch>
            <a:fillRect/>
          </a:stretch>
        </p:blipFill>
        <p:spPr>
          <a:xfrm>
            <a:off x="8568775" y="4560540"/>
            <a:ext cx="959949" cy="1019175"/>
          </a:xfrm>
          <a:prstGeom prst="rect">
            <a:avLst/>
          </a:prstGeom>
        </p:spPr>
      </p:pic>
      <p:sp>
        <p:nvSpPr>
          <p:cNvPr id="763" name="Shape 763"/>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64" name="Shape 764"/>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65" name="Shape 76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6" name="Shape 76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Delayed inhibition increases a shunting conductance</a:t>
            </a:r>
            <a:endParaRPr lang="en-US"/>
          </a:p>
        </p:txBody>
      </p:sp>
      <p:sp>
        <p:nvSpPr>
          <p:cNvPr id="767" name="Shape 76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Input resistance</a:t>
            </a:r>
            <a:r>
              <a:rPr sz="1500" b="0" i="0">
                <a:solidFill>
                  <a:srgbClr val="1C242C"/>
                </a:solidFill>
                <a:latin typeface="Arial"/>
                <a:ea typeface="Arial"/>
              </a:rPr>
              <a:t xml:space="preserve"> is the voltage response produced by an injected current, expressed relative to that current. A smaller response to the same current indicates that more current can escape through membrane conductance. Vu and colleagues measured this property during the sensory-evoked LG potential.</a:t>
            </a:r>
            <a:endParaRPr lang="en-US"/>
          </a:p>
        </p:txBody>
      </p:sp>
      <p:sp>
        <p:nvSpPr>
          <p:cNvPr id="768" name="Shape 768"/>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a:t>
            </a:r>
            <a:endParaRPr lang="en-US"/>
          </a:p>
        </p:txBody>
      </p:sp>
      <p:sp>
        <p:nvSpPr>
          <p:cNvPr id="769" name="Shape 76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GABA</a:t>
            </a:r>
            <a:r>
              <a:rPr sz="1500" b="0" i="0">
                <a:solidFill>
                  <a:srgbClr val="1C242C"/>
                </a:solidFill>
                <a:latin typeface="Arial"/>
                <a:ea typeface="Arial"/>
              </a:rPr>
              <a:t>,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a:t>
            </a:r>
            <a:endParaRPr lang="en-US"/>
          </a:p>
        </p:txBody>
      </p:sp>
      <p:pic>
        <p:nvPicPr>
          <p:cNvPr id="233" name="Presenton Native Image 46" descr=""/>
          <p:cNvPicPr/>
          <p:nvPr/>
        </p:nvPicPr>
        <p:blipFill>
          <a:blip r:embed="rId3" cstate="none"/>
          <a:stretch>
            <a:fillRect/>
          </a:stretch>
        </p:blipFill>
        <p:spPr>
          <a:xfrm>
            <a:off x="6362700" y="1374283"/>
            <a:ext cx="5372100" cy="2286290"/>
          </a:xfrm>
          <a:prstGeom prst="rect">
            <a:avLst/>
          </a:prstGeom>
        </p:spPr>
      </p:pic>
      <p:sp>
        <p:nvSpPr>
          <p:cNvPr id="770" name="Shape 77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6(A,B). Reduced attenuation of injected-current responses during picrotoxin.</a:t>
            </a:r>
            <a:endParaRPr lang="en-US"/>
          </a:p>
        </p:txBody>
      </p:sp>
      <p:pic>
        <p:nvPicPr>
          <p:cNvPr id="234" name="Presenton Native Image 47" descr=""/>
          <p:cNvPicPr/>
          <p:nvPr/>
        </p:nvPicPr>
        <p:blipFill>
          <a:blip r:embed="rId2" cstate="none"/>
          <a:stretch>
            <a:fillRect/>
          </a:stretch>
        </p:blipFill>
        <p:spPr>
          <a:xfrm>
            <a:off x="8568775" y="4560540"/>
            <a:ext cx="959949" cy="1019175"/>
          </a:xfrm>
          <a:prstGeom prst="rect">
            <a:avLst/>
          </a:prstGeom>
        </p:spPr>
      </p:pic>
      <p:sp>
        <p:nvSpPr>
          <p:cNvPr id="771" name="Shape 77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72" name="Shape 772"/>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73" name="Shape 77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4" name="Shape 77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Dendritic inhibition is partly specific to input location</a:t>
            </a:r>
            <a:endParaRPr lang="en-US"/>
          </a:p>
        </p:txBody>
      </p:sp>
      <p:sp>
        <p:nvSpPr>
          <p:cNvPr id="775" name="Shape 775"/>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compared pairs of sensory-root shocks separated by 8 ms. The second shock was delivered either to the same root or to a different root in the same ganglion. These roots supply partly distinct dendritic regions, allowing a test of spatial specificity.</a:t>
            </a:r>
            <a:endParaRPr lang="en-US"/>
          </a:p>
        </p:txBody>
      </p:sp>
      <p:sp>
        <p:nvSpPr>
          <p:cNvPr id="776" name="Shape 776"/>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a:t>
            </a:r>
            <a:endParaRPr lang="en-US"/>
          </a:p>
        </p:txBody>
      </p:sp>
      <p:sp>
        <p:nvSpPr>
          <p:cNvPr id="777" name="Shape 777"/>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a:t>
            </a:r>
            <a:endParaRPr lang="en-US"/>
          </a:p>
        </p:txBody>
      </p:sp>
      <p:pic>
        <p:nvPicPr>
          <p:cNvPr id="235" name="Presenton Native Image 48" descr=""/>
          <p:cNvPicPr/>
          <p:nvPr/>
        </p:nvPicPr>
        <p:blipFill>
          <a:blip r:embed="rId3" cstate="none"/>
          <a:stretch>
            <a:fillRect/>
          </a:stretch>
        </p:blipFill>
        <p:spPr>
          <a:xfrm>
            <a:off x="7126707" y="1055340"/>
            <a:ext cx="3844087" cy="2924175"/>
          </a:xfrm>
          <a:prstGeom prst="rect">
            <a:avLst/>
          </a:prstGeom>
        </p:spPr>
      </p:pic>
      <p:sp>
        <p:nvSpPr>
          <p:cNvPr id="778" name="Shape 77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11(A–E). Comparison of repeated same-root and different-root stimuli.</a:t>
            </a:r>
            <a:endParaRPr lang="en-US"/>
          </a:p>
        </p:txBody>
      </p:sp>
      <p:pic>
        <p:nvPicPr>
          <p:cNvPr id="236" name="Presenton Native Image 49" descr=""/>
          <p:cNvPicPr/>
          <p:nvPr/>
        </p:nvPicPr>
        <p:blipFill>
          <a:blip r:embed="rId2" cstate="none"/>
          <a:stretch>
            <a:fillRect/>
          </a:stretch>
        </p:blipFill>
        <p:spPr>
          <a:xfrm>
            <a:off x="8568775" y="4560540"/>
            <a:ext cx="959949" cy="1019175"/>
          </a:xfrm>
          <a:prstGeom prst="rect">
            <a:avLst/>
          </a:prstGeom>
        </p:spPr>
      </p:pic>
      <p:sp>
        <p:nvSpPr>
          <p:cNvPr id="779" name="Shape 77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80" name="Shape 780"/>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81" name="Shape 78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2" name="Shape 78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Photoinactivation removes a segmental giant relay</a:t>
            </a:r>
            <a:endParaRPr lang="en-US"/>
          </a:p>
        </p:txBody>
      </p:sp>
      <p:sp>
        <p:nvSpPr>
          <p:cNvPr id="783" name="Shape 783"/>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a:t>
            </a:r>
            <a:r>
              <a:rPr sz="1500" b="1" i="0">
                <a:solidFill>
                  <a:srgbClr val="1C242C"/>
                </a:solidFill>
                <a:latin typeface="Arial"/>
                <a:ea typeface="Arial"/>
              </a:rPr>
              <a:t>segmental giant</a:t>
            </a:r>
            <a:r>
              <a:rPr sz="1500" b="0" i="0">
                <a:solidFill>
                  <a:srgbClr val="1C242C"/>
                </a:solidFill>
                <a:latin typeface="Arial"/>
                <a:ea typeface="Arial"/>
              </a:rPr>
              <a:t xml:space="preserve">, or SG, is a relay neuron through which giant-fiber activity excites many fast-flexor motor neurons. Fraser and Heitler filled SG with Lucifer Yellow and illuminated it to disrupt its function. This </a:t>
            </a:r>
            <a:r>
              <a:rPr sz="1500" b="1" i="0">
                <a:solidFill>
                  <a:srgbClr val="1C242C"/>
                </a:solidFill>
                <a:latin typeface="Arial"/>
                <a:ea typeface="Arial"/>
              </a:rPr>
              <a:t>photoinactivation</a:t>
            </a:r>
            <a:r>
              <a:rPr sz="1500" b="0" i="0">
                <a:solidFill>
                  <a:srgbClr val="1C242C"/>
                </a:solidFill>
                <a:latin typeface="Arial"/>
                <a:ea typeface="Arial"/>
              </a:rPr>
              <a:t xml:space="preserve"> allowed them to test pathways normally obscured by the relay’s strong output.</a:t>
            </a:r>
            <a:endParaRPr lang="en-US"/>
          </a:p>
        </p:txBody>
      </p:sp>
      <p:sp>
        <p:nvSpPr>
          <p:cNvPr id="784" name="Shape 784"/>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a:t>
            </a:r>
            <a:endParaRPr lang="en-US"/>
          </a:p>
        </p:txBody>
      </p:sp>
      <p:sp>
        <p:nvSpPr>
          <p:cNvPr id="785" name="Shape 785"/>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a:t>
            </a:r>
            <a:endParaRPr lang="en-US"/>
          </a:p>
        </p:txBody>
      </p:sp>
      <p:pic>
        <p:nvPicPr>
          <p:cNvPr id="237" name="Presenton Native Image 50" descr=""/>
          <p:cNvPicPr/>
          <p:nvPr/>
        </p:nvPicPr>
        <p:blipFill>
          <a:blip r:embed="rId2" cstate="none"/>
          <a:stretch>
            <a:fillRect/>
          </a:stretch>
        </p:blipFill>
        <p:spPr>
          <a:xfrm>
            <a:off x="6610350" y="1201003"/>
            <a:ext cx="5048250" cy="3709175"/>
          </a:xfrm>
          <a:prstGeom prst="rect">
            <a:avLst/>
          </a:prstGeom>
        </p:spPr>
      </p:pic>
      <p:sp>
        <p:nvSpPr>
          <p:cNvPr id="786" name="Shape 78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1(A–C). Recordings before and during dye-mediated segmental-giant inactivation.</a:t>
            </a:r>
            <a:endParaRPr lang="en-US"/>
          </a:p>
        </p:txBody>
      </p:sp>
      <p:sp>
        <p:nvSpPr>
          <p:cNvPr id="787" name="Shape 787"/>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788" name="Shape 7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9" name="Shape 7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Bilateral relay removal exposes direct giant-fiber input</a:t>
            </a:r>
            <a:endParaRPr lang="en-US"/>
          </a:p>
        </p:txBody>
      </p:sp>
      <p:sp>
        <p:nvSpPr>
          <p:cNvPr id="790" name="Shape 79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photoinactivated SG on both sides of an abdominal ganglion. Removing only one SG would leave a contralateral route capable of exciting the recorded fast-flexor motor neuron. Bilateral manipulation therefore controlled an important parallel pathway.</a:t>
            </a:r>
            <a:endParaRPr lang="en-US"/>
          </a:p>
        </p:txBody>
      </p:sp>
      <p:sp>
        <p:nvSpPr>
          <p:cNvPr id="791" name="Shape 791"/>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a:t>
            </a:r>
            <a:endParaRPr lang="en-US"/>
          </a:p>
        </p:txBody>
      </p:sp>
      <p:sp>
        <p:nvSpPr>
          <p:cNvPr id="792" name="Shape 792"/>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a:t>
            </a:r>
            <a:endParaRPr lang="en-US"/>
          </a:p>
        </p:txBody>
      </p:sp>
      <p:pic>
        <p:nvPicPr>
          <p:cNvPr id="238" name="Presenton Native Image 51" descr=""/>
          <p:cNvPicPr/>
          <p:nvPr/>
        </p:nvPicPr>
        <p:blipFill>
          <a:blip r:embed="rId2" cstate="none"/>
          <a:stretch>
            <a:fillRect/>
          </a:stretch>
        </p:blipFill>
        <p:spPr>
          <a:xfrm>
            <a:off x="6610350" y="1714539"/>
            <a:ext cx="5048250" cy="2682102"/>
          </a:xfrm>
          <a:prstGeom prst="rect">
            <a:avLst/>
          </a:prstGeom>
        </p:spPr>
      </p:pic>
      <p:sp>
        <p:nvSpPr>
          <p:cNvPr id="793" name="Shape 79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2(A–C). Residual LG-to-fast-flexor responses after bilateral SG inactivation.</a:t>
            </a:r>
            <a:endParaRPr lang="en-US"/>
          </a:p>
        </p:txBody>
      </p:sp>
      <p:sp>
        <p:nvSpPr>
          <p:cNvPr id="794" name="Shape 794"/>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795" name="Shape 79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6" name="Shape 7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and MG differ in their residual fast-flexor outputs</a:t>
            </a:r>
            <a:endParaRPr lang="en-US"/>
          </a:p>
        </p:txBody>
      </p:sp>
      <p:sp>
        <p:nvSpPr>
          <p:cNvPr id="797" name="Shape 797"/>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a:t>
            </a:r>
            <a:endParaRPr lang="en-US"/>
          </a:p>
        </p:txBody>
      </p:sp>
      <p:sp>
        <p:nvSpPr>
          <p:cNvPr id="798" name="Shape 798"/>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a:t>
            </a:r>
            <a:endParaRPr lang="en-US"/>
          </a:p>
        </p:txBody>
      </p:sp>
      <p:sp>
        <p:nvSpPr>
          <p:cNvPr id="799" name="Shape 799"/>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a:t>
            </a:r>
            <a:endParaRPr lang="en-US"/>
          </a:p>
        </p:txBody>
      </p:sp>
      <p:pic>
        <p:nvPicPr>
          <p:cNvPr id="239" name="Presenton Native Image 52" descr=""/>
          <p:cNvPicPr/>
          <p:nvPr/>
        </p:nvPicPr>
        <p:blipFill>
          <a:blip r:embed="rId2" cstate="none"/>
          <a:stretch>
            <a:fillRect/>
          </a:stretch>
        </p:blipFill>
        <p:spPr>
          <a:xfrm>
            <a:off x="6610350" y="1816297"/>
            <a:ext cx="5048250" cy="2478587"/>
          </a:xfrm>
          <a:prstGeom prst="rect">
            <a:avLst/>
          </a:prstGeom>
        </p:spPr>
      </p:pic>
      <p:sp>
        <p:nvSpPr>
          <p:cNvPr id="800" name="Shape 80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4(A,B). Comparisons of LG and MG input after SG removal.</a:t>
            </a:r>
            <a:endParaRPr lang="en-US"/>
          </a:p>
        </p:txBody>
      </p:sp>
      <p:sp>
        <p:nvSpPr>
          <p:cNvPr id="801" name="Shape 801"/>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02" name="Shape 80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3" name="Shape 80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Cadmium separates chemical from electrical motor input</a:t>
            </a:r>
            <a:endParaRPr lang="en-US"/>
          </a:p>
        </p:txBody>
      </p:sp>
      <p:sp>
        <p:nvSpPr>
          <p:cNvPr id="804" name="Shape 804"/>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chemical synapse</a:t>
            </a:r>
            <a:r>
              <a:rPr sz="1500" b="0" i="0">
                <a:solidFill>
                  <a:srgbClr val="1C242C"/>
                </a:solidFill>
                <a:latin typeface="Arial"/>
                <a:ea typeface="Arial"/>
              </a:rPr>
              <a:t xml:space="preserve">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a:t>
            </a:r>
            <a:endParaRPr lang="en-US"/>
          </a:p>
        </p:txBody>
      </p:sp>
      <p:sp>
        <p:nvSpPr>
          <p:cNvPr id="805" name="Shape 805"/>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a:t>
            </a:r>
            <a:endParaRPr lang="en-US"/>
          </a:p>
        </p:txBody>
      </p:sp>
      <p:sp>
        <p:nvSpPr>
          <p:cNvPr id="806" name="Shape 806"/>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a:t>
            </a:r>
            <a:endParaRPr lang="en-US"/>
          </a:p>
        </p:txBody>
      </p:sp>
      <p:pic>
        <p:nvPicPr>
          <p:cNvPr id="240" name="Presenton Native Image 53" descr=""/>
          <p:cNvPicPr/>
          <p:nvPr/>
        </p:nvPicPr>
        <p:blipFill>
          <a:blip r:embed="rId2" cstate="none"/>
          <a:stretch>
            <a:fillRect/>
          </a:stretch>
        </p:blipFill>
        <p:spPr>
          <a:xfrm>
            <a:off x="6610350" y="1937639"/>
            <a:ext cx="5048250" cy="2235903"/>
          </a:xfrm>
          <a:prstGeom prst="rect">
            <a:avLst/>
          </a:prstGeom>
        </p:spPr>
      </p:pic>
      <p:sp>
        <p:nvSpPr>
          <p:cNvPr id="807" name="Shape 80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9(A,B). Residual LG-to-fast-flexor response during cadmium exposure.</a:t>
            </a:r>
            <a:endParaRPr lang="en-US"/>
          </a:p>
        </p:txBody>
      </p:sp>
      <p:sp>
        <p:nvSpPr>
          <p:cNvPr id="808" name="Shape 808"/>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09" name="Shape 80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0" name="Shape 8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Cooling resolves components with different synaptic delays</a:t>
            </a:r>
            <a:endParaRPr lang="en-US"/>
          </a:p>
        </p:txBody>
      </p:sp>
      <p:sp>
        <p:nvSpPr>
          <p:cNvPr id="811" name="Shape 811"/>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a:t>
            </a:r>
            <a:endParaRPr lang="en-US"/>
          </a:p>
        </p:txBody>
      </p:sp>
      <p:sp>
        <p:nvSpPr>
          <p:cNvPr id="812" name="Shape 812"/>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a:t>
            </a:r>
            <a:endParaRPr lang="en-US"/>
          </a:p>
        </p:txBody>
      </p:sp>
      <p:sp>
        <p:nvSpPr>
          <p:cNvPr id="813" name="Shape 813"/>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a:t>
            </a:r>
            <a:endParaRPr lang="en-US"/>
          </a:p>
        </p:txBody>
      </p:sp>
      <p:pic>
        <p:nvPicPr>
          <p:cNvPr id="241" name="Presenton Native Image 54" descr=""/>
          <p:cNvPicPr/>
          <p:nvPr/>
        </p:nvPicPr>
        <p:blipFill>
          <a:blip r:embed="rId2" cstate="none"/>
          <a:stretch>
            <a:fillRect/>
          </a:stretch>
        </p:blipFill>
        <p:spPr>
          <a:xfrm>
            <a:off x="6610350" y="1339856"/>
            <a:ext cx="5048250" cy="3431468"/>
          </a:xfrm>
          <a:prstGeom prst="rect">
            <a:avLst/>
          </a:prstGeom>
        </p:spPr>
      </p:pic>
      <p:sp>
        <p:nvSpPr>
          <p:cNvPr id="814" name="Shape 81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10(A–C). Residual motor EPSPs at 20°C, 7°C, and with cadmium.</a:t>
            </a:r>
            <a:endParaRPr lang="en-US"/>
          </a:p>
        </p:txBody>
      </p:sp>
      <p:sp>
        <p:nvSpPr>
          <p:cNvPr id="815" name="Shape 815"/>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16" name="Shape 8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7"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Antenna stimulation isolates measurable MG input</a:t>
            </a:r>
            <a:endParaRPr lang="en-US"/>
          </a:p>
        </p:txBody>
      </p:sp>
      <p:sp>
        <p:nvSpPr>
          <p:cNvPr id="818" name="Shape 818"/>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a:t>
            </a:r>
            <a:endParaRPr lang="en-US"/>
          </a:p>
        </p:txBody>
      </p:sp>
      <p:sp>
        <p:nvSpPr>
          <p:cNvPr id="819" name="Shape 819"/>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a:t>
            </a:r>
            <a:endParaRPr lang="en-US"/>
          </a:p>
        </p:txBody>
      </p:sp>
      <p:sp>
        <p:nvSpPr>
          <p:cNvPr id="820" name="Shape 820"/>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a:t>
            </a:r>
            <a:endParaRPr lang="en-US"/>
          </a:p>
        </p:txBody>
      </p:sp>
      <p:pic>
        <p:nvPicPr>
          <p:cNvPr id="242" name="Presenton Native Image 55" descr=""/>
          <p:cNvPicPr/>
          <p:nvPr/>
        </p:nvPicPr>
        <p:blipFill>
          <a:blip r:embed="rId3" cstate="none"/>
          <a:stretch>
            <a:fillRect/>
          </a:stretch>
        </p:blipFill>
        <p:spPr>
          <a:xfrm>
            <a:off x="7915603" y="1055340"/>
            <a:ext cx="2266293" cy="2190750"/>
          </a:xfrm>
          <a:prstGeom prst="rect">
            <a:avLst/>
          </a:prstGeom>
        </p:spPr>
      </p:pic>
      <p:sp>
        <p:nvSpPr>
          <p:cNvPr id="821" name="Shape 82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1(B). Antenna II-evoked connective activity and intracellular MG potentials.</a:t>
            </a:r>
            <a:endParaRPr lang="en-US"/>
          </a:p>
        </p:txBody>
      </p:sp>
      <p:pic>
        <p:nvPicPr>
          <p:cNvPr id="243" name="Presenton Native Image 56" descr=""/>
          <p:cNvPicPr/>
          <p:nvPr/>
        </p:nvPicPr>
        <p:blipFill>
          <a:blip r:embed="rId2" cstate="none"/>
          <a:stretch>
            <a:fillRect/>
          </a:stretch>
        </p:blipFill>
        <p:spPr>
          <a:xfrm>
            <a:off x="8454966" y="3827115"/>
            <a:ext cx="1187568" cy="1752600"/>
          </a:xfrm>
          <a:prstGeom prst="rect">
            <a:avLst/>
          </a:prstGeom>
        </p:spPr>
      </p:pic>
      <p:sp>
        <p:nvSpPr>
          <p:cNvPr id="822" name="Shape 822"/>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23" name="Shape 823"/>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24" name="Shape 8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Repeated saline trials control for recording drift</a:t>
            </a:r>
            <a:endParaRPr lang="en-US"/>
          </a:p>
        </p:txBody>
      </p:sp>
      <p:sp>
        <p:nvSpPr>
          <p:cNvPr id="826" name="Shape 826"/>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baseline control</a:t>
            </a:r>
            <a:r>
              <a:rPr sz="1500" b="0" i="0">
                <a:solidFill>
                  <a:srgbClr val="1C242C"/>
                </a:solidFill>
                <a:latin typeface="Arial"/>
                <a:ea typeface="Arial"/>
              </a:rPr>
              <a:t xml:space="preserve"> measures the preparation without the tested drug, allowing changes over time to be distinguished from treatment effects. Swierzbinski and Herberholz stimulated the antenna II nerve every 90 s while continuously superfusing the exposed MG preparation with normal crayfish saline.</a:t>
            </a:r>
            <a:endParaRPr lang="en-US"/>
          </a:p>
        </p:txBody>
      </p:sp>
      <p:sp>
        <p:nvSpPr>
          <p:cNvPr id="827" name="Shape 827"/>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After a ten-minute baseline, responses were followed for another 90 minutes. The early and late potentials fluctuated but did not undergo the major sustained increase seen with ethanol. The original published traces retain their color coding for successive recording times.</a:t>
            </a:r>
            <a:endParaRPr lang="en-US"/>
          </a:p>
        </p:txBody>
      </p:sp>
      <p:sp>
        <p:nvSpPr>
          <p:cNvPr id="828" name="Shape 828"/>
          <p:cNvSpPr/>
          <p:nvPr/>
        </p:nvSpPr>
        <p:spPr>
          <a:xfrm>
            <a:off x="457200" y="4112865"/>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a:t>
            </a:r>
            <a:endParaRPr lang="en-US"/>
          </a:p>
        </p:txBody>
      </p:sp>
      <p:pic>
        <p:nvPicPr>
          <p:cNvPr id="244" name="Presenton Native Image 57" descr=""/>
          <p:cNvPicPr/>
          <p:nvPr/>
        </p:nvPicPr>
        <p:blipFill>
          <a:blip r:embed="rId3" cstate="none"/>
          <a:stretch>
            <a:fillRect/>
          </a:stretch>
        </p:blipFill>
        <p:spPr>
          <a:xfrm>
            <a:off x="7034868" y="1055340"/>
            <a:ext cx="4027764" cy="2190750"/>
          </a:xfrm>
          <a:prstGeom prst="rect">
            <a:avLst/>
          </a:prstGeom>
        </p:spPr>
      </p:pic>
      <p:sp>
        <p:nvSpPr>
          <p:cNvPr id="829" name="Shape 829"/>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2(B). Early and late MG potentials during repeated saline stimulation.</a:t>
            </a:r>
            <a:endParaRPr lang="en-US"/>
          </a:p>
        </p:txBody>
      </p:sp>
      <p:pic>
        <p:nvPicPr>
          <p:cNvPr id="245" name="Presenton Native Image 58" descr=""/>
          <p:cNvPicPr/>
          <p:nvPr/>
        </p:nvPicPr>
        <p:blipFill>
          <a:blip r:embed="rId2" cstate="none"/>
          <a:stretch>
            <a:fillRect/>
          </a:stretch>
        </p:blipFill>
        <p:spPr>
          <a:xfrm>
            <a:off x="8454966" y="3827115"/>
            <a:ext cx="1187568" cy="1752600"/>
          </a:xfrm>
          <a:prstGeom prst="rect">
            <a:avLst/>
          </a:prstGeom>
        </p:spPr>
      </p:pic>
      <p:sp>
        <p:nvSpPr>
          <p:cNvPr id="830" name="Shape 830"/>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31" name="Shape 831"/>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32" name="Shape 8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Ethanol enhances the early MG sensory potential</a:t>
            </a:r>
            <a:endParaRPr lang="en-US"/>
          </a:p>
        </p:txBody>
      </p:sp>
      <p:sp>
        <p:nvSpPr>
          <p:cNvPr id="834" name="Shape 834"/>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Swierzbinski and Herberholz superfused MG preparations with 100 mM </a:t>
            </a:r>
            <a:r>
              <a:rPr sz="1500" b="1" i="0">
                <a:solidFill>
                  <a:srgbClr val="1C242C"/>
                </a:solidFill>
                <a:latin typeface="Arial"/>
                <a:ea typeface="Arial"/>
              </a:rPr>
              <a:t>ethanol</a:t>
            </a:r>
            <a:r>
              <a:rPr sz="1500" b="0" i="0">
                <a:solidFill>
                  <a:srgbClr val="1C242C"/>
                </a:solidFill>
                <a:latin typeface="Arial"/>
                <a:ea typeface="Arial"/>
              </a:rPr>
              <a:t>, the alcohol molecule tested here, after a saline baseline. Antenna II stimuli remained 90 s apart. Early and late MG potentials were measured separately to avoid treating the compound response as a single uniform signal.</a:t>
            </a:r>
            <a:endParaRPr lang="en-US"/>
          </a:p>
        </p:txBody>
      </p:sp>
      <p:sp>
        <p:nvSpPr>
          <p:cNvPr id="835" name="Shape 835"/>
          <p:cNvSpPr/>
          <p:nvPr/>
        </p:nvSpPr>
        <p:spPr>
          <a:xfrm>
            <a:off x="457200" y="245551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early potential rose to roughly one-and-a-half times its baseline amplitude during ethanol exposure. Enhancement remained after 60 minutes of saline washout. The late component varied and did not provide comparably strong evidence for a sustained enhancement.</a:t>
            </a:r>
            <a:endParaRPr lang="en-US"/>
          </a:p>
        </p:txBody>
      </p:sp>
      <p:sp>
        <p:nvSpPr>
          <p:cNvPr id="836" name="Shape 836"/>
          <p:cNvSpPr/>
          <p:nvPr/>
        </p:nvSpPr>
        <p:spPr>
          <a:xfrm>
            <a:off x="457200" y="3855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a:t>
            </a:r>
            <a:endParaRPr lang="en-US"/>
          </a:p>
        </p:txBody>
      </p:sp>
      <p:pic>
        <p:nvPicPr>
          <p:cNvPr id="246" name="Presenton Native Image 59" descr=""/>
          <p:cNvPicPr/>
          <p:nvPr/>
        </p:nvPicPr>
        <p:blipFill>
          <a:blip r:embed="rId3" cstate="none"/>
          <a:stretch>
            <a:fillRect/>
          </a:stretch>
        </p:blipFill>
        <p:spPr>
          <a:xfrm>
            <a:off x="7303056" y="1055340"/>
            <a:ext cx="3491388" cy="2190750"/>
          </a:xfrm>
          <a:prstGeom prst="rect">
            <a:avLst/>
          </a:prstGeom>
        </p:spPr>
      </p:pic>
      <p:sp>
        <p:nvSpPr>
          <p:cNvPr id="837" name="Shape 837"/>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3. MG potential amplitudes before, during, and after ethanol exposure.</a:t>
            </a:r>
            <a:endParaRPr lang="en-US"/>
          </a:p>
        </p:txBody>
      </p:sp>
      <p:pic>
        <p:nvPicPr>
          <p:cNvPr id="247" name="Presenton Native Image 60" descr=""/>
          <p:cNvPicPr/>
          <p:nvPr/>
        </p:nvPicPr>
        <p:blipFill>
          <a:blip r:embed="rId2" cstate="none"/>
          <a:stretch>
            <a:fillRect/>
          </a:stretch>
        </p:blipFill>
        <p:spPr>
          <a:xfrm>
            <a:off x="8454966" y="3827115"/>
            <a:ext cx="1187568" cy="1752600"/>
          </a:xfrm>
          <a:prstGeom prst="rect">
            <a:avLst/>
          </a:prstGeom>
        </p:spPr>
      </p:pic>
      <p:sp>
        <p:nvSpPr>
          <p:cNvPr id="838" name="Shape 838"/>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39" name="Shape 839"/>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40" name="Shape 84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1" name="Shape 8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Inhibitory-channel blockade changes MG sensory responses</a:t>
            </a:r>
            <a:endParaRPr lang="en-US"/>
          </a:p>
        </p:txBody>
      </p:sp>
      <p:sp>
        <p:nvSpPr>
          <p:cNvPr id="842" name="Shape 842"/>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Swierzbinski and Herberholz applied 25 μM picrotoxin to test inhibitory-channel contributions to MG input. An </a:t>
            </a:r>
            <a:r>
              <a:rPr sz="1500" b="1" i="0">
                <a:solidFill>
                  <a:srgbClr val="1C242C"/>
                </a:solidFill>
                <a:latin typeface="Arial"/>
                <a:ea typeface="Arial"/>
              </a:rPr>
              <a:t>antagonist</a:t>
            </a:r>
            <a:r>
              <a:rPr sz="1500" b="0" i="0">
                <a:solidFill>
                  <a:srgbClr val="1C242C"/>
                </a:solidFill>
                <a:latin typeface="Arial"/>
                <a:ea typeface="Arial"/>
              </a:rPr>
              <a:t xml:space="preserve"> reduces a receptor-associated process; this drug interferes with inhibitory ion-channel function. The experiment compared early and late sensory potentials with their saline baseline.</a:t>
            </a:r>
            <a:endParaRPr lang="en-US"/>
          </a:p>
        </p:txBody>
      </p:sp>
      <p:sp>
        <p:nvSpPr>
          <p:cNvPr id="843" name="Shape 843"/>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a:t>
            </a:r>
            <a:endParaRPr lang="en-US"/>
          </a:p>
        </p:txBody>
      </p:sp>
      <p:sp>
        <p:nvSpPr>
          <p:cNvPr id="844" name="Shape 844"/>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a:t>
            </a:r>
            <a:endParaRPr lang="en-US"/>
          </a:p>
        </p:txBody>
      </p:sp>
      <p:pic>
        <p:nvPicPr>
          <p:cNvPr id="248" name="Presenton Native Image 61" descr=""/>
          <p:cNvPicPr/>
          <p:nvPr/>
        </p:nvPicPr>
        <p:blipFill>
          <a:blip r:embed="rId3" cstate="none"/>
          <a:stretch>
            <a:fillRect/>
          </a:stretch>
        </p:blipFill>
        <p:spPr>
          <a:xfrm>
            <a:off x="7473701" y="1055340"/>
            <a:ext cx="3150098" cy="2190750"/>
          </a:xfrm>
          <a:prstGeom prst="rect">
            <a:avLst/>
          </a:prstGeom>
        </p:spPr>
      </p:pic>
      <p:sp>
        <p:nvSpPr>
          <p:cNvPr id="845" name="Shape 845"/>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4(B). Early and late MG potentials during picrotoxin and washout.</a:t>
            </a:r>
            <a:endParaRPr lang="en-US"/>
          </a:p>
        </p:txBody>
      </p:sp>
      <p:pic>
        <p:nvPicPr>
          <p:cNvPr id="249" name="Presenton Native Image 62" descr=""/>
          <p:cNvPicPr/>
          <p:nvPr/>
        </p:nvPicPr>
        <p:blipFill>
          <a:blip r:embed="rId2" cstate="none"/>
          <a:stretch>
            <a:fillRect/>
          </a:stretch>
        </p:blipFill>
        <p:spPr>
          <a:xfrm>
            <a:off x="8454966" y="3827115"/>
            <a:ext cx="1187568" cy="1752600"/>
          </a:xfrm>
          <a:prstGeom prst="rect">
            <a:avLst/>
          </a:prstGeom>
        </p:spPr>
      </p:pic>
      <p:sp>
        <p:nvSpPr>
          <p:cNvPr id="846" name="Shape 846"/>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47" name="Shape 847"/>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48" name="Shape 8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9" name="Shape 8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Muscimol produces delayed suppression during washout</a:t>
            </a:r>
            <a:endParaRPr lang="en-US"/>
          </a:p>
        </p:txBody>
      </p:sp>
      <p:sp>
        <p:nvSpPr>
          <p:cNvPr id="850" name="Shape 850"/>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Muscimol</a:t>
            </a:r>
            <a:r>
              <a:rPr sz="1500" b="0" i="0">
                <a:solidFill>
                  <a:srgbClr val="1C242C"/>
                </a:solidFill>
                <a:latin typeface="Arial"/>
                <a:ea typeface="Arial"/>
              </a:rPr>
              <a:t xml:space="preserve"> is an agonist of ionotropic GABA receptors; an agonist activates a receptor-associated response. An </a:t>
            </a:r>
            <a:r>
              <a:rPr sz="1500" b="1" i="0">
                <a:solidFill>
                  <a:srgbClr val="1C242C"/>
                </a:solidFill>
                <a:latin typeface="Arial"/>
                <a:ea typeface="Arial"/>
              </a:rPr>
              <a:t>ionotropic receptor</a:t>
            </a:r>
            <a:r>
              <a:rPr sz="1500" b="0" i="0">
                <a:solidFill>
                  <a:srgbClr val="1C242C"/>
                </a:solidFill>
                <a:latin typeface="Arial"/>
                <a:ea typeface="Arial"/>
              </a:rPr>
              <a:t xml:space="preserve"> directly gates an ion channel. Swierzbinski and Herberholz applied 25 μM muscimol for 30 minutes while repeatedly measuring antenna II-evoked MG potentials.</a:t>
            </a:r>
            <a:endParaRPr lang="en-US"/>
          </a:p>
        </p:txBody>
      </p:sp>
      <p:sp>
        <p:nvSpPr>
          <p:cNvPr id="851" name="Shape 851"/>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a:t>
            </a:r>
            <a:endParaRPr lang="en-US"/>
          </a:p>
        </p:txBody>
      </p:sp>
      <p:sp>
        <p:nvSpPr>
          <p:cNvPr id="852" name="Shape 852"/>
          <p:cNvSpPr/>
          <p:nvPr/>
        </p:nvSpPr>
        <p:spPr>
          <a:xfrm>
            <a:off x="457200" y="437004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a:t>
            </a:r>
            <a:endParaRPr lang="en-US"/>
          </a:p>
        </p:txBody>
      </p:sp>
      <p:pic>
        <p:nvPicPr>
          <p:cNvPr id="250" name="Presenton Native Image 63" descr=""/>
          <p:cNvPicPr/>
          <p:nvPr/>
        </p:nvPicPr>
        <p:blipFill>
          <a:blip r:embed="rId3" cstate="none"/>
          <a:stretch>
            <a:fillRect/>
          </a:stretch>
        </p:blipFill>
        <p:spPr>
          <a:xfrm>
            <a:off x="7413122" y="1055340"/>
            <a:ext cx="3271256" cy="2190750"/>
          </a:xfrm>
          <a:prstGeom prst="rect">
            <a:avLst/>
          </a:prstGeom>
        </p:spPr>
      </p:pic>
      <p:sp>
        <p:nvSpPr>
          <p:cNvPr id="853" name="Shape 853"/>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4(C). MG potentials during muscimol exposure and saline washout.</a:t>
            </a:r>
            <a:endParaRPr lang="en-US"/>
          </a:p>
        </p:txBody>
      </p:sp>
      <p:pic>
        <p:nvPicPr>
          <p:cNvPr id="251" name="Presenton Native Image 64" descr=""/>
          <p:cNvPicPr/>
          <p:nvPr/>
        </p:nvPicPr>
        <p:blipFill>
          <a:blip r:embed="rId2" cstate="none"/>
          <a:stretch>
            <a:fillRect/>
          </a:stretch>
        </p:blipFill>
        <p:spPr>
          <a:xfrm>
            <a:off x="8454966" y="3827115"/>
            <a:ext cx="1187568" cy="1752600"/>
          </a:xfrm>
          <a:prstGeom prst="rect">
            <a:avLst/>
          </a:prstGeom>
        </p:spPr>
      </p:pic>
      <p:sp>
        <p:nvSpPr>
          <p:cNvPr id="854" name="Shape 854"/>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55" name="Shape 855"/>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56" name="Shape 8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7"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Drug order alters the apparent ethanol response</a:t>
            </a:r>
            <a:endParaRPr lang="en-US"/>
          </a:p>
        </p:txBody>
      </p:sp>
      <p:sp>
        <p:nvSpPr>
          <p:cNvPr id="858" name="Shape 858"/>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Swierzbinski and Herberholz exposed MG preparations to muscimol before applying ethanol. The sequence included a saline baseline, 30 minutes of 25 μM muscimol, 30 minutes of 100 mM ethanol, and 60 minutes of saline washout. Early and late sensory potentials were measured throughout.</a:t>
            </a:r>
            <a:endParaRPr lang="en-US"/>
          </a:p>
        </p:txBody>
      </p:sp>
      <p:sp>
        <p:nvSpPr>
          <p:cNvPr id="859" name="Shape 859"/>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a:t>
            </a:r>
            <a:endParaRPr lang="en-US"/>
          </a:p>
        </p:txBody>
      </p:sp>
      <p:sp>
        <p:nvSpPr>
          <p:cNvPr id="860" name="Shape 860"/>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a:t>
            </a:r>
            <a:endParaRPr lang="en-US"/>
          </a:p>
        </p:txBody>
      </p:sp>
      <p:pic>
        <p:nvPicPr>
          <p:cNvPr id="252" name="Presenton Native Image 65" descr=""/>
          <p:cNvPicPr/>
          <p:nvPr/>
        </p:nvPicPr>
        <p:blipFill>
          <a:blip r:embed="rId3" cstate="none"/>
          <a:stretch>
            <a:fillRect/>
          </a:stretch>
        </p:blipFill>
        <p:spPr>
          <a:xfrm>
            <a:off x="7457773" y="1055340"/>
            <a:ext cx="3181954" cy="2190750"/>
          </a:xfrm>
          <a:prstGeom prst="rect">
            <a:avLst/>
          </a:prstGeom>
        </p:spPr>
      </p:pic>
      <p:sp>
        <p:nvSpPr>
          <p:cNvPr id="861" name="Shape 86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5. MG responses to muscimol followed by ethanol.</a:t>
            </a:r>
            <a:endParaRPr lang="en-US"/>
          </a:p>
        </p:txBody>
      </p:sp>
      <p:pic>
        <p:nvPicPr>
          <p:cNvPr id="253" name="Presenton Native Image 66" descr=""/>
          <p:cNvPicPr/>
          <p:nvPr/>
        </p:nvPicPr>
        <p:blipFill>
          <a:blip r:embed="rId2" cstate="none"/>
          <a:stretch>
            <a:fillRect/>
          </a:stretch>
        </p:blipFill>
        <p:spPr>
          <a:xfrm>
            <a:off x="8454966" y="3827115"/>
            <a:ext cx="1187568" cy="1752600"/>
          </a:xfrm>
          <a:prstGeom prst="rect">
            <a:avLst/>
          </a:prstGeom>
        </p:spPr>
      </p:pic>
      <p:sp>
        <p:nvSpPr>
          <p:cNvPr id="862" name="Shape 862"/>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63" name="Shape 863"/>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64" name="Shape 8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5" name="Shape 8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Manganese imaging links sensory stimulation to brain uptake</a:t>
            </a:r>
            <a:endParaRPr lang="en-US"/>
          </a:p>
        </p:txBody>
      </p:sp>
      <p:sp>
        <p:nvSpPr>
          <p:cNvPr id="866" name="Shape 866"/>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Manganese-enhanced MRI</a:t>
            </a:r>
            <a:r>
              <a:rPr sz="1500" b="0" i="0">
                <a:solidFill>
                  <a:srgbClr val="1C242C"/>
                </a:solidFill>
                <a:latin typeface="Arial"/>
                <a:ea typeface="Arial"/>
              </a:rPr>
              <a:t>, or MEMRI, uses manganese ions to increase tissue contrast and mark activity-associated uptake. Manganese can enter depolarized cells through voltage-gated calcium channels. Such channels open in response to membrane voltage and normally provide a route for calcium entry.</a:t>
            </a:r>
            <a:endParaRPr lang="en-US"/>
          </a:p>
        </p:txBody>
      </p:sp>
      <p:sp>
        <p:nvSpPr>
          <p:cNvPr id="867" name="Shape 867"/>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40 μl of 25 mM manganese chloride and stimulated the antenna II nerve at 4 Hz. T1-weighted brain images at 31 μm in-plane resolution contained greater uptake on the stimulated side, including the antenna II nerve and accessory-lobe region.</a:t>
            </a:r>
            <a:endParaRPr lang="en-US"/>
          </a:p>
        </p:txBody>
      </p:sp>
      <p:sp>
        <p:nvSpPr>
          <p:cNvPr id="868" name="Shape 868"/>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a:t>
            </a:r>
            <a:endParaRPr lang="en-US"/>
          </a:p>
        </p:txBody>
      </p:sp>
      <p:pic>
        <p:nvPicPr>
          <p:cNvPr id="254" name="Presenton Native Image 67" descr=""/>
          <p:cNvPicPr/>
          <p:nvPr/>
        </p:nvPicPr>
        <p:blipFill>
          <a:blip r:embed="rId2" cstate="none"/>
          <a:stretch>
            <a:fillRect/>
          </a:stretch>
        </p:blipFill>
        <p:spPr>
          <a:xfrm>
            <a:off x="6610350" y="1768604"/>
            <a:ext cx="5048250" cy="2573973"/>
          </a:xfrm>
          <a:prstGeom prst="rect">
            <a:avLst/>
          </a:prstGeom>
        </p:spPr>
      </p:pic>
      <p:sp>
        <p:nvSpPr>
          <p:cNvPr id="869" name="Shape 86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3(A,B). Axial brain sections after antenna II stimulation and manganese injection.</a:t>
            </a:r>
            <a:endParaRPr lang="en-US"/>
          </a:p>
        </p:txBody>
      </p:sp>
      <p:sp>
        <p:nvSpPr>
          <p:cNvPr id="870" name="Shape 87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71" name="Shape 87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2" name="Shape 87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Unstimulated imaging controls constrain activity inference</a:t>
            </a:r>
            <a:endParaRPr lang="en-US"/>
          </a:p>
        </p:txBody>
      </p:sp>
      <p:sp>
        <p:nvSpPr>
          <p:cNvPr id="873" name="Shape 873"/>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a:t>
            </a:r>
            <a:endParaRPr lang="en-US"/>
          </a:p>
        </p:txBody>
      </p:sp>
      <p:sp>
        <p:nvSpPr>
          <p:cNvPr id="874" name="Shape 874"/>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a:t>
            </a:r>
            <a:endParaRPr lang="en-US"/>
          </a:p>
        </p:txBody>
      </p:sp>
      <p:sp>
        <p:nvSpPr>
          <p:cNvPr id="875" name="Shape 875"/>
          <p:cNvSpPr/>
          <p:nvPr/>
        </p:nvSpPr>
        <p:spPr>
          <a:xfrm>
            <a:off x="457200" y="43700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a:t>
            </a:r>
            <a:endParaRPr lang="en-US"/>
          </a:p>
        </p:txBody>
      </p:sp>
      <p:pic>
        <p:nvPicPr>
          <p:cNvPr id="255" name="Presenton Native Image 68" descr=""/>
          <p:cNvPicPr/>
          <p:nvPr/>
        </p:nvPicPr>
        <p:blipFill>
          <a:blip r:embed="rId2" cstate="none"/>
          <a:stretch>
            <a:fillRect/>
          </a:stretch>
        </p:blipFill>
        <p:spPr>
          <a:xfrm>
            <a:off x="7495662" y="1055340"/>
            <a:ext cx="3277626" cy="4000500"/>
          </a:xfrm>
          <a:prstGeom prst="rect">
            <a:avLst/>
          </a:prstGeom>
        </p:spPr>
      </p:pic>
      <p:sp>
        <p:nvSpPr>
          <p:cNvPr id="876" name="Shape 87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4. Original stimulated and unstimulated brain-image stacks.</a:t>
            </a:r>
            <a:endParaRPr lang="en-US"/>
          </a:p>
        </p:txBody>
      </p:sp>
      <p:sp>
        <p:nvSpPr>
          <p:cNvPr id="877" name="Shape 877"/>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78" name="Shape 87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9" name="Shape 87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Cord stimulation permits regional imaging of escape activity</a:t>
            </a:r>
            <a:endParaRPr lang="en-US"/>
          </a:p>
        </p:txBody>
      </p:sp>
      <p:sp>
        <p:nvSpPr>
          <p:cNvPr id="880" name="Shape 88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a:t>
            </a:r>
            <a:endParaRPr lang="en-US"/>
          </a:p>
        </p:txBody>
      </p:sp>
      <p:sp>
        <p:nvSpPr>
          <p:cNvPr id="881" name="Shape 881"/>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a:t>
            </a:r>
            <a:endParaRPr lang="en-US"/>
          </a:p>
        </p:txBody>
      </p:sp>
      <p:sp>
        <p:nvSpPr>
          <p:cNvPr id="882" name="Shape 882"/>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a:t>
            </a:r>
            <a:endParaRPr lang="en-US"/>
          </a:p>
        </p:txBody>
      </p:sp>
      <p:pic>
        <p:nvPicPr>
          <p:cNvPr id="256" name="Presenton Native Image 69" descr=""/>
          <p:cNvPicPr/>
          <p:nvPr/>
        </p:nvPicPr>
        <p:blipFill>
          <a:blip r:embed="rId2" cstate="none"/>
          <a:stretch>
            <a:fillRect/>
          </a:stretch>
        </p:blipFill>
        <p:spPr>
          <a:xfrm>
            <a:off x="7166705" y="1055340"/>
            <a:ext cx="3935539" cy="4000500"/>
          </a:xfrm>
          <a:prstGeom prst="rect">
            <a:avLst/>
          </a:prstGeom>
        </p:spPr>
      </p:pic>
      <p:sp>
        <p:nvSpPr>
          <p:cNvPr id="883" name="Shape 88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5(A–C). Cord, ganglion, and enlarged neuropil after repeated escape stimulation.</a:t>
            </a:r>
            <a:endParaRPr lang="en-US"/>
          </a:p>
        </p:txBody>
      </p:sp>
      <p:sp>
        <p:nvSpPr>
          <p:cNvPr id="884" name="Shape 88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85" name="Shape 88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6" name="Shape 88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Escape speed and flexibility arise from parallel circuits</a:t>
            </a:r>
            <a:endParaRPr lang="en-US"/>
          </a:p>
        </p:txBody>
      </p:sp>
      <p:sp>
        <p:nvSpPr>
          <p:cNvPr id="887" name="Shape 887"/>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a:t>
            </a:r>
            <a:endParaRPr lang="en-US"/>
          </a:p>
        </p:txBody>
      </p:sp>
      <p:sp>
        <p:nvSpPr>
          <p:cNvPr id="888" name="Shape 888"/>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a:t>
            </a:r>
            <a:endParaRPr lang="en-US"/>
          </a:p>
        </p:txBody>
      </p:sp>
      <p:sp>
        <p:nvSpPr>
          <p:cNvPr id="889" name="Shape 889"/>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a:t>
            </a:r>
            <a:endParaRPr lang="en-US"/>
          </a:p>
        </p:txBody>
      </p:sp>
      <p:pic>
        <p:nvPicPr>
          <p:cNvPr id="257" name="Presenton Native Image 70" descr=""/>
          <p:cNvPicPr/>
          <p:nvPr/>
        </p:nvPicPr>
        <p:blipFill>
          <a:blip r:embed="rId2" cstate="none"/>
          <a:stretch>
            <a:fillRect/>
          </a:stretch>
        </p:blipFill>
        <p:spPr>
          <a:xfrm>
            <a:off x="7736971" y="1055340"/>
            <a:ext cx="2795007" cy="4000500"/>
          </a:xfrm>
          <a:prstGeom prst="rect">
            <a:avLst/>
          </a:prstGeom>
        </p:spPr>
      </p:pic>
      <p:sp>
        <p:nvSpPr>
          <p:cNvPr id="890" name="Shape 89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5. Distinct filmed LG and MG escape movements.</a:t>
            </a:r>
            <a:endParaRPr lang="en-US"/>
          </a:p>
        </p:txBody>
      </p:sp>
      <p:sp>
        <p:nvSpPr>
          <p:cNvPr id="891" name="Shape 891"/>
          <p:cNvSpPr/>
          <p:nvPr/>
        </p:nvSpPr>
        <p:spPr>
          <a:xfrm>
            <a:off x="457200" y="6462713"/>
            <a:ext cx="3886498"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Edwards et al. (1998); 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92" name="Shape 8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3" name="Shape 893"/>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B4F7A"/>
                </a:solidFill>
                <a:latin typeface="Arial"/>
                <a:ea typeface="Arial"/>
              </a:rPr>
              <a:t>Key takeaways</a:t>
            </a:r>
            <a:endParaRPr lang="en-US"/>
          </a:p>
        </p:txBody>
      </p:sp>
      <p:sp>
        <p:nvSpPr>
          <p:cNvPr id="894" name="Shape 894"/>
          <p:cNvSpPr/>
          <p:nvPr/>
        </p:nvSpPr>
        <p:spPr>
          <a:xfrm>
            <a:off x="457200" y="12382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Stimulus timing and location.</a:t>
            </a:r>
            <a:r>
              <a:rPr sz="1500" b="0" i="0">
                <a:solidFill>
                  <a:srgbClr val="1C242C"/>
                </a:solidFill>
                <a:latin typeface="Arial"/>
                <a:ea typeface="Arial"/>
              </a:rPr>
              <a:t xml:space="preserve"> Abrupt posterior stimuli recruit LG-mediated upward pitching, while anterior stimuli can recruit MG-mediated backward escape; intensity alone does not determine the pathway.</a:t>
            </a:r>
            <a:endParaRPr lang="en-US"/>
          </a:p>
        </p:txBody>
      </p:sp>
      <p:sp>
        <p:nvSpPr>
          <p:cNvPr id="895" name="Shape 895"/>
          <p:cNvSpPr/>
          <p:nvPr/>
        </p:nvSpPr>
        <p:spPr>
          <a:xfrm>
            <a:off x="6191250" y="12382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Parallel escape systems.</a:t>
            </a:r>
            <a:r>
              <a:rPr sz="1500" b="0" i="0">
                <a:solidFill>
                  <a:srgbClr val="1C242C"/>
                </a:solidFill>
                <a:latin typeface="Arial"/>
                <a:ea typeface="Arial"/>
              </a:rPr>
              <a:t xml:space="preserve"> Nongiant circuits mediate slower, flexible responses and most successive swimming flips, so a tail flip does not by itself establish giant-neuron activity.</a:t>
            </a:r>
            <a:endParaRPr lang="en-US"/>
          </a:p>
        </p:txBody>
      </p:sp>
      <p:sp>
        <p:nvSpPr>
          <p:cNvPr id="896" name="Shape 896"/>
          <p:cNvSpPr/>
          <p:nvPr/>
        </p:nvSpPr>
        <p:spPr>
          <a:xfrm>
            <a:off x="457200" y="28765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Electrical integration.</a:t>
            </a:r>
            <a:r>
              <a:rPr sz="1500" b="0" i="0">
                <a:solidFill>
                  <a:srgbClr val="1C242C"/>
                </a:solidFill>
                <a:latin typeface="Arial"/>
                <a:ea typeface="Arial"/>
              </a:rPr>
              <a:t xml:space="preserve"> Voltage-sensitive rectifying junctions support submillisecond coincidence selectivity, while lateral afferent coupling and reverse current from LG can recruit additional sensory input.</a:t>
            </a:r>
            <a:endParaRPr lang="en-US"/>
          </a:p>
        </p:txBody>
      </p:sp>
      <p:sp>
        <p:nvSpPr>
          <p:cNvPr id="897" name="Shape 897"/>
          <p:cNvSpPr/>
          <p:nvPr/>
        </p:nvSpPr>
        <p:spPr>
          <a:xfrm>
            <a:off x="6191250" y="28765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Delayed inhibition.</a:t>
            </a:r>
            <a:r>
              <a:rPr sz="1500" b="0" i="0">
                <a:solidFill>
                  <a:srgbClr val="1C242C"/>
                </a:solidFill>
                <a:latin typeface="Arial"/>
                <a:ea typeface="Arial"/>
              </a:rPr>
              <a:t xml:space="preserve"> Sensory-evoked GABAergic shunting curtails later LG excitation and is partly localized to dendritic input regions; inhibition can be depolarizing yet reduce firing.</a:t>
            </a:r>
            <a:endParaRPr lang="en-US"/>
          </a:p>
        </p:txBody>
      </p:sp>
      <p:sp>
        <p:nvSpPr>
          <p:cNvPr id="898" name="Shape 898"/>
          <p:cNvSpPr/>
          <p:nvPr/>
        </p:nvSpPr>
        <p:spPr>
          <a:xfrm>
            <a:off x="457200" y="4514850"/>
            <a:ext cx="5562600" cy="1704975"/>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Output connectivity.</a:t>
            </a:r>
            <a:r>
              <a:rPr sz="1500" b="0" i="0">
                <a:solidFill>
                  <a:srgbClr val="1C242C"/>
                </a:solidFill>
                <a:latin typeface="Arial"/>
                <a:ea typeface="Arial"/>
              </a:rPr>
              <a:t xml:space="preserve"> Motor-giant and segmental-giant pathways recruit abdominal flexion; removing SG exposes unequal residual LG and MG fast-flexor connections and a chemical component.</a:t>
            </a:r>
            <a:endParaRPr lang="en-US"/>
          </a:p>
        </p:txBody>
      </p:sp>
      <p:sp>
        <p:nvSpPr>
          <p:cNvPr id="899" name="Shape 899"/>
          <p:cNvSpPr/>
          <p:nvPr/>
        </p:nvSpPr>
        <p:spPr>
          <a:xfrm>
            <a:off x="6191250" y="4514850"/>
            <a:ext cx="5562600" cy="1704975"/>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Mechanistic evidence.</a:t>
            </a:r>
            <a:r>
              <a:rPr sz="1500" b="0" i="0">
                <a:solidFill>
                  <a:srgbClr val="1C242C"/>
                </a:solidFill>
                <a:latin typeface="Arial"/>
                <a:ea typeface="Arial"/>
              </a:rPr>
              <a:t xml:space="preserve"> Defined inputs, voltage control, pharmacology, and selective relay disruption test different causal stages; proposed channel or evolutionary explanations must remain separate from measured effects.</a:t>
            </a:r>
            <a:endParaRPr lang="en-US"/>
          </a:p>
        </p:txBody>
      </p:sp>
      <p:sp>
        <p:nvSpPr>
          <p:cNvPr id="900" name="Shape 900"/>
          <p:cNvSpPr/>
          <p:nvPr/>
        </p:nvSpPr>
        <p:spPr>
          <a:xfrm>
            <a:off x="457200" y="6462713"/>
            <a:ext cx="4804767"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Edwards et al. (1998); Vu et al. (1997); 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901" name="Shape 90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Crayfish tail-flip: lateral and medial giant fiber circuits (Wine &amp; Krasne)</dc:title>
  <dc:subject>Generated by Presenton export-core</dc:subject>
  <dc:creator>Presenton</dc:creator>
  <cp:lastModifiedBy>Presenton</cp:lastModifiedBy>
  <dcterms:created xsi:type="dcterms:W3CDTF">2026-10-08T09:05:07.597Z</dcterms:created>
  <dcterms:modified xsi:type="dcterms:W3CDTF">2026-10-08T09:05:07.597Z</dcterms:modified>
</cp:coreProperties>
</file>