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g5xuPbOdqAnh/LO4RD8Z6BKxXb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slide" Target="slides/slide4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Chemoreception I: silkmoth pheromone plume-tracking (Kramer &amp; Cardé)</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Lecture 24. NEUR 411 · NEUROETHOLOGY · FALL 2026. Wednesday, October 21, 2026.</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Yamada et al. (2021), Fig. 1(A, photograph). Male silkmoth on the trackball preparation.</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source: https://doi.org/10.7554/elife.72001</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Male Bombyx mori follow intermittent bombykol contacts with forward surges and searching turns. The title uses the original published photograph of a male on Yamada and colleagues’ trackball preparation.</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References: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Yamada M, Ohashi H, Hosoda K, Kurabayashi D, Shigaki S (2021). Multisensory-motor integration in olfactory navigation of silkmoth, Bombyx mori, using virtual reality system. eLife 10:e72001. https://doi.org/10.7554/elife.72001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Pheromones are chemical signals exchanged between members of a species. Male silkmoths, Bombyx mori, respond to the female pheromone bombykol with a forward walking surge, alternating zigzag turns and wider looping search when further odor contacts are absent.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Bombykol is the alcohol (E,Z)-10,12-hexadecadien-1-ol. A surge is forward progress rather than continuous rotation; the later zigzag phase can search for another odor encounter.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Shiota and colleagues measured body angle in tethered males and source finding during free walking. A single bombykol pulse elicited the complete searching sequence in both normal moths and moths lacking a pheromone-binding protein. Thus, the sequence could persist despite altered peripheral response kinetics.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repeated stimulation rates of 0.83 and 2 Hz, mutants spent less time surging and more time turning. Detecting pheromone is therefore insufficient for efficient tracking: the sensory system must also distinguish successive encounters. These behavioral differences do not establish the identity of the central circuit generating each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Shiota Y, Sakurai T, Ando N, Haupt SS, Mitsuno H, Daimon T, Kanzaki R (2021). Pheromone binding protein is involved in temporal olfactory resolution in the silkmoth. iScience 24(11):103334. https://doi.org/10.1016/j.isci.2021.103334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Shiota et al. (2021), Fig. 4(A–E). Surge and turning behavior after pheromone-binding-protein loss.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https://doi.org/10.1016/j.isci.2021.103334</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 name="Google Shape;43;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odor plume is the distribution of odor-bearing air transported from a source. Atmospheric turbulence divides that distribution into brief encounters separated by clean-air gaps. Murlis, Willis and Cardé measured plume intermittency in an open field and a forest rather than assuming a smooth concentration gradient.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filament is a strand of odor-bearing air; a gap is an interval without detectable signal. Intermittency describes those alternations, rather than the average concentration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investigators released negatively charged air ions as a tracer and recorded fluctuations at downwind detectors. Signals were present only about 20% of the time in both environments. Sampling extended to 20 m downwind in the field and 10 m in the forest.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measurements establish a discontinuous physical input at the detector, not the activity of a silkmoth neuron. Ionized air approximates plume transport but is not chemically identical to pheromone. Responses to intermittent odor must therefore be interpreted in relation to both environmental structure and the sensory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Murlis J, Willis MA, Cardé RT (2000). Spatial and temporal structures of pheromone plumes in fields and forests. Physiological Entomology 25(3):211-222. https://doi.org/10.1046/j.1365-3032.2000.00176.x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Murlis et al. (2000), Fig. 1(a–g). Intermittent ion-tracer signals at several field and forest distances.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https://doi.org/10.1046/j.1365-3032.2000.00176.x</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Bursts are groups of closely spaced tracer peaks separated by longer gaps. Murlis and colleagues compared their timing in field and forest recordings. Although signal occupancy was about 20% in both environments, equal occupancy did not imply equal patterns of odor availability.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Burst structure distinguishes several rapid contacts followed by a long interruption from contacts distributed evenly through time. Both can have the same average occupancy.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Forest interburst gaps lasted at least three times longer than field gaps. A burst contained about seven tracer spikes in the forest and three in the field. The environment therefore changed the clustering of encounters, even when the fraction of time containing signal was similar.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Longer gaps can permit searching movements to develop before odor returns. That behavioral implication follows from combining plume measurements with separate moth experiments; the tracer study itself did not identify a motor program or measure silkmoth source-finding success. A single mean concentration cannot describe the temporal challenge imposed by these plumes.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Murlis J, Willis MA, Cardé RT (2000). Spatial and temporal structures of pheromone plumes in fields and forests. Physiological Entomology 25(3):211-222. https://doi.org/10.1046/j.1365-3032.2000.00176.x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Vickers NJ, Baker TC (1994). Reiterative responses to single strands of odor promote sustained upwind flight and odor source location by moths. Proceedings of the National Academy of Sciences 91(13):5756-5760. https://doi.org/10.1073/pnas.91.13.5756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Murlis et al. (2000), Fig. 2(a–b). Field and forest burst-length and burst-return-period distributions.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https://doi.org/10.1046/j.1365-3032.2000.00176.x</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electroantennogram, or EAG, measures the summed electrical response of an antenna to odor. Murlis and colleagues paired ion-tracer measurements with male gypsy-moth antennal responses to the pheromone disparlure. This biological comparison tested whether tracer intermittency resembled stimulation reaching an insect sensory organ.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comparison involves Lymantria dispar and disparlure. The animal and ligand differ from Bombyx mori and bombykol, although both assays address intermittent antennal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pheromone source was positioned about 10 cm from the ion source. Ion bursts became weaker with distance, whereas EAG burst strength did not decrease in the same systematic way. Antennal responses also depended on how quickly consecutive stimuli arrived.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EAG voltage is therefore not a simple linear measure of airborne pheromone concentration. Receptor sensitivity and recovery shape the recorded waveform. These gypsy-moth measurements validate aspects of plume encounter timing but cannot be assigned directly to silkmoth receptor neurons or interpreted as recordings of a central neural circuit.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Murlis J, Willis MA, Cardé RT (2000). Spatial and temporal structures of pheromone plumes in fields and forests. Physiological Entomology 25(3):211-222. https://doi.org/10.1046/j.1365-3032.2000.00176.x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Murlis et al. (2000), Fig. 5(a–c). Ion-tracer signals compared with gypsy-moth antennal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https://doi.org/10.1046/j.1365-3032.2000.00176.x</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Vickers and Baker exposed flying male tobacco budworms, Heliothis virescens, to single strands of their species-specific six-component pheromone blend. After interrupting an established plume, they delivered an isolated filament and synchronized its passage with calibrated lights moving at wind speed.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Casting means repeated crosswind turns after odor contact is lost. The authors combined observations into a proposed phasic–tonic account, but the individual recorded tracks remain distinct from their calculated template.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average upwind surge covered 13.4 cm and lasted 0.38 s. Its onset followed odor contact by about 0.30 s. Males cast across the wind before and after the surge; no-filament control trials produced no upwind displacement by casting males.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brief sensory event can therefore trigger a motor response that outlasts the event. The measurement concerns flying tobacco budworms, not walking silkmoths, and its numerical latency must not be transferred between species. The experiment establishes the timing of behavior without identifying the neurons maintaining the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Vickers NJ, Baker TC (1994). Reiterative responses to single strands of odor promote sustained upwind flight and odor source location by moths. Proceedings of the National Academy of Sciences 91(13):5756-5760. https://doi.org/10.1073/pnas.91.13.5756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Vickers &amp; Baker (1994), Fig. 1(A). Recorded flight responses to single pheromone filaments.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https://doi.org/10.1073/pnas.91.13.5756</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Vickers and Baker varied pheromone delivery from 1 to 10 filaments/s while holding wind speed at 0.6 m/s. Each pulse lasted 20 ms, and air flow through the delivery device remained 5 mL/s. Flight trajectories were recorded from below the wind tunnel.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published figure contains recorded tracks and an author-derived comparison template. The template is a proposed description of repeated responses, rather than an additional animal trajectory.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Fewer than 4 filaments/s activated males and elicited casting but did not sustain upwind flight. At 4 filaments/s, upwind trajectories remained tortuous. At 10 filaments/s, flight was straighter and contained less crosswind casting; 5 filaments/s produced an intermediate pattern.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Repeated encounters can renew forward responses before casting fully develops. Constant wind speed excludes wind-velocity changes as the explanation, although changing pulse rate also changes odor delivery through time. The experiment does not isolate every integrated-dose variable or establish an identical frequency threshold in Bombyx mori.</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Vickers NJ, Baker TC (1994). Reiterative responses to single strands of odor promote sustained upwind flight and odor source location by moths. Proceedings of the National Academy of Sciences 91(13):5756-5760. https://doi.org/10.1073/pnas.91.13.5756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Vickers &amp; Baker (1994), Fig. 2(A–B). Recorded flight tracks and heading distributions at 4 and 10 filaments/s.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https://doi.org/10.1073/pnas.91.13.5756</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Vickers and Baker recorded local pheromone encounters during free flight using an excised third antenna mounted on a male’s thorax. Both of the animal’s own antennae remained intact. The mounted antenna supplied an EAG while synchronized video recorded the carrier’s trajectory.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disappearing EAG signal marks the absence of a detected local encounter, rather than proving that every receptor on both intact antennae became silent at precisely that instant.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Casting began on average 0.30 s after the last recorded filament contact. Relatively steady upwind flight involved more frequent encounters than crosswind flight. The video and EAG records were synchronized within 0.01 s, allowing behavioral timing to be compared with local sensory exposure.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Loss of intermittent input can release a different search movement without requiring the moth to detect a spatial concentration gradient. The mounted antenna sampled odor near the head but did not measure spikes in the animal’s brain. Correlated contact and movement cannot identify a specific inhibitory or excitatory central synapse.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Vickers NJ, Baker TC (1994). Reiterative responses to single strands of odor promote sustained upwind flight and odor source location by moths. Proceedings of the National Academy of Sciences 91(13):5756-5760. https://doi.org/10.1073/pnas.91.13.5756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Vickers &amp; Baker (1994), Fig. 3(A–B). Flight paths synchronized with local electroantennogram contacts.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https://doi.org/10.1073/pnas.91.13.5756</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Yamada and colleagues studied walking male Bombyx mori using a virtual reality preparation: movement on a trackball updated the animal’s position in a controlled odor field. Odor ports could stimulate the two antennae independently, while wind arrived from four directions.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Closed-loop stimulation means the sensory inputs depend on the animal’s measured movement. Movement and input influence one another instead of following an entirely predetermined replay.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Visual stimulation supplied optic flow, the movement of a visual scene associated with self-motion. Odor, wind and visual conditions could be combined or reversed independently. A search was successful when the virtual position entered a 10-mm radius around the source within 300 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preparation separates sensory influences that normally covary during walking. The authors compared performance with free-walking experiments, but a tethered virtual search still differs from unrestricted movement toward a real female. The experiment measures multisensory behavior rather than directly identifying the synapses that combine those cues.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Yamada M, Ohashi H, Hosoda K, Kurabayashi D, Shigaki S (2021). Multisensory-motor integration in olfactory navigation of silkmoth, Bombyx mori, using virtual reality system. eLife 10:e72001. https://doi.org/10.7554/elife.72001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Yamada et al. (2021), Fig. 1(A–C). Photograph and published sensory-control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https://doi.org/10.7554/elife.72001</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In the virtual-reality study, males received odor alone, odor plus wind, or odor plus visual motion. Additional treatments reversed wind or visual direction while keeping the other available information controlled. These interventions tested the contribution of cue direction rather than simply increasing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Odor signals that an appropriate chemical has arrived; wind can supply information about transport direction. Reversing that direction creates a conflict between sensory cues rather than removing odor detection.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Correctly aligned wind improved source-finding success relative to odor alone. Reversed wind reduced success and increased downwind headings. Visual motion without wind produced trajectories more similar to odor-only search than did the addition of wind.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Anemotaxis is orientation relative to wind. The results support a role for wind direction in silkmoth odor-guided walking, while visual effects depend on the sensory context. They do not establish that odor concentration itself supplies direction or that the animal uses one fixed search rule in every cue combination.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Yamada M, Ohashi H, Hosoda K, Kurabayashi D, Shigaki S (2021). Multisensory-motor integration in olfactory navigation of silkmoth, Bombyx mori, using virtual reality system. eLife 10:e72001. https://doi.org/10.7554/elife.72001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Yamada et al. (2021), Fig. 2(A–F). Walking paths with odor, wind and visual treatments.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https://doi.org/10.7554/elife.72001</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Olfactory receptor neurons, or ORNs, are sensory cells that convert odor exposure into electrical activity. In male Bombyx mori, long sensilla trichodea, hairlike structures on the antenna, house paired pheromone-responsive neurons. Their sensory endings contact the fluid inside each sensillum.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In situ hybridization detects a chosen RNA sequence within cells. Its localization is evidence about gene expression, whereas a neuronal spike recording measures the electrical consequence of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Sakurai and colleagues used receptor-gene expression, fluorescent labeling and in situ hybridization to identify the bombykol-responsive population. BmOR1 is the ligand-selective receptor expressed by these neurons; the neighboring bombykal-responsive neuron expresses BmOR3. Bombykal is the corresponding aldehyde rather than the alcohol bombykol.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separate receptor populations distinguish chemical channels before central processing. Expression and localization establish cell identity but do not by themselves measure ion flow or explain the behavioral meaning assigned to each channel. Those functions require electrophysiological and behavioral tests of the identified sensory population.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Sakurai et al. (2011), Fig. 1(A–D). Receptor expression and sensory-cell localization in the antenna.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https://doi.org/10.1371/journal.pgen.1002115</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single-sensillum recording measures spikes near the sensory neurons housed in one antennal hair. Sakurai and colleagues distinguished the large-amplitude spikes of the bombykol neuron from the smaller spikes of the bombykal neuron while presenting chemically different ligands.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foreign receptor came from Plutella xylostella. Adding it to Bombyx neurons tests the relationship between molecular ligand recognition and the behavioral pathway already connected to those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Control males responded through the bombykol channel to bombykol but not to the diamondback-moth ligand Z11-16:Ald. Introducing its receptor, PxOR1, into BmOR1-expressing neurons added responses to that aldehyde while retaining the original bombykol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manipulation changed which chemical could excite an existing sensory channel. It did not convert the neighboring bombykal neuron or establish that all antennal hairs respond identically. Spike amplitude separates recorded units in this preparation; amplitude alone is not a universal molecular signature of a receptor.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Sakurai et al. (2011), Fig. 2(A–D). Chemical selectivity and single-sensillum responses after receptor addition.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https://doi.org/10.1371/journal.pgen.1002115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Sakurai et al. (2011), Fig. 1(A–D). Receptor expression and sensory-cell localization in the antenna.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https://doi.org/10.1371/journal.pgen.1002115</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Sakurai and colleagues used the GAL4/UAS system, a genetic driver-and-target arrangement, to express PxOR1 in Bombyx bombykol-responsive neurons. PxOR1 was added alongside the native receptor rather than replacing or deleting BmOR1. Males bearing only one genetic component served as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Genetic targeting restricts the added receptor to a selected cell population. Single-component controls test whether the complete expression system is necessary for the new ligand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manipulated neurons gained responses to Z11-16:Ald but not the corresponding tested acetate and alcohol compounds. Dose-response recordings retained responsiveness to bombykol. The added receptor’s transcript abundance was approximately ten times lower than that of native BmOR1.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Chemical selectivity can therefore change without changing the identity of the sensory pathway. Lower expression may contribute to differing response thresholds, but transcript abundance is not a direct count of functioning channels at the membrane. The experiment does not establish that receptor proteins themselves encode the motor sequence.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Sakurai et al. (2011), Fig. 2(A–D). Chemical selectivity and single-sensillum responses after receptor addition.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https://doi.org/10.1371/journal.pgen.1002115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Sakurai et al. (2011), Fig. 1(A–D). Receptor expression and sensory-cell localization in the antenna.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https://doi.org/10.1371/journal.pgen.1002115</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Sakurai and colleagues tested whether the newly detected aldehyde could activate behavior through the bombykol pathway. Transgenic males expressing PxOR1 in BmOR1 neurons initiated wing flapping and pheromone-search walking in response to Z11-16:Ald. Parental genetic controls did not acquire that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copulation attempt is not the same as mating success. The experiment measured elicited behavior and cannot establish reproductive compatibility between the two species.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Walking trajectories after the new ligand included the characteristic searching sequence. The manipulated males also attempted copulation with diamondback-moth females while retaining responsiveness to bombykol. Chemical recognition was altered without replacing the male’s existing central sensory-to-motor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behavioral result connects receptor-neuron activation to initiation of a species-typical program. It does not imply that the foreign receptor contains a walking algorithm or that every aspect of successful reproduction was transferred. The central interpretation depends on the identity of the activated channel as well as the molecule detected.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Sakurai et al. (2011), Fig. 3(A–C). Behavioral responses and walking turns to the newly detected ligand.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https://doi.org/10.1371/journal.pgen.1002115</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glomerulus is a region of concentrated sensory terminals and their interacting central neurons. The male silkmoth macroglomerular complex, or MGC, contains enlarged pheromone-processing glomeruli. BmOR1 sensory axons terminate in the toroid, a glomerulus dedicated to bombykol input.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toroid is a central target, whereas the receptor resides in the peripheral neuron. Preserving the target separates a change in ligand recognition from a wholesale remapping of sensory axons.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Sakurai and colleagues compared fluorescently labeled axon terminals before and after PxOR1 addition. Axons carrying the modified chemical response still innervated the toroid rather than shifting to the neighboring cumulus. The new ligand therefore entered an existing central channel.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Preserved targeting supports an interpretation in which a changed peripheral detector gains access to established behavioral wiring. It does not prove that every synaptic weight or developmental property remained unchanged. Gross anatomical targeting and functional output are complementary evidence, rather than a complete synapse-by-synapse reconstruction.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Sakurai et al. (2011), Fig. 4(A–B). Sensory axons maintain glomerular targets after receptor addition.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https://doi.org/10.1371/journal.pgen.1002115</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functional bombykol receptor combines the ligand-selective subunit BmOR1 with Orco, a broadly conserved olfactory co-receptor. A heteromeric complex contains different protein subunits. The older silkmoth name BmOr2 refers to this co-receptor rather than a second bombykol-selective detector.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Ligand recognition and channel function are linked properties of the complex. Heterologous expression tests what the expressed proteins can do without recreating a complete antennal sensillum.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Sato and colleagues expressed insect receptor pairs in non-insect cells and measured odor-evoked electrical currents. Nakagawa and colleagues then examined the Bombyx pair in frog oocytes using controlled voltage and amino-acid substitutions. Both preparations separate receptor function from an intact moth brain.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evidence supports a ligand-gated, nonselective cation conductance associated with the receptor complex. Cations are positively charged ions; their movement can change membrane voltage. The published topology drawing was predicted from sequence, so it must not be treated as an experimentally solved atomic structure or proof of exact subunit stoichiometry.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Nakagawa T, Pellegrino M, Sato K, Vosshall LB, Touhara K (2012). Amino Acid Residues Contributing to Function of the Heteromeric Insect Olfactory Receptor Complex. PLoS ONE 7(3):e32372. https://doi.org/10.1371/journal.pone.0032372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Sato K, Pellegrino M, Nakagawa T, Nakagawa T, Vosshall LB, Touhara K (2008). Insect olfactory receptors are heteromeric ligand-gated ion channels. Nature 452(7190):1002-1006. https://doi.org/10.1038/nature06850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Nakagawa et al. (2012), Fig. 1(A). Published predicted membrane topology and tested receptor residues.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https://doi.org/10.1371/journal.pone.0032372</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outside-out patch is a small piece of membrane removed so its extracellular surface faces the bathing solution. Sato and colleagues recorded odor-evoked openings in patches containing fruitfly Or47a with Or83b, and mosquito receptor complexes. These recordings provide comparative evidence for the insect receptor class.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picoampere is one trillionth of an ampere. An opening current is a membrane measurement, whereas neuronal firing additionally depends on the neuron’s voltage-dependent excitability.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Pentyl acetate activated the fruitfly complex in excised frog-oocyte patches. At a holding voltage of −80 mV, individual current events were about 1.2 pA. Control oocyte patches without the receptor proteins did not respond to the tested odorants, and activity persisted without added ATP or GTP in the pipette.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Excised-patch activation supports direct odor-gated channel activity without requiring the usual cytoplasmic signaling cascade. These particular single-channel measurements are not recordings of BmOR1 or Bombyx behavior. They support a shared receptor mechanism while leaving modulation in intact sensory neurons possible.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Sato K, Pellegrino M, Nakagawa T, Nakagawa T, Vosshall LB, Touhara K (2008). Insect olfactory receptors are heteromeric ligand-gated ion channels. Nature 452(7190):1002-1006. https://doi.org/10.1038/nature06850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Nakagawa T, Pellegrino M, Sato K, Vosshall LB, Touhara K (2012). Amino Acid Residues Contributing to Function of the Heteromeric Insect Olfactory Receptor Complex. PLoS ONE 7(3):e32372. https://doi.org/10.1371/journal.pone.0032372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Sato et al. (2008), Fig. 4(a–e). Odor-gated currents in isolated oocyte membrane patches.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https://doi.org/10.1038/nature06850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Nakagawa et al. (2012), Fig. 1(A). Published predicted membrane topology and tested receptor residues.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https://doi.org/10.1371/journal.pone.0032372</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Ion selectivity describes the relative ease with which different ions pass through a channel. Nakagawa and colleagues changed conserved amino acids in the Bombyx BmOR1–Orco complex and recorded bombykol-evoked currents from frog oocytes. Each test changed one subunit while retaining the other in its normal form.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amino-acid notation identifies the original residue, its position and the replacement. E356Q replaces glutamate at position 356 with glutamine; it does not delete the receptor.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Replacing extracellular sodium with potassium allowed comparison of reversal potentials, the voltage at which net current changes direction. BmOR1 D299N and E356Q reduced relative potassium permeability; Orco Y464A increased it. Thus, substitutions in either protein could affect the ions carried by the complex.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results implicate both subunits in channel function. They do not establish an atomic pore structure, nor does every mutation altering current necessarily line the pore. Expression, protein assembly and allosteric effects remain possible contributors unless separated by additional controls.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Nakagawa T, Pellegrino M, Sato K, Vosshall LB, Touhara K (2012). Amino Acid Residues Contributing to Function of the Heteromeric Insect Olfactory Receptor Complex. PLoS ONE 7(3):e32372. https://doi.org/10.1371/journal.pone.0032372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Nakagawa et al. (2012), Fig. 2(A–C). Ion-substitution measurements identify selectivity-changing residues.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https://doi.org/10.1371/journal.pone.0032372</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Nakagawa and colleagues replaced selected receptor residues with cysteine, an amino acid whose exposed chemical group can react with a modifying reagent. They applied MTSET, a cysteine-reactive compound, while recording bombykol currents from oocytes expressing the modified receptor pair.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Chemical accessibility means a reagent can reach a reactive group under the experimental conditions. Accessibility and altered current constrain channel hypotheses without establishing the complete three-dimensional structure.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BmOR1 E356C currents were strongly and irreversibly inhibited by MTSET. Orco Y464C instead produced a rapid inward current during reagent application. The mutants retained bombykol dose-response sensitivity similar to the normal complex, helping separate ligand recognition from the altered modification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interventions support accessibility and functional importance of specific residues near the proteins’ carboxy-terminal regions. They do not prove that the reagent contacts a resolved pore wall. MTSET also reduced normal receptor responses, so mutant effects must be interpreted relative to that background effect rather than against an assumed inert control.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Nakagawa T, Pellegrino M, Sato K, Vosshall LB, Touhara K (2012). Amino Acid Residues Contributing to Function of the Heteromeric Insect Olfactory Receptor Complex. PLoS ONE 7(3):e32372. https://doi.org/10.1371/journal.pone.0032372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Nakagawa et al. (2012), Fig. 3(A–B). Cysteine substitution and chemical modification probe channel function.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https://doi.org/10.1371/journal.pone.0032372</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Pheromone-binding protein, or PBP, is a soluble protein in the fluid surrounding sensory endings inside an antennal sensillum. Shiota and colleagues deleted BmPBP1 and tested whether its contribution extended beyond increasing sensitivity. Antennal recordings measured the rise and recovery of responses to 200-ms odor pulses.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recovery time constant describes how quickly the response approaches baseline. Delayed recovery can blur closely spaced inputs even when the initial odor remains detectable.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knockout antennae remained responsive but produced smaller EAG peaks at the same dose. The investigators therefore compared kinetics while accounting for response amplitude. After that control, knockout responses recovered more slowly, whereas response rise and onset latency did not differ in the same 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BmPBP1 contributes to termination of the peripheral response as well as detection sensitivity. The knockout does not reveal precisely how the protein clears receptor stimulation. Capturing or redistributing pheromone are proposed explanations; the study does not establish that BmPBP1 enzymatically destroys bombykol.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Shiota Y, Sakurai T, Ando N, Haupt SS, Mitsuno H, Daimon T, Kanzaki R (2021). Pheromone binding protein is involved in temporal olfactory resolution in the silkmoth. iScience 24(11):103334. https://doi.org/10.1016/j.isci.2021.103334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Shiota et al. (2021), Fig. 1(A–D). Antennal response kinetics after pheromone-binding-protein loss.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https://doi.org/10.1016/j.isci.2021.103334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Sakurai et al. (2011), Fig. 1(A–D). Receptor expression and sensory-cell localization in the antenna.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https://doi.org/10.1371/journal.pgen.1002115</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amplitude difference can confound comparisons of sensory timing. Shiota and colleagues used 100 ng of bombykol for normal antennae and 10,000 ng for knockout antennae when comparing EAG pulse-train responses. These source loads were chosen to compensate for the lower knockout sensitivity.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Hertz means events per second. The 2-Hz treatment tests repeated contact at a rate that can sustain consecutive surges, whereas the lower rate permits longer gaps.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0.17 Hz, both groups recovered between pulses, although termination was slower in mutants. At 2 Hz, several knockout preparations never returned to baseline throughout the train, whereas normal antennae recovered rapidly. The remaining voltage between responses was larger in the knockout.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defect therefore concerns separation of successive encounters rather than complete sensory failure. The filter-paper load is not a measured airborne concentration at each receptor. Amplitude matching strengthens the timing interpretation but cannot reproduce every aspect of the native sensillum’s chemical environment.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Shiota Y, Sakurai T, Ando N, Haupt SS, Mitsuno H, Daimon T, Kanzaki R (2021). Pheromone binding protein is involved in temporal olfactory resolution in the silkmoth. iScience 24(11):103334. https://doi.org/10.1016/j.isci.2021.103334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Shiota et al. (2021), Fig. 2(A–D). Antennal recovery to 0.17-Hz and 2-Hz pheromone pulse trains.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https://doi.org/10.1016/j.isci.2021.103334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Sakurai et al. (2011), Fig. 1(A–D). Receptor expression and sensory-cell localization in the antenna.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https://doi.org/10.1371/journal.pgen.1002115</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Shiota and colleagues tested individual bombykol-responsive neurons with single-sensillum recordings. They compared normal and BmPBP1-knockout antennae using 1,000 and 10,000 ng source loads, respectively. Similar evoked spike totals reduced the possibility that response-strength differences alone explained altered timing.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Similar total spike counts can conceal very different temporal patterns. A persistent response and a short burst may transmit equal counts while carrying different information about odor onset.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Spontaneous firing was similar between groups. After isolated stimulation at 0.17 Hz, knockout firing took longer to return to its spontaneous level. At 2 Hz, all tested knockout neurons remained above spontaneous activity between successive stimuli, whereas normal responses terminated rapidly.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action potential, or spike, is a brief regenerative electrical event transmitted along an axon. Prolonged spike output can obscure the boundary between separate odor contacts. These results link the EAG recovery defect to sensory-neuron activity without identifying the molecular step by which BmPBP1 shortens receptor stimulation.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Shiota Y, Sakurai T, Ando N, Haupt SS, Mitsuno H, Daimon T, Kanzaki R (2021). Pheromone binding protein is involved in temporal olfactory resolution in the silkmoth. iScience 24(11):103334. https://doi.org/10.1016/j.isci.2021.103334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Shiota et al. (2021), Fig. 3(A–F). Single-neuron response termination under amplitude-matched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https://doi.org/10.1016/j.isci.2021.103334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Sakurai et al. (2011), Fig. 1(A–D). Receptor expression and sensory-cell localization in the antenna.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https://doi.org/10.1371/journal.pgen.1002115</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Peripheral timing can affect the reset of searching behavior. Shiota and colleagues measured tethered males’ body angle during isolated and repeated bombykol exposure. Knockouts retained the complete surge–zigzag sequence after a single pulse, but their initial surge lasted longer than in normal males.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Surge rate here is the fraction of locomotion time spent surging. It differs from the frequency of presented odor pulses and from the speed of an individual forward movement.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0.17 Hz, successive contacts restarted surges in both groups. At 0.83 and 2 Hz, knockouts had lower surge rates and more zigzag turning. They also produced fewer surges lasting more than 2 s during the 2-Hz train, despite the prolonged response to an isolated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longer sensory response does not necessarily produce more sustained forward progress under repeated stimulation. The authors proposed that poor separation of onsets prevents efficient resetting. The concordance among sensory and behavioral measurements supports this explanation without recording the intervening central circuit directly.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Shiota Y, Sakurai T, Ando N, Haupt SS, Mitsuno H, Daimon T, Kanzaki R (2021). Pheromone binding protein is involved in temporal olfactory resolution in the silkmoth. iScience 24(11):103334. https://doi.org/10.1016/j.isci.2021.103334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Shiota et al. (2021), Fig. 4(A–E). Surge and turning behavior after pheromone-binding-protein loss.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https://doi.org/10.1016/j.isci.2021.103334</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Shiota and colleagues allowed males to walk freely in a wind tunnel toward pulsed bombykol or real females. Normal moths received 1–100 ng bombykol source loads; knockouts received 100–10,000 ng to compensate for lower sensitivity. Source-finding success and time were measured separately.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Arrival time and success answer different questions. A sensory system can retain the ability to reach a source while losing the timing precision required for rapid progress.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Both groups could locate the source, with similar success across the tested treatments. Knockouts took longer, followed shorter forward surges and accumulated more turning. Searching toward real females produced the same qualitative combination of preserved success and reduced efficiency.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loss of BmPBP1 therefore impairs efficient navigation without abolishing odor-guided searching. Dose comparisons and female-source tests weaken a simple insufficient-dose explanation. They do not establish that the mutant lacks spatial information entirely or isolate one central neuron responsible for the delayed arrival.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Shiota Y, Sakurai T, Ando N, Haupt SS, Mitsuno H, Daimon T, Kanzaki R (2021). Pheromone binding protein is involved in temporal olfactory resolution in the silkmoth. iScience 24(11):103334. https://doi.org/10.1016/j.isci.2021.103334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Shiota et al. (2021), Fig. 5(A–I). Source-finding performance for synthetic pheromone and females.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https://doi.org/10.1016/j.isci.2021.103334</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antennal lobe is the first central olfactory processing region. Bombykol-sensitive ORNs terminate in its toroid, where projection neurons, or PNs, carry processed information toward higher brain regions. Local interneurons connect within the antennal lobe and influence its input–output transformation.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neuropil is a region rich in neuronal processes and synapses. Anatomical labeling establishes where the sensory terminals lie; the calcium assay measures changing activity in those terminals.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Fujiwara and colleagues expressed GCaMP, a calcium-sensitive fluorescent protein, selectively in BmOR1 neurons. Their axon terminals were localized to the toroid. Calcium signals increased with bombykol source load and remained concentration dependent during repeated 200-ms pulses delivered every 1.2 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Sensory-terminal signals thus retained dose dependence even when downstream PN firing became less dose dependent after repeated stimulation. The comparison locates an additional transformation within the central pathway. Calcium fluorescence is an indirect activity measure and cannot be equated numerically with the firing rate recorded from a PN.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Fujiwara T, Kazawa T, Sakurai T, Fukushima R, Uchino K, Yamagata T, Namiki S, Haupt SS, Kanzaki R (2014). Odorant Concentration Differentiator for Intermittent Olfactory Signals. The Journal of Neuroscience 34(50):16581-16593. https://doi.org/10.1523/jneurosci.2319-14.2014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Fujiwara et al. (2014), Fig. 4(A–G). Sensory-terminal anatomy and concentration-dependent calcium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https://doi.org/10.1523/jneurosci.2319-14.2014</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4" name="Google Shape;354;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Optogenetics uses a light-sensitive protein to control selected cells. Tabuchi and colleagues expressed channelrhodopsin-2, or ChR2, in Bombyx bombykol-sensitive ORNs. ChR2 is a light-gated membrane channel; this intervention bypassed odor delivery while retaining the existing pheromone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afferent signal travels from a sensory organ toward a central processing region. The fluorescently marked axons still entered the toroid, connecting the manipulated input to its known central target.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Blue-light stimulation evoked sensory spikes and pheromone-like wing flapping and zigzag turns. Controls lacking one genetic component, antennae or the required retinal cofactor did not respond in the same way. Light wavelength controls further separated ChR2 activation from a general behavioral effect of illumination.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preparation gives millisecond control over afferent timing, allowing central integration to be tested without uncertain plume transit or binding kinetics. Artificial light activation is not natural pheromone transduction. Its value is selective stimulation of an identified input channel, rather than replacement of the chemical mechanism under natural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1(A–H). Selective receptor-neuron activation and resulting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7" name="Google Shape;367;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Tabuchi and colleagues recorded spikes from pheromone-sensitive sensilla while activating ChR2-expressing neurons. Increasing light intensity or pulse duration increased the sensory response. Bombykol and blue light evoked spikes of the same amplitude from the targeted unit; parental genetic controls lacked the light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short stimulus can initiate multiple spikes. The effective input to the brain is that transmitted activity, rather than the duration of illumination considered in isolation.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Paired light pulses could therefore impose a reproducible temporal pattern on the bombykol channel. The authors compared 3-ms pulses, near behavioral threshold, with 10-ms pulses producing strong behavioral responsiveness. These durations define weak and strong input for this optogenetic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distinction concerns the experimental neural input, not a universal conversion between milliseconds of light and pheromone concentration. The receptor neuron must be measured because light pulse duration alone does not specify transmitted spike output. Peripheral recordings also constrain claims that later amplification originates entirely in the sensory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2(A–C). Light pulses control sensory-neuron spike output.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Sakurai et al. (2011), Fig. 1(A–D). Receptor expression and sensory-cell localization in the antenna.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https://doi.org/10.1371/journal.pgen.1002115</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2" name="Google Shape;382;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Tabuchi and colleagues delivered two 3-ms light pulses to the bombykol sensory channel while varying the interstimulus interval, the time separating the pulses. Each pulse alone supplied weak input. The experiment tested whether closely spaced inputs could combine to cross the behavioral response threshold.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behavioral threshold is a boundary for expression of the scored response, not a claim that subthreshold stimulation is undetected by every neuron in the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intervals of 100–180 ms, only about 17–28% of males responded. When the interval was below 80 ms, responsiveness increased more than twofold. The response depended on timing even though the number and duration of presented pulses remained controlled.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Temporal integration is the combination of inputs arriving over a limited period. The behavioral assay establishes a behaviorally relevant integration window but cannot alone identify its location. Projection-neuron recordings and sensory controls are needed to distinguish peripheral summation from a central transformation.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3(single panel). Short interstimulus intervals enhance behavioral responsiveness.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1(C). Bombykol sensory axons terminate in the toroid.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Tabuchi and colleagues recorded toroid projection neurons while presenting paired optogenetic inputs. At long intervals, the two responses remained temporally separated. With weak 3-ms pulses separated by 20–60 ms, the combined PN spike output exceeded the response obtained with widely separated pulses.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Closely timed weak inputs can become effective together even if either is insufficient by itself. This temporal dependence increases sensitivity to brief clustered encounters.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integration window matched the interval range that enhanced behavior. Peripheral ORNs did not exhibit the same supralinear enhancement, and variation in conduction through the antennal nerve was negligible. These controls place the amplification after the recorded sensory input rather than in odor delivery.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Supralinear integration means output exceeds simple addition of the separate responses. Residual synaptic depolarization is a proposed contributor to the PN effect, but these recordings do not identify its complete membrane mechanism. The agreement with behavior supports relevance without proving that one PN alone determines the motor threshold.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4(A–C). Weak and strong paired sensory inputs evoke different projection-neuron integration.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1(C). Bombykol sensory axons terminate in the toroid.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2" name="Google Shape;412;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GABA, gamma-aminobutyric acid, is an inhibitory neurotransmitter used by many antennal-lobe local interneurons. Tabuchi and colleagues tested its contribution by combining blockers of GABA-A and GABA-B receptors during PN recordings. These receptor classes differ in their cellular signaling mechanisms.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GABA-A receptors are associated with ion-channel inhibition, whereas GABA-B receptors signal through G proteins. The study establishes pharmacological involvement without resolving the exact synaptic implementation.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Normal PNs integrated weak inputs but did not exhibit the same supralinear response to strong 10-ms pulses. After receptor blockade, strong inputs separated by about 40–100 ms could produce supralinear integration. Spontaneous and light-evoked firing also increased, consistent with removal of inhibition.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GABA-dependent inhibition therefore constrains integration when sensory input is strong, favoring temporal separation. The combined treatment cannot assign the effect to one receptor subtype, synapse or local interneuron. Weak-input integration persisted during blockade, suggesting that inhibition regulates an integration capacity rather than creating 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5(A–C). GABA-receptor blockade exposes integration of strong inputs.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1(C). Bombykol sensory axons terminate in the toroid.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7" name="Google Shape;427;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Fujiwara and colleagues presented repeated 200-ms bombykol pulses every 1.2 s and recorded PN spike responses. After the response settled, they increased the source load from 1,000 to 2,000 ng or decreased it from 1,000 to 100 ng while maintaining pulse timing.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same increase can evoke a transient response after adaptation without permanently increasing the settled rate. That difference separates change sensitivity from a simple static dose-response relationship.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concentration increase briefly enhanced firing before responses returned toward their previous settled level. A decrease initially suppressed responses, followed by recovery. Thus, transient output distinguished the direction of a change even when settled spike output was relatively insensitive to the absolute dose.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odorant concentration differentiator is the authors’ functional description of this change-sensitive transformation. It does not mean that a neuron explicitly computes a symbolic equation. Source load also differs from receptor-level airborne concentration; the conclusion applies to the calibrated stimulus changes and repeated-stimulation conditions tested.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Fujiwara T, Kazawa T, Sakurai T, Fukushima R, Uchino K, Yamagata T, Namiki S, Haupt SS, Kanzaki R (2014). Odorant Concentration Differentiator for Intermittent Olfactory Signals. The Journal of Neuroscience 34(50):16581-16593. https://doi.org/10.1523/jneurosci.2319-14.2014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Fujiwara et al. (2014), Fig. 3(A–D). Projection-neuron responses to increases and decreases in odor dose.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https://doi.org/10.1523/jneurosci.2319-14.2014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1(C). Bombykol sensory axons terminate in the toroid.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Fujiwara and colleagues recorded toroid PN spikes during repeated bombykol pulses at 0.83 Hz. The first response had a peak firing frequency that increased with source load. Later responses were initially suppressed and then recovered toward a settled output level.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antagonist reduces receptor-mediated effects. Blocking inhibition changes output, but it cannot by itself identify the exact inhibitory neuron or distinguish every presynaptic and postsynaptic contribution.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medium and high source loads, settled spike output became relatively concentration independent. Antennal controls did not show a progressive loss of delivered odor. Some absolute-dose information persisted in timing: reported settled response latencies were about 361, 339 and 322 ms at 10, 100 and 1,000 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Central processing therefore changes which response features carry concentration information. Rate adaptation does not imply total loss of dose information. Picrotoxin, a GABA-A receptor antagonist, reduced suppression and restored stronger dose dependence, implicating inhibitory processing without resolving every synapse or membrane channel in the transformation.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Fujiwara T, Kazawa T, Sakurai T, Fukushima R, Uchino K, Yamagata T, Namiki S, Haupt SS, Kanzaki R (2014). Odorant Concentration Differentiator for Intermittent Olfactory Signals. The Journal of Neuroscience 34(50):16581-16593. https://doi.org/10.1523/jneurosci.2319-14.2014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Fujiwara et al. (2014), Fig. 2(A–G). Antennal-lobe anatomy and responses to repeated odor pulses.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https://doi.org/10.1523/jneurosci.2319-14.2014</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 name="Google Shape;455;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lateral accessory lobes, or LALs, are paired higher-order brain regions associated with pheromone-guided motor control. Descending neurons, or DNs, send axons from the brain toward the ventral nervous system and thoracic motor centers. Namiki and colleagues mapped their regional arborizations in Bombyx mori.</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connective is a nerve pathway linking central ganglia. A neuron’s arborization is the branching region through which it can receive or distribute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Fluorescent dye introduced through the neck connectives labeled descending and ascending fibers. Confocal imaging revealed dense innervation in the posterior slope, a posterior–ventral neuropil. LAL neurons also extended processes into that region, linking two candidate sites of sensorimotor processing.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anatomy constrains the possible routes by which pheromone information reaches motor pathways. Backfill labels fibers by their trajectory, not by neurotransmitter or response type, and includes ascending fibers as well. Dense fluorescence therefore cannot be interpreted as a count of pheromone-specific descending neurons or direct evidence of synaptic excitation.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Namiki S, Wada S, Kanzaki R (2018). Descending neurons from the lateral accessory lobe and posterior slope in the brain of the silkmoth Bombyx mori. Scientific Reports 8(1):9663. https://doi.org/10.1038/s41598-018-27954-5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Namiki et al. (2018), Fig. 2(a–d). Confocal anatomy of lateral accessory lobes and posterior slope.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https://doi.org/10.1038/s41598-018-27954-5</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8" name="Google Shape;468;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Kanzaki, Ikeda and Shibuya recorded activity from dorsal bundles of the neck connectives while delivering brief bombykol pulses. Anatomical staining identified descending neurons associated with the LAL. These recordings tested whether the motor pathway simply copied the brief duration of peripheral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brief trigger and a maintained state have different time courses. Persistence permits the nervous system to continue responding during an interruption of odor contact.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Some units switched between high- and low-frequency states after 100-ms odor pulses. The operational criterion required at least a doubling or halving of prestimulus firing that persisted for at least 5 s after stimulation ended. The response could therefore greatly outlast the input.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flip-flopping activity is a persistent state change, rather than a new odor contact lasting several seconds. It is consistent with central maintenance of a searching command. Extracellular bundle recordings do not identify every contributing cell or prove that persistent firing alone produces a particular leg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Kanzaki R, Ikeda A, Shibuya T (1994). Morphological and physiological properties of pheromone-triggered flipflopping descending interneurons of the male silkworm moth, Bombyx mori. Journal of Comparative Physiology A 175(1):1–14. https://doi.org/10.1007/bf00217431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Namiki S, Wada S, Kanzaki R (2018). Descending neurons from the lateral accessory lobe and posterior slope in the brain of the silkmoth Bombyx mori. Scientific Reports 8(1):9663. https://doi.org/10.1038/s41598-018-27954-5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Kanzaki et al. (1994), Fig. 6(A–E). Descending-neuron locations and persistent pheromone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https://doi.org/10.1007/bf00217431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Namiki et al. (2018), Fig. 2(a–d). Confocal anatomy of lateral accessory lobes and posterior slope.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https://doi.org/10.1038/s41598-018-27954-5</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3" name="Google Shape;483;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Kanzaki and colleagues applied successive pheromone pulses to one or both antennae while recording descending units. Some units alternated between high and low firing states rather than producing an identical transient response to every presentation. Spontaneous state changes also occurred after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same sensory event can have different effects depending on current activity. A neuron already in its high state need not respond as if it were initially silent.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 one class, two recorded signals changed in synchrony; other recordings had an opposite relationship. The maintained activity could be interrupted or switched by a later pulse, so its duration was not determined solely by the duration of one sensory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findings support a state-dependent central transformation between odor contact and descending output. They do not establish a fully autonomous oscillator with a fixed period or a particular recurrent inhibitory synapse. Switching, synchrony and persistence are measured response properties; the circuitry generating them remains an explanatory hypothesis.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Kanzaki R, Ikeda A, Shibuya T (1994). Morphological and physiological properties of pheromone-triggered flipflopping descending interneurons of the male silkworm moth, Bombyx mori. Journal of Comparative Physiology A 175(1):1–14. https://doi.org/10.1007/bf00217431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Namiki S, Wada S, Kanzaki R (2018). Descending neurons from the lateral accessory lobe and posterior slope in the brain of the silkmoth Bombyx mori. Scientific Reports 8(1):9663. https://doi.org/10.1038/s41598-018-27954-5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Kanzaki et al. (1994), Fig. 7(A–F). Repeated pheromone stimulation changes descending activity state.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https://doi.org/10.1007/bf00217431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Namiki et al. (2018), Fig. 2(a–d). Confocal anatomy of lateral accessory lobes and posterior slope.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https://doi.org/10.1038/s41598-018-27954-5</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8" name="Google Shape;498;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Kanzaki and colleagues distinguished antiphasic activity, in which one signal was high while the other was low, from synchronized state changes. Bilateral connective recordings revealed opposite states across sides; a small-bundle recording also separated large and small impulses with opposite switching patterns.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Antiphasic refers to the relationship between two signals. It does not require that either signal oscillate at a regular frequency or that the pair be directly connected.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authors named the antiphasic class FF and the synchronized class ff. Both could change after brief pheromone stimulation. Thus, the descending pathway contained more than one relationship among persistent outputs rather than one uniform bilateral signal.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Opposite states are compatible with alternating directional commands during searching, but compatibility is not a causal demonstration of turning. Bundle recordings cannot reveal the complete synaptic connections or assign every spike to an identified motor pathway. The labels FF and ff describe response classes in the paper, not distinct molecular receptor types.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Kanzaki R, Ikeda A, Shibuya T (1994). Morphological and physiological properties of pheromone-triggered flipflopping descending interneurons of the male silkworm moth, Bombyx mori. Journal of Comparative Physiology A 175(1):1–14. https://doi.org/10.1007/bf00217431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Namiki S, Wada S, Kanzaki R (2018). Descending neurons from the lateral accessory lobe and posterior slope in the brain of the silkmoth Bombyx mori. Scientific Reports 8(1):9663. https://doi.org/10.1038/s41598-018-27954-5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Kanzaki et al. (1994), Fig. 8(single panel). Opposite switching states in units recorded from a descending bundle.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https://doi.org/10.1007/bf00217431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Namiki et al. (2018), Fig. 2(a–d). Confocal anatomy of lateral accessory lobes and posterior slope.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https://doi.org/10.1038/s41598-018-27954-5</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3" name="Google Shape;513;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Kanzaki and colleagues combined electrophysiology with staining of a small descending bundle carrying FF-type activity. In the reported preparation, a single stained neuron had its cell body among group-II descending neurons and processes associated with the lateral accessory lobe.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labeled cell provides a candidate anatomical source of recorded activity. Establishing necessary or sufficient behavioral control would additionally require a selective intervention on that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simultaneously recorded activity retained the opposite-state relationship with the other connective. The cell’s descending axon and regional innervation therefore connected anatomical identity to a persistent physiological response more specifically than a whole-connective recording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result supports participation of a group-II LAL descending neuron in the switching pathway. It does not establish that all group-II neurons share the same response or that this one cell is sufficient to create zigzag behavior. Staining and physiology restrict candidate pathways without revealing the complete mechanism maintaining the high and low states.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Kanzaki R, Ikeda A, Shibuya T (1994). Morphological and physiological properties of pheromone-triggered flipflopping descending interneurons of the male silkworm moth, Bombyx mori. Journal of Comparative Physiology A 175(1):1–14. https://doi.org/10.1007/bf00217431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Kanzaki et al. (1994), Fig. 10(A–C). Stained group-II descending neuron and switching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https://doi.org/10.1007/bf00217431</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6" name="Google Shape;526;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Namiki and colleagues recorded and filled descending neurons whose processes entered the posterior slope but not necessarily the lateral accessory lobe. The group-III PSDN1 neuron had smooth processes in posterior brain regions and varicose processes in the gnathal ganglion, a lower central region associated with descending pathways.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Smooth and varicose processes are morphological features used to infer likely input and output regions. Light-microscopic shape does not establish the direction of every individual synapse.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identified cell responded to bombykol with excitation. The authors did not observe the characteristic flip-flop activity in the group-III neurons they examined. This distinguishes a transient pheromone-responsive population from the LAL-associated persistent pathways described in earlier work.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authors proposed that transient group-III signals might contribute to the initial surge, whereas persistent signals could contribute to casting. This assignment remains a functional hypothesis because neuron-specific behavioral necessity was not tested. The route supplying pheromone input to the posterior slope also remained unresolved.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Namiki S, Wada S, Kanzaki R (2018). Descending neurons from the lateral accessory lobe and posterior slope in the brain of the silkmoth Bombyx mori. Scientific Reports 8(1):9663. https://doi.org/10.1038/s41598-018-27954-5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Namiki et al. (2018), Fig. 9(a–e). Posterior-slope descending-neuron anatomy and odor-evoked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https://doi.org/10.1038/s41598-018-27954-5</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Serotonin, also called 5-hydroxytryptamine, is a neurotransmitter and neuromodulator that can change a circuit’s responsiveness. Gatellier and colleagues applied it to exposed silkmoth antennal lobes and measured male responses to increasing bombykol source loads. Saline tests before treatment and a later wash supplied comparisons.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neuromodulator changes how a circuit responds to another input. Here the initiating sensory signal remained bombykol, while serotonin altered the likelihood of responding.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10⁻⁴ mol/L, serotonin increased behavioral sensitivity. For 5 ng bombykol, the response fraction rose from 18% in the control condition to 30% during treatment. The dose-response curve returned toward the control condition after 24 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effect connects a central chemical manipulation to altered behavioral initiation. It does not imply that serotonin replaces pheromone or selectively controls one identified PN. Brain exposure and pharmacological application can affect several elements, so the cellular target and signaling pathway cannot be assigned solely from the behavioral curve.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Gatellier L, Nagao T, Kanzaki R (2004). Serotonin modifies the sensitivity of the male silkmoth to pheromone. Journal of Experimental Biology 207(14):2487-2496. https://doi.org/10.1242/jeb.01035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Gatellier et al. (2004), Fig. 2(single panel). Pheromone response curve before serotonin, during treatment and after wash.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https://doi.org/10.1242/jeb.01035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1(C). Bombykol sensory axons terminate in the toroid.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4" name="Google Shape;554;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Gatellier and colleagues compared serotonin applications of 10⁻⁵, 10⁻⁴ and 10⁻³ mol/L. The lowest concentration did not appreciably change behavioral sensitivity, the intermediate concentration enhanced it, and the highest concentration reduced it. More serotonin therefore did not produce a monotonic increase in responsiveness.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picomole is one trillionth of a mole. Tissue content measures total recovered material and differs from the applied solution’s concentration.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High-performance liquid chromatography, or HPLC, separated serotonin from other tissue compounds for electrochemical measurement. Brain content rose from about 0.18 pmol/brain in controls to 0.44 and 0.80 pmol/brain after the intermediate and high applications. After 24 h, content returned toward control levels.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measurements verify that application changed tissue serotonin while revealing opposite behavioral outcomes. Whole-brain content is not the concentration at one synapse, and the study did not identify distinct receptor pathways causing enhancement and inhibition. Dose-dependent effects constrain a simple uniformly excitatory explanation.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Gatellier L, Nagao T, Kanzaki R (2004). Serotonin modifies the sensitivity of the male silkmoth to pheromone. Journal of Experimental Biology 207(14):2487-2496. https://doi.org/10.1242/jeb.01035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Gatellier et al. (2004), Fig. 4(single panel). Measured brain serotonin after application and wash.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https://doi.org/10.1242/jeb.01035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1(C). Bombykol sensory axons terminate in the toroid.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9" name="Google Shape;569;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Gatellier and colleagues applied the serotonin antagonists mianserin and ketanserin to the exposed brain before bombykol testing. Mianserin at 10⁻⁴ mol/L and ketanserin at 10⁻³ mol/L shifted behavioral responsiveness toward higher required pheromone doses.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authors noted possible actions beyond the intended receptor classes. Pharmacological specificity must be established before an antagonist is treated as a selective deletion of one neural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For 5 ng bombykol, mianserin reduced the response fraction from 46% to 33% in its comparison group. Ketanserin reduced it from 25% to 17% in a separate group. Ketanserin at 10⁻⁴ mol/L did not produce the same inhibitory effect.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antagonist results support serotonergic involvement in behavioral sensitivity, but the drugs are not perfectly selective probes of an identified insect receptor. Different control response fractions belong to different experiments and should not be pooled. Incomplete recovery after 24 h also limits attributing every remaining change solely to persistent receptor blockade.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Gatellier L, Nagao T, Kanzaki R (2004). Serotonin modifies the sensitivity of the male silkmoth to pheromone. Journal of Experimental Biology 207(14):2487-2496. https://doi.org/10.1242/jeb.01035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Gatellier et al. (2004), Fig. 5(A–B). Serotonin antagonists decrease behavioral sensitivity to bombykol.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https://doi.org/10.1242/jeb.01035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1(C). Bombykol sensory axons terminate in the toroid.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4" name="Google Shape;584;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Gatellier and colleagues measured brain serotonin every 4 h over a 24-h light–dark cycle and tested pheromone responsiveness at multiple times. Serotonin content peaked around noon at about 0.72 pmol/brain and declined to about 0.41 pmol/brain two hours after darkness began.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endogenous circadian rhythm continues without repeated external time cues. A daily pattern measured under scheduled light and darkness requires additional tests before that stronger claim can be made.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For 1 ng bombykol, behavioral responsiveness rose from 32% at 06:00 to 63% around noon, then declined to 16% at 22:00. Brain serotonin and response sensitivity therefore varied together over the tested daily schedule.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correlation is consistent with a state-dependent serotonergic contribution but does not prove that serotonin alone generates the rhythm. Measurements under a light–dark cycle also do not establish persistence of an endogenous circadian oscillator in constant conditions. Daily modulation and the separate application experiments provide different forms of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Gatellier L, Nagao T, Kanzaki R (2004). Serotonin modifies the sensitivity of the male silkmoth to pheromone. Journal of Experimental Biology 207(14):2487-2496. https://doi.org/10.1242/jeb.01035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Gatellier et al. (2004), Fig. 7(single panel). Brain serotonin content varies with time of day.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https://doi.org/10.1242/jeb.01035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Tabuchi et al. (2013), Fig. 1(C). Bombykol sensory axons terminate in the toroid.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https://doi.org/10.1073/pnas.1313707110</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9" name="Google Shape;599;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Yamada and colleagues measured forward and angular velocity as a function of odor-detection frequency during virtual navigation. Angular velocity is the rate of change of heading, distinct from translational movement through space. Wind and optic-flow direction could be reversed independently.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Frequency depends on the transported plume and the animal’s movement. An encounter rate cannot be treated as an invariant chemical distance ruler across environments.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With correctly aligned cues, forward velocity peaked around 0.7 Hz and turning velocity around 0.4 Hz. Reversing wind removed the same frequency-dependent forward-speed pattern and shifted the turning peak toward about 0.2 Hz. Reversing visual motion also produced unequal left- and right-turning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behavioral changes establish context-dependent control rather than a fixed response to odor frequency alone. The proposed association between higher encounter rates and proximity to a female remains an interpretation, not proof that frequency uniquely determines distance. The experiment does not identify the central neurons performing the multisensory comparison.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Yamada M, Ohashi H, Hosoda K, Kurabayashi D, Shigaki S (2021). Multisensory-motor integration in olfactory navigation of silkmoth, Bombyx mori, using virtual reality system. eLife 10:e72001. https://doi.org/10.7554/elife.72001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Yamada et al. (2021), Fig. 5(A–C). Measured speed and turning changes with odor frequency and cue reversals.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https://doi.org/10.7554/elife.72001</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2" name="Google Shape;612;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Yamada and colleagues compared search success, arrival time and success per unit time across combinations of odor, wind and visual input. All treatments retained odor information, allowing the contributions of other cues to be evaluated against an odor-only condition.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behavioral improvement under combined cues need not arise from one anatomical convergence point. Several processing stages could contribute to the performance difference.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Correctly aligned odor, wind and visual information improved performance compared with reduced-cue conditions. Reversing wind within the full-cue preparation sharply reduced success. Visual effects were context dependent: limited effects with odor alone did not mean vision was irrelevant when all three modalities were present.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results support multisensory control of walking odor-source search. Success within a 300-s virtual trial does not establish unrestricted navigation in a natural habitat or a complete sensory-to-motor circuit. Behavioral cue manipulations complement receptor and neuronal experiments while leaving the site and synaptic mechanism of integration unresolved.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Yamada M, Ohashi H, Hosoda K, Kurabayashi D, Shigaki S (2021). Multisensory-motor integration in olfactory navigation of silkmoth, Bombyx mori, using virtual reality system. eLife 10:e72001. https://doi.org/10.7554/elife.72001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Yamada et al. (2021), Fig. 4(A–C). Source-finding success, time and performance across sensory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https://doi.org/10.7554/elife.72001</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5" name="Google Shape;625;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Published silkmoth experiments link several transformations: ligand-selective receptors excite a defined sensory channel; peripheral binding-protein function helps responses terminate; and antennal-lobe neurons combine or separate contacts according to input strength. These are experimentally distinguishable operations rather than one generic measure of olfactory sensitivity.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supported component mechanism should not be expanded into a fully established circuit. Peripheral timing, central integration and descending persistence were measured in different experimental preparations.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BmPBP1 loss preserves searching but reduces its temporal efficiency. Optogenetic paired inputs reveal central integration within tens of milliseconds, while descending recordings reveal states lasting seconds after brief stimulation. The different timescales permit short odor encounters to influence extended motor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No cited study establishes every synapse from bombykol binding to a completed plume-tracking trajectory. GABA pharmacology, serotonin application and anatomical overlap constrain mechanisms without resolving all receptor subtypes, intrinsic channels or causal motor assignments. Natural searching combines these sensory and central operations with wind and visual information.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Fujiwara T, Kazawa T, Sakurai T, Fukushima R, Uchino K, Yamagata T, Namiki S, Haupt SS, Kanzaki R (2014). Odorant Concentration Differentiator for Intermittent Olfactory Signals. The Journal of Neuroscience 34(50):16581-16593. https://doi.org/10.1523/jneurosci.2319-14.2014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Shiota Y, Sakurai T, Ando N, Haupt SS, Mitsuno H, Daimon T, Kanzaki R (2021). Pheromone binding protein is involved in temporal olfactory resolution in the silkmoth. iScience 24(11):103334. https://doi.org/10.1016/j.isci.2021.103334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Kanzaki R, Ikeda A, Shibuya T (1994). Morphological and physiological properties of pheromone-triggered flipflopping descending interneurons of the male silkworm moth, Bombyx mori. Journal of Comparative Physiology A 175(1):1–14. https://doi.org/10.1007/bf00217431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Yamada M, Ohashi H, Hosoda K, Kurabayashi D, Shigaki S (2021). Multisensory-motor integration in olfactory navigation of silkmoth, Bombyx mori, using virtual reality system. eLife 10:e72001. https://doi.org/10.7554/elife.72001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Fujiwara et al. (2014), Fig. 2(A–G). Antennal-lobe anatomy and responses to repeated odor pulses.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https://doi.org/10.1523/jneurosci.2319-14.2014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Shiota et al. (2021), Fig. 4(A–E). Surge and turning behavior after pheromone-binding-protein loss.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https://doi.org/10.1016/j.isci.2021.103334</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0" name="Google Shape;640;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Plumes are intermittent. Turbulence creates odor contacts and gaps; encounter timing can renew surges or permit casting rather than supplying a smooth concentration gradient.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Sensory identity gates behavior. Adding a foreign receptor to bombykol neurons changes which ligand initiates searching while preserving their central toroid targets.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Receptors conduct cations. Ligand-selective OR and Orco subunits support odor-gated currents; patch recordings and residue substitutions constrain the channel mechanism.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Termination supports tracking. BmPBP1 loss prolongs sensory responses, blurs repeated contacts and delays source finding despite preserved searching and eventual success.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Central processing is state dependent. Weak contacts can integrate over tens of milliseconds; GABA limits strong-input integration, and descending signals can persist for seconds.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Navigation depends on context. Serotonin alters responsiveness in a dose-dependent manner, while wind and visual feedback influence odor-guided movement and source-finding success.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Vickers NJ, Baker TC (1994). Reiterative responses to single strands of odor promote sustained upwind flight and odor source location by moths. Proceedings of the National Academy of Sciences 91(13):5756-5760. https://doi.org/10.1073/pnas.91.13.5756</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Sakurai T, Mitsuno H, Haupt SS, Uchino K, Yokohari F, Nishioka T, Kobayashi I, Sezutsu H, Tamura T, Kanzaki R (2011). A Single Sex Pheromone Receptor Determines Chemical Response Specificity of Sexual Behavior in the Silkmoth Bombyx mori. PLoS Genetics 7(6):e1002115. https://doi.org/10.1371/journal.pgen.1002115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Sato K, Pellegrino M, Nakagawa T, Nakagawa T, Vosshall LB, Touhara K (2008). Insect olfactory receptors are heteromeric ligand-gated ion channels. Nature 452(7190):1002-1006. https://doi.org/10.1038/nature06850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Nakagawa T, Pellegrino M, Sato K, Vosshall LB, Touhara K (2012). Amino Acid Residues Contributing to Function of the Heteromeric Insect Olfactory Receptor Complex. PLoS ONE 7(3):e32372. https://doi.org/10.1371/journal.pone.0032372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Shiota Y, Sakurai T, Ando N, Haupt SS, Mitsuno H, Daimon T, Kanzaki R (2021). Pheromone binding protein is involved in temporal olfactory resolution in the silkmoth. iScience 24(11):103334. https://doi.org/10.1016/j.isci.2021.103334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Tabuchi M, Sakurai T, Mitsuno H, Namiki S, Minegishi R, Shiotsuki T, Uchino K, Sezutsu H, Tamura T, Haupt SS, Nakatani K, Kanzaki R (2013). Pheromone responsiveness threshold depends on temporal integration by antennal lobe projection neurons. Proceedings of the National Academy of Sciences 110(38):15455-15460. https://doi.org/10.1073/pnas.1313707110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Kanzaki R, Ikeda A, Shibuya T (1994). Morphological and physiological properties of pheromone-triggered flipflopping descending interneurons of the male silkworm moth, Bombyx mori. Journal of Comparative Physiology A 175(1):1–14. https://doi.org/10.1007/bf00217431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Gatellier L, Nagao T, Kanzaki R (2004). Serotonin modifies the sensitivity of the male silkmoth to pheromone. Journal of Experimental Biology 207(14):2487-2496. https://doi.org/10.1242/jeb.01035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Yamada M, Ohashi H, Hosoda K, Kurabayashi D, Shigaki S (2021). Multisensory-motor integration in olfactory navigation of silkmoth, Bombyx mori, using virtual reality system. eLife 10:e72001. https://doi.org/10.7554/elife.72001</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0.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8.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1.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3.png"/><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4.png"/><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0.png"/><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7.png"/><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5.png"/><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9.png"/><Relationship Id="rId4" Type="http://schemas.openxmlformats.org/officeDocument/2006/relationships/image" Target="../media/image4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6.png"/><Relationship Id="rId4"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1.png"/><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8.png"/><Relationship Id="rId4"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3.pn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9.png"/><Relationship Id="rId4" Type="http://schemas.openxmlformats.org/officeDocument/2006/relationships/image" Target="../media/image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 name="Shape 18"/>
        <p:cNvGrpSpPr/>
        <p:nvPr/>
      </p:nvGrpSpPr>
      <p:grpSpPr>
        <a:xfrm>
          <a:off x="0" y="0"/>
          <a:ext cx="0" cy="0"/>
          <a:chOff x="0" y="0"/>
          <a:chExt cx="0" cy="0"/>
        </a:xfrm>
      </p:grpSpPr>
      <p:sp>
        <p:nvSpPr>
          <p:cNvPr id="19" name="Google Shape;19;p1"/>
          <p:cNvSpPr/>
          <p:nvPr/>
        </p:nvSpPr>
        <p:spPr>
          <a:xfrm>
            <a:off x="0" y="0"/>
            <a:ext cx="6096000" cy="6858000"/>
          </a:xfrm>
          <a:prstGeom prst="rect">
            <a:avLst/>
          </a:prstGeom>
          <a:solidFill>
            <a:srgbClr val="E8ED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685800" y="822871"/>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200"/>
              <a:buFont typeface="Arial"/>
              <a:buNone/>
            </a:pPr>
            <a:r>
              <a:rPr b="0" i="0" lang="en-US" sz="1200">
                <a:solidFill>
                  <a:srgbClr val="425B70"/>
                </a:solidFill>
                <a:latin typeface="Arial"/>
                <a:ea typeface="Arial"/>
                <a:cs typeface="Arial"/>
                <a:sym typeface="Arial"/>
              </a:rPr>
              <a:t>NEUR 411 · NEUROETHOLOGY · FALL 2026</a:t>
            </a:r>
            <a:endParaRPr sz="1800">
              <a:solidFill>
                <a:schemeClr val="dk1"/>
              </a:solidFill>
              <a:latin typeface="Calibri"/>
              <a:ea typeface="Calibri"/>
              <a:cs typeface="Calibri"/>
              <a:sym typeface="Calibri"/>
            </a:endParaRPr>
          </a:p>
        </p:txBody>
      </p:sp>
      <p:sp>
        <p:nvSpPr>
          <p:cNvPr id="21" name="Google Shape;21;p1"/>
          <p:cNvSpPr/>
          <p:nvPr/>
        </p:nvSpPr>
        <p:spPr>
          <a:xfrm>
            <a:off x="685800" y="1782961"/>
            <a:ext cx="4743450" cy="246757"/>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800"/>
              <a:buFont typeface="Arial"/>
              <a:buNone/>
            </a:pPr>
            <a:r>
              <a:rPr b="0" i="0" lang="en-US" sz="1800">
                <a:solidFill>
                  <a:srgbClr val="425B70"/>
                </a:solidFill>
                <a:latin typeface="Arial"/>
                <a:ea typeface="Arial"/>
                <a:cs typeface="Arial"/>
                <a:sym typeface="Arial"/>
              </a:rPr>
              <a:t>Lecture 24</a:t>
            </a:r>
            <a:endParaRPr sz="1800">
              <a:solidFill>
                <a:schemeClr val="dk1"/>
              </a:solidFill>
              <a:latin typeface="Calibri"/>
              <a:ea typeface="Calibri"/>
              <a:cs typeface="Calibri"/>
              <a:sym typeface="Calibri"/>
            </a:endParaRPr>
          </a:p>
        </p:txBody>
      </p:sp>
      <p:sp>
        <p:nvSpPr>
          <p:cNvPr id="22" name="Google Shape;22;p1"/>
          <p:cNvSpPr/>
          <p:nvPr/>
        </p:nvSpPr>
        <p:spPr>
          <a:xfrm>
            <a:off x="685800" y="2331690"/>
            <a:ext cx="4743450" cy="987177"/>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53746"/>
              </a:buClr>
              <a:buSzPts val="2400"/>
              <a:buFont typeface="Arial"/>
              <a:buNone/>
            </a:pPr>
            <a:r>
              <a:rPr b="1" i="0" lang="en-US" sz="2400">
                <a:solidFill>
                  <a:schemeClr val="dk1"/>
                </a:solidFill>
                <a:latin typeface="Arial"/>
                <a:ea typeface="Arial"/>
                <a:cs typeface="Arial"/>
                <a:sym typeface="Arial"/>
              </a:rPr>
              <a:t>Chemoreception I: silkmoth pheromone plume-tracking (Kramer &amp; Cardé)</a:t>
            </a:r>
            <a:endParaRPr sz="1800">
              <a:solidFill>
                <a:schemeClr val="dk1"/>
              </a:solidFill>
              <a:latin typeface="Calibri"/>
              <a:ea typeface="Calibri"/>
              <a:cs typeface="Calibri"/>
              <a:sym typeface="Calibri"/>
            </a:endParaRPr>
          </a:p>
        </p:txBody>
      </p:sp>
      <p:sp>
        <p:nvSpPr>
          <p:cNvPr id="23" name="Google Shape;23;p1"/>
          <p:cNvSpPr/>
          <p:nvPr/>
        </p:nvSpPr>
        <p:spPr>
          <a:xfrm>
            <a:off x="685800" y="4749552"/>
            <a:ext cx="4743450" cy="21937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600"/>
              <a:buFont typeface="Arial"/>
              <a:buNone/>
            </a:pPr>
            <a:r>
              <a:rPr b="0" i="0" lang="en-US" sz="1600">
                <a:solidFill>
                  <a:srgbClr val="425B70"/>
                </a:solidFill>
                <a:latin typeface="Arial"/>
                <a:ea typeface="Arial"/>
                <a:cs typeface="Arial"/>
                <a:sym typeface="Arial"/>
              </a:rPr>
              <a:t>Wednesday, October 21, 2026</a:t>
            </a:r>
            <a:endParaRPr sz="1800">
              <a:solidFill>
                <a:schemeClr val="dk1"/>
              </a:solidFill>
              <a:latin typeface="Calibri"/>
              <a:ea typeface="Calibri"/>
              <a:cs typeface="Calibri"/>
              <a:sym typeface="Calibri"/>
            </a:endParaRPr>
          </a:p>
        </p:txBody>
      </p:sp>
      <p:sp>
        <p:nvSpPr>
          <p:cNvPr id="24" name="Google Shape;24;p1"/>
          <p:cNvSpPr/>
          <p:nvPr/>
        </p:nvSpPr>
        <p:spPr>
          <a:xfrm>
            <a:off x="685800" y="5435352"/>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200"/>
              <a:buFont typeface="Arial"/>
              <a:buNone/>
            </a:pPr>
            <a:r>
              <a:rPr b="0" i="0" lang="en-US" sz="1200">
                <a:solidFill>
                  <a:srgbClr val="425B70"/>
                </a:solidFill>
                <a:latin typeface="Arial"/>
                <a:ea typeface="Arial"/>
                <a:cs typeface="Arial"/>
                <a:sym typeface="Arial"/>
              </a:rPr>
              <a:t>Jordan Lopez, Ph.D.</a:t>
            </a:r>
            <a:endParaRPr sz="1800">
              <a:solidFill>
                <a:schemeClr val="dk1"/>
              </a:solidFill>
              <a:latin typeface="Calibri"/>
              <a:ea typeface="Calibri"/>
              <a:cs typeface="Calibri"/>
              <a:sym typeface="Calibri"/>
            </a:endParaRPr>
          </a:p>
        </p:txBody>
      </p:sp>
      <p:sp>
        <p:nvSpPr>
          <p:cNvPr id="25" name="Google Shape;25;p1"/>
          <p:cNvSpPr/>
          <p:nvPr/>
        </p:nvSpPr>
        <p:spPr>
          <a:xfrm>
            <a:off x="685800" y="5625108"/>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200"/>
              <a:buFont typeface="Arial"/>
              <a:buNone/>
            </a:pPr>
            <a:r>
              <a:rPr b="0" i="0" lang="en-US" sz="1200">
                <a:solidFill>
                  <a:srgbClr val="425B70"/>
                </a:solidFill>
                <a:latin typeface="Arial"/>
                <a:ea typeface="Arial"/>
                <a:cs typeface="Arial"/>
                <a:sym typeface="Arial"/>
              </a:rPr>
              <a:t>Professor of Neurobiology &amp; Biomedical Engineering</a:t>
            </a:r>
            <a:endParaRPr sz="1800">
              <a:solidFill>
                <a:schemeClr val="dk1"/>
              </a:solidFill>
              <a:latin typeface="Calibri"/>
              <a:ea typeface="Calibri"/>
              <a:cs typeface="Calibri"/>
              <a:sym typeface="Calibri"/>
            </a:endParaRPr>
          </a:p>
        </p:txBody>
      </p:sp>
      <p:pic>
        <p:nvPicPr>
          <p:cNvPr id="26" name="Google Shape;26;p1"/>
          <p:cNvPicPr preferRelativeResize="0"/>
          <p:nvPr/>
        </p:nvPicPr>
        <p:blipFill rotWithShape="1">
          <a:blip r:embed="rId3">
            <a:alphaModFix/>
          </a:blip>
          <a:srcRect b="0" l="0" r="0" t="0"/>
          <a:stretch/>
        </p:blipFill>
        <p:spPr>
          <a:xfrm>
            <a:off x="6562880" y="1093421"/>
            <a:ext cx="5181290" cy="3173611"/>
          </a:xfrm>
          <a:prstGeom prst="rect">
            <a:avLst/>
          </a:prstGeom>
          <a:noFill/>
          <a:ln>
            <a:noFill/>
          </a:ln>
        </p:spPr>
      </p:pic>
      <p:sp>
        <p:nvSpPr>
          <p:cNvPr id="27" name="Google Shape;27;p1"/>
          <p:cNvSpPr/>
          <p:nvPr/>
        </p:nvSpPr>
        <p:spPr>
          <a:xfrm>
            <a:off x="6553200" y="5943600"/>
            <a:ext cx="52006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Yamada et al. (2021), Fig. 1(A, photograph). Male silkmoth on the trackball preparation.</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Bombykol triggers silkmoth mate searching</a:t>
            </a:r>
            <a:endParaRPr sz="1800">
              <a:solidFill>
                <a:schemeClr val="dk1"/>
              </a:solidFill>
              <a:latin typeface="Calibri"/>
              <a:ea typeface="Calibri"/>
              <a:cs typeface="Calibri"/>
              <a:sym typeface="Calibri"/>
            </a:endParaRPr>
          </a:p>
        </p:txBody>
      </p:sp>
      <p:sp>
        <p:nvSpPr>
          <p:cNvPr id="33" name="Google Shape;33;p2"/>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600"/>
              <a:buFont typeface="Arial"/>
              <a:buNone/>
            </a:pPr>
            <a:r>
              <a:rPr b="1" i="0" lang="en-US" sz="1600">
                <a:solidFill>
                  <a:srgbClr val="425B70"/>
                </a:solidFill>
                <a:latin typeface="Arial"/>
                <a:ea typeface="Arial"/>
                <a:cs typeface="Arial"/>
                <a:sym typeface="Arial"/>
              </a:rPr>
              <a:t>Pheromones</a:t>
            </a:r>
            <a:r>
              <a:rPr b="0" i="0" lang="en-US" sz="1600">
                <a:solidFill>
                  <a:srgbClr val="242B31"/>
                </a:solidFill>
                <a:latin typeface="Arial"/>
                <a:ea typeface="Arial"/>
                <a:cs typeface="Arial"/>
                <a:sym typeface="Arial"/>
              </a:rPr>
              <a:t> are chemical signals exchanged between members of a species. Male silkmoths, </a:t>
            </a:r>
            <a:r>
              <a:rPr b="0" i="1" lang="en-US" sz="1600">
                <a:solidFill>
                  <a:srgbClr val="242B31"/>
                </a:solidFill>
                <a:latin typeface="Arial"/>
                <a:ea typeface="Arial"/>
                <a:cs typeface="Arial"/>
                <a:sym typeface="Arial"/>
              </a:rPr>
              <a:t>Bombyx mori</a:t>
            </a:r>
            <a:r>
              <a:rPr b="0" i="0" lang="en-US" sz="1600">
                <a:solidFill>
                  <a:srgbClr val="242B31"/>
                </a:solidFill>
                <a:latin typeface="Arial"/>
                <a:ea typeface="Arial"/>
                <a:cs typeface="Arial"/>
                <a:sym typeface="Arial"/>
              </a:rPr>
              <a:t>, respond to the female pheromone </a:t>
            </a:r>
            <a:r>
              <a:rPr b="1" i="0" lang="en-US" sz="1600">
                <a:solidFill>
                  <a:srgbClr val="425B70"/>
                </a:solidFill>
                <a:latin typeface="Arial"/>
                <a:ea typeface="Arial"/>
                <a:cs typeface="Arial"/>
                <a:sym typeface="Arial"/>
              </a:rPr>
              <a:t>bombykol</a:t>
            </a:r>
            <a:r>
              <a:rPr b="0" i="0" lang="en-US" sz="1600">
                <a:solidFill>
                  <a:srgbClr val="242B31"/>
                </a:solidFill>
                <a:latin typeface="Arial"/>
                <a:ea typeface="Arial"/>
                <a:cs typeface="Arial"/>
                <a:sym typeface="Arial"/>
              </a:rPr>
              <a:t> with a forward walking surge, alternating zigzag turns and wider looping search when further odor contacts are absent.</a:t>
            </a:r>
            <a:endParaRPr sz="1800">
              <a:solidFill>
                <a:schemeClr val="dk1"/>
              </a:solidFill>
              <a:latin typeface="Calibri"/>
              <a:ea typeface="Calibri"/>
              <a:cs typeface="Calibri"/>
              <a:sym typeface="Calibri"/>
            </a:endParaRPr>
          </a:p>
        </p:txBody>
      </p:sp>
      <p:sp>
        <p:nvSpPr>
          <p:cNvPr id="34" name="Google Shape;34;p2"/>
          <p:cNvSpPr/>
          <p:nvPr/>
        </p:nvSpPr>
        <p:spPr>
          <a:xfrm>
            <a:off x="566886" y="2672507"/>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Shiota and colleagues measured body angle in tethered males and source finding during free walking. A single bombykol pulse elicited the complete searching sequence in both normal moths and moths lacking a pheromone-binding protein. Thus, the sequence could persist despite altered peripheral response kinetics.</a:t>
            </a:r>
            <a:endParaRPr sz="1800">
              <a:solidFill>
                <a:schemeClr val="dk1"/>
              </a:solidFill>
              <a:latin typeface="Calibri"/>
              <a:ea typeface="Calibri"/>
              <a:cs typeface="Calibri"/>
              <a:sym typeface="Calibri"/>
            </a:endParaRPr>
          </a:p>
        </p:txBody>
      </p:sp>
      <p:sp>
        <p:nvSpPr>
          <p:cNvPr id="35" name="Google Shape;35;p2"/>
          <p:cNvSpPr/>
          <p:nvPr/>
        </p:nvSpPr>
        <p:spPr>
          <a:xfrm>
            <a:off x="566886" y="4110633"/>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At repeated stimulation rates of 0.83 and 2 Hz, mutants spent less time surging and more time turning. Detecting pheromone is therefore insufficient for efficient tracking: the sensory system must also distinguish successive encounters. These behavioral differences do not establish the identity of the central circuit generating each movement.</a:t>
            </a:r>
            <a:endParaRPr sz="1800">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3">
            <a:alphaModFix/>
          </a:blip>
          <a:srcRect b="0" l="0" r="0" t="0"/>
          <a:stretch/>
        </p:blipFill>
        <p:spPr>
          <a:xfrm>
            <a:off x="6962207" y="1280071"/>
            <a:ext cx="4158798" cy="4297561"/>
          </a:xfrm>
          <a:prstGeom prst="rect">
            <a:avLst/>
          </a:prstGeom>
          <a:noFill/>
          <a:ln>
            <a:noFill/>
          </a:ln>
        </p:spPr>
      </p:pic>
      <p:sp>
        <p:nvSpPr>
          <p:cNvPr id="37" name="Google Shape;37;p2"/>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Shiota et al. (2021), Fig. 4(A–E). Surge and turning behavior after pheromone-binding-protein loss.</a:t>
            </a:r>
            <a:endParaRPr sz="1800">
              <a:solidFill>
                <a:schemeClr val="dk1"/>
              </a:solidFill>
              <a:latin typeface="Calibri"/>
              <a:ea typeface="Calibri"/>
              <a:cs typeface="Calibri"/>
              <a:sym typeface="Calibri"/>
            </a:endParaRPr>
          </a:p>
        </p:txBody>
      </p:sp>
      <p:sp>
        <p:nvSpPr>
          <p:cNvPr id="38" name="Google Shape;38;p2"/>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Shiota et al. (2021)</a:t>
            </a:r>
            <a:endParaRPr sz="1800">
              <a:solidFill>
                <a:schemeClr val="dk1"/>
              </a:solidFill>
              <a:latin typeface="Calibri"/>
              <a:ea typeface="Calibri"/>
              <a:cs typeface="Calibri"/>
              <a:sym typeface="Calibri"/>
            </a:endParaRPr>
          </a:p>
        </p:txBody>
      </p:sp>
      <p:sp>
        <p:nvSpPr>
          <p:cNvPr id="40" name="Google Shape;40;p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02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Turbulence separates odor into intermittent strands</a:t>
            </a:r>
            <a:endParaRPr sz="1800">
              <a:solidFill>
                <a:schemeClr val="dk1"/>
              </a:solidFill>
              <a:latin typeface="Calibri"/>
              <a:ea typeface="Calibri"/>
              <a:cs typeface="Calibri"/>
              <a:sym typeface="Calibri"/>
            </a:endParaRPr>
          </a:p>
        </p:txBody>
      </p:sp>
      <p:sp>
        <p:nvSpPr>
          <p:cNvPr id="46" name="Google Shape;46;p3"/>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An </a:t>
            </a:r>
            <a:r>
              <a:rPr b="1" i="0" lang="en-US" sz="1600">
                <a:solidFill>
                  <a:srgbClr val="425B70"/>
                </a:solidFill>
                <a:latin typeface="Arial"/>
                <a:ea typeface="Arial"/>
                <a:cs typeface="Arial"/>
                <a:sym typeface="Arial"/>
              </a:rPr>
              <a:t>odor plume</a:t>
            </a:r>
            <a:r>
              <a:rPr b="0" i="0" lang="en-US" sz="1600">
                <a:solidFill>
                  <a:srgbClr val="242B31"/>
                </a:solidFill>
                <a:latin typeface="Arial"/>
                <a:ea typeface="Arial"/>
                <a:cs typeface="Arial"/>
                <a:sym typeface="Arial"/>
              </a:rPr>
              <a:t> is the distribution of odor-bearing air transported from a source. Atmospheric turbulence divides that distribution into brief encounters separated by clean-air gaps. Murlis, Willis and Cardé measured plume intermittency in an open field and a forest rather than assuming a smooth concentration gradient.</a:t>
            </a:r>
            <a:endParaRPr sz="1800">
              <a:solidFill>
                <a:schemeClr val="dk1"/>
              </a:solidFill>
              <a:latin typeface="Calibri"/>
              <a:ea typeface="Calibri"/>
              <a:cs typeface="Calibri"/>
              <a:sym typeface="Calibri"/>
            </a:endParaRPr>
          </a:p>
        </p:txBody>
      </p:sp>
      <p:sp>
        <p:nvSpPr>
          <p:cNvPr id="47" name="Google Shape;47;p3"/>
          <p:cNvSpPr/>
          <p:nvPr/>
        </p:nvSpPr>
        <p:spPr>
          <a:xfrm>
            <a:off x="566886" y="2672507"/>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The investigators released negatively charged air ions as a tracer and recorded fluctuations at downwind detectors. Signals were present only about 20% of the time in both environments. Sampling extended to 20 m downwind in the field and 10 m in the forest.</a:t>
            </a:r>
            <a:endParaRPr sz="1800">
              <a:solidFill>
                <a:schemeClr val="dk1"/>
              </a:solidFill>
              <a:latin typeface="Calibri"/>
              <a:ea typeface="Calibri"/>
              <a:cs typeface="Calibri"/>
              <a:sym typeface="Calibri"/>
            </a:endParaRPr>
          </a:p>
        </p:txBody>
      </p:sp>
      <p:sp>
        <p:nvSpPr>
          <p:cNvPr id="48" name="Google Shape;48;p3"/>
          <p:cNvSpPr/>
          <p:nvPr/>
        </p:nvSpPr>
        <p:spPr>
          <a:xfrm>
            <a:off x="566886" y="3891260"/>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These measurements establish a discontinuous physical input at the detector, not the activity of a silkmoth neuron. Ionized air approximates plume transport but is not chemically identical to pheromone. Responses to intermittent odor must therefore be interpreted in relation to both environmental structure and the sensory preparation.</a:t>
            </a:r>
            <a:endParaRPr sz="18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3">
            <a:alphaModFix/>
          </a:blip>
          <a:srcRect b="0" l="0" r="0" t="0"/>
          <a:stretch/>
        </p:blipFill>
        <p:spPr>
          <a:xfrm>
            <a:off x="6458493" y="1280071"/>
            <a:ext cx="5166227" cy="3516660"/>
          </a:xfrm>
          <a:prstGeom prst="rect">
            <a:avLst/>
          </a:prstGeom>
          <a:noFill/>
          <a:ln>
            <a:noFill/>
          </a:ln>
        </p:spPr>
      </p:pic>
      <p:sp>
        <p:nvSpPr>
          <p:cNvPr id="50" name="Google Shape;50;p3"/>
          <p:cNvSpPr/>
          <p:nvPr/>
        </p:nvSpPr>
        <p:spPr>
          <a:xfrm>
            <a:off x="6458396" y="4888260"/>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Murlis et al. (2000), Fig. 1(a–g). Intermittent ion-tracer signals at several field and forest distances.</a:t>
            </a:r>
            <a:endParaRPr sz="1800">
              <a:solidFill>
                <a:schemeClr val="dk1"/>
              </a:solidFill>
              <a:latin typeface="Calibri"/>
              <a:ea typeface="Calibri"/>
              <a:cs typeface="Calibri"/>
              <a:sym typeface="Calibri"/>
            </a:endParaRPr>
          </a:p>
        </p:txBody>
      </p:sp>
      <p:sp>
        <p:nvSpPr>
          <p:cNvPr id="51" name="Google Shape;51;p3"/>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Murlis et al. (2000)</a:t>
            </a:r>
            <a:endParaRPr sz="1800">
              <a:solidFill>
                <a:schemeClr val="dk1"/>
              </a:solidFill>
              <a:latin typeface="Calibri"/>
              <a:ea typeface="Calibri"/>
              <a:cs typeface="Calibri"/>
              <a:sym typeface="Calibri"/>
            </a:endParaRPr>
          </a:p>
        </p:txBody>
      </p:sp>
      <p:sp>
        <p:nvSpPr>
          <p:cNvPr id="53" name="Google Shape;53;p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03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Forest plumes contain longer gaps between bursts</a:t>
            </a:r>
            <a:endParaRPr sz="1800">
              <a:solidFill>
                <a:schemeClr val="dk1"/>
              </a:solidFill>
              <a:latin typeface="Calibri"/>
              <a:ea typeface="Calibri"/>
              <a:cs typeface="Calibri"/>
              <a:sym typeface="Calibri"/>
            </a:endParaRPr>
          </a:p>
        </p:txBody>
      </p:sp>
      <p:sp>
        <p:nvSpPr>
          <p:cNvPr id="59" name="Google Shape;59;p4"/>
          <p:cNvSpPr/>
          <p:nvPr/>
        </p:nvSpPr>
        <p:spPr>
          <a:xfrm>
            <a:off x="566886" y="1234380"/>
            <a:ext cx="55447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500"/>
              <a:buFont typeface="Arial"/>
              <a:buNone/>
            </a:pPr>
            <a:r>
              <a:rPr b="1" i="0" lang="en-US" sz="1500">
                <a:solidFill>
                  <a:srgbClr val="425B70"/>
                </a:solidFill>
                <a:latin typeface="Arial"/>
                <a:ea typeface="Arial"/>
                <a:cs typeface="Arial"/>
                <a:sym typeface="Arial"/>
              </a:rPr>
              <a:t>Bursts</a:t>
            </a:r>
            <a:r>
              <a:rPr b="0" i="0" lang="en-US" sz="1500">
                <a:solidFill>
                  <a:srgbClr val="242B31"/>
                </a:solidFill>
                <a:latin typeface="Arial"/>
                <a:ea typeface="Arial"/>
                <a:cs typeface="Arial"/>
                <a:sym typeface="Arial"/>
              </a:rPr>
              <a:t> are groups of closely spaced tracer peaks separated by longer gaps. Murlis and colleagues compared their timing in field and forest recordings. Although signal occupancy was about 20% in both environments, equal occupancy did not imply equal patterns of odor availability.</a:t>
            </a:r>
            <a:endParaRPr sz="1800">
              <a:solidFill>
                <a:schemeClr val="dk1"/>
              </a:solidFill>
              <a:latin typeface="Calibri"/>
              <a:ea typeface="Calibri"/>
              <a:cs typeface="Calibri"/>
              <a:sym typeface="Calibri"/>
            </a:endParaRPr>
          </a:p>
        </p:txBody>
      </p:sp>
      <p:sp>
        <p:nvSpPr>
          <p:cNvPr id="60" name="Google Shape;60;p4"/>
          <p:cNvSpPr/>
          <p:nvPr/>
        </p:nvSpPr>
        <p:spPr>
          <a:xfrm>
            <a:off x="566886" y="2377083"/>
            <a:ext cx="55447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Forest interburst gaps lasted at least three times longer than field gaps. A burst contained about seven tracer spikes in the forest and three in the field. The environment therefore changed the clustering of encounters, even when the fraction of time containing signal was similar.</a:t>
            </a:r>
            <a:endParaRPr sz="1800">
              <a:solidFill>
                <a:schemeClr val="dk1"/>
              </a:solidFill>
              <a:latin typeface="Calibri"/>
              <a:ea typeface="Calibri"/>
              <a:cs typeface="Calibri"/>
              <a:sym typeface="Calibri"/>
            </a:endParaRPr>
          </a:p>
        </p:txBody>
      </p:sp>
      <p:sp>
        <p:nvSpPr>
          <p:cNvPr id="61" name="Google Shape;61;p4"/>
          <p:cNvSpPr/>
          <p:nvPr/>
        </p:nvSpPr>
        <p:spPr>
          <a:xfrm>
            <a:off x="566886" y="3519785"/>
            <a:ext cx="55447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Longer gaps can permit searching movements to develop before odor returns. That behavioral implication follows from combining plume measurements with separate moth experiments; the tracer study itself did not identify a motor program or measure silkmoth source-finding success. A single mean concentration cannot describe the temporal challenge imposed by these plumes.</a:t>
            </a:r>
            <a:endParaRPr sz="1800">
              <a:solidFill>
                <a:schemeClr val="dk1"/>
              </a:solidFill>
              <a:latin typeface="Calibri"/>
              <a:ea typeface="Calibri"/>
              <a:cs typeface="Calibri"/>
              <a:sym typeface="Calibri"/>
            </a:endParaRPr>
          </a:p>
        </p:txBody>
      </p:sp>
      <p:pic>
        <p:nvPicPr>
          <p:cNvPr id="62" name="Google Shape;62;p4"/>
          <p:cNvPicPr preferRelativeResize="0"/>
          <p:nvPr/>
        </p:nvPicPr>
        <p:blipFill rotWithShape="1">
          <a:blip r:embed="rId3">
            <a:alphaModFix/>
          </a:blip>
          <a:srcRect b="0" l="0" r="0" t="0"/>
          <a:stretch/>
        </p:blipFill>
        <p:spPr>
          <a:xfrm>
            <a:off x="7562602" y="1280071"/>
            <a:ext cx="2958306" cy="4297561"/>
          </a:xfrm>
          <a:prstGeom prst="rect">
            <a:avLst/>
          </a:prstGeom>
          <a:noFill/>
          <a:ln>
            <a:noFill/>
          </a:ln>
        </p:spPr>
      </p:pic>
      <p:sp>
        <p:nvSpPr>
          <p:cNvPr id="63" name="Google Shape;63;p4"/>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Murlis et al. (2000), Fig. 2(a–b). Field and forest burst-length and burst-return-period distributions.</a:t>
            </a:r>
            <a:endParaRPr sz="1800">
              <a:solidFill>
                <a:schemeClr val="dk1"/>
              </a:solidFill>
              <a:latin typeface="Calibri"/>
              <a:ea typeface="Calibri"/>
              <a:cs typeface="Calibri"/>
              <a:sym typeface="Calibri"/>
            </a:endParaRPr>
          </a:p>
        </p:txBody>
      </p:sp>
      <p:sp>
        <p:nvSpPr>
          <p:cNvPr id="64" name="Google Shape;64;p4"/>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Murlis et al. (2000); Vickers &amp; Baker (1994)</a:t>
            </a:r>
            <a:endParaRPr sz="1800">
              <a:solidFill>
                <a:schemeClr val="dk1"/>
              </a:solidFill>
              <a:latin typeface="Calibri"/>
              <a:ea typeface="Calibri"/>
              <a:cs typeface="Calibri"/>
              <a:sym typeface="Calibri"/>
            </a:endParaRPr>
          </a:p>
        </p:txBody>
      </p:sp>
      <p:sp>
        <p:nvSpPr>
          <p:cNvPr id="66" name="Google Shape;66;p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04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Antennal voltage is an imperfect odor readout</a:t>
            </a:r>
            <a:endParaRPr sz="1800">
              <a:solidFill>
                <a:schemeClr val="dk1"/>
              </a:solidFill>
              <a:latin typeface="Calibri"/>
              <a:ea typeface="Calibri"/>
              <a:cs typeface="Calibri"/>
              <a:sym typeface="Calibri"/>
            </a:endParaRPr>
          </a:p>
        </p:txBody>
      </p:sp>
      <p:sp>
        <p:nvSpPr>
          <p:cNvPr id="72" name="Google Shape;72;p5"/>
          <p:cNvSpPr/>
          <p:nvPr/>
        </p:nvSpPr>
        <p:spPr>
          <a:xfrm>
            <a:off x="566886" y="1234380"/>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An </a:t>
            </a:r>
            <a:r>
              <a:rPr b="1" i="0" lang="en-US" sz="1600">
                <a:solidFill>
                  <a:srgbClr val="425B70"/>
                </a:solidFill>
                <a:latin typeface="Arial"/>
                <a:ea typeface="Arial"/>
                <a:cs typeface="Arial"/>
                <a:sym typeface="Arial"/>
              </a:rPr>
              <a:t>electroantennogram</a:t>
            </a:r>
            <a:r>
              <a:rPr b="0" i="0" lang="en-US" sz="1600">
                <a:solidFill>
                  <a:srgbClr val="242B31"/>
                </a:solidFill>
                <a:latin typeface="Arial"/>
                <a:ea typeface="Arial"/>
                <a:cs typeface="Arial"/>
                <a:sym typeface="Arial"/>
              </a:rPr>
              <a:t>, or EAG, measures the summed electrical response of an antenna to odor. Murlis and colleagues paired ion-tracer measurements with male gypsy-moth antennal responses to the pheromone disparlure. This biological comparison tested whether tracer intermittency resembled stimulation reaching an insect sensory organ.</a:t>
            </a:r>
            <a:endParaRPr sz="1800">
              <a:solidFill>
                <a:schemeClr val="dk1"/>
              </a:solidFill>
              <a:latin typeface="Calibri"/>
              <a:ea typeface="Calibri"/>
              <a:cs typeface="Calibri"/>
              <a:sym typeface="Calibri"/>
            </a:endParaRPr>
          </a:p>
        </p:txBody>
      </p:sp>
      <p:sp>
        <p:nvSpPr>
          <p:cNvPr id="73" name="Google Shape;73;p5"/>
          <p:cNvSpPr/>
          <p:nvPr/>
        </p:nvSpPr>
        <p:spPr>
          <a:xfrm>
            <a:off x="566886" y="2891879"/>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The pheromone source was positioned about 10 cm from the ion source. Ion bursts became weaker with distance, whereas EAG burst strength did not decrease in the same systematic way. Antennal responses also depended on how quickly consecutive stimuli arrived.</a:t>
            </a:r>
            <a:endParaRPr sz="1800">
              <a:solidFill>
                <a:schemeClr val="dk1"/>
              </a:solidFill>
              <a:latin typeface="Calibri"/>
              <a:ea typeface="Calibri"/>
              <a:cs typeface="Calibri"/>
              <a:sym typeface="Calibri"/>
            </a:endParaRPr>
          </a:p>
        </p:txBody>
      </p:sp>
      <p:sp>
        <p:nvSpPr>
          <p:cNvPr id="74" name="Google Shape;74;p5"/>
          <p:cNvSpPr/>
          <p:nvPr/>
        </p:nvSpPr>
        <p:spPr>
          <a:xfrm>
            <a:off x="566886" y="4110633"/>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EAG voltage is therefore not a simple linear measure of airborne pheromone concentration. Receptor sensitivity and recovery shape the recorded waveform. These gypsy-moth measurements validate aspects of plume encounter timing but cannot be assigned directly to silkmoth receptor neurons or interpreted as recordings of a central neural circuit.</a:t>
            </a:r>
            <a:endParaRPr sz="1800">
              <a:solidFill>
                <a:schemeClr val="dk1"/>
              </a:solidFill>
              <a:latin typeface="Calibri"/>
              <a:ea typeface="Calibri"/>
              <a:cs typeface="Calibri"/>
              <a:sym typeface="Calibri"/>
            </a:endParaRPr>
          </a:p>
        </p:txBody>
      </p:sp>
      <p:pic>
        <p:nvPicPr>
          <p:cNvPr id="75" name="Google Shape;75;p5"/>
          <p:cNvPicPr preferRelativeResize="0"/>
          <p:nvPr/>
        </p:nvPicPr>
        <p:blipFill rotWithShape="1">
          <a:blip r:embed="rId3">
            <a:alphaModFix/>
          </a:blip>
          <a:srcRect b="0" l="0" r="0" t="0"/>
          <a:stretch/>
        </p:blipFill>
        <p:spPr>
          <a:xfrm>
            <a:off x="7280607" y="1280071"/>
            <a:ext cx="3522148" cy="4297561"/>
          </a:xfrm>
          <a:prstGeom prst="rect">
            <a:avLst/>
          </a:prstGeom>
          <a:noFill/>
          <a:ln>
            <a:noFill/>
          </a:ln>
        </p:spPr>
      </p:pic>
      <p:sp>
        <p:nvSpPr>
          <p:cNvPr id="76" name="Google Shape;76;p5"/>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Murlis et al. (2000), Fig. 5(a–c). Ion-tracer signals compared with gypsy-moth antennal responses.</a:t>
            </a:r>
            <a:endParaRPr sz="1800">
              <a:solidFill>
                <a:schemeClr val="dk1"/>
              </a:solidFill>
              <a:latin typeface="Calibri"/>
              <a:ea typeface="Calibri"/>
              <a:cs typeface="Calibri"/>
              <a:sym typeface="Calibri"/>
            </a:endParaRPr>
          </a:p>
        </p:txBody>
      </p:sp>
      <p:sp>
        <p:nvSpPr>
          <p:cNvPr id="77" name="Google Shape;77;p5"/>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Murlis et al. (2000)</a:t>
            </a:r>
            <a:endParaRPr sz="1800">
              <a:solidFill>
                <a:schemeClr val="dk1"/>
              </a:solidFill>
              <a:latin typeface="Calibri"/>
              <a:ea typeface="Calibri"/>
              <a:cs typeface="Calibri"/>
              <a:sym typeface="Calibri"/>
            </a:endParaRPr>
          </a:p>
        </p:txBody>
      </p:sp>
      <p:sp>
        <p:nvSpPr>
          <p:cNvPr id="79" name="Google Shape;79;p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05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One odor strand evokes a short upwind surge</a:t>
            </a:r>
            <a:endParaRPr sz="1800">
              <a:solidFill>
                <a:schemeClr val="dk1"/>
              </a:solidFill>
              <a:latin typeface="Calibri"/>
              <a:ea typeface="Calibri"/>
              <a:cs typeface="Calibri"/>
              <a:sym typeface="Calibri"/>
            </a:endParaRPr>
          </a:p>
        </p:txBody>
      </p:sp>
      <p:sp>
        <p:nvSpPr>
          <p:cNvPr id="85" name="Google Shape;85;p6"/>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Vickers and Baker exposed flying male tobacco budworms, </a:t>
            </a:r>
            <a:r>
              <a:rPr b="0" i="1" lang="en-US" sz="1600">
                <a:solidFill>
                  <a:srgbClr val="242B31"/>
                </a:solidFill>
                <a:latin typeface="Arial"/>
                <a:ea typeface="Arial"/>
                <a:cs typeface="Arial"/>
                <a:sym typeface="Arial"/>
              </a:rPr>
              <a:t>Heliothis virescens</a:t>
            </a:r>
            <a:r>
              <a:rPr b="0" i="0" lang="en-US" sz="1600">
                <a:solidFill>
                  <a:srgbClr val="242B31"/>
                </a:solidFill>
                <a:latin typeface="Arial"/>
                <a:ea typeface="Arial"/>
                <a:cs typeface="Arial"/>
                <a:sym typeface="Arial"/>
              </a:rPr>
              <a:t>, to single strands of their species-specific six-component pheromone blend. After interrupting an established plume, they delivered an isolated filament and synchronized its passage with calibrated lights moving at wind speed.</a:t>
            </a:r>
            <a:endParaRPr sz="1800">
              <a:solidFill>
                <a:schemeClr val="dk1"/>
              </a:solidFill>
              <a:latin typeface="Calibri"/>
              <a:ea typeface="Calibri"/>
              <a:cs typeface="Calibri"/>
              <a:sym typeface="Calibri"/>
            </a:endParaRPr>
          </a:p>
        </p:txBody>
      </p:sp>
      <p:sp>
        <p:nvSpPr>
          <p:cNvPr id="86" name="Google Shape;86;p6"/>
          <p:cNvSpPr/>
          <p:nvPr/>
        </p:nvSpPr>
        <p:spPr>
          <a:xfrm>
            <a:off x="566886" y="2672507"/>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The average upwind surge covered 13.4 cm and lasted 0.38 s. Its onset followed odor contact by about 0.30 s. Males cast across the wind before and after the surge; no-filament control trials produced no upwind displacement by casting males.</a:t>
            </a:r>
            <a:endParaRPr sz="1800">
              <a:solidFill>
                <a:schemeClr val="dk1"/>
              </a:solidFill>
              <a:latin typeface="Calibri"/>
              <a:ea typeface="Calibri"/>
              <a:cs typeface="Calibri"/>
              <a:sym typeface="Calibri"/>
            </a:endParaRPr>
          </a:p>
        </p:txBody>
      </p:sp>
      <p:sp>
        <p:nvSpPr>
          <p:cNvPr id="87" name="Google Shape;87;p6"/>
          <p:cNvSpPr/>
          <p:nvPr/>
        </p:nvSpPr>
        <p:spPr>
          <a:xfrm>
            <a:off x="566886" y="3891260"/>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A brief sensory event can therefore trigger a motor response that outlasts the event. The measurement concerns flying tobacco budworms, not walking silkmoths, and its numerical latency must not be transferred between species. The experiment establishes the timing of behavior without identifying the neurons maintaining the response.</a:t>
            </a:r>
            <a:endParaRPr sz="1800">
              <a:solidFill>
                <a:schemeClr val="dk1"/>
              </a:solidFill>
              <a:latin typeface="Calibri"/>
              <a:ea typeface="Calibri"/>
              <a:cs typeface="Calibri"/>
              <a:sym typeface="Calibri"/>
            </a:endParaRPr>
          </a:p>
        </p:txBody>
      </p:sp>
      <p:pic>
        <p:nvPicPr>
          <p:cNvPr id="88" name="Google Shape;88;p6"/>
          <p:cNvPicPr preferRelativeResize="0"/>
          <p:nvPr/>
        </p:nvPicPr>
        <p:blipFill rotWithShape="1">
          <a:blip r:embed="rId3">
            <a:alphaModFix/>
          </a:blip>
          <a:srcRect b="0" l="0" r="0" t="0"/>
          <a:stretch/>
        </p:blipFill>
        <p:spPr>
          <a:xfrm>
            <a:off x="6458554" y="1280071"/>
            <a:ext cx="5166105" cy="1319808"/>
          </a:xfrm>
          <a:prstGeom prst="rect">
            <a:avLst/>
          </a:prstGeom>
          <a:noFill/>
          <a:ln>
            <a:noFill/>
          </a:ln>
        </p:spPr>
      </p:pic>
      <p:sp>
        <p:nvSpPr>
          <p:cNvPr id="89" name="Google Shape;89;p6"/>
          <p:cNvSpPr/>
          <p:nvPr/>
        </p:nvSpPr>
        <p:spPr>
          <a:xfrm>
            <a:off x="6458396" y="2691408"/>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Vickers &amp; Baker (1994), Fig. 1(A). Recorded flight responses to single pheromone filaments.</a:t>
            </a:r>
            <a:endParaRPr sz="1800">
              <a:solidFill>
                <a:schemeClr val="dk1"/>
              </a:solidFill>
              <a:latin typeface="Calibri"/>
              <a:ea typeface="Calibri"/>
              <a:cs typeface="Calibri"/>
              <a:sym typeface="Calibri"/>
            </a:endParaRPr>
          </a:p>
        </p:txBody>
      </p:sp>
      <p:sp>
        <p:nvSpPr>
          <p:cNvPr id="90" name="Google Shape;90;p6"/>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Vickers &amp; Baker (1994)</a:t>
            </a:r>
            <a:endParaRPr sz="1800">
              <a:solidFill>
                <a:schemeClr val="dk1"/>
              </a:solidFill>
              <a:latin typeface="Calibri"/>
              <a:ea typeface="Calibri"/>
              <a:cs typeface="Calibri"/>
              <a:sym typeface="Calibri"/>
            </a:endParaRPr>
          </a:p>
        </p:txBody>
      </p:sp>
      <p:sp>
        <p:nvSpPr>
          <p:cNvPr id="92" name="Google Shape;92;p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06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Frequent contacts sustain straighter upwind flight</a:t>
            </a:r>
            <a:endParaRPr sz="1800">
              <a:solidFill>
                <a:schemeClr val="dk1"/>
              </a:solidFill>
              <a:latin typeface="Calibri"/>
              <a:ea typeface="Calibri"/>
              <a:cs typeface="Calibri"/>
              <a:sym typeface="Calibri"/>
            </a:endParaRPr>
          </a:p>
        </p:txBody>
      </p:sp>
      <p:sp>
        <p:nvSpPr>
          <p:cNvPr id="98" name="Google Shape;98;p7"/>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Vickers and Baker varied pheromone delivery from 1 to 10 filaments/s while holding wind speed at 0.6 m/s. Each pulse lasted 20 ms, and air flow through the delivery device remained 5 mL/s. Flight trajectories were recorded from below the wind tunnel.</a:t>
            </a:r>
            <a:endParaRPr sz="1800">
              <a:solidFill>
                <a:schemeClr val="dk1"/>
              </a:solidFill>
              <a:latin typeface="Calibri"/>
              <a:ea typeface="Calibri"/>
              <a:cs typeface="Calibri"/>
              <a:sym typeface="Calibri"/>
            </a:endParaRPr>
          </a:p>
        </p:txBody>
      </p:sp>
      <p:sp>
        <p:nvSpPr>
          <p:cNvPr id="99" name="Google Shape;99;p7"/>
          <p:cNvSpPr/>
          <p:nvPr/>
        </p:nvSpPr>
        <p:spPr>
          <a:xfrm>
            <a:off x="566886" y="2453134"/>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Fewer than 4 filaments/s activated males and elicited casting but did not sustain upwind flight. At 4 filaments/s, upwind trajectories remained tortuous. At 10 filaments/s, flight was straighter and contained less crosswind casting; 5 filaments/s produced an intermediate pattern.</a:t>
            </a:r>
            <a:endParaRPr sz="1800">
              <a:solidFill>
                <a:schemeClr val="dk1"/>
              </a:solidFill>
              <a:latin typeface="Calibri"/>
              <a:ea typeface="Calibri"/>
              <a:cs typeface="Calibri"/>
              <a:sym typeface="Calibri"/>
            </a:endParaRPr>
          </a:p>
        </p:txBody>
      </p:sp>
      <p:sp>
        <p:nvSpPr>
          <p:cNvPr id="100" name="Google Shape;100;p7"/>
          <p:cNvSpPr/>
          <p:nvPr/>
        </p:nvSpPr>
        <p:spPr>
          <a:xfrm>
            <a:off x="566886" y="3671888"/>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Repeated encounters can renew forward responses before casting fully develops. Constant wind speed excludes wind-velocity changes as the explanation, although changing pulse rate also changes odor delivery through time. The experiment does not isolate every integrated-dose variable or establish an identical frequency threshold in Bombyx mori.</a:t>
            </a:r>
            <a:endParaRPr sz="1800">
              <a:solidFill>
                <a:schemeClr val="dk1"/>
              </a:solidFill>
              <a:latin typeface="Calibri"/>
              <a:ea typeface="Calibri"/>
              <a:cs typeface="Calibri"/>
              <a:sym typeface="Calibri"/>
            </a:endParaRPr>
          </a:p>
        </p:txBody>
      </p:sp>
      <p:pic>
        <p:nvPicPr>
          <p:cNvPr id="101" name="Google Shape;101;p7"/>
          <p:cNvPicPr preferRelativeResize="0"/>
          <p:nvPr/>
        </p:nvPicPr>
        <p:blipFill rotWithShape="1">
          <a:blip r:embed="rId3">
            <a:alphaModFix/>
          </a:blip>
          <a:srcRect b="0" l="0" r="0" t="0"/>
          <a:stretch/>
        </p:blipFill>
        <p:spPr>
          <a:xfrm>
            <a:off x="7505189" y="1280071"/>
            <a:ext cx="3073133" cy="4297561"/>
          </a:xfrm>
          <a:prstGeom prst="rect">
            <a:avLst/>
          </a:prstGeom>
          <a:noFill/>
          <a:ln>
            <a:noFill/>
          </a:ln>
        </p:spPr>
      </p:pic>
      <p:sp>
        <p:nvSpPr>
          <p:cNvPr id="102" name="Google Shape;102;p7"/>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Vickers &amp; Baker (1994), Fig. 2(A–B). Recorded flight tracks and heading distributions at 4 and 10 filaments/s.</a:t>
            </a:r>
            <a:endParaRPr sz="1800">
              <a:solidFill>
                <a:schemeClr val="dk1"/>
              </a:solidFill>
              <a:latin typeface="Calibri"/>
              <a:ea typeface="Calibri"/>
              <a:cs typeface="Calibri"/>
              <a:sym typeface="Calibri"/>
            </a:endParaRPr>
          </a:p>
        </p:txBody>
      </p:sp>
      <p:sp>
        <p:nvSpPr>
          <p:cNvPr id="103" name="Google Shape;103;p7"/>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Vickers &amp; Baker (1994)</a:t>
            </a:r>
            <a:endParaRPr sz="1800">
              <a:solidFill>
                <a:schemeClr val="dk1"/>
              </a:solidFill>
              <a:latin typeface="Calibri"/>
              <a:ea typeface="Calibri"/>
              <a:cs typeface="Calibri"/>
              <a:sym typeface="Calibri"/>
            </a:endParaRPr>
          </a:p>
        </p:txBody>
      </p:sp>
      <p:sp>
        <p:nvSpPr>
          <p:cNvPr id="105" name="Google Shape;105;p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07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Casting follows the loss of detectable odor</a:t>
            </a:r>
            <a:endParaRPr sz="1800">
              <a:solidFill>
                <a:schemeClr val="dk1"/>
              </a:solidFill>
              <a:latin typeface="Calibri"/>
              <a:ea typeface="Calibri"/>
              <a:cs typeface="Calibri"/>
              <a:sym typeface="Calibri"/>
            </a:endParaRPr>
          </a:p>
        </p:txBody>
      </p:sp>
      <p:sp>
        <p:nvSpPr>
          <p:cNvPr id="111" name="Google Shape;111;p8"/>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Vickers and Baker recorded local pheromone encounters during free flight using an excised third antenna mounted on a male’s thorax. Both of the animal’s own antennae remained intact. The mounted antenna supplied an EAG while synchronized video recorded the carrier’s trajectory.</a:t>
            </a:r>
            <a:endParaRPr sz="1800">
              <a:solidFill>
                <a:schemeClr val="dk1"/>
              </a:solidFill>
              <a:latin typeface="Calibri"/>
              <a:ea typeface="Calibri"/>
              <a:cs typeface="Calibri"/>
              <a:sym typeface="Calibri"/>
            </a:endParaRPr>
          </a:p>
        </p:txBody>
      </p:sp>
      <p:sp>
        <p:nvSpPr>
          <p:cNvPr id="112" name="Google Shape;112;p8"/>
          <p:cNvSpPr/>
          <p:nvPr/>
        </p:nvSpPr>
        <p:spPr>
          <a:xfrm>
            <a:off x="566886" y="2672507"/>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Casting began on average 0.30 s after the last recorded filament contact. Relatively steady upwind flight involved more frequent encounters than crosswind flight. The video and EAG records were synchronized within 0.01 s, allowing behavioral timing to be compared with local sensory exposure.</a:t>
            </a:r>
            <a:endParaRPr sz="1800">
              <a:solidFill>
                <a:schemeClr val="dk1"/>
              </a:solidFill>
              <a:latin typeface="Calibri"/>
              <a:ea typeface="Calibri"/>
              <a:cs typeface="Calibri"/>
              <a:sym typeface="Calibri"/>
            </a:endParaRPr>
          </a:p>
        </p:txBody>
      </p:sp>
      <p:sp>
        <p:nvSpPr>
          <p:cNvPr id="113" name="Google Shape;113;p8"/>
          <p:cNvSpPr/>
          <p:nvPr/>
        </p:nvSpPr>
        <p:spPr>
          <a:xfrm>
            <a:off x="566886" y="4110633"/>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Loss of intermittent input can release a different search movement without requiring the moth to detect a spatial concentration gradient. The mounted antenna sampled odor near the head but did not measure spikes in the animal’s brain. Correlated contact and movement cannot identify a specific inhibitory or excitatory central synapse.</a:t>
            </a:r>
            <a:endParaRPr sz="1800">
              <a:solidFill>
                <a:schemeClr val="dk1"/>
              </a:solidFill>
              <a:latin typeface="Calibri"/>
              <a:ea typeface="Calibri"/>
              <a:cs typeface="Calibri"/>
              <a:sym typeface="Calibri"/>
            </a:endParaRPr>
          </a:p>
        </p:txBody>
      </p:sp>
      <p:pic>
        <p:nvPicPr>
          <p:cNvPr id="114" name="Google Shape;114;p8"/>
          <p:cNvPicPr preferRelativeResize="0"/>
          <p:nvPr/>
        </p:nvPicPr>
        <p:blipFill rotWithShape="1">
          <a:blip r:embed="rId3">
            <a:alphaModFix/>
          </a:blip>
          <a:srcRect b="0" l="0" r="0" t="0"/>
          <a:stretch/>
        </p:blipFill>
        <p:spPr>
          <a:xfrm>
            <a:off x="7873305" y="1280102"/>
            <a:ext cx="2336750" cy="4297498"/>
          </a:xfrm>
          <a:prstGeom prst="rect">
            <a:avLst/>
          </a:prstGeom>
          <a:noFill/>
          <a:ln>
            <a:noFill/>
          </a:ln>
        </p:spPr>
      </p:pic>
      <p:sp>
        <p:nvSpPr>
          <p:cNvPr id="115" name="Google Shape;115;p8"/>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Vickers &amp; Baker (1994), Fig. 3(A–B). Flight paths synchronized with local electroantennogram contacts.</a:t>
            </a:r>
            <a:endParaRPr sz="1800">
              <a:solidFill>
                <a:schemeClr val="dk1"/>
              </a:solidFill>
              <a:latin typeface="Calibri"/>
              <a:ea typeface="Calibri"/>
              <a:cs typeface="Calibri"/>
              <a:sym typeface="Calibri"/>
            </a:endParaRPr>
          </a:p>
        </p:txBody>
      </p:sp>
      <p:sp>
        <p:nvSpPr>
          <p:cNvPr id="116" name="Google Shape;116;p8"/>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Vickers &amp; Baker (1994)</a:t>
            </a:r>
            <a:endParaRPr sz="1800">
              <a:solidFill>
                <a:schemeClr val="dk1"/>
              </a:solidFill>
              <a:latin typeface="Calibri"/>
              <a:ea typeface="Calibri"/>
              <a:cs typeface="Calibri"/>
              <a:sym typeface="Calibri"/>
            </a:endParaRPr>
          </a:p>
        </p:txBody>
      </p:sp>
      <p:sp>
        <p:nvSpPr>
          <p:cNvPr id="118" name="Google Shape;118;p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08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 name="Shape 122"/>
        <p:cNvGrpSpPr/>
        <p:nvPr/>
      </p:nvGrpSpPr>
      <p:grpSpPr>
        <a:xfrm>
          <a:off x="0" y="0"/>
          <a:ext cx="0" cy="0"/>
          <a:chOff x="0" y="0"/>
          <a:chExt cx="0" cy="0"/>
        </a:xfrm>
      </p:grpSpPr>
      <p:sp>
        <p:nvSpPr>
          <p:cNvPr id="123" name="Google Shape;123;p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 trackball separates odor, wind and visual inputs</a:t>
            </a:r>
            <a:endParaRPr sz="1800">
              <a:solidFill>
                <a:schemeClr val="dk1"/>
              </a:solidFill>
              <a:latin typeface="Calibri"/>
              <a:ea typeface="Calibri"/>
              <a:cs typeface="Calibri"/>
              <a:sym typeface="Calibri"/>
            </a:endParaRPr>
          </a:p>
        </p:txBody>
      </p:sp>
      <p:sp>
        <p:nvSpPr>
          <p:cNvPr id="124" name="Google Shape;124;p9"/>
          <p:cNvSpPr/>
          <p:nvPr/>
        </p:nvSpPr>
        <p:spPr>
          <a:xfrm>
            <a:off x="566886" y="1234380"/>
            <a:ext cx="55447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Yamada and colleagues studied walking male Bombyx mori using a </a:t>
            </a:r>
            <a:r>
              <a:rPr b="1" i="0" lang="en-US" sz="1500">
                <a:solidFill>
                  <a:srgbClr val="425B70"/>
                </a:solidFill>
                <a:latin typeface="Arial"/>
                <a:ea typeface="Arial"/>
                <a:cs typeface="Arial"/>
                <a:sym typeface="Arial"/>
              </a:rPr>
              <a:t>virtual reality</a:t>
            </a:r>
            <a:r>
              <a:rPr b="0" i="0" lang="en-US" sz="1500">
                <a:solidFill>
                  <a:srgbClr val="242B31"/>
                </a:solidFill>
                <a:latin typeface="Arial"/>
                <a:ea typeface="Arial"/>
                <a:cs typeface="Arial"/>
                <a:sym typeface="Arial"/>
              </a:rPr>
              <a:t> preparation: movement on a trackball updated the animal’s position in a controlled odor field. Odor ports could stimulate the two antennae independently, while wind arrived from four directions.</a:t>
            </a:r>
            <a:endParaRPr sz="1800">
              <a:solidFill>
                <a:schemeClr val="dk1"/>
              </a:solidFill>
              <a:latin typeface="Calibri"/>
              <a:ea typeface="Calibri"/>
              <a:cs typeface="Calibri"/>
              <a:sym typeface="Calibri"/>
            </a:endParaRPr>
          </a:p>
        </p:txBody>
      </p:sp>
      <p:sp>
        <p:nvSpPr>
          <p:cNvPr id="125" name="Google Shape;125;p9"/>
          <p:cNvSpPr/>
          <p:nvPr/>
        </p:nvSpPr>
        <p:spPr>
          <a:xfrm>
            <a:off x="566886" y="237708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Visual stimulation supplied </a:t>
            </a:r>
            <a:r>
              <a:rPr b="1" i="0" lang="en-US" sz="1500">
                <a:solidFill>
                  <a:srgbClr val="425B70"/>
                </a:solidFill>
                <a:latin typeface="Arial"/>
                <a:ea typeface="Arial"/>
                <a:cs typeface="Arial"/>
                <a:sym typeface="Arial"/>
              </a:rPr>
              <a:t>optic flow</a:t>
            </a:r>
            <a:r>
              <a:rPr b="0" i="0" lang="en-US" sz="1500">
                <a:solidFill>
                  <a:srgbClr val="242B31"/>
                </a:solidFill>
                <a:latin typeface="Arial"/>
                <a:ea typeface="Arial"/>
                <a:cs typeface="Arial"/>
                <a:sym typeface="Arial"/>
              </a:rPr>
              <a:t>, the movement of a visual scene associated with self-motion. Odor, wind and visual conditions could be combined or reversed independently. A search was successful when the virtual position entered a 10-mm radius around the source within 300 s.</a:t>
            </a:r>
            <a:endParaRPr sz="1800">
              <a:solidFill>
                <a:schemeClr val="dk1"/>
              </a:solidFill>
              <a:latin typeface="Calibri"/>
              <a:ea typeface="Calibri"/>
              <a:cs typeface="Calibri"/>
              <a:sym typeface="Calibri"/>
            </a:endParaRPr>
          </a:p>
        </p:txBody>
      </p:sp>
      <p:sp>
        <p:nvSpPr>
          <p:cNvPr id="126" name="Google Shape;126;p9"/>
          <p:cNvSpPr/>
          <p:nvPr/>
        </p:nvSpPr>
        <p:spPr>
          <a:xfrm>
            <a:off x="566886" y="3725466"/>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This preparation separates sensory influences that normally covary during walking. The authors compared performance with free-walking experiments, but a tethered virtual search still differs from unrestricted movement toward a real female. The experiment measures multisensory behavior rather than directly identifying the synapses that combine those cues.</a:t>
            </a:r>
            <a:endParaRPr sz="1800">
              <a:solidFill>
                <a:schemeClr val="dk1"/>
              </a:solidFill>
              <a:latin typeface="Calibri"/>
              <a:ea typeface="Calibri"/>
              <a:cs typeface="Calibri"/>
              <a:sym typeface="Calibri"/>
            </a:endParaRPr>
          </a:p>
        </p:txBody>
      </p:sp>
      <p:pic>
        <p:nvPicPr>
          <p:cNvPr id="127" name="Google Shape;127;p9"/>
          <p:cNvPicPr preferRelativeResize="0"/>
          <p:nvPr/>
        </p:nvPicPr>
        <p:blipFill rotWithShape="1">
          <a:blip r:embed="rId3">
            <a:alphaModFix/>
          </a:blip>
          <a:srcRect b="0" l="0" r="0" t="0"/>
          <a:stretch/>
        </p:blipFill>
        <p:spPr>
          <a:xfrm>
            <a:off x="7367196" y="1280071"/>
            <a:ext cx="3348970" cy="4297561"/>
          </a:xfrm>
          <a:prstGeom prst="rect">
            <a:avLst/>
          </a:prstGeom>
          <a:noFill/>
          <a:ln>
            <a:noFill/>
          </a:ln>
        </p:spPr>
      </p:pic>
      <p:sp>
        <p:nvSpPr>
          <p:cNvPr id="128" name="Google Shape;128;p9"/>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Yamada et al. (2021), Fig. 1(A–C). Photograph and published sensory-control preparation.</a:t>
            </a:r>
            <a:endParaRPr sz="1800">
              <a:solidFill>
                <a:schemeClr val="dk1"/>
              </a:solidFill>
              <a:latin typeface="Calibri"/>
              <a:ea typeface="Calibri"/>
              <a:cs typeface="Calibri"/>
              <a:sym typeface="Calibri"/>
            </a:endParaRPr>
          </a:p>
        </p:txBody>
      </p:sp>
      <p:sp>
        <p:nvSpPr>
          <p:cNvPr id="129" name="Google Shape;129;p9"/>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Yamada et al. (2021)</a:t>
            </a:r>
            <a:endParaRPr sz="1800">
              <a:solidFill>
                <a:schemeClr val="dk1"/>
              </a:solidFill>
              <a:latin typeface="Calibri"/>
              <a:ea typeface="Calibri"/>
              <a:cs typeface="Calibri"/>
              <a:sym typeface="Calibri"/>
            </a:endParaRPr>
          </a:p>
        </p:txBody>
      </p:sp>
      <p:sp>
        <p:nvSpPr>
          <p:cNvPr id="131" name="Google Shape;131;p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09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1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Wind information steers walking toward the source</a:t>
            </a:r>
            <a:endParaRPr sz="1800">
              <a:solidFill>
                <a:schemeClr val="dk1"/>
              </a:solidFill>
              <a:latin typeface="Calibri"/>
              <a:ea typeface="Calibri"/>
              <a:cs typeface="Calibri"/>
              <a:sym typeface="Calibri"/>
            </a:endParaRPr>
          </a:p>
        </p:txBody>
      </p:sp>
      <p:sp>
        <p:nvSpPr>
          <p:cNvPr id="137" name="Google Shape;137;p10"/>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In the virtual-reality study, males received odor alone, odor plus wind, or odor plus visual motion. Additional treatments reversed wind or visual direction while keeping the other available information controlled. These interventions tested the contribution of cue direction rather than simply increasing stimulation.</a:t>
            </a:r>
            <a:endParaRPr sz="1800">
              <a:solidFill>
                <a:schemeClr val="dk1"/>
              </a:solidFill>
              <a:latin typeface="Calibri"/>
              <a:ea typeface="Calibri"/>
              <a:cs typeface="Calibri"/>
              <a:sym typeface="Calibri"/>
            </a:endParaRPr>
          </a:p>
        </p:txBody>
      </p:sp>
      <p:sp>
        <p:nvSpPr>
          <p:cNvPr id="138" name="Google Shape;138;p10"/>
          <p:cNvSpPr/>
          <p:nvPr/>
        </p:nvSpPr>
        <p:spPr>
          <a:xfrm>
            <a:off x="566886" y="2672507"/>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Correctly aligned wind improved source-finding success relative to odor alone. Reversed wind reduced success and increased downwind headings. Visual motion without wind produced trajectories more similar to odor-only search than did the addition of wind.</a:t>
            </a:r>
            <a:endParaRPr sz="1800">
              <a:solidFill>
                <a:schemeClr val="dk1"/>
              </a:solidFill>
              <a:latin typeface="Calibri"/>
              <a:ea typeface="Calibri"/>
              <a:cs typeface="Calibri"/>
              <a:sym typeface="Calibri"/>
            </a:endParaRPr>
          </a:p>
        </p:txBody>
      </p:sp>
      <p:sp>
        <p:nvSpPr>
          <p:cNvPr id="139" name="Google Shape;139;p10"/>
          <p:cNvSpPr/>
          <p:nvPr/>
        </p:nvSpPr>
        <p:spPr>
          <a:xfrm>
            <a:off x="566886" y="389126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600"/>
              <a:buFont typeface="Arial"/>
              <a:buNone/>
            </a:pPr>
            <a:r>
              <a:rPr b="1" i="0" lang="en-US" sz="1600">
                <a:solidFill>
                  <a:srgbClr val="425B70"/>
                </a:solidFill>
                <a:latin typeface="Arial"/>
                <a:ea typeface="Arial"/>
                <a:cs typeface="Arial"/>
                <a:sym typeface="Arial"/>
              </a:rPr>
              <a:t>Anemotaxis</a:t>
            </a:r>
            <a:r>
              <a:rPr b="0" i="0" lang="en-US" sz="1600">
                <a:solidFill>
                  <a:srgbClr val="242B31"/>
                </a:solidFill>
                <a:latin typeface="Arial"/>
                <a:ea typeface="Arial"/>
                <a:cs typeface="Arial"/>
                <a:sym typeface="Arial"/>
              </a:rPr>
              <a:t> is orientation relative to wind. The results support a role for wind direction in silkmoth odor-guided walking, while visual effects depend on the sensory context. They do not establish that odor concentration itself supplies direction or that the animal uses one fixed search rule in every cue combination.</a:t>
            </a:r>
            <a:endParaRPr sz="1800">
              <a:solidFill>
                <a:schemeClr val="dk1"/>
              </a:solidFill>
              <a:latin typeface="Calibri"/>
              <a:ea typeface="Calibri"/>
              <a:cs typeface="Calibri"/>
              <a:sym typeface="Calibri"/>
            </a:endParaRPr>
          </a:p>
        </p:txBody>
      </p:sp>
      <p:pic>
        <p:nvPicPr>
          <p:cNvPr id="140" name="Google Shape;140;p10"/>
          <p:cNvPicPr preferRelativeResize="0"/>
          <p:nvPr/>
        </p:nvPicPr>
        <p:blipFill rotWithShape="1">
          <a:blip r:embed="rId3">
            <a:alphaModFix/>
          </a:blip>
          <a:srcRect b="0" l="0" r="0" t="0"/>
          <a:stretch/>
        </p:blipFill>
        <p:spPr>
          <a:xfrm>
            <a:off x="6458509" y="1280071"/>
            <a:ext cx="5166195" cy="3704630"/>
          </a:xfrm>
          <a:prstGeom prst="rect">
            <a:avLst/>
          </a:prstGeom>
          <a:noFill/>
          <a:ln>
            <a:noFill/>
          </a:ln>
        </p:spPr>
      </p:pic>
      <p:sp>
        <p:nvSpPr>
          <p:cNvPr id="141" name="Google Shape;141;p10"/>
          <p:cNvSpPr/>
          <p:nvPr/>
        </p:nvSpPr>
        <p:spPr>
          <a:xfrm>
            <a:off x="6458396" y="5076230"/>
            <a:ext cx="51854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Yamada et al. (2021), Fig. 2(A–F). Walking paths with odor, wind and visual treatments.</a:t>
            </a:r>
            <a:endParaRPr sz="1800">
              <a:solidFill>
                <a:schemeClr val="dk1"/>
              </a:solidFill>
              <a:latin typeface="Calibri"/>
              <a:ea typeface="Calibri"/>
              <a:cs typeface="Calibri"/>
              <a:sym typeface="Calibri"/>
            </a:endParaRPr>
          </a:p>
        </p:txBody>
      </p:sp>
      <p:sp>
        <p:nvSpPr>
          <p:cNvPr id="142" name="Google Shape;142;p10"/>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1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Yamada et al. (2021)</a:t>
            </a:r>
            <a:endParaRPr sz="1800">
              <a:solidFill>
                <a:schemeClr val="dk1"/>
              </a:solidFill>
              <a:latin typeface="Calibri"/>
              <a:ea typeface="Calibri"/>
              <a:cs typeface="Calibri"/>
              <a:sym typeface="Calibri"/>
            </a:endParaRPr>
          </a:p>
        </p:txBody>
      </p:sp>
      <p:sp>
        <p:nvSpPr>
          <p:cNvPr id="144" name="Google Shape;144;p1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p1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Bombykol detection begins in antennal sensory hairs</a:t>
            </a:r>
            <a:endParaRPr sz="1800">
              <a:solidFill>
                <a:schemeClr val="dk1"/>
              </a:solidFill>
              <a:latin typeface="Calibri"/>
              <a:ea typeface="Calibri"/>
              <a:cs typeface="Calibri"/>
              <a:sym typeface="Calibri"/>
            </a:endParaRPr>
          </a:p>
        </p:txBody>
      </p:sp>
      <p:sp>
        <p:nvSpPr>
          <p:cNvPr id="150" name="Google Shape;150;p11"/>
          <p:cNvSpPr/>
          <p:nvPr/>
        </p:nvSpPr>
        <p:spPr>
          <a:xfrm>
            <a:off x="566886" y="1234380"/>
            <a:ext cx="55447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500"/>
              <a:buFont typeface="Arial"/>
              <a:buNone/>
            </a:pPr>
            <a:r>
              <a:rPr b="1" i="0" lang="en-US" sz="1500">
                <a:solidFill>
                  <a:srgbClr val="425B70"/>
                </a:solidFill>
                <a:latin typeface="Arial"/>
                <a:ea typeface="Arial"/>
                <a:cs typeface="Arial"/>
                <a:sym typeface="Arial"/>
              </a:rPr>
              <a:t>Olfactory receptor neurons</a:t>
            </a:r>
            <a:r>
              <a:rPr b="0" i="0" lang="en-US" sz="1500">
                <a:solidFill>
                  <a:srgbClr val="242B31"/>
                </a:solidFill>
                <a:latin typeface="Arial"/>
                <a:ea typeface="Arial"/>
                <a:cs typeface="Arial"/>
                <a:sym typeface="Arial"/>
              </a:rPr>
              <a:t>, or ORNs, are sensory cells that convert odor exposure into electrical activity. In male Bombyx mori, long </a:t>
            </a:r>
            <a:r>
              <a:rPr b="1" i="0" lang="en-US" sz="1500">
                <a:solidFill>
                  <a:srgbClr val="425B70"/>
                </a:solidFill>
                <a:latin typeface="Arial"/>
                <a:ea typeface="Arial"/>
                <a:cs typeface="Arial"/>
                <a:sym typeface="Arial"/>
              </a:rPr>
              <a:t>sensilla trichodea</a:t>
            </a:r>
            <a:r>
              <a:rPr b="0" i="0" lang="en-US" sz="1500">
                <a:solidFill>
                  <a:srgbClr val="242B31"/>
                </a:solidFill>
                <a:latin typeface="Arial"/>
                <a:ea typeface="Arial"/>
                <a:cs typeface="Arial"/>
                <a:sym typeface="Arial"/>
              </a:rPr>
              <a:t>, hairlike structures on the antenna, house paired pheromone-responsive neurons. Their sensory endings contact the fluid inside each sensillum.</a:t>
            </a:r>
            <a:endParaRPr sz="1800">
              <a:solidFill>
                <a:schemeClr val="dk1"/>
              </a:solidFill>
              <a:latin typeface="Calibri"/>
              <a:ea typeface="Calibri"/>
              <a:cs typeface="Calibri"/>
              <a:sym typeface="Calibri"/>
            </a:endParaRPr>
          </a:p>
        </p:txBody>
      </p:sp>
      <p:sp>
        <p:nvSpPr>
          <p:cNvPr id="151" name="Google Shape;151;p11"/>
          <p:cNvSpPr/>
          <p:nvPr/>
        </p:nvSpPr>
        <p:spPr>
          <a:xfrm>
            <a:off x="566886" y="2377083"/>
            <a:ext cx="55447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Sakurai and colleagues used receptor-gene expression, fluorescent labeling and in situ hybridization to identify the bombykol-responsive population. </a:t>
            </a:r>
            <a:r>
              <a:rPr b="1" i="0" lang="en-US" sz="1500">
                <a:solidFill>
                  <a:srgbClr val="425B70"/>
                </a:solidFill>
                <a:latin typeface="Arial"/>
                <a:ea typeface="Arial"/>
                <a:cs typeface="Arial"/>
                <a:sym typeface="Arial"/>
              </a:rPr>
              <a:t>BmOR1</a:t>
            </a:r>
            <a:r>
              <a:rPr b="0" i="0" lang="en-US" sz="1500">
                <a:solidFill>
                  <a:srgbClr val="242B31"/>
                </a:solidFill>
                <a:latin typeface="Arial"/>
                <a:ea typeface="Arial"/>
                <a:cs typeface="Arial"/>
                <a:sym typeface="Arial"/>
              </a:rPr>
              <a:t> is the ligand-selective receptor expressed by these neurons; the neighboring bombykal-responsive neuron expresses BmOR3. Bombykal is the corresponding aldehyde rather than the alcohol bombykol.</a:t>
            </a:r>
            <a:endParaRPr sz="1800">
              <a:solidFill>
                <a:schemeClr val="dk1"/>
              </a:solidFill>
              <a:latin typeface="Calibri"/>
              <a:ea typeface="Calibri"/>
              <a:cs typeface="Calibri"/>
              <a:sym typeface="Calibri"/>
            </a:endParaRPr>
          </a:p>
        </p:txBody>
      </p:sp>
      <p:sp>
        <p:nvSpPr>
          <p:cNvPr id="152" name="Google Shape;152;p11"/>
          <p:cNvSpPr/>
          <p:nvPr/>
        </p:nvSpPr>
        <p:spPr>
          <a:xfrm>
            <a:off x="566886" y="3931146"/>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The separate receptor populations distinguish chemical channels before central processing. Expression and localization establish cell identity but do not by themselves measure ion flow or explain the behavioral meaning assigned to each channel. Those functions require electrophysiological and behavioral tests of the identified sensory population.</a:t>
            </a:r>
            <a:endParaRPr sz="1800">
              <a:solidFill>
                <a:schemeClr val="dk1"/>
              </a:solidFill>
              <a:latin typeface="Calibri"/>
              <a:ea typeface="Calibri"/>
              <a:cs typeface="Calibri"/>
              <a:sym typeface="Calibri"/>
            </a:endParaRPr>
          </a:p>
        </p:txBody>
      </p:sp>
      <p:pic>
        <p:nvPicPr>
          <p:cNvPr id="153" name="Google Shape;153;p11"/>
          <p:cNvPicPr preferRelativeResize="0"/>
          <p:nvPr/>
        </p:nvPicPr>
        <p:blipFill rotWithShape="1">
          <a:blip r:embed="rId3">
            <a:alphaModFix/>
          </a:blip>
          <a:srcRect b="0" l="0" r="0" t="0"/>
          <a:stretch/>
        </p:blipFill>
        <p:spPr>
          <a:xfrm>
            <a:off x="6458468" y="1280071"/>
            <a:ext cx="5166277" cy="3603724"/>
          </a:xfrm>
          <a:prstGeom prst="rect">
            <a:avLst/>
          </a:prstGeom>
          <a:noFill/>
          <a:ln>
            <a:noFill/>
          </a:ln>
        </p:spPr>
      </p:pic>
      <p:sp>
        <p:nvSpPr>
          <p:cNvPr id="154" name="Google Shape;154;p11"/>
          <p:cNvSpPr/>
          <p:nvPr/>
        </p:nvSpPr>
        <p:spPr>
          <a:xfrm>
            <a:off x="6458396" y="4975324"/>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1(A–D). Receptor expression and sensory-cell localization in the antenna.</a:t>
            </a:r>
            <a:endParaRPr sz="1800">
              <a:solidFill>
                <a:schemeClr val="dk1"/>
              </a:solidFill>
              <a:latin typeface="Calibri"/>
              <a:ea typeface="Calibri"/>
              <a:cs typeface="Calibri"/>
              <a:sym typeface="Calibri"/>
            </a:endParaRPr>
          </a:p>
        </p:txBody>
      </p:sp>
      <p:sp>
        <p:nvSpPr>
          <p:cNvPr id="155" name="Google Shape;155;p11"/>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1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Sakurai et al. (2011)</a:t>
            </a:r>
            <a:endParaRPr sz="1800">
              <a:solidFill>
                <a:schemeClr val="dk1"/>
              </a:solidFill>
              <a:latin typeface="Calibri"/>
              <a:ea typeface="Calibri"/>
              <a:cs typeface="Calibri"/>
              <a:sym typeface="Calibri"/>
            </a:endParaRPr>
          </a:p>
        </p:txBody>
      </p:sp>
      <p:sp>
        <p:nvSpPr>
          <p:cNvPr id="157" name="Google Shape;157;p1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p1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Distinct receptor neurons resolve pheromone identity</a:t>
            </a:r>
            <a:endParaRPr sz="1800">
              <a:solidFill>
                <a:schemeClr val="dk1"/>
              </a:solidFill>
              <a:latin typeface="Calibri"/>
              <a:ea typeface="Calibri"/>
              <a:cs typeface="Calibri"/>
              <a:sym typeface="Calibri"/>
            </a:endParaRPr>
          </a:p>
        </p:txBody>
      </p:sp>
      <p:sp>
        <p:nvSpPr>
          <p:cNvPr id="163" name="Google Shape;163;p12"/>
          <p:cNvSpPr/>
          <p:nvPr/>
        </p:nvSpPr>
        <p:spPr>
          <a:xfrm>
            <a:off x="566886" y="1234380"/>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A </a:t>
            </a:r>
            <a:r>
              <a:rPr b="1" i="0" lang="en-US" sz="1600">
                <a:solidFill>
                  <a:srgbClr val="425B70"/>
                </a:solidFill>
                <a:latin typeface="Arial"/>
                <a:ea typeface="Arial"/>
                <a:cs typeface="Arial"/>
                <a:sym typeface="Arial"/>
              </a:rPr>
              <a:t>single-sensillum recording</a:t>
            </a:r>
            <a:r>
              <a:rPr b="0" i="0" lang="en-US" sz="1600">
                <a:solidFill>
                  <a:srgbClr val="242B31"/>
                </a:solidFill>
                <a:latin typeface="Arial"/>
                <a:ea typeface="Arial"/>
                <a:cs typeface="Arial"/>
                <a:sym typeface="Arial"/>
              </a:rPr>
              <a:t> measures spikes near the sensory neurons housed in one antennal hair. Sakurai and colleagues distinguished the large-amplitude spikes of the bombykol neuron from the smaller spikes of the bombykal neuron while presenting chemically different ligands.</a:t>
            </a:r>
            <a:endParaRPr sz="1800">
              <a:solidFill>
                <a:schemeClr val="dk1"/>
              </a:solidFill>
              <a:latin typeface="Calibri"/>
              <a:ea typeface="Calibri"/>
              <a:cs typeface="Calibri"/>
              <a:sym typeface="Calibri"/>
            </a:endParaRPr>
          </a:p>
        </p:txBody>
      </p:sp>
      <p:sp>
        <p:nvSpPr>
          <p:cNvPr id="164" name="Google Shape;164;p12"/>
          <p:cNvSpPr/>
          <p:nvPr/>
        </p:nvSpPr>
        <p:spPr>
          <a:xfrm>
            <a:off x="566886" y="2672507"/>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Control males responded through the bombykol channel to bombykol but not to the diamondback-moth ligand Z11-16:Ald. Introducing its receptor, PxOR1, into BmOR1-expressing neurons added responses to that aldehyde while retaining the original bombykol response.</a:t>
            </a:r>
            <a:endParaRPr sz="1800">
              <a:solidFill>
                <a:schemeClr val="dk1"/>
              </a:solidFill>
              <a:latin typeface="Calibri"/>
              <a:ea typeface="Calibri"/>
              <a:cs typeface="Calibri"/>
              <a:sym typeface="Calibri"/>
            </a:endParaRPr>
          </a:p>
        </p:txBody>
      </p:sp>
      <p:sp>
        <p:nvSpPr>
          <p:cNvPr id="165" name="Google Shape;165;p12"/>
          <p:cNvSpPr/>
          <p:nvPr/>
        </p:nvSpPr>
        <p:spPr>
          <a:xfrm>
            <a:off x="566886" y="4110633"/>
            <a:ext cx="53161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The manipulation changed which chemical could excite an existing sensory channel. It did not convert the neighboring bombykal neuron or establish that all antennal hairs respond identically. Spike amplitude separates recorded units in this preparation; amplitude alone is not a universal molecular signature of a receptor.</a:t>
            </a:r>
            <a:endParaRPr sz="1800">
              <a:solidFill>
                <a:schemeClr val="dk1"/>
              </a:solidFill>
              <a:latin typeface="Calibri"/>
              <a:ea typeface="Calibri"/>
              <a:cs typeface="Calibri"/>
              <a:sym typeface="Calibri"/>
            </a:endParaRPr>
          </a:p>
        </p:txBody>
      </p:sp>
      <p:pic>
        <p:nvPicPr>
          <p:cNvPr id="166" name="Google Shape;166;p12"/>
          <p:cNvPicPr preferRelativeResize="0"/>
          <p:nvPr/>
        </p:nvPicPr>
        <p:blipFill rotWithShape="1">
          <a:blip r:embed="rId3">
            <a:alphaModFix/>
          </a:blip>
          <a:srcRect b="0" l="0" r="0" t="0"/>
          <a:stretch/>
        </p:blipFill>
        <p:spPr>
          <a:xfrm>
            <a:off x="7580744" y="1280071"/>
            <a:ext cx="2693422" cy="2925961"/>
          </a:xfrm>
          <a:prstGeom prst="rect">
            <a:avLst/>
          </a:prstGeom>
          <a:noFill/>
          <a:ln>
            <a:noFill/>
          </a:ln>
        </p:spPr>
      </p:pic>
      <p:sp>
        <p:nvSpPr>
          <p:cNvPr id="167" name="Google Shape;167;p12"/>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2(A–D). Chemical selectivity and single-sensillum responses after receptor addition.</a:t>
            </a:r>
            <a:endParaRPr sz="1800">
              <a:solidFill>
                <a:schemeClr val="dk1"/>
              </a:solidFill>
              <a:latin typeface="Calibri"/>
              <a:ea typeface="Calibri"/>
              <a:cs typeface="Calibri"/>
              <a:sym typeface="Calibri"/>
            </a:endParaRPr>
          </a:p>
        </p:txBody>
      </p:sp>
      <p:pic>
        <p:nvPicPr>
          <p:cNvPr id="168" name="Google Shape;168;p12"/>
          <p:cNvPicPr preferRelativeResize="0"/>
          <p:nvPr/>
        </p:nvPicPr>
        <p:blipFill rotWithShape="1">
          <a:blip r:embed="rId4">
            <a:alphaModFix/>
          </a:blip>
          <a:srcRect b="0" l="0" r="0" t="0"/>
          <a:stretch/>
        </p:blipFill>
        <p:spPr>
          <a:xfrm>
            <a:off x="8206532" y="4754773"/>
            <a:ext cx="1441847" cy="1005757"/>
          </a:xfrm>
          <a:prstGeom prst="rect">
            <a:avLst/>
          </a:prstGeom>
          <a:noFill/>
          <a:ln>
            <a:noFill/>
          </a:ln>
        </p:spPr>
      </p:pic>
      <p:sp>
        <p:nvSpPr>
          <p:cNvPr id="169" name="Google Shape;169;p12"/>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1(A–D). Receptor expression and sensory-cell localization in the antenna.</a:t>
            </a:r>
            <a:endParaRPr sz="1800">
              <a:solidFill>
                <a:schemeClr val="dk1"/>
              </a:solidFill>
              <a:latin typeface="Calibri"/>
              <a:ea typeface="Calibri"/>
              <a:cs typeface="Calibri"/>
              <a:sym typeface="Calibri"/>
            </a:endParaRPr>
          </a:p>
        </p:txBody>
      </p:sp>
      <p:sp>
        <p:nvSpPr>
          <p:cNvPr id="170" name="Google Shape;170;p12"/>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1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Sakurai et al. (2011)</a:t>
            </a:r>
            <a:endParaRPr sz="1800">
              <a:solidFill>
                <a:schemeClr val="dk1"/>
              </a:solidFill>
              <a:latin typeface="Calibri"/>
              <a:ea typeface="Calibri"/>
              <a:cs typeface="Calibri"/>
              <a:sym typeface="Calibri"/>
            </a:endParaRPr>
          </a:p>
        </p:txBody>
      </p:sp>
      <p:sp>
        <p:nvSpPr>
          <p:cNvPr id="172" name="Google Shape;172;p1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 name="Shape 176"/>
        <p:cNvGrpSpPr/>
        <p:nvPr/>
      </p:nvGrpSpPr>
      <p:grpSpPr>
        <a:xfrm>
          <a:off x="0" y="0"/>
          <a:ext cx="0" cy="0"/>
          <a:chOff x="0" y="0"/>
          <a:chExt cx="0" cy="0"/>
        </a:xfrm>
      </p:grpSpPr>
      <p:sp>
        <p:nvSpPr>
          <p:cNvPr id="177" name="Google Shape;177;p1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 foreign receptor adds a new sensory response</a:t>
            </a:r>
            <a:endParaRPr sz="1800">
              <a:solidFill>
                <a:schemeClr val="dk1"/>
              </a:solidFill>
              <a:latin typeface="Calibri"/>
              <a:ea typeface="Calibri"/>
              <a:cs typeface="Calibri"/>
              <a:sym typeface="Calibri"/>
            </a:endParaRPr>
          </a:p>
        </p:txBody>
      </p:sp>
      <p:sp>
        <p:nvSpPr>
          <p:cNvPr id="178" name="Google Shape;178;p13"/>
          <p:cNvSpPr/>
          <p:nvPr/>
        </p:nvSpPr>
        <p:spPr>
          <a:xfrm>
            <a:off x="566886" y="1234380"/>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Sakurai and colleagues used the </a:t>
            </a:r>
            <a:r>
              <a:rPr b="1" i="0" lang="en-US" sz="1600">
                <a:solidFill>
                  <a:srgbClr val="425B70"/>
                </a:solidFill>
                <a:latin typeface="Arial"/>
                <a:ea typeface="Arial"/>
                <a:cs typeface="Arial"/>
                <a:sym typeface="Arial"/>
              </a:rPr>
              <a:t>GAL4/UAS system</a:t>
            </a:r>
            <a:r>
              <a:rPr b="0" i="0" lang="en-US" sz="1600">
                <a:solidFill>
                  <a:srgbClr val="242B31"/>
                </a:solidFill>
                <a:latin typeface="Arial"/>
                <a:ea typeface="Arial"/>
                <a:cs typeface="Arial"/>
                <a:sym typeface="Arial"/>
              </a:rPr>
              <a:t>, a genetic driver-and-target arrangement, to express PxOR1 in Bombyx bombykol-responsive neurons. PxOR1 was added alongside the native receptor rather than replacing or deleting BmOR1. Males bearing only one genetic component served as controls.</a:t>
            </a:r>
            <a:endParaRPr sz="1800">
              <a:solidFill>
                <a:schemeClr val="dk1"/>
              </a:solidFill>
              <a:latin typeface="Calibri"/>
              <a:ea typeface="Calibri"/>
              <a:cs typeface="Calibri"/>
              <a:sym typeface="Calibri"/>
            </a:endParaRPr>
          </a:p>
        </p:txBody>
      </p:sp>
      <p:sp>
        <p:nvSpPr>
          <p:cNvPr id="179" name="Google Shape;179;p13"/>
          <p:cNvSpPr/>
          <p:nvPr/>
        </p:nvSpPr>
        <p:spPr>
          <a:xfrm>
            <a:off x="566886" y="2672507"/>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The manipulated neurons gained responses to Z11-16:Ald but not the corresponding tested acetate and alcohol compounds. Dose-response recordings retained responsiveness to bombykol. The added receptor’s transcript abundance was approximately ten times lower than that of native BmOR1.</a:t>
            </a:r>
            <a:endParaRPr sz="1800">
              <a:solidFill>
                <a:schemeClr val="dk1"/>
              </a:solidFill>
              <a:latin typeface="Calibri"/>
              <a:ea typeface="Calibri"/>
              <a:cs typeface="Calibri"/>
              <a:sym typeface="Calibri"/>
            </a:endParaRPr>
          </a:p>
        </p:txBody>
      </p:sp>
      <p:sp>
        <p:nvSpPr>
          <p:cNvPr id="180" name="Google Shape;180;p13"/>
          <p:cNvSpPr/>
          <p:nvPr/>
        </p:nvSpPr>
        <p:spPr>
          <a:xfrm>
            <a:off x="566886" y="4110633"/>
            <a:ext cx="53161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Chemical selectivity can therefore change without changing the identity of the sensory pathway. Lower expression may contribute to differing response thresholds, but transcript abundance is not a direct count of functioning channels at the membrane. The experiment does not establish that receptor proteins themselves encode the motor sequence.</a:t>
            </a:r>
            <a:endParaRPr sz="1800">
              <a:solidFill>
                <a:schemeClr val="dk1"/>
              </a:solidFill>
              <a:latin typeface="Calibri"/>
              <a:ea typeface="Calibri"/>
              <a:cs typeface="Calibri"/>
              <a:sym typeface="Calibri"/>
            </a:endParaRPr>
          </a:p>
        </p:txBody>
      </p:sp>
      <p:pic>
        <p:nvPicPr>
          <p:cNvPr id="181" name="Google Shape;181;p13"/>
          <p:cNvPicPr preferRelativeResize="0"/>
          <p:nvPr/>
        </p:nvPicPr>
        <p:blipFill rotWithShape="1">
          <a:blip r:embed="rId3">
            <a:alphaModFix/>
          </a:blip>
          <a:srcRect b="0" l="0" r="0" t="0"/>
          <a:stretch/>
        </p:blipFill>
        <p:spPr>
          <a:xfrm>
            <a:off x="7580744" y="1280071"/>
            <a:ext cx="2693422" cy="2925961"/>
          </a:xfrm>
          <a:prstGeom prst="rect">
            <a:avLst/>
          </a:prstGeom>
          <a:noFill/>
          <a:ln>
            <a:noFill/>
          </a:ln>
        </p:spPr>
      </p:pic>
      <p:sp>
        <p:nvSpPr>
          <p:cNvPr id="182" name="Google Shape;182;p13"/>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2(A–D). Chemical selectivity and single-sensillum responses after receptor addition.</a:t>
            </a:r>
            <a:endParaRPr sz="1800">
              <a:solidFill>
                <a:schemeClr val="dk1"/>
              </a:solidFill>
              <a:latin typeface="Calibri"/>
              <a:ea typeface="Calibri"/>
              <a:cs typeface="Calibri"/>
              <a:sym typeface="Calibri"/>
            </a:endParaRPr>
          </a:p>
        </p:txBody>
      </p:sp>
      <p:pic>
        <p:nvPicPr>
          <p:cNvPr id="183" name="Google Shape;183;p13"/>
          <p:cNvPicPr preferRelativeResize="0"/>
          <p:nvPr/>
        </p:nvPicPr>
        <p:blipFill rotWithShape="1">
          <a:blip r:embed="rId4">
            <a:alphaModFix/>
          </a:blip>
          <a:srcRect b="0" l="0" r="0" t="0"/>
          <a:stretch/>
        </p:blipFill>
        <p:spPr>
          <a:xfrm>
            <a:off x="8206532" y="4754773"/>
            <a:ext cx="1441847" cy="1005757"/>
          </a:xfrm>
          <a:prstGeom prst="rect">
            <a:avLst/>
          </a:prstGeom>
          <a:noFill/>
          <a:ln>
            <a:noFill/>
          </a:ln>
        </p:spPr>
      </p:pic>
      <p:sp>
        <p:nvSpPr>
          <p:cNvPr id="184" name="Google Shape;184;p13"/>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1(A–D). Receptor expression and sensory-cell localization in the antenna.</a:t>
            </a:r>
            <a:endParaRPr sz="1800">
              <a:solidFill>
                <a:schemeClr val="dk1"/>
              </a:solidFill>
              <a:latin typeface="Calibri"/>
              <a:ea typeface="Calibri"/>
              <a:cs typeface="Calibri"/>
              <a:sym typeface="Calibri"/>
            </a:endParaRPr>
          </a:p>
        </p:txBody>
      </p:sp>
      <p:sp>
        <p:nvSpPr>
          <p:cNvPr id="185" name="Google Shape;185;p13"/>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1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Sakurai et al. (2011)</a:t>
            </a:r>
            <a:endParaRPr sz="1800">
              <a:solidFill>
                <a:schemeClr val="dk1"/>
              </a:solidFill>
              <a:latin typeface="Calibri"/>
              <a:ea typeface="Calibri"/>
              <a:cs typeface="Calibri"/>
              <a:sym typeface="Calibri"/>
            </a:endParaRPr>
          </a:p>
        </p:txBody>
      </p:sp>
      <p:sp>
        <p:nvSpPr>
          <p:cNvPr id="187" name="Google Shape;187;p1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 name="Shape 191"/>
        <p:cNvGrpSpPr/>
        <p:nvPr/>
      </p:nvGrpSpPr>
      <p:grpSpPr>
        <a:xfrm>
          <a:off x="0" y="0"/>
          <a:ext cx="0" cy="0"/>
          <a:chOff x="0" y="0"/>
          <a:chExt cx="0" cy="0"/>
        </a:xfrm>
      </p:grpSpPr>
      <p:sp>
        <p:nvSpPr>
          <p:cNvPr id="192" name="Google Shape;192;p1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Receptor addition changes mate-search initiation</a:t>
            </a:r>
            <a:endParaRPr sz="1800">
              <a:solidFill>
                <a:schemeClr val="dk1"/>
              </a:solidFill>
              <a:latin typeface="Calibri"/>
              <a:ea typeface="Calibri"/>
              <a:cs typeface="Calibri"/>
              <a:sym typeface="Calibri"/>
            </a:endParaRPr>
          </a:p>
        </p:txBody>
      </p:sp>
      <p:sp>
        <p:nvSpPr>
          <p:cNvPr id="193" name="Google Shape;193;p14"/>
          <p:cNvSpPr/>
          <p:nvPr/>
        </p:nvSpPr>
        <p:spPr>
          <a:xfrm>
            <a:off x="566886" y="1234380"/>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Sakurai and colleagues tested whether the newly detected aldehyde could activate behavior through the bombykol pathway. Transgenic males expressing PxOR1 in BmOR1 neurons initiated wing flapping and pheromone-search walking in response to Z11-16:Ald. Parental genetic controls did not acquire that response.</a:t>
            </a:r>
            <a:endParaRPr sz="1800">
              <a:solidFill>
                <a:schemeClr val="dk1"/>
              </a:solidFill>
              <a:latin typeface="Calibri"/>
              <a:ea typeface="Calibri"/>
              <a:cs typeface="Calibri"/>
              <a:sym typeface="Calibri"/>
            </a:endParaRPr>
          </a:p>
        </p:txBody>
      </p:sp>
      <p:sp>
        <p:nvSpPr>
          <p:cNvPr id="194" name="Google Shape;194;p14"/>
          <p:cNvSpPr/>
          <p:nvPr/>
        </p:nvSpPr>
        <p:spPr>
          <a:xfrm>
            <a:off x="566886" y="258276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Walking trajectories after the new ligand included the characteristic searching sequence. The manipulated males also attempted copulation with diamondback-moth females while retaining responsiveness to bombykol. Chemical recognition was altered without replacing the male’s existing central sensory-to-motor pathway.</a:t>
            </a:r>
            <a:endParaRPr sz="1800">
              <a:solidFill>
                <a:schemeClr val="dk1"/>
              </a:solidFill>
              <a:latin typeface="Calibri"/>
              <a:ea typeface="Calibri"/>
              <a:cs typeface="Calibri"/>
              <a:sym typeface="Calibri"/>
            </a:endParaRPr>
          </a:p>
        </p:txBody>
      </p:sp>
      <p:sp>
        <p:nvSpPr>
          <p:cNvPr id="195" name="Google Shape;195;p14"/>
          <p:cNvSpPr/>
          <p:nvPr/>
        </p:nvSpPr>
        <p:spPr>
          <a:xfrm>
            <a:off x="566886" y="3931146"/>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The behavioral result connects receptor-neuron activation to initiation of a species-typical program. It does not imply that the foreign receptor contains a walking algorithm or that every aspect of successful reproduction was transferred. The central interpretation depends on the identity of the activated channel as well as the molecule detected.</a:t>
            </a:r>
            <a:endParaRPr sz="1800">
              <a:solidFill>
                <a:schemeClr val="dk1"/>
              </a:solidFill>
              <a:latin typeface="Calibri"/>
              <a:ea typeface="Calibri"/>
              <a:cs typeface="Calibri"/>
              <a:sym typeface="Calibri"/>
            </a:endParaRPr>
          </a:p>
        </p:txBody>
      </p:sp>
      <p:pic>
        <p:nvPicPr>
          <p:cNvPr id="196" name="Google Shape;196;p14"/>
          <p:cNvPicPr preferRelativeResize="0"/>
          <p:nvPr/>
        </p:nvPicPr>
        <p:blipFill rotWithShape="1">
          <a:blip r:embed="rId3">
            <a:alphaModFix/>
          </a:blip>
          <a:srcRect b="0" l="0" r="0" t="0"/>
          <a:stretch/>
        </p:blipFill>
        <p:spPr>
          <a:xfrm>
            <a:off x="6577865" y="1280071"/>
            <a:ext cx="4927780" cy="4297561"/>
          </a:xfrm>
          <a:prstGeom prst="rect">
            <a:avLst/>
          </a:prstGeom>
          <a:noFill/>
          <a:ln>
            <a:noFill/>
          </a:ln>
        </p:spPr>
      </p:pic>
      <p:sp>
        <p:nvSpPr>
          <p:cNvPr id="197" name="Google Shape;197;p14"/>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3(A–C). Behavioral responses and walking turns to the newly detected ligand.</a:t>
            </a:r>
            <a:endParaRPr sz="1800">
              <a:solidFill>
                <a:schemeClr val="dk1"/>
              </a:solidFill>
              <a:latin typeface="Calibri"/>
              <a:ea typeface="Calibri"/>
              <a:cs typeface="Calibri"/>
              <a:sym typeface="Calibri"/>
            </a:endParaRPr>
          </a:p>
        </p:txBody>
      </p:sp>
      <p:sp>
        <p:nvSpPr>
          <p:cNvPr id="198" name="Google Shape;198;p14"/>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1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Sakurai et al. (2011)</a:t>
            </a:r>
            <a:endParaRPr sz="1800">
              <a:solidFill>
                <a:schemeClr val="dk1"/>
              </a:solidFill>
              <a:latin typeface="Calibri"/>
              <a:ea typeface="Calibri"/>
              <a:cs typeface="Calibri"/>
              <a:sym typeface="Calibri"/>
            </a:endParaRPr>
          </a:p>
        </p:txBody>
      </p:sp>
      <p:sp>
        <p:nvSpPr>
          <p:cNvPr id="200" name="Google Shape;200;p1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sp>
        <p:nvSpPr>
          <p:cNvPr id="205" name="Google Shape;205;p1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Receptor addition preserves central axon targets</a:t>
            </a:r>
            <a:endParaRPr sz="1800">
              <a:solidFill>
                <a:schemeClr val="dk1"/>
              </a:solidFill>
              <a:latin typeface="Calibri"/>
              <a:ea typeface="Calibri"/>
              <a:cs typeface="Calibri"/>
              <a:sym typeface="Calibri"/>
            </a:endParaRPr>
          </a:p>
        </p:txBody>
      </p:sp>
      <p:sp>
        <p:nvSpPr>
          <p:cNvPr id="206" name="Google Shape;206;p15"/>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A </a:t>
            </a:r>
            <a:r>
              <a:rPr b="1" i="0" lang="en-US" sz="1600">
                <a:solidFill>
                  <a:srgbClr val="425B70"/>
                </a:solidFill>
                <a:latin typeface="Arial"/>
                <a:ea typeface="Arial"/>
                <a:cs typeface="Arial"/>
                <a:sym typeface="Arial"/>
              </a:rPr>
              <a:t>glomerulus</a:t>
            </a:r>
            <a:r>
              <a:rPr b="0" i="0" lang="en-US" sz="1600">
                <a:solidFill>
                  <a:srgbClr val="242B31"/>
                </a:solidFill>
                <a:latin typeface="Arial"/>
                <a:ea typeface="Arial"/>
                <a:cs typeface="Arial"/>
                <a:sym typeface="Arial"/>
              </a:rPr>
              <a:t> is a region of concentrated sensory terminals and their interacting central neurons. The male silkmoth </a:t>
            </a:r>
            <a:r>
              <a:rPr b="1" i="0" lang="en-US" sz="1600">
                <a:solidFill>
                  <a:srgbClr val="425B70"/>
                </a:solidFill>
                <a:latin typeface="Arial"/>
                <a:ea typeface="Arial"/>
                <a:cs typeface="Arial"/>
                <a:sym typeface="Arial"/>
              </a:rPr>
              <a:t>macroglomerular complex</a:t>
            </a:r>
            <a:r>
              <a:rPr b="0" i="0" lang="en-US" sz="1600">
                <a:solidFill>
                  <a:srgbClr val="242B31"/>
                </a:solidFill>
                <a:latin typeface="Arial"/>
                <a:ea typeface="Arial"/>
                <a:cs typeface="Arial"/>
                <a:sym typeface="Arial"/>
              </a:rPr>
              <a:t>, or MGC, contains enlarged pheromone-processing glomeruli. BmOR1 sensory axons terminate in the </a:t>
            </a:r>
            <a:r>
              <a:rPr b="1" i="0" lang="en-US" sz="1600">
                <a:solidFill>
                  <a:srgbClr val="425B70"/>
                </a:solidFill>
                <a:latin typeface="Arial"/>
                <a:ea typeface="Arial"/>
                <a:cs typeface="Arial"/>
                <a:sym typeface="Arial"/>
              </a:rPr>
              <a:t>toroid</a:t>
            </a:r>
            <a:r>
              <a:rPr b="0" i="0" lang="en-US" sz="1600">
                <a:solidFill>
                  <a:srgbClr val="242B31"/>
                </a:solidFill>
                <a:latin typeface="Arial"/>
                <a:ea typeface="Arial"/>
                <a:cs typeface="Arial"/>
                <a:sym typeface="Arial"/>
              </a:rPr>
              <a:t>, a glomerulus dedicated to bombykol input.</a:t>
            </a:r>
            <a:endParaRPr sz="1800">
              <a:solidFill>
                <a:schemeClr val="dk1"/>
              </a:solidFill>
              <a:latin typeface="Calibri"/>
              <a:ea typeface="Calibri"/>
              <a:cs typeface="Calibri"/>
              <a:sym typeface="Calibri"/>
            </a:endParaRPr>
          </a:p>
        </p:txBody>
      </p:sp>
      <p:sp>
        <p:nvSpPr>
          <p:cNvPr id="207" name="Google Shape;207;p15"/>
          <p:cNvSpPr/>
          <p:nvPr/>
        </p:nvSpPr>
        <p:spPr>
          <a:xfrm>
            <a:off x="566886" y="2672507"/>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Sakurai and colleagues compared fluorescently labeled axon terminals before and after PxOR1 addition. Axons carrying the modified chemical response still innervated the toroid rather than shifting to the neighboring cumulus. The new ligand therefore entered an existing central channel.</a:t>
            </a:r>
            <a:endParaRPr sz="1800">
              <a:solidFill>
                <a:schemeClr val="dk1"/>
              </a:solidFill>
              <a:latin typeface="Calibri"/>
              <a:ea typeface="Calibri"/>
              <a:cs typeface="Calibri"/>
              <a:sym typeface="Calibri"/>
            </a:endParaRPr>
          </a:p>
        </p:txBody>
      </p:sp>
      <p:sp>
        <p:nvSpPr>
          <p:cNvPr id="208" name="Google Shape;208;p15"/>
          <p:cNvSpPr/>
          <p:nvPr/>
        </p:nvSpPr>
        <p:spPr>
          <a:xfrm>
            <a:off x="566886" y="4110633"/>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Preserved targeting supports an interpretation in which a changed peripheral detector gains access to established behavioral wiring. It does not prove that every synaptic weight or developmental property remained unchanged. Gross anatomical targeting and functional output are complementary evidence, rather than a complete synapse-by-synapse reconstruction.</a:t>
            </a:r>
            <a:endParaRPr sz="1800">
              <a:solidFill>
                <a:schemeClr val="dk1"/>
              </a:solidFill>
              <a:latin typeface="Calibri"/>
              <a:ea typeface="Calibri"/>
              <a:cs typeface="Calibri"/>
              <a:sym typeface="Calibri"/>
            </a:endParaRPr>
          </a:p>
        </p:txBody>
      </p:sp>
      <p:pic>
        <p:nvPicPr>
          <p:cNvPr id="209" name="Google Shape;209;p15"/>
          <p:cNvPicPr preferRelativeResize="0"/>
          <p:nvPr/>
        </p:nvPicPr>
        <p:blipFill rotWithShape="1">
          <a:blip r:embed="rId3">
            <a:alphaModFix/>
          </a:blip>
          <a:srcRect b="0" l="0" r="0" t="0"/>
          <a:stretch/>
        </p:blipFill>
        <p:spPr>
          <a:xfrm>
            <a:off x="7187683" y="1280071"/>
            <a:ext cx="3707995" cy="4297561"/>
          </a:xfrm>
          <a:prstGeom prst="rect">
            <a:avLst/>
          </a:prstGeom>
          <a:noFill/>
          <a:ln>
            <a:noFill/>
          </a:ln>
        </p:spPr>
      </p:pic>
      <p:sp>
        <p:nvSpPr>
          <p:cNvPr id="210" name="Google Shape;210;p15"/>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4(A–B). Sensory axons maintain glomerular targets after receptor addition.</a:t>
            </a:r>
            <a:endParaRPr sz="1800">
              <a:solidFill>
                <a:schemeClr val="dk1"/>
              </a:solidFill>
              <a:latin typeface="Calibri"/>
              <a:ea typeface="Calibri"/>
              <a:cs typeface="Calibri"/>
              <a:sym typeface="Calibri"/>
            </a:endParaRPr>
          </a:p>
        </p:txBody>
      </p:sp>
      <p:sp>
        <p:nvSpPr>
          <p:cNvPr id="211" name="Google Shape;211;p15"/>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1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Sakurai et al. (2011)</a:t>
            </a:r>
            <a:endParaRPr sz="1800">
              <a:solidFill>
                <a:schemeClr val="dk1"/>
              </a:solidFill>
              <a:latin typeface="Calibri"/>
              <a:ea typeface="Calibri"/>
              <a:cs typeface="Calibri"/>
              <a:sym typeface="Calibri"/>
            </a:endParaRPr>
          </a:p>
        </p:txBody>
      </p:sp>
      <p:sp>
        <p:nvSpPr>
          <p:cNvPr id="213" name="Google Shape;213;p1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1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Bombykol receptors require a second subunit</a:t>
            </a:r>
            <a:endParaRPr sz="1800">
              <a:solidFill>
                <a:schemeClr val="dk1"/>
              </a:solidFill>
              <a:latin typeface="Calibri"/>
              <a:ea typeface="Calibri"/>
              <a:cs typeface="Calibri"/>
              <a:sym typeface="Calibri"/>
            </a:endParaRPr>
          </a:p>
        </p:txBody>
      </p:sp>
      <p:sp>
        <p:nvSpPr>
          <p:cNvPr id="219" name="Google Shape;219;p16"/>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The functional bombykol receptor combines the ligand-selective subunit BmOR1 with </a:t>
            </a:r>
            <a:r>
              <a:rPr b="1" i="0" lang="en-US" sz="1600">
                <a:solidFill>
                  <a:srgbClr val="425B70"/>
                </a:solidFill>
                <a:latin typeface="Arial"/>
                <a:ea typeface="Arial"/>
                <a:cs typeface="Arial"/>
                <a:sym typeface="Arial"/>
              </a:rPr>
              <a:t>Orco</a:t>
            </a:r>
            <a:r>
              <a:rPr b="0" i="0" lang="en-US" sz="1600">
                <a:solidFill>
                  <a:srgbClr val="242B31"/>
                </a:solidFill>
                <a:latin typeface="Arial"/>
                <a:ea typeface="Arial"/>
                <a:cs typeface="Arial"/>
                <a:sym typeface="Arial"/>
              </a:rPr>
              <a:t>, a broadly conserved olfactory co-receptor. A </a:t>
            </a:r>
            <a:r>
              <a:rPr b="1" i="0" lang="en-US" sz="1600">
                <a:solidFill>
                  <a:srgbClr val="425B70"/>
                </a:solidFill>
                <a:latin typeface="Arial"/>
                <a:ea typeface="Arial"/>
                <a:cs typeface="Arial"/>
                <a:sym typeface="Arial"/>
              </a:rPr>
              <a:t>heteromeric</a:t>
            </a:r>
            <a:r>
              <a:rPr b="0" i="0" lang="en-US" sz="1600">
                <a:solidFill>
                  <a:srgbClr val="242B31"/>
                </a:solidFill>
                <a:latin typeface="Arial"/>
                <a:ea typeface="Arial"/>
                <a:cs typeface="Arial"/>
                <a:sym typeface="Arial"/>
              </a:rPr>
              <a:t> complex contains different protein subunits. The older silkmoth name BmOr2 refers to this co-receptor rather than a second bombykol-selective detector.</a:t>
            </a:r>
            <a:endParaRPr sz="1800">
              <a:solidFill>
                <a:schemeClr val="dk1"/>
              </a:solidFill>
              <a:latin typeface="Calibri"/>
              <a:ea typeface="Calibri"/>
              <a:cs typeface="Calibri"/>
              <a:sym typeface="Calibri"/>
            </a:endParaRPr>
          </a:p>
        </p:txBody>
      </p:sp>
      <p:sp>
        <p:nvSpPr>
          <p:cNvPr id="220" name="Google Shape;220;p16"/>
          <p:cNvSpPr/>
          <p:nvPr/>
        </p:nvSpPr>
        <p:spPr>
          <a:xfrm>
            <a:off x="566886" y="2672507"/>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Sato and colleagues expressed insect receptor pairs in non-insect cells and measured odor-evoked electrical currents. Nakagawa and colleagues then examined the Bombyx pair in frog oocytes using controlled voltage and amino-acid substitutions. Both preparations separate receptor function from an intact moth brain.</a:t>
            </a:r>
            <a:endParaRPr sz="1800">
              <a:solidFill>
                <a:schemeClr val="dk1"/>
              </a:solidFill>
              <a:latin typeface="Calibri"/>
              <a:ea typeface="Calibri"/>
              <a:cs typeface="Calibri"/>
              <a:sym typeface="Calibri"/>
            </a:endParaRPr>
          </a:p>
        </p:txBody>
      </p:sp>
      <p:sp>
        <p:nvSpPr>
          <p:cNvPr id="221" name="Google Shape;221;p16"/>
          <p:cNvSpPr/>
          <p:nvPr/>
        </p:nvSpPr>
        <p:spPr>
          <a:xfrm>
            <a:off x="566886" y="4110633"/>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The evidence supports a ligand-gated, nonselective cation conductance associated with the receptor complex. </a:t>
            </a:r>
            <a:r>
              <a:rPr b="1" i="0" lang="en-US" sz="1600">
                <a:solidFill>
                  <a:srgbClr val="425B70"/>
                </a:solidFill>
                <a:latin typeface="Arial"/>
                <a:ea typeface="Arial"/>
                <a:cs typeface="Arial"/>
                <a:sym typeface="Arial"/>
              </a:rPr>
              <a:t>Cations</a:t>
            </a:r>
            <a:r>
              <a:rPr b="0" i="0" lang="en-US" sz="1600">
                <a:solidFill>
                  <a:srgbClr val="242B31"/>
                </a:solidFill>
                <a:latin typeface="Arial"/>
                <a:ea typeface="Arial"/>
                <a:cs typeface="Arial"/>
                <a:sym typeface="Arial"/>
              </a:rPr>
              <a:t> are positively charged ions; their movement can change membrane voltage. The published topology drawing was predicted from sequence, so it must not be treated as an experimentally solved atomic structure or proof of exact subunit stoichiometry.</a:t>
            </a:r>
            <a:endParaRPr sz="1800">
              <a:solidFill>
                <a:schemeClr val="dk1"/>
              </a:solidFill>
              <a:latin typeface="Calibri"/>
              <a:ea typeface="Calibri"/>
              <a:cs typeface="Calibri"/>
              <a:sym typeface="Calibri"/>
            </a:endParaRPr>
          </a:p>
        </p:txBody>
      </p:sp>
      <p:pic>
        <p:nvPicPr>
          <p:cNvPr id="222" name="Google Shape;222;p16"/>
          <p:cNvPicPr preferRelativeResize="0"/>
          <p:nvPr/>
        </p:nvPicPr>
        <p:blipFill rotWithShape="1">
          <a:blip r:embed="rId3">
            <a:alphaModFix/>
          </a:blip>
          <a:srcRect b="0" l="0" r="0" t="0"/>
          <a:stretch/>
        </p:blipFill>
        <p:spPr>
          <a:xfrm>
            <a:off x="6458471" y="1280071"/>
            <a:ext cx="5166271" cy="2356545"/>
          </a:xfrm>
          <a:prstGeom prst="rect">
            <a:avLst/>
          </a:prstGeom>
          <a:noFill/>
          <a:ln>
            <a:noFill/>
          </a:ln>
        </p:spPr>
      </p:pic>
      <p:sp>
        <p:nvSpPr>
          <p:cNvPr id="223" name="Google Shape;223;p16"/>
          <p:cNvSpPr/>
          <p:nvPr/>
        </p:nvSpPr>
        <p:spPr>
          <a:xfrm>
            <a:off x="6458396" y="3728145"/>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Nakagawa et al. (2012), Fig. 1(A). Published predicted membrane topology and tested receptor residues.</a:t>
            </a:r>
            <a:endParaRPr sz="1800">
              <a:solidFill>
                <a:schemeClr val="dk1"/>
              </a:solidFill>
              <a:latin typeface="Calibri"/>
              <a:ea typeface="Calibri"/>
              <a:cs typeface="Calibri"/>
              <a:sym typeface="Calibri"/>
            </a:endParaRPr>
          </a:p>
        </p:txBody>
      </p:sp>
      <p:sp>
        <p:nvSpPr>
          <p:cNvPr id="224" name="Google Shape;224;p16"/>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1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Nakagawa et al. (2012); Sato et al. (2008)</a:t>
            </a:r>
            <a:endParaRPr sz="1800">
              <a:solidFill>
                <a:schemeClr val="dk1"/>
              </a:solidFill>
              <a:latin typeface="Calibri"/>
              <a:ea typeface="Calibri"/>
              <a:cs typeface="Calibri"/>
              <a:sym typeface="Calibri"/>
            </a:endParaRPr>
          </a:p>
        </p:txBody>
      </p:sp>
      <p:sp>
        <p:nvSpPr>
          <p:cNvPr id="226" name="Google Shape;226;p1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 name="Shape 230"/>
        <p:cNvGrpSpPr/>
        <p:nvPr/>
      </p:nvGrpSpPr>
      <p:grpSpPr>
        <a:xfrm>
          <a:off x="0" y="0"/>
          <a:ext cx="0" cy="0"/>
          <a:chOff x="0" y="0"/>
          <a:chExt cx="0" cy="0"/>
        </a:xfrm>
      </p:grpSpPr>
      <p:sp>
        <p:nvSpPr>
          <p:cNvPr id="231" name="Google Shape;231;p1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Odor gates current in isolated membrane patches</a:t>
            </a:r>
            <a:endParaRPr sz="1800">
              <a:solidFill>
                <a:schemeClr val="dk1"/>
              </a:solidFill>
              <a:latin typeface="Calibri"/>
              <a:ea typeface="Calibri"/>
              <a:cs typeface="Calibri"/>
              <a:sym typeface="Calibri"/>
            </a:endParaRPr>
          </a:p>
        </p:txBody>
      </p:sp>
      <p:sp>
        <p:nvSpPr>
          <p:cNvPr id="232" name="Google Shape;232;p17"/>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An </a:t>
            </a:r>
            <a:r>
              <a:rPr b="1" i="0" lang="en-US" sz="1500">
                <a:solidFill>
                  <a:srgbClr val="425B70"/>
                </a:solidFill>
                <a:latin typeface="Arial"/>
                <a:ea typeface="Arial"/>
                <a:cs typeface="Arial"/>
                <a:sym typeface="Arial"/>
              </a:rPr>
              <a:t>outside-out patch</a:t>
            </a:r>
            <a:r>
              <a:rPr b="0" i="0" lang="en-US" sz="1500">
                <a:solidFill>
                  <a:srgbClr val="242B31"/>
                </a:solidFill>
                <a:latin typeface="Arial"/>
                <a:ea typeface="Arial"/>
                <a:cs typeface="Arial"/>
                <a:sym typeface="Arial"/>
              </a:rPr>
              <a:t> is a small piece of membrane removed so its extracellular surface faces the bathing solution. Sato and colleagues recorded odor-evoked openings in patches containing fruitfly Or47a with Or83b, and mosquito receptor complexes. These recordings provide comparative evidence for the insect receptor class.</a:t>
            </a:r>
            <a:endParaRPr sz="1800">
              <a:solidFill>
                <a:schemeClr val="dk1"/>
              </a:solidFill>
              <a:latin typeface="Calibri"/>
              <a:ea typeface="Calibri"/>
              <a:cs typeface="Calibri"/>
              <a:sym typeface="Calibri"/>
            </a:endParaRPr>
          </a:p>
        </p:txBody>
      </p:sp>
      <p:sp>
        <p:nvSpPr>
          <p:cNvPr id="233" name="Google Shape;233;p17"/>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Pentyl acetate activated the fruitfly complex in excised frog-oocyte patches. At a holding voltage of −80 mV, individual current events were about 1.2 pA. Control oocyte patches without the receptor proteins did not respond to the tested odorants, and activity persisted without added ATP or GTP in the pipette.</a:t>
            </a:r>
            <a:endParaRPr sz="1800">
              <a:solidFill>
                <a:schemeClr val="dk1"/>
              </a:solidFill>
              <a:latin typeface="Calibri"/>
              <a:ea typeface="Calibri"/>
              <a:cs typeface="Calibri"/>
              <a:sym typeface="Calibri"/>
            </a:endParaRPr>
          </a:p>
        </p:txBody>
      </p:sp>
      <p:sp>
        <p:nvSpPr>
          <p:cNvPr id="234" name="Google Shape;234;p17"/>
          <p:cNvSpPr/>
          <p:nvPr/>
        </p:nvSpPr>
        <p:spPr>
          <a:xfrm>
            <a:off x="566886" y="3931146"/>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Excised-patch activation supports direct odor-gated channel activity without requiring the usual cytoplasmic signaling cascade. These particular single-channel measurements are not recordings of BmOR1 or Bombyx behavior. They support a shared receptor mechanism while leaving modulation in intact sensory neurons possible.</a:t>
            </a:r>
            <a:endParaRPr sz="1800">
              <a:solidFill>
                <a:schemeClr val="dk1"/>
              </a:solidFill>
              <a:latin typeface="Calibri"/>
              <a:ea typeface="Calibri"/>
              <a:cs typeface="Calibri"/>
              <a:sym typeface="Calibri"/>
            </a:endParaRPr>
          </a:p>
        </p:txBody>
      </p:sp>
      <p:pic>
        <p:nvPicPr>
          <p:cNvPr id="235" name="Google Shape;235;p17"/>
          <p:cNvPicPr preferRelativeResize="0"/>
          <p:nvPr/>
        </p:nvPicPr>
        <p:blipFill rotWithShape="1">
          <a:blip r:embed="rId3">
            <a:alphaModFix/>
          </a:blip>
          <a:srcRect b="0" l="0" r="0" t="0"/>
          <a:stretch/>
        </p:blipFill>
        <p:spPr>
          <a:xfrm>
            <a:off x="7955195" y="1280071"/>
            <a:ext cx="1944519" cy="2925961"/>
          </a:xfrm>
          <a:prstGeom prst="rect">
            <a:avLst/>
          </a:prstGeom>
          <a:noFill/>
          <a:ln>
            <a:noFill/>
          </a:ln>
        </p:spPr>
      </p:pic>
      <p:sp>
        <p:nvSpPr>
          <p:cNvPr id="236" name="Google Shape;236;p17"/>
          <p:cNvSpPr/>
          <p:nvPr/>
        </p:nvSpPr>
        <p:spPr>
          <a:xfrm>
            <a:off x="6229796" y="4297561"/>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Sato et al. (2008), Fig. 4(a–e). Odor-gated currents in isolated oocyte membrane patches.</a:t>
            </a:r>
            <a:endParaRPr sz="1800">
              <a:solidFill>
                <a:schemeClr val="dk1"/>
              </a:solidFill>
              <a:latin typeface="Calibri"/>
              <a:ea typeface="Calibri"/>
              <a:cs typeface="Calibri"/>
              <a:sym typeface="Calibri"/>
            </a:endParaRPr>
          </a:p>
        </p:txBody>
      </p:sp>
      <p:pic>
        <p:nvPicPr>
          <p:cNvPr id="237" name="Google Shape;237;p17"/>
          <p:cNvPicPr preferRelativeResize="0"/>
          <p:nvPr/>
        </p:nvPicPr>
        <p:blipFill rotWithShape="1">
          <a:blip r:embed="rId4">
            <a:alphaModFix/>
          </a:blip>
          <a:srcRect b="0" l="0" r="0" t="0"/>
          <a:stretch/>
        </p:blipFill>
        <p:spPr>
          <a:xfrm>
            <a:off x="7824816" y="4754761"/>
            <a:ext cx="2204980" cy="1005780"/>
          </a:xfrm>
          <a:prstGeom prst="rect">
            <a:avLst/>
          </a:prstGeom>
          <a:noFill/>
          <a:ln>
            <a:noFill/>
          </a:ln>
        </p:spPr>
      </p:pic>
      <p:sp>
        <p:nvSpPr>
          <p:cNvPr id="238" name="Google Shape;238;p17"/>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Nakagawa et al. (2012), Fig. 1(A). Published predicted membrane topology and tested receptor residues.</a:t>
            </a:r>
            <a:endParaRPr sz="1800">
              <a:solidFill>
                <a:schemeClr val="dk1"/>
              </a:solidFill>
              <a:latin typeface="Calibri"/>
              <a:ea typeface="Calibri"/>
              <a:cs typeface="Calibri"/>
              <a:sym typeface="Calibri"/>
            </a:endParaRPr>
          </a:p>
        </p:txBody>
      </p:sp>
      <p:sp>
        <p:nvSpPr>
          <p:cNvPr id="239" name="Google Shape;239;p17"/>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1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Sato et al. (2008); Nakagawa et al. (2012)</a:t>
            </a:r>
            <a:endParaRPr sz="1800">
              <a:solidFill>
                <a:schemeClr val="dk1"/>
              </a:solidFill>
              <a:latin typeface="Calibri"/>
              <a:ea typeface="Calibri"/>
              <a:cs typeface="Calibri"/>
              <a:sym typeface="Calibri"/>
            </a:endParaRPr>
          </a:p>
        </p:txBody>
      </p:sp>
      <p:sp>
        <p:nvSpPr>
          <p:cNvPr id="241" name="Google Shape;241;p1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1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Receptor residues alter cation selectivity</a:t>
            </a:r>
            <a:endParaRPr sz="1800">
              <a:solidFill>
                <a:schemeClr val="dk1"/>
              </a:solidFill>
              <a:latin typeface="Calibri"/>
              <a:ea typeface="Calibri"/>
              <a:cs typeface="Calibri"/>
              <a:sym typeface="Calibri"/>
            </a:endParaRPr>
          </a:p>
        </p:txBody>
      </p:sp>
      <p:sp>
        <p:nvSpPr>
          <p:cNvPr id="247" name="Google Shape;247;p18"/>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600"/>
              <a:buFont typeface="Arial"/>
              <a:buNone/>
            </a:pPr>
            <a:r>
              <a:rPr b="1" i="0" lang="en-US" sz="1600">
                <a:solidFill>
                  <a:srgbClr val="425B70"/>
                </a:solidFill>
                <a:latin typeface="Arial"/>
                <a:ea typeface="Arial"/>
                <a:cs typeface="Arial"/>
                <a:sym typeface="Arial"/>
              </a:rPr>
              <a:t>Ion selectivity</a:t>
            </a:r>
            <a:r>
              <a:rPr b="0" i="0" lang="en-US" sz="1600">
                <a:solidFill>
                  <a:srgbClr val="242B31"/>
                </a:solidFill>
                <a:latin typeface="Arial"/>
                <a:ea typeface="Arial"/>
                <a:cs typeface="Arial"/>
                <a:sym typeface="Arial"/>
              </a:rPr>
              <a:t> describes the relative ease with which different ions pass through a channel. Nakagawa and colleagues changed conserved amino acids in the Bombyx BmOR1–Orco complex and recorded bombykol-evoked currents from frog oocytes. Each test changed one subunit while retaining the other in its normal form.</a:t>
            </a:r>
            <a:endParaRPr sz="1800">
              <a:solidFill>
                <a:schemeClr val="dk1"/>
              </a:solidFill>
              <a:latin typeface="Calibri"/>
              <a:ea typeface="Calibri"/>
              <a:cs typeface="Calibri"/>
              <a:sym typeface="Calibri"/>
            </a:endParaRPr>
          </a:p>
        </p:txBody>
      </p:sp>
      <p:sp>
        <p:nvSpPr>
          <p:cNvPr id="248" name="Google Shape;248;p18"/>
          <p:cNvSpPr/>
          <p:nvPr/>
        </p:nvSpPr>
        <p:spPr>
          <a:xfrm>
            <a:off x="566886" y="2672507"/>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Replacing extracellular sodium with potassium allowed comparison of </a:t>
            </a:r>
            <a:r>
              <a:rPr b="1" i="0" lang="en-US" sz="1600">
                <a:solidFill>
                  <a:srgbClr val="425B70"/>
                </a:solidFill>
                <a:latin typeface="Arial"/>
                <a:ea typeface="Arial"/>
                <a:cs typeface="Arial"/>
                <a:sym typeface="Arial"/>
              </a:rPr>
              <a:t>reversal potentials</a:t>
            </a:r>
            <a:r>
              <a:rPr b="0" i="0" lang="en-US" sz="1600">
                <a:solidFill>
                  <a:srgbClr val="242B31"/>
                </a:solidFill>
                <a:latin typeface="Arial"/>
                <a:ea typeface="Arial"/>
                <a:cs typeface="Arial"/>
                <a:sym typeface="Arial"/>
              </a:rPr>
              <a:t>, the voltage at which net current changes direction. BmOR1 D299N and E356Q reduced relative potassium permeability; Orco Y464A increased it. Thus, substitutions in either protein could affect the ions carried by the complex.</a:t>
            </a:r>
            <a:endParaRPr sz="1800">
              <a:solidFill>
                <a:schemeClr val="dk1"/>
              </a:solidFill>
              <a:latin typeface="Calibri"/>
              <a:ea typeface="Calibri"/>
              <a:cs typeface="Calibri"/>
              <a:sym typeface="Calibri"/>
            </a:endParaRPr>
          </a:p>
        </p:txBody>
      </p:sp>
      <p:sp>
        <p:nvSpPr>
          <p:cNvPr id="249" name="Google Shape;249;p18"/>
          <p:cNvSpPr/>
          <p:nvPr/>
        </p:nvSpPr>
        <p:spPr>
          <a:xfrm>
            <a:off x="566886" y="4110633"/>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These results implicate both subunits in channel function. They do not establish an atomic pore structure, nor does every mutation altering current necessarily line the pore. Expression, protein assembly and allosteric effects remain possible contributors unless separated by additional controls.</a:t>
            </a:r>
            <a:endParaRPr sz="1800">
              <a:solidFill>
                <a:schemeClr val="dk1"/>
              </a:solidFill>
              <a:latin typeface="Calibri"/>
              <a:ea typeface="Calibri"/>
              <a:cs typeface="Calibri"/>
              <a:sym typeface="Calibri"/>
            </a:endParaRPr>
          </a:p>
        </p:txBody>
      </p:sp>
      <p:pic>
        <p:nvPicPr>
          <p:cNvPr id="250" name="Google Shape;250;p18"/>
          <p:cNvPicPr preferRelativeResize="0"/>
          <p:nvPr/>
        </p:nvPicPr>
        <p:blipFill rotWithShape="1">
          <a:blip r:embed="rId3">
            <a:alphaModFix/>
          </a:blip>
          <a:srcRect b="0" l="0" r="0" t="0"/>
          <a:stretch/>
        </p:blipFill>
        <p:spPr>
          <a:xfrm>
            <a:off x="6458472" y="1280071"/>
            <a:ext cx="5166268" cy="2645271"/>
          </a:xfrm>
          <a:prstGeom prst="rect">
            <a:avLst/>
          </a:prstGeom>
          <a:noFill/>
          <a:ln>
            <a:noFill/>
          </a:ln>
        </p:spPr>
      </p:pic>
      <p:sp>
        <p:nvSpPr>
          <p:cNvPr id="251" name="Google Shape;251;p18"/>
          <p:cNvSpPr/>
          <p:nvPr/>
        </p:nvSpPr>
        <p:spPr>
          <a:xfrm>
            <a:off x="6458396" y="401687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Nakagawa et al. (2012), Fig. 2(A–C). Ion-substitution measurements identify selectivity-changing residues.</a:t>
            </a:r>
            <a:endParaRPr sz="1800">
              <a:solidFill>
                <a:schemeClr val="dk1"/>
              </a:solidFill>
              <a:latin typeface="Calibri"/>
              <a:ea typeface="Calibri"/>
              <a:cs typeface="Calibri"/>
              <a:sym typeface="Calibri"/>
            </a:endParaRPr>
          </a:p>
        </p:txBody>
      </p:sp>
      <p:sp>
        <p:nvSpPr>
          <p:cNvPr id="252" name="Google Shape;252;p18"/>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1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Nakagawa et al. (2012)</a:t>
            </a:r>
            <a:endParaRPr sz="1800">
              <a:solidFill>
                <a:schemeClr val="dk1"/>
              </a:solidFill>
              <a:latin typeface="Calibri"/>
              <a:ea typeface="Calibri"/>
              <a:cs typeface="Calibri"/>
              <a:sym typeface="Calibri"/>
            </a:endParaRPr>
          </a:p>
        </p:txBody>
      </p:sp>
      <p:sp>
        <p:nvSpPr>
          <p:cNvPr id="254" name="Google Shape;254;p1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 name="Shape 258"/>
        <p:cNvGrpSpPr/>
        <p:nvPr/>
      </p:nvGrpSpPr>
      <p:grpSpPr>
        <a:xfrm>
          <a:off x="0" y="0"/>
          <a:ext cx="0" cy="0"/>
          <a:chOff x="0" y="0"/>
          <a:chExt cx="0" cy="0"/>
        </a:xfrm>
      </p:grpSpPr>
      <p:sp>
        <p:nvSpPr>
          <p:cNvPr id="259" name="Google Shape;259;p1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Chemical modification probes receptor function</a:t>
            </a:r>
            <a:endParaRPr sz="1800">
              <a:solidFill>
                <a:schemeClr val="dk1"/>
              </a:solidFill>
              <a:latin typeface="Calibri"/>
              <a:ea typeface="Calibri"/>
              <a:cs typeface="Calibri"/>
              <a:sym typeface="Calibri"/>
            </a:endParaRPr>
          </a:p>
        </p:txBody>
      </p:sp>
      <p:sp>
        <p:nvSpPr>
          <p:cNvPr id="260" name="Google Shape;260;p19"/>
          <p:cNvSpPr/>
          <p:nvPr/>
        </p:nvSpPr>
        <p:spPr>
          <a:xfrm>
            <a:off x="566886" y="1234380"/>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Nakagawa and colleagues replaced selected receptor residues with </a:t>
            </a:r>
            <a:r>
              <a:rPr b="1" i="0" lang="en-US" sz="1500">
                <a:solidFill>
                  <a:srgbClr val="425B70"/>
                </a:solidFill>
                <a:latin typeface="Arial"/>
                <a:ea typeface="Arial"/>
                <a:cs typeface="Arial"/>
                <a:sym typeface="Arial"/>
              </a:rPr>
              <a:t>cysteine</a:t>
            </a:r>
            <a:r>
              <a:rPr b="0" i="0" lang="en-US" sz="1500">
                <a:solidFill>
                  <a:srgbClr val="242B31"/>
                </a:solidFill>
                <a:latin typeface="Arial"/>
                <a:ea typeface="Arial"/>
                <a:cs typeface="Arial"/>
                <a:sym typeface="Arial"/>
              </a:rPr>
              <a:t>, an amino acid whose exposed chemical group can react with a modifying reagent. They applied </a:t>
            </a:r>
            <a:r>
              <a:rPr b="1" i="0" lang="en-US" sz="1500">
                <a:solidFill>
                  <a:srgbClr val="425B70"/>
                </a:solidFill>
                <a:latin typeface="Arial"/>
                <a:ea typeface="Arial"/>
                <a:cs typeface="Arial"/>
                <a:sym typeface="Arial"/>
              </a:rPr>
              <a:t>MTSET</a:t>
            </a:r>
            <a:r>
              <a:rPr b="0" i="0" lang="en-US" sz="1500">
                <a:solidFill>
                  <a:srgbClr val="242B31"/>
                </a:solidFill>
                <a:latin typeface="Arial"/>
                <a:ea typeface="Arial"/>
                <a:cs typeface="Arial"/>
                <a:sym typeface="Arial"/>
              </a:rPr>
              <a:t>, a cysteine-reactive compound, while recording bombykol currents from oocytes expressing the modified receptor pair.</a:t>
            </a:r>
            <a:endParaRPr sz="1800">
              <a:solidFill>
                <a:schemeClr val="dk1"/>
              </a:solidFill>
              <a:latin typeface="Calibri"/>
              <a:ea typeface="Calibri"/>
              <a:cs typeface="Calibri"/>
              <a:sym typeface="Calibri"/>
            </a:endParaRPr>
          </a:p>
        </p:txBody>
      </p:sp>
      <p:sp>
        <p:nvSpPr>
          <p:cNvPr id="261" name="Google Shape;261;p19"/>
          <p:cNvSpPr/>
          <p:nvPr/>
        </p:nvSpPr>
        <p:spPr>
          <a:xfrm>
            <a:off x="566886" y="258276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BmOR1 E356C currents were strongly and irreversibly inhibited by MTSET. Orco Y464C instead produced a rapid inward current during reagent application. The mutants retained bombykol dose-response sensitivity similar to the normal complex, helping separate ligand recognition from the altered modification response.</a:t>
            </a:r>
            <a:endParaRPr sz="1800">
              <a:solidFill>
                <a:schemeClr val="dk1"/>
              </a:solidFill>
              <a:latin typeface="Calibri"/>
              <a:ea typeface="Calibri"/>
              <a:cs typeface="Calibri"/>
              <a:sym typeface="Calibri"/>
            </a:endParaRPr>
          </a:p>
        </p:txBody>
      </p:sp>
      <p:sp>
        <p:nvSpPr>
          <p:cNvPr id="262" name="Google Shape;262;p19"/>
          <p:cNvSpPr/>
          <p:nvPr/>
        </p:nvSpPr>
        <p:spPr>
          <a:xfrm>
            <a:off x="566886" y="3931146"/>
            <a:ext cx="55447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These interventions support accessibility and functional importance of specific residues near the proteins’ carboxy-terminal regions. They do not prove that the reagent contacts a resolved pore wall. MTSET also reduced normal receptor responses, so mutant effects must be interpreted relative to that background effect rather than against an assumed inert control.</a:t>
            </a:r>
            <a:endParaRPr sz="1800">
              <a:solidFill>
                <a:schemeClr val="dk1"/>
              </a:solidFill>
              <a:latin typeface="Calibri"/>
              <a:ea typeface="Calibri"/>
              <a:cs typeface="Calibri"/>
              <a:sym typeface="Calibri"/>
            </a:endParaRPr>
          </a:p>
        </p:txBody>
      </p:sp>
      <p:pic>
        <p:nvPicPr>
          <p:cNvPr id="263" name="Google Shape;263;p19"/>
          <p:cNvPicPr preferRelativeResize="0"/>
          <p:nvPr/>
        </p:nvPicPr>
        <p:blipFill rotWithShape="1">
          <a:blip r:embed="rId3">
            <a:alphaModFix/>
          </a:blip>
          <a:srcRect b="0" l="0" r="0" t="0"/>
          <a:stretch/>
        </p:blipFill>
        <p:spPr>
          <a:xfrm>
            <a:off x="8138072" y="1280071"/>
            <a:ext cx="1807217" cy="4297561"/>
          </a:xfrm>
          <a:prstGeom prst="rect">
            <a:avLst/>
          </a:prstGeom>
          <a:noFill/>
          <a:ln>
            <a:noFill/>
          </a:ln>
        </p:spPr>
      </p:pic>
      <p:sp>
        <p:nvSpPr>
          <p:cNvPr id="264" name="Google Shape;264;p19"/>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Nakagawa et al. (2012), Fig. 3(A–B). Cysteine substitution and chemical modification probe channel function.</a:t>
            </a:r>
            <a:endParaRPr sz="1800">
              <a:solidFill>
                <a:schemeClr val="dk1"/>
              </a:solidFill>
              <a:latin typeface="Calibri"/>
              <a:ea typeface="Calibri"/>
              <a:cs typeface="Calibri"/>
              <a:sym typeface="Calibri"/>
            </a:endParaRPr>
          </a:p>
        </p:txBody>
      </p:sp>
      <p:sp>
        <p:nvSpPr>
          <p:cNvPr id="265" name="Google Shape;265;p19"/>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1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Nakagawa et al. (2012)</a:t>
            </a:r>
            <a:endParaRPr sz="1800">
              <a:solidFill>
                <a:schemeClr val="dk1"/>
              </a:solidFill>
              <a:latin typeface="Calibri"/>
              <a:ea typeface="Calibri"/>
              <a:cs typeface="Calibri"/>
              <a:sym typeface="Calibri"/>
            </a:endParaRPr>
          </a:p>
        </p:txBody>
      </p:sp>
      <p:sp>
        <p:nvSpPr>
          <p:cNvPr id="267" name="Google Shape;267;p1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sp>
        <p:nvSpPr>
          <p:cNvPr id="272" name="Google Shape;272;p2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 binding protein shapes response termination</a:t>
            </a:r>
            <a:endParaRPr sz="1800">
              <a:solidFill>
                <a:schemeClr val="dk1"/>
              </a:solidFill>
              <a:latin typeface="Calibri"/>
              <a:ea typeface="Calibri"/>
              <a:cs typeface="Calibri"/>
              <a:sym typeface="Calibri"/>
            </a:endParaRPr>
          </a:p>
        </p:txBody>
      </p:sp>
      <p:sp>
        <p:nvSpPr>
          <p:cNvPr id="273" name="Google Shape;273;p20"/>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500"/>
              <a:buFont typeface="Arial"/>
              <a:buNone/>
            </a:pPr>
            <a:r>
              <a:rPr b="1" i="0" lang="en-US" sz="1500">
                <a:solidFill>
                  <a:srgbClr val="425B70"/>
                </a:solidFill>
                <a:latin typeface="Arial"/>
                <a:ea typeface="Arial"/>
                <a:cs typeface="Arial"/>
                <a:sym typeface="Arial"/>
              </a:rPr>
              <a:t>Pheromone-binding protein</a:t>
            </a:r>
            <a:r>
              <a:rPr b="0" i="0" lang="en-US" sz="1500">
                <a:solidFill>
                  <a:srgbClr val="242B31"/>
                </a:solidFill>
                <a:latin typeface="Arial"/>
                <a:ea typeface="Arial"/>
                <a:cs typeface="Arial"/>
                <a:sym typeface="Arial"/>
              </a:rPr>
              <a:t>, or PBP, is a soluble protein in the fluid surrounding sensory endings inside an antennal sensillum. Shiota and colleagues deleted BmPBP1 and tested whether its contribution extended beyond increasing sensitivity. Antennal recordings measured the rise and recovery of responses to 200-ms odor pulses.</a:t>
            </a:r>
            <a:endParaRPr sz="1800">
              <a:solidFill>
                <a:schemeClr val="dk1"/>
              </a:solidFill>
              <a:latin typeface="Calibri"/>
              <a:ea typeface="Calibri"/>
              <a:cs typeface="Calibri"/>
              <a:sym typeface="Calibri"/>
            </a:endParaRPr>
          </a:p>
        </p:txBody>
      </p:sp>
      <p:sp>
        <p:nvSpPr>
          <p:cNvPr id="274" name="Google Shape;274;p20"/>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The knockout antennae remained responsive but produced smaller EAG peaks at the same dose. The investigators therefore compared kinetics while accounting for response amplitude. After that control, knockout responses recovered more slowly, whereas response rise and onset latency did not differ in the same way.</a:t>
            </a:r>
            <a:endParaRPr sz="1800">
              <a:solidFill>
                <a:schemeClr val="dk1"/>
              </a:solidFill>
              <a:latin typeface="Calibri"/>
              <a:ea typeface="Calibri"/>
              <a:cs typeface="Calibri"/>
              <a:sym typeface="Calibri"/>
            </a:endParaRPr>
          </a:p>
        </p:txBody>
      </p:sp>
      <p:sp>
        <p:nvSpPr>
          <p:cNvPr id="275" name="Google Shape;275;p20"/>
          <p:cNvSpPr/>
          <p:nvPr/>
        </p:nvSpPr>
        <p:spPr>
          <a:xfrm>
            <a:off x="566886" y="3931146"/>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BmPBP1 contributes to termination of the peripheral response as well as detection sensitivity. The knockout does not reveal precisely how the protein clears receptor stimulation. Capturing or redistributing pheromone are proposed explanations; the study does not establish that BmPBP1 enzymatically destroys bombykol.</a:t>
            </a:r>
            <a:endParaRPr sz="1800">
              <a:solidFill>
                <a:schemeClr val="dk1"/>
              </a:solidFill>
              <a:latin typeface="Calibri"/>
              <a:ea typeface="Calibri"/>
              <a:cs typeface="Calibri"/>
              <a:sym typeface="Calibri"/>
            </a:endParaRPr>
          </a:p>
        </p:txBody>
      </p:sp>
      <p:pic>
        <p:nvPicPr>
          <p:cNvPr id="276" name="Google Shape;276;p20"/>
          <p:cNvPicPr preferRelativeResize="0"/>
          <p:nvPr/>
        </p:nvPicPr>
        <p:blipFill rotWithShape="1">
          <a:blip r:embed="rId3">
            <a:alphaModFix/>
          </a:blip>
          <a:srcRect b="0" l="0" r="0" t="0"/>
          <a:stretch/>
        </p:blipFill>
        <p:spPr>
          <a:xfrm>
            <a:off x="7431334" y="1280071"/>
            <a:ext cx="2992093" cy="2925961"/>
          </a:xfrm>
          <a:prstGeom prst="rect">
            <a:avLst/>
          </a:prstGeom>
          <a:noFill/>
          <a:ln>
            <a:noFill/>
          </a:ln>
        </p:spPr>
      </p:pic>
      <p:sp>
        <p:nvSpPr>
          <p:cNvPr id="277" name="Google Shape;277;p20"/>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Shiota et al. (2021), Fig. 1(A–D). Antennal response kinetics after pheromone-binding-protein loss.</a:t>
            </a:r>
            <a:endParaRPr sz="1800">
              <a:solidFill>
                <a:schemeClr val="dk1"/>
              </a:solidFill>
              <a:latin typeface="Calibri"/>
              <a:ea typeface="Calibri"/>
              <a:cs typeface="Calibri"/>
              <a:sym typeface="Calibri"/>
            </a:endParaRPr>
          </a:p>
        </p:txBody>
      </p:sp>
      <p:pic>
        <p:nvPicPr>
          <p:cNvPr id="278" name="Google Shape;278;p20"/>
          <p:cNvPicPr preferRelativeResize="0"/>
          <p:nvPr/>
        </p:nvPicPr>
        <p:blipFill rotWithShape="1">
          <a:blip r:embed="rId4">
            <a:alphaModFix/>
          </a:blip>
          <a:srcRect b="0" l="0" r="0" t="0"/>
          <a:stretch/>
        </p:blipFill>
        <p:spPr>
          <a:xfrm>
            <a:off x="8206532" y="4754773"/>
            <a:ext cx="1441847" cy="1005757"/>
          </a:xfrm>
          <a:prstGeom prst="rect">
            <a:avLst/>
          </a:prstGeom>
          <a:noFill/>
          <a:ln>
            <a:noFill/>
          </a:ln>
        </p:spPr>
      </p:pic>
      <p:sp>
        <p:nvSpPr>
          <p:cNvPr id="279" name="Google Shape;279;p20"/>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1(A–D). Receptor expression and sensory-cell localization in the antenna.</a:t>
            </a:r>
            <a:endParaRPr sz="1800">
              <a:solidFill>
                <a:schemeClr val="dk1"/>
              </a:solidFill>
              <a:latin typeface="Calibri"/>
              <a:ea typeface="Calibri"/>
              <a:cs typeface="Calibri"/>
              <a:sym typeface="Calibri"/>
            </a:endParaRPr>
          </a:p>
        </p:txBody>
      </p:sp>
      <p:sp>
        <p:nvSpPr>
          <p:cNvPr id="280" name="Google Shape;280;p20"/>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2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Shiota et al. (2021); Sakurai et al. (2011)</a:t>
            </a:r>
            <a:endParaRPr sz="1800">
              <a:solidFill>
                <a:schemeClr val="dk1"/>
              </a:solidFill>
              <a:latin typeface="Calibri"/>
              <a:ea typeface="Calibri"/>
              <a:cs typeface="Calibri"/>
              <a:sym typeface="Calibri"/>
            </a:endParaRPr>
          </a:p>
        </p:txBody>
      </p:sp>
      <p:sp>
        <p:nvSpPr>
          <p:cNvPr id="282" name="Google Shape;282;p2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6" name="Shape 286"/>
        <p:cNvGrpSpPr/>
        <p:nvPr/>
      </p:nvGrpSpPr>
      <p:grpSpPr>
        <a:xfrm>
          <a:off x="0" y="0"/>
          <a:ext cx="0" cy="0"/>
          <a:chOff x="0" y="0"/>
          <a:chExt cx="0" cy="0"/>
        </a:xfrm>
      </p:grpSpPr>
      <p:sp>
        <p:nvSpPr>
          <p:cNvPr id="287" name="Google Shape;287;p2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Matched responses reveal slower peripheral recovery</a:t>
            </a:r>
            <a:endParaRPr sz="1800">
              <a:solidFill>
                <a:schemeClr val="dk1"/>
              </a:solidFill>
              <a:latin typeface="Calibri"/>
              <a:ea typeface="Calibri"/>
              <a:cs typeface="Calibri"/>
              <a:sym typeface="Calibri"/>
            </a:endParaRPr>
          </a:p>
        </p:txBody>
      </p:sp>
      <p:sp>
        <p:nvSpPr>
          <p:cNvPr id="288" name="Google Shape;288;p21"/>
          <p:cNvSpPr/>
          <p:nvPr/>
        </p:nvSpPr>
        <p:spPr>
          <a:xfrm>
            <a:off x="566886" y="1234380"/>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An amplitude difference can confound comparisons of sensory timing. Shiota and colleagues used 100 ng of bombykol for normal antennae and 10,000 ng for knockout antennae when comparing EAG pulse-train responses. These source loads were chosen to compensate for the lower knockout sensitivity.</a:t>
            </a:r>
            <a:endParaRPr sz="1800">
              <a:solidFill>
                <a:schemeClr val="dk1"/>
              </a:solidFill>
              <a:latin typeface="Calibri"/>
              <a:ea typeface="Calibri"/>
              <a:cs typeface="Calibri"/>
              <a:sym typeface="Calibri"/>
            </a:endParaRPr>
          </a:p>
        </p:txBody>
      </p:sp>
      <p:sp>
        <p:nvSpPr>
          <p:cNvPr id="289" name="Google Shape;289;p21"/>
          <p:cNvSpPr/>
          <p:nvPr/>
        </p:nvSpPr>
        <p:spPr>
          <a:xfrm>
            <a:off x="566886" y="2672507"/>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At 0.17 Hz, both groups recovered between pulses, although termination was slower in mutants. At 2 Hz, several knockout preparations never returned to baseline throughout the train, whereas normal antennae recovered rapidly. The remaining voltage between responses was larger in the knockout.</a:t>
            </a:r>
            <a:endParaRPr sz="1800">
              <a:solidFill>
                <a:schemeClr val="dk1"/>
              </a:solidFill>
              <a:latin typeface="Calibri"/>
              <a:ea typeface="Calibri"/>
              <a:cs typeface="Calibri"/>
              <a:sym typeface="Calibri"/>
            </a:endParaRPr>
          </a:p>
        </p:txBody>
      </p:sp>
      <p:sp>
        <p:nvSpPr>
          <p:cNvPr id="290" name="Google Shape;290;p21"/>
          <p:cNvSpPr/>
          <p:nvPr/>
        </p:nvSpPr>
        <p:spPr>
          <a:xfrm>
            <a:off x="566886" y="4110633"/>
            <a:ext cx="53161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The defect therefore concerns separation of successive encounters rather than complete sensory failure. The filter-paper load is not a measured airborne concentration at each receptor. Amplitude matching strengthens the timing interpretation but cannot reproduce every aspect of the native sensillum’s chemical environment.</a:t>
            </a:r>
            <a:endParaRPr sz="1800">
              <a:solidFill>
                <a:schemeClr val="dk1"/>
              </a:solidFill>
              <a:latin typeface="Calibri"/>
              <a:ea typeface="Calibri"/>
              <a:cs typeface="Calibri"/>
              <a:sym typeface="Calibri"/>
            </a:endParaRPr>
          </a:p>
        </p:txBody>
      </p:sp>
      <p:pic>
        <p:nvPicPr>
          <p:cNvPr id="291" name="Google Shape;291;p21"/>
          <p:cNvPicPr preferRelativeResize="0"/>
          <p:nvPr/>
        </p:nvPicPr>
        <p:blipFill rotWithShape="1">
          <a:blip r:embed="rId3">
            <a:alphaModFix/>
          </a:blip>
          <a:srcRect b="0" l="0" r="0" t="0"/>
          <a:stretch/>
        </p:blipFill>
        <p:spPr>
          <a:xfrm>
            <a:off x="7203900" y="1280071"/>
            <a:ext cx="3446813" cy="2925961"/>
          </a:xfrm>
          <a:prstGeom prst="rect">
            <a:avLst/>
          </a:prstGeom>
          <a:noFill/>
          <a:ln>
            <a:noFill/>
          </a:ln>
        </p:spPr>
      </p:pic>
      <p:sp>
        <p:nvSpPr>
          <p:cNvPr id="292" name="Google Shape;292;p21"/>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Shiota et al. (2021), Fig. 2(A–D). Antennal recovery to 0.17-Hz and 2-Hz pheromone pulse trains.</a:t>
            </a:r>
            <a:endParaRPr sz="1800">
              <a:solidFill>
                <a:schemeClr val="dk1"/>
              </a:solidFill>
              <a:latin typeface="Calibri"/>
              <a:ea typeface="Calibri"/>
              <a:cs typeface="Calibri"/>
              <a:sym typeface="Calibri"/>
            </a:endParaRPr>
          </a:p>
        </p:txBody>
      </p:sp>
      <p:pic>
        <p:nvPicPr>
          <p:cNvPr id="293" name="Google Shape;293;p21"/>
          <p:cNvPicPr preferRelativeResize="0"/>
          <p:nvPr/>
        </p:nvPicPr>
        <p:blipFill rotWithShape="1">
          <a:blip r:embed="rId4">
            <a:alphaModFix/>
          </a:blip>
          <a:srcRect b="0" l="0" r="0" t="0"/>
          <a:stretch/>
        </p:blipFill>
        <p:spPr>
          <a:xfrm>
            <a:off x="8206532" y="4754773"/>
            <a:ext cx="1441847" cy="1005757"/>
          </a:xfrm>
          <a:prstGeom prst="rect">
            <a:avLst/>
          </a:prstGeom>
          <a:noFill/>
          <a:ln>
            <a:noFill/>
          </a:ln>
        </p:spPr>
      </p:pic>
      <p:sp>
        <p:nvSpPr>
          <p:cNvPr id="294" name="Google Shape;294;p21"/>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1(A–D). Receptor expression and sensory-cell localization in the antenna.</a:t>
            </a:r>
            <a:endParaRPr sz="1800">
              <a:solidFill>
                <a:schemeClr val="dk1"/>
              </a:solidFill>
              <a:latin typeface="Calibri"/>
              <a:ea typeface="Calibri"/>
              <a:cs typeface="Calibri"/>
              <a:sym typeface="Calibri"/>
            </a:endParaRPr>
          </a:p>
        </p:txBody>
      </p:sp>
      <p:sp>
        <p:nvSpPr>
          <p:cNvPr id="295" name="Google Shape;295;p21"/>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2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Shiota et al. (2021); Sakurai et al. (2011)</a:t>
            </a:r>
            <a:endParaRPr sz="1800">
              <a:solidFill>
                <a:schemeClr val="dk1"/>
              </a:solidFill>
              <a:latin typeface="Calibri"/>
              <a:ea typeface="Calibri"/>
              <a:cs typeface="Calibri"/>
              <a:sym typeface="Calibri"/>
            </a:endParaRPr>
          </a:p>
        </p:txBody>
      </p:sp>
      <p:sp>
        <p:nvSpPr>
          <p:cNvPr id="297" name="Google Shape;297;p2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2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Sensory neurons must separate successive pulses</a:t>
            </a:r>
            <a:endParaRPr sz="1800">
              <a:solidFill>
                <a:schemeClr val="dk1"/>
              </a:solidFill>
              <a:latin typeface="Calibri"/>
              <a:ea typeface="Calibri"/>
              <a:cs typeface="Calibri"/>
              <a:sym typeface="Calibri"/>
            </a:endParaRPr>
          </a:p>
        </p:txBody>
      </p:sp>
      <p:sp>
        <p:nvSpPr>
          <p:cNvPr id="303" name="Google Shape;303;p22"/>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Shiota and colleagues tested individual bombykol-responsive neurons with single-sensillum recordings. They compared normal and BmPBP1-knockout antennae using 1,000 and 10,000 ng source loads, respectively. Similar evoked spike totals reduced the possibility that response-strength differences alone explained altered timing.</a:t>
            </a:r>
            <a:endParaRPr sz="1800">
              <a:solidFill>
                <a:schemeClr val="dk1"/>
              </a:solidFill>
              <a:latin typeface="Calibri"/>
              <a:ea typeface="Calibri"/>
              <a:cs typeface="Calibri"/>
              <a:sym typeface="Calibri"/>
            </a:endParaRPr>
          </a:p>
        </p:txBody>
      </p:sp>
      <p:sp>
        <p:nvSpPr>
          <p:cNvPr id="304" name="Google Shape;304;p22"/>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Spontaneous firing was similar between groups. After isolated stimulation at 0.17 Hz, knockout firing took longer to return to its spontaneous level. At 2 Hz, all tested knockout neurons remained above spontaneous activity between successive stimuli, whereas normal responses terminated rapidly.</a:t>
            </a:r>
            <a:endParaRPr sz="1800">
              <a:solidFill>
                <a:schemeClr val="dk1"/>
              </a:solidFill>
              <a:latin typeface="Calibri"/>
              <a:ea typeface="Calibri"/>
              <a:cs typeface="Calibri"/>
              <a:sym typeface="Calibri"/>
            </a:endParaRPr>
          </a:p>
        </p:txBody>
      </p:sp>
      <p:sp>
        <p:nvSpPr>
          <p:cNvPr id="305" name="Google Shape;305;p22"/>
          <p:cNvSpPr/>
          <p:nvPr/>
        </p:nvSpPr>
        <p:spPr>
          <a:xfrm>
            <a:off x="566886" y="3931146"/>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An </a:t>
            </a:r>
            <a:r>
              <a:rPr b="1" i="0" lang="en-US" sz="1500">
                <a:solidFill>
                  <a:srgbClr val="425B70"/>
                </a:solidFill>
                <a:latin typeface="Arial"/>
                <a:ea typeface="Arial"/>
                <a:cs typeface="Arial"/>
                <a:sym typeface="Arial"/>
              </a:rPr>
              <a:t>action potential</a:t>
            </a:r>
            <a:r>
              <a:rPr b="0" i="0" lang="en-US" sz="1500">
                <a:solidFill>
                  <a:srgbClr val="242B31"/>
                </a:solidFill>
                <a:latin typeface="Arial"/>
                <a:ea typeface="Arial"/>
                <a:cs typeface="Arial"/>
                <a:sym typeface="Arial"/>
              </a:rPr>
              <a:t>, or spike, is a brief regenerative electrical event transmitted along an axon. Prolonged spike output can obscure the boundary between separate odor contacts. These results link the EAG recovery defect to sensory-neuron activity without identifying the molecular step by which BmPBP1 shortens receptor stimulation.</a:t>
            </a:r>
            <a:endParaRPr sz="1800">
              <a:solidFill>
                <a:schemeClr val="dk1"/>
              </a:solidFill>
              <a:latin typeface="Calibri"/>
              <a:ea typeface="Calibri"/>
              <a:cs typeface="Calibri"/>
              <a:sym typeface="Calibri"/>
            </a:endParaRPr>
          </a:p>
        </p:txBody>
      </p:sp>
      <p:pic>
        <p:nvPicPr>
          <p:cNvPr id="306" name="Google Shape;306;p22"/>
          <p:cNvPicPr preferRelativeResize="0"/>
          <p:nvPr/>
        </p:nvPicPr>
        <p:blipFill rotWithShape="1">
          <a:blip r:embed="rId3">
            <a:alphaModFix/>
          </a:blip>
          <a:srcRect b="0" l="0" r="0" t="0"/>
          <a:stretch/>
        </p:blipFill>
        <p:spPr>
          <a:xfrm>
            <a:off x="7514970" y="1280071"/>
            <a:ext cx="2824970" cy="2925961"/>
          </a:xfrm>
          <a:prstGeom prst="rect">
            <a:avLst/>
          </a:prstGeom>
          <a:noFill/>
          <a:ln>
            <a:noFill/>
          </a:ln>
        </p:spPr>
      </p:pic>
      <p:sp>
        <p:nvSpPr>
          <p:cNvPr id="307" name="Google Shape;307;p22"/>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Shiota et al. (2021), Fig. 3(A–F). Single-neuron response termination under amplitude-matched stimulation.</a:t>
            </a:r>
            <a:endParaRPr sz="1800">
              <a:solidFill>
                <a:schemeClr val="dk1"/>
              </a:solidFill>
              <a:latin typeface="Calibri"/>
              <a:ea typeface="Calibri"/>
              <a:cs typeface="Calibri"/>
              <a:sym typeface="Calibri"/>
            </a:endParaRPr>
          </a:p>
        </p:txBody>
      </p:sp>
      <p:pic>
        <p:nvPicPr>
          <p:cNvPr id="308" name="Google Shape;308;p22"/>
          <p:cNvPicPr preferRelativeResize="0"/>
          <p:nvPr/>
        </p:nvPicPr>
        <p:blipFill rotWithShape="1">
          <a:blip r:embed="rId4">
            <a:alphaModFix/>
          </a:blip>
          <a:srcRect b="0" l="0" r="0" t="0"/>
          <a:stretch/>
        </p:blipFill>
        <p:spPr>
          <a:xfrm>
            <a:off x="8206532" y="4754773"/>
            <a:ext cx="1441847" cy="1005757"/>
          </a:xfrm>
          <a:prstGeom prst="rect">
            <a:avLst/>
          </a:prstGeom>
          <a:noFill/>
          <a:ln>
            <a:noFill/>
          </a:ln>
        </p:spPr>
      </p:pic>
      <p:sp>
        <p:nvSpPr>
          <p:cNvPr id="309" name="Google Shape;309;p22"/>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1(A–D). Receptor expression and sensory-cell localization in the antenna.</a:t>
            </a:r>
            <a:endParaRPr sz="1800">
              <a:solidFill>
                <a:schemeClr val="dk1"/>
              </a:solidFill>
              <a:latin typeface="Calibri"/>
              <a:ea typeface="Calibri"/>
              <a:cs typeface="Calibri"/>
              <a:sym typeface="Calibri"/>
            </a:endParaRPr>
          </a:p>
        </p:txBody>
      </p:sp>
      <p:sp>
        <p:nvSpPr>
          <p:cNvPr id="310" name="Google Shape;310;p22"/>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2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Shiota et al. (2021); Sakurai et al. (2011)</a:t>
            </a:r>
            <a:endParaRPr sz="1800">
              <a:solidFill>
                <a:schemeClr val="dk1"/>
              </a:solidFill>
              <a:latin typeface="Calibri"/>
              <a:ea typeface="Calibri"/>
              <a:cs typeface="Calibri"/>
              <a:sym typeface="Calibri"/>
            </a:endParaRPr>
          </a:p>
        </p:txBody>
      </p:sp>
      <p:sp>
        <p:nvSpPr>
          <p:cNvPr id="312" name="Google Shape;312;p2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sp>
        <p:nvSpPr>
          <p:cNvPr id="317" name="Google Shape;317;p2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Slow termination changes the surge–turn sequence</a:t>
            </a:r>
            <a:endParaRPr sz="1800">
              <a:solidFill>
                <a:schemeClr val="dk1"/>
              </a:solidFill>
              <a:latin typeface="Calibri"/>
              <a:ea typeface="Calibri"/>
              <a:cs typeface="Calibri"/>
              <a:sym typeface="Calibri"/>
            </a:endParaRPr>
          </a:p>
        </p:txBody>
      </p:sp>
      <p:sp>
        <p:nvSpPr>
          <p:cNvPr id="318" name="Google Shape;318;p23"/>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Peripheral timing can affect the reset of searching behavior. Shiota and colleagues measured tethered males’ body angle during isolated and repeated bombykol exposure. Knockouts retained the complete surge–zigzag sequence after a single pulse, but their initial surge lasted longer than in normal males.</a:t>
            </a:r>
            <a:endParaRPr sz="1800">
              <a:solidFill>
                <a:schemeClr val="dk1"/>
              </a:solidFill>
              <a:latin typeface="Calibri"/>
              <a:ea typeface="Calibri"/>
              <a:cs typeface="Calibri"/>
              <a:sym typeface="Calibri"/>
            </a:endParaRPr>
          </a:p>
        </p:txBody>
      </p:sp>
      <p:sp>
        <p:nvSpPr>
          <p:cNvPr id="319" name="Google Shape;319;p23"/>
          <p:cNvSpPr/>
          <p:nvPr/>
        </p:nvSpPr>
        <p:spPr>
          <a:xfrm>
            <a:off x="566886" y="2672507"/>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At 0.17 Hz, successive contacts restarted surges in both groups. At 0.83 and 2 Hz, knockouts had lower surge rates and more zigzag turning. They also produced fewer surges lasting more than 2 s during the 2-Hz train, despite the prolonged response to an isolated stimulus.</a:t>
            </a:r>
            <a:endParaRPr sz="1800">
              <a:solidFill>
                <a:schemeClr val="dk1"/>
              </a:solidFill>
              <a:latin typeface="Calibri"/>
              <a:ea typeface="Calibri"/>
              <a:cs typeface="Calibri"/>
              <a:sym typeface="Calibri"/>
            </a:endParaRPr>
          </a:p>
        </p:txBody>
      </p:sp>
      <p:sp>
        <p:nvSpPr>
          <p:cNvPr id="320" name="Google Shape;320;p23"/>
          <p:cNvSpPr/>
          <p:nvPr/>
        </p:nvSpPr>
        <p:spPr>
          <a:xfrm>
            <a:off x="566886" y="3891260"/>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A longer sensory response does not necessarily produce more sustained forward progress under repeated stimulation. The authors proposed that poor separation of onsets prevents efficient resetting. The concordance among sensory and behavioral measurements supports this explanation without recording the intervening central circuit directly.</a:t>
            </a:r>
            <a:endParaRPr sz="1800">
              <a:solidFill>
                <a:schemeClr val="dk1"/>
              </a:solidFill>
              <a:latin typeface="Calibri"/>
              <a:ea typeface="Calibri"/>
              <a:cs typeface="Calibri"/>
              <a:sym typeface="Calibri"/>
            </a:endParaRPr>
          </a:p>
        </p:txBody>
      </p:sp>
      <p:pic>
        <p:nvPicPr>
          <p:cNvPr id="321" name="Google Shape;321;p23"/>
          <p:cNvPicPr preferRelativeResize="0"/>
          <p:nvPr/>
        </p:nvPicPr>
        <p:blipFill rotWithShape="1">
          <a:blip r:embed="rId3">
            <a:alphaModFix/>
          </a:blip>
          <a:srcRect b="0" l="0" r="0" t="0"/>
          <a:stretch/>
        </p:blipFill>
        <p:spPr>
          <a:xfrm>
            <a:off x="6962207" y="1280071"/>
            <a:ext cx="4158798" cy="4297561"/>
          </a:xfrm>
          <a:prstGeom prst="rect">
            <a:avLst/>
          </a:prstGeom>
          <a:noFill/>
          <a:ln>
            <a:noFill/>
          </a:ln>
        </p:spPr>
      </p:pic>
      <p:sp>
        <p:nvSpPr>
          <p:cNvPr id="322" name="Google Shape;322;p23"/>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Shiota et al. (2021), Fig. 4(A–E). Surge and turning behavior after pheromone-binding-protein loss.</a:t>
            </a:r>
            <a:endParaRPr sz="1800">
              <a:solidFill>
                <a:schemeClr val="dk1"/>
              </a:solidFill>
              <a:latin typeface="Calibri"/>
              <a:ea typeface="Calibri"/>
              <a:cs typeface="Calibri"/>
              <a:sym typeface="Calibri"/>
            </a:endParaRPr>
          </a:p>
        </p:txBody>
      </p:sp>
      <p:sp>
        <p:nvSpPr>
          <p:cNvPr id="323" name="Google Shape;323;p23"/>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2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Shiota et al. (2021)</a:t>
            </a:r>
            <a:endParaRPr sz="1800">
              <a:solidFill>
                <a:schemeClr val="dk1"/>
              </a:solidFill>
              <a:latin typeface="Calibri"/>
              <a:ea typeface="Calibri"/>
              <a:cs typeface="Calibri"/>
              <a:sym typeface="Calibri"/>
            </a:endParaRPr>
          </a:p>
        </p:txBody>
      </p:sp>
      <p:sp>
        <p:nvSpPr>
          <p:cNvPr id="325" name="Google Shape;325;p2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9" name="Shape 329"/>
        <p:cNvGrpSpPr/>
        <p:nvPr/>
      </p:nvGrpSpPr>
      <p:grpSpPr>
        <a:xfrm>
          <a:off x="0" y="0"/>
          <a:ext cx="0" cy="0"/>
          <a:chOff x="0" y="0"/>
          <a:chExt cx="0" cy="0"/>
        </a:xfrm>
      </p:grpSpPr>
      <p:sp>
        <p:nvSpPr>
          <p:cNvPr id="330" name="Google Shape;330;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Binding-protein loss delays source finding</a:t>
            </a:r>
            <a:endParaRPr sz="1800">
              <a:solidFill>
                <a:schemeClr val="dk1"/>
              </a:solidFill>
              <a:latin typeface="Calibri"/>
              <a:ea typeface="Calibri"/>
              <a:cs typeface="Calibri"/>
              <a:sym typeface="Calibri"/>
            </a:endParaRPr>
          </a:p>
        </p:txBody>
      </p:sp>
      <p:sp>
        <p:nvSpPr>
          <p:cNvPr id="331" name="Google Shape;331;p24"/>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Shiota and colleagues allowed males to walk freely in a wind tunnel toward pulsed bombykol or real females. Normal moths received 1–100 ng bombykol source loads; knockouts received 100–10,000 ng to compensate for lower sensitivity. Source-finding success and time were measured separately.</a:t>
            </a:r>
            <a:endParaRPr sz="1800">
              <a:solidFill>
                <a:schemeClr val="dk1"/>
              </a:solidFill>
              <a:latin typeface="Calibri"/>
              <a:ea typeface="Calibri"/>
              <a:cs typeface="Calibri"/>
              <a:sym typeface="Calibri"/>
            </a:endParaRPr>
          </a:p>
        </p:txBody>
      </p:sp>
      <p:sp>
        <p:nvSpPr>
          <p:cNvPr id="332" name="Google Shape;332;p24"/>
          <p:cNvSpPr/>
          <p:nvPr/>
        </p:nvSpPr>
        <p:spPr>
          <a:xfrm>
            <a:off x="566886" y="2672507"/>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Both groups could locate the source, with similar success across the tested treatments. Knockouts took longer, followed shorter forward surges and accumulated more turning. Searching toward real females produced the same qualitative combination of preserved success and reduced efficiency.</a:t>
            </a:r>
            <a:endParaRPr sz="1800">
              <a:solidFill>
                <a:schemeClr val="dk1"/>
              </a:solidFill>
              <a:latin typeface="Calibri"/>
              <a:ea typeface="Calibri"/>
              <a:cs typeface="Calibri"/>
              <a:sym typeface="Calibri"/>
            </a:endParaRPr>
          </a:p>
        </p:txBody>
      </p:sp>
      <p:sp>
        <p:nvSpPr>
          <p:cNvPr id="333" name="Google Shape;333;p24"/>
          <p:cNvSpPr/>
          <p:nvPr/>
        </p:nvSpPr>
        <p:spPr>
          <a:xfrm>
            <a:off x="566886" y="4110633"/>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The loss of BmPBP1 therefore impairs efficient navigation without abolishing odor-guided searching. Dose comparisons and female-source tests weaken a simple insufficient-dose explanation. They do not establish that the mutant lacks spatial information entirely or isolate one central neuron responsible for the delayed arrival.</a:t>
            </a:r>
            <a:endParaRPr sz="1800">
              <a:solidFill>
                <a:schemeClr val="dk1"/>
              </a:solidFill>
              <a:latin typeface="Calibri"/>
              <a:ea typeface="Calibri"/>
              <a:cs typeface="Calibri"/>
              <a:sym typeface="Calibri"/>
            </a:endParaRPr>
          </a:p>
        </p:txBody>
      </p:sp>
      <p:pic>
        <p:nvPicPr>
          <p:cNvPr id="334" name="Google Shape;334;p24"/>
          <p:cNvPicPr preferRelativeResize="0"/>
          <p:nvPr/>
        </p:nvPicPr>
        <p:blipFill rotWithShape="1">
          <a:blip r:embed="rId3">
            <a:alphaModFix/>
          </a:blip>
          <a:srcRect b="0" l="0" r="0" t="0"/>
          <a:stretch/>
        </p:blipFill>
        <p:spPr>
          <a:xfrm>
            <a:off x="7384801" y="1280071"/>
            <a:ext cx="3313909" cy="4297561"/>
          </a:xfrm>
          <a:prstGeom prst="rect">
            <a:avLst/>
          </a:prstGeom>
          <a:noFill/>
          <a:ln>
            <a:noFill/>
          </a:ln>
        </p:spPr>
      </p:pic>
      <p:sp>
        <p:nvSpPr>
          <p:cNvPr id="335" name="Google Shape;335;p24"/>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Shiota et al. (2021), Fig. 5(A–I). Source-finding performance for synthetic pheromone and females.</a:t>
            </a:r>
            <a:endParaRPr sz="1800">
              <a:solidFill>
                <a:schemeClr val="dk1"/>
              </a:solidFill>
              <a:latin typeface="Calibri"/>
              <a:ea typeface="Calibri"/>
              <a:cs typeface="Calibri"/>
              <a:sym typeface="Calibri"/>
            </a:endParaRPr>
          </a:p>
        </p:txBody>
      </p:sp>
      <p:sp>
        <p:nvSpPr>
          <p:cNvPr id="336" name="Google Shape;336;p24"/>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 name="Google Shape;337;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Shiota et al. (2021)</a:t>
            </a:r>
            <a:endParaRPr sz="1800">
              <a:solidFill>
                <a:schemeClr val="dk1"/>
              </a:solidFill>
              <a:latin typeface="Calibri"/>
              <a:ea typeface="Calibri"/>
              <a:cs typeface="Calibri"/>
              <a:sym typeface="Calibri"/>
            </a:endParaRPr>
          </a:p>
        </p:txBody>
      </p:sp>
      <p:sp>
        <p:nvSpPr>
          <p:cNvPr id="338" name="Google Shape;338;p2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2" name="Shape 342"/>
        <p:cNvGrpSpPr/>
        <p:nvPr/>
      </p:nvGrpSpPr>
      <p:grpSpPr>
        <a:xfrm>
          <a:off x="0" y="0"/>
          <a:ext cx="0" cy="0"/>
          <a:chOff x="0" y="0"/>
          <a:chExt cx="0" cy="0"/>
        </a:xfrm>
      </p:grpSpPr>
      <p:sp>
        <p:nvSpPr>
          <p:cNvPr id="343" name="Google Shape;343;p2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 dedicated glomerulus relays bombykol input</a:t>
            </a:r>
            <a:endParaRPr sz="1800">
              <a:solidFill>
                <a:schemeClr val="dk1"/>
              </a:solidFill>
              <a:latin typeface="Calibri"/>
              <a:ea typeface="Calibri"/>
              <a:cs typeface="Calibri"/>
              <a:sym typeface="Calibri"/>
            </a:endParaRPr>
          </a:p>
        </p:txBody>
      </p:sp>
      <p:sp>
        <p:nvSpPr>
          <p:cNvPr id="344" name="Google Shape;344;p25"/>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The </a:t>
            </a:r>
            <a:r>
              <a:rPr b="1" i="0" lang="en-US" sz="1600">
                <a:solidFill>
                  <a:srgbClr val="425B70"/>
                </a:solidFill>
                <a:latin typeface="Arial"/>
                <a:ea typeface="Arial"/>
                <a:cs typeface="Arial"/>
                <a:sym typeface="Arial"/>
              </a:rPr>
              <a:t>antennal lobe</a:t>
            </a:r>
            <a:r>
              <a:rPr b="0" i="0" lang="en-US" sz="1600">
                <a:solidFill>
                  <a:srgbClr val="242B31"/>
                </a:solidFill>
                <a:latin typeface="Arial"/>
                <a:ea typeface="Arial"/>
                <a:cs typeface="Arial"/>
                <a:sym typeface="Arial"/>
              </a:rPr>
              <a:t> is the first central olfactory processing region. Bombykol-sensitive ORNs terminate in its toroid, where </a:t>
            </a:r>
            <a:r>
              <a:rPr b="1" i="0" lang="en-US" sz="1600">
                <a:solidFill>
                  <a:srgbClr val="425B70"/>
                </a:solidFill>
                <a:latin typeface="Arial"/>
                <a:ea typeface="Arial"/>
                <a:cs typeface="Arial"/>
                <a:sym typeface="Arial"/>
              </a:rPr>
              <a:t>projection neurons</a:t>
            </a:r>
            <a:r>
              <a:rPr b="0" i="0" lang="en-US" sz="1600">
                <a:solidFill>
                  <a:srgbClr val="242B31"/>
                </a:solidFill>
                <a:latin typeface="Arial"/>
                <a:ea typeface="Arial"/>
                <a:cs typeface="Arial"/>
                <a:sym typeface="Arial"/>
              </a:rPr>
              <a:t>, or PNs, carry processed information toward higher brain regions. </a:t>
            </a:r>
            <a:r>
              <a:rPr b="1" i="0" lang="en-US" sz="1600">
                <a:solidFill>
                  <a:srgbClr val="425B70"/>
                </a:solidFill>
                <a:latin typeface="Arial"/>
                <a:ea typeface="Arial"/>
                <a:cs typeface="Arial"/>
                <a:sym typeface="Arial"/>
              </a:rPr>
              <a:t>Local interneurons</a:t>
            </a:r>
            <a:r>
              <a:rPr b="0" i="0" lang="en-US" sz="1600">
                <a:solidFill>
                  <a:srgbClr val="242B31"/>
                </a:solidFill>
                <a:latin typeface="Arial"/>
                <a:ea typeface="Arial"/>
                <a:cs typeface="Arial"/>
                <a:sym typeface="Arial"/>
              </a:rPr>
              <a:t> connect within the antennal lobe and influence its input–output transformation.</a:t>
            </a:r>
            <a:endParaRPr sz="1800">
              <a:solidFill>
                <a:schemeClr val="dk1"/>
              </a:solidFill>
              <a:latin typeface="Calibri"/>
              <a:ea typeface="Calibri"/>
              <a:cs typeface="Calibri"/>
              <a:sym typeface="Calibri"/>
            </a:endParaRPr>
          </a:p>
        </p:txBody>
      </p:sp>
      <p:sp>
        <p:nvSpPr>
          <p:cNvPr id="345" name="Google Shape;345;p25"/>
          <p:cNvSpPr/>
          <p:nvPr/>
        </p:nvSpPr>
        <p:spPr>
          <a:xfrm>
            <a:off x="566886" y="2672507"/>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Fujiwara and colleagues expressed </a:t>
            </a:r>
            <a:r>
              <a:rPr b="1" i="0" lang="en-US" sz="1600">
                <a:solidFill>
                  <a:srgbClr val="425B70"/>
                </a:solidFill>
                <a:latin typeface="Arial"/>
                <a:ea typeface="Arial"/>
                <a:cs typeface="Arial"/>
                <a:sym typeface="Arial"/>
              </a:rPr>
              <a:t>GCaMP</a:t>
            </a:r>
            <a:r>
              <a:rPr b="0" i="0" lang="en-US" sz="1600">
                <a:solidFill>
                  <a:srgbClr val="242B31"/>
                </a:solidFill>
                <a:latin typeface="Arial"/>
                <a:ea typeface="Arial"/>
                <a:cs typeface="Arial"/>
                <a:sym typeface="Arial"/>
              </a:rPr>
              <a:t>, a calcium-sensitive fluorescent protein, selectively in BmOR1 neurons. Their axon terminals were localized to the toroid. Calcium signals increased with bombykol source load and remained concentration dependent during repeated 200-ms pulses delivered every 1.2 s.</a:t>
            </a:r>
            <a:endParaRPr sz="1800">
              <a:solidFill>
                <a:schemeClr val="dk1"/>
              </a:solidFill>
              <a:latin typeface="Calibri"/>
              <a:ea typeface="Calibri"/>
              <a:cs typeface="Calibri"/>
              <a:sym typeface="Calibri"/>
            </a:endParaRPr>
          </a:p>
        </p:txBody>
      </p:sp>
      <p:sp>
        <p:nvSpPr>
          <p:cNvPr id="346" name="Google Shape;346;p25"/>
          <p:cNvSpPr/>
          <p:nvPr/>
        </p:nvSpPr>
        <p:spPr>
          <a:xfrm>
            <a:off x="566886" y="4110633"/>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Sensory-terminal signals thus retained dose dependence even when downstream PN firing became less dose dependent after repeated stimulation. The comparison locates an additional transformation within the central pathway. Calcium fluorescence is an indirect activity measure and cannot be equated numerically with the firing rate recorded from a PN.</a:t>
            </a:r>
            <a:endParaRPr sz="1800">
              <a:solidFill>
                <a:schemeClr val="dk1"/>
              </a:solidFill>
              <a:latin typeface="Calibri"/>
              <a:ea typeface="Calibri"/>
              <a:cs typeface="Calibri"/>
              <a:sym typeface="Calibri"/>
            </a:endParaRPr>
          </a:p>
        </p:txBody>
      </p:sp>
      <p:pic>
        <p:nvPicPr>
          <p:cNvPr id="347" name="Google Shape;347;p25"/>
          <p:cNvPicPr preferRelativeResize="0"/>
          <p:nvPr/>
        </p:nvPicPr>
        <p:blipFill rotWithShape="1">
          <a:blip r:embed="rId3">
            <a:alphaModFix/>
          </a:blip>
          <a:srcRect b="0" l="0" r="0" t="0"/>
          <a:stretch/>
        </p:blipFill>
        <p:spPr>
          <a:xfrm>
            <a:off x="7801134" y="1280071"/>
            <a:ext cx="2480945" cy="4297561"/>
          </a:xfrm>
          <a:prstGeom prst="rect">
            <a:avLst/>
          </a:prstGeom>
          <a:noFill/>
          <a:ln>
            <a:noFill/>
          </a:ln>
        </p:spPr>
      </p:pic>
      <p:sp>
        <p:nvSpPr>
          <p:cNvPr id="348" name="Google Shape;348;p25"/>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Fujiwara et al. (2014), Fig. 4(A–G). Sensory-terminal anatomy and concentration-dependent calcium responses.</a:t>
            </a:r>
            <a:endParaRPr sz="1800">
              <a:solidFill>
                <a:schemeClr val="dk1"/>
              </a:solidFill>
              <a:latin typeface="Calibri"/>
              <a:ea typeface="Calibri"/>
              <a:cs typeface="Calibri"/>
              <a:sym typeface="Calibri"/>
            </a:endParaRPr>
          </a:p>
        </p:txBody>
      </p:sp>
      <p:sp>
        <p:nvSpPr>
          <p:cNvPr id="349" name="Google Shape;349;p25"/>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2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Fujiwara et al. (2014)</a:t>
            </a:r>
            <a:endParaRPr sz="1800">
              <a:solidFill>
                <a:schemeClr val="dk1"/>
              </a:solidFill>
              <a:latin typeface="Calibri"/>
              <a:ea typeface="Calibri"/>
              <a:cs typeface="Calibri"/>
              <a:sym typeface="Calibri"/>
            </a:endParaRPr>
          </a:p>
        </p:txBody>
      </p:sp>
      <p:sp>
        <p:nvSpPr>
          <p:cNvPr id="351" name="Google Shape;351;p2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5" name="Shape 355"/>
        <p:cNvGrpSpPr/>
        <p:nvPr/>
      </p:nvGrpSpPr>
      <p:grpSpPr>
        <a:xfrm>
          <a:off x="0" y="0"/>
          <a:ext cx="0" cy="0"/>
          <a:chOff x="0" y="0"/>
          <a:chExt cx="0" cy="0"/>
        </a:xfrm>
      </p:grpSpPr>
      <p:sp>
        <p:nvSpPr>
          <p:cNvPr id="356" name="Google Shape;356;p2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Optogenetics controls sensory input timing</a:t>
            </a:r>
            <a:endParaRPr sz="1800">
              <a:solidFill>
                <a:schemeClr val="dk1"/>
              </a:solidFill>
              <a:latin typeface="Calibri"/>
              <a:ea typeface="Calibri"/>
              <a:cs typeface="Calibri"/>
              <a:sym typeface="Calibri"/>
            </a:endParaRPr>
          </a:p>
        </p:txBody>
      </p:sp>
      <p:sp>
        <p:nvSpPr>
          <p:cNvPr id="357" name="Google Shape;357;p26"/>
          <p:cNvSpPr/>
          <p:nvPr/>
        </p:nvSpPr>
        <p:spPr>
          <a:xfrm>
            <a:off x="566886" y="1234380"/>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500"/>
              <a:buFont typeface="Arial"/>
              <a:buNone/>
            </a:pPr>
            <a:r>
              <a:rPr b="1" i="0" lang="en-US" sz="1500">
                <a:solidFill>
                  <a:srgbClr val="425B70"/>
                </a:solidFill>
                <a:latin typeface="Arial"/>
                <a:ea typeface="Arial"/>
                <a:cs typeface="Arial"/>
                <a:sym typeface="Arial"/>
              </a:rPr>
              <a:t>Optogenetics</a:t>
            </a:r>
            <a:r>
              <a:rPr b="0" i="0" lang="en-US" sz="1500">
                <a:solidFill>
                  <a:srgbClr val="242B31"/>
                </a:solidFill>
                <a:latin typeface="Arial"/>
                <a:ea typeface="Arial"/>
                <a:cs typeface="Arial"/>
                <a:sym typeface="Arial"/>
              </a:rPr>
              <a:t> uses a light-sensitive protein to control selected cells. Tabuchi and colleagues expressed </a:t>
            </a:r>
            <a:r>
              <a:rPr b="1" i="0" lang="en-US" sz="1500">
                <a:solidFill>
                  <a:srgbClr val="425B70"/>
                </a:solidFill>
                <a:latin typeface="Arial"/>
                <a:ea typeface="Arial"/>
                <a:cs typeface="Arial"/>
                <a:sym typeface="Arial"/>
              </a:rPr>
              <a:t>channelrhodopsin-2</a:t>
            </a:r>
            <a:r>
              <a:rPr b="0" i="0" lang="en-US" sz="1500">
                <a:solidFill>
                  <a:srgbClr val="242B31"/>
                </a:solidFill>
                <a:latin typeface="Arial"/>
                <a:ea typeface="Arial"/>
                <a:cs typeface="Arial"/>
                <a:sym typeface="Arial"/>
              </a:rPr>
              <a:t>, or ChR2, in Bombyx bombykol-sensitive ORNs. ChR2 is a light-gated membrane channel; this intervention bypassed odor delivery while retaining the existing pheromone pathway.</a:t>
            </a:r>
            <a:endParaRPr sz="1800">
              <a:solidFill>
                <a:schemeClr val="dk1"/>
              </a:solidFill>
              <a:latin typeface="Calibri"/>
              <a:ea typeface="Calibri"/>
              <a:cs typeface="Calibri"/>
              <a:sym typeface="Calibri"/>
            </a:endParaRPr>
          </a:p>
        </p:txBody>
      </p:sp>
      <p:sp>
        <p:nvSpPr>
          <p:cNvPr id="358" name="Google Shape;358;p26"/>
          <p:cNvSpPr/>
          <p:nvPr/>
        </p:nvSpPr>
        <p:spPr>
          <a:xfrm>
            <a:off x="566886" y="258276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Blue-light stimulation evoked sensory spikes and pheromone-like wing flapping and zigzag turns. Controls lacking one genetic component, antennae or the required retinal cofactor did not respond in the same way. Light wavelength controls further separated ChR2 activation from a general behavioral effect of illumination.</a:t>
            </a:r>
            <a:endParaRPr sz="1800">
              <a:solidFill>
                <a:schemeClr val="dk1"/>
              </a:solidFill>
              <a:latin typeface="Calibri"/>
              <a:ea typeface="Calibri"/>
              <a:cs typeface="Calibri"/>
              <a:sym typeface="Calibri"/>
            </a:endParaRPr>
          </a:p>
        </p:txBody>
      </p:sp>
      <p:sp>
        <p:nvSpPr>
          <p:cNvPr id="359" name="Google Shape;359;p26"/>
          <p:cNvSpPr/>
          <p:nvPr/>
        </p:nvSpPr>
        <p:spPr>
          <a:xfrm>
            <a:off x="566886" y="3931146"/>
            <a:ext cx="55447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The preparation gives millisecond control over afferent timing, allowing central integration to be tested without uncertain plume transit or binding kinetics. Artificial light activation is not natural pheromone transduction. Its value is selective stimulation of an identified input channel, rather than replacement of the chemical mechanism under natural conditions.</a:t>
            </a:r>
            <a:endParaRPr sz="1800">
              <a:solidFill>
                <a:schemeClr val="dk1"/>
              </a:solidFill>
              <a:latin typeface="Calibri"/>
              <a:ea typeface="Calibri"/>
              <a:cs typeface="Calibri"/>
              <a:sym typeface="Calibri"/>
            </a:endParaRPr>
          </a:p>
        </p:txBody>
      </p:sp>
      <p:pic>
        <p:nvPicPr>
          <p:cNvPr id="360" name="Google Shape;360;p26"/>
          <p:cNvPicPr preferRelativeResize="0"/>
          <p:nvPr/>
        </p:nvPicPr>
        <p:blipFill rotWithShape="1">
          <a:blip r:embed="rId3">
            <a:alphaModFix/>
          </a:blip>
          <a:srcRect b="0" l="0" r="0" t="0"/>
          <a:stretch/>
        </p:blipFill>
        <p:spPr>
          <a:xfrm>
            <a:off x="7672395" y="1280071"/>
            <a:ext cx="2738721" cy="4297561"/>
          </a:xfrm>
          <a:prstGeom prst="rect">
            <a:avLst/>
          </a:prstGeom>
          <a:noFill/>
          <a:ln>
            <a:noFill/>
          </a:ln>
        </p:spPr>
      </p:pic>
      <p:sp>
        <p:nvSpPr>
          <p:cNvPr id="361" name="Google Shape;361;p26"/>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1(A–H). Selective receptor-neuron activation and resulting behavior.</a:t>
            </a:r>
            <a:endParaRPr sz="1800">
              <a:solidFill>
                <a:schemeClr val="dk1"/>
              </a:solidFill>
              <a:latin typeface="Calibri"/>
              <a:ea typeface="Calibri"/>
              <a:cs typeface="Calibri"/>
              <a:sym typeface="Calibri"/>
            </a:endParaRPr>
          </a:p>
        </p:txBody>
      </p:sp>
      <p:sp>
        <p:nvSpPr>
          <p:cNvPr id="362" name="Google Shape;362;p26"/>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2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Tabuchi et al. (2013)</a:t>
            </a:r>
            <a:endParaRPr sz="1800">
              <a:solidFill>
                <a:schemeClr val="dk1"/>
              </a:solidFill>
              <a:latin typeface="Calibri"/>
              <a:ea typeface="Calibri"/>
              <a:cs typeface="Calibri"/>
              <a:sym typeface="Calibri"/>
            </a:endParaRPr>
          </a:p>
        </p:txBody>
      </p:sp>
      <p:sp>
        <p:nvSpPr>
          <p:cNvPr id="364" name="Google Shape;364;p2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8" name="Shape 368"/>
        <p:cNvGrpSpPr/>
        <p:nvPr/>
      </p:nvGrpSpPr>
      <p:grpSpPr>
        <a:xfrm>
          <a:off x="0" y="0"/>
          <a:ext cx="0" cy="0"/>
          <a:chOff x="0" y="0"/>
          <a:chExt cx="0" cy="0"/>
        </a:xfrm>
      </p:grpSpPr>
      <p:sp>
        <p:nvSpPr>
          <p:cNvPr id="369" name="Google Shape;369;p2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Brief light pulses regulate sensory spike output</a:t>
            </a:r>
            <a:endParaRPr sz="1800">
              <a:solidFill>
                <a:schemeClr val="dk1"/>
              </a:solidFill>
              <a:latin typeface="Calibri"/>
              <a:ea typeface="Calibri"/>
              <a:cs typeface="Calibri"/>
              <a:sym typeface="Calibri"/>
            </a:endParaRPr>
          </a:p>
        </p:txBody>
      </p:sp>
      <p:sp>
        <p:nvSpPr>
          <p:cNvPr id="370" name="Google Shape;370;p27"/>
          <p:cNvSpPr/>
          <p:nvPr/>
        </p:nvSpPr>
        <p:spPr>
          <a:xfrm>
            <a:off x="566886" y="1234380"/>
            <a:ext cx="5316141"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400"/>
              <a:buFont typeface="Arial"/>
              <a:buNone/>
            </a:pPr>
            <a:r>
              <a:rPr b="0" i="0" lang="en-US" sz="1400">
                <a:solidFill>
                  <a:srgbClr val="242B31"/>
                </a:solidFill>
                <a:latin typeface="Arial"/>
                <a:ea typeface="Arial"/>
                <a:cs typeface="Arial"/>
                <a:sym typeface="Arial"/>
              </a:rPr>
              <a:t>Tabuchi and colleagues recorded spikes from pheromone-sensitive sensilla while activating ChR2-expressing neurons. Increasing light intensity or pulse duration increased the sensory response. Bombykol and blue light evoked spikes of the same amplitude from the targeted unit; parental genetic controls lacked the light response.</a:t>
            </a:r>
            <a:endParaRPr sz="1800">
              <a:solidFill>
                <a:schemeClr val="dk1"/>
              </a:solidFill>
              <a:latin typeface="Calibri"/>
              <a:ea typeface="Calibri"/>
              <a:cs typeface="Calibri"/>
              <a:sym typeface="Calibri"/>
            </a:endParaRPr>
          </a:p>
        </p:txBody>
      </p:sp>
      <p:sp>
        <p:nvSpPr>
          <p:cNvPr id="371" name="Google Shape;371;p27"/>
          <p:cNvSpPr/>
          <p:nvPr/>
        </p:nvSpPr>
        <p:spPr>
          <a:xfrm>
            <a:off x="566886" y="2492871"/>
            <a:ext cx="5316141"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400"/>
              <a:buFont typeface="Arial"/>
              <a:buNone/>
            </a:pPr>
            <a:r>
              <a:rPr b="0" i="0" lang="en-US" sz="1400">
                <a:solidFill>
                  <a:srgbClr val="242B31"/>
                </a:solidFill>
                <a:latin typeface="Arial"/>
                <a:ea typeface="Arial"/>
                <a:cs typeface="Arial"/>
                <a:sym typeface="Arial"/>
              </a:rPr>
              <a:t>Paired light pulses could therefore impose a reproducible temporal pattern on the bombykol channel. The authors compared 3-ms pulses, near behavioral threshold, with 10-ms pulses producing strong behavioral responsiveness. These durations define weak and strong input for this optogenetic preparation.</a:t>
            </a:r>
            <a:endParaRPr sz="1800">
              <a:solidFill>
                <a:schemeClr val="dk1"/>
              </a:solidFill>
              <a:latin typeface="Calibri"/>
              <a:ea typeface="Calibri"/>
              <a:cs typeface="Calibri"/>
              <a:sym typeface="Calibri"/>
            </a:endParaRPr>
          </a:p>
        </p:txBody>
      </p:sp>
      <p:sp>
        <p:nvSpPr>
          <p:cNvPr id="372" name="Google Shape;372;p27"/>
          <p:cNvSpPr/>
          <p:nvPr/>
        </p:nvSpPr>
        <p:spPr>
          <a:xfrm>
            <a:off x="566886" y="3751362"/>
            <a:ext cx="5316141"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400"/>
              <a:buFont typeface="Arial"/>
              <a:buNone/>
            </a:pPr>
            <a:r>
              <a:rPr b="0" i="0" lang="en-US" sz="1400">
                <a:solidFill>
                  <a:srgbClr val="242B31"/>
                </a:solidFill>
                <a:latin typeface="Arial"/>
                <a:ea typeface="Arial"/>
                <a:cs typeface="Arial"/>
                <a:sym typeface="Arial"/>
              </a:rPr>
              <a:t>The distinction concerns the experimental neural input, not a universal conversion between milliseconds of light and pheromone concentration. The receptor neuron must be measured because light pulse duration alone does not specify transmitted spike output. Peripheral recordings also constrain claims that later amplification originates entirely in the sensory neuron.</a:t>
            </a:r>
            <a:endParaRPr sz="1800">
              <a:solidFill>
                <a:schemeClr val="dk1"/>
              </a:solidFill>
              <a:latin typeface="Calibri"/>
              <a:ea typeface="Calibri"/>
              <a:cs typeface="Calibri"/>
              <a:sym typeface="Calibri"/>
            </a:endParaRPr>
          </a:p>
        </p:txBody>
      </p:sp>
      <p:pic>
        <p:nvPicPr>
          <p:cNvPr id="373" name="Google Shape;373;p27"/>
          <p:cNvPicPr preferRelativeResize="0"/>
          <p:nvPr/>
        </p:nvPicPr>
        <p:blipFill rotWithShape="1">
          <a:blip r:embed="rId3">
            <a:alphaModFix/>
          </a:blip>
          <a:srcRect b="0" l="0" r="0" t="0"/>
          <a:stretch/>
        </p:blipFill>
        <p:spPr>
          <a:xfrm>
            <a:off x="6230030" y="1280071"/>
            <a:ext cx="5394552" cy="1336477"/>
          </a:xfrm>
          <a:prstGeom prst="rect">
            <a:avLst/>
          </a:prstGeom>
          <a:noFill/>
          <a:ln>
            <a:noFill/>
          </a:ln>
        </p:spPr>
      </p:pic>
      <p:sp>
        <p:nvSpPr>
          <p:cNvPr id="374" name="Google Shape;374;p27"/>
          <p:cNvSpPr/>
          <p:nvPr/>
        </p:nvSpPr>
        <p:spPr>
          <a:xfrm>
            <a:off x="6229796" y="2708077"/>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2(A–C). Light pulses control sensory-neuron spike output.</a:t>
            </a:r>
            <a:endParaRPr sz="1800">
              <a:solidFill>
                <a:schemeClr val="dk1"/>
              </a:solidFill>
              <a:latin typeface="Calibri"/>
              <a:ea typeface="Calibri"/>
              <a:cs typeface="Calibri"/>
              <a:sym typeface="Calibri"/>
            </a:endParaRPr>
          </a:p>
        </p:txBody>
      </p:sp>
      <p:pic>
        <p:nvPicPr>
          <p:cNvPr id="375" name="Google Shape;375;p27"/>
          <p:cNvPicPr preferRelativeResize="0"/>
          <p:nvPr/>
        </p:nvPicPr>
        <p:blipFill rotWithShape="1">
          <a:blip r:embed="rId4">
            <a:alphaModFix/>
          </a:blip>
          <a:srcRect b="0" l="0" r="0" t="0"/>
          <a:stretch/>
        </p:blipFill>
        <p:spPr>
          <a:xfrm>
            <a:off x="8206532" y="4754773"/>
            <a:ext cx="1441847" cy="1005757"/>
          </a:xfrm>
          <a:prstGeom prst="rect">
            <a:avLst/>
          </a:prstGeom>
          <a:noFill/>
          <a:ln>
            <a:noFill/>
          </a:ln>
        </p:spPr>
      </p:pic>
      <p:sp>
        <p:nvSpPr>
          <p:cNvPr id="376" name="Google Shape;376;p27"/>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Sakurai et al. (2011), Fig. 1(A–D). Receptor expression and sensory-cell localization in the antenna.</a:t>
            </a:r>
            <a:endParaRPr sz="1800">
              <a:solidFill>
                <a:schemeClr val="dk1"/>
              </a:solidFill>
              <a:latin typeface="Calibri"/>
              <a:ea typeface="Calibri"/>
              <a:cs typeface="Calibri"/>
              <a:sym typeface="Calibri"/>
            </a:endParaRPr>
          </a:p>
        </p:txBody>
      </p:sp>
      <p:sp>
        <p:nvSpPr>
          <p:cNvPr id="377" name="Google Shape;377;p27"/>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2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Tabuchi et al. (2013); Sakurai et al. (2011)</a:t>
            </a:r>
            <a:endParaRPr sz="1800">
              <a:solidFill>
                <a:schemeClr val="dk1"/>
              </a:solidFill>
              <a:latin typeface="Calibri"/>
              <a:ea typeface="Calibri"/>
              <a:cs typeface="Calibri"/>
              <a:sym typeface="Calibri"/>
            </a:endParaRPr>
          </a:p>
        </p:txBody>
      </p:sp>
      <p:sp>
        <p:nvSpPr>
          <p:cNvPr id="379" name="Google Shape;379;p2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3" name="Shape 383"/>
        <p:cNvGrpSpPr/>
        <p:nvPr/>
      </p:nvGrpSpPr>
      <p:grpSpPr>
        <a:xfrm>
          <a:off x="0" y="0"/>
          <a:ext cx="0" cy="0"/>
          <a:chOff x="0" y="0"/>
          <a:chExt cx="0" cy="0"/>
        </a:xfrm>
      </p:grpSpPr>
      <p:sp>
        <p:nvSpPr>
          <p:cNvPr id="384" name="Google Shape;384;p2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Short intervals enhance behavioral responsiveness</a:t>
            </a:r>
            <a:endParaRPr sz="1800">
              <a:solidFill>
                <a:schemeClr val="dk1"/>
              </a:solidFill>
              <a:latin typeface="Calibri"/>
              <a:ea typeface="Calibri"/>
              <a:cs typeface="Calibri"/>
              <a:sym typeface="Calibri"/>
            </a:endParaRPr>
          </a:p>
        </p:txBody>
      </p:sp>
      <p:sp>
        <p:nvSpPr>
          <p:cNvPr id="385" name="Google Shape;385;p28"/>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Tabuchi and colleagues delivered two 3-ms light pulses to the bombykol sensory channel while varying the </a:t>
            </a:r>
            <a:r>
              <a:rPr b="1" i="0" lang="en-US" sz="1500">
                <a:solidFill>
                  <a:srgbClr val="425B70"/>
                </a:solidFill>
                <a:latin typeface="Arial"/>
                <a:ea typeface="Arial"/>
                <a:cs typeface="Arial"/>
                <a:sym typeface="Arial"/>
              </a:rPr>
              <a:t>interstimulus interval</a:t>
            </a:r>
            <a:r>
              <a:rPr b="0" i="0" lang="en-US" sz="1500">
                <a:solidFill>
                  <a:srgbClr val="242B31"/>
                </a:solidFill>
                <a:latin typeface="Arial"/>
                <a:ea typeface="Arial"/>
                <a:cs typeface="Arial"/>
                <a:sym typeface="Arial"/>
              </a:rPr>
              <a:t>, the time separating the pulses. Each pulse alone supplied weak input. The experiment tested whether closely spaced inputs could combine to cross the behavioral response threshold.</a:t>
            </a:r>
            <a:endParaRPr sz="1800">
              <a:solidFill>
                <a:schemeClr val="dk1"/>
              </a:solidFill>
              <a:latin typeface="Calibri"/>
              <a:ea typeface="Calibri"/>
              <a:cs typeface="Calibri"/>
              <a:sym typeface="Calibri"/>
            </a:endParaRPr>
          </a:p>
        </p:txBody>
      </p:sp>
      <p:sp>
        <p:nvSpPr>
          <p:cNvPr id="386" name="Google Shape;386;p28"/>
          <p:cNvSpPr/>
          <p:nvPr/>
        </p:nvSpPr>
        <p:spPr>
          <a:xfrm>
            <a:off x="566886" y="2582763"/>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At intervals of 100–180 ms, only about 17–28% of males responded. When the interval was below 80 ms, responsiveness increased more than twofold. The response depended on timing even though the number and duration of presented pulses remained controlled.</a:t>
            </a:r>
            <a:endParaRPr sz="1800">
              <a:solidFill>
                <a:schemeClr val="dk1"/>
              </a:solidFill>
              <a:latin typeface="Calibri"/>
              <a:ea typeface="Calibri"/>
              <a:cs typeface="Calibri"/>
              <a:sym typeface="Calibri"/>
            </a:endParaRPr>
          </a:p>
        </p:txBody>
      </p:sp>
      <p:sp>
        <p:nvSpPr>
          <p:cNvPr id="387" name="Google Shape;387;p28"/>
          <p:cNvSpPr/>
          <p:nvPr/>
        </p:nvSpPr>
        <p:spPr>
          <a:xfrm>
            <a:off x="566886" y="3725466"/>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500"/>
              <a:buFont typeface="Arial"/>
              <a:buNone/>
            </a:pPr>
            <a:r>
              <a:rPr b="1" i="0" lang="en-US" sz="1500">
                <a:solidFill>
                  <a:srgbClr val="425B70"/>
                </a:solidFill>
                <a:latin typeface="Arial"/>
                <a:ea typeface="Arial"/>
                <a:cs typeface="Arial"/>
                <a:sym typeface="Arial"/>
              </a:rPr>
              <a:t>Temporal integration</a:t>
            </a:r>
            <a:r>
              <a:rPr b="0" i="0" lang="en-US" sz="1500">
                <a:solidFill>
                  <a:srgbClr val="242B31"/>
                </a:solidFill>
                <a:latin typeface="Arial"/>
                <a:ea typeface="Arial"/>
                <a:cs typeface="Arial"/>
                <a:sym typeface="Arial"/>
              </a:rPr>
              <a:t> is the combination of inputs arriving over a limited period. The behavioral assay establishes a behaviorally relevant integration window but cannot alone identify its location. Projection-neuron recordings and sensory controls are needed to distinguish peripheral summation from a central transformation.</a:t>
            </a:r>
            <a:endParaRPr sz="1800">
              <a:solidFill>
                <a:schemeClr val="dk1"/>
              </a:solidFill>
              <a:latin typeface="Calibri"/>
              <a:ea typeface="Calibri"/>
              <a:cs typeface="Calibri"/>
              <a:sym typeface="Calibri"/>
            </a:endParaRPr>
          </a:p>
        </p:txBody>
      </p:sp>
      <p:pic>
        <p:nvPicPr>
          <p:cNvPr id="388" name="Google Shape;388;p28"/>
          <p:cNvPicPr preferRelativeResize="0"/>
          <p:nvPr/>
        </p:nvPicPr>
        <p:blipFill rotWithShape="1">
          <a:blip r:embed="rId3">
            <a:alphaModFix/>
          </a:blip>
          <a:srcRect b="0" l="0" r="0" t="0"/>
          <a:stretch/>
        </p:blipFill>
        <p:spPr>
          <a:xfrm>
            <a:off x="6229866" y="1280071"/>
            <a:ext cx="3886062" cy="3314105"/>
          </a:xfrm>
          <a:prstGeom prst="rect">
            <a:avLst/>
          </a:prstGeom>
          <a:noFill/>
          <a:ln>
            <a:noFill/>
          </a:ln>
        </p:spPr>
      </p:pic>
      <p:sp>
        <p:nvSpPr>
          <p:cNvPr id="389" name="Google Shape;389;p28"/>
          <p:cNvSpPr/>
          <p:nvPr/>
        </p:nvSpPr>
        <p:spPr>
          <a:xfrm>
            <a:off x="6229796" y="4685705"/>
            <a:ext cx="39052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3(single panel). Short interstimulus intervals enhance behavioral responsiveness.</a:t>
            </a:r>
            <a:endParaRPr sz="1800">
              <a:solidFill>
                <a:schemeClr val="dk1"/>
              </a:solidFill>
              <a:latin typeface="Calibri"/>
              <a:ea typeface="Calibri"/>
              <a:cs typeface="Calibri"/>
              <a:sym typeface="Calibri"/>
            </a:endParaRPr>
          </a:p>
        </p:txBody>
      </p:sp>
      <p:pic>
        <p:nvPicPr>
          <p:cNvPr id="390" name="Google Shape;390;p28"/>
          <p:cNvPicPr preferRelativeResize="0"/>
          <p:nvPr/>
        </p:nvPicPr>
        <p:blipFill rotWithShape="1">
          <a:blip r:embed="rId4">
            <a:alphaModFix/>
          </a:blip>
          <a:srcRect b="0" l="0" r="0" t="0"/>
          <a:stretch/>
        </p:blipFill>
        <p:spPr>
          <a:xfrm>
            <a:off x="10299055" y="2148818"/>
            <a:ext cx="1325761" cy="1144710"/>
          </a:xfrm>
          <a:prstGeom prst="rect">
            <a:avLst/>
          </a:prstGeom>
          <a:noFill/>
          <a:ln>
            <a:noFill/>
          </a:ln>
        </p:spPr>
      </p:pic>
      <p:sp>
        <p:nvSpPr>
          <p:cNvPr id="391" name="Google Shape;391;p28"/>
          <p:cNvSpPr/>
          <p:nvPr/>
        </p:nvSpPr>
        <p:spPr>
          <a:xfrm>
            <a:off x="10299055" y="3366790"/>
            <a:ext cx="1344811" cy="68535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1(C). Bombykol sensory axons terminate in the toroid.</a:t>
            </a:r>
            <a:endParaRPr sz="1800">
              <a:solidFill>
                <a:schemeClr val="dk1"/>
              </a:solidFill>
              <a:latin typeface="Calibri"/>
              <a:ea typeface="Calibri"/>
              <a:cs typeface="Calibri"/>
              <a:sym typeface="Calibri"/>
            </a:endParaRPr>
          </a:p>
        </p:txBody>
      </p:sp>
      <p:sp>
        <p:nvSpPr>
          <p:cNvPr id="392" name="Google Shape;392;p28"/>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2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Tabuchi et al. (2013)</a:t>
            </a:r>
            <a:endParaRPr sz="1800">
              <a:solidFill>
                <a:schemeClr val="dk1"/>
              </a:solidFill>
              <a:latin typeface="Calibri"/>
              <a:ea typeface="Calibri"/>
              <a:cs typeface="Calibri"/>
              <a:sym typeface="Calibri"/>
            </a:endParaRPr>
          </a:p>
        </p:txBody>
      </p:sp>
      <p:sp>
        <p:nvSpPr>
          <p:cNvPr id="394" name="Google Shape;394;p2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8" name="Shape 398"/>
        <p:cNvGrpSpPr/>
        <p:nvPr/>
      </p:nvGrpSpPr>
      <p:grpSpPr>
        <a:xfrm>
          <a:off x="0" y="0"/>
          <a:ext cx="0" cy="0"/>
          <a:chOff x="0" y="0"/>
          <a:chExt cx="0" cy="0"/>
        </a:xfrm>
      </p:grpSpPr>
      <p:sp>
        <p:nvSpPr>
          <p:cNvPr id="399" name="Google Shape;399;p2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Weak input is amplified in projection neurons</a:t>
            </a:r>
            <a:endParaRPr sz="1800">
              <a:solidFill>
                <a:schemeClr val="dk1"/>
              </a:solidFill>
              <a:latin typeface="Calibri"/>
              <a:ea typeface="Calibri"/>
              <a:cs typeface="Calibri"/>
              <a:sym typeface="Calibri"/>
            </a:endParaRPr>
          </a:p>
        </p:txBody>
      </p:sp>
      <p:sp>
        <p:nvSpPr>
          <p:cNvPr id="400" name="Google Shape;400;p29"/>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Tabuchi and colleagues recorded toroid projection neurons while presenting paired optogenetic inputs. At long intervals, the two responses remained temporally separated. With weak 3-ms pulses separated by 20–60 ms, the combined PN spike output exceeded the response obtained with widely separated pulses.</a:t>
            </a:r>
            <a:endParaRPr sz="1800">
              <a:solidFill>
                <a:schemeClr val="dk1"/>
              </a:solidFill>
              <a:latin typeface="Calibri"/>
              <a:ea typeface="Calibri"/>
              <a:cs typeface="Calibri"/>
              <a:sym typeface="Calibri"/>
            </a:endParaRPr>
          </a:p>
        </p:txBody>
      </p:sp>
      <p:sp>
        <p:nvSpPr>
          <p:cNvPr id="401" name="Google Shape;401;p29"/>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The integration window matched the interval range that enhanced behavior. Peripheral ORNs did not exhibit the same supralinear enhancement, and variation in conduction through the antennal nerve was negligible. These controls place the amplification after the recorded sensory input rather than in odor delivery.</a:t>
            </a:r>
            <a:endParaRPr sz="1800">
              <a:solidFill>
                <a:schemeClr val="dk1"/>
              </a:solidFill>
              <a:latin typeface="Calibri"/>
              <a:ea typeface="Calibri"/>
              <a:cs typeface="Calibri"/>
              <a:sym typeface="Calibri"/>
            </a:endParaRPr>
          </a:p>
        </p:txBody>
      </p:sp>
      <p:sp>
        <p:nvSpPr>
          <p:cNvPr id="402" name="Google Shape;402;p29"/>
          <p:cNvSpPr/>
          <p:nvPr/>
        </p:nvSpPr>
        <p:spPr>
          <a:xfrm>
            <a:off x="566886" y="393114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500"/>
              <a:buFont typeface="Arial"/>
              <a:buNone/>
            </a:pPr>
            <a:r>
              <a:rPr b="1" i="0" lang="en-US" sz="1500">
                <a:solidFill>
                  <a:srgbClr val="425B70"/>
                </a:solidFill>
                <a:latin typeface="Arial"/>
                <a:ea typeface="Arial"/>
                <a:cs typeface="Arial"/>
                <a:sym typeface="Arial"/>
              </a:rPr>
              <a:t>Supralinear integration</a:t>
            </a:r>
            <a:r>
              <a:rPr b="0" i="0" lang="en-US" sz="1500">
                <a:solidFill>
                  <a:srgbClr val="242B31"/>
                </a:solidFill>
                <a:latin typeface="Arial"/>
                <a:ea typeface="Arial"/>
                <a:cs typeface="Arial"/>
                <a:sym typeface="Arial"/>
              </a:rPr>
              <a:t> means output exceeds simple addition of the separate responses. Residual synaptic depolarization is a proposed contributor to the PN effect, but these recordings do not identify its complete membrane mechanism. The agreement with behavior supports relevance without proving that one PN alone determines the motor threshold.</a:t>
            </a:r>
            <a:endParaRPr sz="1800">
              <a:solidFill>
                <a:schemeClr val="dk1"/>
              </a:solidFill>
              <a:latin typeface="Calibri"/>
              <a:ea typeface="Calibri"/>
              <a:cs typeface="Calibri"/>
              <a:sym typeface="Calibri"/>
            </a:endParaRPr>
          </a:p>
        </p:txBody>
      </p:sp>
      <p:pic>
        <p:nvPicPr>
          <p:cNvPr id="403" name="Google Shape;403;p29"/>
          <p:cNvPicPr preferRelativeResize="0"/>
          <p:nvPr/>
        </p:nvPicPr>
        <p:blipFill rotWithShape="1">
          <a:blip r:embed="rId3">
            <a:alphaModFix/>
          </a:blip>
          <a:srcRect b="0" l="0" r="0" t="0"/>
          <a:stretch/>
        </p:blipFill>
        <p:spPr>
          <a:xfrm>
            <a:off x="6973854" y="1280071"/>
            <a:ext cx="2398532" cy="4297561"/>
          </a:xfrm>
          <a:prstGeom prst="rect">
            <a:avLst/>
          </a:prstGeom>
          <a:noFill/>
          <a:ln>
            <a:noFill/>
          </a:ln>
        </p:spPr>
      </p:pic>
      <p:sp>
        <p:nvSpPr>
          <p:cNvPr id="404" name="Google Shape;404;p29"/>
          <p:cNvSpPr/>
          <p:nvPr/>
        </p:nvSpPr>
        <p:spPr>
          <a:xfrm>
            <a:off x="6229796" y="5669161"/>
            <a:ext cx="39052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4(A–C). Weak and strong paired sensory inputs evoke different projection-neuron integration.</a:t>
            </a:r>
            <a:endParaRPr sz="1800">
              <a:solidFill>
                <a:schemeClr val="dk1"/>
              </a:solidFill>
              <a:latin typeface="Calibri"/>
              <a:ea typeface="Calibri"/>
              <a:cs typeface="Calibri"/>
              <a:sym typeface="Calibri"/>
            </a:endParaRPr>
          </a:p>
        </p:txBody>
      </p:sp>
      <p:pic>
        <p:nvPicPr>
          <p:cNvPr id="405" name="Google Shape;405;p29"/>
          <p:cNvPicPr preferRelativeResize="0"/>
          <p:nvPr/>
        </p:nvPicPr>
        <p:blipFill rotWithShape="1">
          <a:blip r:embed="rId4">
            <a:alphaModFix/>
          </a:blip>
          <a:srcRect b="0" l="0" r="0" t="0"/>
          <a:stretch/>
        </p:blipFill>
        <p:spPr>
          <a:xfrm>
            <a:off x="10299055" y="2148818"/>
            <a:ext cx="1325761" cy="1144710"/>
          </a:xfrm>
          <a:prstGeom prst="rect">
            <a:avLst/>
          </a:prstGeom>
          <a:noFill/>
          <a:ln>
            <a:noFill/>
          </a:ln>
        </p:spPr>
      </p:pic>
      <p:sp>
        <p:nvSpPr>
          <p:cNvPr id="406" name="Google Shape;406;p29"/>
          <p:cNvSpPr/>
          <p:nvPr/>
        </p:nvSpPr>
        <p:spPr>
          <a:xfrm>
            <a:off x="10299055" y="3366790"/>
            <a:ext cx="1344811" cy="68535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1(C). Bombykol sensory axons terminate in the toroid.</a:t>
            </a:r>
            <a:endParaRPr sz="1800">
              <a:solidFill>
                <a:schemeClr val="dk1"/>
              </a:solidFill>
              <a:latin typeface="Calibri"/>
              <a:ea typeface="Calibri"/>
              <a:cs typeface="Calibri"/>
              <a:sym typeface="Calibri"/>
            </a:endParaRPr>
          </a:p>
        </p:txBody>
      </p:sp>
      <p:sp>
        <p:nvSpPr>
          <p:cNvPr id="407" name="Google Shape;407;p29"/>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2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Tabuchi et al. (2013)</a:t>
            </a:r>
            <a:endParaRPr sz="1800">
              <a:solidFill>
                <a:schemeClr val="dk1"/>
              </a:solidFill>
              <a:latin typeface="Calibri"/>
              <a:ea typeface="Calibri"/>
              <a:cs typeface="Calibri"/>
              <a:sym typeface="Calibri"/>
            </a:endParaRPr>
          </a:p>
        </p:txBody>
      </p:sp>
      <p:sp>
        <p:nvSpPr>
          <p:cNvPr id="409" name="Google Shape;409;p2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3" name="Shape 413"/>
        <p:cNvGrpSpPr/>
        <p:nvPr/>
      </p:nvGrpSpPr>
      <p:grpSpPr>
        <a:xfrm>
          <a:off x="0" y="0"/>
          <a:ext cx="0" cy="0"/>
          <a:chOff x="0" y="0"/>
          <a:chExt cx="0" cy="0"/>
        </a:xfrm>
      </p:grpSpPr>
      <p:sp>
        <p:nvSpPr>
          <p:cNvPr id="414" name="Google Shape;414;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GABA limits integration of strong sensory input</a:t>
            </a:r>
            <a:endParaRPr sz="1800">
              <a:solidFill>
                <a:schemeClr val="dk1"/>
              </a:solidFill>
              <a:latin typeface="Calibri"/>
              <a:ea typeface="Calibri"/>
              <a:cs typeface="Calibri"/>
              <a:sym typeface="Calibri"/>
            </a:endParaRPr>
          </a:p>
        </p:txBody>
      </p:sp>
      <p:sp>
        <p:nvSpPr>
          <p:cNvPr id="415" name="Google Shape;415;p30"/>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500"/>
              <a:buFont typeface="Arial"/>
              <a:buNone/>
            </a:pPr>
            <a:r>
              <a:rPr b="1" i="0" lang="en-US" sz="1500">
                <a:solidFill>
                  <a:srgbClr val="425B70"/>
                </a:solidFill>
                <a:latin typeface="Arial"/>
                <a:ea typeface="Arial"/>
                <a:cs typeface="Arial"/>
                <a:sym typeface="Arial"/>
              </a:rPr>
              <a:t>GABA</a:t>
            </a:r>
            <a:r>
              <a:rPr b="0" i="0" lang="en-US" sz="1500">
                <a:solidFill>
                  <a:srgbClr val="242B31"/>
                </a:solidFill>
                <a:latin typeface="Arial"/>
                <a:ea typeface="Arial"/>
                <a:cs typeface="Arial"/>
                <a:sym typeface="Arial"/>
              </a:rPr>
              <a:t>, gamma-aminobutyric acid, is an inhibitory neurotransmitter used by many antennal-lobe local interneurons. Tabuchi and colleagues tested its contribution by combining blockers of GABA-A and GABA-B receptors during PN recordings. These receptor classes differ in their cellular signaling mechanisms.</a:t>
            </a:r>
            <a:endParaRPr sz="1800">
              <a:solidFill>
                <a:schemeClr val="dk1"/>
              </a:solidFill>
              <a:latin typeface="Calibri"/>
              <a:ea typeface="Calibri"/>
              <a:cs typeface="Calibri"/>
              <a:sym typeface="Calibri"/>
            </a:endParaRPr>
          </a:p>
        </p:txBody>
      </p:sp>
      <p:sp>
        <p:nvSpPr>
          <p:cNvPr id="416" name="Google Shape;416;p30"/>
          <p:cNvSpPr/>
          <p:nvPr/>
        </p:nvSpPr>
        <p:spPr>
          <a:xfrm>
            <a:off x="566886" y="258276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Normal PNs integrated weak inputs but did not exhibit the same supralinear response to strong 10-ms pulses. After receptor blockade, strong inputs separated by about 40–100 ms could produce supralinear integration. Spontaneous and light-evoked firing also increased, consistent with removal of inhibition.</a:t>
            </a:r>
            <a:endParaRPr sz="1800">
              <a:solidFill>
                <a:schemeClr val="dk1"/>
              </a:solidFill>
              <a:latin typeface="Calibri"/>
              <a:ea typeface="Calibri"/>
              <a:cs typeface="Calibri"/>
              <a:sym typeface="Calibri"/>
            </a:endParaRPr>
          </a:p>
        </p:txBody>
      </p:sp>
      <p:sp>
        <p:nvSpPr>
          <p:cNvPr id="417" name="Google Shape;417;p30"/>
          <p:cNvSpPr/>
          <p:nvPr/>
        </p:nvSpPr>
        <p:spPr>
          <a:xfrm>
            <a:off x="566886" y="393114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GABA-dependent inhibition therefore constrains integration when sensory input is strong, favoring temporal separation. The combined treatment cannot assign the effect to one receptor subtype, synapse or local interneuron. Weak-input integration persisted during blockade, suggesting that inhibition regulates an integration capacity rather than creating it.</a:t>
            </a:r>
            <a:endParaRPr sz="1800">
              <a:solidFill>
                <a:schemeClr val="dk1"/>
              </a:solidFill>
              <a:latin typeface="Calibri"/>
              <a:ea typeface="Calibri"/>
              <a:cs typeface="Calibri"/>
              <a:sym typeface="Calibri"/>
            </a:endParaRPr>
          </a:p>
        </p:txBody>
      </p:sp>
      <p:pic>
        <p:nvPicPr>
          <p:cNvPr id="418" name="Google Shape;418;p30"/>
          <p:cNvPicPr preferRelativeResize="0"/>
          <p:nvPr/>
        </p:nvPicPr>
        <p:blipFill rotWithShape="1">
          <a:blip r:embed="rId3">
            <a:alphaModFix/>
          </a:blip>
          <a:srcRect b="0" l="0" r="0" t="0"/>
          <a:stretch/>
        </p:blipFill>
        <p:spPr>
          <a:xfrm>
            <a:off x="7005205" y="1280071"/>
            <a:ext cx="2335680" cy="4297561"/>
          </a:xfrm>
          <a:prstGeom prst="rect">
            <a:avLst/>
          </a:prstGeom>
          <a:noFill/>
          <a:ln>
            <a:noFill/>
          </a:ln>
        </p:spPr>
      </p:pic>
      <p:sp>
        <p:nvSpPr>
          <p:cNvPr id="419" name="Google Shape;419;p30"/>
          <p:cNvSpPr/>
          <p:nvPr/>
        </p:nvSpPr>
        <p:spPr>
          <a:xfrm>
            <a:off x="6229796" y="5669161"/>
            <a:ext cx="39052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5(A–C). GABA-receptor blockade exposes integration of strong inputs.</a:t>
            </a:r>
            <a:endParaRPr sz="1800">
              <a:solidFill>
                <a:schemeClr val="dk1"/>
              </a:solidFill>
              <a:latin typeface="Calibri"/>
              <a:ea typeface="Calibri"/>
              <a:cs typeface="Calibri"/>
              <a:sym typeface="Calibri"/>
            </a:endParaRPr>
          </a:p>
        </p:txBody>
      </p:sp>
      <p:pic>
        <p:nvPicPr>
          <p:cNvPr id="420" name="Google Shape;420;p30"/>
          <p:cNvPicPr preferRelativeResize="0"/>
          <p:nvPr/>
        </p:nvPicPr>
        <p:blipFill rotWithShape="1">
          <a:blip r:embed="rId4">
            <a:alphaModFix/>
          </a:blip>
          <a:srcRect b="0" l="0" r="0" t="0"/>
          <a:stretch/>
        </p:blipFill>
        <p:spPr>
          <a:xfrm>
            <a:off x="10299055" y="2148818"/>
            <a:ext cx="1325761" cy="1144710"/>
          </a:xfrm>
          <a:prstGeom prst="rect">
            <a:avLst/>
          </a:prstGeom>
          <a:noFill/>
          <a:ln>
            <a:noFill/>
          </a:ln>
        </p:spPr>
      </p:pic>
      <p:sp>
        <p:nvSpPr>
          <p:cNvPr id="421" name="Google Shape;421;p30"/>
          <p:cNvSpPr/>
          <p:nvPr/>
        </p:nvSpPr>
        <p:spPr>
          <a:xfrm>
            <a:off x="10299055" y="3366790"/>
            <a:ext cx="1344811" cy="68535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1(C). Bombykol sensory axons terminate in the toroid.</a:t>
            </a:r>
            <a:endParaRPr sz="1800">
              <a:solidFill>
                <a:schemeClr val="dk1"/>
              </a:solidFill>
              <a:latin typeface="Calibri"/>
              <a:ea typeface="Calibri"/>
              <a:cs typeface="Calibri"/>
              <a:sym typeface="Calibri"/>
            </a:endParaRPr>
          </a:p>
        </p:txBody>
      </p:sp>
      <p:sp>
        <p:nvSpPr>
          <p:cNvPr id="422" name="Google Shape;422;p30"/>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Tabuchi et al. (2013)</a:t>
            </a:r>
            <a:endParaRPr sz="1800">
              <a:solidFill>
                <a:schemeClr val="dk1"/>
              </a:solidFill>
              <a:latin typeface="Calibri"/>
              <a:ea typeface="Calibri"/>
              <a:cs typeface="Calibri"/>
              <a:sym typeface="Calibri"/>
            </a:endParaRPr>
          </a:p>
        </p:txBody>
      </p:sp>
      <p:sp>
        <p:nvSpPr>
          <p:cNvPr id="424" name="Google Shape;424;p3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8" name="Shape 428"/>
        <p:cNvGrpSpPr/>
        <p:nvPr/>
      </p:nvGrpSpPr>
      <p:grpSpPr>
        <a:xfrm>
          <a:off x="0" y="0"/>
          <a:ext cx="0" cy="0"/>
          <a:chOff x="0" y="0"/>
          <a:chExt cx="0" cy="0"/>
        </a:xfrm>
      </p:grpSpPr>
      <p:sp>
        <p:nvSpPr>
          <p:cNvPr id="429" name="Google Shape;429;p3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Projection neurons emphasize changes in odor dose</a:t>
            </a:r>
            <a:endParaRPr sz="1800">
              <a:solidFill>
                <a:schemeClr val="dk1"/>
              </a:solidFill>
              <a:latin typeface="Calibri"/>
              <a:ea typeface="Calibri"/>
              <a:cs typeface="Calibri"/>
              <a:sym typeface="Calibri"/>
            </a:endParaRPr>
          </a:p>
        </p:txBody>
      </p:sp>
      <p:sp>
        <p:nvSpPr>
          <p:cNvPr id="430" name="Google Shape;430;p31"/>
          <p:cNvSpPr/>
          <p:nvPr/>
        </p:nvSpPr>
        <p:spPr>
          <a:xfrm>
            <a:off x="566886" y="1234380"/>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Fujiwara and colleagues presented repeated 200-ms bombykol pulses every 1.2 s and recorded PN spike responses. After the response settled, they increased the source load from 1,000 to 2,000 ng or decreased it from 1,000 to 100 ng while maintaining pulse timing.</a:t>
            </a:r>
            <a:endParaRPr sz="1800">
              <a:solidFill>
                <a:schemeClr val="dk1"/>
              </a:solidFill>
              <a:latin typeface="Calibri"/>
              <a:ea typeface="Calibri"/>
              <a:cs typeface="Calibri"/>
              <a:sym typeface="Calibri"/>
            </a:endParaRPr>
          </a:p>
        </p:txBody>
      </p:sp>
      <p:sp>
        <p:nvSpPr>
          <p:cNvPr id="431" name="Google Shape;431;p31"/>
          <p:cNvSpPr/>
          <p:nvPr/>
        </p:nvSpPr>
        <p:spPr>
          <a:xfrm>
            <a:off x="566886" y="2377083"/>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A concentration increase briefly enhanced firing before responses returned toward their previous settled level. A decrease initially suppressed responses, followed by recovery. Thus, transient output distinguished the direction of a change even when settled spike output was relatively insensitive to the absolute dose.</a:t>
            </a:r>
            <a:endParaRPr sz="1800">
              <a:solidFill>
                <a:schemeClr val="dk1"/>
              </a:solidFill>
              <a:latin typeface="Calibri"/>
              <a:ea typeface="Calibri"/>
              <a:cs typeface="Calibri"/>
              <a:sym typeface="Calibri"/>
            </a:endParaRPr>
          </a:p>
        </p:txBody>
      </p:sp>
      <p:sp>
        <p:nvSpPr>
          <p:cNvPr id="432" name="Google Shape;432;p31"/>
          <p:cNvSpPr/>
          <p:nvPr/>
        </p:nvSpPr>
        <p:spPr>
          <a:xfrm>
            <a:off x="566886" y="372546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An </a:t>
            </a:r>
            <a:r>
              <a:rPr b="1" i="0" lang="en-US" sz="1500">
                <a:solidFill>
                  <a:srgbClr val="425B70"/>
                </a:solidFill>
                <a:latin typeface="Arial"/>
                <a:ea typeface="Arial"/>
                <a:cs typeface="Arial"/>
                <a:sym typeface="Arial"/>
              </a:rPr>
              <a:t>odorant concentration differentiator</a:t>
            </a:r>
            <a:r>
              <a:rPr b="0" i="0" lang="en-US" sz="1500">
                <a:solidFill>
                  <a:srgbClr val="242B31"/>
                </a:solidFill>
                <a:latin typeface="Arial"/>
                <a:ea typeface="Arial"/>
                <a:cs typeface="Arial"/>
                <a:sym typeface="Arial"/>
              </a:rPr>
              <a:t> is the authors’ functional description of this change-sensitive transformation. It does not mean that a neuron explicitly computes a symbolic equation. Source load also differs from receptor-level airborne concentration; the conclusion applies to the calibrated stimulus changes and repeated-stimulation conditions tested.</a:t>
            </a:r>
            <a:endParaRPr sz="1800">
              <a:solidFill>
                <a:schemeClr val="dk1"/>
              </a:solidFill>
              <a:latin typeface="Calibri"/>
              <a:ea typeface="Calibri"/>
              <a:cs typeface="Calibri"/>
              <a:sym typeface="Calibri"/>
            </a:endParaRPr>
          </a:p>
        </p:txBody>
      </p:sp>
      <p:pic>
        <p:nvPicPr>
          <p:cNvPr id="433" name="Google Shape;433;p31"/>
          <p:cNvPicPr preferRelativeResize="0"/>
          <p:nvPr/>
        </p:nvPicPr>
        <p:blipFill rotWithShape="1">
          <a:blip r:embed="rId3">
            <a:alphaModFix/>
          </a:blip>
          <a:srcRect b="0" l="0" r="0" t="0"/>
          <a:stretch/>
        </p:blipFill>
        <p:spPr>
          <a:xfrm>
            <a:off x="7072461" y="1280071"/>
            <a:ext cx="2201019" cy="4297560"/>
          </a:xfrm>
          <a:prstGeom prst="rect">
            <a:avLst/>
          </a:prstGeom>
          <a:noFill/>
          <a:ln>
            <a:noFill/>
          </a:ln>
        </p:spPr>
      </p:pic>
      <p:sp>
        <p:nvSpPr>
          <p:cNvPr id="434" name="Google Shape;434;p31"/>
          <p:cNvSpPr/>
          <p:nvPr/>
        </p:nvSpPr>
        <p:spPr>
          <a:xfrm>
            <a:off x="6229796" y="5669161"/>
            <a:ext cx="39052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Fujiwara et al. (2014), Fig. 3(A–D). Projection-neuron responses to increases and decreases in odor dose.</a:t>
            </a:r>
            <a:endParaRPr sz="1800">
              <a:solidFill>
                <a:schemeClr val="dk1"/>
              </a:solidFill>
              <a:latin typeface="Calibri"/>
              <a:ea typeface="Calibri"/>
              <a:cs typeface="Calibri"/>
              <a:sym typeface="Calibri"/>
            </a:endParaRPr>
          </a:p>
        </p:txBody>
      </p:sp>
      <p:pic>
        <p:nvPicPr>
          <p:cNvPr id="435" name="Google Shape;435;p31"/>
          <p:cNvPicPr preferRelativeResize="0"/>
          <p:nvPr/>
        </p:nvPicPr>
        <p:blipFill rotWithShape="1">
          <a:blip r:embed="rId4">
            <a:alphaModFix/>
          </a:blip>
          <a:srcRect b="0" l="0" r="0" t="0"/>
          <a:stretch/>
        </p:blipFill>
        <p:spPr>
          <a:xfrm>
            <a:off x="10299055" y="2148818"/>
            <a:ext cx="1325761" cy="1144710"/>
          </a:xfrm>
          <a:prstGeom prst="rect">
            <a:avLst/>
          </a:prstGeom>
          <a:noFill/>
          <a:ln>
            <a:noFill/>
          </a:ln>
        </p:spPr>
      </p:pic>
      <p:sp>
        <p:nvSpPr>
          <p:cNvPr id="436" name="Google Shape;436;p31"/>
          <p:cNvSpPr/>
          <p:nvPr/>
        </p:nvSpPr>
        <p:spPr>
          <a:xfrm>
            <a:off x="10299055" y="3366790"/>
            <a:ext cx="1344811" cy="68535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1(C). Bombykol sensory axons terminate in the toroid.</a:t>
            </a:r>
            <a:endParaRPr sz="1800">
              <a:solidFill>
                <a:schemeClr val="dk1"/>
              </a:solidFill>
              <a:latin typeface="Calibri"/>
              <a:ea typeface="Calibri"/>
              <a:cs typeface="Calibri"/>
              <a:sym typeface="Calibri"/>
            </a:endParaRPr>
          </a:p>
        </p:txBody>
      </p:sp>
      <p:sp>
        <p:nvSpPr>
          <p:cNvPr id="437" name="Google Shape;437;p31"/>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8" name="Google Shape;438;p3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Fujiwara et al. (2014); Tabuchi et al. (2013)</a:t>
            </a:r>
            <a:endParaRPr sz="1800">
              <a:solidFill>
                <a:schemeClr val="dk1"/>
              </a:solidFill>
              <a:latin typeface="Calibri"/>
              <a:ea typeface="Calibri"/>
              <a:cs typeface="Calibri"/>
              <a:sym typeface="Calibri"/>
            </a:endParaRPr>
          </a:p>
        </p:txBody>
      </p:sp>
      <p:sp>
        <p:nvSpPr>
          <p:cNvPr id="439" name="Google Shape;439;p3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3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Repeated odor changes the antennal-lobe response</a:t>
            </a:r>
            <a:endParaRPr sz="1800">
              <a:solidFill>
                <a:schemeClr val="dk1"/>
              </a:solidFill>
              <a:latin typeface="Calibri"/>
              <a:ea typeface="Calibri"/>
              <a:cs typeface="Calibri"/>
              <a:sym typeface="Calibri"/>
            </a:endParaRPr>
          </a:p>
        </p:txBody>
      </p:sp>
      <p:sp>
        <p:nvSpPr>
          <p:cNvPr id="445" name="Google Shape;445;p32"/>
          <p:cNvSpPr/>
          <p:nvPr/>
        </p:nvSpPr>
        <p:spPr>
          <a:xfrm>
            <a:off x="566886" y="1234380"/>
            <a:ext cx="55447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Fujiwara and colleagues recorded toroid PN spikes during repeated bombykol pulses at 0.83 Hz. The first response had a peak firing frequency that increased with source load. Later responses were initially suppressed and then recovered toward a settled output level.</a:t>
            </a:r>
            <a:endParaRPr sz="1800">
              <a:solidFill>
                <a:schemeClr val="dk1"/>
              </a:solidFill>
              <a:latin typeface="Calibri"/>
              <a:ea typeface="Calibri"/>
              <a:cs typeface="Calibri"/>
              <a:sym typeface="Calibri"/>
            </a:endParaRPr>
          </a:p>
        </p:txBody>
      </p:sp>
      <p:sp>
        <p:nvSpPr>
          <p:cNvPr id="446" name="Google Shape;446;p32"/>
          <p:cNvSpPr/>
          <p:nvPr/>
        </p:nvSpPr>
        <p:spPr>
          <a:xfrm>
            <a:off x="566886" y="237708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At medium and high source loads, settled spike output became relatively concentration independent. Antennal controls did not show a progressive loss of delivered odor. Some absolute-dose information persisted in timing: reported settled response latencies were about 361, 339 and 322 ms at 10, 100 and 1,000 ng.</a:t>
            </a:r>
            <a:endParaRPr sz="1800">
              <a:solidFill>
                <a:schemeClr val="dk1"/>
              </a:solidFill>
              <a:latin typeface="Calibri"/>
              <a:ea typeface="Calibri"/>
              <a:cs typeface="Calibri"/>
              <a:sym typeface="Calibri"/>
            </a:endParaRPr>
          </a:p>
        </p:txBody>
      </p:sp>
      <p:sp>
        <p:nvSpPr>
          <p:cNvPr id="447" name="Google Shape;447;p32"/>
          <p:cNvSpPr/>
          <p:nvPr/>
        </p:nvSpPr>
        <p:spPr>
          <a:xfrm>
            <a:off x="566886" y="3725466"/>
            <a:ext cx="55447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Central processing therefore changes which response features carry concentration information. Rate adaptation does not imply total loss of dose information. Picrotoxin, a GABA-A receptor antagonist, reduced suppression and restored stronger dose dependence, implicating inhibitory processing without resolving every synapse or membrane channel in the transformation.</a:t>
            </a:r>
            <a:endParaRPr sz="1800">
              <a:solidFill>
                <a:schemeClr val="dk1"/>
              </a:solidFill>
              <a:latin typeface="Calibri"/>
              <a:ea typeface="Calibri"/>
              <a:cs typeface="Calibri"/>
              <a:sym typeface="Calibri"/>
            </a:endParaRPr>
          </a:p>
        </p:txBody>
      </p:sp>
      <p:pic>
        <p:nvPicPr>
          <p:cNvPr id="448" name="Google Shape;448;p32"/>
          <p:cNvPicPr preferRelativeResize="0"/>
          <p:nvPr/>
        </p:nvPicPr>
        <p:blipFill rotWithShape="1">
          <a:blip r:embed="rId3">
            <a:alphaModFix/>
          </a:blip>
          <a:srcRect b="0" l="0" r="0" t="0"/>
          <a:stretch/>
        </p:blipFill>
        <p:spPr>
          <a:xfrm>
            <a:off x="7074163" y="1280071"/>
            <a:ext cx="3935184" cy="4297561"/>
          </a:xfrm>
          <a:prstGeom prst="rect">
            <a:avLst/>
          </a:prstGeom>
          <a:noFill/>
          <a:ln>
            <a:noFill/>
          </a:ln>
        </p:spPr>
      </p:pic>
      <p:sp>
        <p:nvSpPr>
          <p:cNvPr id="449" name="Google Shape;449;p32"/>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Fujiwara et al. (2014), Fig. 2(A–G). Antennal-lobe anatomy and responses to repeated odor pulses.</a:t>
            </a:r>
            <a:endParaRPr sz="1800">
              <a:solidFill>
                <a:schemeClr val="dk1"/>
              </a:solidFill>
              <a:latin typeface="Calibri"/>
              <a:ea typeface="Calibri"/>
              <a:cs typeface="Calibri"/>
              <a:sym typeface="Calibri"/>
            </a:endParaRPr>
          </a:p>
        </p:txBody>
      </p:sp>
      <p:sp>
        <p:nvSpPr>
          <p:cNvPr id="450" name="Google Shape;450;p32"/>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3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Fujiwara et al. (2014)</a:t>
            </a:r>
            <a:endParaRPr sz="1800">
              <a:solidFill>
                <a:schemeClr val="dk1"/>
              </a:solidFill>
              <a:latin typeface="Calibri"/>
              <a:ea typeface="Calibri"/>
              <a:cs typeface="Calibri"/>
              <a:sym typeface="Calibri"/>
            </a:endParaRPr>
          </a:p>
        </p:txBody>
      </p:sp>
      <p:sp>
        <p:nvSpPr>
          <p:cNvPr id="452" name="Google Shape;452;p3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6" name="Shape 456"/>
        <p:cNvGrpSpPr/>
        <p:nvPr/>
      </p:nvGrpSpPr>
      <p:grpSpPr>
        <a:xfrm>
          <a:off x="0" y="0"/>
          <a:ext cx="0" cy="0"/>
          <a:chOff x="0" y="0"/>
          <a:chExt cx="0" cy="0"/>
        </a:xfrm>
      </p:grpSpPr>
      <p:sp>
        <p:nvSpPr>
          <p:cNvPr id="457" name="Google Shape;457;p3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Accessory lobes connect with descending pathways</a:t>
            </a:r>
            <a:endParaRPr sz="1800">
              <a:solidFill>
                <a:schemeClr val="dk1"/>
              </a:solidFill>
              <a:latin typeface="Calibri"/>
              <a:ea typeface="Calibri"/>
              <a:cs typeface="Calibri"/>
              <a:sym typeface="Calibri"/>
            </a:endParaRPr>
          </a:p>
        </p:txBody>
      </p:sp>
      <p:sp>
        <p:nvSpPr>
          <p:cNvPr id="458" name="Google Shape;458;p33"/>
          <p:cNvSpPr/>
          <p:nvPr/>
        </p:nvSpPr>
        <p:spPr>
          <a:xfrm>
            <a:off x="566886" y="1234380"/>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The </a:t>
            </a:r>
            <a:r>
              <a:rPr b="1" i="0" lang="en-US" sz="1500">
                <a:solidFill>
                  <a:srgbClr val="425B70"/>
                </a:solidFill>
                <a:latin typeface="Arial"/>
                <a:ea typeface="Arial"/>
                <a:cs typeface="Arial"/>
                <a:sym typeface="Arial"/>
              </a:rPr>
              <a:t>lateral accessory lobes</a:t>
            </a:r>
            <a:r>
              <a:rPr b="0" i="0" lang="en-US" sz="1500">
                <a:solidFill>
                  <a:srgbClr val="242B31"/>
                </a:solidFill>
                <a:latin typeface="Arial"/>
                <a:ea typeface="Arial"/>
                <a:cs typeface="Arial"/>
                <a:sym typeface="Arial"/>
              </a:rPr>
              <a:t>, or LALs, are paired higher-order brain regions associated with pheromone-guided motor control. </a:t>
            </a:r>
            <a:r>
              <a:rPr b="1" i="0" lang="en-US" sz="1500">
                <a:solidFill>
                  <a:srgbClr val="425B70"/>
                </a:solidFill>
                <a:latin typeface="Arial"/>
                <a:ea typeface="Arial"/>
                <a:cs typeface="Arial"/>
                <a:sym typeface="Arial"/>
              </a:rPr>
              <a:t>Descending neurons</a:t>
            </a:r>
            <a:r>
              <a:rPr b="0" i="0" lang="en-US" sz="1500">
                <a:solidFill>
                  <a:srgbClr val="242B31"/>
                </a:solidFill>
                <a:latin typeface="Arial"/>
                <a:ea typeface="Arial"/>
                <a:cs typeface="Arial"/>
                <a:sym typeface="Arial"/>
              </a:rPr>
              <a:t>, or DNs, send axons from the brain toward the ventral nervous system and thoracic motor centers. Namiki and colleagues mapped their regional arborizations in Bombyx mori.</a:t>
            </a:r>
            <a:endParaRPr sz="1800">
              <a:solidFill>
                <a:schemeClr val="dk1"/>
              </a:solidFill>
              <a:latin typeface="Calibri"/>
              <a:ea typeface="Calibri"/>
              <a:cs typeface="Calibri"/>
              <a:sym typeface="Calibri"/>
            </a:endParaRPr>
          </a:p>
        </p:txBody>
      </p:sp>
      <p:sp>
        <p:nvSpPr>
          <p:cNvPr id="459" name="Google Shape;459;p33"/>
          <p:cNvSpPr/>
          <p:nvPr/>
        </p:nvSpPr>
        <p:spPr>
          <a:xfrm>
            <a:off x="566886" y="258276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Fluorescent dye introduced through the neck connectives labeled descending and ascending fibers. Confocal imaging revealed dense innervation in the </a:t>
            </a:r>
            <a:r>
              <a:rPr b="1" i="0" lang="en-US" sz="1500">
                <a:solidFill>
                  <a:srgbClr val="425B70"/>
                </a:solidFill>
                <a:latin typeface="Arial"/>
                <a:ea typeface="Arial"/>
                <a:cs typeface="Arial"/>
                <a:sym typeface="Arial"/>
              </a:rPr>
              <a:t>posterior slope</a:t>
            </a:r>
            <a:r>
              <a:rPr b="0" i="0" lang="en-US" sz="1500">
                <a:solidFill>
                  <a:srgbClr val="242B31"/>
                </a:solidFill>
                <a:latin typeface="Arial"/>
                <a:ea typeface="Arial"/>
                <a:cs typeface="Arial"/>
                <a:sym typeface="Arial"/>
              </a:rPr>
              <a:t>, a posterior–ventral neuropil. LAL neurons also extended processes into that region, linking two candidate sites of sensorimotor processing.</a:t>
            </a:r>
            <a:endParaRPr sz="1800">
              <a:solidFill>
                <a:schemeClr val="dk1"/>
              </a:solidFill>
              <a:latin typeface="Calibri"/>
              <a:ea typeface="Calibri"/>
              <a:cs typeface="Calibri"/>
              <a:sym typeface="Calibri"/>
            </a:endParaRPr>
          </a:p>
        </p:txBody>
      </p:sp>
      <p:sp>
        <p:nvSpPr>
          <p:cNvPr id="460" name="Google Shape;460;p33"/>
          <p:cNvSpPr/>
          <p:nvPr/>
        </p:nvSpPr>
        <p:spPr>
          <a:xfrm>
            <a:off x="566886" y="3931146"/>
            <a:ext cx="55447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The anatomy constrains the possible routes by which pheromone information reaches motor pathways. Backfill labels fibers by their trajectory, not by neurotransmitter or response type, and includes ascending fibers as well. Dense fluorescence therefore cannot be interpreted as a count of pheromone-specific descending neurons or direct evidence of synaptic excitation.</a:t>
            </a:r>
            <a:endParaRPr sz="1800">
              <a:solidFill>
                <a:schemeClr val="dk1"/>
              </a:solidFill>
              <a:latin typeface="Calibri"/>
              <a:ea typeface="Calibri"/>
              <a:cs typeface="Calibri"/>
              <a:sym typeface="Calibri"/>
            </a:endParaRPr>
          </a:p>
        </p:txBody>
      </p:sp>
      <p:pic>
        <p:nvPicPr>
          <p:cNvPr id="461" name="Google Shape;461;p33"/>
          <p:cNvPicPr preferRelativeResize="0"/>
          <p:nvPr/>
        </p:nvPicPr>
        <p:blipFill rotWithShape="1">
          <a:blip r:embed="rId3">
            <a:alphaModFix/>
          </a:blip>
          <a:srcRect b="0" l="0" r="0" t="0"/>
          <a:stretch/>
        </p:blipFill>
        <p:spPr>
          <a:xfrm>
            <a:off x="7790130" y="1280071"/>
            <a:ext cx="2503101" cy="4297561"/>
          </a:xfrm>
          <a:prstGeom prst="rect">
            <a:avLst/>
          </a:prstGeom>
          <a:noFill/>
          <a:ln>
            <a:noFill/>
          </a:ln>
        </p:spPr>
      </p:pic>
      <p:sp>
        <p:nvSpPr>
          <p:cNvPr id="462" name="Google Shape;462;p33"/>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Namiki et al. (2018), Fig. 2(a–d). Confocal anatomy of lateral accessory lobes and posterior slope.</a:t>
            </a:r>
            <a:endParaRPr sz="1800">
              <a:solidFill>
                <a:schemeClr val="dk1"/>
              </a:solidFill>
              <a:latin typeface="Calibri"/>
              <a:ea typeface="Calibri"/>
              <a:cs typeface="Calibri"/>
              <a:sym typeface="Calibri"/>
            </a:endParaRPr>
          </a:p>
        </p:txBody>
      </p:sp>
      <p:sp>
        <p:nvSpPr>
          <p:cNvPr id="463" name="Google Shape;463;p33"/>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4" name="Google Shape;464;p3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Namiki et al. (2018)</a:t>
            </a:r>
            <a:endParaRPr sz="1800">
              <a:solidFill>
                <a:schemeClr val="dk1"/>
              </a:solidFill>
              <a:latin typeface="Calibri"/>
              <a:ea typeface="Calibri"/>
              <a:cs typeface="Calibri"/>
              <a:sym typeface="Calibri"/>
            </a:endParaRPr>
          </a:p>
        </p:txBody>
      </p:sp>
      <p:sp>
        <p:nvSpPr>
          <p:cNvPr id="465" name="Google Shape;465;p3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9" name="Shape 469"/>
        <p:cNvGrpSpPr/>
        <p:nvPr/>
      </p:nvGrpSpPr>
      <p:grpSpPr>
        <a:xfrm>
          <a:off x="0" y="0"/>
          <a:ext cx="0" cy="0"/>
          <a:chOff x="0" y="0"/>
          <a:chExt cx="0" cy="0"/>
        </a:xfrm>
      </p:grpSpPr>
      <p:sp>
        <p:nvSpPr>
          <p:cNvPr id="470" name="Google Shape;470;p3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Descending activity can persist after an odor pulse</a:t>
            </a:r>
            <a:endParaRPr sz="1800">
              <a:solidFill>
                <a:schemeClr val="dk1"/>
              </a:solidFill>
              <a:latin typeface="Calibri"/>
              <a:ea typeface="Calibri"/>
              <a:cs typeface="Calibri"/>
              <a:sym typeface="Calibri"/>
            </a:endParaRPr>
          </a:p>
        </p:txBody>
      </p:sp>
      <p:sp>
        <p:nvSpPr>
          <p:cNvPr id="471" name="Google Shape;471;p34"/>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Kanzaki, Ikeda and Shibuya recorded activity from dorsal bundles of the neck connectives while delivering brief bombykol pulses. Anatomical staining identified descending neurons associated with the LAL. These recordings tested whether the motor pathway simply copied the brief duration of peripheral stimulation.</a:t>
            </a:r>
            <a:endParaRPr sz="1800">
              <a:solidFill>
                <a:schemeClr val="dk1"/>
              </a:solidFill>
              <a:latin typeface="Calibri"/>
              <a:ea typeface="Calibri"/>
              <a:cs typeface="Calibri"/>
              <a:sym typeface="Calibri"/>
            </a:endParaRPr>
          </a:p>
        </p:txBody>
      </p:sp>
      <p:sp>
        <p:nvSpPr>
          <p:cNvPr id="472" name="Google Shape;472;p34"/>
          <p:cNvSpPr/>
          <p:nvPr/>
        </p:nvSpPr>
        <p:spPr>
          <a:xfrm>
            <a:off x="566886" y="2582763"/>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Some units switched between high- and low-frequency states after 100-ms odor pulses. The operational criterion required at least a doubling or halving of prestimulus firing that persisted for at least 5 s after stimulation ended. The response could therefore greatly outlast the input.</a:t>
            </a:r>
            <a:endParaRPr sz="1800">
              <a:solidFill>
                <a:schemeClr val="dk1"/>
              </a:solidFill>
              <a:latin typeface="Calibri"/>
              <a:ea typeface="Calibri"/>
              <a:cs typeface="Calibri"/>
              <a:sym typeface="Calibri"/>
            </a:endParaRPr>
          </a:p>
        </p:txBody>
      </p:sp>
      <p:sp>
        <p:nvSpPr>
          <p:cNvPr id="473" name="Google Shape;473;p34"/>
          <p:cNvSpPr/>
          <p:nvPr/>
        </p:nvSpPr>
        <p:spPr>
          <a:xfrm>
            <a:off x="566886" y="3725466"/>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This </a:t>
            </a:r>
            <a:r>
              <a:rPr b="1" i="0" lang="en-US" sz="1500">
                <a:solidFill>
                  <a:srgbClr val="425B70"/>
                </a:solidFill>
                <a:latin typeface="Arial"/>
                <a:ea typeface="Arial"/>
                <a:cs typeface="Arial"/>
                <a:sym typeface="Arial"/>
              </a:rPr>
              <a:t>flip-flopping activity</a:t>
            </a:r>
            <a:r>
              <a:rPr b="0" i="0" lang="en-US" sz="1500">
                <a:solidFill>
                  <a:srgbClr val="242B31"/>
                </a:solidFill>
                <a:latin typeface="Arial"/>
                <a:ea typeface="Arial"/>
                <a:cs typeface="Arial"/>
                <a:sym typeface="Arial"/>
              </a:rPr>
              <a:t> is a persistent state change, rather than a new odor contact lasting several seconds. It is consistent with central maintenance of a searching command. Extracellular bundle recordings do not identify every contributing cell or prove that persistent firing alone produces a particular leg movement.</a:t>
            </a:r>
            <a:endParaRPr sz="1800">
              <a:solidFill>
                <a:schemeClr val="dk1"/>
              </a:solidFill>
              <a:latin typeface="Calibri"/>
              <a:ea typeface="Calibri"/>
              <a:cs typeface="Calibri"/>
              <a:sym typeface="Calibri"/>
            </a:endParaRPr>
          </a:p>
        </p:txBody>
      </p:sp>
      <p:pic>
        <p:nvPicPr>
          <p:cNvPr id="474" name="Google Shape;474;p34"/>
          <p:cNvPicPr preferRelativeResize="0"/>
          <p:nvPr/>
        </p:nvPicPr>
        <p:blipFill rotWithShape="1">
          <a:blip r:embed="rId3">
            <a:alphaModFix/>
          </a:blip>
          <a:srcRect b="0" l="0" r="0" t="0"/>
          <a:stretch/>
        </p:blipFill>
        <p:spPr>
          <a:xfrm>
            <a:off x="6229897" y="1280071"/>
            <a:ext cx="3885999" cy="2950518"/>
          </a:xfrm>
          <a:prstGeom prst="rect">
            <a:avLst/>
          </a:prstGeom>
          <a:noFill/>
          <a:ln>
            <a:noFill/>
          </a:ln>
        </p:spPr>
      </p:pic>
      <p:sp>
        <p:nvSpPr>
          <p:cNvPr id="475" name="Google Shape;475;p34"/>
          <p:cNvSpPr/>
          <p:nvPr/>
        </p:nvSpPr>
        <p:spPr>
          <a:xfrm>
            <a:off x="6229796" y="4322118"/>
            <a:ext cx="39052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Kanzaki et al. (1994), Fig. 6(A–E). Descending-neuron locations and persistent pheromone responses.</a:t>
            </a:r>
            <a:endParaRPr sz="1800">
              <a:solidFill>
                <a:schemeClr val="dk1"/>
              </a:solidFill>
              <a:latin typeface="Calibri"/>
              <a:ea typeface="Calibri"/>
              <a:cs typeface="Calibri"/>
              <a:sym typeface="Calibri"/>
            </a:endParaRPr>
          </a:p>
        </p:txBody>
      </p:sp>
      <p:pic>
        <p:nvPicPr>
          <p:cNvPr id="476" name="Google Shape;476;p34"/>
          <p:cNvPicPr preferRelativeResize="0"/>
          <p:nvPr/>
        </p:nvPicPr>
        <p:blipFill rotWithShape="1">
          <a:blip r:embed="rId4">
            <a:alphaModFix/>
          </a:blip>
          <a:srcRect b="0" l="0" r="0" t="0"/>
          <a:stretch/>
        </p:blipFill>
        <p:spPr>
          <a:xfrm>
            <a:off x="10299055" y="2148847"/>
            <a:ext cx="1325761" cy="2276192"/>
          </a:xfrm>
          <a:prstGeom prst="rect">
            <a:avLst/>
          </a:prstGeom>
          <a:noFill/>
          <a:ln>
            <a:noFill/>
          </a:ln>
        </p:spPr>
      </p:pic>
      <p:sp>
        <p:nvSpPr>
          <p:cNvPr id="477" name="Google Shape;477;p34"/>
          <p:cNvSpPr/>
          <p:nvPr/>
        </p:nvSpPr>
        <p:spPr>
          <a:xfrm>
            <a:off x="10299055" y="4498330"/>
            <a:ext cx="1344811" cy="68535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Namiki et al. (2018), Fig. 2(a–d). Confocal anatomy of lateral accessory lobes and posterior slope.</a:t>
            </a:r>
            <a:endParaRPr sz="1800">
              <a:solidFill>
                <a:schemeClr val="dk1"/>
              </a:solidFill>
              <a:latin typeface="Calibri"/>
              <a:ea typeface="Calibri"/>
              <a:cs typeface="Calibri"/>
              <a:sym typeface="Calibri"/>
            </a:endParaRPr>
          </a:p>
        </p:txBody>
      </p:sp>
      <p:sp>
        <p:nvSpPr>
          <p:cNvPr id="478" name="Google Shape;478;p34"/>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3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Kanzaki et al. (1994); Namiki et al. (2018)</a:t>
            </a:r>
            <a:endParaRPr sz="1800">
              <a:solidFill>
                <a:schemeClr val="dk1"/>
              </a:solidFill>
              <a:latin typeface="Calibri"/>
              <a:ea typeface="Calibri"/>
              <a:cs typeface="Calibri"/>
              <a:sym typeface="Calibri"/>
            </a:endParaRPr>
          </a:p>
        </p:txBody>
      </p:sp>
      <p:sp>
        <p:nvSpPr>
          <p:cNvPr id="480" name="Google Shape;480;p3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4" name="Shape 484"/>
        <p:cNvGrpSpPr/>
        <p:nvPr/>
      </p:nvGrpSpPr>
      <p:grpSpPr>
        <a:xfrm>
          <a:off x="0" y="0"/>
          <a:ext cx="0" cy="0"/>
          <a:chOff x="0" y="0"/>
          <a:chExt cx="0" cy="0"/>
        </a:xfrm>
      </p:grpSpPr>
      <p:sp>
        <p:nvSpPr>
          <p:cNvPr id="485" name="Google Shape;485;p3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Later odor pulses can switch the persistent state</a:t>
            </a:r>
            <a:endParaRPr sz="1800">
              <a:solidFill>
                <a:schemeClr val="dk1"/>
              </a:solidFill>
              <a:latin typeface="Calibri"/>
              <a:ea typeface="Calibri"/>
              <a:cs typeface="Calibri"/>
              <a:sym typeface="Calibri"/>
            </a:endParaRPr>
          </a:p>
        </p:txBody>
      </p:sp>
      <p:sp>
        <p:nvSpPr>
          <p:cNvPr id="486" name="Google Shape;486;p35"/>
          <p:cNvSpPr/>
          <p:nvPr/>
        </p:nvSpPr>
        <p:spPr>
          <a:xfrm>
            <a:off x="566886" y="1234380"/>
            <a:ext cx="5316141"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400"/>
              <a:buFont typeface="Arial"/>
              <a:buNone/>
            </a:pPr>
            <a:r>
              <a:rPr b="0" i="0" lang="en-US" sz="1400">
                <a:solidFill>
                  <a:srgbClr val="242B31"/>
                </a:solidFill>
                <a:latin typeface="Arial"/>
                <a:ea typeface="Arial"/>
                <a:cs typeface="Arial"/>
                <a:sym typeface="Arial"/>
              </a:rPr>
              <a:t>Kanzaki and colleagues applied successive pheromone pulses to one or both antennae while recording descending units. Some units alternated between high and low firing states rather than producing an identical transient response to every presentation. Spontaneous state changes also occurred after stimulation.</a:t>
            </a:r>
            <a:endParaRPr sz="1800">
              <a:solidFill>
                <a:schemeClr val="dk1"/>
              </a:solidFill>
              <a:latin typeface="Calibri"/>
              <a:ea typeface="Calibri"/>
              <a:cs typeface="Calibri"/>
              <a:sym typeface="Calibri"/>
            </a:endParaRPr>
          </a:p>
        </p:txBody>
      </p:sp>
      <p:sp>
        <p:nvSpPr>
          <p:cNvPr id="487" name="Google Shape;487;p35"/>
          <p:cNvSpPr/>
          <p:nvPr/>
        </p:nvSpPr>
        <p:spPr>
          <a:xfrm>
            <a:off x="566886" y="2492871"/>
            <a:ext cx="5316141" cy="9599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400"/>
              <a:buFont typeface="Arial"/>
              <a:buNone/>
            </a:pPr>
            <a:r>
              <a:rPr b="0" i="0" lang="en-US" sz="1400">
                <a:solidFill>
                  <a:srgbClr val="242B31"/>
                </a:solidFill>
                <a:latin typeface="Arial"/>
                <a:ea typeface="Arial"/>
                <a:cs typeface="Arial"/>
                <a:sym typeface="Arial"/>
              </a:rPr>
              <a:t>In one class, two recorded signals changed in synchrony; other recordings had an opposite relationship. The maintained activity could be interrupted or switched by a later pulse, so its duration was not determined solely by the duration of one sensory stimulus.</a:t>
            </a:r>
            <a:endParaRPr sz="1800">
              <a:solidFill>
                <a:schemeClr val="dk1"/>
              </a:solidFill>
              <a:latin typeface="Calibri"/>
              <a:ea typeface="Calibri"/>
              <a:cs typeface="Calibri"/>
              <a:sym typeface="Calibri"/>
            </a:endParaRPr>
          </a:p>
        </p:txBody>
      </p:sp>
      <p:sp>
        <p:nvSpPr>
          <p:cNvPr id="488" name="Google Shape;488;p35"/>
          <p:cNvSpPr/>
          <p:nvPr/>
        </p:nvSpPr>
        <p:spPr>
          <a:xfrm>
            <a:off x="566886" y="3559373"/>
            <a:ext cx="5316141"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400"/>
              <a:buFont typeface="Arial"/>
              <a:buNone/>
            </a:pPr>
            <a:r>
              <a:rPr b="0" i="0" lang="en-US" sz="1400">
                <a:solidFill>
                  <a:srgbClr val="242B31"/>
                </a:solidFill>
                <a:latin typeface="Arial"/>
                <a:ea typeface="Arial"/>
                <a:cs typeface="Arial"/>
                <a:sym typeface="Arial"/>
              </a:rPr>
              <a:t>The findings support a state-dependent central transformation between odor contact and descending output. They do not establish a fully autonomous oscillator with a fixed period or a particular recurrent inhibitory synapse. Switching, synchrony and persistence are measured response properties; the circuitry generating them remains an explanatory hypothesis.</a:t>
            </a:r>
            <a:endParaRPr sz="1800">
              <a:solidFill>
                <a:schemeClr val="dk1"/>
              </a:solidFill>
              <a:latin typeface="Calibri"/>
              <a:ea typeface="Calibri"/>
              <a:cs typeface="Calibri"/>
              <a:sym typeface="Calibri"/>
            </a:endParaRPr>
          </a:p>
        </p:txBody>
      </p:sp>
      <p:pic>
        <p:nvPicPr>
          <p:cNvPr id="489" name="Google Shape;489;p35"/>
          <p:cNvPicPr preferRelativeResize="0"/>
          <p:nvPr/>
        </p:nvPicPr>
        <p:blipFill rotWithShape="1">
          <a:blip r:embed="rId3">
            <a:alphaModFix/>
          </a:blip>
          <a:srcRect b="0" l="0" r="0" t="0"/>
          <a:stretch/>
        </p:blipFill>
        <p:spPr>
          <a:xfrm>
            <a:off x="6229826" y="1280071"/>
            <a:ext cx="3886142" cy="3635722"/>
          </a:xfrm>
          <a:prstGeom prst="rect">
            <a:avLst/>
          </a:prstGeom>
          <a:noFill/>
          <a:ln>
            <a:noFill/>
          </a:ln>
        </p:spPr>
      </p:pic>
      <p:sp>
        <p:nvSpPr>
          <p:cNvPr id="490" name="Google Shape;490;p35"/>
          <p:cNvSpPr/>
          <p:nvPr/>
        </p:nvSpPr>
        <p:spPr>
          <a:xfrm>
            <a:off x="6229796" y="5007322"/>
            <a:ext cx="39052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Kanzaki et al. (1994), Fig. 7(A–F). Repeated pheromone stimulation changes descending activity state.</a:t>
            </a:r>
            <a:endParaRPr sz="1800">
              <a:solidFill>
                <a:schemeClr val="dk1"/>
              </a:solidFill>
              <a:latin typeface="Calibri"/>
              <a:ea typeface="Calibri"/>
              <a:cs typeface="Calibri"/>
              <a:sym typeface="Calibri"/>
            </a:endParaRPr>
          </a:p>
        </p:txBody>
      </p:sp>
      <p:pic>
        <p:nvPicPr>
          <p:cNvPr id="491" name="Google Shape;491;p35"/>
          <p:cNvPicPr preferRelativeResize="0"/>
          <p:nvPr/>
        </p:nvPicPr>
        <p:blipFill rotWithShape="1">
          <a:blip r:embed="rId4">
            <a:alphaModFix/>
          </a:blip>
          <a:srcRect b="0" l="0" r="0" t="0"/>
          <a:stretch/>
        </p:blipFill>
        <p:spPr>
          <a:xfrm>
            <a:off x="10299055" y="2148847"/>
            <a:ext cx="1325761" cy="2276192"/>
          </a:xfrm>
          <a:prstGeom prst="rect">
            <a:avLst/>
          </a:prstGeom>
          <a:noFill/>
          <a:ln>
            <a:noFill/>
          </a:ln>
        </p:spPr>
      </p:pic>
      <p:sp>
        <p:nvSpPr>
          <p:cNvPr id="492" name="Google Shape;492;p35"/>
          <p:cNvSpPr/>
          <p:nvPr/>
        </p:nvSpPr>
        <p:spPr>
          <a:xfrm>
            <a:off x="10299055" y="4498330"/>
            <a:ext cx="1344811" cy="68535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Namiki et al. (2018), Fig. 2(a–d). Confocal anatomy of lateral accessory lobes and posterior slope.</a:t>
            </a:r>
            <a:endParaRPr sz="1800">
              <a:solidFill>
                <a:schemeClr val="dk1"/>
              </a:solidFill>
              <a:latin typeface="Calibri"/>
              <a:ea typeface="Calibri"/>
              <a:cs typeface="Calibri"/>
              <a:sym typeface="Calibri"/>
            </a:endParaRPr>
          </a:p>
        </p:txBody>
      </p:sp>
      <p:sp>
        <p:nvSpPr>
          <p:cNvPr id="493" name="Google Shape;493;p35"/>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p3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Kanzaki et al. (1994); Namiki et al. (2018)</a:t>
            </a:r>
            <a:endParaRPr sz="1800">
              <a:solidFill>
                <a:schemeClr val="dk1"/>
              </a:solidFill>
              <a:latin typeface="Calibri"/>
              <a:ea typeface="Calibri"/>
              <a:cs typeface="Calibri"/>
              <a:sym typeface="Calibri"/>
            </a:endParaRPr>
          </a:p>
        </p:txBody>
      </p:sp>
      <p:sp>
        <p:nvSpPr>
          <p:cNvPr id="495" name="Google Shape;495;p3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9" name="Shape 499"/>
        <p:cNvGrpSpPr/>
        <p:nvPr/>
      </p:nvGrpSpPr>
      <p:grpSpPr>
        <a:xfrm>
          <a:off x="0" y="0"/>
          <a:ext cx="0" cy="0"/>
          <a:chOff x="0" y="0"/>
          <a:chExt cx="0" cy="0"/>
        </a:xfrm>
      </p:grpSpPr>
      <p:sp>
        <p:nvSpPr>
          <p:cNvPr id="500" name="Google Shape;500;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Descending signals include opposite activity states</a:t>
            </a:r>
            <a:endParaRPr sz="1800">
              <a:solidFill>
                <a:schemeClr val="dk1"/>
              </a:solidFill>
              <a:latin typeface="Calibri"/>
              <a:ea typeface="Calibri"/>
              <a:cs typeface="Calibri"/>
              <a:sym typeface="Calibri"/>
            </a:endParaRPr>
          </a:p>
        </p:txBody>
      </p:sp>
      <p:sp>
        <p:nvSpPr>
          <p:cNvPr id="501" name="Google Shape;501;p36"/>
          <p:cNvSpPr/>
          <p:nvPr/>
        </p:nvSpPr>
        <p:spPr>
          <a:xfrm>
            <a:off x="566886" y="1234380"/>
            <a:ext cx="53161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Kanzaki and colleagues distinguished </a:t>
            </a:r>
            <a:r>
              <a:rPr b="1" i="0" lang="en-US" sz="1500">
                <a:solidFill>
                  <a:srgbClr val="425B70"/>
                </a:solidFill>
                <a:latin typeface="Arial"/>
                <a:ea typeface="Arial"/>
                <a:cs typeface="Arial"/>
                <a:sym typeface="Arial"/>
              </a:rPr>
              <a:t>antiphasic</a:t>
            </a:r>
            <a:r>
              <a:rPr b="0" i="0" lang="en-US" sz="1500">
                <a:solidFill>
                  <a:srgbClr val="242B31"/>
                </a:solidFill>
                <a:latin typeface="Arial"/>
                <a:ea typeface="Arial"/>
                <a:cs typeface="Arial"/>
                <a:sym typeface="Arial"/>
              </a:rPr>
              <a:t> activity, in which one signal was high while the other was low, from synchronized state changes. Bilateral connective recordings revealed opposite states across sides; a small-bundle recording also separated large and small impulses with opposite switching patterns.</a:t>
            </a:r>
            <a:endParaRPr sz="1800">
              <a:solidFill>
                <a:schemeClr val="dk1"/>
              </a:solidFill>
              <a:latin typeface="Calibri"/>
              <a:ea typeface="Calibri"/>
              <a:cs typeface="Calibri"/>
              <a:sym typeface="Calibri"/>
            </a:endParaRPr>
          </a:p>
        </p:txBody>
      </p:sp>
      <p:sp>
        <p:nvSpPr>
          <p:cNvPr id="502" name="Google Shape;502;p36"/>
          <p:cNvSpPr/>
          <p:nvPr/>
        </p:nvSpPr>
        <p:spPr>
          <a:xfrm>
            <a:off x="566886" y="2582763"/>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The authors named the antiphasic class FF and the synchronized class ff. Both could change after brief pheromone stimulation. Thus, the descending pathway contained more than one relationship among persistent outputs rather than one uniform bilateral signal.</a:t>
            </a:r>
            <a:endParaRPr sz="1800">
              <a:solidFill>
                <a:schemeClr val="dk1"/>
              </a:solidFill>
              <a:latin typeface="Calibri"/>
              <a:ea typeface="Calibri"/>
              <a:cs typeface="Calibri"/>
              <a:sym typeface="Calibri"/>
            </a:endParaRPr>
          </a:p>
        </p:txBody>
      </p:sp>
      <p:sp>
        <p:nvSpPr>
          <p:cNvPr id="503" name="Google Shape;503;p36"/>
          <p:cNvSpPr/>
          <p:nvPr/>
        </p:nvSpPr>
        <p:spPr>
          <a:xfrm>
            <a:off x="566886" y="372546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Opposite states are compatible with alternating directional commands during searching, but compatibility is not a causal demonstration of turning. Bundle recordings cannot reveal the complete synaptic connections or assign every spike to an identified motor pathway. The labels FF and ff describe response classes in the paper, not distinct molecular receptor types.</a:t>
            </a:r>
            <a:endParaRPr sz="1800">
              <a:solidFill>
                <a:schemeClr val="dk1"/>
              </a:solidFill>
              <a:latin typeface="Calibri"/>
              <a:ea typeface="Calibri"/>
              <a:cs typeface="Calibri"/>
              <a:sym typeface="Calibri"/>
            </a:endParaRPr>
          </a:p>
        </p:txBody>
      </p:sp>
      <p:pic>
        <p:nvPicPr>
          <p:cNvPr id="504" name="Google Shape;504;p36"/>
          <p:cNvPicPr preferRelativeResize="0"/>
          <p:nvPr/>
        </p:nvPicPr>
        <p:blipFill rotWithShape="1">
          <a:blip r:embed="rId3">
            <a:alphaModFix/>
          </a:blip>
          <a:srcRect b="0" l="0" r="0" t="0"/>
          <a:stretch/>
        </p:blipFill>
        <p:spPr>
          <a:xfrm>
            <a:off x="6374778" y="1280071"/>
            <a:ext cx="5105503" cy="2925961"/>
          </a:xfrm>
          <a:prstGeom prst="rect">
            <a:avLst/>
          </a:prstGeom>
          <a:noFill/>
          <a:ln>
            <a:noFill/>
          </a:ln>
        </p:spPr>
      </p:pic>
      <p:sp>
        <p:nvSpPr>
          <p:cNvPr id="505" name="Google Shape;505;p36"/>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Kanzaki et al. (1994), Fig. 8(single panel). Opposite switching states in units recorded from a descending bundle.</a:t>
            </a:r>
            <a:endParaRPr sz="1800">
              <a:solidFill>
                <a:schemeClr val="dk1"/>
              </a:solidFill>
              <a:latin typeface="Calibri"/>
              <a:ea typeface="Calibri"/>
              <a:cs typeface="Calibri"/>
              <a:sym typeface="Calibri"/>
            </a:endParaRPr>
          </a:p>
        </p:txBody>
      </p:sp>
      <p:pic>
        <p:nvPicPr>
          <p:cNvPr id="506" name="Google Shape;506;p36"/>
          <p:cNvPicPr preferRelativeResize="0"/>
          <p:nvPr/>
        </p:nvPicPr>
        <p:blipFill rotWithShape="1">
          <a:blip r:embed="rId4">
            <a:alphaModFix/>
          </a:blip>
          <a:srcRect b="0" l="0" r="0" t="0"/>
          <a:stretch/>
        </p:blipFill>
        <p:spPr>
          <a:xfrm>
            <a:off x="8634561" y="4754783"/>
            <a:ext cx="585788" cy="1005736"/>
          </a:xfrm>
          <a:prstGeom prst="rect">
            <a:avLst/>
          </a:prstGeom>
          <a:noFill/>
          <a:ln>
            <a:noFill/>
          </a:ln>
        </p:spPr>
      </p:pic>
      <p:sp>
        <p:nvSpPr>
          <p:cNvPr id="507" name="Google Shape;507;p36"/>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Namiki et al. (2018), Fig. 2(a–d). Confocal anatomy of lateral accessory lobes and posterior slope.</a:t>
            </a:r>
            <a:endParaRPr sz="1800">
              <a:solidFill>
                <a:schemeClr val="dk1"/>
              </a:solidFill>
              <a:latin typeface="Calibri"/>
              <a:ea typeface="Calibri"/>
              <a:cs typeface="Calibri"/>
              <a:sym typeface="Calibri"/>
            </a:endParaRPr>
          </a:p>
        </p:txBody>
      </p:sp>
      <p:sp>
        <p:nvSpPr>
          <p:cNvPr id="508" name="Google Shape;508;p36"/>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9" name="Google Shape;509;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Kanzaki et al. (1994); Namiki et al. (2018)</a:t>
            </a:r>
            <a:endParaRPr sz="1800">
              <a:solidFill>
                <a:schemeClr val="dk1"/>
              </a:solidFill>
              <a:latin typeface="Calibri"/>
              <a:ea typeface="Calibri"/>
              <a:cs typeface="Calibri"/>
              <a:sym typeface="Calibri"/>
            </a:endParaRPr>
          </a:p>
        </p:txBody>
      </p:sp>
      <p:sp>
        <p:nvSpPr>
          <p:cNvPr id="510" name="Google Shape;510;p3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4" name="Shape 514"/>
        <p:cNvGrpSpPr/>
        <p:nvPr/>
      </p:nvGrpSpPr>
      <p:grpSpPr>
        <a:xfrm>
          <a:off x="0" y="0"/>
          <a:ext cx="0" cy="0"/>
          <a:chOff x="0" y="0"/>
          <a:chExt cx="0" cy="0"/>
        </a:xfrm>
      </p:grpSpPr>
      <p:sp>
        <p:nvSpPr>
          <p:cNvPr id="515" name="Google Shape;515;p3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Cell staining constrains the source of switching</a:t>
            </a:r>
            <a:endParaRPr sz="1800">
              <a:solidFill>
                <a:schemeClr val="dk1"/>
              </a:solidFill>
              <a:latin typeface="Calibri"/>
              <a:ea typeface="Calibri"/>
              <a:cs typeface="Calibri"/>
              <a:sym typeface="Calibri"/>
            </a:endParaRPr>
          </a:p>
        </p:txBody>
      </p:sp>
      <p:sp>
        <p:nvSpPr>
          <p:cNvPr id="516" name="Google Shape;516;p37"/>
          <p:cNvSpPr/>
          <p:nvPr/>
        </p:nvSpPr>
        <p:spPr>
          <a:xfrm>
            <a:off x="566886" y="1234380"/>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Kanzaki and colleagues combined electrophysiology with staining of a small descending bundle carrying FF-type activity. In the reported preparation, a single stained neuron had its cell body among group-II descending neurons and processes associated with the lateral accessory lobe.</a:t>
            </a:r>
            <a:endParaRPr sz="1800">
              <a:solidFill>
                <a:schemeClr val="dk1"/>
              </a:solidFill>
              <a:latin typeface="Calibri"/>
              <a:ea typeface="Calibri"/>
              <a:cs typeface="Calibri"/>
              <a:sym typeface="Calibri"/>
            </a:endParaRPr>
          </a:p>
        </p:txBody>
      </p:sp>
      <p:sp>
        <p:nvSpPr>
          <p:cNvPr id="517" name="Google Shape;517;p37"/>
          <p:cNvSpPr/>
          <p:nvPr/>
        </p:nvSpPr>
        <p:spPr>
          <a:xfrm>
            <a:off x="566886" y="2672507"/>
            <a:ext cx="55447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The simultaneously recorded activity retained the opposite-state relationship with the other connective. The cell’s descending axon and regional innervation therefore connected anatomical identity to a persistent physiological response more specifically than a whole-connective recording alone.</a:t>
            </a:r>
            <a:endParaRPr sz="1800">
              <a:solidFill>
                <a:schemeClr val="dk1"/>
              </a:solidFill>
              <a:latin typeface="Calibri"/>
              <a:ea typeface="Calibri"/>
              <a:cs typeface="Calibri"/>
              <a:sym typeface="Calibri"/>
            </a:endParaRPr>
          </a:p>
        </p:txBody>
      </p:sp>
      <p:sp>
        <p:nvSpPr>
          <p:cNvPr id="518" name="Google Shape;518;p37"/>
          <p:cNvSpPr/>
          <p:nvPr/>
        </p:nvSpPr>
        <p:spPr>
          <a:xfrm>
            <a:off x="566886" y="4110633"/>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This result supports participation of a group-II LAL descending neuron in the switching pathway. It does not establish that all group-II neurons share the same response or that this one cell is sufficient to create zigzag behavior. Staining and physiology restrict candidate pathways without revealing the complete mechanism maintaining the high and low states.</a:t>
            </a:r>
            <a:endParaRPr sz="1800">
              <a:solidFill>
                <a:schemeClr val="dk1"/>
              </a:solidFill>
              <a:latin typeface="Calibri"/>
              <a:ea typeface="Calibri"/>
              <a:cs typeface="Calibri"/>
              <a:sym typeface="Calibri"/>
            </a:endParaRPr>
          </a:p>
        </p:txBody>
      </p:sp>
      <p:pic>
        <p:nvPicPr>
          <p:cNvPr id="519" name="Google Shape;519;p37"/>
          <p:cNvPicPr preferRelativeResize="0"/>
          <p:nvPr/>
        </p:nvPicPr>
        <p:blipFill rotWithShape="1">
          <a:blip r:embed="rId3">
            <a:alphaModFix/>
          </a:blip>
          <a:srcRect b="0" l="0" r="0" t="0"/>
          <a:stretch/>
        </p:blipFill>
        <p:spPr>
          <a:xfrm>
            <a:off x="7365113" y="1280071"/>
            <a:ext cx="3353283" cy="4297561"/>
          </a:xfrm>
          <a:prstGeom prst="rect">
            <a:avLst/>
          </a:prstGeom>
          <a:noFill/>
          <a:ln>
            <a:noFill/>
          </a:ln>
        </p:spPr>
      </p:pic>
      <p:sp>
        <p:nvSpPr>
          <p:cNvPr id="520" name="Google Shape;520;p37"/>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Kanzaki et al. (1994), Fig. 10(A–C). Stained group-II descending neuron and switching responses.</a:t>
            </a:r>
            <a:endParaRPr sz="1800">
              <a:solidFill>
                <a:schemeClr val="dk1"/>
              </a:solidFill>
              <a:latin typeface="Calibri"/>
              <a:ea typeface="Calibri"/>
              <a:cs typeface="Calibri"/>
              <a:sym typeface="Calibri"/>
            </a:endParaRPr>
          </a:p>
        </p:txBody>
      </p:sp>
      <p:sp>
        <p:nvSpPr>
          <p:cNvPr id="521" name="Google Shape;521;p37"/>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2" name="Google Shape;522;p3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Kanzaki et al. (1994)</a:t>
            </a:r>
            <a:endParaRPr sz="1800">
              <a:solidFill>
                <a:schemeClr val="dk1"/>
              </a:solidFill>
              <a:latin typeface="Calibri"/>
              <a:ea typeface="Calibri"/>
              <a:cs typeface="Calibri"/>
              <a:sym typeface="Calibri"/>
            </a:endParaRPr>
          </a:p>
        </p:txBody>
      </p:sp>
      <p:sp>
        <p:nvSpPr>
          <p:cNvPr id="523" name="Google Shape;523;p3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7" name="Shape 527"/>
        <p:cNvGrpSpPr/>
        <p:nvPr/>
      </p:nvGrpSpPr>
      <p:grpSpPr>
        <a:xfrm>
          <a:off x="0" y="0"/>
          <a:ext cx="0" cy="0"/>
          <a:chOff x="0" y="0"/>
          <a:chExt cx="0" cy="0"/>
        </a:xfrm>
      </p:grpSpPr>
      <p:sp>
        <p:nvSpPr>
          <p:cNvPr id="528" name="Google Shape;528;p3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Posterior-slope neurons carry transient odor signals</a:t>
            </a:r>
            <a:endParaRPr sz="1800">
              <a:solidFill>
                <a:schemeClr val="dk1"/>
              </a:solidFill>
              <a:latin typeface="Calibri"/>
              <a:ea typeface="Calibri"/>
              <a:cs typeface="Calibri"/>
              <a:sym typeface="Calibri"/>
            </a:endParaRPr>
          </a:p>
        </p:txBody>
      </p:sp>
      <p:sp>
        <p:nvSpPr>
          <p:cNvPr id="529" name="Google Shape;529;p38"/>
          <p:cNvSpPr/>
          <p:nvPr/>
        </p:nvSpPr>
        <p:spPr>
          <a:xfrm>
            <a:off x="566886" y="1234380"/>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Namiki and colleagues recorded and filled descending neurons whose processes entered the posterior slope but not necessarily the lateral accessory lobe. The group-III PSDN1 neuron had smooth processes in posterior brain regions and varicose processes in the gnathal ganglion, a lower central region associated with descending pathways.</a:t>
            </a:r>
            <a:endParaRPr sz="1800">
              <a:solidFill>
                <a:schemeClr val="dk1"/>
              </a:solidFill>
              <a:latin typeface="Calibri"/>
              <a:ea typeface="Calibri"/>
              <a:cs typeface="Calibri"/>
              <a:sym typeface="Calibri"/>
            </a:endParaRPr>
          </a:p>
        </p:txBody>
      </p:sp>
      <p:sp>
        <p:nvSpPr>
          <p:cNvPr id="530" name="Google Shape;530;p38"/>
          <p:cNvSpPr/>
          <p:nvPr/>
        </p:nvSpPr>
        <p:spPr>
          <a:xfrm>
            <a:off x="566886" y="258276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The identified cell responded to bombykol with excitation. The authors did not observe the characteristic flip-flop activity in the group-III neurons they examined. This distinguishes a transient pheromone-responsive population from the LAL-associated persistent pathways described in earlier work.</a:t>
            </a:r>
            <a:endParaRPr sz="1800">
              <a:solidFill>
                <a:schemeClr val="dk1"/>
              </a:solidFill>
              <a:latin typeface="Calibri"/>
              <a:ea typeface="Calibri"/>
              <a:cs typeface="Calibri"/>
              <a:sym typeface="Calibri"/>
            </a:endParaRPr>
          </a:p>
        </p:txBody>
      </p:sp>
      <p:sp>
        <p:nvSpPr>
          <p:cNvPr id="531" name="Google Shape;531;p38"/>
          <p:cNvSpPr/>
          <p:nvPr/>
        </p:nvSpPr>
        <p:spPr>
          <a:xfrm>
            <a:off x="566886" y="3931146"/>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The authors proposed that transient group-III signals might contribute to the initial surge, whereas persistent signals could contribute to casting. This assignment remains a functional hypothesis because neuron-specific behavioral necessity was not tested. The route supplying pheromone input to the posterior slope also remained unresolved.</a:t>
            </a:r>
            <a:endParaRPr sz="1800">
              <a:solidFill>
                <a:schemeClr val="dk1"/>
              </a:solidFill>
              <a:latin typeface="Calibri"/>
              <a:ea typeface="Calibri"/>
              <a:cs typeface="Calibri"/>
              <a:sym typeface="Calibri"/>
            </a:endParaRPr>
          </a:p>
        </p:txBody>
      </p:sp>
      <p:pic>
        <p:nvPicPr>
          <p:cNvPr id="532" name="Google Shape;532;p38"/>
          <p:cNvPicPr preferRelativeResize="0"/>
          <p:nvPr/>
        </p:nvPicPr>
        <p:blipFill rotWithShape="1">
          <a:blip r:embed="rId3">
            <a:alphaModFix/>
          </a:blip>
          <a:srcRect b="0" l="0" r="0" t="0"/>
          <a:stretch/>
        </p:blipFill>
        <p:spPr>
          <a:xfrm>
            <a:off x="6458498" y="1280071"/>
            <a:ext cx="5166217" cy="2925514"/>
          </a:xfrm>
          <a:prstGeom prst="rect">
            <a:avLst/>
          </a:prstGeom>
          <a:noFill/>
          <a:ln>
            <a:noFill/>
          </a:ln>
        </p:spPr>
      </p:pic>
      <p:sp>
        <p:nvSpPr>
          <p:cNvPr id="533" name="Google Shape;533;p38"/>
          <p:cNvSpPr/>
          <p:nvPr/>
        </p:nvSpPr>
        <p:spPr>
          <a:xfrm>
            <a:off x="6458396" y="4297114"/>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Namiki et al. (2018), Fig. 9(a–e). Posterior-slope descending-neuron anatomy and odor-evoked activity.</a:t>
            </a:r>
            <a:endParaRPr sz="1800">
              <a:solidFill>
                <a:schemeClr val="dk1"/>
              </a:solidFill>
              <a:latin typeface="Calibri"/>
              <a:ea typeface="Calibri"/>
              <a:cs typeface="Calibri"/>
              <a:sym typeface="Calibri"/>
            </a:endParaRPr>
          </a:p>
        </p:txBody>
      </p:sp>
      <p:sp>
        <p:nvSpPr>
          <p:cNvPr id="534" name="Google Shape;534;p38"/>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5" name="Google Shape;535;p3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Namiki et al. (2018)</a:t>
            </a:r>
            <a:endParaRPr sz="1800">
              <a:solidFill>
                <a:schemeClr val="dk1"/>
              </a:solidFill>
              <a:latin typeface="Calibri"/>
              <a:ea typeface="Calibri"/>
              <a:cs typeface="Calibri"/>
              <a:sym typeface="Calibri"/>
            </a:endParaRPr>
          </a:p>
        </p:txBody>
      </p:sp>
      <p:sp>
        <p:nvSpPr>
          <p:cNvPr id="536" name="Google Shape;536;p3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0" name="Shape 540"/>
        <p:cNvGrpSpPr/>
        <p:nvPr/>
      </p:nvGrpSpPr>
      <p:grpSpPr>
        <a:xfrm>
          <a:off x="0" y="0"/>
          <a:ext cx="0" cy="0"/>
          <a:chOff x="0" y="0"/>
          <a:chExt cx="0" cy="0"/>
        </a:xfrm>
      </p:grpSpPr>
      <p:sp>
        <p:nvSpPr>
          <p:cNvPr id="541" name="Google Shape;541;p3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Serotonin changes behavioral pheromone sensitivity</a:t>
            </a:r>
            <a:endParaRPr sz="1800">
              <a:solidFill>
                <a:schemeClr val="dk1"/>
              </a:solidFill>
              <a:latin typeface="Calibri"/>
              <a:ea typeface="Calibri"/>
              <a:cs typeface="Calibri"/>
              <a:sym typeface="Calibri"/>
            </a:endParaRPr>
          </a:p>
        </p:txBody>
      </p:sp>
      <p:sp>
        <p:nvSpPr>
          <p:cNvPr id="542" name="Google Shape;542;p39"/>
          <p:cNvSpPr/>
          <p:nvPr/>
        </p:nvSpPr>
        <p:spPr>
          <a:xfrm>
            <a:off x="566886" y="1234380"/>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500"/>
              <a:buFont typeface="Arial"/>
              <a:buNone/>
            </a:pPr>
            <a:r>
              <a:rPr b="1" i="0" lang="en-US" sz="1500">
                <a:solidFill>
                  <a:srgbClr val="425B70"/>
                </a:solidFill>
                <a:latin typeface="Arial"/>
                <a:ea typeface="Arial"/>
                <a:cs typeface="Arial"/>
                <a:sym typeface="Arial"/>
              </a:rPr>
              <a:t>Serotonin</a:t>
            </a:r>
            <a:r>
              <a:rPr b="0" i="0" lang="en-US" sz="1500">
                <a:solidFill>
                  <a:srgbClr val="242B31"/>
                </a:solidFill>
                <a:latin typeface="Arial"/>
                <a:ea typeface="Arial"/>
                <a:cs typeface="Arial"/>
                <a:sym typeface="Arial"/>
              </a:rPr>
              <a:t>, also called 5-hydroxytryptamine, is a neurotransmitter and neuromodulator that can change a circuit’s responsiveness. Gatellier and colleagues applied it to exposed silkmoth antennal lobes and measured male responses to increasing bombykol source loads. Saline tests before treatment and a later wash supplied comparisons.</a:t>
            </a:r>
            <a:endParaRPr sz="1800">
              <a:solidFill>
                <a:schemeClr val="dk1"/>
              </a:solidFill>
              <a:latin typeface="Calibri"/>
              <a:ea typeface="Calibri"/>
              <a:cs typeface="Calibri"/>
              <a:sym typeface="Calibri"/>
            </a:endParaRPr>
          </a:p>
        </p:txBody>
      </p:sp>
      <p:sp>
        <p:nvSpPr>
          <p:cNvPr id="543" name="Google Shape;543;p39"/>
          <p:cNvSpPr/>
          <p:nvPr/>
        </p:nvSpPr>
        <p:spPr>
          <a:xfrm>
            <a:off x="566886" y="2788444"/>
            <a:ext cx="5316141"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At 10⁻⁴ mol/L, serotonin increased behavioral sensitivity. For 5 ng bombykol, the response fraction rose from 18% in the control condition to 30% during treatment. The dose-response curve returned toward the control condition after 24 h.</a:t>
            </a:r>
            <a:endParaRPr sz="1800">
              <a:solidFill>
                <a:schemeClr val="dk1"/>
              </a:solidFill>
              <a:latin typeface="Calibri"/>
              <a:ea typeface="Calibri"/>
              <a:cs typeface="Calibri"/>
              <a:sym typeface="Calibri"/>
            </a:endParaRPr>
          </a:p>
        </p:txBody>
      </p:sp>
      <p:sp>
        <p:nvSpPr>
          <p:cNvPr id="544" name="Google Shape;544;p39"/>
          <p:cNvSpPr/>
          <p:nvPr/>
        </p:nvSpPr>
        <p:spPr>
          <a:xfrm>
            <a:off x="566886" y="3931146"/>
            <a:ext cx="53161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The effect connects a central chemical manipulation to altered behavioral initiation. It does not imply that serotonin replaces pheromone or selectively controls one identified PN. Brain exposure and pharmacological application can affect several elements, so the cellular target and signaling pathway cannot be assigned solely from the behavioral curve.</a:t>
            </a:r>
            <a:endParaRPr sz="1800">
              <a:solidFill>
                <a:schemeClr val="dk1"/>
              </a:solidFill>
              <a:latin typeface="Calibri"/>
              <a:ea typeface="Calibri"/>
              <a:cs typeface="Calibri"/>
              <a:sym typeface="Calibri"/>
            </a:endParaRPr>
          </a:p>
        </p:txBody>
      </p:sp>
      <p:pic>
        <p:nvPicPr>
          <p:cNvPr id="545" name="Google Shape;545;p39"/>
          <p:cNvPicPr preferRelativeResize="0"/>
          <p:nvPr/>
        </p:nvPicPr>
        <p:blipFill rotWithShape="1">
          <a:blip r:embed="rId3">
            <a:alphaModFix/>
          </a:blip>
          <a:srcRect b="0" l="0" r="0" t="0"/>
          <a:stretch/>
        </p:blipFill>
        <p:spPr>
          <a:xfrm>
            <a:off x="6816758" y="1280071"/>
            <a:ext cx="4221393" cy="2925961"/>
          </a:xfrm>
          <a:prstGeom prst="rect">
            <a:avLst/>
          </a:prstGeom>
          <a:noFill/>
          <a:ln>
            <a:noFill/>
          </a:ln>
        </p:spPr>
      </p:pic>
      <p:sp>
        <p:nvSpPr>
          <p:cNvPr id="546" name="Google Shape;546;p39"/>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Gatellier et al. (2004), Fig. 2(single panel). Pheromone response curve before serotonin, during treatment and after wash.</a:t>
            </a:r>
            <a:endParaRPr sz="1800">
              <a:solidFill>
                <a:schemeClr val="dk1"/>
              </a:solidFill>
              <a:latin typeface="Calibri"/>
              <a:ea typeface="Calibri"/>
              <a:cs typeface="Calibri"/>
              <a:sym typeface="Calibri"/>
            </a:endParaRPr>
          </a:p>
        </p:txBody>
      </p:sp>
      <p:pic>
        <p:nvPicPr>
          <p:cNvPr id="547" name="Google Shape;547;p39"/>
          <p:cNvPicPr preferRelativeResize="0"/>
          <p:nvPr/>
        </p:nvPicPr>
        <p:blipFill rotWithShape="1">
          <a:blip r:embed="rId4">
            <a:alphaModFix/>
          </a:blip>
          <a:srcRect b="0" l="0" r="0" t="0"/>
          <a:stretch/>
        </p:blipFill>
        <p:spPr>
          <a:xfrm>
            <a:off x="8344952" y="4754761"/>
            <a:ext cx="1164858" cy="1005780"/>
          </a:xfrm>
          <a:prstGeom prst="rect">
            <a:avLst/>
          </a:prstGeom>
          <a:noFill/>
          <a:ln>
            <a:noFill/>
          </a:ln>
        </p:spPr>
      </p:pic>
      <p:sp>
        <p:nvSpPr>
          <p:cNvPr id="548" name="Google Shape;548;p39"/>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1(C). Bombykol sensory axons terminate in the toroid.</a:t>
            </a:r>
            <a:endParaRPr sz="1800">
              <a:solidFill>
                <a:schemeClr val="dk1"/>
              </a:solidFill>
              <a:latin typeface="Calibri"/>
              <a:ea typeface="Calibri"/>
              <a:cs typeface="Calibri"/>
              <a:sym typeface="Calibri"/>
            </a:endParaRPr>
          </a:p>
        </p:txBody>
      </p:sp>
      <p:sp>
        <p:nvSpPr>
          <p:cNvPr id="549" name="Google Shape;549;p39"/>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0" name="Google Shape;550;p3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Gatellier et al. (2004); Tabuchi et al. (2013)</a:t>
            </a:r>
            <a:endParaRPr sz="1800">
              <a:solidFill>
                <a:schemeClr val="dk1"/>
              </a:solidFill>
              <a:latin typeface="Calibri"/>
              <a:ea typeface="Calibri"/>
              <a:cs typeface="Calibri"/>
              <a:sym typeface="Calibri"/>
            </a:endParaRPr>
          </a:p>
        </p:txBody>
      </p:sp>
      <p:sp>
        <p:nvSpPr>
          <p:cNvPr id="551" name="Google Shape;551;p3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5" name="Shape 555"/>
        <p:cNvGrpSpPr/>
        <p:nvPr/>
      </p:nvGrpSpPr>
      <p:grpSpPr>
        <a:xfrm>
          <a:off x="0" y="0"/>
          <a:ext cx="0" cy="0"/>
          <a:chOff x="0" y="0"/>
          <a:chExt cx="0" cy="0"/>
        </a:xfrm>
      </p:grpSpPr>
      <p:sp>
        <p:nvSpPr>
          <p:cNvPr id="556" name="Google Shape;556;p4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Serotonin has concentration-dependent effects</a:t>
            </a:r>
            <a:endParaRPr sz="1800">
              <a:solidFill>
                <a:schemeClr val="dk1"/>
              </a:solidFill>
              <a:latin typeface="Calibri"/>
              <a:ea typeface="Calibri"/>
              <a:cs typeface="Calibri"/>
              <a:sym typeface="Calibri"/>
            </a:endParaRPr>
          </a:p>
        </p:txBody>
      </p:sp>
      <p:sp>
        <p:nvSpPr>
          <p:cNvPr id="557" name="Google Shape;557;p40"/>
          <p:cNvSpPr/>
          <p:nvPr/>
        </p:nvSpPr>
        <p:spPr>
          <a:xfrm>
            <a:off x="566886" y="1234380"/>
            <a:ext cx="5316141"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400"/>
              <a:buFont typeface="Arial"/>
              <a:buNone/>
            </a:pPr>
            <a:r>
              <a:rPr b="0" i="0" lang="en-US" sz="1400">
                <a:solidFill>
                  <a:srgbClr val="242B31"/>
                </a:solidFill>
                <a:latin typeface="Arial"/>
                <a:ea typeface="Arial"/>
                <a:cs typeface="Arial"/>
                <a:sym typeface="Arial"/>
              </a:rPr>
              <a:t>Gatellier and colleagues compared serotonin applications of 10⁻⁵, 10⁻⁴ and 10⁻³ mol/L. The lowest concentration did not appreciably change behavioral sensitivity, the intermediate concentration enhanced it, and the highest concentration reduced it. More serotonin therefore did not produce a monotonic increase in responsiveness.</a:t>
            </a:r>
            <a:endParaRPr sz="1800">
              <a:solidFill>
                <a:schemeClr val="dk1"/>
              </a:solidFill>
              <a:latin typeface="Calibri"/>
              <a:ea typeface="Calibri"/>
              <a:cs typeface="Calibri"/>
              <a:sym typeface="Calibri"/>
            </a:endParaRPr>
          </a:p>
        </p:txBody>
      </p:sp>
      <p:sp>
        <p:nvSpPr>
          <p:cNvPr id="558" name="Google Shape;558;p40"/>
          <p:cNvSpPr/>
          <p:nvPr/>
        </p:nvSpPr>
        <p:spPr>
          <a:xfrm>
            <a:off x="566886" y="2492871"/>
            <a:ext cx="5316141"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400"/>
              <a:buFont typeface="Arial"/>
              <a:buNone/>
            </a:pPr>
            <a:r>
              <a:rPr b="1" i="0" lang="en-US" sz="1400">
                <a:solidFill>
                  <a:srgbClr val="425B70"/>
                </a:solidFill>
                <a:latin typeface="Arial"/>
                <a:ea typeface="Arial"/>
                <a:cs typeface="Arial"/>
                <a:sym typeface="Arial"/>
              </a:rPr>
              <a:t>High-performance liquid chromatography</a:t>
            </a:r>
            <a:r>
              <a:rPr b="0" i="0" lang="en-US" sz="1400">
                <a:solidFill>
                  <a:srgbClr val="242B31"/>
                </a:solidFill>
                <a:latin typeface="Arial"/>
                <a:ea typeface="Arial"/>
                <a:cs typeface="Arial"/>
                <a:sym typeface="Arial"/>
              </a:rPr>
              <a:t>, or HPLC, separated serotonin from other tissue compounds for electrochemical measurement. Brain content rose from about 0.18 pmol/brain in controls to 0.44 and 0.80 pmol/brain after the intermediate and high applications. After 24 h, content returned toward control levels.</a:t>
            </a:r>
            <a:endParaRPr sz="1800">
              <a:solidFill>
                <a:schemeClr val="dk1"/>
              </a:solidFill>
              <a:latin typeface="Calibri"/>
              <a:ea typeface="Calibri"/>
              <a:cs typeface="Calibri"/>
              <a:sym typeface="Calibri"/>
            </a:endParaRPr>
          </a:p>
        </p:txBody>
      </p:sp>
      <p:sp>
        <p:nvSpPr>
          <p:cNvPr id="559" name="Google Shape;559;p40"/>
          <p:cNvSpPr/>
          <p:nvPr/>
        </p:nvSpPr>
        <p:spPr>
          <a:xfrm>
            <a:off x="566886" y="3751362"/>
            <a:ext cx="5316141"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400"/>
              <a:buFont typeface="Arial"/>
              <a:buNone/>
            </a:pPr>
            <a:r>
              <a:rPr b="0" i="0" lang="en-US" sz="1400">
                <a:solidFill>
                  <a:srgbClr val="242B31"/>
                </a:solidFill>
                <a:latin typeface="Arial"/>
                <a:ea typeface="Arial"/>
                <a:cs typeface="Arial"/>
                <a:sym typeface="Arial"/>
              </a:rPr>
              <a:t>These measurements verify that application changed tissue serotonin while revealing opposite behavioral outcomes. Whole-brain content is not the concentration at one synapse, and the study did not identify distinct receptor pathways causing enhancement and inhibition. Dose-dependent effects constrain a simple uniformly excitatory explanation.</a:t>
            </a:r>
            <a:endParaRPr sz="1800">
              <a:solidFill>
                <a:schemeClr val="dk1"/>
              </a:solidFill>
              <a:latin typeface="Calibri"/>
              <a:ea typeface="Calibri"/>
              <a:cs typeface="Calibri"/>
              <a:sym typeface="Calibri"/>
            </a:endParaRPr>
          </a:p>
        </p:txBody>
      </p:sp>
      <p:pic>
        <p:nvPicPr>
          <p:cNvPr id="560" name="Google Shape;560;p40"/>
          <p:cNvPicPr preferRelativeResize="0"/>
          <p:nvPr/>
        </p:nvPicPr>
        <p:blipFill rotWithShape="1">
          <a:blip r:embed="rId3">
            <a:alphaModFix/>
          </a:blip>
          <a:srcRect b="0" l="0" r="0" t="0"/>
          <a:stretch/>
        </p:blipFill>
        <p:spPr>
          <a:xfrm>
            <a:off x="6434281" y="1280071"/>
            <a:ext cx="4986497" cy="2925961"/>
          </a:xfrm>
          <a:prstGeom prst="rect">
            <a:avLst/>
          </a:prstGeom>
          <a:noFill/>
          <a:ln>
            <a:noFill/>
          </a:ln>
        </p:spPr>
      </p:pic>
      <p:sp>
        <p:nvSpPr>
          <p:cNvPr id="561" name="Google Shape;561;p40"/>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Gatellier et al. (2004), Fig. 4(single panel). Measured brain serotonin after application and wash.</a:t>
            </a:r>
            <a:endParaRPr sz="1800">
              <a:solidFill>
                <a:schemeClr val="dk1"/>
              </a:solidFill>
              <a:latin typeface="Calibri"/>
              <a:ea typeface="Calibri"/>
              <a:cs typeface="Calibri"/>
              <a:sym typeface="Calibri"/>
            </a:endParaRPr>
          </a:p>
        </p:txBody>
      </p:sp>
      <p:pic>
        <p:nvPicPr>
          <p:cNvPr id="562" name="Google Shape;562;p40"/>
          <p:cNvPicPr preferRelativeResize="0"/>
          <p:nvPr/>
        </p:nvPicPr>
        <p:blipFill rotWithShape="1">
          <a:blip r:embed="rId4">
            <a:alphaModFix/>
          </a:blip>
          <a:srcRect b="0" l="0" r="0" t="0"/>
          <a:stretch/>
        </p:blipFill>
        <p:spPr>
          <a:xfrm>
            <a:off x="8344952" y="4754761"/>
            <a:ext cx="1164858" cy="1005780"/>
          </a:xfrm>
          <a:prstGeom prst="rect">
            <a:avLst/>
          </a:prstGeom>
          <a:noFill/>
          <a:ln>
            <a:noFill/>
          </a:ln>
        </p:spPr>
      </p:pic>
      <p:sp>
        <p:nvSpPr>
          <p:cNvPr id="563" name="Google Shape;563;p40"/>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1(C). Bombykol sensory axons terminate in the toroid.</a:t>
            </a:r>
            <a:endParaRPr sz="1800">
              <a:solidFill>
                <a:schemeClr val="dk1"/>
              </a:solidFill>
              <a:latin typeface="Calibri"/>
              <a:ea typeface="Calibri"/>
              <a:cs typeface="Calibri"/>
              <a:sym typeface="Calibri"/>
            </a:endParaRPr>
          </a:p>
        </p:txBody>
      </p:sp>
      <p:sp>
        <p:nvSpPr>
          <p:cNvPr id="564" name="Google Shape;564;p40"/>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5" name="Google Shape;565;p4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Gatellier et al. (2004); Tabuchi et al. (2013)</a:t>
            </a:r>
            <a:endParaRPr sz="1800">
              <a:solidFill>
                <a:schemeClr val="dk1"/>
              </a:solidFill>
              <a:latin typeface="Calibri"/>
              <a:ea typeface="Calibri"/>
              <a:cs typeface="Calibri"/>
              <a:sym typeface="Calibri"/>
            </a:endParaRPr>
          </a:p>
        </p:txBody>
      </p:sp>
      <p:sp>
        <p:nvSpPr>
          <p:cNvPr id="566" name="Google Shape;566;p4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0" name="Shape 570"/>
        <p:cNvGrpSpPr/>
        <p:nvPr/>
      </p:nvGrpSpPr>
      <p:grpSpPr>
        <a:xfrm>
          <a:off x="0" y="0"/>
          <a:ext cx="0" cy="0"/>
          <a:chOff x="0" y="0"/>
          <a:chExt cx="0" cy="0"/>
        </a:xfrm>
      </p:grpSpPr>
      <p:sp>
        <p:nvSpPr>
          <p:cNvPr id="571" name="Google Shape;571;p4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Antagonists reduce pheromone responsiveness</a:t>
            </a:r>
            <a:endParaRPr sz="1800">
              <a:solidFill>
                <a:schemeClr val="dk1"/>
              </a:solidFill>
              <a:latin typeface="Calibri"/>
              <a:ea typeface="Calibri"/>
              <a:cs typeface="Calibri"/>
              <a:sym typeface="Calibri"/>
            </a:endParaRPr>
          </a:p>
        </p:txBody>
      </p:sp>
      <p:sp>
        <p:nvSpPr>
          <p:cNvPr id="572" name="Google Shape;572;p41"/>
          <p:cNvSpPr/>
          <p:nvPr/>
        </p:nvSpPr>
        <p:spPr>
          <a:xfrm>
            <a:off x="566886" y="1234380"/>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Gatellier and colleagues applied the serotonin antagonists </a:t>
            </a:r>
            <a:r>
              <a:rPr b="1" i="0" lang="en-US" sz="1600">
                <a:solidFill>
                  <a:srgbClr val="425B70"/>
                </a:solidFill>
                <a:latin typeface="Arial"/>
                <a:ea typeface="Arial"/>
                <a:cs typeface="Arial"/>
                <a:sym typeface="Arial"/>
              </a:rPr>
              <a:t>mianserin</a:t>
            </a:r>
            <a:r>
              <a:rPr b="0" i="0" lang="en-US" sz="1600">
                <a:solidFill>
                  <a:srgbClr val="242B31"/>
                </a:solidFill>
                <a:latin typeface="Arial"/>
                <a:ea typeface="Arial"/>
                <a:cs typeface="Arial"/>
                <a:sym typeface="Arial"/>
              </a:rPr>
              <a:t> and </a:t>
            </a:r>
            <a:r>
              <a:rPr b="1" i="0" lang="en-US" sz="1600">
                <a:solidFill>
                  <a:srgbClr val="425B70"/>
                </a:solidFill>
                <a:latin typeface="Arial"/>
                <a:ea typeface="Arial"/>
                <a:cs typeface="Arial"/>
                <a:sym typeface="Arial"/>
              </a:rPr>
              <a:t>ketanserin</a:t>
            </a:r>
            <a:r>
              <a:rPr b="0" i="0" lang="en-US" sz="1600">
                <a:solidFill>
                  <a:srgbClr val="242B31"/>
                </a:solidFill>
                <a:latin typeface="Arial"/>
                <a:ea typeface="Arial"/>
                <a:cs typeface="Arial"/>
                <a:sym typeface="Arial"/>
              </a:rPr>
              <a:t> to the exposed brain before bombykol testing. Mianserin at 10⁻⁴ mol/L and ketanserin at 10⁻³ mol/L shifted behavioral responsiveness toward higher required pheromone doses.</a:t>
            </a:r>
            <a:endParaRPr sz="1800">
              <a:solidFill>
                <a:schemeClr val="dk1"/>
              </a:solidFill>
              <a:latin typeface="Calibri"/>
              <a:ea typeface="Calibri"/>
              <a:cs typeface="Calibri"/>
              <a:sym typeface="Calibri"/>
            </a:endParaRPr>
          </a:p>
        </p:txBody>
      </p:sp>
      <p:sp>
        <p:nvSpPr>
          <p:cNvPr id="573" name="Google Shape;573;p41"/>
          <p:cNvSpPr/>
          <p:nvPr/>
        </p:nvSpPr>
        <p:spPr>
          <a:xfrm>
            <a:off x="566886" y="2672507"/>
            <a:ext cx="53161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For 5 ng bombykol, mianserin reduced the response fraction from 46% to 33% in its comparison group. Ketanserin reduced it from 25% to 17% in a separate group. Ketanserin at 10⁻⁴ mol/L did not produce the same inhibitory effect.</a:t>
            </a:r>
            <a:endParaRPr sz="1800">
              <a:solidFill>
                <a:schemeClr val="dk1"/>
              </a:solidFill>
              <a:latin typeface="Calibri"/>
              <a:ea typeface="Calibri"/>
              <a:cs typeface="Calibri"/>
              <a:sym typeface="Calibri"/>
            </a:endParaRPr>
          </a:p>
        </p:txBody>
      </p:sp>
      <p:sp>
        <p:nvSpPr>
          <p:cNvPr id="574" name="Google Shape;574;p41"/>
          <p:cNvSpPr/>
          <p:nvPr/>
        </p:nvSpPr>
        <p:spPr>
          <a:xfrm>
            <a:off x="566886" y="3891260"/>
            <a:ext cx="5316141" cy="175498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The antagonist results support serotonergic involvement in behavioral sensitivity, but the drugs are not perfectly selective probes of an identified insect receptor. Different control response fractions belong to different experiments and should not be pooled. Incomplete recovery after 24 h also limits attributing every remaining change solely to persistent receptor blockade.</a:t>
            </a:r>
            <a:endParaRPr sz="1800">
              <a:solidFill>
                <a:schemeClr val="dk1"/>
              </a:solidFill>
              <a:latin typeface="Calibri"/>
              <a:ea typeface="Calibri"/>
              <a:cs typeface="Calibri"/>
              <a:sym typeface="Calibri"/>
            </a:endParaRPr>
          </a:p>
        </p:txBody>
      </p:sp>
      <p:pic>
        <p:nvPicPr>
          <p:cNvPr id="575" name="Google Shape;575;p41"/>
          <p:cNvPicPr preferRelativeResize="0"/>
          <p:nvPr/>
        </p:nvPicPr>
        <p:blipFill rotWithShape="1">
          <a:blip r:embed="rId3">
            <a:alphaModFix/>
          </a:blip>
          <a:srcRect b="0" l="0" r="0" t="0"/>
          <a:stretch/>
        </p:blipFill>
        <p:spPr>
          <a:xfrm>
            <a:off x="6641753" y="1280079"/>
            <a:ext cx="3062436" cy="4297545"/>
          </a:xfrm>
          <a:prstGeom prst="rect">
            <a:avLst/>
          </a:prstGeom>
          <a:noFill/>
          <a:ln>
            <a:noFill/>
          </a:ln>
        </p:spPr>
      </p:pic>
      <p:sp>
        <p:nvSpPr>
          <p:cNvPr id="576" name="Google Shape;576;p41"/>
          <p:cNvSpPr/>
          <p:nvPr/>
        </p:nvSpPr>
        <p:spPr>
          <a:xfrm>
            <a:off x="6229796" y="5669161"/>
            <a:ext cx="390525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Gatellier et al. (2004), Fig. 5(A–B). Serotonin antagonists decrease behavioral sensitivity to bombykol.</a:t>
            </a:r>
            <a:endParaRPr sz="1800">
              <a:solidFill>
                <a:schemeClr val="dk1"/>
              </a:solidFill>
              <a:latin typeface="Calibri"/>
              <a:ea typeface="Calibri"/>
              <a:cs typeface="Calibri"/>
              <a:sym typeface="Calibri"/>
            </a:endParaRPr>
          </a:p>
        </p:txBody>
      </p:sp>
      <p:pic>
        <p:nvPicPr>
          <p:cNvPr id="577" name="Google Shape;577;p41"/>
          <p:cNvPicPr preferRelativeResize="0"/>
          <p:nvPr/>
        </p:nvPicPr>
        <p:blipFill rotWithShape="1">
          <a:blip r:embed="rId4">
            <a:alphaModFix/>
          </a:blip>
          <a:srcRect b="0" l="0" r="0" t="0"/>
          <a:stretch/>
        </p:blipFill>
        <p:spPr>
          <a:xfrm>
            <a:off x="10299055" y="2148818"/>
            <a:ext cx="1325761" cy="1144710"/>
          </a:xfrm>
          <a:prstGeom prst="rect">
            <a:avLst/>
          </a:prstGeom>
          <a:noFill/>
          <a:ln>
            <a:noFill/>
          </a:ln>
        </p:spPr>
      </p:pic>
      <p:sp>
        <p:nvSpPr>
          <p:cNvPr id="578" name="Google Shape;578;p41"/>
          <p:cNvSpPr/>
          <p:nvPr/>
        </p:nvSpPr>
        <p:spPr>
          <a:xfrm>
            <a:off x="10299055" y="3366790"/>
            <a:ext cx="1344811" cy="685354"/>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1(C). Bombykol sensory axons terminate in the toroid.</a:t>
            </a:r>
            <a:endParaRPr sz="1800">
              <a:solidFill>
                <a:schemeClr val="dk1"/>
              </a:solidFill>
              <a:latin typeface="Calibri"/>
              <a:ea typeface="Calibri"/>
              <a:cs typeface="Calibri"/>
              <a:sym typeface="Calibri"/>
            </a:endParaRPr>
          </a:p>
        </p:txBody>
      </p:sp>
      <p:sp>
        <p:nvSpPr>
          <p:cNvPr id="579" name="Google Shape;579;p41"/>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0" name="Google Shape;580;p4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Gatellier et al. (2004); Tabuchi et al. (2013)</a:t>
            </a:r>
            <a:endParaRPr sz="1800">
              <a:solidFill>
                <a:schemeClr val="dk1"/>
              </a:solidFill>
              <a:latin typeface="Calibri"/>
              <a:ea typeface="Calibri"/>
              <a:cs typeface="Calibri"/>
              <a:sym typeface="Calibri"/>
            </a:endParaRPr>
          </a:p>
        </p:txBody>
      </p:sp>
      <p:sp>
        <p:nvSpPr>
          <p:cNvPr id="581" name="Google Shape;581;p4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5" name="Shape 585"/>
        <p:cNvGrpSpPr/>
        <p:nvPr/>
      </p:nvGrpSpPr>
      <p:grpSpPr>
        <a:xfrm>
          <a:off x="0" y="0"/>
          <a:ext cx="0" cy="0"/>
          <a:chOff x="0" y="0"/>
          <a:chExt cx="0" cy="0"/>
        </a:xfrm>
      </p:grpSpPr>
      <p:sp>
        <p:nvSpPr>
          <p:cNvPr id="586" name="Google Shape;586;p4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Daily serotonin variation accompanies sensitivity</a:t>
            </a:r>
            <a:endParaRPr sz="1800">
              <a:solidFill>
                <a:schemeClr val="dk1"/>
              </a:solidFill>
              <a:latin typeface="Calibri"/>
              <a:ea typeface="Calibri"/>
              <a:cs typeface="Calibri"/>
              <a:sym typeface="Calibri"/>
            </a:endParaRPr>
          </a:p>
        </p:txBody>
      </p:sp>
      <p:sp>
        <p:nvSpPr>
          <p:cNvPr id="587" name="Google Shape;587;p42"/>
          <p:cNvSpPr/>
          <p:nvPr/>
        </p:nvSpPr>
        <p:spPr>
          <a:xfrm>
            <a:off x="566886" y="1234380"/>
            <a:ext cx="5316141"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Gatellier and colleagues measured brain serotonin every 4 h over a 24-h light–dark cycle and tested pheromone responsiveness at multiple times. Serotonin content peaked around noon at about 0.72 pmol/brain and declined to about 0.41 pmol/brain two hours after darkness began.</a:t>
            </a:r>
            <a:endParaRPr sz="1800">
              <a:solidFill>
                <a:schemeClr val="dk1"/>
              </a:solidFill>
              <a:latin typeface="Calibri"/>
              <a:ea typeface="Calibri"/>
              <a:cs typeface="Calibri"/>
              <a:sym typeface="Calibri"/>
            </a:endParaRPr>
          </a:p>
        </p:txBody>
      </p:sp>
      <p:sp>
        <p:nvSpPr>
          <p:cNvPr id="588" name="Google Shape;588;p42"/>
          <p:cNvSpPr/>
          <p:nvPr/>
        </p:nvSpPr>
        <p:spPr>
          <a:xfrm>
            <a:off x="566886" y="2672507"/>
            <a:ext cx="53161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For 1 ng bombykol, behavioral responsiveness rose from 32% at 06:00 to 63% around noon, then declined to 16% at 22:00. Brain serotonin and response sensitivity therefore varied together over the tested daily schedule.</a:t>
            </a:r>
            <a:endParaRPr sz="1800">
              <a:solidFill>
                <a:schemeClr val="dk1"/>
              </a:solidFill>
              <a:latin typeface="Calibri"/>
              <a:ea typeface="Calibri"/>
              <a:cs typeface="Calibri"/>
              <a:sym typeface="Calibri"/>
            </a:endParaRPr>
          </a:p>
        </p:txBody>
      </p:sp>
      <p:sp>
        <p:nvSpPr>
          <p:cNvPr id="589" name="Google Shape;589;p42"/>
          <p:cNvSpPr/>
          <p:nvPr/>
        </p:nvSpPr>
        <p:spPr>
          <a:xfrm>
            <a:off x="566886" y="3891260"/>
            <a:ext cx="5316141" cy="175498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The correlation is consistent with a state-dependent serotonergic contribution but does not prove that serotonin alone generates the rhythm. Measurements under a light–dark cycle also do not establish persistence of an endogenous circadian oscillator in constant conditions. Daily modulation and the separate application experiments provide different forms of evidence.</a:t>
            </a:r>
            <a:endParaRPr sz="1800">
              <a:solidFill>
                <a:schemeClr val="dk1"/>
              </a:solidFill>
              <a:latin typeface="Calibri"/>
              <a:ea typeface="Calibri"/>
              <a:cs typeface="Calibri"/>
              <a:sym typeface="Calibri"/>
            </a:endParaRPr>
          </a:p>
        </p:txBody>
      </p:sp>
      <p:pic>
        <p:nvPicPr>
          <p:cNvPr id="590" name="Google Shape;590;p42"/>
          <p:cNvPicPr preferRelativeResize="0"/>
          <p:nvPr/>
        </p:nvPicPr>
        <p:blipFill rotWithShape="1">
          <a:blip r:embed="rId3">
            <a:alphaModFix/>
          </a:blip>
          <a:srcRect b="0" l="0" r="0" t="0"/>
          <a:stretch/>
        </p:blipFill>
        <p:spPr>
          <a:xfrm>
            <a:off x="6680099" y="1280071"/>
            <a:ext cx="4494564" cy="2925961"/>
          </a:xfrm>
          <a:prstGeom prst="rect">
            <a:avLst/>
          </a:prstGeom>
          <a:noFill/>
          <a:ln>
            <a:noFill/>
          </a:ln>
        </p:spPr>
      </p:pic>
      <p:sp>
        <p:nvSpPr>
          <p:cNvPr id="591" name="Google Shape;591;p42"/>
          <p:cNvSpPr/>
          <p:nvPr/>
        </p:nvSpPr>
        <p:spPr>
          <a:xfrm>
            <a:off x="6229796" y="4297561"/>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Gatellier et al. (2004), Fig. 7(single panel). Brain serotonin content varies with time of day.</a:t>
            </a:r>
            <a:endParaRPr sz="1800">
              <a:solidFill>
                <a:schemeClr val="dk1"/>
              </a:solidFill>
              <a:latin typeface="Calibri"/>
              <a:ea typeface="Calibri"/>
              <a:cs typeface="Calibri"/>
              <a:sym typeface="Calibri"/>
            </a:endParaRPr>
          </a:p>
        </p:txBody>
      </p:sp>
      <p:pic>
        <p:nvPicPr>
          <p:cNvPr id="592" name="Google Shape;592;p42"/>
          <p:cNvPicPr preferRelativeResize="0"/>
          <p:nvPr/>
        </p:nvPicPr>
        <p:blipFill rotWithShape="1">
          <a:blip r:embed="rId4">
            <a:alphaModFix/>
          </a:blip>
          <a:srcRect b="0" l="0" r="0" t="0"/>
          <a:stretch/>
        </p:blipFill>
        <p:spPr>
          <a:xfrm>
            <a:off x="8344952" y="4754761"/>
            <a:ext cx="1164858" cy="1005780"/>
          </a:xfrm>
          <a:prstGeom prst="rect">
            <a:avLst/>
          </a:prstGeom>
          <a:noFill/>
          <a:ln>
            <a:noFill/>
          </a:ln>
        </p:spPr>
      </p:pic>
      <p:sp>
        <p:nvSpPr>
          <p:cNvPr id="593" name="Google Shape;593;p42"/>
          <p:cNvSpPr/>
          <p:nvPr/>
        </p:nvSpPr>
        <p:spPr>
          <a:xfrm>
            <a:off x="6229796" y="5833765"/>
            <a:ext cx="541407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Tabuchi et al. (2013), Fig. 1(C). Bombykol sensory axons terminate in the toroid.</a:t>
            </a:r>
            <a:endParaRPr sz="1800">
              <a:solidFill>
                <a:schemeClr val="dk1"/>
              </a:solidFill>
              <a:latin typeface="Calibri"/>
              <a:ea typeface="Calibri"/>
              <a:cs typeface="Calibri"/>
              <a:sym typeface="Calibri"/>
            </a:endParaRPr>
          </a:p>
        </p:txBody>
      </p:sp>
      <p:sp>
        <p:nvSpPr>
          <p:cNvPr id="594" name="Google Shape;594;p42"/>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5" name="Google Shape;595;p4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Gatellier et al. (2004); Tabuchi et al. (2013)</a:t>
            </a:r>
            <a:endParaRPr sz="1800">
              <a:solidFill>
                <a:schemeClr val="dk1"/>
              </a:solidFill>
              <a:latin typeface="Calibri"/>
              <a:ea typeface="Calibri"/>
              <a:cs typeface="Calibri"/>
              <a:sym typeface="Calibri"/>
            </a:endParaRPr>
          </a:p>
        </p:txBody>
      </p:sp>
      <p:sp>
        <p:nvSpPr>
          <p:cNvPr id="596" name="Google Shape;596;p4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0" name="Shape 600"/>
        <p:cNvGrpSpPr/>
        <p:nvPr/>
      </p:nvGrpSpPr>
      <p:grpSpPr>
        <a:xfrm>
          <a:off x="0" y="0"/>
          <a:ext cx="0" cy="0"/>
          <a:chOff x="0" y="0"/>
          <a:chExt cx="0" cy="0"/>
        </a:xfrm>
      </p:grpSpPr>
      <p:sp>
        <p:nvSpPr>
          <p:cNvPr id="601" name="Google Shape;601;p4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Sensory context changes walking speed and turning</a:t>
            </a:r>
            <a:endParaRPr sz="1800">
              <a:solidFill>
                <a:schemeClr val="dk1"/>
              </a:solidFill>
              <a:latin typeface="Calibri"/>
              <a:ea typeface="Calibri"/>
              <a:cs typeface="Calibri"/>
              <a:sym typeface="Calibri"/>
            </a:endParaRPr>
          </a:p>
        </p:txBody>
      </p:sp>
      <p:sp>
        <p:nvSpPr>
          <p:cNvPr id="602" name="Google Shape;602;p43"/>
          <p:cNvSpPr/>
          <p:nvPr/>
        </p:nvSpPr>
        <p:spPr>
          <a:xfrm>
            <a:off x="566886" y="1234380"/>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Yamada and colleagues measured forward and angular velocity as a function of odor-detection frequency during virtual navigation. </a:t>
            </a:r>
            <a:r>
              <a:rPr b="1" i="0" lang="en-US" sz="1500">
                <a:solidFill>
                  <a:srgbClr val="425B70"/>
                </a:solidFill>
                <a:latin typeface="Arial"/>
                <a:ea typeface="Arial"/>
                <a:cs typeface="Arial"/>
                <a:sym typeface="Arial"/>
              </a:rPr>
              <a:t>Angular velocity</a:t>
            </a:r>
            <a:r>
              <a:rPr b="0" i="0" lang="en-US" sz="1500">
                <a:solidFill>
                  <a:srgbClr val="242B31"/>
                </a:solidFill>
                <a:latin typeface="Arial"/>
                <a:ea typeface="Arial"/>
                <a:cs typeface="Arial"/>
                <a:sym typeface="Arial"/>
              </a:rPr>
              <a:t> is the rate of change of heading, distinct from translational movement through space. Wind and optic-flow direction could be reversed independently.</a:t>
            </a:r>
            <a:endParaRPr sz="1800">
              <a:solidFill>
                <a:schemeClr val="dk1"/>
              </a:solidFill>
              <a:latin typeface="Calibri"/>
              <a:ea typeface="Calibri"/>
              <a:cs typeface="Calibri"/>
              <a:sym typeface="Calibri"/>
            </a:endParaRPr>
          </a:p>
        </p:txBody>
      </p:sp>
      <p:sp>
        <p:nvSpPr>
          <p:cNvPr id="603" name="Google Shape;603;p43"/>
          <p:cNvSpPr/>
          <p:nvPr/>
        </p:nvSpPr>
        <p:spPr>
          <a:xfrm>
            <a:off x="566886" y="2582763"/>
            <a:ext cx="5544741"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With correctly aligned cues, forward velocity peaked around 0.7 Hz and turning velocity around 0.4 Hz. Reversing wind removed the same frequency-dependent forward-speed pattern and shifted the turning peak toward about 0.2 Hz. Reversing visual motion also produced unequal left- and right-turning responses.</a:t>
            </a:r>
            <a:endParaRPr sz="1800">
              <a:solidFill>
                <a:schemeClr val="dk1"/>
              </a:solidFill>
              <a:latin typeface="Calibri"/>
              <a:ea typeface="Calibri"/>
              <a:cs typeface="Calibri"/>
              <a:sym typeface="Calibri"/>
            </a:endParaRPr>
          </a:p>
        </p:txBody>
      </p:sp>
      <p:sp>
        <p:nvSpPr>
          <p:cNvPr id="604" name="Google Shape;604;p43"/>
          <p:cNvSpPr/>
          <p:nvPr/>
        </p:nvSpPr>
        <p:spPr>
          <a:xfrm>
            <a:off x="566886" y="3931146"/>
            <a:ext cx="5544741"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500"/>
              <a:buFont typeface="Arial"/>
              <a:buNone/>
            </a:pPr>
            <a:r>
              <a:rPr b="0" i="0" lang="en-US" sz="1500">
                <a:solidFill>
                  <a:srgbClr val="242B31"/>
                </a:solidFill>
                <a:latin typeface="Arial"/>
                <a:ea typeface="Arial"/>
                <a:cs typeface="Arial"/>
                <a:sym typeface="Arial"/>
              </a:rPr>
              <a:t>These behavioral changes establish context-dependent control rather than a fixed response to odor frequency alone. The proposed association between higher encounter rates and proximity to a female remains an interpretation, not proof that frequency uniquely determines distance. The experiment does not identify the central neurons performing the multisensory comparison.</a:t>
            </a:r>
            <a:endParaRPr sz="1800">
              <a:solidFill>
                <a:schemeClr val="dk1"/>
              </a:solidFill>
              <a:latin typeface="Calibri"/>
              <a:ea typeface="Calibri"/>
              <a:cs typeface="Calibri"/>
              <a:sym typeface="Calibri"/>
            </a:endParaRPr>
          </a:p>
        </p:txBody>
      </p:sp>
      <p:pic>
        <p:nvPicPr>
          <p:cNvPr id="605" name="Google Shape;605;p43"/>
          <p:cNvPicPr preferRelativeResize="0"/>
          <p:nvPr/>
        </p:nvPicPr>
        <p:blipFill rotWithShape="1">
          <a:blip r:embed="rId3">
            <a:alphaModFix/>
          </a:blip>
          <a:srcRect b="0" l="0" r="0" t="0"/>
          <a:stretch/>
        </p:blipFill>
        <p:spPr>
          <a:xfrm>
            <a:off x="7432649" y="1280071"/>
            <a:ext cx="3218063" cy="4297561"/>
          </a:xfrm>
          <a:prstGeom prst="rect">
            <a:avLst/>
          </a:prstGeom>
          <a:noFill/>
          <a:ln>
            <a:noFill/>
          </a:ln>
        </p:spPr>
      </p:pic>
      <p:sp>
        <p:nvSpPr>
          <p:cNvPr id="606" name="Google Shape;606;p43"/>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Yamada et al. (2021), Fig. 5(A–C). Measured speed and turning changes with odor frequency and cue reversals.</a:t>
            </a:r>
            <a:endParaRPr sz="1800">
              <a:solidFill>
                <a:schemeClr val="dk1"/>
              </a:solidFill>
              <a:latin typeface="Calibri"/>
              <a:ea typeface="Calibri"/>
              <a:cs typeface="Calibri"/>
              <a:sym typeface="Calibri"/>
            </a:endParaRPr>
          </a:p>
        </p:txBody>
      </p:sp>
      <p:sp>
        <p:nvSpPr>
          <p:cNvPr id="607" name="Google Shape;607;p43"/>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8" name="Google Shape;608;p4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Yamada et al. (2021)</a:t>
            </a:r>
            <a:endParaRPr sz="1800">
              <a:solidFill>
                <a:schemeClr val="dk1"/>
              </a:solidFill>
              <a:latin typeface="Calibri"/>
              <a:ea typeface="Calibri"/>
              <a:cs typeface="Calibri"/>
              <a:sym typeface="Calibri"/>
            </a:endParaRPr>
          </a:p>
        </p:txBody>
      </p:sp>
      <p:sp>
        <p:nvSpPr>
          <p:cNvPr id="609" name="Google Shape;609;p4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3" name="Shape 613"/>
        <p:cNvGrpSpPr/>
        <p:nvPr/>
      </p:nvGrpSpPr>
      <p:grpSpPr>
        <a:xfrm>
          <a:off x="0" y="0"/>
          <a:ext cx="0" cy="0"/>
          <a:chOff x="0" y="0"/>
          <a:chExt cx="0" cy="0"/>
        </a:xfrm>
      </p:grpSpPr>
      <p:sp>
        <p:nvSpPr>
          <p:cNvPr id="614" name="Google Shape;614;p4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Aligned sensory cues improve source-finding success</a:t>
            </a:r>
            <a:endParaRPr sz="1800">
              <a:solidFill>
                <a:schemeClr val="dk1"/>
              </a:solidFill>
              <a:latin typeface="Calibri"/>
              <a:ea typeface="Calibri"/>
              <a:cs typeface="Calibri"/>
              <a:sym typeface="Calibri"/>
            </a:endParaRPr>
          </a:p>
        </p:txBody>
      </p:sp>
      <p:sp>
        <p:nvSpPr>
          <p:cNvPr id="615" name="Google Shape;615;p44"/>
          <p:cNvSpPr/>
          <p:nvPr/>
        </p:nvSpPr>
        <p:spPr>
          <a:xfrm>
            <a:off x="566886" y="1234380"/>
            <a:ext cx="5544741"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Yamada and colleagues compared search success, arrival time and success per unit time across combinations of odor, wind and visual input. All treatments retained odor information, allowing the contributions of other cues to be evaluated against an odor-only condition.</a:t>
            </a:r>
            <a:endParaRPr sz="1800">
              <a:solidFill>
                <a:schemeClr val="dk1"/>
              </a:solidFill>
              <a:latin typeface="Calibri"/>
              <a:ea typeface="Calibri"/>
              <a:cs typeface="Calibri"/>
              <a:sym typeface="Calibri"/>
            </a:endParaRPr>
          </a:p>
        </p:txBody>
      </p:sp>
      <p:sp>
        <p:nvSpPr>
          <p:cNvPr id="616" name="Google Shape;616;p44"/>
          <p:cNvSpPr/>
          <p:nvPr/>
        </p:nvSpPr>
        <p:spPr>
          <a:xfrm>
            <a:off x="566886" y="2453134"/>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Correctly aligned odor, wind and visual information improved performance compared with reduced-cue conditions. Reversing wind within the full-cue preparation sharply reduced success. Visual effects were context dependent: limited effects with odor alone did not mean vision was irrelevant when all three modalities were present.</a:t>
            </a:r>
            <a:endParaRPr sz="1800">
              <a:solidFill>
                <a:schemeClr val="dk1"/>
              </a:solidFill>
              <a:latin typeface="Calibri"/>
              <a:ea typeface="Calibri"/>
              <a:cs typeface="Calibri"/>
              <a:sym typeface="Calibri"/>
            </a:endParaRPr>
          </a:p>
        </p:txBody>
      </p:sp>
      <p:sp>
        <p:nvSpPr>
          <p:cNvPr id="617" name="Google Shape;617;p44"/>
          <p:cNvSpPr/>
          <p:nvPr/>
        </p:nvSpPr>
        <p:spPr>
          <a:xfrm>
            <a:off x="566886" y="4110633"/>
            <a:ext cx="5544741"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600"/>
              <a:buFont typeface="Arial"/>
              <a:buNone/>
            </a:pPr>
            <a:r>
              <a:rPr b="0" i="0" lang="en-US" sz="1600">
                <a:solidFill>
                  <a:srgbClr val="242B31"/>
                </a:solidFill>
                <a:latin typeface="Arial"/>
                <a:ea typeface="Arial"/>
                <a:cs typeface="Arial"/>
                <a:sym typeface="Arial"/>
              </a:rPr>
              <a:t>The results support multisensory control of walking odor-source search. Success within a 300-s virtual trial does not establish unrestricted navigation in a natural habitat or a complete sensory-to-motor circuit. Behavioral cue manipulations complement receptor and neuronal experiments while leaving the site and synaptic mechanism of integration unresolved.</a:t>
            </a:r>
            <a:endParaRPr sz="1800">
              <a:solidFill>
                <a:schemeClr val="dk1"/>
              </a:solidFill>
              <a:latin typeface="Calibri"/>
              <a:ea typeface="Calibri"/>
              <a:cs typeface="Calibri"/>
              <a:sym typeface="Calibri"/>
            </a:endParaRPr>
          </a:p>
        </p:txBody>
      </p:sp>
      <p:pic>
        <p:nvPicPr>
          <p:cNvPr id="618" name="Google Shape;618;p44"/>
          <p:cNvPicPr preferRelativeResize="0"/>
          <p:nvPr/>
        </p:nvPicPr>
        <p:blipFill rotWithShape="1">
          <a:blip r:embed="rId3">
            <a:alphaModFix/>
          </a:blip>
          <a:srcRect b="0" l="0" r="0" t="0"/>
          <a:stretch/>
        </p:blipFill>
        <p:spPr>
          <a:xfrm>
            <a:off x="6933429" y="1280071"/>
            <a:ext cx="4216652" cy="4297561"/>
          </a:xfrm>
          <a:prstGeom prst="rect">
            <a:avLst/>
          </a:prstGeom>
          <a:noFill/>
          <a:ln>
            <a:noFill/>
          </a:ln>
        </p:spPr>
      </p:pic>
      <p:sp>
        <p:nvSpPr>
          <p:cNvPr id="619" name="Google Shape;619;p44"/>
          <p:cNvSpPr/>
          <p:nvPr/>
        </p:nvSpPr>
        <p:spPr>
          <a:xfrm>
            <a:off x="6458396" y="5669161"/>
            <a:ext cx="51854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Yamada et al. (2021), Fig. 4(A–C). Source-finding success, time and performance across sensory conditions.</a:t>
            </a:r>
            <a:endParaRPr sz="1800">
              <a:solidFill>
                <a:schemeClr val="dk1"/>
              </a:solidFill>
              <a:latin typeface="Calibri"/>
              <a:ea typeface="Calibri"/>
              <a:cs typeface="Calibri"/>
              <a:sym typeface="Calibri"/>
            </a:endParaRPr>
          </a:p>
        </p:txBody>
      </p:sp>
      <p:sp>
        <p:nvSpPr>
          <p:cNvPr id="620" name="Google Shape;620;p44"/>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1" name="Google Shape;621;p4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Yamada et al. (2021)</a:t>
            </a:r>
            <a:endParaRPr sz="1800">
              <a:solidFill>
                <a:schemeClr val="dk1"/>
              </a:solidFill>
              <a:latin typeface="Calibri"/>
              <a:ea typeface="Calibri"/>
              <a:cs typeface="Calibri"/>
              <a:sym typeface="Calibri"/>
            </a:endParaRPr>
          </a:p>
        </p:txBody>
      </p:sp>
      <p:sp>
        <p:nvSpPr>
          <p:cNvPr id="622" name="Google Shape;622;p4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6" name="Shape 626"/>
        <p:cNvGrpSpPr/>
        <p:nvPr/>
      </p:nvGrpSpPr>
      <p:grpSpPr>
        <a:xfrm>
          <a:off x="0" y="0"/>
          <a:ext cx="0" cy="0"/>
          <a:chOff x="0" y="0"/>
          <a:chExt cx="0" cy="0"/>
        </a:xfrm>
      </p:grpSpPr>
      <p:sp>
        <p:nvSpPr>
          <p:cNvPr id="627" name="Google Shape;627;p4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Tracking requires detection, timing and motor state</a:t>
            </a:r>
            <a:endParaRPr sz="1800">
              <a:solidFill>
                <a:schemeClr val="dk1"/>
              </a:solidFill>
              <a:latin typeface="Calibri"/>
              <a:ea typeface="Calibri"/>
              <a:cs typeface="Calibri"/>
              <a:sym typeface="Calibri"/>
            </a:endParaRPr>
          </a:p>
        </p:txBody>
      </p:sp>
      <p:sp>
        <p:nvSpPr>
          <p:cNvPr id="628" name="Google Shape;628;p45"/>
          <p:cNvSpPr/>
          <p:nvPr/>
        </p:nvSpPr>
        <p:spPr>
          <a:xfrm>
            <a:off x="566886" y="1234380"/>
            <a:ext cx="5316141"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400"/>
              <a:buFont typeface="Arial"/>
              <a:buNone/>
            </a:pPr>
            <a:r>
              <a:rPr b="0" i="0" lang="en-US" sz="1400">
                <a:solidFill>
                  <a:srgbClr val="242B31"/>
                </a:solidFill>
                <a:latin typeface="Arial"/>
                <a:ea typeface="Arial"/>
                <a:cs typeface="Arial"/>
                <a:sym typeface="Arial"/>
              </a:rPr>
              <a:t>Published silkmoth experiments link several transformations: ligand-selective receptors excite a defined sensory channel; peripheral binding-protein function helps responses terminate; and antennal-lobe neurons combine or separate contacts according to input strength. These are experimentally distinguishable operations rather than one generic measure of olfactory sensitivity.</a:t>
            </a:r>
            <a:endParaRPr sz="1800">
              <a:solidFill>
                <a:schemeClr val="dk1"/>
              </a:solidFill>
              <a:latin typeface="Calibri"/>
              <a:ea typeface="Calibri"/>
              <a:cs typeface="Calibri"/>
              <a:sym typeface="Calibri"/>
            </a:endParaRPr>
          </a:p>
        </p:txBody>
      </p:sp>
      <p:sp>
        <p:nvSpPr>
          <p:cNvPr id="629" name="Google Shape;629;p45"/>
          <p:cNvSpPr/>
          <p:nvPr/>
        </p:nvSpPr>
        <p:spPr>
          <a:xfrm>
            <a:off x="566886" y="2684859"/>
            <a:ext cx="5316141" cy="115193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400"/>
              <a:buFont typeface="Arial"/>
              <a:buNone/>
            </a:pPr>
            <a:r>
              <a:rPr b="0" i="0" lang="en-US" sz="1400">
                <a:solidFill>
                  <a:srgbClr val="242B31"/>
                </a:solidFill>
                <a:latin typeface="Arial"/>
                <a:ea typeface="Arial"/>
                <a:cs typeface="Arial"/>
                <a:sym typeface="Arial"/>
              </a:rPr>
              <a:t>BmPBP1 loss preserves searching but reduces its temporal efficiency. Optogenetic paired inputs reveal central integration within tens of milliseconds, while descending recordings reveal states lasting seconds after brief stimulation. The different timescales permit short odor encounters to influence extended motor behavior.</a:t>
            </a:r>
            <a:endParaRPr sz="1800">
              <a:solidFill>
                <a:schemeClr val="dk1"/>
              </a:solidFill>
              <a:latin typeface="Calibri"/>
              <a:ea typeface="Calibri"/>
              <a:cs typeface="Calibri"/>
              <a:sym typeface="Calibri"/>
            </a:endParaRPr>
          </a:p>
        </p:txBody>
      </p:sp>
      <p:sp>
        <p:nvSpPr>
          <p:cNvPr id="630" name="Google Shape;630;p45"/>
          <p:cNvSpPr/>
          <p:nvPr/>
        </p:nvSpPr>
        <p:spPr>
          <a:xfrm>
            <a:off x="566886" y="3943350"/>
            <a:ext cx="5316141" cy="1343918"/>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242B31"/>
              </a:buClr>
              <a:buSzPts val="1400"/>
              <a:buFont typeface="Arial"/>
              <a:buNone/>
            </a:pPr>
            <a:r>
              <a:rPr b="0" i="0" lang="en-US" sz="1400">
                <a:solidFill>
                  <a:srgbClr val="242B31"/>
                </a:solidFill>
                <a:latin typeface="Arial"/>
                <a:ea typeface="Arial"/>
                <a:cs typeface="Arial"/>
                <a:sym typeface="Arial"/>
              </a:rPr>
              <a:t>No cited study establishes every synapse from bombykol binding to a completed plume-tracking trajectory. GABA pharmacology, serotonin application and anatomical overlap constrain mechanisms without resolving all receptor subtypes, intrinsic channels or causal motor assignments. Natural searching combines these sensory and central operations with wind and visual information.</a:t>
            </a:r>
            <a:endParaRPr sz="1800">
              <a:solidFill>
                <a:schemeClr val="dk1"/>
              </a:solidFill>
              <a:latin typeface="Calibri"/>
              <a:ea typeface="Calibri"/>
              <a:cs typeface="Calibri"/>
              <a:sym typeface="Calibri"/>
            </a:endParaRPr>
          </a:p>
        </p:txBody>
      </p:sp>
      <p:pic>
        <p:nvPicPr>
          <p:cNvPr id="631" name="Google Shape;631;p45"/>
          <p:cNvPicPr preferRelativeResize="0"/>
          <p:nvPr/>
        </p:nvPicPr>
        <p:blipFill rotWithShape="1">
          <a:blip r:embed="rId3">
            <a:alphaModFix/>
          </a:blip>
          <a:srcRect b="0" l="0" r="0" t="0"/>
          <a:stretch/>
        </p:blipFill>
        <p:spPr>
          <a:xfrm>
            <a:off x="7587761" y="1280071"/>
            <a:ext cx="2679240" cy="2925961"/>
          </a:xfrm>
          <a:prstGeom prst="rect">
            <a:avLst/>
          </a:prstGeom>
          <a:noFill/>
          <a:ln>
            <a:noFill/>
          </a:ln>
        </p:spPr>
      </p:pic>
      <p:sp>
        <p:nvSpPr>
          <p:cNvPr id="632" name="Google Shape;632;p45"/>
          <p:cNvSpPr/>
          <p:nvPr/>
        </p:nvSpPr>
        <p:spPr>
          <a:xfrm>
            <a:off x="6229796" y="4297561"/>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Fujiwara et al. (2014), Fig. 2(A–G). Antennal-lobe anatomy and responses to repeated odor pulses.</a:t>
            </a:r>
            <a:endParaRPr sz="1800">
              <a:solidFill>
                <a:schemeClr val="dk1"/>
              </a:solidFill>
              <a:latin typeface="Calibri"/>
              <a:ea typeface="Calibri"/>
              <a:cs typeface="Calibri"/>
              <a:sym typeface="Calibri"/>
            </a:endParaRPr>
          </a:p>
        </p:txBody>
      </p:sp>
      <p:pic>
        <p:nvPicPr>
          <p:cNvPr id="633" name="Google Shape;633;p45"/>
          <p:cNvPicPr preferRelativeResize="0"/>
          <p:nvPr/>
        </p:nvPicPr>
        <p:blipFill rotWithShape="1">
          <a:blip r:embed="rId4">
            <a:alphaModFix/>
          </a:blip>
          <a:srcRect b="0" l="0" r="0" t="0"/>
          <a:stretch/>
        </p:blipFill>
        <p:spPr>
          <a:xfrm>
            <a:off x="8440654" y="4754761"/>
            <a:ext cx="973305" cy="1005780"/>
          </a:xfrm>
          <a:prstGeom prst="rect">
            <a:avLst/>
          </a:prstGeom>
          <a:noFill/>
          <a:ln>
            <a:noFill/>
          </a:ln>
        </p:spPr>
      </p:pic>
      <p:sp>
        <p:nvSpPr>
          <p:cNvPr id="634" name="Google Shape;634;p45"/>
          <p:cNvSpPr/>
          <p:nvPr/>
        </p:nvSpPr>
        <p:spPr>
          <a:xfrm>
            <a:off x="6229796" y="5833765"/>
            <a:ext cx="541407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1000"/>
              <a:buFont typeface="Arial"/>
              <a:buNone/>
            </a:pPr>
            <a:r>
              <a:rPr b="0" i="0" lang="en-US" sz="1000">
                <a:solidFill>
                  <a:srgbClr val="5E6B76"/>
                </a:solidFill>
                <a:latin typeface="Arial"/>
                <a:ea typeface="Arial"/>
                <a:cs typeface="Arial"/>
                <a:sym typeface="Arial"/>
              </a:rPr>
              <a:t>Shiota et al. (2021), Fig. 4(A–E). Surge and turning behavior after pheromone-binding-protein loss.</a:t>
            </a:r>
            <a:endParaRPr sz="1800">
              <a:solidFill>
                <a:schemeClr val="dk1"/>
              </a:solidFill>
              <a:latin typeface="Calibri"/>
              <a:ea typeface="Calibri"/>
              <a:cs typeface="Calibri"/>
              <a:sym typeface="Calibri"/>
            </a:endParaRPr>
          </a:p>
        </p:txBody>
      </p:sp>
      <p:sp>
        <p:nvSpPr>
          <p:cNvPr id="635" name="Google Shape;635;p45"/>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4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Fujiwara et al. (2014); Shiota et al. (2021); Tabuchi et al. (2013); Kanzaki et al. (1994); Yamada et al. (2021)</a:t>
            </a:r>
            <a:endParaRPr sz="1800">
              <a:solidFill>
                <a:schemeClr val="dk1"/>
              </a:solidFill>
              <a:latin typeface="Calibri"/>
              <a:ea typeface="Calibri"/>
              <a:cs typeface="Calibri"/>
              <a:sym typeface="Calibri"/>
            </a:endParaRPr>
          </a:p>
        </p:txBody>
      </p:sp>
      <p:sp>
        <p:nvSpPr>
          <p:cNvPr id="637" name="Google Shape;637;p4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1" name="Shape 641"/>
        <p:cNvGrpSpPr/>
        <p:nvPr/>
      </p:nvGrpSpPr>
      <p:grpSpPr>
        <a:xfrm>
          <a:off x="0" y="0"/>
          <a:ext cx="0" cy="0"/>
          <a:chOff x="0" y="0"/>
          <a:chExt cx="0" cy="0"/>
        </a:xfrm>
      </p:grpSpPr>
      <p:sp>
        <p:nvSpPr>
          <p:cNvPr id="642" name="Google Shape;642;p4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3000"/>
              <a:buFont typeface="Arial"/>
              <a:buNone/>
            </a:pPr>
            <a:r>
              <a:rPr b="1" i="0" lang="en-US" sz="3000">
                <a:solidFill>
                  <a:srgbClr val="425B70"/>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43" name="Google Shape;643;p46"/>
          <p:cNvSpPr/>
          <p:nvPr/>
        </p:nvSpPr>
        <p:spPr>
          <a:xfrm>
            <a:off x="566886" y="1234380"/>
            <a:ext cx="5391894" cy="1478161"/>
          </a:xfrm>
          <a:prstGeom prst="rect">
            <a:avLst/>
          </a:prstGeom>
          <a:solidFill>
            <a:srgbClr val="F0F3F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4" name="Google Shape;644;p46"/>
          <p:cNvSpPr/>
          <p:nvPr/>
        </p:nvSpPr>
        <p:spPr>
          <a:xfrm>
            <a:off x="749796" y="13716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600"/>
              <a:buFont typeface="Arial"/>
              <a:buNone/>
            </a:pPr>
            <a:r>
              <a:rPr b="1" i="0" lang="en-US" sz="1600">
                <a:solidFill>
                  <a:srgbClr val="425B70"/>
                </a:solidFill>
                <a:latin typeface="Arial"/>
                <a:ea typeface="Arial"/>
                <a:cs typeface="Arial"/>
                <a:sym typeface="Arial"/>
              </a:rPr>
              <a:t>Plumes are intermittent</a:t>
            </a:r>
            <a:r>
              <a:rPr b="0" i="0" lang="en-US" sz="1600">
                <a:solidFill>
                  <a:srgbClr val="242B31"/>
                </a:solidFill>
                <a:latin typeface="Arial"/>
                <a:ea typeface="Arial"/>
                <a:cs typeface="Arial"/>
                <a:sym typeface="Arial"/>
              </a:rPr>
              <a:t> Turbulence creates odor contacts and gaps; encounter timing can renew surges or permit casting rather than supplying a smooth concentration gradient.</a:t>
            </a:r>
            <a:endParaRPr sz="1800">
              <a:solidFill>
                <a:schemeClr val="dk1"/>
              </a:solidFill>
              <a:latin typeface="Calibri"/>
              <a:ea typeface="Calibri"/>
              <a:cs typeface="Calibri"/>
              <a:sym typeface="Calibri"/>
            </a:endParaRPr>
          </a:p>
        </p:txBody>
      </p:sp>
      <p:sp>
        <p:nvSpPr>
          <p:cNvPr id="645" name="Google Shape;645;p46"/>
          <p:cNvSpPr/>
          <p:nvPr/>
        </p:nvSpPr>
        <p:spPr>
          <a:xfrm>
            <a:off x="6233071" y="1234380"/>
            <a:ext cx="5391894" cy="1478161"/>
          </a:xfrm>
          <a:prstGeom prst="rect">
            <a:avLst/>
          </a:prstGeom>
          <a:solidFill>
            <a:srgbClr val="F0F3F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6" name="Google Shape;646;p46"/>
          <p:cNvSpPr/>
          <p:nvPr/>
        </p:nvSpPr>
        <p:spPr>
          <a:xfrm>
            <a:off x="6415980" y="13716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600"/>
              <a:buFont typeface="Arial"/>
              <a:buNone/>
            </a:pPr>
            <a:r>
              <a:rPr b="1" i="0" lang="en-US" sz="1600">
                <a:solidFill>
                  <a:srgbClr val="425B70"/>
                </a:solidFill>
                <a:latin typeface="Arial"/>
                <a:ea typeface="Arial"/>
                <a:cs typeface="Arial"/>
                <a:sym typeface="Arial"/>
              </a:rPr>
              <a:t>Sensory identity gates behavior</a:t>
            </a:r>
            <a:r>
              <a:rPr b="0" i="0" lang="en-US" sz="1600">
                <a:solidFill>
                  <a:srgbClr val="242B31"/>
                </a:solidFill>
                <a:latin typeface="Arial"/>
                <a:ea typeface="Arial"/>
                <a:cs typeface="Arial"/>
                <a:sym typeface="Arial"/>
              </a:rPr>
              <a:t> Adding a foreign receptor to bombykol neurons changes which ligand initiates searching while preserving their central toroid targets.</a:t>
            </a:r>
            <a:endParaRPr sz="1800">
              <a:solidFill>
                <a:schemeClr val="dk1"/>
              </a:solidFill>
              <a:latin typeface="Calibri"/>
              <a:ea typeface="Calibri"/>
              <a:cs typeface="Calibri"/>
              <a:sym typeface="Calibri"/>
            </a:endParaRPr>
          </a:p>
        </p:txBody>
      </p:sp>
      <p:sp>
        <p:nvSpPr>
          <p:cNvPr id="647" name="Google Shape;647;p46"/>
          <p:cNvSpPr/>
          <p:nvPr/>
        </p:nvSpPr>
        <p:spPr>
          <a:xfrm>
            <a:off x="566886" y="2986980"/>
            <a:ext cx="5391894" cy="1478161"/>
          </a:xfrm>
          <a:prstGeom prst="rect">
            <a:avLst/>
          </a:prstGeom>
          <a:solidFill>
            <a:srgbClr val="F0F3F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8" name="Google Shape;648;p46"/>
          <p:cNvSpPr/>
          <p:nvPr/>
        </p:nvSpPr>
        <p:spPr>
          <a:xfrm>
            <a:off x="749796" y="31242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600"/>
              <a:buFont typeface="Arial"/>
              <a:buNone/>
            </a:pPr>
            <a:r>
              <a:rPr b="1" i="0" lang="en-US" sz="1600">
                <a:solidFill>
                  <a:srgbClr val="425B70"/>
                </a:solidFill>
                <a:latin typeface="Arial"/>
                <a:ea typeface="Arial"/>
                <a:cs typeface="Arial"/>
                <a:sym typeface="Arial"/>
              </a:rPr>
              <a:t>Receptors conduct cations</a:t>
            </a:r>
            <a:r>
              <a:rPr b="0" i="0" lang="en-US" sz="1600">
                <a:solidFill>
                  <a:srgbClr val="242B31"/>
                </a:solidFill>
                <a:latin typeface="Arial"/>
                <a:ea typeface="Arial"/>
                <a:cs typeface="Arial"/>
                <a:sym typeface="Arial"/>
              </a:rPr>
              <a:t> Ligand-selective OR and Orco subunits support odor-gated currents; patch recordings and residue substitutions constrain the channel mechanism.</a:t>
            </a:r>
            <a:endParaRPr sz="1800">
              <a:solidFill>
                <a:schemeClr val="dk1"/>
              </a:solidFill>
              <a:latin typeface="Calibri"/>
              <a:ea typeface="Calibri"/>
              <a:cs typeface="Calibri"/>
              <a:sym typeface="Calibri"/>
            </a:endParaRPr>
          </a:p>
        </p:txBody>
      </p:sp>
      <p:sp>
        <p:nvSpPr>
          <p:cNvPr id="649" name="Google Shape;649;p46"/>
          <p:cNvSpPr/>
          <p:nvPr/>
        </p:nvSpPr>
        <p:spPr>
          <a:xfrm>
            <a:off x="6233071" y="2986980"/>
            <a:ext cx="5391894" cy="1478161"/>
          </a:xfrm>
          <a:prstGeom prst="rect">
            <a:avLst/>
          </a:prstGeom>
          <a:solidFill>
            <a:srgbClr val="F0F3F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46"/>
          <p:cNvSpPr/>
          <p:nvPr/>
        </p:nvSpPr>
        <p:spPr>
          <a:xfrm>
            <a:off x="6415980" y="31242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600"/>
              <a:buFont typeface="Arial"/>
              <a:buNone/>
            </a:pPr>
            <a:r>
              <a:rPr b="1" i="0" lang="en-US" sz="1600">
                <a:solidFill>
                  <a:srgbClr val="425B70"/>
                </a:solidFill>
                <a:latin typeface="Arial"/>
                <a:ea typeface="Arial"/>
                <a:cs typeface="Arial"/>
                <a:sym typeface="Arial"/>
              </a:rPr>
              <a:t>Termination supports tracking</a:t>
            </a:r>
            <a:r>
              <a:rPr b="0" i="0" lang="en-US" sz="1600">
                <a:solidFill>
                  <a:srgbClr val="242B31"/>
                </a:solidFill>
                <a:latin typeface="Arial"/>
                <a:ea typeface="Arial"/>
                <a:cs typeface="Arial"/>
                <a:sym typeface="Arial"/>
              </a:rPr>
              <a:t> BmPBP1 loss prolongs sensory responses, blurs repeated contacts and delays source finding despite preserved searching and eventual success.</a:t>
            </a:r>
            <a:endParaRPr sz="1800">
              <a:solidFill>
                <a:schemeClr val="dk1"/>
              </a:solidFill>
              <a:latin typeface="Calibri"/>
              <a:ea typeface="Calibri"/>
              <a:cs typeface="Calibri"/>
              <a:sym typeface="Calibri"/>
            </a:endParaRPr>
          </a:p>
        </p:txBody>
      </p:sp>
      <p:sp>
        <p:nvSpPr>
          <p:cNvPr id="651" name="Google Shape;651;p46"/>
          <p:cNvSpPr/>
          <p:nvPr/>
        </p:nvSpPr>
        <p:spPr>
          <a:xfrm>
            <a:off x="566886" y="4739580"/>
            <a:ext cx="5391894" cy="1478161"/>
          </a:xfrm>
          <a:prstGeom prst="rect">
            <a:avLst/>
          </a:prstGeom>
          <a:solidFill>
            <a:srgbClr val="F0F3F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2" name="Google Shape;652;p46"/>
          <p:cNvSpPr/>
          <p:nvPr/>
        </p:nvSpPr>
        <p:spPr>
          <a:xfrm>
            <a:off x="749796" y="48768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600"/>
              <a:buFont typeface="Arial"/>
              <a:buNone/>
            </a:pPr>
            <a:r>
              <a:rPr b="1" i="0" lang="en-US" sz="1600">
                <a:solidFill>
                  <a:srgbClr val="425B70"/>
                </a:solidFill>
                <a:latin typeface="Arial"/>
                <a:ea typeface="Arial"/>
                <a:cs typeface="Arial"/>
                <a:sym typeface="Arial"/>
              </a:rPr>
              <a:t>Central processing is state dependent</a:t>
            </a:r>
            <a:r>
              <a:rPr b="0" i="0" lang="en-US" sz="1600">
                <a:solidFill>
                  <a:srgbClr val="242B31"/>
                </a:solidFill>
                <a:latin typeface="Arial"/>
                <a:ea typeface="Arial"/>
                <a:cs typeface="Arial"/>
                <a:sym typeface="Arial"/>
              </a:rPr>
              <a:t> Weak contacts can integrate over tens of milliseconds; GABA limits strong-input integration, and descending signals can persist for seconds.</a:t>
            </a:r>
            <a:endParaRPr sz="1800">
              <a:solidFill>
                <a:schemeClr val="dk1"/>
              </a:solidFill>
              <a:latin typeface="Calibri"/>
              <a:ea typeface="Calibri"/>
              <a:cs typeface="Calibri"/>
              <a:sym typeface="Calibri"/>
            </a:endParaRPr>
          </a:p>
        </p:txBody>
      </p:sp>
      <p:sp>
        <p:nvSpPr>
          <p:cNvPr id="653" name="Google Shape;653;p46"/>
          <p:cNvSpPr/>
          <p:nvPr/>
        </p:nvSpPr>
        <p:spPr>
          <a:xfrm>
            <a:off x="6233071" y="4739580"/>
            <a:ext cx="5391894" cy="1478161"/>
          </a:xfrm>
          <a:prstGeom prst="rect">
            <a:avLst/>
          </a:prstGeom>
          <a:solidFill>
            <a:srgbClr val="F0F3F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4" name="Google Shape;654;p46"/>
          <p:cNvSpPr/>
          <p:nvPr/>
        </p:nvSpPr>
        <p:spPr>
          <a:xfrm>
            <a:off x="6415980" y="48768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425B70"/>
              </a:buClr>
              <a:buSzPts val="1600"/>
              <a:buFont typeface="Arial"/>
              <a:buNone/>
            </a:pPr>
            <a:r>
              <a:rPr b="1" i="0" lang="en-US" sz="1600">
                <a:solidFill>
                  <a:srgbClr val="425B70"/>
                </a:solidFill>
                <a:latin typeface="Arial"/>
                <a:ea typeface="Arial"/>
                <a:cs typeface="Arial"/>
                <a:sym typeface="Arial"/>
              </a:rPr>
              <a:t>Navigation depends on context</a:t>
            </a:r>
            <a:r>
              <a:rPr b="0" i="0" lang="en-US" sz="1600">
                <a:solidFill>
                  <a:srgbClr val="242B31"/>
                </a:solidFill>
                <a:latin typeface="Arial"/>
                <a:ea typeface="Arial"/>
                <a:cs typeface="Arial"/>
                <a:sym typeface="Arial"/>
              </a:rPr>
              <a:t> Serotonin alters responsiveness in a dose-dependent manner, while wind and visual feedback influence odor-guided movement and source-finding success.</a:t>
            </a:r>
            <a:endParaRPr sz="1800">
              <a:solidFill>
                <a:schemeClr val="dk1"/>
              </a:solidFill>
              <a:latin typeface="Calibri"/>
              <a:ea typeface="Calibri"/>
              <a:cs typeface="Calibri"/>
              <a:sym typeface="Calibri"/>
            </a:endParaRPr>
          </a:p>
        </p:txBody>
      </p:sp>
      <p:sp>
        <p:nvSpPr>
          <p:cNvPr id="655" name="Google Shape;655;p46"/>
          <p:cNvSpPr/>
          <p:nvPr/>
        </p:nvSpPr>
        <p:spPr>
          <a:xfrm>
            <a:off x="566886" y="6382494"/>
            <a:ext cx="11058079" cy="9079"/>
          </a:xfrm>
          <a:prstGeom prst="rect">
            <a:avLst/>
          </a:prstGeom>
          <a:solidFill>
            <a:srgbClr val="CCD5D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p4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Vickers &amp; Baker (1994); Sakurai et al. (2011); Sato et al. (2008); Shiota et al. (2021); Tabuchi et al. (2013); Kanzaki et al. (1994); Yamada et al. (2021)</a:t>
            </a:r>
            <a:endParaRPr sz="1800">
              <a:solidFill>
                <a:schemeClr val="dk1"/>
              </a:solidFill>
              <a:latin typeface="Calibri"/>
              <a:ea typeface="Calibri"/>
              <a:cs typeface="Calibri"/>
              <a:sym typeface="Calibri"/>
            </a:endParaRPr>
          </a:p>
        </p:txBody>
      </p:sp>
      <p:sp>
        <p:nvSpPr>
          <p:cNvPr id="657" name="Google Shape;657;p4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E6B76"/>
              </a:buClr>
              <a:buSzPts val="900"/>
              <a:buFont typeface="Arial"/>
              <a:buNone/>
            </a:pPr>
            <a:r>
              <a:rPr b="0" i="0" lang="en-US" sz="900">
                <a:solidFill>
                  <a:srgbClr val="5E6B76"/>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2026-10-08T10:30:31.720Z</dcterms:created>
  <dc:creator>Presenton</dc:creator>
</cp:coreProperties>
</file>