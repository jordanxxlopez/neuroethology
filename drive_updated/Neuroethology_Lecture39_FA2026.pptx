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lS/Ih8PBBqAaGYaDg7Ag0oYcj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Hormones and behavior: the ring dove reproductive cycle (Lehrman) and seasonal song plasticity</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Wednesday, December 2,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Photo credit: Frits Schouten / iNaturalist; CC BY-NC 4.0; https://www.inaturalist.org/photos/7178728</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Ring doves are domesticated columbids in which both parents incubate eggs and feed their young. Lehrman described a clutch of two eggs, approximately 14 days of incubation, and parental regurgitation of crop contents into the squab, the newly hatched young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crop is a bilobed expansion of the esophagus. Its epithelial lining proliferates during incubation and supplies the cellular material called crop milk. Modern pigeon dissections distinguish a thin non-lactating wall from enlarged, milk-producing lateral lobes.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concerns pigeons, whereas Lehrman’s behavioral experiments concern ring doves. Milk-producing tissue supplies nourishment, but its presence alone does not establish that a parent will recognize or feed a squab.</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MJ, Haring VR, McColl KA, Monaghan P, Donald JA, Nicholas KR, Moore RJ, Crowley TM (2011). Histological and global gene expression analysis of the ‘lactating’ pigeon crop. BMC Genomics 12:452. https://doi.org/10.1186/1471-2164-12-452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et al. (2011), Fig. 1(A–C). Non-lactating and milk-producing pigeon crops; ruler in cm. https://doi.org/10.1186/1471-2164-12-452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Prolactin is a pituitary hormone that promotes crop development in columbids. Lehrman administered a total of 450 international units over 7 days and then presented a squab, comparing hormonally treated birds with controls and distinguishing birds with different reproductive histories.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Previously experienced parents generally began feeding after prolactin treatment. Birds without prior brood experience failed to feed under the same artificial sequence, despite physiological responses to treatment. Prior experience therefore changed the behavioral consequence of a hormone.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Pigeon histology identifies proliferating crop epithelium, the peripheral tissue affected during milk production. The behavioral comparison does not identify a central prolactin receptor or establish that prolactin acts only outside the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MJ, Haring VR, McColl KA, Monaghan P, Donald JA, Nicholas KR, Moore RJ, Crowley TM (2011). Histological and global gene expression analysis of the ‘lactating’ pigeon crop. BMC Genomics 12:452. https://doi.org/10.1186/1471-2164-12-452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et al. (2011), Fig. 2(A,B). Pigeon crop epithelial proliferation and connective tissue. https://doi.org/10.1186/1471-2164-12-452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Lehrman reduced sensation near the crop using 0.5 cubic centimeters of the local anesthetic Efocaine, administered 2 days before a squab was presented. A comparison group received anesthetic elsewhere, controlling for consequences of receiving the drug rather than its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Local treatment near the crop reduced parental feeding. Peripheral feedback means sensory information returning from the body to the nervous system; crop distension and contact with a squab were candidate sources of such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crop tissue displayed here is from pigeons, not the anesthetized ring doves. The location-dependent behavioral effect supports a sensory contribution, but drug spread and other local effects prevent identifying one sensory receptor or excluding central hormone actions.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MJ, Haring VR, McColl KA, Monaghan P, Donald JA, Nicholas KR, Moore RJ, Crowley TM (2011). Histological and global gene expression analysis of the ‘lactating’ pigeon crop. BMC Genomics 12:452. https://doi.org/10.1186/1471-2164-12-452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et al. (2011), Fig. 2(A–H). Pigeon crop epithelium, vasculature and lipid staining. https://doi.org/10.1186/1471-2164-12-452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Ring-dove nest building involves a division of labor: males usually gather and transport material, while females remain at the nest site and tuck material into the developing nest. Martinez-Vargas and Erickson recorded these actions separately during the days before the first egg.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Established pairs received space, nest sites and alternative materials. Repeated observations related the male’s gathering to the female’s attendance and construction rather than treating total nest size as the only behavioral measurement.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Transport increased when females were established at the nest. Coordinated behavior can therefore arise through signals exchanged between partners; simultaneous increases in both birds’ activity do not by themselves establish simultaneous increases in a shared circulating hormone.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&amp; Erickson (1973), Fig. 3. Male nest attendance, wing-flipping and nest-cooing. https://doi.org/10.1163/156853974X00570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Bow-cooing is a male courtship vocalization accompanied by a bowing display. Martinez-Vargas and Erickson recorded its frequency across days aligned to the first egg, permitting comparison with nest-material transport and female nest attendance in the same reproductive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Bow-cooing declined as nesting progressed, while material gathering followed a different time course. Behavioral components therefore changed together within a breeding cycle without having identical trajectories or an interchangeable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Alignment to egg laying supplies a common reference event, not a manipulation of the underlying endocrine system. The records establish temporal relationships among observable actions but cannot determine whether a decline in vocalization directly causes the increase in construction.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&amp; Erickson (1973), Fig. 7. Bow-cooing frequency relative to the first egg. https://doi.org/10.1163/156853974X00570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Nest-cooing is a vocal display given at the nest site. Females join males in this behavior and may continue alone after the male leaves to gather material. Daily observation distinguished female cooing from male bow-cooing and from physical nest construction.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and Erickson distinguished nest attendance from active nest soliciting. Cheng described an abrupt cessation of female cooing after the second egg, linking the vocal phase to the transition toward incubation rather than to a constant readiness to reproduce.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vocalization can influence a partner and provide sensory feedback to its producer. These observational records establish when cooing occurs; separate playback and hormone manipulations are needed to test its physiological and social consequences.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Martinez-Vargas and Erickson compared females treated with estrogen and progesterone with oil-treated females before pairing them with males. Hormone replacement supplies an experimental endocrine signal, while the oil comparison controls for injection and the vehicle carrying the hormones.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 the first pairing day, treated females performed more nest soliciting, including wing-flipping and nest-cooing. Their untreated male partners also participated differently in gathering material, and female nest attendance was closely associated with male transport.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Only the female received the experimental hormones. A change in male behavior therefore need not reflect direct drug action on the male; altered signals from his partner are a plausible route, although this experiment did not isolate every exchanged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&amp; Erickson (1973), Fig. 13. Nest soliciting after female hormone or oil treatment. https://doi.org/10.1163/156853974X00570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and Silver used reproductively experienced females after ovariectomy, surgical removal of the ovaries, to reduce endogenous ovarian hormone contributions. They compared estradiol benzoate, progesterone, both steroids in a timed regimen, and sesame oil, with untreated males as partners.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Estradiol benzoate was administered on courtship days 4–10. Progesterone was added on days 8 and 10 in the combined condition, after estrogen exposure had begun. The administered doses were 50 micrograms of estradiol benzoate and 100 micrograms of progesterone.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combined regimen produced the strongest nest-building response. Its timing supports a role for endocrine sequence, but the study did not compare every possible order and therefore cannot establish that this particular schedule is uniquely required.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1. Daily nest building by treated females and untreated males. https://doi.org/10.1037/h0076181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and Silver separated picking up and dropping nest material, carrying it to a site, and tucking it into the nest bowl. These measurements distinguish interaction with an available object from the coordinated construction required for a functional nest.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Females given the combined estrogen–progesterone regimen more reliably performed the later construction actions than females given either hormone alone or oil. Daily records also included untreated males, allowing each partner’s contribution to be distinguished.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egg introduction on days 8 and 10, pairs lacking completed nests received an experimenter-built nest. Subsequent tucking can therefore include rearrangement of an existing nest; it should not automatically be interpreted as construction of an entirely new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1. Daily nest building by treated females and untreated males. https://doi.org/10.1037/h0076181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Incubation is sustained contact with eggs during their development. Cheng and Silver introduced infertile eggs under a controlled schedule and recorded the fraction of observation time spent sitting, comparing the four hormone conditions after ovariectomy.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Combined estrogen and progesterone most effectively restored incubation in females. Estrogen alone, progesterone alone and vehicle produced different, generally weaker early responses, despite access to the same breeding setting and experimental eggs.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Eggs and a nest were parts of the preparation. Hormone replacement altered responsiveness within this sensory and social context; the experiment does not establish an endocrine command that produces normal incubation independently of an appropriate nest, eggs or partner.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2. Daily incubation time in each female hormone condition. https://doi.org/10.1037/h0076181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 Cheng and Silver’s preparation, males were intact and received no experimental steroid treatment. Their mates differed in estrogen and progesterone replacement, enabling a test of whether manipulating one animal’s endocrine state changes another animal’s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Males paired with females receiving the combined regimen began incubating more readily early in the observation period. The difference concerned the timing and distribution of sitting; overall incubation duration across the full period was not clearly different among male groups.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partner effect is therefore distinct from a direct pharmacological effect. Male responses may depend on female actions, competition or coordination at the nest, and changing availability of sitting opportunities. The experiment did not measure a specific male endocrine intermediary.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2. Daily incubation time in each female hormone condition. https://doi.org/10.1037/h0076181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Estradiol is an estrogenic steroid, and progesterone is another ovarian steroid involved in reproductive state. Their combined replacement restored nest building and incubation more effectively than either steroid alone in experienced ovariectomized ring doves.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treatment operated in a preparation containing an untreated mate, nesting material, a nest and introduced eggs. Courtship, construction and sitting were measured separately because one hormone condition need not affect every component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systemic injections do not locate the relevant receptors in a particular brain nucleus or separate neural from peripheral actions. They establish a causal endocrine contribution to behavior under defined conditions, while leaving the cellular pathway and the complete normal hormone sequence unresolved.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1. Daily nest building by treated females and untreated males.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2. Daily incubation time in each female hormone condition. https://doi.org/10.1037/h0076181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tested whether a female’s own vocal behavior contributes to reproductive development. A reversible peripheral muting procedure prevented normal sound production, permitting females to interact with courting males while experimental playback supplied controlled auditory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Devocalization means preventing vocal sound production; it does not mean removing the animal’s hearing. Sham-operated females controlled for the procedure, and muted females heard their own coos, male coos, another female’s coos, or no playback.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Pairs interacted for 2 hours daily over 5 days. Keeping male contact present reduced the possibility that poor development simply resulted from social isolation, although altered female output could still change details of the reciprocal interaction.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Acoustic feedback is hearing sound generated by one’s own behavior. Cheng recorded female nest-coos before muting and played those calls back during pairing, allowing auditory input to be restored without restoring normal vocal sound production.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diameter of the same dominant ovarian follicle was measured before and after the playback period. A follicle is the developing egg and its surrounding tissue; the initial measured diameters were 4–5 millimeters across treatment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Own-call playback produced substantially more growth than male-call playback. This rescue supports an auditory contribution from the female’s own display, but does not identify the intervening neural circuit or prove that motor and bodily feedback make no contribution during natural cooing.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reported a mean follicular diameter increase of 6.8 millimeters in muted females hearing their own coos. The corresponding increase was 2.1 millimeters with male coos and 1.7 millimeters without playback; sham females increased by 6.5 millimeters.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are reported changes in diameter, rather than final follicular diameters or rates per day. Before and after measurements of the same dominant follicle connected the acoustic treatment to a physical reproductive response during the 5-day pairing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own-call condition approached the sham response despite continued muting. Playback therefore supplied a physiologically effective component of the missing display, although the experiment did not measure the complete pituitary hormone sequence connecting sound to follicular growth.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Muted females hearing another female’s nest-coos showed a mean follicular diameter increase of 4.7 millimeters in Cheng’s experiment. Own-call playback produced 6.8 millimeters, whereas male-call playback produced only 2.1 millimeters under the same general pairing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prevents treating the effect as an all-or-none requirement for recognizing one’s unique voice. Female call characteristics can carry an effective stimulus even when the recording comes from a different individual.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considered acoustic differences between female and male nest-coos, but did not isolate each acoustic feature with synthetic stimuli. The original sonograms document the supplied call classes; they do not establish the precise auditory feature or receptor responsible for the reproductive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distinguished hearing a nest-coo from proprioceptive feedback, sensory information associated with performing the movements of a vocal display. Playback to muted females restored an auditory stimulus while leaving normal sound production impaired.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strong own-call response supports an acoustic route, but playback can also provoke attempted vocal movements and associated bodily signals. Consequently, auditory rescue is not equivalent to holding every motor and sensory consequence of calling constant.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normal reproductive sequence can contain reciprocal links: courtship promotes female behavior, and that behavior supplies further stimulation to the female herself. The measured endpoint was follicular growth; the experiment did not directly record the neurons, synapses or hormone release events mediating each link.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Photoperiod is the daily duration of light exposure. Liley housed intact female ring doves under 8-hour or 16-hour light periods, administered saline or steroid treatments for 15 days, and introduced reproductively active males after 7 days of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Females interacted with males for 4 hours daily across 9 observation days. Progesterone-treated females showed little soliciting under short days but increased activity rapidly under long days, despite receiving the same class of administered hormone.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Control females did not differ clearly in egg laying, courtship or nest building between these light schedules. The photoperiod effect therefore depended on treatment and behavioral context, rather than establishing a universal enhancement of all reproductive behavior whenever daylight is extended.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1. Female soliciting under an 8-hour photoperiod.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2. Female soliciting under a 16-hour photoperiod. https://doi.org/10.1139/z76-164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Liley measured nest-material accumulation as well as female soliciting. Under 16-hour days, progesterone-treated pairs built more actively than the corresponding 8-hour condition; estrogen-containing treatments also supported substantial nest-oriented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Nest material was counted across the 9-day period after male introduction. Because both partners contribute to construction, the accumulated material is a pair-level output, whereas duration of female soliciting identifies a particular animal’s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Long-day treatment modified responsiveness to the steroid conditions, but did not isolate a single light-sensitive neural pathway. The observed pair-level difference should not be interpreted as a direct measurement of one female motor circuit or as proof that a particular receptor changed abundance.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3. Nest-material accumulation under short days.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4. Nest-material accumulation under long days. https://doi.org/10.1139/z76-164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Liley’s estrogen and combined estrogen–progesterone treatments supported female soliciting and nest-building activity, with greater nest-oriented activity generally occurring under long days. Yet begging and sexual crouching associated with copulation remained infrequent in the hormone-treated birds.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Treatment lasted 15 days and was combined with daily access to an active male. Different reproductive actions were recorded separately, rather than inferred from a single global judgment that a bird was in breeding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Hormonal facilitation is therefore behavior-specific. A treatment can promote nest-directed activity without restoring the complete sequence of mating and egg laying. These findings concern intact females and should not be assumed to match the replacement requirements of ovariectomized females exactly.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2. Female soliciting under a 16-hour photoperiod. https://doi.org/10.1139/z76-164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HVC is a proper name for a song-control nucleus; a nucleus is an anatomically defined collection of neurons. RA, the robust nucleus of the arcopallium, receives motor-pathway input from HVC and projects toward the brainstem circuitry controlling vocal production.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compared adult male canaries in spring and autumn. HVC was approximately 99 percent larger in spring, and RA was roughly three-quarters larger, establishing substantial seasonal differences in adult brain anatomy.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pathway drawing is the original published sparrow anatomy from Tramontin and colleagues, not a canary reconstruction. Nottebohm’s seasonal groups were different animals examined after death; the comparison supports seasonal plasticity but is not repeated imaging of one animal’s annual cycle.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Androgens are steroid hormones that include testosterone and influence reproductive physiology. Nottebohm reported spring serum androgen concentrations of 1.65 nanograms per milliliter, compared with 0.13 nanograms per milliliter in the autumn canaries.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larger spring HVC and RA coincided with the higher circulating hormone concentrations. Comparisons normalized to a reference brain region also retained substantial seasonal differences, reducing the likelihood that uniform enlargement of the entire brain explains the result.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Season and hormone level were not independently assigned in this comparison. Their association cannot alone establish that testosterone caused the anatomical change, and a larger nucleus cannot reveal whether neurons were added, cells enlarged or connections remodeled without additional cellular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Neural plasticity is a change in nervous-system structure or function with state or experience. Nottebohm’s canary measurements established seasonal variation in song-nucleus volume, but volume combines contributions from neurons, their processes and other tissue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seasonal increase therefore cannot automatically be called neuron birth or stronger synaptic transmission. Histological measurements must distinguish cell size, cell density and cell number, while recordings or behavioral assays address consequences for vocal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and colleagues later measured these attributes in white-crowned sparrows exposed to controlled breeding-like conditions. Their cellular results provide an experimental comparison across species; they do not retrospectively identify every process responsible for the original canary differences.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and colleagues housed adult male Gambel’s white-crowned sparrows under 8-hour days for 12 weeks, allowing the song system to reach a nonbreeding-like condition. They then increased the light period to 20 hours and supplied testosterone through implants.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Implants were placed on day 2 and were designed to produce concentrations within the physiological breeding range of approximately 4–10 nanograms per milliliter. Tissue was examined at baseline and after 7 or 20 days, with morphometry performed without knowledge of treatment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combined daylight and testosterone, so it tested their joint breeding-like effect. It did not separate the independent contributions of these cues or imply that wild birds normally experience the laboratory’s particular 20-hour light schedule.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HVC sends output to RA in the descending vocal motor pathway and to Area X, a basal-ganglia component of the anterior forebrain song circuit. RA projects toward nXIIts, the tracheosyringeal hypoglossal motor nucleus supplying the vocal organ.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anterior pathway includes the medial dorsolateral thalamic nucleus and the lateral magnocellular nucleus of the anterior nidopallium, or LMAN. The paper uses older anatomical names in its original drawing; the connectivity, rather than those historical regional labels, defines the circuit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Published receptor symbols distinguish androgen- and estrogen-sensitive locations. Receptor distribution supplies candidate sites for steroid action, but is not itself a functional test of which projection or cell population causes seasonal growth.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and colleagues measured the volume of HVC, RA and Area X after the combined long-day and testosterone intervention. HVC reached approximately 94 percent of its eventual breeding-like size within 7 days, whereas its targets grew more slowly.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RA and Area X did not reach their larger condition until the 20-day measurement. Because the nuclei were measured within a defined time course, the result establishes an order of anatomical response rather than simply a difference between two seasons.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Early HVC growth is consistent with influences transmitted to downstream targets, but temporal precedence alone is not evidence that HVC caused their growth. Direct manipulation of HVC or its projections would be needed to establish such a transsynaptic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3. Sequential growth of HVC, RA and Area X over 20 days.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sparrow study estimated neuron number, the total neuronal population within a nucleus, separately from neuron density, the population per unit tissue volume. These quantities distinguish growth caused by more neurons from expansion around an unchanged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Within 7 days of long-day and testosterone exposure, HVC gained approximately 50,000 neurons. Its density remained relatively stable while its volume increased, making a change in total neuronal population a substantial component of the structural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increased population does not by itself identify the source or birth date of every added cell. The study counted neurons in terminal tissue samples; it did not track individual cells longitudinally or label their complete developmental histories.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neuronal soma is the cell body, distinguished from axons and dendrites. Tramontin and colleagues measured cross-sectional soma area in tissue sections to test whether cellular enlargement contributed to the volume changes in HVC and RA.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HVC soma area increased within 7 days and remained enlarged at day 20. RA somata also enlarged by day 7, even though the major increase in RA volume occurred later, separating a cellular response from the timing of whole-nucleus expansion.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Cross-sectional area is an anatomical measure, not a direct measurement of membrane conductance or firing rate. Enlarged somata may accompany altered physiology, but this study did not record ion-channel activity from the cells whose sizes were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RA grew more slowly than HVC after breeding-like stimulation. Its neurons enlarged early, while the later increase in nucleus volume was accompanied by a reduction in neuron density rather than a clear increase in total neuron number.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By day 20, the same general neuronal population occupied a larger amount of tissue. This pattern differs from HVC, where substantial population growth contributed to enlargement within the first 7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Lower density can be consistent with greater space occupied by neuronal processes or other tissue components, but it does not directly measure dendritic length, synapse number or glial proliferation. The study establishes different cellular signatures of seasonal growth in connected song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anterior forebrain song circuit contains Area X and LMAN, connected through the thalamic relay. Tramontin and colleagues measured these regions alongside the descending motor nuclei rather than assuming that every component responded uniformly to reproductive cues.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Area X enlarged more slowly than HVC, reaching its expanded condition at the 20-day time point. LMAN changed little over the same interval, despite occupying a circuit linked anatomically to the growing nuclei.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Regional selectivity argues against uniform swelling of the entire song system. It also limits a simple explanation in which circulating testosterone produces identical structural effects wherever a song-related neuron is present; receptor distribution, connectivity and cellular composition remain possible contributors.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3. Sequential growth of HVC, RA and Area X over 20 days. https://doi.org/10.1523/JNEUROSCI.20-02-00854.2000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syrinx is the avian vocal organ, supplied by motor neurons in nXIIts. Tramontin and colleagues measured syringeal mass and the brainstem motor nucleus to compare peripheral vocal machinery with forebrain changes under breeding-like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Syringeal mass increased within 7 days of long-day and testosterone exposure. The volume of nXIIts did not clearly enlarge over the 20-day observation period, even though this nucleus can vary over longer seasonal intervals.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peripheral target can therefore respond while a connected brainstem structure has not yet changed detectably in volume. The study does not establish that the syrinx drives forebrain growth, and lack of measured volume change does not mean the motor neurons were physiologically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spectrogram displays sound frequency over time, permitting individual song components to be measured. Tramontin and colleagues separated the white-crowned sparrow song into whistle, warble and buzz portions, using the published 2-kilohertz and 0.5-second calibration bars.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Mean whole-song duration was 1.80 seconds after 7 days of breeding-like stimulation and 1.84 seconds after 20 days. Whistle duration was similarly stable, approximately 0.51 and 0.52 seconds at the two time points.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Stable average duration does not mean identical renditions. Measurements of variation across repeated songs address consistency, while average durations describe the central timing of the vocal pattern. The study did not record comparable songs from the short-day birds because they did not 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2. White-crowned sparrow song; 2 kHz and 0.5 s bars. https://doi.org/10.1523/JNEUROSCI.20-02-00854.2000</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Stereotypy means consistency across repeated performances. The sparrows’ temporal and spectral song features were more consistent after 20 days of breeding-like stimulation than after 7 days, even though mean song duration changed little.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Song rates were similar at the two time points, approximately three songs per minute during recording. Increased consistency therefore cannot be equated with simply singing more frequently, and it accompanied the slower growth of RA and Area 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linked behavioral and anatomical time courses, but did not independently manipulate nucleus size while holding hormonal state constant. Circuit maturation and song stabilization covaried; the exact cellular change responsible for the improved consistency remains unresolved by these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2. White-crowned sparrow song; 2 kHz and 0.5 s bars.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trophic influence is an effect that supports growth or maintenance of another cell or tissue. HVC grew before RA and Area X, creating the possibility that signals from HVC contribute to the subsequent enlargement of its connected targets.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long-day and testosterone experiment established temporal sequence and distinct cellular responses: rapid HVC population growth, early soma enlargement, and later expansion of downstream nuclei. These findings constrain explanations of seasonal plasticity more precisely than volume comparisons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proposed trophic relationship was not directly tested by blocking a growth factor or an HVC projection. Direct steroid sensitivity, activity changes and other local mechanisms can also contribute, so sequential growth should remain evidence supporting a hypothesis rather than proof of one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3. Sequential growth of HVC, RA and Area X over 20 days.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Oxytocin is a neuropeptide synthesized by hypothalamic neurons, including those in the paraventricular nucleus, or PVN. Marlin and colleagues tested its central behavioral effects in female mice, a mammalian comparison rather than a mechanism established for ring doves.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Initially inexperienced virgin females were housed with a mother and pups. Systemic oxytocin or optical stimulation of genetically targeted PVN oxytocin neurons accelerated retrieval of isolated pups, with many females beginning within 12 hours of co-housing.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Saline-treated females generally required longer experience. The manipulation changed the speed of acquiring a response in a social setting; it did not establish that oxytocin makes every inexperienced female perform maternal behavior independently of experience or pup-derived signals.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1(a–e). Mouse pup retrieval with oxytocin and maternal experience.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Extended Data 1(a,b). Oxytocin-neuron targeting in mouse PVN; bars 100 µm. https://doi.org/10.1038/nature14402</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compared mothers, inexperienced virgin females, and virgin females that acquired pup-retrieval behavior through experience. Retrieval is carrying an isolated pup back toward the nest, measured separately as successful responses and the time needed to perform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Experienced virgins retrieved with rates and speeds comparable to mothers. Oxytocin accelerated acquisition, while isolated virgins given oxytocin acquired retrieval more slowly than co-housed virgins receiving both hormonal modulation and social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Pregnancy and parturition were therefore not necessary for successful performance in this experimental setting. The finding does not imply that maternal endocrine history is irrelevant; it establishes an alternative experiential route to the measured behavior in female mice.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1(a–e). Mouse pup retrieval with oxytocin and maternal experience. https://doi.org/10.1038/nature14402</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oxytocin receptor is a membrane protein coupled to intracellular signaling through G proteins, rather than a pore directly carrying synaptic current. Marlin and colleagues developed an antibody and tested its labeling against receptor-deficient mice, whose auditory cortex lacked the staining detected in normal animals.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also compared staining with a genetic reporter linked to oxytocin-receptor expression. Agreement between independent labeling methods strengthened the interpretation that the marked cells express the receptor rather than an unrelated protein recognized by the antibody.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auditory cortex is cortical tissue involved in sound processing. Receptor staining locates candidate sites of hormonal modulation, but does not measure receptor activation, downstream signaling strength or behavioral necessity. Those questions require physiological and intervention experiments in addition to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2(b,c). Receptor staining and knockout control; bars 150 µm. https://doi.org/10.1038/nature14402</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Interneurons are local neurons that influence neighboring cells within a circuit. Marlin and colleagues identified oxytocin receptors on inhibitory cortical interneurons marked by parvalbumin or somatostatin, proteins used to distinguish important inhibitory cell populations.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Approximately 30–40 percent of the labeled parvalbumin-positive and somatostatin-positive populations expressed oxytocin receptors. Thus, hormone sensitivity included cells positioned to regulate local inhibition rather than being restricted to excitatory output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colocalization supports a candidate route from oxytocin to inhibitory control, but the staining does not establish identical physiological effects in every receptor-positive cell. Subsequent synaptic recordings were required to determine how inhibition changed during hormone exposure and learning-related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2(d,e). Receptor-positive cortical cells and interneurons; bars 50 µm. https://doi.org/10.1038/nature14402</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compared the left and right auditory cortex within female mice. Oxytocin-receptor labeling was more abundant on the left in both mothers and inexperienced virgins, indicating that the asymmetry was not limited to animals already performing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virgin females, approximately 19.5 percent of cells were receptor-positive on the left, compared with 14.3 percent on the right. Hypothalamic axonal projections did not have an equally obvious asymmetry, suggesting that receptor distribution contributes to local sensitivity.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anatomical asymmetry does not by itself establish behavioral specialization. It identifies a candidate difference between hemispheres that can be tested by separately manipulating activity or oxytocin signaling in the left and right sound-processing regions.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2(g,h). Left–right cortical receptor expression; bars 100 µm. https://doi.org/10.1038/nature14402</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infused muscimol, an agonist of inhibitory GABAA receptors, into one auditory cortex at a time. GABA is an inhibitory neurotransmitter; GABAA receptors are ion channels whose conductance constrains excitation. The intervention temporarily reduced local activity before retrieval testing.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Inactivation of the left cortex impaired retrieval in experienced females, whereas the corresponding right-side manipulation did not produce the same impairment. Before-treatment and after-treatment measurements helped distinguish the transient intervention effect from a permanent inability to perform the task.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a contribution from left cortical activity under these conditions, not that this region alone generates the entire motor behavior. Hearing a relevant call and carrying a pup depend on additional sensory, motivational and motor components outside the infused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3(a–d). Cortical inactivation, oxytocin and receptor antagonists.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2(g,h). Left–right cortical receptor expression; bars 100 µm. https://doi.org/10.1038/nature14402</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Local oxytocin delivery to the left auditory cortex accelerated retrieval in inexperienced female mice. Optical stimulation of oxytocin axons there produced a similar acceleration, connecting a localized neuromodulatory input to acquisition in the presence of pups and social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contrast, oxytocin-receptor antagonists infused into the left auditory cortex did not clearly impair retrieval after the behavior was established. An antagonist blocks receptor activation, allowing ongoing signaling to be tested separately from the effects of earlier exposure.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Acquisition and performance therefore have different experimental dependencies. The result is consistent with lasting circuit changes after oxytocin-assisted experience, but antagonist failure does not prove that oxytocin is unnecessary at every other site or during every maternal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3(a–d). Cortical inactivation, oxytocin and receptor antagonists.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2(b,c). Receptor staining and knockout control; bars 150 µm. https://doi.org/10.1038/nature14402</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action potential is a brief electrical event used by neurons to transmit output. Marlin and colleagues recorded single-cell responses to pup calls in mothers, inexperienced virgins and experienced virgins, using electrodes in the auditory cortex of anesthetized animals.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Calls evoked stronger and more precisely timed spiking in the left cortex of experienced females. Responses to pure tones were broadly comparable across groups, providing a control against interpreting the change as a uniform increase in responsiveness to all sounds.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Experience therefore modified responses to behaviorally relevant vocal signals. Recordings under anesthesia characterize cortical responses to controlled playback; they do not directly measure the neuron’s contribution during an awake retrieval episode or identify the entire downstream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4(a–e). Pup-call responses and spike timing in auditory cortex.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2(b,c). Receptor staining and knockout control; bars 150 µm. https://doi.org/10.1038/nature14402</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excitatory postsynaptic current promotes neuronal activation, whereas an inhibitory postsynaptic current opposes or constrains it. Voltage-clamp recordings hold membrane voltage at selected levels so these call-evoked inputs can be examined separately in auditory cortical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Mothers and experienced virgins had better matched timing and call selectivity of excitation and inhibition than inexperienced virgins. The amplitudes of synaptic responses were broadly comparable, arguing against a simple explanation based only on stronger excitatory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Excitation–inhibition balance here means coordinated patterns across time and calls, not cancellation of every current at every instant. Measurements from separate recording conditions support this relationship, but do not capture both currents simultaneously within the same individual trial.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5(a–d). Call-evoked excitation and inhibition in cortical neurons.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2(d,e). Receptor-positive cortical cells and interneurons; bars 50 µm. https://doi.org/10.1038/nature14402</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paired pup calls with oxytocin application or stimulation of oxytocin axons. Inhibition decreased rapidly, within approximately 40–60 seconds, permitting a temporary change in the balance of inputs during exposure to the vocal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Over subsequent minutes to hours, excitation and inhibition became better matched to the paired calls, and spiking became stronger and more temporally reliable. Inhibitory responses recovered while the improved coordination persisted, separating an early permissive change from the later learned circuit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evidence supports neuromodulation of plasticity rather than permanent removal of inhibition. These are mouse auditory-cortex experiments; the comparable general principle that hormonal state changes sensory responsiveness does not establish the same receptor or synaptic mechanism in ring doves or seasonal songbirds.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6(a–f). Oxytocin pairing and subsequent synaptic and spike plasticity.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2(d,e). Receptor-positive cortical cells and interneurons; bars 50 µm. https://doi.org/10.1038/nature14402</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Hormones and experience interact. Prolactin-induced feeding depends on reproductive history and sensory conditions; a physiological response is not a complete behavioral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Reproductive coordination is reciprocal. Estrogen–progesterone treatment facilitates female nesting and incubation and changes behavior in untreated male partners.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Vocal behavior feeds back on physiology. Own-coo playback rescues follicular growth in muted females, supporting an acoustic contribution without excluding bodily feedback.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Seasonal plasticity is region-specific. Breeding-like conditions rapidly increase HVC neuron number; RA and Area X expand later, with different cellular signatures.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Anatomical sequence is not causal proof. Song consistency increases as circuitry develops, but sequential growth alone does not establish a particular trophic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Hormones can facilitate sensory learning. In mice, oxytocin transiently reduces cortical inhibition and promotes lasting call-response coordination; acquisition and established performance have different dependencies.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4.pn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4.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3.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7.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125600" y="-711525"/>
            <a:ext cx="4400700" cy="3144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650"/>
              <a:buFont typeface="Arial"/>
              <a:buNone/>
            </a:pPr>
            <a:r>
              <a:rPr b="0" i="0" lang="en-US" sz="1650">
                <a:solidFill>
                  <a:srgbClr val="FFFFFF"/>
                </a:solidFill>
                <a:latin typeface="Arial"/>
                <a:ea typeface="Arial"/>
                <a:cs typeface="Arial"/>
                <a:sym typeface="Arial"/>
              </a:rPr>
              <a:t>Wednesday, December 2, 2026</a:t>
            </a:r>
            <a:endParaRPr sz="1800">
              <a:solidFill>
                <a:schemeClr val="dk1"/>
              </a:solidFill>
              <a:latin typeface="Calibri"/>
              <a:ea typeface="Calibri"/>
              <a:cs typeface="Calibri"/>
              <a:sym typeface="Calibri"/>
            </a:endParaRPr>
          </a:p>
        </p:txBody>
      </p:sp>
      <p:pic>
        <p:nvPicPr>
          <p:cNvPr id="20" name="Google Shape;20;p1"/>
          <p:cNvPicPr preferRelativeResize="0"/>
          <p:nvPr/>
        </p:nvPicPr>
        <p:blipFill rotWithShape="1">
          <a:blip r:embed="rId3">
            <a:alphaModFix/>
          </a:blip>
          <a:srcRect b="0" l="0" r="0" t="0"/>
          <a:stretch/>
        </p:blipFill>
        <p:spPr>
          <a:xfrm>
            <a:off x="6564379" y="923175"/>
            <a:ext cx="5233290" cy="3495674"/>
          </a:xfrm>
          <a:prstGeom prst="rect">
            <a:avLst/>
          </a:prstGeom>
          <a:noFill/>
          <a:ln>
            <a:noFill/>
          </a:ln>
        </p:spPr>
      </p:pic>
      <p:sp>
        <p:nvSpPr>
          <p:cNvPr id="21" name="Google Shape;21;p1"/>
          <p:cNvSpPr/>
          <p:nvPr/>
        </p:nvSpPr>
        <p:spPr>
          <a:xfrm>
            <a:off x="6552125" y="5080725"/>
            <a:ext cx="5257800" cy="1620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Photo: Domestic ring dove.</a:t>
            </a:r>
            <a:endParaRPr sz="1800">
              <a:solidFill>
                <a:schemeClr val="dk1"/>
              </a:solidFill>
              <a:latin typeface="Calibri"/>
              <a:ea typeface="Calibri"/>
              <a:cs typeface="Calibri"/>
              <a:sym typeface="Calibri"/>
            </a:endParaRPr>
          </a:p>
        </p:txBody>
      </p:sp>
      <p:sp>
        <p:nvSpPr>
          <p:cNvPr id="22" name="Google Shape;22;p1"/>
          <p:cNvSpPr/>
          <p:nvPr/>
        </p:nvSpPr>
        <p:spPr>
          <a:xfrm>
            <a:off x="6552125" y="6014175"/>
            <a:ext cx="5257800" cy="185700"/>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Frits Schouten / iNaturalist · CC BY-NC 4.0</a:t>
            </a:r>
            <a:endParaRPr sz="1800">
              <a:solidFill>
                <a:schemeClr val="dk1"/>
              </a:solidFill>
              <a:latin typeface="Calibri"/>
              <a:ea typeface="Calibri"/>
              <a:cs typeface="Calibri"/>
              <a:sym typeface="Calibri"/>
            </a:endParaRPr>
          </a:p>
        </p:txBody>
      </p:sp>
      <p:sp>
        <p:nvSpPr>
          <p:cNvPr id="23" name="Google Shape;23;p1"/>
          <p:cNvSpPr/>
          <p:nvPr/>
        </p:nvSpPr>
        <p:spPr>
          <a:xfrm>
            <a:off x="0" y="0"/>
            <a:ext cx="6095700" cy="6858000"/>
          </a:xfrm>
          <a:prstGeom prst="rect">
            <a:avLst/>
          </a:prstGeom>
          <a:solidFill>
            <a:srgbClr val="4053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3F3F3"/>
              </a:solidFill>
              <a:latin typeface="Calibri"/>
              <a:ea typeface="Calibri"/>
              <a:cs typeface="Calibri"/>
              <a:sym typeface="Calibri"/>
            </a:endParaRPr>
          </a:p>
        </p:txBody>
      </p:sp>
      <p:sp>
        <p:nvSpPr>
          <p:cNvPr id="24" name="Google Shape;24;p1"/>
          <p:cNvSpPr txBox="1"/>
          <p:nvPr/>
        </p:nvSpPr>
        <p:spPr>
          <a:xfrm>
            <a:off x="685800" y="822960"/>
            <a:ext cx="4724100" cy="184800"/>
          </a:xfrm>
          <a:prstGeom prst="rect">
            <a:avLst/>
          </a:prstGeom>
          <a:solidFill>
            <a:srgbClr val="405361"/>
          </a:solid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F3F3F3"/>
                </a:solidFill>
                <a:latin typeface="Arial"/>
                <a:ea typeface="Arial"/>
                <a:cs typeface="Arial"/>
                <a:sym typeface="Arial"/>
              </a:rPr>
              <a:t>NEUR 411 · NEUROETHOLOGY · FALL 2026</a:t>
            </a:r>
            <a:endParaRPr>
              <a:solidFill>
                <a:srgbClr val="F3F3F3"/>
              </a:solidFill>
            </a:endParaRPr>
          </a:p>
        </p:txBody>
      </p:sp>
      <p:sp>
        <p:nvSpPr>
          <p:cNvPr id="25" name="Google Shape;25;p1"/>
          <p:cNvSpPr txBox="1"/>
          <p:nvPr/>
        </p:nvSpPr>
        <p:spPr>
          <a:xfrm>
            <a:off x="685800" y="1783080"/>
            <a:ext cx="4724100" cy="277200"/>
          </a:xfrm>
          <a:prstGeom prst="rect">
            <a:avLst/>
          </a:prstGeom>
          <a:solidFill>
            <a:srgbClr val="405361"/>
          </a:solid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F3F3F3"/>
                </a:solidFill>
                <a:latin typeface="Arial"/>
                <a:ea typeface="Arial"/>
                <a:cs typeface="Arial"/>
                <a:sym typeface="Arial"/>
              </a:rPr>
              <a:t>Lecture 39</a:t>
            </a:r>
            <a:endParaRPr>
              <a:solidFill>
                <a:srgbClr val="F3F3F3"/>
              </a:solidFill>
            </a:endParaRPr>
          </a:p>
        </p:txBody>
      </p:sp>
      <p:sp>
        <p:nvSpPr>
          <p:cNvPr id="26" name="Google Shape;26;p1"/>
          <p:cNvSpPr txBox="1"/>
          <p:nvPr/>
        </p:nvSpPr>
        <p:spPr>
          <a:xfrm>
            <a:off x="685800" y="2331720"/>
            <a:ext cx="4724100" cy="1939500"/>
          </a:xfrm>
          <a:prstGeom prst="rect">
            <a:avLst/>
          </a:prstGeom>
          <a:solidFill>
            <a:srgbClr val="405361"/>
          </a:solidFill>
          <a:ln>
            <a:noFill/>
          </a:ln>
        </p:spPr>
        <p:txBody>
          <a:bodyPr anchorCtr="0" anchor="t" bIns="0" lIns="0" spcFirstLastPara="1" rIns="0" wrap="square" tIns="0">
            <a:spAutoFit/>
          </a:bodyPr>
          <a:lstStyle/>
          <a:p>
            <a:pPr indent="0" lvl="0" marL="0" rtl="0" algn="l">
              <a:lnSpc>
                <a:spcPct val="122222"/>
              </a:lnSpc>
              <a:spcBef>
                <a:spcPts val="0"/>
              </a:spcBef>
              <a:spcAft>
                <a:spcPts val="0"/>
              </a:spcAft>
              <a:buClr>
                <a:schemeClr val="lt1"/>
              </a:buClr>
              <a:buSzPts val="2700"/>
              <a:buFont typeface="Arial"/>
              <a:buNone/>
            </a:pPr>
            <a:r>
              <a:rPr b="1" lang="en-US" sz="2700">
                <a:solidFill>
                  <a:schemeClr val="lt1"/>
                </a:solidFill>
              </a:rPr>
              <a:t>Hormones and behavior: the ring dove reproductive cycle (Lehrman) and seasonal song plasticity</a:t>
            </a:r>
            <a:endParaRPr sz="1800">
              <a:solidFill>
                <a:schemeClr val="dk1"/>
              </a:solidFill>
              <a:latin typeface="Calibri"/>
              <a:ea typeface="Calibri"/>
              <a:cs typeface="Calibri"/>
              <a:sym typeface="Calibri"/>
            </a:endParaRPr>
          </a:p>
        </p:txBody>
      </p:sp>
      <p:sp>
        <p:nvSpPr>
          <p:cNvPr id="27" name="Google Shape;27;p1"/>
          <p:cNvSpPr txBox="1"/>
          <p:nvPr/>
        </p:nvSpPr>
        <p:spPr>
          <a:xfrm>
            <a:off x="685800" y="4749622"/>
            <a:ext cx="4724100" cy="246300"/>
          </a:xfrm>
          <a:prstGeom prst="rect">
            <a:avLst/>
          </a:prstGeom>
          <a:solidFill>
            <a:srgbClr val="405361"/>
          </a:solid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600">
                <a:solidFill>
                  <a:srgbClr val="F3F3F3"/>
                </a:solidFill>
              </a:rPr>
              <a:t>Wednesday, December 2, 2026</a:t>
            </a:r>
            <a:endParaRPr>
              <a:solidFill>
                <a:srgbClr val="F3F3F3"/>
              </a:solidFill>
            </a:endParaRPr>
          </a:p>
        </p:txBody>
      </p:sp>
      <p:sp>
        <p:nvSpPr>
          <p:cNvPr id="28" name="Google Shape;28;p1"/>
          <p:cNvSpPr txBox="1"/>
          <p:nvPr/>
        </p:nvSpPr>
        <p:spPr>
          <a:xfrm>
            <a:off x="685800" y="5435422"/>
            <a:ext cx="4724100" cy="409800"/>
          </a:xfrm>
          <a:prstGeom prst="rect">
            <a:avLst/>
          </a:prstGeom>
          <a:solidFill>
            <a:srgbClr val="405361"/>
          </a:solid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F3F3F3"/>
                </a:solidFill>
                <a:latin typeface="Arial"/>
                <a:ea typeface="Arial"/>
                <a:cs typeface="Arial"/>
                <a:sym typeface="Arial"/>
              </a:rPr>
              <a:t>Jordan Lopez, Ph.D.</a:t>
            </a:r>
            <a:endParaRPr>
              <a:solidFill>
                <a:srgbClr val="F3F3F3"/>
              </a:solidFill>
            </a:endParaRPr>
          </a:p>
          <a:p>
            <a:pPr indent="0" lvl="0" marL="0" marR="0" rtl="0" algn="l">
              <a:lnSpc>
                <a:spcPct val="108000"/>
              </a:lnSpc>
              <a:spcBef>
                <a:spcPts val="200"/>
              </a:spcBef>
              <a:spcAft>
                <a:spcPts val="0"/>
              </a:spcAft>
              <a:buNone/>
            </a:pPr>
            <a:r>
              <a:rPr b="0" i="0" lang="en-US" sz="1200" u="none" cap="none" strike="noStrike">
                <a:solidFill>
                  <a:srgbClr val="F3F3F3"/>
                </a:solidFill>
                <a:latin typeface="Arial"/>
                <a:ea typeface="Arial"/>
                <a:cs typeface="Arial"/>
                <a:sym typeface="Arial"/>
              </a:rPr>
              <a:t>Professor of Neurobiology &amp; Biomedical Engineering</a:t>
            </a:r>
            <a:endParaRPr>
              <a:solidFill>
                <a:srgbClr val="F3F3F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Parental feeding depends on physiology and experience</a:t>
            </a:r>
            <a:endParaRPr sz="1800">
              <a:solidFill>
                <a:schemeClr val="dk1"/>
              </a:solidFill>
              <a:latin typeface="Calibri"/>
              <a:ea typeface="Calibri"/>
              <a:cs typeface="Calibri"/>
              <a:sym typeface="Calibri"/>
            </a:endParaRPr>
          </a:p>
        </p:txBody>
      </p:sp>
      <p:sp>
        <p:nvSpPr>
          <p:cNvPr id="34" name="Google Shape;34;p2"/>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Ring doves</a:t>
            </a:r>
            <a:r>
              <a:rPr b="0" i="0" lang="en-US" sz="1500">
                <a:solidFill>
                  <a:srgbClr val="000000"/>
                </a:solidFill>
                <a:latin typeface="Arial"/>
                <a:ea typeface="Arial"/>
                <a:cs typeface="Arial"/>
                <a:sym typeface="Arial"/>
              </a:rPr>
              <a:t> are domesticated columbids in which both parents incubate eggs and feed their young. Lehrman described a clutch of two eggs, approximately 14 days of incubation, and parental regurgitation of crop contents into the squab, the newly hatched young bird.</a:t>
            </a:r>
            <a:endParaRPr sz="1800">
              <a:solidFill>
                <a:schemeClr val="dk1"/>
              </a:solidFill>
              <a:latin typeface="Calibri"/>
              <a:ea typeface="Calibri"/>
              <a:cs typeface="Calibri"/>
              <a:sym typeface="Calibri"/>
            </a:endParaRPr>
          </a:p>
        </p:txBody>
      </p:sp>
      <p:sp>
        <p:nvSpPr>
          <p:cNvPr id="35" name="Google Shape;35;p2"/>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t>
            </a:r>
            <a:r>
              <a:rPr b="1" i="0" lang="en-US" sz="1500">
                <a:solidFill>
                  <a:srgbClr val="2D3C46"/>
                </a:solidFill>
                <a:latin typeface="Arial"/>
                <a:ea typeface="Arial"/>
                <a:cs typeface="Arial"/>
                <a:sym typeface="Arial"/>
              </a:rPr>
              <a:t>crop</a:t>
            </a:r>
            <a:r>
              <a:rPr b="0" i="0" lang="en-US" sz="1500">
                <a:solidFill>
                  <a:srgbClr val="000000"/>
                </a:solidFill>
                <a:latin typeface="Arial"/>
                <a:ea typeface="Arial"/>
                <a:cs typeface="Arial"/>
                <a:sym typeface="Arial"/>
              </a:rPr>
              <a:t> is a bilobed expansion of the esophagus. Its epithelial lining proliferates during incubation and supplies the cellular material called crop milk. Modern pigeon dissections distinguish a thin non-lactating wall from enlarged, milk-producing lateral lobes.</a:t>
            </a:r>
            <a:endParaRPr sz="1800">
              <a:solidFill>
                <a:schemeClr val="dk1"/>
              </a:solidFill>
              <a:latin typeface="Calibri"/>
              <a:ea typeface="Calibri"/>
              <a:cs typeface="Calibri"/>
              <a:sym typeface="Calibri"/>
            </a:endParaRPr>
          </a:p>
        </p:txBody>
      </p:sp>
      <p:sp>
        <p:nvSpPr>
          <p:cNvPr id="36" name="Google Shape;36;p2"/>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anatomical comparison concerns pigeons, whereas Lehrman’s behavioral experiments concern ring doves. Milk-producing tissue supplies nourishment, but its presence alone does not establish that a parent will recognize or feed a squab.</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b="0" l="0" r="0" t="0"/>
          <a:stretch/>
        </p:blipFill>
        <p:spPr>
          <a:xfrm>
            <a:off x="6479178" y="1190625"/>
            <a:ext cx="4948644" cy="1362075"/>
          </a:xfrm>
          <a:prstGeom prst="rect">
            <a:avLst/>
          </a:prstGeom>
          <a:noFill/>
          <a:ln>
            <a:noFill/>
          </a:ln>
        </p:spPr>
      </p:pic>
      <p:sp>
        <p:nvSpPr>
          <p:cNvPr id="38" name="Google Shape;38;p2"/>
          <p:cNvSpPr/>
          <p:nvPr/>
        </p:nvSpPr>
        <p:spPr>
          <a:xfrm>
            <a:off x="6477000" y="26479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1(A–C). Non-lactating and milk-producing pigeon crops; ruler in cm.</a:t>
            </a:r>
            <a:endParaRPr sz="1800">
              <a:solidFill>
                <a:schemeClr val="dk1"/>
              </a:solidFill>
              <a:latin typeface="Calibri"/>
              <a:ea typeface="Calibri"/>
              <a:cs typeface="Calibri"/>
              <a:sym typeface="Calibri"/>
            </a:endParaRPr>
          </a:p>
        </p:txBody>
      </p:sp>
      <p:sp>
        <p:nvSpPr>
          <p:cNvPr id="39" name="Google Shape;39;p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 Gillespie et al. (2011)</a:t>
            </a:r>
            <a:endParaRPr sz="1800">
              <a:solidFill>
                <a:schemeClr val="dk1"/>
              </a:solidFill>
              <a:latin typeface="Calibri"/>
              <a:ea typeface="Calibri"/>
              <a:cs typeface="Calibri"/>
              <a:sym typeface="Calibri"/>
            </a:endParaRPr>
          </a:p>
        </p:txBody>
      </p:sp>
      <p:sp>
        <p:nvSpPr>
          <p:cNvPr id="40" name="Google Shape;40;p2"/>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Prolactin-induced feeding requires prior brood experience</a:t>
            </a:r>
            <a:endParaRPr sz="1800">
              <a:solidFill>
                <a:schemeClr val="dk1"/>
              </a:solidFill>
              <a:latin typeface="Calibri"/>
              <a:ea typeface="Calibri"/>
              <a:cs typeface="Calibri"/>
              <a:sym typeface="Calibri"/>
            </a:endParaRPr>
          </a:p>
        </p:txBody>
      </p:sp>
      <p:sp>
        <p:nvSpPr>
          <p:cNvPr id="46" name="Google Shape;46;p3"/>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Prolactin</a:t>
            </a:r>
            <a:r>
              <a:rPr b="0" i="0" lang="en-US" sz="1500">
                <a:solidFill>
                  <a:srgbClr val="000000"/>
                </a:solidFill>
                <a:latin typeface="Arial"/>
                <a:ea typeface="Arial"/>
                <a:cs typeface="Arial"/>
                <a:sym typeface="Arial"/>
              </a:rPr>
              <a:t> is a pituitary hormone that promotes crop development in columbids. Lehrman administered a total of 450 international units over 7 days and then presented a squab, comparing hormonally treated birds with controls and distinguishing birds with different reproductive histories.</a:t>
            </a:r>
            <a:endParaRPr sz="1800">
              <a:solidFill>
                <a:schemeClr val="dk1"/>
              </a:solidFill>
              <a:latin typeface="Calibri"/>
              <a:ea typeface="Calibri"/>
              <a:cs typeface="Calibri"/>
              <a:sym typeface="Calibri"/>
            </a:endParaRPr>
          </a:p>
        </p:txBody>
      </p:sp>
      <p:sp>
        <p:nvSpPr>
          <p:cNvPr id="47" name="Google Shape;47;p3"/>
          <p:cNvSpPr/>
          <p:nvPr/>
        </p:nvSpPr>
        <p:spPr>
          <a:xfrm>
            <a:off x="571500" y="28860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Previously experienced parents generally began feeding after prolactin treatment. Birds without prior brood experience failed to feed under the same artificial sequence, despite physiological responses to treatment. Prior experience therefore changed the behavioral consequence of a hormone.</a:t>
            </a:r>
            <a:endParaRPr sz="1800">
              <a:solidFill>
                <a:schemeClr val="dk1"/>
              </a:solidFill>
              <a:latin typeface="Calibri"/>
              <a:ea typeface="Calibri"/>
              <a:cs typeface="Calibri"/>
              <a:sym typeface="Calibri"/>
            </a:endParaRPr>
          </a:p>
        </p:txBody>
      </p:sp>
      <p:sp>
        <p:nvSpPr>
          <p:cNvPr id="48" name="Google Shape;48;p3"/>
          <p:cNvSpPr/>
          <p:nvPr/>
        </p:nvSpPr>
        <p:spPr>
          <a:xfrm>
            <a:off x="571500" y="45815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Pigeon histology identifies proliferating crop epithelium, the peripheral tissue affected during milk production. The behavioral comparison does not identify a central prolactin receptor or establish that prolactin acts only outside the nervous system.</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482627" y="1190625"/>
            <a:ext cx="4941746" cy="1990725"/>
          </a:xfrm>
          <a:prstGeom prst="rect">
            <a:avLst/>
          </a:prstGeom>
          <a:noFill/>
          <a:ln>
            <a:noFill/>
          </a:ln>
        </p:spPr>
      </p:pic>
      <p:sp>
        <p:nvSpPr>
          <p:cNvPr id="50" name="Google Shape;50;p3"/>
          <p:cNvSpPr/>
          <p:nvPr/>
        </p:nvSpPr>
        <p:spPr>
          <a:xfrm>
            <a:off x="6477000" y="327660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2(A,B). Pigeon crop epithelial proliferation and connective tissue.</a:t>
            </a:r>
            <a:endParaRPr sz="1800">
              <a:solidFill>
                <a:schemeClr val="dk1"/>
              </a:solidFill>
              <a:latin typeface="Calibri"/>
              <a:ea typeface="Calibri"/>
              <a:cs typeface="Calibri"/>
              <a:sym typeface="Calibri"/>
            </a:endParaRPr>
          </a:p>
        </p:txBody>
      </p:sp>
      <p:sp>
        <p:nvSpPr>
          <p:cNvPr id="51" name="Google Shape;51;p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 Gillespie et al. (2011)</a:t>
            </a:r>
            <a:endParaRPr sz="1800">
              <a:solidFill>
                <a:schemeClr val="dk1"/>
              </a:solidFill>
              <a:latin typeface="Calibri"/>
              <a:ea typeface="Calibri"/>
              <a:cs typeface="Calibri"/>
              <a:sym typeface="Calibri"/>
            </a:endParaRPr>
          </a:p>
        </p:txBody>
      </p:sp>
      <p:sp>
        <p:nvSpPr>
          <p:cNvPr id="52" name="Google Shape;52;p3"/>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Crop sensation contributes to parental feeding</a:t>
            </a:r>
            <a:endParaRPr sz="1800">
              <a:solidFill>
                <a:schemeClr val="dk1"/>
              </a:solidFill>
              <a:latin typeface="Calibri"/>
              <a:ea typeface="Calibri"/>
              <a:cs typeface="Calibri"/>
              <a:sym typeface="Calibri"/>
            </a:endParaRPr>
          </a:p>
        </p:txBody>
      </p:sp>
      <p:sp>
        <p:nvSpPr>
          <p:cNvPr id="58" name="Google Shape;58;p4"/>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Lehrman reduced sensation near the crop using 0.5 cubic centimeters of the local anesthetic Efocaine, administered 2 days before a squab was presented. A comparison group received anesthetic elsewhere, controlling for consequences of receiving the drug rather than its location.</a:t>
            </a:r>
            <a:endParaRPr sz="1800">
              <a:solidFill>
                <a:schemeClr val="dk1"/>
              </a:solidFill>
              <a:latin typeface="Calibri"/>
              <a:ea typeface="Calibri"/>
              <a:cs typeface="Calibri"/>
              <a:sym typeface="Calibri"/>
            </a:endParaRPr>
          </a:p>
        </p:txBody>
      </p:sp>
      <p:sp>
        <p:nvSpPr>
          <p:cNvPr id="59" name="Google Shape;59;p4"/>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Local treatment near the crop reduced parental feeding. </a:t>
            </a:r>
            <a:r>
              <a:rPr b="1" i="0" lang="en-US" sz="1500">
                <a:solidFill>
                  <a:srgbClr val="2D3C46"/>
                </a:solidFill>
                <a:latin typeface="Arial"/>
                <a:ea typeface="Arial"/>
                <a:cs typeface="Arial"/>
                <a:sym typeface="Arial"/>
              </a:rPr>
              <a:t>Peripheral feedback</a:t>
            </a:r>
            <a:r>
              <a:rPr b="0" i="0" lang="en-US" sz="1500">
                <a:solidFill>
                  <a:srgbClr val="000000"/>
                </a:solidFill>
                <a:latin typeface="Arial"/>
                <a:ea typeface="Arial"/>
                <a:cs typeface="Arial"/>
                <a:sym typeface="Arial"/>
              </a:rPr>
              <a:t> means sensory information returning from the body to the nervous system; crop distension and contact with a squab were candidate sources of such information.</a:t>
            </a:r>
            <a:endParaRPr sz="1800">
              <a:solidFill>
                <a:schemeClr val="dk1"/>
              </a:solidFill>
              <a:latin typeface="Calibri"/>
              <a:ea typeface="Calibri"/>
              <a:cs typeface="Calibri"/>
              <a:sym typeface="Calibri"/>
            </a:endParaRPr>
          </a:p>
        </p:txBody>
      </p:sp>
      <p:sp>
        <p:nvSpPr>
          <p:cNvPr id="60" name="Google Shape;60;p4"/>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crop tissue displayed here is from pigeons, not the anesthetized ring doves. The location-dependent behavioral effect supports a sensory contribution, but drug spread and other local effects prevent identifying one sensory receptor or excluding central hormone actions.</a:t>
            </a:r>
            <a:endParaRPr sz="1800">
              <a:solidFill>
                <a:schemeClr val="dk1"/>
              </a:solidFill>
              <a:latin typeface="Calibri"/>
              <a:ea typeface="Calibri"/>
              <a:cs typeface="Calibri"/>
              <a:sym typeface="Calibri"/>
            </a:endParaRPr>
          </a:p>
        </p:txBody>
      </p:sp>
      <p:pic>
        <p:nvPicPr>
          <p:cNvPr id="61" name="Google Shape;61;p4"/>
          <p:cNvPicPr preferRelativeResize="0"/>
          <p:nvPr/>
        </p:nvPicPr>
        <p:blipFill rotWithShape="1">
          <a:blip r:embed="rId3">
            <a:alphaModFix/>
          </a:blip>
          <a:srcRect b="0" l="0" r="0" t="0"/>
          <a:stretch/>
        </p:blipFill>
        <p:spPr>
          <a:xfrm>
            <a:off x="7581900" y="1190708"/>
            <a:ext cx="2743200" cy="4381334"/>
          </a:xfrm>
          <a:prstGeom prst="rect">
            <a:avLst/>
          </a:prstGeom>
          <a:noFill/>
          <a:ln>
            <a:noFill/>
          </a:ln>
        </p:spPr>
      </p:pic>
      <p:sp>
        <p:nvSpPr>
          <p:cNvPr id="62" name="Google Shape;62;p4"/>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2(A–H). Pigeon crop epithelium, vasculature and lipid staining.</a:t>
            </a:r>
            <a:endParaRPr sz="1800">
              <a:solidFill>
                <a:schemeClr val="dk1"/>
              </a:solidFill>
              <a:latin typeface="Calibri"/>
              <a:ea typeface="Calibri"/>
              <a:cs typeface="Calibri"/>
              <a:sym typeface="Calibri"/>
            </a:endParaRPr>
          </a:p>
        </p:txBody>
      </p:sp>
      <p:sp>
        <p:nvSpPr>
          <p:cNvPr id="63" name="Google Shape;63;p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 Gillespie et al. (2011)</a:t>
            </a:r>
            <a:endParaRPr sz="1800">
              <a:solidFill>
                <a:schemeClr val="dk1"/>
              </a:solidFill>
              <a:latin typeface="Calibri"/>
              <a:ea typeface="Calibri"/>
              <a:cs typeface="Calibri"/>
              <a:sym typeface="Calibri"/>
            </a:endParaRPr>
          </a:p>
        </p:txBody>
      </p:sp>
      <p:sp>
        <p:nvSpPr>
          <p:cNvPr id="64" name="Google Shape;64;p4"/>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Partners perform complementary nest-building actions</a:t>
            </a:r>
            <a:endParaRPr sz="1800">
              <a:solidFill>
                <a:schemeClr val="dk1"/>
              </a:solidFill>
              <a:latin typeface="Calibri"/>
              <a:ea typeface="Calibri"/>
              <a:cs typeface="Calibri"/>
              <a:sym typeface="Calibri"/>
            </a:endParaRPr>
          </a:p>
        </p:txBody>
      </p:sp>
      <p:sp>
        <p:nvSpPr>
          <p:cNvPr id="70" name="Google Shape;70;p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Ring-dove nest building involves a division of labor: males usually gather and transport material, while females remain at the nest site and </a:t>
            </a:r>
            <a:r>
              <a:rPr b="1" i="0" lang="en-US" sz="1500">
                <a:solidFill>
                  <a:srgbClr val="2D3C46"/>
                </a:solidFill>
                <a:latin typeface="Arial"/>
                <a:ea typeface="Arial"/>
                <a:cs typeface="Arial"/>
                <a:sym typeface="Arial"/>
              </a:rPr>
              <a:t>tuck</a:t>
            </a:r>
            <a:r>
              <a:rPr b="0" i="0" lang="en-US" sz="1500">
                <a:solidFill>
                  <a:srgbClr val="000000"/>
                </a:solidFill>
                <a:latin typeface="Arial"/>
                <a:ea typeface="Arial"/>
                <a:cs typeface="Arial"/>
                <a:sym typeface="Arial"/>
              </a:rPr>
              <a:t> material into the developing nest. Martinez-Vargas and Erickson recorded these actions separately during the days before the first egg.</a:t>
            </a:r>
            <a:endParaRPr sz="1800">
              <a:solidFill>
                <a:schemeClr val="dk1"/>
              </a:solidFill>
              <a:latin typeface="Calibri"/>
              <a:ea typeface="Calibri"/>
              <a:cs typeface="Calibri"/>
              <a:sym typeface="Calibri"/>
            </a:endParaRPr>
          </a:p>
        </p:txBody>
      </p:sp>
      <p:sp>
        <p:nvSpPr>
          <p:cNvPr id="71" name="Google Shape;71;p5"/>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Established pairs received space, nest sites and alternative materials. Repeated observations related the male’s gathering to the female’s attendance and construction rather than treating total nest size as the only behavioral measurement.</a:t>
            </a:r>
            <a:endParaRPr sz="1800">
              <a:solidFill>
                <a:schemeClr val="dk1"/>
              </a:solidFill>
              <a:latin typeface="Calibri"/>
              <a:ea typeface="Calibri"/>
              <a:cs typeface="Calibri"/>
              <a:sym typeface="Calibri"/>
            </a:endParaRPr>
          </a:p>
        </p:txBody>
      </p:sp>
      <p:sp>
        <p:nvSpPr>
          <p:cNvPr id="72" name="Google Shape;72;p5"/>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Transport increased when females were established at the nest. Coordinated behavior can therefore arise through signals exchanged between partners; simultaneous increases in both birds’ activity do not by themselves establish simultaneous increases in a shared circulating hormone.</a:t>
            </a:r>
            <a:endParaRPr sz="1800">
              <a:solidFill>
                <a:schemeClr val="dk1"/>
              </a:solidFill>
              <a:latin typeface="Calibri"/>
              <a:ea typeface="Calibri"/>
              <a:cs typeface="Calibri"/>
              <a:sym typeface="Calibri"/>
            </a:endParaRPr>
          </a:p>
        </p:txBody>
      </p:sp>
      <p:pic>
        <p:nvPicPr>
          <p:cNvPr id="73" name="Google Shape;73;p5"/>
          <p:cNvPicPr preferRelativeResize="0"/>
          <p:nvPr/>
        </p:nvPicPr>
        <p:blipFill rotWithShape="1">
          <a:blip r:embed="rId3">
            <a:alphaModFix/>
          </a:blip>
          <a:srcRect b="0" l="0" r="0" t="0"/>
          <a:stretch/>
        </p:blipFill>
        <p:spPr>
          <a:xfrm>
            <a:off x="6991350" y="1193892"/>
            <a:ext cx="3914775" cy="4374966"/>
          </a:xfrm>
          <a:prstGeom prst="rect">
            <a:avLst/>
          </a:prstGeom>
          <a:noFill/>
          <a:ln>
            <a:noFill/>
          </a:ln>
        </p:spPr>
      </p:pic>
      <p:sp>
        <p:nvSpPr>
          <p:cNvPr id="74" name="Google Shape;74;p5"/>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3. Male nest attendance, wing-flipping and nest-cooing.</a:t>
            </a:r>
            <a:endParaRPr sz="1800">
              <a:solidFill>
                <a:schemeClr val="dk1"/>
              </a:solidFill>
              <a:latin typeface="Calibri"/>
              <a:ea typeface="Calibri"/>
              <a:cs typeface="Calibri"/>
              <a:sym typeface="Calibri"/>
            </a:endParaRPr>
          </a:p>
        </p:txBody>
      </p:sp>
      <p:sp>
        <p:nvSpPr>
          <p:cNvPr id="75" name="Google Shape;75;p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76" name="Google Shape;76;p5"/>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Courtship components change at different rates</a:t>
            </a:r>
            <a:endParaRPr sz="1800">
              <a:solidFill>
                <a:schemeClr val="dk1"/>
              </a:solidFill>
              <a:latin typeface="Calibri"/>
              <a:ea typeface="Calibri"/>
              <a:cs typeface="Calibri"/>
              <a:sym typeface="Calibri"/>
            </a:endParaRPr>
          </a:p>
        </p:txBody>
      </p:sp>
      <p:sp>
        <p:nvSpPr>
          <p:cNvPr id="82" name="Google Shape;82;p6"/>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Bow-cooing</a:t>
            </a:r>
            <a:r>
              <a:rPr b="0" i="0" lang="en-US" sz="1500">
                <a:solidFill>
                  <a:srgbClr val="000000"/>
                </a:solidFill>
                <a:latin typeface="Arial"/>
                <a:ea typeface="Arial"/>
                <a:cs typeface="Arial"/>
                <a:sym typeface="Arial"/>
              </a:rPr>
              <a:t> is a male courtship vocalization accompanied by a bowing display. Martinez-Vargas and Erickson recorded its frequency across days aligned to the first egg, permitting comparison with nest-material transport and female nest attendance in the same reproductive period.</a:t>
            </a:r>
            <a:endParaRPr sz="1800">
              <a:solidFill>
                <a:schemeClr val="dk1"/>
              </a:solidFill>
              <a:latin typeface="Calibri"/>
              <a:ea typeface="Calibri"/>
              <a:cs typeface="Calibri"/>
              <a:sym typeface="Calibri"/>
            </a:endParaRPr>
          </a:p>
        </p:txBody>
      </p:sp>
      <p:sp>
        <p:nvSpPr>
          <p:cNvPr id="83" name="Google Shape;83;p6"/>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Bow-cooing declined as nesting progressed, while material gathering followed a different time course. Behavioral components therefore changed together within a breeding cycle without having identical trajectories or an interchangeable function.</a:t>
            </a:r>
            <a:endParaRPr sz="1800">
              <a:solidFill>
                <a:schemeClr val="dk1"/>
              </a:solidFill>
              <a:latin typeface="Calibri"/>
              <a:ea typeface="Calibri"/>
              <a:cs typeface="Calibri"/>
              <a:sym typeface="Calibri"/>
            </a:endParaRPr>
          </a:p>
        </p:txBody>
      </p:sp>
      <p:sp>
        <p:nvSpPr>
          <p:cNvPr id="84" name="Google Shape;84;p6"/>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Alignment to egg laying supplies a common reference event, not a manipulation of the underlying endocrine system. The records establish temporal relationships among observable actions but cannot determine whether a decline in vocalization directly causes the increase in construction.</a:t>
            </a:r>
            <a:endParaRPr sz="1800">
              <a:solidFill>
                <a:schemeClr val="dk1"/>
              </a:solidFill>
              <a:latin typeface="Calibri"/>
              <a:ea typeface="Calibri"/>
              <a:cs typeface="Calibri"/>
              <a:sym typeface="Calibri"/>
            </a:endParaRPr>
          </a:p>
        </p:txBody>
      </p:sp>
      <p:pic>
        <p:nvPicPr>
          <p:cNvPr id="85" name="Google Shape;85;p6"/>
          <p:cNvPicPr preferRelativeResize="0"/>
          <p:nvPr/>
        </p:nvPicPr>
        <p:blipFill rotWithShape="1">
          <a:blip r:embed="rId3">
            <a:alphaModFix/>
          </a:blip>
          <a:srcRect b="0" l="0" r="0" t="0"/>
          <a:stretch/>
        </p:blipFill>
        <p:spPr>
          <a:xfrm>
            <a:off x="6481352" y="1190625"/>
            <a:ext cx="4944296" cy="3724275"/>
          </a:xfrm>
          <a:prstGeom prst="rect">
            <a:avLst/>
          </a:prstGeom>
          <a:noFill/>
          <a:ln>
            <a:noFill/>
          </a:ln>
        </p:spPr>
      </p:pic>
      <p:sp>
        <p:nvSpPr>
          <p:cNvPr id="86" name="Google Shape;86;p6"/>
          <p:cNvSpPr/>
          <p:nvPr/>
        </p:nvSpPr>
        <p:spPr>
          <a:xfrm>
            <a:off x="6477000" y="50101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7. Bow-cooing frequency relative to the first egg.</a:t>
            </a:r>
            <a:endParaRPr sz="1800">
              <a:solidFill>
                <a:schemeClr val="dk1"/>
              </a:solidFill>
              <a:latin typeface="Calibri"/>
              <a:ea typeface="Calibri"/>
              <a:cs typeface="Calibri"/>
              <a:sym typeface="Calibri"/>
            </a:endParaRPr>
          </a:p>
        </p:txBody>
      </p:sp>
      <p:sp>
        <p:nvSpPr>
          <p:cNvPr id="87" name="Google Shape;87;p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88" name="Google Shape;88;p6"/>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Female nest-cooing is a changing social signal</a:t>
            </a:r>
            <a:endParaRPr sz="1800">
              <a:solidFill>
                <a:schemeClr val="dk1"/>
              </a:solidFill>
              <a:latin typeface="Calibri"/>
              <a:ea typeface="Calibri"/>
              <a:cs typeface="Calibri"/>
              <a:sym typeface="Calibri"/>
            </a:endParaRPr>
          </a:p>
        </p:txBody>
      </p:sp>
      <p:sp>
        <p:nvSpPr>
          <p:cNvPr id="94" name="Google Shape;94;p7"/>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Nest-cooing</a:t>
            </a:r>
            <a:r>
              <a:rPr b="0" i="0" lang="en-US" sz="1500">
                <a:solidFill>
                  <a:srgbClr val="000000"/>
                </a:solidFill>
                <a:latin typeface="Arial"/>
                <a:ea typeface="Arial"/>
                <a:cs typeface="Arial"/>
                <a:sym typeface="Arial"/>
              </a:rPr>
              <a:t> is a vocal display given at the nest site. Females join males in this behavior and may continue alone after the male leaves to gather material. Daily observation distinguished female cooing from male bow-cooing and from physical nest construction.</a:t>
            </a:r>
            <a:endParaRPr sz="1800">
              <a:solidFill>
                <a:schemeClr val="dk1"/>
              </a:solidFill>
              <a:latin typeface="Calibri"/>
              <a:ea typeface="Calibri"/>
              <a:cs typeface="Calibri"/>
              <a:sym typeface="Calibri"/>
            </a:endParaRPr>
          </a:p>
        </p:txBody>
      </p:sp>
      <p:sp>
        <p:nvSpPr>
          <p:cNvPr id="95" name="Google Shape;95;p7"/>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Martinez-Vargas and Erickson distinguished nest attendance from active nest soliciting. Cheng described an abrupt cessation of female cooing after the second egg, linking the vocal phase to the transition toward incubation rather than to a constant readiness to reproduce.</a:t>
            </a:r>
            <a:endParaRPr sz="1800">
              <a:solidFill>
                <a:schemeClr val="dk1"/>
              </a:solidFill>
              <a:latin typeface="Calibri"/>
              <a:ea typeface="Calibri"/>
              <a:cs typeface="Calibri"/>
              <a:sym typeface="Calibri"/>
            </a:endParaRPr>
          </a:p>
        </p:txBody>
      </p:sp>
      <p:sp>
        <p:nvSpPr>
          <p:cNvPr id="96" name="Google Shape;96;p7"/>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vocalization can influence a partner and provide sensory feedback to its producer. These observational records establish when cooing occurs; separate playback and hormone manipulations are needed to test its physiological and social consequences.</a:t>
            </a:r>
            <a:endParaRPr sz="1800">
              <a:solidFill>
                <a:schemeClr val="dk1"/>
              </a:solidFill>
              <a:latin typeface="Calibri"/>
              <a:ea typeface="Calibri"/>
              <a:cs typeface="Calibri"/>
              <a:sym typeface="Calibri"/>
            </a:endParaRPr>
          </a:p>
        </p:txBody>
      </p:sp>
      <p:pic>
        <p:nvPicPr>
          <p:cNvPr id="97" name="Google Shape;97;p7"/>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98" name="Google Shape;98;p7"/>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99" name="Google Shape;99;p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 Cheng (1986)</a:t>
            </a:r>
            <a:endParaRPr sz="1800">
              <a:solidFill>
                <a:schemeClr val="dk1"/>
              </a:solidFill>
              <a:latin typeface="Calibri"/>
              <a:ea typeface="Calibri"/>
              <a:cs typeface="Calibri"/>
              <a:sym typeface="Calibri"/>
            </a:endParaRPr>
          </a:p>
        </p:txBody>
      </p:sp>
      <p:sp>
        <p:nvSpPr>
          <p:cNvPr id="100" name="Google Shape;100;p7"/>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Female hormone treatment changes male gathering</a:t>
            </a:r>
            <a:endParaRPr sz="1800">
              <a:solidFill>
                <a:schemeClr val="dk1"/>
              </a:solidFill>
              <a:latin typeface="Calibri"/>
              <a:ea typeface="Calibri"/>
              <a:cs typeface="Calibri"/>
              <a:sym typeface="Calibri"/>
            </a:endParaRPr>
          </a:p>
        </p:txBody>
      </p:sp>
      <p:sp>
        <p:nvSpPr>
          <p:cNvPr id="106" name="Google Shape;106;p8"/>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Martinez-Vargas and Erickson compared females treated with estrogen and progesterone with oil-treated females before pairing them with males. </a:t>
            </a:r>
            <a:r>
              <a:rPr b="1" i="0" lang="en-US" sz="1500">
                <a:solidFill>
                  <a:srgbClr val="2D3C46"/>
                </a:solidFill>
                <a:latin typeface="Arial"/>
                <a:ea typeface="Arial"/>
                <a:cs typeface="Arial"/>
                <a:sym typeface="Arial"/>
              </a:rPr>
              <a:t>Hormone replacement</a:t>
            </a:r>
            <a:r>
              <a:rPr b="0" i="0" lang="en-US" sz="1500">
                <a:solidFill>
                  <a:srgbClr val="000000"/>
                </a:solidFill>
                <a:latin typeface="Arial"/>
                <a:ea typeface="Arial"/>
                <a:cs typeface="Arial"/>
                <a:sym typeface="Arial"/>
              </a:rPr>
              <a:t> supplies an experimental endocrine signal, while the oil comparison controls for injection and the vehicle carrying the hormones.</a:t>
            </a:r>
            <a:endParaRPr sz="1800">
              <a:solidFill>
                <a:schemeClr val="dk1"/>
              </a:solidFill>
              <a:latin typeface="Calibri"/>
              <a:ea typeface="Calibri"/>
              <a:cs typeface="Calibri"/>
              <a:sym typeface="Calibri"/>
            </a:endParaRPr>
          </a:p>
        </p:txBody>
      </p:sp>
      <p:sp>
        <p:nvSpPr>
          <p:cNvPr id="107" name="Google Shape;107;p8"/>
          <p:cNvSpPr/>
          <p:nvPr/>
        </p:nvSpPr>
        <p:spPr>
          <a:xfrm>
            <a:off x="571500" y="28860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On the first pairing day, treated females performed more nest soliciting, including wing-flipping and nest-cooing. Their untreated male partners also participated differently in gathering material, and female nest attendance was closely associated with male transport.</a:t>
            </a:r>
            <a:endParaRPr sz="1800">
              <a:solidFill>
                <a:schemeClr val="dk1"/>
              </a:solidFill>
              <a:latin typeface="Calibri"/>
              <a:ea typeface="Calibri"/>
              <a:cs typeface="Calibri"/>
              <a:sym typeface="Calibri"/>
            </a:endParaRPr>
          </a:p>
        </p:txBody>
      </p:sp>
      <p:sp>
        <p:nvSpPr>
          <p:cNvPr id="108" name="Google Shape;108;p8"/>
          <p:cNvSpPr/>
          <p:nvPr/>
        </p:nvSpPr>
        <p:spPr>
          <a:xfrm>
            <a:off x="571500" y="432435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Only the female received the experimental hormones. A change in male behavior therefore need not reflect direct drug action on the male; altered signals from his partner are a plausible route, although this experiment did not isolate every exchanged signal.</a:t>
            </a:r>
            <a:endParaRPr sz="1800">
              <a:solidFill>
                <a:schemeClr val="dk1"/>
              </a:solidFill>
              <a:latin typeface="Calibri"/>
              <a:ea typeface="Calibri"/>
              <a:cs typeface="Calibri"/>
              <a:sym typeface="Calibri"/>
            </a:endParaRPr>
          </a:p>
        </p:txBody>
      </p:sp>
      <p:pic>
        <p:nvPicPr>
          <p:cNvPr id="109" name="Google Shape;109;p8"/>
          <p:cNvPicPr preferRelativeResize="0"/>
          <p:nvPr/>
        </p:nvPicPr>
        <p:blipFill rotWithShape="1">
          <a:blip r:embed="rId3">
            <a:alphaModFix/>
          </a:blip>
          <a:srcRect b="0" l="0" r="0" t="0"/>
          <a:stretch/>
        </p:blipFill>
        <p:spPr>
          <a:xfrm>
            <a:off x="6482675" y="1190625"/>
            <a:ext cx="4941649" cy="2705100"/>
          </a:xfrm>
          <a:prstGeom prst="rect">
            <a:avLst/>
          </a:prstGeom>
          <a:noFill/>
          <a:ln>
            <a:noFill/>
          </a:ln>
        </p:spPr>
      </p:pic>
      <p:sp>
        <p:nvSpPr>
          <p:cNvPr id="110" name="Google Shape;110;p8"/>
          <p:cNvSpPr/>
          <p:nvPr/>
        </p:nvSpPr>
        <p:spPr>
          <a:xfrm>
            <a:off x="6477000" y="39909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13. Nest soliciting after female hormone or oil treatment.</a:t>
            </a:r>
            <a:endParaRPr sz="1800">
              <a:solidFill>
                <a:schemeClr val="dk1"/>
              </a:solidFill>
              <a:latin typeface="Calibri"/>
              <a:ea typeface="Calibri"/>
              <a:cs typeface="Calibri"/>
              <a:sym typeface="Calibri"/>
            </a:endParaRPr>
          </a:p>
        </p:txBody>
      </p:sp>
      <p:sp>
        <p:nvSpPr>
          <p:cNvPr id="111" name="Google Shape;111;p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112" name="Google Shape;112;p8"/>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Sequential steroid treatment restores nest building</a:t>
            </a:r>
            <a:endParaRPr sz="1800">
              <a:solidFill>
                <a:schemeClr val="dk1"/>
              </a:solidFill>
              <a:latin typeface="Calibri"/>
              <a:ea typeface="Calibri"/>
              <a:cs typeface="Calibri"/>
              <a:sym typeface="Calibri"/>
            </a:endParaRPr>
          </a:p>
        </p:txBody>
      </p:sp>
      <p:sp>
        <p:nvSpPr>
          <p:cNvPr id="118" name="Google Shape;118;p9"/>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Cheng and Silver used reproductively experienced females after </a:t>
            </a:r>
            <a:r>
              <a:rPr b="1" i="0" lang="en-US" sz="1500">
                <a:solidFill>
                  <a:srgbClr val="2D3C46"/>
                </a:solidFill>
                <a:latin typeface="Arial"/>
                <a:ea typeface="Arial"/>
                <a:cs typeface="Arial"/>
                <a:sym typeface="Arial"/>
              </a:rPr>
              <a:t>ovariectomy</a:t>
            </a:r>
            <a:r>
              <a:rPr b="0" i="0" lang="en-US" sz="1500">
                <a:solidFill>
                  <a:srgbClr val="000000"/>
                </a:solidFill>
                <a:latin typeface="Arial"/>
                <a:ea typeface="Arial"/>
                <a:cs typeface="Arial"/>
                <a:sym typeface="Arial"/>
              </a:rPr>
              <a:t>, surgical removal of the ovaries, to reduce endogenous ovarian hormone contributions. They compared estradiol benzoate, progesterone, both steroids in a timed regimen, and sesame oil, with untreated males as partners.</a:t>
            </a:r>
            <a:endParaRPr sz="1800">
              <a:solidFill>
                <a:schemeClr val="dk1"/>
              </a:solidFill>
              <a:latin typeface="Calibri"/>
              <a:ea typeface="Calibri"/>
              <a:cs typeface="Calibri"/>
              <a:sym typeface="Calibri"/>
            </a:endParaRPr>
          </a:p>
        </p:txBody>
      </p:sp>
      <p:sp>
        <p:nvSpPr>
          <p:cNvPr id="119" name="Google Shape;119;p9"/>
          <p:cNvSpPr/>
          <p:nvPr/>
        </p:nvSpPr>
        <p:spPr>
          <a:xfrm>
            <a:off x="571500" y="28860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Estradiol benzoate was administered on courtship days 4–10. Progesterone was added on days 8 and 10 in the combined condition, after estrogen exposure had begun. The administered doses were 50 micrograms of estradiol benzoate and 100 micrograms of progesterone.</a:t>
            </a:r>
            <a:endParaRPr sz="1800">
              <a:solidFill>
                <a:schemeClr val="dk1"/>
              </a:solidFill>
              <a:latin typeface="Calibri"/>
              <a:ea typeface="Calibri"/>
              <a:cs typeface="Calibri"/>
              <a:sym typeface="Calibri"/>
            </a:endParaRPr>
          </a:p>
        </p:txBody>
      </p:sp>
      <p:sp>
        <p:nvSpPr>
          <p:cNvPr id="120" name="Google Shape;120;p9"/>
          <p:cNvSpPr/>
          <p:nvPr/>
        </p:nvSpPr>
        <p:spPr>
          <a:xfrm>
            <a:off x="571500" y="432435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combined regimen produced the strongest nest-building response. Its timing supports a role for endocrine sequence, but the study did not compare every possible order and therefore cannot establish that this particular schedule is uniquely required.</a:t>
            </a:r>
            <a:endParaRPr sz="1800">
              <a:solidFill>
                <a:schemeClr val="dk1"/>
              </a:solidFill>
              <a:latin typeface="Calibri"/>
              <a:ea typeface="Calibri"/>
              <a:cs typeface="Calibri"/>
              <a:sym typeface="Calibri"/>
            </a:endParaRPr>
          </a:p>
        </p:txBody>
      </p:sp>
      <p:pic>
        <p:nvPicPr>
          <p:cNvPr id="121" name="Google Shape;121;p9"/>
          <p:cNvPicPr preferRelativeResize="0"/>
          <p:nvPr/>
        </p:nvPicPr>
        <p:blipFill rotWithShape="1">
          <a:blip r:embed="rId3">
            <a:alphaModFix/>
          </a:blip>
          <a:srcRect b="0" l="0" r="0" t="0"/>
          <a:stretch/>
        </p:blipFill>
        <p:spPr>
          <a:xfrm>
            <a:off x="6480246" y="1190625"/>
            <a:ext cx="4946509" cy="2809875"/>
          </a:xfrm>
          <a:prstGeom prst="rect">
            <a:avLst/>
          </a:prstGeom>
          <a:noFill/>
          <a:ln>
            <a:noFill/>
          </a:ln>
        </p:spPr>
      </p:pic>
      <p:sp>
        <p:nvSpPr>
          <p:cNvPr id="122" name="Google Shape;122;p9"/>
          <p:cNvSpPr/>
          <p:nvPr/>
        </p:nvSpPr>
        <p:spPr>
          <a:xfrm>
            <a:off x="6477000" y="40957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sp>
        <p:nvSpPr>
          <p:cNvPr id="123" name="Google Shape;123;p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24" name="Google Shape;124;p9"/>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1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Picking up material differs from completing a nest</a:t>
            </a:r>
            <a:endParaRPr sz="1800">
              <a:solidFill>
                <a:schemeClr val="dk1"/>
              </a:solidFill>
              <a:latin typeface="Calibri"/>
              <a:ea typeface="Calibri"/>
              <a:cs typeface="Calibri"/>
              <a:sym typeface="Calibri"/>
            </a:endParaRPr>
          </a:p>
        </p:txBody>
      </p:sp>
      <p:sp>
        <p:nvSpPr>
          <p:cNvPr id="130" name="Google Shape;130;p10"/>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Cheng and Silver separated picking up and dropping nest material, carrying it to a site, and tucking it into the nest bowl. These measurements distinguish interaction with an available object from the coordinated construction required for a functional nest.</a:t>
            </a:r>
            <a:endParaRPr sz="1800">
              <a:solidFill>
                <a:schemeClr val="dk1"/>
              </a:solidFill>
              <a:latin typeface="Calibri"/>
              <a:ea typeface="Calibri"/>
              <a:cs typeface="Calibri"/>
              <a:sym typeface="Calibri"/>
            </a:endParaRPr>
          </a:p>
        </p:txBody>
      </p:sp>
      <p:sp>
        <p:nvSpPr>
          <p:cNvPr id="131" name="Google Shape;131;p10"/>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Females given the combined estrogen–progesterone regimen more reliably performed the later construction actions than females given either hormone alone or oil. Daily records also included untreated males, allowing each partner’s contribution to be distinguished.</a:t>
            </a:r>
            <a:endParaRPr sz="1800">
              <a:solidFill>
                <a:schemeClr val="dk1"/>
              </a:solidFill>
              <a:latin typeface="Calibri"/>
              <a:ea typeface="Calibri"/>
              <a:cs typeface="Calibri"/>
              <a:sym typeface="Calibri"/>
            </a:endParaRPr>
          </a:p>
        </p:txBody>
      </p:sp>
      <p:sp>
        <p:nvSpPr>
          <p:cNvPr id="132" name="Google Shape;132;p10"/>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At egg introduction on days 8 and 10, pairs lacking completed nests received an experimenter-built nest. Subsequent tucking can therefore include rearrangement of an existing nest; it should not automatically be interpreted as construction of an entirely new nest.</a:t>
            </a:r>
            <a:endParaRPr sz="1800">
              <a:solidFill>
                <a:schemeClr val="dk1"/>
              </a:solidFill>
              <a:latin typeface="Calibri"/>
              <a:ea typeface="Calibri"/>
              <a:cs typeface="Calibri"/>
              <a:sym typeface="Calibri"/>
            </a:endParaRPr>
          </a:p>
        </p:txBody>
      </p:sp>
      <p:pic>
        <p:nvPicPr>
          <p:cNvPr id="133" name="Google Shape;133;p10"/>
          <p:cNvPicPr preferRelativeResize="0"/>
          <p:nvPr/>
        </p:nvPicPr>
        <p:blipFill rotWithShape="1">
          <a:blip r:embed="rId3">
            <a:alphaModFix/>
          </a:blip>
          <a:srcRect b="0" l="0" r="0" t="0"/>
          <a:stretch/>
        </p:blipFill>
        <p:spPr>
          <a:xfrm>
            <a:off x="6480246" y="1190625"/>
            <a:ext cx="4946509" cy="2809875"/>
          </a:xfrm>
          <a:prstGeom prst="rect">
            <a:avLst/>
          </a:prstGeom>
          <a:noFill/>
          <a:ln>
            <a:noFill/>
          </a:ln>
        </p:spPr>
      </p:pic>
      <p:sp>
        <p:nvSpPr>
          <p:cNvPr id="134" name="Google Shape;134;p10"/>
          <p:cNvSpPr/>
          <p:nvPr/>
        </p:nvSpPr>
        <p:spPr>
          <a:xfrm>
            <a:off x="6477000" y="40957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sp>
        <p:nvSpPr>
          <p:cNvPr id="135" name="Google Shape;135;p1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36" name="Google Shape;136;p1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Estrogen and progesterone facilitate female incubation</a:t>
            </a:r>
            <a:endParaRPr sz="1800">
              <a:solidFill>
                <a:schemeClr val="dk1"/>
              </a:solidFill>
              <a:latin typeface="Calibri"/>
              <a:ea typeface="Calibri"/>
              <a:cs typeface="Calibri"/>
              <a:sym typeface="Calibri"/>
            </a:endParaRPr>
          </a:p>
        </p:txBody>
      </p:sp>
      <p:sp>
        <p:nvSpPr>
          <p:cNvPr id="142" name="Google Shape;142;p11"/>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Incubation</a:t>
            </a:r>
            <a:r>
              <a:rPr b="0" i="0" lang="en-US" sz="1500">
                <a:solidFill>
                  <a:srgbClr val="000000"/>
                </a:solidFill>
                <a:latin typeface="Arial"/>
                <a:ea typeface="Arial"/>
                <a:cs typeface="Arial"/>
                <a:sym typeface="Arial"/>
              </a:rPr>
              <a:t> is sustained contact with eggs during their development. Cheng and Silver introduced infertile eggs under a controlled schedule and recorded the fraction of observation time spent sitting, comparing the four hormone conditions after ovariectomy.</a:t>
            </a:r>
            <a:endParaRPr sz="1800">
              <a:solidFill>
                <a:schemeClr val="dk1"/>
              </a:solidFill>
              <a:latin typeface="Calibri"/>
              <a:ea typeface="Calibri"/>
              <a:cs typeface="Calibri"/>
              <a:sym typeface="Calibri"/>
            </a:endParaRPr>
          </a:p>
        </p:txBody>
      </p:sp>
      <p:sp>
        <p:nvSpPr>
          <p:cNvPr id="143" name="Google Shape;143;p11"/>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Combined estrogen and progesterone most effectively restored incubation in females. Estrogen alone, progesterone alone and vehicle produced different, generally weaker early responses, despite access to the same breeding setting and experimental eggs.</a:t>
            </a:r>
            <a:endParaRPr sz="1800">
              <a:solidFill>
                <a:schemeClr val="dk1"/>
              </a:solidFill>
              <a:latin typeface="Calibri"/>
              <a:ea typeface="Calibri"/>
              <a:cs typeface="Calibri"/>
              <a:sym typeface="Calibri"/>
            </a:endParaRPr>
          </a:p>
        </p:txBody>
      </p:sp>
      <p:sp>
        <p:nvSpPr>
          <p:cNvPr id="144" name="Google Shape;144;p11"/>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Eggs and a nest were parts of the preparation. Hormone replacement altered responsiveness within this sensory and social context; the experiment does not establish an endocrine command that produces normal incubation independently of an appropriate nest, eggs or partner.</a:t>
            </a:r>
            <a:endParaRPr sz="1800">
              <a:solidFill>
                <a:schemeClr val="dk1"/>
              </a:solidFill>
              <a:latin typeface="Calibri"/>
              <a:ea typeface="Calibri"/>
              <a:cs typeface="Calibri"/>
              <a:sym typeface="Calibri"/>
            </a:endParaRPr>
          </a:p>
        </p:txBody>
      </p:sp>
      <p:pic>
        <p:nvPicPr>
          <p:cNvPr id="145" name="Google Shape;145;p11"/>
          <p:cNvPicPr preferRelativeResize="0"/>
          <p:nvPr/>
        </p:nvPicPr>
        <p:blipFill rotWithShape="1">
          <a:blip r:embed="rId3">
            <a:alphaModFix/>
          </a:blip>
          <a:srcRect b="0" l="0" r="0" t="0"/>
          <a:stretch/>
        </p:blipFill>
        <p:spPr>
          <a:xfrm>
            <a:off x="7000875" y="1192862"/>
            <a:ext cx="3905250" cy="4377025"/>
          </a:xfrm>
          <a:prstGeom prst="rect">
            <a:avLst/>
          </a:prstGeom>
          <a:noFill/>
          <a:ln>
            <a:noFill/>
          </a:ln>
        </p:spPr>
      </p:pic>
      <p:sp>
        <p:nvSpPr>
          <p:cNvPr id="146" name="Google Shape;146;p11"/>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47" name="Google Shape;147;p1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48" name="Google Shape;148;p1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Untreated males respond to the female’s endocrine state</a:t>
            </a:r>
            <a:endParaRPr sz="1800">
              <a:solidFill>
                <a:schemeClr val="dk1"/>
              </a:solidFill>
              <a:latin typeface="Calibri"/>
              <a:ea typeface="Calibri"/>
              <a:cs typeface="Calibri"/>
              <a:sym typeface="Calibri"/>
            </a:endParaRPr>
          </a:p>
        </p:txBody>
      </p:sp>
      <p:sp>
        <p:nvSpPr>
          <p:cNvPr id="154" name="Google Shape;154;p12"/>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 Cheng and Silver’s preparation, males were intact and received no experimental steroid treatment. Their mates differed in estrogen and progesterone replacement, enabling a test of whether manipulating one animal’s endocrine state changes another animal’s behavior.</a:t>
            </a:r>
            <a:endParaRPr sz="1800">
              <a:solidFill>
                <a:schemeClr val="dk1"/>
              </a:solidFill>
              <a:latin typeface="Calibri"/>
              <a:ea typeface="Calibri"/>
              <a:cs typeface="Calibri"/>
              <a:sym typeface="Calibri"/>
            </a:endParaRPr>
          </a:p>
        </p:txBody>
      </p:sp>
      <p:sp>
        <p:nvSpPr>
          <p:cNvPr id="155" name="Google Shape;155;p12"/>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Males paired with females receiving the combined regimen began incubating more readily early in the observation period. The difference concerned the timing and distribution of sitting; overall incubation duration across the full period was not clearly different among male groups.</a:t>
            </a:r>
            <a:endParaRPr sz="1800">
              <a:solidFill>
                <a:schemeClr val="dk1"/>
              </a:solidFill>
              <a:latin typeface="Calibri"/>
              <a:ea typeface="Calibri"/>
              <a:cs typeface="Calibri"/>
              <a:sym typeface="Calibri"/>
            </a:endParaRPr>
          </a:p>
        </p:txBody>
      </p:sp>
      <p:sp>
        <p:nvSpPr>
          <p:cNvPr id="156" name="Google Shape;156;p12"/>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partner effect is therefore distinct from a direct pharmacological effect. Male responses may depend on female actions, competition or coordination at the nest, and changing availability of sitting opportunities. The experiment did not measure a specific male endocrine intermediary.</a:t>
            </a:r>
            <a:endParaRPr sz="1800">
              <a:solidFill>
                <a:schemeClr val="dk1"/>
              </a:solidFill>
              <a:latin typeface="Calibri"/>
              <a:ea typeface="Calibri"/>
              <a:cs typeface="Calibri"/>
              <a:sym typeface="Calibri"/>
            </a:endParaRPr>
          </a:p>
        </p:txBody>
      </p:sp>
      <p:pic>
        <p:nvPicPr>
          <p:cNvPr id="157" name="Google Shape;157;p12"/>
          <p:cNvPicPr preferRelativeResize="0"/>
          <p:nvPr/>
        </p:nvPicPr>
        <p:blipFill rotWithShape="1">
          <a:blip r:embed="rId3">
            <a:alphaModFix/>
          </a:blip>
          <a:srcRect b="0" l="0" r="0" t="0"/>
          <a:stretch/>
        </p:blipFill>
        <p:spPr>
          <a:xfrm>
            <a:off x="7000875" y="1192862"/>
            <a:ext cx="3905250" cy="4377025"/>
          </a:xfrm>
          <a:prstGeom prst="rect">
            <a:avLst/>
          </a:prstGeom>
          <a:noFill/>
          <a:ln>
            <a:noFill/>
          </a:ln>
        </p:spPr>
      </p:pic>
      <p:sp>
        <p:nvSpPr>
          <p:cNvPr id="158" name="Google Shape;158;p12"/>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59" name="Google Shape;159;p1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60" name="Google Shape;160;p1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Hormones change readiness within a breeding context</a:t>
            </a:r>
            <a:endParaRPr sz="1800">
              <a:solidFill>
                <a:schemeClr val="dk1"/>
              </a:solidFill>
              <a:latin typeface="Calibri"/>
              <a:ea typeface="Calibri"/>
              <a:cs typeface="Calibri"/>
              <a:sym typeface="Calibri"/>
            </a:endParaRPr>
          </a:p>
        </p:txBody>
      </p:sp>
      <p:sp>
        <p:nvSpPr>
          <p:cNvPr id="166" name="Google Shape;166;p1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Estradiol</a:t>
            </a:r>
            <a:r>
              <a:rPr b="0" i="0" lang="en-US" sz="1500">
                <a:solidFill>
                  <a:srgbClr val="000000"/>
                </a:solidFill>
                <a:latin typeface="Arial"/>
                <a:ea typeface="Arial"/>
                <a:cs typeface="Arial"/>
                <a:sym typeface="Arial"/>
              </a:rPr>
              <a:t> is an estrogenic steroid, and progesterone is another ovarian steroid involved in reproductive state. Their combined replacement restored nest building and incubation more effectively than either steroid alone in experienced ovariectomized ring doves.</a:t>
            </a:r>
            <a:endParaRPr sz="1800">
              <a:solidFill>
                <a:schemeClr val="dk1"/>
              </a:solidFill>
              <a:latin typeface="Calibri"/>
              <a:ea typeface="Calibri"/>
              <a:cs typeface="Calibri"/>
              <a:sym typeface="Calibri"/>
            </a:endParaRPr>
          </a:p>
        </p:txBody>
      </p:sp>
      <p:sp>
        <p:nvSpPr>
          <p:cNvPr id="167" name="Google Shape;167;p13"/>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treatment operated in a preparation containing an untreated mate, nesting material, a nest and introduced eggs. Courtship, construction and sitting were measured separately because one hormone condition need not affect every component in the same way.</a:t>
            </a:r>
            <a:endParaRPr sz="1800">
              <a:solidFill>
                <a:schemeClr val="dk1"/>
              </a:solidFill>
              <a:latin typeface="Calibri"/>
              <a:ea typeface="Calibri"/>
              <a:cs typeface="Calibri"/>
              <a:sym typeface="Calibri"/>
            </a:endParaRPr>
          </a:p>
        </p:txBody>
      </p:sp>
      <p:sp>
        <p:nvSpPr>
          <p:cNvPr id="168" name="Google Shape;168;p13"/>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These systemic injections do not locate the relevant receptors in a particular brain nucleus or separate neural from peripheral actions. They establish a causal endocrine contribution to behavior under defined conditions, while leaving the cellular pathway and the complete normal hormone sequence unresolved.</a:t>
            </a:r>
            <a:endParaRPr sz="1800">
              <a:solidFill>
                <a:schemeClr val="dk1"/>
              </a:solidFill>
              <a:latin typeface="Calibri"/>
              <a:ea typeface="Calibri"/>
              <a:cs typeface="Calibri"/>
              <a:sym typeface="Calibri"/>
            </a:endParaRPr>
          </a:p>
        </p:txBody>
      </p:sp>
      <p:pic>
        <p:nvPicPr>
          <p:cNvPr id="169" name="Google Shape;169;p13"/>
          <p:cNvPicPr preferRelativeResize="0"/>
          <p:nvPr/>
        </p:nvPicPr>
        <p:blipFill rotWithShape="1">
          <a:blip r:embed="rId3">
            <a:alphaModFix/>
          </a:blip>
          <a:srcRect b="0" l="0" r="0" t="0"/>
          <a:stretch/>
        </p:blipFill>
        <p:spPr>
          <a:xfrm>
            <a:off x="6434896" y="1190625"/>
            <a:ext cx="3370333" cy="1914525"/>
          </a:xfrm>
          <a:prstGeom prst="rect">
            <a:avLst/>
          </a:prstGeom>
          <a:noFill/>
          <a:ln>
            <a:noFill/>
          </a:ln>
        </p:spPr>
      </p:pic>
      <p:sp>
        <p:nvSpPr>
          <p:cNvPr id="170" name="Google Shape;170;p13"/>
          <p:cNvSpPr/>
          <p:nvPr/>
        </p:nvSpPr>
        <p:spPr>
          <a:xfrm>
            <a:off x="6429375" y="32004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pic>
        <p:nvPicPr>
          <p:cNvPr id="171" name="Google Shape;171;p13"/>
          <p:cNvPicPr preferRelativeResize="0"/>
          <p:nvPr/>
        </p:nvPicPr>
        <p:blipFill rotWithShape="1">
          <a:blip r:embed="rId4">
            <a:alphaModFix/>
          </a:blip>
          <a:srcRect b="0" l="0" r="0" t="0"/>
          <a:stretch/>
        </p:blipFill>
        <p:spPr>
          <a:xfrm>
            <a:off x="10005214" y="2143125"/>
            <a:ext cx="1563697" cy="1752600"/>
          </a:xfrm>
          <a:prstGeom prst="rect">
            <a:avLst/>
          </a:prstGeom>
          <a:noFill/>
          <a:ln>
            <a:noFill/>
          </a:ln>
        </p:spPr>
      </p:pic>
      <p:sp>
        <p:nvSpPr>
          <p:cNvPr id="172" name="Google Shape;172;p13"/>
          <p:cNvSpPr/>
          <p:nvPr/>
        </p:nvSpPr>
        <p:spPr>
          <a:xfrm>
            <a:off x="10001250" y="399097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73" name="Google Shape;173;p1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74" name="Google Shape;174;p1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Muting separates vocal output from social contact</a:t>
            </a:r>
            <a:endParaRPr sz="1800">
              <a:solidFill>
                <a:schemeClr val="dk1"/>
              </a:solidFill>
              <a:latin typeface="Calibri"/>
              <a:ea typeface="Calibri"/>
              <a:cs typeface="Calibri"/>
              <a:sym typeface="Calibri"/>
            </a:endParaRPr>
          </a:p>
        </p:txBody>
      </p:sp>
      <p:sp>
        <p:nvSpPr>
          <p:cNvPr id="180" name="Google Shape;180;p14"/>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Cheng tested whether a female’s own vocal behavior contributes to reproductive development. A reversible peripheral muting procedure prevented normal sound production, permitting females to interact with courting males while experimental playback supplied controlled auditory input.</a:t>
            </a:r>
            <a:endParaRPr sz="1800">
              <a:solidFill>
                <a:schemeClr val="dk1"/>
              </a:solidFill>
              <a:latin typeface="Calibri"/>
              <a:ea typeface="Calibri"/>
              <a:cs typeface="Calibri"/>
              <a:sym typeface="Calibri"/>
            </a:endParaRPr>
          </a:p>
        </p:txBody>
      </p:sp>
      <p:sp>
        <p:nvSpPr>
          <p:cNvPr id="181" name="Google Shape;181;p14"/>
          <p:cNvSpPr/>
          <p:nvPr/>
        </p:nvSpPr>
        <p:spPr>
          <a:xfrm>
            <a:off x="571500" y="28860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Devocalization</a:t>
            </a:r>
            <a:r>
              <a:rPr b="0" i="0" lang="en-US" sz="1500">
                <a:solidFill>
                  <a:srgbClr val="000000"/>
                </a:solidFill>
                <a:latin typeface="Arial"/>
                <a:ea typeface="Arial"/>
                <a:cs typeface="Arial"/>
                <a:sym typeface="Arial"/>
              </a:rPr>
              <a:t> means preventing vocal sound production; it does not mean removing the animal’s hearing. Sham-operated females controlled for the procedure, and muted females heard their own coos, male coos, another female’s coos, or no playback.</a:t>
            </a:r>
            <a:endParaRPr sz="1800">
              <a:solidFill>
                <a:schemeClr val="dk1"/>
              </a:solidFill>
              <a:latin typeface="Calibri"/>
              <a:ea typeface="Calibri"/>
              <a:cs typeface="Calibri"/>
              <a:sym typeface="Calibri"/>
            </a:endParaRPr>
          </a:p>
        </p:txBody>
      </p:sp>
      <p:sp>
        <p:nvSpPr>
          <p:cNvPr id="182" name="Google Shape;182;p14"/>
          <p:cNvSpPr/>
          <p:nvPr/>
        </p:nvSpPr>
        <p:spPr>
          <a:xfrm>
            <a:off x="571500" y="432435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Pairs interacted for 2 hours daily over 5 days. Keeping male contact present reduced the possibility that poor development simply resulted from social isolation, although altered female output could still change details of the reciprocal interaction.</a:t>
            </a:r>
            <a:endParaRPr sz="1800">
              <a:solidFill>
                <a:schemeClr val="dk1"/>
              </a:solidFill>
              <a:latin typeface="Calibri"/>
              <a:ea typeface="Calibri"/>
              <a:cs typeface="Calibri"/>
              <a:sym typeface="Calibri"/>
            </a:endParaRPr>
          </a:p>
        </p:txBody>
      </p:sp>
      <p:pic>
        <p:nvPicPr>
          <p:cNvPr id="183" name="Google Shape;183;p14"/>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184" name="Google Shape;184;p14"/>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185" name="Google Shape;185;p1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186" name="Google Shape;186;p1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Self-produced calls provide endocrine feedback</a:t>
            </a:r>
            <a:endParaRPr sz="1800">
              <a:solidFill>
                <a:schemeClr val="dk1"/>
              </a:solidFill>
              <a:latin typeface="Calibri"/>
              <a:ea typeface="Calibri"/>
              <a:cs typeface="Calibri"/>
              <a:sym typeface="Calibri"/>
            </a:endParaRPr>
          </a:p>
        </p:txBody>
      </p:sp>
      <p:sp>
        <p:nvSpPr>
          <p:cNvPr id="192" name="Google Shape;192;p1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Acoustic feedback</a:t>
            </a:r>
            <a:r>
              <a:rPr b="0" i="0" lang="en-US" sz="1500">
                <a:solidFill>
                  <a:srgbClr val="000000"/>
                </a:solidFill>
                <a:latin typeface="Arial"/>
                <a:ea typeface="Arial"/>
                <a:cs typeface="Arial"/>
                <a:sym typeface="Arial"/>
              </a:rPr>
              <a:t> is hearing sound generated by one’s own behavior. Cheng recorded female nest-coos before muting and played those calls back during pairing, allowing auditory input to be restored without restoring normal vocal sound production.</a:t>
            </a:r>
            <a:endParaRPr sz="1800">
              <a:solidFill>
                <a:schemeClr val="dk1"/>
              </a:solidFill>
              <a:latin typeface="Calibri"/>
              <a:ea typeface="Calibri"/>
              <a:cs typeface="Calibri"/>
              <a:sym typeface="Calibri"/>
            </a:endParaRPr>
          </a:p>
        </p:txBody>
      </p:sp>
      <p:sp>
        <p:nvSpPr>
          <p:cNvPr id="193" name="Google Shape;193;p15"/>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diameter of the same dominant ovarian follicle was measured before and after the playback period. A follicle is the developing egg and its surrounding tissue; the initial measured diameters were 4–5 millimeters across treatment conditions.</a:t>
            </a:r>
            <a:endParaRPr sz="1800">
              <a:solidFill>
                <a:schemeClr val="dk1"/>
              </a:solidFill>
              <a:latin typeface="Calibri"/>
              <a:ea typeface="Calibri"/>
              <a:cs typeface="Calibri"/>
              <a:sym typeface="Calibri"/>
            </a:endParaRPr>
          </a:p>
        </p:txBody>
      </p:sp>
      <p:sp>
        <p:nvSpPr>
          <p:cNvPr id="194" name="Google Shape;194;p15"/>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Own-call playback produced substantially more growth than male-call playback. This rescue supports an auditory contribution from the female’s own display, but does not identify the intervening neural circuit or prove that motor and bodily feedback make no contribution during natural cooing.</a:t>
            </a:r>
            <a:endParaRPr sz="1800">
              <a:solidFill>
                <a:schemeClr val="dk1"/>
              </a:solidFill>
              <a:latin typeface="Calibri"/>
              <a:ea typeface="Calibri"/>
              <a:cs typeface="Calibri"/>
              <a:sym typeface="Calibri"/>
            </a:endParaRPr>
          </a:p>
        </p:txBody>
      </p:sp>
      <p:pic>
        <p:nvPicPr>
          <p:cNvPr id="195" name="Google Shape;195;p15"/>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196" name="Google Shape;196;p15"/>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197" name="Google Shape;197;p1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198" name="Google Shape;198;p1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1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Own-call playback restores follicular growth</a:t>
            </a:r>
            <a:endParaRPr sz="1800">
              <a:solidFill>
                <a:schemeClr val="dk1"/>
              </a:solidFill>
              <a:latin typeface="Calibri"/>
              <a:ea typeface="Calibri"/>
              <a:cs typeface="Calibri"/>
              <a:sym typeface="Calibri"/>
            </a:endParaRPr>
          </a:p>
        </p:txBody>
      </p:sp>
      <p:sp>
        <p:nvSpPr>
          <p:cNvPr id="204" name="Google Shape;204;p16"/>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Cheng reported a mean follicular diameter increase of 6.8 millimeters in muted females hearing their own coos. The corresponding increase was 2.1 millimeters with male coos and 1.7 millimeters without playback; sham females increased by 6.5 millimeters.</a:t>
            </a:r>
            <a:endParaRPr sz="1800">
              <a:solidFill>
                <a:schemeClr val="dk1"/>
              </a:solidFill>
              <a:latin typeface="Calibri"/>
              <a:ea typeface="Calibri"/>
              <a:cs typeface="Calibri"/>
              <a:sym typeface="Calibri"/>
            </a:endParaRPr>
          </a:p>
        </p:txBody>
      </p:sp>
      <p:sp>
        <p:nvSpPr>
          <p:cNvPr id="205" name="Google Shape;205;p16"/>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These are reported changes in diameter, rather than final follicular diameters or rates per day. Before and after measurements of the same dominant follicle connected the acoustic treatment to a physical reproductive response during the 5-day pairing procedure.</a:t>
            </a:r>
            <a:endParaRPr sz="1800">
              <a:solidFill>
                <a:schemeClr val="dk1"/>
              </a:solidFill>
              <a:latin typeface="Calibri"/>
              <a:ea typeface="Calibri"/>
              <a:cs typeface="Calibri"/>
              <a:sym typeface="Calibri"/>
            </a:endParaRPr>
          </a:p>
        </p:txBody>
      </p:sp>
      <p:sp>
        <p:nvSpPr>
          <p:cNvPr id="206" name="Google Shape;206;p16"/>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own-call condition approached the sham response despite continued muting. Playback therefore supplied a physiologically effective component of the missing display, although the experiment did not measure the complete pituitary hormone sequence connecting sound to follicular growth.</a:t>
            </a:r>
            <a:endParaRPr sz="1800">
              <a:solidFill>
                <a:schemeClr val="dk1"/>
              </a:solidFill>
              <a:latin typeface="Calibri"/>
              <a:ea typeface="Calibri"/>
              <a:cs typeface="Calibri"/>
              <a:sym typeface="Calibri"/>
            </a:endParaRPr>
          </a:p>
        </p:txBody>
      </p:sp>
      <p:pic>
        <p:nvPicPr>
          <p:cNvPr id="207" name="Google Shape;207;p16"/>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208" name="Google Shape;208;p16"/>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09" name="Google Shape;209;p1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10" name="Google Shape;210;p1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1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Other female calls can also stimulate development</a:t>
            </a:r>
            <a:endParaRPr sz="1800">
              <a:solidFill>
                <a:schemeClr val="dk1"/>
              </a:solidFill>
              <a:latin typeface="Calibri"/>
              <a:ea typeface="Calibri"/>
              <a:cs typeface="Calibri"/>
              <a:sym typeface="Calibri"/>
            </a:endParaRPr>
          </a:p>
        </p:txBody>
      </p:sp>
      <p:sp>
        <p:nvSpPr>
          <p:cNvPr id="216" name="Google Shape;216;p17"/>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Muted females hearing another female’s nest-coos showed a mean follicular diameter increase of 4.7 millimeters in Cheng’s experiment. Own-call playback produced 6.8 millimeters, whereas male-call playback produced only 2.1 millimeters under the same general pairing procedure.</a:t>
            </a:r>
            <a:endParaRPr sz="1800">
              <a:solidFill>
                <a:schemeClr val="dk1"/>
              </a:solidFill>
              <a:latin typeface="Calibri"/>
              <a:ea typeface="Calibri"/>
              <a:cs typeface="Calibri"/>
              <a:sym typeface="Calibri"/>
            </a:endParaRPr>
          </a:p>
        </p:txBody>
      </p:sp>
      <p:sp>
        <p:nvSpPr>
          <p:cNvPr id="217" name="Google Shape;217;p17"/>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result prevents treating the effect as an all-or-none requirement for recognizing one’s unique voice. Female call characteristics can carry an effective stimulus even when the recording comes from a different individual.</a:t>
            </a:r>
            <a:endParaRPr sz="1800">
              <a:solidFill>
                <a:schemeClr val="dk1"/>
              </a:solidFill>
              <a:latin typeface="Calibri"/>
              <a:ea typeface="Calibri"/>
              <a:cs typeface="Calibri"/>
              <a:sym typeface="Calibri"/>
            </a:endParaRPr>
          </a:p>
        </p:txBody>
      </p:sp>
      <p:sp>
        <p:nvSpPr>
          <p:cNvPr id="218" name="Google Shape;218;p17"/>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paper considered acoustic differences between female and male nest-coos, but did not isolate each acoustic feature with synthetic stimuli. The original sonograms document the supplied call classes; they do not establish the precise auditory feature or receptor responsible for the reproductive response.</a:t>
            </a:r>
            <a:endParaRPr sz="1800">
              <a:solidFill>
                <a:schemeClr val="dk1"/>
              </a:solidFill>
              <a:latin typeface="Calibri"/>
              <a:ea typeface="Calibri"/>
              <a:cs typeface="Calibri"/>
              <a:sym typeface="Calibri"/>
            </a:endParaRPr>
          </a:p>
        </p:txBody>
      </p:sp>
      <p:pic>
        <p:nvPicPr>
          <p:cNvPr id="219" name="Google Shape;219;p17"/>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220" name="Google Shape;220;p17"/>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21" name="Google Shape;221;p1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22" name="Google Shape;222;p1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Auditory rescue does not exclude bodily feedback</a:t>
            </a:r>
            <a:endParaRPr sz="1800">
              <a:solidFill>
                <a:schemeClr val="dk1"/>
              </a:solidFill>
              <a:latin typeface="Calibri"/>
              <a:ea typeface="Calibri"/>
              <a:cs typeface="Calibri"/>
              <a:sym typeface="Calibri"/>
            </a:endParaRPr>
          </a:p>
        </p:txBody>
      </p:sp>
      <p:sp>
        <p:nvSpPr>
          <p:cNvPr id="228" name="Google Shape;228;p18"/>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Cheng distinguished hearing a nest-coo from </a:t>
            </a:r>
            <a:r>
              <a:rPr b="1" i="0" lang="en-US" sz="1500">
                <a:solidFill>
                  <a:srgbClr val="2D3C46"/>
                </a:solidFill>
                <a:latin typeface="Arial"/>
                <a:ea typeface="Arial"/>
                <a:cs typeface="Arial"/>
                <a:sym typeface="Arial"/>
              </a:rPr>
              <a:t>proprioceptive feedback</a:t>
            </a:r>
            <a:r>
              <a:rPr b="0" i="0" lang="en-US" sz="1500">
                <a:solidFill>
                  <a:srgbClr val="000000"/>
                </a:solidFill>
                <a:latin typeface="Arial"/>
                <a:ea typeface="Arial"/>
                <a:cs typeface="Arial"/>
                <a:sym typeface="Arial"/>
              </a:rPr>
              <a:t>, sensory information associated with performing the movements of a vocal display. Playback to muted females restored an auditory stimulus while leaving normal sound production impaired.</a:t>
            </a:r>
            <a:endParaRPr sz="1800">
              <a:solidFill>
                <a:schemeClr val="dk1"/>
              </a:solidFill>
              <a:latin typeface="Calibri"/>
              <a:ea typeface="Calibri"/>
              <a:cs typeface="Calibri"/>
              <a:sym typeface="Calibri"/>
            </a:endParaRPr>
          </a:p>
        </p:txBody>
      </p:sp>
      <p:sp>
        <p:nvSpPr>
          <p:cNvPr id="229" name="Google Shape;229;p18"/>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strong own-call response supports an acoustic route, but playback can also provoke attempted vocal movements and associated bodily signals. Consequently, auditory rescue is not equivalent to holding every motor and sensory consequence of calling constant.</a:t>
            </a:r>
            <a:endParaRPr sz="1800">
              <a:solidFill>
                <a:schemeClr val="dk1"/>
              </a:solidFill>
              <a:latin typeface="Calibri"/>
              <a:ea typeface="Calibri"/>
              <a:cs typeface="Calibri"/>
              <a:sym typeface="Calibri"/>
            </a:endParaRPr>
          </a:p>
        </p:txBody>
      </p:sp>
      <p:sp>
        <p:nvSpPr>
          <p:cNvPr id="230" name="Google Shape;230;p18"/>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normal reproductive sequence can contain reciprocal links: courtship promotes female behavior, and that behavior supplies further stimulation to the female herself. The measured endpoint was follicular growth; the experiment did not directly record the neurons, synapses or hormone release events mediating each link.</a:t>
            </a:r>
            <a:endParaRPr sz="1800">
              <a:solidFill>
                <a:schemeClr val="dk1"/>
              </a:solidFill>
              <a:latin typeface="Calibri"/>
              <a:ea typeface="Calibri"/>
              <a:cs typeface="Calibri"/>
              <a:sym typeface="Calibri"/>
            </a:endParaRPr>
          </a:p>
        </p:txBody>
      </p:sp>
      <p:pic>
        <p:nvPicPr>
          <p:cNvPr id="231" name="Google Shape;231;p18"/>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232" name="Google Shape;232;p18"/>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33" name="Google Shape;233;p1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34" name="Google Shape;234;p1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1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Photoperiod changes responsiveness to progesterone</a:t>
            </a:r>
            <a:endParaRPr sz="1800">
              <a:solidFill>
                <a:schemeClr val="dk1"/>
              </a:solidFill>
              <a:latin typeface="Calibri"/>
              <a:ea typeface="Calibri"/>
              <a:cs typeface="Calibri"/>
              <a:sym typeface="Calibri"/>
            </a:endParaRPr>
          </a:p>
        </p:txBody>
      </p:sp>
      <p:sp>
        <p:nvSpPr>
          <p:cNvPr id="240" name="Google Shape;240;p19"/>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Photoperiod</a:t>
            </a:r>
            <a:r>
              <a:rPr b="0" i="0" lang="en-US" sz="1500">
                <a:solidFill>
                  <a:srgbClr val="000000"/>
                </a:solidFill>
                <a:latin typeface="Arial"/>
                <a:ea typeface="Arial"/>
                <a:cs typeface="Arial"/>
                <a:sym typeface="Arial"/>
              </a:rPr>
              <a:t> is the daily duration of light exposure. Liley housed intact female ring doves under 8-hour or 16-hour light periods, administered saline or steroid treatments for 15 days, and introduced reproductively active males after 7 days of treatment.</a:t>
            </a:r>
            <a:endParaRPr sz="1800">
              <a:solidFill>
                <a:schemeClr val="dk1"/>
              </a:solidFill>
              <a:latin typeface="Calibri"/>
              <a:ea typeface="Calibri"/>
              <a:cs typeface="Calibri"/>
              <a:sym typeface="Calibri"/>
            </a:endParaRPr>
          </a:p>
        </p:txBody>
      </p:sp>
      <p:sp>
        <p:nvSpPr>
          <p:cNvPr id="241" name="Google Shape;241;p19"/>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Females interacted with males for 4 hours daily across 9 observation days. Progesterone-treated females showed little soliciting under short days but increased activity rapidly under long days, despite receiving the same class of administered hormone.</a:t>
            </a:r>
            <a:endParaRPr sz="1800">
              <a:solidFill>
                <a:schemeClr val="dk1"/>
              </a:solidFill>
              <a:latin typeface="Calibri"/>
              <a:ea typeface="Calibri"/>
              <a:cs typeface="Calibri"/>
              <a:sym typeface="Calibri"/>
            </a:endParaRPr>
          </a:p>
        </p:txBody>
      </p:sp>
      <p:sp>
        <p:nvSpPr>
          <p:cNvPr id="242" name="Google Shape;242;p19"/>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Control females did not differ clearly in egg laying, courtship or nest building between these light schedules. The photoperiod effect therefore depended on treatment and behavioral context, rather than establishing a universal enhancement of all reproductive behavior whenever daylight is extended.</a:t>
            </a:r>
            <a:endParaRPr sz="1800">
              <a:solidFill>
                <a:schemeClr val="dk1"/>
              </a:solidFill>
              <a:latin typeface="Calibri"/>
              <a:ea typeface="Calibri"/>
              <a:cs typeface="Calibri"/>
              <a:sym typeface="Calibri"/>
            </a:endParaRPr>
          </a:p>
        </p:txBody>
      </p:sp>
      <p:pic>
        <p:nvPicPr>
          <p:cNvPr id="243" name="Google Shape;243;p19"/>
          <p:cNvPicPr preferRelativeResize="0"/>
          <p:nvPr/>
        </p:nvPicPr>
        <p:blipFill rotWithShape="1">
          <a:blip r:embed="rId3">
            <a:alphaModFix/>
          </a:blip>
          <a:srcRect b="0" l="0" r="0" t="0"/>
          <a:stretch/>
        </p:blipFill>
        <p:spPr>
          <a:xfrm>
            <a:off x="6488972" y="1190625"/>
            <a:ext cx="3262181" cy="4181475"/>
          </a:xfrm>
          <a:prstGeom prst="rect">
            <a:avLst/>
          </a:prstGeom>
          <a:noFill/>
          <a:ln>
            <a:noFill/>
          </a:ln>
        </p:spPr>
      </p:pic>
      <p:sp>
        <p:nvSpPr>
          <p:cNvPr id="244" name="Google Shape;244;p19"/>
          <p:cNvSpPr/>
          <p:nvPr/>
        </p:nvSpPr>
        <p:spPr>
          <a:xfrm>
            <a:off x="6429375" y="546735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1. Female soliciting under an 8-hour photoperiod.</a:t>
            </a:r>
            <a:endParaRPr sz="1800">
              <a:solidFill>
                <a:schemeClr val="dk1"/>
              </a:solidFill>
              <a:latin typeface="Calibri"/>
              <a:ea typeface="Calibri"/>
              <a:cs typeface="Calibri"/>
              <a:sym typeface="Calibri"/>
            </a:endParaRPr>
          </a:p>
        </p:txBody>
      </p:sp>
      <p:pic>
        <p:nvPicPr>
          <p:cNvPr id="245" name="Google Shape;245;p19"/>
          <p:cNvPicPr preferRelativeResize="0"/>
          <p:nvPr/>
        </p:nvPicPr>
        <p:blipFill rotWithShape="1">
          <a:blip r:embed="rId4">
            <a:alphaModFix/>
          </a:blip>
          <a:srcRect b="0" l="0" r="0" t="0"/>
          <a:stretch/>
        </p:blipFill>
        <p:spPr>
          <a:xfrm>
            <a:off x="10004095" y="2143125"/>
            <a:ext cx="1565934" cy="2076450"/>
          </a:xfrm>
          <a:prstGeom prst="rect">
            <a:avLst/>
          </a:prstGeom>
          <a:noFill/>
          <a:ln>
            <a:noFill/>
          </a:ln>
        </p:spPr>
      </p:pic>
      <p:sp>
        <p:nvSpPr>
          <p:cNvPr id="246" name="Google Shape;246;p19"/>
          <p:cNvSpPr/>
          <p:nvPr/>
        </p:nvSpPr>
        <p:spPr>
          <a:xfrm>
            <a:off x="10001250" y="431482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2. Female soliciting under a 16-hour photoperiod.</a:t>
            </a:r>
            <a:endParaRPr sz="1800">
              <a:solidFill>
                <a:schemeClr val="dk1"/>
              </a:solidFill>
              <a:latin typeface="Calibri"/>
              <a:ea typeface="Calibri"/>
              <a:cs typeface="Calibri"/>
              <a:sym typeface="Calibri"/>
            </a:endParaRPr>
          </a:p>
        </p:txBody>
      </p:sp>
      <p:sp>
        <p:nvSpPr>
          <p:cNvPr id="247" name="Google Shape;247;p1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48" name="Google Shape;248;p1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2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Long days facilitate hormone-dependent nest activity</a:t>
            </a:r>
            <a:endParaRPr sz="1800">
              <a:solidFill>
                <a:schemeClr val="dk1"/>
              </a:solidFill>
              <a:latin typeface="Calibri"/>
              <a:ea typeface="Calibri"/>
              <a:cs typeface="Calibri"/>
              <a:sym typeface="Calibri"/>
            </a:endParaRPr>
          </a:p>
        </p:txBody>
      </p:sp>
      <p:sp>
        <p:nvSpPr>
          <p:cNvPr id="254" name="Google Shape;254;p20"/>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Liley measured nest-material accumulation as well as female soliciting. Under 16-hour days, progesterone-treated pairs built more actively than the corresponding 8-hour condition; estrogen-containing treatments also supported substantial nest-oriented activity.</a:t>
            </a:r>
            <a:endParaRPr sz="1800">
              <a:solidFill>
                <a:schemeClr val="dk1"/>
              </a:solidFill>
              <a:latin typeface="Calibri"/>
              <a:ea typeface="Calibri"/>
              <a:cs typeface="Calibri"/>
              <a:sym typeface="Calibri"/>
            </a:endParaRPr>
          </a:p>
        </p:txBody>
      </p:sp>
      <p:sp>
        <p:nvSpPr>
          <p:cNvPr id="255" name="Google Shape;255;p20"/>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Nest material was counted across the 9-day period after male introduction. Because both partners contribute to construction, the accumulated material is a pair-level output, whereas duration of female soliciting identifies a particular animal’s behavior.</a:t>
            </a:r>
            <a:endParaRPr sz="1800">
              <a:solidFill>
                <a:schemeClr val="dk1"/>
              </a:solidFill>
              <a:latin typeface="Calibri"/>
              <a:ea typeface="Calibri"/>
              <a:cs typeface="Calibri"/>
              <a:sym typeface="Calibri"/>
            </a:endParaRPr>
          </a:p>
        </p:txBody>
      </p:sp>
      <p:sp>
        <p:nvSpPr>
          <p:cNvPr id="256" name="Google Shape;256;p20"/>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Long-day treatment modified responsiveness to the steroid conditions, but did not isolate a single light-sensitive neural pathway. The observed pair-level difference should not be interpreted as a direct measurement of one female motor circuit or as proof that a particular receptor changed abundance.</a:t>
            </a:r>
            <a:endParaRPr sz="1800">
              <a:solidFill>
                <a:schemeClr val="dk1"/>
              </a:solidFill>
              <a:latin typeface="Calibri"/>
              <a:ea typeface="Calibri"/>
              <a:cs typeface="Calibri"/>
              <a:sym typeface="Calibri"/>
            </a:endParaRPr>
          </a:p>
        </p:txBody>
      </p:sp>
      <p:pic>
        <p:nvPicPr>
          <p:cNvPr id="257" name="Google Shape;257;p20"/>
          <p:cNvPicPr preferRelativeResize="0"/>
          <p:nvPr/>
        </p:nvPicPr>
        <p:blipFill rotWithShape="1">
          <a:blip r:embed="rId3">
            <a:alphaModFix/>
          </a:blip>
          <a:srcRect b="0" l="0" r="0" t="0"/>
          <a:stretch/>
        </p:blipFill>
        <p:spPr>
          <a:xfrm>
            <a:off x="6435611" y="1190625"/>
            <a:ext cx="3368903" cy="2009775"/>
          </a:xfrm>
          <a:prstGeom prst="rect">
            <a:avLst/>
          </a:prstGeom>
          <a:noFill/>
          <a:ln>
            <a:noFill/>
          </a:ln>
        </p:spPr>
      </p:pic>
      <p:sp>
        <p:nvSpPr>
          <p:cNvPr id="258" name="Google Shape;258;p20"/>
          <p:cNvSpPr/>
          <p:nvPr/>
        </p:nvSpPr>
        <p:spPr>
          <a:xfrm>
            <a:off x="6429375" y="329565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3. Nest-material accumulation under short days.</a:t>
            </a:r>
            <a:endParaRPr sz="1800">
              <a:solidFill>
                <a:schemeClr val="dk1"/>
              </a:solidFill>
              <a:latin typeface="Calibri"/>
              <a:ea typeface="Calibri"/>
              <a:cs typeface="Calibri"/>
              <a:sym typeface="Calibri"/>
            </a:endParaRPr>
          </a:p>
        </p:txBody>
      </p:sp>
      <p:pic>
        <p:nvPicPr>
          <p:cNvPr id="259" name="Google Shape;259;p20"/>
          <p:cNvPicPr preferRelativeResize="0"/>
          <p:nvPr/>
        </p:nvPicPr>
        <p:blipFill rotWithShape="1">
          <a:blip r:embed="rId4">
            <a:alphaModFix/>
          </a:blip>
          <a:srcRect b="0" l="0" r="0" t="0"/>
          <a:stretch/>
        </p:blipFill>
        <p:spPr>
          <a:xfrm>
            <a:off x="10004523" y="2143125"/>
            <a:ext cx="1565079" cy="1114425"/>
          </a:xfrm>
          <a:prstGeom prst="rect">
            <a:avLst/>
          </a:prstGeom>
          <a:noFill/>
          <a:ln>
            <a:noFill/>
          </a:ln>
        </p:spPr>
      </p:pic>
      <p:sp>
        <p:nvSpPr>
          <p:cNvPr id="260" name="Google Shape;260;p20"/>
          <p:cNvSpPr/>
          <p:nvPr/>
        </p:nvSpPr>
        <p:spPr>
          <a:xfrm>
            <a:off x="10001250" y="3352800"/>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4. Nest-material accumulation under long days.</a:t>
            </a:r>
            <a:endParaRPr sz="1800">
              <a:solidFill>
                <a:schemeClr val="dk1"/>
              </a:solidFill>
              <a:latin typeface="Calibri"/>
              <a:ea typeface="Calibri"/>
              <a:cs typeface="Calibri"/>
              <a:sym typeface="Calibri"/>
            </a:endParaRPr>
          </a:p>
        </p:txBody>
      </p:sp>
      <p:sp>
        <p:nvSpPr>
          <p:cNvPr id="261" name="Google Shape;261;p2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62" name="Google Shape;262;p2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2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Steroid treatment does not recreate every reproductive act</a:t>
            </a:r>
            <a:endParaRPr sz="1800">
              <a:solidFill>
                <a:schemeClr val="dk1"/>
              </a:solidFill>
              <a:latin typeface="Calibri"/>
              <a:ea typeface="Calibri"/>
              <a:cs typeface="Calibri"/>
              <a:sym typeface="Calibri"/>
            </a:endParaRPr>
          </a:p>
        </p:txBody>
      </p:sp>
      <p:sp>
        <p:nvSpPr>
          <p:cNvPr id="268" name="Google Shape;268;p21"/>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Liley’s estrogen and combined estrogen–progesterone treatments supported female soliciting and nest-building activity, with greater nest-oriented activity generally occurring under long days. Yet begging and sexual crouching associated with copulation remained infrequent in the hormone-treated birds.</a:t>
            </a:r>
            <a:endParaRPr sz="1800">
              <a:solidFill>
                <a:schemeClr val="dk1"/>
              </a:solidFill>
              <a:latin typeface="Calibri"/>
              <a:ea typeface="Calibri"/>
              <a:cs typeface="Calibri"/>
              <a:sym typeface="Calibri"/>
            </a:endParaRPr>
          </a:p>
        </p:txBody>
      </p:sp>
      <p:sp>
        <p:nvSpPr>
          <p:cNvPr id="269" name="Google Shape;269;p21"/>
          <p:cNvSpPr/>
          <p:nvPr/>
        </p:nvSpPr>
        <p:spPr>
          <a:xfrm>
            <a:off x="571500" y="288607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Treatment lasted 15 days and was combined with daily access to an active male. Different reproductive actions were recorded separately, rather than inferred from a single global judgment that a bird was in breeding condition.</a:t>
            </a:r>
            <a:endParaRPr sz="1800">
              <a:solidFill>
                <a:schemeClr val="dk1"/>
              </a:solidFill>
              <a:latin typeface="Calibri"/>
              <a:ea typeface="Calibri"/>
              <a:cs typeface="Calibri"/>
              <a:sym typeface="Calibri"/>
            </a:endParaRPr>
          </a:p>
        </p:txBody>
      </p:sp>
      <p:sp>
        <p:nvSpPr>
          <p:cNvPr id="270" name="Google Shape;270;p21"/>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Hormonal facilitation is therefore behavior-specific. A treatment can promote nest-directed activity without restoring the complete sequence of mating and egg laying. These findings concern intact females and should not be assumed to match the replacement requirements of ovariectomized females exactly.</a:t>
            </a:r>
            <a:endParaRPr sz="1800">
              <a:solidFill>
                <a:schemeClr val="dk1"/>
              </a:solidFill>
              <a:latin typeface="Calibri"/>
              <a:ea typeface="Calibri"/>
              <a:cs typeface="Calibri"/>
              <a:sym typeface="Calibri"/>
            </a:endParaRPr>
          </a:p>
        </p:txBody>
      </p:sp>
      <p:pic>
        <p:nvPicPr>
          <p:cNvPr id="271" name="Google Shape;271;p21"/>
          <p:cNvPicPr preferRelativeResize="0"/>
          <p:nvPr/>
        </p:nvPicPr>
        <p:blipFill rotWithShape="1">
          <a:blip r:embed="rId3">
            <a:alphaModFix/>
          </a:blip>
          <a:srcRect b="0" l="0" r="0" t="0"/>
          <a:stretch/>
        </p:blipFill>
        <p:spPr>
          <a:xfrm>
            <a:off x="7305675" y="1196337"/>
            <a:ext cx="3295650" cy="4370076"/>
          </a:xfrm>
          <a:prstGeom prst="rect">
            <a:avLst/>
          </a:prstGeom>
          <a:noFill/>
          <a:ln>
            <a:noFill/>
          </a:ln>
        </p:spPr>
      </p:pic>
      <p:sp>
        <p:nvSpPr>
          <p:cNvPr id="272" name="Google Shape;272;p21"/>
          <p:cNvSpPr/>
          <p:nvPr/>
        </p:nvSpPr>
        <p:spPr>
          <a:xfrm>
            <a:off x="6477000" y="566737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2. Female soliciting under a 16-hour photoperiod.</a:t>
            </a:r>
            <a:endParaRPr sz="1800">
              <a:solidFill>
                <a:schemeClr val="dk1"/>
              </a:solidFill>
              <a:latin typeface="Calibri"/>
              <a:ea typeface="Calibri"/>
              <a:cs typeface="Calibri"/>
              <a:sym typeface="Calibri"/>
            </a:endParaRPr>
          </a:p>
        </p:txBody>
      </p:sp>
      <p:sp>
        <p:nvSpPr>
          <p:cNvPr id="273" name="Google Shape;273;p2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74" name="Google Shape;274;p2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Canary song nuclei differ between spring and autumn</a:t>
            </a:r>
            <a:endParaRPr sz="1800">
              <a:solidFill>
                <a:schemeClr val="dk1"/>
              </a:solidFill>
              <a:latin typeface="Calibri"/>
              <a:ea typeface="Calibri"/>
              <a:cs typeface="Calibri"/>
              <a:sym typeface="Calibri"/>
            </a:endParaRPr>
          </a:p>
        </p:txBody>
      </p:sp>
      <p:sp>
        <p:nvSpPr>
          <p:cNvPr id="280" name="Google Shape;280;p22"/>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HVC</a:t>
            </a:r>
            <a:r>
              <a:rPr b="0" i="0" lang="en-US" sz="1500">
                <a:solidFill>
                  <a:srgbClr val="000000"/>
                </a:solidFill>
                <a:latin typeface="Arial"/>
                <a:ea typeface="Arial"/>
                <a:cs typeface="Arial"/>
                <a:sym typeface="Arial"/>
              </a:rPr>
              <a:t> is a proper name for a song-control nucleus; a nucleus is an anatomically defined collection of neurons. </a:t>
            </a:r>
            <a:r>
              <a:rPr b="1" i="0" lang="en-US" sz="1500">
                <a:solidFill>
                  <a:srgbClr val="2D3C46"/>
                </a:solidFill>
                <a:latin typeface="Arial"/>
                <a:ea typeface="Arial"/>
                <a:cs typeface="Arial"/>
                <a:sym typeface="Arial"/>
              </a:rPr>
              <a:t>RA</a:t>
            </a:r>
            <a:r>
              <a:rPr b="0" i="0" lang="en-US" sz="1500">
                <a:solidFill>
                  <a:srgbClr val="000000"/>
                </a:solidFill>
                <a:latin typeface="Arial"/>
                <a:ea typeface="Arial"/>
                <a:cs typeface="Arial"/>
                <a:sym typeface="Arial"/>
              </a:rPr>
              <a:t>, the robust nucleus of the arcopallium, receives motor-pathway input from HVC and projects toward the brainstem circuitry controlling vocal production.</a:t>
            </a:r>
            <a:endParaRPr sz="1800">
              <a:solidFill>
                <a:schemeClr val="dk1"/>
              </a:solidFill>
              <a:latin typeface="Calibri"/>
              <a:ea typeface="Calibri"/>
              <a:cs typeface="Calibri"/>
              <a:sym typeface="Calibri"/>
            </a:endParaRPr>
          </a:p>
        </p:txBody>
      </p:sp>
      <p:sp>
        <p:nvSpPr>
          <p:cNvPr id="281" name="Google Shape;281;p22"/>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Nottebohm compared adult male canaries in spring and autumn. HVC was approximately 99 percent larger in spring, and RA was roughly three-quarters larger, establishing substantial seasonal differences in adult brain anatomy.</a:t>
            </a:r>
            <a:endParaRPr sz="1800">
              <a:solidFill>
                <a:schemeClr val="dk1"/>
              </a:solidFill>
              <a:latin typeface="Calibri"/>
              <a:ea typeface="Calibri"/>
              <a:cs typeface="Calibri"/>
              <a:sym typeface="Calibri"/>
            </a:endParaRPr>
          </a:p>
        </p:txBody>
      </p:sp>
      <p:sp>
        <p:nvSpPr>
          <p:cNvPr id="282" name="Google Shape;282;p22"/>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pathway drawing is the original published sparrow anatomy from Tramontin and colleagues, not a canary reconstruction. Nottebohm’s seasonal groups were different animals examined after death; the comparison supports seasonal plasticity but is not repeated imaging of one animal’s annual cycle.</a:t>
            </a:r>
            <a:endParaRPr sz="1800">
              <a:solidFill>
                <a:schemeClr val="dk1"/>
              </a:solidFill>
              <a:latin typeface="Calibri"/>
              <a:ea typeface="Calibri"/>
              <a:cs typeface="Calibri"/>
              <a:sym typeface="Calibri"/>
            </a:endParaRPr>
          </a:p>
        </p:txBody>
      </p:sp>
      <p:pic>
        <p:nvPicPr>
          <p:cNvPr id="283" name="Google Shape;283;p22"/>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284" name="Google Shape;284;p22"/>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285" name="Google Shape;285;p2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286" name="Google Shape;286;p2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Seasonal androgens covary with song-system anatomy</a:t>
            </a:r>
            <a:endParaRPr sz="1800">
              <a:solidFill>
                <a:schemeClr val="dk1"/>
              </a:solidFill>
              <a:latin typeface="Calibri"/>
              <a:ea typeface="Calibri"/>
              <a:cs typeface="Calibri"/>
              <a:sym typeface="Calibri"/>
            </a:endParaRPr>
          </a:p>
        </p:txBody>
      </p:sp>
      <p:sp>
        <p:nvSpPr>
          <p:cNvPr id="292" name="Google Shape;292;p2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Androgens</a:t>
            </a:r>
            <a:r>
              <a:rPr b="0" i="0" lang="en-US" sz="1500">
                <a:solidFill>
                  <a:srgbClr val="000000"/>
                </a:solidFill>
                <a:latin typeface="Arial"/>
                <a:ea typeface="Arial"/>
                <a:cs typeface="Arial"/>
                <a:sym typeface="Arial"/>
              </a:rPr>
              <a:t> are steroid hormones that include testosterone and influence reproductive physiology. Nottebohm reported spring serum androgen concentrations of 1.65 nanograms per milliliter, compared with 0.13 nanograms per milliliter in the autumn canaries.</a:t>
            </a:r>
            <a:endParaRPr sz="1800">
              <a:solidFill>
                <a:schemeClr val="dk1"/>
              </a:solidFill>
              <a:latin typeface="Calibri"/>
              <a:ea typeface="Calibri"/>
              <a:cs typeface="Calibri"/>
              <a:sym typeface="Calibri"/>
            </a:endParaRPr>
          </a:p>
        </p:txBody>
      </p:sp>
      <p:sp>
        <p:nvSpPr>
          <p:cNvPr id="293" name="Google Shape;293;p23"/>
          <p:cNvSpPr/>
          <p:nvPr/>
        </p:nvSpPr>
        <p:spPr>
          <a:xfrm>
            <a:off x="571500" y="26289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larger spring HVC and RA coincided with the higher circulating hormone concentrations. Comparisons normalized to a reference brain region also retained substantial seasonal differences, reducing the likelihood that uniform enlargement of the entire brain explains the result.</a:t>
            </a:r>
            <a:endParaRPr sz="1800">
              <a:solidFill>
                <a:schemeClr val="dk1"/>
              </a:solidFill>
              <a:latin typeface="Calibri"/>
              <a:ea typeface="Calibri"/>
              <a:cs typeface="Calibri"/>
              <a:sym typeface="Calibri"/>
            </a:endParaRPr>
          </a:p>
        </p:txBody>
      </p:sp>
      <p:sp>
        <p:nvSpPr>
          <p:cNvPr id="294" name="Google Shape;294;p23"/>
          <p:cNvSpPr/>
          <p:nvPr/>
        </p:nvSpPr>
        <p:spPr>
          <a:xfrm>
            <a:off x="571500" y="432435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Season and hormone level were not independently assigned in this comparison. Their association cannot alone establish that testosterone caused the anatomical change, and a larger nucleus cannot reveal whether neurons were added, cells enlarged or connections remodeled without additional cellular measurements.</a:t>
            </a:r>
            <a:endParaRPr sz="1800">
              <a:solidFill>
                <a:schemeClr val="dk1"/>
              </a:solidFill>
              <a:latin typeface="Calibri"/>
              <a:ea typeface="Calibri"/>
              <a:cs typeface="Calibri"/>
              <a:sym typeface="Calibri"/>
            </a:endParaRPr>
          </a:p>
        </p:txBody>
      </p:sp>
      <p:pic>
        <p:nvPicPr>
          <p:cNvPr id="295" name="Google Shape;295;p23"/>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296" name="Google Shape;296;p23"/>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297" name="Google Shape;297;p2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298" name="Google Shape;298;p2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Seasonal volume changes require cellular explanation</a:t>
            </a:r>
            <a:endParaRPr sz="1800">
              <a:solidFill>
                <a:schemeClr val="dk1"/>
              </a:solidFill>
              <a:latin typeface="Calibri"/>
              <a:ea typeface="Calibri"/>
              <a:cs typeface="Calibri"/>
              <a:sym typeface="Calibri"/>
            </a:endParaRPr>
          </a:p>
        </p:txBody>
      </p:sp>
      <p:sp>
        <p:nvSpPr>
          <p:cNvPr id="304" name="Google Shape;304;p24"/>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Neural plasticity</a:t>
            </a:r>
            <a:r>
              <a:rPr b="0" i="0" lang="en-US" sz="1500">
                <a:solidFill>
                  <a:srgbClr val="000000"/>
                </a:solidFill>
                <a:latin typeface="Arial"/>
                <a:ea typeface="Arial"/>
                <a:cs typeface="Arial"/>
                <a:sym typeface="Arial"/>
              </a:rPr>
              <a:t> is a change in nervous-system structure or function with state or experience. Nottebohm’s canary measurements established seasonal variation in song-nucleus volume, but volume combines contributions from neurons, their processes and other tissue components.</a:t>
            </a:r>
            <a:endParaRPr sz="1800">
              <a:solidFill>
                <a:schemeClr val="dk1"/>
              </a:solidFill>
              <a:latin typeface="Calibri"/>
              <a:ea typeface="Calibri"/>
              <a:cs typeface="Calibri"/>
              <a:sym typeface="Calibri"/>
            </a:endParaRPr>
          </a:p>
        </p:txBody>
      </p:sp>
      <p:sp>
        <p:nvSpPr>
          <p:cNvPr id="305" name="Google Shape;305;p24"/>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seasonal increase therefore cannot automatically be called neuron birth or stronger synaptic transmission. Histological measurements must distinguish cell size, cell density and cell number, while recordings or behavioral assays address consequences for vocal output.</a:t>
            </a:r>
            <a:endParaRPr sz="1800">
              <a:solidFill>
                <a:schemeClr val="dk1"/>
              </a:solidFill>
              <a:latin typeface="Calibri"/>
              <a:ea typeface="Calibri"/>
              <a:cs typeface="Calibri"/>
              <a:sym typeface="Calibri"/>
            </a:endParaRPr>
          </a:p>
        </p:txBody>
      </p:sp>
      <p:sp>
        <p:nvSpPr>
          <p:cNvPr id="306" name="Google Shape;306;p24"/>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Tramontin and colleagues later measured these attributes in white-crowned sparrows exposed to controlled breeding-like conditions. Their cellular results provide an experimental comparison across species; they do not retrospectively identify every process responsible for the original canary differences.</a:t>
            </a:r>
            <a:endParaRPr sz="1800">
              <a:solidFill>
                <a:schemeClr val="dk1"/>
              </a:solidFill>
              <a:latin typeface="Calibri"/>
              <a:ea typeface="Calibri"/>
              <a:cs typeface="Calibri"/>
              <a:sym typeface="Calibri"/>
            </a:endParaRPr>
          </a:p>
        </p:txBody>
      </p:sp>
      <p:pic>
        <p:nvPicPr>
          <p:cNvPr id="307" name="Google Shape;307;p24"/>
          <p:cNvPicPr preferRelativeResize="0"/>
          <p:nvPr/>
        </p:nvPicPr>
        <p:blipFill rotWithShape="1">
          <a:blip r:embed="rId3">
            <a:alphaModFix/>
          </a:blip>
          <a:srcRect b="0" l="0" r="0" t="0"/>
          <a:stretch/>
        </p:blipFill>
        <p:spPr>
          <a:xfrm>
            <a:off x="6429928" y="1190625"/>
            <a:ext cx="3380268" cy="2105025"/>
          </a:xfrm>
          <a:prstGeom prst="rect">
            <a:avLst/>
          </a:prstGeom>
          <a:noFill/>
          <a:ln>
            <a:noFill/>
          </a:ln>
        </p:spPr>
      </p:pic>
      <p:sp>
        <p:nvSpPr>
          <p:cNvPr id="308" name="Google Shape;308;p24"/>
          <p:cNvSpPr/>
          <p:nvPr/>
        </p:nvSpPr>
        <p:spPr>
          <a:xfrm>
            <a:off x="6429375" y="33909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pic>
        <p:nvPicPr>
          <p:cNvPr id="309" name="Google Shape;309;p24"/>
          <p:cNvPicPr preferRelativeResize="0"/>
          <p:nvPr/>
        </p:nvPicPr>
        <p:blipFill rotWithShape="1">
          <a:blip r:embed="rId4">
            <a:alphaModFix/>
          </a:blip>
          <a:srcRect b="0" l="0" r="0" t="0"/>
          <a:stretch/>
        </p:blipFill>
        <p:spPr>
          <a:xfrm>
            <a:off x="10002650" y="2143125"/>
            <a:ext cx="1568826" cy="1562100"/>
          </a:xfrm>
          <a:prstGeom prst="rect">
            <a:avLst/>
          </a:prstGeom>
          <a:noFill/>
          <a:ln>
            <a:noFill/>
          </a:ln>
        </p:spPr>
      </p:pic>
      <p:sp>
        <p:nvSpPr>
          <p:cNvPr id="310" name="Google Shape;310;p24"/>
          <p:cNvSpPr/>
          <p:nvPr/>
        </p:nvSpPr>
        <p:spPr>
          <a:xfrm>
            <a:off x="10001250" y="380047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sp>
        <p:nvSpPr>
          <p:cNvPr id="311" name="Google Shape;311;p2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312" name="Google Shape;312;p2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Breeding-like conditions recruit adult song circuitry</a:t>
            </a:r>
            <a:endParaRPr sz="1800">
              <a:solidFill>
                <a:schemeClr val="dk1"/>
              </a:solidFill>
              <a:latin typeface="Calibri"/>
              <a:ea typeface="Calibri"/>
              <a:cs typeface="Calibri"/>
              <a:sym typeface="Calibri"/>
            </a:endParaRPr>
          </a:p>
        </p:txBody>
      </p:sp>
      <p:sp>
        <p:nvSpPr>
          <p:cNvPr id="318" name="Google Shape;318;p2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Tramontin and colleagues housed adult male Gambel’s white-crowned sparrows under 8-hour days for 12 weeks, allowing the song system to reach a nonbreeding-like condition. They then increased the light period to 20 hours and supplied testosterone through implants.</a:t>
            </a:r>
            <a:endParaRPr sz="1800">
              <a:solidFill>
                <a:schemeClr val="dk1"/>
              </a:solidFill>
              <a:latin typeface="Calibri"/>
              <a:ea typeface="Calibri"/>
              <a:cs typeface="Calibri"/>
              <a:sym typeface="Calibri"/>
            </a:endParaRPr>
          </a:p>
        </p:txBody>
      </p:sp>
      <p:sp>
        <p:nvSpPr>
          <p:cNvPr id="319" name="Google Shape;319;p25"/>
          <p:cNvSpPr/>
          <p:nvPr/>
        </p:nvSpPr>
        <p:spPr>
          <a:xfrm>
            <a:off x="571500" y="26289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Implants were placed on day 2 and were designed to produce concentrations within the physiological breeding range of approximately 4–10 nanograms per milliliter. Tissue was examined at baseline and after 7 or 20 days, with morphometry performed without knowledge of treatment group.</a:t>
            </a:r>
            <a:endParaRPr sz="1800">
              <a:solidFill>
                <a:schemeClr val="dk1"/>
              </a:solidFill>
              <a:latin typeface="Calibri"/>
              <a:ea typeface="Calibri"/>
              <a:cs typeface="Calibri"/>
              <a:sym typeface="Calibri"/>
            </a:endParaRPr>
          </a:p>
        </p:txBody>
      </p:sp>
      <p:sp>
        <p:nvSpPr>
          <p:cNvPr id="320" name="Google Shape;320;p25"/>
          <p:cNvSpPr/>
          <p:nvPr/>
        </p:nvSpPr>
        <p:spPr>
          <a:xfrm>
            <a:off x="571500" y="432435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intervention combined daylight and testosterone, so it tested their joint breeding-like effect. It did not separate the independent contributions of these cues or imply that wild birds normally experience the laboratory’s particular 20-hour light schedule.</a:t>
            </a:r>
            <a:endParaRPr sz="1800">
              <a:solidFill>
                <a:schemeClr val="dk1"/>
              </a:solidFill>
              <a:latin typeface="Calibri"/>
              <a:ea typeface="Calibri"/>
              <a:cs typeface="Calibri"/>
              <a:sym typeface="Calibri"/>
            </a:endParaRPr>
          </a:p>
        </p:txBody>
      </p:sp>
      <p:pic>
        <p:nvPicPr>
          <p:cNvPr id="321" name="Google Shape;321;p25"/>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322" name="Google Shape;322;p25"/>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23" name="Google Shape;323;p2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24" name="Google Shape;324;p2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sp>
        <p:nvSpPr>
          <p:cNvPr id="329" name="Google Shape;329;p2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Published pathways identify distinct song-system targets</a:t>
            </a:r>
            <a:endParaRPr sz="1800">
              <a:solidFill>
                <a:schemeClr val="dk1"/>
              </a:solidFill>
              <a:latin typeface="Calibri"/>
              <a:ea typeface="Calibri"/>
              <a:cs typeface="Calibri"/>
              <a:sym typeface="Calibri"/>
            </a:endParaRPr>
          </a:p>
        </p:txBody>
      </p:sp>
      <p:sp>
        <p:nvSpPr>
          <p:cNvPr id="330" name="Google Shape;330;p26"/>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HVC sends output to RA in the descending vocal motor pathway and to </a:t>
            </a:r>
            <a:r>
              <a:rPr b="1" i="0" lang="en-US" sz="1500">
                <a:solidFill>
                  <a:srgbClr val="2D3C46"/>
                </a:solidFill>
                <a:latin typeface="Arial"/>
                <a:ea typeface="Arial"/>
                <a:cs typeface="Arial"/>
                <a:sym typeface="Arial"/>
              </a:rPr>
              <a:t>Area X</a:t>
            </a:r>
            <a:r>
              <a:rPr b="0" i="0" lang="en-US" sz="1500">
                <a:solidFill>
                  <a:srgbClr val="000000"/>
                </a:solidFill>
                <a:latin typeface="Arial"/>
                <a:ea typeface="Arial"/>
                <a:cs typeface="Arial"/>
                <a:sym typeface="Arial"/>
              </a:rPr>
              <a:t>, a basal-ganglia component of the anterior forebrain song circuit. RA projects toward </a:t>
            </a:r>
            <a:r>
              <a:rPr b="1" i="0" lang="en-US" sz="1500">
                <a:solidFill>
                  <a:srgbClr val="2D3C46"/>
                </a:solidFill>
                <a:latin typeface="Arial"/>
                <a:ea typeface="Arial"/>
                <a:cs typeface="Arial"/>
                <a:sym typeface="Arial"/>
              </a:rPr>
              <a:t>nXIIts</a:t>
            </a:r>
            <a:r>
              <a:rPr b="0" i="0" lang="en-US" sz="1500">
                <a:solidFill>
                  <a:srgbClr val="000000"/>
                </a:solidFill>
                <a:latin typeface="Arial"/>
                <a:ea typeface="Arial"/>
                <a:cs typeface="Arial"/>
                <a:sym typeface="Arial"/>
              </a:rPr>
              <a:t>, the tracheosyringeal hypoglossal motor nucleus supplying the vocal organ.</a:t>
            </a:r>
            <a:endParaRPr sz="1800">
              <a:solidFill>
                <a:schemeClr val="dk1"/>
              </a:solidFill>
              <a:latin typeface="Calibri"/>
              <a:ea typeface="Calibri"/>
              <a:cs typeface="Calibri"/>
              <a:sym typeface="Calibri"/>
            </a:endParaRPr>
          </a:p>
        </p:txBody>
      </p:sp>
      <p:sp>
        <p:nvSpPr>
          <p:cNvPr id="331" name="Google Shape;331;p26"/>
          <p:cNvSpPr/>
          <p:nvPr/>
        </p:nvSpPr>
        <p:spPr>
          <a:xfrm>
            <a:off x="571500" y="26289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anterior pathway includes the medial dorsolateral thalamic nucleus and the lateral magnocellular nucleus of the anterior nidopallium, or </a:t>
            </a:r>
            <a:r>
              <a:rPr b="1" i="0" lang="en-US" sz="1500">
                <a:solidFill>
                  <a:srgbClr val="2D3C46"/>
                </a:solidFill>
                <a:latin typeface="Arial"/>
                <a:ea typeface="Arial"/>
                <a:cs typeface="Arial"/>
                <a:sym typeface="Arial"/>
              </a:rPr>
              <a:t>LMAN</a:t>
            </a:r>
            <a:r>
              <a:rPr b="0" i="0" lang="en-US" sz="1500">
                <a:solidFill>
                  <a:srgbClr val="000000"/>
                </a:solidFill>
                <a:latin typeface="Arial"/>
                <a:ea typeface="Arial"/>
                <a:cs typeface="Arial"/>
                <a:sym typeface="Arial"/>
              </a:rPr>
              <a:t>. The paper uses older anatomical names in its original drawing; the connectivity, rather than those historical regional labels, defines the circuit comparison.</a:t>
            </a:r>
            <a:endParaRPr sz="1800">
              <a:solidFill>
                <a:schemeClr val="dk1"/>
              </a:solidFill>
              <a:latin typeface="Calibri"/>
              <a:ea typeface="Calibri"/>
              <a:cs typeface="Calibri"/>
              <a:sym typeface="Calibri"/>
            </a:endParaRPr>
          </a:p>
        </p:txBody>
      </p:sp>
      <p:sp>
        <p:nvSpPr>
          <p:cNvPr id="332" name="Google Shape;332;p26"/>
          <p:cNvSpPr/>
          <p:nvPr/>
        </p:nvSpPr>
        <p:spPr>
          <a:xfrm>
            <a:off x="571500" y="432435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Published receptor symbols distinguish androgen- and estrogen-sensitive locations. Receptor distribution supplies candidate sites for steroid action, but is not itself a functional test of which projection or cell population causes seasonal growth.</a:t>
            </a:r>
            <a:endParaRPr sz="1800">
              <a:solidFill>
                <a:schemeClr val="dk1"/>
              </a:solidFill>
              <a:latin typeface="Calibri"/>
              <a:ea typeface="Calibri"/>
              <a:cs typeface="Calibri"/>
              <a:sym typeface="Calibri"/>
            </a:endParaRPr>
          </a:p>
        </p:txBody>
      </p:sp>
      <p:pic>
        <p:nvPicPr>
          <p:cNvPr id="333" name="Google Shape;333;p26"/>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334" name="Google Shape;334;p26"/>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35" name="Google Shape;335;p2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36" name="Google Shape;336;p2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HVC reaches breeding size before its targets</a:t>
            </a:r>
            <a:endParaRPr sz="1800">
              <a:solidFill>
                <a:schemeClr val="dk1"/>
              </a:solidFill>
              <a:latin typeface="Calibri"/>
              <a:ea typeface="Calibri"/>
              <a:cs typeface="Calibri"/>
              <a:sym typeface="Calibri"/>
            </a:endParaRPr>
          </a:p>
        </p:txBody>
      </p:sp>
      <p:sp>
        <p:nvSpPr>
          <p:cNvPr id="342" name="Google Shape;342;p27"/>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Tramontin and colleagues measured the volume of HVC, RA and Area X after the combined long-day and testosterone intervention. HVC reached approximately 94 percent of its eventual breeding-like size within 7 days, whereas its targets grew more slowly.</a:t>
            </a:r>
            <a:endParaRPr sz="1800">
              <a:solidFill>
                <a:schemeClr val="dk1"/>
              </a:solidFill>
              <a:latin typeface="Calibri"/>
              <a:ea typeface="Calibri"/>
              <a:cs typeface="Calibri"/>
              <a:sym typeface="Calibri"/>
            </a:endParaRPr>
          </a:p>
        </p:txBody>
      </p:sp>
      <p:sp>
        <p:nvSpPr>
          <p:cNvPr id="343" name="Google Shape;343;p27"/>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RA and Area X did not reach their larger condition until the 20-day measurement. Because the nuclei were measured within a defined time course, the result establishes an order of anatomical response rather than simply a difference between two seasons.</a:t>
            </a:r>
            <a:endParaRPr sz="1800">
              <a:solidFill>
                <a:schemeClr val="dk1"/>
              </a:solidFill>
              <a:latin typeface="Calibri"/>
              <a:ea typeface="Calibri"/>
              <a:cs typeface="Calibri"/>
              <a:sym typeface="Calibri"/>
            </a:endParaRPr>
          </a:p>
        </p:txBody>
      </p:sp>
      <p:sp>
        <p:nvSpPr>
          <p:cNvPr id="344" name="Google Shape;344;p27"/>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Early HVC growth is consistent with influences transmitted to downstream targets, but temporal precedence alone is not evidence that HVC caused their growth. Direct manipulation of HVC or its projections would be needed to establish such a transsynaptic mechanism.</a:t>
            </a:r>
            <a:endParaRPr sz="1800">
              <a:solidFill>
                <a:schemeClr val="dk1"/>
              </a:solidFill>
              <a:latin typeface="Calibri"/>
              <a:ea typeface="Calibri"/>
              <a:cs typeface="Calibri"/>
              <a:sym typeface="Calibri"/>
            </a:endParaRPr>
          </a:p>
        </p:txBody>
      </p:sp>
      <p:pic>
        <p:nvPicPr>
          <p:cNvPr id="345" name="Google Shape;345;p27"/>
          <p:cNvPicPr preferRelativeResize="0"/>
          <p:nvPr/>
        </p:nvPicPr>
        <p:blipFill rotWithShape="1">
          <a:blip r:embed="rId3">
            <a:alphaModFix/>
          </a:blip>
          <a:srcRect b="0" l="0" r="0" t="0"/>
          <a:stretch/>
        </p:blipFill>
        <p:spPr>
          <a:xfrm>
            <a:off x="6435036" y="1190625"/>
            <a:ext cx="3370054" cy="2762250"/>
          </a:xfrm>
          <a:prstGeom prst="rect">
            <a:avLst/>
          </a:prstGeom>
          <a:noFill/>
          <a:ln>
            <a:noFill/>
          </a:ln>
        </p:spPr>
      </p:pic>
      <p:sp>
        <p:nvSpPr>
          <p:cNvPr id="346" name="Google Shape;346;p27"/>
          <p:cNvSpPr/>
          <p:nvPr/>
        </p:nvSpPr>
        <p:spPr>
          <a:xfrm>
            <a:off x="6429375" y="40481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pic>
        <p:nvPicPr>
          <p:cNvPr id="347" name="Google Shape;347;p27"/>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48" name="Google Shape;348;p27"/>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49" name="Google Shape;349;p2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50" name="Google Shape;350;p2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 name="Shape 354"/>
        <p:cNvGrpSpPr/>
        <p:nvPr/>
      </p:nvGrpSpPr>
      <p:grpSpPr>
        <a:xfrm>
          <a:off x="0" y="0"/>
          <a:ext cx="0" cy="0"/>
          <a:chOff x="0" y="0"/>
          <a:chExt cx="0" cy="0"/>
        </a:xfrm>
      </p:grpSpPr>
      <p:sp>
        <p:nvSpPr>
          <p:cNvPr id="355" name="Google Shape;355;p2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HVC growth includes an increase in neuron number</a:t>
            </a:r>
            <a:endParaRPr sz="1800">
              <a:solidFill>
                <a:schemeClr val="dk1"/>
              </a:solidFill>
              <a:latin typeface="Calibri"/>
              <a:ea typeface="Calibri"/>
              <a:cs typeface="Calibri"/>
              <a:sym typeface="Calibri"/>
            </a:endParaRPr>
          </a:p>
        </p:txBody>
      </p:sp>
      <p:sp>
        <p:nvSpPr>
          <p:cNvPr id="356" name="Google Shape;356;p28"/>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sparrow study estimated </a:t>
            </a:r>
            <a:r>
              <a:rPr b="1" i="0" lang="en-US" sz="1500">
                <a:solidFill>
                  <a:srgbClr val="2D3C46"/>
                </a:solidFill>
                <a:latin typeface="Arial"/>
                <a:ea typeface="Arial"/>
                <a:cs typeface="Arial"/>
                <a:sym typeface="Arial"/>
              </a:rPr>
              <a:t>neuron number</a:t>
            </a:r>
            <a:r>
              <a:rPr b="0" i="0" lang="en-US" sz="1500">
                <a:solidFill>
                  <a:srgbClr val="000000"/>
                </a:solidFill>
                <a:latin typeface="Arial"/>
                <a:ea typeface="Arial"/>
                <a:cs typeface="Arial"/>
                <a:sym typeface="Arial"/>
              </a:rPr>
              <a:t>, the total neuronal population within a nucleus, separately from </a:t>
            </a:r>
            <a:r>
              <a:rPr b="1" i="0" lang="en-US" sz="1500">
                <a:solidFill>
                  <a:srgbClr val="2D3C46"/>
                </a:solidFill>
                <a:latin typeface="Arial"/>
                <a:ea typeface="Arial"/>
                <a:cs typeface="Arial"/>
                <a:sym typeface="Arial"/>
              </a:rPr>
              <a:t>neuron density</a:t>
            </a:r>
            <a:r>
              <a:rPr b="0" i="0" lang="en-US" sz="1500">
                <a:solidFill>
                  <a:srgbClr val="000000"/>
                </a:solidFill>
                <a:latin typeface="Arial"/>
                <a:ea typeface="Arial"/>
                <a:cs typeface="Arial"/>
                <a:sym typeface="Arial"/>
              </a:rPr>
              <a:t>, the population per unit tissue volume. These quantities distinguish growth caused by more neurons from expansion around an unchanged population.</a:t>
            </a:r>
            <a:endParaRPr sz="1800">
              <a:solidFill>
                <a:schemeClr val="dk1"/>
              </a:solidFill>
              <a:latin typeface="Calibri"/>
              <a:ea typeface="Calibri"/>
              <a:cs typeface="Calibri"/>
              <a:sym typeface="Calibri"/>
            </a:endParaRPr>
          </a:p>
        </p:txBody>
      </p:sp>
      <p:sp>
        <p:nvSpPr>
          <p:cNvPr id="357" name="Google Shape;357;p28"/>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Within 7 days of long-day and testosterone exposure, HVC gained approximately 50,000 neurons. Its density remained relatively stable while its volume increased, making a change in total neuronal population a substantial component of the structural response.</a:t>
            </a:r>
            <a:endParaRPr sz="1800">
              <a:solidFill>
                <a:schemeClr val="dk1"/>
              </a:solidFill>
              <a:latin typeface="Calibri"/>
              <a:ea typeface="Calibri"/>
              <a:cs typeface="Calibri"/>
              <a:sym typeface="Calibri"/>
            </a:endParaRPr>
          </a:p>
        </p:txBody>
      </p:sp>
      <p:sp>
        <p:nvSpPr>
          <p:cNvPr id="358" name="Google Shape;358;p28"/>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increased population does not by itself identify the source or birth date of every added cell. The study counted neurons in terminal tissue samples; it did not track individual cells longitudinally or label their complete developmental histories.</a:t>
            </a:r>
            <a:endParaRPr sz="1800">
              <a:solidFill>
                <a:schemeClr val="dk1"/>
              </a:solidFill>
              <a:latin typeface="Calibri"/>
              <a:ea typeface="Calibri"/>
              <a:cs typeface="Calibri"/>
              <a:sym typeface="Calibri"/>
            </a:endParaRPr>
          </a:p>
        </p:txBody>
      </p:sp>
      <p:pic>
        <p:nvPicPr>
          <p:cNvPr id="359" name="Google Shape;359;p28"/>
          <p:cNvPicPr preferRelativeResize="0"/>
          <p:nvPr/>
        </p:nvPicPr>
        <p:blipFill rotWithShape="1">
          <a:blip r:embed="rId3">
            <a:alphaModFix/>
          </a:blip>
          <a:srcRect b="0" l="0" r="0" t="0"/>
          <a:stretch/>
        </p:blipFill>
        <p:spPr>
          <a:xfrm>
            <a:off x="6431661" y="1190625"/>
            <a:ext cx="3376802" cy="3362325"/>
          </a:xfrm>
          <a:prstGeom prst="rect">
            <a:avLst/>
          </a:prstGeom>
          <a:noFill/>
          <a:ln>
            <a:noFill/>
          </a:ln>
        </p:spPr>
      </p:pic>
      <p:sp>
        <p:nvSpPr>
          <p:cNvPr id="360" name="Google Shape;360;p28"/>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61" name="Google Shape;361;p28"/>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62" name="Google Shape;362;p28"/>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63" name="Google Shape;363;p2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64" name="Google Shape;364;p2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Soma enlargement begins before all nuclei expand</a:t>
            </a:r>
            <a:endParaRPr sz="1800">
              <a:solidFill>
                <a:schemeClr val="dk1"/>
              </a:solidFill>
              <a:latin typeface="Calibri"/>
              <a:ea typeface="Calibri"/>
              <a:cs typeface="Calibri"/>
              <a:sym typeface="Calibri"/>
            </a:endParaRPr>
          </a:p>
        </p:txBody>
      </p:sp>
      <p:sp>
        <p:nvSpPr>
          <p:cNvPr id="370" name="Google Shape;370;p29"/>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neuronal </a:t>
            </a:r>
            <a:r>
              <a:rPr b="1" i="0" lang="en-US" sz="1500">
                <a:solidFill>
                  <a:srgbClr val="2D3C46"/>
                </a:solidFill>
                <a:latin typeface="Arial"/>
                <a:ea typeface="Arial"/>
                <a:cs typeface="Arial"/>
                <a:sym typeface="Arial"/>
              </a:rPr>
              <a:t>soma</a:t>
            </a:r>
            <a:r>
              <a:rPr b="0" i="0" lang="en-US" sz="1500">
                <a:solidFill>
                  <a:srgbClr val="000000"/>
                </a:solidFill>
                <a:latin typeface="Arial"/>
                <a:ea typeface="Arial"/>
                <a:cs typeface="Arial"/>
                <a:sym typeface="Arial"/>
              </a:rPr>
              <a:t> is the cell body, distinguished from axons and dendrites. Tramontin and colleagues measured cross-sectional soma area in tissue sections to test whether cellular enlargement contributed to the volume changes in HVC and RA.</a:t>
            </a:r>
            <a:endParaRPr sz="1800">
              <a:solidFill>
                <a:schemeClr val="dk1"/>
              </a:solidFill>
              <a:latin typeface="Calibri"/>
              <a:ea typeface="Calibri"/>
              <a:cs typeface="Calibri"/>
              <a:sym typeface="Calibri"/>
            </a:endParaRPr>
          </a:p>
        </p:txBody>
      </p:sp>
      <p:sp>
        <p:nvSpPr>
          <p:cNvPr id="371" name="Google Shape;371;p29"/>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HVC soma area increased within 7 days and remained enlarged at day 20. RA somata also enlarged by day 7, even though the major increase in RA volume occurred later, separating a cellular response from the timing of whole-nucleus expansion.</a:t>
            </a:r>
            <a:endParaRPr sz="1800">
              <a:solidFill>
                <a:schemeClr val="dk1"/>
              </a:solidFill>
              <a:latin typeface="Calibri"/>
              <a:ea typeface="Calibri"/>
              <a:cs typeface="Calibri"/>
              <a:sym typeface="Calibri"/>
            </a:endParaRPr>
          </a:p>
        </p:txBody>
      </p:sp>
      <p:sp>
        <p:nvSpPr>
          <p:cNvPr id="372" name="Google Shape;372;p29"/>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Cross-sectional area is an anatomical measure, not a direct measurement of membrane conductance or firing rate. Enlarged somata may accompany altered physiology, but this study did not record ion-channel activity from the cells whose sizes were measured.</a:t>
            </a:r>
            <a:endParaRPr sz="1800">
              <a:solidFill>
                <a:schemeClr val="dk1"/>
              </a:solidFill>
              <a:latin typeface="Calibri"/>
              <a:ea typeface="Calibri"/>
              <a:cs typeface="Calibri"/>
              <a:sym typeface="Calibri"/>
            </a:endParaRPr>
          </a:p>
        </p:txBody>
      </p:sp>
      <p:pic>
        <p:nvPicPr>
          <p:cNvPr id="373" name="Google Shape;373;p29"/>
          <p:cNvPicPr preferRelativeResize="0"/>
          <p:nvPr/>
        </p:nvPicPr>
        <p:blipFill rotWithShape="1">
          <a:blip r:embed="rId3">
            <a:alphaModFix/>
          </a:blip>
          <a:srcRect b="0" l="0" r="0" t="0"/>
          <a:stretch/>
        </p:blipFill>
        <p:spPr>
          <a:xfrm>
            <a:off x="6431661" y="1190625"/>
            <a:ext cx="3376802" cy="3362325"/>
          </a:xfrm>
          <a:prstGeom prst="rect">
            <a:avLst/>
          </a:prstGeom>
          <a:noFill/>
          <a:ln>
            <a:noFill/>
          </a:ln>
        </p:spPr>
      </p:pic>
      <p:sp>
        <p:nvSpPr>
          <p:cNvPr id="374" name="Google Shape;374;p29"/>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75" name="Google Shape;375;p29"/>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76" name="Google Shape;376;p29"/>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77" name="Google Shape;377;p2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78" name="Google Shape;378;p2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3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RA expands without a comparable neuron increase</a:t>
            </a:r>
            <a:endParaRPr sz="1800">
              <a:solidFill>
                <a:schemeClr val="dk1"/>
              </a:solidFill>
              <a:latin typeface="Calibri"/>
              <a:ea typeface="Calibri"/>
              <a:cs typeface="Calibri"/>
              <a:sym typeface="Calibri"/>
            </a:endParaRPr>
          </a:p>
        </p:txBody>
      </p:sp>
      <p:sp>
        <p:nvSpPr>
          <p:cNvPr id="384" name="Google Shape;384;p30"/>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RA grew more slowly than HVC after breeding-like stimulation. Its neurons enlarged early, while the later increase in nucleus volume was accompanied by a reduction in neuron density rather than a clear increase in total neuron number.</a:t>
            </a:r>
            <a:endParaRPr sz="1800">
              <a:solidFill>
                <a:schemeClr val="dk1"/>
              </a:solidFill>
              <a:latin typeface="Calibri"/>
              <a:ea typeface="Calibri"/>
              <a:cs typeface="Calibri"/>
              <a:sym typeface="Calibri"/>
            </a:endParaRPr>
          </a:p>
        </p:txBody>
      </p:sp>
      <p:sp>
        <p:nvSpPr>
          <p:cNvPr id="385" name="Google Shape;385;p30"/>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By day 20, the same general neuronal population occupied a larger amount of tissue. This pattern differs from HVC, where substantial population growth contributed to enlargement within the first 7 days.</a:t>
            </a:r>
            <a:endParaRPr sz="1800">
              <a:solidFill>
                <a:schemeClr val="dk1"/>
              </a:solidFill>
              <a:latin typeface="Calibri"/>
              <a:ea typeface="Calibri"/>
              <a:cs typeface="Calibri"/>
              <a:sym typeface="Calibri"/>
            </a:endParaRPr>
          </a:p>
        </p:txBody>
      </p:sp>
      <p:sp>
        <p:nvSpPr>
          <p:cNvPr id="386" name="Google Shape;386;p30"/>
          <p:cNvSpPr/>
          <p:nvPr/>
        </p:nvSpPr>
        <p:spPr>
          <a:xfrm>
            <a:off x="571500" y="38100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Lower density can be consistent with greater space occupied by neuronal processes or other tissue components, but it does not directly measure dendritic length, synapse number or glial proliferation. The study establishes different cellular signatures of seasonal growth in connected song nuclei.</a:t>
            </a:r>
            <a:endParaRPr sz="1800">
              <a:solidFill>
                <a:schemeClr val="dk1"/>
              </a:solidFill>
              <a:latin typeface="Calibri"/>
              <a:ea typeface="Calibri"/>
              <a:cs typeface="Calibri"/>
              <a:sym typeface="Calibri"/>
            </a:endParaRPr>
          </a:p>
        </p:txBody>
      </p:sp>
      <p:pic>
        <p:nvPicPr>
          <p:cNvPr id="387" name="Google Shape;387;p30"/>
          <p:cNvPicPr preferRelativeResize="0"/>
          <p:nvPr/>
        </p:nvPicPr>
        <p:blipFill rotWithShape="1">
          <a:blip r:embed="rId3">
            <a:alphaModFix/>
          </a:blip>
          <a:srcRect b="0" l="0" r="0" t="0"/>
          <a:stretch/>
        </p:blipFill>
        <p:spPr>
          <a:xfrm>
            <a:off x="6431661" y="1190625"/>
            <a:ext cx="3376802" cy="3362325"/>
          </a:xfrm>
          <a:prstGeom prst="rect">
            <a:avLst/>
          </a:prstGeom>
          <a:noFill/>
          <a:ln>
            <a:noFill/>
          </a:ln>
        </p:spPr>
      </p:pic>
      <p:sp>
        <p:nvSpPr>
          <p:cNvPr id="388" name="Google Shape;388;p30"/>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89" name="Google Shape;389;p30"/>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90" name="Google Shape;390;p30"/>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91" name="Google Shape;391;p3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92" name="Google Shape;392;p3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3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Not every song nucleus follows the same growth schedule</a:t>
            </a:r>
            <a:endParaRPr sz="1800">
              <a:solidFill>
                <a:schemeClr val="dk1"/>
              </a:solidFill>
              <a:latin typeface="Calibri"/>
              <a:ea typeface="Calibri"/>
              <a:cs typeface="Calibri"/>
              <a:sym typeface="Calibri"/>
            </a:endParaRPr>
          </a:p>
        </p:txBody>
      </p:sp>
      <p:sp>
        <p:nvSpPr>
          <p:cNvPr id="398" name="Google Shape;398;p31"/>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anterior forebrain song circuit contains Area X and LMAN, connected through the thalamic relay. Tramontin and colleagues measured these regions alongside the descending motor nuclei rather than assuming that every component responded uniformly to reproductive cues.</a:t>
            </a:r>
            <a:endParaRPr sz="1800">
              <a:solidFill>
                <a:schemeClr val="dk1"/>
              </a:solidFill>
              <a:latin typeface="Calibri"/>
              <a:ea typeface="Calibri"/>
              <a:cs typeface="Calibri"/>
              <a:sym typeface="Calibri"/>
            </a:endParaRPr>
          </a:p>
        </p:txBody>
      </p:sp>
      <p:sp>
        <p:nvSpPr>
          <p:cNvPr id="399" name="Google Shape;399;p31"/>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Area X enlarged more slowly than HVC, reaching its expanded condition at the 20-day time point. LMAN changed little over the same interval, despite occupying a circuit linked anatomically to the growing nuclei.</a:t>
            </a:r>
            <a:endParaRPr sz="1800">
              <a:solidFill>
                <a:schemeClr val="dk1"/>
              </a:solidFill>
              <a:latin typeface="Calibri"/>
              <a:ea typeface="Calibri"/>
              <a:cs typeface="Calibri"/>
              <a:sym typeface="Calibri"/>
            </a:endParaRPr>
          </a:p>
        </p:txBody>
      </p:sp>
      <p:sp>
        <p:nvSpPr>
          <p:cNvPr id="400" name="Google Shape;400;p31"/>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Regional selectivity argues against uniform swelling of the entire song system. It also limits a simple explanation in which circulating testosterone produces identical structural effects wherever a song-related neuron is present; receptor distribution, connectivity and cellular composition remain possible contributors.</a:t>
            </a:r>
            <a:endParaRPr sz="1800">
              <a:solidFill>
                <a:schemeClr val="dk1"/>
              </a:solidFill>
              <a:latin typeface="Calibri"/>
              <a:ea typeface="Calibri"/>
              <a:cs typeface="Calibri"/>
              <a:sym typeface="Calibri"/>
            </a:endParaRPr>
          </a:p>
        </p:txBody>
      </p:sp>
      <p:pic>
        <p:nvPicPr>
          <p:cNvPr id="401" name="Google Shape;401;p31"/>
          <p:cNvPicPr preferRelativeResize="0"/>
          <p:nvPr/>
        </p:nvPicPr>
        <p:blipFill rotWithShape="1">
          <a:blip r:embed="rId3">
            <a:alphaModFix/>
          </a:blip>
          <a:srcRect b="0" l="0" r="0" t="0"/>
          <a:stretch/>
        </p:blipFill>
        <p:spPr>
          <a:xfrm>
            <a:off x="6429928" y="1190625"/>
            <a:ext cx="3380268" cy="2105025"/>
          </a:xfrm>
          <a:prstGeom prst="rect">
            <a:avLst/>
          </a:prstGeom>
          <a:noFill/>
          <a:ln>
            <a:noFill/>
          </a:ln>
        </p:spPr>
      </p:pic>
      <p:sp>
        <p:nvSpPr>
          <p:cNvPr id="402" name="Google Shape;402;p31"/>
          <p:cNvSpPr/>
          <p:nvPr/>
        </p:nvSpPr>
        <p:spPr>
          <a:xfrm>
            <a:off x="6429375" y="33909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pic>
        <p:nvPicPr>
          <p:cNvPr id="403" name="Google Shape;403;p31"/>
          <p:cNvPicPr preferRelativeResize="0"/>
          <p:nvPr/>
        </p:nvPicPr>
        <p:blipFill rotWithShape="1">
          <a:blip r:embed="rId4">
            <a:alphaModFix/>
          </a:blip>
          <a:srcRect b="0" l="0" r="0" t="0"/>
          <a:stretch/>
        </p:blipFill>
        <p:spPr>
          <a:xfrm>
            <a:off x="10002653" y="2143125"/>
            <a:ext cx="1568818" cy="1285875"/>
          </a:xfrm>
          <a:prstGeom prst="rect">
            <a:avLst/>
          </a:prstGeom>
          <a:noFill/>
          <a:ln>
            <a:noFill/>
          </a:ln>
        </p:spPr>
      </p:pic>
      <p:sp>
        <p:nvSpPr>
          <p:cNvPr id="404" name="Google Shape;404;p31"/>
          <p:cNvSpPr/>
          <p:nvPr/>
        </p:nvSpPr>
        <p:spPr>
          <a:xfrm>
            <a:off x="10001250" y="352425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sp>
        <p:nvSpPr>
          <p:cNvPr id="405" name="Google Shape;405;p3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06" name="Google Shape;406;p3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3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Peripheral and brainstem responses have distinct timing</a:t>
            </a:r>
            <a:endParaRPr sz="1800">
              <a:solidFill>
                <a:schemeClr val="dk1"/>
              </a:solidFill>
              <a:latin typeface="Calibri"/>
              <a:ea typeface="Calibri"/>
              <a:cs typeface="Calibri"/>
              <a:sym typeface="Calibri"/>
            </a:endParaRPr>
          </a:p>
        </p:txBody>
      </p:sp>
      <p:sp>
        <p:nvSpPr>
          <p:cNvPr id="412" name="Google Shape;412;p32"/>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t>
            </a:r>
            <a:r>
              <a:rPr b="1" i="0" lang="en-US" sz="1500">
                <a:solidFill>
                  <a:srgbClr val="2D3C46"/>
                </a:solidFill>
                <a:latin typeface="Arial"/>
                <a:ea typeface="Arial"/>
                <a:cs typeface="Arial"/>
                <a:sym typeface="Arial"/>
              </a:rPr>
              <a:t>syrinx</a:t>
            </a:r>
            <a:r>
              <a:rPr b="0" i="0" lang="en-US" sz="1500">
                <a:solidFill>
                  <a:srgbClr val="000000"/>
                </a:solidFill>
                <a:latin typeface="Arial"/>
                <a:ea typeface="Arial"/>
                <a:cs typeface="Arial"/>
                <a:sym typeface="Arial"/>
              </a:rPr>
              <a:t> is the avian vocal organ, supplied by motor neurons in nXIIts. Tramontin and colleagues measured syringeal mass and the brainstem motor nucleus to compare peripheral vocal machinery with forebrain changes under breeding-like stimulation.</a:t>
            </a:r>
            <a:endParaRPr sz="1800">
              <a:solidFill>
                <a:schemeClr val="dk1"/>
              </a:solidFill>
              <a:latin typeface="Calibri"/>
              <a:ea typeface="Calibri"/>
              <a:cs typeface="Calibri"/>
              <a:sym typeface="Calibri"/>
            </a:endParaRPr>
          </a:p>
        </p:txBody>
      </p:sp>
      <p:sp>
        <p:nvSpPr>
          <p:cNvPr id="413" name="Google Shape;413;p32"/>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Syringeal mass increased within 7 days of long-day and testosterone exposure. The volume of nXIIts did not clearly enlarge over the 20-day observation period, even though this nucleus can vary over longer seasonal intervals.</a:t>
            </a:r>
            <a:endParaRPr sz="1800">
              <a:solidFill>
                <a:schemeClr val="dk1"/>
              </a:solidFill>
              <a:latin typeface="Calibri"/>
              <a:ea typeface="Calibri"/>
              <a:cs typeface="Calibri"/>
              <a:sym typeface="Calibri"/>
            </a:endParaRPr>
          </a:p>
        </p:txBody>
      </p:sp>
      <p:sp>
        <p:nvSpPr>
          <p:cNvPr id="414" name="Google Shape;414;p32"/>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peripheral target can therefore respond while a connected brainstem structure has not yet changed detectably in volume. The study does not establish that the syrinx drives forebrain growth, and lack of measured volume change does not mean the motor neurons were physiologically unchanged.</a:t>
            </a:r>
            <a:endParaRPr sz="1800">
              <a:solidFill>
                <a:schemeClr val="dk1"/>
              </a:solidFill>
              <a:latin typeface="Calibri"/>
              <a:ea typeface="Calibri"/>
              <a:cs typeface="Calibri"/>
              <a:sym typeface="Calibri"/>
            </a:endParaRPr>
          </a:p>
        </p:txBody>
      </p:sp>
      <p:pic>
        <p:nvPicPr>
          <p:cNvPr id="415" name="Google Shape;415;p32"/>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416" name="Google Shape;416;p32"/>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417" name="Google Shape;417;p3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18" name="Google Shape;418;p3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3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Song measurements separate duration from consistency</a:t>
            </a:r>
            <a:endParaRPr sz="1800">
              <a:solidFill>
                <a:schemeClr val="dk1"/>
              </a:solidFill>
              <a:latin typeface="Calibri"/>
              <a:ea typeface="Calibri"/>
              <a:cs typeface="Calibri"/>
              <a:sym typeface="Calibri"/>
            </a:endParaRPr>
          </a:p>
        </p:txBody>
      </p:sp>
      <p:sp>
        <p:nvSpPr>
          <p:cNvPr id="424" name="Google Shape;424;p3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2D3C46"/>
                </a:solidFill>
                <a:latin typeface="Arial"/>
                <a:ea typeface="Arial"/>
                <a:cs typeface="Arial"/>
                <a:sym typeface="Arial"/>
              </a:rPr>
              <a:t>spectrogram</a:t>
            </a:r>
            <a:r>
              <a:rPr b="0" i="0" lang="en-US" sz="1500">
                <a:solidFill>
                  <a:srgbClr val="000000"/>
                </a:solidFill>
                <a:latin typeface="Arial"/>
                <a:ea typeface="Arial"/>
                <a:cs typeface="Arial"/>
                <a:sym typeface="Arial"/>
              </a:rPr>
              <a:t> displays sound frequency over time, permitting individual song components to be measured. Tramontin and colleagues separated the white-crowned sparrow song into whistle, warble and buzz portions, using the published 2-kilohertz and 0.5-second calibration bars.</a:t>
            </a:r>
            <a:endParaRPr sz="1800">
              <a:solidFill>
                <a:schemeClr val="dk1"/>
              </a:solidFill>
              <a:latin typeface="Calibri"/>
              <a:ea typeface="Calibri"/>
              <a:cs typeface="Calibri"/>
              <a:sym typeface="Calibri"/>
            </a:endParaRPr>
          </a:p>
        </p:txBody>
      </p:sp>
      <p:sp>
        <p:nvSpPr>
          <p:cNvPr id="425" name="Google Shape;425;p33"/>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Mean whole-song duration was 1.80 seconds after 7 days of breeding-like stimulation and 1.84 seconds after 20 days. Whistle duration was similarly stable, approximately 0.51 and 0.52 seconds at the two time points.</a:t>
            </a:r>
            <a:endParaRPr sz="1800">
              <a:solidFill>
                <a:schemeClr val="dk1"/>
              </a:solidFill>
              <a:latin typeface="Calibri"/>
              <a:ea typeface="Calibri"/>
              <a:cs typeface="Calibri"/>
              <a:sym typeface="Calibri"/>
            </a:endParaRPr>
          </a:p>
        </p:txBody>
      </p:sp>
      <p:sp>
        <p:nvSpPr>
          <p:cNvPr id="426" name="Google Shape;426;p33"/>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Stable average duration does not mean identical renditions. Measurements of variation across repeated songs address consistency, while average durations describe the central timing of the vocal pattern. The study did not record comparable songs from the short-day birds because they did not sing.</a:t>
            </a:r>
            <a:endParaRPr sz="1800">
              <a:solidFill>
                <a:schemeClr val="dk1"/>
              </a:solidFill>
              <a:latin typeface="Calibri"/>
              <a:ea typeface="Calibri"/>
              <a:cs typeface="Calibri"/>
              <a:sym typeface="Calibri"/>
            </a:endParaRPr>
          </a:p>
        </p:txBody>
      </p:sp>
      <p:pic>
        <p:nvPicPr>
          <p:cNvPr id="427" name="Google Shape;427;p33"/>
          <p:cNvPicPr preferRelativeResize="0"/>
          <p:nvPr/>
        </p:nvPicPr>
        <p:blipFill rotWithShape="1">
          <a:blip r:embed="rId3">
            <a:alphaModFix/>
          </a:blip>
          <a:srcRect b="0" l="0" r="0" t="0"/>
          <a:stretch/>
        </p:blipFill>
        <p:spPr>
          <a:xfrm>
            <a:off x="6482363" y="1190625"/>
            <a:ext cx="4942274" cy="2343150"/>
          </a:xfrm>
          <a:prstGeom prst="rect">
            <a:avLst/>
          </a:prstGeom>
          <a:noFill/>
          <a:ln>
            <a:noFill/>
          </a:ln>
        </p:spPr>
      </p:pic>
      <p:sp>
        <p:nvSpPr>
          <p:cNvPr id="428" name="Google Shape;428;p33"/>
          <p:cNvSpPr/>
          <p:nvPr/>
        </p:nvSpPr>
        <p:spPr>
          <a:xfrm>
            <a:off x="6477000" y="36290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2. White-crowned sparrow song; 2 kHz and 0.5 s bars.</a:t>
            </a:r>
            <a:endParaRPr sz="1800">
              <a:solidFill>
                <a:schemeClr val="dk1"/>
              </a:solidFill>
              <a:latin typeface="Calibri"/>
              <a:ea typeface="Calibri"/>
              <a:cs typeface="Calibri"/>
              <a:sym typeface="Calibri"/>
            </a:endParaRPr>
          </a:p>
        </p:txBody>
      </p:sp>
      <p:sp>
        <p:nvSpPr>
          <p:cNvPr id="429" name="Google Shape;429;p3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30" name="Google Shape;430;p3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Song becomes more stereotyped as circuits mature</a:t>
            </a:r>
            <a:endParaRPr sz="1800">
              <a:solidFill>
                <a:schemeClr val="dk1"/>
              </a:solidFill>
              <a:latin typeface="Calibri"/>
              <a:ea typeface="Calibri"/>
              <a:cs typeface="Calibri"/>
              <a:sym typeface="Calibri"/>
            </a:endParaRPr>
          </a:p>
        </p:txBody>
      </p:sp>
      <p:sp>
        <p:nvSpPr>
          <p:cNvPr id="436" name="Google Shape;436;p34"/>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Stereotypy</a:t>
            </a:r>
            <a:r>
              <a:rPr b="0" i="0" lang="en-US" sz="1500">
                <a:solidFill>
                  <a:srgbClr val="000000"/>
                </a:solidFill>
                <a:latin typeface="Arial"/>
                <a:ea typeface="Arial"/>
                <a:cs typeface="Arial"/>
                <a:sym typeface="Arial"/>
              </a:rPr>
              <a:t> means consistency across repeated performances. The sparrows’ temporal and spectral song features were more consistent after 20 days of breeding-like stimulation than after 7 days, even though mean song duration changed little.</a:t>
            </a:r>
            <a:endParaRPr sz="1800">
              <a:solidFill>
                <a:schemeClr val="dk1"/>
              </a:solidFill>
              <a:latin typeface="Calibri"/>
              <a:ea typeface="Calibri"/>
              <a:cs typeface="Calibri"/>
              <a:sym typeface="Calibri"/>
            </a:endParaRPr>
          </a:p>
        </p:txBody>
      </p:sp>
      <p:sp>
        <p:nvSpPr>
          <p:cNvPr id="437" name="Google Shape;437;p34"/>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Song rates were similar at the two time points, approximately three songs per minute during recording. Increased consistency therefore cannot be equated with simply singing more frequently, and it accompanied the slower growth of RA and Area X.</a:t>
            </a:r>
            <a:endParaRPr sz="1800">
              <a:solidFill>
                <a:schemeClr val="dk1"/>
              </a:solidFill>
              <a:latin typeface="Calibri"/>
              <a:ea typeface="Calibri"/>
              <a:cs typeface="Calibri"/>
              <a:sym typeface="Calibri"/>
            </a:endParaRPr>
          </a:p>
        </p:txBody>
      </p:sp>
      <p:sp>
        <p:nvSpPr>
          <p:cNvPr id="438" name="Google Shape;438;p34"/>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study linked behavioral and anatomical time courses, but did not independently manipulate nucleus size while holding hormonal state constant. Circuit maturation and song stabilization covaried; the exact cellular change responsible for the improved consistency remains unresolved by these measurements.</a:t>
            </a:r>
            <a:endParaRPr sz="1800">
              <a:solidFill>
                <a:schemeClr val="dk1"/>
              </a:solidFill>
              <a:latin typeface="Calibri"/>
              <a:ea typeface="Calibri"/>
              <a:cs typeface="Calibri"/>
              <a:sym typeface="Calibri"/>
            </a:endParaRPr>
          </a:p>
        </p:txBody>
      </p:sp>
      <p:pic>
        <p:nvPicPr>
          <p:cNvPr id="439" name="Google Shape;439;p34"/>
          <p:cNvPicPr preferRelativeResize="0"/>
          <p:nvPr/>
        </p:nvPicPr>
        <p:blipFill rotWithShape="1">
          <a:blip r:embed="rId3">
            <a:alphaModFix/>
          </a:blip>
          <a:srcRect b="0" l="0" r="0" t="0"/>
          <a:stretch/>
        </p:blipFill>
        <p:spPr>
          <a:xfrm>
            <a:off x="6432457" y="1190625"/>
            <a:ext cx="3375212" cy="1600200"/>
          </a:xfrm>
          <a:prstGeom prst="rect">
            <a:avLst/>
          </a:prstGeom>
          <a:noFill/>
          <a:ln>
            <a:noFill/>
          </a:ln>
        </p:spPr>
      </p:pic>
      <p:sp>
        <p:nvSpPr>
          <p:cNvPr id="440" name="Google Shape;440;p34"/>
          <p:cNvSpPr/>
          <p:nvPr/>
        </p:nvSpPr>
        <p:spPr>
          <a:xfrm>
            <a:off x="6429375" y="28860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2. White-crowned sparrow song; 2 kHz and 0.5 s bars.</a:t>
            </a:r>
            <a:endParaRPr sz="1800">
              <a:solidFill>
                <a:schemeClr val="dk1"/>
              </a:solidFill>
              <a:latin typeface="Calibri"/>
              <a:ea typeface="Calibri"/>
              <a:cs typeface="Calibri"/>
              <a:sym typeface="Calibri"/>
            </a:endParaRPr>
          </a:p>
        </p:txBody>
      </p:sp>
      <p:pic>
        <p:nvPicPr>
          <p:cNvPr id="441" name="Google Shape;441;p34"/>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442" name="Google Shape;442;p34"/>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443" name="Google Shape;443;p3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44" name="Google Shape;444;p3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3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Sequential growth supports a trophic hypothesis</a:t>
            </a:r>
            <a:endParaRPr sz="1800">
              <a:solidFill>
                <a:schemeClr val="dk1"/>
              </a:solidFill>
              <a:latin typeface="Calibri"/>
              <a:ea typeface="Calibri"/>
              <a:cs typeface="Calibri"/>
              <a:sym typeface="Calibri"/>
            </a:endParaRPr>
          </a:p>
        </p:txBody>
      </p:sp>
      <p:sp>
        <p:nvSpPr>
          <p:cNvPr id="450" name="Google Shape;450;p3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2D3C46"/>
                </a:solidFill>
                <a:latin typeface="Arial"/>
                <a:ea typeface="Arial"/>
                <a:cs typeface="Arial"/>
                <a:sym typeface="Arial"/>
              </a:rPr>
              <a:t>trophic influence</a:t>
            </a:r>
            <a:r>
              <a:rPr b="0" i="0" lang="en-US" sz="1500">
                <a:solidFill>
                  <a:srgbClr val="000000"/>
                </a:solidFill>
                <a:latin typeface="Arial"/>
                <a:ea typeface="Arial"/>
                <a:cs typeface="Arial"/>
                <a:sym typeface="Arial"/>
              </a:rPr>
              <a:t> is an effect that supports growth or maintenance of another cell or tissue. HVC grew before RA and Area X, creating the possibility that signals from HVC contribute to the subsequent enlargement of its connected targets.</a:t>
            </a:r>
            <a:endParaRPr sz="1800">
              <a:solidFill>
                <a:schemeClr val="dk1"/>
              </a:solidFill>
              <a:latin typeface="Calibri"/>
              <a:ea typeface="Calibri"/>
              <a:cs typeface="Calibri"/>
              <a:sym typeface="Calibri"/>
            </a:endParaRPr>
          </a:p>
        </p:txBody>
      </p:sp>
      <p:sp>
        <p:nvSpPr>
          <p:cNvPr id="451" name="Google Shape;451;p35"/>
          <p:cNvSpPr/>
          <p:nvPr/>
        </p:nvSpPr>
        <p:spPr>
          <a:xfrm>
            <a:off x="571500" y="26289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long-day and testosterone experiment established temporal sequence and distinct cellular responses: rapid HVC population growth, early soma enlargement, and later expansion of downstream nuclei. These findings constrain explanations of seasonal plasticity more precisely than volume comparisons alone.</a:t>
            </a:r>
            <a:endParaRPr sz="1800">
              <a:solidFill>
                <a:schemeClr val="dk1"/>
              </a:solidFill>
              <a:latin typeface="Calibri"/>
              <a:ea typeface="Calibri"/>
              <a:cs typeface="Calibri"/>
              <a:sym typeface="Calibri"/>
            </a:endParaRPr>
          </a:p>
        </p:txBody>
      </p:sp>
      <p:sp>
        <p:nvSpPr>
          <p:cNvPr id="452" name="Google Shape;452;p35"/>
          <p:cNvSpPr/>
          <p:nvPr/>
        </p:nvSpPr>
        <p:spPr>
          <a:xfrm>
            <a:off x="571500" y="432435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proposed trophic relationship was not directly tested by blocking a growth factor or an HVC projection. Direct steroid sensitivity, activity changes and other local mechanisms can also contribute, so sequential growth should remain evidence supporting a hypothesis rather than proof of one pathway.</a:t>
            </a:r>
            <a:endParaRPr sz="1800">
              <a:solidFill>
                <a:schemeClr val="dk1"/>
              </a:solidFill>
              <a:latin typeface="Calibri"/>
              <a:ea typeface="Calibri"/>
              <a:cs typeface="Calibri"/>
              <a:sym typeface="Calibri"/>
            </a:endParaRPr>
          </a:p>
        </p:txBody>
      </p:sp>
      <p:pic>
        <p:nvPicPr>
          <p:cNvPr id="453" name="Google Shape;453;p35"/>
          <p:cNvPicPr preferRelativeResize="0"/>
          <p:nvPr/>
        </p:nvPicPr>
        <p:blipFill rotWithShape="1">
          <a:blip r:embed="rId3">
            <a:alphaModFix/>
          </a:blip>
          <a:srcRect b="0" l="0" r="0" t="0"/>
          <a:stretch/>
        </p:blipFill>
        <p:spPr>
          <a:xfrm>
            <a:off x="6435036" y="1190625"/>
            <a:ext cx="3370054" cy="2762250"/>
          </a:xfrm>
          <a:prstGeom prst="rect">
            <a:avLst/>
          </a:prstGeom>
          <a:noFill/>
          <a:ln>
            <a:noFill/>
          </a:ln>
        </p:spPr>
      </p:pic>
      <p:sp>
        <p:nvSpPr>
          <p:cNvPr id="454" name="Google Shape;454;p35"/>
          <p:cNvSpPr/>
          <p:nvPr/>
        </p:nvSpPr>
        <p:spPr>
          <a:xfrm>
            <a:off x="6429375" y="40481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pic>
        <p:nvPicPr>
          <p:cNvPr id="455" name="Google Shape;455;p35"/>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456" name="Google Shape;456;p35"/>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457" name="Google Shape;457;p3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58" name="Google Shape;458;p3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accelerates experience-dependent pup retrieval</a:t>
            </a:r>
            <a:endParaRPr sz="1800">
              <a:solidFill>
                <a:schemeClr val="dk1"/>
              </a:solidFill>
              <a:latin typeface="Calibri"/>
              <a:ea typeface="Calibri"/>
              <a:cs typeface="Calibri"/>
              <a:sym typeface="Calibri"/>
            </a:endParaRPr>
          </a:p>
        </p:txBody>
      </p:sp>
      <p:sp>
        <p:nvSpPr>
          <p:cNvPr id="464" name="Google Shape;464;p36"/>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Oxytocin</a:t>
            </a:r>
            <a:r>
              <a:rPr b="0" i="0" lang="en-US" sz="1500">
                <a:solidFill>
                  <a:srgbClr val="000000"/>
                </a:solidFill>
                <a:latin typeface="Arial"/>
                <a:ea typeface="Arial"/>
                <a:cs typeface="Arial"/>
                <a:sym typeface="Arial"/>
              </a:rPr>
              <a:t> is a neuropeptide synthesized by hypothalamic neurons, including those in the </a:t>
            </a:r>
            <a:r>
              <a:rPr b="1" i="0" lang="en-US" sz="1500">
                <a:solidFill>
                  <a:srgbClr val="2D3C46"/>
                </a:solidFill>
                <a:latin typeface="Arial"/>
                <a:ea typeface="Arial"/>
                <a:cs typeface="Arial"/>
                <a:sym typeface="Arial"/>
              </a:rPr>
              <a:t>paraventricular nucleus</a:t>
            </a:r>
            <a:r>
              <a:rPr b="0" i="0" lang="en-US" sz="1500">
                <a:solidFill>
                  <a:srgbClr val="000000"/>
                </a:solidFill>
                <a:latin typeface="Arial"/>
                <a:ea typeface="Arial"/>
                <a:cs typeface="Arial"/>
                <a:sym typeface="Arial"/>
              </a:rPr>
              <a:t>, or PVN. Marlin and colleagues tested its central behavioral effects in female mice, a mammalian comparison rather than a mechanism established for ring doves.</a:t>
            </a:r>
            <a:endParaRPr sz="1800">
              <a:solidFill>
                <a:schemeClr val="dk1"/>
              </a:solidFill>
              <a:latin typeface="Calibri"/>
              <a:ea typeface="Calibri"/>
              <a:cs typeface="Calibri"/>
              <a:sym typeface="Calibri"/>
            </a:endParaRPr>
          </a:p>
        </p:txBody>
      </p:sp>
      <p:sp>
        <p:nvSpPr>
          <p:cNvPr id="465" name="Google Shape;465;p36"/>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Initially inexperienced virgin females were housed with a mother and pups. Systemic oxytocin or optical stimulation of genetically targeted PVN oxytocin neurons accelerated retrieval of isolated pups, with many females beginning within 12 hours of co-housing.</a:t>
            </a:r>
            <a:endParaRPr sz="1800">
              <a:solidFill>
                <a:schemeClr val="dk1"/>
              </a:solidFill>
              <a:latin typeface="Calibri"/>
              <a:ea typeface="Calibri"/>
              <a:cs typeface="Calibri"/>
              <a:sym typeface="Calibri"/>
            </a:endParaRPr>
          </a:p>
        </p:txBody>
      </p:sp>
      <p:sp>
        <p:nvSpPr>
          <p:cNvPr id="466" name="Google Shape;466;p36"/>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Saline-treated females generally required longer experience. The manipulation changed the speed of acquiring a response in a social setting; it did not establish that oxytocin makes every inexperienced female perform maternal behavior independently of experience or pup-derived signals.</a:t>
            </a:r>
            <a:endParaRPr sz="1800">
              <a:solidFill>
                <a:schemeClr val="dk1"/>
              </a:solidFill>
              <a:latin typeface="Calibri"/>
              <a:ea typeface="Calibri"/>
              <a:cs typeface="Calibri"/>
              <a:sym typeface="Calibri"/>
            </a:endParaRPr>
          </a:p>
        </p:txBody>
      </p:sp>
      <p:pic>
        <p:nvPicPr>
          <p:cNvPr id="467" name="Google Shape;467;p36"/>
          <p:cNvPicPr preferRelativeResize="0"/>
          <p:nvPr/>
        </p:nvPicPr>
        <p:blipFill rotWithShape="1">
          <a:blip r:embed="rId3">
            <a:alphaModFix/>
          </a:blip>
          <a:srcRect b="0" l="0" r="0" t="0"/>
          <a:stretch/>
        </p:blipFill>
        <p:spPr>
          <a:xfrm>
            <a:off x="6432034" y="1190625"/>
            <a:ext cx="3376057" cy="3981450"/>
          </a:xfrm>
          <a:prstGeom prst="rect">
            <a:avLst/>
          </a:prstGeom>
          <a:noFill/>
          <a:ln>
            <a:noFill/>
          </a:ln>
        </p:spPr>
      </p:pic>
      <p:sp>
        <p:nvSpPr>
          <p:cNvPr id="468" name="Google Shape;468;p36"/>
          <p:cNvSpPr/>
          <p:nvPr/>
        </p:nvSpPr>
        <p:spPr>
          <a:xfrm>
            <a:off x="6429375" y="52673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1(a–e). Mouse pup retrieval with oxytocin and maternal experience.</a:t>
            </a:r>
            <a:endParaRPr sz="1800">
              <a:solidFill>
                <a:schemeClr val="dk1"/>
              </a:solidFill>
              <a:latin typeface="Calibri"/>
              <a:ea typeface="Calibri"/>
              <a:cs typeface="Calibri"/>
              <a:sym typeface="Calibri"/>
            </a:endParaRPr>
          </a:p>
        </p:txBody>
      </p:sp>
      <p:pic>
        <p:nvPicPr>
          <p:cNvPr id="469" name="Google Shape;469;p36"/>
          <p:cNvPicPr preferRelativeResize="0"/>
          <p:nvPr/>
        </p:nvPicPr>
        <p:blipFill rotWithShape="1">
          <a:blip r:embed="rId4">
            <a:alphaModFix/>
          </a:blip>
          <a:srcRect b="0" l="0" r="0" t="0"/>
          <a:stretch/>
        </p:blipFill>
        <p:spPr>
          <a:xfrm>
            <a:off x="10002067" y="2143125"/>
            <a:ext cx="1569991" cy="1152525"/>
          </a:xfrm>
          <a:prstGeom prst="rect">
            <a:avLst/>
          </a:prstGeom>
          <a:noFill/>
          <a:ln>
            <a:noFill/>
          </a:ln>
        </p:spPr>
      </p:pic>
      <p:sp>
        <p:nvSpPr>
          <p:cNvPr id="470" name="Google Shape;470;p36"/>
          <p:cNvSpPr/>
          <p:nvPr/>
        </p:nvSpPr>
        <p:spPr>
          <a:xfrm>
            <a:off x="10001250" y="3390900"/>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Extended Data 1(a,b). Oxytocin-neuron targeting in mouse PVN; bars 100 µm.</a:t>
            </a:r>
            <a:endParaRPr sz="1800">
              <a:solidFill>
                <a:schemeClr val="dk1"/>
              </a:solidFill>
              <a:latin typeface="Calibri"/>
              <a:ea typeface="Calibri"/>
              <a:cs typeface="Calibri"/>
              <a:sym typeface="Calibri"/>
            </a:endParaRPr>
          </a:p>
        </p:txBody>
      </p:sp>
      <p:sp>
        <p:nvSpPr>
          <p:cNvPr id="471" name="Google Shape;471;p3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72" name="Google Shape;472;p3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3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Maternal experience can substitute for pregnancy history</a:t>
            </a:r>
            <a:endParaRPr sz="1800">
              <a:solidFill>
                <a:schemeClr val="dk1"/>
              </a:solidFill>
              <a:latin typeface="Calibri"/>
              <a:ea typeface="Calibri"/>
              <a:cs typeface="Calibri"/>
              <a:sym typeface="Calibri"/>
            </a:endParaRPr>
          </a:p>
        </p:txBody>
      </p:sp>
      <p:sp>
        <p:nvSpPr>
          <p:cNvPr id="478" name="Google Shape;478;p37"/>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Marlin and colleagues compared mothers, inexperienced virgin females, and virgin females that acquired pup-retrieval behavior through experience. </a:t>
            </a:r>
            <a:r>
              <a:rPr b="1" i="0" lang="en-US" sz="1500">
                <a:solidFill>
                  <a:srgbClr val="2D3C46"/>
                </a:solidFill>
                <a:latin typeface="Arial"/>
                <a:ea typeface="Arial"/>
                <a:cs typeface="Arial"/>
                <a:sym typeface="Arial"/>
              </a:rPr>
              <a:t>Retrieval</a:t>
            </a:r>
            <a:r>
              <a:rPr b="0" i="0" lang="en-US" sz="1500">
                <a:solidFill>
                  <a:srgbClr val="000000"/>
                </a:solidFill>
                <a:latin typeface="Arial"/>
                <a:ea typeface="Arial"/>
                <a:cs typeface="Arial"/>
                <a:sym typeface="Arial"/>
              </a:rPr>
              <a:t> is carrying an isolated pup back toward the nest, measured separately as successful responses and the time needed to perform them.</a:t>
            </a:r>
            <a:endParaRPr sz="1800">
              <a:solidFill>
                <a:schemeClr val="dk1"/>
              </a:solidFill>
              <a:latin typeface="Calibri"/>
              <a:ea typeface="Calibri"/>
              <a:cs typeface="Calibri"/>
              <a:sym typeface="Calibri"/>
            </a:endParaRPr>
          </a:p>
        </p:txBody>
      </p:sp>
      <p:sp>
        <p:nvSpPr>
          <p:cNvPr id="479" name="Google Shape;479;p37"/>
          <p:cNvSpPr/>
          <p:nvPr/>
        </p:nvSpPr>
        <p:spPr>
          <a:xfrm>
            <a:off x="571500" y="28860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Experienced virgins retrieved with rates and speeds comparable to mothers. Oxytocin accelerated acquisition, while isolated virgins given oxytocin acquired retrieval more slowly than co-housed virgins receiving both hormonal modulation and social experience.</a:t>
            </a:r>
            <a:endParaRPr sz="1800">
              <a:solidFill>
                <a:schemeClr val="dk1"/>
              </a:solidFill>
              <a:latin typeface="Calibri"/>
              <a:ea typeface="Calibri"/>
              <a:cs typeface="Calibri"/>
              <a:sym typeface="Calibri"/>
            </a:endParaRPr>
          </a:p>
        </p:txBody>
      </p:sp>
      <p:sp>
        <p:nvSpPr>
          <p:cNvPr id="480" name="Google Shape;480;p37"/>
          <p:cNvSpPr/>
          <p:nvPr/>
        </p:nvSpPr>
        <p:spPr>
          <a:xfrm>
            <a:off x="571500" y="432435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Pregnancy and parturition were therefore not necessary for successful performance in this experimental setting. The finding does not imply that maternal endocrine history is irrelevant; it establishes an alternative experiential route to the measured behavior in female mice.</a:t>
            </a:r>
            <a:endParaRPr sz="1800">
              <a:solidFill>
                <a:schemeClr val="dk1"/>
              </a:solidFill>
              <a:latin typeface="Calibri"/>
              <a:ea typeface="Calibri"/>
              <a:cs typeface="Calibri"/>
              <a:sym typeface="Calibri"/>
            </a:endParaRPr>
          </a:p>
        </p:txBody>
      </p:sp>
      <p:pic>
        <p:nvPicPr>
          <p:cNvPr id="481" name="Google Shape;481;p37"/>
          <p:cNvPicPr preferRelativeResize="0"/>
          <p:nvPr/>
        </p:nvPicPr>
        <p:blipFill rotWithShape="1">
          <a:blip r:embed="rId3">
            <a:alphaModFix/>
          </a:blip>
          <a:srcRect b="0" l="0" r="0" t="0"/>
          <a:stretch/>
        </p:blipFill>
        <p:spPr>
          <a:xfrm>
            <a:off x="7096125" y="1190937"/>
            <a:ext cx="3714750" cy="4380877"/>
          </a:xfrm>
          <a:prstGeom prst="rect">
            <a:avLst/>
          </a:prstGeom>
          <a:noFill/>
          <a:ln>
            <a:noFill/>
          </a:ln>
        </p:spPr>
      </p:pic>
      <p:sp>
        <p:nvSpPr>
          <p:cNvPr id="482" name="Google Shape;482;p37"/>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1(a–e). Mouse pup retrieval with oxytocin and maternal experience.</a:t>
            </a:r>
            <a:endParaRPr sz="1800">
              <a:solidFill>
                <a:schemeClr val="dk1"/>
              </a:solidFill>
              <a:latin typeface="Calibri"/>
              <a:ea typeface="Calibri"/>
              <a:cs typeface="Calibri"/>
              <a:sym typeface="Calibri"/>
            </a:endParaRPr>
          </a:p>
        </p:txBody>
      </p:sp>
      <p:sp>
        <p:nvSpPr>
          <p:cNvPr id="483" name="Google Shape;483;p3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84" name="Google Shape;484;p3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3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Knockout controls verify cortical receptor labeling</a:t>
            </a:r>
            <a:endParaRPr sz="1800">
              <a:solidFill>
                <a:schemeClr val="dk1"/>
              </a:solidFill>
              <a:latin typeface="Calibri"/>
              <a:ea typeface="Calibri"/>
              <a:cs typeface="Calibri"/>
              <a:sym typeface="Calibri"/>
            </a:endParaRPr>
          </a:p>
        </p:txBody>
      </p:sp>
      <p:sp>
        <p:nvSpPr>
          <p:cNvPr id="490" name="Google Shape;490;p38"/>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2D3C46"/>
                </a:solidFill>
                <a:latin typeface="Arial"/>
                <a:ea typeface="Arial"/>
                <a:cs typeface="Arial"/>
                <a:sym typeface="Arial"/>
              </a:rPr>
              <a:t>oxytocin receptor</a:t>
            </a:r>
            <a:r>
              <a:rPr b="0" i="0" lang="en-US" sz="1500">
                <a:solidFill>
                  <a:srgbClr val="000000"/>
                </a:solidFill>
                <a:latin typeface="Arial"/>
                <a:ea typeface="Arial"/>
                <a:cs typeface="Arial"/>
                <a:sym typeface="Arial"/>
              </a:rPr>
              <a:t> is a membrane protein coupled to intracellular signaling through G proteins, rather than a pore directly carrying synaptic current. Marlin and colleagues developed an antibody and tested its labeling against receptor-deficient mice, whose auditory cortex lacked the staining detected in normal animals.</a:t>
            </a:r>
            <a:endParaRPr sz="1800">
              <a:solidFill>
                <a:schemeClr val="dk1"/>
              </a:solidFill>
              <a:latin typeface="Calibri"/>
              <a:ea typeface="Calibri"/>
              <a:cs typeface="Calibri"/>
              <a:sym typeface="Calibri"/>
            </a:endParaRPr>
          </a:p>
        </p:txBody>
      </p:sp>
      <p:sp>
        <p:nvSpPr>
          <p:cNvPr id="491" name="Google Shape;491;p38"/>
          <p:cNvSpPr/>
          <p:nvPr/>
        </p:nvSpPr>
        <p:spPr>
          <a:xfrm>
            <a:off x="571500" y="28860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They also compared staining with a genetic reporter linked to oxytocin-receptor expression. Agreement between independent labeling methods strengthened the interpretation that the marked cells express the receptor rather than an unrelated protein recognized by the antibody.</a:t>
            </a:r>
            <a:endParaRPr sz="1800">
              <a:solidFill>
                <a:schemeClr val="dk1"/>
              </a:solidFill>
              <a:latin typeface="Calibri"/>
              <a:ea typeface="Calibri"/>
              <a:cs typeface="Calibri"/>
              <a:sym typeface="Calibri"/>
            </a:endParaRPr>
          </a:p>
        </p:txBody>
      </p:sp>
      <p:sp>
        <p:nvSpPr>
          <p:cNvPr id="492" name="Google Shape;492;p38"/>
          <p:cNvSpPr/>
          <p:nvPr/>
        </p:nvSpPr>
        <p:spPr>
          <a:xfrm>
            <a:off x="571500" y="432435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t>
            </a:r>
            <a:r>
              <a:rPr b="1" i="0" lang="en-US" sz="1500">
                <a:solidFill>
                  <a:srgbClr val="2D3C46"/>
                </a:solidFill>
                <a:latin typeface="Arial"/>
                <a:ea typeface="Arial"/>
                <a:cs typeface="Arial"/>
                <a:sym typeface="Arial"/>
              </a:rPr>
              <a:t>auditory cortex</a:t>
            </a:r>
            <a:r>
              <a:rPr b="0" i="0" lang="en-US" sz="1500">
                <a:solidFill>
                  <a:srgbClr val="000000"/>
                </a:solidFill>
                <a:latin typeface="Arial"/>
                <a:ea typeface="Arial"/>
                <a:cs typeface="Arial"/>
                <a:sym typeface="Arial"/>
              </a:rPr>
              <a:t> is cortical tissue involved in sound processing. Receptor staining locates candidate sites of hormonal modulation, but does not measure receptor activation, downstream signaling strength or behavioral necessity. Those questions require physiological and intervention experiments in addition to anatomy.</a:t>
            </a:r>
            <a:endParaRPr sz="1800">
              <a:solidFill>
                <a:schemeClr val="dk1"/>
              </a:solidFill>
              <a:latin typeface="Calibri"/>
              <a:ea typeface="Calibri"/>
              <a:cs typeface="Calibri"/>
              <a:sym typeface="Calibri"/>
            </a:endParaRPr>
          </a:p>
        </p:txBody>
      </p:sp>
      <p:pic>
        <p:nvPicPr>
          <p:cNvPr id="493" name="Google Shape;493;p38"/>
          <p:cNvPicPr preferRelativeResize="0"/>
          <p:nvPr/>
        </p:nvPicPr>
        <p:blipFill rotWithShape="1">
          <a:blip r:embed="rId3">
            <a:alphaModFix/>
          </a:blip>
          <a:srcRect b="0" l="0" r="0" t="0"/>
          <a:stretch/>
        </p:blipFill>
        <p:spPr>
          <a:xfrm>
            <a:off x="6479924" y="1190625"/>
            <a:ext cx="4947151" cy="2952750"/>
          </a:xfrm>
          <a:prstGeom prst="rect">
            <a:avLst/>
          </a:prstGeom>
          <a:noFill/>
          <a:ln>
            <a:noFill/>
          </a:ln>
        </p:spPr>
      </p:pic>
      <p:sp>
        <p:nvSpPr>
          <p:cNvPr id="494" name="Google Shape;494;p38"/>
          <p:cNvSpPr/>
          <p:nvPr/>
        </p:nvSpPr>
        <p:spPr>
          <a:xfrm>
            <a:off x="6477000" y="42386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495" name="Google Shape;495;p3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96" name="Google Shape;496;p3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sp>
        <p:nvSpPr>
          <p:cNvPr id="501" name="Google Shape;501;p3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Cortical inhibition contains oxytocin-sensitive cells</a:t>
            </a:r>
            <a:endParaRPr sz="1800">
              <a:solidFill>
                <a:schemeClr val="dk1"/>
              </a:solidFill>
              <a:latin typeface="Calibri"/>
              <a:ea typeface="Calibri"/>
              <a:cs typeface="Calibri"/>
              <a:sym typeface="Calibri"/>
            </a:endParaRPr>
          </a:p>
        </p:txBody>
      </p:sp>
      <p:sp>
        <p:nvSpPr>
          <p:cNvPr id="502" name="Google Shape;502;p39"/>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Interneurons</a:t>
            </a:r>
            <a:r>
              <a:rPr b="0" i="0" lang="en-US" sz="1500">
                <a:solidFill>
                  <a:srgbClr val="000000"/>
                </a:solidFill>
                <a:latin typeface="Arial"/>
                <a:ea typeface="Arial"/>
                <a:cs typeface="Arial"/>
                <a:sym typeface="Arial"/>
              </a:rPr>
              <a:t> are local neurons that influence neighboring cells within a circuit. Marlin and colleagues identified oxytocin receptors on inhibitory cortical interneurons marked by parvalbumin or somatostatin, proteins used to distinguish important inhibitory cell populations.</a:t>
            </a:r>
            <a:endParaRPr sz="1800">
              <a:solidFill>
                <a:schemeClr val="dk1"/>
              </a:solidFill>
              <a:latin typeface="Calibri"/>
              <a:ea typeface="Calibri"/>
              <a:cs typeface="Calibri"/>
              <a:sym typeface="Calibri"/>
            </a:endParaRPr>
          </a:p>
        </p:txBody>
      </p:sp>
      <p:sp>
        <p:nvSpPr>
          <p:cNvPr id="503" name="Google Shape;503;p39"/>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Approximately 30–40 percent of the labeled parvalbumin-positive and somatostatin-positive populations expressed oxytocin receptors. Thus, hormone sensitivity included cells positioned to regulate local inhibition rather than being restricted to excitatory output neurons.</a:t>
            </a:r>
            <a:endParaRPr sz="1800">
              <a:solidFill>
                <a:schemeClr val="dk1"/>
              </a:solidFill>
              <a:latin typeface="Calibri"/>
              <a:ea typeface="Calibri"/>
              <a:cs typeface="Calibri"/>
              <a:sym typeface="Calibri"/>
            </a:endParaRPr>
          </a:p>
        </p:txBody>
      </p:sp>
      <p:sp>
        <p:nvSpPr>
          <p:cNvPr id="504" name="Google Shape;504;p39"/>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This colocalization supports a candidate route from oxytocin to inhibitory control, but the staining does not establish identical physiological effects in every receptor-positive cell. Subsequent synaptic recordings were required to determine how inhibition changed during hormone exposure and learning-related stimulation.</a:t>
            </a:r>
            <a:endParaRPr sz="1800">
              <a:solidFill>
                <a:schemeClr val="dk1"/>
              </a:solidFill>
              <a:latin typeface="Calibri"/>
              <a:ea typeface="Calibri"/>
              <a:cs typeface="Calibri"/>
              <a:sym typeface="Calibri"/>
            </a:endParaRPr>
          </a:p>
        </p:txBody>
      </p:sp>
      <p:pic>
        <p:nvPicPr>
          <p:cNvPr id="505" name="Google Shape;505;p39"/>
          <p:cNvPicPr preferRelativeResize="0"/>
          <p:nvPr/>
        </p:nvPicPr>
        <p:blipFill rotWithShape="1">
          <a:blip r:embed="rId3">
            <a:alphaModFix/>
          </a:blip>
          <a:srcRect b="0" l="0" r="0" t="0"/>
          <a:stretch/>
        </p:blipFill>
        <p:spPr>
          <a:xfrm>
            <a:off x="6478594" y="1190625"/>
            <a:ext cx="4949812" cy="2571750"/>
          </a:xfrm>
          <a:prstGeom prst="rect">
            <a:avLst/>
          </a:prstGeom>
          <a:noFill/>
          <a:ln>
            <a:noFill/>
          </a:ln>
        </p:spPr>
      </p:pic>
      <p:sp>
        <p:nvSpPr>
          <p:cNvPr id="506" name="Google Shape;506;p39"/>
          <p:cNvSpPr/>
          <p:nvPr/>
        </p:nvSpPr>
        <p:spPr>
          <a:xfrm>
            <a:off x="6477000" y="385762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07" name="Google Shape;507;p3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08" name="Google Shape;508;p3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4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Receptor expression favors the left auditory cortex</a:t>
            </a:r>
            <a:endParaRPr sz="1800">
              <a:solidFill>
                <a:schemeClr val="dk1"/>
              </a:solidFill>
              <a:latin typeface="Calibri"/>
              <a:ea typeface="Calibri"/>
              <a:cs typeface="Calibri"/>
              <a:sym typeface="Calibri"/>
            </a:endParaRPr>
          </a:p>
        </p:txBody>
      </p:sp>
      <p:sp>
        <p:nvSpPr>
          <p:cNvPr id="514" name="Google Shape;514;p40"/>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Marlin and colleagues compared the left and right auditory cortex within female mice. Oxytocin-receptor labeling was more abundant on the left in both mothers and inexperienced virgins, indicating that the asymmetry was not limited to animals already performing retrieval.</a:t>
            </a:r>
            <a:endParaRPr sz="1800">
              <a:solidFill>
                <a:schemeClr val="dk1"/>
              </a:solidFill>
              <a:latin typeface="Calibri"/>
              <a:ea typeface="Calibri"/>
              <a:cs typeface="Calibri"/>
              <a:sym typeface="Calibri"/>
            </a:endParaRPr>
          </a:p>
        </p:txBody>
      </p:sp>
      <p:sp>
        <p:nvSpPr>
          <p:cNvPr id="515" name="Google Shape;515;p40"/>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 virgin females, approximately 19.5 percent of cells were receptor-positive on the left, compared with 14.3 percent on the right. Hypothalamic axonal projections did not have an equally obvious asymmetry, suggesting that receptor distribution contributes to local sensitivity.</a:t>
            </a:r>
            <a:endParaRPr sz="1800">
              <a:solidFill>
                <a:schemeClr val="dk1"/>
              </a:solidFill>
              <a:latin typeface="Calibri"/>
              <a:ea typeface="Calibri"/>
              <a:cs typeface="Calibri"/>
              <a:sym typeface="Calibri"/>
            </a:endParaRPr>
          </a:p>
        </p:txBody>
      </p:sp>
      <p:sp>
        <p:nvSpPr>
          <p:cNvPr id="516" name="Google Shape;516;p40"/>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anatomical asymmetry does not by itself establish behavioral specialization. It identifies a candidate difference between hemispheres that can be tested by separately manipulating activity or oxytocin signaling in the left and right sound-processing regions.</a:t>
            </a:r>
            <a:endParaRPr sz="1800">
              <a:solidFill>
                <a:schemeClr val="dk1"/>
              </a:solidFill>
              <a:latin typeface="Calibri"/>
              <a:ea typeface="Calibri"/>
              <a:cs typeface="Calibri"/>
              <a:sym typeface="Calibri"/>
            </a:endParaRPr>
          </a:p>
        </p:txBody>
      </p:sp>
      <p:pic>
        <p:nvPicPr>
          <p:cNvPr id="517" name="Google Shape;517;p40"/>
          <p:cNvPicPr preferRelativeResize="0"/>
          <p:nvPr/>
        </p:nvPicPr>
        <p:blipFill rotWithShape="1">
          <a:blip r:embed="rId3">
            <a:alphaModFix/>
          </a:blip>
          <a:srcRect b="0" l="0" r="0" t="0"/>
          <a:stretch/>
        </p:blipFill>
        <p:spPr>
          <a:xfrm>
            <a:off x="6490138" y="1190625"/>
            <a:ext cx="4926724" cy="1714500"/>
          </a:xfrm>
          <a:prstGeom prst="rect">
            <a:avLst/>
          </a:prstGeom>
          <a:noFill/>
          <a:ln>
            <a:noFill/>
          </a:ln>
        </p:spPr>
      </p:pic>
      <p:sp>
        <p:nvSpPr>
          <p:cNvPr id="518" name="Google Shape;518;p40"/>
          <p:cNvSpPr/>
          <p:nvPr/>
        </p:nvSpPr>
        <p:spPr>
          <a:xfrm>
            <a:off x="6477000" y="300037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2(g,h). Left–right cortical receptor expression; bars 100 µm.</a:t>
            </a:r>
            <a:endParaRPr sz="1800">
              <a:solidFill>
                <a:schemeClr val="dk1"/>
              </a:solidFill>
              <a:latin typeface="Calibri"/>
              <a:ea typeface="Calibri"/>
              <a:cs typeface="Calibri"/>
              <a:sym typeface="Calibri"/>
            </a:endParaRPr>
          </a:p>
        </p:txBody>
      </p:sp>
      <p:sp>
        <p:nvSpPr>
          <p:cNvPr id="519" name="Google Shape;519;p4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20" name="Google Shape;520;p4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p4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Left auditory-cortex activity contributes to retrieval</a:t>
            </a:r>
            <a:endParaRPr sz="1800">
              <a:solidFill>
                <a:schemeClr val="dk1"/>
              </a:solidFill>
              <a:latin typeface="Calibri"/>
              <a:ea typeface="Calibri"/>
              <a:cs typeface="Calibri"/>
              <a:sym typeface="Calibri"/>
            </a:endParaRPr>
          </a:p>
        </p:txBody>
      </p:sp>
      <p:sp>
        <p:nvSpPr>
          <p:cNvPr id="526" name="Google Shape;526;p41"/>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Marlin and colleagues infused </a:t>
            </a:r>
            <a:r>
              <a:rPr b="1" i="0" lang="en-US" sz="1500">
                <a:solidFill>
                  <a:srgbClr val="2D3C46"/>
                </a:solidFill>
                <a:latin typeface="Arial"/>
                <a:ea typeface="Arial"/>
                <a:cs typeface="Arial"/>
                <a:sym typeface="Arial"/>
              </a:rPr>
              <a:t>muscimol</a:t>
            </a:r>
            <a:r>
              <a:rPr b="0" i="0" lang="en-US" sz="1500">
                <a:solidFill>
                  <a:srgbClr val="000000"/>
                </a:solidFill>
                <a:latin typeface="Arial"/>
                <a:ea typeface="Arial"/>
                <a:cs typeface="Arial"/>
                <a:sym typeface="Arial"/>
              </a:rPr>
              <a:t>, an agonist of inhibitory GABA_A receptors, into one auditory cortex at a time. GABA is an inhibitory neurotransmitter; GABA_A receptors are ion channels whose conductance constrains excitation. The intervention temporarily reduced local activity before retrieval testing.</a:t>
            </a:r>
            <a:endParaRPr sz="1800">
              <a:solidFill>
                <a:schemeClr val="dk1"/>
              </a:solidFill>
              <a:latin typeface="Calibri"/>
              <a:ea typeface="Calibri"/>
              <a:cs typeface="Calibri"/>
              <a:sym typeface="Calibri"/>
            </a:endParaRPr>
          </a:p>
        </p:txBody>
      </p:sp>
      <p:sp>
        <p:nvSpPr>
          <p:cNvPr id="527" name="Google Shape;527;p41"/>
          <p:cNvSpPr/>
          <p:nvPr/>
        </p:nvSpPr>
        <p:spPr>
          <a:xfrm>
            <a:off x="571500" y="28860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Inactivation of the left cortex impaired retrieval in experienced females, whereas the corresponding right-side manipulation did not produce the same impairment. Before-treatment and after-treatment measurements helped distinguish the transient intervention effect from a permanent inability to perform the task.</a:t>
            </a:r>
            <a:endParaRPr sz="1800">
              <a:solidFill>
                <a:schemeClr val="dk1"/>
              </a:solidFill>
              <a:latin typeface="Calibri"/>
              <a:ea typeface="Calibri"/>
              <a:cs typeface="Calibri"/>
              <a:sym typeface="Calibri"/>
            </a:endParaRPr>
          </a:p>
        </p:txBody>
      </p:sp>
      <p:sp>
        <p:nvSpPr>
          <p:cNvPr id="528" name="Google Shape;528;p41"/>
          <p:cNvSpPr/>
          <p:nvPr/>
        </p:nvSpPr>
        <p:spPr>
          <a:xfrm>
            <a:off x="571500" y="45815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result establishes a contribution from left cortical activity under these conditions, not that this region alone generates the entire motor behavior. Hearing a relevant call and carrying a pup depend on additional sensory, motivational and motor components outside the infused region.</a:t>
            </a:r>
            <a:endParaRPr sz="1800">
              <a:solidFill>
                <a:schemeClr val="dk1"/>
              </a:solidFill>
              <a:latin typeface="Calibri"/>
              <a:ea typeface="Calibri"/>
              <a:cs typeface="Calibri"/>
              <a:sym typeface="Calibri"/>
            </a:endParaRPr>
          </a:p>
        </p:txBody>
      </p:sp>
      <p:pic>
        <p:nvPicPr>
          <p:cNvPr id="529" name="Google Shape;529;p41"/>
          <p:cNvPicPr preferRelativeResize="0"/>
          <p:nvPr/>
        </p:nvPicPr>
        <p:blipFill rotWithShape="1">
          <a:blip r:embed="rId3">
            <a:alphaModFix/>
          </a:blip>
          <a:srcRect b="0" l="0" r="0" t="0"/>
          <a:stretch/>
        </p:blipFill>
        <p:spPr>
          <a:xfrm>
            <a:off x="6430002" y="1190625"/>
            <a:ext cx="3380122" cy="3543300"/>
          </a:xfrm>
          <a:prstGeom prst="rect">
            <a:avLst/>
          </a:prstGeom>
          <a:noFill/>
          <a:ln>
            <a:noFill/>
          </a:ln>
        </p:spPr>
      </p:pic>
      <p:sp>
        <p:nvSpPr>
          <p:cNvPr id="530" name="Google Shape;530;p41"/>
          <p:cNvSpPr/>
          <p:nvPr/>
        </p:nvSpPr>
        <p:spPr>
          <a:xfrm>
            <a:off x="6429375" y="48291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3(a–d). Cortical inactivation, oxytocin and receptor antagonists.</a:t>
            </a:r>
            <a:endParaRPr sz="1800">
              <a:solidFill>
                <a:schemeClr val="dk1"/>
              </a:solidFill>
              <a:latin typeface="Calibri"/>
              <a:ea typeface="Calibri"/>
              <a:cs typeface="Calibri"/>
              <a:sym typeface="Calibri"/>
            </a:endParaRPr>
          </a:p>
        </p:txBody>
      </p:sp>
      <p:pic>
        <p:nvPicPr>
          <p:cNvPr id="531" name="Google Shape;531;p41"/>
          <p:cNvPicPr preferRelativeResize="0"/>
          <p:nvPr/>
        </p:nvPicPr>
        <p:blipFill rotWithShape="1">
          <a:blip r:embed="rId4">
            <a:alphaModFix/>
          </a:blip>
          <a:srcRect b="0" l="0" r="0" t="0"/>
          <a:stretch/>
        </p:blipFill>
        <p:spPr>
          <a:xfrm>
            <a:off x="10006998" y="2143125"/>
            <a:ext cx="1560129" cy="542925"/>
          </a:xfrm>
          <a:prstGeom prst="rect">
            <a:avLst/>
          </a:prstGeom>
          <a:noFill/>
          <a:ln>
            <a:noFill/>
          </a:ln>
        </p:spPr>
      </p:pic>
      <p:sp>
        <p:nvSpPr>
          <p:cNvPr id="532" name="Google Shape;532;p41"/>
          <p:cNvSpPr/>
          <p:nvPr/>
        </p:nvSpPr>
        <p:spPr>
          <a:xfrm>
            <a:off x="10001250" y="278130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2(g,h). Left–right cortical receptor expression; bars 100 µm.</a:t>
            </a:r>
            <a:endParaRPr sz="1800">
              <a:solidFill>
                <a:schemeClr val="dk1"/>
              </a:solidFill>
              <a:latin typeface="Calibri"/>
              <a:ea typeface="Calibri"/>
              <a:cs typeface="Calibri"/>
              <a:sym typeface="Calibri"/>
            </a:endParaRPr>
          </a:p>
        </p:txBody>
      </p:sp>
      <p:sp>
        <p:nvSpPr>
          <p:cNvPr id="533" name="Google Shape;533;p4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34" name="Google Shape;534;p4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4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facilitates acquisition more than performance</a:t>
            </a:r>
            <a:endParaRPr sz="1800">
              <a:solidFill>
                <a:schemeClr val="dk1"/>
              </a:solidFill>
              <a:latin typeface="Calibri"/>
              <a:ea typeface="Calibri"/>
              <a:cs typeface="Calibri"/>
              <a:sym typeface="Calibri"/>
            </a:endParaRPr>
          </a:p>
        </p:txBody>
      </p:sp>
      <p:sp>
        <p:nvSpPr>
          <p:cNvPr id="540" name="Google Shape;540;p42"/>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Local oxytocin delivery to the left auditory cortex accelerated retrieval in inexperienced female mice. Optical stimulation of oxytocin axons there produced a similar acceleration, connecting a localized neuromodulatory input to acquisition in the presence of pups and social experience.</a:t>
            </a:r>
            <a:endParaRPr sz="1800">
              <a:solidFill>
                <a:schemeClr val="dk1"/>
              </a:solidFill>
              <a:latin typeface="Calibri"/>
              <a:ea typeface="Calibri"/>
              <a:cs typeface="Calibri"/>
              <a:sym typeface="Calibri"/>
            </a:endParaRPr>
          </a:p>
        </p:txBody>
      </p:sp>
      <p:sp>
        <p:nvSpPr>
          <p:cNvPr id="541" name="Google Shape;541;p42"/>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 contrast, oxytocin-receptor antagonists infused into the left auditory cortex did not clearly impair retrieval after the behavior was established. An </a:t>
            </a:r>
            <a:r>
              <a:rPr b="1" i="0" lang="en-US" sz="1500">
                <a:solidFill>
                  <a:srgbClr val="2D3C46"/>
                </a:solidFill>
                <a:latin typeface="Arial"/>
                <a:ea typeface="Arial"/>
                <a:cs typeface="Arial"/>
                <a:sym typeface="Arial"/>
              </a:rPr>
              <a:t>antagonist</a:t>
            </a:r>
            <a:r>
              <a:rPr b="0" i="0" lang="en-US" sz="1500">
                <a:solidFill>
                  <a:srgbClr val="000000"/>
                </a:solidFill>
                <a:latin typeface="Arial"/>
                <a:ea typeface="Arial"/>
                <a:cs typeface="Arial"/>
                <a:sym typeface="Arial"/>
              </a:rPr>
              <a:t> blocks receptor activation, allowing ongoing signaling to be tested separately from the effects of earlier exposure.</a:t>
            </a:r>
            <a:endParaRPr sz="1800">
              <a:solidFill>
                <a:schemeClr val="dk1"/>
              </a:solidFill>
              <a:latin typeface="Calibri"/>
              <a:ea typeface="Calibri"/>
              <a:cs typeface="Calibri"/>
              <a:sym typeface="Calibri"/>
            </a:endParaRPr>
          </a:p>
        </p:txBody>
      </p:sp>
      <p:sp>
        <p:nvSpPr>
          <p:cNvPr id="542" name="Google Shape;542;p42"/>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Acquisition and performance therefore have different experimental dependencies. The result is consistent with lasting circuit changes after oxytocin-assisted experience, but antagonist failure does not prove that oxytocin is unnecessary at every other site or during every maternal behavior.</a:t>
            </a:r>
            <a:endParaRPr sz="1800">
              <a:solidFill>
                <a:schemeClr val="dk1"/>
              </a:solidFill>
              <a:latin typeface="Calibri"/>
              <a:ea typeface="Calibri"/>
              <a:cs typeface="Calibri"/>
              <a:sym typeface="Calibri"/>
            </a:endParaRPr>
          </a:p>
        </p:txBody>
      </p:sp>
      <p:pic>
        <p:nvPicPr>
          <p:cNvPr id="543" name="Google Shape;543;p42"/>
          <p:cNvPicPr preferRelativeResize="0"/>
          <p:nvPr/>
        </p:nvPicPr>
        <p:blipFill rotWithShape="1">
          <a:blip r:embed="rId3">
            <a:alphaModFix/>
          </a:blip>
          <a:srcRect b="0" l="0" r="0" t="0"/>
          <a:stretch/>
        </p:blipFill>
        <p:spPr>
          <a:xfrm>
            <a:off x="6430002" y="1190625"/>
            <a:ext cx="3380122" cy="3543300"/>
          </a:xfrm>
          <a:prstGeom prst="rect">
            <a:avLst/>
          </a:prstGeom>
          <a:noFill/>
          <a:ln>
            <a:noFill/>
          </a:ln>
        </p:spPr>
      </p:pic>
      <p:sp>
        <p:nvSpPr>
          <p:cNvPr id="544" name="Google Shape;544;p42"/>
          <p:cNvSpPr/>
          <p:nvPr/>
        </p:nvSpPr>
        <p:spPr>
          <a:xfrm>
            <a:off x="6429375" y="48291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3(a–d). Cortical inactivation, oxytocin and receptor antagonists.</a:t>
            </a:r>
            <a:endParaRPr sz="1800">
              <a:solidFill>
                <a:schemeClr val="dk1"/>
              </a:solidFill>
              <a:latin typeface="Calibri"/>
              <a:ea typeface="Calibri"/>
              <a:cs typeface="Calibri"/>
              <a:sym typeface="Calibri"/>
            </a:endParaRPr>
          </a:p>
        </p:txBody>
      </p:sp>
      <p:pic>
        <p:nvPicPr>
          <p:cNvPr id="545" name="Google Shape;545;p42"/>
          <p:cNvPicPr preferRelativeResize="0"/>
          <p:nvPr/>
        </p:nvPicPr>
        <p:blipFill rotWithShape="1">
          <a:blip r:embed="rId4">
            <a:alphaModFix/>
          </a:blip>
          <a:srcRect b="0" l="0" r="0" t="0"/>
          <a:stretch/>
        </p:blipFill>
        <p:spPr>
          <a:xfrm>
            <a:off x="10005093" y="2143125"/>
            <a:ext cx="1563938" cy="933450"/>
          </a:xfrm>
          <a:prstGeom prst="rect">
            <a:avLst/>
          </a:prstGeom>
          <a:noFill/>
          <a:ln>
            <a:noFill/>
          </a:ln>
        </p:spPr>
      </p:pic>
      <p:sp>
        <p:nvSpPr>
          <p:cNvPr id="546" name="Google Shape;546;p42"/>
          <p:cNvSpPr/>
          <p:nvPr/>
        </p:nvSpPr>
        <p:spPr>
          <a:xfrm>
            <a:off x="10001250" y="31718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547" name="Google Shape;547;p4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48" name="Google Shape;548;p4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4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Experience improves call-evoked spike reliability</a:t>
            </a:r>
            <a:endParaRPr sz="1800">
              <a:solidFill>
                <a:schemeClr val="dk1"/>
              </a:solidFill>
              <a:latin typeface="Calibri"/>
              <a:ea typeface="Calibri"/>
              <a:cs typeface="Calibri"/>
              <a:sym typeface="Calibri"/>
            </a:endParaRPr>
          </a:p>
        </p:txBody>
      </p:sp>
      <p:sp>
        <p:nvSpPr>
          <p:cNvPr id="554" name="Google Shape;554;p4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2D3C46"/>
                </a:solidFill>
                <a:latin typeface="Arial"/>
                <a:ea typeface="Arial"/>
                <a:cs typeface="Arial"/>
                <a:sym typeface="Arial"/>
              </a:rPr>
              <a:t>action potential</a:t>
            </a:r>
            <a:r>
              <a:rPr b="0" i="0" lang="en-US" sz="1500">
                <a:solidFill>
                  <a:srgbClr val="000000"/>
                </a:solidFill>
                <a:latin typeface="Arial"/>
                <a:ea typeface="Arial"/>
                <a:cs typeface="Arial"/>
                <a:sym typeface="Arial"/>
              </a:rPr>
              <a:t> is a brief electrical event used by neurons to transmit output. Marlin and colleagues recorded single-cell responses to pup calls in mothers, inexperienced virgins and experienced virgins, using electrodes in the auditory cortex of anesthetized animals.</a:t>
            </a:r>
            <a:endParaRPr sz="1800">
              <a:solidFill>
                <a:schemeClr val="dk1"/>
              </a:solidFill>
              <a:latin typeface="Calibri"/>
              <a:ea typeface="Calibri"/>
              <a:cs typeface="Calibri"/>
              <a:sym typeface="Calibri"/>
            </a:endParaRPr>
          </a:p>
        </p:txBody>
      </p:sp>
      <p:sp>
        <p:nvSpPr>
          <p:cNvPr id="555" name="Google Shape;555;p43"/>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Calls evoked stronger and more precisely timed spiking in the left cortex of experienced females. Responses to pure tones were broadly comparable across groups, providing a control against interpreting the change as a uniform increase in responsiveness to all sounds.</a:t>
            </a:r>
            <a:endParaRPr sz="1800">
              <a:solidFill>
                <a:schemeClr val="dk1"/>
              </a:solidFill>
              <a:latin typeface="Calibri"/>
              <a:ea typeface="Calibri"/>
              <a:cs typeface="Calibri"/>
              <a:sym typeface="Calibri"/>
            </a:endParaRPr>
          </a:p>
        </p:txBody>
      </p:sp>
      <p:sp>
        <p:nvSpPr>
          <p:cNvPr id="556" name="Google Shape;556;p43"/>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Experience therefore modified responses to behaviorally relevant vocal signals. Recordings under anesthesia characterize cortical responses to controlled playback; they do not directly measure the neuron’s contribution during an awake retrieval episode or identify the entire downstream motor pathway.</a:t>
            </a:r>
            <a:endParaRPr sz="1800">
              <a:solidFill>
                <a:schemeClr val="dk1"/>
              </a:solidFill>
              <a:latin typeface="Calibri"/>
              <a:ea typeface="Calibri"/>
              <a:cs typeface="Calibri"/>
              <a:sym typeface="Calibri"/>
            </a:endParaRPr>
          </a:p>
        </p:txBody>
      </p:sp>
      <p:pic>
        <p:nvPicPr>
          <p:cNvPr id="557" name="Google Shape;557;p43"/>
          <p:cNvPicPr preferRelativeResize="0"/>
          <p:nvPr/>
        </p:nvPicPr>
        <p:blipFill rotWithShape="1">
          <a:blip r:embed="rId3">
            <a:alphaModFix/>
          </a:blip>
          <a:srcRect b="0" l="0" r="0" t="0"/>
          <a:stretch/>
        </p:blipFill>
        <p:spPr>
          <a:xfrm>
            <a:off x="6772275" y="1197323"/>
            <a:ext cx="2695575" cy="4177604"/>
          </a:xfrm>
          <a:prstGeom prst="rect">
            <a:avLst/>
          </a:prstGeom>
          <a:noFill/>
          <a:ln>
            <a:noFill/>
          </a:ln>
        </p:spPr>
      </p:pic>
      <p:sp>
        <p:nvSpPr>
          <p:cNvPr id="558" name="Google Shape;558;p43"/>
          <p:cNvSpPr/>
          <p:nvPr/>
        </p:nvSpPr>
        <p:spPr>
          <a:xfrm>
            <a:off x="6429375" y="54768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4(a–e). Pup-call responses and spike timing in auditory cortex.</a:t>
            </a:r>
            <a:endParaRPr sz="1800">
              <a:solidFill>
                <a:schemeClr val="dk1"/>
              </a:solidFill>
              <a:latin typeface="Calibri"/>
              <a:ea typeface="Calibri"/>
              <a:cs typeface="Calibri"/>
              <a:sym typeface="Calibri"/>
            </a:endParaRPr>
          </a:p>
        </p:txBody>
      </p:sp>
      <p:pic>
        <p:nvPicPr>
          <p:cNvPr id="559" name="Google Shape;559;p43"/>
          <p:cNvPicPr preferRelativeResize="0"/>
          <p:nvPr/>
        </p:nvPicPr>
        <p:blipFill rotWithShape="1">
          <a:blip r:embed="rId4">
            <a:alphaModFix/>
          </a:blip>
          <a:srcRect b="0" l="0" r="0" t="0"/>
          <a:stretch/>
        </p:blipFill>
        <p:spPr>
          <a:xfrm>
            <a:off x="10005093" y="2143125"/>
            <a:ext cx="1563938" cy="933450"/>
          </a:xfrm>
          <a:prstGeom prst="rect">
            <a:avLst/>
          </a:prstGeom>
          <a:noFill/>
          <a:ln>
            <a:noFill/>
          </a:ln>
        </p:spPr>
      </p:pic>
      <p:sp>
        <p:nvSpPr>
          <p:cNvPr id="560" name="Google Shape;560;p43"/>
          <p:cNvSpPr/>
          <p:nvPr/>
        </p:nvSpPr>
        <p:spPr>
          <a:xfrm>
            <a:off x="10001250" y="31718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561" name="Google Shape;561;p4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62" name="Google Shape;562;p4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4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Matched excitation and inhibition sharpen call responses</a:t>
            </a:r>
            <a:endParaRPr sz="1800">
              <a:solidFill>
                <a:schemeClr val="dk1"/>
              </a:solidFill>
              <a:latin typeface="Calibri"/>
              <a:ea typeface="Calibri"/>
              <a:cs typeface="Calibri"/>
              <a:sym typeface="Calibri"/>
            </a:endParaRPr>
          </a:p>
        </p:txBody>
      </p:sp>
      <p:sp>
        <p:nvSpPr>
          <p:cNvPr id="568" name="Google Shape;568;p44"/>
          <p:cNvSpPr/>
          <p:nvPr/>
        </p:nvSpPr>
        <p:spPr>
          <a:xfrm>
            <a:off x="571500" y="11906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2D3C46"/>
                </a:solidFill>
                <a:latin typeface="Arial"/>
                <a:ea typeface="Arial"/>
                <a:cs typeface="Arial"/>
                <a:sym typeface="Arial"/>
              </a:rPr>
              <a:t>excitatory postsynaptic current</a:t>
            </a:r>
            <a:r>
              <a:rPr b="0" i="0" lang="en-US" sz="1500">
                <a:solidFill>
                  <a:srgbClr val="000000"/>
                </a:solidFill>
                <a:latin typeface="Arial"/>
                <a:ea typeface="Arial"/>
                <a:cs typeface="Arial"/>
                <a:sym typeface="Arial"/>
              </a:rPr>
              <a:t> promotes neuronal activation, whereas an </a:t>
            </a:r>
            <a:r>
              <a:rPr b="1" i="0" lang="en-US" sz="1500">
                <a:solidFill>
                  <a:srgbClr val="2D3C46"/>
                </a:solidFill>
                <a:latin typeface="Arial"/>
                <a:ea typeface="Arial"/>
                <a:cs typeface="Arial"/>
                <a:sym typeface="Arial"/>
              </a:rPr>
              <a:t>inhibitory postsynaptic current</a:t>
            </a:r>
            <a:r>
              <a:rPr b="0" i="0" lang="en-US" sz="1500">
                <a:solidFill>
                  <a:srgbClr val="000000"/>
                </a:solidFill>
                <a:latin typeface="Arial"/>
                <a:ea typeface="Arial"/>
                <a:cs typeface="Arial"/>
                <a:sym typeface="Arial"/>
              </a:rPr>
              <a:t> opposes or constrains it. Voltage-clamp recordings hold membrane voltage at selected levels so these call-evoked inputs can be examined separately in auditory cortical neurons.</a:t>
            </a:r>
            <a:endParaRPr sz="1800">
              <a:solidFill>
                <a:schemeClr val="dk1"/>
              </a:solidFill>
              <a:latin typeface="Calibri"/>
              <a:ea typeface="Calibri"/>
              <a:cs typeface="Calibri"/>
              <a:sym typeface="Calibri"/>
            </a:endParaRPr>
          </a:p>
        </p:txBody>
      </p:sp>
      <p:sp>
        <p:nvSpPr>
          <p:cNvPr id="569" name="Google Shape;569;p44"/>
          <p:cNvSpPr/>
          <p:nvPr/>
        </p:nvSpPr>
        <p:spPr>
          <a:xfrm>
            <a:off x="571500" y="28860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Mothers and experienced virgins had better matched timing and call selectivity of excitation and inhibition than inexperienced virgins. The amplitudes of synaptic responses were broadly comparable, arguing against a simple explanation based only on stronger excitatory input.</a:t>
            </a:r>
            <a:endParaRPr sz="1800">
              <a:solidFill>
                <a:schemeClr val="dk1"/>
              </a:solidFill>
              <a:latin typeface="Calibri"/>
              <a:ea typeface="Calibri"/>
              <a:cs typeface="Calibri"/>
              <a:sym typeface="Calibri"/>
            </a:endParaRPr>
          </a:p>
        </p:txBody>
      </p:sp>
      <p:sp>
        <p:nvSpPr>
          <p:cNvPr id="570" name="Google Shape;570;p44"/>
          <p:cNvSpPr/>
          <p:nvPr/>
        </p:nvSpPr>
        <p:spPr>
          <a:xfrm>
            <a:off x="571500" y="432435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Excitation–inhibition balance</a:t>
            </a:r>
            <a:r>
              <a:rPr b="0" i="0" lang="en-US" sz="1500">
                <a:solidFill>
                  <a:srgbClr val="000000"/>
                </a:solidFill>
                <a:latin typeface="Arial"/>
                <a:ea typeface="Arial"/>
                <a:cs typeface="Arial"/>
                <a:sym typeface="Arial"/>
              </a:rPr>
              <a:t> here means coordinated patterns across time and calls, not cancellation of every current at every instant. Measurements from separate recording conditions support this relationship, but do not capture both currents simultaneously within the same individual trial.</a:t>
            </a:r>
            <a:endParaRPr sz="1800">
              <a:solidFill>
                <a:schemeClr val="dk1"/>
              </a:solidFill>
              <a:latin typeface="Calibri"/>
              <a:ea typeface="Calibri"/>
              <a:cs typeface="Calibri"/>
              <a:sym typeface="Calibri"/>
            </a:endParaRPr>
          </a:p>
        </p:txBody>
      </p:sp>
      <p:pic>
        <p:nvPicPr>
          <p:cNvPr id="571" name="Google Shape;571;p44"/>
          <p:cNvPicPr preferRelativeResize="0"/>
          <p:nvPr/>
        </p:nvPicPr>
        <p:blipFill rotWithShape="1">
          <a:blip r:embed="rId3">
            <a:alphaModFix/>
          </a:blip>
          <a:srcRect b="0" l="0" r="0" t="0"/>
          <a:stretch/>
        </p:blipFill>
        <p:spPr>
          <a:xfrm>
            <a:off x="6562725" y="1193965"/>
            <a:ext cx="3114675" cy="4184320"/>
          </a:xfrm>
          <a:prstGeom prst="rect">
            <a:avLst/>
          </a:prstGeom>
          <a:noFill/>
          <a:ln>
            <a:noFill/>
          </a:ln>
        </p:spPr>
      </p:pic>
      <p:sp>
        <p:nvSpPr>
          <p:cNvPr id="572" name="Google Shape;572;p44"/>
          <p:cNvSpPr/>
          <p:nvPr/>
        </p:nvSpPr>
        <p:spPr>
          <a:xfrm>
            <a:off x="6429375" y="54768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5(a–d). Call-evoked excitation and inhibition in cortical neurons.</a:t>
            </a:r>
            <a:endParaRPr sz="1800">
              <a:solidFill>
                <a:schemeClr val="dk1"/>
              </a:solidFill>
              <a:latin typeface="Calibri"/>
              <a:ea typeface="Calibri"/>
              <a:cs typeface="Calibri"/>
              <a:sym typeface="Calibri"/>
            </a:endParaRPr>
          </a:p>
        </p:txBody>
      </p:sp>
      <p:pic>
        <p:nvPicPr>
          <p:cNvPr id="573" name="Google Shape;573;p44"/>
          <p:cNvPicPr preferRelativeResize="0"/>
          <p:nvPr/>
        </p:nvPicPr>
        <p:blipFill rotWithShape="1">
          <a:blip r:embed="rId4">
            <a:alphaModFix/>
          </a:blip>
          <a:srcRect b="0" l="0" r="0" t="0"/>
          <a:stretch/>
        </p:blipFill>
        <p:spPr>
          <a:xfrm>
            <a:off x="10007925" y="2143125"/>
            <a:ext cx="1558274" cy="809625"/>
          </a:xfrm>
          <a:prstGeom prst="rect">
            <a:avLst/>
          </a:prstGeom>
          <a:noFill/>
          <a:ln>
            <a:noFill/>
          </a:ln>
        </p:spPr>
      </p:pic>
      <p:sp>
        <p:nvSpPr>
          <p:cNvPr id="574" name="Google Shape;574;p44"/>
          <p:cNvSpPr/>
          <p:nvPr/>
        </p:nvSpPr>
        <p:spPr>
          <a:xfrm>
            <a:off x="10001250" y="304800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75" name="Google Shape;575;p4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76" name="Google Shape;576;p4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4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opens a window for lasting synaptic change</a:t>
            </a:r>
            <a:endParaRPr sz="1800">
              <a:solidFill>
                <a:schemeClr val="dk1"/>
              </a:solidFill>
              <a:latin typeface="Calibri"/>
              <a:ea typeface="Calibri"/>
              <a:cs typeface="Calibri"/>
              <a:sym typeface="Calibri"/>
            </a:endParaRPr>
          </a:p>
        </p:txBody>
      </p:sp>
      <p:sp>
        <p:nvSpPr>
          <p:cNvPr id="582" name="Google Shape;582;p4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Marlin and colleagues paired pup calls with oxytocin application or stimulation of oxytocin axons. Inhibition decreased rapidly, within approximately 40–60 seconds, permitting a temporary change in the balance of inputs during exposure to the vocal signal.</a:t>
            </a:r>
            <a:endParaRPr sz="1800">
              <a:solidFill>
                <a:schemeClr val="dk1"/>
              </a:solidFill>
              <a:latin typeface="Calibri"/>
              <a:ea typeface="Calibri"/>
              <a:cs typeface="Calibri"/>
              <a:sym typeface="Calibri"/>
            </a:endParaRPr>
          </a:p>
        </p:txBody>
      </p:sp>
      <p:sp>
        <p:nvSpPr>
          <p:cNvPr id="583" name="Google Shape;583;p45"/>
          <p:cNvSpPr/>
          <p:nvPr/>
        </p:nvSpPr>
        <p:spPr>
          <a:xfrm>
            <a:off x="571500" y="26289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Over subsequent minutes to hours, excitation and inhibition became better matched to the paired calls, and spiking became stronger and more temporally reliable. Inhibitory responses recovered while the improved coordination persisted, separating an early permissive change from the later learned circuit state.</a:t>
            </a:r>
            <a:endParaRPr sz="1800">
              <a:solidFill>
                <a:schemeClr val="dk1"/>
              </a:solidFill>
              <a:latin typeface="Calibri"/>
              <a:ea typeface="Calibri"/>
              <a:cs typeface="Calibri"/>
              <a:sym typeface="Calibri"/>
            </a:endParaRPr>
          </a:p>
        </p:txBody>
      </p:sp>
      <p:sp>
        <p:nvSpPr>
          <p:cNvPr id="584" name="Google Shape;584;p45"/>
          <p:cNvSpPr/>
          <p:nvPr/>
        </p:nvSpPr>
        <p:spPr>
          <a:xfrm>
            <a:off x="571500" y="432435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evidence supports neuromodulation of plasticity rather than permanent removal of inhibition. These are mouse auditory-cortex experiments; the comparable general principle that hormonal state changes sensory responsiveness does not establish the same receptor or synaptic mechanism in ring doves or seasonal songbirds.</a:t>
            </a:r>
            <a:endParaRPr sz="1800">
              <a:solidFill>
                <a:schemeClr val="dk1"/>
              </a:solidFill>
              <a:latin typeface="Calibri"/>
              <a:ea typeface="Calibri"/>
              <a:cs typeface="Calibri"/>
              <a:sym typeface="Calibri"/>
            </a:endParaRPr>
          </a:p>
        </p:txBody>
      </p:sp>
      <p:pic>
        <p:nvPicPr>
          <p:cNvPr id="585" name="Google Shape;585;p45"/>
          <p:cNvPicPr preferRelativeResize="0"/>
          <p:nvPr/>
        </p:nvPicPr>
        <p:blipFill rotWithShape="1">
          <a:blip r:embed="rId3">
            <a:alphaModFix/>
          </a:blip>
          <a:srcRect b="0" l="0" r="0" t="0"/>
          <a:stretch/>
        </p:blipFill>
        <p:spPr>
          <a:xfrm>
            <a:off x="6638925" y="1195442"/>
            <a:ext cx="2962275" cy="4181365"/>
          </a:xfrm>
          <a:prstGeom prst="rect">
            <a:avLst/>
          </a:prstGeom>
          <a:noFill/>
          <a:ln>
            <a:noFill/>
          </a:ln>
        </p:spPr>
      </p:pic>
      <p:sp>
        <p:nvSpPr>
          <p:cNvPr id="586" name="Google Shape;586;p45"/>
          <p:cNvSpPr/>
          <p:nvPr/>
        </p:nvSpPr>
        <p:spPr>
          <a:xfrm>
            <a:off x="6429375" y="54768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6(a–f). Oxytocin pairing and subsequent synaptic and spike plasticity.</a:t>
            </a:r>
            <a:endParaRPr sz="1800">
              <a:solidFill>
                <a:schemeClr val="dk1"/>
              </a:solidFill>
              <a:latin typeface="Calibri"/>
              <a:ea typeface="Calibri"/>
              <a:cs typeface="Calibri"/>
              <a:sym typeface="Calibri"/>
            </a:endParaRPr>
          </a:p>
        </p:txBody>
      </p:sp>
      <p:pic>
        <p:nvPicPr>
          <p:cNvPr id="587" name="Google Shape;587;p45"/>
          <p:cNvPicPr preferRelativeResize="0"/>
          <p:nvPr/>
        </p:nvPicPr>
        <p:blipFill rotWithShape="1">
          <a:blip r:embed="rId4">
            <a:alphaModFix/>
          </a:blip>
          <a:srcRect b="0" l="0" r="0" t="0"/>
          <a:stretch/>
        </p:blipFill>
        <p:spPr>
          <a:xfrm>
            <a:off x="10007925" y="2143125"/>
            <a:ext cx="1558274" cy="809625"/>
          </a:xfrm>
          <a:prstGeom prst="rect">
            <a:avLst/>
          </a:prstGeom>
          <a:noFill/>
          <a:ln>
            <a:noFill/>
          </a:ln>
        </p:spPr>
      </p:pic>
      <p:sp>
        <p:nvSpPr>
          <p:cNvPr id="588" name="Google Shape;588;p45"/>
          <p:cNvSpPr/>
          <p:nvPr/>
        </p:nvSpPr>
        <p:spPr>
          <a:xfrm>
            <a:off x="10001250" y="304800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89" name="Google Shape;589;p4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90" name="Google Shape;590;p4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46"/>
          <p:cNvSpPr/>
          <p:nvPr/>
        </p:nvSpPr>
        <p:spPr>
          <a:xfrm>
            <a:off x="571500" y="342900"/>
            <a:ext cx="2571304"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2D3C46"/>
              </a:buClr>
              <a:buSzPts val="2700"/>
              <a:buFont typeface="Arial"/>
              <a:buNone/>
            </a:pPr>
            <a:r>
              <a:rPr b="1" i="0" lang="en-US" sz="2700">
                <a:solidFill>
                  <a:srgbClr val="2D3C46"/>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596" name="Google Shape;596;p46"/>
          <p:cNvSpPr/>
          <p:nvPr/>
        </p:nvSpPr>
        <p:spPr>
          <a:xfrm>
            <a:off x="571500" y="12858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Hormones and experience interact.</a:t>
            </a:r>
            <a:r>
              <a:rPr b="0" i="0" lang="en-US" sz="1500">
                <a:solidFill>
                  <a:srgbClr val="000000"/>
                </a:solidFill>
                <a:latin typeface="Arial"/>
                <a:ea typeface="Arial"/>
                <a:cs typeface="Arial"/>
                <a:sym typeface="Arial"/>
              </a:rPr>
              <a:t> Prolactin-induced feeding depends on reproductive history and sensory conditions; a physiological response is not a complete behavioral program.</a:t>
            </a:r>
            <a:endParaRPr sz="1800">
              <a:solidFill>
                <a:schemeClr val="dk1"/>
              </a:solidFill>
              <a:latin typeface="Calibri"/>
              <a:ea typeface="Calibri"/>
              <a:cs typeface="Calibri"/>
              <a:sym typeface="Calibri"/>
            </a:endParaRPr>
          </a:p>
        </p:txBody>
      </p:sp>
      <p:sp>
        <p:nvSpPr>
          <p:cNvPr id="597" name="Google Shape;597;p46"/>
          <p:cNvSpPr/>
          <p:nvPr/>
        </p:nvSpPr>
        <p:spPr>
          <a:xfrm>
            <a:off x="6286500" y="12858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Reproductive coordination is reciprocal.</a:t>
            </a:r>
            <a:r>
              <a:rPr b="0" i="0" lang="en-US" sz="1500">
                <a:solidFill>
                  <a:srgbClr val="000000"/>
                </a:solidFill>
                <a:latin typeface="Arial"/>
                <a:ea typeface="Arial"/>
                <a:cs typeface="Arial"/>
                <a:sym typeface="Arial"/>
              </a:rPr>
              <a:t> Estrogen–progesterone treatment facilitates female nesting and incubation and changes behavior in untreated male partners.</a:t>
            </a:r>
            <a:endParaRPr sz="1800">
              <a:solidFill>
                <a:schemeClr val="dk1"/>
              </a:solidFill>
              <a:latin typeface="Calibri"/>
              <a:ea typeface="Calibri"/>
              <a:cs typeface="Calibri"/>
              <a:sym typeface="Calibri"/>
            </a:endParaRPr>
          </a:p>
        </p:txBody>
      </p:sp>
      <p:sp>
        <p:nvSpPr>
          <p:cNvPr id="598" name="Google Shape;598;p46"/>
          <p:cNvSpPr/>
          <p:nvPr/>
        </p:nvSpPr>
        <p:spPr>
          <a:xfrm>
            <a:off x="571500" y="286702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Vocal behavior feeds back on physiology.</a:t>
            </a:r>
            <a:r>
              <a:rPr b="0" i="0" lang="en-US" sz="1500">
                <a:solidFill>
                  <a:srgbClr val="000000"/>
                </a:solidFill>
                <a:latin typeface="Arial"/>
                <a:ea typeface="Arial"/>
                <a:cs typeface="Arial"/>
                <a:sym typeface="Arial"/>
              </a:rPr>
              <a:t> Own-coo playback rescues follicular growth in muted females, supporting an acoustic contribution without excluding bodily feedback.</a:t>
            </a:r>
            <a:endParaRPr sz="1800">
              <a:solidFill>
                <a:schemeClr val="dk1"/>
              </a:solidFill>
              <a:latin typeface="Calibri"/>
              <a:ea typeface="Calibri"/>
              <a:cs typeface="Calibri"/>
              <a:sym typeface="Calibri"/>
            </a:endParaRPr>
          </a:p>
        </p:txBody>
      </p:sp>
      <p:sp>
        <p:nvSpPr>
          <p:cNvPr id="599" name="Google Shape;599;p46"/>
          <p:cNvSpPr/>
          <p:nvPr/>
        </p:nvSpPr>
        <p:spPr>
          <a:xfrm>
            <a:off x="6286500" y="286702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Seasonal plasticity is region-specific.</a:t>
            </a:r>
            <a:r>
              <a:rPr b="0" i="0" lang="en-US" sz="1500">
                <a:solidFill>
                  <a:srgbClr val="000000"/>
                </a:solidFill>
                <a:latin typeface="Arial"/>
                <a:ea typeface="Arial"/>
                <a:cs typeface="Arial"/>
                <a:sym typeface="Arial"/>
              </a:rPr>
              <a:t> Breeding-like conditions rapidly increase HVC neuron number; RA and Area X expand later, with different cellular signatures.</a:t>
            </a:r>
            <a:endParaRPr sz="1800">
              <a:solidFill>
                <a:schemeClr val="dk1"/>
              </a:solidFill>
              <a:latin typeface="Calibri"/>
              <a:ea typeface="Calibri"/>
              <a:cs typeface="Calibri"/>
              <a:sym typeface="Calibri"/>
            </a:endParaRPr>
          </a:p>
        </p:txBody>
      </p:sp>
      <p:sp>
        <p:nvSpPr>
          <p:cNvPr id="600" name="Google Shape;600;p46"/>
          <p:cNvSpPr/>
          <p:nvPr/>
        </p:nvSpPr>
        <p:spPr>
          <a:xfrm>
            <a:off x="571500" y="44481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Anatomical sequence is not causal proof.</a:t>
            </a:r>
            <a:r>
              <a:rPr b="0" i="0" lang="en-US" sz="1500">
                <a:solidFill>
                  <a:srgbClr val="000000"/>
                </a:solidFill>
                <a:latin typeface="Arial"/>
                <a:ea typeface="Arial"/>
                <a:cs typeface="Arial"/>
                <a:sym typeface="Arial"/>
              </a:rPr>
              <a:t> Song consistency increases as circuitry develops, but sequential growth alone does not establish a particular trophic mechanism.</a:t>
            </a:r>
            <a:endParaRPr sz="1800">
              <a:solidFill>
                <a:schemeClr val="dk1"/>
              </a:solidFill>
              <a:latin typeface="Calibri"/>
              <a:ea typeface="Calibri"/>
              <a:cs typeface="Calibri"/>
              <a:sym typeface="Calibri"/>
            </a:endParaRPr>
          </a:p>
        </p:txBody>
      </p:sp>
      <p:sp>
        <p:nvSpPr>
          <p:cNvPr id="601" name="Google Shape;601;p46"/>
          <p:cNvSpPr/>
          <p:nvPr/>
        </p:nvSpPr>
        <p:spPr>
          <a:xfrm>
            <a:off x="6286500" y="44481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Hormones can facilitate sensory learning.</a:t>
            </a:r>
            <a:r>
              <a:rPr b="0" i="0" lang="en-US" sz="1500">
                <a:solidFill>
                  <a:srgbClr val="000000"/>
                </a:solidFill>
                <a:latin typeface="Arial"/>
                <a:ea typeface="Arial"/>
                <a:cs typeface="Arial"/>
                <a:sym typeface="Arial"/>
              </a:rPr>
              <a:t> In mice, oxytocin transiently reduces cortical inhibition and promotes lasting call-response coordination; acquisition and established performance have different dependencies.</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2026-10-09T01:01:29.472Z</dcterms:created>
  <dc:creator>Presenton</dc:creator>
</cp:coreProperties>
</file>