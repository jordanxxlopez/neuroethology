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Social behavior: crayfish dominance and serotonergic modulation of escape</a:t>
            </a:r>
          </a:p>
          <a:p>
            <a:r>
              <a:rPr sz="1200">
                <a:latin typeface="Arial"/>
              </a:rPr>
              <a:t>Lecture 35. NEUR 411 · NEUROETHOLOGY · FALL 2026. Wednesday, November 18, 2026.</a:t>
            </a:r>
          </a:p>
          <a:p/>
          <a:p>
            <a:r>
              <a:rPr sz="1200">
                <a:latin typeface="Arial"/>
              </a:rPr>
              <a:t>Figure: Herberholz et al. (2011), Fig. 1(B). Juvenile Procambarus clarkii beside a coin.</a:t>
            </a:r>
          </a:p>
          <a:p>
            <a:r>
              <a:rPr sz="1200">
                <a:latin typeface="Arial"/>
              </a:rPr>
              <a:t>Figure source: https://doi.org/10.3389/fnbeh.2011.00016</a:t>
            </a:r>
          </a:p>
          <a:p/>
          <a:p>
            <a:r>
              <a:rPr sz="1200">
                <a:latin typeface="Arial"/>
              </a:rPr>
              <a:t>References:</a:t>
            </a:r>
          </a:p>
          <a:p>
            <a:r>
              <a:rPr sz="1200">
                <a:latin typeface="Arial"/>
              </a:rPr>
              <a:t>Jens Herberholz; Subrata H. Mishra; Divya Uma; Markus W. Germann; Donald H. Edwards; Kimberlee Potter (2011). Non-Invasive Imaging of Neuroanatomical Structures and Neural Activation with High-Resolution MRI. Frontiers in Behavioral Neuroscience 5:16. https://doi.org/10.3389/fnbeh.2011.00016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Crayfish Procambarus clarkii establish dominance, a relationship in which one animal persistently attacks or approaches while the other withdraws. Agonistic behavior comprises conflict-related actions, including threats, grappling, attacks, retreats and escapes. Rank is assigned from these interactions rather than from posture alone.</a:t>
            </a:r>
          </a:p>
          <a:p>
            <a:r>
              <a:rPr sz="1200">
                <a:latin typeface="Arial"/>
              </a:rPr>
              <a:t>• Herberholz and colleagues paired previously isolated juveniles of similar size for 30 min. Synchronized recordings identified an abrupt transition: the future subordinate stopped repeated offensive actions and began retreating or escaping from its opponent.</a:t>
            </a:r>
          </a:p>
          <a:p>
            <a:r>
              <a:rPr sz="1200">
                <a:latin typeface="Arial"/>
              </a:rPr>
              <a:t>  – An attack leads to contact and a response from the other animal. An approach provokes a response without contact, whereas a retreat is locomotion away from the opponent. These operational definitions let the researchers classify behavior without assigning an unmeasured internal intention.</a:t>
            </a:r>
          </a:p>
          <a:p>
            <a:r>
              <a:rPr sz="1200">
                <a:latin typeface="Arial"/>
              </a:rPr>
              <a:t>• A hierarchy therefore changes the selection of actions within an encounter. The behavioral transition establishes which animal yields under these conditions, but it does not identify the transmitter or neuronal change responsible. Animals could occasionally reengage after the initial decision, so dominance was assessed across the interaction.</a:t>
            </a:r>
          </a:p>
          <a:p/>
          <a:p>
            <a:r>
              <a:rPr sz="1200">
                <a:latin typeface="Arial"/>
              </a:rPr>
              <a:t>References:</a:t>
            </a:r>
          </a:p>
          <a:p>
            <a:r>
              <a:rPr sz="1200">
                <a:latin typeface="Arial"/>
              </a:rPr>
              <a:t>Jens Herberholz; Fadi A. Issa; Donald H. Edwards (2001). Patterns of Neural Circuit Activation and Behavior during Dominance Hierarchy Formation in Freely Behaving Crayfish. The Journal of Neuroscience, 21(8): 2759-2767. https://doi.org/10.1523/jneurosci.21-08-02759.2001</a:t>
            </a:r>
          </a:p>
          <a:p/>
          <a:p>
            <a:r>
              <a:rPr sz="1200">
                <a:latin typeface="Arial"/>
              </a:rPr>
              <a:t>Figure: Herberholz et al. (2001), Fig. 4(A–B). Behavioral sequences around hierarchy formation.</a:t>
            </a:r>
          </a:p>
          <a:p>
            <a:r>
              <a:rPr sz="1200">
                <a:latin typeface="Arial"/>
              </a:rPr>
              <a:t>Figure source: https://doi.org/10.1523/jneurosci.21-08-02759.2001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Herberholz and colleagues recorded field potentials, changes in voltage in the water surrounding freely moving crayfish. Large, coordinated neuronal and muscle currents generate these signals, allowing neural pathway activation to be associated with observed behavior.</a:t>
            </a:r>
          </a:p>
          <a:p>
            <a:r>
              <a:rPr sz="1200">
                <a:latin typeface="Arial"/>
              </a:rPr>
              <a:t>• Bath electrodes at opposite ends of a 9.5 cm aquarium recorded activity while high-speed video sampled movement every 5 ms. Preliminary recordings compared the bath signal with signals from implanted electrodes in the same animal. Corresponding waveforms supported identification without retaining electrode leads during paired encounters.</a:t>
            </a:r>
          </a:p>
          <a:p>
            <a:r>
              <a:rPr sz="1200">
                <a:latin typeface="Arial"/>
              </a:rPr>
              <a:t>  – A field recording sums currents rather than measuring the membrane potential of one cell. Synchronizing video and voltage allows a tail flip to be attributed to the animal performing it. The authors did not observe simultaneous tail flips that would prevent this attribution in their paired recordings.</a:t>
            </a:r>
          </a:p>
          <a:p>
            <a:r>
              <a:rPr sz="1200">
                <a:latin typeface="Arial"/>
              </a:rPr>
              <a:t>• The method preserved movement and contact between opponents. Waveform similarity validates particular escape signatures; it does not resolve every small neuron contributing to a field potential. Video supplied the animal’s identity and movement trajectory, preventing a voltage event from being classified solely by amplitude.</a:t>
            </a:r>
          </a:p>
          <a:p/>
          <a:p>
            <a:r>
              <a:rPr sz="1200">
                <a:latin typeface="Arial"/>
              </a:rPr>
              <a:t>References:</a:t>
            </a:r>
          </a:p>
          <a:p>
            <a:r>
              <a:rPr sz="1200">
                <a:latin typeface="Arial"/>
              </a:rPr>
              <a:t>Jens Herberholz; Fadi A. Issa; Donald H. Edwards (2001). Patterns of Neural Circuit Activation and Behavior during Dominance Hierarchy Formation in Freely Behaving Crayfish. The Journal of Neuroscience, 21(8): 2759-2767. https://doi.org/10.1523/jneurosci.21-08-02759.2001</a:t>
            </a:r>
          </a:p>
          <a:p/>
          <a:p>
            <a:r>
              <a:rPr sz="1200">
                <a:latin typeface="Arial"/>
              </a:rPr>
              <a:t>Figure: Herberholz et al. (2001), Fig. 1(A). Bath electrodes and high-speed video recording.</a:t>
            </a:r>
          </a:p>
          <a:p>
            <a:r>
              <a:rPr sz="1200">
                <a:latin typeface="Arial"/>
              </a:rPr>
              <a:t>Figure source: https://doi.org/10.1523/jneurosci.21-08-02759.2001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tail flip is rapid abdominal flexion that moves a crayfish through water. During escape it separates the animal from a threat; during an offensive tail flip, the animal maintains its grip on the opponent and pulls it upward or over.</a:t>
            </a:r>
          </a:p>
          <a:p>
            <a:r>
              <a:rPr sz="1200">
                <a:latin typeface="Arial"/>
              </a:rPr>
              <a:t>• Herberholz and colleagues identified offensive movements using synchronized video and electrical recordings during juvenile encounters. Their abdominal movements began more slowly than ordinary escape flexion and were resolved across successive 5-ms video frames. These events were common during vigorous grappling.</a:t>
            </a:r>
          </a:p>
          <a:p>
            <a:r>
              <a:rPr sz="1200">
                <a:latin typeface="Arial"/>
              </a:rPr>
              <a:t>  – Maintaining claw contact changes the behavioral consequence of the movement. Slow flexion beginning while the animals remain linked differs from rapidly releasing an escape movement. The absence of a giant signature excludes the usual giant-driven response but does not identify every interneuron in the offensive pathway.</a:t>
            </a:r>
          </a:p>
          <a:p>
            <a:r>
              <a:rPr sz="1200">
                <a:latin typeface="Arial"/>
              </a:rPr>
              <a:t>• An offensive movement therefore cannot be assigned an escape function merely because the abdomen flexes. Its electrical signature lacked the large initial giant-pathway response. The authors proposed a distinct motor circuit, but did not identify all of its neurons or prove that it was completely independent of nongiant escape circuitry.</a:t>
            </a:r>
          </a:p>
          <a:p/>
          <a:p>
            <a:r>
              <a:rPr sz="1200">
                <a:latin typeface="Arial"/>
              </a:rPr>
              <a:t>References:</a:t>
            </a:r>
          </a:p>
          <a:p>
            <a:r>
              <a:rPr sz="1200">
                <a:latin typeface="Arial"/>
              </a:rPr>
              <a:t>Jens Herberholz; Fadi A. Issa; Donald H. Edwards (2001). Patterns of Neural Circuit Activation and Behavior during Dominance Hierarchy Formation in Freely Behaving Crayfish. The Journal of Neuroscience, 21(8): 2759-2767. https://doi.org/10.1523/jneurosci.21-08-02759.2001</a:t>
            </a:r>
          </a:p>
          <a:p/>
          <a:p>
            <a:r>
              <a:rPr sz="1200">
                <a:latin typeface="Arial"/>
              </a:rPr>
              <a:t>Figure: Herberholz et al. (2001), Fig. 3(A–C). Escape and offensive tail-flip recordings during encounters.</a:t>
            </a:r>
          </a:p>
          <a:p>
            <a:r>
              <a:rPr sz="1200">
                <a:latin typeface="Arial"/>
              </a:rPr>
              <a:t>Figure source: https://doi.org/10.1523/jneurosci.21-08-02759.2001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transition to subordinate status redistributes behavior rather than simply reducing all movement. Herberholz and colleagues aligned paired encounters to the first tail flip and counted attacks, approaches and retreats in successive 5-min periods.</a:t>
            </a:r>
          </a:p>
          <a:p>
            <a:r>
              <a:rPr sz="1200">
                <a:latin typeface="Arial"/>
              </a:rPr>
              <a:t>• Dominants maintained attacks and approaches while subordinates produced repeated retreats and escapes. Aggressive activity then declined across the 30-min observation, reaching roughly 15% of its initial level. Defensive actions fell as approaches and attacks became less frequent.</a:t>
            </a:r>
          </a:p>
          <a:p>
            <a:r>
              <a:rPr sz="1200">
                <a:latin typeface="Arial"/>
              </a:rPr>
              <a:t>  – The measurements concern the frequency of defined actions, not a global measure of fear or motor capacity. Less fighting after rank determination can coexist with continuing approaches by the dominant. A subordinate’s withdrawal is therefore evaluated in the context of the opportunities for interaction.</a:t>
            </a:r>
          </a:p>
          <a:p>
            <a:r>
              <a:rPr sz="1200">
                <a:latin typeface="Arial"/>
              </a:rPr>
              <a:t>• The temporal association links defensive behavior to the opponent’s actions and the established relationship. It does not establish that a fall in one escape reflex caused retreat, because retreat and different forms of escape recruit different circuits. An animal can suppress one stereotyped response while increasing another defensive action, especially when threats remain predictable during repeated encounters.</a:t>
            </a:r>
          </a:p>
          <a:p/>
          <a:p>
            <a:r>
              <a:rPr sz="1200">
                <a:latin typeface="Arial"/>
              </a:rPr>
              <a:t>References:</a:t>
            </a:r>
          </a:p>
          <a:p>
            <a:r>
              <a:rPr sz="1200">
                <a:latin typeface="Arial"/>
              </a:rPr>
              <a:t>Jens Herberholz; Fadi A. Issa; Donald H. Edwards (2001). Patterns of Neural Circuit Activation and Behavior during Dominance Hierarchy Formation in Freely Behaving Crayfish. The Journal of Neuroscience, 21(8): 2759-2767. https://doi.org/10.1523/jneurosci.21-08-02759.2001</a:t>
            </a:r>
          </a:p>
          <a:p/>
          <a:p>
            <a:r>
              <a:rPr sz="1200">
                <a:latin typeface="Arial"/>
              </a:rPr>
              <a:t>Figure: Herberholz et al. (2001), Fig. 5(A). Attacks, approaches and retreats across 5-min periods.</a:t>
            </a:r>
          </a:p>
          <a:p>
            <a:r>
              <a:rPr sz="1200">
                <a:latin typeface="Arial"/>
              </a:rPr>
              <a:t>Figure source: https://doi.org/10.1523/jneurosci.21-08-02759.2001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Serotonin, or 5-hydroxytryptamine (5-HT), is a monoamine, a small amine-containing signaling molecule that can change neuronal responsiveness. A neuromodulator alters how a circuit responds to its inputs rather than necessarily triggering one fixed action. Huber and colleagues infused serotonin into freely moving Astacus astacus.</a:t>
            </a:r>
          </a:p>
          <a:p>
            <a:r>
              <a:rPr sz="1200">
                <a:latin typeface="Arial"/>
              </a:rPr>
              <a:t>• The treated subordinate was about 30% smaller than its opponent. After rank formation, 30 min of saline infusion preceded 60 min of serotonin delivery. Estimated circulating serotonin approached 10 µM. Fight duration and intensity increased to approximately three times their pretreatment levels.</a:t>
            </a:r>
          </a:p>
          <a:p>
            <a:r>
              <a:rPr sz="1200">
                <a:latin typeface="Arial"/>
              </a:rPr>
              <a:t>  – The hemolymph is the circulating fluid of the open circulatory system. Delivery into that fluid exposes multiple tissues, so the experiment cannot assign the behavioral change to one receptor or neuron. The estimated concentration describes circulation during infusion, not a measured concentration at a central synapse.</a:t>
            </a:r>
          </a:p>
          <a:p>
            <a:r>
              <a:rPr sz="1200">
                <a:latin typeface="Arial"/>
              </a:rPr>
              <a:t>• Fighting returned toward baseline within 30 min after infusion ended. The saline phase controlled for infusion and time in the apparatus. These results establish a pharmacological increase in fighting persistence, but not that endogenous serotonin concentration alone determines rank or reverses physical superiority.</a:t>
            </a:r>
          </a:p>
          <a:p/>
          <a:p>
            <a:r>
              <a:rPr sz="1200">
                <a:latin typeface="Arial"/>
              </a:rPr>
              <a:t>References:</a:t>
            </a:r>
          </a:p>
          <a:p>
            <a:r>
              <a:rPr sz="1200">
                <a:latin typeface="Arial"/>
              </a:rPr>
              <a:t>Robert Huber; Kalim Smith; Antonia Delago; Karin Isaksson; Edward A. Kravitz (1997). Serotonin and aggressive motivation in crustaceans: Altering the decision to retreat. Proceedings of the National Academy of Sciences, 94(11): 5939-5942. https://doi.org/10.1073/pnas.94.11.5939</a:t>
            </a:r>
          </a:p>
          <a:p/>
          <a:p>
            <a:r>
              <a:rPr sz="1200">
                <a:latin typeface="Arial"/>
              </a:rPr>
              <a:t>Figure: Huber et al. (1997), Fig. 1. Fighting during saline, serotonin and octopamine infusion.</a:t>
            </a:r>
          </a:p>
          <a:p>
            <a:r>
              <a:rPr sz="1200">
                <a:latin typeface="Arial"/>
              </a:rPr>
              <a:t>Figure source: https://doi.org/10.1073/pnas.94.11.5939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Fighting intensity and duration are coupled: encounters that continue longer have more opportunity to escalate. Huber and colleagues therefore separated persistence from which animal initiated an encounter, the escalation sequence and which animal ultimately retreated.</a:t>
            </a:r>
          </a:p>
          <a:p>
            <a:r>
              <a:rPr sz="1200">
                <a:latin typeface="Arial"/>
              </a:rPr>
              <a:t>• During the 60-min serotonin infusion, duration accounted for most of the behavioral change. Subordinates continued contesting interactions longer, while the original opponent usually retained the eventual advantage. The saline and postinfusion periods provided within-pair comparisons.</a:t>
            </a:r>
          </a:p>
          <a:p>
            <a:r>
              <a:rPr sz="1200">
                <a:latin typeface="Arial"/>
              </a:rPr>
              <a:t>  – Persistence means that withdrawal is delayed after an encounter begins. The authors did not find a corresponding change in which animal initiated interactions or a new rule for escalation. Their interpretation of willingness to fight is grounded in this specific behavioral dissociation rather than a direct measure of motivation.</a:t>
            </a:r>
          </a:p>
          <a:p>
            <a:r>
              <a:rPr sz="1200">
                <a:latin typeface="Arial"/>
              </a:rPr>
              <a:t>• The result supports a reduced likelihood of withdrawal during an ongoing interaction. It does not establish increased muscular strength, a reversal of hierarchy or a single general aggression pathway. Applied serotonin changed one component of the animal’s behavior under a particular asymmetry of body size, and that component must be distinguished from the final outcome.</a:t>
            </a:r>
          </a:p>
          <a:p/>
          <a:p>
            <a:r>
              <a:rPr sz="1200">
                <a:latin typeface="Arial"/>
              </a:rPr>
              <a:t>References:</a:t>
            </a:r>
          </a:p>
          <a:p>
            <a:r>
              <a:rPr sz="1200">
                <a:latin typeface="Arial"/>
              </a:rPr>
              <a:t>Robert Huber; Kalim Smith; Antonia Delago; Karin Isaksson; Edward A. Kravitz (1997). Serotonin and aggressive motivation in crustaceans: Altering the decision to retreat. Proceedings of the National Academy of Sciences, 94(11): 5939-5942. https://doi.org/10.1073/pnas.94.11.5939</a:t>
            </a:r>
          </a:p>
          <a:p/>
          <a:p>
            <a:r>
              <a:rPr sz="1200">
                <a:latin typeface="Arial"/>
              </a:rPr>
              <a:t>Figure: Huber et al. (1997), Fig. 2(A–B). Duration-related changes during serotonin treatment.</a:t>
            </a:r>
          </a:p>
          <a:p>
            <a:r>
              <a:rPr sz="1200">
                <a:latin typeface="Arial"/>
              </a:rPr>
              <a:t>Figure source: https://doi.org/10.1073/pnas.94.11.5939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lateral giant (LG) and medial giant (MG) are large interneurons that recruit stereotyped escape movements. An interneuron connects neurons within the nervous system; a command neuron can trigger an organized action when it fires. LG responds chiefly to abrupt abdominal input, whereas MG responds to anterior stimulation.</a:t>
            </a:r>
          </a:p>
          <a:p>
            <a:r>
              <a:rPr sz="1200">
                <a:latin typeface="Arial"/>
              </a:rPr>
              <a:t>• Herberholz and colleagues compared sharp mechanical stimuli with synchronized recordings. At 25 ms after movement onset, LG tail flips averaged about 99° relative to the animal’s forward axis, whereas MG movements averaged about 155°.</a:t>
            </a:r>
          </a:p>
          <a:p>
            <a:r>
              <a:rPr sz="1200">
                <a:latin typeface="Arial"/>
              </a:rPr>
              <a:t>  – An action potential is a brief regenerative electrical impulse. LG bends mainly anterior abdominal segments and pitches the animal upward, whereas MG recruits abdominal flexion more broadly and drives a rearward movement. The larger field event includes coordinated motor-neuron and muscle activity rather than an additional LG spike.</a:t>
            </a:r>
          </a:p>
          <a:p>
            <a:r>
              <a:rPr sz="1200">
                <a:latin typeface="Arial"/>
              </a:rPr>
              <a:t>• Both pathways produced a giant spike followed about 1.4 ms later by a large motor-related field potential. Their distinct trajectories and electrical signatures supported classification. These calibrated responses identify pathway recruitment, but the threshold for releasing a movement can still depend on ongoing behavior and social experience.</a:t>
            </a:r>
          </a:p>
          <a:p/>
          <a:p>
            <a:r>
              <a:rPr sz="1200">
                <a:latin typeface="Arial"/>
              </a:rPr>
              <a:t>References:</a:t>
            </a:r>
          </a:p>
          <a:p>
            <a:r>
              <a:rPr sz="1200">
                <a:latin typeface="Arial"/>
              </a:rPr>
              <a:t>Jens Herberholz; Fadi A. Issa; Donald H. Edwards (2001). Patterns of Neural Circuit Activation and Behavior during Dominance Hierarchy Formation in Freely Behaving Crayfish. The Journal of Neuroscience, 21(8): 2759-2767. https://doi.org/10.1523/jneurosci.21-08-02759.2001</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Herberholz et al. (2001), Fig. 2(A–C). Recorded giant and nongiant tail flips with synchronized video.</a:t>
            </a:r>
          </a:p>
          <a:p>
            <a:r>
              <a:rPr sz="1200">
                <a:latin typeface="Arial"/>
              </a:rPr>
              <a:t>Figure source: https://doi.org/10.1523/jneurosci.21-08-02759.2001</a:t>
            </a:r>
          </a:p>
          <a:p/>
          <a:p>
            <a:r>
              <a:rPr sz="1200">
                <a:latin typeface="Arial"/>
              </a:rPr>
              <a:t>Figure: Herberholz et al. (2001), Fig. 1(B). Published anatomy of giant and nongiant escape pathways.</a:t>
            </a:r>
          </a:p>
          <a:p>
            <a:r>
              <a:rPr sz="1200">
                <a:latin typeface="Arial"/>
              </a:rPr>
              <a:t>Figure source: https://doi.org/10.1523/jneurosci.21-08-02759.2001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Nongiant escape recruits interneurons and motor neurons without firing the giant command pathways. It produces more variable movements and also contributes to repeated swimming tail flips after an initial escape. A motor neuron carries neural output to muscle.</a:t>
            </a:r>
          </a:p>
          <a:p>
            <a:r>
              <a:rPr sz="1200">
                <a:latin typeface="Arial"/>
              </a:rPr>
              <a:t>• During 30-min juvenile encounters, Herberholz and colleagues observed extensive nongiant escape and swimming in the new subordinate. LG firing occurred only once across their paired encounters, when an opponent directly struck the subordinate’s abdomen. MG responses were concentrated during vigorous interaction.</a:t>
            </a:r>
          </a:p>
          <a:p>
            <a:r>
              <a:rPr sz="1200">
                <a:latin typeface="Arial"/>
              </a:rPr>
              <a:t>  – Excitability describes how readily a neuron or circuit responds to stimulation. A change in the frequency of natural responses can reflect changes in sensory input as well as circuit threshold. The rarity of LG activation is therefore a pathway-specific observation, not a direct measurement of serotonin release.</a:t>
            </a:r>
          </a:p>
          <a:p>
            <a:r>
              <a:rPr sz="1200">
                <a:latin typeface="Arial"/>
              </a:rPr>
              <a:t>• Frequent defensive movement therefore does not imply frequent LG activation. Field potentials lacking the giant spike and large initial motor signature distinguished nongiant responses. The observed recruitment pattern supports selective control of escape pathways, but it cannot by itself determine whether serotonergic modulation or another signal changed their excitability.</a:t>
            </a:r>
          </a:p>
          <a:p/>
          <a:p>
            <a:r>
              <a:rPr sz="1200">
                <a:latin typeface="Arial"/>
              </a:rPr>
              <a:t>References:</a:t>
            </a:r>
          </a:p>
          <a:p>
            <a:r>
              <a:rPr sz="1200">
                <a:latin typeface="Arial"/>
              </a:rPr>
              <a:t>Jens Herberholz; Fadi A. Issa; Donald H. Edwards (2001). Patterns of Neural Circuit Activation and Behavior during Dominance Hierarchy Formation in Freely Behaving Crayfish. The Journal of Neuroscience, 21(8): 2759-2767. https://doi.org/10.1523/jneurosci.21-08-02759.2001</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Herberholz et al. (2001), Fig. 5(B). Tail-flip pathway recruitment across 5-min periods.</a:t>
            </a:r>
          </a:p>
          <a:p>
            <a:r>
              <a:rPr sz="1200">
                <a:latin typeface="Arial"/>
              </a:rPr>
              <a:t>Figure source: https://doi.org/10.1523/jneurosci.21-08-02759.2001</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stimulus threshold is the smallest input sufficient to elicit a specified response. Krasne and colleagues repeatedly stimulated an abdominal sensory nerve while recording LG-related activity in adult Procambarus clarkii during rest and paired interaction.</a:t>
            </a:r>
          </a:p>
          <a:p>
            <a:r>
              <a:rPr sz="1200">
                <a:latin typeface="Arial"/>
              </a:rPr>
              <a:t>• Test shocks lasted 0.2 ms. The researchers varied shock strength to estimate the level needed to trigger LG, while also monitoring upstream sensory interneuron activity. This separated availability of the giant reflex from the number of spontaneous escapes during an encounter.</a:t>
            </a:r>
          </a:p>
          <a:p>
            <a:r>
              <a:rPr sz="1200">
                <a:latin typeface="Arial"/>
              </a:rPr>
              <a:t>  – A sensory afferent carries information from a receptor toward the central nervous system. Stimulating its nerve activates an input pathway under controlled conditions. Comparing LG with an upstream interneuron helps locate a change after sensory recruitment rather than treating all failures as loss of afferent excitation.</a:t>
            </a:r>
          </a:p>
          <a:p>
            <a:r>
              <a:rPr sz="1200">
                <a:latin typeface="Arial"/>
              </a:rPr>
              <a:t>• LG thresholds increased during agonistic activity, especially in subordinates. A higher threshold means stronger experimental input was needed to release the stereotyped reflex. Electrical nerve stimulation bypasses part of natural stimulus transduction, so its voltage does not directly specify the force of an opponent’s contact or the probability of every escape type.</a:t>
            </a:r>
          </a:p>
          <a:p/>
          <a:p>
            <a:r>
              <a:rPr sz="1200">
                <a:latin typeface="Arial"/>
              </a:rPr>
              <a:t>References:</a:t>
            </a:r>
          </a:p>
          <a:p>
            <a:r>
              <a:rPr sz="1200">
                <a:latin typeface="Arial"/>
              </a:rPr>
              <a:t>Franklin B. Krasne; Ashkan Shamsian; Raghavendra Kulkarni (1997). Altered Excitability of the Crayfish Lateral Giant Escape Reflex during Agonistic Encounters. The Journal of Neuroscience, 17(2): 709-716. https://doi.org/10.1523/jneurosci.17-02-00709.1997</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Krasne et al. (1997), Fig. 2. LG threshold estimates during rest and social interaction.</a:t>
            </a:r>
          </a:p>
          <a:p>
            <a:r>
              <a:rPr sz="1200">
                <a:latin typeface="Arial"/>
              </a:rPr>
              <a:t>Figure source: https://doi.org/10.1523/jneurosci.17-02-00709.1997</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Krasne and colleagues compared each animal before, during and after social interaction. Thresholds were normalized to the animal’s own resting value, allowing the effect of an encounter to be distinguished from stable differences in electrode placement or stimulus recruitment.</a:t>
            </a:r>
          </a:p>
          <a:p>
            <a:r>
              <a:rPr sz="1200">
                <a:latin typeface="Arial"/>
              </a:rPr>
              <a:t>• LG thresholds rose markedly in subordinates during interaction and less in dominants. At rest, reflex excitability did not consistently separate the two ranks. Some subordinate thresholds approached several times baseline, then fell after interaction ended.</a:t>
            </a:r>
          </a:p>
          <a:p>
            <a:r>
              <a:rPr sz="1200">
                <a:latin typeface="Arial"/>
              </a:rPr>
              <a:t>  – Normalizing a threshold to the resting value expresses the change relative to the same preparation. It avoids assuming that equal absolute stimulus voltages recruit identical sensory input in different animals. Social rank and current behavioral context are therefore separate experimental variables.</a:t>
            </a:r>
          </a:p>
          <a:p>
            <a:r>
              <a:rPr sz="1200">
                <a:latin typeface="Arial"/>
              </a:rPr>
              <a:t>• The same subordinate can consequently retain an available LG reflex while resting and suppress it during a predictable social threat. This context dependence differs from a permanent loss of the neuron. The experiment established modulation during encounters, but did not measure serotonin release or prove that serotonin produced the observed suppression.</a:t>
            </a:r>
          </a:p>
          <a:p/>
          <a:p>
            <a:r>
              <a:rPr sz="1200">
                <a:latin typeface="Arial"/>
              </a:rPr>
              <a:t>References:</a:t>
            </a:r>
          </a:p>
          <a:p>
            <a:r>
              <a:rPr sz="1200">
                <a:latin typeface="Arial"/>
              </a:rPr>
              <a:t>Franklin B. Krasne; Ashkan Shamsian; Raghavendra Kulkarni (1997). Altered Excitability of the Crayfish Lateral Giant Escape Reflex during Agonistic Encounters. The Journal of Neuroscience, 17(2): 709-716. https://doi.org/10.1523/jneurosci.17-02-00709.1997</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Krasne et al. (1997), Fig. 3(A–B). Normalized LG thresholds in dominant and subordinate animals.</a:t>
            </a:r>
          </a:p>
          <a:p>
            <a:r>
              <a:rPr sz="1200">
                <a:latin typeface="Arial"/>
              </a:rPr>
              <a:t>Figure source: https://doi.org/10.1523/jneurosci.17-02-00709.1997</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Abdominal mechanosensory afferents excite LG directly and through sensory interneurons. A monosynaptic pathway contains one synaptic connection; a disynaptic pathway contains two. A synapse is a site of signal transfer between neurons.</a:t>
            </a:r>
          </a:p>
          <a:p>
            <a:r>
              <a:rPr sz="1200">
                <a:latin typeface="Arial"/>
              </a:rPr>
              <a:t>• Edwards and colleagues combined identified-cell recordings with stained-neuron reconstructions in adult crayfish. Interneuron A overlaps the LG dendritic region and contributes sensory excitation. Nerve shocks produce an early α depolarization followed by a later β component reflecting interneuronal recruitment.</a:t>
            </a:r>
          </a:p>
          <a:p>
            <a:r>
              <a:rPr sz="1200">
                <a:latin typeface="Arial"/>
              </a:rPr>
              <a:t>  – Dendrites are neuronal processes that receive and integrate inputs, whereas an axon carries output toward other targets. The anatomical reconstruction and the physiological recordings provide complementary evidence: identified processes establish where cells overlap, while electrical coupling establishes that a signal can pass between them.</a:t>
            </a:r>
          </a:p>
          <a:p>
            <a:r>
              <a:rPr sz="1200">
                <a:latin typeface="Arial"/>
              </a:rPr>
              <a:t>• An excitatory postsynaptic potential (EPSP) is an input-evoked voltage change favoring neuronal firing. Responses are calibrated in mV and ms, separating signal size from timing. Convergence permits multiple inputs to approach LG firing threshold, but anatomical overlap alone cannot establish a functional synapse or determine which input controls behavior in every context.</a:t>
            </a:r>
          </a:p>
          <a:p/>
          <a:p>
            <a:r>
              <a:rPr sz="1200">
                <a:latin typeface="Arial"/>
              </a:rPr>
              <a:t>References:</a:t>
            </a:r>
          </a:p>
          <a:p>
            <a:r>
              <a:rPr sz="1200">
                <a:latin typeface="Arial"/>
              </a:rPr>
              <a:t>DH Edwards; WJ Heitler; EM Leise; RA Fricke (1991). Postsynaptic modulation of rectifying electrical synaptic inputs to the LG escape command neuron in crayfish. The Journal of Neuroscience, 11(7): 2117-2129. https://doi.org/10.1523/jneurosci.11-07-02117.1991</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Edwards et al. (1991), Fig. 2. Original stained-neuron reconstruction of interneuron A and LG.</a:t>
            </a:r>
          </a:p>
          <a:p>
            <a:r>
              <a:rPr sz="1200">
                <a:latin typeface="Arial"/>
              </a:rPr>
              <a:t>Figure source: https://doi.org/10.1523/jneurosci.11-07-02117.1991</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An electrical synapse passes current between coupled neurons. Rectification means that transmission depends on the direction and voltage difference across the connection. It permits strong forward transmission without equivalent transfer in the opposite direction.</a:t>
            </a:r>
          </a:p>
          <a:p>
            <a:r>
              <a:rPr sz="1200">
                <a:latin typeface="Arial"/>
              </a:rPr>
              <a:t>• Edwards and colleagues recorded LG and identified sensory interneurons while injecting current to change membrane potential. Shifting postsynaptic LG voltage altered the transmitted response even when the presynaptic stimulus was retained. Their recordings resolved transferred signals on millisecond time scales.</a:t>
            </a:r>
          </a:p>
          <a:p>
            <a:r>
              <a:rPr sz="1200">
                <a:latin typeface="Arial"/>
              </a:rPr>
              <a:t>  – Depolarization makes a cell’s internal voltage less negative, while hyperpolarization makes it more negative. At a rectifying contact, changing one cell’s voltage changes the driving conditions across the connection. The resulting change in coupling can coexist with changes in the cell’s distance from firing threshold.</a:t>
            </a:r>
          </a:p>
          <a:p>
            <a:r>
              <a:rPr sz="1200">
                <a:latin typeface="Arial"/>
              </a:rPr>
              <a:t>• Postsynaptic voltage therefore changes the effectiveness of incoming electrical excitation. This is distinct from changing transmitter release at a chemical synapse. The measured rectification constrains how neuromodulation can alter sensory gain, but it does not identify a serotonin receptor or a particular molecular gap-junction protein responsible for the social-status effect.</a:t>
            </a:r>
          </a:p>
          <a:p/>
          <a:p>
            <a:r>
              <a:rPr sz="1200">
                <a:latin typeface="Arial"/>
              </a:rPr>
              <a:t>References:</a:t>
            </a:r>
          </a:p>
          <a:p>
            <a:r>
              <a:rPr sz="1200">
                <a:latin typeface="Arial"/>
              </a:rPr>
              <a:t>DH Edwards; WJ Heitler; EM Leise; RA Fricke (1991). Postsynaptic modulation of rectifying electrical synaptic inputs to the LG escape command neuron in crayfish. The Journal of Neuroscience, 11(7): 2117-2129. https://doi.org/10.1523/jneurosci.11-07-02117.1991</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Edwards et al. (1991), Fig. 4(A,C). Electrical coupling changes with postsynaptic polarization.</a:t>
            </a:r>
          </a:p>
          <a:p>
            <a:r>
              <a:rPr sz="1200">
                <a:latin typeface="Arial"/>
              </a:rPr>
              <a:t>Figure source: https://doi.org/10.1523/jneurosci.11-07-02117.1991</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cell’s membrane potential is the voltage inside relative to outside. Its effect on firing depends both on proximity to spike threshold and on the transmission of its inputs. Depolarization does not necessarily enlarge every incoming synaptic response.</a:t>
            </a:r>
          </a:p>
          <a:p>
            <a:r>
              <a:rPr sz="1200">
                <a:latin typeface="Arial"/>
              </a:rPr>
              <a:t>• Edwards and colleagues shifted LG voltage by intracellular current injection while retaining sensory nerve stimulation. Across α, β and later components, hyperpolarizing LG increased EPSP amplitude, whereas depolarizing it reduced amplitude. The plotted membrane shifts span tens of mV relative to rest.</a:t>
            </a:r>
          </a:p>
          <a:p>
            <a:r>
              <a:rPr sz="1200">
                <a:latin typeface="Arial"/>
              </a:rPr>
              <a:t>  – Sensory gain describes how strongly a specified input affects the postsynaptic neuron. Increasing an EPSP and moving the resting potential closer to threshold are different changes, and they can act in opposite directions. Their combined effect must be measured rather than inferred from one voltage shift.</a:t>
            </a:r>
          </a:p>
          <a:p>
            <a:r>
              <a:rPr sz="1200">
                <a:latin typeface="Arial"/>
              </a:rPr>
              <a:t>• Rectifying electrical contacts provide a mechanism for this postsynaptic control of input effectiveness. The result cautions against equating depolarization with enhanced sensory gain. It establishes voltage-dependent transmission in this preparation, but the total effect on escape also depends on spike threshold, inhibition and the actual pattern of afferent excitation.</a:t>
            </a:r>
          </a:p>
          <a:p/>
          <a:p>
            <a:r>
              <a:rPr sz="1200">
                <a:latin typeface="Arial"/>
              </a:rPr>
              <a:t>References:</a:t>
            </a:r>
          </a:p>
          <a:p>
            <a:r>
              <a:rPr sz="1200">
                <a:latin typeface="Arial"/>
              </a:rPr>
              <a:t>DH Edwards; WJ Heitler; EM Leise; RA Fricke (1991). Postsynaptic modulation of rectifying electrical synaptic inputs to the LG escape command neuron in crayfish. The Journal of Neuroscience, 11(7): 2117-2129. https://doi.org/10.1523/jneurosci.11-07-02117.1991</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Edwards et al. (1991), Fig. 8(A–C). Sensory EPSPs depend on the LG membrane potential.</a:t>
            </a:r>
          </a:p>
          <a:p>
            <a:r>
              <a:rPr sz="1200">
                <a:latin typeface="Arial"/>
              </a:rPr>
              <a:t>Figure source: https://doi.org/10.1523/jneurosci.11-07-02117.1991</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Tonic inhibition is sustained suppression of a circuit, distinct from the brief inhibition accompanying one response. A descending input travels from more anterior nervous-system regions toward abdominal circuits. Vu and colleagues examined this control of LG in restrained crayfish.</a:t>
            </a:r>
          </a:p>
          <a:p>
            <a:r>
              <a:rPr sz="1200">
                <a:latin typeface="Arial"/>
              </a:rPr>
              <a:t>• They interrupted transmission through a thoracic-abdominal connective with sucrose and then severed it. Sensory-evoked LG EPSPs increased during the reversible block; after severing, another sucrose application produced little additional increase. Voltage responses were compared within the same preparation.</a:t>
            </a:r>
          </a:p>
          <a:p>
            <a:r>
              <a:rPr sz="1200">
                <a:latin typeface="Arial"/>
              </a:rPr>
              <a:t>  – Distal dendritic inhibition can reduce the contribution of selected inputs before their signals reach the spike-initiation region. The proposed selective function differs from recurrent inhibition that prevents another escape from beginning during an ongoing one. The connective block tests the descending source of the suppression, while its spatial location requires additional electrical comparisons.</a:t>
            </a:r>
          </a:p>
          <a:p>
            <a:r>
              <a:rPr sz="1200">
                <a:latin typeface="Arial"/>
              </a:rPr>
              <a:t>• The controls locate sustained suppression in an influence carried through the connective. The inhibition increased membrane conductance: incoming current could leave through additional pathways, reducing excitation even though LG was slightly depolarized. Further measurements supported action on distal input regions rather than only near spike initiation. They did not establish that this descending system was the sole cause of social inhibition or that every modulatory effect of serotonin used the same pathway.</a:t>
            </a:r>
          </a:p>
          <a:p/>
          <a:p>
            <a:r>
              <a:rPr sz="1200">
                <a:latin typeface="Arial"/>
              </a:rPr>
              <a:t>References:</a:t>
            </a:r>
          </a:p>
          <a:p>
            <a:r>
              <a:rPr sz="1200">
                <a:latin typeface="Arial"/>
              </a:rPr>
              <a:t>ET Vu; SC Lee; FB Krasne (1993). The mechanism of tonic inhibition of crayfish escape behavior: distal inhibition and its functional significance. The Journal of Neuroscience, 13(10): 4379-4393. https://doi.org/10.1523/jneurosci.13-10-04379.1993</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Vu et al. (1993), Fig. 3(A–C). Sensory EPSPs before and after descending input is interrupted.</a:t>
            </a:r>
          </a:p>
          <a:p>
            <a:r>
              <a:rPr sz="1200">
                <a:latin typeface="Arial"/>
              </a:rPr>
              <a:t>Figure source: https://doi.org/10.1523/jneurosci.13-10-04379.1993</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Glanzman and Krasne applied serotonin through the ventral arterial supply while recording sensory responses in LG. Their study established an inhibitory effect under its delivery conditions, preceding the discovery that social experience and application schedule could alter the sign.</a:t>
            </a:r>
          </a:p>
          <a:p>
            <a:r>
              <a:rPr sz="1200">
                <a:latin typeface="Arial"/>
              </a:rPr>
              <a:t>• With 1 mM serotonin perfusion, repeated stimuli delivered every 15 s evoked smaller LG responses and lost their ability to produce spikes. During normal saline, early trials could still fire LG; washing out serotonin restored responsiveness. The original recordings retain mV and ms calibration.</a:t>
            </a:r>
          </a:p>
          <a:p>
            <a:r>
              <a:rPr sz="1200">
                <a:latin typeface="Arial"/>
              </a:rPr>
              <a:t>  – Perfusion through an artery distributes the agent differently from bathing an exposed nerve cord. The concentration in the perfusate is not automatically the concentration at LG receptors. Delivery conditions and social history must therefore be recorded before comparisons between experiments are assigned a biological explanation.</a:t>
            </a:r>
          </a:p>
          <a:p>
            <a:r>
              <a:rPr sz="1200">
                <a:latin typeface="Arial"/>
              </a:rPr>
              <a:t>• The comparison establishes reversible pharmacological suppression, rather than an irreversible loss of the preparation. Its concentration and route differ from later bath applications. An inhibitory result in this experiment therefore cannot be generalized to every crayfish or taken as a contradiction of facilitation under other exposure conditions.</a:t>
            </a:r>
          </a:p>
          <a:p/>
          <a:p>
            <a:r>
              <a:rPr sz="1200">
                <a:latin typeface="Arial"/>
              </a:rPr>
              <a:t>References:</a:t>
            </a:r>
          </a:p>
          <a:p>
            <a:r>
              <a:rPr sz="1200">
                <a:latin typeface="Arial"/>
              </a:rPr>
              <a:t>DL Glanzman; FB Krasne (1983). Serotonin and octopamine have opposite modulatory effects on the crayfish's lateral giant escape reaction. The Journal of Neuroscience, 3(11): 2263-2269. https://doi.org/10.1523/jneurosci.03-11-02263.1983</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Glanzman &amp; Krasne (1983), Fig. 2. LG responses during saline, serotonin and washout.</a:t>
            </a:r>
          </a:p>
          <a:p>
            <a:r>
              <a:rPr sz="1200">
                <a:latin typeface="Arial"/>
              </a:rPr>
              <a:t>Figure source: https://doi.org/10.1523/jneurosci.03-11-02263.1983</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Octopamine is another monoamine neuromodulator in arthropods. Glanzman and Krasne compared its effect with serotonin using controlled sensory stimulation and arterial delivery in crayfish. Both compounds acted on the escape system, but their effects were not interchangeable.</a:t>
            </a:r>
          </a:p>
          <a:p>
            <a:r>
              <a:rPr sz="1200">
                <a:latin typeface="Arial"/>
              </a:rPr>
              <a:t>• During 2 mM octopamine perfusion, the later β component increased and stimuli that previously produced subthreshold responses could trigger LG spikes. The early α component changed less. Saline periods before and after treatment provided comparisons within the same preparation.</a:t>
            </a:r>
          </a:p>
          <a:p>
            <a:r>
              <a:rPr sz="1200">
                <a:latin typeface="Arial"/>
              </a:rPr>
              <a:t>  – The β response contains activity that has passed through a sensory interneuron, so it can change when either stage of that pathway is modulated. Comparing the earliest direct component with the later component helps distinguish these possibilities. An escape result cannot be used to assign the same sign to octopamine in every motor network.</a:t>
            </a:r>
          </a:p>
          <a:p>
            <a:r>
              <a:rPr sz="1200">
                <a:latin typeface="Arial"/>
              </a:rPr>
              <a:t>• Additional recordings supported facilitation of the afferent-to-interneuron-A connection, whereas serotonin did not produce an equivalent effect there. A larger β response may consequently reflect modulation before LG as well as at LG. The opposite amine effects establish specific physiological actions under these conditions, not universal behavioral identities such as dominance and submission.</a:t>
            </a:r>
          </a:p>
          <a:p/>
          <a:p>
            <a:r>
              <a:rPr sz="1200">
                <a:latin typeface="Arial"/>
              </a:rPr>
              <a:t>References:</a:t>
            </a:r>
          </a:p>
          <a:p>
            <a:r>
              <a:rPr sz="1200">
                <a:latin typeface="Arial"/>
              </a:rPr>
              <a:t>DL Glanzman; FB Krasne (1983). Serotonin and octopamine have opposite modulatory effects on the crayfish's lateral giant escape reaction. The Journal of Neuroscience, 3(11): 2263-2269. https://doi.org/10.1523/jneurosci.03-11-02263.1983</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Glanzman &amp; Krasne (1983), Fig. 6. Octopamine increases the later LG response.</a:t>
            </a:r>
          </a:p>
          <a:p>
            <a:r>
              <a:rPr sz="1200">
                <a:latin typeface="Arial"/>
              </a:rPr>
              <a:t>Figure source: https://doi.org/10.1523/jneurosci.03-11-02263.1983</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Teshiba and colleagues systematically varied serotonin concentration, onset rate and exposure duration in crayfish isolated for at least two weeks. These controls tested why different laboratories had reported opposite effects on LG.</a:t>
            </a:r>
          </a:p>
          <a:p>
            <a:r>
              <a:rPr sz="1200">
                <a:latin typeface="Arial"/>
              </a:rPr>
              <a:t>• Rapid high-concentration exposure inhibited sensory EPSPs, whereas lower concentrations facilitated them. Juvenile bath concentrations were 5 µM for the low condition and 100 µM for the high condition. Adult arterial concentrations differed because the route of application differed.</a:t>
            </a:r>
          </a:p>
          <a:p>
            <a:r>
              <a:rPr sz="1200">
                <a:latin typeface="Arial"/>
              </a:rPr>
              <a:t>  – A bath concentration specifies the solution contacting the exposed tissue, whereas arterial delivery specifies an upstream solution. The study used different nominal concentrations for these routes and compared their qualitative effects. Social isolation did not eliminate inhibitory modulation when serotonin arrived rapidly at a sufficiently high level.</a:t>
            </a:r>
          </a:p>
          <a:p>
            <a:r>
              <a:rPr sz="1200">
                <a:latin typeface="Arial"/>
              </a:rPr>
              <a:t>• Thus the measured sign depends on the preparation and exposure schedule as well as the drug’s identity. The experiments establish that an isolated animal has both facilitatory and inhibitory capabilities. They do not provide direct measurements of the receptor occupancy or intracellular molecules mediating each component, and they cannot specify the natural serotonin waveform during an encounter.</a:t>
            </a:r>
          </a:p>
          <a:p/>
          <a:p>
            <a:r>
              <a:rPr sz="1200">
                <a:latin typeface="Arial"/>
              </a:rPr>
              <a:t>References:</a:t>
            </a:r>
          </a:p>
          <a:p>
            <a:r>
              <a:rPr sz="1200">
                <a:latin typeface="Arial"/>
              </a:rPr>
              <a:t>Terri Teshiba; Ashkan Shamsian; Bahram Yashar; Shih-Rung Yeh; Donald H. Edwards; Franklin B. Krasne (2001). Dual and Opposing Modulatory Effects of Serotonin on Crayfish Lateral Giant Escape Command Neurons. The Journal of Neuroscience, 21(12): 4523-4529. https://doi.org/10.1523/jneurosci.21-12-04523.2001</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Teshiba et al. (2001), Fig. 3(A–D). Effects of serotonin dose, onset rate and exposure duration.</a:t>
            </a:r>
          </a:p>
          <a:p>
            <a:r>
              <a:rPr sz="1200">
                <a:latin typeface="Arial"/>
              </a:rPr>
              <a:t>Figure source: https://doi.org/10.1523/jneurosci.21-12-04523.2001</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Onset rate describes how rapidly exposure reaches its final level. Teshiba and colleagues compared a rapid serotonin increase with a gradual rise to the same high condition while repeatedly measuring LG sensory EPSPs.</a:t>
            </a:r>
          </a:p>
          <a:p>
            <a:r>
              <a:rPr sz="1200">
                <a:latin typeface="Arial"/>
              </a:rPr>
              <a:t>• Fast delivery reached full exposure within roughly 1–2 min. Slow delivery took about 20–30 min. The slow, prolonged high exposure facilitated LG instead of producing the inhibition characteristic of a rapid rise. Exposure duration and washout were tracked independently.</a:t>
            </a:r>
          </a:p>
          <a:p>
            <a:r>
              <a:rPr sz="1200">
                <a:latin typeface="Arial"/>
              </a:rPr>
              <a:t>  – The final concentration alone omits the tissue’s exposure history. Two preparations can receive the same final solution yet arrive there after different periods of receptor activation and downstream signaling. The source’s mathematical models explored possible interactions, but a successful model is not a molecular identification.</a:t>
            </a:r>
          </a:p>
          <a:p>
            <a:r>
              <a:rPr sz="1200">
                <a:latin typeface="Arial"/>
              </a:rPr>
              <a:t>• The result supports parallel modulatory processes whose net influence depends on timing. A slowly developing facilitatory effect can dominate before a higher-threshold inhibitory action becomes substantial. This is a mechanistic interpretation constrained by the recordings; the experiments did not directly identify the proposed interacting signaling molecules or prove their precise biochemical sequence.</a:t>
            </a:r>
          </a:p>
          <a:p/>
          <a:p>
            <a:r>
              <a:rPr sz="1200">
                <a:latin typeface="Arial"/>
              </a:rPr>
              <a:t>References:</a:t>
            </a:r>
          </a:p>
          <a:p>
            <a:r>
              <a:rPr sz="1200">
                <a:latin typeface="Arial"/>
              </a:rPr>
              <a:t>Terri Teshiba; Ashkan Shamsian; Bahram Yashar; Shih-Rung Yeh; Donald H. Edwards; Franklin B. Krasne (2001). Dual and Opposing Modulatory Effects of Serotonin on Crayfish Lateral Giant Escape Command Neurons. The Journal of Neuroscience, 21(12): 4523-4529. https://doi.org/10.1523/jneurosci.21-12-04523.2001</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Teshiba et al. (2001), Fig. 1(B1–B4). Recorded LG responses under different serotonin schedules.</a:t>
            </a:r>
          </a:p>
          <a:p>
            <a:r>
              <a:rPr sz="1200">
                <a:latin typeface="Arial"/>
              </a:rPr>
              <a:t>Figure source: https://doi.org/10.1523/jneurosci.21-12-04523.2001</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Yeh, Fricke and Edwards compared socially isolated, dominant and subordinate crayfish using bath-applied serotonin. Animals were assigned rank from repeated social behavior and paired for at least 12 days before mature status-dependent responses were evaluated.</a:t>
            </a:r>
          </a:p>
          <a:p>
            <a:r>
              <a:rPr sz="1200">
                <a:latin typeface="Arial"/>
              </a:rPr>
              <a:t>• Serotonin at 50 µM enhanced LG sensory responses in isolates and dominants, but reduced them in subordinates. Saline wash removed the effect in paired animals, whereas facilitation in isolates could persist for hours. The same identified neuron and input pathway were tested across social conditions.</a:t>
            </a:r>
          </a:p>
          <a:p>
            <a:r>
              <a:rPr sz="1200">
                <a:latin typeface="Arial"/>
              </a:rPr>
              <a:t>  – Plasticity is a lasting change in nervous-system function associated with experience. Comparing bath responses after the animals’ histories have differed isolates a property retained by the preparation. The experiment does not require that rank be maintained by a continuously elevated circulating serotonin concentration.</a:t>
            </a:r>
          </a:p>
          <a:p>
            <a:r>
              <a:rPr sz="1200">
                <a:latin typeface="Arial"/>
              </a:rPr>
              <a:t>• A transmitter’s action therefore depends on the animal’s prior social experience. The study measured responses to experimentally supplied serotonin; it did not measure endogenous release during fighting. It supports plasticity in serotonergic modulation without establishing that this plasticity alone causes the immediate behavioral decision to withdraw.</a:t>
            </a:r>
          </a:p>
          <a:p/>
          <a:p>
            <a:r>
              <a:rPr sz="1200">
                <a:latin typeface="Arial"/>
              </a:rPr>
              <a:t>References:</a:t>
            </a:r>
          </a:p>
          <a:p>
            <a:r>
              <a:rPr sz="1200">
                <a:latin typeface="Arial"/>
              </a:rPr>
              <a:t>Shih-Rung Yeh; Russell A. Fricke; Donald H. Edwards (1996). The Effect of Social Experience on Serotonergic Modulation of the Escape Circuit of Crayfish. Science, 271(5247): 366-369. https://doi.org/10.1126/science.271.5247.366</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Yeh et al. (1996), Fig. 2(A–C). Serotonin and agonist effects depend on social experience.</a:t>
            </a:r>
          </a:p>
          <a:p>
            <a:r>
              <a:rPr sz="1200">
                <a:latin typeface="Arial"/>
              </a:rPr>
              <a:t>Figure source: https://doi.org/10.1126/science.271.5247.366</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Yeh and colleagues expanded the social-history comparison using identified LG recordings across a range of sensory shock strengths. Subthreshold input evokes a response without a spike; suprathreshold input is sufficient to initiate firing.</a:t>
            </a:r>
          </a:p>
          <a:p>
            <a:r>
              <a:rPr sz="1200">
                <a:latin typeface="Arial"/>
              </a:rPr>
              <a:t>• After 45 min of 50 µM serotonin superfusion, LG EPSPs increased across stimulus levels in isolates and dominants and decreased in established subordinates. Representative stimulus-response relations changed by about +117%, +39% and −37%, respectively. These are individual examples, not universal effect sizes.</a:t>
            </a:r>
          </a:p>
          <a:p>
            <a:r>
              <a:rPr sz="1200">
                <a:latin typeface="Arial"/>
              </a:rPr>
              <a:t>  – Testing a range of shocks prevents a change at one selected stimulus level from being mistaken for a general gain change. When an EPSP grows enough to cross threshold, the same physical input can now recruit the giant pathway. Conversely, inhibition can turn a formerly effective stimulus into a subthreshold response.</a:t>
            </a:r>
          </a:p>
          <a:p>
            <a:r>
              <a:rPr sz="1200">
                <a:latin typeface="Arial"/>
              </a:rPr>
              <a:t>• The stimulus needed to fire LG consequently fell with facilitation and rose with inhibition. A 1-h saline wash restored paired animals toward baseline. This links synaptic gain to reflex availability, while the controlled shock assay remains distinct from the frequency of natural escapes or the outcome of a social fight.</a:t>
            </a:r>
          </a:p>
          <a:p/>
          <a:p>
            <a:r>
              <a:rPr sz="1200">
                <a:latin typeface="Arial"/>
              </a:rPr>
              <a:t>References:</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Yeh et al. (1997), Fig. 2. LG responses and stimulus-response relations by social status.</a:t>
            </a:r>
          </a:p>
          <a:p>
            <a:r>
              <a:rPr sz="1200">
                <a:latin typeface="Arial"/>
              </a:rPr>
              <a:t>Figure source: https://doi.org/10.1523/jneurosci.17-02-00697.1997</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Input resistance describes the voltage change produced by an injected current. Ion channels are membrane proteins that provide paths for ionic current. Higher resistance can permit a given input current to produce a larger voltage response; lower resistance permits more current to leave the membrane locally.</a:t>
            </a:r>
          </a:p>
          <a:p>
            <a:r>
              <a:rPr sz="1200">
                <a:latin typeface="Arial"/>
              </a:rPr>
              <a:t>• Yeh and colleagues measured LG at its initial axon segment before serotonin, during exposure and after a 1-h wash. Isolates and dominants displayed small depolarizations and increased input resistance; subordinates displayed hyperpolarization and reduced resistance. The changes accompanied their opposite EPSP responses.</a:t>
            </a:r>
          </a:p>
          <a:p>
            <a:r>
              <a:rPr sz="1200">
                <a:latin typeface="Arial"/>
              </a:rPr>
              <a:t>  – Hyperpolarization makes the cell’s internal voltage more negative. A conductance is the ease with which current passes through a pathway, and increased conductance lowers resistance. The recording location matters because a distal conductance change can affect sensory inputs differently from a change near the electrode.</a:t>
            </a:r>
          </a:p>
          <a:p>
            <a:r>
              <a:rPr sz="1200">
                <a:latin typeface="Arial"/>
              </a:rPr>
              <a:t>• The association supports modulation of LG membrane properties, rather than only changing sensory recruitment. Measurement at the axon segment does not fully reveal conductance distribution across all dendrites. These recordings also do not identify the ion-channel species responsible or prove that one resistance change explains every effect on electrical synaptic input.</a:t>
            </a:r>
          </a:p>
          <a:p/>
          <a:p>
            <a:r>
              <a:rPr sz="1200">
                <a:latin typeface="Arial"/>
              </a:rPr>
              <a:t>References:</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Yeh et al. (1997), Fig. 3(B). Membrane potential and input-resistance changes by social status.</a:t>
            </a:r>
          </a:p>
          <a:p>
            <a:r>
              <a:rPr sz="1200">
                <a:latin typeface="Arial"/>
              </a:rPr>
              <a:t>Figure source: https://doi.org/10.1523/jneurosci.17-02-00697.1997</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behavioral decision to yield can occur during an early encounter, while serotonin’s effect on LG changes more slowly. Yeh and colleagues tested new dominants and subordinates at different times after pairing previously isolated crayfish.</a:t>
            </a:r>
          </a:p>
          <a:p>
            <a:r>
              <a:rPr sz="1200">
                <a:latin typeface="Arial"/>
              </a:rPr>
              <a:t>• New subordinates initially retained serotonergic facilitation. It declined during the first week and became increasingly inhibitory during the second week. After 12 days of pairing followed by 8 days of renewed isolation, facilitation returned in the former subordinates.</a:t>
            </a:r>
          </a:p>
          <a:p>
            <a:r>
              <a:rPr sz="1200">
                <a:latin typeface="Arial"/>
              </a:rPr>
              <a:t>  – The preparation retains consequences of prior housing and interaction after removal for recording. Because early subordinate behavior precedes the mature inhibitory response, that inhibitory response cannot be treated as the complete explanation for the first decision to retreat. The reversal establishes plasticity rather than permanent damage.</a:t>
            </a:r>
          </a:p>
          <a:p>
            <a:r>
              <a:rPr sz="1200">
                <a:latin typeface="Arial"/>
              </a:rPr>
              <a:t>• This time course separates acquisition of rank from acquisition of the mature cellular response. Reversal after isolation supports an experience-dependent process maintained by continued social conditions. The measurements do not identify the signal that communicates rank to abdominal circuitry or establish that the initial hierarchy decision requires the later inhibitory serotonin response.</a:t>
            </a:r>
          </a:p>
          <a:p/>
          <a:p>
            <a:r>
              <a:rPr sz="1200">
                <a:latin typeface="Arial"/>
              </a:rPr>
              <a:t>References:</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Yeh et al. (1997), Fig. 6. Serotonin effects after pairing and subsequent isolation.</a:t>
            </a:r>
          </a:p>
          <a:p>
            <a:r>
              <a:rPr sz="1200">
                <a:latin typeface="Arial"/>
              </a:rPr>
              <a:t>Figure source: https://doi.org/10.1523/jneurosci.17-02-00697.1997</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Yeh and colleagues paired former subordinates with one another, allowing one member to acquire dominant status. This manipulation tested whether a retained inhibitory serotonin response could change after a new social relationship developed.</a:t>
            </a:r>
          </a:p>
          <a:p>
            <a:r>
              <a:rPr sz="1200">
                <a:latin typeface="Arial"/>
              </a:rPr>
              <a:t>• The newly dominant animal’s LG response shifted gradually from serotonin-induced inhibition toward facilitation over about two weeks. The comparison distinguished these animals from new dominants generated by pairing isolates, which already had a facilitatory response.</a:t>
            </a:r>
          </a:p>
          <a:p>
            <a:r>
              <a:rPr sz="1200">
                <a:latin typeface="Arial"/>
              </a:rPr>
              <a:t>  – A previous subordinate and a previous isolate can both become dominant while beginning from different modulatory states. Their eventual similarity does not imply identical rates of adaptation. The relevant variable is the sequence of social experiences, not merely the label assigned on the recording day.</a:t>
            </a:r>
          </a:p>
          <a:p>
            <a:r>
              <a:rPr sz="1200">
                <a:latin typeface="Arial"/>
              </a:rPr>
              <a:t>• Promotion therefore changes an experienced subordinate’s cellular modulation on a multi-day time scale. The persistence of an older response early after promotion indicates that current behavior and cellular history need not coincide immediately. The experiment establishes adaptation after a status transition, but cannot assign it specifically to receptor abundance, receptor localization or downstream signaling without additional molecular measurements.</a:t>
            </a:r>
          </a:p>
          <a:p/>
          <a:p>
            <a:r>
              <a:rPr sz="1200">
                <a:latin typeface="Arial"/>
              </a:rPr>
              <a:t>References:</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Yeh et al. (1997), Fig. 7. Former subordinates adapt after becoming dominant.</a:t>
            </a:r>
          </a:p>
          <a:p>
            <a:r>
              <a:rPr sz="1200">
                <a:latin typeface="Arial"/>
              </a:rPr>
              <a:t>Figure source: https://doi.org/10.1523/jneurosci.17-02-00697.1997</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Social history can persist after current rank changes. Yeh and colleagues paired former dominants with one another and subsequently measured serotonin’s effect in the animal that had become subordinate. Its behavior was monitored independently of the later neuronal assay.</a:t>
            </a:r>
          </a:p>
          <a:p>
            <a:r>
              <a:rPr sz="1200">
                <a:latin typeface="Arial"/>
              </a:rPr>
              <a:t>• These new subordinates continued to avoid the dominant and to retreat or tail flip on approach. Nevertheless, serotonin still enhanced their LG responses after as much as 38 days of pairing, unlike subordinates produced from initially isolated animals.</a:t>
            </a:r>
          </a:p>
          <a:p>
            <a:r>
              <a:rPr sz="1200">
                <a:latin typeface="Arial"/>
              </a:rPr>
              <a:t>  – The same current subordinate category contains animals with different histories and different serotonergic responses. A mechanistic explanation must therefore account for both experience and its order. The persistence was measured in surviving paired animals, so it does not establish that every demoted dominant follows an identical trajectory.</a:t>
            </a:r>
          </a:p>
          <a:p>
            <a:r>
              <a:rPr sz="1200">
                <a:latin typeface="Arial"/>
              </a:rPr>
              <a:t>• The dissociation prevents a one-to-one mapping from current rank to serotonin’s cellular sign. Prior dominance left a modulatory state resistant to reversal under these conditions. It also limits causal claims: dominant-like facilitation of LG is insufficient to guarantee dominant behavior, because the animals expressing it nevertheless behaved as subordinates in their new relationship.</a:t>
            </a:r>
          </a:p>
          <a:p/>
          <a:p>
            <a:r>
              <a:rPr sz="1200">
                <a:latin typeface="Arial"/>
              </a:rPr>
              <a:t>References:</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Yeh et al. (1997), Fig. 8. Former dominants retain facilitation after becoming subordinate.</a:t>
            </a:r>
          </a:p>
          <a:p>
            <a:r>
              <a:rPr sz="1200">
                <a:latin typeface="Arial"/>
              </a:rPr>
              <a:t>Figure source: https://doi.org/10.1523/jneurosci.17-02-00697.1997</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An agonist activates a receptor-mediated response. Yeh and colleagues substituted drugs historically classified as vertebrate type-1 or type-2 serotonin agonists while retaining LG recording and sensory stimulation. Their classifications were pharmacological hypotheses, not direct molecular identifications in crayfish.</a:t>
            </a:r>
          </a:p>
          <a:p>
            <a:r>
              <a:rPr sz="1200">
                <a:latin typeface="Arial"/>
              </a:rPr>
              <a:t>• At 50 µM, mCPP reduced LG responses in paired animals but had little effect in isolates. α-Methylserotonin enhanced responses in all three social conditions. Facilitation could persist after a 1-h wash in isolates, whereas paired animals generally recovered toward baseline.</a:t>
            </a:r>
          </a:p>
          <a:p>
            <a:r>
              <a:rPr sz="1200">
                <a:latin typeface="Arial"/>
              </a:rPr>
              <a:t>  – Drug selectivity is the relative strength of its action at different targets. A compound named for a vertebrate receptor can activate a different combination of crustacean targets. Identifying a subtype requires cloned receptors, signaling measurements and localization in addition to the physiological drug response.</a:t>
            </a:r>
          </a:p>
          <a:p>
            <a:r>
              <a:rPr sz="1200">
                <a:latin typeface="Arial"/>
              </a:rPr>
              <a:t>• Opposing drug effects support multiple modulatory actions rather than one obligatory response to serotonin. Crayfish receptors can have different drug selectivity from vertebrate receptors. These experiments therefore cannot establish that the named vertebrate receptor subtype is the molecular receptor responsible for LG inhibition or facilitation.</a:t>
            </a:r>
          </a:p>
          <a:p/>
          <a:p>
            <a:r>
              <a:rPr sz="1200">
                <a:latin typeface="Arial"/>
              </a:rPr>
              <a:t>References:</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Yeh et al. (1997), Fig. 9. Responses to the historically designated type-1 agonist.</a:t>
            </a:r>
          </a:p>
          <a:p>
            <a:r>
              <a:rPr sz="1200">
                <a:latin typeface="Arial"/>
              </a:rPr>
              <a:t>Figure source: https://doi.org/10.1523/jneurosci.17-02-00697.1997</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Immunocytochemistry uses antibodies to locate a target molecule in cells. Spitzer and colleagues mapped a putative crustacean type-1 serotonin receptor, designated 5-HT1crust, with fluorescence microscopy and compared receptor labeling with serotonin labeling.</a:t>
            </a:r>
          </a:p>
          <a:p>
            <a:r>
              <a:rPr sz="1200">
                <a:latin typeface="Arial"/>
              </a:rPr>
              <a:t>• Receptor-associated puncta occurred around neuronal somata (cell bodies) and within their cytoplasm. In cluster 10 brain cells, optical sections separated labeled material from nuclear staining; source panels include 5-µm and 50-µm calibration. Antibody preabsorption controls reduced the specific labeling pattern.</a:t>
            </a:r>
          </a:p>
          <a:p>
            <a:r>
              <a:rPr sz="1200">
                <a:latin typeface="Arial"/>
              </a:rPr>
              <a:t>  – A soma is a neuron’s cell body, and a punctum is a small localized region of label. Antibody preabsorption tests whether binding depends on the recognized antigen. Even specific molecular recognition does not measure receptor coupling, current flow or the consequence of activating the labeled cell.</a:t>
            </a:r>
          </a:p>
          <a:p>
            <a:r>
              <a:rPr sz="1200">
                <a:latin typeface="Arial"/>
              </a:rPr>
              <a:t>• The map identifies candidate locations for serotonergic signaling, but immunoreactivity is not a direct measurement of receptor activation. Cytoplasmic labeling may reflect intracellular receptor pools as well as membrane-associated protein. Neither proximity to serotonin-containing fibers nor a bright signal establishes that the receptor is necessary for social dominance or a particular escape response.</a:t>
            </a:r>
          </a:p>
          <a:p/>
          <a:p>
            <a:r>
              <a:rPr sz="1200">
                <a:latin typeface="Arial"/>
              </a:rPr>
              <a:t>References:</a:t>
            </a:r>
          </a:p>
          <a:p>
            <a:r>
              <a:rPr sz="1200">
                <a:latin typeface="Arial"/>
              </a:rPr>
              <a:t>Nadja Spitzer; Brian L. Antonsen; Donald H. Edwards (2005). Immunocytochemical mapping and quantification of expression of a putative type 1 serotonin receptor in the crayfish nervous system. The Journal of Comparative Neurology, 484(3): 261-282. https://doi.org/10.1002/cne.20456</a:t>
            </a:r>
          </a:p>
          <a:p/>
          <a:p>
            <a:r>
              <a:rPr sz="1200">
                <a:latin typeface="Arial"/>
              </a:rPr>
              <a:t>Figure: Spitzer et al. (2005), Fig. 3(A–I). Putative type-1 receptor labeling and nuclear counterstaining.</a:t>
            </a:r>
          </a:p>
          <a:p>
            <a:r>
              <a:rPr sz="1200">
                <a:latin typeface="Arial"/>
              </a:rPr>
              <a:t>Figure source: https://doi.org/10.1002/cne.20456</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Spitzer and colleagues found putative type-1 receptor immunoreactivity in cell clusters and neuropil throughout abdominal ganglia, segmental concentrations of neuronal cell bodies and their connections. Neuropil is a region rich in neuronal processes and synaptic connections. The terminal ganglion retained the pattern expected from its fused organization.</a:t>
            </a:r>
          </a:p>
          <a:p>
            <a:r>
              <a:rPr sz="1200">
                <a:latin typeface="Arial"/>
              </a:rPr>
              <a:t>• The mapped receptor was not detected on LG or on the thin serotonin-containing fiber associated with it. Independent dye filling and serotonin immunostaining by Yeh and colleagues identified LG axons and nearby serotonergic varicosities; these measurements concern different molecular targets.</a:t>
            </a:r>
          </a:p>
          <a:p>
            <a:r>
              <a:rPr sz="1200">
                <a:latin typeface="Arial"/>
              </a:rPr>
              <a:t>  – A varicosity is a swelling along a neuronal process that can contain release machinery. Detecting serotonin near an LG axon establishes anatomical proximity, while failing to label a receptor establishes only the result of that receptor assay. Combining the two does not identify the functional postsynaptic target.</a:t>
            </a:r>
          </a:p>
          <a:p>
            <a:r>
              <a:rPr sz="1200">
                <a:latin typeface="Arial"/>
              </a:rPr>
              <a:t>• Consequently, the receptor map does not confirm a direct type-1 receptor mechanism in LG. Receptor-mediated modulation could occur elsewhere in the circuit, or another subtype could be involved. Failure to detect staining also has sensitivity limits, so it should not be treated as proof that every type-1-related action is impossible in the giant neuron.</a:t>
            </a:r>
          </a:p>
          <a:p/>
          <a:p>
            <a:r>
              <a:rPr sz="1200">
                <a:latin typeface="Arial"/>
              </a:rPr>
              <a:t>References:</a:t>
            </a:r>
          </a:p>
          <a:p>
            <a:r>
              <a:rPr sz="1200">
                <a:latin typeface="Arial"/>
              </a:rPr>
              <a:t>Nadja Spitzer; Brian L. Antonsen; Donald H. Edwards (2005). Immunocytochemical mapping and quantification of expression of a putative type 1 serotonin receptor in the crayfish nervous system. The Journal of Comparative Neurology, 484(3): 261-282. https://doi.org/10.1002/cne.20456</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Spitzer et al. (2005), Fig. 9(A–F). Receptor labeling across abdominal ganglia.</a:t>
            </a:r>
          </a:p>
          <a:p>
            <a:r>
              <a:rPr sz="1200">
                <a:latin typeface="Arial"/>
              </a:rPr>
              <a:t>Figure source: https://doi.org/10.1002/cne.20456</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G-protein-coupled receptor transmits extracellular ligand binding into intracellular signaling through a G protein. A ligand is a receptor-binding molecule. Cyclic AMP (cAMP) is an intracellular second messenger, a molecule relaying receptor activation to cellular processes. Spitzer and colleagues expressed cloned crustacean receptors in mammalian cells.</a:t>
            </a:r>
          </a:p>
          <a:p>
            <a:r>
              <a:rPr sz="1200">
                <a:latin typeface="Arial"/>
              </a:rPr>
              <a:t>• Activating crayfish 5-HT1α reduced forskolin-stimulated cAMP accumulation. Forskolin activates adenylyl cyclase, the enzyme producing cAMP. After accounting for background cellular responses, serotonin’s half-maximal effective concentration was about 31 nM. Non-induced cells controlled for responses unrelated to the introduced receptor.</a:t>
            </a:r>
          </a:p>
          <a:p>
            <a:r>
              <a:rPr sz="1200">
                <a:latin typeface="Arial"/>
              </a:rPr>
              <a:t>  – The half-maximal effective concentration is the concentration producing half of the measured maximal response under the assay conditions. It is a functional potency measure rather than a direct binding affinity. The cellular host can itself respond at high serotonin concentrations, which is why the matched non-induced comparison is necessary.</a:t>
            </a:r>
          </a:p>
          <a:p>
            <a:r>
              <a:rPr sz="1200">
                <a:latin typeface="Arial"/>
              </a:rPr>
              <a:t>• These assays establish receptor-dependent signaling consistent with cyclase inhibition by Gi/o, an inhibitory G-protein family. They do not establish that this receptor is located on LG or mediates its social-history-dependent inhibition. A second-messenger decrease in an expression system is distinct from a demonstrated behavioral action in crayfish.</a:t>
            </a:r>
          </a:p>
          <a:p/>
          <a:p>
            <a:r>
              <a:rPr sz="1200">
                <a:latin typeface="Arial"/>
              </a:rPr>
              <a:t>References:</a:t>
            </a:r>
          </a:p>
          <a:p>
            <a:r>
              <a:rPr sz="1200">
                <a:latin typeface="Arial"/>
              </a:rPr>
              <a:t>Nadja Spitzer; Donald H. Edwards; Deborah J. Baro (2008). Conservation of structure, signaling and pharmacology between two serotonin receptor subtypes from decapod crustaceans, Panulirus interruptus and Procambarus clarkii. Journal of Experimental Biology, 211(1): 92-105. https://doi.org/10.1242/jeb.012450</a:t>
            </a:r>
          </a:p>
          <a:p>
            <a:r>
              <a:rPr sz="1200">
                <a:latin typeface="Arial"/>
              </a:rPr>
              <a:t>Nadja Spitzer; Brian L. Antonsen; Donald H. Edwards (2005). Immunocytochemical mapping and quantification of expression of a putative type 1 serotonin receptor in the crayfish nervous system. The Journal of Comparative Neurology, 484(3): 261-282. https://doi.org/10.1002/cne.20456</a:t>
            </a:r>
          </a:p>
          <a:p/>
          <a:p>
            <a:r>
              <a:rPr sz="1200">
                <a:latin typeface="Arial"/>
              </a:rPr>
              <a:t>Figure: Spitzer et al. (2008), Fig. 5(A–D). Cloned type-1 receptors suppress stimulated cAMP accumulation.</a:t>
            </a:r>
          </a:p>
          <a:p>
            <a:r>
              <a:rPr sz="1200">
                <a:latin typeface="Arial"/>
              </a:rPr>
              <a:t>Figure source: https://doi.org/10.1242/jeb.012450</a:t>
            </a:r>
          </a:p>
          <a:p/>
          <a:p>
            <a:r>
              <a:rPr sz="1200">
                <a:latin typeface="Arial"/>
              </a:rPr>
              <a:t>Figure: Spitzer et al. (2005), Fig. 3(A–I). Putative type-1 receptor labeling and nuclear counterstaining.</a:t>
            </a:r>
          </a:p>
          <a:p>
            <a:r>
              <a:rPr sz="1200">
                <a:latin typeface="Arial"/>
              </a:rPr>
              <a:t>Figure source: https://doi.org/10.1002/cne.20456</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Spitzer and colleagues expressed the crayfish 5-HT2β receptor in HEK cells, a mammalian cell line used to test an introduced protein. They measured inositol phosphates, intracellular products generated when phospholipase C cleaves membrane phosphoinositides, a lipid family.</a:t>
            </a:r>
          </a:p>
          <a:p>
            <a:r>
              <a:rPr sz="1200">
                <a:latin typeface="Arial"/>
              </a:rPr>
              <a:t>• Serotonin increased inositol-phosphate accumulation in receptor-expressing cells, with a half-maximal effective concentration near 270 nM. Matched non-transfected cells did not produce the same receptor-associated response. Other tested monoamines required much higher concentrations or had little activity.</a:t>
            </a:r>
          </a:p>
          <a:p>
            <a:r>
              <a:rPr sz="1200">
                <a:latin typeface="Arial"/>
              </a:rPr>
              <a:t>  – A heterologous system expresses a protein outside its original tissue. It permits controlled comparison of receptor responses while leaving the native network absent. Receptor classification, molecular coupling and behavioral function are therefore distinct levels of evidence that require different experiments.</a:t>
            </a:r>
          </a:p>
          <a:p>
            <a:r>
              <a:rPr sz="1200">
                <a:latin typeface="Arial"/>
              </a:rPr>
              <a:t>• The assay separates two cloned serotonin receptors by their signaling and pharmacology. It supports a type-2-associated phosphoinositide pathway, but does not assign that cloned receptor to LG facilitation. Published receptor staining supplies anatomical context for candidate signaling sites; the molecular subtype producing the cAMP-dependent giant-neuron effect remains a separate question.</a:t>
            </a:r>
          </a:p>
          <a:p/>
          <a:p>
            <a:r>
              <a:rPr sz="1200">
                <a:latin typeface="Arial"/>
              </a:rPr>
              <a:t>References:</a:t>
            </a:r>
          </a:p>
          <a:p>
            <a:r>
              <a:rPr sz="1200">
                <a:latin typeface="Arial"/>
              </a:rPr>
              <a:t>Nadja Spitzer; Donald H. Edwards; Deborah J. Baro (2008). Conservation of structure, signaling and pharmacology between two serotonin receptor subtypes from decapod crustaceans, Panulirus interruptus and Procambarus clarkii. Journal of Experimental Biology, 211(1): 92-105. https://doi.org/10.1242/jeb.012450</a:t>
            </a:r>
          </a:p>
          <a:p>
            <a:r>
              <a:rPr sz="1200">
                <a:latin typeface="Arial"/>
              </a:rPr>
              <a:t>Nadja Spitzer; Brian L. Antonsen; Donald H. Edwards (2005). Immunocytochemical mapping and quantification of expression of a putative type 1 serotonin receptor in the crayfish nervous system. The Journal of Comparative Neurology, 484(3): 261-282. https://doi.org/10.1002/cne.20456</a:t>
            </a:r>
          </a:p>
          <a:p/>
          <a:p>
            <a:r>
              <a:rPr sz="1200">
                <a:latin typeface="Arial"/>
              </a:rPr>
              <a:t>Figure: Spitzer et al. (2008), Fig. 4(A–E). Cloned type-2 receptors activate inositol-phosphate signaling.</a:t>
            </a:r>
          </a:p>
          <a:p>
            <a:r>
              <a:rPr sz="1200">
                <a:latin typeface="Arial"/>
              </a:rPr>
              <a:t>Figure source: https://doi.org/10.1242/jeb.012450</a:t>
            </a:r>
          </a:p>
          <a:p/>
          <a:p>
            <a:r>
              <a:rPr sz="1200">
                <a:latin typeface="Arial"/>
              </a:rPr>
              <a:t>Figure: Spitzer et al. (2005), Fig. 4(A–D). Receptor and serotonin labeling in brain neuropil.</a:t>
            </a:r>
          </a:p>
          <a:p>
            <a:r>
              <a:rPr sz="1200">
                <a:latin typeface="Arial"/>
              </a:rPr>
              <a:t>Figure source: https://doi.org/10.1002/cne.20456</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Habituation is a decline in response during repeated stimulation. Araki and colleagues tested isolated abdominal nerve cords from adult crayfish, stimulating sensory roots while recording whether LG produced an action potential. The preparation preserved the local sensory pathway while removing ongoing social interaction.</a:t>
            </a:r>
          </a:p>
          <a:p>
            <a:r>
              <a:rPr sz="1200">
                <a:latin typeface="Arial"/>
              </a:rPr>
              <a:t>• Just-suprathreshold shocks were delivered every 5 s. In control saline, response probability fell rapidly, with roughly half the preparations failing within the first five trials. Pretreatment with 10 µM serotonin or octopamine slowed the decline.</a:t>
            </a:r>
          </a:p>
          <a:p>
            <a:r>
              <a:rPr sz="1200">
                <a:latin typeface="Arial"/>
              </a:rPr>
              <a:t>  – The investigators required five consecutive failures to classify a preparation as habituated. This criterion avoids treating one intermittent failure as a lasting loss of response. The declining probability across preparations is not a firing-rate recording from one neuron and should not be interpreted as spikes per second.</a:t>
            </a:r>
          </a:p>
          <a:p>
            <a:r>
              <a:rPr sz="1200">
                <a:latin typeface="Arial"/>
              </a:rPr>
              <a:t>• The amines increased the number of stimuli needed to lose reliable LG firing. This establishes modulation of repeated-input responsiveness, rather than a measured change in free-animal retreat or fighting. Because the initial stimulus was selected near threshold, a modest increase in sensory gain can strongly affect whether a repeated trial still recruits the giant neuron.</a:t>
            </a:r>
          </a:p>
          <a:p/>
          <a:p>
            <a:r>
              <a:rPr sz="1200">
                <a:latin typeface="Arial"/>
              </a:rPr>
              <a:t>References:</a:t>
            </a:r>
          </a:p>
          <a:p>
            <a:r>
              <a:rPr sz="1200">
                <a:latin typeface="Arial"/>
              </a:rPr>
              <a:t>Makoto Araki; Toshiki Nagayama; Jordanna Sprayberry (2005). Cyclic AMP Mediates Serotonin-Induced Synaptic Enhancement of Lateral Giant Interneuron of the Crayfish. Journal of Neurophysiology, 94(4): 2644-2652. https://doi.org/10.1152/jn.00502.2005</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Araki et al. (2005), Fig. 1. Amines slow loss of LG firing during 5-s stimulation intervals.</a:t>
            </a:r>
          </a:p>
          <a:p>
            <a:r>
              <a:rPr sz="1200">
                <a:latin typeface="Arial"/>
              </a:rPr>
              <a:t>Figure source: https://doi.org/10.1152/jn.00502.2005</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second-messenger analogue is a compound designed to activate or mimic part of an intracellular signaling pathway. Araki and colleagues compared cyclic-nucleotide analogues after establishing a near-threshold stimulus to the LG sensory pathway.</a:t>
            </a:r>
          </a:p>
          <a:p>
            <a:r>
              <a:rPr sz="1200">
                <a:latin typeface="Arial"/>
              </a:rPr>
              <a:t>• Combining 50 µM CPT-cAMP with 50 µM IBMX slowed habituation during 5-s stimulus intervals. IBMX inhibits phosphodiesterases, enzymes that break down cyclic nucleotides. A 100 µM cGMP analogue did not reproduce this effect; the control curve declined more rapidly than the cAMP-treated curve.</a:t>
            </a:r>
          </a:p>
          <a:p>
            <a:r>
              <a:rPr sz="1200">
                <a:latin typeface="Arial"/>
              </a:rPr>
              <a:t>  – Cyclic GMP is another cyclic-nucleotide messenger with signaling actions distinct from cAMP. An analogue mimicking facilitation supplies evidence of pathway sufficiency under treatment conditions. Locating the action requires a more selective intervention than exposing the entire ganglion to the compound.</a:t>
            </a:r>
          </a:p>
          <a:p>
            <a:r>
              <a:rPr sz="1200">
                <a:latin typeface="Arial"/>
              </a:rPr>
              <a:t>• The comparison supports a cAMP-sensitive facilitatory mechanism and distinguishes it from the tested cGMP manipulation. Bath delivery can act on several cells within the ganglion, so this experiment alone does not place the relevant second messenger inside LG or establish that serotonin normally produces exactly the same intracellular concentration.</a:t>
            </a:r>
          </a:p>
          <a:p/>
          <a:p>
            <a:r>
              <a:rPr sz="1200">
                <a:latin typeface="Arial"/>
              </a:rPr>
              <a:t>References:</a:t>
            </a:r>
          </a:p>
          <a:p>
            <a:r>
              <a:rPr sz="1200">
                <a:latin typeface="Arial"/>
              </a:rPr>
              <a:t>Makoto Araki; Toshiki Nagayama; Jordanna Sprayberry (2005). Cyclic AMP Mediates Serotonin-Induced Synaptic Enhancement of Lateral Giant Interneuron of the Crayfish. Journal of Neurophysiology, 94(4): 2644-2652. https://doi.org/10.1152/jn.00502.2005</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Araki et al. (2005), Fig. 2. cAMP and cGMP analogue effects on LG habituation.</a:t>
            </a:r>
          </a:p>
          <a:p>
            <a:r>
              <a:rPr sz="1200">
                <a:latin typeface="Arial"/>
              </a:rPr>
              <a:t>Figure source: https://doi.org/10.1152/jn.00502.2005</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Adenylyl cyclase produces cAMP, so inhibiting this enzyme tests whether serotonin’s facilitation requires cyclic-nucleotide synthesis. Araki and colleagues pretreated isolated abdominal preparations with 100 µM SQ22536 before adding 10 µM serotonin.</a:t>
            </a:r>
          </a:p>
          <a:p>
            <a:r>
              <a:rPr sz="1200">
                <a:latin typeface="Arial"/>
              </a:rPr>
              <a:t>• With serotonin alone, the median stimulus number before habituation was 12.5, compared with 3 in controls. With cyclase inhibition and serotonin, the median was 6 and later response loss approached the control pattern. The inhibitor alone did not appreciably change the initial shock threshold.</a:t>
            </a:r>
          </a:p>
          <a:p>
            <a:r>
              <a:rPr sz="1200">
                <a:latin typeface="Arial"/>
              </a:rPr>
              <a:t>  – A pathway inhibitor tests dependence rather than simple correlation. Its interpretation still depends on drug specificity and on the controls for baseline responsiveness. In this study, octopamine facilitation persisted during cyclase inhibition, indicating that similar behavioral-direction effects can arise through different intracellular mechanisms.</a:t>
            </a:r>
          </a:p>
          <a:p>
            <a:r>
              <a:rPr sz="1200">
                <a:latin typeface="Arial"/>
              </a:rPr>
              <a:t>• This pharmacological interaction supports a cyclase-dependent component of serotonin-induced facilitation. The preserved initial threshold reduces an explanation based on general failure of the preparation. It does not identify the upstream receptor or prove that the same pathway accounts for serotonergic inhibition in experienced subordinates, which was not the preparation tested.</a:t>
            </a:r>
          </a:p>
          <a:p/>
          <a:p>
            <a:r>
              <a:rPr sz="1200">
                <a:latin typeface="Arial"/>
              </a:rPr>
              <a:t>References:</a:t>
            </a:r>
          </a:p>
          <a:p>
            <a:r>
              <a:rPr sz="1200">
                <a:latin typeface="Arial"/>
              </a:rPr>
              <a:t>Makoto Araki; Toshiki Nagayama; Jordanna Sprayberry (2005). Cyclic AMP Mediates Serotonin-Induced Synaptic Enhancement of Lateral Giant Interneuron of the Crayfish. Journal of Neurophysiology, 94(4): 2644-2652. https://doi.org/10.1152/jn.00502.2005</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Araki et al. (2005), Fig. 3(A–B). Cyclase inhibition reduces serotonin-dependent facilitation.</a:t>
            </a:r>
          </a:p>
          <a:p>
            <a:r>
              <a:rPr sz="1200">
                <a:latin typeface="Arial"/>
              </a:rPr>
              <a:t>Figure source: https://doi.org/10.1152/jn.00502.2005</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Bath application cannot locate a messenger’s cellular target. Araki and colleagues therefore injected Sp-cAMPS, a phosphodiesterase-resistant cAMP analogue, directly into the recorded LG neuron while testing sensory responses. The electrode solution contained 50 mM analogue.</a:t>
            </a:r>
          </a:p>
          <a:p>
            <a:r>
              <a:rPr sz="1200">
                <a:latin typeface="Arial"/>
              </a:rPr>
              <a:t>• After 5 min of injection, early EPSPs increased by about 19% and later EPSPs by about 20%. Current injection through an electrode containing only the carrier solution controlled for the injection procedure. The analogue also caused a small depolarization, approximately 5.4 mV.</a:t>
            </a:r>
          </a:p>
          <a:p>
            <a:r>
              <a:rPr sz="1200">
                <a:latin typeface="Arial"/>
              </a:rPr>
              <a:t>  – Iontophoretic injection uses electrical current to move the charged compound out of an electrode into the cell. The carrier-current control tests whether the current itself accounts for the voltage change. Increasing both response components is consistent with a postsynaptic contribution, although it does not exclude additional effects elsewhere during normal serotonin exposure.</a:t>
            </a:r>
          </a:p>
          <a:p>
            <a:r>
              <a:rPr sz="1200">
                <a:latin typeface="Arial"/>
              </a:rPr>
              <a:t>• Direct intracellular action supports LG as a site capable of cAMP-dependent sensory enhancement. The electrode concentration is not a measured final intracellular concentration. The result does not identify a particular kinase, channel or receptor, nor establish that intracellular cAMP enhancement alone is sufficient to change social dominance in a freely behaving animal.</a:t>
            </a:r>
          </a:p>
          <a:p/>
          <a:p>
            <a:r>
              <a:rPr sz="1200">
                <a:latin typeface="Arial"/>
              </a:rPr>
              <a:t>References:</a:t>
            </a:r>
          </a:p>
          <a:p>
            <a:r>
              <a:rPr sz="1200">
                <a:latin typeface="Arial"/>
              </a:rPr>
              <a:t>Makoto Araki; Toshiki Nagayama; Jordanna Sprayberry (2005). Cyclic AMP Mediates Serotonin-Induced Synaptic Enhancement of Lateral Giant Interneuron of the Crayfish. Journal of Neurophysiology, 94(4): 2644-2652. https://doi.org/10.1152/jn.00502.2005</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Araki et al. (2005), Fig. 6(A–C). Bath and intracellular cAMP analogue effects on LG.</a:t>
            </a:r>
          </a:p>
          <a:p>
            <a:r>
              <a:rPr sz="1200">
                <a:latin typeface="Arial"/>
              </a:rPr>
              <a:t>Figure source: https://doi.org/10.1152/jn.00502.2005</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Araki and colleagues compared sensory EPSPs before and after 5 min of 5 µM serotonin in isolated abdominal nerve cords. Their early response combined direct electrical and chemical contributions; the later response included an intervening sensory interneuron.</a:t>
            </a:r>
          </a:p>
          <a:p>
            <a:r>
              <a:rPr sz="1200">
                <a:latin typeface="Arial"/>
              </a:rPr>
              <a:t>• The early EPSP increased by about 8% and the later EPSP by about 18%. Resting LG voltage changed little, while cyclase inhibition largely removed both increases. Saline controls did not produce the same enhancement, and washout partially restored the original response.</a:t>
            </a:r>
          </a:p>
          <a:p>
            <a:r>
              <a:rPr sz="1200">
                <a:latin typeface="Arial"/>
              </a:rPr>
              <a:t>  – The early component in this preparation was measured as α plus α-prime because its direct electrical and chemical peaks were difficult to separate in time. It should not be equated without qualification with a purely electrical α measurement in another preparation. Preserving these component definitions avoids assigning every effect to one synapse.</a:t>
            </a:r>
          </a:p>
          <a:p>
            <a:r>
              <a:rPr sz="1200">
                <a:latin typeface="Arial"/>
              </a:rPr>
              <a:t>• Facilitation therefore need not be explained by a large tonic depolarization. Its relation to cyclase activity supports second-messenger modulation of sensory responsiveness. These measurements identify a physiological effect and a pharmacological dependence, but they do not determine which membrane conductance or electrical-synapse property carries the enhancement at the molecular level.</a:t>
            </a:r>
          </a:p>
          <a:p/>
          <a:p>
            <a:r>
              <a:rPr sz="1200">
                <a:latin typeface="Arial"/>
              </a:rPr>
              <a:t>References:</a:t>
            </a:r>
          </a:p>
          <a:p>
            <a:r>
              <a:rPr sz="1200">
                <a:latin typeface="Arial"/>
              </a:rPr>
              <a:t>Makoto Araki; Toshiki Nagayama; Jordanna Sprayberry (2005). Cyclic AMP Mediates Serotonin-Induced Synaptic Enhancement of Lateral Giant Interneuron of the Crayfish. Journal of Neurophysiology, 94(4): 2644-2652. https://doi.org/10.1152/jn.00502.2005</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Araki et al. (2005), Fig. 4(A–C). Sensory EPSPs during serotonin and cyclase-inhibitor treatment.</a:t>
            </a:r>
          </a:p>
          <a:p>
            <a:r>
              <a:rPr sz="1200">
                <a:latin typeface="Arial"/>
              </a:rPr>
              <a:t>Figure source: https://doi.org/10.1152/jn.00502.2005</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Exposure duration changes the persistence of serotonergic modulation. Teshiba and colleagues compared brief application, approximately 10 min, with longer exposures near 45 min, then followed sensory EPSPs during saline washout.</a:t>
            </a:r>
          </a:p>
          <a:p>
            <a:r>
              <a:rPr sz="1200">
                <a:latin typeface="Arial"/>
              </a:rPr>
              <a:t>• Brief high exposure produced inhibition that reversed relatively rapidly. Longer exposure could be followed by persistent facilitation, even after an inhibitory phase during rapid high delivery. Facilitated responses remained above baseline during the 30-min wash comparison and could persist for hours.</a:t>
            </a:r>
          </a:p>
          <a:p>
            <a:r>
              <a:rPr sz="1200">
                <a:latin typeface="Arial"/>
              </a:rPr>
              <a:t>  – Removing serotonin from the bathing solution ends further delivery without forcing every downstream cellular process to return immediately to baseline. The source distinguished short-lived inhibition from more persistent facilitation. Persistence after wash therefore provides information about the time course of modulation rather than a direct assay of retained receptor occupancy.</a:t>
            </a:r>
          </a:p>
          <a:p>
            <a:r>
              <a:rPr sz="1200">
                <a:latin typeface="Arial"/>
              </a:rPr>
              <a:t>• The result separates the immediate sign during drug presence from the state retained after exposure. It supports intracellular processes with different activation and decay rates. Proposed interacting signaling cascades can account for these time courses, but the recordings alone do not identify their molecular components or establish an enduring memory of dominance from a single serotonin treatment.</a:t>
            </a:r>
          </a:p>
          <a:p/>
          <a:p>
            <a:r>
              <a:rPr sz="1200">
                <a:latin typeface="Arial"/>
              </a:rPr>
              <a:t>References:</a:t>
            </a:r>
          </a:p>
          <a:p>
            <a:r>
              <a:rPr sz="1200">
                <a:latin typeface="Arial"/>
              </a:rPr>
              <a:t>Terri Teshiba; Ashkan Shamsian; Bahram Yashar; Shih-Rung Yeh; Donald H. Edwards; Franklin B. Krasne (2001). Dual and Opposing Modulatory Effects of Serotonin on Crayfish Lateral Giant Escape Command Neurons. The Journal of Neuroscience, 21(12): 4523-4529. https://doi.org/10.1523/jneurosci.21-12-04523.2001</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Teshiba et al. (2001), Fig. 2. Exposure-dependent changes during application and washout.</a:t>
            </a:r>
          </a:p>
          <a:p>
            <a:r>
              <a:rPr sz="1200">
                <a:latin typeface="Arial"/>
              </a:rPr>
              <a:t>Figure source: https://doi.org/10.1523/jneurosci.21-12-04523.2001</a:t>
            </a:r>
          </a:p>
          <a:p/>
          <a:p>
            <a:r>
              <a:rPr sz="1200">
                <a:latin typeface="Arial"/>
              </a:rPr>
              <a:t>Figure: Yeh et al. (1997), Fig. 13(A,C). Dye-filled LG neurons and nearby serotonin-immunoreactive fibers.</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Yeh and colleagues combined dye filling of identified LG neurons with serotonin immunostaining. Varicosities are swellings along neuronal processes that may participate in transmitter release. Confocal imaging related labeled fibers to the known giant-neuron anatomy.</a:t>
            </a:r>
          </a:p>
          <a:p>
            <a:r>
              <a:rPr sz="1200">
                <a:latin typeface="Arial"/>
              </a:rPr>
              <a:t>• In abdominal ganglion A5, serotonin-immunoreactive terminals lay near LG axons around the septate junction, the connection between successive segmental giant axons. The source includes a 50-µm scale bar. Similar labeling was associated with proximal portions of the terminal-ganglion LG neurons.</a:t>
            </a:r>
          </a:p>
          <a:p>
            <a:r>
              <a:rPr sz="1200">
                <a:latin typeface="Arial"/>
              </a:rPr>
              <a:t>  – The serotonin signal is immunoreactivity, not a measurement of transmitter released during fighting. A labeled swelling next to an axon may affect that axon, an adjacent neuron or another target. The anatomical map constrains possible arrangements without deciding which arrangement generates the measured modulation.</a:t>
            </a:r>
          </a:p>
          <a:p>
            <a:r>
              <a:rPr sz="1200">
                <a:latin typeface="Arial"/>
              </a:rPr>
              <a:t>• This anatomical proximity supplies candidate sites for local modulation, but it does not prove release onto LG or identify a functional receptor there. Sparse labeling near distal LG dendrites also leaves circulating serotonin as a possible influence. Local and humoral explanations require functional tests beyond the spatial association.</a:t>
            </a:r>
          </a:p>
          <a:p/>
          <a:p>
            <a:r>
              <a:rPr sz="1200">
                <a:latin typeface="Arial"/>
              </a:rPr>
              <a:t>References:</a:t>
            </a:r>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Figure: Yeh et al. (1997), Fig. 13(A–B). LG axons and nearby serotonin labeling in abdominal ganglion A5.</a:t>
            </a:r>
          </a:p>
          <a:p>
            <a:r>
              <a:rPr sz="1200">
                <a:latin typeface="Arial"/>
              </a:rPr>
              <a:t>Figure source: https://doi.org/10.1523/jneurosci.17-02-00697.1997</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Social modulation extends beyond giant escape. Issa and colleagues tested adult crayfish after isolation or at least two weeks of paired housing, brushing fringe hairs on one side of the anterior abdomen while recording walking-leg muscle activity.</a:t>
            </a:r>
          </a:p>
          <a:p>
            <a:r>
              <a:rPr sz="1200">
                <a:latin typeface="Arial"/>
              </a:rPr>
              <a:t>• Isolates and dominants turned toward the stimulated side and raised their posture. Subordinates instead pushed backward or flexed the abdomen and lowered their posture. Depressor muscles move the legs downward, and their electrical activity differed with these behavioral responses over the first 0.6 s.</a:t>
            </a:r>
          </a:p>
          <a:p>
            <a:r>
              <a:rPr sz="1200">
                <a:latin typeface="Arial"/>
              </a:rPr>
              <a:t>  – Ipsilateral means on the same side as the stimulus; contralateral means on the opposite side. Turning requires asymmetric leg activation, whereas pushing and lowering can use more symmetric activation. Comparing the two sides distinguishes a change in motor organization from a general reduction in responsiveness.</a:t>
            </a:r>
          </a:p>
          <a:p>
            <a:r>
              <a:rPr sz="1200">
                <a:latin typeface="Arial"/>
              </a:rPr>
              <a:t>• The same tactile event therefore recruits different postural actions according to social experience. This is an orienting and walking-leg system, distinct from LG tail-flip escape. Muscle recordings establish a relation between neural output and movement, but do not determine every synaptic connection responsible for selecting the status-dependent response.</a:t>
            </a:r>
          </a:p>
          <a:p/>
          <a:p>
            <a:r>
              <a:rPr sz="1200">
                <a:latin typeface="Arial"/>
              </a:rPr>
              <a:t>References:</a:t>
            </a:r>
          </a:p>
          <a:p>
            <a:r>
              <a:rPr sz="1200">
                <a:latin typeface="Arial"/>
              </a:rPr>
              <a:t>Fadi A. Issa; Joanne Drummond; Daniel Cattaert; Donald H. Edwards (2012). Neural Circuit Reconfiguration by Social Status. The Journal of Neuroscience, 32(16): 5638-5645. https://doi.org/10.1523/jneurosci.5668-11.2012</a:t>
            </a:r>
          </a:p>
          <a:p/>
          <a:p>
            <a:r>
              <a:rPr sz="1200">
                <a:latin typeface="Arial"/>
              </a:rPr>
              <a:t>Figure: Issa et al. (2012), Fig. 2(A–D). Status-dependent turning, pushing and dropping responses.</a:t>
            </a:r>
          </a:p>
          <a:p>
            <a:r>
              <a:rPr sz="1200">
                <a:latin typeface="Arial"/>
              </a:rPr>
              <a:t>Figure source: https://doi.org/10.1523/jneurosci.5668-11.2012</a:t>
            </a:r>
          </a:p>
          <a:p/>
          <a:p>
            <a:r>
              <a:rPr sz="1200">
                <a:latin typeface="Arial"/>
              </a:rPr>
              <a:t>Figure: Issa et al. (2012), Fig. 1(A–C). Leg depressor anatomy and intact, isolated and semi-intact preparations.</a:t>
            </a:r>
          </a:p>
          <a:p>
            <a:r>
              <a:rPr sz="1200">
                <a:latin typeface="Arial"/>
              </a:rPr>
              <a:t>Figure source: https://doi.org/10.1523/jneurosci.5668-11.2012</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Issa and colleagues recorded intact-animal responses and then isolated thoracic and abdominal ganglia with walking-leg nerves. A ganglion is a local concentration of neuronal cell bodies and their connections. Removing anterior centers tested whether continuing descending signals were required.</a:t>
            </a:r>
          </a:p>
          <a:p>
            <a:r>
              <a:rPr sz="1200">
                <a:latin typeface="Arial"/>
              </a:rPr>
              <a:t>• Electrical stimulation of an abdominal sensory nerve retained the status-related pattern. Preparations from isolates and dominants favored ipsilateral depressor activity; subordinate preparations produced more symmetric responses. Activity was compared in the same animals before and after circuit isolation.</a:t>
            </a:r>
          </a:p>
          <a:p>
            <a:r>
              <a:rPr sz="1200">
                <a:latin typeface="Arial"/>
              </a:rPr>
              <a:t>  – The isolated preparation has no continuing connection to the brain, but it still contains interneurons, sensory inputs and local modulatory cells. Persistence therefore places a maintained difference within the retained tissue. A proposed circuit model can reproduce the pattern without proving that each modeled connection exists biologically.</a:t>
            </a:r>
          </a:p>
          <a:p>
            <a:r>
              <a:rPr sz="1200">
                <a:latin typeface="Arial"/>
              </a:rPr>
              <a:t>• The retained difference supports a local functional reconfiguration induced by social experience. It does not show that higher centers were irrelevant when the change originally developed. Nor does it establish that this local walking circuit uses the same receptors or intracellular mechanism that modulate the LG escape command neuron.</a:t>
            </a:r>
          </a:p>
          <a:p/>
          <a:p>
            <a:r>
              <a:rPr sz="1200">
                <a:latin typeface="Arial"/>
              </a:rPr>
              <a:t>References:</a:t>
            </a:r>
          </a:p>
          <a:p>
            <a:r>
              <a:rPr sz="1200">
                <a:latin typeface="Arial"/>
              </a:rPr>
              <a:t>Fadi A. Issa; Joanne Drummond; Daniel Cattaert; Donald H. Edwards (2012). Neural Circuit Reconfiguration by Social Status. The Journal of Neuroscience, 32(16): 5638-5645. https://doi.org/10.1523/jneurosci.5668-11.2012</a:t>
            </a:r>
          </a:p>
          <a:p>
            <a:r>
              <a:rPr sz="1200">
                <a:latin typeface="Arial"/>
              </a:rPr>
              <a:t>Julien Bacqué-Cazenave; Pascal Fossat; Fadi A. Issa; Donald H. Edwards; Jean Paul Delbecque; Daniel Cattaert (2019). Duality of 5-HT Effects on Crayfish Motoneurons. Frontiers in Physiology, 10: 1280. https://doi.org/10.3389/fphys.2019.01280</a:t>
            </a:r>
          </a:p>
          <a:p/>
          <a:p>
            <a:r>
              <a:rPr sz="1200">
                <a:latin typeface="Arial"/>
              </a:rPr>
              <a:t>Figure: Issa et al. (2012), Fig. 3(A–H). Status differences persist in isolated sensorimotor preparations.</a:t>
            </a:r>
          </a:p>
          <a:p>
            <a:r>
              <a:rPr sz="1200">
                <a:latin typeface="Arial"/>
              </a:rPr>
              <a:t>Figure source: https://doi.org/10.1523/jneurosci.5668-11.2012</a:t>
            </a:r>
          </a:p>
          <a:p/>
          <a:p>
            <a:r>
              <a:rPr sz="1200">
                <a:latin typeface="Arial"/>
              </a:rPr>
              <a:t>Figure: Bacqué-Cazenave et al. (2019), Fig. 1(A–B). Walking-leg preparation and an identified abdominal serotonin neuron.</a:t>
            </a:r>
          </a:p>
          <a:p>
            <a:r>
              <a:rPr sz="1200">
                <a:latin typeface="Arial"/>
              </a:rPr>
              <a:t>Figure source: https://doi.org/10.3389/fphys.2019.01280</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serotonergic neuron contains and can signal through serotonin. Issa and colleagues recorded identified serotonin cells in the first abdominal ganglion during unilateral fringe-hair stimulation in semi-intact preparations from animals of known social history.</a:t>
            </a:r>
          </a:p>
          <a:p>
            <a:r>
              <a:rPr sz="1200">
                <a:latin typeface="Arial"/>
              </a:rPr>
              <a:t>• Cells in isolates and dominants responded differently to ipsilateral and contralateral touch. Subordinate responses were more bilaterally similar, matching the shift in walking-leg organization. Responses were quantified in 1-s time bins around the precisely timed stimulus.</a:t>
            </a:r>
          </a:p>
          <a:p>
            <a:r>
              <a:rPr sz="1200">
                <a:latin typeface="Arial"/>
              </a:rPr>
              <a:t>  – The colored cell-identification panels come from Bacqué-Cazenave and colleagues’ separate study, in which a recorded cell was filled with neurobiotin and then tested for serotonin immunoreactivity. They support the anatomy and identification procedure, while the status-dependent physiological evidence comes from Issa and colleagues.</a:t>
            </a:r>
          </a:p>
          <a:p>
            <a:r>
              <a:rPr sz="1200">
                <a:latin typeface="Arial"/>
              </a:rPr>
              <a:t>• Social status therefore changes how an intrinsic modulatory neuron participates in sensory processing, not only how downstream neurons respond to applied serotonin. Identification by morphology and serotonin labeling strengthens the cell assignment. The recordings do not directly measure transmitter release or establish that this neuron causes the entire postural response on every trial.</a:t>
            </a:r>
          </a:p>
          <a:p/>
          <a:p>
            <a:r>
              <a:rPr sz="1200">
                <a:latin typeface="Arial"/>
              </a:rPr>
              <a:t>References:</a:t>
            </a:r>
          </a:p>
          <a:p>
            <a:r>
              <a:rPr sz="1200">
                <a:latin typeface="Arial"/>
              </a:rPr>
              <a:t>Fadi A. Issa; Joanne Drummond; Daniel Cattaert; Donald H. Edwards (2012). Neural Circuit Reconfiguration by Social Status. The Journal of Neuroscience, 32(16): 5638-5645. https://doi.org/10.1523/jneurosci.5668-11.2012</a:t>
            </a:r>
          </a:p>
          <a:p>
            <a:r>
              <a:rPr sz="1200">
                <a:latin typeface="Arial"/>
              </a:rPr>
              <a:t>Julien Bacqué-Cazenave; Pascal Fossat; Fadi A. Issa; Donald H. Edwards; Jean Paul Delbecque; Daniel Cattaert (2019). Duality of 5-HT Effects on Crayfish Motoneurons. Frontiers in Physiology, 10: 1280. https://doi.org/10.3389/fphys.2019.01280</a:t>
            </a:r>
          </a:p>
          <a:p/>
          <a:p>
            <a:r>
              <a:rPr sz="1200">
                <a:latin typeface="Arial"/>
              </a:rPr>
              <a:t>Figure: Issa et al. (2012), Fig. 4(A–D). Sensory responses of abdominal serotonin neurons depend on status.</a:t>
            </a:r>
          </a:p>
          <a:p>
            <a:r>
              <a:rPr sz="1200">
                <a:latin typeface="Arial"/>
              </a:rPr>
              <a:t>Figure source: https://doi.org/10.1523/jneurosci.5668-11.2012</a:t>
            </a:r>
          </a:p>
          <a:p/>
          <a:p>
            <a:r>
              <a:rPr sz="1200">
                <a:latin typeface="Arial"/>
              </a:rPr>
              <a:t>Figure: Bacqué-Cazenave et al. (2019), Fig. 2(C1–C3). Neurobiotin-filled cell verified by serotonin immunostaining.</a:t>
            </a:r>
          </a:p>
          <a:p>
            <a:r>
              <a:rPr sz="1200">
                <a:latin typeface="Arial"/>
              </a:rPr>
              <a:t>Figure source: https://doi.org/10.3389/fphys.2019.01280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Bacqué-Cazenave and colleagues activated an identified serotonin neuron in the first abdominal ganglion of socially isolated adult crayfish. Intracellular current pulses drove the cell while the researchers recorded individual walking-leg motor units and motor-neuron voltage.</a:t>
            </a:r>
          </a:p>
          <a:p>
            <a:r>
              <a:rPr sz="1200">
                <a:latin typeface="Arial"/>
              </a:rPr>
              <a:t>• A 10-s activation produced excitation in some units, inhibition in others and little change in others. In the same recording, one depressor neuron depolarized while another unit in its nerve reduced its discharge. Changes in the average nerve activity could conceal these opposing effects.</a:t>
            </a:r>
          </a:p>
          <a:p>
            <a:r>
              <a:rPr sz="1200">
                <a:latin typeface="Arial"/>
              </a:rPr>
              <a:t>  – A motor unit is identified here by a distinguishable discharge in the recorded motor nerve. Summing the activity across units can hide simultaneous excitation and inhibition. The intracellular recording and the nerve-unit recording therefore provide information that an average whole-nerve response would lose.</a:t>
            </a:r>
          </a:p>
          <a:p>
            <a:r>
              <a:rPr sz="1200">
                <a:latin typeface="Arial"/>
              </a:rPr>
              <a:t>• Activation of an endogenous modulatory cell therefore does not impose one uniform sign on its targets. The result extends beyond experiments applying serotonin to a bath. It concerns the walking-leg network in isolated animals and does not prove that the same neuron generates status-dependent LG inhibition or controls the decision to retreat during fighting.</a:t>
            </a:r>
          </a:p>
          <a:p/>
          <a:p>
            <a:r>
              <a:rPr sz="1200">
                <a:latin typeface="Arial"/>
              </a:rPr>
              <a:t>References:</a:t>
            </a:r>
          </a:p>
          <a:p>
            <a:r>
              <a:rPr sz="1200">
                <a:latin typeface="Arial"/>
              </a:rPr>
              <a:t>Julien Bacqué-Cazenave; Pascal Fossat; Fadi A. Issa; Donald H. Edwards; Jean Paul Delbecque; Daniel Cattaert (2019). Duality of 5-HT Effects on Crayfish Motoneurons. Frontiers in Physiology, 10: 1280. https://doi.org/10.3389/fphys.2019.01280</a:t>
            </a:r>
          </a:p>
          <a:p/>
          <a:p>
            <a:r>
              <a:rPr sz="1200">
                <a:latin typeface="Arial"/>
              </a:rPr>
              <a:t>Figure: Bacqué-Cazenave et al. (2019), Fig. 3(A–C). One serotonin neuron changes different motor units in opposite directions.</a:t>
            </a:r>
          </a:p>
          <a:p>
            <a:r>
              <a:rPr sz="1200">
                <a:latin typeface="Arial"/>
              </a:rPr>
              <a:t>Figure source: https://doi.org/10.3389/fphys.2019.01280</a:t>
            </a:r>
          </a:p>
          <a:p/>
          <a:p>
            <a:r>
              <a:rPr sz="1200">
                <a:latin typeface="Arial"/>
              </a:rPr>
              <a:t>Figure: Bacqué-Cazenave et al. (2019), Fig. 1(A–B). Walking-leg preparation and an identified abdominal serotonin neuron.</a:t>
            </a:r>
          </a:p>
          <a:p>
            <a:r>
              <a:rPr sz="1200">
                <a:latin typeface="Arial"/>
              </a:rPr>
              <a:t>Figure source: https://doi.org/10.3389/fphys.2019.01280</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effect of serotonin-cell activation can be examined at a single postsynaptic motor neuron. Bacqué-Cazenave and colleagues combined current injection with controlled movement of the coxo-basal chordotonal organ, a proprioceptor that senses movement at a walking-leg joint.</a:t>
            </a:r>
          </a:p>
          <a:p>
            <a:r>
              <a:rPr sz="1200">
                <a:latin typeface="Arial"/>
              </a:rPr>
              <a:t>• Excited depressor neurons depolarized and increased input resistance, while inhibited neurons hyperpolarized and decreased resistance. Sensory EPSPs became larger or smaller accordingly. The recordings retained mV calibration and included current pulses of known amplitude to estimate resistance.</a:t>
            </a:r>
          </a:p>
          <a:p>
            <a:r>
              <a:rPr sz="1200">
                <a:latin typeface="Arial"/>
              </a:rPr>
              <a:t>  – A proprioceptor reports the position or movement of the animal’s own body. Its stimulation supplies a controlled sensory input while the modulatory neuron is activated separately. A changed EPSP can reflect both membrane resistance and other synaptic changes, so the two measurements are interpreted together rather than assigned to one mechanism automatically.</a:t>
            </a:r>
          </a:p>
          <a:p>
            <a:r>
              <a:rPr sz="1200">
                <a:latin typeface="Arial"/>
              </a:rPr>
              <a:t>• Opposing membrane and synaptic effects connect modulation to sensory-motor output at identified targets. They are consistent with different receptor actions or receptor distributions, but do not by themselves identify the molecular subtype on each cell. These motor-neuron measurements also cannot replace direct tests of the giant escape system or of fighting behavior.</a:t>
            </a:r>
          </a:p>
          <a:p/>
          <a:p>
            <a:r>
              <a:rPr sz="1200">
                <a:latin typeface="Arial"/>
              </a:rPr>
              <a:t>References:</a:t>
            </a:r>
          </a:p>
          <a:p>
            <a:r>
              <a:rPr sz="1200">
                <a:latin typeface="Arial"/>
              </a:rPr>
              <a:t>Julien Bacqué-Cazenave; Pascal Fossat; Fadi A. Issa; Donald H. Edwards; Jean Paul Delbecque; Daniel Cattaert (2019). Duality of 5-HT Effects on Crayfish Motoneurons. Frontiers in Physiology, 10: 1280. https://doi.org/10.3389/fphys.2019.01280</a:t>
            </a:r>
          </a:p>
          <a:p/>
          <a:p>
            <a:r>
              <a:rPr sz="1200">
                <a:latin typeface="Arial"/>
              </a:rPr>
              <a:t>Figure: Bacqué-Cazenave et al. (2019), Fig. 4(A1–C3). Excited depressor neuron: resistance and sensory EPSP changes.</a:t>
            </a:r>
          </a:p>
          <a:p>
            <a:r>
              <a:rPr sz="1200">
                <a:latin typeface="Arial"/>
              </a:rPr>
              <a:t>Figure source: https://doi.org/10.3389/fphys.2019.01280</a:t>
            </a:r>
          </a:p>
          <a:p/>
          <a:p>
            <a:r>
              <a:rPr sz="1200">
                <a:latin typeface="Arial"/>
              </a:rPr>
              <a:t>Figure: Bacqué-Cazenave et al. (2019), Fig. 5(A1–C3). Inhibited depressor neuron: resistance and sensory EPSP changes.</a:t>
            </a:r>
          </a:p>
          <a:p>
            <a:r>
              <a:rPr sz="1200">
                <a:latin typeface="Arial"/>
              </a:rPr>
              <a:t>Figure source: https://doi.org/10.3389/fphys.2019.01280</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winner effect is increased success after a previous victory; a loser effect is reduced success after defeat. Momohara and colleagues paired adult male crayfish with modest size differences, then tested experienced animals against unfamiliar opponents on the following day.</a:t>
            </a:r>
          </a:p>
          <a:p>
            <a:r>
              <a:rPr sz="1200">
                <a:latin typeface="Arial"/>
              </a:rPr>
              <a:t>• Previously successful smaller animals won about 70% of later pairings against larger naive opponents. Previously defeated larger animals won only about 6% against smaller naive animals. Serotonin injection into naive smaller animals also increased winning to over 60% under the tested conditions.</a:t>
            </a:r>
          </a:p>
          <a:p>
            <a:r>
              <a:rPr sz="1200">
                <a:latin typeface="Arial"/>
              </a:rPr>
              <a:t>  – Naive denotes an animal without the prior pairing used to assign winner or loser experience. Size differences were small enough for experience to influence the outcome, unlike the large asymmetry used in Huber and colleagues’ persistence experiments. The final winner and the length of an encounter are therefore separate experimental outcomes.</a:t>
            </a:r>
          </a:p>
          <a:p>
            <a:r>
              <a:rPr sz="1200">
                <a:latin typeface="Arial"/>
              </a:rPr>
              <a:t>• Experience and pharmacological treatment can therefore outweigh a modest physical advantage. The injected serotonin solution was 1–2 µM, distinct from a measured tissue concentration. These outcomes do not identify the LG circuit as the cause of winning or establish that endogenous serotonin alone carries the full memory of victory.</a:t>
            </a:r>
          </a:p>
          <a:p/>
          <a:p>
            <a:r>
              <a:rPr sz="1200">
                <a:latin typeface="Arial"/>
              </a:rPr>
              <a:t>References:</a:t>
            </a:r>
          </a:p>
          <a:p>
            <a:r>
              <a:rPr sz="1200">
                <a:latin typeface="Arial"/>
              </a:rPr>
              <a:t>Yuto Momohara; Akihiro Kanai; Toshiki Nagayama (2013). Aminergic Control of Social Status in Crayfish Agonistic Encounters. PLoS ONE, 8(9): e74489. https://doi.org/10.1371/journal.pone.0074489</a:t>
            </a:r>
          </a:p>
          <a:p/>
          <a:p>
            <a:r>
              <a:rPr sz="1200">
                <a:latin typeface="Arial"/>
              </a:rPr>
              <a:t>Figure: Momohara et al. (2013), Fig. 2(A–C). Previous winning and losing alter subsequent encounters.</a:t>
            </a:r>
          </a:p>
          <a:p>
            <a:r>
              <a:rPr sz="1200">
                <a:latin typeface="Arial"/>
              </a:rPr>
              <a:t>Figure source: https://doi.org/10.1371/journal.pone.0074489</a:t>
            </a:r>
          </a:p>
          <a:p/>
          <a:p>
            <a:r>
              <a:rPr sz="1200">
                <a:latin typeface="Arial"/>
              </a:rPr>
              <a:t>Figure: Momohara et al. (2013), Fig. 3(A). Serotonin injection changes winning probability.</a:t>
            </a:r>
          </a:p>
          <a:p>
            <a:r>
              <a:rPr sz="1200">
                <a:latin typeface="Arial"/>
              </a:rPr>
              <a:t>Figure source: https://doi.org/10.1371/journal.pone.0074489</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Fluoxetine inhibits serotonin uptake, reducing its removal into cells. Huber and colleagues found that co-treatment with fluoxetine reduced the fighting-duration increase caused by infused serotonin in established subordinates. Acute fluoxetine alone did not produce the same persistence increase.</a:t>
            </a:r>
          </a:p>
          <a:p>
            <a:r>
              <a:rPr sz="1200">
                <a:latin typeface="Arial"/>
              </a:rPr>
              <a:t>• Momohara and colleagues instead treated animals after they acquired dominance and tested a new encounter on the following day. Fluoxetine reinforced the winner effect, whereas the serotonin antagonist mianserin reduced it. These protocols differed in species, previous rank and timing.</a:t>
            </a:r>
          </a:p>
          <a:p>
            <a:r>
              <a:rPr sz="1200">
                <a:latin typeface="Arial"/>
              </a:rPr>
              <a:t>  – An antagonist reduces a receptor-mediated response, but drug specificity can differ among species and receptor subtypes. Mianserin-sensitive winning and fluoxetine-sensitive persistence remain behavioral pharmacological results. The studies must be compared using their actual treatment sequence rather than assuming that more extracellular serotonin always produces the same outcome.</a:t>
            </a:r>
          </a:p>
          <a:p>
            <a:r>
              <a:rPr sz="1200">
                <a:latin typeface="Arial"/>
              </a:rPr>
              <a:t>• The outcomes are not interchangeable measures of a universal aggression mechanism. One tested an acute serotonin-dependent change during an ongoing size-asymmetric relationship; the other tested subsequent contest success after experience. Uptake-related pharmacology supports serotonin involvement, but neither experiment identifies every affected receptor or the relevant circuit.</a:t>
            </a:r>
          </a:p>
          <a:p/>
          <a:p>
            <a:r>
              <a:rPr sz="1200">
                <a:latin typeface="Arial"/>
              </a:rPr>
              <a:t>References:</a:t>
            </a:r>
          </a:p>
          <a:p>
            <a:r>
              <a:rPr sz="1200">
                <a:latin typeface="Arial"/>
              </a:rPr>
              <a:t>Robert Huber; Kalim Smith; Antonia Delago; Karin Isaksson; Edward A. Kravitz (1997). Serotonin and aggressive motivation in crustaceans: Altering the decision to retreat. Proceedings of the National Academy of Sciences, 94(11): 5939-5942. https://doi.org/10.1073/pnas.94.11.5939</a:t>
            </a:r>
          </a:p>
          <a:p>
            <a:r>
              <a:rPr sz="1200">
                <a:latin typeface="Arial"/>
              </a:rPr>
              <a:t>Yuto Momohara; Akihiro Kanai; Toshiki Nagayama (2013). Aminergic Control of Social Status in Crayfish Agonistic Encounters. PLoS ONE, 8(9): e74489. https://doi.org/10.1371/journal.pone.0074489</a:t>
            </a:r>
          </a:p>
          <a:p/>
          <a:p>
            <a:r>
              <a:rPr sz="1200">
                <a:latin typeface="Arial"/>
              </a:rPr>
              <a:t>Figure: Huber et al. (1997), Fig. 3. Fight duration after serotonin and fluoxetine treatment.</a:t>
            </a:r>
          </a:p>
          <a:p>
            <a:r>
              <a:rPr sz="1200">
                <a:latin typeface="Arial"/>
              </a:rPr>
              <a:t>Figure source: https://doi.org/10.1073/pnas.94.11.5939</a:t>
            </a:r>
          </a:p>
          <a:p/>
          <a:p>
            <a:r>
              <a:rPr sz="1200">
                <a:latin typeface="Arial"/>
              </a:rPr>
              <a:t>Figure: Momohara et al. (2013), Fig. 4(A–E). Pharmacological effects on previously dominant animals.</a:t>
            </a:r>
          </a:p>
          <a:p>
            <a:r>
              <a:rPr sz="1200">
                <a:latin typeface="Arial"/>
              </a:rPr>
              <a:t>Figure source: https://doi.org/10.1371/journal.pone.0074489</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Bacqué-Cazenave and colleagues tested anxiety-like behavior, operationally defined as increased avoidance of illuminated maze arms and more retreats at dark-light boundaries. Male crayfish were paired for 20 min, then tested individually rather than measuring escape during the fight.</a:t>
            </a:r>
          </a:p>
          <a:p>
            <a:r>
              <a:rPr sz="1200">
                <a:latin typeface="Arial"/>
              </a:rPr>
              <a:t>• Losers avoided light more than winners and isolated controls. Continued attacks after defeat predicted avoidance more closely than fight duration. Pretreatment with methysergide, a serotonin antagonist, increased time in light arms from roughly 20% to 40% in subsequent losers while reducing boundary retreats.</a:t>
            </a:r>
          </a:p>
          <a:p>
            <a:r>
              <a:rPr sz="1200">
                <a:latin typeface="Arial"/>
              </a:rPr>
              <a:t>  – Anxiolytic treatment with chlordiazepoxide also reduced the loser’s avoidance, supporting the authors’ anxiety-like behavioral classification. Serotonin was measured in tissue extracts as an additional association, but pharmacology and avoidance do not localize the relevant circuit. Continued attacks after defeat are a different exposure from the contest that established rank.</a:t>
            </a:r>
          </a:p>
          <a:p>
            <a:r>
              <a:rPr sz="1200">
                <a:latin typeface="Arial"/>
              </a:rPr>
              <a:t>• The drug-treated animals could still lose and withdraw, separating later avoidance from the initial decision to retreat. The assay supports a serotonin-associated effect of social stress, but does not identify a giant escape-neuron mechanism or establish a human subjective emotional state from behavior alone.</a:t>
            </a:r>
          </a:p>
          <a:p/>
          <a:p>
            <a:r>
              <a:rPr sz="1200">
                <a:latin typeface="Arial"/>
              </a:rPr>
              <a:t>References:</a:t>
            </a:r>
          </a:p>
          <a:p>
            <a:r>
              <a:rPr sz="1200">
                <a:latin typeface="Arial"/>
              </a:rPr>
              <a:t>Julien Bacqué-Cazenave; Daniel Cattaert; Jean-Paul Delbecque; Pascal Fossat (2017). Social harassment induces anxiety-like behaviour in crayfish. Scientific Reports, 7(1): 39935. https://doi.org/10.1038/srep39935</a:t>
            </a:r>
          </a:p>
          <a:p/>
          <a:p>
            <a:r>
              <a:rPr sz="1200">
                <a:latin typeface="Arial"/>
              </a:rPr>
              <a:t>Figure: Bacqué-Cazenave et al. (2017), Fig. 2(A–D). Maze behavior after winning or losing, with anxiolytic treatment.</a:t>
            </a:r>
          </a:p>
          <a:p>
            <a:r>
              <a:rPr sz="1200">
                <a:latin typeface="Arial"/>
              </a:rPr>
              <a:t>Figure source: https://doi.org/10.1038/srep39935</a:t>
            </a:r>
          </a:p>
          <a:p/>
          <a:p>
            <a:r>
              <a:rPr sz="1200">
                <a:latin typeface="Arial"/>
              </a:rPr>
              <a:t>Figure: Bacqué-Cazenave et al. (2017), Fig. 4(A–C). Serotonin measurements and antagonist effects on avoidance.</a:t>
            </a:r>
          </a:p>
          <a:p>
            <a:r>
              <a:rPr sz="1200">
                <a:latin typeface="Arial"/>
              </a:rPr>
              <a:t>Figure source: https://doi.org/10.1038/srep39935</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References:</a:t>
            </a:r>
          </a:p>
          <a:p/>
          <a:p>
            <a:r>
              <a:rPr sz="1200">
                <a:latin typeface="Arial"/>
              </a:rPr>
              <a:t>Jens Herberholz; Fadi A. Issa; Donald H. Edwards (2001). Patterns of Neural Circuit Activation and Behavior during Dominance Hierarchy Formation in Freely Behaving Crayfish. The Journal of Neuroscience, 21(8): 2759-2767. https://doi.org/10.1523/jneurosci.21-08-02759.2001</a:t>
            </a:r>
          </a:p>
          <a:p/>
          <a:p>
            <a:r>
              <a:rPr sz="1200">
                <a:latin typeface="Arial"/>
              </a:rPr>
              <a:t>Franklin B. Krasne; Ashkan Shamsian; Raghavendra Kulkarni (1997). Altered Excitability of the Crayfish Lateral Giant Escape Reflex during Agonistic Encounters. The Journal of Neuroscience, 17(2): 709-716. https://doi.org/10.1523/jneurosci.17-02-00709.1997</a:t>
            </a:r>
          </a:p>
          <a:p/>
          <a:p>
            <a:r>
              <a:rPr sz="1200">
                <a:latin typeface="Arial"/>
              </a:rPr>
              <a:t>Shih-Rung Yeh; Barbara E. Musolf; Donald H. Edwards (1997). Neuronal Adaptations to Changes in the Social Dominance Status of Crayfish. The Journal of Neuroscience, 17(2): 697-708. https://doi.org/10.1523/jneurosci.17-02-00697.1997</a:t>
            </a:r>
          </a:p>
          <a:p/>
          <a:p>
            <a:r>
              <a:rPr sz="1200">
                <a:latin typeface="Arial"/>
              </a:rPr>
              <a:t>Makoto Araki; Toshiki Nagayama; Jordanna Sprayberry (2005). Cyclic AMP Mediates Serotonin-Induced Synaptic Enhancement of Lateral Giant Interneuron of the Crayfish. Journal of Neurophysiology, 94(4): 2644-2652. https://doi.org/10.1152/jn.00502.2005</a:t>
            </a:r>
          </a:p>
          <a:p/>
          <a:p>
            <a:r>
              <a:rPr sz="1200">
                <a:latin typeface="Arial"/>
              </a:rPr>
              <a:t>Nadja Spitzer; Brian L. Antonsen; Donald H. Edwards (2005). Immunocytochemical mapping and quantification of expression of a putative type 1 serotonin receptor in the crayfish nervous system. The Journal of Comparative Neurology, 484(3): 261-282. https://doi.org/10.1002/cne.20456</a:t>
            </a:r>
          </a:p>
          <a:p/>
          <a:p>
            <a:r>
              <a:rPr sz="1200">
                <a:latin typeface="Arial"/>
              </a:rPr>
              <a:t>Nadja Spitzer; Donald H. Edwards; Deborah J. Baro (2008). Conservation of structure, signaling and pharmacology between two serotonin receptor subtypes from decapod crustaceans, Panulirus interruptus and Procambarus clarkii. Journal of Experimental Biology, 211(1): 92-105. https://doi.org/10.1242/jeb.012450</a:t>
            </a:r>
          </a:p>
          <a:p/>
          <a:p>
            <a:r>
              <a:rPr sz="1200">
                <a:latin typeface="Arial"/>
              </a:rPr>
              <a:t>Julien Bacqué-Cazenave; Pascal Fossat; Fadi A. Issa; Donald H. Edwards; Jean Paul Delbecque; Daniel Cattaert (2019). Duality of 5-HT Effects on Crayfish Motoneurons. Frontiers in Physiology, 10: 1280. https://doi.org/10.3389/fphys.2019.01280</a:t>
            </a:r>
          </a:p>
          <a:p/>
          <a:p>
            <a:r>
              <a:rPr sz="1200">
                <a:latin typeface="Arial"/>
              </a:rPr>
              <a:t>Julien Bacqué-Cazenave; Daniel Cattaert; Jean-Paul Delbecque; Pascal Fossat (2017). Social harassment induces anxiety-like behaviour in crayfish. Scientific Reports, 7(1): 39935. https://doi.org/10.1038/srep39935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1.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1.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1.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1.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1.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1.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11.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11.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11.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11.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1.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11.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29.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11.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11.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11.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11.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11.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11.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44.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image" Target="../media/image51.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5C6774"/>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D8E0E8"/>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D8E0E8"/>
                </a:solidFill>
                <a:latin typeface="Arial"/>
              </a:rPr>
              <a:t>Lecture 35</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700" b="1" i="0">
                <a:solidFill>
                  <a:srgbClr val="FFFFFF"/>
                </a:solidFill>
                <a:latin typeface="Arial"/>
              </a:rPr>
              <a:t>Social behavior:</a:t>
            </a:r>
          </a:p>
          <a:p>
            <a:pPr algn="l">
              <a:lnSpc>
                <a:spcPct val="108000"/>
              </a:lnSpc>
              <a:spcAft>
                <a:spcPts val="0"/>
              </a:spcAft>
            </a:pPr>
            <a:r>
              <a:rPr sz="2700" b="1" i="0">
                <a:solidFill>
                  <a:srgbClr val="FFFFFF"/>
                </a:solidFill>
                <a:latin typeface="Arial"/>
              </a:rPr>
              <a:t>crayfish dominance and serotonergic modulation of escape</a:t>
            </a:r>
          </a:p>
        </p:txBody>
      </p:sp>
      <p:sp>
        <p:nvSpPr>
          <p:cNvPr id="6" name="TextBox 5"/>
          <p:cNvSpPr txBox="1"/>
          <p:nvPr/>
        </p:nvSpPr>
        <p:spPr>
          <a:xfrm>
            <a:off x="685800" y="474962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D8E0E8"/>
                </a:solidFill>
                <a:latin typeface="Arial"/>
              </a:rPr>
              <a:t>Wednesday, November 18, 2026</a:t>
            </a:r>
          </a:p>
        </p:txBody>
      </p:sp>
      <p:sp>
        <p:nvSpPr>
          <p:cNvPr id="7" name="TextBox 6"/>
          <p:cNvSpPr txBox="1"/>
          <p:nvPr/>
        </p:nvSpPr>
        <p:spPr>
          <a:xfrm>
            <a:off x="685800" y="543542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D8E0E8"/>
                </a:solidFill>
                <a:latin typeface="Arial"/>
              </a:rPr>
              <a:t>Jordan Lopez, Ph.D.</a:t>
            </a:r>
          </a:p>
          <a:p>
            <a:pPr algn="l">
              <a:lnSpc>
                <a:spcPct val="108000"/>
              </a:lnSpc>
              <a:spcAft>
                <a:spcPts val="200"/>
              </a:spcAft>
            </a:pPr>
            <a:r>
              <a:rPr sz="1200" b="0" i="0">
                <a:solidFill>
                  <a:srgbClr val="D8E0E8"/>
                </a:solidFill>
                <a:latin typeface="Arial"/>
              </a:rPr>
              <a:t>Professor of Neurobiology &amp; Biomedical Engineering</a:t>
            </a:r>
          </a:p>
        </p:txBody>
      </p:sp>
      <p:pic>
        <p:nvPicPr>
          <p:cNvPr id="8" name="Picture 7" descr="animal.png"/>
          <p:cNvPicPr>
            <a:picLocks noChangeAspect="1"/>
          </p:cNvPicPr>
          <p:nvPr/>
        </p:nvPicPr>
        <p:blipFill>
          <a:blip r:embed="rId2"/>
          <a:stretch>
            <a:fillRect/>
          </a:stretch>
        </p:blipFill>
        <p:spPr>
          <a:xfrm>
            <a:off x="6553047" y="822960"/>
            <a:ext cx="5181447" cy="2590723"/>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Herberholz et al. (2011), Fig. 1(B). Juvenile Procambarus clarkii beside a coin.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Dominance emerges from changes in social behavior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Crayfish </a:t>
            </a:r>
            <a:r>
              <a:rPr sz="1500" b="0" i="1">
                <a:solidFill>
                  <a:srgbClr val="000000"/>
                </a:solidFill>
                <a:latin typeface="Arial"/>
              </a:rPr>
              <a:t>Procambarus clarkii</a:t>
            </a:r>
            <a:r>
              <a:rPr sz="1500" b="0" i="0">
                <a:solidFill>
                  <a:srgbClr val="000000"/>
                </a:solidFill>
                <a:latin typeface="Arial"/>
              </a:rPr>
              <a:t> establish </a:t>
            </a:r>
            <a:r>
              <a:rPr sz="1500" b="1" i="0">
                <a:solidFill>
                  <a:srgbClr val="444C55"/>
                </a:solidFill>
                <a:latin typeface="Arial"/>
              </a:rPr>
              <a:t>dominance</a:t>
            </a:r>
            <a:r>
              <a:rPr sz="1500" b="0" i="0">
                <a:solidFill>
                  <a:srgbClr val="000000"/>
                </a:solidFill>
                <a:latin typeface="Arial"/>
              </a:rPr>
              <a:t>, a relationship in which one animal persistently attacks or approaches while the other withdraws. </a:t>
            </a:r>
            <a:r>
              <a:rPr sz="1500" b="1" i="0">
                <a:solidFill>
                  <a:srgbClr val="444C55"/>
                </a:solidFill>
                <a:latin typeface="Arial"/>
              </a:rPr>
              <a:t>Agonistic behavior</a:t>
            </a:r>
            <a:r>
              <a:rPr sz="1500" b="0" i="0">
                <a:solidFill>
                  <a:srgbClr val="000000"/>
                </a:solidFill>
                <a:latin typeface="Arial"/>
              </a:rPr>
              <a:t> comprises conflict-related actions, including threats, grappling, attacks, retreats and escapes. Rank is assigned from these interactions rather than from posture alone.</a:t>
            </a:r>
          </a:p>
          <a:p>
            <a:pPr algn="l">
              <a:lnSpc>
                <a:spcPct val="108000"/>
              </a:lnSpc>
              <a:spcAft>
                <a:spcPts val="900"/>
              </a:spcAft>
            </a:pPr>
            <a:r>
              <a:rPr sz="1500" b="0" i="0">
                <a:solidFill>
                  <a:srgbClr val="000000"/>
                </a:solidFill>
                <a:latin typeface="Arial"/>
              </a:rPr>
              <a:t>Herberholz and colleagues paired previously isolated juveniles of similar size for 30 min. Synchronized recordings identified an abrupt transition: the future subordinate stopped repeated offensive actions and began retreating or escaping from its opponent.</a:t>
            </a:r>
          </a:p>
          <a:p>
            <a:pPr algn="l">
              <a:lnSpc>
                <a:spcPct val="108000"/>
              </a:lnSpc>
              <a:spcAft>
                <a:spcPts val="900"/>
              </a:spcAft>
            </a:pPr>
            <a:r>
              <a:rPr sz="1500" b="0" i="0">
                <a:solidFill>
                  <a:srgbClr val="000000"/>
                </a:solidFill>
                <a:latin typeface="Arial"/>
              </a:rPr>
              <a:t>A hierarchy therefore changes the selection of actions within an encounter. The behavioral transition establishes which animal yields under these conditions, but it does not identify the transmitter or neuronal change responsible. Animals could occasionally reengage after the initial decision, so dominance was assessed across the interaction.</a:t>
            </a:r>
          </a:p>
        </p:txBody>
      </p:sp>
      <p:pic>
        <p:nvPicPr>
          <p:cNvPr id="4" name="Picture 3" descr="h01_f4.png"/>
          <p:cNvPicPr>
            <a:picLocks noChangeAspect="1"/>
          </p:cNvPicPr>
          <p:nvPr/>
        </p:nvPicPr>
        <p:blipFill>
          <a:blip r:embed="rId2"/>
          <a:stretch>
            <a:fillRect/>
          </a:stretch>
        </p:blipFill>
        <p:spPr>
          <a:xfrm>
            <a:off x="6351836" y="1280160"/>
            <a:ext cx="5059461"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Herberholz et al. (2001), Fig. 4(A–B). Behavioral sequences around hierarchy formation.</a:t>
            </a:r>
          </a:p>
        </p:txBody>
      </p:sp>
      <p:sp>
        <p:nvSpPr>
          <p:cNvPr id="6" name="Rectangle 5"/>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Herberholz et al.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Electrical fields identify activity during free movement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Herberholz and colleagues recorded </a:t>
            </a:r>
            <a:r>
              <a:rPr sz="1500" b="1" i="0">
                <a:solidFill>
                  <a:srgbClr val="444C55"/>
                </a:solidFill>
                <a:latin typeface="Arial"/>
              </a:rPr>
              <a:t>field potentials</a:t>
            </a:r>
            <a:r>
              <a:rPr sz="1500" b="0" i="0">
                <a:solidFill>
                  <a:srgbClr val="000000"/>
                </a:solidFill>
                <a:latin typeface="Arial"/>
              </a:rPr>
              <a:t>, changes in voltage in the water surrounding freely moving crayfish. Large, coordinated neuronal and muscle currents generate these signals, allowing neural pathway activation to be associated with observed behavior.</a:t>
            </a:r>
          </a:p>
          <a:p>
            <a:pPr algn="l">
              <a:lnSpc>
                <a:spcPct val="108000"/>
              </a:lnSpc>
              <a:spcAft>
                <a:spcPts val="900"/>
              </a:spcAft>
            </a:pPr>
            <a:r>
              <a:rPr sz="1500" b="0" i="0">
                <a:solidFill>
                  <a:srgbClr val="000000"/>
                </a:solidFill>
                <a:latin typeface="Arial"/>
              </a:rPr>
              <a:t>Bath electrodes at opposite ends of a 9.5 cm aquarium recorded activity while high-speed video sampled movement every 5 ms. Preliminary recordings compared the bath signal with signals from implanted electrodes in the same animal. Corresponding waveforms supported identification without retaining electrode leads during paired encounters.</a:t>
            </a:r>
          </a:p>
          <a:p>
            <a:pPr algn="l">
              <a:lnSpc>
                <a:spcPct val="108000"/>
              </a:lnSpc>
              <a:spcAft>
                <a:spcPts val="900"/>
              </a:spcAft>
            </a:pPr>
            <a:r>
              <a:rPr sz="1500" b="0" i="0">
                <a:solidFill>
                  <a:srgbClr val="000000"/>
                </a:solidFill>
                <a:latin typeface="Arial"/>
              </a:rPr>
              <a:t>The method preserved movement and contact between opponents. Waveform similarity validates particular escape signatures; it does not resolve every small neuron contributing to a field potential. Video supplied the animal’s identity and movement trajectory, preventing a voltage event from being classified solely by amplitude.</a:t>
            </a:r>
          </a:p>
        </p:txBody>
      </p:sp>
      <p:pic>
        <p:nvPicPr>
          <p:cNvPr id="4" name="Picture 3" descr="h01_f1a.png"/>
          <p:cNvPicPr>
            <a:picLocks noChangeAspect="1"/>
          </p:cNvPicPr>
          <p:nvPr/>
        </p:nvPicPr>
        <p:blipFill>
          <a:blip r:embed="rId2"/>
          <a:stretch>
            <a:fillRect/>
          </a:stretch>
        </p:blipFill>
        <p:spPr>
          <a:xfrm>
            <a:off x="6860351" y="1280160"/>
            <a:ext cx="4042431"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Herberholz et al. (2001), Fig. 1(A). Bath electrodes and high-speed video recording.</a:t>
            </a:r>
          </a:p>
        </p:txBody>
      </p:sp>
      <p:sp>
        <p:nvSpPr>
          <p:cNvPr id="6" name="Rectangle 5"/>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Herberholz et al.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Offensive tail flips prolong contact with an opponent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444C55"/>
                </a:solidFill>
                <a:latin typeface="Arial"/>
              </a:rPr>
              <a:t>tail flip</a:t>
            </a:r>
            <a:r>
              <a:rPr sz="1500" b="0" i="0">
                <a:solidFill>
                  <a:srgbClr val="000000"/>
                </a:solidFill>
                <a:latin typeface="Arial"/>
              </a:rPr>
              <a:t> is rapid abdominal flexion that moves a crayfish through water. During escape it separates the animal from a threat; during an </a:t>
            </a:r>
            <a:r>
              <a:rPr sz="1500" b="1" i="0">
                <a:solidFill>
                  <a:srgbClr val="444C55"/>
                </a:solidFill>
                <a:latin typeface="Arial"/>
              </a:rPr>
              <a:t>offensive tail flip</a:t>
            </a:r>
            <a:r>
              <a:rPr sz="1500" b="0" i="0">
                <a:solidFill>
                  <a:srgbClr val="000000"/>
                </a:solidFill>
                <a:latin typeface="Arial"/>
              </a:rPr>
              <a:t>, the animal maintains its grip on the opponent and pulls it upward or over.</a:t>
            </a:r>
          </a:p>
          <a:p>
            <a:pPr algn="l">
              <a:lnSpc>
                <a:spcPct val="108000"/>
              </a:lnSpc>
              <a:spcAft>
                <a:spcPts val="900"/>
              </a:spcAft>
            </a:pPr>
            <a:r>
              <a:rPr sz="1500" b="0" i="0">
                <a:solidFill>
                  <a:srgbClr val="000000"/>
                </a:solidFill>
                <a:latin typeface="Arial"/>
              </a:rPr>
              <a:t>Herberholz and colleagues identified offensive movements using synchronized video and electrical recordings during juvenile encounters. Their abdominal movements began more slowly than ordinary escape flexion and were resolved across successive 5-ms video frames. These events were common during vigorous grappling.</a:t>
            </a:r>
          </a:p>
          <a:p>
            <a:pPr algn="l">
              <a:lnSpc>
                <a:spcPct val="108000"/>
              </a:lnSpc>
              <a:spcAft>
                <a:spcPts val="900"/>
              </a:spcAft>
            </a:pPr>
            <a:r>
              <a:rPr sz="1500" b="0" i="0">
                <a:solidFill>
                  <a:srgbClr val="000000"/>
                </a:solidFill>
                <a:latin typeface="Arial"/>
              </a:rPr>
              <a:t>An offensive movement therefore cannot be assigned an escape function merely because the abdomen flexes. Its electrical signature lacked the large initial giant-pathway response. The authors proposed a distinct motor circuit, but did not identify all of its neurons or prove that it was completely independent of nongiant escape circuitry.</a:t>
            </a:r>
          </a:p>
        </p:txBody>
      </p:sp>
      <p:pic>
        <p:nvPicPr>
          <p:cNvPr id="4" name="Picture 3" descr="h01_f3.png"/>
          <p:cNvPicPr>
            <a:picLocks noChangeAspect="1"/>
          </p:cNvPicPr>
          <p:nvPr/>
        </p:nvPicPr>
        <p:blipFill>
          <a:blip r:embed="rId2"/>
          <a:stretch>
            <a:fillRect/>
          </a:stretch>
        </p:blipFill>
        <p:spPr>
          <a:xfrm>
            <a:off x="6138367" y="1280160"/>
            <a:ext cx="5486400" cy="3541594"/>
          </a:xfrm>
          <a:prstGeom prst="rect">
            <a:avLst/>
          </a:prstGeom>
        </p:spPr>
      </p:pic>
      <p:sp>
        <p:nvSpPr>
          <p:cNvPr id="5" name="Figure caption"/>
          <p:cNvSpPr txBox="1"/>
          <p:nvPr/>
        </p:nvSpPr>
        <p:spPr>
          <a:xfrm>
            <a:off x="6138367" y="4913194"/>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Herberholz et al. (2001), Fig. 3(A–C). Escape and offensive tail-flip recordings during encounters.</a:t>
            </a:r>
          </a:p>
        </p:txBody>
      </p:sp>
      <p:sp>
        <p:nvSpPr>
          <p:cNvPr id="6" name="Rectangle 5"/>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Herberholz et al.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Retreat increases after the hierarchy is decided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transition to subordinate status redistributes behavior rather than simply reducing all movement. Herberholz and colleagues aligned paired encounters to the first tail flip and counted attacks, approaches and retreats in successive 5-min periods.</a:t>
            </a:r>
          </a:p>
          <a:p>
            <a:pPr algn="l">
              <a:lnSpc>
                <a:spcPct val="108000"/>
              </a:lnSpc>
              <a:spcAft>
                <a:spcPts val="900"/>
              </a:spcAft>
            </a:pPr>
            <a:r>
              <a:rPr sz="1500" b="0" i="0">
                <a:solidFill>
                  <a:srgbClr val="000000"/>
                </a:solidFill>
                <a:latin typeface="Arial"/>
              </a:rPr>
              <a:t>Dominants maintained attacks and approaches while subordinates produced repeated retreats and escapes. Aggressive activity then declined across the 30-min observation, reaching roughly 15% of its initial level. Defensive actions fell as approaches and attacks became less frequent.</a:t>
            </a:r>
          </a:p>
          <a:p>
            <a:pPr algn="l">
              <a:lnSpc>
                <a:spcPct val="108000"/>
              </a:lnSpc>
              <a:spcAft>
                <a:spcPts val="900"/>
              </a:spcAft>
            </a:pPr>
            <a:r>
              <a:rPr sz="1500" b="0" i="0">
                <a:solidFill>
                  <a:srgbClr val="000000"/>
                </a:solidFill>
                <a:latin typeface="Arial"/>
              </a:rPr>
              <a:t>The temporal association links defensive behavior to the opponent’s actions and the established relationship. It does not establish that a fall in one escape reflex caused retreat, because retreat and different forms of escape recruit different circuits. An animal can suppress one stereotyped response while increasing another defensive action, especially when threats remain predictable during repeated encounters.</a:t>
            </a:r>
          </a:p>
        </p:txBody>
      </p:sp>
      <p:pic>
        <p:nvPicPr>
          <p:cNvPr id="4" name="Picture 3" descr="h01_f5a.png"/>
          <p:cNvPicPr>
            <a:picLocks noChangeAspect="1"/>
          </p:cNvPicPr>
          <p:nvPr/>
        </p:nvPicPr>
        <p:blipFill>
          <a:blip r:embed="rId2"/>
          <a:stretch>
            <a:fillRect/>
          </a:stretch>
        </p:blipFill>
        <p:spPr>
          <a:xfrm>
            <a:off x="6840310" y="1280160"/>
            <a:ext cx="4082512"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Herberholz et al. (2001), Fig. 5(A). Attacks, approaches and retreats across 5-min periods.</a:t>
            </a:r>
          </a:p>
        </p:txBody>
      </p:sp>
      <p:sp>
        <p:nvSpPr>
          <p:cNvPr id="6" name="Rectangle 5"/>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Herberholz et al. (2001)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Serotonin prolongs fighting in an established subordinate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444C55"/>
                </a:solidFill>
                <a:latin typeface="Arial"/>
              </a:rPr>
              <a:t>Serotonin</a:t>
            </a:r>
            <a:r>
              <a:rPr sz="1500" b="0" i="0">
                <a:solidFill>
                  <a:srgbClr val="000000"/>
                </a:solidFill>
                <a:latin typeface="Arial"/>
              </a:rPr>
              <a:t>, or 5-hydroxytryptamine (5-HT), is a monoamine, a small amine-containing signaling molecule that can change neuronal responsiveness. A </a:t>
            </a:r>
            <a:r>
              <a:rPr sz="1500" b="1" i="0">
                <a:solidFill>
                  <a:srgbClr val="444C55"/>
                </a:solidFill>
                <a:latin typeface="Arial"/>
              </a:rPr>
              <a:t>neuromodulator</a:t>
            </a:r>
            <a:r>
              <a:rPr sz="1500" b="0" i="0">
                <a:solidFill>
                  <a:srgbClr val="000000"/>
                </a:solidFill>
                <a:latin typeface="Arial"/>
              </a:rPr>
              <a:t> alters how a circuit responds to its inputs rather than necessarily triggering one fixed action. Huber and colleagues infused serotonin into freely moving </a:t>
            </a:r>
            <a:r>
              <a:rPr sz="1500" b="0" i="1">
                <a:solidFill>
                  <a:srgbClr val="000000"/>
                </a:solidFill>
                <a:latin typeface="Arial"/>
              </a:rPr>
              <a:t>Astacus astacus</a:t>
            </a:r>
            <a:r>
              <a:rPr sz="1500" b="0" i="0">
                <a:solidFill>
                  <a:srgbClr val="000000"/>
                </a:solidFill>
                <a:latin typeface="Arial"/>
              </a:rPr>
              <a:t>.</a:t>
            </a:r>
          </a:p>
          <a:p>
            <a:pPr algn="l">
              <a:lnSpc>
                <a:spcPct val="108000"/>
              </a:lnSpc>
              <a:spcAft>
                <a:spcPts val="900"/>
              </a:spcAft>
            </a:pPr>
            <a:r>
              <a:rPr sz="1500" b="0" i="0">
                <a:solidFill>
                  <a:srgbClr val="000000"/>
                </a:solidFill>
                <a:latin typeface="Arial"/>
              </a:rPr>
              <a:t>The treated subordinate was about 30% smaller than its opponent. After rank formation, 30 min of saline infusion preceded 60 min of serotonin delivery. Estimated circulating serotonin approached 10 µM. Fight duration and intensity increased to approximately three times their pretreatment levels.</a:t>
            </a:r>
          </a:p>
          <a:p>
            <a:pPr algn="l">
              <a:lnSpc>
                <a:spcPct val="108000"/>
              </a:lnSpc>
              <a:spcAft>
                <a:spcPts val="900"/>
              </a:spcAft>
            </a:pPr>
            <a:r>
              <a:rPr sz="1500" b="0" i="0">
                <a:solidFill>
                  <a:srgbClr val="000000"/>
                </a:solidFill>
                <a:latin typeface="Arial"/>
              </a:rPr>
              <a:t>Fighting returned toward baseline within 30 min after infusion ended. The saline phase controlled for infusion and time in the apparatus. These results establish a pharmacological increase in fighting persistence, but not that endogenous serotonin concentration alone determines rank or reverses physical superiority.</a:t>
            </a:r>
          </a:p>
        </p:txBody>
      </p:sp>
      <p:pic>
        <p:nvPicPr>
          <p:cNvPr id="4" name="Picture 3" descr="hub_f1.png"/>
          <p:cNvPicPr>
            <a:picLocks noChangeAspect="1"/>
          </p:cNvPicPr>
          <p:nvPr/>
        </p:nvPicPr>
        <p:blipFill>
          <a:blip r:embed="rId2"/>
          <a:stretch>
            <a:fillRect/>
          </a:stretch>
        </p:blipFill>
        <p:spPr>
          <a:xfrm>
            <a:off x="7123204" y="1280160"/>
            <a:ext cx="3516724"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Huber et al. (1997), Fig. 1. Fighting during saline, serotonin and octopamine infusion.</a:t>
            </a:r>
          </a:p>
        </p:txBody>
      </p:sp>
      <p:sp>
        <p:nvSpPr>
          <p:cNvPr id="6" name="Rectangle 5"/>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Huber et al. (1997)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Longer fighting reflects a reduced tendency to withdraw</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Fighting intensity and duration are coupled: encounters that continue longer have more opportunity to escalate. Huber and colleagues therefore separated persistence from which animal initiated an encounter, the escalation sequence and which animal ultimately retreated.</a:t>
            </a:r>
          </a:p>
          <a:p>
            <a:pPr algn="l">
              <a:lnSpc>
                <a:spcPct val="108000"/>
              </a:lnSpc>
              <a:spcAft>
                <a:spcPts val="900"/>
              </a:spcAft>
            </a:pPr>
            <a:r>
              <a:rPr sz="1500" b="0" i="0">
                <a:solidFill>
                  <a:srgbClr val="000000"/>
                </a:solidFill>
                <a:latin typeface="Arial"/>
              </a:rPr>
              <a:t>During the 60-min serotonin infusion, duration accounted for most of the behavioral change. Subordinates continued contesting interactions longer, while the original opponent usually retained the eventual advantage. The saline and postinfusion periods provided within-pair comparisons.</a:t>
            </a:r>
          </a:p>
          <a:p>
            <a:pPr algn="l">
              <a:lnSpc>
                <a:spcPct val="108000"/>
              </a:lnSpc>
              <a:spcAft>
                <a:spcPts val="900"/>
              </a:spcAft>
            </a:pPr>
            <a:r>
              <a:rPr sz="1500" b="0" i="0">
                <a:solidFill>
                  <a:srgbClr val="000000"/>
                </a:solidFill>
                <a:latin typeface="Arial"/>
              </a:rPr>
              <a:t>The result supports a reduced likelihood of withdrawal during an ongoing interaction. It does not establish increased muscular strength, a reversal of hierarchy or a single general aggression pathway. Applied serotonin changed one component of the animal’s behavior under a particular asymmetry of body size, and that component must be distinguished from the final outcome.</a:t>
            </a:r>
          </a:p>
        </p:txBody>
      </p:sp>
      <p:pic>
        <p:nvPicPr>
          <p:cNvPr id="4" name="Picture 3" descr="hub_f2.png"/>
          <p:cNvPicPr>
            <a:picLocks noChangeAspect="1"/>
          </p:cNvPicPr>
          <p:nvPr/>
        </p:nvPicPr>
        <p:blipFill>
          <a:blip r:embed="rId2"/>
          <a:stretch>
            <a:fillRect/>
          </a:stretch>
        </p:blipFill>
        <p:spPr>
          <a:xfrm>
            <a:off x="7815788" y="1280160"/>
            <a:ext cx="2131557"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Huber et al. (1997), Fig. 2(A–B). Duration-related changes during serotonin treatment.</a:t>
            </a:r>
          </a:p>
        </p:txBody>
      </p:sp>
      <p:sp>
        <p:nvSpPr>
          <p:cNvPr id="6" name="Rectangle 5"/>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Huber et al. (1997)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Giant pathways generate different escape trajectories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a:t>
            </a:r>
            <a:r>
              <a:rPr sz="1500" b="1" i="0">
                <a:solidFill>
                  <a:srgbClr val="444C55"/>
                </a:solidFill>
                <a:latin typeface="Arial"/>
              </a:rPr>
              <a:t>lateral giant</a:t>
            </a:r>
            <a:r>
              <a:rPr sz="1500" b="0" i="0">
                <a:solidFill>
                  <a:srgbClr val="000000"/>
                </a:solidFill>
                <a:latin typeface="Arial"/>
              </a:rPr>
              <a:t> (LG) and </a:t>
            </a:r>
            <a:r>
              <a:rPr sz="1500" b="1" i="0">
                <a:solidFill>
                  <a:srgbClr val="444C55"/>
                </a:solidFill>
                <a:latin typeface="Arial"/>
              </a:rPr>
              <a:t>medial giant</a:t>
            </a:r>
            <a:r>
              <a:rPr sz="1500" b="0" i="0">
                <a:solidFill>
                  <a:srgbClr val="000000"/>
                </a:solidFill>
                <a:latin typeface="Arial"/>
              </a:rPr>
              <a:t> (MG) are large interneurons that recruit stereotyped escape movements. An </a:t>
            </a:r>
            <a:r>
              <a:rPr sz="1500" b="1" i="0">
                <a:solidFill>
                  <a:srgbClr val="444C55"/>
                </a:solidFill>
                <a:latin typeface="Arial"/>
              </a:rPr>
              <a:t>interneuron</a:t>
            </a:r>
            <a:r>
              <a:rPr sz="1500" b="0" i="0">
                <a:solidFill>
                  <a:srgbClr val="000000"/>
                </a:solidFill>
                <a:latin typeface="Arial"/>
              </a:rPr>
              <a:t> connects neurons within the nervous system; a </a:t>
            </a:r>
            <a:r>
              <a:rPr sz="1500" b="1" i="0">
                <a:solidFill>
                  <a:srgbClr val="444C55"/>
                </a:solidFill>
                <a:latin typeface="Arial"/>
              </a:rPr>
              <a:t>command neuron</a:t>
            </a:r>
            <a:r>
              <a:rPr sz="1500" b="0" i="0">
                <a:solidFill>
                  <a:srgbClr val="000000"/>
                </a:solidFill>
                <a:latin typeface="Arial"/>
              </a:rPr>
              <a:t> can trigger an organized action when it fires. LG responds chiefly to abrupt abdominal input, whereas MG responds to anterior stimulation.</a:t>
            </a:r>
          </a:p>
          <a:p>
            <a:pPr algn="l">
              <a:lnSpc>
                <a:spcPct val="108000"/>
              </a:lnSpc>
              <a:spcAft>
                <a:spcPts val="900"/>
              </a:spcAft>
            </a:pPr>
            <a:r>
              <a:rPr sz="1500" b="0" i="0">
                <a:solidFill>
                  <a:srgbClr val="000000"/>
                </a:solidFill>
                <a:latin typeface="Arial"/>
              </a:rPr>
              <a:t>Herberholz and colleagues compared sharp mechanical stimuli with synchronized recordings. At 25 ms after movement onset, LG tail flips averaged about 99° relative to the animal’s forward axis, whereas MG movements averaged about 155°.</a:t>
            </a:r>
          </a:p>
          <a:p>
            <a:pPr algn="l">
              <a:lnSpc>
                <a:spcPct val="108000"/>
              </a:lnSpc>
              <a:spcAft>
                <a:spcPts val="900"/>
              </a:spcAft>
            </a:pPr>
            <a:r>
              <a:rPr sz="1500" b="0" i="0">
                <a:solidFill>
                  <a:srgbClr val="000000"/>
                </a:solidFill>
                <a:latin typeface="Arial"/>
              </a:rPr>
              <a:t>Both pathways produced a giant spike followed about 1.4 ms later by a large motor-related field potential. Their distinct trajectories and electrical signatures supported classification. These calibrated responses identify pathway recruitment, but the threshold for releasing a movement can still depend on ongoing behavior and social experience.</a:t>
            </a:r>
          </a:p>
        </p:txBody>
      </p:sp>
      <p:pic>
        <p:nvPicPr>
          <p:cNvPr id="4" name="Picture 3" descr="h01_f2.png"/>
          <p:cNvPicPr>
            <a:picLocks noChangeAspect="1"/>
          </p:cNvPicPr>
          <p:nvPr/>
        </p:nvPicPr>
        <p:blipFill>
          <a:blip r:embed="rId2"/>
          <a:stretch>
            <a:fillRect/>
          </a:stretch>
        </p:blipFill>
        <p:spPr>
          <a:xfrm>
            <a:off x="6467130" y="1280160"/>
            <a:ext cx="2817193" cy="4297679"/>
          </a:xfrm>
          <a:prstGeom prst="rect">
            <a:avLst/>
          </a:prstGeom>
        </p:spPr>
      </p:pic>
      <p:sp>
        <p:nvSpPr>
          <p:cNvPr id="5" name="Figure caption"/>
          <p:cNvSpPr txBox="1"/>
          <p:nvPr/>
        </p:nvSpPr>
        <p:spPr>
          <a:xfrm>
            <a:off x="6138367" y="5669279"/>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Herberholz et al. (2001), Fig. 2(A–C). Recorded giant and nongiant tail flips with synchronized video.</a:t>
            </a:r>
          </a:p>
        </p:txBody>
      </p:sp>
      <p:pic>
        <p:nvPicPr>
          <p:cNvPr id="6" name="Picture 5" descr="h01_f1b.png"/>
          <p:cNvPicPr>
            <a:picLocks noChangeAspect="1"/>
          </p:cNvPicPr>
          <p:nvPr/>
        </p:nvPicPr>
        <p:blipFill>
          <a:blip r:embed="rId3"/>
          <a:stretch>
            <a:fillRect/>
          </a:stretch>
        </p:blipFill>
        <p:spPr>
          <a:xfrm>
            <a:off x="9795967" y="2148840"/>
            <a:ext cx="1828800" cy="2304543"/>
          </a:xfrm>
          <a:prstGeom prst="rect">
            <a:avLst/>
          </a:prstGeom>
        </p:spPr>
      </p:pic>
      <p:sp>
        <p:nvSpPr>
          <p:cNvPr id="7" name="Figure caption"/>
          <p:cNvSpPr txBox="1"/>
          <p:nvPr/>
        </p:nvSpPr>
        <p:spPr>
          <a:xfrm>
            <a:off x="9795967" y="4526535"/>
            <a:ext cx="18288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Herberholz et al. (2001), Fig. 1(B). Published anatomy of giant and nongiant escape pathways.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Herberholz et al. (2001);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Most social escapes recruit nongiant circuitry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444C55"/>
                </a:solidFill>
                <a:latin typeface="Arial"/>
              </a:rPr>
              <a:t>Nongiant escape</a:t>
            </a:r>
            <a:r>
              <a:rPr sz="1400" b="0" i="0">
                <a:solidFill>
                  <a:srgbClr val="000000"/>
                </a:solidFill>
                <a:latin typeface="Arial"/>
              </a:rPr>
              <a:t> recruits interneurons and motor neurons without firing the giant command pathways. It produces more variable movements and also contributes to repeated swimming tail flips after an initial escape. A motor neuron carries neural output to muscle.</a:t>
            </a:r>
          </a:p>
          <a:p>
            <a:pPr algn="l">
              <a:lnSpc>
                <a:spcPct val="108000"/>
              </a:lnSpc>
              <a:spcAft>
                <a:spcPts val="840"/>
              </a:spcAft>
            </a:pPr>
            <a:r>
              <a:rPr sz="1400" b="0" i="0">
                <a:solidFill>
                  <a:srgbClr val="000000"/>
                </a:solidFill>
                <a:latin typeface="Arial"/>
              </a:rPr>
              <a:t>During 30-min juvenile encounters, Herberholz and colleagues observed extensive nongiant escape and swimming in the new subordinate. LG firing occurred only once across their paired encounters, when an opponent directly struck the subordinate’s abdomen. MG responses were concentrated during vigorous interaction.</a:t>
            </a:r>
          </a:p>
          <a:p>
            <a:pPr algn="l">
              <a:lnSpc>
                <a:spcPct val="108000"/>
              </a:lnSpc>
              <a:spcAft>
                <a:spcPts val="840"/>
              </a:spcAft>
            </a:pPr>
            <a:r>
              <a:rPr sz="1400" b="0" i="0">
                <a:solidFill>
                  <a:srgbClr val="000000"/>
                </a:solidFill>
                <a:latin typeface="Arial"/>
              </a:rPr>
              <a:t>Frequent defensive movement therefore does not imply frequent LG activation. Field potentials lacking the giant spike and large initial motor signature distinguished nongiant responses. The observed recruitment pattern supports selective control of escape pathways, but it cannot by itself determine whether serotonergic modulation or another signal changed their excitability.</a:t>
            </a:r>
          </a:p>
        </p:txBody>
      </p:sp>
      <p:pic>
        <p:nvPicPr>
          <p:cNvPr id="4" name="Picture 3" descr="h01_f5b.png"/>
          <p:cNvPicPr>
            <a:picLocks noChangeAspect="1"/>
          </p:cNvPicPr>
          <p:nvPr/>
        </p:nvPicPr>
        <p:blipFill>
          <a:blip r:embed="rId2"/>
          <a:stretch>
            <a:fillRect/>
          </a:stretch>
        </p:blipFill>
        <p:spPr>
          <a:xfrm>
            <a:off x="7692666" y="1280160"/>
            <a:ext cx="237780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Herberholz et al. (2001), Fig. 5(B). Tail-flip pathway recruitment across 5-min periods.</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Herberholz et al. (2001);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A stimulus threshold measures reflex availability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444C55"/>
                </a:solidFill>
                <a:latin typeface="Arial"/>
              </a:rPr>
              <a:t>stimulus threshold</a:t>
            </a:r>
            <a:r>
              <a:rPr sz="1500" b="0" i="0">
                <a:solidFill>
                  <a:srgbClr val="000000"/>
                </a:solidFill>
                <a:latin typeface="Arial"/>
              </a:rPr>
              <a:t> is the smallest input sufficient to elicit a specified response. Krasne and colleagues repeatedly stimulated an abdominal sensory nerve while recording LG-related activity in adult </a:t>
            </a:r>
            <a:r>
              <a:rPr sz="1500" b="0" i="1">
                <a:solidFill>
                  <a:srgbClr val="000000"/>
                </a:solidFill>
                <a:latin typeface="Arial"/>
              </a:rPr>
              <a:t>Procambarus clarkii</a:t>
            </a:r>
            <a:r>
              <a:rPr sz="1500" b="0" i="0">
                <a:solidFill>
                  <a:srgbClr val="000000"/>
                </a:solidFill>
                <a:latin typeface="Arial"/>
              </a:rPr>
              <a:t> during rest and paired interaction.</a:t>
            </a:r>
          </a:p>
          <a:p>
            <a:pPr algn="l">
              <a:lnSpc>
                <a:spcPct val="108000"/>
              </a:lnSpc>
              <a:spcAft>
                <a:spcPts val="900"/>
              </a:spcAft>
            </a:pPr>
            <a:r>
              <a:rPr sz="1500" b="0" i="0">
                <a:solidFill>
                  <a:srgbClr val="000000"/>
                </a:solidFill>
                <a:latin typeface="Arial"/>
              </a:rPr>
              <a:t>Test shocks lasted 0.2 ms. The researchers varied shock strength to estimate the level needed to trigger LG, while also monitoring upstream sensory interneuron activity. This separated availability of the giant reflex from the number of spontaneous escapes during an encounter.</a:t>
            </a:r>
          </a:p>
          <a:p>
            <a:pPr algn="l">
              <a:lnSpc>
                <a:spcPct val="108000"/>
              </a:lnSpc>
              <a:spcAft>
                <a:spcPts val="900"/>
              </a:spcAft>
            </a:pPr>
            <a:r>
              <a:rPr sz="1500" b="0" i="0">
                <a:solidFill>
                  <a:srgbClr val="000000"/>
                </a:solidFill>
                <a:latin typeface="Arial"/>
              </a:rPr>
              <a:t>LG thresholds increased during agonistic activity, especially in subordinates. A higher threshold means stronger experimental input was needed to release the stereotyped reflex. Electrical nerve stimulation bypasses part of natural stimulus transduction, so its voltage does not directly specify the force of an opponent’s contact or the probability of every escape type.</a:t>
            </a:r>
          </a:p>
        </p:txBody>
      </p:sp>
      <p:pic>
        <p:nvPicPr>
          <p:cNvPr id="4" name="Picture 3" descr="k97_f2.png"/>
          <p:cNvPicPr>
            <a:picLocks noChangeAspect="1"/>
          </p:cNvPicPr>
          <p:nvPr/>
        </p:nvPicPr>
        <p:blipFill>
          <a:blip r:embed="rId2"/>
          <a:stretch>
            <a:fillRect/>
          </a:stretch>
        </p:blipFill>
        <p:spPr>
          <a:xfrm>
            <a:off x="7508138" y="1280160"/>
            <a:ext cx="2746857"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Krasne et al. (1997), Fig. 2. LG threshold estimates during rest and social interaction.</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Krasne et al. (1997);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Interaction suppresses LG more strongly in subordinates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Krasne and colleagues compared each animal before, during and after social interaction. Thresholds were normalized to the animal’s own resting value, allowing the effect of an encounter to be distinguished from stable differences in electrode placement or stimulus recruitment.</a:t>
            </a:r>
          </a:p>
          <a:p>
            <a:pPr algn="l">
              <a:lnSpc>
                <a:spcPct val="108000"/>
              </a:lnSpc>
              <a:spcAft>
                <a:spcPts val="900"/>
              </a:spcAft>
            </a:pPr>
            <a:r>
              <a:rPr sz="1500" b="0" i="0">
                <a:solidFill>
                  <a:srgbClr val="000000"/>
                </a:solidFill>
                <a:latin typeface="Arial"/>
              </a:rPr>
              <a:t>LG thresholds rose markedly in subordinates during interaction and less in dominants. At rest, reflex excitability did not consistently separate the two ranks. Some subordinate thresholds approached several times baseline, then fell after interaction ended.</a:t>
            </a:r>
          </a:p>
          <a:p>
            <a:pPr algn="l">
              <a:lnSpc>
                <a:spcPct val="108000"/>
              </a:lnSpc>
              <a:spcAft>
                <a:spcPts val="900"/>
              </a:spcAft>
            </a:pPr>
            <a:r>
              <a:rPr sz="1500" b="0" i="0">
                <a:solidFill>
                  <a:srgbClr val="000000"/>
                </a:solidFill>
                <a:latin typeface="Arial"/>
              </a:rPr>
              <a:t>The same subordinate can consequently retain an available LG reflex while resting and suppress it during a predictable social threat. This context dependence differs from a permanent loss of the neuron. The experiment established modulation during encounters, but did not measure serotonin release or prove that serotonin produced the observed suppression.</a:t>
            </a:r>
          </a:p>
        </p:txBody>
      </p:sp>
      <p:pic>
        <p:nvPicPr>
          <p:cNvPr id="4" name="Picture 3" descr="k97_f3.png"/>
          <p:cNvPicPr>
            <a:picLocks noChangeAspect="1"/>
          </p:cNvPicPr>
          <p:nvPr/>
        </p:nvPicPr>
        <p:blipFill>
          <a:blip r:embed="rId2"/>
          <a:stretch>
            <a:fillRect/>
          </a:stretch>
        </p:blipFill>
        <p:spPr>
          <a:xfrm>
            <a:off x="7132333" y="1280160"/>
            <a:ext cx="3498466"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Krasne et al. (1997), Fig. 3(A–B). Normalized LG thresholds in dominant and subordinate animals.</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Krasne et al. (1997);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Sensory excitation reaches LG by converging pathways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Abdominal mechanosensory afferents excite LG directly and through sensory interneurons. A </a:t>
            </a:r>
            <a:r>
              <a:rPr sz="1500" b="1" i="0">
                <a:solidFill>
                  <a:srgbClr val="444C55"/>
                </a:solidFill>
                <a:latin typeface="Arial"/>
              </a:rPr>
              <a:t>monosynaptic</a:t>
            </a:r>
            <a:r>
              <a:rPr sz="1500" b="0" i="0">
                <a:solidFill>
                  <a:srgbClr val="000000"/>
                </a:solidFill>
                <a:latin typeface="Arial"/>
              </a:rPr>
              <a:t> pathway contains one synaptic connection; a </a:t>
            </a:r>
            <a:r>
              <a:rPr sz="1500" b="1" i="0">
                <a:solidFill>
                  <a:srgbClr val="444C55"/>
                </a:solidFill>
                <a:latin typeface="Arial"/>
              </a:rPr>
              <a:t>disynaptic</a:t>
            </a:r>
            <a:r>
              <a:rPr sz="1500" b="0" i="0">
                <a:solidFill>
                  <a:srgbClr val="000000"/>
                </a:solidFill>
                <a:latin typeface="Arial"/>
              </a:rPr>
              <a:t> pathway contains two. A synapse is a site of signal transfer between neurons.</a:t>
            </a:r>
          </a:p>
          <a:p>
            <a:pPr algn="l">
              <a:lnSpc>
                <a:spcPct val="108000"/>
              </a:lnSpc>
              <a:spcAft>
                <a:spcPts val="900"/>
              </a:spcAft>
            </a:pPr>
            <a:r>
              <a:rPr sz="1500" b="0" i="0">
                <a:solidFill>
                  <a:srgbClr val="000000"/>
                </a:solidFill>
                <a:latin typeface="Arial"/>
              </a:rPr>
              <a:t>Edwards and colleagues combined identified-cell recordings with stained-neuron reconstructions in adult crayfish. </a:t>
            </a:r>
            <a:r>
              <a:rPr sz="1500" b="1" i="0">
                <a:solidFill>
                  <a:srgbClr val="444C55"/>
                </a:solidFill>
                <a:latin typeface="Arial"/>
              </a:rPr>
              <a:t>Interneuron A</a:t>
            </a:r>
            <a:r>
              <a:rPr sz="1500" b="0" i="0">
                <a:solidFill>
                  <a:srgbClr val="000000"/>
                </a:solidFill>
                <a:latin typeface="Arial"/>
              </a:rPr>
              <a:t> overlaps the LG dendritic region and contributes sensory excitation. Nerve shocks produce an early α depolarization followed by a later β component reflecting interneuronal recruitment.</a:t>
            </a:r>
          </a:p>
          <a:p>
            <a:pPr algn="l">
              <a:lnSpc>
                <a:spcPct val="108000"/>
              </a:lnSpc>
              <a:spcAft>
                <a:spcPts val="900"/>
              </a:spcAft>
            </a:pPr>
            <a:r>
              <a:rPr sz="1500" b="0" i="0">
                <a:solidFill>
                  <a:srgbClr val="000000"/>
                </a:solidFill>
                <a:latin typeface="Arial"/>
              </a:rPr>
              <a:t>An </a:t>
            </a:r>
            <a:r>
              <a:rPr sz="1500" b="1" i="0">
                <a:solidFill>
                  <a:srgbClr val="444C55"/>
                </a:solidFill>
                <a:latin typeface="Arial"/>
              </a:rPr>
              <a:t>excitatory postsynaptic potential</a:t>
            </a:r>
            <a:r>
              <a:rPr sz="1500" b="0" i="0">
                <a:solidFill>
                  <a:srgbClr val="000000"/>
                </a:solidFill>
                <a:latin typeface="Arial"/>
              </a:rPr>
              <a:t> (EPSP) is an input-evoked voltage change favoring neuronal firing. Responses are calibrated in mV and ms, separating signal size from timing. Convergence permits multiple inputs to approach LG firing threshold, but anatomical overlap alone cannot establish a functional synapse or determine which input controls behavior in every context.</a:t>
            </a:r>
          </a:p>
        </p:txBody>
      </p:sp>
      <p:pic>
        <p:nvPicPr>
          <p:cNvPr id="4" name="Picture 3" descr="e91_f2.png"/>
          <p:cNvPicPr>
            <a:picLocks noChangeAspect="1"/>
          </p:cNvPicPr>
          <p:nvPr/>
        </p:nvPicPr>
        <p:blipFill>
          <a:blip r:embed="rId2"/>
          <a:stretch>
            <a:fillRect/>
          </a:stretch>
        </p:blipFill>
        <p:spPr>
          <a:xfrm>
            <a:off x="6196095" y="1280160"/>
            <a:ext cx="3359262" cy="4297679"/>
          </a:xfrm>
          <a:prstGeom prst="rect">
            <a:avLst/>
          </a:prstGeom>
        </p:spPr>
      </p:pic>
      <p:sp>
        <p:nvSpPr>
          <p:cNvPr id="5" name="Figure caption"/>
          <p:cNvSpPr txBox="1"/>
          <p:nvPr/>
        </p:nvSpPr>
        <p:spPr>
          <a:xfrm>
            <a:off x="6138367" y="5669279"/>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Edwards et al. (1991), Fig. 2. Original stained-neuron reconstruction of interneuron A and LG.</a:t>
            </a:r>
          </a:p>
        </p:txBody>
      </p:sp>
      <p:pic>
        <p:nvPicPr>
          <p:cNvPr id="6" name="Picture 5" descr="y97_f13ac.png"/>
          <p:cNvPicPr>
            <a:picLocks noChangeAspect="1"/>
          </p:cNvPicPr>
          <p:nvPr/>
        </p:nvPicPr>
        <p:blipFill>
          <a:blip r:embed="rId3"/>
          <a:stretch>
            <a:fillRect/>
          </a:stretch>
        </p:blipFill>
        <p:spPr>
          <a:xfrm>
            <a:off x="9795967" y="2148840"/>
            <a:ext cx="1828800" cy="606823"/>
          </a:xfrm>
          <a:prstGeom prst="rect">
            <a:avLst/>
          </a:prstGeom>
        </p:spPr>
      </p:pic>
      <p:sp>
        <p:nvSpPr>
          <p:cNvPr id="7" name="Figure caption"/>
          <p:cNvSpPr txBox="1"/>
          <p:nvPr/>
        </p:nvSpPr>
        <p:spPr>
          <a:xfrm>
            <a:off x="9795967" y="2828815"/>
            <a:ext cx="18288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Edwards et al. (1991);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Electrical synapses depend on the voltage difference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t>
            </a:r>
            <a:r>
              <a:rPr sz="1500" b="1" i="0">
                <a:solidFill>
                  <a:srgbClr val="444C55"/>
                </a:solidFill>
                <a:latin typeface="Arial"/>
              </a:rPr>
              <a:t>electrical synapse</a:t>
            </a:r>
            <a:r>
              <a:rPr sz="1500" b="0" i="0">
                <a:solidFill>
                  <a:srgbClr val="000000"/>
                </a:solidFill>
                <a:latin typeface="Arial"/>
              </a:rPr>
              <a:t> passes current between coupled neurons. </a:t>
            </a:r>
            <a:r>
              <a:rPr sz="1500" b="1" i="0">
                <a:solidFill>
                  <a:srgbClr val="444C55"/>
                </a:solidFill>
                <a:latin typeface="Arial"/>
              </a:rPr>
              <a:t>Rectification</a:t>
            </a:r>
            <a:r>
              <a:rPr sz="1500" b="0" i="0">
                <a:solidFill>
                  <a:srgbClr val="000000"/>
                </a:solidFill>
                <a:latin typeface="Arial"/>
              </a:rPr>
              <a:t> means that transmission depends on the direction and voltage difference across the connection. It permits strong forward transmission without equivalent transfer in the opposite direction.</a:t>
            </a:r>
          </a:p>
          <a:p>
            <a:pPr algn="l">
              <a:lnSpc>
                <a:spcPct val="108000"/>
              </a:lnSpc>
              <a:spcAft>
                <a:spcPts val="900"/>
              </a:spcAft>
            </a:pPr>
            <a:r>
              <a:rPr sz="1500" b="0" i="0">
                <a:solidFill>
                  <a:srgbClr val="000000"/>
                </a:solidFill>
                <a:latin typeface="Arial"/>
              </a:rPr>
              <a:t>Edwards and colleagues recorded LG and identified sensory interneurons while injecting current to change membrane potential. Shifting postsynaptic LG voltage altered the transmitted response even when the presynaptic stimulus was retained. Their recordings resolved transferred signals on millisecond time scales.</a:t>
            </a:r>
          </a:p>
          <a:p>
            <a:pPr algn="l">
              <a:lnSpc>
                <a:spcPct val="108000"/>
              </a:lnSpc>
              <a:spcAft>
                <a:spcPts val="900"/>
              </a:spcAft>
            </a:pPr>
            <a:r>
              <a:rPr sz="1500" b="0" i="0">
                <a:solidFill>
                  <a:srgbClr val="000000"/>
                </a:solidFill>
                <a:latin typeface="Arial"/>
              </a:rPr>
              <a:t>Postsynaptic voltage therefore changes the effectiveness of incoming electrical excitation. This is distinct from changing transmitter release at a chemical synapse. The measured rectification constrains how neuromodulation can alter sensory gain, but it does not identify a serotonin receptor or a particular molecular gap-junction protein responsible for the social-status effect.</a:t>
            </a:r>
          </a:p>
        </p:txBody>
      </p:sp>
      <p:pic>
        <p:nvPicPr>
          <p:cNvPr id="4" name="Picture 3" descr="e91_f4.png"/>
          <p:cNvPicPr>
            <a:picLocks noChangeAspect="1"/>
          </p:cNvPicPr>
          <p:nvPr/>
        </p:nvPicPr>
        <p:blipFill>
          <a:blip r:embed="rId2"/>
          <a:stretch>
            <a:fillRect/>
          </a:stretch>
        </p:blipFill>
        <p:spPr>
          <a:xfrm>
            <a:off x="6607704" y="1280160"/>
            <a:ext cx="4547725" cy="2468879"/>
          </a:xfrm>
          <a:prstGeom prst="rect">
            <a:avLst/>
          </a:prstGeom>
        </p:spPr>
      </p:pic>
      <p:sp>
        <p:nvSpPr>
          <p:cNvPr id="5" name="Figure caption"/>
          <p:cNvSpPr txBox="1"/>
          <p:nvPr/>
        </p:nvSpPr>
        <p:spPr>
          <a:xfrm>
            <a:off x="6138367" y="38404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Edwards et al. (1991), Fig. 4(A,C). Electrical coupling changes with postsynaptic polarization.</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Edwards et al. (1991);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Postsynaptic depolarization can reduce incoming EPSPs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cell’s </a:t>
            </a:r>
            <a:r>
              <a:rPr sz="1500" b="1" i="0">
                <a:solidFill>
                  <a:srgbClr val="444C55"/>
                </a:solidFill>
                <a:latin typeface="Arial"/>
              </a:rPr>
              <a:t>membrane potential</a:t>
            </a:r>
            <a:r>
              <a:rPr sz="1500" b="0" i="0">
                <a:solidFill>
                  <a:srgbClr val="000000"/>
                </a:solidFill>
                <a:latin typeface="Arial"/>
              </a:rPr>
              <a:t> is the voltage inside relative to outside. Its effect on firing depends both on proximity to spike threshold and on the transmission of its inputs. Depolarization does not necessarily enlarge every incoming synaptic response.</a:t>
            </a:r>
          </a:p>
          <a:p>
            <a:pPr algn="l">
              <a:lnSpc>
                <a:spcPct val="108000"/>
              </a:lnSpc>
              <a:spcAft>
                <a:spcPts val="900"/>
              </a:spcAft>
            </a:pPr>
            <a:r>
              <a:rPr sz="1500" b="0" i="0">
                <a:solidFill>
                  <a:srgbClr val="000000"/>
                </a:solidFill>
                <a:latin typeface="Arial"/>
              </a:rPr>
              <a:t>Edwards and colleagues shifted LG voltage by intracellular current injection while retaining sensory nerve stimulation. Across α, β and later components, hyperpolarizing LG increased EPSP amplitude, whereas depolarizing it reduced amplitude. The plotted membrane shifts span tens of mV relative to rest.</a:t>
            </a:r>
          </a:p>
          <a:p>
            <a:pPr algn="l">
              <a:lnSpc>
                <a:spcPct val="108000"/>
              </a:lnSpc>
              <a:spcAft>
                <a:spcPts val="900"/>
              </a:spcAft>
            </a:pPr>
            <a:r>
              <a:rPr sz="1500" b="0" i="0">
                <a:solidFill>
                  <a:srgbClr val="000000"/>
                </a:solidFill>
                <a:latin typeface="Arial"/>
              </a:rPr>
              <a:t>Rectifying electrical contacts provide a mechanism for this postsynaptic control of input effectiveness. The result cautions against equating depolarization with enhanced sensory gain. It establishes voltage-dependent transmission in this preparation, but the total effect on escape also depends on spike threshold, inhibition and the actual pattern of afferent excitation.</a:t>
            </a:r>
          </a:p>
        </p:txBody>
      </p:sp>
      <p:pic>
        <p:nvPicPr>
          <p:cNvPr id="4" name="Picture 3" descr="e91_f8.png"/>
          <p:cNvPicPr>
            <a:picLocks noChangeAspect="1"/>
          </p:cNvPicPr>
          <p:nvPr/>
        </p:nvPicPr>
        <p:blipFill>
          <a:blip r:embed="rId2"/>
          <a:stretch>
            <a:fillRect/>
          </a:stretch>
        </p:blipFill>
        <p:spPr>
          <a:xfrm>
            <a:off x="7088651" y="1280160"/>
            <a:ext cx="358583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Edwards et al. (1991), Fig. 8(A–C). Sensory EPSPs depend on the LG membrane potential.</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Edwards et al. (1991);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Descending inhibition can suppress escape selectively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444C55"/>
                </a:solidFill>
                <a:latin typeface="Arial"/>
              </a:rPr>
              <a:t>Tonic inhibition</a:t>
            </a:r>
            <a:r>
              <a:rPr sz="1400" b="0" i="0">
                <a:solidFill>
                  <a:srgbClr val="000000"/>
                </a:solidFill>
                <a:latin typeface="Arial"/>
              </a:rPr>
              <a:t> is sustained suppression of a circuit, distinct from the brief inhibition accompanying one response. A </a:t>
            </a:r>
            <a:r>
              <a:rPr sz="1400" b="1" i="0">
                <a:solidFill>
                  <a:srgbClr val="444C55"/>
                </a:solidFill>
                <a:latin typeface="Arial"/>
              </a:rPr>
              <a:t>descending input</a:t>
            </a:r>
            <a:r>
              <a:rPr sz="1400" b="0" i="0">
                <a:solidFill>
                  <a:srgbClr val="000000"/>
                </a:solidFill>
                <a:latin typeface="Arial"/>
              </a:rPr>
              <a:t> travels from more anterior nervous-system regions toward abdominal circuits. Vu and colleagues examined this control of LG in restrained crayfish.</a:t>
            </a:r>
          </a:p>
          <a:p>
            <a:pPr algn="l">
              <a:lnSpc>
                <a:spcPct val="108000"/>
              </a:lnSpc>
              <a:spcAft>
                <a:spcPts val="840"/>
              </a:spcAft>
            </a:pPr>
            <a:r>
              <a:rPr sz="1400" b="0" i="0">
                <a:solidFill>
                  <a:srgbClr val="000000"/>
                </a:solidFill>
                <a:latin typeface="Arial"/>
              </a:rPr>
              <a:t>They interrupted transmission through a thoracic-abdominal connective with sucrose and then severed it. Sensory-evoked LG EPSPs increased during the reversible block; after severing, another sucrose application produced little additional increase. Voltage responses were compared within the same preparation.</a:t>
            </a:r>
          </a:p>
          <a:p>
            <a:pPr algn="l">
              <a:lnSpc>
                <a:spcPct val="108000"/>
              </a:lnSpc>
              <a:spcAft>
                <a:spcPts val="840"/>
              </a:spcAft>
            </a:pPr>
            <a:r>
              <a:rPr sz="1400" b="0" i="0">
                <a:solidFill>
                  <a:srgbClr val="000000"/>
                </a:solidFill>
                <a:latin typeface="Arial"/>
              </a:rPr>
              <a:t>The controls locate sustained suppression in an influence carried through the connective. The inhibition increased membrane conductance: incoming current could leave through additional pathways, reducing excitation even though LG was slightly depolarized. Further measurements supported action on distal input regions rather than only near spike initiation. They did not establish that this descending system was the sole cause of social inhibition or that every modulatory effect of serotonin used the same pathway.</a:t>
            </a:r>
          </a:p>
        </p:txBody>
      </p:sp>
      <p:pic>
        <p:nvPicPr>
          <p:cNvPr id="4" name="Picture 3" descr="vu_f3.png"/>
          <p:cNvPicPr>
            <a:picLocks noChangeAspect="1"/>
          </p:cNvPicPr>
          <p:nvPr/>
        </p:nvPicPr>
        <p:blipFill>
          <a:blip r:embed="rId2"/>
          <a:stretch>
            <a:fillRect/>
          </a:stretch>
        </p:blipFill>
        <p:spPr>
          <a:xfrm>
            <a:off x="7304227" y="1280160"/>
            <a:ext cx="315468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Vu et al. (1993), Fig. 3(A–C). Sensory EPSPs before and after descending input is interrupted.</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Vu et al. (1993);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Early serotonin perfusion depressed the giant response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Glanzman and Krasne applied serotonin through the ventral arterial supply while recording sensory responses in LG. Their study established an inhibitory effect under its delivery conditions, preceding the discovery that social experience and application schedule could alter the sign.</a:t>
            </a:r>
          </a:p>
          <a:p>
            <a:pPr algn="l">
              <a:lnSpc>
                <a:spcPct val="108000"/>
              </a:lnSpc>
              <a:spcAft>
                <a:spcPts val="900"/>
              </a:spcAft>
            </a:pPr>
            <a:r>
              <a:rPr sz="1500" b="0" i="0">
                <a:solidFill>
                  <a:srgbClr val="000000"/>
                </a:solidFill>
                <a:latin typeface="Arial"/>
              </a:rPr>
              <a:t>With 1 mM serotonin perfusion, repeated stimuli delivered every 15 s evoked smaller LG responses and lost their ability to produce spikes. During normal saline, early trials could still fire LG; washing out serotonin restored responsiveness. The original recordings retain mV and ms calibration.</a:t>
            </a:r>
          </a:p>
          <a:p>
            <a:pPr algn="l">
              <a:lnSpc>
                <a:spcPct val="108000"/>
              </a:lnSpc>
              <a:spcAft>
                <a:spcPts val="900"/>
              </a:spcAft>
            </a:pPr>
            <a:r>
              <a:rPr sz="1500" b="0" i="0">
                <a:solidFill>
                  <a:srgbClr val="000000"/>
                </a:solidFill>
                <a:latin typeface="Arial"/>
              </a:rPr>
              <a:t>The comparison establishes reversible pharmacological suppression, rather than an irreversible loss of the preparation. Its concentration and route differ from later bath applications. An inhibitory result in this experiment therefore cannot be generalized to every crayfish or taken as a contradiction of facilitation under other exposure conditions.</a:t>
            </a:r>
          </a:p>
        </p:txBody>
      </p:sp>
      <p:pic>
        <p:nvPicPr>
          <p:cNvPr id="4" name="Picture 3" descr="g83_f2.png"/>
          <p:cNvPicPr>
            <a:picLocks noChangeAspect="1"/>
          </p:cNvPicPr>
          <p:nvPr/>
        </p:nvPicPr>
        <p:blipFill>
          <a:blip r:embed="rId2"/>
          <a:stretch>
            <a:fillRect/>
          </a:stretch>
        </p:blipFill>
        <p:spPr>
          <a:xfrm>
            <a:off x="7488177" y="1280160"/>
            <a:ext cx="2786779"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Glanzman &amp; Krasne (1983), Fig. 2. LG responses during saline, serotonin and washout.</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Glanzman &amp; Krasne (1983);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Octopamine enhanced a later component of excitation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444C55"/>
                </a:solidFill>
                <a:latin typeface="Arial"/>
              </a:rPr>
              <a:t>Octopamine</a:t>
            </a:r>
            <a:r>
              <a:rPr sz="1500" b="0" i="0">
                <a:solidFill>
                  <a:srgbClr val="000000"/>
                </a:solidFill>
                <a:latin typeface="Arial"/>
              </a:rPr>
              <a:t> is another monoamine neuromodulator in arthropods. Glanzman and Krasne compared its effect with serotonin using controlled sensory stimulation and arterial delivery in crayfish. Both compounds acted on the escape system, but their effects were not interchangeable.</a:t>
            </a:r>
          </a:p>
          <a:p>
            <a:pPr algn="l">
              <a:lnSpc>
                <a:spcPct val="108000"/>
              </a:lnSpc>
              <a:spcAft>
                <a:spcPts val="900"/>
              </a:spcAft>
            </a:pPr>
            <a:r>
              <a:rPr sz="1500" b="0" i="0">
                <a:solidFill>
                  <a:srgbClr val="000000"/>
                </a:solidFill>
                <a:latin typeface="Arial"/>
              </a:rPr>
              <a:t>During 2 mM octopamine perfusion, the later β component increased and stimuli that previously produced subthreshold responses could trigger LG spikes. The early α component changed less. Saline periods before and after treatment provided comparisons within the same preparation.</a:t>
            </a:r>
          </a:p>
          <a:p>
            <a:pPr algn="l">
              <a:lnSpc>
                <a:spcPct val="108000"/>
              </a:lnSpc>
              <a:spcAft>
                <a:spcPts val="900"/>
              </a:spcAft>
            </a:pPr>
            <a:r>
              <a:rPr sz="1500" b="0" i="0">
                <a:solidFill>
                  <a:srgbClr val="000000"/>
                </a:solidFill>
                <a:latin typeface="Arial"/>
              </a:rPr>
              <a:t>Additional recordings supported facilitation of the afferent-to-interneuron-A connection, whereas serotonin did not produce an equivalent effect there. A larger β response may consequently reflect modulation before LG as well as at LG. The opposite amine effects establish specific physiological actions under these conditions, not universal behavioral identities such as dominance and submission.</a:t>
            </a:r>
          </a:p>
        </p:txBody>
      </p:sp>
      <p:pic>
        <p:nvPicPr>
          <p:cNvPr id="4" name="Picture 3" descr="g83_f6.png"/>
          <p:cNvPicPr>
            <a:picLocks noChangeAspect="1"/>
          </p:cNvPicPr>
          <p:nvPr/>
        </p:nvPicPr>
        <p:blipFill>
          <a:blip r:embed="rId2"/>
          <a:stretch>
            <a:fillRect/>
          </a:stretch>
        </p:blipFill>
        <p:spPr>
          <a:xfrm>
            <a:off x="6177673" y="1280160"/>
            <a:ext cx="5407787"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Glanzman &amp; Krasne (1983), Fig. 6. Octopamine increases the later LG response.</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Glanzman &amp; Krasne (1983);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Serotonin dose does not determine its effect alone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Teshiba and colleagues systematically varied serotonin concentration, onset rate and exposure duration in crayfish isolated for at least two weeks. These controls tested why different laboratories had reported opposite effects on LG.</a:t>
            </a:r>
          </a:p>
          <a:p>
            <a:pPr algn="l">
              <a:lnSpc>
                <a:spcPct val="108000"/>
              </a:lnSpc>
              <a:spcAft>
                <a:spcPts val="900"/>
              </a:spcAft>
            </a:pPr>
            <a:r>
              <a:rPr sz="1500" b="0" i="0">
                <a:solidFill>
                  <a:srgbClr val="000000"/>
                </a:solidFill>
                <a:latin typeface="Arial"/>
              </a:rPr>
              <a:t>Rapid high-concentration exposure inhibited sensory EPSPs, whereas lower concentrations facilitated them. Juvenile bath concentrations were 5 µM for the low condition and 100 µM for the high condition. Adult arterial concentrations differed because the route of application differed.</a:t>
            </a:r>
          </a:p>
          <a:p>
            <a:pPr algn="l">
              <a:lnSpc>
                <a:spcPct val="108000"/>
              </a:lnSpc>
              <a:spcAft>
                <a:spcPts val="900"/>
              </a:spcAft>
            </a:pPr>
            <a:r>
              <a:rPr sz="1500" b="0" i="0">
                <a:solidFill>
                  <a:srgbClr val="000000"/>
                </a:solidFill>
                <a:latin typeface="Arial"/>
              </a:rPr>
              <a:t>Thus the measured sign depends on the preparation and exposure schedule as well as the drug’s identity. The experiments establish that an isolated animal has both facilitatory and inhibitory capabilities. They do not provide direct measurements of the receptor occupancy or intracellular molecules mediating each component, and they cannot specify the natural serotonin waveform during an encounter.</a:t>
            </a:r>
          </a:p>
        </p:txBody>
      </p:sp>
      <p:pic>
        <p:nvPicPr>
          <p:cNvPr id="4" name="Picture 3" descr="t01_f3.png"/>
          <p:cNvPicPr>
            <a:picLocks noChangeAspect="1"/>
          </p:cNvPicPr>
          <p:nvPr/>
        </p:nvPicPr>
        <p:blipFill>
          <a:blip r:embed="rId2"/>
          <a:stretch>
            <a:fillRect/>
          </a:stretch>
        </p:blipFill>
        <p:spPr>
          <a:xfrm>
            <a:off x="7945262" y="1280160"/>
            <a:ext cx="187261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Teshiba et al. (2001), Fig. 3(A–D). Effects of serotonin dose, onset rate and exposure duration.</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Teshiba et al. (2001);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Slow onset favors facilitation at a high concentration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444C55"/>
                </a:solidFill>
                <a:latin typeface="Arial"/>
              </a:rPr>
              <a:t>Onset rate</a:t>
            </a:r>
            <a:r>
              <a:rPr sz="1500" b="0" i="0">
                <a:solidFill>
                  <a:srgbClr val="000000"/>
                </a:solidFill>
                <a:latin typeface="Arial"/>
              </a:rPr>
              <a:t> describes how rapidly exposure reaches its final level. Teshiba and colleagues compared a rapid serotonin increase with a gradual rise to the same high condition while repeatedly measuring LG sensory EPSPs.</a:t>
            </a:r>
          </a:p>
          <a:p>
            <a:pPr algn="l">
              <a:lnSpc>
                <a:spcPct val="108000"/>
              </a:lnSpc>
              <a:spcAft>
                <a:spcPts val="900"/>
              </a:spcAft>
            </a:pPr>
            <a:r>
              <a:rPr sz="1500" b="0" i="0">
                <a:solidFill>
                  <a:srgbClr val="000000"/>
                </a:solidFill>
                <a:latin typeface="Arial"/>
              </a:rPr>
              <a:t>Fast delivery reached full exposure within roughly 1–2 min. Slow delivery took about 20–30 min. The slow, prolonged high exposure facilitated LG instead of producing the inhibition characteristic of a rapid rise. Exposure duration and washout were tracked independently.</a:t>
            </a:r>
          </a:p>
          <a:p>
            <a:pPr algn="l">
              <a:lnSpc>
                <a:spcPct val="108000"/>
              </a:lnSpc>
              <a:spcAft>
                <a:spcPts val="900"/>
              </a:spcAft>
            </a:pPr>
            <a:r>
              <a:rPr sz="1500" b="0" i="0">
                <a:solidFill>
                  <a:srgbClr val="000000"/>
                </a:solidFill>
                <a:latin typeface="Arial"/>
              </a:rPr>
              <a:t>The result supports parallel modulatory processes whose net influence depends on timing. A slowly developing facilitatory effect can dominate before a higher-threshold inhibitory action becomes substantial. This is a mechanistic interpretation constrained by the recordings; the experiments did not directly identify the proposed interacting signaling molecules or prove their precise biochemical sequence.</a:t>
            </a:r>
          </a:p>
        </p:txBody>
      </p:sp>
      <p:pic>
        <p:nvPicPr>
          <p:cNvPr id="4" name="Picture 3" descr="t01_f1b.png"/>
          <p:cNvPicPr>
            <a:picLocks noChangeAspect="1"/>
          </p:cNvPicPr>
          <p:nvPr/>
        </p:nvPicPr>
        <p:blipFill>
          <a:blip r:embed="rId2"/>
          <a:stretch>
            <a:fillRect/>
          </a:stretch>
        </p:blipFill>
        <p:spPr>
          <a:xfrm>
            <a:off x="7039835" y="1280160"/>
            <a:ext cx="3683463"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Teshiba et al. (2001), Fig. 1(B1–B4). Recorded LG responses under different serotonin schedules.</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Teshiba et al. (2001);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Social experience can reverse serotonin’s effect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Yeh, Fricke and Edwards compared socially isolated, dominant and subordinate crayfish using bath-applied serotonin. Animals were assigned rank from repeated social behavior and paired for at least 12 days before mature status-dependent responses were evaluated.</a:t>
            </a:r>
          </a:p>
          <a:p>
            <a:pPr algn="l">
              <a:lnSpc>
                <a:spcPct val="108000"/>
              </a:lnSpc>
              <a:spcAft>
                <a:spcPts val="900"/>
              </a:spcAft>
            </a:pPr>
            <a:r>
              <a:rPr sz="1500" b="0" i="0">
                <a:solidFill>
                  <a:srgbClr val="000000"/>
                </a:solidFill>
                <a:latin typeface="Arial"/>
              </a:rPr>
              <a:t>Serotonin at 50 µM enhanced LG sensory responses in isolates and dominants, but reduced them in subordinates. Saline wash removed the effect in paired animals, whereas facilitation in isolates could persist for hours. The same identified neuron and input pathway were tested across social conditions.</a:t>
            </a:r>
          </a:p>
          <a:p>
            <a:pPr algn="l">
              <a:lnSpc>
                <a:spcPct val="108000"/>
              </a:lnSpc>
              <a:spcAft>
                <a:spcPts val="900"/>
              </a:spcAft>
            </a:pPr>
            <a:r>
              <a:rPr sz="1500" b="0" i="0">
                <a:solidFill>
                  <a:srgbClr val="000000"/>
                </a:solidFill>
                <a:latin typeface="Arial"/>
              </a:rPr>
              <a:t>A transmitter’s action therefore depends on the animal’s prior social experience. The study measured responses to experimentally supplied serotonin; it did not measure endogenous release during fighting. It supports plasticity in serotonergic modulation without establishing that this plasticity alone causes the immediate behavioral decision to withdraw.</a:t>
            </a:r>
          </a:p>
        </p:txBody>
      </p:sp>
      <p:pic>
        <p:nvPicPr>
          <p:cNvPr id="4" name="Picture 3" descr="y96_f2.png"/>
          <p:cNvPicPr>
            <a:picLocks noChangeAspect="1"/>
          </p:cNvPicPr>
          <p:nvPr/>
        </p:nvPicPr>
        <p:blipFill>
          <a:blip r:embed="rId2"/>
          <a:stretch>
            <a:fillRect/>
          </a:stretch>
        </p:blipFill>
        <p:spPr>
          <a:xfrm>
            <a:off x="6138367" y="1280160"/>
            <a:ext cx="3474720" cy="3504135"/>
          </a:xfrm>
          <a:prstGeom prst="rect">
            <a:avLst/>
          </a:prstGeom>
        </p:spPr>
      </p:pic>
      <p:sp>
        <p:nvSpPr>
          <p:cNvPr id="5" name="Figure caption"/>
          <p:cNvSpPr txBox="1"/>
          <p:nvPr/>
        </p:nvSpPr>
        <p:spPr>
          <a:xfrm>
            <a:off x="6138367" y="4875735"/>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(1996), Fig. 2(A–C). Serotonin and agonist effects depend on social experience.</a:t>
            </a:r>
          </a:p>
        </p:txBody>
      </p:sp>
      <p:pic>
        <p:nvPicPr>
          <p:cNvPr id="6" name="Picture 5" descr="y97_f13ac.png"/>
          <p:cNvPicPr>
            <a:picLocks noChangeAspect="1"/>
          </p:cNvPicPr>
          <p:nvPr/>
        </p:nvPicPr>
        <p:blipFill>
          <a:blip r:embed="rId3"/>
          <a:stretch>
            <a:fillRect/>
          </a:stretch>
        </p:blipFill>
        <p:spPr>
          <a:xfrm>
            <a:off x="9795967" y="2148840"/>
            <a:ext cx="1828800" cy="606823"/>
          </a:xfrm>
          <a:prstGeom prst="rect">
            <a:avLst/>
          </a:prstGeom>
        </p:spPr>
      </p:pic>
      <p:sp>
        <p:nvSpPr>
          <p:cNvPr id="7" name="Figure caption"/>
          <p:cNvSpPr txBox="1"/>
          <p:nvPr/>
        </p:nvSpPr>
        <p:spPr>
          <a:xfrm>
            <a:off x="9795967" y="2828815"/>
            <a:ext cx="18288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Yeh et al. (1996);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Equal serotonin treatment yields opposite sensory gains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Yeh and colleagues expanded the social-history comparison using identified LG recordings across a range of sensory shock strengths. </a:t>
            </a:r>
            <a:r>
              <a:rPr sz="1500" b="1" i="0">
                <a:solidFill>
                  <a:srgbClr val="444C55"/>
                </a:solidFill>
                <a:latin typeface="Arial"/>
              </a:rPr>
              <a:t>Subthreshold input</a:t>
            </a:r>
            <a:r>
              <a:rPr sz="1500" b="0" i="0">
                <a:solidFill>
                  <a:srgbClr val="000000"/>
                </a:solidFill>
                <a:latin typeface="Arial"/>
              </a:rPr>
              <a:t> evokes a response without a spike; </a:t>
            </a:r>
            <a:r>
              <a:rPr sz="1500" b="1" i="0">
                <a:solidFill>
                  <a:srgbClr val="444C55"/>
                </a:solidFill>
                <a:latin typeface="Arial"/>
              </a:rPr>
              <a:t>suprathreshold input</a:t>
            </a:r>
            <a:r>
              <a:rPr sz="1500" b="0" i="0">
                <a:solidFill>
                  <a:srgbClr val="000000"/>
                </a:solidFill>
                <a:latin typeface="Arial"/>
              </a:rPr>
              <a:t> is sufficient to initiate firing.</a:t>
            </a:r>
          </a:p>
          <a:p>
            <a:pPr algn="l">
              <a:lnSpc>
                <a:spcPct val="108000"/>
              </a:lnSpc>
              <a:spcAft>
                <a:spcPts val="900"/>
              </a:spcAft>
            </a:pPr>
            <a:r>
              <a:rPr sz="1500" b="0" i="0">
                <a:solidFill>
                  <a:srgbClr val="000000"/>
                </a:solidFill>
                <a:latin typeface="Arial"/>
              </a:rPr>
              <a:t>After 45 min of 50 µM serotonin superfusion, LG EPSPs increased across stimulus levels in isolates and dominants and decreased in established subordinates. Representative stimulus-response relations changed by about +117%, +39% and −37%, respectively. These are individual examples, not universal effect sizes.</a:t>
            </a:r>
          </a:p>
          <a:p>
            <a:pPr algn="l">
              <a:lnSpc>
                <a:spcPct val="108000"/>
              </a:lnSpc>
              <a:spcAft>
                <a:spcPts val="900"/>
              </a:spcAft>
            </a:pPr>
            <a:r>
              <a:rPr sz="1500" b="0" i="0">
                <a:solidFill>
                  <a:srgbClr val="000000"/>
                </a:solidFill>
                <a:latin typeface="Arial"/>
              </a:rPr>
              <a:t>The stimulus needed to fire LG consequently fell with facilitation and rose with inhibition. A 1-h saline wash restored paired animals toward baseline. This links synaptic gain to reflex availability, while the controlled shock assay remains distinct from the frequency of natural escapes or the outcome of a social fight.</a:t>
            </a:r>
          </a:p>
        </p:txBody>
      </p:sp>
      <p:pic>
        <p:nvPicPr>
          <p:cNvPr id="4" name="Picture 3" descr="y97_f2.png"/>
          <p:cNvPicPr>
            <a:picLocks noChangeAspect="1"/>
          </p:cNvPicPr>
          <p:nvPr/>
        </p:nvPicPr>
        <p:blipFill>
          <a:blip r:embed="rId2"/>
          <a:stretch>
            <a:fillRect/>
          </a:stretch>
        </p:blipFill>
        <p:spPr>
          <a:xfrm>
            <a:off x="7410815" y="1280160"/>
            <a:ext cx="2941503" cy="2743200"/>
          </a:xfrm>
          <a:prstGeom prst="rect">
            <a:avLst/>
          </a:prstGeom>
        </p:spPr>
      </p:pic>
      <p:sp>
        <p:nvSpPr>
          <p:cNvPr id="5" name="Figure caption"/>
          <p:cNvSpPr txBox="1"/>
          <p:nvPr/>
        </p:nvSpPr>
        <p:spPr>
          <a:xfrm>
            <a:off x="6138367" y="41148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2. LG responses and stimulus-response relations by social status.</a:t>
            </a:r>
          </a:p>
        </p:txBody>
      </p:sp>
      <p:pic>
        <p:nvPicPr>
          <p:cNvPr id="6" name="Picture 5" descr="y97_f13ac.png"/>
          <p:cNvPicPr>
            <a:picLocks noChangeAspect="1"/>
          </p:cNvPicPr>
          <p:nvPr/>
        </p:nvPicPr>
        <p:blipFill>
          <a:blip r:embed="rId3"/>
          <a:stretch>
            <a:fillRect/>
          </a:stretch>
        </p:blipFill>
        <p:spPr>
          <a:xfrm>
            <a:off x="7090329" y="4572000"/>
            <a:ext cx="3582475" cy="11887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Input resistance changes accompany social modulation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444C55"/>
                </a:solidFill>
                <a:latin typeface="Arial"/>
              </a:rPr>
              <a:t>Input resistance</a:t>
            </a:r>
            <a:r>
              <a:rPr sz="1400" b="0" i="0">
                <a:solidFill>
                  <a:srgbClr val="000000"/>
                </a:solidFill>
                <a:latin typeface="Arial"/>
              </a:rPr>
              <a:t> describes the voltage change produced by an injected current. Ion channels are membrane proteins that provide paths for ionic current. Higher resistance can permit a given input current to produce a larger voltage response; lower resistance permits more current to leave the membrane locally.</a:t>
            </a:r>
          </a:p>
          <a:p>
            <a:pPr algn="l">
              <a:lnSpc>
                <a:spcPct val="108000"/>
              </a:lnSpc>
              <a:spcAft>
                <a:spcPts val="840"/>
              </a:spcAft>
            </a:pPr>
            <a:r>
              <a:rPr sz="1400" b="0" i="0">
                <a:solidFill>
                  <a:srgbClr val="000000"/>
                </a:solidFill>
                <a:latin typeface="Arial"/>
              </a:rPr>
              <a:t>Yeh and colleagues measured LG at its initial axon segment before serotonin, during exposure and after a 1-h wash. Isolates and dominants displayed small depolarizations and increased input resistance; subordinates displayed hyperpolarization and reduced resistance. The changes accompanied their opposite EPSP responses.</a:t>
            </a:r>
          </a:p>
          <a:p>
            <a:pPr algn="l">
              <a:lnSpc>
                <a:spcPct val="108000"/>
              </a:lnSpc>
              <a:spcAft>
                <a:spcPts val="840"/>
              </a:spcAft>
            </a:pPr>
            <a:r>
              <a:rPr sz="1400" b="0" i="0">
                <a:solidFill>
                  <a:srgbClr val="000000"/>
                </a:solidFill>
                <a:latin typeface="Arial"/>
              </a:rPr>
              <a:t>The association supports modulation of LG membrane properties, rather than only changing sensory recruitment. Measurement at the axon segment does not fully reveal conductance distribution across all dendrites. These recordings also do not identify the ion-channel species responsible or prove that one resistance change explains every effect on electrical synaptic input.</a:t>
            </a:r>
          </a:p>
        </p:txBody>
      </p:sp>
      <p:pic>
        <p:nvPicPr>
          <p:cNvPr id="4" name="Picture 3" descr="y97_f3b.png"/>
          <p:cNvPicPr>
            <a:picLocks noChangeAspect="1"/>
          </p:cNvPicPr>
          <p:nvPr/>
        </p:nvPicPr>
        <p:blipFill>
          <a:blip r:embed="rId2"/>
          <a:stretch>
            <a:fillRect/>
          </a:stretch>
        </p:blipFill>
        <p:spPr>
          <a:xfrm>
            <a:off x="7004836" y="1280160"/>
            <a:ext cx="375346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3(B). Membrane potential and input-resistance changes by social status.</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Subordinate modulation develops over days and reverses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behavioral decision to yield can occur during an early encounter, while serotonin’s effect on LG changes more slowly. Yeh and colleagues tested new dominants and subordinates at different times after pairing previously isolated crayfish.</a:t>
            </a:r>
          </a:p>
          <a:p>
            <a:pPr algn="l">
              <a:lnSpc>
                <a:spcPct val="108000"/>
              </a:lnSpc>
              <a:spcAft>
                <a:spcPts val="900"/>
              </a:spcAft>
            </a:pPr>
            <a:r>
              <a:rPr sz="1500" b="0" i="0">
                <a:solidFill>
                  <a:srgbClr val="000000"/>
                </a:solidFill>
                <a:latin typeface="Arial"/>
              </a:rPr>
              <a:t>New subordinates initially retained serotonergic facilitation. It declined during the first week and became increasingly inhibitory during the second week. After 12 days of pairing followed by 8 days of renewed isolation, facilitation returned in the former subordinates.</a:t>
            </a:r>
          </a:p>
          <a:p>
            <a:pPr algn="l">
              <a:lnSpc>
                <a:spcPct val="108000"/>
              </a:lnSpc>
              <a:spcAft>
                <a:spcPts val="900"/>
              </a:spcAft>
            </a:pPr>
            <a:r>
              <a:rPr sz="1500" b="0" i="0">
                <a:solidFill>
                  <a:srgbClr val="000000"/>
                </a:solidFill>
                <a:latin typeface="Arial"/>
              </a:rPr>
              <a:t>This time course separates acquisition of rank from acquisition of the mature cellular response. Reversal after isolation supports an experience-dependent process maintained by continued social conditions. The measurements do not identify the signal that communicates rank to abdominal circuitry or establish that the initial hierarchy decision requires the later inhibitory serotonin response.</a:t>
            </a:r>
          </a:p>
        </p:txBody>
      </p:sp>
      <p:pic>
        <p:nvPicPr>
          <p:cNvPr id="4" name="Picture 3" descr="y97_f6.png"/>
          <p:cNvPicPr>
            <a:picLocks noChangeAspect="1"/>
          </p:cNvPicPr>
          <p:nvPr/>
        </p:nvPicPr>
        <p:blipFill>
          <a:blip r:embed="rId2"/>
          <a:stretch>
            <a:fillRect/>
          </a:stretch>
        </p:blipFill>
        <p:spPr>
          <a:xfrm>
            <a:off x="7718220" y="1280160"/>
            <a:ext cx="2326693"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6. Serotonin effects after pairing and subsequent isolation.</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Promotion changes the previously subordinate response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Yeh and colleagues paired former subordinates with one another, allowing one member to acquire dominant status. This manipulation tested whether a retained inhibitory serotonin response could change after a new social relationship developed.</a:t>
            </a:r>
          </a:p>
          <a:p>
            <a:pPr algn="l">
              <a:lnSpc>
                <a:spcPct val="108000"/>
              </a:lnSpc>
              <a:spcAft>
                <a:spcPts val="840"/>
              </a:spcAft>
            </a:pPr>
            <a:r>
              <a:rPr sz="1400" b="0" i="0">
                <a:solidFill>
                  <a:srgbClr val="000000"/>
                </a:solidFill>
                <a:latin typeface="Arial"/>
              </a:rPr>
              <a:t>The newly dominant animal’s LG response shifted gradually from serotonin-induced inhibition toward facilitation over about two weeks. The comparison distinguished these animals from new dominants generated by pairing isolates, which already had a facilitatory response.</a:t>
            </a:r>
          </a:p>
          <a:p>
            <a:pPr algn="l">
              <a:lnSpc>
                <a:spcPct val="108000"/>
              </a:lnSpc>
              <a:spcAft>
                <a:spcPts val="840"/>
              </a:spcAft>
            </a:pPr>
            <a:r>
              <a:rPr sz="1400" b="0" i="0">
                <a:solidFill>
                  <a:srgbClr val="000000"/>
                </a:solidFill>
                <a:latin typeface="Arial"/>
              </a:rPr>
              <a:t>Promotion therefore changes an experienced subordinate’s cellular modulation on a multi-day time scale. The persistence of an older response early after promotion indicates that current behavior and cellular history need not coincide immediately. The experiment establishes adaptation after a status transition, but cannot assign it specifically to receptor abundance, receptor localization or downstream signaling without additional molecular measurements.</a:t>
            </a:r>
          </a:p>
        </p:txBody>
      </p:sp>
      <p:pic>
        <p:nvPicPr>
          <p:cNvPr id="4" name="Picture 3" descr="y97_f7.png"/>
          <p:cNvPicPr>
            <a:picLocks noChangeAspect="1"/>
          </p:cNvPicPr>
          <p:nvPr/>
        </p:nvPicPr>
        <p:blipFill>
          <a:blip r:embed="rId2"/>
          <a:stretch>
            <a:fillRect/>
          </a:stretch>
        </p:blipFill>
        <p:spPr>
          <a:xfrm>
            <a:off x="6375593" y="1280160"/>
            <a:ext cx="3000267" cy="4297679"/>
          </a:xfrm>
          <a:prstGeom prst="rect">
            <a:avLst/>
          </a:prstGeom>
        </p:spPr>
      </p:pic>
      <p:sp>
        <p:nvSpPr>
          <p:cNvPr id="5" name="Figure caption"/>
          <p:cNvSpPr txBox="1"/>
          <p:nvPr/>
        </p:nvSpPr>
        <p:spPr>
          <a:xfrm>
            <a:off x="6138367" y="5669279"/>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7. Former subordinates adapt after becoming dominant.</a:t>
            </a:r>
          </a:p>
        </p:txBody>
      </p:sp>
      <p:pic>
        <p:nvPicPr>
          <p:cNvPr id="6" name="Picture 5" descr="y97_f13ac.png"/>
          <p:cNvPicPr>
            <a:picLocks noChangeAspect="1"/>
          </p:cNvPicPr>
          <p:nvPr/>
        </p:nvPicPr>
        <p:blipFill>
          <a:blip r:embed="rId3"/>
          <a:stretch>
            <a:fillRect/>
          </a:stretch>
        </p:blipFill>
        <p:spPr>
          <a:xfrm>
            <a:off x="9795967" y="2148840"/>
            <a:ext cx="1828800" cy="606823"/>
          </a:xfrm>
          <a:prstGeom prst="rect">
            <a:avLst/>
          </a:prstGeom>
        </p:spPr>
      </p:pic>
      <p:sp>
        <p:nvSpPr>
          <p:cNvPr id="7" name="Figure caption"/>
          <p:cNvSpPr txBox="1"/>
          <p:nvPr/>
        </p:nvSpPr>
        <p:spPr>
          <a:xfrm>
            <a:off x="9795967" y="2828815"/>
            <a:ext cx="18288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Demotion can leave a long-lasting dominant-like response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Social history can persist after current rank changes. Yeh and colleagues paired former dominants with one another and subsequently measured serotonin’s effect in the animal that had become subordinate. Its behavior was monitored independently of the later neuronal assay.</a:t>
            </a:r>
          </a:p>
          <a:p>
            <a:pPr algn="l">
              <a:lnSpc>
                <a:spcPct val="108000"/>
              </a:lnSpc>
              <a:spcAft>
                <a:spcPts val="900"/>
              </a:spcAft>
            </a:pPr>
            <a:r>
              <a:rPr sz="1500" b="0" i="0">
                <a:solidFill>
                  <a:srgbClr val="000000"/>
                </a:solidFill>
                <a:latin typeface="Arial"/>
              </a:rPr>
              <a:t>These new subordinates continued to avoid the dominant and to retreat or tail flip on approach. Nevertheless, serotonin still enhanced their LG responses after as much as 38 days of pairing, unlike subordinates produced from initially isolated animals.</a:t>
            </a:r>
          </a:p>
          <a:p>
            <a:pPr algn="l">
              <a:lnSpc>
                <a:spcPct val="108000"/>
              </a:lnSpc>
              <a:spcAft>
                <a:spcPts val="900"/>
              </a:spcAft>
            </a:pPr>
            <a:r>
              <a:rPr sz="1500" b="0" i="0">
                <a:solidFill>
                  <a:srgbClr val="000000"/>
                </a:solidFill>
                <a:latin typeface="Arial"/>
              </a:rPr>
              <a:t>The dissociation prevents a one-to-one mapping from current rank to serotonin’s cellular sign. Prior dominance left a modulatory state resistant to reversal under these conditions. It also limits causal claims: dominant-like facilitation of LG is insufficient to guarantee dominant behavior, because the animals expressing it nevertheless behaved as subordinates in their new relationship.</a:t>
            </a:r>
          </a:p>
        </p:txBody>
      </p:sp>
      <p:pic>
        <p:nvPicPr>
          <p:cNvPr id="4" name="Picture 3" descr="y97_f8.png"/>
          <p:cNvPicPr>
            <a:picLocks noChangeAspect="1"/>
          </p:cNvPicPr>
          <p:nvPr/>
        </p:nvPicPr>
        <p:blipFill>
          <a:blip r:embed="rId2"/>
          <a:stretch>
            <a:fillRect/>
          </a:stretch>
        </p:blipFill>
        <p:spPr>
          <a:xfrm>
            <a:off x="6398881" y="1280160"/>
            <a:ext cx="2953692" cy="4297679"/>
          </a:xfrm>
          <a:prstGeom prst="rect">
            <a:avLst/>
          </a:prstGeom>
        </p:spPr>
      </p:pic>
      <p:sp>
        <p:nvSpPr>
          <p:cNvPr id="5" name="Figure caption"/>
          <p:cNvSpPr txBox="1"/>
          <p:nvPr/>
        </p:nvSpPr>
        <p:spPr>
          <a:xfrm>
            <a:off x="6138367" y="5669279"/>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8. Former dominants retain facilitation after becoming subordinate.</a:t>
            </a:r>
          </a:p>
        </p:txBody>
      </p:sp>
      <p:pic>
        <p:nvPicPr>
          <p:cNvPr id="6" name="Picture 5" descr="y97_f13ac.png"/>
          <p:cNvPicPr>
            <a:picLocks noChangeAspect="1"/>
          </p:cNvPicPr>
          <p:nvPr/>
        </p:nvPicPr>
        <p:blipFill>
          <a:blip r:embed="rId3"/>
          <a:stretch>
            <a:fillRect/>
          </a:stretch>
        </p:blipFill>
        <p:spPr>
          <a:xfrm>
            <a:off x="9795967" y="2148840"/>
            <a:ext cx="1828800" cy="606823"/>
          </a:xfrm>
          <a:prstGeom prst="rect">
            <a:avLst/>
          </a:prstGeom>
        </p:spPr>
      </p:pic>
      <p:sp>
        <p:nvSpPr>
          <p:cNvPr id="7" name="Figure caption"/>
          <p:cNvSpPr txBox="1"/>
          <p:nvPr/>
        </p:nvSpPr>
        <p:spPr>
          <a:xfrm>
            <a:off x="9795967" y="2828815"/>
            <a:ext cx="18288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Agonist effects distinguish competing modulatory actions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An </a:t>
            </a:r>
            <a:r>
              <a:rPr sz="1500" b="1" i="0">
                <a:solidFill>
                  <a:srgbClr val="444C55"/>
                </a:solidFill>
                <a:latin typeface="Arial"/>
              </a:rPr>
              <a:t>agonist</a:t>
            </a:r>
            <a:r>
              <a:rPr sz="1500" b="0" i="0">
                <a:solidFill>
                  <a:srgbClr val="000000"/>
                </a:solidFill>
                <a:latin typeface="Arial"/>
              </a:rPr>
              <a:t> activates a receptor-mediated response. Yeh and colleagues substituted drugs historically classified as vertebrate type-1 or type-2 serotonin agonists while retaining LG recording and sensory stimulation. Their classifications were pharmacological hypotheses, not direct molecular identifications in crayfish.</a:t>
            </a:r>
          </a:p>
          <a:p>
            <a:pPr algn="l">
              <a:lnSpc>
                <a:spcPct val="108000"/>
              </a:lnSpc>
              <a:spcAft>
                <a:spcPts val="900"/>
              </a:spcAft>
            </a:pPr>
            <a:r>
              <a:rPr sz="1500" b="0" i="0">
                <a:solidFill>
                  <a:srgbClr val="000000"/>
                </a:solidFill>
                <a:latin typeface="Arial"/>
              </a:rPr>
              <a:t>At 50 µM, mCPP reduced LG responses in paired animals but had little effect in isolates. α-Methylserotonin enhanced responses in all three social conditions. Facilitation could persist after a 1-h wash in isolates, whereas paired animals generally recovered toward baseline.</a:t>
            </a:r>
          </a:p>
          <a:p>
            <a:pPr algn="l">
              <a:lnSpc>
                <a:spcPct val="108000"/>
              </a:lnSpc>
              <a:spcAft>
                <a:spcPts val="900"/>
              </a:spcAft>
            </a:pPr>
            <a:r>
              <a:rPr sz="1500" b="0" i="0">
                <a:solidFill>
                  <a:srgbClr val="000000"/>
                </a:solidFill>
                <a:latin typeface="Arial"/>
              </a:rPr>
              <a:t>Opposing drug effects support multiple modulatory actions rather than one obligatory response to serotonin. Crayfish receptors can have different drug selectivity from vertebrate receptors. These experiments therefore cannot establish that the named vertebrate receptor subtype is the molecular receptor responsible for LG inhibition or facilitation.</a:t>
            </a:r>
          </a:p>
        </p:txBody>
      </p:sp>
      <p:pic>
        <p:nvPicPr>
          <p:cNvPr id="4" name="Picture 3" descr="y97_f9.png"/>
          <p:cNvPicPr>
            <a:picLocks noChangeAspect="1"/>
          </p:cNvPicPr>
          <p:nvPr/>
        </p:nvPicPr>
        <p:blipFill>
          <a:blip r:embed="rId2"/>
          <a:stretch>
            <a:fillRect/>
          </a:stretch>
        </p:blipFill>
        <p:spPr>
          <a:xfrm>
            <a:off x="7644694" y="1280160"/>
            <a:ext cx="2473745" cy="2331720"/>
          </a:xfrm>
          <a:prstGeom prst="rect">
            <a:avLst/>
          </a:prstGeom>
        </p:spPr>
      </p:pic>
      <p:sp>
        <p:nvSpPr>
          <p:cNvPr id="5" name="Figure caption"/>
          <p:cNvSpPr txBox="1"/>
          <p:nvPr/>
        </p:nvSpPr>
        <p:spPr>
          <a:xfrm>
            <a:off x="6138367" y="37033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9. Responses to the historically designated type-1 agonist.</a:t>
            </a:r>
          </a:p>
        </p:txBody>
      </p:sp>
      <p:pic>
        <p:nvPicPr>
          <p:cNvPr id="6" name="Picture 5" descr="y97_f13ac.png"/>
          <p:cNvPicPr>
            <a:picLocks noChangeAspect="1"/>
          </p:cNvPicPr>
          <p:nvPr/>
        </p:nvPicPr>
        <p:blipFill>
          <a:blip r:embed="rId3"/>
          <a:stretch>
            <a:fillRect/>
          </a:stretch>
        </p:blipFill>
        <p:spPr>
          <a:xfrm>
            <a:off x="6470285" y="4160520"/>
            <a:ext cx="4822563" cy="1600200"/>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Receptor immunostaining identifies candidate locations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444C55"/>
                </a:solidFill>
                <a:latin typeface="Arial"/>
              </a:rPr>
              <a:t>Immunocytochemistry</a:t>
            </a:r>
            <a:r>
              <a:rPr sz="1400" b="0" i="0">
                <a:solidFill>
                  <a:srgbClr val="000000"/>
                </a:solidFill>
                <a:latin typeface="Arial"/>
              </a:rPr>
              <a:t> uses antibodies to locate a target molecule in cells. Spitzer and colleagues mapped a putative crustacean type-1 serotonin receptor, designated 5-HT1crust, with fluorescence microscopy and compared receptor labeling with serotonin labeling.</a:t>
            </a:r>
          </a:p>
          <a:p>
            <a:pPr algn="l">
              <a:lnSpc>
                <a:spcPct val="108000"/>
              </a:lnSpc>
              <a:spcAft>
                <a:spcPts val="840"/>
              </a:spcAft>
            </a:pPr>
            <a:r>
              <a:rPr sz="1400" b="0" i="0">
                <a:solidFill>
                  <a:srgbClr val="000000"/>
                </a:solidFill>
                <a:latin typeface="Arial"/>
              </a:rPr>
              <a:t>Receptor-associated puncta occurred around neuronal somata (cell bodies) and within their cytoplasm. In cluster 10 brain cells, optical sections separated labeled material from nuclear staining; source panels include 5-µm and 50-µm calibration. Antibody preabsorption controls reduced the specific labeling pattern.</a:t>
            </a:r>
          </a:p>
          <a:p>
            <a:pPr algn="l">
              <a:lnSpc>
                <a:spcPct val="108000"/>
              </a:lnSpc>
              <a:spcAft>
                <a:spcPts val="840"/>
              </a:spcAft>
            </a:pPr>
            <a:r>
              <a:rPr sz="1400" b="0" i="0">
                <a:solidFill>
                  <a:srgbClr val="000000"/>
                </a:solidFill>
                <a:latin typeface="Arial"/>
              </a:rPr>
              <a:t>The map identifies candidate locations for serotonergic signaling, but immunoreactivity is not a direct measurement of receptor activation. Cytoplasmic labeling may reflect intracellular receptor pools as well as membrane-associated protein. Neither proximity to serotonin-containing fibers nor a bright signal establishes that the receptor is necessary for social dominance or a particular escape response.</a:t>
            </a:r>
          </a:p>
        </p:txBody>
      </p:sp>
      <p:pic>
        <p:nvPicPr>
          <p:cNvPr id="4" name="Picture 3" descr="s05_f3.png"/>
          <p:cNvPicPr>
            <a:picLocks noChangeAspect="1"/>
          </p:cNvPicPr>
          <p:nvPr/>
        </p:nvPicPr>
        <p:blipFill>
          <a:blip r:embed="rId2"/>
          <a:stretch>
            <a:fillRect/>
          </a:stretch>
        </p:blipFill>
        <p:spPr>
          <a:xfrm>
            <a:off x="6973859" y="1280160"/>
            <a:ext cx="3815415"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Spitzer et al. (2005), Fig. 3(A–I). Putative type-1 receptor labeling and nuclear counterstaining.</a:t>
            </a:r>
          </a:p>
        </p:txBody>
      </p:sp>
      <p:sp>
        <p:nvSpPr>
          <p:cNvPr id="6" name="Rectangle 5"/>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Spitzer et al. (2005)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The mapped type-1 receptor was not detected on LG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Spitzer and colleagues found putative type-1 receptor immunoreactivity in cell clusters and neuropil throughout abdominal ganglia, segmental concentrations of neuronal cell bodies and their connections. </a:t>
            </a:r>
            <a:r>
              <a:rPr sz="1400" b="1" i="0">
                <a:solidFill>
                  <a:srgbClr val="444C55"/>
                </a:solidFill>
                <a:latin typeface="Arial"/>
              </a:rPr>
              <a:t>Neuropil</a:t>
            </a:r>
            <a:r>
              <a:rPr sz="1400" b="0" i="0">
                <a:solidFill>
                  <a:srgbClr val="000000"/>
                </a:solidFill>
                <a:latin typeface="Arial"/>
              </a:rPr>
              <a:t> is a region rich in neuronal processes and synaptic connections. The terminal ganglion retained the pattern expected from its fused organization.</a:t>
            </a:r>
          </a:p>
          <a:p>
            <a:pPr algn="l">
              <a:lnSpc>
                <a:spcPct val="108000"/>
              </a:lnSpc>
              <a:spcAft>
                <a:spcPts val="840"/>
              </a:spcAft>
            </a:pPr>
            <a:r>
              <a:rPr sz="1400" b="0" i="0">
                <a:solidFill>
                  <a:srgbClr val="000000"/>
                </a:solidFill>
                <a:latin typeface="Arial"/>
              </a:rPr>
              <a:t>The mapped receptor was not detected on LG or on the thin serotonin-containing fiber associated with it. Independent dye filling and serotonin immunostaining by Yeh and colleagues identified LG axons and nearby serotonergic varicosities; these measurements concern different molecular targets.</a:t>
            </a:r>
          </a:p>
          <a:p>
            <a:pPr algn="l">
              <a:lnSpc>
                <a:spcPct val="108000"/>
              </a:lnSpc>
              <a:spcAft>
                <a:spcPts val="840"/>
              </a:spcAft>
            </a:pPr>
            <a:r>
              <a:rPr sz="1400" b="0" i="0">
                <a:solidFill>
                  <a:srgbClr val="000000"/>
                </a:solidFill>
                <a:latin typeface="Arial"/>
              </a:rPr>
              <a:t>Consequently, the receptor map does not confirm a direct type-1 receptor mechanism in LG. Receptor-mediated modulation could occur elsewhere in the circuit, or another subtype could be involved. Failure to detect staining also has sensitivity limits, so it should not be treated as proof that every type-1-related action is impossible in the giant neuron.</a:t>
            </a:r>
          </a:p>
        </p:txBody>
      </p:sp>
      <p:pic>
        <p:nvPicPr>
          <p:cNvPr id="4" name="Picture 3" descr="s05_f9.png"/>
          <p:cNvPicPr>
            <a:picLocks noChangeAspect="1"/>
          </p:cNvPicPr>
          <p:nvPr/>
        </p:nvPicPr>
        <p:blipFill>
          <a:blip r:embed="rId2"/>
          <a:stretch>
            <a:fillRect/>
          </a:stretch>
        </p:blipFill>
        <p:spPr>
          <a:xfrm>
            <a:off x="7879734" y="1280160"/>
            <a:ext cx="2003665"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Spitzer et al. (2005), Fig. 9(A–F). Receptor labeling across abdominal ganglia.</a:t>
            </a:r>
          </a:p>
        </p:txBody>
      </p:sp>
      <p:pic>
        <p:nvPicPr>
          <p:cNvPr id="6" name="Picture 5" descr="y97_f13ac.png"/>
          <p:cNvPicPr>
            <a:picLocks noChangeAspect="1"/>
          </p:cNvPicPr>
          <p:nvPr/>
        </p:nvPicPr>
        <p:blipFill>
          <a:blip r:embed="rId3"/>
          <a:stretch>
            <a:fillRect/>
          </a:stretch>
        </p:blipFill>
        <p:spPr>
          <a:xfrm>
            <a:off x="7365904" y="4754880"/>
            <a:ext cx="3031325"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Spitzer et al. (2005);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A cloned type-1 receptor suppresses cAMP accumulation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A </a:t>
            </a:r>
            <a:r>
              <a:rPr sz="1400" b="1" i="0">
                <a:solidFill>
                  <a:srgbClr val="444C55"/>
                </a:solidFill>
                <a:latin typeface="Arial"/>
              </a:rPr>
              <a:t>G-protein-coupled receptor</a:t>
            </a:r>
            <a:r>
              <a:rPr sz="1400" b="0" i="0">
                <a:solidFill>
                  <a:srgbClr val="000000"/>
                </a:solidFill>
                <a:latin typeface="Arial"/>
              </a:rPr>
              <a:t> transmits extracellular ligand binding into intracellular signaling through a G protein. A ligand is a receptor-binding molecule. </a:t>
            </a:r>
            <a:r>
              <a:rPr sz="1400" b="1" i="0">
                <a:solidFill>
                  <a:srgbClr val="444C55"/>
                </a:solidFill>
                <a:latin typeface="Arial"/>
              </a:rPr>
              <a:t>Cyclic AMP</a:t>
            </a:r>
            <a:r>
              <a:rPr sz="1400" b="0" i="0">
                <a:solidFill>
                  <a:srgbClr val="000000"/>
                </a:solidFill>
                <a:latin typeface="Arial"/>
              </a:rPr>
              <a:t> (cAMP) is an intracellular second messenger, a molecule relaying receptor activation to cellular processes. Spitzer and colleagues expressed cloned crustacean receptors in mammalian cells.</a:t>
            </a:r>
          </a:p>
          <a:p>
            <a:pPr algn="l">
              <a:lnSpc>
                <a:spcPct val="108000"/>
              </a:lnSpc>
              <a:spcAft>
                <a:spcPts val="840"/>
              </a:spcAft>
            </a:pPr>
            <a:r>
              <a:rPr sz="1400" b="0" i="0">
                <a:solidFill>
                  <a:srgbClr val="000000"/>
                </a:solidFill>
                <a:latin typeface="Arial"/>
              </a:rPr>
              <a:t>Activating crayfish 5-HT1α reduced forskolin-stimulated cAMP accumulation. </a:t>
            </a:r>
            <a:r>
              <a:rPr sz="1400" b="1" i="0">
                <a:solidFill>
                  <a:srgbClr val="444C55"/>
                </a:solidFill>
                <a:latin typeface="Arial"/>
              </a:rPr>
              <a:t>Forskolin</a:t>
            </a:r>
            <a:r>
              <a:rPr sz="1400" b="0" i="0">
                <a:solidFill>
                  <a:srgbClr val="000000"/>
                </a:solidFill>
                <a:latin typeface="Arial"/>
              </a:rPr>
              <a:t> activates adenylyl cyclase, the enzyme producing cAMP. After accounting for background cellular responses, serotonin’s half-maximal effective concentration was about 31 nM. Non-induced cells controlled for responses unrelated to the introduced receptor.</a:t>
            </a:r>
          </a:p>
          <a:p>
            <a:pPr algn="l">
              <a:lnSpc>
                <a:spcPct val="108000"/>
              </a:lnSpc>
              <a:spcAft>
                <a:spcPts val="840"/>
              </a:spcAft>
            </a:pPr>
            <a:r>
              <a:rPr sz="1400" b="0" i="0">
                <a:solidFill>
                  <a:srgbClr val="000000"/>
                </a:solidFill>
                <a:latin typeface="Arial"/>
              </a:rPr>
              <a:t>These assays establish receptor-dependent signaling consistent with cyclase inhibition by Gi/o, an inhibitory G-protein family. They do not establish that this receptor is located on LG or mediates its social-history-dependent inhibition. A second-messenger decrease in an expression system is distinct from a demonstrated behavioral action in crayfish.</a:t>
            </a:r>
          </a:p>
        </p:txBody>
      </p:sp>
      <p:pic>
        <p:nvPicPr>
          <p:cNvPr id="4" name="Picture 3" descr="s08_f5.png"/>
          <p:cNvPicPr>
            <a:picLocks noChangeAspect="1"/>
          </p:cNvPicPr>
          <p:nvPr/>
        </p:nvPicPr>
        <p:blipFill>
          <a:blip r:embed="rId2"/>
          <a:stretch>
            <a:fillRect/>
          </a:stretch>
        </p:blipFill>
        <p:spPr>
          <a:xfrm>
            <a:off x="7373454" y="1280160"/>
            <a:ext cx="3016226" cy="2560320"/>
          </a:xfrm>
          <a:prstGeom prst="rect">
            <a:avLst/>
          </a:prstGeom>
        </p:spPr>
      </p:pic>
      <p:sp>
        <p:nvSpPr>
          <p:cNvPr id="5" name="Figure caption"/>
          <p:cNvSpPr txBox="1"/>
          <p:nvPr/>
        </p:nvSpPr>
        <p:spPr>
          <a:xfrm>
            <a:off x="6138367" y="39319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Spitzer et al. (2008), Fig. 5(A–D). Cloned type-1 receptors suppress stimulated cAMP accumulation.</a:t>
            </a:r>
          </a:p>
        </p:txBody>
      </p:sp>
      <p:pic>
        <p:nvPicPr>
          <p:cNvPr id="6" name="Picture 5" descr="s05_f3.png"/>
          <p:cNvPicPr>
            <a:picLocks noChangeAspect="1"/>
          </p:cNvPicPr>
          <p:nvPr/>
        </p:nvPicPr>
        <p:blipFill>
          <a:blip r:embed="rId3"/>
          <a:stretch>
            <a:fillRect/>
          </a:stretch>
        </p:blipFill>
        <p:spPr>
          <a:xfrm>
            <a:off x="8272724" y="4389120"/>
            <a:ext cx="1217685" cy="13715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Spitzer et al. (2005), Fig. 3(A–I). Putative type-1 receptor labeling and nuclear counterstaining.</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Spitzer et al. (2008); Spitzer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A cloned type-2 receptor activates a different messenger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000000"/>
                </a:solidFill>
                <a:latin typeface="Arial"/>
              </a:rPr>
              <a:t>Spitzer and colleagues expressed the crayfish 5-HT2β receptor in HEK cells, a mammalian cell line used to test an introduced protein. They measured </a:t>
            </a:r>
            <a:r>
              <a:rPr sz="1400" b="1" i="0">
                <a:solidFill>
                  <a:srgbClr val="444C55"/>
                </a:solidFill>
                <a:latin typeface="Arial"/>
              </a:rPr>
              <a:t>inositol phosphates</a:t>
            </a:r>
            <a:r>
              <a:rPr sz="1400" b="0" i="0">
                <a:solidFill>
                  <a:srgbClr val="000000"/>
                </a:solidFill>
                <a:latin typeface="Arial"/>
              </a:rPr>
              <a:t>, intracellular products generated when phospholipase C cleaves membrane phosphoinositides, a lipid family.</a:t>
            </a:r>
          </a:p>
          <a:p>
            <a:pPr algn="l">
              <a:lnSpc>
                <a:spcPct val="108000"/>
              </a:lnSpc>
              <a:spcAft>
                <a:spcPts val="840"/>
              </a:spcAft>
            </a:pPr>
            <a:r>
              <a:rPr sz="1400" b="0" i="0">
                <a:solidFill>
                  <a:srgbClr val="000000"/>
                </a:solidFill>
                <a:latin typeface="Arial"/>
              </a:rPr>
              <a:t>Serotonin increased inositol-phosphate accumulation in receptor-expressing cells, with a half-maximal effective concentration near 270 nM. Matched non-transfected cells did not produce the same receptor-associated response. Other tested monoamines required much higher concentrations or had little activity.</a:t>
            </a:r>
          </a:p>
          <a:p>
            <a:pPr algn="l">
              <a:lnSpc>
                <a:spcPct val="108000"/>
              </a:lnSpc>
              <a:spcAft>
                <a:spcPts val="840"/>
              </a:spcAft>
            </a:pPr>
            <a:r>
              <a:rPr sz="1400" b="0" i="0">
                <a:solidFill>
                  <a:srgbClr val="000000"/>
                </a:solidFill>
                <a:latin typeface="Arial"/>
              </a:rPr>
              <a:t>The assay separates two cloned serotonin receptors by their signaling and pharmacology. It supports a type-2-associated phosphoinositide pathway, but does not assign that cloned receptor to LG facilitation. Published receptor staining supplies anatomical context for candidate signaling sites; the molecular subtype producing the cAMP-dependent giant-neuron effect remains a separate question.</a:t>
            </a:r>
          </a:p>
        </p:txBody>
      </p:sp>
      <p:pic>
        <p:nvPicPr>
          <p:cNvPr id="4" name="Picture 3" descr="s08_f4.png"/>
          <p:cNvPicPr>
            <a:picLocks noChangeAspect="1"/>
          </p:cNvPicPr>
          <p:nvPr/>
        </p:nvPicPr>
        <p:blipFill>
          <a:blip r:embed="rId2"/>
          <a:stretch>
            <a:fillRect/>
          </a:stretch>
        </p:blipFill>
        <p:spPr>
          <a:xfrm>
            <a:off x="7410452" y="1280160"/>
            <a:ext cx="2942229" cy="2560320"/>
          </a:xfrm>
          <a:prstGeom prst="rect">
            <a:avLst/>
          </a:prstGeom>
        </p:spPr>
      </p:pic>
      <p:sp>
        <p:nvSpPr>
          <p:cNvPr id="5" name="Figure caption"/>
          <p:cNvSpPr txBox="1"/>
          <p:nvPr/>
        </p:nvSpPr>
        <p:spPr>
          <a:xfrm>
            <a:off x="6138367" y="39319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Spitzer et al. (2008), Fig. 4(A–E). Cloned type-2 receptors activate inositol-phosphate signaling.</a:t>
            </a:r>
          </a:p>
        </p:txBody>
      </p:sp>
      <p:pic>
        <p:nvPicPr>
          <p:cNvPr id="6" name="Picture 5" descr="s05_f4.png"/>
          <p:cNvPicPr>
            <a:picLocks noChangeAspect="1"/>
          </p:cNvPicPr>
          <p:nvPr/>
        </p:nvPicPr>
        <p:blipFill>
          <a:blip r:embed="rId3"/>
          <a:stretch>
            <a:fillRect/>
          </a:stretch>
        </p:blipFill>
        <p:spPr>
          <a:xfrm>
            <a:off x="8113532" y="4389120"/>
            <a:ext cx="1536070" cy="13715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Spitzer et al. (2005), Fig. 4(A–D). Receptor and serotonin labeling in brain neuropil.</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Spitzer et al. (2008); Spitzer et al. (2005)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Repeated input habituates the LG response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444C55"/>
                </a:solidFill>
                <a:latin typeface="Arial"/>
              </a:rPr>
              <a:t>Habituation</a:t>
            </a:r>
            <a:r>
              <a:rPr sz="1500" b="0" i="0">
                <a:solidFill>
                  <a:srgbClr val="000000"/>
                </a:solidFill>
                <a:latin typeface="Arial"/>
              </a:rPr>
              <a:t> is a decline in response during repeated stimulation. Araki and colleagues tested isolated abdominal nerve cords from adult crayfish, stimulating sensory roots while recording whether LG produced an action potential. The preparation preserved the local sensory pathway while removing ongoing social interaction.</a:t>
            </a:r>
          </a:p>
          <a:p>
            <a:pPr algn="l">
              <a:lnSpc>
                <a:spcPct val="108000"/>
              </a:lnSpc>
              <a:spcAft>
                <a:spcPts val="900"/>
              </a:spcAft>
            </a:pPr>
            <a:r>
              <a:rPr sz="1500" b="0" i="0">
                <a:solidFill>
                  <a:srgbClr val="000000"/>
                </a:solidFill>
                <a:latin typeface="Arial"/>
              </a:rPr>
              <a:t>Just-suprathreshold shocks were delivered every 5 s. In control saline, response probability fell rapidly, with roughly half the preparations failing within the first five trials. Pretreatment with 10 µM serotonin or octopamine slowed the decline.</a:t>
            </a:r>
          </a:p>
          <a:p>
            <a:pPr algn="l">
              <a:lnSpc>
                <a:spcPct val="108000"/>
              </a:lnSpc>
              <a:spcAft>
                <a:spcPts val="900"/>
              </a:spcAft>
            </a:pPr>
            <a:r>
              <a:rPr sz="1500" b="0" i="0">
                <a:solidFill>
                  <a:srgbClr val="000000"/>
                </a:solidFill>
                <a:latin typeface="Arial"/>
              </a:rPr>
              <a:t>The amines increased the number of stimuli needed to lose reliable LG firing. This establishes modulation of repeated-input responsiveness, rather than a measured change in free-animal retreat or fighting. Because the initial stimulus was selected near threshold, a modest increase in sensory gain can strongly affect whether a repeated trial still recruits the giant neuron.</a:t>
            </a:r>
          </a:p>
        </p:txBody>
      </p:sp>
      <p:pic>
        <p:nvPicPr>
          <p:cNvPr id="4" name="Picture 3" descr="a05_f1.png"/>
          <p:cNvPicPr>
            <a:picLocks noChangeAspect="1"/>
          </p:cNvPicPr>
          <p:nvPr/>
        </p:nvPicPr>
        <p:blipFill>
          <a:blip r:embed="rId2"/>
          <a:stretch>
            <a:fillRect/>
          </a:stretch>
        </p:blipFill>
        <p:spPr>
          <a:xfrm>
            <a:off x="6138367" y="1280160"/>
            <a:ext cx="5486400" cy="2345376"/>
          </a:xfrm>
          <a:prstGeom prst="rect">
            <a:avLst/>
          </a:prstGeom>
        </p:spPr>
      </p:pic>
      <p:sp>
        <p:nvSpPr>
          <p:cNvPr id="5" name="Figure caption"/>
          <p:cNvSpPr txBox="1"/>
          <p:nvPr/>
        </p:nvSpPr>
        <p:spPr>
          <a:xfrm>
            <a:off x="6138367" y="371697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Araki et al. (2005), Fig. 1. Amines slow loss of LG firing during 5-s stimulation intervals.</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Araki et al. (2005);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A cAMP analogue reproduces resistance to habituation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444C55"/>
                </a:solidFill>
                <a:latin typeface="Arial"/>
              </a:rPr>
              <a:t>second-messenger analogue</a:t>
            </a:r>
            <a:r>
              <a:rPr sz="1600" b="0" i="0">
                <a:solidFill>
                  <a:srgbClr val="000000"/>
                </a:solidFill>
                <a:latin typeface="Arial"/>
              </a:rPr>
              <a:t> is a compound designed to activate or mimic part of an intracellular signaling pathway. Araki and colleagues compared cyclic-nucleotide analogues after establishing a near-threshold stimulus to the LG sensory pathway.</a:t>
            </a:r>
          </a:p>
          <a:p>
            <a:pPr algn="l">
              <a:lnSpc>
                <a:spcPct val="108000"/>
              </a:lnSpc>
              <a:spcAft>
                <a:spcPts val="960"/>
              </a:spcAft>
            </a:pPr>
            <a:r>
              <a:rPr sz="1600" b="0" i="0">
                <a:solidFill>
                  <a:srgbClr val="000000"/>
                </a:solidFill>
                <a:latin typeface="Arial"/>
              </a:rPr>
              <a:t>Combining 50 µM CPT-cAMP with 50 µM IBMX slowed habituation during 5-s stimulus intervals. </a:t>
            </a:r>
            <a:r>
              <a:rPr sz="1600" b="1" i="0">
                <a:solidFill>
                  <a:srgbClr val="444C55"/>
                </a:solidFill>
                <a:latin typeface="Arial"/>
              </a:rPr>
              <a:t>IBMX</a:t>
            </a:r>
            <a:r>
              <a:rPr sz="1600" b="0" i="0">
                <a:solidFill>
                  <a:srgbClr val="000000"/>
                </a:solidFill>
                <a:latin typeface="Arial"/>
              </a:rPr>
              <a:t> inhibits phosphodiesterases, enzymes that break down cyclic nucleotides. A 100 µM cGMP analogue did not reproduce this effect; the control curve declined more rapidly than the cAMP-treated curve.</a:t>
            </a:r>
          </a:p>
          <a:p>
            <a:pPr algn="l">
              <a:lnSpc>
                <a:spcPct val="108000"/>
              </a:lnSpc>
              <a:spcAft>
                <a:spcPts val="960"/>
              </a:spcAft>
            </a:pPr>
            <a:r>
              <a:rPr sz="1600" b="0" i="0">
                <a:solidFill>
                  <a:srgbClr val="000000"/>
                </a:solidFill>
                <a:latin typeface="Arial"/>
              </a:rPr>
              <a:t>The comparison supports a cAMP-sensitive facilitatory mechanism and distinguishes it from the tested cGMP manipulation. Bath delivery can act on several cells within the ganglion, so this experiment alone does not place the relevant second messenger inside LG or establish that serotonin normally produces exactly the same intracellular concentration.</a:t>
            </a:r>
          </a:p>
        </p:txBody>
      </p:sp>
      <p:pic>
        <p:nvPicPr>
          <p:cNvPr id="4" name="Picture 3" descr="a05_f2.png"/>
          <p:cNvPicPr>
            <a:picLocks noChangeAspect="1"/>
          </p:cNvPicPr>
          <p:nvPr/>
        </p:nvPicPr>
        <p:blipFill>
          <a:blip r:embed="rId2"/>
          <a:stretch>
            <a:fillRect/>
          </a:stretch>
        </p:blipFill>
        <p:spPr>
          <a:xfrm>
            <a:off x="7182396" y="1280160"/>
            <a:ext cx="339834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Araki et al. (2005), Fig. 2. cAMP and cGMP analogue effects on LG habituation.</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Araki et al. (2005);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Cyclase inhibition removes serotonin’s facilitatory effect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444C55"/>
                </a:solidFill>
                <a:latin typeface="Arial"/>
              </a:rPr>
              <a:t>Adenylyl cyclase</a:t>
            </a:r>
            <a:r>
              <a:rPr sz="1500" b="0" i="0">
                <a:solidFill>
                  <a:srgbClr val="000000"/>
                </a:solidFill>
                <a:latin typeface="Arial"/>
              </a:rPr>
              <a:t> produces cAMP, so inhibiting this enzyme tests whether serotonin’s facilitation requires cyclic-nucleotide synthesis. Araki and colleagues pretreated isolated abdominal preparations with 100 µM SQ22536 before adding 10 µM serotonin.</a:t>
            </a:r>
          </a:p>
          <a:p>
            <a:pPr algn="l">
              <a:lnSpc>
                <a:spcPct val="108000"/>
              </a:lnSpc>
              <a:spcAft>
                <a:spcPts val="900"/>
              </a:spcAft>
            </a:pPr>
            <a:r>
              <a:rPr sz="1500" b="0" i="0">
                <a:solidFill>
                  <a:srgbClr val="000000"/>
                </a:solidFill>
                <a:latin typeface="Arial"/>
              </a:rPr>
              <a:t>With serotonin alone, the median stimulus number before habituation was 12.5, compared with 3 in controls. With cyclase inhibition and serotonin, the median was 6 and later response loss approached the control pattern. The inhibitor alone did not appreciably change the initial shock threshold.</a:t>
            </a:r>
          </a:p>
          <a:p>
            <a:pPr algn="l">
              <a:lnSpc>
                <a:spcPct val="108000"/>
              </a:lnSpc>
              <a:spcAft>
                <a:spcPts val="900"/>
              </a:spcAft>
            </a:pPr>
            <a:r>
              <a:rPr sz="1500" b="0" i="0">
                <a:solidFill>
                  <a:srgbClr val="000000"/>
                </a:solidFill>
                <a:latin typeface="Arial"/>
              </a:rPr>
              <a:t>This pharmacological interaction supports a cyclase-dependent component of serotonin-induced facilitation. The preserved initial threshold reduces an explanation based on general failure of the preparation. It does not identify the upstream receptor or prove that the same pathway accounts for serotonergic inhibition in experienced subordinates, which was not the preparation tested.</a:t>
            </a:r>
          </a:p>
        </p:txBody>
      </p:sp>
      <p:pic>
        <p:nvPicPr>
          <p:cNvPr id="4" name="Picture 3" descr="a05_f3ab.png"/>
          <p:cNvPicPr>
            <a:picLocks noChangeAspect="1"/>
          </p:cNvPicPr>
          <p:nvPr/>
        </p:nvPicPr>
        <p:blipFill>
          <a:blip r:embed="rId2"/>
          <a:stretch>
            <a:fillRect/>
          </a:stretch>
        </p:blipFill>
        <p:spPr>
          <a:xfrm>
            <a:off x="8077991" y="1280160"/>
            <a:ext cx="1607151"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Araki et al. (2005), Fig. 3(A–B). Cyclase inhibition reduces serotonin-dependent facilitation.</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Araki et al. (2005);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Intracellular cAMP action can enhance LG directly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Bath application cannot locate a messenger’s cellular target. Araki and colleagues therefore injected </a:t>
            </a:r>
            <a:r>
              <a:rPr sz="1500" b="1" i="0">
                <a:solidFill>
                  <a:srgbClr val="444C55"/>
                </a:solidFill>
                <a:latin typeface="Arial"/>
              </a:rPr>
              <a:t>Sp-cAMPS</a:t>
            </a:r>
            <a:r>
              <a:rPr sz="1500" b="0" i="0">
                <a:solidFill>
                  <a:srgbClr val="000000"/>
                </a:solidFill>
                <a:latin typeface="Arial"/>
              </a:rPr>
              <a:t>, a phosphodiesterase-resistant cAMP analogue, directly into the recorded LG neuron while testing sensory responses. The electrode solution contained 50 mM analogue.</a:t>
            </a:r>
          </a:p>
          <a:p>
            <a:pPr algn="l">
              <a:lnSpc>
                <a:spcPct val="108000"/>
              </a:lnSpc>
              <a:spcAft>
                <a:spcPts val="900"/>
              </a:spcAft>
            </a:pPr>
            <a:r>
              <a:rPr sz="1500" b="0" i="0">
                <a:solidFill>
                  <a:srgbClr val="000000"/>
                </a:solidFill>
                <a:latin typeface="Arial"/>
              </a:rPr>
              <a:t>After 5 min of injection, early EPSPs increased by about 19% and later EPSPs by about 20%. Current injection through an electrode containing only the carrier solution controlled for the injection procedure. The analogue also caused a small depolarization, approximately 5.4 mV.</a:t>
            </a:r>
          </a:p>
          <a:p>
            <a:pPr algn="l">
              <a:lnSpc>
                <a:spcPct val="108000"/>
              </a:lnSpc>
              <a:spcAft>
                <a:spcPts val="900"/>
              </a:spcAft>
            </a:pPr>
            <a:r>
              <a:rPr sz="1500" b="0" i="0">
                <a:solidFill>
                  <a:srgbClr val="000000"/>
                </a:solidFill>
                <a:latin typeface="Arial"/>
              </a:rPr>
              <a:t>Direct intracellular action supports LG as a site capable of cAMP-dependent sensory enhancement. The electrode concentration is not a measured final intracellular concentration. The result does not identify a particular kinase, channel or receptor, nor establish that intracellular cAMP enhancement alone is sufficient to change social dominance in a freely behaving animal.</a:t>
            </a:r>
          </a:p>
        </p:txBody>
      </p:sp>
      <p:pic>
        <p:nvPicPr>
          <p:cNvPr id="4" name="Picture 3" descr="a05_f6.png"/>
          <p:cNvPicPr>
            <a:picLocks noChangeAspect="1"/>
          </p:cNvPicPr>
          <p:nvPr/>
        </p:nvPicPr>
        <p:blipFill>
          <a:blip r:embed="rId2"/>
          <a:stretch>
            <a:fillRect/>
          </a:stretch>
        </p:blipFill>
        <p:spPr>
          <a:xfrm>
            <a:off x="6921426" y="1280160"/>
            <a:ext cx="3920282"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Araki et al. (2005), Fig. 6(A–C). Bath and intracellular cAMP analogue effects on LG.</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Araki et al. (2005);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Serotonin enhances EPSPs without a large voltage shift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Araki and colleagues compared sensory EPSPs before and after 5 min of 5 µM serotonin in isolated abdominal nerve cords. Their early response combined direct electrical and chemical contributions; the later response included an intervening sensory interneuron.</a:t>
            </a:r>
          </a:p>
          <a:p>
            <a:pPr algn="l">
              <a:lnSpc>
                <a:spcPct val="108000"/>
              </a:lnSpc>
              <a:spcAft>
                <a:spcPts val="900"/>
              </a:spcAft>
            </a:pPr>
            <a:r>
              <a:rPr sz="1500" b="0" i="0">
                <a:solidFill>
                  <a:srgbClr val="000000"/>
                </a:solidFill>
                <a:latin typeface="Arial"/>
              </a:rPr>
              <a:t>The early EPSP increased by about 8% and the later EPSP by about 18%. Resting LG voltage changed little, while cyclase inhibition largely removed both increases. Saline controls did not produce the same enhancement, and washout partially restored the original response.</a:t>
            </a:r>
          </a:p>
          <a:p>
            <a:pPr algn="l">
              <a:lnSpc>
                <a:spcPct val="108000"/>
              </a:lnSpc>
              <a:spcAft>
                <a:spcPts val="900"/>
              </a:spcAft>
            </a:pPr>
            <a:r>
              <a:rPr sz="1500" b="0" i="0">
                <a:solidFill>
                  <a:srgbClr val="000000"/>
                </a:solidFill>
                <a:latin typeface="Arial"/>
              </a:rPr>
              <a:t>Facilitation therefore need not be explained by a large tonic depolarization. Its relation to cyclase activity supports second-messenger modulation of sensory responsiveness. These measurements identify a physiological effect and a pharmacological dependence, but they do not determine which membrane conductance or electrical-synapse property carries the enhancement at the molecular level.</a:t>
            </a:r>
          </a:p>
        </p:txBody>
      </p:sp>
      <p:pic>
        <p:nvPicPr>
          <p:cNvPr id="4" name="Picture 3" descr="a05_f4.png"/>
          <p:cNvPicPr>
            <a:picLocks noChangeAspect="1"/>
          </p:cNvPicPr>
          <p:nvPr/>
        </p:nvPicPr>
        <p:blipFill>
          <a:blip r:embed="rId2"/>
          <a:stretch>
            <a:fillRect/>
          </a:stretch>
        </p:blipFill>
        <p:spPr>
          <a:xfrm>
            <a:off x="6590201" y="1280160"/>
            <a:ext cx="4582730"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Araki et al. (2005), Fig. 4(A–C). Sensory EPSPs during serotonin and cyclase-inhibitor treatment.</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Araki et al. (2005);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Long exposure leaves facilitation after serotonin removal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Exposure duration changes the persistence of serotonergic modulation. Teshiba and colleagues compared brief application, approximately 10 min, with longer exposures near 45 min, then followed sensory EPSPs during saline washout.</a:t>
            </a:r>
          </a:p>
          <a:p>
            <a:pPr algn="l">
              <a:lnSpc>
                <a:spcPct val="108000"/>
              </a:lnSpc>
              <a:spcAft>
                <a:spcPts val="900"/>
              </a:spcAft>
            </a:pPr>
            <a:r>
              <a:rPr sz="1500" b="0" i="0">
                <a:solidFill>
                  <a:srgbClr val="000000"/>
                </a:solidFill>
                <a:latin typeface="Arial"/>
              </a:rPr>
              <a:t>Brief high exposure produced inhibition that reversed relatively rapidly. Longer exposure could be followed by persistent facilitation, even after an inhibitory phase during rapid high delivery. Facilitated responses remained above baseline during the 30-min wash comparison and could persist for hours.</a:t>
            </a:r>
          </a:p>
          <a:p>
            <a:pPr algn="l">
              <a:lnSpc>
                <a:spcPct val="108000"/>
              </a:lnSpc>
              <a:spcAft>
                <a:spcPts val="900"/>
              </a:spcAft>
            </a:pPr>
            <a:r>
              <a:rPr sz="1500" b="0" i="0">
                <a:solidFill>
                  <a:srgbClr val="000000"/>
                </a:solidFill>
                <a:latin typeface="Arial"/>
              </a:rPr>
              <a:t>The result separates the immediate sign during drug presence from the state retained after exposure. It supports intracellular processes with different activation and decay rates. Proposed interacting signaling cascades can account for these time courses, but the recordings alone do not identify their molecular components or establish an enduring memory of dominance from a single serotonin treatment.</a:t>
            </a:r>
          </a:p>
        </p:txBody>
      </p:sp>
      <p:pic>
        <p:nvPicPr>
          <p:cNvPr id="4" name="Picture 3" descr="t01_f2.png"/>
          <p:cNvPicPr>
            <a:picLocks noChangeAspect="1"/>
          </p:cNvPicPr>
          <p:nvPr/>
        </p:nvPicPr>
        <p:blipFill>
          <a:blip r:embed="rId2"/>
          <a:stretch>
            <a:fillRect/>
          </a:stretch>
        </p:blipFill>
        <p:spPr>
          <a:xfrm>
            <a:off x="6808238" y="1280160"/>
            <a:ext cx="4146656" cy="2468880"/>
          </a:xfrm>
          <a:prstGeom prst="rect">
            <a:avLst/>
          </a:prstGeom>
        </p:spPr>
      </p:pic>
      <p:sp>
        <p:nvSpPr>
          <p:cNvPr id="5" name="Figure caption"/>
          <p:cNvSpPr txBox="1"/>
          <p:nvPr/>
        </p:nvSpPr>
        <p:spPr>
          <a:xfrm>
            <a:off x="6138367" y="38404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Teshiba et al. (2001), Fig. 2. Exposure-dependent changes during application and washout.</a:t>
            </a:r>
          </a:p>
        </p:txBody>
      </p:sp>
      <p:pic>
        <p:nvPicPr>
          <p:cNvPr id="6" name="Picture 5" descr="y97_f13ac.png"/>
          <p:cNvPicPr>
            <a:picLocks noChangeAspect="1"/>
          </p:cNvPicPr>
          <p:nvPr/>
        </p:nvPicPr>
        <p:blipFill>
          <a:blip r:embed="rId3"/>
          <a:stretch>
            <a:fillRect/>
          </a:stretch>
        </p:blipFill>
        <p:spPr>
          <a:xfrm>
            <a:off x="6676966" y="4297680"/>
            <a:ext cx="4409200"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13(A,C). Dye-filled LG neurons and nearby serotonin-immunoreactive fibers.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Teshiba et al. (2001); Yeh et al. (1997)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Serotonin-containing fibers lie near LG axons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Yeh and colleagues combined dye filling of identified LG neurons with serotonin immunostaining. </a:t>
            </a:r>
            <a:r>
              <a:rPr sz="1500" b="1" i="0">
                <a:solidFill>
                  <a:srgbClr val="444C55"/>
                </a:solidFill>
                <a:latin typeface="Arial"/>
              </a:rPr>
              <a:t>Varicosities</a:t>
            </a:r>
            <a:r>
              <a:rPr sz="1500" b="0" i="0">
                <a:solidFill>
                  <a:srgbClr val="000000"/>
                </a:solidFill>
                <a:latin typeface="Arial"/>
              </a:rPr>
              <a:t> are swellings along neuronal processes that may participate in transmitter release. Confocal imaging related labeled fibers to the known giant-neuron anatomy.</a:t>
            </a:r>
          </a:p>
          <a:p>
            <a:pPr algn="l">
              <a:lnSpc>
                <a:spcPct val="108000"/>
              </a:lnSpc>
              <a:spcAft>
                <a:spcPts val="900"/>
              </a:spcAft>
            </a:pPr>
            <a:r>
              <a:rPr sz="1500" b="0" i="0">
                <a:solidFill>
                  <a:srgbClr val="000000"/>
                </a:solidFill>
                <a:latin typeface="Arial"/>
              </a:rPr>
              <a:t>In abdominal ganglion A5, serotonin-immunoreactive terminals lay near LG axons around the septate junction, the connection between successive segmental giant axons. The source includes a 50-µm scale bar. Similar labeling was associated with proximal portions of the terminal-ganglion LG neurons.</a:t>
            </a:r>
          </a:p>
          <a:p>
            <a:pPr algn="l">
              <a:lnSpc>
                <a:spcPct val="108000"/>
              </a:lnSpc>
              <a:spcAft>
                <a:spcPts val="900"/>
              </a:spcAft>
            </a:pPr>
            <a:r>
              <a:rPr sz="1500" b="0" i="0">
                <a:solidFill>
                  <a:srgbClr val="000000"/>
                </a:solidFill>
                <a:latin typeface="Arial"/>
              </a:rPr>
              <a:t>This anatomical proximity supplies candidate sites for local modulation, but it does not prove release onto LG or identify a functional receptor there. Sparse labeling near distal LG dendrites also leaves circulating serotonin as a possible influence. Local and humoral explanations require functional tests beyond the spatial association.</a:t>
            </a:r>
          </a:p>
        </p:txBody>
      </p:sp>
      <p:pic>
        <p:nvPicPr>
          <p:cNvPr id="4" name="Picture 3" descr="y97_f13ab.png"/>
          <p:cNvPicPr>
            <a:picLocks noChangeAspect="1"/>
          </p:cNvPicPr>
          <p:nvPr/>
        </p:nvPicPr>
        <p:blipFill>
          <a:blip r:embed="rId2"/>
          <a:stretch>
            <a:fillRect/>
          </a:stretch>
        </p:blipFill>
        <p:spPr>
          <a:xfrm>
            <a:off x="7318958" y="1280160"/>
            <a:ext cx="3125217"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Yeh et al. (1997), Fig. 13(A–B). LG axons and nearby serotonin labeling in abdominal ganglion A5.</a:t>
            </a:r>
          </a:p>
        </p:txBody>
      </p:sp>
      <p:sp>
        <p:nvSpPr>
          <p:cNvPr id="6" name="Rectangle 5"/>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Yeh et al. (1997)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Social rank changes orientation to an unexpected touch</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Social modulation extends beyond giant escape. Issa and colleagues tested adult crayfish after isolation or at least two weeks of paired housing, brushing fringe hairs on one side of the anterior abdomen while recording walking-leg muscle activity.</a:t>
            </a:r>
          </a:p>
          <a:p>
            <a:pPr algn="l">
              <a:lnSpc>
                <a:spcPct val="108000"/>
              </a:lnSpc>
              <a:spcAft>
                <a:spcPts val="900"/>
              </a:spcAft>
            </a:pPr>
            <a:r>
              <a:rPr sz="1500" b="0" i="0">
                <a:solidFill>
                  <a:srgbClr val="000000"/>
                </a:solidFill>
                <a:latin typeface="Arial"/>
              </a:rPr>
              <a:t>Isolates and dominants turned toward the stimulated side and raised their posture. Subordinates instead pushed backward or flexed the abdomen and lowered their posture. </a:t>
            </a:r>
            <a:r>
              <a:rPr sz="1500" b="1" i="0">
                <a:solidFill>
                  <a:srgbClr val="444C55"/>
                </a:solidFill>
                <a:latin typeface="Arial"/>
              </a:rPr>
              <a:t>Depressor muscles</a:t>
            </a:r>
            <a:r>
              <a:rPr sz="1500" b="0" i="0">
                <a:solidFill>
                  <a:srgbClr val="000000"/>
                </a:solidFill>
                <a:latin typeface="Arial"/>
              </a:rPr>
              <a:t> move the legs downward, and their electrical activity differed with these behavioral responses over the first 0.6 s.</a:t>
            </a:r>
          </a:p>
          <a:p>
            <a:pPr algn="l">
              <a:lnSpc>
                <a:spcPct val="108000"/>
              </a:lnSpc>
              <a:spcAft>
                <a:spcPts val="900"/>
              </a:spcAft>
            </a:pPr>
            <a:r>
              <a:rPr sz="1500" b="0" i="0">
                <a:solidFill>
                  <a:srgbClr val="000000"/>
                </a:solidFill>
                <a:latin typeface="Arial"/>
              </a:rPr>
              <a:t>The same tactile event therefore recruits different postural actions according to social experience. This is an orienting and walking-leg system, distinct from LG tail-flip escape. Muscle recordings establish a relation between neural output and movement, but do not determine every synaptic connection responsible for selecting the status-dependent response.</a:t>
            </a:r>
          </a:p>
        </p:txBody>
      </p:sp>
      <p:pic>
        <p:nvPicPr>
          <p:cNvPr id="4" name="Picture 3" descr="i12_f2.png"/>
          <p:cNvPicPr>
            <a:picLocks noChangeAspect="1"/>
          </p:cNvPicPr>
          <p:nvPr/>
        </p:nvPicPr>
        <p:blipFill>
          <a:blip r:embed="rId2"/>
          <a:stretch>
            <a:fillRect/>
          </a:stretch>
        </p:blipFill>
        <p:spPr>
          <a:xfrm>
            <a:off x="7304153" y="1280160"/>
            <a:ext cx="3154827" cy="2560320"/>
          </a:xfrm>
          <a:prstGeom prst="rect">
            <a:avLst/>
          </a:prstGeom>
        </p:spPr>
      </p:pic>
      <p:sp>
        <p:nvSpPr>
          <p:cNvPr id="5" name="Figure caption"/>
          <p:cNvSpPr txBox="1"/>
          <p:nvPr/>
        </p:nvSpPr>
        <p:spPr>
          <a:xfrm>
            <a:off x="6138367" y="39319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Issa et al. (2012), Fig. 2(A–D). Status-dependent turning, pushing and dropping responses.</a:t>
            </a:r>
          </a:p>
        </p:txBody>
      </p:sp>
      <p:pic>
        <p:nvPicPr>
          <p:cNvPr id="6" name="Picture 5" descr="i12_f1.png"/>
          <p:cNvPicPr>
            <a:picLocks noChangeAspect="1"/>
          </p:cNvPicPr>
          <p:nvPr/>
        </p:nvPicPr>
        <p:blipFill>
          <a:blip r:embed="rId3"/>
          <a:stretch>
            <a:fillRect/>
          </a:stretch>
        </p:blipFill>
        <p:spPr>
          <a:xfrm>
            <a:off x="8337656" y="4389120"/>
            <a:ext cx="1087820" cy="13715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Issa et al. (2012), Fig. 1(A–C). Leg depressor anatomy and intact, isolated and semi-intact preparations.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Issa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Status-dependent motor organization persists locally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Issa and colleagues recorded intact-animal responses and then isolated thoracic and abdominal ganglia with walking-leg nerves. A </a:t>
            </a:r>
            <a:r>
              <a:rPr sz="1500" b="1" i="0">
                <a:solidFill>
                  <a:srgbClr val="444C55"/>
                </a:solidFill>
                <a:latin typeface="Arial"/>
              </a:rPr>
              <a:t>ganglion</a:t>
            </a:r>
            <a:r>
              <a:rPr sz="1500" b="0" i="0">
                <a:solidFill>
                  <a:srgbClr val="000000"/>
                </a:solidFill>
                <a:latin typeface="Arial"/>
              </a:rPr>
              <a:t> is a local concentration of neuronal cell bodies and their connections. Removing anterior centers tested whether continuing descending signals were required.</a:t>
            </a:r>
          </a:p>
          <a:p>
            <a:pPr algn="l">
              <a:lnSpc>
                <a:spcPct val="108000"/>
              </a:lnSpc>
              <a:spcAft>
                <a:spcPts val="900"/>
              </a:spcAft>
            </a:pPr>
            <a:r>
              <a:rPr sz="1500" b="0" i="0">
                <a:solidFill>
                  <a:srgbClr val="000000"/>
                </a:solidFill>
                <a:latin typeface="Arial"/>
              </a:rPr>
              <a:t>Electrical stimulation of an abdominal sensory nerve retained the status-related pattern. Preparations from isolates and dominants favored ipsilateral depressor activity; subordinate preparations produced more symmetric responses. Activity was compared in the same animals before and after circuit isolation.</a:t>
            </a:r>
          </a:p>
          <a:p>
            <a:pPr algn="l">
              <a:lnSpc>
                <a:spcPct val="108000"/>
              </a:lnSpc>
              <a:spcAft>
                <a:spcPts val="900"/>
              </a:spcAft>
            </a:pPr>
            <a:r>
              <a:rPr sz="1500" b="0" i="0">
                <a:solidFill>
                  <a:srgbClr val="000000"/>
                </a:solidFill>
                <a:latin typeface="Arial"/>
              </a:rPr>
              <a:t>The retained difference supports a local functional reconfiguration induced by social experience. It does not show that higher centers were irrelevant when the change originally developed. Nor does it establish that this local walking circuit uses the same receptors or intracellular mechanism that modulate the LG escape command neuron.</a:t>
            </a:r>
          </a:p>
        </p:txBody>
      </p:sp>
      <p:pic>
        <p:nvPicPr>
          <p:cNvPr id="4" name="Picture 3" descr="i12_f3.png"/>
          <p:cNvPicPr>
            <a:picLocks noChangeAspect="1"/>
          </p:cNvPicPr>
          <p:nvPr/>
        </p:nvPicPr>
        <p:blipFill>
          <a:blip r:embed="rId2"/>
          <a:stretch>
            <a:fillRect/>
          </a:stretch>
        </p:blipFill>
        <p:spPr>
          <a:xfrm>
            <a:off x="6778129" y="1280160"/>
            <a:ext cx="2195196" cy="4297679"/>
          </a:xfrm>
          <a:prstGeom prst="rect">
            <a:avLst/>
          </a:prstGeom>
        </p:spPr>
      </p:pic>
      <p:sp>
        <p:nvSpPr>
          <p:cNvPr id="5" name="Figure caption"/>
          <p:cNvSpPr txBox="1"/>
          <p:nvPr/>
        </p:nvSpPr>
        <p:spPr>
          <a:xfrm>
            <a:off x="6138367" y="5669279"/>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Issa et al. (2012), Fig. 3(A–H). Status differences persist in isolated sensorimotor preparations.</a:t>
            </a:r>
          </a:p>
        </p:txBody>
      </p:sp>
      <p:pic>
        <p:nvPicPr>
          <p:cNvPr id="6" name="Picture 5" descr="b19_f1.png"/>
          <p:cNvPicPr>
            <a:picLocks noChangeAspect="1"/>
          </p:cNvPicPr>
          <p:nvPr/>
        </p:nvPicPr>
        <p:blipFill>
          <a:blip r:embed="rId3"/>
          <a:stretch>
            <a:fillRect/>
          </a:stretch>
        </p:blipFill>
        <p:spPr>
          <a:xfrm>
            <a:off x="9795967" y="2148840"/>
            <a:ext cx="1828800" cy="1696666"/>
          </a:xfrm>
          <a:prstGeom prst="rect">
            <a:avLst/>
          </a:prstGeom>
        </p:spPr>
      </p:pic>
      <p:sp>
        <p:nvSpPr>
          <p:cNvPr id="7" name="Figure caption"/>
          <p:cNvSpPr txBox="1"/>
          <p:nvPr/>
        </p:nvSpPr>
        <p:spPr>
          <a:xfrm>
            <a:off x="9795967" y="3918658"/>
            <a:ext cx="18288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(2019), Fig. 1(A–B). Walking-leg preparation and an identified abdominal serotonin neuron.</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Issa et al. (2012); Bacqué-Cazenave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Serotonergic neurons also retain status-dependent input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A </a:t>
            </a:r>
            <a:r>
              <a:rPr sz="1500" b="1" i="0">
                <a:solidFill>
                  <a:srgbClr val="444C55"/>
                </a:solidFill>
                <a:latin typeface="Arial"/>
              </a:rPr>
              <a:t>serotonergic neuron</a:t>
            </a:r>
            <a:r>
              <a:rPr sz="1500" b="0" i="0">
                <a:solidFill>
                  <a:srgbClr val="000000"/>
                </a:solidFill>
                <a:latin typeface="Arial"/>
              </a:rPr>
              <a:t> contains and can signal through serotonin. Issa and colleagues recorded identified serotonin cells in the first abdominal ganglion during unilateral fringe-hair stimulation in semi-intact preparations from animals of known social history.</a:t>
            </a:r>
          </a:p>
          <a:p>
            <a:pPr algn="l">
              <a:lnSpc>
                <a:spcPct val="108000"/>
              </a:lnSpc>
              <a:spcAft>
                <a:spcPts val="900"/>
              </a:spcAft>
            </a:pPr>
            <a:r>
              <a:rPr sz="1500" b="0" i="0">
                <a:solidFill>
                  <a:srgbClr val="000000"/>
                </a:solidFill>
                <a:latin typeface="Arial"/>
              </a:rPr>
              <a:t>Cells in isolates and dominants responded differently to ipsilateral and contralateral touch. Subordinate responses were more bilaterally similar, matching the shift in walking-leg organization. Responses were quantified in 1-s time bins around the precisely timed stimulus.</a:t>
            </a:r>
          </a:p>
          <a:p>
            <a:pPr algn="l">
              <a:lnSpc>
                <a:spcPct val="108000"/>
              </a:lnSpc>
              <a:spcAft>
                <a:spcPts val="900"/>
              </a:spcAft>
            </a:pPr>
            <a:r>
              <a:rPr sz="1500" b="0" i="0">
                <a:solidFill>
                  <a:srgbClr val="000000"/>
                </a:solidFill>
                <a:latin typeface="Arial"/>
              </a:rPr>
              <a:t>Social status therefore changes how an intrinsic modulatory neuron participates in sensory processing, not only how downstream neurons respond to applied serotonin. Identification by morphology and serotonin labeling strengthens the cell assignment. The recordings do not directly measure transmitter release or establish that this neuron causes the entire postural response on every trial.</a:t>
            </a:r>
          </a:p>
        </p:txBody>
      </p:sp>
      <p:pic>
        <p:nvPicPr>
          <p:cNvPr id="4" name="Picture 3" descr="i12_f4.png"/>
          <p:cNvPicPr>
            <a:picLocks noChangeAspect="1"/>
          </p:cNvPicPr>
          <p:nvPr/>
        </p:nvPicPr>
        <p:blipFill>
          <a:blip r:embed="rId2"/>
          <a:stretch>
            <a:fillRect/>
          </a:stretch>
        </p:blipFill>
        <p:spPr>
          <a:xfrm>
            <a:off x="6504366" y="1280160"/>
            <a:ext cx="2742721" cy="4297679"/>
          </a:xfrm>
          <a:prstGeom prst="rect">
            <a:avLst/>
          </a:prstGeom>
        </p:spPr>
      </p:pic>
      <p:sp>
        <p:nvSpPr>
          <p:cNvPr id="5" name="Figure caption"/>
          <p:cNvSpPr txBox="1"/>
          <p:nvPr/>
        </p:nvSpPr>
        <p:spPr>
          <a:xfrm>
            <a:off x="6138367" y="5669279"/>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Issa et al. (2012), Fig. 4(A–D). Sensory responses of abdominal serotonin neurons depend on status.</a:t>
            </a:r>
          </a:p>
        </p:txBody>
      </p:sp>
      <p:pic>
        <p:nvPicPr>
          <p:cNvPr id="6" name="Picture 5" descr="b19_f2c.png"/>
          <p:cNvPicPr>
            <a:picLocks noChangeAspect="1"/>
          </p:cNvPicPr>
          <p:nvPr/>
        </p:nvPicPr>
        <p:blipFill>
          <a:blip r:embed="rId3"/>
          <a:stretch>
            <a:fillRect/>
          </a:stretch>
        </p:blipFill>
        <p:spPr>
          <a:xfrm>
            <a:off x="9795967" y="2148840"/>
            <a:ext cx="1828800" cy="706966"/>
          </a:xfrm>
          <a:prstGeom prst="rect">
            <a:avLst/>
          </a:prstGeom>
        </p:spPr>
      </p:pic>
      <p:sp>
        <p:nvSpPr>
          <p:cNvPr id="7" name="Figure caption"/>
          <p:cNvSpPr txBox="1"/>
          <p:nvPr/>
        </p:nvSpPr>
        <p:spPr>
          <a:xfrm>
            <a:off x="9795967" y="2928958"/>
            <a:ext cx="18288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(2019), Fig. 2(C1–C3). Neurobiotin-filled cell verified by serotonin immunostaining.</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Issa et al. (2012); Bacqué-Cazenave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One serotonin neuron produces mixed motor effects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Bacqué-Cazenave and colleagues activated an identified serotonin neuron in the first abdominal ganglion of socially isolated adult crayfish. Intracellular current pulses drove the cell while the researchers recorded individual walking-leg motor units and motor-neuron voltage.</a:t>
            </a:r>
          </a:p>
          <a:p>
            <a:pPr algn="l">
              <a:lnSpc>
                <a:spcPct val="108000"/>
              </a:lnSpc>
              <a:spcAft>
                <a:spcPts val="900"/>
              </a:spcAft>
            </a:pPr>
            <a:r>
              <a:rPr sz="1500" b="0" i="0">
                <a:solidFill>
                  <a:srgbClr val="000000"/>
                </a:solidFill>
                <a:latin typeface="Arial"/>
              </a:rPr>
              <a:t>A 10-s activation produced excitation in some units, inhibition in others and little change in others. In the same recording, one depressor neuron depolarized while another unit in its nerve reduced its discharge. Changes in the average nerve activity could conceal these opposing effects.</a:t>
            </a:r>
          </a:p>
          <a:p>
            <a:pPr algn="l">
              <a:lnSpc>
                <a:spcPct val="108000"/>
              </a:lnSpc>
              <a:spcAft>
                <a:spcPts val="900"/>
              </a:spcAft>
            </a:pPr>
            <a:r>
              <a:rPr sz="1500" b="0" i="0">
                <a:solidFill>
                  <a:srgbClr val="000000"/>
                </a:solidFill>
                <a:latin typeface="Arial"/>
              </a:rPr>
              <a:t>Activation of an endogenous modulatory cell therefore does not impose one uniform sign on its targets. The result extends beyond experiments applying serotonin to a bath. It concerns the walking-leg network in isolated animals and does not prove that the same neuron generates status-dependent LG inhibition or controls the decision to retreat during fighting.</a:t>
            </a:r>
          </a:p>
        </p:txBody>
      </p:sp>
      <p:pic>
        <p:nvPicPr>
          <p:cNvPr id="4" name="Picture 3" descr="b19_f3.png"/>
          <p:cNvPicPr>
            <a:picLocks noChangeAspect="1"/>
          </p:cNvPicPr>
          <p:nvPr/>
        </p:nvPicPr>
        <p:blipFill>
          <a:blip r:embed="rId2"/>
          <a:stretch>
            <a:fillRect/>
          </a:stretch>
        </p:blipFill>
        <p:spPr>
          <a:xfrm>
            <a:off x="6723677" y="1280160"/>
            <a:ext cx="4315778" cy="2560320"/>
          </a:xfrm>
          <a:prstGeom prst="rect">
            <a:avLst/>
          </a:prstGeom>
        </p:spPr>
      </p:pic>
      <p:sp>
        <p:nvSpPr>
          <p:cNvPr id="5" name="Figure caption"/>
          <p:cNvSpPr txBox="1"/>
          <p:nvPr/>
        </p:nvSpPr>
        <p:spPr>
          <a:xfrm>
            <a:off x="6138367" y="393192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(2019), Fig. 3(A–C). One serotonin neuron changes different motor units in opposite directions.</a:t>
            </a:r>
          </a:p>
        </p:txBody>
      </p:sp>
      <p:pic>
        <p:nvPicPr>
          <p:cNvPr id="6" name="Picture 5" descr="b19_f1.png"/>
          <p:cNvPicPr>
            <a:picLocks noChangeAspect="1"/>
          </p:cNvPicPr>
          <p:nvPr/>
        </p:nvPicPr>
        <p:blipFill>
          <a:blip r:embed="rId3"/>
          <a:stretch>
            <a:fillRect/>
          </a:stretch>
        </p:blipFill>
        <p:spPr>
          <a:xfrm>
            <a:off x="8142358" y="4389120"/>
            <a:ext cx="1478417" cy="137159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(2019), Fig. 1(A–B). Walking-leg preparation and an identified abdominal serotonin neuron.</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Bacqué-Cazenave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Motor modulation changes resistance and EPSPs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The effect of serotonin-cell activation can be examined at a single postsynaptic motor neuron. Bacqué-Cazenave and colleagues combined current injection with controlled movement of the </a:t>
            </a:r>
            <a:r>
              <a:rPr sz="1500" b="1" i="0">
                <a:solidFill>
                  <a:srgbClr val="444C55"/>
                </a:solidFill>
                <a:latin typeface="Arial"/>
              </a:rPr>
              <a:t>coxo-basal chordotonal organ</a:t>
            </a:r>
            <a:r>
              <a:rPr sz="1500" b="0" i="0">
                <a:solidFill>
                  <a:srgbClr val="000000"/>
                </a:solidFill>
                <a:latin typeface="Arial"/>
              </a:rPr>
              <a:t>, a proprioceptor that senses movement at a walking-leg joint.</a:t>
            </a:r>
          </a:p>
          <a:p>
            <a:pPr algn="l">
              <a:lnSpc>
                <a:spcPct val="108000"/>
              </a:lnSpc>
              <a:spcAft>
                <a:spcPts val="900"/>
              </a:spcAft>
            </a:pPr>
            <a:r>
              <a:rPr sz="1500" b="0" i="0">
                <a:solidFill>
                  <a:srgbClr val="000000"/>
                </a:solidFill>
                <a:latin typeface="Arial"/>
              </a:rPr>
              <a:t>Excited depressor neurons depolarized and increased input resistance, while inhibited neurons hyperpolarized and decreased resistance. Sensory EPSPs became larger or smaller accordingly. The recordings retained mV calibration and included current pulses of known amplitude to estimate resistance.</a:t>
            </a:r>
          </a:p>
          <a:p>
            <a:pPr algn="l">
              <a:lnSpc>
                <a:spcPct val="108000"/>
              </a:lnSpc>
              <a:spcAft>
                <a:spcPts val="900"/>
              </a:spcAft>
            </a:pPr>
            <a:r>
              <a:rPr sz="1500" b="0" i="0">
                <a:solidFill>
                  <a:srgbClr val="000000"/>
                </a:solidFill>
                <a:latin typeface="Arial"/>
              </a:rPr>
              <a:t>Opposing membrane and synaptic effects connect modulation to sensory-motor output at identified targets. They are consistent with different receptor actions or receptor distributions, but do not by themselves identify the molecular subtype on each cell. These motor-neuron measurements also cannot replace direct tests of the giant escape system or of fighting behavior.</a:t>
            </a:r>
          </a:p>
        </p:txBody>
      </p:sp>
      <p:pic>
        <p:nvPicPr>
          <p:cNvPr id="4" name="Picture 3" descr="b19_f4.png"/>
          <p:cNvPicPr>
            <a:picLocks noChangeAspect="1"/>
          </p:cNvPicPr>
          <p:nvPr/>
        </p:nvPicPr>
        <p:blipFill>
          <a:blip r:embed="rId2"/>
          <a:stretch>
            <a:fillRect/>
          </a:stretch>
        </p:blipFill>
        <p:spPr>
          <a:xfrm>
            <a:off x="6138367" y="1280160"/>
            <a:ext cx="2743200" cy="3425174"/>
          </a:xfrm>
          <a:prstGeom prst="rect">
            <a:avLst/>
          </a:prstGeom>
        </p:spPr>
      </p:pic>
      <p:sp>
        <p:nvSpPr>
          <p:cNvPr id="5" name="Figure caption"/>
          <p:cNvSpPr txBox="1"/>
          <p:nvPr/>
        </p:nvSpPr>
        <p:spPr>
          <a:xfrm>
            <a:off x="6138367" y="4796774"/>
            <a:ext cx="27432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(2019), Fig. 4(A1–C3). Excited depressor neuron: resistance and sensory EPSP changes.</a:t>
            </a:r>
          </a:p>
        </p:txBody>
      </p:sp>
      <p:pic>
        <p:nvPicPr>
          <p:cNvPr id="6" name="Picture 5" descr="b19_f5.png"/>
          <p:cNvPicPr>
            <a:picLocks noChangeAspect="1"/>
          </p:cNvPicPr>
          <p:nvPr/>
        </p:nvPicPr>
        <p:blipFill>
          <a:blip r:embed="rId3"/>
          <a:stretch>
            <a:fillRect/>
          </a:stretch>
        </p:blipFill>
        <p:spPr>
          <a:xfrm>
            <a:off x="9064447" y="2148840"/>
            <a:ext cx="2560320" cy="2816121"/>
          </a:xfrm>
          <a:prstGeom prst="rect">
            <a:avLst/>
          </a:prstGeom>
        </p:spPr>
      </p:pic>
      <p:sp>
        <p:nvSpPr>
          <p:cNvPr id="7" name="Figure caption"/>
          <p:cNvSpPr txBox="1"/>
          <p:nvPr/>
        </p:nvSpPr>
        <p:spPr>
          <a:xfrm>
            <a:off x="9064447" y="5038113"/>
            <a:ext cx="25603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(2019), Fig. 5(A1–C3). Inhibited depressor neuron: resistance and sensory EPSP changes.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Bacqué-Cazenave et al. (2019)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Previous success and amines alter later contest outcomes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000000"/>
                </a:solidFill>
                <a:latin typeface="Arial"/>
              </a:rPr>
              <a:t>A </a:t>
            </a:r>
            <a:r>
              <a:rPr sz="1600" b="1" i="0">
                <a:solidFill>
                  <a:srgbClr val="444C55"/>
                </a:solidFill>
                <a:latin typeface="Arial"/>
              </a:rPr>
              <a:t>winner effect</a:t>
            </a:r>
            <a:r>
              <a:rPr sz="1600" b="0" i="0">
                <a:solidFill>
                  <a:srgbClr val="000000"/>
                </a:solidFill>
                <a:latin typeface="Arial"/>
              </a:rPr>
              <a:t> is increased success after a previous victory; a </a:t>
            </a:r>
            <a:r>
              <a:rPr sz="1600" b="1" i="0">
                <a:solidFill>
                  <a:srgbClr val="444C55"/>
                </a:solidFill>
                <a:latin typeface="Arial"/>
              </a:rPr>
              <a:t>loser effect</a:t>
            </a:r>
            <a:r>
              <a:rPr sz="1600" b="0" i="0">
                <a:solidFill>
                  <a:srgbClr val="000000"/>
                </a:solidFill>
                <a:latin typeface="Arial"/>
              </a:rPr>
              <a:t> is reduced success after defeat. Momohara and colleagues paired adult male crayfish with modest size differences, then tested experienced animals against unfamiliar opponents on the following day.</a:t>
            </a:r>
          </a:p>
          <a:p>
            <a:pPr algn="l">
              <a:lnSpc>
                <a:spcPct val="108000"/>
              </a:lnSpc>
              <a:spcAft>
                <a:spcPts val="960"/>
              </a:spcAft>
            </a:pPr>
            <a:r>
              <a:rPr sz="1600" b="0" i="0">
                <a:solidFill>
                  <a:srgbClr val="000000"/>
                </a:solidFill>
                <a:latin typeface="Arial"/>
              </a:rPr>
              <a:t>Previously successful smaller animals won about 70% of later pairings against larger naive opponents. Previously defeated larger animals won only about 6% against smaller naive animals. Serotonin injection into naive smaller animals also increased winning to over 60% under the tested conditions.</a:t>
            </a:r>
          </a:p>
          <a:p>
            <a:pPr algn="l">
              <a:lnSpc>
                <a:spcPct val="108000"/>
              </a:lnSpc>
              <a:spcAft>
                <a:spcPts val="960"/>
              </a:spcAft>
            </a:pPr>
            <a:r>
              <a:rPr sz="1600" b="0" i="0">
                <a:solidFill>
                  <a:srgbClr val="000000"/>
                </a:solidFill>
                <a:latin typeface="Arial"/>
              </a:rPr>
              <a:t>Experience and pharmacological treatment can therefore outweigh a modest physical advantage. The injected serotonin solution was 1–2 µM, distinct from a measured tissue concentration. These outcomes do not identify the LG circuit as the cause of winning or establish that endogenous serotonin alone carries the full memory of victory.</a:t>
            </a:r>
          </a:p>
        </p:txBody>
      </p:sp>
      <p:pic>
        <p:nvPicPr>
          <p:cNvPr id="4" name="Picture 3" descr="m13_f2.png"/>
          <p:cNvPicPr>
            <a:picLocks noChangeAspect="1"/>
          </p:cNvPicPr>
          <p:nvPr/>
        </p:nvPicPr>
        <p:blipFill>
          <a:blip r:embed="rId2"/>
          <a:stretch>
            <a:fillRect/>
          </a:stretch>
        </p:blipFill>
        <p:spPr>
          <a:xfrm>
            <a:off x="6138367" y="1280160"/>
            <a:ext cx="3474720" cy="2864157"/>
          </a:xfrm>
          <a:prstGeom prst="rect">
            <a:avLst/>
          </a:prstGeom>
        </p:spPr>
      </p:pic>
      <p:sp>
        <p:nvSpPr>
          <p:cNvPr id="5" name="Figure caption"/>
          <p:cNvSpPr txBox="1"/>
          <p:nvPr/>
        </p:nvSpPr>
        <p:spPr>
          <a:xfrm>
            <a:off x="6138367" y="4235757"/>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Momohara et al. (2013), Fig. 2(A–C). Previous winning and losing alter subsequent encounters.</a:t>
            </a:r>
          </a:p>
        </p:txBody>
      </p:sp>
      <p:pic>
        <p:nvPicPr>
          <p:cNvPr id="6" name="Picture 5" descr="m13_f3.png"/>
          <p:cNvPicPr>
            <a:picLocks noChangeAspect="1"/>
          </p:cNvPicPr>
          <p:nvPr/>
        </p:nvPicPr>
        <p:blipFill>
          <a:blip r:embed="rId3"/>
          <a:stretch>
            <a:fillRect/>
          </a:stretch>
        </p:blipFill>
        <p:spPr>
          <a:xfrm>
            <a:off x="9795967" y="2148840"/>
            <a:ext cx="1828800" cy="842871"/>
          </a:xfrm>
          <a:prstGeom prst="rect">
            <a:avLst/>
          </a:prstGeom>
        </p:spPr>
      </p:pic>
      <p:sp>
        <p:nvSpPr>
          <p:cNvPr id="7" name="Figure caption"/>
          <p:cNvSpPr txBox="1"/>
          <p:nvPr/>
        </p:nvSpPr>
        <p:spPr>
          <a:xfrm>
            <a:off x="9795967" y="3064863"/>
            <a:ext cx="18288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Momohara et al. (2013), Fig. 3(A). Serotonin injection changes winning probability.</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Momohara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Drug effects depend on social history and treatment timing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444C55"/>
                </a:solidFill>
                <a:latin typeface="Arial"/>
              </a:rPr>
              <a:t>Fluoxetine</a:t>
            </a:r>
            <a:r>
              <a:rPr sz="1500" b="0" i="0">
                <a:solidFill>
                  <a:srgbClr val="000000"/>
                </a:solidFill>
                <a:latin typeface="Arial"/>
              </a:rPr>
              <a:t> inhibits serotonin uptake, reducing its removal into cells. Huber and colleagues found that co-treatment with fluoxetine reduced the fighting-duration increase caused by infused serotonin in established subordinates. Acute fluoxetine alone did not produce the same persistence increase.</a:t>
            </a:r>
          </a:p>
          <a:p>
            <a:pPr algn="l">
              <a:lnSpc>
                <a:spcPct val="108000"/>
              </a:lnSpc>
              <a:spcAft>
                <a:spcPts val="900"/>
              </a:spcAft>
            </a:pPr>
            <a:r>
              <a:rPr sz="1500" b="0" i="0">
                <a:solidFill>
                  <a:srgbClr val="000000"/>
                </a:solidFill>
                <a:latin typeface="Arial"/>
              </a:rPr>
              <a:t>Momohara and colleagues instead treated animals after they acquired dominance and tested a new encounter on the following day. Fluoxetine reinforced the winner effect, whereas the serotonin antagonist mianserin reduced it. These protocols differed in species, previous rank and timing.</a:t>
            </a:r>
          </a:p>
          <a:p>
            <a:pPr algn="l">
              <a:lnSpc>
                <a:spcPct val="108000"/>
              </a:lnSpc>
              <a:spcAft>
                <a:spcPts val="900"/>
              </a:spcAft>
            </a:pPr>
            <a:r>
              <a:rPr sz="1500" b="0" i="0">
                <a:solidFill>
                  <a:srgbClr val="000000"/>
                </a:solidFill>
                <a:latin typeface="Arial"/>
              </a:rPr>
              <a:t>The outcomes are not interchangeable measures of a universal aggression mechanism. One tested an acute serotonin-dependent change during an ongoing size-asymmetric relationship; the other tested subsequent contest success after experience. Uptake-related pharmacology supports serotonin involvement, but neither experiment identifies every affected receptor or the relevant circuit.</a:t>
            </a:r>
          </a:p>
        </p:txBody>
      </p:sp>
      <p:pic>
        <p:nvPicPr>
          <p:cNvPr id="4" name="Picture 3" descr="hub_f3.png"/>
          <p:cNvPicPr>
            <a:picLocks noChangeAspect="1"/>
          </p:cNvPicPr>
          <p:nvPr/>
        </p:nvPicPr>
        <p:blipFill>
          <a:blip r:embed="rId2"/>
          <a:stretch>
            <a:fillRect/>
          </a:stretch>
        </p:blipFill>
        <p:spPr>
          <a:xfrm>
            <a:off x="6138367" y="1280160"/>
            <a:ext cx="2743200" cy="2025389"/>
          </a:xfrm>
          <a:prstGeom prst="rect">
            <a:avLst/>
          </a:prstGeom>
        </p:spPr>
      </p:pic>
      <p:sp>
        <p:nvSpPr>
          <p:cNvPr id="5" name="Figure caption"/>
          <p:cNvSpPr txBox="1"/>
          <p:nvPr/>
        </p:nvSpPr>
        <p:spPr>
          <a:xfrm>
            <a:off x="6138367" y="3396989"/>
            <a:ext cx="27432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Huber et al. (1997), Fig. 3. Fight duration after serotonin and fluoxetine treatment.</a:t>
            </a:r>
          </a:p>
        </p:txBody>
      </p:sp>
      <p:pic>
        <p:nvPicPr>
          <p:cNvPr id="6" name="Picture 5" descr="m13_f4.png"/>
          <p:cNvPicPr>
            <a:picLocks noChangeAspect="1"/>
          </p:cNvPicPr>
          <p:nvPr/>
        </p:nvPicPr>
        <p:blipFill>
          <a:blip r:embed="rId3"/>
          <a:stretch>
            <a:fillRect/>
          </a:stretch>
        </p:blipFill>
        <p:spPr>
          <a:xfrm>
            <a:off x="9126674" y="2148840"/>
            <a:ext cx="2435865" cy="3383279"/>
          </a:xfrm>
          <a:prstGeom prst="rect">
            <a:avLst/>
          </a:prstGeom>
        </p:spPr>
      </p:pic>
      <p:sp>
        <p:nvSpPr>
          <p:cNvPr id="7" name="Figure caption"/>
          <p:cNvSpPr txBox="1"/>
          <p:nvPr/>
        </p:nvSpPr>
        <p:spPr>
          <a:xfrm>
            <a:off x="9064447" y="5605271"/>
            <a:ext cx="25603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Momohara et al. (2013), Fig. 4(A–E). Pharmacological effects on previously dominant animals.</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Huber et al. (1997); Momohara et al. (2013)</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Defeat can increase avoidance after the encounter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000000"/>
                </a:solidFill>
                <a:latin typeface="Arial"/>
              </a:rPr>
              <a:t>Bacqué-Cazenave and colleagues tested </a:t>
            </a:r>
            <a:r>
              <a:rPr sz="1500" b="1" i="0">
                <a:solidFill>
                  <a:srgbClr val="444C55"/>
                </a:solidFill>
                <a:latin typeface="Arial"/>
              </a:rPr>
              <a:t>anxiety-like behavior</a:t>
            </a:r>
            <a:r>
              <a:rPr sz="1500" b="0" i="0">
                <a:solidFill>
                  <a:srgbClr val="000000"/>
                </a:solidFill>
                <a:latin typeface="Arial"/>
              </a:rPr>
              <a:t>, operationally defined as increased avoidance of illuminated maze arms and more retreats at dark-light boundaries. Male crayfish were paired for 20 min, then tested individually rather than measuring escape during the fight.</a:t>
            </a:r>
          </a:p>
          <a:p>
            <a:pPr algn="l">
              <a:lnSpc>
                <a:spcPct val="108000"/>
              </a:lnSpc>
              <a:spcAft>
                <a:spcPts val="900"/>
              </a:spcAft>
            </a:pPr>
            <a:r>
              <a:rPr sz="1500" b="0" i="0">
                <a:solidFill>
                  <a:srgbClr val="000000"/>
                </a:solidFill>
                <a:latin typeface="Arial"/>
              </a:rPr>
              <a:t>Losers avoided light more than winners and isolated controls. Continued attacks after defeat predicted avoidance more closely than fight duration. Pretreatment with methysergide, a serotonin antagonist, increased time in light arms from roughly 20% to 40% in subsequent losers while reducing boundary retreats.</a:t>
            </a:r>
          </a:p>
          <a:p>
            <a:pPr algn="l">
              <a:lnSpc>
                <a:spcPct val="108000"/>
              </a:lnSpc>
              <a:spcAft>
                <a:spcPts val="900"/>
              </a:spcAft>
            </a:pPr>
            <a:r>
              <a:rPr sz="1500" b="0" i="0">
                <a:solidFill>
                  <a:srgbClr val="000000"/>
                </a:solidFill>
                <a:latin typeface="Arial"/>
              </a:rPr>
              <a:t>The drug-treated animals could still lose and withdraw, separating later avoidance from the initial decision to retreat. The assay supports a serotonin-associated effect of social stress, but does not identify a giant escape-neuron mechanism or establish a human subjective emotional state from behavior alone.</a:t>
            </a:r>
          </a:p>
        </p:txBody>
      </p:sp>
      <p:pic>
        <p:nvPicPr>
          <p:cNvPr id="4" name="Picture 3" descr="har_f2.png"/>
          <p:cNvPicPr>
            <a:picLocks noChangeAspect="1"/>
          </p:cNvPicPr>
          <p:nvPr/>
        </p:nvPicPr>
        <p:blipFill>
          <a:blip r:embed="rId2"/>
          <a:stretch>
            <a:fillRect/>
          </a:stretch>
        </p:blipFill>
        <p:spPr>
          <a:xfrm>
            <a:off x="6138367" y="1280160"/>
            <a:ext cx="3474720" cy="2612253"/>
          </a:xfrm>
          <a:prstGeom prst="rect">
            <a:avLst/>
          </a:prstGeom>
        </p:spPr>
      </p:pic>
      <p:sp>
        <p:nvSpPr>
          <p:cNvPr id="5" name="Figure caption"/>
          <p:cNvSpPr txBox="1"/>
          <p:nvPr/>
        </p:nvSpPr>
        <p:spPr>
          <a:xfrm>
            <a:off x="6138367" y="3983853"/>
            <a:ext cx="347472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(2017), Fig. 2(A–D). Maze behavior after winning or losing, with anxiolytic treatment.</a:t>
            </a:r>
          </a:p>
        </p:txBody>
      </p:sp>
      <p:pic>
        <p:nvPicPr>
          <p:cNvPr id="6" name="Picture 5" descr="har_f4.png"/>
          <p:cNvPicPr>
            <a:picLocks noChangeAspect="1"/>
          </p:cNvPicPr>
          <p:nvPr/>
        </p:nvPicPr>
        <p:blipFill>
          <a:blip r:embed="rId3"/>
          <a:stretch>
            <a:fillRect/>
          </a:stretch>
        </p:blipFill>
        <p:spPr>
          <a:xfrm>
            <a:off x="10010332" y="2148840"/>
            <a:ext cx="1400068" cy="3383279"/>
          </a:xfrm>
          <a:prstGeom prst="rect">
            <a:avLst/>
          </a:prstGeom>
        </p:spPr>
      </p:pic>
      <p:sp>
        <p:nvSpPr>
          <p:cNvPr id="7" name="Figure caption"/>
          <p:cNvSpPr txBox="1"/>
          <p:nvPr/>
        </p:nvSpPr>
        <p:spPr>
          <a:xfrm>
            <a:off x="9795967" y="5605271"/>
            <a:ext cx="1828800" cy="502920"/>
          </a:xfrm>
          <a:prstGeom prst="rect">
            <a:avLst/>
          </a:prstGeom>
          <a:noFill/>
        </p:spPr>
        <p:txBody>
          <a:bodyPr wrap="square" lIns="0" rIns="0" tIns="0" bIns="0">
            <a:spAutoFit/>
          </a:bodyPr>
          <a:lstStyle/>
          <a:p>
            <a:pPr algn="l">
              <a:lnSpc>
                <a:spcPct val="108000"/>
              </a:lnSpc>
              <a:spcAft>
                <a:spcPts val="0"/>
              </a:spcAft>
            </a:pPr>
            <a:r>
              <a:rPr sz="1000" b="0" i="0">
                <a:solidFill>
                  <a:srgbClr val="000000"/>
                </a:solidFill>
                <a:latin typeface="Arial"/>
              </a:rPr>
              <a:t>Bacqué-Cazenave et al. (2017), Fig. 4(A–C). Serotonin measurements and antagonist effects on avoidance.</a:t>
            </a:r>
          </a:p>
        </p:txBody>
      </p:sp>
      <p:sp>
        <p:nvSpPr>
          <p:cNvPr id="8" name="Rectangle 7"/>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Bacqué-Cazenave et al. (2017)</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44C55"/>
                </a:solidFill>
                <a:latin typeface="Arial"/>
              </a:rPr>
              <a:t>Key takeaways</a:t>
            </a:r>
          </a:p>
        </p:txBody>
      </p:sp>
      <p:sp>
        <p:nvSpPr>
          <p:cNvPr id="3" name="Rectangle 2"/>
          <p:cNvSpPr/>
          <p:nvPr/>
        </p:nvSpPr>
        <p:spPr>
          <a:xfrm>
            <a:off x="566928" y="1234440"/>
            <a:ext cx="5391759" cy="1478279"/>
          </a:xfrm>
          <a:prstGeom prst="rect">
            <a:avLst/>
          </a:prstGeom>
          <a:solidFill>
            <a:srgbClr val="F4F5F6"/>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44C55"/>
                </a:solidFill>
                <a:latin typeface="Arial"/>
              </a:rPr>
              <a:t>Circuit selection:</a:t>
            </a:r>
            <a:r>
              <a:rPr sz="1600" b="0" i="0">
                <a:solidFill>
                  <a:srgbClr val="000000"/>
                </a:solidFill>
                <a:latin typeface="Arial"/>
              </a:rPr>
              <a:t> Dominance changes the balance of attacks, retreats and escape types. Frequent subordinate escape does not imply frequent lateral giant activation.</a:t>
            </a:r>
          </a:p>
        </p:txBody>
      </p:sp>
      <p:sp>
        <p:nvSpPr>
          <p:cNvPr id="5" name="Rectangle 4"/>
          <p:cNvSpPr/>
          <p:nvPr/>
        </p:nvSpPr>
        <p:spPr>
          <a:xfrm>
            <a:off x="6233007" y="1234440"/>
            <a:ext cx="5391759" cy="1478279"/>
          </a:xfrm>
          <a:prstGeom prst="rect">
            <a:avLst/>
          </a:prstGeom>
          <a:solidFill>
            <a:srgbClr val="F4F5F6"/>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444C55"/>
                </a:solidFill>
                <a:latin typeface="Arial"/>
              </a:rPr>
              <a:t>Context and history:</a:t>
            </a:r>
            <a:r>
              <a:rPr sz="1600" b="0" i="0">
                <a:solidFill>
                  <a:srgbClr val="000000"/>
                </a:solidFill>
                <a:latin typeface="Arial"/>
              </a:rPr>
              <a:t> LG excitability during interaction differs from excitability at rest. Serotonin’s effect depends on past rank, current experience and drug-delivery conditions.</a:t>
            </a:r>
          </a:p>
        </p:txBody>
      </p:sp>
      <p:sp>
        <p:nvSpPr>
          <p:cNvPr id="7" name="Rectangle 6"/>
          <p:cNvSpPr/>
          <p:nvPr/>
        </p:nvSpPr>
        <p:spPr>
          <a:xfrm>
            <a:off x="566928" y="2987040"/>
            <a:ext cx="5391759" cy="1478279"/>
          </a:xfrm>
          <a:prstGeom prst="rect">
            <a:avLst/>
          </a:prstGeom>
          <a:solidFill>
            <a:srgbClr val="F4F5F6"/>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44C55"/>
                </a:solidFill>
                <a:latin typeface="Arial"/>
              </a:rPr>
              <a:t>Plasticity over days:</a:t>
            </a:r>
            <a:r>
              <a:rPr sz="1500" b="0" i="0">
                <a:solidFill>
                  <a:srgbClr val="000000"/>
                </a:solidFill>
                <a:latin typeface="Arial"/>
              </a:rPr>
              <a:t> Subordinate serotonin inhibition develops after the initial behavioral decision and can reverse after isolation. Previous dominance can persist in LG modulation after demotion.</a:t>
            </a:r>
          </a:p>
        </p:txBody>
      </p:sp>
      <p:sp>
        <p:nvSpPr>
          <p:cNvPr id="9" name="Rectangle 8"/>
          <p:cNvSpPr/>
          <p:nvPr/>
        </p:nvSpPr>
        <p:spPr>
          <a:xfrm>
            <a:off x="6233007" y="2987040"/>
            <a:ext cx="5391759" cy="1478279"/>
          </a:xfrm>
          <a:prstGeom prst="rect">
            <a:avLst/>
          </a:prstGeom>
          <a:solidFill>
            <a:srgbClr val="F4F5F6"/>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44C55"/>
                </a:solidFill>
                <a:latin typeface="Arial"/>
              </a:rPr>
              <a:t>Synaptic and cellular gain:</a:t>
            </a:r>
            <a:r>
              <a:rPr sz="1500" b="0" i="0">
                <a:solidFill>
                  <a:srgbClr val="000000"/>
                </a:solidFill>
                <a:latin typeface="Arial"/>
              </a:rPr>
              <a:t> Rectifying electrical inputs and membrane conductance contribute to LG responsiveness. cAMP interventions support a postsynaptic facilitatory pathway in the tested preparation.</a:t>
            </a:r>
          </a:p>
        </p:txBody>
      </p:sp>
      <p:sp>
        <p:nvSpPr>
          <p:cNvPr id="11" name="Rectangle 10"/>
          <p:cNvSpPr/>
          <p:nvPr/>
        </p:nvSpPr>
        <p:spPr>
          <a:xfrm>
            <a:off x="566928" y="4739640"/>
            <a:ext cx="5391759" cy="1478279"/>
          </a:xfrm>
          <a:prstGeom prst="rect">
            <a:avLst/>
          </a:prstGeom>
          <a:solidFill>
            <a:srgbClr val="F4F5F6"/>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44C55"/>
                </a:solidFill>
                <a:latin typeface="Arial"/>
              </a:rPr>
              <a:t>Receptor evidence:</a:t>
            </a:r>
            <a:r>
              <a:rPr sz="1500" b="0" i="0">
                <a:solidFill>
                  <a:srgbClr val="000000"/>
                </a:solidFill>
                <a:latin typeface="Arial"/>
              </a:rPr>
              <a:t> Agonist effects, cloned-receptor signaling and immunostaining answer different questions. The mapped type-1 receptor was not detected on LG; its direct role there is unproven.</a:t>
            </a:r>
          </a:p>
        </p:txBody>
      </p:sp>
      <p:sp>
        <p:nvSpPr>
          <p:cNvPr id="13" name="Rectangle 12"/>
          <p:cNvSpPr/>
          <p:nvPr/>
        </p:nvSpPr>
        <p:spPr>
          <a:xfrm>
            <a:off x="6233007" y="4739640"/>
            <a:ext cx="5391759" cy="1478279"/>
          </a:xfrm>
          <a:prstGeom prst="rect">
            <a:avLst/>
          </a:prstGeom>
          <a:solidFill>
            <a:srgbClr val="F4F5F6"/>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44C55"/>
                </a:solidFill>
                <a:latin typeface="Arial"/>
              </a:rPr>
              <a:t>Behavioral specificity:</a:t>
            </a:r>
            <a:r>
              <a:rPr sz="1500" b="0" i="0">
                <a:solidFill>
                  <a:srgbClr val="000000"/>
                </a:solidFill>
                <a:latin typeface="Arial"/>
              </a:rPr>
              <a:t> Fighting persistence, contest success, walking-leg orientation and post-defeat avoidance are distinct outcomes. Serotonin does not impose a single sign across all cells or behaviors.</a:t>
            </a:r>
          </a:p>
        </p:txBody>
      </p:sp>
      <p:sp>
        <p:nvSpPr>
          <p:cNvPr id="15" name="Rectangle 14"/>
          <p:cNvSpPr/>
          <p:nvPr/>
        </p:nvSpPr>
        <p:spPr>
          <a:xfrm>
            <a:off x="566928" y="6382512"/>
            <a:ext cx="11057839" cy="9144"/>
          </a:xfrm>
          <a:prstGeom prst="rect">
            <a:avLst/>
          </a:prstGeom>
          <a:solidFill>
            <a:srgbClr val="D1D6DB"/>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000000"/>
                </a:solidFill>
                <a:latin typeface="Arial"/>
              </a:rPr>
              <a:t>Herberholz et al. (2001); Yeh et al. (1997); Araki et al. (2005); Spitzer et al. (2005, 2008)</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00000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behavior: crayfish dominance and serotonergic modulation of escape</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