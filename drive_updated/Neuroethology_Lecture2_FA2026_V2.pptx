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Wv7UbRyF/28L7Hq1q4+mx8QPm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Fixed action patterns &amp; sign stimuli — Lorenz and Tinbergen's stickleback and graylag goose work</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August 26,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Lorenz &amp; Tinbergen (1938), Fig. 1(a). A graylag goose extending its neck toward an egg outside the nest.</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https://doi.org/10.1111/j.1439-0310.1939.tb01558.x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K. Lorenz; N. Tinbergen (1938). Taxis und Instinkthandlung in der Eirollbewegung der Graugans. I. Zeitschrift für Tierpsychologie 2(1):1–29. Archive edition identifies 1938; Crossref indexes this DOI under 1939. https://doi.org/10.1111/j.1439-0310.1939.tb01558.x</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three-spined stickleback, Gasterosteus aculeatus, changes its social behavior during breeding. A male establishes a territory, builds a nest, attacks competitors, and leads receptive females toward the nest entrance. Tinbergen studied these actions in territorial fish and tested the stimuli that release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releaser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territory is an area defended against intruders. The experiment concerns breeding territorial fish, rather than every possible encounter between sticklebacks.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3. A male threatening its reflection with a unilateral ventral-spine display.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is a restricted feature or combination of features that can release a behavioral response. Tinbergen compared models with red ventral surfaces, called the R series, with neutral-colored models, called the N series. Both series included realistic dead fish and simplified shapes.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printed models are reproduced unchanged; their red surfaces are described in the article but the figure itself is monochrome.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Red-ventral R models and a neutral N model used in stimulus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model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simplified stimulus can be scientifically informative because it preserves a candidate feature while removing other properties of the natural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Contrasting model form and ventral coloration.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described different responses to a red-bellied fish depending on the observer’s territorial position. A male within its own territory attacked a red-bellied model. A male outside its territory could instead retreat from the same conspicuous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comparisons were conducted in occupied territories and in territories whose owners had been removed. Red models elicited attack from owners and deterred entry by neighboring males. Neutral models exerted much less influence in these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identity and behavioral consequence are separate variables. Red coloration can influence more than one action, and territorial position changes which action occurs.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Models used to compare responses to red and neutral ventral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red-bellied R model delayed the neighboring male’s intrusion appreciably. Neutral N models had scarcely any influence. This comparison retained the physical model in the territory while changing the candidate signal, rather than comparing a model with an entirely empty space.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owner-removal procedure changes the social situation. Its interpretation rests on the neighbor’s behavior, not on an assumed response by a fish that was no longer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2. Red and neutral models presented after the territory owner was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threat display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alternated models between this threatening posture and a horizontal swimming position. Threatening models exerted greater influence in both owner-attack and neighbor-intrusion tests, whether their ventral surface was red or neutral.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photographed fish is responding to its mirror image. The accompanying model experiments, rather than the photograph alone, establish the tested effect of posture.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3. Head-down threat posture and ventral-spine display at a mirror.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posture control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wide tube allowed the resident to adopt the threat posture. A narrow tube constrained it to a horizontal position. The neighboring male was more intimidated when the owner could perform the threat movement than when it remained in the constrained neutral posture.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drawing records the experimental constraint. The causal comparison concerns the permitted posture of the same type of territorial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4(A). Horizontal and upright tube conditions used to constrain the territory owner.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Courtship leading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model could release fighting when presented head downward and leading when presented head upward. Dead fish of another species could also be effective when positioned like a receptive female. The manipulated orientation therefore altered the kind of action released.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Leading toward the nest and attacking a rival are different actions. A single experimental object can evoke either action when its presentation is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4(B). Relative postures of the courting male and receptive female.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gravid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distinguishes form relevant to courtship from general resemblance to a fish. A stimulus that is adequate for one action may be inadequate for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5(A–C). A non-stickleback fish model, a normal-abdomen fish, and a swollen-abdomen dummy.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innate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Development under isolation still includes growth and interaction with the physical environment. The claim is limited to the social experience excluded by the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is reproduced directly from Tinbergen’s 1948 article, which reports and reviews the classic stimulus experiments. The DOI identifies its digitized repository record, not an original journal DOI.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(1948), Fig. 4(B). Courtship postures associated with the stimulus tests on an isolated male.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https://doi.org/10.5281/zenodo.16185673</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fixed action pattern is a relatively stereotyped movement sequence released under appropriate stimulus and internal conditions. Lorenz and Tinbergen investigated egg retrieval in nesting graylag geese, Anser anser, including birds with domestic-goose ancestry and checks on wild-type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goose extended its neck toward an egg outside the nest, contacted it with the bill, reached over its far side, and drew the head and neck inward. The egg was pushed toward the nest while side-to-side corrections prevented it from slipping away.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photographs preserve the original movement phases. A repeatable sequence and adaptive corrections can coexist within one functionally integrated 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1(a–f). Photographic sequence of orientation, contact, inward rolling, and lateral corrections.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Appetitive behavior is activity that brings an animal into a situation in which a more specific action can occur. The goose approached cautiously and initially tried to reach the egg while remaining close to the nest. Contact with the egg followed this visually directed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delay is an observation of behavior, not a direct measurement of a neural threshold. The paper provides no universal latency for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1(a–b). Neck extension followed by initial contact with the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Tactile information is sensory information obtained through contact. The observations support successive visual and tactile contributions to response selection. They do not identify the receptor cells that detect hardness or the neurons that choose between rolling, rejection, and feeding.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sign stimulus may be a combination encountered over time. Initial attraction to an object does not prove that the entire ensuing action has already been selected.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1(a–b). Visual orientation followed by a bill-contact test.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could begin to roll an object and then change its behavior when an exposed rim or protruding attachment became available. Lorenz and Tinbergen presented an open wooden cube, a wooden toy with attached features, and a cardboard egg with paper fringes around its seam.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was rolled until its opening faced upward, after which the bird nibbled the exposed rim. Small attachments on the toy and fringes on the cardboard egg also elicited nibbling. Ordinary right-angled edges of a closed cube did not necessarily interrupt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response switch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rim associated with an otherwise egg-like object was effective. The paper does not claim that every edge encountered anywhere releases the same nibbling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3. A goose nibbling the exposed edges of an artificial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Object acceptance is measured behaviorally. Mechanical inability to move an object and failure to accept it as a stimulus are different explanations for an unsuccessful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Retrieval of a light wooden cube rather than a natural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sagittal plane divides the body into left and right portions. During retrieval, the goose’s inward head-and-neck movement occurred approximately in this midline plane. Lateral movements shifted the bill from side to side as the egg threatened to leave its supporting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taxis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concerns how components depend on sensory input. It does not require that the components operate independently in the intact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1(e–f). Lateral bill corrections that maintain the egg beneath the bill.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an egg slipped from the bill, the inward head-and-neck movement could continue even though the object was no longer being transported. Lorenz and Tinbergen also recorded empty continuation after an oversized artificial egg escaped suddenly from between bill and breast.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lateral balancing movements disappeared when there was no object to stabilize. The head instead continued along approximately the body’s midline. Thus, removing the transported object changed one component of the response while sparing another for the remaining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Open-loop execution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Continuation without the object is evidence about execution. It does not imply that initiation occurs without an appropriate stimulus or internal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4(c–d). Escape of an oversized object followed by continued empty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confound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image is the original natural-retrieval reference, not a picture of the cylinder apparatus. The cylinder trial and its limitations are described in the article’s 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1(e–f). The natural lateral corrections whose dependence was tested with substitute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used a small light wooden cube as a more stable substitute for an egg. Unlike an egg, it remained on the substrate without preferential sideways rolling. It could also rest on a broad face against the two sides of the lower bill.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pushed the cube directly toward the nest without the ordinary side-to-side balancing movements. The inward retrieval component remained available while the unstable object trajectory that normally elicited lateral correction was removed.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a component-removal test: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cube changed the mechanical demand for balancing. The retained inward movement and absent lateral corrections are the relevant contrasting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A light cube pushed toward the nest without ordinary lateral balancing.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Motor flexibility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experimental problem was the relation between body movement and object dimensions. Attraction to the object and successful transport were measured as separate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4(a–b). Initial contact and jamming during retrieval of an oversized cardboard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goose’s head subsequently reached the clutch, where the bird moved the eggs and settled. The artificial egg remained outside the nest. Completion of the recurring movement therefore did not imply that the intended external result had been achieved.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motor sequence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 time conversion is inferred from the film frames. The article’s observations concern movement persistence and the object’s location after the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4(c–d). Sudden object escape and subsequent empty inward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Muscle tone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 documents the light-object condition. The distinction between measured behavior and an unmeasured muscle mechanism prevents assigning stronger physiological conclusions to the result.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5. A light cube whose transport was compared with heavier substitutes.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experimental nest materials and egg placement mattered to performance. Success in a normal configuration cannot be assumed for every artificial arrangement.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1(c–d). Inward rolling toward the nest and lifting of the transported egg.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Response-specific fatigue describes a reduction in the availability of a particular action after repeated performance. The authors distinguished this from loss of responsiveness to the object. Eggs were presented more frequently than they would normally leave the nest under natural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term fatigue refers to the action’s reduced availability in this experiment. It is not evidence that the entire animal was physically exhausted.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6(a–c). Orientation and an alternative nest-material movement after repeated retrieval.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displacement action is an action appearing in a context where its ordinary function does not fit the immediate situation. The nest-material movement did not reliably transport the egg as the normal inward rolling movement would. The visible stimulus remained effective in attracting attention.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photographic sequence documents the alternative movement. Claims about frustration or the goose’s intentions are interpretations, rather than directly measured properties of the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6(a–c). Neck extension followed by the nest-material placing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selectivity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photographed avoidance belongs to the changed-response observations. The evidence for increased selectivity includes preserved retrieval of real goose eggs and rejection of formerly accepted substitutes.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6(d–e). Avoidance of an artificial egg after changes in response readiness.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and Tinbergen observed destructive nibbling when externally incubated, beginning-to-hatch eggs were placed under their experimental goose. The exposed shell margins elicited vigorous biting. The investigators removed these eggs before the chicks were harmed further.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Two days later, when the goose’s own chicks began to hatch, the response to exposed shell margins had disappeared. The bird attended to and gently contacted the hatching eggs without the earlier biting, even when openings were presented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State-dependent response selection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photograph records the earlier edge-nibbling action. The later response change is reported in the text; no invented diagram or substitute photograph represents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Lorenz &amp; Tinbergen (1938), Fig. 3. Edge nibbling, the response that changed near hatching.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https://doi.org/10.1111/j.1439-0310.1939.tb01558.x</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neural circuit is a connected set of neurons whose activity contributes to processing information or producing behavior. The classic stimulus experiments identified behavioral relationships, but did not record the circuits that respond to red coloration, posture, or egg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 anatomy provides access to experimental targets. It does not by itself establish which neurons mediate the response to a particular stimulus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2(A–C). Brain visibility through the skull and dissected dorsal brain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photograph is the authors’ apparatus figure, reproduced directly. The delivery method supports an experiment on behavior rather than constituting evidence of an identified aggression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1. The published surgical rig for supported brain injections.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Histology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Viral-mediated transgenesis uses a viral vector to deliver a gene construct into cells. The replication-deficient vector carried a chosen payload and promoter. Fluorescence was absent in saline-injected controls, distinguishing reporter expression from the untreated tissue’s background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Fluorescence labels expression rather than neuronal firing. A successful tissue-delivery measurement and a functional circuit measurement are different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3(A–B). Restricted expression after one injection and broader expression after delivery at multiple depths.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promoter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Expression timing was verified independently of the behavioral trials. The study did not use fluorescence intensity as a direct reading of aggression.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3(E–G). Fluorescent expression at two, three, and four weeks; scale bars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neuropeptide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receptor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Ectopic expression means expression in locations where it would not ordinarily occur. The authors explicitly discuss this limitation for their broad peptide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3(C–D). Transfected cells in the diencephalon with fluorescence and scale bars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injected exogenous vasotocin directly into the brain and compared recovery with saline-injected controls. Exogenous means supplied experimentally from outside the organism. Respiration was measured as opercular movements, the movements of the gill covers associated with breathing.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physiological outcome is measured breathing, not a recording of neuronal discharge. The plotted respiration count corresponds to a 20-second observation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7. Respiration following vasotocin versus saline injection, with time axes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tested territorial aggression before and after delivery of the AVP construct. A charge was a lunge directed toward a smaller male intruder confined in a glass flask. The investigators counted responses during five minutes after the focal male first oriented toward the intruder.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numbers are average counts over the five-minute trials, averaged across the two observations in each condition. They are not rates recorded continuously over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8. Paired baseline and post-transfection charge counts for EYFP, AVP, and MAOA.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Monoamine oxidase is an enzyme that metabolizes several monoamine neurotransmitters, including serotonin, dopamine, and norepinephrine. A neurotransmitter is a chemical signal used in communication involving neurons. Enzymatic metabolism can change how much active transmitter remains available for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 verifies transfected cells rather than depicting enzyme chemistry. No new biochemical pathway diagram has been created.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3(C–D). Transfected brain cells, the tissue context for candidate-gene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found that MAOA-transfected fish increased their mean territorial charges from 12.1 to 19.1 during the five-minute test. Individual changes varied more than in the AVP group. The increase was assessed relative to the same fish’s baseline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ion channel is a membrane protein through which ions move. The experiment did not record channel currents or determine which channels participate in this behavioral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9. Paired respiration measurements in opercular beats per 20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within-individual comparison assesses change in the same animal across experimental conditions. James and Bell measured each focal male twice before injection and twice after expression. Nearly every fish faced the same intruder throughout these four territorial challenges.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Baseline trials occurred before delivery and the later trials during the verified expression window. The published timeline is reproduced rather than reconstructed from the reported dates.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4. The authors’ baseline, injection, and post-transfection trial timeline.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time course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plotted physiological recovery concerns hours, whereas the behavioral gene-manipulation window concerns days. The two scales must not be treated as interchangeable.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5. Respiration during recovery after direct brain injection.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design tests molecular consequences of a brief social encounter under controlled conditions. It does not measure the neurons that initially detect an intruder. The first molecular sample was collected long after the immediate behavioral response could begin.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clock starts at flask introduction, not at removal five minutes later. Empty-flask controls retain handling and presentation while excluding the confined conspecific.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Gene expression includes production of RNA from DNA. Bukhari and colleagues compared transcript abundance after an intruder presentation with abundance after an empty-flask control. The number and direction of changed transcripts varied across the 30-, 60-, and 120-minute samples.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Up-regulation and down-regulation are comparisons with the matched control condition. A transcript’s abundance and a neuron’s electrical output are different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2(B,D). Temporal expression patterns and functional associations of telencephalic gene clusters.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analyzed the telencephalon and diencephalon separately rather than pooling the entire brain. Transcript responses in the two regions were strongly aligned at 30 and 60 minutes. The later sample contained a subset with opposite response directions.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Regional specificity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scatterplots compare the two tissue regions at corresponding times. Their associations are not anatomical connections or recordings of synaptic transmission.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1(F). Opposite-direction transcript responses between regions at 120 minutes.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transcription factor is a protein that influences transcription by interacting with regulatory DNA and other components of gene control. Bukhari and colleagues inferred a transcriptional regulatory network and compared predicted targets with groups of genes sharing temporal response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Some candidate regulators and their proposed targets changed in similar sequences across 30, 60, and 120 minutes. For example, the expression of irf8 and cebpb tracked groups with little early change, reduced expression at 60 minutes, and increased expression at 120 minutes.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network is reproduced unchanged. Its nodes concern gene regulation; they must not be interpreted as neurons or as measured synaptic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3. The published inferred network of transcription factors and gene clusters.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Chromatin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compared 30- and 120-minute samples and found stronger later changes near many genes. At the Pparg locus, increased regulatory marking at 120 minutes accompanied increased transcript abundance. Other loci had distinct temporal patterns rather than one common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locus tracks preserve time labels, genomic context, and comparison conditions. No tracks have been re-plotted or reconstructed.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4(D). Published chromatin-mark tracks near the Pparg locus.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Memory formation and changed future behavior remain proposed consequences in this study. The tested outcomes were molecular responses to the controlled challenge.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Bukhari et al. (2017), Fig. 2(B,D). Telencephalic temporal gene-expression patterns and functional associations.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https://doi.org/10.1371/journal.pgen.1006840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James &amp; Bell (2021), Fig. 2(C). Dorsal brain anatomy; original scale bar 2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https://doi.org/10.1371/journal.pone.0251653</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Sign stimuli are selective cues. Restricted features can release particular actions, but their effects depend on posture, territorial context, reproductive condition, and the response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Fixed patterns and feedback coexist. Goose retrieval combines a stereotyped inward movement with lateral corrections dependent on contact and the object’s deviations.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Continuation is not successful retrieval. The inward movement can persist after object loss; completion of a motor sequence does not prove that the egg reached the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 and experience alter release. Repeated retrieval reduces execution readiness, experience narrows object acceptance, and response selection changes near hatching.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Interventions require matched controls. Candidate-gene delivery changes aggression within individuals, but broad expression and overlapping final scores limit localization and generalization.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Molecular responses have distinct time scales. A five-minute challenge changes RNA and chromatin-associated marks over 30–120 minutes; these measurements do not directly establish a release circuit or memory.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(1948). Social Releasers and the Experimental Method Required for Their Study. The Wilson Bulletin 60(1):6–51. Digitized article; repository DOI. https://doi.org/10.5281/zenodo.16185673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Lorenz; N. Tinbergen (1938). Taxis und Instinkthandlung in der Eirollbewegung der Graugans. I. Zeitschrift für Tierpsychologie 2(1):1–29. Archive edition identifies 1938; Crossref indexes this DOI under 1939. https://doi.org/10.1111/j.1439-0310.1939.tb01558.x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James; A. Bell (2021). Minimally invasive brain injections for viral-mediated transgenesis: New tools for behavioral genetics in sticklebacks. PLOS ONE 16(5):e0251653. https://doi.org/10.1371/journal.pone.0251653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2F4A6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71500" y="167163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CCBDD"/>
              </a:buClr>
              <a:buSzPts val="1350"/>
              <a:buFont typeface="Arial"/>
              <a:buNone/>
            </a:pPr>
            <a:r>
              <a:rPr b="0" i="0" lang="en-US" sz="1350">
                <a:solidFill>
                  <a:srgbClr val="BCCBDD"/>
                </a:solidFill>
                <a:latin typeface="Arial"/>
                <a:ea typeface="Arial"/>
                <a:cs typeface="Arial"/>
                <a:sym typeface="Arial"/>
              </a:rPr>
              <a:t>NEUR 411 · NEUROETHOLOGY · FALL 2026 · Lecture 2</a:t>
            </a:r>
            <a:endParaRPr sz="1800">
              <a:solidFill>
                <a:schemeClr val="dk1"/>
              </a:solidFill>
              <a:latin typeface="Calibri"/>
              <a:ea typeface="Calibri"/>
              <a:cs typeface="Calibri"/>
              <a:sym typeface="Calibri"/>
            </a:endParaRPr>
          </a:p>
        </p:txBody>
      </p:sp>
      <p:sp>
        <p:nvSpPr>
          <p:cNvPr id="21" name="Google Shape;21;p1"/>
          <p:cNvSpPr/>
          <p:nvPr/>
        </p:nvSpPr>
        <p:spPr>
          <a:xfrm>
            <a:off x="571500" y="2214563"/>
            <a:ext cx="4972050" cy="18288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3000"/>
              <a:buFont typeface="Arial"/>
              <a:buNone/>
            </a:pPr>
            <a:r>
              <a:rPr b="1" i="0" lang="en-US" sz="3000">
                <a:solidFill>
                  <a:srgbClr val="FFFFFF"/>
                </a:solidFill>
                <a:latin typeface="Arial"/>
                <a:ea typeface="Arial"/>
                <a:cs typeface="Arial"/>
                <a:sym typeface="Arial"/>
              </a:rPr>
              <a:t>Fixed action patterns &amp; sign stimuli — Lorenz and Tinbergen's stickleback and graylag goose work</a:t>
            </a:r>
            <a:endParaRPr sz="1800">
              <a:solidFill>
                <a:schemeClr val="dk1"/>
              </a:solidFill>
              <a:latin typeface="Calibri"/>
              <a:ea typeface="Calibri"/>
              <a:cs typeface="Calibri"/>
              <a:sym typeface="Calibri"/>
            </a:endParaRPr>
          </a:p>
        </p:txBody>
      </p:sp>
      <p:sp>
        <p:nvSpPr>
          <p:cNvPr id="22" name="Google Shape;22;p1"/>
          <p:cNvSpPr/>
          <p:nvPr/>
        </p:nvSpPr>
        <p:spPr>
          <a:xfrm>
            <a:off x="571500" y="43862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CCBDD"/>
              </a:buClr>
              <a:buSzPts val="1650"/>
              <a:buFont typeface="Arial"/>
              <a:buNone/>
            </a:pPr>
            <a:r>
              <a:rPr b="0" i="0" lang="en-US" sz="1650">
                <a:solidFill>
                  <a:srgbClr val="BCCBDD"/>
                </a:solidFill>
                <a:latin typeface="Arial"/>
                <a:ea typeface="Arial"/>
                <a:cs typeface="Arial"/>
                <a:sym typeface="Arial"/>
              </a:rPr>
              <a:t>Wednesday, August 26, 2026</a:t>
            </a:r>
            <a:endParaRPr sz="1800">
              <a:solidFill>
                <a:schemeClr val="dk1"/>
              </a:solidFill>
              <a:latin typeface="Calibri"/>
              <a:ea typeface="Calibri"/>
              <a:cs typeface="Calibri"/>
              <a:sym typeface="Calibri"/>
            </a:endParaRPr>
          </a:p>
        </p:txBody>
      </p:sp>
      <p:sp>
        <p:nvSpPr>
          <p:cNvPr id="23" name="Google Shape;23;p1"/>
          <p:cNvSpPr/>
          <p:nvPr/>
        </p:nvSpPr>
        <p:spPr>
          <a:xfrm>
            <a:off x="571500" y="49291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350"/>
              <a:buFont typeface="Arial"/>
              <a:buNone/>
            </a:pPr>
            <a:r>
              <a:rPr b="0" i="0" lang="en-US" sz="1350">
                <a:solidFill>
                  <a:srgbClr val="FFFFFF"/>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1273139"/>
            <a:ext cx="5238750" cy="3606871"/>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 A graylag goose extending its neck toward an egg outside the nest.</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Breeding sticklebacks defend a nest territory</a:t>
            </a:r>
            <a:endParaRPr sz="1800">
              <a:solidFill>
                <a:schemeClr val="dk1"/>
              </a:solidFill>
              <a:latin typeface="Calibri"/>
              <a:ea typeface="Calibri"/>
              <a:cs typeface="Calibri"/>
              <a:sym typeface="Calibri"/>
            </a:endParaRPr>
          </a:p>
        </p:txBody>
      </p:sp>
      <p:sp>
        <p:nvSpPr>
          <p:cNvPr id="31" name="Google Shape;31;p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three-spined stickleback, </a:t>
            </a:r>
            <a:r>
              <a:rPr b="0" i="1" lang="en-US" sz="1500">
                <a:solidFill>
                  <a:srgbClr val="222831"/>
                </a:solidFill>
                <a:latin typeface="Arial"/>
                <a:ea typeface="Arial"/>
                <a:cs typeface="Arial"/>
                <a:sym typeface="Arial"/>
              </a:rPr>
              <a:t>Gasterosteus aculeatus</a:t>
            </a:r>
            <a:r>
              <a:rPr b="0" i="0" lang="en-US" sz="1500">
                <a:solidFill>
                  <a:srgbClr val="222831"/>
                </a:solidFill>
                <a:latin typeface="Arial"/>
                <a:ea typeface="Arial"/>
                <a:cs typeface="Arial"/>
                <a:sym typeface="Arial"/>
              </a:rPr>
              <a:t>, changes its social behavior during breeding. A male establishes a territory, builds a nest, attacks competitors, and leads receptive females toward the nest entrance. Tinbergen studied these actions in territorial fish and tested the stimuli that release them.</a:t>
            </a:r>
            <a:endParaRPr sz="1800">
              <a:solidFill>
                <a:schemeClr val="dk1"/>
              </a:solidFill>
              <a:latin typeface="Calibri"/>
              <a:ea typeface="Calibri"/>
              <a:cs typeface="Calibri"/>
              <a:sym typeface="Calibri"/>
            </a:endParaRPr>
          </a:p>
        </p:txBody>
      </p:sp>
      <p:sp>
        <p:nvSpPr>
          <p:cNvPr id="32" name="Google Shape;32;p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releaser</a:t>
            </a:r>
            <a:r>
              <a:rPr b="0" i="0" lang="en-US" sz="1500">
                <a:solidFill>
                  <a:srgbClr val="222831"/>
                </a:solidFill>
                <a:latin typeface="Arial"/>
                <a:ea typeface="Arial"/>
                <a:cs typeface="Arial"/>
                <a:sym typeface="Arial"/>
              </a:rPr>
              <a:t>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endParaRPr sz="1800">
              <a:solidFill>
                <a:schemeClr val="dk1"/>
              </a:solidFill>
              <a:latin typeface="Calibri"/>
              <a:ea typeface="Calibri"/>
              <a:cs typeface="Calibri"/>
              <a:sym typeface="Calibri"/>
            </a:endParaRPr>
          </a:p>
        </p:txBody>
      </p:sp>
      <p:sp>
        <p:nvSpPr>
          <p:cNvPr id="33" name="Google Shape;33;p2"/>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endParaRPr sz="1800">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7467134" y="1055340"/>
            <a:ext cx="3334683"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3. A male threatening its reflection with a unilateral ventral-spine display.</a:t>
            </a:r>
            <a:endParaRPr sz="1800">
              <a:solidFill>
                <a:schemeClr val="dk1"/>
              </a:solidFill>
              <a:latin typeface="Calibri"/>
              <a:ea typeface="Calibri"/>
              <a:cs typeface="Calibri"/>
              <a:sym typeface="Calibri"/>
            </a:endParaRPr>
          </a:p>
        </p:txBody>
      </p:sp>
      <p:sp>
        <p:nvSpPr>
          <p:cNvPr id="36" name="Google Shape;36;p2"/>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sign stimulus can outweigh realistic body form</a:t>
            </a:r>
            <a:endParaRPr sz="1800">
              <a:solidFill>
                <a:schemeClr val="dk1"/>
              </a:solidFill>
              <a:latin typeface="Calibri"/>
              <a:ea typeface="Calibri"/>
              <a:cs typeface="Calibri"/>
              <a:sym typeface="Calibri"/>
            </a:endParaRPr>
          </a:p>
        </p:txBody>
      </p:sp>
      <p:sp>
        <p:nvSpPr>
          <p:cNvPr id="43" name="Google Shape;43;p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sign stimulus</a:t>
            </a:r>
            <a:r>
              <a:rPr b="0" i="0" lang="en-US" sz="1500">
                <a:solidFill>
                  <a:srgbClr val="222831"/>
                </a:solidFill>
                <a:latin typeface="Arial"/>
                <a:ea typeface="Arial"/>
                <a:cs typeface="Arial"/>
                <a:sym typeface="Arial"/>
              </a:rPr>
              <a:t> is a restricted feature or combination of features that can release a behavioral response. Tinbergen compared models with red ventral surfaces, called the R series, with neutral-colored models, called the N series. Both series included realistic dead fish and simplified shapes.</a:t>
            </a:r>
            <a:endParaRPr sz="1800">
              <a:solidFill>
                <a:schemeClr val="dk1"/>
              </a:solidFill>
              <a:latin typeface="Calibri"/>
              <a:ea typeface="Calibri"/>
              <a:cs typeface="Calibri"/>
              <a:sym typeface="Calibri"/>
            </a:endParaRPr>
          </a:p>
        </p:txBody>
      </p:sp>
      <p:sp>
        <p:nvSpPr>
          <p:cNvPr id="44" name="Google Shape;44;p3"/>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endParaRPr sz="1800">
              <a:solidFill>
                <a:schemeClr val="dk1"/>
              </a:solidFill>
              <a:latin typeface="Calibri"/>
              <a:ea typeface="Calibri"/>
              <a:cs typeface="Calibri"/>
              <a:sym typeface="Calibri"/>
            </a:endParaRPr>
          </a:p>
        </p:txBody>
      </p:sp>
      <p:sp>
        <p:nvSpPr>
          <p:cNvPr id="45" name="Google Shape;45;p3"/>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endParaRPr sz="1800">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47" name="Google Shape;47;p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Red-ventral R models and a neutral N model used in stimulus tests.</a:t>
            </a:r>
            <a:endParaRPr sz="1800">
              <a:solidFill>
                <a:schemeClr val="dk1"/>
              </a:solidFill>
              <a:latin typeface="Calibri"/>
              <a:ea typeface="Calibri"/>
              <a:cs typeface="Calibri"/>
              <a:sym typeface="Calibri"/>
            </a:endParaRPr>
          </a:p>
        </p:txBody>
      </p:sp>
      <p:sp>
        <p:nvSpPr>
          <p:cNvPr id="48" name="Google Shape;48;p3"/>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Stimulus models separate features from whole animals</a:t>
            </a:r>
            <a:endParaRPr sz="1800">
              <a:solidFill>
                <a:schemeClr val="dk1"/>
              </a:solidFill>
              <a:latin typeface="Calibri"/>
              <a:ea typeface="Calibri"/>
              <a:cs typeface="Calibri"/>
              <a:sym typeface="Calibri"/>
            </a:endParaRPr>
          </a:p>
        </p:txBody>
      </p:sp>
      <p:sp>
        <p:nvSpPr>
          <p:cNvPr id="55" name="Google Shape;55;p4"/>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stimulus model</a:t>
            </a:r>
            <a:r>
              <a:rPr b="0" i="0" lang="en-US" sz="1500">
                <a:solidFill>
                  <a:srgbClr val="222831"/>
                </a:solidFill>
                <a:latin typeface="Arial"/>
                <a:ea typeface="Arial"/>
                <a:cs typeface="Arial"/>
                <a:sym typeface="Arial"/>
              </a:rPr>
              <a:t>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endParaRPr sz="1800">
              <a:solidFill>
                <a:schemeClr val="dk1"/>
              </a:solidFill>
              <a:latin typeface="Calibri"/>
              <a:ea typeface="Calibri"/>
              <a:cs typeface="Calibri"/>
              <a:sym typeface="Calibri"/>
            </a:endParaRPr>
          </a:p>
        </p:txBody>
      </p:sp>
      <p:sp>
        <p:nvSpPr>
          <p:cNvPr id="56" name="Google Shape;56;p4"/>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endParaRPr sz="1800">
              <a:solidFill>
                <a:schemeClr val="dk1"/>
              </a:solidFill>
              <a:latin typeface="Calibri"/>
              <a:ea typeface="Calibri"/>
              <a:cs typeface="Calibri"/>
              <a:sym typeface="Calibri"/>
            </a:endParaRPr>
          </a:p>
        </p:txBody>
      </p:sp>
      <p:sp>
        <p:nvSpPr>
          <p:cNvPr id="57" name="Google Shape;57;p4"/>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endParaRPr sz="1800">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59" name="Google Shape;59;p4"/>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Contrasting model form and ventral coloration.</a:t>
            </a:r>
            <a:endParaRPr sz="1800">
              <a:solidFill>
                <a:schemeClr val="dk1"/>
              </a:solidFill>
              <a:latin typeface="Calibri"/>
              <a:ea typeface="Calibri"/>
              <a:cs typeface="Calibri"/>
              <a:sym typeface="Calibri"/>
            </a:endParaRPr>
          </a:p>
        </p:txBody>
      </p:sp>
      <p:sp>
        <p:nvSpPr>
          <p:cNvPr id="60" name="Google Shape;60;p4"/>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The same red feature has context-dependent effects</a:t>
            </a:r>
            <a:endParaRPr sz="1800">
              <a:solidFill>
                <a:schemeClr val="dk1"/>
              </a:solidFill>
              <a:latin typeface="Calibri"/>
              <a:ea typeface="Calibri"/>
              <a:cs typeface="Calibri"/>
              <a:sym typeface="Calibri"/>
            </a:endParaRPr>
          </a:p>
        </p:txBody>
      </p:sp>
      <p:sp>
        <p:nvSpPr>
          <p:cNvPr id="67" name="Google Shape;67;p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described different responses to a red-bellied fish depending on the observer’s territorial position. A male within its own territory attacked a red-bellied model. A male outside its territory could instead retreat from the same conspicuous feature.</a:t>
            </a:r>
            <a:endParaRPr sz="1800">
              <a:solidFill>
                <a:schemeClr val="dk1"/>
              </a:solidFill>
              <a:latin typeface="Calibri"/>
              <a:ea typeface="Calibri"/>
              <a:cs typeface="Calibri"/>
              <a:sym typeface="Calibri"/>
            </a:endParaRPr>
          </a:p>
        </p:txBody>
      </p:sp>
      <p:sp>
        <p:nvSpPr>
          <p:cNvPr id="68" name="Google Shape;68;p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model comparisons were conducted in occupied territories and in territories whose owners had been removed. Red models elicited attack from owners and deterred entry by neighboring males. Neutral models exerted much less influence in these tests.</a:t>
            </a:r>
            <a:endParaRPr sz="1800">
              <a:solidFill>
                <a:schemeClr val="dk1"/>
              </a:solidFill>
              <a:latin typeface="Calibri"/>
              <a:ea typeface="Calibri"/>
              <a:cs typeface="Calibri"/>
              <a:sym typeface="Calibri"/>
            </a:endParaRPr>
          </a:p>
        </p:txBody>
      </p:sp>
      <p:sp>
        <p:nvSpPr>
          <p:cNvPr id="69" name="Google Shape;69;p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endParaRPr sz="1800">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Models used to compare responses to red and neutral ventral surfaces.</a:t>
            </a:r>
            <a:endParaRPr sz="1800">
              <a:solidFill>
                <a:schemeClr val="dk1"/>
              </a:solidFill>
              <a:latin typeface="Calibri"/>
              <a:ea typeface="Calibri"/>
              <a:cs typeface="Calibri"/>
              <a:sym typeface="Calibri"/>
            </a:endParaRPr>
          </a:p>
        </p:txBody>
      </p:sp>
      <p:sp>
        <p:nvSpPr>
          <p:cNvPr id="72" name="Google Shape;72;p5"/>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Red models discourage entry into a vacant territory</a:t>
            </a:r>
            <a:endParaRPr sz="1800">
              <a:solidFill>
                <a:schemeClr val="dk1"/>
              </a:solidFill>
              <a:latin typeface="Calibri"/>
              <a:ea typeface="Calibri"/>
              <a:cs typeface="Calibri"/>
              <a:sym typeface="Calibri"/>
            </a:endParaRPr>
          </a:p>
        </p:txBody>
      </p:sp>
      <p:sp>
        <p:nvSpPr>
          <p:cNvPr id="79" name="Google Shape;79;p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endParaRPr sz="1800">
              <a:solidFill>
                <a:schemeClr val="dk1"/>
              </a:solidFill>
              <a:latin typeface="Calibri"/>
              <a:ea typeface="Calibri"/>
              <a:cs typeface="Calibri"/>
              <a:sym typeface="Calibri"/>
            </a:endParaRPr>
          </a:p>
        </p:txBody>
      </p:sp>
      <p:sp>
        <p:nvSpPr>
          <p:cNvPr id="80" name="Google Shape;80;p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red-bellied R model delayed the neighboring male’s intrusion appreciably. Neutral N models had scarcely any influence. This comparison retained the physical model in the territory while changing the candidate signal, rather than comparing a model with an entirely empty space.</a:t>
            </a:r>
            <a:endParaRPr sz="1800">
              <a:solidFill>
                <a:schemeClr val="dk1"/>
              </a:solidFill>
              <a:latin typeface="Calibri"/>
              <a:ea typeface="Calibri"/>
              <a:cs typeface="Calibri"/>
              <a:sym typeface="Calibri"/>
            </a:endParaRPr>
          </a:p>
        </p:txBody>
      </p:sp>
      <p:sp>
        <p:nvSpPr>
          <p:cNvPr id="81" name="Google Shape;81;p6"/>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endParaRPr sz="1800">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6610350" y="2162206"/>
            <a:ext cx="5048250" cy="1786768"/>
          </a:xfrm>
          <a:prstGeom prst="rect">
            <a:avLst/>
          </a:prstGeom>
          <a:noFill/>
          <a:ln>
            <a:noFill/>
          </a:ln>
        </p:spPr>
      </p:pic>
      <p:sp>
        <p:nvSpPr>
          <p:cNvPr id="83" name="Google Shape;83;p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2. Red and neutral models presented after the territory owner was removed.</a:t>
            </a:r>
            <a:endParaRPr sz="1800">
              <a:solidFill>
                <a:schemeClr val="dk1"/>
              </a:solidFill>
              <a:latin typeface="Calibri"/>
              <a:ea typeface="Calibri"/>
              <a:cs typeface="Calibri"/>
              <a:sym typeface="Calibri"/>
            </a:endParaRPr>
          </a:p>
        </p:txBody>
      </p:sp>
      <p:sp>
        <p:nvSpPr>
          <p:cNvPr id="84" name="Google Shape;84;p6"/>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85" name="Google Shape;85;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Threat posture contributes beyond belly coloration</a:t>
            </a:r>
            <a:endParaRPr sz="1800">
              <a:solidFill>
                <a:schemeClr val="dk1"/>
              </a:solidFill>
              <a:latin typeface="Calibri"/>
              <a:ea typeface="Calibri"/>
              <a:cs typeface="Calibri"/>
              <a:sym typeface="Calibri"/>
            </a:endParaRPr>
          </a:p>
        </p:txBody>
      </p:sp>
      <p:sp>
        <p:nvSpPr>
          <p:cNvPr id="91" name="Google Shape;91;p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threat display</a:t>
            </a:r>
            <a:r>
              <a:rPr b="0" i="0" lang="en-US" sz="1500">
                <a:solidFill>
                  <a:srgbClr val="222831"/>
                </a:solidFill>
                <a:latin typeface="Arial"/>
                <a:ea typeface="Arial"/>
                <a:cs typeface="Arial"/>
                <a:sym typeface="Arial"/>
              </a:rPr>
              <a:t>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endParaRPr sz="1800">
              <a:solidFill>
                <a:schemeClr val="dk1"/>
              </a:solidFill>
              <a:latin typeface="Calibri"/>
              <a:ea typeface="Calibri"/>
              <a:cs typeface="Calibri"/>
              <a:sym typeface="Calibri"/>
            </a:endParaRPr>
          </a:p>
        </p:txBody>
      </p:sp>
      <p:sp>
        <p:nvSpPr>
          <p:cNvPr id="92" name="Google Shape;92;p7"/>
          <p:cNvSpPr/>
          <p:nvPr/>
        </p:nvSpPr>
        <p:spPr>
          <a:xfrm>
            <a:off x="457200" y="27698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alternated models between this threatening posture and a horizontal swimming position. Threatening models exerted greater influence in both owner-attack and neighbor-intrusion tests, whether their ventral surface was red or neutral.</a:t>
            </a:r>
            <a:endParaRPr sz="1800">
              <a:solidFill>
                <a:schemeClr val="dk1"/>
              </a:solidFill>
              <a:latin typeface="Calibri"/>
              <a:ea typeface="Calibri"/>
              <a:cs typeface="Calibri"/>
              <a:sym typeface="Calibri"/>
            </a:endParaRPr>
          </a:p>
        </p:txBody>
      </p:sp>
      <p:sp>
        <p:nvSpPr>
          <p:cNvPr id="93" name="Google Shape;93;p7"/>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endParaRPr sz="1800">
              <a:solidFill>
                <a:schemeClr val="dk1"/>
              </a:solidFill>
              <a:latin typeface="Calibri"/>
              <a:ea typeface="Calibri"/>
              <a:cs typeface="Calibri"/>
              <a:sym typeface="Calibri"/>
            </a:endParaRPr>
          </a:p>
        </p:txBody>
      </p:sp>
      <p:pic>
        <p:nvPicPr>
          <p:cNvPr id="94" name="Google Shape;94;p7"/>
          <p:cNvPicPr preferRelativeResize="0"/>
          <p:nvPr/>
        </p:nvPicPr>
        <p:blipFill rotWithShape="1">
          <a:blip r:embed="rId3">
            <a:alphaModFix/>
          </a:blip>
          <a:srcRect b="0" l="0" r="0" t="0"/>
          <a:stretch/>
        </p:blipFill>
        <p:spPr>
          <a:xfrm>
            <a:off x="7467134" y="1055340"/>
            <a:ext cx="3334683" cy="4000500"/>
          </a:xfrm>
          <a:prstGeom prst="rect">
            <a:avLst/>
          </a:prstGeom>
          <a:noFill/>
          <a:ln>
            <a:noFill/>
          </a:ln>
        </p:spPr>
      </p:pic>
      <p:sp>
        <p:nvSpPr>
          <p:cNvPr id="95" name="Google Shape;95;p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3. Head-down threat posture and ventral-spine display at a mirror.</a:t>
            </a:r>
            <a:endParaRPr sz="1800">
              <a:solidFill>
                <a:schemeClr val="dk1"/>
              </a:solidFill>
              <a:latin typeface="Calibri"/>
              <a:ea typeface="Calibri"/>
              <a:cs typeface="Calibri"/>
              <a:sym typeface="Calibri"/>
            </a:endParaRPr>
          </a:p>
        </p:txBody>
      </p:sp>
      <p:sp>
        <p:nvSpPr>
          <p:cNvPr id="96" name="Google Shape;96;p7"/>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97" name="Google Shape;97;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Tube confinement tests the effect of threat movement</a:t>
            </a:r>
            <a:endParaRPr sz="1800">
              <a:solidFill>
                <a:schemeClr val="dk1"/>
              </a:solidFill>
              <a:latin typeface="Calibri"/>
              <a:ea typeface="Calibri"/>
              <a:cs typeface="Calibri"/>
              <a:sym typeface="Calibri"/>
            </a:endParaRPr>
          </a:p>
        </p:txBody>
      </p:sp>
      <p:sp>
        <p:nvSpPr>
          <p:cNvPr id="103" name="Google Shape;103;p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posture control</a:t>
            </a:r>
            <a:r>
              <a:rPr b="0" i="0" lang="en-US" sz="1500">
                <a:solidFill>
                  <a:srgbClr val="222831"/>
                </a:solidFill>
                <a:latin typeface="Arial"/>
                <a:ea typeface="Arial"/>
                <a:cs typeface="Arial"/>
                <a:sym typeface="Arial"/>
              </a:rPr>
              <a:t>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endParaRPr sz="1800">
              <a:solidFill>
                <a:schemeClr val="dk1"/>
              </a:solidFill>
              <a:latin typeface="Calibri"/>
              <a:ea typeface="Calibri"/>
              <a:cs typeface="Calibri"/>
              <a:sym typeface="Calibri"/>
            </a:endParaRPr>
          </a:p>
        </p:txBody>
      </p:sp>
      <p:sp>
        <p:nvSpPr>
          <p:cNvPr id="104" name="Google Shape;104;p8"/>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wide tube allowed the resident to adopt the threat posture. A narrow tube constrained it to a horizontal position. The neighboring male was more intimidated when the owner could perform the threat movement than when it remained in the constrained neutral posture.</a:t>
            </a:r>
            <a:endParaRPr sz="1800">
              <a:solidFill>
                <a:schemeClr val="dk1"/>
              </a:solidFill>
              <a:latin typeface="Calibri"/>
              <a:ea typeface="Calibri"/>
              <a:cs typeface="Calibri"/>
              <a:sym typeface="Calibri"/>
            </a:endParaRPr>
          </a:p>
        </p:txBody>
      </p:sp>
      <p:sp>
        <p:nvSpPr>
          <p:cNvPr id="105" name="Google Shape;105;p8"/>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endParaRPr sz="1800">
              <a:solidFill>
                <a:schemeClr val="dk1"/>
              </a:solidFill>
              <a:latin typeface="Calibri"/>
              <a:ea typeface="Calibri"/>
              <a:cs typeface="Calibri"/>
              <a:sym typeface="Calibri"/>
            </a:endParaRPr>
          </a:p>
        </p:txBody>
      </p:sp>
      <p:pic>
        <p:nvPicPr>
          <p:cNvPr id="106" name="Google Shape;106;p8"/>
          <p:cNvPicPr preferRelativeResize="0"/>
          <p:nvPr/>
        </p:nvPicPr>
        <p:blipFill rotWithShape="1">
          <a:blip r:embed="rId3">
            <a:alphaModFix/>
          </a:blip>
          <a:srcRect b="0" l="0" r="0" t="0"/>
          <a:stretch/>
        </p:blipFill>
        <p:spPr>
          <a:xfrm>
            <a:off x="7372536" y="1055340"/>
            <a:ext cx="3523878" cy="4000500"/>
          </a:xfrm>
          <a:prstGeom prst="rect">
            <a:avLst/>
          </a:prstGeom>
          <a:noFill/>
          <a:ln>
            <a:noFill/>
          </a:ln>
        </p:spPr>
      </p:pic>
      <p:sp>
        <p:nvSpPr>
          <p:cNvPr id="107" name="Google Shape;107;p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4(A). Horizontal and upright tube conditions used to constrain the territory owner.</a:t>
            </a:r>
            <a:endParaRPr sz="1800">
              <a:solidFill>
                <a:schemeClr val="dk1"/>
              </a:solidFill>
              <a:latin typeface="Calibri"/>
              <a:ea typeface="Calibri"/>
              <a:cs typeface="Calibri"/>
              <a:sym typeface="Calibri"/>
            </a:endParaRPr>
          </a:p>
        </p:txBody>
      </p:sp>
      <p:sp>
        <p:nvSpPr>
          <p:cNvPr id="108" name="Google Shape;108;p8"/>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09" name="Google Shape;109;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Posture can switch attack to courtship leading</a:t>
            </a:r>
            <a:endParaRPr sz="1800">
              <a:solidFill>
                <a:schemeClr val="dk1"/>
              </a:solidFill>
              <a:latin typeface="Calibri"/>
              <a:ea typeface="Calibri"/>
              <a:cs typeface="Calibri"/>
              <a:sym typeface="Calibri"/>
            </a:endParaRPr>
          </a:p>
        </p:txBody>
      </p:sp>
      <p:sp>
        <p:nvSpPr>
          <p:cNvPr id="115" name="Google Shape;115;p9"/>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Courtship leading</a:t>
            </a:r>
            <a:r>
              <a:rPr b="0" i="0" lang="en-US" sz="1500">
                <a:solidFill>
                  <a:srgbClr val="222831"/>
                </a:solidFill>
                <a:latin typeface="Arial"/>
                <a:ea typeface="Arial"/>
                <a:cs typeface="Arial"/>
                <a:sym typeface="Arial"/>
              </a:rPr>
              <a:t>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endParaRPr sz="1800">
              <a:solidFill>
                <a:schemeClr val="dk1"/>
              </a:solidFill>
              <a:latin typeface="Calibri"/>
              <a:ea typeface="Calibri"/>
              <a:cs typeface="Calibri"/>
              <a:sym typeface="Calibri"/>
            </a:endParaRPr>
          </a:p>
        </p:txBody>
      </p:sp>
      <p:sp>
        <p:nvSpPr>
          <p:cNvPr id="116" name="Google Shape;116;p9"/>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same model could release fighting when presented head downward and leading when presented head upward. Dead fish of another species could also be effective when positioned like a receptive female. The manipulated orientation therefore altered the kind of action released.</a:t>
            </a:r>
            <a:endParaRPr sz="1800">
              <a:solidFill>
                <a:schemeClr val="dk1"/>
              </a:solidFill>
              <a:latin typeface="Calibri"/>
              <a:ea typeface="Calibri"/>
              <a:cs typeface="Calibri"/>
              <a:sym typeface="Calibri"/>
            </a:endParaRPr>
          </a:p>
        </p:txBody>
      </p:sp>
      <p:sp>
        <p:nvSpPr>
          <p:cNvPr id="117" name="Google Shape;117;p9"/>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endParaRPr sz="1800">
              <a:solidFill>
                <a:schemeClr val="dk1"/>
              </a:solidFill>
              <a:latin typeface="Calibri"/>
              <a:ea typeface="Calibri"/>
              <a:cs typeface="Calibri"/>
              <a:sym typeface="Calibri"/>
            </a:endParaRPr>
          </a:p>
        </p:txBody>
      </p:sp>
      <p:pic>
        <p:nvPicPr>
          <p:cNvPr id="118" name="Google Shape;118;p9"/>
          <p:cNvPicPr preferRelativeResize="0"/>
          <p:nvPr/>
        </p:nvPicPr>
        <p:blipFill rotWithShape="1">
          <a:blip r:embed="rId3">
            <a:alphaModFix/>
          </a:blip>
          <a:srcRect b="0" l="0" r="0" t="0"/>
          <a:stretch/>
        </p:blipFill>
        <p:spPr>
          <a:xfrm>
            <a:off x="6610350" y="1227776"/>
            <a:ext cx="5048250" cy="3655629"/>
          </a:xfrm>
          <a:prstGeom prst="rect">
            <a:avLst/>
          </a:prstGeom>
          <a:noFill/>
          <a:ln>
            <a:noFill/>
          </a:ln>
        </p:spPr>
      </p:pic>
      <p:sp>
        <p:nvSpPr>
          <p:cNvPr id="119" name="Google Shape;119;p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4(B). Relative postures of the courting male and receptive female.</a:t>
            </a:r>
            <a:endParaRPr sz="1800">
              <a:solidFill>
                <a:schemeClr val="dk1"/>
              </a:solidFill>
              <a:latin typeface="Calibri"/>
              <a:ea typeface="Calibri"/>
              <a:cs typeface="Calibri"/>
              <a:sym typeface="Calibri"/>
            </a:endParaRPr>
          </a:p>
        </p:txBody>
      </p:sp>
      <p:sp>
        <p:nvSpPr>
          <p:cNvPr id="120" name="Google Shape;120;p9"/>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21" name="Google Shape;121;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swollen abdomen is effective in courtship tests</a:t>
            </a:r>
            <a:endParaRPr sz="1800">
              <a:solidFill>
                <a:schemeClr val="dk1"/>
              </a:solidFill>
              <a:latin typeface="Calibri"/>
              <a:ea typeface="Calibri"/>
              <a:cs typeface="Calibri"/>
              <a:sym typeface="Calibri"/>
            </a:endParaRPr>
          </a:p>
        </p:txBody>
      </p:sp>
      <p:sp>
        <p:nvSpPr>
          <p:cNvPr id="127" name="Google Shape;127;p1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gravid</a:t>
            </a:r>
            <a:r>
              <a:rPr b="0" i="0" lang="en-US" sz="1500">
                <a:solidFill>
                  <a:srgbClr val="222831"/>
                </a:solidFill>
                <a:latin typeface="Arial"/>
                <a:ea typeface="Arial"/>
                <a:cs typeface="Arial"/>
                <a:sym typeface="Arial"/>
              </a:rPr>
              <a:t>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endParaRPr sz="1800">
              <a:solidFill>
                <a:schemeClr val="dk1"/>
              </a:solidFill>
              <a:latin typeface="Calibri"/>
              <a:ea typeface="Calibri"/>
              <a:cs typeface="Calibri"/>
              <a:sym typeface="Calibri"/>
            </a:endParaRPr>
          </a:p>
        </p:txBody>
      </p:sp>
      <p:sp>
        <p:nvSpPr>
          <p:cNvPr id="128" name="Google Shape;128;p10"/>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endParaRPr sz="1800">
              <a:solidFill>
                <a:schemeClr val="dk1"/>
              </a:solidFill>
              <a:latin typeface="Calibri"/>
              <a:ea typeface="Calibri"/>
              <a:cs typeface="Calibri"/>
              <a:sym typeface="Calibri"/>
            </a:endParaRPr>
          </a:p>
        </p:txBody>
      </p:sp>
      <p:sp>
        <p:nvSpPr>
          <p:cNvPr id="129" name="Google Shape;129;p10"/>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endParaRPr sz="1800">
              <a:solidFill>
                <a:schemeClr val="dk1"/>
              </a:solidFill>
              <a:latin typeface="Calibri"/>
              <a:ea typeface="Calibri"/>
              <a:cs typeface="Calibri"/>
              <a:sym typeface="Calibri"/>
            </a:endParaRPr>
          </a:p>
        </p:txBody>
      </p:sp>
      <p:pic>
        <p:nvPicPr>
          <p:cNvPr id="130" name="Google Shape;130;p10"/>
          <p:cNvPicPr preferRelativeResize="0"/>
          <p:nvPr/>
        </p:nvPicPr>
        <p:blipFill rotWithShape="1">
          <a:blip r:embed="rId3">
            <a:alphaModFix/>
          </a:blip>
          <a:srcRect b="0" l="0" r="0" t="0"/>
          <a:stretch/>
        </p:blipFill>
        <p:spPr>
          <a:xfrm>
            <a:off x="6610350" y="1791340"/>
            <a:ext cx="5048250" cy="2528500"/>
          </a:xfrm>
          <a:prstGeom prst="rect">
            <a:avLst/>
          </a:prstGeom>
          <a:noFill/>
          <a:ln>
            <a:noFill/>
          </a:ln>
        </p:spPr>
      </p:pic>
      <p:sp>
        <p:nvSpPr>
          <p:cNvPr id="131" name="Google Shape;131;p1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5(A–C). A non-stickleback fish model, a normal-abdomen fish, and a swollen-abdomen dummy.</a:t>
            </a:r>
            <a:endParaRPr sz="1800">
              <a:solidFill>
                <a:schemeClr val="dk1"/>
              </a:solidFill>
              <a:latin typeface="Calibri"/>
              <a:ea typeface="Calibri"/>
              <a:cs typeface="Calibri"/>
              <a:sym typeface="Calibri"/>
            </a:endParaRPr>
          </a:p>
        </p:txBody>
      </p:sp>
      <p:sp>
        <p:nvSpPr>
          <p:cNvPr id="132" name="Google Shape;132;p10"/>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33" name="Google Shape;133;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Isolation tests prior social experience</a:t>
            </a:r>
            <a:endParaRPr sz="1800">
              <a:solidFill>
                <a:schemeClr val="dk1"/>
              </a:solidFill>
              <a:latin typeface="Calibri"/>
              <a:ea typeface="Calibri"/>
              <a:cs typeface="Calibri"/>
              <a:sym typeface="Calibri"/>
            </a:endParaRPr>
          </a:p>
        </p:txBody>
      </p:sp>
      <p:sp>
        <p:nvSpPr>
          <p:cNvPr id="139" name="Google Shape;139;p1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endParaRPr sz="1800">
              <a:solidFill>
                <a:schemeClr val="dk1"/>
              </a:solidFill>
              <a:latin typeface="Calibri"/>
              <a:ea typeface="Calibri"/>
              <a:cs typeface="Calibri"/>
              <a:sym typeface="Calibri"/>
            </a:endParaRPr>
          </a:p>
        </p:txBody>
      </p:sp>
      <p:sp>
        <p:nvSpPr>
          <p:cNvPr id="140" name="Google Shape;140;p11"/>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endParaRPr sz="1800">
              <a:solidFill>
                <a:schemeClr val="dk1"/>
              </a:solidFill>
              <a:latin typeface="Calibri"/>
              <a:ea typeface="Calibri"/>
              <a:cs typeface="Calibri"/>
              <a:sym typeface="Calibri"/>
            </a:endParaRPr>
          </a:p>
        </p:txBody>
      </p:sp>
      <p:sp>
        <p:nvSpPr>
          <p:cNvPr id="141" name="Google Shape;141;p11"/>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An </a:t>
            </a:r>
            <a:r>
              <a:rPr b="1" i="0" lang="en-US" sz="1500">
                <a:solidFill>
                  <a:srgbClr val="222831"/>
                </a:solidFill>
                <a:latin typeface="Arial"/>
                <a:ea typeface="Arial"/>
                <a:cs typeface="Arial"/>
                <a:sym typeface="Arial"/>
              </a:rPr>
              <a:t>innate</a:t>
            </a:r>
            <a:r>
              <a:rPr b="0" i="0" lang="en-US" sz="1500">
                <a:solidFill>
                  <a:srgbClr val="222831"/>
                </a:solidFill>
                <a:latin typeface="Arial"/>
                <a:ea typeface="Arial"/>
                <a:cs typeface="Arial"/>
                <a:sym typeface="Arial"/>
              </a:rPr>
              <a:t>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endParaRPr sz="1800">
              <a:solidFill>
                <a:schemeClr val="dk1"/>
              </a:solidFill>
              <a:latin typeface="Calibri"/>
              <a:ea typeface="Calibri"/>
              <a:cs typeface="Calibri"/>
              <a:sym typeface="Calibri"/>
            </a:endParaRPr>
          </a:p>
        </p:txBody>
      </p:sp>
      <p:pic>
        <p:nvPicPr>
          <p:cNvPr id="142" name="Google Shape;142;p11"/>
          <p:cNvPicPr preferRelativeResize="0"/>
          <p:nvPr/>
        </p:nvPicPr>
        <p:blipFill rotWithShape="1">
          <a:blip r:embed="rId3">
            <a:alphaModFix/>
          </a:blip>
          <a:srcRect b="0" l="0" r="0" t="0"/>
          <a:stretch/>
        </p:blipFill>
        <p:spPr>
          <a:xfrm>
            <a:off x="6610350" y="1227776"/>
            <a:ext cx="5048250" cy="3655629"/>
          </a:xfrm>
          <a:prstGeom prst="rect">
            <a:avLst/>
          </a:prstGeom>
          <a:noFill/>
          <a:ln>
            <a:noFill/>
          </a:ln>
        </p:spPr>
      </p:pic>
      <p:sp>
        <p:nvSpPr>
          <p:cNvPr id="143" name="Google Shape;143;p1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Tinbergen (1948), Fig. 4(B). Courtship postures associated with the stimulus tests on an isolated male.</a:t>
            </a:r>
            <a:endParaRPr sz="1800">
              <a:solidFill>
                <a:schemeClr val="dk1"/>
              </a:solidFill>
              <a:latin typeface="Calibri"/>
              <a:ea typeface="Calibri"/>
              <a:cs typeface="Calibri"/>
              <a:sym typeface="Calibri"/>
            </a:endParaRPr>
          </a:p>
        </p:txBody>
      </p:sp>
      <p:sp>
        <p:nvSpPr>
          <p:cNvPr id="144" name="Google Shape;144;p11"/>
          <p:cNvSpPr/>
          <p:nvPr/>
        </p:nvSpPr>
        <p:spPr>
          <a:xfrm>
            <a:off x="457200" y="6462713"/>
            <a:ext cx="10045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a:t>
            </a:r>
            <a:endParaRPr sz="1800">
              <a:solidFill>
                <a:schemeClr val="dk1"/>
              </a:solidFill>
              <a:latin typeface="Calibri"/>
              <a:ea typeface="Calibri"/>
              <a:cs typeface="Calibri"/>
              <a:sym typeface="Calibri"/>
            </a:endParaRPr>
          </a:p>
        </p:txBody>
      </p:sp>
      <p:sp>
        <p:nvSpPr>
          <p:cNvPr id="145" name="Google Shape;145;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Egg retrieval contains a repeatable movement sequence</a:t>
            </a:r>
            <a:endParaRPr sz="1800">
              <a:solidFill>
                <a:schemeClr val="dk1"/>
              </a:solidFill>
              <a:latin typeface="Calibri"/>
              <a:ea typeface="Calibri"/>
              <a:cs typeface="Calibri"/>
              <a:sym typeface="Calibri"/>
            </a:endParaRPr>
          </a:p>
        </p:txBody>
      </p:sp>
      <p:sp>
        <p:nvSpPr>
          <p:cNvPr id="151" name="Google Shape;151;p1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fixed action pattern</a:t>
            </a:r>
            <a:r>
              <a:rPr b="0" i="0" lang="en-US" sz="1500">
                <a:solidFill>
                  <a:srgbClr val="222831"/>
                </a:solidFill>
                <a:latin typeface="Arial"/>
                <a:ea typeface="Arial"/>
                <a:cs typeface="Arial"/>
                <a:sym typeface="Arial"/>
              </a:rPr>
              <a:t> is a relatively stereotyped movement sequence released under appropriate stimulus and internal conditions. Lorenz and Tinbergen investigated egg retrieval in nesting graylag geese, </a:t>
            </a:r>
            <a:r>
              <a:rPr b="0" i="1" lang="en-US" sz="1500">
                <a:solidFill>
                  <a:srgbClr val="222831"/>
                </a:solidFill>
                <a:latin typeface="Arial"/>
                <a:ea typeface="Arial"/>
                <a:cs typeface="Arial"/>
                <a:sym typeface="Arial"/>
              </a:rPr>
              <a:t>Anser anser</a:t>
            </a:r>
            <a:r>
              <a:rPr b="0" i="0" lang="en-US" sz="1500">
                <a:solidFill>
                  <a:srgbClr val="222831"/>
                </a:solidFill>
                <a:latin typeface="Arial"/>
                <a:ea typeface="Arial"/>
                <a:cs typeface="Arial"/>
                <a:sym typeface="Arial"/>
              </a:rPr>
              <a:t>, including birds with domestic-goose ancestry and checks on wild-type birds.</a:t>
            </a:r>
            <a:endParaRPr sz="1800">
              <a:solidFill>
                <a:schemeClr val="dk1"/>
              </a:solidFill>
              <a:latin typeface="Calibri"/>
              <a:ea typeface="Calibri"/>
              <a:cs typeface="Calibri"/>
              <a:sym typeface="Calibri"/>
            </a:endParaRPr>
          </a:p>
        </p:txBody>
      </p:sp>
      <p:sp>
        <p:nvSpPr>
          <p:cNvPr id="152" name="Google Shape;152;p12"/>
          <p:cNvSpPr/>
          <p:nvPr/>
        </p:nvSpPr>
        <p:spPr>
          <a:xfrm>
            <a:off x="457200" y="25031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goose extended its neck toward an egg outside the nest, contacted it with the bill, reached over its far side, and drew the head and neck inward. The egg was pushed toward the nest while side-to-side corrections prevented it from slipping away.</a:t>
            </a:r>
            <a:endParaRPr sz="1800">
              <a:solidFill>
                <a:schemeClr val="dk1"/>
              </a:solidFill>
              <a:latin typeface="Calibri"/>
              <a:ea typeface="Calibri"/>
              <a:cs typeface="Calibri"/>
              <a:sym typeface="Calibri"/>
            </a:endParaRPr>
          </a:p>
        </p:txBody>
      </p:sp>
      <p:sp>
        <p:nvSpPr>
          <p:cNvPr id="153" name="Google Shape;153;p12"/>
          <p:cNvSpPr/>
          <p:nvPr/>
        </p:nvSpPr>
        <p:spPr>
          <a:xfrm>
            <a:off x="457200" y="36842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endParaRPr sz="1800">
              <a:solidFill>
                <a:schemeClr val="dk1"/>
              </a:solidFill>
              <a:latin typeface="Calibri"/>
              <a:ea typeface="Calibri"/>
              <a:cs typeface="Calibri"/>
              <a:sym typeface="Calibri"/>
            </a:endParaRPr>
          </a:p>
        </p:txBody>
      </p:sp>
      <p:pic>
        <p:nvPicPr>
          <p:cNvPr id="154" name="Google Shape;154;p12"/>
          <p:cNvPicPr preferRelativeResize="0"/>
          <p:nvPr/>
        </p:nvPicPr>
        <p:blipFill rotWithShape="1">
          <a:blip r:embed="rId3">
            <a:alphaModFix/>
          </a:blip>
          <a:srcRect b="0" l="0" r="0" t="0"/>
          <a:stretch/>
        </p:blipFill>
        <p:spPr>
          <a:xfrm>
            <a:off x="7215461" y="1055340"/>
            <a:ext cx="3838028" cy="4000500"/>
          </a:xfrm>
          <a:prstGeom prst="rect">
            <a:avLst/>
          </a:prstGeom>
          <a:noFill/>
          <a:ln>
            <a:noFill/>
          </a:ln>
        </p:spPr>
      </p:pic>
      <p:sp>
        <p:nvSpPr>
          <p:cNvPr id="155" name="Google Shape;155;p1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1(a–f). Photographic sequence of orientation, contact, inward rolling, and lateral corrections.</a:t>
            </a:r>
            <a:endParaRPr sz="1800">
              <a:solidFill>
                <a:schemeClr val="dk1"/>
              </a:solidFill>
              <a:latin typeface="Calibri"/>
              <a:ea typeface="Calibri"/>
              <a:cs typeface="Calibri"/>
              <a:sym typeface="Calibri"/>
            </a:endParaRPr>
          </a:p>
        </p:txBody>
      </p:sp>
      <p:sp>
        <p:nvSpPr>
          <p:cNvPr id="156" name="Google Shape;156;p12"/>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57" name="Google Shape;157;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outside egg does not trigger instant retrieval</a:t>
            </a:r>
            <a:endParaRPr sz="1800">
              <a:solidFill>
                <a:schemeClr val="dk1"/>
              </a:solidFill>
              <a:latin typeface="Calibri"/>
              <a:ea typeface="Calibri"/>
              <a:cs typeface="Calibri"/>
              <a:sym typeface="Calibri"/>
            </a:endParaRPr>
          </a:p>
        </p:txBody>
      </p:sp>
      <p:sp>
        <p:nvSpPr>
          <p:cNvPr id="163" name="Google Shape;163;p13"/>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endParaRPr sz="1800">
              <a:solidFill>
                <a:schemeClr val="dk1"/>
              </a:solidFill>
              <a:latin typeface="Calibri"/>
              <a:ea typeface="Calibri"/>
              <a:cs typeface="Calibri"/>
              <a:sym typeface="Calibri"/>
            </a:endParaRPr>
          </a:p>
        </p:txBody>
      </p:sp>
      <p:sp>
        <p:nvSpPr>
          <p:cNvPr id="164" name="Google Shape;164;p13"/>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Appetitive behavior</a:t>
            </a:r>
            <a:r>
              <a:rPr b="0" i="0" lang="en-US" sz="1500">
                <a:solidFill>
                  <a:srgbClr val="222831"/>
                </a:solidFill>
                <a:latin typeface="Arial"/>
                <a:ea typeface="Arial"/>
                <a:cs typeface="Arial"/>
                <a:sym typeface="Arial"/>
              </a:rPr>
              <a:t> is activity that brings an animal into a situation in which a more specific action can occur. The goose approached cautiously and initially tried to reach the egg while remaining close to the nest. Contact with the egg followed this visually directed approach.</a:t>
            </a:r>
            <a:endParaRPr sz="1800">
              <a:solidFill>
                <a:schemeClr val="dk1"/>
              </a:solidFill>
              <a:latin typeface="Calibri"/>
              <a:ea typeface="Calibri"/>
              <a:cs typeface="Calibri"/>
              <a:sym typeface="Calibri"/>
            </a:endParaRPr>
          </a:p>
        </p:txBody>
      </p:sp>
      <p:sp>
        <p:nvSpPr>
          <p:cNvPr id="165" name="Google Shape;165;p13"/>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endParaRPr sz="1800">
              <a:solidFill>
                <a:schemeClr val="dk1"/>
              </a:solidFill>
              <a:latin typeface="Calibri"/>
              <a:ea typeface="Calibri"/>
              <a:cs typeface="Calibri"/>
              <a:sym typeface="Calibri"/>
            </a:endParaRPr>
          </a:p>
        </p:txBody>
      </p:sp>
      <p:pic>
        <p:nvPicPr>
          <p:cNvPr id="166" name="Google Shape;166;p13"/>
          <p:cNvPicPr preferRelativeResize="0"/>
          <p:nvPr/>
        </p:nvPicPr>
        <p:blipFill rotWithShape="1">
          <a:blip r:embed="rId3">
            <a:alphaModFix/>
          </a:blip>
          <a:srcRect b="0" l="0" r="0" t="0"/>
          <a:stretch/>
        </p:blipFill>
        <p:spPr>
          <a:xfrm>
            <a:off x="6610350" y="2186662"/>
            <a:ext cx="5048250" cy="1737856"/>
          </a:xfrm>
          <a:prstGeom prst="rect">
            <a:avLst/>
          </a:prstGeom>
          <a:noFill/>
          <a:ln>
            <a:noFill/>
          </a:ln>
        </p:spPr>
      </p:pic>
      <p:sp>
        <p:nvSpPr>
          <p:cNvPr id="167" name="Google Shape;167;p1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1(a–b). Neck extension followed by initial contact with the egg.</a:t>
            </a:r>
            <a:endParaRPr sz="1800">
              <a:solidFill>
                <a:schemeClr val="dk1"/>
              </a:solidFill>
              <a:latin typeface="Calibri"/>
              <a:ea typeface="Calibri"/>
              <a:cs typeface="Calibri"/>
              <a:sym typeface="Calibri"/>
            </a:endParaRPr>
          </a:p>
        </p:txBody>
      </p:sp>
      <p:sp>
        <p:nvSpPr>
          <p:cNvPr id="168" name="Google Shape;168;p13"/>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69" name="Google Shape;169;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Visual approach and tactile acceptance are separable</a:t>
            </a:r>
            <a:endParaRPr sz="1800">
              <a:solidFill>
                <a:schemeClr val="dk1"/>
              </a:solidFill>
              <a:latin typeface="Calibri"/>
              <a:ea typeface="Calibri"/>
              <a:cs typeface="Calibri"/>
              <a:sym typeface="Calibri"/>
            </a:endParaRPr>
          </a:p>
        </p:txBody>
      </p:sp>
      <p:sp>
        <p:nvSpPr>
          <p:cNvPr id="175" name="Google Shape;175;p1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endParaRPr sz="1800">
              <a:solidFill>
                <a:schemeClr val="dk1"/>
              </a:solidFill>
              <a:latin typeface="Calibri"/>
              <a:ea typeface="Calibri"/>
              <a:cs typeface="Calibri"/>
              <a:sym typeface="Calibri"/>
            </a:endParaRPr>
          </a:p>
        </p:txBody>
      </p:sp>
      <p:sp>
        <p:nvSpPr>
          <p:cNvPr id="176" name="Google Shape;176;p1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endParaRPr sz="1800">
              <a:solidFill>
                <a:schemeClr val="dk1"/>
              </a:solidFill>
              <a:latin typeface="Calibri"/>
              <a:ea typeface="Calibri"/>
              <a:cs typeface="Calibri"/>
              <a:sym typeface="Calibri"/>
            </a:endParaRPr>
          </a:p>
        </p:txBody>
      </p:sp>
      <p:sp>
        <p:nvSpPr>
          <p:cNvPr id="177" name="Google Shape;177;p14"/>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Tactile information</a:t>
            </a:r>
            <a:r>
              <a:rPr b="0" i="0" lang="en-US" sz="1500">
                <a:solidFill>
                  <a:srgbClr val="222831"/>
                </a:solidFill>
                <a:latin typeface="Arial"/>
                <a:ea typeface="Arial"/>
                <a:cs typeface="Arial"/>
                <a:sym typeface="Arial"/>
              </a:rPr>
              <a:t> is sensory information obtained through contact. The observations support successive visual and tactile contributions to response selection. They do not identify the receptor cells that detect hardness or the neurons that choose between rolling, rejection, and feeding.</a:t>
            </a:r>
            <a:endParaRPr sz="1800">
              <a:solidFill>
                <a:schemeClr val="dk1"/>
              </a:solidFill>
              <a:latin typeface="Calibri"/>
              <a:ea typeface="Calibri"/>
              <a:cs typeface="Calibri"/>
              <a:sym typeface="Calibri"/>
            </a:endParaRPr>
          </a:p>
        </p:txBody>
      </p:sp>
      <p:pic>
        <p:nvPicPr>
          <p:cNvPr id="178" name="Google Shape;178;p14"/>
          <p:cNvPicPr preferRelativeResize="0"/>
          <p:nvPr/>
        </p:nvPicPr>
        <p:blipFill rotWithShape="1">
          <a:blip r:embed="rId3">
            <a:alphaModFix/>
          </a:blip>
          <a:srcRect b="0" l="0" r="0" t="0"/>
          <a:stretch/>
        </p:blipFill>
        <p:spPr>
          <a:xfrm>
            <a:off x="6610350" y="2186662"/>
            <a:ext cx="5048250" cy="1737856"/>
          </a:xfrm>
          <a:prstGeom prst="rect">
            <a:avLst/>
          </a:prstGeom>
          <a:noFill/>
          <a:ln>
            <a:noFill/>
          </a:ln>
        </p:spPr>
      </p:pic>
      <p:sp>
        <p:nvSpPr>
          <p:cNvPr id="179" name="Google Shape;179;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1(a–b). Visual orientation followed by a bill-contact test.</a:t>
            </a:r>
            <a:endParaRPr sz="1800">
              <a:solidFill>
                <a:schemeClr val="dk1"/>
              </a:solidFill>
              <a:latin typeface="Calibri"/>
              <a:ea typeface="Calibri"/>
              <a:cs typeface="Calibri"/>
              <a:sym typeface="Calibri"/>
            </a:endParaRPr>
          </a:p>
        </p:txBody>
      </p:sp>
      <p:sp>
        <p:nvSpPr>
          <p:cNvPr id="180" name="Google Shape;180;p14"/>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81" name="Google Shape;181;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Protruding edges redirect rolling into nibbling</a:t>
            </a:r>
            <a:endParaRPr sz="1800">
              <a:solidFill>
                <a:schemeClr val="dk1"/>
              </a:solidFill>
              <a:latin typeface="Calibri"/>
              <a:ea typeface="Calibri"/>
              <a:cs typeface="Calibri"/>
              <a:sym typeface="Calibri"/>
            </a:endParaRPr>
          </a:p>
        </p:txBody>
      </p:sp>
      <p:sp>
        <p:nvSpPr>
          <p:cNvPr id="187" name="Google Shape;187;p1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could begin to roll an object and then change its behavior when an exposed rim or protruding attachment became available. Lorenz and Tinbergen presented an open wooden cube, a wooden toy with attached features, and a cardboard egg with paper fringes around its seam.</a:t>
            </a:r>
            <a:endParaRPr sz="1800">
              <a:solidFill>
                <a:schemeClr val="dk1"/>
              </a:solidFill>
              <a:latin typeface="Calibri"/>
              <a:ea typeface="Calibri"/>
              <a:cs typeface="Calibri"/>
              <a:sym typeface="Calibri"/>
            </a:endParaRPr>
          </a:p>
        </p:txBody>
      </p:sp>
      <p:sp>
        <p:nvSpPr>
          <p:cNvPr id="188" name="Google Shape;188;p1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cube was rolled until its opening faced upward, after which the bird nibbled the exposed rim. Small attachments on the toy and fringes on the cardboard egg also elicited nibbling. Ordinary right-angled edges of a closed cube did not necessarily interrupt retrieval.</a:t>
            </a:r>
            <a:endParaRPr sz="1800">
              <a:solidFill>
                <a:schemeClr val="dk1"/>
              </a:solidFill>
              <a:latin typeface="Calibri"/>
              <a:ea typeface="Calibri"/>
              <a:cs typeface="Calibri"/>
              <a:sym typeface="Calibri"/>
            </a:endParaRPr>
          </a:p>
        </p:txBody>
      </p:sp>
      <p:sp>
        <p:nvSpPr>
          <p:cNvPr id="189" name="Google Shape;189;p1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response switch</a:t>
            </a:r>
            <a:r>
              <a:rPr b="0" i="0" lang="en-US" sz="1500">
                <a:solidFill>
                  <a:srgbClr val="222831"/>
                </a:solidFill>
                <a:latin typeface="Arial"/>
                <a:ea typeface="Arial"/>
                <a:cs typeface="Arial"/>
                <a:sym typeface="Arial"/>
              </a:rPr>
              <a:t>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endParaRPr sz="1800">
              <a:solidFill>
                <a:schemeClr val="dk1"/>
              </a:solidFill>
              <a:latin typeface="Calibri"/>
              <a:ea typeface="Calibri"/>
              <a:cs typeface="Calibri"/>
              <a:sym typeface="Calibri"/>
            </a:endParaRPr>
          </a:p>
        </p:txBody>
      </p:sp>
      <p:pic>
        <p:nvPicPr>
          <p:cNvPr id="190" name="Google Shape;190;p15"/>
          <p:cNvPicPr preferRelativeResize="0"/>
          <p:nvPr/>
        </p:nvPicPr>
        <p:blipFill rotWithShape="1">
          <a:blip r:embed="rId3">
            <a:alphaModFix/>
          </a:blip>
          <a:srcRect b="0" l="0" r="0" t="0"/>
          <a:stretch/>
        </p:blipFill>
        <p:spPr>
          <a:xfrm>
            <a:off x="6610350" y="1327912"/>
            <a:ext cx="5048250" cy="3455356"/>
          </a:xfrm>
          <a:prstGeom prst="rect">
            <a:avLst/>
          </a:prstGeom>
          <a:noFill/>
          <a:ln>
            <a:noFill/>
          </a:ln>
        </p:spPr>
      </p:pic>
      <p:sp>
        <p:nvSpPr>
          <p:cNvPr id="191" name="Google Shape;191;p1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3. A goose nibbling the exposed edges of an artificial egg.</a:t>
            </a:r>
            <a:endParaRPr sz="1800">
              <a:solidFill>
                <a:schemeClr val="dk1"/>
              </a:solidFill>
              <a:latin typeface="Calibri"/>
              <a:ea typeface="Calibri"/>
              <a:cs typeface="Calibri"/>
              <a:sym typeface="Calibri"/>
            </a:endParaRPr>
          </a:p>
        </p:txBody>
      </p:sp>
      <p:sp>
        <p:nvSpPr>
          <p:cNvPr id="192" name="Google Shape;192;p15"/>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193" name="Google Shape;193;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Egg-like shape is not required for every retrieval phase</a:t>
            </a:r>
            <a:endParaRPr sz="1800">
              <a:solidFill>
                <a:schemeClr val="dk1"/>
              </a:solidFill>
              <a:latin typeface="Calibri"/>
              <a:ea typeface="Calibri"/>
              <a:cs typeface="Calibri"/>
              <a:sym typeface="Calibri"/>
            </a:endParaRPr>
          </a:p>
        </p:txBody>
      </p:sp>
      <p:sp>
        <p:nvSpPr>
          <p:cNvPr id="199" name="Google Shape;199;p1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endParaRPr sz="1800">
              <a:solidFill>
                <a:schemeClr val="dk1"/>
              </a:solidFill>
              <a:latin typeface="Calibri"/>
              <a:ea typeface="Calibri"/>
              <a:cs typeface="Calibri"/>
              <a:sym typeface="Calibri"/>
            </a:endParaRPr>
          </a:p>
        </p:txBody>
      </p:sp>
      <p:sp>
        <p:nvSpPr>
          <p:cNvPr id="200" name="Google Shape;200;p16"/>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endParaRPr sz="1800">
              <a:solidFill>
                <a:schemeClr val="dk1"/>
              </a:solidFill>
              <a:latin typeface="Calibri"/>
              <a:ea typeface="Calibri"/>
              <a:cs typeface="Calibri"/>
              <a:sym typeface="Calibri"/>
            </a:endParaRPr>
          </a:p>
        </p:txBody>
      </p:sp>
      <p:sp>
        <p:nvSpPr>
          <p:cNvPr id="201" name="Google Shape;201;p16"/>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endParaRPr sz="1800">
              <a:solidFill>
                <a:schemeClr val="dk1"/>
              </a:solidFill>
              <a:latin typeface="Calibri"/>
              <a:ea typeface="Calibri"/>
              <a:cs typeface="Calibri"/>
              <a:sym typeface="Calibri"/>
            </a:endParaRPr>
          </a:p>
        </p:txBody>
      </p:sp>
      <p:pic>
        <p:nvPicPr>
          <p:cNvPr id="202" name="Google Shape;202;p16"/>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03" name="Google Shape;203;p1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Retrieval of a light wooden cube rather than a natural egg.</a:t>
            </a:r>
            <a:endParaRPr sz="1800">
              <a:solidFill>
                <a:schemeClr val="dk1"/>
              </a:solidFill>
              <a:latin typeface="Calibri"/>
              <a:ea typeface="Calibri"/>
              <a:cs typeface="Calibri"/>
              <a:sym typeface="Calibri"/>
            </a:endParaRPr>
          </a:p>
        </p:txBody>
      </p:sp>
      <p:sp>
        <p:nvSpPr>
          <p:cNvPr id="204" name="Google Shape;204;p16"/>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05" name="Google Shape;205;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Inward rolling and lateral guidance differ in control</a:t>
            </a:r>
            <a:endParaRPr sz="1800">
              <a:solidFill>
                <a:schemeClr val="dk1"/>
              </a:solidFill>
              <a:latin typeface="Calibri"/>
              <a:ea typeface="Calibri"/>
              <a:cs typeface="Calibri"/>
              <a:sym typeface="Calibri"/>
            </a:endParaRPr>
          </a:p>
        </p:txBody>
      </p:sp>
      <p:sp>
        <p:nvSpPr>
          <p:cNvPr id="211" name="Google Shape;211;p1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t>
            </a:r>
            <a:r>
              <a:rPr b="1" i="0" lang="en-US" sz="1500">
                <a:solidFill>
                  <a:srgbClr val="222831"/>
                </a:solidFill>
                <a:latin typeface="Arial"/>
                <a:ea typeface="Arial"/>
                <a:cs typeface="Arial"/>
                <a:sym typeface="Arial"/>
              </a:rPr>
              <a:t>sagittal plane</a:t>
            </a:r>
            <a:r>
              <a:rPr b="0" i="0" lang="en-US" sz="1500">
                <a:solidFill>
                  <a:srgbClr val="222831"/>
                </a:solidFill>
                <a:latin typeface="Arial"/>
                <a:ea typeface="Arial"/>
                <a:cs typeface="Arial"/>
                <a:sym typeface="Arial"/>
              </a:rPr>
              <a:t> divides the body into left and right portions. During retrieval, the goose’s inward head-and-neck movement occurred approximately in this midline plane. Lateral movements shifted the bill from side to side as the egg threatened to leave its supporting surface.</a:t>
            </a:r>
            <a:endParaRPr sz="1800">
              <a:solidFill>
                <a:schemeClr val="dk1"/>
              </a:solidFill>
              <a:latin typeface="Calibri"/>
              <a:ea typeface="Calibri"/>
              <a:cs typeface="Calibri"/>
              <a:sym typeface="Calibri"/>
            </a:endParaRPr>
          </a:p>
        </p:txBody>
      </p:sp>
      <p:sp>
        <p:nvSpPr>
          <p:cNvPr id="212" name="Google Shape;212;p17"/>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endParaRPr sz="1800">
              <a:solidFill>
                <a:schemeClr val="dk1"/>
              </a:solidFill>
              <a:latin typeface="Calibri"/>
              <a:ea typeface="Calibri"/>
              <a:cs typeface="Calibri"/>
              <a:sym typeface="Calibri"/>
            </a:endParaRPr>
          </a:p>
        </p:txBody>
      </p:sp>
      <p:sp>
        <p:nvSpPr>
          <p:cNvPr id="213" name="Google Shape;213;p17"/>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taxis</a:t>
            </a:r>
            <a:r>
              <a:rPr b="0" i="0" lang="en-US" sz="1500">
                <a:solidFill>
                  <a:srgbClr val="222831"/>
                </a:solidFill>
                <a:latin typeface="Arial"/>
                <a:ea typeface="Arial"/>
                <a:cs typeface="Arial"/>
                <a:sym typeface="Arial"/>
              </a:rPr>
              <a:t>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endParaRPr sz="1800">
              <a:solidFill>
                <a:schemeClr val="dk1"/>
              </a:solidFill>
              <a:latin typeface="Calibri"/>
              <a:ea typeface="Calibri"/>
              <a:cs typeface="Calibri"/>
              <a:sym typeface="Calibri"/>
            </a:endParaRPr>
          </a:p>
        </p:txBody>
      </p:sp>
      <p:pic>
        <p:nvPicPr>
          <p:cNvPr id="214" name="Google Shape;214;p17"/>
          <p:cNvPicPr preferRelativeResize="0"/>
          <p:nvPr/>
        </p:nvPicPr>
        <p:blipFill rotWithShape="1">
          <a:blip r:embed="rId3">
            <a:alphaModFix/>
          </a:blip>
          <a:srcRect b="0" l="0" r="0" t="0"/>
          <a:stretch/>
        </p:blipFill>
        <p:spPr>
          <a:xfrm>
            <a:off x="6610350" y="2174566"/>
            <a:ext cx="5048250" cy="1762049"/>
          </a:xfrm>
          <a:prstGeom prst="rect">
            <a:avLst/>
          </a:prstGeom>
          <a:noFill/>
          <a:ln>
            <a:noFill/>
          </a:ln>
        </p:spPr>
      </p:pic>
      <p:sp>
        <p:nvSpPr>
          <p:cNvPr id="215" name="Google Shape;215;p1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1(e–f). Lateral bill corrections that maintain the egg beneath the bill.</a:t>
            </a:r>
            <a:endParaRPr sz="1800">
              <a:solidFill>
                <a:schemeClr val="dk1"/>
              </a:solidFill>
              <a:latin typeface="Calibri"/>
              <a:ea typeface="Calibri"/>
              <a:cs typeface="Calibri"/>
              <a:sym typeface="Calibri"/>
            </a:endParaRPr>
          </a:p>
        </p:txBody>
      </p:sp>
      <p:sp>
        <p:nvSpPr>
          <p:cNvPr id="216" name="Google Shape;216;p17"/>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17" name="Google Shape;217;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Loss of the egg can spare the inward movement</a:t>
            </a:r>
            <a:endParaRPr sz="1800">
              <a:solidFill>
                <a:schemeClr val="dk1"/>
              </a:solidFill>
              <a:latin typeface="Calibri"/>
              <a:ea typeface="Calibri"/>
              <a:cs typeface="Calibri"/>
              <a:sym typeface="Calibri"/>
            </a:endParaRPr>
          </a:p>
        </p:txBody>
      </p:sp>
      <p:sp>
        <p:nvSpPr>
          <p:cNvPr id="223" name="Google Shape;223;p1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When an egg slipped from the bill, the inward head-and-neck movement could continue even though the object was no longer being transported. Lorenz and Tinbergen also recorded empty continuation after an oversized artificial egg escaped suddenly from between bill and breast.</a:t>
            </a:r>
            <a:endParaRPr sz="1800">
              <a:solidFill>
                <a:schemeClr val="dk1"/>
              </a:solidFill>
              <a:latin typeface="Calibri"/>
              <a:ea typeface="Calibri"/>
              <a:cs typeface="Calibri"/>
              <a:sym typeface="Calibri"/>
            </a:endParaRPr>
          </a:p>
        </p:txBody>
      </p:sp>
      <p:sp>
        <p:nvSpPr>
          <p:cNvPr id="224" name="Google Shape;224;p18"/>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lateral balancing movements disappeared when there was no object to stabilize. The head instead continued along approximately the body’s midline. Thus, removing the transported object changed one component of the response while sparing another for the remaining movement.</a:t>
            </a:r>
            <a:endParaRPr sz="1800">
              <a:solidFill>
                <a:schemeClr val="dk1"/>
              </a:solidFill>
              <a:latin typeface="Calibri"/>
              <a:ea typeface="Calibri"/>
              <a:cs typeface="Calibri"/>
              <a:sym typeface="Calibri"/>
            </a:endParaRPr>
          </a:p>
        </p:txBody>
      </p:sp>
      <p:sp>
        <p:nvSpPr>
          <p:cNvPr id="225" name="Google Shape;225;p18"/>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Open-loop execution</a:t>
            </a:r>
            <a:r>
              <a:rPr b="0" i="0" lang="en-US" sz="1500">
                <a:solidFill>
                  <a:srgbClr val="222831"/>
                </a:solidFill>
                <a:latin typeface="Arial"/>
                <a:ea typeface="Arial"/>
                <a:cs typeface="Arial"/>
                <a:sym typeface="Arial"/>
              </a:rPr>
              <a:t>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endParaRPr sz="1800">
              <a:solidFill>
                <a:schemeClr val="dk1"/>
              </a:solidFill>
              <a:latin typeface="Calibri"/>
              <a:ea typeface="Calibri"/>
              <a:cs typeface="Calibri"/>
              <a:sym typeface="Calibri"/>
            </a:endParaRPr>
          </a:p>
        </p:txBody>
      </p:sp>
      <p:pic>
        <p:nvPicPr>
          <p:cNvPr id="226" name="Google Shape;226;p18"/>
          <p:cNvPicPr preferRelativeResize="0"/>
          <p:nvPr/>
        </p:nvPicPr>
        <p:blipFill rotWithShape="1">
          <a:blip r:embed="rId3">
            <a:alphaModFix/>
          </a:blip>
          <a:srcRect b="0" l="0" r="0" t="0"/>
          <a:stretch/>
        </p:blipFill>
        <p:spPr>
          <a:xfrm>
            <a:off x="6610350" y="2192762"/>
            <a:ext cx="5048250" cy="1725657"/>
          </a:xfrm>
          <a:prstGeom prst="rect">
            <a:avLst/>
          </a:prstGeom>
          <a:noFill/>
          <a:ln>
            <a:noFill/>
          </a:ln>
        </p:spPr>
      </p:pic>
      <p:sp>
        <p:nvSpPr>
          <p:cNvPr id="227" name="Google Shape;227;p1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4(c–d). Escape of an oversized object followed by continued empty movement.</a:t>
            </a:r>
            <a:endParaRPr sz="1800">
              <a:solidFill>
                <a:schemeClr val="dk1"/>
              </a:solidFill>
              <a:latin typeface="Calibri"/>
              <a:ea typeface="Calibri"/>
              <a:cs typeface="Calibri"/>
              <a:sym typeface="Calibri"/>
            </a:endParaRPr>
          </a:p>
        </p:txBody>
      </p:sp>
      <p:sp>
        <p:nvSpPr>
          <p:cNvPr id="228" name="Google Shape;228;p18"/>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29" name="Google Shape;229;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Cylinder trials reveal a sensory-mechanical confound</a:t>
            </a:r>
            <a:endParaRPr sz="1800">
              <a:solidFill>
                <a:schemeClr val="dk1"/>
              </a:solidFill>
              <a:latin typeface="Calibri"/>
              <a:ea typeface="Calibri"/>
              <a:cs typeface="Calibri"/>
              <a:sym typeface="Calibri"/>
            </a:endParaRPr>
          </a:p>
        </p:txBody>
      </p:sp>
      <p:sp>
        <p:nvSpPr>
          <p:cNvPr id="235" name="Google Shape;235;p1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confound</a:t>
            </a:r>
            <a:r>
              <a:rPr b="0" i="0" lang="en-US" sz="1500">
                <a:solidFill>
                  <a:srgbClr val="222831"/>
                </a:solidFill>
                <a:latin typeface="Arial"/>
                <a:ea typeface="Arial"/>
                <a:cs typeface="Arial"/>
                <a:sym typeface="Arial"/>
              </a:rPr>
              <a:t>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endParaRPr sz="1800">
              <a:solidFill>
                <a:schemeClr val="dk1"/>
              </a:solidFill>
              <a:latin typeface="Calibri"/>
              <a:ea typeface="Calibri"/>
              <a:cs typeface="Calibri"/>
              <a:sym typeface="Calibri"/>
            </a:endParaRPr>
          </a:p>
        </p:txBody>
      </p:sp>
      <p:sp>
        <p:nvSpPr>
          <p:cNvPr id="236" name="Google Shape;236;p19"/>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endParaRPr sz="1800">
              <a:solidFill>
                <a:schemeClr val="dk1"/>
              </a:solidFill>
              <a:latin typeface="Calibri"/>
              <a:ea typeface="Calibri"/>
              <a:cs typeface="Calibri"/>
              <a:sym typeface="Calibri"/>
            </a:endParaRPr>
          </a:p>
        </p:txBody>
      </p:sp>
      <p:sp>
        <p:nvSpPr>
          <p:cNvPr id="237" name="Google Shape;237;p19"/>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endParaRPr sz="1800">
              <a:solidFill>
                <a:schemeClr val="dk1"/>
              </a:solidFill>
              <a:latin typeface="Calibri"/>
              <a:ea typeface="Calibri"/>
              <a:cs typeface="Calibri"/>
              <a:sym typeface="Calibri"/>
            </a:endParaRPr>
          </a:p>
        </p:txBody>
      </p:sp>
      <p:pic>
        <p:nvPicPr>
          <p:cNvPr id="238" name="Google Shape;238;p19"/>
          <p:cNvPicPr preferRelativeResize="0"/>
          <p:nvPr/>
        </p:nvPicPr>
        <p:blipFill rotWithShape="1">
          <a:blip r:embed="rId3">
            <a:alphaModFix/>
          </a:blip>
          <a:srcRect b="0" l="0" r="0" t="0"/>
          <a:stretch/>
        </p:blipFill>
        <p:spPr>
          <a:xfrm>
            <a:off x="6610350" y="2174566"/>
            <a:ext cx="5048250" cy="1762049"/>
          </a:xfrm>
          <a:prstGeom prst="rect">
            <a:avLst/>
          </a:prstGeom>
          <a:noFill/>
          <a:ln>
            <a:noFill/>
          </a:ln>
        </p:spPr>
      </p:pic>
      <p:sp>
        <p:nvSpPr>
          <p:cNvPr id="239" name="Google Shape;239;p1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1(e–f). The natural lateral corrections whose dependence was tested with substitute objects.</a:t>
            </a:r>
            <a:endParaRPr sz="1800">
              <a:solidFill>
                <a:schemeClr val="dk1"/>
              </a:solidFill>
              <a:latin typeface="Calibri"/>
              <a:ea typeface="Calibri"/>
              <a:cs typeface="Calibri"/>
              <a:sym typeface="Calibri"/>
            </a:endParaRPr>
          </a:p>
        </p:txBody>
      </p:sp>
      <p:sp>
        <p:nvSpPr>
          <p:cNvPr id="240" name="Google Shape;240;p19"/>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41" name="Google Shape;241;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sliding cube removes the need for lateral corrections</a:t>
            </a:r>
            <a:endParaRPr sz="1800">
              <a:solidFill>
                <a:schemeClr val="dk1"/>
              </a:solidFill>
              <a:latin typeface="Calibri"/>
              <a:ea typeface="Calibri"/>
              <a:cs typeface="Calibri"/>
              <a:sym typeface="Calibri"/>
            </a:endParaRPr>
          </a:p>
        </p:txBody>
      </p:sp>
      <p:sp>
        <p:nvSpPr>
          <p:cNvPr id="247" name="Google Shape;247;p20"/>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used a small light wooden cube as a more stable substitute for an egg. Unlike an egg, it remained on the substrate without preferential sideways rolling. It could also rest on a broad face against the two sides of the lower bill.</a:t>
            </a:r>
            <a:endParaRPr sz="1800">
              <a:solidFill>
                <a:schemeClr val="dk1"/>
              </a:solidFill>
              <a:latin typeface="Calibri"/>
              <a:ea typeface="Calibri"/>
              <a:cs typeface="Calibri"/>
              <a:sym typeface="Calibri"/>
            </a:endParaRPr>
          </a:p>
        </p:txBody>
      </p:sp>
      <p:sp>
        <p:nvSpPr>
          <p:cNvPr id="248" name="Google Shape;248;p20"/>
          <p:cNvSpPr/>
          <p:nvPr/>
        </p:nvSpPr>
        <p:spPr>
          <a:xfrm>
            <a:off x="457200" y="22364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pushed the cube directly toward the nest without the ordinary side-to-side balancing movements. The inward retrieval component remained available while the unstable object trajectory that normally elicited lateral correction was removed.</a:t>
            </a:r>
            <a:endParaRPr sz="1800">
              <a:solidFill>
                <a:schemeClr val="dk1"/>
              </a:solidFill>
              <a:latin typeface="Calibri"/>
              <a:ea typeface="Calibri"/>
              <a:cs typeface="Calibri"/>
              <a:sym typeface="Calibri"/>
            </a:endParaRPr>
          </a:p>
        </p:txBody>
      </p:sp>
      <p:sp>
        <p:nvSpPr>
          <p:cNvPr id="249" name="Google Shape;249;p20"/>
          <p:cNvSpPr/>
          <p:nvPr/>
        </p:nvSpPr>
        <p:spPr>
          <a:xfrm>
            <a:off x="457200" y="34175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This is a </a:t>
            </a:r>
            <a:r>
              <a:rPr b="1" i="0" lang="en-US" sz="1500">
                <a:solidFill>
                  <a:srgbClr val="222831"/>
                </a:solidFill>
                <a:latin typeface="Arial"/>
                <a:ea typeface="Arial"/>
                <a:cs typeface="Arial"/>
                <a:sym typeface="Arial"/>
              </a:rPr>
              <a:t>component-removal test</a:t>
            </a:r>
            <a:r>
              <a:rPr b="0" i="0" lang="en-US" sz="1500">
                <a:solidFill>
                  <a:srgbClr val="222831"/>
                </a:solidFill>
                <a:latin typeface="Arial"/>
                <a:ea typeface="Arial"/>
                <a:cs typeface="Arial"/>
                <a:sym typeface="Arial"/>
              </a:rPr>
              <a: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endParaRPr sz="1800">
              <a:solidFill>
                <a:schemeClr val="dk1"/>
              </a:solidFill>
              <a:latin typeface="Calibri"/>
              <a:ea typeface="Calibri"/>
              <a:cs typeface="Calibri"/>
              <a:sym typeface="Calibri"/>
            </a:endParaRPr>
          </a:p>
        </p:txBody>
      </p:sp>
      <p:pic>
        <p:nvPicPr>
          <p:cNvPr id="250" name="Google Shape;250;p20"/>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51" name="Google Shape;251;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A light cube pushed toward the nest without ordinary lateral balancing.</a:t>
            </a:r>
            <a:endParaRPr sz="1800">
              <a:solidFill>
                <a:schemeClr val="dk1"/>
              </a:solidFill>
              <a:latin typeface="Calibri"/>
              <a:ea typeface="Calibri"/>
              <a:cs typeface="Calibri"/>
              <a:sym typeface="Calibri"/>
            </a:endParaRPr>
          </a:p>
        </p:txBody>
      </p:sp>
      <p:sp>
        <p:nvSpPr>
          <p:cNvPr id="252" name="Google Shape;252;p20"/>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53" name="Google Shape;253;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oversized object can cause mechanical failure</a:t>
            </a:r>
            <a:endParaRPr sz="1800">
              <a:solidFill>
                <a:schemeClr val="dk1"/>
              </a:solidFill>
              <a:latin typeface="Calibri"/>
              <a:ea typeface="Calibri"/>
              <a:cs typeface="Calibri"/>
              <a:sym typeface="Calibri"/>
            </a:endParaRPr>
          </a:p>
        </p:txBody>
      </p:sp>
      <p:sp>
        <p:nvSpPr>
          <p:cNvPr id="259" name="Google Shape;259;p21"/>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endParaRPr sz="1800">
              <a:solidFill>
                <a:schemeClr val="dk1"/>
              </a:solidFill>
              <a:latin typeface="Calibri"/>
              <a:ea typeface="Calibri"/>
              <a:cs typeface="Calibri"/>
              <a:sym typeface="Calibri"/>
            </a:endParaRPr>
          </a:p>
        </p:txBody>
      </p:sp>
      <p:sp>
        <p:nvSpPr>
          <p:cNvPr id="260" name="Google Shape;260;p21"/>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endParaRPr sz="1800">
              <a:solidFill>
                <a:schemeClr val="dk1"/>
              </a:solidFill>
              <a:latin typeface="Calibri"/>
              <a:ea typeface="Calibri"/>
              <a:cs typeface="Calibri"/>
              <a:sym typeface="Calibri"/>
            </a:endParaRPr>
          </a:p>
        </p:txBody>
      </p:sp>
      <p:sp>
        <p:nvSpPr>
          <p:cNvPr id="261" name="Google Shape;261;p21"/>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Motor flexibility</a:t>
            </a:r>
            <a:r>
              <a:rPr b="0" i="0" lang="en-US" sz="1500">
                <a:solidFill>
                  <a:srgbClr val="222831"/>
                </a:solidFill>
                <a:latin typeface="Arial"/>
                <a:ea typeface="Arial"/>
                <a:cs typeface="Arial"/>
                <a:sym typeface="Arial"/>
              </a:rPr>
              <a:t>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endParaRPr sz="1800">
              <a:solidFill>
                <a:schemeClr val="dk1"/>
              </a:solidFill>
              <a:latin typeface="Calibri"/>
              <a:ea typeface="Calibri"/>
              <a:cs typeface="Calibri"/>
              <a:sym typeface="Calibri"/>
            </a:endParaRPr>
          </a:p>
        </p:txBody>
      </p:sp>
      <p:pic>
        <p:nvPicPr>
          <p:cNvPr id="262" name="Google Shape;262;p21"/>
          <p:cNvPicPr preferRelativeResize="0"/>
          <p:nvPr/>
        </p:nvPicPr>
        <p:blipFill rotWithShape="1">
          <a:blip r:embed="rId3">
            <a:alphaModFix/>
          </a:blip>
          <a:srcRect b="0" l="0" r="0" t="0"/>
          <a:stretch/>
        </p:blipFill>
        <p:spPr>
          <a:xfrm>
            <a:off x="6610350" y="2170638"/>
            <a:ext cx="5048250" cy="1769904"/>
          </a:xfrm>
          <a:prstGeom prst="rect">
            <a:avLst/>
          </a:prstGeom>
          <a:noFill/>
          <a:ln>
            <a:noFill/>
          </a:ln>
        </p:spPr>
      </p:pic>
      <p:sp>
        <p:nvSpPr>
          <p:cNvPr id="263" name="Google Shape;263;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4(a–b). Initial contact and jamming during retrieval of an oversized cardboard egg.</a:t>
            </a:r>
            <a:endParaRPr sz="1800">
              <a:solidFill>
                <a:schemeClr val="dk1"/>
              </a:solidFill>
              <a:latin typeface="Calibri"/>
              <a:ea typeface="Calibri"/>
              <a:cs typeface="Calibri"/>
              <a:sym typeface="Calibri"/>
            </a:endParaRPr>
          </a:p>
        </p:txBody>
      </p:sp>
      <p:sp>
        <p:nvSpPr>
          <p:cNvPr id="264" name="Google Shape;264;p21"/>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65" name="Google Shape;265;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Object escape separates continuation from success</a:t>
            </a:r>
            <a:endParaRPr sz="1800">
              <a:solidFill>
                <a:schemeClr val="dk1"/>
              </a:solidFill>
              <a:latin typeface="Calibri"/>
              <a:ea typeface="Calibri"/>
              <a:cs typeface="Calibri"/>
              <a:sym typeface="Calibri"/>
            </a:endParaRPr>
          </a:p>
        </p:txBody>
      </p:sp>
      <p:sp>
        <p:nvSpPr>
          <p:cNvPr id="271" name="Google Shape;271;p2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endParaRPr sz="1800">
              <a:solidFill>
                <a:schemeClr val="dk1"/>
              </a:solidFill>
              <a:latin typeface="Calibri"/>
              <a:ea typeface="Calibri"/>
              <a:cs typeface="Calibri"/>
              <a:sym typeface="Calibri"/>
            </a:endParaRPr>
          </a:p>
        </p:txBody>
      </p:sp>
      <p:sp>
        <p:nvSpPr>
          <p:cNvPr id="272" name="Google Shape;272;p2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goose’s head subsequently reached the clutch, where the bird moved the eggs and settled. The artificial egg remained outside the nest. Completion of the recurring movement therefore did not imply that the intended external result had been achieved.</a:t>
            </a:r>
            <a:endParaRPr sz="1800">
              <a:solidFill>
                <a:schemeClr val="dk1"/>
              </a:solidFill>
              <a:latin typeface="Calibri"/>
              <a:ea typeface="Calibri"/>
              <a:cs typeface="Calibri"/>
              <a:sym typeface="Calibri"/>
            </a:endParaRPr>
          </a:p>
        </p:txBody>
      </p:sp>
      <p:sp>
        <p:nvSpPr>
          <p:cNvPr id="273" name="Google Shape;273;p22"/>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motor sequence</a:t>
            </a:r>
            <a:r>
              <a:rPr b="0" i="0" lang="en-US" sz="1500">
                <a:solidFill>
                  <a:srgbClr val="222831"/>
                </a:solidFill>
                <a:latin typeface="Arial"/>
                <a:ea typeface="Arial"/>
                <a:cs typeface="Arial"/>
                <a:sym typeface="Arial"/>
              </a:rPr>
              <a:t>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endParaRPr sz="1800">
              <a:solidFill>
                <a:schemeClr val="dk1"/>
              </a:solidFill>
              <a:latin typeface="Calibri"/>
              <a:ea typeface="Calibri"/>
              <a:cs typeface="Calibri"/>
              <a:sym typeface="Calibri"/>
            </a:endParaRPr>
          </a:p>
        </p:txBody>
      </p:sp>
      <p:pic>
        <p:nvPicPr>
          <p:cNvPr id="274" name="Google Shape;274;p22"/>
          <p:cNvPicPr preferRelativeResize="0"/>
          <p:nvPr/>
        </p:nvPicPr>
        <p:blipFill rotWithShape="1">
          <a:blip r:embed="rId3">
            <a:alphaModFix/>
          </a:blip>
          <a:srcRect b="0" l="0" r="0" t="0"/>
          <a:stretch/>
        </p:blipFill>
        <p:spPr>
          <a:xfrm>
            <a:off x="6610350" y="2192762"/>
            <a:ext cx="5048250" cy="1725657"/>
          </a:xfrm>
          <a:prstGeom prst="rect">
            <a:avLst/>
          </a:prstGeom>
          <a:noFill/>
          <a:ln>
            <a:noFill/>
          </a:ln>
        </p:spPr>
      </p:pic>
      <p:sp>
        <p:nvSpPr>
          <p:cNvPr id="275" name="Google Shape;275;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4(c–d). Sudden object escape and subsequent empty inward movement.</a:t>
            </a:r>
            <a:endParaRPr sz="1800">
              <a:solidFill>
                <a:schemeClr val="dk1"/>
              </a:solidFill>
              <a:latin typeface="Calibri"/>
              <a:ea typeface="Calibri"/>
              <a:cs typeface="Calibri"/>
              <a:sym typeface="Calibri"/>
            </a:endParaRPr>
          </a:p>
        </p:txBody>
      </p:sp>
      <p:sp>
        <p:nvSpPr>
          <p:cNvPr id="276" name="Google Shape;276;p22"/>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77" name="Google Shape;277;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Object weight tests the limits of force adjustment</a:t>
            </a:r>
            <a:endParaRPr sz="1800">
              <a:solidFill>
                <a:schemeClr val="dk1"/>
              </a:solidFill>
              <a:latin typeface="Calibri"/>
              <a:ea typeface="Calibri"/>
              <a:cs typeface="Calibri"/>
              <a:sym typeface="Calibri"/>
            </a:endParaRPr>
          </a:p>
        </p:txBody>
      </p:sp>
      <p:sp>
        <p:nvSpPr>
          <p:cNvPr id="283" name="Google Shape;283;p2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endParaRPr sz="1800">
              <a:solidFill>
                <a:schemeClr val="dk1"/>
              </a:solidFill>
              <a:latin typeface="Calibri"/>
              <a:ea typeface="Calibri"/>
              <a:cs typeface="Calibri"/>
              <a:sym typeface="Calibri"/>
            </a:endParaRPr>
          </a:p>
        </p:txBody>
      </p:sp>
      <p:sp>
        <p:nvSpPr>
          <p:cNvPr id="284" name="Google Shape;284;p2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endParaRPr sz="1800">
              <a:solidFill>
                <a:schemeClr val="dk1"/>
              </a:solidFill>
              <a:latin typeface="Calibri"/>
              <a:ea typeface="Calibri"/>
              <a:cs typeface="Calibri"/>
              <a:sym typeface="Calibri"/>
            </a:endParaRPr>
          </a:p>
        </p:txBody>
      </p:sp>
      <p:sp>
        <p:nvSpPr>
          <p:cNvPr id="285" name="Google Shape;285;p23"/>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Muscle tone</a:t>
            </a:r>
            <a:r>
              <a:rPr b="0" i="0" lang="en-US" sz="1500">
                <a:solidFill>
                  <a:srgbClr val="222831"/>
                </a:solidFill>
                <a:latin typeface="Arial"/>
                <a:ea typeface="Arial"/>
                <a:cs typeface="Arial"/>
                <a:sym typeface="Arial"/>
              </a:rPr>
              <a:t>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endParaRPr sz="1800">
              <a:solidFill>
                <a:schemeClr val="dk1"/>
              </a:solidFill>
              <a:latin typeface="Calibri"/>
              <a:ea typeface="Calibri"/>
              <a:cs typeface="Calibri"/>
              <a:sym typeface="Calibri"/>
            </a:endParaRPr>
          </a:p>
        </p:txBody>
      </p:sp>
      <p:pic>
        <p:nvPicPr>
          <p:cNvPr id="286" name="Google Shape;286;p23"/>
          <p:cNvPicPr preferRelativeResize="0"/>
          <p:nvPr/>
        </p:nvPicPr>
        <p:blipFill rotWithShape="1">
          <a:blip r:embed="rId3">
            <a:alphaModFix/>
          </a:blip>
          <a:srcRect b="0" l="0" r="0" t="0"/>
          <a:stretch/>
        </p:blipFill>
        <p:spPr>
          <a:xfrm>
            <a:off x="6610350" y="2211775"/>
            <a:ext cx="5048250" cy="1687631"/>
          </a:xfrm>
          <a:prstGeom prst="rect">
            <a:avLst/>
          </a:prstGeom>
          <a:noFill/>
          <a:ln>
            <a:noFill/>
          </a:ln>
        </p:spPr>
      </p:pic>
      <p:sp>
        <p:nvSpPr>
          <p:cNvPr id="287" name="Google Shape;287;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5. A light cube whose transport was compared with heavier substitutes.</a:t>
            </a:r>
            <a:endParaRPr sz="1800">
              <a:solidFill>
                <a:schemeClr val="dk1"/>
              </a:solidFill>
              <a:latin typeface="Calibri"/>
              <a:ea typeface="Calibri"/>
              <a:cs typeface="Calibri"/>
              <a:sym typeface="Calibri"/>
            </a:endParaRPr>
          </a:p>
        </p:txBody>
      </p:sp>
      <p:sp>
        <p:nvSpPr>
          <p:cNvPr id="288" name="Google Shape;288;p23"/>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289" name="Google Shape;289;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Nest geometry can change the outcome of a fixed movement</a:t>
            </a:r>
            <a:endParaRPr sz="1800">
              <a:solidFill>
                <a:schemeClr val="dk1"/>
              </a:solidFill>
              <a:latin typeface="Calibri"/>
              <a:ea typeface="Calibri"/>
              <a:cs typeface="Calibri"/>
              <a:sym typeface="Calibri"/>
            </a:endParaRPr>
          </a:p>
        </p:txBody>
      </p:sp>
      <p:sp>
        <p:nvSpPr>
          <p:cNvPr id="295" name="Google Shape;295;p2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endParaRPr sz="1800">
              <a:solidFill>
                <a:schemeClr val="dk1"/>
              </a:solidFill>
              <a:latin typeface="Calibri"/>
              <a:ea typeface="Calibri"/>
              <a:cs typeface="Calibri"/>
              <a:sym typeface="Calibri"/>
            </a:endParaRPr>
          </a:p>
        </p:txBody>
      </p:sp>
      <p:sp>
        <p:nvSpPr>
          <p:cNvPr id="296" name="Google Shape;296;p2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endParaRPr sz="1800">
              <a:solidFill>
                <a:schemeClr val="dk1"/>
              </a:solidFill>
              <a:latin typeface="Calibri"/>
              <a:ea typeface="Calibri"/>
              <a:cs typeface="Calibri"/>
              <a:sym typeface="Calibri"/>
            </a:endParaRPr>
          </a:p>
        </p:txBody>
      </p:sp>
      <p:sp>
        <p:nvSpPr>
          <p:cNvPr id="297" name="Google Shape;297;p24"/>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endParaRPr sz="1800">
              <a:solidFill>
                <a:schemeClr val="dk1"/>
              </a:solidFill>
              <a:latin typeface="Calibri"/>
              <a:ea typeface="Calibri"/>
              <a:cs typeface="Calibri"/>
              <a:sym typeface="Calibri"/>
            </a:endParaRPr>
          </a:p>
        </p:txBody>
      </p:sp>
      <p:pic>
        <p:nvPicPr>
          <p:cNvPr id="298" name="Google Shape;298;p24"/>
          <p:cNvPicPr preferRelativeResize="0"/>
          <p:nvPr/>
        </p:nvPicPr>
        <p:blipFill rotWithShape="1">
          <a:blip r:embed="rId3">
            <a:alphaModFix/>
          </a:blip>
          <a:srcRect b="0" l="0" r="0" t="0"/>
          <a:stretch/>
        </p:blipFill>
        <p:spPr>
          <a:xfrm>
            <a:off x="6610350" y="2178598"/>
            <a:ext cx="5048250" cy="1753985"/>
          </a:xfrm>
          <a:prstGeom prst="rect">
            <a:avLst/>
          </a:prstGeom>
          <a:noFill/>
          <a:ln>
            <a:noFill/>
          </a:ln>
        </p:spPr>
      </p:pic>
      <p:sp>
        <p:nvSpPr>
          <p:cNvPr id="299" name="Google Shape;299;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1(c–d). Inward rolling toward the nest and lifting of the transported egg.</a:t>
            </a:r>
            <a:endParaRPr sz="1800">
              <a:solidFill>
                <a:schemeClr val="dk1"/>
              </a:solidFill>
              <a:latin typeface="Calibri"/>
              <a:ea typeface="Calibri"/>
              <a:cs typeface="Calibri"/>
              <a:sym typeface="Calibri"/>
            </a:endParaRPr>
          </a:p>
        </p:txBody>
      </p:sp>
      <p:sp>
        <p:nvSpPr>
          <p:cNvPr id="300" name="Google Shape;300;p24"/>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01" name="Google Shape;301;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Repeated retrieval reduces readiness to execute</a:t>
            </a:r>
            <a:endParaRPr sz="1800">
              <a:solidFill>
                <a:schemeClr val="dk1"/>
              </a:solidFill>
              <a:latin typeface="Calibri"/>
              <a:ea typeface="Calibri"/>
              <a:cs typeface="Calibri"/>
              <a:sym typeface="Calibri"/>
            </a:endParaRPr>
          </a:p>
        </p:txBody>
      </p:sp>
      <p:sp>
        <p:nvSpPr>
          <p:cNvPr id="307" name="Google Shape;307;p2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endParaRPr sz="1800">
              <a:solidFill>
                <a:schemeClr val="dk1"/>
              </a:solidFill>
              <a:latin typeface="Calibri"/>
              <a:ea typeface="Calibri"/>
              <a:cs typeface="Calibri"/>
              <a:sym typeface="Calibri"/>
            </a:endParaRPr>
          </a:p>
        </p:txBody>
      </p:sp>
      <p:sp>
        <p:nvSpPr>
          <p:cNvPr id="308" name="Google Shape;308;p2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Response-specific fatigue</a:t>
            </a:r>
            <a:r>
              <a:rPr b="0" i="0" lang="en-US" sz="1500">
                <a:solidFill>
                  <a:srgbClr val="222831"/>
                </a:solidFill>
                <a:latin typeface="Arial"/>
                <a:ea typeface="Arial"/>
                <a:cs typeface="Arial"/>
                <a:sym typeface="Arial"/>
              </a:rPr>
              <a:t> describes a reduction in the availability of a particular action after repeated performance. The authors distinguished this from loss of responsiveness to the object. Eggs were presented more frequently than they would normally leave the nest under natural conditions.</a:t>
            </a:r>
            <a:endParaRPr sz="1800">
              <a:solidFill>
                <a:schemeClr val="dk1"/>
              </a:solidFill>
              <a:latin typeface="Calibri"/>
              <a:ea typeface="Calibri"/>
              <a:cs typeface="Calibri"/>
              <a:sym typeface="Calibri"/>
            </a:endParaRPr>
          </a:p>
        </p:txBody>
      </p:sp>
      <p:sp>
        <p:nvSpPr>
          <p:cNvPr id="309" name="Google Shape;309;p25"/>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endParaRPr sz="1800">
              <a:solidFill>
                <a:schemeClr val="dk1"/>
              </a:solidFill>
              <a:latin typeface="Calibri"/>
              <a:ea typeface="Calibri"/>
              <a:cs typeface="Calibri"/>
              <a:sym typeface="Calibri"/>
            </a:endParaRPr>
          </a:p>
        </p:txBody>
      </p:sp>
      <p:pic>
        <p:nvPicPr>
          <p:cNvPr id="310" name="Google Shape;310;p25"/>
          <p:cNvPicPr preferRelativeResize="0"/>
          <p:nvPr/>
        </p:nvPicPr>
        <p:blipFill rotWithShape="1">
          <a:blip r:embed="rId3">
            <a:alphaModFix/>
          </a:blip>
          <a:srcRect b="0" l="0" r="0" t="0"/>
          <a:stretch/>
        </p:blipFill>
        <p:spPr>
          <a:xfrm>
            <a:off x="6610350" y="2147483"/>
            <a:ext cx="5048250" cy="1816214"/>
          </a:xfrm>
          <a:prstGeom prst="rect">
            <a:avLst/>
          </a:prstGeom>
          <a:noFill/>
          <a:ln>
            <a:noFill/>
          </a:ln>
        </p:spPr>
      </p:pic>
      <p:sp>
        <p:nvSpPr>
          <p:cNvPr id="311" name="Google Shape;311;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6(a–c). Orientation and an alternative nest-material movement after repeated retrieval.</a:t>
            </a:r>
            <a:endParaRPr sz="1800">
              <a:solidFill>
                <a:schemeClr val="dk1"/>
              </a:solidFill>
              <a:latin typeface="Calibri"/>
              <a:ea typeface="Calibri"/>
              <a:cs typeface="Calibri"/>
              <a:sym typeface="Calibri"/>
            </a:endParaRPr>
          </a:p>
        </p:txBody>
      </p:sp>
      <p:sp>
        <p:nvSpPr>
          <p:cNvPr id="312" name="Google Shape;312;p25"/>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13" name="Google Shape;313;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An alternative action can follow failed egg retrieval</a:t>
            </a:r>
            <a:endParaRPr sz="1800">
              <a:solidFill>
                <a:schemeClr val="dk1"/>
              </a:solidFill>
              <a:latin typeface="Calibri"/>
              <a:ea typeface="Calibri"/>
              <a:cs typeface="Calibri"/>
              <a:sym typeface="Calibri"/>
            </a:endParaRPr>
          </a:p>
        </p:txBody>
      </p:sp>
      <p:sp>
        <p:nvSpPr>
          <p:cNvPr id="319" name="Google Shape;319;p2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endParaRPr sz="1800">
              <a:solidFill>
                <a:schemeClr val="dk1"/>
              </a:solidFill>
              <a:latin typeface="Calibri"/>
              <a:ea typeface="Calibri"/>
              <a:cs typeface="Calibri"/>
              <a:sym typeface="Calibri"/>
            </a:endParaRPr>
          </a:p>
        </p:txBody>
      </p:sp>
      <p:sp>
        <p:nvSpPr>
          <p:cNvPr id="320" name="Google Shape;320;p2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displacement action</a:t>
            </a:r>
            <a:r>
              <a:rPr b="0" i="0" lang="en-US" sz="1500">
                <a:solidFill>
                  <a:srgbClr val="222831"/>
                </a:solidFill>
                <a:latin typeface="Arial"/>
                <a:ea typeface="Arial"/>
                <a:cs typeface="Arial"/>
                <a:sym typeface="Arial"/>
              </a:rPr>
              <a:t> is an action appearing in a context where its ordinary function does not fit the immediate situation. The nest-material movement did not reliably transport the egg as the normal inward rolling movement would. The visible stimulus remained effective in attracting attention.</a:t>
            </a:r>
            <a:endParaRPr sz="1800">
              <a:solidFill>
                <a:schemeClr val="dk1"/>
              </a:solidFill>
              <a:latin typeface="Calibri"/>
              <a:ea typeface="Calibri"/>
              <a:cs typeface="Calibri"/>
              <a:sym typeface="Calibri"/>
            </a:endParaRPr>
          </a:p>
        </p:txBody>
      </p:sp>
      <p:sp>
        <p:nvSpPr>
          <p:cNvPr id="321" name="Google Shape;321;p26"/>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endParaRPr sz="1800">
              <a:solidFill>
                <a:schemeClr val="dk1"/>
              </a:solidFill>
              <a:latin typeface="Calibri"/>
              <a:ea typeface="Calibri"/>
              <a:cs typeface="Calibri"/>
              <a:sym typeface="Calibri"/>
            </a:endParaRPr>
          </a:p>
        </p:txBody>
      </p:sp>
      <p:pic>
        <p:nvPicPr>
          <p:cNvPr id="322" name="Google Shape;322;p26"/>
          <p:cNvPicPr preferRelativeResize="0"/>
          <p:nvPr/>
        </p:nvPicPr>
        <p:blipFill rotWithShape="1">
          <a:blip r:embed="rId3">
            <a:alphaModFix/>
          </a:blip>
          <a:srcRect b="0" l="0" r="0" t="0"/>
          <a:stretch/>
        </p:blipFill>
        <p:spPr>
          <a:xfrm>
            <a:off x="6610350" y="2147483"/>
            <a:ext cx="5048250" cy="1816214"/>
          </a:xfrm>
          <a:prstGeom prst="rect">
            <a:avLst/>
          </a:prstGeom>
          <a:noFill/>
          <a:ln>
            <a:noFill/>
          </a:ln>
        </p:spPr>
      </p:pic>
      <p:sp>
        <p:nvSpPr>
          <p:cNvPr id="323" name="Google Shape;323;p2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6(a–c). Neck extension followed by the nest-material placing movement.</a:t>
            </a:r>
            <a:endParaRPr sz="1800">
              <a:solidFill>
                <a:schemeClr val="dk1"/>
              </a:solidFill>
              <a:latin typeface="Calibri"/>
              <a:ea typeface="Calibri"/>
              <a:cs typeface="Calibri"/>
              <a:sym typeface="Calibri"/>
            </a:endParaRPr>
          </a:p>
        </p:txBody>
      </p:sp>
      <p:sp>
        <p:nvSpPr>
          <p:cNvPr id="324" name="Google Shape;324;p26"/>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25" name="Google Shape;325;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Experience can narrow acceptance of substitute objects</a:t>
            </a:r>
            <a:endParaRPr sz="1800">
              <a:solidFill>
                <a:schemeClr val="dk1"/>
              </a:solidFill>
              <a:latin typeface="Calibri"/>
              <a:ea typeface="Calibri"/>
              <a:cs typeface="Calibri"/>
              <a:sym typeface="Calibri"/>
            </a:endParaRPr>
          </a:p>
        </p:txBody>
      </p:sp>
      <p:sp>
        <p:nvSpPr>
          <p:cNvPr id="331" name="Google Shape;331;p2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endParaRPr sz="1800">
              <a:solidFill>
                <a:schemeClr val="dk1"/>
              </a:solidFill>
              <a:latin typeface="Calibri"/>
              <a:ea typeface="Calibri"/>
              <a:cs typeface="Calibri"/>
              <a:sym typeface="Calibri"/>
            </a:endParaRPr>
          </a:p>
        </p:txBody>
      </p:sp>
      <p:sp>
        <p:nvSpPr>
          <p:cNvPr id="332" name="Google Shape;332;p27"/>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endParaRPr sz="1800">
              <a:solidFill>
                <a:schemeClr val="dk1"/>
              </a:solidFill>
              <a:latin typeface="Calibri"/>
              <a:ea typeface="Calibri"/>
              <a:cs typeface="Calibri"/>
              <a:sym typeface="Calibri"/>
            </a:endParaRPr>
          </a:p>
        </p:txBody>
      </p:sp>
      <p:sp>
        <p:nvSpPr>
          <p:cNvPr id="333" name="Google Shape;333;p27"/>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Stimulus selectivity</a:t>
            </a:r>
            <a:r>
              <a:rPr b="0" i="0" lang="en-US" sz="1500">
                <a:solidFill>
                  <a:srgbClr val="222831"/>
                </a:solidFill>
                <a:latin typeface="Arial"/>
                <a:ea typeface="Arial"/>
                <a:cs typeface="Arial"/>
                <a:sym typeface="Arial"/>
              </a:rPr>
              <a:t>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endParaRPr sz="1800">
              <a:solidFill>
                <a:schemeClr val="dk1"/>
              </a:solidFill>
              <a:latin typeface="Calibri"/>
              <a:ea typeface="Calibri"/>
              <a:cs typeface="Calibri"/>
              <a:sym typeface="Calibri"/>
            </a:endParaRPr>
          </a:p>
        </p:txBody>
      </p:sp>
      <p:pic>
        <p:nvPicPr>
          <p:cNvPr id="334" name="Google Shape;334;p27"/>
          <p:cNvPicPr preferRelativeResize="0"/>
          <p:nvPr/>
        </p:nvPicPr>
        <p:blipFill rotWithShape="1">
          <a:blip r:embed="rId3">
            <a:alphaModFix/>
          </a:blip>
          <a:srcRect b="0" l="0" r="0" t="0"/>
          <a:stretch/>
        </p:blipFill>
        <p:spPr>
          <a:xfrm>
            <a:off x="6610350" y="2143355"/>
            <a:ext cx="5048250" cy="1824470"/>
          </a:xfrm>
          <a:prstGeom prst="rect">
            <a:avLst/>
          </a:prstGeom>
          <a:noFill/>
          <a:ln>
            <a:noFill/>
          </a:ln>
        </p:spPr>
      </p:pic>
      <p:sp>
        <p:nvSpPr>
          <p:cNvPr id="335" name="Google Shape;335;p2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6(d–e). Avoidance of an artificial egg after changes in response readiness.</a:t>
            </a:r>
            <a:endParaRPr sz="1800">
              <a:solidFill>
                <a:schemeClr val="dk1"/>
              </a:solidFill>
              <a:latin typeface="Calibri"/>
              <a:ea typeface="Calibri"/>
              <a:cs typeface="Calibri"/>
              <a:sym typeface="Calibri"/>
            </a:endParaRPr>
          </a:p>
        </p:txBody>
      </p:sp>
      <p:sp>
        <p:nvSpPr>
          <p:cNvPr id="336" name="Google Shape;336;p27"/>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37" name="Google Shape;337;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Hatching changes the response to exposed shell edges</a:t>
            </a:r>
            <a:endParaRPr sz="1800">
              <a:solidFill>
                <a:schemeClr val="dk1"/>
              </a:solidFill>
              <a:latin typeface="Calibri"/>
              <a:ea typeface="Calibri"/>
              <a:cs typeface="Calibri"/>
              <a:sym typeface="Calibri"/>
            </a:endParaRPr>
          </a:p>
        </p:txBody>
      </p:sp>
      <p:sp>
        <p:nvSpPr>
          <p:cNvPr id="343" name="Google Shape;343;p2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Lorenz and Tinbergen observed destructive nibbling when externally incubated, beginning-to-hatch eggs were placed under their experimental goose. The exposed shell margins elicited vigorous biting. The investigators removed these eggs before the chicks were harmed further.</a:t>
            </a:r>
            <a:endParaRPr sz="1800">
              <a:solidFill>
                <a:schemeClr val="dk1"/>
              </a:solidFill>
              <a:latin typeface="Calibri"/>
              <a:ea typeface="Calibri"/>
              <a:cs typeface="Calibri"/>
              <a:sym typeface="Calibri"/>
            </a:endParaRPr>
          </a:p>
        </p:txBody>
      </p:sp>
      <p:sp>
        <p:nvSpPr>
          <p:cNvPr id="344" name="Google Shape;344;p28"/>
          <p:cNvSpPr/>
          <p:nvPr/>
        </p:nvSpPr>
        <p:spPr>
          <a:xfrm>
            <a:off x="457200" y="25031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Two days later, when the goose’s own chicks began to hatch, the response to exposed shell margins had disappeared. The bird attended to and gently contacted the hatching eggs without the earlier biting, even when openings were presented directly.</a:t>
            </a:r>
            <a:endParaRPr sz="1800">
              <a:solidFill>
                <a:schemeClr val="dk1"/>
              </a:solidFill>
              <a:latin typeface="Calibri"/>
              <a:ea typeface="Calibri"/>
              <a:cs typeface="Calibri"/>
              <a:sym typeface="Calibri"/>
            </a:endParaRPr>
          </a:p>
        </p:txBody>
      </p:sp>
      <p:sp>
        <p:nvSpPr>
          <p:cNvPr id="345" name="Google Shape;345;p28"/>
          <p:cNvSpPr/>
          <p:nvPr/>
        </p:nvSpPr>
        <p:spPr>
          <a:xfrm>
            <a:off x="457200" y="3684240"/>
            <a:ext cx="5829300" cy="1866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State-dependent response selection</a:t>
            </a:r>
            <a:r>
              <a:rPr b="0" i="0" lang="en-US" sz="1500">
                <a:solidFill>
                  <a:srgbClr val="222831"/>
                </a:solidFill>
                <a:latin typeface="Arial"/>
                <a:ea typeface="Arial"/>
                <a:cs typeface="Arial"/>
                <a:sym typeface="Arial"/>
              </a:rPr>
              <a:t>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endParaRPr sz="1800">
              <a:solidFill>
                <a:schemeClr val="dk1"/>
              </a:solidFill>
              <a:latin typeface="Calibri"/>
              <a:ea typeface="Calibri"/>
              <a:cs typeface="Calibri"/>
              <a:sym typeface="Calibri"/>
            </a:endParaRPr>
          </a:p>
        </p:txBody>
      </p:sp>
      <p:pic>
        <p:nvPicPr>
          <p:cNvPr id="346" name="Google Shape;346;p28"/>
          <p:cNvPicPr preferRelativeResize="0"/>
          <p:nvPr/>
        </p:nvPicPr>
        <p:blipFill rotWithShape="1">
          <a:blip r:embed="rId3">
            <a:alphaModFix/>
          </a:blip>
          <a:srcRect b="0" l="0" r="0" t="0"/>
          <a:stretch/>
        </p:blipFill>
        <p:spPr>
          <a:xfrm>
            <a:off x="6610350" y="1327912"/>
            <a:ext cx="5048250" cy="3455356"/>
          </a:xfrm>
          <a:prstGeom prst="rect">
            <a:avLst/>
          </a:prstGeom>
          <a:noFill/>
          <a:ln>
            <a:noFill/>
          </a:ln>
        </p:spPr>
      </p:pic>
      <p:sp>
        <p:nvSpPr>
          <p:cNvPr id="347" name="Google Shape;347;p2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Lorenz &amp; Tinbergen (1938), Fig. 3. Edge nibbling, the response that changed near hatching.</a:t>
            </a:r>
            <a:endParaRPr sz="1800">
              <a:solidFill>
                <a:schemeClr val="dk1"/>
              </a:solidFill>
              <a:latin typeface="Calibri"/>
              <a:ea typeface="Calibri"/>
              <a:cs typeface="Calibri"/>
              <a:sym typeface="Calibri"/>
            </a:endParaRPr>
          </a:p>
        </p:txBody>
      </p:sp>
      <p:sp>
        <p:nvSpPr>
          <p:cNvPr id="348" name="Google Shape;348;p28"/>
          <p:cNvSpPr/>
          <p:nvPr/>
        </p:nvSpPr>
        <p:spPr>
          <a:xfrm>
            <a:off x="457200" y="6462713"/>
            <a:ext cx="155272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Lorenz &amp; Tinbergen (1938)</a:t>
            </a:r>
            <a:endParaRPr sz="1800">
              <a:solidFill>
                <a:schemeClr val="dk1"/>
              </a:solidFill>
              <a:latin typeface="Calibri"/>
              <a:ea typeface="Calibri"/>
              <a:cs typeface="Calibri"/>
              <a:sym typeface="Calibri"/>
            </a:endParaRPr>
          </a:p>
        </p:txBody>
      </p:sp>
      <p:sp>
        <p:nvSpPr>
          <p:cNvPr id="349" name="Google Shape;349;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Stimulus tests do not identify a release circuit</a:t>
            </a:r>
            <a:endParaRPr sz="1800">
              <a:solidFill>
                <a:schemeClr val="dk1"/>
              </a:solidFill>
              <a:latin typeface="Calibri"/>
              <a:ea typeface="Calibri"/>
              <a:cs typeface="Calibri"/>
              <a:sym typeface="Calibri"/>
            </a:endParaRPr>
          </a:p>
        </p:txBody>
      </p:sp>
      <p:sp>
        <p:nvSpPr>
          <p:cNvPr id="355" name="Google Shape;355;p2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neural circuit</a:t>
            </a:r>
            <a:r>
              <a:rPr b="0" i="0" lang="en-US" sz="1500">
                <a:solidFill>
                  <a:srgbClr val="222831"/>
                </a:solidFill>
                <a:latin typeface="Arial"/>
                <a:ea typeface="Arial"/>
                <a:cs typeface="Arial"/>
                <a:sym typeface="Arial"/>
              </a:rPr>
              <a:t> is a connected set of neurons whose activity contributes to processing information or producing behavior. The classic stimulus experiments identified behavioral relationships, but did not record the circuits that respond to red coloration, posture, or egg contact.</a:t>
            </a:r>
            <a:endParaRPr sz="1800">
              <a:solidFill>
                <a:schemeClr val="dk1"/>
              </a:solidFill>
              <a:latin typeface="Calibri"/>
              <a:ea typeface="Calibri"/>
              <a:cs typeface="Calibri"/>
              <a:sym typeface="Calibri"/>
            </a:endParaRPr>
          </a:p>
        </p:txBody>
      </p:sp>
      <p:sp>
        <p:nvSpPr>
          <p:cNvPr id="356" name="Google Shape;356;p29"/>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endParaRPr sz="1800">
              <a:solidFill>
                <a:schemeClr val="dk1"/>
              </a:solidFill>
              <a:latin typeface="Calibri"/>
              <a:ea typeface="Calibri"/>
              <a:cs typeface="Calibri"/>
              <a:sym typeface="Calibri"/>
            </a:endParaRPr>
          </a:p>
        </p:txBody>
      </p:sp>
      <p:sp>
        <p:nvSpPr>
          <p:cNvPr id="357" name="Google Shape;357;p29"/>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endParaRPr sz="1800">
              <a:solidFill>
                <a:schemeClr val="dk1"/>
              </a:solidFill>
              <a:latin typeface="Calibri"/>
              <a:ea typeface="Calibri"/>
              <a:cs typeface="Calibri"/>
              <a:sym typeface="Calibri"/>
            </a:endParaRPr>
          </a:p>
        </p:txBody>
      </p:sp>
      <p:pic>
        <p:nvPicPr>
          <p:cNvPr id="358" name="Google Shape;358;p29"/>
          <p:cNvPicPr preferRelativeResize="0"/>
          <p:nvPr/>
        </p:nvPicPr>
        <p:blipFill rotWithShape="1">
          <a:blip r:embed="rId3">
            <a:alphaModFix/>
          </a:blip>
          <a:srcRect b="0" l="0" r="0" t="0"/>
          <a:stretch/>
        </p:blipFill>
        <p:spPr>
          <a:xfrm>
            <a:off x="6610350" y="2023189"/>
            <a:ext cx="5048250" cy="2064803"/>
          </a:xfrm>
          <a:prstGeom prst="rect">
            <a:avLst/>
          </a:prstGeom>
          <a:noFill/>
          <a:ln>
            <a:noFill/>
          </a:ln>
        </p:spPr>
      </p:pic>
      <p:sp>
        <p:nvSpPr>
          <p:cNvPr id="359" name="Google Shape;359;p2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2(A–C). Brain visibility through the skull and dissected dorsal brain anatomy.</a:t>
            </a:r>
            <a:endParaRPr sz="1800">
              <a:solidFill>
                <a:schemeClr val="dk1"/>
              </a:solidFill>
              <a:latin typeface="Calibri"/>
              <a:ea typeface="Calibri"/>
              <a:cs typeface="Calibri"/>
              <a:sym typeface="Calibri"/>
            </a:endParaRPr>
          </a:p>
        </p:txBody>
      </p:sp>
      <p:sp>
        <p:nvSpPr>
          <p:cNvPr id="360" name="Google Shape;360;p29"/>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61" name="Google Shape;361;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Direct brain access permits controlled delivery</a:t>
            </a:r>
            <a:endParaRPr sz="1800">
              <a:solidFill>
                <a:schemeClr val="dk1"/>
              </a:solidFill>
              <a:latin typeface="Calibri"/>
              <a:ea typeface="Calibri"/>
              <a:cs typeface="Calibri"/>
              <a:sym typeface="Calibri"/>
            </a:endParaRPr>
          </a:p>
        </p:txBody>
      </p:sp>
      <p:sp>
        <p:nvSpPr>
          <p:cNvPr id="367" name="Google Shape;367;p3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endParaRPr sz="1800">
              <a:solidFill>
                <a:schemeClr val="dk1"/>
              </a:solidFill>
              <a:latin typeface="Calibri"/>
              <a:ea typeface="Calibri"/>
              <a:cs typeface="Calibri"/>
              <a:sym typeface="Calibri"/>
            </a:endParaRPr>
          </a:p>
        </p:txBody>
      </p:sp>
      <p:sp>
        <p:nvSpPr>
          <p:cNvPr id="368" name="Google Shape;368;p30"/>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endParaRPr sz="1800">
              <a:solidFill>
                <a:schemeClr val="dk1"/>
              </a:solidFill>
              <a:latin typeface="Calibri"/>
              <a:ea typeface="Calibri"/>
              <a:cs typeface="Calibri"/>
              <a:sym typeface="Calibri"/>
            </a:endParaRPr>
          </a:p>
        </p:txBody>
      </p:sp>
      <p:sp>
        <p:nvSpPr>
          <p:cNvPr id="369" name="Google Shape;369;p30"/>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endParaRPr sz="1800">
              <a:solidFill>
                <a:schemeClr val="dk1"/>
              </a:solidFill>
              <a:latin typeface="Calibri"/>
              <a:ea typeface="Calibri"/>
              <a:cs typeface="Calibri"/>
              <a:sym typeface="Calibri"/>
            </a:endParaRPr>
          </a:p>
        </p:txBody>
      </p:sp>
      <p:pic>
        <p:nvPicPr>
          <p:cNvPr id="370" name="Google Shape;370;p30"/>
          <p:cNvPicPr preferRelativeResize="0"/>
          <p:nvPr/>
        </p:nvPicPr>
        <p:blipFill rotWithShape="1">
          <a:blip r:embed="rId3">
            <a:alphaModFix/>
          </a:blip>
          <a:srcRect b="0" l="0" r="0" t="0"/>
          <a:stretch/>
        </p:blipFill>
        <p:spPr>
          <a:xfrm>
            <a:off x="7024605" y="1055340"/>
            <a:ext cx="4219741" cy="4000500"/>
          </a:xfrm>
          <a:prstGeom prst="rect">
            <a:avLst/>
          </a:prstGeom>
          <a:noFill/>
          <a:ln>
            <a:noFill/>
          </a:ln>
        </p:spPr>
      </p:pic>
      <p:sp>
        <p:nvSpPr>
          <p:cNvPr id="371" name="Google Shape;371;p3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1. The published surgical rig for supported brain injections.</a:t>
            </a:r>
            <a:endParaRPr sz="1800">
              <a:solidFill>
                <a:schemeClr val="dk1"/>
              </a:solidFill>
              <a:latin typeface="Calibri"/>
              <a:ea typeface="Calibri"/>
              <a:cs typeface="Calibri"/>
              <a:sym typeface="Calibri"/>
            </a:endParaRPr>
          </a:p>
        </p:txBody>
      </p:sp>
      <p:sp>
        <p:nvSpPr>
          <p:cNvPr id="372" name="Google Shape;372;p30"/>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73" name="Google Shape;373;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Histology verifies the spatial extent of expression</a:t>
            </a:r>
            <a:endParaRPr sz="1800">
              <a:solidFill>
                <a:schemeClr val="dk1"/>
              </a:solidFill>
              <a:latin typeface="Calibri"/>
              <a:ea typeface="Calibri"/>
              <a:cs typeface="Calibri"/>
              <a:sym typeface="Calibri"/>
            </a:endParaRPr>
          </a:p>
        </p:txBody>
      </p:sp>
      <p:sp>
        <p:nvSpPr>
          <p:cNvPr id="379" name="Google Shape;379;p3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Histology</a:t>
            </a:r>
            <a:r>
              <a:rPr b="0" i="0" lang="en-US" sz="1500">
                <a:solidFill>
                  <a:srgbClr val="222831"/>
                </a:solidFill>
                <a:latin typeface="Arial"/>
                <a:ea typeface="Arial"/>
                <a:cs typeface="Arial"/>
                <a:sym typeface="Arial"/>
              </a:rPr>
              <a:t>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endParaRPr sz="1800">
              <a:solidFill>
                <a:schemeClr val="dk1"/>
              </a:solidFill>
              <a:latin typeface="Calibri"/>
              <a:ea typeface="Calibri"/>
              <a:cs typeface="Calibri"/>
              <a:sym typeface="Calibri"/>
            </a:endParaRPr>
          </a:p>
        </p:txBody>
      </p:sp>
      <p:sp>
        <p:nvSpPr>
          <p:cNvPr id="380" name="Google Shape;380;p31"/>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1" i="0" lang="en-US" sz="1500">
                <a:solidFill>
                  <a:srgbClr val="222831"/>
                </a:solidFill>
                <a:latin typeface="Arial"/>
                <a:ea typeface="Arial"/>
                <a:cs typeface="Arial"/>
                <a:sym typeface="Arial"/>
              </a:rPr>
              <a:t>Viral-mediated transgenesis</a:t>
            </a:r>
            <a:r>
              <a:rPr b="0" i="0" lang="en-US" sz="1500">
                <a:solidFill>
                  <a:srgbClr val="222831"/>
                </a:solidFill>
                <a:latin typeface="Arial"/>
                <a:ea typeface="Arial"/>
                <a:cs typeface="Arial"/>
                <a:sym typeface="Arial"/>
              </a:rPr>
              <a:t> uses a viral vector to deliver a gene construct into cells. The replication-deficient vector carried a chosen payload and promoter. Fluorescence was absent in saline-injected controls, distinguishing reporter expression from the untreated tissue’s background signal.</a:t>
            </a:r>
            <a:endParaRPr sz="1800">
              <a:solidFill>
                <a:schemeClr val="dk1"/>
              </a:solidFill>
              <a:latin typeface="Calibri"/>
              <a:ea typeface="Calibri"/>
              <a:cs typeface="Calibri"/>
              <a:sym typeface="Calibri"/>
            </a:endParaRPr>
          </a:p>
        </p:txBody>
      </p:sp>
      <p:sp>
        <p:nvSpPr>
          <p:cNvPr id="381" name="Google Shape;381;p31"/>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endParaRPr sz="1800">
              <a:solidFill>
                <a:schemeClr val="dk1"/>
              </a:solidFill>
              <a:latin typeface="Calibri"/>
              <a:ea typeface="Calibri"/>
              <a:cs typeface="Calibri"/>
              <a:sym typeface="Calibri"/>
            </a:endParaRPr>
          </a:p>
        </p:txBody>
      </p:sp>
      <p:pic>
        <p:nvPicPr>
          <p:cNvPr id="382" name="Google Shape;382;p31"/>
          <p:cNvPicPr preferRelativeResize="0"/>
          <p:nvPr/>
        </p:nvPicPr>
        <p:blipFill rotWithShape="1">
          <a:blip r:embed="rId3">
            <a:alphaModFix/>
          </a:blip>
          <a:srcRect b="0" l="0" r="0" t="0"/>
          <a:stretch/>
        </p:blipFill>
        <p:spPr>
          <a:xfrm>
            <a:off x="6610350" y="1637784"/>
            <a:ext cx="5048250" cy="2835613"/>
          </a:xfrm>
          <a:prstGeom prst="rect">
            <a:avLst/>
          </a:prstGeom>
          <a:noFill/>
          <a:ln>
            <a:noFill/>
          </a:ln>
        </p:spPr>
      </p:pic>
      <p:sp>
        <p:nvSpPr>
          <p:cNvPr id="383" name="Google Shape;383;p3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3(A–B). Restricted expression after one injection and broader expression after delivery at multiple depths.</a:t>
            </a:r>
            <a:endParaRPr sz="1800">
              <a:solidFill>
                <a:schemeClr val="dk1"/>
              </a:solidFill>
              <a:latin typeface="Calibri"/>
              <a:ea typeface="Calibri"/>
              <a:cs typeface="Calibri"/>
              <a:sym typeface="Calibri"/>
            </a:endParaRPr>
          </a:p>
        </p:txBody>
      </p:sp>
      <p:sp>
        <p:nvSpPr>
          <p:cNvPr id="384" name="Google Shape;384;p31"/>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85" name="Google Shape;385;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Promoter choice determines the intervention window</a:t>
            </a:r>
            <a:endParaRPr sz="1800">
              <a:solidFill>
                <a:schemeClr val="dk1"/>
              </a:solidFill>
              <a:latin typeface="Calibri"/>
              <a:ea typeface="Calibri"/>
              <a:cs typeface="Calibri"/>
              <a:sym typeface="Calibri"/>
            </a:endParaRPr>
          </a:p>
        </p:txBody>
      </p:sp>
      <p:sp>
        <p:nvSpPr>
          <p:cNvPr id="391" name="Google Shape;391;p3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a:t>
            </a:r>
            <a:r>
              <a:rPr b="1" i="0" lang="en-US" sz="1500">
                <a:solidFill>
                  <a:srgbClr val="222831"/>
                </a:solidFill>
                <a:latin typeface="Arial"/>
                <a:ea typeface="Arial"/>
                <a:cs typeface="Arial"/>
                <a:sym typeface="Arial"/>
              </a:rPr>
              <a:t>promoter</a:t>
            </a:r>
            <a:r>
              <a:rPr b="0" i="0" lang="en-US" sz="1500">
                <a:solidFill>
                  <a:srgbClr val="222831"/>
                </a:solidFill>
                <a:latin typeface="Arial"/>
                <a:ea typeface="Arial"/>
                <a:cs typeface="Arial"/>
                <a:sym typeface="Arial"/>
              </a:rPr>
              <a:t>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endParaRPr sz="1800">
              <a:solidFill>
                <a:schemeClr val="dk1"/>
              </a:solidFill>
              <a:latin typeface="Calibri"/>
              <a:ea typeface="Calibri"/>
              <a:cs typeface="Calibri"/>
              <a:sym typeface="Calibri"/>
            </a:endParaRPr>
          </a:p>
        </p:txBody>
      </p:sp>
      <p:sp>
        <p:nvSpPr>
          <p:cNvPr id="392" name="Google Shape;392;p32"/>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endParaRPr sz="1800">
              <a:solidFill>
                <a:schemeClr val="dk1"/>
              </a:solidFill>
              <a:latin typeface="Calibri"/>
              <a:ea typeface="Calibri"/>
              <a:cs typeface="Calibri"/>
              <a:sym typeface="Calibri"/>
            </a:endParaRPr>
          </a:p>
        </p:txBody>
      </p:sp>
      <p:sp>
        <p:nvSpPr>
          <p:cNvPr id="393" name="Google Shape;393;p32"/>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500">
                <a:solidFill>
                  <a:srgbClr val="222831"/>
                </a:solidFill>
                <a:latin typeface="Arial"/>
                <a:ea typeface="Arial"/>
                <a:cs typeface="Arial"/>
                <a:sym typeface="Arial"/>
              </a:rPr>
              <a:t>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endParaRPr sz="1800">
              <a:solidFill>
                <a:schemeClr val="dk1"/>
              </a:solidFill>
              <a:latin typeface="Calibri"/>
              <a:ea typeface="Calibri"/>
              <a:cs typeface="Calibri"/>
              <a:sym typeface="Calibri"/>
            </a:endParaRPr>
          </a:p>
        </p:txBody>
      </p:sp>
      <p:pic>
        <p:nvPicPr>
          <p:cNvPr id="394" name="Google Shape;394;p32"/>
          <p:cNvPicPr preferRelativeResize="0"/>
          <p:nvPr/>
        </p:nvPicPr>
        <p:blipFill rotWithShape="1">
          <a:blip r:embed="rId3">
            <a:alphaModFix/>
          </a:blip>
          <a:srcRect b="0" l="0" r="0" t="0"/>
          <a:stretch/>
        </p:blipFill>
        <p:spPr>
          <a:xfrm>
            <a:off x="6610350" y="2152904"/>
            <a:ext cx="5048250" cy="1805372"/>
          </a:xfrm>
          <a:prstGeom prst="rect">
            <a:avLst/>
          </a:prstGeom>
          <a:noFill/>
          <a:ln>
            <a:noFill/>
          </a:ln>
        </p:spPr>
      </p:pic>
      <p:sp>
        <p:nvSpPr>
          <p:cNvPr id="395" name="Google Shape;395;p3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3(E–G). Fluorescent expression at two, three, and four weeks; scale bars retained.</a:t>
            </a:r>
            <a:endParaRPr sz="1800">
              <a:solidFill>
                <a:schemeClr val="dk1"/>
              </a:solidFill>
              <a:latin typeface="Calibri"/>
              <a:ea typeface="Calibri"/>
              <a:cs typeface="Calibri"/>
              <a:sym typeface="Calibri"/>
            </a:endParaRPr>
          </a:p>
        </p:txBody>
      </p:sp>
      <p:sp>
        <p:nvSpPr>
          <p:cNvPr id="396" name="Google Shape;396;p32"/>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397" name="Google Shape;39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Peptide manipulation tests an internal influence</a:t>
            </a:r>
            <a:endParaRPr sz="1800">
              <a:solidFill>
                <a:schemeClr val="dk1"/>
              </a:solidFill>
              <a:latin typeface="Calibri"/>
              <a:ea typeface="Calibri"/>
              <a:cs typeface="Calibri"/>
              <a:sym typeface="Calibri"/>
            </a:endParaRPr>
          </a:p>
        </p:txBody>
      </p:sp>
      <p:sp>
        <p:nvSpPr>
          <p:cNvPr id="403" name="Google Shape;403;p33"/>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neuropeptide</a:t>
            </a:r>
            <a:r>
              <a:rPr b="0" i="0" lang="en-US" sz="1650">
                <a:solidFill>
                  <a:srgbClr val="222831"/>
                </a:solidFill>
                <a:latin typeface="Arial"/>
                <a:ea typeface="Arial"/>
                <a:cs typeface="Arial"/>
                <a:sym typeface="Arial"/>
              </a:rPr>
              <a:t>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endParaRPr sz="1800">
              <a:solidFill>
                <a:schemeClr val="dk1"/>
              </a:solidFill>
              <a:latin typeface="Calibri"/>
              <a:ea typeface="Calibri"/>
              <a:cs typeface="Calibri"/>
              <a:sym typeface="Calibri"/>
            </a:endParaRPr>
          </a:p>
        </p:txBody>
      </p:sp>
      <p:sp>
        <p:nvSpPr>
          <p:cNvPr id="404" name="Google Shape;404;p33"/>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endParaRPr sz="1800">
              <a:solidFill>
                <a:schemeClr val="dk1"/>
              </a:solidFill>
              <a:latin typeface="Calibri"/>
              <a:ea typeface="Calibri"/>
              <a:cs typeface="Calibri"/>
              <a:sym typeface="Calibri"/>
            </a:endParaRPr>
          </a:p>
        </p:txBody>
      </p:sp>
      <p:sp>
        <p:nvSpPr>
          <p:cNvPr id="405" name="Google Shape;405;p33"/>
          <p:cNvSpPr/>
          <p:nvPr/>
        </p:nvSpPr>
        <p:spPr>
          <a:xfrm>
            <a:off x="457200" y="467722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receptor</a:t>
            </a:r>
            <a:r>
              <a:rPr b="0" i="0" lang="en-US" sz="1650">
                <a:solidFill>
                  <a:srgbClr val="222831"/>
                </a:solidFill>
                <a:latin typeface="Arial"/>
                <a:ea typeface="Arial"/>
                <a:cs typeface="Arial"/>
                <a:sym typeface="Arial"/>
              </a:rPr>
              <a:t>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endParaRPr sz="1800">
              <a:solidFill>
                <a:schemeClr val="dk1"/>
              </a:solidFill>
              <a:latin typeface="Calibri"/>
              <a:ea typeface="Calibri"/>
              <a:cs typeface="Calibri"/>
              <a:sym typeface="Calibri"/>
            </a:endParaRPr>
          </a:p>
        </p:txBody>
      </p:sp>
      <p:pic>
        <p:nvPicPr>
          <p:cNvPr id="406" name="Google Shape;406;p33"/>
          <p:cNvPicPr preferRelativeResize="0"/>
          <p:nvPr/>
        </p:nvPicPr>
        <p:blipFill rotWithShape="1">
          <a:blip r:embed="rId3">
            <a:alphaModFix/>
          </a:blip>
          <a:srcRect b="0" l="0" r="0" t="0"/>
          <a:stretch/>
        </p:blipFill>
        <p:spPr>
          <a:xfrm>
            <a:off x="8333428" y="1055340"/>
            <a:ext cx="1430645" cy="2924175"/>
          </a:xfrm>
          <a:prstGeom prst="rect">
            <a:avLst/>
          </a:prstGeom>
          <a:noFill/>
          <a:ln>
            <a:noFill/>
          </a:ln>
        </p:spPr>
      </p:pic>
      <p:sp>
        <p:nvSpPr>
          <p:cNvPr id="407" name="Google Shape;407;p33"/>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3(C–D). Transfected cells in the diencephalon with fluorescence and scale bars intact.</a:t>
            </a:r>
            <a:endParaRPr sz="1800">
              <a:solidFill>
                <a:schemeClr val="dk1"/>
              </a:solidFill>
              <a:latin typeface="Calibri"/>
              <a:ea typeface="Calibri"/>
              <a:cs typeface="Calibri"/>
              <a:sym typeface="Calibri"/>
            </a:endParaRPr>
          </a:p>
        </p:txBody>
      </p:sp>
      <p:pic>
        <p:nvPicPr>
          <p:cNvPr id="408" name="Google Shape;408;p33"/>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09" name="Google Shape;409;p33"/>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10" name="Google Shape;410;p33"/>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11" name="Google Shape;41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Acute vasotocin increases respiration during recovery</a:t>
            </a:r>
            <a:endParaRPr sz="1800">
              <a:solidFill>
                <a:schemeClr val="dk1"/>
              </a:solidFill>
              <a:latin typeface="Calibri"/>
              <a:ea typeface="Calibri"/>
              <a:cs typeface="Calibri"/>
              <a:sym typeface="Calibri"/>
            </a:endParaRPr>
          </a:p>
        </p:txBody>
      </p:sp>
      <p:sp>
        <p:nvSpPr>
          <p:cNvPr id="417" name="Google Shape;417;p34"/>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injected exogenous vasotocin directly into the brain and compared recovery with saline-injected controls. </a:t>
            </a:r>
            <a:r>
              <a:rPr b="1" i="0" lang="en-US" sz="1650">
                <a:solidFill>
                  <a:srgbClr val="222831"/>
                </a:solidFill>
                <a:latin typeface="Arial"/>
                <a:ea typeface="Arial"/>
                <a:cs typeface="Arial"/>
                <a:sym typeface="Arial"/>
              </a:rPr>
              <a:t>Exogenous</a:t>
            </a:r>
            <a:r>
              <a:rPr b="0" i="0" lang="en-US" sz="1650">
                <a:solidFill>
                  <a:srgbClr val="222831"/>
                </a:solidFill>
                <a:latin typeface="Arial"/>
                <a:ea typeface="Arial"/>
                <a:cs typeface="Arial"/>
                <a:sym typeface="Arial"/>
              </a:rPr>
              <a:t> means supplied experimentally from outside the organism. Respiration was measured as opercular movements, the movements of the gill covers associated with breathing.</a:t>
            </a:r>
            <a:endParaRPr sz="1800">
              <a:solidFill>
                <a:schemeClr val="dk1"/>
              </a:solidFill>
              <a:latin typeface="Calibri"/>
              <a:ea typeface="Calibri"/>
              <a:cs typeface="Calibri"/>
              <a:sym typeface="Calibri"/>
            </a:endParaRPr>
          </a:p>
        </p:txBody>
      </p:sp>
      <p:sp>
        <p:nvSpPr>
          <p:cNvPr id="418" name="Google Shape;418;p34"/>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endParaRPr sz="1800">
              <a:solidFill>
                <a:schemeClr val="dk1"/>
              </a:solidFill>
              <a:latin typeface="Calibri"/>
              <a:ea typeface="Calibri"/>
              <a:cs typeface="Calibri"/>
              <a:sym typeface="Calibri"/>
            </a:endParaRPr>
          </a:p>
        </p:txBody>
      </p:sp>
      <p:sp>
        <p:nvSpPr>
          <p:cNvPr id="419" name="Google Shape;419;p34"/>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endParaRPr sz="1800">
              <a:solidFill>
                <a:schemeClr val="dk1"/>
              </a:solidFill>
              <a:latin typeface="Calibri"/>
              <a:ea typeface="Calibri"/>
              <a:cs typeface="Calibri"/>
              <a:sym typeface="Calibri"/>
            </a:endParaRPr>
          </a:p>
        </p:txBody>
      </p:sp>
      <p:pic>
        <p:nvPicPr>
          <p:cNvPr id="420" name="Google Shape;420;p34"/>
          <p:cNvPicPr preferRelativeResize="0"/>
          <p:nvPr/>
        </p:nvPicPr>
        <p:blipFill rotWithShape="1">
          <a:blip r:embed="rId3">
            <a:alphaModFix/>
          </a:blip>
          <a:srcRect b="0" l="0" r="0" t="0"/>
          <a:stretch/>
        </p:blipFill>
        <p:spPr>
          <a:xfrm>
            <a:off x="7098567" y="1055340"/>
            <a:ext cx="3900366" cy="2924175"/>
          </a:xfrm>
          <a:prstGeom prst="rect">
            <a:avLst/>
          </a:prstGeom>
          <a:noFill/>
          <a:ln>
            <a:noFill/>
          </a:ln>
        </p:spPr>
      </p:pic>
      <p:sp>
        <p:nvSpPr>
          <p:cNvPr id="421" name="Google Shape;421;p34"/>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7. Respiration following vasotocin versus saline injection, with time axes intact.</a:t>
            </a:r>
            <a:endParaRPr sz="1800">
              <a:solidFill>
                <a:schemeClr val="dk1"/>
              </a:solidFill>
              <a:latin typeface="Calibri"/>
              <a:ea typeface="Calibri"/>
              <a:cs typeface="Calibri"/>
              <a:sym typeface="Calibri"/>
            </a:endParaRPr>
          </a:p>
        </p:txBody>
      </p:sp>
      <p:pic>
        <p:nvPicPr>
          <p:cNvPr id="422" name="Google Shape;422;p34"/>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23" name="Google Shape;423;p34"/>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24" name="Google Shape;424;p34"/>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25" name="Google Shape;42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AVP expression increases charging within individuals</a:t>
            </a:r>
            <a:endParaRPr sz="1800">
              <a:solidFill>
                <a:schemeClr val="dk1"/>
              </a:solidFill>
              <a:latin typeface="Calibri"/>
              <a:ea typeface="Calibri"/>
              <a:cs typeface="Calibri"/>
              <a:sym typeface="Calibri"/>
            </a:endParaRPr>
          </a:p>
        </p:txBody>
      </p:sp>
      <p:sp>
        <p:nvSpPr>
          <p:cNvPr id="431" name="Google Shape;431;p35"/>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tested territorial aggression before and after delivery of the AVP construct. A </a:t>
            </a:r>
            <a:r>
              <a:rPr b="1" i="0" lang="en-US" sz="1650">
                <a:solidFill>
                  <a:srgbClr val="222831"/>
                </a:solidFill>
                <a:latin typeface="Arial"/>
                <a:ea typeface="Arial"/>
                <a:cs typeface="Arial"/>
                <a:sym typeface="Arial"/>
              </a:rPr>
              <a:t>charge</a:t>
            </a:r>
            <a:r>
              <a:rPr b="0" i="0" lang="en-US" sz="1650">
                <a:solidFill>
                  <a:srgbClr val="222831"/>
                </a:solidFill>
                <a:latin typeface="Arial"/>
                <a:ea typeface="Arial"/>
                <a:cs typeface="Arial"/>
                <a:sym typeface="Arial"/>
              </a:rPr>
              <a:t> was a lunge directed toward a smaller male intruder confined in a glass flask. The investigators counted responses during five minutes after the focal male first oriented toward the intruder.</a:t>
            </a:r>
            <a:endParaRPr sz="1800">
              <a:solidFill>
                <a:schemeClr val="dk1"/>
              </a:solidFill>
              <a:latin typeface="Calibri"/>
              <a:ea typeface="Calibri"/>
              <a:cs typeface="Calibri"/>
              <a:sym typeface="Calibri"/>
            </a:endParaRPr>
          </a:p>
        </p:txBody>
      </p:sp>
      <p:sp>
        <p:nvSpPr>
          <p:cNvPr id="432" name="Google Shape;432;p35"/>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endParaRPr sz="1800">
              <a:solidFill>
                <a:schemeClr val="dk1"/>
              </a:solidFill>
              <a:latin typeface="Calibri"/>
              <a:ea typeface="Calibri"/>
              <a:cs typeface="Calibri"/>
              <a:sym typeface="Calibri"/>
            </a:endParaRPr>
          </a:p>
        </p:txBody>
      </p:sp>
      <p:sp>
        <p:nvSpPr>
          <p:cNvPr id="433" name="Google Shape;433;p35"/>
          <p:cNvSpPr/>
          <p:nvPr/>
        </p:nvSpPr>
        <p:spPr>
          <a:xfrm>
            <a:off x="457200" y="467722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endParaRPr sz="1800">
              <a:solidFill>
                <a:schemeClr val="dk1"/>
              </a:solidFill>
              <a:latin typeface="Calibri"/>
              <a:ea typeface="Calibri"/>
              <a:cs typeface="Calibri"/>
              <a:sym typeface="Calibri"/>
            </a:endParaRPr>
          </a:p>
        </p:txBody>
      </p:sp>
      <p:pic>
        <p:nvPicPr>
          <p:cNvPr id="434" name="Google Shape;434;p35"/>
          <p:cNvPicPr preferRelativeResize="0"/>
          <p:nvPr/>
        </p:nvPicPr>
        <p:blipFill rotWithShape="1">
          <a:blip r:embed="rId3">
            <a:alphaModFix/>
          </a:blip>
          <a:srcRect b="0" l="0" r="0" t="0"/>
          <a:stretch/>
        </p:blipFill>
        <p:spPr>
          <a:xfrm>
            <a:off x="7085438" y="1055340"/>
            <a:ext cx="3926624" cy="2924175"/>
          </a:xfrm>
          <a:prstGeom prst="rect">
            <a:avLst/>
          </a:prstGeom>
          <a:noFill/>
          <a:ln>
            <a:noFill/>
          </a:ln>
        </p:spPr>
      </p:pic>
      <p:sp>
        <p:nvSpPr>
          <p:cNvPr id="435" name="Google Shape;435;p35"/>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8. Paired baseline and post-transfection charge counts for EYFP, AVP, and MAOA.</a:t>
            </a:r>
            <a:endParaRPr sz="1800">
              <a:solidFill>
                <a:schemeClr val="dk1"/>
              </a:solidFill>
              <a:latin typeface="Calibri"/>
              <a:ea typeface="Calibri"/>
              <a:cs typeface="Calibri"/>
              <a:sym typeface="Calibri"/>
            </a:endParaRPr>
          </a:p>
        </p:txBody>
      </p:sp>
      <p:pic>
        <p:nvPicPr>
          <p:cNvPr id="436" name="Google Shape;436;p35"/>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37" name="Google Shape;437;p35"/>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38" name="Google Shape;438;p35"/>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39" name="Google Shape;439;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Monoamine oxidase changes transmitter availability</a:t>
            </a:r>
            <a:endParaRPr sz="1800">
              <a:solidFill>
                <a:schemeClr val="dk1"/>
              </a:solidFill>
              <a:latin typeface="Calibri"/>
              <a:ea typeface="Calibri"/>
              <a:cs typeface="Calibri"/>
              <a:sym typeface="Calibri"/>
            </a:endParaRPr>
          </a:p>
        </p:txBody>
      </p:sp>
      <p:sp>
        <p:nvSpPr>
          <p:cNvPr id="445" name="Google Shape;445;p36"/>
          <p:cNvSpPr/>
          <p:nvPr/>
        </p:nvSpPr>
        <p:spPr>
          <a:xfrm>
            <a:off x="457200" y="1055340"/>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650">
                <a:solidFill>
                  <a:srgbClr val="222831"/>
                </a:solidFill>
                <a:latin typeface="Arial"/>
                <a:ea typeface="Arial"/>
                <a:cs typeface="Arial"/>
                <a:sym typeface="Arial"/>
              </a:rPr>
              <a:t>Monoamine oxidase</a:t>
            </a:r>
            <a:r>
              <a:rPr b="0" i="0" lang="en-US" sz="1650">
                <a:solidFill>
                  <a:srgbClr val="222831"/>
                </a:solidFill>
                <a:latin typeface="Arial"/>
                <a:ea typeface="Arial"/>
                <a:cs typeface="Arial"/>
                <a:sym typeface="Arial"/>
              </a:rPr>
              <a:t> is an enzyme that metabolizes several monoamine neurotransmitters, including serotonin, dopamine, and norepinephrine. A </a:t>
            </a:r>
            <a:r>
              <a:rPr b="1" i="0" lang="en-US" sz="1650">
                <a:solidFill>
                  <a:srgbClr val="222831"/>
                </a:solidFill>
                <a:latin typeface="Arial"/>
                <a:ea typeface="Arial"/>
                <a:cs typeface="Arial"/>
                <a:sym typeface="Arial"/>
              </a:rPr>
              <a:t>neurotransmitter</a:t>
            </a:r>
            <a:r>
              <a:rPr b="0" i="0" lang="en-US" sz="1650">
                <a:solidFill>
                  <a:srgbClr val="222831"/>
                </a:solidFill>
                <a:latin typeface="Arial"/>
                <a:ea typeface="Arial"/>
                <a:cs typeface="Arial"/>
                <a:sym typeface="Arial"/>
              </a:rPr>
              <a:t> is a chemical signal used in communication involving neurons. Enzymatic metabolism can change how much active transmitter remains available for signaling.</a:t>
            </a:r>
            <a:endParaRPr sz="1800">
              <a:solidFill>
                <a:schemeClr val="dk1"/>
              </a:solidFill>
              <a:latin typeface="Calibri"/>
              <a:ea typeface="Calibri"/>
              <a:cs typeface="Calibri"/>
              <a:sym typeface="Calibri"/>
            </a:endParaRPr>
          </a:p>
        </p:txBody>
      </p:sp>
      <p:sp>
        <p:nvSpPr>
          <p:cNvPr id="446" name="Google Shape;446;p36"/>
          <p:cNvSpPr/>
          <p:nvPr/>
        </p:nvSpPr>
        <p:spPr>
          <a:xfrm>
            <a:off x="457200" y="3149054"/>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endParaRPr sz="1800">
              <a:solidFill>
                <a:schemeClr val="dk1"/>
              </a:solidFill>
              <a:latin typeface="Calibri"/>
              <a:ea typeface="Calibri"/>
              <a:cs typeface="Calibri"/>
              <a:sym typeface="Calibri"/>
            </a:endParaRPr>
          </a:p>
        </p:txBody>
      </p:sp>
      <p:sp>
        <p:nvSpPr>
          <p:cNvPr id="447" name="Google Shape;447;p36"/>
          <p:cNvSpPr/>
          <p:nvPr/>
        </p:nvSpPr>
        <p:spPr>
          <a:xfrm>
            <a:off x="457200" y="5242768"/>
            <a:ext cx="5581650" cy="2262188"/>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endParaRPr sz="1800">
              <a:solidFill>
                <a:schemeClr val="dk1"/>
              </a:solidFill>
              <a:latin typeface="Calibri"/>
              <a:ea typeface="Calibri"/>
              <a:cs typeface="Calibri"/>
              <a:sym typeface="Calibri"/>
            </a:endParaRPr>
          </a:p>
        </p:txBody>
      </p:sp>
      <p:pic>
        <p:nvPicPr>
          <p:cNvPr id="448" name="Google Shape;448;p36"/>
          <p:cNvPicPr preferRelativeResize="0"/>
          <p:nvPr/>
        </p:nvPicPr>
        <p:blipFill rotWithShape="1">
          <a:blip r:embed="rId3">
            <a:alphaModFix/>
          </a:blip>
          <a:srcRect b="0" l="0" r="0" t="0"/>
          <a:stretch/>
        </p:blipFill>
        <p:spPr>
          <a:xfrm>
            <a:off x="8333428" y="1055340"/>
            <a:ext cx="1430645" cy="2924175"/>
          </a:xfrm>
          <a:prstGeom prst="rect">
            <a:avLst/>
          </a:prstGeom>
          <a:noFill/>
          <a:ln>
            <a:noFill/>
          </a:ln>
        </p:spPr>
      </p:pic>
      <p:sp>
        <p:nvSpPr>
          <p:cNvPr id="449" name="Google Shape;449;p3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3(C–D). Transfected brain cells, the tissue context for candidate-gene delivery.</a:t>
            </a:r>
            <a:endParaRPr sz="1800">
              <a:solidFill>
                <a:schemeClr val="dk1"/>
              </a:solidFill>
              <a:latin typeface="Calibri"/>
              <a:ea typeface="Calibri"/>
              <a:cs typeface="Calibri"/>
              <a:sym typeface="Calibri"/>
            </a:endParaRPr>
          </a:p>
        </p:txBody>
      </p:sp>
      <p:pic>
        <p:nvPicPr>
          <p:cNvPr id="450" name="Google Shape;450;p36"/>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51" name="Google Shape;451;p36"/>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52" name="Google Shape;452;p36"/>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53" name="Google Shape;453;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MAOA alters both aggression and respiration</a:t>
            </a:r>
            <a:endParaRPr sz="1800">
              <a:solidFill>
                <a:schemeClr val="dk1"/>
              </a:solidFill>
              <a:latin typeface="Calibri"/>
              <a:ea typeface="Calibri"/>
              <a:cs typeface="Calibri"/>
              <a:sym typeface="Calibri"/>
            </a:endParaRPr>
          </a:p>
        </p:txBody>
      </p:sp>
      <p:sp>
        <p:nvSpPr>
          <p:cNvPr id="459" name="Google Shape;459;p37"/>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found that MAOA-transfected fish increased their mean territorial charges from 12.1 to 19.1 during the five-minute test. Individual changes varied more than in the AVP group. The increase was assessed relative to the same fish’s baseline behavior.</a:t>
            </a:r>
            <a:endParaRPr sz="1800">
              <a:solidFill>
                <a:schemeClr val="dk1"/>
              </a:solidFill>
              <a:latin typeface="Calibri"/>
              <a:ea typeface="Calibri"/>
              <a:cs typeface="Calibri"/>
              <a:sym typeface="Calibri"/>
            </a:endParaRPr>
          </a:p>
        </p:txBody>
      </p:sp>
      <p:sp>
        <p:nvSpPr>
          <p:cNvPr id="460" name="Google Shape;460;p37"/>
          <p:cNvSpPr/>
          <p:nvPr/>
        </p:nvSpPr>
        <p:spPr>
          <a:xfrm>
            <a:off x="457200" y="2583507"/>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endParaRPr sz="1800">
              <a:solidFill>
                <a:schemeClr val="dk1"/>
              </a:solidFill>
              <a:latin typeface="Calibri"/>
              <a:ea typeface="Calibri"/>
              <a:cs typeface="Calibri"/>
              <a:sym typeface="Calibri"/>
            </a:endParaRPr>
          </a:p>
        </p:txBody>
      </p:sp>
      <p:sp>
        <p:nvSpPr>
          <p:cNvPr id="461" name="Google Shape;461;p37"/>
          <p:cNvSpPr/>
          <p:nvPr/>
        </p:nvSpPr>
        <p:spPr>
          <a:xfrm>
            <a:off x="457200" y="4394448"/>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endParaRPr sz="1800">
              <a:solidFill>
                <a:schemeClr val="dk1"/>
              </a:solidFill>
              <a:latin typeface="Calibri"/>
              <a:ea typeface="Calibri"/>
              <a:cs typeface="Calibri"/>
              <a:sym typeface="Calibri"/>
            </a:endParaRPr>
          </a:p>
        </p:txBody>
      </p:sp>
      <p:pic>
        <p:nvPicPr>
          <p:cNvPr id="462" name="Google Shape;462;p37"/>
          <p:cNvPicPr preferRelativeResize="0"/>
          <p:nvPr/>
        </p:nvPicPr>
        <p:blipFill rotWithShape="1">
          <a:blip r:embed="rId3">
            <a:alphaModFix/>
          </a:blip>
          <a:srcRect b="0" l="0" r="0" t="0"/>
          <a:stretch/>
        </p:blipFill>
        <p:spPr>
          <a:xfrm>
            <a:off x="7105798" y="1055340"/>
            <a:ext cx="3885904" cy="2924175"/>
          </a:xfrm>
          <a:prstGeom prst="rect">
            <a:avLst/>
          </a:prstGeom>
          <a:noFill/>
          <a:ln>
            <a:noFill/>
          </a:ln>
        </p:spPr>
      </p:pic>
      <p:sp>
        <p:nvSpPr>
          <p:cNvPr id="463" name="Google Shape;463;p37"/>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9. Paired respiration measurements in opercular beats per 20 seconds.</a:t>
            </a:r>
            <a:endParaRPr sz="1800">
              <a:solidFill>
                <a:schemeClr val="dk1"/>
              </a:solidFill>
              <a:latin typeface="Calibri"/>
              <a:ea typeface="Calibri"/>
              <a:cs typeface="Calibri"/>
              <a:sym typeface="Calibri"/>
            </a:endParaRPr>
          </a:p>
        </p:txBody>
      </p:sp>
      <p:pic>
        <p:nvPicPr>
          <p:cNvPr id="464" name="Google Shape;464;p37"/>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465" name="Google Shape;465;p37"/>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66" name="Google Shape;466;p37"/>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67" name="Google Shape;467;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Paired trials distinguish change from individual variation</a:t>
            </a:r>
            <a:endParaRPr sz="1800">
              <a:solidFill>
                <a:schemeClr val="dk1"/>
              </a:solidFill>
              <a:latin typeface="Calibri"/>
              <a:ea typeface="Calibri"/>
              <a:cs typeface="Calibri"/>
              <a:sym typeface="Calibri"/>
            </a:endParaRPr>
          </a:p>
        </p:txBody>
      </p:sp>
      <p:sp>
        <p:nvSpPr>
          <p:cNvPr id="473" name="Google Shape;473;p38"/>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A </a:t>
            </a:r>
            <a:r>
              <a:rPr b="1" i="0" lang="en-US" sz="1650">
                <a:solidFill>
                  <a:srgbClr val="222831"/>
                </a:solidFill>
                <a:latin typeface="Arial"/>
                <a:ea typeface="Arial"/>
                <a:cs typeface="Arial"/>
                <a:sym typeface="Arial"/>
              </a:rPr>
              <a:t>within-individual comparison</a:t>
            </a:r>
            <a:r>
              <a:rPr b="0" i="0" lang="en-US" sz="1650">
                <a:solidFill>
                  <a:srgbClr val="222831"/>
                </a:solidFill>
                <a:latin typeface="Arial"/>
                <a:ea typeface="Arial"/>
                <a:cs typeface="Arial"/>
                <a:sym typeface="Arial"/>
              </a:rPr>
              <a:t> assesses change in the same animal across experimental conditions. James and Bell measured each focal male twice before injection and twice after expression. Nearly every fish faced the same intruder throughout these four territorial challenges.</a:t>
            </a:r>
            <a:endParaRPr sz="1800">
              <a:solidFill>
                <a:schemeClr val="dk1"/>
              </a:solidFill>
              <a:latin typeface="Calibri"/>
              <a:ea typeface="Calibri"/>
              <a:cs typeface="Calibri"/>
              <a:sym typeface="Calibri"/>
            </a:endParaRPr>
          </a:p>
        </p:txBody>
      </p:sp>
      <p:sp>
        <p:nvSpPr>
          <p:cNvPr id="474" name="Google Shape;474;p38"/>
          <p:cNvSpPr/>
          <p:nvPr/>
        </p:nvSpPr>
        <p:spPr>
          <a:xfrm>
            <a:off x="457200" y="2866281"/>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endParaRPr sz="1800">
              <a:solidFill>
                <a:schemeClr val="dk1"/>
              </a:solidFill>
              <a:latin typeface="Calibri"/>
              <a:ea typeface="Calibri"/>
              <a:cs typeface="Calibri"/>
              <a:sym typeface="Calibri"/>
            </a:endParaRPr>
          </a:p>
        </p:txBody>
      </p:sp>
      <p:sp>
        <p:nvSpPr>
          <p:cNvPr id="475" name="Google Shape;475;p38"/>
          <p:cNvSpPr/>
          <p:nvPr/>
        </p:nvSpPr>
        <p:spPr>
          <a:xfrm>
            <a:off x="457200" y="4959995"/>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endParaRPr sz="1800">
              <a:solidFill>
                <a:schemeClr val="dk1"/>
              </a:solidFill>
              <a:latin typeface="Calibri"/>
              <a:ea typeface="Calibri"/>
              <a:cs typeface="Calibri"/>
              <a:sym typeface="Calibri"/>
            </a:endParaRPr>
          </a:p>
        </p:txBody>
      </p:sp>
      <p:pic>
        <p:nvPicPr>
          <p:cNvPr id="476" name="Google Shape;476;p38"/>
          <p:cNvPicPr preferRelativeResize="0"/>
          <p:nvPr/>
        </p:nvPicPr>
        <p:blipFill rotWithShape="1">
          <a:blip r:embed="rId3">
            <a:alphaModFix/>
          </a:blip>
          <a:srcRect b="0" l="0" r="0" t="0"/>
          <a:stretch/>
        </p:blipFill>
        <p:spPr>
          <a:xfrm>
            <a:off x="6362700" y="1588961"/>
            <a:ext cx="5372100" cy="1399734"/>
          </a:xfrm>
          <a:prstGeom prst="rect">
            <a:avLst/>
          </a:prstGeom>
          <a:noFill/>
          <a:ln>
            <a:noFill/>
          </a:ln>
        </p:spPr>
      </p:pic>
      <p:sp>
        <p:nvSpPr>
          <p:cNvPr id="477" name="Google Shape;477;p38"/>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4. The authors’ baseline, injection, and post-transfection trial timeline.</a:t>
            </a:r>
            <a:endParaRPr sz="1800">
              <a:solidFill>
                <a:schemeClr val="dk1"/>
              </a:solidFill>
              <a:latin typeface="Calibri"/>
              <a:ea typeface="Calibri"/>
              <a:cs typeface="Calibri"/>
              <a:sym typeface="Calibri"/>
            </a:endParaRPr>
          </a:p>
        </p:txBody>
      </p:sp>
      <p:pic>
        <p:nvPicPr>
          <p:cNvPr id="478" name="Google Shape;478;p38"/>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479" name="Google Shape;479;p38"/>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80" name="Google Shape;480;p38"/>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81" name="Google Shape;481;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Recovery time and gene-expression time are different</a:t>
            </a:r>
            <a:endParaRPr sz="1800">
              <a:solidFill>
                <a:schemeClr val="dk1"/>
              </a:solidFill>
              <a:latin typeface="Calibri"/>
              <a:ea typeface="Calibri"/>
              <a:cs typeface="Calibri"/>
              <a:sym typeface="Calibri"/>
            </a:endParaRPr>
          </a:p>
        </p:txBody>
      </p:sp>
      <p:sp>
        <p:nvSpPr>
          <p:cNvPr id="487" name="Google Shape;487;p39"/>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endParaRPr sz="1800">
              <a:solidFill>
                <a:schemeClr val="dk1"/>
              </a:solidFill>
              <a:latin typeface="Calibri"/>
              <a:ea typeface="Calibri"/>
              <a:cs typeface="Calibri"/>
              <a:sym typeface="Calibri"/>
            </a:endParaRPr>
          </a:p>
        </p:txBody>
      </p:sp>
      <p:sp>
        <p:nvSpPr>
          <p:cNvPr id="488" name="Google Shape;488;p39"/>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endParaRPr sz="1800">
              <a:solidFill>
                <a:schemeClr val="dk1"/>
              </a:solidFill>
              <a:latin typeface="Calibri"/>
              <a:ea typeface="Calibri"/>
              <a:cs typeface="Calibri"/>
              <a:sym typeface="Calibri"/>
            </a:endParaRPr>
          </a:p>
        </p:txBody>
      </p:sp>
      <p:sp>
        <p:nvSpPr>
          <p:cNvPr id="489" name="Google Shape;489;p39"/>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650">
                <a:solidFill>
                  <a:srgbClr val="222831"/>
                </a:solidFill>
                <a:latin typeface="Arial"/>
                <a:ea typeface="Arial"/>
                <a:cs typeface="Arial"/>
                <a:sym typeface="Arial"/>
              </a:rPr>
              <a:t>The </a:t>
            </a:r>
            <a:r>
              <a:rPr b="1" i="0" lang="en-US" sz="1650">
                <a:solidFill>
                  <a:srgbClr val="222831"/>
                </a:solidFill>
                <a:latin typeface="Arial"/>
                <a:ea typeface="Arial"/>
                <a:cs typeface="Arial"/>
                <a:sym typeface="Arial"/>
              </a:rPr>
              <a:t>time course</a:t>
            </a:r>
            <a:r>
              <a:rPr b="0" i="0" lang="en-US" sz="1650">
                <a:solidFill>
                  <a:srgbClr val="222831"/>
                </a:solidFill>
                <a:latin typeface="Arial"/>
                <a:ea typeface="Arial"/>
                <a:cs typeface="Arial"/>
                <a:sym typeface="Arial"/>
              </a:rPr>
              <a:t>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endParaRPr sz="1800">
              <a:solidFill>
                <a:schemeClr val="dk1"/>
              </a:solidFill>
              <a:latin typeface="Calibri"/>
              <a:ea typeface="Calibri"/>
              <a:cs typeface="Calibri"/>
              <a:sym typeface="Calibri"/>
            </a:endParaRPr>
          </a:p>
        </p:txBody>
      </p:sp>
      <p:pic>
        <p:nvPicPr>
          <p:cNvPr id="490" name="Google Shape;490;p39"/>
          <p:cNvPicPr preferRelativeResize="0"/>
          <p:nvPr/>
        </p:nvPicPr>
        <p:blipFill rotWithShape="1">
          <a:blip r:embed="rId3">
            <a:alphaModFix/>
          </a:blip>
          <a:srcRect b="0" l="0" r="0" t="0"/>
          <a:stretch/>
        </p:blipFill>
        <p:spPr>
          <a:xfrm>
            <a:off x="7130028" y="1055340"/>
            <a:ext cx="3837444" cy="2924175"/>
          </a:xfrm>
          <a:prstGeom prst="rect">
            <a:avLst/>
          </a:prstGeom>
          <a:noFill/>
          <a:ln>
            <a:noFill/>
          </a:ln>
        </p:spPr>
      </p:pic>
      <p:sp>
        <p:nvSpPr>
          <p:cNvPr id="491" name="Google Shape;491;p39"/>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5. Respiration during recovery after direct brain injection.</a:t>
            </a:r>
            <a:endParaRPr sz="1800">
              <a:solidFill>
                <a:schemeClr val="dk1"/>
              </a:solidFill>
              <a:latin typeface="Calibri"/>
              <a:ea typeface="Calibri"/>
              <a:cs typeface="Calibri"/>
              <a:sym typeface="Calibri"/>
            </a:endParaRPr>
          </a:p>
        </p:txBody>
      </p:sp>
      <p:pic>
        <p:nvPicPr>
          <p:cNvPr id="492" name="Google Shape;492;p39"/>
          <p:cNvPicPr preferRelativeResize="0"/>
          <p:nvPr/>
        </p:nvPicPr>
        <p:blipFill rotWithShape="1">
          <a:blip r:embed="rId4">
            <a:alphaModFix/>
          </a:blip>
          <a:srcRect b="0" l="0" r="0" t="0"/>
          <a:stretch/>
        </p:blipFill>
        <p:spPr>
          <a:xfrm>
            <a:off x="8256294" y="4393853"/>
            <a:ext cx="1584912" cy="1019175"/>
          </a:xfrm>
          <a:prstGeom prst="rect">
            <a:avLst/>
          </a:prstGeom>
          <a:noFill/>
          <a:ln>
            <a:noFill/>
          </a:ln>
        </p:spPr>
      </p:pic>
      <p:sp>
        <p:nvSpPr>
          <p:cNvPr id="493" name="Google Shape;493;p39"/>
          <p:cNvSpPr/>
          <p:nvPr/>
        </p:nvSpPr>
        <p:spPr>
          <a:xfrm>
            <a:off x="6362700" y="5489228"/>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494" name="Google Shape;494;p39"/>
          <p:cNvSpPr/>
          <p:nvPr/>
        </p:nvSpPr>
        <p:spPr>
          <a:xfrm>
            <a:off x="457200" y="6462713"/>
            <a:ext cx="112633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James &amp; Bell (2021)</a:t>
            </a:r>
            <a:endParaRPr sz="1800">
              <a:solidFill>
                <a:schemeClr val="dk1"/>
              </a:solidFill>
              <a:latin typeface="Calibri"/>
              <a:ea typeface="Calibri"/>
              <a:cs typeface="Calibri"/>
              <a:sym typeface="Calibri"/>
            </a:endParaRPr>
          </a:p>
        </p:txBody>
      </p:sp>
      <p:sp>
        <p:nvSpPr>
          <p:cNvPr id="495" name="Google Shape;495;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brief intrusion permits a controlled molecular test</a:t>
            </a:r>
            <a:endParaRPr sz="1800">
              <a:solidFill>
                <a:schemeClr val="dk1"/>
              </a:solidFill>
              <a:latin typeface="Calibri"/>
              <a:ea typeface="Calibri"/>
              <a:cs typeface="Calibri"/>
              <a:sym typeface="Calibri"/>
            </a:endParaRPr>
          </a:p>
        </p:txBody>
      </p:sp>
      <p:sp>
        <p:nvSpPr>
          <p:cNvPr id="501" name="Google Shape;501;p40"/>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endParaRPr sz="1700">
              <a:solidFill>
                <a:schemeClr val="dk1"/>
              </a:solidFill>
              <a:latin typeface="Calibri"/>
              <a:ea typeface="Calibri"/>
              <a:cs typeface="Calibri"/>
              <a:sym typeface="Calibri"/>
            </a:endParaRPr>
          </a:p>
        </p:txBody>
      </p:sp>
      <p:sp>
        <p:nvSpPr>
          <p:cNvPr id="502" name="Google Shape;502;p40"/>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endParaRPr sz="1700">
              <a:solidFill>
                <a:schemeClr val="dk1"/>
              </a:solidFill>
              <a:latin typeface="Calibri"/>
              <a:ea typeface="Calibri"/>
              <a:cs typeface="Calibri"/>
              <a:sym typeface="Calibri"/>
            </a:endParaRPr>
          </a:p>
        </p:txBody>
      </p:sp>
      <p:sp>
        <p:nvSpPr>
          <p:cNvPr id="503" name="Google Shape;503;p40"/>
          <p:cNvSpPr/>
          <p:nvPr/>
        </p:nvSpPr>
        <p:spPr>
          <a:xfrm>
            <a:off x="457200" y="4394441"/>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a:solidFill>
                  <a:srgbClr val="222831"/>
                </a:solidFill>
                <a:latin typeface="Arial"/>
                <a:ea typeface="Arial"/>
                <a:cs typeface="Arial"/>
                <a:sym typeface="Arial"/>
              </a:rPr>
              <a:t>This design tests molecular consequences of a brief social encounter under controlled conditions. It does not measure the neurons that initially detect an intruder. The first molecular sample was collected long after the immediate behavioral response could begin.</a:t>
            </a:r>
            <a:endParaRPr sz="1700">
              <a:solidFill>
                <a:schemeClr val="dk1"/>
              </a:solidFill>
              <a:latin typeface="Calibri"/>
              <a:ea typeface="Calibri"/>
              <a:cs typeface="Calibri"/>
              <a:sym typeface="Calibri"/>
            </a:endParaRPr>
          </a:p>
        </p:txBody>
      </p:sp>
      <p:pic>
        <p:nvPicPr>
          <p:cNvPr id="504" name="Google Shape;504;p40"/>
          <p:cNvPicPr preferRelativeResize="0"/>
          <p:nvPr/>
        </p:nvPicPr>
        <p:blipFill rotWithShape="1">
          <a:blip r:embed="rId3">
            <a:alphaModFix/>
          </a:blip>
          <a:srcRect b="0" l="0" r="0" t="0"/>
          <a:stretch/>
        </p:blipFill>
        <p:spPr>
          <a:xfrm>
            <a:off x="6610350" y="1432456"/>
            <a:ext cx="5048250" cy="3246268"/>
          </a:xfrm>
          <a:prstGeom prst="rect">
            <a:avLst/>
          </a:prstGeom>
          <a:noFill/>
          <a:ln>
            <a:noFill/>
          </a:ln>
        </p:spPr>
      </p:pic>
      <p:sp>
        <p:nvSpPr>
          <p:cNvPr id="505" name="Google Shape;505;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06" name="Google Shape;506;p40"/>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875">
                <a:solidFill>
                  <a:srgbClr val="5D6673"/>
                </a:solidFill>
                <a:latin typeface="Arial"/>
                <a:ea typeface="Arial"/>
                <a:cs typeface="Arial"/>
                <a:sym typeface="Arial"/>
              </a:rPr>
              <a:t>Bukhari et al. (2017); James &amp; Bell (2021)</a:t>
            </a:r>
            <a:endParaRPr sz="1700">
              <a:solidFill>
                <a:schemeClr val="dk1"/>
              </a:solidFill>
              <a:latin typeface="Calibri"/>
              <a:ea typeface="Calibri"/>
              <a:cs typeface="Calibri"/>
              <a:sym typeface="Calibri"/>
            </a:endParaRPr>
          </a:p>
        </p:txBody>
      </p:sp>
      <p:sp>
        <p:nvSpPr>
          <p:cNvPr id="507" name="Google Shape;507;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A social challenge produces successive transcript waves</a:t>
            </a:r>
            <a:endParaRPr sz="1800">
              <a:solidFill>
                <a:schemeClr val="dk1"/>
              </a:solidFill>
              <a:latin typeface="Calibri"/>
              <a:ea typeface="Calibri"/>
              <a:cs typeface="Calibri"/>
              <a:sym typeface="Calibri"/>
            </a:endParaRPr>
          </a:p>
        </p:txBody>
      </p:sp>
      <p:sp>
        <p:nvSpPr>
          <p:cNvPr id="513" name="Google Shape;513;p41"/>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450">
                <a:solidFill>
                  <a:srgbClr val="222831"/>
                </a:solidFill>
                <a:latin typeface="Arial"/>
                <a:ea typeface="Arial"/>
                <a:cs typeface="Arial"/>
                <a:sym typeface="Arial"/>
              </a:rPr>
              <a:t>Gene expression</a:t>
            </a:r>
            <a:r>
              <a:rPr b="0" i="0" lang="en-US" sz="1450">
                <a:solidFill>
                  <a:srgbClr val="222831"/>
                </a:solidFill>
                <a:latin typeface="Arial"/>
                <a:ea typeface="Arial"/>
                <a:cs typeface="Arial"/>
                <a:sym typeface="Arial"/>
              </a:rPr>
              <a:t> includes production of RNA from DNA. Bukhari and colleagues compared transcript abundance after an intruder presentation with abundance after an empty-flask control. The number and direction of changed transcripts varied across the 30-, 60-, and 120-minute samples.</a:t>
            </a:r>
            <a:endParaRPr sz="1600">
              <a:solidFill>
                <a:schemeClr val="dk1"/>
              </a:solidFill>
              <a:latin typeface="Calibri"/>
              <a:ea typeface="Calibri"/>
              <a:cs typeface="Calibri"/>
              <a:sym typeface="Calibri"/>
            </a:endParaRPr>
          </a:p>
        </p:txBody>
      </p:sp>
      <p:sp>
        <p:nvSpPr>
          <p:cNvPr id="514" name="Google Shape;514;p41"/>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endParaRPr sz="1600">
              <a:solidFill>
                <a:schemeClr val="dk1"/>
              </a:solidFill>
              <a:latin typeface="Calibri"/>
              <a:ea typeface="Calibri"/>
              <a:cs typeface="Calibri"/>
              <a:sym typeface="Calibri"/>
            </a:endParaRPr>
          </a:p>
        </p:txBody>
      </p:sp>
      <p:sp>
        <p:nvSpPr>
          <p:cNvPr id="515" name="Google Shape;515;p41"/>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endParaRPr sz="1600">
              <a:solidFill>
                <a:schemeClr val="dk1"/>
              </a:solidFill>
              <a:latin typeface="Calibri"/>
              <a:ea typeface="Calibri"/>
              <a:cs typeface="Calibri"/>
              <a:sym typeface="Calibri"/>
            </a:endParaRPr>
          </a:p>
        </p:txBody>
      </p:sp>
      <p:pic>
        <p:nvPicPr>
          <p:cNvPr id="516" name="Google Shape;516;p41"/>
          <p:cNvPicPr preferRelativeResize="0"/>
          <p:nvPr/>
        </p:nvPicPr>
        <p:blipFill rotWithShape="1">
          <a:blip r:embed="rId3">
            <a:alphaModFix/>
          </a:blip>
          <a:srcRect b="0" l="0" r="0" t="0"/>
          <a:stretch/>
        </p:blipFill>
        <p:spPr>
          <a:xfrm>
            <a:off x="6362700" y="1180378"/>
            <a:ext cx="5372100" cy="2216900"/>
          </a:xfrm>
          <a:prstGeom prst="rect">
            <a:avLst/>
          </a:prstGeom>
          <a:noFill/>
          <a:ln>
            <a:noFill/>
          </a:ln>
        </p:spPr>
      </p:pic>
      <p:sp>
        <p:nvSpPr>
          <p:cNvPr id="517" name="Google Shape;517;p41"/>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2(B,D). Temporal expression patterns and functional associations of telencephalic gene clusters.</a:t>
            </a:r>
            <a:endParaRPr sz="1800">
              <a:solidFill>
                <a:schemeClr val="dk1"/>
              </a:solidFill>
              <a:latin typeface="Calibri"/>
              <a:ea typeface="Calibri"/>
              <a:cs typeface="Calibri"/>
              <a:sym typeface="Calibri"/>
            </a:endParaRPr>
          </a:p>
        </p:txBody>
      </p:sp>
      <p:pic>
        <p:nvPicPr>
          <p:cNvPr id="518" name="Google Shape;518;p41"/>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519" name="Google Shape;519;p41"/>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20" name="Google Shape;520;p41"/>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775">
                <a:solidFill>
                  <a:srgbClr val="5D6673"/>
                </a:solidFill>
                <a:latin typeface="Arial"/>
                <a:ea typeface="Arial"/>
                <a:cs typeface="Arial"/>
                <a:sym typeface="Arial"/>
              </a:rPr>
              <a:t>Bukhari et al. (2017); James &amp; Bell (2021)</a:t>
            </a:r>
            <a:endParaRPr sz="1600">
              <a:solidFill>
                <a:schemeClr val="dk1"/>
              </a:solidFill>
              <a:latin typeface="Calibri"/>
              <a:ea typeface="Calibri"/>
              <a:cs typeface="Calibri"/>
              <a:sym typeface="Calibri"/>
            </a:endParaRPr>
          </a:p>
        </p:txBody>
      </p:sp>
      <p:sp>
        <p:nvSpPr>
          <p:cNvPr id="521" name="Google Shape;521;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The two brain regions can respond in opposite directions</a:t>
            </a:r>
            <a:endParaRPr sz="1800">
              <a:solidFill>
                <a:schemeClr val="dk1"/>
              </a:solidFill>
              <a:latin typeface="Calibri"/>
              <a:ea typeface="Calibri"/>
              <a:cs typeface="Calibri"/>
              <a:sym typeface="Calibri"/>
            </a:endParaRPr>
          </a:p>
        </p:txBody>
      </p:sp>
      <p:sp>
        <p:nvSpPr>
          <p:cNvPr id="527" name="Google Shape;527;p42"/>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Bukhari and colleagues analyzed the telencephalon and diencephalon separately rather than pooling the entire brain. Transcript responses in the two regions were strongly aligned at 30 and 60 minutes. The later sample contained a subset with opposite response directions.</a:t>
            </a:r>
            <a:endParaRPr sz="1600">
              <a:solidFill>
                <a:schemeClr val="dk1"/>
              </a:solidFill>
              <a:latin typeface="Calibri"/>
              <a:ea typeface="Calibri"/>
              <a:cs typeface="Calibri"/>
              <a:sym typeface="Calibri"/>
            </a:endParaRPr>
          </a:p>
        </p:txBody>
      </p:sp>
      <p:sp>
        <p:nvSpPr>
          <p:cNvPr id="528" name="Google Shape;528;p42"/>
          <p:cNvSpPr/>
          <p:nvPr/>
        </p:nvSpPr>
        <p:spPr>
          <a:xfrm>
            <a:off x="457200" y="267656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450">
                <a:solidFill>
                  <a:srgbClr val="222831"/>
                </a:solidFill>
                <a:latin typeface="Arial"/>
                <a:ea typeface="Arial"/>
                <a:cs typeface="Arial"/>
                <a:sym typeface="Arial"/>
              </a:rPr>
              <a:t>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endParaRPr sz="1600">
              <a:solidFill>
                <a:schemeClr val="dk1"/>
              </a:solidFill>
              <a:latin typeface="Calibri"/>
              <a:ea typeface="Calibri"/>
              <a:cs typeface="Calibri"/>
              <a:sym typeface="Calibri"/>
            </a:endParaRPr>
          </a:p>
        </p:txBody>
      </p:sp>
      <p:sp>
        <p:nvSpPr>
          <p:cNvPr id="529" name="Google Shape;529;p42"/>
          <p:cNvSpPr/>
          <p:nvPr/>
        </p:nvSpPr>
        <p:spPr>
          <a:xfrm>
            <a:off x="457200" y="4394448"/>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450">
                <a:solidFill>
                  <a:srgbClr val="222831"/>
                </a:solidFill>
                <a:latin typeface="Arial"/>
                <a:ea typeface="Arial"/>
                <a:cs typeface="Arial"/>
                <a:sym typeface="Arial"/>
              </a:rPr>
              <a:t>Regional specificity</a:t>
            </a:r>
            <a:r>
              <a:rPr b="0" i="0" lang="en-US" sz="1450">
                <a:solidFill>
                  <a:srgbClr val="222831"/>
                </a:solidFill>
                <a:latin typeface="Arial"/>
                <a:ea typeface="Arial"/>
                <a:cs typeface="Arial"/>
                <a:sym typeface="Arial"/>
              </a:rPr>
              <a:t>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endParaRPr sz="1600">
              <a:solidFill>
                <a:schemeClr val="dk1"/>
              </a:solidFill>
              <a:latin typeface="Calibri"/>
              <a:ea typeface="Calibri"/>
              <a:cs typeface="Calibri"/>
              <a:sym typeface="Calibri"/>
            </a:endParaRPr>
          </a:p>
        </p:txBody>
      </p:sp>
      <p:pic>
        <p:nvPicPr>
          <p:cNvPr id="530" name="Google Shape;530;p42"/>
          <p:cNvPicPr preferRelativeResize="0"/>
          <p:nvPr/>
        </p:nvPicPr>
        <p:blipFill rotWithShape="1">
          <a:blip r:embed="rId3">
            <a:alphaModFix/>
          </a:blip>
          <a:srcRect b="0" l="0" r="0" t="0"/>
          <a:stretch/>
        </p:blipFill>
        <p:spPr>
          <a:xfrm>
            <a:off x="7406275" y="1055340"/>
            <a:ext cx="3284950" cy="2924175"/>
          </a:xfrm>
          <a:prstGeom prst="rect">
            <a:avLst/>
          </a:prstGeom>
          <a:noFill/>
          <a:ln>
            <a:noFill/>
          </a:ln>
        </p:spPr>
      </p:pic>
      <p:sp>
        <p:nvSpPr>
          <p:cNvPr id="531" name="Google Shape;531;p42"/>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1(F). Opposite-direction transcript responses between regions at 120 minutes.</a:t>
            </a:r>
            <a:endParaRPr sz="1800">
              <a:solidFill>
                <a:schemeClr val="dk1"/>
              </a:solidFill>
              <a:latin typeface="Calibri"/>
              <a:ea typeface="Calibri"/>
              <a:cs typeface="Calibri"/>
              <a:sym typeface="Calibri"/>
            </a:endParaRPr>
          </a:p>
        </p:txBody>
      </p:sp>
      <p:pic>
        <p:nvPicPr>
          <p:cNvPr id="532" name="Google Shape;532;p42"/>
          <p:cNvPicPr preferRelativeResize="0"/>
          <p:nvPr/>
        </p:nvPicPr>
        <p:blipFill rotWithShape="1">
          <a:blip r:embed="rId4">
            <a:alphaModFix/>
          </a:blip>
          <a:srcRect b="0" l="0" r="0" t="0"/>
          <a:stretch/>
        </p:blipFill>
        <p:spPr>
          <a:xfrm>
            <a:off x="8256294" y="4560540"/>
            <a:ext cx="1584912" cy="1019175"/>
          </a:xfrm>
          <a:prstGeom prst="rect">
            <a:avLst/>
          </a:prstGeom>
          <a:noFill/>
          <a:ln>
            <a:noFill/>
          </a:ln>
        </p:spPr>
      </p:pic>
      <p:sp>
        <p:nvSpPr>
          <p:cNvPr id="533" name="Google Shape;533;p42"/>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34" name="Google Shape;534;p42"/>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35" name="Google Shape;535;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Regulatory networks propose coordinated gene control</a:t>
            </a:r>
            <a:endParaRPr sz="1800">
              <a:solidFill>
                <a:schemeClr val="dk1"/>
              </a:solidFill>
              <a:latin typeface="Calibri"/>
              <a:ea typeface="Calibri"/>
              <a:cs typeface="Calibri"/>
              <a:sym typeface="Calibri"/>
            </a:endParaRPr>
          </a:p>
        </p:txBody>
      </p:sp>
      <p:sp>
        <p:nvSpPr>
          <p:cNvPr id="541" name="Google Shape;541;p4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A </a:t>
            </a:r>
            <a:r>
              <a:rPr b="1" i="0" lang="en-US" sz="1300">
                <a:solidFill>
                  <a:srgbClr val="222831"/>
                </a:solidFill>
                <a:latin typeface="Arial"/>
                <a:ea typeface="Arial"/>
                <a:cs typeface="Arial"/>
                <a:sym typeface="Arial"/>
              </a:rPr>
              <a:t>transcription factor</a:t>
            </a:r>
            <a:r>
              <a:rPr b="0" i="0" lang="en-US" sz="1300">
                <a:solidFill>
                  <a:srgbClr val="222831"/>
                </a:solidFill>
                <a:latin typeface="Arial"/>
                <a:ea typeface="Arial"/>
                <a:cs typeface="Arial"/>
                <a:sym typeface="Arial"/>
              </a:rPr>
              <a:t> is a protein that influences transcription by interacting with regulatory DNA and other components of gene control. Bukhari and colleagues inferred a transcriptional regulatory network and compared predicted targets with groups of genes sharing temporal response patterns.</a:t>
            </a:r>
            <a:endParaRPr sz="1600">
              <a:solidFill>
                <a:schemeClr val="dk1"/>
              </a:solidFill>
              <a:latin typeface="Calibri"/>
              <a:ea typeface="Calibri"/>
              <a:cs typeface="Calibri"/>
              <a:sym typeface="Calibri"/>
            </a:endParaRPr>
          </a:p>
        </p:txBody>
      </p:sp>
      <p:sp>
        <p:nvSpPr>
          <p:cNvPr id="542" name="Google Shape;542;p4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Some candidate regulators and their proposed targets changed in similar sequences across 30, 60, and 120 minutes. For example, the expression of irf8 and cebpb tracked groups with little early change, reduced expression at 60 minutes, and increased expression at 120 minutes.</a:t>
            </a:r>
            <a:endParaRPr sz="1600">
              <a:solidFill>
                <a:schemeClr val="dk1"/>
              </a:solidFill>
              <a:latin typeface="Calibri"/>
              <a:ea typeface="Calibri"/>
              <a:cs typeface="Calibri"/>
              <a:sym typeface="Calibri"/>
            </a:endParaRPr>
          </a:p>
        </p:txBody>
      </p:sp>
      <p:sp>
        <p:nvSpPr>
          <p:cNvPr id="543" name="Google Shape;543;p43"/>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22831"/>
              </a:buClr>
              <a:buSzPts val="1500"/>
              <a:buFont typeface="Arial"/>
              <a:buNone/>
            </a:pPr>
            <a:r>
              <a:rPr b="0" i="0" lang="en-US" sz="1300">
                <a:solidFill>
                  <a:srgbClr val="222831"/>
                </a:solidFill>
                <a:latin typeface="Arial"/>
                <a:ea typeface="Arial"/>
                <a:cs typeface="Arial"/>
                <a:sym typeface="Arial"/>
              </a:rPr>
              <a:t>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endParaRPr sz="1600">
              <a:solidFill>
                <a:schemeClr val="dk1"/>
              </a:solidFill>
              <a:latin typeface="Calibri"/>
              <a:ea typeface="Calibri"/>
              <a:cs typeface="Calibri"/>
              <a:sym typeface="Calibri"/>
            </a:endParaRPr>
          </a:p>
        </p:txBody>
      </p:sp>
      <p:pic>
        <p:nvPicPr>
          <p:cNvPr id="544" name="Google Shape;544;p43"/>
          <p:cNvPicPr preferRelativeResize="0"/>
          <p:nvPr/>
        </p:nvPicPr>
        <p:blipFill rotWithShape="1">
          <a:blip r:embed="rId3">
            <a:alphaModFix/>
          </a:blip>
          <a:srcRect b="0" l="0" r="0" t="0"/>
          <a:stretch/>
        </p:blipFill>
        <p:spPr>
          <a:xfrm>
            <a:off x="7115930" y="1055340"/>
            <a:ext cx="4037090" cy="4000500"/>
          </a:xfrm>
          <a:prstGeom prst="rect">
            <a:avLst/>
          </a:prstGeom>
          <a:noFill/>
          <a:ln>
            <a:noFill/>
          </a:ln>
        </p:spPr>
      </p:pic>
      <p:sp>
        <p:nvSpPr>
          <p:cNvPr id="545" name="Google Shape;545;p4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22831"/>
              </a:buClr>
              <a:buSzPts val="1125"/>
              <a:buFont typeface="Arial"/>
              <a:buNone/>
            </a:pPr>
            <a:r>
              <a:rPr b="0" i="0" lang="en-US" sz="1125">
                <a:solidFill>
                  <a:srgbClr val="222831"/>
                </a:solidFill>
                <a:latin typeface="Arial"/>
                <a:ea typeface="Arial"/>
                <a:cs typeface="Arial"/>
                <a:sym typeface="Arial"/>
              </a:rPr>
              <a:t>Bukhari et al. (2017), Fig. 3. The published inferred network of transcription factors and gene clusters.</a:t>
            </a:r>
            <a:endParaRPr sz="1800">
              <a:solidFill>
                <a:schemeClr val="dk1"/>
              </a:solidFill>
              <a:latin typeface="Calibri"/>
              <a:ea typeface="Calibri"/>
              <a:cs typeface="Calibri"/>
              <a:sym typeface="Calibri"/>
            </a:endParaRPr>
          </a:p>
        </p:txBody>
      </p:sp>
      <p:sp>
        <p:nvSpPr>
          <p:cNvPr id="546" name="Google Shape;546;p43"/>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47" name="Google Shape;547;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Chromatin-associated changes persist after the encounter</a:t>
            </a:r>
            <a:endParaRPr sz="1800">
              <a:solidFill>
                <a:schemeClr val="dk1"/>
              </a:solidFill>
              <a:latin typeface="Calibri"/>
              <a:ea typeface="Calibri"/>
              <a:cs typeface="Calibri"/>
              <a:sym typeface="Calibri"/>
            </a:endParaRPr>
          </a:p>
        </p:txBody>
      </p:sp>
      <p:sp>
        <p:nvSpPr>
          <p:cNvPr id="553" name="Google Shape;553;p44"/>
          <p:cNvSpPr/>
          <p:nvPr/>
        </p:nvSpPr>
        <p:spPr>
          <a:xfrm>
            <a:off x="494425" y="1541828"/>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1" i="0" lang="en-US" sz="1150">
                <a:solidFill>
                  <a:srgbClr val="222831"/>
                </a:solidFill>
                <a:latin typeface="Arial"/>
                <a:ea typeface="Arial"/>
                <a:cs typeface="Arial"/>
                <a:sym typeface="Arial"/>
              </a:rPr>
              <a:t>Chromatin</a:t>
            </a:r>
            <a:r>
              <a:rPr b="0" i="0" lang="en-US" sz="1150">
                <a:solidFill>
                  <a:srgbClr val="222831"/>
                </a:solidFill>
                <a:latin typeface="Arial"/>
                <a:ea typeface="Arial"/>
                <a:cs typeface="Arial"/>
                <a:sym typeface="Arial"/>
              </a:rPr>
              <a:t>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endParaRPr sz="1300">
              <a:solidFill>
                <a:schemeClr val="dk1"/>
              </a:solidFill>
              <a:latin typeface="Calibri"/>
              <a:ea typeface="Calibri"/>
              <a:cs typeface="Calibri"/>
              <a:sym typeface="Calibri"/>
            </a:endParaRPr>
          </a:p>
        </p:txBody>
      </p:sp>
      <p:sp>
        <p:nvSpPr>
          <p:cNvPr id="554" name="Google Shape;554;p44"/>
          <p:cNvSpPr/>
          <p:nvPr/>
        </p:nvSpPr>
        <p:spPr>
          <a:xfrm>
            <a:off x="494425" y="2881792"/>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150">
                <a:solidFill>
                  <a:srgbClr val="222831"/>
                </a:solidFill>
                <a:latin typeface="Arial"/>
                <a:ea typeface="Arial"/>
                <a:cs typeface="Arial"/>
                <a:sym typeface="Arial"/>
              </a:rPr>
              <a:t>They compared 30- and 120-minute samples and found stronger later changes near many genes. At the Pparg locus, increased regulatory marking at 120 minutes accompanied increased transcript abundance. Other loci had distinct temporal patterns rather than one common response.</a:t>
            </a:r>
            <a:endParaRPr sz="1300">
              <a:solidFill>
                <a:schemeClr val="dk1"/>
              </a:solidFill>
              <a:latin typeface="Calibri"/>
              <a:ea typeface="Calibri"/>
              <a:cs typeface="Calibri"/>
              <a:sym typeface="Calibri"/>
            </a:endParaRPr>
          </a:p>
        </p:txBody>
      </p:sp>
      <p:sp>
        <p:nvSpPr>
          <p:cNvPr id="555" name="Google Shape;555;p44"/>
          <p:cNvSpPr/>
          <p:nvPr/>
        </p:nvSpPr>
        <p:spPr>
          <a:xfrm>
            <a:off x="457200" y="4032083"/>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150">
                <a:solidFill>
                  <a:srgbClr val="222831"/>
                </a:solidFill>
                <a:latin typeface="Arial"/>
                <a:ea typeface="Arial"/>
                <a:cs typeface="Arial"/>
                <a:sym typeface="Arial"/>
              </a:rPr>
              <a:t>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endParaRPr sz="1300">
              <a:solidFill>
                <a:schemeClr val="dk1"/>
              </a:solidFill>
              <a:latin typeface="Calibri"/>
              <a:ea typeface="Calibri"/>
              <a:cs typeface="Calibri"/>
              <a:sym typeface="Calibri"/>
            </a:endParaRPr>
          </a:p>
        </p:txBody>
      </p:sp>
      <p:pic>
        <p:nvPicPr>
          <p:cNvPr id="556" name="Google Shape;556;p44"/>
          <p:cNvPicPr preferRelativeResize="0"/>
          <p:nvPr/>
        </p:nvPicPr>
        <p:blipFill rotWithShape="1">
          <a:blip r:embed="rId3">
            <a:alphaModFix/>
          </a:blip>
          <a:srcRect b="0" l="0" r="0" t="0"/>
          <a:stretch/>
        </p:blipFill>
        <p:spPr>
          <a:xfrm>
            <a:off x="6362700" y="1129040"/>
            <a:ext cx="5372100" cy="2319574"/>
          </a:xfrm>
          <a:prstGeom prst="rect">
            <a:avLst/>
          </a:prstGeom>
          <a:noFill/>
          <a:ln>
            <a:noFill/>
          </a:ln>
        </p:spPr>
      </p:pic>
      <p:sp>
        <p:nvSpPr>
          <p:cNvPr id="557" name="Google Shape;557;p44"/>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4(D). Published chromatin-mark tracks near the Pparg locus.</a:t>
            </a:r>
            <a:endParaRPr sz="1800">
              <a:solidFill>
                <a:schemeClr val="dk1"/>
              </a:solidFill>
              <a:latin typeface="Calibri"/>
              <a:ea typeface="Calibri"/>
              <a:cs typeface="Calibri"/>
              <a:sym typeface="Calibri"/>
            </a:endParaRPr>
          </a:p>
        </p:txBody>
      </p:sp>
      <p:pic>
        <p:nvPicPr>
          <p:cNvPr id="558" name="Google Shape;558;p44"/>
          <p:cNvPicPr preferRelativeResize="0"/>
          <p:nvPr/>
        </p:nvPicPr>
        <p:blipFill rotWithShape="1">
          <a:blip r:embed="rId4">
            <a:alphaModFix/>
          </a:blip>
          <a:srcRect b="0" l="0" r="0" t="0"/>
          <a:stretch/>
        </p:blipFill>
        <p:spPr>
          <a:xfrm>
            <a:off x="7900799" y="3936653"/>
            <a:ext cx="2295901" cy="1476375"/>
          </a:xfrm>
          <a:prstGeom prst="rect">
            <a:avLst/>
          </a:prstGeom>
          <a:noFill/>
          <a:ln>
            <a:noFill/>
          </a:ln>
        </p:spPr>
      </p:pic>
      <p:sp>
        <p:nvSpPr>
          <p:cNvPr id="559" name="Google Shape;559;p44"/>
          <p:cNvSpPr/>
          <p:nvPr/>
        </p:nvSpPr>
        <p:spPr>
          <a:xfrm>
            <a:off x="6362700" y="5489228"/>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60" name="Google Shape;560;p44"/>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475">
                <a:solidFill>
                  <a:srgbClr val="5D6673"/>
                </a:solidFill>
                <a:latin typeface="Arial"/>
                <a:ea typeface="Arial"/>
                <a:cs typeface="Arial"/>
                <a:sym typeface="Arial"/>
              </a:rPr>
              <a:t>Bukhari et al. (2017); James &amp; Bell (2021)</a:t>
            </a:r>
            <a:endParaRPr sz="1300">
              <a:solidFill>
                <a:schemeClr val="dk1"/>
              </a:solidFill>
              <a:latin typeface="Calibri"/>
              <a:ea typeface="Calibri"/>
              <a:cs typeface="Calibri"/>
              <a:sym typeface="Calibri"/>
            </a:endParaRPr>
          </a:p>
        </p:txBody>
      </p:sp>
      <p:sp>
        <p:nvSpPr>
          <p:cNvPr id="561" name="Google Shape;561;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4A6D"/>
              </a:buClr>
              <a:buSzPts val="2400"/>
              <a:buFont typeface="Arial"/>
              <a:buNone/>
            </a:pPr>
            <a:r>
              <a:rPr b="1" i="0" lang="en-US" sz="2400">
                <a:solidFill>
                  <a:srgbClr val="2F4A6D"/>
                </a:solidFill>
                <a:latin typeface="Arial"/>
                <a:ea typeface="Arial"/>
                <a:cs typeface="Arial"/>
                <a:sym typeface="Arial"/>
              </a:rPr>
              <a:t>Stereotyped acts coexist with a changing internal state</a:t>
            </a:r>
            <a:endParaRPr sz="1800">
              <a:solidFill>
                <a:schemeClr val="dk1"/>
              </a:solidFill>
              <a:latin typeface="Calibri"/>
              <a:ea typeface="Calibri"/>
              <a:cs typeface="Calibri"/>
              <a:sym typeface="Calibri"/>
            </a:endParaRPr>
          </a:p>
        </p:txBody>
      </p:sp>
      <p:sp>
        <p:nvSpPr>
          <p:cNvPr id="567" name="Google Shape;567;p45"/>
          <p:cNvSpPr/>
          <p:nvPr/>
        </p:nvSpPr>
        <p:spPr>
          <a:xfrm>
            <a:off x="457200" y="151129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endParaRPr>
              <a:solidFill>
                <a:schemeClr val="dk1"/>
              </a:solidFill>
              <a:latin typeface="Calibri"/>
              <a:ea typeface="Calibri"/>
              <a:cs typeface="Calibri"/>
              <a:sym typeface="Calibri"/>
            </a:endParaRPr>
          </a:p>
        </p:txBody>
      </p:sp>
      <p:sp>
        <p:nvSpPr>
          <p:cNvPr id="568" name="Google Shape;568;p45"/>
          <p:cNvSpPr/>
          <p:nvPr/>
        </p:nvSpPr>
        <p:spPr>
          <a:xfrm>
            <a:off x="457200" y="2773206"/>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endParaRPr>
              <a:solidFill>
                <a:schemeClr val="dk1"/>
              </a:solidFill>
              <a:latin typeface="Calibri"/>
              <a:ea typeface="Calibri"/>
              <a:cs typeface="Calibri"/>
              <a:sym typeface="Calibri"/>
            </a:endParaRPr>
          </a:p>
        </p:txBody>
      </p:sp>
      <p:sp>
        <p:nvSpPr>
          <p:cNvPr id="569" name="Google Shape;569;p45"/>
          <p:cNvSpPr/>
          <p:nvPr/>
        </p:nvSpPr>
        <p:spPr>
          <a:xfrm>
            <a:off x="457200" y="4307783"/>
            <a:ext cx="5581800" cy="19794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22831"/>
              </a:buClr>
              <a:buSzPts val="1650"/>
              <a:buFont typeface="Arial"/>
              <a:buNone/>
            </a:pPr>
            <a:r>
              <a:rPr b="0" i="0" lang="en-US" sz="1250">
                <a:solidFill>
                  <a:srgbClr val="222831"/>
                </a:solidFill>
                <a:latin typeface="Arial"/>
                <a:ea typeface="Arial"/>
                <a:cs typeface="Arial"/>
                <a:sym typeface="Arial"/>
              </a:rPr>
              <a:t>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endParaRPr>
              <a:solidFill>
                <a:schemeClr val="dk1"/>
              </a:solidFill>
              <a:latin typeface="Calibri"/>
              <a:ea typeface="Calibri"/>
              <a:cs typeface="Calibri"/>
              <a:sym typeface="Calibri"/>
            </a:endParaRPr>
          </a:p>
        </p:txBody>
      </p:sp>
      <p:pic>
        <p:nvPicPr>
          <p:cNvPr id="570" name="Google Shape;570;p45"/>
          <p:cNvPicPr preferRelativeResize="0"/>
          <p:nvPr/>
        </p:nvPicPr>
        <p:blipFill rotWithShape="1">
          <a:blip r:embed="rId3">
            <a:alphaModFix/>
          </a:blip>
          <a:srcRect b="0" l="0" r="0" t="0"/>
          <a:stretch/>
        </p:blipFill>
        <p:spPr>
          <a:xfrm>
            <a:off x="6362700" y="1180378"/>
            <a:ext cx="5372100" cy="2216900"/>
          </a:xfrm>
          <a:prstGeom prst="rect">
            <a:avLst/>
          </a:prstGeom>
          <a:noFill/>
          <a:ln>
            <a:noFill/>
          </a:ln>
        </p:spPr>
      </p:pic>
      <p:sp>
        <p:nvSpPr>
          <p:cNvPr id="571" name="Google Shape;571;p45"/>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Bukhari et al. (2017), Fig. 2(B,D). Telencephalic temporal gene-expression patterns and functional associations.</a:t>
            </a:r>
            <a:endParaRPr sz="1800">
              <a:solidFill>
                <a:schemeClr val="dk1"/>
              </a:solidFill>
              <a:latin typeface="Calibri"/>
              <a:ea typeface="Calibri"/>
              <a:cs typeface="Calibri"/>
              <a:sym typeface="Calibri"/>
            </a:endParaRPr>
          </a:p>
        </p:txBody>
      </p:sp>
      <p:pic>
        <p:nvPicPr>
          <p:cNvPr id="572" name="Google Shape;572;p45"/>
          <p:cNvPicPr preferRelativeResize="0"/>
          <p:nvPr/>
        </p:nvPicPr>
        <p:blipFill rotWithShape="1">
          <a:blip r:embed="rId4">
            <a:alphaModFix/>
          </a:blip>
          <a:srcRect b="0" l="0" r="0" t="0"/>
          <a:stretch/>
        </p:blipFill>
        <p:spPr>
          <a:xfrm>
            <a:off x="7900799" y="4103340"/>
            <a:ext cx="2295901" cy="1476375"/>
          </a:xfrm>
          <a:prstGeom prst="rect">
            <a:avLst/>
          </a:prstGeom>
          <a:noFill/>
          <a:ln>
            <a:noFill/>
          </a:ln>
        </p:spPr>
      </p:pic>
      <p:sp>
        <p:nvSpPr>
          <p:cNvPr id="573" name="Google Shape;573;p45"/>
          <p:cNvSpPr/>
          <p:nvPr/>
        </p:nvSpPr>
        <p:spPr>
          <a:xfrm>
            <a:off x="6362700" y="56559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22831"/>
              </a:buClr>
              <a:buSzPts val="1050"/>
              <a:buFont typeface="Arial"/>
              <a:buNone/>
            </a:pPr>
            <a:r>
              <a:rPr b="0" i="0" lang="en-US" sz="1050">
                <a:solidFill>
                  <a:srgbClr val="222831"/>
                </a:solidFill>
                <a:latin typeface="Arial"/>
                <a:ea typeface="Arial"/>
                <a:cs typeface="Arial"/>
                <a:sym typeface="Arial"/>
              </a:rPr>
              <a:t>James &amp; Bell (2021), Fig. 2(C). Dorsal brain anatomy; original scale bar 2 mm.</a:t>
            </a:r>
            <a:endParaRPr sz="1800">
              <a:solidFill>
                <a:schemeClr val="dk1"/>
              </a:solidFill>
              <a:latin typeface="Calibri"/>
              <a:ea typeface="Calibri"/>
              <a:cs typeface="Calibri"/>
              <a:sym typeface="Calibri"/>
            </a:endParaRPr>
          </a:p>
        </p:txBody>
      </p:sp>
      <p:sp>
        <p:nvSpPr>
          <p:cNvPr id="574" name="Google Shape;574;p45"/>
          <p:cNvSpPr/>
          <p:nvPr/>
        </p:nvSpPr>
        <p:spPr>
          <a:xfrm>
            <a:off x="457200" y="6462713"/>
            <a:ext cx="234731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Bukhari et al. (2017); James &amp; Bell (2021)</a:t>
            </a:r>
            <a:endParaRPr sz="1800">
              <a:solidFill>
                <a:schemeClr val="dk1"/>
              </a:solidFill>
              <a:latin typeface="Calibri"/>
              <a:ea typeface="Calibri"/>
              <a:cs typeface="Calibri"/>
              <a:sym typeface="Calibri"/>
            </a:endParaRPr>
          </a:p>
        </p:txBody>
      </p:sp>
      <p:sp>
        <p:nvSpPr>
          <p:cNvPr id="575" name="Google Shape;575;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6"/>
          <p:cNvSpPr/>
          <p:nvPr/>
        </p:nvSpPr>
        <p:spPr>
          <a:xfrm>
            <a:off x="447675" y="299000"/>
            <a:ext cx="11296800" cy="5145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2F4A6D"/>
              </a:buClr>
              <a:buSzPts val="2700"/>
              <a:buFont typeface="Arial"/>
              <a:buNone/>
            </a:pPr>
            <a:r>
              <a:rPr b="1" i="0" lang="en-US" sz="2700">
                <a:solidFill>
                  <a:srgbClr val="2F4A6D"/>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581" name="Google Shape;581;p46"/>
          <p:cNvSpPr/>
          <p:nvPr/>
        </p:nvSpPr>
        <p:spPr>
          <a:xfrm>
            <a:off x="457200" y="921850"/>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Sign stimuli are selective cues.</a:t>
            </a:r>
            <a:r>
              <a:rPr b="0" i="0" lang="en-US" sz="1350">
                <a:solidFill>
                  <a:srgbClr val="222831"/>
                </a:solidFill>
                <a:latin typeface="Arial"/>
                <a:ea typeface="Arial"/>
                <a:cs typeface="Arial"/>
                <a:sym typeface="Arial"/>
              </a:rPr>
              <a:t> Restricted features can release particular actions, but their effects depend on posture, territorial context, reproductive condition, and the response measured.</a:t>
            </a:r>
            <a:endParaRPr sz="1500">
              <a:solidFill>
                <a:schemeClr val="dk1"/>
              </a:solidFill>
              <a:latin typeface="Calibri"/>
              <a:ea typeface="Calibri"/>
              <a:cs typeface="Calibri"/>
              <a:sym typeface="Calibri"/>
            </a:endParaRPr>
          </a:p>
        </p:txBody>
      </p:sp>
      <p:sp>
        <p:nvSpPr>
          <p:cNvPr id="582" name="Google Shape;582;p46"/>
          <p:cNvSpPr/>
          <p:nvPr/>
        </p:nvSpPr>
        <p:spPr>
          <a:xfrm>
            <a:off x="6191250" y="921850"/>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Fixed patterns and feedback coexist.</a:t>
            </a:r>
            <a:r>
              <a:rPr b="0" i="0" lang="en-US" sz="1350">
                <a:solidFill>
                  <a:srgbClr val="222831"/>
                </a:solidFill>
                <a:latin typeface="Arial"/>
                <a:ea typeface="Arial"/>
                <a:cs typeface="Arial"/>
                <a:sym typeface="Arial"/>
              </a:rPr>
              <a:t> Goose retrieval combines a stereotyped inward movement with lateral corrections dependent on contact and the object’s deviations.</a:t>
            </a:r>
            <a:endParaRPr sz="1500">
              <a:solidFill>
                <a:schemeClr val="dk1"/>
              </a:solidFill>
              <a:latin typeface="Calibri"/>
              <a:ea typeface="Calibri"/>
              <a:cs typeface="Calibri"/>
              <a:sym typeface="Calibri"/>
            </a:endParaRPr>
          </a:p>
        </p:txBody>
      </p:sp>
      <p:sp>
        <p:nvSpPr>
          <p:cNvPr id="583" name="Google Shape;583;p46"/>
          <p:cNvSpPr/>
          <p:nvPr/>
        </p:nvSpPr>
        <p:spPr>
          <a:xfrm>
            <a:off x="457200" y="2662544"/>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Continuation is not successful retrieval.</a:t>
            </a:r>
            <a:r>
              <a:rPr b="0" i="0" lang="en-US" sz="1350">
                <a:solidFill>
                  <a:srgbClr val="222831"/>
                </a:solidFill>
                <a:latin typeface="Arial"/>
                <a:ea typeface="Arial"/>
                <a:cs typeface="Arial"/>
                <a:sym typeface="Arial"/>
              </a:rPr>
              <a:t> The inward movement can persist after object loss; completion of a motor sequence does not prove that the egg reached the nest.</a:t>
            </a:r>
            <a:endParaRPr sz="1500">
              <a:solidFill>
                <a:schemeClr val="dk1"/>
              </a:solidFill>
              <a:latin typeface="Calibri"/>
              <a:ea typeface="Calibri"/>
              <a:cs typeface="Calibri"/>
              <a:sym typeface="Calibri"/>
            </a:endParaRPr>
          </a:p>
        </p:txBody>
      </p:sp>
      <p:sp>
        <p:nvSpPr>
          <p:cNvPr id="584" name="Google Shape;584;p46"/>
          <p:cNvSpPr/>
          <p:nvPr/>
        </p:nvSpPr>
        <p:spPr>
          <a:xfrm>
            <a:off x="6191250" y="2662544"/>
            <a:ext cx="5562600" cy="15501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State and experience alter release.</a:t>
            </a:r>
            <a:r>
              <a:rPr b="0" i="0" lang="en-US" sz="1350">
                <a:solidFill>
                  <a:srgbClr val="222831"/>
                </a:solidFill>
                <a:latin typeface="Arial"/>
                <a:ea typeface="Arial"/>
                <a:cs typeface="Arial"/>
                <a:sym typeface="Arial"/>
              </a:rPr>
              <a:t> Repeated retrieval reduces execution readiness, experience narrows object acceptance, and response selection changes near hatching.</a:t>
            </a:r>
            <a:endParaRPr sz="1500">
              <a:solidFill>
                <a:schemeClr val="dk1"/>
              </a:solidFill>
              <a:latin typeface="Calibri"/>
              <a:ea typeface="Calibri"/>
              <a:cs typeface="Calibri"/>
              <a:sym typeface="Calibri"/>
            </a:endParaRPr>
          </a:p>
        </p:txBody>
      </p:sp>
      <p:sp>
        <p:nvSpPr>
          <p:cNvPr id="585" name="Google Shape;585;p46"/>
          <p:cNvSpPr/>
          <p:nvPr/>
        </p:nvSpPr>
        <p:spPr>
          <a:xfrm>
            <a:off x="457200" y="4403238"/>
            <a:ext cx="5562600" cy="18330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Interventions require matched controls.</a:t>
            </a:r>
            <a:r>
              <a:rPr b="0" i="0" lang="en-US" sz="1350">
                <a:solidFill>
                  <a:srgbClr val="222831"/>
                </a:solidFill>
                <a:latin typeface="Arial"/>
                <a:ea typeface="Arial"/>
                <a:cs typeface="Arial"/>
                <a:sym typeface="Arial"/>
              </a:rPr>
              <a:t> Candidate-gene delivery changes aggression within individuals, but broad expression and overlapping final scores limit localization and generalization.</a:t>
            </a:r>
            <a:endParaRPr sz="1500">
              <a:solidFill>
                <a:schemeClr val="dk1"/>
              </a:solidFill>
              <a:latin typeface="Calibri"/>
              <a:ea typeface="Calibri"/>
              <a:cs typeface="Calibri"/>
              <a:sym typeface="Calibri"/>
            </a:endParaRPr>
          </a:p>
        </p:txBody>
      </p:sp>
      <p:sp>
        <p:nvSpPr>
          <p:cNvPr id="586" name="Google Shape;586;p46"/>
          <p:cNvSpPr/>
          <p:nvPr/>
        </p:nvSpPr>
        <p:spPr>
          <a:xfrm>
            <a:off x="6191250" y="4403238"/>
            <a:ext cx="5562600" cy="1833000"/>
          </a:xfrm>
          <a:prstGeom prst="rect">
            <a:avLst/>
          </a:prstGeom>
          <a:solidFill>
            <a:srgbClr val="EFF3F8"/>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22831"/>
              </a:buClr>
              <a:buSzPts val="1650"/>
              <a:buFont typeface="Arial"/>
              <a:buNone/>
            </a:pPr>
            <a:r>
              <a:rPr b="1" i="0" lang="en-US" sz="1350">
                <a:solidFill>
                  <a:srgbClr val="222831"/>
                </a:solidFill>
                <a:latin typeface="Arial"/>
                <a:ea typeface="Arial"/>
                <a:cs typeface="Arial"/>
                <a:sym typeface="Arial"/>
              </a:rPr>
              <a:t>Molecular responses have distinct time scales.</a:t>
            </a:r>
            <a:r>
              <a:rPr b="0" i="0" lang="en-US" sz="1350">
                <a:solidFill>
                  <a:srgbClr val="222831"/>
                </a:solidFill>
                <a:latin typeface="Arial"/>
                <a:ea typeface="Arial"/>
                <a:cs typeface="Arial"/>
                <a:sym typeface="Arial"/>
              </a:rPr>
              <a:t> A five-minute challenge changes RNA and chromatin-associated marks over 30–120 minutes; these measurements do not directly establish a release circuit or memory.</a:t>
            </a:r>
            <a:endParaRPr sz="1500">
              <a:solidFill>
                <a:schemeClr val="dk1"/>
              </a:solidFill>
              <a:latin typeface="Calibri"/>
              <a:ea typeface="Calibri"/>
              <a:cs typeface="Calibri"/>
              <a:sym typeface="Calibri"/>
            </a:endParaRPr>
          </a:p>
        </p:txBody>
      </p:sp>
      <p:sp>
        <p:nvSpPr>
          <p:cNvPr id="587" name="Google Shape;587;p46"/>
          <p:cNvSpPr/>
          <p:nvPr/>
        </p:nvSpPr>
        <p:spPr>
          <a:xfrm>
            <a:off x="457200" y="6462713"/>
            <a:ext cx="499720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Tinbergen (1948); Lorenz &amp; Tinbergen (1938); James &amp; Bell (2021); Bukhari et al. (2017)</a:t>
            </a:r>
            <a:endParaRPr sz="1800">
              <a:solidFill>
                <a:schemeClr val="dk1"/>
              </a:solidFill>
              <a:latin typeface="Calibri"/>
              <a:ea typeface="Calibri"/>
              <a:cs typeface="Calibri"/>
              <a:sym typeface="Calibri"/>
            </a:endParaRPr>
          </a:p>
        </p:txBody>
      </p:sp>
      <p:sp>
        <p:nvSpPr>
          <p:cNvPr id="588" name="Google Shape;588;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D6673"/>
              </a:buClr>
              <a:buSzPts val="975"/>
              <a:buFont typeface="Arial"/>
              <a:buNone/>
            </a:pPr>
            <a:r>
              <a:rPr b="0" i="0" lang="en-US" sz="975">
                <a:solidFill>
                  <a:srgbClr val="5D6673"/>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2026-10-08T08:23:49.681Z</dcterms:created>
  <dc:creator>Presenton</dc:creator>
</cp:coreProperties>
</file>