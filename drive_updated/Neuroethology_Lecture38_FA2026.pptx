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2" roundtripDataSignature="AMtx7mgPEOSvVx/uaSdEULcigZTD0eOK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Primate communication: vervet monkey alarm calls and referential signaling (Seyfarth &amp; Cheney)</a:t>
            </a:r>
            <a:endParaRPr/>
          </a:p>
          <a:p>
            <a:pPr indent="0" lvl="0" marL="0" rtl="0" algn="l">
              <a:spcBef>
                <a:spcPts val="0"/>
              </a:spcBef>
              <a:spcAft>
                <a:spcPts val="0"/>
              </a:spcAft>
              <a:buNone/>
            </a:pPr>
            <a:r>
              <a:rPr lang="en-US"/>
              <a:t>Lecture 38. NEUR 411 · NEUROETHOLOGY · FALL 2026. Monday, November 30, 2026.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Image: Photo: Vervet monkey in East African savanna. Credit: Diego Delso. License: CC BY-SA 4.0. Source: https://commons.wikimedia.org/wiki/File:Cercopiteco_verde_(Chlorocebus_pygerythrus),_parque_nacional_de_Tarangire,_Tanzania,_2024-05-24,_DD_02.jpg</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**Alarm calls** are vocal signals associated with danger. Free-ranging vervet monkeys, now classified as _Chlorocebus pygerythrus_, produced different calls during encounters with terrestrial predators, aerial predators and snakes. These categories were identified from recordings and observations during a 14-month study in Amboseli, Kenya.</a:t>
            </a:r>
            <a:endParaRPr/>
          </a:p>
          <a:p>
            <a:pPr indent="0" lvl="0" marL="0" rtl="0" algn="l">
              <a:spcBef>
                <a:spcPts val="0"/>
              </a:spcBef>
              <a:spcAft>
                <a:spcPts val="0"/>
              </a:spcAft>
              <a:buNone/>
            </a:pPr>
            <a:r>
              <a:rPr lang="en-US"/>
              <a:t>• Seyfarth, Cheney and Marler played recorded calls when predators were absent. Monkeys changed their looking direction and escape behavior according to the call type within the 10 s observation window. The playback separated hearing an alarm from directly seeing its usual eliciting predator.</a:t>
            </a:r>
            <a:endParaRPr/>
          </a:p>
          <a:p>
            <a:pPr indent="0" lvl="0" marL="0" rtl="0" algn="l">
              <a:spcBef>
                <a:spcPts val="0"/>
              </a:spcBef>
              <a:spcAft>
                <a:spcPts val="0"/>
              </a:spcAft>
              <a:buNone/>
            </a:pPr>
            <a:r>
              <a:rPr lang="en-US"/>
              <a:t>• **Referential signaling** concerns information about external objects or events. Predator-appropriate responses support that functional interpretation, while leaving unresolved whether a caller intends to describe a predator or a listener represents it in a human-like symbolic form.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rPr lang="en-US"/>
              <a:t>Robert M. Seyfarth, Dorothy L. Cheney, Peter Marler (1980). Vervet monkey alarm calls: Semantic communication in a free-ranging primate. Animal Behaviour 28(4):1070-1094. https://doi.org/10.1016/S0003-3472(80)80097-2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Image: Photo: Vervet monkey in East African savanna. Credit: Diego Delso. License: CC BY-SA 4.0. Source: https://commons.wikimedia.org/wiki/File:Cercopiteco_verde_(Chlorocebus_pygerythrus),_parque_nacional_de_Tarangire,_Tanzania,_2024-05-24,_DD_02.jpg</a:t>
            </a:r>
            <a:endParaRPr/>
          </a:p>
        </p:txBody>
      </p:sp>
      <p:sp>
        <p:nvSpPr>
          <p:cNvPr id="96" name="Google Shape;9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Leopards are terrestrial ambush predators: an attack can approach a monkey moving or feeding on the ground. In Amboseli, leopard-associated alarm calls were followed by movement into trees. Escape location therefore mattered, rather than movement alone being the relevant response.</a:t>
            </a:r>
            <a:endParaRPr/>
          </a:p>
          <a:p>
            <a:pPr indent="0" lvl="0" marL="0" rtl="0" algn="l">
              <a:spcBef>
                <a:spcPts val="0"/>
              </a:spcBef>
              <a:spcAft>
                <a:spcPts val="0"/>
              </a:spcAft>
              <a:buNone/>
            </a:pPr>
            <a:r>
              <a:rPr lang="en-US"/>
              <a:t>• Playback trials used a concealed speaker without a leopard present. The investigators filmed behavior before and after the call, comparing the same recipients across the alarm event. Ground-dwelling subjects were more likely to run into trees after leopard alarms than after the other alarm categories.</a:t>
            </a:r>
            <a:endParaRPr/>
          </a:p>
          <a:p>
            <a:pPr indent="0" lvl="0" marL="0" rtl="0" algn="l">
              <a:spcBef>
                <a:spcPts val="0"/>
              </a:spcBef>
              <a:spcAft>
                <a:spcPts val="0"/>
              </a:spcAft>
              <a:buNone/>
            </a:pPr>
            <a:r>
              <a:rPr lang="en-US"/>
              <a:t>• An alarm could initiate an appropriate escape without direct visual identification of the predator. This behavioral result identifies an acoustic contribution to defensive action; it does not establish an obligatory reflex, nor does it measure the neuronal pathway generating the movement.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rPr lang="en-US"/>
              <a:t>Robert M. Seyfarth, Dorothy L. Cheney, Peter Marler (1980). Vervet monkey alarm calls: Semantic communication in a free-ranging primate. Animal Behaviour 28(4):1070-1094. https://doi.org/10.1016/S0003-3472(80)80097-2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Image: Photo: Leopard, a terrestrial ambush predator. Credit: Charles J. Sharp. License: CC BY-SA 4.0. Source: https://commons.wikimedia.org/wiki/File:Leopard_(Panthera_pardus_pardus)_Kruger.jpg</a:t>
            </a:r>
            <a:endParaRPr/>
          </a:p>
        </p:txBody>
      </p:sp>
      <p:sp>
        <p:nvSpPr>
          <p:cNvPr id="108" name="Google Shape;10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Martial eagles attack from above, so looking upward and reaching protective cover can address a different threat from climbing away from a leopard. Field observers recorded eagle-associated calls while monitoring the recipients’ position and subsequent behavior in the same habitat.</a:t>
            </a:r>
            <a:endParaRPr/>
          </a:p>
          <a:p>
            <a:pPr indent="0" lvl="0" marL="0" rtl="0" algn="l">
              <a:spcBef>
                <a:spcPts val="0"/>
              </a:spcBef>
              <a:spcAft>
                <a:spcPts val="0"/>
              </a:spcAft>
              <a:buNone/>
            </a:pPr>
            <a:r>
              <a:rPr lang="en-US"/>
              <a:t>• When these recordings were broadcast without an eagle present, monkeys on the ground looked upward and sometimes ran into cover. Monkeys already in trees could leave the tree. Responses were evaluated during the 10 s after playback against behavior during the preceding 10 s.</a:t>
            </a:r>
            <a:endParaRPr/>
          </a:p>
          <a:p>
            <a:pPr indent="0" lvl="0" marL="0" rtl="0" algn="l">
              <a:spcBef>
                <a:spcPts val="0"/>
              </a:spcBef>
              <a:spcAft>
                <a:spcPts val="0"/>
              </a:spcAft>
              <a:buNone/>
            </a:pPr>
            <a:r>
              <a:rPr lang="en-US"/>
              <a:t>• The contrasting actions depend partly on the recipient’s vulnerability at that location. A shared call category need not prescribe one fixed motor sequence. The experiment supports discrimination of aerial danger without demonstrating a representation of a particular individual eagle.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rPr lang="en-US"/>
              <a:t>Robert M. Seyfarth, Dorothy L. Cheney, Peter Marler (1980). Vervet monkey alarm calls: Semantic communication in a free-ranging primate. Animal Behaviour 28(4):1070-1094. https://doi.org/10.1016/S0003-3472(80)80097-2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Image: Photo: Martial eagle, an aerial predator. Credit: Charles J. Sharp. License: CC BY-SA 4.0. Source: https://commons.wikimedia.org/wiki/File:Martial_eagle_(Polemaetus_bellicosus).jpg</a:t>
            </a:r>
            <a:endParaRPr/>
          </a:p>
        </p:txBody>
      </p:sp>
      <p:sp>
        <p:nvSpPr>
          <p:cNvPr id="120" name="Google Shape;12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**Snake alarms** were high-pitched chutter-like vocalizations associated with pythons and other threatening snake encounters. Ground-directed inspection can locate a nearby threat whose danger differs from an aerial attack. Looking down and approaching a snake were distinguished from running into a tree.</a:t>
            </a:r>
            <a:endParaRPr/>
          </a:p>
          <a:p>
            <a:pPr indent="0" lvl="0" marL="0" rtl="0" algn="l">
              <a:spcBef>
                <a:spcPts val="0"/>
              </a:spcBef>
              <a:spcAft>
                <a:spcPts val="0"/>
              </a:spcAft>
              <a:buNone/>
            </a:pPr>
            <a:r>
              <a:rPr lang="en-US"/>
              <a:t>• In predator-free playbacks, snake calls caused more ground-directed looking than the other call types. The researchers scored behavior before and after the broadcast, using the same 10 s window for comparison. The speaker supplied sound while the physical snake stimulus was absent.</a:t>
            </a:r>
            <a:endParaRPr/>
          </a:p>
          <a:p>
            <a:pPr indent="0" lvl="0" marL="0" rtl="0" algn="l">
              <a:spcBef>
                <a:spcPts val="0"/>
              </a:spcBef>
              <a:spcAft>
                <a:spcPts val="0"/>
              </a:spcAft>
              <a:buNone/>
            </a:pPr>
            <a:r>
              <a:rPr lang="en-US"/>
              <a:t>• This contrast supports a relationship between call category and defensive assessment. Inspection is an action that can obtain additional evidence; it is not itself a measurement of conceptual meaning. Calling, looking, approaching and escaping are distinct components of the response.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rPr lang="en-US"/>
              <a:t>Robert M. Seyfarth, Dorothy L. Cheney, Peter Marler (1980). Vervet monkey alarm calls: Semantic communication in a free-ranging primate. Animal Behaviour 28(4):1070-1094. https://doi.org/10.1016/S0003-3472(80)80097-2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Image: Photo: African rock python, a ground-level threat. Credit: Tigerpython. License: CC BY-SA 3.0. Source: https://commons.wikimedia.org/wiki/File:Adult_Female_Python_sebae.jpg</a:t>
            </a:r>
            <a:endParaRPr/>
          </a:p>
        </p:txBody>
      </p:sp>
      <p:sp>
        <p:nvSpPr>
          <p:cNvPr id="132" name="Google Shape;13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**spectrogram** represents acoustic energy across time and frequency. The classic recordings compared leopard, eagle and snake calls from identified adults and a juvenile. Horizontal time scales and vertical frequency scales permit comparison of tonal structure, duration and repeated acoustic units.</a:t>
            </a:r>
            <a:endParaRPr/>
          </a:p>
          <a:p>
            <a:pPr indent="0" lvl="0" marL="0" rtl="0" algn="l">
              <a:spcBef>
                <a:spcPts val="0"/>
              </a:spcBef>
              <a:spcAft>
                <a:spcPts val="0"/>
              </a:spcAft>
              <a:buNone/>
            </a:pPr>
            <a:r>
              <a:rPr lang="en-US"/>
              <a:t>• The recordings used a 300 Hz analysis filter and frequency displays extending from 80 to 8000 Hz for these examples. Eagle alarms contained low-frequency components, snake alarms had higher-frequency chutter structure, and leopard calls included short tonal units or repeated sequences.</a:t>
            </a:r>
            <a:endParaRPr/>
          </a:p>
          <a:p>
            <a:pPr indent="0" lvl="0" marL="0" rtl="0" algn="l">
              <a:spcBef>
                <a:spcPts val="0"/>
              </a:spcBef>
              <a:spcAft>
                <a:spcPts val="0"/>
              </a:spcAft>
              <a:buNone/>
            </a:pPr>
            <a:r>
              <a:rPr lang="en-US"/>
              <a:t>• Differences were detectable both in the recordings and by listeners in the field. Acoustic distinctness establishes a basis for discrimination, but a spectrogram alone cannot establish what monkeys infer. The behavioral playback experiment supplies a separate test of the consequences of hearing these sounds.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Vervet monkey alarm calls: Semantic communication in a free-ranging primate. Animal Behaviour 28(4):1070-1094. https://doi.org/10.1016/S0003-3472(80)80097-2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Seyfarth et al. (1980), Fig. 1. Leopard, eagle and snake alarm spectrograms from three callers.</a:t>
            </a:r>
            <a:endParaRPr/>
          </a:p>
          <a:p>
            <a:pPr indent="0" lvl="0" marL="0" rtl="0" algn="l">
              <a:spcBef>
                <a:spcPts val="0"/>
              </a:spcBef>
              <a:spcAft>
                <a:spcPts val="0"/>
              </a:spcAft>
              <a:buNone/>
            </a:pPr>
            <a:r>
              <a:rPr lang="en-US"/>
              <a:t>Figure source: https://doi.org/10.1016/S0003-3472(80)80097-2</a:t>
            </a:r>
            <a:endParaRPr/>
          </a:p>
        </p:txBody>
      </p:sp>
      <p:sp>
        <p:nvSpPr>
          <p:cNvPr id="144" name="Google Shape;144;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**acoustic unit** is an individual sound element, whereas a sequence contains several such elements. Adult male leopard alarms often consisted of repeated units. Female and juvenile leopard alarms could instead contain a single short element, despite being associated with the same predator category.</a:t>
            </a:r>
            <a:endParaRPr/>
          </a:p>
          <a:p>
            <a:pPr indent="0" lvl="0" marL="0" rtl="0" algn="l">
              <a:spcBef>
                <a:spcPts val="0"/>
              </a:spcBef>
              <a:spcAft>
                <a:spcPts val="0"/>
              </a:spcAft>
              <a:buNone/>
            </a:pPr>
            <a:r>
              <a:rPr lang="en-US"/>
              <a:t>• Seyfarth and colleagues compared calls from identified individuals rather than assuming that one waveform represented the entire population. Their spectrograms preserve 0.5 s time scales. Some females also produced multi-unit leopard calls, especially when a predator was close or attacking.</a:t>
            </a:r>
            <a:endParaRPr/>
          </a:p>
          <a:p>
            <a:pPr indent="0" lvl="0" marL="0" rtl="0" algn="l">
              <a:spcBef>
                <a:spcPts val="0"/>
              </a:spcBef>
              <a:spcAft>
                <a:spcPts val="0"/>
              </a:spcAft>
              <a:buNone/>
            </a:pPr>
            <a:r>
              <a:rPr lang="en-US"/>
              <a:t>• Call category and detailed acoustic form are therefore related but distinct descriptions. Variation among callers does not eliminate a shared behavioral function. These observations do not by themselves separate effects of sex, body characteristics, threat proximity and individual differences in vocal production.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Vervet monkey alarm calls: Semantic communication in a free-ranging primate. Animal Behaviour 28(4):1070-1094. https://doi.org/10.1016/S0003-3472(80)80097-2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Seyfarth et al. (1980), Fig. 3. Adult male leopard alarms and adult female eagle alarms.</a:t>
            </a:r>
            <a:endParaRPr/>
          </a:p>
          <a:p>
            <a:pPr indent="0" lvl="0" marL="0" rtl="0" algn="l">
              <a:spcBef>
                <a:spcPts val="0"/>
              </a:spcBef>
              <a:spcAft>
                <a:spcPts val="0"/>
              </a:spcAft>
              <a:buNone/>
            </a:pPr>
            <a:r>
              <a:rPr lang="en-US"/>
              <a:t>Figure source: https://doi.org/10.1016/S0003-3472(80)80097-2</a:t>
            </a:r>
            <a:endParaRPr/>
          </a:p>
        </p:txBody>
      </p:sp>
      <p:sp>
        <p:nvSpPr>
          <p:cNvPr id="156" name="Google Shape;15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**Playback** presents a previously recorded signal to test its effect on a recipient. The classic field experiment concealed the loudspeaker and broadcast leopard, eagle or snake alarms when no predator was present. Speaker orientation and call order were varied across trials.</a:t>
            </a:r>
            <a:endParaRPr/>
          </a:p>
          <a:p>
            <a:pPr indent="0" lvl="0" marL="0" rtl="0" algn="l">
              <a:spcBef>
                <a:spcPts val="0"/>
              </a:spcBef>
              <a:spcAft>
                <a:spcPts val="0"/>
              </a:spcAft>
              <a:buNone/>
            </a:pPr>
            <a:r>
              <a:rPr lang="en-US"/>
              <a:t>• The Science report compared the 10 s before each broadcast with the 10 s afterward. Ground responses distinguished tree escape, cover seeking and looking up or down. The corresponding table also separates monkeys already in trees from those on the ground.</a:t>
            </a:r>
            <a:endParaRPr/>
          </a:p>
          <a:p>
            <a:pPr indent="0" lvl="0" marL="0" rtl="0" algn="l">
              <a:spcBef>
                <a:spcPts val="0"/>
              </a:spcBef>
              <a:spcAft>
                <a:spcPts val="0"/>
              </a:spcAft>
              <a:buNone/>
            </a:pPr>
            <a:r>
              <a:rPr lang="en-US"/>
              <a:t>• Removing the predator addresses the alternative that recipients merely copied responses to something they could see. It leaves acoustic and social information in the call available. A response to sound is evidence about reception, while the caller’s own motives require different observations or manipulations.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rPr lang="en-US"/>
              <a:t>Robert M. Seyfarth, Dorothy L. Cheney, Peter Marler (1980). Vervet monkey alarm calls: Semantic communication in a free-ranging primate. Animal Behaviour 28(4):1070-1094. https://doi.org/10.1016/S0003-3472(80)80097-2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Seyfarth et al. (1980), Table 1. Playback responses on the ground and in trees.</a:t>
            </a:r>
            <a:endParaRPr/>
          </a:p>
          <a:p>
            <a:pPr indent="0" lvl="0" marL="0" rtl="0" algn="l">
              <a:spcBef>
                <a:spcPts val="0"/>
              </a:spcBef>
              <a:spcAft>
                <a:spcPts val="0"/>
              </a:spcAft>
              <a:buNone/>
            </a:pPr>
            <a:r>
              <a:rPr lang="en-US"/>
              <a:t>Figure source: https://doi.org/10.1126/science.7433999</a:t>
            </a:r>
            <a:endParaRPr/>
          </a:p>
        </p:txBody>
      </p:sp>
      <p:sp>
        <p:nvSpPr>
          <p:cNvPr id="168" name="Google Shape;16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Call **duration** is the time occupied by the vocalization; a longer call can also contain more repeated units. Natural recordings permitted the investigators to construct short and long versions while retaining the characteristic structure associated with each alarm category.</a:t>
            </a:r>
            <a:endParaRPr/>
          </a:p>
          <a:p>
            <a:pPr indent="0" lvl="0" marL="0" rtl="0" algn="l">
              <a:spcBef>
                <a:spcPts val="0"/>
              </a:spcBef>
              <a:spcAft>
                <a:spcPts val="0"/>
              </a:spcAft>
              <a:buNone/>
            </a:pPr>
            <a:r>
              <a:rPr lang="en-US"/>
              <a:t>• Short stimuli averaged 0.3 s and contained one acoustic unit. Long stimuli averaged 3.7 s and contained approximately five units. Matched recordings from the same caller helped separate duration from differences in caller identity, and playback compared the resulting defensive responses.</a:t>
            </a:r>
            <a:endParaRPr/>
          </a:p>
          <a:p>
            <a:pPr indent="0" lvl="0" marL="0" rtl="0" algn="l">
              <a:spcBef>
                <a:spcPts val="0"/>
              </a:spcBef>
              <a:spcAft>
                <a:spcPts val="0"/>
              </a:spcAft>
              <a:buNone/>
            </a:pPr>
            <a:r>
              <a:rPr lang="en-US"/>
              <a:t>• Changing duration did not erase the principal differences between response categories. The result argues against duration alone explaining leopard, eagle and snake responses. It does not imply that duration is behaviorally irrelevant, because urgency and response magnitude can vary independently of the kind of action selected.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Vervet monkey alarm calls: Semantic communication in a free-ranging primate. Animal Behaviour 28(4):1070-1094. https://doi.org/10.1016/S0003-3472(80)80097-2</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Seyfarth et al. (1980), Fig. 4. Single-unit and multi-unit leopard alarms.</a:t>
            </a:r>
            <a:endParaRPr/>
          </a:p>
          <a:p>
            <a:pPr indent="0" lvl="0" marL="0" rtl="0" algn="l">
              <a:spcBef>
                <a:spcPts val="0"/>
              </a:spcBef>
              <a:spcAft>
                <a:spcPts val="0"/>
              </a:spcAft>
              <a:buNone/>
            </a:pPr>
            <a:r>
              <a:rPr lang="en-US"/>
              <a:t>Figure source: https://doi.org/10.1016/S0003-3472(80)80097-2</a:t>
            </a:r>
            <a:endParaRPr/>
          </a:p>
        </p:txBody>
      </p:sp>
      <p:sp>
        <p:nvSpPr>
          <p:cNvPr id="180" name="Google Shape;180;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**Amplitude** concerns sound magnitude, while acoustic structure includes its frequency distribution and temporal pattern. The natural calls differed in loudness: reconstructed field playback levels averaged 56 dB for leopard alarms, 53 dB for eagle alarms and 48 dB for snake alarms.</a:t>
            </a:r>
            <a:endParaRPr/>
          </a:p>
          <a:p>
            <a:pPr indent="0" lvl="0" marL="0" rtl="0" algn="l">
              <a:spcBef>
                <a:spcPts val="0"/>
              </a:spcBef>
              <a:spcAft>
                <a:spcPts val="0"/>
              </a:spcAft>
              <a:buNone/>
            </a:pPr>
            <a:r>
              <a:rPr lang="en-US"/>
              <a:t>• The investigators also compared responses where amplitude ranges overlapped and conducted amplitude-equalized trials. Category differences in defensive behavior persisted. These controls addressed whether louder sounds simply produced a different degree of generalized disturbance rather than a different kind of response.</a:t>
            </a:r>
            <a:endParaRPr/>
          </a:p>
          <a:p>
            <a:pPr indent="0" lvl="0" marL="0" rtl="0" algn="l">
              <a:spcBef>
                <a:spcPts val="0"/>
              </a:spcBef>
              <a:spcAft>
                <a:spcPts val="0"/>
              </a:spcAft>
              <a:buNone/>
            </a:pPr>
            <a:r>
              <a:rPr lang="en-US"/>
              <a:t>• The evidence rejects amplitude as a sufficient explanation for the category-specific actions in this preparation. It does not establish that internal arousal contributes nothing to natural calling. Sound level, caller state and external danger can covary without being interchangeable explanations for every measured response.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Vervet monkey alarm calls: Semantic communication in a free-ranging primate. Animal Behaviour 28(4):1070-1094. https://doi.org/10.1016/S0003-3472(80)80097-2</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Seyfarth et al. (1980), Fig. 1. Leopard, eagle and snake alarm spectrograms from three callers.</a:t>
            </a:r>
            <a:endParaRPr/>
          </a:p>
          <a:p>
            <a:pPr indent="0" lvl="0" marL="0" rtl="0" algn="l">
              <a:spcBef>
                <a:spcPts val="0"/>
              </a:spcBef>
              <a:spcAft>
                <a:spcPts val="0"/>
              </a:spcAft>
              <a:buNone/>
            </a:pPr>
            <a:r>
              <a:rPr lang="en-US"/>
              <a:t>Figure source: https://doi.org/10.1016/S0003-3472(80)80097-2</a:t>
            </a:r>
            <a:endParaRPr/>
          </a:p>
        </p:txBody>
      </p:sp>
      <p:sp>
        <p:nvSpPr>
          <p:cNvPr id="192" name="Google Shape;192;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**Context** includes the recipient’s surroundings and position when a signal arrives. The classic experiments tested subjects on the ground and subjects in trees, allowing the same alarm category to be evaluated where available refuge and vulnerability differed.</a:t>
            </a:r>
            <a:endParaRPr/>
          </a:p>
          <a:p>
            <a:pPr indent="0" lvl="0" marL="0" rtl="0" algn="l">
              <a:spcBef>
                <a:spcPts val="0"/>
              </a:spcBef>
              <a:spcAft>
                <a:spcPts val="0"/>
              </a:spcAft>
              <a:buNone/>
            </a:pPr>
            <a:r>
              <a:rPr lang="en-US"/>
              <a:t>• Ground subjects commonly escaped upward after leopard alarms, whereas eagle alarms could make tree-dwelling monkeys leave the tree. The 10 s scoring windows compared these actions with each individual’s behavior before playback, rather than treating all movement as one defensive response.</a:t>
            </a:r>
            <a:endParaRPr/>
          </a:p>
          <a:p>
            <a:pPr indent="0" lvl="0" marL="0" rtl="0" algn="l">
              <a:spcBef>
                <a:spcPts val="0"/>
              </a:spcBef>
              <a:spcAft>
                <a:spcPts val="0"/>
              </a:spcAft>
              <a:buNone/>
            </a:pPr>
            <a:r>
              <a:rPr lang="en-US"/>
              <a:t>• A stable association with a danger class is compatible with context-dependent action. The same external threat can demand different movements from different starting positions. These experiments did not support a context-only account of all alarm distinctions, because different calls also elicited contrasting responses in the same setting.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rPr lang="en-US"/>
              <a:t>Robert M. Seyfarth, Dorothy L. Cheney, Peter Marler (1980). Vervet monkey alarm calls: Semantic communication in a free-ranging primate. Animal Behaviour 28(4):1070-1094. https://doi.org/10.1016/S0003-3472(80)80097-2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Seyfarth et al. (1980), Table 1. Playback responses on the ground and in trees.</a:t>
            </a:r>
            <a:endParaRPr/>
          </a:p>
          <a:p>
            <a:pPr indent="0" lvl="0" marL="0" rtl="0" algn="l">
              <a:spcBef>
                <a:spcPts val="0"/>
              </a:spcBef>
              <a:spcAft>
                <a:spcPts val="0"/>
              </a:spcAft>
              <a:buNone/>
            </a:pPr>
            <a:r>
              <a:rPr lang="en-US"/>
              <a:t>Figure source: https://doi.org/10.1126/science.7433999</a:t>
            </a:r>
            <a:endParaRPr/>
          </a:p>
        </p:txBody>
      </p:sp>
      <p:sp>
        <p:nvSpPr>
          <p:cNvPr id="204" name="Google Shape;204;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**Ontogeny** is change during an individual’s development. In the Amboseli observations, infants gave eagle alarms to a broad range of birds and sometimes to harmless stimuli. Adult callers restricted such alarms more strongly to dangerous aerial species, including martial eagles.</a:t>
            </a:r>
            <a:endParaRPr/>
          </a:p>
          <a:p>
            <a:pPr indent="0" lvl="0" marL="0" rtl="0" algn="l">
              <a:spcBef>
                <a:spcPts val="0"/>
              </a:spcBef>
              <a:spcAft>
                <a:spcPts val="0"/>
              </a:spcAft>
              <a:buNone/>
            </a:pPr>
            <a:r>
              <a:rPr lang="en-US"/>
              <a:t>• The published comparison follows alarms collected across 14 months and displays the stimuli associated with infant, juvenile and adult calling. Infants’ errors were structured: aerial stimuli tended to elicit eagle calls, terrestrial mammals leopard calls, and long thin objects snake calls.</a:t>
            </a:r>
            <a:endParaRPr/>
          </a:p>
          <a:p>
            <a:pPr indent="0" lvl="0" marL="0" rtl="0" algn="l">
              <a:spcBef>
                <a:spcPts val="0"/>
              </a:spcBef>
              <a:spcAft>
                <a:spcPts val="0"/>
              </a:spcAft>
              <a:buNone/>
            </a:pPr>
            <a:r>
              <a:rPr lang="en-US"/>
              <a:t>• The developmental difference is consistent with refinement within broad perceptual categories. It does not mean infants begin without discrimination. Because these were observations across age classes, the contribution of maturation, personal experience and learning from adults could not be isolated by this comparison alone.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Seyfarth et al. (1980), Fig. 1. Age-related breadth of stimuli eliciting eagle alarms.</a:t>
            </a:r>
            <a:endParaRPr/>
          </a:p>
          <a:p>
            <a:pPr indent="0" lvl="0" marL="0" rtl="0" algn="l">
              <a:spcBef>
                <a:spcPts val="0"/>
              </a:spcBef>
              <a:spcAft>
                <a:spcPts val="0"/>
              </a:spcAft>
              <a:buNone/>
            </a:pPr>
            <a:r>
              <a:rPr lang="en-US"/>
              <a:t>Figure source: https://doi.org/10.1126/science.7433999</a:t>
            </a:r>
            <a:endParaRPr/>
          </a:p>
        </p:txBody>
      </p:sp>
      <p:sp>
        <p:nvSpPr>
          <p:cNvPr id="216" name="Google Shape;216;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**Predator classification** assigns different encountered objects to threat categories. The classic developmental observations contrasted broad infant categories with narrower adult associations. Adults encountered many harmless species without alarming and more selectively called to predators relevant to the local habitat.</a:t>
            </a:r>
            <a:endParaRPr/>
          </a:p>
          <a:p>
            <a:pPr indent="0" lvl="0" marL="0" rtl="0" algn="l">
              <a:spcBef>
                <a:spcPts val="0"/>
              </a:spcBef>
              <a:spcAft>
                <a:spcPts val="0"/>
              </a:spcAft>
              <a:buNone/>
            </a:pPr>
            <a:r>
              <a:rPr lang="en-US"/>
              <a:t>• The eagle-alarm comparison includes raptors, non-raptor birds and occasional other stimuli. Records accumulated during a 14-month field study linked each call to an identified eliciting object. Juvenile patterns lay between the broad infant and more selective adult patterns.</a:t>
            </a:r>
            <a:endParaRPr/>
          </a:p>
          <a:p>
            <a:pPr indent="0" lvl="0" marL="0" rtl="0" algn="l">
              <a:spcBef>
                <a:spcPts val="0"/>
              </a:spcBef>
              <a:spcAft>
                <a:spcPts val="0"/>
              </a:spcAft>
              <a:buNone/>
            </a:pPr>
            <a:r>
              <a:rPr lang="en-US"/>
              <a:t>• This relationship concerns the use of a call, not necessarily the acquisition of a new acoustic form. The original authors left the learning process unresolved. Age-related refinement supports experience-sensitive categorization, while controlled changes in experience are needed to identify how social and individual information contribute.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Seyfarth et al. (1980), Fig. 1. Age-related breadth of stimuli eliciting eagle alarms.</a:t>
            </a:r>
            <a:endParaRPr/>
          </a:p>
          <a:p>
            <a:pPr indent="0" lvl="0" marL="0" rtl="0" algn="l">
              <a:spcBef>
                <a:spcPts val="0"/>
              </a:spcBef>
              <a:spcAft>
                <a:spcPts val="0"/>
              </a:spcAft>
              <a:buNone/>
            </a:pPr>
            <a:r>
              <a:rPr lang="en-US"/>
              <a:t>Figure source: https://doi.org/10.1126/science.7433999</a:t>
            </a:r>
            <a:endParaRPr/>
          </a:p>
        </p:txBody>
      </p:sp>
      <p:sp>
        <p:nvSpPr>
          <p:cNvPr id="228" name="Google Shape;228;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**acoustic cluster** groups calls with similar measured sound properties without first assigning them a predator name. Price and colleagues analyzed recordings from predator encounters and aggressive interactions. Female calls separated into four broad groups with differences in element length and frequency distribution.</a:t>
            </a:r>
            <a:endParaRPr/>
          </a:p>
          <a:p>
            <a:pPr indent="0" lvl="0" marL="0" rtl="0" algn="l">
              <a:spcBef>
                <a:spcPts val="0"/>
              </a:spcBef>
              <a:spcAft>
                <a:spcPts val="0"/>
              </a:spcAft>
              <a:buNone/>
            </a:pPr>
            <a:r>
              <a:rPr lang="en-US"/>
              <a:t>• The source spectrograms display frequency in kHz and time in seconds; representative elements are shown against 0.2 s scales. Some clusters contained repeated short sounds, whereas a terrestrial-predator-associated cluster contained fewer, longer elements. This analysis extended the classic qualitative descriptions.</a:t>
            </a:r>
            <a:endParaRPr/>
          </a:p>
          <a:p>
            <a:pPr indent="0" lvl="0" marL="0" rtl="0" algn="l">
              <a:spcBef>
                <a:spcPts val="0"/>
              </a:spcBef>
              <a:spcAft>
                <a:spcPts val="0"/>
              </a:spcAft>
              <a:buNone/>
            </a:pPr>
            <a:r>
              <a:rPr lang="en-US"/>
              <a:t>• Clustering establishes structure in the recorded repertoire rather than a neural category boundary. A group of acoustically similar sounds can occur in more than one behavioral setting. The number of analytical clusters does not itself establish the number of meanings recognized by a monkey.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1A. Acoustic clusters of female calls across predator and aggressive contexts.</a:t>
            </a:r>
            <a:endParaRPr/>
          </a:p>
          <a:p>
            <a:pPr indent="0" lvl="0" marL="0" rtl="0" algn="l">
              <a:spcBef>
                <a:spcPts val="0"/>
              </a:spcBef>
              <a:spcAft>
                <a:spcPts val="0"/>
              </a:spcAft>
              <a:buNone/>
            </a:pPr>
            <a:r>
              <a:rPr lang="en-US"/>
              <a:t>Figure source: https://doi.org/10.1038/srep13220</a:t>
            </a:r>
            <a:endParaRPr/>
          </a:p>
        </p:txBody>
      </p:sp>
      <p:sp>
        <p:nvSpPr>
          <p:cNvPr id="240" name="Google Shape;240;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**Temporal features** describe duration and spacing; **spectral features** describe how energy is distributed across frequencies. Price and colleagues measured both rather than identifying alarm types from one frequency or one duration alone. The acoustic examples retain their original kHz and second scales.</a:t>
            </a:r>
            <a:endParaRPr/>
          </a:p>
          <a:p>
            <a:pPr indent="0" lvl="0" marL="0" rtl="0" algn="l">
              <a:spcBef>
                <a:spcPts val="0"/>
              </a:spcBef>
              <a:spcAft>
                <a:spcPts val="0"/>
              </a:spcAft>
              <a:buNone/>
            </a:pPr>
            <a:r>
              <a:rPr lang="en-US"/>
              <a:t>• Female terrestrial-predator calls had longer individual elements than aerial and snake-associated calls. Reported mean element durations were 107.7 ms for terrestrial encounters, 43.9 ms for aerial encounters and 38.3 ms for snake encounters. These measurements concern elements rather than entire alarm bouts.</a:t>
            </a:r>
            <a:endParaRPr/>
          </a:p>
          <a:p>
            <a:pPr indent="0" lvl="0" marL="0" rtl="0" algn="l">
              <a:spcBef>
                <a:spcPts val="0"/>
              </a:spcBef>
              <a:spcAft>
                <a:spcPts val="0"/>
              </a:spcAft>
              <a:buNone/>
            </a:pPr>
            <a:r>
              <a:rPr lang="en-US"/>
              <a:t>• Multiple features can support discrimination even when no single measure creates a perfect boundary. The analysis describes the recorded calls; it does not identify which feature a listener actually uses. Controlled playback changes would be needed to attribute behavioral discrimination to one feature independently.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1A. Acoustic clusters of female calls across predator and aggressive contexts.</a:t>
            </a:r>
            <a:endParaRPr/>
          </a:p>
          <a:p>
            <a:pPr indent="0" lvl="0" marL="0" rtl="0" algn="l">
              <a:spcBef>
                <a:spcPts val="0"/>
              </a:spcBef>
              <a:spcAft>
                <a:spcPts val="0"/>
              </a:spcAft>
              <a:buNone/>
            </a:pPr>
            <a:r>
              <a:rPr lang="en-US"/>
              <a:t>Figure source: https://doi.org/10.1038/srep13220</a:t>
            </a:r>
            <a:endParaRPr/>
          </a:p>
        </p:txBody>
      </p:sp>
      <p:sp>
        <p:nvSpPr>
          <p:cNvPr id="252" name="Google Shape;252;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**Production specificity** is the association between a signal and the situations in which it is produced. Restricting their analysis to predator encounters, Price and colleagues compared female calls recorded during aerial, snake and terrestrial threats. The corresponding acoustic distributions separated strongly.</a:t>
            </a:r>
            <a:endParaRPr/>
          </a:p>
          <a:p>
            <a:pPr indent="0" lvl="0" marL="0" rtl="0" algn="l">
              <a:spcBef>
                <a:spcPts val="0"/>
              </a:spcBef>
              <a:spcAft>
                <a:spcPts val="0"/>
              </a:spcAft>
              <a:buNone/>
            </a:pPr>
            <a:r>
              <a:rPr lang="en-US"/>
              <a:t>• Spectral measurements help distinguish these contexts. Mean peak frequency was 986 Hz for aerial calls, 2840 Hz for snake calls and 2374 Hz for terrestrial calls. Temporal structure also differed, so peak frequency was not the sole basis of classification.</a:t>
            </a:r>
            <a:endParaRPr/>
          </a:p>
          <a:p>
            <a:pPr indent="0" lvl="0" marL="0" rtl="0" algn="l">
              <a:spcBef>
                <a:spcPts val="0"/>
              </a:spcBef>
              <a:spcAft>
                <a:spcPts val="0"/>
              </a:spcAft>
              <a:buNone/>
            </a:pPr>
            <a:r>
              <a:rPr lang="en-US"/>
              <a:t>• The result supports acoustic differences among predator-associated female calls in this data set. It does not establish that those sounds occur only with predators, because aggressive contexts were excluded from this particular comparison. Specificity depends on which alternative eliciting situations are actually examined.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1B. Female calls separated by predator context.</a:t>
            </a:r>
            <a:endParaRPr/>
          </a:p>
          <a:p>
            <a:pPr indent="0" lvl="0" marL="0" rtl="0" algn="l">
              <a:spcBef>
                <a:spcPts val="0"/>
              </a:spcBef>
              <a:spcAft>
                <a:spcPts val="0"/>
              </a:spcAft>
              <a:buNone/>
            </a:pPr>
            <a:r>
              <a:rPr lang="en-US"/>
              <a:t>Figure source: https://doi.org/10.1038/srep13220</a:t>
            </a:r>
            <a:endParaRPr/>
          </a:p>
        </p:txBody>
      </p:sp>
      <p:sp>
        <p:nvSpPr>
          <p:cNvPr id="264" name="Google Shape;264;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**call element** is a component within a compound vocalization; a **bout** can contain successive vocalizations. Price and colleagues separated measures of the complete call from spectral measures of its individual elements, avoiding the assumption that every duration describes the same biological unit.</a:t>
            </a:r>
            <a:endParaRPr/>
          </a:p>
          <a:p>
            <a:pPr indent="0" lvl="0" marL="0" rtl="0" algn="l">
              <a:spcBef>
                <a:spcPts val="0"/>
              </a:spcBef>
              <a:spcAft>
                <a:spcPts val="0"/>
              </a:spcAft>
              <a:buNone/>
            </a:pPr>
            <a:r>
              <a:rPr lang="en-US"/>
              <a:t>• Female snake-associated calls contained more short elements than terrestrial-predator calls. Reported mean element numbers were 4.1 for snake calls and 1.4 for terrestrial calls, while their mean element durations were 38.3 ms and 107.7 ms respectively. Different arrangements therefore produced contrasting temporal patterns.</a:t>
            </a:r>
            <a:endParaRPr/>
          </a:p>
          <a:p>
            <a:pPr indent="0" lvl="0" marL="0" rtl="0" algn="l">
              <a:spcBef>
                <a:spcPts val="0"/>
              </a:spcBef>
              <a:spcAft>
                <a:spcPts val="0"/>
              </a:spcAft>
              <a:buNone/>
            </a:pPr>
            <a:r>
              <a:rPr lang="en-US"/>
              <a:t>• These source measurements connect acoustic organization to the eliciting context without claiming a one-to-one translation into a word. A listener could use the pattern jointly with frequency and social information. The recordings alone do not determine whether element count is represented separately by the auditory system.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1B. Female calls separated by predator context.</a:t>
            </a:r>
            <a:endParaRPr/>
          </a:p>
          <a:p>
            <a:pPr indent="0" lvl="0" marL="0" rtl="0" algn="l">
              <a:spcBef>
                <a:spcPts val="0"/>
              </a:spcBef>
              <a:spcAft>
                <a:spcPts val="0"/>
              </a:spcAft>
              <a:buNone/>
            </a:pPr>
            <a:r>
              <a:rPr lang="en-US"/>
              <a:t>Figure source: https://doi.org/10.1038/srep13220</a:t>
            </a:r>
            <a:endParaRPr/>
          </a:p>
        </p:txBody>
      </p:sp>
      <p:sp>
        <p:nvSpPr>
          <p:cNvPr id="276" name="Google Shape;276;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**Aggression** comprises antagonistic interactions within or between groups. Price and colleagues added recordings from these situations to the female predator-call analysis. Calls associated with snakes and aerial predators then overlapped with aggressive calls, weakening a simple one-call–one-predator description.</a:t>
            </a:r>
            <a:endParaRPr/>
          </a:p>
          <a:p>
            <a:pPr indent="0" lvl="0" marL="0" rtl="0" algn="l">
              <a:spcBef>
                <a:spcPts val="0"/>
              </a:spcBef>
              <a:spcAft>
                <a:spcPts val="0"/>
              </a:spcAft>
              <a:buNone/>
            </a:pPr>
            <a:r>
              <a:rPr lang="en-US"/>
              <a:t>• Snake-associated chutter-like sounds resembled some intergroup calls. Aerial-associated rraup-like sounds resembled sounds from escalated aggression. Mean peak frequencies during between-group and within-group aggression were 1715 Hz and 1456 Hz, within the broader range occupied by predator-associated calls.</a:t>
            </a:r>
            <a:endParaRPr/>
          </a:p>
          <a:p>
            <a:pPr indent="0" lvl="0" marL="0" rtl="0" algn="l">
              <a:spcBef>
                <a:spcPts val="0"/>
              </a:spcBef>
              <a:spcAft>
                <a:spcPts val="0"/>
              </a:spcAft>
              <a:buNone/>
            </a:pPr>
            <a:r>
              <a:rPr lang="en-US"/>
              <a:t>• Production context cannot always be read directly from acoustic structure. This finding does not eliminate information available to recipients: additional acoustic details and current circumstances can influence their response. It does restrict claims that every familiar alarm form is exclusively a label for one predator class.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1C. Female predator and aggression calls occupy overlapping acoustic space.</a:t>
            </a:r>
            <a:endParaRPr/>
          </a:p>
          <a:p>
            <a:pPr indent="0" lvl="0" marL="0" rtl="0" algn="l">
              <a:spcBef>
                <a:spcPts val="0"/>
              </a:spcBef>
              <a:spcAft>
                <a:spcPts val="0"/>
              </a:spcAft>
              <a:buNone/>
            </a:pPr>
            <a:r>
              <a:rPr lang="en-US"/>
              <a:t>Figure source: https://doi.org/10.1038/srep13220</a:t>
            </a:r>
            <a:endParaRPr/>
          </a:p>
        </p:txBody>
      </p:sp>
      <p:sp>
        <p:nvSpPr>
          <p:cNvPr id="288" name="Google Shape;288;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**Graded variation** consists of intermediate forms along acoustic dimensions, whereas **discrete categories** have clearer separations. Female chutter-like and rraup-like calls occupied overlapping acoustic space when aggressive contexts were included. The published distribution is based on measured features rather than hand-assigned word equivalents.</a:t>
            </a:r>
            <a:endParaRPr/>
          </a:p>
          <a:p>
            <a:pPr indent="0" lvl="0" marL="0" rtl="0" algn="l">
              <a:spcBef>
                <a:spcPts val="0"/>
              </a:spcBef>
              <a:spcAft>
                <a:spcPts val="0"/>
              </a:spcAft>
              <a:buNone/>
            </a:pPr>
            <a:r>
              <a:rPr lang="en-US"/>
              <a:t>• The original spectrograms preserve 0.2 s time scales and frequency axes in kHz. They reveal different repeated-element patterns whose measured distributions can overlap. Calls from the same broad acoustic neighborhood occurred during snake encounters, aerial encounters and social aggression.</a:t>
            </a:r>
            <a:endParaRPr/>
          </a:p>
          <a:p>
            <a:pPr indent="0" lvl="0" marL="0" rtl="0" algn="l">
              <a:spcBef>
                <a:spcPts val="0"/>
              </a:spcBef>
              <a:spcAft>
                <a:spcPts val="0"/>
              </a:spcAft>
              <a:buNone/>
            </a:pPr>
            <a:r>
              <a:rPr lang="en-US"/>
              <a:t>• An overlapping production distribution does not preclude categorical perception by listeners. Perceptual categorization would require a reception experiment measuring responses across controlled acoustic variation. The study establishes acoustic intergradation and context overlap, while leaving the exact relationship between that continuum and recipients’ decisions unresolved.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1C. Female predator and aggression calls occupy overlapping acoustic space.</a:t>
            </a:r>
            <a:endParaRPr/>
          </a:p>
          <a:p>
            <a:pPr indent="0" lvl="0" marL="0" rtl="0" algn="l">
              <a:spcBef>
                <a:spcPts val="0"/>
              </a:spcBef>
              <a:spcAft>
                <a:spcPts val="0"/>
              </a:spcAft>
              <a:buNone/>
            </a:pPr>
            <a:r>
              <a:rPr lang="en-US"/>
              <a:t>Figure source: https://doi.org/10.1038/srep13220</a:t>
            </a:r>
            <a:endParaRPr/>
          </a:p>
        </p:txBody>
      </p:sp>
      <p:sp>
        <p:nvSpPr>
          <p:cNvPr id="300" name="Google Shape;300;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Male and female recordings were analyzed separately because their acoustic structures differed substantially. In East African males, Price and colleagues identified three clusters rather than the four-cluster female solution. The male categories differed in repeated-element pattern and spectral distribution.</a:t>
            </a:r>
            <a:endParaRPr/>
          </a:p>
          <a:p>
            <a:pPr indent="0" lvl="0" marL="0" rtl="0" algn="l">
              <a:spcBef>
                <a:spcPts val="0"/>
              </a:spcBef>
              <a:spcAft>
                <a:spcPts val="0"/>
              </a:spcAft>
              <a:buNone/>
            </a:pPr>
            <a:r>
              <a:rPr lang="en-US"/>
              <a:t>• The male spectrograms retain second and kHz scales, with representative sounds displayed against 0.2 s intervals. One group contained many short high-frequency elements; another contained fewer longer elements; a third had low-frequency components. Their associations with predator contexts were not equally exclusive.</a:t>
            </a:r>
            <a:endParaRPr/>
          </a:p>
          <a:p>
            <a:pPr indent="0" lvl="0" marL="0" rtl="0" algn="l">
              <a:spcBef>
                <a:spcPts val="0"/>
              </a:spcBef>
              <a:spcAft>
                <a:spcPts val="0"/>
              </a:spcAft>
              <a:buNone/>
            </a:pPr>
            <a:r>
              <a:rPr lang="en-US"/>
              <a:t>• Sex-specific acoustic organization cautions against treating a recording from one caller as the universal alarm template. The analysis concerns measured repertoire structure and does not identify the anatomical origin of sex differences. Body characteristics, vocal mechanics and contextual usage remain distinct possible contributors.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2A. Acoustic clusters of male predator calls.</a:t>
            </a:r>
            <a:endParaRPr/>
          </a:p>
          <a:p>
            <a:pPr indent="0" lvl="0" marL="0" rtl="0" algn="l">
              <a:spcBef>
                <a:spcPts val="0"/>
              </a:spcBef>
              <a:spcAft>
                <a:spcPts val="0"/>
              </a:spcAft>
              <a:buNone/>
            </a:pPr>
            <a:r>
              <a:rPr lang="en-US"/>
              <a:t>Figure source: https://doi.org/10.1038/srep13220</a:t>
            </a:r>
            <a:endParaRPr/>
          </a:p>
        </p:txBody>
      </p:sp>
      <p:sp>
        <p:nvSpPr>
          <p:cNvPr id="312" name="Google Shape;312;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**Acoustic overlap** occurs when different eliciting contexts produce similar ranges of measured call features. In the male data, some low-frequency calls occurred during both eagle and snake encounters. The published clusters therefore did not correspond perfectly to three mutually exclusive predator categories.</a:t>
            </a:r>
            <a:endParaRPr/>
          </a:p>
          <a:p>
            <a:pPr indent="0" lvl="0" marL="0" rtl="0" algn="l">
              <a:spcBef>
                <a:spcPts val="0"/>
              </a:spcBef>
              <a:spcAft>
                <a:spcPts val="0"/>
              </a:spcAft>
              <a:buNone/>
            </a:pPr>
            <a:r>
              <a:rPr lang="en-US"/>
              <a:t>• Mean male element duration was 76.5 ms for aerial calls, 61.1 ms for snake calls and 112.0 ms for terrestrial calls. Male peak frequencies averaged 1090 Hz, 1639 Hz and 1904 Hz respectively. Duration and frequency jointly described these contrasts.</a:t>
            </a:r>
            <a:endParaRPr/>
          </a:p>
          <a:p>
            <a:pPr indent="0" lvl="0" marL="0" rtl="0" algn="l">
              <a:spcBef>
                <a:spcPts val="0"/>
              </a:spcBef>
              <a:spcAft>
                <a:spcPts val="0"/>
              </a:spcAft>
              <a:buNone/>
            </a:pPr>
            <a:r>
              <a:rPr lang="en-US"/>
              <a:t>• Differences in average values do not make every individual call unambiguous. A listener may integrate several features and additional environmental information. These recordings establish distributions of production, while recipient-specific playback experiments are needed to determine how ambiguity affects defensive behavior in a particular setting.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2A. Acoustic clusters of male predator calls.</a:t>
            </a:r>
            <a:endParaRPr/>
          </a:p>
          <a:p>
            <a:pPr indent="0" lvl="0" marL="0" rtl="0" algn="l">
              <a:spcBef>
                <a:spcPts val="0"/>
              </a:spcBef>
              <a:spcAft>
                <a:spcPts val="0"/>
              </a:spcAft>
              <a:buNone/>
            </a:pPr>
            <a:r>
              <a:rPr lang="en-US"/>
              <a:t>Figure source: https://doi.org/10.1038/srep13220</a:t>
            </a:r>
            <a:endParaRPr/>
          </a:p>
        </p:txBody>
      </p:sp>
      <p:sp>
        <p:nvSpPr>
          <p:cNvPr id="324" name="Google Shape;324;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**Frequency range** describes the span of acoustic frequencies represented in a measured call element. Price and colleagues compared this measure with temporal organization and energy distribution in male alarms. Their recorded calls differed by context across several dimensions rather than one isolated cue.</a:t>
            </a:r>
            <a:endParaRPr/>
          </a:p>
          <a:p>
            <a:pPr indent="0" lvl="0" marL="0" rtl="0" algn="l">
              <a:spcBef>
                <a:spcPts val="0"/>
              </a:spcBef>
              <a:spcAft>
                <a:spcPts val="0"/>
              </a:spcAft>
              <a:buNone/>
            </a:pPr>
            <a:r>
              <a:rPr lang="en-US"/>
              <a:t>• Reported mean frequency ranges were 1832 Hz for aerial calls, 4069 Hz for snake calls and 3794 Hz for terrestrial calls. The original spectrograms retain frequency and time scales, allowing these broad spectral differences to be related to their temporal pattern.</a:t>
            </a:r>
            <a:endParaRPr/>
          </a:p>
          <a:p>
            <a:pPr indent="0" lvl="0" marL="0" rtl="0" algn="l">
              <a:spcBef>
                <a:spcPts val="0"/>
              </a:spcBef>
              <a:spcAft>
                <a:spcPts val="0"/>
              </a:spcAft>
              <a:buNone/>
            </a:pPr>
            <a:r>
              <a:rPr lang="en-US"/>
              <a:t>• A broader range does not by itself mean greater threat intensity or a different semantic category. It is a physical feature of the sound. The study does not establish how auditory neurons weight bandwidth relative to other features, nor whether the recipient’s escape decision depends on this measure alone.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2B. Male alarm calls grouped by predator context.</a:t>
            </a:r>
            <a:endParaRPr/>
          </a:p>
          <a:p>
            <a:pPr indent="0" lvl="0" marL="0" rtl="0" algn="l">
              <a:spcBef>
                <a:spcPts val="0"/>
              </a:spcBef>
              <a:spcAft>
                <a:spcPts val="0"/>
              </a:spcAft>
              <a:buNone/>
            </a:pPr>
            <a:r>
              <a:rPr lang="en-US"/>
              <a:t>Figure source: https://doi.org/10.1038/srep13220</a:t>
            </a:r>
            <a:endParaRPr/>
          </a:p>
        </p:txBody>
      </p:sp>
      <p:sp>
        <p:nvSpPr>
          <p:cNvPr id="336" name="Google Shape;336;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**acoustic classifier** assigns recordings to groups using measured features. Price and colleagues evaluated predator-context separation in male calls using acoustic measurements, with checks that reduced the possibility that caller identity alone explained the result. This is an analysis of recordings, not a playback test.</a:t>
            </a:r>
            <a:endParaRPr/>
          </a:p>
          <a:p>
            <a:pPr indent="0" lvl="0" marL="0" rtl="0" algn="l">
              <a:spcBef>
                <a:spcPts val="0"/>
              </a:spcBef>
              <a:spcAft>
                <a:spcPts val="0"/>
              </a:spcAft>
              <a:buNone/>
            </a:pPr>
            <a:r>
              <a:rPr lang="en-US"/>
              <a:t>• The figure represents calls associated with aerial, snake and terrestrial encounters. Source spectrograms have 0.2 s scales and frequency axes in kHz. Terrestrial-associated male calls separated more clearly, while some snake and aerial recordings occupied overlapping portions of acoustic space.</a:t>
            </a:r>
            <a:endParaRPr/>
          </a:p>
          <a:p>
            <a:pPr indent="0" lvl="0" marL="0" rtl="0" algn="l">
              <a:spcBef>
                <a:spcPts val="0"/>
              </a:spcBef>
              <a:spcAft>
                <a:spcPts val="0"/>
              </a:spcAft>
              <a:buNone/>
            </a:pPr>
            <a:r>
              <a:rPr lang="en-US"/>
              <a:t>• A computer’s ability to classify calls establishes available information under the chosen measurements. It does not prove that a monkey extracts the same features or recognizes identical categories. Behavioral responses and neural recordings address different stages between acoustic information and an inferred external event.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2B. Male alarm calls grouped by predator context.</a:t>
            </a:r>
            <a:endParaRPr/>
          </a:p>
          <a:p>
            <a:pPr indent="0" lvl="0" marL="0" rtl="0" algn="l">
              <a:spcBef>
                <a:spcPts val="0"/>
              </a:spcBef>
              <a:spcAft>
                <a:spcPts val="0"/>
              </a:spcAft>
              <a:buNone/>
            </a:pPr>
            <a:r>
              <a:rPr lang="en-US"/>
              <a:t>Figure source: https://doi.org/10.1038/srep13220</a:t>
            </a:r>
            <a:endParaRPr/>
          </a:p>
        </p:txBody>
      </p:sp>
      <p:sp>
        <p:nvSpPr>
          <p:cNvPr id="348" name="Google Shape;348;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**Barks** are a male call form associated with terrestrial threats but also with antagonistic interactions. Price and colleagues examined South African recordings from real leopard encounters, leopard-model presentations and social aggression. These contexts produced overlapping acoustic distributions.</a:t>
            </a:r>
            <a:endParaRPr/>
          </a:p>
          <a:p>
            <a:pPr indent="0" lvl="0" marL="0" rtl="0" algn="l">
              <a:spcBef>
                <a:spcPts val="0"/>
              </a:spcBef>
              <a:spcAft>
                <a:spcPts val="0"/>
              </a:spcAft>
              <a:buNone/>
            </a:pPr>
            <a:r>
              <a:rPr lang="en-US"/>
              <a:t>• The source pairs representative waveforms’ spectral patterns with a distribution of acoustic scores. The spectrograms retain a 0.2 s reference scale. Calls to real leopards were more similar to aggressive barks than calls elicited by leopard models were, within the available recordings.</a:t>
            </a:r>
            <a:endParaRPr/>
          </a:p>
          <a:p>
            <a:pPr indent="0" lvl="0" marL="0" rtl="0" algn="l">
              <a:spcBef>
                <a:spcPts val="0"/>
              </a:spcBef>
              <a:spcAft>
                <a:spcPts val="0"/>
              </a:spcAft>
              <a:buNone/>
            </a:pPr>
            <a:r>
              <a:rPr lang="en-US"/>
              <a:t>• A bark therefore does not guarantee that a leopard is present. Recipients can still use it as information about a relevant event or state. The distinction matters for claims of production specificity: an exclusively predator-linked interpretation would omit naturally occurring social uses of the same general call form.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2C. South African male barks to real leopards, models and aggression.</a:t>
            </a:r>
            <a:endParaRPr/>
          </a:p>
          <a:p>
            <a:pPr indent="0" lvl="0" marL="0" rtl="0" algn="l">
              <a:spcBef>
                <a:spcPts val="0"/>
              </a:spcBef>
              <a:spcAft>
                <a:spcPts val="0"/>
              </a:spcAft>
              <a:buNone/>
            </a:pPr>
            <a:r>
              <a:rPr lang="en-US"/>
              <a:t>Figure source: https://doi.org/10.1038/srep13220</a:t>
            </a:r>
            <a:endParaRPr/>
          </a:p>
        </p:txBody>
      </p:sp>
      <p:sp>
        <p:nvSpPr>
          <p:cNvPr id="360" name="Google Shape;360;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**Affective state** refers to an animal’s emotional or motivational condition. **Cognitive appraisal** concerns its evaluation of a situation. Price and colleagues proposed that both could contribute to call structure and use, because acoustically similar male barks occurred with predators and social aggression.</a:t>
            </a:r>
            <a:endParaRPr/>
          </a:p>
          <a:p>
            <a:pPr indent="0" lvl="0" marL="0" rtl="0" algn="l">
              <a:spcBef>
                <a:spcPts val="0"/>
              </a:spcBef>
              <a:spcAft>
                <a:spcPts val="0"/>
              </a:spcAft>
              <a:buNone/>
            </a:pPr>
            <a:r>
              <a:rPr lang="en-US"/>
              <a:t>• The recorded distributions compare real leopard, model leopard and aggressive encounters; accompanying spectrograms preserve a 0.2 s timescale. Acoustic overlap is the measured finding. A shared internal state linking those contexts is a possible explanation, not something directly recorded in the callers.</a:t>
            </a:r>
            <a:endParaRPr/>
          </a:p>
          <a:p>
            <a:pPr indent="0" lvl="0" marL="0" rtl="0" algn="l">
              <a:spcBef>
                <a:spcPts val="0"/>
              </a:spcBef>
              <a:spcAft>
                <a:spcPts val="0"/>
              </a:spcAft>
              <a:buNone/>
            </a:pPr>
            <a:r>
              <a:rPr lang="en-US"/>
              <a:t>• Information about an external event and information about internal state need not be mutually exclusive. The study does not identify a neurotransmitter, receptor or ion channel mediating either contribution. A molecular mechanism cannot be inferred from call similarity or from the recipient’s response alone.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2C. South African male barks to real leopards, models and aggression.</a:t>
            </a:r>
            <a:endParaRPr/>
          </a:p>
          <a:p>
            <a:pPr indent="0" lvl="0" marL="0" rtl="0" algn="l">
              <a:spcBef>
                <a:spcPts val="0"/>
              </a:spcBef>
              <a:spcAft>
                <a:spcPts val="0"/>
              </a:spcAft>
              <a:buNone/>
            </a:pPr>
            <a:r>
              <a:rPr lang="en-US"/>
              <a:t>Figure source: https://doi.org/10.1038/srep13220</a:t>
            </a:r>
            <a:endParaRPr/>
          </a:p>
        </p:txBody>
      </p:sp>
      <p:sp>
        <p:nvSpPr>
          <p:cNvPr id="372" name="Google Shape;372;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3" name="Google Shape;383;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**Conspecific vocalizations** are calls produced by members of the listener’s own species. Ortiz-Rios and colleagues compared rhesus macaque calls with environmental sounds and scrambled calls during functional magnetic resonance imaging. These macaque experiments provide comparative neural evidence rather than direct recordings from vervets.</a:t>
            </a:r>
            <a:endParaRPr/>
          </a:p>
          <a:p>
            <a:pPr indent="0" lvl="0" marL="0" rtl="0" algn="l">
              <a:spcBef>
                <a:spcPts val="0"/>
              </a:spcBef>
              <a:spcAft>
                <a:spcPts val="0"/>
              </a:spcAft>
              <a:buNone/>
            </a:pPr>
            <a:r>
              <a:rPr lang="en-US"/>
              <a:t>• The stimuli were arranged into 8 s sequences and presented at approximately 80 dB sound pressure level. Scrambling rearranged 200 ms sound segments across time and frequency while preserving substantial local acoustic structure. Environmental sounds supplied another class of complex natural sounds.</a:t>
            </a:r>
            <a:endParaRPr/>
          </a:p>
          <a:p>
            <a:pPr indent="0" lvl="0" marL="0" rtl="0" algn="l">
              <a:spcBef>
                <a:spcPts val="0"/>
              </a:spcBef>
              <a:spcAft>
                <a:spcPts val="0"/>
              </a:spcAft>
              <a:buNone/>
            </a:pPr>
            <a:r>
              <a:rPr lang="en-US"/>
              <a:t>• Comparing these conditions addresses whether activation reflects hearing complex sound or sensitivity to intact vocal patterns. None of the conditions tested vervet predator meanings. The measured responses concern macaque auditory processing, so a homology claim must remain separate from an identified vervet alarm-decoding circuit.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Ortiz-Rios et al. (2015), Fig. 1C. Environmental sounds, monkey calls and scrambled-call spectrograms.</a:t>
            </a:r>
            <a:endParaRPr/>
          </a:p>
          <a:p>
            <a:pPr indent="0" lvl="0" marL="0" rtl="0" algn="l">
              <a:spcBef>
                <a:spcPts val="0"/>
              </a:spcBef>
              <a:spcAft>
                <a:spcPts val="0"/>
              </a:spcAft>
              <a:buNone/>
            </a:pPr>
            <a:r>
              <a:rPr lang="en-US"/>
              <a:t>Figure source: https://doi.org/10.3389/fnins.2015.00113</a:t>
            </a:r>
            <a:endParaRPr/>
          </a:p>
        </p:txBody>
      </p:sp>
      <p:sp>
        <p:nvSpPr>
          <p:cNvPr id="384" name="Google Shape;384;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5" name="Google Shape;39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**Functional MRI** measures changes associated with blood oxygenation rather than individual neuronal spikes. Scanner operation itself generates sound. Ortiz-Rios and colleagues used **sparse sampling**, leaving intervals for acoustic stimulation before acquiring an image volume, to reduce interference from scanner noise.</a:t>
            </a:r>
            <a:endParaRPr/>
          </a:p>
          <a:p>
            <a:pPr indent="0" lvl="0" marL="0" rtl="0" algn="l">
              <a:spcBef>
                <a:spcPts val="0"/>
              </a:spcBef>
              <a:spcAft>
                <a:spcPts val="0"/>
              </a:spcAft>
              <a:buNone/>
            </a:pPr>
            <a:r>
              <a:rPr lang="en-US"/>
              <a:t>• Acquisition began 6 s after stimulus onset; each image volume took 2.18 s. Sound conditions alternated with silence trials. One macaque performed an auditory task with eye movements, while another listened during maintained fixation, allowing attention-related differences to remain visible as a limitation.</a:t>
            </a:r>
            <a:endParaRPr/>
          </a:p>
          <a:p>
            <a:pPr indent="0" lvl="0" marL="0" rtl="0" algn="l">
              <a:spcBef>
                <a:spcPts val="0"/>
              </a:spcBef>
              <a:spcAft>
                <a:spcPts val="0"/>
              </a:spcAft>
              <a:buNone/>
            </a:pPr>
            <a:r>
              <a:rPr lang="en-US"/>
              <a:t>• The delayed imaging response can localize sound-sensitive regions but cannot resolve the millisecond timing of a particular alarm decision. A blood-oxygenation contrast also does not identify synaptic sign, transmitter release or receptor activation. Those mechanisms require measurements beyond this imaging preparation.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Ortiz-Rios et al. (2015), Fig. 1A–B. Auditory task and sparse MRI acquisition timing.</a:t>
            </a:r>
            <a:endParaRPr/>
          </a:p>
          <a:p>
            <a:pPr indent="0" lvl="0" marL="0" rtl="0" algn="l">
              <a:spcBef>
                <a:spcPts val="0"/>
              </a:spcBef>
              <a:spcAft>
                <a:spcPts val="0"/>
              </a:spcAft>
              <a:buNone/>
            </a:pPr>
            <a:r>
              <a:rPr lang="en-US"/>
              <a:t>Figure source: https://doi.org/10.3389/fnins.2015.00113</a:t>
            </a:r>
            <a:endParaRPr/>
          </a:p>
        </p:txBody>
      </p:sp>
      <p:sp>
        <p:nvSpPr>
          <p:cNvPr id="396" name="Google Shape;396;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7" name="Google Shape;407;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**ascending auditory pathway** carries sound-related signals through brainstem, thalamic and cortical regions. In awake macaques, Ortiz-Rios and colleagues compared complex sounds with silence and localized activation using anatomical MRI sections. The maps include inferior colliculus, medial geniculate and auditory cortex.</a:t>
            </a:r>
            <a:endParaRPr/>
          </a:p>
          <a:p>
            <a:pPr indent="0" lvl="0" marL="0" rtl="0" algn="l">
              <a:spcBef>
                <a:spcPts val="0"/>
              </a:spcBef>
              <a:spcAft>
                <a:spcPts val="0"/>
              </a:spcAft>
              <a:buNone/>
            </a:pPr>
            <a:r>
              <a:rPr lang="en-US"/>
              <a:t>• The **inferior colliculus** is a midbrain auditory region, and the **medial geniculate nucleus** is the auditory thalamic relay. Functional images used voxels measuring 1.5 × 1.5 × 1.9 mm. Activation at that scale combines signals from many cells and their associated vasculature.</a:t>
            </a:r>
            <a:endParaRPr/>
          </a:p>
          <a:p>
            <a:pPr indent="0" lvl="0" marL="0" rtl="0" algn="l">
              <a:spcBef>
                <a:spcPts val="0"/>
              </a:spcBef>
              <a:spcAft>
                <a:spcPts val="0"/>
              </a:spcAft>
              <a:buNone/>
            </a:pPr>
            <a:r>
              <a:rPr lang="en-US"/>
              <a:t>• These regions responded to several complex-sound categories, not exclusively to meaningful calls. Their participation provides anatomical context for signal reception. The imaging study did not trace a serial synaptic chain from a vervet alarm to an escape response or measure activity in identified defensive motor neurons.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Ortiz-Rios et al. (2015), Fig. 2B. Anatomical MRI sections through activated auditory regions.</a:t>
            </a:r>
            <a:endParaRPr/>
          </a:p>
          <a:p>
            <a:pPr indent="0" lvl="0" marL="0" rtl="0" algn="l">
              <a:spcBef>
                <a:spcPts val="0"/>
              </a:spcBef>
              <a:spcAft>
                <a:spcPts val="0"/>
              </a:spcAft>
              <a:buNone/>
            </a:pPr>
            <a:r>
              <a:rPr lang="en-US"/>
              <a:t>Figure source: https://doi.org/10.3389/fnins.2015.00113</a:t>
            </a:r>
            <a:endParaRPr/>
          </a:p>
        </p:txBody>
      </p:sp>
      <p:sp>
        <p:nvSpPr>
          <p:cNvPr id="408" name="Google Shape;408;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9" name="Google Shape;419;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**Primary auditory cortex**, also called A1, is a cortical region receiving substantial ascending auditory input. **Belt** and **parabelt** designate adjoining auditory cortical regions. Ortiz-Rios and colleagues mapped complex-sound activation onto anatomical surfaces and found responses across these auditory territories.</a:t>
            </a:r>
            <a:endParaRPr/>
          </a:p>
          <a:p>
            <a:pPr indent="0" lvl="0" marL="0" rtl="0" algn="l">
              <a:spcBef>
                <a:spcPts val="0"/>
              </a:spcBef>
              <a:spcAft>
                <a:spcPts val="0"/>
              </a:spcAft>
              <a:buNone/>
            </a:pPr>
            <a:r>
              <a:rPr lang="en-US"/>
              <a:t>• The comparison used 8 s sound sequences and silence trials, so widespread activation reflects auditory stimulation before any stronger claim of vocal selectivity. Responses also extended along the superior temporal gyrus, a cortical ridge containing auditory and auditory-associated areas.</a:t>
            </a:r>
            <a:endParaRPr/>
          </a:p>
          <a:p>
            <a:pPr indent="0" lvl="0" marL="0" rtl="0" algn="l">
              <a:spcBef>
                <a:spcPts val="0"/>
              </a:spcBef>
              <a:spcAft>
                <a:spcPts val="0"/>
              </a:spcAft>
              <a:buNone/>
            </a:pPr>
            <a:r>
              <a:rPr lang="en-US"/>
              <a:t>• An anatomical activation map identifies where a measured response occurs. It does not prove that each colored region performs the same computation or that activation propagates in a fixed order. Selectivity for intact calls requires additional comparisons against appropriately matched non-call or scrambled-call controls.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Ortiz-Rios et al. (2015), Fig. 2A. Auditory activation on anatomical cortical surfaces.</a:t>
            </a:r>
            <a:endParaRPr/>
          </a:p>
          <a:p>
            <a:pPr indent="0" lvl="0" marL="0" rtl="0" algn="l">
              <a:spcBef>
                <a:spcPts val="0"/>
              </a:spcBef>
              <a:spcAft>
                <a:spcPts val="0"/>
              </a:spcAft>
              <a:buNone/>
            </a:pPr>
            <a:r>
              <a:rPr lang="en-US"/>
              <a:t>Figure source: https://doi.org/10.3389/fnins.2015.00113</a:t>
            </a:r>
            <a:endParaRPr/>
          </a:p>
        </p:txBody>
      </p:sp>
      <p:sp>
        <p:nvSpPr>
          <p:cNvPr id="420" name="Google Shape;420;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1" name="Google Shape;431;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**Hemispheric lateralization** is an unequal contribution or measured response between the two sides of the brain. Ortiz-Rios and colleagues compared auditory activation in both macaque hemispheres using anatomical sections and regional blood-oxygenation responses rather than inferring dominance from one visible activation patch.</a:t>
            </a:r>
            <a:endParaRPr/>
          </a:p>
          <a:p>
            <a:pPr indent="0" lvl="0" marL="0" rtl="0" algn="l">
              <a:spcBef>
                <a:spcPts val="0"/>
              </a:spcBef>
              <a:spcAft>
                <a:spcPts val="0"/>
              </a:spcAft>
              <a:buNone/>
            </a:pPr>
            <a:r>
              <a:rPr lang="en-US"/>
              <a:t>• Both animals had a larger response to complex sounds in the right hemisphere in this preparation. The sounds were calibrated to approximately 80 dB sound pressure level, and silence trials provided the baseline. The observation applied to the tested sound set and imaging conditions.</a:t>
            </a:r>
            <a:endParaRPr/>
          </a:p>
          <a:p>
            <a:pPr indent="0" lvl="0" marL="0" rtl="0" algn="l">
              <a:spcBef>
                <a:spcPts val="0"/>
              </a:spcBef>
              <a:spcAft>
                <a:spcPts val="0"/>
              </a:spcAft>
              <a:buNone/>
            </a:pPr>
            <a:r>
              <a:rPr lang="en-US"/>
              <a:t>• This difference is not evidence that the right hemisphere alone understands alarms or that a vervet’s semantic decisions have the same lateralization. Attention differed between animals, and contrasts can emphasize different components of processing. Regional response magnitude and behavioral necessity are separate empirical questions.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Ortiz-Rios et al. (2015), Fig. 2B. Anatomical MRI sections through activated auditory regions.</a:t>
            </a:r>
            <a:endParaRPr/>
          </a:p>
          <a:p>
            <a:pPr indent="0" lvl="0" marL="0" rtl="0" algn="l">
              <a:spcBef>
                <a:spcPts val="0"/>
              </a:spcBef>
              <a:spcAft>
                <a:spcPts val="0"/>
              </a:spcAft>
              <a:buNone/>
            </a:pPr>
            <a:r>
              <a:rPr lang="en-US"/>
              <a:t>Figure source: https://doi.org/10.3389/fnins.2015.00113</a:t>
            </a:r>
            <a:endParaRPr/>
          </a:p>
        </p:txBody>
      </p:sp>
      <p:sp>
        <p:nvSpPr>
          <p:cNvPr id="432" name="Google Shape;432;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3" name="Google Shape;443;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**superior temporal gyrus** contains auditory-associated cortex; its anterior portion lies toward the front of the temporal lobe. Ortiz-Rios and colleagues compared intact macaque calls with scrambled versions to ask where local acoustic similarity was insufficient to account for the imaging response.</a:t>
            </a:r>
            <a:endParaRPr/>
          </a:p>
          <a:p>
            <a:pPr indent="0" lvl="0" marL="0" rtl="0" algn="l">
              <a:spcBef>
                <a:spcPts val="0"/>
              </a:spcBef>
              <a:spcAft>
                <a:spcPts val="0"/>
              </a:spcAft>
              <a:buNone/>
            </a:pPr>
            <a:r>
              <a:rPr lang="en-US"/>
              <a:t>• Scrambling used 200 ms by one-octave acoustic tiles. An **octave** is a doubling or halving of frequency, here describing the spectral extent of each tile. Intact calls produced stronger responses in anterior temporal regions, including rostrotemporal areas, than these scrambled controls.</a:t>
            </a:r>
            <a:endParaRPr/>
          </a:p>
          <a:p>
            <a:pPr indent="0" lvl="0" marL="0" rtl="0" algn="l">
              <a:spcBef>
                <a:spcPts val="0"/>
              </a:spcBef>
              <a:spcAft>
                <a:spcPts val="0"/>
              </a:spcAft>
              <a:buNone/>
            </a:pPr>
            <a:r>
              <a:rPr lang="en-US"/>
              <a:t>• The result supports sensitivity to the organized vocal pattern beyond some preserved local sound features. It does not identify a neuron representing a predator or prove understanding of a call’s referent. These were macaque vocalizations and regional imaging signals, not semantic tests of vervet alarm categories.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Ortiz-Rios et al. (2015), Fig. 3B. Call-versus-scrambled-call activation on anatomical cortical surfaces.</a:t>
            </a:r>
            <a:endParaRPr/>
          </a:p>
          <a:p>
            <a:pPr indent="0" lvl="0" marL="0" rtl="0" algn="l">
              <a:spcBef>
                <a:spcPts val="0"/>
              </a:spcBef>
              <a:spcAft>
                <a:spcPts val="0"/>
              </a:spcAft>
              <a:buNone/>
            </a:pPr>
            <a:r>
              <a:rPr lang="en-US"/>
              <a:t>Figure source: https://doi.org/10.3389/fnins.2015.00113</a:t>
            </a:r>
            <a:endParaRPr/>
          </a:p>
        </p:txBody>
      </p:sp>
      <p:sp>
        <p:nvSpPr>
          <p:cNvPr id="444" name="Google Shape;444;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5" name="Google Shape;455;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**Ventrolateral prefrontal cortex** is a frontal cortical territory, and **ventral premotor cortex** participates in sensorimotor processing. Macaque imaging contrasts between calls and environmental sounds produced activation in portions of frontal and parietal cortex as well as temporal auditory regions.</a:t>
            </a:r>
            <a:endParaRPr/>
          </a:p>
          <a:p>
            <a:pPr indent="0" lvl="0" marL="0" rtl="0" algn="l">
              <a:spcBef>
                <a:spcPts val="0"/>
              </a:spcBef>
              <a:spcAft>
                <a:spcPts val="0"/>
              </a:spcAft>
              <a:buNone/>
            </a:pPr>
            <a:r>
              <a:rPr lang="en-US"/>
              <a:t>• The environmental sounds were complex natural recordings, but their spectrotemporal patterns differed from calls. **Spectrotemporal structure** combines how acoustic energy varies across frequency and time. The authors’ 200 ms scrambling control preserved more of the calls’ local sound properties than environmental sounds did.</a:t>
            </a:r>
            <a:endParaRPr/>
          </a:p>
          <a:p>
            <a:pPr indent="0" lvl="0" marL="0" rtl="0" algn="l">
              <a:spcBef>
                <a:spcPts val="0"/>
              </a:spcBef>
              <a:spcAft>
                <a:spcPts val="0"/>
              </a:spcAft>
              <a:buNone/>
            </a:pPr>
            <a:r>
              <a:rPr lang="en-US"/>
              <a:t>• Scrambled calls also activated some frontal and parietal regions, limiting a vocal-meaning interpretation of those contrasts. A response to a call can arise from acoustics, task demands or associated processing. Regional activation therefore does not establish a frontal semantic code or a causal contribution to vervet alarm comprehension.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Ortiz-Rios et al. (2015), Fig. 3A. Call-versus-environment activation on anatomical cortical surfaces.</a:t>
            </a:r>
            <a:endParaRPr/>
          </a:p>
          <a:p>
            <a:pPr indent="0" lvl="0" marL="0" rtl="0" algn="l">
              <a:spcBef>
                <a:spcPts val="0"/>
              </a:spcBef>
              <a:spcAft>
                <a:spcPts val="0"/>
              </a:spcAft>
              <a:buNone/>
            </a:pPr>
            <a:r>
              <a:rPr lang="en-US"/>
              <a:t>Figure source: https://doi.org/10.3389/fnins.2015.00113</a:t>
            </a:r>
            <a:endParaRPr/>
          </a:p>
        </p:txBody>
      </p:sp>
      <p:sp>
        <p:nvSpPr>
          <p:cNvPr id="456" name="Google Shape;456;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7" name="Google Shape;467;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**conjunction analysis** identifies regions meeting more than one comparison, rather than accepting a result found with only one control. Ortiz-Rios and colleagues combined call-versus-environmental-sound and call-versus-scrambled-call comparisons, then examined convergence across the macaques.</a:t>
            </a:r>
            <a:endParaRPr/>
          </a:p>
          <a:p>
            <a:pPr indent="0" lvl="0" marL="0" rtl="0" algn="l">
              <a:spcBef>
                <a:spcPts val="0"/>
              </a:spcBef>
              <a:spcAft>
                <a:spcPts val="0"/>
              </a:spcAft>
              <a:buNone/>
            </a:pPr>
            <a:r>
              <a:rPr lang="en-US"/>
              <a:t>• The strongest common result involved anterior temporal regions, including lateral rostrotemporal cortex and the rostrotemporal pole. Stimuli were presented as 8 s sequences, with image acquisition beginning after 6 s. The anatomical map localizes the blood-oxygenation response retained across these comparisons.</a:t>
            </a:r>
            <a:endParaRPr/>
          </a:p>
          <a:p>
            <a:pPr indent="0" lvl="0" marL="0" rtl="0" algn="l">
              <a:spcBef>
                <a:spcPts val="0"/>
              </a:spcBef>
              <a:spcAft>
                <a:spcPts val="0"/>
              </a:spcAft>
              <a:buNone/>
            </a:pPr>
            <a:r>
              <a:rPr lang="en-US"/>
              <a:t>• This convergence supports a narrower vocal-processing interpretation than the broader environmental-sound contrast alone. It still does not identify a molecular pathway, spike-timing code or predator representation. Comparative auditory specialization can constrain plausible explanations for communication without establishing the neural implementation of functional reference in wild vervets.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Ortiz-Rios et al. (2015), Fig. 4B. Call-selective anatomical regions shared across animals.</a:t>
            </a:r>
            <a:endParaRPr/>
          </a:p>
          <a:p>
            <a:pPr indent="0" lvl="0" marL="0" rtl="0" algn="l">
              <a:spcBef>
                <a:spcPts val="0"/>
              </a:spcBef>
              <a:spcAft>
                <a:spcPts val="0"/>
              </a:spcAft>
              <a:buNone/>
            </a:pPr>
            <a:r>
              <a:rPr lang="en-US"/>
              <a:t>Figure source: https://doi.org/10.3389/fnins.2015.00113</a:t>
            </a:r>
            <a:endParaRPr/>
          </a:p>
        </p:txBody>
      </p:sp>
      <p:sp>
        <p:nvSpPr>
          <p:cNvPr id="468" name="Google Shape;468;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9" name="Google Shape;479;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West African **green monkeys**, _Chlorocebus sabaeus_, are close relatives of vervets but a distinct species in this study. Price and Fischer presented leopard and snake models in Senegal and filmed the first 10 s of each subject’s response to the detected model.</a:t>
            </a:r>
            <a:endParaRPr/>
          </a:p>
          <a:p>
            <a:pPr indent="0" lvl="0" marL="0" rtl="0" algn="l">
              <a:spcBef>
                <a:spcPts val="0"/>
              </a:spcBef>
              <a:spcAft>
                <a:spcPts val="0"/>
              </a:spcAft>
              <a:buNone/>
            </a:pPr>
            <a:r>
              <a:rPr lang="en-US"/>
              <a:t>• Leopard models elicited higher tree climbing than snake models. Standing bipedally occurred in both threat settings rather than being a uniquely snake-directed response. The researchers recorded movement and maximum height, separating refuge selection from posture and generalized inspection.</a:t>
            </a:r>
            <a:endParaRPr/>
          </a:p>
          <a:p>
            <a:pPr indent="0" lvl="0" marL="0" rtl="0" algn="l">
              <a:spcBef>
                <a:spcPts val="0"/>
              </a:spcBef>
              <a:spcAft>
                <a:spcPts val="0"/>
              </a:spcAft>
              <a:buNone/>
            </a:pPr>
            <a:r>
              <a:rPr lang="en-US"/>
              <a:t>• Similar ancestry does not guarantee identical predator-response mappings. The model experiment established behaviors appropriate for interpreting this population’s subsequent playback responses. It does not justify assigning every posture the meaning reported in Amboseli vervets, nor does a model encounter fully reproduce the risk of an attacking predator.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Julia Fischer (2014). Meaning attribution in the West African green monkey: influence of call type and context. Animal Cognition 17(2):277-286. https://doi.org/10.1007/s10071-013-0660-9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&amp; Fischer (2014), Fig. 1A–B. Responses to snake and leopard models, including tree height.</a:t>
            </a:r>
            <a:endParaRPr/>
          </a:p>
          <a:p>
            <a:pPr indent="0" lvl="0" marL="0" rtl="0" algn="l">
              <a:spcBef>
                <a:spcPts val="0"/>
              </a:spcBef>
              <a:spcAft>
                <a:spcPts val="0"/>
              </a:spcAft>
              <a:buNone/>
            </a:pPr>
            <a:r>
              <a:rPr lang="en-US"/>
              <a:t>Figure source: https://doi.org/10.1007/s10071-013-0660-9</a:t>
            </a:r>
            <a:endParaRPr/>
          </a:p>
        </p:txBody>
      </p:sp>
      <p:sp>
        <p:nvSpPr>
          <p:cNvPr id="480" name="Google Shape;480;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**chirp** is the call form examined in the green-monkey predator experiments. Females and juveniles produced chirps to both leopard and snake models. Price and Fischer constructed paired playback sequences using recordings from the two eliciting conditions rather than treating them as completely different call families.</a:t>
            </a:r>
            <a:endParaRPr/>
          </a:p>
          <a:p>
            <a:pPr indent="0" lvl="0" marL="0" rtl="0" algn="l">
              <a:spcBef>
                <a:spcPts val="0"/>
              </a:spcBef>
              <a:spcAft>
                <a:spcPts val="0"/>
              </a:spcAft>
              <a:buNone/>
            </a:pPr>
            <a:r>
              <a:rPr lang="en-US"/>
              <a:t>• The spectrograms preserve time in seconds and frequency in kHz. Paired sequences were matched for chirp number, inter-call interval and overall sequence duration, with their intervals constrained to naturally occurring values. Recordings were also normalized before experimental broadcasting.</a:t>
            </a:r>
            <a:endParaRPr/>
          </a:p>
          <a:p>
            <a:pPr indent="0" lvl="0" marL="0" rtl="0" algn="l">
              <a:spcBef>
                <a:spcPts val="0"/>
              </a:spcBef>
              <a:spcAft>
                <a:spcPts val="0"/>
              </a:spcAft>
              <a:buNone/>
            </a:pPr>
            <a:r>
              <a:rPr lang="en-US"/>
              <a:t>• These controls reduce explanations based solely on bout length or repeated-call number. Graded differences within chirps remained available to listeners. The preparation does not establish that a single acoustic dimension carries the predator distinction; frequency distribution and element duration varied together in the natural recordings.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Julia Fischer (2014). Meaning attribution in the West African green monkey: influence of call type and context. Animal Cognition 17(2):277-286. https://doi.org/10.1007/s10071-013-0660-9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&amp; Fischer (2014), Fig. 2. Paired snake and leopard chirp spectrograms.</a:t>
            </a:r>
            <a:endParaRPr/>
          </a:p>
          <a:p>
            <a:pPr indent="0" lvl="0" marL="0" rtl="0" algn="l">
              <a:spcBef>
                <a:spcPts val="0"/>
              </a:spcBef>
              <a:spcAft>
                <a:spcPts val="0"/>
              </a:spcAft>
              <a:buNone/>
            </a:pPr>
            <a:r>
              <a:rPr lang="en-US"/>
              <a:t>Figure source: https://doi.org/10.1007/s10071-013-0660-9</a:t>
            </a:r>
            <a:endParaRPr/>
          </a:p>
        </p:txBody>
      </p:sp>
      <p:sp>
        <p:nvSpPr>
          <p:cNvPr id="492" name="Google Shape;492;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3" name="Google Shape;503;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**Graded acoustic categories** can contain considerable overlap even when their average structures differ. Price and Fischer analyzed green-monkey chirps elicited by leopard and snake models. Duration and an early peak-frequency measure contributed strongly to separating the recordings.</a:t>
            </a:r>
            <a:endParaRPr/>
          </a:p>
          <a:p>
            <a:pPr indent="0" lvl="0" marL="0" rtl="0" algn="l">
              <a:spcBef>
                <a:spcPts val="0"/>
              </a:spcBef>
              <a:spcAft>
                <a:spcPts val="0"/>
              </a:spcAft>
              <a:buNone/>
            </a:pPr>
            <a:r>
              <a:rPr lang="en-US"/>
              <a:t>• Leopard-associated chirps were longer and had a higher early peak frequency than snake-associated chirps. The source analysis measured duration in milliseconds and frequency in Hz. Its score distributions overlapped rather than producing two completely separated groups of calls.</a:t>
            </a:r>
            <a:endParaRPr/>
          </a:p>
          <a:p>
            <a:pPr indent="0" lvl="0" marL="0" rtl="0" algn="l">
              <a:spcBef>
                <a:spcPts val="0"/>
              </a:spcBef>
              <a:spcAft>
                <a:spcPts val="0"/>
              </a:spcAft>
              <a:buNone/>
            </a:pPr>
            <a:r>
              <a:rPr lang="en-US"/>
              <a:t>• The findings support physically detectable variation within one broad call form, not perfect production specificity. Overlap leaves some individual sounds ambiguous. Whether a recipient treats an intermediate chirp as a leopard threat, a snake threat or a reason to inspect depends on reception and decision processes not measured by this acoustic analysis alone.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Julia Fischer (2014). Meaning attribution in the West African green monkey: influence of call type and context. Animal Cognition 17(2):277-286. https://doi.org/10.1007/s10071-013-0660-9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&amp; Fischer (2014), Fig. 3. Overlapping distributions of snake and leopard chirps.</a:t>
            </a:r>
            <a:endParaRPr/>
          </a:p>
          <a:p>
            <a:pPr indent="0" lvl="0" marL="0" rtl="0" algn="l">
              <a:spcBef>
                <a:spcPts val="0"/>
              </a:spcBef>
              <a:spcAft>
                <a:spcPts val="0"/>
              </a:spcAft>
              <a:buNone/>
            </a:pPr>
            <a:r>
              <a:rPr lang="en-US"/>
              <a:t>Figure source: https://doi.org/10.1007/s10071-013-0660-9</a:t>
            </a:r>
            <a:endParaRPr/>
          </a:p>
        </p:txBody>
      </p:sp>
      <p:sp>
        <p:nvSpPr>
          <p:cNvPr id="504" name="Google Shape;504;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5" name="Google Shape;515;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**experimental control** excludes a competing explanation for an observed response. Price and Fischer broadcast nonpredatory bird calls alongside green-monkey chirp stimuli. Birds’ calls were a control for the playback procedure itself rather than another predator-associated monkey signal.</a:t>
            </a:r>
            <a:endParaRPr/>
          </a:p>
          <a:p>
            <a:pPr indent="0" lvl="0" marL="0" rtl="0" algn="l">
              <a:spcBef>
                <a:spcPts val="0"/>
              </a:spcBef>
              <a:spcAft>
                <a:spcPts val="0"/>
              </a:spcAft>
              <a:buNone/>
            </a:pPr>
            <a:r>
              <a:rPr lang="en-US"/>
              <a:t>• Monkeys responded more often to chirps than to the bird sounds. Playback intensity remained within natural calling levels, 60–85 dB measured at 10 m from the source. A different recording sequence was used for each experiment to avoid repeatedly testing one acoustic exemplar.</a:t>
            </a:r>
            <a:endParaRPr/>
          </a:p>
          <a:p>
            <a:pPr indent="0" lvl="0" marL="0" rtl="0" algn="l">
              <a:spcBef>
                <a:spcPts val="0"/>
              </a:spcBef>
              <a:spcAft>
                <a:spcPts val="0"/>
              </a:spcAft>
              <a:buNone/>
            </a:pPr>
            <a:r>
              <a:rPr lang="en-US"/>
              <a:t>• The contrast supports a response to biologically relevant acoustic information rather than to any sound from the speaker. It does not identify whether the recipient represents a predator, experiences conditioned danger or combines both. Those alternatives concern the interpretation of the signal beyond the procedural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Julia Fischer (2014). Meaning attribution in the West African green monkey: influence of call type and context. Animal Cognition 17(2):277-286. https://doi.org/10.1007/s10071-013-0660-9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&amp; Fischer (2014), Fig. 4A–C. Playback response, tree climbing and persistence after priming.</a:t>
            </a:r>
            <a:endParaRPr/>
          </a:p>
          <a:p>
            <a:pPr indent="0" lvl="0" marL="0" rtl="0" algn="l">
              <a:spcBef>
                <a:spcPts val="0"/>
              </a:spcBef>
              <a:spcAft>
                <a:spcPts val="0"/>
              </a:spcAft>
              <a:buNone/>
            </a:pPr>
            <a:r>
              <a:rPr lang="en-US"/>
              <a:t>Figure source: https://doi.org/10.1007/s10071-013-0660-9</a:t>
            </a:r>
            <a:endParaRPr/>
          </a:p>
        </p:txBody>
      </p:sp>
      <p:sp>
        <p:nvSpPr>
          <p:cNvPr id="516" name="Google Shape;516;p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 name="Google Shape;527;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**Priming** supplies relevant information before a later test. Price and Fischer exposed green monkeys to a leopard model, a snake model or no predator model before broadcasting chirps. The calls were played approximately 1 h after the model presentation, once alarm calling had stopped.</a:t>
            </a:r>
            <a:endParaRPr/>
          </a:p>
          <a:p>
            <a:pPr indent="0" lvl="0" marL="0" rtl="0" algn="l">
              <a:spcBef>
                <a:spcPts val="0"/>
              </a:spcBef>
              <a:spcAft>
                <a:spcPts val="0"/>
              </a:spcAft>
              <a:buNone/>
            </a:pPr>
            <a:r>
              <a:rPr lang="en-US"/>
              <a:t>• The experiment independently varied the preceding model and the recorded chirp’s original context. Leopard-associated chirps more often elicited climbing above 2 m than snake-associated chirps. Prior model exposure did not clearly change which immediate response category recipients selected.</a:t>
            </a:r>
            <a:endParaRPr/>
          </a:p>
          <a:p>
            <a:pPr indent="0" lvl="0" marL="0" rtl="0" algn="l">
              <a:spcBef>
                <a:spcPts val="0"/>
              </a:spcBef>
              <a:spcAft>
                <a:spcPts val="0"/>
              </a:spcAft>
              <a:buNone/>
            </a:pPr>
            <a:r>
              <a:rPr lang="en-US"/>
              <a:t>• Acoustic cues therefore strongly influenced the early action in this preparation. The absence of a clear immediate priming effect does not establish that prior knowledge was erased. Information presented an hour earlier can influence later persistence differently from the first movement after a call.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Julia Fischer (2014). Meaning attribution in the West African green monkey: influence of call type and context. Animal Cognition 17(2):277-286. https://doi.org/10.1007/s10071-013-0660-9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&amp; Fischer (2014), Fig. 4A–C. Playback response, tree climbing and persistence after priming.</a:t>
            </a:r>
            <a:endParaRPr/>
          </a:p>
          <a:p>
            <a:pPr indent="0" lvl="0" marL="0" rtl="0" algn="l">
              <a:spcBef>
                <a:spcPts val="0"/>
              </a:spcBef>
              <a:spcAft>
                <a:spcPts val="0"/>
              </a:spcAft>
              <a:buNone/>
            </a:pPr>
            <a:r>
              <a:rPr lang="en-US"/>
              <a:t>Figure source: https://doi.org/10.1007/s10071-013-0660-9</a:t>
            </a:r>
            <a:endParaRPr/>
          </a:p>
        </p:txBody>
      </p:sp>
      <p:sp>
        <p:nvSpPr>
          <p:cNvPr id="528" name="Google Shape;528;p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 name="Google Shape;539;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**Response persistence** is the time an action or defensive state continues after its initiation. Price and Fischer distinguished immediate tree climbing from remaining in a tree after playback. These measures address different consequences of hearing the same broad alarm form.</a:t>
            </a:r>
            <a:endParaRPr/>
          </a:p>
          <a:p>
            <a:pPr indent="0" lvl="0" marL="0" rtl="0" algn="l">
              <a:spcBef>
                <a:spcPts val="0"/>
              </a:spcBef>
              <a:spcAft>
                <a:spcPts val="0"/>
              </a:spcAft>
              <a:buNone/>
            </a:pPr>
            <a:r>
              <a:rPr lang="en-US"/>
              <a:t>• Subjects stayed longer in trees when leopard-model exposure and leopard-associated chirps both supported terrestrial danger. The published persistence measure records whether a subject stayed more than 200 s. The immediate response measure instead records climbing above 2 m following the broadcast.</a:t>
            </a:r>
            <a:endParaRPr/>
          </a:p>
          <a:p>
            <a:pPr indent="0" lvl="0" marL="0" rtl="0" algn="l">
              <a:spcBef>
                <a:spcPts val="0"/>
              </a:spcBef>
              <a:spcAft>
                <a:spcPts val="0"/>
              </a:spcAft>
              <a:buNone/>
            </a:pPr>
            <a:r>
              <a:rPr lang="en-US"/>
              <a:t>• The evidence is consistent with prior information contributing to sustained risk assessment even where early action mainly follows acoustics. It does not distinguish an updated internal representation from a change in subsequent decision-making. Immediate response and persistence should not be treated as interchangeable measures of meaning attribution.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Julia Fischer (2014). Meaning attribution in the West African green monkey: influence of call type and context. Animal Cognition 17(2):277-286. https://doi.org/10.1007/s10071-013-0660-9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&amp; Fischer (2014), Fig. 4A–C. Playback response, tree climbing and persistence after priming.</a:t>
            </a:r>
            <a:endParaRPr/>
          </a:p>
          <a:p>
            <a:pPr indent="0" lvl="0" marL="0" rtl="0" algn="l">
              <a:spcBef>
                <a:spcPts val="0"/>
              </a:spcBef>
              <a:spcAft>
                <a:spcPts val="0"/>
              </a:spcAft>
              <a:buNone/>
            </a:pPr>
            <a:r>
              <a:rPr lang="en-US"/>
              <a:t>Figure source: https://doi.org/10.1007/s10071-013-0660-9</a:t>
            </a:r>
            <a:endParaRPr/>
          </a:p>
        </p:txBody>
      </p:sp>
      <p:sp>
        <p:nvSpPr>
          <p:cNvPr id="540" name="Google Shape;540;p3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South African male vervets produce similar **alarm barks** during terrestrial-predator encounters and between-group conflict. Deshpande and colleagues tested whether recipients used current social circumstances to interpret the sound. The stimuli included one predator-associated and one intergroup-associated bark from the same adult male.</a:t>
            </a:r>
            <a:endParaRPr/>
          </a:p>
          <a:p>
            <a:pPr indent="0" lvl="0" marL="0" rtl="0" algn="l">
              <a:spcBef>
                <a:spcPts val="0"/>
              </a:spcBef>
              <a:spcAft>
                <a:spcPts val="0"/>
              </a:spcAft>
              <a:buNone/>
            </a:pPr>
            <a:r>
              <a:rPr lang="en-US"/>
              <a:t>• Each female recipient heard the same assigned recording in both contexts, with naturalistic amplitude at a speaker distance of 30–50 m. This within-recipient comparison held the stimulus constant while changing the surrounding intergroup situation. The published spectrograms preserve seconds and frequency in Hz.</a:t>
            </a:r>
            <a:endParaRPr/>
          </a:p>
          <a:p>
            <a:pPr indent="0" lvl="0" marL="0" rtl="0" algn="l">
              <a:spcBef>
                <a:spcPts val="0"/>
              </a:spcBef>
              <a:spcAft>
                <a:spcPts val="0"/>
              </a:spcAft>
              <a:buNone/>
            </a:pPr>
            <a:r>
              <a:rPr lang="en-US"/>
              <a:t>• Holding the recording constant separates contextual effects from differences between the sounds used on different occasions. It does not prove that every bark variant is acoustically identical, nor that every receiver uses the same inference. The experiment tests this call and these receivers under specified field conditions.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Adwait Deshpande, Erica van de Waal, Klaus Zuberbühler (2023). Context-dependent alarm responses in wild vervet monkeys. Animal Cognition 26(4):1199-1208. https://doi.org/10.1007/s10071-023-01767-0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Deshpande et al. (2023), Fig. 1A–B. Male bark exemplars from predator and intergroup encounters.</a:t>
            </a:r>
            <a:endParaRPr/>
          </a:p>
          <a:p>
            <a:pPr indent="0" lvl="0" marL="0" rtl="0" algn="l">
              <a:spcBef>
                <a:spcPts val="0"/>
              </a:spcBef>
              <a:spcAft>
                <a:spcPts val="0"/>
              </a:spcAft>
              <a:buNone/>
            </a:pPr>
            <a:r>
              <a:rPr lang="en-US"/>
              <a:t>Figure source: https://doi.org/10.1007/s10071-023-01767-0</a:t>
            </a:r>
            <a:endParaRPr/>
          </a:p>
        </p:txBody>
      </p:sp>
      <p:sp>
        <p:nvSpPr>
          <p:cNvPr id="552" name="Google Shape;552;p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3" name="Google Shape;563;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**intergroup encounter** occurs when members of neighboring monkey groups interact. Deshpande and colleagues tested recipients away from the conflict frontline while the encounter was ongoing. Subjects remained at least 30 m from the frontline and were foraging, resting or grooming.</a:t>
            </a:r>
            <a:endParaRPr/>
          </a:p>
          <a:p>
            <a:pPr indent="0" lvl="0" marL="0" rtl="0" algn="l">
              <a:spcBef>
                <a:spcPts val="0"/>
              </a:spcBef>
              <a:spcAft>
                <a:spcPts val="0"/>
              </a:spcAft>
              <a:buNone/>
            </a:pPr>
            <a:r>
              <a:rPr lang="en-US"/>
              <a:t>• The same recipients were tested without an intergroup encounter after at least 2 h without such an event or natural alarm calling. Habitat and approximate group spread were kept similar, and playback came from 30–50 m away. The source’s published field layout specifies these spatial relations.</a:t>
            </a:r>
            <a:endParaRPr/>
          </a:p>
          <a:p>
            <a:pPr indent="0" lvl="0" marL="0" rtl="0" algn="l">
              <a:spcBef>
                <a:spcPts val="0"/>
              </a:spcBef>
              <a:spcAft>
                <a:spcPts val="0"/>
              </a:spcAft>
              <a:buNone/>
            </a:pPr>
            <a:r>
              <a:rPr lang="en-US"/>
              <a:t>• This manipulation supplies immediate contextual information, unlike model exposure approximately 1 h before the green-monkey playbacks. Different timing and call types can explain different outcomes without making the studies contradictory. The design does not experimentally assign whether the natural intergroup encounter begins.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Adwait Deshpande, Erica van de Waal, Klaus Zuberbühler (2023). Context-dependent alarm responses in wild vervet monkeys. Animal Cognition 26(4):1199-1208. https://doi.org/10.1007/s10071-023-01767-0</a:t>
            </a:r>
            <a:endParaRPr/>
          </a:p>
          <a:p>
            <a:pPr indent="0" lvl="0" marL="0" rtl="0" algn="l">
              <a:spcBef>
                <a:spcPts val="0"/>
              </a:spcBef>
              <a:spcAft>
                <a:spcPts val="0"/>
              </a:spcAft>
              <a:buNone/>
            </a:pPr>
            <a:r>
              <a:rPr lang="en-US"/>
              <a:t>Tabitha Price, Julia Fischer (2014). Meaning attribution in the West African green monkey: influence of call type and context. Animal Cognition 17(2):277-286. https://doi.org/10.1007/s10071-013-0660-9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Deshpande et al. (2023), Fig. 2. Published spatial arrangement of the intergroup playback experiment.</a:t>
            </a:r>
            <a:endParaRPr/>
          </a:p>
          <a:p>
            <a:pPr indent="0" lvl="0" marL="0" rtl="0" algn="l">
              <a:spcBef>
                <a:spcPts val="0"/>
              </a:spcBef>
              <a:spcAft>
                <a:spcPts val="0"/>
              </a:spcAft>
              <a:buNone/>
            </a:pPr>
            <a:r>
              <a:rPr lang="en-US"/>
              <a:t>Figure source: https://doi.org/10.1007/s10071-023-01767-0</a:t>
            </a:r>
            <a:endParaRPr/>
          </a:p>
        </p:txBody>
      </p:sp>
      <p:sp>
        <p:nvSpPr>
          <p:cNvPr id="564" name="Google Shape;564;p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5" name="Google Shape;575;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**Information seeking** can involve orienting toward a caller to obtain further cues about an alarm’s cause. Deshpande and colleagues measured how long recipients looked toward the speaker after hearing the same male bark with or without an ongoing intergroup encounter.</a:t>
            </a:r>
            <a:endParaRPr/>
          </a:p>
          <a:p>
            <a:pPr indent="0" lvl="0" marL="0" rtl="0" algn="l">
              <a:spcBef>
                <a:spcPts val="0"/>
              </a:spcBef>
              <a:spcAft>
                <a:spcPts val="0"/>
              </a:spcAft>
              <a:buNone/>
            </a:pPr>
            <a:r>
              <a:rPr lang="en-US"/>
              <a:t>• Recipients generally looked toward the speaker longer when no intergroup encounter was occurring. Looking duration was measured in seconds, and the field observations continued for 10 min after playback. During an encounter, the surrounding social activity already supplied a plausible explanation for male barking.</a:t>
            </a:r>
            <a:endParaRPr/>
          </a:p>
          <a:p>
            <a:pPr indent="0" lvl="0" marL="0" rtl="0" algn="l">
              <a:spcBef>
                <a:spcPts val="0"/>
              </a:spcBef>
              <a:spcAft>
                <a:spcPts val="0"/>
              </a:spcAft>
              <a:buNone/>
            </a:pPr>
            <a:r>
              <a:rPr lang="en-US"/>
              <a:t>• The measured effect supports integration of acoustic and contextual information. Interpreting longer looking as uncertainty is a proposed explanation rather than a directly measured mental state. The behavior does not establish that recipients imagined a specific hidden predator, and no predator-specific escape response occurred in this experiment.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Adwait Deshpande, Erica van de Waal, Klaus Zuberbühler (2023). Context-dependent alarm responses in wild vervet monkeys. Animal Cognition 26(4):1199-1208. https://doi.org/10.1007/s10071-023-01767-0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Deshpande et al. (2023), Fig. 3. Speaker-directed looking duration with and without an intergroup encounter.</a:t>
            </a:r>
            <a:endParaRPr/>
          </a:p>
          <a:p>
            <a:pPr indent="0" lvl="0" marL="0" rtl="0" algn="l">
              <a:spcBef>
                <a:spcPts val="0"/>
              </a:spcBef>
              <a:spcAft>
                <a:spcPts val="0"/>
              </a:spcAft>
              <a:buNone/>
            </a:pPr>
            <a:r>
              <a:rPr lang="en-US"/>
              <a:t>Figure source: https://doi.org/10.1007/s10071-023-01767-0</a:t>
            </a:r>
            <a:endParaRPr/>
          </a:p>
        </p:txBody>
      </p:sp>
      <p:sp>
        <p:nvSpPr>
          <p:cNvPr id="576" name="Google Shape;576;p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7" name="Google Shape;587;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**Vigilance** is monitoring the surroundings while maintaining an alert posture. Deshpande and colleagues scored its duration separately from speaker-directed looking, startle and predator-specific escape. Female recipients were more vigilant after barks outside an intergroup encounter than during one.</a:t>
            </a:r>
            <a:endParaRPr/>
          </a:p>
          <a:p>
            <a:pPr indent="0" lvl="0" marL="0" rtl="0" algn="l">
              <a:spcBef>
                <a:spcPts val="0"/>
              </a:spcBef>
              <a:spcAft>
                <a:spcPts val="0"/>
              </a:spcAft>
              <a:buNone/>
            </a:pPr>
            <a:r>
              <a:rPr lang="en-US"/>
              <a:t>• The source plots vigilance in seconds. Some recipients displayed no vigilance during the encounter condition, although all heard the bark. No predator-specific escape response occurred in either condition. Startle was scored as a sudden body movement and was kept separate from the duration measures.</a:t>
            </a:r>
            <a:endParaRPr/>
          </a:p>
          <a:p>
            <a:pPr indent="0" lvl="0" marL="0" rtl="0" algn="l">
              <a:spcBef>
                <a:spcPts val="0"/>
              </a:spcBef>
              <a:spcAft>
                <a:spcPts val="0"/>
              </a:spcAft>
              <a:buNone/>
            </a:pPr>
            <a:r>
              <a:rPr lang="en-US"/>
              <a:t>• The vigilance and looking measures establish altered monitoring of the surroundings and presumed caller. Defensive responses can change in intensity without changing into overt flight. These observations support context-sensitive reception while leaving the underlying neural, affective and representational mechanisms unmeasured.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Adwait Deshpande, Erica van de Waal, Klaus Zuberbühler (2023). Context-dependent alarm responses in wild vervet monkeys. Animal Cognition 26(4):1199-1208. https://doi.org/10.1007/s10071-023-01767-0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Deshpande et al. (2023), Fig. 4. Vigilance duration with and without an intergroup encounter.</a:t>
            </a:r>
            <a:endParaRPr/>
          </a:p>
          <a:p>
            <a:pPr indent="0" lvl="0" marL="0" rtl="0" algn="l">
              <a:spcBef>
                <a:spcPts val="0"/>
              </a:spcBef>
              <a:spcAft>
                <a:spcPts val="0"/>
              </a:spcAft>
              <a:buNone/>
            </a:pPr>
            <a:r>
              <a:rPr lang="en-US"/>
              <a:t>Figure source: https://doi.org/10.1007/s10071-023-01767-0</a:t>
            </a:r>
            <a:endParaRPr/>
          </a:p>
        </p:txBody>
      </p:sp>
      <p:sp>
        <p:nvSpPr>
          <p:cNvPr id="588" name="Google Shape;588;p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9" name="Google Shape;599;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**Social learning** concerns behavioral change supported by information from other individuals. Mohr and colleagues presented unfamiliar raptor models to juvenile vervets aged 1–2 years while monitoring nearby audiences. The juveniles could inspect both the model and the reactions of other monkeys.</a:t>
            </a:r>
            <a:endParaRPr/>
          </a:p>
          <a:p>
            <a:pPr indent="0" lvl="0" marL="0" rtl="0" algn="l">
              <a:spcBef>
                <a:spcPts val="0"/>
              </a:spcBef>
              <a:spcAft>
                <a:spcPts val="0"/>
              </a:spcAft>
              <a:buNone/>
            </a:pPr>
            <a:r>
              <a:rPr lang="en-US"/>
              <a:t>• Juveniles sometimes alarmed, whereas adults did not alarm to these models. Audience members were defined as individuals within 10 m of the subject. The comparison is consistent with more experienced adults judging the unfamiliar models differently from younger animals, as in the classic age-related category refinement.</a:t>
            </a:r>
            <a:endParaRPr/>
          </a:p>
          <a:p>
            <a:pPr indent="0" lvl="0" marL="0" rtl="0" algn="l">
              <a:spcBef>
                <a:spcPts val="0"/>
              </a:spcBef>
              <a:spcAft>
                <a:spcPts val="0"/>
              </a:spcAft>
              <a:buNone/>
            </a:pPr>
            <a:r>
              <a:rPr lang="en-US"/>
              <a:t>• Caller age and alarm production were associated, but the preparation did not independently manipulate lifetime experience. Silence by an adult does not establish indifference or failure to detect the model. The measured developmental difference concerns calling behavior rather than the discovery of an age-specific neural circuit.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Tecla Mohr, Erica van de Waal, Klaus Zuberbühler, Stéphanie Mercier (2023). Juvenile vervet monkeys rely on others when responding to danger. Animal Cognition 26(4):1443-1447. https://doi.org/10.1007/s10071-023-01765-2</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Mohr et al. (2023), Fig. 1. Juvenile and adult alarm production to unfamiliar raptor models.</a:t>
            </a:r>
            <a:endParaRPr/>
          </a:p>
          <a:p>
            <a:pPr indent="0" lvl="0" marL="0" rtl="0" algn="l">
              <a:spcBef>
                <a:spcPts val="0"/>
              </a:spcBef>
              <a:spcAft>
                <a:spcPts val="0"/>
              </a:spcAft>
              <a:buNone/>
            </a:pPr>
            <a:r>
              <a:rPr lang="en-US"/>
              <a:t>Figure source: https://doi.org/10.1007/s10071-023-01765-2</a:t>
            </a:r>
            <a:endParaRPr/>
          </a:p>
        </p:txBody>
      </p:sp>
      <p:sp>
        <p:nvSpPr>
          <p:cNvPr id="600" name="Google Shape;600;p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 name="Google Shape;611;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**audience effect** is a change in signaling associated with who is nearby. Mohr and colleagues compared juvenile responses with mothers, siblings or unrelated group members present within 10 m. Other kin were excluded from the mother and sibling conditions to separate these audience categories.</a:t>
            </a:r>
            <a:endParaRPr/>
          </a:p>
          <a:p>
            <a:pPr indent="0" lvl="0" marL="0" rtl="0" algn="l">
              <a:spcBef>
                <a:spcPts val="0"/>
              </a:spcBef>
              <a:spcAft>
                <a:spcPts val="0"/>
              </a:spcAft>
              <a:buNone/>
            </a:pPr>
            <a:r>
              <a:rPr lang="en-US"/>
              <a:t>• The descriptive pattern contained more juvenile calling with siblings than with mothers or unrelated animals. However, the study did not establish an overall audience-composition effect, and audience size was not systematically controlled. Model-directed vigilance by mothers and siblings provided additional social information.</a:t>
            </a:r>
            <a:endParaRPr/>
          </a:p>
          <a:p>
            <a:pPr indent="0" lvl="0" marL="0" rtl="0" algn="l">
              <a:spcBef>
                <a:spcPts val="0"/>
              </a:spcBef>
              <a:spcAft>
                <a:spcPts val="0"/>
              </a:spcAft>
              <a:buNone/>
            </a:pPr>
            <a:r>
              <a:rPr lang="en-US"/>
              <a:t>• These observations motivate explanations involving experience, relatedness or awareness, but they do not demonstrate imitation, teaching or one-trial learning. A difference in immediate calling is distinct from a lasting acquired association. The restricted design therefore supports cautious developmental interpretation rather than a proven mechanism of alarm learning.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Tecla Mohr, Erica van de Waal, Klaus Zuberbühler, Stéphanie Mercier (2023). Juvenile vervet monkeys rely on others when responding to danger. Animal Cognition 26(4):1443-1447. https://doi.org/10.1007/s10071-023-01765-2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Mohr et al. (2023), Fig. 2. Juvenile alarm production in three audience conditions.</a:t>
            </a:r>
            <a:endParaRPr/>
          </a:p>
          <a:p>
            <a:pPr indent="0" lvl="0" marL="0" rtl="0" algn="l">
              <a:spcBef>
                <a:spcPts val="0"/>
              </a:spcBef>
              <a:spcAft>
                <a:spcPts val="0"/>
              </a:spcAft>
              <a:buNone/>
            </a:pPr>
            <a:r>
              <a:rPr lang="en-US"/>
              <a:t>Figure source: https://doi.org/10.1007/s10071-023-01765-2</a:t>
            </a:r>
            <a:endParaRPr/>
          </a:p>
        </p:txBody>
      </p:sp>
      <p:sp>
        <p:nvSpPr>
          <p:cNvPr id="612" name="Google Shape;612;p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3" name="Google Shape;623;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Teaching transcript:</a:t>
            </a:r>
            <a:endParaRPr/>
          </a:p>
          <a:p>
            <a:pPr indent="0" lvl="0" marL="0" rtl="0" algn="l">
              <a:spcBef>
                <a:spcPts val="0"/>
              </a:spcBef>
              <a:spcAft>
                <a:spcPts val="0"/>
              </a:spcAft>
              <a:buNone/>
            </a:pPr>
            <a:r>
              <a:rPr lang="en-US"/>
              <a:t>• Functional reference is supported when call production relates to external events and playback elicits appropriate responses without the eliciting stimulus.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Classic playback controls separate acoustic effects from predator visibility; duration, amplitude and caller identity do not alone explain the response categories.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Context-sensitive reception allows the same broad call form to guide different actions or levels of vigilance depending on location, social events and prior evidence.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Developmental refinement narrows broad juvenile threat categories; age-related observations do not by themselves distinguish maturation, personal experience and social learning.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Acoustic overlap means predator-associated calls can resemble aggression calls; information-bearing reception does not require a universal one-call–one-predator dictionary.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Neural evidence locates macaque vocal sensitivity in auditory and anterior temporal regions, while regional imaging does not identify a vervet semantic circuit or molecular mechanism.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rPr lang="en-US"/>
              <a:t>Robert M. Seyfarth, Dorothy L. Cheney, Peter Marler (1980). Vervet monkey alarm calls: Semantic communication in a free-ranging primate. Animal Behaviour 28(4):1070-1094. https://doi.org/10.1016/S0003-3472(80)80097-2</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rPr lang="en-US"/>
              <a:t>Tabitha Price, Julia Fischer (2014). Meaning attribution in the West African green monkey: influence of call type and context. Animal Cognition 17(2):277-286. https://doi.org/10.1007/s10071-013-0660-9</a:t>
            </a:r>
            <a:endParaRPr/>
          </a:p>
          <a:p>
            <a:pPr indent="0" lvl="0" marL="0" rtl="0" algn="l">
              <a:spcBef>
                <a:spcPts val="0"/>
              </a:spcBef>
              <a:spcAft>
                <a:spcPts val="0"/>
              </a:spcAft>
              <a:buNone/>
            </a:pPr>
            <a:r>
              <a:rPr lang="en-US"/>
              <a:t>Adwait Deshpande, Erica van de Waal, Klaus Zuberbühler (2023). Context-dependent alarm responses in wild vervet monkeys. Animal Cognition 26(4):1199-1208. https://doi.org/10.1007/s10071-023-01767-0</a:t>
            </a:r>
            <a:endParaRPr/>
          </a:p>
          <a:p>
            <a:pPr indent="0" lvl="0" marL="0" rtl="0" algn="l">
              <a:spcBef>
                <a:spcPts val="0"/>
              </a:spcBef>
              <a:spcAft>
                <a:spcPts val="0"/>
              </a:spcAft>
              <a:buNone/>
            </a:pPr>
            <a:r>
              <a:rPr lang="en-US"/>
              <a:t>Tecla Mohr, Erica van de Waal, Klaus Zuberbühler, Stéphanie Mercier (2023). Juvenile vervet monkeys rely on others when responding to danger. Animal Cognition 26(4):1443-1447. https://doi.org/10.1007/s10071-023-01765-2</a:t>
            </a:r>
            <a:endParaRPr/>
          </a:p>
          <a:p>
            <a:pPr indent="0" lvl="0" marL="0" rtl="0" algn="l">
              <a:spcBef>
                <a:spcPts val="0"/>
              </a:spcBef>
              <a:spcAft>
                <a:spcPts val="0"/>
              </a:spcAft>
              <a:buNone/>
            </a:pPr>
            <a:r>
              <a:rPr lang="en-US"/>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endParaRPr/>
          </a:p>
        </p:txBody>
      </p:sp>
      <p:sp>
        <p:nvSpPr>
          <p:cNvPr id="624" name="Google Shape;624;p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6"/>
          <p:cNvSpPr/>
          <p:nvPr>
            <p:ph idx="2" type="pic"/>
          </p:nvPr>
        </p:nvSpPr>
        <p:spPr>
          <a:xfrm>
            <a:off x="1792288" y="612775"/>
            <a:ext cx="5486400" cy="4114800"/>
          </a:xfrm>
          <a:prstGeom prst="rect">
            <a:avLst/>
          </a:prstGeom>
          <a:noFill/>
          <a:ln>
            <a:noFill/>
          </a:ln>
        </p:spPr>
      </p:sp>
      <p:sp>
        <p:nvSpPr>
          <p:cNvPr id="64" name="Google Shape;64;p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p:nvPr/>
        </p:nvSpPr>
        <p:spPr>
          <a:xfrm>
            <a:off x="0" y="0"/>
            <a:ext cx="6095847" cy="6858000"/>
          </a:xfrm>
          <a:prstGeom prst="rect">
            <a:avLst/>
          </a:prstGeom>
          <a:solidFill>
            <a:srgbClr val="3956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txBox="1"/>
          <p:nvPr/>
        </p:nvSpPr>
        <p:spPr>
          <a:xfrm>
            <a:off x="685800" y="822960"/>
            <a:ext cx="4724247" cy="32004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D4DFE7"/>
                </a:solidFill>
                <a:latin typeface="Arial"/>
                <a:ea typeface="Arial"/>
                <a:cs typeface="Arial"/>
                <a:sym typeface="Arial"/>
              </a:rPr>
              <a:t>NEUR 411 · NEUROETHOLOGY · FALL 2026</a:t>
            </a:r>
            <a:endParaRPr/>
          </a:p>
        </p:txBody>
      </p:sp>
      <p:sp>
        <p:nvSpPr>
          <p:cNvPr id="87" name="Google Shape;87;p1"/>
          <p:cNvSpPr txBox="1"/>
          <p:nvPr/>
        </p:nvSpPr>
        <p:spPr>
          <a:xfrm>
            <a:off x="685800" y="1783080"/>
            <a:ext cx="4724247" cy="4114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D4DFE7"/>
                </a:solidFill>
                <a:latin typeface="Arial"/>
                <a:ea typeface="Arial"/>
                <a:cs typeface="Arial"/>
                <a:sym typeface="Arial"/>
              </a:rPr>
              <a:t>Lecture 38</a:t>
            </a:r>
            <a:endParaRPr/>
          </a:p>
        </p:txBody>
      </p:sp>
      <p:sp>
        <p:nvSpPr>
          <p:cNvPr id="88" name="Google Shape;88;p1"/>
          <p:cNvSpPr txBox="1"/>
          <p:nvPr/>
        </p:nvSpPr>
        <p:spPr>
          <a:xfrm>
            <a:off x="685800" y="2331720"/>
            <a:ext cx="4724247" cy="192024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2700" u="none" cap="none" strike="noStrike">
                <a:solidFill>
                  <a:srgbClr val="FFFFFF"/>
                </a:solidFill>
                <a:latin typeface="Arial"/>
                <a:ea typeface="Arial"/>
                <a:cs typeface="Arial"/>
                <a:sym typeface="Arial"/>
              </a:rPr>
              <a:t>Primate communication:</a:t>
            </a:r>
            <a:endParaRPr/>
          </a:p>
          <a:p>
            <a:pPr indent="0" lvl="0" marL="0" marR="0" rtl="0" algn="l">
              <a:lnSpc>
                <a:spcPct val="108000"/>
              </a:lnSpc>
              <a:spcBef>
                <a:spcPts val="0"/>
              </a:spcBef>
              <a:spcAft>
                <a:spcPts val="0"/>
              </a:spcAft>
              <a:buNone/>
            </a:pPr>
            <a:r>
              <a:rPr b="1" i="0" lang="en-US" sz="2700" u="none" cap="none" strike="noStrike">
                <a:solidFill>
                  <a:srgbClr val="FFFFFF"/>
                </a:solidFill>
                <a:latin typeface="Arial"/>
                <a:ea typeface="Arial"/>
                <a:cs typeface="Arial"/>
                <a:sym typeface="Arial"/>
              </a:rPr>
              <a:t>vervet monkey alarm calls and referential signaling (Seyfarth &amp; Cheney)</a:t>
            </a:r>
            <a:endParaRPr/>
          </a:p>
        </p:txBody>
      </p:sp>
      <p:sp>
        <p:nvSpPr>
          <p:cNvPr id="89" name="Google Shape;89;p1"/>
          <p:cNvSpPr txBox="1"/>
          <p:nvPr/>
        </p:nvSpPr>
        <p:spPr>
          <a:xfrm>
            <a:off x="685800" y="4749622"/>
            <a:ext cx="4724247" cy="3657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D4DFE7"/>
                </a:solidFill>
                <a:latin typeface="Arial"/>
                <a:ea typeface="Arial"/>
                <a:cs typeface="Arial"/>
                <a:sym typeface="Arial"/>
              </a:rPr>
              <a:t>Monday, November 30, 2026</a:t>
            </a:r>
            <a:endParaRPr/>
          </a:p>
        </p:txBody>
      </p:sp>
      <p:sp>
        <p:nvSpPr>
          <p:cNvPr id="90" name="Google Shape;90;p1"/>
          <p:cNvSpPr txBox="1"/>
          <p:nvPr/>
        </p:nvSpPr>
        <p:spPr>
          <a:xfrm>
            <a:off x="685800" y="5435422"/>
            <a:ext cx="4724247" cy="6400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D4DFE7"/>
                </a:solidFill>
                <a:latin typeface="Arial"/>
                <a:ea typeface="Arial"/>
                <a:cs typeface="Arial"/>
                <a:sym typeface="Arial"/>
              </a:rPr>
              <a:t>Jordan Lopez, Ph.D.</a:t>
            </a:r>
            <a:endParaRPr/>
          </a:p>
          <a:p>
            <a:pPr indent="0" lvl="0" marL="0" marR="0" rtl="0" algn="l">
              <a:lnSpc>
                <a:spcPct val="108000"/>
              </a:lnSpc>
              <a:spcBef>
                <a:spcPts val="200"/>
              </a:spcBef>
              <a:spcAft>
                <a:spcPts val="0"/>
              </a:spcAft>
              <a:buNone/>
            </a:pPr>
            <a:r>
              <a:rPr b="0" i="0" lang="en-US" sz="1200" u="none" cap="none" strike="noStrike">
                <a:solidFill>
                  <a:srgbClr val="D4DFE7"/>
                </a:solidFill>
                <a:latin typeface="Arial"/>
                <a:ea typeface="Arial"/>
                <a:cs typeface="Arial"/>
                <a:sym typeface="Arial"/>
              </a:rPr>
              <a:t>Professor of Neurobiology &amp; Biomedical Engineering</a:t>
            </a:r>
            <a:endParaRPr/>
          </a:p>
        </p:txBody>
      </p:sp>
      <p:sp>
        <p:nvSpPr>
          <p:cNvPr id="91" name="Google Shape;91;p1"/>
          <p:cNvSpPr txBox="1"/>
          <p:nvPr/>
        </p:nvSpPr>
        <p:spPr>
          <a:xfrm>
            <a:off x="7309112" y="5921600"/>
            <a:ext cx="3669300" cy="1539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Photo: Vervet monkey</a:t>
            </a:r>
            <a:r>
              <a:rPr lang="en-US" sz="1000"/>
              <a:t> eating a Banana</a:t>
            </a:r>
            <a:r>
              <a:rPr b="0" i="0" lang="en-US" sz="1000" u="none" cap="none" strike="noStrike">
                <a:solidFill>
                  <a:srgbClr val="000000"/>
                </a:solidFill>
                <a:latin typeface="Arial"/>
                <a:ea typeface="Arial"/>
                <a:cs typeface="Arial"/>
                <a:sym typeface="Arial"/>
              </a:rPr>
              <a:t> in East African savanna.</a:t>
            </a:r>
            <a:endParaRPr/>
          </a:p>
        </p:txBody>
      </p:sp>
      <p:pic>
        <p:nvPicPr>
          <p:cNvPr descr="Vervet Monkey Animal" id="92" name="Google Shape;92;p1"/>
          <p:cNvPicPr preferRelativeResize="0"/>
          <p:nvPr/>
        </p:nvPicPr>
        <p:blipFill rotWithShape="1">
          <a:blip r:embed="rId3">
            <a:alphaModFix/>
          </a:blip>
          <a:srcRect b="0" l="0" r="24139" t="0"/>
          <a:stretch/>
        </p:blipFill>
        <p:spPr>
          <a:xfrm>
            <a:off x="7128637" y="501073"/>
            <a:ext cx="4030275" cy="4614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Vervet alarms distinguish classes of danger</a:t>
            </a:r>
            <a:endParaRPr/>
          </a:p>
        </p:txBody>
      </p:sp>
      <p:sp>
        <p:nvSpPr>
          <p:cNvPr id="99" name="Google Shape;99;p2"/>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2E4556"/>
                </a:solidFill>
                <a:latin typeface="Arial"/>
                <a:ea typeface="Arial"/>
                <a:cs typeface="Arial"/>
                <a:sym typeface="Arial"/>
              </a:rPr>
              <a:t>Alarm calls</a:t>
            </a:r>
            <a:r>
              <a:rPr b="0" i="0" lang="en-US" sz="1600" u="none" cap="none" strike="noStrike">
                <a:solidFill>
                  <a:srgbClr val="000000"/>
                </a:solidFill>
                <a:latin typeface="Arial"/>
                <a:ea typeface="Arial"/>
                <a:cs typeface="Arial"/>
                <a:sym typeface="Arial"/>
              </a:rPr>
              <a:t> are vocal signals associated with danger. Free-ranging vervet monkeys, now classified as </a:t>
            </a:r>
            <a:r>
              <a:rPr b="0" i="1" lang="en-US" sz="1600" u="none" cap="none" strike="noStrike">
                <a:solidFill>
                  <a:srgbClr val="000000"/>
                </a:solidFill>
                <a:latin typeface="Arial"/>
                <a:ea typeface="Arial"/>
                <a:cs typeface="Arial"/>
                <a:sym typeface="Arial"/>
              </a:rPr>
              <a:t>Chlorocebus pygerythrus</a:t>
            </a:r>
            <a:r>
              <a:rPr b="0" i="0" lang="en-US" sz="1600" u="none" cap="none" strike="noStrike">
                <a:solidFill>
                  <a:srgbClr val="000000"/>
                </a:solidFill>
                <a:latin typeface="Arial"/>
                <a:ea typeface="Arial"/>
                <a:cs typeface="Arial"/>
                <a:sym typeface="Arial"/>
              </a:rPr>
              <a:t>, produced different calls during encounters with terrestrial predators, aerial predators and snakes. These categories were identified from recordings and observations during a 14-month study in Amboseli, Kenya.</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Seyfarth, Cheney and Marler played recorded calls when predators were absent. Monkeys changed their looking direction and escape behavior according to the call type within the 10 s observation window. The playback separated hearing an alarm from directly seeing its usual eliciting predator.</a:t>
            </a:r>
            <a:endParaRPr/>
          </a:p>
          <a:p>
            <a:pPr indent="0" lvl="0" marL="0" marR="0" rtl="0" algn="l">
              <a:lnSpc>
                <a:spcPct val="108000"/>
              </a:lnSpc>
              <a:spcBef>
                <a:spcPts val="960"/>
              </a:spcBef>
              <a:spcAft>
                <a:spcPts val="0"/>
              </a:spcAft>
              <a:buNone/>
            </a:pPr>
            <a:r>
              <a:rPr b="1" i="0" lang="en-US" sz="1600" u="none" cap="none" strike="noStrike">
                <a:solidFill>
                  <a:srgbClr val="2E4556"/>
                </a:solidFill>
                <a:latin typeface="Arial"/>
                <a:ea typeface="Arial"/>
                <a:cs typeface="Arial"/>
                <a:sym typeface="Arial"/>
              </a:rPr>
              <a:t>Referential signaling</a:t>
            </a:r>
            <a:r>
              <a:rPr b="0" i="0" lang="en-US" sz="1600" u="none" cap="none" strike="noStrike">
                <a:solidFill>
                  <a:srgbClr val="000000"/>
                </a:solidFill>
                <a:latin typeface="Arial"/>
                <a:ea typeface="Arial"/>
                <a:cs typeface="Arial"/>
                <a:sym typeface="Arial"/>
              </a:rPr>
              <a:t> concerns information about external objects or events. Predator-appropriate responses support that functional interpretation, while leaving unresolved whether a caller intends to describe a predator or a listener represents it in a human-like symbolic form.</a:t>
            </a:r>
            <a:endParaRPr/>
          </a:p>
        </p:txBody>
      </p:sp>
      <p:pic>
        <p:nvPicPr>
          <p:cNvPr descr="vervet.jpg" id="100" name="Google Shape;100;p2"/>
          <p:cNvPicPr preferRelativeResize="0"/>
          <p:nvPr/>
        </p:nvPicPr>
        <p:blipFill rotWithShape="1">
          <a:blip r:embed="rId3">
            <a:alphaModFix/>
          </a:blip>
          <a:srcRect b="0" l="0" r="0" t="0"/>
          <a:stretch/>
        </p:blipFill>
        <p:spPr>
          <a:xfrm>
            <a:off x="7540447" y="1280160"/>
            <a:ext cx="2865120" cy="4297679"/>
          </a:xfrm>
          <a:prstGeom prst="rect">
            <a:avLst/>
          </a:prstGeom>
          <a:noFill/>
          <a:ln>
            <a:noFill/>
          </a:ln>
        </p:spPr>
      </p:pic>
      <p:sp>
        <p:nvSpPr>
          <p:cNvPr id="101" name="Google Shape;101;p2"/>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Photo: Vervet monkey in East African savanna.</a:t>
            </a:r>
            <a:endParaRPr/>
          </a:p>
        </p:txBody>
      </p:sp>
      <p:sp>
        <p:nvSpPr>
          <p:cNvPr id="102" name="Google Shape;102;p2"/>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(1980a); Seyfarth et al. (1980b)</a:t>
            </a:r>
            <a:endParaRPr/>
          </a:p>
        </p:txBody>
      </p:sp>
      <p:sp>
        <p:nvSpPr>
          <p:cNvPr id="104" name="Google Shape;104;p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Leopard alarms recruit escape into trees</a:t>
            </a:r>
            <a:endParaRPr/>
          </a:p>
        </p:txBody>
      </p:sp>
      <p:sp>
        <p:nvSpPr>
          <p:cNvPr id="111" name="Google Shape;111;p3"/>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Leopards are terrestrial ambush predators: an attack can approach a monkey moving or feeding on the ground. In Amboseli, leopard-associated alarm calls were followed by movement into trees. Escape location therefore mattered, rather than movement alone being the relevant response.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Playback trials used a concealed speaker without a leopard present. The investigators filmed behavior before and after the call, comparing the same recipients across the alarm event. Ground-dwelling subjects were more likely to run into trees after leopard alarms than after the other alarm categories.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An alarm could initiate an appropriate escape without direct visual identification of the predator. This behavioral result identifies an acoustic contribution to defensive action; it does not establish an obligatory reflex, nor does it measure the neuronal pathway generating the movement.</a:t>
            </a:r>
            <a:endParaRPr/>
          </a:p>
        </p:txBody>
      </p:sp>
      <p:pic>
        <p:nvPicPr>
          <p:cNvPr descr="leopard.jpg" id="112" name="Google Shape;112;p3"/>
          <p:cNvPicPr preferRelativeResize="0"/>
          <p:nvPr/>
        </p:nvPicPr>
        <p:blipFill rotWithShape="1">
          <a:blip r:embed="rId3">
            <a:alphaModFix/>
          </a:blip>
          <a:srcRect b="0" l="0" r="0" t="0"/>
          <a:stretch/>
        </p:blipFill>
        <p:spPr>
          <a:xfrm>
            <a:off x="6321247" y="1280160"/>
            <a:ext cx="5303520" cy="3536483"/>
          </a:xfrm>
          <a:prstGeom prst="rect">
            <a:avLst/>
          </a:prstGeom>
          <a:noFill/>
          <a:ln>
            <a:noFill/>
          </a:ln>
        </p:spPr>
      </p:pic>
      <p:sp>
        <p:nvSpPr>
          <p:cNvPr id="113" name="Google Shape;113;p3"/>
          <p:cNvSpPr txBox="1"/>
          <p:nvPr/>
        </p:nvSpPr>
        <p:spPr>
          <a:xfrm>
            <a:off x="6321247" y="4908083"/>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Photo: Leopard, a terrestrial ambush predator.</a:t>
            </a:r>
            <a:endParaRPr/>
          </a:p>
        </p:txBody>
      </p:sp>
      <p:sp>
        <p:nvSpPr>
          <p:cNvPr id="114" name="Google Shape;114;p3"/>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(1980a); Seyfarth et al. (1980b)</a:t>
            </a:r>
            <a:endParaRPr/>
          </a:p>
        </p:txBody>
      </p:sp>
      <p:sp>
        <p:nvSpPr>
          <p:cNvPr id="116" name="Google Shape;116;p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Eagle alarms redirect attention and cover seeking</a:t>
            </a:r>
            <a:endParaRPr/>
          </a:p>
        </p:txBody>
      </p:sp>
      <p:sp>
        <p:nvSpPr>
          <p:cNvPr id="123" name="Google Shape;123;p4"/>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Martial eagles attack from above, so looking upward and reaching protective cover can address a different threat from climbing away from a leopard. Field observers recorded eagle-associated calls while monitoring the recipients’ position and subsequent behavior in the same habitat.</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When these recordings were broadcast without an eagle present, monkeys on the ground looked upward and sometimes ran into cover. Monkeys already in trees could leave the tree. Responses were evaluated during the 10 s after playback against behavior during the preceding 10 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contrasting actions depend partly on the recipient’s vulnerability at that location. A shared call category need not prescribe one fixed motor sequence. The experiment supports discrimination of aerial danger without demonstrating a representation of a particular individual eagle.</a:t>
            </a:r>
            <a:endParaRPr/>
          </a:p>
        </p:txBody>
      </p:sp>
      <p:pic>
        <p:nvPicPr>
          <p:cNvPr descr="eagle.jpg" id="124" name="Google Shape;124;p4"/>
          <p:cNvPicPr preferRelativeResize="0"/>
          <p:nvPr/>
        </p:nvPicPr>
        <p:blipFill rotWithShape="1">
          <a:blip r:embed="rId3">
            <a:alphaModFix/>
          </a:blip>
          <a:srcRect b="0" l="0" r="0" t="0"/>
          <a:stretch/>
        </p:blipFill>
        <p:spPr>
          <a:xfrm>
            <a:off x="7540054" y="1280160"/>
            <a:ext cx="2865906" cy="4297679"/>
          </a:xfrm>
          <a:prstGeom prst="rect">
            <a:avLst/>
          </a:prstGeom>
          <a:noFill/>
          <a:ln>
            <a:noFill/>
          </a:ln>
        </p:spPr>
      </p:pic>
      <p:sp>
        <p:nvSpPr>
          <p:cNvPr id="125" name="Google Shape;125;p4"/>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Photo: Martial eagle, an aerial predator.</a:t>
            </a:r>
            <a:endParaRPr/>
          </a:p>
        </p:txBody>
      </p:sp>
      <p:sp>
        <p:nvSpPr>
          <p:cNvPr id="126" name="Google Shape;126;p4"/>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(1980a); Seyfarth et al. (1980b)</a:t>
            </a:r>
            <a:endParaRPr/>
          </a:p>
        </p:txBody>
      </p:sp>
      <p:sp>
        <p:nvSpPr>
          <p:cNvPr id="128" name="Google Shape;128;p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Snake alarms recruit ground-directed inspection</a:t>
            </a:r>
            <a:endParaRPr/>
          </a:p>
        </p:txBody>
      </p:sp>
      <p:sp>
        <p:nvSpPr>
          <p:cNvPr id="135" name="Google Shape;135;p5"/>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2E4556"/>
                </a:solidFill>
                <a:latin typeface="Arial"/>
                <a:ea typeface="Arial"/>
                <a:cs typeface="Arial"/>
                <a:sym typeface="Arial"/>
              </a:rPr>
              <a:t>Snake alarms</a:t>
            </a:r>
            <a:r>
              <a:rPr b="0" i="0" lang="en-US" sz="1600" u="none" cap="none" strike="noStrike">
                <a:solidFill>
                  <a:srgbClr val="000000"/>
                </a:solidFill>
                <a:latin typeface="Arial"/>
                <a:ea typeface="Arial"/>
                <a:cs typeface="Arial"/>
                <a:sym typeface="Arial"/>
              </a:rPr>
              <a:t> were high-pitched chutter-like vocalizations associated with pythons and other threatening snake encounters. Ground-directed inspection can locate a nearby threat whose danger differs from an aerial attack. Looking down and approaching a snake were distinguished from running into a tree.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In predator-free playbacks, snake calls caused more ground-directed looking than the other call types. The researchers scored behavior before and after the broadcast, using the same 10 s window for comparison. The speaker supplied sound while the physical snake stimulus was absent.</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This contrast supports a relationship between call category and defensive assessment. Inspection is an action that can obtain additional evidence; it is not itself a measurement of conceptual meaning. Calling, looking, approaching and escaping are distinct components of the response.</a:t>
            </a:r>
            <a:endParaRPr/>
          </a:p>
        </p:txBody>
      </p:sp>
      <p:pic>
        <p:nvPicPr>
          <p:cNvPr descr="python.jpg" id="136" name="Google Shape;136;p5"/>
          <p:cNvPicPr preferRelativeResize="0"/>
          <p:nvPr/>
        </p:nvPicPr>
        <p:blipFill rotWithShape="1">
          <a:blip r:embed="rId3">
            <a:alphaModFix/>
          </a:blip>
          <a:srcRect b="0" l="0" r="0" t="0"/>
          <a:stretch/>
        </p:blipFill>
        <p:spPr>
          <a:xfrm>
            <a:off x="7093605" y="1280160"/>
            <a:ext cx="3758802" cy="4297679"/>
          </a:xfrm>
          <a:prstGeom prst="rect">
            <a:avLst/>
          </a:prstGeom>
          <a:noFill/>
          <a:ln>
            <a:noFill/>
          </a:ln>
        </p:spPr>
      </p:pic>
      <p:sp>
        <p:nvSpPr>
          <p:cNvPr id="137" name="Google Shape;137;p5"/>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Photo: African rock python, a ground-level threat.</a:t>
            </a:r>
            <a:endParaRPr/>
          </a:p>
        </p:txBody>
      </p:sp>
      <p:sp>
        <p:nvSpPr>
          <p:cNvPr id="138" name="Google Shape;138;p5"/>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(1980a); Seyfarth et al. (1980b)</a:t>
            </a:r>
            <a:endParaRPr/>
          </a:p>
        </p:txBody>
      </p:sp>
      <p:sp>
        <p:nvSpPr>
          <p:cNvPr id="140" name="Google Shape;140;p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Acoustic structure distinguishes alarm categories</a:t>
            </a:r>
            <a:endParaRPr/>
          </a:p>
        </p:txBody>
      </p:sp>
      <p:sp>
        <p:nvSpPr>
          <p:cNvPr id="147" name="Google Shape;147;p6"/>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A </a:t>
            </a:r>
            <a:r>
              <a:rPr b="1" i="0" lang="en-US" sz="1600" u="none" cap="none" strike="noStrike">
                <a:solidFill>
                  <a:srgbClr val="2E4556"/>
                </a:solidFill>
                <a:latin typeface="Arial"/>
                <a:ea typeface="Arial"/>
                <a:cs typeface="Arial"/>
                <a:sym typeface="Arial"/>
              </a:rPr>
              <a:t>spectrogram</a:t>
            </a:r>
            <a:r>
              <a:rPr b="0" i="0" lang="en-US" sz="1600" u="none" cap="none" strike="noStrike">
                <a:solidFill>
                  <a:srgbClr val="000000"/>
                </a:solidFill>
                <a:latin typeface="Arial"/>
                <a:ea typeface="Arial"/>
                <a:cs typeface="Arial"/>
                <a:sym typeface="Arial"/>
              </a:rPr>
              <a:t> represents acoustic energy across time and frequency. The classic recordings compared leopard, eagle and snake calls from identified adults and a juvenile. Horizontal time scales and vertical frequency scales permit comparison of tonal structure, duration and repeated acoustic units.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recordings used a 300 Hz analysis filter and frequency displays extending from 80 to 8000 Hz for these examples. Eagle alarms contained low-frequency components, snake alarms had higher-frequency chutter structure, and leopard calls included short tonal units or repeated sequences.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Differences were detectable both in the recordings and by listeners in the field. Acoustic distinctness establishes a basis for discrimination, but a spectrogram alone cannot establish what monkeys infer. The behavioral playback experiment supplies a separate test of the consequences of hearing these sounds.</a:t>
            </a:r>
            <a:endParaRPr/>
          </a:p>
        </p:txBody>
      </p:sp>
      <p:pic>
        <p:nvPicPr>
          <p:cNvPr descr="A80_1.png" id="148" name="Google Shape;148;p6"/>
          <p:cNvPicPr preferRelativeResize="0"/>
          <p:nvPr/>
        </p:nvPicPr>
        <p:blipFill rotWithShape="1">
          <a:blip r:embed="rId3">
            <a:alphaModFix/>
          </a:blip>
          <a:srcRect b="0" l="0" r="0" t="0"/>
          <a:stretch/>
        </p:blipFill>
        <p:spPr>
          <a:xfrm>
            <a:off x="6837941" y="1280160"/>
            <a:ext cx="4270130" cy="4297679"/>
          </a:xfrm>
          <a:prstGeom prst="rect">
            <a:avLst/>
          </a:prstGeom>
          <a:noFill/>
          <a:ln>
            <a:noFill/>
          </a:ln>
        </p:spPr>
      </p:pic>
      <p:sp>
        <p:nvSpPr>
          <p:cNvPr id="149" name="Google Shape;149;p6"/>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Seyfarth et al. (1980), Fig. 1. Leopard, eagle and snake alarm spectrograms from three callers.</a:t>
            </a:r>
            <a:endParaRPr/>
          </a:p>
        </p:txBody>
      </p:sp>
      <p:sp>
        <p:nvSpPr>
          <p:cNvPr id="150" name="Google Shape;150;p6"/>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(1980b)</a:t>
            </a:r>
            <a:endParaRPr/>
          </a:p>
        </p:txBody>
      </p:sp>
      <p:sp>
        <p:nvSpPr>
          <p:cNvPr id="152" name="Google Shape;152;p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Caller sex changes form within an alarm category</a:t>
            </a:r>
            <a:endParaRPr/>
          </a:p>
        </p:txBody>
      </p:sp>
      <p:sp>
        <p:nvSpPr>
          <p:cNvPr id="159" name="Google Shape;159;p7"/>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An </a:t>
            </a:r>
            <a:r>
              <a:rPr b="1" i="0" lang="en-US" sz="1600" u="none" cap="none" strike="noStrike">
                <a:solidFill>
                  <a:srgbClr val="2E4556"/>
                </a:solidFill>
                <a:latin typeface="Arial"/>
                <a:ea typeface="Arial"/>
                <a:cs typeface="Arial"/>
                <a:sym typeface="Arial"/>
              </a:rPr>
              <a:t>acoustic unit</a:t>
            </a:r>
            <a:r>
              <a:rPr b="0" i="0" lang="en-US" sz="1600" u="none" cap="none" strike="noStrike">
                <a:solidFill>
                  <a:srgbClr val="000000"/>
                </a:solidFill>
                <a:latin typeface="Arial"/>
                <a:ea typeface="Arial"/>
                <a:cs typeface="Arial"/>
                <a:sym typeface="Arial"/>
              </a:rPr>
              <a:t> is an individual sound element, whereas a sequence contains several such elements. Adult male leopard alarms often consisted of repeated units. Female and juvenile leopard alarms could instead contain a single short element, despite being associated with the same predator category.</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Seyfarth and colleagues compared calls from identified individuals rather than assuming that one waveform represented the entire population. Their spectrograms preserve 0.5 s time scales. Some females also produced multi-unit leopard calls, especially when a predator was close or attacking.</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Call category and detailed acoustic form are therefore related but distinct descriptions. Variation among callers does not eliminate a shared behavioral function. These observations do not by themselves separate effects of sex, body characteristics, threat proximity and individual differences in vocal production.</a:t>
            </a:r>
            <a:endParaRPr/>
          </a:p>
        </p:txBody>
      </p:sp>
      <p:pic>
        <p:nvPicPr>
          <p:cNvPr descr="A80_3.png" id="160" name="Google Shape;160;p7"/>
          <p:cNvPicPr preferRelativeResize="0"/>
          <p:nvPr/>
        </p:nvPicPr>
        <p:blipFill rotWithShape="1">
          <a:blip r:embed="rId3">
            <a:alphaModFix/>
          </a:blip>
          <a:srcRect b="0" l="0" r="0" t="0"/>
          <a:stretch/>
        </p:blipFill>
        <p:spPr>
          <a:xfrm>
            <a:off x="7592907" y="1280160"/>
            <a:ext cx="2760200" cy="4297679"/>
          </a:xfrm>
          <a:prstGeom prst="rect">
            <a:avLst/>
          </a:prstGeom>
          <a:noFill/>
          <a:ln>
            <a:noFill/>
          </a:ln>
        </p:spPr>
      </p:pic>
      <p:sp>
        <p:nvSpPr>
          <p:cNvPr id="161" name="Google Shape;161;p7"/>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Seyfarth et al. (1980), Fig. 3. Adult male leopard alarms and adult female eagle alarms.</a:t>
            </a:r>
            <a:endParaRPr/>
          </a:p>
        </p:txBody>
      </p:sp>
      <p:sp>
        <p:nvSpPr>
          <p:cNvPr id="162" name="Google Shape;162;p7"/>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(1980b)</a:t>
            </a:r>
            <a:endParaRPr/>
          </a:p>
        </p:txBody>
      </p:sp>
      <p:sp>
        <p:nvSpPr>
          <p:cNvPr id="164" name="Google Shape;164;p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sp>
        <p:nvSpPr>
          <p:cNvPr id="170" name="Google Shape;170;p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Playback isolates sound from predator visibility</a:t>
            </a:r>
            <a:endParaRPr/>
          </a:p>
        </p:txBody>
      </p:sp>
      <p:sp>
        <p:nvSpPr>
          <p:cNvPr id="171" name="Google Shape;171;p8"/>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2E4556"/>
                </a:solidFill>
                <a:latin typeface="Arial"/>
                <a:ea typeface="Arial"/>
                <a:cs typeface="Arial"/>
                <a:sym typeface="Arial"/>
              </a:rPr>
              <a:t>Playback</a:t>
            </a:r>
            <a:r>
              <a:rPr b="0" i="0" lang="en-US" sz="1600" u="none" cap="none" strike="noStrike">
                <a:solidFill>
                  <a:srgbClr val="000000"/>
                </a:solidFill>
                <a:latin typeface="Arial"/>
                <a:ea typeface="Arial"/>
                <a:cs typeface="Arial"/>
                <a:sym typeface="Arial"/>
              </a:rPr>
              <a:t> presents a previously recorded signal to test its effect on a recipient. The classic field experiment concealed the loudspeaker and broadcast leopard, eagle or snake alarms when no predator was present. Speaker orientation and call order were varied across trials.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Science report compared the 10 s before each broadcast with the 10 s afterward. Ground responses distinguished tree escape, cover seeking and looking up or down. The corresponding table also separates monkeys already in trees from those on the ground.</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Removing the predator addresses the alternative that recipients merely copied responses to something they could see. It leaves acoustic and social information in the call available. A response to sound is evidence about reception, while the caller’s own motives require different observations or manipulations.</a:t>
            </a:r>
            <a:endParaRPr/>
          </a:p>
        </p:txBody>
      </p:sp>
      <p:pic>
        <p:nvPicPr>
          <p:cNvPr descr="S80_T1.png" id="172" name="Google Shape;172;p8"/>
          <p:cNvPicPr preferRelativeResize="0"/>
          <p:nvPr/>
        </p:nvPicPr>
        <p:blipFill rotWithShape="1">
          <a:blip r:embed="rId3">
            <a:alphaModFix/>
          </a:blip>
          <a:srcRect b="0" l="0" r="0" t="0"/>
          <a:stretch/>
        </p:blipFill>
        <p:spPr>
          <a:xfrm>
            <a:off x="6321247" y="1280160"/>
            <a:ext cx="5303520" cy="862285"/>
          </a:xfrm>
          <a:prstGeom prst="rect">
            <a:avLst/>
          </a:prstGeom>
          <a:noFill/>
          <a:ln>
            <a:noFill/>
          </a:ln>
        </p:spPr>
      </p:pic>
      <p:sp>
        <p:nvSpPr>
          <p:cNvPr id="173" name="Google Shape;173;p8"/>
          <p:cNvSpPr txBox="1"/>
          <p:nvPr/>
        </p:nvSpPr>
        <p:spPr>
          <a:xfrm>
            <a:off x="6321247" y="2233885"/>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Seyfarth et al. (1980), Table 1. Playback responses on the ground and in trees.</a:t>
            </a:r>
            <a:endParaRPr/>
          </a:p>
        </p:txBody>
      </p:sp>
      <p:sp>
        <p:nvSpPr>
          <p:cNvPr id="174" name="Google Shape;174;p8"/>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(1980a); Seyfarth et al. (1980b)</a:t>
            </a:r>
            <a:endParaRPr/>
          </a:p>
        </p:txBody>
      </p:sp>
      <p:sp>
        <p:nvSpPr>
          <p:cNvPr id="176" name="Google Shape;176;p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sp>
        <p:nvSpPr>
          <p:cNvPr id="182" name="Google Shape;182;p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Long and short calls retain category differences</a:t>
            </a:r>
            <a:endParaRPr/>
          </a:p>
        </p:txBody>
      </p:sp>
      <p:sp>
        <p:nvSpPr>
          <p:cNvPr id="183" name="Google Shape;183;p9"/>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Call </a:t>
            </a:r>
            <a:r>
              <a:rPr b="1" i="0" lang="en-US" sz="1600" u="none" cap="none" strike="noStrike">
                <a:solidFill>
                  <a:srgbClr val="2E4556"/>
                </a:solidFill>
                <a:latin typeface="Arial"/>
                <a:ea typeface="Arial"/>
                <a:cs typeface="Arial"/>
                <a:sym typeface="Arial"/>
              </a:rPr>
              <a:t>duration</a:t>
            </a:r>
            <a:r>
              <a:rPr b="0" i="0" lang="en-US" sz="1600" u="none" cap="none" strike="noStrike">
                <a:solidFill>
                  <a:srgbClr val="000000"/>
                </a:solidFill>
                <a:latin typeface="Arial"/>
                <a:ea typeface="Arial"/>
                <a:cs typeface="Arial"/>
                <a:sym typeface="Arial"/>
              </a:rPr>
              <a:t> is the time occupied by the vocalization; a longer call can also contain more repeated units. Natural recordings permitted the investigators to construct short and long versions while retaining the characteristic structure associated with each alarm category.</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Short stimuli averaged 0.3 s and contained one acoustic unit. Long stimuli averaged 3.7 s and contained approximately five units. Matched recordings from the same caller helped separate duration from differences in caller identity, and playback compared the resulting defensive responses.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Changing duration did not erase the principal differences between response categories. The result argues against duration alone explaining leopard, eagle and snake responses. It does not imply that duration is behaviorally irrelevant, because urgency and response magnitude can vary independently of the kind of action selected.</a:t>
            </a:r>
            <a:endParaRPr/>
          </a:p>
        </p:txBody>
      </p:sp>
      <p:pic>
        <p:nvPicPr>
          <p:cNvPr descr="A80_4.png" id="184" name="Google Shape;184;p9"/>
          <p:cNvPicPr preferRelativeResize="0"/>
          <p:nvPr/>
        </p:nvPicPr>
        <p:blipFill rotWithShape="1">
          <a:blip r:embed="rId3">
            <a:alphaModFix/>
          </a:blip>
          <a:srcRect b="0" l="0" r="0" t="0"/>
          <a:stretch/>
        </p:blipFill>
        <p:spPr>
          <a:xfrm>
            <a:off x="7253586" y="1280160"/>
            <a:ext cx="3438842" cy="4297679"/>
          </a:xfrm>
          <a:prstGeom prst="rect">
            <a:avLst/>
          </a:prstGeom>
          <a:noFill/>
          <a:ln>
            <a:noFill/>
          </a:ln>
        </p:spPr>
      </p:pic>
      <p:sp>
        <p:nvSpPr>
          <p:cNvPr id="185" name="Google Shape;185;p9"/>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Seyfarth et al. (1980), Fig. 4. Single-unit and multi-unit leopard alarms.</a:t>
            </a:r>
            <a:endParaRPr/>
          </a:p>
        </p:txBody>
      </p:sp>
      <p:sp>
        <p:nvSpPr>
          <p:cNvPr id="186" name="Google Shape;186;p9"/>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(1980b); Seyfarth et al. (1980a)</a:t>
            </a:r>
            <a:endParaRPr/>
          </a:p>
        </p:txBody>
      </p:sp>
      <p:sp>
        <p:nvSpPr>
          <p:cNvPr id="188" name="Google Shape;188;p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sp>
        <p:nvSpPr>
          <p:cNvPr id="194" name="Google Shape;194;p1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Amplitude alone does not explain alarm responses</a:t>
            </a:r>
            <a:endParaRPr/>
          </a:p>
        </p:txBody>
      </p:sp>
      <p:sp>
        <p:nvSpPr>
          <p:cNvPr id="195" name="Google Shape;195;p10"/>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2E4556"/>
                </a:solidFill>
                <a:latin typeface="Arial"/>
                <a:ea typeface="Arial"/>
                <a:cs typeface="Arial"/>
                <a:sym typeface="Arial"/>
              </a:rPr>
              <a:t>Amplitude</a:t>
            </a:r>
            <a:r>
              <a:rPr b="0" i="0" lang="en-US" sz="1500" u="none" cap="none" strike="noStrike">
                <a:solidFill>
                  <a:srgbClr val="000000"/>
                </a:solidFill>
                <a:latin typeface="Arial"/>
                <a:ea typeface="Arial"/>
                <a:cs typeface="Arial"/>
                <a:sym typeface="Arial"/>
              </a:rPr>
              <a:t> concerns sound magnitude, while acoustic structure includes its frequency distribution and temporal pattern. The natural calls differed in loudness: reconstructed field playback levels averaged 56 dB for leopard alarms, 53 dB for eagle alarms and 48 dB for snake alarms.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investigators also compared responses where amplitude ranges overlapped and conducted amplitude-equalized trials. Category differences in defensive behavior persisted. These controls addressed whether louder sounds simply produced a different degree of generalized disturbance rather than a different kind of response.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evidence rejects amplitude as a sufficient explanation for the category-specific actions in this preparation. It does not establish that internal arousal contributes nothing to natural calling. Sound level, caller state and external danger can covary without being interchangeable explanations for every measured response.</a:t>
            </a:r>
            <a:endParaRPr/>
          </a:p>
        </p:txBody>
      </p:sp>
      <p:pic>
        <p:nvPicPr>
          <p:cNvPr descr="A80_1.png" id="196" name="Google Shape;196;p10"/>
          <p:cNvPicPr preferRelativeResize="0"/>
          <p:nvPr/>
        </p:nvPicPr>
        <p:blipFill rotWithShape="1">
          <a:blip r:embed="rId3">
            <a:alphaModFix/>
          </a:blip>
          <a:srcRect b="0" l="0" r="0" t="0"/>
          <a:stretch/>
        </p:blipFill>
        <p:spPr>
          <a:xfrm>
            <a:off x="6837941" y="1280160"/>
            <a:ext cx="4270130" cy="4297679"/>
          </a:xfrm>
          <a:prstGeom prst="rect">
            <a:avLst/>
          </a:prstGeom>
          <a:noFill/>
          <a:ln>
            <a:noFill/>
          </a:ln>
        </p:spPr>
      </p:pic>
      <p:sp>
        <p:nvSpPr>
          <p:cNvPr id="197" name="Google Shape;197;p10"/>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Seyfarth et al. (1980), Fig. 1. Leopard, eagle and snake alarm spectrograms from three callers.</a:t>
            </a:r>
            <a:endParaRPr/>
          </a:p>
        </p:txBody>
      </p:sp>
      <p:sp>
        <p:nvSpPr>
          <p:cNvPr id="198" name="Google Shape;198;p10"/>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1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(1980b); Seyfarth et al. (1980a)</a:t>
            </a:r>
            <a:endParaRPr/>
          </a:p>
        </p:txBody>
      </p:sp>
      <p:sp>
        <p:nvSpPr>
          <p:cNvPr id="200" name="Google Shape;200;p1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1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Receiver location changes the available escape action</a:t>
            </a:r>
            <a:endParaRPr/>
          </a:p>
        </p:txBody>
      </p:sp>
      <p:sp>
        <p:nvSpPr>
          <p:cNvPr id="207" name="Google Shape;207;p11"/>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2E4556"/>
                </a:solidFill>
                <a:latin typeface="Arial"/>
                <a:ea typeface="Arial"/>
                <a:cs typeface="Arial"/>
                <a:sym typeface="Arial"/>
              </a:rPr>
              <a:t>Context</a:t>
            </a:r>
            <a:r>
              <a:rPr b="0" i="0" lang="en-US" sz="1600" u="none" cap="none" strike="noStrike">
                <a:solidFill>
                  <a:srgbClr val="000000"/>
                </a:solidFill>
                <a:latin typeface="Arial"/>
                <a:ea typeface="Arial"/>
                <a:cs typeface="Arial"/>
                <a:sym typeface="Arial"/>
              </a:rPr>
              <a:t> includes the recipient’s surroundings and position when a signal arrives. The classic experiments tested subjects on the ground and subjects in trees, allowing the same alarm category to be evaluated where available refuge and vulnerability differed.</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Ground subjects commonly escaped upward after leopard alarms, whereas eagle alarms could make tree-dwelling monkeys leave the tree. The 10 s scoring windows compared these actions with each individual’s behavior before playback, rather than treating all movement as one defensive response.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A stable association with a danger class is compatible with context-dependent action. The same external threat can demand different movements from different starting positions. These experiments did not support a context-only account of all alarm distinctions, because different calls also elicited contrasting responses in the same setting.</a:t>
            </a:r>
            <a:endParaRPr/>
          </a:p>
        </p:txBody>
      </p:sp>
      <p:pic>
        <p:nvPicPr>
          <p:cNvPr descr="S80_T1.png" id="208" name="Google Shape;208;p11"/>
          <p:cNvPicPr preferRelativeResize="0"/>
          <p:nvPr/>
        </p:nvPicPr>
        <p:blipFill rotWithShape="1">
          <a:blip r:embed="rId3">
            <a:alphaModFix/>
          </a:blip>
          <a:srcRect b="0" l="0" r="0" t="0"/>
          <a:stretch/>
        </p:blipFill>
        <p:spPr>
          <a:xfrm>
            <a:off x="6321247" y="1280160"/>
            <a:ext cx="5303520" cy="862285"/>
          </a:xfrm>
          <a:prstGeom prst="rect">
            <a:avLst/>
          </a:prstGeom>
          <a:noFill/>
          <a:ln>
            <a:noFill/>
          </a:ln>
        </p:spPr>
      </p:pic>
      <p:sp>
        <p:nvSpPr>
          <p:cNvPr id="209" name="Google Shape;209;p11"/>
          <p:cNvSpPr txBox="1"/>
          <p:nvPr/>
        </p:nvSpPr>
        <p:spPr>
          <a:xfrm>
            <a:off x="6321247" y="2233885"/>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Seyfarth et al. (1980), Table 1. Playback responses on the ground and in trees.</a:t>
            </a:r>
            <a:endParaRPr/>
          </a:p>
        </p:txBody>
      </p:sp>
      <p:sp>
        <p:nvSpPr>
          <p:cNvPr id="210" name="Google Shape;210;p11"/>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1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(1980a); Seyfarth et al. (1980b)</a:t>
            </a:r>
            <a:endParaRPr/>
          </a:p>
        </p:txBody>
      </p:sp>
      <p:sp>
        <p:nvSpPr>
          <p:cNvPr id="212" name="Google Shape;212;p1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1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Infants classify threats more broadly than adults</a:t>
            </a:r>
            <a:endParaRPr/>
          </a:p>
        </p:txBody>
      </p:sp>
      <p:sp>
        <p:nvSpPr>
          <p:cNvPr id="219" name="Google Shape;219;p12"/>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2E4556"/>
                </a:solidFill>
                <a:latin typeface="Arial"/>
                <a:ea typeface="Arial"/>
                <a:cs typeface="Arial"/>
                <a:sym typeface="Arial"/>
              </a:rPr>
              <a:t>Ontogeny</a:t>
            </a:r>
            <a:r>
              <a:rPr b="0" i="0" lang="en-US" sz="1600" u="none" cap="none" strike="noStrike">
                <a:solidFill>
                  <a:srgbClr val="000000"/>
                </a:solidFill>
                <a:latin typeface="Arial"/>
                <a:ea typeface="Arial"/>
                <a:cs typeface="Arial"/>
                <a:sym typeface="Arial"/>
              </a:rPr>
              <a:t> is change during an individual’s development. In the Amboseli observations, infants gave eagle alarms to a broad range of birds and sometimes to harmless stimuli. Adult callers restricted such alarms more strongly to dangerous aerial species, including martial eagles.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published comparison follows alarms collected across 14 months and displays the stimuli associated with infant, juvenile and adult calling. Infants’ errors were structured: aerial stimuli tended to elicit eagle calls, terrestrial mammals leopard calls, and long thin objects snake calls.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developmental difference is consistent with refinement within broad perceptual categories. It does not mean infants begin without discrimination. Because these were observations across age classes, the contribution of maturation, personal experience and learning from adults could not be isolated by this comparison alone.</a:t>
            </a:r>
            <a:endParaRPr/>
          </a:p>
        </p:txBody>
      </p:sp>
      <p:pic>
        <p:nvPicPr>
          <p:cNvPr descr="S80_1.png" id="220" name="Google Shape;220;p12"/>
          <p:cNvPicPr preferRelativeResize="0"/>
          <p:nvPr/>
        </p:nvPicPr>
        <p:blipFill rotWithShape="1">
          <a:blip r:embed="rId3">
            <a:alphaModFix/>
          </a:blip>
          <a:srcRect b="0" l="0" r="0" t="0"/>
          <a:stretch/>
        </p:blipFill>
        <p:spPr>
          <a:xfrm>
            <a:off x="6321247" y="1280160"/>
            <a:ext cx="5303520" cy="3312452"/>
          </a:xfrm>
          <a:prstGeom prst="rect">
            <a:avLst/>
          </a:prstGeom>
          <a:noFill/>
          <a:ln>
            <a:noFill/>
          </a:ln>
        </p:spPr>
      </p:pic>
      <p:sp>
        <p:nvSpPr>
          <p:cNvPr id="221" name="Google Shape;221;p12"/>
          <p:cNvSpPr txBox="1"/>
          <p:nvPr/>
        </p:nvSpPr>
        <p:spPr>
          <a:xfrm>
            <a:off x="6321247" y="4684052"/>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Seyfarth et al. (1980), Fig. 1. Age-related breadth of stimuli eliciting eagle alarms.</a:t>
            </a:r>
            <a:endParaRPr/>
          </a:p>
        </p:txBody>
      </p:sp>
      <p:sp>
        <p:nvSpPr>
          <p:cNvPr id="222" name="Google Shape;222;p12"/>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1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(1980a)</a:t>
            </a:r>
            <a:endParaRPr/>
          </a:p>
        </p:txBody>
      </p:sp>
      <p:sp>
        <p:nvSpPr>
          <p:cNvPr id="224" name="Google Shape;224;p1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sp>
        <p:nvSpPr>
          <p:cNvPr id="230" name="Google Shape;230;p1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Development refines recognition within broad classes</a:t>
            </a:r>
            <a:endParaRPr/>
          </a:p>
        </p:txBody>
      </p:sp>
      <p:sp>
        <p:nvSpPr>
          <p:cNvPr id="231" name="Google Shape;231;p13"/>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2E4556"/>
                </a:solidFill>
                <a:latin typeface="Arial"/>
                <a:ea typeface="Arial"/>
                <a:cs typeface="Arial"/>
                <a:sym typeface="Arial"/>
              </a:rPr>
              <a:t>Predator classification</a:t>
            </a:r>
            <a:r>
              <a:rPr b="0" i="0" lang="en-US" sz="1500" u="none" cap="none" strike="noStrike">
                <a:solidFill>
                  <a:srgbClr val="000000"/>
                </a:solidFill>
                <a:latin typeface="Arial"/>
                <a:ea typeface="Arial"/>
                <a:cs typeface="Arial"/>
                <a:sym typeface="Arial"/>
              </a:rPr>
              <a:t> assigns different encountered objects to threat categories. The classic developmental observations contrasted broad infant categories with narrower adult associations. Adults encountered many harmless species without alarming and more selectively called to predators relevant to the local habitat.</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eagle-alarm comparison includes raptors, non-raptor birds and occasional other stimuli. Records accumulated during a 14-month field study linked each call to an identified eliciting object. Juvenile patterns lay between the broad infant and more selective adult patterns.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This relationship concerns the use of a call, not necessarily the acquisition of a new acoustic form. The original authors left the learning process unresolved. Age-related refinement supports experience-sensitive categorization, while controlled changes in experience are needed to identify how social and individual information contribute.</a:t>
            </a:r>
            <a:endParaRPr/>
          </a:p>
        </p:txBody>
      </p:sp>
      <p:pic>
        <p:nvPicPr>
          <p:cNvPr descr="S80_1.png" id="232" name="Google Shape;232;p13"/>
          <p:cNvPicPr preferRelativeResize="0"/>
          <p:nvPr/>
        </p:nvPicPr>
        <p:blipFill rotWithShape="1">
          <a:blip r:embed="rId3">
            <a:alphaModFix/>
          </a:blip>
          <a:srcRect b="0" l="0" r="0" t="0"/>
          <a:stretch/>
        </p:blipFill>
        <p:spPr>
          <a:xfrm>
            <a:off x="6321247" y="1280160"/>
            <a:ext cx="5303520" cy="3312452"/>
          </a:xfrm>
          <a:prstGeom prst="rect">
            <a:avLst/>
          </a:prstGeom>
          <a:noFill/>
          <a:ln>
            <a:noFill/>
          </a:ln>
        </p:spPr>
      </p:pic>
      <p:sp>
        <p:nvSpPr>
          <p:cNvPr id="233" name="Google Shape;233;p13"/>
          <p:cNvSpPr txBox="1"/>
          <p:nvPr/>
        </p:nvSpPr>
        <p:spPr>
          <a:xfrm>
            <a:off x="6321247" y="4684052"/>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Seyfarth et al. (1980), Fig. 1. Age-related breadth of stimuli eliciting eagle alarms.</a:t>
            </a:r>
            <a:endParaRPr/>
          </a:p>
        </p:txBody>
      </p:sp>
      <p:sp>
        <p:nvSpPr>
          <p:cNvPr id="234" name="Google Shape;234;p13"/>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1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(1980a)</a:t>
            </a:r>
            <a:endParaRPr/>
          </a:p>
        </p:txBody>
      </p:sp>
      <p:sp>
        <p:nvSpPr>
          <p:cNvPr id="236" name="Google Shape;236;p1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p1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Female calls occupy several acoustic clusters</a:t>
            </a:r>
            <a:endParaRPr/>
          </a:p>
        </p:txBody>
      </p:sp>
      <p:sp>
        <p:nvSpPr>
          <p:cNvPr id="243" name="Google Shape;243;p14"/>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An </a:t>
            </a:r>
            <a:r>
              <a:rPr b="1" i="0" lang="en-US" sz="1500" u="none" cap="none" strike="noStrike">
                <a:solidFill>
                  <a:srgbClr val="2E4556"/>
                </a:solidFill>
                <a:latin typeface="Arial"/>
                <a:ea typeface="Arial"/>
                <a:cs typeface="Arial"/>
                <a:sym typeface="Arial"/>
              </a:rPr>
              <a:t>acoustic cluster</a:t>
            </a:r>
            <a:r>
              <a:rPr b="0" i="0" lang="en-US" sz="1500" u="none" cap="none" strike="noStrike">
                <a:solidFill>
                  <a:srgbClr val="000000"/>
                </a:solidFill>
                <a:latin typeface="Arial"/>
                <a:ea typeface="Arial"/>
                <a:cs typeface="Arial"/>
                <a:sym typeface="Arial"/>
              </a:rPr>
              <a:t> groups calls with similar measured sound properties without first assigning them a predator name. Price and colleagues analyzed recordings from predator encounters and aggressive interactions. Female calls separated into four broad groups with differences in element length and frequency distribution.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source spectrograms display frequency in kHz and time in seconds; representative elements are shown against 0.2 s scales. Some clusters contained repeated short sounds, whereas a terrestrial-predator-associated cluster contained fewer, longer elements. This analysis extended the classic qualitative descriptions.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Clustering establishes structure in the recorded repertoire rather than a neural category boundary. A group of acoustically similar sounds can occur in more than one behavioral setting. The number of analytical clusters does not itself establish the number of meanings recognized by a monkey.</a:t>
            </a:r>
            <a:endParaRPr/>
          </a:p>
        </p:txBody>
      </p:sp>
      <p:pic>
        <p:nvPicPr>
          <p:cNvPr descr="P15_1A.png" id="244" name="Google Shape;244;p14"/>
          <p:cNvPicPr preferRelativeResize="0"/>
          <p:nvPr/>
        </p:nvPicPr>
        <p:blipFill rotWithShape="1">
          <a:blip r:embed="rId3">
            <a:alphaModFix/>
          </a:blip>
          <a:srcRect b="0" l="0" r="0" t="0"/>
          <a:stretch/>
        </p:blipFill>
        <p:spPr>
          <a:xfrm>
            <a:off x="6321247" y="1280160"/>
            <a:ext cx="5303520" cy="2602818"/>
          </a:xfrm>
          <a:prstGeom prst="rect">
            <a:avLst/>
          </a:prstGeom>
          <a:noFill/>
          <a:ln>
            <a:noFill/>
          </a:ln>
        </p:spPr>
      </p:pic>
      <p:sp>
        <p:nvSpPr>
          <p:cNvPr id="245" name="Google Shape;245;p14"/>
          <p:cNvSpPr txBox="1"/>
          <p:nvPr/>
        </p:nvSpPr>
        <p:spPr>
          <a:xfrm>
            <a:off x="6321247" y="3974418"/>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1A. Acoustic clusters of female calls across predator and aggressive contexts.</a:t>
            </a:r>
            <a:endParaRPr/>
          </a:p>
        </p:txBody>
      </p:sp>
      <p:sp>
        <p:nvSpPr>
          <p:cNvPr id="246" name="Google Shape;246;p14"/>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1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248" name="Google Shape;248;p1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 name="Shape 253"/>
        <p:cNvGrpSpPr/>
        <p:nvPr/>
      </p:nvGrpSpPr>
      <p:grpSpPr>
        <a:xfrm>
          <a:off x="0" y="0"/>
          <a:ext cx="0" cy="0"/>
          <a:chOff x="0" y="0"/>
          <a:chExt cx="0" cy="0"/>
        </a:xfrm>
      </p:grpSpPr>
      <p:sp>
        <p:nvSpPr>
          <p:cNvPr id="254" name="Google Shape;254;p1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Time and frequency contribute different call features</a:t>
            </a:r>
            <a:endParaRPr/>
          </a:p>
        </p:txBody>
      </p:sp>
      <p:sp>
        <p:nvSpPr>
          <p:cNvPr id="255" name="Google Shape;255;p15"/>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2E4556"/>
                </a:solidFill>
                <a:latin typeface="Arial"/>
                <a:ea typeface="Arial"/>
                <a:cs typeface="Arial"/>
                <a:sym typeface="Arial"/>
              </a:rPr>
              <a:t>Temporal features</a:t>
            </a:r>
            <a:r>
              <a:rPr b="0" i="0" lang="en-US" sz="1500" u="none" cap="none" strike="noStrike">
                <a:solidFill>
                  <a:srgbClr val="000000"/>
                </a:solidFill>
                <a:latin typeface="Arial"/>
                <a:ea typeface="Arial"/>
                <a:cs typeface="Arial"/>
                <a:sym typeface="Arial"/>
              </a:rPr>
              <a:t> describe duration and spacing; </a:t>
            </a:r>
            <a:r>
              <a:rPr b="1" i="0" lang="en-US" sz="1500" u="none" cap="none" strike="noStrike">
                <a:solidFill>
                  <a:srgbClr val="2E4556"/>
                </a:solidFill>
                <a:latin typeface="Arial"/>
                <a:ea typeface="Arial"/>
                <a:cs typeface="Arial"/>
                <a:sym typeface="Arial"/>
              </a:rPr>
              <a:t>spectral features</a:t>
            </a:r>
            <a:r>
              <a:rPr b="0" i="0" lang="en-US" sz="1500" u="none" cap="none" strike="noStrike">
                <a:solidFill>
                  <a:srgbClr val="000000"/>
                </a:solidFill>
                <a:latin typeface="Arial"/>
                <a:ea typeface="Arial"/>
                <a:cs typeface="Arial"/>
                <a:sym typeface="Arial"/>
              </a:rPr>
              <a:t> describe how energy is distributed across frequencies. Price and colleagues measured both rather than identifying alarm types from one frequency or one duration alone. The acoustic examples retain their original kHz and second scales.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Female terrestrial-predator calls had longer individual elements than aerial and snake-associated calls. Reported mean element durations were 107.7 ms for terrestrial encounters, 43.9 ms for aerial encounters and 38.3 ms for snake encounters. These measurements concern elements rather than entire alarm bouts.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Multiple features can support discrimination even when no single measure creates a perfect boundary. The analysis describes the recorded calls; it does not identify which feature a listener actually uses. Controlled playback changes would be needed to attribute behavioral discrimination to one feature independently.</a:t>
            </a:r>
            <a:endParaRPr/>
          </a:p>
        </p:txBody>
      </p:sp>
      <p:pic>
        <p:nvPicPr>
          <p:cNvPr descr="P15_1A.png" id="256" name="Google Shape;256;p15"/>
          <p:cNvPicPr preferRelativeResize="0"/>
          <p:nvPr/>
        </p:nvPicPr>
        <p:blipFill rotWithShape="1">
          <a:blip r:embed="rId3">
            <a:alphaModFix/>
          </a:blip>
          <a:srcRect b="0" l="0" r="0" t="0"/>
          <a:stretch/>
        </p:blipFill>
        <p:spPr>
          <a:xfrm>
            <a:off x="6321247" y="1280160"/>
            <a:ext cx="5303520" cy="2602818"/>
          </a:xfrm>
          <a:prstGeom prst="rect">
            <a:avLst/>
          </a:prstGeom>
          <a:noFill/>
          <a:ln>
            <a:noFill/>
          </a:ln>
        </p:spPr>
      </p:pic>
      <p:sp>
        <p:nvSpPr>
          <p:cNvPr id="257" name="Google Shape;257;p15"/>
          <p:cNvSpPr txBox="1"/>
          <p:nvPr/>
        </p:nvSpPr>
        <p:spPr>
          <a:xfrm>
            <a:off x="6321247" y="3974418"/>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1A. Acoustic clusters of female calls across predator and aggressive contexts.</a:t>
            </a:r>
            <a:endParaRPr/>
          </a:p>
        </p:txBody>
      </p:sp>
      <p:sp>
        <p:nvSpPr>
          <p:cNvPr id="258" name="Google Shape;258;p15"/>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1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260" name="Google Shape;260;p1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 name="Shape 265"/>
        <p:cNvGrpSpPr/>
        <p:nvPr/>
      </p:nvGrpSpPr>
      <p:grpSpPr>
        <a:xfrm>
          <a:off x="0" y="0"/>
          <a:ext cx="0" cy="0"/>
          <a:chOff x="0" y="0"/>
          <a:chExt cx="0" cy="0"/>
        </a:xfrm>
      </p:grpSpPr>
      <p:sp>
        <p:nvSpPr>
          <p:cNvPr id="266" name="Google Shape;266;p1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Female predator calls remain acoustically distinct</a:t>
            </a:r>
            <a:endParaRPr/>
          </a:p>
        </p:txBody>
      </p:sp>
      <p:sp>
        <p:nvSpPr>
          <p:cNvPr id="267" name="Google Shape;267;p16"/>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2E4556"/>
                </a:solidFill>
                <a:latin typeface="Arial"/>
                <a:ea typeface="Arial"/>
                <a:cs typeface="Arial"/>
                <a:sym typeface="Arial"/>
              </a:rPr>
              <a:t>Production specificity</a:t>
            </a:r>
            <a:r>
              <a:rPr b="0" i="0" lang="en-US" sz="1500" u="none" cap="none" strike="noStrike">
                <a:solidFill>
                  <a:srgbClr val="000000"/>
                </a:solidFill>
                <a:latin typeface="Arial"/>
                <a:ea typeface="Arial"/>
                <a:cs typeface="Arial"/>
                <a:sym typeface="Arial"/>
              </a:rPr>
              <a:t> is the association between a signal and the situations in which it is produced. Restricting their analysis to predator encounters, Price and colleagues compared female calls recorded during aerial, snake and terrestrial threats. The corresponding acoustic distributions separated strongly.</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Spectral measurements help distinguish these contexts. Mean peak frequency was 986 Hz for aerial calls, 2840 Hz for snake calls and 2374 Hz for terrestrial calls. Temporal structure also differed, so peak frequency was not the sole basis of classification.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result supports acoustic differences among predator-associated female calls in this data set. It does not establish that those sounds occur only with predators, because aggressive contexts were excluded from this particular comparison. Specificity depends on which alternative eliciting situations are actually examined.</a:t>
            </a:r>
            <a:endParaRPr/>
          </a:p>
        </p:txBody>
      </p:sp>
      <p:pic>
        <p:nvPicPr>
          <p:cNvPr descr="P15_1B.png" id="268" name="Google Shape;268;p16"/>
          <p:cNvPicPr preferRelativeResize="0"/>
          <p:nvPr/>
        </p:nvPicPr>
        <p:blipFill rotWithShape="1">
          <a:blip r:embed="rId3">
            <a:alphaModFix/>
          </a:blip>
          <a:srcRect b="0" l="0" r="0" t="0"/>
          <a:stretch/>
        </p:blipFill>
        <p:spPr>
          <a:xfrm>
            <a:off x="6321247" y="1280160"/>
            <a:ext cx="5303520" cy="2328050"/>
          </a:xfrm>
          <a:prstGeom prst="rect">
            <a:avLst/>
          </a:prstGeom>
          <a:noFill/>
          <a:ln>
            <a:noFill/>
          </a:ln>
        </p:spPr>
      </p:pic>
      <p:sp>
        <p:nvSpPr>
          <p:cNvPr id="269" name="Google Shape;269;p16"/>
          <p:cNvSpPr txBox="1"/>
          <p:nvPr/>
        </p:nvSpPr>
        <p:spPr>
          <a:xfrm>
            <a:off x="6321247" y="3699650"/>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1B. Female calls separated by predator context.</a:t>
            </a:r>
            <a:endParaRPr/>
          </a:p>
        </p:txBody>
      </p:sp>
      <p:sp>
        <p:nvSpPr>
          <p:cNvPr id="270" name="Google Shape;270;p16"/>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1" name="Google Shape;271;p1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272" name="Google Shape;272;p1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 name="Shape 277"/>
        <p:cNvGrpSpPr/>
        <p:nvPr/>
      </p:nvGrpSpPr>
      <p:grpSpPr>
        <a:xfrm>
          <a:off x="0" y="0"/>
          <a:ext cx="0" cy="0"/>
          <a:chOff x="0" y="0"/>
          <a:chExt cx="0" cy="0"/>
        </a:xfrm>
      </p:grpSpPr>
      <p:sp>
        <p:nvSpPr>
          <p:cNvPr id="278" name="Google Shape;278;p1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A call element is not the entire alarm bout</a:t>
            </a:r>
            <a:endParaRPr/>
          </a:p>
        </p:txBody>
      </p:sp>
      <p:sp>
        <p:nvSpPr>
          <p:cNvPr id="279" name="Google Shape;279;p17"/>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2E4556"/>
                </a:solidFill>
                <a:latin typeface="Arial"/>
                <a:ea typeface="Arial"/>
                <a:cs typeface="Arial"/>
                <a:sym typeface="Arial"/>
              </a:rPr>
              <a:t>call element</a:t>
            </a:r>
            <a:r>
              <a:rPr b="0" i="0" lang="en-US" sz="1500" u="none" cap="none" strike="noStrike">
                <a:solidFill>
                  <a:srgbClr val="000000"/>
                </a:solidFill>
                <a:latin typeface="Arial"/>
                <a:ea typeface="Arial"/>
                <a:cs typeface="Arial"/>
                <a:sym typeface="Arial"/>
              </a:rPr>
              <a:t> is a component within a compound vocalization; a </a:t>
            </a:r>
            <a:r>
              <a:rPr b="1" i="0" lang="en-US" sz="1500" u="none" cap="none" strike="noStrike">
                <a:solidFill>
                  <a:srgbClr val="2E4556"/>
                </a:solidFill>
                <a:latin typeface="Arial"/>
                <a:ea typeface="Arial"/>
                <a:cs typeface="Arial"/>
                <a:sym typeface="Arial"/>
              </a:rPr>
              <a:t>bout</a:t>
            </a:r>
            <a:r>
              <a:rPr b="0" i="0" lang="en-US" sz="1500" u="none" cap="none" strike="noStrike">
                <a:solidFill>
                  <a:srgbClr val="000000"/>
                </a:solidFill>
                <a:latin typeface="Arial"/>
                <a:ea typeface="Arial"/>
                <a:cs typeface="Arial"/>
                <a:sym typeface="Arial"/>
              </a:rPr>
              <a:t> can contain successive vocalizations. Price and colleagues separated measures of the complete call from spectral measures of its individual elements, avoiding the assumption that every duration describes the same biological unit.</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Female snake-associated calls contained more short elements than terrestrial-predator calls. Reported mean element numbers were 4.1 for snake calls and 1.4 for terrestrial calls, while their mean element durations were 38.3 ms and 107.7 ms respectively. Different arrangements therefore produced contrasting temporal patterns.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These source measurements connect acoustic organization to the eliciting context without claiming a one-to-one translation into a word. A listener could use the pattern jointly with frequency and social information. The recordings alone do not determine whether element count is represented separately by the auditory system.</a:t>
            </a:r>
            <a:endParaRPr/>
          </a:p>
        </p:txBody>
      </p:sp>
      <p:pic>
        <p:nvPicPr>
          <p:cNvPr descr="P15_1B.png" id="280" name="Google Shape;280;p17"/>
          <p:cNvPicPr preferRelativeResize="0"/>
          <p:nvPr/>
        </p:nvPicPr>
        <p:blipFill rotWithShape="1">
          <a:blip r:embed="rId3">
            <a:alphaModFix/>
          </a:blip>
          <a:srcRect b="0" l="0" r="0" t="0"/>
          <a:stretch/>
        </p:blipFill>
        <p:spPr>
          <a:xfrm>
            <a:off x="6321247" y="1280160"/>
            <a:ext cx="5303520" cy="2328050"/>
          </a:xfrm>
          <a:prstGeom prst="rect">
            <a:avLst/>
          </a:prstGeom>
          <a:noFill/>
          <a:ln>
            <a:noFill/>
          </a:ln>
        </p:spPr>
      </p:pic>
      <p:sp>
        <p:nvSpPr>
          <p:cNvPr id="281" name="Google Shape;281;p17"/>
          <p:cNvSpPr txBox="1"/>
          <p:nvPr/>
        </p:nvSpPr>
        <p:spPr>
          <a:xfrm>
            <a:off x="6321247" y="3699650"/>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1B. Female calls separated by predator context.</a:t>
            </a:r>
            <a:endParaRPr/>
          </a:p>
        </p:txBody>
      </p:sp>
      <p:sp>
        <p:nvSpPr>
          <p:cNvPr id="282" name="Google Shape;282;p17"/>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3" name="Google Shape;283;p1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284" name="Google Shape;284;p1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 name="Shape 289"/>
        <p:cNvGrpSpPr/>
        <p:nvPr/>
      </p:nvGrpSpPr>
      <p:grpSpPr>
        <a:xfrm>
          <a:off x="0" y="0"/>
          <a:ext cx="0" cy="0"/>
          <a:chOff x="0" y="0"/>
          <a:chExt cx="0" cy="0"/>
        </a:xfrm>
      </p:grpSpPr>
      <p:sp>
        <p:nvSpPr>
          <p:cNvPr id="290" name="Google Shape;290;p1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Aggression overlaps with female alarm acoustics</a:t>
            </a:r>
            <a:endParaRPr/>
          </a:p>
        </p:txBody>
      </p:sp>
      <p:sp>
        <p:nvSpPr>
          <p:cNvPr id="291" name="Google Shape;291;p18"/>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2E4556"/>
                </a:solidFill>
                <a:latin typeface="Arial"/>
                <a:ea typeface="Arial"/>
                <a:cs typeface="Arial"/>
                <a:sym typeface="Arial"/>
              </a:rPr>
              <a:t>Aggression</a:t>
            </a:r>
            <a:r>
              <a:rPr b="0" i="0" lang="en-US" sz="1500" u="none" cap="none" strike="noStrike">
                <a:solidFill>
                  <a:srgbClr val="000000"/>
                </a:solidFill>
                <a:latin typeface="Arial"/>
                <a:ea typeface="Arial"/>
                <a:cs typeface="Arial"/>
                <a:sym typeface="Arial"/>
              </a:rPr>
              <a:t> comprises antagonistic interactions within or between groups. Price and colleagues added recordings from these situations to the female predator-call analysis. Calls associated with snakes and aerial predators then overlapped with aggressive calls, weakening a simple one-call–one-predator description.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Snake-associated chutter-like sounds resembled some intergroup calls. Aerial-associated rraup-like sounds resembled sounds from escalated aggression. Mean peak frequencies during between-group and within-group aggression were 1715 Hz and 1456 Hz, within the broader range occupied by predator-associated calls.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Production context cannot always be read directly from acoustic structure. This finding does not eliminate information available to recipients: additional acoustic details and current circumstances can influence their response. It does restrict claims that every familiar alarm form is exclusively a label for one predator class.</a:t>
            </a:r>
            <a:endParaRPr/>
          </a:p>
        </p:txBody>
      </p:sp>
      <p:pic>
        <p:nvPicPr>
          <p:cNvPr descr="P15_1C.png" id="292" name="Google Shape;292;p18"/>
          <p:cNvPicPr preferRelativeResize="0"/>
          <p:nvPr/>
        </p:nvPicPr>
        <p:blipFill rotWithShape="1">
          <a:blip r:embed="rId3">
            <a:alphaModFix/>
          </a:blip>
          <a:srcRect b="0" l="0" r="0" t="0"/>
          <a:stretch/>
        </p:blipFill>
        <p:spPr>
          <a:xfrm>
            <a:off x="6321247" y="1280160"/>
            <a:ext cx="5303520" cy="2640683"/>
          </a:xfrm>
          <a:prstGeom prst="rect">
            <a:avLst/>
          </a:prstGeom>
          <a:noFill/>
          <a:ln>
            <a:noFill/>
          </a:ln>
        </p:spPr>
      </p:pic>
      <p:sp>
        <p:nvSpPr>
          <p:cNvPr id="293" name="Google Shape;293;p18"/>
          <p:cNvSpPr txBox="1"/>
          <p:nvPr/>
        </p:nvSpPr>
        <p:spPr>
          <a:xfrm>
            <a:off x="6321247" y="4012283"/>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1C. Female predator and aggression calls occupy overlapping acoustic space.</a:t>
            </a:r>
            <a:endParaRPr/>
          </a:p>
        </p:txBody>
      </p:sp>
      <p:sp>
        <p:nvSpPr>
          <p:cNvPr id="294" name="Google Shape;294;p18"/>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1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296" name="Google Shape;296;p1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18</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1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Graded variation differs from discrete call types</a:t>
            </a:r>
            <a:endParaRPr/>
          </a:p>
        </p:txBody>
      </p:sp>
      <p:sp>
        <p:nvSpPr>
          <p:cNvPr id="303" name="Google Shape;303;p19"/>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400" u="none" cap="none" strike="noStrike">
                <a:solidFill>
                  <a:srgbClr val="2E4556"/>
                </a:solidFill>
                <a:latin typeface="Arial"/>
                <a:ea typeface="Arial"/>
                <a:cs typeface="Arial"/>
                <a:sym typeface="Arial"/>
              </a:rPr>
              <a:t>Graded variation</a:t>
            </a:r>
            <a:r>
              <a:rPr b="0" i="0" lang="en-US" sz="1400" u="none" cap="none" strike="noStrike">
                <a:solidFill>
                  <a:srgbClr val="000000"/>
                </a:solidFill>
                <a:latin typeface="Arial"/>
                <a:ea typeface="Arial"/>
                <a:cs typeface="Arial"/>
                <a:sym typeface="Arial"/>
              </a:rPr>
              <a:t> consists of intermediate forms along acoustic dimensions, whereas </a:t>
            </a:r>
            <a:r>
              <a:rPr b="1" i="0" lang="en-US" sz="1400" u="none" cap="none" strike="noStrike">
                <a:solidFill>
                  <a:srgbClr val="2E4556"/>
                </a:solidFill>
                <a:latin typeface="Arial"/>
                <a:ea typeface="Arial"/>
                <a:cs typeface="Arial"/>
                <a:sym typeface="Arial"/>
              </a:rPr>
              <a:t>discrete categories</a:t>
            </a:r>
            <a:r>
              <a:rPr b="0" i="0" lang="en-US" sz="1400" u="none" cap="none" strike="noStrike">
                <a:solidFill>
                  <a:srgbClr val="000000"/>
                </a:solidFill>
                <a:latin typeface="Arial"/>
                <a:ea typeface="Arial"/>
                <a:cs typeface="Arial"/>
                <a:sym typeface="Arial"/>
              </a:rPr>
              <a:t> have clearer separations. Female chutter-like and rraup-like calls occupied overlapping acoustic space when aggressive contexts were included. The published distribution is based on measured features rather than hand-assigned word equivalents.</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The original spectrograms preserve 0.2 s time scales and frequency axes in kHz. They reveal different repeated-element patterns whose measured distributions can overlap. Calls from the same broad acoustic neighborhood occurred during snake encounters, aerial encounters and social aggression.</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An overlapping production distribution does not preclude categorical perception by listeners. Perceptual categorization would require a reception experiment measuring responses across controlled acoustic variation. The study establishes acoustic intergradation and context overlap, while leaving the exact relationship between that continuum and recipients’ decisions unresolved.</a:t>
            </a:r>
            <a:endParaRPr/>
          </a:p>
        </p:txBody>
      </p:sp>
      <p:pic>
        <p:nvPicPr>
          <p:cNvPr descr="P15_1C.png" id="304" name="Google Shape;304;p19"/>
          <p:cNvPicPr preferRelativeResize="0"/>
          <p:nvPr/>
        </p:nvPicPr>
        <p:blipFill rotWithShape="1">
          <a:blip r:embed="rId3">
            <a:alphaModFix/>
          </a:blip>
          <a:srcRect b="0" l="0" r="0" t="0"/>
          <a:stretch/>
        </p:blipFill>
        <p:spPr>
          <a:xfrm>
            <a:off x="6321247" y="1280160"/>
            <a:ext cx="5303520" cy="2640683"/>
          </a:xfrm>
          <a:prstGeom prst="rect">
            <a:avLst/>
          </a:prstGeom>
          <a:noFill/>
          <a:ln>
            <a:noFill/>
          </a:ln>
        </p:spPr>
      </p:pic>
      <p:sp>
        <p:nvSpPr>
          <p:cNvPr id="305" name="Google Shape;305;p19"/>
          <p:cNvSpPr txBox="1"/>
          <p:nvPr/>
        </p:nvSpPr>
        <p:spPr>
          <a:xfrm>
            <a:off x="6321247" y="4012283"/>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1C. Female predator and aggression calls occupy overlapping acoustic space.</a:t>
            </a:r>
            <a:endParaRPr/>
          </a:p>
        </p:txBody>
      </p:sp>
      <p:sp>
        <p:nvSpPr>
          <p:cNvPr id="306" name="Google Shape;306;p19"/>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7" name="Google Shape;307;p1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308" name="Google Shape;308;p1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3" name="Shape 313"/>
        <p:cNvGrpSpPr/>
        <p:nvPr/>
      </p:nvGrpSpPr>
      <p:grpSpPr>
        <a:xfrm>
          <a:off x="0" y="0"/>
          <a:ext cx="0" cy="0"/>
          <a:chOff x="0" y="0"/>
          <a:chExt cx="0" cy="0"/>
        </a:xfrm>
      </p:grpSpPr>
      <p:sp>
        <p:nvSpPr>
          <p:cNvPr id="314" name="Google Shape;314;p2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Male alarms have their own acoustic organization</a:t>
            </a:r>
            <a:endParaRPr/>
          </a:p>
        </p:txBody>
      </p:sp>
      <p:sp>
        <p:nvSpPr>
          <p:cNvPr id="315" name="Google Shape;315;p20"/>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Male and female recordings were analyzed separately because their acoustic structures differed substantially. In East African males, Price and colleagues identified three clusters rather than the four-cluster female solution. The male categories differed in repeated-element pattern and spectral distribution.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male spectrograms retain second and kHz scales, with representative sounds displayed against 0.2 s intervals. One group contained many short high-frequency elements; another contained fewer longer elements; a third had low-frequency components. Their associations with predator contexts were not equally exclusive.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Sex-specific acoustic organization cautions against treating a recording from one caller as the universal alarm template. The analysis concerns measured repertoire structure and does not identify the anatomical origin of sex differences. Body characteristics, vocal mechanics and contextual usage remain distinct possible contributors.</a:t>
            </a:r>
            <a:endParaRPr/>
          </a:p>
        </p:txBody>
      </p:sp>
      <p:pic>
        <p:nvPicPr>
          <p:cNvPr descr="P15_2A.png" id="316" name="Google Shape;316;p20"/>
          <p:cNvPicPr preferRelativeResize="0"/>
          <p:nvPr/>
        </p:nvPicPr>
        <p:blipFill rotWithShape="1">
          <a:blip r:embed="rId3">
            <a:alphaModFix/>
          </a:blip>
          <a:srcRect b="0" l="0" r="0" t="0"/>
          <a:stretch/>
        </p:blipFill>
        <p:spPr>
          <a:xfrm>
            <a:off x="6321247" y="1280160"/>
            <a:ext cx="5303520" cy="2416504"/>
          </a:xfrm>
          <a:prstGeom prst="rect">
            <a:avLst/>
          </a:prstGeom>
          <a:noFill/>
          <a:ln>
            <a:noFill/>
          </a:ln>
        </p:spPr>
      </p:pic>
      <p:sp>
        <p:nvSpPr>
          <p:cNvPr id="317" name="Google Shape;317;p20"/>
          <p:cNvSpPr txBox="1"/>
          <p:nvPr/>
        </p:nvSpPr>
        <p:spPr>
          <a:xfrm>
            <a:off x="6321247" y="3788104"/>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2A. Acoustic clusters of male predator calls.</a:t>
            </a:r>
            <a:endParaRPr/>
          </a:p>
        </p:txBody>
      </p:sp>
      <p:sp>
        <p:nvSpPr>
          <p:cNvPr id="318" name="Google Shape;318;p20"/>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2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320" name="Google Shape;320;p2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20</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p2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Male snake and eagle calls partially overlap</a:t>
            </a:r>
            <a:endParaRPr/>
          </a:p>
        </p:txBody>
      </p:sp>
      <p:sp>
        <p:nvSpPr>
          <p:cNvPr id="327" name="Google Shape;327;p21"/>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2E4556"/>
                </a:solidFill>
                <a:latin typeface="Arial"/>
                <a:ea typeface="Arial"/>
                <a:cs typeface="Arial"/>
                <a:sym typeface="Arial"/>
              </a:rPr>
              <a:t>Acoustic overlap</a:t>
            </a:r>
            <a:r>
              <a:rPr b="0" i="0" lang="en-US" sz="1600" u="none" cap="none" strike="noStrike">
                <a:solidFill>
                  <a:srgbClr val="000000"/>
                </a:solidFill>
                <a:latin typeface="Arial"/>
                <a:ea typeface="Arial"/>
                <a:cs typeface="Arial"/>
                <a:sym typeface="Arial"/>
              </a:rPr>
              <a:t> occurs when different eliciting contexts produce similar ranges of measured call features. In the male data, some low-frequency calls occurred during both eagle and snake encounters. The published clusters therefore did not correspond perfectly to three mutually exclusive predator categories.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Mean male element duration was 76.5 ms for aerial calls, 61.1 ms for snake calls and 112.0 ms for terrestrial calls. Male peak frequencies averaged 1090 Hz, 1639 Hz and 1904 Hz respectively. Duration and frequency jointly described these contrasts.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Differences in average values do not make every individual call unambiguous. A listener may integrate several features and additional environmental information. These recordings establish distributions of production, while recipient-specific playback experiments are needed to determine how ambiguity affects defensive behavior in a particular setting.</a:t>
            </a:r>
            <a:endParaRPr/>
          </a:p>
        </p:txBody>
      </p:sp>
      <p:pic>
        <p:nvPicPr>
          <p:cNvPr descr="P15_2A.png" id="328" name="Google Shape;328;p21"/>
          <p:cNvPicPr preferRelativeResize="0"/>
          <p:nvPr/>
        </p:nvPicPr>
        <p:blipFill rotWithShape="1">
          <a:blip r:embed="rId3">
            <a:alphaModFix/>
          </a:blip>
          <a:srcRect b="0" l="0" r="0" t="0"/>
          <a:stretch/>
        </p:blipFill>
        <p:spPr>
          <a:xfrm>
            <a:off x="6321247" y="1280160"/>
            <a:ext cx="5303520" cy="2416504"/>
          </a:xfrm>
          <a:prstGeom prst="rect">
            <a:avLst/>
          </a:prstGeom>
          <a:noFill/>
          <a:ln>
            <a:noFill/>
          </a:ln>
        </p:spPr>
      </p:pic>
      <p:sp>
        <p:nvSpPr>
          <p:cNvPr id="329" name="Google Shape;329;p21"/>
          <p:cNvSpPr txBox="1"/>
          <p:nvPr/>
        </p:nvSpPr>
        <p:spPr>
          <a:xfrm>
            <a:off x="6321247" y="3788104"/>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2A. Acoustic clusters of male predator calls.</a:t>
            </a:r>
            <a:endParaRPr/>
          </a:p>
        </p:txBody>
      </p:sp>
      <p:sp>
        <p:nvSpPr>
          <p:cNvPr id="330" name="Google Shape;330;p21"/>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2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332" name="Google Shape;332;p2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21</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7" name="Shape 337"/>
        <p:cNvGrpSpPr/>
        <p:nvPr/>
      </p:nvGrpSpPr>
      <p:grpSpPr>
        <a:xfrm>
          <a:off x="0" y="0"/>
          <a:ext cx="0" cy="0"/>
          <a:chOff x="0" y="0"/>
          <a:chExt cx="0" cy="0"/>
        </a:xfrm>
      </p:grpSpPr>
      <p:sp>
        <p:nvSpPr>
          <p:cNvPr id="338" name="Google Shape;338;p2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Spectral bandwidth varies across male alarm contexts</a:t>
            </a:r>
            <a:endParaRPr/>
          </a:p>
        </p:txBody>
      </p:sp>
      <p:sp>
        <p:nvSpPr>
          <p:cNvPr id="339" name="Google Shape;339;p22"/>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2E4556"/>
                </a:solidFill>
                <a:latin typeface="Arial"/>
                <a:ea typeface="Arial"/>
                <a:cs typeface="Arial"/>
                <a:sym typeface="Arial"/>
              </a:rPr>
              <a:t>Frequency range</a:t>
            </a:r>
            <a:r>
              <a:rPr b="0" i="0" lang="en-US" sz="1500" u="none" cap="none" strike="noStrike">
                <a:solidFill>
                  <a:srgbClr val="000000"/>
                </a:solidFill>
                <a:latin typeface="Arial"/>
                <a:ea typeface="Arial"/>
                <a:cs typeface="Arial"/>
                <a:sym typeface="Arial"/>
              </a:rPr>
              <a:t> describes the span of acoustic frequencies represented in a measured call element. Price and colleagues compared this measure with temporal organization and energy distribution in male alarms. Their recorded calls differed by context across several dimensions rather than one isolated cue.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Reported mean frequency ranges were 1832 Hz for aerial calls, 4069 Hz for snake calls and 3794 Hz for terrestrial calls. The original spectrograms retain frequency and time scales, allowing these broad spectral differences to be related to their temporal pattern.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A broader range does not by itself mean greater threat intensity or a different semantic category. It is a physical feature of the sound. The study does not establish how auditory neurons weight bandwidth relative to other features, nor whether the recipient’s escape decision depends on this measure alone.</a:t>
            </a:r>
            <a:endParaRPr/>
          </a:p>
        </p:txBody>
      </p:sp>
      <p:pic>
        <p:nvPicPr>
          <p:cNvPr descr="P15_2B.png" id="340" name="Google Shape;340;p22"/>
          <p:cNvPicPr preferRelativeResize="0"/>
          <p:nvPr/>
        </p:nvPicPr>
        <p:blipFill rotWithShape="1">
          <a:blip r:embed="rId3">
            <a:alphaModFix/>
          </a:blip>
          <a:srcRect b="0" l="0" r="0" t="0"/>
          <a:stretch/>
        </p:blipFill>
        <p:spPr>
          <a:xfrm>
            <a:off x="6321247" y="1280160"/>
            <a:ext cx="5303520" cy="2411103"/>
          </a:xfrm>
          <a:prstGeom prst="rect">
            <a:avLst/>
          </a:prstGeom>
          <a:noFill/>
          <a:ln>
            <a:noFill/>
          </a:ln>
        </p:spPr>
      </p:pic>
      <p:sp>
        <p:nvSpPr>
          <p:cNvPr id="341" name="Google Shape;341;p22"/>
          <p:cNvSpPr txBox="1"/>
          <p:nvPr/>
        </p:nvSpPr>
        <p:spPr>
          <a:xfrm>
            <a:off x="6321247" y="3782703"/>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2B. Male alarm calls grouped by predator context.</a:t>
            </a:r>
            <a:endParaRPr/>
          </a:p>
        </p:txBody>
      </p:sp>
      <p:sp>
        <p:nvSpPr>
          <p:cNvPr id="342" name="Google Shape;342;p22"/>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2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344" name="Google Shape;344;p2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9" name="Shape 349"/>
        <p:cNvGrpSpPr/>
        <p:nvPr/>
      </p:nvGrpSpPr>
      <p:grpSpPr>
        <a:xfrm>
          <a:off x="0" y="0"/>
          <a:ext cx="0" cy="0"/>
          <a:chOff x="0" y="0"/>
          <a:chExt cx="0" cy="0"/>
        </a:xfrm>
      </p:grpSpPr>
      <p:sp>
        <p:nvSpPr>
          <p:cNvPr id="350" name="Google Shape;350;p2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Classifier separation is not a listener experiment</a:t>
            </a:r>
            <a:endParaRPr/>
          </a:p>
        </p:txBody>
      </p:sp>
      <p:sp>
        <p:nvSpPr>
          <p:cNvPr id="351" name="Google Shape;351;p23"/>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An </a:t>
            </a:r>
            <a:r>
              <a:rPr b="1" i="0" lang="en-US" sz="1500" u="none" cap="none" strike="noStrike">
                <a:solidFill>
                  <a:srgbClr val="2E4556"/>
                </a:solidFill>
                <a:latin typeface="Arial"/>
                <a:ea typeface="Arial"/>
                <a:cs typeface="Arial"/>
                <a:sym typeface="Arial"/>
              </a:rPr>
              <a:t>acoustic classifier</a:t>
            </a:r>
            <a:r>
              <a:rPr b="0" i="0" lang="en-US" sz="1500" u="none" cap="none" strike="noStrike">
                <a:solidFill>
                  <a:srgbClr val="000000"/>
                </a:solidFill>
                <a:latin typeface="Arial"/>
                <a:ea typeface="Arial"/>
                <a:cs typeface="Arial"/>
                <a:sym typeface="Arial"/>
              </a:rPr>
              <a:t> assigns recordings to groups using measured features. Price and colleagues evaluated predator-context separation in male calls using acoustic measurements, with checks that reduced the possibility that caller identity alone explained the result. This is an analysis of recordings, not a playback test.</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figure represents calls associated with aerial, snake and terrestrial encounters. Source spectrograms have 0.2 s scales and frequency axes in kHz. Terrestrial-associated male calls separated more clearly, while some snake and aerial recordings occupied overlapping portions of acoustic space.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A computer’s ability to classify calls establishes available information under the chosen measurements. It does not prove that a monkey extracts the same features or recognizes identical categories. Behavioral responses and neural recordings address different stages between acoustic information and an inferred external event.</a:t>
            </a:r>
            <a:endParaRPr/>
          </a:p>
        </p:txBody>
      </p:sp>
      <p:pic>
        <p:nvPicPr>
          <p:cNvPr descr="P15_2B.png" id="352" name="Google Shape;352;p23"/>
          <p:cNvPicPr preferRelativeResize="0"/>
          <p:nvPr/>
        </p:nvPicPr>
        <p:blipFill rotWithShape="1">
          <a:blip r:embed="rId3">
            <a:alphaModFix/>
          </a:blip>
          <a:srcRect b="0" l="0" r="0" t="0"/>
          <a:stretch/>
        </p:blipFill>
        <p:spPr>
          <a:xfrm>
            <a:off x="6321247" y="1280160"/>
            <a:ext cx="5303520" cy="2411103"/>
          </a:xfrm>
          <a:prstGeom prst="rect">
            <a:avLst/>
          </a:prstGeom>
          <a:noFill/>
          <a:ln>
            <a:noFill/>
          </a:ln>
        </p:spPr>
      </p:pic>
      <p:sp>
        <p:nvSpPr>
          <p:cNvPr id="353" name="Google Shape;353;p23"/>
          <p:cNvSpPr txBox="1"/>
          <p:nvPr/>
        </p:nvSpPr>
        <p:spPr>
          <a:xfrm>
            <a:off x="6321247" y="3782703"/>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2B. Male alarm calls grouped by predator context.</a:t>
            </a:r>
            <a:endParaRPr/>
          </a:p>
        </p:txBody>
      </p:sp>
      <p:sp>
        <p:nvSpPr>
          <p:cNvPr id="354" name="Google Shape;354;p23"/>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5" name="Google Shape;355;p2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356" name="Google Shape;356;p2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sp>
        <p:nvSpPr>
          <p:cNvPr id="362" name="Google Shape;362;p2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Male barks also occur during social conflict</a:t>
            </a:r>
            <a:endParaRPr/>
          </a:p>
        </p:txBody>
      </p:sp>
      <p:sp>
        <p:nvSpPr>
          <p:cNvPr id="363" name="Google Shape;363;p24"/>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2E4556"/>
                </a:solidFill>
                <a:latin typeface="Arial"/>
                <a:ea typeface="Arial"/>
                <a:cs typeface="Arial"/>
                <a:sym typeface="Arial"/>
              </a:rPr>
              <a:t>Barks</a:t>
            </a:r>
            <a:r>
              <a:rPr b="0" i="0" lang="en-US" sz="1500" u="none" cap="none" strike="noStrike">
                <a:solidFill>
                  <a:srgbClr val="000000"/>
                </a:solidFill>
                <a:latin typeface="Arial"/>
                <a:ea typeface="Arial"/>
                <a:cs typeface="Arial"/>
                <a:sym typeface="Arial"/>
              </a:rPr>
              <a:t> are a male call form associated with terrestrial threats but also with antagonistic interactions. Price and colleagues examined South African recordings from real leopard encounters, leopard-model presentations and social aggression. These contexts produced overlapping acoustic distributions.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source pairs representative waveforms’ spectral patterns with a distribution of acoustic scores. The spectrograms retain a 0.2 s reference scale. Calls to real leopards were more similar to aggressive barks than calls elicited by leopard models were, within the available recordings.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A bark therefore does not guarantee that a leopard is present. Recipients can still use it as information about a relevant event or state. The distinction matters for claims of production specificity: an exclusively predator-linked interpretation would omit naturally occurring social uses of the same general call form.</a:t>
            </a:r>
            <a:endParaRPr/>
          </a:p>
        </p:txBody>
      </p:sp>
      <p:pic>
        <p:nvPicPr>
          <p:cNvPr descr="P15_2C.png" id="364" name="Google Shape;364;p24"/>
          <p:cNvPicPr preferRelativeResize="0"/>
          <p:nvPr/>
        </p:nvPicPr>
        <p:blipFill rotWithShape="1">
          <a:blip r:embed="rId3">
            <a:alphaModFix/>
          </a:blip>
          <a:srcRect b="0" l="0" r="0" t="0"/>
          <a:stretch/>
        </p:blipFill>
        <p:spPr>
          <a:xfrm>
            <a:off x="6321247" y="1280160"/>
            <a:ext cx="5303520" cy="2117935"/>
          </a:xfrm>
          <a:prstGeom prst="rect">
            <a:avLst/>
          </a:prstGeom>
          <a:noFill/>
          <a:ln>
            <a:noFill/>
          </a:ln>
        </p:spPr>
      </p:pic>
      <p:sp>
        <p:nvSpPr>
          <p:cNvPr id="365" name="Google Shape;365;p24"/>
          <p:cNvSpPr txBox="1"/>
          <p:nvPr/>
        </p:nvSpPr>
        <p:spPr>
          <a:xfrm>
            <a:off x="6321247" y="3489535"/>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2C. South African male barks to real leopards, models and aggression.</a:t>
            </a:r>
            <a:endParaRPr/>
          </a:p>
        </p:txBody>
      </p:sp>
      <p:sp>
        <p:nvSpPr>
          <p:cNvPr id="366" name="Google Shape;366;p24"/>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7" name="Google Shape;367;p2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368" name="Google Shape;368;p2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p2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External events and caller state can both shape calls</a:t>
            </a:r>
            <a:endParaRPr/>
          </a:p>
        </p:txBody>
      </p:sp>
      <p:sp>
        <p:nvSpPr>
          <p:cNvPr id="375" name="Google Shape;375;p25"/>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2E4556"/>
                </a:solidFill>
                <a:latin typeface="Arial"/>
                <a:ea typeface="Arial"/>
                <a:cs typeface="Arial"/>
                <a:sym typeface="Arial"/>
              </a:rPr>
              <a:t>Affective state</a:t>
            </a:r>
            <a:r>
              <a:rPr b="0" i="0" lang="en-US" sz="1500" u="none" cap="none" strike="noStrike">
                <a:solidFill>
                  <a:srgbClr val="000000"/>
                </a:solidFill>
                <a:latin typeface="Arial"/>
                <a:ea typeface="Arial"/>
                <a:cs typeface="Arial"/>
                <a:sym typeface="Arial"/>
              </a:rPr>
              <a:t> refers to an animal’s emotional or motivational condition. </a:t>
            </a:r>
            <a:r>
              <a:rPr b="1" i="0" lang="en-US" sz="1500" u="none" cap="none" strike="noStrike">
                <a:solidFill>
                  <a:srgbClr val="2E4556"/>
                </a:solidFill>
                <a:latin typeface="Arial"/>
                <a:ea typeface="Arial"/>
                <a:cs typeface="Arial"/>
                <a:sym typeface="Arial"/>
              </a:rPr>
              <a:t>Cognitive appraisal</a:t>
            </a:r>
            <a:r>
              <a:rPr b="0" i="0" lang="en-US" sz="1500" u="none" cap="none" strike="noStrike">
                <a:solidFill>
                  <a:srgbClr val="000000"/>
                </a:solidFill>
                <a:latin typeface="Arial"/>
                <a:ea typeface="Arial"/>
                <a:cs typeface="Arial"/>
                <a:sym typeface="Arial"/>
              </a:rPr>
              <a:t> concerns its evaluation of a situation. Price and colleagues proposed that both could contribute to call structure and use, because acoustically similar male barks occurred with predators and social aggression.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recorded distributions compare real leopard, model leopard and aggressive encounters; accompanying spectrograms preserve a 0.2 s timescale. Acoustic overlap is the measured finding. A shared internal state linking those contexts is a possible explanation, not something directly recorded in the callers.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Information about an external event and information about internal state need not be mutually exclusive. The study does not identify a neurotransmitter, receptor or ion channel mediating either contribution. A molecular mechanism cannot be inferred from call similarity or from the recipient’s response alone.</a:t>
            </a:r>
            <a:endParaRPr/>
          </a:p>
        </p:txBody>
      </p:sp>
      <p:pic>
        <p:nvPicPr>
          <p:cNvPr descr="P15_2C.png" id="376" name="Google Shape;376;p25"/>
          <p:cNvPicPr preferRelativeResize="0"/>
          <p:nvPr/>
        </p:nvPicPr>
        <p:blipFill rotWithShape="1">
          <a:blip r:embed="rId3">
            <a:alphaModFix/>
          </a:blip>
          <a:srcRect b="0" l="0" r="0" t="0"/>
          <a:stretch/>
        </p:blipFill>
        <p:spPr>
          <a:xfrm>
            <a:off x="6321247" y="1280160"/>
            <a:ext cx="5303520" cy="2117935"/>
          </a:xfrm>
          <a:prstGeom prst="rect">
            <a:avLst/>
          </a:prstGeom>
          <a:noFill/>
          <a:ln>
            <a:noFill/>
          </a:ln>
        </p:spPr>
      </p:pic>
      <p:sp>
        <p:nvSpPr>
          <p:cNvPr id="377" name="Google Shape;377;p25"/>
          <p:cNvSpPr txBox="1"/>
          <p:nvPr/>
        </p:nvSpPr>
        <p:spPr>
          <a:xfrm>
            <a:off x="6321247" y="3489535"/>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2C. South African male barks to real leopards, models and aggression.</a:t>
            </a:r>
            <a:endParaRPr/>
          </a:p>
        </p:txBody>
      </p:sp>
      <p:sp>
        <p:nvSpPr>
          <p:cNvPr id="378" name="Google Shape;378;p25"/>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9" name="Google Shape;379;p2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380" name="Google Shape;380;p2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5" name="Shape 385"/>
        <p:cNvGrpSpPr/>
        <p:nvPr/>
      </p:nvGrpSpPr>
      <p:grpSpPr>
        <a:xfrm>
          <a:off x="0" y="0"/>
          <a:ext cx="0" cy="0"/>
          <a:chOff x="0" y="0"/>
          <a:chExt cx="0" cy="0"/>
        </a:xfrm>
      </p:grpSpPr>
      <p:sp>
        <p:nvSpPr>
          <p:cNvPr id="386" name="Google Shape;386;p2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Sound controls isolate features of vocal signals</a:t>
            </a:r>
            <a:endParaRPr/>
          </a:p>
        </p:txBody>
      </p:sp>
      <p:sp>
        <p:nvSpPr>
          <p:cNvPr id="387" name="Google Shape;387;p26"/>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2E4556"/>
                </a:solidFill>
                <a:latin typeface="Arial"/>
                <a:ea typeface="Arial"/>
                <a:cs typeface="Arial"/>
                <a:sym typeface="Arial"/>
              </a:rPr>
              <a:t>Conspecific vocalizations</a:t>
            </a:r>
            <a:r>
              <a:rPr b="0" i="0" lang="en-US" sz="1500" u="none" cap="none" strike="noStrike">
                <a:solidFill>
                  <a:srgbClr val="000000"/>
                </a:solidFill>
                <a:latin typeface="Arial"/>
                <a:ea typeface="Arial"/>
                <a:cs typeface="Arial"/>
                <a:sym typeface="Arial"/>
              </a:rPr>
              <a:t> are calls produced by members of the listener’s own species. Ortiz-Rios and colleagues compared rhesus macaque calls with environmental sounds and scrambled calls during functional magnetic resonance imaging. These macaque experiments provide comparative neural evidence rather than direct recordings from vervets.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stimuli were arranged into 8 s sequences and presented at approximately 80 dB sound pressure level. Scrambling rearranged 200 ms sound segments across time and frequency while preserving substantial local acoustic structure. Environmental sounds supplied another class of complex natural sounds.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Comparing these conditions addresses whether activation reflects hearing complex sound or sensitivity to intact vocal patterns. None of the conditions tested vervet predator meanings. The measured responses concern macaque auditory processing, so a homology claim must remain separate from an identified vervet alarm-decoding circuit.</a:t>
            </a:r>
            <a:endParaRPr/>
          </a:p>
        </p:txBody>
      </p:sp>
      <p:pic>
        <p:nvPicPr>
          <p:cNvPr descr="O15_1C.png" id="388" name="Google Shape;388;p26"/>
          <p:cNvPicPr preferRelativeResize="0"/>
          <p:nvPr/>
        </p:nvPicPr>
        <p:blipFill rotWithShape="1">
          <a:blip r:embed="rId3">
            <a:alphaModFix/>
          </a:blip>
          <a:srcRect b="0" l="0" r="0" t="0"/>
          <a:stretch/>
        </p:blipFill>
        <p:spPr>
          <a:xfrm>
            <a:off x="7016148" y="1280160"/>
            <a:ext cx="3913717" cy="4297679"/>
          </a:xfrm>
          <a:prstGeom prst="rect">
            <a:avLst/>
          </a:prstGeom>
          <a:noFill/>
          <a:ln>
            <a:noFill/>
          </a:ln>
        </p:spPr>
      </p:pic>
      <p:sp>
        <p:nvSpPr>
          <p:cNvPr id="389" name="Google Shape;389;p26"/>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Ortiz-Rios et al. (2015), Fig. 1C. Environmental sounds, monkey calls and scrambled-call spectrograms.</a:t>
            </a:r>
            <a:endParaRPr/>
          </a:p>
        </p:txBody>
      </p:sp>
      <p:sp>
        <p:nvSpPr>
          <p:cNvPr id="390" name="Google Shape;390;p26"/>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1" name="Google Shape;391;p2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Ortiz-Rios et al. (2015)</a:t>
            </a:r>
            <a:endParaRPr/>
          </a:p>
        </p:txBody>
      </p:sp>
      <p:sp>
        <p:nvSpPr>
          <p:cNvPr id="392" name="Google Shape;392;p2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7" name="Shape 397"/>
        <p:cNvGrpSpPr/>
        <p:nvPr/>
      </p:nvGrpSpPr>
      <p:grpSpPr>
        <a:xfrm>
          <a:off x="0" y="0"/>
          <a:ext cx="0" cy="0"/>
          <a:chOff x="0" y="0"/>
          <a:chExt cx="0" cy="0"/>
        </a:xfrm>
      </p:grpSpPr>
      <p:sp>
        <p:nvSpPr>
          <p:cNvPr id="398" name="Google Shape;398;p2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Sparse MRI sampling separates sound from scanner noise</a:t>
            </a:r>
            <a:endParaRPr/>
          </a:p>
        </p:txBody>
      </p:sp>
      <p:sp>
        <p:nvSpPr>
          <p:cNvPr id="399" name="Google Shape;399;p27"/>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2E4556"/>
                </a:solidFill>
                <a:latin typeface="Arial"/>
                <a:ea typeface="Arial"/>
                <a:cs typeface="Arial"/>
                <a:sym typeface="Arial"/>
              </a:rPr>
              <a:t>Functional MRI</a:t>
            </a:r>
            <a:r>
              <a:rPr b="0" i="0" lang="en-US" sz="1500" u="none" cap="none" strike="noStrike">
                <a:solidFill>
                  <a:srgbClr val="000000"/>
                </a:solidFill>
                <a:latin typeface="Arial"/>
                <a:ea typeface="Arial"/>
                <a:cs typeface="Arial"/>
                <a:sym typeface="Arial"/>
              </a:rPr>
              <a:t> measures changes associated with blood oxygenation rather than individual neuronal spikes. Scanner operation itself generates sound. Ortiz-Rios and colleagues used </a:t>
            </a:r>
            <a:r>
              <a:rPr b="1" i="0" lang="en-US" sz="1500" u="none" cap="none" strike="noStrike">
                <a:solidFill>
                  <a:srgbClr val="2E4556"/>
                </a:solidFill>
                <a:latin typeface="Arial"/>
                <a:ea typeface="Arial"/>
                <a:cs typeface="Arial"/>
                <a:sym typeface="Arial"/>
              </a:rPr>
              <a:t>sparse sampling</a:t>
            </a:r>
            <a:r>
              <a:rPr b="0" i="0" lang="en-US" sz="1500" u="none" cap="none" strike="noStrike">
                <a:solidFill>
                  <a:srgbClr val="000000"/>
                </a:solidFill>
                <a:latin typeface="Arial"/>
                <a:ea typeface="Arial"/>
                <a:cs typeface="Arial"/>
                <a:sym typeface="Arial"/>
              </a:rPr>
              <a:t>, leaving intervals for acoustic stimulation before acquiring an image volume, to reduce interference from scanner noise.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Acquisition began 6 s after stimulus onset; each image volume took 2.18 s. Sound conditions alternated with silence trials. One macaque performed an auditory task with eye movements, while another listened during maintained fixation, allowing attention-related differences to remain visible as a limitation.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delayed imaging response can localize sound-sensitive regions but cannot resolve the millisecond timing of a particular alarm decision. A blood-oxygenation contrast also does not identify synaptic sign, transmitter release or receptor activation. Those mechanisms require measurements beyond this imaging preparation.</a:t>
            </a:r>
            <a:endParaRPr/>
          </a:p>
        </p:txBody>
      </p:sp>
      <p:pic>
        <p:nvPicPr>
          <p:cNvPr descr="O15_1AB.png" id="400" name="Google Shape;400;p27"/>
          <p:cNvPicPr preferRelativeResize="0"/>
          <p:nvPr/>
        </p:nvPicPr>
        <p:blipFill rotWithShape="1">
          <a:blip r:embed="rId3">
            <a:alphaModFix/>
          </a:blip>
          <a:srcRect b="0" l="0" r="0" t="0"/>
          <a:stretch/>
        </p:blipFill>
        <p:spPr>
          <a:xfrm>
            <a:off x="6321247" y="1280160"/>
            <a:ext cx="5303520" cy="1431950"/>
          </a:xfrm>
          <a:prstGeom prst="rect">
            <a:avLst/>
          </a:prstGeom>
          <a:noFill/>
          <a:ln>
            <a:noFill/>
          </a:ln>
        </p:spPr>
      </p:pic>
      <p:sp>
        <p:nvSpPr>
          <p:cNvPr id="401" name="Google Shape;401;p27"/>
          <p:cNvSpPr txBox="1"/>
          <p:nvPr/>
        </p:nvSpPr>
        <p:spPr>
          <a:xfrm>
            <a:off x="6321247" y="2803550"/>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Ortiz-Rios et al. (2015), Fig. 1A–B. Auditory task and sparse MRI acquisition timing.</a:t>
            </a:r>
            <a:endParaRPr/>
          </a:p>
        </p:txBody>
      </p:sp>
      <p:sp>
        <p:nvSpPr>
          <p:cNvPr id="402" name="Google Shape;402;p27"/>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3" name="Google Shape;403;p2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Ortiz-Rios et al. (2015)</a:t>
            </a:r>
            <a:endParaRPr/>
          </a:p>
        </p:txBody>
      </p:sp>
      <p:sp>
        <p:nvSpPr>
          <p:cNvPr id="404" name="Google Shape;404;p2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27</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9" name="Shape 409"/>
        <p:cNvGrpSpPr/>
        <p:nvPr/>
      </p:nvGrpSpPr>
      <p:grpSpPr>
        <a:xfrm>
          <a:off x="0" y="0"/>
          <a:ext cx="0" cy="0"/>
          <a:chOff x="0" y="0"/>
          <a:chExt cx="0" cy="0"/>
        </a:xfrm>
      </p:grpSpPr>
      <p:sp>
        <p:nvSpPr>
          <p:cNvPr id="410" name="Google Shape;410;p2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Sound-sensitive regions span the ascending pathway</a:t>
            </a:r>
            <a:endParaRPr/>
          </a:p>
        </p:txBody>
      </p:sp>
      <p:sp>
        <p:nvSpPr>
          <p:cNvPr id="411" name="Google Shape;411;p28"/>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The </a:t>
            </a:r>
            <a:r>
              <a:rPr b="1" i="0" lang="en-US" sz="1500" u="none" cap="none" strike="noStrike">
                <a:solidFill>
                  <a:srgbClr val="2E4556"/>
                </a:solidFill>
                <a:latin typeface="Arial"/>
                <a:ea typeface="Arial"/>
                <a:cs typeface="Arial"/>
                <a:sym typeface="Arial"/>
              </a:rPr>
              <a:t>ascending auditory pathway</a:t>
            </a:r>
            <a:r>
              <a:rPr b="0" i="0" lang="en-US" sz="1500" u="none" cap="none" strike="noStrike">
                <a:solidFill>
                  <a:srgbClr val="000000"/>
                </a:solidFill>
                <a:latin typeface="Arial"/>
                <a:ea typeface="Arial"/>
                <a:cs typeface="Arial"/>
                <a:sym typeface="Arial"/>
              </a:rPr>
              <a:t> carries sound-related signals through brainstem, thalamic and cortical regions. In awake macaques, Ortiz-Rios and colleagues compared complex sounds with silence and localized activation using anatomical MRI sections. The maps include inferior colliculus, medial geniculate and auditory cortex.</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a:t>
            </a:r>
            <a:r>
              <a:rPr b="1" i="0" lang="en-US" sz="1500" u="none" cap="none" strike="noStrike">
                <a:solidFill>
                  <a:srgbClr val="2E4556"/>
                </a:solidFill>
                <a:latin typeface="Arial"/>
                <a:ea typeface="Arial"/>
                <a:cs typeface="Arial"/>
                <a:sym typeface="Arial"/>
              </a:rPr>
              <a:t>inferior colliculus</a:t>
            </a:r>
            <a:r>
              <a:rPr b="0" i="0" lang="en-US" sz="1500" u="none" cap="none" strike="noStrike">
                <a:solidFill>
                  <a:srgbClr val="000000"/>
                </a:solidFill>
                <a:latin typeface="Arial"/>
                <a:ea typeface="Arial"/>
                <a:cs typeface="Arial"/>
                <a:sym typeface="Arial"/>
              </a:rPr>
              <a:t> is a midbrain auditory region, and the </a:t>
            </a:r>
            <a:r>
              <a:rPr b="1" i="0" lang="en-US" sz="1500" u="none" cap="none" strike="noStrike">
                <a:solidFill>
                  <a:srgbClr val="2E4556"/>
                </a:solidFill>
                <a:latin typeface="Arial"/>
                <a:ea typeface="Arial"/>
                <a:cs typeface="Arial"/>
                <a:sym typeface="Arial"/>
              </a:rPr>
              <a:t>medial geniculate nucleus</a:t>
            </a:r>
            <a:r>
              <a:rPr b="0" i="0" lang="en-US" sz="1500" u="none" cap="none" strike="noStrike">
                <a:solidFill>
                  <a:srgbClr val="000000"/>
                </a:solidFill>
                <a:latin typeface="Arial"/>
                <a:ea typeface="Arial"/>
                <a:cs typeface="Arial"/>
                <a:sym typeface="Arial"/>
              </a:rPr>
              <a:t> is the auditory thalamic relay. Functional images used voxels measuring 1.5 × 1.5 × 1.9 mm. Activation at that scale combines signals from many cells and their associated vasculature.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These regions responded to several complex-sound categories, not exclusively to meaningful calls. Their participation provides anatomical context for signal reception. The imaging study did not trace a serial synaptic chain from a vervet alarm to an escape response or measure activity in identified defensive motor neurons.</a:t>
            </a:r>
            <a:endParaRPr/>
          </a:p>
        </p:txBody>
      </p:sp>
      <p:pic>
        <p:nvPicPr>
          <p:cNvPr descr="O15_2B.png" id="412" name="Google Shape;412;p28"/>
          <p:cNvPicPr preferRelativeResize="0"/>
          <p:nvPr/>
        </p:nvPicPr>
        <p:blipFill rotWithShape="1">
          <a:blip r:embed="rId3">
            <a:alphaModFix/>
          </a:blip>
          <a:srcRect b="0" l="0" r="0" t="0"/>
          <a:stretch/>
        </p:blipFill>
        <p:spPr>
          <a:xfrm>
            <a:off x="6321247" y="1280160"/>
            <a:ext cx="5303519" cy="2266827"/>
          </a:xfrm>
          <a:prstGeom prst="rect">
            <a:avLst/>
          </a:prstGeom>
          <a:noFill/>
          <a:ln>
            <a:noFill/>
          </a:ln>
        </p:spPr>
      </p:pic>
      <p:sp>
        <p:nvSpPr>
          <p:cNvPr id="413" name="Google Shape;413;p28"/>
          <p:cNvSpPr txBox="1"/>
          <p:nvPr/>
        </p:nvSpPr>
        <p:spPr>
          <a:xfrm>
            <a:off x="6321247" y="3638427"/>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Ortiz-Rios et al. (2015), Fig. 2B. Anatomical MRI sections through activated auditory regions.</a:t>
            </a:r>
            <a:endParaRPr/>
          </a:p>
        </p:txBody>
      </p:sp>
      <p:sp>
        <p:nvSpPr>
          <p:cNvPr id="414" name="Google Shape;414;p28"/>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5" name="Google Shape;415;p2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Ortiz-Rios et al. (2015)</a:t>
            </a:r>
            <a:endParaRPr/>
          </a:p>
        </p:txBody>
      </p:sp>
      <p:sp>
        <p:nvSpPr>
          <p:cNvPr id="416" name="Google Shape;416;p2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28</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1" name="Shape 421"/>
        <p:cNvGrpSpPr/>
        <p:nvPr/>
      </p:nvGrpSpPr>
      <p:grpSpPr>
        <a:xfrm>
          <a:off x="0" y="0"/>
          <a:ext cx="0" cy="0"/>
          <a:chOff x="0" y="0"/>
          <a:chExt cx="0" cy="0"/>
        </a:xfrm>
      </p:grpSpPr>
      <p:sp>
        <p:nvSpPr>
          <p:cNvPr id="422" name="Google Shape;422;p2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Auditory cortical activation extends beyond primary cortex</a:t>
            </a:r>
            <a:endParaRPr/>
          </a:p>
        </p:txBody>
      </p:sp>
      <p:sp>
        <p:nvSpPr>
          <p:cNvPr id="423" name="Google Shape;423;p29"/>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2E4556"/>
                </a:solidFill>
                <a:latin typeface="Arial"/>
                <a:ea typeface="Arial"/>
                <a:cs typeface="Arial"/>
                <a:sym typeface="Arial"/>
              </a:rPr>
              <a:t>Primary auditory cortex</a:t>
            </a:r>
            <a:r>
              <a:rPr b="0" i="0" lang="en-US" sz="1500" u="none" cap="none" strike="noStrike">
                <a:solidFill>
                  <a:srgbClr val="000000"/>
                </a:solidFill>
                <a:latin typeface="Arial"/>
                <a:ea typeface="Arial"/>
                <a:cs typeface="Arial"/>
                <a:sym typeface="Arial"/>
              </a:rPr>
              <a:t>, also called A1, is a cortical region receiving substantial ascending auditory input. </a:t>
            </a:r>
            <a:r>
              <a:rPr b="1" i="0" lang="en-US" sz="1500" u="none" cap="none" strike="noStrike">
                <a:solidFill>
                  <a:srgbClr val="2E4556"/>
                </a:solidFill>
                <a:latin typeface="Arial"/>
                <a:ea typeface="Arial"/>
                <a:cs typeface="Arial"/>
                <a:sym typeface="Arial"/>
              </a:rPr>
              <a:t>Belt</a:t>
            </a:r>
            <a:r>
              <a:rPr b="0" i="0" lang="en-US" sz="1500" u="none" cap="none" strike="noStrike">
                <a:solidFill>
                  <a:srgbClr val="000000"/>
                </a:solidFill>
                <a:latin typeface="Arial"/>
                <a:ea typeface="Arial"/>
                <a:cs typeface="Arial"/>
                <a:sym typeface="Arial"/>
              </a:rPr>
              <a:t> and </a:t>
            </a:r>
            <a:r>
              <a:rPr b="1" i="0" lang="en-US" sz="1500" u="none" cap="none" strike="noStrike">
                <a:solidFill>
                  <a:srgbClr val="2E4556"/>
                </a:solidFill>
                <a:latin typeface="Arial"/>
                <a:ea typeface="Arial"/>
                <a:cs typeface="Arial"/>
                <a:sym typeface="Arial"/>
              </a:rPr>
              <a:t>parabelt</a:t>
            </a:r>
            <a:r>
              <a:rPr b="0" i="0" lang="en-US" sz="1500" u="none" cap="none" strike="noStrike">
                <a:solidFill>
                  <a:srgbClr val="000000"/>
                </a:solidFill>
                <a:latin typeface="Arial"/>
                <a:ea typeface="Arial"/>
                <a:cs typeface="Arial"/>
                <a:sym typeface="Arial"/>
              </a:rPr>
              <a:t> designate adjoining auditory cortical regions. Ortiz-Rios and colleagues mapped complex-sound activation onto anatomical surfaces and found responses across these auditory territories.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comparison used 8 s sound sequences and silence trials, so widespread activation reflects auditory stimulation before any stronger claim of vocal selectivity. Responses also extended along the superior temporal gyrus, a cortical ridge containing auditory and auditory-associated areas.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An anatomical activation map identifies where a measured response occurs. It does not prove that each colored region performs the same computation or that activation propagates in a fixed order. Selectivity for intact calls requires additional comparisons against appropriately matched non-call or scrambled-call controls.</a:t>
            </a:r>
            <a:endParaRPr/>
          </a:p>
        </p:txBody>
      </p:sp>
      <p:pic>
        <p:nvPicPr>
          <p:cNvPr descr="O15_2A.png" id="424" name="Google Shape;424;p29"/>
          <p:cNvPicPr preferRelativeResize="0"/>
          <p:nvPr/>
        </p:nvPicPr>
        <p:blipFill rotWithShape="1">
          <a:blip r:embed="rId3">
            <a:alphaModFix/>
          </a:blip>
          <a:srcRect b="0" l="0" r="0" t="0"/>
          <a:stretch/>
        </p:blipFill>
        <p:spPr>
          <a:xfrm>
            <a:off x="6321247" y="1280160"/>
            <a:ext cx="5303520" cy="1703632"/>
          </a:xfrm>
          <a:prstGeom prst="rect">
            <a:avLst/>
          </a:prstGeom>
          <a:noFill/>
          <a:ln>
            <a:noFill/>
          </a:ln>
        </p:spPr>
      </p:pic>
      <p:sp>
        <p:nvSpPr>
          <p:cNvPr id="425" name="Google Shape;425;p29"/>
          <p:cNvSpPr txBox="1"/>
          <p:nvPr/>
        </p:nvSpPr>
        <p:spPr>
          <a:xfrm>
            <a:off x="6321247" y="3075232"/>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Ortiz-Rios et al. (2015), Fig. 2A. Auditory activation on anatomical cortical surfaces.</a:t>
            </a:r>
            <a:endParaRPr/>
          </a:p>
        </p:txBody>
      </p:sp>
      <p:sp>
        <p:nvSpPr>
          <p:cNvPr id="426" name="Google Shape;426;p29"/>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7" name="Google Shape;427;p2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Ortiz-Rios et al. (2015)</a:t>
            </a:r>
            <a:endParaRPr/>
          </a:p>
        </p:txBody>
      </p:sp>
      <p:sp>
        <p:nvSpPr>
          <p:cNvPr id="428" name="Google Shape;428;p2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29</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3" name="Shape 433"/>
        <p:cNvGrpSpPr/>
        <p:nvPr/>
      </p:nvGrpSpPr>
      <p:grpSpPr>
        <a:xfrm>
          <a:off x="0" y="0"/>
          <a:ext cx="0" cy="0"/>
          <a:chOff x="0" y="0"/>
          <a:chExt cx="0" cy="0"/>
        </a:xfrm>
      </p:grpSpPr>
      <p:sp>
        <p:nvSpPr>
          <p:cNvPr id="434" name="Google Shape;434;p3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Hemispheric response differences depend on the contrast</a:t>
            </a:r>
            <a:endParaRPr/>
          </a:p>
        </p:txBody>
      </p:sp>
      <p:sp>
        <p:nvSpPr>
          <p:cNvPr id="435" name="Google Shape;435;p30"/>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2E4556"/>
                </a:solidFill>
                <a:latin typeface="Arial"/>
                <a:ea typeface="Arial"/>
                <a:cs typeface="Arial"/>
                <a:sym typeface="Arial"/>
              </a:rPr>
              <a:t>Hemispheric lateralization</a:t>
            </a:r>
            <a:r>
              <a:rPr b="0" i="0" lang="en-US" sz="1500" u="none" cap="none" strike="noStrike">
                <a:solidFill>
                  <a:srgbClr val="000000"/>
                </a:solidFill>
                <a:latin typeface="Arial"/>
                <a:ea typeface="Arial"/>
                <a:cs typeface="Arial"/>
                <a:sym typeface="Arial"/>
              </a:rPr>
              <a:t> is an unequal contribution or measured response between the two sides of the brain. Ortiz-Rios and colleagues compared auditory activation in both macaque hemispheres using anatomical sections and regional blood-oxygenation responses rather than inferring dominance from one visible activation patch.</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Both animals had a larger response to complex sounds in the right hemisphere in this preparation. The sounds were calibrated to approximately 80 dB sound pressure level, and silence trials provided the baseline. The observation applied to the tested sound set and imaging conditions.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This difference is not evidence that the right hemisphere alone understands alarms or that a vervet’s semantic decisions have the same lateralization. Attention differed between animals, and contrasts can emphasize different components of processing. Regional response magnitude and behavioral necessity are separate empirical questions.</a:t>
            </a:r>
            <a:endParaRPr/>
          </a:p>
        </p:txBody>
      </p:sp>
      <p:pic>
        <p:nvPicPr>
          <p:cNvPr descr="O15_2B.png" id="436" name="Google Shape;436;p30"/>
          <p:cNvPicPr preferRelativeResize="0"/>
          <p:nvPr/>
        </p:nvPicPr>
        <p:blipFill rotWithShape="1">
          <a:blip r:embed="rId3">
            <a:alphaModFix/>
          </a:blip>
          <a:srcRect b="0" l="0" r="0" t="0"/>
          <a:stretch/>
        </p:blipFill>
        <p:spPr>
          <a:xfrm>
            <a:off x="6321247" y="1280160"/>
            <a:ext cx="5303519" cy="2266827"/>
          </a:xfrm>
          <a:prstGeom prst="rect">
            <a:avLst/>
          </a:prstGeom>
          <a:noFill/>
          <a:ln>
            <a:noFill/>
          </a:ln>
        </p:spPr>
      </p:pic>
      <p:sp>
        <p:nvSpPr>
          <p:cNvPr id="437" name="Google Shape;437;p30"/>
          <p:cNvSpPr txBox="1"/>
          <p:nvPr/>
        </p:nvSpPr>
        <p:spPr>
          <a:xfrm>
            <a:off x="6321247" y="3638427"/>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Ortiz-Rios et al. (2015), Fig. 2B. Anatomical MRI sections through activated auditory regions.</a:t>
            </a:r>
            <a:endParaRPr/>
          </a:p>
        </p:txBody>
      </p:sp>
      <p:sp>
        <p:nvSpPr>
          <p:cNvPr id="438" name="Google Shape;438;p30"/>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9" name="Google Shape;439;p3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Ortiz-Rios et al. (2015)</a:t>
            </a:r>
            <a:endParaRPr/>
          </a:p>
        </p:txBody>
      </p:sp>
      <p:sp>
        <p:nvSpPr>
          <p:cNvPr id="440" name="Google Shape;440;p3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30</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5" name="Shape 445"/>
        <p:cNvGrpSpPr/>
        <p:nvPr/>
      </p:nvGrpSpPr>
      <p:grpSpPr>
        <a:xfrm>
          <a:off x="0" y="0"/>
          <a:ext cx="0" cy="0"/>
          <a:chOff x="0" y="0"/>
          <a:chExt cx="0" cy="0"/>
        </a:xfrm>
      </p:grpSpPr>
      <p:sp>
        <p:nvSpPr>
          <p:cNvPr id="446" name="Google Shape;446;p3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Anterior temporal regions prefer intact calls</a:t>
            </a:r>
            <a:endParaRPr/>
          </a:p>
        </p:txBody>
      </p:sp>
      <p:sp>
        <p:nvSpPr>
          <p:cNvPr id="447" name="Google Shape;447;p31"/>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The </a:t>
            </a:r>
            <a:r>
              <a:rPr b="1" i="0" lang="en-US" sz="1500" u="none" cap="none" strike="noStrike">
                <a:solidFill>
                  <a:srgbClr val="2E4556"/>
                </a:solidFill>
                <a:latin typeface="Arial"/>
                <a:ea typeface="Arial"/>
                <a:cs typeface="Arial"/>
                <a:sym typeface="Arial"/>
              </a:rPr>
              <a:t>superior temporal gyrus</a:t>
            </a:r>
            <a:r>
              <a:rPr b="0" i="0" lang="en-US" sz="1500" u="none" cap="none" strike="noStrike">
                <a:solidFill>
                  <a:srgbClr val="000000"/>
                </a:solidFill>
                <a:latin typeface="Arial"/>
                <a:ea typeface="Arial"/>
                <a:cs typeface="Arial"/>
                <a:sym typeface="Arial"/>
              </a:rPr>
              <a:t> contains auditory-associated cortex; its anterior portion lies toward the front of the temporal lobe. Ortiz-Rios and colleagues compared intact macaque calls with scrambled versions to ask where local acoustic similarity was insufficient to account for the imaging response.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Scrambling used 200 ms by one-octave acoustic tiles. An </a:t>
            </a:r>
            <a:r>
              <a:rPr b="1" i="0" lang="en-US" sz="1500" u="none" cap="none" strike="noStrike">
                <a:solidFill>
                  <a:srgbClr val="2E4556"/>
                </a:solidFill>
                <a:latin typeface="Arial"/>
                <a:ea typeface="Arial"/>
                <a:cs typeface="Arial"/>
                <a:sym typeface="Arial"/>
              </a:rPr>
              <a:t>octave</a:t>
            </a:r>
            <a:r>
              <a:rPr b="0" i="0" lang="en-US" sz="1500" u="none" cap="none" strike="noStrike">
                <a:solidFill>
                  <a:srgbClr val="000000"/>
                </a:solidFill>
                <a:latin typeface="Arial"/>
                <a:ea typeface="Arial"/>
                <a:cs typeface="Arial"/>
                <a:sym typeface="Arial"/>
              </a:rPr>
              <a:t> is a doubling or halving of frequency, here describing the spectral extent of each tile. Intact calls produced stronger responses in anterior temporal regions, including rostrotemporal areas, than these scrambled controls.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result supports sensitivity to the organized vocal pattern beyond some preserved local sound features. It does not identify a neuron representing a predator or prove understanding of a call’s referent. These were macaque vocalizations and regional imaging signals, not semantic tests of vervet alarm categories.</a:t>
            </a:r>
            <a:endParaRPr/>
          </a:p>
        </p:txBody>
      </p:sp>
      <p:pic>
        <p:nvPicPr>
          <p:cNvPr descr="O15_3B.png" id="448" name="Google Shape;448;p31"/>
          <p:cNvPicPr preferRelativeResize="0"/>
          <p:nvPr/>
        </p:nvPicPr>
        <p:blipFill rotWithShape="1">
          <a:blip r:embed="rId3">
            <a:alphaModFix/>
          </a:blip>
          <a:srcRect b="0" l="0" r="0" t="0"/>
          <a:stretch/>
        </p:blipFill>
        <p:spPr>
          <a:xfrm>
            <a:off x="6321247" y="1280160"/>
            <a:ext cx="5303519" cy="1016445"/>
          </a:xfrm>
          <a:prstGeom prst="rect">
            <a:avLst/>
          </a:prstGeom>
          <a:noFill/>
          <a:ln>
            <a:noFill/>
          </a:ln>
        </p:spPr>
      </p:pic>
      <p:sp>
        <p:nvSpPr>
          <p:cNvPr id="449" name="Google Shape;449;p31"/>
          <p:cNvSpPr txBox="1"/>
          <p:nvPr/>
        </p:nvSpPr>
        <p:spPr>
          <a:xfrm>
            <a:off x="6321247" y="2388045"/>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Ortiz-Rios et al. (2015), Fig. 3B. Call-versus-scrambled-call activation on anatomical cortical surfaces.</a:t>
            </a:r>
            <a:endParaRPr/>
          </a:p>
        </p:txBody>
      </p:sp>
      <p:sp>
        <p:nvSpPr>
          <p:cNvPr id="450" name="Google Shape;450;p31"/>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1" name="Google Shape;451;p3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Ortiz-Rios et al. (2015)</a:t>
            </a:r>
            <a:endParaRPr/>
          </a:p>
        </p:txBody>
      </p:sp>
      <p:sp>
        <p:nvSpPr>
          <p:cNvPr id="452" name="Google Shape;452;p3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7" name="Shape 457"/>
        <p:cNvGrpSpPr/>
        <p:nvPr/>
      </p:nvGrpSpPr>
      <p:grpSpPr>
        <a:xfrm>
          <a:off x="0" y="0"/>
          <a:ext cx="0" cy="0"/>
          <a:chOff x="0" y="0"/>
          <a:chExt cx="0" cy="0"/>
        </a:xfrm>
      </p:grpSpPr>
      <p:sp>
        <p:nvSpPr>
          <p:cNvPr id="458" name="Google Shape;458;p3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Frontal activation requires careful acoustic controls</a:t>
            </a:r>
            <a:endParaRPr/>
          </a:p>
        </p:txBody>
      </p:sp>
      <p:sp>
        <p:nvSpPr>
          <p:cNvPr id="459" name="Google Shape;459;p32"/>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2E4556"/>
                </a:solidFill>
                <a:latin typeface="Arial"/>
                <a:ea typeface="Arial"/>
                <a:cs typeface="Arial"/>
                <a:sym typeface="Arial"/>
              </a:rPr>
              <a:t>Ventrolateral prefrontal cortex</a:t>
            </a:r>
            <a:r>
              <a:rPr b="0" i="0" lang="en-US" sz="1500" u="none" cap="none" strike="noStrike">
                <a:solidFill>
                  <a:srgbClr val="000000"/>
                </a:solidFill>
                <a:latin typeface="Arial"/>
                <a:ea typeface="Arial"/>
                <a:cs typeface="Arial"/>
                <a:sym typeface="Arial"/>
              </a:rPr>
              <a:t> is a frontal cortical territory, and </a:t>
            </a:r>
            <a:r>
              <a:rPr b="1" i="0" lang="en-US" sz="1500" u="none" cap="none" strike="noStrike">
                <a:solidFill>
                  <a:srgbClr val="2E4556"/>
                </a:solidFill>
                <a:latin typeface="Arial"/>
                <a:ea typeface="Arial"/>
                <a:cs typeface="Arial"/>
                <a:sym typeface="Arial"/>
              </a:rPr>
              <a:t>ventral premotor cortex</a:t>
            </a:r>
            <a:r>
              <a:rPr b="0" i="0" lang="en-US" sz="1500" u="none" cap="none" strike="noStrike">
                <a:solidFill>
                  <a:srgbClr val="000000"/>
                </a:solidFill>
                <a:latin typeface="Arial"/>
                <a:ea typeface="Arial"/>
                <a:cs typeface="Arial"/>
                <a:sym typeface="Arial"/>
              </a:rPr>
              <a:t> participates in sensorimotor processing. Macaque imaging contrasts between calls and environmental sounds produced activation in portions of frontal and parietal cortex as well as temporal auditory regions.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environmental sounds were complex natural recordings, but their spectrotemporal patterns differed from calls. </a:t>
            </a:r>
            <a:r>
              <a:rPr b="1" i="0" lang="en-US" sz="1500" u="none" cap="none" strike="noStrike">
                <a:solidFill>
                  <a:srgbClr val="2E4556"/>
                </a:solidFill>
                <a:latin typeface="Arial"/>
                <a:ea typeface="Arial"/>
                <a:cs typeface="Arial"/>
                <a:sym typeface="Arial"/>
              </a:rPr>
              <a:t>Spectrotemporal structure</a:t>
            </a:r>
            <a:r>
              <a:rPr b="0" i="0" lang="en-US" sz="1500" u="none" cap="none" strike="noStrike">
                <a:solidFill>
                  <a:srgbClr val="000000"/>
                </a:solidFill>
                <a:latin typeface="Arial"/>
                <a:ea typeface="Arial"/>
                <a:cs typeface="Arial"/>
                <a:sym typeface="Arial"/>
              </a:rPr>
              <a:t> combines how acoustic energy varies across frequency and time. The authors’ 200 ms scrambling control preserved more of the calls’ local sound properties than environmental sounds did.</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Scrambled calls also activated some frontal and parietal regions, limiting a vocal-meaning interpretation of those contrasts. A response to a call can arise from acoustics, task demands or associated processing. Regional activation therefore does not establish a frontal semantic code or a causal contribution to vervet alarm comprehension.</a:t>
            </a:r>
            <a:endParaRPr/>
          </a:p>
        </p:txBody>
      </p:sp>
      <p:pic>
        <p:nvPicPr>
          <p:cNvPr descr="O15_3A.png" id="460" name="Google Shape;460;p32"/>
          <p:cNvPicPr preferRelativeResize="0"/>
          <p:nvPr/>
        </p:nvPicPr>
        <p:blipFill rotWithShape="1">
          <a:blip r:embed="rId3">
            <a:alphaModFix/>
          </a:blip>
          <a:srcRect b="0" l="0" r="0" t="0"/>
          <a:stretch/>
        </p:blipFill>
        <p:spPr>
          <a:xfrm>
            <a:off x="6321247" y="1280160"/>
            <a:ext cx="5303520" cy="1102861"/>
          </a:xfrm>
          <a:prstGeom prst="rect">
            <a:avLst/>
          </a:prstGeom>
          <a:noFill/>
          <a:ln>
            <a:noFill/>
          </a:ln>
        </p:spPr>
      </p:pic>
      <p:sp>
        <p:nvSpPr>
          <p:cNvPr id="461" name="Google Shape;461;p32"/>
          <p:cNvSpPr txBox="1"/>
          <p:nvPr/>
        </p:nvSpPr>
        <p:spPr>
          <a:xfrm>
            <a:off x="6321247" y="2474461"/>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Ortiz-Rios et al. (2015), Fig. 3A. Call-versus-environment activation on anatomical cortical surfaces.</a:t>
            </a:r>
            <a:endParaRPr/>
          </a:p>
        </p:txBody>
      </p:sp>
      <p:sp>
        <p:nvSpPr>
          <p:cNvPr id="462" name="Google Shape;462;p32"/>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3" name="Google Shape;463;p3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Ortiz-Rios et al. (2015)</a:t>
            </a:r>
            <a:endParaRPr/>
          </a:p>
        </p:txBody>
      </p:sp>
      <p:sp>
        <p:nvSpPr>
          <p:cNvPr id="464" name="Google Shape;464;p3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9" name="Shape 469"/>
        <p:cNvGrpSpPr/>
        <p:nvPr/>
      </p:nvGrpSpPr>
      <p:grpSpPr>
        <a:xfrm>
          <a:off x="0" y="0"/>
          <a:ext cx="0" cy="0"/>
          <a:chOff x="0" y="0"/>
          <a:chExt cx="0" cy="0"/>
        </a:xfrm>
      </p:grpSpPr>
      <p:sp>
        <p:nvSpPr>
          <p:cNvPr id="470" name="Google Shape;470;p3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Converging contrasts localize a narrower call preference</a:t>
            </a:r>
            <a:endParaRPr/>
          </a:p>
        </p:txBody>
      </p:sp>
      <p:sp>
        <p:nvSpPr>
          <p:cNvPr id="471" name="Google Shape;471;p33"/>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2E4556"/>
                </a:solidFill>
                <a:latin typeface="Arial"/>
                <a:ea typeface="Arial"/>
                <a:cs typeface="Arial"/>
                <a:sym typeface="Arial"/>
              </a:rPr>
              <a:t>conjunction analysis</a:t>
            </a:r>
            <a:r>
              <a:rPr b="0" i="0" lang="en-US" sz="1500" u="none" cap="none" strike="noStrike">
                <a:solidFill>
                  <a:srgbClr val="000000"/>
                </a:solidFill>
                <a:latin typeface="Arial"/>
                <a:ea typeface="Arial"/>
                <a:cs typeface="Arial"/>
                <a:sym typeface="Arial"/>
              </a:rPr>
              <a:t> identifies regions meeting more than one comparison, rather than accepting a result found with only one control. Ortiz-Rios and colleagues combined call-versus-environmental-sound and call-versus-scrambled-call comparisons, then examined convergence across the macaques.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strongest common result involved anterior temporal regions, including lateral rostrotemporal cortex and the rostrotemporal pole. Stimuli were presented as 8 s sequences, with image acquisition beginning after 6 s. The anatomical map localizes the blood-oxygenation response retained across these comparisons.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This convergence supports a narrower vocal-processing interpretation than the broader environmental-sound contrast alone. It still does not identify a molecular pathway, spike-timing code or predator representation. Comparative auditory specialization can constrain plausible explanations for communication without establishing the neural implementation of functional reference in wild vervets.</a:t>
            </a:r>
            <a:endParaRPr/>
          </a:p>
        </p:txBody>
      </p:sp>
      <p:pic>
        <p:nvPicPr>
          <p:cNvPr descr="O15_4B.png" id="472" name="Google Shape;472;p33"/>
          <p:cNvPicPr preferRelativeResize="0"/>
          <p:nvPr/>
        </p:nvPicPr>
        <p:blipFill rotWithShape="1">
          <a:blip r:embed="rId3">
            <a:alphaModFix/>
          </a:blip>
          <a:srcRect b="0" l="0" r="0" t="0"/>
          <a:stretch/>
        </p:blipFill>
        <p:spPr>
          <a:xfrm>
            <a:off x="6568543" y="1280160"/>
            <a:ext cx="4808928" cy="4297679"/>
          </a:xfrm>
          <a:prstGeom prst="rect">
            <a:avLst/>
          </a:prstGeom>
          <a:noFill/>
          <a:ln>
            <a:noFill/>
          </a:ln>
        </p:spPr>
      </p:pic>
      <p:sp>
        <p:nvSpPr>
          <p:cNvPr id="473" name="Google Shape;473;p33"/>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Ortiz-Rios et al. (2015), Fig. 4B. Call-selective anatomical regions shared across animals.</a:t>
            </a:r>
            <a:endParaRPr/>
          </a:p>
        </p:txBody>
      </p:sp>
      <p:sp>
        <p:nvSpPr>
          <p:cNvPr id="474" name="Google Shape;474;p33"/>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5" name="Google Shape;475;p3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Ortiz-Rios et al. (2015)</a:t>
            </a:r>
            <a:endParaRPr/>
          </a:p>
        </p:txBody>
      </p:sp>
      <p:sp>
        <p:nvSpPr>
          <p:cNvPr id="476" name="Google Shape;476;p3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1" name="Shape 481"/>
        <p:cNvGrpSpPr/>
        <p:nvPr/>
      </p:nvGrpSpPr>
      <p:grpSpPr>
        <a:xfrm>
          <a:off x="0" y="0"/>
          <a:ext cx="0" cy="0"/>
          <a:chOff x="0" y="0"/>
          <a:chExt cx="0" cy="0"/>
        </a:xfrm>
      </p:grpSpPr>
      <p:sp>
        <p:nvSpPr>
          <p:cNvPr id="482" name="Google Shape;482;p3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Green monkeys do not copy every vervet response</a:t>
            </a:r>
            <a:endParaRPr/>
          </a:p>
        </p:txBody>
      </p:sp>
      <p:sp>
        <p:nvSpPr>
          <p:cNvPr id="483" name="Google Shape;483;p34"/>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West African </a:t>
            </a:r>
            <a:r>
              <a:rPr b="1" i="0" lang="en-US" sz="1600" u="none" cap="none" strike="noStrike">
                <a:solidFill>
                  <a:srgbClr val="2E4556"/>
                </a:solidFill>
                <a:latin typeface="Arial"/>
                <a:ea typeface="Arial"/>
                <a:cs typeface="Arial"/>
                <a:sym typeface="Arial"/>
              </a:rPr>
              <a:t>green monkeys</a:t>
            </a:r>
            <a:r>
              <a:rPr b="0" i="0" lang="en-US" sz="1600" u="none" cap="none" strike="noStrike">
                <a:solidFill>
                  <a:srgbClr val="000000"/>
                </a:solidFill>
                <a:latin typeface="Arial"/>
                <a:ea typeface="Arial"/>
                <a:cs typeface="Arial"/>
                <a:sym typeface="Arial"/>
              </a:rPr>
              <a:t>, </a:t>
            </a:r>
            <a:r>
              <a:rPr b="0" i="1" lang="en-US" sz="1600" u="none" cap="none" strike="noStrike">
                <a:solidFill>
                  <a:srgbClr val="000000"/>
                </a:solidFill>
                <a:latin typeface="Arial"/>
                <a:ea typeface="Arial"/>
                <a:cs typeface="Arial"/>
                <a:sym typeface="Arial"/>
              </a:rPr>
              <a:t>Chlorocebus sabaeus</a:t>
            </a:r>
            <a:r>
              <a:rPr b="0" i="0" lang="en-US" sz="1600" u="none" cap="none" strike="noStrike">
                <a:solidFill>
                  <a:srgbClr val="000000"/>
                </a:solidFill>
                <a:latin typeface="Arial"/>
                <a:ea typeface="Arial"/>
                <a:cs typeface="Arial"/>
                <a:sym typeface="Arial"/>
              </a:rPr>
              <a:t>, are close relatives of vervets but a distinct species in this study. Price and Fischer presented leopard and snake models in Senegal and filmed the first 10 s of each subject’s response to the detected model.</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Leopard models elicited higher tree climbing than snake models. Standing bipedally occurred in both threat settings rather than being a uniquely snake-directed response. The researchers recorded movement and maximum height, separating refuge selection from posture and generalized inspection.</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Similar ancestry does not guarantee identical predator-response mappings. The model experiment established behaviors appropriate for interpreting this population’s subsequent playback responses. It does not justify assigning every posture the meaning reported in Amboseli vervets, nor does a model encounter fully reproduce the risk of an attacking predator.</a:t>
            </a:r>
            <a:endParaRPr/>
          </a:p>
        </p:txBody>
      </p:sp>
      <p:pic>
        <p:nvPicPr>
          <p:cNvPr descr="P14_1.png" id="484" name="Google Shape;484;p34"/>
          <p:cNvPicPr preferRelativeResize="0"/>
          <p:nvPr/>
        </p:nvPicPr>
        <p:blipFill rotWithShape="1">
          <a:blip r:embed="rId3">
            <a:alphaModFix/>
          </a:blip>
          <a:srcRect b="0" l="0" r="0" t="0"/>
          <a:stretch/>
        </p:blipFill>
        <p:spPr>
          <a:xfrm>
            <a:off x="6321247" y="1280160"/>
            <a:ext cx="5303520" cy="1776679"/>
          </a:xfrm>
          <a:prstGeom prst="rect">
            <a:avLst/>
          </a:prstGeom>
          <a:noFill/>
          <a:ln>
            <a:noFill/>
          </a:ln>
        </p:spPr>
      </p:pic>
      <p:sp>
        <p:nvSpPr>
          <p:cNvPr id="485" name="Google Shape;485;p34"/>
          <p:cNvSpPr txBox="1"/>
          <p:nvPr/>
        </p:nvSpPr>
        <p:spPr>
          <a:xfrm>
            <a:off x="6321247" y="3148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&amp; Fischer (2014), Fig. 1A–B. Responses to snake and leopard models, including tree height.</a:t>
            </a:r>
            <a:endParaRPr/>
          </a:p>
        </p:txBody>
      </p:sp>
      <p:sp>
        <p:nvSpPr>
          <p:cNvPr id="486" name="Google Shape;486;p34"/>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7" name="Google Shape;487;p3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&amp; Fischer (2014)</a:t>
            </a:r>
            <a:endParaRPr/>
          </a:p>
        </p:txBody>
      </p:sp>
      <p:sp>
        <p:nvSpPr>
          <p:cNvPr id="488" name="Google Shape;488;p3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34</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3" name="Shape 493"/>
        <p:cNvGrpSpPr/>
        <p:nvPr/>
      </p:nvGrpSpPr>
      <p:grpSpPr>
        <a:xfrm>
          <a:off x="0" y="0"/>
          <a:ext cx="0" cy="0"/>
          <a:chOff x="0" y="0"/>
          <a:chExt cx="0" cy="0"/>
        </a:xfrm>
      </p:grpSpPr>
      <p:sp>
        <p:nvSpPr>
          <p:cNvPr id="494" name="Google Shape;494;p3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Closely related monkeys use graded predator chirps</a:t>
            </a:r>
            <a:endParaRPr/>
          </a:p>
        </p:txBody>
      </p:sp>
      <p:sp>
        <p:nvSpPr>
          <p:cNvPr id="495" name="Google Shape;495;p35"/>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2E4556"/>
                </a:solidFill>
                <a:latin typeface="Arial"/>
                <a:ea typeface="Arial"/>
                <a:cs typeface="Arial"/>
                <a:sym typeface="Arial"/>
              </a:rPr>
              <a:t>chirp</a:t>
            </a:r>
            <a:r>
              <a:rPr b="0" i="0" lang="en-US" sz="1500" u="none" cap="none" strike="noStrike">
                <a:solidFill>
                  <a:srgbClr val="000000"/>
                </a:solidFill>
                <a:latin typeface="Arial"/>
                <a:ea typeface="Arial"/>
                <a:cs typeface="Arial"/>
                <a:sym typeface="Arial"/>
              </a:rPr>
              <a:t> is the call form examined in the green-monkey predator experiments. Females and juveniles produced chirps to both leopard and snake models. Price and Fischer constructed paired playback sequences using recordings from the two eliciting conditions rather than treating them as completely different call families.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spectrograms preserve time in seconds and frequency in kHz. Paired sequences were matched for chirp number, inter-call interval and overall sequence duration, with their intervals constrained to naturally occurring values. Recordings were also normalized before experimental broadcasting.</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These controls reduce explanations based solely on bout length or repeated-call number. Graded differences within chirps remained available to listeners. The preparation does not establish that a single acoustic dimension carries the predator distinction; frequency distribution and element duration varied together in the natural recordings.</a:t>
            </a:r>
            <a:endParaRPr/>
          </a:p>
        </p:txBody>
      </p:sp>
      <p:pic>
        <p:nvPicPr>
          <p:cNvPr descr="P14_2.png" id="496" name="Google Shape;496;p35"/>
          <p:cNvPicPr preferRelativeResize="0"/>
          <p:nvPr/>
        </p:nvPicPr>
        <p:blipFill rotWithShape="1">
          <a:blip r:embed="rId3">
            <a:alphaModFix/>
          </a:blip>
          <a:srcRect b="0" l="0" r="0" t="0"/>
          <a:stretch/>
        </p:blipFill>
        <p:spPr>
          <a:xfrm>
            <a:off x="6321247" y="1280160"/>
            <a:ext cx="5303520" cy="3970943"/>
          </a:xfrm>
          <a:prstGeom prst="rect">
            <a:avLst/>
          </a:prstGeom>
          <a:noFill/>
          <a:ln>
            <a:noFill/>
          </a:ln>
        </p:spPr>
      </p:pic>
      <p:sp>
        <p:nvSpPr>
          <p:cNvPr id="497" name="Google Shape;497;p35"/>
          <p:cNvSpPr txBox="1"/>
          <p:nvPr/>
        </p:nvSpPr>
        <p:spPr>
          <a:xfrm>
            <a:off x="6321247" y="5342543"/>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&amp; Fischer (2014), Fig. 2. Paired snake and leopard chirp spectrograms.</a:t>
            </a:r>
            <a:endParaRPr/>
          </a:p>
        </p:txBody>
      </p:sp>
      <p:sp>
        <p:nvSpPr>
          <p:cNvPr id="498" name="Google Shape;498;p35"/>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9" name="Google Shape;499;p3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&amp; Fischer (2014)</a:t>
            </a:r>
            <a:endParaRPr/>
          </a:p>
        </p:txBody>
      </p:sp>
      <p:sp>
        <p:nvSpPr>
          <p:cNvPr id="500" name="Google Shape;500;p3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35</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5" name="Shape 505"/>
        <p:cNvGrpSpPr/>
        <p:nvPr/>
      </p:nvGrpSpPr>
      <p:grpSpPr>
        <a:xfrm>
          <a:off x="0" y="0"/>
          <a:ext cx="0" cy="0"/>
          <a:chOff x="0" y="0"/>
          <a:chExt cx="0" cy="0"/>
        </a:xfrm>
      </p:grpSpPr>
      <p:sp>
        <p:nvSpPr>
          <p:cNvPr id="506" name="Google Shape;506;p3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Chirp distributions overlap across predator contexts</a:t>
            </a:r>
            <a:endParaRPr/>
          </a:p>
        </p:txBody>
      </p:sp>
      <p:sp>
        <p:nvSpPr>
          <p:cNvPr id="507" name="Google Shape;507;p36"/>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2E4556"/>
                </a:solidFill>
                <a:latin typeface="Arial"/>
                <a:ea typeface="Arial"/>
                <a:cs typeface="Arial"/>
                <a:sym typeface="Arial"/>
              </a:rPr>
              <a:t>Graded acoustic categories</a:t>
            </a:r>
            <a:r>
              <a:rPr b="0" i="0" lang="en-US" sz="1500" u="none" cap="none" strike="noStrike">
                <a:solidFill>
                  <a:srgbClr val="000000"/>
                </a:solidFill>
                <a:latin typeface="Arial"/>
                <a:ea typeface="Arial"/>
                <a:cs typeface="Arial"/>
                <a:sym typeface="Arial"/>
              </a:rPr>
              <a:t> can contain considerable overlap even when their average structures differ. Price and Fischer analyzed green-monkey chirps elicited by leopard and snake models. Duration and an early peak-frequency measure contributed strongly to separating the recordings.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Leopard-associated chirps were longer and had a higher early peak frequency than snake-associated chirps. The source analysis measured duration in milliseconds and frequency in Hz. Its score distributions overlapped rather than producing two completely separated groups of calls.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findings support physically detectable variation within one broad call form, not perfect production specificity. Overlap leaves some individual sounds ambiguous. Whether a recipient treats an intermediate chirp as a leopard threat, a snake threat or a reason to inspect depends on reception and decision processes not measured by this acoustic analysis alone.</a:t>
            </a:r>
            <a:endParaRPr/>
          </a:p>
        </p:txBody>
      </p:sp>
      <p:pic>
        <p:nvPicPr>
          <p:cNvPr descr="P14_3.png" id="508" name="Google Shape;508;p36"/>
          <p:cNvPicPr preferRelativeResize="0"/>
          <p:nvPr/>
        </p:nvPicPr>
        <p:blipFill rotWithShape="1">
          <a:blip r:embed="rId3">
            <a:alphaModFix/>
          </a:blip>
          <a:srcRect b="0" l="0" r="0" t="0"/>
          <a:stretch/>
        </p:blipFill>
        <p:spPr>
          <a:xfrm>
            <a:off x="6321247" y="1280160"/>
            <a:ext cx="5303520" cy="2875585"/>
          </a:xfrm>
          <a:prstGeom prst="rect">
            <a:avLst/>
          </a:prstGeom>
          <a:noFill/>
          <a:ln>
            <a:noFill/>
          </a:ln>
        </p:spPr>
      </p:pic>
      <p:sp>
        <p:nvSpPr>
          <p:cNvPr id="509" name="Google Shape;509;p36"/>
          <p:cNvSpPr txBox="1"/>
          <p:nvPr/>
        </p:nvSpPr>
        <p:spPr>
          <a:xfrm>
            <a:off x="6321247" y="4247185"/>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&amp; Fischer (2014), Fig. 3. Overlapping distributions of snake and leopard chirps.</a:t>
            </a:r>
            <a:endParaRPr/>
          </a:p>
        </p:txBody>
      </p:sp>
      <p:sp>
        <p:nvSpPr>
          <p:cNvPr id="510" name="Google Shape;510;p36"/>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1" name="Google Shape;511;p3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&amp; Fischer (2014)</a:t>
            </a:r>
            <a:endParaRPr/>
          </a:p>
        </p:txBody>
      </p:sp>
      <p:sp>
        <p:nvSpPr>
          <p:cNvPr id="512" name="Google Shape;512;p3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7" name="Shape 517"/>
        <p:cNvGrpSpPr/>
        <p:nvPr/>
      </p:nvGrpSpPr>
      <p:grpSpPr>
        <a:xfrm>
          <a:off x="0" y="0"/>
          <a:ext cx="0" cy="0"/>
          <a:chOff x="0" y="0"/>
          <a:chExt cx="0" cy="0"/>
        </a:xfrm>
      </p:grpSpPr>
      <p:sp>
        <p:nvSpPr>
          <p:cNvPr id="518" name="Google Shape;518;p3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Control bird calls distinguish alarms from broadcasting</a:t>
            </a:r>
            <a:endParaRPr/>
          </a:p>
        </p:txBody>
      </p:sp>
      <p:sp>
        <p:nvSpPr>
          <p:cNvPr id="519" name="Google Shape;519;p37"/>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An </a:t>
            </a:r>
            <a:r>
              <a:rPr b="1" i="0" lang="en-US" sz="1600" u="none" cap="none" strike="noStrike">
                <a:solidFill>
                  <a:srgbClr val="2E4556"/>
                </a:solidFill>
                <a:latin typeface="Arial"/>
                <a:ea typeface="Arial"/>
                <a:cs typeface="Arial"/>
                <a:sym typeface="Arial"/>
              </a:rPr>
              <a:t>experimental control</a:t>
            </a:r>
            <a:r>
              <a:rPr b="0" i="0" lang="en-US" sz="1600" u="none" cap="none" strike="noStrike">
                <a:solidFill>
                  <a:srgbClr val="000000"/>
                </a:solidFill>
                <a:latin typeface="Arial"/>
                <a:ea typeface="Arial"/>
                <a:cs typeface="Arial"/>
                <a:sym typeface="Arial"/>
              </a:rPr>
              <a:t> excludes a competing explanation for an observed response. Price and Fischer broadcast nonpredatory bird calls alongside green-monkey chirp stimuli. Birds’ calls were a control for the playback procedure itself rather than another predator-associated monkey signal.</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Monkeys responded more often to chirps than to the bird sounds. Playback intensity remained within natural calling levels, 60–85 dB measured at 10 m from the source. A different recording sequence was used for each experiment to avoid repeatedly testing one acoustic exemplar.</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contrast supports a response to biologically relevant acoustic information rather than to any sound from the speaker. It does not identify whether the recipient represents a predator, experiences conditioned danger or combines both. Those alternatives concern the interpretation of the signal beyond the procedural control.</a:t>
            </a:r>
            <a:endParaRPr/>
          </a:p>
        </p:txBody>
      </p:sp>
      <p:pic>
        <p:nvPicPr>
          <p:cNvPr descr="P14_4.png" id="520" name="Google Shape;520;p37"/>
          <p:cNvPicPr preferRelativeResize="0"/>
          <p:nvPr/>
        </p:nvPicPr>
        <p:blipFill rotWithShape="1">
          <a:blip r:embed="rId3">
            <a:alphaModFix/>
          </a:blip>
          <a:srcRect b="0" l="0" r="0" t="0"/>
          <a:stretch/>
        </p:blipFill>
        <p:spPr>
          <a:xfrm>
            <a:off x="6321247" y="1280160"/>
            <a:ext cx="5303520" cy="1903593"/>
          </a:xfrm>
          <a:prstGeom prst="rect">
            <a:avLst/>
          </a:prstGeom>
          <a:noFill/>
          <a:ln>
            <a:noFill/>
          </a:ln>
        </p:spPr>
      </p:pic>
      <p:sp>
        <p:nvSpPr>
          <p:cNvPr id="521" name="Google Shape;521;p37"/>
          <p:cNvSpPr txBox="1"/>
          <p:nvPr/>
        </p:nvSpPr>
        <p:spPr>
          <a:xfrm>
            <a:off x="6321247" y="3275193"/>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&amp; Fischer (2014), Fig. 4A–C. Playback response, tree climbing and persistence after priming.</a:t>
            </a:r>
            <a:endParaRPr/>
          </a:p>
        </p:txBody>
      </p:sp>
      <p:sp>
        <p:nvSpPr>
          <p:cNvPr id="522" name="Google Shape;522;p37"/>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3" name="Google Shape;523;p3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&amp; Fischer (2014)</a:t>
            </a:r>
            <a:endParaRPr/>
          </a:p>
        </p:txBody>
      </p:sp>
      <p:sp>
        <p:nvSpPr>
          <p:cNvPr id="524" name="Google Shape;524;p3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37</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9" name="Shape 529"/>
        <p:cNvGrpSpPr/>
        <p:nvPr/>
      </p:nvGrpSpPr>
      <p:grpSpPr>
        <a:xfrm>
          <a:off x="0" y="0"/>
          <a:ext cx="0" cy="0"/>
          <a:chOff x="0" y="0"/>
          <a:chExt cx="0" cy="0"/>
        </a:xfrm>
      </p:grpSpPr>
      <p:sp>
        <p:nvSpPr>
          <p:cNvPr id="530" name="Google Shape;530;p3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Predator priming separates prior evidence from call type</a:t>
            </a:r>
            <a:endParaRPr/>
          </a:p>
        </p:txBody>
      </p:sp>
      <p:sp>
        <p:nvSpPr>
          <p:cNvPr id="531" name="Google Shape;531;p38"/>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2E4556"/>
                </a:solidFill>
                <a:latin typeface="Arial"/>
                <a:ea typeface="Arial"/>
                <a:cs typeface="Arial"/>
                <a:sym typeface="Arial"/>
              </a:rPr>
              <a:t>Priming</a:t>
            </a:r>
            <a:r>
              <a:rPr b="0" i="0" lang="en-US" sz="1600" u="none" cap="none" strike="noStrike">
                <a:solidFill>
                  <a:srgbClr val="000000"/>
                </a:solidFill>
                <a:latin typeface="Arial"/>
                <a:ea typeface="Arial"/>
                <a:cs typeface="Arial"/>
                <a:sym typeface="Arial"/>
              </a:rPr>
              <a:t> supplies relevant information before a later test. Price and Fischer exposed green monkeys to a leopard model, a snake model or no predator model before broadcasting chirps. The calls were played approximately 1 h after the model presentation, once alarm calling had stopped.</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experiment independently varied the preceding model and the recorded chirp’s original context. Leopard-associated chirps more often elicited climbing above 2 m than snake-associated chirps. Prior model exposure did not clearly change which immediate response category recipients selected.</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Acoustic cues therefore strongly influenced the early action in this preparation. The absence of a clear immediate priming effect does not establish that prior knowledge was erased. Information presented an hour earlier can influence later persistence differently from the first movement after a call.</a:t>
            </a:r>
            <a:endParaRPr/>
          </a:p>
        </p:txBody>
      </p:sp>
      <p:pic>
        <p:nvPicPr>
          <p:cNvPr descr="P14_4.png" id="532" name="Google Shape;532;p38"/>
          <p:cNvPicPr preferRelativeResize="0"/>
          <p:nvPr/>
        </p:nvPicPr>
        <p:blipFill rotWithShape="1">
          <a:blip r:embed="rId3">
            <a:alphaModFix/>
          </a:blip>
          <a:srcRect b="0" l="0" r="0" t="0"/>
          <a:stretch/>
        </p:blipFill>
        <p:spPr>
          <a:xfrm>
            <a:off x="6321247" y="1280160"/>
            <a:ext cx="5303520" cy="1903593"/>
          </a:xfrm>
          <a:prstGeom prst="rect">
            <a:avLst/>
          </a:prstGeom>
          <a:noFill/>
          <a:ln>
            <a:noFill/>
          </a:ln>
        </p:spPr>
      </p:pic>
      <p:sp>
        <p:nvSpPr>
          <p:cNvPr id="533" name="Google Shape;533;p38"/>
          <p:cNvSpPr txBox="1"/>
          <p:nvPr/>
        </p:nvSpPr>
        <p:spPr>
          <a:xfrm>
            <a:off x="6321247" y="3275193"/>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&amp; Fischer (2014), Fig. 4A–C. Playback response, tree climbing and persistence after priming.</a:t>
            </a:r>
            <a:endParaRPr/>
          </a:p>
        </p:txBody>
      </p:sp>
      <p:sp>
        <p:nvSpPr>
          <p:cNvPr id="534" name="Google Shape;534;p38"/>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5" name="Google Shape;535;p3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&amp; Fischer (2014)</a:t>
            </a:r>
            <a:endParaRPr/>
          </a:p>
        </p:txBody>
      </p:sp>
      <p:sp>
        <p:nvSpPr>
          <p:cNvPr id="536" name="Google Shape;536;p3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38</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1" name="Shape 541"/>
        <p:cNvGrpSpPr/>
        <p:nvPr/>
      </p:nvGrpSpPr>
      <p:grpSpPr>
        <a:xfrm>
          <a:off x="0" y="0"/>
          <a:ext cx="0" cy="0"/>
          <a:chOff x="0" y="0"/>
          <a:chExt cx="0" cy="0"/>
        </a:xfrm>
      </p:grpSpPr>
      <p:sp>
        <p:nvSpPr>
          <p:cNvPr id="542" name="Google Shape;542;p3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Prior predator evidence changes defensive persistence</a:t>
            </a:r>
            <a:endParaRPr/>
          </a:p>
        </p:txBody>
      </p:sp>
      <p:sp>
        <p:nvSpPr>
          <p:cNvPr id="543" name="Google Shape;543;p39"/>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2E4556"/>
                </a:solidFill>
                <a:latin typeface="Arial"/>
                <a:ea typeface="Arial"/>
                <a:cs typeface="Arial"/>
                <a:sym typeface="Arial"/>
              </a:rPr>
              <a:t>Response persistence</a:t>
            </a:r>
            <a:r>
              <a:rPr b="0" i="0" lang="en-US" sz="1600" u="none" cap="none" strike="noStrike">
                <a:solidFill>
                  <a:srgbClr val="000000"/>
                </a:solidFill>
                <a:latin typeface="Arial"/>
                <a:ea typeface="Arial"/>
                <a:cs typeface="Arial"/>
                <a:sym typeface="Arial"/>
              </a:rPr>
              <a:t> is the time an action or defensive state continues after its initiation. Price and Fischer distinguished immediate tree climbing from remaining in a tree after playback. These measures address different consequences of hearing the same broad alarm form.</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Subjects stayed longer in trees when leopard-model exposure and leopard-associated chirps both supported terrestrial danger. The published persistence measure records whether a subject stayed more than 200 s. The immediate response measure instead records climbing above 2 m following the broadcast.</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evidence is consistent with prior information contributing to sustained risk assessment even where early action mainly follows acoustics. It does not distinguish an updated internal representation from a change in subsequent decision-making. Immediate response and persistence should not be treated as interchangeable measures of meaning attribution.</a:t>
            </a:r>
            <a:endParaRPr/>
          </a:p>
        </p:txBody>
      </p:sp>
      <p:pic>
        <p:nvPicPr>
          <p:cNvPr descr="P14_4.png" id="544" name="Google Shape;544;p39"/>
          <p:cNvPicPr preferRelativeResize="0"/>
          <p:nvPr/>
        </p:nvPicPr>
        <p:blipFill rotWithShape="1">
          <a:blip r:embed="rId3">
            <a:alphaModFix/>
          </a:blip>
          <a:srcRect b="0" l="0" r="0" t="0"/>
          <a:stretch/>
        </p:blipFill>
        <p:spPr>
          <a:xfrm>
            <a:off x="6321247" y="1280160"/>
            <a:ext cx="5303520" cy="1903593"/>
          </a:xfrm>
          <a:prstGeom prst="rect">
            <a:avLst/>
          </a:prstGeom>
          <a:noFill/>
          <a:ln>
            <a:noFill/>
          </a:ln>
        </p:spPr>
      </p:pic>
      <p:sp>
        <p:nvSpPr>
          <p:cNvPr id="545" name="Google Shape;545;p39"/>
          <p:cNvSpPr txBox="1"/>
          <p:nvPr/>
        </p:nvSpPr>
        <p:spPr>
          <a:xfrm>
            <a:off x="6321247" y="3275193"/>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&amp; Fischer (2014), Fig. 4A–C. Playback response, tree climbing and persistence after priming.</a:t>
            </a:r>
            <a:endParaRPr/>
          </a:p>
        </p:txBody>
      </p:sp>
      <p:sp>
        <p:nvSpPr>
          <p:cNvPr id="546" name="Google Shape;546;p39"/>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7" name="Google Shape;547;p3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&amp; Fischer (2014)</a:t>
            </a:r>
            <a:endParaRPr/>
          </a:p>
        </p:txBody>
      </p:sp>
      <p:sp>
        <p:nvSpPr>
          <p:cNvPr id="548" name="Google Shape;548;p3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39</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3" name="Shape 553"/>
        <p:cNvGrpSpPr/>
        <p:nvPr/>
      </p:nvGrpSpPr>
      <p:grpSpPr>
        <a:xfrm>
          <a:off x="0" y="0"/>
          <a:ext cx="0" cy="0"/>
          <a:chOff x="0" y="0"/>
          <a:chExt cx="0" cy="0"/>
        </a:xfrm>
      </p:grpSpPr>
      <p:sp>
        <p:nvSpPr>
          <p:cNvPr id="554" name="Google Shape;554;p4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The same male bark can enter contrasting contexts</a:t>
            </a:r>
            <a:endParaRPr/>
          </a:p>
        </p:txBody>
      </p:sp>
      <p:sp>
        <p:nvSpPr>
          <p:cNvPr id="555" name="Google Shape;555;p40"/>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South African male vervets produce similar </a:t>
            </a:r>
            <a:r>
              <a:rPr b="1" i="0" lang="en-US" sz="1500" u="none" cap="none" strike="noStrike">
                <a:solidFill>
                  <a:srgbClr val="2E4556"/>
                </a:solidFill>
                <a:latin typeface="Arial"/>
                <a:ea typeface="Arial"/>
                <a:cs typeface="Arial"/>
                <a:sym typeface="Arial"/>
              </a:rPr>
              <a:t>alarm barks</a:t>
            </a:r>
            <a:r>
              <a:rPr b="0" i="0" lang="en-US" sz="1500" u="none" cap="none" strike="noStrike">
                <a:solidFill>
                  <a:srgbClr val="000000"/>
                </a:solidFill>
                <a:latin typeface="Arial"/>
                <a:ea typeface="Arial"/>
                <a:cs typeface="Arial"/>
                <a:sym typeface="Arial"/>
              </a:rPr>
              <a:t> during terrestrial-predator encounters and between-group conflict. Deshpande and colleagues tested whether recipients used current social circumstances to interpret the sound. The stimuli included one predator-associated and one intergroup-associated bark from the same adult male.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Each female recipient heard the same assigned recording in both contexts, with naturalistic amplitude at a speaker distance of 30–50 m. This within-recipient comparison held the stimulus constant while changing the surrounding intergroup situation. The published spectrograms preserve seconds and frequency in Hz.</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Holding the recording constant separates contextual effects from differences between the sounds used on different occasions. It does not prove that every bark variant is acoustically identical, nor that every receiver uses the same inference. The experiment tests this call and these receivers under specified field conditions.</a:t>
            </a:r>
            <a:endParaRPr/>
          </a:p>
        </p:txBody>
      </p:sp>
      <p:pic>
        <p:nvPicPr>
          <p:cNvPr descr="D23_1.png" id="556" name="Google Shape;556;p40"/>
          <p:cNvPicPr preferRelativeResize="0"/>
          <p:nvPr/>
        </p:nvPicPr>
        <p:blipFill rotWithShape="1">
          <a:blip r:embed="rId3">
            <a:alphaModFix/>
          </a:blip>
          <a:srcRect b="0" l="0" r="0" t="0"/>
          <a:stretch/>
        </p:blipFill>
        <p:spPr>
          <a:xfrm>
            <a:off x="6321247" y="1280160"/>
            <a:ext cx="5303520" cy="2938480"/>
          </a:xfrm>
          <a:prstGeom prst="rect">
            <a:avLst/>
          </a:prstGeom>
          <a:noFill/>
          <a:ln>
            <a:noFill/>
          </a:ln>
        </p:spPr>
      </p:pic>
      <p:sp>
        <p:nvSpPr>
          <p:cNvPr id="557" name="Google Shape;557;p40"/>
          <p:cNvSpPr txBox="1"/>
          <p:nvPr/>
        </p:nvSpPr>
        <p:spPr>
          <a:xfrm>
            <a:off x="6321247" y="4310080"/>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Deshpande et al. (2023), Fig. 1A–B. Male bark exemplars from predator and intergroup encounters.</a:t>
            </a:r>
            <a:endParaRPr/>
          </a:p>
        </p:txBody>
      </p:sp>
      <p:sp>
        <p:nvSpPr>
          <p:cNvPr id="558" name="Google Shape;558;p40"/>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9" name="Google Shape;559;p4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Deshpande et al. (2023)</a:t>
            </a:r>
            <a:endParaRPr/>
          </a:p>
        </p:txBody>
      </p:sp>
      <p:sp>
        <p:nvSpPr>
          <p:cNvPr id="560" name="Google Shape;560;p4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40</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5" name="Shape 565"/>
        <p:cNvGrpSpPr/>
        <p:nvPr/>
      </p:nvGrpSpPr>
      <p:grpSpPr>
        <a:xfrm>
          <a:off x="0" y="0"/>
          <a:ext cx="0" cy="0"/>
          <a:chOff x="0" y="0"/>
          <a:chExt cx="0" cy="0"/>
        </a:xfrm>
      </p:grpSpPr>
      <p:sp>
        <p:nvSpPr>
          <p:cNvPr id="566" name="Google Shape;566;p4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Ongoing social context differs from earlier priming</a:t>
            </a:r>
            <a:endParaRPr/>
          </a:p>
        </p:txBody>
      </p:sp>
      <p:sp>
        <p:nvSpPr>
          <p:cNvPr id="567" name="Google Shape;567;p41"/>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An </a:t>
            </a:r>
            <a:r>
              <a:rPr b="1" i="0" lang="en-US" sz="1600" u="none" cap="none" strike="noStrike">
                <a:solidFill>
                  <a:srgbClr val="2E4556"/>
                </a:solidFill>
                <a:latin typeface="Arial"/>
                <a:ea typeface="Arial"/>
                <a:cs typeface="Arial"/>
                <a:sym typeface="Arial"/>
              </a:rPr>
              <a:t>intergroup encounter</a:t>
            </a:r>
            <a:r>
              <a:rPr b="0" i="0" lang="en-US" sz="1600" u="none" cap="none" strike="noStrike">
                <a:solidFill>
                  <a:srgbClr val="000000"/>
                </a:solidFill>
                <a:latin typeface="Arial"/>
                <a:ea typeface="Arial"/>
                <a:cs typeface="Arial"/>
                <a:sym typeface="Arial"/>
              </a:rPr>
              <a:t> occurs when members of neighboring monkey groups interact. Deshpande and colleagues tested recipients away from the conflict frontline while the encounter was ongoing. Subjects remained at least 30 m from the frontline and were foraging, resting or grooming.</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same recipients were tested without an intergroup encounter after at least 2 h without such an event or natural alarm calling. Habitat and approximate group spread were kept similar, and playback came from 30–50 m away. The source’s published field layout specifies these spatial relations.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This manipulation supplies immediate contextual information, unlike model exposure approximately 1 h before the green-monkey playbacks. Different timing and call types can explain different outcomes without making the studies contradictory. The design does not experimentally assign whether the natural intergroup encounter begins.</a:t>
            </a:r>
            <a:endParaRPr/>
          </a:p>
        </p:txBody>
      </p:sp>
      <p:pic>
        <p:nvPicPr>
          <p:cNvPr descr="D23_2.png" id="568" name="Google Shape;568;p41"/>
          <p:cNvPicPr preferRelativeResize="0"/>
          <p:nvPr/>
        </p:nvPicPr>
        <p:blipFill rotWithShape="1">
          <a:blip r:embed="rId3">
            <a:alphaModFix/>
          </a:blip>
          <a:srcRect b="0" l="0" r="0" t="0"/>
          <a:stretch/>
        </p:blipFill>
        <p:spPr>
          <a:xfrm>
            <a:off x="6321247" y="1280160"/>
            <a:ext cx="5303520" cy="2989666"/>
          </a:xfrm>
          <a:prstGeom prst="rect">
            <a:avLst/>
          </a:prstGeom>
          <a:noFill/>
          <a:ln>
            <a:noFill/>
          </a:ln>
        </p:spPr>
      </p:pic>
      <p:sp>
        <p:nvSpPr>
          <p:cNvPr id="569" name="Google Shape;569;p41"/>
          <p:cNvSpPr txBox="1"/>
          <p:nvPr/>
        </p:nvSpPr>
        <p:spPr>
          <a:xfrm>
            <a:off x="6321247" y="4361266"/>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Deshpande et al. (2023), Fig. 2. Published spatial arrangement of the intergroup playback experiment.</a:t>
            </a:r>
            <a:endParaRPr/>
          </a:p>
        </p:txBody>
      </p:sp>
      <p:sp>
        <p:nvSpPr>
          <p:cNvPr id="570" name="Google Shape;570;p41"/>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1" name="Google Shape;571;p4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Deshpande et al. (2023); Price &amp; Fischer (2014)</a:t>
            </a:r>
            <a:endParaRPr/>
          </a:p>
        </p:txBody>
      </p:sp>
      <p:sp>
        <p:nvSpPr>
          <p:cNvPr id="572" name="Google Shape;572;p4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41</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7" name="Shape 577"/>
        <p:cNvGrpSpPr/>
        <p:nvPr/>
      </p:nvGrpSpPr>
      <p:grpSpPr>
        <a:xfrm>
          <a:off x="0" y="0"/>
          <a:ext cx="0" cy="0"/>
          <a:chOff x="0" y="0"/>
          <a:chExt cx="0" cy="0"/>
        </a:xfrm>
      </p:grpSpPr>
      <p:sp>
        <p:nvSpPr>
          <p:cNvPr id="578" name="Google Shape;578;p4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Context alters information seeking toward the caller</a:t>
            </a:r>
            <a:endParaRPr/>
          </a:p>
        </p:txBody>
      </p:sp>
      <p:sp>
        <p:nvSpPr>
          <p:cNvPr id="579" name="Google Shape;579;p42"/>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2E4556"/>
                </a:solidFill>
                <a:latin typeface="Arial"/>
                <a:ea typeface="Arial"/>
                <a:cs typeface="Arial"/>
                <a:sym typeface="Arial"/>
              </a:rPr>
              <a:t>Information seeking</a:t>
            </a:r>
            <a:r>
              <a:rPr b="0" i="0" lang="en-US" sz="1600" u="none" cap="none" strike="noStrike">
                <a:solidFill>
                  <a:srgbClr val="000000"/>
                </a:solidFill>
                <a:latin typeface="Arial"/>
                <a:ea typeface="Arial"/>
                <a:cs typeface="Arial"/>
                <a:sym typeface="Arial"/>
              </a:rPr>
              <a:t> can involve orienting toward a caller to obtain further cues about an alarm’s cause. Deshpande and colleagues measured how long recipients looked toward the speaker after hearing the same male bark with or without an ongoing intergroup encounter.</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Recipients generally looked toward the speaker longer when no intergroup encounter was occurring. Looking duration was measured in seconds, and the field observations continued for 10 min after playback. During an encounter, the surrounding social activity already supplied a plausible explanation for male barking.</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measured effect supports integration of acoustic and contextual information. Interpreting longer looking as uncertainty is a proposed explanation rather than a directly measured mental state. The behavior does not establish that recipients imagined a specific hidden predator, and no predator-specific escape response occurred in this experiment.</a:t>
            </a:r>
            <a:endParaRPr/>
          </a:p>
        </p:txBody>
      </p:sp>
      <p:pic>
        <p:nvPicPr>
          <p:cNvPr descr="D23_3.png" id="580" name="Google Shape;580;p42"/>
          <p:cNvPicPr preferRelativeResize="0"/>
          <p:nvPr/>
        </p:nvPicPr>
        <p:blipFill rotWithShape="1">
          <a:blip r:embed="rId3">
            <a:alphaModFix/>
          </a:blip>
          <a:srcRect b="0" l="0" r="0" t="0"/>
          <a:stretch/>
        </p:blipFill>
        <p:spPr>
          <a:xfrm>
            <a:off x="6537260" y="1280160"/>
            <a:ext cx="4871492" cy="4297679"/>
          </a:xfrm>
          <a:prstGeom prst="rect">
            <a:avLst/>
          </a:prstGeom>
          <a:noFill/>
          <a:ln>
            <a:noFill/>
          </a:ln>
        </p:spPr>
      </p:pic>
      <p:sp>
        <p:nvSpPr>
          <p:cNvPr id="581" name="Google Shape;581;p42"/>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Deshpande et al. (2023), Fig. 3. Speaker-directed looking duration with and without an intergroup encounter.</a:t>
            </a:r>
            <a:endParaRPr/>
          </a:p>
        </p:txBody>
      </p:sp>
      <p:sp>
        <p:nvSpPr>
          <p:cNvPr id="582" name="Google Shape;582;p42"/>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3" name="Google Shape;583;p4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Deshpande et al. (2023)</a:t>
            </a:r>
            <a:endParaRPr/>
          </a:p>
        </p:txBody>
      </p:sp>
      <p:sp>
        <p:nvSpPr>
          <p:cNvPr id="584" name="Google Shape;584;p4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42</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9" name="Shape 589"/>
        <p:cNvGrpSpPr/>
        <p:nvPr/>
      </p:nvGrpSpPr>
      <p:grpSpPr>
        <a:xfrm>
          <a:off x="0" y="0"/>
          <a:ext cx="0" cy="0"/>
          <a:chOff x="0" y="0"/>
          <a:chExt cx="0" cy="0"/>
        </a:xfrm>
      </p:grpSpPr>
      <p:sp>
        <p:nvSpPr>
          <p:cNvPr id="590" name="Google Shape;590;p4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Context changes vigilance without forcing escape</a:t>
            </a:r>
            <a:endParaRPr/>
          </a:p>
        </p:txBody>
      </p:sp>
      <p:sp>
        <p:nvSpPr>
          <p:cNvPr id="591" name="Google Shape;591;p43"/>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2E4556"/>
                </a:solidFill>
                <a:latin typeface="Arial"/>
                <a:ea typeface="Arial"/>
                <a:cs typeface="Arial"/>
                <a:sym typeface="Arial"/>
              </a:rPr>
              <a:t>Vigilance</a:t>
            </a:r>
            <a:r>
              <a:rPr b="0" i="0" lang="en-US" sz="1500" u="none" cap="none" strike="noStrike">
                <a:solidFill>
                  <a:srgbClr val="000000"/>
                </a:solidFill>
                <a:latin typeface="Arial"/>
                <a:ea typeface="Arial"/>
                <a:cs typeface="Arial"/>
                <a:sym typeface="Arial"/>
              </a:rPr>
              <a:t> is monitoring the surroundings while maintaining an alert posture. Deshpande and colleagues scored its duration separately from speaker-directed looking, startle and predator-specific escape. Female recipients were more vigilant after barks outside an intergroup encounter than during one.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source plots vigilance in seconds. Some recipients displayed no vigilance during the encounter condition, although all heard the bark. No predator-specific escape response occurred in either condition. Startle was scored as a sudden body movement and was kept separate from the duration measures.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vigilance and looking measures establish altered monitoring of the surroundings and presumed caller. Defensive responses can change in intensity without changing into overt flight. These observations support context-sensitive reception while leaving the underlying neural, affective and representational mechanisms unmeasured.</a:t>
            </a:r>
            <a:endParaRPr/>
          </a:p>
        </p:txBody>
      </p:sp>
      <p:pic>
        <p:nvPicPr>
          <p:cNvPr descr="D23_4.png" id="592" name="Google Shape;592;p43"/>
          <p:cNvPicPr preferRelativeResize="0"/>
          <p:nvPr/>
        </p:nvPicPr>
        <p:blipFill rotWithShape="1">
          <a:blip r:embed="rId3">
            <a:alphaModFix/>
          </a:blip>
          <a:srcRect b="0" l="0" r="0" t="0"/>
          <a:stretch/>
        </p:blipFill>
        <p:spPr>
          <a:xfrm>
            <a:off x="6532221" y="1280160"/>
            <a:ext cx="4881571" cy="4297679"/>
          </a:xfrm>
          <a:prstGeom prst="rect">
            <a:avLst/>
          </a:prstGeom>
          <a:noFill/>
          <a:ln>
            <a:noFill/>
          </a:ln>
        </p:spPr>
      </p:pic>
      <p:sp>
        <p:nvSpPr>
          <p:cNvPr id="593" name="Google Shape;593;p43"/>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Deshpande et al. (2023), Fig. 4. Vigilance duration with and without an intergroup encounter.</a:t>
            </a:r>
            <a:endParaRPr/>
          </a:p>
        </p:txBody>
      </p:sp>
      <p:sp>
        <p:nvSpPr>
          <p:cNvPr id="594" name="Google Shape;594;p43"/>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5" name="Google Shape;595;p4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Deshpande et al. (2023)</a:t>
            </a:r>
            <a:endParaRPr/>
          </a:p>
        </p:txBody>
      </p:sp>
      <p:sp>
        <p:nvSpPr>
          <p:cNvPr id="596" name="Google Shape;596;p4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43</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1" name="Shape 601"/>
        <p:cNvGrpSpPr/>
        <p:nvPr/>
      </p:nvGrpSpPr>
      <p:grpSpPr>
        <a:xfrm>
          <a:off x="0" y="0"/>
          <a:ext cx="0" cy="0"/>
          <a:chOff x="0" y="0"/>
          <a:chExt cx="0" cy="0"/>
        </a:xfrm>
      </p:grpSpPr>
      <p:sp>
        <p:nvSpPr>
          <p:cNvPr id="602" name="Google Shape;602;p4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Young vervets alarm to unfamiliar raptor models</a:t>
            </a:r>
            <a:endParaRPr/>
          </a:p>
        </p:txBody>
      </p:sp>
      <p:sp>
        <p:nvSpPr>
          <p:cNvPr id="603" name="Google Shape;603;p44"/>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2E4556"/>
                </a:solidFill>
                <a:latin typeface="Arial"/>
                <a:ea typeface="Arial"/>
                <a:cs typeface="Arial"/>
                <a:sym typeface="Arial"/>
              </a:rPr>
              <a:t>Social learning</a:t>
            </a:r>
            <a:r>
              <a:rPr b="0" i="0" lang="en-US" sz="1500" u="none" cap="none" strike="noStrike">
                <a:solidFill>
                  <a:srgbClr val="000000"/>
                </a:solidFill>
                <a:latin typeface="Arial"/>
                <a:ea typeface="Arial"/>
                <a:cs typeface="Arial"/>
                <a:sym typeface="Arial"/>
              </a:rPr>
              <a:t> concerns behavioral change supported by information from other individuals. Mohr and colleagues presented unfamiliar raptor models to juvenile vervets aged 1–2 years while monitoring nearby audiences. The juveniles could inspect both the model and the reactions of other monkeys.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Juveniles sometimes alarmed, whereas adults did not alarm to these models. Audience members were defined as individuals within 10 m of the subject. The comparison is consistent with more experienced adults judging the unfamiliar models differently from younger animals, as in the classic age-related category refinement.</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Caller age and alarm production were associated, but the preparation did not independently manipulate lifetime experience. Silence by an adult does not establish indifference or failure to detect the model. The measured developmental difference concerns calling behavior rather than the discovery of an age-specific neural circuit.</a:t>
            </a:r>
            <a:endParaRPr/>
          </a:p>
        </p:txBody>
      </p:sp>
      <p:pic>
        <p:nvPicPr>
          <p:cNvPr descr="M23_1.png" id="604" name="Google Shape;604;p44"/>
          <p:cNvPicPr preferRelativeResize="0"/>
          <p:nvPr/>
        </p:nvPicPr>
        <p:blipFill rotWithShape="1">
          <a:blip r:embed="rId3">
            <a:alphaModFix/>
          </a:blip>
          <a:srcRect b="0" l="0" r="0" t="0"/>
          <a:stretch/>
        </p:blipFill>
        <p:spPr>
          <a:xfrm>
            <a:off x="6707165" y="1280160"/>
            <a:ext cx="4531683" cy="4297679"/>
          </a:xfrm>
          <a:prstGeom prst="rect">
            <a:avLst/>
          </a:prstGeom>
          <a:noFill/>
          <a:ln>
            <a:noFill/>
          </a:ln>
        </p:spPr>
      </p:pic>
      <p:sp>
        <p:nvSpPr>
          <p:cNvPr id="605" name="Google Shape;605;p44"/>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Mohr et al. (2023), Fig. 1. Juvenile and adult alarm production to unfamiliar raptor models.</a:t>
            </a:r>
            <a:endParaRPr/>
          </a:p>
        </p:txBody>
      </p:sp>
      <p:sp>
        <p:nvSpPr>
          <p:cNvPr id="606" name="Google Shape;606;p44"/>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7" name="Google Shape;607;p4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Mohr et al. (2023); Seyfarth et al. (1980a)</a:t>
            </a:r>
            <a:endParaRPr/>
          </a:p>
        </p:txBody>
      </p:sp>
      <p:sp>
        <p:nvSpPr>
          <p:cNvPr id="608" name="Google Shape;608;p4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44</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3" name="Shape 613"/>
        <p:cNvGrpSpPr/>
        <p:nvPr/>
      </p:nvGrpSpPr>
      <p:grpSpPr>
        <a:xfrm>
          <a:off x="0" y="0"/>
          <a:ext cx="0" cy="0"/>
          <a:chOff x="0" y="0"/>
          <a:chExt cx="0" cy="0"/>
        </a:xfrm>
      </p:grpSpPr>
      <p:sp>
        <p:nvSpPr>
          <p:cNvPr id="614" name="Google Shape;614;p4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Audience patterns do not establish a learning mechanism</a:t>
            </a:r>
            <a:endParaRPr/>
          </a:p>
        </p:txBody>
      </p:sp>
      <p:sp>
        <p:nvSpPr>
          <p:cNvPr id="615" name="Google Shape;615;p45"/>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An </a:t>
            </a:r>
            <a:r>
              <a:rPr b="1" i="0" lang="en-US" sz="1500" u="none" cap="none" strike="noStrike">
                <a:solidFill>
                  <a:srgbClr val="2E4556"/>
                </a:solidFill>
                <a:latin typeface="Arial"/>
                <a:ea typeface="Arial"/>
                <a:cs typeface="Arial"/>
                <a:sym typeface="Arial"/>
              </a:rPr>
              <a:t>audience effect</a:t>
            </a:r>
            <a:r>
              <a:rPr b="0" i="0" lang="en-US" sz="1500" u="none" cap="none" strike="noStrike">
                <a:solidFill>
                  <a:srgbClr val="000000"/>
                </a:solidFill>
                <a:latin typeface="Arial"/>
                <a:ea typeface="Arial"/>
                <a:cs typeface="Arial"/>
                <a:sym typeface="Arial"/>
              </a:rPr>
              <a:t> is a change in signaling associated with who is nearby. Mohr and colleagues compared juvenile responses with mothers, siblings or unrelated group members present within 10 m. Other kin were excluded from the mother and sibling conditions to separate these audience categories.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descriptive pattern contained more juvenile calling with siblings than with mothers or unrelated animals. However, the study did not establish an overall audience-composition effect, and audience size was not systematically controlled. Model-directed vigilance by mothers and siblings provided additional social information.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These observations motivate explanations involving experience, relatedness or awareness, but they do not demonstrate imitation, teaching or one-trial learning. A difference in immediate calling is distinct from a lasting acquired association. The restricted design therefore supports cautious developmental interpretation rather than a proven mechanism of alarm learning.</a:t>
            </a:r>
            <a:endParaRPr/>
          </a:p>
        </p:txBody>
      </p:sp>
      <p:pic>
        <p:nvPicPr>
          <p:cNvPr descr="M23_2.png" id="616" name="Google Shape;616;p45"/>
          <p:cNvPicPr preferRelativeResize="0"/>
          <p:nvPr/>
        </p:nvPicPr>
        <p:blipFill rotWithShape="1">
          <a:blip r:embed="rId3">
            <a:alphaModFix/>
          </a:blip>
          <a:srcRect b="0" l="0" r="0" t="0"/>
          <a:stretch/>
        </p:blipFill>
        <p:spPr>
          <a:xfrm>
            <a:off x="6482733" y="1280160"/>
            <a:ext cx="4980547" cy="4297679"/>
          </a:xfrm>
          <a:prstGeom prst="rect">
            <a:avLst/>
          </a:prstGeom>
          <a:noFill/>
          <a:ln>
            <a:noFill/>
          </a:ln>
        </p:spPr>
      </p:pic>
      <p:sp>
        <p:nvSpPr>
          <p:cNvPr id="617" name="Google Shape;617;p45"/>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Mohr et al. (2023), Fig. 2. Juvenile alarm production in three audience conditions.</a:t>
            </a:r>
            <a:endParaRPr/>
          </a:p>
        </p:txBody>
      </p:sp>
      <p:sp>
        <p:nvSpPr>
          <p:cNvPr id="618" name="Google Shape;618;p45"/>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9" name="Google Shape;619;p4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Mohr et al. (2023)</a:t>
            </a:r>
            <a:endParaRPr/>
          </a:p>
        </p:txBody>
      </p:sp>
      <p:sp>
        <p:nvSpPr>
          <p:cNvPr id="620" name="Google Shape;620;p4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45</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5" name="Shape 625"/>
        <p:cNvGrpSpPr/>
        <p:nvPr/>
      </p:nvGrpSpPr>
      <p:grpSpPr>
        <a:xfrm>
          <a:off x="0" y="0"/>
          <a:ext cx="0" cy="0"/>
          <a:chOff x="0" y="0"/>
          <a:chExt cx="0" cy="0"/>
        </a:xfrm>
      </p:grpSpPr>
      <p:sp>
        <p:nvSpPr>
          <p:cNvPr id="626" name="Google Shape;626;p4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Key takeaways</a:t>
            </a:r>
            <a:endParaRPr/>
          </a:p>
        </p:txBody>
      </p:sp>
      <p:sp>
        <p:nvSpPr>
          <p:cNvPr id="627" name="Google Shape;627;p46"/>
          <p:cNvSpPr/>
          <p:nvPr/>
        </p:nvSpPr>
        <p:spPr>
          <a:xfrm>
            <a:off x="566928" y="1234440"/>
            <a:ext cx="5391759" cy="1478279"/>
          </a:xfrm>
          <a:prstGeom prst="rect">
            <a:avLst/>
          </a:prstGeom>
          <a:solidFill>
            <a:srgbClr val="F2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8" name="Google Shape;628;p46"/>
          <p:cNvSpPr txBox="1"/>
          <p:nvPr/>
        </p:nvSpPr>
        <p:spPr>
          <a:xfrm>
            <a:off x="749808"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2E4556"/>
                </a:solidFill>
                <a:latin typeface="Arial"/>
                <a:ea typeface="Arial"/>
                <a:cs typeface="Arial"/>
                <a:sym typeface="Arial"/>
              </a:rPr>
              <a:t>Functional reference</a:t>
            </a:r>
            <a:r>
              <a:rPr b="0" i="0" lang="en-US" sz="1600" u="none" cap="none" strike="noStrike">
                <a:solidFill>
                  <a:srgbClr val="000000"/>
                </a:solidFill>
                <a:latin typeface="Arial"/>
                <a:ea typeface="Arial"/>
                <a:cs typeface="Arial"/>
                <a:sym typeface="Arial"/>
              </a:rPr>
              <a:t> is supported when call production relates to external events and playback elicits appropriate responses without the eliciting stimulus.</a:t>
            </a:r>
            <a:endParaRPr/>
          </a:p>
        </p:txBody>
      </p:sp>
      <p:sp>
        <p:nvSpPr>
          <p:cNvPr id="629" name="Google Shape;629;p46"/>
          <p:cNvSpPr/>
          <p:nvPr/>
        </p:nvSpPr>
        <p:spPr>
          <a:xfrm>
            <a:off x="6233007" y="1234440"/>
            <a:ext cx="5391759" cy="1478279"/>
          </a:xfrm>
          <a:prstGeom prst="rect">
            <a:avLst/>
          </a:prstGeom>
          <a:solidFill>
            <a:srgbClr val="F2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0" name="Google Shape;630;p46"/>
          <p:cNvSpPr txBox="1"/>
          <p:nvPr/>
        </p:nvSpPr>
        <p:spPr>
          <a:xfrm>
            <a:off x="6415887"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2E4556"/>
                </a:solidFill>
                <a:latin typeface="Arial"/>
                <a:ea typeface="Arial"/>
                <a:cs typeface="Arial"/>
                <a:sym typeface="Arial"/>
              </a:rPr>
              <a:t>Classic playback controls</a:t>
            </a:r>
            <a:r>
              <a:rPr b="0" i="0" lang="en-US" sz="1600" u="none" cap="none" strike="noStrike">
                <a:solidFill>
                  <a:srgbClr val="000000"/>
                </a:solidFill>
                <a:latin typeface="Arial"/>
                <a:ea typeface="Arial"/>
                <a:cs typeface="Arial"/>
                <a:sym typeface="Arial"/>
              </a:rPr>
              <a:t> separate acoustic effects from predator visibility; duration, amplitude and caller identity do not alone explain the response categories.</a:t>
            </a:r>
            <a:endParaRPr/>
          </a:p>
        </p:txBody>
      </p:sp>
      <p:sp>
        <p:nvSpPr>
          <p:cNvPr id="631" name="Google Shape;631;p46"/>
          <p:cNvSpPr/>
          <p:nvPr/>
        </p:nvSpPr>
        <p:spPr>
          <a:xfrm>
            <a:off x="566928" y="2987040"/>
            <a:ext cx="5391759" cy="1478279"/>
          </a:xfrm>
          <a:prstGeom prst="rect">
            <a:avLst/>
          </a:prstGeom>
          <a:solidFill>
            <a:srgbClr val="F2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2" name="Google Shape;632;p46"/>
          <p:cNvSpPr txBox="1"/>
          <p:nvPr/>
        </p:nvSpPr>
        <p:spPr>
          <a:xfrm>
            <a:off x="749808"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2E4556"/>
                </a:solidFill>
                <a:latin typeface="Arial"/>
                <a:ea typeface="Arial"/>
                <a:cs typeface="Arial"/>
                <a:sym typeface="Arial"/>
              </a:rPr>
              <a:t>Context-sensitive reception</a:t>
            </a:r>
            <a:r>
              <a:rPr b="0" i="0" lang="en-US" sz="1600" u="none" cap="none" strike="noStrike">
                <a:solidFill>
                  <a:srgbClr val="000000"/>
                </a:solidFill>
                <a:latin typeface="Arial"/>
                <a:ea typeface="Arial"/>
                <a:cs typeface="Arial"/>
                <a:sym typeface="Arial"/>
              </a:rPr>
              <a:t> allows the same broad call form to guide different actions or levels of vigilance depending on location, social events and prior evidence.</a:t>
            </a:r>
            <a:endParaRPr/>
          </a:p>
        </p:txBody>
      </p:sp>
      <p:sp>
        <p:nvSpPr>
          <p:cNvPr id="633" name="Google Shape;633;p46"/>
          <p:cNvSpPr/>
          <p:nvPr/>
        </p:nvSpPr>
        <p:spPr>
          <a:xfrm>
            <a:off x="6233007" y="2987040"/>
            <a:ext cx="5391759" cy="1478279"/>
          </a:xfrm>
          <a:prstGeom prst="rect">
            <a:avLst/>
          </a:prstGeom>
          <a:solidFill>
            <a:srgbClr val="F2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4" name="Google Shape;634;p46"/>
          <p:cNvSpPr txBox="1"/>
          <p:nvPr/>
        </p:nvSpPr>
        <p:spPr>
          <a:xfrm>
            <a:off x="6415887"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2E4556"/>
                </a:solidFill>
                <a:latin typeface="Arial"/>
                <a:ea typeface="Arial"/>
                <a:cs typeface="Arial"/>
                <a:sym typeface="Arial"/>
              </a:rPr>
              <a:t>Developmental refinement</a:t>
            </a:r>
            <a:r>
              <a:rPr b="0" i="0" lang="en-US" sz="1600" u="none" cap="none" strike="noStrike">
                <a:solidFill>
                  <a:srgbClr val="000000"/>
                </a:solidFill>
                <a:latin typeface="Arial"/>
                <a:ea typeface="Arial"/>
                <a:cs typeface="Arial"/>
                <a:sym typeface="Arial"/>
              </a:rPr>
              <a:t> narrows broad juvenile threat categories; age-related observations do not by themselves distinguish maturation, personal experience and social learning.</a:t>
            </a:r>
            <a:endParaRPr/>
          </a:p>
        </p:txBody>
      </p:sp>
      <p:sp>
        <p:nvSpPr>
          <p:cNvPr id="635" name="Google Shape;635;p46"/>
          <p:cNvSpPr/>
          <p:nvPr/>
        </p:nvSpPr>
        <p:spPr>
          <a:xfrm>
            <a:off x="566928" y="4739640"/>
            <a:ext cx="5391759" cy="1478279"/>
          </a:xfrm>
          <a:prstGeom prst="rect">
            <a:avLst/>
          </a:prstGeom>
          <a:solidFill>
            <a:srgbClr val="F2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6" name="Google Shape;636;p46"/>
          <p:cNvSpPr txBox="1"/>
          <p:nvPr/>
        </p:nvSpPr>
        <p:spPr>
          <a:xfrm>
            <a:off x="749808"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2E4556"/>
                </a:solidFill>
                <a:latin typeface="Arial"/>
                <a:ea typeface="Arial"/>
                <a:cs typeface="Arial"/>
                <a:sym typeface="Arial"/>
              </a:rPr>
              <a:t>Acoustic overlap</a:t>
            </a:r>
            <a:r>
              <a:rPr b="0" i="0" lang="en-US" sz="1600" u="none" cap="none" strike="noStrike">
                <a:solidFill>
                  <a:srgbClr val="000000"/>
                </a:solidFill>
                <a:latin typeface="Arial"/>
                <a:ea typeface="Arial"/>
                <a:cs typeface="Arial"/>
                <a:sym typeface="Arial"/>
              </a:rPr>
              <a:t> means predator-associated calls can resemble aggression calls; information-bearing reception does not require a universal one-call–one-predator dictionary.</a:t>
            </a:r>
            <a:endParaRPr/>
          </a:p>
        </p:txBody>
      </p:sp>
      <p:sp>
        <p:nvSpPr>
          <p:cNvPr id="637" name="Google Shape;637;p46"/>
          <p:cNvSpPr/>
          <p:nvPr/>
        </p:nvSpPr>
        <p:spPr>
          <a:xfrm>
            <a:off x="6233007" y="4739640"/>
            <a:ext cx="5391759" cy="1478279"/>
          </a:xfrm>
          <a:prstGeom prst="rect">
            <a:avLst/>
          </a:prstGeom>
          <a:solidFill>
            <a:srgbClr val="F2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8" name="Google Shape;638;p46"/>
          <p:cNvSpPr txBox="1"/>
          <p:nvPr/>
        </p:nvSpPr>
        <p:spPr>
          <a:xfrm>
            <a:off x="6415887"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2E4556"/>
                </a:solidFill>
                <a:latin typeface="Arial"/>
                <a:ea typeface="Arial"/>
                <a:cs typeface="Arial"/>
                <a:sym typeface="Arial"/>
              </a:rPr>
              <a:t>Neural evidence</a:t>
            </a:r>
            <a:r>
              <a:rPr b="0" i="0" lang="en-US" sz="1600" u="none" cap="none" strike="noStrike">
                <a:solidFill>
                  <a:srgbClr val="000000"/>
                </a:solidFill>
                <a:latin typeface="Arial"/>
                <a:ea typeface="Arial"/>
                <a:cs typeface="Arial"/>
                <a:sym typeface="Arial"/>
              </a:rPr>
              <a:t> locates macaque vocal sensitivity in auditory and anterior temporal regions, while regional imaging does not identify a vervet semantic circuit or molecular mechanism.</a:t>
            </a:r>
            <a:endParaRPr/>
          </a:p>
        </p:txBody>
      </p:sp>
      <p:sp>
        <p:nvSpPr>
          <p:cNvPr id="639" name="Google Shape;639;p46"/>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0" name="Google Shape;640;p4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(1980a, b); Price et al. (2015); Ortiz-Rios et al. (2015); Deshpande et al. (2023)</a:t>
            </a:r>
            <a:endParaRPr/>
          </a:p>
        </p:txBody>
      </p:sp>
      <p:sp>
        <p:nvSpPr>
          <p:cNvPr id="641" name="Google Shape;641;p4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Jordan Lopez, Ph.D.</dc:creator>
</cp:coreProperties>
</file>