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h8QRvscIH2XGnvnEQ3kbaPCpiA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Vocal communication I: songbird song-system anatomy — HVC–RA–Area X (Nottebohm)</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Male zebra finches provide an experimentally tractable model of learned vocal motor behavior. Canary lesion experiments established foundational pathways controlling song.</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The title photograph is credited to Michael Hains, CC BY-NC 4.0. https://www.inaturalist.org/photos/147702462</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Nottebohm F, Stokes TM, Leonard CM (1976). Central control of song in the canary, Serinus canarius. Journal of Comparative Neurology 165(4):457-486. https://doi.org/10.1002/cne.901650405</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Bottjer SW, Miesner EA, Arnold AP (1984). Forebrain Lesions Disrupt Development But Not Maintenance of Song in Passerine Birds. Science 224(4651):901-903. https://doi.org/10.1126/science.6719123</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Doupe AJ (1997). Song- and Order-Selective Neurons in the Songbird Anterior Forebrain and their Emergence during Vocal Development. The Journal of Neuroscience 17(3):1147-1167. https://doi.org/10.1523/jneurosci.17-03-01147.1997</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Song consists of coordinated vocal elements whose frequency and timing can be measured with a spectrogram, a display of acoustic energy across time and frequency. Nottebohm and colleagues recorded adult male canaries before brain surgery, establishing each bird's own repertoire as the behavioral baseline.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compared postoperative vocalizations with those recordings rather than treating all changes in singing as equivalent. Damage could reduce the number of available syllables, disturb their acoustic structure, or disrupt the organization of phrases while leaving vocal output possible.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bird that still vocalizes can therefore have a severe song-control deficit. These experiments localized components of an established motor behavior; adult lesions alone did not identify where a juvenile stores or learns a tutor's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Stokes TM, Leonard CM (1976). Central control of song in the canary, Serinus canarius. Journal of Comparative Neurology 165(4):457-486. https://doi.org/10.1002/cne.901650405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Nottebohm et al. (1976), Fig. 13. Canary song before and after a forebrain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https://doi.org/10.1002/cne.901650405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Nottebohm et al. (1976), Fig. 11. Lesion locations associated with song disruption.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https://doi.org/10.1002/cne.901650405</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 name="Google Shape;45;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lesion is damage to tissue used to test whether a region contributes to a behavior. Nottebohm and colleagues made unilateral electrolytic lesions in adult male canaries and reconstructed their positions histologically after repeated postoperative song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Lesions involving HVC or the robust nucleus of the arcopallium, RA, severely altered song organization, whereas several lesions outside the implicated pathway had little or no effect. Comparing effective and ineffective lesion sites constrained the anatomical interpretation beyond a simple surgery-versus-no-surgery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Electrolytic current can damage both local neurons and passing axons. The results establish that these restricted forebrain territories are necessary for normal adult song, but do not isolate a particular cell type or prove that every nucleus performs the same computation.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Stokes TM, Leonard CM (1976). Central control of song in the canary, Serinus canarius. Journal of Comparative Neurology 165(4):457-486. https://doi.org/10.1002/cne.901650405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Nottebohm et al. (1976), Fig. 11. Lesion locations associated with song disruption.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https://doi.org/10.1002/cne.901650405</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axon carries signals away from a neuron; a projection is an axonal connection between regions. A synapse is a junction through which a neuron influences another cell. Nottebohm and colleagues combined behavioral lesions with Fink–Heimer staining, a method that reveals degenerating fibers and terminals downstream of damaged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Degeneration linked the region historically called HVc to RA and connected RA with descending pathways toward vocal motor structures. Comparing the locations of lesions with the distributions of degeneration supplied anatomical evidence independent of the acoustic changes in song.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historical names in the original article differ from current avian terminology: HVC is now used as a proper name, and RA lies in the arcopallium. Degeneration tracing establishes a pathway's anatomical direction, but does not measure its transmitter, synaptic sign, or activity during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Stokes TM, Leonard CM (1976). Central control of song in the canary, Serinus canarius. Journal of Comparative Neurology 165(4):457-486. https://doi.org/10.1002/cne.901650405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Nottebohm et al. (1976), Fig. 7(a–d). Degeneration staining in the canary song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https://doi.org/10.1002/cne.901650405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2(a–f). Identified RA- and X-projecting HVC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projection neuron sends an axon outside its local region. Benezra and colleagues distinguished HVC neurons projecting to RA, designated HVC(RA), from neurons projecting to Area X, a song-related basal ganglia region involved in action control, designated HVC(X).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labeled individual cells in adult male zebra finches and reconstructed their dendrites and axons in three dimensions. The analysis retained the target identity of each filled neuron rather than pooling every HVC cell into a single morphological population.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HVC(RA) and HVC(X) neurons differed in their dendritic and local axonal organization, although target identity did not perfectly predict every anatomical feature. Separate output classes allow HVC to influence vocal execution and the anterior forebrain pathway; morphology alone does not reveal the precise signals transmitted along either branch.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2(a–f). Identified RA- and X-projecting HVC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Two-photon microscopy uses nonlinear excitation to resolve fluorescent structures within tissue. Benezra and colleagues combined retrograde labeling from an HVC output target with visually guided recordings and intracellular filling, connecting a neuron's projection identity with its later anatomical reconstruction.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fluorescently filled neuron was processed histologically so that its dendrites and axonal branches could be traced across sections. This approach resolved single-cell structure that would be obscured if many neighboring neurons were labeled together.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Targeted filling provides a bridge between an identified neuron and its complete local arbor. However, incomplete filling, section boundaries, and finite optical resolution can hide fine processes; the resulting anatomical map is not a direct measurement of every functional synapse.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1(a–f). Targeted labeling and single-cell filling in HVC.</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dendrite is a neuronal process that receives synaptic input. Benezra and colleagues compared reconstructed dendritic trees of HVC(RA) and HVC(X) neurons after registering their positions within HVC, allowing cell types to be compared in a common anatomical frame.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Most RA-projecting cells had relatively restricted dendritic territories, whereas X-projecting cells occupied larger territories. Displaying individual reconstructions preserved variation within each class rather than replacing the cells with an idealized average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broader dendritic field creates access to a different spatial distribution of potential inputs, but proximity is not equivalent to connectivity. The study measured anatomy, not the identities, strengths, or timing of all inputs contacting each dendritic branch during natural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3. Dendritic arbors grouped by projection target.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Benezra and colleagues quantified dendritic length along three spatial axes and the total path length of reconstructed HVC neurons. Centering these measurements on each cell body separated dendritic extent from the neuron's absolute position within the nucleus.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RA-projecting neurons generally formed a smaller-dendrite group, whereas X-projecting neurons formed a larger-dendrite group. The distributions nevertheless included exceptions, and cells with branches to both targets did not constitute a single uniform size class.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measurements constrain the spatial integration available to each projection population. They do not justify assigning every small neuron a motor function or every large neuron a learning function without identifying its actual axonal target; anatomical classes overlap in some features even when their average organization differs.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4(a–d). Spatial distribution and size of HVC dendrites.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axon collateral is a branch of an axon, and a bouton is a swelling associated with a potential presynaptic terminal. Benezra and colleagues counted boutons along reconstructed local collateral branches of HVC(RA) and HVC(X)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projection classes carried abundant boutons within HVC, with broadly similar bouton densities. Their reconstruction-based estimate was about 400 local boutons per HVC(RA) neuron. The labeled micrographs preserve a 5 µm scale bar, making the spatial separation of adjacent swellings explicit rather than implying that a whole branch acts as one output site.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Long-range projection neurons can therefore contribute to local HVC communication as well as sending signals downstream. Light-microscopic boutons are anatomical candidates for synapses; their presence does not identify the postsynaptic cell or establish the strength and sign of a particular connection.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5(a–d). Axonal boutons and their spatial density.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Benezra and colleagues reconstructed the dendrites and axonal collaterals of individual HVC(RA) neurons within the boundary of HVC. The descending axon identified the cell's long-range destination, while its local branches provided a separate measure of intranuclear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Some cells confined most local axonal branches near the cell body, whereas others distributed branches across a broader portion of HVC. This variation remained visible within the RA-projecting population rather than being explained solely by differences between projection targets.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Local output makes a strictly feedforward description of HVC incomplete: an RA-projecting neuron can participate in HVC interactions before its axon reaches RA. The reconstruction does not determine whether the cell contacts another projection neuron, an inhibitory interneuron, or both.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6. Local axons of RA-projecting HVC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Area X receives an HVC projection distinct from the direct HVC-to-RA motor pathway. Benezra and colleagues reconstructed HVC(X) neurons with their local axons, dendrites, and descending projection identified in the same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Their local branches varied from restricted arbors to broad distributions within HVC. The authors compared these distributions with RA-projecting cells in a shared reference frame, revealing organization that would be lost in a drawing of one generic HVC-to-X connection.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HVC(X) neuron can consequently influence both the local HVC network and a distant basal ganglia region. The anatomical data support multiple routes for distributing activity, but do not establish whether particular local branches carry a timing signal, an auditory signal, or a mixture during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7. Local axons of X-projecting HVC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Benezra and colleagues identified HVC neurons with axonal projections toward both RA and Area X. These HVC(RA/X) cells challenge an absolute rule that all long-range HVC outputs belong to two completely separate populations.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reconstructed dual-projecting cells differed from one another in dendritic organization. The authors retained them as individually identified cells rather than forcing them into a single stereotyped anatomical class defined only by their shared target combination.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Dual projections provide a possible anatomical route for distributing related activity to motor and anterior forebrain pathways. Their existence does not establish how common such cells are throughout HVC, whether both branches transmit identical information, or whether they are necessary for coordinating the two pathways during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8. Two dual-projecting HVC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HVC shelf is tissue bordering HVC that is distinguished from the nucleus itself. Benezra and colleagues observed dendrites and axonal collaterals of an identified HVC(X) neuron extending beyond the conventional HVC boundary into this surrounding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Fluorescent and brightfield images were combined with reconstruction of the labeled processes. The original panels retain scale bars of 100 µm for the wider field and 25 µm and 5 µm for the detailed views, separating nuclear-scale anatomy from fine branches.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histological boundary is therefore not necessarily a complete boundary for a neuron's connections. These processes provide anatomical access to adjacent tissue, but the study did not establish the sensory responses of their partners or prove a specific information flow between shelf and HVC.</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9(a–c). Processes extending from HVC into the shelf.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broadcast arbor distributes axonal branches across a relatively broad volume, whereas a local arbor remains more spatially restricted. Benezra and colleagues quantified HVC axonal extent and the proportion of the nucleus occupied by each reconstructed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RA-projecting and X-projecting populations contained cells with different local output territories. Quantifying axonal distribution separately from dendritic distribution prevented a large input field from being treated automatically as a large output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anatomical differences constrain how activity might spread through the HVC network. The local-versus-broadcast distinction is a description of reconstructed geometry, not a demonstrated classification of neuronal function; identifying the actual partners and recording their responses would be necessary to establish the circuit consequences.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10(a–d). Local axonal distributions within HVC.</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RA is a forebrain motor nucleus whose projection neurons provide descending output to brainstem targets. Zemel and colleagues place RA within the vocal motor pathway connecting HVC with the tracheosyringeal hypoglossal nucleus, nXIIts, and respiratory-related brainstem circuitry.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syrinx is the avian vocal organ; its muscles are controlled by lower motor neurons rather than directly by RA cell bodies. RA activity thus reaches vocal musculature through descending axons and brainstem motor connections, coordinating sound production with respiratory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Maxwell and colleagues controlled air pressures around an isolated zebra finch syrinx and elicited sound without an intact brain. This preparation separates the mechanical sound generator from its neural commands; an anatomically intact vocal organ does not by itself establish normal neural control of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Maxwell A, Adam I, Larsen PS, Sørensen PG, Elemans CPH (2021). Syringeal vocal folds do not have a voice in zebra finch vocal development. Scientific Reports 11(1):6469. https://doi.org/10.1038/s41598-021-85929-5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RA and descending vocal motor pathways.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Maxwell et al. (2021), Fig. 1(a–b). Syrinx muscles and the medial vibratory mass.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https://doi.org/10.1038/s41598-021-85929-5</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action potential is a rapid electrical spike produced by voltage-dependent membrane conductances. An ion channel is a membrane protein that permits ions to cross the membrane. Zemel and colleagues recorded identified RA projection neurons in zebra finch brain slices using whole-cell current clamp, which measures membrane voltage while current is controlled.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approximately 40 °C, near avian physiological temperature, spontaneous spikes had a half-width of about 0.18 ms. Spontaneous firing was approximately fourfold faster than at room temperature, and depolarizing current could evoke sustained rapid spike trains.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Temperature therefore changes the quantitative description of these motor neurons. Slice recordings establish intrinsic firing capacity under controlled conditions, but are not recordings of the commands issued during a particular song syllable; intact singing additionally supplies patterned synaptic input and behavioral state.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1(a–k). RA motor anatomy and temperature-dependent spikes.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resurgent sodium current is an inward sodium current that appears as a membrane repolarizes after strong depolarization. Zemel and colleagues used voltage clamp, which controls membrane voltage while recording current, to separate this component from the initial transient sodium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step from −90 to +30 mV activated transient current; subsequent test voltages elicited resurgent current, with a peak near −3 nA at −45 mV in adult RA projection neurons. The sequence of voltage steps made the later inward current experimentally distinguishable from the initial spike-generating component.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Resurgent current can support renewed excitation during recovery from a spike. The recording establishes a membrane current under an imposed voltage protocol; its contribution to natural firing requires an additional manipulation of the conductance rather than inference from its presence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2(a–j). RA sodium-subunit expression and resurgent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sodium channel's β subunit is an accessory protein that can modify channel function. Zemel and colleagues used in situ hybridization, a method that detects specific RNA sequences in tissue, to compare Navβ3 and Navβ4 expression across male zebra finch development.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sampled stages included 20, 35, and 50 days after hatching and adulthood. RA changed from relatively strong Navβ3 expression toward stronger Navβ4 expression; comparison with surrounding arcopallium helped distinguish an RA-related change from a uniform change throughout nearby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RNA abundance identifies a candidate molecular mechanism but does not directly measure channel current or prove that a subunit causes a behavioral transition. The expression data were therefore paired with physiological recordings and later manipulations of resurgent current.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3(a–l). Developmental sodium-subunit expression in RA.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Zemel and colleagues recorded transient and resurgent sodium currents from RA projection neurons at 20, 35, and 50 days after hatching and in adult male zebra finches. Applying the same voltage protocol across stages made the current components directly comparable.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Resurgent current increased with age, including when normalized to the transient current measured within the same sweep. That normalization tested whether the developmental effect was simply an increase in all measurable sodium current rather than a disproportionate change in the resurgent component.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age-related current increase tracked the shift toward Navβ4 expression, but a developmental correlation alone cannot identify causation. Intrinsic membrane maturation can accompany song development without being equivalent to learning a particular tutor's syllable sequence.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4(a–f). Developmental increase of resurgent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Space clamp describes how well an electrode controls voltage throughout a neuron; long axons can make that control incomplete. Zemel and colleagues repeated sodium-current measurements in frontal slices that shortened the initial axonal segments of RA projection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also reduced extracellular sodium to improve recording conditions and compared neurons from 20-day males with adult neurons. The developmental difference in resurgent current remained under these altered preparation conditions, supporting its biological origin rather than a simple difference in recording distant axons.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controls strengthen interpretation of the current measurement without making the voltage clamp perfect. The comparison concerns isolated-cell membrane physiology, and does not itself establish how much a change in resurgent current alters the acoustic structure of a freely singing bird.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5(a–i). Axonal and voltage-clamp recording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Zemel and colleagues introduced a peptide from the intracellular C-terminal region of Navβ4 through the recording pipette into RA neurons from 20-day male zebra finches. A peptide is a short amino-acid chain used here to test a proposed channel interaction.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Resurgent current increased over approximately 7 minutes after whole-cell access with the native peptide. A scrambled peptide containing the same amino acids in a different sequence did not produce the same increase, controlling for nonspecific introduction of peptide material.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intervention links a defined sequence to the current phenotype more directly than RNA expression alone. It does not recreate every function of the intact β4 protein or establish that this peptide manipulation improves song learning in a behaving bird.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7(a–l). Native and scrambled Navβ4 peptide interventions.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Dynamic clamp computes a voltage-dependent current during recording and injects that current into a real neuron. Zemel and colleagues used this method to add a resurgent-current component to juvenile RA neurons and subtract a corresponding component from adult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Adding the component increased juvenile firing frequency, whereas subtraction reduced adult firing. The same cell could be compared with the intervention off and on, separating the immediate current effect from stable differences between developmental populations.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supports a causal contribution of resurgent current to neuronal excitability. The injected conductance was calibrated to measured sodium-current kinetics. Agreement with voltage-clamp recordings does not establish that this conductance alone explains song timing or behavioral proficiency.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8(a–h). Current records and dynamic-clamp interventions.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Zemel and colleagues compared Navβ4 expression and RA physiology across ages in female zebra finches, which do not produce the learned courtship song characteristic of males. In situ hybridization was assessed alongside adjacent Nissl-stained sections identifying the nucleus.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Females did not exhibit the male pattern of strong developmental Navβ4 upregulation and mature resurgent-current specialization. This comparison separated a sex-related developmental program from a change that would necessarily occur in every zebra finch reaching the same chronological 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Male birds isolated from tutor song nevertheless developed mature firing properties, further separating intrinsic maturation from successful imitation. The results support sex-linked motor-system specialization; they do not establish that a single sodium-channel subunit is sufficient to create singing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9(a–g). Female RA expression and sodium-current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SK channels are small-conductance calcium-activated potassium channels. Calcium-dependent potassium efflux can produce an afterhyperpolarization, a period of more negative membrane voltage following a spike that regulates when the next spike occurs.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Hou and colleagues recorded RA projection neurons in adult male zebra finch slices and applied apamin, an SK-channel blocker, at 100 nM. An example response to 100 pA rose from 34 to about 53 Hz. Blocking the channels reduced the afterhyperpolarization and increased current-evoked firing, linking the pharmacological target to both the spike waveform and ongoing excitability.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direction of the effect is consistent with removal of a potassium-mediated brake on excitation. Pharmacology establishes a contribution under the slice conditions, but does not identify every SK subunit or prove how this manipulation would change the timing of a complete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Hou GQ, Pan X, Liao CS, Wang SH, Li DF (2012). SK channels modulate the excitability and firing precision of projection neurons in the robust nucleus of the arcopallium in adult male zebra finches. Neuroscience Bulletin 28(3):271-281. https://doi.org/10.1007/s12264-012-1241-7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Hou et al. (2012), Fig. 1(A–F). SK blockade changes evoked firing and spike recovery.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https://doi.org/10.1007/s12264-012-1241-7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Interspike intervals are the times separating successive action potentials. Hou and colleagues compared spontaneous spike trains from the same RA projection neurons before and after apamin, allowing firing regularity to be assessed separately from the mean firing rate.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SK blockade increased variability in the intervals between spikes without a clear change in average spontaneous firing rate. Recordings therefore distinguished a neuron that fires more rapidly from a neuron that fires with more reproducible timing; these are different physiological properties.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Calcium-activated potassium feedback can stabilize the return toward spike threshold after each action potential. The result supports a contribution to temporal regularity in isolated RA cells, but natural song-related precision also depends on the timing of HVC and LMAN inputs and cannot be assigned entirely to SK channels.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Hou GQ, Pan X, Liao CS, Wang SH, Li DF (2012). SK channels modulate the excitability and firing precision of projection neurons in the robust nucleus of the arcopallium in adult male zebra finches. Neuroscience Bulletin 28(3):271-281. https://doi.org/10.1007/s12264-012-1241-7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Hou et al. (2012), Fig. 2(A–E). Spontaneous spike timing before and after apamin.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https://doi.org/10.1007/s12264-012-1241-7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spike threshold is the membrane voltage at which regenerative excitation initiates an action potential. Hou and colleagues evoked firing with a 100 pA depolarizing current and compared threshold measurements before and after 100 nM apamin blocked SK channels.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Blockade increased the variation of evoked spike thresholds and shifted them toward more depolarized voltages as injected current increased. The recordings linked irregular firing with less stable spike initiation rather than assuming that every change in spike count reflected the same membrane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measured effect supports a role for calcium-activated potassium feedback in recovery between spikes. It does not identify the complete sequence of sodium-channel recovery or the calcium source activating SK channels, and spontaneous and current-evoked firing need not respond identically to the same intervention.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Hou GQ, Pan X, Liao CS, Wang SH, Li DF (2012). SK channels modulate the excitability and firing precision of projection neurons in the robust nucleus of the arcopallium in adult male zebra finches. Neuroscience Bulletin 28(3):271-281. https://doi.org/10.1007/s12264-012-1241-7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Hou et al. (2012), Fig. 3(A–C). Evoked threshold changes during SK blockade.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https://doi.org/10.1007/s12264-012-1241-7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Hou and colleagues blocked ionotropic glutamate receptors while recording RA projection neurons. AMPA receptors support relatively fast excitatory transmission, whereas NMDA receptors have slower kinetics and voltage-dependent gating; the antagonists DNQX and APV suppress these receptor components.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Apamin still increased current-evoked firing after receptor blockade, but its effect on firing regularity was no longer clearly detectable. This comparison separated an excitability effect that persisted without glutamatergic input from a regularity effect that depended on the recording's synaptic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Intrinsic potassium conductance and incoming excitation therefore interact in determining spike timing. The control does not identify the presynaptic source responsible for the difference or establish the corresponding effect during singing; it constrains a purely intrinsic explanation of all changes in temporal regularity.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Hou GQ, Pan X, Liao CS, Wang SH, Li DF (2012). SK channels modulate the excitability and firing precision of projection neurons in the robust nucleus of the arcopallium in adult male zebra finches. Neuroscience Bulletin 28(3):271-281. https://doi.org/10.1007/s12264-012-1241-7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Hou et al. (2012), Fig. 4(A–E). Apamin effects after glutamate-receptor blockade.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https://doi.org/10.1007/s12264-012-1241-7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Dopamine is a neurotransmitter that can modulate neuronal properties through receptor-dependent intracellular signaling. Liao and colleagues recorded adult male zebra finch RA projection neurons and applied 50 µM dopamine while controlling the injected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During a 100 pA stimulus, normalized firing increased to approximately 1.38 times baseline and returned toward baseline after washout. The membrane potential became less negative, shifting from approximately −70 to −61 mV under the reported recording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within-cell drug and wash comparisons establish reversible modulation of excitability rather than a difference between cell populations. Bath application does not reproduce the concentration, duration, or spatial precision of physiological dopamine release, so these measurements should not be equated directly with a behavioral state during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Liao C, Wang S, Pan X, Hou G, Li D (2013). Dopamine Modulates the Excitability of Projection Neurons in the Robust Nucleus of the Arcopallium in Adult Zebra Finches. PLoS ONE 8(12):e82497. https://doi.org/10.1371/journal.pone.0082497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Liao et al. (2013), Fig. 1(A–D). Reversible dopamine effects on RA firing and voltage.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https://doi.org/10.1371/journal.pone.0082497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Liao and colleagues used tetrodotoxin, or TTX, to block voltage-gated sodium channels and prevent action potentials in their RA slice preparation. This manipulation tested whether dopamine-induced depolarization depended on spike-driven activity in the surrounding network.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Dopamine still produced a depolarizing membrane shift when sodium-dependent spikes were suppressed. The result separated the change in resting membrane behavior from the increased number of evoked action potentials observed in the unblocked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direct or locally mediated membrane effect is therefore supported, but the specific ionic conductance responsible was not isolated by this control. TTX also changes network activity broadly; persistence in its presence does not prove that all dopaminergic influences on RA during singing are exclusively postsynaptic.</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Liao C, Wang S, Pan X, Hou G, Li D (2013). Dopamine Modulates the Excitability of Projection Neurons in the Robust Nucleus of the Arcopallium in Adult Zebra Finches. PLoS ONE 8(12):e82497. https://doi.org/10.1371/journal.pone.0082497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Liao et al. (2013), Fig. 2(A–D). Depolarization with and without sodium-channel blockade.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https://doi.org/10.1371/journal.pone.0082497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D1-like receptor is a dopamine-receptor class that modulates cellular signaling rather than forming the spike-generating sodium pore. Liao and colleagues compared dopamine with the D1-like agonist SKF-38393 in adult male zebra finch RA projection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agonist increased excitability, and the D1-like antagonist SCH-23390 prevented the dopamine-associated increase under the study's conditions. Comparing an agonist with receptor blockade supplied converging pharmacological evidence for the receptor class involved.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experiments assign a functional contribution to D1-like signaling but do not resolve every receptor subtype, downstream enzyme, or target ion channel. The recorded effect concerns RA membrane physiology; it should not be generalized automatically to dopamine actions in Area X, where circuit organization and receptor effects differ.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Liao C, Wang S, Pan X, Hou G, Li D (2013). Dopamine Modulates the Excitability of Projection Neurons in the Robust Nucleus of the Arcopallium in Adult Zebra Finches. PLoS ONE 8(12):e82497. https://doi.org/10.1371/journal.pone.0082497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Liao et al. (2013), Fig. 3(A–D). D1-like agonist effects on RA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https://doi.org/10.1371/journal.pone.0082497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D2-like receptors form a dopamine-receptor class pharmacologically distinct from D1-like receptors. Liao and colleagues applied the D2-like agonist quinpirole to RA projection neurons and compared firing and membrane voltage before, during, and after the application.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Quinpirole did not reproduce the prominent increase in excitability produced by dopamine and the D1-like agonist in this preparation. The comparison constrained receptor interpretation instead of assuming that every dopamine receptor has the same effect on a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weak or absent effect under these conditions does not establish that D2-like receptors have no function anywhere in the song system. Receptor expression, release conditions, and network targets differ between regions; the study addresses the measured response of adult RA projection neurons in a controlled slice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Liao C, Wang S, Pan X, Hou G, Li D (2013). Dopamine Modulates the Excitability of Projection Neurons in the Robust Nucleus of the Arcopallium in Adult Zebra Finches. PLoS ONE 8(12):e82497. https://doi.org/10.1371/journal.pone.0082497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Liao et al. (2013), Fig. 5(A–D). D2-like agonist measurements in RA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https://doi.org/10.1371/journal.pone.0082497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lateral magnocellular nucleus of the anterior nidopallium, or LMAN, is a forebrain output of the anterior forebrain pathway. Garst-Orozco and colleagues stimulated HVC and LMAN fiber tracts separately while recording excitatory postsynaptic currents in RA projection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excitatory postsynaptic current is the membrane current produced when excitatory transmitter activates receptors on the recorded cell. Pathway-specific stimulation allowed the strength and receptor contributions of the two convergent inputs to be compared in juvenile and adult zebra finches.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 therefore receives input from a direct motor-related pathway and from a basal ganglia–thalamic pathway. Electrical stimulation in slices samples surviving fibers rather than every connection present in the intact animal, and does not reveal the natural activity pattern of those inputs during a particular syllable.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2(A–E). Pathway stimulation and currents recorded in RA.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 name="Google Shape;461;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Garst-Orozco and colleagues measured HVC-to-RA currents using weak stimulation that produced either failures or a consistent single-fiber response, and stronger stimulation that recruited the available input population. Comparing these measurements distinguished connection strength from the estimated number of recruited inputs.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Median single-fiber HVC currents rose from about 23 pA in subsong birds to 60 pA in adults. Estimated input number initially increased, then declined during later development. The experiment therefore identified refinement rather than a uniform increase in every aspect of excitatory connectivity.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Such strengthening and pruning can alter how RA converts HVC activity into motor output. The measurements do not establish that each lost input was an incorrect connection for a particular tutor song, and the fiber-number estimate is limited by slice preservation and assumptions about recruitment and current summation.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3(A–G). HVC input strengthening and refinement.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1(C). HVC, LMAN, and RA in the published pathway map.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Garst-Orozco and colleagues applied the same single-fiber and maximal-recruitment strategy to the LMAN input onto RA neurons. Recordings from subsong, plastic-song, and adult birds tested whether increasing song stereotypy reflected a simple disappearance of this excitatory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Mean single-fiber LMAN currents were approximately 146 pA in plastic-song birds and 142 pA in adults; the estimated number of available inputs remained relatively stable. The finding contrasted with the strengthening and pruning of HVC inputs measured in the same experimental framework.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Reduced behavioral variability can consequently coexist with persistent LMAN-to-RA connectivity. The result does not establish that LMAN firing patterns or synaptic effects are identical in behaving juveniles and adults; a preserved connection can have a different influence when other convergent inputs and network activity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4(A–H). LMAN current strength and receptor contributions.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1(C). HVC, LMAN, and RA in the published pathway map.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Garst-Orozco and colleagues recorded LMAN-evoked currents at −70 and +40 mV. At negative voltages, extracellular magnesium limits NMDA-receptor current; depolarization relieves this voltage-dependent block, allowing the slower receptor component to contribute more strongly.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comparison distinguished predominantly AMPA-mediated responses at −70 mV from the combined AMPA and NMDA response at +40 mV. The estimated NMDA-to-AMPA contribution in subsong birds was approximately 9:1. LMAN responses had a substantial NMDA component, connecting pathway identity to a particular form of postsynaptic integration rather than treating all excitatory inputs as interchangeable.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Voltage-dependent gating means that the effect of LMAN input depends partly on the postsynaptic state of RA. The recordings establish receptor contributions under imposed holding potentials, but cannot by themselves specify RA voltage trajectories or transmitter release during freely produced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4(A–H). LMAN current strength and receptor contributions.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1(C). HVC, LMAN, and RA in the published pathway map.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6" name="Google Shape;506;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Garst-Orozco and colleagues measured RA responses to 0.5-second current pulses at 35 °C across subsong, plastic-song, and adult stages. Input-to-firing gain and spike-frequency adaptation were broadly similar across these groups, constraining a simple intrinsic-excitability explanation of reduced song variability.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Zemel and colleagues included younger 20-day birds and isolated sodium-current components, detecting pronounced maturation of resurgent current and spike properties. The studies differ in developmental window, recording conditions, and the physiological property being measured.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stable firing-rate response over one age interval does not contradict earlier maturation of a particular ion current. Neither experiment supports a universal statement that RA intrinsic properties never change, nor that all decreases in song variability are caused by sodium-channel maturation.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5(A–F). RA firing responses across developmental stages.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1(C). HVC, LMAN, and RA in the published pathway map.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1" name="Google Shape;521;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Bottjer and colleagues lesioned the region then called MAN in male zebra finches at different stages of song development. Postoperative vocalizations were recorded repeatedly, and histology distinguished complete lesions from cases in which the intended region was largely spared.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Lesions early in development produced abnormal vocal patterns, whereas adult birds with complete bilateral lesions retained normal song for as long as five weeks. Birds operated at intermediate stages differed according to how established their song pattern was before surgery.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age dependence separates a contribution to developing vocal behavior from an obligatory role in executing established adult song. It does not prove that LMAN stores the tutor memory or that adult LMAN has no function; later pathway-specific physiology identifies persistent input to RA even after song stabilizes.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Bottjer SW, Miesner EA, Arnold AP (1984). Forebrain Lesions Disrupt Development But Not Maintenance of Song in Passerine Birds. Science 224(4651):901-903. https://doi.org/10.1126/science.6719123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1(C). HVC, LMAN, and RA in the published pathway map.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Area X is a song-related basal ganglia region containing striatal-like neurons and pallidal-like output neurons. The basal ganglia are forebrain circuits involved in selecting and modifying actions; these cell classes have different positions within the circuit rather than forming one homogeneous population.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Area X receives HVC and LMAN input and sends inhibitory output toward the medial portion of the dorsolateral thalamic nucleus, DLM. DLM projects to LMAN, whose output returns to RA and also to Area X, producing an anatomically connected forebrain loop.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GABA, gamma-aminobutyric acid, is the inhibitory transmitter associated with the pallidal-like output. The published anatomical pathway constrains possible mechanisms, but a connection diagram alone does not determine the moment-to-moment activity or learning rule operating in that loop.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(2010b). Anatomy of a songbird basal ganglia circuit essential for vocal learning and plasticity. Journal of Chemical Neuroanatomy 39(2):124-131. https://doi.org/10.1016/j.jchemneu.2009.07.003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1(A). Area X, DLM, LMAN, and midbrain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7" name="Google Shape;547;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retrograde tracer labels neurons projecting toward an injection site, whereas an anterograde tracer labels their axons and terminals downstream. Vates and Nottebohm used complementary tracing approaches to investigate pathways linking the song-related forebrain nuclei.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Injections associated with Area X and RA labeled neurons and terminal fields in LMAN. These distributions supported an LMAN output route to both the basal ganglia region and the motor nucleus, extending the circuit beyond a one-way chain from HVC to the vocal organ.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Using more than one tracer direction reduces ambiguity about which cells send and receive a projection. Tracer labeling nevertheless does not establish whether every anatomical connection is active during song, identify the transmitter at every terminal, or measure the temporal influence of a synapse on its target.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Vates GE, Nottebohm F (1995). Feedback circuitry within a song-learning pathway.. Proceedings of the National Academy of Sciences 92(11):5139-5143. https://doi.org/10.1073/pnas.92.11.5139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Vates &amp; Nottebohm (1995), Fig. 3(a–e). Tracer labeling linking LMAN, Area X, and RA.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https://doi.org/10.1073/pnas.92.11.5139</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Vates and Nottebohm placed different retrograde tracers in RA and Area X to ask whether the two projections originated from separate LMAN populations. Neurons containing both labels were identified within LMAN, providing evidence of output toward both targets from individual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result is more specific than overlapping terminal fields: it links the two target regions to a shared projecting neuron. A neuron with branching output can influence RA motor circuitry while also returning activity to the anterior forebrain loop through Area 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Double labeling identifies anatomical collateralization, not the information carried by each branch. Uptake and transport efficiencies also limit interpretation of unlabeled cells, so failure to detect a second label in one neuron does not prove that all of its axonal branches avoid the other target.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Vates GE, Nottebohm F (1995). Feedback circuitry within a song-learning pathway.. Proceedings of the National Academy of Sciences 92(11):5139-5143. https://doi.org/10.1073/pnas.92.11.5139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Vates &amp; Nottebohm (1995), Fig. 5(a–b). Two retrograde labels in LMAN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https://doi.org/10.1073/pnas.92.11.5139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Vates &amp; Nottebohm (1995), Fig. 4(a–f). Injection sites and retrogradely labeled LMAN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https://doi.org/10.1073/pnas.92.11.5139</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Doupe recorded extracellular spikes from LMAN while playing the bird's own song and comparison sounds to anesthetized adult zebra finches. A raster plot records individual spike times across repeated trials; averaging these trials yields the time-dependent firing-rate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Many neurons responded strongly to the bird's own song but weakly to other conspecific songs or simple acoustic stimuli. Comparisons with amplitude-modulated noise and tones tested whether a response could be explained by a generic sound-energy change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selectivity links an anterior forebrain nucleus with the acoustic structure of learned vocal behavior. Because these were playback responses under anesthesia, they do not establish that LMAN monitors song identically during awake singing or that the selective response is itself an error signal.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(1997). Song- and Order-Selective Neurons in the Songbird Anterior Forebrain and their Emergence during Vocal Development. The Journal of Neuroscience 17(3):1147-1167. https://doi.org/10.1523/jneurosci.17-03-01147.1997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Doupe (1997), Fig. 2(a–c). LMAN responses to self-song and comparison songs.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https://doi.org/10.1523/jneurosci.17-03-01147.1997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1(A). Area X, DLM, LMAN, and midbrain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Doupe compared responses to intact song with altered versions in which the order or arrangement of song elements was changed. A syllable is a recognizable acoustic unit; reorganizing syllables preserves many local acoustic features while changing their temporal context.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Some LMAN neurons responded more strongly to the normal sequence than to rearrangements or isolated combinations. Such comparisons tested whether selectivity depended only on an individual sound fragment or also on the relationship between fragments across time.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Temporal-order sensitivity is consistent with integration of a learned sequence rather than detection of a single frequency alone. It does not identify a complete synaptic mechanism for the selectivity, and responses to experimental rearrangements cannot by themselves distinguish recognition, prediction, and vocal-learning functions in the behaving animal.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(1997). Song- and Order-Selective Neurons in the Songbird Anterior Forebrain and their Emergence during Vocal Development. The Journal of Neuroscience 17(3):1147-1167. https://doi.org/10.1523/jneurosci.17-03-01147.1997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Doupe (1997), Fig. 7(a–g). Responses to combinations of song syllables.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https://doi.org/10.1523/jneurosci.17-03-01147.1997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1(A). Area X, DLM, LMAN, and midbrain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5" name="Google Shape;605;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Doupe recorded auditory responses in Area X using the bird's own song, reversed song, and songs from other zebra finches. Comparing multiple stimuli within the same neuron controlled for differences in overall excitability between cells and recording sites.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Area X neurons exhibited selective responses to familiar self-song, with responses influenced by the temporal structure of the playback. Auditory selectivity was therefore present within the basal ganglia portion of the anterior forebrain pathway, rather than being restricted to its LMAN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findings establish sensory responsiveness in a song-related circuit but do not equate Area X with an auditory storage site. The extracellular recording does not identify every neuron's cell class, and the anesthetized playback preparation differs from the sensory and motor conditions during natural courtship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(1997). Song- and Order-Selective Neurons in the Songbird Anterior Forebrain and their Emergence during Vocal Development. The Journal of Neuroscience 17(3):1147-1167. https://doi.org/10.1523/jneurosci.17-03-01147.1997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Doupe (1997), Fig. 9(a–d). Song-selective auditory responses in Area 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https://doi.org/10.1523/jneurosci.17-03-01147.1997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1(A). Area X, DLM, LMAN, and midbrain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0" name="Google Shape;620;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Gale and Perkel recorded neurons in the substantia nigra pars compacta and ventral tegmental area, SNc/VTA, while testing auditory responses. These midbrain regions provide dopaminergic input to Area X, but recording location alone does not establish a neuron's transmitter identity.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combined spike measurements with juxtacellular labeling and immunostaining for tyrosine hydroxylase, an enzyme involved in catecholamine synthesis. Labeled cells with the marker provided an anatomical and biochemical check on the classification based on firing properties.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fluorescent micrographs retain 20 µm scale bars and connect a recorded cell with its tissue identity. Marker-positive cells support the dopaminergic interpretation in this preparation, but a waveform criterion alone remains less specific than identifying the recorded neuron histologically.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4(A–F). Recorded cell labeling and transmitter-marker staining.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1(A). Area X, DLM, LMAN, and midbrain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5" name="Google Shape;635;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Disinhibition is increased activity caused by reducing inhibitory input. Gale and Perkel found that song playback excited Area X neurons, inhibited neurons in the ventral pallidum, and excited identified dopaminergic SNc/VTA neurons, consistent with a serial inhibitory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Activating Area X with glutamate increased downstream dopaminergic firing, whereas GABA injection reduced it. Blocking AMPA and NMDA receptors in Area X diminished song-evoked dopaminergic responses; vehicle injections provided a control for the injection procedure.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convergent recordings and interventions support a route through which song-related forebrain activity regulates its own dopamine supply. They do not establish that every evoked dopamine response encodes reward prediction or a vocal error; the experiments tested auditory responsiveness and circuit influence rather than a complete learning algorithm.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8(A–H). Area X drug injections alter midbrain firing.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1(A). Area X, DLM, LMAN, and midbrain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0" name="Google Shape;650;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Separate projection pathways. HVC reaches RA directly for vocal motor control and reaches Area X through a distinct output population; DLM and LMAN form the anterior forebrain route back to RA.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Anatomical connections constrain mechanisms. Lesions establish regional necessity, tracers establish projection direction, and single-cell reconstructions reveal local collaterals; none alone specifies the information transmitted at a synapse.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 integrates different excitatory inputs. HVC and LMAN converge on RA, but their developmental connectivity and receptor contributions differ; stronger, refined HVC input can coexist with persistent LMAN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Motor physiology has multiple controls. Resurgent sodium current supports rapid RA firing, while SK channels regulate spike recovery and timing in interaction with synaptic input; dopamine modulates RA excitability through D1-like signaling.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LMAN contributes differently across ages. Early lesions disrupt vocal development, whereas established adult song can persist after lesions; this difference does not imply that adult LMAN becomes anatomically disconnected or functionless.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Auditory selectivity is not an error signal by itself. LMAN, Area X, and dopaminergic circuitry respond selectively to self-song, but anesthetized playback responses do not establish the complete teaching signal or learning rule used during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Stokes TM, Leonard CM (1976). Central control of song in the canary, Serinus canarius. Journal of Comparative Neurology 165(4):457-486. https://doi.org/10.1002/cne.901650405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Bottjer SW, Miesner EA, Arnold AP (1984). Forebrain Lesions Disrupt Development But Not Maintenance of Song in Passerine Birds. Science 224(4651):901-903. https://doi.org/10.1126/science.6719123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Hou GQ, Pan X, Liao CS, Wang SH, Li DF (2012). SK channels modulate the excitability and firing precision of projection neurons in the robust nucleus of the arcopallium in adult male zebra finches. Neuroscience Bulletin 28(3):271-281. https://doi.org/10.1007/s12264-012-1241-7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Liao C, Wang S, Pan X, Hou G, Li D (2013). Dopamine Modulates the Excitability of Projection Neurons in the Robust Nucleus of the Arcopallium in Adult Zebra Finches. PLoS ONE 8(12):e82497. https://doi.org/10.1371/journal.pone.0082497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(1997). Song- and Order-Selective Neurons in the Songbird Anterior Forebrain and their Emergence during Vocal Development. The Journal of Neuroscience 17(3):1147-1167. https://doi.org/10.1523/jneurosci.17-03-01147.1997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3.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8.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9.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2.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1.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0.png"/><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4.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7.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8.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3.png"/><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0.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2.png"/><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7.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6.png"/><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E6EBE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2697B"/>
              </a:buClr>
              <a:buSzPts val="1200"/>
              <a:buFont typeface="Arial"/>
              <a:buNone/>
            </a:pPr>
            <a:r>
              <a:rPr b="0" i="0" lang="en-US" sz="1200">
                <a:solidFill>
                  <a:srgbClr val="52697B"/>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685800" y="1782961"/>
            <a:ext cx="4743450" cy="24675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2697B"/>
              </a:buClr>
              <a:buSzPts val="1800"/>
              <a:buFont typeface="Arial"/>
              <a:buNone/>
            </a:pPr>
            <a:r>
              <a:rPr b="0" i="0" lang="en-US" sz="1800">
                <a:solidFill>
                  <a:srgbClr val="52697B"/>
                </a:solidFill>
                <a:latin typeface="Arial"/>
                <a:ea typeface="Arial"/>
                <a:cs typeface="Arial"/>
                <a:sym typeface="Arial"/>
              </a:rPr>
              <a:t>Lecture 32</a:t>
            </a:r>
            <a:endParaRPr sz="1800">
              <a:solidFill>
                <a:schemeClr val="dk1"/>
              </a:solidFill>
              <a:latin typeface="Calibri"/>
              <a:ea typeface="Calibri"/>
              <a:cs typeface="Calibri"/>
              <a:sym typeface="Calibri"/>
            </a:endParaRPr>
          </a:p>
        </p:txBody>
      </p:sp>
      <p:sp>
        <p:nvSpPr>
          <p:cNvPr id="22" name="Google Shape;22;p1"/>
          <p:cNvSpPr/>
          <p:nvPr/>
        </p:nvSpPr>
        <p:spPr>
          <a:xfrm>
            <a:off x="685800" y="2331700"/>
            <a:ext cx="5064900" cy="13710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D4355"/>
              </a:buClr>
              <a:buSzPts val="2500"/>
              <a:buFont typeface="Arial"/>
              <a:buNone/>
            </a:pPr>
            <a:r>
              <a:rPr b="1" i="0" lang="en-US" sz="2500">
                <a:solidFill>
                  <a:srgbClr val="252E36"/>
                </a:solidFill>
                <a:latin typeface="Arial"/>
                <a:ea typeface="Arial"/>
                <a:cs typeface="Arial"/>
                <a:sym typeface="Arial"/>
              </a:rPr>
              <a:t>Vocal communication I: songbird song-system anatomy — HVC–RA–Area X </a:t>
            </a:r>
            <a:r>
              <a:rPr b="1" lang="en-US" sz="2500">
                <a:solidFill>
                  <a:srgbClr val="252E36"/>
                </a:solidFill>
              </a:rPr>
              <a:t>&amp; LMAN (Nottebohm, Bottjer, Doupe)</a:t>
            </a:r>
            <a:endParaRPr b="1" sz="2500">
              <a:solidFill>
                <a:srgbClr val="252E36"/>
              </a:solidFill>
              <a:latin typeface="Calibri"/>
              <a:ea typeface="Calibri"/>
              <a:cs typeface="Calibri"/>
              <a:sym typeface="Calibri"/>
            </a:endParaRPr>
          </a:p>
        </p:txBody>
      </p:sp>
      <p:sp>
        <p:nvSpPr>
          <p:cNvPr id="23" name="Google Shape;23;p1"/>
          <p:cNvSpPr/>
          <p:nvPr/>
        </p:nvSpPr>
        <p:spPr>
          <a:xfrm>
            <a:off x="685800" y="4749552"/>
            <a:ext cx="4743450" cy="21937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2697B"/>
              </a:buClr>
              <a:buSzPts val="1600"/>
              <a:buFont typeface="Arial"/>
              <a:buNone/>
            </a:pPr>
            <a:r>
              <a:rPr b="0" i="0" lang="en-US" sz="1600">
                <a:solidFill>
                  <a:srgbClr val="52697B"/>
                </a:solidFill>
                <a:latin typeface="Arial"/>
                <a:ea typeface="Arial"/>
                <a:cs typeface="Arial"/>
                <a:sym typeface="Arial"/>
              </a:rPr>
              <a:t>Monday, November 9, 2026</a:t>
            </a:r>
            <a:endParaRPr sz="1800">
              <a:solidFill>
                <a:schemeClr val="dk1"/>
              </a:solidFill>
              <a:latin typeface="Calibri"/>
              <a:ea typeface="Calibri"/>
              <a:cs typeface="Calibri"/>
              <a:sym typeface="Calibri"/>
            </a:endParaRPr>
          </a:p>
        </p:txBody>
      </p:sp>
      <p:sp>
        <p:nvSpPr>
          <p:cNvPr id="24" name="Google Shape;24;p1"/>
          <p:cNvSpPr/>
          <p:nvPr/>
        </p:nvSpPr>
        <p:spPr>
          <a:xfrm>
            <a:off x="685800" y="5435352"/>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2697B"/>
              </a:buClr>
              <a:buSzPts val="1200"/>
              <a:buFont typeface="Arial"/>
              <a:buNone/>
            </a:pPr>
            <a:r>
              <a:rPr b="0" i="0" lang="en-US" sz="1200">
                <a:solidFill>
                  <a:srgbClr val="52697B"/>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sp>
        <p:nvSpPr>
          <p:cNvPr id="25" name="Google Shape;25;p1"/>
          <p:cNvSpPr/>
          <p:nvPr/>
        </p:nvSpPr>
        <p:spPr>
          <a:xfrm>
            <a:off x="685800" y="5625108"/>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2697B"/>
              </a:buClr>
              <a:buSzPts val="1200"/>
              <a:buFont typeface="Arial"/>
              <a:buNone/>
            </a:pPr>
            <a:r>
              <a:rPr b="0" i="0" lang="en-US" sz="1200">
                <a:solidFill>
                  <a:srgbClr val="52697B"/>
                </a:solidFill>
                <a:latin typeface="Arial"/>
                <a:ea typeface="Arial"/>
                <a:cs typeface="Arial"/>
                <a:sym typeface="Arial"/>
              </a:rPr>
              <a:t>Professor of Neurobiology &amp; Biomedical Engineering</a:t>
            </a:r>
            <a:endParaRPr sz="1800">
              <a:solidFill>
                <a:schemeClr val="dk1"/>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6553312" y="822871"/>
            <a:ext cx="5181377" cy="3455938"/>
          </a:xfrm>
          <a:prstGeom prst="rect">
            <a:avLst/>
          </a:prstGeom>
          <a:noFill/>
          <a:ln>
            <a:noFill/>
          </a:ln>
        </p:spPr>
      </p:pic>
      <p:sp>
        <p:nvSpPr>
          <p:cNvPr id="27" name="Google Shape;27;p1"/>
          <p:cNvSpPr/>
          <p:nvPr/>
        </p:nvSpPr>
        <p:spPr>
          <a:xfrm>
            <a:off x="6553200" y="5943600"/>
            <a:ext cx="52006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Photo: Male and female zebra finches.</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Song is a learned, organized motor sequence</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600"/>
              <a:buFont typeface="Arial"/>
              <a:buNone/>
            </a:pPr>
            <a:r>
              <a:rPr b="1" i="0" lang="en-US" sz="1600">
                <a:solidFill>
                  <a:srgbClr val="405D72"/>
                </a:solidFill>
                <a:latin typeface="Arial"/>
                <a:ea typeface="Arial"/>
                <a:cs typeface="Arial"/>
                <a:sym typeface="Arial"/>
              </a:rPr>
              <a:t>Song</a:t>
            </a:r>
            <a:r>
              <a:rPr b="0" i="0" lang="en-US" sz="1600">
                <a:solidFill>
                  <a:srgbClr val="252E36"/>
                </a:solidFill>
                <a:latin typeface="Arial"/>
                <a:ea typeface="Arial"/>
                <a:cs typeface="Arial"/>
                <a:sym typeface="Arial"/>
              </a:rPr>
              <a:t> consists of coordinated vocal elements whose frequency and timing can be measured with a spectrogram, a display of acoustic energy across time and frequency. Nottebohm and colleagues recorded adult male canaries before brain surgery, establishing each bird's own repertoire as the behavioral baseline.</a:t>
            </a:r>
            <a:endParaRPr sz="1800">
              <a:solidFill>
                <a:schemeClr val="dk1"/>
              </a:solidFill>
              <a:latin typeface="Calibri"/>
              <a:ea typeface="Calibri"/>
              <a:cs typeface="Calibri"/>
              <a:sym typeface="Calibri"/>
            </a:endParaRPr>
          </a:p>
        </p:txBody>
      </p:sp>
      <p:sp>
        <p:nvSpPr>
          <p:cNvPr id="34" name="Google Shape;34;p2"/>
          <p:cNvSpPr/>
          <p:nvPr/>
        </p:nvSpPr>
        <p:spPr>
          <a:xfrm>
            <a:off x="566886" y="2672507"/>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They compared postoperative vocalizations with those recordings rather than treating all changes in singing as equivalent. Damage could reduce the number of available syllables, disturb their acoustic structure, or disrupt the organization of phrases while leaving vocal output possible.</a:t>
            </a:r>
            <a:endParaRPr sz="1800">
              <a:solidFill>
                <a:schemeClr val="dk1"/>
              </a:solidFill>
              <a:latin typeface="Calibri"/>
              <a:ea typeface="Calibri"/>
              <a:cs typeface="Calibri"/>
              <a:sym typeface="Calibri"/>
            </a:endParaRPr>
          </a:p>
        </p:txBody>
      </p:sp>
      <p:sp>
        <p:nvSpPr>
          <p:cNvPr id="35" name="Google Shape;35;p2"/>
          <p:cNvSpPr/>
          <p:nvPr/>
        </p:nvSpPr>
        <p:spPr>
          <a:xfrm>
            <a:off x="566886" y="4110633"/>
            <a:ext cx="52247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bird that still vocalizes can therefore have a severe song-control deficit. These experiments localized components of an established motor behavior; adult lesions alone did not identify where a juvenile stores or learns a tutor's song.</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8284964" y="1280134"/>
            <a:ext cx="1193453" cy="2925834"/>
          </a:xfrm>
          <a:prstGeom prst="rect">
            <a:avLst/>
          </a:prstGeom>
          <a:noFill/>
          <a:ln>
            <a:noFill/>
          </a:ln>
        </p:spPr>
      </p:pic>
      <p:sp>
        <p:nvSpPr>
          <p:cNvPr id="37" name="Google Shape;37;p2"/>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Nottebohm et al. (1976), Fig. 13. Canary song before and after a forebrain lesion.</a:t>
            </a:r>
            <a:endParaRPr sz="1800">
              <a:solidFill>
                <a:schemeClr val="dk1"/>
              </a:solidFill>
              <a:latin typeface="Calibri"/>
              <a:ea typeface="Calibri"/>
              <a:cs typeface="Calibri"/>
              <a:sym typeface="Calibri"/>
            </a:endParaRPr>
          </a:p>
        </p:txBody>
      </p:sp>
      <p:pic>
        <p:nvPicPr>
          <p:cNvPr id="38" name="Google Shape;38;p2"/>
          <p:cNvPicPr preferRelativeResize="0"/>
          <p:nvPr/>
        </p:nvPicPr>
        <p:blipFill rotWithShape="1">
          <a:blip r:embed="rId4">
            <a:alphaModFix/>
          </a:blip>
          <a:srcRect b="0" l="0" r="0" t="0"/>
          <a:stretch/>
        </p:blipFill>
        <p:spPr>
          <a:xfrm>
            <a:off x="8452120" y="4754761"/>
            <a:ext cx="859140" cy="1005780"/>
          </a:xfrm>
          <a:prstGeom prst="rect">
            <a:avLst/>
          </a:prstGeom>
          <a:noFill/>
          <a:ln>
            <a:noFill/>
          </a:ln>
        </p:spPr>
      </p:pic>
      <p:sp>
        <p:nvSpPr>
          <p:cNvPr id="39" name="Google Shape;39;p2"/>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Nottebohm et al. (1976), Fig. 11. Lesion locations associated with song disruption.</a:t>
            </a:r>
            <a:endParaRPr sz="1800">
              <a:solidFill>
                <a:schemeClr val="dk1"/>
              </a:solidFill>
              <a:latin typeface="Calibri"/>
              <a:ea typeface="Calibri"/>
              <a:cs typeface="Calibri"/>
              <a:sym typeface="Calibri"/>
            </a:endParaRPr>
          </a:p>
        </p:txBody>
      </p:sp>
      <p:sp>
        <p:nvSpPr>
          <p:cNvPr id="40" name="Google Shape;40;p2"/>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Nottebohm et al. (1976)</a:t>
            </a:r>
            <a:endParaRPr sz="1800">
              <a:solidFill>
                <a:schemeClr val="dk1"/>
              </a:solidFill>
              <a:latin typeface="Calibri"/>
              <a:ea typeface="Calibri"/>
              <a:cs typeface="Calibri"/>
              <a:sym typeface="Calibri"/>
            </a:endParaRPr>
          </a:p>
        </p:txBody>
      </p:sp>
      <p:sp>
        <p:nvSpPr>
          <p:cNvPr id="42" name="Google Shape;42;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 name="Shape 46"/>
        <p:cNvGrpSpPr/>
        <p:nvPr/>
      </p:nvGrpSpPr>
      <p:grpSpPr>
        <a:xfrm>
          <a:off x="0" y="0"/>
          <a:ext cx="0" cy="0"/>
          <a:chOff x="0" y="0"/>
          <a:chExt cx="0" cy="0"/>
        </a:xfrm>
      </p:grpSpPr>
      <p:sp>
        <p:nvSpPr>
          <p:cNvPr id="47" name="Google Shape;47;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Song disruption depends on lesion location</a:t>
            </a:r>
            <a:endParaRPr sz="1800">
              <a:solidFill>
                <a:schemeClr val="dk1"/>
              </a:solidFill>
              <a:latin typeface="Calibri"/>
              <a:ea typeface="Calibri"/>
              <a:cs typeface="Calibri"/>
              <a:sym typeface="Calibri"/>
            </a:endParaRPr>
          </a:p>
        </p:txBody>
      </p:sp>
      <p:sp>
        <p:nvSpPr>
          <p:cNvPr id="48" name="Google Shape;48;p3"/>
          <p:cNvSpPr/>
          <p:nvPr/>
        </p:nvSpPr>
        <p:spPr>
          <a:xfrm>
            <a:off x="6053435" y="123438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a:t>
            </a:r>
            <a:r>
              <a:rPr b="1" i="0" lang="en-US" sz="1600">
                <a:solidFill>
                  <a:srgbClr val="405D72"/>
                </a:solidFill>
                <a:latin typeface="Arial"/>
                <a:ea typeface="Arial"/>
                <a:cs typeface="Arial"/>
                <a:sym typeface="Arial"/>
              </a:rPr>
              <a:t>lesion</a:t>
            </a:r>
            <a:r>
              <a:rPr b="0" i="0" lang="en-US" sz="1600">
                <a:solidFill>
                  <a:srgbClr val="252E36"/>
                </a:solidFill>
                <a:latin typeface="Arial"/>
                <a:ea typeface="Arial"/>
                <a:cs typeface="Arial"/>
                <a:sym typeface="Arial"/>
              </a:rPr>
              <a:t> is damage to tissue used to test whether a region contributes to a behavior. Nottebohm and colleagues made unilateral electrolytic lesions in adult male canaries and reconstructed their positions histologically after repeated postoperative song recordings.</a:t>
            </a:r>
            <a:endParaRPr sz="1800">
              <a:solidFill>
                <a:schemeClr val="dk1"/>
              </a:solidFill>
              <a:latin typeface="Calibri"/>
              <a:ea typeface="Calibri"/>
              <a:cs typeface="Calibri"/>
              <a:sym typeface="Calibri"/>
            </a:endParaRPr>
          </a:p>
        </p:txBody>
      </p:sp>
      <p:sp>
        <p:nvSpPr>
          <p:cNvPr id="49" name="Google Shape;49;p3"/>
          <p:cNvSpPr/>
          <p:nvPr/>
        </p:nvSpPr>
        <p:spPr>
          <a:xfrm>
            <a:off x="6053435" y="2453134"/>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Lesions involving HVC or the robust nucleus of the arcopallium, </a:t>
            </a:r>
            <a:r>
              <a:rPr b="1" i="0" lang="en-US" sz="1600">
                <a:solidFill>
                  <a:srgbClr val="405D72"/>
                </a:solidFill>
                <a:latin typeface="Arial"/>
                <a:ea typeface="Arial"/>
                <a:cs typeface="Arial"/>
                <a:sym typeface="Arial"/>
              </a:rPr>
              <a:t>RA</a:t>
            </a:r>
            <a:r>
              <a:rPr b="0" i="0" lang="en-US" sz="1600">
                <a:solidFill>
                  <a:srgbClr val="252E36"/>
                </a:solidFill>
                <a:latin typeface="Arial"/>
                <a:ea typeface="Arial"/>
                <a:cs typeface="Arial"/>
                <a:sym typeface="Arial"/>
              </a:rPr>
              <a:t>, severely altered song organization, whereas several lesions outside the implicated pathway had little or no effect. Comparing effective and ineffective lesion sites constrained the anatomical interpretation beyond a simple surgery-versus-no-surgery comparison.</a:t>
            </a:r>
            <a:endParaRPr sz="1800">
              <a:solidFill>
                <a:schemeClr val="dk1"/>
              </a:solidFill>
              <a:latin typeface="Calibri"/>
              <a:ea typeface="Calibri"/>
              <a:cs typeface="Calibri"/>
              <a:sym typeface="Calibri"/>
            </a:endParaRPr>
          </a:p>
        </p:txBody>
      </p:sp>
      <p:sp>
        <p:nvSpPr>
          <p:cNvPr id="50" name="Google Shape;50;p3"/>
          <p:cNvSpPr/>
          <p:nvPr/>
        </p:nvSpPr>
        <p:spPr>
          <a:xfrm>
            <a:off x="6053435" y="389126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Electrolytic current can damage both local neurons and passing axons. The results establish that these restricted forebrain territories are necessary for normal adult song, but do not isolate a particular cell type or prove that every nucleus performs the same computation.</a:t>
            </a:r>
            <a:endParaRPr sz="1800">
              <a:solidFill>
                <a:schemeClr val="dk1"/>
              </a:solidFill>
              <a:latin typeface="Calibri"/>
              <a:ea typeface="Calibri"/>
              <a:cs typeface="Calibri"/>
              <a:sym typeface="Calibri"/>
            </a:endParaRPr>
          </a:p>
        </p:txBody>
      </p:sp>
      <p:pic>
        <p:nvPicPr>
          <p:cNvPr id="51" name="Google Shape;51;p3"/>
          <p:cNvPicPr preferRelativeResize="0"/>
          <p:nvPr/>
        </p:nvPicPr>
        <p:blipFill rotWithShape="1">
          <a:blip r:embed="rId3">
            <a:alphaModFix/>
          </a:blip>
          <a:srcRect b="0" l="0" r="0" t="0"/>
          <a:stretch/>
        </p:blipFill>
        <p:spPr>
          <a:xfrm>
            <a:off x="1291758" y="1280071"/>
            <a:ext cx="3670987" cy="4297561"/>
          </a:xfrm>
          <a:prstGeom prst="rect">
            <a:avLst/>
          </a:prstGeom>
          <a:noFill/>
          <a:ln>
            <a:noFill/>
          </a:ln>
        </p:spPr>
      </p:pic>
      <p:sp>
        <p:nvSpPr>
          <p:cNvPr id="52" name="Google Shape;52;p3"/>
          <p:cNvSpPr/>
          <p:nvPr/>
        </p:nvSpPr>
        <p:spPr>
          <a:xfrm>
            <a:off x="56688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Nottebohm et al. (1976), Fig. 11. Lesion locations associated with song disruption.</a:t>
            </a:r>
            <a:endParaRPr sz="1800">
              <a:solidFill>
                <a:schemeClr val="dk1"/>
              </a:solidFill>
              <a:latin typeface="Calibri"/>
              <a:ea typeface="Calibri"/>
              <a:cs typeface="Calibri"/>
              <a:sym typeface="Calibri"/>
            </a:endParaRPr>
          </a:p>
        </p:txBody>
      </p:sp>
      <p:sp>
        <p:nvSpPr>
          <p:cNvPr id="53" name="Google Shape;53;p3"/>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Nottebohm et al. (1976)</a:t>
            </a:r>
            <a:endParaRPr sz="1800">
              <a:solidFill>
                <a:schemeClr val="dk1"/>
              </a:solidFill>
              <a:latin typeface="Calibri"/>
              <a:ea typeface="Calibri"/>
              <a:cs typeface="Calibri"/>
              <a:sym typeface="Calibri"/>
            </a:endParaRPr>
          </a:p>
        </p:txBody>
      </p:sp>
      <p:sp>
        <p:nvSpPr>
          <p:cNvPr id="55" name="Google Shape;55;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Degenerating axons reveal descending song pathways</a:t>
            </a:r>
            <a:endParaRPr sz="1800">
              <a:solidFill>
                <a:schemeClr val="dk1"/>
              </a:solidFill>
              <a:latin typeface="Calibri"/>
              <a:ea typeface="Calibri"/>
              <a:cs typeface="Calibri"/>
              <a:sym typeface="Calibri"/>
            </a:endParaRPr>
          </a:p>
        </p:txBody>
      </p:sp>
      <p:sp>
        <p:nvSpPr>
          <p:cNvPr id="61" name="Google Shape;61;p4"/>
          <p:cNvSpPr/>
          <p:nvPr/>
        </p:nvSpPr>
        <p:spPr>
          <a:xfrm>
            <a:off x="566886" y="1234380"/>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An </a:t>
            </a:r>
            <a:r>
              <a:rPr b="1" i="0" lang="en-US" sz="1500">
                <a:solidFill>
                  <a:srgbClr val="405D72"/>
                </a:solidFill>
                <a:latin typeface="Arial"/>
                <a:ea typeface="Arial"/>
                <a:cs typeface="Arial"/>
                <a:sym typeface="Arial"/>
              </a:rPr>
              <a:t>axon</a:t>
            </a:r>
            <a:r>
              <a:rPr b="0" i="0" lang="en-US" sz="1500">
                <a:solidFill>
                  <a:srgbClr val="252E36"/>
                </a:solidFill>
                <a:latin typeface="Arial"/>
                <a:ea typeface="Arial"/>
                <a:cs typeface="Arial"/>
                <a:sym typeface="Arial"/>
              </a:rPr>
              <a:t> carries signals away from a neuron; a projection is an axonal connection between regions. A </a:t>
            </a:r>
            <a:r>
              <a:rPr b="1" i="0" lang="en-US" sz="1500">
                <a:solidFill>
                  <a:srgbClr val="405D72"/>
                </a:solidFill>
                <a:latin typeface="Arial"/>
                <a:ea typeface="Arial"/>
                <a:cs typeface="Arial"/>
                <a:sym typeface="Arial"/>
              </a:rPr>
              <a:t>synapse</a:t>
            </a:r>
            <a:r>
              <a:rPr b="0" i="0" lang="en-US" sz="1500">
                <a:solidFill>
                  <a:srgbClr val="252E36"/>
                </a:solidFill>
                <a:latin typeface="Arial"/>
                <a:ea typeface="Arial"/>
                <a:cs typeface="Arial"/>
                <a:sym typeface="Arial"/>
              </a:rPr>
              <a:t> is a junction through which a neuron influences another cell. Nottebohm and colleagues combined behavioral lesions with Fink–Heimer staining, a method that reveals degenerating fibers and terminals downstream of damaged neurons.</a:t>
            </a:r>
            <a:endParaRPr sz="1800">
              <a:solidFill>
                <a:schemeClr val="dk1"/>
              </a:solidFill>
              <a:latin typeface="Calibri"/>
              <a:ea typeface="Calibri"/>
              <a:cs typeface="Calibri"/>
              <a:sym typeface="Calibri"/>
            </a:endParaRPr>
          </a:p>
        </p:txBody>
      </p:sp>
      <p:sp>
        <p:nvSpPr>
          <p:cNvPr id="62" name="Google Shape;62;p4"/>
          <p:cNvSpPr/>
          <p:nvPr/>
        </p:nvSpPr>
        <p:spPr>
          <a:xfrm>
            <a:off x="566886" y="2788444"/>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Degeneration linked the region historically called HVc to RA and connected RA with descending pathways toward vocal motor structures. Comparing the locations of lesions with the distributions of degeneration supplied anatomical evidence independent of the acoustic changes in song.</a:t>
            </a:r>
            <a:endParaRPr sz="1800">
              <a:solidFill>
                <a:schemeClr val="dk1"/>
              </a:solidFill>
              <a:latin typeface="Calibri"/>
              <a:ea typeface="Calibri"/>
              <a:cs typeface="Calibri"/>
              <a:sym typeface="Calibri"/>
            </a:endParaRPr>
          </a:p>
        </p:txBody>
      </p:sp>
      <p:sp>
        <p:nvSpPr>
          <p:cNvPr id="63" name="Google Shape;63;p4"/>
          <p:cNvSpPr/>
          <p:nvPr/>
        </p:nvSpPr>
        <p:spPr>
          <a:xfrm>
            <a:off x="566886" y="4136827"/>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The historical names in the original article differ from current avian terminology: HVC is now used as a proper name, and RA lies in the arcopallium. Degeneration tracing establishes a pathway's anatomical direction, but does not measure its transmitter, synaptic sign, or activity during singing.</a:t>
            </a:r>
            <a:endParaRPr sz="1800">
              <a:solidFill>
                <a:schemeClr val="dk1"/>
              </a:solidFill>
              <a:latin typeface="Calibri"/>
              <a:ea typeface="Calibri"/>
              <a:cs typeface="Calibri"/>
              <a:sym typeface="Calibri"/>
            </a:endParaRPr>
          </a:p>
        </p:txBody>
      </p:sp>
      <p:pic>
        <p:nvPicPr>
          <p:cNvPr id="64" name="Google Shape;64;p4"/>
          <p:cNvPicPr preferRelativeResize="0"/>
          <p:nvPr/>
        </p:nvPicPr>
        <p:blipFill rotWithShape="1">
          <a:blip r:embed="rId3">
            <a:alphaModFix/>
          </a:blip>
          <a:srcRect b="0" l="0" r="0" t="0"/>
          <a:stretch/>
        </p:blipFill>
        <p:spPr>
          <a:xfrm>
            <a:off x="7500370" y="1280071"/>
            <a:ext cx="2762641" cy="2925961"/>
          </a:xfrm>
          <a:prstGeom prst="rect">
            <a:avLst/>
          </a:prstGeom>
          <a:noFill/>
          <a:ln>
            <a:noFill/>
          </a:ln>
        </p:spPr>
      </p:pic>
      <p:sp>
        <p:nvSpPr>
          <p:cNvPr id="65" name="Google Shape;65;p4"/>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Nottebohm et al. (1976), Fig. 7(a–d). Degeneration staining in the canary song pathway.</a:t>
            </a:r>
            <a:endParaRPr sz="1800">
              <a:solidFill>
                <a:schemeClr val="dk1"/>
              </a:solidFill>
              <a:latin typeface="Calibri"/>
              <a:ea typeface="Calibri"/>
              <a:cs typeface="Calibri"/>
              <a:sym typeface="Calibri"/>
            </a:endParaRPr>
          </a:p>
        </p:txBody>
      </p:sp>
      <p:pic>
        <p:nvPicPr>
          <p:cNvPr id="66" name="Google Shape;66;p4"/>
          <p:cNvPicPr preferRelativeResize="0"/>
          <p:nvPr/>
        </p:nvPicPr>
        <p:blipFill rotWithShape="1">
          <a:blip r:embed="rId4">
            <a:alphaModFix/>
          </a:blip>
          <a:srcRect b="0" l="0" r="0" t="0"/>
          <a:stretch/>
        </p:blipFill>
        <p:spPr>
          <a:xfrm>
            <a:off x="8415040" y="4754794"/>
            <a:ext cx="933152" cy="1005714"/>
          </a:xfrm>
          <a:prstGeom prst="rect">
            <a:avLst/>
          </a:prstGeom>
          <a:noFill/>
          <a:ln>
            <a:noFill/>
          </a:ln>
        </p:spPr>
      </p:pic>
      <p:sp>
        <p:nvSpPr>
          <p:cNvPr id="67" name="Google Shape;67;p4"/>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2(a–f). Identified RA- and X-projecting HVC neurons.</a:t>
            </a:r>
            <a:endParaRPr sz="1800">
              <a:solidFill>
                <a:schemeClr val="dk1"/>
              </a:solidFill>
              <a:latin typeface="Calibri"/>
              <a:ea typeface="Calibri"/>
              <a:cs typeface="Calibri"/>
              <a:sym typeface="Calibri"/>
            </a:endParaRPr>
          </a:p>
        </p:txBody>
      </p:sp>
      <p:sp>
        <p:nvSpPr>
          <p:cNvPr id="68" name="Google Shape;68;p4"/>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Nottebohm et al. (1976); Benezra et al. (2018)</a:t>
            </a:r>
            <a:endParaRPr sz="1800">
              <a:solidFill>
                <a:schemeClr val="dk1"/>
              </a:solidFill>
              <a:latin typeface="Calibri"/>
              <a:ea typeface="Calibri"/>
              <a:cs typeface="Calibri"/>
              <a:sym typeface="Calibri"/>
            </a:endParaRPr>
          </a:p>
        </p:txBody>
      </p:sp>
      <p:sp>
        <p:nvSpPr>
          <p:cNvPr id="70" name="Google Shape;70;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HVC contains neurons with distinct output targets</a:t>
            </a:r>
            <a:endParaRPr sz="1800">
              <a:solidFill>
                <a:schemeClr val="dk1"/>
              </a:solidFill>
              <a:latin typeface="Calibri"/>
              <a:ea typeface="Calibri"/>
              <a:cs typeface="Calibri"/>
              <a:sym typeface="Calibri"/>
            </a:endParaRPr>
          </a:p>
        </p:txBody>
      </p:sp>
      <p:sp>
        <p:nvSpPr>
          <p:cNvPr id="76" name="Google Shape;76;p5"/>
          <p:cNvSpPr/>
          <p:nvPr/>
        </p:nvSpPr>
        <p:spPr>
          <a:xfrm>
            <a:off x="6053435" y="123438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a:t>
            </a:r>
            <a:r>
              <a:rPr b="1" i="0" lang="en-US" sz="1600">
                <a:solidFill>
                  <a:srgbClr val="405D72"/>
                </a:solidFill>
                <a:latin typeface="Arial"/>
                <a:ea typeface="Arial"/>
                <a:cs typeface="Arial"/>
                <a:sym typeface="Arial"/>
              </a:rPr>
              <a:t>projection neuron</a:t>
            </a:r>
            <a:r>
              <a:rPr b="0" i="0" lang="en-US" sz="1600">
                <a:solidFill>
                  <a:srgbClr val="252E36"/>
                </a:solidFill>
                <a:latin typeface="Arial"/>
                <a:ea typeface="Arial"/>
                <a:cs typeface="Arial"/>
                <a:sym typeface="Arial"/>
              </a:rPr>
              <a:t> sends an axon outside its local region. Benezra and colleagues distinguished HVC neurons projecting to RA, designated HVC(RA), from neurons projecting to Area X, a song-related </a:t>
            </a:r>
            <a:r>
              <a:rPr b="1" i="0" lang="en-US" sz="1600">
                <a:solidFill>
                  <a:srgbClr val="405D72"/>
                </a:solidFill>
                <a:latin typeface="Arial"/>
                <a:ea typeface="Arial"/>
                <a:cs typeface="Arial"/>
                <a:sym typeface="Arial"/>
              </a:rPr>
              <a:t>basal ganglia</a:t>
            </a:r>
            <a:r>
              <a:rPr b="0" i="0" lang="en-US" sz="1600">
                <a:solidFill>
                  <a:srgbClr val="252E36"/>
                </a:solidFill>
                <a:latin typeface="Arial"/>
                <a:ea typeface="Arial"/>
                <a:cs typeface="Arial"/>
                <a:sym typeface="Arial"/>
              </a:rPr>
              <a:t> region involved in action control, designated HVC(X).</a:t>
            </a:r>
            <a:endParaRPr sz="1800">
              <a:solidFill>
                <a:schemeClr val="dk1"/>
              </a:solidFill>
              <a:latin typeface="Calibri"/>
              <a:ea typeface="Calibri"/>
              <a:cs typeface="Calibri"/>
              <a:sym typeface="Calibri"/>
            </a:endParaRPr>
          </a:p>
        </p:txBody>
      </p:sp>
      <p:sp>
        <p:nvSpPr>
          <p:cNvPr id="77" name="Google Shape;77;p5"/>
          <p:cNvSpPr/>
          <p:nvPr/>
        </p:nvSpPr>
        <p:spPr>
          <a:xfrm>
            <a:off x="6053435" y="2672507"/>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They labeled individual cells in adult male zebra finches and reconstructed their dendrites and axons in three dimensions. The analysis retained the target identity of each filled neuron rather than pooling every HVC cell into a single morphological population.</a:t>
            </a:r>
            <a:endParaRPr sz="1800">
              <a:solidFill>
                <a:schemeClr val="dk1"/>
              </a:solidFill>
              <a:latin typeface="Calibri"/>
              <a:ea typeface="Calibri"/>
              <a:cs typeface="Calibri"/>
              <a:sym typeface="Calibri"/>
            </a:endParaRPr>
          </a:p>
        </p:txBody>
      </p:sp>
      <p:sp>
        <p:nvSpPr>
          <p:cNvPr id="78" name="Google Shape;78;p5"/>
          <p:cNvSpPr/>
          <p:nvPr/>
        </p:nvSpPr>
        <p:spPr>
          <a:xfrm>
            <a:off x="6053435" y="3891260"/>
            <a:ext cx="559058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HVC(RA) and HVC(X) neurons differed in their dendritic and local axonal organization, although target identity did not perfectly predict every anatomical feature. Separate output classes allow HVC to influence vocal execution and the anterior forebrain pathway; morphology alone does not reveal the precise signals transmitted along either branch.</a:t>
            </a:r>
            <a:endParaRPr sz="1800">
              <a:solidFill>
                <a:schemeClr val="dk1"/>
              </a:solidFill>
              <a:latin typeface="Calibri"/>
              <a:ea typeface="Calibri"/>
              <a:cs typeface="Calibri"/>
              <a:sym typeface="Calibri"/>
            </a:endParaRPr>
          </a:p>
        </p:txBody>
      </p:sp>
      <p:pic>
        <p:nvPicPr>
          <p:cNvPr id="79" name="Google Shape;79;p5"/>
          <p:cNvPicPr preferRelativeResize="0"/>
          <p:nvPr/>
        </p:nvPicPr>
        <p:blipFill rotWithShape="1">
          <a:blip r:embed="rId3">
            <a:alphaModFix/>
          </a:blip>
          <a:srcRect b="0" l="0" r="0" t="0"/>
          <a:stretch/>
        </p:blipFill>
        <p:spPr>
          <a:xfrm>
            <a:off x="1133577" y="1280071"/>
            <a:ext cx="3987496" cy="4297561"/>
          </a:xfrm>
          <a:prstGeom prst="rect">
            <a:avLst/>
          </a:prstGeom>
          <a:noFill/>
          <a:ln>
            <a:noFill/>
          </a:ln>
        </p:spPr>
      </p:pic>
      <p:sp>
        <p:nvSpPr>
          <p:cNvPr id="80" name="Google Shape;80;p5"/>
          <p:cNvSpPr/>
          <p:nvPr/>
        </p:nvSpPr>
        <p:spPr>
          <a:xfrm>
            <a:off x="56688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2(a–f). Identified RA- and X-projecting HVC neurons.</a:t>
            </a:r>
            <a:endParaRPr sz="1800">
              <a:solidFill>
                <a:schemeClr val="dk1"/>
              </a:solidFill>
              <a:latin typeface="Calibri"/>
              <a:ea typeface="Calibri"/>
              <a:cs typeface="Calibri"/>
              <a:sym typeface="Calibri"/>
            </a:endParaRPr>
          </a:p>
        </p:txBody>
      </p:sp>
      <p:sp>
        <p:nvSpPr>
          <p:cNvPr id="81" name="Google Shape;81;p5"/>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83" name="Google Shape;83;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Two-photon targeting links cells to reconstructed arbors</a:t>
            </a:r>
            <a:endParaRPr sz="1800">
              <a:solidFill>
                <a:schemeClr val="dk1"/>
              </a:solidFill>
              <a:latin typeface="Calibri"/>
              <a:ea typeface="Calibri"/>
              <a:cs typeface="Calibri"/>
              <a:sym typeface="Calibri"/>
            </a:endParaRPr>
          </a:p>
        </p:txBody>
      </p:sp>
      <p:sp>
        <p:nvSpPr>
          <p:cNvPr id="89" name="Google Shape;89;p6"/>
          <p:cNvSpPr/>
          <p:nvPr/>
        </p:nvSpPr>
        <p:spPr>
          <a:xfrm>
            <a:off x="566886" y="123438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600"/>
              <a:buFont typeface="Arial"/>
              <a:buNone/>
            </a:pPr>
            <a:r>
              <a:rPr b="1" i="0" lang="en-US" sz="1600">
                <a:solidFill>
                  <a:srgbClr val="405D72"/>
                </a:solidFill>
                <a:latin typeface="Arial"/>
                <a:ea typeface="Arial"/>
                <a:cs typeface="Arial"/>
                <a:sym typeface="Arial"/>
              </a:rPr>
              <a:t>Two-photon microscopy</a:t>
            </a:r>
            <a:r>
              <a:rPr b="0" i="0" lang="en-US" sz="1600">
                <a:solidFill>
                  <a:srgbClr val="252E36"/>
                </a:solidFill>
                <a:latin typeface="Arial"/>
                <a:ea typeface="Arial"/>
                <a:cs typeface="Arial"/>
                <a:sym typeface="Arial"/>
              </a:rPr>
              <a:t> uses nonlinear excitation to resolve fluorescent structures within tissue. Benezra and colleagues combined retrograde labeling from an HVC output target with visually guided recordings and intracellular filling, connecting a neuron's projection identity with its later anatomical reconstruction.</a:t>
            </a:r>
            <a:endParaRPr sz="1800">
              <a:solidFill>
                <a:schemeClr val="dk1"/>
              </a:solidFill>
              <a:latin typeface="Calibri"/>
              <a:ea typeface="Calibri"/>
              <a:cs typeface="Calibri"/>
              <a:sym typeface="Calibri"/>
            </a:endParaRPr>
          </a:p>
        </p:txBody>
      </p:sp>
      <p:sp>
        <p:nvSpPr>
          <p:cNvPr id="90" name="Google Shape;90;p6"/>
          <p:cNvSpPr/>
          <p:nvPr/>
        </p:nvSpPr>
        <p:spPr>
          <a:xfrm>
            <a:off x="566886" y="2672507"/>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fluorescently filled neuron was processed histologically so that its dendrites and axonal branches could be traced across sections. This approach resolved single-cell structure that would be obscured if many neighboring neurons were labeled together.</a:t>
            </a:r>
            <a:endParaRPr sz="1800">
              <a:solidFill>
                <a:schemeClr val="dk1"/>
              </a:solidFill>
              <a:latin typeface="Calibri"/>
              <a:ea typeface="Calibri"/>
              <a:cs typeface="Calibri"/>
              <a:sym typeface="Calibri"/>
            </a:endParaRPr>
          </a:p>
        </p:txBody>
      </p:sp>
      <p:sp>
        <p:nvSpPr>
          <p:cNvPr id="91" name="Google Shape;91;p6"/>
          <p:cNvSpPr/>
          <p:nvPr/>
        </p:nvSpPr>
        <p:spPr>
          <a:xfrm>
            <a:off x="566886" y="389126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Targeted filling provides a bridge between an identified neuron and its complete local arbor. However, incomplete filling, section boundaries, and finite optical resolution can hide fine processes; the resulting anatomical map is not a direct measurement of every functional synapse.</a:t>
            </a:r>
            <a:endParaRPr sz="1800">
              <a:solidFill>
                <a:schemeClr val="dk1"/>
              </a:solidFill>
              <a:latin typeface="Calibri"/>
              <a:ea typeface="Calibri"/>
              <a:cs typeface="Calibri"/>
              <a:sym typeface="Calibri"/>
            </a:endParaRPr>
          </a:p>
        </p:txBody>
      </p:sp>
      <p:pic>
        <p:nvPicPr>
          <p:cNvPr id="92" name="Google Shape;92;p6"/>
          <p:cNvPicPr preferRelativeResize="0"/>
          <p:nvPr/>
        </p:nvPicPr>
        <p:blipFill rotWithShape="1">
          <a:blip r:embed="rId3">
            <a:alphaModFix/>
          </a:blip>
          <a:srcRect b="0" l="0" r="0" t="0"/>
          <a:stretch/>
        </p:blipFill>
        <p:spPr>
          <a:xfrm>
            <a:off x="7297447" y="1280071"/>
            <a:ext cx="3534306" cy="4297561"/>
          </a:xfrm>
          <a:prstGeom prst="rect">
            <a:avLst/>
          </a:prstGeom>
          <a:noFill/>
          <a:ln>
            <a:noFill/>
          </a:ln>
        </p:spPr>
      </p:pic>
      <p:sp>
        <p:nvSpPr>
          <p:cNvPr id="93" name="Google Shape;93;p6"/>
          <p:cNvSpPr/>
          <p:nvPr/>
        </p:nvSpPr>
        <p:spPr>
          <a:xfrm>
            <a:off x="650423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1(a–f). Targeted labeling and single-cell filling in HVC.</a:t>
            </a:r>
            <a:endParaRPr sz="1800">
              <a:solidFill>
                <a:schemeClr val="dk1"/>
              </a:solidFill>
              <a:latin typeface="Calibri"/>
              <a:ea typeface="Calibri"/>
              <a:cs typeface="Calibri"/>
              <a:sym typeface="Calibri"/>
            </a:endParaRPr>
          </a:p>
        </p:txBody>
      </p:sp>
      <p:sp>
        <p:nvSpPr>
          <p:cNvPr id="94" name="Google Shape;94;p6"/>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96" name="Google Shape;96;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Dendrites occupy different territories in HVC</a:t>
            </a:r>
            <a:endParaRPr sz="1800">
              <a:solidFill>
                <a:schemeClr val="dk1"/>
              </a:solidFill>
              <a:latin typeface="Calibri"/>
              <a:ea typeface="Calibri"/>
              <a:cs typeface="Calibri"/>
              <a:sym typeface="Calibri"/>
            </a:endParaRPr>
          </a:p>
        </p:txBody>
      </p:sp>
      <p:sp>
        <p:nvSpPr>
          <p:cNvPr id="102" name="Google Shape;102;p7"/>
          <p:cNvSpPr/>
          <p:nvPr/>
        </p:nvSpPr>
        <p:spPr>
          <a:xfrm>
            <a:off x="6053435" y="123438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a:t>
            </a:r>
            <a:r>
              <a:rPr b="1" i="0" lang="en-US" sz="1600">
                <a:solidFill>
                  <a:srgbClr val="405D72"/>
                </a:solidFill>
                <a:latin typeface="Arial"/>
                <a:ea typeface="Arial"/>
                <a:cs typeface="Arial"/>
                <a:sym typeface="Arial"/>
              </a:rPr>
              <a:t>dendrite</a:t>
            </a:r>
            <a:r>
              <a:rPr b="0" i="0" lang="en-US" sz="1600">
                <a:solidFill>
                  <a:srgbClr val="252E36"/>
                </a:solidFill>
                <a:latin typeface="Arial"/>
                <a:ea typeface="Arial"/>
                <a:cs typeface="Arial"/>
                <a:sym typeface="Arial"/>
              </a:rPr>
              <a:t> is a neuronal process that receives synaptic input. Benezra and colleagues compared reconstructed dendritic trees of HVC(RA) and HVC(X) neurons after registering their positions within HVC, allowing cell types to be compared in a common anatomical frame.</a:t>
            </a:r>
            <a:endParaRPr sz="1800">
              <a:solidFill>
                <a:schemeClr val="dk1"/>
              </a:solidFill>
              <a:latin typeface="Calibri"/>
              <a:ea typeface="Calibri"/>
              <a:cs typeface="Calibri"/>
              <a:sym typeface="Calibri"/>
            </a:endParaRPr>
          </a:p>
        </p:txBody>
      </p:sp>
      <p:sp>
        <p:nvSpPr>
          <p:cNvPr id="103" name="Google Shape;103;p7"/>
          <p:cNvSpPr/>
          <p:nvPr/>
        </p:nvSpPr>
        <p:spPr>
          <a:xfrm>
            <a:off x="6053435" y="2453134"/>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Most RA-projecting cells had relatively restricted dendritic territories, whereas X-projecting cells occupied larger territories. Displaying individual reconstructions preserved variation within each class rather than replacing the cells with an idealized average neuron.</a:t>
            </a:r>
            <a:endParaRPr sz="1800">
              <a:solidFill>
                <a:schemeClr val="dk1"/>
              </a:solidFill>
              <a:latin typeface="Calibri"/>
              <a:ea typeface="Calibri"/>
              <a:cs typeface="Calibri"/>
              <a:sym typeface="Calibri"/>
            </a:endParaRPr>
          </a:p>
        </p:txBody>
      </p:sp>
      <p:sp>
        <p:nvSpPr>
          <p:cNvPr id="104" name="Google Shape;104;p7"/>
          <p:cNvSpPr/>
          <p:nvPr/>
        </p:nvSpPr>
        <p:spPr>
          <a:xfrm>
            <a:off x="6053435" y="3671888"/>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broader dendritic field creates access to a different spatial distribution of potential inputs, but proximity is not equivalent to connectivity. The study measured anatomy, not the identities, strengths, or timing of all inputs contacting each dendritic branch during natural song.</a:t>
            </a:r>
            <a:endParaRPr sz="1800">
              <a:solidFill>
                <a:schemeClr val="dk1"/>
              </a:solidFill>
              <a:latin typeface="Calibri"/>
              <a:ea typeface="Calibri"/>
              <a:cs typeface="Calibri"/>
              <a:sym typeface="Calibri"/>
            </a:endParaRPr>
          </a:p>
        </p:txBody>
      </p:sp>
      <p:pic>
        <p:nvPicPr>
          <p:cNvPr id="105" name="Google Shape;105;p7"/>
          <p:cNvPicPr preferRelativeResize="0"/>
          <p:nvPr/>
        </p:nvPicPr>
        <p:blipFill rotWithShape="1">
          <a:blip r:embed="rId3">
            <a:alphaModFix/>
          </a:blip>
          <a:srcRect b="0" l="0" r="0" t="0"/>
          <a:stretch/>
        </p:blipFill>
        <p:spPr>
          <a:xfrm>
            <a:off x="1504860" y="1280071"/>
            <a:ext cx="3244782" cy="4297561"/>
          </a:xfrm>
          <a:prstGeom prst="rect">
            <a:avLst/>
          </a:prstGeom>
          <a:noFill/>
          <a:ln>
            <a:noFill/>
          </a:ln>
        </p:spPr>
      </p:pic>
      <p:sp>
        <p:nvSpPr>
          <p:cNvPr id="106" name="Google Shape;106;p7"/>
          <p:cNvSpPr/>
          <p:nvPr/>
        </p:nvSpPr>
        <p:spPr>
          <a:xfrm>
            <a:off x="56688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3. Dendritic arbors grouped by projection target.</a:t>
            </a:r>
            <a:endParaRPr sz="1800">
              <a:solidFill>
                <a:schemeClr val="dk1"/>
              </a:solidFill>
              <a:latin typeface="Calibri"/>
              <a:ea typeface="Calibri"/>
              <a:cs typeface="Calibri"/>
              <a:sym typeface="Calibri"/>
            </a:endParaRPr>
          </a:p>
        </p:txBody>
      </p:sp>
      <p:sp>
        <p:nvSpPr>
          <p:cNvPr id="107" name="Google Shape;107;p7"/>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09" name="Google Shape;109;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Target identity predicts dendritic scale imperfectly</a:t>
            </a:r>
            <a:endParaRPr sz="1800">
              <a:solidFill>
                <a:schemeClr val="dk1"/>
              </a:solidFill>
              <a:latin typeface="Calibri"/>
              <a:ea typeface="Calibri"/>
              <a:cs typeface="Calibri"/>
              <a:sym typeface="Calibri"/>
            </a:endParaRPr>
          </a:p>
        </p:txBody>
      </p:sp>
      <p:sp>
        <p:nvSpPr>
          <p:cNvPr id="115" name="Google Shape;115;p8"/>
          <p:cNvSpPr/>
          <p:nvPr/>
        </p:nvSpPr>
        <p:spPr>
          <a:xfrm>
            <a:off x="566886" y="123438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Benezra and colleagues quantified dendritic length along three spatial axes and the total path length of reconstructed HVC neurons. Centering these measurements on each cell body separated dendritic extent from the neuron's absolute position within the nucleus.</a:t>
            </a:r>
            <a:endParaRPr sz="1800">
              <a:solidFill>
                <a:schemeClr val="dk1"/>
              </a:solidFill>
              <a:latin typeface="Calibri"/>
              <a:ea typeface="Calibri"/>
              <a:cs typeface="Calibri"/>
              <a:sym typeface="Calibri"/>
            </a:endParaRPr>
          </a:p>
        </p:txBody>
      </p:sp>
      <p:sp>
        <p:nvSpPr>
          <p:cNvPr id="116" name="Google Shape;116;p8"/>
          <p:cNvSpPr/>
          <p:nvPr/>
        </p:nvSpPr>
        <p:spPr>
          <a:xfrm>
            <a:off x="566886" y="2672507"/>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RA-projecting neurons generally formed a smaller-dendrite group, whereas X-projecting neurons formed a larger-dendrite group. The distributions nevertheless included exceptions, and cells with branches to both targets did not constitute a single uniform size class.</a:t>
            </a:r>
            <a:endParaRPr sz="1800">
              <a:solidFill>
                <a:schemeClr val="dk1"/>
              </a:solidFill>
              <a:latin typeface="Calibri"/>
              <a:ea typeface="Calibri"/>
              <a:cs typeface="Calibri"/>
              <a:sym typeface="Calibri"/>
            </a:endParaRPr>
          </a:p>
        </p:txBody>
      </p:sp>
      <p:sp>
        <p:nvSpPr>
          <p:cNvPr id="117" name="Google Shape;117;p8"/>
          <p:cNvSpPr/>
          <p:nvPr/>
        </p:nvSpPr>
        <p:spPr>
          <a:xfrm>
            <a:off x="566886" y="389126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These measurements constrain the spatial integration available to each projection population. They do not justify assigning every small neuron a motor function or every large neuron a learning function without identifying its actual axonal target; anatomical classes overlap in some features even when their average organization differs.</a:t>
            </a:r>
            <a:endParaRPr sz="1800">
              <a:solidFill>
                <a:schemeClr val="dk1"/>
              </a:solidFill>
              <a:latin typeface="Calibri"/>
              <a:ea typeface="Calibri"/>
              <a:cs typeface="Calibri"/>
              <a:sym typeface="Calibri"/>
            </a:endParaRPr>
          </a:p>
        </p:txBody>
      </p:sp>
      <p:pic>
        <p:nvPicPr>
          <p:cNvPr id="118" name="Google Shape;118;p8"/>
          <p:cNvPicPr preferRelativeResize="0"/>
          <p:nvPr/>
        </p:nvPicPr>
        <p:blipFill rotWithShape="1">
          <a:blip r:embed="rId3">
            <a:alphaModFix/>
          </a:blip>
          <a:srcRect b="0" l="0" r="0" t="0"/>
          <a:stretch/>
        </p:blipFill>
        <p:spPr>
          <a:xfrm>
            <a:off x="6504406" y="1280071"/>
            <a:ext cx="5120388" cy="3537645"/>
          </a:xfrm>
          <a:prstGeom prst="rect">
            <a:avLst/>
          </a:prstGeom>
          <a:noFill/>
          <a:ln>
            <a:noFill/>
          </a:ln>
        </p:spPr>
      </p:pic>
      <p:sp>
        <p:nvSpPr>
          <p:cNvPr id="119" name="Google Shape;119;p8"/>
          <p:cNvSpPr/>
          <p:nvPr/>
        </p:nvSpPr>
        <p:spPr>
          <a:xfrm>
            <a:off x="6504236" y="4909245"/>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4(a–d). Spatial distribution and size of HVC dendrites.</a:t>
            </a:r>
            <a:endParaRPr sz="1800">
              <a:solidFill>
                <a:schemeClr val="dk1"/>
              </a:solidFill>
              <a:latin typeface="Calibri"/>
              <a:ea typeface="Calibri"/>
              <a:cs typeface="Calibri"/>
              <a:sym typeface="Calibri"/>
            </a:endParaRPr>
          </a:p>
        </p:txBody>
      </p:sp>
      <p:sp>
        <p:nvSpPr>
          <p:cNvPr id="120" name="Google Shape;120;p8"/>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22" name="Google Shape;122;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Axonal boutons mark potential local output sites</a:t>
            </a:r>
            <a:endParaRPr sz="1800">
              <a:solidFill>
                <a:schemeClr val="dk1"/>
              </a:solidFill>
              <a:latin typeface="Calibri"/>
              <a:ea typeface="Calibri"/>
              <a:cs typeface="Calibri"/>
              <a:sym typeface="Calibri"/>
            </a:endParaRPr>
          </a:p>
        </p:txBody>
      </p:sp>
      <p:sp>
        <p:nvSpPr>
          <p:cNvPr id="128" name="Google Shape;128;p9"/>
          <p:cNvSpPr/>
          <p:nvPr/>
        </p:nvSpPr>
        <p:spPr>
          <a:xfrm>
            <a:off x="6053435" y="123438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An </a:t>
            </a:r>
            <a:r>
              <a:rPr b="1" i="0" lang="en-US" sz="1600">
                <a:solidFill>
                  <a:srgbClr val="405D72"/>
                </a:solidFill>
                <a:latin typeface="Arial"/>
                <a:ea typeface="Arial"/>
                <a:cs typeface="Arial"/>
                <a:sym typeface="Arial"/>
              </a:rPr>
              <a:t>axon collateral</a:t>
            </a:r>
            <a:r>
              <a:rPr b="0" i="0" lang="en-US" sz="1600">
                <a:solidFill>
                  <a:srgbClr val="252E36"/>
                </a:solidFill>
                <a:latin typeface="Arial"/>
                <a:ea typeface="Arial"/>
                <a:cs typeface="Arial"/>
                <a:sym typeface="Arial"/>
              </a:rPr>
              <a:t> is a branch of an axon, and a </a:t>
            </a:r>
            <a:r>
              <a:rPr b="1" i="0" lang="en-US" sz="1600">
                <a:solidFill>
                  <a:srgbClr val="405D72"/>
                </a:solidFill>
                <a:latin typeface="Arial"/>
                <a:ea typeface="Arial"/>
                <a:cs typeface="Arial"/>
                <a:sym typeface="Arial"/>
              </a:rPr>
              <a:t>bouton</a:t>
            </a:r>
            <a:r>
              <a:rPr b="0" i="0" lang="en-US" sz="1600">
                <a:solidFill>
                  <a:srgbClr val="252E36"/>
                </a:solidFill>
                <a:latin typeface="Arial"/>
                <a:ea typeface="Arial"/>
                <a:cs typeface="Arial"/>
                <a:sym typeface="Arial"/>
              </a:rPr>
              <a:t> is a swelling associated with a potential presynaptic terminal. Benezra and colleagues counted boutons along reconstructed local collateral branches of HVC(RA) and HVC(X) neurons.</a:t>
            </a:r>
            <a:endParaRPr sz="1800">
              <a:solidFill>
                <a:schemeClr val="dk1"/>
              </a:solidFill>
              <a:latin typeface="Calibri"/>
              <a:ea typeface="Calibri"/>
              <a:cs typeface="Calibri"/>
              <a:sym typeface="Calibri"/>
            </a:endParaRPr>
          </a:p>
        </p:txBody>
      </p:sp>
      <p:sp>
        <p:nvSpPr>
          <p:cNvPr id="129" name="Google Shape;129;p9"/>
          <p:cNvSpPr/>
          <p:nvPr/>
        </p:nvSpPr>
        <p:spPr>
          <a:xfrm>
            <a:off x="6053435" y="2453134"/>
            <a:ext cx="559058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Both projection classes carried abundant boutons within HVC, with broadly similar bouton densities. Their reconstruction-based estimate was about 400 local boutons per HVC(RA) neuron. The labeled micrographs preserve a 5 µm scale bar, making the spatial separation of adjacent swellings explicit rather than implying that a whole branch acts as one output site.</a:t>
            </a:r>
            <a:endParaRPr sz="1800">
              <a:solidFill>
                <a:schemeClr val="dk1"/>
              </a:solidFill>
              <a:latin typeface="Calibri"/>
              <a:ea typeface="Calibri"/>
              <a:cs typeface="Calibri"/>
              <a:sym typeface="Calibri"/>
            </a:endParaRPr>
          </a:p>
        </p:txBody>
      </p:sp>
      <p:sp>
        <p:nvSpPr>
          <p:cNvPr id="130" name="Google Shape;130;p9"/>
          <p:cNvSpPr/>
          <p:nvPr/>
        </p:nvSpPr>
        <p:spPr>
          <a:xfrm>
            <a:off x="6053435" y="4110633"/>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Long-range projection neurons can therefore contribute to local HVC communication as well as sending signals downstream. Light-microscopic boutons are anatomical candidates for synapses; their presence does not identify the postsynaptic cell or establish the strength and sign of a particular connection.</a:t>
            </a:r>
            <a:endParaRPr sz="1800">
              <a:solidFill>
                <a:schemeClr val="dk1"/>
              </a:solidFill>
              <a:latin typeface="Calibri"/>
              <a:ea typeface="Calibri"/>
              <a:cs typeface="Calibri"/>
              <a:sym typeface="Calibri"/>
            </a:endParaRPr>
          </a:p>
        </p:txBody>
      </p:sp>
      <p:pic>
        <p:nvPicPr>
          <p:cNvPr id="131" name="Google Shape;131;p9"/>
          <p:cNvPicPr preferRelativeResize="0"/>
          <p:nvPr/>
        </p:nvPicPr>
        <p:blipFill rotWithShape="1">
          <a:blip r:embed="rId3">
            <a:alphaModFix/>
          </a:blip>
          <a:srcRect b="0" l="0" r="0" t="0"/>
          <a:stretch/>
        </p:blipFill>
        <p:spPr>
          <a:xfrm>
            <a:off x="1814107" y="1280071"/>
            <a:ext cx="2626287" cy="4297561"/>
          </a:xfrm>
          <a:prstGeom prst="rect">
            <a:avLst/>
          </a:prstGeom>
          <a:noFill/>
          <a:ln>
            <a:noFill/>
          </a:ln>
        </p:spPr>
      </p:pic>
      <p:sp>
        <p:nvSpPr>
          <p:cNvPr id="132" name="Google Shape;132;p9"/>
          <p:cNvSpPr/>
          <p:nvPr/>
        </p:nvSpPr>
        <p:spPr>
          <a:xfrm>
            <a:off x="56688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5(a–d). Axonal boutons and their spatial density.</a:t>
            </a:r>
            <a:endParaRPr sz="1800">
              <a:solidFill>
                <a:schemeClr val="dk1"/>
              </a:solidFill>
              <a:latin typeface="Calibri"/>
              <a:ea typeface="Calibri"/>
              <a:cs typeface="Calibri"/>
              <a:sym typeface="Calibri"/>
            </a:endParaRPr>
          </a:p>
        </p:txBody>
      </p:sp>
      <p:sp>
        <p:nvSpPr>
          <p:cNvPr id="133" name="Google Shape;133;p9"/>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35" name="Google Shape;135;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RA-projecting cells also innervate local HVC</a:t>
            </a:r>
            <a:endParaRPr sz="1800">
              <a:solidFill>
                <a:schemeClr val="dk1"/>
              </a:solidFill>
              <a:latin typeface="Calibri"/>
              <a:ea typeface="Calibri"/>
              <a:cs typeface="Calibri"/>
              <a:sym typeface="Calibri"/>
            </a:endParaRPr>
          </a:p>
        </p:txBody>
      </p:sp>
      <p:sp>
        <p:nvSpPr>
          <p:cNvPr id="141" name="Google Shape;141;p10"/>
          <p:cNvSpPr/>
          <p:nvPr/>
        </p:nvSpPr>
        <p:spPr>
          <a:xfrm>
            <a:off x="566886" y="123438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Benezra and colleagues reconstructed the dendrites and axonal collaterals of individual HVC(RA) neurons within the boundary of HVC. The descending axon identified the cell's long-range destination, while its local branches provided a separate measure of intranuclear output.</a:t>
            </a:r>
            <a:endParaRPr sz="1800">
              <a:solidFill>
                <a:schemeClr val="dk1"/>
              </a:solidFill>
              <a:latin typeface="Calibri"/>
              <a:ea typeface="Calibri"/>
              <a:cs typeface="Calibri"/>
              <a:sym typeface="Calibri"/>
            </a:endParaRPr>
          </a:p>
        </p:txBody>
      </p:sp>
      <p:sp>
        <p:nvSpPr>
          <p:cNvPr id="142" name="Google Shape;142;p10"/>
          <p:cNvSpPr/>
          <p:nvPr/>
        </p:nvSpPr>
        <p:spPr>
          <a:xfrm>
            <a:off x="566886" y="2453134"/>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Some cells confined most local axonal branches near the cell body, whereas others distributed branches across a broader portion of HVC. This variation remained visible within the RA-projecting population rather than being explained solely by differences between projection targets.</a:t>
            </a:r>
            <a:endParaRPr sz="1800">
              <a:solidFill>
                <a:schemeClr val="dk1"/>
              </a:solidFill>
              <a:latin typeface="Calibri"/>
              <a:ea typeface="Calibri"/>
              <a:cs typeface="Calibri"/>
              <a:sym typeface="Calibri"/>
            </a:endParaRPr>
          </a:p>
        </p:txBody>
      </p:sp>
      <p:sp>
        <p:nvSpPr>
          <p:cNvPr id="143" name="Google Shape;143;p10"/>
          <p:cNvSpPr/>
          <p:nvPr/>
        </p:nvSpPr>
        <p:spPr>
          <a:xfrm>
            <a:off x="566886" y="389126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Local output makes a strictly feedforward description of HVC incomplete: an RA-projecting neuron can participate in HVC interactions before its axon reaches RA. The reconstruction does not determine whether the cell contacts another projection neuron, an inhibitory interneuron, or both.</a:t>
            </a:r>
            <a:endParaRPr sz="1800">
              <a:solidFill>
                <a:schemeClr val="dk1"/>
              </a:solidFill>
              <a:latin typeface="Calibri"/>
              <a:ea typeface="Calibri"/>
              <a:cs typeface="Calibri"/>
              <a:sym typeface="Calibri"/>
            </a:endParaRPr>
          </a:p>
        </p:txBody>
      </p:sp>
      <p:pic>
        <p:nvPicPr>
          <p:cNvPr id="144" name="Google Shape;144;p10"/>
          <p:cNvPicPr preferRelativeResize="0"/>
          <p:nvPr/>
        </p:nvPicPr>
        <p:blipFill rotWithShape="1">
          <a:blip r:embed="rId3">
            <a:alphaModFix/>
          </a:blip>
          <a:srcRect b="0" l="0" r="0" t="0"/>
          <a:stretch/>
        </p:blipFill>
        <p:spPr>
          <a:xfrm>
            <a:off x="7464384" y="1280071"/>
            <a:ext cx="3200432" cy="4297561"/>
          </a:xfrm>
          <a:prstGeom prst="rect">
            <a:avLst/>
          </a:prstGeom>
          <a:noFill/>
          <a:ln>
            <a:noFill/>
          </a:ln>
        </p:spPr>
      </p:pic>
      <p:sp>
        <p:nvSpPr>
          <p:cNvPr id="145" name="Google Shape;145;p10"/>
          <p:cNvSpPr/>
          <p:nvPr/>
        </p:nvSpPr>
        <p:spPr>
          <a:xfrm>
            <a:off x="650423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6. Local axons of RA-projecting HVC neurons.</a:t>
            </a:r>
            <a:endParaRPr sz="1800">
              <a:solidFill>
                <a:schemeClr val="dk1"/>
              </a:solidFill>
              <a:latin typeface="Calibri"/>
              <a:ea typeface="Calibri"/>
              <a:cs typeface="Calibri"/>
              <a:sym typeface="Calibri"/>
            </a:endParaRPr>
          </a:p>
        </p:txBody>
      </p:sp>
      <p:sp>
        <p:nvSpPr>
          <p:cNvPr id="146" name="Google Shape;146;p10"/>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48" name="Google Shape;148;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X-projecting cells have extensive local collaterals</a:t>
            </a:r>
            <a:endParaRPr sz="1800">
              <a:solidFill>
                <a:schemeClr val="dk1"/>
              </a:solidFill>
              <a:latin typeface="Calibri"/>
              <a:ea typeface="Calibri"/>
              <a:cs typeface="Calibri"/>
              <a:sym typeface="Calibri"/>
            </a:endParaRPr>
          </a:p>
        </p:txBody>
      </p:sp>
      <p:sp>
        <p:nvSpPr>
          <p:cNvPr id="154" name="Google Shape;154;p11"/>
          <p:cNvSpPr/>
          <p:nvPr/>
        </p:nvSpPr>
        <p:spPr>
          <a:xfrm>
            <a:off x="6053435" y="123438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Area X receives an HVC projection distinct from the direct HVC-to-RA motor pathway. Benezra and colleagues reconstructed HVC(X) neurons with their local axons, dendrites, and descending projection identified in the same preparation.</a:t>
            </a:r>
            <a:endParaRPr sz="1800">
              <a:solidFill>
                <a:schemeClr val="dk1"/>
              </a:solidFill>
              <a:latin typeface="Calibri"/>
              <a:ea typeface="Calibri"/>
              <a:cs typeface="Calibri"/>
              <a:sym typeface="Calibri"/>
            </a:endParaRPr>
          </a:p>
        </p:txBody>
      </p:sp>
      <p:sp>
        <p:nvSpPr>
          <p:cNvPr id="155" name="Google Shape;155;p11"/>
          <p:cNvSpPr/>
          <p:nvPr/>
        </p:nvSpPr>
        <p:spPr>
          <a:xfrm>
            <a:off x="6053435" y="2453134"/>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Their local branches varied from restricted arbors to broad distributions within HVC. The authors compared these distributions with RA-projecting cells in a shared reference frame, revealing organization that would be lost in a drawing of one generic HVC-to-X connection.</a:t>
            </a:r>
            <a:endParaRPr sz="1800">
              <a:solidFill>
                <a:schemeClr val="dk1"/>
              </a:solidFill>
              <a:latin typeface="Calibri"/>
              <a:ea typeface="Calibri"/>
              <a:cs typeface="Calibri"/>
              <a:sym typeface="Calibri"/>
            </a:endParaRPr>
          </a:p>
        </p:txBody>
      </p:sp>
      <p:sp>
        <p:nvSpPr>
          <p:cNvPr id="156" name="Google Shape;156;p11"/>
          <p:cNvSpPr/>
          <p:nvPr/>
        </p:nvSpPr>
        <p:spPr>
          <a:xfrm>
            <a:off x="6053435" y="3671888"/>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An HVC(X) neuron can consequently influence both the local HVC network and a distant basal ganglia region. The anatomical data support multiple routes for distributing activity, but do not establish whether particular local branches carry a timing signal, an auditory signal, or a mixture during behavior.</a:t>
            </a:r>
            <a:endParaRPr sz="1800">
              <a:solidFill>
                <a:schemeClr val="dk1"/>
              </a:solidFill>
              <a:latin typeface="Calibri"/>
              <a:ea typeface="Calibri"/>
              <a:cs typeface="Calibri"/>
              <a:sym typeface="Calibri"/>
            </a:endParaRPr>
          </a:p>
        </p:txBody>
      </p:sp>
      <p:pic>
        <p:nvPicPr>
          <p:cNvPr id="157" name="Google Shape;157;p11"/>
          <p:cNvPicPr preferRelativeResize="0"/>
          <p:nvPr/>
        </p:nvPicPr>
        <p:blipFill rotWithShape="1">
          <a:blip r:embed="rId3">
            <a:alphaModFix/>
          </a:blip>
          <a:srcRect b="0" l="0" r="0" t="0"/>
          <a:stretch/>
        </p:blipFill>
        <p:spPr>
          <a:xfrm>
            <a:off x="1097372" y="1280071"/>
            <a:ext cx="4059609" cy="4297561"/>
          </a:xfrm>
          <a:prstGeom prst="rect">
            <a:avLst/>
          </a:prstGeom>
          <a:noFill/>
          <a:ln>
            <a:noFill/>
          </a:ln>
        </p:spPr>
      </p:pic>
      <p:sp>
        <p:nvSpPr>
          <p:cNvPr id="158" name="Google Shape;158;p11"/>
          <p:cNvSpPr/>
          <p:nvPr/>
        </p:nvSpPr>
        <p:spPr>
          <a:xfrm>
            <a:off x="56688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7. Local axons of X-projecting HVC neurons.</a:t>
            </a:r>
            <a:endParaRPr sz="1800">
              <a:solidFill>
                <a:schemeClr val="dk1"/>
              </a:solidFill>
              <a:latin typeface="Calibri"/>
              <a:ea typeface="Calibri"/>
              <a:cs typeface="Calibri"/>
              <a:sym typeface="Calibri"/>
            </a:endParaRPr>
          </a:p>
        </p:txBody>
      </p:sp>
      <p:sp>
        <p:nvSpPr>
          <p:cNvPr id="159" name="Google Shape;159;p11"/>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61" name="Google Shape;161;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 few reconstructed cells project to both targets</a:t>
            </a:r>
            <a:endParaRPr sz="1800">
              <a:solidFill>
                <a:schemeClr val="dk1"/>
              </a:solidFill>
              <a:latin typeface="Calibri"/>
              <a:ea typeface="Calibri"/>
              <a:cs typeface="Calibri"/>
              <a:sym typeface="Calibri"/>
            </a:endParaRPr>
          </a:p>
        </p:txBody>
      </p:sp>
      <p:sp>
        <p:nvSpPr>
          <p:cNvPr id="167" name="Google Shape;167;p12"/>
          <p:cNvSpPr/>
          <p:nvPr/>
        </p:nvSpPr>
        <p:spPr>
          <a:xfrm>
            <a:off x="566886" y="123438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Benezra and colleagues identified HVC neurons with axonal projections toward both RA and Area X. These HVC(RA/X) cells challenge an absolute rule that all long-range HVC outputs belong to two completely separate populations.</a:t>
            </a:r>
            <a:endParaRPr sz="1800">
              <a:solidFill>
                <a:schemeClr val="dk1"/>
              </a:solidFill>
              <a:latin typeface="Calibri"/>
              <a:ea typeface="Calibri"/>
              <a:cs typeface="Calibri"/>
              <a:sym typeface="Calibri"/>
            </a:endParaRPr>
          </a:p>
        </p:txBody>
      </p:sp>
      <p:sp>
        <p:nvSpPr>
          <p:cNvPr id="168" name="Google Shape;168;p12"/>
          <p:cNvSpPr/>
          <p:nvPr/>
        </p:nvSpPr>
        <p:spPr>
          <a:xfrm>
            <a:off x="566886" y="2453134"/>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 reconstructed dual-projecting cells differed from one another in dendritic organization. The authors retained them as individually identified cells rather than forcing them into a single stereotyped anatomical class defined only by their shared target combination.</a:t>
            </a:r>
            <a:endParaRPr sz="1800">
              <a:solidFill>
                <a:schemeClr val="dk1"/>
              </a:solidFill>
              <a:latin typeface="Calibri"/>
              <a:ea typeface="Calibri"/>
              <a:cs typeface="Calibri"/>
              <a:sym typeface="Calibri"/>
            </a:endParaRPr>
          </a:p>
        </p:txBody>
      </p:sp>
      <p:sp>
        <p:nvSpPr>
          <p:cNvPr id="169" name="Google Shape;169;p12"/>
          <p:cNvSpPr/>
          <p:nvPr/>
        </p:nvSpPr>
        <p:spPr>
          <a:xfrm>
            <a:off x="566886" y="3671888"/>
            <a:ext cx="559058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Dual projections provide a possible anatomical route for distributing related activity to motor and anterior forebrain pathways. Their existence does not establish how common such cells are throughout HVC, whether both branches transmit identical information, or whether they are necessary for coordinating the two pathways during singing.</a:t>
            </a:r>
            <a:endParaRPr sz="1800">
              <a:solidFill>
                <a:schemeClr val="dk1"/>
              </a:solidFill>
              <a:latin typeface="Calibri"/>
              <a:ea typeface="Calibri"/>
              <a:cs typeface="Calibri"/>
              <a:sym typeface="Calibri"/>
            </a:endParaRPr>
          </a:p>
        </p:txBody>
      </p:sp>
      <p:pic>
        <p:nvPicPr>
          <p:cNvPr id="170" name="Google Shape;170;p12"/>
          <p:cNvPicPr preferRelativeResize="0"/>
          <p:nvPr/>
        </p:nvPicPr>
        <p:blipFill rotWithShape="1">
          <a:blip r:embed="rId3">
            <a:alphaModFix/>
          </a:blip>
          <a:srcRect b="0" l="0" r="0" t="0"/>
          <a:stretch/>
        </p:blipFill>
        <p:spPr>
          <a:xfrm>
            <a:off x="6504344" y="1280071"/>
            <a:ext cx="5120513" cy="2323654"/>
          </a:xfrm>
          <a:prstGeom prst="rect">
            <a:avLst/>
          </a:prstGeom>
          <a:noFill/>
          <a:ln>
            <a:noFill/>
          </a:ln>
        </p:spPr>
      </p:pic>
      <p:sp>
        <p:nvSpPr>
          <p:cNvPr id="171" name="Google Shape;171;p12"/>
          <p:cNvSpPr/>
          <p:nvPr/>
        </p:nvSpPr>
        <p:spPr>
          <a:xfrm>
            <a:off x="6504236" y="3695254"/>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8. Two dual-projecting HVC neurons.</a:t>
            </a:r>
            <a:endParaRPr sz="1800">
              <a:solidFill>
                <a:schemeClr val="dk1"/>
              </a:solidFill>
              <a:latin typeface="Calibri"/>
              <a:ea typeface="Calibri"/>
              <a:cs typeface="Calibri"/>
              <a:sym typeface="Calibri"/>
            </a:endParaRPr>
          </a:p>
        </p:txBody>
      </p:sp>
      <p:sp>
        <p:nvSpPr>
          <p:cNvPr id="172" name="Google Shape;172;p12"/>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74" name="Google Shape;174;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Some HVC processes extend into the surrounding shelf</a:t>
            </a:r>
            <a:endParaRPr sz="1800">
              <a:solidFill>
                <a:schemeClr val="dk1"/>
              </a:solidFill>
              <a:latin typeface="Calibri"/>
              <a:ea typeface="Calibri"/>
              <a:cs typeface="Calibri"/>
              <a:sym typeface="Calibri"/>
            </a:endParaRPr>
          </a:p>
        </p:txBody>
      </p:sp>
      <p:sp>
        <p:nvSpPr>
          <p:cNvPr id="180" name="Google Shape;180;p13"/>
          <p:cNvSpPr/>
          <p:nvPr/>
        </p:nvSpPr>
        <p:spPr>
          <a:xfrm>
            <a:off x="6053435" y="123438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 </a:t>
            </a:r>
            <a:r>
              <a:rPr b="1" i="0" lang="en-US" sz="1600">
                <a:solidFill>
                  <a:srgbClr val="405D72"/>
                </a:solidFill>
                <a:latin typeface="Arial"/>
                <a:ea typeface="Arial"/>
                <a:cs typeface="Arial"/>
                <a:sym typeface="Arial"/>
              </a:rPr>
              <a:t>HVC shelf</a:t>
            </a:r>
            <a:r>
              <a:rPr b="0" i="0" lang="en-US" sz="1600">
                <a:solidFill>
                  <a:srgbClr val="252E36"/>
                </a:solidFill>
                <a:latin typeface="Arial"/>
                <a:ea typeface="Arial"/>
                <a:cs typeface="Arial"/>
                <a:sym typeface="Arial"/>
              </a:rPr>
              <a:t> is tissue bordering HVC that is distinguished from the nucleus itself. Benezra and colleagues observed dendrites and axonal collaterals of an identified HVC(X) neuron extending beyond the conventional HVC boundary into this surrounding region.</a:t>
            </a:r>
            <a:endParaRPr sz="1800">
              <a:solidFill>
                <a:schemeClr val="dk1"/>
              </a:solidFill>
              <a:latin typeface="Calibri"/>
              <a:ea typeface="Calibri"/>
              <a:cs typeface="Calibri"/>
              <a:sym typeface="Calibri"/>
            </a:endParaRPr>
          </a:p>
        </p:txBody>
      </p:sp>
      <p:sp>
        <p:nvSpPr>
          <p:cNvPr id="181" name="Google Shape;181;p13"/>
          <p:cNvSpPr/>
          <p:nvPr/>
        </p:nvSpPr>
        <p:spPr>
          <a:xfrm>
            <a:off x="6053435" y="2453134"/>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Fluorescent and brightfield images were combined with reconstruction of the labeled processes. The original panels retain scale bars of 100 µm for the wider field and 25 µm and 5 µm for the detailed views, separating nuclear-scale anatomy from fine branches.</a:t>
            </a:r>
            <a:endParaRPr sz="1800">
              <a:solidFill>
                <a:schemeClr val="dk1"/>
              </a:solidFill>
              <a:latin typeface="Calibri"/>
              <a:ea typeface="Calibri"/>
              <a:cs typeface="Calibri"/>
              <a:sym typeface="Calibri"/>
            </a:endParaRPr>
          </a:p>
        </p:txBody>
      </p:sp>
      <p:sp>
        <p:nvSpPr>
          <p:cNvPr id="182" name="Google Shape;182;p13"/>
          <p:cNvSpPr/>
          <p:nvPr/>
        </p:nvSpPr>
        <p:spPr>
          <a:xfrm>
            <a:off x="6053435" y="3671888"/>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histological boundary is therefore not necessarily a complete boundary for a neuron's connections. These processes provide anatomical access to adjacent tissue, but the study did not establish the sensory responses of their partners or prove a specific information flow between shelf and HVC.</a:t>
            </a:r>
            <a:endParaRPr sz="1800">
              <a:solidFill>
                <a:schemeClr val="dk1"/>
              </a:solidFill>
              <a:latin typeface="Calibri"/>
              <a:ea typeface="Calibri"/>
              <a:cs typeface="Calibri"/>
              <a:sym typeface="Calibri"/>
            </a:endParaRPr>
          </a:p>
        </p:txBody>
      </p:sp>
      <p:pic>
        <p:nvPicPr>
          <p:cNvPr id="183" name="Google Shape;183;p13"/>
          <p:cNvPicPr preferRelativeResize="0"/>
          <p:nvPr/>
        </p:nvPicPr>
        <p:blipFill rotWithShape="1">
          <a:blip r:embed="rId3">
            <a:alphaModFix/>
          </a:blip>
          <a:srcRect b="0" l="0" r="0" t="0"/>
          <a:stretch/>
        </p:blipFill>
        <p:spPr>
          <a:xfrm>
            <a:off x="566944" y="1280071"/>
            <a:ext cx="5120614" cy="4178647"/>
          </a:xfrm>
          <a:prstGeom prst="rect">
            <a:avLst/>
          </a:prstGeom>
          <a:noFill/>
          <a:ln>
            <a:noFill/>
          </a:ln>
        </p:spPr>
      </p:pic>
      <p:sp>
        <p:nvSpPr>
          <p:cNvPr id="184" name="Google Shape;184;p13"/>
          <p:cNvSpPr/>
          <p:nvPr/>
        </p:nvSpPr>
        <p:spPr>
          <a:xfrm>
            <a:off x="566886" y="5550247"/>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9(a–c). Processes extending from HVC into the shelf.</a:t>
            </a:r>
            <a:endParaRPr sz="1800">
              <a:solidFill>
                <a:schemeClr val="dk1"/>
              </a:solidFill>
              <a:latin typeface="Calibri"/>
              <a:ea typeface="Calibri"/>
              <a:cs typeface="Calibri"/>
              <a:sym typeface="Calibri"/>
            </a:endParaRPr>
          </a:p>
        </p:txBody>
      </p:sp>
      <p:sp>
        <p:nvSpPr>
          <p:cNvPr id="185" name="Google Shape;185;p13"/>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87" name="Google Shape;187;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Local and broadcast axons differ within each class</a:t>
            </a:r>
            <a:endParaRPr sz="1800">
              <a:solidFill>
                <a:schemeClr val="dk1"/>
              </a:solidFill>
              <a:latin typeface="Calibri"/>
              <a:ea typeface="Calibri"/>
              <a:cs typeface="Calibri"/>
              <a:sym typeface="Calibri"/>
            </a:endParaRPr>
          </a:p>
        </p:txBody>
      </p:sp>
      <p:sp>
        <p:nvSpPr>
          <p:cNvPr id="193" name="Google Shape;193;p14"/>
          <p:cNvSpPr/>
          <p:nvPr/>
        </p:nvSpPr>
        <p:spPr>
          <a:xfrm>
            <a:off x="566886" y="123438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a:t>
            </a:r>
            <a:r>
              <a:rPr b="1" i="0" lang="en-US" sz="1600">
                <a:solidFill>
                  <a:srgbClr val="405D72"/>
                </a:solidFill>
                <a:latin typeface="Arial"/>
                <a:ea typeface="Arial"/>
                <a:cs typeface="Arial"/>
                <a:sym typeface="Arial"/>
              </a:rPr>
              <a:t>broadcast arbor</a:t>
            </a:r>
            <a:r>
              <a:rPr b="0" i="0" lang="en-US" sz="1600">
                <a:solidFill>
                  <a:srgbClr val="252E36"/>
                </a:solidFill>
                <a:latin typeface="Arial"/>
                <a:ea typeface="Arial"/>
                <a:cs typeface="Arial"/>
                <a:sym typeface="Arial"/>
              </a:rPr>
              <a:t> distributes axonal branches across a relatively broad volume, whereas a local arbor remains more spatially restricted. Benezra and colleagues quantified HVC axonal extent and the proportion of the nucleus occupied by each reconstructed neuron.</a:t>
            </a:r>
            <a:endParaRPr sz="1800">
              <a:solidFill>
                <a:schemeClr val="dk1"/>
              </a:solidFill>
              <a:latin typeface="Calibri"/>
              <a:ea typeface="Calibri"/>
              <a:cs typeface="Calibri"/>
              <a:sym typeface="Calibri"/>
            </a:endParaRPr>
          </a:p>
        </p:txBody>
      </p:sp>
      <p:sp>
        <p:nvSpPr>
          <p:cNvPr id="194" name="Google Shape;194;p14"/>
          <p:cNvSpPr/>
          <p:nvPr/>
        </p:nvSpPr>
        <p:spPr>
          <a:xfrm>
            <a:off x="566886" y="2453134"/>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Both RA-projecting and X-projecting populations contained cells with different local output territories. Quantifying axonal distribution separately from dendritic distribution prevented a large input field from being treated automatically as a large output field.</a:t>
            </a:r>
            <a:endParaRPr sz="1800">
              <a:solidFill>
                <a:schemeClr val="dk1"/>
              </a:solidFill>
              <a:latin typeface="Calibri"/>
              <a:ea typeface="Calibri"/>
              <a:cs typeface="Calibri"/>
              <a:sym typeface="Calibri"/>
            </a:endParaRPr>
          </a:p>
        </p:txBody>
      </p:sp>
      <p:sp>
        <p:nvSpPr>
          <p:cNvPr id="195" name="Google Shape;195;p14"/>
          <p:cNvSpPr/>
          <p:nvPr/>
        </p:nvSpPr>
        <p:spPr>
          <a:xfrm>
            <a:off x="566886" y="3671888"/>
            <a:ext cx="559058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These anatomical differences constrain how activity might spread through the HVC network. The local-versus-broadcast distinction is a description of reconstructed geometry, not a demonstrated classification of neuronal function; identifying the actual partners and recording their responses would be necessary to establish the circuit consequences.</a:t>
            </a:r>
            <a:endParaRPr sz="1800">
              <a:solidFill>
                <a:schemeClr val="dk1"/>
              </a:solidFill>
              <a:latin typeface="Calibri"/>
              <a:ea typeface="Calibri"/>
              <a:cs typeface="Calibri"/>
              <a:sym typeface="Calibri"/>
            </a:endParaRPr>
          </a:p>
        </p:txBody>
      </p:sp>
      <p:pic>
        <p:nvPicPr>
          <p:cNvPr id="196" name="Google Shape;196;p14"/>
          <p:cNvPicPr preferRelativeResize="0"/>
          <p:nvPr/>
        </p:nvPicPr>
        <p:blipFill rotWithShape="1">
          <a:blip r:embed="rId3">
            <a:alphaModFix/>
          </a:blip>
          <a:srcRect b="0" l="0" r="0" t="0"/>
          <a:stretch/>
        </p:blipFill>
        <p:spPr>
          <a:xfrm>
            <a:off x="6504328" y="1280071"/>
            <a:ext cx="5120544" cy="3145036"/>
          </a:xfrm>
          <a:prstGeom prst="rect">
            <a:avLst/>
          </a:prstGeom>
          <a:noFill/>
          <a:ln>
            <a:noFill/>
          </a:ln>
        </p:spPr>
      </p:pic>
      <p:sp>
        <p:nvSpPr>
          <p:cNvPr id="197" name="Google Shape;197;p14"/>
          <p:cNvSpPr/>
          <p:nvPr/>
        </p:nvSpPr>
        <p:spPr>
          <a:xfrm>
            <a:off x="6504236" y="4516636"/>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10(a–d). Local axonal distributions within HVC.</a:t>
            </a:r>
            <a:endParaRPr sz="1800">
              <a:solidFill>
                <a:schemeClr val="dk1"/>
              </a:solidFill>
              <a:latin typeface="Calibri"/>
              <a:ea typeface="Calibri"/>
              <a:cs typeface="Calibri"/>
              <a:sym typeface="Calibri"/>
            </a:endParaRPr>
          </a:p>
        </p:txBody>
      </p:sp>
      <p:sp>
        <p:nvSpPr>
          <p:cNvPr id="198" name="Google Shape;198;p14"/>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200" name="Google Shape;200;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RA sends descending output to vocal motor structures</a:t>
            </a:r>
            <a:endParaRPr sz="1800">
              <a:solidFill>
                <a:schemeClr val="dk1"/>
              </a:solidFill>
              <a:latin typeface="Calibri"/>
              <a:ea typeface="Calibri"/>
              <a:cs typeface="Calibri"/>
              <a:sym typeface="Calibri"/>
            </a:endParaRPr>
          </a:p>
        </p:txBody>
      </p:sp>
      <p:sp>
        <p:nvSpPr>
          <p:cNvPr id="206" name="Google Shape;206;p15"/>
          <p:cNvSpPr/>
          <p:nvPr/>
        </p:nvSpPr>
        <p:spPr>
          <a:xfrm>
            <a:off x="6419255" y="1234380"/>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RA is a forebrain motor nucleus whose projection neurons provide descending output to brainstem targets. Zemel and colleagues place RA within the vocal motor pathway connecting HVC with the tracheosyringeal hypoglossal nucleus, </a:t>
            </a:r>
            <a:r>
              <a:rPr b="1" i="0" lang="en-US" sz="1600">
                <a:solidFill>
                  <a:srgbClr val="405D72"/>
                </a:solidFill>
                <a:latin typeface="Arial"/>
                <a:ea typeface="Arial"/>
                <a:cs typeface="Arial"/>
                <a:sym typeface="Arial"/>
              </a:rPr>
              <a:t>nXIIts</a:t>
            </a:r>
            <a:r>
              <a:rPr b="0" i="0" lang="en-US" sz="1600">
                <a:solidFill>
                  <a:srgbClr val="252E36"/>
                </a:solidFill>
                <a:latin typeface="Arial"/>
                <a:ea typeface="Arial"/>
                <a:cs typeface="Arial"/>
                <a:sym typeface="Arial"/>
              </a:rPr>
              <a:t>, and respiratory-related brainstem circuitry.</a:t>
            </a:r>
            <a:endParaRPr sz="1800">
              <a:solidFill>
                <a:schemeClr val="dk1"/>
              </a:solidFill>
              <a:latin typeface="Calibri"/>
              <a:ea typeface="Calibri"/>
              <a:cs typeface="Calibri"/>
              <a:sym typeface="Calibri"/>
            </a:endParaRPr>
          </a:p>
        </p:txBody>
      </p:sp>
      <p:sp>
        <p:nvSpPr>
          <p:cNvPr id="207" name="Google Shape;207;p15"/>
          <p:cNvSpPr/>
          <p:nvPr/>
        </p:nvSpPr>
        <p:spPr>
          <a:xfrm>
            <a:off x="6419255" y="2672507"/>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 </a:t>
            </a:r>
            <a:r>
              <a:rPr b="1" i="0" lang="en-US" sz="1600">
                <a:solidFill>
                  <a:srgbClr val="405D72"/>
                </a:solidFill>
                <a:latin typeface="Arial"/>
                <a:ea typeface="Arial"/>
                <a:cs typeface="Arial"/>
                <a:sym typeface="Arial"/>
              </a:rPr>
              <a:t>syrinx</a:t>
            </a:r>
            <a:r>
              <a:rPr b="0" i="0" lang="en-US" sz="1600">
                <a:solidFill>
                  <a:srgbClr val="252E36"/>
                </a:solidFill>
                <a:latin typeface="Arial"/>
                <a:ea typeface="Arial"/>
                <a:cs typeface="Arial"/>
                <a:sym typeface="Arial"/>
              </a:rPr>
              <a:t> is the avian vocal organ; its muscles are controlled by lower motor neurons rather than directly by RA cell bodies. RA activity thus reaches vocal musculature through descending axons and brainstem motor connections, coordinating sound production with respiratory activity.</a:t>
            </a:r>
            <a:endParaRPr sz="1800">
              <a:solidFill>
                <a:schemeClr val="dk1"/>
              </a:solidFill>
              <a:latin typeface="Calibri"/>
              <a:ea typeface="Calibri"/>
              <a:cs typeface="Calibri"/>
              <a:sym typeface="Calibri"/>
            </a:endParaRPr>
          </a:p>
        </p:txBody>
      </p:sp>
      <p:sp>
        <p:nvSpPr>
          <p:cNvPr id="208" name="Google Shape;208;p15"/>
          <p:cNvSpPr/>
          <p:nvPr/>
        </p:nvSpPr>
        <p:spPr>
          <a:xfrm>
            <a:off x="6419255" y="4110633"/>
            <a:ext cx="52247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Maxwell and colleagues controlled air pressures around an isolated zebra finch syrinx and elicited sound without an intact brain. This preparation separates the mechanical sound generator from its neural commands; an anatomically intact vocal organ does not by itself establish normal neural control of song.</a:t>
            </a:r>
            <a:endParaRPr sz="1800">
              <a:solidFill>
                <a:schemeClr val="dk1"/>
              </a:solidFill>
              <a:latin typeface="Calibri"/>
              <a:ea typeface="Calibri"/>
              <a:cs typeface="Calibri"/>
              <a:sym typeface="Calibri"/>
            </a:endParaRPr>
          </a:p>
        </p:txBody>
      </p:sp>
      <p:pic>
        <p:nvPicPr>
          <p:cNvPr id="209" name="Google Shape;209;p15"/>
          <p:cNvPicPr preferRelativeResize="0"/>
          <p:nvPr/>
        </p:nvPicPr>
        <p:blipFill rotWithShape="1">
          <a:blip r:embed="rId3">
            <a:alphaModFix/>
          </a:blip>
          <a:srcRect b="0" l="0" r="0" t="0"/>
          <a:stretch/>
        </p:blipFill>
        <p:spPr>
          <a:xfrm>
            <a:off x="2405239" y="1280071"/>
            <a:ext cx="1809545" cy="2925961"/>
          </a:xfrm>
          <a:prstGeom prst="rect">
            <a:avLst/>
          </a:prstGeom>
          <a:noFill/>
          <a:ln>
            <a:noFill/>
          </a:ln>
        </p:spPr>
      </p:pic>
      <p:sp>
        <p:nvSpPr>
          <p:cNvPr id="210" name="Google Shape;210;p15"/>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RA and descending vocal motor pathways.</a:t>
            </a:r>
            <a:endParaRPr sz="1800">
              <a:solidFill>
                <a:schemeClr val="dk1"/>
              </a:solidFill>
              <a:latin typeface="Calibri"/>
              <a:ea typeface="Calibri"/>
              <a:cs typeface="Calibri"/>
              <a:sym typeface="Calibri"/>
            </a:endParaRPr>
          </a:p>
        </p:txBody>
      </p:sp>
      <p:pic>
        <p:nvPicPr>
          <p:cNvPr id="211" name="Google Shape;211;p15"/>
          <p:cNvPicPr preferRelativeResize="0"/>
          <p:nvPr/>
        </p:nvPicPr>
        <p:blipFill rotWithShape="1">
          <a:blip r:embed="rId4">
            <a:alphaModFix/>
          </a:blip>
          <a:srcRect b="0" l="0" r="0" t="0"/>
          <a:stretch/>
        </p:blipFill>
        <p:spPr>
          <a:xfrm>
            <a:off x="2474355" y="4754761"/>
            <a:ext cx="1671462" cy="1005780"/>
          </a:xfrm>
          <a:prstGeom prst="rect">
            <a:avLst/>
          </a:prstGeom>
          <a:noFill/>
          <a:ln>
            <a:noFill/>
          </a:ln>
        </p:spPr>
      </p:pic>
      <p:sp>
        <p:nvSpPr>
          <p:cNvPr id="212" name="Google Shape;212;p15"/>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Maxwell et al. (2021), Fig. 1(a–b). Syrinx muscles and the medial vibratory mass.</a:t>
            </a:r>
            <a:endParaRPr sz="1800">
              <a:solidFill>
                <a:schemeClr val="dk1"/>
              </a:solidFill>
              <a:latin typeface="Calibri"/>
              <a:ea typeface="Calibri"/>
              <a:cs typeface="Calibri"/>
              <a:sym typeface="Calibri"/>
            </a:endParaRPr>
          </a:p>
        </p:txBody>
      </p:sp>
      <p:sp>
        <p:nvSpPr>
          <p:cNvPr id="213" name="Google Shape;213;p15"/>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 Maxwell et al. (2021)</a:t>
            </a:r>
            <a:endParaRPr sz="1800">
              <a:solidFill>
                <a:schemeClr val="dk1"/>
              </a:solidFill>
              <a:latin typeface="Calibri"/>
              <a:ea typeface="Calibri"/>
              <a:cs typeface="Calibri"/>
              <a:sym typeface="Calibri"/>
            </a:endParaRPr>
          </a:p>
        </p:txBody>
      </p:sp>
      <p:sp>
        <p:nvSpPr>
          <p:cNvPr id="215" name="Google Shape;215;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RA neurons generate exceptionally narrow spikes</a:t>
            </a:r>
            <a:endParaRPr sz="1800">
              <a:solidFill>
                <a:schemeClr val="dk1"/>
              </a:solidFill>
              <a:latin typeface="Calibri"/>
              <a:ea typeface="Calibri"/>
              <a:cs typeface="Calibri"/>
              <a:sym typeface="Calibri"/>
            </a:endParaRPr>
          </a:p>
        </p:txBody>
      </p:sp>
      <p:sp>
        <p:nvSpPr>
          <p:cNvPr id="221" name="Google Shape;221;p16"/>
          <p:cNvSpPr/>
          <p:nvPr/>
        </p:nvSpPr>
        <p:spPr>
          <a:xfrm>
            <a:off x="566886" y="1234380"/>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An </a:t>
            </a:r>
            <a:r>
              <a:rPr b="1" i="0" lang="en-US" sz="1500">
                <a:solidFill>
                  <a:srgbClr val="405D72"/>
                </a:solidFill>
                <a:latin typeface="Arial"/>
                <a:ea typeface="Arial"/>
                <a:cs typeface="Arial"/>
                <a:sym typeface="Arial"/>
              </a:rPr>
              <a:t>action potential</a:t>
            </a:r>
            <a:r>
              <a:rPr b="0" i="0" lang="en-US" sz="1500">
                <a:solidFill>
                  <a:srgbClr val="252E36"/>
                </a:solidFill>
                <a:latin typeface="Arial"/>
                <a:ea typeface="Arial"/>
                <a:cs typeface="Arial"/>
                <a:sym typeface="Arial"/>
              </a:rPr>
              <a:t> is a rapid electrical spike produced by voltage-dependent membrane conductances. An </a:t>
            </a:r>
            <a:r>
              <a:rPr b="1" i="0" lang="en-US" sz="1500">
                <a:solidFill>
                  <a:srgbClr val="405D72"/>
                </a:solidFill>
                <a:latin typeface="Arial"/>
                <a:ea typeface="Arial"/>
                <a:cs typeface="Arial"/>
                <a:sym typeface="Arial"/>
              </a:rPr>
              <a:t>ion channel</a:t>
            </a:r>
            <a:r>
              <a:rPr b="0" i="0" lang="en-US" sz="1500">
                <a:solidFill>
                  <a:srgbClr val="252E36"/>
                </a:solidFill>
                <a:latin typeface="Arial"/>
                <a:ea typeface="Arial"/>
                <a:cs typeface="Arial"/>
                <a:sym typeface="Arial"/>
              </a:rPr>
              <a:t> is a membrane protein that permits ions to cross the membrane. Zemel and colleagues recorded identified RA projection neurons in zebra finch brain slices using whole-cell current clamp, which measures membrane voltage while current is controlled.</a:t>
            </a:r>
            <a:endParaRPr sz="1800">
              <a:solidFill>
                <a:schemeClr val="dk1"/>
              </a:solidFill>
              <a:latin typeface="Calibri"/>
              <a:ea typeface="Calibri"/>
              <a:cs typeface="Calibri"/>
              <a:sym typeface="Calibri"/>
            </a:endParaRPr>
          </a:p>
        </p:txBody>
      </p:sp>
      <p:sp>
        <p:nvSpPr>
          <p:cNvPr id="222" name="Google Shape;222;p16"/>
          <p:cNvSpPr/>
          <p:nvPr/>
        </p:nvSpPr>
        <p:spPr>
          <a:xfrm>
            <a:off x="566886" y="2788444"/>
            <a:ext cx="559058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At approximately 40 °C, near avian physiological temperature, spontaneous spikes had a half-width of about 0.18 ms. Spontaneous firing was approximately fourfold faster than at room temperature, and depolarizing current could evoke sustained rapid spike trains.</a:t>
            </a:r>
            <a:endParaRPr sz="1800">
              <a:solidFill>
                <a:schemeClr val="dk1"/>
              </a:solidFill>
              <a:latin typeface="Calibri"/>
              <a:ea typeface="Calibri"/>
              <a:cs typeface="Calibri"/>
              <a:sym typeface="Calibri"/>
            </a:endParaRPr>
          </a:p>
        </p:txBody>
      </p:sp>
      <p:sp>
        <p:nvSpPr>
          <p:cNvPr id="223" name="Google Shape;223;p16"/>
          <p:cNvSpPr/>
          <p:nvPr/>
        </p:nvSpPr>
        <p:spPr>
          <a:xfrm>
            <a:off x="566886" y="3931146"/>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Temperature therefore changes the quantitative description of these motor neurons. Slice recordings establish intrinsic firing capacity under controlled conditions, but are not recordings of the commands issued during a particular song syllable; intact singing additionally supplies patterned synaptic input and behavioral state.</a:t>
            </a:r>
            <a:endParaRPr sz="1800">
              <a:solidFill>
                <a:schemeClr val="dk1"/>
              </a:solidFill>
              <a:latin typeface="Calibri"/>
              <a:ea typeface="Calibri"/>
              <a:cs typeface="Calibri"/>
              <a:sym typeface="Calibri"/>
            </a:endParaRPr>
          </a:p>
        </p:txBody>
      </p:sp>
      <p:pic>
        <p:nvPicPr>
          <p:cNvPr id="224" name="Google Shape;224;p16"/>
          <p:cNvPicPr preferRelativeResize="0"/>
          <p:nvPr/>
        </p:nvPicPr>
        <p:blipFill rotWithShape="1">
          <a:blip r:embed="rId3">
            <a:alphaModFix/>
          </a:blip>
          <a:srcRect b="0" l="0" r="0" t="0"/>
          <a:stretch/>
        </p:blipFill>
        <p:spPr>
          <a:xfrm>
            <a:off x="6504414" y="1280071"/>
            <a:ext cx="5120373" cy="3174355"/>
          </a:xfrm>
          <a:prstGeom prst="rect">
            <a:avLst/>
          </a:prstGeom>
          <a:noFill/>
          <a:ln>
            <a:noFill/>
          </a:ln>
        </p:spPr>
      </p:pic>
      <p:sp>
        <p:nvSpPr>
          <p:cNvPr id="225" name="Google Shape;225;p16"/>
          <p:cNvSpPr/>
          <p:nvPr/>
        </p:nvSpPr>
        <p:spPr>
          <a:xfrm>
            <a:off x="6504236" y="4545955"/>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1(a–k). RA motor anatomy and temperature-dependent spikes.</a:t>
            </a:r>
            <a:endParaRPr sz="1800">
              <a:solidFill>
                <a:schemeClr val="dk1"/>
              </a:solidFill>
              <a:latin typeface="Calibri"/>
              <a:ea typeface="Calibri"/>
              <a:cs typeface="Calibri"/>
              <a:sym typeface="Calibri"/>
            </a:endParaRPr>
          </a:p>
        </p:txBody>
      </p:sp>
      <p:sp>
        <p:nvSpPr>
          <p:cNvPr id="226" name="Google Shape;226;p16"/>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28" name="Google Shape;228;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Resurgent sodium current follows repolarization</a:t>
            </a:r>
            <a:endParaRPr sz="1800">
              <a:solidFill>
                <a:schemeClr val="dk1"/>
              </a:solidFill>
              <a:latin typeface="Calibri"/>
              <a:ea typeface="Calibri"/>
              <a:cs typeface="Calibri"/>
              <a:sym typeface="Calibri"/>
            </a:endParaRPr>
          </a:p>
        </p:txBody>
      </p:sp>
      <p:sp>
        <p:nvSpPr>
          <p:cNvPr id="234" name="Google Shape;234;p17"/>
          <p:cNvSpPr/>
          <p:nvPr/>
        </p:nvSpPr>
        <p:spPr>
          <a:xfrm>
            <a:off x="6053435" y="123438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a:t>
            </a:r>
            <a:r>
              <a:rPr b="1" i="0" lang="en-US" sz="1600">
                <a:solidFill>
                  <a:srgbClr val="405D72"/>
                </a:solidFill>
                <a:latin typeface="Arial"/>
                <a:ea typeface="Arial"/>
                <a:cs typeface="Arial"/>
                <a:sym typeface="Arial"/>
              </a:rPr>
              <a:t>resurgent sodium current</a:t>
            </a:r>
            <a:r>
              <a:rPr b="0" i="0" lang="en-US" sz="1600">
                <a:solidFill>
                  <a:srgbClr val="252E36"/>
                </a:solidFill>
                <a:latin typeface="Arial"/>
                <a:ea typeface="Arial"/>
                <a:cs typeface="Arial"/>
                <a:sym typeface="Arial"/>
              </a:rPr>
              <a:t> is an inward sodium current that appears as a membrane repolarizes after strong depolarization. Zemel and colleagues used voltage clamp, which controls membrane voltage while recording current, to separate this component from the initial transient sodium current.</a:t>
            </a:r>
            <a:endParaRPr sz="1800">
              <a:solidFill>
                <a:schemeClr val="dk1"/>
              </a:solidFill>
              <a:latin typeface="Calibri"/>
              <a:ea typeface="Calibri"/>
              <a:cs typeface="Calibri"/>
              <a:sym typeface="Calibri"/>
            </a:endParaRPr>
          </a:p>
        </p:txBody>
      </p:sp>
      <p:sp>
        <p:nvSpPr>
          <p:cNvPr id="235" name="Google Shape;235;p17"/>
          <p:cNvSpPr/>
          <p:nvPr/>
        </p:nvSpPr>
        <p:spPr>
          <a:xfrm>
            <a:off x="6053435" y="2672507"/>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step from −90 to +30 mV activated transient current; subsequent test voltages elicited resurgent current, with a peak near −3 nA at −45 mV in adult RA projection neurons. The sequence of voltage steps made the later inward current experimentally distinguishable from the initial spike-generating component.</a:t>
            </a:r>
            <a:endParaRPr sz="1800">
              <a:solidFill>
                <a:schemeClr val="dk1"/>
              </a:solidFill>
              <a:latin typeface="Calibri"/>
              <a:ea typeface="Calibri"/>
              <a:cs typeface="Calibri"/>
              <a:sym typeface="Calibri"/>
            </a:endParaRPr>
          </a:p>
        </p:txBody>
      </p:sp>
      <p:sp>
        <p:nvSpPr>
          <p:cNvPr id="236" name="Google Shape;236;p17"/>
          <p:cNvSpPr/>
          <p:nvPr/>
        </p:nvSpPr>
        <p:spPr>
          <a:xfrm>
            <a:off x="6053435" y="4110633"/>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Resurgent current can support renewed excitation during recovery from a spike. The recording establishes a membrane current under an imposed voltage protocol; its contribution to natural firing requires an additional manipulation of the conductance rather than inference from its presence alone.</a:t>
            </a:r>
            <a:endParaRPr sz="1800">
              <a:solidFill>
                <a:schemeClr val="dk1"/>
              </a:solidFill>
              <a:latin typeface="Calibri"/>
              <a:ea typeface="Calibri"/>
              <a:cs typeface="Calibri"/>
              <a:sym typeface="Calibri"/>
            </a:endParaRPr>
          </a:p>
        </p:txBody>
      </p:sp>
      <p:pic>
        <p:nvPicPr>
          <p:cNvPr id="237" name="Google Shape;237;p17"/>
          <p:cNvPicPr preferRelativeResize="0"/>
          <p:nvPr/>
        </p:nvPicPr>
        <p:blipFill rotWithShape="1">
          <a:blip r:embed="rId3">
            <a:alphaModFix/>
          </a:blip>
          <a:srcRect b="0" l="0" r="0" t="0"/>
          <a:stretch/>
        </p:blipFill>
        <p:spPr>
          <a:xfrm>
            <a:off x="832946" y="1280071"/>
            <a:ext cx="4588461" cy="4297561"/>
          </a:xfrm>
          <a:prstGeom prst="rect">
            <a:avLst/>
          </a:prstGeom>
          <a:noFill/>
          <a:ln>
            <a:noFill/>
          </a:ln>
        </p:spPr>
      </p:pic>
      <p:sp>
        <p:nvSpPr>
          <p:cNvPr id="238" name="Google Shape;238;p17"/>
          <p:cNvSpPr/>
          <p:nvPr/>
        </p:nvSpPr>
        <p:spPr>
          <a:xfrm>
            <a:off x="56688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2(a–j). RA sodium-subunit expression and resurgent current.</a:t>
            </a:r>
            <a:endParaRPr sz="1800">
              <a:solidFill>
                <a:schemeClr val="dk1"/>
              </a:solidFill>
              <a:latin typeface="Calibri"/>
              <a:ea typeface="Calibri"/>
              <a:cs typeface="Calibri"/>
              <a:sym typeface="Calibri"/>
            </a:endParaRPr>
          </a:p>
        </p:txBody>
      </p:sp>
      <p:sp>
        <p:nvSpPr>
          <p:cNvPr id="239" name="Google Shape;239;p17"/>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41" name="Google Shape;241;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Sodium-channel subunit expression changes within RA</a:t>
            </a:r>
            <a:endParaRPr sz="1800">
              <a:solidFill>
                <a:schemeClr val="dk1"/>
              </a:solidFill>
              <a:latin typeface="Calibri"/>
              <a:ea typeface="Calibri"/>
              <a:cs typeface="Calibri"/>
              <a:sym typeface="Calibri"/>
            </a:endParaRPr>
          </a:p>
        </p:txBody>
      </p:sp>
      <p:sp>
        <p:nvSpPr>
          <p:cNvPr id="247" name="Google Shape;247;p18"/>
          <p:cNvSpPr/>
          <p:nvPr/>
        </p:nvSpPr>
        <p:spPr>
          <a:xfrm>
            <a:off x="566886" y="123438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sodium channel's </a:t>
            </a:r>
            <a:r>
              <a:rPr b="1" i="0" lang="en-US" sz="1600">
                <a:solidFill>
                  <a:srgbClr val="405D72"/>
                </a:solidFill>
                <a:latin typeface="Arial"/>
                <a:ea typeface="Arial"/>
                <a:cs typeface="Arial"/>
                <a:sym typeface="Arial"/>
              </a:rPr>
              <a:t>β subunit</a:t>
            </a:r>
            <a:r>
              <a:rPr b="0" i="0" lang="en-US" sz="1600">
                <a:solidFill>
                  <a:srgbClr val="252E36"/>
                </a:solidFill>
                <a:latin typeface="Arial"/>
                <a:ea typeface="Arial"/>
                <a:cs typeface="Arial"/>
                <a:sym typeface="Arial"/>
              </a:rPr>
              <a:t> is an accessory protein that can modify channel function. Zemel and colleagues used in situ hybridization, a method that detects specific RNA sequences in tissue, to compare Navβ3 and Navβ4 expression across male zebra finch development.</a:t>
            </a:r>
            <a:endParaRPr sz="1800">
              <a:solidFill>
                <a:schemeClr val="dk1"/>
              </a:solidFill>
              <a:latin typeface="Calibri"/>
              <a:ea typeface="Calibri"/>
              <a:cs typeface="Calibri"/>
              <a:sym typeface="Calibri"/>
            </a:endParaRPr>
          </a:p>
        </p:txBody>
      </p:sp>
      <p:sp>
        <p:nvSpPr>
          <p:cNvPr id="248" name="Google Shape;248;p18"/>
          <p:cNvSpPr/>
          <p:nvPr/>
        </p:nvSpPr>
        <p:spPr>
          <a:xfrm>
            <a:off x="566886" y="2453134"/>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 sampled stages included 20, 35, and 50 days after hatching and adulthood. RA changed from relatively strong Navβ3 expression toward stronger Navβ4 expression; comparison with surrounding arcopallium helped distinguish an RA-related change from a uniform change throughout nearby tissue.</a:t>
            </a:r>
            <a:endParaRPr sz="1800">
              <a:solidFill>
                <a:schemeClr val="dk1"/>
              </a:solidFill>
              <a:latin typeface="Calibri"/>
              <a:ea typeface="Calibri"/>
              <a:cs typeface="Calibri"/>
              <a:sym typeface="Calibri"/>
            </a:endParaRPr>
          </a:p>
        </p:txBody>
      </p:sp>
      <p:sp>
        <p:nvSpPr>
          <p:cNvPr id="249" name="Google Shape;249;p18"/>
          <p:cNvSpPr/>
          <p:nvPr/>
        </p:nvSpPr>
        <p:spPr>
          <a:xfrm>
            <a:off x="566886" y="389126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RNA abundance identifies a candidate molecular mechanism but does not directly measure channel current or prove that a subunit causes a behavioral transition. The expression data were therefore paired with physiological recordings and later manipulations of resurgent current.</a:t>
            </a:r>
            <a:endParaRPr sz="1800">
              <a:solidFill>
                <a:schemeClr val="dk1"/>
              </a:solidFill>
              <a:latin typeface="Calibri"/>
              <a:ea typeface="Calibri"/>
              <a:cs typeface="Calibri"/>
              <a:sym typeface="Calibri"/>
            </a:endParaRPr>
          </a:p>
        </p:txBody>
      </p:sp>
      <p:pic>
        <p:nvPicPr>
          <p:cNvPr id="250" name="Google Shape;250;p18"/>
          <p:cNvPicPr preferRelativeResize="0"/>
          <p:nvPr/>
        </p:nvPicPr>
        <p:blipFill rotWithShape="1">
          <a:blip r:embed="rId3">
            <a:alphaModFix/>
          </a:blip>
          <a:srcRect b="0" l="0" r="0" t="0"/>
          <a:stretch/>
        </p:blipFill>
        <p:spPr>
          <a:xfrm>
            <a:off x="7445722" y="1280074"/>
            <a:ext cx="3237607" cy="4297555"/>
          </a:xfrm>
          <a:prstGeom prst="rect">
            <a:avLst/>
          </a:prstGeom>
          <a:noFill/>
          <a:ln>
            <a:noFill/>
          </a:ln>
        </p:spPr>
      </p:pic>
      <p:sp>
        <p:nvSpPr>
          <p:cNvPr id="251" name="Google Shape;251;p18"/>
          <p:cNvSpPr/>
          <p:nvPr/>
        </p:nvSpPr>
        <p:spPr>
          <a:xfrm>
            <a:off x="650423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3(a–l). Developmental sodium-subunit expression in RA.</a:t>
            </a:r>
            <a:endParaRPr sz="1800">
              <a:solidFill>
                <a:schemeClr val="dk1"/>
              </a:solidFill>
              <a:latin typeface="Calibri"/>
              <a:ea typeface="Calibri"/>
              <a:cs typeface="Calibri"/>
              <a:sym typeface="Calibri"/>
            </a:endParaRPr>
          </a:p>
        </p:txBody>
      </p:sp>
      <p:sp>
        <p:nvSpPr>
          <p:cNvPr id="252" name="Google Shape;252;p18"/>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54" name="Google Shape;254;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Resurgent current increases across male development</a:t>
            </a:r>
            <a:endParaRPr sz="1800">
              <a:solidFill>
                <a:schemeClr val="dk1"/>
              </a:solidFill>
              <a:latin typeface="Calibri"/>
              <a:ea typeface="Calibri"/>
              <a:cs typeface="Calibri"/>
              <a:sym typeface="Calibri"/>
            </a:endParaRPr>
          </a:p>
        </p:txBody>
      </p:sp>
      <p:sp>
        <p:nvSpPr>
          <p:cNvPr id="260" name="Google Shape;260;p19"/>
          <p:cNvSpPr/>
          <p:nvPr/>
        </p:nvSpPr>
        <p:spPr>
          <a:xfrm>
            <a:off x="6419255" y="1234380"/>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Zemel and colleagues recorded transient and resurgent sodium currents from RA projection neurons at 20, 35, and 50 days after hatching and in adult male zebra finches. Applying the same voltage protocol across stages made the current components directly comparable.</a:t>
            </a:r>
            <a:endParaRPr sz="1800">
              <a:solidFill>
                <a:schemeClr val="dk1"/>
              </a:solidFill>
              <a:latin typeface="Calibri"/>
              <a:ea typeface="Calibri"/>
              <a:cs typeface="Calibri"/>
              <a:sym typeface="Calibri"/>
            </a:endParaRPr>
          </a:p>
        </p:txBody>
      </p:sp>
      <p:sp>
        <p:nvSpPr>
          <p:cNvPr id="261" name="Google Shape;261;p19"/>
          <p:cNvSpPr/>
          <p:nvPr/>
        </p:nvSpPr>
        <p:spPr>
          <a:xfrm>
            <a:off x="6419255" y="2672507"/>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Resurgent current increased with age, including when normalized to the transient current measured within the same sweep. That normalization tested whether the developmental effect was simply an increase in all measurable sodium current rather than a disproportionate change in the resurgent component.</a:t>
            </a:r>
            <a:endParaRPr sz="1800">
              <a:solidFill>
                <a:schemeClr val="dk1"/>
              </a:solidFill>
              <a:latin typeface="Calibri"/>
              <a:ea typeface="Calibri"/>
              <a:cs typeface="Calibri"/>
              <a:sym typeface="Calibri"/>
            </a:endParaRPr>
          </a:p>
        </p:txBody>
      </p:sp>
      <p:sp>
        <p:nvSpPr>
          <p:cNvPr id="262" name="Google Shape;262;p19"/>
          <p:cNvSpPr/>
          <p:nvPr/>
        </p:nvSpPr>
        <p:spPr>
          <a:xfrm>
            <a:off x="6419255" y="4110633"/>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 age-related current increase tracked the shift toward Navβ4 expression, but a developmental correlation alone cannot identify causation. Intrinsic membrane maturation can accompany song development without being equivalent to learning a particular tutor's syllable sequence.</a:t>
            </a:r>
            <a:endParaRPr sz="1800">
              <a:solidFill>
                <a:schemeClr val="dk1"/>
              </a:solidFill>
              <a:latin typeface="Calibri"/>
              <a:ea typeface="Calibri"/>
              <a:cs typeface="Calibri"/>
              <a:sym typeface="Calibri"/>
            </a:endParaRPr>
          </a:p>
        </p:txBody>
      </p:sp>
      <p:pic>
        <p:nvPicPr>
          <p:cNvPr id="263" name="Google Shape;263;p19"/>
          <p:cNvPicPr preferRelativeResize="0"/>
          <p:nvPr/>
        </p:nvPicPr>
        <p:blipFill rotWithShape="1">
          <a:blip r:embed="rId3">
            <a:alphaModFix/>
          </a:blip>
          <a:srcRect b="0" l="0" r="0" t="0"/>
          <a:stretch/>
        </p:blipFill>
        <p:spPr>
          <a:xfrm>
            <a:off x="2160739" y="1280071"/>
            <a:ext cx="2298843" cy="2925961"/>
          </a:xfrm>
          <a:prstGeom prst="rect">
            <a:avLst/>
          </a:prstGeom>
          <a:noFill/>
          <a:ln>
            <a:noFill/>
          </a:ln>
        </p:spPr>
      </p:pic>
      <p:sp>
        <p:nvSpPr>
          <p:cNvPr id="264" name="Google Shape;264;p19"/>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4(a–f). Developmental increase of resurgent current.</a:t>
            </a:r>
            <a:endParaRPr sz="1800">
              <a:solidFill>
                <a:schemeClr val="dk1"/>
              </a:solidFill>
              <a:latin typeface="Calibri"/>
              <a:ea typeface="Calibri"/>
              <a:cs typeface="Calibri"/>
              <a:sym typeface="Calibri"/>
            </a:endParaRPr>
          </a:p>
        </p:txBody>
      </p:sp>
      <p:pic>
        <p:nvPicPr>
          <p:cNvPr id="265" name="Google Shape;265;p19"/>
          <p:cNvPicPr preferRelativeResize="0"/>
          <p:nvPr/>
        </p:nvPicPr>
        <p:blipFill rotWithShape="1">
          <a:blip r:embed="rId4">
            <a:alphaModFix/>
          </a:blip>
          <a:srcRect b="0" l="0" r="0" t="0"/>
          <a:stretch/>
        </p:blipFill>
        <p:spPr>
          <a:xfrm>
            <a:off x="2668339" y="4754762"/>
            <a:ext cx="1283494" cy="1005779"/>
          </a:xfrm>
          <a:prstGeom prst="rect">
            <a:avLst/>
          </a:prstGeom>
          <a:noFill/>
          <a:ln>
            <a:noFill/>
          </a:ln>
        </p:spPr>
      </p:pic>
      <p:sp>
        <p:nvSpPr>
          <p:cNvPr id="266" name="Google Shape;266;p19"/>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267" name="Google Shape;267;p19"/>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69" name="Google Shape;269;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sp>
        <p:nvSpPr>
          <p:cNvPr id="274" name="Google Shape;274;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Voltage-clamp controls address axonal recording errors</a:t>
            </a:r>
            <a:endParaRPr sz="1800">
              <a:solidFill>
                <a:schemeClr val="dk1"/>
              </a:solidFill>
              <a:latin typeface="Calibri"/>
              <a:ea typeface="Calibri"/>
              <a:cs typeface="Calibri"/>
              <a:sym typeface="Calibri"/>
            </a:endParaRPr>
          </a:p>
        </p:txBody>
      </p:sp>
      <p:sp>
        <p:nvSpPr>
          <p:cNvPr id="275" name="Google Shape;275;p20"/>
          <p:cNvSpPr/>
          <p:nvPr/>
        </p:nvSpPr>
        <p:spPr>
          <a:xfrm>
            <a:off x="566886" y="123438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600"/>
              <a:buFont typeface="Arial"/>
              <a:buNone/>
            </a:pPr>
            <a:r>
              <a:rPr b="1" i="0" lang="en-US" sz="1600">
                <a:solidFill>
                  <a:srgbClr val="405D72"/>
                </a:solidFill>
                <a:latin typeface="Arial"/>
                <a:ea typeface="Arial"/>
                <a:cs typeface="Arial"/>
                <a:sym typeface="Arial"/>
              </a:rPr>
              <a:t>Space clamp</a:t>
            </a:r>
            <a:r>
              <a:rPr b="0" i="0" lang="en-US" sz="1600">
                <a:solidFill>
                  <a:srgbClr val="252E36"/>
                </a:solidFill>
                <a:latin typeface="Arial"/>
                <a:ea typeface="Arial"/>
                <a:cs typeface="Arial"/>
                <a:sym typeface="Arial"/>
              </a:rPr>
              <a:t> describes how well an electrode controls voltage throughout a neuron; long axons can make that control incomplete. Zemel and colleagues repeated sodium-current measurements in frontal slices that shortened the initial axonal segments of RA projection neurons.</a:t>
            </a:r>
            <a:endParaRPr sz="1800">
              <a:solidFill>
                <a:schemeClr val="dk1"/>
              </a:solidFill>
              <a:latin typeface="Calibri"/>
              <a:ea typeface="Calibri"/>
              <a:cs typeface="Calibri"/>
              <a:sym typeface="Calibri"/>
            </a:endParaRPr>
          </a:p>
        </p:txBody>
      </p:sp>
      <p:sp>
        <p:nvSpPr>
          <p:cNvPr id="276" name="Google Shape;276;p20"/>
          <p:cNvSpPr/>
          <p:nvPr/>
        </p:nvSpPr>
        <p:spPr>
          <a:xfrm>
            <a:off x="566886" y="2672507"/>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They also reduced extracellular sodium to improve recording conditions and compared neurons from 20-day males with adult neurons. The developmental difference in resurgent current remained under these altered preparation conditions, supporting its biological origin rather than a simple difference in recording distant axons.</a:t>
            </a:r>
            <a:endParaRPr sz="1800">
              <a:solidFill>
                <a:schemeClr val="dk1"/>
              </a:solidFill>
              <a:latin typeface="Calibri"/>
              <a:ea typeface="Calibri"/>
              <a:cs typeface="Calibri"/>
              <a:sym typeface="Calibri"/>
            </a:endParaRPr>
          </a:p>
        </p:txBody>
      </p:sp>
      <p:sp>
        <p:nvSpPr>
          <p:cNvPr id="277" name="Google Shape;277;p20"/>
          <p:cNvSpPr/>
          <p:nvPr/>
        </p:nvSpPr>
        <p:spPr>
          <a:xfrm>
            <a:off x="566886" y="4110633"/>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These controls strengthen interpretation of the current measurement without making the voltage clamp perfect. The comparison concerns isolated-cell membrane physiology, and does not itself establish how much a change in resurgent current alters the acoustic structure of a freely singing bird.</a:t>
            </a:r>
            <a:endParaRPr sz="1800">
              <a:solidFill>
                <a:schemeClr val="dk1"/>
              </a:solidFill>
              <a:latin typeface="Calibri"/>
              <a:ea typeface="Calibri"/>
              <a:cs typeface="Calibri"/>
              <a:sym typeface="Calibri"/>
            </a:endParaRPr>
          </a:p>
        </p:txBody>
      </p:sp>
      <p:pic>
        <p:nvPicPr>
          <p:cNvPr id="278" name="Google Shape;278;p20"/>
          <p:cNvPicPr preferRelativeResize="0"/>
          <p:nvPr/>
        </p:nvPicPr>
        <p:blipFill rotWithShape="1">
          <a:blip r:embed="rId3">
            <a:alphaModFix/>
          </a:blip>
          <a:srcRect b="0" l="0" r="0" t="0"/>
          <a:stretch/>
        </p:blipFill>
        <p:spPr>
          <a:xfrm>
            <a:off x="6504375" y="1280071"/>
            <a:ext cx="5120450" cy="4274493"/>
          </a:xfrm>
          <a:prstGeom prst="rect">
            <a:avLst/>
          </a:prstGeom>
          <a:noFill/>
          <a:ln>
            <a:noFill/>
          </a:ln>
        </p:spPr>
      </p:pic>
      <p:sp>
        <p:nvSpPr>
          <p:cNvPr id="279" name="Google Shape;279;p20"/>
          <p:cNvSpPr/>
          <p:nvPr/>
        </p:nvSpPr>
        <p:spPr>
          <a:xfrm>
            <a:off x="6504236" y="5646093"/>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5(a–i). Axonal and voltage-clamp recording controls.</a:t>
            </a:r>
            <a:endParaRPr sz="1800">
              <a:solidFill>
                <a:schemeClr val="dk1"/>
              </a:solidFill>
              <a:latin typeface="Calibri"/>
              <a:ea typeface="Calibri"/>
              <a:cs typeface="Calibri"/>
              <a:sym typeface="Calibri"/>
            </a:endParaRPr>
          </a:p>
        </p:txBody>
      </p:sp>
      <p:sp>
        <p:nvSpPr>
          <p:cNvPr id="280" name="Google Shape;280;p20"/>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82" name="Google Shape;282;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 Navβ4 peptide increases juvenile resurgent current</a:t>
            </a:r>
            <a:endParaRPr sz="1800">
              <a:solidFill>
                <a:schemeClr val="dk1"/>
              </a:solidFill>
              <a:latin typeface="Calibri"/>
              <a:ea typeface="Calibri"/>
              <a:cs typeface="Calibri"/>
              <a:sym typeface="Calibri"/>
            </a:endParaRPr>
          </a:p>
        </p:txBody>
      </p:sp>
      <p:sp>
        <p:nvSpPr>
          <p:cNvPr id="288" name="Google Shape;288;p21"/>
          <p:cNvSpPr/>
          <p:nvPr/>
        </p:nvSpPr>
        <p:spPr>
          <a:xfrm>
            <a:off x="6419255" y="1234380"/>
            <a:ext cx="52247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Zemel and colleagues introduced a peptide from the intracellular C-terminal region of Navβ4 through the recording pipette into RA neurons from 20-day male zebra finches. A </a:t>
            </a:r>
            <a:r>
              <a:rPr b="1" i="0" lang="en-US" sz="1600">
                <a:solidFill>
                  <a:srgbClr val="405D72"/>
                </a:solidFill>
                <a:latin typeface="Arial"/>
                <a:ea typeface="Arial"/>
                <a:cs typeface="Arial"/>
                <a:sym typeface="Arial"/>
              </a:rPr>
              <a:t>peptide</a:t>
            </a:r>
            <a:r>
              <a:rPr b="0" i="0" lang="en-US" sz="1600">
                <a:solidFill>
                  <a:srgbClr val="252E36"/>
                </a:solidFill>
                <a:latin typeface="Arial"/>
                <a:ea typeface="Arial"/>
                <a:cs typeface="Arial"/>
                <a:sym typeface="Arial"/>
              </a:rPr>
              <a:t> is a short amino-acid chain used here to test a proposed channel interaction.</a:t>
            </a:r>
            <a:endParaRPr sz="1800">
              <a:solidFill>
                <a:schemeClr val="dk1"/>
              </a:solidFill>
              <a:latin typeface="Calibri"/>
              <a:ea typeface="Calibri"/>
              <a:cs typeface="Calibri"/>
              <a:sym typeface="Calibri"/>
            </a:endParaRPr>
          </a:p>
        </p:txBody>
      </p:sp>
      <p:sp>
        <p:nvSpPr>
          <p:cNvPr id="289" name="Google Shape;289;p21"/>
          <p:cNvSpPr/>
          <p:nvPr/>
        </p:nvSpPr>
        <p:spPr>
          <a:xfrm>
            <a:off x="6419255" y="2453134"/>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Resurgent current increased over approximately 7 minutes after whole-cell access with the native peptide. A scrambled peptide containing the same amino acids in a different sequence did not produce the same increase, controlling for nonspecific introduction of peptide material.</a:t>
            </a:r>
            <a:endParaRPr sz="1800">
              <a:solidFill>
                <a:schemeClr val="dk1"/>
              </a:solidFill>
              <a:latin typeface="Calibri"/>
              <a:ea typeface="Calibri"/>
              <a:cs typeface="Calibri"/>
              <a:sym typeface="Calibri"/>
            </a:endParaRPr>
          </a:p>
        </p:txBody>
      </p:sp>
      <p:sp>
        <p:nvSpPr>
          <p:cNvPr id="290" name="Google Shape;290;p21"/>
          <p:cNvSpPr/>
          <p:nvPr/>
        </p:nvSpPr>
        <p:spPr>
          <a:xfrm>
            <a:off x="6419255" y="3891260"/>
            <a:ext cx="52247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This intervention links a defined sequence to the current phenotype more directly than RNA expression alone. It does not recreate every function of the intact β4 protein or establish that this peptide manipulation improves song learning in a behaving bird.</a:t>
            </a:r>
            <a:endParaRPr sz="1800">
              <a:solidFill>
                <a:schemeClr val="dk1"/>
              </a:solidFill>
              <a:latin typeface="Calibri"/>
              <a:ea typeface="Calibri"/>
              <a:cs typeface="Calibri"/>
              <a:sym typeface="Calibri"/>
            </a:endParaRPr>
          </a:p>
        </p:txBody>
      </p:sp>
      <p:pic>
        <p:nvPicPr>
          <p:cNvPr id="291" name="Google Shape;291;p21"/>
          <p:cNvPicPr preferRelativeResize="0"/>
          <p:nvPr/>
        </p:nvPicPr>
        <p:blipFill rotWithShape="1">
          <a:blip r:embed="rId3">
            <a:alphaModFix/>
          </a:blip>
          <a:srcRect b="0" l="0" r="0" t="0"/>
          <a:stretch/>
        </p:blipFill>
        <p:spPr>
          <a:xfrm>
            <a:off x="1951930" y="1280071"/>
            <a:ext cx="2716313" cy="2925961"/>
          </a:xfrm>
          <a:prstGeom prst="rect">
            <a:avLst/>
          </a:prstGeom>
          <a:noFill/>
          <a:ln>
            <a:noFill/>
          </a:ln>
        </p:spPr>
      </p:pic>
      <p:sp>
        <p:nvSpPr>
          <p:cNvPr id="292" name="Google Shape;292;p21"/>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7(a–l). Native and scrambled Navβ4 peptide interventions.</a:t>
            </a:r>
            <a:endParaRPr sz="1800">
              <a:solidFill>
                <a:schemeClr val="dk1"/>
              </a:solidFill>
              <a:latin typeface="Calibri"/>
              <a:ea typeface="Calibri"/>
              <a:cs typeface="Calibri"/>
              <a:sym typeface="Calibri"/>
            </a:endParaRPr>
          </a:p>
        </p:txBody>
      </p:sp>
      <p:pic>
        <p:nvPicPr>
          <p:cNvPr id="293" name="Google Shape;293;p21"/>
          <p:cNvPicPr preferRelativeResize="0"/>
          <p:nvPr/>
        </p:nvPicPr>
        <p:blipFill rotWithShape="1">
          <a:blip r:embed="rId4">
            <a:alphaModFix/>
          </a:blip>
          <a:srcRect b="0" l="0" r="0" t="0"/>
          <a:stretch/>
        </p:blipFill>
        <p:spPr>
          <a:xfrm>
            <a:off x="2668339" y="4754762"/>
            <a:ext cx="1283494" cy="1005779"/>
          </a:xfrm>
          <a:prstGeom prst="rect">
            <a:avLst/>
          </a:prstGeom>
          <a:noFill/>
          <a:ln>
            <a:noFill/>
          </a:ln>
        </p:spPr>
      </p:pic>
      <p:sp>
        <p:nvSpPr>
          <p:cNvPr id="294" name="Google Shape;294;p21"/>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295" name="Google Shape;295;p21"/>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97" name="Google Shape;297;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Dynamic clamp tests the effect of resurgent current</a:t>
            </a:r>
            <a:endParaRPr sz="1800">
              <a:solidFill>
                <a:schemeClr val="dk1"/>
              </a:solidFill>
              <a:latin typeface="Calibri"/>
              <a:ea typeface="Calibri"/>
              <a:cs typeface="Calibri"/>
              <a:sym typeface="Calibri"/>
            </a:endParaRPr>
          </a:p>
        </p:txBody>
      </p:sp>
      <p:sp>
        <p:nvSpPr>
          <p:cNvPr id="303" name="Google Shape;303;p22"/>
          <p:cNvSpPr/>
          <p:nvPr/>
        </p:nvSpPr>
        <p:spPr>
          <a:xfrm>
            <a:off x="566886" y="1234380"/>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600"/>
              <a:buFont typeface="Arial"/>
              <a:buNone/>
            </a:pPr>
            <a:r>
              <a:rPr b="1" i="0" lang="en-US" sz="1600">
                <a:solidFill>
                  <a:srgbClr val="405D72"/>
                </a:solidFill>
                <a:latin typeface="Arial"/>
                <a:ea typeface="Arial"/>
                <a:cs typeface="Arial"/>
                <a:sym typeface="Arial"/>
              </a:rPr>
              <a:t>Dynamic clamp</a:t>
            </a:r>
            <a:r>
              <a:rPr b="0" i="0" lang="en-US" sz="1600">
                <a:solidFill>
                  <a:srgbClr val="252E36"/>
                </a:solidFill>
                <a:latin typeface="Arial"/>
                <a:ea typeface="Arial"/>
                <a:cs typeface="Arial"/>
                <a:sym typeface="Arial"/>
              </a:rPr>
              <a:t> computes a voltage-dependent current during recording and injects that current into a real neuron. Zemel and colleagues used this method to add a resurgent-current component to juvenile RA neurons and subtract a corresponding component from adult neurons.</a:t>
            </a:r>
            <a:endParaRPr sz="1800">
              <a:solidFill>
                <a:schemeClr val="dk1"/>
              </a:solidFill>
              <a:latin typeface="Calibri"/>
              <a:ea typeface="Calibri"/>
              <a:cs typeface="Calibri"/>
              <a:sym typeface="Calibri"/>
            </a:endParaRPr>
          </a:p>
        </p:txBody>
      </p:sp>
      <p:sp>
        <p:nvSpPr>
          <p:cNvPr id="304" name="Google Shape;304;p22"/>
          <p:cNvSpPr/>
          <p:nvPr/>
        </p:nvSpPr>
        <p:spPr>
          <a:xfrm>
            <a:off x="566886" y="2672507"/>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Adding the component increased juvenile firing frequency, whereas subtraction reduced adult firing. The same cell could be compared with the intervention off and on, separating the immediate current effect from stable differences between developmental populations.</a:t>
            </a:r>
            <a:endParaRPr sz="1800">
              <a:solidFill>
                <a:schemeClr val="dk1"/>
              </a:solidFill>
              <a:latin typeface="Calibri"/>
              <a:ea typeface="Calibri"/>
              <a:cs typeface="Calibri"/>
              <a:sym typeface="Calibri"/>
            </a:endParaRPr>
          </a:p>
        </p:txBody>
      </p:sp>
      <p:sp>
        <p:nvSpPr>
          <p:cNvPr id="305" name="Google Shape;305;p22"/>
          <p:cNvSpPr/>
          <p:nvPr/>
        </p:nvSpPr>
        <p:spPr>
          <a:xfrm>
            <a:off x="566886" y="4110633"/>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 experiment supports a causal contribution of resurgent current to neuronal excitability. The injected conductance was calibrated to measured sodium-current kinetics. Agreement with voltage-clamp recordings does not establish that this conductance alone explains song timing or behavioral proficiency.</a:t>
            </a:r>
            <a:endParaRPr sz="1800">
              <a:solidFill>
                <a:schemeClr val="dk1"/>
              </a:solidFill>
              <a:latin typeface="Calibri"/>
              <a:ea typeface="Calibri"/>
              <a:cs typeface="Calibri"/>
              <a:sym typeface="Calibri"/>
            </a:endParaRPr>
          </a:p>
        </p:txBody>
      </p:sp>
      <p:pic>
        <p:nvPicPr>
          <p:cNvPr id="306" name="Google Shape;306;p22"/>
          <p:cNvPicPr preferRelativeResize="0"/>
          <p:nvPr/>
        </p:nvPicPr>
        <p:blipFill rotWithShape="1">
          <a:blip r:embed="rId3">
            <a:alphaModFix/>
          </a:blip>
          <a:srcRect b="0" l="0" r="0" t="0"/>
          <a:stretch/>
        </p:blipFill>
        <p:spPr>
          <a:xfrm>
            <a:off x="7858338" y="1280071"/>
            <a:ext cx="2046853" cy="2925961"/>
          </a:xfrm>
          <a:prstGeom prst="rect">
            <a:avLst/>
          </a:prstGeom>
          <a:noFill/>
          <a:ln>
            <a:noFill/>
          </a:ln>
        </p:spPr>
      </p:pic>
      <p:sp>
        <p:nvSpPr>
          <p:cNvPr id="307" name="Google Shape;307;p22"/>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8(a–h). Current records and dynamic-clamp interventions.</a:t>
            </a:r>
            <a:endParaRPr sz="1800">
              <a:solidFill>
                <a:schemeClr val="dk1"/>
              </a:solidFill>
              <a:latin typeface="Calibri"/>
              <a:ea typeface="Calibri"/>
              <a:cs typeface="Calibri"/>
              <a:sym typeface="Calibri"/>
            </a:endParaRPr>
          </a:p>
        </p:txBody>
      </p:sp>
      <p:pic>
        <p:nvPicPr>
          <p:cNvPr id="308" name="Google Shape;308;p22"/>
          <p:cNvPicPr preferRelativeResize="0"/>
          <p:nvPr/>
        </p:nvPicPr>
        <p:blipFill rotWithShape="1">
          <a:blip r:embed="rId4">
            <a:alphaModFix/>
          </a:blip>
          <a:srcRect b="0" l="0" r="0" t="0"/>
          <a:stretch/>
        </p:blipFill>
        <p:spPr>
          <a:xfrm>
            <a:off x="8239869" y="4754762"/>
            <a:ext cx="1283494" cy="1005779"/>
          </a:xfrm>
          <a:prstGeom prst="rect">
            <a:avLst/>
          </a:prstGeom>
          <a:noFill/>
          <a:ln>
            <a:noFill/>
          </a:ln>
        </p:spPr>
      </p:pic>
      <p:sp>
        <p:nvSpPr>
          <p:cNvPr id="309" name="Google Shape;309;p22"/>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10" name="Google Shape;310;p22"/>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312" name="Google Shape;312;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RA maturation differs between males and females</a:t>
            </a:r>
            <a:endParaRPr sz="1800">
              <a:solidFill>
                <a:schemeClr val="dk1"/>
              </a:solidFill>
              <a:latin typeface="Calibri"/>
              <a:ea typeface="Calibri"/>
              <a:cs typeface="Calibri"/>
              <a:sym typeface="Calibri"/>
            </a:endParaRPr>
          </a:p>
        </p:txBody>
      </p:sp>
      <p:sp>
        <p:nvSpPr>
          <p:cNvPr id="318" name="Google Shape;318;p23"/>
          <p:cNvSpPr/>
          <p:nvPr/>
        </p:nvSpPr>
        <p:spPr>
          <a:xfrm>
            <a:off x="6053435" y="123438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Zemel and colleagues compared Navβ4 expression and RA physiology across ages in female zebra finches, which do not produce the learned courtship song characteristic of males. In situ hybridization was assessed alongside adjacent Nissl-stained sections identifying the nucleus.</a:t>
            </a:r>
            <a:endParaRPr sz="1800">
              <a:solidFill>
                <a:schemeClr val="dk1"/>
              </a:solidFill>
              <a:latin typeface="Calibri"/>
              <a:ea typeface="Calibri"/>
              <a:cs typeface="Calibri"/>
              <a:sym typeface="Calibri"/>
            </a:endParaRPr>
          </a:p>
        </p:txBody>
      </p:sp>
      <p:sp>
        <p:nvSpPr>
          <p:cNvPr id="319" name="Google Shape;319;p23"/>
          <p:cNvSpPr/>
          <p:nvPr/>
        </p:nvSpPr>
        <p:spPr>
          <a:xfrm>
            <a:off x="6053435" y="2453134"/>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Females did not exhibit the male pattern of strong developmental Navβ4 upregulation and mature resurgent-current specialization. This comparison separated a sex-related developmental program from a change that would necessarily occur in every zebra finch reaching the same chronological age.</a:t>
            </a:r>
            <a:endParaRPr sz="1800">
              <a:solidFill>
                <a:schemeClr val="dk1"/>
              </a:solidFill>
              <a:latin typeface="Calibri"/>
              <a:ea typeface="Calibri"/>
              <a:cs typeface="Calibri"/>
              <a:sym typeface="Calibri"/>
            </a:endParaRPr>
          </a:p>
        </p:txBody>
      </p:sp>
      <p:sp>
        <p:nvSpPr>
          <p:cNvPr id="320" name="Google Shape;320;p23"/>
          <p:cNvSpPr/>
          <p:nvPr/>
        </p:nvSpPr>
        <p:spPr>
          <a:xfrm>
            <a:off x="6053435" y="389126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Male birds isolated from tutor song nevertheless developed mature firing properties, further separating intrinsic maturation from successful imitation. The results support sex-linked motor-system specialization; they do not establish that a single sodium-channel subunit is sufficient to create singing behavior.</a:t>
            </a:r>
            <a:endParaRPr sz="1800">
              <a:solidFill>
                <a:schemeClr val="dk1"/>
              </a:solidFill>
              <a:latin typeface="Calibri"/>
              <a:ea typeface="Calibri"/>
              <a:cs typeface="Calibri"/>
              <a:sym typeface="Calibri"/>
            </a:endParaRPr>
          </a:p>
        </p:txBody>
      </p:sp>
      <p:pic>
        <p:nvPicPr>
          <p:cNvPr id="321" name="Google Shape;321;p23"/>
          <p:cNvPicPr preferRelativeResize="0"/>
          <p:nvPr/>
        </p:nvPicPr>
        <p:blipFill rotWithShape="1">
          <a:blip r:embed="rId3">
            <a:alphaModFix/>
          </a:blip>
          <a:srcRect b="0" l="0" r="0" t="0"/>
          <a:stretch/>
        </p:blipFill>
        <p:spPr>
          <a:xfrm>
            <a:off x="567023" y="1280071"/>
            <a:ext cx="5120457" cy="4075063"/>
          </a:xfrm>
          <a:prstGeom prst="rect">
            <a:avLst/>
          </a:prstGeom>
          <a:noFill/>
          <a:ln>
            <a:noFill/>
          </a:ln>
        </p:spPr>
      </p:pic>
      <p:sp>
        <p:nvSpPr>
          <p:cNvPr id="322" name="Google Shape;322;p23"/>
          <p:cNvSpPr/>
          <p:nvPr/>
        </p:nvSpPr>
        <p:spPr>
          <a:xfrm>
            <a:off x="566886" y="5446663"/>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9(a–g). Female RA expression and sodium-current measurements.</a:t>
            </a:r>
            <a:endParaRPr sz="1800">
              <a:solidFill>
                <a:schemeClr val="dk1"/>
              </a:solidFill>
              <a:latin typeface="Calibri"/>
              <a:ea typeface="Calibri"/>
              <a:cs typeface="Calibri"/>
              <a:sym typeface="Calibri"/>
            </a:endParaRPr>
          </a:p>
        </p:txBody>
      </p:sp>
      <p:sp>
        <p:nvSpPr>
          <p:cNvPr id="323" name="Google Shape;323;p23"/>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325" name="Google Shape;325;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SK channels contribute to the afterhyperpolarization</a:t>
            </a:r>
            <a:endParaRPr sz="1800">
              <a:solidFill>
                <a:schemeClr val="dk1"/>
              </a:solidFill>
              <a:latin typeface="Calibri"/>
              <a:ea typeface="Calibri"/>
              <a:cs typeface="Calibri"/>
              <a:sym typeface="Calibri"/>
            </a:endParaRPr>
          </a:p>
        </p:txBody>
      </p:sp>
      <p:sp>
        <p:nvSpPr>
          <p:cNvPr id="331" name="Google Shape;331;p24"/>
          <p:cNvSpPr/>
          <p:nvPr/>
        </p:nvSpPr>
        <p:spPr>
          <a:xfrm>
            <a:off x="566886" y="1234380"/>
            <a:ext cx="52247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600"/>
              <a:buFont typeface="Arial"/>
              <a:buNone/>
            </a:pPr>
            <a:r>
              <a:rPr b="1" i="0" lang="en-US" sz="1600">
                <a:solidFill>
                  <a:srgbClr val="405D72"/>
                </a:solidFill>
                <a:latin typeface="Arial"/>
                <a:ea typeface="Arial"/>
                <a:cs typeface="Arial"/>
                <a:sym typeface="Arial"/>
              </a:rPr>
              <a:t>SK channels</a:t>
            </a:r>
            <a:r>
              <a:rPr b="0" i="0" lang="en-US" sz="1600">
                <a:solidFill>
                  <a:srgbClr val="252E36"/>
                </a:solidFill>
                <a:latin typeface="Arial"/>
                <a:ea typeface="Arial"/>
                <a:cs typeface="Arial"/>
                <a:sym typeface="Arial"/>
              </a:rPr>
              <a:t> are small-conductance calcium-activated potassium channels. Calcium-dependent potassium efflux can produce an </a:t>
            </a:r>
            <a:r>
              <a:rPr b="1" i="0" lang="en-US" sz="1600">
                <a:solidFill>
                  <a:srgbClr val="405D72"/>
                </a:solidFill>
                <a:latin typeface="Arial"/>
                <a:ea typeface="Arial"/>
                <a:cs typeface="Arial"/>
                <a:sym typeface="Arial"/>
              </a:rPr>
              <a:t>afterhyperpolarization</a:t>
            </a:r>
            <a:r>
              <a:rPr b="0" i="0" lang="en-US" sz="1600">
                <a:solidFill>
                  <a:srgbClr val="252E36"/>
                </a:solidFill>
                <a:latin typeface="Arial"/>
                <a:ea typeface="Arial"/>
                <a:cs typeface="Arial"/>
                <a:sym typeface="Arial"/>
              </a:rPr>
              <a:t>, a period of more negative membrane voltage following a spike that regulates when the next spike occurs.</a:t>
            </a:r>
            <a:endParaRPr sz="1800">
              <a:solidFill>
                <a:schemeClr val="dk1"/>
              </a:solidFill>
              <a:latin typeface="Calibri"/>
              <a:ea typeface="Calibri"/>
              <a:cs typeface="Calibri"/>
              <a:sym typeface="Calibri"/>
            </a:endParaRPr>
          </a:p>
        </p:txBody>
      </p:sp>
      <p:sp>
        <p:nvSpPr>
          <p:cNvPr id="332" name="Google Shape;332;p24"/>
          <p:cNvSpPr/>
          <p:nvPr/>
        </p:nvSpPr>
        <p:spPr>
          <a:xfrm>
            <a:off x="566886" y="2453134"/>
            <a:ext cx="5224760" cy="175498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Hou and colleagues recorded RA projection neurons in adult male zebra finch slices and applied apamin, an SK-channel blocker, at 100 nM. An example response to 100 pA rose from 34 to about 53 Hz. Blocking the channels reduced the afterhyperpolarization and increased current-evoked firing, linking the pharmacological target to both the spike waveform and ongoing excitability.</a:t>
            </a:r>
            <a:endParaRPr sz="1800">
              <a:solidFill>
                <a:schemeClr val="dk1"/>
              </a:solidFill>
              <a:latin typeface="Calibri"/>
              <a:ea typeface="Calibri"/>
              <a:cs typeface="Calibri"/>
              <a:sym typeface="Calibri"/>
            </a:endParaRPr>
          </a:p>
        </p:txBody>
      </p:sp>
      <p:sp>
        <p:nvSpPr>
          <p:cNvPr id="333" name="Google Shape;333;p24"/>
          <p:cNvSpPr/>
          <p:nvPr/>
        </p:nvSpPr>
        <p:spPr>
          <a:xfrm>
            <a:off x="566886" y="4330005"/>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 direction of the effect is consistent with removal of a potassium-mediated brake on excitation. Pharmacology establishes a contribution under the slice conditions, but does not identify every SK subunit or prove how this manipulation would change the timing of a complete song.</a:t>
            </a:r>
            <a:endParaRPr sz="1800">
              <a:solidFill>
                <a:schemeClr val="dk1"/>
              </a:solidFill>
              <a:latin typeface="Calibri"/>
              <a:ea typeface="Calibri"/>
              <a:cs typeface="Calibri"/>
              <a:sym typeface="Calibri"/>
            </a:endParaRPr>
          </a:p>
        </p:txBody>
      </p:sp>
      <p:pic>
        <p:nvPicPr>
          <p:cNvPr id="334" name="Google Shape;334;p24"/>
          <p:cNvPicPr preferRelativeResize="0"/>
          <p:nvPr/>
        </p:nvPicPr>
        <p:blipFill rotWithShape="1">
          <a:blip r:embed="rId3">
            <a:alphaModFix/>
          </a:blip>
          <a:srcRect b="0" l="0" r="0" t="0"/>
          <a:stretch/>
        </p:blipFill>
        <p:spPr>
          <a:xfrm>
            <a:off x="7629577" y="1280071"/>
            <a:ext cx="2504078" cy="2925961"/>
          </a:xfrm>
          <a:prstGeom prst="rect">
            <a:avLst/>
          </a:prstGeom>
          <a:noFill/>
          <a:ln>
            <a:noFill/>
          </a:ln>
        </p:spPr>
      </p:pic>
      <p:sp>
        <p:nvSpPr>
          <p:cNvPr id="335" name="Google Shape;335;p24"/>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Hou et al. (2012), Fig. 1(A–F). SK blockade changes evoked firing and spike recovery.</a:t>
            </a:r>
            <a:endParaRPr sz="1800">
              <a:solidFill>
                <a:schemeClr val="dk1"/>
              </a:solidFill>
              <a:latin typeface="Calibri"/>
              <a:ea typeface="Calibri"/>
              <a:cs typeface="Calibri"/>
              <a:sym typeface="Calibri"/>
            </a:endParaRPr>
          </a:p>
        </p:txBody>
      </p:sp>
      <p:pic>
        <p:nvPicPr>
          <p:cNvPr id="336" name="Google Shape;336;p24"/>
          <p:cNvPicPr preferRelativeResize="0"/>
          <p:nvPr/>
        </p:nvPicPr>
        <p:blipFill rotWithShape="1">
          <a:blip r:embed="rId4">
            <a:alphaModFix/>
          </a:blip>
          <a:srcRect b="0" l="0" r="0" t="0"/>
          <a:stretch/>
        </p:blipFill>
        <p:spPr>
          <a:xfrm>
            <a:off x="8239869" y="4754762"/>
            <a:ext cx="1283494" cy="1005779"/>
          </a:xfrm>
          <a:prstGeom prst="rect">
            <a:avLst/>
          </a:prstGeom>
          <a:noFill/>
          <a:ln>
            <a:noFill/>
          </a:ln>
        </p:spPr>
      </p:pic>
      <p:sp>
        <p:nvSpPr>
          <p:cNvPr id="337" name="Google Shape;337;p24"/>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38" name="Google Shape;338;p24"/>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Hou et al. (2012); Zemel et al. (2021)</a:t>
            </a:r>
            <a:endParaRPr sz="1800">
              <a:solidFill>
                <a:schemeClr val="dk1"/>
              </a:solidFill>
              <a:latin typeface="Calibri"/>
              <a:ea typeface="Calibri"/>
              <a:cs typeface="Calibri"/>
              <a:sym typeface="Calibri"/>
            </a:endParaRPr>
          </a:p>
        </p:txBody>
      </p:sp>
      <p:sp>
        <p:nvSpPr>
          <p:cNvPr id="340" name="Google Shape;340;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4" name="Shape 344"/>
        <p:cNvGrpSpPr/>
        <p:nvPr/>
      </p:nvGrpSpPr>
      <p:grpSpPr>
        <a:xfrm>
          <a:off x="0" y="0"/>
          <a:ext cx="0" cy="0"/>
          <a:chOff x="0" y="0"/>
          <a:chExt cx="0" cy="0"/>
        </a:xfrm>
      </p:grpSpPr>
      <p:sp>
        <p:nvSpPr>
          <p:cNvPr id="345" name="Google Shape;345;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SK blockade makes RA firing less regular</a:t>
            </a:r>
            <a:endParaRPr sz="1800">
              <a:solidFill>
                <a:schemeClr val="dk1"/>
              </a:solidFill>
              <a:latin typeface="Calibri"/>
              <a:ea typeface="Calibri"/>
              <a:cs typeface="Calibri"/>
              <a:sym typeface="Calibri"/>
            </a:endParaRPr>
          </a:p>
        </p:txBody>
      </p:sp>
      <p:sp>
        <p:nvSpPr>
          <p:cNvPr id="346" name="Google Shape;346;p25"/>
          <p:cNvSpPr/>
          <p:nvPr/>
        </p:nvSpPr>
        <p:spPr>
          <a:xfrm>
            <a:off x="6419255" y="1234380"/>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600"/>
              <a:buFont typeface="Arial"/>
              <a:buNone/>
            </a:pPr>
            <a:r>
              <a:rPr b="1" i="0" lang="en-US" sz="1600">
                <a:solidFill>
                  <a:srgbClr val="405D72"/>
                </a:solidFill>
                <a:latin typeface="Arial"/>
                <a:ea typeface="Arial"/>
                <a:cs typeface="Arial"/>
                <a:sym typeface="Arial"/>
              </a:rPr>
              <a:t>Interspike intervals</a:t>
            </a:r>
            <a:r>
              <a:rPr b="0" i="0" lang="en-US" sz="1600">
                <a:solidFill>
                  <a:srgbClr val="252E36"/>
                </a:solidFill>
                <a:latin typeface="Arial"/>
                <a:ea typeface="Arial"/>
                <a:cs typeface="Arial"/>
                <a:sym typeface="Arial"/>
              </a:rPr>
              <a:t> are the times separating successive action potentials. Hou and colleagues compared spontaneous spike trains from the same RA projection neurons before and after apamin, allowing firing regularity to be assessed separately from the mean firing rate.</a:t>
            </a:r>
            <a:endParaRPr sz="1800">
              <a:solidFill>
                <a:schemeClr val="dk1"/>
              </a:solidFill>
              <a:latin typeface="Calibri"/>
              <a:ea typeface="Calibri"/>
              <a:cs typeface="Calibri"/>
              <a:sym typeface="Calibri"/>
            </a:endParaRPr>
          </a:p>
        </p:txBody>
      </p:sp>
      <p:sp>
        <p:nvSpPr>
          <p:cNvPr id="347" name="Google Shape;347;p25"/>
          <p:cNvSpPr/>
          <p:nvPr/>
        </p:nvSpPr>
        <p:spPr>
          <a:xfrm>
            <a:off x="6419255" y="2672507"/>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SK blockade increased variability in the intervals between spikes without a clear change in average spontaneous firing rate. Recordings therefore distinguished a neuron that fires more rapidly from a neuron that fires with more reproducible timing; these are different physiological properties.</a:t>
            </a:r>
            <a:endParaRPr sz="1800">
              <a:solidFill>
                <a:schemeClr val="dk1"/>
              </a:solidFill>
              <a:latin typeface="Calibri"/>
              <a:ea typeface="Calibri"/>
              <a:cs typeface="Calibri"/>
              <a:sym typeface="Calibri"/>
            </a:endParaRPr>
          </a:p>
        </p:txBody>
      </p:sp>
      <p:sp>
        <p:nvSpPr>
          <p:cNvPr id="348" name="Google Shape;348;p25"/>
          <p:cNvSpPr/>
          <p:nvPr/>
        </p:nvSpPr>
        <p:spPr>
          <a:xfrm>
            <a:off x="6419255" y="4110633"/>
            <a:ext cx="52247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Calcium-activated potassium feedback can stabilize the return toward spike threshold after each action potential. The result supports a contribution to temporal regularity in isolated RA cells, but natural song-related precision also depends on the timing of HVC and LMAN inputs and cannot be assigned entirely to SK channels.</a:t>
            </a:r>
            <a:endParaRPr sz="1800">
              <a:solidFill>
                <a:schemeClr val="dk1"/>
              </a:solidFill>
              <a:latin typeface="Calibri"/>
              <a:ea typeface="Calibri"/>
              <a:cs typeface="Calibri"/>
              <a:sym typeface="Calibri"/>
            </a:endParaRPr>
          </a:p>
        </p:txBody>
      </p:sp>
      <p:pic>
        <p:nvPicPr>
          <p:cNvPr id="349" name="Google Shape;349;p25"/>
          <p:cNvPicPr preferRelativeResize="0"/>
          <p:nvPr/>
        </p:nvPicPr>
        <p:blipFill rotWithShape="1">
          <a:blip r:embed="rId3">
            <a:alphaModFix/>
          </a:blip>
          <a:srcRect b="0" l="0" r="0" t="0"/>
          <a:stretch/>
        </p:blipFill>
        <p:spPr>
          <a:xfrm>
            <a:off x="2089870" y="1280071"/>
            <a:ext cx="2440283" cy="2925961"/>
          </a:xfrm>
          <a:prstGeom prst="rect">
            <a:avLst/>
          </a:prstGeom>
          <a:noFill/>
          <a:ln>
            <a:noFill/>
          </a:ln>
        </p:spPr>
      </p:pic>
      <p:sp>
        <p:nvSpPr>
          <p:cNvPr id="350" name="Google Shape;350;p25"/>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Hou et al. (2012), Fig. 2(A–E). Spontaneous spike timing before and after apamin.</a:t>
            </a:r>
            <a:endParaRPr sz="1800">
              <a:solidFill>
                <a:schemeClr val="dk1"/>
              </a:solidFill>
              <a:latin typeface="Calibri"/>
              <a:ea typeface="Calibri"/>
              <a:cs typeface="Calibri"/>
              <a:sym typeface="Calibri"/>
            </a:endParaRPr>
          </a:p>
        </p:txBody>
      </p:sp>
      <p:pic>
        <p:nvPicPr>
          <p:cNvPr id="351" name="Google Shape;351;p25"/>
          <p:cNvPicPr preferRelativeResize="0"/>
          <p:nvPr/>
        </p:nvPicPr>
        <p:blipFill rotWithShape="1">
          <a:blip r:embed="rId4">
            <a:alphaModFix/>
          </a:blip>
          <a:srcRect b="0" l="0" r="0" t="0"/>
          <a:stretch/>
        </p:blipFill>
        <p:spPr>
          <a:xfrm>
            <a:off x="2668339" y="4754762"/>
            <a:ext cx="1283494" cy="1005779"/>
          </a:xfrm>
          <a:prstGeom prst="rect">
            <a:avLst/>
          </a:prstGeom>
          <a:noFill/>
          <a:ln>
            <a:noFill/>
          </a:ln>
        </p:spPr>
      </p:pic>
      <p:sp>
        <p:nvSpPr>
          <p:cNvPr id="352" name="Google Shape;352;p25"/>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53" name="Google Shape;353;p25"/>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Hou et al. (2012); Zemel et al. (2021)</a:t>
            </a:r>
            <a:endParaRPr sz="1800">
              <a:solidFill>
                <a:schemeClr val="dk1"/>
              </a:solidFill>
              <a:latin typeface="Calibri"/>
              <a:ea typeface="Calibri"/>
              <a:cs typeface="Calibri"/>
              <a:sym typeface="Calibri"/>
            </a:endParaRPr>
          </a:p>
        </p:txBody>
      </p:sp>
      <p:sp>
        <p:nvSpPr>
          <p:cNvPr id="355" name="Google Shape;355;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SK blockade destabilizes evoked spike threshold</a:t>
            </a:r>
            <a:endParaRPr sz="1800">
              <a:solidFill>
                <a:schemeClr val="dk1"/>
              </a:solidFill>
              <a:latin typeface="Calibri"/>
              <a:ea typeface="Calibri"/>
              <a:cs typeface="Calibri"/>
              <a:sym typeface="Calibri"/>
            </a:endParaRPr>
          </a:p>
        </p:txBody>
      </p:sp>
      <p:sp>
        <p:nvSpPr>
          <p:cNvPr id="361" name="Google Shape;361;p26"/>
          <p:cNvSpPr/>
          <p:nvPr/>
        </p:nvSpPr>
        <p:spPr>
          <a:xfrm>
            <a:off x="566886" y="1234380"/>
            <a:ext cx="52247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spike threshold</a:t>
            </a:r>
            <a:r>
              <a:rPr b="0" i="0" lang="en-US" sz="1500">
                <a:solidFill>
                  <a:srgbClr val="252E36"/>
                </a:solidFill>
                <a:latin typeface="Arial"/>
                <a:ea typeface="Arial"/>
                <a:cs typeface="Arial"/>
                <a:sym typeface="Arial"/>
              </a:rPr>
              <a:t> is the membrane voltage at which regenerative excitation initiates an action potential. Hou and colleagues evoked firing with a 100 pA depolarizing current and compared threshold measurements before and after 100 nM apamin blocked SK channels.</a:t>
            </a:r>
            <a:endParaRPr sz="1800">
              <a:solidFill>
                <a:schemeClr val="dk1"/>
              </a:solidFill>
              <a:latin typeface="Calibri"/>
              <a:ea typeface="Calibri"/>
              <a:cs typeface="Calibri"/>
              <a:sym typeface="Calibri"/>
            </a:endParaRPr>
          </a:p>
        </p:txBody>
      </p:sp>
      <p:sp>
        <p:nvSpPr>
          <p:cNvPr id="362" name="Google Shape;362;p26"/>
          <p:cNvSpPr/>
          <p:nvPr/>
        </p:nvSpPr>
        <p:spPr>
          <a:xfrm>
            <a:off x="566886" y="2377083"/>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Blockade increased the variation of evoked spike thresholds and shifted them toward more depolarized voltages as injected current increased. The recordings linked irregular firing with less stable spike initiation rather than assuming that every change in spike count reflected the same membrane mechanism.</a:t>
            </a:r>
            <a:endParaRPr sz="1800">
              <a:solidFill>
                <a:schemeClr val="dk1"/>
              </a:solidFill>
              <a:latin typeface="Calibri"/>
              <a:ea typeface="Calibri"/>
              <a:cs typeface="Calibri"/>
              <a:sym typeface="Calibri"/>
            </a:endParaRPr>
          </a:p>
        </p:txBody>
      </p:sp>
      <p:sp>
        <p:nvSpPr>
          <p:cNvPr id="363" name="Google Shape;363;p26"/>
          <p:cNvSpPr/>
          <p:nvPr/>
        </p:nvSpPr>
        <p:spPr>
          <a:xfrm>
            <a:off x="566886" y="3725466"/>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The measured effect supports a role for calcium-activated potassium feedback in recovery between spikes. It does not identify the complete sequence of sodium-channel recovery or the calcium source activating SK channels, and spontaneous and current-evoked firing need not respond identically to the same intervention.</a:t>
            </a:r>
            <a:endParaRPr sz="1800">
              <a:solidFill>
                <a:schemeClr val="dk1"/>
              </a:solidFill>
              <a:latin typeface="Calibri"/>
              <a:ea typeface="Calibri"/>
              <a:cs typeface="Calibri"/>
              <a:sym typeface="Calibri"/>
            </a:endParaRPr>
          </a:p>
        </p:txBody>
      </p:sp>
      <p:pic>
        <p:nvPicPr>
          <p:cNvPr id="364" name="Google Shape;364;p26"/>
          <p:cNvPicPr preferRelativeResize="0"/>
          <p:nvPr/>
        </p:nvPicPr>
        <p:blipFill rotWithShape="1">
          <a:blip r:embed="rId3">
            <a:alphaModFix/>
          </a:blip>
          <a:srcRect b="0" l="0" r="0" t="0"/>
          <a:stretch/>
        </p:blipFill>
        <p:spPr>
          <a:xfrm>
            <a:off x="6960620" y="1280071"/>
            <a:ext cx="3841991" cy="2925961"/>
          </a:xfrm>
          <a:prstGeom prst="rect">
            <a:avLst/>
          </a:prstGeom>
          <a:noFill/>
          <a:ln>
            <a:noFill/>
          </a:ln>
        </p:spPr>
      </p:pic>
      <p:sp>
        <p:nvSpPr>
          <p:cNvPr id="365" name="Google Shape;365;p26"/>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Hou et al. (2012), Fig. 3(A–C). Evoked threshold changes during SK blockade.</a:t>
            </a:r>
            <a:endParaRPr sz="1800">
              <a:solidFill>
                <a:schemeClr val="dk1"/>
              </a:solidFill>
              <a:latin typeface="Calibri"/>
              <a:ea typeface="Calibri"/>
              <a:cs typeface="Calibri"/>
              <a:sym typeface="Calibri"/>
            </a:endParaRPr>
          </a:p>
        </p:txBody>
      </p:sp>
      <p:pic>
        <p:nvPicPr>
          <p:cNvPr id="366" name="Google Shape;366;p26"/>
          <p:cNvPicPr preferRelativeResize="0"/>
          <p:nvPr/>
        </p:nvPicPr>
        <p:blipFill rotWithShape="1">
          <a:blip r:embed="rId4">
            <a:alphaModFix/>
          </a:blip>
          <a:srcRect b="0" l="0" r="0" t="0"/>
          <a:stretch/>
        </p:blipFill>
        <p:spPr>
          <a:xfrm>
            <a:off x="8239869" y="4754762"/>
            <a:ext cx="1283494" cy="1005779"/>
          </a:xfrm>
          <a:prstGeom prst="rect">
            <a:avLst/>
          </a:prstGeom>
          <a:noFill/>
          <a:ln>
            <a:noFill/>
          </a:ln>
        </p:spPr>
      </p:pic>
      <p:sp>
        <p:nvSpPr>
          <p:cNvPr id="367" name="Google Shape;367;p26"/>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68" name="Google Shape;368;p26"/>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Hou et al. (2012); Zemel et al. (2021)</a:t>
            </a:r>
            <a:endParaRPr sz="1800">
              <a:solidFill>
                <a:schemeClr val="dk1"/>
              </a:solidFill>
              <a:latin typeface="Calibri"/>
              <a:ea typeface="Calibri"/>
              <a:cs typeface="Calibri"/>
              <a:sym typeface="Calibri"/>
            </a:endParaRPr>
          </a:p>
        </p:txBody>
      </p:sp>
      <p:sp>
        <p:nvSpPr>
          <p:cNvPr id="370" name="Google Shape;370;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Synaptic input contributes to the SK regularity effect</a:t>
            </a:r>
            <a:endParaRPr sz="1800">
              <a:solidFill>
                <a:schemeClr val="dk1"/>
              </a:solidFill>
              <a:latin typeface="Calibri"/>
              <a:ea typeface="Calibri"/>
              <a:cs typeface="Calibri"/>
              <a:sym typeface="Calibri"/>
            </a:endParaRPr>
          </a:p>
        </p:txBody>
      </p:sp>
      <p:sp>
        <p:nvSpPr>
          <p:cNvPr id="376" name="Google Shape;376;p27"/>
          <p:cNvSpPr/>
          <p:nvPr/>
        </p:nvSpPr>
        <p:spPr>
          <a:xfrm>
            <a:off x="6419255" y="1234380"/>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Hou and colleagues blocked ionotropic glutamate receptors while recording RA projection neurons. </a:t>
            </a:r>
            <a:r>
              <a:rPr b="1" i="0" lang="en-US" sz="1500">
                <a:solidFill>
                  <a:srgbClr val="405D72"/>
                </a:solidFill>
                <a:latin typeface="Arial"/>
                <a:ea typeface="Arial"/>
                <a:cs typeface="Arial"/>
                <a:sym typeface="Arial"/>
              </a:rPr>
              <a:t>AMPA receptors</a:t>
            </a:r>
            <a:r>
              <a:rPr b="0" i="0" lang="en-US" sz="1500">
                <a:solidFill>
                  <a:srgbClr val="252E36"/>
                </a:solidFill>
                <a:latin typeface="Arial"/>
                <a:ea typeface="Arial"/>
                <a:cs typeface="Arial"/>
                <a:sym typeface="Arial"/>
              </a:rPr>
              <a:t> support relatively fast excitatory transmission, whereas </a:t>
            </a:r>
            <a:r>
              <a:rPr b="1" i="0" lang="en-US" sz="1500">
                <a:solidFill>
                  <a:srgbClr val="405D72"/>
                </a:solidFill>
                <a:latin typeface="Arial"/>
                <a:ea typeface="Arial"/>
                <a:cs typeface="Arial"/>
                <a:sym typeface="Arial"/>
              </a:rPr>
              <a:t>NMDA receptors</a:t>
            </a:r>
            <a:r>
              <a:rPr b="0" i="0" lang="en-US" sz="1500">
                <a:solidFill>
                  <a:srgbClr val="252E36"/>
                </a:solidFill>
                <a:latin typeface="Arial"/>
                <a:ea typeface="Arial"/>
                <a:cs typeface="Arial"/>
                <a:sym typeface="Arial"/>
              </a:rPr>
              <a:t> have slower kinetics and voltage-dependent gating; the antagonists DNQX and APV suppress these receptor components.</a:t>
            </a:r>
            <a:endParaRPr sz="1800">
              <a:solidFill>
                <a:schemeClr val="dk1"/>
              </a:solidFill>
              <a:latin typeface="Calibri"/>
              <a:ea typeface="Calibri"/>
              <a:cs typeface="Calibri"/>
              <a:sym typeface="Calibri"/>
            </a:endParaRPr>
          </a:p>
        </p:txBody>
      </p:sp>
      <p:sp>
        <p:nvSpPr>
          <p:cNvPr id="377" name="Google Shape;377;p27"/>
          <p:cNvSpPr/>
          <p:nvPr/>
        </p:nvSpPr>
        <p:spPr>
          <a:xfrm>
            <a:off x="6419255" y="2582763"/>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Apamin still increased current-evoked firing after receptor blockade, but its effect on firing regularity was no longer clearly detectable. This comparison separated an excitability effect that persisted without glutamatergic input from a regularity effect that depended on the recording's synaptic conditions.</a:t>
            </a:r>
            <a:endParaRPr sz="1800">
              <a:solidFill>
                <a:schemeClr val="dk1"/>
              </a:solidFill>
              <a:latin typeface="Calibri"/>
              <a:ea typeface="Calibri"/>
              <a:cs typeface="Calibri"/>
              <a:sym typeface="Calibri"/>
            </a:endParaRPr>
          </a:p>
        </p:txBody>
      </p:sp>
      <p:sp>
        <p:nvSpPr>
          <p:cNvPr id="378" name="Google Shape;378;p27"/>
          <p:cNvSpPr/>
          <p:nvPr/>
        </p:nvSpPr>
        <p:spPr>
          <a:xfrm>
            <a:off x="6419255" y="3931146"/>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Intrinsic potassium conductance and incoming excitation therefore interact in determining spike timing. The control does not identify the presynaptic source responsible for the difference or establish the corresponding effect during singing; it constrains a purely intrinsic explanation of all changes in temporal regularity.</a:t>
            </a:r>
            <a:endParaRPr sz="1800">
              <a:solidFill>
                <a:schemeClr val="dk1"/>
              </a:solidFill>
              <a:latin typeface="Calibri"/>
              <a:ea typeface="Calibri"/>
              <a:cs typeface="Calibri"/>
              <a:sym typeface="Calibri"/>
            </a:endParaRPr>
          </a:p>
        </p:txBody>
      </p:sp>
      <p:pic>
        <p:nvPicPr>
          <p:cNvPr id="379" name="Google Shape;379;p27"/>
          <p:cNvPicPr preferRelativeResize="0"/>
          <p:nvPr/>
        </p:nvPicPr>
        <p:blipFill rotWithShape="1">
          <a:blip r:embed="rId3">
            <a:alphaModFix/>
          </a:blip>
          <a:srcRect b="0" l="0" r="0" t="0"/>
          <a:stretch/>
        </p:blipFill>
        <p:spPr>
          <a:xfrm>
            <a:off x="1882143" y="1280071"/>
            <a:ext cx="2856035" cy="2925961"/>
          </a:xfrm>
          <a:prstGeom prst="rect">
            <a:avLst/>
          </a:prstGeom>
          <a:noFill/>
          <a:ln>
            <a:noFill/>
          </a:ln>
        </p:spPr>
      </p:pic>
      <p:sp>
        <p:nvSpPr>
          <p:cNvPr id="380" name="Google Shape;380;p27"/>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Hou et al. (2012), Fig. 4(A–E). Apamin effects after glutamate-receptor blockade.</a:t>
            </a:r>
            <a:endParaRPr sz="1800">
              <a:solidFill>
                <a:schemeClr val="dk1"/>
              </a:solidFill>
              <a:latin typeface="Calibri"/>
              <a:ea typeface="Calibri"/>
              <a:cs typeface="Calibri"/>
              <a:sym typeface="Calibri"/>
            </a:endParaRPr>
          </a:p>
        </p:txBody>
      </p:sp>
      <p:pic>
        <p:nvPicPr>
          <p:cNvPr id="381" name="Google Shape;381;p27"/>
          <p:cNvPicPr preferRelativeResize="0"/>
          <p:nvPr/>
        </p:nvPicPr>
        <p:blipFill rotWithShape="1">
          <a:blip r:embed="rId4">
            <a:alphaModFix/>
          </a:blip>
          <a:srcRect b="0" l="0" r="0" t="0"/>
          <a:stretch/>
        </p:blipFill>
        <p:spPr>
          <a:xfrm>
            <a:off x="2668339" y="4754762"/>
            <a:ext cx="1283494" cy="1005779"/>
          </a:xfrm>
          <a:prstGeom prst="rect">
            <a:avLst/>
          </a:prstGeom>
          <a:noFill/>
          <a:ln>
            <a:noFill/>
          </a:ln>
        </p:spPr>
      </p:pic>
      <p:sp>
        <p:nvSpPr>
          <p:cNvPr id="382" name="Google Shape;382;p27"/>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83" name="Google Shape;383;p27"/>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Hou et al. (2012); Zemel et al. (2021)</a:t>
            </a:r>
            <a:endParaRPr sz="1800">
              <a:solidFill>
                <a:schemeClr val="dk1"/>
              </a:solidFill>
              <a:latin typeface="Calibri"/>
              <a:ea typeface="Calibri"/>
              <a:cs typeface="Calibri"/>
              <a:sym typeface="Calibri"/>
            </a:endParaRPr>
          </a:p>
        </p:txBody>
      </p:sp>
      <p:sp>
        <p:nvSpPr>
          <p:cNvPr id="385" name="Google Shape;385;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Dopamine increases RA neuronal excitability</a:t>
            </a:r>
            <a:endParaRPr sz="1800">
              <a:solidFill>
                <a:schemeClr val="dk1"/>
              </a:solidFill>
              <a:latin typeface="Calibri"/>
              <a:ea typeface="Calibri"/>
              <a:cs typeface="Calibri"/>
              <a:sym typeface="Calibri"/>
            </a:endParaRPr>
          </a:p>
        </p:txBody>
      </p:sp>
      <p:sp>
        <p:nvSpPr>
          <p:cNvPr id="391" name="Google Shape;391;p28"/>
          <p:cNvSpPr/>
          <p:nvPr/>
        </p:nvSpPr>
        <p:spPr>
          <a:xfrm>
            <a:off x="566886" y="1234380"/>
            <a:ext cx="52247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500"/>
              <a:buFont typeface="Arial"/>
              <a:buNone/>
            </a:pPr>
            <a:r>
              <a:rPr b="1" i="0" lang="en-US" sz="1500">
                <a:solidFill>
                  <a:srgbClr val="405D72"/>
                </a:solidFill>
                <a:latin typeface="Arial"/>
                <a:ea typeface="Arial"/>
                <a:cs typeface="Arial"/>
                <a:sym typeface="Arial"/>
              </a:rPr>
              <a:t>Dopamine</a:t>
            </a:r>
            <a:r>
              <a:rPr b="0" i="0" lang="en-US" sz="1500">
                <a:solidFill>
                  <a:srgbClr val="252E36"/>
                </a:solidFill>
                <a:latin typeface="Arial"/>
                <a:ea typeface="Arial"/>
                <a:cs typeface="Arial"/>
                <a:sym typeface="Arial"/>
              </a:rPr>
              <a:t> is a neurotransmitter that can modulate neuronal properties through receptor-dependent intracellular signaling. Liao and colleagues recorded adult male zebra finch RA projection neurons and applied 50 µM dopamine while controlling the injected current.</a:t>
            </a:r>
            <a:endParaRPr sz="1800">
              <a:solidFill>
                <a:schemeClr val="dk1"/>
              </a:solidFill>
              <a:latin typeface="Calibri"/>
              <a:ea typeface="Calibri"/>
              <a:cs typeface="Calibri"/>
              <a:sym typeface="Calibri"/>
            </a:endParaRPr>
          </a:p>
        </p:txBody>
      </p:sp>
      <p:sp>
        <p:nvSpPr>
          <p:cNvPr id="392" name="Google Shape;392;p28"/>
          <p:cNvSpPr/>
          <p:nvPr/>
        </p:nvSpPr>
        <p:spPr>
          <a:xfrm>
            <a:off x="566886" y="2377083"/>
            <a:ext cx="52247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During a 100 pA stimulus, normalized firing increased to approximately 1.38 times baseline and returned toward baseline after washout. The membrane potential became less negative, shifting from approximately −70 to −61 mV under the reported recording conditions.</a:t>
            </a:r>
            <a:endParaRPr sz="1800">
              <a:solidFill>
                <a:schemeClr val="dk1"/>
              </a:solidFill>
              <a:latin typeface="Calibri"/>
              <a:ea typeface="Calibri"/>
              <a:cs typeface="Calibri"/>
              <a:sym typeface="Calibri"/>
            </a:endParaRPr>
          </a:p>
        </p:txBody>
      </p:sp>
      <p:sp>
        <p:nvSpPr>
          <p:cNvPr id="393" name="Google Shape;393;p28"/>
          <p:cNvSpPr/>
          <p:nvPr/>
        </p:nvSpPr>
        <p:spPr>
          <a:xfrm>
            <a:off x="566886" y="3519785"/>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The within-cell drug and wash comparisons establish reversible modulation of excitability rather than a difference between cell populations. Bath application does not reproduce the concentration, duration, or spatial precision of physiological dopamine release, so these measurements should not be equated directly with a behavioral state during singing.</a:t>
            </a:r>
            <a:endParaRPr sz="1800">
              <a:solidFill>
                <a:schemeClr val="dk1"/>
              </a:solidFill>
              <a:latin typeface="Calibri"/>
              <a:ea typeface="Calibri"/>
              <a:cs typeface="Calibri"/>
              <a:sym typeface="Calibri"/>
            </a:endParaRPr>
          </a:p>
        </p:txBody>
      </p:sp>
      <p:pic>
        <p:nvPicPr>
          <p:cNvPr id="394" name="Google Shape;394;p28"/>
          <p:cNvPicPr preferRelativeResize="0"/>
          <p:nvPr/>
        </p:nvPicPr>
        <p:blipFill rotWithShape="1">
          <a:blip r:embed="rId3">
            <a:alphaModFix/>
          </a:blip>
          <a:srcRect b="0" l="0" r="0" t="0"/>
          <a:stretch/>
        </p:blipFill>
        <p:spPr>
          <a:xfrm>
            <a:off x="7308589" y="1280071"/>
            <a:ext cx="3146353" cy="2925961"/>
          </a:xfrm>
          <a:prstGeom prst="rect">
            <a:avLst/>
          </a:prstGeom>
          <a:noFill/>
          <a:ln>
            <a:noFill/>
          </a:ln>
        </p:spPr>
      </p:pic>
      <p:sp>
        <p:nvSpPr>
          <p:cNvPr id="395" name="Google Shape;395;p28"/>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Liao et al. (2013), Fig. 1(A–D). Reversible dopamine effects on RA firing and voltage.</a:t>
            </a:r>
            <a:endParaRPr sz="1800">
              <a:solidFill>
                <a:schemeClr val="dk1"/>
              </a:solidFill>
              <a:latin typeface="Calibri"/>
              <a:ea typeface="Calibri"/>
              <a:cs typeface="Calibri"/>
              <a:sym typeface="Calibri"/>
            </a:endParaRPr>
          </a:p>
        </p:txBody>
      </p:sp>
      <p:pic>
        <p:nvPicPr>
          <p:cNvPr id="396" name="Google Shape;396;p28"/>
          <p:cNvPicPr preferRelativeResize="0"/>
          <p:nvPr/>
        </p:nvPicPr>
        <p:blipFill rotWithShape="1">
          <a:blip r:embed="rId4">
            <a:alphaModFix/>
          </a:blip>
          <a:srcRect b="0" l="0" r="0" t="0"/>
          <a:stretch/>
        </p:blipFill>
        <p:spPr>
          <a:xfrm>
            <a:off x="8239869" y="4754762"/>
            <a:ext cx="1283494" cy="1005779"/>
          </a:xfrm>
          <a:prstGeom prst="rect">
            <a:avLst/>
          </a:prstGeom>
          <a:noFill/>
          <a:ln>
            <a:noFill/>
          </a:ln>
        </p:spPr>
      </p:pic>
      <p:sp>
        <p:nvSpPr>
          <p:cNvPr id="397" name="Google Shape;397;p28"/>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98" name="Google Shape;398;p28"/>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Liao et al. (2013); Zemel et al. (2021)</a:t>
            </a:r>
            <a:endParaRPr sz="1800">
              <a:solidFill>
                <a:schemeClr val="dk1"/>
              </a:solidFill>
              <a:latin typeface="Calibri"/>
              <a:ea typeface="Calibri"/>
              <a:cs typeface="Calibri"/>
              <a:sym typeface="Calibri"/>
            </a:endParaRPr>
          </a:p>
        </p:txBody>
      </p:sp>
      <p:sp>
        <p:nvSpPr>
          <p:cNvPr id="400" name="Google Shape;400;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 name="Shape 404"/>
        <p:cNvGrpSpPr/>
        <p:nvPr/>
      </p:nvGrpSpPr>
      <p:grpSpPr>
        <a:xfrm>
          <a:off x="0" y="0"/>
          <a:ext cx="0" cy="0"/>
          <a:chOff x="0" y="0"/>
          <a:chExt cx="0" cy="0"/>
        </a:xfrm>
      </p:grpSpPr>
      <p:sp>
        <p:nvSpPr>
          <p:cNvPr id="405" name="Google Shape;405;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Dopamine depolarization persists without spikes</a:t>
            </a:r>
            <a:endParaRPr sz="1800">
              <a:solidFill>
                <a:schemeClr val="dk1"/>
              </a:solidFill>
              <a:latin typeface="Calibri"/>
              <a:ea typeface="Calibri"/>
              <a:cs typeface="Calibri"/>
              <a:sym typeface="Calibri"/>
            </a:endParaRPr>
          </a:p>
        </p:txBody>
      </p:sp>
      <p:sp>
        <p:nvSpPr>
          <p:cNvPr id="406" name="Google Shape;406;p29"/>
          <p:cNvSpPr/>
          <p:nvPr/>
        </p:nvSpPr>
        <p:spPr>
          <a:xfrm>
            <a:off x="6419255" y="1234380"/>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Liao and colleagues used </a:t>
            </a:r>
            <a:r>
              <a:rPr b="1" i="0" lang="en-US" sz="1600">
                <a:solidFill>
                  <a:srgbClr val="405D72"/>
                </a:solidFill>
                <a:latin typeface="Arial"/>
                <a:ea typeface="Arial"/>
                <a:cs typeface="Arial"/>
                <a:sym typeface="Arial"/>
              </a:rPr>
              <a:t>tetrodotoxin</a:t>
            </a:r>
            <a:r>
              <a:rPr b="0" i="0" lang="en-US" sz="1600">
                <a:solidFill>
                  <a:srgbClr val="252E36"/>
                </a:solidFill>
                <a:latin typeface="Arial"/>
                <a:ea typeface="Arial"/>
                <a:cs typeface="Arial"/>
                <a:sym typeface="Arial"/>
              </a:rPr>
              <a:t>, or TTX, to block voltage-gated sodium channels and prevent action potentials in their RA slice preparation. This manipulation tested whether dopamine-induced depolarization depended on spike-driven activity in the surrounding network.</a:t>
            </a:r>
            <a:endParaRPr sz="1800">
              <a:solidFill>
                <a:schemeClr val="dk1"/>
              </a:solidFill>
              <a:latin typeface="Calibri"/>
              <a:ea typeface="Calibri"/>
              <a:cs typeface="Calibri"/>
              <a:sym typeface="Calibri"/>
            </a:endParaRPr>
          </a:p>
        </p:txBody>
      </p:sp>
      <p:sp>
        <p:nvSpPr>
          <p:cNvPr id="407" name="Google Shape;407;p29"/>
          <p:cNvSpPr/>
          <p:nvPr/>
        </p:nvSpPr>
        <p:spPr>
          <a:xfrm>
            <a:off x="6419255" y="2672507"/>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Dopamine still produced a depolarizing membrane shift when sodium-dependent spikes were suppressed. The result separated the change in resting membrane behavior from the increased number of evoked action potentials observed in the unblocked preparation.</a:t>
            </a:r>
            <a:endParaRPr sz="1800">
              <a:solidFill>
                <a:schemeClr val="dk1"/>
              </a:solidFill>
              <a:latin typeface="Calibri"/>
              <a:ea typeface="Calibri"/>
              <a:cs typeface="Calibri"/>
              <a:sym typeface="Calibri"/>
            </a:endParaRPr>
          </a:p>
        </p:txBody>
      </p:sp>
      <p:sp>
        <p:nvSpPr>
          <p:cNvPr id="408" name="Google Shape;408;p29"/>
          <p:cNvSpPr/>
          <p:nvPr/>
        </p:nvSpPr>
        <p:spPr>
          <a:xfrm>
            <a:off x="6419255" y="4110633"/>
            <a:ext cx="52247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direct or locally mediated membrane effect is therefore supported, but the specific ionic conductance responsible was not isolated by this control. TTX also changes network activity broadly; persistence in its presence does not prove that all dopaminergic influences on RA during singing are exclusively postsynaptic.</a:t>
            </a:r>
            <a:endParaRPr sz="1800">
              <a:solidFill>
                <a:schemeClr val="dk1"/>
              </a:solidFill>
              <a:latin typeface="Calibri"/>
              <a:ea typeface="Calibri"/>
              <a:cs typeface="Calibri"/>
              <a:sym typeface="Calibri"/>
            </a:endParaRPr>
          </a:p>
        </p:txBody>
      </p:sp>
      <p:pic>
        <p:nvPicPr>
          <p:cNvPr id="409" name="Google Shape;409;p29"/>
          <p:cNvPicPr preferRelativeResize="0"/>
          <p:nvPr/>
        </p:nvPicPr>
        <p:blipFill rotWithShape="1">
          <a:blip r:embed="rId3">
            <a:alphaModFix/>
          </a:blip>
          <a:srcRect b="0" l="0" r="0" t="0"/>
          <a:stretch/>
        </p:blipFill>
        <p:spPr>
          <a:xfrm>
            <a:off x="566945" y="1280071"/>
            <a:ext cx="5486282" cy="2849166"/>
          </a:xfrm>
          <a:prstGeom prst="rect">
            <a:avLst/>
          </a:prstGeom>
          <a:noFill/>
          <a:ln>
            <a:noFill/>
          </a:ln>
        </p:spPr>
      </p:pic>
      <p:sp>
        <p:nvSpPr>
          <p:cNvPr id="410" name="Google Shape;410;p29"/>
          <p:cNvSpPr/>
          <p:nvPr/>
        </p:nvSpPr>
        <p:spPr>
          <a:xfrm>
            <a:off x="566886" y="4220766"/>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Liao et al. (2013), Fig. 2(A–D). Depolarization with and without sodium-channel blockade.</a:t>
            </a:r>
            <a:endParaRPr sz="1800">
              <a:solidFill>
                <a:schemeClr val="dk1"/>
              </a:solidFill>
              <a:latin typeface="Calibri"/>
              <a:ea typeface="Calibri"/>
              <a:cs typeface="Calibri"/>
              <a:sym typeface="Calibri"/>
            </a:endParaRPr>
          </a:p>
        </p:txBody>
      </p:sp>
      <p:pic>
        <p:nvPicPr>
          <p:cNvPr id="411" name="Google Shape;411;p29"/>
          <p:cNvPicPr preferRelativeResize="0"/>
          <p:nvPr/>
        </p:nvPicPr>
        <p:blipFill rotWithShape="1">
          <a:blip r:embed="rId4">
            <a:alphaModFix/>
          </a:blip>
          <a:srcRect b="0" l="0" r="0" t="0"/>
          <a:stretch/>
        </p:blipFill>
        <p:spPr>
          <a:xfrm>
            <a:off x="2668339" y="4754762"/>
            <a:ext cx="1283494" cy="1005779"/>
          </a:xfrm>
          <a:prstGeom prst="rect">
            <a:avLst/>
          </a:prstGeom>
          <a:noFill/>
          <a:ln>
            <a:noFill/>
          </a:ln>
        </p:spPr>
      </p:pic>
      <p:sp>
        <p:nvSpPr>
          <p:cNvPr id="412" name="Google Shape;412;p29"/>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413" name="Google Shape;413;p29"/>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Liao et al. (2013); Zemel et al. (2021)</a:t>
            </a:r>
            <a:endParaRPr sz="1800">
              <a:solidFill>
                <a:schemeClr val="dk1"/>
              </a:solidFill>
              <a:latin typeface="Calibri"/>
              <a:ea typeface="Calibri"/>
              <a:cs typeface="Calibri"/>
              <a:sym typeface="Calibri"/>
            </a:endParaRPr>
          </a:p>
        </p:txBody>
      </p:sp>
      <p:sp>
        <p:nvSpPr>
          <p:cNvPr id="415" name="Google Shape;415;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D1-like receptors mediate the RA dopamine effect</a:t>
            </a:r>
            <a:endParaRPr sz="1800">
              <a:solidFill>
                <a:schemeClr val="dk1"/>
              </a:solidFill>
              <a:latin typeface="Calibri"/>
              <a:ea typeface="Calibri"/>
              <a:cs typeface="Calibri"/>
              <a:sym typeface="Calibri"/>
            </a:endParaRPr>
          </a:p>
        </p:txBody>
      </p:sp>
      <p:sp>
        <p:nvSpPr>
          <p:cNvPr id="421" name="Google Shape;421;p30"/>
          <p:cNvSpPr/>
          <p:nvPr/>
        </p:nvSpPr>
        <p:spPr>
          <a:xfrm>
            <a:off x="566886" y="1234380"/>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a:t>
            </a:r>
            <a:r>
              <a:rPr b="1" i="0" lang="en-US" sz="1600">
                <a:solidFill>
                  <a:srgbClr val="405D72"/>
                </a:solidFill>
                <a:latin typeface="Arial"/>
                <a:ea typeface="Arial"/>
                <a:cs typeface="Arial"/>
                <a:sym typeface="Arial"/>
              </a:rPr>
              <a:t>D1-like receptor</a:t>
            </a:r>
            <a:r>
              <a:rPr b="0" i="0" lang="en-US" sz="1600">
                <a:solidFill>
                  <a:srgbClr val="252E36"/>
                </a:solidFill>
                <a:latin typeface="Arial"/>
                <a:ea typeface="Arial"/>
                <a:cs typeface="Arial"/>
                <a:sym typeface="Arial"/>
              </a:rPr>
              <a:t> is a dopamine-receptor class that modulates cellular signaling rather than forming the spike-generating sodium pore. Liao and colleagues compared dopamine with the D1-like agonist SKF-38393 in adult male zebra finch RA projection neurons.</a:t>
            </a:r>
            <a:endParaRPr sz="1800">
              <a:solidFill>
                <a:schemeClr val="dk1"/>
              </a:solidFill>
              <a:latin typeface="Calibri"/>
              <a:ea typeface="Calibri"/>
              <a:cs typeface="Calibri"/>
              <a:sym typeface="Calibri"/>
            </a:endParaRPr>
          </a:p>
        </p:txBody>
      </p:sp>
      <p:sp>
        <p:nvSpPr>
          <p:cNvPr id="422" name="Google Shape;422;p30"/>
          <p:cNvSpPr/>
          <p:nvPr/>
        </p:nvSpPr>
        <p:spPr>
          <a:xfrm>
            <a:off x="566886" y="2672507"/>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 agonist increased excitability, and the D1-like antagonist SCH-23390 prevented the dopamine-associated increase under the study's conditions. Comparing an agonist with receptor blockade supplied converging pharmacological evidence for the receptor class involved.</a:t>
            </a:r>
            <a:endParaRPr sz="1800">
              <a:solidFill>
                <a:schemeClr val="dk1"/>
              </a:solidFill>
              <a:latin typeface="Calibri"/>
              <a:ea typeface="Calibri"/>
              <a:cs typeface="Calibri"/>
              <a:sym typeface="Calibri"/>
            </a:endParaRPr>
          </a:p>
        </p:txBody>
      </p:sp>
      <p:sp>
        <p:nvSpPr>
          <p:cNvPr id="423" name="Google Shape;423;p30"/>
          <p:cNvSpPr/>
          <p:nvPr/>
        </p:nvSpPr>
        <p:spPr>
          <a:xfrm>
            <a:off x="566886" y="4110633"/>
            <a:ext cx="52247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 experiments assign a functional contribution to D1-like signaling but do not resolve every receptor subtype, downstream enzyme, or target ion channel. The recorded effect concerns RA membrane physiology; it should not be generalized automatically to dopamine actions in Area X, where circuit organization and receptor effects differ.</a:t>
            </a:r>
            <a:endParaRPr sz="1800">
              <a:solidFill>
                <a:schemeClr val="dk1"/>
              </a:solidFill>
              <a:latin typeface="Calibri"/>
              <a:ea typeface="Calibri"/>
              <a:cs typeface="Calibri"/>
              <a:sym typeface="Calibri"/>
            </a:endParaRPr>
          </a:p>
        </p:txBody>
      </p:sp>
      <p:pic>
        <p:nvPicPr>
          <p:cNvPr id="424" name="Google Shape;424;p30"/>
          <p:cNvPicPr preferRelativeResize="0"/>
          <p:nvPr/>
        </p:nvPicPr>
        <p:blipFill rotWithShape="1">
          <a:blip r:embed="rId3">
            <a:alphaModFix/>
          </a:blip>
          <a:srcRect b="0" l="0" r="0" t="0"/>
          <a:stretch/>
        </p:blipFill>
        <p:spPr>
          <a:xfrm>
            <a:off x="7254512" y="1280071"/>
            <a:ext cx="3254208" cy="2925961"/>
          </a:xfrm>
          <a:prstGeom prst="rect">
            <a:avLst/>
          </a:prstGeom>
          <a:noFill/>
          <a:ln>
            <a:noFill/>
          </a:ln>
        </p:spPr>
      </p:pic>
      <p:sp>
        <p:nvSpPr>
          <p:cNvPr id="425" name="Google Shape;425;p30"/>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Liao et al. (2013), Fig. 3(A–D). D1-like agonist effects on RA neurons.</a:t>
            </a:r>
            <a:endParaRPr sz="1800">
              <a:solidFill>
                <a:schemeClr val="dk1"/>
              </a:solidFill>
              <a:latin typeface="Calibri"/>
              <a:ea typeface="Calibri"/>
              <a:cs typeface="Calibri"/>
              <a:sym typeface="Calibri"/>
            </a:endParaRPr>
          </a:p>
        </p:txBody>
      </p:sp>
      <p:pic>
        <p:nvPicPr>
          <p:cNvPr id="426" name="Google Shape;426;p30"/>
          <p:cNvPicPr preferRelativeResize="0"/>
          <p:nvPr/>
        </p:nvPicPr>
        <p:blipFill rotWithShape="1">
          <a:blip r:embed="rId4">
            <a:alphaModFix/>
          </a:blip>
          <a:srcRect b="0" l="0" r="0" t="0"/>
          <a:stretch/>
        </p:blipFill>
        <p:spPr>
          <a:xfrm>
            <a:off x="8239869" y="4754762"/>
            <a:ext cx="1283494" cy="1005779"/>
          </a:xfrm>
          <a:prstGeom prst="rect">
            <a:avLst/>
          </a:prstGeom>
          <a:noFill/>
          <a:ln>
            <a:noFill/>
          </a:ln>
        </p:spPr>
      </p:pic>
      <p:sp>
        <p:nvSpPr>
          <p:cNvPr id="427" name="Google Shape;427;p30"/>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428" name="Google Shape;428;p30"/>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Liao et al. (2013); Zemel et al. (2021)</a:t>
            </a:r>
            <a:endParaRPr sz="1800">
              <a:solidFill>
                <a:schemeClr val="dk1"/>
              </a:solidFill>
              <a:latin typeface="Calibri"/>
              <a:ea typeface="Calibri"/>
              <a:cs typeface="Calibri"/>
              <a:sym typeface="Calibri"/>
            </a:endParaRPr>
          </a:p>
        </p:txBody>
      </p:sp>
      <p:sp>
        <p:nvSpPr>
          <p:cNvPr id="430" name="Google Shape;430;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D2-like stimulation has a different effect in RA</a:t>
            </a:r>
            <a:endParaRPr sz="1800">
              <a:solidFill>
                <a:schemeClr val="dk1"/>
              </a:solidFill>
              <a:latin typeface="Calibri"/>
              <a:ea typeface="Calibri"/>
              <a:cs typeface="Calibri"/>
              <a:sym typeface="Calibri"/>
            </a:endParaRPr>
          </a:p>
        </p:txBody>
      </p:sp>
      <p:sp>
        <p:nvSpPr>
          <p:cNvPr id="436" name="Google Shape;436;p31"/>
          <p:cNvSpPr/>
          <p:nvPr/>
        </p:nvSpPr>
        <p:spPr>
          <a:xfrm>
            <a:off x="6419255" y="1234380"/>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600"/>
              <a:buFont typeface="Arial"/>
              <a:buNone/>
            </a:pPr>
            <a:r>
              <a:rPr b="1" i="0" lang="en-US" sz="1600">
                <a:solidFill>
                  <a:srgbClr val="405D72"/>
                </a:solidFill>
                <a:latin typeface="Arial"/>
                <a:ea typeface="Arial"/>
                <a:cs typeface="Arial"/>
                <a:sym typeface="Arial"/>
              </a:rPr>
              <a:t>D2-like receptors</a:t>
            </a:r>
            <a:r>
              <a:rPr b="0" i="0" lang="en-US" sz="1600">
                <a:solidFill>
                  <a:srgbClr val="252E36"/>
                </a:solidFill>
                <a:latin typeface="Arial"/>
                <a:ea typeface="Arial"/>
                <a:cs typeface="Arial"/>
                <a:sym typeface="Arial"/>
              </a:rPr>
              <a:t> form a dopamine-receptor class pharmacologically distinct from D1-like receptors. Liao and colleagues applied the D2-like agonist quinpirole to RA projection neurons and compared firing and membrane voltage before, during, and after the application.</a:t>
            </a:r>
            <a:endParaRPr sz="1800">
              <a:solidFill>
                <a:schemeClr val="dk1"/>
              </a:solidFill>
              <a:latin typeface="Calibri"/>
              <a:ea typeface="Calibri"/>
              <a:cs typeface="Calibri"/>
              <a:sym typeface="Calibri"/>
            </a:endParaRPr>
          </a:p>
        </p:txBody>
      </p:sp>
      <p:sp>
        <p:nvSpPr>
          <p:cNvPr id="437" name="Google Shape;437;p31"/>
          <p:cNvSpPr/>
          <p:nvPr/>
        </p:nvSpPr>
        <p:spPr>
          <a:xfrm>
            <a:off x="6419255" y="2672507"/>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Quinpirole did not reproduce the prominent increase in excitability produced by dopamine and the D1-like agonist in this preparation. The comparison constrained receptor interpretation instead of assuming that every dopamine receptor has the same effect on a neuron.</a:t>
            </a:r>
            <a:endParaRPr sz="1800">
              <a:solidFill>
                <a:schemeClr val="dk1"/>
              </a:solidFill>
              <a:latin typeface="Calibri"/>
              <a:ea typeface="Calibri"/>
              <a:cs typeface="Calibri"/>
              <a:sym typeface="Calibri"/>
            </a:endParaRPr>
          </a:p>
        </p:txBody>
      </p:sp>
      <p:sp>
        <p:nvSpPr>
          <p:cNvPr id="438" name="Google Shape;438;p31"/>
          <p:cNvSpPr/>
          <p:nvPr/>
        </p:nvSpPr>
        <p:spPr>
          <a:xfrm>
            <a:off x="6419255" y="4110633"/>
            <a:ext cx="52247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weak or absent effect under these conditions does not establish that D2-like receptors have no function anywhere in the song system. Receptor expression, release conditions, and network targets differ between regions; the study addresses the measured response of adult RA projection neurons in a controlled slice preparation.</a:t>
            </a:r>
            <a:endParaRPr sz="1800">
              <a:solidFill>
                <a:schemeClr val="dk1"/>
              </a:solidFill>
              <a:latin typeface="Calibri"/>
              <a:ea typeface="Calibri"/>
              <a:cs typeface="Calibri"/>
              <a:sym typeface="Calibri"/>
            </a:endParaRPr>
          </a:p>
        </p:txBody>
      </p:sp>
      <p:pic>
        <p:nvPicPr>
          <p:cNvPr id="439" name="Google Shape;439;p31"/>
          <p:cNvPicPr preferRelativeResize="0"/>
          <p:nvPr/>
        </p:nvPicPr>
        <p:blipFill rotWithShape="1">
          <a:blip r:embed="rId3">
            <a:alphaModFix/>
          </a:blip>
          <a:srcRect b="0" l="0" r="0" t="0"/>
          <a:stretch/>
        </p:blipFill>
        <p:spPr>
          <a:xfrm>
            <a:off x="1692824" y="1280071"/>
            <a:ext cx="3234525" cy="2925961"/>
          </a:xfrm>
          <a:prstGeom prst="rect">
            <a:avLst/>
          </a:prstGeom>
          <a:noFill/>
          <a:ln>
            <a:noFill/>
          </a:ln>
        </p:spPr>
      </p:pic>
      <p:sp>
        <p:nvSpPr>
          <p:cNvPr id="440" name="Google Shape;440;p31"/>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Liao et al. (2013), Fig. 5(A–D). D2-like agonist measurements in RA neurons.</a:t>
            </a:r>
            <a:endParaRPr sz="1800">
              <a:solidFill>
                <a:schemeClr val="dk1"/>
              </a:solidFill>
              <a:latin typeface="Calibri"/>
              <a:ea typeface="Calibri"/>
              <a:cs typeface="Calibri"/>
              <a:sym typeface="Calibri"/>
            </a:endParaRPr>
          </a:p>
        </p:txBody>
      </p:sp>
      <p:pic>
        <p:nvPicPr>
          <p:cNvPr id="441" name="Google Shape;441;p31"/>
          <p:cNvPicPr preferRelativeResize="0"/>
          <p:nvPr/>
        </p:nvPicPr>
        <p:blipFill rotWithShape="1">
          <a:blip r:embed="rId4">
            <a:alphaModFix/>
          </a:blip>
          <a:srcRect b="0" l="0" r="0" t="0"/>
          <a:stretch/>
        </p:blipFill>
        <p:spPr>
          <a:xfrm>
            <a:off x="2668339" y="4754762"/>
            <a:ext cx="1283494" cy="1005779"/>
          </a:xfrm>
          <a:prstGeom prst="rect">
            <a:avLst/>
          </a:prstGeom>
          <a:noFill/>
          <a:ln>
            <a:noFill/>
          </a:ln>
        </p:spPr>
      </p:pic>
      <p:sp>
        <p:nvSpPr>
          <p:cNvPr id="442" name="Google Shape;442;p31"/>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443" name="Google Shape;443;p31"/>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Liao et al. (2013); Zemel et al. (2021)</a:t>
            </a:r>
            <a:endParaRPr sz="1800">
              <a:solidFill>
                <a:schemeClr val="dk1"/>
              </a:solidFill>
              <a:latin typeface="Calibri"/>
              <a:ea typeface="Calibri"/>
              <a:cs typeface="Calibri"/>
              <a:sym typeface="Calibri"/>
            </a:endParaRPr>
          </a:p>
        </p:txBody>
      </p:sp>
      <p:sp>
        <p:nvSpPr>
          <p:cNvPr id="445" name="Google Shape;445;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HVC and LMAN inputs converge on RA neurons</a:t>
            </a:r>
            <a:endParaRPr sz="1800">
              <a:solidFill>
                <a:schemeClr val="dk1"/>
              </a:solidFill>
              <a:latin typeface="Calibri"/>
              <a:ea typeface="Calibri"/>
              <a:cs typeface="Calibri"/>
              <a:sym typeface="Calibri"/>
            </a:endParaRPr>
          </a:p>
        </p:txBody>
      </p:sp>
      <p:sp>
        <p:nvSpPr>
          <p:cNvPr id="451" name="Google Shape;451;p32"/>
          <p:cNvSpPr/>
          <p:nvPr/>
        </p:nvSpPr>
        <p:spPr>
          <a:xfrm>
            <a:off x="566886" y="123438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 </a:t>
            </a:r>
            <a:r>
              <a:rPr b="1" i="0" lang="en-US" sz="1600">
                <a:solidFill>
                  <a:srgbClr val="405D72"/>
                </a:solidFill>
                <a:latin typeface="Arial"/>
                <a:ea typeface="Arial"/>
                <a:cs typeface="Arial"/>
                <a:sym typeface="Arial"/>
              </a:rPr>
              <a:t>lateral magnocellular nucleus of the anterior nidopallium</a:t>
            </a:r>
            <a:r>
              <a:rPr b="0" i="0" lang="en-US" sz="1600">
                <a:solidFill>
                  <a:srgbClr val="252E36"/>
                </a:solidFill>
                <a:latin typeface="Arial"/>
                <a:ea typeface="Arial"/>
                <a:cs typeface="Arial"/>
                <a:sym typeface="Arial"/>
              </a:rPr>
              <a:t>, or LMAN, is a forebrain output of the anterior forebrain pathway. Garst-Orozco and colleagues stimulated HVC and LMAN fiber tracts separately while recording excitatory postsynaptic currents in RA projection neurons.</a:t>
            </a:r>
            <a:endParaRPr sz="1800">
              <a:solidFill>
                <a:schemeClr val="dk1"/>
              </a:solidFill>
              <a:latin typeface="Calibri"/>
              <a:ea typeface="Calibri"/>
              <a:cs typeface="Calibri"/>
              <a:sym typeface="Calibri"/>
            </a:endParaRPr>
          </a:p>
        </p:txBody>
      </p:sp>
      <p:sp>
        <p:nvSpPr>
          <p:cNvPr id="452" name="Google Shape;452;p32"/>
          <p:cNvSpPr/>
          <p:nvPr/>
        </p:nvSpPr>
        <p:spPr>
          <a:xfrm>
            <a:off x="566886" y="2672507"/>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An </a:t>
            </a:r>
            <a:r>
              <a:rPr b="1" i="0" lang="en-US" sz="1600">
                <a:solidFill>
                  <a:srgbClr val="405D72"/>
                </a:solidFill>
                <a:latin typeface="Arial"/>
                <a:ea typeface="Arial"/>
                <a:cs typeface="Arial"/>
                <a:sym typeface="Arial"/>
              </a:rPr>
              <a:t>excitatory postsynaptic current</a:t>
            </a:r>
            <a:r>
              <a:rPr b="0" i="0" lang="en-US" sz="1600">
                <a:solidFill>
                  <a:srgbClr val="252E36"/>
                </a:solidFill>
                <a:latin typeface="Arial"/>
                <a:ea typeface="Arial"/>
                <a:cs typeface="Arial"/>
                <a:sym typeface="Arial"/>
              </a:rPr>
              <a:t> is the membrane current produced when excitatory transmitter activates receptors on the recorded cell. Pathway-specific stimulation allowed the strength and receptor contributions of the two convergent inputs to be compared in juvenile and adult zebra finches.</a:t>
            </a:r>
            <a:endParaRPr sz="1800">
              <a:solidFill>
                <a:schemeClr val="dk1"/>
              </a:solidFill>
              <a:latin typeface="Calibri"/>
              <a:ea typeface="Calibri"/>
              <a:cs typeface="Calibri"/>
              <a:sym typeface="Calibri"/>
            </a:endParaRPr>
          </a:p>
        </p:txBody>
      </p:sp>
      <p:sp>
        <p:nvSpPr>
          <p:cNvPr id="453" name="Google Shape;453;p32"/>
          <p:cNvSpPr/>
          <p:nvPr/>
        </p:nvSpPr>
        <p:spPr>
          <a:xfrm>
            <a:off x="566886" y="4110633"/>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RA therefore receives input from a direct motor-related pathway and from a basal ganglia–thalamic pathway. Electrical stimulation in slices samples surviving fibers rather than every connection present in the intact animal, and does not reveal the natural activity pattern of those inputs during a particular syllable.</a:t>
            </a:r>
            <a:endParaRPr sz="1800">
              <a:solidFill>
                <a:schemeClr val="dk1"/>
              </a:solidFill>
              <a:latin typeface="Calibri"/>
              <a:ea typeface="Calibri"/>
              <a:cs typeface="Calibri"/>
              <a:sym typeface="Calibri"/>
            </a:endParaRPr>
          </a:p>
        </p:txBody>
      </p:sp>
      <p:pic>
        <p:nvPicPr>
          <p:cNvPr id="454" name="Google Shape;454;p32"/>
          <p:cNvPicPr preferRelativeResize="0"/>
          <p:nvPr/>
        </p:nvPicPr>
        <p:blipFill rotWithShape="1">
          <a:blip r:embed="rId3">
            <a:alphaModFix/>
          </a:blip>
          <a:srcRect b="0" l="0" r="0" t="0"/>
          <a:stretch/>
        </p:blipFill>
        <p:spPr>
          <a:xfrm>
            <a:off x="6504371" y="1280071"/>
            <a:ext cx="5120459" cy="2886670"/>
          </a:xfrm>
          <a:prstGeom prst="rect">
            <a:avLst/>
          </a:prstGeom>
          <a:noFill/>
          <a:ln>
            <a:noFill/>
          </a:ln>
        </p:spPr>
      </p:pic>
      <p:sp>
        <p:nvSpPr>
          <p:cNvPr id="455" name="Google Shape;455;p32"/>
          <p:cNvSpPr/>
          <p:nvPr/>
        </p:nvSpPr>
        <p:spPr>
          <a:xfrm>
            <a:off x="6504236" y="4258270"/>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2(A–E). Pathway stimulation and currents recorded in RA.</a:t>
            </a:r>
            <a:endParaRPr sz="1800">
              <a:solidFill>
                <a:schemeClr val="dk1"/>
              </a:solidFill>
              <a:latin typeface="Calibri"/>
              <a:ea typeface="Calibri"/>
              <a:cs typeface="Calibri"/>
              <a:sym typeface="Calibri"/>
            </a:endParaRPr>
          </a:p>
        </p:txBody>
      </p:sp>
      <p:sp>
        <p:nvSpPr>
          <p:cNvPr id="456" name="Google Shape;456;p32"/>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Garst-Orozco et al. (2014)</a:t>
            </a:r>
            <a:endParaRPr sz="1800">
              <a:solidFill>
                <a:schemeClr val="dk1"/>
              </a:solidFill>
              <a:latin typeface="Calibri"/>
              <a:ea typeface="Calibri"/>
              <a:cs typeface="Calibri"/>
              <a:sym typeface="Calibri"/>
            </a:endParaRPr>
          </a:p>
        </p:txBody>
      </p:sp>
      <p:sp>
        <p:nvSpPr>
          <p:cNvPr id="458" name="Google Shape;458;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HVC inputs strengthen and undergo late refinement</a:t>
            </a:r>
            <a:endParaRPr sz="1800">
              <a:solidFill>
                <a:schemeClr val="dk1"/>
              </a:solidFill>
              <a:latin typeface="Calibri"/>
              <a:ea typeface="Calibri"/>
              <a:cs typeface="Calibri"/>
              <a:sym typeface="Calibri"/>
            </a:endParaRPr>
          </a:p>
        </p:txBody>
      </p:sp>
      <p:sp>
        <p:nvSpPr>
          <p:cNvPr id="464" name="Google Shape;464;p33"/>
          <p:cNvSpPr/>
          <p:nvPr/>
        </p:nvSpPr>
        <p:spPr>
          <a:xfrm>
            <a:off x="6419255" y="1234380"/>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Garst-Orozco and colleagues measured HVC-to-RA currents using weak stimulation that produced either failures or a consistent single-fiber response, and stronger stimulation that recruited the available input population. Comparing these measurements distinguished connection strength from the estimated number of recruited inputs.</a:t>
            </a:r>
            <a:endParaRPr sz="1800">
              <a:solidFill>
                <a:schemeClr val="dk1"/>
              </a:solidFill>
              <a:latin typeface="Calibri"/>
              <a:ea typeface="Calibri"/>
              <a:cs typeface="Calibri"/>
              <a:sym typeface="Calibri"/>
            </a:endParaRPr>
          </a:p>
        </p:txBody>
      </p:sp>
      <p:sp>
        <p:nvSpPr>
          <p:cNvPr id="465" name="Google Shape;465;p33"/>
          <p:cNvSpPr/>
          <p:nvPr/>
        </p:nvSpPr>
        <p:spPr>
          <a:xfrm>
            <a:off x="6419255" y="2788444"/>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Median single-fiber HVC currents rose from about 23 pA in subsong birds to 60 pA in adults. Estimated input number initially increased, then declined during later development. The experiment therefore identified refinement rather than a uniform increase in every aspect of excitatory connectivity.</a:t>
            </a:r>
            <a:endParaRPr sz="1800">
              <a:solidFill>
                <a:schemeClr val="dk1"/>
              </a:solidFill>
              <a:latin typeface="Calibri"/>
              <a:ea typeface="Calibri"/>
              <a:cs typeface="Calibri"/>
              <a:sym typeface="Calibri"/>
            </a:endParaRPr>
          </a:p>
        </p:txBody>
      </p:sp>
      <p:sp>
        <p:nvSpPr>
          <p:cNvPr id="466" name="Google Shape;466;p33"/>
          <p:cNvSpPr/>
          <p:nvPr/>
        </p:nvSpPr>
        <p:spPr>
          <a:xfrm>
            <a:off x="6419255" y="4136827"/>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Such strengthening and pruning can alter how RA converts HVC activity into motor output. The measurements do not establish that each lost input was an incorrect connection for a particular tutor song, and the fiber-number estimate is limited by slice preservation and assumptions about recruitment and current summation.</a:t>
            </a:r>
            <a:endParaRPr sz="1800">
              <a:solidFill>
                <a:schemeClr val="dk1"/>
              </a:solidFill>
              <a:latin typeface="Calibri"/>
              <a:ea typeface="Calibri"/>
              <a:cs typeface="Calibri"/>
              <a:sym typeface="Calibri"/>
            </a:endParaRPr>
          </a:p>
        </p:txBody>
      </p:sp>
      <p:pic>
        <p:nvPicPr>
          <p:cNvPr id="467" name="Google Shape;467;p33"/>
          <p:cNvPicPr preferRelativeResize="0"/>
          <p:nvPr/>
        </p:nvPicPr>
        <p:blipFill rotWithShape="1">
          <a:blip r:embed="rId3">
            <a:alphaModFix/>
          </a:blip>
          <a:srcRect b="0" l="0" r="0" t="0"/>
          <a:stretch/>
        </p:blipFill>
        <p:spPr>
          <a:xfrm>
            <a:off x="2163585" y="1280071"/>
            <a:ext cx="2293151" cy="2925961"/>
          </a:xfrm>
          <a:prstGeom prst="rect">
            <a:avLst/>
          </a:prstGeom>
          <a:noFill/>
          <a:ln>
            <a:noFill/>
          </a:ln>
        </p:spPr>
      </p:pic>
      <p:sp>
        <p:nvSpPr>
          <p:cNvPr id="468" name="Google Shape;468;p33"/>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3(A–G). HVC input strengthening and refinement.</a:t>
            </a:r>
            <a:endParaRPr sz="1800">
              <a:solidFill>
                <a:schemeClr val="dk1"/>
              </a:solidFill>
              <a:latin typeface="Calibri"/>
              <a:ea typeface="Calibri"/>
              <a:cs typeface="Calibri"/>
              <a:sym typeface="Calibri"/>
            </a:endParaRPr>
          </a:p>
        </p:txBody>
      </p:sp>
      <p:pic>
        <p:nvPicPr>
          <p:cNvPr id="469" name="Google Shape;469;p33"/>
          <p:cNvPicPr preferRelativeResize="0"/>
          <p:nvPr/>
        </p:nvPicPr>
        <p:blipFill rotWithShape="1">
          <a:blip r:embed="rId4">
            <a:alphaModFix/>
          </a:blip>
          <a:srcRect b="0" l="0" r="0" t="0"/>
          <a:stretch/>
        </p:blipFill>
        <p:spPr>
          <a:xfrm>
            <a:off x="2504510" y="4754761"/>
            <a:ext cx="1611301" cy="1005780"/>
          </a:xfrm>
          <a:prstGeom prst="rect">
            <a:avLst/>
          </a:prstGeom>
          <a:noFill/>
          <a:ln>
            <a:noFill/>
          </a:ln>
        </p:spPr>
      </p:pic>
      <p:sp>
        <p:nvSpPr>
          <p:cNvPr id="470" name="Google Shape;470;p33"/>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1(C). HVC, LMAN, and RA in the published pathway map.</a:t>
            </a:r>
            <a:endParaRPr sz="1800">
              <a:solidFill>
                <a:schemeClr val="dk1"/>
              </a:solidFill>
              <a:latin typeface="Calibri"/>
              <a:ea typeface="Calibri"/>
              <a:cs typeface="Calibri"/>
              <a:sym typeface="Calibri"/>
            </a:endParaRPr>
          </a:p>
        </p:txBody>
      </p:sp>
      <p:sp>
        <p:nvSpPr>
          <p:cNvPr id="471" name="Google Shape;471;p33"/>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Garst-Orozco et al. (2014)</a:t>
            </a:r>
            <a:endParaRPr sz="1800">
              <a:solidFill>
                <a:schemeClr val="dk1"/>
              </a:solidFill>
              <a:latin typeface="Calibri"/>
              <a:ea typeface="Calibri"/>
              <a:cs typeface="Calibri"/>
              <a:sym typeface="Calibri"/>
            </a:endParaRPr>
          </a:p>
        </p:txBody>
      </p:sp>
      <p:sp>
        <p:nvSpPr>
          <p:cNvPr id="473" name="Google Shape;473;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 name="Shape 477"/>
        <p:cNvGrpSpPr/>
        <p:nvPr/>
      </p:nvGrpSpPr>
      <p:grpSpPr>
        <a:xfrm>
          <a:off x="0" y="0"/>
          <a:ext cx="0" cy="0"/>
          <a:chOff x="0" y="0"/>
          <a:chExt cx="0" cy="0"/>
        </a:xfrm>
      </p:grpSpPr>
      <p:sp>
        <p:nvSpPr>
          <p:cNvPr id="478" name="Google Shape;478;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LMAN input strength remains relatively stable</a:t>
            </a:r>
            <a:endParaRPr sz="1800">
              <a:solidFill>
                <a:schemeClr val="dk1"/>
              </a:solidFill>
              <a:latin typeface="Calibri"/>
              <a:ea typeface="Calibri"/>
              <a:cs typeface="Calibri"/>
              <a:sym typeface="Calibri"/>
            </a:endParaRPr>
          </a:p>
        </p:txBody>
      </p:sp>
      <p:sp>
        <p:nvSpPr>
          <p:cNvPr id="479" name="Google Shape;479;p34"/>
          <p:cNvSpPr/>
          <p:nvPr/>
        </p:nvSpPr>
        <p:spPr>
          <a:xfrm>
            <a:off x="566886" y="1234380"/>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Garst-Orozco and colleagues applied the same single-fiber and maximal-recruitment strategy to the LMAN input onto RA neurons. Recordings from subsong, plastic-song, and adult birds tested whether increasing song stereotypy reflected a simple disappearance of this excitatory pathway.</a:t>
            </a:r>
            <a:endParaRPr sz="1800">
              <a:solidFill>
                <a:schemeClr val="dk1"/>
              </a:solidFill>
              <a:latin typeface="Calibri"/>
              <a:ea typeface="Calibri"/>
              <a:cs typeface="Calibri"/>
              <a:sym typeface="Calibri"/>
            </a:endParaRPr>
          </a:p>
        </p:txBody>
      </p:sp>
      <p:sp>
        <p:nvSpPr>
          <p:cNvPr id="480" name="Google Shape;480;p34"/>
          <p:cNvSpPr/>
          <p:nvPr/>
        </p:nvSpPr>
        <p:spPr>
          <a:xfrm>
            <a:off x="566886" y="2582763"/>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Mean single-fiber LMAN currents were approximately 146 pA in plastic-song birds and 142 pA in adults; the estimated number of available inputs remained relatively stable. The finding contrasted with the strengthening and pruning of HVC inputs measured in the same experimental framework.</a:t>
            </a:r>
            <a:endParaRPr sz="1800">
              <a:solidFill>
                <a:schemeClr val="dk1"/>
              </a:solidFill>
              <a:latin typeface="Calibri"/>
              <a:ea typeface="Calibri"/>
              <a:cs typeface="Calibri"/>
              <a:sym typeface="Calibri"/>
            </a:endParaRPr>
          </a:p>
        </p:txBody>
      </p:sp>
      <p:sp>
        <p:nvSpPr>
          <p:cNvPr id="481" name="Google Shape;481;p34"/>
          <p:cNvSpPr/>
          <p:nvPr/>
        </p:nvSpPr>
        <p:spPr>
          <a:xfrm>
            <a:off x="566886" y="3931146"/>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Reduced behavioral variability can consequently coexist with persistent LMAN-to-RA connectivity. The result does not establish that LMAN firing patterns or synaptic effects are identical in behaving juveniles and adults; a preserved connection can have a different influence when other convergent inputs and network activity change.</a:t>
            </a:r>
            <a:endParaRPr sz="1800">
              <a:solidFill>
                <a:schemeClr val="dk1"/>
              </a:solidFill>
              <a:latin typeface="Calibri"/>
              <a:ea typeface="Calibri"/>
              <a:cs typeface="Calibri"/>
              <a:sym typeface="Calibri"/>
            </a:endParaRPr>
          </a:p>
        </p:txBody>
      </p:sp>
      <p:pic>
        <p:nvPicPr>
          <p:cNvPr id="482" name="Google Shape;482;p34"/>
          <p:cNvPicPr preferRelativeResize="0"/>
          <p:nvPr/>
        </p:nvPicPr>
        <p:blipFill rotWithShape="1">
          <a:blip r:embed="rId3">
            <a:alphaModFix/>
          </a:blip>
          <a:srcRect b="0" l="0" r="0" t="0"/>
          <a:stretch/>
        </p:blipFill>
        <p:spPr>
          <a:xfrm>
            <a:off x="7295466" y="1280071"/>
            <a:ext cx="3172449" cy="2925961"/>
          </a:xfrm>
          <a:prstGeom prst="rect">
            <a:avLst/>
          </a:prstGeom>
          <a:noFill/>
          <a:ln>
            <a:noFill/>
          </a:ln>
        </p:spPr>
      </p:pic>
      <p:sp>
        <p:nvSpPr>
          <p:cNvPr id="483" name="Google Shape;483;p34"/>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4(A–H). LMAN current strength and receptor contributions.</a:t>
            </a:r>
            <a:endParaRPr sz="1800">
              <a:solidFill>
                <a:schemeClr val="dk1"/>
              </a:solidFill>
              <a:latin typeface="Calibri"/>
              <a:ea typeface="Calibri"/>
              <a:cs typeface="Calibri"/>
              <a:sym typeface="Calibri"/>
            </a:endParaRPr>
          </a:p>
        </p:txBody>
      </p:sp>
      <p:pic>
        <p:nvPicPr>
          <p:cNvPr id="484" name="Google Shape;484;p34"/>
          <p:cNvPicPr preferRelativeResize="0"/>
          <p:nvPr/>
        </p:nvPicPr>
        <p:blipFill rotWithShape="1">
          <a:blip r:embed="rId4">
            <a:alphaModFix/>
          </a:blip>
          <a:srcRect b="0" l="0" r="0" t="0"/>
          <a:stretch/>
        </p:blipFill>
        <p:spPr>
          <a:xfrm>
            <a:off x="8076040" y="4754761"/>
            <a:ext cx="1611301" cy="1005780"/>
          </a:xfrm>
          <a:prstGeom prst="rect">
            <a:avLst/>
          </a:prstGeom>
          <a:noFill/>
          <a:ln>
            <a:noFill/>
          </a:ln>
        </p:spPr>
      </p:pic>
      <p:sp>
        <p:nvSpPr>
          <p:cNvPr id="485" name="Google Shape;485;p34"/>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1(C). HVC, LMAN, and RA in the published pathway map.</a:t>
            </a:r>
            <a:endParaRPr sz="1800">
              <a:solidFill>
                <a:schemeClr val="dk1"/>
              </a:solidFill>
              <a:latin typeface="Calibri"/>
              <a:ea typeface="Calibri"/>
              <a:cs typeface="Calibri"/>
              <a:sym typeface="Calibri"/>
            </a:endParaRPr>
          </a:p>
        </p:txBody>
      </p:sp>
      <p:sp>
        <p:nvSpPr>
          <p:cNvPr id="486" name="Google Shape;486;p34"/>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Garst-Orozco et al. (2014)</a:t>
            </a:r>
            <a:endParaRPr sz="1800">
              <a:solidFill>
                <a:schemeClr val="dk1"/>
              </a:solidFill>
              <a:latin typeface="Calibri"/>
              <a:ea typeface="Calibri"/>
              <a:cs typeface="Calibri"/>
              <a:sym typeface="Calibri"/>
            </a:endParaRPr>
          </a:p>
        </p:txBody>
      </p:sp>
      <p:sp>
        <p:nvSpPr>
          <p:cNvPr id="488" name="Google Shape;488;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 name="Shape 492"/>
        <p:cNvGrpSpPr/>
        <p:nvPr/>
      </p:nvGrpSpPr>
      <p:grpSpPr>
        <a:xfrm>
          <a:off x="0" y="0"/>
          <a:ext cx="0" cy="0"/>
          <a:chOff x="0" y="0"/>
          <a:chExt cx="0" cy="0"/>
        </a:xfrm>
      </p:grpSpPr>
      <p:sp>
        <p:nvSpPr>
          <p:cNvPr id="493" name="Google Shape;493;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LMAN currents depend strongly on NMDA receptors</a:t>
            </a:r>
            <a:endParaRPr sz="1800">
              <a:solidFill>
                <a:schemeClr val="dk1"/>
              </a:solidFill>
              <a:latin typeface="Calibri"/>
              <a:ea typeface="Calibri"/>
              <a:cs typeface="Calibri"/>
              <a:sym typeface="Calibri"/>
            </a:endParaRPr>
          </a:p>
        </p:txBody>
      </p:sp>
      <p:sp>
        <p:nvSpPr>
          <p:cNvPr id="494" name="Google Shape;494;p35"/>
          <p:cNvSpPr/>
          <p:nvPr/>
        </p:nvSpPr>
        <p:spPr>
          <a:xfrm>
            <a:off x="6419255" y="1234380"/>
            <a:ext cx="5224760" cy="9599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400"/>
              <a:buFont typeface="Arial"/>
              <a:buNone/>
            </a:pPr>
            <a:r>
              <a:rPr b="0" i="0" lang="en-US" sz="1400">
                <a:solidFill>
                  <a:srgbClr val="252E36"/>
                </a:solidFill>
                <a:latin typeface="Arial"/>
                <a:ea typeface="Arial"/>
                <a:cs typeface="Arial"/>
                <a:sym typeface="Arial"/>
              </a:rPr>
              <a:t>Garst-Orozco and colleagues recorded LMAN-evoked currents at −70 and +40 mV. At negative voltages, extracellular magnesium limits NMDA-receptor current; depolarization relieves this voltage-dependent block, allowing the slower receptor component to contribute more strongly.</a:t>
            </a:r>
            <a:endParaRPr sz="1800">
              <a:solidFill>
                <a:schemeClr val="dk1"/>
              </a:solidFill>
              <a:latin typeface="Calibri"/>
              <a:ea typeface="Calibri"/>
              <a:cs typeface="Calibri"/>
              <a:sym typeface="Calibri"/>
            </a:endParaRPr>
          </a:p>
        </p:txBody>
      </p:sp>
      <p:sp>
        <p:nvSpPr>
          <p:cNvPr id="495" name="Google Shape;495;p35"/>
          <p:cNvSpPr/>
          <p:nvPr/>
        </p:nvSpPr>
        <p:spPr>
          <a:xfrm>
            <a:off x="6419255" y="2300883"/>
            <a:ext cx="5224760" cy="15359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400"/>
              <a:buFont typeface="Arial"/>
              <a:buNone/>
            </a:pPr>
            <a:r>
              <a:rPr b="0" i="0" lang="en-US" sz="1400">
                <a:solidFill>
                  <a:srgbClr val="252E36"/>
                </a:solidFill>
                <a:latin typeface="Arial"/>
                <a:ea typeface="Arial"/>
                <a:cs typeface="Arial"/>
                <a:sym typeface="Arial"/>
              </a:rPr>
              <a:t>The comparison distinguished predominantly AMPA-mediated responses at −70 mV from the combined AMPA and NMDA response at +40 mV. The estimated NMDA-to-AMPA contribution in subsong birds was approximately 9:1. LMAN responses had a substantial NMDA component, connecting pathway identity to a particular form of postsynaptic integration rather than treating all excitatory inputs as interchangeable.</a:t>
            </a:r>
            <a:endParaRPr sz="1800">
              <a:solidFill>
                <a:schemeClr val="dk1"/>
              </a:solidFill>
              <a:latin typeface="Calibri"/>
              <a:ea typeface="Calibri"/>
              <a:cs typeface="Calibri"/>
              <a:sym typeface="Calibri"/>
            </a:endParaRPr>
          </a:p>
        </p:txBody>
      </p:sp>
      <p:sp>
        <p:nvSpPr>
          <p:cNvPr id="496" name="Google Shape;496;p35"/>
          <p:cNvSpPr/>
          <p:nvPr/>
        </p:nvSpPr>
        <p:spPr>
          <a:xfrm>
            <a:off x="6419255" y="394335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400"/>
              <a:buFont typeface="Arial"/>
              <a:buNone/>
            </a:pPr>
            <a:r>
              <a:rPr b="0" i="0" lang="en-US" sz="1400">
                <a:solidFill>
                  <a:srgbClr val="252E36"/>
                </a:solidFill>
                <a:latin typeface="Arial"/>
                <a:ea typeface="Arial"/>
                <a:cs typeface="Arial"/>
                <a:sym typeface="Arial"/>
              </a:rPr>
              <a:t>Voltage-dependent gating means that the effect of LMAN input depends partly on the postsynaptic state of RA. The recordings establish receptor contributions under imposed holding potentials, but cannot by themselves specify RA voltage trajectories or transmitter release during freely produced song.</a:t>
            </a:r>
            <a:endParaRPr sz="1800">
              <a:solidFill>
                <a:schemeClr val="dk1"/>
              </a:solidFill>
              <a:latin typeface="Calibri"/>
              <a:ea typeface="Calibri"/>
              <a:cs typeface="Calibri"/>
              <a:sym typeface="Calibri"/>
            </a:endParaRPr>
          </a:p>
        </p:txBody>
      </p:sp>
      <p:pic>
        <p:nvPicPr>
          <p:cNvPr id="497" name="Google Shape;497;p35"/>
          <p:cNvPicPr preferRelativeResize="0"/>
          <p:nvPr/>
        </p:nvPicPr>
        <p:blipFill rotWithShape="1">
          <a:blip r:embed="rId3">
            <a:alphaModFix/>
          </a:blip>
          <a:srcRect b="0" l="0" r="0" t="0"/>
          <a:stretch/>
        </p:blipFill>
        <p:spPr>
          <a:xfrm>
            <a:off x="1723787" y="1280071"/>
            <a:ext cx="3172449" cy="2925961"/>
          </a:xfrm>
          <a:prstGeom prst="rect">
            <a:avLst/>
          </a:prstGeom>
          <a:noFill/>
          <a:ln>
            <a:noFill/>
          </a:ln>
        </p:spPr>
      </p:pic>
      <p:sp>
        <p:nvSpPr>
          <p:cNvPr id="498" name="Google Shape;498;p35"/>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4(A–H). LMAN current strength and receptor contributions.</a:t>
            </a:r>
            <a:endParaRPr sz="1800">
              <a:solidFill>
                <a:schemeClr val="dk1"/>
              </a:solidFill>
              <a:latin typeface="Calibri"/>
              <a:ea typeface="Calibri"/>
              <a:cs typeface="Calibri"/>
              <a:sym typeface="Calibri"/>
            </a:endParaRPr>
          </a:p>
        </p:txBody>
      </p:sp>
      <p:pic>
        <p:nvPicPr>
          <p:cNvPr id="499" name="Google Shape;499;p35"/>
          <p:cNvPicPr preferRelativeResize="0"/>
          <p:nvPr/>
        </p:nvPicPr>
        <p:blipFill rotWithShape="1">
          <a:blip r:embed="rId4">
            <a:alphaModFix/>
          </a:blip>
          <a:srcRect b="0" l="0" r="0" t="0"/>
          <a:stretch/>
        </p:blipFill>
        <p:spPr>
          <a:xfrm>
            <a:off x="2504510" y="4754761"/>
            <a:ext cx="1611301" cy="1005780"/>
          </a:xfrm>
          <a:prstGeom prst="rect">
            <a:avLst/>
          </a:prstGeom>
          <a:noFill/>
          <a:ln>
            <a:noFill/>
          </a:ln>
        </p:spPr>
      </p:pic>
      <p:sp>
        <p:nvSpPr>
          <p:cNvPr id="500" name="Google Shape;500;p35"/>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1(C). HVC, LMAN, and RA in the published pathway map.</a:t>
            </a:r>
            <a:endParaRPr sz="1800">
              <a:solidFill>
                <a:schemeClr val="dk1"/>
              </a:solidFill>
              <a:latin typeface="Calibri"/>
              <a:ea typeface="Calibri"/>
              <a:cs typeface="Calibri"/>
              <a:sym typeface="Calibri"/>
            </a:endParaRPr>
          </a:p>
        </p:txBody>
      </p:sp>
      <p:sp>
        <p:nvSpPr>
          <p:cNvPr id="501" name="Google Shape;501;p35"/>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Garst-Orozco et al. (2014)</a:t>
            </a:r>
            <a:endParaRPr sz="1800">
              <a:solidFill>
                <a:schemeClr val="dk1"/>
              </a:solidFill>
              <a:latin typeface="Calibri"/>
              <a:ea typeface="Calibri"/>
              <a:cs typeface="Calibri"/>
              <a:sym typeface="Calibri"/>
            </a:endParaRPr>
          </a:p>
        </p:txBody>
      </p:sp>
      <p:sp>
        <p:nvSpPr>
          <p:cNvPr id="503" name="Google Shape;503;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7" name="Shape 507"/>
        <p:cNvGrpSpPr/>
        <p:nvPr/>
      </p:nvGrpSpPr>
      <p:grpSpPr>
        <a:xfrm>
          <a:off x="0" y="0"/>
          <a:ext cx="0" cy="0"/>
          <a:chOff x="0" y="0"/>
          <a:chExt cx="0" cy="0"/>
        </a:xfrm>
      </p:grpSpPr>
      <p:sp>
        <p:nvSpPr>
          <p:cNvPr id="508" name="Google Shape;508;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Developmental conclusions depend on the age window</a:t>
            </a:r>
            <a:endParaRPr sz="1800">
              <a:solidFill>
                <a:schemeClr val="dk1"/>
              </a:solidFill>
              <a:latin typeface="Calibri"/>
              <a:ea typeface="Calibri"/>
              <a:cs typeface="Calibri"/>
              <a:sym typeface="Calibri"/>
            </a:endParaRPr>
          </a:p>
        </p:txBody>
      </p:sp>
      <p:sp>
        <p:nvSpPr>
          <p:cNvPr id="509" name="Google Shape;509;p36"/>
          <p:cNvSpPr/>
          <p:nvPr/>
        </p:nvSpPr>
        <p:spPr>
          <a:xfrm>
            <a:off x="566886" y="1234380"/>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Garst-Orozco and colleagues measured RA responses to 0.5-second current pulses at 35 °C across subsong, plastic-song, and adult stages. Input-to-firing gain and spike-frequency adaptation were broadly similar across these groups, constraining a simple intrinsic-excitability explanation of reduced song variability.</a:t>
            </a:r>
            <a:endParaRPr sz="1800">
              <a:solidFill>
                <a:schemeClr val="dk1"/>
              </a:solidFill>
              <a:latin typeface="Calibri"/>
              <a:ea typeface="Calibri"/>
              <a:cs typeface="Calibri"/>
              <a:sym typeface="Calibri"/>
            </a:endParaRPr>
          </a:p>
        </p:txBody>
      </p:sp>
      <p:sp>
        <p:nvSpPr>
          <p:cNvPr id="510" name="Google Shape;510;p36"/>
          <p:cNvSpPr/>
          <p:nvPr/>
        </p:nvSpPr>
        <p:spPr>
          <a:xfrm>
            <a:off x="566886" y="2582763"/>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Zemel and colleagues included younger 20-day birds and isolated sodium-current components, detecting pronounced maturation of resurgent current and spike properties. The studies differ in developmental window, recording conditions, and the physiological property being measured.</a:t>
            </a:r>
            <a:endParaRPr sz="1800">
              <a:solidFill>
                <a:schemeClr val="dk1"/>
              </a:solidFill>
              <a:latin typeface="Calibri"/>
              <a:ea typeface="Calibri"/>
              <a:cs typeface="Calibri"/>
              <a:sym typeface="Calibri"/>
            </a:endParaRPr>
          </a:p>
        </p:txBody>
      </p:sp>
      <p:sp>
        <p:nvSpPr>
          <p:cNvPr id="511" name="Google Shape;511;p36"/>
          <p:cNvSpPr/>
          <p:nvPr/>
        </p:nvSpPr>
        <p:spPr>
          <a:xfrm>
            <a:off x="566886" y="3931146"/>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A stable firing-rate response over one age interval does not contradict earlier maturation of a particular ion current. Neither experiment supports a universal statement that RA intrinsic properties never change, nor that all decreases in song variability are caused by sodium-channel maturation.</a:t>
            </a:r>
            <a:endParaRPr sz="1800">
              <a:solidFill>
                <a:schemeClr val="dk1"/>
              </a:solidFill>
              <a:latin typeface="Calibri"/>
              <a:ea typeface="Calibri"/>
              <a:cs typeface="Calibri"/>
              <a:sym typeface="Calibri"/>
            </a:endParaRPr>
          </a:p>
        </p:txBody>
      </p:sp>
      <p:pic>
        <p:nvPicPr>
          <p:cNvPr id="512" name="Google Shape;512;p36"/>
          <p:cNvPicPr preferRelativeResize="0"/>
          <p:nvPr/>
        </p:nvPicPr>
        <p:blipFill rotWithShape="1">
          <a:blip r:embed="rId3">
            <a:alphaModFix/>
          </a:blip>
          <a:srcRect b="0" l="0" r="0" t="0"/>
          <a:stretch/>
        </p:blipFill>
        <p:spPr>
          <a:xfrm>
            <a:off x="7441036" y="1280071"/>
            <a:ext cx="2881310" cy="2925961"/>
          </a:xfrm>
          <a:prstGeom prst="rect">
            <a:avLst/>
          </a:prstGeom>
          <a:noFill/>
          <a:ln>
            <a:noFill/>
          </a:ln>
        </p:spPr>
      </p:pic>
      <p:sp>
        <p:nvSpPr>
          <p:cNvPr id="513" name="Google Shape;513;p36"/>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5(A–F). RA firing responses across developmental stages.</a:t>
            </a:r>
            <a:endParaRPr sz="1800">
              <a:solidFill>
                <a:schemeClr val="dk1"/>
              </a:solidFill>
              <a:latin typeface="Calibri"/>
              <a:ea typeface="Calibri"/>
              <a:cs typeface="Calibri"/>
              <a:sym typeface="Calibri"/>
            </a:endParaRPr>
          </a:p>
        </p:txBody>
      </p:sp>
      <p:pic>
        <p:nvPicPr>
          <p:cNvPr id="514" name="Google Shape;514;p36"/>
          <p:cNvPicPr preferRelativeResize="0"/>
          <p:nvPr/>
        </p:nvPicPr>
        <p:blipFill rotWithShape="1">
          <a:blip r:embed="rId4">
            <a:alphaModFix/>
          </a:blip>
          <a:srcRect b="0" l="0" r="0" t="0"/>
          <a:stretch/>
        </p:blipFill>
        <p:spPr>
          <a:xfrm>
            <a:off x="8076040" y="4754761"/>
            <a:ext cx="1611301" cy="1005780"/>
          </a:xfrm>
          <a:prstGeom prst="rect">
            <a:avLst/>
          </a:prstGeom>
          <a:noFill/>
          <a:ln>
            <a:noFill/>
          </a:ln>
        </p:spPr>
      </p:pic>
      <p:sp>
        <p:nvSpPr>
          <p:cNvPr id="515" name="Google Shape;515;p36"/>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1(C). HVC, LMAN, and RA in the published pathway map.</a:t>
            </a:r>
            <a:endParaRPr sz="1800">
              <a:solidFill>
                <a:schemeClr val="dk1"/>
              </a:solidFill>
              <a:latin typeface="Calibri"/>
              <a:ea typeface="Calibri"/>
              <a:cs typeface="Calibri"/>
              <a:sym typeface="Calibri"/>
            </a:endParaRPr>
          </a:p>
        </p:txBody>
      </p:sp>
      <p:sp>
        <p:nvSpPr>
          <p:cNvPr id="516" name="Google Shape;516;p36"/>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Garst-Orozco et al. (2014); Zemel et al. (2021)</a:t>
            </a:r>
            <a:endParaRPr sz="1800">
              <a:solidFill>
                <a:schemeClr val="dk1"/>
              </a:solidFill>
              <a:latin typeface="Calibri"/>
              <a:ea typeface="Calibri"/>
              <a:cs typeface="Calibri"/>
              <a:sym typeface="Calibri"/>
            </a:endParaRPr>
          </a:p>
        </p:txBody>
      </p:sp>
      <p:sp>
        <p:nvSpPr>
          <p:cNvPr id="518" name="Google Shape;518;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2" name="Shape 522"/>
        <p:cNvGrpSpPr/>
        <p:nvPr/>
      </p:nvGrpSpPr>
      <p:grpSpPr>
        <a:xfrm>
          <a:off x="0" y="0"/>
          <a:ext cx="0" cy="0"/>
          <a:chOff x="0" y="0"/>
          <a:chExt cx="0" cy="0"/>
        </a:xfrm>
      </p:grpSpPr>
      <p:sp>
        <p:nvSpPr>
          <p:cNvPr id="523" name="Google Shape;523;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Juvenile and adult lesions separate LMAN functions</a:t>
            </a:r>
            <a:endParaRPr sz="1800">
              <a:solidFill>
                <a:schemeClr val="dk1"/>
              </a:solidFill>
              <a:latin typeface="Calibri"/>
              <a:ea typeface="Calibri"/>
              <a:cs typeface="Calibri"/>
              <a:sym typeface="Calibri"/>
            </a:endParaRPr>
          </a:p>
        </p:txBody>
      </p:sp>
      <p:sp>
        <p:nvSpPr>
          <p:cNvPr id="524" name="Google Shape;524;p37"/>
          <p:cNvSpPr/>
          <p:nvPr/>
        </p:nvSpPr>
        <p:spPr>
          <a:xfrm>
            <a:off x="6053435" y="123438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Bottjer and colleagues lesioned the region then called MAN in male zebra finches at different stages of song development. Postoperative vocalizations were recorded repeatedly, and histology distinguished complete lesions from cases in which the intended region was largely spared.</a:t>
            </a:r>
            <a:endParaRPr sz="1800">
              <a:solidFill>
                <a:schemeClr val="dk1"/>
              </a:solidFill>
              <a:latin typeface="Calibri"/>
              <a:ea typeface="Calibri"/>
              <a:cs typeface="Calibri"/>
              <a:sym typeface="Calibri"/>
            </a:endParaRPr>
          </a:p>
        </p:txBody>
      </p:sp>
      <p:sp>
        <p:nvSpPr>
          <p:cNvPr id="525" name="Google Shape;525;p37"/>
          <p:cNvSpPr/>
          <p:nvPr/>
        </p:nvSpPr>
        <p:spPr>
          <a:xfrm>
            <a:off x="6053435" y="2672507"/>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Lesions early in development produced abnormal vocal patterns, whereas adult birds with complete bilateral lesions retained normal song for as long as five weeks. Birds operated at intermediate stages differed according to how established their song pattern was before surgery.</a:t>
            </a:r>
            <a:endParaRPr sz="1800">
              <a:solidFill>
                <a:schemeClr val="dk1"/>
              </a:solidFill>
              <a:latin typeface="Calibri"/>
              <a:ea typeface="Calibri"/>
              <a:cs typeface="Calibri"/>
              <a:sym typeface="Calibri"/>
            </a:endParaRPr>
          </a:p>
        </p:txBody>
      </p:sp>
      <p:sp>
        <p:nvSpPr>
          <p:cNvPr id="526" name="Google Shape;526;p37"/>
          <p:cNvSpPr/>
          <p:nvPr/>
        </p:nvSpPr>
        <p:spPr>
          <a:xfrm>
            <a:off x="6053435" y="389126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 age dependence separates a contribution to developing vocal behavior from an obligatory role in executing established adult song. It does not prove that LMAN stores the tutor memory or that adult LMAN has no function; later pathway-specific physiology identifies persistent input to RA even after song stabilizes.</a:t>
            </a:r>
            <a:endParaRPr sz="1800">
              <a:solidFill>
                <a:schemeClr val="dk1"/>
              </a:solidFill>
              <a:latin typeface="Calibri"/>
              <a:ea typeface="Calibri"/>
              <a:cs typeface="Calibri"/>
              <a:sym typeface="Calibri"/>
            </a:endParaRPr>
          </a:p>
        </p:txBody>
      </p:sp>
      <p:pic>
        <p:nvPicPr>
          <p:cNvPr id="527" name="Google Shape;527;p37"/>
          <p:cNvPicPr preferRelativeResize="0"/>
          <p:nvPr/>
        </p:nvPicPr>
        <p:blipFill rotWithShape="1">
          <a:blip r:embed="rId3">
            <a:alphaModFix/>
          </a:blip>
          <a:srcRect b="0" l="0" r="0" t="0"/>
          <a:stretch/>
        </p:blipFill>
        <p:spPr>
          <a:xfrm>
            <a:off x="567003" y="1280071"/>
            <a:ext cx="5120495" cy="3196233"/>
          </a:xfrm>
          <a:prstGeom prst="rect">
            <a:avLst/>
          </a:prstGeom>
          <a:noFill/>
          <a:ln>
            <a:noFill/>
          </a:ln>
        </p:spPr>
      </p:pic>
      <p:sp>
        <p:nvSpPr>
          <p:cNvPr id="528" name="Google Shape;528;p37"/>
          <p:cNvSpPr/>
          <p:nvPr/>
        </p:nvSpPr>
        <p:spPr>
          <a:xfrm>
            <a:off x="566886" y="4567833"/>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1(C). HVC, LMAN, and RA in the published pathway map.</a:t>
            </a:r>
            <a:endParaRPr sz="1800">
              <a:solidFill>
                <a:schemeClr val="dk1"/>
              </a:solidFill>
              <a:latin typeface="Calibri"/>
              <a:ea typeface="Calibri"/>
              <a:cs typeface="Calibri"/>
              <a:sym typeface="Calibri"/>
            </a:endParaRPr>
          </a:p>
        </p:txBody>
      </p:sp>
      <p:sp>
        <p:nvSpPr>
          <p:cNvPr id="529" name="Google Shape;529;p37"/>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Bottjer et al. (1984); Garst-Orozco et al. (2014)</a:t>
            </a:r>
            <a:endParaRPr sz="1800">
              <a:solidFill>
                <a:schemeClr val="dk1"/>
              </a:solidFill>
              <a:latin typeface="Calibri"/>
              <a:ea typeface="Calibri"/>
              <a:cs typeface="Calibri"/>
              <a:sym typeface="Calibri"/>
            </a:endParaRPr>
          </a:p>
        </p:txBody>
      </p:sp>
      <p:sp>
        <p:nvSpPr>
          <p:cNvPr id="531" name="Google Shape;531;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5" name="Shape 535"/>
        <p:cNvGrpSpPr/>
        <p:nvPr/>
      </p:nvGrpSpPr>
      <p:grpSpPr>
        <a:xfrm>
          <a:off x="0" y="0"/>
          <a:ext cx="0" cy="0"/>
          <a:chOff x="0" y="0"/>
          <a:chExt cx="0" cy="0"/>
        </a:xfrm>
      </p:grpSpPr>
      <p:sp>
        <p:nvSpPr>
          <p:cNvPr id="536" name="Google Shape;536;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Area X links striatal processing with pallidal output</a:t>
            </a:r>
            <a:endParaRPr sz="1800">
              <a:solidFill>
                <a:schemeClr val="dk1"/>
              </a:solidFill>
              <a:latin typeface="Calibri"/>
              <a:ea typeface="Calibri"/>
              <a:cs typeface="Calibri"/>
              <a:sym typeface="Calibri"/>
            </a:endParaRPr>
          </a:p>
        </p:txBody>
      </p:sp>
      <p:sp>
        <p:nvSpPr>
          <p:cNvPr id="537" name="Google Shape;537;p38"/>
          <p:cNvSpPr/>
          <p:nvPr/>
        </p:nvSpPr>
        <p:spPr>
          <a:xfrm>
            <a:off x="566886" y="123438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600"/>
              <a:buFont typeface="Arial"/>
              <a:buNone/>
            </a:pPr>
            <a:r>
              <a:rPr b="1" i="0" lang="en-US" sz="1600">
                <a:solidFill>
                  <a:srgbClr val="405D72"/>
                </a:solidFill>
                <a:latin typeface="Arial"/>
                <a:ea typeface="Arial"/>
                <a:cs typeface="Arial"/>
                <a:sym typeface="Arial"/>
              </a:rPr>
              <a:t>Area X</a:t>
            </a:r>
            <a:r>
              <a:rPr b="0" i="0" lang="en-US" sz="1600">
                <a:solidFill>
                  <a:srgbClr val="252E36"/>
                </a:solidFill>
                <a:latin typeface="Arial"/>
                <a:ea typeface="Arial"/>
                <a:cs typeface="Arial"/>
                <a:sym typeface="Arial"/>
              </a:rPr>
              <a:t> is a song-related basal ganglia region containing striatal-like neurons and pallidal-like output neurons. The basal ganglia are forebrain circuits involved in selecting and modifying actions; these cell classes have different positions within the circuit rather than forming one homogeneous population.</a:t>
            </a:r>
            <a:endParaRPr sz="1800">
              <a:solidFill>
                <a:schemeClr val="dk1"/>
              </a:solidFill>
              <a:latin typeface="Calibri"/>
              <a:ea typeface="Calibri"/>
              <a:cs typeface="Calibri"/>
              <a:sym typeface="Calibri"/>
            </a:endParaRPr>
          </a:p>
        </p:txBody>
      </p:sp>
      <p:sp>
        <p:nvSpPr>
          <p:cNvPr id="538" name="Google Shape;538;p38"/>
          <p:cNvSpPr/>
          <p:nvPr/>
        </p:nvSpPr>
        <p:spPr>
          <a:xfrm>
            <a:off x="566886" y="2672507"/>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Area X receives HVC and LMAN input and sends inhibitory output toward the medial portion of the dorsolateral thalamic nucleus, </a:t>
            </a:r>
            <a:r>
              <a:rPr b="1" i="0" lang="en-US" sz="1600">
                <a:solidFill>
                  <a:srgbClr val="405D72"/>
                </a:solidFill>
                <a:latin typeface="Arial"/>
                <a:ea typeface="Arial"/>
                <a:cs typeface="Arial"/>
                <a:sym typeface="Arial"/>
              </a:rPr>
              <a:t>DLM</a:t>
            </a:r>
            <a:r>
              <a:rPr b="0" i="0" lang="en-US" sz="1600">
                <a:solidFill>
                  <a:srgbClr val="252E36"/>
                </a:solidFill>
                <a:latin typeface="Arial"/>
                <a:ea typeface="Arial"/>
                <a:cs typeface="Arial"/>
                <a:sym typeface="Arial"/>
              </a:rPr>
              <a:t>. DLM projects to LMAN, whose output returns to RA and also to Area X, producing an anatomically connected forebrain loop.</a:t>
            </a:r>
            <a:endParaRPr sz="1800">
              <a:solidFill>
                <a:schemeClr val="dk1"/>
              </a:solidFill>
              <a:latin typeface="Calibri"/>
              <a:ea typeface="Calibri"/>
              <a:cs typeface="Calibri"/>
              <a:sym typeface="Calibri"/>
            </a:endParaRPr>
          </a:p>
        </p:txBody>
      </p:sp>
      <p:sp>
        <p:nvSpPr>
          <p:cNvPr id="539" name="Google Shape;539;p38"/>
          <p:cNvSpPr/>
          <p:nvPr/>
        </p:nvSpPr>
        <p:spPr>
          <a:xfrm>
            <a:off x="566886" y="389126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600"/>
              <a:buFont typeface="Arial"/>
              <a:buNone/>
            </a:pPr>
            <a:r>
              <a:rPr b="1" i="0" lang="en-US" sz="1600">
                <a:solidFill>
                  <a:srgbClr val="405D72"/>
                </a:solidFill>
                <a:latin typeface="Arial"/>
                <a:ea typeface="Arial"/>
                <a:cs typeface="Arial"/>
                <a:sym typeface="Arial"/>
              </a:rPr>
              <a:t>GABA</a:t>
            </a:r>
            <a:r>
              <a:rPr b="0" i="0" lang="en-US" sz="1600">
                <a:solidFill>
                  <a:srgbClr val="252E36"/>
                </a:solidFill>
                <a:latin typeface="Arial"/>
                <a:ea typeface="Arial"/>
                <a:cs typeface="Arial"/>
                <a:sym typeface="Arial"/>
              </a:rPr>
              <a:t>, gamma-aminobutyric acid, is the inhibitory transmitter associated with the pallidal-like output. The published anatomical pathway constrains possible mechanisms, but a connection diagram alone does not determine the moment-to-moment activity or learning rule operating in that loop.</a:t>
            </a:r>
            <a:endParaRPr sz="1800">
              <a:solidFill>
                <a:schemeClr val="dk1"/>
              </a:solidFill>
              <a:latin typeface="Calibri"/>
              <a:ea typeface="Calibri"/>
              <a:cs typeface="Calibri"/>
              <a:sym typeface="Calibri"/>
            </a:endParaRPr>
          </a:p>
        </p:txBody>
      </p:sp>
      <p:pic>
        <p:nvPicPr>
          <p:cNvPr id="540" name="Google Shape;540;p38"/>
          <p:cNvPicPr preferRelativeResize="0"/>
          <p:nvPr/>
        </p:nvPicPr>
        <p:blipFill rotWithShape="1">
          <a:blip r:embed="rId3">
            <a:alphaModFix/>
          </a:blip>
          <a:srcRect b="0" l="0" r="0" t="0"/>
          <a:stretch/>
        </p:blipFill>
        <p:spPr>
          <a:xfrm>
            <a:off x="6504322" y="1280071"/>
            <a:ext cx="5120556" cy="3234035"/>
          </a:xfrm>
          <a:prstGeom prst="rect">
            <a:avLst/>
          </a:prstGeom>
          <a:noFill/>
          <a:ln>
            <a:noFill/>
          </a:ln>
        </p:spPr>
      </p:pic>
      <p:sp>
        <p:nvSpPr>
          <p:cNvPr id="541" name="Google Shape;541;p38"/>
          <p:cNvSpPr/>
          <p:nvPr/>
        </p:nvSpPr>
        <p:spPr>
          <a:xfrm>
            <a:off x="6504236" y="4605635"/>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542" name="Google Shape;542;p38"/>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Gale &amp; Perkel (2010b); Gale &amp; Perkel (2010a)</a:t>
            </a:r>
            <a:endParaRPr sz="1800">
              <a:solidFill>
                <a:schemeClr val="dk1"/>
              </a:solidFill>
              <a:latin typeface="Calibri"/>
              <a:ea typeface="Calibri"/>
              <a:cs typeface="Calibri"/>
              <a:sym typeface="Calibri"/>
            </a:endParaRPr>
          </a:p>
        </p:txBody>
      </p:sp>
      <p:sp>
        <p:nvSpPr>
          <p:cNvPr id="544" name="Google Shape;544;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8" name="Shape 548"/>
        <p:cNvGrpSpPr/>
        <p:nvPr/>
      </p:nvGrpSpPr>
      <p:grpSpPr>
        <a:xfrm>
          <a:off x="0" y="0"/>
          <a:ext cx="0" cy="0"/>
          <a:chOff x="0" y="0"/>
          <a:chExt cx="0" cy="0"/>
        </a:xfrm>
      </p:grpSpPr>
      <p:sp>
        <p:nvSpPr>
          <p:cNvPr id="549" name="Google Shape;549;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Tracer injections reveal reciprocal forebrain routes</a:t>
            </a:r>
            <a:endParaRPr sz="1800">
              <a:solidFill>
                <a:schemeClr val="dk1"/>
              </a:solidFill>
              <a:latin typeface="Calibri"/>
              <a:ea typeface="Calibri"/>
              <a:cs typeface="Calibri"/>
              <a:sym typeface="Calibri"/>
            </a:endParaRPr>
          </a:p>
        </p:txBody>
      </p:sp>
      <p:sp>
        <p:nvSpPr>
          <p:cNvPr id="550" name="Google Shape;550;p39"/>
          <p:cNvSpPr/>
          <p:nvPr/>
        </p:nvSpPr>
        <p:spPr>
          <a:xfrm>
            <a:off x="6053435" y="123438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 </a:t>
            </a:r>
            <a:r>
              <a:rPr b="1" i="0" lang="en-US" sz="1600">
                <a:solidFill>
                  <a:srgbClr val="405D72"/>
                </a:solidFill>
                <a:latin typeface="Arial"/>
                <a:ea typeface="Arial"/>
                <a:cs typeface="Arial"/>
                <a:sym typeface="Arial"/>
              </a:rPr>
              <a:t>retrograde tracer</a:t>
            </a:r>
            <a:r>
              <a:rPr b="0" i="0" lang="en-US" sz="1600">
                <a:solidFill>
                  <a:srgbClr val="252E36"/>
                </a:solidFill>
                <a:latin typeface="Arial"/>
                <a:ea typeface="Arial"/>
                <a:cs typeface="Arial"/>
                <a:sym typeface="Arial"/>
              </a:rPr>
              <a:t> labels neurons projecting toward an injection site, whereas an anterograde tracer labels their axons and terminals downstream. Vates and Nottebohm used complementary tracing approaches to investigate pathways linking the song-related forebrain nuclei.</a:t>
            </a:r>
            <a:endParaRPr sz="1800">
              <a:solidFill>
                <a:schemeClr val="dk1"/>
              </a:solidFill>
              <a:latin typeface="Calibri"/>
              <a:ea typeface="Calibri"/>
              <a:cs typeface="Calibri"/>
              <a:sym typeface="Calibri"/>
            </a:endParaRPr>
          </a:p>
        </p:txBody>
      </p:sp>
      <p:sp>
        <p:nvSpPr>
          <p:cNvPr id="551" name="Google Shape;551;p39"/>
          <p:cNvSpPr/>
          <p:nvPr/>
        </p:nvSpPr>
        <p:spPr>
          <a:xfrm>
            <a:off x="6053435" y="2453134"/>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Injections associated with Area X and RA labeled neurons and terminal fields in LMAN. These distributions supported an LMAN output route to both the basal ganglia region and the motor nucleus, extending the circuit beyond a one-way chain from HVC to the vocal organ.</a:t>
            </a:r>
            <a:endParaRPr sz="1800">
              <a:solidFill>
                <a:schemeClr val="dk1"/>
              </a:solidFill>
              <a:latin typeface="Calibri"/>
              <a:ea typeface="Calibri"/>
              <a:cs typeface="Calibri"/>
              <a:sym typeface="Calibri"/>
            </a:endParaRPr>
          </a:p>
        </p:txBody>
      </p:sp>
      <p:sp>
        <p:nvSpPr>
          <p:cNvPr id="552" name="Google Shape;552;p39"/>
          <p:cNvSpPr/>
          <p:nvPr/>
        </p:nvSpPr>
        <p:spPr>
          <a:xfrm>
            <a:off x="6053435" y="389126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Using more than one tracer direction reduces ambiguity about which cells send and receive a projection. Tracer labeling nevertheless does not establish whether every anatomical connection is active during song, identify the transmitter at every terminal, or measure the temporal influence of a synapse on its target.</a:t>
            </a:r>
            <a:endParaRPr sz="1800">
              <a:solidFill>
                <a:schemeClr val="dk1"/>
              </a:solidFill>
              <a:latin typeface="Calibri"/>
              <a:ea typeface="Calibri"/>
              <a:cs typeface="Calibri"/>
              <a:sym typeface="Calibri"/>
            </a:endParaRPr>
          </a:p>
        </p:txBody>
      </p:sp>
      <p:pic>
        <p:nvPicPr>
          <p:cNvPr id="553" name="Google Shape;553;p39"/>
          <p:cNvPicPr preferRelativeResize="0"/>
          <p:nvPr/>
        </p:nvPicPr>
        <p:blipFill rotWithShape="1">
          <a:blip r:embed="rId3">
            <a:alphaModFix/>
          </a:blip>
          <a:srcRect b="0" l="0" r="0" t="0"/>
          <a:stretch/>
        </p:blipFill>
        <p:spPr>
          <a:xfrm>
            <a:off x="567017" y="1280071"/>
            <a:ext cx="5120468" cy="4242792"/>
          </a:xfrm>
          <a:prstGeom prst="rect">
            <a:avLst/>
          </a:prstGeom>
          <a:noFill/>
          <a:ln>
            <a:noFill/>
          </a:ln>
        </p:spPr>
      </p:pic>
      <p:sp>
        <p:nvSpPr>
          <p:cNvPr id="554" name="Google Shape;554;p39"/>
          <p:cNvSpPr/>
          <p:nvPr/>
        </p:nvSpPr>
        <p:spPr>
          <a:xfrm>
            <a:off x="566886" y="5614392"/>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Vates &amp; Nottebohm (1995), Fig. 3(a–e). Tracer labeling linking LMAN, Area X, and RA.</a:t>
            </a:r>
            <a:endParaRPr sz="1800">
              <a:solidFill>
                <a:schemeClr val="dk1"/>
              </a:solidFill>
              <a:latin typeface="Calibri"/>
              <a:ea typeface="Calibri"/>
              <a:cs typeface="Calibri"/>
              <a:sym typeface="Calibri"/>
            </a:endParaRPr>
          </a:p>
        </p:txBody>
      </p:sp>
      <p:sp>
        <p:nvSpPr>
          <p:cNvPr id="555" name="Google Shape;555;p39"/>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Vates &amp; Nottebohm (1995)</a:t>
            </a:r>
            <a:endParaRPr sz="1800">
              <a:solidFill>
                <a:schemeClr val="dk1"/>
              </a:solidFill>
              <a:latin typeface="Calibri"/>
              <a:ea typeface="Calibri"/>
              <a:cs typeface="Calibri"/>
              <a:sym typeface="Calibri"/>
            </a:endParaRPr>
          </a:p>
        </p:txBody>
      </p:sp>
      <p:sp>
        <p:nvSpPr>
          <p:cNvPr id="557" name="Google Shape;557;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1" name="Shape 561"/>
        <p:cNvGrpSpPr/>
        <p:nvPr/>
      </p:nvGrpSpPr>
      <p:grpSpPr>
        <a:xfrm>
          <a:off x="0" y="0"/>
          <a:ext cx="0" cy="0"/>
          <a:chOff x="0" y="0"/>
          <a:chExt cx="0" cy="0"/>
        </a:xfrm>
      </p:grpSpPr>
      <p:sp>
        <p:nvSpPr>
          <p:cNvPr id="562" name="Google Shape;562;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Some LMAN neurons send output to both RA and Area X</a:t>
            </a:r>
            <a:endParaRPr sz="1800">
              <a:solidFill>
                <a:schemeClr val="dk1"/>
              </a:solidFill>
              <a:latin typeface="Calibri"/>
              <a:ea typeface="Calibri"/>
              <a:cs typeface="Calibri"/>
              <a:sym typeface="Calibri"/>
            </a:endParaRPr>
          </a:p>
        </p:txBody>
      </p:sp>
      <p:sp>
        <p:nvSpPr>
          <p:cNvPr id="563" name="Google Shape;563;p40"/>
          <p:cNvSpPr/>
          <p:nvPr/>
        </p:nvSpPr>
        <p:spPr>
          <a:xfrm>
            <a:off x="566886" y="1234380"/>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Vates and Nottebohm placed different retrograde tracers in RA and Area X to ask whether the two projections originated from separate LMAN populations. Neurons containing both labels were identified within LMAN, providing evidence of output toward both targets from individual cells.</a:t>
            </a:r>
            <a:endParaRPr sz="1800">
              <a:solidFill>
                <a:schemeClr val="dk1"/>
              </a:solidFill>
              <a:latin typeface="Calibri"/>
              <a:ea typeface="Calibri"/>
              <a:cs typeface="Calibri"/>
              <a:sym typeface="Calibri"/>
            </a:endParaRPr>
          </a:p>
        </p:txBody>
      </p:sp>
      <p:sp>
        <p:nvSpPr>
          <p:cNvPr id="564" name="Google Shape;564;p40"/>
          <p:cNvSpPr/>
          <p:nvPr/>
        </p:nvSpPr>
        <p:spPr>
          <a:xfrm>
            <a:off x="566886" y="2672507"/>
            <a:ext cx="52247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This result is more specific than overlapping terminal fields: it links the two target regions to a shared projecting neuron. A neuron with branching output can influence RA motor circuitry while also returning activity to the anterior forebrain loop through Area X.</a:t>
            </a:r>
            <a:endParaRPr sz="1800">
              <a:solidFill>
                <a:schemeClr val="dk1"/>
              </a:solidFill>
              <a:latin typeface="Calibri"/>
              <a:ea typeface="Calibri"/>
              <a:cs typeface="Calibri"/>
              <a:sym typeface="Calibri"/>
            </a:endParaRPr>
          </a:p>
        </p:txBody>
      </p:sp>
      <p:sp>
        <p:nvSpPr>
          <p:cNvPr id="565" name="Google Shape;565;p40"/>
          <p:cNvSpPr/>
          <p:nvPr/>
        </p:nvSpPr>
        <p:spPr>
          <a:xfrm>
            <a:off x="566886" y="3891260"/>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Double labeling identifies anatomical collateralization, not the information carried by each branch. Uptake and transport efficiencies also limit interpretation of unlabeled cells, so failure to detect a second label in one neuron does not prove that all of its axonal branches avoid the other target.</a:t>
            </a:r>
            <a:endParaRPr sz="1800">
              <a:solidFill>
                <a:schemeClr val="dk1"/>
              </a:solidFill>
              <a:latin typeface="Calibri"/>
              <a:ea typeface="Calibri"/>
              <a:cs typeface="Calibri"/>
              <a:sym typeface="Calibri"/>
            </a:endParaRPr>
          </a:p>
        </p:txBody>
      </p:sp>
      <p:pic>
        <p:nvPicPr>
          <p:cNvPr id="566" name="Google Shape;566;p40"/>
          <p:cNvPicPr preferRelativeResize="0"/>
          <p:nvPr/>
        </p:nvPicPr>
        <p:blipFill rotWithShape="1">
          <a:blip r:embed="rId3">
            <a:alphaModFix/>
          </a:blip>
          <a:srcRect b="0" l="0" r="0" t="0"/>
          <a:stretch/>
        </p:blipFill>
        <p:spPr>
          <a:xfrm>
            <a:off x="6138569" y="1280071"/>
            <a:ext cx="5486094" cy="1876425"/>
          </a:xfrm>
          <a:prstGeom prst="rect">
            <a:avLst/>
          </a:prstGeom>
          <a:noFill/>
          <a:ln>
            <a:noFill/>
          </a:ln>
        </p:spPr>
      </p:pic>
      <p:sp>
        <p:nvSpPr>
          <p:cNvPr id="567" name="Google Shape;567;p40"/>
          <p:cNvSpPr/>
          <p:nvPr/>
        </p:nvSpPr>
        <p:spPr>
          <a:xfrm>
            <a:off x="6138416" y="324802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Vates &amp; Nottebohm (1995), Fig. 5(a–b). Two retrograde labels in LMAN neurons.</a:t>
            </a:r>
            <a:endParaRPr sz="1800">
              <a:solidFill>
                <a:schemeClr val="dk1"/>
              </a:solidFill>
              <a:latin typeface="Calibri"/>
              <a:ea typeface="Calibri"/>
              <a:cs typeface="Calibri"/>
              <a:sym typeface="Calibri"/>
            </a:endParaRPr>
          </a:p>
        </p:txBody>
      </p:sp>
      <p:pic>
        <p:nvPicPr>
          <p:cNvPr id="568" name="Google Shape;568;p40"/>
          <p:cNvPicPr preferRelativeResize="0"/>
          <p:nvPr/>
        </p:nvPicPr>
        <p:blipFill rotWithShape="1">
          <a:blip r:embed="rId4">
            <a:alphaModFix/>
          </a:blip>
          <a:srcRect b="0" l="0" r="0" t="0"/>
          <a:stretch/>
        </p:blipFill>
        <p:spPr>
          <a:xfrm>
            <a:off x="8507016" y="4754814"/>
            <a:ext cx="749201" cy="1005674"/>
          </a:xfrm>
          <a:prstGeom prst="rect">
            <a:avLst/>
          </a:prstGeom>
          <a:noFill/>
          <a:ln>
            <a:noFill/>
          </a:ln>
        </p:spPr>
      </p:pic>
      <p:sp>
        <p:nvSpPr>
          <p:cNvPr id="569" name="Google Shape;569;p40"/>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Vates &amp; Nottebohm (1995), Fig. 4(a–f). Injection sites and retrogradely labeled LMAN cells.</a:t>
            </a:r>
            <a:endParaRPr sz="1800">
              <a:solidFill>
                <a:schemeClr val="dk1"/>
              </a:solidFill>
              <a:latin typeface="Calibri"/>
              <a:ea typeface="Calibri"/>
              <a:cs typeface="Calibri"/>
              <a:sym typeface="Calibri"/>
            </a:endParaRPr>
          </a:p>
        </p:txBody>
      </p:sp>
      <p:sp>
        <p:nvSpPr>
          <p:cNvPr id="570" name="Google Shape;570;p40"/>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Vates &amp; Nottebohm (1995)</a:t>
            </a:r>
            <a:endParaRPr sz="1800">
              <a:solidFill>
                <a:schemeClr val="dk1"/>
              </a:solidFill>
              <a:latin typeface="Calibri"/>
              <a:ea typeface="Calibri"/>
              <a:cs typeface="Calibri"/>
              <a:sym typeface="Calibri"/>
            </a:endParaRPr>
          </a:p>
        </p:txBody>
      </p:sp>
      <p:sp>
        <p:nvSpPr>
          <p:cNvPr id="572" name="Google Shape;572;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41"/>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Adult LMAN neurons respond selectively to the bird's song</a:t>
            </a:r>
            <a:endParaRPr sz="1800">
              <a:solidFill>
                <a:schemeClr val="dk1"/>
              </a:solidFill>
              <a:latin typeface="Calibri"/>
              <a:ea typeface="Calibri"/>
              <a:cs typeface="Calibri"/>
              <a:sym typeface="Calibri"/>
            </a:endParaRPr>
          </a:p>
        </p:txBody>
      </p:sp>
      <p:sp>
        <p:nvSpPr>
          <p:cNvPr id="578" name="Google Shape;578;p41"/>
          <p:cNvSpPr/>
          <p:nvPr/>
        </p:nvSpPr>
        <p:spPr>
          <a:xfrm>
            <a:off x="6419255" y="1234380"/>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Doupe recorded extracellular spikes from LMAN while playing the bird's own song and comparison sounds to anesthetized adult zebra finches. A </a:t>
            </a:r>
            <a:r>
              <a:rPr b="1" i="0" lang="en-US" sz="1600">
                <a:solidFill>
                  <a:srgbClr val="405D72"/>
                </a:solidFill>
                <a:latin typeface="Arial"/>
                <a:ea typeface="Arial"/>
                <a:cs typeface="Arial"/>
                <a:sym typeface="Arial"/>
              </a:rPr>
              <a:t>raster plot</a:t>
            </a:r>
            <a:r>
              <a:rPr b="0" i="0" lang="en-US" sz="1600">
                <a:solidFill>
                  <a:srgbClr val="252E36"/>
                </a:solidFill>
                <a:latin typeface="Arial"/>
                <a:ea typeface="Arial"/>
                <a:cs typeface="Arial"/>
                <a:sym typeface="Arial"/>
              </a:rPr>
              <a:t> records individual spike times across repeated trials; averaging these trials yields the time-dependent firing-rate response.</a:t>
            </a:r>
            <a:endParaRPr sz="1800">
              <a:solidFill>
                <a:schemeClr val="dk1"/>
              </a:solidFill>
              <a:latin typeface="Calibri"/>
              <a:ea typeface="Calibri"/>
              <a:cs typeface="Calibri"/>
              <a:sym typeface="Calibri"/>
            </a:endParaRPr>
          </a:p>
        </p:txBody>
      </p:sp>
      <p:sp>
        <p:nvSpPr>
          <p:cNvPr id="579" name="Google Shape;579;p41"/>
          <p:cNvSpPr/>
          <p:nvPr/>
        </p:nvSpPr>
        <p:spPr>
          <a:xfrm>
            <a:off x="6419255" y="2672507"/>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Many neurons responded strongly to the bird's own song but weakly to other conspecific songs or simple acoustic stimuli. Comparisons with amplitude-modulated noise and tones tested whether a response could be explained by a generic sound-energy change alone.</a:t>
            </a:r>
            <a:endParaRPr sz="1800">
              <a:solidFill>
                <a:schemeClr val="dk1"/>
              </a:solidFill>
              <a:latin typeface="Calibri"/>
              <a:ea typeface="Calibri"/>
              <a:cs typeface="Calibri"/>
              <a:sym typeface="Calibri"/>
            </a:endParaRPr>
          </a:p>
        </p:txBody>
      </p:sp>
      <p:sp>
        <p:nvSpPr>
          <p:cNvPr id="580" name="Google Shape;580;p41"/>
          <p:cNvSpPr/>
          <p:nvPr/>
        </p:nvSpPr>
        <p:spPr>
          <a:xfrm>
            <a:off x="6419255" y="4110633"/>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 selectivity links an anterior forebrain nucleus with the acoustic structure of learned vocal behavior. Because these were playback responses under anesthesia, they do not establish that LMAN monitors song identically during awake singing or that the selective response is itself an error signal.</a:t>
            </a:r>
            <a:endParaRPr sz="1800">
              <a:solidFill>
                <a:schemeClr val="dk1"/>
              </a:solidFill>
              <a:latin typeface="Calibri"/>
              <a:ea typeface="Calibri"/>
              <a:cs typeface="Calibri"/>
              <a:sym typeface="Calibri"/>
            </a:endParaRPr>
          </a:p>
        </p:txBody>
      </p:sp>
      <p:pic>
        <p:nvPicPr>
          <p:cNvPr id="581" name="Google Shape;581;p41"/>
          <p:cNvPicPr preferRelativeResize="0"/>
          <p:nvPr/>
        </p:nvPicPr>
        <p:blipFill rotWithShape="1">
          <a:blip r:embed="rId3">
            <a:alphaModFix/>
          </a:blip>
          <a:srcRect b="0" l="0" r="0" t="0"/>
          <a:stretch/>
        </p:blipFill>
        <p:spPr>
          <a:xfrm>
            <a:off x="2762994" y="1280211"/>
            <a:ext cx="1094184" cy="2925681"/>
          </a:xfrm>
          <a:prstGeom prst="rect">
            <a:avLst/>
          </a:prstGeom>
          <a:noFill/>
          <a:ln>
            <a:noFill/>
          </a:ln>
        </p:spPr>
      </p:pic>
      <p:sp>
        <p:nvSpPr>
          <p:cNvPr id="582" name="Google Shape;582;p41"/>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Doupe (1997), Fig. 2(a–c). LMAN responses to self-song and comparison songs.</a:t>
            </a:r>
            <a:endParaRPr sz="1800">
              <a:solidFill>
                <a:schemeClr val="dk1"/>
              </a:solidFill>
              <a:latin typeface="Calibri"/>
              <a:ea typeface="Calibri"/>
              <a:cs typeface="Calibri"/>
              <a:sym typeface="Calibri"/>
            </a:endParaRPr>
          </a:p>
        </p:txBody>
      </p:sp>
      <p:pic>
        <p:nvPicPr>
          <p:cNvPr id="583" name="Google Shape;583;p41"/>
          <p:cNvPicPr preferRelativeResize="0"/>
          <p:nvPr/>
        </p:nvPicPr>
        <p:blipFill rotWithShape="1">
          <a:blip r:embed="rId4">
            <a:alphaModFix/>
          </a:blip>
          <a:srcRect b="0" l="0" r="0" t="0"/>
          <a:stretch/>
        </p:blipFill>
        <p:spPr>
          <a:xfrm>
            <a:off x="2513856" y="4754769"/>
            <a:ext cx="1592461" cy="1005765"/>
          </a:xfrm>
          <a:prstGeom prst="rect">
            <a:avLst/>
          </a:prstGeom>
          <a:noFill/>
          <a:ln>
            <a:noFill/>
          </a:ln>
        </p:spPr>
      </p:pic>
      <p:sp>
        <p:nvSpPr>
          <p:cNvPr id="584" name="Google Shape;584;p41"/>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585" name="Google Shape;585;p41"/>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Doupe (1997); Gale &amp; Perkel (2010a)</a:t>
            </a:r>
            <a:endParaRPr sz="1800">
              <a:solidFill>
                <a:schemeClr val="dk1"/>
              </a:solidFill>
              <a:latin typeface="Calibri"/>
              <a:ea typeface="Calibri"/>
              <a:cs typeface="Calibri"/>
              <a:sym typeface="Calibri"/>
            </a:endParaRPr>
          </a:p>
        </p:txBody>
      </p:sp>
      <p:sp>
        <p:nvSpPr>
          <p:cNvPr id="587" name="Google Shape;587;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1" name="Shape 591"/>
        <p:cNvGrpSpPr/>
        <p:nvPr/>
      </p:nvGrpSpPr>
      <p:grpSpPr>
        <a:xfrm>
          <a:off x="0" y="0"/>
          <a:ext cx="0" cy="0"/>
          <a:chOff x="0" y="0"/>
          <a:chExt cx="0" cy="0"/>
        </a:xfrm>
      </p:grpSpPr>
      <p:sp>
        <p:nvSpPr>
          <p:cNvPr id="592" name="Google Shape;592;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LMAN selectivity includes temporal order</a:t>
            </a:r>
            <a:endParaRPr sz="1800">
              <a:solidFill>
                <a:schemeClr val="dk1"/>
              </a:solidFill>
              <a:latin typeface="Calibri"/>
              <a:ea typeface="Calibri"/>
              <a:cs typeface="Calibri"/>
              <a:sym typeface="Calibri"/>
            </a:endParaRPr>
          </a:p>
        </p:txBody>
      </p:sp>
      <p:sp>
        <p:nvSpPr>
          <p:cNvPr id="593" name="Google Shape;593;p42"/>
          <p:cNvSpPr/>
          <p:nvPr/>
        </p:nvSpPr>
        <p:spPr>
          <a:xfrm>
            <a:off x="566886" y="1234380"/>
            <a:ext cx="52247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Doupe compared responses to intact song with altered versions in which the order or arrangement of song elements was changed. A </a:t>
            </a:r>
            <a:r>
              <a:rPr b="1" i="0" lang="en-US" sz="1500">
                <a:solidFill>
                  <a:srgbClr val="405D72"/>
                </a:solidFill>
                <a:latin typeface="Arial"/>
                <a:ea typeface="Arial"/>
                <a:cs typeface="Arial"/>
                <a:sym typeface="Arial"/>
              </a:rPr>
              <a:t>syllable</a:t>
            </a:r>
            <a:r>
              <a:rPr b="0" i="0" lang="en-US" sz="1500">
                <a:solidFill>
                  <a:srgbClr val="252E36"/>
                </a:solidFill>
                <a:latin typeface="Arial"/>
                <a:ea typeface="Arial"/>
                <a:cs typeface="Arial"/>
                <a:sym typeface="Arial"/>
              </a:rPr>
              <a:t> is a recognizable acoustic unit; reorganizing syllables preserves many local acoustic features while changing their temporal context.</a:t>
            </a:r>
            <a:endParaRPr sz="1800">
              <a:solidFill>
                <a:schemeClr val="dk1"/>
              </a:solidFill>
              <a:latin typeface="Calibri"/>
              <a:ea typeface="Calibri"/>
              <a:cs typeface="Calibri"/>
              <a:sym typeface="Calibri"/>
            </a:endParaRPr>
          </a:p>
        </p:txBody>
      </p:sp>
      <p:sp>
        <p:nvSpPr>
          <p:cNvPr id="594" name="Google Shape;594;p42"/>
          <p:cNvSpPr/>
          <p:nvPr/>
        </p:nvSpPr>
        <p:spPr>
          <a:xfrm>
            <a:off x="566886" y="2377083"/>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Some LMAN neurons responded more strongly to the normal sequence than to rearrangements or isolated combinations. Such comparisons tested whether selectivity depended only on an individual sound fragment or also on the relationship between fragments across time.</a:t>
            </a:r>
            <a:endParaRPr sz="1800">
              <a:solidFill>
                <a:schemeClr val="dk1"/>
              </a:solidFill>
              <a:latin typeface="Calibri"/>
              <a:ea typeface="Calibri"/>
              <a:cs typeface="Calibri"/>
              <a:sym typeface="Calibri"/>
            </a:endParaRPr>
          </a:p>
        </p:txBody>
      </p:sp>
      <p:sp>
        <p:nvSpPr>
          <p:cNvPr id="595" name="Google Shape;595;p42"/>
          <p:cNvSpPr/>
          <p:nvPr/>
        </p:nvSpPr>
        <p:spPr>
          <a:xfrm>
            <a:off x="566886" y="3725466"/>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Temporal-order sensitivity is consistent with integration of a learned sequence rather than detection of a single frequency alone. It does not identify a complete synaptic mechanism for the selectivity, and responses to experimental rearrangements cannot by themselves distinguish recognition, prediction, and vocal-learning functions in the behaving animal.</a:t>
            </a:r>
            <a:endParaRPr sz="1800">
              <a:solidFill>
                <a:schemeClr val="dk1"/>
              </a:solidFill>
              <a:latin typeface="Calibri"/>
              <a:ea typeface="Calibri"/>
              <a:cs typeface="Calibri"/>
              <a:sym typeface="Calibri"/>
            </a:endParaRPr>
          </a:p>
        </p:txBody>
      </p:sp>
      <p:pic>
        <p:nvPicPr>
          <p:cNvPr id="596" name="Google Shape;596;p42"/>
          <p:cNvPicPr preferRelativeResize="0"/>
          <p:nvPr/>
        </p:nvPicPr>
        <p:blipFill rotWithShape="1">
          <a:blip r:embed="rId3">
            <a:alphaModFix/>
          </a:blip>
          <a:srcRect b="0" l="0" r="0" t="0"/>
          <a:stretch/>
        </p:blipFill>
        <p:spPr>
          <a:xfrm>
            <a:off x="7695961" y="1280071"/>
            <a:ext cx="2371607" cy="2925961"/>
          </a:xfrm>
          <a:prstGeom prst="rect">
            <a:avLst/>
          </a:prstGeom>
          <a:noFill/>
          <a:ln>
            <a:noFill/>
          </a:ln>
        </p:spPr>
      </p:pic>
      <p:sp>
        <p:nvSpPr>
          <p:cNvPr id="597" name="Google Shape;597;p42"/>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Doupe (1997), Fig. 7(a–g). Responses to combinations of song syllables.</a:t>
            </a:r>
            <a:endParaRPr sz="1800">
              <a:solidFill>
                <a:schemeClr val="dk1"/>
              </a:solidFill>
              <a:latin typeface="Calibri"/>
              <a:ea typeface="Calibri"/>
              <a:cs typeface="Calibri"/>
              <a:sym typeface="Calibri"/>
            </a:endParaRPr>
          </a:p>
        </p:txBody>
      </p:sp>
      <p:pic>
        <p:nvPicPr>
          <p:cNvPr id="598" name="Google Shape;598;p42"/>
          <p:cNvPicPr preferRelativeResize="0"/>
          <p:nvPr/>
        </p:nvPicPr>
        <p:blipFill rotWithShape="1">
          <a:blip r:embed="rId4">
            <a:alphaModFix/>
          </a:blip>
          <a:srcRect b="0" l="0" r="0" t="0"/>
          <a:stretch/>
        </p:blipFill>
        <p:spPr>
          <a:xfrm>
            <a:off x="8085386" y="4754769"/>
            <a:ext cx="1592461" cy="1005765"/>
          </a:xfrm>
          <a:prstGeom prst="rect">
            <a:avLst/>
          </a:prstGeom>
          <a:noFill/>
          <a:ln>
            <a:noFill/>
          </a:ln>
        </p:spPr>
      </p:pic>
      <p:sp>
        <p:nvSpPr>
          <p:cNvPr id="599" name="Google Shape;599;p42"/>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600" name="Google Shape;600;p42"/>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Doupe (1997); Gale &amp; Perkel (2010a)</a:t>
            </a:r>
            <a:endParaRPr sz="1800">
              <a:solidFill>
                <a:schemeClr val="dk1"/>
              </a:solidFill>
              <a:latin typeface="Calibri"/>
              <a:ea typeface="Calibri"/>
              <a:cs typeface="Calibri"/>
              <a:sym typeface="Calibri"/>
            </a:endParaRPr>
          </a:p>
        </p:txBody>
      </p:sp>
      <p:sp>
        <p:nvSpPr>
          <p:cNvPr id="602" name="Google Shape;602;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6" name="Shape 606"/>
        <p:cNvGrpSpPr/>
        <p:nvPr/>
      </p:nvGrpSpPr>
      <p:grpSpPr>
        <a:xfrm>
          <a:off x="0" y="0"/>
          <a:ext cx="0" cy="0"/>
          <a:chOff x="0" y="0"/>
          <a:chExt cx="0" cy="0"/>
        </a:xfrm>
      </p:grpSpPr>
      <p:sp>
        <p:nvSpPr>
          <p:cNvPr id="607" name="Google Shape;607;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Area X also carries song-selective auditory responses</a:t>
            </a:r>
            <a:endParaRPr sz="1800">
              <a:solidFill>
                <a:schemeClr val="dk1"/>
              </a:solidFill>
              <a:latin typeface="Calibri"/>
              <a:ea typeface="Calibri"/>
              <a:cs typeface="Calibri"/>
              <a:sym typeface="Calibri"/>
            </a:endParaRPr>
          </a:p>
        </p:txBody>
      </p:sp>
      <p:sp>
        <p:nvSpPr>
          <p:cNvPr id="608" name="Google Shape;608;p43"/>
          <p:cNvSpPr/>
          <p:nvPr/>
        </p:nvSpPr>
        <p:spPr>
          <a:xfrm>
            <a:off x="6419255" y="1234380"/>
            <a:ext cx="522476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Doupe recorded auditory responses in Area X using the bird's own song, reversed song, and songs from other zebra finches. Comparing multiple stimuli within the same neuron controlled for differences in overall excitability between cells and recording sites.</a:t>
            </a:r>
            <a:endParaRPr sz="1800">
              <a:solidFill>
                <a:schemeClr val="dk1"/>
              </a:solidFill>
              <a:latin typeface="Calibri"/>
              <a:ea typeface="Calibri"/>
              <a:cs typeface="Calibri"/>
              <a:sym typeface="Calibri"/>
            </a:endParaRPr>
          </a:p>
        </p:txBody>
      </p:sp>
      <p:sp>
        <p:nvSpPr>
          <p:cNvPr id="609" name="Google Shape;609;p43"/>
          <p:cNvSpPr/>
          <p:nvPr/>
        </p:nvSpPr>
        <p:spPr>
          <a:xfrm>
            <a:off x="6419255" y="2453134"/>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Area X neurons exhibited selective responses to familiar self-song, with responses influenced by the temporal structure of the playback. Auditory selectivity was therefore present within the basal ganglia portion of the anterior forebrain pathway, rather than being restricted to its LMAN output.</a:t>
            </a:r>
            <a:endParaRPr sz="1800">
              <a:solidFill>
                <a:schemeClr val="dk1"/>
              </a:solidFill>
              <a:latin typeface="Calibri"/>
              <a:ea typeface="Calibri"/>
              <a:cs typeface="Calibri"/>
              <a:sym typeface="Calibri"/>
            </a:endParaRPr>
          </a:p>
        </p:txBody>
      </p:sp>
      <p:sp>
        <p:nvSpPr>
          <p:cNvPr id="610" name="Google Shape;610;p43"/>
          <p:cNvSpPr/>
          <p:nvPr/>
        </p:nvSpPr>
        <p:spPr>
          <a:xfrm>
            <a:off x="6419255" y="3891260"/>
            <a:ext cx="522476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These findings establish sensory responsiveness in a song-related circuit but do not equate Area X with an auditory storage site. The extracellular recording does not identify every neuron's cell class, and the anesthetized playback preparation differs from the sensory and motor conditions during natural courtship song.</a:t>
            </a:r>
            <a:endParaRPr sz="1800">
              <a:solidFill>
                <a:schemeClr val="dk1"/>
              </a:solidFill>
              <a:latin typeface="Calibri"/>
              <a:ea typeface="Calibri"/>
              <a:cs typeface="Calibri"/>
              <a:sym typeface="Calibri"/>
            </a:endParaRPr>
          </a:p>
        </p:txBody>
      </p:sp>
      <p:pic>
        <p:nvPicPr>
          <p:cNvPr id="611" name="Google Shape;611;p43"/>
          <p:cNvPicPr preferRelativeResize="0"/>
          <p:nvPr/>
        </p:nvPicPr>
        <p:blipFill rotWithShape="1">
          <a:blip r:embed="rId3">
            <a:alphaModFix/>
          </a:blip>
          <a:srcRect b="0" l="0" r="0" t="0"/>
          <a:stretch/>
        </p:blipFill>
        <p:spPr>
          <a:xfrm>
            <a:off x="1638333" y="1280071"/>
            <a:ext cx="3343656" cy="2925961"/>
          </a:xfrm>
          <a:prstGeom prst="rect">
            <a:avLst/>
          </a:prstGeom>
          <a:noFill/>
          <a:ln>
            <a:noFill/>
          </a:ln>
        </p:spPr>
      </p:pic>
      <p:sp>
        <p:nvSpPr>
          <p:cNvPr id="612" name="Google Shape;612;p43"/>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Doupe (1997), Fig. 9(a–d). Song-selective auditory responses in Area X.</a:t>
            </a:r>
            <a:endParaRPr sz="1800">
              <a:solidFill>
                <a:schemeClr val="dk1"/>
              </a:solidFill>
              <a:latin typeface="Calibri"/>
              <a:ea typeface="Calibri"/>
              <a:cs typeface="Calibri"/>
              <a:sym typeface="Calibri"/>
            </a:endParaRPr>
          </a:p>
        </p:txBody>
      </p:sp>
      <p:pic>
        <p:nvPicPr>
          <p:cNvPr id="613" name="Google Shape;613;p43"/>
          <p:cNvPicPr preferRelativeResize="0"/>
          <p:nvPr/>
        </p:nvPicPr>
        <p:blipFill rotWithShape="1">
          <a:blip r:embed="rId4">
            <a:alphaModFix/>
          </a:blip>
          <a:srcRect b="0" l="0" r="0" t="0"/>
          <a:stretch/>
        </p:blipFill>
        <p:spPr>
          <a:xfrm>
            <a:off x="2513856" y="4754769"/>
            <a:ext cx="1592461" cy="1005765"/>
          </a:xfrm>
          <a:prstGeom prst="rect">
            <a:avLst/>
          </a:prstGeom>
          <a:noFill/>
          <a:ln>
            <a:noFill/>
          </a:ln>
        </p:spPr>
      </p:pic>
      <p:sp>
        <p:nvSpPr>
          <p:cNvPr id="614" name="Google Shape;614;p43"/>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615" name="Google Shape;615;p43"/>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Doupe (1997); Gale &amp; Perkel (2010a)</a:t>
            </a:r>
            <a:endParaRPr sz="1800">
              <a:solidFill>
                <a:schemeClr val="dk1"/>
              </a:solidFill>
              <a:latin typeface="Calibri"/>
              <a:ea typeface="Calibri"/>
              <a:cs typeface="Calibri"/>
              <a:sym typeface="Calibri"/>
            </a:endParaRPr>
          </a:p>
        </p:txBody>
      </p:sp>
      <p:sp>
        <p:nvSpPr>
          <p:cNvPr id="617" name="Google Shape;617;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1" name="Shape 621"/>
        <p:cNvGrpSpPr/>
        <p:nvPr/>
      </p:nvGrpSpPr>
      <p:grpSpPr>
        <a:xfrm>
          <a:off x="0" y="0"/>
          <a:ext cx="0" cy="0"/>
          <a:chOff x="0" y="0"/>
          <a:chExt cx="0" cy="0"/>
        </a:xfrm>
      </p:grpSpPr>
      <p:sp>
        <p:nvSpPr>
          <p:cNvPr id="622" name="Google Shape;622;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Cell labeling identifies dopaminergic midbrain neurons</a:t>
            </a:r>
            <a:endParaRPr sz="1800">
              <a:solidFill>
                <a:schemeClr val="dk1"/>
              </a:solidFill>
              <a:latin typeface="Calibri"/>
              <a:ea typeface="Calibri"/>
              <a:cs typeface="Calibri"/>
              <a:sym typeface="Calibri"/>
            </a:endParaRPr>
          </a:p>
        </p:txBody>
      </p:sp>
      <p:sp>
        <p:nvSpPr>
          <p:cNvPr id="623" name="Google Shape;623;p44"/>
          <p:cNvSpPr/>
          <p:nvPr/>
        </p:nvSpPr>
        <p:spPr>
          <a:xfrm>
            <a:off x="566886" y="1234380"/>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Gale and Perkel recorded neurons in the substantia nigra pars compacta and ventral tegmental area, </a:t>
            </a:r>
            <a:r>
              <a:rPr b="1" i="0" lang="en-US" sz="1600">
                <a:solidFill>
                  <a:srgbClr val="405D72"/>
                </a:solidFill>
                <a:latin typeface="Arial"/>
                <a:ea typeface="Arial"/>
                <a:cs typeface="Arial"/>
                <a:sym typeface="Arial"/>
              </a:rPr>
              <a:t>SNc/VTA</a:t>
            </a:r>
            <a:r>
              <a:rPr b="0" i="0" lang="en-US" sz="1600">
                <a:solidFill>
                  <a:srgbClr val="252E36"/>
                </a:solidFill>
                <a:latin typeface="Arial"/>
                <a:ea typeface="Arial"/>
                <a:cs typeface="Arial"/>
                <a:sym typeface="Arial"/>
              </a:rPr>
              <a:t>, while testing auditory responses. These midbrain regions provide dopaminergic input to Area X, but recording location alone does not establish a neuron's transmitter identity.</a:t>
            </a:r>
            <a:endParaRPr sz="1800">
              <a:solidFill>
                <a:schemeClr val="dk1"/>
              </a:solidFill>
              <a:latin typeface="Calibri"/>
              <a:ea typeface="Calibri"/>
              <a:cs typeface="Calibri"/>
              <a:sym typeface="Calibri"/>
            </a:endParaRPr>
          </a:p>
        </p:txBody>
      </p:sp>
      <p:sp>
        <p:nvSpPr>
          <p:cNvPr id="624" name="Google Shape;624;p44"/>
          <p:cNvSpPr/>
          <p:nvPr/>
        </p:nvSpPr>
        <p:spPr>
          <a:xfrm>
            <a:off x="566886" y="2672507"/>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They combined spike measurements with juxtacellular labeling and immunostaining for </a:t>
            </a:r>
            <a:r>
              <a:rPr b="1" i="0" lang="en-US" sz="1600">
                <a:solidFill>
                  <a:srgbClr val="405D72"/>
                </a:solidFill>
                <a:latin typeface="Arial"/>
                <a:ea typeface="Arial"/>
                <a:cs typeface="Arial"/>
                <a:sym typeface="Arial"/>
              </a:rPr>
              <a:t>tyrosine hydroxylase</a:t>
            </a:r>
            <a:r>
              <a:rPr b="0" i="0" lang="en-US" sz="1600">
                <a:solidFill>
                  <a:srgbClr val="252E36"/>
                </a:solidFill>
                <a:latin typeface="Arial"/>
                <a:ea typeface="Arial"/>
                <a:cs typeface="Arial"/>
                <a:sym typeface="Arial"/>
              </a:rPr>
              <a:t>, an enzyme involved in catecholamine synthesis. Labeled cells with the marker provided an anatomical and biochemical check on the classification based on firing properties.</a:t>
            </a:r>
            <a:endParaRPr sz="1800">
              <a:solidFill>
                <a:schemeClr val="dk1"/>
              </a:solidFill>
              <a:latin typeface="Calibri"/>
              <a:ea typeface="Calibri"/>
              <a:cs typeface="Calibri"/>
              <a:sym typeface="Calibri"/>
            </a:endParaRPr>
          </a:p>
        </p:txBody>
      </p:sp>
      <p:sp>
        <p:nvSpPr>
          <p:cNvPr id="625" name="Google Shape;625;p44"/>
          <p:cNvSpPr/>
          <p:nvPr/>
        </p:nvSpPr>
        <p:spPr>
          <a:xfrm>
            <a:off x="566886" y="4110633"/>
            <a:ext cx="522476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600"/>
              <a:buFont typeface="Arial"/>
              <a:buNone/>
            </a:pPr>
            <a:r>
              <a:rPr b="0" i="0" lang="en-US" sz="1600">
                <a:solidFill>
                  <a:srgbClr val="252E36"/>
                </a:solidFill>
                <a:latin typeface="Arial"/>
                <a:ea typeface="Arial"/>
                <a:cs typeface="Arial"/>
                <a:sym typeface="Arial"/>
              </a:rPr>
              <a:t>The fluorescent micrographs retain 20 µm scale bars and connect a recorded cell with its tissue identity. Marker-positive cells support the dopaminergic interpretation in this preparation, but a waveform criterion alone remains less specific than identifying the recorded neuron histologically.</a:t>
            </a:r>
            <a:endParaRPr sz="1800">
              <a:solidFill>
                <a:schemeClr val="dk1"/>
              </a:solidFill>
              <a:latin typeface="Calibri"/>
              <a:ea typeface="Calibri"/>
              <a:cs typeface="Calibri"/>
              <a:sym typeface="Calibri"/>
            </a:endParaRPr>
          </a:p>
        </p:txBody>
      </p:sp>
      <p:pic>
        <p:nvPicPr>
          <p:cNvPr id="626" name="Google Shape;626;p44"/>
          <p:cNvPicPr preferRelativeResize="0"/>
          <p:nvPr/>
        </p:nvPicPr>
        <p:blipFill rotWithShape="1">
          <a:blip r:embed="rId3">
            <a:alphaModFix/>
          </a:blip>
          <a:srcRect b="0" l="0" r="0" t="0"/>
          <a:stretch/>
        </p:blipFill>
        <p:spPr>
          <a:xfrm>
            <a:off x="7660358" y="1280071"/>
            <a:ext cx="2442666" cy="2925961"/>
          </a:xfrm>
          <a:prstGeom prst="rect">
            <a:avLst/>
          </a:prstGeom>
          <a:noFill/>
          <a:ln>
            <a:noFill/>
          </a:ln>
        </p:spPr>
      </p:pic>
      <p:sp>
        <p:nvSpPr>
          <p:cNvPr id="627" name="Google Shape;627;p44"/>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4(A–F). Recorded cell labeling and transmitter-marker staining.</a:t>
            </a:r>
            <a:endParaRPr sz="1800">
              <a:solidFill>
                <a:schemeClr val="dk1"/>
              </a:solidFill>
              <a:latin typeface="Calibri"/>
              <a:ea typeface="Calibri"/>
              <a:cs typeface="Calibri"/>
              <a:sym typeface="Calibri"/>
            </a:endParaRPr>
          </a:p>
        </p:txBody>
      </p:sp>
      <p:pic>
        <p:nvPicPr>
          <p:cNvPr id="628" name="Google Shape;628;p44"/>
          <p:cNvPicPr preferRelativeResize="0"/>
          <p:nvPr/>
        </p:nvPicPr>
        <p:blipFill rotWithShape="1">
          <a:blip r:embed="rId4">
            <a:alphaModFix/>
          </a:blip>
          <a:srcRect b="0" l="0" r="0" t="0"/>
          <a:stretch/>
        </p:blipFill>
        <p:spPr>
          <a:xfrm>
            <a:off x="8085386" y="4754769"/>
            <a:ext cx="1592461" cy="1005765"/>
          </a:xfrm>
          <a:prstGeom prst="rect">
            <a:avLst/>
          </a:prstGeom>
          <a:noFill/>
          <a:ln>
            <a:noFill/>
          </a:ln>
        </p:spPr>
      </p:pic>
      <p:sp>
        <p:nvSpPr>
          <p:cNvPr id="629" name="Google Shape;629;p44"/>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630" name="Google Shape;630;p44"/>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Gale &amp; Perkel (2010a)</a:t>
            </a:r>
            <a:endParaRPr sz="1800">
              <a:solidFill>
                <a:schemeClr val="dk1"/>
              </a:solidFill>
              <a:latin typeface="Calibri"/>
              <a:ea typeface="Calibri"/>
              <a:cs typeface="Calibri"/>
              <a:sym typeface="Calibri"/>
            </a:endParaRPr>
          </a:p>
        </p:txBody>
      </p:sp>
      <p:sp>
        <p:nvSpPr>
          <p:cNvPr id="632" name="Google Shape;632;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6" name="Shape 636"/>
        <p:cNvGrpSpPr/>
        <p:nvPr/>
      </p:nvGrpSpPr>
      <p:grpSpPr>
        <a:xfrm>
          <a:off x="0" y="0"/>
          <a:ext cx="0" cy="0"/>
          <a:chOff x="0" y="0"/>
          <a:chExt cx="0" cy="0"/>
        </a:xfrm>
      </p:grpSpPr>
      <p:sp>
        <p:nvSpPr>
          <p:cNvPr id="637" name="Google Shape;637;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Area X activity can disinhibit dopaminergic neurons</a:t>
            </a:r>
            <a:endParaRPr sz="1800">
              <a:solidFill>
                <a:schemeClr val="dk1"/>
              </a:solidFill>
              <a:latin typeface="Calibri"/>
              <a:ea typeface="Calibri"/>
              <a:cs typeface="Calibri"/>
              <a:sym typeface="Calibri"/>
            </a:endParaRPr>
          </a:p>
        </p:txBody>
      </p:sp>
      <p:sp>
        <p:nvSpPr>
          <p:cNvPr id="638" name="Google Shape;638;p45"/>
          <p:cNvSpPr/>
          <p:nvPr/>
        </p:nvSpPr>
        <p:spPr>
          <a:xfrm>
            <a:off x="6419255" y="1234380"/>
            <a:ext cx="52247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500"/>
              <a:buFont typeface="Arial"/>
              <a:buNone/>
            </a:pPr>
            <a:r>
              <a:rPr b="1" i="0" lang="en-US" sz="1500">
                <a:solidFill>
                  <a:srgbClr val="405D72"/>
                </a:solidFill>
                <a:latin typeface="Arial"/>
                <a:ea typeface="Arial"/>
                <a:cs typeface="Arial"/>
                <a:sym typeface="Arial"/>
              </a:rPr>
              <a:t>Disinhibition</a:t>
            </a:r>
            <a:r>
              <a:rPr b="0" i="0" lang="en-US" sz="1500">
                <a:solidFill>
                  <a:srgbClr val="252E36"/>
                </a:solidFill>
                <a:latin typeface="Arial"/>
                <a:ea typeface="Arial"/>
                <a:cs typeface="Arial"/>
                <a:sym typeface="Arial"/>
              </a:rPr>
              <a:t> is increased activity caused by reducing inhibitory input. Gale and Perkel found that song playback excited Area X neurons, inhibited neurons in the ventral pallidum, and excited identified dopaminergic SNc/VTA neurons, consistent with a serial inhibitory pathway.</a:t>
            </a:r>
            <a:endParaRPr sz="1800">
              <a:solidFill>
                <a:schemeClr val="dk1"/>
              </a:solidFill>
              <a:latin typeface="Calibri"/>
              <a:ea typeface="Calibri"/>
              <a:cs typeface="Calibri"/>
              <a:sym typeface="Calibri"/>
            </a:endParaRPr>
          </a:p>
        </p:txBody>
      </p:sp>
      <p:sp>
        <p:nvSpPr>
          <p:cNvPr id="639" name="Google Shape;639;p45"/>
          <p:cNvSpPr/>
          <p:nvPr/>
        </p:nvSpPr>
        <p:spPr>
          <a:xfrm>
            <a:off x="6419255" y="2377083"/>
            <a:ext cx="522476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Activating Area X with glutamate increased downstream dopaminergic firing, whereas GABA injection reduced it. Blocking AMPA and NMDA receptors in Area X diminished song-evoked dopaminergic responses; vehicle injections provided a control for the injection procedure.</a:t>
            </a:r>
            <a:endParaRPr sz="1800">
              <a:solidFill>
                <a:schemeClr val="dk1"/>
              </a:solidFill>
              <a:latin typeface="Calibri"/>
              <a:ea typeface="Calibri"/>
              <a:cs typeface="Calibri"/>
              <a:sym typeface="Calibri"/>
            </a:endParaRPr>
          </a:p>
        </p:txBody>
      </p:sp>
      <p:sp>
        <p:nvSpPr>
          <p:cNvPr id="640" name="Google Shape;640;p45"/>
          <p:cNvSpPr/>
          <p:nvPr/>
        </p:nvSpPr>
        <p:spPr>
          <a:xfrm>
            <a:off x="6419255" y="3519785"/>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E36"/>
              </a:buClr>
              <a:buSzPts val="1500"/>
              <a:buFont typeface="Arial"/>
              <a:buNone/>
            </a:pPr>
            <a:r>
              <a:rPr b="0" i="0" lang="en-US" sz="1500">
                <a:solidFill>
                  <a:srgbClr val="252E36"/>
                </a:solidFill>
                <a:latin typeface="Arial"/>
                <a:ea typeface="Arial"/>
                <a:cs typeface="Arial"/>
                <a:sym typeface="Arial"/>
              </a:rPr>
              <a:t>The convergent recordings and interventions support a route through which song-related forebrain activity regulates its own dopamine supply. They do not establish that every evoked dopamine response encodes reward prediction or a vocal error; the experiments tested auditory responsiveness and circuit influence rather than a complete learning algorithm.</a:t>
            </a:r>
            <a:endParaRPr sz="1800">
              <a:solidFill>
                <a:schemeClr val="dk1"/>
              </a:solidFill>
              <a:latin typeface="Calibri"/>
              <a:ea typeface="Calibri"/>
              <a:cs typeface="Calibri"/>
              <a:sym typeface="Calibri"/>
            </a:endParaRPr>
          </a:p>
        </p:txBody>
      </p:sp>
      <p:pic>
        <p:nvPicPr>
          <p:cNvPr id="641" name="Google Shape;641;p45"/>
          <p:cNvPicPr preferRelativeResize="0"/>
          <p:nvPr/>
        </p:nvPicPr>
        <p:blipFill rotWithShape="1">
          <a:blip r:embed="rId3">
            <a:alphaModFix/>
          </a:blip>
          <a:srcRect b="0" l="0" r="0" t="0"/>
          <a:stretch/>
        </p:blipFill>
        <p:spPr>
          <a:xfrm>
            <a:off x="2390031" y="1280100"/>
            <a:ext cx="1840111" cy="2925902"/>
          </a:xfrm>
          <a:prstGeom prst="rect">
            <a:avLst/>
          </a:prstGeom>
          <a:noFill/>
          <a:ln>
            <a:noFill/>
          </a:ln>
        </p:spPr>
      </p:pic>
      <p:sp>
        <p:nvSpPr>
          <p:cNvPr id="642" name="Google Shape;642;p45"/>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8(A–H). Area X drug injections alter midbrain firing.</a:t>
            </a:r>
            <a:endParaRPr sz="1800">
              <a:solidFill>
                <a:schemeClr val="dk1"/>
              </a:solidFill>
              <a:latin typeface="Calibri"/>
              <a:ea typeface="Calibri"/>
              <a:cs typeface="Calibri"/>
              <a:sym typeface="Calibri"/>
            </a:endParaRPr>
          </a:p>
        </p:txBody>
      </p:sp>
      <p:pic>
        <p:nvPicPr>
          <p:cNvPr id="643" name="Google Shape;643;p45"/>
          <p:cNvPicPr preferRelativeResize="0"/>
          <p:nvPr/>
        </p:nvPicPr>
        <p:blipFill rotWithShape="1">
          <a:blip r:embed="rId4">
            <a:alphaModFix/>
          </a:blip>
          <a:srcRect b="0" l="0" r="0" t="0"/>
          <a:stretch/>
        </p:blipFill>
        <p:spPr>
          <a:xfrm>
            <a:off x="2513856" y="4754769"/>
            <a:ext cx="1592461" cy="1005765"/>
          </a:xfrm>
          <a:prstGeom prst="rect">
            <a:avLst/>
          </a:prstGeom>
          <a:noFill/>
          <a:ln>
            <a:noFill/>
          </a:ln>
        </p:spPr>
      </p:pic>
      <p:sp>
        <p:nvSpPr>
          <p:cNvPr id="644" name="Google Shape;644;p45"/>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645" name="Google Shape;645;p45"/>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Gale &amp; Perkel (2010a)</a:t>
            </a:r>
            <a:endParaRPr sz="1800">
              <a:solidFill>
                <a:schemeClr val="dk1"/>
              </a:solidFill>
              <a:latin typeface="Calibri"/>
              <a:ea typeface="Calibri"/>
              <a:cs typeface="Calibri"/>
              <a:sym typeface="Calibri"/>
            </a:endParaRPr>
          </a:p>
        </p:txBody>
      </p:sp>
      <p:sp>
        <p:nvSpPr>
          <p:cNvPr id="647" name="Google Shape;647;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1" name="Shape 651"/>
        <p:cNvGrpSpPr/>
        <p:nvPr/>
      </p:nvGrpSpPr>
      <p:grpSpPr>
        <a:xfrm>
          <a:off x="0" y="0"/>
          <a:ext cx="0" cy="0"/>
          <a:chOff x="0" y="0"/>
          <a:chExt cx="0" cy="0"/>
        </a:xfrm>
      </p:grpSpPr>
      <p:sp>
        <p:nvSpPr>
          <p:cNvPr id="652" name="Google Shape;652;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53" name="Google Shape;653;p46"/>
          <p:cNvSpPr/>
          <p:nvPr/>
        </p:nvSpPr>
        <p:spPr>
          <a:xfrm>
            <a:off x="566886" y="1234380"/>
            <a:ext cx="5391894" cy="1478161"/>
          </a:xfrm>
          <a:prstGeom prst="rect">
            <a:avLst/>
          </a:prstGeom>
          <a:solidFill>
            <a:srgbClr val="F2F5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46"/>
          <p:cNvSpPr/>
          <p:nvPr/>
        </p:nvSpPr>
        <p:spPr>
          <a:xfrm>
            <a:off x="749796" y="13716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500"/>
              <a:buFont typeface="Arial"/>
              <a:buNone/>
            </a:pPr>
            <a:r>
              <a:rPr b="1" i="0" lang="en-US" sz="1500">
                <a:solidFill>
                  <a:srgbClr val="405D72"/>
                </a:solidFill>
                <a:latin typeface="Arial"/>
                <a:ea typeface="Arial"/>
                <a:cs typeface="Arial"/>
                <a:sym typeface="Arial"/>
              </a:rPr>
              <a:t>Separate projection pathways</a:t>
            </a:r>
            <a:r>
              <a:rPr b="0" i="0" lang="en-US" sz="1500">
                <a:solidFill>
                  <a:srgbClr val="252E36"/>
                </a:solidFill>
                <a:latin typeface="Arial"/>
                <a:ea typeface="Arial"/>
                <a:cs typeface="Arial"/>
                <a:sym typeface="Arial"/>
              </a:rPr>
              <a:t> HVC reaches RA directly for vocal motor control and reaches Area X through a distinct output population; DLM and LMAN form the anterior forebrain route back to RA.</a:t>
            </a:r>
            <a:endParaRPr sz="1800">
              <a:solidFill>
                <a:schemeClr val="dk1"/>
              </a:solidFill>
              <a:latin typeface="Calibri"/>
              <a:ea typeface="Calibri"/>
              <a:cs typeface="Calibri"/>
              <a:sym typeface="Calibri"/>
            </a:endParaRPr>
          </a:p>
        </p:txBody>
      </p:sp>
      <p:sp>
        <p:nvSpPr>
          <p:cNvPr id="655" name="Google Shape;655;p46"/>
          <p:cNvSpPr/>
          <p:nvPr/>
        </p:nvSpPr>
        <p:spPr>
          <a:xfrm>
            <a:off x="6233071" y="1234380"/>
            <a:ext cx="5391894" cy="1478161"/>
          </a:xfrm>
          <a:prstGeom prst="rect">
            <a:avLst/>
          </a:prstGeom>
          <a:solidFill>
            <a:srgbClr val="F2F5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46"/>
          <p:cNvSpPr/>
          <p:nvPr/>
        </p:nvSpPr>
        <p:spPr>
          <a:xfrm>
            <a:off x="6415980" y="13716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500"/>
              <a:buFont typeface="Arial"/>
              <a:buNone/>
            </a:pPr>
            <a:r>
              <a:rPr b="1" i="0" lang="en-US" sz="1500">
                <a:solidFill>
                  <a:srgbClr val="405D72"/>
                </a:solidFill>
                <a:latin typeface="Arial"/>
                <a:ea typeface="Arial"/>
                <a:cs typeface="Arial"/>
                <a:sym typeface="Arial"/>
              </a:rPr>
              <a:t>Anatomical connections constrain mechanisms</a:t>
            </a:r>
            <a:r>
              <a:rPr b="0" i="0" lang="en-US" sz="1500">
                <a:solidFill>
                  <a:srgbClr val="252E36"/>
                </a:solidFill>
                <a:latin typeface="Arial"/>
                <a:ea typeface="Arial"/>
                <a:cs typeface="Arial"/>
                <a:sym typeface="Arial"/>
              </a:rPr>
              <a:t> Lesions establish regional necessity, tracers establish projection direction, and single-cell reconstructions reveal local collaterals; none alone specifies the information transmitted at a synapse.</a:t>
            </a:r>
            <a:endParaRPr sz="1800">
              <a:solidFill>
                <a:schemeClr val="dk1"/>
              </a:solidFill>
              <a:latin typeface="Calibri"/>
              <a:ea typeface="Calibri"/>
              <a:cs typeface="Calibri"/>
              <a:sym typeface="Calibri"/>
            </a:endParaRPr>
          </a:p>
        </p:txBody>
      </p:sp>
      <p:sp>
        <p:nvSpPr>
          <p:cNvPr id="657" name="Google Shape;657;p46"/>
          <p:cNvSpPr/>
          <p:nvPr/>
        </p:nvSpPr>
        <p:spPr>
          <a:xfrm>
            <a:off x="566886" y="2986980"/>
            <a:ext cx="5391894" cy="1478161"/>
          </a:xfrm>
          <a:prstGeom prst="rect">
            <a:avLst/>
          </a:prstGeom>
          <a:solidFill>
            <a:srgbClr val="F2F5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46"/>
          <p:cNvSpPr/>
          <p:nvPr/>
        </p:nvSpPr>
        <p:spPr>
          <a:xfrm>
            <a:off x="749796" y="31242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500"/>
              <a:buFont typeface="Arial"/>
              <a:buNone/>
            </a:pPr>
            <a:r>
              <a:rPr b="1" i="0" lang="en-US" sz="1500">
                <a:solidFill>
                  <a:srgbClr val="405D72"/>
                </a:solidFill>
                <a:latin typeface="Arial"/>
                <a:ea typeface="Arial"/>
                <a:cs typeface="Arial"/>
                <a:sym typeface="Arial"/>
              </a:rPr>
              <a:t>RA integrates different excitatory inputs</a:t>
            </a:r>
            <a:r>
              <a:rPr b="0" i="0" lang="en-US" sz="1500">
                <a:solidFill>
                  <a:srgbClr val="252E36"/>
                </a:solidFill>
                <a:latin typeface="Arial"/>
                <a:ea typeface="Arial"/>
                <a:cs typeface="Arial"/>
                <a:sym typeface="Arial"/>
              </a:rPr>
              <a:t> HVC and LMAN converge on RA, but their developmental connectivity and receptor contributions differ; stronger, refined HVC input can coexist with persistent LMAN input.</a:t>
            </a:r>
            <a:endParaRPr sz="1800">
              <a:solidFill>
                <a:schemeClr val="dk1"/>
              </a:solidFill>
              <a:latin typeface="Calibri"/>
              <a:ea typeface="Calibri"/>
              <a:cs typeface="Calibri"/>
              <a:sym typeface="Calibri"/>
            </a:endParaRPr>
          </a:p>
        </p:txBody>
      </p:sp>
      <p:sp>
        <p:nvSpPr>
          <p:cNvPr id="659" name="Google Shape;659;p46"/>
          <p:cNvSpPr/>
          <p:nvPr/>
        </p:nvSpPr>
        <p:spPr>
          <a:xfrm>
            <a:off x="6233071" y="2986980"/>
            <a:ext cx="5391894" cy="1478161"/>
          </a:xfrm>
          <a:prstGeom prst="rect">
            <a:avLst/>
          </a:prstGeom>
          <a:solidFill>
            <a:srgbClr val="F2F5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46"/>
          <p:cNvSpPr/>
          <p:nvPr/>
        </p:nvSpPr>
        <p:spPr>
          <a:xfrm>
            <a:off x="6415980" y="31242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500"/>
              <a:buFont typeface="Arial"/>
              <a:buNone/>
            </a:pPr>
            <a:r>
              <a:rPr b="1" i="0" lang="en-US" sz="1500">
                <a:solidFill>
                  <a:srgbClr val="405D72"/>
                </a:solidFill>
                <a:latin typeface="Arial"/>
                <a:ea typeface="Arial"/>
                <a:cs typeface="Arial"/>
                <a:sym typeface="Arial"/>
              </a:rPr>
              <a:t>Motor physiology has multiple controls</a:t>
            </a:r>
            <a:r>
              <a:rPr b="0" i="0" lang="en-US" sz="1500">
                <a:solidFill>
                  <a:srgbClr val="252E36"/>
                </a:solidFill>
                <a:latin typeface="Arial"/>
                <a:ea typeface="Arial"/>
                <a:cs typeface="Arial"/>
                <a:sym typeface="Arial"/>
              </a:rPr>
              <a:t> Resurgent sodium current supports rapid RA firing, while SK channels regulate spike recovery and timing in interaction with synaptic input; dopamine modulates RA excitability through D1-like signaling.</a:t>
            </a:r>
            <a:endParaRPr sz="1800">
              <a:solidFill>
                <a:schemeClr val="dk1"/>
              </a:solidFill>
              <a:latin typeface="Calibri"/>
              <a:ea typeface="Calibri"/>
              <a:cs typeface="Calibri"/>
              <a:sym typeface="Calibri"/>
            </a:endParaRPr>
          </a:p>
        </p:txBody>
      </p:sp>
      <p:sp>
        <p:nvSpPr>
          <p:cNvPr id="661" name="Google Shape;661;p46"/>
          <p:cNvSpPr/>
          <p:nvPr/>
        </p:nvSpPr>
        <p:spPr>
          <a:xfrm>
            <a:off x="566886" y="4739580"/>
            <a:ext cx="5391894" cy="1478161"/>
          </a:xfrm>
          <a:prstGeom prst="rect">
            <a:avLst/>
          </a:prstGeom>
          <a:solidFill>
            <a:srgbClr val="F2F5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46"/>
          <p:cNvSpPr/>
          <p:nvPr/>
        </p:nvSpPr>
        <p:spPr>
          <a:xfrm>
            <a:off x="749796" y="48768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500"/>
              <a:buFont typeface="Arial"/>
              <a:buNone/>
            </a:pPr>
            <a:r>
              <a:rPr b="1" i="0" lang="en-US" sz="1500">
                <a:solidFill>
                  <a:srgbClr val="405D72"/>
                </a:solidFill>
                <a:latin typeface="Arial"/>
                <a:ea typeface="Arial"/>
                <a:cs typeface="Arial"/>
                <a:sym typeface="Arial"/>
              </a:rPr>
              <a:t>LMAN contributes differently across ages</a:t>
            </a:r>
            <a:r>
              <a:rPr b="0" i="0" lang="en-US" sz="1500">
                <a:solidFill>
                  <a:srgbClr val="252E36"/>
                </a:solidFill>
                <a:latin typeface="Arial"/>
                <a:ea typeface="Arial"/>
                <a:cs typeface="Arial"/>
                <a:sym typeface="Arial"/>
              </a:rPr>
              <a:t> Early lesions disrupt vocal development, whereas established adult song can persist after lesions; this difference does not imply that adult LMAN becomes anatomically disconnected or functionless.</a:t>
            </a:r>
            <a:endParaRPr sz="1800">
              <a:solidFill>
                <a:schemeClr val="dk1"/>
              </a:solidFill>
              <a:latin typeface="Calibri"/>
              <a:ea typeface="Calibri"/>
              <a:cs typeface="Calibri"/>
              <a:sym typeface="Calibri"/>
            </a:endParaRPr>
          </a:p>
        </p:txBody>
      </p:sp>
      <p:sp>
        <p:nvSpPr>
          <p:cNvPr id="663" name="Google Shape;663;p46"/>
          <p:cNvSpPr/>
          <p:nvPr/>
        </p:nvSpPr>
        <p:spPr>
          <a:xfrm>
            <a:off x="6233071" y="4739580"/>
            <a:ext cx="5391894" cy="1478161"/>
          </a:xfrm>
          <a:prstGeom prst="rect">
            <a:avLst/>
          </a:prstGeom>
          <a:solidFill>
            <a:srgbClr val="F2F5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46"/>
          <p:cNvSpPr/>
          <p:nvPr/>
        </p:nvSpPr>
        <p:spPr>
          <a:xfrm>
            <a:off x="6415980" y="4876800"/>
            <a:ext cx="5045125" cy="9599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400"/>
              <a:buFont typeface="Arial"/>
              <a:buNone/>
            </a:pPr>
            <a:r>
              <a:rPr b="1" i="0" lang="en-US" sz="1400">
                <a:solidFill>
                  <a:srgbClr val="405D72"/>
                </a:solidFill>
                <a:latin typeface="Arial"/>
                <a:ea typeface="Arial"/>
                <a:cs typeface="Arial"/>
                <a:sym typeface="Arial"/>
              </a:rPr>
              <a:t>Auditory selectivity is not an error signal by itself</a:t>
            </a:r>
            <a:r>
              <a:rPr b="0" i="0" lang="en-US" sz="1400">
                <a:solidFill>
                  <a:srgbClr val="252E36"/>
                </a:solidFill>
                <a:latin typeface="Arial"/>
                <a:ea typeface="Arial"/>
                <a:cs typeface="Arial"/>
                <a:sym typeface="Arial"/>
              </a:rPr>
              <a:t> LMAN, Area X, and dopaminergic circuitry respond selectively to self-song, but anesthetized playback responses do not establish the complete teaching signal or learning rule used during singing.</a:t>
            </a:r>
            <a:endParaRPr sz="1800">
              <a:solidFill>
                <a:schemeClr val="dk1"/>
              </a:solidFill>
              <a:latin typeface="Calibri"/>
              <a:ea typeface="Calibri"/>
              <a:cs typeface="Calibri"/>
              <a:sym typeface="Calibri"/>
            </a:endParaRPr>
          </a:p>
        </p:txBody>
      </p:sp>
      <p:sp>
        <p:nvSpPr>
          <p:cNvPr id="665" name="Google Shape;665;p46"/>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Nottebohm et al. (1976); Bottjer et al. (1984); Doupe (1997)</a:t>
            </a:r>
            <a:endParaRPr sz="1800">
              <a:solidFill>
                <a:schemeClr val="dk1"/>
              </a:solidFill>
              <a:latin typeface="Calibri"/>
              <a:ea typeface="Calibri"/>
              <a:cs typeface="Calibri"/>
              <a:sym typeface="Calibri"/>
            </a:endParaRPr>
          </a:p>
        </p:txBody>
      </p:sp>
      <p:sp>
        <p:nvSpPr>
          <p:cNvPr id="667" name="Google Shape;667;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2026-10-08T23:29:58.991Z</dcterms:created>
  <dc:creator>Presenton</dc:creator>
</cp:coreProperties>
</file>