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h1iEt38XLQ35c+ePo/ZgweTdKU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Navigation I: desert ant path integration (Wehner)</a:t>
            </a:r>
            <a:endParaRPr/>
          </a:p>
          <a:p>
            <a:pPr indent="0" lvl="0" marL="0" rtl="0" algn="l">
              <a:spcBef>
                <a:spcPts val="0"/>
              </a:spcBef>
              <a:spcAft>
                <a:spcPts val="0"/>
              </a:spcAft>
              <a:buNone/>
            </a:pPr>
            <a:r>
              <a:rPr lang="en-US"/>
              <a:t>Lecture 28. NEUR 411 · NEUROETHOLOGY · FALL 2026. Friday, October 30,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3(A). Normal tripod gait in a walking Cataglyphis fortis.</a:t>
            </a:r>
            <a:endParaRPr/>
          </a:p>
          <a:p>
            <a:pPr indent="0" lvl="0" marL="0" rtl="0" algn="l">
              <a:spcBef>
                <a:spcPts val="0"/>
              </a:spcBef>
              <a:spcAft>
                <a:spcPts val="0"/>
              </a:spcAft>
              <a:buNone/>
            </a:pPr>
            <a:r>
              <a:rPr lang="en-US"/>
              <a:t>Figure source: https://doi.org/10.1242/jeb.02657</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**Path integration** is the continual updating of direction and distance from a starting point using information gathered during movement. A **home vector** specifies the direction and distance back to the nest; it need not reproduce the sequence of outward turns.</a:t>
            </a:r>
            <a:endParaRPr/>
          </a:p>
          <a:p>
            <a:pPr indent="0" lvl="0" marL="0" rtl="0" algn="l">
              <a:spcBef>
                <a:spcPts val="0"/>
              </a:spcBef>
              <a:spcAft>
                <a:spcPts val="0"/>
              </a:spcAft>
              <a:buNone/>
            </a:pPr>
            <a:r>
              <a:rPr lang="en-US"/>
              <a:t>• Müller and Wehner recorded a natural foraging trip of Cataglyphis fortis in Tunisia. The outward path measured 354.5 m, while the maximum distance from the nest was 113.2 m. After finding food, the ant returned along a comparatively direct inbound route.</a:t>
            </a:r>
            <a:endParaRPr/>
          </a:p>
          <a:p>
            <a:pPr indent="0" lvl="0" marL="0" rtl="0" algn="l">
              <a:spcBef>
                <a:spcPts val="0"/>
              </a:spcBef>
              <a:spcAft>
                <a:spcPts val="0"/>
              </a:spcAft>
              <a:buNone/>
            </a:pPr>
            <a:r>
              <a:rPr lang="en-US"/>
              <a:t>• The difference between outward path length and nest displacement separates route retracing from vector-guided homing. This recorded journey documents the behavior, but does not identify a neuron that stores the vector or establish the mathematical precision of its updating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1. A natural outbound route and direct homeward return.</a:t>
            </a:r>
            <a:endParaRPr/>
          </a:p>
          <a:p>
            <a:pPr indent="0" lvl="0" marL="0" rtl="0" algn="l">
              <a:spcBef>
                <a:spcPts val="0"/>
              </a:spcBef>
              <a:spcAft>
                <a:spcPts val="0"/>
              </a:spcAft>
              <a:buNone/>
            </a:pPr>
            <a:r>
              <a:rPr lang="en-US"/>
              <a:t>Figure source: https://doi.org/10.1073/pnas.85.14.5287</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Passive displacement changes an ant’s geographical position without supplying the walking movements that normally update its home vector. A displaced ant can therefore express a direction appropriate to its earlier position rather than to the nest’s actual location.</a:t>
            </a:r>
            <a:endParaRPr/>
          </a:p>
          <a:p>
            <a:pPr indent="0" lvl="0" marL="0" rtl="0" algn="l">
              <a:spcBef>
                <a:spcPts val="0"/>
              </a:spcBef>
              <a:spcAft>
                <a:spcPts val="0"/>
              </a:spcAft>
              <a:buNone/>
            </a:pPr>
            <a:r>
              <a:rPr lang="en-US"/>
              <a:t>• Müller and Wehner captured a food-carrying ant at its feeding location and released it elsewhere in open terrain. The animal’s subsequent course was compared with the geographical nest direction and the course predicted from its recorded outbound trajectory, using a 10 m spatial scale.</a:t>
            </a:r>
            <a:endParaRPr/>
          </a:p>
          <a:p>
            <a:pPr indent="0" lvl="0" marL="0" rtl="0" algn="l">
              <a:spcBef>
                <a:spcPts val="0"/>
              </a:spcBef>
              <a:spcAft>
                <a:spcPts val="0"/>
              </a:spcAft>
              <a:buNone/>
            </a:pPr>
            <a:r>
              <a:rPr lang="en-US"/>
              <a:t>• The course retained information from the outward journey despite the transfer. The test distinguishes movement-derived navigation from immediate attraction to the true nest, while leaving landmark guidance and systematic searching available as additional mechanisms under natural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4. Natural-path displacement and the resulting homeward course.</a:t>
            </a:r>
            <a:endParaRPr/>
          </a:p>
          <a:p>
            <a:pPr indent="0" lvl="0" marL="0" rtl="0" algn="l">
              <a:spcBef>
                <a:spcPts val="0"/>
              </a:spcBef>
              <a:spcAft>
                <a:spcPts val="0"/>
              </a:spcAft>
              <a:buNone/>
            </a:pPr>
            <a:r>
              <a:rPr lang="en-US"/>
              <a:t>Figure source: https://doi.org/10.1073/pnas.85.14.5287</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experimental path can specify the directions and distances an ant experiences before homing. Müller and Wehner trained Cataglyphis fortis through narrow plastic channels, then transferred individuals from the feeder to a separate open test field.</a:t>
            </a:r>
            <a:endParaRPr/>
          </a:p>
          <a:p>
            <a:pPr indent="0" lvl="0" marL="0" rtl="0" algn="l">
              <a:spcBef>
                <a:spcPts val="0"/>
              </a:spcBef>
              <a:spcAft>
                <a:spcPts val="0"/>
              </a:spcAft>
              <a:buNone/>
            </a:pPr>
            <a:r>
              <a:rPr lang="en-US"/>
              <a:t>• The two legs were varied over lengths of 5–10 m and turning angles spanning 0–180°. In the plotted experiment, the first leg was 10 m and the second 5 m. Release occurred within one minute of capture, reducing the delay between training and the directional test.</a:t>
            </a:r>
            <a:endParaRPr/>
          </a:p>
          <a:p>
            <a:pPr indent="0" lvl="0" marL="0" rtl="0" algn="l">
              <a:spcBef>
                <a:spcPts val="0"/>
              </a:spcBef>
              <a:spcAft>
                <a:spcPts val="0"/>
              </a:spcAft>
              <a:buNone/>
            </a:pPr>
            <a:r>
              <a:rPr lang="en-US"/>
              <a:t>• The recorded initial homeward course measures the ant’s accumulated directional estimate rather than its ability to follow the training channel backward. Removing the channels during testing separates the geometry experienced during acquisition from the geometry available during expression.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2(A–B). Two-leg training and measured homing-direction errors.</a:t>
            </a:r>
            <a:endParaRPr/>
          </a:p>
          <a:p>
            <a:pPr indent="0" lvl="0" marL="0" rtl="0" algn="l">
              <a:spcBef>
                <a:spcPts val="0"/>
              </a:spcBef>
              <a:spcAft>
                <a:spcPts val="0"/>
              </a:spcAft>
              <a:buNone/>
            </a:pPr>
            <a:r>
              <a:rPr lang="en-US"/>
              <a:t>Figure source: https://doi.org/10.1073/pnas.85.14.5287</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**Systematic error** means a directional deviation that varies predictably with an experimental manipulation. It differs from random scatter among journeys. Müller and Wehner measured the angular difference between the true homeward direction and the course expressed after two-leg training.</a:t>
            </a:r>
            <a:endParaRPr/>
          </a:p>
          <a:p>
            <a:pPr indent="0" lvl="0" marL="0" rtl="0" algn="l">
              <a:spcBef>
                <a:spcPts val="0"/>
              </a:spcBef>
              <a:spcAft>
                <a:spcPts val="0"/>
              </a:spcAft>
              <a:buNone/>
            </a:pPr>
            <a:r>
              <a:rPr lang="en-US"/>
              <a:t>• With outbound legs of 10 m and 5 m, the error increased as the turning angle approached approximately 150°, reaching about 20° in the published measurements. The error returned toward zero at the limiting straight or reversed arrangements.</a:t>
            </a:r>
            <a:endParaRPr/>
          </a:p>
          <a:p>
            <a:pPr indent="0" lvl="0" marL="0" rtl="0" algn="l">
              <a:spcBef>
                <a:spcPts val="0"/>
              </a:spcBef>
              <a:spcAft>
                <a:spcPts val="0"/>
              </a:spcAft>
              <a:buNone/>
            </a:pPr>
            <a:r>
              <a:rPr lang="en-US"/>
              <a:t>• The angle-dependent pattern supported an approximate updating rule under these conditions. It does not prove that every ant species, every route geometry, or every neural representation uses the same approximation; the inference concerns the measured Cataglyphis trajectories and their proposed mathematical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2(A–B). Two-leg training and measured homing-direction errors.</a:t>
            </a:r>
            <a:endParaRPr/>
          </a:p>
          <a:p>
            <a:pPr indent="0" lvl="0" marL="0" rtl="0" algn="l">
              <a:spcBef>
                <a:spcPts val="0"/>
              </a:spcBef>
              <a:spcAft>
                <a:spcPts val="0"/>
              </a:spcAft>
              <a:buNone/>
            </a:pPr>
            <a:r>
              <a:rPr lang="en-US"/>
              <a:t>Figure source: https://doi.org/10.1073/pnas.85.14.5287</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**celestial compass** derives heading information from features of the sky. Direct sunlight and the pattern of polarized skylight provide related but separable information. Polarization refers to the orientation of the electric field oscillation in a light wave.</a:t>
            </a:r>
            <a:endParaRPr/>
          </a:p>
          <a:p>
            <a:pPr indent="0" lvl="0" marL="0" rtl="0" algn="l">
              <a:spcBef>
                <a:spcPts val="0"/>
              </a:spcBef>
              <a:spcAft>
                <a:spcPts val="0"/>
              </a:spcAft>
              <a:buNone/>
            </a:pPr>
            <a:r>
              <a:rPr lang="en-US"/>
              <a:t>• Müller and Wehner compared homing errors while ants used the sun, polarized skylight, or both. Screening the sun removed direct solar information; painting the dorsal rim of the compound eyes removed access to the specialized polarization-sensitive eye region. The 10 m and 5 m route still produced systematic errors.</a:t>
            </a:r>
            <a:endParaRPr/>
          </a:p>
          <a:p>
            <a:pPr indent="0" lvl="0" marL="0" rtl="0" algn="l">
              <a:spcBef>
                <a:spcPts val="0"/>
              </a:spcBef>
              <a:spcAft>
                <a:spcPts val="0"/>
              </a:spcAft>
              <a:buNone/>
            </a:pPr>
            <a:r>
              <a:rPr lang="en-US"/>
              <a:t>• The persistence of the error pattern across compass conditions argues against a single defective sky cue accounting for the path-integration bias. Restricted sky windows can themselves distort polarization estimates, so the authors considered this separate source of compass error in their interpretation.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2(A–B). Two-leg training and measured homing-direction errors.</a:t>
            </a:r>
            <a:endParaRPr/>
          </a:p>
          <a:p>
            <a:pPr indent="0" lvl="0" marL="0" rtl="0" algn="l">
              <a:spcBef>
                <a:spcPts val="0"/>
              </a:spcBef>
              <a:spcAft>
                <a:spcPts val="0"/>
              </a:spcAft>
              <a:buNone/>
            </a:pPr>
            <a:r>
              <a:rPr lang="en-US"/>
              <a:t>Figure source: https://doi.org/10.1073/pnas.85.14.5287</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explanation fitted to one route geometry must also account for a different sequence of movements. Müller and Wehner added a third leg to the channel arrangement, introducing a second 90° turn rather than repeating the original two-leg experiment.</a:t>
            </a:r>
            <a:endParaRPr/>
          </a:p>
          <a:p>
            <a:pPr indent="0" lvl="0" marL="0" rtl="0" algn="l">
              <a:spcBef>
                <a:spcPts val="0"/>
              </a:spcBef>
              <a:spcAft>
                <a:spcPts val="0"/>
              </a:spcAft>
              <a:buNone/>
            </a:pPr>
            <a:r>
              <a:rPr lang="en-US"/>
              <a:t>• The first leg was 10 m and the second and third legs were each 5 m. Ants subsequently released into open terrain deviated by 30.8° from the true home direction. The approximation derived from the earlier experiments predicted a deviation of 33.7°.</a:t>
            </a:r>
            <a:endParaRPr/>
          </a:p>
          <a:p>
            <a:pPr indent="0" lvl="0" marL="0" rtl="0" algn="l">
              <a:spcBef>
                <a:spcPts val="0"/>
              </a:spcBef>
              <a:spcAft>
                <a:spcPts val="0"/>
              </a:spcAft>
              <a:buNone/>
            </a:pPr>
            <a:r>
              <a:rPr lang="en-US"/>
              <a:t>• The agreement extended the behavioral account beyond the particular angles used to derive it. A successful prediction of homing direction still leaves the cellular implementation unresolved: the experiment measured the animal’s course, not the voltage, transmitter or synaptic activity of an identified integrator.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3. Three-leg training and homing directions.</a:t>
            </a:r>
            <a:endParaRPr/>
          </a:p>
          <a:p>
            <a:pPr indent="0" lvl="0" marL="0" rtl="0" algn="l">
              <a:spcBef>
                <a:spcPts val="0"/>
              </a:spcBef>
              <a:spcAft>
                <a:spcPts val="0"/>
              </a:spcAft>
              <a:buNone/>
            </a:pPr>
            <a:r>
              <a:rPr lang="en-US"/>
              <a:t>Figure source: https://doi.org/10.1073/pnas.85.14.5287</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Route geometry determines how an approximate path integrator accumulates error. A sharp sustained turn can produce a large deviation, whereas turns in opposite directions may partly cancel their effects on the estimated homeward direction.</a:t>
            </a:r>
            <a:endParaRPr/>
          </a:p>
          <a:p>
            <a:pPr indent="0" lvl="0" marL="0" rtl="0" algn="l">
              <a:spcBef>
                <a:spcPts val="0"/>
              </a:spcBef>
              <a:spcAft>
                <a:spcPts val="0"/>
              </a:spcAft>
              <a:buNone/>
            </a:pPr>
            <a:r>
              <a:rPr lang="en-US"/>
              <a:t>• Müller and Wehner compared the proposed updating rule with recorded natural foraging paths. In the displaced example, the expressed course departed from the real nest direction by approximately 20°, consistent with the direction predicted from that ant’s outward trajectory.</a:t>
            </a:r>
            <a:endParaRPr/>
          </a:p>
          <a:p>
            <a:pPr indent="0" lvl="0" marL="0" rtl="0" algn="l">
              <a:spcBef>
                <a:spcPts val="0"/>
              </a:spcBef>
              <a:spcAft>
                <a:spcPts val="0"/>
              </a:spcAft>
              <a:buNone/>
            </a:pPr>
            <a:r>
              <a:rPr lang="en-US"/>
              <a:t>• The authors noted that natural Cataglyphis paths rarely contained the repeated sharp backward turns that generated especially large experimental errors. This ecological interpretation explains possible usefulness without establishing perfect accuracy; landmarks and searching remain relevant when a home vector is insufficient.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4. Natural-path displacement and the resulting homeward course.</a:t>
            </a:r>
            <a:endParaRPr/>
          </a:p>
          <a:p>
            <a:pPr indent="0" lvl="0" marL="0" rtl="0" algn="l">
              <a:spcBef>
                <a:spcPts val="0"/>
              </a:spcBef>
              <a:spcAft>
                <a:spcPts val="0"/>
              </a:spcAft>
              <a:buNone/>
            </a:pPr>
            <a:r>
              <a:rPr lang="en-US"/>
              <a:t>Figure source: https://doi.org/10.1073/pnas.85.14.5287</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**odometer** is a mechanism for estimating distance traveled. A **stride** is one complete movement cycle of a particular leg. Altering leg length can change the distance covered during each stride without changing the distance experienced before the manipulation.</a:t>
            </a:r>
            <a:endParaRPr/>
          </a:p>
          <a:p>
            <a:pPr indent="0" lvl="0" marL="0" rtl="0" algn="l">
              <a:spcBef>
                <a:spcPts val="0"/>
              </a:spcBef>
              <a:spcAft>
                <a:spcPts val="0"/>
              </a:spcAft>
              <a:buNone/>
            </a:pPr>
            <a:r>
              <a:rPr lang="en-US"/>
              <a:t>• Wittlinger and colleagues trained Cataglyphis fortis to a feeder 10 m from the nest. At the feeder, they lengthened legs with attached pig bristles, producing stilts, or shortened legs, producing stumps. Food-carrying ants were then tested in a separate channel.</a:t>
            </a:r>
            <a:endParaRPr/>
          </a:p>
          <a:p>
            <a:pPr indent="0" lvl="0" marL="0" rtl="0" algn="l">
              <a:spcBef>
                <a:spcPts val="0"/>
              </a:spcBef>
              <a:spcAft>
                <a:spcPts val="0"/>
              </a:spcAft>
              <a:buNone/>
            </a:pPr>
            <a:r>
              <a:rPr lang="en-US"/>
              <a:t>• The manipulation was performed after the outbound distance had been acquired, allowing an unequal relationship between outbound and inbound strides. The resulting distance error tests locomotor information, but leg surgery alone does not distinguish peripheral sensory feedback from centrally generated movement signals.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(2006). The Ant Odometer: Stepping on Stilts and Stumps. Science 312(5782):1965–1967. https://doi.org/10.1126/science.1126912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(2006), Fig. 2. Normal legs, stilts and stumps.</a:t>
            </a:r>
            <a:endParaRPr/>
          </a:p>
          <a:p>
            <a:pPr indent="0" lvl="0" marL="0" rtl="0" algn="l">
              <a:spcBef>
                <a:spcPts val="0"/>
              </a:spcBef>
              <a:spcAft>
                <a:spcPts val="0"/>
              </a:spcAft>
              <a:buNone/>
            </a:pPr>
            <a:r>
              <a:rPr lang="en-US"/>
              <a:t>Figure source: https://doi.org/10.1126/science.1126912</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transition from directed walking to repeated U-turns provides a behavioral measure of expected nest distance. Wittlinger and colleagues used the median of the initial six turning points to identify the centre of an ant’s nest-search behavior.</a:t>
            </a:r>
            <a:endParaRPr/>
          </a:p>
          <a:p>
            <a:pPr indent="0" lvl="0" marL="0" rtl="0" algn="l">
              <a:spcBef>
                <a:spcPts val="0"/>
              </a:spcBef>
              <a:spcAft>
                <a:spcPts val="0"/>
              </a:spcAft>
              <a:buNone/>
            </a:pPr>
            <a:r>
              <a:rPr lang="en-US"/>
              <a:t>• After a normal 10 m outbound journey, ants with lengthened legs searched at 15.30 m, ants with shortened legs searched at 5.75 m, and normal-legged controls searched at 10.20 m. The direction of the error followed the change in stride length.</a:t>
            </a:r>
            <a:endParaRPr/>
          </a:p>
          <a:p>
            <a:pPr indent="0" lvl="0" marL="0" rtl="0" algn="l">
              <a:spcBef>
                <a:spcPts val="0"/>
              </a:spcBef>
              <a:spcAft>
                <a:spcPts val="0"/>
              </a:spcAft>
              <a:buNone/>
            </a:pPr>
            <a:r>
              <a:rPr lang="en-US"/>
              <a:t>• Longer inbound strides made the stored journey terminate farther from release, while shorter strides made it terminate sooner. This bidirectional effect is difficult to attribute solely to debilitation, which would not predict vigorous overshooting by the animals walking on stilts.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(2006). The Ant Odometer: Stepping on Stilts and Stumps. Science 312(5782):1965–1967. https://doi.org/10.1126/science.1126912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(2006), Fig. 3(A–B). Homing distances after leg manipulation and after matched outbound training.</a:t>
            </a:r>
            <a:endParaRPr/>
          </a:p>
          <a:p>
            <a:pPr indent="0" lvl="0" marL="0" rtl="0" algn="l">
              <a:spcBef>
                <a:spcPts val="0"/>
              </a:spcBef>
              <a:spcAft>
                <a:spcPts val="0"/>
              </a:spcAft>
              <a:buNone/>
            </a:pPr>
            <a:r>
              <a:rPr lang="en-US"/>
              <a:t>Figure source: https://doi.org/10.1126/science.1126912</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same modified animal can experience a new outbound journey with the altered legs. This control keeps the manipulation present while removing the mismatch between the locomotor conditions used to acquire and express the stored distance.</a:t>
            </a:r>
            <a:endParaRPr/>
          </a:p>
          <a:p>
            <a:pPr indent="0" lvl="0" marL="0" rtl="0" algn="l">
              <a:spcBef>
                <a:spcPts val="0"/>
              </a:spcBef>
              <a:spcAft>
                <a:spcPts val="0"/>
              </a:spcAft>
              <a:buNone/>
            </a:pPr>
            <a:r>
              <a:rPr lang="en-US"/>
              <a:t>• After returning to the nest, ants walked to the feeder again with their stilts or stumps and were retested. Searches centred at 10.55 m for stilts and 10.25 m for stumps, close to the 10.20 m normal-leg condition and the true 10 m separation.</a:t>
            </a:r>
            <a:endParaRPr/>
          </a:p>
          <a:p>
            <a:pPr indent="0" lvl="0" marL="0" rtl="0" algn="l">
              <a:spcBef>
                <a:spcPts val="0"/>
              </a:spcBef>
              <a:spcAft>
                <a:spcPts val="0"/>
              </a:spcAft>
              <a:buNone/>
            </a:pPr>
            <a:r>
              <a:rPr lang="en-US"/>
              <a:t>• Recovery of the expected distance supports a stride-dependent acquisition-and-readout relationship rather than permanent loss of navigation after surgery. It does not require the ant to measure its leg length explicitly or identify which neural signal constitutes the odometer’s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(2006). The Ant Odometer: Stepping on Stilts and Stumps. Science 312(5782):1965–1967. https://doi.org/10.1126/science.1126912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(2006), Fig. 3(A–B). Homing distances after leg manipulation and after matched outbound training.</a:t>
            </a:r>
            <a:endParaRPr/>
          </a:p>
          <a:p>
            <a:pPr indent="0" lvl="0" marL="0" rtl="0" algn="l">
              <a:spcBef>
                <a:spcPts val="0"/>
              </a:spcBef>
              <a:spcAft>
                <a:spcPts val="0"/>
              </a:spcAft>
              <a:buNone/>
            </a:pPr>
            <a:r>
              <a:rPr lang="en-US"/>
              <a:t>Figure source: https://doi.org/10.1126/science.1126912</a:t>
            </a:r>
            <a:endParaRPr/>
          </a:p>
        </p:txBody>
      </p:sp>
      <p:sp>
        <p:nvSpPr>
          <p:cNvPr id="204" name="Google Shape;2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Wittlinger and colleagues extended the odometer experiment with two degrees of leg shortening. **Tarsomeres** are the distal segments of an insect leg; the **tibia** lies proximal to the tarsus. Removing these regions changes the effective length of the walking limb.</a:t>
            </a:r>
            <a:endParaRPr/>
          </a:p>
          <a:p>
            <a:pPr indent="0" lvl="0" marL="0" rtl="0" algn="l">
              <a:spcBef>
                <a:spcPts val="0"/>
              </a:spcBef>
              <a:spcAft>
                <a:spcPts val="0"/>
              </a:spcAft>
              <a:buNone/>
            </a:pPr>
            <a:r>
              <a:rPr lang="en-US"/>
              <a:t>• Stumps I lacked the distal tarsal segments, whereas stumps II had the distal half of the tibia removed. A third group carried bristle stilts, and normal-legged ants provided the comparison. All groups had acquired the same 10 m outbound feeder distance before the first test.</a:t>
            </a:r>
            <a:endParaRPr/>
          </a:p>
          <a:p>
            <a:pPr indent="0" lvl="0" marL="0" rtl="0" algn="l">
              <a:spcBef>
                <a:spcPts val="0"/>
              </a:spcBef>
              <a:spcAft>
                <a:spcPts val="0"/>
              </a:spcAft>
              <a:buNone/>
            </a:pPr>
            <a:r>
              <a:rPr lang="en-US"/>
              <a:t>• The anatomically graded manipulation allowed comparison of different reductions in stride length rather than treating all shortened legs as one condition. It preserved a common navigational task, while acknowledging that leg length, walking speed and load can change together.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2. Leg anatomy and the four length conditions.</a:t>
            </a:r>
            <a:endParaRPr/>
          </a:p>
          <a:p>
            <a:pPr indent="0" lvl="0" marL="0" rtl="0" algn="l">
              <a:spcBef>
                <a:spcPts val="0"/>
              </a:spcBef>
              <a:spcAft>
                <a:spcPts val="0"/>
              </a:spcAft>
              <a:buNone/>
            </a:pPr>
            <a:r>
              <a:rPr lang="en-US"/>
              <a:t>Figure source: https://doi.org/10.1242/jeb.02657</a:t>
            </a:r>
            <a:endParaRPr/>
          </a:p>
        </p:txBody>
      </p:sp>
      <p:sp>
        <p:nvSpPr>
          <p:cNvPr id="216" name="Google Shape;21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**tripod gait** alternates two sets of three supporting legs. In Cataglyphis, one set combines the left front and hind legs with the right middle leg; the complementary set uses the remaining three legs.</a:t>
            </a:r>
            <a:endParaRPr/>
          </a:p>
          <a:p>
            <a:pPr indent="0" lvl="0" marL="0" rtl="0" algn="l">
              <a:spcBef>
                <a:spcPts val="0"/>
              </a:spcBef>
              <a:spcAft>
                <a:spcPts val="0"/>
              </a:spcAft>
              <a:buNone/>
            </a:pPr>
            <a:r>
              <a:rPr lang="en-US"/>
              <a:t>• High-speed video at 250 frames per second recorded ants before and after manipulation. The published normal example had a stride length of 13.3 mm at 0.28 m/s, whereas a stumps-II example retained tripod coordination with a 10.5 mm stride at 0.27 m/s.</a:t>
            </a:r>
            <a:endParaRPr/>
          </a:p>
          <a:p>
            <a:pPr indent="0" lvl="0" marL="0" rtl="0" algn="l">
              <a:spcBef>
                <a:spcPts val="0"/>
              </a:spcBef>
              <a:spcAft>
                <a:spcPts val="0"/>
              </a:spcAft>
              <a:buNone/>
            </a:pPr>
            <a:r>
              <a:rPr lang="en-US"/>
              <a:t>• The observations separate shortening of the walking cycle’s spatial extent from replacement of its basic coordination pattern. Preserved tripods do not establish unchanged sensory feedback or motor-neuron activity, but they constrain explanations that require an entirely different gait after shortening.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3(B). Tripod gait after shortening the tibiae.</a:t>
            </a:r>
            <a:endParaRPr/>
          </a:p>
          <a:p>
            <a:pPr indent="0" lvl="0" marL="0" rtl="0" algn="l">
              <a:spcBef>
                <a:spcPts val="0"/>
              </a:spcBef>
              <a:spcAft>
                <a:spcPts val="0"/>
              </a:spcAft>
              <a:buNone/>
            </a:pPr>
            <a:r>
              <a:rPr lang="en-US"/>
              <a:t>Figure source: https://doi.org/10.1242/jeb.02657</a:t>
            </a:r>
            <a:endParaRPr/>
          </a:p>
        </p:txBody>
      </p:sp>
      <p:sp>
        <p:nvSpPr>
          <p:cNvPr id="228" name="Google Shape;22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shorter stride covers less ground during each locomotor cycle. If outbound distance is stored in relation to movement cycles, shortening the legs only after that journey should make the inbound estimate terminate before the original feeder-to-nest distance.</a:t>
            </a:r>
            <a:endParaRPr/>
          </a:p>
          <a:p>
            <a:pPr indent="0" lvl="0" marL="0" rtl="0" algn="l">
              <a:spcBef>
                <a:spcPts val="0"/>
              </a:spcBef>
              <a:spcAft>
                <a:spcPts val="0"/>
              </a:spcAft>
              <a:buNone/>
            </a:pPr>
            <a:r>
              <a:rPr lang="en-US"/>
              <a:t>• In the expanded experiment, normal-legged ants searched at 10.20 m, stumps-I ants at 6.95 m and stumps-II ants at 5.75 m. Stilts produced searches at 15.30 m. These values were measured after a 10 m outbound run through the training channel.</a:t>
            </a:r>
            <a:endParaRPr/>
          </a:p>
          <a:p>
            <a:pPr indent="0" lvl="0" marL="0" rtl="0" algn="l">
              <a:spcBef>
                <a:spcPts val="0"/>
              </a:spcBef>
              <a:spcAft>
                <a:spcPts val="0"/>
              </a:spcAft>
              <a:buNone/>
            </a:pPr>
            <a:r>
              <a:rPr lang="en-US"/>
              <a:t>• The graded undershoot is consistent with a stride integrator rather than a fixed physical-distance readout independent of locomotion. The two shortening treatments nevertheless changed more than one biomechanical variable, so recorded stride kinematics were needed to assess the quantitative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4(A–B). Color-coded searches before and after matched leg-length training.</a:t>
            </a:r>
            <a:endParaRPr/>
          </a:p>
          <a:p>
            <a:pPr indent="0" lvl="0" marL="0" rtl="0" algn="l">
              <a:spcBef>
                <a:spcPts val="0"/>
              </a:spcBef>
              <a:spcAft>
                <a:spcPts val="0"/>
              </a:spcAft>
              <a:buNone/>
            </a:pPr>
            <a:r>
              <a:rPr lang="en-US"/>
              <a:t>Figure source: https://doi.org/10.1242/jeb.02657</a:t>
            </a:r>
            <a:endParaRPr/>
          </a:p>
        </p:txBody>
      </p:sp>
      <p:sp>
        <p:nvSpPr>
          <p:cNvPr id="240" name="Google Shape;24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**search density distribution** records how often an ant visits positions during its search. Its centre estimates expected nest location, while its width describes how broadly the animal distributes its search around that estimate.</a:t>
            </a:r>
            <a:endParaRPr/>
          </a:p>
          <a:p>
            <a:pPr indent="0" lvl="0" marL="0" rtl="0" algn="l">
              <a:spcBef>
                <a:spcPts val="0"/>
              </a:spcBef>
              <a:spcAft>
                <a:spcPts val="0"/>
              </a:spcAft>
              <a:buNone/>
            </a:pPr>
            <a:r>
              <a:rPr lang="en-US"/>
              <a:t>• The test channel was divided into 10 cm bins. In the first test, the full width at half maximum was 8.3 m for stilts, 6.0 m for normal legs, 5.2 m for stumps I and 4.1 m for stumps II. The plotted search curves therefore differed in spread as well as centre.</a:t>
            </a:r>
            <a:endParaRPr/>
          </a:p>
          <a:p>
            <a:pPr indent="0" lvl="0" marL="0" rtl="0" algn="l">
              <a:spcBef>
                <a:spcPts val="0"/>
              </a:spcBef>
              <a:spcAft>
                <a:spcPts val="0"/>
              </a:spcAft>
              <a:buNone/>
            </a:pPr>
            <a:r>
              <a:rPr lang="en-US"/>
              <a:t>• The widths are behavioral descriptions of searching rather than direct measurements of a neural uncertainty variable. Longer or shorter strides alter the spatial extent covered during searching, so distribution width cannot by itself establish how precisely a central memory encodes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5. Widths of the nest-search distributions.</a:t>
            </a:r>
            <a:endParaRPr/>
          </a:p>
          <a:p>
            <a:pPr indent="0" lvl="0" marL="0" rtl="0" algn="l">
              <a:spcBef>
                <a:spcPts val="0"/>
              </a:spcBef>
              <a:spcAft>
                <a:spcPts val="0"/>
              </a:spcAft>
              <a:buNone/>
            </a:pPr>
            <a:r>
              <a:rPr lang="en-US"/>
              <a:t>Figure source: https://doi.org/10.1242/jeb.02657</a:t>
            </a:r>
            <a:endParaRPr/>
          </a:p>
        </p:txBody>
      </p:sp>
      <p:sp>
        <p:nvSpPr>
          <p:cNvPr id="252" name="Google Shape;25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Comparing first and second tests separates a newly imposed mismatch from walking with altered legs on both journey directions. In the second test, ants had left the nest and reached the feeder using the same modified limbs used during homing.</a:t>
            </a:r>
            <a:endParaRPr/>
          </a:p>
          <a:p>
            <a:pPr indent="0" lvl="0" marL="0" rtl="0" algn="l">
              <a:spcBef>
                <a:spcPts val="0"/>
              </a:spcBef>
              <a:spcAft>
                <a:spcPts val="0"/>
              </a:spcAft>
              <a:buNone/>
            </a:pPr>
            <a:r>
              <a:rPr lang="en-US"/>
              <a:t>• The initial stilt and stump searches were displaced from the 10 m nest distance. After the subsequent outbound journey, the color-coded search distributions clustered near the correct distance across the four leg conditions, even though the surgical or bristle modifications remained present.</a:t>
            </a:r>
            <a:endParaRPr/>
          </a:p>
          <a:p>
            <a:pPr indent="0" lvl="0" marL="0" rtl="0" algn="l">
              <a:spcBef>
                <a:spcPts val="0"/>
              </a:spcBef>
              <a:spcAft>
                <a:spcPts val="0"/>
              </a:spcAft>
              <a:buNone/>
            </a:pPr>
            <a:r>
              <a:rPr lang="en-US"/>
              <a:t>• The dependence on journey history makes a persistent injury explanation insufficient. Matched locomotor conditions permit accurate homing without proving a numerical step counter; a physiological integrator of stride-associated signals can produce the same qualitative relationship between acquisition and return.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4(A–B). Color-coded searches before and after matched leg-length training.</a:t>
            </a:r>
            <a:endParaRPr/>
          </a:p>
          <a:p>
            <a:pPr indent="0" lvl="0" marL="0" rtl="0" algn="l">
              <a:spcBef>
                <a:spcPts val="0"/>
              </a:spcBef>
              <a:spcAft>
                <a:spcPts val="0"/>
              </a:spcAft>
              <a:buNone/>
            </a:pPr>
            <a:r>
              <a:rPr lang="en-US"/>
              <a:t>Figure source: https://doi.org/10.1242/jeb.02657</a:t>
            </a:r>
            <a:endParaRPr/>
          </a:p>
        </p:txBody>
      </p:sp>
      <p:sp>
        <p:nvSpPr>
          <p:cNvPr id="264" name="Google Shape;26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Larger Cataglyphis workers have longer legs and can take longer strides. **Normalization** expresses measurements relative to a specified reference so that differences in body size do not masquerade as effects of the experimental manipulation.</a:t>
            </a:r>
            <a:endParaRPr/>
          </a:p>
          <a:p>
            <a:pPr indent="0" lvl="0" marL="0" rtl="0" algn="l">
              <a:spcBef>
                <a:spcPts val="0"/>
              </a:spcBef>
              <a:spcAft>
                <a:spcPts val="0"/>
              </a:spcAft>
              <a:buNone/>
            </a:pPr>
            <a:r>
              <a:rPr lang="en-US"/>
              <a:t>• Wittlinger and colleagues measured the **alitrunk**, the thoracic region between the pronotum and propodeum, and expressed middle-leg length and stride length relative to alitrunk length. High-speed records related these relative strides to frequency, including a comparison at 20 Hz.</a:t>
            </a:r>
            <a:endParaRPr/>
          </a:p>
          <a:p>
            <a:pPr indent="0" lvl="0" marL="0" rtl="0" algn="l">
              <a:spcBef>
                <a:spcPts val="0"/>
              </a:spcBef>
              <a:spcAft>
                <a:spcPts val="0"/>
              </a:spcAft>
              <a:buNone/>
            </a:pPr>
            <a:r>
              <a:rPr lang="en-US"/>
              <a:t>• The analysis placed normal, stilt and stump animals on a common anatomical and locomotor basis. Relative stride length is therefore dimensionless in the relevant plot; it is not a second independently measured estimate of homing distance or evidence that ants themselves perform this normalization.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6. Stride length as a function of stride frequency.</a:t>
            </a:r>
            <a:endParaRPr/>
          </a:p>
          <a:p>
            <a:pPr indent="0" lvl="0" marL="0" rtl="0" algn="l">
              <a:spcBef>
                <a:spcPts val="0"/>
              </a:spcBef>
              <a:spcAft>
                <a:spcPts val="0"/>
              </a:spcAft>
              <a:buNone/>
            </a:pPr>
            <a:r>
              <a:rPr lang="en-US"/>
              <a:t>Figure source: https://doi.org/10.1242/jeb.02657</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**Stride frequency** is the number of complete leg cycles per second, measured in hertz. It is distinct from stride length, the distance advanced during one cycle. Either variable can change walking speed.</a:t>
            </a:r>
            <a:endParaRPr/>
          </a:p>
          <a:p>
            <a:pPr indent="0" lvl="0" marL="0" rtl="0" algn="l">
              <a:spcBef>
                <a:spcPts val="0"/>
              </a:spcBef>
              <a:spcAft>
                <a:spcPts val="0"/>
              </a:spcAft>
              <a:buNone/>
            </a:pPr>
            <a:r>
              <a:rPr lang="en-US"/>
              <a:t>• At comparable frequencies, stilt ants had longer relative strides and stump ants shorter relative strides than controls. The investigators used the measured frequency–length relationships to compare animals at 20 Hz, reducing the effect of unequal movement speeds on the predicted homing distances.</a:t>
            </a:r>
            <a:endParaRPr/>
          </a:p>
          <a:p>
            <a:pPr indent="0" lvl="0" marL="0" rtl="0" algn="l">
              <a:spcBef>
                <a:spcPts val="0"/>
              </a:spcBef>
              <a:spcAft>
                <a:spcPts val="0"/>
              </a:spcAft>
              <a:buNone/>
            </a:pPr>
            <a:r>
              <a:rPr lang="en-US"/>
              <a:t>• The remaining ordering of the leg conditions links the imposed limb geometry to locomotor displacement. The measured relationships provide a quantitative behavioral constraint, but they do not reveal whether the odometer receives cycle counts, proprioceptive signals or an integrated motor command.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6. Stride length as a function of stride frequency.</a:t>
            </a:r>
            <a:endParaRPr/>
          </a:p>
          <a:p>
            <a:pPr indent="0" lvl="0" marL="0" rtl="0" algn="l">
              <a:spcBef>
                <a:spcPts val="0"/>
              </a:spcBef>
              <a:spcAft>
                <a:spcPts val="0"/>
              </a:spcAft>
              <a:buNone/>
            </a:pPr>
            <a:r>
              <a:rPr lang="en-US"/>
              <a:t>Figure source: https://doi.org/10.1242/jeb.02657</a:t>
            </a:r>
            <a:endParaRPr/>
          </a:p>
        </p:txBody>
      </p:sp>
      <p:sp>
        <p:nvSpPr>
          <p:cNvPr id="288" name="Google Shape;28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Increasing walking speed can involve faster cycles, longer strides, or both. Wittlinger and colleagues recorded freely walking animals under several temperature and preparation conditions, retaining straight runs without abrupt stops for the kinematic comparisons.</a:t>
            </a:r>
            <a:endParaRPr/>
          </a:p>
          <a:p>
            <a:pPr indent="0" lvl="0" marL="0" rtl="0" algn="l">
              <a:spcBef>
                <a:spcPts val="0"/>
              </a:spcBef>
              <a:spcAft>
                <a:spcPts val="0"/>
              </a:spcAft>
              <a:buNone/>
            </a:pPr>
            <a:r>
              <a:rPr lang="en-US"/>
              <a:t>• The color-coded data related walking speed, in mm/s, to stride frequency, in Hz. Normal and shortened-leg ants increased cycle frequency as speed increased, while stilts tended to use lower frequencies for a given speed. Their longer strides partly compensated for the reduced frequency.</a:t>
            </a:r>
            <a:endParaRPr/>
          </a:p>
          <a:p>
            <a:pPr indent="0" lvl="0" marL="0" rtl="0" algn="l">
              <a:spcBef>
                <a:spcPts val="0"/>
              </a:spcBef>
              <a:spcAft>
                <a:spcPts val="0"/>
              </a:spcAft>
              <a:buNone/>
            </a:pPr>
            <a:r>
              <a:rPr lang="en-US"/>
              <a:t>• These relationships prevent interpreting every change in elapsed journey time as a proportional change in distance. A time-based explanation must account for the actual measured speeds rather than assume that all manipulated ants maintain the same cycle rate or velocity.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7(A). Stride frequency increases with walking speed.</a:t>
            </a:r>
            <a:endParaRPr/>
          </a:p>
          <a:p>
            <a:pPr indent="0" lvl="0" marL="0" rtl="0" algn="l">
              <a:spcBef>
                <a:spcPts val="0"/>
              </a:spcBef>
              <a:spcAft>
                <a:spcPts val="0"/>
              </a:spcAft>
              <a:buNone/>
            </a:pPr>
            <a:r>
              <a:rPr lang="en-US"/>
              <a:t>Figure source: https://doi.org/10.1242/jeb.02657</a:t>
            </a:r>
            <a:endParaRPr/>
          </a:p>
        </p:txBody>
      </p:sp>
      <p:sp>
        <p:nvSpPr>
          <p:cNvPr id="300" name="Google Shape;30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distance advanced during one stride is not a fixed constant for a leg condition. Cataglyphis changes stride length as it runs faster, so the effect of altered limb length must be evaluated across measured locomotor speeds.</a:t>
            </a:r>
            <a:endParaRPr/>
          </a:p>
          <a:p>
            <a:pPr indent="0" lvl="0" marL="0" rtl="0" algn="l">
              <a:spcBef>
                <a:spcPts val="0"/>
              </a:spcBef>
              <a:spcAft>
                <a:spcPts val="0"/>
              </a:spcAft>
              <a:buNone/>
            </a:pPr>
            <a:r>
              <a:rPr lang="en-US"/>
              <a:t>• The published plot relates stride length in mm to walking speed in mm/s. Stilts have longer strides than controls at comparable speeds, and stumps shorter strides. High-speed recordings establish this relationship independently of the turning-point measures used to locate each ant’s nest search.</a:t>
            </a:r>
            <a:endParaRPr/>
          </a:p>
          <a:p>
            <a:pPr indent="0" lvl="0" marL="0" rtl="0" algn="l">
              <a:spcBef>
                <a:spcPts val="0"/>
              </a:spcBef>
              <a:spcAft>
                <a:spcPts val="0"/>
              </a:spcAft>
              <a:buNone/>
            </a:pPr>
            <a:r>
              <a:rPr lang="en-US"/>
              <a:t>• The agreement between locomotor displacement and homing bias supports stride-based odometry while avoiding an assumption of one unchanging step size. The measurements still leave unresolved how stride-length information is represented and combined with heading information in the nervous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7(B). Stride length increases with walking speed.</a:t>
            </a:r>
            <a:endParaRPr/>
          </a:p>
          <a:p>
            <a:pPr indent="0" lvl="0" marL="0" rtl="0" algn="l">
              <a:spcBef>
                <a:spcPts val="0"/>
              </a:spcBef>
              <a:spcAft>
                <a:spcPts val="0"/>
              </a:spcAft>
              <a:buNone/>
            </a:pPr>
            <a:r>
              <a:rPr lang="en-US"/>
              <a:t>Figure source: https://doi.org/10.1242/jeb.02657</a:t>
            </a:r>
            <a:endParaRPr/>
          </a:p>
        </p:txBody>
      </p:sp>
      <p:sp>
        <p:nvSpPr>
          <p:cNvPr id="312" name="Google Shape;312;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**stride integrator** accumulates information associated with rhythmic locomotion. It need not register each footfall as a discrete counted object. Possible inputs include **proprioception**, sensory information about limb position and movement, or activity associated with generating the walking rhythm.</a:t>
            </a:r>
            <a:endParaRPr/>
          </a:p>
          <a:p>
            <a:pPr indent="0" lvl="0" marL="0" rtl="0" algn="l">
              <a:spcBef>
                <a:spcPts val="0"/>
              </a:spcBef>
              <a:spcAft>
                <a:spcPts val="0"/>
              </a:spcAft>
              <a:buNone/>
            </a:pPr>
            <a:r>
              <a:rPr lang="en-US"/>
              <a:t>• The 2007 experiments combined a 10 m navigational task with 250-frame-per-second video and leg-length manipulations. Both the preserved tripod pattern and the graded stride changes were consistent with accumulation of movement-linked information rather than a fixed elapsed-time rule.</a:t>
            </a:r>
            <a:endParaRPr/>
          </a:p>
          <a:p>
            <a:pPr indent="0" lvl="0" marL="0" rtl="0" algn="l">
              <a:spcBef>
                <a:spcPts val="0"/>
              </a:spcBef>
              <a:spcAft>
                <a:spcPts val="0"/>
              </a:spcAft>
              <a:buNone/>
            </a:pPr>
            <a:r>
              <a:rPr lang="en-US"/>
              <a:t>• The physiological alternatives were not directly recorded or selectively blocked in this study. No transmitter, receptor or ion channel was identified as the odometer mechanism, so these candidates remain proposed explanations rather than established cellular findings in Cataglyphis.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3(A). Normal tripod gait in a walking Cataglyphis fortis.</a:t>
            </a:r>
            <a:endParaRPr/>
          </a:p>
          <a:p>
            <a:pPr indent="0" lvl="0" marL="0" rtl="0" algn="l">
              <a:spcBef>
                <a:spcPts val="0"/>
              </a:spcBef>
              <a:spcAft>
                <a:spcPts val="0"/>
              </a:spcAft>
              <a:buNone/>
            </a:pPr>
            <a:r>
              <a:rPr lang="en-US"/>
              <a:t>Figure source: https://doi.org/10.1242/jeb.02657</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**Learning walks** are short excursions around the nest during the transition from interior work to outside foraging. Cataglyphis nodus repeatedly pauses and rotates during these walks, acquiring experience with directional and visual information before taking distant journeys.</a:t>
            </a:r>
            <a:endParaRPr/>
          </a:p>
          <a:p>
            <a:pPr indent="0" lvl="0" marL="0" rtl="0" algn="l">
              <a:spcBef>
                <a:spcPts val="0"/>
              </a:spcBef>
              <a:spcAft>
                <a:spcPts val="0"/>
              </a:spcAft>
              <a:buNone/>
            </a:pPr>
            <a:r>
              <a:rPr lang="en-US"/>
              <a:t>• Grob and colleagues tested novices around natural nests in Greece. A table installed 30 cm above the entrance held a polarization filter over a 60 × 60 cm learning-walk area. Ants experienced defined skylight conditions over three days before their brains were analyzed.</a:t>
            </a:r>
            <a:endParaRPr/>
          </a:p>
          <a:p>
            <a:pPr indent="0" lvl="0" marL="0" rtl="0" algn="l">
              <a:spcBef>
                <a:spcPts val="0"/>
              </a:spcBef>
              <a:spcAft>
                <a:spcPts val="0"/>
              </a:spcAft>
              <a:buNone/>
            </a:pPr>
            <a:r>
              <a:rPr lang="en-US"/>
              <a:t>• The field preparation retained active behavior near the home nest while manipulating one component of the compass environment. It tests experience-dependent structural change; it does not directly measure a complete home vector in an identified neuron or establish each novice’s later foraging success.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1(a). The polarization-filter apparatus in the natural habitat.</a:t>
            </a:r>
            <a:endParaRPr/>
          </a:p>
          <a:p>
            <a:pPr indent="0" lvl="0" marL="0" rtl="0" algn="l">
              <a:spcBef>
                <a:spcPts val="0"/>
              </a:spcBef>
              <a:spcAft>
                <a:spcPts val="0"/>
              </a:spcAft>
              <a:buNone/>
            </a:pPr>
            <a:r>
              <a:rPr lang="en-US"/>
              <a:t>Figure source: https://doi.org/10.1098/rspb.2021.2499</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**solar ephemeris** is the sun’s changing position over the day. A time-compensated sky compass must relate current solar or polarization information to heading despite that movement. Initial learning can establish the relation between celestial changes and stable surroundings.</a:t>
            </a:r>
            <a:endParaRPr/>
          </a:p>
          <a:p>
            <a:pPr indent="0" lvl="0" marL="0" rtl="0" algn="l">
              <a:spcBef>
                <a:spcPts val="0"/>
              </a:spcBef>
              <a:spcAft>
                <a:spcPts val="0"/>
              </a:spcAft>
              <a:buNone/>
            </a:pPr>
            <a:r>
              <a:rPr lang="en-US"/>
              <a:t>• Grob and colleagues compared natural skylight with a stationary polarizer, a single 90° turn at solar noon, hourly 45° turns, and continuous rotation at 15° per hour. Each treatment constrained how polarization direction changed during three days of learning walks.</a:t>
            </a:r>
            <a:endParaRPr/>
          </a:p>
          <a:p>
            <a:pPr indent="0" lvl="0" marL="0" rtl="0" algn="l">
              <a:spcBef>
                <a:spcPts val="0"/>
              </a:spcBef>
              <a:spcAft>
                <a:spcPts val="0"/>
              </a:spcAft>
              <a:buNone/>
            </a:pPr>
            <a:r>
              <a:rPr lang="en-US"/>
              <a:t>• The artificial schedules separated exposure to polarized light from experience of a changing polarization pattern. They were controlled experimental cues rather than claims that the natural sky everywhere follows those exact angular steps, especially near noon or at different geographical positions.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1(b). Stationary, stepped and continuously rotating polarization treatments.</a:t>
            </a:r>
            <a:endParaRPr/>
          </a:p>
          <a:p>
            <a:pPr indent="0" lvl="0" marL="0" rtl="0" algn="l">
              <a:spcBef>
                <a:spcPts val="0"/>
              </a:spcBef>
              <a:spcAft>
                <a:spcPts val="0"/>
              </a:spcAft>
              <a:buNone/>
            </a:pPr>
            <a:r>
              <a:rPr lang="en-US"/>
              <a:t>Figure source: https://doi.org/10.1098/rspb.2021.2499</a:t>
            </a:r>
            <a:endParaRPr/>
          </a:p>
        </p:txBody>
      </p:sp>
      <p:sp>
        <p:nvSpPr>
          <p:cNvPr id="348" name="Google Shape;3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**neuropil** is a region containing neuronal processes and synapses. The **central complex** comprises midline brain neuropils implicated in heading and navigation, while the **mushroom bodies** are paired structures implicated in memory-based processing.</a:t>
            </a:r>
            <a:endParaRPr/>
          </a:p>
          <a:p>
            <a:pPr indent="0" lvl="0" marL="0" rtl="0" algn="l">
              <a:spcBef>
                <a:spcPts val="0"/>
              </a:spcBef>
              <a:spcAft>
                <a:spcPts val="0"/>
              </a:spcAft>
              <a:buNone/>
            </a:pPr>
            <a:r>
              <a:rPr lang="en-US"/>
              <a:t>• Grob and colleagues labelled Cataglyphis brains with anti-synapsin antibodies and fluorescent phalloidin, which marks actin-rich structures. Their preparations identified mushroom-body collar microglomeruli and giant synapses in the lateral complex. The whole-brain image has a 200 µm scale bar and the synaptic insets 10 µm bars.</a:t>
            </a:r>
            <a:endParaRPr/>
          </a:p>
          <a:p>
            <a:pPr indent="0" lvl="0" marL="0" rtl="0" algn="l">
              <a:spcBef>
                <a:spcPts val="0"/>
              </a:spcBef>
              <a:spcAft>
                <a:spcPts val="0"/>
              </a:spcAft>
              <a:buNone/>
            </a:pPr>
            <a:r>
              <a:rPr lang="en-US"/>
              <a:t>• The anatomical distinction permits separate measurements along the two visual pathways. Labelling synaptic structures establishes their position and morphology, but neither stain reports the sign of a postsynaptic voltage change, an active compass heading or a stored navigational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360" name="Google Shape;36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**Synapsin** is a protein associated with presynaptic vesicles, so anti-synapsin labelling helps identify presynaptic specializations. **F-actin** is filamentous actin; fluorescent phalloidin labels it in neuronal processes and supports identification of synaptic organization.</a:t>
            </a:r>
            <a:endParaRPr/>
          </a:p>
          <a:p>
            <a:pPr indent="0" lvl="0" marL="0" rtl="0" algn="l">
              <a:spcBef>
                <a:spcPts val="0"/>
              </a:spcBef>
              <a:spcAft>
                <a:spcPts val="0"/>
              </a:spcAft>
              <a:buNone/>
            </a:pPr>
            <a:r>
              <a:rPr lang="en-US"/>
              <a:t>• The Cataglyphis nodus preparations used complementary synapsin and actin labels to quantify **microglomeruli**, compact synaptic complexes in the mushroom-body collar, and giant synapses in the lateral complex. The magnified examples retain 10 µm scale bars for these different structures.</a:t>
            </a:r>
            <a:endParaRPr/>
          </a:p>
          <a:p>
            <a:pPr indent="0" lvl="0" marL="0" rtl="0" algn="l">
              <a:spcBef>
                <a:spcPts val="0"/>
              </a:spcBef>
              <a:spcAft>
                <a:spcPts val="0"/>
              </a:spcAft>
              <a:buNone/>
            </a:pPr>
            <a:r>
              <a:rPr lang="en-US"/>
              <a:t>• Structural counts can reveal experience-associated reorganization, but an additional labelled complex does not automatically imply increased firing or stronger transmission. The experiments did not measure release probability, receptor conductance or excitatory and inhibitory currents in the counted synapses.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372" name="Google Shape;37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**Light exposure** and active learning walks are separable experimental experiences. Grob and colleagues compared dark controls with ants exposed to natural skylight, ultraviolet-filtered skylight or a fixed polarization pattern, with additional groups allowed to perform learning walks.</a:t>
            </a:r>
            <a:endParaRPr/>
          </a:p>
          <a:p>
            <a:pPr indent="0" lvl="0" marL="0" rtl="0" algn="l">
              <a:spcBef>
                <a:spcPts val="0"/>
              </a:spcBef>
              <a:spcAft>
                <a:spcPts val="0"/>
              </a:spcAft>
              <a:buNone/>
            </a:pPr>
            <a:r>
              <a:rPr lang="en-US"/>
              <a:t>• After three days, lateral-complex giant-synapse counts increased under suitable full-spectrum light exposure even without learning walks. Removing ultraviolet light reduced this response. Central-complex volume did not exhibit the same simple light-exposure dependence as the lateral-complex synaptic count.</a:t>
            </a:r>
            <a:endParaRPr/>
          </a:p>
          <a:p>
            <a:pPr indent="0" lvl="0" marL="0" rtl="0" algn="l">
              <a:spcBef>
                <a:spcPts val="0"/>
              </a:spcBef>
              <a:spcAft>
                <a:spcPts val="0"/>
              </a:spcAft>
              <a:buNone/>
            </a:pPr>
            <a:r>
              <a:rPr lang="en-US"/>
              <a:t>• The dissociation supports different experience requirements in the two visual pathways. It does not identify ultraviolet phototransduction channels or prove that additional lateral-complex synapses are sufficient for accurate homing; the measured endpoint was synaptic structure rather than navigational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2(a). Lateral-complex synaptic counts across light conditions.</a:t>
            </a:r>
            <a:endParaRPr/>
          </a:p>
          <a:p>
            <a:pPr indent="0" lvl="0" marL="0" rtl="0" algn="l">
              <a:spcBef>
                <a:spcPts val="0"/>
              </a:spcBef>
              <a:spcAft>
                <a:spcPts val="0"/>
              </a:spcAft>
              <a:buNone/>
            </a:pPr>
            <a:r>
              <a:rPr lang="en-US"/>
              <a:t>Figure source: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384" name="Google Shape;3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**Structural plasticity** is an experience-associated change in neuronal anatomy, such as neuropil volume or synaptic organization. It must be distinguished from an acute firing-rate response to a sensory stimulus.</a:t>
            </a:r>
            <a:endParaRPr/>
          </a:p>
          <a:p>
            <a:pPr indent="0" lvl="0" marL="0" rtl="0" algn="l">
              <a:spcBef>
                <a:spcPts val="0"/>
              </a:spcBef>
              <a:spcAft>
                <a:spcPts val="0"/>
              </a:spcAft>
              <a:buNone/>
            </a:pPr>
            <a:r>
              <a:rPr lang="en-US"/>
              <a:t>• After three days, natural learning walks increased the size-corrected central-complex volume relative to dark controls. Passive light exposure and learning walks under a stationary polarization filter did not produce the same increase. Brain volumes were corrected for body size rather than compared solely as raw tissue amounts.</a:t>
            </a:r>
            <a:endParaRPr/>
          </a:p>
          <a:p>
            <a:pPr indent="0" lvl="0" marL="0" rtl="0" algn="l">
              <a:spcBef>
                <a:spcPts val="0"/>
              </a:spcBef>
              <a:spcAft>
                <a:spcPts val="0"/>
              </a:spcAft>
              <a:buNone/>
            </a:pPr>
            <a:r>
              <a:rPr lang="en-US"/>
              <a:t>• The result links active experience with changing celestial information to central-complex structure. It does not establish whether volume changes arise from extra synapses, expanded neurites or other tissue components, nor whether the observed growth is causally required for path integration.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2(b). Central-complex volumes after light exposure or learning walks.</a:t>
            </a:r>
            <a:endParaRPr/>
          </a:p>
          <a:p>
            <a:pPr indent="0" lvl="0" marL="0" rtl="0" algn="l">
              <a:spcBef>
                <a:spcPts val="0"/>
              </a:spcBef>
              <a:spcAft>
                <a:spcPts val="0"/>
              </a:spcAft>
              <a:buNone/>
            </a:pPr>
            <a:r>
              <a:rPr lang="en-US"/>
              <a:t>Figure source: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398" name="Google Shape;398;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**mushroom-body collar** is a visual input region of the mushroom-body calyx. Its microglomeruli receive visual information and provide a measurable synaptic endpoint for changes accompanying the acquisition of outdoor experience.</a:t>
            </a:r>
            <a:endParaRPr/>
          </a:p>
          <a:p>
            <a:pPr indent="0" lvl="0" marL="0" rtl="0" algn="l">
              <a:spcBef>
                <a:spcPts val="0"/>
              </a:spcBef>
              <a:spcAft>
                <a:spcPts val="0"/>
              </a:spcAft>
              <a:buNone/>
            </a:pPr>
            <a:r>
              <a:rPr lang="en-US"/>
              <a:t>• Grob and colleagues allowed three days of learning walks under different polarization schedules. A stationary pattern failed to elicit the growth associated with changing polarization. A single 90° daily turn, hourly 45° turns and continuous 15°-per-hour rotation supported increases in collar volume and microglomerular number.</a:t>
            </a:r>
            <a:endParaRPr/>
          </a:p>
          <a:p>
            <a:pPr indent="0" lvl="0" marL="0" rtl="0" algn="l">
              <a:spcBef>
                <a:spcPts val="0"/>
              </a:spcBef>
              <a:spcAft>
                <a:spcPts val="0"/>
              </a:spcAft>
              <a:buNone/>
            </a:pPr>
            <a:r>
              <a:rPr lang="en-US"/>
              <a:t>• The comparison separates a changing compass-related environment from polarized illumination alone. It does not prove that these mushroom-body synapses encode the complete solar ephemeris, and it does not equate structural growth with a measured increase in synaptic current or behavioral accuracy.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3(c–d). Mushroom-body volume and microglomeruli under polarization rotation.</a:t>
            </a:r>
            <a:endParaRPr/>
          </a:p>
          <a:p>
            <a:pPr indent="0" lvl="0" marL="0" rtl="0" algn="l">
              <a:spcBef>
                <a:spcPts val="0"/>
              </a:spcBef>
              <a:spcAft>
                <a:spcPts val="0"/>
              </a:spcAft>
              <a:buNone/>
            </a:pPr>
            <a:r>
              <a:rPr lang="en-US"/>
              <a:t>Figure source: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412" name="Google Shape;412;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common sensory manipulation can affect different brain regions differently. The lateral complex lies along the sky-compass pathway, whereas the central complex and mushroom-body collar provide distinct higher-order measures of experience-associated change.</a:t>
            </a:r>
            <a:endParaRPr/>
          </a:p>
          <a:p>
            <a:pPr indent="0" lvl="0" marL="0" rtl="0" algn="l">
              <a:spcBef>
                <a:spcPts val="0"/>
              </a:spcBef>
              <a:spcAft>
                <a:spcPts val="0"/>
              </a:spcAft>
              <a:buNone/>
            </a:pPr>
            <a:r>
              <a:rPr lang="en-US"/>
              <a:t>• Across the three-day learning-walk experiment, the different polarization-rotation schedules altered central-complex volume and mushroom-body measures, but giant-synapse counts in the lateral complex remained broadly similar. The continuous rotation condition changed filter orientation at 15° per hour.</a:t>
            </a:r>
            <a:endParaRPr/>
          </a:p>
          <a:p>
            <a:pPr indent="0" lvl="0" marL="0" rtl="0" algn="l">
              <a:spcBef>
                <a:spcPts val="0"/>
              </a:spcBef>
              <a:spcAft>
                <a:spcPts val="0"/>
              </a:spcAft>
              <a:buNone/>
            </a:pPr>
            <a:r>
              <a:rPr lang="en-US"/>
              <a:t>• The dissociation limits a claim of uniform growth throughout the visual system. Similar giant-synapse numbers do not establish identical activity in that pathway; transmitter release, synaptic strength and firing patterns were not measured by counting anatomical complexes.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3(a–b). Giant synapses and central-complex volume under polarization rotation.</a:t>
            </a:r>
            <a:endParaRPr/>
          </a:p>
          <a:p>
            <a:pPr indent="0" lvl="0" marL="0" rtl="0" algn="l">
              <a:spcBef>
                <a:spcPts val="0"/>
              </a:spcBef>
              <a:spcAft>
                <a:spcPts val="0"/>
              </a:spcAft>
              <a:buNone/>
            </a:pPr>
            <a:r>
              <a:rPr lang="en-US"/>
              <a:t>Figure source: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426" name="Google Shape;426;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**GABAergic** neurons use gamma-aminobutyric acid as a transmitter; **cholinergic** neurons use acetylcholine. These transmitter classifications describe signaling identity, while the postsynaptic effect also depends on receptor type and cellular conditions.</a:t>
            </a:r>
            <a:endParaRPr/>
          </a:p>
          <a:p>
            <a:pPr indent="0" lvl="0" marL="0" rtl="0" algn="l">
              <a:spcBef>
                <a:spcPts val="0"/>
              </a:spcBef>
              <a:spcAft>
                <a:spcPts val="0"/>
              </a:spcAft>
              <a:buNone/>
            </a:pPr>
            <a:r>
              <a:rPr lang="en-US"/>
              <a:t>• Grob and colleagues discuss evidence that most tangential neurons projecting from the lateral complex toward the central complex are GABAergic, whereas visual projection neurons supplying mushroom bodies are presumably cholinergic. Their three-day experience experiment measured structural endpoints in these pathways rather than pharmacologically isolating transmitter action.</a:t>
            </a:r>
            <a:endParaRPr/>
          </a:p>
          <a:p>
            <a:pPr indent="0" lvl="0" marL="0" rtl="0" algn="l">
              <a:spcBef>
                <a:spcPts val="0"/>
              </a:spcBef>
              <a:spcAft>
                <a:spcPts val="0"/>
              </a:spcAft>
              <a:buNone/>
            </a:pPr>
            <a:r>
              <a:rPr lang="en-US"/>
              <a:t>• The different transmitter identities may contribute to different plasticity patterns, but that explanation was proposed rather than tested here. The study does not establish which GABA or acetylcholine receptor subtype, ion channel or intracellular cascade causes the observed volume and synaptic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1(d). Published three-dimensional reconstruction of visual integration centres.</a:t>
            </a:r>
            <a:endParaRPr/>
          </a:p>
          <a:p>
            <a:pPr indent="0" lvl="0" marL="0" rtl="0" algn="l">
              <a:spcBef>
                <a:spcPts val="0"/>
              </a:spcBef>
              <a:spcAft>
                <a:spcPts val="0"/>
              </a:spcAft>
              <a:buNone/>
            </a:pPr>
            <a:r>
              <a:rPr lang="en-US"/>
              <a:t>Figure source: https://doi.org/10.1098/rspb.2021.2499</a:t>
            </a:r>
            <a:endParaRPr/>
          </a:p>
        </p:txBody>
      </p:sp>
      <p:sp>
        <p:nvSpPr>
          <p:cNvPr id="440" name="Google Shape;440;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**geomagnetic field** is Earth’s magnetic field, which can provide a directional reference independent of the sun’s daily movement. A **Helmholtz coil system** generates controlled magnetic fields in an experimental volume.</a:t>
            </a:r>
            <a:endParaRPr/>
          </a:p>
          <a:p>
            <a:pPr indent="0" lvl="0" marL="0" rtl="0" algn="l">
              <a:spcBef>
                <a:spcPts val="0"/>
              </a:spcBef>
              <a:spcAft>
                <a:spcPts val="0"/>
              </a:spcAft>
              <a:buNone/>
            </a:pPr>
            <a:r>
              <a:rPr lang="en-US"/>
              <a:t>• Grob and colleagues installed a three-dimensional coil system around a 60 × 60 cm platform connected to a Cataglyphis nodus nest. Novices performed learning walks over three consecutive days. At the site, the natural total field was about 46.1 µT, with a horizontal component of 26.6 µT.</a:t>
            </a:r>
            <a:endParaRPr/>
          </a:p>
          <a:p>
            <a:pPr indent="0" lvl="0" marL="0" rtl="0" algn="l">
              <a:spcBef>
                <a:spcPts val="0"/>
              </a:spcBef>
              <a:spcAft>
                <a:spcPts val="0"/>
              </a:spcAft>
              <a:buNone/>
            </a:pPr>
            <a:r>
              <a:rPr lang="en-US"/>
              <a:t>• The preparation manipulated magnetic information while retaining the natural panorama and celestial environment. Comparing several magnetic conditions with dark interior-worker controls allowed assessment of experience-associated brain changes, but did not directly identify a magnetic receptor or selectively stimulate a known magnetosensory neuron.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1(C). Helmholtz coils and the learning-walk platform.</a:t>
            </a:r>
            <a:endParaRPr/>
          </a:p>
          <a:p>
            <a:pPr indent="0" lvl="0" marL="0" rtl="0" algn="l">
              <a:spcBef>
                <a:spcPts val="0"/>
              </a:spcBef>
              <a:spcAft>
                <a:spcPts val="0"/>
              </a:spcAft>
              <a:buNone/>
            </a:pPr>
            <a:r>
              <a:rPr lang="en-US"/>
              <a:t>Figure source: https://doi.org/10.1073/pnas.2320764121</a:t>
            </a:r>
            <a:endParaRPr/>
          </a:p>
        </p:txBody>
      </p:sp>
      <p:sp>
        <p:nvSpPr>
          <p:cNvPr id="452" name="Google Shape;452;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**pirouette** is a rotation around the ant’s body axis during a learning walk. Under natural conditions, the longest pauses in these rotations are directed toward the nest, providing a measurable orientation behavior near the nest entrance.</a:t>
            </a:r>
            <a:endParaRPr/>
          </a:p>
          <a:p>
            <a:pPr indent="0" lvl="0" marL="0" rtl="0" algn="l">
              <a:spcBef>
                <a:spcPts val="0"/>
              </a:spcBef>
              <a:spcAft>
                <a:spcPts val="0"/>
              </a:spcAft>
              <a:buNone/>
            </a:pPr>
            <a:r>
              <a:rPr lang="en-US"/>
              <a:t>• In the horizontal-elimination condition, the coils cancelled the horizontal field component while retaining a downward vertical field of about 37.5 µT. The longest stopping directions no longer clustered toward the nest in the published angular distributions, which used 10° bins.</a:t>
            </a:r>
            <a:endParaRPr/>
          </a:p>
          <a:p>
            <a:pPr indent="0" lvl="0" marL="0" rtl="0" algn="l">
              <a:spcBef>
                <a:spcPts val="0"/>
              </a:spcBef>
              <a:spcAft>
                <a:spcPts val="0"/>
              </a:spcAft>
              <a:buNone/>
            </a:pPr>
            <a:r>
              <a:rPr lang="en-US"/>
              <a:t>• The result supports a role for horizontal magnetic information in the novices’ nest-directed behavior under this condition. It does not prove that every other compass cue is unavailable, and the remaining vertical field differs fundamentally from removing magnetic information entirely.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2(A–C). Nest-directed gazes under three magnetic manipulations.</a:t>
            </a:r>
            <a:endParaRPr/>
          </a:p>
          <a:p>
            <a:pPr indent="0" lvl="0" marL="0" rtl="0" algn="l">
              <a:spcBef>
                <a:spcPts val="0"/>
              </a:spcBef>
              <a:spcAft>
                <a:spcPts val="0"/>
              </a:spcAft>
              <a:buNone/>
            </a:pPr>
            <a:r>
              <a:rPr lang="en-US"/>
              <a:t>Figure source: https://doi.org/10.1073/pnas.2320764121</a:t>
            </a:r>
            <a:endParaRPr/>
          </a:p>
        </p:txBody>
      </p:sp>
      <p:sp>
        <p:nvSpPr>
          <p:cNvPr id="464" name="Google Shape;464;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Complete magnetic-field elimination is a distinct cue manipulation from retaining a vertical field. Grob and colleagues cancelled both the horizontal and vertical components rather than leaving a directional magnetic cue pointing downward.</a:t>
            </a:r>
            <a:endParaRPr/>
          </a:p>
          <a:p>
            <a:pPr indent="0" lvl="0" marL="0" rtl="0" algn="l">
              <a:spcBef>
                <a:spcPts val="0"/>
              </a:spcBef>
              <a:spcAft>
                <a:spcPts val="0"/>
              </a:spcAft>
              <a:buNone/>
            </a:pPr>
            <a:r>
              <a:rPr lang="en-US"/>
              <a:t>• Under total elimination, the residual field was about 0.1 µT. Ants nevertheless directed their longest pirouette pauses toward the nest. This differed from the loss of nest-directed gazes when only the horizontal component had been eliminated.</a:t>
            </a:r>
            <a:endParaRPr/>
          </a:p>
          <a:p>
            <a:pPr indent="0" lvl="0" marL="0" rtl="0" algn="l">
              <a:spcBef>
                <a:spcPts val="0"/>
              </a:spcBef>
              <a:spcAft>
                <a:spcPts val="0"/>
              </a:spcAft>
              <a:buNone/>
            </a:pPr>
            <a:r>
              <a:rPr lang="en-US"/>
              <a:t>• The authors interpreted the contrast as possible recruitment of a backup compass when magnetic information was absent altogether. Panoramic information is a candidate, but the experiment did not independently remove it, so the specific substitute cue and the switching mechanism remain unresolved.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2(A–C). Nest-directed gazes under three magnetic manipulations.</a:t>
            </a:r>
            <a:endParaRPr/>
          </a:p>
          <a:p>
            <a:pPr indent="0" lvl="0" marL="0" rtl="0" algn="l">
              <a:spcBef>
                <a:spcPts val="0"/>
              </a:spcBef>
              <a:spcAft>
                <a:spcPts val="0"/>
              </a:spcAft>
              <a:buNone/>
            </a:pPr>
            <a:r>
              <a:rPr lang="en-US"/>
              <a:t>Figure source: https://doi.org/10.1073/pnas.2320764121</a:t>
            </a:r>
            <a:endParaRPr/>
          </a:p>
        </p:txBody>
      </p:sp>
      <p:sp>
        <p:nvSpPr>
          <p:cNvPr id="476" name="Google Shape;476;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magnetic cue need not always point toward natural magnetic north to provide a usable short-term directional reference. The relevant comparison is whether its direction remains sufficiently stable during each individual learning walk.</a:t>
            </a:r>
            <a:endParaRPr/>
          </a:p>
          <a:p>
            <a:pPr indent="0" lvl="0" marL="0" rtl="0" algn="l">
              <a:spcBef>
                <a:spcPts val="0"/>
              </a:spcBef>
              <a:spcAft>
                <a:spcPts val="0"/>
              </a:spcAft>
              <a:buNone/>
            </a:pPr>
            <a:r>
              <a:rPr lang="en-US"/>
              <a:t>• In the magnetic-plus-solar condition, the horizontal vector was adjusted every 10 seconds to follow the sun’s azimuth over the day. Individual walks lasted seconds to minutes, and ants retained nest-directed longest stops despite the vector’s changing geographical alignment.</a:t>
            </a:r>
            <a:endParaRPr/>
          </a:p>
          <a:p>
            <a:pPr indent="0" lvl="0" marL="0" rtl="0" algn="l">
              <a:spcBef>
                <a:spcPts val="0"/>
              </a:spcBef>
              <a:spcAft>
                <a:spcPts val="0"/>
              </a:spcAft>
              <a:buNone/>
            </a:pPr>
            <a:r>
              <a:rPr lang="en-US"/>
              <a:t>• The preservation of look-back behavior does not establish normal long-term calibration. The manipulation makes magnetic and celestial directions covary over the day, removing their natural changing angular relationship even while leaving a useful reference for an individual short excursion.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2(A–C). Nest-directed gazes under three magnetic manipulations.</a:t>
            </a:r>
            <a:endParaRPr/>
          </a:p>
          <a:p>
            <a:pPr indent="0" lvl="0" marL="0" rtl="0" algn="l">
              <a:spcBef>
                <a:spcPts val="0"/>
              </a:spcBef>
              <a:spcAft>
                <a:spcPts val="0"/>
              </a:spcAft>
              <a:buNone/>
            </a:pPr>
            <a:r>
              <a:rPr lang="en-US"/>
              <a:t>Figure source: https://doi.org/10.1073/pnas.2320764121</a:t>
            </a:r>
            <a:endParaRPr/>
          </a:p>
        </p:txBody>
      </p:sp>
      <p:sp>
        <p:nvSpPr>
          <p:cNvPr id="488" name="Google Shape;488;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Accurate nest-directed gazes and structural brain change are different experimental endpoints. Recording a successful look-back does not guarantee that all compass-calibration and visual-memory processes associated with the learning period occur normally.</a:t>
            </a:r>
            <a:endParaRPr/>
          </a:p>
          <a:p>
            <a:pPr indent="0" lvl="0" marL="0" rtl="0" algn="l">
              <a:spcBef>
                <a:spcPts val="0"/>
              </a:spcBef>
              <a:spcAft>
                <a:spcPts val="0"/>
              </a:spcAft>
              <a:buNone/>
            </a:pPr>
            <a:r>
              <a:rPr lang="en-US"/>
              <a:t>• After three days, central-complex volume increased under natural magnetic conditions and under several elimination or disarray conditions. When the magnetic vector followed solar azimuth, central-complex growth did not occur relative to dark controls, despite preserved nest-directed look-backs.</a:t>
            </a:r>
            <a:endParaRPr/>
          </a:p>
          <a:p>
            <a:pPr indent="0" lvl="0" marL="0" rtl="0" algn="l">
              <a:spcBef>
                <a:spcPts val="0"/>
              </a:spcBef>
              <a:spcAft>
                <a:spcPts val="0"/>
              </a:spcAft>
              <a:buNone/>
            </a:pPr>
            <a:r>
              <a:rPr lang="en-US"/>
              <a:t>• The result dissociates an immediate orientation behavior from an experience-associated anatomical outcome. It supports a role for the changing relation between compass cues, but does not demonstrate that absent volume growth causes a later navigation deficit; that causal behavioral test was not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4(A). Central-complex volume under magnetic treatments.</a:t>
            </a:r>
            <a:endParaRPr/>
          </a:p>
          <a:p>
            <a:pPr indent="0" lvl="0" marL="0" rtl="0" algn="l">
              <a:spcBef>
                <a:spcPts val="0"/>
              </a:spcBef>
              <a:spcAft>
                <a:spcPts val="0"/>
              </a:spcAft>
              <a:buNone/>
            </a:pPr>
            <a:r>
              <a:rPr lang="en-US"/>
              <a:t>Figure source: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3(B). Central complex and mushroom-body collar reconstruction.</a:t>
            </a:r>
            <a:endParaRPr/>
          </a:p>
          <a:p>
            <a:pPr indent="0" lvl="0" marL="0" rtl="0" algn="l">
              <a:spcBef>
                <a:spcPts val="0"/>
              </a:spcBef>
              <a:spcAft>
                <a:spcPts val="0"/>
              </a:spcAft>
              <a:buNone/>
            </a:pPr>
            <a:r>
              <a:rPr lang="en-US"/>
              <a:t>Figure source: https://doi.org/10.1073/pnas.2320764121</a:t>
            </a:r>
            <a:endParaRPr/>
          </a:p>
        </p:txBody>
      </p:sp>
      <p:sp>
        <p:nvSpPr>
          <p:cNvPr id="500" name="Google Shape;500;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Visual memories acquired near the nest may require information specifying which direction the ant is facing. The mushroom-body collar provides a visual input region in which synaptic structure can be compared after controlled learning experience.</a:t>
            </a:r>
            <a:endParaRPr/>
          </a:p>
          <a:p>
            <a:pPr indent="0" lvl="0" marL="0" rtl="0" algn="l">
              <a:spcBef>
                <a:spcPts val="0"/>
              </a:spcBef>
              <a:spcAft>
                <a:spcPts val="0"/>
              </a:spcAft>
              <a:buNone/>
            </a:pPr>
            <a:r>
              <a:rPr lang="en-US"/>
              <a:t>• Grob and colleagues measured size-corrected collar volume and microglomerular number after three days of learning walks. These measures increased under the natural field, while the tested altered magnetic conditions did not produce the same increases. The effect differed from central-complex responses to complete field removal.</a:t>
            </a:r>
            <a:endParaRPr/>
          </a:p>
          <a:p>
            <a:pPr indent="0" lvl="0" marL="0" rtl="0" algn="l">
              <a:spcBef>
                <a:spcPts val="0"/>
              </a:spcBef>
              <a:spcAft>
                <a:spcPts val="0"/>
              </a:spcAft>
              <a:buNone/>
            </a:pPr>
            <a:r>
              <a:rPr lang="en-US"/>
              <a:t>• The association supports a role for appropriate magnetic information in experience-dependent visual circuitry. It does not identify an engram for a particular view, prove that microglomerular growth stores the nest panorama, or establish which molecular signal controls consolidation.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4(B–C). Mushroom-body volume and synaptic complexes under magnetic treatments.</a:t>
            </a:r>
            <a:endParaRPr/>
          </a:p>
          <a:p>
            <a:pPr indent="0" lvl="0" marL="0" rtl="0" algn="l">
              <a:spcBef>
                <a:spcPts val="0"/>
              </a:spcBef>
              <a:spcAft>
                <a:spcPts val="0"/>
              </a:spcAft>
              <a:buNone/>
            </a:pPr>
            <a:r>
              <a:rPr lang="en-US"/>
              <a:t>Figure source: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3(A). Synapsin-labelled brain and mushroom-body microglomeruli.</a:t>
            </a:r>
            <a:endParaRPr/>
          </a:p>
          <a:p>
            <a:pPr indent="0" lvl="0" marL="0" rtl="0" algn="l">
              <a:spcBef>
                <a:spcPts val="0"/>
              </a:spcBef>
              <a:spcAft>
                <a:spcPts val="0"/>
              </a:spcAft>
              <a:buNone/>
            </a:pPr>
            <a:r>
              <a:rPr lang="en-US"/>
              <a:t>Figure source: https://doi.org/10.1073/pnas.2320764121</a:t>
            </a:r>
            <a:endParaRPr/>
          </a:p>
        </p:txBody>
      </p:sp>
      <p:sp>
        <p:nvSpPr>
          <p:cNvPr id="514" name="Google Shape;514;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**Compass calibration** establishes the relationship between a sensory directional cue and an internal heading reference. The sun and polarization pattern change over the day, whereas natural magnetic direction and a fixed panorama provide comparatively stable external references.</a:t>
            </a:r>
            <a:endParaRPr/>
          </a:p>
          <a:p>
            <a:pPr indent="0" lvl="0" marL="0" rtl="0" algn="l">
              <a:spcBef>
                <a:spcPts val="0"/>
              </a:spcBef>
              <a:spcAft>
                <a:spcPts val="0"/>
              </a:spcAft>
              <a:buNone/>
            </a:pPr>
            <a:r>
              <a:rPr lang="en-US"/>
              <a:t>• The three-day magnetic experiment dissociated natural-field exposure from a vector that rotated with the sun. The published circuit hypothesis proposes convergence of magnetic, panoramic and celestial information in the **posterior slope**, a multisensory brain region linked to the central complex.</a:t>
            </a:r>
            <a:endParaRPr/>
          </a:p>
          <a:p>
            <a:pPr indent="0" lvl="0" marL="0" rtl="0" algn="l">
              <a:spcBef>
                <a:spcPts val="0"/>
              </a:spcBef>
              <a:spcAft>
                <a:spcPts val="0"/>
              </a:spcAft>
              <a:buNone/>
            </a:pPr>
            <a:r>
              <a:rPr lang="en-US"/>
              <a:t>• The posterior-slope mechanism is a proposed anatomical account supported by comparative connectivity, not a direct recording of cue integration in these ants. The candidate contribution of the antennal Johnston’s organ to magnetoreception likewise remains unproven; no magnetic receptor molecule or ion channel was identified.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5. Published hypothesis for integrating magnetic and celestial information.</a:t>
            </a:r>
            <a:endParaRPr/>
          </a:p>
          <a:p>
            <a:pPr indent="0" lvl="0" marL="0" rtl="0" algn="l">
              <a:spcBef>
                <a:spcPts val="0"/>
              </a:spcBef>
              <a:spcAft>
                <a:spcPts val="0"/>
              </a:spcAft>
              <a:buNone/>
            </a:pPr>
            <a:r>
              <a:rPr lang="en-US"/>
              <a:t>Figure source: https://doi.org/10.1073/pnas.2320764121</a:t>
            </a:r>
            <a:endParaRPr/>
          </a:p>
        </p:txBody>
      </p:sp>
      <p:sp>
        <p:nvSpPr>
          <p:cNvPr id="528" name="Google Shape;528;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**goal vector** specifies a remembered direction and distance to a destination relative to the nest. A **shortcut** connects familiar destinations along a route that was not itself used during training; this behavior need not uniquely imply a metric cognitive map.</a:t>
            </a:r>
            <a:endParaRPr/>
          </a:p>
          <a:p>
            <a:pPr indent="0" lvl="0" marL="0" rtl="0" algn="l">
              <a:spcBef>
                <a:spcPts val="0"/>
              </a:spcBef>
              <a:spcAft>
                <a:spcPts val="0"/>
              </a:spcAft>
              <a:buNone/>
            </a:pPr>
            <a:r>
              <a:rPr lang="en-US"/>
              <a:t>• Voegeli and colleagues trained Cataglyphis ants to feeders A and B in separate channels. The nest distances were 4.5 m and 5.7 m, and the test channel connected the feeder positions across a 4.1 m separation. Only one nest-channel entrance was open at a time.</a:t>
            </a:r>
            <a:endParaRPr/>
          </a:p>
          <a:p>
            <a:pPr indent="0" lvl="0" marL="0" rtl="0" algn="l">
              <a:spcBef>
                <a:spcPts val="0"/>
              </a:spcBef>
              <a:spcAft>
                <a:spcPts val="0"/>
              </a:spcAft>
              <a:buNone/>
            </a:pPr>
            <a:r>
              <a:rPr lang="en-US"/>
              <a:t>• The channel arrangement separated experience with individual nest-to-feeder routes from experience with their connecting route. It provided a controlled way to test use of stored goals and an ongoing path integrator without first training the ant to follow the proposed shortcut.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1. Training channels, two feeders and the novel connecting route.</a:t>
            </a:r>
            <a:endParaRPr/>
          </a:p>
          <a:p>
            <a:pPr indent="0" lvl="0" marL="0" rtl="0" algn="l">
              <a:spcBef>
                <a:spcPts val="0"/>
              </a:spcBef>
              <a:spcAft>
                <a:spcPts val="0"/>
              </a:spcAft>
              <a:buNone/>
            </a:pPr>
            <a:r>
              <a:rPr lang="en-US"/>
              <a:t>Figure source: https://doi.org/10.1007/s00359-024-01725-2</a:t>
            </a:r>
            <a:endParaRPr/>
          </a:p>
        </p:txBody>
      </p:sp>
      <p:sp>
        <p:nvSpPr>
          <p:cNvPr id="540" name="Google Shape;540;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Experience with more than one food source can establish alternative navigational goals. In the channel experiment, feeders were hidden below the channel floor, preventing an approaching ant from simply steering toward a visible food cup.</a:t>
            </a:r>
            <a:endParaRPr/>
          </a:p>
          <a:p>
            <a:pPr indent="0" lvl="0" marL="0" rtl="0" algn="l">
              <a:spcBef>
                <a:spcPts val="0"/>
              </a:spcBef>
              <a:spcAft>
                <a:spcPts val="0"/>
              </a:spcAft>
              <a:buNone/>
            </a:pPr>
            <a:r>
              <a:rPr lang="en-US"/>
              <a:t>• Ants completed ten training journeys: four to feeder A, four to B and two final journeys to A. Feeder B lay 45° to the left or right of A as viewed from the nest. The subsequent test removed food and opened the connecting test channel at A.</a:t>
            </a:r>
            <a:endParaRPr/>
          </a:p>
          <a:p>
            <a:pPr indent="0" lvl="0" marL="0" rtl="0" algn="l">
              <a:spcBef>
                <a:spcPts val="0"/>
              </a:spcBef>
              <a:spcAft>
                <a:spcPts val="0"/>
              </a:spcAft>
              <a:buNone/>
            </a:pPr>
            <a:r>
              <a:rPr lang="en-US"/>
              <a:t>• The final visits standardized the starting goal while preserving experience with the second destination. Channel shutters constrained which route was available, but the design still allows the ant to choose search directions within the connecting channel rather than forcing a particular first 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1. Training channels, two feeders and the novel connecting route.</a:t>
            </a:r>
            <a:endParaRPr/>
          </a:p>
          <a:p>
            <a:pPr indent="0" lvl="0" marL="0" rtl="0" algn="l">
              <a:spcBef>
                <a:spcPts val="0"/>
              </a:spcBef>
              <a:spcAft>
                <a:spcPts val="0"/>
              </a:spcAft>
              <a:buNone/>
            </a:pPr>
            <a:r>
              <a:rPr lang="en-US"/>
              <a:t>Figure source: https://doi.org/10.1007/s00359-024-01725-2</a:t>
            </a:r>
            <a:endParaRPr/>
          </a:p>
        </p:txBody>
      </p:sp>
      <p:sp>
        <p:nvSpPr>
          <p:cNvPr id="552" name="Google Shape;552;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one-feeder control establishes the search pattern expected without memory of a second food source. This comparison distinguishes a general tendency to widen a search from a directional bias toward another learned destination.</a:t>
            </a:r>
            <a:endParaRPr/>
          </a:p>
          <a:p>
            <a:pPr indent="0" lvl="0" marL="0" rtl="0" algn="l">
              <a:spcBef>
                <a:spcPts val="0"/>
              </a:spcBef>
              <a:spcAft>
                <a:spcPts val="0"/>
              </a:spcAft>
              <a:buNone/>
            </a:pPr>
            <a:r>
              <a:rPr lang="en-US"/>
              <a:t>• Control ants visited only feeder A before testing. After food removal, their searches were concentrated around the former feeder position and distributed approximately symmetrically on its two sides. Distance from the starting point was measured in metres along the connecting test channel.</a:t>
            </a:r>
            <a:endParaRPr/>
          </a:p>
          <a:p>
            <a:pPr indent="0" lvl="0" marL="0" rtl="0" algn="l">
              <a:spcBef>
                <a:spcPts val="0"/>
              </a:spcBef>
              <a:spcAft>
                <a:spcPts val="0"/>
              </a:spcAft>
              <a:buNone/>
            </a:pPr>
            <a:r>
              <a:rPr lang="en-US"/>
              <a:t>• The symmetric baseline constrains interpretations of the two-feeder experiments. A later directional shift cannot be attributed simply to entering that channel, although a density distribution still describes where ants search rather than directly measuring the neural representation of a food 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2. Symmetric search after training to one feeder.</a:t>
            </a:r>
            <a:endParaRPr/>
          </a:p>
          <a:p>
            <a:pPr indent="0" lvl="0" marL="0" rtl="0" algn="l">
              <a:spcBef>
                <a:spcPts val="0"/>
              </a:spcBef>
              <a:spcAft>
                <a:spcPts val="0"/>
              </a:spcAft>
              <a:buNone/>
            </a:pPr>
            <a:r>
              <a:rPr lang="en-US"/>
              <a:t>Figure source: https://doi.org/10.1007/s00359-024-01725-2</a:t>
            </a:r>
            <a:endParaRPr/>
          </a:p>
        </p:txBody>
      </p:sp>
      <p:sp>
        <p:nvSpPr>
          <p:cNvPr id="564" name="Google Shape;564;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first U-turn after the missing feeder measures an early component of search direction. It is distinct from the full spatial distribution accumulated during later back-and-forth movements in the test channel.</a:t>
            </a:r>
            <a:endParaRPr/>
          </a:p>
          <a:p>
            <a:pPr indent="0" lvl="0" marL="0" rtl="0" algn="l">
              <a:spcBef>
                <a:spcPts val="0"/>
              </a:spcBef>
              <a:spcAft>
                <a:spcPts val="0"/>
              </a:spcAft>
              <a:buNone/>
            </a:pPr>
            <a:r>
              <a:rPr lang="en-US"/>
              <a:t>• After training to A and B, about two-thirds of the ants made their first U-turn on the side containing the second feeder. The effect occurred with feeder B either left or right of A, whose trained positions were separated by 4.1 m.</a:t>
            </a:r>
            <a:endParaRPr/>
          </a:p>
          <a:p>
            <a:pPr indent="0" lvl="0" marL="0" rtl="0" algn="l">
              <a:spcBef>
                <a:spcPts val="0"/>
              </a:spcBef>
              <a:spcAft>
                <a:spcPts val="0"/>
              </a:spcAft>
              <a:buNone/>
            </a:pPr>
            <a:r>
              <a:rPr lang="en-US"/>
              <a:t>• The left–right comparison argues against an intrinsic turning preference accounting for the result. The early bias is consistent with using an alternative learned goal, but a first turn alone does not establish arrival accuracy or distinguish all possible computations involving current and remembered vectors.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3(a–b). Search shifts toward the second feeder on either side.</a:t>
            </a:r>
            <a:endParaRPr/>
          </a:p>
          <a:p>
            <a:pPr indent="0" lvl="0" marL="0" rtl="0" algn="l">
              <a:spcBef>
                <a:spcPts val="0"/>
              </a:spcBef>
              <a:spcAft>
                <a:spcPts val="0"/>
              </a:spcAft>
              <a:buNone/>
            </a:pPr>
            <a:r>
              <a:rPr lang="en-US"/>
              <a:t>Figure source: https://doi.org/10.1007/s00359-024-01725-2</a:t>
            </a:r>
            <a:endParaRPr/>
          </a:p>
        </p:txBody>
      </p:sp>
      <p:sp>
        <p:nvSpPr>
          <p:cNvPr id="576" name="Google Shape;576;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full search trajectory contains information beyond its first movement. Ants can begin at the expected position of one feeder, then redistribute their efforts toward another destination when the first food source is absent.</a:t>
            </a:r>
            <a:endParaRPr/>
          </a:p>
          <a:p>
            <a:pPr indent="0" lvl="0" marL="0" rtl="0" algn="l">
              <a:spcBef>
                <a:spcPts val="0"/>
              </a:spcBef>
              <a:spcAft>
                <a:spcPts val="0"/>
              </a:spcAft>
              <a:buNone/>
            </a:pPr>
            <a:r>
              <a:rPr lang="en-US"/>
              <a:t>• Two-feeder ants initially searched around A but progressively widened their searches toward B. Their search-density distributions were asymmetric in the direction of the second feeder, whereas the one-feeder controls were symmetric. The effect reversed when B changed from the left to the right side.</a:t>
            </a:r>
            <a:endParaRPr/>
          </a:p>
          <a:p>
            <a:pPr indent="0" lvl="0" marL="0" rtl="0" algn="l">
              <a:spcBef>
                <a:spcPts val="0"/>
              </a:spcBef>
              <a:spcAft>
                <a:spcPts val="0"/>
              </a:spcAft>
              <a:buNone/>
            </a:pPr>
            <a:r>
              <a:rPr lang="en-US"/>
              <a:t>• The evidence supports flexible use of prior destination experience without requiring prior travel along A-to-B. It does not demonstrate a landmark-based representation of the connecting space, because the channel experiment was designed around controlled routes and stored vector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3(a–b). Search shifts toward the second feeder on either side.</a:t>
            </a:r>
            <a:endParaRPr/>
          </a:p>
          <a:p>
            <a:pPr indent="0" lvl="0" marL="0" rtl="0" algn="l">
              <a:spcBef>
                <a:spcPts val="0"/>
              </a:spcBef>
              <a:spcAft>
                <a:spcPts val="0"/>
              </a:spcAft>
              <a:buNone/>
            </a:pPr>
            <a:r>
              <a:rPr lang="en-US"/>
              <a:t>Figure source: https://doi.org/10.1007/s00359-024-01725-2</a:t>
            </a:r>
            <a:endParaRPr/>
          </a:p>
        </p:txBody>
      </p:sp>
      <p:sp>
        <p:nvSpPr>
          <p:cNvPr id="588" name="Google Shape;588;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narrow channel restricts the visible portion of the polarization pattern. Depending on channel orientation and solar position, this restriction can bias the compass information used during outbound acquisition and therefore alter a stored goal vector.</a:t>
            </a:r>
            <a:endParaRPr/>
          </a:p>
          <a:p>
            <a:pPr indent="0" lvl="0" marL="0" rtl="0" algn="l">
              <a:spcBef>
                <a:spcPts val="0"/>
              </a:spcBef>
              <a:spcAft>
                <a:spcPts val="0"/>
              </a:spcAft>
              <a:buNone/>
            </a:pPr>
            <a:r>
              <a:rPr lang="en-US"/>
              <a:t>• Voegeli and colleagues separated tests into conditions predicting underestimation or overestimation of the 4.1 m A-to-B distance. Relative search distributions were obtained by subtracting the one-feeder baseline from the two-feeder distributions. Their positive regions shifted in the predicted direction.</a:t>
            </a:r>
            <a:endParaRPr/>
          </a:p>
          <a:p>
            <a:pPr indent="0" lvl="0" marL="0" rtl="0" algn="l">
              <a:spcBef>
                <a:spcPts val="0"/>
              </a:spcBef>
              <a:spcAft>
                <a:spcPts val="0"/>
              </a:spcAft>
              <a:buNone/>
            </a:pPr>
            <a:r>
              <a:rPr lang="en-US"/>
              <a:t>• The relationship links the searches to compass information acquired through the channels rather than merely to the physical location of an absent feeder. The subtraction is an analysis of recorded behavior, not proof that ants themselves subtract search distributions or represent their uncertainty in this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4(a1–b2). Relative search distributions track predicted compass biases.</a:t>
            </a:r>
            <a:endParaRPr/>
          </a:p>
          <a:p>
            <a:pPr indent="0" lvl="0" marL="0" rtl="0" algn="l">
              <a:spcBef>
                <a:spcPts val="0"/>
              </a:spcBef>
              <a:spcAft>
                <a:spcPts val="0"/>
              </a:spcAft>
              <a:buNone/>
            </a:pPr>
            <a:r>
              <a:rPr lang="en-US"/>
              <a:t>Figure source: https://doi.org/10.1007/s00359-024-01725-2</a:t>
            </a:r>
            <a:endParaRPr/>
          </a:p>
        </p:txBody>
      </p:sp>
      <p:sp>
        <p:nvSpPr>
          <p:cNvPr id="600" name="Google Shape;600;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**current vector** is updated during ongoing travel, whereas a stored goal vector can persist across journeys. A goal can be approached by comparing the current nest-relative state with a remembered destination rather than constructing a map of all familiar places.</a:t>
            </a:r>
            <a:endParaRPr/>
          </a:p>
          <a:p>
            <a:pPr indent="0" lvl="0" marL="0" rtl="0" algn="l">
              <a:spcBef>
                <a:spcPts val="0"/>
              </a:spcBef>
              <a:spcAft>
                <a:spcPts val="0"/>
              </a:spcAft>
              <a:buNone/>
            </a:pPr>
            <a:r>
              <a:rPr lang="en-US"/>
              <a:t>• In the two-feeder experiment, ants searched toward B from A along an untrained connecting route separated by 4.1 m. The authors proposed retrieval of B’s food vector into working memory while the path integrator continued to track the ant’s current state.</a:t>
            </a:r>
            <a:endParaRPr/>
          </a:p>
          <a:p>
            <a:pPr indent="0" lvl="0" marL="0" rtl="0" algn="l">
              <a:spcBef>
                <a:spcPts val="0"/>
              </a:spcBef>
              <a:spcAft>
                <a:spcPts val="0"/>
              </a:spcAft>
              <a:buNone/>
            </a:pPr>
            <a:r>
              <a:rPr lang="en-US"/>
              <a:t>• This account explains the shortcut without requiring a metric cognitive map. It remains an interpretation of behavioral results: the experiment did not record a working-memory neuron, isolate synaptic storage of A and B, or decisively exclude every alternative form of vector computation.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5. Published framework relating current, stored and view-based vectors.</a:t>
            </a:r>
            <a:endParaRPr/>
          </a:p>
          <a:p>
            <a:pPr indent="0" lvl="0" marL="0" rtl="0" algn="l">
              <a:spcBef>
                <a:spcPts val="0"/>
              </a:spcBef>
              <a:spcAft>
                <a:spcPts val="0"/>
              </a:spcAft>
              <a:buNone/>
            </a:pPr>
            <a:r>
              <a:rPr lang="en-US"/>
              <a:t>Figure source: https://doi.org/10.1007/s00359-024-01725-2</a:t>
            </a:r>
            <a:endParaRPr/>
          </a:p>
        </p:txBody>
      </p:sp>
      <p:sp>
        <p:nvSpPr>
          <p:cNvPr id="612" name="Google Shape;612;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**metric cognitive map** represents spatial relationships among familiar places in a common coordinate system. Novel shortcutting is often treated as evidence for such a map, but the same behavior can sometimes follow from simpler stored vectors and continuous self-motion updating.</a:t>
            </a:r>
            <a:endParaRPr/>
          </a:p>
          <a:p>
            <a:pPr indent="0" lvl="0" marL="0" rtl="0" algn="l">
              <a:spcBef>
                <a:spcPts val="0"/>
              </a:spcBef>
              <a:spcAft>
                <a:spcPts val="0"/>
              </a:spcAft>
              <a:buNone/>
            </a:pPr>
            <a:r>
              <a:rPr lang="en-US"/>
              <a:t>• Cataglyphis ants trained separately to feeders 4.5 m and 5.7 m from the nest searched along their previously untraveled connecting route. The controlled A-to-B test demonstrated flexible navigation toward a second goal without requiring prior experience of that particular route.</a:t>
            </a:r>
            <a:endParaRPr/>
          </a:p>
          <a:p>
            <a:pPr indent="0" lvl="0" marL="0" rtl="0" algn="l">
              <a:spcBef>
                <a:spcPts val="0"/>
              </a:spcBef>
              <a:spcAft>
                <a:spcPts val="0"/>
              </a:spcAft>
              <a:buNone/>
            </a:pPr>
            <a:r>
              <a:rPr lang="en-US"/>
              <a:t>• The finding makes shortcutting insufficient as a unique diagnostic of map-based navigation. It does not prove that ants can never form other spatial representations; it specifies that this observed behavior is compatible with a nest-referenced vector system and does not require the stronger explanation.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5. Published framework relating current, stored and view-based vectors.</a:t>
            </a:r>
            <a:endParaRPr/>
          </a:p>
          <a:p>
            <a:pPr indent="0" lvl="0" marL="0" rtl="0" algn="l">
              <a:spcBef>
                <a:spcPts val="0"/>
              </a:spcBef>
              <a:spcAft>
                <a:spcPts val="0"/>
              </a:spcAft>
              <a:buNone/>
            </a:pPr>
            <a:r>
              <a:rPr lang="en-US"/>
              <a:t>Figure source: https://doi.org/10.1007/s00359-024-01725-2</a:t>
            </a:r>
            <a:endParaRPr/>
          </a:p>
        </p:txBody>
      </p:sp>
      <p:sp>
        <p:nvSpPr>
          <p:cNvPr id="624" name="Google Shape;624;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Teaching transcript:</a:t>
            </a:r>
            <a:endParaRPr/>
          </a:p>
          <a:p>
            <a:pPr indent="0" lvl="0" marL="0" rtl="0" algn="l">
              <a:spcBef>
                <a:spcPts val="0"/>
              </a:spcBef>
              <a:spcAft>
                <a:spcPts val="0"/>
              </a:spcAft>
              <a:buNone/>
            </a:pPr>
            <a:r>
              <a:rPr lang="en-US"/>
              <a:t>• Home vectors combine direction and distance acquired during movement; they differ from retracing the outward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Controlled displacement reveals a stored movement-derived estimate by separating the expressed vector from the true nest position.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Stride-dependent odometry is supported by stilt overshoot, stump undershoot and recovery when outbound and inbound leg conditions match.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Compass learning depends on changing celestial information during early learning walks and is associated with region-specific structural plasticity.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Magnetic reference signals affect nest-directed gazes and brain plasticity differently; the magnetic receptor and causal cellular mechanisms remain unresolved.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Novel shortcuts can arise from stored goal vectors interacting with an ongoing path integrator, so shortcutting alone does not establish a cognitive map.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rPr lang="en-US"/>
              <a:t>Wittlinger M, Wehner R, Wolf H (2006). The Ant Odometer: Stepping on Stilts and Stumps. Science 312(5782):1965–1967. https://doi.org/10.1126/science.1126912</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p:txBody>
      </p:sp>
      <p:sp>
        <p:nvSpPr>
          <p:cNvPr id="636" name="Google Shape;636;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263F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CCD7DF"/>
              </a:solidFill>
              <a:latin typeface="Calibri"/>
              <a:ea typeface="Calibri"/>
              <a:cs typeface="Calibri"/>
              <a:sym typeface="Calibri"/>
            </a:endParaRPr>
          </a:p>
        </p:txBody>
      </p:sp>
      <p:sp>
        <p:nvSpPr>
          <p:cNvPr id="86" name="Google Shape;86;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CCD7DF"/>
                </a:solidFill>
                <a:latin typeface="Arial"/>
                <a:ea typeface="Arial"/>
                <a:cs typeface="Arial"/>
                <a:sym typeface="Arial"/>
              </a:rPr>
              <a:t>NEUR 411 · NEUROETHOLOGY · FALL 2026</a:t>
            </a:r>
            <a:endParaRPr>
              <a:solidFill>
                <a:srgbClr val="CCD7DF"/>
              </a:solidFill>
            </a:endParaRPr>
          </a:p>
        </p:txBody>
      </p:sp>
      <p:sp>
        <p:nvSpPr>
          <p:cNvPr id="87" name="Google Shape;87;p1"/>
          <p:cNvSpPr txBox="1"/>
          <p:nvPr/>
        </p:nvSpPr>
        <p:spPr>
          <a:xfrm>
            <a:off x="685800" y="1783080"/>
            <a:ext cx="4724100" cy="277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CCD7DF"/>
                </a:solidFill>
                <a:latin typeface="Arial"/>
                <a:ea typeface="Arial"/>
                <a:cs typeface="Arial"/>
                <a:sym typeface="Arial"/>
              </a:rPr>
              <a:t>Lecture 28</a:t>
            </a:r>
            <a:endParaRPr>
              <a:solidFill>
                <a:srgbClr val="CCD7DF"/>
              </a:solidFill>
            </a:endParaRPr>
          </a:p>
        </p:txBody>
      </p:sp>
      <p:sp>
        <p:nvSpPr>
          <p:cNvPr id="88" name="Google Shape;88;p1"/>
          <p:cNvSpPr txBox="1"/>
          <p:nvPr/>
        </p:nvSpPr>
        <p:spPr>
          <a:xfrm>
            <a:off x="685800" y="2331720"/>
            <a:ext cx="4724100" cy="1459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EDF2F5"/>
                </a:solidFill>
                <a:latin typeface="Arial"/>
                <a:ea typeface="Arial"/>
                <a:cs typeface="Arial"/>
                <a:sym typeface="Arial"/>
              </a:rPr>
              <a:t>Navigation I:</a:t>
            </a:r>
            <a:endParaRPr>
              <a:solidFill>
                <a:srgbClr val="EDF2F5"/>
              </a:solidFill>
            </a:endParaRPr>
          </a:p>
          <a:p>
            <a:pPr indent="0" lvl="0" marL="0" marR="0" rtl="0" algn="l">
              <a:lnSpc>
                <a:spcPct val="108000"/>
              </a:lnSpc>
              <a:spcBef>
                <a:spcPts val="0"/>
              </a:spcBef>
              <a:spcAft>
                <a:spcPts val="0"/>
              </a:spcAft>
              <a:buNone/>
            </a:pPr>
            <a:r>
              <a:rPr b="1" i="0" lang="en-US" sz="3000" u="none" cap="none" strike="noStrike">
                <a:solidFill>
                  <a:srgbClr val="EDF2F5"/>
                </a:solidFill>
                <a:latin typeface="Arial"/>
                <a:ea typeface="Arial"/>
                <a:cs typeface="Arial"/>
                <a:sym typeface="Arial"/>
              </a:rPr>
              <a:t>desert ant path integration (Wehner)</a:t>
            </a:r>
            <a:endParaRPr>
              <a:solidFill>
                <a:srgbClr val="EDF2F5"/>
              </a:solidFill>
            </a:endParaRPr>
          </a:p>
        </p:txBody>
      </p:sp>
      <p:sp>
        <p:nvSpPr>
          <p:cNvPr id="89" name="Google Shape;89;p1"/>
          <p:cNvSpPr txBox="1"/>
          <p:nvPr/>
        </p:nvSpPr>
        <p:spPr>
          <a:xfrm>
            <a:off x="685800" y="4465700"/>
            <a:ext cx="4724100" cy="2463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CCD7DF"/>
                </a:solidFill>
                <a:latin typeface="Arial"/>
                <a:ea typeface="Arial"/>
                <a:cs typeface="Arial"/>
                <a:sym typeface="Arial"/>
              </a:rPr>
              <a:t>Friday, October 30, 2026</a:t>
            </a:r>
            <a:endParaRPr>
              <a:solidFill>
                <a:srgbClr val="CCD7DF"/>
              </a:solidFill>
            </a:endParaRPr>
          </a:p>
        </p:txBody>
      </p:sp>
      <p:sp>
        <p:nvSpPr>
          <p:cNvPr id="90" name="Google Shape;90;p1"/>
          <p:cNvSpPr txBox="1"/>
          <p:nvPr/>
        </p:nvSpPr>
        <p:spPr>
          <a:xfrm>
            <a:off x="685800" y="5394960"/>
            <a:ext cx="4724100" cy="409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CCD7DF"/>
                </a:solidFill>
                <a:latin typeface="Arial"/>
                <a:ea typeface="Arial"/>
                <a:cs typeface="Arial"/>
                <a:sym typeface="Arial"/>
              </a:rPr>
              <a:t>Jordan Lopez, Ph.D.</a:t>
            </a:r>
            <a:endParaRPr>
              <a:solidFill>
                <a:srgbClr val="CCD7DF"/>
              </a:solidFill>
            </a:endParaRPr>
          </a:p>
          <a:p>
            <a:pPr indent="0" lvl="0" marL="0" marR="0" rtl="0" algn="l">
              <a:lnSpc>
                <a:spcPct val="108000"/>
              </a:lnSpc>
              <a:spcBef>
                <a:spcPts val="200"/>
              </a:spcBef>
              <a:spcAft>
                <a:spcPts val="0"/>
              </a:spcAft>
              <a:buNone/>
            </a:pPr>
            <a:r>
              <a:rPr b="0" i="0" lang="en-US" sz="1200" u="none" cap="none" strike="noStrike">
                <a:solidFill>
                  <a:srgbClr val="CCD7DF"/>
                </a:solidFill>
                <a:latin typeface="Arial"/>
                <a:ea typeface="Arial"/>
                <a:cs typeface="Arial"/>
                <a:sym typeface="Arial"/>
              </a:rPr>
              <a:t>Professor of Neurobiology &amp; Biomedical Engineering</a:t>
            </a:r>
            <a:endParaRPr>
              <a:solidFill>
                <a:srgbClr val="CCD7DF"/>
              </a:solidFill>
            </a:endParaRPr>
          </a:p>
        </p:txBody>
      </p:sp>
      <p:pic>
        <p:nvPicPr>
          <p:cNvPr descr="W07_3A.png" id="91" name="Google Shape;91;p1"/>
          <p:cNvPicPr preferRelativeResize="0"/>
          <p:nvPr/>
        </p:nvPicPr>
        <p:blipFill rotWithShape="1">
          <a:blip r:embed="rId3">
            <a:alphaModFix/>
          </a:blip>
          <a:srcRect b="0" l="0" r="0" t="0"/>
          <a:stretch/>
        </p:blipFill>
        <p:spPr>
          <a:xfrm>
            <a:off x="6553047" y="1402735"/>
            <a:ext cx="5181447" cy="2886903"/>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3(A). Normal tripod gait in a walking Cataglyphis fortis.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home vector survives a winding outward journey</a:t>
            </a:r>
            <a:endParaRPr/>
          </a:p>
        </p:txBody>
      </p:sp>
      <p:sp>
        <p:nvSpPr>
          <p:cNvPr id="99" name="Google Shape;99;p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Path integration</a:t>
            </a:r>
            <a:r>
              <a:rPr b="0" i="0" lang="en-US" sz="1600" u="none" cap="none" strike="noStrike">
                <a:solidFill>
                  <a:srgbClr val="27323A"/>
                </a:solidFill>
                <a:latin typeface="Arial"/>
                <a:ea typeface="Arial"/>
                <a:cs typeface="Arial"/>
                <a:sym typeface="Arial"/>
              </a:rPr>
              <a:t> is the continual updating of direction and distance from a starting point using information gathered during movement. A </a:t>
            </a:r>
            <a:r>
              <a:rPr b="1" i="0" lang="en-US" sz="1600" u="none" cap="none" strike="noStrike">
                <a:solidFill>
                  <a:srgbClr val="344F61"/>
                </a:solidFill>
                <a:latin typeface="Arial"/>
                <a:ea typeface="Arial"/>
                <a:cs typeface="Arial"/>
                <a:sym typeface="Arial"/>
              </a:rPr>
              <a:t>home vector</a:t>
            </a:r>
            <a:r>
              <a:rPr b="0" i="0" lang="en-US" sz="1600" u="none" cap="none" strike="noStrike">
                <a:solidFill>
                  <a:srgbClr val="27323A"/>
                </a:solidFill>
                <a:latin typeface="Arial"/>
                <a:ea typeface="Arial"/>
                <a:cs typeface="Arial"/>
                <a:sym typeface="Arial"/>
              </a:rPr>
              <a:t> specifies the direction and distance back to the nest; it need not reproduce the sequence of outward turns.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Müller and Wehner recorded a natural foraging trip of Cataglyphis fortis in Tunisia. The outward path measured 354.5 m, while the maximum distance from the nest was 113.2 m. After finding food, the ant returned along a comparatively direct inbound route.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difference between outward path length and nest displacement separates route retracing from vector-guided homing. This recorded journey documents the behavior, but does not identify a neuron that stores the vector or establish the mathematical precision of its updating mechanism.</a:t>
            </a:r>
            <a:endParaRPr/>
          </a:p>
        </p:txBody>
      </p:sp>
      <p:pic>
        <p:nvPicPr>
          <p:cNvPr descr="M88_1.png" id="100" name="Google Shape;100;p2"/>
          <p:cNvPicPr preferRelativeResize="0"/>
          <p:nvPr/>
        </p:nvPicPr>
        <p:blipFill rotWithShape="1">
          <a:blip r:embed="rId3">
            <a:alphaModFix/>
          </a:blip>
          <a:srcRect b="0" l="0" r="0" t="0"/>
          <a:stretch/>
        </p:blipFill>
        <p:spPr>
          <a:xfrm>
            <a:off x="7526414" y="1280160"/>
            <a:ext cx="3076065" cy="4297679"/>
          </a:xfrm>
          <a:prstGeom prst="rect">
            <a:avLst/>
          </a:prstGeom>
          <a:noFill/>
          <a:ln>
            <a:noFill/>
          </a:ln>
        </p:spPr>
      </p:pic>
      <p:sp>
        <p:nvSpPr>
          <p:cNvPr id="101" name="Google Shape;101;p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1. A natural outbound route and direct homeward return.</a:t>
            </a:r>
            <a:endParaRPr/>
          </a:p>
        </p:txBody>
      </p:sp>
      <p:sp>
        <p:nvSpPr>
          <p:cNvPr id="102" name="Google Shape;102;p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Displacement separates the vector from the real nest</a:t>
            </a:r>
            <a:endParaRPr/>
          </a:p>
        </p:txBody>
      </p:sp>
      <p:sp>
        <p:nvSpPr>
          <p:cNvPr id="111" name="Google Shape;111;p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Passive displacement changes an ant’s geographical position without supplying the walking movements that normally update its home vector. A displaced ant can therefore express a direction appropriate to its earlier position rather than to the nest’s actual location.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Müller and Wehner captured a food-carrying ant at its feeding location and released it elsewhere in open terrain. The animal’s subsequent course was compared with the geographical nest direction and the course predicted from its recorded outbound trajectory, using a 10 m spatial scale.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course retained information from the outward journey despite the transfer. The test distinguishes movement-derived navigation from immediate attraction to the true nest, while leaving landmark guidance and systematic searching available as additional mechanisms under natural conditions.</a:t>
            </a:r>
            <a:endParaRPr/>
          </a:p>
        </p:txBody>
      </p:sp>
      <p:pic>
        <p:nvPicPr>
          <p:cNvPr descr="M88_4.png" id="112" name="Google Shape;112;p3"/>
          <p:cNvPicPr preferRelativeResize="0"/>
          <p:nvPr/>
        </p:nvPicPr>
        <p:blipFill rotWithShape="1">
          <a:blip r:embed="rId3">
            <a:alphaModFix/>
          </a:blip>
          <a:srcRect b="0" l="0" r="0" t="0"/>
          <a:stretch/>
        </p:blipFill>
        <p:spPr>
          <a:xfrm>
            <a:off x="7593303" y="1280160"/>
            <a:ext cx="2942286" cy="4297679"/>
          </a:xfrm>
          <a:prstGeom prst="rect">
            <a:avLst/>
          </a:prstGeom>
          <a:noFill/>
          <a:ln>
            <a:noFill/>
          </a:ln>
        </p:spPr>
      </p:pic>
      <p:sp>
        <p:nvSpPr>
          <p:cNvPr id="113" name="Google Shape;113;p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4. Natural-path displacement and the resulting homeward course.</a:t>
            </a:r>
            <a:endParaRPr/>
          </a:p>
        </p:txBody>
      </p:sp>
      <p:sp>
        <p:nvSpPr>
          <p:cNvPr id="114" name="Google Shape;114;p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Angular channels constrain the path being integrated</a:t>
            </a:r>
            <a:endParaRPr/>
          </a:p>
        </p:txBody>
      </p:sp>
      <p:sp>
        <p:nvSpPr>
          <p:cNvPr id="123" name="Google Shape;123;p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An experimental path can specify the directions and distances an ant experiences before homing. Müller and Wehner trained Cataglyphis fortis through narrow plastic channels, then transferred individuals from the feeder to a separate open test field.</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two legs were varied over lengths of 5–10 m and turning angles spanning 0–180°. In the plotted experiment, the first leg was 10 m and the second 5 m. Release occurred within one minute of capture, reducing the delay between training and the directional test.</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recorded initial homeward course measures the ant’s accumulated directional estimate rather than its ability to follow the training channel backward. Removing the channels during testing separates the geometry experienced during acquisition from the geometry available during expression.</a:t>
            </a:r>
            <a:endParaRPr/>
          </a:p>
        </p:txBody>
      </p:sp>
      <p:pic>
        <p:nvPicPr>
          <p:cNvPr descr="M88_2.png" id="124" name="Google Shape;124;p4"/>
          <p:cNvPicPr preferRelativeResize="0"/>
          <p:nvPr/>
        </p:nvPicPr>
        <p:blipFill rotWithShape="1">
          <a:blip r:embed="rId3">
            <a:alphaModFix/>
          </a:blip>
          <a:srcRect b="0" l="0" r="0" t="0"/>
          <a:stretch/>
        </p:blipFill>
        <p:spPr>
          <a:xfrm>
            <a:off x="6504127" y="1280160"/>
            <a:ext cx="5120640" cy="3109381"/>
          </a:xfrm>
          <a:prstGeom prst="rect">
            <a:avLst/>
          </a:prstGeom>
          <a:noFill/>
          <a:ln>
            <a:noFill/>
          </a:ln>
        </p:spPr>
      </p:pic>
      <p:sp>
        <p:nvSpPr>
          <p:cNvPr id="125" name="Google Shape;125;p4"/>
          <p:cNvSpPr txBox="1"/>
          <p:nvPr/>
        </p:nvSpPr>
        <p:spPr>
          <a:xfrm>
            <a:off x="6504127" y="448098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2(A–B). Two-leg training and measured homing-direction errors.</a:t>
            </a:r>
            <a:endParaRPr/>
          </a:p>
        </p:txBody>
      </p:sp>
      <p:sp>
        <p:nvSpPr>
          <p:cNvPr id="126" name="Google Shape;126;p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Homing errors depend on the outward turning angle</a:t>
            </a:r>
            <a:endParaRPr/>
          </a:p>
        </p:txBody>
      </p:sp>
      <p:sp>
        <p:nvSpPr>
          <p:cNvPr id="135" name="Google Shape;135;p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Systematic error</a:t>
            </a:r>
            <a:r>
              <a:rPr b="0" i="0" lang="en-US" sz="1600" u="none" cap="none" strike="noStrike">
                <a:solidFill>
                  <a:srgbClr val="27323A"/>
                </a:solidFill>
                <a:latin typeface="Arial"/>
                <a:ea typeface="Arial"/>
                <a:cs typeface="Arial"/>
                <a:sym typeface="Arial"/>
              </a:rPr>
              <a:t> means a directional deviation that varies predictably with an experimental manipulation. It differs from random scatter among journeys. Müller and Wehner measured the angular difference between the true homeward direction and the course expressed after two-leg training.</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With outbound legs of 10 m and 5 m, the error increased as the turning angle approached approximately 150°, reaching about 20° in the published measurements. The error returned toward zero at the limiting straight or reversed arrangements.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angle-dependent pattern supported an approximate updating rule under these conditions. It does not prove that every ant species, every route geometry, or every neural representation uses the same approximation; the inference concerns the measured Cataglyphis trajectories and their proposed mathematical account.</a:t>
            </a:r>
            <a:endParaRPr/>
          </a:p>
        </p:txBody>
      </p:sp>
      <p:pic>
        <p:nvPicPr>
          <p:cNvPr descr="M88_2.png" id="136" name="Google Shape;136;p5"/>
          <p:cNvPicPr preferRelativeResize="0"/>
          <p:nvPr/>
        </p:nvPicPr>
        <p:blipFill rotWithShape="1">
          <a:blip r:embed="rId3">
            <a:alphaModFix/>
          </a:blip>
          <a:srcRect b="0" l="0" r="0" t="0"/>
          <a:stretch/>
        </p:blipFill>
        <p:spPr>
          <a:xfrm>
            <a:off x="6504127" y="1280160"/>
            <a:ext cx="5120640" cy="3109381"/>
          </a:xfrm>
          <a:prstGeom prst="rect">
            <a:avLst/>
          </a:prstGeom>
          <a:noFill/>
          <a:ln>
            <a:noFill/>
          </a:ln>
        </p:spPr>
      </p:pic>
      <p:sp>
        <p:nvSpPr>
          <p:cNvPr id="137" name="Google Shape;137;p5"/>
          <p:cNvSpPr txBox="1"/>
          <p:nvPr/>
        </p:nvSpPr>
        <p:spPr>
          <a:xfrm>
            <a:off x="6504127" y="448098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2(A–B). Two-leg training and measured homing-direction errors.</a:t>
            </a:r>
            <a:endParaRPr/>
          </a:p>
        </p:txBody>
      </p:sp>
      <p:sp>
        <p:nvSpPr>
          <p:cNvPr id="138" name="Google Shape;138;p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Sun and polarization cues support the directional test</a:t>
            </a:r>
            <a:endParaRPr/>
          </a:p>
        </p:txBody>
      </p:sp>
      <p:sp>
        <p:nvSpPr>
          <p:cNvPr id="147" name="Google Shape;147;p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a:t>
            </a:r>
            <a:r>
              <a:rPr b="1" i="0" lang="en-US" sz="1600" u="none" cap="none" strike="noStrike">
                <a:solidFill>
                  <a:srgbClr val="344F61"/>
                </a:solidFill>
                <a:latin typeface="Arial"/>
                <a:ea typeface="Arial"/>
                <a:cs typeface="Arial"/>
                <a:sym typeface="Arial"/>
              </a:rPr>
              <a:t>celestial compass</a:t>
            </a:r>
            <a:r>
              <a:rPr b="0" i="0" lang="en-US" sz="1600" u="none" cap="none" strike="noStrike">
                <a:solidFill>
                  <a:srgbClr val="27323A"/>
                </a:solidFill>
                <a:latin typeface="Arial"/>
                <a:ea typeface="Arial"/>
                <a:cs typeface="Arial"/>
                <a:sym typeface="Arial"/>
              </a:rPr>
              <a:t> derives heading information from features of the sky. Direct sunlight and the pattern of polarized skylight provide related but separable information. Polarization refers to the orientation of the electric field oscillation in a light wave.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Müller and Wehner compared homing errors while ants used the sun, polarized skylight, or both. Screening the sun removed direct solar information; painting the dorsal rim of the compound eyes removed access to the specialized polarization-sensitive eye region. The 10 m and 5 m route still produced systematic errors.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persistence of the error pattern across compass conditions argues against a single defective sky cue accounting for the path-integration bias. Restricted sky windows can themselves distort polarization estimates, so the authors considered this separate source of compass error in their interpretation.</a:t>
            </a:r>
            <a:endParaRPr/>
          </a:p>
        </p:txBody>
      </p:sp>
      <p:pic>
        <p:nvPicPr>
          <p:cNvPr descr="M88_2.png" id="148" name="Google Shape;148;p6"/>
          <p:cNvPicPr preferRelativeResize="0"/>
          <p:nvPr/>
        </p:nvPicPr>
        <p:blipFill rotWithShape="1">
          <a:blip r:embed="rId3">
            <a:alphaModFix/>
          </a:blip>
          <a:srcRect b="0" l="0" r="0" t="0"/>
          <a:stretch/>
        </p:blipFill>
        <p:spPr>
          <a:xfrm>
            <a:off x="6504127" y="1280160"/>
            <a:ext cx="5120640" cy="3109381"/>
          </a:xfrm>
          <a:prstGeom prst="rect">
            <a:avLst/>
          </a:prstGeom>
          <a:noFill/>
          <a:ln>
            <a:noFill/>
          </a:ln>
        </p:spPr>
      </p:pic>
      <p:sp>
        <p:nvSpPr>
          <p:cNvPr id="149" name="Google Shape;149;p6"/>
          <p:cNvSpPr txBox="1"/>
          <p:nvPr/>
        </p:nvSpPr>
        <p:spPr>
          <a:xfrm>
            <a:off x="6504127" y="448098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2(A–B). Two-leg training and measured homing-direction errors.</a:t>
            </a:r>
            <a:endParaRPr/>
          </a:p>
        </p:txBody>
      </p:sp>
      <p:sp>
        <p:nvSpPr>
          <p:cNvPr id="150" name="Google Shape;150;p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Three-leg routes test an approximate updating rule</a:t>
            </a:r>
            <a:endParaRPr/>
          </a:p>
        </p:txBody>
      </p:sp>
      <p:sp>
        <p:nvSpPr>
          <p:cNvPr id="159" name="Google Shape;159;p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7323A"/>
                </a:solidFill>
                <a:latin typeface="Arial"/>
                <a:ea typeface="Arial"/>
                <a:cs typeface="Arial"/>
                <a:sym typeface="Arial"/>
              </a:rPr>
              <a:t>An explanation fitted to one route geometry must also account for a different sequence of movements. Müller and Wehner added a third leg to the channel arrangement, introducing a second 90° turn rather than repeating the original two-leg experiment.</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The first leg was 10 m and the second and third legs were each 5 m. Ants subsequently released into open terrain deviated by 30.8° from the true home direction. The approximation derived from the earlier experiments predicted a deviation of 33.7°.</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The agreement extended the behavioral account beyond the particular angles used to derive it. A successful prediction of homing direction still leaves the cellular implementation unresolved: the experiment measured the animal’s course, not the voltage, transmitter or synaptic activity of an identified integrator.</a:t>
            </a:r>
            <a:endParaRPr/>
          </a:p>
        </p:txBody>
      </p:sp>
      <p:pic>
        <p:nvPicPr>
          <p:cNvPr descr="M88_3.png" id="160" name="Google Shape;160;p7"/>
          <p:cNvPicPr preferRelativeResize="0"/>
          <p:nvPr/>
        </p:nvPicPr>
        <p:blipFill rotWithShape="1">
          <a:blip r:embed="rId3">
            <a:alphaModFix/>
          </a:blip>
          <a:srcRect b="0" l="0" r="0" t="0"/>
          <a:stretch/>
        </p:blipFill>
        <p:spPr>
          <a:xfrm>
            <a:off x="7171342" y="1280160"/>
            <a:ext cx="3786209" cy="4297679"/>
          </a:xfrm>
          <a:prstGeom prst="rect">
            <a:avLst/>
          </a:prstGeom>
          <a:noFill/>
          <a:ln>
            <a:noFill/>
          </a:ln>
        </p:spPr>
      </p:pic>
      <p:sp>
        <p:nvSpPr>
          <p:cNvPr id="161" name="Google Shape;161;p7"/>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3. Three-leg training and homing directions.</a:t>
            </a:r>
            <a:endParaRPr/>
          </a:p>
        </p:txBody>
      </p:sp>
      <p:sp>
        <p:nvSpPr>
          <p:cNvPr id="162" name="Google Shape;162;p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Natural routes can limit the cost of directional bias</a:t>
            </a:r>
            <a:endParaRPr/>
          </a:p>
        </p:txBody>
      </p:sp>
      <p:sp>
        <p:nvSpPr>
          <p:cNvPr id="171" name="Google Shape;171;p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Route geometry determines how an approximate path integrator accumulates error. A sharp sustained turn can produce a large deviation, whereas turns in opposite directions may partly cancel their effects on the estimated homeward direction.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Müller and Wehner compared the proposed updating rule with recorded natural foraging paths. In the displaced example, the expressed course departed from the real nest direction by approximately 20°, consistent with the direction predicted from that ant’s outward trajectory.</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authors noted that natural Cataglyphis paths rarely contained the repeated sharp backward turns that generated especially large experimental errors. This ecological interpretation explains possible usefulness without establishing perfect accuracy; landmarks and searching remain relevant when a home vector is insufficient.</a:t>
            </a:r>
            <a:endParaRPr/>
          </a:p>
        </p:txBody>
      </p:sp>
      <p:pic>
        <p:nvPicPr>
          <p:cNvPr descr="M88_4.png" id="172" name="Google Shape;172;p8"/>
          <p:cNvPicPr preferRelativeResize="0"/>
          <p:nvPr/>
        </p:nvPicPr>
        <p:blipFill rotWithShape="1">
          <a:blip r:embed="rId3">
            <a:alphaModFix/>
          </a:blip>
          <a:srcRect b="0" l="0" r="0" t="0"/>
          <a:stretch/>
        </p:blipFill>
        <p:spPr>
          <a:xfrm>
            <a:off x="7593303" y="1280160"/>
            <a:ext cx="2942286" cy="4297679"/>
          </a:xfrm>
          <a:prstGeom prst="rect">
            <a:avLst/>
          </a:prstGeom>
          <a:noFill/>
          <a:ln>
            <a:noFill/>
          </a:ln>
        </p:spPr>
      </p:pic>
      <p:sp>
        <p:nvSpPr>
          <p:cNvPr id="173" name="Google Shape;173;p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4. Natural-path displacement and the resulting homeward course.</a:t>
            </a:r>
            <a:endParaRPr/>
          </a:p>
        </p:txBody>
      </p:sp>
      <p:sp>
        <p:nvSpPr>
          <p:cNvPr id="174" name="Google Shape;174;p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Leg length manipulation changes the estimated distance</a:t>
            </a:r>
            <a:endParaRPr/>
          </a:p>
        </p:txBody>
      </p:sp>
      <p:sp>
        <p:nvSpPr>
          <p:cNvPr id="183" name="Google Shape;183;p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An </a:t>
            </a:r>
            <a:r>
              <a:rPr b="1" i="0" lang="en-US" sz="1600" u="none" cap="none" strike="noStrike">
                <a:solidFill>
                  <a:srgbClr val="344F61"/>
                </a:solidFill>
                <a:latin typeface="Arial"/>
                <a:ea typeface="Arial"/>
                <a:cs typeface="Arial"/>
                <a:sym typeface="Arial"/>
              </a:rPr>
              <a:t>odometer</a:t>
            </a:r>
            <a:r>
              <a:rPr b="0" i="0" lang="en-US" sz="1600" u="none" cap="none" strike="noStrike">
                <a:solidFill>
                  <a:srgbClr val="27323A"/>
                </a:solidFill>
                <a:latin typeface="Arial"/>
                <a:ea typeface="Arial"/>
                <a:cs typeface="Arial"/>
                <a:sym typeface="Arial"/>
              </a:rPr>
              <a:t> is a mechanism for estimating distance traveled. A </a:t>
            </a:r>
            <a:r>
              <a:rPr b="1" i="0" lang="en-US" sz="1600" u="none" cap="none" strike="noStrike">
                <a:solidFill>
                  <a:srgbClr val="344F61"/>
                </a:solidFill>
                <a:latin typeface="Arial"/>
                <a:ea typeface="Arial"/>
                <a:cs typeface="Arial"/>
                <a:sym typeface="Arial"/>
              </a:rPr>
              <a:t>stride</a:t>
            </a:r>
            <a:r>
              <a:rPr b="0" i="0" lang="en-US" sz="1600" u="none" cap="none" strike="noStrike">
                <a:solidFill>
                  <a:srgbClr val="27323A"/>
                </a:solidFill>
                <a:latin typeface="Arial"/>
                <a:ea typeface="Arial"/>
                <a:cs typeface="Arial"/>
                <a:sym typeface="Arial"/>
              </a:rPr>
              <a:t> is one complete movement cycle of a particular leg. Altering leg length can change the distance covered during each stride without changing the distance experienced before the manipulation.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Wittlinger and colleagues trained Cataglyphis fortis to a feeder 10 m from the nest. At the feeder, they lengthened legs with attached pig bristles, producing stilts, or shortened legs, producing stumps. Food-carrying ants were then tested in a separate channel.</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manipulation was performed after the outbound distance had been acquired, allowing an unequal relationship between outbound and inbound strides. The resulting distance error tests locomotor information, but leg surgery alone does not distinguish peripheral sensory feedback from centrally generated movement signals.</a:t>
            </a:r>
            <a:endParaRPr/>
          </a:p>
        </p:txBody>
      </p:sp>
      <p:pic>
        <p:nvPicPr>
          <p:cNvPr descr="W06_2.png" id="184" name="Google Shape;184;p9"/>
          <p:cNvPicPr preferRelativeResize="0"/>
          <p:nvPr/>
        </p:nvPicPr>
        <p:blipFill rotWithShape="1">
          <a:blip r:embed="rId3">
            <a:alphaModFix/>
          </a:blip>
          <a:srcRect b="0" l="0" r="0" t="0"/>
          <a:stretch/>
        </p:blipFill>
        <p:spPr>
          <a:xfrm>
            <a:off x="7306589" y="1280160"/>
            <a:ext cx="3515714" cy="4297679"/>
          </a:xfrm>
          <a:prstGeom prst="rect">
            <a:avLst/>
          </a:prstGeom>
          <a:noFill/>
          <a:ln>
            <a:noFill/>
          </a:ln>
        </p:spPr>
      </p:pic>
      <p:sp>
        <p:nvSpPr>
          <p:cNvPr id="185" name="Google Shape;185;p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(2006), Fig. 2. Normal legs, stilts and stumps.</a:t>
            </a:r>
            <a:endParaRPr/>
          </a:p>
        </p:txBody>
      </p:sp>
      <p:sp>
        <p:nvSpPr>
          <p:cNvPr id="186" name="Google Shape;186;p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(2006)</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Stilts overshoot and stumps undershoot the nest</a:t>
            </a:r>
            <a:endParaRPr/>
          </a:p>
        </p:txBody>
      </p:sp>
      <p:sp>
        <p:nvSpPr>
          <p:cNvPr id="195" name="Google Shape;195;p1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The transition from directed walking to repeated U-turns provides a behavioral measure of expected nest distance. Wittlinger and colleagues used the median of the initial six turning points to identify the centre of an ant’s nest-search behavior.</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After a normal 10 m outbound journey, ants with lengthened legs searched at 15.30 m, ants with shortened legs searched at 5.75 m, and normal-legged controls searched at 10.20 m. The direction of the error followed the change in stride length.</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Longer inbound strides made the stored journey terminate farther from release, while shorter strides made it terminate sooner. This bidirectional effect is difficult to attribute solely to debilitation, which would not predict vigorous overshooting by the animals walking on stilts.</a:t>
            </a:r>
            <a:endParaRPr/>
          </a:p>
        </p:txBody>
      </p:sp>
      <p:pic>
        <p:nvPicPr>
          <p:cNvPr descr="W06_3.png" id="196" name="Google Shape;196;p10"/>
          <p:cNvPicPr preferRelativeResize="0"/>
          <p:nvPr/>
        </p:nvPicPr>
        <p:blipFill rotWithShape="1">
          <a:blip r:embed="rId3">
            <a:alphaModFix/>
          </a:blip>
          <a:srcRect b="0" l="0" r="0" t="0"/>
          <a:stretch/>
        </p:blipFill>
        <p:spPr>
          <a:xfrm>
            <a:off x="6504127" y="1280160"/>
            <a:ext cx="5120640" cy="2891337"/>
          </a:xfrm>
          <a:prstGeom prst="rect">
            <a:avLst/>
          </a:prstGeom>
          <a:noFill/>
          <a:ln>
            <a:noFill/>
          </a:ln>
        </p:spPr>
      </p:pic>
      <p:sp>
        <p:nvSpPr>
          <p:cNvPr id="197" name="Google Shape;197;p10"/>
          <p:cNvSpPr txBox="1"/>
          <p:nvPr/>
        </p:nvSpPr>
        <p:spPr>
          <a:xfrm>
            <a:off x="6504127" y="426293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(2006), Fig. 3(A–B). Homing distances after leg manipulation and after matched outbound training.</a:t>
            </a:r>
            <a:endParaRPr/>
          </a:p>
        </p:txBody>
      </p:sp>
      <p:sp>
        <p:nvSpPr>
          <p:cNvPr id="198" name="Google Shape;198;p1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(2006)</a:t>
            </a:r>
            <a:endParaRPr/>
          </a:p>
        </p:txBody>
      </p:sp>
      <p:sp>
        <p:nvSpPr>
          <p:cNvPr id="200" name="Google Shape;20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Matched outward and inward legs restore homing distance</a:t>
            </a:r>
            <a:endParaRPr/>
          </a:p>
        </p:txBody>
      </p:sp>
      <p:sp>
        <p:nvSpPr>
          <p:cNvPr id="207" name="Google Shape;207;p1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The same modified animal can experience a new outbound journey with the altered legs. This control keeps the manipulation present while removing the mismatch between the locomotor conditions used to acquire and express the stored distance.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After returning to the nest, ants walked to the feeder again with their stilts or stumps and were retested. Searches centred at 10.55 m for stilts and 10.25 m for stumps, close to the 10.20 m normal-leg condition and the true 10 m separation.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Recovery of the expected distance supports a stride-dependent acquisition-and-readout relationship rather than permanent loss of navigation after surgery. It does not require the ant to measure its leg length explicitly or identify which neural signal constitutes the odometer’s input.</a:t>
            </a:r>
            <a:endParaRPr/>
          </a:p>
        </p:txBody>
      </p:sp>
      <p:pic>
        <p:nvPicPr>
          <p:cNvPr descr="W06_3.png" id="208" name="Google Shape;208;p11"/>
          <p:cNvPicPr preferRelativeResize="0"/>
          <p:nvPr/>
        </p:nvPicPr>
        <p:blipFill rotWithShape="1">
          <a:blip r:embed="rId3">
            <a:alphaModFix/>
          </a:blip>
          <a:srcRect b="0" l="0" r="0" t="0"/>
          <a:stretch/>
        </p:blipFill>
        <p:spPr>
          <a:xfrm>
            <a:off x="6504127" y="1280160"/>
            <a:ext cx="5120640" cy="2891337"/>
          </a:xfrm>
          <a:prstGeom prst="rect">
            <a:avLst/>
          </a:prstGeom>
          <a:noFill/>
          <a:ln>
            <a:noFill/>
          </a:ln>
        </p:spPr>
      </p:pic>
      <p:sp>
        <p:nvSpPr>
          <p:cNvPr id="209" name="Google Shape;209;p11"/>
          <p:cNvSpPr txBox="1"/>
          <p:nvPr/>
        </p:nvSpPr>
        <p:spPr>
          <a:xfrm>
            <a:off x="6504127" y="426293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(2006), Fig. 3(A–B). Homing distances after leg manipulation and after matched outbound training.</a:t>
            </a:r>
            <a:endParaRPr/>
          </a:p>
        </p:txBody>
      </p:sp>
      <p:sp>
        <p:nvSpPr>
          <p:cNvPr id="210" name="Google Shape;210;p1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(2006)</a:t>
            </a:r>
            <a:endParaRPr/>
          </a:p>
        </p:txBody>
      </p:sp>
      <p:sp>
        <p:nvSpPr>
          <p:cNvPr id="212" name="Google Shape;21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Two shortening treatments separate locomotor effects</a:t>
            </a:r>
            <a:endParaRPr/>
          </a:p>
        </p:txBody>
      </p:sp>
      <p:sp>
        <p:nvSpPr>
          <p:cNvPr id="219" name="Google Shape;219;p1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Wittlinger and colleagues extended the odometer experiment with two degrees of leg shortening. </a:t>
            </a:r>
            <a:r>
              <a:rPr b="1" i="0" lang="en-US" sz="1600" u="none" cap="none" strike="noStrike">
                <a:solidFill>
                  <a:srgbClr val="344F61"/>
                </a:solidFill>
                <a:latin typeface="Arial"/>
                <a:ea typeface="Arial"/>
                <a:cs typeface="Arial"/>
                <a:sym typeface="Arial"/>
              </a:rPr>
              <a:t>Tarsomeres</a:t>
            </a:r>
            <a:r>
              <a:rPr b="0" i="0" lang="en-US" sz="1600" u="none" cap="none" strike="noStrike">
                <a:solidFill>
                  <a:srgbClr val="27323A"/>
                </a:solidFill>
                <a:latin typeface="Arial"/>
                <a:ea typeface="Arial"/>
                <a:cs typeface="Arial"/>
                <a:sym typeface="Arial"/>
              </a:rPr>
              <a:t> are the distal segments of an insect leg; the </a:t>
            </a:r>
            <a:r>
              <a:rPr b="1" i="0" lang="en-US" sz="1600" u="none" cap="none" strike="noStrike">
                <a:solidFill>
                  <a:srgbClr val="344F61"/>
                </a:solidFill>
                <a:latin typeface="Arial"/>
                <a:ea typeface="Arial"/>
                <a:cs typeface="Arial"/>
                <a:sym typeface="Arial"/>
              </a:rPr>
              <a:t>tibia</a:t>
            </a:r>
            <a:r>
              <a:rPr b="0" i="0" lang="en-US" sz="1600" u="none" cap="none" strike="noStrike">
                <a:solidFill>
                  <a:srgbClr val="27323A"/>
                </a:solidFill>
                <a:latin typeface="Arial"/>
                <a:ea typeface="Arial"/>
                <a:cs typeface="Arial"/>
                <a:sym typeface="Arial"/>
              </a:rPr>
              <a:t> lies proximal to the tarsus. Removing these regions changes the effective length of the walking limb.</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Stumps I lacked the distal tarsal segments, whereas stumps II had the distal half of the tibia removed. A third group carried bristle stilts, and normal-legged ants provided the comparison. All groups had acquired the same 10 m outbound feeder distance before the first test.</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anatomically graded manipulation allowed comparison of different reductions in stride length rather than treating all shortened legs as one condition. It preserved a common navigational task, while acknowledging that leg length, walking speed and load can change together.</a:t>
            </a:r>
            <a:endParaRPr/>
          </a:p>
        </p:txBody>
      </p:sp>
      <p:pic>
        <p:nvPicPr>
          <p:cNvPr descr="W07_2.png" id="220" name="Google Shape;220;p12"/>
          <p:cNvPicPr preferRelativeResize="0"/>
          <p:nvPr/>
        </p:nvPicPr>
        <p:blipFill rotWithShape="1">
          <a:blip r:embed="rId3">
            <a:alphaModFix/>
          </a:blip>
          <a:srcRect b="0" l="0" r="0" t="0"/>
          <a:stretch/>
        </p:blipFill>
        <p:spPr>
          <a:xfrm>
            <a:off x="7085812" y="1280160"/>
            <a:ext cx="3957269" cy="4297679"/>
          </a:xfrm>
          <a:prstGeom prst="rect">
            <a:avLst/>
          </a:prstGeom>
          <a:noFill/>
          <a:ln>
            <a:noFill/>
          </a:ln>
        </p:spPr>
      </p:pic>
      <p:sp>
        <p:nvSpPr>
          <p:cNvPr id="221" name="Google Shape;221;p1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2. Leg anatomy and the four length conditions.</a:t>
            </a:r>
            <a:endParaRPr/>
          </a:p>
        </p:txBody>
      </p:sp>
      <p:sp>
        <p:nvSpPr>
          <p:cNvPr id="222" name="Google Shape;222;p1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24" name="Google Shape;224;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Shortened legs retain alternating tripod coordination</a:t>
            </a:r>
            <a:endParaRPr/>
          </a:p>
        </p:txBody>
      </p:sp>
      <p:sp>
        <p:nvSpPr>
          <p:cNvPr id="231" name="Google Shape;231;p1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a:t>
            </a:r>
            <a:r>
              <a:rPr b="1" i="0" lang="en-US" sz="1600" u="none" cap="none" strike="noStrike">
                <a:solidFill>
                  <a:srgbClr val="344F61"/>
                </a:solidFill>
                <a:latin typeface="Arial"/>
                <a:ea typeface="Arial"/>
                <a:cs typeface="Arial"/>
                <a:sym typeface="Arial"/>
              </a:rPr>
              <a:t>tripod gait</a:t>
            </a:r>
            <a:r>
              <a:rPr b="0" i="0" lang="en-US" sz="1600" u="none" cap="none" strike="noStrike">
                <a:solidFill>
                  <a:srgbClr val="27323A"/>
                </a:solidFill>
                <a:latin typeface="Arial"/>
                <a:ea typeface="Arial"/>
                <a:cs typeface="Arial"/>
                <a:sym typeface="Arial"/>
              </a:rPr>
              <a:t> alternates two sets of three supporting legs. In Cataglyphis, one set combines the left front and hind legs with the right middle leg; the complementary set uses the remaining three legs.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High-speed video at 250 frames per second recorded ants before and after manipulation. The published normal example had a stride length of 13.3 mm at 0.28 m/s, whereas a stumps-II example retained tripod coordination with a 10.5 mm stride at 0.27 m/s.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observations separate shortening of the walking cycle’s spatial extent from replacement of its basic coordination pattern. Preserved tripods do not establish unchanged sensory feedback or motor-neuron activity, but they constrain explanations that require an entirely different gait after shortening.</a:t>
            </a:r>
            <a:endParaRPr/>
          </a:p>
        </p:txBody>
      </p:sp>
      <p:pic>
        <p:nvPicPr>
          <p:cNvPr descr="W07_3B.png" id="232" name="Google Shape;232;p13"/>
          <p:cNvPicPr preferRelativeResize="0"/>
          <p:nvPr/>
        </p:nvPicPr>
        <p:blipFill rotWithShape="1">
          <a:blip r:embed="rId3">
            <a:alphaModFix/>
          </a:blip>
          <a:srcRect b="0" l="0" r="0" t="0"/>
          <a:stretch/>
        </p:blipFill>
        <p:spPr>
          <a:xfrm>
            <a:off x="6504127" y="1280160"/>
            <a:ext cx="5120640" cy="2940498"/>
          </a:xfrm>
          <a:prstGeom prst="rect">
            <a:avLst/>
          </a:prstGeom>
          <a:noFill/>
          <a:ln>
            <a:noFill/>
          </a:ln>
        </p:spPr>
      </p:pic>
      <p:sp>
        <p:nvSpPr>
          <p:cNvPr id="233" name="Google Shape;233;p13"/>
          <p:cNvSpPr txBox="1"/>
          <p:nvPr/>
        </p:nvSpPr>
        <p:spPr>
          <a:xfrm>
            <a:off x="6504127" y="431209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3(B). Tripod gait after shortening the tibiae.</a:t>
            </a:r>
            <a:endParaRPr/>
          </a:p>
        </p:txBody>
      </p:sp>
      <p:sp>
        <p:nvSpPr>
          <p:cNvPr id="234" name="Google Shape;234;p1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36" name="Google Shape;236;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Distance errors track the extent of leg shortening</a:t>
            </a:r>
            <a:endParaRPr/>
          </a:p>
        </p:txBody>
      </p:sp>
      <p:sp>
        <p:nvSpPr>
          <p:cNvPr id="243" name="Google Shape;243;p1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shorter stride covers less ground during each locomotor cycle. If outbound distance is stored in relation to movement cycles, shortening the legs only after that journey should make the inbound estimate terminate before the original feeder-to-nest distance.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In the expanded experiment, normal-legged ants searched at 10.20 m, stumps-I ants at 6.95 m and stumps-II ants at 5.75 m. Stilts produced searches at 15.30 m. These values were measured after a 10 m outbound run through the training channel.</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graded undershoot is consistent with a stride integrator rather than a fixed physical-distance readout independent of locomotion. The two shortening treatments nevertheless changed more than one biomechanical variable, so recorded stride kinematics were needed to assess the quantitative prediction.</a:t>
            </a:r>
            <a:endParaRPr/>
          </a:p>
        </p:txBody>
      </p:sp>
      <p:pic>
        <p:nvPicPr>
          <p:cNvPr descr="W07_4.png" id="244" name="Google Shape;244;p14"/>
          <p:cNvPicPr preferRelativeResize="0"/>
          <p:nvPr/>
        </p:nvPicPr>
        <p:blipFill rotWithShape="1">
          <a:blip r:embed="rId3">
            <a:alphaModFix/>
          </a:blip>
          <a:srcRect b="0" l="0" r="0" t="0"/>
          <a:stretch/>
        </p:blipFill>
        <p:spPr>
          <a:xfrm>
            <a:off x="6651785" y="1280160"/>
            <a:ext cx="4825323" cy="4297679"/>
          </a:xfrm>
          <a:prstGeom prst="rect">
            <a:avLst/>
          </a:prstGeom>
          <a:noFill/>
          <a:ln>
            <a:noFill/>
          </a:ln>
        </p:spPr>
      </p:pic>
      <p:sp>
        <p:nvSpPr>
          <p:cNvPr id="245" name="Google Shape;245;p1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4(A–B). Color-coded searches before and after matched leg-length training.</a:t>
            </a:r>
            <a:endParaRPr/>
          </a:p>
        </p:txBody>
      </p:sp>
      <p:sp>
        <p:nvSpPr>
          <p:cNvPr id="246" name="Google Shape;246;p1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48" name="Google Shape;248;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Search density distinguishes distance from uncertainty</a:t>
            </a:r>
            <a:endParaRPr/>
          </a:p>
        </p:txBody>
      </p:sp>
      <p:sp>
        <p:nvSpPr>
          <p:cNvPr id="255" name="Google Shape;255;p1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7323A"/>
                </a:solidFill>
                <a:latin typeface="Arial"/>
                <a:ea typeface="Arial"/>
                <a:cs typeface="Arial"/>
                <a:sym typeface="Arial"/>
              </a:rPr>
              <a:t>A </a:t>
            </a:r>
            <a:r>
              <a:rPr b="1" i="0" lang="en-US" sz="1700" u="none" cap="none" strike="noStrike">
                <a:solidFill>
                  <a:srgbClr val="344F61"/>
                </a:solidFill>
                <a:latin typeface="Arial"/>
                <a:ea typeface="Arial"/>
                <a:cs typeface="Arial"/>
                <a:sym typeface="Arial"/>
              </a:rPr>
              <a:t>search density distribution</a:t>
            </a:r>
            <a:r>
              <a:rPr b="0" i="0" lang="en-US" sz="1700" u="none" cap="none" strike="noStrike">
                <a:solidFill>
                  <a:srgbClr val="27323A"/>
                </a:solidFill>
                <a:latin typeface="Arial"/>
                <a:ea typeface="Arial"/>
                <a:cs typeface="Arial"/>
                <a:sym typeface="Arial"/>
              </a:rPr>
              <a:t> records how often an ant visits positions during its search. Its centre estimates expected nest location, while its width describes how broadly the animal distributes its search around that estimate.</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The test channel was divided into 10 cm bins. In the first test, the full width at half maximum was 8.3 m for stilts, 6.0 m for normal legs, 5.2 m for stumps I and 4.1 m for stumps II. The plotted search curves therefore differed in spread as well as centre.</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The widths are behavioral descriptions of searching rather than direct measurements of a neural uncertainty variable. Longer or shorter strides alter the spatial extent covered during searching, so distribution width cannot by itself establish how precisely a central memory encodes distance.</a:t>
            </a:r>
            <a:endParaRPr/>
          </a:p>
        </p:txBody>
      </p:sp>
      <p:pic>
        <p:nvPicPr>
          <p:cNvPr descr="W07_5.png" id="256" name="Google Shape;256;p15"/>
          <p:cNvPicPr preferRelativeResize="0"/>
          <p:nvPr/>
        </p:nvPicPr>
        <p:blipFill rotWithShape="1">
          <a:blip r:embed="rId3">
            <a:alphaModFix/>
          </a:blip>
          <a:srcRect b="0" l="0" r="0" t="0"/>
          <a:stretch/>
        </p:blipFill>
        <p:spPr>
          <a:xfrm>
            <a:off x="6504127" y="1280160"/>
            <a:ext cx="5120640" cy="4103827"/>
          </a:xfrm>
          <a:prstGeom prst="rect">
            <a:avLst/>
          </a:prstGeom>
          <a:noFill/>
          <a:ln>
            <a:noFill/>
          </a:ln>
        </p:spPr>
      </p:pic>
      <p:sp>
        <p:nvSpPr>
          <p:cNvPr id="257" name="Google Shape;257;p15"/>
          <p:cNvSpPr txBox="1"/>
          <p:nvPr/>
        </p:nvSpPr>
        <p:spPr>
          <a:xfrm>
            <a:off x="6504127" y="547542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5. Widths of the nest-search distributions.</a:t>
            </a:r>
            <a:endParaRPr/>
          </a:p>
        </p:txBody>
      </p:sp>
      <p:sp>
        <p:nvSpPr>
          <p:cNvPr id="258" name="Google Shape;258;p1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60" name="Google Shape;260;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Repeated training removes most of the distance mismatch</a:t>
            </a:r>
            <a:endParaRPr/>
          </a:p>
        </p:txBody>
      </p:sp>
      <p:sp>
        <p:nvSpPr>
          <p:cNvPr id="267" name="Google Shape;267;p1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Comparing first and second tests separates a newly imposed mismatch from walking with altered legs on both journey directions. In the second test, ants had left the nest and reached the feeder using the same modified limbs used during homing.</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initial stilt and stump searches were displaced from the 10 m nest distance. After the subsequent outbound journey, the color-coded search distributions clustered near the correct distance across the four leg conditions, even though the surgical or bristle modifications remained present.</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dependence on journey history makes a persistent injury explanation insufficient. Matched locomotor conditions permit accurate homing without proving a numerical step counter; a physiological integrator of stride-associated signals can produce the same qualitative relationship between acquisition and return.</a:t>
            </a:r>
            <a:endParaRPr/>
          </a:p>
        </p:txBody>
      </p:sp>
      <p:pic>
        <p:nvPicPr>
          <p:cNvPr descr="W07_4.png" id="268" name="Google Shape;268;p16"/>
          <p:cNvPicPr preferRelativeResize="0"/>
          <p:nvPr/>
        </p:nvPicPr>
        <p:blipFill rotWithShape="1">
          <a:blip r:embed="rId3">
            <a:alphaModFix/>
          </a:blip>
          <a:srcRect b="0" l="0" r="0" t="0"/>
          <a:stretch/>
        </p:blipFill>
        <p:spPr>
          <a:xfrm>
            <a:off x="6651785" y="1280160"/>
            <a:ext cx="4825323" cy="4297679"/>
          </a:xfrm>
          <a:prstGeom prst="rect">
            <a:avLst/>
          </a:prstGeom>
          <a:noFill/>
          <a:ln>
            <a:noFill/>
          </a:ln>
        </p:spPr>
      </p:pic>
      <p:sp>
        <p:nvSpPr>
          <p:cNvPr id="269" name="Google Shape;269;p16"/>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4(A–B). Color-coded searches before and after matched leg-length training.</a:t>
            </a:r>
            <a:endParaRPr/>
          </a:p>
        </p:txBody>
      </p:sp>
      <p:sp>
        <p:nvSpPr>
          <p:cNvPr id="270" name="Google Shape;270;p1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72" name="Google Shape;272;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Body size must be separated from stride length</a:t>
            </a:r>
            <a:endParaRPr/>
          </a:p>
        </p:txBody>
      </p:sp>
      <p:sp>
        <p:nvSpPr>
          <p:cNvPr id="279" name="Google Shape;279;p1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Larger Cataglyphis workers have longer legs and can take longer strides. </a:t>
            </a:r>
            <a:r>
              <a:rPr b="1" i="0" lang="en-US" sz="1600" u="none" cap="none" strike="noStrike">
                <a:solidFill>
                  <a:srgbClr val="344F61"/>
                </a:solidFill>
                <a:latin typeface="Arial"/>
                <a:ea typeface="Arial"/>
                <a:cs typeface="Arial"/>
                <a:sym typeface="Arial"/>
              </a:rPr>
              <a:t>Normalization</a:t>
            </a:r>
            <a:r>
              <a:rPr b="0" i="0" lang="en-US" sz="1600" u="none" cap="none" strike="noStrike">
                <a:solidFill>
                  <a:srgbClr val="27323A"/>
                </a:solidFill>
                <a:latin typeface="Arial"/>
                <a:ea typeface="Arial"/>
                <a:cs typeface="Arial"/>
                <a:sym typeface="Arial"/>
              </a:rPr>
              <a:t> expresses measurements relative to a specified reference so that differences in body size do not masquerade as effects of the experimental manipulation.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Wittlinger and colleagues measured the </a:t>
            </a:r>
            <a:r>
              <a:rPr b="1" i="0" lang="en-US" sz="1600" u="none" cap="none" strike="noStrike">
                <a:solidFill>
                  <a:srgbClr val="344F61"/>
                </a:solidFill>
                <a:latin typeface="Arial"/>
                <a:ea typeface="Arial"/>
                <a:cs typeface="Arial"/>
                <a:sym typeface="Arial"/>
              </a:rPr>
              <a:t>alitrunk</a:t>
            </a:r>
            <a:r>
              <a:rPr b="0" i="0" lang="en-US" sz="1600" u="none" cap="none" strike="noStrike">
                <a:solidFill>
                  <a:srgbClr val="27323A"/>
                </a:solidFill>
                <a:latin typeface="Arial"/>
                <a:ea typeface="Arial"/>
                <a:cs typeface="Arial"/>
                <a:sym typeface="Arial"/>
              </a:rPr>
              <a:t>, the thoracic region between the pronotum and propodeum, and expressed middle-leg length and stride length relative to alitrunk length. High-speed records related these relative strides to frequency, including a comparison at 20 Hz.</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analysis placed normal, stilt and stump animals on a common anatomical and locomotor basis. Relative stride length is therefore dimensionless in the relevant plot; it is not a second independently measured estimate of homing distance or evidence that ants themselves perform this normalization.</a:t>
            </a:r>
            <a:endParaRPr/>
          </a:p>
        </p:txBody>
      </p:sp>
      <p:pic>
        <p:nvPicPr>
          <p:cNvPr descr="W07_6.png" id="280" name="Google Shape;280;p17"/>
          <p:cNvPicPr preferRelativeResize="0"/>
          <p:nvPr/>
        </p:nvPicPr>
        <p:blipFill rotWithShape="1">
          <a:blip r:embed="rId3">
            <a:alphaModFix/>
          </a:blip>
          <a:srcRect b="0" l="0" r="0" t="0"/>
          <a:stretch/>
        </p:blipFill>
        <p:spPr>
          <a:xfrm>
            <a:off x="6504127" y="1280160"/>
            <a:ext cx="5120640" cy="4165349"/>
          </a:xfrm>
          <a:prstGeom prst="rect">
            <a:avLst/>
          </a:prstGeom>
          <a:noFill/>
          <a:ln>
            <a:noFill/>
          </a:ln>
        </p:spPr>
      </p:pic>
      <p:sp>
        <p:nvSpPr>
          <p:cNvPr id="281" name="Google Shape;281;p17"/>
          <p:cNvSpPr txBox="1"/>
          <p:nvPr/>
        </p:nvSpPr>
        <p:spPr>
          <a:xfrm>
            <a:off x="6504127" y="553694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6. Stride length as a function of stride frequency.</a:t>
            </a:r>
            <a:endParaRPr/>
          </a:p>
        </p:txBody>
      </p:sp>
      <p:sp>
        <p:nvSpPr>
          <p:cNvPr id="282" name="Google Shape;282;p1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84" name="Google Shape;284;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Stride length varies even at a common cycle frequency</a:t>
            </a:r>
            <a:endParaRPr/>
          </a:p>
        </p:txBody>
      </p:sp>
      <p:sp>
        <p:nvSpPr>
          <p:cNvPr id="291" name="Google Shape;291;p1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Stride frequency</a:t>
            </a:r>
            <a:r>
              <a:rPr b="0" i="0" lang="en-US" sz="1600" u="none" cap="none" strike="noStrike">
                <a:solidFill>
                  <a:srgbClr val="27323A"/>
                </a:solidFill>
                <a:latin typeface="Arial"/>
                <a:ea typeface="Arial"/>
                <a:cs typeface="Arial"/>
                <a:sym typeface="Arial"/>
              </a:rPr>
              <a:t> is the number of complete leg cycles per second, measured in hertz. It is distinct from stride length, the distance advanced during one cycle. Either variable can change walking speed.</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At comparable frequencies, stilt ants had longer relative strides and stump ants shorter relative strides than controls. The investigators used the measured frequency–length relationships to compare animals at 20 Hz, reducing the effect of unequal movement speeds on the predicted homing distances.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remaining ordering of the leg conditions links the imposed limb geometry to locomotor displacement. The measured relationships provide a quantitative behavioral constraint, but they do not reveal whether the odometer receives cycle counts, proprioceptive signals or an integrated motor command.</a:t>
            </a:r>
            <a:endParaRPr/>
          </a:p>
        </p:txBody>
      </p:sp>
      <p:pic>
        <p:nvPicPr>
          <p:cNvPr descr="W07_6.png" id="292" name="Google Shape;292;p18"/>
          <p:cNvPicPr preferRelativeResize="0"/>
          <p:nvPr/>
        </p:nvPicPr>
        <p:blipFill rotWithShape="1">
          <a:blip r:embed="rId3">
            <a:alphaModFix/>
          </a:blip>
          <a:srcRect b="0" l="0" r="0" t="0"/>
          <a:stretch/>
        </p:blipFill>
        <p:spPr>
          <a:xfrm>
            <a:off x="6504127" y="1280160"/>
            <a:ext cx="5120640" cy="4165349"/>
          </a:xfrm>
          <a:prstGeom prst="rect">
            <a:avLst/>
          </a:prstGeom>
          <a:noFill/>
          <a:ln>
            <a:noFill/>
          </a:ln>
        </p:spPr>
      </p:pic>
      <p:sp>
        <p:nvSpPr>
          <p:cNvPr id="293" name="Google Shape;293;p18"/>
          <p:cNvSpPr txBox="1"/>
          <p:nvPr/>
        </p:nvSpPr>
        <p:spPr>
          <a:xfrm>
            <a:off x="6504127" y="553694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6. Stride length as a function of stride frequency.</a:t>
            </a:r>
            <a:endParaRPr/>
          </a:p>
        </p:txBody>
      </p:sp>
      <p:sp>
        <p:nvSpPr>
          <p:cNvPr id="294" name="Google Shape;294;p1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96" name="Google Shape;29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Walking speed is not determined by frequency alone</a:t>
            </a:r>
            <a:endParaRPr/>
          </a:p>
        </p:txBody>
      </p:sp>
      <p:sp>
        <p:nvSpPr>
          <p:cNvPr id="303" name="Google Shape;303;p1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Increasing walking speed can involve faster cycles, longer strides, or both. Wittlinger and colleagues recorded freely walking animals under several temperature and preparation conditions, retaining straight runs without abrupt stops for the kinematic comparisons.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color-coded data related walking speed, in mm/s, to stride frequency, in Hz. Normal and shortened-leg ants increased cycle frequency as speed increased, while stilts tended to use lower frequencies for a given speed. Their longer strides partly compensated for the reduced frequency.</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These relationships prevent interpreting every change in elapsed journey time as a proportional change in distance. A time-based explanation must account for the actual measured speeds rather than assume that all manipulated ants maintain the same cycle rate or velocity.</a:t>
            </a:r>
            <a:endParaRPr/>
          </a:p>
        </p:txBody>
      </p:sp>
      <p:pic>
        <p:nvPicPr>
          <p:cNvPr descr="W07_7A.png" id="304" name="Google Shape;304;p19"/>
          <p:cNvPicPr preferRelativeResize="0"/>
          <p:nvPr/>
        </p:nvPicPr>
        <p:blipFill rotWithShape="1">
          <a:blip r:embed="rId3">
            <a:alphaModFix/>
          </a:blip>
          <a:srcRect b="0" l="0" r="0" t="0"/>
          <a:stretch/>
        </p:blipFill>
        <p:spPr>
          <a:xfrm>
            <a:off x="6594939" y="1280160"/>
            <a:ext cx="4939014" cy="4297679"/>
          </a:xfrm>
          <a:prstGeom prst="rect">
            <a:avLst/>
          </a:prstGeom>
          <a:noFill/>
          <a:ln>
            <a:noFill/>
          </a:ln>
        </p:spPr>
      </p:pic>
      <p:sp>
        <p:nvSpPr>
          <p:cNvPr id="305" name="Google Shape;305;p1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7(A). Stride frequency increases with walking speed.</a:t>
            </a:r>
            <a:endParaRPr/>
          </a:p>
        </p:txBody>
      </p:sp>
      <p:sp>
        <p:nvSpPr>
          <p:cNvPr id="306" name="Google Shape;306;p1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308" name="Google Shape;308;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Stride length also increases with walking speed</a:t>
            </a:r>
            <a:endParaRPr/>
          </a:p>
        </p:txBody>
      </p:sp>
      <p:sp>
        <p:nvSpPr>
          <p:cNvPr id="315" name="Google Shape;315;p2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The distance advanced during one stride is not a fixed constant for a leg condition. Cataglyphis changes stride length as it runs faster, so the effect of altered limb length must be evaluated across measured locomotor speeds.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published plot relates stride length in mm to walking speed in mm/s. Stilts have longer strides than controls at comparable speeds, and stumps shorter strides. High-speed recordings establish this relationship independently of the turning-point measures used to locate each ant’s nest search.</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agreement between locomotor displacement and homing bias supports stride-based odometry while avoiding an assumption of one unchanging step size. The measurements still leave unresolved how stride-length information is represented and combined with heading information in the nervous system.</a:t>
            </a:r>
            <a:endParaRPr/>
          </a:p>
        </p:txBody>
      </p:sp>
      <p:pic>
        <p:nvPicPr>
          <p:cNvPr descr="W07_7B.png" id="316" name="Google Shape;316;p20"/>
          <p:cNvPicPr preferRelativeResize="0"/>
          <p:nvPr/>
        </p:nvPicPr>
        <p:blipFill rotWithShape="1">
          <a:blip r:embed="rId3">
            <a:alphaModFix/>
          </a:blip>
          <a:srcRect b="0" l="0" r="0" t="0"/>
          <a:stretch/>
        </p:blipFill>
        <p:spPr>
          <a:xfrm>
            <a:off x="6977892" y="1280160"/>
            <a:ext cx="4173109" cy="4297679"/>
          </a:xfrm>
          <a:prstGeom prst="rect">
            <a:avLst/>
          </a:prstGeom>
          <a:noFill/>
          <a:ln>
            <a:noFill/>
          </a:ln>
        </p:spPr>
      </p:pic>
      <p:sp>
        <p:nvSpPr>
          <p:cNvPr id="317" name="Google Shape;317;p2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7(B). Stride length increases with walking speed.</a:t>
            </a:r>
            <a:endParaRPr/>
          </a:p>
        </p:txBody>
      </p:sp>
      <p:sp>
        <p:nvSpPr>
          <p:cNvPr id="318" name="Google Shape;318;p2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320" name="Google Shape;320;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stride integrator need not be a literal counter</a:t>
            </a:r>
            <a:endParaRPr/>
          </a:p>
        </p:txBody>
      </p:sp>
      <p:sp>
        <p:nvSpPr>
          <p:cNvPr id="327" name="Google Shape;327;p2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a:t>
            </a:r>
            <a:r>
              <a:rPr b="1" i="0" lang="en-US" sz="1600" u="none" cap="none" strike="noStrike">
                <a:solidFill>
                  <a:srgbClr val="344F61"/>
                </a:solidFill>
                <a:latin typeface="Arial"/>
                <a:ea typeface="Arial"/>
                <a:cs typeface="Arial"/>
                <a:sym typeface="Arial"/>
              </a:rPr>
              <a:t>stride integrator</a:t>
            </a:r>
            <a:r>
              <a:rPr b="0" i="0" lang="en-US" sz="1600" u="none" cap="none" strike="noStrike">
                <a:solidFill>
                  <a:srgbClr val="27323A"/>
                </a:solidFill>
                <a:latin typeface="Arial"/>
                <a:ea typeface="Arial"/>
                <a:cs typeface="Arial"/>
                <a:sym typeface="Arial"/>
              </a:rPr>
              <a:t> accumulates information associated with rhythmic locomotion. It need not register each footfall as a discrete counted object. Possible inputs include </a:t>
            </a:r>
            <a:r>
              <a:rPr b="1" i="0" lang="en-US" sz="1600" u="none" cap="none" strike="noStrike">
                <a:solidFill>
                  <a:srgbClr val="344F61"/>
                </a:solidFill>
                <a:latin typeface="Arial"/>
                <a:ea typeface="Arial"/>
                <a:cs typeface="Arial"/>
                <a:sym typeface="Arial"/>
              </a:rPr>
              <a:t>proprioception</a:t>
            </a:r>
            <a:r>
              <a:rPr b="0" i="0" lang="en-US" sz="1600" u="none" cap="none" strike="noStrike">
                <a:solidFill>
                  <a:srgbClr val="27323A"/>
                </a:solidFill>
                <a:latin typeface="Arial"/>
                <a:ea typeface="Arial"/>
                <a:cs typeface="Arial"/>
                <a:sym typeface="Arial"/>
              </a:rPr>
              <a:t>, sensory information about limb position and movement, or activity associated with generating the walking rhythm.</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2007 experiments combined a 10 m navigational task with 250-frame-per-second video and leg-length manipulations. Both the preserved tripod pattern and the graded stride changes were consistent with accumulation of movement-linked information rather than a fixed elapsed-time rule.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physiological alternatives were not directly recorded or selectively blocked in this study. No transmitter, receptor or ion channel was identified as the odometer mechanism, so these candidates remain proposed explanations rather than established cellular findings in Cataglyphis.</a:t>
            </a:r>
            <a:endParaRPr/>
          </a:p>
        </p:txBody>
      </p:sp>
      <p:pic>
        <p:nvPicPr>
          <p:cNvPr descr="W07_3A.png" id="328" name="Google Shape;328;p21"/>
          <p:cNvPicPr preferRelativeResize="0"/>
          <p:nvPr/>
        </p:nvPicPr>
        <p:blipFill rotWithShape="1">
          <a:blip r:embed="rId3">
            <a:alphaModFix/>
          </a:blip>
          <a:srcRect b="0" l="0" r="0" t="0"/>
          <a:stretch/>
        </p:blipFill>
        <p:spPr>
          <a:xfrm>
            <a:off x="6504127" y="1280160"/>
            <a:ext cx="5120640" cy="2853024"/>
          </a:xfrm>
          <a:prstGeom prst="rect">
            <a:avLst/>
          </a:prstGeom>
          <a:noFill/>
          <a:ln>
            <a:noFill/>
          </a:ln>
        </p:spPr>
      </p:pic>
      <p:sp>
        <p:nvSpPr>
          <p:cNvPr id="329" name="Google Shape;329;p21"/>
          <p:cNvSpPr txBox="1"/>
          <p:nvPr/>
        </p:nvSpPr>
        <p:spPr>
          <a:xfrm>
            <a:off x="6504127" y="422462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3(A). Normal tripod gait in a walking Cataglyphis fortis.</a:t>
            </a:r>
            <a:endParaRPr/>
          </a:p>
        </p:txBody>
      </p:sp>
      <p:sp>
        <p:nvSpPr>
          <p:cNvPr id="330" name="Google Shape;330;p2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332" name="Google Shape;33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Learning walks precede long-distance foraging</a:t>
            </a:r>
            <a:endParaRPr/>
          </a:p>
        </p:txBody>
      </p:sp>
      <p:sp>
        <p:nvSpPr>
          <p:cNvPr id="339" name="Google Shape;339;p2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Learning walks</a:t>
            </a:r>
            <a:r>
              <a:rPr b="0" i="0" lang="en-US" sz="1600" u="none" cap="none" strike="noStrike">
                <a:solidFill>
                  <a:srgbClr val="27323A"/>
                </a:solidFill>
                <a:latin typeface="Arial"/>
                <a:ea typeface="Arial"/>
                <a:cs typeface="Arial"/>
                <a:sym typeface="Arial"/>
              </a:rPr>
              <a:t> are short excursions around the nest during the transition from interior work to outside foraging. Cataglyphis nodus repeatedly pauses and rotates during these walks, acquiring experience with directional and visual information before taking distant journeys.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Grob and colleagues tested novices around natural nests in Greece. A table installed 30 cm above the entrance held a polarization filter over a 60 × 60 cm learning-walk area. Ants experienced defined skylight conditions over three days before their brains were analyzed.</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field preparation retained active behavior near the home nest while manipulating one component of the compass environment. It tests experience-dependent structural change; it does not directly measure a complete home vector in an identified neuron or establish each novice’s later foraging success.</a:t>
            </a:r>
            <a:endParaRPr/>
          </a:p>
        </p:txBody>
      </p:sp>
      <p:pic>
        <p:nvPicPr>
          <p:cNvPr descr="G22_1A.png" id="340" name="Google Shape;340;p22"/>
          <p:cNvPicPr preferRelativeResize="0"/>
          <p:nvPr/>
        </p:nvPicPr>
        <p:blipFill rotWithShape="1">
          <a:blip r:embed="rId3">
            <a:alphaModFix/>
          </a:blip>
          <a:srcRect b="0" l="0" r="0" t="0"/>
          <a:stretch/>
        </p:blipFill>
        <p:spPr>
          <a:xfrm>
            <a:off x="6670593" y="1280160"/>
            <a:ext cx="4787708" cy="4297679"/>
          </a:xfrm>
          <a:prstGeom prst="rect">
            <a:avLst/>
          </a:prstGeom>
          <a:noFill/>
          <a:ln>
            <a:noFill/>
          </a:ln>
        </p:spPr>
      </p:pic>
      <p:sp>
        <p:nvSpPr>
          <p:cNvPr id="341" name="Google Shape;341;p2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1(a). The polarization-filter apparatus in the natural habitat.</a:t>
            </a:r>
            <a:endParaRPr/>
          </a:p>
        </p:txBody>
      </p:sp>
      <p:sp>
        <p:nvSpPr>
          <p:cNvPr id="342" name="Google Shape;342;p2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44" name="Google Shape;344;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Sky polarization supplies a changing compass reference</a:t>
            </a:r>
            <a:endParaRPr/>
          </a:p>
        </p:txBody>
      </p:sp>
      <p:sp>
        <p:nvSpPr>
          <p:cNvPr id="351" name="Google Shape;351;p2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The </a:t>
            </a:r>
            <a:r>
              <a:rPr b="1" i="0" lang="en-US" sz="1600" u="none" cap="none" strike="noStrike">
                <a:solidFill>
                  <a:srgbClr val="344F61"/>
                </a:solidFill>
                <a:latin typeface="Arial"/>
                <a:ea typeface="Arial"/>
                <a:cs typeface="Arial"/>
                <a:sym typeface="Arial"/>
              </a:rPr>
              <a:t>solar ephemeris</a:t>
            </a:r>
            <a:r>
              <a:rPr b="0" i="0" lang="en-US" sz="1600" u="none" cap="none" strike="noStrike">
                <a:solidFill>
                  <a:srgbClr val="27323A"/>
                </a:solidFill>
                <a:latin typeface="Arial"/>
                <a:ea typeface="Arial"/>
                <a:cs typeface="Arial"/>
                <a:sym typeface="Arial"/>
              </a:rPr>
              <a:t> is the sun’s changing position over the day. A time-compensated sky compass must relate current solar or polarization information to heading despite that movement. Initial learning can establish the relation between celestial changes and stable surroundings.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Grob and colleagues compared natural skylight with a stationary polarizer, a single 90° turn at solar noon, hourly 45° turns, and continuous rotation at 15° per hour. Each treatment constrained how polarization direction changed during three days of learning walks.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artificial schedules separated exposure to polarized light from experience of a changing polarization pattern. They were controlled experimental cues rather than claims that the natural sky everywhere follows those exact angular steps, especially near noon or at different geographical positions.</a:t>
            </a:r>
            <a:endParaRPr/>
          </a:p>
        </p:txBody>
      </p:sp>
      <p:pic>
        <p:nvPicPr>
          <p:cNvPr descr="G22_1B.png" id="352" name="Google Shape;352;p23"/>
          <p:cNvPicPr preferRelativeResize="0"/>
          <p:nvPr/>
        </p:nvPicPr>
        <p:blipFill rotWithShape="1">
          <a:blip r:embed="rId3">
            <a:alphaModFix/>
          </a:blip>
          <a:srcRect b="0" l="0" r="0" t="0"/>
          <a:stretch/>
        </p:blipFill>
        <p:spPr>
          <a:xfrm>
            <a:off x="6504127" y="1280160"/>
            <a:ext cx="5120640" cy="3371873"/>
          </a:xfrm>
          <a:prstGeom prst="rect">
            <a:avLst/>
          </a:prstGeom>
          <a:noFill/>
          <a:ln>
            <a:noFill/>
          </a:ln>
        </p:spPr>
      </p:pic>
      <p:sp>
        <p:nvSpPr>
          <p:cNvPr id="353" name="Google Shape;353;p23"/>
          <p:cNvSpPr txBox="1"/>
          <p:nvPr/>
        </p:nvSpPr>
        <p:spPr>
          <a:xfrm>
            <a:off x="6504127" y="474347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1(b). Stationary, stepped and continuously rotating polarization treatments.</a:t>
            </a:r>
            <a:endParaRPr/>
          </a:p>
        </p:txBody>
      </p:sp>
      <p:sp>
        <p:nvSpPr>
          <p:cNvPr id="354" name="Google Shape;354;p2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56" name="Google Shape;35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Two visual pathways reach different integration centres</a:t>
            </a:r>
            <a:endParaRPr/>
          </a:p>
        </p:txBody>
      </p:sp>
      <p:sp>
        <p:nvSpPr>
          <p:cNvPr id="363" name="Google Shape;363;p2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a:t>
            </a:r>
            <a:r>
              <a:rPr b="1" i="0" lang="en-US" sz="1600" u="none" cap="none" strike="noStrike">
                <a:solidFill>
                  <a:srgbClr val="344F61"/>
                </a:solidFill>
                <a:latin typeface="Arial"/>
                <a:ea typeface="Arial"/>
                <a:cs typeface="Arial"/>
                <a:sym typeface="Arial"/>
              </a:rPr>
              <a:t>neuropil</a:t>
            </a:r>
            <a:r>
              <a:rPr b="0" i="0" lang="en-US" sz="1600" u="none" cap="none" strike="noStrike">
                <a:solidFill>
                  <a:srgbClr val="27323A"/>
                </a:solidFill>
                <a:latin typeface="Arial"/>
                <a:ea typeface="Arial"/>
                <a:cs typeface="Arial"/>
                <a:sym typeface="Arial"/>
              </a:rPr>
              <a:t> is a region containing neuronal processes and synapses. The </a:t>
            </a:r>
            <a:r>
              <a:rPr b="1" i="0" lang="en-US" sz="1600" u="none" cap="none" strike="noStrike">
                <a:solidFill>
                  <a:srgbClr val="344F61"/>
                </a:solidFill>
                <a:latin typeface="Arial"/>
                <a:ea typeface="Arial"/>
                <a:cs typeface="Arial"/>
                <a:sym typeface="Arial"/>
              </a:rPr>
              <a:t>central complex</a:t>
            </a:r>
            <a:r>
              <a:rPr b="0" i="0" lang="en-US" sz="1600" u="none" cap="none" strike="noStrike">
                <a:solidFill>
                  <a:srgbClr val="27323A"/>
                </a:solidFill>
                <a:latin typeface="Arial"/>
                <a:ea typeface="Arial"/>
                <a:cs typeface="Arial"/>
                <a:sym typeface="Arial"/>
              </a:rPr>
              <a:t> comprises midline brain neuropils implicated in heading and navigation, while the </a:t>
            </a:r>
            <a:r>
              <a:rPr b="1" i="0" lang="en-US" sz="1600" u="none" cap="none" strike="noStrike">
                <a:solidFill>
                  <a:srgbClr val="344F61"/>
                </a:solidFill>
                <a:latin typeface="Arial"/>
                <a:ea typeface="Arial"/>
                <a:cs typeface="Arial"/>
                <a:sym typeface="Arial"/>
              </a:rPr>
              <a:t>mushroom bodies</a:t>
            </a:r>
            <a:r>
              <a:rPr b="0" i="0" lang="en-US" sz="1600" u="none" cap="none" strike="noStrike">
                <a:solidFill>
                  <a:srgbClr val="27323A"/>
                </a:solidFill>
                <a:latin typeface="Arial"/>
                <a:ea typeface="Arial"/>
                <a:cs typeface="Arial"/>
                <a:sym typeface="Arial"/>
              </a:rPr>
              <a:t> are paired structures implicated in memory-based processing.</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Grob and colleagues labelled Cataglyphis brains with anti-synapsin antibodies and fluorescent phalloidin, which marks actin-rich structures. Their preparations identified mushroom-body collar microglomeruli and giant synapses in the lateral complex. The whole-brain image has a 200 µm scale bar and the synaptic insets 10 µm bars.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anatomical distinction permits separate measurements along the two visual pathways. Labelling synaptic structures establishes their position and morphology, but neither stain reports the sign of a postsynaptic voltage change, an active compass heading or a stored navigational distance.</a:t>
            </a:r>
            <a:endParaRPr/>
          </a:p>
        </p:txBody>
      </p:sp>
      <p:pic>
        <p:nvPicPr>
          <p:cNvPr descr="G22_1C.png" id="364" name="Google Shape;364;p24"/>
          <p:cNvPicPr preferRelativeResize="0"/>
          <p:nvPr/>
        </p:nvPicPr>
        <p:blipFill rotWithShape="1">
          <a:blip r:embed="rId3">
            <a:alphaModFix/>
          </a:blip>
          <a:srcRect b="0" l="0" r="0" t="0"/>
          <a:stretch/>
        </p:blipFill>
        <p:spPr>
          <a:xfrm>
            <a:off x="6504127" y="1280160"/>
            <a:ext cx="5120640" cy="3155801"/>
          </a:xfrm>
          <a:prstGeom prst="rect">
            <a:avLst/>
          </a:prstGeom>
          <a:noFill/>
          <a:ln>
            <a:noFill/>
          </a:ln>
        </p:spPr>
      </p:pic>
      <p:sp>
        <p:nvSpPr>
          <p:cNvPr id="365" name="Google Shape;365;p24"/>
          <p:cNvSpPr txBox="1"/>
          <p:nvPr/>
        </p:nvSpPr>
        <p:spPr>
          <a:xfrm>
            <a:off x="6504127" y="452740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366" name="Google Shape;366;p2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68" name="Google Shape;36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Synaptic labels distinguish boutons from target processes</a:t>
            </a:r>
            <a:endParaRPr/>
          </a:p>
        </p:txBody>
      </p:sp>
      <p:sp>
        <p:nvSpPr>
          <p:cNvPr id="375" name="Google Shape;375;p2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Synapsin</a:t>
            </a:r>
            <a:r>
              <a:rPr b="0" i="0" lang="en-US" sz="1600" u="none" cap="none" strike="noStrike">
                <a:solidFill>
                  <a:srgbClr val="27323A"/>
                </a:solidFill>
                <a:latin typeface="Arial"/>
                <a:ea typeface="Arial"/>
                <a:cs typeface="Arial"/>
                <a:sym typeface="Arial"/>
              </a:rPr>
              <a:t> is a protein associated with presynaptic vesicles, so anti-synapsin labelling helps identify presynaptic specializations. </a:t>
            </a:r>
            <a:r>
              <a:rPr b="1" i="0" lang="en-US" sz="1600" u="none" cap="none" strike="noStrike">
                <a:solidFill>
                  <a:srgbClr val="344F61"/>
                </a:solidFill>
                <a:latin typeface="Arial"/>
                <a:ea typeface="Arial"/>
                <a:cs typeface="Arial"/>
                <a:sym typeface="Arial"/>
              </a:rPr>
              <a:t>F-actin</a:t>
            </a:r>
            <a:r>
              <a:rPr b="0" i="0" lang="en-US" sz="1600" u="none" cap="none" strike="noStrike">
                <a:solidFill>
                  <a:srgbClr val="27323A"/>
                </a:solidFill>
                <a:latin typeface="Arial"/>
                <a:ea typeface="Arial"/>
                <a:cs typeface="Arial"/>
                <a:sym typeface="Arial"/>
              </a:rPr>
              <a:t> is filamentous actin; fluorescent phalloidin labels it in neuronal processes and supports identification of synaptic organization.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Cataglyphis nodus preparations used complementary synapsin and actin labels to quantify </a:t>
            </a:r>
            <a:r>
              <a:rPr b="1" i="0" lang="en-US" sz="1600" u="none" cap="none" strike="noStrike">
                <a:solidFill>
                  <a:srgbClr val="344F61"/>
                </a:solidFill>
                <a:latin typeface="Arial"/>
                <a:ea typeface="Arial"/>
                <a:cs typeface="Arial"/>
                <a:sym typeface="Arial"/>
              </a:rPr>
              <a:t>microglomeruli</a:t>
            </a:r>
            <a:r>
              <a:rPr b="0" i="0" lang="en-US" sz="1600" u="none" cap="none" strike="noStrike">
                <a:solidFill>
                  <a:srgbClr val="27323A"/>
                </a:solidFill>
                <a:latin typeface="Arial"/>
                <a:ea typeface="Arial"/>
                <a:cs typeface="Arial"/>
                <a:sym typeface="Arial"/>
              </a:rPr>
              <a:t>, compact synaptic complexes in the mushroom-body collar, and giant synapses in the lateral complex. The magnified examples retain 10 µm scale bars for these different structures.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Structural counts can reveal experience-associated reorganization, but an additional labelled complex does not automatically imply increased firing or stronger transmission. The experiments did not measure release probability, receptor conductance or excitatory and inhibitory currents in the counted synapses.</a:t>
            </a:r>
            <a:endParaRPr/>
          </a:p>
        </p:txBody>
      </p:sp>
      <p:pic>
        <p:nvPicPr>
          <p:cNvPr descr="G22_1C.png" id="376" name="Google Shape;376;p25"/>
          <p:cNvPicPr preferRelativeResize="0"/>
          <p:nvPr/>
        </p:nvPicPr>
        <p:blipFill rotWithShape="1">
          <a:blip r:embed="rId3">
            <a:alphaModFix/>
          </a:blip>
          <a:srcRect b="0" l="0" r="0" t="0"/>
          <a:stretch/>
        </p:blipFill>
        <p:spPr>
          <a:xfrm>
            <a:off x="6504127" y="1280160"/>
            <a:ext cx="5120640" cy="3155801"/>
          </a:xfrm>
          <a:prstGeom prst="rect">
            <a:avLst/>
          </a:prstGeom>
          <a:noFill/>
          <a:ln>
            <a:noFill/>
          </a:ln>
        </p:spPr>
      </p:pic>
      <p:sp>
        <p:nvSpPr>
          <p:cNvPr id="377" name="Google Shape;377;p25"/>
          <p:cNvSpPr txBox="1"/>
          <p:nvPr/>
        </p:nvSpPr>
        <p:spPr>
          <a:xfrm>
            <a:off x="6504127" y="452740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378" name="Google Shape;378;p2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80" name="Google Shape;38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Light exposure changes the lateral-complex pathway</a:t>
            </a:r>
            <a:endParaRPr/>
          </a:p>
        </p:txBody>
      </p:sp>
      <p:sp>
        <p:nvSpPr>
          <p:cNvPr id="387" name="Google Shape;387;p26"/>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344F61"/>
                </a:solidFill>
                <a:latin typeface="Arial"/>
                <a:ea typeface="Arial"/>
                <a:cs typeface="Arial"/>
                <a:sym typeface="Arial"/>
              </a:rPr>
              <a:t>Light exposure</a:t>
            </a:r>
            <a:r>
              <a:rPr b="0" i="0" lang="en-US" sz="1500" u="none" cap="none" strike="noStrike">
                <a:solidFill>
                  <a:srgbClr val="27323A"/>
                </a:solidFill>
                <a:latin typeface="Arial"/>
                <a:ea typeface="Arial"/>
                <a:cs typeface="Arial"/>
                <a:sym typeface="Arial"/>
              </a:rPr>
              <a:t> and active learning walks are separable experimental experiences. Grob and colleagues compared dark controls with ants exposed to natural skylight, ultraviolet-filtered skylight or a fixed polarization pattern, with additional groups allowed to perform learning walks.</a:t>
            </a:r>
            <a:endParaRPr/>
          </a:p>
          <a:p>
            <a:pPr indent="0" lvl="0" marL="0" marR="0" rtl="0" algn="l">
              <a:lnSpc>
                <a:spcPct val="108000"/>
              </a:lnSpc>
              <a:spcBef>
                <a:spcPts val="900"/>
              </a:spcBef>
              <a:spcAft>
                <a:spcPts val="0"/>
              </a:spcAft>
              <a:buNone/>
            </a:pPr>
            <a:r>
              <a:rPr b="0" i="0" lang="en-US" sz="1500" u="none" cap="none" strike="noStrike">
                <a:solidFill>
                  <a:srgbClr val="27323A"/>
                </a:solidFill>
                <a:latin typeface="Arial"/>
                <a:ea typeface="Arial"/>
                <a:cs typeface="Arial"/>
                <a:sym typeface="Arial"/>
              </a:rPr>
              <a:t>After three days, lateral-complex giant-synapse counts increased under suitable full-spectrum light exposure even without learning walks. Removing ultraviolet light reduced this response. Central-complex volume did not exhibit the same simple light-exposure dependence as the lateral-complex synaptic count.</a:t>
            </a:r>
            <a:endParaRPr/>
          </a:p>
          <a:p>
            <a:pPr indent="0" lvl="0" marL="0" marR="0" rtl="0" algn="l">
              <a:lnSpc>
                <a:spcPct val="108000"/>
              </a:lnSpc>
              <a:spcBef>
                <a:spcPts val="900"/>
              </a:spcBef>
              <a:spcAft>
                <a:spcPts val="0"/>
              </a:spcAft>
              <a:buNone/>
            </a:pPr>
            <a:r>
              <a:rPr b="0" i="0" lang="en-US" sz="1500" u="none" cap="none" strike="noStrike">
                <a:solidFill>
                  <a:srgbClr val="27323A"/>
                </a:solidFill>
                <a:latin typeface="Arial"/>
                <a:ea typeface="Arial"/>
                <a:cs typeface="Arial"/>
                <a:sym typeface="Arial"/>
              </a:rPr>
              <a:t>The dissociation supports different experience requirements in the two visual pathways. It does not identify ultraviolet phototransduction channels or prove that additional lateral-complex synapses are sufficient for accurate homing; the measured endpoint was synaptic structure rather than navigational performance.</a:t>
            </a:r>
            <a:endParaRPr/>
          </a:p>
        </p:txBody>
      </p:sp>
      <p:pic>
        <p:nvPicPr>
          <p:cNvPr descr="G22_2a.png" id="388" name="Google Shape;388;p26"/>
          <p:cNvPicPr preferRelativeResize="0"/>
          <p:nvPr/>
        </p:nvPicPr>
        <p:blipFill rotWithShape="1">
          <a:blip r:embed="rId3">
            <a:alphaModFix/>
          </a:blip>
          <a:srcRect b="0" l="0" r="0" t="0"/>
          <a:stretch/>
        </p:blipFill>
        <p:spPr>
          <a:xfrm>
            <a:off x="6321247" y="1280160"/>
            <a:ext cx="3291839" cy="2062224"/>
          </a:xfrm>
          <a:prstGeom prst="rect">
            <a:avLst/>
          </a:prstGeom>
          <a:noFill/>
          <a:ln>
            <a:noFill/>
          </a:ln>
        </p:spPr>
      </p:pic>
      <p:sp>
        <p:nvSpPr>
          <p:cNvPr id="389" name="Google Shape;389;p26"/>
          <p:cNvSpPr txBox="1"/>
          <p:nvPr/>
        </p:nvSpPr>
        <p:spPr>
          <a:xfrm>
            <a:off x="6321247" y="3433824"/>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2(a). Lateral-complex synaptic counts across light conditions.</a:t>
            </a:r>
            <a:endParaRPr/>
          </a:p>
        </p:txBody>
      </p:sp>
      <p:pic>
        <p:nvPicPr>
          <p:cNvPr descr="G22_1C.png" id="390" name="Google Shape;390;p26"/>
          <p:cNvPicPr preferRelativeResize="0"/>
          <p:nvPr/>
        </p:nvPicPr>
        <p:blipFill rotWithShape="1">
          <a:blip r:embed="rId4">
            <a:alphaModFix/>
          </a:blip>
          <a:srcRect b="0" l="0" r="0" t="0"/>
          <a:stretch/>
        </p:blipFill>
        <p:spPr>
          <a:xfrm>
            <a:off x="9795967" y="2148840"/>
            <a:ext cx="1828799" cy="1127072"/>
          </a:xfrm>
          <a:prstGeom prst="rect">
            <a:avLst/>
          </a:prstGeom>
          <a:noFill/>
          <a:ln>
            <a:noFill/>
          </a:ln>
        </p:spPr>
      </p:pic>
      <p:sp>
        <p:nvSpPr>
          <p:cNvPr id="391" name="Google Shape;391;p26"/>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392" name="Google Shape;392;p2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94" name="Google Shape;394;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Central-complex growth requires more than light alone</a:t>
            </a:r>
            <a:endParaRPr/>
          </a:p>
        </p:txBody>
      </p:sp>
      <p:sp>
        <p:nvSpPr>
          <p:cNvPr id="401" name="Google Shape;401;p27"/>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Structural plasticity</a:t>
            </a:r>
            <a:r>
              <a:rPr b="0" i="0" lang="en-US" sz="1600" u="none" cap="none" strike="noStrike">
                <a:solidFill>
                  <a:srgbClr val="27323A"/>
                </a:solidFill>
                <a:latin typeface="Arial"/>
                <a:ea typeface="Arial"/>
                <a:cs typeface="Arial"/>
                <a:sym typeface="Arial"/>
              </a:rPr>
              <a:t> is an experience-associated change in neuronal anatomy, such as neuropil volume or synaptic organization. It must be distinguished from an acute firing-rate response to a sensory stimulus.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After three days, natural learning walks increased the size-corrected central-complex volume relative to dark controls. Passive light exposure and learning walks under a stationary polarization filter did not produce the same increase. Brain volumes were corrected for body size rather than compared solely as raw tissue amounts.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result links active experience with changing celestial information to central-complex structure. It does not establish whether volume changes arise from extra synapses, expanded neurites or other tissue components, nor whether the observed growth is causally required for path integration.</a:t>
            </a:r>
            <a:endParaRPr/>
          </a:p>
        </p:txBody>
      </p:sp>
      <p:pic>
        <p:nvPicPr>
          <p:cNvPr descr="G22_2b.png" id="402" name="Google Shape;402;p27"/>
          <p:cNvPicPr preferRelativeResize="0"/>
          <p:nvPr/>
        </p:nvPicPr>
        <p:blipFill rotWithShape="1">
          <a:blip r:embed="rId3">
            <a:alphaModFix/>
          </a:blip>
          <a:srcRect b="0" l="0" r="0" t="0"/>
          <a:stretch/>
        </p:blipFill>
        <p:spPr>
          <a:xfrm>
            <a:off x="6321247" y="1280160"/>
            <a:ext cx="3291839" cy="2053953"/>
          </a:xfrm>
          <a:prstGeom prst="rect">
            <a:avLst/>
          </a:prstGeom>
          <a:noFill/>
          <a:ln>
            <a:noFill/>
          </a:ln>
        </p:spPr>
      </p:pic>
      <p:sp>
        <p:nvSpPr>
          <p:cNvPr id="403" name="Google Shape;403;p27"/>
          <p:cNvSpPr txBox="1"/>
          <p:nvPr/>
        </p:nvSpPr>
        <p:spPr>
          <a:xfrm>
            <a:off x="6321247" y="3425553"/>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2(b). Central-complex volumes after light exposure or learning walks.</a:t>
            </a:r>
            <a:endParaRPr/>
          </a:p>
        </p:txBody>
      </p:sp>
      <p:pic>
        <p:nvPicPr>
          <p:cNvPr descr="G22_1C.png" id="404" name="Google Shape;404;p27"/>
          <p:cNvPicPr preferRelativeResize="0"/>
          <p:nvPr/>
        </p:nvPicPr>
        <p:blipFill rotWithShape="1">
          <a:blip r:embed="rId4">
            <a:alphaModFix/>
          </a:blip>
          <a:srcRect b="0" l="0" r="0" t="0"/>
          <a:stretch/>
        </p:blipFill>
        <p:spPr>
          <a:xfrm>
            <a:off x="9795967" y="2148840"/>
            <a:ext cx="1828799" cy="1127072"/>
          </a:xfrm>
          <a:prstGeom prst="rect">
            <a:avLst/>
          </a:prstGeom>
          <a:noFill/>
          <a:ln>
            <a:noFill/>
          </a:ln>
        </p:spPr>
      </p:pic>
      <p:sp>
        <p:nvSpPr>
          <p:cNvPr id="405" name="Google Shape;405;p27"/>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406" name="Google Shape;406;p2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08" name="Google Shape;408;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Rotation during learning changes mushroom-body structure</a:t>
            </a:r>
            <a:endParaRPr/>
          </a:p>
        </p:txBody>
      </p:sp>
      <p:sp>
        <p:nvSpPr>
          <p:cNvPr id="415" name="Google Shape;415;p28"/>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The </a:t>
            </a:r>
            <a:r>
              <a:rPr b="1" i="0" lang="en-US" sz="1600" u="none" cap="none" strike="noStrike">
                <a:solidFill>
                  <a:srgbClr val="344F61"/>
                </a:solidFill>
                <a:latin typeface="Arial"/>
                <a:ea typeface="Arial"/>
                <a:cs typeface="Arial"/>
                <a:sym typeface="Arial"/>
              </a:rPr>
              <a:t>mushroom-body collar</a:t>
            </a:r>
            <a:r>
              <a:rPr b="0" i="0" lang="en-US" sz="1600" u="none" cap="none" strike="noStrike">
                <a:solidFill>
                  <a:srgbClr val="27323A"/>
                </a:solidFill>
                <a:latin typeface="Arial"/>
                <a:ea typeface="Arial"/>
                <a:cs typeface="Arial"/>
                <a:sym typeface="Arial"/>
              </a:rPr>
              <a:t> is a visual input region of the mushroom-body calyx. Its microglomeruli receive visual information and provide a measurable synaptic endpoint for changes accompanying the acquisition of outdoor experience.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Grob and colleagues allowed three days of learning walks under different polarization schedules. A stationary pattern failed to elicit the growth associated with changing polarization. A single 90° daily turn, hourly 45° turns and continuous 15°-per-hour rotation supported increases in collar volume and microglomerular number.</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comparison separates a changing compass-related environment from polarized illumination alone. It does not prove that these mushroom-body synapses encode the complete solar ephemeris, and it does not equate structural growth with a measured increase in synaptic current or behavioral accuracy.</a:t>
            </a:r>
            <a:endParaRPr/>
          </a:p>
        </p:txBody>
      </p:sp>
      <p:pic>
        <p:nvPicPr>
          <p:cNvPr descr="G22_3cd.png" id="416" name="Google Shape;416;p28"/>
          <p:cNvPicPr preferRelativeResize="0"/>
          <p:nvPr/>
        </p:nvPicPr>
        <p:blipFill rotWithShape="1">
          <a:blip r:embed="rId3">
            <a:alphaModFix/>
          </a:blip>
          <a:srcRect b="0" l="0" r="0" t="0"/>
          <a:stretch/>
        </p:blipFill>
        <p:spPr>
          <a:xfrm>
            <a:off x="6321247" y="1280160"/>
            <a:ext cx="3291840" cy="3788669"/>
          </a:xfrm>
          <a:prstGeom prst="rect">
            <a:avLst/>
          </a:prstGeom>
          <a:noFill/>
          <a:ln>
            <a:noFill/>
          </a:ln>
        </p:spPr>
      </p:pic>
      <p:sp>
        <p:nvSpPr>
          <p:cNvPr id="417" name="Google Shape;417;p28"/>
          <p:cNvSpPr txBox="1"/>
          <p:nvPr/>
        </p:nvSpPr>
        <p:spPr>
          <a:xfrm>
            <a:off x="6321247" y="516026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3(c–d). Mushroom-body volume and microglomeruli under polarization rotation.</a:t>
            </a:r>
            <a:endParaRPr/>
          </a:p>
        </p:txBody>
      </p:sp>
      <p:pic>
        <p:nvPicPr>
          <p:cNvPr descr="G22_1C.png" id="418" name="Google Shape;418;p28"/>
          <p:cNvPicPr preferRelativeResize="0"/>
          <p:nvPr/>
        </p:nvPicPr>
        <p:blipFill rotWithShape="1">
          <a:blip r:embed="rId4">
            <a:alphaModFix/>
          </a:blip>
          <a:srcRect b="0" l="0" r="0" t="0"/>
          <a:stretch/>
        </p:blipFill>
        <p:spPr>
          <a:xfrm>
            <a:off x="9795967" y="2148840"/>
            <a:ext cx="1828799" cy="1127072"/>
          </a:xfrm>
          <a:prstGeom prst="rect">
            <a:avLst/>
          </a:prstGeom>
          <a:noFill/>
          <a:ln>
            <a:noFill/>
          </a:ln>
        </p:spPr>
      </p:pic>
      <p:sp>
        <p:nvSpPr>
          <p:cNvPr id="419" name="Google Shape;419;p28"/>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420" name="Google Shape;420;p2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22" name="Google Shape;422;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Rotation affects higher centres more than giant synapses</a:t>
            </a:r>
            <a:endParaRPr/>
          </a:p>
        </p:txBody>
      </p:sp>
      <p:sp>
        <p:nvSpPr>
          <p:cNvPr id="429" name="Google Shape;429;p29"/>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common sensory manipulation can affect different brain regions differently. The lateral complex lies along the sky-compass pathway, whereas the central complex and mushroom-body collar provide distinct higher-order measures of experience-associated change.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Across the three-day learning-walk experiment, the different polarization-rotation schedules altered central-complex volume and mushroom-body measures, but giant-synapse counts in the lateral complex remained broadly similar. The continuous rotation condition changed filter orientation at 15° per hour.</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dissociation limits a claim of uniform growth throughout the visual system. Similar giant-synapse numbers do not establish identical activity in that pathway; transmitter release, synaptic strength and firing patterns were not measured by counting anatomical complexes.</a:t>
            </a:r>
            <a:endParaRPr/>
          </a:p>
        </p:txBody>
      </p:sp>
      <p:pic>
        <p:nvPicPr>
          <p:cNvPr descr="G22_3ab.png" id="430" name="Google Shape;430;p29"/>
          <p:cNvPicPr preferRelativeResize="0"/>
          <p:nvPr/>
        </p:nvPicPr>
        <p:blipFill rotWithShape="1">
          <a:blip r:embed="rId3">
            <a:alphaModFix/>
          </a:blip>
          <a:srcRect b="0" l="0" r="0" t="0"/>
          <a:stretch/>
        </p:blipFill>
        <p:spPr>
          <a:xfrm>
            <a:off x="6321247" y="1280160"/>
            <a:ext cx="3291840" cy="3860834"/>
          </a:xfrm>
          <a:prstGeom prst="rect">
            <a:avLst/>
          </a:prstGeom>
          <a:noFill/>
          <a:ln>
            <a:noFill/>
          </a:ln>
        </p:spPr>
      </p:pic>
      <p:sp>
        <p:nvSpPr>
          <p:cNvPr id="431" name="Google Shape;431;p29"/>
          <p:cNvSpPr txBox="1"/>
          <p:nvPr/>
        </p:nvSpPr>
        <p:spPr>
          <a:xfrm>
            <a:off x="6321247" y="5232434"/>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3(a–b). Giant synapses and central-complex volume under polarization rotation.</a:t>
            </a:r>
            <a:endParaRPr/>
          </a:p>
        </p:txBody>
      </p:sp>
      <p:pic>
        <p:nvPicPr>
          <p:cNvPr descr="G22_1C.png" id="432" name="Google Shape;432;p29"/>
          <p:cNvPicPr preferRelativeResize="0"/>
          <p:nvPr/>
        </p:nvPicPr>
        <p:blipFill rotWithShape="1">
          <a:blip r:embed="rId4">
            <a:alphaModFix/>
          </a:blip>
          <a:srcRect b="0" l="0" r="0" t="0"/>
          <a:stretch/>
        </p:blipFill>
        <p:spPr>
          <a:xfrm>
            <a:off x="9795967" y="2148840"/>
            <a:ext cx="1828799" cy="1127072"/>
          </a:xfrm>
          <a:prstGeom prst="rect">
            <a:avLst/>
          </a:prstGeom>
          <a:noFill/>
          <a:ln>
            <a:noFill/>
          </a:ln>
        </p:spPr>
      </p:pic>
      <p:sp>
        <p:nvSpPr>
          <p:cNvPr id="433" name="Google Shape;433;p29"/>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434" name="Google Shape;434;p2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36" name="Google Shape;436;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Transmitter assignments constrain proposed circuit roles</a:t>
            </a:r>
            <a:endParaRPr/>
          </a:p>
        </p:txBody>
      </p:sp>
      <p:sp>
        <p:nvSpPr>
          <p:cNvPr id="443" name="Google Shape;443;p3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GABAergic</a:t>
            </a:r>
            <a:r>
              <a:rPr b="0" i="0" lang="en-US" sz="1600" u="none" cap="none" strike="noStrike">
                <a:solidFill>
                  <a:srgbClr val="27323A"/>
                </a:solidFill>
                <a:latin typeface="Arial"/>
                <a:ea typeface="Arial"/>
                <a:cs typeface="Arial"/>
                <a:sym typeface="Arial"/>
              </a:rPr>
              <a:t> neurons use gamma-aminobutyric acid as a transmitter; </a:t>
            </a:r>
            <a:r>
              <a:rPr b="1" i="0" lang="en-US" sz="1600" u="none" cap="none" strike="noStrike">
                <a:solidFill>
                  <a:srgbClr val="344F61"/>
                </a:solidFill>
                <a:latin typeface="Arial"/>
                <a:ea typeface="Arial"/>
                <a:cs typeface="Arial"/>
                <a:sym typeface="Arial"/>
              </a:rPr>
              <a:t>cholinergic</a:t>
            </a:r>
            <a:r>
              <a:rPr b="0" i="0" lang="en-US" sz="1600" u="none" cap="none" strike="noStrike">
                <a:solidFill>
                  <a:srgbClr val="27323A"/>
                </a:solidFill>
                <a:latin typeface="Arial"/>
                <a:ea typeface="Arial"/>
                <a:cs typeface="Arial"/>
                <a:sym typeface="Arial"/>
              </a:rPr>
              <a:t> neurons use acetylcholine. These transmitter classifications describe signaling identity, while the postsynaptic effect also depends on receptor type and cellular conditions.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Grob and colleagues discuss evidence that most tangential neurons projecting from the lateral complex toward the central complex are GABAergic, whereas visual projection neurons supplying mushroom bodies are presumably cholinergic. Their three-day experience experiment measured structural endpoints in these pathways rather than pharmacologically isolating transmitter action.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different transmitter identities may contribute to different plasticity patterns, but that explanation was proposed rather than tested here. The study does not establish which GABA or acetylcholine receptor subtype, ion channel or intracellular cascade causes the observed volume and synaptic changes.</a:t>
            </a:r>
            <a:endParaRPr/>
          </a:p>
        </p:txBody>
      </p:sp>
      <p:pic>
        <p:nvPicPr>
          <p:cNvPr descr="G22_1D.png" id="444" name="Google Shape;444;p30"/>
          <p:cNvPicPr preferRelativeResize="0"/>
          <p:nvPr/>
        </p:nvPicPr>
        <p:blipFill rotWithShape="1">
          <a:blip r:embed="rId3">
            <a:alphaModFix/>
          </a:blip>
          <a:srcRect b="0" l="0" r="0" t="0"/>
          <a:stretch/>
        </p:blipFill>
        <p:spPr>
          <a:xfrm>
            <a:off x="6785581" y="1280160"/>
            <a:ext cx="4557730" cy="4297679"/>
          </a:xfrm>
          <a:prstGeom prst="rect">
            <a:avLst/>
          </a:prstGeom>
          <a:noFill/>
          <a:ln>
            <a:noFill/>
          </a:ln>
        </p:spPr>
      </p:pic>
      <p:sp>
        <p:nvSpPr>
          <p:cNvPr id="445" name="Google Shape;445;p3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1(d). Published three-dimensional reconstruction of visual integration centres.</a:t>
            </a:r>
            <a:endParaRPr/>
          </a:p>
        </p:txBody>
      </p:sp>
      <p:sp>
        <p:nvSpPr>
          <p:cNvPr id="446" name="Google Shape;446;p3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48" name="Google Shape;448;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3" name="Shape 453"/>
        <p:cNvGrpSpPr/>
        <p:nvPr/>
      </p:nvGrpSpPr>
      <p:grpSpPr>
        <a:xfrm>
          <a:off x="0" y="0"/>
          <a:ext cx="0" cy="0"/>
          <a:chOff x="0" y="0"/>
          <a:chExt cx="0" cy="0"/>
        </a:xfrm>
      </p:grpSpPr>
      <p:sp>
        <p:nvSpPr>
          <p:cNvPr id="454" name="Google Shape;454;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Magnetic coils isolate the reference used during learning</a:t>
            </a:r>
            <a:endParaRPr/>
          </a:p>
        </p:txBody>
      </p:sp>
      <p:sp>
        <p:nvSpPr>
          <p:cNvPr id="455" name="Google Shape;455;p3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The </a:t>
            </a:r>
            <a:r>
              <a:rPr b="1" i="0" lang="en-US" sz="1600" u="none" cap="none" strike="noStrike">
                <a:solidFill>
                  <a:srgbClr val="344F61"/>
                </a:solidFill>
                <a:latin typeface="Arial"/>
                <a:ea typeface="Arial"/>
                <a:cs typeface="Arial"/>
                <a:sym typeface="Arial"/>
              </a:rPr>
              <a:t>geomagnetic field</a:t>
            </a:r>
            <a:r>
              <a:rPr b="0" i="0" lang="en-US" sz="1600" u="none" cap="none" strike="noStrike">
                <a:solidFill>
                  <a:srgbClr val="27323A"/>
                </a:solidFill>
                <a:latin typeface="Arial"/>
                <a:ea typeface="Arial"/>
                <a:cs typeface="Arial"/>
                <a:sym typeface="Arial"/>
              </a:rPr>
              <a:t> is Earth’s magnetic field, which can provide a directional reference independent of the sun’s daily movement. A </a:t>
            </a:r>
            <a:r>
              <a:rPr b="1" i="0" lang="en-US" sz="1600" u="none" cap="none" strike="noStrike">
                <a:solidFill>
                  <a:srgbClr val="344F61"/>
                </a:solidFill>
                <a:latin typeface="Arial"/>
                <a:ea typeface="Arial"/>
                <a:cs typeface="Arial"/>
                <a:sym typeface="Arial"/>
              </a:rPr>
              <a:t>Helmholtz coil system</a:t>
            </a:r>
            <a:r>
              <a:rPr b="0" i="0" lang="en-US" sz="1600" u="none" cap="none" strike="noStrike">
                <a:solidFill>
                  <a:srgbClr val="27323A"/>
                </a:solidFill>
                <a:latin typeface="Arial"/>
                <a:ea typeface="Arial"/>
                <a:cs typeface="Arial"/>
                <a:sym typeface="Arial"/>
              </a:rPr>
              <a:t> generates controlled magnetic fields in an experimental volume.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Grob and colleagues installed a three-dimensional coil system around a 60 × 60 cm platform connected to a Cataglyphis nodus nest. Novices performed learning walks over three consecutive days. At the site, the natural total field was about 46.1 µT, with a horizontal component of 26.6 µT.</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preparation manipulated magnetic information while retaining the natural panorama and celestial environment. Comparing several magnetic conditions with dark interior-worker controls allowed assessment of experience-associated brain changes, but did not directly identify a magnetic receptor or selectively stimulate a known magnetosensory neuron.</a:t>
            </a:r>
            <a:endParaRPr/>
          </a:p>
        </p:txBody>
      </p:sp>
      <p:pic>
        <p:nvPicPr>
          <p:cNvPr descr="G24_1C.png" id="456" name="Google Shape;456;p31"/>
          <p:cNvPicPr preferRelativeResize="0"/>
          <p:nvPr/>
        </p:nvPicPr>
        <p:blipFill rotWithShape="1">
          <a:blip r:embed="rId3">
            <a:alphaModFix/>
          </a:blip>
          <a:srcRect b="0" l="0" r="0" t="0"/>
          <a:stretch/>
        </p:blipFill>
        <p:spPr>
          <a:xfrm>
            <a:off x="6862599" y="1280160"/>
            <a:ext cx="4403694" cy="4297679"/>
          </a:xfrm>
          <a:prstGeom prst="rect">
            <a:avLst/>
          </a:prstGeom>
          <a:noFill/>
          <a:ln>
            <a:noFill/>
          </a:ln>
        </p:spPr>
      </p:pic>
      <p:sp>
        <p:nvSpPr>
          <p:cNvPr id="457" name="Google Shape;457;p3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1(C). Helmholtz coils and the learning-walk platform.</a:t>
            </a:r>
            <a:endParaRPr/>
          </a:p>
        </p:txBody>
      </p:sp>
      <p:sp>
        <p:nvSpPr>
          <p:cNvPr id="458" name="Google Shape;458;p3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60" name="Google Shape;460;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sp>
        <p:nvSpPr>
          <p:cNvPr id="466" name="Google Shape;466;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Removing horizontal magnetic information disrupts gazes</a:t>
            </a:r>
            <a:endParaRPr/>
          </a:p>
        </p:txBody>
      </p:sp>
      <p:sp>
        <p:nvSpPr>
          <p:cNvPr id="467" name="Google Shape;467;p3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a:t>
            </a:r>
            <a:r>
              <a:rPr b="1" i="0" lang="en-US" sz="1600" u="none" cap="none" strike="noStrike">
                <a:solidFill>
                  <a:srgbClr val="344F61"/>
                </a:solidFill>
                <a:latin typeface="Arial"/>
                <a:ea typeface="Arial"/>
                <a:cs typeface="Arial"/>
                <a:sym typeface="Arial"/>
              </a:rPr>
              <a:t>pirouette</a:t>
            </a:r>
            <a:r>
              <a:rPr b="0" i="0" lang="en-US" sz="1600" u="none" cap="none" strike="noStrike">
                <a:solidFill>
                  <a:srgbClr val="27323A"/>
                </a:solidFill>
                <a:latin typeface="Arial"/>
                <a:ea typeface="Arial"/>
                <a:cs typeface="Arial"/>
                <a:sym typeface="Arial"/>
              </a:rPr>
              <a:t> is a rotation around the ant’s body axis during a learning walk. Under natural conditions, the longest pauses in these rotations are directed toward the nest, providing a measurable orientation behavior near the nest entrance.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In the horizontal-elimination condition, the coils cancelled the horizontal field component while retaining a downward vertical field of about 37.5 µT. The longest stopping directions no longer clustered toward the nest in the published angular distributions, which used 10° bins.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result supports a role for horizontal magnetic information in the novices’ nest-directed behavior under this condition. It does not prove that every other compass cue is unavailable, and the remaining vertical field differs fundamentally from removing magnetic information entirely.</a:t>
            </a:r>
            <a:endParaRPr/>
          </a:p>
        </p:txBody>
      </p:sp>
      <p:pic>
        <p:nvPicPr>
          <p:cNvPr descr="G24_2.png" id="468" name="Google Shape;468;p32"/>
          <p:cNvPicPr preferRelativeResize="0"/>
          <p:nvPr/>
        </p:nvPicPr>
        <p:blipFill rotWithShape="1">
          <a:blip r:embed="rId3">
            <a:alphaModFix/>
          </a:blip>
          <a:srcRect b="0" l="0" r="0" t="0"/>
          <a:stretch/>
        </p:blipFill>
        <p:spPr>
          <a:xfrm>
            <a:off x="6504127" y="1280160"/>
            <a:ext cx="5120640" cy="1782125"/>
          </a:xfrm>
          <a:prstGeom prst="rect">
            <a:avLst/>
          </a:prstGeom>
          <a:noFill/>
          <a:ln>
            <a:noFill/>
          </a:ln>
        </p:spPr>
      </p:pic>
      <p:sp>
        <p:nvSpPr>
          <p:cNvPr id="469" name="Google Shape;469;p32"/>
          <p:cNvSpPr txBox="1"/>
          <p:nvPr/>
        </p:nvSpPr>
        <p:spPr>
          <a:xfrm>
            <a:off x="6504127" y="315372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2(A–C). Nest-directed gazes under three magnetic manipulations.</a:t>
            </a:r>
            <a:endParaRPr/>
          </a:p>
        </p:txBody>
      </p:sp>
      <p:sp>
        <p:nvSpPr>
          <p:cNvPr id="470" name="Google Shape;470;p3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1" name="Google Shape;471;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72" name="Google Shape;472;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Complete field elimination permits a different outcome</a:t>
            </a:r>
            <a:endParaRPr/>
          </a:p>
        </p:txBody>
      </p:sp>
      <p:sp>
        <p:nvSpPr>
          <p:cNvPr id="479" name="Google Shape;479;p3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7323A"/>
                </a:solidFill>
                <a:latin typeface="Arial"/>
                <a:ea typeface="Arial"/>
                <a:cs typeface="Arial"/>
                <a:sym typeface="Arial"/>
              </a:rPr>
              <a:t>Complete magnetic-field elimination is a distinct cue manipulation from retaining a vertical field. Grob and colleagues cancelled both the horizontal and vertical components rather than leaving a directional magnetic cue pointing downward.</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Under total elimination, the residual field was about 0.1 µT. Ants nevertheless directed their longest pirouette pauses toward the nest. This differed from the loss of nest-directed gazes when only the horizontal component had been eliminated.</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The authors interpreted the contrast as possible recruitment of a backup compass when magnetic information was absent altogether. Panoramic information is a candidate, but the experiment did not independently remove it, so the specific substitute cue and the switching mechanism remain unresolved.</a:t>
            </a:r>
            <a:endParaRPr/>
          </a:p>
        </p:txBody>
      </p:sp>
      <p:pic>
        <p:nvPicPr>
          <p:cNvPr descr="G24_2.png" id="480" name="Google Shape;480;p33"/>
          <p:cNvPicPr preferRelativeResize="0"/>
          <p:nvPr/>
        </p:nvPicPr>
        <p:blipFill rotWithShape="1">
          <a:blip r:embed="rId3">
            <a:alphaModFix/>
          </a:blip>
          <a:srcRect b="0" l="0" r="0" t="0"/>
          <a:stretch/>
        </p:blipFill>
        <p:spPr>
          <a:xfrm>
            <a:off x="6504127" y="1280160"/>
            <a:ext cx="5120640" cy="1782125"/>
          </a:xfrm>
          <a:prstGeom prst="rect">
            <a:avLst/>
          </a:prstGeom>
          <a:noFill/>
          <a:ln>
            <a:noFill/>
          </a:ln>
        </p:spPr>
      </p:pic>
      <p:sp>
        <p:nvSpPr>
          <p:cNvPr id="481" name="Google Shape;481;p33"/>
          <p:cNvSpPr txBox="1"/>
          <p:nvPr/>
        </p:nvSpPr>
        <p:spPr>
          <a:xfrm>
            <a:off x="6504127" y="315372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2(A–C). Nest-directed gazes under three magnetic manipulations.</a:t>
            </a:r>
            <a:endParaRPr/>
          </a:p>
        </p:txBody>
      </p:sp>
      <p:sp>
        <p:nvSpPr>
          <p:cNvPr id="482" name="Google Shape;482;p3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3" name="Google Shape;483;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84" name="Google Shape;484;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9" name="Shape 489"/>
        <p:cNvGrpSpPr/>
        <p:nvPr/>
      </p:nvGrpSpPr>
      <p:grpSpPr>
        <a:xfrm>
          <a:off x="0" y="0"/>
          <a:ext cx="0" cy="0"/>
          <a:chOff x="0" y="0"/>
          <a:chExt cx="0" cy="0"/>
        </a:xfrm>
      </p:grpSpPr>
      <p:sp>
        <p:nvSpPr>
          <p:cNvPr id="490" name="Google Shape;490;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rotating magnetic vector can still guide look-backs</a:t>
            </a:r>
            <a:endParaRPr/>
          </a:p>
        </p:txBody>
      </p:sp>
      <p:sp>
        <p:nvSpPr>
          <p:cNvPr id="491" name="Google Shape;491;p3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magnetic cue need not always point toward natural magnetic north to provide a usable short-term directional reference. The relevant comparison is whether its direction remains sufficiently stable during each individual learning walk.</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In the magnetic-plus-solar condition, the horizontal vector was adjusted every 10 seconds to follow the sun’s azimuth over the day. Individual walks lasted seconds to minutes, and ants retained nest-directed longest stops despite the vector’s changing geographical alignment.</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preservation of look-back behavior does not establish normal long-term calibration. The manipulation makes magnetic and celestial directions covary over the day, removing their natural changing angular relationship even while leaving a useful reference for an individual short excursion.</a:t>
            </a:r>
            <a:endParaRPr/>
          </a:p>
        </p:txBody>
      </p:sp>
      <p:pic>
        <p:nvPicPr>
          <p:cNvPr descr="G24_2.png" id="492" name="Google Shape;492;p34"/>
          <p:cNvPicPr preferRelativeResize="0"/>
          <p:nvPr/>
        </p:nvPicPr>
        <p:blipFill rotWithShape="1">
          <a:blip r:embed="rId3">
            <a:alphaModFix/>
          </a:blip>
          <a:srcRect b="0" l="0" r="0" t="0"/>
          <a:stretch/>
        </p:blipFill>
        <p:spPr>
          <a:xfrm>
            <a:off x="6504127" y="1280160"/>
            <a:ext cx="5120640" cy="1782125"/>
          </a:xfrm>
          <a:prstGeom prst="rect">
            <a:avLst/>
          </a:prstGeom>
          <a:noFill/>
          <a:ln>
            <a:noFill/>
          </a:ln>
        </p:spPr>
      </p:pic>
      <p:sp>
        <p:nvSpPr>
          <p:cNvPr id="493" name="Google Shape;493;p34"/>
          <p:cNvSpPr txBox="1"/>
          <p:nvPr/>
        </p:nvSpPr>
        <p:spPr>
          <a:xfrm>
            <a:off x="6504127" y="315372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2(A–C). Nest-directed gazes under three magnetic manipulations.</a:t>
            </a:r>
            <a:endParaRPr/>
          </a:p>
        </p:txBody>
      </p:sp>
      <p:sp>
        <p:nvSpPr>
          <p:cNvPr id="494" name="Google Shape;494;p3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96" name="Google Shape;496;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sp>
        <p:nvSpPr>
          <p:cNvPr id="502" name="Google Shape;502;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Magnetic treatments dissociate gaze and brain growth</a:t>
            </a:r>
            <a:endParaRPr/>
          </a:p>
        </p:txBody>
      </p:sp>
      <p:sp>
        <p:nvSpPr>
          <p:cNvPr id="503" name="Google Shape;503;p3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Accurate nest-directed gazes and structural brain change are different experimental endpoints. Recording a successful look-back does not guarantee that all compass-calibration and visual-memory processes associated with the learning period occur normally.</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After three days, central-complex volume increased under natural magnetic conditions and under several elimination or disarray conditions. When the magnetic vector followed solar azimuth, central-complex growth did not occur relative to dark controls, despite preserved nest-directed look-backs.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result dissociates an immediate orientation behavior from an experience-associated anatomical outcome. It supports a role for the changing relation between compass cues, but does not demonstrate that absent volume growth causes a later navigation deficit; that causal behavioral test was not performed.</a:t>
            </a:r>
            <a:endParaRPr/>
          </a:p>
        </p:txBody>
      </p:sp>
      <p:pic>
        <p:nvPicPr>
          <p:cNvPr descr="G24_4a.png" id="504" name="Google Shape;504;p35"/>
          <p:cNvPicPr preferRelativeResize="0"/>
          <p:nvPr/>
        </p:nvPicPr>
        <p:blipFill rotWithShape="1">
          <a:blip r:embed="rId3">
            <a:alphaModFix/>
          </a:blip>
          <a:srcRect b="0" l="0" r="0" t="0"/>
          <a:stretch/>
        </p:blipFill>
        <p:spPr>
          <a:xfrm>
            <a:off x="6321247" y="1280160"/>
            <a:ext cx="3291840" cy="2480363"/>
          </a:xfrm>
          <a:prstGeom prst="rect">
            <a:avLst/>
          </a:prstGeom>
          <a:noFill/>
          <a:ln>
            <a:noFill/>
          </a:ln>
        </p:spPr>
      </p:pic>
      <p:sp>
        <p:nvSpPr>
          <p:cNvPr id="505" name="Google Shape;505;p35"/>
          <p:cNvSpPr txBox="1"/>
          <p:nvPr/>
        </p:nvSpPr>
        <p:spPr>
          <a:xfrm>
            <a:off x="6321247" y="3851963"/>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4(A). Central-complex volume under magnetic treatments.</a:t>
            </a:r>
            <a:endParaRPr/>
          </a:p>
        </p:txBody>
      </p:sp>
      <p:pic>
        <p:nvPicPr>
          <p:cNvPr descr="G24_3B.png" id="506" name="Google Shape;506;p35"/>
          <p:cNvPicPr preferRelativeResize="0"/>
          <p:nvPr/>
        </p:nvPicPr>
        <p:blipFill rotWithShape="1">
          <a:blip r:embed="rId4">
            <a:alphaModFix/>
          </a:blip>
          <a:srcRect b="0" l="0" r="0" t="0"/>
          <a:stretch/>
        </p:blipFill>
        <p:spPr>
          <a:xfrm>
            <a:off x="9795967" y="2148840"/>
            <a:ext cx="1828799" cy="1684244"/>
          </a:xfrm>
          <a:prstGeom prst="rect">
            <a:avLst/>
          </a:prstGeom>
          <a:noFill/>
          <a:ln>
            <a:noFill/>
          </a:ln>
        </p:spPr>
      </p:pic>
      <p:sp>
        <p:nvSpPr>
          <p:cNvPr id="507" name="Google Shape;507;p35"/>
          <p:cNvSpPr txBox="1"/>
          <p:nvPr/>
        </p:nvSpPr>
        <p:spPr>
          <a:xfrm>
            <a:off x="9795967" y="390623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3(B). Central complex and mushroom-body collar reconstruction.</a:t>
            </a:r>
            <a:endParaRPr/>
          </a:p>
        </p:txBody>
      </p:sp>
      <p:sp>
        <p:nvSpPr>
          <p:cNvPr id="508" name="Google Shape;508;p3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510" name="Google Shape;510;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Magnetic cues affect mushroom-body plasticity</a:t>
            </a:r>
            <a:endParaRPr/>
          </a:p>
        </p:txBody>
      </p:sp>
      <p:sp>
        <p:nvSpPr>
          <p:cNvPr id="517" name="Google Shape;517;p36"/>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Visual memories acquired near the nest may require information specifying which direction the ant is facing. The mushroom-body collar provides a visual input region in which synaptic structure can be compared after controlled learning experience.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Grob and colleagues measured size-corrected collar volume and microglomerular number after three days of learning walks. These measures increased under the natural field, while the tested altered magnetic conditions did not produce the same increases. The effect differed from central-complex responses to complete field removal.</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association supports a role for appropriate magnetic information in experience-dependent visual circuitry. It does not identify an engram for a particular view, prove that microglomerular growth stores the nest panorama, or establish which molecular signal controls consolidation.</a:t>
            </a:r>
            <a:endParaRPr/>
          </a:p>
        </p:txBody>
      </p:sp>
      <p:pic>
        <p:nvPicPr>
          <p:cNvPr descr="G24_4bc.png" id="518" name="Google Shape;518;p36"/>
          <p:cNvPicPr preferRelativeResize="0"/>
          <p:nvPr/>
        </p:nvPicPr>
        <p:blipFill rotWithShape="1">
          <a:blip r:embed="rId3">
            <a:alphaModFix/>
          </a:blip>
          <a:srcRect b="0" l="0" r="0" t="0"/>
          <a:stretch/>
        </p:blipFill>
        <p:spPr>
          <a:xfrm>
            <a:off x="6321247" y="1280160"/>
            <a:ext cx="3291840" cy="4294702"/>
          </a:xfrm>
          <a:prstGeom prst="rect">
            <a:avLst/>
          </a:prstGeom>
          <a:noFill/>
          <a:ln>
            <a:noFill/>
          </a:ln>
        </p:spPr>
      </p:pic>
      <p:sp>
        <p:nvSpPr>
          <p:cNvPr id="519" name="Google Shape;519;p36"/>
          <p:cNvSpPr txBox="1"/>
          <p:nvPr/>
        </p:nvSpPr>
        <p:spPr>
          <a:xfrm>
            <a:off x="6321247" y="5666302"/>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4(B–C). Mushroom-body volume and synaptic complexes under magnetic treatments.</a:t>
            </a:r>
            <a:endParaRPr/>
          </a:p>
        </p:txBody>
      </p:sp>
      <p:pic>
        <p:nvPicPr>
          <p:cNvPr descr="G24_3A.png" id="520" name="Google Shape;520;p36"/>
          <p:cNvPicPr preferRelativeResize="0"/>
          <p:nvPr/>
        </p:nvPicPr>
        <p:blipFill rotWithShape="1">
          <a:blip r:embed="rId4">
            <a:alphaModFix/>
          </a:blip>
          <a:srcRect b="0" l="0" r="0" t="0"/>
          <a:stretch/>
        </p:blipFill>
        <p:spPr>
          <a:xfrm>
            <a:off x="9795967" y="2148840"/>
            <a:ext cx="1828799" cy="1690459"/>
          </a:xfrm>
          <a:prstGeom prst="rect">
            <a:avLst/>
          </a:prstGeom>
          <a:noFill/>
          <a:ln>
            <a:noFill/>
          </a:ln>
        </p:spPr>
      </p:pic>
      <p:sp>
        <p:nvSpPr>
          <p:cNvPr id="521" name="Google Shape;521;p36"/>
          <p:cNvSpPr txBox="1"/>
          <p:nvPr/>
        </p:nvSpPr>
        <p:spPr>
          <a:xfrm>
            <a:off x="9795967" y="3912451"/>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3(A). Synapsin-labelled brain and mushroom-body microglomeruli.</a:t>
            </a:r>
            <a:endParaRPr/>
          </a:p>
        </p:txBody>
      </p:sp>
      <p:sp>
        <p:nvSpPr>
          <p:cNvPr id="522" name="Google Shape;522;p3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524" name="Google Shape;524;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stable reference may calibrate the moving sky compass</a:t>
            </a:r>
            <a:endParaRPr/>
          </a:p>
        </p:txBody>
      </p:sp>
      <p:sp>
        <p:nvSpPr>
          <p:cNvPr id="531" name="Google Shape;531;p3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Compass calibration</a:t>
            </a:r>
            <a:r>
              <a:rPr b="0" i="0" lang="en-US" sz="1600" u="none" cap="none" strike="noStrike">
                <a:solidFill>
                  <a:srgbClr val="27323A"/>
                </a:solidFill>
                <a:latin typeface="Arial"/>
                <a:ea typeface="Arial"/>
                <a:cs typeface="Arial"/>
                <a:sym typeface="Arial"/>
              </a:rPr>
              <a:t> establishes the relationship between a sensory directional cue and an internal heading reference. The sun and polarization pattern change over the day, whereas natural magnetic direction and a fixed panorama provide comparatively stable external references.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three-day magnetic experiment dissociated natural-field exposure from a vector that rotated with the sun. The published circuit hypothesis proposes convergence of magnetic, panoramic and celestial information in the </a:t>
            </a:r>
            <a:r>
              <a:rPr b="1" i="0" lang="en-US" sz="1600" u="none" cap="none" strike="noStrike">
                <a:solidFill>
                  <a:srgbClr val="344F61"/>
                </a:solidFill>
                <a:latin typeface="Arial"/>
                <a:ea typeface="Arial"/>
                <a:cs typeface="Arial"/>
                <a:sym typeface="Arial"/>
              </a:rPr>
              <a:t>posterior slope</a:t>
            </a:r>
            <a:r>
              <a:rPr b="0" i="0" lang="en-US" sz="1600" u="none" cap="none" strike="noStrike">
                <a:solidFill>
                  <a:srgbClr val="27323A"/>
                </a:solidFill>
                <a:latin typeface="Arial"/>
                <a:ea typeface="Arial"/>
                <a:cs typeface="Arial"/>
                <a:sym typeface="Arial"/>
              </a:rPr>
              <a:t>, a multisensory brain region linked to the central complex.</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posterior-slope mechanism is a proposed anatomical account supported by comparative connectivity, not a direct recording of cue integration in these ants. The candidate contribution of the antennal Johnston’s organ to magnetoreception likewise remains unproven; no magnetic receptor molecule or ion channel was identified.</a:t>
            </a:r>
            <a:endParaRPr/>
          </a:p>
        </p:txBody>
      </p:sp>
      <p:pic>
        <p:nvPicPr>
          <p:cNvPr descr="G24_5.png" id="532" name="Google Shape;532;p37"/>
          <p:cNvPicPr preferRelativeResize="0"/>
          <p:nvPr/>
        </p:nvPicPr>
        <p:blipFill rotWithShape="1">
          <a:blip r:embed="rId3">
            <a:alphaModFix/>
          </a:blip>
          <a:srcRect b="0" l="0" r="0" t="0"/>
          <a:stretch/>
        </p:blipFill>
        <p:spPr>
          <a:xfrm>
            <a:off x="6504127" y="1280160"/>
            <a:ext cx="5120640" cy="2243112"/>
          </a:xfrm>
          <a:prstGeom prst="rect">
            <a:avLst/>
          </a:prstGeom>
          <a:noFill/>
          <a:ln>
            <a:noFill/>
          </a:ln>
        </p:spPr>
      </p:pic>
      <p:sp>
        <p:nvSpPr>
          <p:cNvPr id="533" name="Google Shape;533;p37"/>
          <p:cNvSpPr txBox="1"/>
          <p:nvPr/>
        </p:nvSpPr>
        <p:spPr>
          <a:xfrm>
            <a:off x="6504127" y="3614712"/>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5. Published hypothesis for integrating magnetic and celestial information.</a:t>
            </a:r>
            <a:endParaRPr/>
          </a:p>
        </p:txBody>
      </p:sp>
      <p:sp>
        <p:nvSpPr>
          <p:cNvPr id="534" name="Google Shape;534;p3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536" name="Google Shape;536;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new route can emerge from familiar goal vectors</a:t>
            </a:r>
            <a:endParaRPr/>
          </a:p>
        </p:txBody>
      </p:sp>
      <p:sp>
        <p:nvSpPr>
          <p:cNvPr id="543" name="Google Shape;543;p3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a:t>
            </a:r>
            <a:r>
              <a:rPr b="1" i="0" lang="en-US" sz="1600" u="none" cap="none" strike="noStrike">
                <a:solidFill>
                  <a:srgbClr val="344F61"/>
                </a:solidFill>
                <a:latin typeface="Arial"/>
                <a:ea typeface="Arial"/>
                <a:cs typeface="Arial"/>
                <a:sym typeface="Arial"/>
              </a:rPr>
              <a:t>goal vector</a:t>
            </a:r>
            <a:r>
              <a:rPr b="0" i="0" lang="en-US" sz="1600" u="none" cap="none" strike="noStrike">
                <a:solidFill>
                  <a:srgbClr val="27323A"/>
                </a:solidFill>
                <a:latin typeface="Arial"/>
                <a:ea typeface="Arial"/>
                <a:cs typeface="Arial"/>
                <a:sym typeface="Arial"/>
              </a:rPr>
              <a:t> specifies a remembered direction and distance to a destination relative to the nest. A </a:t>
            </a:r>
            <a:r>
              <a:rPr b="1" i="0" lang="en-US" sz="1600" u="none" cap="none" strike="noStrike">
                <a:solidFill>
                  <a:srgbClr val="344F61"/>
                </a:solidFill>
                <a:latin typeface="Arial"/>
                <a:ea typeface="Arial"/>
                <a:cs typeface="Arial"/>
                <a:sym typeface="Arial"/>
              </a:rPr>
              <a:t>shortcut</a:t>
            </a:r>
            <a:r>
              <a:rPr b="0" i="0" lang="en-US" sz="1600" u="none" cap="none" strike="noStrike">
                <a:solidFill>
                  <a:srgbClr val="27323A"/>
                </a:solidFill>
                <a:latin typeface="Arial"/>
                <a:ea typeface="Arial"/>
                <a:cs typeface="Arial"/>
                <a:sym typeface="Arial"/>
              </a:rPr>
              <a:t> connects familiar destinations along a route that was not itself used during training; this behavior need not uniquely imply a metric cognitive map.</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Voegeli and colleagues trained Cataglyphis ants to feeders A and B in separate channels. The nest distances were 4.5 m and 5.7 m, and the test channel connected the feeder positions across a 4.1 m separation. Only one nest-channel entrance was open at a time.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channel arrangement separated experience with individual nest-to-feeder routes from experience with their connecting route. It provided a controlled way to test use of stored goals and an ongoing path integrator without first training the ant to follow the proposed shortcut.</a:t>
            </a:r>
            <a:endParaRPr/>
          </a:p>
        </p:txBody>
      </p:sp>
      <p:pic>
        <p:nvPicPr>
          <p:cNvPr descr="V25_1.png" id="544" name="Google Shape;544;p38"/>
          <p:cNvPicPr preferRelativeResize="0"/>
          <p:nvPr/>
        </p:nvPicPr>
        <p:blipFill rotWithShape="1">
          <a:blip r:embed="rId3">
            <a:alphaModFix/>
          </a:blip>
          <a:srcRect b="0" l="0" r="0" t="0"/>
          <a:stretch/>
        </p:blipFill>
        <p:spPr>
          <a:xfrm>
            <a:off x="6504127" y="1280160"/>
            <a:ext cx="5120640" cy="2524553"/>
          </a:xfrm>
          <a:prstGeom prst="rect">
            <a:avLst/>
          </a:prstGeom>
          <a:noFill/>
          <a:ln>
            <a:noFill/>
          </a:ln>
        </p:spPr>
      </p:pic>
      <p:sp>
        <p:nvSpPr>
          <p:cNvPr id="545" name="Google Shape;545;p38"/>
          <p:cNvSpPr txBox="1"/>
          <p:nvPr/>
        </p:nvSpPr>
        <p:spPr>
          <a:xfrm>
            <a:off x="6504127" y="38961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1. Training channels, two feeders and the novel connecting route.</a:t>
            </a:r>
            <a:endParaRPr/>
          </a:p>
        </p:txBody>
      </p:sp>
      <p:sp>
        <p:nvSpPr>
          <p:cNvPr id="546" name="Google Shape;546;p3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48" name="Google Shape;548;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Alternating training establishes two separate destinations</a:t>
            </a:r>
            <a:endParaRPr/>
          </a:p>
        </p:txBody>
      </p:sp>
      <p:sp>
        <p:nvSpPr>
          <p:cNvPr id="555" name="Google Shape;555;p3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7323A"/>
                </a:solidFill>
                <a:latin typeface="Arial"/>
                <a:ea typeface="Arial"/>
                <a:cs typeface="Arial"/>
                <a:sym typeface="Arial"/>
              </a:rPr>
              <a:t>Experience with more than one food source can establish alternative navigational goals. In the channel experiment, feeders were hidden below the channel floor, preventing an approaching ant from simply steering toward a visible food cup.</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Ants completed ten training journeys: four to feeder A, four to B and two final journeys to A. Feeder B lay 45° to the left or right of A as viewed from the nest. The subsequent test removed food and opened the connecting test channel at A.</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The final visits standardized the starting goal while preserving experience with the second destination. Channel shutters constrained which route was available, but the design still allows the ant to choose search directions within the connecting channel rather than forcing a particular first turn.</a:t>
            </a:r>
            <a:endParaRPr/>
          </a:p>
        </p:txBody>
      </p:sp>
      <p:pic>
        <p:nvPicPr>
          <p:cNvPr descr="V25_1.png" id="556" name="Google Shape;556;p39"/>
          <p:cNvPicPr preferRelativeResize="0"/>
          <p:nvPr/>
        </p:nvPicPr>
        <p:blipFill rotWithShape="1">
          <a:blip r:embed="rId3">
            <a:alphaModFix/>
          </a:blip>
          <a:srcRect b="0" l="0" r="0" t="0"/>
          <a:stretch/>
        </p:blipFill>
        <p:spPr>
          <a:xfrm>
            <a:off x="6504127" y="1280160"/>
            <a:ext cx="5120640" cy="2524553"/>
          </a:xfrm>
          <a:prstGeom prst="rect">
            <a:avLst/>
          </a:prstGeom>
          <a:noFill/>
          <a:ln>
            <a:noFill/>
          </a:ln>
        </p:spPr>
      </p:pic>
      <p:sp>
        <p:nvSpPr>
          <p:cNvPr id="557" name="Google Shape;557;p39"/>
          <p:cNvSpPr txBox="1"/>
          <p:nvPr/>
        </p:nvSpPr>
        <p:spPr>
          <a:xfrm>
            <a:off x="6504127" y="38961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1. Training channels, two feeders and the novel connecting route.</a:t>
            </a:r>
            <a:endParaRPr/>
          </a:p>
        </p:txBody>
      </p:sp>
      <p:sp>
        <p:nvSpPr>
          <p:cNvPr id="558" name="Google Shape;558;p3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60" name="Google Shape;560;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One-feeder training produces a symmetric local search</a:t>
            </a:r>
            <a:endParaRPr/>
          </a:p>
        </p:txBody>
      </p:sp>
      <p:sp>
        <p:nvSpPr>
          <p:cNvPr id="567" name="Google Shape;567;p4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one-feeder control establishes the search pattern expected without memory of a second food source. This comparison distinguishes a general tendency to widen a search from a directional bias toward another learned destination.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Control ants visited only feeder A before testing. After food removal, their searches were concentrated around the former feeder position and distributed approximately symmetrically on its two sides. Distance from the starting point was measured in metres along the connecting test channel.</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symmetric baseline constrains interpretations of the two-feeder experiments. A later directional shift cannot be attributed simply to entering that channel, although a density distribution still describes where ants search rather than directly measuring the neural representation of a food vector.</a:t>
            </a:r>
            <a:endParaRPr/>
          </a:p>
        </p:txBody>
      </p:sp>
      <p:pic>
        <p:nvPicPr>
          <p:cNvPr descr="V25_2.png" id="568" name="Google Shape;568;p40"/>
          <p:cNvPicPr preferRelativeResize="0"/>
          <p:nvPr/>
        </p:nvPicPr>
        <p:blipFill rotWithShape="1">
          <a:blip r:embed="rId3">
            <a:alphaModFix/>
          </a:blip>
          <a:srcRect b="0" l="0" r="0" t="0"/>
          <a:stretch/>
        </p:blipFill>
        <p:spPr>
          <a:xfrm>
            <a:off x="6729731" y="1280160"/>
            <a:ext cx="4669432" cy="4297679"/>
          </a:xfrm>
          <a:prstGeom prst="rect">
            <a:avLst/>
          </a:prstGeom>
          <a:noFill/>
          <a:ln>
            <a:noFill/>
          </a:ln>
        </p:spPr>
      </p:pic>
      <p:sp>
        <p:nvSpPr>
          <p:cNvPr id="569" name="Google Shape;569;p4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2. Symmetric search after training to one feeder.</a:t>
            </a:r>
            <a:endParaRPr/>
          </a:p>
        </p:txBody>
      </p:sp>
      <p:sp>
        <p:nvSpPr>
          <p:cNvPr id="570" name="Google Shape;570;p4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72" name="Google Shape;572;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Two-feeder experience biases the first search direction</a:t>
            </a:r>
            <a:endParaRPr/>
          </a:p>
        </p:txBody>
      </p:sp>
      <p:sp>
        <p:nvSpPr>
          <p:cNvPr id="579" name="Google Shape;579;p4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7323A"/>
                </a:solidFill>
                <a:latin typeface="Arial"/>
                <a:ea typeface="Arial"/>
                <a:cs typeface="Arial"/>
                <a:sym typeface="Arial"/>
              </a:rPr>
              <a:t>The first U-turn after the missing feeder measures an early component of search direction. It is distinct from the full spatial distribution accumulated during later back-and-forth movements in the test channel.</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After training to A and B, about two-thirds of the ants made their first U-turn on the side containing the second feeder. The effect occurred with feeder B either left or right of A, whose trained positions were separated by 4.1 m.</a:t>
            </a:r>
            <a:endParaRPr/>
          </a:p>
          <a:p>
            <a:pPr indent="0" lvl="0" marL="0" marR="0" rtl="0" algn="l">
              <a:lnSpc>
                <a:spcPct val="108000"/>
              </a:lnSpc>
              <a:spcBef>
                <a:spcPts val="1019"/>
              </a:spcBef>
              <a:spcAft>
                <a:spcPts val="0"/>
              </a:spcAft>
              <a:buNone/>
            </a:pPr>
            <a:r>
              <a:rPr b="0" i="0" lang="en-US" sz="1700" u="none" cap="none" strike="noStrike">
                <a:solidFill>
                  <a:srgbClr val="27323A"/>
                </a:solidFill>
                <a:latin typeface="Arial"/>
                <a:ea typeface="Arial"/>
                <a:cs typeface="Arial"/>
                <a:sym typeface="Arial"/>
              </a:rPr>
              <a:t>The left–right comparison argues against an intrinsic turning preference accounting for the result. The early bias is consistent with using an alternative learned goal, but a first turn alone does not establish arrival accuracy or distinguish all possible computations involving current and remembered vectors.</a:t>
            </a:r>
            <a:endParaRPr/>
          </a:p>
        </p:txBody>
      </p:sp>
      <p:pic>
        <p:nvPicPr>
          <p:cNvPr descr="V25_3.png" id="580" name="Google Shape;580;p41"/>
          <p:cNvPicPr preferRelativeResize="0"/>
          <p:nvPr/>
        </p:nvPicPr>
        <p:blipFill rotWithShape="1">
          <a:blip r:embed="rId3">
            <a:alphaModFix/>
          </a:blip>
          <a:srcRect b="0" l="0" r="0" t="0"/>
          <a:stretch/>
        </p:blipFill>
        <p:spPr>
          <a:xfrm>
            <a:off x="6504127" y="1280160"/>
            <a:ext cx="5120640" cy="2430977"/>
          </a:xfrm>
          <a:prstGeom prst="rect">
            <a:avLst/>
          </a:prstGeom>
          <a:noFill/>
          <a:ln>
            <a:noFill/>
          </a:ln>
        </p:spPr>
      </p:pic>
      <p:sp>
        <p:nvSpPr>
          <p:cNvPr id="581" name="Google Shape;581;p41"/>
          <p:cNvSpPr txBox="1"/>
          <p:nvPr/>
        </p:nvSpPr>
        <p:spPr>
          <a:xfrm>
            <a:off x="6504127" y="380257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3(a–b). Search shifts toward the second feeder on either side.</a:t>
            </a:r>
            <a:endParaRPr/>
          </a:p>
        </p:txBody>
      </p:sp>
      <p:sp>
        <p:nvSpPr>
          <p:cNvPr id="582" name="Google Shape;582;p4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84" name="Google Shape;584;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Search expands preferentially toward the missing goal</a:t>
            </a:r>
            <a:endParaRPr/>
          </a:p>
        </p:txBody>
      </p:sp>
      <p:sp>
        <p:nvSpPr>
          <p:cNvPr id="591" name="Google Shape;591;p4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The full search trajectory contains information beyond its first movement. Ants can begin at the expected position of one feeder, then redistribute their efforts toward another destination when the first food source is absent.</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Two-feeder ants initially searched around A but progressively widened their searches toward B. Their search-density distributions were asymmetric in the direction of the second feeder, whereas the one-feeder controls were symmetric. The effect reversed when B changed from the left to the right side.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evidence supports flexible use of prior destination experience without requiring prior travel along A-to-B. It does not demonstrate a landmark-based representation of the connecting space, because the channel experiment was designed around controlled routes and stored vector information.</a:t>
            </a:r>
            <a:endParaRPr/>
          </a:p>
        </p:txBody>
      </p:sp>
      <p:pic>
        <p:nvPicPr>
          <p:cNvPr descr="V25_3.png" id="592" name="Google Shape;592;p42"/>
          <p:cNvPicPr preferRelativeResize="0"/>
          <p:nvPr/>
        </p:nvPicPr>
        <p:blipFill rotWithShape="1">
          <a:blip r:embed="rId3">
            <a:alphaModFix/>
          </a:blip>
          <a:srcRect b="0" l="0" r="0" t="0"/>
          <a:stretch/>
        </p:blipFill>
        <p:spPr>
          <a:xfrm>
            <a:off x="6504127" y="1280160"/>
            <a:ext cx="5120640" cy="2430977"/>
          </a:xfrm>
          <a:prstGeom prst="rect">
            <a:avLst/>
          </a:prstGeom>
          <a:noFill/>
          <a:ln>
            <a:noFill/>
          </a:ln>
        </p:spPr>
      </p:pic>
      <p:sp>
        <p:nvSpPr>
          <p:cNvPr id="593" name="Google Shape;593;p42"/>
          <p:cNvSpPr txBox="1"/>
          <p:nvPr/>
        </p:nvSpPr>
        <p:spPr>
          <a:xfrm>
            <a:off x="6504127" y="380257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3(a–b). Search shifts toward the second feeder on either side.</a:t>
            </a:r>
            <a:endParaRPr/>
          </a:p>
        </p:txBody>
      </p:sp>
      <p:sp>
        <p:nvSpPr>
          <p:cNvPr id="594" name="Google Shape;594;p4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96" name="Google Shape;596;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Restricted sky views predict biases in goal searches</a:t>
            </a:r>
            <a:endParaRPr/>
          </a:p>
        </p:txBody>
      </p:sp>
      <p:sp>
        <p:nvSpPr>
          <p:cNvPr id="603" name="Google Shape;603;p4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narrow channel restricts the visible portion of the polarization pattern. Depending on channel orientation and solar position, this restriction can bias the compass information used during outbound acquisition and therefore alter a stored goal vector.</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Voegeli and colleagues separated tests into conditions predicting underestimation or overestimation of the 4.1 m A-to-B distance. Relative search distributions were obtained by subtracting the one-feeder baseline from the two-feeder distributions. Their positive regions shifted in the predicted direction.</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relationship links the searches to compass information acquired through the channels rather than merely to the physical location of an absent feeder. The subtraction is an analysis of recorded behavior, not proof that ants themselves subtract search distributions or represent their uncertainty in this format.</a:t>
            </a:r>
            <a:endParaRPr/>
          </a:p>
        </p:txBody>
      </p:sp>
      <p:pic>
        <p:nvPicPr>
          <p:cNvPr descr="V25_4.png" id="604" name="Google Shape;604;p43"/>
          <p:cNvPicPr preferRelativeResize="0"/>
          <p:nvPr/>
        </p:nvPicPr>
        <p:blipFill rotWithShape="1">
          <a:blip r:embed="rId3">
            <a:alphaModFix/>
          </a:blip>
          <a:srcRect b="0" l="0" r="0" t="0"/>
          <a:stretch/>
        </p:blipFill>
        <p:spPr>
          <a:xfrm>
            <a:off x="6871286" y="1280160"/>
            <a:ext cx="4386321" cy="4297679"/>
          </a:xfrm>
          <a:prstGeom prst="rect">
            <a:avLst/>
          </a:prstGeom>
          <a:noFill/>
          <a:ln>
            <a:noFill/>
          </a:ln>
        </p:spPr>
      </p:pic>
      <p:sp>
        <p:nvSpPr>
          <p:cNvPr id="605" name="Google Shape;605;p4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4(a1–b2). Relative search distributions track predicted compass biases.</a:t>
            </a:r>
            <a:endParaRPr/>
          </a:p>
        </p:txBody>
      </p:sp>
      <p:sp>
        <p:nvSpPr>
          <p:cNvPr id="606" name="Google Shape;606;p4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608" name="Google Shape;608;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Stored goals can interact with the current home vector</a:t>
            </a:r>
            <a:endParaRPr/>
          </a:p>
        </p:txBody>
      </p:sp>
      <p:sp>
        <p:nvSpPr>
          <p:cNvPr id="615" name="Google Shape;615;p4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The </a:t>
            </a:r>
            <a:r>
              <a:rPr b="1" i="0" lang="en-US" sz="1600" u="none" cap="none" strike="noStrike">
                <a:solidFill>
                  <a:srgbClr val="344F61"/>
                </a:solidFill>
                <a:latin typeface="Arial"/>
                <a:ea typeface="Arial"/>
                <a:cs typeface="Arial"/>
                <a:sym typeface="Arial"/>
              </a:rPr>
              <a:t>current vector</a:t>
            </a:r>
            <a:r>
              <a:rPr b="0" i="0" lang="en-US" sz="1600" u="none" cap="none" strike="noStrike">
                <a:solidFill>
                  <a:srgbClr val="27323A"/>
                </a:solidFill>
                <a:latin typeface="Arial"/>
                <a:ea typeface="Arial"/>
                <a:cs typeface="Arial"/>
                <a:sym typeface="Arial"/>
              </a:rPr>
              <a:t> is updated during ongoing travel, whereas a stored goal vector can persist across journeys. A goal can be approached by comparing the current nest-relative state with a remembered destination rather than constructing a map of all familiar places.</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In the two-feeder experiment, ants searched toward B from A along an untrained connecting route separated by 4.1 m. The authors proposed retrieval of B’s food vector into working memory while the path integrator continued to track the ant’s current state.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This account explains the shortcut without requiring a metric cognitive map. It remains an interpretation of behavioral results: the experiment did not record a working-memory neuron, isolate synaptic storage of A and B, or decisively exclude every alternative form of vector computation.</a:t>
            </a:r>
            <a:endParaRPr/>
          </a:p>
        </p:txBody>
      </p:sp>
      <p:pic>
        <p:nvPicPr>
          <p:cNvPr descr="V25_5.png" id="616" name="Google Shape;616;p44"/>
          <p:cNvPicPr preferRelativeResize="0"/>
          <p:nvPr/>
        </p:nvPicPr>
        <p:blipFill rotWithShape="1">
          <a:blip r:embed="rId3">
            <a:alphaModFix/>
          </a:blip>
          <a:srcRect b="0" l="0" r="0" t="0"/>
          <a:stretch/>
        </p:blipFill>
        <p:spPr>
          <a:xfrm>
            <a:off x="7075576" y="1280160"/>
            <a:ext cx="3977741" cy="4297679"/>
          </a:xfrm>
          <a:prstGeom prst="rect">
            <a:avLst/>
          </a:prstGeom>
          <a:noFill/>
          <a:ln>
            <a:noFill/>
          </a:ln>
        </p:spPr>
      </p:pic>
      <p:sp>
        <p:nvSpPr>
          <p:cNvPr id="617" name="Google Shape;617;p4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5. Published framework relating current, stored and view-based vectors.</a:t>
            </a:r>
            <a:endParaRPr/>
          </a:p>
        </p:txBody>
      </p:sp>
      <p:sp>
        <p:nvSpPr>
          <p:cNvPr id="618" name="Google Shape;618;p4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620" name="Google Shape;620;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shortcut does not uniquely establish a cognitive map</a:t>
            </a:r>
            <a:endParaRPr/>
          </a:p>
        </p:txBody>
      </p:sp>
      <p:sp>
        <p:nvSpPr>
          <p:cNvPr id="627" name="Google Shape;627;p4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7323A"/>
                </a:solidFill>
                <a:latin typeface="Arial"/>
                <a:ea typeface="Arial"/>
                <a:cs typeface="Arial"/>
                <a:sym typeface="Arial"/>
              </a:rPr>
              <a:t>A </a:t>
            </a:r>
            <a:r>
              <a:rPr b="1" i="0" lang="en-US" sz="1600" u="none" cap="none" strike="noStrike">
                <a:solidFill>
                  <a:srgbClr val="344F61"/>
                </a:solidFill>
                <a:latin typeface="Arial"/>
                <a:ea typeface="Arial"/>
                <a:cs typeface="Arial"/>
                <a:sym typeface="Arial"/>
              </a:rPr>
              <a:t>metric cognitive map</a:t>
            </a:r>
            <a:r>
              <a:rPr b="0" i="0" lang="en-US" sz="1600" u="none" cap="none" strike="noStrike">
                <a:solidFill>
                  <a:srgbClr val="27323A"/>
                </a:solidFill>
                <a:latin typeface="Arial"/>
                <a:ea typeface="Arial"/>
                <a:cs typeface="Arial"/>
                <a:sym typeface="Arial"/>
              </a:rPr>
              <a:t> represents spatial relationships among familiar places in a common coordinate system. Novel shortcutting is often treated as evidence for such a map, but the same behavior can sometimes follow from simpler stored vectors and continuous self-motion updating.</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Cataglyphis ants trained separately to feeders 4.5 m and 5.7 m from the nest searched along their previously untraveled connecting route. The controlled A-to-B test demonstrated flexible navigation toward a second goal without requiring prior experience of that particular route.</a:t>
            </a:r>
            <a:endParaRPr/>
          </a:p>
          <a:p>
            <a:pPr indent="0" lvl="0" marL="0" marR="0" rtl="0" algn="l">
              <a:lnSpc>
                <a:spcPct val="108000"/>
              </a:lnSpc>
              <a:spcBef>
                <a:spcPts val="960"/>
              </a:spcBef>
              <a:spcAft>
                <a:spcPts val="0"/>
              </a:spcAft>
              <a:buNone/>
            </a:pPr>
            <a:r>
              <a:rPr b="0" i="0" lang="en-US" sz="1600" u="none" cap="none" strike="noStrike">
                <a:solidFill>
                  <a:srgbClr val="27323A"/>
                </a:solidFill>
                <a:latin typeface="Arial"/>
                <a:ea typeface="Arial"/>
                <a:cs typeface="Arial"/>
                <a:sym typeface="Arial"/>
              </a:rPr>
              <a:t>The finding makes shortcutting insufficient as a unique diagnostic of map-based navigation. It does not prove that ants can never form other spatial representations; it specifies that this observed behavior is compatible with a nest-referenced vector system and does not require the stronger explanation.</a:t>
            </a:r>
            <a:endParaRPr/>
          </a:p>
        </p:txBody>
      </p:sp>
      <p:pic>
        <p:nvPicPr>
          <p:cNvPr descr="V25_5.png" id="628" name="Google Shape;628;p45"/>
          <p:cNvPicPr preferRelativeResize="0"/>
          <p:nvPr/>
        </p:nvPicPr>
        <p:blipFill rotWithShape="1">
          <a:blip r:embed="rId3">
            <a:alphaModFix/>
          </a:blip>
          <a:srcRect b="0" l="0" r="0" t="0"/>
          <a:stretch/>
        </p:blipFill>
        <p:spPr>
          <a:xfrm>
            <a:off x="7075576" y="1280160"/>
            <a:ext cx="3977741" cy="4297679"/>
          </a:xfrm>
          <a:prstGeom prst="rect">
            <a:avLst/>
          </a:prstGeom>
          <a:noFill/>
          <a:ln>
            <a:noFill/>
          </a:ln>
        </p:spPr>
      </p:pic>
      <p:sp>
        <p:nvSpPr>
          <p:cNvPr id="629" name="Google Shape;629;p4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5. Published framework relating current, stored and view-based vectors.</a:t>
            </a:r>
            <a:endParaRPr/>
          </a:p>
        </p:txBody>
      </p:sp>
      <p:sp>
        <p:nvSpPr>
          <p:cNvPr id="630" name="Google Shape;630;p4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632" name="Google Shape;632;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7" name="Shape 637"/>
        <p:cNvGrpSpPr/>
        <p:nvPr/>
      </p:nvGrpSpPr>
      <p:grpSpPr>
        <a:xfrm>
          <a:off x="0" y="0"/>
          <a:ext cx="0" cy="0"/>
          <a:chOff x="0" y="0"/>
          <a:chExt cx="0" cy="0"/>
        </a:xfrm>
      </p:grpSpPr>
      <p:sp>
        <p:nvSpPr>
          <p:cNvPr id="638" name="Google Shape;638;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Key takeaways</a:t>
            </a:r>
            <a:endParaRPr/>
          </a:p>
        </p:txBody>
      </p:sp>
      <p:sp>
        <p:nvSpPr>
          <p:cNvPr id="639" name="Google Shape;639;p46"/>
          <p:cNvSpPr/>
          <p:nvPr/>
        </p:nvSpPr>
        <p:spPr>
          <a:xfrm>
            <a:off x="566928" y="12344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Home vectors</a:t>
            </a:r>
            <a:r>
              <a:rPr b="0" i="0" lang="en-US" sz="1600" u="none" cap="none" strike="noStrike">
                <a:solidFill>
                  <a:srgbClr val="27323A"/>
                </a:solidFill>
                <a:latin typeface="Arial"/>
                <a:ea typeface="Arial"/>
                <a:cs typeface="Arial"/>
                <a:sym typeface="Arial"/>
              </a:rPr>
              <a:t> combine direction and distance acquired during movement; they differ from retracing the outward route.</a:t>
            </a:r>
            <a:endParaRPr/>
          </a:p>
        </p:txBody>
      </p:sp>
      <p:sp>
        <p:nvSpPr>
          <p:cNvPr id="641" name="Google Shape;641;p46"/>
          <p:cNvSpPr/>
          <p:nvPr/>
        </p:nvSpPr>
        <p:spPr>
          <a:xfrm>
            <a:off x="6233007" y="12344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Controlled displacement</a:t>
            </a:r>
            <a:r>
              <a:rPr b="0" i="0" lang="en-US" sz="1600" u="none" cap="none" strike="noStrike">
                <a:solidFill>
                  <a:srgbClr val="27323A"/>
                </a:solidFill>
                <a:latin typeface="Arial"/>
                <a:ea typeface="Arial"/>
                <a:cs typeface="Arial"/>
                <a:sym typeface="Arial"/>
              </a:rPr>
              <a:t> reveals a stored movement-derived estimate by separating the expressed vector from the true nest position.</a:t>
            </a:r>
            <a:endParaRPr/>
          </a:p>
        </p:txBody>
      </p:sp>
      <p:sp>
        <p:nvSpPr>
          <p:cNvPr id="643" name="Google Shape;643;p46"/>
          <p:cNvSpPr/>
          <p:nvPr/>
        </p:nvSpPr>
        <p:spPr>
          <a:xfrm>
            <a:off x="566928" y="29870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Stride-dependent odometry</a:t>
            </a:r>
            <a:r>
              <a:rPr b="0" i="0" lang="en-US" sz="1600" u="none" cap="none" strike="noStrike">
                <a:solidFill>
                  <a:srgbClr val="27323A"/>
                </a:solidFill>
                <a:latin typeface="Arial"/>
                <a:ea typeface="Arial"/>
                <a:cs typeface="Arial"/>
                <a:sym typeface="Arial"/>
              </a:rPr>
              <a:t> is supported by stilt overshoot, stump undershoot and recovery when outbound and inbound leg conditions match.</a:t>
            </a:r>
            <a:endParaRPr/>
          </a:p>
        </p:txBody>
      </p:sp>
      <p:sp>
        <p:nvSpPr>
          <p:cNvPr id="645" name="Google Shape;645;p46"/>
          <p:cNvSpPr/>
          <p:nvPr/>
        </p:nvSpPr>
        <p:spPr>
          <a:xfrm>
            <a:off x="6233007" y="29870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Compass learning</a:t>
            </a:r>
            <a:r>
              <a:rPr b="0" i="0" lang="en-US" sz="1600" u="none" cap="none" strike="noStrike">
                <a:solidFill>
                  <a:srgbClr val="27323A"/>
                </a:solidFill>
                <a:latin typeface="Arial"/>
                <a:ea typeface="Arial"/>
                <a:cs typeface="Arial"/>
                <a:sym typeface="Arial"/>
              </a:rPr>
              <a:t> depends on changing celestial information during early learning walks and is associated with region-specific structural plasticity.</a:t>
            </a:r>
            <a:endParaRPr/>
          </a:p>
        </p:txBody>
      </p:sp>
      <p:sp>
        <p:nvSpPr>
          <p:cNvPr id="647" name="Google Shape;647;p46"/>
          <p:cNvSpPr/>
          <p:nvPr/>
        </p:nvSpPr>
        <p:spPr>
          <a:xfrm>
            <a:off x="566928" y="47396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Magnetic reference signals</a:t>
            </a:r>
            <a:r>
              <a:rPr b="0" i="0" lang="en-US" sz="1600" u="none" cap="none" strike="noStrike">
                <a:solidFill>
                  <a:srgbClr val="27323A"/>
                </a:solidFill>
                <a:latin typeface="Arial"/>
                <a:ea typeface="Arial"/>
                <a:cs typeface="Arial"/>
                <a:sym typeface="Arial"/>
              </a:rPr>
              <a:t> affect nest-directed gazes and brain plasticity differently; the magnetic receptor and causal cellular mechanisms remain unresolved.</a:t>
            </a:r>
            <a:endParaRPr/>
          </a:p>
        </p:txBody>
      </p:sp>
      <p:sp>
        <p:nvSpPr>
          <p:cNvPr id="649" name="Google Shape;649;p46"/>
          <p:cNvSpPr/>
          <p:nvPr/>
        </p:nvSpPr>
        <p:spPr>
          <a:xfrm>
            <a:off x="6233007" y="47396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Novel shortcuts</a:t>
            </a:r>
            <a:r>
              <a:rPr b="0" i="0" lang="en-US" sz="1600" u="none" cap="none" strike="noStrike">
                <a:solidFill>
                  <a:srgbClr val="27323A"/>
                </a:solidFill>
                <a:latin typeface="Arial"/>
                <a:ea typeface="Arial"/>
                <a:cs typeface="Arial"/>
                <a:sym typeface="Arial"/>
              </a:rPr>
              <a:t> can arise from stored goal vectors interacting with an ongoing path integrator, so shortcutting alone does not establish a cognitive map.</a:t>
            </a:r>
            <a:endParaRPr/>
          </a:p>
        </p:txBody>
      </p:sp>
      <p:sp>
        <p:nvSpPr>
          <p:cNvPr id="651" name="Google Shape;651;p4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 Wittlinger et al. (2007); Grob et al. (2022, 2024); Voegeli et al. (2025)</a:t>
            </a:r>
            <a:endParaRPr/>
          </a:p>
        </p:txBody>
      </p:sp>
      <p:sp>
        <p:nvSpPr>
          <p:cNvPr id="653" name="Google Shape;653;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