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45.xml"/>
  <Override ContentType="application/vnd.openxmlformats-officedocument.presentationml.notesSlide+xml" PartName="/ppt/notesSlides/notesSlide3.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 id="293" r:id="rId42"/>
    <p:sldId id="294" r:id="rId43"/>
    <p:sldId id="295" r:id="rId44"/>
    <p:sldId id="296" r:id="rId45"/>
    <p:sldId id="297" r:id="rId46"/>
    <p:sldId id="298" r:id="rId47"/>
    <p:sldId id="299" r:id="rId48"/>
    <p:sldId id="300" r:id="rId49"/>
    <p:sldId id="301" r:id="rId50"/>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51" roundtripDataSignature="AMtx7miJT33QIgx+rBMh205Qs2jpo3tig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slide" Target="slides/slide36.xml"/><Relationship Id="rId42" Type="http://schemas.openxmlformats.org/officeDocument/2006/relationships/slide" Target="slides/slide38.xml"/><Relationship Id="rId41" Type="http://schemas.openxmlformats.org/officeDocument/2006/relationships/slide" Target="slides/slide37.xml"/><Relationship Id="rId44" Type="http://schemas.openxmlformats.org/officeDocument/2006/relationships/slide" Target="slides/slide40.xml"/><Relationship Id="rId43" Type="http://schemas.openxmlformats.org/officeDocument/2006/relationships/slide" Target="slides/slide39.xml"/><Relationship Id="rId46" Type="http://schemas.openxmlformats.org/officeDocument/2006/relationships/slide" Target="slides/slide42.xml"/><Relationship Id="rId45" Type="http://schemas.openxmlformats.org/officeDocument/2006/relationships/slide" Target="slides/slide41.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48" Type="http://schemas.openxmlformats.org/officeDocument/2006/relationships/slide" Target="slides/slide44.xml"/><Relationship Id="rId47" Type="http://schemas.openxmlformats.org/officeDocument/2006/relationships/slide" Target="slides/slide43.xml"/><Relationship Id="rId49" Type="http://schemas.openxmlformats.org/officeDocument/2006/relationships/slide" Target="slides/slide45.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slide" Target="slides/slide27.xml"/><Relationship Id="rId30" Type="http://schemas.openxmlformats.org/officeDocument/2006/relationships/slide" Target="slides/slide26.xml"/><Relationship Id="rId33" Type="http://schemas.openxmlformats.org/officeDocument/2006/relationships/slide" Target="slides/slide29.xml"/><Relationship Id="rId32" Type="http://schemas.openxmlformats.org/officeDocument/2006/relationships/slide" Target="slides/slide28.xml"/><Relationship Id="rId35" Type="http://schemas.openxmlformats.org/officeDocument/2006/relationships/slide" Target="slides/slide31.xml"/><Relationship Id="rId34" Type="http://schemas.openxmlformats.org/officeDocument/2006/relationships/slide" Target="slides/slide30.xml"/><Relationship Id="rId37" Type="http://schemas.openxmlformats.org/officeDocument/2006/relationships/slide" Target="slides/slide33.xml"/><Relationship Id="rId36" Type="http://schemas.openxmlformats.org/officeDocument/2006/relationships/slide" Target="slides/slide32.xml"/><Relationship Id="rId39" Type="http://schemas.openxmlformats.org/officeDocument/2006/relationships/slide" Target="slides/slide35.xml"/><Relationship Id="rId38" Type="http://schemas.openxmlformats.org/officeDocument/2006/relationships/slide" Target="slides/slide34.xml"/><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29" Type="http://schemas.openxmlformats.org/officeDocument/2006/relationships/slide" Target="slides/slide25.xml"/><Relationship Id="rId51" Type="http://customschemas.google.com/relationships/presentationmetadata" Target="metadata"/><Relationship Id="rId50" Type="http://schemas.openxmlformats.org/officeDocument/2006/relationships/slide" Target="slides/slide46.xml"/><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 name="Shape 15"/>
        <p:cNvGrpSpPr/>
        <p:nvPr/>
      </p:nvGrpSpPr>
      <p:grpSpPr>
        <a:xfrm>
          <a:off x="0" y="0"/>
          <a:ext cx="0" cy="0"/>
          <a:chOff x="0" y="0"/>
          <a:chExt cx="0" cy="0"/>
        </a:xfrm>
      </p:grpSpPr>
      <p:sp>
        <p:nvSpPr>
          <p:cNvPr id="16" name="Google Shape;16;p1: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 name="Google Shape;17;p1: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US" sz="1200" u="none" cap="none" strike="noStrike">
                <a:solidFill>
                  <a:schemeClr val="dk1"/>
                </a:solidFill>
                <a:latin typeface="Calibri"/>
                <a:ea typeface="Calibri"/>
                <a:cs typeface="Calibri"/>
                <a:sym typeface="Calibri"/>
              </a:rPr>
              <a:t>Amphibian prey capture II: pretectal predator-avoidance circuits</a:t>
            </a:r>
            <a:br>
              <a:rPr b="0" i="0" lang="en-US" sz="1200" u="none" cap="none" strike="noStrike">
                <a:solidFill>
                  <a:schemeClr val="dk1"/>
                </a:solidFill>
                <a:latin typeface="Calibri"/>
                <a:ea typeface="Calibri"/>
                <a:cs typeface="Calibri"/>
                <a:sym typeface="Calibri"/>
              </a:rPr>
            </a:br>
            <a:r>
              <a:rPr b="0" i="0" lang="en-US" sz="1200" u="none" cap="none" strike="noStrike">
                <a:solidFill>
                  <a:schemeClr val="dk1"/>
                </a:solidFill>
                <a:latin typeface="Calibri"/>
                <a:ea typeface="Calibri"/>
                <a:cs typeface="Calibri"/>
                <a:sym typeface="Calibri"/>
              </a:rPr>
              <a:t>Wednesday, September 16, 2026</a:t>
            </a:r>
            <a:br>
              <a:rPr b="0" i="0" lang="en-US" sz="1200" u="none" cap="none" strike="noStrike">
                <a:solidFill>
                  <a:schemeClr val="dk1"/>
                </a:solidFill>
                <a:latin typeface="Calibri"/>
                <a:ea typeface="Calibri"/>
                <a:cs typeface="Calibri"/>
                <a:sym typeface="Calibri"/>
              </a:rPr>
            </a:br>
            <a:r>
              <a:rPr b="0" i="0" lang="en-US" sz="1200" u="none" cap="none" strike="noStrike">
                <a:solidFill>
                  <a:schemeClr val="dk1"/>
                </a:solidFill>
                <a:latin typeface="Calibri"/>
                <a:ea typeface="Calibri"/>
                <a:cs typeface="Calibri"/>
                <a:sym typeface="Calibri"/>
              </a:rPr>
              <a:t>Photo: Common toad (Bufo bufo), the species used in Ewert's prey-catching studies.</a:t>
            </a:r>
            <a:br>
              <a:rPr b="0" i="0" lang="en-US" sz="1200" u="none" cap="none" strike="noStrike">
                <a:solidFill>
                  <a:schemeClr val="dk1"/>
                </a:solidFill>
                <a:latin typeface="Calibri"/>
                <a:ea typeface="Calibri"/>
                <a:cs typeface="Calibri"/>
                <a:sym typeface="Calibri"/>
              </a:rPr>
            </a:br>
            <a:r>
              <a:rPr b="0" i="0" lang="en-US" sz="1200" u="none" cap="none" strike="noStrike">
                <a:solidFill>
                  <a:schemeClr val="dk1"/>
                </a:solidFill>
                <a:latin typeface="Calibri"/>
                <a:ea typeface="Calibri"/>
                <a:cs typeface="Calibri"/>
                <a:sym typeface="Calibri"/>
              </a:rPr>
              <a:t>Credit: George Chernilevsky</a:t>
            </a:r>
            <a:br>
              <a:rPr b="0" i="0" lang="en-US" sz="1200" u="none" cap="none" strike="noStrike">
                <a:solidFill>
                  <a:schemeClr val="dk1"/>
                </a:solidFill>
                <a:latin typeface="Calibri"/>
                <a:ea typeface="Calibri"/>
                <a:cs typeface="Calibri"/>
                <a:sym typeface="Calibri"/>
              </a:rPr>
            </a:br>
            <a:r>
              <a:rPr b="0" i="0" lang="en-US" sz="1200" u="none" cap="none" strike="noStrike">
                <a:solidFill>
                  <a:schemeClr val="dk1"/>
                </a:solidFill>
                <a:latin typeface="Calibri"/>
                <a:ea typeface="Calibri"/>
                <a:cs typeface="Calibri"/>
                <a:sym typeface="Calibri"/>
              </a:rPr>
              <a:t>License: Public domain</a:t>
            </a:r>
            <a:br>
              <a:rPr b="0" i="0" lang="en-US" sz="1200" u="none" cap="none" strike="noStrike">
                <a:solidFill>
                  <a:schemeClr val="dk1"/>
                </a:solidFill>
                <a:latin typeface="Calibri"/>
                <a:ea typeface="Calibri"/>
                <a:cs typeface="Calibri"/>
                <a:sym typeface="Calibri"/>
              </a:rPr>
            </a:br>
            <a:r>
              <a:rPr b="0" i="0" lang="en-US" sz="1200" u="none" cap="none" strike="noStrike">
                <a:solidFill>
                  <a:schemeClr val="dk1"/>
                </a:solidFill>
                <a:latin typeface="Calibri"/>
                <a:ea typeface="Calibri"/>
                <a:cs typeface="Calibri"/>
                <a:sym typeface="Calibri"/>
              </a:rPr>
              <a:t>Source: https://commons.wikimedia.org/wiki/File:Bufo_bufo_2009_G1.jpg</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 name="Shape 27"/>
        <p:cNvGrpSpPr/>
        <p:nvPr/>
      </p:nvGrpSpPr>
      <p:grpSpPr>
        <a:xfrm>
          <a:off x="0" y="0"/>
          <a:ext cx="0" cy="0"/>
          <a:chOff x="0" y="0"/>
          <a:chExt cx="0" cy="0"/>
        </a:xfrm>
      </p:grpSpPr>
      <p:sp>
        <p:nvSpPr>
          <p:cNvPr id="28" name="Google Shape;28;p2: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9" name="Google Shape;29;p2: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**Predator avoidance** is a movement that reduces exposure to a threatening object. In common toads, _Bufo bufo_, large moving objects evoke ducking, turning away or jumping, whereas small objects often evoke orienting followed by prey capture.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Ewert varied the angular diameter of black discs moving at 30°/s against a white background. **Angular size** is the angle an object occupies at the eye. Orienting was strongest for discs approximately 4–8° across and nearly absent at 20°; avoidance became prominent above 30° and was optimal around 50°.</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controlled objects separate stimulus size from actual predator identity. These responses establish a size-dependent behavioral distinction; they do not imply that every large object is recognized as a particular predator.</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discs provide controlled visual cues without the odor, texture or unpredictable movements of a living animal. A laboratory avoidance response measures the animal’s action toward that cue; predator recognition in a natural encounter contains additional information.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Ewert JP (1970). Neural mechanisms of prey-catching and avoidance behavior in the toad (Bufo bufo L.). Brain, Behavior and Evolution 3(1–4):36–56. https://doi.org/10.1159/000125462</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Ewert (1970), Fig. 2(a–b). Disc diameter in degrees separates orienting and avoidance.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https://doi.org/10.1159/000125462</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 name="Shape 40"/>
        <p:cNvGrpSpPr/>
        <p:nvPr/>
      </p:nvGrpSpPr>
      <p:grpSpPr>
        <a:xfrm>
          <a:off x="0" y="0"/>
          <a:ext cx="0" cy="0"/>
          <a:chOff x="0" y="0"/>
          <a:chExt cx="0" cy="0"/>
        </a:xfrm>
      </p:grpSpPr>
      <p:sp>
        <p:nvSpPr>
          <p:cNvPr id="41" name="Google Shape;41;p3: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2" name="Google Shape;42;p3: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**Prey capture** includes orienting, following, snapping and swallowing. Ewert counted turns while a moving object circled a toad inside a glass cylinder; the timed records distinguish persistent orientation from occasional responses without requiring the animal to catch real prey.</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 small moving object normally activates approach-related behavior. A large object can instead cause the toad to lower its body or move away. These alternatives depend on visual dimensions and behavioral state, rather than on the presence or absence of motion alone.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Electrical stimulation near the boundary between catching and avoidance regions could evoke both kinds of movement in rapid succession or together. The muscles can therefore execute these responses without an absolute peripheral incompatibility; normal separation requires central regulation.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Turning counts quantify one component of the feeding sequence. Snapping and swallowing are distinct motor acts, so an increase in orienting should not be equated with successful feeding. The mixed responses produced by electrical stimulation concern motor compatibility, not normal simultaneous pursuit and escape.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Ewert JP (1970). Neural mechanisms of prey-catching and avoidance behavior in the toad (Bufo bufo L.). Brain, Behavior and Evolution 3(1–4):36–56. https://doi.org/10.1159/000125462</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Ewert (1970), Fig. 1(A–B). Moving-object chamber and timed orienting responses.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https://doi.org/10.1159/000125462</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 name="Shape 53"/>
        <p:cNvGrpSpPr/>
        <p:nvPr/>
      </p:nvGrpSpPr>
      <p:grpSpPr>
        <a:xfrm>
          <a:off x="0" y="0"/>
          <a:ext cx="0" cy="0"/>
          <a:chOff x="0" y="0"/>
          <a:chExt cx="0" cy="0"/>
        </a:xfrm>
      </p:grpSpPr>
      <p:sp>
        <p:nvSpPr>
          <p:cNvPr id="54" name="Google Shape;54;p4: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5" name="Google Shape;55;p4: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 **worm-like stimulus** is a narrow rectangle moving parallel to its long axis. An **antiworm stimulus** has the same elongated form but moves perpendicular to that axis. These terms describe stimulus geometry rather than real species of prey.</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At 30°/s, Ewert held one rectangle dimension at 2° while changing the other. Increasing length parallel to motion increased orienting toward a maximum at approximately 16–32°. Increasing width perpendicular to motion reduced the response. A square became more effective up to about 8° before larger squares lost prey value.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opposite effects of elongation require a relation between object dimensions and movement direction. Area alone cannot explain intact behavior, and the behavioral curves do not themselves identify the inhibitory neurons.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same rectangular dimensions can have different behavioral effects after the movement direction is changed. The manipulation tests configuration selectivity: sensitivity to how parts of the stimulus are arranged relative to motion. The original curves distinguish that selectivity from a simple preference for more dark area.</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Ewert JP (1970). Neural mechanisms of prey-catching and avoidance behavior in the toad (Bufo bufo L.). Brain, Behavior and Evolution 3(1–4):36–56. https://doi.org/10.1159/000125462</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Ewert (1970), Fig. 3(Aa–Ab). Intact toads respond differently to rectangle elongation along and across motion.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https://doi.org/10.1159/000125462</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p5: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8" name="Google Shape;68;p5: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**Spatial interaction** means that the response to one object depends on another object elsewhere in the visual field. Ewert compared orientation toward a single moving rectangle with orientation when a second rectangle moved alongside it, using the same 30°/s speed and high contrast.</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For paired 2° × 16° objects, suppression was greatest at approximately 8° separation. Objects farther apart produced less inhibition. Adding a second potential prey item therefore did not necessarily add a second independent orienting response.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manipulation supplies a behavioral constraint on visual processing: nearby signals interact before the final movement is selected. It does not localize the interaction exclusively to retina, pretectum or tectum without a separate intervention.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single-object condition provides the comparison needed to distinguish inhibition from simple failure to detect either object. Separation changes while the object dimensions are retained. The spatial dependence concerns response selection, and it does not establish a synapse between two identified cells.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Ewert JP (1970). Neural mechanisms of prey-catching and avoidance behavior in the toad (Bufo bufo L.). Brain, Behavior and Evolution 3(1–4):36–56. https://doi.org/10.1159/000125462</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Ewert (1970), Fig. 4(a–b). Paired moving objects inhibit orienting most strongly at 8° separation.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https://doi.org/10.1159/000125462</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p6: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1" name="Google Shape;81;p6: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**optic tectum** is the midbrain visual structure involved in directing movements toward visual targets. The **pretectum** lies immediately rostral to it, near the caudal diencephalon. Ewert mapped responses by stimulating localized sites in freely moving toads.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Stimulation in the pretectal and adjacent caudal dorsal thalamic regions evoked ducking, jumping or turning away from the opposite side. The published site maps distinguish these locations from tectal sites associated with catching movements and from boundary sites producing mixed responses.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Electrical stimulation establishes that activity introduced near these regions can recruit defensive motor behavior. Current can activate axons as well as nearby neurons, so a behavioral stimulation map does not identify a single specialized predator neuron.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Rostral means toward the front of the brain, while caudal means toward the back. The anatomical names used in these classic papers partly overlap, which is why the original stimulation and lesion maps are more precise than assigning every effect to a modern nucleus label.</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Ewert JP (1970). Neural mechanisms of prey-catching and avoidance behavior in the toad (Bufo bufo L.). Brain, Behavior and Evolution 3(1–4):36–56. https://doi.org/10.1159/000125462</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Ewert (1970), Fig. 7(d–f). Catching and avoidance stimulation sites.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https://doi.org/10.1159/000125462</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7: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4" name="Google Shape;94;p7: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Ewert implanted electrodes in the optic tectum and applied pulse trains to freely moving toads. Appropriate stimulation could evoke turning, snapping and gulping without a prey object passing through the corresponding part of the visual field.</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Different tectal locations directed orienting or snapping toward different sectors of the opposite visual field. This **retinotopic organization** preserves spatial relationships from the retina, the light-sensitive neural tissue of the eye, in a central map used to direct movement.</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stimulation bypasses normal stimulus classification but preserves a relation between brain location and movement direction. It supports a tectal contribution to visuomotor output; it does not establish that the tectum operates independently of pretectal inhibition or other brain regions.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spatial map concerns where an action is directed, while stimulus selectivity concerns which visual objects release that action. A stimulation experiment can activate an output location without testing whether the same site would normally accept a large nonprey stimulus.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Ewert JP (1970). Neural mechanisms of prey-catching and avoidance behavior in the toad (Bufo bufo L.). Brain, Behavior and Evolution 3(1–4):36–56. https://doi.org/10.1159/000125462</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Ewert (1970), Fig. 6(a–e). Tectal stimulation sites and directed turning, snapping and gulping.</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https://doi.org/10.1159/000125462</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p8: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7" name="Google Shape;107;p8: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Ewert prolonged stimulation of the pretectal and caudal thalamic region at 60 Hz. The initial effect was an avoidance response, but continued stimulation raised the avoidance threshold and eventually produced unresponsiveness to the stimulation.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During a later phase, toads oriented and snapped toward large moving objects that they would ordinarily avoid. The response progressed from ducking through mixed orienting–avoidance movements to catching movements. After approximately 10–30 minutes of recovery, appropriate avoidance could return.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This reversible sequence is consistent with temporary loss of a restraining influence on prey capture. It does not establish whether the loss results from adaptation, transmitter depletion, altered ionic conditions or another consequence of sustained electrical activation.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 pulse frequency of 60 Hz means sixty stimulation pulses per second, not a measured firing rate of every pretectal cell. The recovery distinguishes the prolonged-stimulation effect from a permanently destroyed motor pathway, but it does not supply the cellular cause of the changing response.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Ewert JP (1970). Neural mechanisms of prey-catching and avoidance behavior in the toad (Bufo bufo L.). Brain, Behavior and Evolution 3(1–4):36–56. https://doi.org/10.1159/000125462</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Ewert (1970), Fig. 8(a–c). Prolonged stimulation changes ducking to mixed responses and snapping.</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https://doi.org/10.1159/000125462</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Ewert (1970), Fig. 7(d–f). Catching and avoidance stimulation sites.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https://doi.org/10.1159/000125462</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p9: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2" name="Google Shape;122;p9: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 **lesion** is tissue damage introduced to test the contribution of a brain region or connection. Ewert used knife cuts and high-frequency coagulation in pretectal and caudal dorsal thalamic areas that normally participate in avoidance-related regulation.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After these lesions, toads snapped at their own legs, another toad, an experimenter’s hand or a moving shoe box. **Disinhibition** is increased activity or behavior after a restraining influence is removed. The abnormal catching could persist from 24 hours to several weeks, depending on lesion location.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animals retained the motor capacity to orient and snap but lost normal restrictions on suitable targets. Because the lesions affected tissue and passing connections, they establish a regional contribution rather than the necessity of one transmitter or cell class.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An animal that still snaps is not simply blind or paralyzed. Its visually released behavior has changed in selectivity. The variable duration and lesion extent also prevent treating every operated animal as a selective and identical removal of a single inhibitory nucleus.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Ewert JP (1970). Neural mechanisms of prey-catching and avoidance behavior in the toad (Bufo bufo L.). Brain, Behavior and Evolution 3(1–4):36–56. https://doi.org/10.1159/000125462</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Ewert (1970), Fig. 9(a–d). Disinhibited toads pursue large and inappropriate objects.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https://doi.org/10.1159/000125462</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Ewert (1970), Fig. 10(A–D). Lesion maps and visual fields.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https://doi.org/10.1159/000125462</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p10: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7" name="Google Shape;137;p10: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Ewert reconstructed the damaged tissue and compared lesion location with the visual-field region in which catching became disinhibited. A unilateral pretectal or caudal thalamic lesion generally released prey-catching through the opposite eye; bilateral damage affected both sides.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Small lesions could change orienting in restricted visual sectors. When damage extended into dorsal tectal tissue, responses could disappear in the upper visual field while remaining disinhibited in the lower field. Losing visual responsiveness and releasing an inappropriate response are therefore distinguishable outcomes.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spatial correspondence supports organized pretectal–tectal regulation rather than a completely uniform increase in movement. Extensive lesions nevertheless combine loss of inputs, local neurons and connections, limiting assignment of the effect to an isolated synapse.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Contralateral refers to the side opposite a lesion; ipsilateral refers to the same side. A visual-field sector with no response after tectal damage cannot be counted as improved selectivity. The lesion reconstructions connect the behavioral deficit to damaged tissue without claiming microscopic selectivity.</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Large rostral thalamic lesions did not produce the same syndrome, providing a location control. The caudal lesion effect therefore cannot be explained simply by any brain operation increasing snapping.</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Ewert JP (1970). Neural mechanisms of prey-catching and avoidance behavior in the toad (Bufo bufo L.). Brain, Behavior and Evolution 3(1–4):36–56. https://doi.org/10.1159/000125462</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Ewert (1970), Fig. 10(A–D). Lesion maps and visual fields.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https://doi.org/10.1159/000125462</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p11: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0" name="Google Shape;150;p11: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Ewert repeated the rectangle-dimension experiment after pretectal and caudal thalamic lesions. In intact toads, elongating a rectangle perpendicular to its movement normally reduced prey-oriented turning, despite increasing the amount of visible object.</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After the effective lesions, orienting instead increased with enlargement along either axis. Rectangles and squares no longer produced the same configuration-dependent reduction. The measured stimulus dimensions and 30°/s movement were retained, separating the lesion effect from a new set of visual objects.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lost distinction supports a contribution of the damaged pathway to rejecting unsuitable configurations. It does not mean that the retina has ceased detecting motion or that every surviving tectal neuron has become equally responsive to all stimuli.</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comparison is within the original stimulus family: horizontal, vertical and jointly enlarged dimensions. Increased response after damage is meaningful because the intact condition had a selective reduction for enlargement across motion, rather than a general failure to respond to large objects.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Ewert JP (1970). Neural mechanisms of prey-catching and avoidance behavior in the toad (Bufo bufo L.). Brain, Behavior and Evolution 3(1–4):36–56. https://doi.org/10.1159/000125462</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Ewert (1970), Fig. 3(Ba–Bb). Lesioned toads lose the usual inhibition by vertical elongation.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https://doi.org/10.1159/000125462</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Ewert (1970), Fig. 10(A–D). Lesion maps and visual fields.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https://doi.org/10.1159/000125462</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p12: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5" name="Google Shape;165;p12: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Ewert tested pairs of moving 2° × 16° rectangles after effective caudal thalamic and pretectal lesions. The object dimensions and speed matched the earlier intact preparation, allowing the distance-dependent interaction to be compared directly.</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normal reduction around 8° separation was absent. At separations of approximately 1–8°, the pair could produce more orienting than one object alone. **Summation** describes that combined increase, without requiring a particular mathematical rule for addition of neuronal signals.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lesion changed how multiple visible targets competed for behavior. The result supports a central inhibitory contribution to spatial filtering, but it does not determine whether the relevant normal interaction is carried by a direct pretectal projection or by an intervening network.</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paired-object result differs from the size experiment because two spatially distinct targets are present. A common lesion can remove both configuration-dependent suppression and nearby-object suppression, but similar behavioral effects do not prove that the underlying neuronal operations are identical.</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Ewert JP (1970). Neural mechanisms of prey-catching and avoidance behavior in the toad (Bufo bufo L.). Brain, Behavior and Evolution 3(1–4):36–56. https://doi.org/10.1159/000125462</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Ewert (1970), Fig. 11. Paired-object summation after lesions, with separation in degrees.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https://doi.org/10.1159/000125462</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Ewert (1970), Fig. 10(A–D). Lesion maps and visual fields.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https://doi.org/10.1159/000125462</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p13: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0" name="Google Shape;180;p13: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**Habituation** is a reduction in response during repeated presentations of a stimulus. In Ewert’s intact toads, orienting declined as a standard moving prey object was presented repeatedly. A pause allowed partial recovery, and repeated habituation series further reduced subsequent orienting.</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After caudal thalamic and pretectal lesions, recovery could occur within approximately 5–10 minutes and the suppression accumulated much less across successive series. The same visual object remained capable of releasing movement after the normal persistent restraint was weakened.</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behavioral change connects the lesioned region to the time-dependent regulation of prey-catching. Habituation measured as turning behavior does not by itself distinguish retinal adaptation, tectal response changes, motivational changes and pretectal inhibition.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Response reduction must be measured against a prior response to the same kind of stimulus. Recovery after a pause distinguishes a reversible change from permanent loss of vision or movement, but multiple central and peripheral processes can contribute to a reversible behavioral decrement.</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Ewert JP (1970). Neural mechanisms of prey-catching and avoidance behavior in the toad (Bufo bufo L.). Brain, Behavior and Evolution 3(1–4):36–56. https://doi.org/10.1159/000125462</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Ewert (1970), Fig. 5(A–B). Orienting declines with repetition and recovers after a pause.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https://doi.org/10.1159/000125462</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Ewert (1970), Fig. 5(Ca–Cb). Repeated habituation series suppress intact responses more than lesioned responses.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https://doi.org/10.1159/000125462</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p14: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5" name="Google Shape;195;p14: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**telencephalon**, the anterior division of the forebrain, can regulate visually released behavior without supplying the entire catching motor sequence. Ewert removed the forebrain while sparing the thalamus and observed a pronounced reduction in prey-oriented responses.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Bilateral removal left animals unresponsive to prey dummies while avoidance increased. Additional damage to the pretectal and caudal thalamic region could restore disinhibited catching. Thus a missing forebrain did not necessarily remove the downstream capacity to execute prey-related movements.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sequential interventions support regulation through an inhibitory intermediate, but the full lesion sequence also indicated additional forebrain influences. These regional operations cannot establish a complete two-node circuit or identify the transmitter linking forebrain activity to pretectal restraint.</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Removing a structure can suppress a behavior by releasing inhibition elsewhere, rather than by destroying the behavior’s output machinery. Recovery after a second lesion is especially informative about that possibility, although broad lesions leave the exact route of the regulation unresolved.</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Ewert JP (1970). Neural mechanisms of prey-catching and avoidance behavior in the toad (Bufo bufo L.). Brain, Behavior and Evolution 3(1–4):36–56. https://doi.org/10.1159/000125462</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McConville J, Laming PR (2007). DC electrical stimulation of the pretectal thalamus and its effects on the feeding behavior of the toad (Bufo bufo). Developmental Neurobiology 67(7):875–883. https://doi.org/10.1002/dneu.20390</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McConville &amp; Laming (2007), Fig. 3. Lpd electrodes.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https://doi.org/10.1002/dneu.20390</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p15: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8" name="Google Shape;208;p15: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Ingle recorded **newness cells**, a functional class of tectal neurons whose responses normally diminish rapidly when an object repeatedly traverses the same visual region. In intact frogs, these cells commonly had receptive fields about 15–20° across.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 **receptive field** is the region of sensory space in which a stimulus changes a neuron’s activity. Normal newness cells could cease responding after one or two passages of a small object. This property differs from the repeated contrast responses of retinal class 3 fibers.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Ingle compared these responses after pretectal lesions associated with disinhibited pursuit. The category describes measured visual response properties, not a molecularly defined cell type or a demonstrated neurotransmitter identity shared by every cell.</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 receptive field is defined experimentally by moving a stimulus through visual space while recording the cell. A rapidly habituating tectal unit and a retinal axon can both respond to a small dark object, so object preference alone is insufficient to identify the recording.</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anatomical comparison from McConville and Laming locates homologous regions in a common toad; it is not an anatomical reconstruction of the frog operated on by Ingle.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Ingle selected frogs with disinhibited pursuit after knife cuts or suction near the pretectal region, with some operations also interrupting commissural connections. The result applies to that selected syndrome, rather than to every pretectal operation.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Ingle D (1973). Disinhibition of tectal neurons by pretectal lesions in the frog. Science 180(4084):422–424. https://doi.org/10.1126/science.180.4084.422</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McConville J, Laming PR (2007). DC electrical stimulation of the pretectal thalamus and its effects on the feeding behavior of the toad (Bufo bufo). Developmental Neurobiology 67(7):875–883. https://doi.org/10.1002/dneu.20390</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Ingle (1973), Fig. 1. A lesion-side tectal unit fires persistently to a moving and stopped object.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https://doi.org/10.1126/science.180.4084.422</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McConville &amp; Laming (2007), Fig. 3. Lpd electrodes.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https://doi.org/10.1002/dneu.20390</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p16: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23" name="Google Shape;223;p16: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Ingle presented a black square about 4° across moving at approximately 10°/s on a screen 20 cm from the frog. In animals with behaviorally effective pretectal lesions, tectal units could produce prolonged activity unlike normal rapidly habituating newness cells.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 spot that stopped within the receptive field could evoke a discharge lasting approximately 5–10 seconds. In some cells, the highest firing occurred 2–3 seconds after the stimulus stopped, rather than immediately at motion onset or termination.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persistence separates response regulation from simple tracking of instantaneous motion. The lesion results support a normal pretectal restraint on tectal responsiveness, but they do not identify whether the long discharge is generated by intrinsic currents or recurrent network activity.</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 delayed peak after motion stops cannot be interpreted as a precise neural report of the object’s current speed. Ingle also observed exceptionally intense, seizure-like activity in some preparations. Such pathological responses are evidence of disrupted regulation and should not be described as normal predator coding.</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anatomical comparison from McConville and Laming locates homologous regions in a common toad; it is not an anatomical reconstruction of the frog operated on by Ingle.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Ingle D (1973). Disinhibition of tectal neurons by pretectal lesions in the frog. Science 180(4084):422–424. https://doi.org/10.1126/science.180.4084.422</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McConville J, Laming PR (2007). DC electrical stimulation of the pretectal thalamus and its effects on the feeding behavior of the toad (Bufo bufo). Developmental Neurobiology 67(7):875–883. https://doi.org/10.1002/dneu.20390</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Ingle (1973), Fig. 1. A lesion-side tectal unit fires persistently to a moving and stopped object.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https://doi.org/10.1126/science.180.4084.422</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McConville &amp; Laming (2007), Fig. 3. Lpd electrodes.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https://doi.org/10.1002/dneu.20390</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p17: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38" name="Google Shape;238;p17: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After behaviorally effective pretectal lesions, Ingle recorded tectal receptive fields approximately 30° across or larger, compared with the usual 15–20° range of normal newness cells. Some recorded fields enlarged from about 15° to 30° during the observation.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lesion-side example contains a broad field with a particularly excitable zone, and movement of a small object could evoke activity that persisted when motion stopped. Other cells remained spatially responsive but discharged more strongly or for longer than normal.</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Receptive-field enlargement is consistent with removal of inhibition that normally limits effective visual input. Extracellular spike recordings, which detect neuronal action potentials outside the cell, do not establish the membrane conductance or circuit connection responsible for the enlargement.</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 larger functional receptive field need not mean that new anatomical retinal connections appeared during the experiment. Previously ineffective inputs may become capable of producing spikes after inhibition is lost. The recording tests responsiveness rather than directly counting synapses.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anatomical comparison from McConville and Laming locates homologous regions in a common toad; it is not an anatomical reconstruction of the frog operated on by Ingle.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Ingle D (1973). Disinhibition of tectal neurons by pretectal lesions in the frog. Science 180(4084):422–424. https://doi.org/10.1126/science.180.4084.422</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McConville J, Laming PR (2007). DC electrical stimulation of the pretectal thalamus and its effects on the feeding behavior of the toad (Bufo bufo). Developmental Neurobiology 67(7):875–883. https://doi.org/10.1002/dneu.20390</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Ingle (1973), Fig. 1. A lesion-side tectal unit fires persistently to a moving and stopped object.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https://doi.org/10.1126/science.180.4084.422</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McConville &amp; Laming (2007), Fig. 3. Lpd electrodes.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https://doi.org/10.1002/dneu.20390</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p18: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53" name="Google Shape;253;p18: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Ingle quantified recovery after a 10-second pause relative to spike activity during a 60-second comparison interval. The **habituation ratio** expresses how much responsiveness remains after repeated stimulation and a short recovery period.</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Retinal class 1 and class 2 fibers generally had ratios between 25% and 80%. Normal tectal newness cells were below 25%, and most were below 10%. After pretectal lesions, tectal ratios shifted toward the retinal range, whereas retinal fibers did not acquire a corresponding lesion-dependent change.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retinal comparison argues against a purely peripheral explanation for the loss of tectal habituation. It supports central regulation of responsiveness, while leaving open the contributions of different pretectal connections and local tectal inhibitory circuitry.</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ratio is a measurement defined by the original experiment, not a direct measure of an inhibitory synaptic current. Retinal fibers retain repeated responsiveness in both conditions, while the normal additional suppression at the tectal level is weakened after the lesion.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anatomical comparison from McConville and Laming locates homologous regions in a common toad; it is not an anatomical reconstruction of the frog operated on by Ingle.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Ingle D (1973). Disinhibition of tectal neurons by pretectal lesions in the frog. Science 180(4084):422–424. https://doi.org/10.1126/science.180.4084.422</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McConville J, Laming PR (2007). DC electrical stimulation of the pretectal thalamus and its effects on the feeding behavior of the toad (Bufo bufo). Developmental Neurobiology 67(7):875–883. https://doi.org/10.1002/dneu.20390</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Ingle (1973), Fig. 2. Habituation-ratio distributions in retinal fibers and tectal cells.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https://doi.org/10.1126/science.180.4084.422</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McConville &amp; Laming (2007), Fig. 3. Lpd electrodes.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https://doi.org/10.1002/dneu.20390</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p19: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68" name="Google Shape;268;p19: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Laming and Ewert recorded tectal visual units while monitoring slower electrical signals in the same toad. Their **T5(2)** designation identifies units with prey-related configuration sensitivity; it is a physiological classification rather than a genetically labeled population.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They compared a 1.8° × 15° worm-like rectangle, a 15° × 1.8° antiworm and a 15° square moving at 22°/s. A knife cut disrupted ipsilateral pretectal and dorsal thalamic connections while the electrode remained in place, and recordings resumed after approximately 15–30 minutes.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Maintaining the unit provides a stronger comparison than replacing it with an unrelated post-lesion cell. Only preparations retaining suitable recordings support that comparison, and the knife cut still affects a regional set of connections.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Holding the recording position reduces uncertainty about whether a changed response is due to sampling a different unit. The stimulus dimensions separate configuration from mere visibility, while the post-cut waiting interval reduces immediate recording disturbance without making the lesion anatomically selective.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Laming PR, Ewert JP (1983). The effects of pretectal lesions on neuronal, sustained potential shift and electroencephalographic responses of the toad tectum to presentation of a visual stimulus. Comparative Biochemistry and Physiology Part A: Physiology 76(2):247–252. https://doi.org/10.1016/0300-9629(83)90322-5</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Laming &amp; Ewert (1983), Fig. 2(A–B). Unit, EEG and slow potentials before and after lesion.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https://doi.org/10.1016/0300-9629(83)90322-5</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Laming &amp; Ewert (1983), Fig. 1. Recording preparation.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https://doi.org/10.1016/0300-9629(83)90322-5</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p20: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83" name="Google Shape;283;p20: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 **spike recording** detects action potentials from a unit, whereas an **electroencephalogram**, or EEG, records aggregate electrical activity over a broader neuronal population. Laming and Ewert also measured a **sustained potential shift**, a slower change in extracellular voltage associated with visual stimulation.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Their simultaneous traces compare tectal spikes, tectal EEG bands and slow potentials before and after a pretectal lesion. The EEG included a 14–18 Hz band and a wider 0–50 Hz band, while slow shifts were recorded separately from the rapid unit response.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These signals depend on different spatial and temporal properties of electrical activity. A stronger single-unit discharge can coexist with a smaller population field; field amplitude cannot be read as the firing rate of every neuron in the region.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Extracellular voltage reflects currents distributed through tissue and depends on their geometry and coordination. Spikes count discrete events from a recorded unit. The simultaneous measurements therefore test related but distinct consequences of the same lesion and visual stimulus.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Laming PR, Ewert JP (1983). The effects of pretectal lesions on neuronal, sustained potential shift and electroencephalographic responses of the toad tectum to presentation of a visual stimulus. Comparative Biochemistry and Physiology Part A: Physiology 76(2):247–252. https://doi.org/10.1016/0300-9629(83)90322-5</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Laming &amp; Ewert (1983), Fig. 2(A–B). Unit, EEG and slow potentials before and after lesion.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https://doi.org/10.1016/0300-9629(83)90322-5</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Laming &amp; Ewert (1983), Fig. 3(A–C). Lesion sites (1 mm).</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https://doi.org/10.1016/0300-9629(83)90322-5</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p21: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98" name="Google Shape;298;p21: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In immobilized toads, Laming and Ewert compared responses of maintained T5(2) units before and after disruption of pretectal and dorsal thalamic connections. A worm-like rectangle moved at 22°/s through the unit’s visual receptive field.</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reported response frequency increased from approximately 16.1 to 39.4 spikes/s, and the response duration increased from approximately 0.96 to 1.54 seconds. Some fields expanded from approximately 20–25° to 40–60°. The lesion therefore changed both the strength and spatial extent of effective visual input.</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These measurements support removal of a restraining influence on tectal responsiveness. Because the toad was immobilized, the increases are not simply the consequence of additional prey-catching movements during the recording, but the precise inhibitory connection remains unresolved.</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Immobilization permits recording without the large movement artifacts of a freely moving animal. It also changes the behavioral preparation. Numerical changes obtained in that condition should not automatically be transferred to the firing rates of neurons during unrestricted prey capture.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Laming PR, Ewert JP (1983). The effects of pretectal lesions on neuronal, sustained potential shift and electroencephalographic responses of the toad tectum to presentation of a visual stimulus. Comparative Biochemistry and Physiology Part A: Physiology 76(2):247–252. https://doi.org/10.1016/0300-9629(83)90322-5</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Laming &amp; Ewert (1983), Fig. 2(A–B). Unit, EEG and slow potentials before and after lesion.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https://doi.org/10.1016/0300-9629(83)90322-5</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Laming &amp; Ewert (1983), Fig. 3(A–C). Lesion sites (1 mm).</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https://doi.org/10.1016/0300-9629(83)90322-5</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p22: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13" name="Google Shape;313;p22: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In the same immobilized preparations, pretectal lesions increased the frequency and duration of tectal unit responses but reduced the amplitude of sustained potential shifts and EEG responses. The measurements diverged despite being collected during the same kind of visual stimulation.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An extracellular population field depends on the location, timing and orientation of contributing currents. It is therefore possible for a recorded unit to produce more spikes while the aggregate voltage change becomes smaller. The wider 0–50 Hz EEG and the 14–18 Hz band provide population measurements rather than unit counts.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experiment rejects a simple equivalence between field amplitude and neuronal excitation. It does not independently establish which changes in synchrony, current geometry or ionic redistribution caused the reduced population signals.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 smaller field does not establish that every tectal neuron is less active. Conversely, the increased activity of the maintained unit does not establish that the entire population is more active in a coordinated way. The cellular and population responses must remain separate observations.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Laming PR, Ewert JP (1983). The effects of pretectal lesions on neuronal, sustained potential shift and electroencephalographic responses of the toad tectum to presentation of a visual stimulus. Comparative Biochemistry and Physiology Part A: Physiology 76(2):247–252. https://doi.org/10.1016/0300-9629(83)90322-5</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Laming &amp; Ewert (1983), Fig. 2(A–B). Unit, EEG and slow potentials before and after lesion.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https://doi.org/10.1016/0300-9629(83)90322-5</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Laming &amp; Ewert (1983), Fig. 3(A–C). Lesion sites (1 mm).</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https://doi.org/10.1016/0300-9629(83)90322-5</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 name="Shape 326"/>
        <p:cNvGrpSpPr/>
        <p:nvPr/>
      </p:nvGrpSpPr>
      <p:grpSpPr>
        <a:xfrm>
          <a:off x="0" y="0"/>
          <a:ext cx="0" cy="0"/>
          <a:chOff x="0" y="0"/>
          <a:chExt cx="0" cy="0"/>
        </a:xfrm>
      </p:grpSpPr>
      <p:sp>
        <p:nvSpPr>
          <p:cNvPr id="327" name="Google Shape;327;p23: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28" name="Google Shape;328;p23: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Laming and Ewert also used chronically mounted electrodes in freely moving toads. In animals whose lesions produced disinhibited prey-catching, they compared responses to worm-like and antiworm objects while behavior was available rather than prevented.</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Response duration increased from approximately 0.41 to 1.24 seconds for the worm-like stimulus and from approximately 0.51 to 1.51 seconds for the antiworm. In contrast to the immobilized preparation, the frequency of unit firing was not appreciably increased.</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common lesion effect was a longer period of responsiveness, while firing-rate effects depended on preparation. Sustained activity can therefore contribute to inappropriate catching without requiring the same increase in spikes/s reported in immobilized animals; correlation with movement alone does not prove a unit commands the response.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 longer response means that spikes remain available to downstream circuits for more time, even if the rate within that response is unchanged. The freely moving and immobilized conditions test different states of the animal, so their results are complementary rather than interchangeable.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Laming PR, Ewert JP (1983). The effects of pretectal lesions on neuronal, sustained potential shift and electroencephalographic responses of the toad tectum to presentation of a visual stimulus. Comparative Biochemistry and Physiology Part A: Physiology 76(2):247–252. https://doi.org/10.1016/0300-9629(83)90322-5</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Laming &amp; Ewert (1983), Fig. 2(A–B). Unit, EEG and slow potentials before and after lesion.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https://doi.org/10.1016/0300-9629(83)90322-5</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Laming &amp; Ewert (1983), Fig. 3(A–C). Lesion sites (1 mm).</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https://doi.org/10.1016/0300-9629(83)90322-5</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 name="Shape 341"/>
        <p:cNvGrpSpPr/>
        <p:nvPr/>
      </p:nvGrpSpPr>
      <p:grpSpPr>
        <a:xfrm>
          <a:off x="0" y="0"/>
          <a:ext cx="0" cy="0"/>
          <a:chOff x="0" y="0"/>
          <a:chExt cx="0" cy="0"/>
        </a:xfrm>
      </p:grpSpPr>
      <p:sp>
        <p:nvSpPr>
          <p:cNvPr id="342" name="Google Shape;342;p24: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43" name="Google Shape;343;p24: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In the freely moving toads that became disinhibited, the tectal units lost their previous distinction between worm-like and antiworm configurations. Both 1.8° × 15° and 15° × 1.8° objects could evoke extended activity after the lesion.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antiworm response duration increased to approximately 1.51 seconds, and the frequency of tectal EEG activity associated with antiworm presentation rose from approximately 15.2 to 18.8 Hz. Toads could orient or snap toward configurations that previously failed to release suitable prey-catching.</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neuronal and behavioral changes support a contribution of pretectal connections to selective response restriction. An increased EEG frequency is a population rhythm measurement, distinct from spikes/s, and it does not identify a particular inhibitory transmitter or direct pretectal synapse.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paper compared the two object configurations in a preparation where movements were recorded. The loss of discrimination is not equivalent to an increase in every measured electrical signal. The duration, EEG rhythm and amplitude have separate meanings and do not supply a complete causal chain on their own.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Laming PR, Ewert JP (1983). The effects of pretectal lesions on neuronal, sustained potential shift and electroencephalographic responses of the toad tectum to presentation of a visual stimulus. Comparative Biochemistry and Physiology Part A: Physiology 76(2):247–252. https://doi.org/10.1016/0300-9629(83)90322-5</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Laming &amp; Ewert (1983), Fig. 2(A–B). Unit, EEG and slow potentials before and after lesion.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https://doi.org/10.1016/0300-9629(83)90322-5</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Laming &amp; Ewert (1983), Fig. 3(A–C). Lesion sites (1 mm).</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https://doi.org/10.1016/0300-9629(83)90322-5</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6" name="Shape 356"/>
        <p:cNvGrpSpPr/>
        <p:nvPr/>
      </p:nvGrpSpPr>
      <p:grpSpPr>
        <a:xfrm>
          <a:off x="0" y="0"/>
          <a:ext cx="0" cy="0"/>
          <a:chOff x="0" y="0"/>
          <a:chExt cx="0" cy="0"/>
        </a:xfrm>
      </p:grpSpPr>
      <p:sp>
        <p:nvSpPr>
          <p:cNvPr id="357" name="Google Shape;357;p25: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58" name="Google Shape;358;p25: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Laming and Ewert reconstructed lesions from transverse sections and compared their positions with changes in visual responses. Lesions producing disinhibited catching lay near the relevant pretectal and dorsal thalamic connections, while other cuts could increase unit activity without the same behavioral syndrome.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More extreme lateral cuts increased firing by approximately 20–350% in some recordings but did not remove configuration selectivity. In freely moving animals, lesions closer to the midline could fail to cause the same motor disinhibition, despite altering the recording.</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**Excitability**, the tendency to produce spikes, and **selectivity**, the distinction between stimulus configurations, are different properties. A regional increase in responsiveness does not establish that a neuron has lost the filtering necessary to reject nonprey.</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anatomical comparison prevents reducing the experiment to a single statement that lesions increase activity. Different cuts can affect the response strength or the stimulus distinction differently. Behavioral disinhibition requires the appropriate pattern of changed input–output relationships, not merely more recorded spikes.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Laming PR, Ewert JP (1983). The effects of pretectal lesions on neuronal, sustained potential shift and electroencephalographic responses of the toad tectum to presentation of a visual stimulus. Comparative Biochemistry and Physiology Part A: Physiology 76(2):247–252. https://doi.org/10.1016/0300-9629(83)90322-5</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Laming &amp; Ewert (1983), Fig. 3(A–C). Lesion sites (1 mm).</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https://doi.org/10.1016/0300-9629(83)90322-5</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p26: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71" name="Google Shape;371;p26: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Schwippert and colleagues stimulated the contralateral **optic nerve**, the bundle carrying retinal axons to the brain, and recorded field potentials from nine sites over the dorsal tectal surface. The grid spans the tectal map with an original 1 mm anatomical calibration.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Short pulses of approximately 0.1 ms at currents up to 10 μA supplied a precisely timed input. Repeated optic-nerve stimulation at 0.8 Hz produced reproducible waveforms that could be compared with responses evoked by stimulating the pretectal Lpd/P region.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Bypassing the retinal image permits an analysis of input timing and interactions without changing object size or shape. Electrical activation does not reproduce a natural visual spike pattern, and a surface field potential reports population currents rather than one identified neuron’s membrane voltage.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 stimulus artifact is the electrical disturbance directly associated with the applied pulse. It must be distinguished from subsequent neural components. The nine-site grid allows the authors to compare where input effects are large, but it does not itself identify which cells generate the waveform.</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Schwippert WW, Beneke TW, Ewert JP (1995). Pretecto-tectal influences. II. How retinal and pretectal inputs to the toad’s superficial tectum interact: a study of electrically evoked field potentials. Journal of Comparative Physiology A 176(2):181–192. https://doi.org/10.1007/BF00239921</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Schwippert et al. (1995), Fig. 2. Optic-nerve stimulation and tectal recording grid with original 1 mm calibration.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https://doi.org/10.1007/BF00239921</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2" name="Shape 382"/>
        <p:cNvGrpSpPr/>
        <p:nvPr/>
      </p:nvGrpSpPr>
      <p:grpSpPr>
        <a:xfrm>
          <a:off x="0" y="0"/>
          <a:ext cx="0" cy="0"/>
          <a:chOff x="0" y="0"/>
          <a:chExt cx="0" cy="0"/>
        </a:xfrm>
      </p:grpSpPr>
      <p:sp>
        <p:nvSpPr>
          <p:cNvPr id="383" name="Google Shape;383;p27: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84" name="Google Shape;384;p27: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optic-nerve-evoked tectal field begins with a rapid presynaptic component, labeled PRE or P1 in the source recordings. **Presynaptic** denotes activity before transmission across a synapse; the later field waves reflect aggregate responses within the tectal layers.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Schwippert and colleagues distinguished the negative N1 wave and later positive and negative components. N1 began at approximately 11 ms and peaked around 18.7 ms; N2 began around 24 ms and peaked around 40.6 ms. Lower stimulus current could remove the later N2 component and merge positive components.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timing permits selective comparison of an early retinotectal response with later activity. These wave labels describe measured extracellular polarities and latencies; they are not names of receptor types, channels or single identified synaptic connections.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Negative and positive mean voltage relative to the recording reference. They do not mean that every cell is hyperpolarized or depolarized. The component separation is useful because conditioning can affect one part of the response while preserving others.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Schwippert WW, Beneke TW, Ewert JP (1995). Pretecto-tectal influences. II. How retinal and pretectal inputs to the toad’s superficial tectum interact: a study of electrically evoked field potentials. Journal of Comparative Physiology A 176(2):181–192. https://doi.org/10.1007/BF00239921</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Schwippert et al. (1995), Fig. 3(A–B). Stimulus strength alters components of optic-nerve-evoked tectal field potentials.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https://doi.org/10.1007/BF00239921</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5" name="Shape 395"/>
        <p:cNvGrpSpPr/>
        <p:nvPr/>
      </p:nvGrpSpPr>
      <p:grpSpPr>
        <a:xfrm>
          <a:off x="0" y="0"/>
          <a:ext cx="0" cy="0"/>
          <a:chOff x="0" y="0"/>
          <a:chExt cx="0" cy="0"/>
        </a:xfrm>
      </p:grpSpPr>
      <p:sp>
        <p:nvSpPr>
          <p:cNvPr id="396" name="Google Shape;396;p28: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97" name="Google Shape;397;p28: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Schwippert and colleagues compared field responses recorded at the tectal surface and at successive depths. The optic tectum is **laminated**, meaning that neural elements and their connections are organized in layers with different orientations and positions.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original records at approximately 200–400 μm below the surface differed in polarity from the surface waveform. Retinal axons terminate superficially, while tectal dendrites extend through the layered structure, so the electrode samples different arrangements of current sources and sinks.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 **current sink** is a region where extracellular current enters cells; a source is a region where it returns outward. The depth dependence prevents equating a negative extracellular wave directly with membrane inhibition, excitation or a particular ionic conductance without additional physiological evidence.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original depth series retains the reference position and scale. Changing the electrode depth changes the geometry of the currents that dominate the recording. The field’s sign is therefore an anatomical and electrical property of the population measurement, not a substitute for an intracellular voltage recording.</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same figure contains tubocurarine controls: optic-nerve responses remained qualitatively similar after immobilization. The control addresses the preparation, not the identity of a physiological inhibitory transmitter.</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Schwippert WW, Beneke TW, Ewert JP (1995). Pretecto-tectal influences. II. How retinal and pretectal inputs to the toad’s superficial tectum interact: a study of electrically evoked field potentials. Journal of Comparative Physiology A 176(2):181–192. https://doi.org/10.1007/BF00239921</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Schwippert et al. (1995), Fig. 1(A–B). Surface recordings after tubocurarine and recordings at successive tectal depths.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https://doi.org/10.1007/BF00239921</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8" name="Shape 408"/>
        <p:cNvGrpSpPr/>
        <p:nvPr/>
      </p:nvGrpSpPr>
      <p:grpSpPr>
        <a:xfrm>
          <a:off x="0" y="0"/>
          <a:ext cx="0" cy="0"/>
          <a:chOff x="0" y="0"/>
          <a:chExt cx="0" cy="0"/>
        </a:xfrm>
      </p:grpSpPr>
      <p:sp>
        <p:nvSpPr>
          <p:cNvPr id="409" name="Google Shape;409;p29: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10" name="Google Shape;410;p29: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authors stimulated the **Lpd/P region**, comprising lateral posterodorsal and posterior pretectal areas, on the same side as the recorded tectum. The electrode approached beneath the rostral tectal lobe and stimulated at approximately 400–700 μm depth; histological marking verified the site.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Ipsilateral stimulation produced a negative wave beginning around 8–10 ms and peaking near 20 ms, followed by a positive component peaking around 40–45 ms. The negative response was largest at rostral dorsomedial recording sites, including sites E and F.</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spatial distribution supports an organized pretectal influence on the tectal map. Activation of tissue near the marked site does not by itself distinguish a direct inhibitory projection from recruitment of an excitatory input that activates a tectal inhibitory relay.</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anatomical section identifies where the stimulation occurred, while the surface grid identifies where its effects were measured. The two positions are distinct. A negative population wave can accompany an inhibitory circuit effect because excitation of intermediary neurons may precede the final suppression.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Schwippert WW, Beneke TW, Ewert JP (1995). Pretecto-tectal influences. II. How retinal and pretectal inputs to the toad’s superficial tectum interact: a study of electrically evoked field potentials. Journal of Comparative Physiology A 176(2):181–192. https://doi.org/10.1007/BF00239921</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Schwippert et al. (1995), Fig. 4. Ipsilateral pretectal stimulation and regional tectal field responses.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https://doi.org/10.1007/BF00239921</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1" name="Shape 421"/>
        <p:cNvGrpSpPr/>
        <p:nvPr/>
      </p:nvGrpSpPr>
      <p:grpSpPr>
        <a:xfrm>
          <a:off x="0" y="0"/>
          <a:ext cx="0" cy="0"/>
          <a:chOff x="0" y="0"/>
          <a:chExt cx="0" cy="0"/>
        </a:xfrm>
      </p:grpSpPr>
      <p:sp>
        <p:nvSpPr>
          <p:cNvPr id="422" name="Google Shape;422;p30: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23" name="Google Shape;423;p30: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Schwippert and colleagues stimulated the pretectal Lpd/P region contralateral to the recorded tectum and compared the resulting waveform with ipsilateral stimulation. The same tectal grid allowed side-dependent input effects to be measured across corresponding locations.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Contralateral stimulation produced a small early component around 5–7 ms and a predominantly positive wave beginning around 14–16 ms and peaking approximately 35–45 ms. The conspicuous negative wave produced by ipsilateral pretectal stimulation was not a comparable feature of this response.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side-dependent difference is consistent with different routes or local circuit recruitment by the two inputs. Extracellular polarity alone cannot establish a particular inhibitory receptor, prove that no excitatory cells are involved, or identify a single commissural connection as the entire pathway.</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two stimulation conditions differ in anatomical side while the recording is made from the same tectal surface. Comparing them tests lateral organization. Similar broad anatomical regions can influence the tectum through physiologically different sequences of activity.</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Schwippert WW, Beneke TW, Ewert JP (1995). Pretecto-tectal influences. II. How retinal and pretectal inputs to the toad’s superficial tectum interact: a study of electrically evoked field potentials. Journal of Comparative Physiology A 176(2):181–192. https://doi.org/10.1007/BF00239921</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Schwippert et al. (1995), Fig. 5. Contralateral pretectal stimulation evokes a predominantly positive tectal wave.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https://doi.org/10.1007/BF00239921</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4" name="Shape 434"/>
        <p:cNvGrpSpPr/>
        <p:nvPr/>
      </p:nvGrpSpPr>
      <p:grpSpPr>
        <a:xfrm>
          <a:off x="0" y="0"/>
          <a:ext cx="0" cy="0"/>
          <a:chOff x="0" y="0"/>
          <a:chExt cx="0" cy="0"/>
        </a:xfrm>
      </p:grpSpPr>
      <p:sp>
        <p:nvSpPr>
          <p:cNvPr id="435" name="Google Shape;435;p31: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36" name="Google Shape;436;p31: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paired-stimulation experiment delivered a pretectal Lpd/P pulse before an optic-nerve pulse. **Conditioning** is the earlier input whose effect on the later test response is measured; the interval between pulses controls when the pathways can interact.</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When the pretectal input preceded the optic-nerve input by approximately 17–25 ms, the early negative N1 component was strongly attenuated or nearly absent. At longer intervals of about 30–100 ms, the same strong reduction was not evident. Some later components remained comparatively preserved.</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narrow effective interval supports a timed neural interaction rather than a permanent loss of retinal input. It does not mean that visual avoidance starts exactly 20 ms after a predator appears or that a single inhibitory synapse accounts for the population effect.</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delay is imposed between two electrical pulses, not measured from the appearance of a natural object. The response remains after sufficiently long delays, making the time-dependent suppression different from cutting the optic nerve or permanently silencing the tectum.</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Schwippert WW, Beneke TW, Ewert JP (1995). Pretecto-tectal influences. II. How retinal and pretectal inputs to the toad’s superficial tectum interact: a study of electrically evoked field potentials. Journal of Comparative Physiology A 176(2):181–192. https://doi.org/10.1007/BF00239921</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Schwippert et al. (1995), Fig. 6. Paired pretectal and optic-nerve stimuli separated by 10–100 ms.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https://doi.org/10.1007/BF00239921</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Schwippert et al. (1995), Fig. 4 (histology). Marked Lpd site (250 μm).</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https://doi.org/10.1007/BF00239921</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9" name="Shape 449"/>
        <p:cNvGrpSpPr/>
        <p:nvPr/>
      </p:nvGrpSpPr>
      <p:grpSpPr>
        <a:xfrm>
          <a:off x="0" y="0"/>
          <a:ext cx="0" cy="0"/>
          <a:chOff x="0" y="0"/>
          <a:chExt cx="0" cy="0"/>
        </a:xfrm>
      </p:grpSpPr>
      <p:sp>
        <p:nvSpPr>
          <p:cNvPr id="450" name="Google Shape;450;p32: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51" name="Google Shape;451;p32: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Schwippert and colleagues varied optic-nerve stimulus strength while changing the delay after pretectal stimulation. Weak and stronger test inputs recruited different combinations of early and later components, permitting the effect to be evaluated beyond a single waveform amplitude.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At effective delays near 20–25 ms, the early negative component was attenuated. With stronger optic-nerve stimulation, effects on the later negative component were also evident, while positive components could remain relatively unaffected. The original delay plots retain the timings and component-specific measurements.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interaction therefore depends on both the timing and the recruited input population. Selective attenuation supports circuit regulation rather than uniform elimination of all tectal activity, but the recordings cannot assign each component to one chemically identified neuron class.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 stronger nerve stimulus can recruit additional axons and response components. Its effect is not equivalent to simply making a natural prey object larger. The component-dependent changes constrain possible mechanisms without providing a receptor-level explanation.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Rows c in the original figure are the authors’ theoretical summation comparison, whereas rows a and b contain experimental response comparisons. The theoretical rows are not additional measured biological responses.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Schwippert WW, Beneke TW, Ewert JP (1995). Pretecto-tectal influences. II. How retinal and pretectal inputs to the toad’s superficial tectum interact: a study of electrically evoked field potentials. Journal of Comparative Physiology A 176(2):181–192. https://doi.org/10.1007/BF00239921</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Schwippert et al. (1995), Fig. 7(A–B). Delay effects at two input strengths; rows c are the authors’ theoretical summation comparison.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https://doi.org/10.1007/BF00239921</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Schwippert et al. (1995), Fig. 4 (histology). Marked Lpd site (250 μm).</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https://doi.org/10.1007/BF00239921</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4" name="Shape 464"/>
        <p:cNvGrpSpPr/>
        <p:nvPr/>
      </p:nvGrpSpPr>
      <p:grpSpPr>
        <a:xfrm>
          <a:off x="0" y="0"/>
          <a:ext cx="0" cy="0"/>
          <a:chOff x="0" y="0"/>
          <a:chExt cx="0" cy="0"/>
        </a:xfrm>
      </p:grpSpPr>
      <p:sp>
        <p:nvSpPr>
          <p:cNvPr id="465" name="Google Shape;465;p33: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66" name="Google Shape;466;p33: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authors established a steady tectal field response with optic-nerve stimulation at 0.8 Hz, then moved a large black object across the corresponding visual input between electrical test pulses. The retinal image was therefore present as a conditioner rather than as the electrically timed test signal.</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subsequent negative N1 and N2 components were reduced, and suppression could persist after the visual stimulation. A brief train of pretectal pulses at 10 Hz for approximately 1 second produced a comparable attenuation of negative components.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visual effect links the electrical interaction to a natural route of sensory activation. A large moving object can recruit several retinal and central pathways, so similar field suppression does not prove that visual and electrical conditioning use exactly the same cells.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comparison preserves the optic-nerve test pulse and changes the intervening conditioner. It is evidence that sensory stimulation can influence the same measured response components, rather than evidence that the visual object generates the same spike pattern as the pretectal electrode.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Schwippert WW, Beneke TW, Ewert JP (1995). Pretecto-tectal influences. II. How retinal and pretectal inputs to the toad’s superficial tectum interact: a study of electrically evoked field potentials. Journal of Comparative Physiology A 176(2):181–192. https://doi.org/10.1007/BF00239921</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Schwippert et al. (1995), Fig. 8(A–B). Visual and pretectal conditioning attenuate optic-nerve-evoked tectal responses.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https://doi.org/10.1007/BF00239921</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Schwippert et al. (1995), Fig. 4 (histology). Marked Lpd site (250 μm).</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https://doi.org/10.1007/BF00239921</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9" name="Shape 479"/>
        <p:cNvGrpSpPr/>
        <p:nvPr/>
      </p:nvGrpSpPr>
      <p:grpSpPr>
        <a:xfrm>
          <a:off x="0" y="0"/>
          <a:ext cx="0" cy="0"/>
          <a:chOff x="0" y="0"/>
          <a:chExt cx="0" cy="0"/>
        </a:xfrm>
      </p:grpSpPr>
      <p:sp>
        <p:nvSpPr>
          <p:cNvPr id="480" name="Google Shape;480;p34: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81" name="Google Shape;481;p34: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**Adaptation** is a change in responsiveness caused by preceding activity. An alternative explanation for paired-input suppression was that the first pulse simply exhausted the same excitable pathway later recruited by the optic-nerve test pulse.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Schwippert and colleagues alternated optic-nerve and pretectal stimulation at 4 Hz, equivalent to a 125 ms separation. Their responses changed differently with repetition. Two optic-nerve pulses separated by 20 ms did not produce the same obvious attenuation of N1 in the second field response as the effective pretectal conditioning pulse.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controls weaken a simple shared-pathway adaptation explanation and the possibility that pretectal current merely spreads to the adjacent optic tract. They support a pathway-specific interaction without excluding every possible form of network adaptation.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An adaptation hypothesis predicts consequences of repeating the test input itself. The paired optic-nerve control tests that prediction at the effective short interval. A failed simple adaptation account does not establish the identity of the inhibitory relay or the final receptor mechanism.</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Schwippert WW, Beneke TW, Ewert JP (1995). Pretecto-tectal influences. II. How retinal and pretectal inputs to the toad’s superficial tectum interact: a study of electrically evoked field potentials. Journal of Comparative Physiology A 176(2):181–192. https://doi.org/10.1007/BF00239921</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Schwippert et al. (1995), Fig. 9(A–B). Repetition and paired optic-nerve controls test an adaptation explanation.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https://doi.org/10.1007/BF00239921</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Schwippert et al. (1995), Fig. 4 (histology). Marked Lpd site (250 μm).</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https://doi.org/10.1007/BF00239921</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4" name="Shape 494"/>
        <p:cNvGrpSpPr/>
        <p:nvPr/>
      </p:nvGrpSpPr>
      <p:grpSpPr>
        <a:xfrm>
          <a:off x="0" y="0"/>
          <a:ext cx="0" cy="0"/>
          <a:chOff x="0" y="0"/>
          <a:chExt cx="0" cy="0"/>
        </a:xfrm>
      </p:grpSpPr>
      <p:sp>
        <p:nvSpPr>
          <p:cNvPr id="495" name="Google Shape;495;p35: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96" name="Google Shape;496;p35: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Pretectal stimulation reduced a later retinally evoked tectal field component, but ipsilateral pretectal stimulation alone also produced a negative wave. Schwippert and colleagues considered multiple circuit arrangements compatible with this combination of recorded effects.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An excitatory pretectal input could recruit an inhibitory tectal interneuron, a neuron connecting cells within a local circuit. Alternatively, regulation could occur at retinal terminals through **presynaptic inhibition**, a reduction of transmission before the postsynaptic target receives its input. The paired effect is strongest at approximately 17–25 ms.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population recordings support an inhibitory influence at the network level. They do not distinguish every synaptic step, establish which interneuron releases a transmitter, or directly measure an identified receptor-mediated inhibitory current.</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 pathway can have an excitatory first synapse and an inhibitory net effect. Direct pretectal inhibition, recruitment of local inhibition and regulation of retinal transmitter release are different mechanistic claims. The waveform alone is insufficient to choose conclusively among them.</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Schwippert WW, Beneke TW, Ewert JP (1995). Pretecto-tectal influences. II. How retinal and pretectal inputs to the toad’s superficial tectum interact: a study of electrically evoked field potentials. Journal of Comparative Physiology A 176(2):181–192. https://doi.org/10.1007/BF00239921</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Schwippert et al. (1995), Fig. 4. Ipsilateral pretectal stimulation and regional tectal field responses.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https://doi.org/10.1007/BF00239921</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7" name="Shape 507"/>
        <p:cNvGrpSpPr/>
        <p:nvPr/>
      </p:nvGrpSpPr>
      <p:grpSpPr>
        <a:xfrm>
          <a:off x="0" y="0"/>
          <a:ext cx="0" cy="0"/>
          <a:chOff x="0" y="0"/>
          <a:chExt cx="0" cy="0"/>
        </a:xfrm>
      </p:grpSpPr>
      <p:sp>
        <p:nvSpPr>
          <p:cNvPr id="508" name="Google Shape;508;p36: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09" name="Google Shape;509;p36: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**Neuropeptide Y**, or NPY, is a peptide signaling molecule investigated as a possible contributor to pretectal regulation. Schwippert and Ewert applied synthetic NPY locally to the superficial tectum of cane toads while measuring the field evoked by optic-nerve pulses at 0.8 Hz.</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 solution at 10⁻⁴ mol/L, equivalent to 100 μM, was delivered by a micropipette near the recording site. Within approximately 5–10 minutes, the negative field component fell to about 24% of its initial amplitude. The initial and later positive components were affected much less.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Local NPY is therefore sufficient to attenuate a measured retinotectal population response under these conditions. Its effect does not establish that endogenous NPY is necessary for prey rejection or that a physiological release event reaches the applied concentration.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 peptide application is a pharmacological intervention, not a recording of natural peptide release. The spatially local delivery and component-specific effect connect NPY to tectal input regulation, while the relatively high applied concentration limits direct inference about its normal extracellular level.</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Schwippert WW, Ewert JP (1995). Effect of neuropeptide-Y on tectal field potentials in the toad. Brain Research 669(1):150–152. https://doi.org/10.1016/0006-8993(94)01260-O</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Schwippert &amp; Ewert (1995), Fig. 2. NPY application reduces the negative tectal wave and partial recovery follows removal.</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https://doi.org/10.1016/0006-8993(94)01260-O</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Schwippert &amp; Ewert (1995), Fig. 1(A). Stimulation and recording sites.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https://doi.org/10.1016/0006-8993(94)01260-O</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2" name="Shape 522"/>
        <p:cNvGrpSpPr/>
        <p:nvPr/>
      </p:nvGrpSpPr>
      <p:grpSpPr>
        <a:xfrm>
          <a:off x="0" y="0"/>
          <a:ext cx="0" cy="0"/>
          <a:chOff x="0" y="0"/>
          <a:chExt cx="0" cy="0"/>
        </a:xfrm>
      </p:grpSpPr>
      <p:sp>
        <p:nvSpPr>
          <p:cNvPr id="523" name="Google Shape;523;p37: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24" name="Google Shape;524;p37: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Schwippert and Ewert compared NPY delivery with delivery of Frog-Ringer solution alone. The **vehicle** is the solution carrying a drug or peptide; a vehicle control tests whether fluid application or the carrier produces the measured effect independently of the active substance.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Ringer solution did not produce the same strong attenuation of the negative wave. After removal of the NPY pipette, the response recovered to approximately 65% of its original amplitude over about 30 minutes. Recovery was substantial but incomplete over the reported interval.</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comparisons support a reversible peptide-dependent effect rather than irreversible destruction of the retinal input. They do not identify a receptor subtype, measure peptide clearance directly, or establish that the partial recovery corresponds to a normal behavioral recovery process.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vehicle condition separates application of liquid from application of NPY. The recovery measurement supports reversibility, but a return to 65% is not a complete return to baseline. No claim that the toad’s prey-catching behavior recovered accompanies this field-potential experiment.</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Schwippert WW, Ewert JP (1995). Effect of neuropeptide-Y on tectal field potentials in the toad. Brain Research 669(1):150–152. https://doi.org/10.1016/0006-8993(94)01260-O</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Schwippert &amp; Ewert (1995), Fig. 2. NPY application reduces the negative tectal wave and partial recovery follows removal.</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https://doi.org/10.1016/0006-8993(94)01260-O</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Schwippert &amp; Ewert (1995), Fig. 1(A). Stimulation and recording sites.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https://doi.org/10.1016/0006-8993(94)01260-O</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7" name="Shape 537"/>
        <p:cNvGrpSpPr/>
        <p:nvPr/>
      </p:nvGrpSpPr>
      <p:grpSpPr>
        <a:xfrm>
          <a:off x="0" y="0"/>
          <a:ext cx="0" cy="0"/>
          <a:chOff x="0" y="0"/>
          <a:chExt cx="0" cy="0"/>
        </a:xfrm>
      </p:grpSpPr>
      <p:sp>
        <p:nvSpPr>
          <p:cNvPr id="538" name="Google Shape;538;p38: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39" name="Google Shape;539;p38: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Electrical pretectal conditioning attenuated the negative retinally evoked field at a pulse separation around 20–25 ms, whereas locally applied NPY required approximately 5–10 minutes for strong attenuation. The two interventions probe related response components on very different experimental timescales.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NPY pipette was positioned approximately 200–300 μm from the recording site, so diffusion and delivery through tissue contribute to the application delay. That delay is not a measurement of how fast a pretectal neuron releases endogenous peptide during a visual encounter.</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Similarity of the affected component supports a possible relation between peptide modulation and pretectal regulation. Different delivery conditions prevent equating the pharmacological time course with the latency of a naturally occurring synaptic inhibitory event.</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 bath or pipette application introduces transport through tissue before receptors are reached. A pulse delivered inside a pathway has a different starting point. Comparing their outcomes is informative, but assigning the millisecond conditioning effect to the minute-scale application curve would exceed the experiment.</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Schwippert WW, Ewert JP (1995). Effect of neuropeptide-Y on tectal field potentials in the toad. Brain Research 669(1):150–152. https://doi.org/10.1016/0006-8993(94)01260-O</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Schwippert WW, Beneke TW, Ewert JP (1995). Pretecto-tectal influences. II. How retinal and pretectal inputs to the toad’s superficial tectum interact: a study of electrically evoked field potentials. Journal of Comparative Physiology A 176(2):181–192. https://doi.org/10.1007/BF00239921</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Schwippert &amp; Ewert (1995), Fig. 1(A–B). Pretectal stimulation arrangement and delay-dependent suppression of the negative wave.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https://doi.org/10.1016/0006-8993(94)01260-O</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0" name="Shape 550"/>
        <p:cNvGrpSpPr/>
        <p:nvPr/>
      </p:nvGrpSpPr>
      <p:grpSpPr>
        <a:xfrm>
          <a:off x="0" y="0"/>
          <a:ext cx="0" cy="0"/>
          <a:chOff x="0" y="0"/>
          <a:chExt cx="0" cy="0"/>
        </a:xfrm>
      </p:grpSpPr>
      <p:sp>
        <p:nvSpPr>
          <p:cNvPr id="551" name="Google Shape;551;p39: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52" name="Google Shape;552;p39: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Schwippert and Ewert related their NPY effect to published anatomical evidence for NPY-containing pretectal projections and superficial tectal fibers near retinal terminals. This distribution is compatible with a peptide influence on incoming visual transmission.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They proposed that NPY might reduce excitation at retinal terminals, a form of presynaptic inhibition. The measured result remains a reduction of the negative field to approximately 24% after local peptide application; no individual retinal terminal or postsynaptic cell was recorded intracellularly in this test.</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study did not establish a particular NPY receptor subtype, demonstrate endogenous peptide release during avoidance, or block an identified ion channel to test its necessity. A candidate transmitter and a demonstrated complete synaptic mechanism are different levels of explanation.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Receptor and channel specificity would require interventions that distinguish those molecular steps. Anatomical proximity and a similar population-field effect make a proposed mechanism plausible, but neither substitutes for measuring the relevant synaptic current or selectively preventing natural signaling.</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Schwippert WW, Ewert JP (1995). Effect of neuropeptide-Y on tectal field potentials in the toad. Brain Research 669(1):150–152. https://doi.org/10.1016/0006-8993(94)01260-O</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Schwippert &amp; Ewert (1995), Fig. 2. NPY application reduces the negative tectal wave and partial recovery follows removal.</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https://doi.org/10.1016/0006-8993(94)01260-O</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Schwippert &amp; Ewert (1995), Fig. 1(A). Stimulation and recording sites.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https://doi.org/10.1016/0006-8993(94)01260-O</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5" name="Shape 565"/>
        <p:cNvGrpSpPr/>
        <p:nvPr/>
      </p:nvGrpSpPr>
      <p:grpSpPr>
        <a:xfrm>
          <a:off x="0" y="0"/>
          <a:ext cx="0" cy="0"/>
          <a:chOff x="0" y="0"/>
          <a:chExt cx="0" cy="0"/>
        </a:xfrm>
      </p:grpSpPr>
      <p:sp>
        <p:nvSpPr>
          <p:cNvPr id="566" name="Google Shape;566;p40: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67" name="Google Shape;567;p40: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McConville and Laming applied **direct current**, or DC, a sustained electrical current, over the pretectal region while adult common toads viewed a moving prey-like object. The positive electrode contacted the right surface over the lateral posterodorsal nucleus, or Lpd.</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 black cardboard object 3 cm long and 0.75 cm wide moved at approximately 2 cm/s around a viewing window. Both clockwise and anticlockwise movement were tested, providing opposite directions of visual motion while retaining the same physical object and chamber.</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experiment tested whether stimulation could bias an intact behaving animal away from prey approach and toward defensive actions. Surface current is not selective for one neuron class, and changes in behavior cannot alone establish whether a particular pretectal cell population increased its firing.</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stimulus dimensions here are physical lengths, unlike the angular dimensions used in several earlier experiments. They should not be converted into retinal angles without the required viewing geometry. The original apparatus and electrode placement define the behavioral preparation.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DC applications lasted 10 seconds; visual presentation began about 2 seconds after current onset, and trials were separated by 5 minutes. Most combinations were randomized, but zero current was always first and 300 μA last, leaving an order limitation at the endpoints.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McConville J, Laming PR (2007). DC electrical stimulation of the pretectal thalamus and its effects on the feeding behavior of the toad (Bufo bufo). Developmental Neurobiology 67(7):875–883. https://doi.org/10.1002/dneu.20390</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McConville &amp; Laming (2007), Fig. 1. Original colored behavioral chamber for visual and electrical stimulation.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https://doi.org/10.1002/dneu.20390</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McConville &amp; Laming (2007), Fig. 3. Lpd electrodes.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https://doi.org/10.1002/dneu.20390</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0" name="Shape 580"/>
        <p:cNvGrpSpPr/>
        <p:nvPr/>
      </p:nvGrpSpPr>
      <p:grpSpPr>
        <a:xfrm>
          <a:off x="0" y="0"/>
          <a:ext cx="0" cy="0"/>
          <a:chOff x="0" y="0"/>
          <a:chExt cx="0" cy="0"/>
        </a:xfrm>
      </p:grpSpPr>
      <p:sp>
        <p:nvSpPr>
          <p:cNvPr id="581" name="Google Shape;581;p41: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82" name="Google Shape;582;p41: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**approach** component of prey-catching was scored as forward movement toward the moving worm-like stimulus. McConville and Laming counted its occurrence while varying pretectal DC current and presenting the same 3 cm × 0.75 cm visual object.</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Approach generally declined as current increased, with very low occurrence through much of the higher-current range. At 300 μA there was a small increase relative to the preceding high-current conditions. The published original color bars retain both directions of stimulus movement.</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overall reduction is consistent with a pretectal influence that restrains feeding-related actions. The nonmonotonic endpoint prevents describing the relation as a perfectly graded suppression, and an approach movement by itself does not establish the animal’s recognition of the object as edible.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authors considered that movement at the highest current might accompany a defensive stance rather than ordinary feeding. That interpretation was proposed, not confirmed by a direct readout of stimulus identity. The measured variable is the observed approach component.</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McConville J, Laming PR (2007). DC electrical stimulation of the pretectal thalamus and its effects on the feeding behavior of the toad (Bufo bufo). Developmental Neurobiology 67(7):875–883. https://doi.org/10.1002/dneu.20390</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McConville &amp; Laming (2007), Fig. 5. Approach responses generally decline as DC current increases.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https://doi.org/10.1002/dneu.20390</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McConville &amp; Laming (2007), Fig. 3. Lpd electrodes.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https://doi.org/10.1002/dneu.20390</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5" name="Shape 595"/>
        <p:cNvGrpSpPr/>
        <p:nvPr/>
      </p:nvGrpSpPr>
      <p:grpSpPr>
        <a:xfrm>
          <a:off x="0" y="0"/>
          <a:ext cx="0" cy="0"/>
          <a:chOff x="0" y="0"/>
          <a:chExt cx="0" cy="0"/>
        </a:xfrm>
      </p:grpSpPr>
      <p:sp>
        <p:nvSpPr>
          <p:cNvPr id="596" name="Google Shape;596;p42: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97" name="Google Shape;597;p42: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McConville and Laming distinguished **arousal**, extension of the head and forelimbs, from approach, retreat and crouching. These components separate detection-related activation from the particular direction of the animal’s subsequent movement.</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Across the 0–300 μA DC range, arousal was relatively constant, although reductions occurred at 0.1 and 50 μA. Approach was reduced much more broadly as current increased. The animal could therefore remain behaviorally responsive while its prey-directed movement declined.</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dissociation argues against treating reduced approach as complete visual unresponsiveness or generalized paralysis. It does not prove that sensation was unchanged in every respect, and it does not establish whether current altered perception, action selection, motivation or several processes together.</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Arousal and approach were scored separately in the same behavioral framework. A toad lifting its head or forelimbs can respond to the event without walking toward the object. Preserved arousal constrains the interpretation of reduced feeding behavior, but it is not a complete measure of visual perception.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McConville J, Laming PR (2007). DC electrical stimulation of the pretectal thalamus and its effects on the feeding behavior of the toad (Bufo bufo). Developmental Neurobiology 67(7):875–883. https://doi.org/10.1002/dneu.20390</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McConville &amp; Laming (2007), Fig. 4. Arousal remains relatively constant across the DC current range.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https://doi.org/10.1002/dneu.20390</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McConville &amp; Laming (2007), Fig. 3. Lpd electrodes.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https://doi.org/10.1002/dneu.20390</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0" name="Shape 610"/>
        <p:cNvGrpSpPr/>
        <p:nvPr/>
      </p:nvGrpSpPr>
      <p:grpSpPr>
        <a:xfrm>
          <a:off x="0" y="0"/>
          <a:ext cx="0" cy="0"/>
          <a:chOff x="0" y="0"/>
          <a:chExt cx="0" cy="0"/>
        </a:xfrm>
      </p:grpSpPr>
      <p:sp>
        <p:nvSpPr>
          <p:cNvPr id="611" name="Google Shape;611;p43: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12" name="Google Shape;612;p43: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**Retreat** was scored as backward movement away from the worm-like stimulus. McConville and Laming presented that same prey-like object during each DC condition, allowing a defensive action to emerge without substituting a larger predator-shaped visual cue.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Retreat was not observed at currents below 100 μA in the reported experiment. It appeared at 100 μA and increased at 300 μA, in the same range where prey-related approach was generally reduced. Both directions of object movement were represented in the source data.</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result supports a stimulation-dependent change in the action released by a constant visual stimulus. It does not show that the toad recognized an actual predator, and the current threshold should not be treated as a natural pretectal firing threshold.</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apparent switch is a change in observed movement toward the same cue. Electrical stimulation can bias that selection without changing the object. A behavioral response compatible with defense does not identify the internal perceptual category or the individual neurons carrying the decision.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McConville J, Laming PR (2007). DC electrical stimulation of the pretectal thalamus and its effects on the feeding behavior of the toad (Bufo bufo). Developmental Neurobiology 67(7):875–883. https://doi.org/10.1002/dneu.20390</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McConville &amp; Laming (2007), Fig. 6. Retreat occurs at 100 and 300 μA, with both directions of visual motion.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https://doi.org/10.1002/dneu.20390</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McConville &amp; Laming (2007), Fig. 3. Lpd electrodes.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https://doi.org/10.1002/dneu.20390</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5" name="Shape 625"/>
        <p:cNvGrpSpPr/>
        <p:nvPr/>
      </p:nvGrpSpPr>
      <p:grpSpPr>
        <a:xfrm>
          <a:off x="0" y="0"/>
          <a:ext cx="0" cy="0"/>
          <a:chOff x="0" y="0"/>
          <a:chExt cx="0" cy="0"/>
        </a:xfrm>
      </p:grpSpPr>
      <p:sp>
        <p:nvSpPr>
          <p:cNvPr id="626" name="Google Shape;626;p44: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27" name="Google Shape;627;p44: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**Crouching** was scored as lowering the head and shoulders rather than advancing toward the object. This posture is a defensive component distinct from retreat, which changes the animal’s position by moving backward.</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McConville and Laming reported no crouching below 100 μA, followed by crouch responses at 100 and 300 μA. The same moving worm-like object was present, and high-current stimulation increased both this postural response and retreat while generally reducing approach.</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coordinated behavioral changes support a shift toward defensive responding rather than a simple uniform reduction of all movement. They do not establish that the pretectal Lpd region contains a single command neuron for crouching or that current selectively activated a naturally defined predator pathway.</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 posture and a translational movement are different motor outputs. Their emergence in the same current range makes a defensive interpretation of the behavioral change more plausible than interpreting reduced approach alone. The surface stimulation remains broader than a cell-specific causal manipulation.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McConville J, Laming PR (2007). DC electrical stimulation of the pretectal thalamus and its effects on the feeding behavior of the toad (Bufo bufo). Developmental Neurobiology 67(7):875–883. https://doi.org/10.1002/dneu.20390</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McConville &amp; Laming (2007), Fig. 7. Crouch responses emerge at high DC currents.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https://doi.org/10.1002/dneu.20390</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McConville &amp; Laming (2007), Fig. 3. Lpd electrodes.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https://doi.org/10.1002/dneu.20390</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0" name="Shape 640"/>
        <p:cNvGrpSpPr/>
        <p:nvPr/>
      </p:nvGrpSpPr>
      <p:grpSpPr>
        <a:xfrm>
          <a:off x="0" y="0"/>
          <a:ext cx="0" cy="0"/>
          <a:chOff x="0" y="0"/>
          <a:chExt cx="0" cy="0"/>
        </a:xfrm>
      </p:grpSpPr>
      <p:sp>
        <p:nvSpPr>
          <p:cNvPr id="641" name="Google Shape;641;p45: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42" name="Google Shape;642;p45: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McConville and Laming proposed that DC stimulation could generate slow potential shifts associated with redistribution of potassium ions. **Glia** are non-neuronal cells that regulate the environment around neurons; their discussion emphasized radial glial processes in amphibian tissue.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Increasing extracellular potassium can bring neuronal membrane voltage closer to spike threshold and thereby increase excitability. The authors suggested that such modulation might prime pretectal nonprey-responsive cells and increase restraint of tectal feeding-related activity. Their behavioral effect included crouching only at currents of 100 μA and above.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experiment did not directly measure potassium redistribution, glial currents, TH3-cell firing or a particular potassium channel. The ion-based account is an explanatory hypothesis for a measured behavioral change, rather than an established molecular sequence for predator avoidance.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TH3 is a physiological designation for pretectal cells responsive to large moving or nonprey configurations, as discussed in the paper’s background. The DC behavioral experiment did not record those cells. No channel name or receptor subtype can be inferred simply from the observed current-dependent behavior.</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McConville J, Laming PR (2007). DC electrical stimulation of the pretectal thalamus and its effects on the feeding behavior of the toad (Bufo bufo). Developmental Neurobiology 67(7):875–883. https://doi.org/10.1002/dneu.20390</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McConville &amp; Laming (2007), Fig. 7. Crouch responses emerge at high DC currents.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https://doi.org/10.1002/dneu.20390</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McConville &amp; Laming (2007), Fig. 3. Lpd electrodes.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https://doi.org/10.1002/dneu.20390</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5" name="Shape 655"/>
        <p:cNvGrpSpPr/>
        <p:nvPr/>
      </p:nvGrpSpPr>
      <p:grpSpPr>
        <a:xfrm>
          <a:off x="0" y="0"/>
          <a:ext cx="0" cy="0"/>
          <a:chOff x="0" y="0"/>
          <a:chExt cx="0" cy="0"/>
        </a:xfrm>
      </p:grpSpPr>
      <p:sp>
        <p:nvSpPr>
          <p:cNvPr id="656" name="Google Shape;656;p46: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57" name="Google Shape;657;p46: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Pretectal restraint. Effective pretectal and caudal thalamic damage releases catching toward large or unsuitable objects; preserved snapping separates this effect from loss of the motor capacity.</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Selectivity and excitability. Configuration filtering and response strength are distinct: some cuts increase firing without eliminating the worm–antiworm distinction.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Timed input interaction. Pretectal conditioning strongly attenuates an early optic-nerve-evoked tectal component at a lead of approximately 17–25 ms; adaptation controls support a pathway-specific effect.</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Distinct electrical measurements. Unit spikes, EEG and slow extracellular potentials measure different activity; more firing can coexist with a smaller population field.</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NPY evidence. Local NPY reduces the negative tectal field component, but receptor identity, endogenous release and necessity for avoidance were not established by the application experiment.</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Behavioral bias and molecular limits. High pretectal DC recruits retreat and crouching while generally reducing approach; glial potassium modulation remains a proposed explanation rather than a measured pathway.</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Ewert JP (1970). Neural mechanisms of prey-catching and avoidance behavior in the toad (Bufo bufo L.). Brain, Behavior and Evolution 3(1–4):36–56. https://doi.org/10.1159/000125462</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Ingle D (1973). Disinhibition of tectal neurons by pretectal lesions in the frog. Science 180(4084):422–424. https://doi.org/10.1126/science.180.4084.422</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Laming PR, Ewert JP (1983). The effects of pretectal lesions on neuronal, sustained potential shift and electroencephalographic responses of the toad tectum to presentation of a visual stimulus. Comparative Biochemistry and Physiology Part A: Physiology 76(2):247–252. https://doi.org/10.1016/0300-9629(83)90322-5</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Schwippert WW, Beneke TW, Ewert JP (1995). Pretecto-tectal influences. II. How retinal and pretectal inputs to the toad’s superficial tectum interact: a study of electrically evoked field potentials. Journal of Comparative Physiology A 176(2):181–192. https://doi.org/10.1007/BF00239921</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Schwippert WW, Ewert JP (1995). Effect of neuropeptide-Y on tectal field potentials in the toad. Brain Research 669(1):150–152. https://doi.org/10.1016/0006-8993(94)01260-O</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McConville J, Laming PR (2007). DC electrical stimulation of the pretectal thalamus and its effects on the feeding behavior of the toad (Bufo bufo). Developmental Neurobiology 67(7):875–883. https://doi.org/10.1002/dneu.20390</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48"/>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48"/>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48"/>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47"/>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4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 name="Google Shape;8;p47"/>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47"/>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47"/>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9.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9.png"/><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2.png"/><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7.png"/><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3.png"/><Relationship Id="rId4"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6.png"/><Relationship Id="rId4"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0.png"/><Relationship Id="rId4"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8.png"/><Relationship Id="rId4" Type="http://schemas.openxmlformats.org/officeDocument/2006/relationships/image" Target="../media/image6.png"/><Relationship Id="rId5"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5.png"/><Relationship Id="rId4"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2.png"/><Relationship Id="rId4" Type="http://schemas.openxmlformats.org/officeDocument/2006/relationships/image" Target="../media/image5.png"/><Relationship Id="rId5"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7.png"/><Relationship Id="rId4" Type="http://schemas.openxmlformats.org/officeDocument/2006/relationships/image" Target="../media/image5.png"/><Relationship Id="rId5"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5.png"/><Relationship Id="rId4" Type="http://schemas.openxmlformats.org/officeDocument/2006/relationships/image" Target="../media/image13.png"/><Relationship Id="rId5"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1.png"/><Relationship Id="rId4"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4.png"/><Relationship Id="rId4" Type="http://schemas.openxmlformats.org/officeDocument/2006/relationships/image" Target="../media/image11.png"/><Relationship Id="rId5"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4.png"/><Relationship Id="rId4" Type="http://schemas.openxmlformats.org/officeDocument/2006/relationships/image" Target="../media/image11.png"/><Relationship Id="rId5"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4.png"/><Relationship Id="rId4" Type="http://schemas.openxmlformats.org/officeDocument/2006/relationships/image" Target="../media/image11.png"/><Relationship Id="rId5"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6.png"/><Relationship Id="rId4" Type="http://schemas.openxmlformats.org/officeDocument/2006/relationships/image" Target="../media/image11.png"/><Relationship Id="rId5"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8.png"/><Relationship Id="rId4" Type="http://schemas.openxmlformats.org/officeDocument/2006/relationships/image" Target="../media/image20.png"/><Relationship Id="rId5" Type="http://schemas.openxmlformats.org/officeDocument/2006/relationships/image" Target="../media/image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18.png"/><Relationship Id="rId4" Type="http://schemas.openxmlformats.org/officeDocument/2006/relationships/image" Target="../media/image19.png"/><Relationship Id="rId5" Type="http://schemas.openxmlformats.org/officeDocument/2006/relationships/image" Target="../media/image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18.png"/><Relationship Id="rId4" Type="http://schemas.openxmlformats.org/officeDocument/2006/relationships/image" Target="../media/image19.png"/><Relationship Id="rId5" Type="http://schemas.openxmlformats.org/officeDocument/2006/relationships/image" Target="../media/image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18.png"/><Relationship Id="rId4" Type="http://schemas.openxmlformats.org/officeDocument/2006/relationships/image" Target="../media/image19.png"/><Relationship Id="rId5" Type="http://schemas.openxmlformats.org/officeDocument/2006/relationships/image" Target="../media/image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18.png"/><Relationship Id="rId4" Type="http://schemas.openxmlformats.org/officeDocument/2006/relationships/image" Target="../media/image19.png"/><Relationship Id="rId5" Type="http://schemas.openxmlformats.org/officeDocument/2006/relationships/image" Target="../media/image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18.png"/><Relationship Id="rId4" Type="http://schemas.openxmlformats.org/officeDocument/2006/relationships/image" Target="../media/image19.png"/><Relationship Id="rId5" Type="http://schemas.openxmlformats.org/officeDocument/2006/relationships/image" Target="../media/image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19.png"/><Relationship Id="rId4" Type="http://schemas.openxmlformats.org/officeDocument/2006/relationships/image" Target="../media/image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24.png"/><Relationship Id="rId4" Type="http://schemas.openxmlformats.org/officeDocument/2006/relationships/image" Target="../media/image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25.png"/><Relationship Id="rId4" Type="http://schemas.openxmlformats.org/officeDocument/2006/relationships/image" Target="../media/image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21.png"/><Relationship Id="rId4" Type="http://schemas.openxmlformats.org/officeDocument/2006/relationships/image" Target="../media/image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22.png"/><Relationship Id="rId4" Type="http://schemas.openxmlformats.org/officeDocument/2006/relationships/image" Target="../media/image1.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31.png"/><Relationship Id="rId4" Type="http://schemas.openxmlformats.org/officeDocument/2006/relationships/image" Target="../media/image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23.png"/><Relationship Id="rId4" Type="http://schemas.openxmlformats.org/officeDocument/2006/relationships/image" Target="../media/image26.png"/><Relationship Id="rId5" Type="http://schemas.openxmlformats.org/officeDocument/2006/relationships/image" Target="../media/image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29.png"/><Relationship Id="rId4" Type="http://schemas.openxmlformats.org/officeDocument/2006/relationships/image" Target="../media/image26.png"/><Relationship Id="rId5" Type="http://schemas.openxmlformats.org/officeDocument/2006/relationships/image" Target="../media/image1.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28.png"/><Relationship Id="rId4" Type="http://schemas.openxmlformats.org/officeDocument/2006/relationships/image" Target="../media/image26.png"/><Relationship Id="rId5" Type="http://schemas.openxmlformats.org/officeDocument/2006/relationships/image" Target="../media/image1.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image" Target="../media/image27.png"/><Relationship Id="rId4" Type="http://schemas.openxmlformats.org/officeDocument/2006/relationships/image" Target="../media/image26.png"/><Relationship Id="rId5" Type="http://schemas.openxmlformats.org/officeDocument/2006/relationships/image" Target="../media/image1.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22.png"/><Relationship Id="rId4" Type="http://schemas.openxmlformats.org/officeDocument/2006/relationships/image" Target="../media/image1.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 Id="rId3" Type="http://schemas.openxmlformats.org/officeDocument/2006/relationships/image" Target="../media/image32.png"/><Relationship Id="rId4" Type="http://schemas.openxmlformats.org/officeDocument/2006/relationships/image" Target="../media/image30.png"/><Relationship Id="rId5" Type="http://schemas.openxmlformats.org/officeDocument/2006/relationships/image" Target="../media/image1.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 Id="rId3" Type="http://schemas.openxmlformats.org/officeDocument/2006/relationships/image" Target="../media/image32.png"/><Relationship Id="rId4" Type="http://schemas.openxmlformats.org/officeDocument/2006/relationships/image" Target="../media/image30.png"/><Relationship Id="rId5" Type="http://schemas.openxmlformats.org/officeDocument/2006/relationships/image" Target="../media/image1.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 Id="rId3" Type="http://schemas.openxmlformats.org/officeDocument/2006/relationships/image" Target="../media/image33.png"/><Relationship Id="rId4" Type="http://schemas.openxmlformats.org/officeDocument/2006/relationships/image" Target="../media/image1.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 Id="rId3" Type="http://schemas.openxmlformats.org/officeDocument/2006/relationships/image" Target="../media/image32.png"/><Relationship Id="rId4" Type="http://schemas.openxmlformats.org/officeDocument/2006/relationships/image" Target="../media/image30.png"/><Relationship Id="rId5" Type="http://schemas.openxmlformats.org/officeDocument/2006/relationships/image" Target="../media/image1.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 Id="rId3" Type="http://schemas.openxmlformats.org/officeDocument/2006/relationships/image" Target="../media/image38.png"/><Relationship Id="rId4" Type="http://schemas.openxmlformats.org/officeDocument/2006/relationships/image" Target="../media/image11.png"/><Relationship Id="rId5" Type="http://schemas.openxmlformats.org/officeDocument/2006/relationships/image" Target="../media/image1.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 Id="rId3" Type="http://schemas.openxmlformats.org/officeDocument/2006/relationships/image" Target="../media/image35.png"/><Relationship Id="rId4" Type="http://schemas.openxmlformats.org/officeDocument/2006/relationships/image" Target="../media/image11.png"/><Relationship Id="rId5" Type="http://schemas.openxmlformats.org/officeDocument/2006/relationships/image" Target="../media/image1.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 Id="rId3" Type="http://schemas.openxmlformats.org/officeDocument/2006/relationships/image" Target="../media/image34.png"/><Relationship Id="rId4" Type="http://schemas.openxmlformats.org/officeDocument/2006/relationships/image" Target="../media/image11.png"/><Relationship Id="rId5" Type="http://schemas.openxmlformats.org/officeDocument/2006/relationships/image" Target="../media/image1.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 Id="rId3" Type="http://schemas.openxmlformats.org/officeDocument/2006/relationships/image" Target="../media/image36.png"/><Relationship Id="rId4" Type="http://schemas.openxmlformats.org/officeDocument/2006/relationships/image" Target="../media/image11.png"/><Relationship Id="rId5" Type="http://schemas.openxmlformats.org/officeDocument/2006/relationships/image" Target="../media/image1.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 Id="rId3" Type="http://schemas.openxmlformats.org/officeDocument/2006/relationships/image" Target="../media/image37.png"/><Relationship Id="rId4" Type="http://schemas.openxmlformats.org/officeDocument/2006/relationships/image" Target="../media/image11.png"/><Relationship Id="rId5" Type="http://schemas.openxmlformats.org/officeDocument/2006/relationships/image" Target="../media/image1.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 Id="rId3" Type="http://schemas.openxmlformats.org/officeDocument/2006/relationships/image" Target="../media/image37.png"/><Relationship Id="rId4" Type="http://schemas.openxmlformats.org/officeDocument/2006/relationships/image" Target="../media/image11.png"/><Relationship Id="rId5" Type="http://schemas.openxmlformats.org/officeDocument/2006/relationships/image" Target="../media/image1.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8" name="Shape 18"/>
        <p:cNvGrpSpPr/>
        <p:nvPr/>
      </p:nvGrpSpPr>
      <p:grpSpPr>
        <a:xfrm>
          <a:off x="0" y="0"/>
          <a:ext cx="0" cy="0"/>
          <a:chOff x="0" y="0"/>
          <a:chExt cx="0" cy="0"/>
        </a:xfrm>
      </p:grpSpPr>
      <p:sp>
        <p:nvSpPr>
          <p:cNvPr id="19" name="Google Shape;19;p1"/>
          <p:cNvSpPr/>
          <p:nvPr/>
        </p:nvSpPr>
        <p:spPr>
          <a:xfrm>
            <a:off x="0" y="0"/>
            <a:ext cx="5905500" cy="6858000"/>
          </a:xfrm>
          <a:prstGeom prst="rect">
            <a:avLst/>
          </a:prstGeom>
          <a:solidFill>
            <a:srgbClr val="24344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 name="Google Shape;20;p1"/>
          <p:cNvSpPr/>
          <p:nvPr/>
        </p:nvSpPr>
        <p:spPr>
          <a:xfrm>
            <a:off x="590550" y="1467892"/>
            <a:ext cx="4743450" cy="228600"/>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BDC9D3"/>
              </a:buClr>
              <a:buSzPts val="1200"/>
              <a:buFont typeface="Arial"/>
              <a:buNone/>
            </a:pPr>
            <a:r>
              <a:rPr b="0" i="0" lang="en-US" sz="1200">
                <a:solidFill>
                  <a:srgbClr val="BDC9D3"/>
                </a:solidFill>
                <a:latin typeface="Arial"/>
                <a:ea typeface="Arial"/>
                <a:cs typeface="Arial"/>
                <a:sym typeface="Arial"/>
              </a:rPr>
              <a:t>NEUR 411 · NEUROETHOLOGY · FALL 2026</a:t>
            </a:r>
            <a:endParaRPr sz="1800">
              <a:solidFill>
                <a:schemeClr val="dk1"/>
              </a:solidFill>
              <a:latin typeface="Calibri"/>
              <a:ea typeface="Calibri"/>
              <a:cs typeface="Calibri"/>
              <a:sym typeface="Calibri"/>
            </a:endParaRPr>
          </a:p>
        </p:txBody>
      </p:sp>
      <p:sp>
        <p:nvSpPr>
          <p:cNvPr id="21" name="Google Shape;21;p1"/>
          <p:cNvSpPr/>
          <p:nvPr/>
        </p:nvSpPr>
        <p:spPr>
          <a:xfrm>
            <a:off x="590550" y="2115592"/>
            <a:ext cx="4743450" cy="300038"/>
          </a:xfrm>
          <a:prstGeom prst="rect">
            <a:avLst/>
          </a:prstGeom>
          <a:noFill/>
          <a:ln>
            <a:noFill/>
          </a:ln>
        </p:spPr>
        <p:txBody>
          <a:bodyPr anchorCtr="0" anchor="t" bIns="0" lIns="0" spcFirstLastPara="1" rIns="0" wrap="square" tIns="0">
            <a:normAutofit/>
          </a:bodyPr>
          <a:lstStyle/>
          <a:p>
            <a:pPr indent="0" lvl="0" marL="0" marR="0" rtl="0" algn="l">
              <a:lnSpc>
                <a:spcPct val="150031"/>
              </a:lnSpc>
              <a:spcBef>
                <a:spcPts val="0"/>
              </a:spcBef>
              <a:spcAft>
                <a:spcPts val="0"/>
              </a:spcAft>
              <a:buClr>
                <a:srgbClr val="BDC9D3"/>
              </a:buClr>
              <a:buSzPts val="1575"/>
              <a:buFont typeface="Arial"/>
              <a:buNone/>
            </a:pPr>
            <a:r>
              <a:rPr b="0" i="0" lang="en-US" sz="1575">
                <a:solidFill>
                  <a:srgbClr val="BDC9D3"/>
                </a:solidFill>
                <a:latin typeface="Arial"/>
                <a:ea typeface="Arial"/>
                <a:cs typeface="Arial"/>
                <a:sym typeface="Arial"/>
              </a:rPr>
              <a:t>Lecture 10</a:t>
            </a:r>
            <a:endParaRPr sz="1800">
              <a:solidFill>
                <a:schemeClr val="dk1"/>
              </a:solidFill>
              <a:latin typeface="Calibri"/>
              <a:ea typeface="Calibri"/>
              <a:cs typeface="Calibri"/>
              <a:sym typeface="Calibri"/>
            </a:endParaRPr>
          </a:p>
        </p:txBody>
      </p:sp>
      <p:sp>
        <p:nvSpPr>
          <p:cNvPr id="22" name="Google Shape;22;p1"/>
          <p:cNvSpPr/>
          <p:nvPr/>
        </p:nvSpPr>
        <p:spPr>
          <a:xfrm>
            <a:off x="590550" y="2663279"/>
            <a:ext cx="4743450" cy="1302841"/>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FFFFFF"/>
              </a:buClr>
              <a:buSzPts val="2850"/>
              <a:buFont typeface="Arial"/>
              <a:buNone/>
            </a:pPr>
            <a:r>
              <a:rPr b="1" i="0" lang="en-US" sz="2850">
                <a:solidFill>
                  <a:srgbClr val="FFFFFF"/>
                </a:solidFill>
                <a:latin typeface="Arial"/>
                <a:ea typeface="Arial"/>
                <a:cs typeface="Arial"/>
                <a:sym typeface="Arial"/>
              </a:rPr>
              <a:t>Amphibian prey capture II: pretectal predator-avoidance circuits</a:t>
            </a:r>
            <a:endParaRPr sz="1800">
              <a:solidFill>
                <a:schemeClr val="dk1"/>
              </a:solidFill>
              <a:latin typeface="Calibri"/>
              <a:ea typeface="Calibri"/>
              <a:cs typeface="Calibri"/>
              <a:sym typeface="Calibri"/>
            </a:endParaRPr>
          </a:p>
        </p:txBody>
      </p:sp>
      <p:sp>
        <p:nvSpPr>
          <p:cNvPr id="23" name="Google Shape;23;p1"/>
          <p:cNvSpPr/>
          <p:nvPr/>
        </p:nvSpPr>
        <p:spPr>
          <a:xfrm>
            <a:off x="590550" y="4385221"/>
            <a:ext cx="4743450" cy="300038"/>
          </a:xfrm>
          <a:prstGeom prst="rect">
            <a:avLst/>
          </a:prstGeom>
          <a:noFill/>
          <a:ln>
            <a:noFill/>
          </a:ln>
        </p:spPr>
        <p:txBody>
          <a:bodyPr anchorCtr="0" anchor="t" bIns="0" lIns="0" spcFirstLastPara="1" rIns="0" wrap="square" tIns="0">
            <a:normAutofit/>
          </a:bodyPr>
          <a:lstStyle/>
          <a:p>
            <a:pPr indent="0" lvl="0" marL="0" marR="0" rtl="0" algn="l">
              <a:lnSpc>
                <a:spcPct val="150031"/>
              </a:lnSpc>
              <a:spcBef>
                <a:spcPts val="0"/>
              </a:spcBef>
              <a:spcAft>
                <a:spcPts val="0"/>
              </a:spcAft>
              <a:buClr>
                <a:srgbClr val="BDC9D3"/>
              </a:buClr>
              <a:buSzPts val="1575"/>
              <a:buFont typeface="Arial"/>
              <a:buNone/>
            </a:pPr>
            <a:r>
              <a:rPr b="0" i="0" lang="en-US" sz="1575">
                <a:solidFill>
                  <a:srgbClr val="BDC9D3"/>
                </a:solidFill>
                <a:latin typeface="Arial"/>
                <a:ea typeface="Arial"/>
                <a:cs typeface="Arial"/>
                <a:sym typeface="Arial"/>
              </a:rPr>
              <a:t>Wednesday, September 16, 2026</a:t>
            </a:r>
            <a:endParaRPr sz="1800">
              <a:solidFill>
                <a:schemeClr val="dk1"/>
              </a:solidFill>
              <a:latin typeface="Calibri"/>
              <a:ea typeface="Calibri"/>
              <a:cs typeface="Calibri"/>
              <a:sym typeface="Calibri"/>
            </a:endParaRPr>
          </a:p>
        </p:txBody>
      </p:sp>
      <p:sp>
        <p:nvSpPr>
          <p:cNvPr id="24" name="Google Shape;24;p1"/>
          <p:cNvSpPr/>
          <p:nvPr/>
        </p:nvSpPr>
        <p:spPr>
          <a:xfrm>
            <a:off x="590550" y="5161508"/>
            <a:ext cx="4743450" cy="228600"/>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BDC9D3"/>
              </a:buClr>
              <a:buSzPts val="1200"/>
              <a:buFont typeface="Arial"/>
              <a:buNone/>
            </a:pPr>
            <a:r>
              <a:rPr b="0" i="0" lang="en-US" sz="1200">
                <a:solidFill>
                  <a:srgbClr val="BDC9D3"/>
                </a:solidFill>
                <a:latin typeface="Arial"/>
                <a:ea typeface="Arial"/>
                <a:cs typeface="Arial"/>
                <a:sym typeface="Arial"/>
              </a:rPr>
              <a:t>Jordan Lopez, Ph.D.</a:t>
            </a:r>
            <a:endParaRPr sz="1800">
              <a:solidFill>
                <a:schemeClr val="dk1"/>
              </a:solidFill>
              <a:latin typeface="Calibri"/>
              <a:ea typeface="Calibri"/>
              <a:cs typeface="Calibri"/>
              <a:sym typeface="Calibri"/>
            </a:endParaRPr>
          </a:p>
        </p:txBody>
      </p:sp>
      <p:sp>
        <p:nvSpPr>
          <p:cNvPr id="25" name="Google Shape;25;p1"/>
          <p:cNvSpPr/>
          <p:nvPr/>
        </p:nvSpPr>
        <p:spPr>
          <a:xfrm>
            <a:off x="6381750" y="5808675"/>
            <a:ext cx="5162700" cy="142800"/>
          </a:xfrm>
          <a:prstGeom prst="rect">
            <a:avLst/>
          </a:prstGeom>
          <a:noFill/>
          <a:ln>
            <a:noFill/>
          </a:ln>
        </p:spPr>
        <p:txBody>
          <a:bodyPr anchorCtr="0" anchor="t" bIns="0" lIns="0" spcFirstLastPara="1" rIns="0" wrap="square" tIns="0">
            <a:normAutofit/>
          </a:bodyPr>
          <a:lstStyle/>
          <a:p>
            <a:pPr indent="0" lvl="0" marL="0" marR="0" rtl="0" algn="l">
              <a:lnSpc>
                <a:spcPct val="125000"/>
              </a:lnSpc>
              <a:spcBef>
                <a:spcPts val="0"/>
              </a:spcBef>
              <a:spcAft>
                <a:spcPts val="0"/>
              </a:spcAft>
              <a:buClr>
                <a:srgbClr val="23303A"/>
              </a:buClr>
              <a:buSzPts val="900"/>
              <a:buFont typeface="Arial"/>
              <a:buNone/>
            </a:pPr>
            <a:r>
              <a:rPr b="0" i="0" lang="en-US" sz="900">
                <a:solidFill>
                  <a:srgbClr val="23303A"/>
                </a:solidFill>
                <a:latin typeface="Arial"/>
                <a:ea typeface="Arial"/>
                <a:cs typeface="Arial"/>
                <a:sym typeface="Arial"/>
              </a:rPr>
              <a:t>Photo: Common toad (Bufo bufo), the species used in Ewert's prey-catching studies.</a:t>
            </a:r>
            <a:endParaRPr sz="1800">
              <a:solidFill>
                <a:schemeClr val="dk1"/>
              </a:solidFill>
              <a:latin typeface="Calibri"/>
              <a:ea typeface="Calibri"/>
              <a:cs typeface="Calibri"/>
              <a:sym typeface="Calibri"/>
            </a:endParaRPr>
          </a:p>
        </p:txBody>
      </p:sp>
      <p:pic>
        <p:nvPicPr>
          <p:cNvPr id="26" name="Google Shape;26;p1" title="Screenshot 2026-10-08 at 10.14.56 AM.png"/>
          <p:cNvPicPr preferRelativeResize="0"/>
          <p:nvPr/>
        </p:nvPicPr>
        <p:blipFill>
          <a:blip r:embed="rId3">
            <a:alphaModFix/>
          </a:blip>
          <a:stretch>
            <a:fillRect/>
          </a:stretch>
        </p:blipFill>
        <p:spPr>
          <a:xfrm>
            <a:off x="6817891" y="802343"/>
            <a:ext cx="4290270" cy="409992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0" name="Shape 30"/>
        <p:cNvGrpSpPr/>
        <p:nvPr/>
      </p:nvGrpSpPr>
      <p:grpSpPr>
        <a:xfrm>
          <a:off x="0" y="0"/>
          <a:ext cx="0" cy="0"/>
          <a:chOff x="0" y="0"/>
          <a:chExt cx="0" cy="0"/>
        </a:xfrm>
      </p:grpSpPr>
      <p:sp>
        <p:nvSpPr>
          <p:cNvPr id="31" name="Google Shape;31;p2"/>
          <p:cNvSpPr/>
          <p:nvPr/>
        </p:nvSpPr>
        <p:spPr>
          <a:xfrm>
            <a:off x="457200" y="457200"/>
            <a:ext cx="11296650" cy="328613"/>
          </a:xfrm>
          <a:prstGeom prst="rect">
            <a:avLst/>
          </a:prstGeom>
          <a:noFill/>
          <a:ln>
            <a:noFill/>
          </a:ln>
        </p:spPr>
        <p:txBody>
          <a:bodyPr anchorCtr="0" anchor="t" bIns="0" lIns="0" spcFirstLastPara="1" rIns="0" wrap="square" tIns="0">
            <a:normAutofit/>
          </a:bodyPr>
          <a:lstStyle/>
          <a:p>
            <a:pPr indent="0" lvl="0" marL="0" marR="0" rtl="0" algn="l">
              <a:lnSpc>
                <a:spcPct val="115022"/>
              </a:lnSpc>
              <a:spcBef>
                <a:spcPts val="0"/>
              </a:spcBef>
              <a:spcAft>
                <a:spcPts val="0"/>
              </a:spcAft>
              <a:buClr>
                <a:srgbClr val="35536B"/>
              </a:buClr>
              <a:buSzPts val="2250"/>
              <a:buFont typeface="Arial"/>
              <a:buNone/>
            </a:pPr>
            <a:r>
              <a:rPr b="1" i="0" lang="en-US" sz="2250">
                <a:solidFill>
                  <a:srgbClr val="35536B"/>
                </a:solidFill>
                <a:latin typeface="Arial"/>
                <a:ea typeface="Arial"/>
                <a:cs typeface="Arial"/>
                <a:sym typeface="Arial"/>
              </a:rPr>
              <a:t>Large moving objects recruit defensive behavior</a:t>
            </a:r>
            <a:endParaRPr sz="1800">
              <a:solidFill>
                <a:schemeClr val="dk1"/>
              </a:solidFill>
              <a:latin typeface="Calibri"/>
              <a:ea typeface="Calibri"/>
              <a:cs typeface="Calibri"/>
              <a:sym typeface="Calibri"/>
            </a:endParaRPr>
          </a:p>
        </p:txBody>
      </p:sp>
      <p:sp>
        <p:nvSpPr>
          <p:cNvPr id="32" name="Google Shape;32;p2"/>
          <p:cNvSpPr/>
          <p:nvPr/>
        </p:nvSpPr>
        <p:spPr>
          <a:xfrm>
            <a:off x="457200" y="1071563"/>
            <a:ext cx="5695950" cy="955477"/>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3303A"/>
              </a:buClr>
              <a:buSzPts val="1425"/>
              <a:buFont typeface="Arial"/>
              <a:buNone/>
            </a:pPr>
            <a:r>
              <a:rPr b="1" i="0" lang="en-US" sz="1425">
                <a:solidFill>
                  <a:srgbClr val="23303A"/>
                </a:solidFill>
                <a:latin typeface="Arial"/>
                <a:ea typeface="Arial"/>
                <a:cs typeface="Arial"/>
                <a:sym typeface="Arial"/>
              </a:rPr>
              <a:t>Predator avoidance</a:t>
            </a:r>
            <a:r>
              <a:rPr b="0" i="0" lang="en-US" sz="1425">
                <a:solidFill>
                  <a:srgbClr val="23303A"/>
                </a:solidFill>
                <a:latin typeface="Arial"/>
                <a:ea typeface="Arial"/>
                <a:cs typeface="Arial"/>
                <a:sym typeface="Arial"/>
              </a:rPr>
              <a:t> is a movement that reduces exposure to a threatening object. In common toads, </a:t>
            </a:r>
            <a:r>
              <a:rPr b="0" i="1" lang="en-US" sz="1425">
                <a:solidFill>
                  <a:srgbClr val="23303A"/>
                </a:solidFill>
                <a:latin typeface="Arial"/>
                <a:ea typeface="Arial"/>
                <a:cs typeface="Arial"/>
                <a:sym typeface="Arial"/>
              </a:rPr>
              <a:t>Bufo bufo</a:t>
            </a:r>
            <a:r>
              <a:rPr b="0" i="0" lang="en-US" sz="1425">
                <a:solidFill>
                  <a:srgbClr val="23303A"/>
                </a:solidFill>
                <a:latin typeface="Arial"/>
                <a:ea typeface="Arial"/>
                <a:cs typeface="Arial"/>
                <a:sym typeface="Arial"/>
              </a:rPr>
              <a:t>, large moving objects evoke ducking, turning away or jumping, whereas small objects often evoke orienting followed by prey capture.</a:t>
            </a:r>
            <a:endParaRPr sz="1800">
              <a:solidFill>
                <a:schemeClr val="dk1"/>
              </a:solidFill>
              <a:latin typeface="Calibri"/>
              <a:ea typeface="Calibri"/>
              <a:cs typeface="Calibri"/>
              <a:sym typeface="Calibri"/>
            </a:endParaRPr>
          </a:p>
        </p:txBody>
      </p:sp>
      <p:sp>
        <p:nvSpPr>
          <p:cNvPr id="33" name="Google Shape;33;p2"/>
          <p:cNvSpPr/>
          <p:nvPr/>
        </p:nvSpPr>
        <p:spPr>
          <a:xfrm>
            <a:off x="457200" y="2179439"/>
            <a:ext cx="5695950" cy="1194346"/>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3303A"/>
              </a:buClr>
              <a:buSzPts val="1425"/>
              <a:buFont typeface="Arial"/>
              <a:buNone/>
            </a:pPr>
            <a:r>
              <a:rPr b="0" i="0" lang="en-US" sz="1425">
                <a:solidFill>
                  <a:srgbClr val="23303A"/>
                </a:solidFill>
                <a:latin typeface="Arial"/>
                <a:ea typeface="Arial"/>
                <a:cs typeface="Arial"/>
                <a:sym typeface="Arial"/>
              </a:rPr>
              <a:t>Ewert varied the angular diameter of black discs moving at 30°/s against a white background. </a:t>
            </a:r>
            <a:r>
              <a:rPr b="1" i="0" lang="en-US" sz="1425">
                <a:solidFill>
                  <a:srgbClr val="23303A"/>
                </a:solidFill>
                <a:latin typeface="Arial"/>
                <a:ea typeface="Arial"/>
                <a:cs typeface="Arial"/>
                <a:sym typeface="Arial"/>
              </a:rPr>
              <a:t>Angular size</a:t>
            </a:r>
            <a:r>
              <a:rPr b="0" i="0" lang="en-US" sz="1425">
                <a:solidFill>
                  <a:srgbClr val="23303A"/>
                </a:solidFill>
                <a:latin typeface="Arial"/>
                <a:ea typeface="Arial"/>
                <a:cs typeface="Arial"/>
                <a:sym typeface="Arial"/>
              </a:rPr>
              <a:t> is the angle an object occupies at the eye. Orienting was strongest for discs approximately 4–8° across and nearly absent at 20°; avoidance became prominent above 30° and was optimal around 50°.</a:t>
            </a:r>
            <a:endParaRPr sz="1800">
              <a:solidFill>
                <a:schemeClr val="dk1"/>
              </a:solidFill>
              <a:latin typeface="Calibri"/>
              <a:ea typeface="Calibri"/>
              <a:cs typeface="Calibri"/>
              <a:sym typeface="Calibri"/>
            </a:endParaRPr>
          </a:p>
        </p:txBody>
      </p:sp>
      <p:sp>
        <p:nvSpPr>
          <p:cNvPr id="34" name="Google Shape;34;p2"/>
          <p:cNvSpPr/>
          <p:nvPr/>
        </p:nvSpPr>
        <p:spPr>
          <a:xfrm>
            <a:off x="457200" y="3526185"/>
            <a:ext cx="5695950" cy="955477"/>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3303A"/>
              </a:buClr>
              <a:buSzPts val="1425"/>
              <a:buFont typeface="Arial"/>
              <a:buNone/>
            </a:pPr>
            <a:r>
              <a:rPr b="0" i="0" lang="en-US" sz="1425">
                <a:solidFill>
                  <a:srgbClr val="23303A"/>
                </a:solidFill>
                <a:latin typeface="Arial"/>
                <a:ea typeface="Arial"/>
                <a:cs typeface="Arial"/>
                <a:sym typeface="Arial"/>
              </a:rPr>
              <a:t>The controlled objects separate stimulus size from actual predator identity. These responses establish a size-dependent behavioral distinction; they do not imply that every large object is recognized as a particular predator.</a:t>
            </a:r>
            <a:endParaRPr sz="1800">
              <a:solidFill>
                <a:schemeClr val="dk1"/>
              </a:solidFill>
              <a:latin typeface="Calibri"/>
              <a:ea typeface="Calibri"/>
              <a:cs typeface="Calibri"/>
              <a:sym typeface="Calibri"/>
            </a:endParaRPr>
          </a:p>
        </p:txBody>
      </p:sp>
      <p:pic>
        <p:nvPicPr>
          <p:cNvPr id="35" name="Google Shape;35;p2"/>
          <p:cNvPicPr preferRelativeResize="0"/>
          <p:nvPr/>
        </p:nvPicPr>
        <p:blipFill rotWithShape="1">
          <a:blip r:embed="rId3">
            <a:alphaModFix/>
          </a:blip>
          <a:srcRect b="0" l="0" r="0" t="0"/>
          <a:stretch/>
        </p:blipFill>
        <p:spPr>
          <a:xfrm>
            <a:off x="6477000" y="1071563"/>
            <a:ext cx="5257800" cy="3673186"/>
          </a:xfrm>
          <a:prstGeom prst="rect">
            <a:avLst/>
          </a:prstGeom>
          <a:noFill/>
          <a:ln>
            <a:noFill/>
          </a:ln>
        </p:spPr>
      </p:pic>
      <p:sp>
        <p:nvSpPr>
          <p:cNvPr id="36" name="Google Shape;36;p2"/>
          <p:cNvSpPr/>
          <p:nvPr/>
        </p:nvSpPr>
        <p:spPr>
          <a:xfrm>
            <a:off x="6477000" y="5376863"/>
            <a:ext cx="5276850" cy="142875"/>
          </a:xfrm>
          <a:prstGeom prst="rect">
            <a:avLst/>
          </a:prstGeom>
          <a:noFill/>
          <a:ln>
            <a:noFill/>
          </a:ln>
        </p:spPr>
        <p:txBody>
          <a:bodyPr anchorCtr="0" anchor="t" bIns="0" lIns="0" spcFirstLastPara="1" rIns="0" wrap="square" tIns="0">
            <a:normAutofit/>
          </a:bodyPr>
          <a:lstStyle/>
          <a:p>
            <a:pPr indent="0" lvl="0" marL="0" marR="0" rtl="0" algn="l">
              <a:lnSpc>
                <a:spcPct val="125000"/>
              </a:lnSpc>
              <a:spcBef>
                <a:spcPts val="0"/>
              </a:spcBef>
              <a:spcAft>
                <a:spcPts val="0"/>
              </a:spcAft>
              <a:buClr>
                <a:srgbClr val="23303A"/>
              </a:buClr>
              <a:buSzPts val="900"/>
              <a:buFont typeface="Arial"/>
              <a:buNone/>
            </a:pPr>
            <a:r>
              <a:rPr b="0" i="0" lang="en-US" sz="900">
                <a:solidFill>
                  <a:srgbClr val="23303A"/>
                </a:solidFill>
                <a:latin typeface="Arial"/>
                <a:ea typeface="Arial"/>
                <a:cs typeface="Arial"/>
                <a:sym typeface="Arial"/>
              </a:rPr>
              <a:t>Ewert (1970), Fig. 2(a–b). Disc diameter in degrees separates orienting and avoidance.</a:t>
            </a:r>
            <a:endParaRPr sz="1800">
              <a:solidFill>
                <a:schemeClr val="dk1"/>
              </a:solidFill>
              <a:latin typeface="Calibri"/>
              <a:ea typeface="Calibri"/>
              <a:cs typeface="Calibri"/>
              <a:sym typeface="Calibri"/>
            </a:endParaRPr>
          </a:p>
        </p:txBody>
      </p:sp>
      <p:pic>
        <p:nvPicPr>
          <p:cNvPr id="37" name="Google Shape;37;p2"/>
          <p:cNvPicPr preferRelativeResize="0"/>
          <p:nvPr/>
        </p:nvPicPr>
        <p:blipFill rotWithShape="1">
          <a:blip r:embed="rId4">
            <a:alphaModFix/>
          </a:blip>
          <a:srcRect b="0" l="0" r="0" t="0"/>
          <a:stretch/>
        </p:blipFill>
        <p:spPr>
          <a:xfrm>
            <a:off x="457200" y="6405563"/>
            <a:ext cx="11277600" cy="242888"/>
          </a:xfrm>
          <a:prstGeom prst="rect">
            <a:avLst/>
          </a:prstGeom>
          <a:noFill/>
          <a:ln>
            <a:noFill/>
          </a:ln>
        </p:spPr>
      </p:pic>
      <p:sp>
        <p:nvSpPr>
          <p:cNvPr id="38" name="Google Shape;38;p2"/>
          <p:cNvSpPr/>
          <p:nvPr/>
        </p:nvSpPr>
        <p:spPr>
          <a:xfrm>
            <a:off x="457200" y="6491288"/>
            <a:ext cx="629692" cy="157163"/>
          </a:xfrm>
          <a:prstGeom prst="rect">
            <a:avLst/>
          </a:prstGeom>
          <a:noFill/>
          <a:ln>
            <a:noFill/>
          </a:ln>
        </p:spPr>
        <p:txBody>
          <a:bodyPr anchorCtr="0" anchor="t" bIns="0" lIns="0" spcFirstLastPara="1" rIns="0" wrap="square" tIns="0">
            <a:normAutofit/>
          </a:bodyPr>
          <a:lstStyle/>
          <a:p>
            <a:pPr indent="0" lvl="0" marL="0" marR="0" rtl="0" algn="l">
              <a:lnSpc>
                <a:spcPct val="150060"/>
              </a:lnSpc>
              <a:spcBef>
                <a:spcPts val="0"/>
              </a:spcBef>
              <a:spcAft>
                <a:spcPts val="0"/>
              </a:spcAft>
              <a:buClr>
                <a:srgbClr val="5F6E7A"/>
              </a:buClr>
              <a:buSzPts val="825"/>
              <a:buFont typeface="Arial"/>
              <a:buNone/>
            </a:pPr>
            <a:r>
              <a:rPr b="0" i="0" lang="en-US" sz="825">
                <a:solidFill>
                  <a:srgbClr val="5F6E7A"/>
                </a:solidFill>
                <a:latin typeface="Arial"/>
                <a:ea typeface="Arial"/>
                <a:cs typeface="Arial"/>
                <a:sym typeface="Arial"/>
              </a:rPr>
              <a:t>Ewert (1970)</a:t>
            </a:r>
            <a:endParaRPr sz="1800">
              <a:solidFill>
                <a:schemeClr val="dk1"/>
              </a:solidFill>
              <a:latin typeface="Calibri"/>
              <a:ea typeface="Calibri"/>
              <a:cs typeface="Calibri"/>
              <a:sym typeface="Calibri"/>
            </a:endParaRPr>
          </a:p>
        </p:txBody>
      </p:sp>
      <p:sp>
        <p:nvSpPr>
          <p:cNvPr id="39" name="Google Shape;39;p2"/>
          <p:cNvSpPr/>
          <p:nvPr/>
        </p:nvSpPr>
        <p:spPr>
          <a:xfrm>
            <a:off x="11614845" y="6491288"/>
            <a:ext cx="139005" cy="157163"/>
          </a:xfrm>
          <a:prstGeom prst="rect">
            <a:avLst/>
          </a:prstGeom>
          <a:noFill/>
          <a:ln>
            <a:noFill/>
          </a:ln>
        </p:spPr>
        <p:txBody>
          <a:bodyPr anchorCtr="0" anchor="t" bIns="0" lIns="0" spcFirstLastPara="1" rIns="0" wrap="square" tIns="0">
            <a:normAutofit/>
          </a:bodyPr>
          <a:lstStyle/>
          <a:p>
            <a:pPr indent="0" lvl="0" marL="0" marR="0" rtl="0" algn="l">
              <a:lnSpc>
                <a:spcPct val="150060"/>
              </a:lnSpc>
              <a:spcBef>
                <a:spcPts val="0"/>
              </a:spcBef>
              <a:spcAft>
                <a:spcPts val="0"/>
              </a:spcAft>
              <a:buClr>
                <a:srgbClr val="5F6E7A"/>
              </a:buClr>
              <a:buSzPts val="825"/>
              <a:buFont typeface="Arial"/>
              <a:buNone/>
            </a:pPr>
            <a:r>
              <a:rPr b="0" i="0" lang="en-US" sz="825">
                <a:solidFill>
                  <a:srgbClr val="5F6E7A"/>
                </a:solidFill>
                <a:latin typeface="Arial"/>
                <a:ea typeface="Arial"/>
                <a:cs typeface="Arial"/>
                <a:sym typeface="Arial"/>
              </a:rPr>
              <a:t>02</a:t>
            </a:r>
            <a:endParaRPr sz="1800">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3" name="Shape 43"/>
        <p:cNvGrpSpPr/>
        <p:nvPr/>
      </p:nvGrpSpPr>
      <p:grpSpPr>
        <a:xfrm>
          <a:off x="0" y="0"/>
          <a:ext cx="0" cy="0"/>
          <a:chOff x="0" y="0"/>
          <a:chExt cx="0" cy="0"/>
        </a:xfrm>
      </p:grpSpPr>
      <p:sp>
        <p:nvSpPr>
          <p:cNvPr id="44" name="Google Shape;44;p3"/>
          <p:cNvSpPr/>
          <p:nvPr/>
        </p:nvSpPr>
        <p:spPr>
          <a:xfrm>
            <a:off x="457200" y="457200"/>
            <a:ext cx="11296650" cy="328613"/>
          </a:xfrm>
          <a:prstGeom prst="rect">
            <a:avLst/>
          </a:prstGeom>
          <a:noFill/>
          <a:ln>
            <a:noFill/>
          </a:ln>
        </p:spPr>
        <p:txBody>
          <a:bodyPr anchorCtr="0" anchor="t" bIns="0" lIns="0" spcFirstLastPara="1" rIns="0" wrap="square" tIns="0">
            <a:normAutofit/>
          </a:bodyPr>
          <a:lstStyle/>
          <a:p>
            <a:pPr indent="0" lvl="0" marL="0" marR="0" rtl="0" algn="l">
              <a:lnSpc>
                <a:spcPct val="115022"/>
              </a:lnSpc>
              <a:spcBef>
                <a:spcPts val="0"/>
              </a:spcBef>
              <a:spcAft>
                <a:spcPts val="0"/>
              </a:spcAft>
              <a:buClr>
                <a:srgbClr val="35536B"/>
              </a:buClr>
              <a:buSzPts val="2250"/>
              <a:buFont typeface="Arial"/>
              <a:buNone/>
            </a:pPr>
            <a:r>
              <a:rPr b="1" i="0" lang="en-US" sz="2250">
                <a:solidFill>
                  <a:srgbClr val="35536B"/>
                </a:solidFill>
                <a:latin typeface="Arial"/>
                <a:ea typeface="Arial"/>
                <a:cs typeface="Arial"/>
                <a:sym typeface="Arial"/>
              </a:rPr>
              <a:t>The same visual world supports approach and escape</a:t>
            </a:r>
            <a:endParaRPr sz="1800">
              <a:solidFill>
                <a:schemeClr val="dk1"/>
              </a:solidFill>
              <a:latin typeface="Calibri"/>
              <a:ea typeface="Calibri"/>
              <a:cs typeface="Calibri"/>
              <a:sym typeface="Calibri"/>
            </a:endParaRPr>
          </a:p>
        </p:txBody>
      </p:sp>
      <p:sp>
        <p:nvSpPr>
          <p:cNvPr id="45" name="Google Shape;45;p3"/>
          <p:cNvSpPr/>
          <p:nvPr/>
        </p:nvSpPr>
        <p:spPr>
          <a:xfrm>
            <a:off x="457200" y="1071563"/>
            <a:ext cx="5695950" cy="1194346"/>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3303A"/>
              </a:buClr>
              <a:buSzPts val="1425"/>
              <a:buFont typeface="Arial"/>
              <a:buNone/>
            </a:pPr>
            <a:r>
              <a:rPr b="1" i="0" lang="en-US" sz="1425">
                <a:solidFill>
                  <a:srgbClr val="23303A"/>
                </a:solidFill>
                <a:latin typeface="Arial"/>
                <a:ea typeface="Arial"/>
                <a:cs typeface="Arial"/>
                <a:sym typeface="Arial"/>
              </a:rPr>
              <a:t>Prey capture</a:t>
            </a:r>
            <a:r>
              <a:rPr b="0" i="0" lang="en-US" sz="1425">
                <a:solidFill>
                  <a:srgbClr val="23303A"/>
                </a:solidFill>
                <a:latin typeface="Arial"/>
                <a:ea typeface="Arial"/>
                <a:cs typeface="Arial"/>
                <a:sym typeface="Arial"/>
              </a:rPr>
              <a:t> includes orienting, following, snapping and swallowing. Ewert counted turns while a moving object circled a toad inside a glass cylinder; the timed records distinguish persistent orientation from occasional responses without requiring the animal to catch real prey.</a:t>
            </a:r>
            <a:endParaRPr sz="1800">
              <a:solidFill>
                <a:schemeClr val="dk1"/>
              </a:solidFill>
              <a:latin typeface="Calibri"/>
              <a:ea typeface="Calibri"/>
              <a:cs typeface="Calibri"/>
              <a:sym typeface="Calibri"/>
            </a:endParaRPr>
          </a:p>
        </p:txBody>
      </p:sp>
      <p:sp>
        <p:nvSpPr>
          <p:cNvPr id="46" name="Google Shape;46;p3"/>
          <p:cNvSpPr/>
          <p:nvPr/>
        </p:nvSpPr>
        <p:spPr>
          <a:xfrm>
            <a:off x="457200" y="2418308"/>
            <a:ext cx="5695950" cy="1194346"/>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3303A"/>
              </a:buClr>
              <a:buSzPts val="1425"/>
              <a:buFont typeface="Arial"/>
              <a:buNone/>
            </a:pPr>
            <a:r>
              <a:rPr b="0" i="0" lang="en-US" sz="1425">
                <a:solidFill>
                  <a:srgbClr val="23303A"/>
                </a:solidFill>
                <a:latin typeface="Arial"/>
                <a:ea typeface="Arial"/>
                <a:cs typeface="Arial"/>
                <a:sym typeface="Arial"/>
              </a:rPr>
              <a:t>A small moving object normally activates approach-related behavior. A large object can instead cause the toad to lower its body or move away. These alternatives depend on visual dimensions and behavioral state, rather than on the presence or absence of motion alone.</a:t>
            </a:r>
            <a:endParaRPr sz="1800">
              <a:solidFill>
                <a:schemeClr val="dk1"/>
              </a:solidFill>
              <a:latin typeface="Calibri"/>
              <a:ea typeface="Calibri"/>
              <a:cs typeface="Calibri"/>
              <a:sym typeface="Calibri"/>
            </a:endParaRPr>
          </a:p>
        </p:txBody>
      </p:sp>
      <p:sp>
        <p:nvSpPr>
          <p:cNvPr id="47" name="Google Shape;47;p3"/>
          <p:cNvSpPr/>
          <p:nvPr/>
        </p:nvSpPr>
        <p:spPr>
          <a:xfrm>
            <a:off x="457200" y="3765054"/>
            <a:ext cx="5695950" cy="1194346"/>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3303A"/>
              </a:buClr>
              <a:buSzPts val="1425"/>
              <a:buFont typeface="Arial"/>
              <a:buNone/>
            </a:pPr>
            <a:r>
              <a:rPr b="0" i="0" lang="en-US" sz="1425">
                <a:solidFill>
                  <a:srgbClr val="23303A"/>
                </a:solidFill>
                <a:latin typeface="Arial"/>
                <a:ea typeface="Arial"/>
                <a:cs typeface="Arial"/>
                <a:sym typeface="Arial"/>
              </a:rPr>
              <a:t>Electrical stimulation near the boundary between catching and avoidance regions could evoke both kinds of movement in rapid succession or together. The muscles can therefore execute these responses without an absolute peripheral incompatibility; normal separation requires central regulation.</a:t>
            </a:r>
            <a:endParaRPr sz="1800">
              <a:solidFill>
                <a:schemeClr val="dk1"/>
              </a:solidFill>
              <a:latin typeface="Calibri"/>
              <a:ea typeface="Calibri"/>
              <a:cs typeface="Calibri"/>
              <a:sym typeface="Calibri"/>
            </a:endParaRPr>
          </a:p>
        </p:txBody>
      </p:sp>
      <p:pic>
        <p:nvPicPr>
          <p:cNvPr id="48" name="Google Shape;48;p3"/>
          <p:cNvPicPr preferRelativeResize="0"/>
          <p:nvPr/>
        </p:nvPicPr>
        <p:blipFill rotWithShape="1">
          <a:blip r:embed="rId3">
            <a:alphaModFix/>
          </a:blip>
          <a:srcRect b="0" l="0" r="0" t="0"/>
          <a:stretch/>
        </p:blipFill>
        <p:spPr>
          <a:xfrm>
            <a:off x="7167322" y="1071563"/>
            <a:ext cx="3877156" cy="4229100"/>
          </a:xfrm>
          <a:prstGeom prst="rect">
            <a:avLst/>
          </a:prstGeom>
          <a:noFill/>
          <a:ln>
            <a:noFill/>
          </a:ln>
        </p:spPr>
      </p:pic>
      <p:sp>
        <p:nvSpPr>
          <p:cNvPr id="49" name="Google Shape;49;p3"/>
          <p:cNvSpPr/>
          <p:nvPr/>
        </p:nvSpPr>
        <p:spPr>
          <a:xfrm>
            <a:off x="6477000" y="5376863"/>
            <a:ext cx="5276850" cy="142875"/>
          </a:xfrm>
          <a:prstGeom prst="rect">
            <a:avLst/>
          </a:prstGeom>
          <a:noFill/>
          <a:ln>
            <a:noFill/>
          </a:ln>
        </p:spPr>
        <p:txBody>
          <a:bodyPr anchorCtr="0" anchor="t" bIns="0" lIns="0" spcFirstLastPara="1" rIns="0" wrap="square" tIns="0">
            <a:normAutofit/>
          </a:bodyPr>
          <a:lstStyle/>
          <a:p>
            <a:pPr indent="0" lvl="0" marL="0" marR="0" rtl="0" algn="l">
              <a:lnSpc>
                <a:spcPct val="125000"/>
              </a:lnSpc>
              <a:spcBef>
                <a:spcPts val="0"/>
              </a:spcBef>
              <a:spcAft>
                <a:spcPts val="0"/>
              </a:spcAft>
              <a:buClr>
                <a:srgbClr val="23303A"/>
              </a:buClr>
              <a:buSzPts val="900"/>
              <a:buFont typeface="Arial"/>
              <a:buNone/>
            </a:pPr>
            <a:r>
              <a:rPr b="0" i="0" lang="en-US" sz="900">
                <a:solidFill>
                  <a:srgbClr val="23303A"/>
                </a:solidFill>
                <a:latin typeface="Arial"/>
                <a:ea typeface="Arial"/>
                <a:cs typeface="Arial"/>
                <a:sym typeface="Arial"/>
              </a:rPr>
              <a:t>Ewert (1970), Fig. 1(A–B). Moving-object chamber and timed orienting responses.</a:t>
            </a:r>
            <a:endParaRPr sz="1800">
              <a:solidFill>
                <a:schemeClr val="dk1"/>
              </a:solidFill>
              <a:latin typeface="Calibri"/>
              <a:ea typeface="Calibri"/>
              <a:cs typeface="Calibri"/>
              <a:sym typeface="Calibri"/>
            </a:endParaRPr>
          </a:p>
        </p:txBody>
      </p:sp>
      <p:pic>
        <p:nvPicPr>
          <p:cNvPr id="50" name="Google Shape;50;p3"/>
          <p:cNvPicPr preferRelativeResize="0"/>
          <p:nvPr/>
        </p:nvPicPr>
        <p:blipFill rotWithShape="1">
          <a:blip r:embed="rId4">
            <a:alphaModFix/>
          </a:blip>
          <a:srcRect b="0" l="0" r="0" t="0"/>
          <a:stretch/>
        </p:blipFill>
        <p:spPr>
          <a:xfrm>
            <a:off x="457200" y="6405563"/>
            <a:ext cx="11277600" cy="242888"/>
          </a:xfrm>
          <a:prstGeom prst="rect">
            <a:avLst/>
          </a:prstGeom>
          <a:noFill/>
          <a:ln>
            <a:noFill/>
          </a:ln>
        </p:spPr>
      </p:pic>
      <p:sp>
        <p:nvSpPr>
          <p:cNvPr id="51" name="Google Shape;51;p3"/>
          <p:cNvSpPr/>
          <p:nvPr/>
        </p:nvSpPr>
        <p:spPr>
          <a:xfrm>
            <a:off x="457200" y="6491288"/>
            <a:ext cx="629692" cy="157163"/>
          </a:xfrm>
          <a:prstGeom prst="rect">
            <a:avLst/>
          </a:prstGeom>
          <a:noFill/>
          <a:ln>
            <a:noFill/>
          </a:ln>
        </p:spPr>
        <p:txBody>
          <a:bodyPr anchorCtr="0" anchor="t" bIns="0" lIns="0" spcFirstLastPara="1" rIns="0" wrap="square" tIns="0">
            <a:normAutofit/>
          </a:bodyPr>
          <a:lstStyle/>
          <a:p>
            <a:pPr indent="0" lvl="0" marL="0" marR="0" rtl="0" algn="l">
              <a:lnSpc>
                <a:spcPct val="150060"/>
              </a:lnSpc>
              <a:spcBef>
                <a:spcPts val="0"/>
              </a:spcBef>
              <a:spcAft>
                <a:spcPts val="0"/>
              </a:spcAft>
              <a:buClr>
                <a:srgbClr val="5F6E7A"/>
              </a:buClr>
              <a:buSzPts val="825"/>
              <a:buFont typeface="Arial"/>
              <a:buNone/>
            </a:pPr>
            <a:r>
              <a:rPr b="0" i="0" lang="en-US" sz="825">
                <a:solidFill>
                  <a:srgbClr val="5F6E7A"/>
                </a:solidFill>
                <a:latin typeface="Arial"/>
                <a:ea typeface="Arial"/>
                <a:cs typeface="Arial"/>
                <a:sym typeface="Arial"/>
              </a:rPr>
              <a:t>Ewert (1970)</a:t>
            </a:r>
            <a:endParaRPr sz="1800">
              <a:solidFill>
                <a:schemeClr val="dk1"/>
              </a:solidFill>
              <a:latin typeface="Calibri"/>
              <a:ea typeface="Calibri"/>
              <a:cs typeface="Calibri"/>
              <a:sym typeface="Calibri"/>
            </a:endParaRPr>
          </a:p>
        </p:txBody>
      </p:sp>
      <p:sp>
        <p:nvSpPr>
          <p:cNvPr id="52" name="Google Shape;52;p3"/>
          <p:cNvSpPr/>
          <p:nvPr/>
        </p:nvSpPr>
        <p:spPr>
          <a:xfrm>
            <a:off x="11614845" y="6491288"/>
            <a:ext cx="139005" cy="157163"/>
          </a:xfrm>
          <a:prstGeom prst="rect">
            <a:avLst/>
          </a:prstGeom>
          <a:noFill/>
          <a:ln>
            <a:noFill/>
          </a:ln>
        </p:spPr>
        <p:txBody>
          <a:bodyPr anchorCtr="0" anchor="t" bIns="0" lIns="0" spcFirstLastPara="1" rIns="0" wrap="square" tIns="0">
            <a:normAutofit/>
          </a:bodyPr>
          <a:lstStyle/>
          <a:p>
            <a:pPr indent="0" lvl="0" marL="0" marR="0" rtl="0" algn="l">
              <a:lnSpc>
                <a:spcPct val="150060"/>
              </a:lnSpc>
              <a:spcBef>
                <a:spcPts val="0"/>
              </a:spcBef>
              <a:spcAft>
                <a:spcPts val="0"/>
              </a:spcAft>
              <a:buClr>
                <a:srgbClr val="5F6E7A"/>
              </a:buClr>
              <a:buSzPts val="825"/>
              <a:buFont typeface="Arial"/>
              <a:buNone/>
            </a:pPr>
            <a:r>
              <a:rPr b="0" i="0" lang="en-US" sz="825">
                <a:solidFill>
                  <a:srgbClr val="5F6E7A"/>
                </a:solidFill>
                <a:latin typeface="Arial"/>
                <a:ea typeface="Arial"/>
                <a:cs typeface="Arial"/>
                <a:sym typeface="Arial"/>
              </a:rPr>
              <a:t>03</a:t>
            </a:r>
            <a:endParaRPr sz="1800">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6" name="Shape 56"/>
        <p:cNvGrpSpPr/>
        <p:nvPr/>
      </p:nvGrpSpPr>
      <p:grpSpPr>
        <a:xfrm>
          <a:off x="0" y="0"/>
          <a:ext cx="0" cy="0"/>
          <a:chOff x="0" y="0"/>
          <a:chExt cx="0" cy="0"/>
        </a:xfrm>
      </p:grpSpPr>
      <p:sp>
        <p:nvSpPr>
          <p:cNvPr id="57" name="Google Shape;57;p4"/>
          <p:cNvSpPr/>
          <p:nvPr/>
        </p:nvSpPr>
        <p:spPr>
          <a:xfrm>
            <a:off x="457200" y="457200"/>
            <a:ext cx="11296650" cy="328613"/>
          </a:xfrm>
          <a:prstGeom prst="rect">
            <a:avLst/>
          </a:prstGeom>
          <a:noFill/>
          <a:ln>
            <a:noFill/>
          </a:ln>
        </p:spPr>
        <p:txBody>
          <a:bodyPr anchorCtr="0" anchor="t" bIns="0" lIns="0" spcFirstLastPara="1" rIns="0" wrap="square" tIns="0">
            <a:normAutofit/>
          </a:bodyPr>
          <a:lstStyle/>
          <a:p>
            <a:pPr indent="0" lvl="0" marL="0" marR="0" rtl="0" algn="l">
              <a:lnSpc>
                <a:spcPct val="115022"/>
              </a:lnSpc>
              <a:spcBef>
                <a:spcPts val="0"/>
              </a:spcBef>
              <a:spcAft>
                <a:spcPts val="0"/>
              </a:spcAft>
              <a:buClr>
                <a:srgbClr val="35536B"/>
              </a:buClr>
              <a:buSzPts val="2250"/>
              <a:buFont typeface="Arial"/>
              <a:buNone/>
            </a:pPr>
            <a:r>
              <a:rPr b="1" i="0" lang="en-US" sz="2250">
                <a:solidFill>
                  <a:srgbClr val="35536B"/>
                </a:solidFill>
                <a:latin typeface="Arial"/>
                <a:ea typeface="Arial"/>
                <a:cs typeface="Arial"/>
                <a:sym typeface="Arial"/>
              </a:rPr>
              <a:t>Elongation across motion suppresses prey orientation</a:t>
            </a:r>
            <a:endParaRPr sz="1800">
              <a:solidFill>
                <a:schemeClr val="dk1"/>
              </a:solidFill>
              <a:latin typeface="Calibri"/>
              <a:ea typeface="Calibri"/>
              <a:cs typeface="Calibri"/>
              <a:sym typeface="Calibri"/>
            </a:endParaRPr>
          </a:p>
        </p:txBody>
      </p:sp>
      <p:sp>
        <p:nvSpPr>
          <p:cNvPr id="58" name="Google Shape;58;p4"/>
          <p:cNvSpPr/>
          <p:nvPr/>
        </p:nvSpPr>
        <p:spPr>
          <a:xfrm>
            <a:off x="457200" y="1071563"/>
            <a:ext cx="5695950" cy="955477"/>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3303A"/>
              </a:buClr>
              <a:buSzPts val="1425"/>
              <a:buFont typeface="Arial"/>
              <a:buNone/>
            </a:pPr>
            <a:r>
              <a:rPr b="0" i="0" lang="en-US" sz="1425">
                <a:solidFill>
                  <a:srgbClr val="23303A"/>
                </a:solidFill>
                <a:latin typeface="Arial"/>
                <a:ea typeface="Arial"/>
                <a:cs typeface="Arial"/>
                <a:sym typeface="Arial"/>
              </a:rPr>
              <a:t>A </a:t>
            </a:r>
            <a:r>
              <a:rPr b="1" i="0" lang="en-US" sz="1425">
                <a:solidFill>
                  <a:srgbClr val="23303A"/>
                </a:solidFill>
                <a:latin typeface="Arial"/>
                <a:ea typeface="Arial"/>
                <a:cs typeface="Arial"/>
                <a:sym typeface="Arial"/>
              </a:rPr>
              <a:t>worm-like stimulus</a:t>
            </a:r>
            <a:r>
              <a:rPr b="0" i="0" lang="en-US" sz="1425">
                <a:solidFill>
                  <a:srgbClr val="23303A"/>
                </a:solidFill>
                <a:latin typeface="Arial"/>
                <a:ea typeface="Arial"/>
                <a:cs typeface="Arial"/>
                <a:sym typeface="Arial"/>
              </a:rPr>
              <a:t> is a narrow rectangle moving parallel to its long axis. An </a:t>
            </a:r>
            <a:r>
              <a:rPr b="1" i="0" lang="en-US" sz="1425">
                <a:solidFill>
                  <a:srgbClr val="23303A"/>
                </a:solidFill>
                <a:latin typeface="Arial"/>
                <a:ea typeface="Arial"/>
                <a:cs typeface="Arial"/>
                <a:sym typeface="Arial"/>
              </a:rPr>
              <a:t>antiworm stimulus</a:t>
            </a:r>
            <a:r>
              <a:rPr b="0" i="0" lang="en-US" sz="1425">
                <a:solidFill>
                  <a:srgbClr val="23303A"/>
                </a:solidFill>
                <a:latin typeface="Arial"/>
                <a:ea typeface="Arial"/>
                <a:cs typeface="Arial"/>
                <a:sym typeface="Arial"/>
              </a:rPr>
              <a:t> has the same elongated form but moves perpendicular to that axis. These terms describe stimulus geometry rather than real species of prey.</a:t>
            </a:r>
            <a:endParaRPr sz="1800">
              <a:solidFill>
                <a:schemeClr val="dk1"/>
              </a:solidFill>
              <a:latin typeface="Calibri"/>
              <a:ea typeface="Calibri"/>
              <a:cs typeface="Calibri"/>
              <a:sym typeface="Calibri"/>
            </a:endParaRPr>
          </a:p>
        </p:txBody>
      </p:sp>
      <p:sp>
        <p:nvSpPr>
          <p:cNvPr id="59" name="Google Shape;59;p4"/>
          <p:cNvSpPr/>
          <p:nvPr/>
        </p:nvSpPr>
        <p:spPr>
          <a:xfrm>
            <a:off x="457200" y="2179439"/>
            <a:ext cx="5695950" cy="1433215"/>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3303A"/>
              </a:buClr>
              <a:buSzPts val="1425"/>
              <a:buFont typeface="Arial"/>
              <a:buNone/>
            </a:pPr>
            <a:r>
              <a:rPr b="0" i="0" lang="en-US" sz="1425">
                <a:solidFill>
                  <a:srgbClr val="23303A"/>
                </a:solidFill>
                <a:latin typeface="Arial"/>
                <a:ea typeface="Arial"/>
                <a:cs typeface="Arial"/>
                <a:sym typeface="Arial"/>
              </a:rPr>
              <a:t>At 30°/s, Ewert held one rectangle dimension at 2° while changing the other. Increasing length parallel to motion increased orienting toward a maximum at approximately 16–32°. Increasing width perpendicular to motion reduced the response. A square became more effective up to about 8° before larger squares lost prey value.</a:t>
            </a:r>
            <a:endParaRPr sz="1800">
              <a:solidFill>
                <a:schemeClr val="dk1"/>
              </a:solidFill>
              <a:latin typeface="Calibri"/>
              <a:ea typeface="Calibri"/>
              <a:cs typeface="Calibri"/>
              <a:sym typeface="Calibri"/>
            </a:endParaRPr>
          </a:p>
        </p:txBody>
      </p:sp>
      <p:sp>
        <p:nvSpPr>
          <p:cNvPr id="60" name="Google Shape;60;p4"/>
          <p:cNvSpPr/>
          <p:nvPr/>
        </p:nvSpPr>
        <p:spPr>
          <a:xfrm>
            <a:off x="457200" y="3765054"/>
            <a:ext cx="5695950" cy="955477"/>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3303A"/>
              </a:buClr>
              <a:buSzPts val="1425"/>
              <a:buFont typeface="Arial"/>
              <a:buNone/>
            </a:pPr>
            <a:r>
              <a:rPr b="0" i="0" lang="en-US" sz="1425">
                <a:solidFill>
                  <a:srgbClr val="23303A"/>
                </a:solidFill>
                <a:latin typeface="Arial"/>
                <a:ea typeface="Arial"/>
                <a:cs typeface="Arial"/>
                <a:sym typeface="Arial"/>
              </a:rPr>
              <a:t>The opposite effects of elongation require a relation between object dimensions and movement direction. Area alone cannot explain intact behavior, and the behavioral curves do not themselves identify the inhibitory neurons.</a:t>
            </a:r>
            <a:endParaRPr sz="1800">
              <a:solidFill>
                <a:schemeClr val="dk1"/>
              </a:solidFill>
              <a:latin typeface="Calibri"/>
              <a:ea typeface="Calibri"/>
              <a:cs typeface="Calibri"/>
              <a:sym typeface="Calibri"/>
            </a:endParaRPr>
          </a:p>
        </p:txBody>
      </p:sp>
      <p:pic>
        <p:nvPicPr>
          <p:cNvPr id="61" name="Google Shape;61;p4"/>
          <p:cNvPicPr preferRelativeResize="0"/>
          <p:nvPr/>
        </p:nvPicPr>
        <p:blipFill rotWithShape="1">
          <a:blip r:embed="rId3">
            <a:alphaModFix/>
          </a:blip>
          <a:srcRect b="0" l="0" r="0" t="0"/>
          <a:stretch/>
        </p:blipFill>
        <p:spPr>
          <a:xfrm>
            <a:off x="6477000" y="1071563"/>
            <a:ext cx="5257800" cy="3350662"/>
          </a:xfrm>
          <a:prstGeom prst="rect">
            <a:avLst/>
          </a:prstGeom>
          <a:noFill/>
          <a:ln>
            <a:noFill/>
          </a:ln>
        </p:spPr>
      </p:pic>
      <p:sp>
        <p:nvSpPr>
          <p:cNvPr id="62" name="Google Shape;62;p4"/>
          <p:cNvSpPr/>
          <p:nvPr/>
        </p:nvSpPr>
        <p:spPr>
          <a:xfrm>
            <a:off x="6477000" y="5376863"/>
            <a:ext cx="5276850" cy="285750"/>
          </a:xfrm>
          <a:prstGeom prst="rect">
            <a:avLst/>
          </a:prstGeom>
          <a:noFill/>
          <a:ln>
            <a:noFill/>
          </a:ln>
        </p:spPr>
        <p:txBody>
          <a:bodyPr anchorCtr="0" anchor="t" bIns="0" lIns="0" spcFirstLastPara="1" rIns="0" wrap="square" tIns="0">
            <a:normAutofit/>
          </a:bodyPr>
          <a:lstStyle/>
          <a:p>
            <a:pPr indent="0" lvl="0" marL="0" marR="0" rtl="0" algn="l">
              <a:lnSpc>
                <a:spcPct val="125000"/>
              </a:lnSpc>
              <a:spcBef>
                <a:spcPts val="0"/>
              </a:spcBef>
              <a:spcAft>
                <a:spcPts val="0"/>
              </a:spcAft>
              <a:buClr>
                <a:srgbClr val="23303A"/>
              </a:buClr>
              <a:buSzPts val="900"/>
              <a:buFont typeface="Arial"/>
              <a:buNone/>
            </a:pPr>
            <a:r>
              <a:rPr b="0" i="0" lang="en-US" sz="900">
                <a:solidFill>
                  <a:srgbClr val="23303A"/>
                </a:solidFill>
                <a:latin typeface="Arial"/>
                <a:ea typeface="Arial"/>
                <a:cs typeface="Arial"/>
                <a:sym typeface="Arial"/>
              </a:rPr>
              <a:t>Ewert (1970), Fig. 3(Aa–Ab). Intact toads respond differently to rectangle elongation along and across motion.</a:t>
            </a:r>
            <a:endParaRPr sz="1800">
              <a:solidFill>
                <a:schemeClr val="dk1"/>
              </a:solidFill>
              <a:latin typeface="Calibri"/>
              <a:ea typeface="Calibri"/>
              <a:cs typeface="Calibri"/>
              <a:sym typeface="Calibri"/>
            </a:endParaRPr>
          </a:p>
        </p:txBody>
      </p:sp>
      <p:pic>
        <p:nvPicPr>
          <p:cNvPr id="63" name="Google Shape;63;p4"/>
          <p:cNvPicPr preferRelativeResize="0"/>
          <p:nvPr/>
        </p:nvPicPr>
        <p:blipFill rotWithShape="1">
          <a:blip r:embed="rId4">
            <a:alphaModFix/>
          </a:blip>
          <a:srcRect b="0" l="0" r="0" t="0"/>
          <a:stretch/>
        </p:blipFill>
        <p:spPr>
          <a:xfrm>
            <a:off x="457200" y="6405563"/>
            <a:ext cx="11277600" cy="242888"/>
          </a:xfrm>
          <a:prstGeom prst="rect">
            <a:avLst/>
          </a:prstGeom>
          <a:noFill/>
          <a:ln>
            <a:noFill/>
          </a:ln>
        </p:spPr>
      </p:pic>
      <p:sp>
        <p:nvSpPr>
          <p:cNvPr id="64" name="Google Shape;64;p4"/>
          <p:cNvSpPr/>
          <p:nvPr/>
        </p:nvSpPr>
        <p:spPr>
          <a:xfrm>
            <a:off x="457200" y="6491288"/>
            <a:ext cx="629692" cy="157163"/>
          </a:xfrm>
          <a:prstGeom prst="rect">
            <a:avLst/>
          </a:prstGeom>
          <a:noFill/>
          <a:ln>
            <a:noFill/>
          </a:ln>
        </p:spPr>
        <p:txBody>
          <a:bodyPr anchorCtr="0" anchor="t" bIns="0" lIns="0" spcFirstLastPara="1" rIns="0" wrap="square" tIns="0">
            <a:normAutofit/>
          </a:bodyPr>
          <a:lstStyle/>
          <a:p>
            <a:pPr indent="0" lvl="0" marL="0" marR="0" rtl="0" algn="l">
              <a:lnSpc>
                <a:spcPct val="150060"/>
              </a:lnSpc>
              <a:spcBef>
                <a:spcPts val="0"/>
              </a:spcBef>
              <a:spcAft>
                <a:spcPts val="0"/>
              </a:spcAft>
              <a:buClr>
                <a:srgbClr val="5F6E7A"/>
              </a:buClr>
              <a:buSzPts val="825"/>
              <a:buFont typeface="Arial"/>
              <a:buNone/>
            </a:pPr>
            <a:r>
              <a:rPr b="0" i="0" lang="en-US" sz="825">
                <a:solidFill>
                  <a:srgbClr val="5F6E7A"/>
                </a:solidFill>
                <a:latin typeface="Arial"/>
                <a:ea typeface="Arial"/>
                <a:cs typeface="Arial"/>
                <a:sym typeface="Arial"/>
              </a:rPr>
              <a:t>Ewert (1970)</a:t>
            </a:r>
            <a:endParaRPr sz="1800">
              <a:solidFill>
                <a:schemeClr val="dk1"/>
              </a:solidFill>
              <a:latin typeface="Calibri"/>
              <a:ea typeface="Calibri"/>
              <a:cs typeface="Calibri"/>
              <a:sym typeface="Calibri"/>
            </a:endParaRPr>
          </a:p>
        </p:txBody>
      </p:sp>
      <p:sp>
        <p:nvSpPr>
          <p:cNvPr id="65" name="Google Shape;65;p4"/>
          <p:cNvSpPr/>
          <p:nvPr/>
        </p:nvSpPr>
        <p:spPr>
          <a:xfrm>
            <a:off x="11614845" y="6491288"/>
            <a:ext cx="139005" cy="157163"/>
          </a:xfrm>
          <a:prstGeom prst="rect">
            <a:avLst/>
          </a:prstGeom>
          <a:noFill/>
          <a:ln>
            <a:noFill/>
          </a:ln>
        </p:spPr>
        <p:txBody>
          <a:bodyPr anchorCtr="0" anchor="t" bIns="0" lIns="0" spcFirstLastPara="1" rIns="0" wrap="square" tIns="0">
            <a:normAutofit/>
          </a:bodyPr>
          <a:lstStyle/>
          <a:p>
            <a:pPr indent="0" lvl="0" marL="0" marR="0" rtl="0" algn="l">
              <a:lnSpc>
                <a:spcPct val="150060"/>
              </a:lnSpc>
              <a:spcBef>
                <a:spcPts val="0"/>
              </a:spcBef>
              <a:spcAft>
                <a:spcPts val="0"/>
              </a:spcAft>
              <a:buClr>
                <a:srgbClr val="5F6E7A"/>
              </a:buClr>
              <a:buSzPts val="825"/>
              <a:buFont typeface="Arial"/>
              <a:buNone/>
            </a:pPr>
            <a:r>
              <a:rPr b="0" i="0" lang="en-US" sz="825">
                <a:solidFill>
                  <a:srgbClr val="5F6E7A"/>
                </a:solidFill>
                <a:latin typeface="Arial"/>
                <a:ea typeface="Arial"/>
                <a:cs typeface="Arial"/>
                <a:sym typeface="Arial"/>
              </a:rPr>
              <a:t>04</a:t>
            </a:r>
            <a:endParaRPr sz="1800">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9" name="Shape 69"/>
        <p:cNvGrpSpPr/>
        <p:nvPr/>
      </p:nvGrpSpPr>
      <p:grpSpPr>
        <a:xfrm>
          <a:off x="0" y="0"/>
          <a:ext cx="0" cy="0"/>
          <a:chOff x="0" y="0"/>
          <a:chExt cx="0" cy="0"/>
        </a:xfrm>
      </p:grpSpPr>
      <p:sp>
        <p:nvSpPr>
          <p:cNvPr id="70" name="Google Shape;70;p5"/>
          <p:cNvSpPr/>
          <p:nvPr/>
        </p:nvSpPr>
        <p:spPr>
          <a:xfrm>
            <a:off x="457200" y="457200"/>
            <a:ext cx="11296650" cy="328613"/>
          </a:xfrm>
          <a:prstGeom prst="rect">
            <a:avLst/>
          </a:prstGeom>
          <a:noFill/>
          <a:ln>
            <a:noFill/>
          </a:ln>
        </p:spPr>
        <p:txBody>
          <a:bodyPr anchorCtr="0" anchor="t" bIns="0" lIns="0" spcFirstLastPara="1" rIns="0" wrap="square" tIns="0">
            <a:normAutofit/>
          </a:bodyPr>
          <a:lstStyle/>
          <a:p>
            <a:pPr indent="0" lvl="0" marL="0" marR="0" rtl="0" algn="l">
              <a:lnSpc>
                <a:spcPct val="115022"/>
              </a:lnSpc>
              <a:spcBef>
                <a:spcPts val="0"/>
              </a:spcBef>
              <a:spcAft>
                <a:spcPts val="0"/>
              </a:spcAft>
              <a:buClr>
                <a:srgbClr val="35536B"/>
              </a:buClr>
              <a:buSzPts val="2250"/>
              <a:buFont typeface="Arial"/>
              <a:buNone/>
            </a:pPr>
            <a:r>
              <a:rPr b="1" i="0" lang="en-US" sz="2250">
                <a:solidFill>
                  <a:srgbClr val="35536B"/>
                </a:solidFill>
                <a:latin typeface="Arial"/>
                <a:ea typeface="Arial"/>
                <a:cs typeface="Arial"/>
                <a:sym typeface="Arial"/>
              </a:rPr>
              <a:t>Neighboring objects can inhibit orienting</a:t>
            </a:r>
            <a:endParaRPr sz="1800">
              <a:solidFill>
                <a:schemeClr val="dk1"/>
              </a:solidFill>
              <a:latin typeface="Calibri"/>
              <a:ea typeface="Calibri"/>
              <a:cs typeface="Calibri"/>
              <a:sym typeface="Calibri"/>
            </a:endParaRPr>
          </a:p>
        </p:txBody>
      </p:sp>
      <p:sp>
        <p:nvSpPr>
          <p:cNvPr id="71" name="Google Shape;71;p5"/>
          <p:cNvSpPr/>
          <p:nvPr/>
        </p:nvSpPr>
        <p:spPr>
          <a:xfrm>
            <a:off x="457200" y="1071563"/>
            <a:ext cx="5695950" cy="1194346"/>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3303A"/>
              </a:buClr>
              <a:buSzPts val="1425"/>
              <a:buFont typeface="Arial"/>
              <a:buNone/>
            </a:pPr>
            <a:r>
              <a:rPr b="1" i="0" lang="en-US" sz="1425">
                <a:solidFill>
                  <a:srgbClr val="23303A"/>
                </a:solidFill>
                <a:latin typeface="Arial"/>
                <a:ea typeface="Arial"/>
                <a:cs typeface="Arial"/>
                <a:sym typeface="Arial"/>
              </a:rPr>
              <a:t>Spatial interaction</a:t>
            </a:r>
            <a:r>
              <a:rPr b="0" i="0" lang="en-US" sz="1425">
                <a:solidFill>
                  <a:srgbClr val="23303A"/>
                </a:solidFill>
                <a:latin typeface="Arial"/>
                <a:ea typeface="Arial"/>
                <a:cs typeface="Arial"/>
                <a:sym typeface="Arial"/>
              </a:rPr>
              <a:t> means that the response to one object depends on another object elsewhere in the visual field. Ewert compared orientation toward a single moving rectangle with orientation when a second rectangle moved alongside it, using the same 30°/s speed and high contrast.</a:t>
            </a:r>
            <a:endParaRPr sz="1800">
              <a:solidFill>
                <a:schemeClr val="dk1"/>
              </a:solidFill>
              <a:latin typeface="Calibri"/>
              <a:ea typeface="Calibri"/>
              <a:cs typeface="Calibri"/>
              <a:sym typeface="Calibri"/>
            </a:endParaRPr>
          </a:p>
        </p:txBody>
      </p:sp>
      <p:sp>
        <p:nvSpPr>
          <p:cNvPr id="72" name="Google Shape;72;p5"/>
          <p:cNvSpPr/>
          <p:nvPr/>
        </p:nvSpPr>
        <p:spPr>
          <a:xfrm>
            <a:off x="457200" y="2418308"/>
            <a:ext cx="5695950" cy="955477"/>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3303A"/>
              </a:buClr>
              <a:buSzPts val="1425"/>
              <a:buFont typeface="Arial"/>
              <a:buNone/>
            </a:pPr>
            <a:r>
              <a:rPr b="0" i="0" lang="en-US" sz="1425">
                <a:solidFill>
                  <a:srgbClr val="23303A"/>
                </a:solidFill>
                <a:latin typeface="Arial"/>
                <a:ea typeface="Arial"/>
                <a:cs typeface="Arial"/>
                <a:sym typeface="Arial"/>
              </a:rPr>
              <a:t>For paired 2° × 16° objects, suppression was greatest at approximately 8° separation. Objects farther apart produced less inhibition. Adding a second potential prey item therefore did not necessarily add a second independent orienting response.</a:t>
            </a:r>
            <a:endParaRPr sz="1800">
              <a:solidFill>
                <a:schemeClr val="dk1"/>
              </a:solidFill>
              <a:latin typeface="Calibri"/>
              <a:ea typeface="Calibri"/>
              <a:cs typeface="Calibri"/>
              <a:sym typeface="Calibri"/>
            </a:endParaRPr>
          </a:p>
        </p:txBody>
      </p:sp>
      <p:sp>
        <p:nvSpPr>
          <p:cNvPr id="73" name="Google Shape;73;p5"/>
          <p:cNvSpPr/>
          <p:nvPr/>
        </p:nvSpPr>
        <p:spPr>
          <a:xfrm>
            <a:off x="457200" y="3526185"/>
            <a:ext cx="5695950" cy="955477"/>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3303A"/>
              </a:buClr>
              <a:buSzPts val="1425"/>
              <a:buFont typeface="Arial"/>
              <a:buNone/>
            </a:pPr>
            <a:r>
              <a:rPr b="0" i="0" lang="en-US" sz="1425">
                <a:solidFill>
                  <a:srgbClr val="23303A"/>
                </a:solidFill>
                <a:latin typeface="Arial"/>
                <a:ea typeface="Arial"/>
                <a:cs typeface="Arial"/>
                <a:sym typeface="Arial"/>
              </a:rPr>
              <a:t>The manipulation supplies a behavioral constraint on visual processing: nearby signals interact before the final movement is selected. It does not localize the interaction exclusively to retina, pretectum or tectum without a separate intervention.</a:t>
            </a:r>
            <a:endParaRPr sz="1800">
              <a:solidFill>
                <a:schemeClr val="dk1"/>
              </a:solidFill>
              <a:latin typeface="Calibri"/>
              <a:ea typeface="Calibri"/>
              <a:cs typeface="Calibri"/>
              <a:sym typeface="Calibri"/>
            </a:endParaRPr>
          </a:p>
        </p:txBody>
      </p:sp>
      <p:pic>
        <p:nvPicPr>
          <p:cNvPr id="74" name="Google Shape;74;p5"/>
          <p:cNvPicPr preferRelativeResize="0"/>
          <p:nvPr/>
        </p:nvPicPr>
        <p:blipFill rotWithShape="1">
          <a:blip r:embed="rId3">
            <a:alphaModFix/>
          </a:blip>
          <a:srcRect b="0" l="0" r="0" t="0"/>
          <a:stretch/>
        </p:blipFill>
        <p:spPr>
          <a:xfrm>
            <a:off x="6477000" y="1071563"/>
            <a:ext cx="5257800" cy="3413807"/>
          </a:xfrm>
          <a:prstGeom prst="rect">
            <a:avLst/>
          </a:prstGeom>
          <a:noFill/>
          <a:ln>
            <a:noFill/>
          </a:ln>
        </p:spPr>
      </p:pic>
      <p:sp>
        <p:nvSpPr>
          <p:cNvPr id="75" name="Google Shape;75;p5"/>
          <p:cNvSpPr/>
          <p:nvPr/>
        </p:nvSpPr>
        <p:spPr>
          <a:xfrm>
            <a:off x="6477000" y="5376863"/>
            <a:ext cx="5276850" cy="142875"/>
          </a:xfrm>
          <a:prstGeom prst="rect">
            <a:avLst/>
          </a:prstGeom>
          <a:noFill/>
          <a:ln>
            <a:noFill/>
          </a:ln>
        </p:spPr>
        <p:txBody>
          <a:bodyPr anchorCtr="0" anchor="t" bIns="0" lIns="0" spcFirstLastPara="1" rIns="0" wrap="square" tIns="0">
            <a:normAutofit/>
          </a:bodyPr>
          <a:lstStyle/>
          <a:p>
            <a:pPr indent="0" lvl="0" marL="0" marR="0" rtl="0" algn="l">
              <a:lnSpc>
                <a:spcPct val="125000"/>
              </a:lnSpc>
              <a:spcBef>
                <a:spcPts val="0"/>
              </a:spcBef>
              <a:spcAft>
                <a:spcPts val="0"/>
              </a:spcAft>
              <a:buClr>
                <a:srgbClr val="23303A"/>
              </a:buClr>
              <a:buSzPts val="900"/>
              <a:buFont typeface="Arial"/>
              <a:buNone/>
            </a:pPr>
            <a:r>
              <a:rPr b="0" i="0" lang="en-US" sz="900">
                <a:solidFill>
                  <a:srgbClr val="23303A"/>
                </a:solidFill>
                <a:latin typeface="Arial"/>
                <a:ea typeface="Arial"/>
                <a:cs typeface="Arial"/>
                <a:sym typeface="Arial"/>
              </a:rPr>
              <a:t>Ewert (1970), Fig. 4(a–b). Paired moving objects inhibit orienting most strongly at 8° separation.</a:t>
            </a:r>
            <a:endParaRPr sz="1800">
              <a:solidFill>
                <a:schemeClr val="dk1"/>
              </a:solidFill>
              <a:latin typeface="Calibri"/>
              <a:ea typeface="Calibri"/>
              <a:cs typeface="Calibri"/>
              <a:sym typeface="Calibri"/>
            </a:endParaRPr>
          </a:p>
        </p:txBody>
      </p:sp>
      <p:pic>
        <p:nvPicPr>
          <p:cNvPr id="76" name="Google Shape;76;p5"/>
          <p:cNvPicPr preferRelativeResize="0"/>
          <p:nvPr/>
        </p:nvPicPr>
        <p:blipFill rotWithShape="1">
          <a:blip r:embed="rId4">
            <a:alphaModFix/>
          </a:blip>
          <a:srcRect b="0" l="0" r="0" t="0"/>
          <a:stretch/>
        </p:blipFill>
        <p:spPr>
          <a:xfrm>
            <a:off x="457200" y="6405563"/>
            <a:ext cx="11277600" cy="242888"/>
          </a:xfrm>
          <a:prstGeom prst="rect">
            <a:avLst/>
          </a:prstGeom>
          <a:noFill/>
          <a:ln>
            <a:noFill/>
          </a:ln>
        </p:spPr>
      </p:pic>
      <p:sp>
        <p:nvSpPr>
          <p:cNvPr id="77" name="Google Shape;77;p5"/>
          <p:cNvSpPr/>
          <p:nvPr/>
        </p:nvSpPr>
        <p:spPr>
          <a:xfrm>
            <a:off x="457200" y="6491288"/>
            <a:ext cx="629692" cy="157163"/>
          </a:xfrm>
          <a:prstGeom prst="rect">
            <a:avLst/>
          </a:prstGeom>
          <a:noFill/>
          <a:ln>
            <a:noFill/>
          </a:ln>
        </p:spPr>
        <p:txBody>
          <a:bodyPr anchorCtr="0" anchor="t" bIns="0" lIns="0" spcFirstLastPara="1" rIns="0" wrap="square" tIns="0">
            <a:normAutofit/>
          </a:bodyPr>
          <a:lstStyle/>
          <a:p>
            <a:pPr indent="0" lvl="0" marL="0" marR="0" rtl="0" algn="l">
              <a:lnSpc>
                <a:spcPct val="150060"/>
              </a:lnSpc>
              <a:spcBef>
                <a:spcPts val="0"/>
              </a:spcBef>
              <a:spcAft>
                <a:spcPts val="0"/>
              </a:spcAft>
              <a:buClr>
                <a:srgbClr val="5F6E7A"/>
              </a:buClr>
              <a:buSzPts val="825"/>
              <a:buFont typeface="Arial"/>
              <a:buNone/>
            </a:pPr>
            <a:r>
              <a:rPr b="0" i="0" lang="en-US" sz="825">
                <a:solidFill>
                  <a:srgbClr val="5F6E7A"/>
                </a:solidFill>
                <a:latin typeface="Arial"/>
                <a:ea typeface="Arial"/>
                <a:cs typeface="Arial"/>
                <a:sym typeface="Arial"/>
              </a:rPr>
              <a:t>Ewert (1970)</a:t>
            </a:r>
            <a:endParaRPr sz="1800">
              <a:solidFill>
                <a:schemeClr val="dk1"/>
              </a:solidFill>
              <a:latin typeface="Calibri"/>
              <a:ea typeface="Calibri"/>
              <a:cs typeface="Calibri"/>
              <a:sym typeface="Calibri"/>
            </a:endParaRPr>
          </a:p>
        </p:txBody>
      </p:sp>
      <p:sp>
        <p:nvSpPr>
          <p:cNvPr id="78" name="Google Shape;78;p5"/>
          <p:cNvSpPr/>
          <p:nvPr/>
        </p:nvSpPr>
        <p:spPr>
          <a:xfrm>
            <a:off x="11614845" y="6491288"/>
            <a:ext cx="139005" cy="157163"/>
          </a:xfrm>
          <a:prstGeom prst="rect">
            <a:avLst/>
          </a:prstGeom>
          <a:noFill/>
          <a:ln>
            <a:noFill/>
          </a:ln>
        </p:spPr>
        <p:txBody>
          <a:bodyPr anchorCtr="0" anchor="t" bIns="0" lIns="0" spcFirstLastPara="1" rIns="0" wrap="square" tIns="0">
            <a:normAutofit/>
          </a:bodyPr>
          <a:lstStyle/>
          <a:p>
            <a:pPr indent="0" lvl="0" marL="0" marR="0" rtl="0" algn="l">
              <a:lnSpc>
                <a:spcPct val="150060"/>
              </a:lnSpc>
              <a:spcBef>
                <a:spcPts val="0"/>
              </a:spcBef>
              <a:spcAft>
                <a:spcPts val="0"/>
              </a:spcAft>
              <a:buClr>
                <a:srgbClr val="5F6E7A"/>
              </a:buClr>
              <a:buSzPts val="825"/>
              <a:buFont typeface="Arial"/>
              <a:buNone/>
            </a:pPr>
            <a:r>
              <a:rPr b="0" i="0" lang="en-US" sz="825">
                <a:solidFill>
                  <a:srgbClr val="5F6E7A"/>
                </a:solidFill>
                <a:latin typeface="Arial"/>
                <a:ea typeface="Arial"/>
                <a:cs typeface="Arial"/>
                <a:sym typeface="Arial"/>
              </a:rPr>
              <a:t>05</a:t>
            </a:r>
            <a:endParaRPr sz="1800">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2" name="Shape 82"/>
        <p:cNvGrpSpPr/>
        <p:nvPr/>
      </p:nvGrpSpPr>
      <p:grpSpPr>
        <a:xfrm>
          <a:off x="0" y="0"/>
          <a:ext cx="0" cy="0"/>
          <a:chOff x="0" y="0"/>
          <a:chExt cx="0" cy="0"/>
        </a:xfrm>
      </p:grpSpPr>
      <p:sp>
        <p:nvSpPr>
          <p:cNvPr id="83" name="Google Shape;83;p6"/>
          <p:cNvSpPr/>
          <p:nvPr/>
        </p:nvSpPr>
        <p:spPr>
          <a:xfrm>
            <a:off x="457200" y="457200"/>
            <a:ext cx="11296650" cy="328613"/>
          </a:xfrm>
          <a:prstGeom prst="rect">
            <a:avLst/>
          </a:prstGeom>
          <a:noFill/>
          <a:ln>
            <a:noFill/>
          </a:ln>
        </p:spPr>
        <p:txBody>
          <a:bodyPr anchorCtr="0" anchor="t" bIns="0" lIns="0" spcFirstLastPara="1" rIns="0" wrap="square" tIns="0">
            <a:normAutofit/>
          </a:bodyPr>
          <a:lstStyle/>
          <a:p>
            <a:pPr indent="0" lvl="0" marL="0" marR="0" rtl="0" algn="l">
              <a:lnSpc>
                <a:spcPct val="115022"/>
              </a:lnSpc>
              <a:spcBef>
                <a:spcPts val="0"/>
              </a:spcBef>
              <a:spcAft>
                <a:spcPts val="0"/>
              </a:spcAft>
              <a:buClr>
                <a:srgbClr val="35536B"/>
              </a:buClr>
              <a:buSzPts val="2250"/>
              <a:buFont typeface="Arial"/>
              <a:buNone/>
            </a:pPr>
            <a:r>
              <a:rPr b="1" i="0" lang="en-US" sz="2250">
                <a:solidFill>
                  <a:srgbClr val="35536B"/>
                </a:solidFill>
                <a:latin typeface="Arial"/>
                <a:ea typeface="Arial"/>
                <a:cs typeface="Arial"/>
                <a:sym typeface="Arial"/>
              </a:rPr>
              <a:t>Avoidance sites lie rostral to the tectum</a:t>
            </a:r>
            <a:endParaRPr sz="1800">
              <a:solidFill>
                <a:schemeClr val="dk1"/>
              </a:solidFill>
              <a:latin typeface="Calibri"/>
              <a:ea typeface="Calibri"/>
              <a:cs typeface="Calibri"/>
              <a:sym typeface="Calibri"/>
            </a:endParaRPr>
          </a:p>
        </p:txBody>
      </p:sp>
      <p:sp>
        <p:nvSpPr>
          <p:cNvPr id="84" name="Google Shape;84;p6"/>
          <p:cNvSpPr/>
          <p:nvPr/>
        </p:nvSpPr>
        <p:spPr>
          <a:xfrm>
            <a:off x="457200" y="1071563"/>
            <a:ext cx="5695950" cy="1194346"/>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3303A"/>
              </a:buClr>
              <a:buSzPts val="1425"/>
              <a:buFont typeface="Arial"/>
              <a:buNone/>
            </a:pPr>
            <a:r>
              <a:rPr b="0" i="0" lang="en-US" sz="1425">
                <a:solidFill>
                  <a:srgbClr val="23303A"/>
                </a:solidFill>
                <a:latin typeface="Arial"/>
                <a:ea typeface="Arial"/>
                <a:cs typeface="Arial"/>
                <a:sym typeface="Arial"/>
              </a:rPr>
              <a:t>The </a:t>
            </a:r>
            <a:r>
              <a:rPr b="1" i="0" lang="en-US" sz="1425">
                <a:solidFill>
                  <a:srgbClr val="23303A"/>
                </a:solidFill>
                <a:latin typeface="Arial"/>
                <a:ea typeface="Arial"/>
                <a:cs typeface="Arial"/>
                <a:sym typeface="Arial"/>
              </a:rPr>
              <a:t>optic tectum</a:t>
            </a:r>
            <a:r>
              <a:rPr b="0" i="0" lang="en-US" sz="1425">
                <a:solidFill>
                  <a:srgbClr val="23303A"/>
                </a:solidFill>
                <a:latin typeface="Arial"/>
                <a:ea typeface="Arial"/>
                <a:cs typeface="Arial"/>
                <a:sym typeface="Arial"/>
              </a:rPr>
              <a:t> is the midbrain visual structure involved in directing movements toward visual targets. The </a:t>
            </a:r>
            <a:r>
              <a:rPr b="1" i="0" lang="en-US" sz="1425">
                <a:solidFill>
                  <a:srgbClr val="23303A"/>
                </a:solidFill>
                <a:latin typeface="Arial"/>
                <a:ea typeface="Arial"/>
                <a:cs typeface="Arial"/>
                <a:sym typeface="Arial"/>
              </a:rPr>
              <a:t>pretectum</a:t>
            </a:r>
            <a:r>
              <a:rPr b="0" i="0" lang="en-US" sz="1425">
                <a:solidFill>
                  <a:srgbClr val="23303A"/>
                </a:solidFill>
                <a:latin typeface="Arial"/>
                <a:ea typeface="Arial"/>
                <a:cs typeface="Arial"/>
                <a:sym typeface="Arial"/>
              </a:rPr>
              <a:t> lies immediately rostral to it, near the caudal diencephalon. Ewert mapped responses by stimulating localized sites in freely moving toads.</a:t>
            </a:r>
            <a:endParaRPr sz="1800">
              <a:solidFill>
                <a:schemeClr val="dk1"/>
              </a:solidFill>
              <a:latin typeface="Calibri"/>
              <a:ea typeface="Calibri"/>
              <a:cs typeface="Calibri"/>
              <a:sym typeface="Calibri"/>
            </a:endParaRPr>
          </a:p>
        </p:txBody>
      </p:sp>
      <p:sp>
        <p:nvSpPr>
          <p:cNvPr id="85" name="Google Shape;85;p6"/>
          <p:cNvSpPr/>
          <p:nvPr/>
        </p:nvSpPr>
        <p:spPr>
          <a:xfrm>
            <a:off x="457200" y="2418308"/>
            <a:ext cx="5695950" cy="1194346"/>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3303A"/>
              </a:buClr>
              <a:buSzPts val="1425"/>
              <a:buFont typeface="Arial"/>
              <a:buNone/>
            </a:pPr>
            <a:r>
              <a:rPr b="0" i="0" lang="en-US" sz="1425">
                <a:solidFill>
                  <a:srgbClr val="23303A"/>
                </a:solidFill>
                <a:latin typeface="Arial"/>
                <a:ea typeface="Arial"/>
                <a:cs typeface="Arial"/>
                <a:sym typeface="Arial"/>
              </a:rPr>
              <a:t>Stimulation in the pretectal and adjacent caudal dorsal thalamic regions evoked ducking, jumping or turning away from the opposite side. The published site maps distinguish these locations from tectal sites associated with catching movements and from boundary sites producing mixed responses.</a:t>
            </a:r>
            <a:endParaRPr sz="1800">
              <a:solidFill>
                <a:schemeClr val="dk1"/>
              </a:solidFill>
              <a:latin typeface="Calibri"/>
              <a:ea typeface="Calibri"/>
              <a:cs typeface="Calibri"/>
              <a:sym typeface="Calibri"/>
            </a:endParaRPr>
          </a:p>
        </p:txBody>
      </p:sp>
      <p:sp>
        <p:nvSpPr>
          <p:cNvPr id="86" name="Google Shape;86;p6"/>
          <p:cNvSpPr/>
          <p:nvPr/>
        </p:nvSpPr>
        <p:spPr>
          <a:xfrm>
            <a:off x="457200" y="3765054"/>
            <a:ext cx="5695950" cy="1194346"/>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3303A"/>
              </a:buClr>
              <a:buSzPts val="1425"/>
              <a:buFont typeface="Arial"/>
              <a:buNone/>
            </a:pPr>
            <a:r>
              <a:rPr b="0" i="0" lang="en-US" sz="1425">
                <a:solidFill>
                  <a:srgbClr val="23303A"/>
                </a:solidFill>
                <a:latin typeface="Arial"/>
                <a:ea typeface="Arial"/>
                <a:cs typeface="Arial"/>
                <a:sym typeface="Arial"/>
              </a:rPr>
              <a:t>Electrical stimulation establishes that activity introduced near these regions can recruit defensive motor behavior. Current can activate axons as well as nearby neurons, so a behavioral stimulation map does not identify a single specialized predator neuron.</a:t>
            </a:r>
            <a:endParaRPr sz="1800">
              <a:solidFill>
                <a:schemeClr val="dk1"/>
              </a:solidFill>
              <a:latin typeface="Calibri"/>
              <a:ea typeface="Calibri"/>
              <a:cs typeface="Calibri"/>
              <a:sym typeface="Calibri"/>
            </a:endParaRPr>
          </a:p>
        </p:txBody>
      </p:sp>
      <p:pic>
        <p:nvPicPr>
          <p:cNvPr id="87" name="Google Shape;87;p6"/>
          <p:cNvPicPr preferRelativeResize="0"/>
          <p:nvPr/>
        </p:nvPicPr>
        <p:blipFill rotWithShape="1">
          <a:blip r:embed="rId3">
            <a:alphaModFix/>
          </a:blip>
          <a:srcRect b="0" l="0" r="0" t="0"/>
          <a:stretch/>
        </p:blipFill>
        <p:spPr>
          <a:xfrm>
            <a:off x="7417507" y="1071563"/>
            <a:ext cx="3376786" cy="4229100"/>
          </a:xfrm>
          <a:prstGeom prst="rect">
            <a:avLst/>
          </a:prstGeom>
          <a:noFill/>
          <a:ln>
            <a:noFill/>
          </a:ln>
        </p:spPr>
      </p:pic>
      <p:sp>
        <p:nvSpPr>
          <p:cNvPr id="88" name="Google Shape;88;p6"/>
          <p:cNvSpPr/>
          <p:nvPr/>
        </p:nvSpPr>
        <p:spPr>
          <a:xfrm>
            <a:off x="6477000" y="5376863"/>
            <a:ext cx="5276850" cy="142875"/>
          </a:xfrm>
          <a:prstGeom prst="rect">
            <a:avLst/>
          </a:prstGeom>
          <a:noFill/>
          <a:ln>
            <a:noFill/>
          </a:ln>
        </p:spPr>
        <p:txBody>
          <a:bodyPr anchorCtr="0" anchor="t" bIns="0" lIns="0" spcFirstLastPara="1" rIns="0" wrap="square" tIns="0">
            <a:normAutofit/>
          </a:bodyPr>
          <a:lstStyle/>
          <a:p>
            <a:pPr indent="0" lvl="0" marL="0" marR="0" rtl="0" algn="l">
              <a:lnSpc>
                <a:spcPct val="125000"/>
              </a:lnSpc>
              <a:spcBef>
                <a:spcPts val="0"/>
              </a:spcBef>
              <a:spcAft>
                <a:spcPts val="0"/>
              </a:spcAft>
              <a:buClr>
                <a:srgbClr val="23303A"/>
              </a:buClr>
              <a:buSzPts val="900"/>
              <a:buFont typeface="Arial"/>
              <a:buNone/>
            </a:pPr>
            <a:r>
              <a:rPr b="0" i="0" lang="en-US" sz="900">
                <a:solidFill>
                  <a:srgbClr val="23303A"/>
                </a:solidFill>
                <a:latin typeface="Arial"/>
                <a:ea typeface="Arial"/>
                <a:cs typeface="Arial"/>
                <a:sym typeface="Arial"/>
              </a:rPr>
              <a:t>Ewert (1970), Fig. 7(d–f). Catching and avoidance stimulation sites.</a:t>
            </a:r>
            <a:endParaRPr sz="1800">
              <a:solidFill>
                <a:schemeClr val="dk1"/>
              </a:solidFill>
              <a:latin typeface="Calibri"/>
              <a:ea typeface="Calibri"/>
              <a:cs typeface="Calibri"/>
              <a:sym typeface="Calibri"/>
            </a:endParaRPr>
          </a:p>
        </p:txBody>
      </p:sp>
      <p:pic>
        <p:nvPicPr>
          <p:cNvPr id="89" name="Google Shape;89;p6"/>
          <p:cNvPicPr preferRelativeResize="0"/>
          <p:nvPr/>
        </p:nvPicPr>
        <p:blipFill rotWithShape="1">
          <a:blip r:embed="rId4">
            <a:alphaModFix/>
          </a:blip>
          <a:srcRect b="0" l="0" r="0" t="0"/>
          <a:stretch/>
        </p:blipFill>
        <p:spPr>
          <a:xfrm>
            <a:off x="457200" y="6405563"/>
            <a:ext cx="11277600" cy="242888"/>
          </a:xfrm>
          <a:prstGeom prst="rect">
            <a:avLst/>
          </a:prstGeom>
          <a:noFill/>
          <a:ln>
            <a:noFill/>
          </a:ln>
        </p:spPr>
      </p:pic>
      <p:sp>
        <p:nvSpPr>
          <p:cNvPr id="90" name="Google Shape;90;p6"/>
          <p:cNvSpPr/>
          <p:nvPr/>
        </p:nvSpPr>
        <p:spPr>
          <a:xfrm>
            <a:off x="457200" y="6491288"/>
            <a:ext cx="629692" cy="157163"/>
          </a:xfrm>
          <a:prstGeom prst="rect">
            <a:avLst/>
          </a:prstGeom>
          <a:noFill/>
          <a:ln>
            <a:noFill/>
          </a:ln>
        </p:spPr>
        <p:txBody>
          <a:bodyPr anchorCtr="0" anchor="t" bIns="0" lIns="0" spcFirstLastPara="1" rIns="0" wrap="square" tIns="0">
            <a:normAutofit/>
          </a:bodyPr>
          <a:lstStyle/>
          <a:p>
            <a:pPr indent="0" lvl="0" marL="0" marR="0" rtl="0" algn="l">
              <a:lnSpc>
                <a:spcPct val="150060"/>
              </a:lnSpc>
              <a:spcBef>
                <a:spcPts val="0"/>
              </a:spcBef>
              <a:spcAft>
                <a:spcPts val="0"/>
              </a:spcAft>
              <a:buClr>
                <a:srgbClr val="5F6E7A"/>
              </a:buClr>
              <a:buSzPts val="825"/>
              <a:buFont typeface="Arial"/>
              <a:buNone/>
            </a:pPr>
            <a:r>
              <a:rPr b="0" i="0" lang="en-US" sz="825">
                <a:solidFill>
                  <a:srgbClr val="5F6E7A"/>
                </a:solidFill>
                <a:latin typeface="Arial"/>
                <a:ea typeface="Arial"/>
                <a:cs typeface="Arial"/>
                <a:sym typeface="Arial"/>
              </a:rPr>
              <a:t>Ewert (1970)</a:t>
            </a:r>
            <a:endParaRPr sz="1800">
              <a:solidFill>
                <a:schemeClr val="dk1"/>
              </a:solidFill>
              <a:latin typeface="Calibri"/>
              <a:ea typeface="Calibri"/>
              <a:cs typeface="Calibri"/>
              <a:sym typeface="Calibri"/>
            </a:endParaRPr>
          </a:p>
        </p:txBody>
      </p:sp>
      <p:sp>
        <p:nvSpPr>
          <p:cNvPr id="91" name="Google Shape;91;p6"/>
          <p:cNvSpPr/>
          <p:nvPr/>
        </p:nvSpPr>
        <p:spPr>
          <a:xfrm>
            <a:off x="11614845" y="6491288"/>
            <a:ext cx="139005" cy="157163"/>
          </a:xfrm>
          <a:prstGeom prst="rect">
            <a:avLst/>
          </a:prstGeom>
          <a:noFill/>
          <a:ln>
            <a:noFill/>
          </a:ln>
        </p:spPr>
        <p:txBody>
          <a:bodyPr anchorCtr="0" anchor="t" bIns="0" lIns="0" spcFirstLastPara="1" rIns="0" wrap="square" tIns="0">
            <a:normAutofit/>
          </a:bodyPr>
          <a:lstStyle/>
          <a:p>
            <a:pPr indent="0" lvl="0" marL="0" marR="0" rtl="0" algn="l">
              <a:lnSpc>
                <a:spcPct val="150060"/>
              </a:lnSpc>
              <a:spcBef>
                <a:spcPts val="0"/>
              </a:spcBef>
              <a:spcAft>
                <a:spcPts val="0"/>
              </a:spcAft>
              <a:buClr>
                <a:srgbClr val="5F6E7A"/>
              </a:buClr>
              <a:buSzPts val="825"/>
              <a:buFont typeface="Arial"/>
              <a:buNone/>
            </a:pPr>
            <a:r>
              <a:rPr b="0" i="0" lang="en-US" sz="825">
                <a:solidFill>
                  <a:srgbClr val="5F6E7A"/>
                </a:solidFill>
                <a:latin typeface="Arial"/>
                <a:ea typeface="Arial"/>
                <a:cs typeface="Arial"/>
                <a:sym typeface="Arial"/>
              </a:rPr>
              <a:t>06</a:t>
            </a:r>
            <a:endParaRPr sz="1800">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5" name="Shape 95"/>
        <p:cNvGrpSpPr/>
        <p:nvPr/>
      </p:nvGrpSpPr>
      <p:grpSpPr>
        <a:xfrm>
          <a:off x="0" y="0"/>
          <a:ext cx="0" cy="0"/>
          <a:chOff x="0" y="0"/>
          <a:chExt cx="0" cy="0"/>
        </a:xfrm>
      </p:grpSpPr>
      <p:sp>
        <p:nvSpPr>
          <p:cNvPr id="96" name="Google Shape;96;p7"/>
          <p:cNvSpPr/>
          <p:nvPr/>
        </p:nvSpPr>
        <p:spPr>
          <a:xfrm>
            <a:off x="457200" y="457200"/>
            <a:ext cx="11296650" cy="328613"/>
          </a:xfrm>
          <a:prstGeom prst="rect">
            <a:avLst/>
          </a:prstGeom>
          <a:noFill/>
          <a:ln>
            <a:noFill/>
          </a:ln>
        </p:spPr>
        <p:txBody>
          <a:bodyPr anchorCtr="0" anchor="t" bIns="0" lIns="0" spcFirstLastPara="1" rIns="0" wrap="square" tIns="0">
            <a:normAutofit/>
          </a:bodyPr>
          <a:lstStyle/>
          <a:p>
            <a:pPr indent="0" lvl="0" marL="0" marR="0" rtl="0" algn="l">
              <a:lnSpc>
                <a:spcPct val="115022"/>
              </a:lnSpc>
              <a:spcBef>
                <a:spcPts val="0"/>
              </a:spcBef>
              <a:spcAft>
                <a:spcPts val="0"/>
              </a:spcAft>
              <a:buClr>
                <a:srgbClr val="35536B"/>
              </a:buClr>
              <a:buSzPts val="2250"/>
              <a:buFont typeface="Arial"/>
              <a:buNone/>
            </a:pPr>
            <a:r>
              <a:rPr b="1" i="0" lang="en-US" sz="2250">
                <a:solidFill>
                  <a:srgbClr val="35536B"/>
                </a:solidFill>
                <a:latin typeface="Arial"/>
                <a:ea typeface="Arial"/>
                <a:cs typeface="Arial"/>
                <a:sym typeface="Arial"/>
              </a:rPr>
              <a:t>Tectal stimulation directs distinct catching movements</a:t>
            </a:r>
            <a:endParaRPr sz="1800">
              <a:solidFill>
                <a:schemeClr val="dk1"/>
              </a:solidFill>
              <a:latin typeface="Calibri"/>
              <a:ea typeface="Calibri"/>
              <a:cs typeface="Calibri"/>
              <a:sym typeface="Calibri"/>
            </a:endParaRPr>
          </a:p>
        </p:txBody>
      </p:sp>
      <p:sp>
        <p:nvSpPr>
          <p:cNvPr id="97" name="Google Shape;97;p7"/>
          <p:cNvSpPr/>
          <p:nvPr/>
        </p:nvSpPr>
        <p:spPr>
          <a:xfrm>
            <a:off x="457200" y="1071563"/>
            <a:ext cx="5695950" cy="955477"/>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3303A"/>
              </a:buClr>
              <a:buSzPts val="1425"/>
              <a:buFont typeface="Arial"/>
              <a:buNone/>
            </a:pPr>
            <a:r>
              <a:rPr b="0" i="0" lang="en-US" sz="1425">
                <a:solidFill>
                  <a:srgbClr val="23303A"/>
                </a:solidFill>
                <a:latin typeface="Arial"/>
                <a:ea typeface="Arial"/>
                <a:cs typeface="Arial"/>
                <a:sym typeface="Arial"/>
              </a:rPr>
              <a:t>Ewert implanted electrodes in the optic tectum and applied pulse trains to freely moving toads. Appropriate stimulation could evoke turning, snapping and gulping without a prey object passing through the corresponding part of the visual field.</a:t>
            </a:r>
            <a:endParaRPr sz="1800">
              <a:solidFill>
                <a:schemeClr val="dk1"/>
              </a:solidFill>
              <a:latin typeface="Calibri"/>
              <a:ea typeface="Calibri"/>
              <a:cs typeface="Calibri"/>
              <a:sym typeface="Calibri"/>
            </a:endParaRPr>
          </a:p>
        </p:txBody>
      </p:sp>
      <p:sp>
        <p:nvSpPr>
          <p:cNvPr id="98" name="Google Shape;98;p7"/>
          <p:cNvSpPr/>
          <p:nvPr/>
        </p:nvSpPr>
        <p:spPr>
          <a:xfrm>
            <a:off x="457200" y="2179439"/>
            <a:ext cx="5695950" cy="1194346"/>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3303A"/>
              </a:buClr>
              <a:buSzPts val="1425"/>
              <a:buFont typeface="Arial"/>
              <a:buNone/>
            </a:pPr>
            <a:r>
              <a:rPr b="0" i="0" lang="en-US" sz="1425">
                <a:solidFill>
                  <a:srgbClr val="23303A"/>
                </a:solidFill>
                <a:latin typeface="Arial"/>
                <a:ea typeface="Arial"/>
                <a:cs typeface="Arial"/>
                <a:sym typeface="Arial"/>
              </a:rPr>
              <a:t>Different tectal locations directed orienting or snapping toward different sectors of the opposite visual field. This </a:t>
            </a:r>
            <a:r>
              <a:rPr b="1" i="0" lang="en-US" sz="1425">
                <a:solidFill>
                  <a:srgbClr val="23303A"/>
                </a:solidFill>
                <a:latin typeface="Arial"/>
                <a:ea typeface="Arial"/>
                <a:cs typeface="Arial"/>
                <a:sym typeface="Arial"/>
              </a:rPr>
              <a:t>retinotopic organization</a:t>
            </a:r>
            <a:r>
              <a:rPr b="0" i="0" lang="en-US" sz="1425">
                <a:solidFill>
                  <a:srgbClr val="23303A"/>
                </a:solidFill>
                <a:latin typeface="Arial"/>
                <a:ea typeface="Arial"/>
                <a:cs typeface="Arial"/>
                <a:sym typeface="Arial"/>
              </a:rPr>
              <a:t> preserves spatial relationships from the retina, the light-sensitive neural tissue of the eye, in a central map used to direct movement.</a:t>
            </a:r>
            <a:endParaRPr sz="1800">
              <a:solidFill>
                <a:schemeClr val="dk1"/>
              </a:solidFill>
              <a:latin typeface="Calibri"/>
              <a:ea typeface="Calibri"/>
              <a:cs typeface="Calibri"/>
              <a:sym typeface="Calibri"/>
            </a:endParaRPr>
          </a:p>
        </p:txBody>
      </p:sp>
      <p:sp>
        <p:nvSpPr>
          <p:cNvPr id="99" name="Google Shape;99;p7"/>
          <p:cNvSpPr/>
          <p:nvPr/>
        </p:nvSpPr>
        <p:spPr>
          <a:xfrm>
            <a:off x="457200" y="3526185"/>
            <a:ext cx="5695950" cy="1194346"/>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3303A"/>
              </a:buClr>
              <a:buSzPts val="1425"/>
              <a:buFont typeface="Arial"/>
              <a:buNone/>
            </a:pPr>
            <a:r>
              <a:rPr b="0" i="0" lang="en-US" sz="1425">
                <a:solidFill>
                  <a:srgbClr val="23303A"/>
                </a:solidFill>
                <a:latin typeface="Arial"/>
                <a:ea typeface="Arial"/>
                <a:cs typeface="Arial"/>
                <a:sym typeface="Arial"/>
              </a:rPr>
              <a:t>The stimulation bypasses normal stimulus classification but preserves a relation between brain location and movement direction. It supports a tectal contribution to visuomotor output; it does not establish that the tectum operates independently of pretectal inhibition or other brain regions.</a:t>
            </a:r>
            <a:endParaRPr sz="1800">
              <a:solidFill>
                <a:schemeClr val="dk1"/>
              </a:solidFill>
              <a:latin typeface="Calibri"/>
              <a:ea typeface="Calibri"/>
              <a:cs typeface="Calibri"/>
              <a:sym typeface="Calibri"/>
            </a:endParaRPr>
          </a:p>
        </p:txBody>
      </p:sp>
      <p:pic>
        <p:nvPicPr>
          <p:cNvPr id="100" name="Google Shape;100;p7"/>
          <p:cNvPicPr preferRelativeResize="0"/>
          <p:nvPr/>
        </p:nvPicPr>
        <p:blipFill rotWithShape="1">
          <a:blip r:embed="rId3">
            <a:alphaModFix/>
          </a:blip>
          <a:srcRect b="0" l="0" r="0" t="0"/>
          <a:stretch/>
        </p:blipFill>
        <p:spPr>
          <a:xfrm>
            <a:off x="7608933" y="1071563"/>
            <a:ext cx="2993934" cy="4229100"/>
          </a:xfrm>
          <a:prstGeom prst="rect">
            <a:avLst/>
          </a:prstGeom>
          <a:noFill/>
          <a:ln>
            <a:noFill/>
          </a:ln>
        </p:spPr>
      </p:pic>
      <p:sp>
        <p:nvSpPr>
          <p:cNvPr id="101" name="Google Shape;101;p7"/>
          <p:cNvSpPr/>
          <p:nvPr/>
        </p:nvSpPr>
        <p:spPr>
          <a:xfrm>
            <a:off x="6477000" y="5376863"/>
            <a:ext cx="5276850" cy="142875"/>
          </a:xfrm>
          <a:prstGeom prst="rect">
            <a:avLst/>
          </a:prstGeom>
          <a:noFill/>
          <a:ln>
            <a:noFill/>
          </a:ln>
        </p:spPr>
        <p:txBody>
          <a:bodyPr anchorCtr="0" anchor="t" bIns="0" lIns="0" spcFirstLastPara="1" rIns="0" wrap="square" tIns="0">
            <a:normAutofit/>
          </a:bodyPr>
          <a:lstStyle/>
          <a:p>
            <a:pPr indent="0" lvl="0" marL="0" marR="0" rtl="0" algn="l">
              <a:lnSpc>
                <a:spcPct val="125000"/>
              </a:lnSpc>
              <a:spcBef>
                <a:spcPts val="0"/>
              </a:spcBef>
              <a:spcAft>
                <a:spcPts val="0"/>
              </a:spcAft>
              <a:buClr>
                <a:srgbClr val="23303A"/>
              </a:buClr>
              <a:buSzPts val="900"/>
              <a:buFont typeface="Arial"/>
              <a:buNone/>
            </a:pPr>
            <a:r>
              <a:rPr b="0" i="0" lang="en-US" sz="900">
                <a:solidFill>
                  <a:srgbClr val="23303A"/>
                </a:solidFill>
                <a:latin typeface="Arial"/>
                <a:ea typeface="Arial"/>
                <a:cs typeface="Arial"/>
                <a:sym typeface="Arial"/>
              </a:rPr>
              <a:t>Ewert (1970), Fig. 6(a–e). Tectal stimulation sites and directed turning, snapping and gulping.</a:t>
            </a:r>
            <a:endParaRPr sz="1800">
              <a:solidFill>
                <a:schemeClr val="dk1"/>
              </a:solidFill>
              <a:latin typeface="Calibri"/>
              <a:ea typeface="Calibri"/>
              <a:cs typeface="Calibri"/>
              <a:sym typeface="Calibri"/>
            </a:endParaRPr>
          </a:p>
        </p:txBody>
      </p:sp>
      <p:pic>
        <p:nvPicPr>
          <p:cNvPr id="102" name="Google Shape;102;p7"/>
          <p:cNvPicPr preferRelativeResize="0"/>
          <p:nvPr/>
        </p:nvPicPr>
        <p:blipFill rotWithShape="1">
          <a:blip r:embed="rId4">
            <a:alphaModFix/>
          </a:blip>
          <a:srcRect b="0" l="0" r="0" t="0"/>
          <a:stretch/>
        </p:blipFill>
        <p:spPr>
          <a:xfrm>
            <a:off x="457200" y="6405563"/>
            <a:ext cx="11277600" cy="242888"/>
          </a:xfrm>
          <a:prstGeom prst="rect">
            <a:avLst/>
          </a:prstGeom>
          <a:noFill/>
          <a:ln>
            <a:noFill/>
          </a:ln>
        </p:spPr>
      </p:pic>
      <p:sp>
        <p:nvSpPr>
          <p:cNvPr id="103" name="Google Shape;103;p7"/>
          <p:cNvSpPr/>
          <p:nvPr/>
        </p:nvSpPr>
        <p:spPr>
          <a:xfrm>
            <a:off x="457200" y="6491288"/>
            <a:ext cx="629692" cy="157163"/>
          </a:xfrm>
          <a:prstGeom prst="rect">
            <a:avLst/>
          </a:prstGeom>
          <a:noFill/>
          <a:ln>
            <a:noFill/>
          </a:ln>
        </p:spPr>
        <p:txBody>
          <a:bodyPr anchorCtr="0" anchor="t" bIns="0" lIns="0" spcFirstLastPara="1" rIns="0" wrap="square" tIns="0">
            <a:normAutofit/>
          </a:bodyPr>
          <a:lstStyle/>
          <a:p>
            <a:pPr indent="0" lvl="0" marL="0" marR="0" rtl="0" algn="l">
              <a:lnSpc>
                <a:spcPct val="150060"/>
              </a:lnSpc>
              <a:spcBef>
                <a:spcPts val="0"/>
              </a:spcBef>
              <a:spcAft>
                <a:spcPts val="0"/>
              </a:spcAft>
              <a:buClr>
                <a:srgbClr val="5F6E7A"/>
              </a:buClr>
              <a:buSzPts val="825"/>
              <a:buFont typeface="Arial"/>
              <a:buNone/>
            </a:pPr>
            <a:r>
              <a:rPr b="0" i="0" lang="en-US" sz="825">
                <a:solidFill>
                  <a:srgbClr val="5F6E7A"/>
                </a:solidFill>
                <a:latin typeface="Arial"/>
                <a:ea typeface="Arial"/>
                <a:cs typeface="Arial"/>
                <a:sym typeface="Arial"/>
              </a:rPr>
              <a:t>Ewert (1970)</a:t>
            </a:r>
            <a:endParaRPr sz="1800">
              <a:solidFill>
                <a:schemeClr val="dk1"/>
              </a:solidFill>
              <a:latin typeface="Calibri"/>
              <a:ea typeface="Calibri"/>
              <a:cs typeface="Calibri"/>
              <a:sym typeface="Calibri"/>
            </a:endParaRPr>
          </a:p>
        </p:txBody>
      </p:sp>
      <p:sp>
        <p:nvSpPr>
          <p:cNvPr id="104" name="Google Shape;104;p7"/>
          <p:cNvSpPr/>
          <p:nvPr/>
        </p:nvSpPr>
        <p:spPr>
          <a:xfrm>
            <a:off x="11614845" y="6491288"/>
            <a:ext cx="139005" cy="157163"/>
          </a:xfrm>
          <a:prstGeom prst="rect">
            <a:avLst/>
          </a:prstGeom>
          <a:noFill/>
          <a:ln>
            <a:noFill/>
          </a:ln>
        </p:spPr>
        <p:txBody>
          <a:bodyPr anchorCtr="0" anchor="t" bIns="0" lIns="0" spcFirstLastPara="1" rIns="0" wrap="square" tIns="0">
            <a:normAutofit/>
          </a:bodyPr>
          <a:lstStyle/>
          <a:p>
            <a:pPr indent="0" lvl="0" marL="0" marR="0" rtl="0" algn="l">
              <a:lnSpc>
                <a:spcPct val="150060"/>
              </a:lnSpc>
              <a:spcBef>
                <a:spcPts val="0"/>
              </a:spcBef>
              <a:spcAft>
                <a:spcPts val="0"/>
              </a:spcAft>
              <a:buClr>
                <a:srgbClr val="5F6E7A"/>
              </a:buClr>
              <a:buSzPts val="825"/>
              <a:buFont typeface="Arial"/>
              <a:buNone/>
            </a:pPr>
            <a:r>
              <a:rPr b="0" i="0" lang="en-US" sz="825">
                <a:solidFill>
                  <a:srgbClr val="5F6E7A"/>
                </a:solidFill>
                <a:latin typeface="Arial"/>
                <a:ea typeface="Arial"/>
                <a:cs typeface="Arial"/>
                <a:sym typeface="Arial"/>
              </a:rPr>
              <a:t>07</a:t>
            </a:r>
            <a:endParaRPr sz="1800">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8" name="Shape 108"/>
        <p:cNvGrpSpPr/>
        <p:nvPr/>
      </p:nvGrpSpPr>
      <p:grpSpPr>
        <a:xfrm>
          <a:off x="0" y="0"/>
          <a:ext cx="0" cy="0"/>
          <a:chOff x="0" y="0"/>
          <a:chExt cx="0" cy="0"/>
        </a:xfrm>
      </p:grpSpPr>
      <p:sp>
        <p:nvSpPr>
          <p:cNvPr id="109" name="Google Shape;109;p8"/>
          <p:cNvSpPr/>
          <p:nvPr/>
        </p:nvSpPr>
        <p:spPr>
          <a:xfrm>
            <a:off x="457200" y="457200"/>
            <a:ext cx="11296650" cy="328613"/>
          </a:xfrm>
          <a:prstGeom prst="rect">
            <a:avLst/>
          </a:prstGeom>
          <a:noFill/>
          <a:ln>
            <a:noFill/>
          </a:ln>
        </p:spPr>
        <p:txBody>
          <a:bodyPr anchorCtr="0" anchor="t" bIns="0" lIns="0" spcFirstLastPara="1" rIns="0" wrap="square" tIns="0">
            <a:normAutofit/>
          </a:bodyPr>
          <a:lstStyle/>
          <a:p>
            <a:pPr indent="0" lvl="0" marL="0" marR="0" rtl="0" algn="l">
              <a:lnSpc>
                <a:spcPct val="115022"/>
              </a:lnSpc>
              <a:spcBef>
                <a:spcPts val="0"/>
              </a:spcBef>
              <a:spcAft>
                <a:spcPts val="0"/>
              </a:spcAft>
              <a:buClr>
                <a:srgbClr val="35536B"/>
              </a:buClr>
              <a:buSzPts val="2250"/>
              <a:buFont typeface="Arial"/>
              <a:buNone/>
            </a:pPr>
            <a:r>
              <a:rPr b="1" i="0" lang="en-US" sz="2250">
                <a:solidFill>
                  <a:srgbClr val="35536B"/>
                </a:solidFill>
                <a:latin typeface="Arial"/>
                <a:ea typeface="Arial"/>
                <a:cs typeface="Arial"/>
                <a:sym typeface="Arial"/>
              </a:rPr>
              <a:t>Prolonged pretectal stimulation reverses behavior</a:t>
            </a:r>
            <a:endParaRPr sz="1800">
              <a:solidFill>
                <a:schemeClr val="dk1"/>
              </a:solidFill>
              <a:latin typeface="Calibri"/>
              <a:ea typeface="Calibri"/>
              <a:cs typeface="Calibri"/>
              <a:sym typeface="Calibri"/>
            </a:endParaRPr>
          </a:p>
        </p:txBody>
      </p:sp>
      <p:sp>
        <p:nvSpPr>
          <p:cNvPr id="110" name="Google Shape;110;p8"/>
          <p:cNvSpPr/>
          <p:nvPr/>
        </p:nvSpPr>
        <p:spPr>
          <a:xfrm>
            <a:off x="457200" y="1071563"/>
            <a:ext cx="5695950" cy="955477"/>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3303A"/>
              </a:buClr>
              <a:buSzPts val="1425"/>
              <a:buFont typeface="Arial"/>
              <a:buNone/>
            </a:pPr>
            <a:r>
              <a:rPr b="0" i="0" lang="en-US" sz="1425">
                <a:solidFill>
                  <a:srgbClr val="23303A"/>
                </a:solidFill>
                <a:latin typeface="Arial"/>
                <a:ea typeface="Arial"/>
                <a:cs typeface="Arial"/>
                <a:sym typeface="Arial"/>
              </a:rPr>
              <a:t>Ewert prolonged stimulation of the pretectal and caudal thalamic region at 60 Hz. The initial effect was an avoidance response, but continued stimulation raised the avoidance threshold and eventually produced unresponsiveness to the stimulation.</a:t>
            </a:r>
            <a:endParaRPr sz="1800">
              <a:solidFill>
                <a:schemeClr val="dk1"/>
              </a:solidFill>
              <a:latin typeface="Calibri"/>
              <a:ea typeface="Calibri"/>
              <a:cs typeface="Calibri"/>
              <a:sym typeface="Calibri"/>
            </a:endParaRPr>
          </a:p>
        </p:txBody>
      </p:sp>
      <p:sp>
        <p:nvSpPr>
          <p:cNvPr id="111" name="Google Shape;111;p8"/>
          <p:cNvSpPr/>
          <p:nvPr/>
        </p:nvSpPr>
        <p:spPr>
          <a:xfrm>
            <a:off x="457200" y="2179439"/>
            <a:ext cx="5695950" cy="1194346"/>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3303A"/>
              </a:buClr>
              <a:buSzPts val="1425"/>
              <a:buFont typeface="Arial"/>
              <a:buNone/>
            </a:pPr>
            <a:r>
              <a:rPr b="0" i="0" lang="en-US" sz="1425">
                <a:solidFill>
                  <a:srgbClr val="23303A"/>
                </a:solidFill>
                <a:latin typeface="Arial"/>
                <a:ea typeface="Arial"/>
                <a:cs typeface="Arial"/>
                <a:sym typeface="Arial"/>
              </a:rPr>
              <a:t>During a later phase, toads oriented and snapped toward large moving objects that they would ordinarily avoid. The response progressed from ducking through mixed orienting–avoidance movements to catching movements. After approximately 10–30 minutes of recovery, appropriate avoidance could return.</a:t>
            </a:r>
            <a:endParaRPr sz="1800">
              <a:solidFill>
                <a:schemeClr val="dk1"/>
              </a:solidFill>
              <a:latin typeface="Calibri"/>
              <a:ea typeface="Calibri"/>
              <a:cs typeface="Calibri"/>
              <a:sym typeface="Calibri"/>
            </a:endParaRPr>
          </a:p>
        </p:txBody>
      </p:sp>
      <p:sp>
        <p:nvSpPr>
          <p:cNvPr id="112" name="Google Shape;112;p8"/>
          <p:cNvSpPr/>
          <p:nvPr/>
        </p:nvSpPr>
        <p:spPr>
          <a:xfrm>
            <a:off x="457200" y="3526185"/>
            <a:ext cx="5695950" cy="1194346"/>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3303A"/>
              </a:buClr>
              <a:buSzPts val="1425"/>
              <a:buFont typeface="Arial"/>
              <a:buNone/>
            </a:pPr>
            <a:r>
              <a:rPr b="0" i="0" lang="en-US" sz="1425">
                <a:solidFill>
                  <a:srgbClr val="23303A"/>
                </a:solidFill>
                <a:latin typeface="Arial"/>
                <a:ea typeface="Arial"/>
                <a:cs typeface="Arial"/>
                <a:sym typeface="Arial"/>
              </a:rPr>
              <a:t>This reversible sequence is consistent with temporary loss of a restraining influence on prey capture. It does not establish whether the loss results from adaptation, transmitter depletion, altered ionic conditions or another consequence of sustained electrical activation.</a:t>
            </a:r>
            <a:endParaRPr sz="1800">
              <a:solidFill>
                <a:schemeClr val="dk1"/>
              </a:solidFill>
              <a:latin typeface="Calibri"/>
              <a:ea typeface="Calibri"/>
              <a:cs typeface="Calibri"/>
              <a:sym typeface="Calibri"/>
            </a:endParaRPr>
          </a:p>
        </p:txBody>
      </p:sp>
      <p:pic>
        <p:nvPicPr>
          <p:cNvPr id="113" name="Google Shape;113;p8"/>
          <p:cNvPicPr preferRelativeResize="0"/>
          <p:nvPr/>
        </p:nvPicPr>
        <p:blipFill rotWithShape="1">
          <a:blip r:embed="rId3">
            <a:alphaModFix/>
          </a:blip>
          <a:srcRect b="0" l="0" r="0" t="0"/>
          <a:stretch/>
        </p:blipFill>
        <p:spPr>
          <a:xfrm>
            <a:off x="6718990" y="1071563"/>
            <a:ext cx="1782970" cy="4171950"/>
          </a:xfrm>
          <a:prstGeom prst="rect">
            <a:avLst/>
          </a:prstGeom>
          <a:noFill/>
          <a:ln>
            <a:noFill/>
          </a:ln>
        </p:spPr>
      </p:pic>
      <p:sp>
        <p:nvSpPr>
          <p:cNvPr id="114" name="Google Shape;114;p8"/>
          <p:cNvSpPr/>
          <p:nvPr/>
        </p:nvSpPr>
        <p:spPr>
          <a:xfrm>
            <a:off x="6477000" y="5319713"/>
            <a:ext cx="2286000" cy="428625"/>
          </a:xfrm>
          <a:prstGeom prst="rect">
            <a:avLst/>
          </a:prstGeom>
          <a:noFill/>
          <a:ln>
            <a:noFill/>
          </a:ln>
        </p:spPr>
        <p:txBody>
          <a:bodyPr anchorCtr="0" anchor="t" bIns="0" lIns="0" spcFirstLastPara="1" rIns="0" wrap="square" tIns="0">
            <a:normAutofit/>
          </a:bodyPr>
          <a:lstStyle/>
          <a:p>
            <a:pPr indent="0" lvl="0" marL="0" marR="0" rtl="0" algn="l">
              <a:lnSpc>
                <a:spcPct val="125000"/>
              </a:lnSpc>
              <a:spcBef>
                <a:spcPts val="0"/>
              </a:spcBef>
              <a:spcAft>
                <a:spcPts val="0"/>
              </a:spcAft>
              <a:buClr>
                <a:srgbClr val="23303A"/>
              </a:buClr>
              <a:buSzPts val="900"/>
              <a:buFont typeface="Arial"/>
              <a:buNone/>
            </a:pPr>
            <a:r>
              <a:rPr b="0" i="0" lang="en-US" sz="900">
                <a:solidFill>
                  <a:srgbClr val="23303A"/>
                </a:solidFill>
                <a:latin typeface="Arial"/>
                <a:ea typeface="Arial"/>
                <a:cs typeface="Arial"/>
                <a:sym typeface="Arial"/>
              </a:rPr>
              <a:t>Ewert (1970), Fig. 8(a–c). Prolonged stimulation changes ducking to mixed responses and snapping.</a:t>
            </a:r>
            <a:endParaRPr sz="1800">
              <a:solidFill>
                <a:schemeClr val="dk1"/>
              </a:solidFill>
              <a:latin typeface="Calibri"/>
              <a:ea typeface="Calibri"/>
              <a:cs typeface="Calibri"/>
              <a:sym typeface="Calibri"/>
            </a:endParaRPr>
          </a:p>
        </p:txBody>
      </p:sp>
      <p:pic>
        <p:nvPicPr>
          <p:cNvPr id="115" name="Google Shape;115;p8"/>
          <p:cNvPicPr preferRelativeResize="0"/>
          <p:nvPr/>
        </p:nvPicPr>
        <p:blipFill rotWithShape="1">
          <a:blip r:embed="rId4">
            <a:alphaModFix/>
          </a:blip>
          <a:srcRect b="0" l="0" r="0" t="0"/>
          <a:stretch/>
        </p:blipFill>
        <p:spPr>
          <a:xfrm>
            <a:off x="8984635" y="1681163"/>
            <a:ext cx="2661881" cy="3333750"/>
          </a:xfrm>
          <a:prstGeom prst="rect">
            <a:avLst/>
          </a:prstGeom>
          <a:noFill/>
          <a:ln>
            <a:noFill/>
          </a:ln>
        </p:spPr>
      </p:pic>
      <p:sp>
        <p:nvSpPr>
          <p:cNvPr id="116" name="Google Shape;116;p8"/>
          <p:cNvSpPr/>
          <p:nvPr/>
        </p:nvSpPr>
        <p:spPr>
          <a:xfrm>
            <a:off x="8896350" y="5091113"/>
            <a:ext cx="2857500" cy="285750"/>
          </a:xfrm>
          <a:prstGeom prst="rect">
            <a:avLst/>
          </a:prstGeom>
          <a:noFill/>
          <a:ln>
            <a:noFill/>
          </a:ln>
        </p:spPr>
        <p:txBody>
          <a:bodyPr anchorCtr="0" anchor="t" bIns="0" lIns="0" spcFirstLastPara="1" rIns="0" wrap="square" tIns="0">
            <a:normAutofit/>
          </a:bodyPr>
          <a:lstStyle/>
          <a:p>
            <a:pPr indent="0" lvl="0" marL="0" marR="0" rtl="0" algn="l">
              <a:lnSpc>
                <a:spcPct val="125000"/>
              </a:lnSpc>
              <a:spcBef>
                <a:spcPts val="0"/>
              </a:spcBef>
              <a:spcAft>
                <a:spcPts val="0"/>
              </a:spcAft>
              <a:buClr>
                <a:srgbClr val="23303A"/>
              </a:buClr>
              <a:buSzPts val="900"/>
              <a:buFont typeface="Arial"/>
              <a:buNone/>
            </a:pPr>
            <a:r>
              <a:rPr b="0" i="0" lang="en-US" sz="900">
                <a:solidFill>
                  <a:srgbClr val="23303A"/>
                </a:solidFill>
                <a:latin typeface="Arial"/>
                <a:ea typeface="Arial"/>
                <a:cs typeface="Arial"/>
                <a:sym typeface="Arial"/>
              </a:rPr>
              <a:t>Ewert (1970), Fig. 7(d–f). Catching and avoidance stimulation sites.</a:t>
            </a:r>
            <a:endParaRPr sz="1800">
              <a:solidFill>
                <a:schemeClr val="dk1"/>
              </a:solidFill>
              <a:latin typeface="Calibri"/>
              <a:ea typeface="Calibri"/>
              <a:cs typeface="Calibri"/>
              <a:sym typeface="Calibri"/>
            </a:endParaRPr>
          </a:p>
        </p:txBody>
      </p:sp>
      <p:pic>
        <p:nvPicPr>
          <p:cNvPr id="117" name="Google Shape;117;p8"/>
          <p:cNvPicPr preferRelativeResize="0"/>
          <p:nvPr/>
        </p:nvPicPr>
        <p:blipFill rotWithShape="1">
          <a:blip r:embed="rId5">
            <a:alphaModFix/>
          </a:blip>
          <a:srcRect b="0" l="0" r="0" t="0"/>
          <a:stretch/>
        </p:blipFill>
        <p:spPr>
          <a:xfrm>
            <a:off x="457200" y="6405563"/>
            <a:ext cx="11277600" cy="242888"/>
          </a:xfrm>
          <a:prstGeom prst="rect">
            <a:avLst/>
          </a:prstGeom>
          <a:noFill/>
          <a:ln>
            <a:noFill/>
          </a:ln>
        </p:spPr>
      </p:pic>
      <p:sp>
        <p:nvSpPr>
          <p:cNvPr id="118" name="Google Shape;118;p8"/>
          <p:cNvSpPr/>
          <p:nvPr/>
        </p:nvSpPr>
        <p:spPr>
          <a:xfrm>
            <a:off x="457200" y="6491288"/>
            <a:ext cx="629692" cy="157163"/>
          </a:xfrm>
          <a:prstGeom prst="rect">
            <a:avLst/>
          </a:prstGeom>
          <a:noFill/>
          <a:ln>
            <a:noFill/>
          </a:ln>
        </p:spPr>
        <p:txBody>
          <a:bodyPr anchorCtr="0" anchor="t" bIns="0" lIns="0" spcFirstLastPara="1" rIns="0" wrap="square" tIns="0">
            <a:normAutofit/>
          </a:bodyPr>
          <a:lstStyle/>
          <a:p>
            <a:pPr indent="0" lvl="0" marL="0" marR="0" rtl="0" algn="l">
              <a:lnSpc>
                <a:spcPct val="150060"/>
              </a:lnSpc>
              <a:spcBef>
                <a:spcPts val="0"/>
              </a:spcBef>
              <a:spcAft>
                <a:spcPts val="0"/>
              </a:spcAft>
              <a:buClr>
                <a:srgbClr val="5F6E7A"/>
              </a:buClr>
              <a:buSzPts val="825"/>
              <a:buFont typeface="Arial"/>
              <a:buNone/>
            </a:pPr>
            <a:r>
              <a:rPr b="0" i="0" lang="en-US" sz="825">
                <a:solidFill>
                  <a:srgbClr val="5F6E7A"/>
                </a:solidFill>
                <a:latin typeface="Arial"/>
                <a:ea typeface="Arial"/>
                <a:cs typeface="Arial"/>
                <a:sym typeface="Arial"/>
              </a:rPr>
              <a:t>Ewert (1970)</a:t>
            </a:r>
            <a:endParaRPr sz="1800">
              <a:solidFill>
                <a:schemeClr val="dk1"/>
              </a:solidFill>
              <a:latin typeface="Calibri"/>
              <a:ea typeface="Calibri"/>
              <a:cs typeface="Calibri"/>
              <a:sym typeface="Calibri"/>
            </a:endParaRPr>
          </a:p>
        </p:txBody>
      </p:sp>
      <p:sp>
        <p:nvSpPr>
          <p:cNvPr id="119" name="Google Shape;119;p8"/>
          <p:cNvSpPr/>
          <p:nvPr/>
        </p:nvSpPr>
        <p:spPr>
          <a:xfrm>
            <a:off x="11614845" y="6491288"/>
            <a:ext cx="139005" cy="157163"/>
          </a:xfrm>
          <a:prstGeom prst="rect">
            <a:avLst/>
          </a:prstGeom>
          <a:noFill/>
          <a:ln>
            <a:noFill/>
          </a:ln>
        </p:spPr>
        <p:txBody>
          <a:bodyPr anchorCtr="0" anchor="t" bIns="0" lIns="0" spcFirstLastPara="1" rIns="0" wrap="square" tIns="0">
            <a:normAutofit/>
          </a:bodyPr>
          <a:lstStyle/>
          <a:p>
            <a:pPr indent="0" lvl="0" marL="0" marR="0" rtl="0" algn="l">
              <a:lnSpc>
                <a:spcPct val="150060"/>
              </a:lnSpc>
              <a:spcBef>
                <a:spcPts val="0"/>
              </a:spcBef>
              <a:spcAft>
                <a:spcPts val="0"/>
              </a:spcAft>
              <a:buClr>
                <a:srgbClr val="5F6E7A"/>
              </a:buClr>
              <a:buSzPts val="825"/>
              <a:buFont typeface="Arial"/>
              <a:buNone/>
            </a:pPr>
            <a:r>
              <a:rPr b="0" i="0" lang="en-US" sz="825">
                <a:solidFill>
                  <a:srgbClr val="5F6E7A"/>
                </a:solidFill>
                <a:latin typeface="Arial"/>
                <a:ea typeface="Arial"/>
                <a:cs typeface="Arial"/>
                <a:sym typeface="Arial"/>
              </a:rPr>
              <a:t>08</a:t>
            </a:r>
            <a:endParaRPr sz="1800">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3" name="Shape 123"/>
        <p:cNvGrpSpPr/>
        <p:nvPr/>
      </p:nvGrpSpPr>
      <p:grpSpPr>
        <a:xfrm>
          <a:off x="0" y="0"/>
          <a:ext cx="0" cy="0"/>
          <a:chOff x="0" y="0"/>
          <a:chExt cx="0" cy="0"/>
        </a:xfrm>
      </p:grpSpPr>
      <p:sp>
        <p:nvSpPr>
          <p:cNvPr id="124" name="Google Shape;124;p9"/>
          <p:cNvSpPr/>
          <p:nvPr/>
        </p:nvSpPr>
        <p:spPr>
          <a:xfrm>
            <a:off x="457200" y="457200"/>
            <a:ext cx="11296650" cy="328613"/>
          </a:xfrm>
          <a:prstGeom prst="rect">
            <a:avLst/>
          </a:prstGeom>
          <a:noFill/>
          <a:ln>
            <a:noFill/>
          </a:ln>
        </p:spPr>
        <p:txBody>
          <a:bodyPr anchorCtr="0" anchor="t" bIns="0" lIns="0" spcFirstLastPara="1" rIns="0" wrap="square" tIns="0">
            <a:normAutofit/>
          </a:bodyPr>
          <a:lstStyle/>
          <a:p>
            <a:pPr indent="0" lvl="0" marL="0" marR="0" rtl="0" algn="l">
              <a:lnSpc>
                <a:spcPct val="115022"/>
              </a:lnSpc>
              <a:spcBef>
                <a:spcPts val="0"/>
              </a:spcBef>
              <a:spcAft>
                <a:spcPts val="0"/>
              </a:spcAft>
              <a:buClr>
                <a:srgbClr val="35536B"/>
              </a:buClr>
              <a:buSzPts val="2250"/>
              <a:buFont typeface="Arial"/>
              <a:buNone/>
            </a:pPr>
            <a:r>
              <a:rPr b="1" i="0" lang="en-US" sz="2250">
                <a:solidFill>
                  <a:srgbClr val="35536B"/>
                </a:solidFill>
                <a:latin typeface="Arial"/>
                <a:ea typeface="Arial"/>
                <a:cs typeface="Arial"/>
                <a:sym typeface="Arial"/>
              </a:rPr>
              <a:t>Pretectal lesions release inappropriate prey capture</a:t>
            </a:r>
            <a:endParaRPr sz="1800">
              <a:solidFill>
                <a:schemeClr val="dk1"/>
              </a:solidFill>
              <a:latin typeface="Calibri"/>
              <a:ea typeface="Calibri"/>
              <a:cs typeface="Calibri"/>
              <a:sym typeface="Calibri"/>
            </a:endParaRPr>
          </a:p>
        </p:txBody>
      </p:sp>
      <p:sp>
        <p:nvSpPr>
          <p:cNvPr id="125" name="Google Shape;125;p9"/>
          <p:cNvSpPr/>
          <p:nvPr/>
        </p:nvSpPr>
        <p:spPr>
          <a:xfrm>
            <a:off x="457200" y="1071563"/>
            <a:ext cx="5695950" cy="955477"/>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3303A"/>
              </a:buClr>
              <a:buSzPts val="1425"/>
              <a:buFont typeface="Arial"/>
              <a:buNone/>
            </a:pPr>
            <a:r>
              <a:rPr b="0" i="0" lang="en-US" sz="1425">
                <a:solidFill>
                  <a:srgbClr val="23303A"/>
                </a:solidFill>
                <a:latin typeface="Arial"/>
                <a:ea typeface="Arial"/>
                <a:cs typeface="Arial"/>
                <a:sym typeface="Arial"/>
              </a:rPr>
              <a:t>A </a:t>
            </a:r>
            <a:r>
              <a:rPr b="1" i="0" lang="en-US" sz="1425">
                <a:solidFill>
                  <a:srgbClr val="23303A"/>
                </a:solidFill>
                <a:latin typeface="Arial"/>
                <a:ea typeface="Arial"/>
                <a:cs typeface="Arial"/>
                <a:sym typeface="Arial"/>
              </a:rPr>
              <a:t>lesion</a:t>
            </a:r>
            <a:r>
              <a:rPr b="0" i="0" lang="en-US" sz="1425">
                <a:solidFill>
                  <a:srgbClr val="23303A"/>
                </a:solidFill>
                <a:latin typeface="Arial"/>
                <a:ea typeface="Arial"/>
                <a:cs typeface="Arial"/>
                <a:sym typeface="Arial"/>
              </a:rPr>
              <a:t> is tissue damage introduced to test the contribution of a brain region or connection. Ewert used knife cuts and high-frequency coagulation in pretectal and caudal dorsal thalamic areas that normally participate in avoidance-related regulation.</a:t>
            </a:r>
            <a:endParaRPr sz="1800">
              <a:solidFill>
                <a:schemeClr val="dk1"/>
              </a:solidFill>
              <a:latin typeface="Calibri"/>
              <a:ea typeface="Calibri"/>
              <a:cs typeface="Calibri"/>
              <a:sym typeface="Calibri"/>
            </a:endParaRPr>
          </a:p>
        </p:txBody>
      </p:sp>
      <p:sp>
        <p:nvSpPr>
          <p:cNvPr id="126" name="Google Shape;126;p9"/>
          <p:cNvSpPr/>
          <p:nvPr/>
        </p:nvSpPr>
        <p:spPr>
          <a:xfrm>
            <a:off x="457200" y="2179439"/>
            <a:ext cx="5695950" cy="1194346"/>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3303A"/>
              </a:buClr>
              <a:buSzPts val="1425"/>
              <a:buFont typeface="Arial"/>
              <a:buNone/>
            </a:pPr>
            <a:r>
              <a:rPr b="0" i="0" lang="en-US" sz="1425">
                <a:solidFill>
                  <a:srgbClr val="23303A"/>
                </a:solidFill>
                <a:latin typeface="Arial"/>
                <a:ea typeface="Arial"/>
                <a:cs typeface="Arial"/>
                <a:sym typeface="Arial"/>
              </a:rPr>
              <a:t>After these lesions, toads snapped at their own legs, another toad, an experimenter’s hand or a moving shoe box. </a:t>
            </a:r>
            <a:r>
              <a:rPr b="1" i="0" lang="en-US" sz="1425">
                <a:solidFill>
                  <a:srgbClr val="23303A"/>
                </a:solidFill>
                <a:latin typeface="Arial"/>
                <a:ea typeface="Arial"/>
                <a:cs typeface="Arial"/>
                <a:sym typeface="Arial"/>
              </a:rPr>
              <a:t>Disinhibition</a:t>
            </a:r>
            <a:r>
              <a:rPr b="0" i="0" lang="en-US" sz="1425">
                <a:solidFill>
                  <a:srgbClr val="23303A"/>
                </a:solidFill>
                <a:latin typeface="Arial"/>
                <a:ea typeface="Arial"/>
                <a:cs typeface="Arial"/>
                <a:sym typeface="Arial"/>
              </a:rPr>
              <a:t> is increased activity or behavior after a restraining influence is removed. The abnormal catching could persist from 24 hours to several weeks, depending on lesion location.</a:t>
            </a:r>
            <a:endParaRPr sz="1800">
              <a:solidFill>
                <a:schemeClr val="dk1"/>
              </a:solidFill>
              <a:latin typeface="Calibri"/>
              <a:ea typeface="Calibri"/>
              <a:cs typeface="Calibri"/>
              <a:sym typeface="Calibri"/>
            </a:endParaRPr>
          </a:p>
        </p:txBody>
      </p:sp>
      <p:sp>
        <p:nvSpPr>
          <p:cNvPr id="127" name="Google Shape;127;p9"/>
          <p:cNvSpPr/>
          <p:nvPr/>
        </p:nvSpPr>
        <p:spPr>
          <a:xfrm>
            <a:off x="457200" y="3526185"/>
            <a:ext cx="5695950" cy="1194346"/>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3303A"/>
              </a:buClr>
              <a:buSzPts val="1425"/>
              <a:buFont typeface="Arial"/>
              <a:buNone/>
            </a:pPr>
            <a:r>
              <a:rPr b="0" i="0" lang="en-US" sz="1425">
                <a:solidFill>
                  <a:srgbClr val="23303A"/>
                </a:solidFill>
                <a:latin typeface="Arial"/>
                <a:ea typeface="Arial"/>
                <a:cs typeface="Arial"/>
                <a:sym typeface="Arial"/>
              </a:rPr>
              <a:t>The animals retained the motor capacity to orient and snap but lost normal restrictions on suitable targets. Because the lesions affected tissue and passing connections, they establish a regional contribution rather than the necessity of one transmitter or cell class.</a:t>
            </a:r>
            <a:endParaRPr sz="1800">
              <a:solidFill>
                <a:schemeClr val="dk1"/>
              </a:solidFill>
              <a:latin typeface="Calibri"/>
              <a:ea typeface="Calibri"/>
              <a:cs typeface="Calibri"/>
              <a:sym typeface="Calibri"/>
            </a:endParaRPr>
          </a:p>
        </p:txBody>
      </p:sp>
      <p:pic>
        <p:nvPicPr>
          <p:cNvPr id="128" name="Google Shape;128;p9"/>
          <p:cNvPicPr preferRelativeResize="0"/>
          <p:nvPr/>
        </p:nvPicPr>
        <p:blipFill rotWithShape="1">
          <a:blip r:embed="rId3">
            <a:alphaModFix/>
          </a:blip>
          <a:srcRect b="0" l="0" r="0" t="0"/>
          <a:stretch/>
        </p:blipFill>
        <p:spPr>
          <a:xfrm>
            <a:off x="7248900" y="1071563"/>
            <a:ext cx="1961400" cy="4171950"/>
          </a:xfrm>
          <a:prstGeom prst="rect">
            <a:avLst/>
          </a:prstGeom>
          <a:noFill/>
          <a:ln>
            <a:noFill/>
          </a:ln>
        </p:spPr>
      </p:pic>
      <p:sp>
        <p:nvSpPr>
          <p:cNvPr id="129" name="Google Shape;129;p9"/>
          <p:cNvSpPr/>
          <p:nvPr/>
        </p:nvSpPr>
        <p:spPr>
          <a:xfrm>
            <a:off x="6477000" y="5319713"/>
            <a:ext cx="3524250" cy="285750"/>
          </a:xfrm>
          <a:prstGeom prst="rect">
            <a:avLst/>
          </a:prstGeom>
          <a:noFill/>
          <a:ln>
            <a:noFill/>
          </a:ln>
        </p:spPr>
        <p:txBody>
          <a:bodyPr anchorCtr="0" anchor="t" bIns="0" lIns="0" spcFirstLastPara="1" rIns="0" wrap="square" tIns="0">
            <a:normAutofit/>
          </a:bodyPr>
          <a:lstStyle/>
          <a:p>
            <a:pPr indent="0" lvl="0" marL="0" marR="0" rtl="0" algn="l">
              <a:lnSpc>
                <a:spcPct val="125000"/>
              </a:lnSpc>
              <a:spcBef>
                <a:spcPts val="0"/>
              </a:spcBef>
              <a:spcAft>
                <a:spcPts val="0"/>
              </a:spcAft>
              <a:buClr>
                <a:srgbClr val="23303A"/>
              </a:buClr>
              <a:buSzPts val="900"/>
              <a:buFont typeface="Arial"/>
              <a:buNone/>
            </a:pPr>
            <a:r>
              <a:rPr b="0" i="0" lang="en-US" sz="900">
                <a:solidFill>
                  <a:srgbClr val="23303A"/>
                </a:solidFill>
                <a:latin typeface="Arial"/>
                <a:ea typeface="Arial"/>
                <a:cs typeface="Arial"/>
                <a:sym typeface="Arial"/>
              </a:rPr>
              <a:t>Ewert (1970), Fig. 9(a–d). Disinhibited toads pursue large and inappropriate objects.</a:t>
            </a:r>
            <a:endParaRPr sz="1800">
              <a:solidFill>
                <a:schemeClr val="dk1"/>
              </a:solidFill>
              <a:latin typeface="Calibri"/>
              <a:ea typeface="Calibri"/>
              <a:cs typeface="Calibri"/>
              <a:sym typeface="Calibri"/>
            </a:endParaRPr>
          </a:p>
        </p:txBody>
      </p:sp>
      <p:pic>
        <p:nvPicPr>
          <p:cNvPr id="130" name="Google Shape;130;p9"/>
          <p:cNvPicPr preferRelativeResize="0"/>
          <p:nvPr/>
        </p:nvPicPr>
        <p:blipFill rotWithShape="1">
          <a:blip r:embed="rId4">
            <a:alphaModFix/>
          </a:blip>
          <a:srcRect b="0" l="0" r="0" t="0"/>
          <a:stretch/>
        </p:blipFill>
        <p:spPr>
          <a:xfrm>
            <a:off x="10134600" y="1681163"/>
            <a:ext cx="1600200" cy="2486374"/>
          </a:xfrm>
          <a:prstGeom prst="rect">
            <a:avLst/>
          </a:prstGeom>
          <a:noFill/>
          <a:ln>
            <a:noFill/>
          </a:ln>
        </p:spPr>
      </p:pic>
      <p:sp>
        <p:nvSpPr>
          <p:cNvPr id="131" name="Google Shape;131;p9"/>
          <p:cNvSpPr/>
          <p:nvPr/>
        </p:nvSpPr>
        <p:spPr>
          <a:xfrm>
            <a:off x="10134600" y="5091113"/>
            <a:ext cx="1619250" cy="285750"/>
          </a:xfrm>
          <a:prstGeom prst="rect">
            <a:avLst/>
          </a:prstGeom>
          <a:noFill/>
          <a:ln>
            <a:noFill/>
          </a:ln>
        </p:spPr>
        <p:txBody>
          <a:bodyPr anchorCtr="0" anchor="t" bIns="0" lIns="0" spcFirstLastPara="1" rIns="0" wrap="square" tIns="0">
            <a:normAutofit/>
          </a:bodyPr>
          <a:lstStyle/>
          <a:p>
            <a:pPr indent="0" lvl="0" marL="0" marR="0" rtl="0" algn="l">
              <a:lnSpc>
                <a:spcPct val="125000"/>
              </a:lnSpc>
              <a:spcBef>
                <a:spcPts val="0"/>
              </a:spcBef>
              <a:spcAft>
                <a:spcPts val="0"/>
              </a:spcAft>
              <a:buClr>
                <a:srgbClr val="23303A"/>
              </a:buClr>
              <a:buSzPts val="900"/>
              <a:buFont typeface="Arial"/>
              <a:buNone/>
            </a:pPr>
            <a:r>
              <a:rPr b="0" i="0" lang="en-US" sz="900">
                <a:solidFill>
                  <a:srgbClr val="23303A"/>
                </a:solidFill>
                <a:latin typeface="Arial"/>
                <a:ea typeface="Arial"/>
                <a:cs typeface="Arial"/>
                <a:sym typeface="Arial"/>
              </a:rPr>
              <a:t>Ewert (1970), Fig. 10(A–D). Lesion maps and visual fields.</a:t>
            </a:r>
            <a:endParaRPr sz="1800">
              <a:solidFill>
                <a:schemeClr val="dk1"/>
              </a:solidFill>
              <a:latin typeface="Calibri"/>
              <a:ea typeface="Calibri"/>
              <a:cs typeface="Calibri"/>
              <a:sym typeface="Calibri"/>
            </a:endParaRPr>
          </a:p>
        </p:txBody>
      </p:sp>
      <p:pic>
        <p:nvPicPr>
          <p:cNvPr id="132" name="Google Shape;132;p9"/>
          <p:cNvPicPr preferRelativeResize="0"/>
          <p:nvPr/>
        </p:nvPicPr>
        <p:blipFill rotWithShape="1">
          <a:blip r:embed="rId5">
            <a:alphaModFix/>
          </a:blip>
          <a:srcRect b="0" l="0" r="0" t="0"/>
          <a:stretch/>
        </p:blipFill>
        <p:spPr>
          <a:xfrm>
            <a:off x="457200" y="6405563"/>
            <a:ext cx="11277600" cy="242888"/>
          </a:xfrm>
          <a:prstGeom prst="rect">
            <a:avLst/>
          </a:prstGeom>
          <a:noFill/>
          <a:ln>
            <a:noFill/>
          </a:ln>
        </p:spPr>
      </p:pic>
      <p:sp>
        <p:nvSpPr>
          <p:cNvPr id="133" name="Google Shape;133;p9"/>
          <p:cNvSpPr/>
          <p:nvPr/>
        </p:nvSpPr>
        <p:spPr>
          <a:xfrm>
            <a:off x="457200" y="6491288"/>
            <a:ext cx="629692" cy="157163"/>
          </a:xfrm>
          <a:prstGeom prst="rect">
            <a:avLst/>
          </a:prstGeom>
          <a:noFill/>
          <a:ln>
            <a:noFill/>
          </a:ln>
        </p:spPr>
        <p:txBody>
          <a:bodyPr anchorCtr="0" anchor="t" bIns="0" lIns="0" spcFirstLastPara="1" rIns="0" wrap="square" tIns="0">
            <a:normAutofit/>
          </a:bodyPr>
          <a:lstStyle/>
          <a:p>
            <a:pPr indent="0" lvl="0" marL="0" marR="0" rtl="0" algn="l">
              <a:lnSpc>
                <a:spcPct val="150060"/>
              </a:lnSpc>
              <a:spcBef>
                <a:spcPts val="0"/>
              </a:spcBef>
              <a:spcAft>
                <a:spcPts val="0"/>
              </a:spcAft>
              <a:buClr>
                <a:srgbClr val="5F6E7A"/>
              </a:buClr>
              <a:buSzPts val="825"/>
              <a:buFont typeface="Arial"/>
              <a:buNone/>
            </a:pPr>
            <a:r>
              <a:rPr b="0" i="0" lang="en-US" sz="825">
                <a:solidFill>
                  <a:srgbClr val="5F6E7A"/>
                </a:solidFill>
                <a:latin typeface="Arial"/>
                <a:ea typeface="Arial"/>
                <a:cs typeface="Arial"/>
                <a:sym typeface="Arial"/>
              </a:rPr>
              <a:t>Ewert (1970)</a:t>
            </a:r>
            <a:endParaRPr sz="1800">
              <a:solidFill>
                <a:schemeClr val="dk1"/>
              </a:solidFill>
              <a:latin typeface="Calibri"/>
              <a:ea typeface="Calibri"/>
              <a:cs typeface="Calibri"/>
              <a:sym typeface="Calibri"/>
            </a:endParaRPr>
          </a:p>
        </p:txBody>
      </p:sp>
      <p:sp>
        <p:nvSpPr>
          <p:cNvPr id="134" name="Google Shape;134;p9"/>
          <p:cNvSpPr/>
          <p:nvPr/>
        </p:nvSpPr>
        <p:spPr>
          <a:xfrm>
            <a:off x="11614845" y="6491288"/>
            <a:ext cx="139005" cy="157163"/>
          </a:xfrm>
          <a:prstGeom prst="rect">
            <a:avLst/>
          </a:prstGeom>
          <a:noFill/>
          <a:ln>
            <a:noFill/>
          </a:ln>
        </p:spPr>
        <p:txBody>
          <a:bodyPr anchorCtr="0" anchor="t" bIns="0" lIns="0" spcFirstLastPara="1" rIns="0" wrap="square" tIns="0">
            <a:normAutofit/>
          </a:bodyPr>
          <a:lstStyle/>
          <a:p>
            <a:pPr indent="0" lvl="0" marL="0" marR="0" rtl="0" algn="l">
              <a:lnSpc>
                <a:spcPct val="150060"/>
              </a:lnSpc>
              <a:spcBef>
                <a:spcPts val="0"/>
              </a:spcBef>
              <a:spcAft>
                <a:spcPts val="0"/>
              </a:spcAft>
              <a:buClr>
                <a:srgbClr val="5F6E7A"/>
              </a:buClr>
              <a:buSzPts val="825"/>
              <a:buFont typeface="Arial"/>
              <a:buNone/>
            </a:pPr>
            <a:r>
              <a:rPr b="0" i="0" lang="en-US" sz="825">
                <a:solidFill>
                  <a:srgbClr val="5F6E7A"/>
                </a:solidFill>
                <a:latin typeface="Arial"/>
                <a:ea typeface="Arial"/>
                <a:cs typeface="Arial"/>
                <a:sym typeface="Arial"/>
              </a:rPr>
              <a:t>09</a:t>
            </a:r>
            <a:endParaRPr sz="1800">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8" name="Shape 138"/>
        <p:cNvGrpSpPr/>
        <p:nvPr/>
      </p:nvGrpSpPr>
      <p:grpSpPr>
        <a:xfrm>
          <a:off x="0" y="0"/>
          <a:ext cx="0" cy="0"/>
          <a:chOff x="0" y="0"/>
          <a:chExt cx="0" cy="0"/>
        </a:xfrm>
      </p:grpSpPr>
      <p:sp>
        <p:nvSpPr>
          <p:cNvPr id="139" name="Google Shape;139;p10"/>
          <p:cNvSpPr/>
          <p:nvPr/>
        </p:nvSpPr>
        <p:spPr>
          <a:xfrm>
            <a:off x="457200" y="457200"/>
            <a:ext cx="11296650" cy="328613"/>
          </a:xfrm>
          <a:prstGeom prst="rect">
            <a:avLst/>
          </a:prstGeom>
          <a:noFill/>
          <a:ln>
            <a:noFill/>
          </a:ln>
        </p:spPr>
        <p:txBody>
          <a:bodyPr anchorCtr="0" anchor="t" bIns="0" lIns="0" spcFirstLastPara="1" rIns="0" wrap="square" tIns="0">
            <a:normAutofit/>
          </a:bodyPr>
          <a:lstStyle/>
          <a:p>
            <a:pPr indent="0" lvl="0" marL="0" marR="0" rtl="0" algn="l">
              <a:lnSpc>
                <a:spcPct val="115022"/>
              </a:lnSpc>
              <a:spcBef>
                <a:spcPts val="0"/>
              </a:spcBef>
              <a:spcAft>
                <a:spcPts val="0"/>
              </a:spcAft>
              <a:buClr>
                <a:srgbClr val="35536B"/>
              </a:buClr>
              <a:buSzPts val="2250"/>
              <a:buFont typeface="Arial"/>
              <a:buNone/>
            </a:pPr>
            <a:r>
              <a:rPr b="1" i="0" lang="en-US" sz="2250">
                <a:solidFill>
                  <a:srgbClr val="35536B"/>
                </a:solidFill>
                <a:latin typeface="Arial"/>
                <a:ea typeface="Arial"/>
                <a:cs typeface="Arial"/>
                <a:sym typeface="Arial"/>
              </a:rPr>
              <a:t>Lesion effects follow sectors of visual space</a:t>
            </a:r>
            <a:endParaRPr sz="1800">
              <a:solidFill>
                <a:schemeClr val="dk1"/>
              </a:solidFill>
              <a:latin typeface="Calibri"/>
              <a:ea typeface="Calibri"/>
              <a:cs typeface="Calibri"/>
              <a:sym typeface="Calibri"/>
            </a:endParaRPr>
          </a:p>
        </p:txBody>
      </p:sp>
      <p:sp>
        <p:nvSpPr>
          <p:cNvPr id="140" name="Google Shape;140;p10"/>
          <p:cNvSpPr/>
          <p:nvPr/>
        </p:nvSpPr>
        <p:spPr>
          <a:xfrm>
            <a:off x="457200" y="1071563"/>
            <a:ext cx="5695950" cy="1194346"/>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3303A"/>
              </a:buClr>
              <a:buSzPts val="1425"/>
              <a:buFont typeface="Arial"/>
              <a:buNone/>
            </a:pPr>
            <a:r>
              <a:rPr b="0" i="0" lang="en-US" sz="1425">
                <a:solidFill>
                  <a:srgbClr val="23303A"/>
                </a:solidFill>
                <a:latin typeface="Arial"/>
                <a:ea typeface="Arial"/>
                <a:cs typeface="Arial"/>
                <a:sym typeface="Arial"/>
              </a:rPr>
              <a:t>Ewert reconstructed the damaged tissue and compared lesion location with the visual-field region in which catching became disinhibited. A unilateral pretectal or caudal thalamic lesion generally released prey-catching through the opposite eye; bilateral damage affected both sides.</a:t>
            </a:r>
            <a:endParaRPr sz="1800">
              <a:solidFill>
                <a:schemeClr val="dk1"/>
              </a:solidFill>
              <a:latin typeface="Calibri"/>
              <a:ea typeface="Calibri"/>
              <a:cs typeface="Calibri"/>
              <a:sym typeface="Calibri"/>
            </a:endParaRPr>
          </a:p>
        </p:txBody>
      </p:sp>
      <p:sp>
        <p:nvSpPr>
          <p:cNvPr id="141" name="Google Shape;141;p10"/>
          <p:cNvSpPr/>
          <p:nvPr/>
        </p:nvSpPr>
        <p:spPr>
          <a:xfrm>
            <a:off x="457200" y="2418308"/>
            <a:ext cx="5695950" cy="1194346"/>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3303A"/>
              </a:buClr>
              <a:buSzPts val="1425"/>
              <a:buFont typeface="Arial"/>
              <a:buNone/>
            </a:pPr>
            <a:r>
              <a:rPr b="0" i="0" lang="en-US" sz="1425">
                <a:solidFill>
                  <a:srgbClr val="23303A"/>
                </a:solidFill>
                <a:latin typeface="Arial"/>
                <a:ea typeface="Arial"/>
                <a:cs typeface="Arial"/>
                <a:sym typeface="Arial"/>
              </a:rPr>
              <a:t>Small lesions could change orienting in restricted visual sectors. When damage extended into dorsal tectal tissue, responses could disappear in the upper visual field while remaining disinhibited in the lower field. Losing visual responsiveness and releasing an inappropriate response are therefore distinguishable outcomes.</a:t>
            </a:r>
            <a:endParaRPr sz="1800">
              <a:solidFill>
                <a:schemeClr val="dk1"/>
              </a:solidFill>
              <a:latin typeface="Calibri"/>
              <a:ea typeface="Calibri"/>
              <a:cs typeface="Calibri"/>
              <a:sym typeface="Calibri"/>
            </a:endParaRPr>
          </a:p>
        </p:txBody>
      </p:sp>
      <p:sp>
        <p:nvSpPr>
          <p:cNvPr id="142" name="Google Shape;142;p10"/>
          <p:cNvSpPr/>
          <p:nvPr/>
        </p:nvSpPr>
        <p:spPr>
          <a:xfrm>
            <a:off x="457200" y="3765054"/>
            <a:ext cx="5695950" cy="1194346"/>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3303A"/>
              </a:buClr>
              <a:buSzPts val="1425"/>
              <a:buFont typeface="Arial"/>
              <a:buNone/>
            </a:pPr>
            <a:r>
              <a:rPr b="0" i="0" lang="en-US" sz="1425">
                <a:solidFill>
                  <a:srgbClr val="23303A"/>
                </a:solidFill>
                <a:latin typeface="Arial"/>
                <a:ea typeface="Arial"/>
                <a:cs typeface="Arial"/>
                <a:sym typeface="Arial"/>
              </a:rPr>
              <a:t>The spatial correspondence supports organized pretectal–tectal regulation rather than a completely uniform increase in movement. Extensive lesions nevertheless combine loss of inputs, local neurons and connections, limiting assignment of the effect to an isolated synapse.</a:t>
            </a:r>
            <a:endParaRPr sz="1800">
              <a:solidFill>
                <a:schemeClr val="dk1"/>
              </a:solidFill>
              <a:latin typeface="Calibri"/>
              <a:ea typeface="Calibri"/>
              <a:cs typeface="Calibri"/>
              <a:sym typeface="Calibri"/>
            </a:endParaRPr>
          </a:p>
        </p:txBody>
      </p:sp>
      <p:pic>
        <p:nvPicPr>
          <p:cNvPr id="143" name="Google Shape;143;p10"/>
          <p:cNvPicPr preferRelativeResize="0"/>
          <p:nvPr/>
        </p:nvPicPr>
        <p:blipFill rotWithShape="1">
          <a:blip r:embed="rId3">
            <a:alphaModFix/>
          </a:blip>
          <a:srcRect b="0" l="0" r="0" t="0"/>
          <a:stretch/>
        </p:blipFill>
        <p:spPr>
          <a:xfrm>
            <a:off x="7745002" y="1071563"/>
            <a:ext cx="2721797" cy="4229100"/>
          </a:xfrm>
          <a:prstGeom prst="rect">
            <a:avLst/>
          </a:prstGeom>
          <a:noFill/>
          <a:ln>
            <a:noFill/>
          </a:ln>
        </p:spPr>
      </p:pic>
      <p:sp>
        <p:nvSpPr>
          <p:cNvPr id="144" name="Google Shape;144;p10"/>
          <p:cNvSpPr/>
          <p:nvPr/>
        </p:nvSpPr>
        <p:spPr>
          <a:xfrm>
            <a:off x="6477000" y="5376863"/>
            <a:ext cx="5276850" cy="142875"/>
          </a:xfrm>
          <a:prstGeom prst="rect">
            <a:avLst/>
          </a:prstGeom>
          <a:noFill/>
          <a:ln>
            <a:noFill/>
          </a:ln>
        </p:spPr>
        <p:txBody>
          <a:bodyPr anchorCtr="0" anchor="t" bIns="0" lIns="0" spcFirstLastPara="1" rIns="0" wrap="square" tIns="0">
            <a:normAutofit/>
          </a:bodyPr>
          <a:lstStyle/>
          <a:p>
            <a:pPr indent="0" lvl="0" marL="0" marR="0" rtl="0" algn="l">
              <a:lnSpc>
                <a:spcPct val="125000"/>
              </a:lnSpc>
              <a:spcBef>
                <a:spcPts val="0"/>
              </a:spcBef>
              <a:spcAft>
                <a:spcPts val="0"/>
              </a:spcAft>
              <a:buClr>
                <a:srgbClr val="23303A"/>
              </a:buClr>
              <a:buSzPts val="900"/>
              <a:buFont typeface="Arial"/>
              <a:buNone/>
            </a:pPr>
            <a:r>
              <a:rPr b="0" i="0" lang="en-US" sz="900">
                <a:solidFill>
                  <a:srgbClr val="23303A"/>
                </a:solidFill>
                <a:latin typeface="Arial"/>
                <a:ea typeface="Arial"/>
                <a:cs typeface="Arial"/>
                <a:sym typeface="Arial"/>
              </a:rPr>
              <a:t>Ewert (1970), Fig. 10(A–D). Lesion maps and visual fields.</a:t>
            </a:r>
            <a:endParaRPr sz="1800">
              <a:solidFill>
                <a:schemeClr val="dk1"/>
              </a:solidFill>
              <a:latin typeface="Calibri"/>
              <a:ea typeface="Calibri"/>
              <a:cs typeface="Calibri"/>
              <a:sym typeface="Calibri"/>
            </a:endParaRPr>
          </a:p>
        </p:txBody>
      </p:sp>
      <p:pic>
        <p:nvPicPr>
          <p:cNvPr id="145" name="Google Shape;145;p10"/>
          <p:cNvPicPr preferRelativeResize="0"/>
          <p:nvPr/>
        </p:nvPicPr>
        <p:blipFill rotWithShape="1">
          <a:blip r:embed="rId4">
            <a:alphaModFix/>
          </a:blip>
          <a:srcRect b="0" l="0" r="0" t="0"/>
          <a:stretch/>
        </p:blipFill>
        <p:spPr>
          <a:xfrm>
            <a:off x="457200" y="6405563"/>
            <a:ext cx="11277600" cy="242888"/>
          </a:xfrm>
          <a:prstGeom prst="rect">
            <a:avLst/>
          </a:prstGeom>
          <a:noFill/>
          <a:ln>
            <a:noFill/>
          </a:ln>
        </p:spPr>
      </p:pic>
      <p:sp>
        <p:nvSpPr>
          <p:cNvPr id="146" name="Google Shape;146;p10"/>
          <p:cNvSpPr/>
          <p:nvPr/>
        </p:nvSpPr>
        <p:spPr>
          <a:xfrm>
            <a:off x="457200" y="6491288"/>
            <a:ext cx="629692" cy="157163"/>
          </a:xfrm>
          <a:prstGeom prst="rect">
            <a:avLst/>
          </a:prstGeom>
          <a:noFill/>
          <a:ln>
            <a:noFill/>
          </a:ln>
        </p:spPr>
        <p:txBody>
          <a:bodyPr anchorCtr="0" anchor="t" bIns="0" lIns="0" spcFirstLastPara="1" rIns="0" wrap="square" tIns="0">
            <a:normAutofit/>
          </a:bodyPr>
          <a:lstStyle/>
          <a:p>
            <a:pPr indent="0" lvl="0" marL="0" marR="0" rtl="0" algn="l">
              <a:lnSpc>
                <a:spcPct val="150060"/>
              </a:lnSpc>
              <a:spcBef>
                <a:spcPts val="0"/>
              </a:spcBef>
              <a:spcAft>
                <a:spcPts val="0"/>
              </a:spcAft>
              <a:buClr>
                <a:srgbClr val="5F6E7A"/>
              </a:buClr>
              <a:buSzPts val="825"/>
              <a:buFont typeface="Arial"/>
              <a:buNone/>
            </a:pPr>
            <a:r>
              <a:rPr b="0" i="0" lang="en-US" sz="825">
                <a:solidFill>
                  <a:srgbClr val="5F6E7A"/>
                </a:solidFill>
                <a:latin typeface="Arial"/>
                <a:ea typeface="Arial"/>
                <a:cs typeface="Arial"/>
                <a:sym typeface="Arial"/>
              </a:rPr>
              <a:t>Ewert (1970)</a:t>
            </a:r>
            <a:endParaRPr sz="1800">
              <a:solidFill>
                <a:schemeClr val="dk1"/>
              </a:solidFill>
              <a:latin typeface="Calibri"/>
              <a:ea typeface="Calibri"/>
              <a:cs typeface="Calibri"/>
              <a:sym typeface="Calibri"/>
            </a:endParaRPr>
          </a:p>
        </p:txBody>
      </p:sp>
      <p:sp>
        <p:nvSpPr>
          <p:cNvPr id="147" name="Google Shape;147;p10"/>
          <p:cNvSpPr/>
          <p:nvPr/>
        </p:nvSpPr>
        <p:spPr>
          <a:xfrm>
            <a:off x="11614845" y="6491288"/>
            <a:ext cx="139005" cy="157163"/>
          </a:xfrm>
          <a:prstGeom prst="rect">
            <a:avLst/>
          </a:prstGeom>
          <a:noFill/>
          <a:ln>
            <a:noFill/>
          </a:ln>
        </p:spPr>
        <p:txBody>
          <a:bodyPr anchorCtr="0" anchor="t" bIns="0" lIns="0" spcFirstLastPara="1" rIns="0" wrap="square" tIns="0">
            <a:normAutofit/>
          </a:bodyPr>
          <a:lstStyle/>
          <a:p>
            <a:pPr indent="0" lvl="0" marL="0" marR="0" rtl="0" algn="l">
              <a:lnSpc>
                <a:spcPct val="150060"/>
              </a:lnSpc>
              <a:spcBef>
                <a:spcPts val="0"/>
              </a:spcBef>
              <a:spcAft>
                <a:spcPts val="0"/>
              </a:spcAft>
              <a:buClr>
                <a:srgbClr val="5F6E7A"/>
              </a:buClr>
              <a:buSzPts val="825"/>
              <a:buFont typeface="Arial"/>
              <a:buNone/>
            </a:pPr>
            <a:r>
              <a:rPr b="0" i="0" lang="en-US" sz="825">
                <a:solidFill>
                  <a:srgbClr val="5F6E7A"/>
                </a:solidFill>
                <a:latin typeface="Arial"/>
                <a:ea typeface="Arial"/>
                <a:cs typeface="Arial"/>
                <a:sym typeface="Arial"/>
              </a:rPr>
              <a:t>10</a:t>
            </a:r>
            <a:endParaRPr sz="1800">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1" name="Shape 151"/>
        <p:cNvGrpSpPr/>
        <p:nvPr/>
      </p:nvGrpSpPr>
      <p:grpSpPr>
        <a:xfrm>
          <a:off x="0" y="0"/>
          <a:ext cx="0" cy="0"/>
          <a:chOff x="0" y="0"/>
          <a:chExt cx="0" cy="0"/>
        </a:xfrm>
      </p:grpSpPr>
      <p:sp>
        <p:nvSpPr>
          <p:cNvPr id="152" name="Google Shape;152;p11"/>
          <p:cNvSpPr/>
          <p:nvPr/>
        </p:nvSpPr>
        <p:spPr>
          <a:xfrm>
            <a:off x="457200" y="457200"/>
            <a:ext cx="11296650" cy="328613"/>
          </a:xfrm>
          <a:prstGeom prst="rect">
            <a:avLst/>
          </a:prstGeom>
          <a:noFill/>
          <a:ln>
            <a:noFill/>
          </a:ln>
        </p:spPr>
        <p:txBody>
          <a:bodyPr anchorCtr="0" anchor="t" bIns="0" lIns="0" spcFirstLastPara="1" rIns="0" wrap="square" tIns="0">
            <a:normAutofit/>
          </a:bodyPr>
          <a:lstStyle/>
          <a:p>
            <a:pPr indent="0" lvl="0" marL="0" marR="0" rtl="0" algn="l">
              <a:lnSpc>
                <a:spcPct val="115022"/>
              </a:lnSpc>
              <a:spcBef>
                <a:spcPts val="0"/>
              </a:spcBef>
              <a:spcAft>
                <a:spcPts val="0"/>
              </a:spcAft>
              <a:buClr>
                <a:srgbClr val="35536B"/>
              </a:buClr>
              <a:buSzPts val="2250"/>
              <a:buFont typeface="Arial"/>
              <a:buNone/>
            </a:pPr>
            <a:r>
              <a:rPr b="1" i="0" lang="en-US" sz="2250">
                <a:solidFill>
                  <a:srgbClr val="35536B"/>
                </a:solidFill>
                <a:latin typeface="Arial"/>
                <a:ea typeface="Arial"/>
                <a:cs typeface="Arial"/>
                <a:sym typeface="Arial"/>
              </a:rPr>
              <a:t>Lesions remove the effect of vertical elongation</a:t>
            </a:r>
            <a:endParaRPr sz="1800">
              <a:solidFill>
                <a:schemeClr val="dk1"/>
              </a:solidFill>
              <a:latin typeface="Calibri"/>
              <a:ea typeface="Calibri"/>
              <a:cs typeface="Calibri"/>
              <a:sym typeface="Calibri"/>
            </a:endParaRPr>
          </a:p>
        </p:txBody>
      </p:sp>
      <p:sp>
        <p:nvSpPr>
          <p:cNvPr id="153" name="Google Shape;153;p11"/>
          <p:cNvSpPr/>
          <p:nvPr/>
        </p:nvSpPr>
        <p:spPr>
          <a:xfrm>
            <a:off x="457200" y="1071563"/>
            <a:ext cx="5695950" cy="955477"/>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3303A"/>
              </a:buClr>
              <a:buSzPts val="1425"/>
              <a:buFont typeface="Arial"/>
              <a:buNone/>
            </a:pPr>
            <a:r>
              <a:rPr b="0" i="0" lang="en-US" sz="1425">
                <a:solidFill>
                  <a:srgbClr val="23303A"/>
                </a:solidFill>
                <a:latin typeface="Arial"/>
                <a:ea typeface="Arial"/>
                <a:cs typeface="Arial"/>
                <a:sym typeface="Arial"/>
              </a:rPr>
              <a:t>Ewert repeated the rectangle-dimension experiment after pretectal and caudal thalamic lesions. In intact toads, elongating a rectangle perpendicular to its movement normally reduced prey-oriented turning, despite increasing the amount of visible object.</a:t>
            </a:r>
            <a:endParaRPr sz="1800">
              <a:solidFill>
                <a:schemeClr val="dk1"/>
              </a:solidFill>
              <a:latin typeface="Calibri"/>
              <a:ea typeface="Calibri"/>
              <a:cs typeface="Calibri"/>
              <a:sym typeface="Calibri"/>
            </a:endParaRPr>
          </a:p>
        </p:txBody>
      </p:sp>
      <p:sp>
        <p:nvSpPr>
          <p:cNvPr id="154" name="Google Shape;154;p11"/>
          <p:cNvSpPr/>
          <p:nvPr/>
        </p:nvSpPr>
        <p:spPr>
          <a:xfrm>
            <a:off x="457200" y="2179439"/>
            <a:ext cx="5695950" cy="1433215"/>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3303A"/>
              </a:buClr>
              <a:buSzPts val="1425"/>
              <a:buFont typeface="Arial"/>
              <a:buNone/>
            </a:pPr>
            <a:r>
              <a:rPr b="0" i="0" lang="en-US" sz="1425">
                <a:solidFill>
                  <a:srgbClr val="23303A"/>
                </a:solidFill>
                <a:latin typeface="Arial"/>
                <a:ea typeface="Arial"/>
                <a:cs typeface="Arial"/>
                <a:sym typeface="Arial"/>
              </a:rPr>
              <a:t>After the effective lesions, orienting instead increased with enlargement along either axis. Rectangles and squares no longer produced the same configuration-dependent reduction. The measured stimulus dimensions and 30°/s movement were retained, separating the lesion effect from a new set of visual objects.</a:t>
            </a:r>
            <a:endParaRPr sz="1800">
              <a:solidFill>
                <a:schemeClr val="dk1"/>
              </a:solidFill>
              <a:latin typeface="Calibri"/>
              <a:ea typeface="Calibri"/>
              <a:cs typeface="Calibri"/>
              <a:sym typeface="Calibri"/>
            </a:endParaRPr>
          </a:p>
        </p:txBody>
      </p:sp>
      <p:sp>
        <p:nvSpPr>
          <p:cNvPr id="155" name="Google Shape;155;p11"/>
          <p:cNvSpPr/>
          <p:nvPr/>
        </p:nvSpPr>
        <p:spPr>
          <a:xfrm>
            <a:off x="457200" y="3765054"/>
            <a:ext cx="5695950" cy="955477"/>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3303A"/>
              </a:buClr>
              <a:buSzPts val="1425"/>
              <a:buFont typeface="Arial"/>
              <a:buNone/>
            </a:pPr>
            <a:r>
              <a:rPr b="0" i="0" lang="en-US" sz="1425">
                <a:solidFill>
                  <a:srgbClr val="23303A"/>
                </a:solidFill>
                <a:latin typeface="Arial"/>
                <a:ea typeface="Arial"/>
                <a:cs typeface="Arial"/>
                <a:sym typeface="Arial"/>
              </a:rPr>
              <a:t>The lost distinction supports a contribution of the damaged pathway to rejecting unsuitable configurations. It does not mean that the retina has ceased detecting motion or that every surviving tectal neuron has become equally responsive to all stimuli.</a:t>
            </a:r>
            <a:endParaRPr sz="1800">
              <a:solidFill>
                <a:schemeClr val="dk1"/>
              </a:solidFill>
              <a:latin typeface="Calibri"/>
              <a:ea typeface="Calibri"/>
              <a:cs typeface="Calibri"/>
              <a:sym typeface="Calibri"/>
            </a:endParaRPr>
          </a:p>
        </p:txBody>
      </p:sp>
      <p:pic>
        <p:nvPicPr>
          <p:cNvPr id="156" name="Google Shape;156;p11"/>
          <p:cNvPicPr preferRelativeResize="0"/>
          <p:nvPr/>
        </p:nvPicPr>
        <p:blipFill rotWithShape="1">
          <a:blip r:embed="rId3">
            <a:alphaModFix/>
          </a:blip>
          <a:srcRect b="0" l="0" r="0" t="0"/>
          <a:stretch/>
        </p:blipFill>
        <p:spPr>
          <a:xfrm>
            <a:off x="6477000" y="1071563"/>
            <a:ext cx="3505200" cy="1689506"/>
          </a:xfrm>
          <a:prstGeom prst="rect">
            <a:avLst/>
          </a:prstGeom>
          <a:noFill/>
          <a:ln>
            <a:noFill/>
          </a:ln>
        </p:spPr>
      </p:pic>
      <p:sp>
        <p:nvSpPr>
          <p:cNvPr id="157" name="Google Shape;157;p11"/>
          <p:cNvSpPr/>
          <p:nvPr/>
        </p:nvSpPr>
        <p:spPr>
          <a:xfrm>
            <a:off x="6477000" y="5319713"/>
            <a:ext cx="3524250" cy="285750"/>
          </a:xfrm>
          <a:prstGeom prst="rect">
            <a:avLst/>
          </a:prstGeom>
          <a:noFill/>
          <a:ln>
            <a:noFill/>
          </a:ln>
        </p:spPr>
        <p:txBody>
          <a:bodyPr anchorCtr="0" anchor="t" bIns="0" lIns="0" spcFirstLastPara="1" rIns="0" wrap="square" tIns="0">
            <a:normAutofit/>
          </a:bodyPr>
          <a:lstStyle/>
          <a:p>
            <a:pPr indent="0" lvl="0" marL="0" marR="0" rtl="0" algn="l">
              <a:lnSpc>
                <a:spcPct val="125000"/>
              </a:lnSpc>
              <a:spcBef>
                <a:spcPts val="0"/>
              </a:spcBef>
              <a:spcAft>
                <a:spcPts val="0"/>
              </a:spcAft>
              <a:buClr>
                <a:srgbClr val="23303A"/>
              </a:buClr>
              <a:buSzPts val="900"/>
              <a:buFont typeface="Arial"/>
              <a:buNone/>
            </a:pPr>
            <a:r>
              <a:rPr b="0" i="0" lang="en-US" sz="900">
                <a:solidFill>
                  <a:srgbClr val="23303A"/>
                </a:solidFill>
                <a:latin typeface="Arial"/>
                <a:ea typeface="Arial"/>
                <a:cs typeface="Arial"/>
                <a:sym typeface="Arial"/>
              </a:rPr>
              <a:t>Ewert (1970), Fig. 3(Ba–Bb). Lesioned toads lose the usual inhibition by vertical elongation.</a:t>
            </a:r>
            <a:endParaRPr sz="1800">
              <a:solidFill>
                <a:schemeClr val="dk1"/>
              </a:solidFill>
              <a:latin typeface="Calibri"/>
              <a:ea typeface="Calibri"/>
              <a:cs typeface="Calibri"/>
              <a:sym typeface="Calibri"/>
            </a:endParaRPr>
          </a:p>
        </p:txBody>
      </p:sp>
      <p:pic>
        <p:nvPicPr>
          <p:cNvPr id="158" name="Google Shape;158;p11"/>
          <p:cNvPicPr preferRelativeResize="0"/>
          <p:nvPr/>
        </p:nvPicPr>
        <p:blipFill rotWithShape="1">
          <a:blip r:embed="rId4">
            <a:alphaModFix/>
          </a:blip>
          <a:srcRect b="0" l="0" r="0" t="0"/>
          <a:stretch/>
        </p:blipFill>
        <p:spPr>
          <a:xfrm>
            <a:off x="10134600" y="1681163"/>
            <a:ext cx="1600200" cy="2486374"/>
          </a:xfrm>
          <a:prstGeom prst="rect">
            <a:avLst/>
          </a:prstGeom>
          <a:noFill/>
          <a:ln>
            <a:noFill/>
          </a:ln>
        </p:spPr>
      </p:pic>
      <p:sp>
        <p:nvSpPr>
          <p:cNvPr id="159" name="Google Shape;159;p11"/>
          <p:cNvSpPr/>
          <p:nvPr/>
        </p:nvSpPr>
        <p:spPr>
          <a:xfrm>
            <a:off x="10134600" y="5091113"/>
            <a:ext cx="1619250" cy="285750"/>
          </a:xfrm>
          <a:prstGeom prst="rect">
            <a:avLst/>
          </a:prstGeom>
          <a:noFill/>
          <a:ln>
            <a:noFill/>
          </a:ln>
        </p:spPr>
        <p:txBody>
          <a:bodyPr anchorCtr="0" anchor="t" bIns="0" lIns="0" spcFirstLastPara="1" rIns="0" wrap="square" tIns="0">
            <a:normAutofit/>
          </a:bodyPr>
          <a:lstStyle/>
          <a:p>
            <a:pPr indent="0" lvl="0" marL="0" marR="0" rtl="0" algn="l">
              <a:lnSpc>
                <a:spcPct val="125000"/>
              </a:lnSpc>
              <a:spcBef>
                <a:spcPts val="0"/>
              </a:spcBef>
              <a:spcAft>
                <a:spcPts val="0"/>
              </a:spcAft>
              <a:buClr>
                <a:srgbClr val="23303A"/>
              </a:buClr>
              <a:buSzPts val="900"/>
              <a:buFont typeface="Arial"/>
              <a:buNone/>
            </a:pPr>
            <a:r>
              <a:rPr b="0" i="0" lang="en-US" sz="900">
                <a:solidFill>
                  <a:srgbClr val="23303A"/>
                </a:solidFill>
                <a:latin typeface="Arial"/>
                <a:ea typeface="Arial"/>
                <a:cs typeface="Arial"/>
                <a:sym typeface="Arial"/>
              </a:rPr>
              <a:t>Ewert (1970), Fig. 10(A–D). Lesion maps and visual fields.</a:t>
            </a:r>
            <a:endParaRPr sz="1800">
              <a:solidFill>
                <a:schemeClr val="dk1"/>
              </a:solidFill>
              <a:latin typeface="Calibri"/>
              <a:ea typeface="Calibri"/>
              <a:cs typeface="Calibri"/>
              <a:sym typeface="Calibri"/>
            </a:endParaRPr>
          </a:p>
        </p:txBody>
      </p:sp>
      <p:pic>
        <p:nvPicPr>
          <p:cNvPr id="160" name="Google Shape;160;p11"/>
          <p:cNvPicPr preferRelativeResize="0"/>
          <p:nvPr/>
        </p:nvPicPr>
        <p:blipFill rotWithShape="1">
          <a:blip r:embed="rId5">
            <a:alphaModFix/>
          </a:blip>
          <a:srcRect b="0" l="0" r="0" t="0"/>
          <a:stretch/>
        </p:blipFill>
        <p:spPr>
          <a:xfrm>
            <a:off x="457200" y="6405563"/>
            <a:ext cx="11277600" cy="242888"/>
          </a:xfrm>
          <a:prstGeom prst="rect">
            <a:avLst/>
          </a:prstGeom>
          <a:noFill/>
          <a:ln>
            <a:noFill/>
          </a:ln>
        </p:spPr>
      </p:pic>
      <p:sp>
        <p:nvSpPr>
          <p:cNvPr id="161" name="Google Shape;161;p11"/>
          <p:cNvSpPr/>
          <p:nvPr/>
        </p:nvSpPr>
        <p:spPr>
          <a:xfrm>
            <a:off x="457200" y="6491288"/>
            <a:ext cx="629692" cy="157163"/>
          </a:xfrm>
          <a:prstGeom prst="rect">
            <a:avLst/>
          </a:prstGeom>
          <a:noFill/>
          <a:ln>
            <a:noFill/>
          </a:ln>
        </p:spPr>
        <p:txBody>
          <a:bodyPr anchorCtr="0" anchor="t" bIns="0" lIns="0" spcFirstLastPara="1" rIns="0" wrap="square" tIns="0">
            <a:normAutofit/>
          </a:bodyPr>
          <a:lstStyle/>
          <a:p>
            <a:pPr indent="0" lvl="0" marL="0" marR="0" rtl="0" algn="l">
              <a:lnSpc>
                <a:spcPct val="150060"/>
              </a:lnSpc>
              <a:spcBef>
                <a:spcPts val="0"/>
              </a:spcBef>
              <a:spcAft>
                <a:spcPts val="0"/>
              </a:spcAft>
              <a:buClr>
                <a:srgbClr val="5F6E7A"/>
              </a:buClr>
              <a:buSzPts val="825"/>
              <a:buFont typeface="Arial"/>
              <a:buNone/>
            </a:pPr>
            <a:r>
              <a:rPr b="0" i="0" lang="en-US" sz="825">
                <a:solidFill>
                  <a:srgbClr val="5F6E7A"/>
                </a:solidFill>
                <a:latin typeface="Arial"/>
                <a:ea typeface="Arial"/>
                <a:cs typeface="Arial"/>
                <a:sym typeface="Arial"/>
              </a:rPr>
              <a:t>Ewert (1970)</a:t>
            </a:r>
            <a:endParaRPr sz="1800">
              <a:solidFill>
                <a:schemeClr val="dk1"/>
              </a:solidFill>
              <a:latin typeface="Calibri"/>
              <a:ea typeface="Calibri"/>
              <a:cs typeface="Calibri"/>
              <a:sym typeface="Calibri"/>
            </a:endParaRPr>
          </a:p>
        </p:txBody>
      </p:sp>
      <p:sp>
        <p:nvSpPr>
          <p:cNvPr id="162" name="Google Shape;162;p11"/>
          <p:cNvSpPr/>
          <p:nvPr/>
        </p:nvSpPr>
        <p:spPr>
          <a:xfrm>
            <a:off x="11614845" y="6491288"/>
            <a:ext cx="139005" cy="157163"/>
          </a:xfrm>
          <a:prstGeom prst="rect">
            <a:avLst/>
          </a:prstGeom>
          <a:noFill/>
          <a:ln>
            <a:noFill/>
          </a:ln>
        </p:spPr>
        <p:txBody>
          <a:bodyPr anchorCtr="0" anchor="t" bIns="0" lIns="0" spcFirstLastPara="1" rIns="0" wrap="square" tIns="0">
            <a:normAutofit/>
          </a:bodyPr>
          <a:lstStyle/>
          <a:p>
            <a:pPr indent="0" lvl="0" marL="0" marR="0" rtl="0" algn="l">
              <a:lnSpc>
                <a:spcPct val="150060"/>
              </a:lnSpc>
              <a:spcBef>
                <a:spcPts val="0"/>
              </a:spcBef>
              <a:spcAft>
                <a:spcPts val="0"/>
              </a:spcAft>
              <a:buClr>
                <a:srgbClr val="5F6E7A"/>
              </a:buClr>
              <a:buSzPts val="825"/>
              <a:buFont typeface="Arial"/>
              <a:buNone/>
            </a:pPr>
            <a:r>
              <a:rPr b="0" i="0" lang="en-US" sz="825">
                <a:solidFill>
                  <a:srgbClr val="5F6E7A"/>
                </a:solidFill>
                <a:latin typeface="Arial"/>
                <a:ea typeface="Arial"/>
                <a:cs typeface="Arial"/>
                <a:sym typeface="Arial"/>
              </a:rPr>
              <a:t>11</a:t>
            </a:r>
            <a:endParaRPr sz="1800">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66" name="Shape 166"/>
        <p:cNvGrpSpPr/>
        <p:nvPr/>
      </p:nvGrpSpPr>
      <p:grpSpPr>
        <a:xfrm>
          <a:off x="0" y="0"/>
          <a:ext cx="0" cy="0"/>
          <a:chOff x="0" y="0"/>
          <a:chExt cx="0" cy="0"/>
        </a:xfrm>
      </p:grpSpPr>
      <p:sp>
        <p:nvSpPr>
          <p:cNvPr id="167" name="Google Shape;167;p12"/>
          <p:cNvSpPr/>
          <p:nvPr/>
        </p:nvSpPr>
        <p:spPr>
          <a:xfrm>
            <a:off x="457200" y="457200"/>
            <a:ext cx="11296650" cy="328613"/>
          </a:xfrm>
          <a:prstGeom prst="rect">
            <a:avLst/>
          </a:prstGeom>
          <a:noFill/>
          <a:ln>
            <a:noFill/>
          </a:ln>
        </p:spPr>
        <p:txBody>
          <a:bodyPr anchorCtr="0" anchor="t" bIns="0" lIns="0" spcFirstLastPara="1" rIns="0" wrap="square" tIns="0">
            <a:normAutofit/>
          </a:bodyPr>
          <a:lstStyle/>
          <a:p>
            <a:pPr indent="0" lvl="0" marL="0" marR="0" rtl="0" algn="l">
              <a:lnSpc>
                <a:spcPct val="115022"/>
              </a:lnSpc>
              <a:spcBef>
                <a:spcPts val="0"/>
              </a:spcBef>
              <a:spcAft>
                <a:spcPts val="0"/>
              </a:spcAft>
              <a:buClr>
                <a:srgbClr val="35536B"/>
              </a:buClr>
              <a:buSzPts val="2250"/>
              <a:buFont typeface="Arial"/>
              <a:buNone/>
            </a:pPr>
            <a:r>
              <a:rPr b="1" i="0" lang="en-US" sz="2250">
                <a:solidFill>
                  <a:srgbClr val="35536B"/>
                </a:solidFill>
                <a:latin typeface="Arial"/>
                <a:ea typeface="Arial"/>
                <a:cs typeface="Arial"/>
                <a:sym typeface="Arial"/>
              </a:rPr>
              <a:t>Paired objects sum after the restraint is removed</a:t>
            </a:r>
            <a:endParaRPr sz="1800">
              <a:solidFill>
                <a:schemeClr val="dk1"/>
              </a:solidFill>
              <a:latin typeface="Calibri"/>
              <a:ea typeface="Calibri"/>
              <a:cs typeface="Calibri"/>
              <a:sym typeface="Calibri"/>
            </a:endParaRPr>
          </a:p>
        </p:txBody>
      </p:sp>
      <p:sp>
        <p:nvSpPr>
          <p:cNvPr id="168" name="Google Shape;168;p12"/>
          <p:cNvSpPr/>
          <p:nvPr/>
        </p:nvSpPr>
        <p:spPr>
          <a:xfrm>
            <a:off x="457200" y="1071563"/>
            <a:ext cx="5695950" cy="955477"/>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3303A"/>
              </a:buClr>
              <a:buSzPts val="1425"/>
              <a:buFont typeface="Arial"/>
              <a:buNone/>
            </a:pPr>
            <a:r>
              <a:rPr b="0" i="0" lang="en-US" sz="1425">
                <a:solidFill>
                  <a:srgbClr val="23303A"/>
                </a:solidFill>
                <a:latin typeface="Arial"/>
                <a:ea typeface="Arial"/>
                <a:cs typeface="Arial"/>
                <a:sym typeface="Arial"/>
              </a:rPr>
              <a:t>Ewert tested pairs of moving 2° × 16° rectangles after effective caudal thalamic and pretectal lesions. The object dimensions and speed matched the earlier intact preparation, allowing the distance-dependent interaction to be compared directly.</a:t>
            </a:r>
            <a:endParaRPr sz="1800">
              <a:solidFill>
                <a:schemeClr val="dk1"/>
              </a:solidFill>
              <a:latin typeface="Calibri"/>
              <a:ea typeface="Calibri"/>
              <a:cs typeface="Calibri"/>
              <a:sym typeface="Calibri"/>
            </a:endParaRPr>
          </a:p>
        </p:txBody>
      </p:sp>
      <p:sp>
        <p:nvSpPr>
          <p:cNvPr id="169" name="Google Shape;169;p12"/>
          <p:cNvSpPr/>
          <p:nvPr/>
        </p:nvSpPr>
        <p:spPr>
          <a:xfrm>
            <a:off x="457200" y="2179439"/>
            <a:ext cx="5695950" cy="1194346"/>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3303A"/>
              </a:buClr>
              <a:buSzPts val="1425"/>
              <a:buFont typeface="Arial"/>
              <a:buNone/>
            </a:pPr>
            <a:r>
              <a:rPr b="0" i="0" lang="en-US" sz="1425">
                <a:solidFill>
                  <a:srgbClr val="23303A"/>
                </a:solidFill>
                <a:latin typeface="Arial"/>
                <a:ea typeface="Arial"/>
                <a:cs typeface="Arial"/>
                <a:sym typeface="Arial"/>
              </a:rPr>
              <a:t>The normal reduction around 8° separation was absent. At separations of approximately 1–8°, the pair could produce more orienting than one object alone. </a:t>
            </a:r>
            <a:r>
              <a:rPr b="1" i="0" lang="en-US" sz="1425">
                <a:solidFill>
                  <a:srgbClr val="23303A"/>
                </a:solidFill>
                <a:latin typeface="Arial"/>
                <a:ea typeface="Arial"/>
                <a:cs typeface="Arial"/>
                <a:sym typeface="Arial"/>
              </a:rPr>
              <a:t>Summation</a:t>
            </a:r>
            <a:r>
              <a:rPr b="0" i="0" lang="en-US" sz="1425">
                <a:solidFill>
                  <a:srgbClr val="23303A"/>
                </a:solidFill>
                <a:latin typeface="Arial"/>
                <a:ea typeface="Arial"/>
                <a:cs typeface="Arial"/>
                <a:sym typeface="Arial"/>
              </a:rPr>
              <a:t> describes that combined increase, without requiring a particular mathematical rule for addition of neuronal signals.</a:t>
            </a:r>
            <a:endParaRPr sz="1800">
              <a:solidFill>
                <a:schemeClr val="dk1"/>
              </a:solidFill>
              <a:latin typeface="Calibri"/>
              <a:ea typeface="Calibri"/>
              <a:cs typeface="Calibri"/>
              <a:sym typeface="Calibri"/>
            </a:endParaRPr>
          </a:p>
        </p:txBody>
      </p:sp>
      <p:sp>
        <p:nvSpPr>
          <p:cNvPr id="170" name="Google Shape;170;p12"/>
          <p:cNvSpPr/>
          <p:nvPr/>
        </p:nvSpPr>
        <p:spPr>
          <a:xfrm>
            <a:off x="457200" y="3526185"/>
            <a:ext cx="5695950" cy="1194346"/>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3303A"/>
              </a:buClr>
              <a:buSzPts val="1425"/>
              <a:buFont typeface="Arial"/>
              <a:buNone/>
            </a:pPr>
            <a:r>
              <a:rPr b="0" i="0" lang="en-US" sz="1425">
                <a:solidFill>
                  <a:srgbClr val="23303A"/>
                </a:solidFill>
                <a:latin typeface="Arial"/>
                <a:ea typeface="Arial"/>
                <a:cs typeface="Arial"/>
                <a:sym typeface="Arial"/>
              </a:rPr>
              <a:t>The lesion changed how multiple visible targets competed for behavior. The result supports a central inhibitory contribution to spatial filtering, but it does not determine whether the relevant normal interaction is carried by a direct pretectal projection or by an intervening network.</a:t>
            </a:r>
            <a:endParaRPr sz="1800">
              <a:solidFill>
                <a:schemeClr val="dk1"/>
              </a:solidFill>
              <a:latin typeface="Calibri"/>
              <a:ea typeface="Calibri"/>
              <a:cs typeface="Calibri"/>
              <a:sym typeface="Calibri"/>
            </a:endParaRPr>
          </a:p>
        </p:txBody>
      </p:sp>
      <p:pic>
        <p:nvPicPr>
          <p:cNvPr id="171" name="Google Shape;171;p12"/>
          <p:cNvPicPr preferRelativeResize="0"/>
          <p:nvPr/>
        </p:nvPicPr>
        <p:blipFill rotWithShape="1">
          <a:blip r:embed="rId3">
            <a:alphaModFix/>
          </a:blip>
          <a:srcRect b="0" l="0" r="0" t="0"/>
          <a:stretch/>
        </p:blipFill>
        <p:spPr>
          <a:xfrm>
            <a:off x="6477000" y="1071563"/>
            <a:ext cx="3505200" cy="4066580"/>
          </a:xfrm>
          <a:prstGeom prst="rect">
            <a:avLst/>
          </a:prstGeom>
          <a:noFill/>
          <a:ln>
            <a:noFill/>
          </a:ln>
        </p:spPr>
      </p:pic>
      <p:sp>
        <p:nvSpPr>
          <p:cNvPr id="172" name="Google Shape;172;p12"/>
          <p:cNvSpPr/>
          <p:nvPr/>
        </p:nvSpPr>
        <p:spPr>
          <a:xfrm>
            <a:off x="6477000" y="5319713"/>
            <a:ext cx="3524250" cy="285750"/>
          </a:xfrm>
          <a:prstGeom prst="rect">
            <a:avLst/>
          </a:prstGeom>
          <a:noFill/>
          <a:ln>
            <a:noFill/>
          </a:ln>
        </p:spPr>
        <p:txBody>
          <a:bodyPr anchorCtr="0" anchor="t" bIns="0" lIns="0" spcFirstLastPara="1" rIns="0" wrap="square" tIns="0">
            <a:normAutofit/>
          </a:bodyPr>
          <a:lstStyle/>
          <a:p>
            <a:pPr indent="0" lvl="0" marL="0" marR="0" rtl="0" algn="l">
              <a:lnSpc>
                <a:spcPct val="125000"/>
              </a:lnSpc>
              <a:spcBef>
                <a:spcPts val="0"/>
              </a:spcBef>
              <a:spcAft>
                <a:spcPts val="0"/>
              </a:spcAft>
              <a:buClr>
                <a:srgbClr val="23303A"/>
              </a:buClr>
              <a:buSzPts val="900"/>
              <a:buFont typeface="Arial"/>
              <a:buNone/>
            </a:pPr>
            <a:r>
              <a:rPr b="0" i="0" lang="en-US" sz="900">
                <a:solidFill>
                  <a:srgbClr val="23303A"/>
                </a:solidFill>
                <a:latin typeface="Arial"/>
                <a:ea typeface="Arial"/>
                <a:cs typeface="Arial"/>
                <a:sym typeface="Arial"/>
              </a:rPr>
              <a:t>Ewert (1970), Fig. 11. Paired-object summation after lesions, with separation in degrees.</a:t>
            </a:r>
            <a:endParaRPr sz="1800">
              <a:solidFill>
                <a:schemeClr val="dk1"/>
              </a:solidFill>
              <a:latin typeface="Calibri"/>
              <a:ea typeface="Calibri"/>
              <a:cs typeface="Calibri"/>
              <a:sym typeface="Calibri"/>
            </a:endParaRPr>
          </a:p>
        </p:txBody>
      </p:sp>
      <p:pic>
        <p:nvPicPr>
          <p:cNvPr id="173" name="Google Shape;173;p12"/>
          <p:cNvPicPr preferRelativeResize="0"/>
          <p:nvPr/>
        </p:nvPicPr>
        <p:blipFill rotWithShape="1">
          <a:blip r:embed="rId4">
            <a:alphaModFix/>
          </a:blip>
          <a:srcRect b="0" l="0" r="0" t="0"/>
          <a:stretch/>
        </p:blipFill>
        <p:spPr>
          <a:xfrm>
            <a:off x="10134600" y="1681163"/>
            <a:ext cx="1600200" cy="2486374"/>
          </a:xfrm>
          <a:prstGeom prst="rect">
            <a:avLst/>
          </a:prstGeom>
          <a:noFill/>
          <a:ln>
            <a:noFill/>
          </a:ln>
        </p:spPr>
      </p:pic>
      <p:sp>
        <p:nvSpPr>
          <p:cNvPr id="174" name="Google Shape;174;p12"/>
          <p:cNvSpPr/>
          <p:nvPr/>
        </p:nvSpPr>
        <p:spPr>
          <a:xfrm>
            <a:off x="10134600" y="5091113"/>
            <a:ext cx="1619250" cy="285750"/>
          </a:xfrm>
          <a:prstGeom prst="rect">
            <a:avLst/>
          </a:prstGeom>
          <a:noFill/>
          <a:ln>
            <a:noFill/>
          </a:ln>
        </p:spPr>
        <p:txBody>
          <a:bodyPr anchorCtr="0" anchor="t" bIns="0" lIns="0" spcFirstLastPara="1" rIns="0" wrap="square" tIns="0">
            <a:normAutofit/>
          </a:bodyPr>
          <a:lstStyle/>
          <a:p>
            <a:pPr indent="0" lvl="0" marL="0" marR="0" rtl="0" algn="l">
              <a:lnSpc>
                <a:spcPct val="125000"/>
              </a:lnSpc>
              <a:spcBef>
                <a:spcPts val="0"/>
              </a:spcBef>
              <a:spcAft>
                <a:spcPts val="0"/>
              </a:spcAft>
              <a:buClr>
                <a:srgbClr val="23303A"/>
              </a:buClr>
              <a:buSzPts val="900"/>
              <a:buFont typeface="Arial"/>
              <a:buNone/>
            </a:pPr>
            <a:r>
              <a:rPr b="0" i="0" lang="en-US" sz="900">
                <a:solidFill>
                  <a:srgbClr val="23303A"/>
                </a:solidFill>
                <a:latin typeface="Arial"/>
                <a:ea typeface="Arial"/>
                <a:cs typeface="Arial"/>
                <a:sym typeface="Arial"/>
              </a:rPr>
              <a:t>Ewert (1970), Fig. 10(A–D). Lesion maps and visual fields.</a:t>
            </a:r>
            <a:endParaRPr sz="1800">
              <a:solidFill>
                <a:schemeClr val="dk1"/>
              </a:solidFill>
              <a:latin typeface="Calibri"/>
              <a:ea typeface="Calibri"/>
              <a:cs typeface="Calibri"/>
              <a:sym typeface="Calibri"/>
            </a:endParaRPr>
          </a:p>
        </p:txBody>
      </p:sp>
      <p:pic>
        <p:nvPicPr>
          <p:cNvPr id="175" name="Google Shape;175;p12"/>
          <p:cNvPicPr preferRelativeResize="0"/>
          <p:nvPr/>
        </p:nvPicPr>
        <p:blipFill rotWithShape="1">
          <a:blip r:embed="rId5">
            <a:alphaModFix/>
          </a:blip>
          <a:srcRect b="0" l="0" r="0" t="0"/>
          <a:stretch/>
        </p:blipFill>
        <p:spPr>
          <a:xfrm>
            <a:off x="457200" y="6405563"/>
            <a:ext cx="11277600" cy="242888"/>
          </a:xfrm>
          <a:prstGeom prst="rect">
            <a:avLst/>
          </a:prstGeom>
          <a:noFill/>
          <a:ln>
            <a:noFill/>
          </a:ln>
        </p:spPr>
      </p:pic>
      <p:sp>
        <p:nvSpPr>
          <p:cNvPr id="176" name="Google Shape;176;p12"/>
          <p:cNvSpPr/>
          <p:nvPr/>
        </p:nvSpPr>
        <p:spPr>
          <a:xfrm>
            <a:off x="457200" y="6491288"/>
            <a:ext cx="629692" cy="157163"/>
          </a:xfrm>
          <a:prstGeom prst="rect">
            <a:avLst/>
          </a:prstGeom>
          <a:noFill/>
          <a:ln>
            <a:noFill/>
          </a:ln>
        </p:spPr>
        <p:txBody>
          <a:bodyPr anchorCtr="0" anchor="t" bIns="0" lIns="0" spcFirstLastPara="1" rIns="0" wrap="square" tIns="0">
            <a:normAutofit/>
          </a:bodyPr>
          <a:lstStyle/>
          <a:p>
            <a:pPr indent="0" lvl="0" marL="0" marR="0" rtl="0" algn="l">
              <a:lnSpc>
                <a:spcPct val="150060"/>
              </a:lnSpc>
              <a:spcBef>
                <a:spcPts val="0"/>
              </a:spcBef>
              <a:spcAft>
                <a:spcPts val="0"/>
              </a:spcAft>
              <a:buClr>
                <a:srgbClr val="5F6E7A"/>
              </a:buClr>
              <a:buSzPts val="825"/>
              <a:buFont typeface="Arial"/>
              <a:buNone/>
            </a:pPr>
            <a:r>
              <a:rPr b="0" i="0" lang="en-US" sz="825">
                <a:solidFill>
                  <a:srgbClr val="5F6E7A"/>
                </a:solidFill>
                <a:latin typeface="Arial"/>
                <a:ea typeface="Arial"/>
                <a:cs typeface="Arial"/>
                <a:sym typeface="Arial"/>
              </a:rPr>
              <a:t>Ewert (1970)</a:t>
            </a:r>
            <a:endParaRPr sz="1800">
              <a:solidFill>
                <a:schemeClr val="dk1"/>
              </a:solidFill>
              <a:latin typeface="Calibri"/>
              <a:ea typeface="Calibri"/>
              <a:cs typeface="Calibri"/>
              <a:sym typeface="Calibri"/>
            </a:endParaRPr>
          </a:p>
        </p:txBody>
      </p:sp>
      <p:sp>
        <p:nvSpPr>
          <p:cNvPr id="177" name="Google Shape;177;p12"/>
          <p:cNvSpPr/>
          <p:nvPr/>
        </p:nvSpPr>
        <p:spPr>
          <a:xfrm>
            <a:off x="11614845" y="6491288"/>
            <a:ext cx="139005" cy="157163"/>
          </a:xfrm>
          <a:prstGeom prst="rect">
            <a:avLst/>
          </a:prstGeom>
          <a:noFill/>
          <a:ln>
            <a:noFill/>
          </a:ln>
        </p:spPr>
        <p:txBody>
          <a:bodyPr anchorCtr="0" anchor="t" bIns="0" lIns="0" spcFirstLastPara="1" rIns="0" wrap="square" tIns="0">
            <a:normAutofit/>
          </a:bodyPr>
          <a:lstStyle/>
          <a:p>
            <a:pPr indent="0" lvl="0" marL="0" marR="0" rtl="0" algn="l">
              <a:lnSpc>
                <a:spcPct val="150060"/>
              </a:lnSpc>
              <a:spcBef>
                <a:spcPts val="0"/>
              </a:spcBef>
              <a:spcAft>
                <a:spcPts val="0"/>
              </a:spcAft>
              <a:buClr>
                <a:srgbClr val="5F6E7A"/>
              </a:buClr>
              <a:buSzPts val="825"/>
              <a:buFont typeface="Arial"/>
              <a:buNone/>
            </a:pPr>
            <a:r>
              <a:rPr b="0" i="0" lang="en-US" sz="825">
                <a:solidFill>
                  <a:srgbClr val="5F6E7A"/>
                </a:solidFill>
                <a:latin typeface="Arial"/>
                <a:ea typeface="Arial"/>
                <a:cs typeface="Arial"/>
                <a:sym typeface="Arial"/>
              </a:rPr>
              <a:t>12</a:t>
            </a:r>
            <a:endParaRPr sz="1800">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81" name="Shape 181"/>
        <p:cNvGrpSpPr/>
        <p:nvPr/>
      </p:nvGrpSpPr>
      <p:grpSpPr>
        <a:xfrm>
          <a:off x="0" y="0"/>
          <a:ext cx="0" cy="0"/>
          <a:chOff x="0" y="0"/>
          <a:chExt cx="0" cy="0"/>
        </a:xfrm>
      </p:grpSpPr>
      <p:sp>
        <p:nvSpPr>
          <p:cNvPr id="182" name="Google Shape;182;p13"/>
          <p:cNvSpPr/>
          <p:nvPr/>
        </p:nvSpPr>
        <p:spPr>
          <a:xfrm>
            <a:off x="457200" y="457200"/>
            <a:ext cx="11296650" cy="328613"/>
          </a:xfrm>
          <a:prstGeom prst="rect">
            <a:avLst/>
          </a:prstGeom>
          <a:noFill/>
          <a:ln>
            <a:noFill/>
          </a:ln>
        </p:spPr>
        <p:txBody>
          <a:bodyPr anchorCtr="0" anchor="t" bIns="0" lIns="0" spcFirstLastPara="1" rIns="0" wrap="square" tIns="0">
            <a:normAutofit/>
          </a:bodyPr>
          <a:lstStyle/>
          <a:p>
            <a:pPr indent="0" lvl="0" marL="0" marR="0" rtl="0" algn="l">
              <a:lnSpc>
                <a:spcPct val="115022"/>
              </a:lnSpc>
              <a:spcBef>
                <a:spcPts val="0"/>
              </a:spcBef>
              <a:spcAft>
                <a:spcPts val="0"/>
              </a:spcAft>
              <a:buClr>
                <a:srgbClr val="35536B"/>
              </a:buClr>
              <a:buSzPts val="2250"/>
              <a:buFont typeface="Arial"/>
              <a:buNone/>
            </a:pPr>
            <a:r>
              <a:rPr b="1" i="0" lang="en-US" sz="2250">
                <a:solidFill>
                  <a:srgbClr val="35536B"/>
                </a:solidFill>
                <a:latin typeface="Arial"/>
                <a:ea typeface="Arial"/>
                <a:cs typeface="Arial"/>
                <a:sym typeface="Arial"/>
              </a:rPr>
              <a:t>Habituation changes after pretectal damage</a:t>
            </a:r>
            <a:endParaRPr sz="1800">
              <a:solidFill>
                <a:schemeClr val="dk1"/>
              </a:solidFill>
              <a:latin typeface="Calibri"/>
              <a:ea typeface="Calibri"/>
              <a:cs typeface="Calibri"/>
              <a:sym typeface="Calibri"/>
            </a:endParaRPr>
          </a:p>
        </p:txBody>
      </p:sp>
      <p:sp>
        <p:nvSpPr>
          <p:cNvPr id="183" name="Google Shape;183;p13"/>
          <p:cNvSpPr/>
          <p:nvPr/>
        </p:nvSpPr>
        <p:spPr>
          <a:xfrm>
            <a:off x="457200" y="1071563"/>
            <a:ext cx="5695950" cy="1194346"/>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3303A"/>
              </a:buClr>
              <a:buSzPts val="1425"/>
              <a:buFont typeface="Arial"/>
              <a:buNone/>
            </a:pPr>
            <a:r>
              <a:rPr b="1" i="0" lang="en-US" sz="1425">
                <a:solidFill>
                  <a:srgbClr val="23303A"/>
                </a:solidFill>
                <a:latin typeface="Arial"/>
                <a:ea typeface="Arial"/>
                <a:cs typeface="Arial"/>
                <a:sym typeface="Arial"/>
              </a:rPr>
              <a:t>Habituation</a:t>
            </a:r>
            <a:r>
              <a:rPr b="0" i="0" lang="en-US" sz="1425">
                <a:solidFill>
                  <a:srgbClr val="23303A"/>
                </a:solidFill>
                <a:latin typeface="Arial"/>
                <a:ea typeface="Arial"/>
                <a:cs typeface="Arial"/>
                <a:sym typeface="Arial"/>
              </a:rPr>
              <a:t> is a reduction in response during repeated presentations of a stimulus. In Ewert’s intact toads, orienting declined as a standard moving prey object was presented repeatedly. A pause allowed partial recovery, and repeated habituation series further reduced subsequent orienting.</a:t>
            </a:r>
            <a:endParaRPr sz="1800">
              <a:solidFill>
                <a:schemeClr val="dk1"/>
              </a:solidFill>
              <a:latin typeface="Calibri"/>
              <a:ea typeface="Calibri"/>
              <a:cs typeface="Calibri"/>
              <a:sym typeface="Calibri"/>
            </a:endParaRPr>
          </a:p>
        </p:txBody>
      </p:sp>
      <p:sp>
        <p:nvSpPr>
          <p:cNvPr id="184" name="Google Shape;184;p13"/>
          <p:cNvSpPr/>
          <p:nvPr/>
        </p:nvSpPr>
        <p:spPr>
          <a:xfrm>
            <a:off x="457200" y="2418308"/>
            <a:ext cx="5695950" cy="1194346"/>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3303A"/>
              </a:buClr>
              <a:buSzPts val="1425"/>
              <a:buFont typeface="Arial"/>
              <a:buNone/>
            </a:pPr>
            <a:r>
              <a:rPr b="0" i="0" lang="en-US" sz="1425">
                <a:solidFill>
                  <a:srgbClr val="23303A"/>
                </a:solidFill>
                <a:latin typeface="Arial"/>
                <a:ea typeface="Arial"/>
                <a:cs typeface="Arial"/>
                <a:sym typeface="Arial"/>
              </a:rPr>
              <a:t>After caudal thalamic and pretectal lesions, recovery could occur within approximately 5–10 minutes and the suppression accumulated much less across successive series. The same visual object remained capable of releasing movement after the normal persistent restraint was weakened.</a:t>
            </a:r>
            <a:endParaRPr sz="1800">
              <a:solidFill>
                <a:schemeClr val="dk1"/>
              </a:solidFill>
              <a:latin typeface="Calibri"/>
              <a:ea typeface="Calibri"/>
              <a:cs typeface="Calibri"/>
              <a:sym typeface="Calibri"/>
            </a:endParaRPr>
          </a:p>
        </p:txBody>
      </p:sp>
      <p:sp>
        <p:nvSpPr>
          <p:cNvPr id="185" name="Google Shape;185;p13"/>
          <p:cNvSpPr/>
          <p:nvPr/>
        </p:nvSpPr>
        <p:spPr>
          <a:xfrm>
            <a:off x="457200" y="3765054"/>
            <a:ext cx="5695950" cy="1194346"/>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3303A"/>
              </a:buClr>
              <a:buSzPts val="1425"/>
              <a:buFont typeface="Arial"/>
              <a:buNone/>
            </a:pPr>
            <a:r>
              <a:rPr b="0" i="0" lang="en-US" sz="1425">
                <a:solidFill>
                  <a:srgbClr val="23303A"/>
                </a:solidFill>
                <a:latin typeface="Arial"/>
                <a:ea typeface="Arial"/>
                <a:cs typeface="Arial"/>
                <a:sym typeface="Arial"/>
              </a:rPr>
              <a:t>The behavioral change connects the lesioned region to the time-dependent regulation of prey-catching. Habituation measured as turning behavior does not by itself distinguish retinal adaptation, tectal response changes, motivational changes and pretectal inhibition.</a:t>
            </a:r>
            <a:endParaRPr sz="1800">
              <a:solidFill>
                <a:schemeClr val="dk1"/>
              </a:solidFill>
              <a:latin typeface="Calibri"/>
              <a:ea typeface="Calibri"/>
              <a:cs typeface="Calibri"/>
              <a:sym typeface="Calibri"/>
            </a:endParaRPr>
          </a:p>
        </p:txBody>
      </p:sp>
      <p:pic>
        <p:nvPicPr>
          <p:cNvPr id="186" name="Google Shape;186;p13"/>
          <p:cNvPicPr preferRelativeResize="0"/>
          <p:nvPr/>
        </p:nvPicPr>
        <p:blipFill rotWithShape="1">
          <a:blip r:embed="rId3">
            <a:alphaModFix/>
          </a:blip>
          <a:srcRect b="0" l="0" r="0" t="0"/>
          <a:stretch/>
        </p:blipFill>
        <p:spPr>
          <a:xfrm>
            <a:off x="6477000" y="1071563"/>
            <a:ext cx="2895600" cy="2634489"/>
          </a:xfrm>
          <a:prstGeom prst="rect">
            <a:avLst/>
          </a:prstGeom>
          <a:noFill/>
          <a:ln>
            <a:noFill/>
          </a:ln>
        </p:spPr>
      </p:pic>
      <p:sp>
        <p:nvSpPr>
          <p:cNvPr id="187" name="Google Shape;187;p13"/>
          <p:cNvSpPr/>
          <p:nvPr/>
        </p:nvSpPr>
        <p:spPr>
          <a:xfrm>
            <a:off x="6477000" y="5319713"/>
            <a:ext cx="2914650" cy="285750"/>
          </a:xfrm>
          <a:prstGeom prst="rect">
            <a:avLst/>
          </a:prstGeom>
          <a:noFill/>
          <a:ln>
            <a:noFill/>
          </a:ln>
        </p:spPr>
        <p:txBody>
          <a:bodyPr anchorCtr="0" anchor="t" bIns="0" lIns="0" spcFirstLastPara="1" rIns="0" wrap="square" tIns="0">
            <a:normAutofit/>
          </a:bodyPr>
          <a:lstStyle/>
          <a:p>
            <a:pPr indent="0" lvl="0" marL="0" marR="0" rtl="0" algn="l">
              <a:lnSpc>
                <a:spcPct val="125000"/>
              </a:lnSpc>
              <a:spcBef>
                <a:spcPts val="0"/>
              </a:spcBef>
              <a:spcAft>
                <a:spcPts val="0"/>
              </a:spcAft>
              <a:buClr>
                <a:srgbClr val="23303A"/>
              </a:buClr>
              <a:buSzPts val="900"/>
              <a:buFont typeface="Arial"/>
              <a:buNone/>
            </a:pPr>
            <a:r>
              <a:rPr b="0" i="0" lang="en-US" sz="900">
                <a:solidFill>
                  <a:srgbClr val="23303A"/>
                </a:solidFill>
                <a:latin typeface="Arial"/>
                <a:ea typeface="Arial"/>
                <a:cs typeface="Arial"/>
                <a:sym typeface="Arial"/>
              </a:rPr>
              <a:t>Ewert (1970), Fig. 5(A–B). Orienting declines with repetition and recovers after a pause.</a:t>
            </a:r>
            <a:endParaRPr sz="1800">
              <a:solidFill>
                <a:schemeClr val="dk1"/>
              </a:solidFill>
              <a:latin typeface="Calibri"/>
              <a:ea typeface="Calibri"/>
              <a:cs typeface="Calibri"/>
              <a:sym typeface="Calibri"/>
            </a:endParaRPr>
          </a:p>
        </p:txBody>
      </p:sp>
      <p:pic>
        <p:nvPicPr>
          <p:cNvPr id="188" name="Google Shape;188;p13"/>
          <p:cNvPicPr preferRelativeResize="0"/>
          <p:nvPr/>
        </p:nvPicPr>
        <p:blipFill rotWithShape="1">
          <a:blip r:embed="rId4">
            <a:alphaModFix/>
          </a:blip>
          <a:srcRect b="0" l="0" r="0" t="0"/>
          <a:stretch/>
        </p:blipFill>
        <p:spPr>
          <a:xfrm>
            <a:off x="9525000" y="1681163"/>
            <a:ext cx="2209800" cy="1928869"/>
          </a:xfrm>
          <a:prstGeom prst="rect">
            <a:avLst/>
          </a:prstGeom>
          <a:noFill/>
          <a:ln>
            <a:noFill/>
          </a:ln>
        </p:spPr>
      </p:pic>
      <p:sp>
        <p:nvSpPr>
          <p:cNvPr id="189" name="Google Shape;189;p13"/>
          <p:cNvSpPr/>
          <p:nvPr/>
        </p:nvSpPr>
        <p:spPr>
          <a:xfrm>
            <a:off x="9525000" y="5091113"/>
            <a:ext cx="2228850" cy="571500"/>
          </a:xfrm>
          <a:prstGeom prst="rect">
            <a:avLst/>
          </a:prstGeom>
          <a:noFill/>
          <a:ln>
            <a:noFill/>
          </a:ln>
        </p:spPr>
        <p:txBody>
          <a:bodyPr anchorCtr="0" anchor="t" bIns="0" lIns="0" spcFirstLastPara="1" rIns="0" wrap="square" tIns="0">
            <a:normAutofit/>
          </a:bodyPr>
          <a:lstStyle/>
          <a:p>
            <a:pPr indent="0" lvl="0" marL="0" marR="0" rtl="0" algn="l">
              <a:lnSpc>
                <a:spcPct val="125000"/>
              </a:lnSpc>
              <a:spcBef>
                <a:spcPts val="0"/>
              </a:spcBef>
              <a:spcAft>
                <a:spcPts val="0"/>
              </a:spcAft>
              <a:buClr>
                <a:srgbClr val="23303A"/>
              </a:buClr>
              <a:buSzPts val="900"/>
              <a:buFont typeface="Arial"/>
              <a:buNone/>
            </a:pPr>
            <a:r>
              <a:rPr b="0" i="0" lang="en-US" sz="900">
                <a:solidFill>
                  <a:srgbClr val="23303A"/>
                </a:solidFill>
                <a:latin typeface="Arial"/>
                <a:ea typeface="Arial"/>
                <a:cs typeface="Arial"/>
                <a:sym typeface="Arial"/>
              </a:rPr>
              <a:t>Ewert (1970), Fig. 5(Ca–Cb). Repeated habituation series suppress intact responses more than lesioned responses.</a:t>
            </a:r>
            <a:endParaRPr sz="1800">
              <a:solidFill>
                <a:schemeClr val="dk1"/>
              </a:solidFill>
              <a:latin typeface="Calibri"/>
              <a:ea typeface="Calibri"/>
              <a:cs typeface="Calibri"/>
              <a:sym typeface="Calibri"/>
            </a:endParaRPr>
          </a:p>
        </p:txBody>
      </p:sp>
      <p:pic>
        <p:nvPicPr>
          <p:cNvPr id="190" name="Google Shape;190;p13"/>
          <p:cNvPicPr preferRelativeResize="0"/>
          <p:nvPr/>
        </p:nvPicPr>
        <p:blipFill rotWithShape="1">
          <a:blip r:embed="rId5">
            <a:alphaModFix/>
          </a:blip>
          <a:srcRect b="0" l="0" r="0" t="0"/>
          <a:stretch/>
        </p:blipFill>
        <p:spPr>
          <a:xfrm>
            <a:off x="457200" y="6405563"/>
            <a:ext cx="11277600" cy="242888"/>
          </a:xfrm>
          <a:prstGeom prst="rect">
            <a:avLst/>
          </a:prstGeom>
          <a:noFill/>
          <a:ln>
            <a:noFill/>
          </a:ln>
        </p:spPr>
      </p:pic>
      <p:sp>
        <p:nvSpPr>
          <p:cNvPr id="191" name="Google Shape;191;p13"/>
          <p:cNvSpPr/>
          <p:nvPr/>
        </p:nvSpPr>
        <p:spPr>
          <a:xfrm>
            <a:off x="457200" y="6491288"/>
            <a:ext cx="629692" cy="157163"/>
          </a:xfrm>
          <a:prstGeom prst="rect">
            <a:avLst/>
          </a:prstGeom>
          <a:noFill/>
          <a:ln>
            <a:noFill/>
          </a:ln>
        </p:spPr>
        <p:txBody>
          <a:bodyPr anchorCtr="0" anchor="t" bIns="0" lIns="0" spcFirstLastPara="1" rIns="0" wrap="square" tIns="0">
            <a:normAutofit/>
          </a:bodyPr>
          <a:lstStyle/>
          <a:p>
            <a:pPr indent="0" lvl="0" marL="0" marR="0" rtl="0" algn="l">
              <a:lnSpc>
                <a:spcPct val="150060"/>
              </a:lnSpc>
              <a:spcBef>
                <a:spcPts val="0"/>
              </a:spcBef>
              <a:spcAft>
                <a:spcPts val="0"/>
              </a:spcAft>
              <a:buClr>
                <a:srgbClr val="5F6E7A"/>
              </a:buClr>
              <a:buSzPts val="825"/>
              <a:buFont typeface="Arial"/>
              <a:buNone/>
            </a:pPr>
            <a:r>
              <a:rPr b="0" i="0" lang="en-US" sz="825">
                <a:solidFill>
                  <a:srgbClr val="5F6E7A"/>
                </a:solidFill>
                <a:latin typeface="Arial"/>
                <a:ea typeface="Arial"/>
                <a:cs typeface="Arial"/>
                <a:sym typeface="Arial"/>
              </a:rPr>
              <a:t>Ewert (1970)</a:t>
            </a:r>
            <a:endParaRPr sz="1800">
              <a:solidFill>
                <a:schemeClr val="dk1"/>
              </a:solidFill>
              <a:latin typeface="Calibri"/>
              <a:ea typeface="Calibri"/>
              <a:cs typeface="Calibri"/>
              <a:sym typeface="Calibri"/>
            </a:endParaRPr>
          </a:p>
        </p:txBody>
      </p:sp>
      <p:sp>
        <p:nvSpPr>
          <p:cNvPr id="192" name="Google Shape;192;p13"/>
          <p:cNvSpPr/>
          <p:nvPr/>
        </p:nvSpPr>
        <p:spPr>
          <a:xfrm>
            <a:off x="11614845" y="6491288"/>
            <a:ext cx="139005" cy="157163"/>
          </a:xfrm>
          <a:prstGeom prst="rect">
            <a:avLst/>
          </a:prstGeom>
          <a:noFill/>
          <a:ln>
            <a:noFill/>
          </a:ln>
        </p:spPr>
        <p:txBody>
          <a:bodyPr anchorCtr="0" anchor="t" bIns="0" lIns="0" spcFirstLastPara="1" rIns="0" wrap="square" tIns="0">
            <a:normAutofit/>
          </a:bodyPr>
          <a:lstStyle/>
          <a:p>
            <a:pPr indent="0" lvl="0" marL="0" marR="0" rtl="0" algn="l">
              <a:lnSpc>
                <a:spcPct val="150060"/>
              </a:lnSpc>
              <a:spcBef>
                <a:spcPts val="0"/>
              </a:spcBef>
              <a:spcAft>
                <a:spcPts val="0"/>
              </a:spcAft>
              <a:buClr>
                <a:srgbClr val="5F6E7A"/>
              </a:buClr>
              <a:buSzPts val="825"/>
              <a:buFont typeface="Arial"/>
              <a:buNone/>
            </a:pPr>
            <a:r>
              <a:rPr b="0" i="0" lang="en-US" sz="825">
                <a:solidFill>
                  <a:srgbClr val="5F6E7A"/>
                </a:solidFill>
                <a:latin typeface="Arial"/>
                <a:ea typeface="Arial"/>
                <a:cs typeface="Arial"/>
                <a:sym typeface="Arial"/>
              </a:rPr>
              <a:t>13</a:t>
            </a:r>
            <a:endParaRPr sz="1800">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96" name="Shape 196"/>
        <p:cNvGrpSpPr/>
        <p:nvPr/>
      </p:nvGrpSpPr>
      <p:grpSpPr>
        <a:xfrm>
          <a:off x="0" y="0"/>
          <a:ext cx="0" cy="0"/>
          <a:chOff x="0" y="0"/>
          <a:chExt cx="0" cy="0"/>
        </a:xfrm>
      </p:grpSpPr>
      <p:sp>
        <p:nvSpPr>
          <p:cNvPr id="197" name="Google Shape;197;p14"/>
          <p:cNvSpPr/>
          <p:nvPr/>
        </p:nvSpPr>
        <p:spPr>
          <a:xfrm>
            <a:off x="457200" y="457200"/>
            <a:ext cx="11296650" cy="328613"/>
          </a:xfrm>
          <a:prstGeom prst="rect">
            <a:avLst/>
          </a:prstGeom>
          <a:noFill/>
          <a:ln>
            <a:noFill/>
          </a:ln>
        </p:spPr>
        <p:txBody>
          <a:bodyPr anchorCtr="0" anchor="t" bIns="0" lIns="0" spcFirstLastPara="1" rIns="0" wrap="square" tIns="0">
            <a:normAutofit/>
          </a:bodyPr>
          <a:lstStyle/>
          <a:p>
            <a:pPr indent="0" lvl="0" marL="0" marR="0" rtl="0" algn="l">
              <a:lnSpc>
                <a:spcPct val="115022"/>
              </a:lnSpc>
              <a:spcBef>
                <a:spcPts val="0"/>
              </a:spcBef>
              <a:spcAft>
                <a:spcPts val="0"/>
              </a:spcAft>
              <a:buClr>
                <a:srgbClr val="35536B"/>
              </a:buClr>
              <a:buSzPts val="2250"/>
              <a:buFont typeface="Arial"/>
              <a:buNone/>
            </a:pPr>
            <a:r>
              <a:rPr b="1" i="0" lang="en-US" sz="2250">
                <a:solidFill>
                  <a:srgbClr val="35536B"/>
                </a:solidFill>
                <a:latin typeface="Arial"/>
                <a:ea typeface="Arial"/>
                <a:cs typeface="Arial"/>
                <a:sym typeface="Arial"/>
              </a:rPr>
              <a:t>Forebrain removal can silence catching indirectly</a:t>
            </a:r>
            <a:endParaRPr sz="1800">
              <a:solidFill>
                <a:schemeClr val="dk1"/>
              </a:solidFill>
              <a:latin typeface="Calibri"/>
              <a:ea typeface="Calibri"/>
              <a:cs typeface="Calibri"/>
              <a:sym typeface="Calibri"/>
            </a:endParaRPr>
          </a:p>
        </p:txBody>
      </p:sp>
      <p:sp>
        <p:nvSpPr>
          <p:cNvPr id="198" name="Google Shape;198;p14"/>
          <p:cNvSpPr/>
          <p:nvPr/>
        </p:nvSpPr>
        <p:spPr>
          <a:xfrm>
            <a:off x="457200" y="1071563"/>
            <a:ext cx="5695950" cy="1194346"/>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3303A"/>
              </a:buClr>
              <a:buSzPts val="1425"/>
              <a:buFont typeface="Arial"/>
              <a:buNone/>
            </a:pPr>
            <a:r>
              <a:rPr b="0" i="0" lang="en-US" sz="1425">
                <a:solidFill>
                  <a:srgbClr val="23303A"/>
                </a:solidFill>
                <a:latin typeface="Arial"/>
                <a:ea typeface="Arial"/>
                <a:cs typeface="Arial"/>
                <a:sym typeface="Arial"/>
              </a:rPr>
              <a:t>The </a:t>
            </a:r>
            <a:r>
              <a:rPr b="1" i="0" lang="en-US" sz="1425">
                <a:solidFill>
                  <a:srgbClr val="23303A"/>
                </a:solidFill>
                <a:latin typeface="Arial"/>
                <a:ea typeface="Arial"/>
                <a:cs typeface="Arial"/>
                <a:sym typeface="Arial"/>
              </a:rPr>
              <a:t>telencephalon</a:t>
            </a:r>
            <a:r>
              <a:rPr b="0" i="0" lang="en-US" sz="1425">
                <a:solidFill>
                  <a:srgbClr val="23303A"/>
                </a:solidFill>
                <a:latin typeface="Arial"/>
                <a:ea typeface="Arial"/>
                <a:cs typeface="Arial"/>
                <a:sym typeface="Arial"/>
              </a:rPr>
              <a:t>, the anterior division of the forebrain, can regulate visually released behavior without supplying the entire catching motor sequence. Ewert removed the forebrain while sparing the thalamus and observed a pronounced reduction in prey-oriented responses.</a:t>
            </a:r>
            <a:endParaRPr sz="1800">
              <a:solidFill>
                <a:schemeClr val="dk1"/>
              </a:solidFill>
              <a:latin typeface="Calibri"/>
              <a:ea typeface="Calibri"/>
              <a:cs typeface="Calibri"/>
              <a:sym typeface="Calibri"/>
            </a:endParaRPr>
          </a:p>
        </p:txBody>
      </p:sp>
      <p:sp>
        <p:nvSpPr>
          <p:cNvPr id="199" name="Google Shape;199;p14"/>
          <p:cNvSpPr/>
          <p:nvPr/>
        </p:nvSpPr>
        <p:spPr>
          <a:xfrm>
            <a:off x="457200" y="2418308"/>
            <a:ext cx="5695950" cy="1194346"/>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3303A"/>
              </a:buClr>
              <a:buSzPts val="1425"/>
              <a:buFont typeface="Arial"/>
              <a:buNone/>
            </a:pPr>
            <a:r>
              <a:rPr b="0" i="0" lang="en-US" sz="1425">
                <a:solidFill>
                  <a:srgbClr val="23303A"/>
                </a:solidFill>
                <a:latin typeface="Arial"/>
                <a:ea typeface="Arial"/>
                <a:cs typeface="Arial"/>
                <a:sym typeface="Arial"/>
              </a:rPr>
              <a:t>Bilateral removal left animals unresponsive to prey dummies while avoidance increased. Additional damage to the pretectal and caudal thalamic region could restore disinhibited catching. Thus a missing forebrain did not necessarily remove the downstream capacity to execute prey-related movements.</a:t>
            </a:r>
            <a:endParaRPr sz="1800">
              <a:solidFill>
                <a:schemeClr val="dk1"/>
              </a:solidFill>
              <a:latin typeface="Calibri"/>
              <a:ea typeface="Calibri"/>
              <a:cs typeface="Calibri"/>
              <a:sym typeface="Calibri"/>
            </a:endParaRPr>
          </a:p>
        </p:txBody>
      </p:sp>
      <p:sp>
        <p:nvSpPr>
          <p:cNvPr id="200" name="Google Shape;200;p14"/>
          <p:cNvSpPr/>
          <p:nvPr/>
        </p:nvSpPr>
        <p:spPr>
          <a:xfrm>
            <a:off x="457200" y="3765054"/>
            <a:ext cx="5695950" cy="1194346"/>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3303A"/>
              </a:buClr>
              <a:buSzPts val="1425"/>
              <a:buFont typeface="Arial"/>
              <a:buNone/>
            </a:pPr>
            <a:r>
              <a:rPr b="0" i="0" lang="en-US" sz="1425">
                <a:solidFill>
                  <a:srgbClr val="23303A"/>
                </a:solidFill>
                <a:latin typeface="Arial"/>
                <a:ea typeface="Arial"/>
                <a:cs typeface="Arial"/>
                <a:sym typeface="Arial"/>
              </a:rPr>
              <a:t>The sequential interventions support regulation through an inhibitory intermediate, but the full lesion sequence also indicated additional forebrain influences. These regional operations cannot establish a complete two-node circuit or identify the transmitter linking forebrain activity to pretectal restraint.</a:t>
            </a:r>
            <a:endParaRPr sz="1800">
              <a:solidFill>
                <a:schemeClr val="dk1"/>
              </a:solidFill>
              <a:latin typeface="Calibri"/>
              <a:ea typeface="Calibri"/>
              <a:cs typeface="Calibri"/>
              <a:sym typeface="Calibri"/>
            </a:endParaRPr>
          </a:p>
        </p:txBody>
      </p:sp>
      <p:pic>
        <p:nvPicPr>
          <p:cNvPr id="201" name="Google Shape;201;p14"/>
          <p:cNvPicPr preferRelativeResize="0"/>
          <p:nvPr/>
        </p:nvPicPr>
        <p:blipFill rotWithShape="1">
          <a:blip r:embed="rId3">
            <a:alphaModFix/>
          </a:blip>
          <a:srcRect b="0" l="0" r="0" t="0"/>
          <a:stretch/>
        </p:blipFill>
        <p:spPr>
          <a:xfrm>
            <a:off x="6504269" y="1071563"/>
            <a:ext cx="5203262" cy="4229100"/>
          </a:xfrm>
          <a:prstGeom prst="rect">
            <a:avLst/>
          </a:prstGeom>
          <a:noFill/>
          <a:ln>
            <a:noFill/>
          </a:ln>
        </p:spPr>
      </p:pic>
      <p:sp>
        <p:nvSpPr>
          <p:cNvPr id="202" name="Google Shape;202;p14"/>
          <p:cNvSpPr/>
          <p:nvPr/>
        </p:nvSpPr>
        <p:spPr>
          <a:xfrm>
            <a:off x="6477000" y="5376863"/>
            <a:ext cx="5276850" cy="142875"/>
          </a:xfrm>
          <a:prstGeom prst="rect">
            <a:avLst/>
          </a:prstGeom>
          <a:noFill/>
          <a:ln>
            <a:noFill/>
          </a:ln>
        </p:spPr>
        <p:txBody>
          <a:bodyPr anchorCtr="0" anchor="t" bIns="0" lIns="0" spcFirstLastPara="1" rIns="0" wrap="square" tIns="0">
            <a:normAutofit/>
          </a:bodyPr>
          <a:lstStyle/>
          <a:p>
            <a:pPr indent="0" lvl="0" marL="0" marR="0" rtl="0" algn="l">
              <a:lnSpc>
                <a:spcPct val="125000"/>
              </a:lnSpc>
              <a:spcBef>
                <a:spcPts val="0"/>
              </a:spcBef>
              <a:spcAft>
                <a:spcPts val="0"/>
              </a:spcAft>
              <a:buClr>
                <a:srgbClr val="23303A"/>
              </a:buClr>
              <a:buSzPts val="900"/>
              <a:buFont typeface="Arial"/>
              <a:buNone/>
            </a:pPr>
            <a:r>
              <a:rPr b="0" i="0" lang="en-US" sz="900">
                <a:solidFill>
                  <a:srgbClr val="23303A"/>
                </a:solidFill>
                <a:latin typeface="Arial"/>
                <a:ea typeface="Arial"/>
                <a:cs typeface="Arial"/>
                <a:sym typeface="Arial"/>
              </a:rPr>
              <a:t>McConville &amp; Laming (2007), Fig. 3. Lpd electrodes.</a:t>
            </a:r>
            <a:endParaRPr sz="1800">
              <a:solidFill>
                <a:schemeClr val="dk1"/>
              </a:solidFill>
              <a:latin typeface="Calibri"/>
              <a:ea typeface="Calibri"/>
              <a:cs typeface="Calibri"/>
              <a:sym typeface="Calibri"/>
            </a:endParaRPr>
          </a:p>
        </p:txBody>
      </p:sp>
      <p:pic>
        <p:nvPicPr>
          <p:cNvPr id="203" name="Google Shape;203;p14"/>
          <p:cNvPicPr preferRelativeResize="0"/>
          <p:nvPr/>
        </p:nvPicPr>
        <p:blipFill rotWithShape="1">
          <a:blip r:embed="rId4">
            <a:alphaModFix/>
          </a:blip>
          <a:srcRect b="0" l="0" r="0" t="0"/>
          <a:stretch/>
        </p:blipFill>
        <p:spPr>
          <a:xfrm>
            <a:off x="457200" y="6405563"/>
            <a:ext cx="11277600" cy="242888"/>
          </a:xfrm>
          <a:prstGeom prst="rect">
            <a:avLst/>
          </a:prstGeom>
          <a:noFill/>
          <a:ln>
            <a:noFill/>
          </a:ln>
        </p:spPr>
      </p:pic>
      <p:sp>
        <p:nvSpPr>
          <p:cNvPr id="204" name="Google Shape;204;p14"/>
          <p:cNvSpPr/>
          <p:nvPr/>
        </p:nvSpPr>
        <p:spPr>
          <a:xfrm>
            <a:off x="457200" y="6491288"/>
            <a:ext cx="2046982" cy="157163"/>
          </a:xfrm>
          <a:prstGeom prst="rect">
            <a:avLst/>
          </a:prstGeom>
          <a:noFill/>
          <a:ln>
            <a:noFill/>
          </a:ln>
        </p:spPr>
        <p:txBody>
          <a:bodyPr anchorCtr="0" anchor="t" bIns="0" lIns="0" spcFirstLastPara="1" rIns="0" wrap="square" tIns="0">
            <a:normAutofit/>
          </a:bodyPr>
          <a:lstStyle/>
          <a:p>
            <a:pPr indent="0" lvl="0" marL="0" marR="0" rtl="0" algn="l">
              <a:lnSpc>
                <a:spcPct val="150060"/>
              </a:lnSpc>
              <a:spcBef>
                <a:spcPts val="0"/>
              </a:spcBef>
              <a:spcAft>
                <a:spcPts val="0"/>
              </a:spcAft>
              <a:buClr>
                <a:srgbClr val="5F6E7A"/>
              </a:buClr>
              <a:buSzPts val="825"/>
              <a:buFont typeface="Arial"/>
              <a:buNone/>
            </a:pPr>
            <a:r>
              <a:rPr b="0" i="0" lang="en-US" sz="825">
                <a:solidFill>
                  <a:srgbClr val="5F6E7A"/>
                </a:solidFill>
                <a:latin typeface="Arial"/>
                <a:ea typeface="Arial"/>
                <a:cs typeface="Arial"/>
                <a:sym typeface="Arial"/>
              </a:rPr>
              <a:t>Ewert (1970); McConville &amp; Laming (2007)</a:t>
            </a:r>
            <a:endParaRPr sz="1800">
              <a:solidFill>
                <a:schemeClr val="dk1"/>
              </a:solidFill>
              <a:latin typeface="Calibri"/>
              <a:ea typeface="Calibri"/>
              <a:cs typeface="Calibri"/>
              <a:sym typeface="Calibri"/>
            </a:endParaRPr>
          </a:p>
        </p:txBody>
      </p:sp>
      <p:sp>
        <p:nvSpPr>
          <p:cNvPr id="205" name="Google Shape;205;p14"/>
          <p:cNvSpPr/>
          <p:nvPr/>
        </p:nvSpPr>
        <p:spPr>
          <a:xfrm>
            <a:off x="11614845" y="6491288"/>
            <a:ext cx="139005" cy="157163"/>
          </a:xfrm>
          <a:prstGeom prst="rect">
            <a:avLst/>
          </a:prstGeom>
          <a:noFill/>
          <a:ln>
            <a:noFill/>
          </a:ln>
        </p:spPr>
        <p:txBody>
          <a:bodyPr anchorCtr="0" anchor="t" bIns="0" lIns="0" spcFirstLastPara="1" rIns="0" wrap="square" tIns="0">
            <a:normAutofit/>
          </a:bodyPr>
          <a:lstStyle/>
          <a:p>
            <a:pPr indent="0" lvl="0" marL="0" marR="0" rtl="0" algn="l">
              <a:lnSpc>
                <a:spcPct val="150060"/>
              </a:lnSpc>
              <a:spcBef>
                <a:spcPts val="0"/>
              </a:spcBef>
              <a:spcAft>
                <a:spcPts val="0"/>
              </a:spcAft>
              <a:buClr>
                <a:srgbClr val="5F6E7A"/>
              </a:buClr>
              <a:buSzPts val="825"/>
              <a:buFont typeface="Arial"/>
              <a:buNone/>
            </a:pPr>
            <a:r>
              <a:rPr b="0" i="0" lang="en-US" sz="825">
                <a:solidFill>
                  <a:srgbClr val="5F6E7A"/>
                </a:solidFill>
                <a:latin typeface="Arial"/>
                <a:ea typeface="Arial"/>
                <a:cs typeface="Arial"/>
                <a:sym typeface="Arial"/>
              </a:rPr>
              <a:t>14</a:t>
            </a:r>
            <a:endParaRPr sz="1800">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09" name="Shape 209"/>
        <p:cNvGrpSpPr/>
        <p:nvPr/>
      </p:nvGrpSpPr>
      <p:grpSpPr>
        <a:xfrm>
          <a:off x="0" y="0"/>
          <a:ext cx="0" cy="0"/>
          <a:chOff x="0" y="0"/>
          <a:chExt cx="0" cy="0"/>
        </a:xfrm>
      </p:grpSpPr>
      <p:sp>
        <p:nvSpPr>
          <p:cNvPr id="210" name="Google Shape;210;p15"/>
          <p:cNvSpPr/>
          <p:nvPr/>
        </p:nvSpPr>
        <p:spPr>
          <a:xfrm>
            <a:off x="457200" y="457200"/>
            <a:ext cx="11296650" cy="328613"/>
          </a:xfrm>
          <a:prstGeom prst="rect">
            <a:avLst/>
          </a:prstGeom>
          <a:noFill/>
          <a:ln>
            <a:noFill/>
          </a:ln>
        </p:spPr>
        <p:txBody>
          <a:bodyPr anchorCtr="0" anchor="t" bIns="0" lIns="0" spcFirstLastPara="1" rIns="0" wrap="square" tIns="0">
            <a:normAutofit/>
          </a:bodyPr>
          <a:lstStyle/>
          <a:p>
            <a:pPr indent="0" lvl="0" marL="0" marR="0" rtl="0" algn="l">
              <a:lnSpc>
                <a:spcPct val="115022"/>
              </a:lnSpc>
              <a:spcBef>
                <a:spcPts val="0"/>
              </a:spcBef>
              <a:spcAft>
                <a:spcPts val="0"/>
              </a:spcAft>
              <a:buClr>
                <a:srgbClr val="35536B"/>
              </a:buClr>
              <a:buSzPts val="2250"/>
              <a:buFont typeface="Arial"/>
              <a:buNone/>
            </a:pPr>
            <a:r>
              <a:rPr b="1" i="0" lang="en-US" sz="2250">
                <a:solidFill>
                  <a:srgbClr val="35536B"/>
                </a:solidFill>
                <a:latin typeface="Arial"/>
                <a:ea typeface="Arial"/>
                <a:cs typeface="Arial"/>
                <a:sym typeface="Arial"/>
              </a:rPr>
              <a:t>Newness cells respond selectively to recent motion</a:t>
            </a:r>
            <a:endParaRPr sz="1800">
              <a:solidFill>
                <a:schemeClr val="dk1"/>
              </a:solidFill>
              <a:latin typeface="Calibri"/>
              <a:ea typeface="Calibri"/>
              <a:cs typeface="Calibri"/>
              <a:sym typeface="Calibri"/>
            </a:endParaRPr>
          </a:p>
        </p:txBody>
      </p:sp>
      <p:sp>
        <p:nvSpPr>
          <p:cNvPr id="211" name="Google Shape;211;p15"/>
          <p:cNvSpPr/>
          <p:nvPr/>
        </p:nvSpPr>
        <p:spPr>
          <a:xfrm>
            <a:off x="457200" y="1071563"/>
            <a:ext cx="5695950" cy="955477"/>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3303A"/>
              </a:buClr>
              <a:buSzPts val="1425"/>
              <a:buFont typeface="Arial"/>
              <a:buNone/>
            </a:pPr>
            <a:r>
              <a:rPr b="0" i="0" lang="en-US" sz="1425">
                <a:solidFill>
                  <a:srgbClr val="23303A"/>
                </a:solidFill>
                <a:latin typeface="Arial"/>
                <a:ea typeface="Arial"/>
                <a:cs typeface="Arial"/>
                <a:sym typeface="Arial"/>
              </a:rPr>
              <a:t>Ingle recorded </a:t>
            </a:r>
            <a:r>
              <a:rPr b="1" i="0" lang="en-US" sz="1425">
                <a:solidFill>
                  <a:srgbClr val="23303A"/>
                </a:solidFill>
                <a:latin typeface="Arial"/>
                <a:ea typeface="Arial"/>
                <a:cs typeface="Arial"/>
                <a:sym typeface="Arial"/>
              </a:rPr>
              <a:t>newness cells</a:t>
            </a:r>
            <a:r>
              <a:rPr b="0" i="0" lang="en-US" sz="1425">
                <a:solidFill>
                  <a:srgbClr val="23303A"/>
                </a:solidFill>
                <a:latin typeface="Arial"/>
                <a:ea typeface="Arial"/>
                <a:cs typeface="Arial"/>
                <a:sym typeface="Arial"/>
              </a:rPr>
              <a:t>, a functional class of tectal neurons whose responses normally diminish rapidly when an object repeatedly traverses the same visual region. In intact frogs, these cells commonly had receptive fields about 15–20° across.</a:t>
            </a:r>
            <a:endParaRPr sz="1800">
              <a:solidFill>
                <a:schemeClr val="dk1"/>
              </a:solidFill>
              <a:latin typeface="Calibri"/>
              <a:ea typeface="Calibri"/>
              <a:cs typeface="Calibri"/>
              <a:sym typeface="Calibri"/>
            </a:endParaRPr>
          </a:p>
        </p:txBody>
      </p:sp>
      <p:sp>
        <p:nvSpPr>
          <p:cNvPr id="212" name="Google Shape;212;p15"/>
          <p:cNvSpPr/>
          <p:nvPr/>
        </p:nvSpPr>
        <p:spPr>
          <a:xfrm>
            <a:off x="457200" y="2179439"/>
            <a:ext cx="5695950" cy="1194346"/>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3303A"/>
              </a:buClr>
              <a:buSzPts val="1425"/>
              <a:buFont typeface="Arial"/>
              <a:buNone/>
            </a:pPr>
            <a:r>
              <a:rPr b="0" i="0" lang="en-US" sz="1425">
                <a:solidFill>
                  <a:srgbClr val="23303A"/>
                </a:solidFill>
                <a:latin typeface="Arial"/>
                <a:ea typeface="Arial"/>
                <a:cs typeface="Arial"/>
                <a:sym typeface="Arial"/>
              </a:rPr>
              <a:t>A </a:t>
            </a:r>
            <a:r>
              <a:rPr b="1" i="0" lang="en-US" sz="1425">
                <a:solidFill>
                  <a:srgbClr val="23303A"/>
                </a:solidFill>
                <a:latin typeface="Arial"/>
                <a:ea typeface="Arial"/>
                <a:cs typeface="Arial"/>
                <a:sym typeface="Arial"/>
              </a:rPr>
              <a:t>receptive field</a:t>
            </a:r>
            <a:r>
              <a:rPr b="0" i="0" lang="en-US" sz="1425">
                <a:solidFill>
                  <a:srgbClr val="23303A"/>
                </a:solidFill>
                <a:latin typeface="Arial"/>
                <a:ea typeface="Arial"/>
                <a:cs typeface="Arial"/>
                <a:sym typeface="Arial"/>
              </a:rPr>
              <a:t> is the region of sensory space in which a stimulus changes a neuron’s activity. Normal newness cells could cease responding after one or two passages of a small object. This property differs from the repeated contrast responses of retinal class 3 fibers.</a:t>
            </a:r>
            <a:endParaRPr sz="1800">
              <a:solidFill>
                <a:schemeClr val="dk1"/>
              </a:solidFill>
              <a:latin typeface="Calibri"/>
              <a:ea typeface="Calibri"/>
              <a:cs typeface="Calibri"/>
              <a:sym typeface="Calibri"/>
            </a:endParaRPr>
          </a:p>
        </p:txBody>
      </p:sp>
      <p:sp>
        <p:nvSpPr>
          <p:cNvPr id="213" name="Google Shape;213;p15"/>
          <p:cNvSpPr/>
          <p:nvPr/>
        </p:nvSpPr>
        <p:spPr>
          <a:xfrm>
            <a:off x="457200" y="3526185"/>
            <a:ext cx="5695950" cy="955477"/>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3303A"/>
              </a:buClr>
              <a:buSzPts val="1425"/>
              <a:buFont typeface="Arial"/>
              <a:buNone/>
            </a:pPr>
            <a:r>
              <a:rPr b="0" i="0" lang="en-US" sz="1425">
                <a:solidFill>
                  <a:srgbClr val="23303A"/>
                </a:solidFill>
                <a:latin typeface="Arial"/>
                <a:ea typeface="Arial"/>
                <a:cs typeface="Arial"/>
                <a:sym typeface="Arial"/>
              </a:rPr>
              <a:t>Ingle compared these responses after pretectal lesions associated with disinhibited pursuit. The category describes measured visual response properties, not a molecularly defined cell type or a demonstrated neurotransmitter identity shared by every cell.</a:t>
            </a:r>
            <a:endParaRPr sz="1800">
              <a:solidFill>
                <a:schemeClr val="dk1"/>
              </a:solidFill>
              <a:latin typeface="Calibri"/>
              <a:ea typeface="Calibri"/>
              <a:cs typeface="Calibri"/>
              <a:sym typeface="Calibri"/>
            </a:endParaRPr>
          </a:p>
        </p:txBody>
      </p:sp>
      <p:pic>
        <p:nvPicPr>
          <p:cNvPr id="214" name="Google Shape;214;p15"/>
          <p:cNvPicPr preferRelativeResize="0"/>
          <p:nvPr/>
        </p:nvPicPr>
        <p:blipFill rotWithShape="1">
          <a:blip r:embed="rId3">
            <a:alphaModFix/>
          </a:blip>
          <a:srcRect b="0" l="0" r="0" t="0"/>
          <a:stretch/>
        </p:blipFill>
        <p:spPr>
          <a:xfrm>
            <a:off x="7642116" y="1071563"/>
            <a:ext cx="2927569" cy="2333625"/>
          </a:xfrm>
          <a:prstGeom prst="rect">
            <a:avLst/>
          </a:prstGeom>
          <a:noFill/>
          <a:ln>
            <a:noFill/>
          </a:ln>
        </p:spPr>
      </p:pic>
      <p:sp>
        <p:nvSpPr>
          <p:cNvPr id="215" name="Google Shape;215;p15"/>
          <p:cNvSpPr/>
          <p:nvPr/>
        </p:nvSpPr>
        <p:spPr>
          <a:xfrm>
            <a:off x="6477000" y="3481388"/>
            <a:ext cx="5276850" cy="142875"/>
          </a:xfrm>
          <a:prstGeom prst="rect">
            <a:avLst/>
          </a:prstGeom>
          <a:noFill/>
          <a:ln>
            <a:noFill/>
          </a:ln>
        </p:spPr>
        <p:txBody>
          <a:bodyPr anchorCtr="0" anchor="t" bIns="0" lIns="0" spcFirstLastPara="1" rIns="0" wrap="square" tIns="0">
            <a:normAutofit/>
          </a:bodyPr>
          <a:lstStyle/>
          <a:p>
            <a:pPr indent="0" lvl="0" marL="0" marR="0" rtl="0" algn="l">
              <a:lnSpc>
                <a:spcPct val="125000"/>
              </a:lnSpc>
              <a:spcBef>
                <a:spcPts val="0"/>
              </a:spcBef>
              <a:spcAft>
                <a:spcPts val="0"/>
              </a:spcAft>
              <a:buClr>
                <a:srgbClr val="23303A"/>
              </a:buClr>
              <a:buSzPts val="900"/>
              <a:buFont typeface="Arial"/>
              <a:buNone/>
            </a:pPr>
            <a:r>
              <a:rPr b="0" i="0" lang="en-US" sz="900">
                <a:solidFill>
                  <a:srgbClr val="23303A"/>
                </a:solidFill>
                <a:latin typeface="Arial"/>
                <a:ea typeface="Arial"/>
                <a:cs typeface="Arial"/>
                <a:sym typeface="Arial"/>
              </a:rPr>
              <a:t>Ingle (1973), Fig. 1. A lesion-side tectal unit fires persistently to a moving and stopped object.</a:t>
            </a:r>
            <a:endParaRPr sz="1800">
              <a:solidFill>
                <a:schemeClr val="dk1"/>
              </a:solidFill>
              <a:latin typeface="Calibri"/>
              <a:ea typeface="Calibri"/>
              <a:cs typeface="Calibri"/>
              <a:sym typeface="Calibri"/>
            </a:endParaRPr>
          </a:p>
        </p:txBody>
      </p:sp>
      <p:pic>
        <p:nvPicPr>
          <p:cNvPr id="216" name="Google Shape;216;p15"/>
          <p:cNvPicPr preferRelativeResize="0"/>
          <p:nvPr/>
        </p:nvPicPr>
        <p:blipFill rotWithShape="1">
          <a:blip r:embed="rId4">
            <a:alphaModFix/>
          </a:blip>
          <a:srcRect b="0" l="0" r="0" t="0"/>
          <a:stretch/>
        </p:blipFill>
        <p:spPr>
          <a:xfrm>
            <a:off x="8197673" y="3795713"/>
            <a:ext cx="1816454" cy="1476375"/>
          </a:xfrm>
          <a:prstGeom prst="rect">
            <a:avLst/>
          </a:prstGeom>
          <a:noFill/>
          <a:ln>
            <a:noFill/>
          </a:ln>
        </p:spPr>
      </p:pic>
      <p:sp>
        <p:nvSpPr>
          <p:cNvPr id="217" name="Google Shape;217;p15"/>
          <p:cNvSpPr/>
          <p:nvPr/>
        </p:nvSpPr>
        <p:spPr>
          <a:xfrm>
            <a:off x="6477000" y="5348288"/>
            <a:ext cx="5276850" cy="142875"/>
          </a:xfrm>
          <a:prstGeom prst="rect">
            <a:avLst/>
          </a:prstGeom>
          <a:noFill/>
          <a:ln>
            <a:noFill/>
          </a:ln>
        </p:spPr>
        <p:txBody>
          <a:bodyPr anchorCtr="0" anchor="t" bIns="0" lIns="0" spcFirstLastPara="1" rIns="0" wrap="square" tIns="0">
            <a:normAutofit/>
          </a:bodyPr>
          <a:lstStyle/>
          <a:p>
            <a:pPr indent="0" lvl="0" marL="0" marR="0" rtl="0" algn="l">
              <a:lnSpc>
                <a:spcPct val="125000"/>
              </a:lnSpc>
              <a:spcBef>
                <a:spcPts val="0"/>
              </a:spcBef>
              <a:spcAft>
                <a:spcPts val="0"/>
              </a:spcAft>
              <a:buClr>
                <a:srgbClr val="23303A"/>
              </a:buClr>
              <a:buSzPts val="900"/>
              <a:buFont typeface="Arial"/>
              <a:buNone/>
            </a:pPr>
            <a:r>
              <a:rPr b="0" i="0" lang="en-US" sz="900">
                <a:solidFill>
                  <a:srgbClr val="23303A"/>
                </a:solidFill>
                <a:latin typeface="Arial"/>
                <a:ea typeface="Arial"/>
                <a:cs typeface="Arial"/>
                <a:sym typeface="Arial"/>
              </a:rPr>
              <a:t>McConville &amp; Laming (2007), Fig. 3. Lpd electrodes.</a:t>
            </a:r>
            <a:endParaRPr sz="1800">
              <a:solidFill>
                <a:schemeClr val="dk1"/>
              </a:solidFill>
              <a:latin typeface="Calibri"/>
              <a:ea typeface="Calibri"/>
              <a:cs typeface="Calibri"/>
              <a:sym typeface="Calibri"/>
            </a:endParaRPr>
          </a:p>
        </p:txBody>
      </p:sp>
      <p:pic>
        <p:nvPicPr>
          <p:cNvPr id="218" name="Google Shape;218;p15"/>
          <p:cNvPicPr preferRelativeResize="0"/>
          <p:nvPr/>
        </p:nvPicPr>
        <p:blipFill rotWithShape="1">
          <a:blip r:embed="rId5">
            <a:alphaModFix/>
          </a:blip>
          <a:srcRect b="0" l="0" r="0" t="0"/>
          <a:stretch/>
        </p:blipFill>
        <p:spPr>
          <a:xfrm>
            <a:off x="457200" y="6405563"/>
            <a:ext cx="11277600" cy="242888"/>
          </a:xfrm>
          <a:prstGeom prst="rect">
            <a:avLst/>
          </a:prstGeom>
          <a:noFill/>
          <a:ln>
            <a:noFill/>
          </a:ln>
        </p:spPr>
      </p:pic>
      <p:sp>
        <p:nvSpPr>
          <p:cNvPr id="219" name="Google Shape;219;p15"/>
          <p:cNvSpPr/>
          <p:nvPr/>
        </p:nvSpPr>
        <p:spPr>
          <a:xfrm>
            <a:off x="457200" y="6491288"/>
            <a:ext cx="2017068" cy="157163"/>
          </a:xfrm>
          <a:prstGeom prst="rect">
            <a:avLst/>
          </a:prstGeom>
          <a:noFill/>
          <a:ln>
            <a:noFill/>
          </a:ln>
        </p:spPr>
        <p:txBody>
          <a:bodyPr anchorCtr="0" anchor="t" bIns="0" lIns="0" spcFirstLastPara="1" rIns="0" wrap="square" tIns="0">
            <a:normAutofit/>
          </a:bodyPr>
          <a:lstStyle/>
          <a:p>
            <a:pPr indent="0" lvl="0" marL="0" marR="0" rtl="0" algn="l">
              <a:lnSpc>
                <a:spcPct val="150060"/>
              </a:lnSpc>
              <a:spcBef>
                <a:spcPts val="0"/>
              </a:spcBef>
              <a:spcAft>
                <a:spcPts val="0"/>
              </a:spcAft>
              <a:buClr>
                <a:srgbClr val="5F6E7A"/>
              </a:buClr>
              <a:buSzPts val="825"/>
              <a:buFont typeface="Arial"/>
              <a:buNone/>
            </a:pPr>
            <a:r>
              <a:rPr b="0" i="0" lang="en-US" sz="825">
                <a:solidFill>
                  <a:srgbClr val="5F6E7A"/>
                </a:solidFill>
                <a:latin typeface="Arial"/>
                <a:ea typeface="Arial"/>
                <a:cs typeface="Arial"/>
                <a:sym typeface="Arial"/>
              </a:rPr>
              <a:t>Ingle (1973); McConville &amp; Laming (2007)</a:t>
            </a:r>
            <a:endParaRPr sz="1800">
              <a:solidFill>
                <a:schemeClr val="dk1"/>
              </a:solidFill>
              <a:latin typeface="Calibri"/>
              <a:ea typeface="Calibri"/>
              <a:cs typeface="Calibri"/>
              <a:sym typeface="Calibri"/>
            </a:endParaRPr>
          </a:p>
        </p:txBody>
      </p:sp>
      <p:sp>
        <p:nvSpPr>
          <p:cNvPr id="220" name="Google Shape;220;p15"/>
          <p:cNvSpPr/>
          <p:nvPr/>
        </p:nvSpPr>
        <p:spPr>
          <a:xfrm>
            <a:off x="11614845" y="6491288"/>
            <a:ext cx="139005" cy="157163"/>
          </a:xfrm>
          <a:prstGeom prst="rect">
            <a:avLst/>
          </a:prstGeom>
          <a:noFill/>
          <a:ln>
            <a:noFill/>
          </a:ln>
        </p:spPr>
        <p:txBody>
          <a:bodyPr anchorCtr="0" anchor="t" bIns="0" lIns="0" spcFirstLastPara="1" rIns="0" wrap="square" tIns="0">
            <a:normAutofit/>
          </a:bodyPr>
          <a:lstStyle/>
          <a:p>
            <a:pPr indent="0" lvl="0" marL="0" marR="0" rtl="0" algn="l">
              <a:lnSpc>
                <a:spcPct val="150060"/>
              </a:lnSpc>
              <a:spcBef>
                <a:spcPts val="0"/>
              </a:spcBef>
              <a:spcAft>
                <a:spcPts val="0"/>
              </a:spcAft>
              <a:buClr>
                <a:srgbClr val="5F6E7A"/>
              </a:buClr>
              <a:buSzPts val="825"/>
              <a:buFont typeface="Arial"/>
              <a:buNone/>
            </a:pPr>
            <a:r>
              <a:rPr b="0" i="0" lang="en-US" sz="825">
                <a:solidFill>
                  <a:srgbClr val="5F6E7A"/>
                </a:solidFill>
                <a:latin typeface="Arial"/>
                <a:ea typeface="Arial"/>
                <a:cs typeface="Arial"/>
                <a:sym typeface="Arial"/>
              </a:rPr>
              <a:t>15</a:t>
            </a:r>
            <a:endParaRPr sz="1800">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24" name="Shape 224"/>
        <p:cNvGrpSpPr/>
        <p:nvPr/>
      </p:nvGrpSpPr>
      <p:grpSpPr>
        <a:xfrm>
          <a:off x="0" y="0"/>
          <a:ext cx="0" cy="0"/>
          <a:chOff x="0" y="0"/>
          <a:chExt cx="0" cy="0"/>
        </a:xfrm>
      </p:grpSpPr>
      <p:sp>
        <p:nvSpPr>
          <p:cNvPr id="225" name="Google Shape;225;p16"/>
          <p:cNvSpPr/>
          <p:nvPr/>
        </p:nvSpPr>
        <p:spPr>
          <a:xfrm>
            <a:off x="457200" y="457200"/>
            <a:ext cx="11296650" cy="328613"/>
          </a:xfrm>
          <a:prstGeom prst="rect">
            <a:avLst/>
          </a:prstGeom>
          <a:noFill/>
          <a:ln>
            <a:noFill/>
          </a:ln>
        </p:spPr>
        <p:txBody>
          <a:bodyPr anchorCtr="0" anchor="t" bIns="0" lIns="0" spcFirstLastPara="1" rIns="0" wrap="square" tIns="0">
            <a:normAutofit/>
          </a:bodyPr>
          <a:lstStyle/>
          <a:p>
            <a:pPr indent="0" lvl="0" marL="0" marR="0" rtl="0" algn="l">
              <a:lnSpc>
                <a:spcPct val="115022"/>
              </a:lnSpc>
              <a:spcBef>
                <a:spcPts val="0"/>
              </a:spcBef>
              <a:spcAft>
                <a:spcPts val="0"/>
              </a:spcAft>
              <a:buClr>
                <a:srgbClr val="35536B"/>
              </a:buClr>
              <a:buSzPts val="2250"/>
              <a:buFont typeface="Arial"/>
              <a:buNone/>
            </a:pPr>
            <a:r>
              <a:rPr b="1" i="0" lang="en-US" sz="2250">
                <a:solidFill>
                  <a:srgbClr val="35536B"/>
                </a:solidFill>
                <a:latin typeface="Arial"/>
                <a:ea typeface="Arial"/>
                <a:cs typeface="Arial"/>
                <a:sym typeface="Arial"/>
              </a:rPr>
              <a:t>Disinhibited tectal cells keep firing after motion stops</a:t>
            </a:r>
            <a:endParaRPr sz="1800">
              <a:solidFill>
                <a:schemeClr val="dk1"/>
              </a:solidFill>
              <a:latin typeface="Calibri"/>
              <a:ea typeface="Calibri"/>
              <a:cs typeface="Calibri"/>
              <a:sym typeface="Calibri"/>
            </a:endParaRPr>
          </a:p>
        </p:txBody>
      </p:sp>
      <p:sp>
        <p:nvSpPr>
          <p:cNvPr id="226" name="Google Shape;226;p16"/>
          <p:cNvSpPr/>
          <p:nvPr/>
        </p:nvSpPr>
        <p:spPr>
          <a:xfrm>
            <a:off x="457200" y="1071563"/>
            <a:ext cx="5695950" cy="1194346"/>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3303A"/>
              </a:buClr>
              <a:buSzPts val="1425"/>
              <a:buFont typeface="Arial"/>
              <a:buNone/>
            </a:pPr>
            <a:r>
              <a:rPr b="0" i="0" lang="en-US" sz="1425">
                <a:solidFill>
                  <a:srgbClr val="23303A"/>
                </a:solidFill>
                <a:latin typeface="Arial"/>
                <a:ea typeface="Arial"/>
                <a:cs typeface="Arial"/>
                <a:sym typeface="Arial"/>
              </a:rPr>
              <a:t>Ingle presented a black square about 4° across moving at approximately 10°/s on a screen 20 cm from the frog. In animals with behaviorally effective pretectal lesions, tectal units could produce prolonged activity unlike normal rapidly habituating newness cells.</a:t>
            </a:r>
            <a:endParaRPr sz="1800">
              <a:solidFill>
                <a:schemeClr val="dk1"/>
              </a:solidFill>
              <a:latin typeface="Calibri"/>
              <a:ea typeface="Calibri"/>
              <a:cs typeface="Calibri"/>
              <a:sym typeface="Calibri"/>
            </a:endParaRPr>
          </a:p>
        </p:txBody>
      </p:sp>
      <p:sp>
        <p:nvSpPr>
          <p:cNvPr id="227" name="Google Shape;227;p16"/>
          <p:cNvSpPr/>
          <p:nvPr/>
        </p:nvSpPr>
        <p:spPr>
          <a:xfrm>
            <a:off x="457200" y="2418308"/>
            <a:ext cx="5695950" cy="955477"/>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3303A"/>
              </a:buClr>
              <a:buSzPts val="1425"/>
              <a:buFont typeface="Arial"/>
              <a:buNone/>
            </a:pPr>
            <a:r>
              <a:rPr b="0" i="0" lang="en-US" sz="1425">
                <a:solidFill>
                  <a:srgbClr val="23303A"/>
                </a:solidFill>
                <a:latin typeface="Arial"/>
                <a:ea typeface="Arial"/>
                <a:cs typeface="Arial"/>
                <a:sym typeface="Arial"/>
              </a:rPr>
              <a:t>A spot that stopped within the receptive field could evoke a discharge lasting approximately 5–10 seconds. In some cells, the highest firing occurred 2–3 seconds after the stimulus stopped, rather than immediately at motion onset or termination.</a:t>
            </a:r>
            <a:endParaRPr sz="1800">
              <a:solidFill>
                <a:schemeClr val="dk1"/>
              </a:solidFill>
              <a:latin typeface="Calibri"/>
              <a:ea typeface="Calibri"/>
              <a:cs typeface="Calibri"/>
              <a:sym typeface="Calibri"/>
            </a:endParaRPr>
          </a:p>
        </p:txBody>
      </p:sp>
      <p:sp>
        <p:nvSpPr>
          <p:cNvPr id="228" name="Google Shape;228;p16"/>
          <p:cNvSpPr/>
          <p:nvPr/>
        </p:nvSpPr>
        <p:spPr>
          <a:xfrm>
            <a:off x="457200" y="3526185"/>
            <a:ext cx="5695950" cy="1194346"/>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3303A"/>
              </a:buClr>
              <a:buSzPts val="1425"/>
              <a:buFont typeface="Arial"/>
              <a:buNone/>
            </a:pPr>
            <a:r>
              <a:rPr b="0" i="0" lang="en-US" sz="1425">
                <a:solidFill>
                  <a:srgbClr val="23303A"/>
                </a:solidFill>
                <a:latin typeface="Arial"/>
                <a:ea typeface="Arial"/>
                <a:cs typeface="Arial"/>
                <a:sym typeface="Arial"/>
              </a:rPr>
              <a:t>The persistence separates response regulation from simple tracking of instantaneous motion. The lesion results support a normal pretectal restraint on tectal responsiveness, but they do not identify whether the long discharge is generated by intrinsic currents or recurrent network activity.</a:t>
            </a:r>
            <a:endParaRPr sz="1800">
              <a:solidFill>
                <a:schemeClr val="dk1"/>
              </a:solidFill>
              <a:latin typeface="Calibri"/>
              <a:ea typeface="Calibri"/>
              <a:cs typeface="Calibri"/>
              <a:sym typeface="Calibri"/>
            </a:endParaRPr>
          </a:p>
        </p:txBody>
      </p:sp>
      <p:pic>
        <p:nvPicPr>
          <p:cNvPr id="229" name="Google Shape;229;p16"/>
          <p:cNvPicPr preferRelativeResize="0"/>
          <p:nvPr/>
        </p:nvPicPr>
        <p:blipFill rotWithShape="1">
          <a:blip r:embed="rId3">
            <a:alphaModFix/>
          </a:blip>
          <a:srcRect b="0" l="0" r="0" t="0"/>
          <a:stretch/>
        </p:blipFill>
        <p:spPr>
          <a:xfrm>
            <a:off x="7642116" y="1071563"/>
            <a:ext cx="2927569" cy="2333625"/>
          </a:xfrm>
          <a:prstGeom prst="rect">
            <a:avLst/>
          </a:prstGeom>
          <a:noFill/>
          <a:ln>
            <a:noFill/>
          </a:ln>
        </p:spPr>
      </p:pic>
      <p:sp>
        <p:nvSpPr>
          <p:cNvPr id="230" name="Google Shape;230;p16"/>
          <p:cNvSpPr/>
          <p:nvPr/>
        </p:nvSpPr>
        <p:spPr>
          <a:xfrm>
            <a:off x="6477000" y="3481388"/>
            <a:ext cx="5276850" cy="142875"/>
          </a:xfrm>
          <a:prstGeom prst="rect">
            <a:avLst/>
          </a:prstGeom>
          <a:noFill/>
          <a:ln>
            <a:noFill/>
          </a:ln>
        </p:spPr>
        <p:txBody>
          <a:bodyPr anchorCtr="0" anchor="t" bIns="0" lIns="0" spcFirstLastPara="1" rIns="0" wrap="square" tIns="0">
            <a:normAutofit/>
          </a:bodyPr>
          <a:lstStyle/>
          <a:p>
            <a:pPr indent="0" lvl="0" marL="0" marR="0" rtl="0" algn="l">
              <a:lnSpc>
                <a:spcPct val="125000"/>
              </a:lnSpc>
              <a:spcBef>
                <a:spcPts val="0"/>
              </a:spcBef>
              <a:spcAft>
                <a:spcPts val="0"/>
              </a:spcAft>
              <a:buClr>
                <a:srgbClr val="23303A"/>
              </a:buClr>
              <a:buSzPts val="900"/>
              <a:buFont typeface="Arial"/>
              <a:buNone/>
            </a:pPr>
            <a:r>
              <a:rPr b="0" i="0" lang="en-US" sz="900">
                <a:solidFill>
                  <a:srgbClr val="23303A"/>
                </a:solidFill>
                <a:latin typeface="Arial"/>
                <a:ea typeface="Arial"/>
                <a:cs typeface="Arial"/>
                <a:sym typeface="Arial"/>
              </a:rPr>
              <a:t>Ingle (1973), Fig. 1. A lesion-side tectal unit fires persistently to a moving and stopped object.</a:t>
            </a:r>
            <a:endParaRPr sz="1800">
              <a:solidFill>
                <a:schemeClr val="dk1"/>
              </a:solidFill>
              <a:latin typeface="Calibri"/>
              <a:ea typeface="Calibri"/>
              <a:cs typeface="Calibri"/>
              <a:sym typeface="Calibri"/>
            </a:endParaRPr>
          </a:p>
        </p:txBody>
      </p:sp>
      <p:pic>
        <p:nvPicPr>
          <p:cNvPr id="231" name="Google Shape;231;p16"/>
          <p:cNvPicPr preferRelativeResize="0"/>
          <p:nvPr/>
        </p:nvPicPr>
        <p:blipFill rotWithShape="1">
          <a:blip r:embed="rId4">
            <a:alphaModFix/>
          </a:blip>
          <a:srcRect b="0" l="0" r="0" t="0"/>
          <a:stretch/>
        </p:blipFill>
        <p:spPr>
          <a:xfrm>
            <a:off x="8197673" y="3795713"/>
            <a:ext cx="1816454" cy="1476375"/>
          </a:xfrm>
          <a:prstGeom prst="rect">
            <a:avLst/>
          </a:prstGeom>
          <a:noFill/>
          <a:ln>
            <a:noFill/>
          </a:ln>
        </p:spPr>
      </p:pic>
      <p:sp>
        <p:nvSpPr>
          <p:cNvPr id="232" name="Google Shape;232;p16"/>
          <p:cNvSpPr/>
          <p:nvPr/>
        </p:nvSpPr>
        <p:spPr>
          <a:xfrm>
            <a:off x="6477000" y="5348288"/>
            <a:ext cx="5276850" cy="142875"/>
          </a:xfrm>
          <a:prstGeom prst="rect">
            <a:avLst/>
          </a:prstGeom>
          <a:noFill/>
          <a:ln>
            <a:noFill/>
          </a:ln>
        </p:spPr>
        <p:txBody>
          <a:bodyPr anchorCtr="0" anchor="t" bIns="0" lIns="0" spcFirstLastPara="1" rIns="0" wrap="square" tIns="0">
            <a:normAutofit/>
          </a:bodyPr>
          <a:lstStyle/>
          <a:p>
            <a:pPr indent="0" lvl="0" marL="0" marR="0" rtl="0" algn="l">
              <a:lnSpc>
                <a:spcPct val="125000"/>
              </a:lnSpc>
              <a:spcBef>
                <a:spcPts val="0"/>
              </a:spcBef>
              <a:spcAft>
                <a:spcPts val="0"/>
              </a:spcAft>
              <a:buClr>
                <a:srgbClr val="23303A"/>
              </a:buClr>
              <a:buSzPts val="900"/>
              <a:buFont typeface="Arial"/>
              <a:buNone/>
            </a:pPr>
            <a:r>
              <a:rPr b="0" i="0" lang="en-US" sz="900">
                <a:solidFill>
                  <a:srgbClr val="23303A"/>
                </a:solidFill>
                <a:latin typeface="Arial"/>
                <a:ea typeface="Arial"/>
                <a:cs typeface="Arial"/>
                <a:sym typeface="Arial"/>
              </a:rPr>
              <a:t>McConville &amp; Laming (2007), Fig. 3. Lpd electrodes.</a:t>
            </a:r>
            <a:endParaRPr sz="1800">
              <a:solidFill>
                <a:schemeClr val="dk1"/>
              </a:solidFill>
              <a:latin typeface="Calibri"/>
              <a:ea typeface="Calibri"/>
              <a:cs typeface="Calibri"/>
              <a:sym typeface="Calibri"/>
            </a:endParaRPr>
          </a:p>
        </p:txBody>
      </p:sp>
      <p:pic>
        <p:nvPicPr>
          <p:cNvPr id="233" name="Google Shape;233;p16"/>
          <p:cNvPicPr preferRelativeResize="0"/>
          <p:nvPr/>
        </p:nvPicPr>
        <p:blipFill rotWithShape="1">
          <a:blip r:embed="rId5">
            <a:alphaModFix/>
          </a:blip>
          <a:srcRect b="0" l="0" r="0" t="0"/>
          <a:stretch/>
        </p:blipFill>
        <p:spPr>
          <a:xfrm>
            <a:off x="457200" y="6405563"/>
            <a:ext cx="11277600" cy="242888"/>
          </a:xfrm>
          <a:prstGeom prst="rect">
            <a:avLst/>
          </a:prstGeom>
          <a:noFill/>
          <a:ln>
            <a:noFill/>
          </a:ln>
        </p:spPr>
      </p:pic>
      <p:sp>
        <p:nvSpPr>
          <p:cNvPr id="234" name="Google Shape;234;p16"/>
          <p:cNvSpPr/>
          <p:nvPr/>
        </p:nvSpPr>
        <p:spPr>
          <a:xfrm>
            <a:off x="457200" y="6491288"/>
            <a:ext cx="2017068" cy="157163"/>
          </a:xfrm>
          <a:prstGeom prst="rect">
            <a:avLst/>
          </a:prstGeom>
          <a:noFill/>
          <a:ln>
            <a:noFill/>
          </a:ln>
        </p:spPr>
        <p:txBody>
          <a:bodyPr anchorCtr="0" anchor="t" bIns="0" lIns="0" spcFirstLastPara="1" rIns="0" wrap="square" tIns="0">
            <a:normAutofit/>
          </a:bodyPr>
          <a:lstStyle/>
          <a:p>
            <a:pPr indent="0" lvl="0" marL="0" marR="0" rtl="0" algn="l">
              <a:lnSpc>
                <a:spcPct val="150060"/>
              </a:lnSpc>
              <a:spcBef>
                <a:spcPts val="0"/>
              </a:spcBef>
              <a:spcAft>
                <a:spcPts val="0"/>
              </a:spcAft>
              <a:buClr>
                <a:srgbClr val="5F6E7A"/>
              </a:buClr>
              <a:buSzPts val="825"/>
              <a:buFont typeface="Arial"/>
              <a:buNone/>
            </a:pPr>
            <a:r>
              <a:rPr b="0" i="0" lang="en-US" sz="825">
                <a:solidFill>
                  <a:srgbClr val="5F6E7A"/>
                </a:solidFill>
                <a:latin typeface="Arial"/>
                <a:ea typeface="Arial"/>
                <a:cs typeface="Arial"/>
                <a:sym typeface="Arial"/>
              </a:rPr>
              <a:t>Ingle (1973); McConville &amp; Laming (2007)</a:t>
            </a:r>
            <a:endParaRPr sz="1800">
              <a:solidFill>
                <a:schemeClr val="dk1"/>
              </a:solidFill>
              <a:latin typeface="Calibri"/>
              <a:ea typeface="Calibri"/>
              <a:cs typeface="Calibri"/>
              <a:sym typeface="Calibri"/>
            </a:endParaRPr>
          </a:p>
        </p:txBody>
      </p:sp>
      <p:sp>
        <p:nvSpPr>
          <p:cNvPr id="235" name="Google Shape;235;p16"/>
          <p:cNvSpPr/>
          <p:nvPr/>
        </p:nvSpPr>
        <p:spPr>
          <a:xfrm>
            <a:off x="11614845" y="6491288"/>
            <a:ext cx="139005" cy="157163"/>
          </a:xfrm>
          <a:prstGeom prst="rect">
            <a:avLst/>
          </a:prstGeom>
          <a:noFill/>
          <a:ln>
            <a:noFill/>
          </a:ln>
        </p:spPr>
        <p:txBody>
          <a:bodyPr anchorCtr="0" anchor="t" bIns="0" lIns="0" spcFirstLastPara="1" rIns="0" wrap="square" tIns="0">
            <a:normAutofit/>
          </a:bodyPr>
          <a:lstStyle/>
          <a:p>
            <a:pPr indent="0" lvl="0" marL="0" marR="0" rtl="0" algn="l">
              <a:lnSpc>
                <a:spcPct val="150060"/>
              </a:lnSpc>
              <a:spcBef>
                <a:spcPts val="0"/>
              </a:spcBef>
              <a:spcAft>
                <a:spcPts val="0"/>
              </a:spcAft>
              <a:buClr>
                <a:srgbClr val="5F6E7A"/>
              </a:buClr>
              <a:buSzPts val="825"/>
              <a:buFont typeface="Arial"/>
              <a:buNone/>
            </a:pPr>
            <a:r>
              <a:rPr b="0" i="0" lang="en-US" sz="825">
                <a:solidFill>
                  <a:srgbClr val="5F6E7A"/>
                </a:solidFill>
                <a:latin typeface="Arial"/>
                <a:ea typeface="Arial"/>
                <a:cs typeface="Arial"/>
                <a:sym typeface="Arial"/>
              </a:rPr>
              <a:t>16</a:t>
            </a:r>
            <a:endParaRPr sz="1800">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39" name="Shape 239"/>
        <p:cNvGrpSpPr/>
        <p:nvPr/>
      </p:nvGrpSpPr>
      <p:grpSpPr>
        <a:xfrm>
          <a:off x="0" y="0"/>
          <a:ext cx="0" cy="0"/>
          <a:chOff x="0" y="0"/>
          <a:chExt cx="0" cy="0"/>
        </a:xfrm>
      </p:grpSpPr>
      <p:sp>
        <p:nvSpPr>
          <p:cNvPr id="240" name="Google Shape;240;p17"/>
          <p:cNvSpPr/>
          <p:nvPr/>
        </p:nvSpPr>
        <p:spPr>
          <a:xfrm>
            <a:off x="457200" y="457200"/>
            <a:ext cx="11296650" cy="328613"/>
          </a:xfrm>
          <a:prstGeom prst="rect">
            <a:avLst/>
          </a:prstGeom>
          <a:noFill/>
          <a:ln>
            <a:noFill/>
          </a:ln>
        </p:spPr>
        <p:txBody>
          <a:bodyPr anchorCtr="0" anchor="t" bIns="0" lIns="0" spcFirstLastPara="1" rIns="0" wrap="square" tIns="0">
            <a:normAutofit/>
          </a:bodyPr>
          <a:lstStyle/>
          <a:p>
            <a:pPr indent="0" lvl="0" marL="0" marR="0" rtl="0" algn="l">
              <a:lnSpc>
                <a:spcPct val="115022"/>
              </a:lnSpc>
              <a:spcBef>
                <a:spcPts val="0"/>
              </a:spcBef>
              <a:spcAft>
                <a:spcPts val="0"/>
              </a:spcAft>
              <a:buClr>
                <a:srgbClr val="35536B"/>
              </a:buClr>
              <a:buSzPts val="2250"/>
              <a:buFont typeface="Arial"/>
              <a:buNone/>
            </a:pPr>
            <a:r>
              <a:rPr b="1" i="0" lang="en-US" sz="2250">
                <a:solidFill>
                  <a:srgbClr val="35536B"/>
                </a:solidFill>
                <a:latin typeface="Arial"/>
                <a:ea typeface="Arial"/>
                <a:cs typeface="Arial"/>
                <a:sym typeface="Arial"/>
              </a:rPr>
              <a:t>Pretectal damage can enlarge a tectal receptive field</a:t>
            </a:r>
            <a:endParaRPr sz="1800">
              <a:solidFill>
                <a:schemeClr val="dk1"/>
              </a:solidFill>
              <a:latin typeface="Calibri"/>
              <a:ea typeface="Calibri"/>
              <a:cs typeface="Calibri"/>
              <a:sym typeface="Calibri"/>
            </a:endParaRPr>
          </a:p>
        </p:txBody>
      </p:sp>
      <p:sp>
        <p:nvSpPr>
          <p:cNvPr id="241" name="Google Shape;241;p17"/>
          <p:cNvSpPr/>
          <p:nvPr/>
        </p:nvSpPr>
        <p:spPr>
          <a:xfrm>
            <a:off x="457200" y="1071563"/>
            <a:ext cx="5695950" cy="955477"/>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3303A"/>
              </a:buClr>
              <a:buSzPts val="1425"/>
              <a:buFont typeface="Arial"/>
              <a:buNone/>
            </a:pPr>
            <a:r>
              <a:rPr b="0" i="0" lang="en-US" sz="1425">
                <a:solidFill>
                  <a:srgbClr val="23303A"/>
                </a:solidFill>
                <a:latin typeface="Arial"/>
                <a:ea typeface="Arial"/>
                <a:cs typeface="Arial"/>
                <a:sym typeface="Arial"/>
              </a:rPr>
              <a:t>After behaviorally effective pretectal lesions, Ingle recorded tectal receptive fields approximately 30° across or larger, compared with the usual 15–20° range of normal newness cells. Some recorded fields enlarged from about 15° to 30° during the observation.</a:t>
            </a:r>
            <a:endParaRPr sz="1800">
              <a:solidFill>
                <a:schemeClr val="dk1"/>
              </a:solidFill>
              <a:latin typeface="Calibri"/>
              <a:ea typeface="Calibri"/>
              <a:cs typeface="Calibri"/>
              <a:sym typeface="Calibri"/>
            </a:endParaRPr>
          </a:p>
        </p:txBody>
      </p:sp>
      <p:sp>
        <p:nvSpPr>
          <p:cNvPr id="242" name="Google Shape;242;p17"/>
          <p:cNvSpPr/>
          <p:nvPr/>
        </p:nvSpPr>
        <p:spPr>
          <a:xfrm>
            <a:off x="457200" y="2179439"/>
            <a:ext cx="5695950" cy="1194346"/>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3303A"/>
              </a:buClr>
              <a:buSzPts val="1425"/>
              <a:buFont typeface="Arial"/>
              <a:buNone/>
            </a:pPr>
            <a:r>
              <a:rPr b="0" i="0" lang="en-US" sz="1425">
                <a:solidFill>
                  <a:srgbClr val="23303A"/>
                </a:solidFill>
                <a:latin typeface="Arial"/>
                <a:ea typeface="Arial"/>
                <a:cs typeface="Arial"/>
                <a:sym typeface="Arial"/>
              </a:rPr>
              <a:t>The lesion-side example contains a broad field with a particularly excitable zone, and movement of a small object could evoke activity that persisted when motion stopped. Other cells remained spatially responsive but discharged more strongly or for longer than normal.</a:t>
            </a:r>
            <a:endParaRPr sz="1800">
              <a:solidFill>
                <a:schemeClr val="dk1"/>
              </a:solidFill>
              <a:latin typeface="Calibri"/>
              <a:ea typeface="Calibri"/>
              <a:cs typeface="Calibri"/>
              <a:sym typeface="Calibri"/>
            </a:endParaRPr>
          </a:p>
        </p:txBody>
      </p:sp>
      <p:sp>
        <p:nvSpPr>
          <p:cNvPr id="243" name="Google Shape;243;p17"/>
          <p:cNvSpPr/>
          <p:nvPr/>
        </p:nvSpPr>
        <p:spPr>
          <a:xfrm>
            <a:off x="457200" y="3526185"/>
            <a:ext cx="5695950" cy="1194346"/>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3303A"/>
              </a:buClr>
              <a:buSzPts val="1425"/>
              <a:buFont typeface="Arial"/>
              <a:buNone/>
            </a:pPr>
            <a:r>
              <a:rPr b="0" i="0" lang="en-US" sz="1425">
                <a:solidFill>
                  <a:srgbClr val="23303A"/>
                </a:solidFill>
                <a:latin typeface="Arial"/>
                <a:ea typeface="Arial"/>
                <a:cs typeface="Arial"/>
                <a:sym typeface="Arial"/>
              </a:rPr>
              <a:t>Receptive-field enlargement is consistent with removal of inhibition that normally limits effective visual input. Extracellular spike recordings, which detect neuronal action potentials outside the cell, do not establish the membrane conductance or circuit connection responsible for the enlargement.</a:t>
            </a:r>
            <a:endParaRPr sz="1800">
              <a:solidFill>
                <a:schemeClr val="dk1"/>
              </a:solidFill>
              <a:latin typeface="Calibri"/>
              <a:ea typeface="Calibri"/>
              <a:cs typeface="Calibri"/>
              <a:sym typeface="Calibri"/>
            </a:endParaRPr>
          </a:p>
        </p:txBody>
      </p:sp>
      <p:pic>
        <p:nvPicPr>
          <p:cNvPr id="244" name="Google Shape;244;p17"/>
          <p:cNvPicPr preferRelativeResize="0"/>
          <p:nvPr/>
        </p:nvPicPr>
        <p:blipFill rotWithShape="1">
          <a:blip r:embed="rId3">
            <a:alphaModFix/>
          </a:blip>
          <a:srcRect b="0" l="0" r="0" t="0"/>
          <a:stretch/>
        </p:blipFill>
        <p:spPr>
          <a:xfrm>
            <a:off x="7642116" y="1071563"/>
            <a:ext cx="2927569" cy="2333625"/>
          </a:xfrm>
          <a:prstGeom prst="rect">
            <a:avLst/>
          </a:prstGeom>
          <a:noFill/>
          <a:ln>
            <a:noFill/>
          </a:ln>
        </p:spPr>
      </p:pic>
      <p:sp>
        <p:nvSpPr>
          <p:cNvPr id="245" name="Google Shape;245;p17"/>
          <p:cNvSpPr/>
          <p:nvPr/>
        </p:nvSpPr>
        <p:spPr>
          <a:xfrm>
            <a:off x="6477000" y="3481388"/>
            <a:ext cx="5276850" cy="142875"/>
          </a:xfrm>
          <a:prstGeom prst="rect">
            <a:avLst/>
          </a:prstGeom>
          <a:noFill/>
          <a:ln>
            <a:noFill/>
          </a:ln>
        </p:spPr>
        <p:txBody>
          <a:bodyPr anchorCtr="0" anchor="t" bIns="0" lIns="0" spcFirstLastPara="1" rIns="0" wrap="square" tIns="0">
            <a:normAutofit/>
          </a:bodyPr>
          <a:lstStyle/>
          <a:p>
            <a:pPr indent="0" lvl="0" marL="0" marR="0" rtl="0" algn="l">
              <a:lnSpc>
                <a:spcPct val="125000"/>
              </a:lnSpc>
              <a:spcBef>
                <a:spcPts val="0"/>
              </a:spcBef>
              <a:spcAft>
                <a:spcPts val="0"/>
              </a:spcAft>
              <a:buClr>
                <a:srgbClr val="23303A"/>
              </a:buClr>
              <a:buSzPts val="900"/>
              <a:buFont typeface="Arial"/>
              <a:buNone/>
            </a:pPr>
            <a:r>
              <a:rPr b="0" i="0" lang="en-US" sz="900">
                <a:solidFill>
                  <a:srgbClr val="23303A"/>
                </a:solidFill>
                <a:latin typeface="Arial"/>
                <a:ea typeface="Arial"/>
                <a:cs typeface="Arial"/>
                <a:sym typeface="Arial"/>
              </a:rPr>
              <a:t>Ingle (1973), Fig. 1. A lesion-side tectal unit fires persistently to a moving and stopped object.</a:t>
            </a:r>
            <a:endParaRPr sz="1800">
              <a:solidFill>
                <a:schemeClr val="dk1"/>
              </a:solidFill>
              <a:latin typeface="Calibri"/>
              <a:ea typeface="Calibri"/>
              <a:cs typeface="Calibri"/>
              <a:sym typeface="Calibri"/>
            </a:endParaRPr>
          </a:p>
        </p:txBody>
      </p:sp>
      <p:pic>
        <p:nvPicPr>
          <p:cNvPr id="246" name="Google Shape;246;p17"/>
          <p:cNvPicPr preferRelativeResize="0"/>
          <p:nvPr/>
        </p:nvPicPr>
        <p:blipFill rotWithShape="1">
          <a:blip r:embed="rId4">
            <a:alphaModFix/>
          </a:blip>
          <a:srcRect b="0" l="0" r="0" t="0"/>
          <a:stretch/>
        </p:blipFill>
        <p:spPr>
          <a:xfrm>
            <a:off x="8197673" y="3795713"/>
            <a:ext cx="1816454" cy="1476375"/>
          </a:xfrm>
          <a:prstGeom prst="rect">
            <a:avLst/>
          </a:prstGeom>
          <a:noFill/>
          <a:ln>
            <a:noFill/>
          </a:ln>
        </p:spPr>
      </p:pic>
      <p:sp>
        <p:nvSpPr>
          <p:cNvPr id="247" name="Google Shape;247;p17"/>
          <p:cNvSpPr/>
          <p:nvPr/>
        </p:nvSpPr>
        <p:spPr>
          <a:xfrm>
            <a:off x="6477000" y="5348288"/>
            <a:ext cx="5276850" cy="142875"/>
          </a:xfrm>
          <a:prstGeom prst="rect">
            <a:avLst/>
          </a:prstGeom>
          <a:noFill/>
          <a:ln>
            <a:noFill/>
          </a:ln>
        </p:spPr>
        <p:txBody>
          <a:bodyPr anchorCtr="0" anchor="t" bIns="0" lIns="0" spcFirstLastPara="1" rIns="0" wrap="square" tIns="0">
            <a:normAutofit/>
          </a:bodyPr>
          <a:lstStyle/>
          <a:p>
            <a:pPr indent="0" lvl="0" marL="0" marR="0" rtl="0" algn="l">
              <a:lnSpc>
                <a:spcPct val="125000"/>
              </a:lnSpc>
              <a:spcBef>
                <a:spcPts val="0"/>
              </a:spcBef>
              <a:spcAft>
                <a:spcPts val="0"/>
              </a:spcAft>
              <a:buClr>
                <a:srgbClr val="23303A"/>
              </a:buClr>
              <a:buSzPts val="900"/>
              <a:buFont typeface="Arial"/>
              <a:buNone/>
            </a:pPr>
            <a:r>
              <a:rPr b="0" i="0" lang="en-US" sz="900">
                <a:solidFill>
                  <a:srgbClr val="23303A"/>
                </a:solidFill>
                <a:latin typeface="Arial"/>
                <a:ea typeface="Arial"/>
                <a:cs typeface="Arial"/>
                <a:sym typeface="Arial"/>
              </a:rPr>
              <a:t>McConville &amp; Laming (2007), Fig. 3. Lpd electrodes.</a:t>
            </a:r>
            <a:endParaRPr sz="1800">
              <a:solidFill>
                <a:schemeClr val="dk1"/>
              </a:solidFill>
              <a:latin typeface="Calibri"/>
              <a:ea typeface="Calibri"/>
              <a:cs typeface="Calibri"/>
              <a:sym typeface="Calibri"/>
            </a:endParaRPr>
          </a:p>
        </p:txBody>
      </p:sp>
      <p:pic>
        <p:nvPicPr>
          <p:cNvPr id="248" name="Google Shape;248;p17"/>
          <p:cNvPicPr preferRelativeResize="0"/>
          <p:nvPr/>
        </p:nvPicPr>
        <p:blipFill rotWithShape="1">
          <a:blip r:embed="rId5">
            <a:alphaModFix/>
          </a:blip>
          <a:srcRect b="0" l="0" r="0" t="0"/>
          <a:stretch/>
        </p:blipFill>
        <p:spPr>
          <a:xfrm>
            <a:off x="457200" y="6405563"/>
            <a:ext cx="11277600" cy="242888"/>
          </a:xfrm>
          <a:prstGeom prst="rect">
            <a:avLst/>
          </a:prstGeom>
          <a:noFill/>
          <a:ln>
            <a:noFill/>
          </a:ln>
        </p:spPr>
      </p:pic>
      <p:sp>
        <p:nvSpPr>
          <p:cNvPr id="249" name="Google Shape;249;p17"/>
          <p:cNvSpPr/>
          <p:nvPr/>
        </p:nvSpPr>
        <p:spPr>
          <a:xfrm>
            <a:off x="457200" y="6491288"/>
            <a:ext cx="2017068" cy="157163"/>
          </a:xfrm>
          <a:prstGeom prst="rect">
            <a:avLst/>
          </a:prstGeom>
          <a:noFill/>
          <a:ln>
            <a:noFill/>
          </a:ln>
        </p:spPr>
        <p:txBody>
          <a:bodyPr anchorCtr="0" anchor="t" bIns="0" lIns="0" spcFirstLastPara="1" rIns="0" wrap="square" tIns="0">
            <a:normAutofit/>
          </a:bodyPr>
          <a:lstStyle/>
          <a:p>
            <a:pPr indent="0" lvl="0" marL="0" marR="0" rtl="0" algn="l">
              <a:lnSpc>
                <a:spcPct val="150060"/>
              </a:lnSpc>
              <a:spcBef>
                <a:spcPts val="0"/>
              </a:spcBef>
              <a:spcAft>
                <a:spcPts val="0"/>
              </a:spcAft>
              <a:buClr>
                <a:srgbClr val="5F6E7A"/>
              </a:buClr>
              <a:buSzPts val="825"/>
              <a:buFont typeface="Arial"/>
              <a:buNone/>
            </a:pPr>
            <a:r>
              <a:rPr b="0" i="0" lang="en-US" sz="825">
                <a:solidFill>
                  <a:srgbClr val="5F6E7A"/>
                </a:solidFill>
                <a:latin typeface="Arial"/>
                <a:ea typeface="Arial"/>
                <a:cs typeface="Arial"/>
                <a:sym typeface="Arial"/>
              </a:rPr>
              <a:t>Ingle (1973); McConville &amp; Laming (2007)</a:t>
            </a:r>
            <a:endParaRPr sz="1800">
              <a:solidFill>
                <a:schemeClr val="dk1"/>
              </a:solidFill>
              <a:latin typeface="Calibri"/>
              <a:ea typeface="Calibri"/>
              <a:cs typeface="Calibri"/>
              <a:sym typeface="Calibri"/>
            </a:endParaRPr>
          </a:p>
        </p:txBody>
      </p:sp>
      <p:sp>
        <p:nvSpPr>
          <p:cNvPr id="250" name="Google Shape;250;p17"/>
          <p:cNvSpPr/>
          <p:nvPr/>
        </p:nvSpPr>
        <p:spPr>
          <a:xfrm>
            <a:off x="11614845" y="6491288"/>
            <a:ext cx="139005" cy="157163"/>
          </a:xfrm>
          <a:prstGeom prst="rect">
            <a:avLst/>
          </a:prstGeom>
          <a:noFill/>
          <a:ln>
            <a:noFill/>
          </a:ln>
        </p:spPr>
        <p:txBody>
          <a:bodyPr anchorCtr="0" anchor="t" bIns="0" lIns="0" spcFirstLastPara="1" rIns="0" wrap="square" tIns="0">
            <a:normAutofit/>
          </a:bodyPr>
          <a:lstStyle/>
          <a:p>
            <a:pPr indent="0" lvl="0" marL="0" marR="0" rtl="0" algn="l">
              <a:lnSpc>
                <a:spcPct val="150060"/>
              </a:lnSpc>
              <a:spcBef>
                <a:spcPts val="0"/>
              </a:spcBef>
              <a:spcAft>
                <a:spcPts val="0"/>
              </a:spcAft>
              <a:buClr>
                <a:srgbClr val="5F6E7A"/>
              </a:buClr>
              <a:buSzPts val="825"/>
              <a:buFont typeface="Arial"/>
              <a:buNone/>
            </a:pPr>
            <a:r>
              <a:rPr b="0" i="0" lang="en-US" sz="825">
                <a:solidFill>
                  <a:srgbClr val="5F6E7A"/>
                </a:solidFill>
                <a:latin typeface="Arial"/>
                <a:ea typeface="Arial"/>
                <a:cs typeface="Arial"/>
                <a:sym typeface="Arial"/>
              </a:rPr>
              <a:t>17</a:t>
            </a:r>
            <a:endParaRPr sz="1800">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54" name="Shape 254"/>
        <p:cNvGrpSpPr/>
        <p:nvPr/>
      </p:nvGrpSpPr>
      <p:grpSpPr>
        <a:xfrm>
          <a:off x="0" y="0"/>
          <a:ext cx="0" cy="0"/>
          <a:chOff x="0" y="0"/>
          <a:chExt cx="0" cy="0"/>
        </a:xfrm>
      </p:grpSpPr>
      <p:sp>
        <p:nvSpPr>
          <p:cNvPr id="255" name="Google Shape;255;p18"/>
          <p:cNvSpPr/>
          <p:nvPr/>
        </p:nvSpPr>
        <p:spPr>
          <a:xfrm>
            <a:off x="457200" y="457200"/>
            <a:ext cx="11296650" cy="328613"/>
          </a:xfrm>
          <a:prstGeom prst="rect">
            <a:avLst/>
          </a:prstGeom>
          <a:noFill/>
          <a:ln>
            <a:noFill/>
          </a:ln>
        </p:spPr>
        <p:txBody>
          <a:bodyPr anchorCtr="0" anchor="t" bIns="0" lIns="0" spcFirstLastPara="1" rIns="0" wrap="square" tIns="0">
            <a:normAutofit/>
          </a:bodyPr>
          <a:lstStyle/>
          <a:p>
            <a:pPr indent="0" lvl="0" marL="0" marR="0" rtl="0" algn="l">
              <a:lnSpc>
                <a:spcPct val="115022"/>
              </a:lnSpc>
              <a:spcBef>
                <a:spcPts val="0"/>
              </a:spcBef>
              <a:spcAft>
                <a:spcPts val="0"/>
              </a:spcAft>
              <a:buClr>
                <a:srgbClr val="35536B"/>
              </a:buClr>
              <a:buSzPts val="2250"/>
              <a:buFont typeface="Arial"/>
              <a:buNone/>
            </a:pPr>
            <a:r>
              <a:rPr b="1" i="0" lang="en-US" sz="2250">
                <a:solidFill>
                  <a:srgbClr val="35536B"/>
                </a:solidFill>
                <a:latin typeface="Arial"/>
                <a:ea typeface="Arial"/>
                <a:cs typeface="Arial"/>
                <a:sym typeface="Arial"/>
              </a:rPr>
              <a:t>The lesion alters tectal habituation more than retinal input</a:t>
            </a:r>
            <a:endParaRPr sz="1800">
              <a:solidFill>
                <a:schemeClr val="dk1"/>
              </a:solidFill>
              <a:latin typeface="Calibri"/>
              <a:ea typeface="Calibri"/>
              <a:cs typeface="Calibri"/>
              <a:sym typeface="Calibri"/>
            </a:endParaRPr>
          </a:p>
        </p:txBody>
      </p:sp>
      <p:sp>
        <p:nvSpPr>
          <p:cNvPr id="256" name="Google Shape;256;p18"/>
          <p:cNvSpPr/>
          <p:nvPr/>
        </p:nvSpPr>
        <p:spPr>
          <a:xfrm>
            <a:off x="457200" y="1071563"/>
            <a:ext cx="5695950" cy="955477"/>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3303A"/>
              </a:buClr>
              <a:buSzPts val="1425"/>
              <a:buFont typeface="Arial"/>
              <a:buNone/>
            </a:pPr>
            <a:r>
              <a:rPr b="0" i="0" lang="en-US" sz="1425">
                <a:solidFill>
                  <a:srgbClr val="23303A"/>
                </a:solidFill>
                <a:latin typeface="Arial"/>
                <a:ea typeface="Arial"/>
                <a:cs typeface="Arial"/>
                <a:sym typeface="Arial"/>
              </a:rPr>
              <a:t>Ingle quantified recovery after a 10-second pause relative to spike activity during a 60-second comparison interval. The </a:t>
            </a:r>
            <a:r>
              <a:rPr b="1" i="0" lang="en-US" sz="1425">
                <a:solidFill>
                  <a:srgbClr val="23303A"/>
                </a:solidFill>
                <a:latin typeface="Arial"/>
                <a:ea typeface="Arial"/>
                <a:cs typeface="Arial"/>
                <a:sym typeface="Arial"/>
              </a:rPr>
              <a:t>habituation ratio</a:t>
            </a:r>
            <a:r>
              <a:rPr b="0" i="0" lang="en-US" sz="1425">
                <a:solidFill>
                  <a:srgbClr val="23303A"/>
                </a:solidFill>
                <a:latin typeface="Arial"/>
                <a:ea typeface="Arial"/>
                <a:cs typeface="Arial"/>
                <a:sym typeface="Arial"/>
              </a:rPr>
              <a:t> expresses how much responsiveness remains after repeated stimulation and a short recovery period.</a:t>
            </a:r>
            <a:endParaRPr sz="1800">
              <a:solidFill>
                <a:schemeClr val="dk1"/>
              </a:solidFill>
              <a:latin typeface="Calibri"/>
              <a:ea typeface="Calibri"/>
              <a:cs typeface="Calibri"/>
              <a:sym typeface="Calibri"/>
            </a:endParaRPr>
          </a:p>
        </p:txBody>
      </p:sp>
      <p:sp>
        <p:nvSpPr>
          <p:cNvPr id="257" name="Google Shape;257;p18"/>
          <p:cNvSpPr/>
          <p:nvPr/>
        </p:nvSpPr>
        <p:spPr>
          <a:xfrm>
            <a:off x="457200" y="2179439"/>
            <a:ext cx="5695950" cy="1194346"/>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3303A"/>
              </a:buClr>
              <a:buSzPts val="1425"/>
              <a:buFont typeface="Arial"/>
              <a:buNone/>
            </a:pPr>
            <a:r>
              <a:rPr b="0" i="0" lang="en-US" sz="1425">
                <a:solidFill>
                  <a:srgbClr val="23303A"/>
                </a:solidFill>
                <a:latin typeface="Arial"/>
                <a:ea typeface="Arial"/>
                <a:cs typeface="Arial"/>
                <a:sym typeface="Arial"/>
              </a:rPr>
              <a:t>Retinal class 1 and class 2 fibers generally had ratios between 25% and 80%. Normal tectal newness cells were below 25%, and most were below 10%. After pretectal lesions, tectal ratios shifted toward the retinal range, whereas retinal fibers did not acquire a corresponding lesion-dependent change.</a:t>
            </a:r>
            <a:endParaRPr sz="1800">
              <a:solidFill>
                <a:schemeClr val="dk1"/>
              </a:solidFill>
              <a:latin typeface="Calibri"/>
              <a:ea typeface="Calibri"/>
              <a:cs typeface="Calibri"/>
              <a:sym typeface="Calibri"/>
            </a:endParaRPr>
          </a:p>
        </p:txBody>
      </p:sp>
      <p:sp>
        <p:nvSpPr>
          <p:cNvPr id="258" name="Google Shape;258;p18"/>
          <p:cNvSpPr/>
          <p:nvPr/>
        </p:nvSpPr>
        <p:spPr>
          <a:xfrm>
            <a:off x="457200" y="3526185"/>
            <a:ext cx="5695950" cy="1194346"/>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3303A"/>
              </a:buClr>
              <a:buSzPts val="1425"/>
              <a:buFont typeface="Arial"/>
              <a:buNone/>
            </a:pPr>
            <a:r>
              <a:rPr b="0" i="0" lang="en-US" sz="1425">
                <a:solidFill>
                  <a:srgbClr val="23303A"/>
                </a:solidFill>
                <a:latin typeface="Arial"/>
                <a:ea typeface="Arial"/>
                <a:cs typeface="Arial"/>
                <a:sym typeface="Arial"/>
              </a:rPr>
              <a:t>The retinal comparison argues against a purely peripheral explanation for the loss of tectal habituation. It supports central regulation of responsiveness, while leaving open the contributions of different pretectal connections and local tectal inhibitory circuitry.</a:t>
            </a:r>
            <a:endParaRPr sz="1800">
              <a:solidFill>
                <a:schemeClr val="dk1"/>
              </a:solidFill>
              <a:latin typeface="Calibri"/>
              <a:ea typeface="Calibri"/>
              <a:cs typeface="Calibri"/>
              <a:sym typeface="Calibri"/>
            </a:endParaRPr>
          </a:p>
        </p:txBody>
      </p:sp>
      <p:pic>
        <p:nvPicPr>
          <p:cNvPr id="259" name="Google Shape;259;p18"/>
          <p:cNvPicPr preferRelativeResize="0"/>
          <p:nvPr/>
        </p:nvPicPr>
        <p:blipFill rotWithShape="1">
          <a:blip r:embed="rId3">
            <a:alphaModFix/>
          </a:blip>
          <a:srcRect b="0" l="0" r="0" t="0"/>
          <a:stretch/>
        </p:blipFill>
        <p:spPr>
          <a:xfrm>
            <a:off x="7432158" y="1071563"/>
            <a:ext cx="3347485" cy="2333625"/>
          </a:xfrm>
          <a:prstGeom prst="rect">
            <a:avLst/>
          </a:prstGeom>
          <a:noFill/>
          <a:ln>
            <a:noFill/>
          </a:ln>
        </p:spPr>
      </p:pic>
      <p:sp>
        <p:nvSpPr>
          <p:cNvPr id="260" name="Google Shape;260;p18"/>
          <p:cNvSpPr/>
          <p:nvPr/>
        </p:nvSpPr>
        <p:spPr>
          <a:xfrm>
            <a:off x="6477000" y="3481388"/>
            <a:ext cx="5276850" cy="142875"/>
          </a:xfrm>
          <a:prstGeom prst="rect">
            <a:avLst/>
          </a:prstGeom>
          <a:noFill/>
          <a:ln>
            <a:noFill/>
          </a:ln>
        </p:spPr>
        <p:txBody>
          <a:bodyPr anchorCtr="0" anchor="t" bIns="0" lIns="0" spcFirstLastPara="1" rIns="0" wrap="square" tIns="0">
            <a:normAutofit/>
          </a:bodyPr>
          <a:lstStyle/>
          <a:p>
            <a:pPr indent="0" lvl="0" marL="0" marR="0" rtl="0" algn="l">
              <a:lnSpc>
                <a:spcPct val="125000"/>
              </a:lnSpc>
              <a:spcBef>
                <a:spcPts val="0"/>
              </a:spcBef>
              <a:spcAft>
                <a:spcPts val="0"/>
              </a:spcAft>
              <a:buClr>
                <a:srgbClr val="23303A"/>
              </a:buClr>
              <a:buSzPts val="900"/>
              <a:buFont typeface="Arial"/>
              <a:buNone/>
            </a:pPr>
            <a:r>
              <a:rPr b="0" i="0" lang="en-US" sz="900">
                <a:solidFill>
                  <a:srgbClr val="23303A"/>
                </a:solidFill>
                <a:latin typeface="Arial"/>
                <a:ea typeface="Arial"/>
                <a:cs typeface="Arial"/>
                <a:sym typeface="Arial"/>
              </a:rPr>
              <a:t>Ingle (1973), Fig. 2. Habituation-ratio distributions in retinal fibers and tectal cells.</a:t>
            </a:r>
            <a:endParaRPr sz="1800">
              <a:solidFill>
                <a:schemeClr val="dk1"/>
              </a:solidFill>
              <a:latin typeface="Calibri"/>
              <a:ea typeface="Calibri"/>
              <a:cs typeface="Calibri"/>
              <a:sym typeface="Calibri"/>
            </a:endParaRPr>
          </a:p>
        </p:txBody>
      </p:sp>
      <p:pic>
        <p:nvPicPr>
          <p:cNvPr id="261" name="Google Shape;261;p18"/>
          <p:cNvPicPr preferRelativeResize="0"/>
          <p:nvPr/>
        </p:nvPicPr>
        <p:blipFill rotWithShape="1">
          <a:blip r:embed="rId4">
            <a:alphaModFix/>
          </a:blip>
          <a:srcRect b="0" l="0" r="0" t="0"/>
          <a:stretch/>
        </p:blipFill>
        <p:spPr>
          <a:xfrm>
            <a:off x="8197673" y="3795713"/>
            <a:ext cx="1816454" cy="1476375"/>
          </a:xfrm>
          <a:prstGeom prst="rect">
            <a:avLst/>
          </a:prstGeom>
          <a:noFill/>
          <a:ln>
            <a:noFill/>
          </a:ln>
        </p:spPr>
      </p:pic>
      <p:sp>
        <p:nvSpPr>
          <p:cNvPr id="262" name="Google Shape;262;p18"/>
          <p:cNvSpPr/>
          <p:nvPr/>
        </p:nvSpPr>
        <p:spPr>
          <a:xfrm>
            <a:off x="6477000" y="5348288"/>
            <a:ext cx="5276850" cy="142875"/>
          </a:xfrm>
          <a:prstGeom prst="rect">
            <a:avLst/>
          </a:prstGeom>
          <a:noFill/>
          <a:ln>
            <a:noFill/>
          </a:ln>
        </p:spPr>
        <p:txBody>
          <a:bodyPr anchorCtr="0" anchor="t" bIns="0" lIns="0" spcFirstLastPara="1" rIns="0" wrap="square" tIns="0">
            <a:normAutofit/>
          </a:bodyPr>
          <a:lstStyle/>
          <a:p>
            <a:pPr indent="0" lvl="0" marL="0" marR="0" rtl="0" algn="l">
              <a:lnSpc>
                <a:spcPct val="125000"/>
              </a:lnSpc>
              <a:spcBef>
                <a:spcPts val="0"/>
              </a:spcBef>
              <a:spcAft>
                <a:spcPts val="0"/>
              </a:spcAft>
              <a:buClr>
                <a:srgbClr val="23303A"/>
              </a:buClr>
              <a:buSzPts val="900"/>
              <a:buFont typeface="Arial"/>
              <a:buNone/>
            </a:pPr>
            <a:r>
              <a:rPr b="0" i="0" lang="en-US" sz="900">
                <a:solidFill>
                  <a:srgbClr val="23303A"/>
                </a:solidFill>
                <a:latin typeface="Arial"/>
                <a:ea typeface="Arial"/>
                <a:cs typeface="Arial"/>
                <a:sym typeface="Arial"/>
              </a:rPr>
              <a:t>McConville &amp; Laming (2007), Fig. 3. Lpd electrodes.</a:t>
            </a:r>
            <a:endParaRPr sz="1800">
              <a:solidFill>
                <a:schemeClr val="dk1"/>
              </a:solidFill>
              <a:latin typeface="Calibri"/>
              <a:ea typeface="Calibri"/>
              <a:cs typeface="Calibri"/>
              <a:sym typeface="Calibri"/>
            </a:endParaRPr>
          </a:p>
        </p:txBody>
      </p:sp>
      <p:pic>
        <p:nvPicPr>
          <p:cNvPr id="263" name="Google Shape;263;p18"/>
          <p:cNvPicPr preferRelativeResize="0"/>
          <p:nvPr/>
        </p:nvPicPr>
        <p:blipFill rotWithShape="1">
          <a:blip r:embed="rId5">
            <a:alphaModFix/>
          </a:blip>
          <a:srcRect b="0" l="0" r="0" t="0"/>
          <a:stretch/>
        </p:blipFill>
        <p:spPr>
          <a:xfrm>
            <a:off x="457200" y="6405563"/>
            <a:ext cx="11277600" cy="242888"/>
          </a:xfrm>
          <a:prstGeom prst="rect">
            <a:avLst/>
          </a:prstGeom>
          <a:noFill/>
          <a:ln>
            <a:noFill/>
          </a:ln>
        </p:spPr>
      </p:pic>
      <p:sp>
        <p:nvSpPr>
          <p:cNvPr id="264" name="Google Shape;264;p18"/>
          <p:cNvSpPr/>
          <p:nvPr/>
        </p:nvSpPr>
        <p:spPr>
          <a:xfrm>
            <a:off x="457200" y="6491288"/>
            <a:ext cx="2017068" cy="157163"/>
          </a:xfrm>
          <a:prstGeom prst="rect">
            <a:avLst/>
          </a:prstGeom>
          <a:noFill/>
          <a:ln>
            <a:noFill/>
          </a:ln>
        </p:spPr>
        <p:txBody>
          <a:bodyPr anchorCtr="0" anchor="t" bIns="0" lIns="0" spcFirstLastPara="1" rIns="0" wrap="square" tIns="0">
            <a:normAutofit/>
          </a:bodyPr>
          <a:lstStyle/>
          <a:p>
            <a:pPr indent="0" lvl="0" marL="0" marR="0" rtl="0" algn="l">
              <a:lnSpc>
                <a:spcPct val="150060"/>
              </a:lnSpc>
              <a:spcBef>
                <a:spcPts val="0"/>
              </a:spcBef>
              <a:spcAft>
                <a:spcPts val="0"/>
              </a:spcAft>
              <a:buClr>
                <a:srgbClr val="5F6E7A"/>
              </a:buClr>
              <a:buSzPts val="825"/>
              <a:buFont typeface="Arial"/>
              <a:buNone/>
            </a:pPr>
            <a:r>
              <a:rPr b="0" i="0" lang="en-US" sz="825">
                <a:solidFill>
                  <a:srgbClr val="5F6E7A"/>
                </a:solidFill>
                <a:latin typeface="Arial"/>
                <a:ea typeface="Arial"/>
                <a:cs typeface="Arial"/>
                <a:sym typeface="Arial"/>
              </a:rPr>
              <a:t>Ingle (1973); McConville &amp; Laming (2007)</a:t>
            </a:r>
            <a:endParaRPr sz="1800">
              <a:solidFill>
                <a:schemeClr val="dk1"/>
              </a:solidFill>
              <a:latin typeface="Calibri"/>
              <a:ea typeface="Calibri"/>
              <a:cs typeface="Calibri"/>
              <a:sym typeface="Calibri"/>
            </a:endParaRPr>
          </a:p>
        </p:txBody>
      </p:sp>
      <p:sp>
        <p:nvSpPr>
          <p:cNvPr id="265" name="Google Shape;265;p18"/>
          <p:cNvSpPr/>
          <p:nvPr/>
        </p:nvSpPr>
        <p:spPr>
          <a:xfrm>
            <a:off x="11614845" y="6491288"/>
            <a:ext cx="139005" cy="157163"/>
          </a:xfrm>
          <a:prstGeom prst="rect">
            <a:avLst/>
          </a:prstGeom>
          <a:noFill/>
          <a:ln>
            <a:noFill/>
          </a:ln>
        </p:spPr>
        <p:txBody>
          <a:bodyPr anchorCtr="0" anchor="t" bIns="0" lIns="0" spcFirstLastPara="1" rIns="0" wrap="square" tIns="0">
            <a:normAutofit/>
          </a:bodyPr>
          <a:lstStyle/>
          <a:p>
            <a:pPr indent="0" lvl="0" marL="0" marR="0" rtl="0" algn="l">
              <a:lnSpc>
                <a:spcPct val="150060"/>
              </a:lnSpc>
              <a:spcBef>
                <a:spcPts val="0"/>
              </a:spcBef>
              <a:spcAft>
                <a:spcPts val="0"/>
              </a:spcAft>
              <a:buClr>
                <a:srgbClr val="5F6E7A"/>
              </a:buClr>
              <a:buSzPts val="825"/>
              <a:buFont typeface="Arial"/>
              <a:buNone/>
            </a:pPr>
            <a:r>
              <a:rPr b="0" i="0" lang="en-US" sz="825">
                <a:solidFill>
                  <a:srgbClr val="5F6E7A"/>
                </a:solidFill>
                <a:latin typeface="Arial"/>
                <a:ea typeface="Arial"/>
                <a:cs typeface="Arial"/>
                <a:sym typeface="Arial"/>
              </a:rPr>
              <a:t>18</a:t>
            </a:r>
            <a:endParaRPr sz="1800">
              <a:solidFill>
                <a:schemeClr val="dk1"/>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69" name="Shape 269"/>
        <p:cNvGrpSpPr/>
        <p:nvPr/>
      </p:nvGrpSpPr>
      <p:grpSpPr>
        <a:xfrm>
          <a:off x="0" y="0"/>
          <a:ext cx="0" cy="0"/>
          <a:chOff x="0" y="0"/>
          <a:chExt cx="0" cy="0"/>
        </a:xfrm>
      </p:grpSpPr>
      <p:sp>
        <p:nvSpPr>
          <p:cNvPr id="270" name="Google Shape;270;p19"/>
          <p:cNvSpPr/>
          <p:nvPr/>
        </p:nvSpPr>
        <p:spPr>
          <a:xfrm>
            <a:off x="457200" y="457200"/>
            <a:ext cx="11296650" cy="328613"/>
          </a:xfrm>
          <a:prstGeom prst="rect">
            <a:avLst/>
          </a:prstGeom>
          <a:noFill/>
          <a:ln>
            <a:noFill/>
          </a:ln>
        </p:spPr>
        <p:txBody>
          <a:bodyPr anchorCtr="0" anchor="t" bIns="0" lIns="0" spcFirstLastPara="1" rIns="0" wrap="square" tIns="0">
            <a:normAutofit/>
          </a:bodyPr>
          <a:lstStyle/>
          <a:p>
            <a:pPr indent="0" lvl="0" marL="0" marR="0" rtl="0" algn="l">
              <a:lnSpc>
                <a:spcPct val="115022"/>
              </a:lnSpc>
              <a:spcBef>
                <a:spcPts val="0"/>
              </a:spcBef>
              <a:spcAft>
                <a:spcPts val="0"/>
              </a:spcAft>
              <a:buClr>
                <a:srgbClr val="35536B"/>
              </a:buClr>
              <a:buSzPts val="2250"/>
              <a:buFont typeface="Arial"/>
              <a:buNone/>
            </a:pPr>
            <a:r>
              <a:rPr b="1" i="0" lang="en-US" sz="2250">
                <a:solidFill>
                  <a:srgbClr val="35536B"/>
                </a:solidFill>
                <a:latin typeface="Arial"/>
                <a:ea typeface="Arial"/>
                <a:cs typeface="Arial"/>
                <a:sym typeface="Arial"/>
              </a:rPr>
              <a:t>A same-unit experiment links lesion and visual response</a:t>
            </a:r>
            <a:endParaRPr sz="1800">
              <a:solidFill>
                <a:schemeClr val="dk1"/>
              </a:solidFill>
              <a:latin typeface="Calibri"/>
              <a:ea typeface="Calibri"/>
              <a:cs typeface="Calibri"/>
              <a:sym typeface="Calibri"/>
            </a:endParaRPr>
          </a:p>
        </p:txBody>
      </p:sp>
      <p:sp>
        <p:nvSpPr>
          <p:cNvPr id="271" name="Google Shape;271;p19"/>
          <p:cNvSpPr/>
          <p:nvPr/>
        </p:nvSpPr>
        <p:spPr>
          <a:xfrm>
            <a:off x="457200" y="1071563"/>
            <a:ext cx="5695950" cy="1194346"/>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3303A"/>
              </a:buClr>
              <a:buSzPts val="1425"/>
              <a:buFont typeface="Arial"/>
              <a:buNone/>
            </a:pPr>
            <a:r>
              <a:rPr b="0" i="0" lang="en-US" sz="1425">
                <a:solidFill>
                  <a:srgbClr val="23303A"/>
                </a:solidFill>
                <a:latin typeface="Arial"/>
                <a:ea typeface="Arial"/>
                <a:cs typeface="Arial"/>
                <a:sym typeface="Arial"/>
              </a:rPr>
              <a:t>Laming and Ewert recorded tectal visual units while monitoring slower electrical signals in the same toad. Their </a:t>
            </a:r>
            <a:r>
              <a:rPr b="1" i="0" lang="en-US" sz="1425">
                <a:solidFill>
                  <a:srgbClr val="23303A"/>
                </a:solidFill>
                <a:latin typeface="Arial"/>
                <a:ea typeface="Arial"/>
                <a:cs typeface="Arial"/>
                <a:sym typeface="Arial"/>
              </a:rPr>
              <a:t>T5(2)</a:t>
            </a:r>
            <a:r>
              <a:rPr b="0" i="0" lang="en-US" sz="1425">
                <a:solidFill>
                  <a:srgbClr val="23303A"/>
                </a:solidFill>
                <a:latin typeface="Arial"/>
                <a:ea typeface="Arial"/>
                <a:cs typeface="Arial"/>
                <a:sym typeface="Arial"/>
              </a:rPr>
              <a:t> designation identifies units with prey-related configuration sensitivity; it is a physiological classification rather than a genetically labeled population.</a:t>
            </a:r>
            <a:endParaRPr sz="1800">
              <a:solidFill>
                <a:schemeClr val="dk1"/>
              </a:solidFill>
              <a:latin typeface="Calibri"/>
              <a:ea typeface="Calibri"/>
              <a:cs typeface="Calibri"/>
              <a:sym typeface="Calibri"/>
            </a:endParaRPr>
          </a:p>
        </p:txBody>
      </p:sp>
      <p:sp>
        <p:nvSpPr>
          <p:cNvPr id="272" name="Google Shape;272;p19"/>
          <p:cNvSpPr/>
          <p:nvPr/>
        </p:nvSpPr>
        <p:spPr>
          <a:xfrm>
            <a:off x="457200" y="2418308"/>
            <a:ext cx="5695950" cy="1194346"/>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3303A"/>
              </a:buClr>
              <a:buSzPts val="1425"/>
              <a:buFont typeface="Arial"/>
              <a:buNone/>
            </a:pPr>
            <a:r>
              <a:rPr b="0" i="0" lang="en-US" sz="1425">
                <a:solidFill>
                  <a:srgbClr val="23303A"/>
                </a:solidFill>
                <a:latin typeface="Arial"/>
                <a:ea typeface="Arial"/>
                <a:cs typeface="Arial"/>
                <a:sym typeface="Arial"/>
              </a:rPr>
              <a:t>They compared a 1.8° × 15° worm-like rectangle, a 15° × 1.8° antiworm and a 15° square moving at 22°/s. A knife cut disrupted ipsilateral pretectal and dorsal thalamic connections while the electrode remained in place, and recordings resumed after approximately 15–30 minutes.</a:t>
            </a:r>
            <a:endParaRPr sz="1800">
              <a:solidFill>
                <a:schemeClr val="dk1"/>
              </a:solidFill>
              <a:latin typeface="Calibri"/>
              <a:ea typeface="Calibri"/>
              <a:cs typeface="Calibri"/>
              <a:sym typeface="Calibri"/>
            </a:endParaRPr>
          </a:p>
        </p:txBody>
      </p:sp>
      <p:sp>
        <p:nvSpPr>
          <p:cNvPr id="273" name="Google Shape;273;p19"/>
          <p:cNvSpPr/>
          <p:nvPr/>
        </p:nvSpPr>
        <p:spPr>
          <a:xfrm>
            <a:off x="457200" y="3765054"/>
            <a:ext cx="5695950" cy="955477"/>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3303A"/>
              </a:buClr>
              <a:buSzPts val="1425"/>
              <a:buFont typeface="Arial"/>
              <a:buNone/>
            </a:pPr>
            <a:r>
              <a:rPr b="0" i="0" lang="en-US" sz="1425">
                <a:solidFill>
                  <a:srgbClr val="23303A"/>
                </a:solidFill>
                <a:latin typeface="Arial"/>
                <a:ea typeface="Arial"/>
                <a:cs typeface="Arial"/>
                <a:sym typeface="Arial"/>
              </a:rPr>
              <a:t>Maintaining the unit provides a stronger comparison than replacing it with an unrelated post-lesion cell. Only preparations retaining suitable recordings support that comparison, and the knife cut still affects a regional set of connections.</a:t>
            </a:r>
            <a:endParaRPr sz="1800">
              <a:solidFill>
                <a:schemeClr val="dk1"/>
              </a:solidFill>
              <a:latin typeface="Calibri"/>
              <a:ea typeface="Calibri"/>
              <a:cs typeface="Calibri"/>
              <a:sym typeface="Calibri"/>
            </a:endParaRPr>
          </a:p>
        </p:txBody>
      </p:sp>
      <p:pic>
        <p:nvPicPr>
          <p:cNvPr id="274" name="Google Shape;274;p19"/>
          <p:cNvPicPr preferRelativeResize="0"/>
          <p:nvPr/>
        </p:nvPicPr>
        <p:blipFill rotWithShape="1">
          <a:blip r:embed="rId3">
            <a:alphaModFix/>
          </a:blip>
          <a:srcRect b="0" l="0" r="0" t="0"/>
          <a:stretch/>
        </p:blipFill>
        <p:spPr>
          <a:xfrm>
            <a:off x="6477000" y="1071563"/>
            <a:ext cx="3505200" cy="2427344"/>
          </a:xfrm>
          <a:prstGeom prst="rect">
            <a:avLst/>
          </a:prstGeom>
          <a:noFill/>
          <a:ln>
            <a:noFill/>
          </a:ln>
        </p:spPr>
      </p:pic>
      <p:sp>
        <p:nvSpPr>
          <p:cNvPr id="275" name="Google Shape;275;p19"/>
          <p:cNvSpPr/>
          <p:nvPr/>
        </p:nvSpPr>
        <p:spPr>
          <a:xfrm>
            <a:off x="6477000" y="5319713"/>
            <a:ext cx="3524250" cy="285750"/>
          </a:xfrm>
          <a:prstGeom prst="rect">
            <a:avLst/>
          </a:prstGeom>
          <a:noFill/>
          <a:ln>
            <a:noFill/>
          </a:ln>
        </p:spPr>
        <p:txBody>
          <a:bodyPr anchorCtr="0" anchor="t" bIns="0" lIns="0" spcFirstLastPara="1" rIns="0" wrap="square" tIns="0">
            <a:normAutofit/>
          </a:bodyPr>
          <a:lstStyle/>
          <a:p>
            <a:pPr indent="0" lvl="0" marL="0" marR="0" rtl="0" algn="l">
              <a:lnSpc>
                <a:spcPct val="125000"/>
              </a:lnSpc>
              <a:spcBef>
                <a:spcPts val="0"/>
              </a:spcBef>
              <a:spcAft>
                <a:spcPts val="0"/>
              </a:spcAft>
              <a:buClr>
                <a:srgbClr val="23303A"/>
              </a:buClr>
              <a:buSzPts val="900"/>
              <a:buFont typeface="Arial"/>
              <a:buNone/>
            </a:pPr>
            <a:r>
              <a:rPr b="0" i="0" lang="en-US" sz="900">
                <a:solidFill>
                  <a:srgbClr val="23303A"/>
                </a:solidFill>
                <a:latin typeface="Arial"/>
                <a:ea typeface="Arial"/>
                <a:cs typeface="Arial"/>
                <a:sym typeface="Arial"/>
              </a:rPr>
              <a:t>Laming &amp; Ewert (1983), Fig. 2(A–B). Unit, EEG and slow potentials before and after lesion.</a:t>
            </a:r>
            <a:endParaRPr sz="1800">
              <a:solidFill>
                <a:schemeClr val="dk1"/>
              </a:solidFill>
              <a:latin typeface="Calibri"/>
              <a:ea typeface="Calibri"/>
              <a:cs typeface="Calibri"/>
              <a:sym typeface="Calibri"/>
            </a:endParaRPr>
          </a:p>
        </p:txBody>
      </p:sp>
      <p:pic>
        <p:nvPicPr>
          <p:cNvPr id="276" name="Google Shape;276;p19"/>
          <p:cNvPicPr preferRelativeResize="0"/>
          <p:nvPr/>
        </p:nvPicPr>
        <p:blipFill rotWithShape="1">
          <a:blip r:embed="rId4">
            <a:alphaModFix/>
          </a:blip>
          <a:srcRect b="0" l="0" r="0" t="0"/>
          <a:stretch/>
        </p:blipFill>
        <p:spPr>
          <a:xfrm>
            <a:off x="10134600" y="1681163"/>
            <a:ext cx="1600200" cy="2176588"/>
          </a:xfrm>
          <a:prstGeom prst="rect">
            <a:avLst/>
          </a:prstGeom>
          <a:noFill/>
          <a:ln>
            <a:noFill/>
          </a:ln>
        </p:spPr>
      </p:pic>
      <p:sp>
        <p:nvSpPr>
          <p:cNvPr id="277" name="Google Shape;277;p19"/>
          <p:cNvSpPr/>
          <p:nvPr/>
        </p:nvSpPr>
        <p:spPr>
          <a:xfrm>
            <a:off x="10134600" y="5091113"/>
            <a:ext cx="1619250" cy="285750"/>
          </a:xfrm>
          <a:prstGeom prst="rect">
            <a:avLst/>
          </a:prstGeom>
          <a:noFill/>
          <a:ln>
            <a:noFill/>
          </a:ln>
        </p:spPr>
        <p:txBody>
          <a:bodyPr anchorCtr="0" anchor="t" bIns="0" lIns="0" spcFirstLastPara="1" rIns="0" wrap="square" tIns="0">
            <a:normAutofit/>
          </a:bodyPr>
          <a:lstStyle/>
          <a:p>
            <a:pPr indent="0" lvl="0" marL="0" marR="0" rtl="0" algn="l">
              <a:lnSpc>
                <a:spcPct val="125000"/>
              </a:lnSpc>
              <a:spcBef>
                <a:spcPts val="0"/>
              </a:spcBef>
              <a:spcAft>
                <a:spcPts val="0"/>
              </a:spcAft>
              <a:buClr>
                <a:srgbClr val="23303A"/>
              </a:buClr>
              <a:buSzPts val="900"/>
              <a:buFont typeface="Arial"/>
              <a:buNone/>
            </a:pPr>
            <a:r>
              <a:rPr b="0" i="0" lang="en-US" sz="900">
                <a:solidFill>
                  <a:srgbClr val="23303A"/>
                </a:solidFill>
                <a:latin typeface="Arial"/>
                <a:ea typeface="Arial"/>
                <a:cs typeface="Arial"/>
                <a:sym typeface="Arial"/>
              </a:rPr>
              <a:t>Laming &amp; Ewert (1983), Fig. 1. Recording preparation.</a:t>
            </a:r>
            <a:endParaRPr sz="1800">
              <a:solidFill>
                <a:schemeClr val="dk1"/>
              </a:solidFill>
              <a:latin typeface="Calibri"/>
              <a:ea typeface="Calibri"/>
              <a:cs typeface="Calibri"/>
              <a:sym typeface="Calibri"/>
            </a:endParaRPr>
          </a:p>
        </p:txBody>
      </p:sp>
      <p:pic>
        <p:nvPicPr>
          <p:cNvPr id="278" name="Google Shape;278;p19"/>
          <p:cNvPicPr preferRelativeResize="0"/>
          <p:nvPr/>
        </p:nvPicPr>
        <p:blipFill rotWithShape="1">
          <a:blip r:embed="rId5">
            <a:alphaModFix/>
          </a:blip>
          <a:srcRect b="0" l="0" r="0" t="0"/>
          <a:stretch/>
        </p:blipFill>
        <p:spPr>
          <a:xfrm>
            <a:off x="457200" y="6405563"/>
            <a:ext cx="11277600" cy="242888"/>
          </a:xfrm>
          <a:prstGeom prst="rect">
            <a:avLst/>
          </a:prstGeom>
          <a:noFill/>
          <a:ln>
            <a:noFill/>
          </a:ln>
        </p:spPr>
      </p:pic>
      <p:sp>
        <p:nvSpPr>
          <p:cNvPr id="279" name="Google Shape;279;p19"/>
          <p:cNvSpPr/>
          <p:nvPr/>
        </p:nvSpPr>
        <p:spPr>
          <a:xfrm>
            <a:off x="457200" y="6491288"/>
            <a:ext cx="1128861" cy="157163"/>
          </a:xfrm>
          <a:prstGeom prst="rect">
            <a:avLst/>
          </a:prstGeom>
          <a:noFill/>
          <a:ln>
            <a:noFill/>
          </a:ln>
        </p:spPr>
        <p:txBody>
          <a:bodyPr anchorCtr="0" anchor="t" bIns="0" lIns="0" spcFirstLastPara="1" rIns="0" wrap="square" tIns="0">
            <a:normAutofit/>
          </a:bodyPr>
          <a:lstStyle/>
          <a:p>
            <a:pPr indent="0" lvl="0" marL="0" marR="0" rtl="0" algn="l">
              <a:lnSpc>
                <a:spcPct val="150060"/>
              </a:lnSpc>
              <a:spcBef>
                <a:spcPts val="0"/>
              </a:spcBef>
              <a:spcAft>
                <a:spcPts val="0"/>
              </a:spcAft>
              <a:buClr>
                <a:srgbClr val="5F6E7A"/>
              </a:buClr>
              <a:buSzPts val="825"/>
              <a:buFont typeface="Arial"/>
              <a:buNone/>
            </a:pPr>
            <a:r>
              <a:rPr b="0" i="0" lang="en-US" sz="825">
                <a:solidFill>
                  <a:srgbClr val="5F6E7A"/>
                </a:solidFill>
                <a:latin typeface="Arial"/>
                <a:ea typeface="Arial"/>
                <a:cs typeface="Arial"/>
                <a:sym typeface="Arial"/>
              </a:rPr>
              <a:t>Laming &amp; Ewert (1983)</a:t>
            </a:r>
            <a:endParaRPr sz="1800">
              <a:solidFill>
                <a:schemeClr val="dk1"/>
              </a:solidFill>
              <a:latin typeface="Calibri"/>
              <a:ea typeface="Calibri"/>
              <a:cs typeface="Calibri"/>
              <a:sym typeface="Calibri"/>
            </a:endParaRPr>
          </a:p>
        </p:txBody>
      </p:sp>
      <p:sp>
        <p:nvSpPr>
          <p:cNvPr id="280" name="Google Shape;280;p19"/>
          <p:cNvSpPr/>
          <p:nvPr/>
        </p:nvSpPr>
        <p:spPr>
          <a:xfrm>
            <a:off x="11614845" y="6491288"/>
            <a:ext cx="139005" cy="157163"/>
          </a:xfrm>
          <a:prstGeom prst="rect">
            <a:avLst/>
          </a:prstGeom>
          <a:noFill/>
          <a:ln>
            <a:noFill/>
          </a:ln>
        </p:spPr>
        <p:txBody>
          <a:bodyPr anchorCtr="0" anchor="t" bIns="0" lIns="0" spcFirstLastPara="1" rIns="0" wrap="square" tIns="0">
            <a:normAutofit/>
          </a:bodyPr>
          <a:lstStyle/>
          <a:p>
            <a:pPr indent="0" lvl="0" marL="0" marR="0" rtl="0" algn="l">
              <a:lnSpc>
                <a:spcPct val="150060"/>
              </a:lnSpc>
              <a:spcBef>
                <a:spcPts val="0"/>
              </a:spcBef>
              <a:spcAft>
                <a:spcPts val="0"/>
              </a:spcAft>
              <a:buClr>
                <a:srgbClr val="5F6E7A"/>
              </a:buClr>
              <a:buSzPts val="825"/>
              <a:buFont typeface="Arial"/>
              <a:buNone/>
            </a:pPr>
            <a:r>
              <a:rPr b="0" i="0" lang="en-US" sz="825">
                <a:solidFill>
                  <a:srgbClr val="5F6E7A"/>
                </a:solidFill>
                <a:latin typeface="Arial"/>
                <a:ea typeface="Arial"/>
                <a:cs typeface="Arial"/>
                <a:sym typeface="Arial"/>
              </a:rPr>
              <a:t>19</a:t>
            </a:r>
            <a:endParaRPr sz="1800">
              <a:solidFill>
                <a:schemeClr val="dk1"/>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84" name="Shape 284"/>
        <p:cNvGrpSpPr/>
        <p:nvPr/>
      </p:nvGrpSpPr>
      <p:grpSpPr>
        <a:xfrm>
          <a:off x="0" y="0"/>
          <a:ext cx="0" cy="0"/>
          <a:chOff x="0" y="0"/>
          <a:chExt cx="0" cy="0"/>
        </a:xfrm>
      </p:grpSpPr>
      <p:sp>
        <p:nvSpPr>
          <p:cNvPr id="285" name="Google Shape;285;p20"/>
          <p:cNvSpPr/>
          <p:nvPr/>
        </p:nvSpPr>
        <p:spPr>
          <a:xfrm>
            <a:off x="457200" y="457200"/>
            <a:ext cx="11296650" cy="328613"/>
          </a:xfrm>
          <a:prstGeom prst="rect">
            <a:avLst/>
          </a:prstGeom>
          <a:noFill/>
          <a:ln>
            <a:noFill/>
          </a:ln>
        </p:spPr>
        <p:txBody>
          <a:bodyPr anchorCtr="0" anchor="t" bIns="0" lIns="0" spcFirstLastPara="1" rIns="0" wrap="square" tIns="0">
            <a:normAutofit/>
          </a:bodyPr>
          <a:lstStyle/>
          <a:p>
            <a:pPr indent="0" lvl="0" marL="0" marR="0" rtl="0" algn="l">
              <a:lnSpc>
                <a:spcPct val="115022"/>
              </a:lnSpc>
              <a:spcBef>
                <a:spcPts val="0"/>
              </a:spcBef>
              <a:spcAft>
                <a:spcPts val="0"/>
              </a:spcAft>
              <a:buClr>
                <a:srgbClr val="35536B"/>
              </a:buClr>
              <a:buSzPts val="2250"/>
              <a:buFont typeface="Arial"/>
              <a:buNone/>
            </a:pPr>
            <a:r>
              <a:rPr b="1" i="0" lang="en-US" sz="2250">
                <a:solidFill>
                  <a:srgbClr val="35536B"/>
                </a:solidFill>
                <a:latin typeface="Arial"/>
                <a:ea typeface="Arial"/>
                <a:cs typeface="Arial"/>
                <a:sym typeface="Arial"/>
              </a:rPr>
              <a:t>Spikes, EEG and slow potentials measure different activity</a:t>
            </a:r>
            <a:endParaRPr sz="1800">
              <a:solidFill>
                <a:schemeClr val="dk1"/>
              </a:solidFill>
              <a:latin typeface="Calibri"/>
              <a:ea typeface="Calibri"/>
              <a:cs typeface="Calibri"/>
              <a:sym typeface="Calibri"/>
            </a:endParaRPr>
          </a:p>
        </p:txBody>
      </p:sp>
      <p:sp>
        <p:nvSpPr>
          <p:cNvPr id="286" name="Google Shape;286;p20"/>
          <p:cNvSpPr/>
          <p:nvPr/>
        </p:nvSpPr>
        <p:spPr>
          <a:xfrm>
            <a:off x="457200" y="1071563"/>
            <a:ext cx="5695950" cy="1194346"/>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3303A"/>
              </a:buClr>
              <a:buSzPts val="1425"/>
              <a:buFont typeface="Arial"/>
              <a:buNone/>
            </a:pPr>
            <a:r>
              <a:rPr b="0" i="0" lang="en-US" sz="1425">
                <a:solidFill>
                  <a:srgbClr val="23303A"/>
                </a:solidFill>
                <a:latin typeface="Arial"/>
                <a:ea typeface="Arial"/>
                <a:cs typeface="Arial"/>
                <a:sym typeface="Arial"/>
              </a:rPr>
              <a:t>A </a:t>
            </a:r>
            <a:r>
              <a:rPr b="1" i="0" lang="en-US" sz="1425">
                <a:solidFill>
                  <a:srgbClr val="23303A"/>
                </a:solidFill>
                <a:latin typeface="Arial"/>
                <a:ea typeface="Arial"/>
                <a:cs typeface="Arial"/>
                <a:sym typeface="Arial"/>
              </a:rPr>
              <a:t>spike recording</a:t>
            </a:r>
            <a:r>
              <a:rPr b="0" i="0" lang="en-US" sz="1425">
                <a:solidFill>
                  <a:srgbClr val="23303A"/>
                </a:solidFill>
                <a:latin typeface="Arial"/>
                <a:ea typeface="Arial"/>
                <a:cs typeface="Arial"/>
                <a:sym typeface="Arial"/>
              </a:rPr>
              <a:t> detects action potentials from a unit, whereas an </a:t>
            </a:r>
            <a:r>
              <a:rPr b="1" i="0" lang="en-US" sz="1425">
                <a:solidFill>
                  <a:srgbClr val="23303A"/>
                </a:solidFill>
                <a:latin typeface="Arial"/>
                <a:ea typeface="Arial"/>
                <a:cs typeface="Arial"/>
                <a:sym typeface="Arial"/>
              </a:rPr>
              <a:t>electroencephalogram</a:t>
            </a:r>
            <a:r>
              <a:rPr b="0" i="0" lang="en-US" sz="1425">
                <a:solidFill>
                  <a:srgbClr val="23303A"/>
                </a:solidFill>
                <a:latin typeface="Arial"/>
                <a:ea typeface="Arial"/>
                <a:cs typeface="Arial"/>
                <a:sym typeface="Arial"/>
              </a:rPr>
              <a:t>, or EEG, records aggregate electrical activity over a broader neuronal population. Laming and Ewert also measured a </a:t>
            </a:r>
            <a:r>
              <a:rPr b="1" i="0" lang="en-US" sz="1425">
                <a:solidFill>
                  <a:srgbClr val="23303A"/>
                </a:solidFill>
                <a:latin typeface="Arial"/>
                <a:ea typeface="Arial"/>
                <a:cs typeface="Arial"/>
                <a:sym typeface="Arial"/>
              </a:rPr>
              <a:t>sustained potential shift</a:t>
            </a:r>
            <a:r>
              <a:rPr b="0" i="0" lang="en-US" sz="1425">
                <a:solidFill>
                  <a:srgbClr val="23303A"/>
                </a:solidFill>
                <a:latin typeface="Arial"/>
                <a:ea typeface="Arial"/>
                <a:cs typeface="Arial"/>
                <a:sym typeface="Arial"/>
              </a:rPr>
              <a:t>, a slower change in extracellular voltage associated with visual stimulation.</a:t>
            </a:r>
            <a:endParaRPr sz="1800">
              <a:solidFill>
                <a:schemeClr val="dk1"/>
              </a:solidFill>
              <a:latin typeface="Calibri"/>
              <a:ea typeface="Calibri"/>
              <a:cs typeface="Calibri"/>
              <a:sym typeface="Calibri"/>
            </a:endParaRPr>
          </a:p>
        </p:txBody>
      </p:sp>
      <p:sp>
        <p:nvSpPr>
          <p:cNvPr id="287" name="Google Shape;287;p20"/>
          <p:cNvSpPr/>
          <p:nvPr/>
        </p:nvSpPr>
        <p:spPr>
          <a:xfrm>
            <a:off x="457200" y="2418308"/>
            <a:ext cx="5695950" cy="955477"/>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3303A"/>
              </a:buClr>
              <a:buSzPts val="1425"/>
              <a:buFont typeface="Arial"/>
              <a:buNone/>
            </a:pPr>
            <a:r>
              <a:rPr b="0" i="0" lang="en-US" sz="1425">
                <a:solidFill>
                  <a:srgbClr val="23303A"/>
                </a:solidFill>
                <a:latin typeface="Arial"/>
                <a:ea typeface="Arial"/>
                <a:cs typeface="Arial"/>
                <a:sym typeface="Arial"/>
              </a:rPr>
              <a:t>Their simultaneous traces compare tectal spikes, tectal EEG bands and slow potentials before and after a pretectal lesion. The EEG included a 14–18 Hz band and a wider 0–50 Hz band, while slow shifts were recorded separately from the rapid unit response.</a:t>
            </a:r>
            <a:endParaRPr sz="1800">
              <a:solidFill>
                <a:schemeClr val="dk1"/>
              </a:solidFill>
              <a:latin typeface="Calibri"/>
              <a:ea typeface="Calibri"/>
              <a:cs typeface="Calibri"/>
              <a:sym typeface="Calibri"/>
            </a:endParaRPr>
          </a:p>
        </p:txBody>
      </p:sp>
      <p:sp>
        <p:nvSpPr>
          <p:cNvPr id="288" name="Google Shape;288;p20"/>
          <p:cNvSpPr/>
          <p:nvPr/>
        </p:nvSpPr>
        <p:spPr>
          <a:xfrm>
            <a:off x="457200" y="3526185"/>
            <a:ext cx="5695950" cy="955477"/>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3303A"/>
              </a:buClr>
              <a:buSzPts val="1425"/>
              <a:buFont typeface="Arial"/>
              <a:buNone/>
            </a:pPr>
            <a:r>
              <a:rPr b="0" i="0" lang="en-US" sz="1425">
                <a:solidFill>
                  <a:srgbClr val="23303A"/>
                </a:solidFill>
                <a:latin typeface="Arial"/>
                <a:ea typeface="Arial"/>
                <a:cs typeface="Arial"/>
                <a:sym typeface="Arial"/>
              </a:rPr>
              <a:t>These signals depend on different spatial and temporal properties of electrical activity. A stronger single-unit discharge can coexist with a smaller population field; field amplitude cannot be read as the firing rate of every neuron in the region.</a:t>
            </a:r>
            <a:endParaRPr sz="1800">
              <a:solidFill>
                <a:schemeClr val="dk1"/>
              </a:solidFill>
              <a:latin typeface="Calibri"/>
              <a:ea typeface="Calibri"/>
              <a:cs typeface="Calibri"/>
              <a:sym typeface="Calibri"/>
            </a:endParaRPr>
          </a:p>
        </p:txBody>
      </p:sp>
      <p:pic>
        <p:nvPicPr>
          <p:cNvPr id="289" name="Google Shape;289;p20"/>
          <p:cNvPicPr preferRelativeResize="0"/>
          <p:nvPr/>
        </p:nvPicPr>
        <p:blipFill rotWithShape="1">
          <a:blip r:embed="rId3">
            <a:alphaModFix/>
          </a:blip>
          <a:srcRect b="0" l="0" r="0" t="0"/>
          <a:stretch/>
        </p:blipFill>
        <p:spPr>
          <a:xfrm>
            <a:off x="6477000" y="1071563"/>
            <a:ext cx="3505200" cy="2427344"/>
          </a:xfrm>
          <a:prstGeom prst="rect">
            <a:avLst/>
          </a:prstGeom>
          <a:noFill/>
          <a:ln>
            <a:noFill/>
          </a:ln>
        </p:spPr>
      </p:pic>
      <p:sp>
        <p:nvSpPr>
          <p:cNvPr id="290" name="Google Shape;290;p20"/>
          <p:cNvSpPr/>
          <p:nvPr/>
        </p:nvSpPr>
        <p:spPr>
          <a:xfrm>
            <a:off x="6477000" y="5319713"/>
            <a:ext cx="3524250" cy="285750"/>
          </a:xfrm>
          <a:prstGeom prst="rect">
            <a:avLst/>
          </a:prstGeom>
          <a:noFill/>
          <a:ln>
            <a:noFill/>
          </a:ln>
        </p:spPr>
        <p:txBody>
          <a:bodyPr anchorCtr="0" anchor="t" bIns="0" lIns="0" spcFirstLastPara="1" rIns="0" wrap="square" tIns="0">
            <a:normAutofit/>
          </a:bodyPr>
          <a:lstStyle/>
          <a:p>
            <a:pPr indent="0" lvl="0" marL="0" marR="0" rtl="0" algn="l">
              <a:lnSpc>
                <a:spcPct val="125000"/>
              </a:lnSpc>
              <a:spcBef>
                <a:spcPts val="0"/>
              </a:spcBef>
              <a:spcAft>
                <a:spcPts val="0"/>
              </a:spcAft>
              <a:buClr>
                <a:srgbClr val="23303A"/>
              </a:buClr>
              <a:buSzPts val="900"/>
              <a:buFont typeface="Arial"/>
              <a:buNone/>
            </a:pPr>
            <a:r>
              <a:rPr b="0" i="0" lang="en-US" sz="900">
                <a:solidFill>
                  <a:srgbClr val="23303A"/>
                </a:solidFill>
                <a:latin typeface="Arial"/>
                <a:ea typeface="Arial"/>
                <a:cs typeface="Arial"/>
                <a:sym typeface="Arial"/>
              </a:rPr>
              <a:t>Laming &amp; Ewert (1983), Fig. 2(A–B). Unit, EEG and slow potentials before and after lesion.</a:t>
            </a:r>
            <a:endParaRPr sz="1800">
              <a:solidFill>
                <a:schemeClr val="dk1"/>
              </a:solidFill>
              <a:latin typeface="Calibri"/>
              <a:ea typeface="Calibri"/>
              <a:cs typeface="Calibri"/>
              <a:sym typeface="Calibri"/>
            </a:endParaRPr>
          </a:p>
        </p:txBody>
      </p:sp>
      <p:pic>
        <p:nvPicPr>
          <p:cNvPr id="291" name="Google Shape;291;p20"/>
          <p:cNvPicPr preferRelativeResize="0"/>
          <p:nvPr/>
        </p:nvPicPr>
        <p:blipFill rotWithShape="1">
          <a:blip r:embed="rId4">
            <a:alphaModFix/>
          </a:blip>
          <a:srcRect b="0" l="0" r="0" t="0"/>
          <a:stretch/>
        </p:blipFill>
        <p:spPr>
          <a:xfrm>
            <a:off x="10338660" y="1681163"/>
            <a:ext cx="1192081" cy="3333750"/>
          </a:xfrm>
          <a:prstGeom prst="rect">
            <a:avLst/>
          </a:prstGeom>
          <a:noFill/>
          <a:ln>
            <a:noFill/>
          </a:ln>
        </p:spPr>
      </p:pic>
      <p:sp>
        <p:nvSpPr>
          <p:cNvPr id="292" name="Google Shape;292;p20"/>
          <p:cNvSpPr/>
          <p:nvPr/>
        </p:nvSpPr>
        <p:spPr>
          <a:xfrm>
            <a:off x="10134600" y="5091113"/>
            <a:ext cx="1619250" cy="285750"/>
          </a:xfrm>
          <a:prstGeom prst="rect">
            <a:avLst/>
          </a:prstGeom>
          <a:noFill/>
          <a:ln>
            <a:noFill/>
          </a:ln>
        </p:spPr>
        <p:txBody>
          <a:bodyPr anchorCtr="0" anchor="t" bIns="0" lIns="0" spcFirstLastPara="1" rIns="0" wrap="square" tIns="0">
            <a:normAutofit/>
          </a:bodyPr>
          <a:lstStyle/>
          <a:p>
            <a:pPr indent="0" lvl="0" marL="0" marR="0" rtl="0" algn="l">
              <a:lnSpc>
                <a:spcPct val="125000"/>
              </a:lnSpc>
              <a:spcBef>
                <a:spcPts val="0"/>
              </a:spcBef>
              <a:spcAft>
                <a:spcPts val="0"/>
              </a:spcAft>
              <a:buClr>
                <a:srgbClr val="23303A"/>
              </a:buClr>
              <a:buSzPts val="900"/>
              <a:buFont typeface="Arial"/>
              <a:buNone/>
            </a:pPr>
            <a:r>
              <a:rPr b="0" i="0" lang="en-US" sz="900">
                <a:solidFill>
                  <a:srgbClr val="23303A"/>
                </a:solidFill>
                <a:latin typeface="Arial"/>
                <a:ea typeface="Arial"/>
                <a:cs typeface="Arial"/>
                <a:sym typeface="Arial"/>
              </a:rPr>
              <a:t>Laming &amp; Ewert (1983), Fig. 3(A–C). Lesion sites (1 mm).</a:t>
            </a:r>
            <a:endParaRPr sz="1800">
              <a:solidFill>
                <a:schemeClr val="dk1"/>
              </a:solidFill>
              <a:latin typeface="Calibri"/>
              <a:ea typeface="Calibri"/>
              <a:cs typeface="Calibri"/>
              <a:sym typeface="Calibri"/>
            </a:endParaRPr>
          </a:p>
        </p:txBody>
      </p:sp>
      <p:pic>
        <p:nvPicPr>
          <p:cNvPr id="293" name="Google Shape;293;p20"/>
          <p:cNvPicPr preferRelativeResize="0"/>
          <p:nvPr/>
        </p:nvPicPr>
        <p:blipFill rotWithShape="1">
          <a:blip r:embed="rId5">
            <a:alphaModFix/>
          </a:blip>
          <a:srcRect b="0" l="0" r="0" t="0"/>
          <a:stretch/>
        </p:blipFill>
        <p:spPr>
          <a:xfrm>
            <a:off x="457200" y="6405563"/>
            <a:ext cx="11277600" cy="242888"/>
          </a:xfrm>
          <a:prstGeom prst="rect">
            <a:avLst/>
          </a:prstGeom>
          <a:noFill/>
          <a:ln>
            <a:noFill/>
          </a:ln>
        </p:spPr>
      </p:pic>
      <p:sp>
        <p:nvSpPr>
          <p:cNvPr id="294" name="Google Shape;294;p20"/>
          <p:cNvSpPr/>
          <p:nvPr/>
        </p:nvSpPr>
        <p:spPr>
          <a:xfrm>
            <a:off x="457200" y="6491288"/>
            <a:ext cx="1128861" cy="157163"/>
          </a:xfrm>
          <a:prstGeom prst="rect">
            <a:avLst/>
          </a:prstGeom>
          <a:noFill/>
          <a:ln>
            <a:noFill/>
          </a:ln>
        </p:spPr>
        <p:txBody>
          <a:bodyPr anchorCtr="0" anchor="t" bIns="0" lIns="0" spcFirstLastPara="1" rIns="0" wrap="square" tIns="0">
            <a:normAutofit/>
          </a:bodyPr>
          <a:lstStyle/>
          <a:p>
            <a:pPr indent="0" lvl="0" marL="0" marR="0" rtl="0" algn="l">
              <a:lnSpc>
                <a:spcPct val="150060"/>
              </a:lnSpc>
              <a:spcBef>
                <a:spcPts val="0"/>
              </a:spcBef>
              <a:spcAft>
                <a:spcPts val="0"/>
              </a:spcAft>
              <a:buClr>
                <a:srgbClr val="5F6E7A"/>
              </a:buClr>
              <a:buSzPts val="825"/>
              <a:buFont typeface="Arial"/>
              <a:buNone/>
            </a:pPr>
            <a:r>
              <a:rPr b="0" i="0" lang="en-US" sz="825">
                <a:solidFill>
                  <a:srgbClr val="5F6E7A"/>
                </a:solidFill>
                <a:latin typeface="Arial"/>
                <a:ea typeface="Arial"/>
                <a:cs typeface="Arial"/>
                <a:sym typeface="Arial"/>
              </a:rPr>
              <a:t>Laming &amp; Ewert (1983)</a:t>
            </a:r>
            <a:endParaRPr sz="1800">
              <a:solidFill>
                <a:schemeClr val="dk1"/>
              </a:solidFill>
              <a:latin typeface="Calibri"/>
              <a:ea typeface="Calibri"/>
              <a:cs typeface="Calibri"/>
              <a:sym typeface="Calibri"/>
            </a:endParaRPr>
          </a:p>
        </p:txBody>
      </p:sp>
      <p:sp>
        <p:nvSpPr>
          <p:cNvPr id="295" name="Google Shape;295;p20"/>
          <p:cNvSpPr/>
          <p:nvPr/>
        </p:nvSpPr>
        <p:spPr>
          <a:xfrm>
            <a:off x="11614845" y="6491288"/>
            <a:ext cx="139005" cy="157163"/>
          </a:xfrm>
          <a:prstGeom prst="rect">
            <a:avLst/>
          </a:prstGeom>
          <a:noFill/>
          <a:ln>
            <a:noFill/>
          </a:ln>
        </p:spPr>
        <p:txBody>
          <a:bodyPr anchorCtr="0" anchor="t" bIns="0" lIns="0" spcFirstLastPara="1" rIns="0" wrap="square" tIns="0">
            <a:normAutofit/>
          </a:bodyPr>
          <a:lstStyle/>
          <a:p>
            <a:pPr indent="0" lvl="0" marL="0" marR="0" rtl="0" algn="l">
              <a:lnSpc>
                <a:spcPct val="150060"/>
              </a:lnSpc>
              <a:spcBef>
                <a:spcPts val="0"/>
              </a:spcBef>
              <a:spcAft>
                <a:spcPts val="0"/>
              </a:spcAft>
              <a:buClr>
                <a:srgbClr val="5F6E7A"/>
              </a:buClr>
              <a:buSzPts val="825"/>
              <a:buFont typeface="Arial"/>
              <a:buNone/>
            </a:pPr>
            <a:r>
              <a:rPr b="0" i="0" lang="en-US" sz="825">
                <a:solidFill>
                  <a:srgbClr val="5F6E7A"/>
                </a:solidFill>
                <a:latin typeface="Arial"/>
                <a:ea typeface="Arial"/>
                <a:cs typeface="Arial"/>
                <a:sym typeface="Arial"/>
              </a:rPr>
              <a:t>20</a:t>
            </a:r>
            <a:endParaRPr sz="1800">
              <a:solidFill>
                <a:schemeClr val="dk1"/>
              </a:solidFill>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99" name="Shape 299"/>
        <p:cNvGrpSpPr/>
        <p:nvPr/>
      </p:nvGrpSpPr>
      <p:grpSpPr>
        <a:xfrm>
          <a:off x="0" y="0"/>
          <a:ext cx="0" cy="0"/>
          <a:chOff x="0" y="0"/>
          <a:chExt cx="0" cy="0"/>
        </a:xfrm>
      </p:grpSpPr>
      <p:sp>
        <p:nvSpPr>
          <p:cNvPr id="300" name="Google Shape;300;p21"/>
          <p:cNvSpPr/>
          <p:nvPr/>
        </p:nvSpPr>
        <p:spPr>
          <a:xfrm>
            <a:off x="457200" y="457200"/>
            <a:ext cx="11296650" cy="328613"/>
          </a:xfrm>
          <a:prstGeom prst="rect">
            <a:avLst/>
          </a:prstGeom>
          <a:noFill/>
          <a:ln>
            <a:noFill/>
          </a:ln>
        </p:spPr>
        <p:txBody>
          <a:bodyPr anchorCtr="0" anchor="t" bIns="0" lIns="0" spcFirstLastPara="1" rIns="0" wrap="square" tIns="0">
            <a:normAutofit/>
          </a:bodyPr>
          <a:lstStyle/>
          <a:p>
            <a:pPr indent="0" lvl="0" marL="0" marR="0" rtl="0" algn="l">
              <a:lnSpc>
                <a:spcPct val="115022"/>
              </a:lnSpc>
              <a:spcBef>
                <a:spcPts val="0"/>
              </a:spcBef>
              <a:spcAft>
                <a:spcPts val="0"/>
              </a:spcAft>
              <a:buClr>
                <a:srgbClr val="35536B"/>
              </a:buClr>
              <a:buSzPts val="2250"/>
              <a:buFont typeface="Arial"/>
              <a:buNone/>
            </a:pPr>
            <a:r>
              <a:rPr b="1" i="0" lang="en-US" sz="2250">
                <a:solidFill>
                  <a:srgbClr val="35536B"/>
                </a:solidFill>
                <a:latin typeface="Arial"/>
                <a:ea typeface="Arial"/>
                <a:cs typeface="Arial"/>
                <a:sym typeface="Arial"/>
              </a:rPr>
              <a:t>Immobilized toads fire more strongly after the lesion</a:t>
            </a:r>
            <a:endParaRPr sz="1800">
              <a:solidFill>
                <a:schemeClr val="dk1"/>
              </a:solidFill>
              <a:latin typeface="Calibri"/>
              <a:ea typeface="Calibri"/>
              <a:cs typeface="Calibri"/>
              <a:sym typeface="Calibri"/>
            </a:endParaRPr>
          </a:p>
        </p:txBody>
      </p:sp>
      <p:sp>
        <p:nvSpPr>
          <p:cNvPr id="301" name="Google Shape;301;p21"/>
          <p:cNvSpPr/>
          <p:nvPr/>
        </p:nvSpPr>
        <p:spPr>
          <a:xfrm>
            <a:off x="457200" y="1071563"/>
            <a:ext cx="5695950" cy="955477"/>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3303A"/>
              </a:buClr>
              <a:buSzPts val="1425"/>
              <a:buFont typeface="Arial"/>
              <a:buNone/>
            </a:pPr>
            <a:r>
              <a:rPr b="0" i="0" lang="en-US" sz="1425">
                <a:solidFill>
                  <a:srgbClr val="23303A"/>
                </a:solidFill>
                <a:latin typeface="Arial"/>
                <a:ea typeface="Arial"/>
                <a:cs typeface="Arial"/>
                <a:sym typeface="Arial"/>
              </a:rPr>
              <a:t>In immobilized toads, Laming and Ewert compared responses of maintained T5(2) units before and after disruption of pretectal and dorsal thalamic connections. A worm-like rectangle moved at 22°/s through the unit’s visual receptive field.</a:t>
            </a:r>
            <a:endParaRPr sz="1800">
              <a:solidFill>
                <a:schemeClr val="dk1"/>
              </a:solidFill>
              <a:latin typeface="Calibri"/>
              <a:ea typeface="Calibri"/>
              <a:cs typeface="Calibri"/>
              <a:sym typeface="Calibri"/>
            </a:endParaRPr>
          </a:p>
        </p:txBody>
      </p:sp>
      <p:sp>
        <p:nvSpPr>
          <p:cNvPr id="302" name="Google Shape;302;p21"/>
          <p:cNvSpPr/>
          <p:nvPr/>
        </p:nvSpPr>
        <p:spPr>
          <a:xfrm>
            <a:off x="457200" y="2179439"/>
            <a:ext cx="5695950" cy="1194346"/>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3303A"/>
              </a:buClr>
              <a:buSzPts val="1425"/>
              <a:buFont typeface="Arial"/>
              <a:buNone/>
            </a:pPr>
            <a:r>
              <a:rPr b="0" i="0" lang="en-US" sz="1425">
                <a:solidFill>
                  <a:srgbClr val="23303A"/>
                </a:solidFill>
                <a:latin typeface="Arial"/>
                <a:ea typeface="Arial"/>
                <a:cs typeface="Arial"/>
                <a:sym typeface="Arial"/>
              </a:rPr>
              <a:t>The reported response frequency increased from approximately 16.1 to 39.4 spikes/s, and the response duration increased from approximately 0.96 to 1.54 seconds. Some fields expanded from approximately 20–25° to 40–60°. The lesion therefore changed both the strength and spatial extent of effective visual input.</a:t>
            </a:r>
            <a:endParaRPr sz="1800">
              <a:solidFill>
                <a:schemeClr val="dk1"/>
              </a:solidFill>
              <a:latin typeface="Calibri"/>
              <a:ea typeface="Calibri"/>
              <a:cs typeface="Calibri"/>
              <a:sym typeface="Calibri"/>
            </a:endParaRPr>
          </a:p>
        </p:txBody>
      </p:sp>
      <p:sp>
        <p:nvSpPr>
          <p:cNvPr id="303" name="Google Shape;303;p21"/>
          <p:cNvSpPr/>
          <p:nvPr/>
        </p:nvSpPr>
        <p:spPr>
          <a:xfrm>
            <a:off x="457200" y="3526185"/>
            <a:ext cx="5695950" cy="1194346"/>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3303A"/>
              </a:buClr>
              <a:buSzPts val="1425"/>
              <a:buFont typeface="Arial"/>
              <a:buNone/>
            </a:pPr>
            <a:r>
              <a:rPr b="0" i="0" lang="en-US" sz="1425">
                <a:solidFill>
                  <a:srgbClr val="23303A"/>
                </a:solidFill>
                <a:latin typeface="Arial"/>
                <a:ea typeface="Arial"/>
                <a:cs typeface="Arial"/>
                <a:sym typeface="Arial"/>
              </a:rPr>
              <a:t>These measurements support removal of a restraining influence on tectal responsiveness. Because the toad was immobilized, the increases are not simply the consequence of additional prey-catching movements during the recording, but the precise inhibitory connection remains unresolved.</a:t>
            </a:r>
            <a:endParaRPr sz="1800">
              <a:solidFill>
                <a:schemeClr val="dk1"/>
              </a:solidFill>
              <a:latin typeface="Calibri"/>
              <a:ea typeface="Calibri"/>
              <a:cs typeface="Calibri"/>
              <a:sym typeface="Calibri"/>
            </a:endParaRPr>
          </a:p>
        </p:txBody>
      </p:sp>
      <p:pic>
        <p:nvPicPr>
          <p:cNvPr id="304" name="Google Shape;304;p21"/>
          <p:cNvPicPr preferRelativeResize="0"/>
          <p:nvPr/>
        </p:nvPicPr>
        <p:blipFill rotWithShape="1">
          <a:blip r:embed="rId3">
            <a:alphaModFix/>
          </a:blip>
          <a:srcRect b="0" l="0" r="0" t="0"/>
          <a:stretch/>
        </p:blipFill>
        <p:spPr>
          <a:xfrm>
            <a:off x="6477000" y="1071563"/>
            <a:ext cx="3505200" cy="2427344"/>
          </a:xfrm>
          <a:prstGeom prst="rect">
            <a:avLst/>
          </a:prstGeom>
          <a:noFill/>
          <a:ln>
            <a:noFill/>
          </a:ln>
        </p:spPr>
      </p:pic>
      <p:sp>
        <p:nvSpPr>
          <p:cNvPr id="305" name="Google Shape;305;p21"/>
          <p:cNvSpPr/>
          <p:nvPr/>
        </p:nvSpPr>
        <p:spPr>
          <a:xfrm>
            <a:off x="6477000" y="5319713"/>
            <a:ext cx="3524250" cy="285750"/>
          </a:xfrm>
          <a:prstGeom prst="rect">
            <a:avLst/>
          </a:prstGeom>
          <a:noFill/>
          <a:ln>
            <a:noFill/>
          </a:ln>
        </p:spPr>
        <p:txBody>
          <a:bodyPr anchorCtr="0" anchor="t" bIns="0" lIns="0" spcFirstLastPara="1" rIns="0" wrap="square" tIns="0">
            <a:normAutofit/>
          </a:bodyPr>
          <a:lstStyle/>
          <a:p>
            <a:pPr indent="0" lvl="0" marL="0" marR="0" rtl="0" algn="l">
              <a:lnSpc>
                <a:spcPct val="125000"/>
              </a:lnSpc>
              <a:spcBef>
                <a:spcPts val="0"/>
              </a:spcBef>
              <a:spcAft>
                <a:spcPts val="0"/>
              </a:spcAft>
              <a:buClr>
                <a:srgbClr val="23303A"/>
              </a:buClr>
              <a:buSzPts val="900"/>
              <a:buFont typeface="Arial"/>
              <a:buNone/>
            </a:pPr>
            <a:r>
              <a:rPr b="0" i="0" lang="en-US" sz="900">
                <a:solidFill>
                  <a:srgbClr val="23303A"/>
                </a:solidFill>
                <a:latin typeface="Arial"/>
                <a:ea typeface="Arial"/>
                <a:cs typeface="Arial"/>
                <a:sym typeface="Arial"/>
              </a:rPr>
              <a:t>Laming &amp; Ewert (1983), Fig. 2(A–B). Unit, EEG and slow potentials before and after lesion.</a:t>
            </a:r>
            <a:endParaRPr sz="1800">
              <a:solidFill>
                <a:schemeClr val="dk1"/>
              </a:solidFill>
              <a:latin typeface="Calibri"/>
              <a:ea typeface="Calibri"/>
              <a:cs typeface="Calibri"/>
              <a:sym typeface="Calibri"/>
            </a:endParaRPr>
          </a:p>
        </p:txBody>
      </p:sp>
      <p:pic>
        <p:nvPicPr>
          <p:cNvPr id="306" name="Google Shape;306;p21"/>
          <p:cNvPicPr preferRelativeResize="0"/>
          <p:nvPr/>
        </p:nvPicPr>
        <p:blipFill rotWithShape="1">
          <a:blip r:embed="rId4">
            <a:alphaModFix/>
          </a:blip>
          <a:srcRect b="0" l="0" r="0" t="0"/>
          <a:stretch/>
        </p:blipFill>
        <p:spPr>
          <a:xfrm>
            <a:off x="10338660" y="1681163"/>
            <a:ext cx="1192081" cy="3333750"/>
          </a:xfrm>
          <a:prstGeom prst="rect">
            <a:avLst/>
          </a:prstGeom>
          <a:noFill/>
          <a:ln>
            <a:noFill/>
          </a:ln>
        </p:spPr>
      </p:pic>
      <p:sp>
        <p:nvSpPr>
          <p:cNvPr id="307" name="Google Shape;307;p21"/>
          <p:cNvSpPr/>
          <p:nvPr/>
        </p:nvSpPr>
        <p:spPr>
          <a:xfrm>
            <a:off x="10134600" y="5091113"/>
            <a:ext cx="1619250" cy="285750"/>
          </a:xfrm>
          <a:prstGeom prst="rect">
            <a:avLst/>
          </a:prstGeom>
          <a:noFill/>
          <a:ln>
            <a:noFill/>
          </a:ln>
        </p:spPr>
        <p:txBody>
          <a:bodyPr anchorCtr="0" anchor="t" bIns="0" lIns="0" spcFirstLastPara="1" rIns="0" wrap="square" tIns="0">
            <a:normAutofit/>
          </a:bodyPr>
          <a:lstStyle/>
          <a:p>
            <a:pPr indent="0" lvl="0" marL="0" marR="0" rtl="0" algn="l">
              <a:lnSpc>
                <a:spcPct val="125000"/>
              </a:lnSpc>
              <a:spcBef>
                <a:spcPts val="0"/>
              </a:spcBef>
              <a:spcAft>
                <a:spcPts val="0"/>
              </a:spcAft>
              <a:buClr>
                <a:srgbClr val="23303A"/>
              </a:buClr>
              <a:buSzPts val="900"/>
              <a:buFont typeface="Arial"/>
              <a:buNone/>
            </a:pPr>
            <a:r>
              <a:rPr b="0" i="0" lang="en-US" sz="900">
                <a:solidFill>
                  <a:srgbClr val="23303A"/>
                </a:solidFill>
                <a:latin typeface="Arial"/>
                <a:ea typeface="Arial"/>
                <a:cs typeface="Arial"/>
                <a:sym typeface="Arial"/>
              </a:rPr>
              <a:t>Laming &amp; Ewert (1983), Fig. 3(A–C). Lesion sites (1 mm).</a:t>
            </a:r>
            <a:endParaRPr sz="1800">
              <a:solidFill>
                <a:schemeClr val="dk1"/>
              </a:solidFill>
              <a:latin typeface="Calibri"/>
              <a:ea typeface="Calibri"/>
              <a:cs typeface="Calibri"/>
              <a:sym typeface="Calibri"/>
            </a:endParaRPr>
          </a:p>
        </p:txBody>
      </p:sp>
      <p:pic>
        <p:nvPicPr>
          <p:cNvPr id="308" name="Google Shape;308;p21"/>
          <p:cNvPicPr preferRelativeResize="0"/>
          <p:nvPr/>
        </p:nvPicPr>
        <p:blipFill rotWithShape="1">
          <a:blip r:embed="rId5">
            <a:alphaModFix/>
          </a:blip>
          <a:srcRect b="0" l="0" r="0" t="0"/>
          <a:stretch/>
        </p:blipFill>
        <p:spPr>
          <a:xfrm>
            <a:off x="457200" y="6405563"/>
            <a:ext cx="11277600" cy="242888"/>
          </a:xfrm>
          <a:prstGeom prst="rect">
            <a:avLst/>
          </a:prstGeom>
          <a:noFill/>
          <a:ln>
            <a:noFill/>
          </a:ln>
        </p:spPr>
      </p:pic>
      <p:sp>
        <p:nvSpPr>
          <p:cNvPr id="309" name="Google Shape;309;p21"/>
          <p:cNvSpPr/>
          <p:nvPr/>
        </p:nvSpPr>
        <p:spPr>
          <a:xfrm>
            <a:off x="457200" y="6491288"/>
            <a:ext cx="1128861" cy="157163"/>
          </a:xfrm>
          <a:prstGeom prst="rect">
            <a:avLst/>
          </a:prstGeom>
          <a:noFill/>
          <a:ln>
            <a:noFill/>
          </a:ln>
        </p:spPr>
        <p:txBody>
          <a:bodyPr anchorCtr="0" anchor="t" bIns="0" lIns="0" spcFirstLastPara="1" rIns="0" wrap="square" tIns="0">
            <a:normAutofit/>
          </a:bodyPr>
          <a:lstStyle/>
          <a:p>
            <a:pPr indent="0" lvl="0" marL="0" marR="0" rtl="0" algn="l">
              <a:lnSpc>
                <a:spcPct val="150060"/>
              </a:lnSpc>
              <a:spcBef>
                <a:spcPts val="0"/>
              </a:spcBef>
              <a:spcAft>
                <a:spcPts val="0"/>
              </a:spcAft>
              <a:buClr>
                <a:srgbClr val="5F6E7A"/>
              </a:buClr>
              <a:buSzPts val="825"/>
              <a:buFont typeface="Arial"/>
              <a:buNone/>
            </a:pPr>
            <a:r>
              <a:rPr b="0" i="0" lang="en-US" sz="825">
                <a:solidFill>
                  <a:srgbClr val="5F6E7A"/>
                </a:solidFill>
                <a:latin typeface="Arial"/>
                <a:ea typeface="Arial"/>
                <a:cs typeface="Arial"/>
                <a:sym typeface="Arial"/>
              </a:rPr>
              <a:t>Laming &amp; Ewert (1983)</a:t>
            </a:r>
            <a:endParaRPr sz="1800">
              <a:solidFill>
                <a:schemeClr val="dk1"/>
              </a:solidFill>
              <a:latin typeface="Calibri"/>
              <a:ea typeface="Calibri"/>
              <a:cs typeface="Calibri"/>
              <a:sym typeface="Calibri"/>
            </a:endParaRPr>
          </a:p>
        </p:txBody>
      </p:sp>
      <p:sp>
        <p:nvSpPr>
          <p:cNvPr id="310" name="Google Shape;310;p21"/>
          <p:cNvSpPr/>
          <p:nvPr/>
        </p:nvSpPr>
        <p:spPr>
          <a:xfrm>
            <a:off x="11614845" y="6491288"/>
            <a:ext cx="139005" cy="157163"/>
          </a:xfrm>
          <a:prstGeom prst="rect">
            <a:avLst/>
          </a:prstGeom>
          <a:noFill/>
          <a:ln>
            <a:noFill/>
          </a:ln>
        </p:spPr>
        <p:txBody>
          <a:bodyPr anchorCtr="0" anchor="t" bIns="0" lIns="0" spcFirstLastPara="1" rIns="0" wrap="square" tIns="0">
            <a:normAutofit/>
          </a:bodyPr>
          <a:lstStyle/>
          <a:p>
            <a:pPr indent="0" lvl="0" marL="0" marR="0" rtl="0" algn="l">
              <a:lnSpc>
                <a:spcPct val="150060"/>
              </a:lnSpc>
              <a:spcBef>
                <a:spcPts val="0"/>
              </a:spcBef>
              <a:spcAft>
                <a:spcPts val="0"/>
              </a:spcAft>
              <a:buClr>
                <a:srgbClr val="5F6E7A"/>
              </a:buClr>
              <a:buSzPts val="825"/>
              <a:buFont typeface="Arial"/>
              <a:buNone/>
            </a:pPr>
            <a:r>
              <a:rPr b="0" i="0" lang="en-US" sz="825">
                <a:solidFill>
                  <a:srgbClr val="5F6E7A"/>
                </a:solidFill>
                <a:latin typeface="Arial"/>
                <a:ea typeface="Arial"/>
                <a:cs typeface="Arial"/>
                <a:sym typeface="Arial"/>
              </a:rPr>
              <a:t>21</a:t>
            </a:r>
            <a:endParaRPr sz="1800">
              <a:solidFill>
                <a:schemeClr val="dk1"/>
              </a:solidFill>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14" name="Shape 314"/>
        <p:cNvGrpSpPr/>
        <p:nvPr/>
      </p:nvGrpSpPr>
      <p:grpSpPr>
        <a:xfrm>
          <a:off x="0" y="0"/>
          <a:ext cx="0" cy="0"/>
          <a:chOff x="0" y="0"/>
          <a:chExt cx="0" cy="0"/>
        </a:xfrm>
      </p:grpSpPr>
      <p:sp>
        <p:nvSpPr>
          <p:cNvPr id="315" name="Google Shape;315;p22"/>
          <p:cNvSpPr/>
          <p:nvPr/>
        </p:nvSpPr>
        <p:spPr>
          <a:xfrm>
            <a:off x="457200" y="457200"/>
            <a:ext cx="11296650" cy="328613"/>
          </a:xfrm>
          <a:prstGeom prst="rect">
            <a:avLst/>
          </a:prstGeom>
          <a:noFill/>
          <a:ln>
            <a:noFill/>
          </a:ln>
        </p:spPr>
        <p:txBody>
          <a:bodyPr anchorCtr="0" anchor="t" bIns="0" lIns="0" spcFirstLastPara="1" rIns="0" wrap="square" tIns="0">
            <a:normAutofit/>
          </a:bodyPr>
          <a:lstStyle/>
          <a:p>
            <a:pPr indent="0" lvl="0" marL="0" marR="0" rtl="0" algn="l">
              <a:lnSpc>
                <a:spcPct val="115022"/>
              </a:lnSpc>
              <a:spcBef>
                <a:spcPts val="0"/>
              </a:spcBef>
              <a:spcAft>
                <a:spcPts val="0"/>
              </a:spcAft>
              <a:buClr>
                <a:srgbClr val="35536B"/>
              </a:buClr>
              <a:buSzPts val="2250"/>
              <a:buFont typeface="Arial"/>
              <a:buNone/>
            </a:pPr>
            <a:r>
              <a:rPr b="1" i="0" lang="en-US" sz="2250">
                <a:solidFill>
                  <a:srgbClr val="35536B"/>
                </a:solidFill>
                <a:latin typeface="Arial"/>
                <a:ea typeface="Arial"/>
                <a:cs typeface="Arial"/>
                <a:sym typeface="Arial"/>
              </a:rPr>
              <a:t>Population potentials can shrink while spikes increase</a:t>
            </a:r>
            <a:endParaRPr sz="1800">
              <a:solidFill>
                <a:schemeClr val="dk1"/>
              </a:solidFill>
              <a:latin typeface="Calibri"/>
              <a:ea typeface="Calibri"/>
              <a:cs typeface="Calibri"/>
              <a:sym typeface="Calibri"/>
            </a:endParaRPr>
          </a:p>
        </p:txBody>
      </p:sp>
      <p:sp>
        <p:nvSpPr>
          <p:cNvPr id="316" name="Google Shape;316;p22"/>
          <p:cNvSpPr/>
          <p:nvPr/>
        </p:nvSpPr>
        <p:spPr>
          <a:xfrm>
            <a:off x="457200" y="1071563"/>
            <a:ext cx="5695950" cy="1194346"/>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3303A"/>
              </a:buClr>
              <a:buSzPts val="1425"/>
              <a:buFont typeface="Arial"/>
              <a:buNone/>
            </a:pPr>
            <a:r>
              <a:rPr b="0" i="0" lang="en-US" sz="1425">
                <a:solidFill>
                  <a:srgbClr val="23303A"/>
                </a:solidFill>
                <a:latin typeface="Arial"/>
                <a:ea typeface="Arial"/>
                <a:cs typeface="Arial"/>
                <a:sym typeface="Arial"/>
              </a:rPr>
              <a:t>In the same immobilized preparations, pretectal lesions increased the frequency and duration of tectal unit responses but reduced the amplitude of sustained potential shifts and EEG responses. The measurements diverged despite being collected during the same kind of visual stimulation.</a:t>
            </a:r>
            <a:endParaRPr sz="1800">
              <a:solidFill>
                <a:schemeClr val="dk1"/>
              </a:solidFill>
              <a:latin typeface="Calibri"/>
              <a:ea typeface="Calibri"/>
              <a:cs typeface="Calibri"/>
              <a:sym typeface="Calibri"/>
            </a:endParaRPr>
          </a:p>
        </p:txBody>
      </p:sp>
      <p:sp>
        <p:nvSpPr>
          <p:cNvPr id="317" name="Google Shape;317;p22"/>
          <p:cNvSpPr/>
          <p:nvPr/>
        </p:nvSpPr>
        <p:spPr>
          <a:xfrm>
            <a:off x="457200" y="2418308"/>
            <a:ext cx="5695950" cy="1433215"/>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3303A"/>
              </a:buClr>
              <a:buSzPts val="1425"/>
              <a:buFont typeface="Arial"/>
              <a:buNone/>
            </a:pPr>
            <a:r>
              <a:rPr b="0" i="0" lang="en-US" sz="1425">
                <a:solidFill>
                  <a:srgbClr val="23303A"/>
                </a:solidFill>
                <a:latin typeface="Arial"/>
                <a:ea typeface="Arial"/>
                <a:cs typeface="Arial"/>
                <a:sym typeface="Arial"/>
              </a:rPr>
              <a:t>An extracellular population field depends on the location, timing and orientation of contributing currents. It is therefore possible for a recorded unit to produce more spikes while the aggregate voltage change becomes smaller. The wider 0–50 Hz EEG and the 14–18 Hz band provide population measurements rather than unit counts.</a:t>
            </a:r>
            <a:endParaRPr sz="1800">
              <a:solidFill>
                <a:schemeClr val="dk1"/>
              </a:solidFill>
              <a:latin typeface="Calibri"/>
              <a:ea typeface="Calibri"/>
              <a:cs typeface="Calibri"/>
              <a:sym typeface="Calibri"/>
            </a:endParaRPr>
          </a:p>
        </p:txBody>
      </p:sp>
      <p:sp>
        <p:nvSpPr>
          <p:cNvPr id="318" name="Google Shape;318;p22"/>
          <p:cNvSpPr/>
          <p:nvPr/>
        </p:nvSpPr>
        <p:spPr>
          <a:xfrm>
            <a:off x="457200" y="4003923"/>
            <a:ext cx="5695950" cy="955477"/>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3303A"/>
              </a:buClr>
              <a:buSzPts val="1425"/>
              <a:buFont typeface="Arial"/>
              <a:buNone/>
            </a:pPr>
            <a:r>
              <a:rPr b="0" i="0" lang="en-US" sz="1425">
                <a:solidFill>
                  <a:srgbClr val="23303A"/>
                </a:solidFill>
                <a:latin typeface="Arial"/>
                <a:ea typeface="Arial"/>
                <a:cs typeface="Arial"/>
                <a:sym typeface="Arial"/>
              </a:rPr>
              <a:t>The experiment rejects a simple equivalence between field amplitude and neuronal excitation. It does not independently establish which changes in synchrony, current geometry or ionic redistribution caused the reduced population signals.</a:t>
            </a:r>
            <a:endParaRPr sz="1800">
              <a:solidFill>
                <a:schemeClr val="dk1"/>
              </a:solidFill>
              <a:latin typeface="Calibri"/>
              <a:ea typeface="Calibri"/>
              <a:cs typeface="Calibri"/>
              <a:sym typeface="Calibri"/>
            </a:endParaRPr>
          </a:p>
        </p:txBody>
      </p:sp>
      <p:pic>
        <p:nvPicPr>
          <p:cNvPr id="319" name="Google Shape;319;p22"/>
          <p:cNvPicPr preferRelativeResize="0"/>
          <p:nvPr/>
        </p:nvPicPr>
        <p:blipFill rotWithShape="1">
          <a:blip r:embed="rId3">
            <a:alphaModFix/>
          </a:blip>
          <a:srcRect b="0" l="0" r="0" t="0"/>
          <a:stretch/>
        </p:blipFill>
        <p:spPr>
          <a:xfrm>
            <a:off x="6477000" y="1071563"/>
            <a:ext cx="3505200" cy="2427344"/>
          </a:xfrm>
          <a:prstGeom prst="rect">
            <a:avLst/>
          </a:prstGeom>
          <a:noFill/>
          <a:ln>
            <a:noFill/>
          </a:ln>
        </p:spPr>
      </p:pic>
      <p:sp>
        <p:nvSpPr>
          <p:cNvPr id="320" name="Google Shape;320;p22"/>
          <p:cNvSpPr/>
          <p:nvPr/>
        </p:nvSpPr>
        <p:spPr>
          <a:xfrm>
            <a:off x="6477000" y="5319713"/>
            <a:ext cx="3524250" cy="285750"/>
          </a:xfrm>
          <a:prstGeom prst="rect">
            <a:avLst/>
          </a:prstGeom>
          <a:noFill/>
          <a:ln>
            <a:noFill/>
          </a:ln>
        </p:spPr>
        <p:txBody>
          <a:bodyPr anchorCtr="0" anchor="t" bIns="0" lIns="0" spcFirstLastPara="1" rIns="0" wrap="square" tIns="0">
            <a:normAutofit/>
          </a:bodyPr>
          <a:lstStyle/>
          <a:p>
            <a:pPr indent="0" lvl="0" marL="0" marR="0" rtl="0" algn="l">
              <a:lnSpc>
                <a:spcPct val="125000"/>
              </a:lnSpc>
              <a:spcBef>
                <a:spcPts val="0"/>
              </a:spcBef>
              <a:spcAft>
                <a:spcPts val="0"/>
              </a:spcAft>
              <a:buClr>
                <a:srgbClr val="23303A"/>
              </a:buClr>
              <a:buSzPts val="900"/>
              <a:buFont typeface="Arial"/>
              <a:buNone/>
            </a:pPr>
            <a:r>
              <a:rPr b="0" i="0" lang="en-US" sz="900">
                <a:solidFill>
                  <a:srgbClr val="23303A"/>
                </a:solidFill>
                <a:latin typeface="Arial"/>
                <a:ea typeface="Arial"/>
                <a:cs typeface="Arial"/>
                <a:sym typeface="Arial"/>
              </a:rPr>
              <a:t>Laming &amp; Ewert (1983), Fig. 2(A–B). Unit, EEG and slow potentials before and after lesion.</a:t>
            </a:r>
            <a:endParaRPr sz="1800">
              <a:solidFill>
                <a:schemeClr val="dk1"/>
              </a:solidFill>
              <a:latin typeface="Calibri"/>
              <a:ea typeface="Calibri"/>
              <a:cs typeface="Calibri"/>
              <a:sym typeface="Calibri"/>
            </a:endParaRPr>
          </a:p>
        </p:txBody>
      </p:sp>
      <p:pic>
        <p:nvPicPr>
          <p:cNvPr id="321" name="Google Shape;321;p22"/>
          <p:cNvPicPr preferRelativeResize="0"/>
          <p:nvPr/>
        </p:nvPicPr>
        <p:blipFill rotWithShape="1">
          <a:blip r:embed="rId4">
            <a:alphaModFix/>
          </a:blip>
          <a:srcRect b="0" l="0" r="0" t="0"/>
          <a:stretch/>
        </p:blipFill>
        <p:spPr>
          <a:xfrm>
            <a:off x="10338660" y="1681163"/>
            <a:ext cx="1192081" cy="3333750"/>
          </a:xfrm>
          <a:prstGeom prst="rect">
            <a:avLst/>
          </a:prstGeom>
          <a:noFill/>
          <a:ln>
            <a:noFill/>
          </a:ln>
        </p:spPr>
      </p:pic>
      <p:sp>
        <p:nvSpPr>
          <p:cNvPr id="322" name="Google Shape;322;p22"/>
          <p:cNvSpPr/>
          <p:nvPr/>
        </p:nvSpPr>
        <p:spPr>
          <a:xfrm>
            <a:off x="10134600" y="5091113"/>
            <a:ext cx="1619250" cy="285750"/>
          </a:xfrm>
          <a:prstGeom prst="rect">
            <a:avLst/>
          </a:prstGeom>
          <a:noFill/>
          <a:ln>
            <a:noFill/>
          </a:ln>
        </p:spPr>
        <p:txBody>
          <a:bodyPr anchorCtr="0" anchor="t" bIns="0" lIns="0" spcFirstLastPara="1" rIns="0" wrap="square" tIns="0">
            <a:normAutofit/>
          </a:bodyPr>
          <a:lstStyle/>
          <a:p>
            <a:pPr indent="0" lvl="0" marL="0" marR="0" rtl="0" algn="l">
              <a:lnSpc>
                <a:spcPct val="125000"/>
              </a:lnSpc>
              <a:spcBef>
                <a:spcPts val="0"/>
              </a:spcBef>
              <a:spcAft>
                <a:spcPts val="0"/>
              </a:spcAft>
              <a:buClr>
                <a:srgbClr val="23303A"/>
              </a:buClr>
              <a:buSzPts val="900"/>
              <a:buFont typeface="Arial"/>
              <a:buNone/>
            </a:pPr>
            <a:r>
              <a:rPr b="0" i="0" lang="en-US" sz="900">
                <a:solidFill>
                  <a:srgbClr val="23303A"/>
                </a:solidFill>
                <a:latin typeface="Arial"/>
                <a:ea typeface="Arial"/>
                <a:cs typeface="Arial"/>
                <a:sym typeface="Arial"/>
              </a:rPr>
              <a:t>Laming &amp; Ewert (1983), Fig. 3(A–C). Lesion sites (1 mm).</a:t>
            </a:r>
            <a:endParaRPr sz="1800">
              <a:solidFill>
                <a:schemeClr val="dk1"/>
              </a:solidFill>
              <a:latin typeface="Calibri"/>
              <a:ea typeface="Calibri"/>
              <a:cs typeface="Calibri"/>
              <a:sym typeface="Calibri"/>
            </a:endParaRPr>
          </a:p>
        </p:txBody>
      </p:sp>
      <p:pic>
        <p:nvPicPr>
          <p:cNvPr id="323" name="Google Shape;323;p22"/>
          <p:cNvPicPr preferRelativeResize="0"/>
          <p:nvPr/>
        </p:nvPicPr>
        <p:blipFill rotWithShape="1">
          <a:blip r:embed="rId5">
            <a:alphaModFix/>
          </a:blip>
          <a:srcRect b="0" l="0" r="0" t="0"/>
          <a:stretch/>
        </p:blipFill>
        <p:spPr>
          <a:xfrm>
            <a:off x="457200" y="6405563"/>
            <a:ext cx="11277600" cy="242888"/>
          </a:xfrm>
          <a:prstGeom prst="rect">
            <a:avLst/>
          </a:prstGeom>
          <a:noFill/>
          <a:ln>
            <a:noFill/>
          </a:ln>
        </p:spPr>
      </p:pic>
      <p:sp>
        <p:nvSpPr>
          <p:cNvPr id="324" name="Google Shape;324;p22"/>
          <p:cNvSpPr/>
          <p:nvPr/>
        </p:nvSpPr>
        <p:spPr>
          <a:xfrm>
            <a:off x="457200" y="6491288"/>
            <a:ext cx="1128861" cy="157163"/>
          </a:xfrm>
          <a:prstGeom prst="rect">
            <a:avLst/>
          </a:prstGeom>
          <a:noFill/>
          <a:ln>
            <a:noFill/>
          </a:ln>
        </p:spPr>
        <p:txBody>
          <a:bodyPr anchorCtr="0" anchor="t" bIns="0" lIns="0" spcFirstLastPara="1" rIns="0" wrap="square" tIns="0">
            <a:normAutofit/>
          </a:bodyPr>
          <a:lstStyle/>
          <a:p>
            <a:pPr indent="0" lvl="0" marL="0" marR="0" rtl="0" algn="l">
              <a:lnSpc>
                <a:spcPct val="150060"/>
              </a:lnSpc>
              <a:spcBef>
                <a:spcPts val="0"/>
              </a:spcBef>
              <a:spcAft>
                <a:spcPts val="0"/>
              </a:spcAft>
              <a:buClr>
                <a:srgbClr val="5F6E7A"/>
              </a:buClr>
              <a:buSzPts val="825"/>
              <a:buFont typeface="Arial"/>
              <a:buNone/>
            </a:pPr>
            <a:r>
              <a:rPr b="0" i="0" lang="en-US" sz="825">
                <a:solidFill>
                  <a:srgbClr val="5F6E7A"/>
                </a:solidFill>
                <a:latin typeface="Arial"/>
                <a:ea typeface="Arial"/>
                <a:cs typeface="Arial"/>
                <a:sym typeface="Arial"/>
              </a:rPr>
              <a:t>Laming &amp; Ewert (1983)</a:t>
            </a:r>
            <a:endParaRPr sz="1800">
              <a:solidFill>
                <a:schemeClr val="dk1"/>
              </a:solidFill>
              <a:latin typeface="Calibri"/>
              <a:ea typeface="Calibri"/>
              <a:cs typeface="Calibri"/>
              <a:sym typeface="Calibri"/>
            </a:endParaRPr>
          </a:p>
        </p:txBody>
      </p:sp>
      <p:sp>
        <p:nvSpPr>
          <p:cNvPr id="325" name="Google Shape;325;p22"/>
          <p:cNvSpPr/>
          <p:nvPr/>
        </p:nvSpPr>
        <p:spPr>
          <a:xfrm>
            <a:off x="11614845" y="6491288"/>
            <a:ext cx="139005" cy="157163"/>
          </a:xfrm>
          <a:prstGeom prst="rect">
            <a:avLst/>
          </a:prstGeom>
          <a:noFill/>
          <a:ln>
            <a:noFill/>
          </a:ln>
        </p:spPr>
        <p:txBody>
          <a:bodyPr anchorCtr="0" anchor="t" bIns="0" lIns="0" spcFirstLastPara="1" rIns="0" wrap="square" tIns="0">
            <a:normAutofit/>
          </a:bodyPr>
          <a:lstStyle/>
          <a:p>
            <a:pPr indent="0" lvl="0" marL="0" marR="0" rtl="0" algn="l">
              <a:lnSpc>
                <a:spcPct val="150060"/>
              </a:lnSpc>
              <a:spcBef>
                <a:spcPts val="0"/>
              </a:spcBef>
              <a:spcAft>
                <a:spcPts val="0"/>
              </a:spcAft>
              <a:buClr>
                <a:srgbClr val="5F6E7A"/>
              </a:buClr>
              <a:buSzPts val="825"/>
              <a:buFont typeface="Arial"/>
              <a:buNone/>
            </a:pPr>
            <a:r>
              <a:rPr b="0" i="0" lang="en-US" sz="825">
                <a:solidFill>
                  <a:srgbClr val="5F6E7A"/>
                </a:solidFill>
                <a:latin typeface="Arial"/>
                <a:ea typeface="Arial"/>
                <a:cs typeface="Arial"/>
                <a:sym typeface="Arial"/>
              </a:rPr>
              <a:t>22</a:t>
            </a:r>
            <a:endParaRPr sz="1800">
              <a:solidFill>
                <a:schemeClr val="dk1"/>
              </a:solidFill>
              <a:latin typeface="Calibri"/>
              <a:ea typeface="Calibri"/>
              <a:cs typeface="Calibri"/>
              <a:sym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29" name="Shape 329"/>
        <p:cNvGrpSpPr/>
        <p:nvPr/>
      </p:nvGrpSpPr>
      <p:grpSpPr>
        <a:xfrm>
          <a:off x="0" y="0"/>
          <a:ext cx="0" cy="0"/>
          <a:chOff x="0" y="0"/>
          <a:chExt cx="0" cy="0"/>
        </a:xfrm>
      </p:grpSpPr>
      <p:sp>
        <p:nvSpPr>
          <p:cNvPr id="330" name="Google Shape;330;p23"/>
          <p:cNvSpPr/>
          <p:nvPr/>
        </p:nvSpPr>
        <p:spPr>
          <a:xfrm>
            <a:off x="457200" y="457200"/>
            <a:ext cx="11296650" cy="328613"/>
          </a:xfrm>
          <a:prstGeom prst="rect">
            <a:avLst/>
          </a:prstGeom>
          <a:noFill/>
          <a:ln>
            <a:noFill/>
          </a:ln>
        </p:spPr>
        <p:txBody>
          <a:bodyPr anchorCtr="0" anchor="t" bIns="0" lIns="0" spcFirstLastPara="1" rIns="0" wrap="square" tIns="0">
            <a:normAutofit/>
          </a:bodyPr>
          <a:lstStyle/>
          <a:p>
            <a:pPr indent="0" lvl="0" marL="0" marR="0" rtl="0" algn="l">
              <a:lnSpc>
                <a:spcPct val="115022"/>
              </a:lnSpc>
              <a:spcBef>
                <a:spcPts val="0"/>
              </a:spcBef>
              <a:spcAft>
                <a:spcPts val="0"/>
              </a:spcAft>
              <a:buClr>
                <a:srgbClr val="35536B"/>
              </a:buClr>
              <a:buSzPts val="2250"/>
              <a:buFont typeface="Arial"/>
              <a:buNone/>
            </a:pPr>
            <a:r>
              <a:rPr b="1" i="0" lang="en-US" sz="2250">
                <a:solidFill>
                  <a:srgbClr val="35536B"/>
                </a:solidFill>
                <a:latin typeface="Arial"/>
                <a:ea typeface="Arial"/>
                <a:cs typeface="Arial"/>
                <a:sym typeface="Arial"/>
              </a:rPr>
              <a:t>Freely moving toads mainly prolong the response</a:t>
            </a:r>
            <a:endParaRPr sz="1800">
              <a:solidFill>
                <a:schemeClr val="dk1"/>
              </a:solidFill>
              <a:latin typeface="Calibri"/>
              <a:ea typeface="Calibri"/>
              <a:cs typeface="Calibri"/>
              <a:sym typeface="Calibri"/>
            </a:endParaRPr>
          </a:p>
        </p:txBody>
      </p:sp>
      <p:sp>
        <p:nvSpPr>
          <p:cNvPr id="331" name="Google Shape;331;p23"/>
          <p:cNvSpPr/>
          <p:nvPr/>
        </p:nvSpPr>
        <p:spPr>
          <a:xfrm>
            <a:off x="457200" y="1071563"/>
            <a:ext cx="5695950" cy="1194346"/>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3303A"/>
              </a:buClr>
              <a:buSzPts val="1425"/>
              <a:buFont typeface="Arial"/>
              <a:buNone/>
            </a:pPr>
            <a:r>
              <a:rPr b="0" i="0" lang="en-US" sz="1425">
                <a:solidFill>
                  <a:srgbClr val="23303A"/>
                </a:solidFill>
                <a:latin typeface="Arial"/>
                <a:ea typeface="Arial"/>
                <a:cs typeface="Arial"/>
                <a:sym typeface="Arial"/>
              </a:rPr>
              <a:t>Laming and Ewert also used chronically mounted electrodes in freely moving toads. In animals whose lesions produced disinhibited prey-catching, they compared responses to worm-like and antiworm objects while behavior was available rather than prevented.</a:t>
            </a:r>
            <a:endParaRPr sz="1800">
              <a:solidFill>
                <a:schemeClr val="dk1"/>
              </a:solidFill>
              <a:latin typeface="Calibri"/>
              <a:ea typeface="Calibri"/>
              <a:cs typeface="Calibri"/>
              <a:sym typeface="Calibri"/>
            </a:endParaRPr>
          </a:p>
        </p:txBody>
      </p:sp>
      <p:sp>
        <p:nvSpPr>
          <p:cNvPr id="332" name="Google Shape;332;p23"/>
          <p:cNvSpPr/>
          <p:nvPr/>
        </p:nvSpPr>
        <p:spPr>
          <a:xfrm>
            <a:off x="457200" y="2418308"/>
            <a:ext cx="5695950" cy="1194346"/>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3303A"/>
              </a:buClr>
              <a:buSzPts val="1425"/>
              <a:buFont typeface="Arial"/>
              <a:buNone/>
            </a:pPr>
            <a:r>
              <a:rPr b="0" i="0" lang="en-US" sz="1425">
                <a:solidFill>
                  <a:srgbClr val="23303A"/>
                </a:solidFill>
                <a:latin typeface="Arial"/>
                <a:ea typeface="Arial"/>
                <a:cs typeface="Arial"/>
                <a:sym typeface="Arial"/>
              </a:rPr>
              <a:t>Response duration increased from approximately 0.41 to 1.24 seconds for the worm-like stimulus and from approximately 0.51 to 1.51 seconds for the antiworm. In contrast to the immobilized preparation, the frequency of unit firing was not appreciably increased.</a:t>
            </a:r>
            <a:endParaRPr sz="1800">
              <a:solidFill>
                <a:schemeClr val="dk1"/>
              </a:solidFill>
              <a:latin typeface="Calibri"/>
              <a:ea typeface="Calibri"/>
              <a:cs typeface="Calibri"/>
              <a:sym typeface="Calibri"/>
            </a:endParaRPr>
          </a:p>
        </p:txBody>
      </p:sp>
      <p:sp>
        <p:nvSpPr>
          <p:cNvPr id="333" name="Google Shape;333;p23"/>
          <p:cNvSpPr/>
          <p:nvPr/>
        </p:nvSpPr>
        <p:spPr>
          <a:xfrm>
            <a:off x="457200" y="3765054"/>
            <a:ext cx="5695950" cy="1433215"/>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3303A"/>
              </a:buClr>
              <a:buSzPts val="1425"/>
              <a:buFont typeface="Arial"/>
              <a:buNone/>
            </a:pPr>
            <a:r>
              <a:rPr b="0" i="0" lang="en-US" sz="1425">
                <a:solidFill>
                  <a:srgbClr val="23303A"/>
                </a:solidFill>
                <a:latin typeface="Arial"/>
                <a:ea typeface="Arial"/>
                <a:cs typeface="Arial"/>
                <a:sym typeface="Arial"/>
              </a:rPr>
              <a:t>The common lesion effect was a longer period of responsiveness, while firing-rate effects depended on preparation. Sustained activity can therefore contribute to inappropriate catching without requiring the same increase in spikes/s reported in immobilized animals; correlation with movement alone does not prove a unit commands the response.</a:t>
            </a:r>
            <a:endParaRPr sz="1800">
              <a:solidFill>
                <a:schemeClr val="dk1"/>
              </a:solidFill>
              <a:latin typeface="Calibri"/>
              <a:ea typeface="Calibri"/>
              <a:cs typeface="Calibri"/>
              <a:sym typeface="Calibri"/>
            </a:endParaRPr>
          </a:p>
        </p:txBody>
      </p:sp>
      <p:pic>
        <p:nvPicPr>
          <p:cNvPr id="334" name="Google Shape;334;p23"/>
          <p:cNvPicPr preferRelativeResize="0"/>
          <p:nvPr/>
        </p:nvPicPr>
        <p:blipFill rotWithShape="1">
          <a:blip r:embed="rId3">
            <a:alphaModFix/>
          </a:blip>
          <a:srcRect b="0" l="0" r="0" t="0"/>
          <a:stretch/>
        </p:blipFill>
        <p:spPr>
          <a:xfrm>
            <a:off x="6477000" y="1071563"/>
            <a:ext cx="3505200" cy="2427344"/>
          </a:xfrm>
          <a:prstGeom prst="rect">
            <a:avLst/>
          </a:prstGeom>
          <a:noFill/>
          <a:ln>
            <a:noFill/>
          </a:ln>
        </p:spPr>
      </p:pic>
      <p:sp>
        <p:nvSpPr>
          <p:cNvPr id="335" name="Google Shape;335;p23"/>
          <p:cNvSpPr/>
          <p:nvPr/>
        </p:nvSpPr>
        <p:spPr>
          <a:xfrm>
            <a:off x="6477000" y="5319713"/>
            <a:ext cx="3524250" cy="285750"/>
          </a:xfrm>
          <a:prstGeom prst="rect">
            <a:avLst/>
          </a:prstGeom>
          <a:noFill/>
          <a:ln>
            <a:noFill/>
          </a:ln>
        </p:spPr>
        <p:txBody>
          <a:bodyPr anchorCtr="0" anchor="t" bIns="0" lIns="0" spcFirstLastPara="1" rIns="0" wrap="square" tIns="0">
            <a:normAutofit/>
          </a:bodyPr>
          <a:lstStyle/>
          <a:p>
            <a:pPr indent="0" lvl="0" marL="0" marR="0" rtl="0" algn="l">
              <a:lnSpc>
                <a:spcPct val="125000"/>
              </a:lnSpc>
              <a:spcBef>
                <a:spcPts val="0"/>
              </a:spcBef>
              <a:spcAft>
                <a:spcPts val="0"/>
              </a:spcAft>
              <a:buClr>
                <a:srgbClr val="23303A"/>
              </a:buClr>
              <a:buSzPts val="900"/>
              <a:buFont typeface="Arial"/>
              <a:buNone/>
            </a:pPr>
            <a:r>
              <a:rPr b="0" i="0" lang="en-US" sz="900">
                <a:solidFill>
                  <a:srgbClr val="23303A"/>
                </a:solidFill>
                <a:latin typeface="Arial"/>
                <a:ea typeface="Arial"/>
                <a:cs typeface="Arial"/>
                <a:sym typeface="Arial"/>
              </a:rPr>
              <a:t>Laming &amp; Ewert (1983), Fig. 2(A–B). Unit, EEG and slow potentials before and after lesion.</a:t>
            </a:r>
            <a:endParaRPr sz="1800">
              <a:solidFill>
                <a:schemeClr val="dk1"/>
              </a:solidFill>
              <a:latin typeface="Calibri"/>
              <a:ea typeface="Calibri"/>
              <a:cs typeface="Calibri"/>
              <a:sym typeface="Calibri"/>
            </a:endParaRPr>
          </a:p>
        </p:txBody>
      </p:sp>
      <p:pic>
        <p:nvPicPr>
          <p:cNvPr id="336" name="Google Shape;336;p23"/>
          <p:cNvPicPr preferRelativeResize="0"/>
          <p:nvPr/>
        </p:nvPicPr>
        <p:blipFill rotWithShape="1">
          <a:blip r:embed="rId4">
            <a:alphaModFix/>
          </a:blip>
          <a:srcRect b="0" l="0" r="0" t="0"/>
          <a:stretch/>
        </p:blipFill>
        <p:spPr>
          <a:xfrm>
            <a:off x="10338660" y="1681163"/>
            <a:ext cx="1192081" cy="3333750"/>
          </a:xfrm>
          <a:prstGeom prst="rect">
            <a:avLst/>
          </a:prstGeom>
          <a:noFill/>
          <a:ln>
            <a:noFill/>
          </a:ln>
        </p:spPr>
      </p:pic>
      <p:sp>
        <p:nvSpPr>
          <p:cNvPr id="337" name="Google Shape;337;p23"/>
          <p:cNvSpPr/>
          <p:nvPr/>
        </p:nvSpPr>
        <p:spPr>
          <a:xfrm>
            <a:off x="10134600" y="5091113"/>
            <a:ext cx="1619250" cy="285750"/>
          </a:xfrm>
          <a:prstGeom prst="rect">
            <a:avLst/>
          </a:prstGeom>
          <a:noFill/>
          <a:ln>
            <a:noFill/>
          </a:ln>
        </p:spPr>
        <p:txBody>
          <a:bodyPr anchorCtr="0" anchor="t" bIns="0" lIns="0" spcFirstLastPara="1" rIns="0" wrap="square" tIns="0">
            <a:normAutofit/>
          </a:bodyPr>
          <a:lstStyle/>
          <a:p>
            <a:pPr indent="0" lvl="0" marL="0" marR="0" rtl="0" algn="l">
              <a:lnSpc>
                <a:spcPct val="125000"/>
              </a:lnSpc>
              <a:spcBef>
                <a:spcPts val="0"/>
              </a:spcBef>
              <a:spcAft>
                <a:spcPts val="0"/>
              </a:spcAft>
              <a:buClr>
                <a:srgbClr val="23303A"/>
              </a:buClr>
              <a:buSzPts val="900"/>
              <a:buFont typeface="Arial"/>
              <a:buNone/>
            </a:pPr>
            <a:r>
              <a:rPr b="0" i="0" lang="en-US" sz="900">
                <a:solidFill>
                  <a:srgbClr val="23303A"/>
                </a:solidFill>
                <a:latin typeface="Arial"/>
                <a:ea typeface="Arial"/>
                <a:cs typeface="Arial"/>
                <a:sym typeface="Arial"/>
              </a:rPr>
              <a:t>Laming &amp; Ewert (1983), Fig. 3(A–C). Lesion sites (1 mm).</a:t>
            </a:r>
            <a:endParaRPr sz="1800">
              <a:solidFill>
                <a:schemeClr val="dk1"/>
              </a:solidFill>
              <a:latin typeface="Calibri"/>
              <a:ea typeface="Calibri"/>
              <a:cs typeface="Calibri"/>
              <a:sym typeface="Calibri"/>
            </a:endParaRPr>
          </a:p>
        </p:txBody>
      </p:sp>
      <p:pic>
        <p:nvPicPr>
          <p:cNvPr id="338" name="Google Shape;338;p23"/>
          <p:cNvPicPr preferRelativeResize="0"/>
          <p:nvPr/>
        </p:nvPicPr>
        <p:blipFill rotWithShape="1">
          <a:blip r:embed="rId5">
            <a:alphaModFix/>
          </a:blip>
          <a:srcRect b="0" l="0" r="0" t="0"/>
          <a:stretch/>
        </p:blipFill>
        <p:spPr>
          <a:xfrm>
            <a:off x="457200" y="6405563"/>
            <a:ext cx="11277600" cy="242888"/>
          </a:xfrm>
          <a:prstGeom prst="rect">
            <a:avLst/>
          </a:prstGeom>
          <a:noFill/>
          <a:ln>
            <a:noFill/>
          </a:ln>
        </p:spPr>
      </p:pic>
      <p:sp>
        <p:nvSpPr>
          <p:cNvPr id="339" name="Google Shape;339;p23"/>
          <p:cNvSpPr/>
          <p:nvPr/>
        </p:nvSpPr>
        <p:spPr>
          <a:xfrm>
            <a:off x="457200" y="6491288"/>
            <a:ext cx="1128861" cy="157163"/>
          </a:xfrm>
          <a:prstGeom prst="rect">
            <a:avLst/>
          </a:prstGeom>
          <a:noFill/>
          <a:ln>
            <a:noFill/>
          </a:ln>
        </p:spPr>
        <p:txBody>
          <a:bodyPr anchorCtr="0" anchor="t" bIns="0" lIns="0" spcFirstLastPara="1" rIns="0" wrap="square" tIns="0">
            <a:normAutofit/>
          </a:bodyPr>
          <a:lstStyle/>
          <a:p>
            <a:pPr indent="0" lvl="0" marL="0" marR="0" rtl="0" algn="l">
              <a:lnSpc>
                <a:spcPct val="150060"/>
              </a:lnSpc>
              <a:spcBef>
                <a:spcPts val="0"/>
              </a:spcBef>
              <a:spcAft>
                <a:spcPts val="0"/>
              </a:spcAft>
              <a:buClr>
                <a:srgbClr val="5F6E7A"/>
              </a:buClr>
              <a:buSzPts val="825"/>
              <a:buFont typeface="Arial"/>
              <a:buNone/>
            </a:pPr>
            <a:r>
              <a:rPr b="0" i="0" lang="en-US" sz="825">
                <a:solidFill>
                  <a:srgbClr val="5F6E7A"/>
                </a:solidFill>
                <a:latin typeface="Arial"/>
                <a:ea typeface="Arial"/>
                <a:cs typeface="Arial"/>
                <a:sym typeface="Arial"/>
              </a:rPr>
              <a:t>Laming &amp; Ewert (1983)</a:t>
            </a:r>
            <a:endParaRPr sz="1800">
              <a:solidFill>
                <a:schemeClr val="dk1"/>
              </a:solidFill>
              <a:latin typeface="Calibri"/>
              <a:ea typeface="Calibri"/>
              <a:cs typeface="Calibri"/>
              <a:sym typeface="Calibri"/>
            </a:endParaRPr>
          </a:p>
        </p:txBody>
      </p:sp>
      <p:sp>
        <p:nvSpPr>
          <p:cNvPr id="340" name="Google Shape;340;p23"/>
          <p:cNvSpPr/>
          <p:nvPr/>
        </p:nvSpPr>
        <p:spPr>
          <a:xfrm>
            <a:off x="11614845" y="6491288"/>
            <a:ext cx="139005" cy="157163"/>
          </a:xfrm>
          <a:prstGeom prst="rect">
            <a:avLst/>
          </a:prstGeom>
          <a:noFill/>
          <a:ln>
            <a:noFill/>
          </a:ln>
        </p:spPr>
        <p:txBody>
          <a:bodyPr anchorCtr="0" anchor="t" bIns="0" lIns="0" spcFirstLastPara="1" rIns="0" wrap="square" tIns="0">
            <a:normAutofit/>
          </a:bodyPr>
          <a:lstStyle/>
          <a:p>
            <a:pPr indent="0" lvl="0" marL="0" marR="0" rtl="0" algn="l">
              <a:lnSpc>
                <a:spcPct val="150060"/>
              </a:lnSpc>
              <a:spcBef>
                <a:spcPts val="0"/>
              </a:spcBef>
              <a:spcAft>
                <a:spcPts val="0"/>
              </a:spcAft>
              <a:buClr>
                <a:srgbClr val="5F6E7A"/>
              </a:buClr>
              <a:buSzPts val="825"/>
              <a:buFont typeface="Arial"/>
              <a:buNone/>
            </a:pPr>
            <a:r>
              <a:rPr b="0" i="0" lang="en-US" sz="825">
                <a:solidFill>
                  <a:srgbClr val="5F6E7A"/>
                </a:solidFill>
                <a:latin typeface="Arial"/>
                <a:ea typeface="Arial"/>
                <a:cs typeface="Arial"/>
                <a:sym typeface="Arial"/>
              </a:rPr>
              <a:t>23</a:t>
            </a:r>
            <a:endParaRPr sz="1800">
              <a:solidFill>
                <a:schemeClr val="dk1"/>
              </a:solidFill>
              <a:latin typeface="Calibri"/>
              <a:ea typeface="Calibri"/>
              <a:cs typeface="Calibri"/>
              <a:sym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44" name="Shape 344"/>
        <p:cNvGrpSpPr/>
        <p:nvPr/>
      </p:nvGrpSpPr>
      <p:grpSpPr>
        <a:xfrm>
          <a:off x="0" y="0"/>
          <a:ext cx="0" cy="0"/>
          <a:chOff x="0" y="0"/>
          <a:chExt cx="0" cy="0"/>
        </a:xfrm>
      </p:grpSpPr>
      <p:sp>
        <p:nvSpPr>
          <p:cNvPr id="345" name="Google Shape;345;p24"/>
          <p:cNvSpPr/>
          <p:nvPr/>
        </p:nvSpPr>
        <p:spPr>
          <a:xfrm>
            <a:off x="457200" y="457200"/>
            <a:ext cx="11296650" cy="328613"/>
          </a:xfrm>
          <a:prstGeom prst="rect">
            <a:avLst/>
          </a:prstGeom>
          <a:noFill/>
          <a:ln>
            <a:noFill/>
          </a:ln>
        </p:spPr>
        <p:txBody>
          <a:bodyPr anchorCtr="0" anchor="t" bIns="0" lIns="0" spcFirstLastPara="1" rIns="0" wrap="square" tIns="0">
            <a:normAutofit/>
          </a:bodyPr>
          <a:lstStyle/>
          <a:p>
            <a:pPr indent="0" lvl="0" marL="0" marR="0" rtl="0" algn="l">
              <a:lnSpc>
                <a:spcPct val="115022"/>
              </a:lnSpc>
              <a:spcBef>
                <a:spcPts val="0"/>
              </a:spcBef>
              <a:spcAft>
                <a:spcPts val="0"/>
              </a:spcAft>
              <a:buClr>
                <a:srgbClr val="35536B"/>
              </a:buClr>
              <a:buSzPts val="2250"/>
              <a:buFont typeface="Arial"/>
              <a:buNone/>
            </a:pPr>
            <a:r>
              <a:rPr b="1" i="0" lang="en-US" sz="2250">
                <a:solidFill>
                  <a:srgbClr val="35536B"/>
                </a:solidFill>
                <a:latin typeface="Arial"/>
                <a:ea typeface="Arial"/>
                <a:cs typeface="Arial"/>
                <a:sym typeface="Arial"/>
              </a:rPr>
              <a:t>Anti-worm responses lose their normal restriction</a:t>
            </a:r>
            <a:endParaRPr sz="1800">
              <a:solidFill>
                <a:schemeClr val="dk1"/>
              </a:solidFill>
              <a:latin typeface="Calibri"/>
              <a:ea typeface="Calibri"/>
              <a:cs typeface="Calibri"/>
              <a:sym typeface="Calibri"/>
            </a:endParaRPr>
          </a:p>
        </p:txBody>
      </p:sp>
      <p:sp>
        <p:nvSpPr>
          <p:cNvPr id="346" name="Google Shape;346;p24"/>
          <p:cNvSpPr/>
          <p:nvPr/>
        </p:nvSpPr>
        <p:spPr>
          <a:xfrm>
            <a:off x="457200" y="1071563"/>
            <a:ext cx="5695950" cy="955477"/>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3303A"/>
              </a:buClr>
              <a:buSzPts val="1425"/>
              <a:buFont typeface="Arial"/>
              <a:buNone/>
            </a:pPr>
            <a:r>
              <a:rPr b="0" i="0" lang="en-US" sz="1425">
                <a:solidFill>
                  <a:srgbClr val="23303A"/>
                </a:solidFill>
                <a:latin typeface="Arial"/>
                <a:ea typeface="Arial"/>
                <a:cs typeface="Arial"/>
                <a:sym typeface="Arial"/>
              </a:rPr>
              <a:t>In the freely moving toads that became disinhibited, the tectal units lost their previous distinction between worm-like and antiworm configurations. Both 1.8° × 15° and 15° × 1.8° objects could evoke extended activity after the lesion.</a:t>
            </a:r>
            <a:endParaRPr sz="1800">
              <a:solidFill>
                <a:schemeClr val="dk1"/>
              </a:solidFill>
              <a:latin typeface="Calibri"/>
              <a:ea typeface="Calibri"/>
              <a:cs typeface="Calibri"/>
              <a:sym typeface="Calibri"/>
            </a:endParaRPr>
          </a:p>
        </p:txBody>
      </p:sp>
      <p:sp>
        <p:nvSpPr>
          <p:cNvPr id="347" name="Google Shape;347;p24"/>
          <p:cNvSpPr/>
          <p:nvPr/>
        </p:nvSpPr>
        <p:spPr>
          <a:xfrm>
            <a:off x="457200" y="2179439"/>
            <a:ext cx="5695950" cy="1194346"/>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3303A"/>
              </a:buClr>
              <a:buSzPts val="1425"/>
              <a:buFont typeface="Arial"/>
              <a:buNone/>
            </a:pPr>
            <a:r>
              <a:rPr b="0" i="0" lang="en-US" sz="1425">
                <a:solidFill>
                  <a:srgbClr val="23303A"/>
                </a:solidFill>
                <a:latin typeface="Arial"/>
                <a:ea typeface="Arial"/>
                <a:cs typeface="Arial"/>
                <a:sym typeface="Arial"/>
              </a:rPr>
              <a:t>The antiworm response duration increased to approximately 1.51 seconds, and the frequency of tectal EEG activity associated with antiworm presentation rose from approximately 15.2 to 18.8 Hz. Toads could orient or snap toward configurations that previously failed to release suitable prey-catching.</a:t>
            </a:r>
            <a:endParaRPr sz="1800">
              <a:solidFill>
                <a:schemeClr val="dk1"/>
              </a:solidFill>
              <a:latin typeface="Calibri"/>
              <a:ea typeface="Calibri"/>
              <a:cs typeface="Calibri"/>
              <a:sym typeface="Calibri"/>
            </a:endParaRPr>
          </a:p>
        </p:txBody>
      </p:sp>
      <p:sp>
        <p:nvSpPr>
          <p:cNvPr id="348" name="Google Shape;348;p24"/>
          <p:cNvSpPr/>
          <p:nvPr/>
        </p:nvSpPr>
        <p:spPr>
          <a:xfrm>
            <a:off x="457200" y="3526185"/>
            <a:ext cx="5695950" cy="1194346"/>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3303A"/>
              </a:buClr>
              <a:buSzPts val="1425"/>
              <a:buFont typeface="Arial"/>
              <a:buNone/>
            </a:pPr>
            <a:r>
              <a:rPr b="0" i="0" lang="en-US" sz="1425">
                <a:solidFill>
                  <a:srgbClr val="23303A"/>
                </a:solidFill>
                <a:latin typeface="Arial"/>
                <a:ea typeface="Arial"/>
                <a:cs typeface="Arial"/>
                <a:sym typeface="Arial"/>
              </a:rPr>
              <a:t>The neuronal and behavioral changes support a contribution of pretectal connections to selective response restriction. An increased EEG frequency is a population rhythm measurement, distinct from spikes/s, and it does not identify a particular inhibitory transmitter or direct pretectal synapse.</a:t>
            </a:r>
            <a:endParaRPr sz="1800">
              <a:solidFill>
                <a:schemeClr val="dk1"/>
              </a:solidFill>
              <a:latin typeface="Calibri"/>
              <a:ea typeface="Calibri"/>
              <a:cs typeface="Calibri"/>
              <a:sym typeface="Calibri"/>
            </a:endParaRPr>
          </a:p>
        </p:txBody>
      </p:sp>
      <p:pic>
        <p:nvPicPr>
          <p:cNvPr id="349" name="Google Shape;349;p24"/>
          <p:cNvPicPr preferRelativeResize="0"/>
          <p:nvPr/>
        </p:nvPicPr>
        <p:blipFill rotWithShape="1">
          <a:blip r:embed="rId3">
            <a:alphaModFix/>
          </a:blip>
          <a:srcRect b="0" l="0" r="0" t="0"/>
          <a:stretch/>
        </p:blipFill>
        <p:spPr>
          <a:xfrm>
            <a:off x="6477000" y="1071563"/>
            <a:ext cx="3505200" cy="2427344"/>
          </a:xfrm>
          <a:prstGeom prst="rect">
            <a:avLst/>
          </a:prstGeom>
          <a:noFill/>
          <a:ln>
            <a:noFill/>
          </a:ln>
        </p:spPr>
      </p:pic>
      <p:sp>
        <p:nvSpPr>
          <p:cNvPr id="350" name="Google Shape;350;p24"/>
          <p:cNvSpPr/>
          <p:nvPr/>
        </p:nvSpPr>
        <p:spPr>
          <a:xfrm>
            <a:off x="6477000" y="5319713"/>
            <a:ext cx="3524250" cy="285750"/>
          </a:xfrm>
          <a:prstGeom prst="rect">
            <a:avLst/>
          </a:prstGeom>
          <a:noFill/>
          <a:ln>
            <a:noFill/>
          </a:ln>
        </p:spPr>
        <p:txBody>
          <a:bodyPr anchorCtr="0" anchor="t" bIns="0" lIns="0" spcFirstLastPara="1" rIns="0" wrap="square" tIns="0">
            <a:normAutofit/>
          </a:bodyPr>
          <a:lstStyle/>
          <a:p>
            <a:pPr indent="0" lvl="0" marL="0" marR="0" rtl="0" algn="l">
              <a:lnSpc>
                <a:spcPct val="125000"/>
              </a:lnSpc>
              <a:spcBef>
                <a:spcPts val="0"/>
              </a:spcBef>
              <a:spcAft>
                <a:spcPts val="0"/>
              </a:spcAft>
              <a:buClr>
                <a:srgbClr val="23303A"/>
              </a:buClr>
              <a:buSzPts val="900"/>
              <a:buFont typeface="Arial"/>
              <a:buNone/>
            </a:pPr>
            <a:r>
              <a:rPr b="0" i="0" lang="en-US" sz="900">
                <a:solidFill>
                  <a:srgbClr val="23303A"/>
                </a:solidFill>
                <a:latin typeface="Arial"/>
                <a:ea typeface="Arial"/>
                <a:cs typeface="Arial"/>
                <a:sym typeface="Arial"/>
              </a:rPr>
              <a:t>Laming &amp; Ewert (1983), Fig. 2(A–B). Unit, EEG and slow potentials before and after lesion.</a:t>
            </a:r>
            <a:endParaRPr sz="1800">
              <a:solidFill>
                <a:schemeClr val="dk1"/>
              </a:solidFill>
              <a:latin typeface="Calibri"/>
              <a:ea typeface="Calibri"/>
              <a:cs typeface="Calibri"/>
              <a:sym typeface="Calibri"/>
            </a:endParaRPr>
          </a:p>
        </p:txBody>
      </p:sp>
      <p:pic>
        <p:nvPicPr>
          <p:cNvPr id="351" name="Google Shape;351;p24"/>
          <p:cNvPicPr preferRelativeResize="0"/>
          <p:nvPr/>
        </p:nvPicPr>
        <p:blipFill rotWithShape="1">
          <a:blip r:embed="rId4">
            <a:alphaModFix/>
          </a:blip>
          <a:srcRect b="0" l="0" r="0" t="0"/>
          <a:stretch/>
        </p:blipFill>
        <p:spPr>
          <a:xfrm>
            <a:off x="10338660" y="1681163"/>
            <a:ext cx="1192081" cy="3333750"/>
          </a:xfrm>
          <a:prstGeom prst="rect">
            <a:avLst/>
          </a:prstGeom>
          <a:noFill/>
          <a:ln>
            <a:noFill/>
          </a:ln>
        </p:spPr>
      </p:pic>
      <p:sp>
        <p:nvSpPr>
          <p:cNvPr id="352" name="Google Shape;352;p24"/>
          <p:cNvSpPr/>
          <p:nvPr/>
        </p:nvSpPr>
        <p:spPr>
          <a:xfrm>
            <a:off x="10134600" y="5091113"/>
            <a:ext cx="1619250" cy="285750"/>
          </a:xfrm>
          <a:prstGeom prst="rect">
            <a:avLst/>
          </a:prstGeom>
          <a:noFill/>
          <a:ln>
            <a:noFill/>
          </a:ln>
        </p:spPr>
        <p:txBody>
          <a:bodyPr anchorCtr="0" anchor="t" bIns="0" lIns="0" spcFirstLastPara="1" rIns="0" wrap="square" tIns="0">
            <a:normAutofit/>
          </a:bodyPr>
          <a:lstStyle/>
          <a:p>
            <a:pPr indent="0" lvl="0" marL="0" marR="0" rtl="0" algn="l">
              <a:lnSpc>
                <a:spcPct val="125000"/>
              </a:lnSpc>
              <a:spcBef>
                <a:spcPts val="0"/>
              </a:spcBef>
              <a:spcAft>
                <a:spcPts val="0"/>
              </a:spcAft>
              <a:buClr>
                <a:srgbClr val="23303A"/>
              </a:buClr>
              <a:buSzPts val="900"/>
              <a:buFont typeface="Arial"/>
              <a:buNone/>
            </a:pPr>
            <a:r>
              <a:rPr b="0" i="0" lang="en-US" sz="900">
                <a:solidFill>
                  <a:srgbClr val="23303A"/>
                </a:solidFill>
                <a:latin typeface="Arial"/>
                <a:ea typeface="Arial"/>
                <a:cs typeface="Arial"/>
                <a:sym typeface="Arial"/>
              </a:rPr>
              <a:t>Laming &amp; Ewert (1983), Fig. 3(A–C). Lesion sites (1 mm).</a:t>
            </a:r>
            <a:endParaRPr sz="1800">
              <a:solidFill>
                <a:schemeClr val="dk1"/>
              </a:solidFill>
              <a:latin typeface="Calibri"/>
              <a:ea typeface="Calibri"/>
              <a:cs typeface="Calibri"/>
              <a:sym typeface="Calibri"/>
            </a:endParaRPr>
          </a:p>
        </p:txBody>
      </p:sp>
      <p:pic>
        <p:nvPicPr>
          <p:cNvPr id="353" name="Google Shape;353;p24"/>
          <p:cNvPicPr preferRelativeResize="0"/>
          <p:nvPr/>
        </p:nvPicPr>
        <p:blipFill rotWithShape="1">
          <a:blip r:embed="rId5">
            <a:alphaModFix/>
          </a:blip>
          <a:srcRect b="0" l="0" r="0" t="0"/>
          <a:stretch/>
        </p:blipFill>
        <p:spPr>
          <a:xfrm>
            <a:off x="457200" y="6405563"/>
            <a:ext cx="11277600" cy="242888"/>
          </a:xfrm>
          <a:prstGeom prst="rect">
            <a:avLst/>
          </a:prstGeom>
          <a:noFill/>
          <a:ln>
            <a:noFill/>
          </a:ln>
        </p:spPr>
      </p:pic>
      <p:sp>
        <p:nvSpPr>
          <p:cNvPr id="354" name="Google Shape;354;p24"/>
          <p:cNvSpPr/>
          <p:nvPr/>
        </p:nvSpPr>
        <p:spPr>
          <a:xfrm>
            <a:off x="457200" y="6491288"/>
            <a:ext cx="1128861" cy="157163"/>
          </a:xfrm>
          <a:prstGeom prst="rect">
            <a:avLst/>
          </a:prstGeom>
          <a:noFill/>
          <a:ln>
            <a:noFill/>
          </a:ln>
        </p:spPr>
        <p:txBody>
          <a:bodyPr anchorCtr="0" anchor="t" bIns="0" lIns="0" spcFirstLastPara="1" rIns="0" wrap="square" tIns="0">
            <a:normAutofit/>
          </a:bodyPr>
          <a:lstStyle/>
          <a:p>
            <a:pPr indent="0" lvl="0" marL="0" marR="0" rtl="0" algn="l">
              <a:lnSpc>
                <a:spcPct val="150060"/>
              </a:lnSpc>
              <a:spcBef>
                <a:spcPts val="0"/>
              </a:spcBef>
              <a:spcAft>
                <a:spcPts val="0"/>
              </a:spcAft>
              <a:buClr>
                <a:srgbClr val="5F6E7A"/>
              </a:buClr>
              <a:buSzPts val="825"/>
              <a:buFont typeface="Arial"/>
              <a:buNone/>
            </a:pPr>
            <a:r>
              <a:rPr b="0" i="0" lang="en-US" sz="825">
                <a:solidFill>
                  <a:srgbClr val="5F6E7A"/>
                </a:solidFill>
                <a:latin typeface="Arial"/>
                <a:ea typeface="Arial"/>
                <a:cs typeface="Arial"/>
                <a:sym typeface="Arial"/>
              </a:rPr>
              <a:t>Laming &amp; Ewert (1983)</a:t>
            </a:r>
            <a:endParaRPr sz="1800">
              <a:solidFill>
                <a:schemeClr val="dk1"/>
              </a:solidFill>
              <a:latin typeface="Calibri"/>
              <a:ea typeface="Calibri"/>
              <a:cs typeface="Calibri"/>
              <a:sym typeface="Calibri"/>
            </a:endParaRPr>
          </a:p>
        </p:txBody>
      </p:sp>
      <p:sp>
        <p:nvSpPr>
          <p:cNvPr id="355" name="Google Shape;355;p24"/>
          <p:cNvSpPr/>
          <p:nvPr/>
        </p:nvSpPr>
        <p:spPr>
          <a:xfrm>
            <a:off x="11614845" y="6491288"/>
            <a:ext cx="139005" cy="157163"/>
          </a:xfrm>
          <a:prstGeom prst="rect">
            <a:avLst/>
          </a:prstGeom>
          <a:noFill/>
          <a:ln>
            <a:noFill/>
          </a:ln>
        </p:spPr>
        <p:txBody>
          <a:bodyPr anchorCtr="0" anchor="t" bIns="0" lIns="0" spcFirstLastPara="1" rIns="0" wrap="square" tIns="0">
            <a:normAutofit/>
          </a:bodyPr>
          <a:lstStyle/>
          <a:p>
            <a:pPr indent="0" lvl="0" marL="0" marR="0" rtl="0" algn="l">
              <a:lnSpc>
                <a:spcPct val="150060"/>
              </a:lnSpc>
              <a:spcBef>
                <a:spcPts val="0"/>
              </a:spcBef>
              <a:spcAft>
                <a:spcPts val="0"/>
              </a:spcAft>
              <a:buClr>
                <a:srgbClr val="5F6E7A"/>
              </a:buClr>
              <a:buSzPts val="825"/>
              <a:buFont typeface="Arial"/>
              <a:buNone/>
            </a:pPr>
            <a:r>
              <a:rPr b="0" i="0" lang="en-US" sz="825">
                <a:solidFill>
                  <a:srgbClr val="5F6E7A"/>
                </a:solidFill>
                <a:latin typeface="Arial"/>
                <a:ea typeface="Arial"/>
                <a:cs typeface="Arial"/>
                <a:sym typeface="Arial"/>
              </a:rPr>
              <a:t>24</a:t>
            </a:r>
            <a:endParaRPr sz="1800">
              <a:solidFill>
                <a:schemeClr val="dk1"/>
              </a:solidFill>
              <a:latin typeface="Calibri"/>
              <a:ea typeface="Calibri"/>
              <a:cs typeface="Calibri"/>
              <a:sym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59" name="Shape 359"/>
        <p:cNvGrpSpPr/>
        <p:nvPr/>
      </p:nvGrpSpPr>
      <p:grpSpPr>
        <a:xfrm>
          <a:off x="0" y="0"/>
          <a:ext cx="0" cy="0"/>
          <a:chOff x="0" y="0"/>
          <a:chExt cx="0" cy="0"/>
        </a:xfrm>
      </p:grpSpPr>
      <p:sp>
        <p:nvSpPr>
          <p:cNvPr id="360" name="Google Shape;360;p25"/>
          <p:cNvSpPr/>
          <p:nvPr/>
        </p:nvSpPr>
        <p:spPr>
          <a:xfrm>
            <a:off x="457200" y="457200"/>
            <a:ext cx="11296650" cy="328613"/>
          </a:xfrm>
          <a:prstGeom prst="rect">
            <a:avLst/>
          </a:prstGeom>
          <a:noFill/>
          <a:ln>
            <a:noFill/>
          </a:ln>
        </p:spPr>
        <p:txBody>
          <a:bodyPr anchorCtr="0" anchor="t" bIns="0" lIns="0" spcFirstLastPara="1" rIns="0" wrap="square" tIns="0">
            <a:normAutofit/>
          </a:bodyPr>
          <a:lstStyle/>
          <a:p>
            <a:pPr indent="0" lvl="0" marL="0" marR="0" rtl="0" algn="l">
              <a:lnSpc>
                <a:spcPct val="115022"/>
              </a:lnSpc>
              <a:spcBef>
                <a:spcPts val="0"/>
              </a:spcBef>
              <a:spcAft>
                <a:spcPts val="0"/>
              </a:spcAft>
              <a:buClr>
                <a:srgbClr val="35536B"/>
              </a:buClr>
              <a:buSzPts val="2250"/>
              <a:buFont typeface="Arial"/>
              <a:buNone/>
            </a:pPr>
            <a:r>
              <a:rPr b="1" i="0" lang="en-US" sz="2250">
                <a:solidFill>
                  <a:srgbClr val="35536B"/>
                </a:solidFill>
                <a:latin typeface="Arial"/>
                <a:ea typeface="Arial"/>
                <a:cs typeface="Arial"/>
                <a:sym typeface="Arial"/>
              </a:rPr>
              <a:t>More firing need not mean lost discrimination</a:t>
            </a:r>
            <a:endParaRPr sz="1800">
              <a:solidFill>
                <a:schemeClr val="dk1"/>
              </a:solidFill>
              <a:latin typeface="Calibri"/>
              <a:ea typeface="Calibri"/>
              <a:cs typeface="Calibri"/>
              <a:sym typeface="Calibri"/>
            </a:endParaRPr>
          </a:p>
        </p:txBody>
      </p:sp>
      <p:sp>
        <p:nvSpPr>
          <p:cNvPr id="361" name="Google Shape;361;p25"/>
          <p:cNvSpPr/>
          <p:nvPr/>
        </p:nvSpPr>
        <p:spPr>
          <a:xfrm>
            <a:off x="457200" y="1071563"/>
            <a:ext cx="5695950" cy="1194346"/>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3303A"/>
              </a:buClr>
              <a:buSzPts val="1425"/>
              <a:buFont typeface="Arial"/>
              <a:buNone/>
            </a:pPr>
            <a:r>
              <a:rPr b="0" i="0" lang="en-US" sz="1425">
                <a:solidFill>
                  <a:srgbClr val="23303A"/>
                </a:solidFill>
                <a:latin typeface="Arial"/>
                <a:ea typeface="Arial"/>
                <a:cs typeface="Arial"/>
                <a:sym typeface="Arial"/>
              </a:rPr>
              <a:t>Laming and Ewert reconstructed lesions from transverse sections and compared their positions with changes in visual responses. Lesions producing disinhibited catching lay near the relevant pretectal and dorsal thalamic connections, while other cuts could increase unit activity without the same behavioral syndrome.</a:t>
            </a:r>
            <a:endParaRPr sz="1800">
              <a:solidFill>
                <a:schemeClr val="dk1"/>
              </a:solidFill>
              <a:latin typeface="Calibri"/>
              <a:ea typeface="Calibri"/>
              <a:cs typeface="Calibri"/>
              <a:sym typeface="Calibri"/>
            </a:endParaRPr>
          </a:p>
        </p:txBody>
      </p:sp>
      <p:sp>
        <p:nvSpPr>
          <p:cNvPr id="362" name="Google Shape;362;p25"/>
          <p:cNvSpPr/>
          <p:nvPr/>
        </p:nvSpPr>
        <p:spPr>
          <a:xfrm>
            <a:off x="457200" y="2418308"/>
            <a:ext cx="5695950" cy="1194346"/>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3303A"/>
              </a:buClr>
              <a:buSzPts val="1425"/>
              <a:buFont typeface="Arial"/>
              <a:buNone/>
            </a:pPr>
            <a:r>
              <a:rPr b="0" i="0" lang="en-US" sz="1425">
                <a:solidFill>
                  <a:srgbClr val="23303A"/>
                </a:solidFill>
                <a:latin typeface="Arial"/>
                <a:ea typeface="Arial"/>
                <a:cs typeface="Arial"/>
                <a:sym typeface="Arial"/>
              </a:rPr>
              <a:t>More extreme lateral cuts increased firing by approximately 20–350% in some recordings but did not remove configuration selectivity. In freely moving animals, lesions closer to the midline could fail to cause the same motor disinhibition, despite altering the recording.</a:t>
            </a:r>
            <a:endParaRPr sz="1800">
              <a:solidFill>
                <a:schemeClr val="dk1"/>
              </a:solidFill>
              <a:latin typeface="Calibri"/>
              <a:ea typeface="Calibri"/>
              <a:cs typeface="Calibri"/>
              <a:sym typeface="Calibri"/>
            </a:endParaRPr>
          </a:p>
        </p:txBody>
      </p:sp>
      <p:sp>
        <p:nvSpPr>
          <p:cNvPr id="363" name="Google Shape;363;p25"/>
          <p:cNvSpPr/>
          <p:nvPr/>
        </p:nvSpPr>
        <p:spPr>
          <a:xfrm>
            <a:off x="457200" y="3765054"/>
            <a:ext cx="5695950" cy="1194346"/>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3303A"/>
              </a:buClr>
              <a:buSzPts val="1425"/>
              <a:buFont typeface="Arial"/>
              <a:buNone/>
            </a:pPr>
            <a:r>
              <a:rPr b="1" i="0" lang="en-US" sz="1425">
                <a:solidFill>
                  <a:srgbClr val="23303A"/>
                </a:solidFill>
                <a:latin typeface="Arial"/>
                <a:ea typeface="Arial"/>
                <a:cs typeface="Arial"/>
                <a:sym typeface="Arial"/>
              </a:rPr>
              <a:t>Excitability</a:t>
            </a:r>
            <a:r>
              <a:rPr b="0" i="0" lang="en-US" sz="1425">
                <a:solidFill>
                  <a:srgbClr val="23303A"/>
                </a:solidFill>
                <a:latin typeface="Arial"/>
                <a:ea typeface="Arial"/>
                <a:cs typeface="Arial"/>
                <a:sym typeface="Arial"/>
              </a:rPr>
              <a:t>, the tendency to produce spikes, and </a:t>
            </a:r>
            <a:r>
              <a:rPr b="1" i="0" lang="en-US" sz="1425">
                <a:solidFill>
                  <a:srgbClr val="23303A"/>
                </a:solidFill>
                <a:latin typeface="Arial"/>
                <a:ea typeface="Arial"/>
                <a:cs typeface="Arial"/>
                <a:sym typeface="Arial"/>
              </a:rPr>
              <a:t>selectivity</a:t>
            </a:r>
            <a:r>
              <a:rPr b="0" i="0" lang="en-US" sz="1425">
                <a:solidFill>
                  <a:srgbClr val="23303A"/>
                </a:solidFill>
                <a:latin typeface="Arial"/>
                <a:ea typeface="Arial"/>
                <a:cs typeface="Arial"/>
                <a:sym typeface="Arial"/>
              </a:rPr>
              <a:t>, the distinction between stimulus configurations, are different properties. A regional increase in responsiveness does not establish that a neuron has lost the filtering necessary to reject nonprey.</a:t>
            </a:r>
            <a:endParaRPr sz="1800">
              <a:solidFill>
                <a:schemeClr val="dk1"/>
              </a:solidFill>
              <a:latin typeface="Calibri"/>
              <a:ea typeface="Calibri"/>
              <a:cs typeface="Calibri"/>
              <a:sym typeface="Calibri"/>
            </a:endParaRPr>
          </a:p>
        </p:txBody>
      </p:sp>
      <p:pic>
        <p:nvPicPr>
          <p:cNvPr id="364" name="Google Shape;364;p25"/>
          <p:cNvPicPr preferRelativeResize="0"/>
          <p:nvPr/>
        </p:nvPicPr>
        <p:blipFill rotWithShape="1">
          <a:blip r:embed="rId3">
            <a:alphaModFix/>
          </a:blip>
          <a:srcRect b="0" l="0" r="0" t="0"/>
          <a:stretch/>
        </p:blipFill>
        <p:spPr>
          <a:xfrm>
            <a:off x="8349780" y="1071563"/>
            <a:ext cx="1512239" cy="4229100"/>
          </a:xfrm>
          <a:prstGeom prst="rect">
            <a:avLst/>
          </a:prstGeom>
          <a:noFill/>
          <a:ln>
            <a:noFill/>
          </a:ln>
        </p:spPr>
      </p:pic>
      <p:sp>
        <p:nvSpPr>
          <p:cNvPr id="365" name="Google Shape;365;p25"/>
          <p:cNvSpPr/>
          <p:nvPr/>
        </p:nvSpPr>
        <p:spPr>
          <a:xfrm>
            <a:off x="6477000" y="5376863"/>
            <a:ext cx="5276850" cy="142875"/>
          </a:xfrm>
          <a:prstGeom prst="rect">
            <a:avLst/>
          </a:prstGeom>
          <a:noFill/>
          <a:ln>
            <a:noFill/>
          </a:ln>
        </p:spPr>
        <p:txBody>
          <a:bodyPr anchorCtr="0" anchor="t" bIns="0" lIns="0" spcFirstLastPara="1" rIns="0" wrap="square" tIns="0">
            <a:normAutofit/>
          </a:bodyPr>
          <a:lstStyle/>
          <a:p>
            <a:pPr indent="0" lvl="0" marL="0" marR="0" rtl="0" algn="l">
              <a:lnSpc>
                <a:spcPct val="125000"/>
              </a:lnSpc>
              <a:spcBef>
                <a:spcPts val="0"/>
              </a:spcBef>
              <a:spcAft>
                <a:spcPts val="0"/>
              </a:spcAft>
              <a:buClr>
                <a:srgbClr val="23303A"/>
              </a:buClr>
              <a:buSzPts val="900"/>
              <a:buFont typeface="Arial"/>
              <a:buNone/>
            </a:pPr>
            <a:r>
              <a:rPr b="0" i="0" lang="en-US" sz="900">
                <a:solidFill>
                  <a:srgbClr val="23303A"/>
                </a:solidFill>
                <a:latin typeface="Arial"/>
                <a:ea typeface="Arial"/>
                <a:cs typeface="Arial"/>
                <a:sym typeface="Arial"/>
              </a:rPr>
              <a:t>Laming &amp; Ewert (1983), Fig. 3(A–C). Lesion sites (1 mm).</a:t>
            </a:r>
            <a:endParaRPr sz="1800">
              <a:solidFill>
                <a:schemeClr val="dk1"/>
              </a:solidFill>
              <a:latin typeface="Calibri"/>
              <a:ea typeface="Calibri"/>
              <a:cs typeface="Calibri"/>
              <a:sym typeface="Calibri"/>
            </a:endParaRPr>
          </a:p>
        </p:txBody>
      </p:sp>
      <p:pic>
        <p:nvPicPr>
          <p:cNvPr id="366" name="Google Shape;366;p25"/>
          <p:cNvPicPr preferRelativeResize="0"/>
          <p:nvPr/>
        </p:nvPicPr>
        <p:blipFill rotWithShape="1">
          <a:blip r:embed="rId4">
            <a:alphaModFix/>
          </a:blip>
          <a:srcRect b="0" l="0" r="0" t="0"/>
          <a:stretch/>
        </p:blipFill>
        <p:spPr>
          <a:xfrm>
            <a:off x="457200" y="6405563"/>
            <a:ext cx="11277600" cy="242888"/>
          </a:xfrm>
          <a:prstGeom prst="rect">
            <a:avLst/>
          </a:prstGeom>
          <a:noFill/>
          <a:ln>
            <a:noFill/>
          </a:ln>
        </p:spPr>
      </p:pic>
      <p:sp>
        <p:nvSpPr>
          <p:cNvPr id="367" name="Google Shape;367;p25"/>
          <p:cNvSpPr/>
          <p:nvPr/>
        </p:nvSpPr>
        <p:spPr>
          <a:xfrm>
            <a:off x="457200" y="6491288"/>
            <a:ext cx="1128861" cy="157163"/>
          </a:xfrm>
          <a:prstGeom prst="rect">
            <a:avLst/>
          </a:prstGeom>
          <a:noFill/>
          <a:ln>
            <a:noFill/>
          </a:ln>
        </p:spPr>
        <p:txBody>
          <a:bodyPr anchorCtr="0" anchor="t" bIns="0" lIns="0" spcFirstLastPara="1" rIns="0" wrap="square" tIns="0">
            <a:normAutofit/>
          </a:bodyPr>
          <a:lstStyle/>
          <a:p>
            <a:pPr indent="0" lvl="0" marL="0" marR="0" rtl="0" algn="l">
              <a:lnSpc>
                <a:spcPct val="150060"/>
              </a:lnSpc>
              <a:spcBef>
                <a:spcPts val="0"/>
              </a:spcBef>
              <a:spcAft>
                <a:spcPts val="0"/>
              </a:spcAft>
              <a:buClr>
                <a:srgbClr val="5F6E7A"/>
              </a:buClr>
              <a:buSzPts val="825"/>
              <a:buFont typeface="Arial"/>
              <a:buNone/>
            </a:pPr>
            <a:r>
              <a:rPr b="0" i="0" lang="en-US" sz="825">
                <a:solidFill>
                  <a:srgbClr val="5F6E7A"/>
                </a:solidFill>
                <a:latin typeface="Arial"/>
                <a:ea typeface="Arial"/>
                <a:cs typeface="Arial"/>
                <a:sym typeface="Arial"/>
              </a:rPr>
              <a:t>Laming &amp; Ewert (1983)</a:t>
            </a:r>
            <a:endParaRPr sz="1800">
              <a:solidFill>
                <a:schemeClr val="dk1"/>
              </a:solidFill>
              <a:latin typeface="Calibri"/>
              <a:ea typeface="Calibri"/>
              <a:cs typeface="Calibri"/>
              <a:sym typeface="Calibri"/>
            </a:endParaRPr>
          </a:p>
        </p:txBody>
      </p:sp>
      <p:sp>
        <p:nvSpPr>
          <p:cNvPr id="368" name="Google Shape;368;p25"/>
          <p:cNvSpPr/>
          <p:nvPr/>
        </p:nvSpPr>
        <p:spPr>
          <a:xfrm>
            <a:off x="11614845" y="6491288"/>
            <a:ext cx="139005" cy="157163"/>
          </a:xfrm>
          <a:prstGeom prst="rect">
            <a:avLst/>
          </a:prstGeom>
          <a:noFill/>
          <a:ln>
            <a:noFill/>
          </a:ln>
        </p:spPr>
        <p:txBody>
          <a:bodyPr anchorCtr="0" anchor="t" bIns="0" lIns="0" spcFirstLastPara="1" rIns="0" wrap="square" tIns="0">
            <a:normAutofit/>
          </a:bodyPr>
          <a:lstStyle/>
          <a:p>
            <a:pPr indent="0" lvl="0" marL="0" marR="0" rtl="0" algn="l">
              <a:lnSpc>
                <a:spcPct val="150060"/>
              </a:lnSpc>
              <a:spcBef>
                <a:spcPts val="0"/>
              </a:spcBef>
              <a:spcAft>
                <a:spcPts val="0"/>
              </a:spcAft>
              <a:buClr>
                <a:srgbClr val="5F6E7A"/>
              </a:buClr>
              <a:buSzPts val="825"/>
              <a:buFont typeface="Arial"/>
              <a:buNone/>
            </a:pPr>
            <a:r>
              <a:rPr b="0" i="0" lang="en-US" sz="825">
                <a:solidFill>
                  <a:srgbClr val="5F6E7A"/>
                </a:solidFill>
                <a:latin typeface="Arial"/>
                <a:ea typeface="Arial"/>
                <a:cs typeface="Arial"/>
                <a:sym typeface="Arial"/>
              </a:rPr>
              <a:t>25</a:t>
            </a:r>
            <a:endParaRPr sz="1800">
              <a:solidFill>
                <a:schemeClr val="dk1"/>
              </a:solidFill>
              <a:latin typeface="Calibri"/>
              <a:ea typeface="Calibri"/>
              <a:cs typeface="Calibri"/>
              <a:sym typeface="Calibri"/>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72" name="Shape 372"/>
        <p:cNvGrpSpPr/>
        <p:nvPr/>
      </p:nvGrpSpPr>
      <p:grpSpPr>
        <a:xfrm>
          <a:off x="0" y="0"/>
          <a:ext cx="0" cy="0"/>
          <a:chOff x="0" y="0"/>
          <a:chExt cx="0" cy="0"/>
        </a:xfrm>
      </p:grpSpPr>
      <p:sp>
        <p:nvSpPr>
          <p:cNvPr id="373" name="Google Shape;373;p26"/>
          <p:cNvSpPr/>
          <p:nvPr/>
        </p:nvSpPr>
        <p:spPr>
          <a:xfrm>
            <a:off x="457200" y="457200"/>
            <a:ext cx="11296650" cy="328613"/>
          </a:xfrm>
          <a:prstGeom prst="rect">
            <a:avLst/>
          </a:prstGeom>
          <a:noFill/>
          <a:ln>
            <a:noFill/>
          </a:ln>
        </p:spPr>
        <p:txBody>
          <a:bodyPr anchorCtr="0" anchor="t" bIns="0" lIns="0" spcFirstLastPara="1" rIns="0" wrap="square" tIns="0">
            <a:normAutofit/>
          </a:bodyPr>
          <a:lstStyle/>
          <a:p>
            <a:pPr indent="0" lvl="0" marL="0" marR="0" rtl="0" algn="l">
              <a:lnSpc>
                <a:spcPct val="115022"/>
              </a:lnSpc>
              <a:spcBef>
                <a:spcPts val="0"/>
              </a:spcBef>
              <a:spcAft>
                <a:spcPts val="0"/>
              </a:spcAft>
              <a:buClr>
                <a:srgbClr val="35536B"/>
              </a:buClr>
              <a:buSzPts val="2250"/>
              <a:buFont typeface="Arial"/>
              <a:buNone/>
            </a:pPr>
            <a:r>
              <a:rPr b="1" i="0" lang="en-US" sz="2250">
                <a:solidFill>
                  <a:srgbClr val="35536B"/>
                </a:solidFill>
                <a:latin typeface="Arial"/>
                <a:ea typeface="Arial"/>
                <a:cs typeface="Arial"/>
                <a:sym typeface="Arial"/>
              </a:rPr>
              <a:t>Electrical input separates timing from visual geometry</a:t>
            </a:r>
            <a:endParaRPr sz="1800">
              <a:solidFill>
                <a:schemeClr val="dk1"/>
              </a:solidFill>
              <a:latin typeface="Calibri"/>
              <a:ea typeface="Calibri"/>
              <a:cs typeface="Calibri"/>
              <a:sym typeface="Calibri"/>
            </a:endParaRPr>
          </a:p>
        </p:txBody>
      </p:sp>
      <p:sp>
        <p:nvSpPr>
          <p:cNvPr id="374" name="Google Shape;374;p26"/>
          <p:cNvSpPr/>
          <p:nvPr/>
        </p:nvSpPr>
        <p:spPr>
          <a:xfrm>
            <a:off x="457200" y="1071563"/>
            <a:ext cx="5695950" cy="1194346"/>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3303A"/>
              </a:buClr>
              <a:buSzPts val="1425"/>
              <a:buFont typeface="Arial"/>
              <a:buNone/>
            </a:pPr>
            <a:r>
              <a:rPr b="0" i="0" lang="en-US" sz="1425">
                <a:solidFill>
                  <a:srgbClr val="23303A"/>
                </a:solidFill>
                <a:latin typeface="Arial"/>
                <a:ea typeface="Arial"/>
                <a:cs typeface="Arial"/>
                <a:sym typeface="Arial"/>
              </a:rPr>
              <a:t>Schwippert and colleagues stimulated the contralateral </a:t>
            </a:r>
            <a:r>
              <a:rPr b="1" i="0" lang="en-US" sz="1425">
                <a:solidFill>
                  <a:srgbClr val="23303A"/>
                </a:solidFill>
                <a:latin typeface="Arial"/>
                <a:ea typeface="Arial"/>
                <a:cs typeface="Arial"/>
                <a:sym typeface="Arial"/>
              </a:rPr>
              <a:t>optic nerve</a:t>
            </a:r>
            <a:r>
              <a:rPr b="0" i="0" lang="en-US" sz="1425">
                <a:solidFill>
                  <a:srgbClr val="23303A"/>
                </a:solidFill>
                <a:latin typeface="Arial"/>
                <a:ea typeface="Arial"/>
                <a:cs typeface="Arial"/>
                <a:sym typeface="Arial"/>
              </a:rPr>
              <a:t>, the bundle carrying retinal axons to the brain, and recorded field potentials from nine sites over the dorsal tectal surface. The grid spans the tectal map with an original 1 mm anatomical calibration.</a:t>
            </a:r>
            <a:endParaRPr sz="1800">
              <a:solidFill>
                <a:schemeClr val="dk1"/>
              </a:solidFill>
              <a:latin typeface="Calibri"/>
              <a:ea typeface="Calibri"/>
              <a:cs typeface="Calibri"/>
              <a:sym typeface="Calibri"/>
            </a:endParaRPr>
          </a:p>
        </p:txBody>
      </p:sp>
      <p:sp>
        <p:nvSpPr>
          <p:cNvPr id="375" name="Google Shape;375;p26"/>
          <p:cNvSpPr/>
          <p:nvPr/>
        </p:nvSpPr>
        <p:spPr>
          <a:xfrm>
            <a:off x="457200" y="2418308"/>
            <a:ext cx="5695950" cy="1194346"/>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3303A"/>
              </a:buClr>
              <a:buSzPts val="1425"/>
              <a:buFont typeface="Arial"/>
              <a:buNone/>
            </a:pPr>
            <a:r>
              <a:rPr b="0" i="0" lang="en-US" sz="1425">
                <a:solidFill>
                  <a:srgbClr val="23303A"/>
                </a:solidFill>
                <a:latin typeface="Arial"/>
                <a:ea typeface="Arial"/>
                <a:cs typeface="Arial"/>
                <a:sym typeface="Arial"/>
              </a:rPr>
              <a:t>Short pulses of approximately 0.1 ms at currents up to 10 μA supplied a precisely timed input. Repeated optic-nerve stimulation at 0.8 Hz produced reproducible waveforms that could be compared with responses evoked by stimulating the pretectal Lpd/P region.</a:t>
            </a:r>
            <a:endParaRPr sz="1800">
              <a:solidFill>
                <a:schemeClr val="dk1"/>
              </a:solidFill>
              <a:latin typeface="Calibri"/>
              <a:ea typeface="Calibri"/>
              <a:cs typeface="Calibri"/>
              <a:sym typeface="Calibri"/>
            </a:endParaRPr>
          </a:p>
        </p:txBody>
      </p:sp>
      <p:sp>
        <p:nvSpPr>
          <p:cNvPr id="376" name="Google Shape;376;p26"/>
          <p:cNvSpPr/>
          <p:nvPr/>
        </p:nvSpPr>
        <p:spPr>
          <a:xfrm>
            <a:off x="457200" y="3765054"/>
            <a:ext cx="5695950" cy="1194346"/>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3303A"/>
              </a:buClr>
              <a:buSzPts val="1425"/>
              <a:buFont typeface="Arial"/>
              <a:buNone/>
            </a:pPr>
            <a:r>
              <a:rPr b="0" i="0" lang="en-US" sz="1425">
                <a:solidFill>
                  <a:srgbClr val="23303A"/>
                </a:solidFill>
                <a:latin typeface="Arial"/>
                <a:ea typeface="Arial"/>
                <a:cs typeface="Arial"/>
                <a:sym typeface="Arial"/>
              </a:rPr>
              <a:t>Bypassing the retinal image permits an analysis of input timing and interactions without changing object size or shape. Electrical activation does not reproduce a natural visual spike pattern, and a surface field potential reports population currents rather than one identified neuron’s membrane voltage.</a:t>
            </a:r>
            <a:endParaRPr sz="1800">
              <a:solidFill>
                <a:schemeClr val="dk1"/>
              </a:solidFill>
              <a:latin typeface="Calibri"/>
              <a:ea typeface="Calibri"/>
              <a:cs typeface="Calibri"/>
              <a:sym typeface="Calibri"/>
            </a:endParaRPr>
          </a:p>
        </p:txBody>
      </p:sp>
      <p:pic>
        <p:nvPicPr>
          <p:cNvPr id="377" name="Google Shape;377;p26"/>
          <p:cNvPicPr preferRelativeResize="0"/>
          <p:nvPr/>
        </p:nvPicPr>
        <p:blipFill rotWithShape="1">
          <a:blip r:embed="rId3">
            <a:alphaModFix/>
          </a:blip>
          <a:srcRect b="0" l="0" r="0" t="0"/>
          <a:stretch/>
        </p:blipFill>
        <p:spPr>
          <a:xfrm>
            <a:off x="6907702" y="1071563"/>
            <a:ext cx="4396397" cy="4229100"/>
          </a:xfrm>
          <a:prstGeom prst="rect">
            <a:avLst/>
          </a:prstGeom>
          <a:noFill/>
          <a:ln>
            <a:noFill/>
          </a:ln>
        </p:spPr>
      </p:pic>
      <p:sp>
        <p:nvSpPr>
          <p:cNvPr id="378" name="Google Shape;378;p26"/>
          <p:cNvSpPr/>
          <p:nvPr/>
        </p:nvSpPr>
        <p:spPr>
          <a:xfrm>
            <a:off x="6477000" y="5376863"/>
            <a:ext cx="5276850" cy="285750"/>
          </a:xfrm>
          <a:prstGeom prst="rect">
            <a:avLst/>
          </a:prstGeom>
          <a:noFill/>
          <a:ln>
            <a:noFill/>
          </a:ln>
        </p:spPr>
        <p:txBody>
          <a:bodyPr anchorCtr="0" anchor="t" bIns="0" lIns="0" spcFirstLastPara="1" rIns="0" wrap="square" tIns="0">
            <a:normAutofit/>
          </a:bodyPr>
          <a:lstStyle/>
          <a:p>
            <a:pPr indent="0" lvl="0" marL="0" marR="0" rtl="0" algn="l">
              <a:lnSpc>
                <a:spcPct val="125000"/>
              </a:lnSpc>
              <a:spcBef>
                <a:spcPts val="0"/>
              </a:spcBef>
              <a:spcAft>
                <a:spcPts val="0"/>
              </a:spcAft>
              <a:buClr>
                <a:srgbClr val="23303A"/>
              </a:buClr>
              <a:buSzPts val="900"/>
              <a:buFont typeface="Arial"/>
              <a:buNone/>
            </a:pPr>
            <a:r>
              <a:rPr b="0" i="0" lang="en-US" sz="900">
                <a:solidFill>
                  <a:srgbClr val="23303A"/>
                </a:solidFill>
                <a:latin typeface="Arial"/>
                <a:ea typeface="Arial"/>
                <a:cs typeface="Arial"/>
                <a:sym typeface="Arial"/>
              </a:rPr>
              <a:t>Schwippert et al. (1995), Fig. 2. Optic-nerve stimulation and tectal recording grid with original 1 mm calibration.</a:t>
            </a:r>
            <a:endParaRPr sz="1800">
              <a:solidFill>
                <a:schemeClr val="dk1"/>
              </a:solidFill>
              <a:latin typeface="Calibri"/>
              <a:ea typeface="Calibri"/>
              <a:cs typeface="Calibri"/>
              <a:sym typeface="Calibri"/>
            </a:endParaRPr>
          </a:p>
        </p:txBody>
      </p:sp>
      <p:pic>
        <p:nvPicPr>
          <p:cNvPr id="379" name="Google Shape;379;p26"/>
          <p:cNvPicPr preferRelativeResize="0"/>
          <p:nvPr/>
        </p:nvPicPr>
        <p:blipFill rotWithShape="1">
          <a:blip r:embed="rId4">
            <a:alphaModFix/>
          </a:blip>
          <a:srcRect b="0" l="0" r="0" t="0"/>
          <a:stretch/>
        </p:blipFill>
        <p:spPr>
          <a:xfrm>
            <a:off x="457200" y="6405563"/>
            <a:ext cx="11277600" cy="242888"/>
          </a:xfrm>
          <a:prstGeom prst="rect">
            <a:avLst/>
          </a:prstGeom>
          <a:noFill/>
          <a:ln>
            <a:noFill/>
          </a:ln>
        </p:spPr>
      </p:pic>
      <p:sp>
        <p:nvSpPr>
          <p:cNvPr id="380" name="Google Shape;380;p26"/>
          <p:cNvSpPr/>
          <p:nvPr/>
        </p:nvSpPr>
        <p:spPr>
          <a:xfrm>
            <a:off x="457200" y="6491288"/>
            <a:ext cx="1165175" cy="157163"/>
          </a:xfrm>
          <a:prstGeom prst="rect">
            <a:avLst/>
          </a:prstGeom>
          <a:noFill/>
          <a:ln>
            <a:noFill/>
          </a:ln>
        </p:spPr>
        <p:txBody>
          <a:bodyPr anchorCtr="0" anchor="t" bIns="0" lIns="0" spcFirstLastPara="1" rIns="0" wrap="square" tIns="0">
            <a:normAutofit/>
          </a:bodyPr>
          <a:lstStyle/>
          <a:p>
            <a:pPr indent="0" lvl="0" marL="0" marR="0" rtl="0" algn="l">
              <a:lnSpc>
                <a:spcPct val="150060"/>
              </a:lnSpc>
              <a:spcBef>
                <a:spcPts val="0"/>
              </a:spcBef>
              <a:spcAft>
                <a:spcPts val="0"/>
              </a:spcAft>
              <a:buClr>
                <a:srgbClr val="5F6E7A"/>
              </a:buClr>
              <a:buSzPts val="825"/>
              <a:buFont typeface="Arial"/>
              <a:buNone/>
            </a:pPr>
            <a:r>
              <a:rPr b="0" i="0" lang="en-US" sz="825">
                <a:solidFill>
                  <a:srgbClr val="5F6E7A"/>
                </a:solidFill>
                <a:latin typeface="Arial"/>
                <a:ea typeface="Arial"/>
                <a:cs typeface="Arial"/>
                <a:sym typeface="Arial"/>
              </a:rPr>
              <a:t>Schwippert et al. (1995)</a:t>
            </a:r>
            <a:endParaRPr sz="1800">
              <a:solidFill>
                <a:schemeClr val="dk1"/>
              </a:solidFill>
              <a:latin typeface="Calibri"/>
              <a:ea typeface="Calibri"/>
              <a:cs typeface="Calibri"/>
              <a:sym typeface="Calibri"/>
            </a:endParaRPr>
          </a:p>
        </p:txBody>
      </p:sp>
      <p:sp>
        <p:nvSpPr>
          <p:cNvPr id="381" name="Google Shape;381;p26"/>
          <p:cNvSpPr/>
          <p:nvPr/>
        </p:nvSpPr>
        <p:spPr>
          <a:xfrm>
            <a:off x="11614845" y="6491288"/>
            <a:ext cx="139005" cy="157163"/>
          </a:xfrm>
          <a:prstGeom prst="rect">
            <a:avLst/>
          </a:prstGeom>
          <a:noFill/>
          <a:ln>
            <a:noFill/>
          </a:ln>
        </p:spPr>
        <p:txBody>
          <a:bodyPr anchorCtr="0" anchor="t" bIns="0" lIns="0" spcFirstLastPara="1" rIns="0" wrap="square" tIns="0">
            <a:normAutofit/>
          </a:bodyPr>
          <a:lstStyle/>
          <a:p>
            <a:pPr indent="0" lvl="0" marL="0" marR="0" rtl="0" algn="l">
              <a:lnSpc>
                <a:spcPct val="150060"/>
              </a:lnSpc>
              <a:spcBef>
                <a:spcPts val="0"/>
              </a:spcBef>
              <a:spcAft>
                <a:spcPts val="0"/>
              </a:spcAft>
              <a:buClr>
                <a:srgbClr val="5F6E7A"/>
              </a:buClr>
              <a:buSzPts val="825"/>
              <a:buFont typeface="Arial"/>
              <a:buNone/>
            </a:pPr>
            <a:r>
              <a:rPr b="0" i="0" lang="en-US" sz="825">
                <a:solidFill>
                  <a:srgbClr val="5F6E7A"/>
                </a:solidFill>
                <a:latin typeface="Arial"/>
                <a:ea typeface="Arial"/>
                <a:cs typeface="Arial"/>
                <a:sym typeface="Arial"/>
              </a:rPr>
              <a:t>26</a:t>
            </a:r>
            <a:endParaRPr sz="1800">
              <a:solidFill>
                <a:schemeClr val="dk1"/>
              </a:solidFill>
              <a:latin typeface="Calibri"/>
              <a:ea typeface="Calibri"/>
              <a:cs typeface="Calibri"/>
              <a:sym typeface="Calibri"/>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85" name="Shape 385"/>
        <p:cNvGrpSpPr/>
        <p:nvPr/>
      </p:nvGrpSpPr>
      <p:grpSpPr>
        <a:xfrm>
          <a:off x="0" y="0"/>
          <a:ext cx="0" cy="0"/>
          <a:chOff x="0" y="0"/>
          <a:chExt cx="0" cy="0"/>
        </a:xfrm>
      </p:grpSpPr>
      <p:sp>
        <p:nvSpPr>
          <p:cNvPr id="386" name="Google Shape;386;p27"/>
          <p:cNvSpPr/>
          <p:nvPr/>
        </p:nvSpPr>
        <p:spPr>
          <a:xfrm>
            <a:off x="457200" y="457200"/>
            <a:ext cx="11296650" cy="328613"/>
          </a:xfrm>
          <a:prstGeom prst="rect">
            <a:avLst/>
          </a:prstGeom>
          <a:noFill/>
          <a:ln>
            <a:noFill/>
          </a:ln>
        </p:spPr>
        <p:txBody>
          <a:bodyPr anchorCtr="0" anchor="t" bIns="0" lIns="0" spcFirstLastPara="1" rIns="0" wrap="square" tIns="0">
            <a:normAutofit/>
          </a:bodyPr>
          <a:lstStyle/>
          <a:p>
            <a:pPr indent="0" lvl="0" marL="0" marR="0" rtl="0" algn="l">
              <a:lnSpc>
                <a:spcPct val="115022"/>
              </a:lnSpc>
              <a:spcBef>
                <a:spcPts val="0"/>
              </a:spcBef>
              <a:spcAft>
                <a:spcPts val="0"/>
              </a:spcAft>
              <a:buClr>
                <a:srgbClr val="35536B"/>
              </a:buClr>
              <a:buSzPts val="2250"/>
              <a:buFont typeface="Arial"/>
              <a:buNone/>
            </a:pPr>
            <a:r>
              <a:rPr b="1" i="0" lang="en-US" sz="2250">
                <a:solidFill>
                  <a:srgbClr val="35536B"/>
                </a:solidFill>
                <a:latin typeface="Arial"/>
                <a:ea typeface="Arial"/>
                <a:cs typeface="Arial"/>
                <a:sym typeface="Arial"/>
              </a:rPr>
              <a:t>The optic-nerve response has separable components</a:t>
            </a:r>
            <a:endParaRPr sz="1800">
              <a:solidFill>
                <a:schemeClr val="dk1"/>
              </a:solidFill>
              <a:latin typeface="Calibri"/>
              <a:ea typeface="Calibri"/>
              <a:cs typeface="Calibri"/>
              <a:sym typeface="Calibri"/>
            </a:endParaRPr>
          </a:p>
        </p:txBody>
      </p:sp>
      <p:sp>
        <p:nvSpPr>
          <p:cNvPr id="387" name="Google Shape;387;p27"/>
          <p:cNvSpPr/>
          <p:nvPr/>
        </p:nvSpPr>
        <p:spPr>
          <a:xfrm>
            <a:off x="457200" y="1071563"/>
            <a:ext cx="5695950" cy="1194346"/>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3303A"/>
              </a:buClr>
              <a:buSzPts val="1425"/>
              <a:buFont typeface="Arial"/>
              <a:buNone/>
            </a:pPr>
            <a:r>
              <a:rPr b="0" i="0" lang="en-US" sz="1425">
                <a:solidFill>
                  <a:srgbClr val="23303A"/>
                </a:solidFill>
                <a:latin typeface="Arial"/>
                <a:ea typeface="Arial"/>
                <a:cs typeface="Arial"/>
                <a:sym typeface="Arial"/>
              </a:rPr>
              <a:t>The optic-nerve-evoked tectal field begins with a rapid presynaptic component, labeled PRE or P1 in the source recordings. </a:t>
            </a:r>
            <a:r>
              <a:rPr b="1" i="0" lang="en-US" sz="1425">
                <a:solidFill>
                  <a:srgbClr val="23303A"/>
                </a:solidFill>
                <a:latin typeface="Arial"/>
                <a:ea typeface="Arial"/>
                <a:cs typeface="Arial"/>
                <a:sym typeface="Arial"/>
              </a:rPr>
              <a:t>Presynaptic</a:t>
            </a:r>
            <a:r>
              <a:rPr b="0" i="0" lang="en-US" sz="1425">
                <a:solidFill>
                  <a:srgbClr val="23303A"/>
                </a:solidFill>
                <a:latin typeface="Arial"/>
                <a:ea typeface="Arial"/>
                <a:cs typeface="Arial"/>
                <a:sym typeface="Arial"/>
              </a:rPr>
              <a:t> denotes activity before transmission across a synapse; the later field waves reflect aggregate responses within the tectal layers.</a:t>
            </a:r>
            <a:endParaRPr sz="1800">
              <a:solidFill>
                <a:schemeClr val="dk1"/>
              </a:solidFill>
              <a:latin typeface="Calibri"/>
              <a:ea typeface="Calibri"/>
              <a:cs typeface="Calibri"/>
              <a:sym typeface="Calibri"/>
            </a:endParaRPr>
          </a:p>
        </p:txBody>
      </p:sp>
      <p:sp>
        <p:nvSpPr>
          <p:cNvPr id="388" name="Google Shape;388;p27"/>
          <p:cNvSpPr/>
          <p:nvPr/>
        </p:nvSpPr>
        <p:spPr>
          <a:xfrm>
            <a:off x="457200" y="2418308"/>
            <a:ext cx="5695950" cy="1433215"/>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3303A"/>
              </a:buClr>
              <a:buSzPts val="1425"/>
              <a:buFont typeface="Arial"/>
              <a:buNone/>
            </a:pPr>
            <a:r>
              <a:rPr b="0" i="0" lang="en-US" sz="1425">
                <a:solidFill>
                  <a:srgbClr val="23303A"/>
                </a:solidFill>
                <a:latin typeface="Arial"/>
                <a:ea typeface="Arial"/>
                <a:cs typeface="Arial"/>
                <a:sym typeface="Arial"/>
              </a:rPr>
              <a:t>Schwippert and colleagues distinguished the negative N1 wave and later positive and negative components. N1 began at approximately 11 ms and peaked around 18.7 ms; N2 began around 24 ms and peaked around 40.6 ms. Lower stimulus current could remove the later N2 component and merge positive components.</a:t>
            </a:r>
            <a:endParaRPr sz="1800">
              <a:solidFill>
                <a:schemeClr val="dk1"/>
              </a:solidFill>
              <a:latin typeface="Calibri"/>
              <a:ea typeface="Calibri"/>
              <a:cs typeface="Calibri"/>
              <a:sym typeface="Calibri"/>
            </a:endParaRPr>
          </a:p>
        </p:txBody>
      </p:sp>
      <p:sp>
        <p:nvSpPr>
          <p:cNvPr id="389" name="Google Shape;389;p27"/>
          <p:cNvSpPr/>
          <p:nvPr/>
        </p:nvSpPr>
        <p:spPr>
          <a:xfrm>
            <a:off x="457200" y="4003923"/>
            <a:ext cx="5695950" cy="955477"/>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3303A"/>
              </a:buClr>
              <a:buSzPts val="1425"/>
              <a:buFont typeface="Arial"/>
              <a:buNone/>
            </a:pPr>
            <a:r>
              <a:rPr b="0" i="0" lang="en-US" sz="1425">
                <a:solidFill>
                  <a:srgbClr val="23303A"/>
                </a:solidFill>
                <a:latin typeface="Arial"/>
                <a:ea typeface="Arial"/>
                <a:cs typeface="Arial"/>
                <a:sym typeface="Arial"/>
              </a:rPr>
              <a:t>The timing permits selective comparison of an early retinotectal response with later activity. These wave labels describe measured extracellular polarities and latencies; they are not names of receptor types, channels or single identified synaptic connections.</a:t>
            </a:r>
            <a:endParaRPr sz="1800">
              <a:solidFill>
                <a:schemeClr val="dk1"/>
              </a:solidFill>
              <a:latin typeface="Calibri"/>
              <a:ea typeface="Calibri"/>
              <a:cs typeface="Calibri"/>
              <a:sym typeface="Calibri"/>
            </a:endParaRPr>
          </a:p>
        </p:txBody>
      </p:sp>
      <p:pic>
        <p:nvPicPr>
          <p:cNvPr id="390" name="Google Shape;390;p27"/>
          <p:cNvPicPr preferRelativeResize="0"/>
          <p:nvPr/>
        </p:nvPicPr>
        <p:blipFill rotWithShape="1">
          <a:blip r:embed="rId3">
            <a:alphaModFix/>
          </a:blip>
          <a:srcRect b="0" l="0" r="0" t="0"/>
          <a:stretch/>
        </p:blipFill>
        <p:spPr>
          <a:xfrm>
            <a:off x="7037593" y="1071563"/>
            <a:ext cx="4136615" cy="4229100"/>
          </a:xfrm>
          <a:prstGeom prst="rect">
            <a:avLst/>
          </a:prstGeom>
          <a:noFill/>
          <a:ln>
            <a:noFill/>
          </a:ln>
        </p:spPr>
      </p:pic>
      <p:sp>
        <p:nvSpPr>
          <p:cNvPr id="391" name="Google Shape;391;p27"/>
          <p:cNvSpPr/>
          <p:nvPr/>
        </p:nvSpPr>
        <p:spPr>
          <a:xfrm>
            <a:off x="6477000" y="5376863"/>
            <a:ext cx="5276850" cy="285750"/>
          </a:xfrm>
          <a:prstGeom prst="rect">
            <a:avLst/>
          </a:prstGeom>
          <a:noFill/>
          <a:ln>
            <a:noFill/>
          </a:ln>
        </p:spPr>
        <p:txBody>
          <a:bodyPr anchorCtr="0" anchor="t" bIns="0" lIns="0" spcFirstLastPara="1" rIns="0" wrap="square" tIns="0">
            <a:normAutofit/>
          </a:bodyPr>
          <a:lstStyle/>
          <a:p>
            <a:pPr indent="0" lvl="0" marL="0" marR="0" rtl="0" algn="l">
              <a:lnSpc>
                <a:spcPct val="125000"/>
              </a:lnSpc>
              <a:spcBef>
                <a:spcPts val="0"/>
              </a:spcBef>
              <a:spcAft>
                <a:spcPts val="0"/>
              </a:spcAft>
              <a:buClr>
                <a:srgbClr val="23303A"/>
              </a:buClr>
              <a:buSzPts val="900"/>
              <a:buFont typeface="Arial"/>
              <a:buNone/>
            </a:pPr>
            <a:r>
              <a:rPr b="0" i="0" lang="en-US" sz="900">
                <a:solidFill>
                  <a:srgbClr val="23303A"/>
                </a:solidFill>
                <a:latin typeface="Arial"/>
                <a:ea typeface="Arial"/>
                <a:cs typeface="Arial"/>
                <a:sym typeface="Arial"/>
              </a:rPr>
              <a:t>Schwippert et al. (1995), Fig. 3(A–B). Stimulus strength alters components of optic-nerve-evoked tectal field potentials.</a:t>
            </a:r>
            <a:endParaRPr sz="1800">
              <a:solidFill>
                <a:schemeClr val="dk1"/>
              </a:solidFill>
              <a:latin typeface="Calibri"/>
              <a:ea typeface="Calibri"/>
              <a:cs typeface="Calibri"/>
              <a:sym typeface="Calibri"/>
            </a:endParaRPr>
          </a:p>
        </p:txBody>
      </p:sp>
      <p:pic>
        <p:nvPicPr>
          <p:cNvPr id="392" name="Google Shape;392;p27"/>
          <p:cNvPicPr preferRelativeResize="0"/>
          <p:nvPr/>
        </p:nvPicPr>
        <p:blipFill rotWithShape="1">
          <a:blip r:embed="rId4">
            <a:alphaModFix/>
          </a:blip>
          <a:srcRect b="0" l="0" r="0" t="0"/>
          <a:stretch/>
        </p:blipFill>
        <p:spPr>
          <a:xfrm>
            <a:off x="457200" y="6405563"/>
            <a:ext cx="11277600" cy="242888"/>
          </a:xfrm>
          <a:prstGeom prst="rect">
            <a:avLst/>
          </a:prstGeom>
          <a:noFill/>
          <a:ln>
            <a:noFill/>
          </a:ln>
        </p:spPr>
      </p:pic>
      <p:sp>
        <p:nvSpPr>
          <p:cNvPr id="393" name="Google Shape;393;p27"/>
          <p:cNvSpPr/>
          <p:nvPr/>
        </p:nvSpPr>
        <p:spPr>
          <a:xfrm>
            <a:off x="457200" y="6491288"/>
            <a:ext cx="1165175" cy="157163"/>
          </a:xfrm>
          <a:prstGeom prst="rect">
            <a:avLst/>
          </a:prstGeom>
          <a:noFill/>
          <a:ln>
            <a:noFill/>
          </a:ln>
        </p:spPr>
        <p:txBody>
          <a:bodyPr anchorCtr="0" anchor="t" bIns="0" lIns="0" spcFirstLastPara="1" rIns="0" wrap="square" tIns="0">
            <a:normAutofit/>
          </a:bodyPr>
          <a:lstStyle/>
          <a:p>
            <a:pPr indent="0" lvl="0" marL="0" marR="0" rtl="0" algn="l">
              <a:lnSpc>
                <a:spcPct val="150060"/>
              </a:lnSpc>
              <a:spcBef>
                <a:spcPts val="0"/>
              </a:spcBef>
              <a:spcAft>
                <a:spcPts val="0"/>
              </a:spcAft>
              <a:buClr>
                <a:srgbClr val="5F6E7A"/>
              </a:buClr>
              <a:buSzPts val="825"/>
              <a:buFont typeface="Arial"/>
              <a:buNone/>
            </a:pPr>
            <a:r>
              <a:rPr b="0" i="0" lang="en-US" sz="825">
                <a:solidFill>
                  <a:srgbClr val="5F6E7A"/>
                </a:solidFill>
                <a:latin typeface="Arial"/>
                <a:ea typeface="Arial"/>
                <a:cs typeface="Arial"/>
                <a:sym typeface="Arial"/>
              </a:rPr>
              <a:t>Schwippert et al. (1995)</a:t>
            </a:r>
            <a:endParaRPr sz="1800">
              <a:solidFill>
                <a:schemeClr val="dk1"/>
              </a:solidFill>
              <a:latin typeface="Calibri"/>
              <a:ea typeface="Calibri"/>
              <a:cs typeface="Calibri"/>
              <a:sym typeface="Calibri"/>
            </a:endParaRPr>
          </a:p>
        </p:txBody>
      </p:sp>
      <p:sp>
        <p:nvSpPr>
          <p:cNvPr id="394" name="Google Shape;394;p27"/>
          <p:cNvSpPr/>
          <p:nvPr/>
        </p:nvSpPr>
        <p:spPr>
          <a:xfrm>
            <a:off x="11614845" y="6491288"/>
            <a:ext cx="139005" cy="157163"/>
          </a:xfrm>
          <a:prstGeom prst="rect">
            <a:avLst/>
          </a:prstGeom>
          <a:noFill/>
          <a:ln>
            <a:noFill/>
          </a:ln>
        </p:spPr>
        <p:txBody>
          <a:bodyPr anchorCtr="0" anchor="t" bIns="0" lIns="0" spcFirstLastPara="1" rIns="0" wrap="square" tIns="0">
            <a:normAutofit/>
          </a:bodyPr>
          <a:lstStyle/>
          <a:p>
            <a:pPr indent="0" lvl="0" marL="0" marR="0" rtl="0" algn="l">
              <a:lnSpc>
                <a:spcPct val="150060"/>
              </a:lnSpc>
              <a:spcBef>
                <a:spcPts val="0"/>
              </a:spcBef>
              <a:spcAft>
                <a:spcPts val="0"/>
              </a:spcAft>
              <a:buClr>
                <a:srgbClr val="5F6E7A"/>
              </a:buClr>
              <a:buSzPts val="825"/>
              <a:buFont typeface="Arial"/>
              <a:buNone/>
            </a:pPr>
            <a:r>
              <a:rPr b="0" i="0" lang="en-US" sz="825">
                <a:solidFill>
                  <a:srgbClr val="5F6E7A"/>
                </a:solidFill>
                <a:latin typeface="Arial"/>
                <a:ea typeface="Arial"/>
                <a:cs typeface="Arial"/>
                <a:sym typeface="Arial"/>
              </a:rPr>
              <a:t>27</a:t>
            </a:r>
            <a:endParaRPr sz="1800">
              <a:solidFill>
                <a:schemeClr val="dk1"/>
              </a:solidFill>
              <a:latin typeface="Calibri"/>
              <a:ea typeface="Calibri"/>
              <a:cs typeface="Calibri"/>
              <a:sym typeface="Calibri"/>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98" name="Shape 398"/>
        <p:cNvGrpSpPr/>
        <p:nvPr/>
      </p:nvGrpSpPr>
      <p:grpSpPr>
        <a:xfrm>
          <a:off x="0" y="0"/>
          <a:ext cx="0" cy="0"/>
          <a:chOff x="0" y="0"/>
          <a:chExt cx="0" cy="0"/>
        </a:xfrm>
      </p:grpSpPr>
      <p:sp>
        <p:nvSpPr>
          <p:cNvPr id="399" name="Google Shape;399;p28"/>
          <p:cNvSpPr/>
          <p:nvPr/>
        </p:nvSpPr>
        <p:spPr>
          <a:xfrm>
            <a:off x="457200" y="457200"/>
            <a:ext cx="11296650" cy="328613"/>
          </a:xfrm>
          <a:prstGeom prst="rect">
            <a:avLst/>
          </a:prstGeom>
          <a:noFill/>
          <a:ln>
            <a:noFill/>
          </a:ln>
        </p:spPr>
        <p:txBody>
          <a:bodyPr anchorCtr="0" anchor="t" bIns="0" lIns="0" spcFirstLastPara="1" rIns="0" wrap="square" tIns="0">
            <a:normAutofit/>
          </a:bodyPr>
          <a:lstStyle/>
          <a:p>
            <a:pPr indent="0" lvl="0" marL="0" marR="0" rtl="0" algn="l">
              <a:lnSpc>
                <a:spcPct val="115022"/>
              </a:lnSpc>
              <a:spcBef>
                <a:spcPts val="0"/>
              </a:spcBef>
              <a:spcAft>
                <a:spcPts val="0"/>
              </a:spcAft>
              <a:buClr>
                <a:srgbClr val="35536B"/>
              </a:buClr>
              <a:buSzPts val="2250"/>
              <a:buFont typeface="Arial"/>
              <a:buNone/>
            </a:pPr>
            <a:r>
              <a:rPr b="1" i="0" lang="en-US" sz="2250">
                <a:solidFill>
                  <a:srgbClr val="35536B"/>
                </a:solidFill>
                <a:latin typeface="Arial"/>
                <a:ea typeface="Arial"/>
                <a:cs typeface="Arial"/>
                <a:sym typeface="Arial"/>
              </a:rPr>
              <a:t>Field polarity depends on tectal recording depth</a:t>
            </a:r>
            <a:endParaRPr sz="1800">
              <a:solidFill>
                <a:schemeClr val="dk1"/>
              </a:solidFill>
              <a:latin typeface="Calibri"/>
              <a:ea typeface="Calibri"/>
              <a:cs typeface="Calibri"/>
              <a:sym typeface="Calibri"/>
            </a:endParaRPr>
          </a:p>
        </p:txBody>
      </p:sp>
      <p:sp>
        <p:nvSpPr>
          <p:cNvPr id="400" name="Google Shape;400;p28"/>
          <p:cNvSpPr/>
          <p:nvPr/>
        </p:nvSpPr>
        <p:spPr>
          <a:xfrm>
            <a:off x="457200" y="1071563"/>
            <a:ext cx="5695950" cy="955477"/>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3303A"/>
              </a:buClr>
              <a:buSzPts val="1425"/>
              <a:buFont typeface="Arial"/>
              <a:buNone/>
            </a:pPr>
            <a:r>
              <a:rPr b="0" i="0" lang="en-US" sz="1425">
                <a:solidFill>
                  <a:srgbClr val="23303A"/>
                </a:solidFill>
                <a:latin typeface="Arial"/>
                <a:ea typeface="Arial"/>
                <a:cs typeface="Arial"/>
                <a:sym typeface="Arial"/>
              </a:rPr>
              <a:t>Schwippert and colleagues compared field responses recorded at the tectal surface and at successive depths. The optic tectum is </a:t>
            </a:r>
            <a:r>
              <a:rPr b="1" i="0" lang="en-US" sz="1425">
                <a:solidFill>
                  <a:srgbClr val="23303A"/>
                </a:solidFill>
                <a:latin typeface="Arial"/>
                <a:ea typeface="Arial"/>
                <a:cs typeface="Arial"/>
                <a:sym typeface="Arial"/>
              </a:rPr>
              <a:t>laminated</a:t>
            </a:r>
            <a:r>
              <a:rPr b="0" i="0" lang="en-US" sz="1425">
                <a:solidFill>
                  <a:srgbClr val="23303A"/>
                </a:solidFill>
                <a:latin typeface="Arial"/>
                <a:ea typeface="Arial"/>
                <a:cs typeface="Arial"/>
                <a:sym typeface="Arial"/>
              </a:rPr>
              <a:t>, meaning that neural elements and their connections are organized in layers with different orientations and positions.</a:t>
            </a:r>
            <a:endParaRPr sz="1800">
              <a:solidFill>
                <a:schemeClr val="dk1"/>
              </a:solidFill>
              <a:latin typeface="Calibri"/>
              <a:ea typeface="Calibri"/>
              <a:cs typeface="Calibri"/>
              <a:sym typeface="Calibri"/>
            </a:endParaRPr>
          </a:p>
        </p:txBody>
      </p:sp>
      <p:sp>
        <p:nvSpPr>
          <p:cNvPr id="401" name="Google Shape;401;p28"/>
          <p:cNvSpPr/>
          <p:nvPr/>
        </p:nvSpPr>
        <p:spPr>
          <a:xfrm>
            <a:off x="457200" y="2179439"/>
            <a:ext cx="5695950" cy="1194346"/>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3303A"/>
              </a:buClr>
              <a:buSzPts val="1425"/>
              <a:buFont typeface="Arial"/>
              <a:buNone/>
            </a:pPr>
            <a:r>
              <a:rPr b="0" i="0" lang="en-US" sz="1425">
                <a:solidFill>
                  <a:srgbClr val="23303A"/>
                </a:solidFill>
                <a:latin typeface="Arial"/>
                <a:ea typeface="Arial"/>
                <a:cs typeface="Arial"/>
                <a:sym typeface="Arial"/>
              </a:rPr>
              <a:t>The original records at approximately 200–400 μm below the surface differed in polarity from the surface waveform. Retinal axons terminate superficially, while tectal dendrites extend through the layered structure, so the electrode samples different arrangements of current sources and sinks.</a:t>
            </a:r>
            <a:endParaRPr sz="1800">
              <a:solidFill>
                <a:schemeClr val="dk1"/>
              </a:solidFill>
              <a:latin typeface="Calibri"/>
              <a:ea typeface="Calibri"/>
              <a:cs typeface="Calibri"/>
              <a:sym typeface="Calibri"/>
            </a:endParaRPr>
          </a:p>
        </p:txBody>
      </p:sp>
      <p:sp>
        <p:nvSpPr>
          <p:cNvPr id="402" name="Google Shape;402;p28"/>
          <p:cNvSpPr/>
          <p:nvPr/>
        </p:nvSpPr>
        <p:spPr>
          <a:xfrm>
            <a:off x="457200" y="3526185"/>
            <a:ext cx="5695950" cy="1194346"/>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3303A"/>
              </a:buClr>
              <a:buSzPts val="1425"/>
              <a:buFont typeface="Arial"/>
              <a:buNone/>
            </a:pPr>
            <a:r>
              <a:rPr b="0" i="0" lang="en-US" sz="1425">
                <a:solidFill>
                  <a:srgbClr val="23303A"/>
                </a:solidFill>
                <a:latin typeface="Arial"/>
                <a:ea typeface="Arial"/>
                <a:cs typeface="Arial"/>
                <a:sym typeface="Arial"/>
              </a:rPr>
              <a:t>A </a:t>
            </a:r>
            <a:r>
              <a:rPr b="1" i="0" lang="en-US" sz="1425">
                <a:solidFill>
                  <a:srgbClr val="23303A"/>
                </a:solidFill>
                <a:latin typeface="Arial"/>
                <a:ea typeface="Arial"/>
                <a:cs typeface="Arial"/>
                <a:sym typeface="Arial"/>
              </a:rPr>
              <a:t>current sink</a:t>
            </a:r>
            <a:r>
              <a:rPr b="0" i="0" lang="en-US" sz="1425">
                <a:solidFill>
                  <a:srgbClr val="23303A"/>
                </a:solidFill>
                <a:latin typeface="Arial"/>
                <a:ea typeface="Arial"/>
                <a:cs typeface="Arial"/>
                <a:sym typeface="Arial"/>
              </a:rPr>
              <a:t> is a region where extracellular current enters cells; a source is a region where it returns outward. The depth dependence prevents equating a negative extracellular wave directly with membrane inhibition, excitation or a particular ionic conductance without additional physiological evidence.</a:t>
            </a:r>
            <a:endParaRPr sz="1800">
              <a:solidFill>
                <a:schemeClr val="dk1"/>
              </a:solidFill>
              <a:latin typeface="Calibri"/>
              <a:ea typeface="Calibri"/>
              <a:cs typeface="Calibri"/>
              <a:sym typeface="Calibri"/>
            </a:endParaRPr>
          </a:p>
        </p:txBody>
      </p:sp>
      <p:pic>
        <p:nvPicPr>
          <p:cNvPr id="403" name="Google Shape;403;p28"/>
          <p:cNvPicPr preferRelativeResize="0"/>
          <p:nvPr/>
        </p:nvPicPr>
        <p:blipFill rotWithShape="1">
          <a:blip r:embed="rId3">
            <a:alphaModFix/>
          </a:blip>
          <a:srcRect b="0" l="0" r="0" t="0"/>
          <a:stretch/>
        </p:blipFill>
        <p:spPr>
          <a:xfrm>
            <a:off x="7989405" y="1071563"/>
            <a:ext cx="2232990" cy="4229100"/>
          </a:xfrm>
          <a:prstGeom prst="rect">
            <a:avLst/>
          </a:prstGeom>
          <a:noFill/>
          <a:ln>
            <a:noFill/>
          </a:ln>
        </p:spPr>
      </p:pic>
      <p:sp>
        <p:nvSpPr>
          <p:cNvPr id="404" name="Google Shape;404;p28"/>
          <p:cNvSpPr/>
          <p:nvPr/>
        </p:nvSpPr>
        <p:spPr>
          <a:xfrm>
            <a:off x="6477000" y="5376863"/>
            <a:ext cx="5276850" cy="285750"/>
          </a:xfrm>
          <a:prstGeom prst="rect">
            <a:avLst/>
          </a:prstGeom>
          <a:noFill/>
          <a:ln>
            <a:noFill/>
          </a:ln>
        </p:spPr>
        <p:txBody>
          <a:bodyPr anchorCtr="0" anchor="t" bIns="0" lIns="0" spcFirstLastPara="1" rIns="0" wrap="square" tIns="0">
            <a:normAutofit/>
          </a:bodyPr>
          <a:lstStyle/>
          <a:p>
            <a:pPr indent="0" lvl="0" marL="0" marR="0" rtl="0" algn="l">
              <a:lnSpc>
                <a:spcPct val="125000"/>
              </a:lnSpc>
              <a:spcBef>
                <a:spcPts val="0"/>
              </a:spcBef>
              <a:spcAft>
                <a:spcPts val="0"/>
              </a:spcAft>
              <a:buClr>
                <a:srgbClr val="23303A"/>
              </a:buClr>
              <a:buSzPts val="900"/>
              <a:buFont typeface="Arial"/>
              <a:buNone/>
            </a:pPr>
            <a:r>
              <a:rPr b="0" i="0" lang="en-US" sz="900">
                <a:solidFill>
                  <a:srgbClr val="23303A"/>
                </a:solidFill>
                <a:latin typeface="Arial"/>
                <a:ea typeface="Arial"/>
                <a:cs typeface="Arial"/>
                <a:sym typeface="Arial"/>
              </a:rPr>
              <a:t>Schwippert et al. (1995), Fig. 1(A–B). Surface recordings after tubocurarine and recordings at successive tectal depths.</a:t>
            </a:r>
            <a:endParaRPr sz="1800">
              <a:solidFill>
                <a:schemeClr val="dk1"/>
              </a:solidFill>
              <a:latin typeface="Calibri"/>
              <a:ea typeface="Calibri"/>
              <a:cs typeface="Calibri"/>
              <a:sym typeface="Calibri"/>
            </a:endParaRPr>
          </a:p>
        </p:txBody>
      </p:sp>
      <p:pic>
        <p:nvPicPr>
          <p:cNvPr id="405" name="Google Shape;405;p28"/>
          <p:cNvPicPr preferRelativeResize="0"/>
          <p:nvPr/>
        </p:nvPicPr>
        <p:blipFill rotWithShape="1">
          <a:blip r:embed="rId4">
            <a:alphaModFix/>
          </a:blip>
          <a:srcRect b="0" l="0" r="0" t="0"/>
          <a:stretch/>
        </p:blipFill>
        <p:spPr>
          <a:xfrm>
            <a:off x="457200" y="6405563"/>
            <a:ext cx="11277600" cy="242888"/>
          </a:xfrm>
          <a:prstGeom prst="rect">
            <a:avLst/>
          </a:prstGeom>
          <a:noFill/>
          <a:ln>
            <a:noFill/>
          </a:ln>
        </p:spPr>
      </p:pic>
      <p:sp>
        <p:nvSpPr>
          <p:cNvPr id="406" name="Google Shape;406;p28"/>
          <p:cNvSpPr/>
          <p:nvPr/>
        </p:nvSpPr>
        <p:spPr>
          <a:xfrm>
            <a:off x="457200" y="6491288"/>
            <a:ext cx="1165175" cy="157163"/>
          </a:xfrm>
          <a:prstGeom prst="rect">
            <a:avLst/>
          </a:prstGeom>
          <a:noFill/>
          <a:ln>
            <a:noFill/>
          </a:ln>
        </p:spPr>
        <p:txBody>
          <a:bodyPr anchorCtr="0" anchor="t" bIns="0" lIns="0" spcFirstLastPara="1" rIns="0" wrap="square" tIns="0">
            <a:normAutofit/>
          </a:bodyPr>
          <a:lstStyle/>
          <a:p>
            <a:pPr indent="0" lvl="0" marL="0" marR="0" rtl="0" algn="l">
              <a:lnSpc>
                <a:spcPct val="150060"/>
              </a:lnSpc>
              <a:spcBef>
                <a:spcPts val="0"/>
              </a:spcBef>
              <a:spcAft>
                <a:spcPts val="0"/>
              </a:spcAft>
              <a:buClr>
                <a:srgbClr val="5F6E7A"/>
              </a:buClr>
              <a:buSzPts val="825"/>
              <a:buFont typeface="Arial"/>
              <a:buNone/>
            </a:pPr>
            <a:r>
              <a:rPr b="0" i="0" lang="en-US" sz="825">
                <a:solidFill>
                  <a:srgbClr val="5F6E7A"/>
                </a:solidFill>
                <a:latin typeface="Arial"/>
                <a:ea typeface="Arial"/>
                <a:cs typeface="Arial"/>
                <a:sym typeface="Arial"/>
              </a:rPr>
              <a:t>Schwippert et al. (1995)</a:t>
            </a:r>
            <a:endParaRPr sz="1800">
              <a:solidFill>
                <a:schemeClr val="dk1"/>
              </a:solidFill>
              <a:latin typeface="Calibri"/>
              <a:ea typeface="Calibri"/>
              <a:cs typeface="Calibri"/>
              <a:sym typeface="Calibri"/>
            </a:endParaRPr>
          </a:p>
        </p:txBody>
      </p:sp>
      <p:sp>
        <p:nvSpPr>
          <p:cNvPr id="407" name="Google Shape;407;p28"/>
          <p:cNvSpPr/>
          <p:nvPr/>
        </p:nvSpPr>
        <p:spPr>
          <a:xfrm>
            <a:off x="11614845" y="6491288"/>
            <a:ext cx="139005" cy="157163"/>
          </a:xfrm>
          <a:prstGeom prst="rect">
            <a:avLst/>
          </a:prstGeom>
          <a:noFill/>
          <a:ln>
            <a:noFill/>
          </a:ln>
        </p:spPr>
        <p:txBody>
          <a:bodyPr anchorCtr="0" anchor="t" bIns="0" lIns="0" spcFirstLastPara="1" rIns="0" wrap="square" tIns="0">
            <a:normAutofit/>
          </a:bodyPr>
          <a:lstStyle/>
          <a:p>
            <a:pPr indent="0" lvl="0" marL="0" marR="0" rtl="0" algn="l">
              <a:lnSpc>
                <a:spcPct val="150060"/>
              </a:lnSpc>
              <a:spcBef>
                <a:spcPts val="0"/>
              </a:spcBef>
              <a:spcAft>
                <a:spcPts val="0"/>
              </a:spcAft>
              <a:buClr>
                <a:srgbClr val="5F6E7A"/>
              </a:buClr>
              <a:buSzPts val="825"/>
              <a:buFont typeface="Arial"/>
              <a:buNone/>
            </a:pPr>
            <a:r>
              <a:rPr b="0" i="0" lang="en-US" sz="825">
                <a:solidFill>
                  <a:srgbClr val="5F6E7A"/>
                </a:solidFill>
                <a:latin typeface="Arial"/>
                <a:ea typeface="Arial"/>
                <a:cs typeface="Arial"/>
                <a:sym typeface="Arial"/>
              </a:rPr>
              <a:t>28</a:t>
            </a:r>
            <a:endParaRPr sz="1800">
              <a:solidFill>
                <a:schemeClr val="dk1"/>
              </a:solidFill>
              <a:latin typeface="Calibri"/>
              <a:ea typeface="Calibri"/>
              <a:cs typeface="Calibri"/>
              <a:sym typeface="Calibri"/>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11" name="Shape 411"/>
        <p:cNvGrpSpPr/>
        <p:nvPr/>
      </p:nvGrpSpPr>
      <p:grpSpPr>
        <a:xfrm>
          <a:off x="0" y="0"/>
          <a:ext cx="0" cy="0"/>
          <a:chOff x="0" y="0"/>
          <a:chExt cx="0" cy="0"/>
        </a:xfrm>
      </p:grpSpPr>
      <p:sp>
        <p:nvSpPr>
          <p:cNvPr id="412" name="Google Shape;412;p29"/>
          <p:cNvSpPr/>
          <p:nvPr/>
        </p:nvSpPr>
        <p:spPr>
          <a:xfrm>
            <a:off x="457200" y="457200"/>
            <a:ext cx="11296650" cy="328613"/>
          </a:xfrm>
          <a:prstGeom prst="rect">
            <a:avLst/>
          </a:prstGeom>
          <a:noFill/>
          <a:ln>
            <a:noFill/>
          </a:ln>
        </p:spPr>
        <p:txBody>
          <a:bodyPr anchorCtr="0" anchor="t" bIns="0" lIns="0" spcFirstLastPara="1" rIns="0" wrap="square" tIns="0">
            <a:normAutofit/>
          </a:bodyPr>
          <a:lstStyle/>
          <a:p>
            <a:pPr indent="0" lvl="0" marL="0" marR="0" rtl="0" algn="l">
              <a:lnSpc>
                <a:spcPct val="115022"/>
              </a:lnSpc>
              <a:spcBef>
                <a:spcPts val="0"/>
              </a:spcBef>
              <a:spcAft>
                <a:spcPts val="0"/>
              </a:spcAft>
              <a:buClr>
                <a:srgbClr val="35536B"/>
              </a:buClr>
              <a:buSzPts val="2250"/>
              <a:buFont typeface="Arial"/>
              <a:buNone/>
            </a:pPr>
            <a:r>
              <a:rPr b="1" i="0" lang="en-US" sz="2250">
                <a:solidFill>
                  <a:srgbClr val="35536B"/>
                </a:solidFill>
                <a:latin typeface="Arial"/>
                <a:ea typeface="Arial"/>
                <a:cs typeface="Arial"/>
                <a:sym typeface="Arial"/>
              </a:rPr>
              <a:t>Ipsilateral pretectal stimulation has regional effects</a:t>
            </a:r>
            <a:endParaRPr sz="1800">
              <a:solidFill>
                <a:schemeClr val="dk1"/>
              </a:solidFill>
              <a:latin typeface="Calibri"/>
              <a:ea typeface="Calibri"/>
              <a:cs typeface="Calibri"/>
              <a:sym typeface="Calibri"/>
            </a:endParaRPr>
          </a:p>
        </p:txBody>
      </p:sp>
      <p:sp>
        <p:nvSpPr>
          <p:cNvPr id="413" name="Google Shape;413;p29"/>
          <p:cNvSpPr/>
          <p:nvPr/>
        </p:nvSpPr>
        <p:spPr>
          <a:xfrm>
            <a:off x="457200" y="1071563"/>
            <a:ext cx="5695950" cy="1194346"/>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3303A"/>
              </a:buClr>
              <a:buSzPts val="1425"/>
              <a:buFont typeface="Arial"/>
              <a:buNone/>
            </a:pPr>
            <a:r>
              <a:rPr b="0" i="0" lang="en-US" sz="1425">
                <a:solidFill>
                  <a:srgbClr val="23303A"/>
                </a:solidFill>
                <a:latin typeface="Arial"/>
                <a:ea typeface="Arial"/>
                <a:cs typeface="Arial"/>
                <a:sym typeface="Arial"/>
              </a:rPr>
              <a:t>The authors stimulated the </a:t>
            </a:r>
            <a:r>
              <a:rPr b="1" i="0" lang="en-US" sz="1425">
                <a:solidFill>
                  <a:srgbClr val="23303A"/>
                </a:solidFill>
                <a:latin typeface="Arial"/>
                <a:ea typeface="Arial"/>
                <a:cs typeface="Arial"/>
                <a:sym typeface="Arial"/>
              </a:rPr>
              <a:t>Lpd/P region</a:t>
            </a:r>
            <a:r>
              <a:rPr b="0" i="0" lang="en-US" sz="1425">
                <a:solidFill>
                  <a:srgbClr val="23303A"/>
                </a:solidFill>
                <a:latin typeface="Arial"/>
                <a:ea typeface="Arial"/>
                <a:cs typeface="Arial"/>
                <a:sym typeface="Arial"/>
              </a:rPr>
              <a:t>, comprising lateral posterodorsal and posterior pretectal areas, on the same side as the recorded tectum. The electrode approached beneath the rostral tectal lobe and stimulated at approximately 400–700 μm depth; histological marking verified the site.</a:t>
            </a:r>
            <a:endParaRPr sz="1800">
              <a:solidFill>
                <a:schemeClr val="dk1"/>
              </a:solidFill>
              <a:latin typeface="Calibri"/>
              <a:ea typeface="Calibri"/>
              <a:cs typeface="Calibri"/>
              <a:sym typeface="Calibri"/>
            </a:endParaRPr>
          </a:p>
        </p:txBody>
      </p:sp>
      <p:sp>
        <p:nvSpPr>
          <p:cNvPr id="414" name="Google Shape;414;p29"/>
          <p:cNvSpPr/>
          <p:nvPr/>
        </p:nvSpPr>
        <p:spPr>
          <a:xfrm>
            <a:off x="457200" y="2418308"/>
            <a:ext cx="5695950" cy="1194346"/>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3303A"/>
              </a:buClr>
              <a:buSzPts val="1425"/>
              <a:buFont typeface="Arial"/>
              <a:buNone/>
            </a:pPr>
            <a:r>
              <a:rPr b="0" i="0" lang="en-US" sz="1425">
                <a:solidFill>
                  <a:srgbClr val="23303A"/>
                </a:solidFill>
                <a:latin typeface="Arial"/>
                <a:ea typeface="Arial"/>
                <a:cs typeface="Arial"/>
                <a:sym typeface="Arial"/>
              </a:rPr>
              <a:t>Ipsilateral stimulation produced a negative wave beginning around 8–10 ms and peaking near 20 ms, followed by a positive component peaking around 40–45 ms. The negative response was largest at rostral dorsomedial recording sites, including sites E and F.</a:t>
            </a:r>
            <a:endParaRPr sz="1800">
              <a:solidFill>
                <a:schemeClr val="dk1"/>
              </a:solidFill>
              <a:latin typeface="Calibri"/>
              <a:ea typeface="Calibri"/>
              <a:cs typeface="Calibri"/>
              <a:sym typeface="Calibri"/>
            </a:endParaRPr>
          </a:p>
        </p:txBody>
      </p:sp>
      <p:sp>
        <p:nvSpPr>
          <p:cNvPr id="415" name="Google Shape;415;p29"/>
          <p:cNvSpPr/>
          <p:nvPr/>
        </p:nvSpPr>
        <p:spPr>
          <a:xfrm>
            <a:off x="457200" y="3765054"/>
            <a:ext cx="5695950" cy="1194346"/>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3303A"/>
              </a:buClr>
              <a:buSzPts val="1425"/>
              <a:buFont typeface="Arial"/>
              <a:buNone/>
            </a:pPr>
            <a:r>
              <a:rPr b="0" i="0" lang="en-US" sz="1425">
                <a:solidFill>
                  <a:srgbClr val="23303A"/>
                </a:solidFill>
                <a:latin typeface="Arial"/>
                <a:ea typeface="Arial"/>
                <a:cs typeface="Arial"/>
                <a:sym typeface="Arial"/>
              </a:rPr>
              <a:t>The spatial distribution supports an organized pretectal influence on the tectal map. Activation of tissue near the marked site does not by itself distinguish a direct inhibitory projection from recruitment of an excitatory input that activates a tectal inhibitory relay.</a:t>
            </a:r>
            <a:endParaRPr sz="1800">
              <a:solidFill>
                <a:schemeClr val="dk1"/>
              </a:solidFill>
              <a:latin typeface="Calibri"/>
              <a:ea typeface="Calibri"/>
              <a:cs typeface="Calibri"/>
              <a:sym typeface="Calibri"/>
            </a:endParaRPr>
          </a:p>
        </p:txBody>
      </p:sp>
      <p:pic>
        <p:nvPicPr>
          <p:cNvPr id="416" name="Google Shape;416;p29"/>
          <p:cNvPicPr preferRelativeResize="0"/>
          <p:nvPr/>
        </p:nvPicPr>
        <p:blipFill rotWithShape="1">
          <a:blip r:embed="rId3">
            <a:alphaModFix/>
          </a:blip>
          <a:srcRect b="0" l="0" r="0" t="0"/>
          <a:stretch/>
        </p:blipFill>
        <p:spPr>
          <a:xfrm>
            <a:off x="7232221" y="1071563"/>
            <a:ext cx="3747358" cy="4229100"/>
          </a:xfrm>
          <a:prstGeom prst="rect">
            <a:avLst/>
          </a:prstGeom>
          <a:noFill/>
          <a:ln>
            <a:noFill/>
          </a:ln>
        </p:spPr>
      </p:pic>
      <p:sp>
        <p:nvSpPr>
          <p:cNvPr id="417" name="Google Shape;417;p29"/>
          <p:cNvSpPr/>
          <p:nvPr/>
        </p:nvSpPr>
        <p:spPr>
          <a:xfrm>
            <a:off x="6477000" y="5376863"/>
            <a:ext cx="5276850" cy="142875"/>
          </a:xfrm>
          <a:prstGeom prst="rect">
            <a:avLst/>
          </a:prstGeom>
          <a:noFill/>
          <a:ln>
            <a:noFill/>
          </a:ln>
        </p:spPr>
        <p:txBody>
          <a:bodyPr anchorCtr="0" anchor="t" bIns="0" lIns="0" spcFirstLastPara="1" rIns="0" wrap="square" tIns="0">
            <a:normAutofit/>
          </a:bodyPr>
          <a:lstStyle/>
          <a:p>
            <a:pPr indent="0" lvl="0" marL="0" marR="0" rtl="0" algn="l">
              <a:lnSpc>
                <a:spcPct val="125000"/>
              </a:lnSpc>
              <a:spcBef>
                <a:spcPts val="0"/>
              </a:spcBef>
              <a:spcAft>
                <a:spcPts val="0"/>
              </a:spcAft>
              <a:buClr>
                <a:srgbClr val="23303A"/>
              </a:buClr>
              <a:buSzPts val="900"/>
              <a:buFont typeface="Arial"/>
              <a:buNone/>
            </a:pPr>
            <a:r>
              <a:rPr b="0" i="0" lang="en-US" sz="900">
                <a:solidFill>
                  <a:srgbClr val="23303A"/>
                </a:solidFill>
                <a:latin typeface="Arial"/>
                <a:ea typeface="Arial"/>
                <a:cs typeface="Arial"/>
                <a:sym typeface="Arial"/>
              </a:rPr>
              <a:t>Schwippert et al. (1995), Fig. 4. Ipsilateral pretectal stimulation and regional tectal field responses.</a:t>
            </a:r>
            <a:endParaRPr sz="1800">
              <a:solidFill>
                <a:schemeClr val="dk1"/>
              </a:solidFill>
              <a:latin typeface="Calibri"/>
              <a:ea typeface="Calibri"/>
              <a:cs typeface="Calibri"/>
              <a:sym typeface="Calibri"/>
            </a:endParaRPr>
          </a:p>
        </p:txBody>
      </p:sp>
      <p:pic>
        <p:nvPicPr>
          <p:cNvPr id="418" name="Google Shape;418;p29"/>
          <p:cNvPicPr preferRelativeResize="0"/>
          <p:nvPr/>
        </p:nvPicPr>
        <p:blipFill rotWithShape="1">
          <a:blip r:embed="rId4">
            <a:alphaModFix/>
          </a:blip>
          <a:srcRect b="0" l="0" r="0" t="0"/>
          <a:stretch/>
        </p:blipFill>
        <p:spPr>
          <a:xfrm>
            <a:off x="457200" y="6405563"/>
            <a:ext cx="11277600" cy="242888"/>
          </a:xfrm>
          <a:prstGeom prst="rect">
            <a:avLst/>
          </a:prstGeom>
          <a:noFill/>
          <a:ln>
            <a:noFill/>
          </a:ln>
        </p:spPr>
      </p:pic>
      <p:sp>
        <p:nvSpPr>
          <p:cNvPr id="419" name="Google Shape;419;p29"/>
          <p:cNvSpPr/>
          <p:nvPr/>
        </p:nvSpPr>
        <p:spPr>
          <a:xfrm>
            <a:off x="457200" y="6491288"/>
            <a:ext cx="1165175" cy="157163"/>
          </a:xfrm>
          <a:prstGeom prst="rect">
            <a:avLst/>
          </a:prstGeom>
          <a:noFill/>
          <a:ln>
            <a:noFill/>
          </a:ln>
        </p:spPr>
        <p:txBody>
          <a:bodyPr anchorCtr="0" anchor="t" bIns="0" lIns="0" spcFirstLastPara="1" rIns="0" wrap="square" tIns="0">
            <a:normAutofit/>
          </a:bodyPr>
          <a:lstStyle/>
          <a:p>
            <a:pPr indent="0" lvl="0" marL="0" marR="0" rtl="0" algn="l">
              <a:lnSpc>
                <a:spcPct val="150060"/>
              </a:lnSpc>
              <a:spcBef>
                <a:spcPts val="0"/>
              </a:spcBef>
              <a:spcAft>
                <a:spcPts val="0"/>
              </a:spcAft>
              <a:buClr>
                <a:srgbClr val="5F6E7A"/>
              </a:buClr>
              <a:buSzPts val="825"/>
              <a:buFont typeface="Arial"/>
              <a:buNone/>
            </a:pPr>
            <a:r>
              <a:rPr b="0" i="0" lang="en-US" sz="825">
                <a:solidFill>
                  <a:srgbClr val="5F6E7A"/>
                </a:solidFill>
                <a:latin typeface="Arial"/>
                <a:ea typeface="Arial"/>
                <a:cs typeface="Arial"/>
                <a:sym typeface="Arial"/>
              </a:rPr>
              <a:t>Schwippert et al. (1995)</a:t>
            </a:r>
            <a:endParaRPr sz="1800">
              <a:solidFill>
                <a:schemeClr val="dk1"/>
              </a:solidFill>
              <a:latin typeface="Calibri"/>
              <a:ea typeface="Calibri"/>
              <a:cs typeface="Calibri"/>
              <a:sym typeface="Calibri"/>
            </a:endParaRPr>
          </a:p>
        </p:txBody>
      </p:sp>
      <p:sp>
        <p:nvSpPr>
          <p:cNvPr id="420" name="Google Shape;420;p29"/>
          <p:cNvSpPr/>
          <p:nvPr/>
        </p:nvSpPr>
        <p:spPr>
          <a:xfrm>
            <a:off x="11614845" y="6491288"/>
            <a:ext cx="139005" cy="157163"/>
          </a:xfrm>
          <a:prstGeom prst="rect">
            <a:avLst/>
          </a:prstGeom>
          <a:noFill/>
          <a:ln>
            <a:noFill/>
          </a:ln>
        </p:spPr>
        <p:txBody>
          <a:bodyPr anchorCtr="0" anchor="t" bIns="0" lIns="0" spcFirstLastPara="1" rIns="0" wrap="square" tIns="0">
            <a:normAutofit/>
          </a:bodyPr>
          <a:lstStyle/>
          <a:p>
            <a:pPr indent="0" lvl="0" marL="0" marR="0" rtl="0" algn="l">
              <a:lnSpc>
                <a:spcPct val="150060"/>
              </a:lnSpc>
              <a:spcBef>
                <a:spcPts val="0"/>
              </a:spcBef>
              <a:spcAft>
                <a:spcPts val="0"/>
              </a:spcAft>
              <a:buClr>
                <a:srgbClr val="5F6E7A"/>
              </a:buClr>
              <a:buSzPts val="825"/>
              <a:buFont typeface="Arial"/>
              <a:buNone/>
            </a:pPr>
            <a:r>
              <a:rPr b="0" i="0" lang="en-US" sz="825">
                <a:solidFill>
                  <a:srgbClr val="5F6E7A"/>
                </a:solidFill>
                <a:latin typeface="Arial"/>
                <a:ea typeface="Arial"/>
                <a:cs typeface="Arial"/>
                <a:sym typeface="Arial"/>
              </a:rPr>
              <a:t>29</a:t>
            </a:r>
            <a:endParaRPr sz="1800">
              <a:solidFill>
                <a:schemeClr val="dk1"/>
              </a:solidFill>
              <a:latin typeface="Calibri"/>
              <a:ea typeface="Calibri"/>
              <a:cs typeface="Calibri"/>
              <a:sym typeface="Calibri"/>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24" name="Shape 424"/>
        <p:cNvGrpSpPr/>
        <p:nvPr/>
      </p:nvGrpSpPr>
      <p:grpSpPr>
        <a:xfrm>
          <a:off x="0" y="0"/>
          <a:ext cx="0" cy="0"/>
          <a:chOff x="0" y="0"/>
          <a:chExt cx="0" cy="0"/>
        </a:xfrm>
      </p:grpSpPr>
      <p:sp>
        <p:nvSpPr>
          <p:cNvPr id="425" name="Google Shape;425;p30"/>
          <p:cNvSpPr/>
          <p:nvPr/>
        </p:nvSpPr>
        <p:spPr>
          <a:xfrm>
            <a:off x="457200" y="457200"/>
            <a:ext cx="11296650" cy="328613"/>
          </a:xfrm>
          <a:prstGeom prst="rect">
            <a:avLst/>
          </a:prstGeom>
          <a:noFill/>
          <a:ln>
            <a:noFill/>
          </a:ln>
        </p:spPr>
        <p:txBody>
          <a:bodyPr anchorCtr="0" anchor="t" bIns="0" lIns="0" spcFirstLastPara="1" rIns="0" wrap="square" tIns="0">
            <a:normAutofit/>
          </a:bodyPr>
          <a:lstStyle/>
          <a:p>
            <a:pPr indent="0" lvl="0" marL="0" marR="0" rtl="0" algn="l">
              <a:lnSpc>
                <a:spcPct val="115022"/>
              </a:lnSpc>
              <a:spcBef>
                <a:spcPts val="0"/>
              </a:spcBef>
              <a:spcAft>
                <a:spcPts val="0"/>
              </a:spcAft>
              <a:buClr>
                <a:srgbClr val="35536B"/>
              </a:buClr>
              <a:buSzPts val="2250"/>
              <a:buFont typeface="Arial"/>
              <a:buNone/>
            </a:pPr>
            <a:r>
              <a:rPr b="1" i="0" lang="en-US" sz="2250">
                <a:solidFill>
                  <a:srgbClr val="35536B"/>
                </a:solidFill>
                <a:latin typeface="Arial"/>
                <a:ea typeface="Arial"/>
                <a:cs typeface="Arial"/>
                <a:sym typeface="Arial"/>
              </a:rPr>
              <a:t>The opposite pretectum produces a different field</a:t>
            </a:r>
            <a:endParaRPr sz="1800">
              <a:solidFill>
                <a:schemeClr val="dk1"/>
              </a:solidFill>
              <a:latin typeface="Calibri"/>
              <a:ea typeface="Calibri"/>
              <a:cs typeface="Calibri"/>
              <a:sym typeface="Calibri"/>
            </a:endParaRPr>
          </a:p>
        </p:txBody>
      </p:sp>
      <p:sp>
        <p:nvSpPr>
          <p:cNvPr id="426" name="Google Shape;426;p30"/>
          <p:cNvSpPr/>
          <p:nvPr/>
        </p:nvSpPr>
        <p:spPr>
          <a:xfrm>
            <a:off x="457200" y="1071563"/>
            <a:ext cx="5695950" cy="1194346"/>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3303A"/>
              </a:buClr>
              <a:buSzPts val="1425"/>
              <a:buFont typeface="Arial"/>
              <a:buNone/>
            </a:pPr>
            <a:r>
              <a:rPr b="0" i="0" lang="en-US" sz="1425">
                <a:solidFill>
                  <a:srgbClr val="23303A"/>
                </a:solidFill>
                <a:latin typeface="Arial"/>
                <a:ea typeface="Arial"/>
                <a:cs typeface="Arial"/>
                <a:sym typeface="Arial"/>
              </a:rPr>
              <a:t>Schwippert and colleagues stimulated the pretectal Lpd/P region contralateral to the recorded tectum and compared the resulting waveform with ipsilateral stimulation. The same tectal grid allowed side-dependent input effects to be measured across corresponding locations.</a:t>
            </a:r>
            <a:endParaRPr sz="1800">
              <a:solidFill>
                <a:schemeClr val="dk1"/>
              </a:solidFill>
              <a:latin typeface="Calibri"/>
              <a:ea typeface="Calibri"/>
              <a:cs typeface="Calibri"/>
              <a:sym typeface="Calibri"/>
            </a:endParaRPr>
          </a:p>
        </p:txBody>
      </p:sp>
      <p:sp>
        <p:nvSpPr>
          <p:cNvPr id="427" name="Google Shape;427;p30"/>
          <p:cNvSpPr/>
          <p:nvPr/>
        </p:nvSpPr>
        <p:spPr>
          <a:xfrm>
            <a:off x="457200" y="2418308"/>
            <a:ext cx="5695950" cy="1194346"/>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3303A"/>
              </a:buClr>
              <a:buSzPts val="1425"/>
              <a:buFont typeface="Arial"/>
              <a:buNone/>
            </a:pPr>
            <a:r>
              <a:rPr b="0" i="0" lang="en-US" sz="1425">
                <a:solidFill>
                  <a:srgbClr val="23303A"/>
                </a:solidFill>
                <a:latin typeface="Arial"/>
                <a:ea typeface="Arial"/>
                <a:cs typeface="Arial"/>
                <a:sym typeface="Arial"/>
              </a:rPr>
              <a:t>Contralateral stimulation produced a small early component around 5–7 ms and a predominantly positive wave beginning around 14–16 ms and peaking approximately 35–45 ms. The conspicuous negative wave produced by ipsilateral pretectal stimulation was not a comparable feature of this response.</a:t>
            </a:r>
            <a:endParaRPr sz="1800">
              <a:solidFill>
                <a:schemeClr val="dk1"/>
              </a:solidFill>
              <a:latin typeface="Calibri"/>
              <a:ea typeface="Calibri"/>
              <a:cs typeface="Calibri"/>
              <a:sym typeface="Calibri"/>
            </a:endParaRPr>
          </a:p>
        </p:txBody>
      </p:sp>
      <p:sp>
        <p:nvSpPr>
          <p:cNvPr id="428" name="Google Shape;428;p30"/>
          <p:cNvSpPr/>
          <p:nvPr/>
        </p:nvSpPr>
        <p:spPr>
          <a:xfrm>
            <a:off x="457200" y="3765054"/>
            <a:ext cx="5695950" cy="1194346"/>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3303A"/>
              </a:buClr>
              <a:buSzPts val="1425"/>
              <a:buFont typeface="Arial"/>
              <a:buNone/>
            </a:pPr>
            <a:r>
              <a:rPr b="0" i="0" lang="en-US" sz="1425">
                <a:solidFill>
                  <a:srgbClr val="23303A"/>
                </a:solidFill>
                <a:latin typeface="Arial"/>
                <a:ea typeface="Arial"/>
                <a:cs typeface="Arial"/>
                <a:sym typeface="Arial"/>
              </a:rPr>
              <a:t>The side-dependent difference is consistent with different routes or local circuit recruitment by the two inputs. Extracellular polarity alone cannot establish a particular inhibitory receptor, prove that no excitatory cells are involved, or identify a single commissural connection as the entire pathway.</a:t>
            </a:r>
            <a:endParaRPr sz="1800">
              <a:solidFill>
                <a:schemeClr val="dk1"/>
              </a:solidFill>
              <a:latin typeface="Calibri"/>
              <a:ea typeface="Calibri"/>
              <a:cs typeface="Calibri"/>
              <a:sym typeface="Calibri"/>
            </a:endParaRPr>
          </a:p>
        </p:txBody>
      </p:sp>
      <p:pic>
        <p:nvPicPr>
          <p:cNvPr id="429" name="Google Shape;429;p30"/>
          <p:cNvPicPr preferRelativeResize="0"/>
          <p:nvPr/>
        </p:nvPicPr>
        <p:blipFill rotWithShape="1">
          <a:blip r:embed="rId3">
            <a:alphaModFix/>
          </a:blip>
          <a:srcRect b="0" l="0" r="0" t="0"/>
          <a:stretch/>
        </p:blipFill>
        <p:spPr>
          <a:xfrm>
            <a:off x="6996900" y="1071563"/>
            <a:ext cx="4218000" cy="4229100"/>
          </a:xfrm>
          <a:prstGeom prst="rect">
            <a:avLst/>
          </a:prstGeom>
          <a:noFill/>
          <a:ln>
            <a:noFill/>
          </a:ln>
        </p:spPr>
      </p:pic>
      <p:sp>
        <p:nvSpPr>
          <p:cNvPr id="430" name="Google Shape;430;p30"/>
          <p:cNvSpPr/>
          <p:nvPr/>
        </p:nvSpPr>
        <p:spPr>
          <a:xfrm>
            <a:off x="6477000" y="5376863"/>
            <a:ext cx="5276850" cy="285750"/>
          </a:xfrm>
          <a:prstGeom prst="rect">
            <a:avLst/>
          </a:prstGeom>
          <a:noFill/>
          <a:ln>
            <a:noFill/>
          </a:ln>
        </p:spPr>
        <p:txBody>
          <a:bodyPr anchorCtr="0" anchor="t" bIns="0" lIns="0" spcFirstLastPara="1" rIns="0" wrap="square" tIns="0">
            <a:normAutofit/>
          </a:bodyPr>
          <a:lstStyle/>
          <a:p>
            <a:pPr indent="0" lvl="0" marL="0" marR="0" rtl="0" algn="l">
              <a:lnSpc>
                <a:spcPct val="125000"/>
              </a:lnSpc>
              <a:spcBef>
                <a:spcPts val="0"/>
              </a:spcBef>
              <a:spcAft>
                <a:spcPts val="0"/>
              </a:spcAft>
              <a:buClr>
                <a:srgbClr val="23303A"/>
              </a:buClr>
              <a:buSzPts val="900"/>
              <a:buFont typeface="Arial"/>
              <a:buNone/>
            </a:pPr>
            <a:r>
              <a:rPr b="0" i="0" lang="en-US" sz="900">
                <a:solidFill>
                  <a:srgbClr val="23303A"/>
                </a:solidFill>
                <a:latin typeface="Arial"/>
                <a:ea typeface="Arial"/>
                <a:cs typeface="Arial"/>
                <a:sym typeface="Arial"/>
              </a:rPr>
              <a:t>Schwippert et al. (1995), Fig. 5. Contralateral pretectal stimulation evokes a predominantly positive tectal wave.</a:t>
            </a:r>
            <a:endParaRPr sz="1800">
              <a:solidFill>
                <a:schemeClr val="dk1"/>
              </a:solidFill>
              <a:latin typeface="Calibri"/>
              <a:ea typeface="Calibri"/>
              <a:cs typeface="Calibri"/>
              <a:sym typeface="Calibri"/>
            </a:endParaRPr>
          </a:p>
        </p:txBody>
      </p:sp>
      <p:pic>
        <p:nvPicPr>
          <p:cNvPr id="431" name="Google Shape;431;p30"/>
          <p:cNvPicPr preferRelativeResize="0"/>
          <p:nvPr/>
        </p:nvPicPr>
        <p:blipFill rotWithShape="1">
          <a:blip r:embed="rId4">
            <a:alphaModFix/>
          </a:blip>
          <a:srcRect b="0" l="0" r="0" t="0"/>
          <a:stretch/>
        </p:blipFill>
        <p:spPr>
          <a:xfrm>
            <a:off x="457200" y="6405563"/>
            <a:ext cx="11277600" cy="242888"/>
          </a:xfrm>
          <a:prstGeom prst="rect">
            <a:avLst/>
          </a:prstGeom>
          <a:noFill/>
          <a:ln>
            <a:noFill/>
          </a:ln>
        </p:spPr>
      </p:pic>
      <p:sp>
        <p:nvSpPr>
          <p:cNvPr id="432" name="Google Shape;432;p30"/>
          <p:cNvSpPr/>
          <p:nvPr/>
        </p:nvSpPr>
        <p:spPr>
          <a:xfrm>
            <a:off x="457200" y="6491288"/>
            <a:ext cx="1165175" cy="157163"/>
          </a:xfrm>
          <a:prstGeom prst="rect">
            <a:avLst/>
          </a:prstGeom>
          <a:noFill/>
          <a:ln>
            <a:noFill/>
          </a:ln>
        </p:spPr>
        <p:txBody>
          <a:bodyPr anchorCtr="0" anchor="t" bIns="0" lIns="0" spcFirstLastPara="1" rIns="0" wrap="square" tIns="0">
            <a:normAutofit/>
          </a:bodyPr>
          <a:lstStyle/>
          <a:p>
            <a:pPr indent="0" lvl="0" marL="0" marR="0" rtl="0" algn="l">
              <a:lnSpc>
                <a:spcPct val="150060"/>
              </a:lnSpc>
              <a:spcBef>
                <a:spcPts val="0"/>
              </a:spcBef>
              <a:spcAft>
                <a:spcPts val="0"/>
              </a:spcAft>
              <a:buClr>
                <a:srgbClr val="5F6E7A"/>
              </a:buClr>
              <a:buSzPts val="825"/>
              <a:buFont typeface="Arial"/>
              <a:buNone/>
            </a:pPr>
            <a:r>
              <a:rPr b="0" i="0" lang="en-US" sz="825">
                <a:solidFill>
                  <a:srgbClr val="5F6E7A"/>
                </a:solidFill>
                <a:latin typeface="Arial"/>
                <a:ea typeface="Arial"/>
                <a:cs typeface="Arial"/>
                <a:sym typeface="Arial"/>
              </a:rPr>
              <a:t>Schwippert et al. (1995)</a:t>
            </a:r>
            <a:endParaRPr sz="1800">
              <a:solidFill>
                <a:schemeClr val="dk1"/>
              </a:solidFill>
              <a:latin typeface="Calibri"/>
              <a:ea typeface="Calibri"/>
              <a:cs typeface="Calibri"/>
              <a:sym typeface="Calibri"/>
            </a:endParaRPr>
          </a:p>
        </p:txBody>
      </p:sp>
      <p:sp>
        <p:nvSpPr>
          <p:cNvPr id="433" name="Google Shape;433;p30"/>
          <p:cNvSpPr/>
          <p:nvPr/>
        </p:nvSpPr>
        <p:spPr>
          <a:xfrm>
            <a:off x="11614845" y="6491288"/>
            <a:ext cx="139005" cy="157163"/>
          </a:xfrm>
          <a:prstGeom prst="rect">
            <a:avLst/>
          </a:prstGeom>
          <a:noFill/>
          <a:ln>
            <a:noFill/>
          </a:ln>
        </p:spPr>
        <p:txBody>
          <a:bodyPr anchorCtr="0" anchor="t" bIns="0" lIns="0" spcFirstLastPara="1" rIns="0" wrap="square" tIns="0">
            <a:normAutofit/>
          </a:bodyPr>
          <a:lstStyle/>
          <a:p>
            <a:pPr indent="0" lvl="0" marL="0" marR="0" rtl="0" algn="l">
              <a:lnSpc>
                <a:spcPct val="150060"/>
              </a:lnSpc>
              <a:spcBef>
                <a:spcPts val="0"/>
              </a:spcBef>
              <a:spcAft>
                <a:spcPts val="0"/>
              </a:spcAft>
              <a:buClr>
                <a:srgbClr val="5F6E7A"/>
              </a:buClr>
              <a:buSzPts val="825"/>
              <a:buFont typeface="Arial"/>
              <a:buNone/>
            </a:pPr>
            <a:r>
              <a:rPr b="0" i="0" lang="en-US" sz="825">
                <a:solidFill>
                  <a:srgbClr val="5F6E7A"/>
                </a:solidFill>
                <a:latin typeface="Arial"/>
                <a:ea typeface="Arial"/>
                <a:cs typeface="Arial"/>
                <a:sym typeface="Arial"/>
              </a:rPr>
              <a:t>30</a:t>
            </a:r>
            <a:endParaRPr sz="1800">
              <a:solidFill>
                <a:schemeClr val="dk1"/>
              </a:solidFill>
              <a:latin typeface="Calibri"/>
              <a:ea typeface="Calibri"/>
              <a:cs typeface="Calibri"/>
              <a:sym typeface="Calibri"/>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37" name="Shape 437"/>
        <p:cNvGrpSpPr/>
        <p:nvPr/>
      </p:nvGrpSpPr>
      <p:grpSpPr>
        <a:xfrm>
          <a:off x="0" y="0"/>
          <a:ext cx="0" cy="0"/>
          <a:chOff x="0" y="0"/>
          <a:chExt cx="0" cy="0"/>
        </a:xfrm>
      </p:grpSpPr>
      <p:sp>
        <p:nvSpPr>
          <p:cNvPr id="438" name="Google Shape;438;p31"/>
          <p:cNvSpPr/>
          <p:nvPr/>
        </p:nvSpPr>
        <p:spPr>
          <a:xfrm>
            <a:off x="457200" y="457200"/>
            <a:ext cx="11296650" cy="328613"/>
          </a:xfrm>
          <a:prstGeom prst="rect">
            <a:avLst/>
          </a:prstGeom>
          <a:noFill/>
          <a:ln>
            <a:noFill/>
          </a:ln>
        </p:spPr>
        <p:txBody>
          <a:bodyPr anchorCtr="0" anchor="t" bIns="0" lIns="0" spcFirstLastPara="1" rIns="0" wrap="square" tIns="0">
            <a:normAutofit/>
          </a:bodyPr>
          <a:lstStyle/>
          <a:p>
            <a:pPr indent="0" lvl="0" marL="0" marR="0" rtl="0" algn="l">
              <a:lnSpc>
                <a:spcPct val="115022"/>
              </a:lnSpc>
              <a:spcBef>
                <a:spcPts val="0"/>
              </a:spcBef>
              <a:spcAft>
                <a:spcPts val="0"/>
              </a:spcAft>
              <a:buClr>
                <a:srgbClr val="35536B"/>
              </a:buClr>
              <a:buSzPts val="2250"/>
              <a:buFont typeface="Arial"/>
              <a:buNone/>
            </a:pPr>
            <a:r>
              <a:rPr b="1" i="0" lang="en-US" sz="2250">
                <a:solidFill>
                  <a:srgbClr val="35536B"/>
                </a:solidFill>
                <a:latin typeface="Arial"/>
                <a:ea typeface="Arial"/>
                <a:cs typeface="Arial"/>
                <a:sym typeface="Arial"/>
              </a:rPr>
              <a:t>A pretectal lead suppresses the early retinal wave</a:t>
            </a:r>
            <a:endParaRPr sz="1800">
              <a:solidFill>
                <a:schemeClr val="dk1"/>
              </a:solidFill>
              <a:latin typeface="Calibri"/>
              <a:ea typeface="Calibri"/>
              <a:cs typeface="Calibri"/>
              <a:sym typeface="Calibri"/>
            </a:endParaRPr>
          </a:p>
        </p:txBody>
      </p:sp>
      <p:sp>
        <p:nvSpPr>
          <p:cNvPr id="439" name="Google Shape;439;p31"/>
          <p:cNvSpPr/>
          <p:nvPr/>
        </p:nvSpPr>
        <p:spPr>
          <a:xfrm>
            <a:off x="457200" y="1071563"/>
            <a:ext cx="5695950" cy="955477"/>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3303A"/>
              </a:buClr>
              <a:buSzPts val="1425"/>
              <a:buFont typeface="Arial"/>
              <a:buNone/>
            </a:pPr>
            <a:r>
              <a:rPr b="0" i="0" lang="en-US" sz="1425">
                <a:solidFill>
                  <a:srgbClr val="23303A"/>
                </a:solidFill>
                <a:latin typeface="Arial"/>
                <a:ea typeface="Arial"/>
                <a:cs typeface="Arial"/>
                <a:sym typeface="Arial"/>
              </a:rPr>
              <a:t>The paired-stimulation experiment delivered a pretectal Lpd/P pulse before an optic-nerve pulse. </a:t>
            </a:r>
            <a:r>
              <a:rPr b="1" i="0" lang="en-US" sz="1425">
                <a:solidFill>
                  <a:srgbClr val="23303A"/>
                </a:solidFill>
                <a:latin typeface="Arial"/>
                <a:ea typeface="Arial"/>
                <a:cs typeface="Arial"/>
                <a:sym typeface="Arial"/>
              </a:rPr>
              <a:t>Conditioning</a:t>
            </a:r>
            <a:r>
              <a:rPr b="0" i="0" lang="en-US" sz="1425">
                <a:solidFill>
                  <a:srgbClr val="23303A"/>
                </a:solidFill>
                <a:latin typeface="Arial"/>
                <a:ea typeface="Arial"/>
                <a:cs typeface="Arial"/>
                <a:sym typeface="Arial"/>
              </a:rPr>
              <a:t> is the earlier input whose effect on the later test response is measured; the interval between pulses controls when the pathways can interact.</a:t>
            </a:r>
            <a:endParaRPr sz="1800">
              <a:solidFill>
                <a:schemeClr val="dk1"/>
              </a:solidFill>
              <a:latin typeface="Calibri"/>
              <a:ea typeface="Calibri"/>
              <a:cs typeface="Calibri"/>
              <a:sym typeface="Calibri"/>
            </a:endParaRPr>
          </a:p>
        </p:txBody>
      </p:sp>
      <p:sp>
        <p:nvSpPr>
          <p:cNvPr id="440" name="Google Shape;440;p31"/>
          <p:cNvSpPr/>
          <p:nvPr/>
        </p:nvSpPr>
        <p:spPr>
          <a:xfrm>
            <a:off x="457200" y="2179439"/>
            <a:ext cx="5695950" cy="1194346"/>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3303A"/>
              </a:buClr>
              <a:buSzPts val="1425"/>
              <a:buFont typeface="Arial"/>
              <a:buNone/>
            </a:pPr>
            <a:r>
              <a:rPr b="0" i="0" lang="en-US" sz="1425">
                <a:solidFill>
                  <a:srgbClr val="23303A"/>
                </a:solidFill>
                <a:latin typeface="Arial"/>
                <a:ea typeface="Arial"/>
                <a:cs typeface="Arial"/>
                <a:sym typeface="Arial"/>
              </a:rPr>
              <a:t>When the pretectal input preceded the optic-nerve input by approximately 17–25 ms, the early negative N1 component was strongly attenuated or nearly absent. At longer intervals of about 30–100 ms, the same strong reduction was not evident. Some later components remained comparatively preserved.</a:t>
            </a:r>
            <a:endParaRPr sz="1800">
              <a:solidFill>
                <a:schemeClr val="dk1"/>
              </a:solidFill>
              <a:latin typeface="Calibri"/>
              <a:ea typeface="Calibri"/>
              <a:cs typeface="Calibri"/>
              <a:sym typeface="Calibri"/>
            </a:endParaRPr>
          </a:p>
        </p:txBody>
      </p:sp>
      <p:sp>
        <p:nvSpPr>
          <p:cNvPr id="441" name="Google Shape;441;p31"/>
          <p:cNvSpPr/>
          <p:nvPr/>
        </p:nvSpPr>
        <p:spPr>
          <a:xfrm>
            <a:off x="457200" y="3526185"/>
            <a:ext cx="5695950" cy="1194346"/>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3303A"/>
              </a:buClr>
              <a:buSzPts val="1425"/>
              <a:buFont typeface="Arial"/>
              <a:buNone/>
            </a:pPr>
            <a:r>
              <a:rPr b="0" i="0" lang="en-US" sz="1425">
                <a:solidFill>
                  <a:srgbClr val="23303A"/>
                </a:solidFill>
                <a:latin typeface="Arial"/>
                <a:ea typeface="Arial"/>
                <a:cs typeface="Arial"/>
                <a:sym typeface="Arial"/>
              </a:rPr>
              <a:t>The narrow effective interval supports a timed neural interaction rather than a permanent loss of retinal input. It does not mean that visual avoidance starts exactly 20 ms after a predator appears or that a single inhibitory synapse accounts for the population effect.</a:t>
            </a:r>
            <a:endParaRPr sz="1800">
              <a:solidFill>
                <a:schemeClr val="dk1"/>
              </a:solidFill>
              <a:latin typeface="Calibri"/>
              <a:ea typeface="Calibri"/>
              <a:cs typeface="Calibri"/>
              <a:sym typeface="Calibri"/>
            </a:endParaRPr>
          </a:p>
        </p:txBody>
      </p:sp>
      <p:pic>
        <p:nvPicPr>
          <p:cNvPr id="442" name="Google Shape;442;p31"/>
          <p:cNvPicPr preferRelativeResize="0"/>
          <p:nvPr/>
        </p:nvPicPr>
        <p:blipFill rotWithShape="1">
          <a:blip r:embed="rId3">
            <a:alphaModFix/>
          </a:blip>
          <a:srcRect b="0" l="0" r="0" t="0"/>
          <a:stretch/>
        </p:blipFill>
        <p:spPr>
          <a:xfrm>
            <a:off x="7349504" y="1071563"/>
            <a:ext cx="1522067" cy="4171950"/>
          </a:xfrm>
          <a:prstGeom prst="rect">
            <a:avLst/>
          </a:prstGeom>
          <a:noFill/>
          <a:ln>
            <a:noFill/>
          </a:ln>
        </p:spPr>
      </p:pic>
      <p:sp>
        <p:nvSpPr>
          <p:cNvPr id="443" name="Google Shape;443;p31"/>
          <p:cNvSpPr/>
          <p:nvPr/>
        </p:nvSpPr>
        <p:spPr>
          <a:xfrm>
            <a:off x="6477000" y="5319713"/>
            <a:ext cx="3286125" cy="285750"/>
          </a:xfrm>
          <a:prstGeom prst="rect">
            <a:avLst/>
          </a:prstGeom>
          <a:noFill/>
          <a:ln>
            <a:noFill/>
          </a:ln>
        </p:spPr>
        <p:txBody>
          <a:bodyPr anchorCtr="0" anchor="t" bIns="0" lIns="0" spcFirstLastPara="1" rIns="0" wrap="square" tIns="0">
            <a:normAutofit/>
          </a:bodyPr>
          <a:lstStyle/>
          <a:p>
            <a:pPr indent="0" lvl="0" marL="0" marR="0" rtl="0" algn="l">
              <a:lnSpc>
                <a:spcPct val="125000"/>
              </a:lnSpc>
              <a:spcBef>
                <a:spcPts val="0"/>
              </a:spcBef>
              <a:spcAft>
                <a:spcPts val="0"/>
              </a:spcAft>
              <a:buClr>
                <a:srgbClr val="23303A"/>
              </a:buClr>
              <a:buSzPts val="900"/>
              <a:buFont typeface="Arial"/>
              <a:buNone/>
            </a:pPr>
            <a:r>
              <a:rPr b="0" i="0" lang="en-US" sz="900">
                <a:solidFill>
                  <a:srgbClr val="23303A"/>
                </a:solidFill>
                <a:latin typeface="Arial"/>
                <a:ea typeface="Arial"/>
                <a:cs typeface="Arial"/>
                <a:sym typeface="Arial"/>
              </a:rPr>
              <a:t>Schwippert et al. (1995), Fig. 6. Paired pretectal and optic-nerve stimuli separated by 10–100 ms.</a:t>
            </a:r>
            <a:endParaRPr sz="1800">
              <a:solidFill>
                <a:schemeClr val="dk1"/>
              </a:solidFill>
              <a:latin typeface="Calibri"/>
              <a:ea typeface="Calibri"/>
              <a:cs typeface="Calibri"/>
              <a:sym typeface="Calibri"/>
            </a:endParaRPr>
          </a:p>
        </p:txBody>
      </p:sp>
      <p:pic>
        <p:nvPicPr>
          <p:cNvPr id="444" name="Google Shape;444;p31"/>
          <p:cNvPicPr preferRelativeResize="0"/>
          <p:nvPr/>
        </p:nvPicPr>
        <p:blipFill rotWithShape="1">
          <a:blip r:embed="rId4">
            <a:alphaModFix/>
          </a:blip>
          <a:srcRect b="0" l="0" r="0" t="0"/>
          <a:stretch/>
        </p:blipFill>
        <p:spPr>
          <a:xfrm>
            <a:off x="9896475" y="1681163"/>
            <a:ext cx="1838325" cy="912354"/>
          </a:xfrm>
          <a:prstGeom prst="rect">
            <a:avLst/>
          </a:prstGeom>
          <a:noFill/>
          <a:ln>
            <a:noFill/>
          </a:ln>
        </p:spPr>
      </p:pic>
      <p:sp>
        <p:nvSpPr>
          <p:cNvPr id="445" name="Google Shape;445;p31"/>
          <p:cNvSpPr/>
          <p:nvPr/>
        </p:nvSpPr>
        <p:spPr>
          <a:xfrm>
            <a:off x="9896475" y="5091113"/>
            <a:ext cx="1857375" cy="428625"/>
          </a:xfrm>
          <a:prstGeom prst="rect">
            <a:avLst/>
          </a:prstGeom>
          <a:noFill/>
          <a:ln>
            <a:noFill/>
          </a:ln>
        </p:spPr>
        <p:txBody>
          <a:bodyPr anchorCtr="0" anchor="t" bIns="0" lIns="0" spcFirstLastPara="1" rIns="0" wrap="square" tIns="0">
            <a:normAutofit/>
          </a:bodyPr>
          <a:lstStyle/>
          <a:p>
            <a:pPr indent="0" lvl="0" marL="0" marR="0" rtl="0" algn="l">
              <a:lnSpc>
                <a:spcPct val="125000"/>
              </a:lnSpc>
              <a:spcBef>
                <a:spcPts val="0"/>
              </a:spcBef>
              <a:spcAft>
                <a:spcPts val="0"/>
              </a:spcAft>
              <a:buClr>
                <a:srgbClr val="23303A"/>
              </a:buClr>
              <a:buSzPts val="900"/>
              <a:buFont typeface="Arial"/>
              <a:buNone/>
            </a:pPr>
            <a:r>
              <a:rPr b="0" i="0" lang="en-US" sz="900">
                <a:solidFill>
                  <a:srgbClr val="23303A"/>
                </a:solidFill>
                <a:latin typeface="Arial"/>
                <a:ea typeface="Arial"/>
                <a:cs typeface="Arial"/>
                <a:sym typeface="Arial"/>
              </a:rPr>
              <a:t>Schwippert et al. (1995), Fig. 4 (histology). Marked Lpd site (250 μm).</a:t>
            </a:r>
            <a:endParaRPr sz="1800">
              <a:solidFill>
                <a:schemeClr val="dk1"/>
              </a:solidFill>
              <a:latin typeface="Calibri"/>
              <a:ea typeface="Calibri"/>
              <a:cs typeface="Calibri"/>
              <a:sym typeface="Calibri"/>
            </a:endParaRPr>
          </a:p>
        </p:txBody>
      </p:sp>
      <p:pic>
        <p:nvPicPr>
          <p:cNvPr id="446" name="Google Shape;446;p31"/>
          <p:cNvPicPr preferRelativeResize="0"/>
          <p:nvPr/>
        </p:nvPicPr>
        <p:blipFill rotWithShape="1">
          <a:blip r:embed="rId5">
            <a:alphaModFix/>
          </a:blip>
          <a:srcRect b="0" l="0" r="0" t="0"/>
          <a:stretch/>
        </p:blipFill>
        <p:spPr>
          <a:xfrm>
            <a:off x="457200" y="6405563"/>
            <a:ext cx="11277600" cy="242888"/>
          </a:xfrm>
          <a:prstGeom prst="rect">
            <a:avLst/>
          </a:prstGeom>
          <a:noFill/>
          <a:ln>
            <a:noFill/>
          </a:ln>
        </p:spPr>
      </p:pic>
      <p:sp>
        <p:nvSpPr>
          <p:cNvPr id="447" name="Google Shape;447;p31"/>
          <p:cNvSpPr/>
          <p:nvPr/>
        </p:nvSpPr>
        <p:spPr>
          <a:xfrm>
            <a:off x="457200" y="6491288"/>
            <a:ext cx="1165175" cy="157163"/>
          </a:xfrm>
          <a:prstGeom prst="rect">
            <a:avLst/>
          </a:prstGeom>
          <a:noFill/>
          <a:ln>
            <a:noFill/>
          </a:ln>
        </p:spPr>
        <p:txBody>
          <a:bodyPr anchorCtr="0" anchor="t" bIns="0" lIns="0" spcFirstLastPara="1" rIns="0" wrap="square" tIns="0">
            <a:normAutofit/>
          </a:bodyPr>
          <a:lstStyle/>
          <a:p>
            <a:pPr indent="0" lvl="0" marL="0" marR="0" rtl="0" algn="l">
              <a:lnSpc>
                <a:spcPct val="150060"/>
              </a:lnSpc>
              <a:spcBef>
                <a:spcPts val="0"/>
              </a:spcBef>
              <a:spcAft>
                <a:spcPts val="0"/>
              </a:spcAft>
              <a:buClr>
                <a:srgbClr val="5F6E7A"/>
              </a:buClr>
              <a:buSzPts val="825"/>
              <a:buFont typeface="Arial"/>
              <a:buNone/>
            </a:pPr>
            <a:r>
              <a:rPr b="0" i="0" lang="en-US" sz="825">
                <a:solidFill>
                  <a:srgbClr val="5F6E7A"/>
                </a:solidFill>
                <a:latin typeface="Arial"/>
                <a:ea typeface="Arial"/>
                <a:cs typeface="Arial"/>
                <a:sym typeface="Arial"/>
              </a:rPr>
              <a:t>Schwippert et al. (1995)</a:t>
            </a:r>
            <a:endParaRPr sz="1800">
              <a:solidFill>
                <a:schemeClr val="dk1"/>
              </a:solidFill>
              <a:latin typeface="Calibri"/>
              <a:ea typeface="Calibri"/>
              <a:cs typeface="Calibri"/>
              <a:sym typeface="Calibri"/>
            </a:endParaRPr>
          </a:p>
        </p:txBody>
      </p:sp>
      <p:sp>
        <p:nvSpPr>
          <p:cNvPr id="448" name="Google Shape;448;p31"/>
          <p:cNvSpPr/>
          <p:nvPr/>
        </p:nvSpPr>
        <p:spPr>
          <a:xfrm>
            <a:off x="11614845" y="6491288"/>
            <a:ext cx="139005" cy="157163"/>
          </a:xfrm>
          <a:prstGeom prst="rect">
            <a:avLst/>
          </a:prstGeom>
          <a:noFill/>
          <a:ln>
            <a:noFill/>
          </a:ln>
        </p:spPr>
        <p:txBody>
          <a:bodyPr anchorCtr="0" anchor="t" bIns="0" lIns="0" spcFirstLastPara="1" rIns="0" wrap="square" tIns="0">
            <a:normAutofit/>
          </a:bodyPr>
          <a:lstStyle/>
          <a:p>
            <a:pPr indent="0" lvl="0" marL="0" marR="0" rtl="0" algn="l">
              <a:lnSpc>
                <a:spcPct val="150060"/>
              </a:lnSpc>
              <a:spcBef>
                <a:spcPts val="0"/>
              </a:spcBef>
              <a:spcAft>
                <a:spcPts val="0"/>
              </a:spcAft>
              <a:buClr>
                <a:srgbClr val="5F6E7A"/>
              </a:buClr>
              <a:buSzPts val="825"/>
              <a:buFont typeface="Arial"/>
              <a:buNone/>
            </a:pPr>
            <a:r>
              <a:rPr b="0" i="0" lang="en-US" sz="825">
                <a:solidFill>
                  <a:srgbClr val="5F6E7A"/>
                </a:solidFill>
                <a:latin typeface="Arial"/>
                <a:ea typeface="Arial"/>
                <a:cs typeface="Arial"/>
                <a:sym typeface="Arial"/>
              </a:rPr>
              <a:t>31</a:t>
            </a:r>
            <a:endParaRPr sz="1800">
              <a:solidFill>
                <a:schemeClr val="dk1"/>
              </a:solidFill>
              <a:latin typeface="Calibri"/>
              <a:ea typeface="Calibri"/>
              <a:cs typeface="Calibri"/>
              <a:sym typeface="Calibri"/>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52" name="Shape 452"/>
        <p:cNvGrpSpPr/>
        <p:nvPr/>
      </p:nvGrpSpPr>
      <p:grpSpPr>
        <a:xfrm>
          <a:off x="0" y="0"/>
          <a:ext cx="0" cy="0"/>
          <a:chOff x="0" y="0"/>
          <a:chExt cx="0" cy="0"/>
        </a:xfrm>
      </p:grpSpPr>
      <p:sp>
        <p:nvSpPr>
          <p:cNvPr id="453" name="Google Shape;453;p32"/>
          <p:cNvSpPr/>
          <p:nvPr/>
        </p:nvSpPr>
        <p:spPr>
          <a:xfrm>
            <a:off x="457200" y="457200"/>
            <a:ext cx="11296650" cy="328613"/>
          </a:xfrm>
          <a:prstGeom prst="rect">
            <a:avLst/>
          </a:prstGeom>
          <a:noFill/>
          <a:ln>
            <a:noFill/>
          </a:ln>
        </p:spPr>
        <p:txBody>
          <a:bodyPr anchorCtr="0" anchor="t" bIns="0" lIns="0" spcFirstLastPara="1" rIns="0" wrap="square" tIns="0">
            <a:normAutofit/>
          </a:bodyPr>
          <a:lstStyle/>
          <a:p>
            <a:pPr indent="0" lvl="0" marL="0" marR="0" rtl="0" algn="l">
              <a:lnSpc>
                <a:spcPct val="115022"/>
              </a:lnSpc>
              <a:spcBef>
                <a:spcPts val="0"/>
              </a:spcBef>
              <a:spcAft>
                <a:spcPts val="0"/>
              </a:spcAft>
              <a:buClr>
                <a:srgbClr val="35536B"/>
              </a:buClr>
              <a:buSzPts val="2250"/>
              <a:buFont typeface="Arial"/>
              <a:buNone/>
            </a:pPr>
            <a:r>
              <a:rPr b="1" i="0" lang="en-US" sz="2250">
                <a:solidFill>
                  <a:srgbClr val="35536B"/>
                </a:solidFill>
                <a:latin typeface="Arial"/>
                <a:ea typeface="Arial"/>
                <a:cs typeface="Arial"/>
                <a:sym typeface="Arial"/>
              </a:rPr>
              <a:t>Stimulus strength changes which waves are suppressed</a:t>
            </a:r>
            <a:endParaRPr sz="1800">
              <a:solidFill>
                <a:schemeClr val="dk1"/>
              </a:solidFill>
              <a:latin typeface="Calibri"/>
              <a:ea typeface="Calibri"/>
              <a:cs typeface="Calibri"/>
              <a:sym typeface="Calibri"/>
            </a:endParaRPr>
          </a:p>
        </p:txBody>
      </p:sp>
      <p:sp>
        <p:nvSpPr>
          <p:cNvPr id="454" name="Google Shape;454;p32"/>
          <p:cNvSpPr/>
          <p:nvPr/>
        </p:nvSpPr>
        <p:spPr>
          <a:xfrm>
            <a:off x="457200" y="1071563"/>
            <a:ext cx="5695950" cy="1194346"/>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3303A"/>
              </a:buClr>
              <a:buSzPts val="1425"/>
              <a:buFont typeface="Arial"/>
              <a:buNone/>
            </a:pPr>
            <a:r>
              <a:rPr b="0" i="0" lang="en-US" sz="1425">
                <a:solidFill>
                  <a:srgbClr val="23303A"/>
                </a:solidFill>
                <a:latin typeface="Arial"/>
                <a:ea typeface="Arial"/>
                <a:cs typeface="Arial"/>
                <a:sym typeface="Arial"/>
              </a:rPr>
              <a:t>Schwippert and colleagues varied optic-nerve stimulus strength while changing the delay after pretectal stimulation. Weak and stronger test inputs recruited different combinations of early and later components, permitting the effect to be evaluated beyond a single waveform amplitude.</a:t>
            </a:r>
            <a:endParaRPr sz="1800">
              <a:solidFill>
                <a:schemeClr val="dk1"/>
              </a:solidFill>
              <a:latin typeface="Calibri"/>
              <a:ea typeface="Calibri"/>
              <a:cs typeface="Calibri"/>
              <a:sym typeface="Calibri"/>
            </a:endParaRPr>
          </a:p>
        </p:txBody>
      </p:sp>
      <p:sp>
        <p:nvSpPr>
          <p:cNvPr id="455" name="Google Shape;455;p32"/>
          <p:cNvSpPr/>
          <p:nvPr/>
        </p:nvSpPr>
        <p:spPr>
          <a:xfrm>
            <a:off x="457200" y="2418308"/>
            <a:ext cx="5695950" cy="1194346"/>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3303A"/>
              </a:buClr>
              <a:buSzPts val="1425"/>
              <a:buFont typeface="Arial"/>
              <a:buNone/>
            </a:pPr>
            <a:r>
              <a:rPr b="0" i="0" lang="en-US" sz="1425">
                <a:solidFill>
                  <a:srgbClr val="23303A"/>
                </a:solidFill>
                <a:latin typeface="Arial"/>
                <a:ea typeface="Arial"/>
                <a:cs typeface="Arial"/>
                <a:sym typeface="Arial"/>
              </a:rPr>
              <a:t>At effective delays near 20–25 ms, the early negative component was attenuated. With stronger optic-nerve stimulation, effects on the later negative component were also evident, while positive components could remain relatively unaffected. The original delay plots retain the timings and component-specific measurements.</a:t>
            </a:r>
            <a:endParaRPr sz="1800">
              <a:solidFill>
                <a:schemeClr val="dk1"/>
              </a:solidFill>
              <a:latin typeface="Calibri"/>
              <a:ea typeface="Calibri"/>
              <a:cs typeface="Calibri"/>
              <a:sym typeface="Calibri"/>
            </a:endParaRPr>
          </a:p>
        </p:txBody>
      </p:sp>
      <p:sp>
        <p:nvSpPr>
          <p:cNvPr id="456" name="Google Shape;456;p32"/>
          <p:cNvSpPr/>
          <p:nvPr/>
        </p:nvSpPr>
        <p:spPr>
          <a:xfrm>
            <a:off x="457200" y="3765054"/>
            <a:ext cx="5695950" cy="1194346"/>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3303A"/>
              </a:buClr>
              <a:buSzPts val="1425"/>
              <a:buFont typeface="Arial"/>
              <a:buNone/>
            </a:pPr>
            <a:r>
              <a:rPr b="0" i="0" lang="en-US" sz="1425">
                <a:solidFill>
                  <a:srgbClr val="23303A"/>
                </a:solidFill>
                <a:latin typeface="Arial"/>
                <a:ea typeface="Arial"/>
                <a:cs typeface="Arial"/>
                <a:sym typeface="Arial"/>
              </a:rPr>
              <a:t>The interaction therefore depends on both the timing and the recruited input population. Selective attenuation supports circuit regulation rather than uniform elimination of all tectal activity, but the recordings cannot assign each component to one chemically identified neuron class.</a:t>
            </a:r>
            <a:endParaRPr sz="1800">
              <a:solidFill>
                <a:schemeClr val="dk1"/>
              </a:solidFill>
              <a:latin typeface="Calibri"/>
              <a:ea typeface="Calibri"/>
              <a:cs typeface="Calibri"/>
              <a:sym typeface="Calibri"/>
            </a:endParaRPr>
          </a:p>
        </p:txBody>
      </p:sp>
      <p:pic>
        <p:nvPicPr>
          <p:cNvPr id="457" name="Google Shape;457;p32"/>
          <p:cNvPicPr preferRelativeResize="0"/>
          <p:nvPr/>
        </p:nvPicPr>
        <p:blipFill rotWithShape="1">
          <a:blip r:embed="rId3">
            <a:alphaModFix/>
          </a:blip>
          <a:srcRect b="0" l="0" r="0" t="0"/>
          <a:stretch/>
        </p:blipFill>
        <p:spPr>
          <a:xfrm>
            <a:off x="7467986" y="1071563"/>
            <a:ext cx="3275829" cy="2333625"/>
          </a:xfrm>
          <a:prstGeom prst="rect">
            <a:avLst/>
          </a:prstGeom>
          <a:noFill/>
          <a:ln>
            <a:noFill/>
          </a:ln>
        </p:spPr>
      </p:pic>
      <p:sp>
        <p:nvSpPr>
          <p:cNvPr id="458" name="Google Shape;458;p32"/>
          <p:cNvSpPr/>
          <p:nvPr/>
        </p:nvSpPr>
        <p:spPr>
          <a:xfrm>
            <a:off x="6477000" y="3481388"/>
            <a:ext cx="5276850" cy="285750"/>
          </a:xfrm>
          <a:prstGeom prst="rect">
            <a:avLst/>
          </a:prstGeom>
          <a:noFill/>
          <a:ln>
            <a:noFill/>
          </a:ln>
        </p:spPr>
        <p:txBody>
          <a:bodyPr anchorCtr="0" anchor="t" bIns="0" lIns="0" spcFirstLastPara="1" rIns="0" wrap="square" tIns="0">
            <a:normAutofit/>
          </a:bodyPr>
          <a:lstStyle/>
          <a:p>
            <a:pPr indent="0" lvl="0" marL="0" marR="0" rtl="0" algn="l">
              <a:lnSpc>
                <a:spcPct val="125000"/>
              </a:lnSpc>
              <a:spcBef>
                <a:spcPts val="0"/>
              </a:spcBef>
              <a:spcAft>
                <a:spcPts val="0"/>
              </a:spcAft>
              <a:buClr>
                <a:srgbClr val="23303A"/>
              </a:buClr>
              <a:buSzPts val="900"/>
              <a:buFont typeface="Arial"/>
              <a:buNone/>
            </a:pPr>
            <a:r>
              <a:rPr b="0" i="0" lang="en-US" sz="900">
                <a:solidFill>
                  <a:srgbClr val="23303A"/>
                </a:solidFill>
                <a:latin typeface="Arial"/>
                <a:ea typeface="Arial"/>
                <a:cs typeface="Arial"/>
                <a:sym typeface="Arial"/>
              </a:rPr>
              <a:t>Schwippert et al. (1995), Fig. 7(A–B). Delay effects at two input strengths; rows c are the authors’ theoretical summation comparison.</a:t>
            </a:r>
            <a:endParaRPr sz="1800">
              <a:solidFill>
                <a:schemeClr val="dk1"/>
              </a:solidFill>
              <a:latin typeface="Calibri"/>
              <a:ea typeface="Calibri"/>
              <a:cs typeface="Calibri"/>
              <a:sym typeface="Calibri"/>
            </a:endParaRPr>
          </a:p>
        </p:txBody>
      </p:sp>
      <p:pic>
        <p:nvPicPr>
          <p:cNvPr id="459" name="Google Shape;459;p32"/>
          <p:cNvPicPr preferRelativeResize="0"/>
          <p:nvPr/>
        </p:nvPicPr>
        <p:blipFill rotWithShape="1">
          <a:blip r:embed="rId4">
            <a:alphaModFix/>
          </a:blip>
          <a:srcRect b="0" l="0" r="0" t="0"/>
          <a:stretch/>
        </p:blipFill>
        <p:spPr>
          <a:xfrm>
            <a:off x="7618507" y="3938588"/>
            <a:ext cx="2974785" cy="1476375"/>
          </a:xfrm>
          <a:prstGeom prst="rect">
            <a:avLst/>
          </a:prstGeom>
          <a:noFill/>
          <a:ln>
            <a:noFill/>
          </a:ln>
        </p:spPr>
      </p:pic>
      <p:sp>
        <p:nvSpPr>
          <p:cNvPr id="460" name="Google Shape;460;p32"/>
          <p:cNvSpPr/>
          <p:nvPr/>
        </p:nvSpPr>
        <p:spPr>
          <a:xfrm>
            <a:off x="6477000" y="5491163"/>
            <a:ext cx="5276850" cy="142875"/>
          </a:xfrm>
          <a:prstGeom prst="rect">
            <a:avLst/>
          </a:prstGeom>
          <a:noFill/>
          <a:ln>
            <a:noFill/>
          </a:ln>
        </p:spPr>
        <p:txBody>
          <a:bodyPr anchorCtr="0" anchor="t" bIns="0" lIns="0" spcFirstLastPara="1" rIns="0" wrap="square" tIns="0">
            <a:normAutofit/>
          </a:bodyPr>
          <a:lstStyle/>
          <a:p>
            <a:pPr indent="0" lvl="0" marL="0" marR="0" rtl="0" algn="l">
              <a:lnSpc>
                <a:spcPct val="125000"/>
              </a:lnSpc>
              <a:spcBef>
                <a:spcPts val="0"/>
              </a:spcBef>
              <a:spcAft>
                <a:spcPts val="0"/>
              </a:spcAft>
              <a:buClr>
                <a:srgbClr val="23303A"/>
              </a:buClr>
              <a:buSzPts val="900"/>
              <a:buFont typeface="Arial"/>
              <a:buNone/>
            </a:pPr>
            <a:r>
              <a:rPr b="0" i="0" lang="en-US" sz="900">
                <a:solidFill>
                  <a:srgbClr val="23303A"/>
                </a:solidFill>
                <a:latin typeface="Arial"/>
                <a:ea typeface="Arial"/>
                <a:cs typeface="Arial"/>
                <a:sym typeface="Arial"/>
              </a:rPr>
              <a:t>Schwippert et al. (1995), Fig. 4 (histology). Marked Lpd site (250 μm).</a:t>
            </a:r>
            <a:endParaRPr sz="1800">
              <a:solidFill>
                <a:schemeClr val="dk1"/>
              </a:solidFill>
              <a:latin typeface="Calibri"/>
              <a:ea typeface="Calibri"/>
              <a:cs typeface="Calibri"/>
              <a:sym typeface="Calibri"/>
            </a:endParaRPr>
          </a:p>
        </p:txBody>
      </p:sp>
      <p:pic>
        <p:nvPicPr>
          <p:cNvPr id="461" name="Google Shape;461;p32"/>
          <p:cNvPicPr preferRelativeResize="0"/>
          <p:nvPr/>
        </p:nvPicPr>
        <p:blipFill rotWithShape="1">
          <a:blip r:embed="rId5">
            <a:alphaModFix/>
          </a:blip>
          <a:srcRect b="0" l="0" r="0" t="0"/>
          <a:stretch/>
        </p:blipFill>
        <p:spPr>
          <a:xfrm>
            <a:off x="457200" y="6405563"/>
            <a:ext cx="11277600" cy="242888"/>
          </a:xfrm>
          <a:prstGeom prst="rect">
            <a:avLst/>
          </a:prstGeom>
          <a:noFill/>
          <a:ln>
            <a:noFill/>
          </a:ln>
        </p:spPr>
      </p:pic>
      <p:sp>
        <p:nvSpPr>
          <p:cNvPr id="462" name="Google Shape;462;p32"/>
          <p:cNvSpPr/>
          <p:nvPr/>
        </p:nvSpPr>
        <p:spPr>
          <a:xfrm>
            <a:off x="457200" y="6491288"/>
            <a:ext cx="1165175" cy="157163"/>
          </a:xfrm>
          <a:prstGeom prst="rect">
            <a:avLst/>
          </a:prstGeom>
          <a:noFill/>
          <a:ln>
            <a:noFill/>
          </a:ln>
        </p:spPr>
        <p:txBody>
          <a:bodyPr anchorCtr="0" anchor="t" bIns="0" lIns="0" spcFirstLastPara="1" rIns="0" wrap="square" tIns="0">
            <a:normAutofit/>
          </a:bodyPr>
          <a:lstStyle/>
          <a:p>
            <a:pPr indent="0" lvl="0" marL="0" marR="0" rtl="0" algn="l">
              <a:lnSpc>
                <a:spcPct val="150060"/>
              </a:lnSpc>
              <a:spcBef>
                <a:spcPts val="0"/>
              </a:spcBef>
              <a:spcAft>
                <a:spcPts val="0"/>
              </a:spcAft>
              <a:buClr>
                <a:srgbClr val="5F6E7A"/>
              </a:buClr>
              <a:buSzPts val="825"/>
              <a:buFont typeface="Arial"/>
              <a:buNone/>
            </a:pPr>
            <a:r>
              <a:rPr b="0" i="0" lang="en-US" sz="825">
                <a:solidFill>
                  <a:srgbClr val="5F6E7A"/>
                </a:solidFill>
                <a:latin typeface="Arial"/>
                <a:ea typeface="Arial"/>
                <a:cs typeface="Arial"/>
                <a:sym typeface="Arial"/>
              </a:rPr>
              <a:t>Schwippert et al. (1995)</a:t>
            </a:r>
            <a:endParaRPr sz="1800">
              <a:solidFill>
                <a:schemeClr val="dk1"/>
              </a:solidFill>
              <a:latin typeface="Calibri"/>
              <a:ea typeface="Calibri"/>
              <a:cs typeface="Calibri"/>
              <a:sym typeface="Calibri"/>
            </a:endParaRPr>
          </a:p>
        </p:txBody>
      </p:sp>
      <p:sp>
        <p:nvSpPr>
          <p:cNvPr id="463" name="Google Shape;463;p32"/>
          <p:cNvSpPr/>
          <p:nvPr/>
        </p:nvSpPr>
        <p:spPr>
          <a:xfrm>
            <a:off x="11614845" y="6491288"/>
            <a:ext cx="139005" cy="157163"/>
          </a:xfrm>
          <a:prstGeom prst="rect">
            <a:avLst/>
          </a:prstGeom>
          <a:noFill/>
          <a:ln>
            <a:noFill/>
          </a:ln>
        </p:spPr>
        <p:txBody>
          <a:bodyPr anchorCtr="0" anchor="t" bIns="0" lIns="0" spcFirstLastPara="1" rIns="0" wrap="square" tIns="0">
            <a:normAutofit/>
          </a:bodyPr>
          <a:lstStyle/>
          <a:p>
            <a:pPr indent="0" lvl="0" marL="0" marR="0" rtl="0" algn="l">
              <a:lnSpc>
                <a:spcPct val="150060"/>
              </a:lnSpc>
              <a:spcBef>
                <a:spcPts val="0"/>
              </a:spcBef>
              <a:spcAft>
                <a:spcPts val="0"/>
              </a:spcAft>
              <a:buClr>
                <a:srgbClr val="5F6E7A"/>
              </a:buClr>
              <a:buSzPts val="825"/>
              <a:buFont typeface="Arial"/>
              <a:buNone/>
            </a:pPr>
            <a:r>
              <a:rPr b="0" i="0" lang="en-US" sz="825">
                <a:solidFill>
                  <a:srgbClr val="5F6E7A"/>
                </a:solidFill>
                <a:latin typeface="Arial"/>
                <a:ea typeface="Arial"/>
                <a:cs typeface="Arial"/>
                <a:sym typeface="Arial"/>
              </a:rPr>
              <a:t>32</a:t>
            </a:r>
            <a:endParaRPr sz="1800">
              <a:solidFill>
                <a:schemeClr val="dk1"/>
              </a:solidFill>
              <a:latin typeface="Calibri"/>
              <a:ea typeface="Calibri"/>
              <a:cs typeface="Calibri"/>
              <a:sym typeface="Calibri"/>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67" name="Shape 467"/>
        <p:cNvGrpSpPr/>
        <p:nvPr/>
      </p:nvGrpSpPr>
      <p:grpSpPr>
        <a:xfrm>
          <a:off x="0" y="0"/>
          <a:ext cx="0" cy="0"/>
          <a:chOff x="0" y="0"/>
          <a:chExt cx="0" cy="0"/>
        </a:xfrm>
      </p:grpSpPr>
      <p:sp>
        <p:nvSpPr>
          <p:cNvPr id="468" name="Google Shape;468;p33"/>
          <p:cNvSpPr/>
          <p:nvPr/>
        </p:nvSpPr>
        <p:spPr>
          <a:xfrm>
            <a:off x="457200" y="457200"/>
            <a:ext cx="11296650" cy="328613"/>
          </a:xfrm>
          <a:prstGeom prst="rect">
            <a:avLst/>
          </a:prstGeom>
          <a:noFill/>
          <a:ln>
            <a:noFill/>
          </a:ln>
        </p:spPr>
        <p:txBody>
          <a:bodyPr anchorCtr="0" anchor="t" bIns="0" lIns="0" spcFirstLastPara="1" rIns="0" wrap="square" tIns="0">
            <a:normAutofit/>
          </a:bodyPr>
          <a:lstStyle/>
          <a:p>
            <a:pPr indent="0" lvl="0" marL="0" marR="0" rtl="0" algn="l">
              <a:lnSpc>
                <a:spcPct val="115022"/>
              </a:lnSpc>
              <a:spcBef>
                <a:spcPts val="0"/>
              </a:spcBef>
              <a:spcAft>
                <a:spcPts val="0"/>
              </a:spcAft>
              <a:buClr>
                <a:srgbClr val="35536B"/>
              </a:buClr>
              <a:buSzPts val="2250"/>
              <a:buFont typeface="Arial"/>
              <a:buNone/>
            </a:pPr>
            <a:r>
              <a:rPr b="1" i="0" lang="en-US" sz="2250">
                <a:solidFill>
                  <a:srgbClr val="35536B"/>
                </a:solidFill>
                <a:latin typeface="Arial"/>
                <a:ea typeface="Arial"/>
                <a:cs typeface="Arial"/>
                <a:sym typeface="Arial"/>
              </a:rPr>
              <a:t>A visual conditioner can reduce the retinal response</a:t>
            </a:r>
            <a:endParaRPr sz="1800">
              <a:solidFill>
                <a:schemeClr val="dk1"/>
              </a:solidFill>
              <a:latin typeface="Calibri"/>
              <a:ea typeface="Calibri"/>
              <a:cs typeface="Calibri"/>
              <a:sym typeface="Calibri"/>
            </a:endParaRPr>
          </a:p>
        </p:txBody>
      </p:sp>
      <p:sp>
        <p:nvSpPr>
          <p:cNvPr id="469" name="Google Shape;469;p33"/>
          <p:cNvSpPr/>
          <p:nvPr/>
        </p:nvSpPr>
        <p:spPr>
          <a:xfrm>
            <a:off x="457200" y="1071563"/>
            <a:ext cx="5695950" cy="1194346"/>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3303A"/>
              </a:buClr>
              <a:buSzPts val="1425"/>
              <a:buFont typeface="Arial"/>
              <a:buNone/>
            </a:pPr>
            <a:r>
              <a:rPr b="0" i="0" lang="en-US" sz="1425">
                <a:solidFill>
                  <a:srgbClr val="23303A"/>
                </a:solidFill>
                <a:latin typeface="Arial"/>
                <a:ea typeface="Arial"/>
                <a:cs typeface="Arial"/>
                <a:sym typeface="Arial"/>
              </a:rPr>
              <a:t>The authors established a steady tectal field response with optic-nerve stimulation at 0.8 Hz, then moved a large black object across the corresponding visual input between electrical test pulses. The retinal image was therefore present as a conditioner rather than as the electrically timed test signal.</a:t>
            </a:r>
            <a:endParaRPr sz="1800">
              <a:solidFill>
                <a:schemeClr val="dk1"/>
              </a:solidFill>
              <a:latin typeface="Calibri"/>
              <a:ea typeface="Calibri"/>
              <a:cs typeface="Calibri"/>
              <a:sym typeface="Calibri"/>
            </a:endParaRPr>
          </a:p>
        </p:txBody>
      </p:sp>
      <p:sp>
        <p:nvSpPr>
          <p:cNvPr id="470" name="Google Shape;470;p33"/>
          <p:cNvSpPr/>
          <p:nvPr/>
        </p:nvSpPr>
        <p:spPr>
          <a:xfrm>
            <a:off x="457200" y="2418308"/>
            <a:ext cx="5695950" cy="955477"/>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3303A"/>
              </a:buClr>
              <a:buSzPts val="1425"/>
              <a:buFont typeface="Arial"/>
              <a:buNone/>
            </a:pPr>
            <a:r>
              <a:rPr b="0" i="0" lang="en-US" sz="1425">
                <a:solidFill>
                  <a:srgbClr val="23303A"/>
                </a:solidFill>
                <a:latin typeface="Arial"/>
                <a:ea typeface="Arial"/>
                <a:cs typeface="Arial"/>
                <a:sym typeface="Arial"/>
              </a:rPr>
              <a:t>The subsequent negative N1 and N2 components were reduced, and suppression could persist after the visual stimulation. A brief train of pretectal pulses at 10 Hz for approximately 1 second produced a comparable attenuation of negative components.</a:t>
            </a:r>
            <a:endParaRPr sz="1800">
              <a:solidFill>
                <a:schemeClr val="dk1"/>
              </a:solidFill>
              <a:latin typeface="Calibri"/>
              <a:ea typeface="Calibri"/>
              <a:cs typeface="Calibri"/>
              <a:sym typeface="Calibri"/>
            </a:endParaRPr>
          </a:p>
        </p:txBody>
      </p:sp>
      <p:sp>
        <p:nvSpPr>
          <p:cNvPr id="471" name="Google Shape;471;p33"/>
          <p:cNvSpPr/>
          <p:nvPr/>
        </p:nvSpPr>
        <p:spPr>
          <a:xfrm>
            <a:off x="457200" y="3526185"/>
            <a:ext cx="5695950" cy="955477"/>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3303A"/>
              </a:buClr>
              <a:buSzPts val="1425"/>
              <a:buFont typeface="Arial"/>
              <a:buNone/>
            </a:pPr>
            <a:r>
              <a:rPr b="0" i="0" lang="en-US" sz="1425">
                <a:solidFill>
                  <a:srgbClr val="23303A"/>
                </a:solidFill>
                <a:latin typeface="Arial"/>
                <a:ea typeface="Arial"/>
                <a:cs typeface="Arial"/>
                <a:sym typeface="Arial"/>
              </a:rPr>
              <a:t>The visual effect links the electrical interaction to a natural route of sensory activation. A large moving object can recruit several retinal and central pathways, so similar field suppression does not prove that visual and electrical conditioning use exactly the same cells.</a:t>
            </a:r>
            <a:endParaRPr sz="1800">
              <a:solidFill>
                <a:schemeClr val="dk1"/>
              </a:solidFill>
              <a:latin typeface="Calibri"/>
              <a:ea typeface="Calibri"/>
              <a:cs typeface="Calibri"/>
              <a:sym typeface="Calibri"/>
            </a:endParaRPr>
          </a:p>
        </p:txBody>
      </p:sp>
      <p:pic>
        <p:nvPicPr>
          <p:cNvPr id="472" name="Google Shape;472;p33"/>
          <p:cNvPicPr preferRelativeResize="0"/>
          <p:nvPr/>
        </p:nvPicPr>
        <p:blipFill rotWithShape="1">
          <a:blip r:embed="rId3">
            <a:alphaModFix/>
          </a:blip>
          <a:srcRect b="0" l="0" r="0" t="0"/>
          <a:stretch/>
        </p:blipFill>
        <p:spPr>
          <a:xfrm>
            <a:off x="8316920" y="1071563"/>
            <a:ext cx="1577960" cy="2333625"/>
          </a:xfrm>
          <a:prstGeom prst="rect">
            <a:avLst/>
          </a:prstGeom>
          <a:noFill/>
          <a:ln>
            <a:noFill/>
          </a:ln>
        </p:spPr>
      </p:pic>
      <p:sp>
        <p:nvSpPr>
          <p:cNvPr id="473" name="Google Shape;473;p33"/>
          <p:cNvSpPr/>
          <p:nvPr/>
        </p:nvSpPr>
        <p:spPr>
          <a:xfrm>
            <a:off x="6477000" y="3481388"/>
            <a:ext cx="5276850" cy="285750"/>
          </a:xfrm>
          <a:prstGeom prst="rect">
            <a:avLst/>
          </a:prstGeom>
          <a:noFill/>
          <a:ln>
            <a:noFill/>
          </a:ln>
        </p:spPr>
        <p:txBody>
          <a:bodyPr anchorCtr="0" anchor="t" bIns="0" lIns="0" spcFirstLastPara="1" rIns="0" wrap="square" tIns="0">
            <a:normAutofit/>
          </a:bodyPr>
          <a:lstStyle/>
          <a:p>
            <a:pPr indent="0" lvl="0" marL="0" marR="0" rtl="0" algn="l">
              <a:lnSpc>
                <a:spcPct val="125000"/>
              </a:lnSpc>
              <a:spcBef>
                <a:spcPts val="0"/>
              </a:spcBef>
              <a:spcAft>
                <a:spcPts val="0"/>
              </a:spcAft>
              <a:buClr>
                <a:srgbClr val="23303A"/>
              </a:buClr>
              <a:buSzPts val="900"/>
              <a:buFont typeface="Arial"/>
              <a:buNone/>
            </a:pPr>
            <a:r>
              <a:rPr b="0" i="0" lang="en-US" sz="900">
                <a:solidFill>
                  <a:srgbClr val="23303A"/>
                </a:solidFill>
                <a:latin typeface="Arial"/>
                <a:ea typeface="Arial"/>
                <a:cs typeface="Arial"/>
                <a:sym typeface="Arial"/>
              </a:rPr>
              <a:t>Schwippert et al. (1995), Fig. 8(A–B). Visual and pretectal conditioning attenuate optic-nerve-evoked tectal responses.</a:t>
            </a:r>
            <a:endParaRPr sz="1800">
              <a:solidFill>
                <a:schemeClr val="dk1"/>
              </a:solidFill>
              <a:latin typeface="Calibri"/>
              <a:ea typeface="Calibri"/>
              <a:cs typeface="Calibri"/>
              <a:sym typeface="Calibri"/>
            </a:endParaRPr>
          </a:p>
        </p:txBody>
      </p:sp>
      <p:pic>
        <p:nvPicPr>
          <p:cNvPr id="474" name="Google Shape;474;p33"/>
          <p:cNvPicPr preferRelativeResize="0"/>
          <p:nvPr/>
        </p:nvPicPr>
        <p:blipFill rotWithShape="1">
          <a:blip r:embed="rId4">
            <a:alphaModFix/>
          </a:blip>
          <a:srcRect b="0" l="0" r="0" t="0"/>
          <a:stretch/>
        </p:blipFill>
        <p:spPr>
          <a:xfrm>
            <a:off x="7618507" y="3938588"/>
            <a:ext cx="2974785" cy="1476375"/>
          </a:xfrm>
          <a:prstGeom prst="rect">
            <a:avLst/>
          </a:prstGeom>
          <a:noFill/>
          <a:ln>
            <a:noFill/>
          </a:ln>
        </p:spPr>
      </p:pic>
      <p:sp>
        <p:nvSpPr>
          <p:cNvPr id="475" name="Google Shape;475;p33"/>
          <p:cNvSpPr/>
          <p:nvPr/>
        </p:nvSpPr>
        <p:spPr>
          <a:xfrm>
            <a:off x="6477000" y="5491163"/>
            <a:ext cx="5276850" cy="142875"/>
          </a:xfrm>
          <a:prstGeom prst="rect">
            <a:avLst/>
          </a:prstGeom>
          <a:noFill/>
          <a:ln>
            <a:noFill/>
          </a:ln>
        </p:spPr>
        <p:txBody>
          <a:bodyPr anchorCtr="0" anchor="t" bIns="0" lIns="0" spcFirstLastPara="1" rIns="0" wrap="square" tIns="0">
            <a:normAutofit/>
          </a:bodyPr>
          <a:lstStyle/>
          <a:p>
            <a:pPr indent="0" lvl="0" marL="0" marR="0" rtl="0" algn="l">
              <a:lnSpc>
                <a:spcPct val="125000"/>
              </a:lnSpc>
              <a:spcBef>
                <a:spcPts val="0"/>
              </a:spcBef>
              <a:spcAft>
                <a:spcPts val="0"/>
              </a:spcAft>
              <a:buClr>
                <a:srgbClr val="23303A"/>
              </a:buClr>
              <a:buSzPts val="900"/>
              <a:buFont typeface="Arial"/>
              <a:buNone/>
            </a:pPr>
            <a:r>
              <a:rPr b="0" i="0" lang="en-US" sz="900">
                <a:solidFill>
                  <a:srgbClr val="23303A"/>
                </a:solidFill>
                <a:latin typeface="Arial"/>
                <a:ea typeface="Arial"/>
                <a:cs typeface="Arial"/>
                <a:sym typeface="Arial"/>
              </a:rPr>
              <a:t>Schwippert et al. (1995), Fig. 4 (histology). Marked Lpd site (250 μm).</a:t>
            </a:r>
            <a:endParaRPr sz="1800">
              <a:solidFill>
                <a:schemeClr val="dk1"/>
              </a:solidFill>
              <a:latin typeface="Calibri"/>
              <a:ea typeface="Calibri"/>
              <a:cs typeface="Calibri"/>
              <a:sym typeface="Calibri"/>
            </a:endParaRPr>
          </a:p>
        </p:txBody>
      </p:sp>
      <p:pic>
        <p:nvPicPr>
          <p:cNvPr id="476" name="Google Shape;476;p33"/>
          <p:cNvPicPr preferRelativeResize="0"/>
          <p:nvPr/>
        </p:nvPicPr>
        <p:blipFill rotWithShape="1">
          <a:blip r:embed="rId5">
            <a:alphaModFix/>
          </a:blip>
          <a:srcRect b="0" l="0" r="0" t="0"/>
          <a:stretch/>
        </p:blipFill>
        <p:spPr>
          <a:xfrm>
            <a:off x="457200" y="6405563"/>
            <a:ext cx="11277600" cy="242888"/>
          </a:xfrm>
          <a:prstGeom prst="rect">
            <a:avLst/>
          </a:prstGeom>
          <a:noFill/>
          <a:ln>
            <a:noFill/>
          </a:ln>
        </p:spPr>
      </p:pic>
      <p:sp>
        <p:nvSpPr>
          <p:cNvPr id="477" name="Google Shape;477;p33"/>
          <p:cNvSpPr/>
          <p:nvPr/>
        </p:nvSpPr>
        <p:spPr>
          <a:xfrm>
            <a:off x="457200" y="6491288"/>
            <a:ext cx="1165175" cy="157163"/>
          </a:xfrm>
          <a:prstGeom prst="rect">
            <a:avLst/>
          </a:prstGeom>
          <a:noFill/>
          <a:ln>
            <a:noFill/>
          </a:ln>
        </p:spPr>
        <p:txBody>
          <a:bodyPr anchorCtr="0" anchor="t" bIns="0" lIns="0" spcFirstLastPara="1" rIns="0" wrap="square" tIns="0">
            <a:normAutofit/>
          </a:bodyPr>
          <a:lstStyle/>
          <a:p>
            <a:pPr indent="0" lvl="0" marL="0" marR="0" rtl="0" algn="l">
              <a:lnSpc>
                <a:spcPct val="150060"/>
              </a:lnSpc>
              <a:spcBef>
                <a:spcPts val="0"/>
              </a:spcBef>
              <a:spcAft>
                <a:spcPts val="0"/>
              </a:spcAft>
              <a:buClr>
                <a:srgbClr val="5F6E7A"/>
              </a:buClr>
              <a:buSzPts val="825"/>
              <a:buFont typeface="Arial"/>
              <a:buNone/>
            </a:pPr>
            <a:r>
              <a:rPr b="0" i="0" lang="en-US" sz="825">
                <a:solidFill>
                  <a:srgbClr val="5F6E7A"/>
                </a:solidFill>
                <a:latin typeface="Arial"/>
                <a:ea typeface="Arial"/>
                <a:cs typeface="Arial"/>
                <a:sym typeface="Arial"/>
              </a:rPr>
              <a:t>Schwippert et al. (1995)</a:t>
            </a:r>
            <a:endParaRPr sz="1800">
              <a:solidFill>
                <a:schemeClr val="dk1"/>
              </a:solidFill>
              <a:latin typeface="Calibri"/>
              <a:ea typeface="Calibri"/>
              <a:cs typeface="Calibri"/>
              <a:sym typeface="Calibri"/>
            </a:endParaRPr>
          </a:p>
        </p:txBody>
      </p:sp>
      <p:sp>
        <p:nvSpPr>
          <p:cNvPr id="478" name="Google Shape;478;p33"/>
          <p:cNvSpPr/>
          <p:nvPr/>
        </p:nvSpPr>
        <p:spPr>
          <a:xfrm>
            <a:off x="11614845" y="6491288"/>
            <a:ext cx="139005" cy="157163"/>
          </a:xfrm>
          <a:prstGeom prst="rect">
            <a:avLst/>
          </a:prstGeom>
          <a:noFill/>
          <a:ln>
            <a:noFill/>
          </a:ln>
        </p:spPr>
        <p:txBody>
          <a:bodyPr anchorCtr="0" anchor="t" bIns="0" lIns="0" spcFirstLastPara="1" rIns="0" wrap="square" tIns="0">
            <a:normAutofit/>
          </a:bodyPr>
          <a:lstStyle/>
          <a:p>
            <a:pPr indent="0" lvl="0" marL="0" marR="0" rtl="0" algn="l">
              <a:lnSpc>
                <a:spcPct val="150060"/>
              </a:lnSpc>
              <a:spcBef>
                <a:spcPts val="0"/>
              </a:spcBef>
              <a:spcAft>
                <a:spcPts val="0"/>
              </a:spcAft>
              <a:buClr>
                <a:srgbClr val="5F6E7A"/>
              </a:buClr>
              <a:buSzPts val="825"/>
              <a:buFont typeface="Arial"/>
              <a:buNone/>
            </a:pPr>
            <a:r>
              <a:rPr b="0" i="0" lang="en-US" sz="825">
                <a:solidFill>
                  <a:srgbClr val="5F6E7A"/>
                </a:solidFill>
                <a:latin typeface="Arial"/>
                <a:ea typeface="Arial"/>
                <a:cs typeface="Arial"/>
                <a:sym typeface="Arial"/>
              </a:rPr>
              <a:t>33</a:t>
            </a:r>
            <a:endParaRPr sz="1800">
              <a:solidFill>
                <a:schemeClr val="dk1"/>
              </a:solidFill>
              <a:latin typeface="Calibri"/>
              <a:ea typeface="Calibri"/>
              <a:cs typeface="Calibri"/>
              <a:sym typeface="Calibri"/>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82" name="Shape 482"/>
        <p:cNvGrpSpPr/>
        <p:nvPr/>
      </p:nvGrpSpPr>
      <p:grpSpPr>
        <a:xfrm>
          <a:off x="0" y="0"/>
          <a:ext cx="0" cy="0"/>
          <a:chOff x="0" y="0"/>
          <a:chExt cx="0" cy="0"/>
        </a:xfrm>
      </p:grpSpPr>
      <p:sp>
        <p:nvSpPr>
          <p:cNvPr id="483" name="Google Shape;483;p34"/>
          <p:cNvSpPr/>
          <p:nvPr/>
        </p:nvSpPr>
        <p:spPr>
          <a:xfrm>
            <a:off x="457200" y="457200"/>
            <a:ext cx="11296650" cy="328613"/>
          </a:xfrm>
          <a:prstGeom prst="rect">
            <a:avLst/>
          </a:prstGeom>
          <a:noFill/>
          <a:ln>
            <a:noFill/>
          </a:ln>
        </p:spPr>
        <p:txBody>
          <a:bodyPr anchorCtr="0" anchor="t" bIns="0" lIns="0" spcFirstLastPara="1" rIns="0" wrap="square" tIns="0">
            <a:normAutofit/>
          </a:bodyPr>
          <a:lstStyle/>
          <a:p>
            <a:pPr indent="0" lvl="0" marL="0" marR="0" rtl="0" algn="l">
              <a:lnSpc>
                <a:spcPct val="115022"/>
              </a:lnSpc>
              <a:spcBef>
                <a:spcPts val="0"/>
              </a:spcBef>
              <a:spcAft>
                <a:spcPts val="0"/>
              </a:spcAft>
              <a:buClr>
                <a:srgbClr val="35536B"/>
              </a:buClr>
              <a:buSzPts val="2250"/>
              <a:buFont typeface="Arial"/>
              <a:buNone/>
            </a:pPr>
            <a:r>
              <a:rPr b="1" i="0" lang="en-US" sz="2250">
                <a:solidFill>
                  <a:srgbClr val="35536B"/>
                </a:solidFill>
                <a:latin typeface="Arial"/>
                <a:ea typeface="Arial"/>
                <a:cs typeface="Arial"/>
                <a:sym typeface="Arial"/>
              </a:rPr>
              <a:t>Repetition controls challenge a simple adaptation account</a:t>
            </a:r>
            <a:endParaRPr sz="1800">
              <a:solidFill>
                <a:schemeClr val="dk1"/>
              </a:solidFill>
              <a:latin typeface="Calibri"/>
              <a:ea typeface="Calibri"/>
              <a:cs typeface="Calibri"/>
              <a:sym typeface="Calibri"/>
            </a:endParaRPr>
          </a:p>
        </p:txBody>
      </p:sp>
      <p:sp>
        <p:nvSpPr>
          <p:cNvPr id="484" name="Google Shape;484;p34"/>
          <p:cNvSpPr/>
          <p:nvPr/>
        </p:nvSpPr>
        <p:spPr>
          <a:xfrm>
            <a:off x="457200" y="1071563"/>
            <a:ext cx="5695950" cy="955477"/>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3303A"/>
              </a:buClr>
              <a:buSzPts val="1425"/>
              <a:buFont typeface="Arial"/>
              <a:buNone/>
            </a:pPr>
            <a:r>
              <a:rPr b="1" i="0" lang="en-US" sz="1425">
                <a:solidFill>
                  <a:srgbClr val="23303A"/>
                </a:solidFill>
                <a:latin typeface="Arial"/>
                <a:ea typeface="Arial"/>
                <a:cs typeface="Arial"/>
                <a:sym typeface="Arial"/>
              </a:rPr>
              <a:t>Adaptation</a:t>
            </a:r>
            <a:r>
              <a:rPr b="0" i="0" lang="en-US" sz="1425">
                <a:solidFill>
                  <a:srgbClr val="23303A"/>
                </a:solidFill>
                <a:latin typeface="Arial"/>
                <a:ea typeface="Arial"/>
                <a:cs typeface="Arial"/>
                <a:sym typeface="Arial"/>
              </a:rPr>
              <a:t> is a change in responsiveness caused by preceding activity. An alternative explanation for paired-input suppression was that the first pulse simply exhausted the same excitable pathway later recruited by the optic-nerve test pulse.</a:t>
            </a:r>
            <a:endParaRPr sz="1800">
              <a:solidFill>
                <a:schemeClr val="dk1"/>
              </a:solidFill>
              <a:latin typeface="Calibri"/>
              <a:ea typeface="Calibri"/>
              <a:cs typeface="Calibri"/>
              <a:sym typeface="Calibri"/>
            </a:endParaRPr>
          </a:p>
        </p:txBody>
      </p:sp>
      <p:sp>
        <p:nvSpPr>
          <p:cNvPr id="485" name="Google Shape;485;p34"/>
          <p:cNvSpPr/>
          <p:nvPr/>
        </p:nvSpPr>
        <p:spPr>
          <a:xfrm>
            <a:off x="457200" y="2179439"/>
            <a:ext cx="5695950" cy="1433215"/>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3303A"/>
              </a:buClr>
              <a:buSzPts val="1425"/>
              <a:buFont typeface="Arial"/>
              <a:buNone/>
            </a:pPr>
            <a:r>
              <a:rPr b="0" i="0" lang="en-US" sz="1425">
                <a:solidFill>
                  <a:srgbClr val="23303A"/>
                </a:solidFill>
                <a:latin typeface="Arial"/>
                <a:ea typeface="Arial"/>
                <a:cs typeface="Arial"/>
                <a:sym typeface="Arial"/>
              </a:rPr>
              <a:t>Schwippert and colleagues alternated optic-nerve and pretectal stimulation at 4 Hz, equivalent to a 125 ms separation. Their responses changed differently with repetition. Two optic-nerve pulses separated by 20 ms did not produce the same obvious attenuation of N1 in the second field response as the effective pretectal conditioning pulse.</a:t>
            </a:r>
            <a:endParaRPr sz="1800">
              <a:solidFill>
                <a:schemeClr val="dk1"/>
              </a:solidFill>
              <a:latin typeface="Calibri"/>
              <a:ea typeface="Calibri"/>
              <a:cs typeface="Calibri"/>
              <a:sym typeface="Calibri"/>
            </a:endParaRPr>
          </a:p>
        </p:txBody>
      </p:sp>
      <p:sp>
        <p:nvSpPr>
          <p:cNvPr id="486" name="Google Shape;486;p34"/>
          <p:cNvSpPr/>
          <p:nvPr/>
        </p:nvSpPr>
        <p:spPr>
          <a:xfrm>
            <a:off x="457200" y="3765054"/>
            <a:ext cx="5695950" cy="1194346"/>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3303A"/>
              </a:buClr>
              <a:buSzPts val="1425"/>
              <a:buFont typeface="Arial"/>
              <a:buNone/>
            </a:pPr>
            <a:r>
              <a:rPr b="0" i="0" lang="en-US" sz="1425">
                <a:solidFill>
                  <a:srgbClr val="23303A"/>
                </a:solidFill>
                <a:latin typeface="Arial"/>
                <a:ea typeface="Arial"/>
                <a:cs typeface="Arial"/>
                <a:sym typeface="Arial"/>
              </a:rPr>
              <a:t>The controls weaken a simple shared-pathway adaptation explanation and the possibility that pretectal current merely spreads to the adjacent optic tract. They support a pathway-specific interaction without excluding every possible form of network adaptation.</a:t>
            </a:r>
            <a:endParaRPr sz="1800">
              <a:solidFill>
                <a:schemeClr val="dk1"/>
              </a:solidFill>
              <a:latin typeface="Calibri"/>
              <a:ea typeface="Calibri"/>
              <a:cs typeface="Calibri"/>
              <a:sym typeface="Calibri"/>
            </a:endParaRPr>
          </a:p>
        </p:txBody>
      </p:sp>
      <p:pic>
        <p:nvPicPr>
          <p:cNvPr id="487" name="Google Shape;487;p34"/>
          <p:cNvPicPr preferRelativeResize="0"/>
          <p:nvPr/>
        </p:nvPicPr>
        <p:blipFill rotWithShape="1">
          <a:blip r:embed="rId3">
            <a:alphaModFix/>
          </a:blip>
          <a:srcRect b="0" l="0" r="0" t="0"/>
          <a:stretch/>
        </p:blipFill>
        <p:spPr>
          <a:xfrm>
            <a:off x="8314219" y="1071563"/>
            <a:ext cx="1583362" cy="2333625"/>
          </a:xfrm>
          <a:prstGeom prst="rect">
            <a:avLst/>
          </a:prstGeom>
          <a:noFill/>
          <a:ln>
            <a:noFill/>
          </a:ln>
        </p:spPr>
      </p:pic>
      <p:sp>
        <p:nvSpPr>
          <p:cNvPr id="488" name="Google Shape;488;p34"/>
          <p:cNvSpPr/>
          <p:nvPr/>
        </p:nvSpPr>
        <p:spPr>
          <a:xfrm>
            <a:off x="6477000" y="3481388"/>
            <a:ext cx="5276850" cy="285750"/>
          </a:xfrm>
          <a:prstGeom prst="rect">
            <a:avLst/>
          </a:prstGeom>
          <a:noFill/>
          <a:ln>
            <a:noFill/>
          </a:ln>
        </p:spPr>
        <p:txBody>
          <a:bodyPr anchorCtr="0" anchor="t" bIns="0" lIns="0" spcFirstLastPara="1" rIns="0" wrap="square" tIns="0">
            <a:normAutofit/>
          </a:bodyPr>
          <a:lstStyle/>
          <a:p>
            <a:pPr indent="0" lvl="0" marL="0" marR="0" rtl="0" algn="l">
              <a:lnSpc>
                <a:spcPct val="125000"/>
              </a:lnSpc>
              <a:spcBef>
                <a:spcPts val="0"/>
              </a:spcBef>
              <a:spcAft>
                <a:spcPts val="0"/>
              </a:spcAft>
              <a:buClr>
                <a:srgbClr val="23303A"/>
              </a:buClr>
              <a:buSzPts val="900"/>
              <a:buFont typeface="Arial"/>
              <a:buNone/>
            </a:pPr>
            <a:r>
              <a:rPr b="0" i="0" lang="en-US" sz="900">
                <a:solidFill>
                  <a:srgbClr val="23303A"/>
                </a:solidFill>
                <a:latin typeface="Arial"/>
                <a:ea typeface="Arial"/>
                <a:cs typeface="Arial"/>
                <a:sym typeface="Arial"/>
              </a:rPr>
              <a:t>Schwippert et al. (1995), Fig. 9(A–B). Repetition and paired optic-nerve controls test an adaptation explanation.</a:t>
            </a:r>
            <a:endParaRPr sz="1800">
              <a:solidFill>
                <a:schemeClr val="dk1"/>
              </a:solidFill>
              <a:latin typeface="Calibri"/>
              <a:ea typeface="Calibri"/>
              <a:cs typeface="Calibri"/>
              <a:sym typeface="Calibri"/>
            </a:endParaRPr>
          </a:p>
        </p:txBody>
      </p:sp>
      <p:pic>
        <p:nvPicPr>
          <p:cNvPr id="489" name="Google Shape;489;p34"/>
          <p:cNvPicPr preferRelativeResize="0"/>
          <p:nvPr/>
        </p:nvPicPr>
        <p:blipFill rotWithShape="1">
          <a:blip r:embed="rId4">
            <a:alphaModFix/>
          </a:blip>
          <a:srcRect b="0" l="0" r="0" t="0"/>
          <a:stretch/>
        </p:blipFill>
        <p:spPr>
          <a:xfrm>
            <a:off x="7618507" y="3938588"/>
            <a:ext cx="2974785" cy="1476375"/>
          </a:xfrm>
          <a:prstGeom prst="rect">
            <a:avLst/>
          </a:prstGeom>
          <a:noFill/>
          <a:ln>
            <a:noFill/>
          </a:ln>
        </p:spPr>
      </p:pic>
      <p:sp>
        <p:nvSpPr>
          <p:cNvPr id="490" name="Google Shape;490;p34"/>
          <p:cNvSpPr/>
          <p:nvPr/>
        </p:nvSpPr>
        <p:spPr>
          <a:xfrm>
            <a:off x="6477000" y="5491163"/>
            <a:ext cx="5276850" cy="142875"/>
          </a:xfrm>
          <a:prstGeom prst="rect">
            <a:avLst/>
          </a:prstGeom>
          <a:noFill/>
          <a:ln>
            <a:noFill/>
          </a:ln>
        </p:spPr>
        <p:txBody>
          <a:bodyPr anchorCtr="0" anchor="t" bIns="0" lIns="0" spcFirstLastPara="1" rIns="0" wrap="square" tIns="0">
            <a:normAutofit/>
          </a:bodyPr>
          <a:lstStyle/>
          <a:p>
            <a:pPr indent="0" lvl="0" marL="0" marR="0" rtl="0" algn="l">
              <a:lnSpc>
                <a:spcPct val="125000"/>
              </a:lnSpc>
              <a:spcBef>
                <a:spcPts val="0"/>
              </a:spcBef>
              <a:spcAft>
                <a:spcPts val="0"/>
              </a:spcAft>
              <a:buClr>
                <a:srgbClr val="23303A"/>
              </a:buClr>
              <a:buSzPts val="900"/>
              <a:buFont typeface="Arial"/>
              <a:buNone/>
            </a:pPr>
            <a:r>
              <a:rPr b="0" i="0" lang="en-US" sz="900">
                <a:solidFill>
                  <a:srgbClr val="23303A"/>
                </a:solidFill>
                <a:latin typeface="Arial"/>
                <a:ea typeface="Arial"/>
                <a:cs typeface="Arial"/>
                <a:sym typeface="Arial"/>
              </a:rPr>
              <a:t>Schwippert et al. (1995), Fig. 4 (histology). Marked Lpd site (250 μm).</a:t>
            </a:r>
            <a:endParaRPr sz="1800">
              <a:solidFill>
                <a:schemeClr val="dk1"/>
              </a:solidFill>
              <a:latin typeface="Calibri"/>
              <a:ea typeface="Calibri"/>
              <a:cs typeface="Calibri"/>
              <a:sym typeface="Calibri"/>
            </a:endParaRPr>
          </a:p>
        </p:txBody>
      </p:sp>
      <p:pic>
        <p:nvPicPr>
          <p:cNvPr id="491" name="Google Shape;491;p34"/>
          <p:cNvPicPr preferRelativeResize="0"/>
          <p:nvPr/>
        </p:nvPicPr>
        <p:blipFill rotWithShape="1">
          <a:blip r:embed="rId5">
            <a:alphaModFix/>
          </a:blip>
          <a:srcRect b="0" l="0" r="0" t="0"/>
          <a:stretch/>
        </p:blipFill>
        <p:spPr>
          <a:xfrm>
            <a:off x="457200" y="6405563"/>
            <a:ext cx="11277600" cy="242888"/>
          </a:xfrm>
          <a:prstGeom prst="rect">
            <a:avLst/>
          </a:prstGeom>
          <a:noFill/>
          <a:ln>
            <a:noFill/>
          </a:ln>
        </p:spPr>
      </p:pic>
      <p:sp>
        <p:nvSpPr>
          <p:cNvPr id="492" name="Google Shape;492;p34"/>
          <p:cNvSpPr/>
          <p:nvPr/>
        </p:nvSpPr>
        <p:spPr>
          <a:xfrm>
            <a:off x="457200" y="6491288"/>
            <a:ext cx="1165175" cy="157163"/>
          </a:xfrm>
          <a:prstGeom prst="rect">
            <a:avLst/>
          </a:prstGeom>
          <a:noFill/>
          <a:ln>
            <a:noFill/>
          </a:ln>
        </p:spPr>
        <p:txBody>
          <a:bodyPr anchorCtr="0" anchor="t" bIns="0" lIns="0" spcFirstLastPara="1" rIns="0" wrap="square" tIns="0">
            <a:normAutofit/>
          </a:bodyPr>
          <a:lstStyle/>
          <a:p>
            <a:pPr indent="0" lvl="0" marL="0" marR="0" rtl="0" algn="l">
              <a:lnSpc>
                <a:spcPct val="150060"/>
              </a:lnSpc>
              <a:spcBef>
                <a:spcPts val="0"/>
              </a:spcBef>
              <a:spcAft>
                <a:spcPts val="0"/>
              </a:spcAft>
              <a:buClr>
                <a:srgbClr val="5F6E7A"/>
              </a:buClr>
              <a:buSzPts val="825"/>
              <a:buFont typeface="Arial"/>
              <a:buNone/>
            </a:pPr>
            <a:r>
              <a:rPr b="0" i="0" lang="en-US" sz="825">
                <a:solidFill>
                  <a:srgbClr val="5F6E7A"/>
                </a:solidFill>
                <a:latin typeface="Arial"/>
                <a:ea typeface="Arial"/>
                <a:cs typeface="Arial"/>
                <a:sym typeface="Arial"/>
              </a:rPr>
              <a:t>Schwippert et al. (1995)</a:t>
            </a:r>
            <a:endParaRPr sz="1800">
              <a:solidFill>
                <a:schemeClr val="dk1"/>
              </a:solidFill>
              <a:latin typeface="Calibri"/>
              <a:ea typeface="Calibri"/>
              <a:cs typeface="Calibri"/>
              <a:sym typeface="Calibri"/>
            </a:endParaRPr>
          </a:p>
        </p:txBody>
      </p:sp>
      <p:sp>
        <p:nvSpPr>
          <p:cNvPr id="493" name="Google Shape;493;p34"/>
          <p:cNvSpPr/>
          <p:nvPr/>
        </p:nvSpPr>
        <p:spPr>
          <a:xfrm>
            <a:off x="11614845" y="6491288"/>
            <a:ext cx="139005" cy="157163"/>
          </a:xfrm>
          <a:prstGeom prst="rect">
            <a:avLst/>
          </a:prstGeom>
          <a:noFill/>
          <a:ln>
            <a:noFill/>
          </a:ln>
        </p:spPr>
        <p:txBody>
          <a:bodyPr anchorCtr="0" anchor="t" bIns="0" lIns="0" spcFirstLastPara="1" rIns="0" wrap="square" tIns="0">
            <a:normAutofit/>
          </a:bodyPr>
          <a:lstStyle/>
          <a:p>
            <a:pPr indent="0" lvl="0" marL="0" marR="0" rtl="0" algn="l">
              <a:lnSpc>
                <a:spcPct val="150060"/>
              </a:lnSpc>
              <a:spcBef>
                <a:spcPts val="0"/>
              </a:spcBef>
              <a:spcAft>
                <a:spcPts val="0"/>
              </a:spcAft>
              <a:buClr>
                <a:srgbClr val="5F6E7A"/>
              </a:buClr>
              <a:buSzPts val="825"/>
              <a:buFont typeface="Arial"/>
              <a:buNone/>
            </a:pPr>
            <a:r>
              <a:rPr b="0" i="0" lang="en-US" sz="825">
                <a:solidFill>
                  <a:srgbClr val="5F6E7A"/>
                </a:solidFill>
                <a:latin typeface="Arial"/>
                <a:ea typeface="Arial"/>
                <a:cs typeface="Arial"/>
                <a:sym typeface="Arial"/>
              </a:rPr>
              <a:t>34</a:t>
            </a:r>
            <a:endParaRPr sz="1800">
              <a:solidFill>
                <a:schemeClr val="dk1"/>
              </a:solidFill>
              <a:latin typeface="Calibri"/>
              <a:ea typeface="Calibri"/>
              <a:cs typeface="Calibri"/>
              <a:sym typeface="Calibri"/>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97" name="Shape 497"/>
        <p:cNvGrpSpPr/>
        <p:nvPr/>
      </p:nvGrpSpPr>
      <p:grpSpPr>
        <a:xfrm>
          <a:off x="0" y="0"/>
          <a:ext cx="0" cy="0"/>
          <a:chOff x="0" y="0"/>
          <a:chExt cx="0" cy="0"/>
        </a:xfrm>
      </p:grpSpPr>
      <p:sp>
        <p:nvSpPr>
          <p:cNvPr id="498" name="Google Shape;498;p35"/>
          <p:cNvSpPr/>
          <p:nvPr/>
        </p:nvSpPr>
        <p:spPr>
          <a:xfrm>
            <a:off x="457200" y="457200"/>
            <a:ext cx="11296650" cy="328613"/>
          </a:xfrm>
          <a:prstGeom prst="rect">
            <a:avLst/>
          </a:prstGeom>
          <a:noFill/>
          <a:ln>
            <a:noFill/>
          </a:ln>
        </p:spPr>
        <p:txBody>
          <a:bodyPr anchorCtr="0" anchor="t" bIns="0" lIns="0" spcFirstLastPara="1" rIns="0" wrap="square" tIns="0">
            <a:normAutofit/>
          </a:bodyPr>
          <a:lstStyle/>
          <a:p>
            <a:pPr indent="0" lvl="0" marL="0" marR="0" rtl="0" algn="l">
              <a:lnSpc>
                <a:spcPct val="115022"/>
              </a:lnSpc>
              <a:spcBef>
                <a:spcPts val="0"/>
              </a:spcBef>
              <a:spcAft>
                <a:spcPts val="0"/>
              </a:spcAft>
              <a:buClr>
                <a:srgbClr val="35536B"/>
              </a:buClr>
              <a:buSzPts val="2250"/>
              <a:buFont typeface="Arial"/>
              <a:buNone/>
            </a:pPr>
            <a:r>
              <a:rPr b="1" i="0" lang="en-US" sz="2250">
                <a:solidFill>
                  <a:srgbClr val="35536B"/>
                </a:solidFill>
                <a:latin typeface="Arial"/>
                <a:ea typeface="Arial"/>
                <a:cs typeface="Arial"/>
                <a:sym typeface="Arial"/>
              </a:rPr>
              <a:t>Inhibitory network effects need not be a direct synapse</a:t>
            </a:r>
            <a:endParaRPr sz="1800">
              <a:solidFill>
                <a:schemeClr val="dk1"/>
              </a:solidFill>
              <a:latin typeface="Calibri"/>
              <a:ea typeface="Calibri"/>
              <a:cs typeface="Calibri"/>
              <a:sym typeface="Calibri"/>
            </a:endParaRPr>
          </a:p>
        </p:txBody>
      </p:sp>
      <p:sp>
        <p:nvSpPr>
          <p:cNvPr id="499" name="Google Shape;499;p35"/>
          <p:cNvSpPr/>
          <p:nvPr/>
        </p:nvSpPr>
        <p:spPr>
          <a:xfrm>
            <a:off x="457200" y="1071563"/>
            <a:ext cx="5695950" cy="1194346"/>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3303A"/>
              </a:buClr>
              <a:buSzPts val="1425"/>
              <a:buFont typeface="Arial"/>
              <a:buNone/>
            </a:pPr>
            <a:r>
              <a:rPr b="0" i="0" lang="en-US" sz="1425">
                <a:solidFill>
                  <a:srgbClr val="23303A"/>
                </a:solidFill>
                <a:latin typeface="Arial"/>
                <a:ea typeface="Arial"/>
                <a:cs typeface="Arial"/>
                <a:sym typeface="Arial"/>
              </a:rPr>
              <a:t>Pretectal stimulation reduced a later retinally evoked tectal field component, but ipsilateral pretectal stimulation alone also produced a negative wave. Schwippert and colleagues considered multiple circuit arrangements compatible with this combination of recorded effects.</a:t>
            </a:r>
            <a:endParaRPr sz="1800">
              <a:solidFill>
                <a:schemeClr val="dk1"/>
              </a:solidFill>
              <a:latin typeface="Calibri"/>
              <a:ea typeface="Calibri"/>
              <a:cs typeface="Calibri"/>
              <a:sym typeface="Calibri"/>
            </a:endParaRPr>
          </a:p>
        </p:txBody>
      </p:sp>
      <p:sp>
        <p:nvSpPr>
          <p:cNvPr id="500" name="Google Shape;500;p35"/>
          <p:cNvSpPr/>
          <p:nvPr/>
        </p:nvSpPr>
        <p:spPr>
          <a:xfrm>
            <a:off x="457200" y="2418308"/>
            <a:ext cx="5695950" cy="1433215"/>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3303A"/>
              </a:buClr>
              <a:buSzPts val="1425"/>
              <a:buFont typeface="Arial"/>
              <a:buNone/>
            </a:pPr>
            <a:r>
              <a:rPr b="0" i="0" lang="en-US" sz="1425">
                <a:solidFill>
                  <a:srgbClr val="23303A"/>
                </a:solidFill>
                <a:latin typeface="Arial"/>
                <a:ea typeface="Arial"/>
                <a:cs typeface="Arial"/>
                <a:sym typeface="Arial"/>
              </a:rPr>
              <a:t>An excitatory pretectal input could recruit an inhibitory tectal interneuron, a neuron connecting cells within a local circuit. Alternatively, regulation could occur at retinal terminals through </a:t>
            </a:r>
            <a:r>
              <a:rPr b="1" i="0" lang="en-US" sz="1425">
                <a:solidFill>
                  <a:srgbClr val="23303A"/>
                </a:solidFill>
                <a:latin typeface="Arial"/>
                <a:ea typeface="Arial"/>
                <a:cs typeface="Arial"/>
                <a:sym typeface="Arial"/>
              </a:rPr>
              <a:t>presynaptic inhibition</a:t>
            </a:r>
            <a:r>
              <a:rPr b="0" i="0" lang="en-US" sz="1425">
                <a:solidFill>
                  <a:srgbClr val="23303A"/>
                </a:solidFill>
                <a:latin typeface="Arial"/>
                <a:ea typeface="Arial"/>
                <a:cs typeface="Arial"/>
                <a:sym typeface="Arial"/>
              </a:rPr>
              <a:t>, a reduction of transmission before the postsynaptic target receives its input. The paired effect is strongest at approximately 17–25 ms.</a:t>
            </a:r>
            <a:endParaRPr sz="1800">
              <a:solidFill>
                <a:schemeClr val="dk1"/>
              </a:solidFill>
              <a:latin typeface="Calibri"/>
              <a:ea typeface="Calibri"/>
              <a:cs typeface="Calibri"/>
              <a:sym typeface="Calibri"/>
            </a:endParaRPr>
          </a:p>
        </p:txBody>
      </p:sp>
      <p:sp>
        <p:nvSpPr>
          <p:cNvPr id="501" name="Google Shape;501;p35"/>
          <p:cNvSpPr/>
          <p:nvPr/>
        </p:nvSpPr>
        <p:spPr>
          <a:xfrm>
            <a:off x="457200" y="4003923"/>
            <a:ext cx="5695950" cy="955477"/>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3303A"/>
              </a:buClr>
              <a:buSzPts val="1425"/>
              <a:buFont typeface="Arial"/>
              <a:buNone/>
            </a:pPr>
            <a:r>
              <a:rPr b="0" i="0" lang="en-US" sz="1425">
                <a:solidFill>
                  <a:srgbClr val="23303A"/>
                </a:solidFill>
                <a:latin typeface="Arial"/>
                <a:ea typeface="Arial"/>
                <a:cs typeface="Arial"/>
                <a:sym typeface="Arial"/>
              </a:rPr>
              <a:t>The population recordings support an inhibitory influence at the network level. They do not distinguish every synaptic step, establish which interneuron releases a transmitter, or directly measure an identified receptor-mediated inhibitory current.</a:t>
            </a:r>
            <a:endParaRPr sz="1800">
              <a:solidFill>
                <a:schemeClr val="dk1"/>
              </a:solidFill>
              <a:latin typeface="Calibri"/>
              <a:ea typeface="Calibri"/>
              <a:cs typeface="Calibri"/>
              <a:sym typeface="Calibri"/>
            </a:endParaRPr>
          </a:p>
        </p:txBody>
      </p:sp>
      <p:pic>
        <p:nvPicPr>
          <p:cNvPr id="502" name="Google Shape;502;p35"/>
          <p:cNvPicPr preferRelativeResize="0"/>
          <p:nvPr/>
        </p:nvPicPr>
        <p:blipFill rotWithShape="1">
          <a:blip r:embed="rId3">
            <a:alphaModFix/>
          </a:blip>
          <a:srcRect b="0" l="0" r="0" t="0"/>
          <a:stretch/>
        </p:blipFill>
        <p:spPr>
          <a:xfrm>
            <a:off x="7232221" y="1071563"/>
            <a:ext cx="3747358" cy="4229100"/>
          </a:xfrm>
          <a:prstGeom prst="rect">
            <a:avLst/>
          </a:prstGeom>
          <a:noFill/>
          <a:ln>
            <a:noFill/>
          </a:ln>
        </p:spPr>
      </p:pic>
      <p:sp>
        <p:nvSpPr>
          <p:cNvPr id="503" name="Google Shape;503;p35"/>
          <p:cNvSpPr/>
          <p:nvPr/>
        </p:nvSpPr>
        <p:spPr>
          <a:xfrm>
            <a:off x="6477000" y="5376863"/>
            <a:ext cx="5276850" cy="142875"/>
          </a:xfrm>
          <a:prstGeom prst="rect">
            <a:avLst/>
          </a:prstGeom>
          <a:noFill/>
          <a:ln>
            <a:noFill/>
          </a:ln>
        </p:spPr>
        <p:txBody>
          <a:bodyPr anchorCtr="0" anchor="t" bIns="0" lIns="0" spcFirstLastPara="1" rIns="0" wrap="square" tIns="0">
            <a:normAutofit/>
          </a:bodyPr>
          <a:lstStyle/>
          <a:p>
            <a:pPr indent="0" lvl="0" marL="0" marR="0" rtl="0" algn="l">
              <a:lnSpc>
                <a:spcPct val="125000"/>
              </a:lnSpc>
              <a:spcBef>
                <a:spcPts val="0"/>
              </a:spcBef>
              <a:spcAft>
                <a:spcPts val="0"/>
              </a:spcAft>
              <a:buClr>
                <a:srgbClr val="23303A"/>
              </a:buClr>
              <a:buSzPts val="900"/>
              <a:buFont typeface="Arial"/>
              <a:buNone/>
            </a:pPr>
            <a:r>
              <a:rPr b="0" i="0" lang="en-US" sz="900">
                <a:solidFill>
                  <a:srgbClr val="23303A"/>
                </a:solidFill>
                <a:latin typeface="Arial"/>
                <a:ea typeface="Arial"/>
                <a:cs typeface="Arial"/>
                <a:sym typeface="Arial"/>
              </a:rPr>
              <a:t>Schwippert et al. (1995), Fig. 4. Ipsilateral pretectal stimulation and regional tectal field responses.</a:t>
            </a:r>
            <a:endParaRPr sz="1800">
              <a:solidFill>
                <a:schemeClr val="dk1"/>
              </a:solidFill>
              <a:latin typeface="Calibri"/>
              <a:ea typeface="Calibri"/>
              <a:cs typeface="Calibri"/>
              <a:sym typeface="Calibri"/>
            </a:endParaRPr>
          </a:p>
        </p:txBody>
      </p:sp>
      <p:pic>
        <p:nvPicPr>
          <p:cNvPr id="504" name="Google Shape;504;p35"/>
          <p:cNvPicPr preferRelativeResize="0"/>
          <p:nvPr/>
        </p:nvPicPr>
        <p:blipFill rotWithShape="1">
          <a:blip r:embed="rId4">
            <a:alphaModFix/>
          </a:blip>
          <a:srcRect b="0" l="0" r="0" t="0"/>
          <a:stretch/>
        </p:blipFill>
        <p:spPr>
          <a:xfrm>
            <a:off x="457200" y="6405563"/>
            <a:ext cx="11277600" cy="242888"/>
          </a:xfrm>
          <a:prstGeom prst="rect">
            <a:avLst/>
          </a:prstGeom>
          <a:noFill/>
          <a:ln>
            <a:noFill/>
          </a:ln>
        </p:spPr>
      </p:pic>
      <p:sp>
        <p:nvSpPr>
          <p:cNvPr id="505" name="Google Shape;505;p35"/>
          <p:cNvSpPr/>
          <p:nvPr/>
        </p:nvSpPr>
        <p:spPr>
          <a:xfrm>
            <a:off x="457200" y="6491288"/>
            <a:ext cx="1165175" cy="157163"/>
          </a:xfrm>
          <a:prstGeom prst="rect">
            <a:avLst/>
          </a:prstGeom>
          <a:noFill/>
          <a:ln>
            <a:noFill/>
          </a:ln>
        </p:spPr>
        <p:txBody>
          <a:bodyPr anchorCtr="0" anchor="t" bIns="0" lIns="0" spcFirstLastPara="1" rIns="0" wrap="square" tIns="0">
            <a:normAutofit/>
          </a:bodyPr>
          <a:lstStyle/>
          <a:p>
            <a:pPr indent="0" lvl="0" marL="0" marR="0" rtl="0" algn="l">
              <a:lnSpc>
                <a:spcPct val="150060"/>
              </a:lnSpc>
              <a:spcBef>
                <a:spcPts val="0"/>
              </a:spcBef>
              <a:spcAft>
                <a:spcPts val="0"/>
              </a:spcAft>
              <a:buClr>
                <a:srgbClr val="5F6E7A"/>
              </a:buClr>
              <a:buSzPts val="825"/>
              <a:buFont typeface="Arial"/>
              <a:buNone/>
            </a:pPr>
            <a:r>
              <a:rPr b="0" i="0" lang="en-US" sz="825">
                <a:solidFill>
                  <a:srgbClr val="5F6E7A"/>
                </a:solidFill>
                <a:latin typeface="Arial"/>
                <a:ea typeface="Arial"/>
                <a:cs typeface="Arial"/>
                <a:sym typeface="Arial"/>
              </a:rPr>
              <a:t>Schwippert et al. (1995)</a:t>
            </a:r>
            <a:endParaRPr sz="1800">
              <a:solidFill>
                <a:schemeClr val="dk1"/>
              </a:solidFill>
              <a:latin typeface="Calibri"/>
              <a:ea typeface="Calibri"/>
              <a:cs typeface="Calibri"/>
              <a:sym typeface="Calibri"/>
            </a:endParaRPr>
          </a:p>
        </p:txBody>
      </p:sp>
      <p:sp>
        <p:nvSpPr>
          <p:cNvPr id="506" name="Google Shape;506;p35"/>
          <p:cNvSpPr/>
          <p:nvPr/>
        </p:nvSpPr>
        <p:spPr>
          <a:xfrm>
            <a:off x="11614845" y="6491288"/>
            <a:ext cx="139005" cy="157163"/>
          </a:xfrm>
          <a:prstGeom prst="rect">
            <a:avLst/>
          </a:prstGeom>
          <a:noFill/>
          <a:ln>
            <a:noFill/>
          </a:ln>
        </p:spPr>
        <p:txBody>
          <a:bodyPr anchorCtr="0" anchor="t" bIns="0" lIns="0" spcFirstLastPara="1" rIns="0" wrap="square" tIns="0">
            <a:normAutofit/>
          </a:bodyPr>
          <a:lstStyle/>
          <a:p>
            <a:pPr indent="0" lvl="0" marL="0" marR="0" rtl="0" algn="l">
              <a:lnSpc>
                <a:spcPct val="150060"/>
              </a:lnSpc>
              <a:spcBef>
                <a:spcPts val="0"/>
              </a:spcBef>
              <a:spcAft>
                <a:spcPts val="0"/>
              </a:spcAft>
              <a:buClr>
                <a:srgbClr val="5F6E7A"/>
              </a:buClr>
              <a:buSzPts val="825"/>
              <a:buFont typeface="Arial"/>
              <a:buNone/>
            </a:pPr>
            <a:r>
              <a:rPr b="0" i="0" lang="en-US" sz="825">
                <a:solidFill>
                  <a:srgbClr val="5F6E7A"/>
                </a:solidFill>
                <a:latin typeface="Arial"/>
                <a:ea typeface="Arial"/>
                <a:cs typeface="Arial"/>
                <a:sym typeface="Arial"/>
              </a:rPr>
              <a:t>35</a:t>
            </a:r>
            <a:endParaRPr sz="1800">
              <a:solidFill>
                <a:schemeClr val="dk1"/>
              </a:solidFill>
              <a:latin typeface="Calibri"/>
              <a:ea typeface="Calibri"/>
              <a:cs typeface="Calibri"/>
              <a:sym typeface="Calibri"/>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10" name="Shape 510"/>
        <p:cNvGrpSpPr/>
        <p:nvPr/>
      </p:nvGrpSpPr>
      <p:grpSpPr>
        <a:xfrm>
          <a:off x="0" y="0"/>
          <a:ext cx="0" cy="0"/>
          <a:chOff x="0" y="0"/>
          <a:chExt cx="0" cy="0"/>
        </a:xfrm>
      </p:grpSpPr>
      <p:sp>
        <p:nvSpPr>
          <p:cNvPr id="511" name="Google Shape;511;p36"/>
          <p:cNvSpPr/>
          <p:nvPr/>
        </p:nvSpPr>
        <p:spPr>
          <a:xfrm>
            <a:off x="457200" y="457200"/>
            <a:ext cx="11296650" cy="328613"/>
          </a:xfrm>
          <a:prstGeom prst="rect">
            <a:avLst/>
          </a:prstGeom>
          <a:noFill/>
          <a:ln>
            <a:noFill/>
          </a:ln>
        </p:spPr>
        <p:txBody>
          <a:bodyPr anchorCtr="0" anchor="t" bIns="0" lIns="0" spcFirstLastPara="1" rIns="0" wrap="square" tIns="0">
            <a:normAutofit/>
          </a:bodyPr>
          <a:lstStyle/>
          <a:p>
            <a:pPr indent="0" lvl="0" marL="0" marR="0" rtl="0" algn="l">
              <a:lnSpc>
                <a:spcPct val="115022"/>
              </a:lnSpc>
              <a:spcBef>
                <a:spcPts val="0"/>
              </a:spcBef>
              <a:spcAft>
                <a:spcPts val="0"/>
              </a:spcAft>
              <a:buClr>
                <a:srgbClr val="35536B"/>
              </a:buClr>
              <a:buSzPts val="2250"/>
              <a:buFont typeface="Arial"/>
              <a:buNone/>
            </a:pPr>
            <a:r>
              <a:rPr b="1" i="0" lang="en-US" sz="2250">
                <a:solidFill>
                  <a:srgbClr val="35536B"/>
                </a:solidFill>
                <a:latin typeface="Arial"/>
                <a:ea typeface="Arial"/>
                <a:cs typeface="Arial"/>
                <a:sym typeface="Arial"/>
              </a:rPr>
              <a:t>NPY application reduces an evoked tectal response</a:t>
            </a:r>
            <a:endParaRPr sz="1800">
              <a:solidFill>
                <a:schemeClr val="dk1"/>
              </a:solidFill>
              <a:latin typeface="Calibri"/>
              <a:ea typeface="Calibri"/>
              <a:cs typeface="Calibri"/>
              <a:sym typeface="Calibri"/>
            </a:endParaRPr>
          </a:p>
        </p:txBody>
      </p:sp>
      <p:sp>
        <p:nvSpPr>
          <p:cNvPr id="512" name="Google Shape;512;p36"/>
          <p:cNvSpPr/>
          <p:nvPr/>
        </p:nvSpPr>
        <p:spPr>
          <a:xfrm>
            <a:off x="457200" y="1071563"/>
            <a:ext cx="5695950" cy="1194346"/>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3303A"/>
              </a:buClr>
              <a:buSzPts val="1425"/>
              <a:buFont typeface="Arial"/>
              <a:buNone/>
            </a:pPr>
            <a:r>
              <a:rPr b="1" i="0" lang="en-US" sz="1425">
                <a:solidFill>
                  <a:srgbClr val="23303A"/>
                </a:solidFill>
                <a:latin typeface="Arial"/>
                <a:ea typeface="Arial"/>
                <a:cs typeface="Arial"/>
                <a:sym typeface="Arial"/>
              </a:rPr>
              <a:t>Neuropeptide Y</a:t>
            </a:r>
            <a:r>
              <a:rPr b="0" i="0" lang="en-US" sz="1425">
                <a:solidFill>
                  <a:srgbClr val="23303A"/>
                </a:solidFill>
                <a:latin typeface="Arial"/>
                <a:ea typeface="Arial"/>
                <a:cs typeface="Arial"/>
                <a:sym typeface="Arial"/>
              </a:rPr>
              <a:t>, or NPY, is a peptide signaling molecule investigated as a possible contributor to pretectal regulation. Schwippert and Ewert applied synthetic NPY locally to the superficial tectum of cane toads while measuring the field evoked by optic-nerve pulses at 0.8 Hz.</a:t>
            </a:r>
            <a:endParaRPr sz="1800">
              <a:solidFill>
                <a:schemeClr val="dk1"/>
              </a:solidFill>
              <a:latin typeface="Calibri"/>
              <a:ea typeface="Calibri"/>
              <a:cs typeface="Calibri"/>
              <a:sym typeface="Calibri"/>
            </a:endParaRPr>
          </a:p>
        </p:txBody>
      </p:sp>
      <p:sp>
        <p:nvSpPr>
          <p:cNvPr id="513" name="Google Shape;513;p36"/>
          <p:cNvSpPr/>
          <p:nvPr/>
        </p:nvSpPr>
        <p:spPr>
          <a:xfrm>
            <a:off x="457200" y="2418308"/>
            <a:ext cx="5695950" cy="1194346"/>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3303A"/>
              </a:buClr>
              <a:buSzPts val="1425"/>
              <a:buFont typeface="Arial"/>
              <a:buNone/>
            </a:pPr>
            <a:r>
              <a:rPr b="0" i="0" lang="en-US" sz="1425">
                <a:solidFill>
                  <a:srgbClr val="23303A"/>
                </a:solidFill>
                <a:latin typeface="Arial"/>
                <a:ea typeface="Arial"/>
                <a:cs typeface="Arial"/>
                <a:sym typeface="Arial"/>
              </a:rPr>
              <a:t>A solution at 10⁻⁴ mol/L, equivalent to 100 μM, was delivered by a micropipette near the recording site. Within approximately 5–10 minutes, the negative field component fell to about 24% of its initial amplitude. The initial and later positive components were affected much less.</a:t>
            </a:r>
            <a:endParaRPr sz="1800">
              <a:solidFill>
                <a:schemeClr val="dk1"/>
              </a:solidFill>
              <a:latin typeface="Calibri"/>
              <a:ea typeface="Calibri"/>
              <a:cs typeface="Calibri"/>
              <a:sym typeface="Calibri"/>
            </a:endParaRPr>
          </a:p>
        </p:txBody>
      </p:sp>
      <p:sp>
        <p:nvSpPr>
          <p:cNvPr id="514" name="Google Shape;514;p36"/>
          <p:cNvSpPr/>
          <p:nvPr/>
        </p:nvSpPr>
        <p:spPr>
          <a:xfrm>
            <a:off x="457200" y="3765054"/>
            <a:ext cx="5695950" cy="1194346"/>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3303A"/>
              </a:buClr>
              <a:buSzPts val="1425"/>
              <a:buFont typeface="Arial"/>
              <a:buNone/>
            </a:pPr>
            <a:r>
              <a:rPr b="0" i="0" lang="en-US" sz="1425">
                <a:solidFill>
                  <a:srgbClr val="23303A"/>
                </a:solidFill>
                <a:latin typeface="Arial"/>
                <a:ea typeface="Arial"/>
                <a:cs typeface="Arial"/>
                <a:sym typeface="Arial"/>
              </a:rPr>
              <a:t>Local NPY is therefore sufficient to attenuate a measured retinotectal population response under these conditions. Its effect does not establish that endogenous NPY is necessary for prey rejection or that a physiological release event reaches the applied concentration.</a:t>
            </a:r>
            <a:endParaRPr sz="1800">
              <a:solidFill>
                <a:schemeClr val="dk1"/>
              </a:solidFill>
              <a:latin typeface="Calibri"/>
              <a:ea typeface="Calibri"/>
              <a:cs typeface="Calibri"/>
              <a:sym typeface="Calibri"/>
            </a:endParaRPr>
          </a:p>
        </p:txBody>
      </p:sp>
      <p:pic>
        <p:nvPicPr>
          <p:cNvPr id="515" name="Google Shape;515;p36"/>
          <p:cNvPicPr preferRelativeResize="0"/>
          <p:nvPr/>
        </p:nvPicPr>
        <p:blipFill rotWithShape="1">
          <a:blip r:embed="rId3">
            <a:alphaModFix/>
          </a:blip>
          <a:srcRect b="0" l="0" r="0" t="0"/>
          <a:stretch/>
        </p:blipFill>
        <p:spPr>
          <a:xfrm>
            <a:off x="7496694" y="1071563"/>
            <a:ext cx="3218412" cy="2333625"/>
          </a:xfrm>
          <a:prstGeom prst="rect">
            <a:avLst/>
          </a:prstGeom>
          <a:noFill/>
          <a:ln>
            <a:noFill/>
          </a:ln>
        </p:spPr>
      </p:pic>
      <p:sp>
        <p:nvSpPr>
          <p:cNvPr id="516" name="Google Shape;516;p36"/>
          <p:cNvSpPr/>
          <p:nvPr/>
        </p:nvSpPr>
        <p:spPr>
          <a:xfrm>
            <a:off x="6477000" y="3481388"/>
            <a:ext cx="5276850" cy="285750"/>
          </a:xfrm>
          <a:prstGeom prst="rect">
            <a:avLst/>
          </a:prstGeom>
          <a:noFill/>
          <a:ln>
            <a:noFill/>
          </a:ln>
        </p:spPr>
        <p:txBody>
          <a:bodyPr anchorCtr="0" anchor="t" bIns="0" lIns="0" spcFirstLastPara="1" rIns="0" wrap="square" tIns="0">
            <a:normAutofit/>
          </a:bodyPr>
          <a:lstStyle/>
          <a:p>
            <a:pPr indent="0" lvl="0" marL="0" marR="0" rtl="0" algn="l">
              <a:lnSpc>
                <a:spcPct val="125000"/>
              </a:lnSpc>
              <a:spcBef>
                <a:spcPts val="0"/>
              </a:spcBef>
              <a:spcAft>
                <a:spcPts val="0"/>
              </a:spcAft>
              <a:buClr>
                <a:srgbClr val="23303A"/>
              </a:buClr>
              <a:buSzPts val="900"/>
              <a:buFont typeface="Arial"/>
              <a:buNone/>
            </a:pPr>
            <a:r>
              <a:rPr b="0" i="0" lang="en-US" sz="900">
                <a:solidFill>
                  <a:srgbClr val="23303A"/>
                </a:solidFill>
                <a:latin typeface="Arial"/>
                <a:ea typeface="Arial"/>
                <a:cs typeface="Arial"/>
                <a:sym typeface="Arial"/>
              </a:rPr>
              <a:t>Schwippert &amp; Ewert (1995), Fig. 2. NPY application reduces the negative tectal wave and partial recovery follows removal.</a:t>
            </a:r>
            <a:endParaRPr sz="1800">
              <a:solidFill>
                <a:schemeClr val="dk1"/>
              </a:solidFill>
              <a:latin typeface="Calibri"/>
              <a:ea typeface="Calibri"/>
              <a:cs typeface="Calibri"/>
              <a:sym typeface="Calibri"/>
            </a:endParaRPr>
          </a:p>
        </p:txBody>
      </p:sp>
      <p:pic>
        <p:nvPicPr>
          <p:cNvPr id="517" name="Google Shape;517;p36"/>
          <p:cNvPicPr preferRelativeResize="0"/>
          <p:nvPr/>
        </p:nvPicPr>
        <p:blipFill rotWithShape="1">
          <a:blip r:embed="rId4">
            <a:alphaModFix/>
          </a:blip>
          <a:srcRect b="0" l="0" r="0" t="0"/>
          <a:stretch/>
        </p:blipFill>
        <p:spPr>
          <a:xfrm>
            <a:off x="7987343" y="3938588"/>
            <a:ext cx="2237114" cy="1476375"/>
          </a:xfrm>
          <a:prstGeom prst="rect">
            <a:avLst/>
          </a:prstGeom>
          <a:noFill/>
          <a:ln>
            <a:noFill/>
          </a:ln>
        </p:spPr>
      </p:pic>
      <p:sp>
        <p:nvSpPr>
          <p:cNvPr id="518" name="Google Shape;518;p36"/>
          <p:cNvSpPr/>
          <p:nvPr/>
        </p:nvSpPr>
        <p:spPr>
          <a:xfrm>
            <a:off x="6477000" y="5491163"/>
            <a:ext cx="5276850" cy="142875"/>
          </a:xfrm>
          <a:prstGeom prst="rect">
            <a:avLst/>
          </a:prstGeom>
          <a:noFill/>
          <a:ln>
            <a:noFill/>
          </a:ln>
        </p:spPr>
        <p:txBody>
          <a:bodyPr anchorCtr="0" anchor="t" bIns="0" lIns="0" spcFirstLastPara="1" rIns="0" wrap="square" tIns="0">
            <a:normAutofit/>
          </a:bodyPr>
          <a:lstStyle/>
          <a:p>
            <a:pPr indent="0" lvl="0" marL="0" marR="0" rtl="0" algn="l">
              <a:lnSpc>
                <a:spcPct val="125000"/>
              </a:lnSpc>
              <a:spcBef>
                <a:spcPts val="0"/>
              </a:spcBef>
              <a:spcAft>
                <a:spcPts val="0"/>
              </a:spcAft>
              <a:buClr>
                <a:srgbClr val="23303A"/>
              </a:buClr>
              <a:buSzPts val="900"/>
              <a:buFont typeface="Arial"/>
              <a:buNone/>
            </a:pPr>
            <a:r>
              <a:rPr b="0" i="0" lang="en-US" sz="900">
                <a:solidFill>
                  <a:srgbClr val="23303A"/>
                </a:solidFill>
                <a:latin typeface="Arial"/>
                <a:ea typeface="Arial"/>
                <a:cs typeface="Arial"/>
                <a:sym typeface="Arial"/>
              </a:rPr>
              <a:t>Schwippert &amp; Ewert (1995), Fig. 1(A). Stimulation and recording sites.</a:t>
            </a:r>
            <a:endParaRPr sz="1800">
              <a:solidFill>
                <a:schemeClr val="dk1"/>
              </a:solidFill>
              <a:latin typeface="Calibri"/>
              <a:ea typeface="Calibri"/>
              <a:cs typeface="Calibri"/>
              <a:sym typeface="Calibri"/>
            </a:endParaRPr>
          </a:p>
        </p:txBody>
      </p:sp>
      <p:pic>
        <p:nvPicPr>
          <p:cNvPr id="519" name="Google Shape;519;p36"/>
          <p:cNvPicPr preferRelativeResize="0"/>
          <p:nvPr/>
        </p:nvPicPr>
        <p:blipFill rotWithShape="1">
          <a:blip r:embed="rId5">
            <a:alphaModFix/>
          </a:blip>
          <a:srcRect b="0" l="0" r="0" t="0"/>
          <a:stretch/>
        </p:blipFill>
        <p:spPr>
          <a:xfrm>
            <a:off x="457200" y="6405563"/>
            <a:ext cx="11277600" cy="242888"/>
          </a:xfrm>
          <a:prstGeom prst="rect">
            <a:avLst/>
          </a:prstGeom>
          <a:noFill/>
          <a:ln>
            <a:noFill/>
          </a:ln>
        </p:spPr>
      </p:pic>
      <p:sp>
        <p:nvSpPr>
          <p:cNvPr id="520" name="Google Shape;520;p36"/>
          <p:cNvSpPr/>
          <p:nvPr/>
        </p:nvSpPr>
        <p:spPr>
          <a:xfrm>
            <a:off x="457200" y="6491288"/>
            <a:ext cx="1311920" cy="157163"/>
          </a:xfrm>
          <a:prstGeom prst="rect">
            <a:avLst/>
          </a:prstGeom>
          <a:noFill/>
          <a:ln>
            <a:noFill/>
          </a:ln>
        </p:spPr>
        <p:txBody>
          <a:bodyPr anchorCtr="0" anchor="t" bIns="0" lIns="0" spcFirstLastPara="1" rIns="0" wrap="square" tIns="0">
            <a:normAutofit/>
          </a:bodyPr>
          <a:lstStyle/>
          <a:p>
            <a:pPr indent="0" lvl="0" marL="0" marR="0" rtl="0" algn="l">
              <a:lnSpc>
                <a:spcPct val="150060"/>
              </a:lnSpc>
              <a:spcBef>
                <a:spcPts val="0"/>
              </a:spcBef>
              <a:spcAft>
                <a:spcPts val="0"/>
              </a:spcAft>
              <a:buClr>
                <a:srgbClr val="5F6E7A"/>
              </a:buClr>
              <a:buSzPts val="825"/>
              <a:buFont typeface="Arial"/>
              <a:buNone/>
            </a:pPr>
            <a:r>
              <a:rPr b="0" i="0" lang="en-US" sz="825">
                <a:solidFill>
                  <a:srgbClr val="5F6E7A"/>
                </a:solidFill>
                <a:latin typeface="Arial"/>
                <a:ea typeface="Arial"/>
                <a:cs typeface="Arial"/>
                <a:sym typeface="Arial"/>
              </a:rPr>
              <a:t>Schwippert &amp; Ewert (1995)</a:t>
            </a:r>
            <a:endParaRPr sz="1800">
              <a:solidFill>
                <a:schemeClr val="dk1"/>
              </a:solidFill>
              <a:latin typeface="Calibri"/>
              <a:ea typeface="Calibri"/>
              <a:cs typeface="Calibri"/>
              <a:sym typeface="Calibri"/>
            </a:endParaRPr>
          </a:p>
        </p:txBody>
      </p:sp>
      <p:sp>
        <p:nvSpPr>
          <p:cNvPr id="521" name="Google Shape;521;p36"/>
          <p:cNvSpPr/>
          <p:nvPr/>
        </p:nvSpPr>
        <p:spPr>
          <a:xfrm>
            <a:off x="11614845" y="6491288"/>
            <a:ext cx="139005" cy="157163"/>
          </a:xfrm>
          <a:prstGeom prst="rect">
            <a:avLst/>
          </a:prstGeom>
          <a:noFill/>
          <a:ln>
            <a:noFill/>
          </a:ln>
        </p:spPr>
        <p:txBody>
          <a:bodyPr anchorCtr="0" anchor="t" bIns="0" lIns="0" spcFirstLastPara="1" rIns="0" wrap="square" tIns="0">
            <a:normAutofit/>
          </a:bodyPr>
          <a:lstStyle/>
          <a:p>
            <a:pPr indent="0" lvl="0" marL="0" marR="0" rtl="0" algn="l">
              <a:lnSpc>
                <a:spcPct val="150060"/>
              </a:lnSpc>
              <a:spcBef>
                <a:spcPts val="0"/>
              </a:spcBef>
              <a:spcAft>
                <a:spcPts val="0"/>
              </a:spcAft>
              <a:buClr>
                <a:srgbClr val="5F6E7A"/>
              </a:buClr>
              <a:buSzPts val="825"/>
              <a:buFont typeface="Arial"/>
              <a:buNone/>
            </a:pPr>
            <a:r>
              <a:rPr b="0" i="0" lang="en-US" sz="825">
                <a:solidFill>
                  <a:srgbClr val="5F6E7A"/>
                </a:solidFill>
                <a:latin typeface="Arial"/>
                <a:ea typeface="Arial"/>
                <a:cs typeface="Arial"/>
                <a:sym typeface="Arial"/>
              </a:rPr>
              <a:t>36</a:t>
            </a:r>
            <a:endParaRPr sz="1800">
              <a:solidFill>
                <a:schemeClr val="dk1"/>
              </a:solidFill>
              <a:latin typeface="Calibri"/>
              <a:ea typeface="Calibri"/>
              <a:cs typeface="Calibri"/>
              <a:sym typeface="Calibri"/>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25" name="Shape 525"/>
        <p:cNvGrpSpPr/>
        <p:nvPr/>
      </p:nvGrpSpPr>
      <p:grpSpPr>
        <a:xfrm>
          <a:off x="0" y="0"/>
          <a:ext cx="0" cy="0"/>
          <a:chOff x="0" y="0"/>
          <a:chExt cx="0" cy="0"/>
        </a:xfrm>
      </p:grpSpPr>
      <p:sp>
        <p:nvSpPr>
          <p:cNvPr id="526" name="Google Shape;526;p37"/>
          <p:cNvSpPr/>
          <p:nvPr/>
        </p:nvSpPr>
        <p:spPr>
          <a:xfrm>
            <a:off x="457200" y="457200"/>
            <a:ext cx="11296650" cy="328613"/>
          </a:xfrm>
          <a:prstGeom prst="rect">
            <a:avLst/>
          </a:prstGeom>
          <a:noFill/>
          <a:ln>
            <a:noFill/>
          </a:ln>
        </p:spPr>
        <p:txBody>
          <a:bodyPr anchorCtr="0" anchor="t" bIns="0" lIns="0" spcFirstLastPara="1" rIns="0" wrap="square" tIns="0">
            <a:normAutofit/>
          </a:bodyPr>
          <a:lstStyle/>
          <a:p>
            <a:pPr indent="0" lvl="0" marL="0" marR="0" rtl="0" algn="l">
              <a:lnSpc>
                <a:spcPct val="115022"/>
              </a:lnSpc>
              <a:spcBef>
                <a:spcPts val="0"/>
              </a:spcBef>
              <a:spcAft>
                <a:spcPts val="0"/>
              </a:spcAft>
              <a:buClr>
                <a:srgbClr val="35536B"/>
              </a:buClr>
              <a:buSzPts val="2250"/>
              <a:buFont typeface="Arial"/>
              <a:buNone/>
            </a:pPr>
            <a:r>
              <a:rPr b="1" i="0" lang="en-US" sz="2250">
                <a:solidFill>
                  <a:srgbClr val="35536B"/>
                </a:solidFill>
                <a:latin typeface="Arial"/>
                <a:ea typeface="Arial"/>
                <a:cs typeface="Arial"/>
                <a:sym typeface="Arial"/>
              </a:rPr>
              <a:t>Vehicle and recovery constrain the peptide result</a:t>
            </a:r>
            <a:endParaRPr sz="1800">
              <a:solidFill>
                <a:schemeClr val="dk1"/>
              </a:solidFill>
              <a:latin typeface="Calibri"/>
              <a:ea typeface="Calibri"/>
              <a:cs typeface="Calibri"/>
              <a:sym typeface="Calibri"/>
            </a:endParaRPr>
          </a:p>
        </p:txBody>
      </p:sp>
      <p:sp>
        <p:nvSpPr>
          <p:cNvPr id="527" name="Google Shape;527;p37"/>
          <p:cNvSpPr/>
          <p:nvPr/>
        </p:nvSpPr>
        <p:spPr>
          <a:xfrm>
            <a:off x="457200" y="1071563"/>
            <a:ext cx="5695950" cy="1194346"/>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3303A"/>
              </a:buClr>
              <a:buSzPts val="1425"/>
              <a:buFont typeface="Arial"/>
              <a:buNone/>
            </a:pPr>
            <a:r>
              <a:rPr b="0" i="0" lang="en-US" sz="1425">
                <a:solidFill>
                  <a:srgbClr val="23303A"/>
                </a:solidFill>
                <a:latin typeface="Arial"/>
                <a:ea typeface="Arial"/>
                <a:cs typeface="Arial"/>
                <a:sym typeface="Arial"/>
              </a:rPr>
              <a:t>Schwippert and Ewert compared NPY delivery with delivery of Frog-Ringer solution alone. The </a:t>
            </a:r>
            <a:r>
              <a:rPr b="1" i="0" lang="en-US" sz="1425">
                <a:solidFill>
                  <a:srgbClr val="23303A"/>
                </a:solidFill>
                <a:latin typeface="Arial"/>
                <a:ea typeface="Arial"/>
                <a:cs typeface="Arial"/>
                <a:sym typeface="Arial"/>
              </a:rPr>
              <a:t>vehicle</a:t>
            </a:r>
            <a:r>
              <a:rPr b="0" i="0" lang="en-US" sz="1425">
                <a:solidFill>
                  <a:srgbClr val="23303A"/>
                </a:solidFill>
                <a:latin typeface="Arial"/>
                <a:ea typeface="Arial"/>
                <a:cs typeface="Arial"/>
                <a:sym typeface="Arial"/>
              </a:rPr>
              <a:t> is the solution carrying a drug or peptide; a vehicle control tests whether fluid application or the carrier produces the measured effect independently of the active substance.</a:t>
            </a:r>
            <a:endParaRPr sz="1800">
              <a:solidFill>
                <a:schemeClr val="dk1"/>
              </a:solidFill>
              <a:latin typeface="Calibri"/>
              <a:ea typeface="Calibri"/>
              <a:cs typeface="Calibri"/>
              <a:sym typeface="Calibri"/>
            </a:endParaRPr>
          </a:p>
        </p:txBody>
      </p:sp>
      <p:sp>
        <p:nvSpPr>
          <p:cNvPr id="528" name="Google Shape;528;p37"/>
          <p:cNvSpPr/>
          <p:nvPr/>
        </p:nvSpPr>
        <p:spPr>
          <a:xfrm>
            <a:off x="457200" y="2418308"/>
            <a:ext cx="5695950" cy="1194346"/>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3303A"/>
              </a:buClr>
              <a:buSzPts val="1425"/>
              <a:buFont typeface="Arial"/>
              <a:buNone/>
            </a:pPr>
            <a:r>
              <a:rPr b="0" i="0" lang="en-US" sz="1425">
                <a:solidFill>
                  <a:srgbClr val="23303A"/>
                </a:solidFill>
                <a:latin typeface="Arial"/>
                <a:ea typeface="Arial"/>
                <a:cs typeface="Arial"/>
                <a:sym typeface="Arial"/>
              </a:rPr>
              <a:t>Ringer solution did not produce the same strong attenuation of the negative wave. After removal of the NPY pipette, the response recovered to approximately 65% of its original amplitude over about 30 minutes. Recovery was substantial but incomplete over the reported interval.</a:t>
            </a:r>
            <a:endParaRPr sz="1800">
              <a:solidFill>
                <a:schemeClr val="dk1"/>
              </a:solidFill>
              <a:latin typeface="Calibri"/>
              <a:ea typeface="Calibri"/>
              <a:cs typeface="Calibri"/>
              <a:sym typeface="Calibri"/>
            </a:endParaRPr>
          </a:p>
        </p:txBody>
      </p:sp>
      <p:sp>
        <p:nvSpPr>
          <p:cNvPr id="529" name="Google Shape;529;p37"/>
          <p:cNvSpPr/>
          <p:nvPr/>
        </p:nvSpPr>
        <p:spPr>
          <a:xfrm>
            <a:off x="457200" y="3765054"/>
            <a:ext cx="5695950" cy="1194346"/>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3303A"/>
              </a:buClr>
              <a:buSzPts val="1425"/>
              <a:buFont typeface="Arial"/>
              <a:buNone/>
            </a:pPr>
            <a:r>
              <a:rPr b="0" i="0" lang="en-US" sz="1425">
                <a:solidFill>
                  <a:srgbClr val="23303A"/>
                </a:solidFill>
                <a:latin typeface="Arial"/>
                <a:ea typeface="Arial"/>
                <a:cs typeface="Arial"/>
                <a:sym typeface="Arial"/>
              </a:rPr>
              <a:t>The comparisons support a reversible peptide-dependent effect rather than irreversible destruction of the retinal input. They do not identify a receptor subtype, measure peptide clearance directly, or establish that the partial recovery corresponds to a normal behavioral recovery process.</a:t>
            </a:r>
            <a:endParaRPr sz="1800">
              <a:solidFill>
                <a:schemeClr val="dk1"/>
              </a:solidFill>
              <a:latin typeface="Calibri"/>
              <a:ea typeface="Calibri"/>
              <a:cs typeface="Calibri"/>
              <a:sym typeface="Calibri"/>
            </a:endParaRPr>
          </a:p>
        </p:txBody>
      </p:sp>
      <p:pic>
        <p:nvPicPr>
          <p:cNvPr id="530" name="Google Shape;530;p37"/>
          <p:cNvPicPr preferRelativeResize="0"/>
          <p:nvPr/>
        </p:nvPicPr>
        <p:blipFill rotWithShape="1">
          <a:blip r:embed="rId3">
            <a:alphaModFix/>
          </a:blip>
          <a:srcRect b="0" l="0" r="0" t="0"/>
          <a:stretch/>
        </p:blipFill>
        <p:spPr>
          <a:xfrm>
            <a:off x="7496694" y="1071563"/>
            <a:ext cx="3218412" cy="2333625"/>
          </a:xfrm>
          <a:prstGeom prst="rect">
            <a:avLst/>
          </a:prstGeom>
          <a:noFill/>
          <a:ln>
            <a:noFill/>
          </a:ln>
        </p:spPr>
      </p:pic>
      <p:sp>
        <p:nvSpPr>
          <p:cNvPr id="531" name="Google Shape;531;p37"/>
          <p:cNvSpPr/>
          <p:nvPr/>
        </p:nvSpPr>
        <p:spPr>
          <a:xfrm>
            <a:off x="6477000" y="3481388"/>
            <a:ext cx="5276850" cy="285750"/>
          </a:xfrm>
          <a:prstGeom prst="rect">
            <a:avLst/>
          </a:prstGeom>
          <a:noFill/>
          <a:ln>
            <a:noFill/>
          </a:ln>
        </p:spPr>
        <p:txBody>
          <a:bodyPr anchorCtr="0" anchor="t" bIns="0" lIns="0" spcFirstLastPara="1" rIns="0" wrap="square" tIns="0">
            <a:normAutofit/>
          </a:bodyPr>
          <a:lstStyle/>
          <a:p>
            <a:pPr indent="0" lvl="0" marL="0" marR="0" rtl="0" algn="l">
              <a:lnSpc>
                <a:spcPct val="125000"/>
              </a:lnSpc>
              <a:spcBef>
                <a:spcPts val="0"/>
              </a:spcBef>
              <a:spcAft>
                <a:spcPts val="0"/>
              </a:spcAft>
              <a:buClr>
                <a:srgbClr val="23303A"/>
              </a:buClr>
              <a:buSzPts val="900"/>
              <a:buFont typeface="Arial"/>
              <a:buNone/>
            </a:pPr>
            <a:r>
              <a:rPr b="0" i="0" lang="en-US" sz="900">
                <a:solidFill>
                  <a:srgbClr val="23303A"/>
                </a:solidFill>
                <a:latin typeface="Arial"/>
                <a:ea typeface="Arial"/>
                <a:cs typeface="Arial"/>
                <a:sym typeface="Arial"/>
              </a:rPr>
              <a:t>Schwippert &amp; Ewert (1995), Fig. 2. NPY application reduces the negative tectal wave and partial recovery follows removal.</a:t>
            </a:r>
            <a:endParaRPr sz="1800">
              <a:solidFill>
                <a:schemeClr val="dk1"/>
              </a:solidFill>
              <a:latin typeface="Calibri"/>
              <a:ea typeface="Calibri"/>
              <a:cs typeface="Calibri"/>
              <a:sym typeface="Calibri"/>
            </a:endParaRPr>
          </a:p>
        </p:txBody>
      </p:sp>
      <p:pic>
        <p:nvPicPr>
          <p:cNvPr id="532" name="Google Shape;532;p37"/>
          <p:cNvPicPr preferRelativeResize="0"/>
          <p:nvPr/>
        </p:nvPicPr>
        <p:blipFill rotWithShape="1">
          <a:blip r:embed="rId4">
            <a:alphaModFix/>
          </a:blip>
          <a:srcRect b="0" l="0" r="0" t="0"/>
          <a:stretch/>
        </p:blipFill>
        <p:spPr>
          <a:xfrm>
            <a:off x="7987343" y="3938588"/>
            <a:ext cx="2237114" cy="1476375"/>
          </a:xfrm>
          <a:prstGeom prst="rect">
            <a:avLst/>
          </a:prstGeom>
          <a:noFill/>
          <a:ln>
            <a:noFill/>
          </a:ln>
        </p:spPr>
      </p:pic>
      <p:sp>
        <p:nvSpPr>
          <p:cNvPr id="533" name="Google Shape;533;p37"/>
          <p:cNvSpPr/>
          <p:nvPr/>
        </p:nvSpPr>
        <p:spPr>
          <a:xfrm>
            <a:off x="6477000" y="5491163"/>
            <a:ext cx="5276850" cy="142875"/>
          </a:xfrm>
          <a:prstGeom prst="rect">
            <a:avLst/>
          </a:prstGeom>
          <a:noFill/>
          <a:ln>
            <a:noFill/>
          </a:ln>
        </p:spPr>
        <p:txBody>
          <a:bodyPr anchorCtr="0" anchor="t" bIns="0" lIns="0" spcFirstLastPara="1" rIns="0" wrap="square" tIns="0">
            <a:normAutofit/>
          </a:bodyPr>
          <a:lstStyle/>
          <a:p>
            <a:pPr indent="0" lvl="0" marL="0" marR="0" rtl="0" algn="l">
              <a:lnSpc>
                <a:spcPct val="125000"/>
              </a:lnSpc>
              <a:spcBef>
                <a:spcPts val="0"/>
              </a:spcBef>
              <a:spcAft>
                <a:spcPts val="0"/>
              </a:spcAft>
              <a:buClr>
                <a:srgbClr val="23303A"/>
              </a:buClr>
              <a:buSzPts val="900"/>
              <a:buFont typeface="Arial"/>
              <a:buNone/>
            </a:pPr>
            <a:r>
              <a:rPr b="0" i="0" lang="en-US" sz="900">
                <a:solidFill>
                  <a:srgbClr val="23303A"/>
                </a:solidFill>
                <a:latin typeface="Arial"/>
                <a:ea typeface="Arial"/>
                <a:cs typeface="Arial"/>
                <a:sym typeface="Arial"/>
              </a:rPr>
              <a:t>Schwippert &amp; Ewert (1995), Fig. 1(A). Stimulation and recording sites.</a:t>
            </a:r>
            <a:endParaRPr sz="1800">
              <a:solidFill>
                <a:schemeClr val="dk1"/>
              </a:solidFill>
              <a:latin typeface="Calibri"/>
              <a:ea typeface="Calibri"/>
              <a:cs typeface="Calibri"/>
              <a:sym typeface="Calibri"/>
            </a:endParaRPr>
          </a:p>
        </p:txBody>
      </p:sp>
      <p:pic>
        <p:nvPicPr>
          <p:cNvPr id="534" name="Google Shape;534;p37"/>
          <p:cNvPicPr preferRelativeResize="0"/>
          <p:nvPr/>
        </p:nvPicPr>
        <p:blipFill rotWithShape="1">
          <a:blip r:embed="rId5">
            <a:alphaModFix/>
          </a:blip>
          <a:srcRect b="0" l="0" r="0" t="0"/>
          <a:stretch/>
        </p:blipFill>
        <p:spPr>
          <a:xfrm>
            <a:off x="457200" y="6405563"/>
            <a:ext cx="11277600" cy="242888"/>
          </a:xfrm>
          <a:prstGeom prst="rect">
            <a:avLst/>
          </a:prstGeom>
          <a:noFill/>
          <a:ln>
            <a:noFill/>
          </a:ln>
        </p:spPr>
      </p:pic>
      <p:sp>
        <p:nvSpPr>
          <p:cNvPr id="535" name="Google Shape;535;p37"/>
          <p:cNvSpPr/>
          <p:nvPr/>
        </p:nvSpPr>
        <p:spPr>
          <a:xfrm>
            <a:off x="457200" y="6491288"/>
            <a:ext cx="1311920" cy="157163"/>
          </a:xfrm>
          <a:prstGeom prst="rect">
            <a:avLst/>
          </a:prstGeom>
          <a:noFill/>
          <a:ln>
            <a:noFill/>
          </a:ln>
        </p:spPr>
        <p:txBody>
          <a:bodyPr anchorCtr="0" anchor="t" bIns="0" lIns="0" spcFirstLastPara="1" rIns="0" wrap="square" tIns="0">
            <a:normAutofit/>
          </a:bodyPr>
          <a:lstStyle/>
          <a:p>
            <a:pPr indent="0" lvl="0" marL="0" marR="0" rtl="0" algn="l">
              <a:lnSpc>
                <a:spcPct val="150060"/>
              </a:lnSpc>
              <a:spcBef>
                <a:spcPts val="0"/>
              </a:spcBef>
              <a:spcAft>
                <a:spcPts val="0"/>
              </a:spcAft>
              <a:buClr>
                <a:srgbClr val="5F6E7A"/>
              </a:buClr>
              <a:buSzPts val="825"/>
              <a:buFont typeface="Arial"/>
              <a:buNone/>
            </a:pPr>
            <a:r>
              <a:rPr b="0" i="0" lang="en-US" sz="825">
                <a:solidFill>
                  <a:srgbClr val="5F6E7A"/>
                </a:solidFill>
                <a:latin typeface="Arial"/>
                <a:ea typeface="Arial"/>
                <a:cs typeface="Arial"/>
                <a:sym typeface="Arial"/>
              </a:rPr>
              <a:t>Schwippert &amp; Ewert (1995)</a:t>
            </a:r>
            <a:endParaRPr sz="1800">
              <a:solidFill>
                <a:schemeClr val="dk1"/>
              </a:solidFill>
              <a:latin typeface="Calibri"/>
              <a:ea typeface="Calibri"/>
              <a:cs typeface="Calibri"/>
              <a:sym typeface="Calibri"/>
            </a:endParaRPr>
          </a:p>
        </p:txBody>
      </p:sp>
      <p:sp>
        <p:nvSpPr>
          <p:cNvPr id="536" name="Google Shape;536;p37"/>
          <p:cNvSpPr/>
          <p:nvPr/>
        </p:nvSpPr>
        <p:spPr>
          <a:xfrm>
            <a:off x="11614845" y="6491288"/>
            <a:ext cx="139005" cy="157163"/>
          </a:xfrm>
          <a:prstGeom prst="rect">
            <a:avLst/>
          </a:prstGeom>
          <a:noFill/>
          <a:ln>
            <a:noFill/>
          </a:ln>
        </p:spPr>
        <p:txBody>
          <a:bodyPr anchorCtr="0" anchor="t" bIns="0" lIns="0" spcFirstLastPara="1" rIns="0" wrap="square" tIns="0">
            <a:normAutofit/>
          </a:bodyPr>
          <a:lstStyle/>
          <a:p>
            <a:pPr indent="0" lvl="0" marL="0" marR="0" rtl="0" algn="l">
              <a:lnSpc>
                <a:spcPct val="150060"/>
              </a:lnSpc>
              <a:spcBef>
                <a:spcPts val="0"/>
              </a:spcBef>
              <a:spcAft>
                <a:spcPts val="0"/>
              </a:spcAft>
              <a:buClr>
                <a:srgbClr val="5F6E7A"/>
              </a:buClr>
              <a:buSzPts val="825"/>
              <a:buFont typeface="Arial"/>
              <a:buNone/>
            </a:pPr>
            <a:r>
              <a:rPr b="0" i="0" lang="en-US" sz="825">
                <a:solidFill>
                  <a:srgbClr val="5F6E7A"/>
                </a:solidFill>
                <a:latin typeface="Arial"/>
                <a:ea typeface="Arial"/>
                <a:cs typeface="Arial"/>
                <a:sym typeface="Arial"/>
              </a:rPr>
              <a:t>37</a:t>
            </a:r>
            <a:endParaRPr sz="1800">
              <a:solidFill>
                <a:schemeClr val="dk1"/>
              </a:solidFill>
              <a:latin typeface="Calibri"/>
              <a:ea typeface="Calibri"/>
              <a:cs typeface="Calibri"/>
              <a:sym typeface="Calibri"/>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40" name="Shape 540"/>
        <p:cNvGrpSpPr/>
        <p:nvPr/>
      </p:nvGrpSpPr>
      <p:grpSpPr>
        <a:xfrm>
          <a:off x="0" y="0"/>
          <a:ext cx="0" cy="0"/>
          <a:chOff x="0" y="0"/>
          <a:chExt cx="0" cy="0"/>
        </a:xfrm>
      </p:grpSpPr>
      <p:sp>
        <p:nvSpPr>
          <p:cNvPr id="541" name="Google Shape;541;p38"/>
          <p:cNvSpPr/>
          <p:nvPr/>
        </p:nvSpPr>
        <p:spPr>
          <a:xfrm>
            <a:off x="457200" y="457200"/>
            <a:ext cx="11296650" cy="328613"/>
          </a:xfrm>
          <a:prstGeom prst="rect">
            <a:avLst/>
          </a:prstGeom>
          <a:noFill/>
          <a:ln>
            <a:noFill/>
          </a:ln>
        </p:spPr>
        <p:txBody>
          <a:bodyPr anchorCtr="0" anchor="t" bIns="0" lIns="0" spcFirstLastPara="1" rIns="0" wrap="square" tIns="0">
            <a:normAutofit/>
          </a:bodyPr>
          <a:lstStyle/>
          <a:p>
            <a:pPr indent="0" lvl="0" marL="0" marR="0" rtl="0" algn="l">
              <a:lnSpc>
                <a:spcPct val="115022"/>
              </a:lnSpc>
              <a:spcBef>
                <a:spcPts val="0"/>
              </a:spcBef>
              <a:spcAft>
                <a:spcPts val="0"/>
              </a:spcAft>
              <a:buClr>
                <a:srgbClr val="35536B"/>
              </a:buClr>
              <a:buSzPts val="2250"/>
              <a:buFont typeface="Arial"/>
              <a:buNone/>
            </a:pPr>
            <a:r>
              <a:rPr b="1" i="0" lang="en-US" sz="2250">
                <a:solidFill>
                  <a:srgbClr val="35536B"/>
                </a:solidFill>
                <a:latin typeface="Arial"/>
                <a:ea typeface="Arial"/>
                <a:cs typeface="Arial"/>
                <a:sym typeface="Arial"/>
              </a:rPr>
              <a:t>The peptide effect is slower than electrical conditioning</a:t>
            </a:r>
            <a:endParaRPr sz="1800">
              <a:solidFill>
                <a:schemeClr val="dk1"/>
              </a:solidFill>
              <a:latin typeface="Calibri"/>
              <a:ea typeface="Calibri"/>
              <a:cs typeface="Calibri"/>
              <a:sym typeface="Calibri"/>
            </a:endParaRPr>
          </a:p>
        </p:txBody>
      </p:sp>
      <p:sp>
        <p:nvSpPr>
          <p:cNvPr id="542" name="Google Shape;542;p38"/>
          <p:cNvSpPr/>
          <p:nvPr/>
        </p:nvSpPr>
        <p:spPr>
          <a:xfrm>
            <a:off x="457200" y="1071563"/>
            <a:ext cx="5695950" cy="1194346"/>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3303A"/>
              </a:buClr>
              <a:buSzPts val="1425"/>
              <a:buFont typeface="Arial"/>
              <a:buNone/>
            </a:pPr>
            <a:r>
              <a:rPr b="0" i="0" lang="en-US" sz="1425">
                <a:solidFill>
                  <a:srgbClr val="23303A"/>
                </a:solidFill>
                <a:latin typeface="Arial"/>
                <a:ea typeface="Arial"/>
                <a:cs typeface="Arial"/>
                <a:sym typeface="Arial"/>
              </a:rPr>
              <a:t>Electrical pretectal conditioning attenuated the negative retinally evoked field at a pulse separation around 20–25 ms, whereas locally applied NPY required approximately 5–10 minutes for strong attenuation. The two interventions probe related response components on very different experimental timescales.</a:t>
            </a:r>
            <a:endParaRPr sz="1800">
              <a:solidFill>
                <a:schemeClr val="dk1"/>
              </a:solidFill>
              <a:latin typeface="Calibri"/>
              <a:ea typeface="Calibri"/>
              <a:cs typeface="Calibri"/>
              <a:sym typeface="Calibri"/>
            </a:endParaRPr>
          </a:p>
        </p:txBody>
      </p:sp>
      <p:sp>
        <p:nvSpPr>
          <p:cNvPr id="543" name="Google Shape;543;p38"/>
          <p:cNvSpPr/>
          <p:nvPr/>
        </p:nvSpPr>
        <p:spPr>
          <a:xfrm>
            <a:off x="457200" y="2418308"/>
            <a:ext cx="5695950" cy="1194346"/>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3303A"/>
              </a:buClr>
              <a:buSzPts val="1425"/>
              <a:buFont typeface="Arial"/>
              <a:buNone/>
            </a:pPr>
            <a:r>
              <a:rPr b="0" i="0" lang="en-US" sz="1425">
                <a:solidFill>
                  <a:srgbClr val="23303A"/>
                </a:solidFill>
                <a:latin typeface="Arial"/>
                <a:ea typeface="Arial"/>
                <a:cs typeface="Arial"/>
                <a:sym typeface="Arial"/>
              </a:rPr>
              <a:t>The NPY pipette was positioned approximately 200–300 μm from the recording site, so diffusion and delivery through tissue contribute to the application delay. That delay is not a measurement of how fast a pretectal neuron releases endogenous peptide during a visual encounter.</a:t>
            </a:r>
            <a:endParaRPr sz="1800">
              <a:solidFill>
                <a:schemeClr val="dk1"/>
              </a:solidFill>
              <a:latin typeface="Calibri"/>
              <a:ea typeface="Calibri"/>
              <a:cs typeface="Calibri"/>
              <a:sym typeface="Calibri"/>
            </a:endParaRPr>
          </a:p>
        </p:txBody>
      </p:sp>
      <p:sp>
        <p:nvSpPr>
          <p:cNvPr id="544" name="Google Shape;544;p38"/>
          <p:cNvSpPr/>
          <p:nvPr/>
        </p:nvSpPr>
        <p:spPr>
          <a:xfrm>
            <a:off x="457200" y="3765054"/>
            <a:ext cx="5695950" cy="1194346"/>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3303A"/>
              </a:buClr>
              <a:buSzPts val="1425"/>
              <a:buFont typeface="Arial"/>
              <a:buNone/>
            </a:pPr>
            <a:r>
              <a:rPr b="0" i="0" lang="en-US" sz="1425">
                <a:solidFill>
                  <a:srgbClr val="23303A"/>
                </a:solidFill>
                <a:latin typeface="Arial"/>
                <a:ea typeface="Arial"/>
                <a:cs typeface="Arial"/>
                <a:sym typeface="Arial"/>
              </a:rPr>
              <a:t>Similarity of the affected component supports a possible relation between peptide modulation and pretectal regulation. Different delivery conditions prevent equating the pharmacological time course with the latency of a naturally occurring synaptic inhibitory event.</a:t>
            </a:r>
            <a:endParaRPr sz="1800">
              <a:solidFill>
                <a:schemeClr val="dk1"/>
              </a:solidFill>
              <a:latin typeface="Calibri"/>
              <a:ea typeface="Calibri"/>
              <a:cs typeface="Calibri"/>
              <a:sym typeface="Calibri"/>
            </a:endParaRPr>
          </a:p>
        </p:txBody>
      </p:sp>
      <p:pic>
        <p:nvPicPr>
          <p:cNvPr id="545" name="Google Shape;545;p38"/>
          <p:cNvPicPr preferRelativeResize="0"/>
          <p:nvPr/>
        </p:nvPicPr>
        <p:blipFill rotWithShape="1">
          <a:blip r:embed="rId3">
            <a:alphaModFix/>
          </a:blip>
          <a:srcRect b="0" l="0" r="0" t="0"/>
          <a:stretch/>
        </p:blipFill>
        <p:spPr>
          <a:xfrm>
            <a:off x="8183728" y="1071563"/>
            <a:ext cx="1844344" cy="4229100"/>
          </a:xfrm>
          <a:prstGeom prst="rect">
            <a:avLst/>
          </a:prstGeom>
          <a:noFill/>
          <a:ln>
            <a:noFill/>
          </a:ln>
        </p:spPr>
      </p:pic>
      <p:sp>
        <p:nvSpPr>
          <p:cNvPr id="546" name="Google Shape;546;p38"/>
          <p:cNvSpPr/>
          <p:nvPr/>
        </p:nvSpPr>
        <p:spPr>
          <a:xfrm>
            <a:off x="6477000" y="5376863"/>
            <a:ext cx="5276850" cy="285750"/>
          </a:xfrm>
          <a:prstGeom prst="rect">
            <a:avLst/>
          </a:prstGeom>
          <a:noFill/>
          <a:ln>
            <a:noFill/>
          </a:ln>
        </p:spPr>
        <p:txBody>
          <a:bodyPr anchorCtr="0" anchor="t" bIns="0" lIns="0" spcFirstLastPara="1" rIns="0" wrap="square" tIns="0">
            <a:normAutofit/>
          </a:bodyPr>
          <a:lstStyle/>
          <a:p>
            <a:pPr indent="0" lvl="0" marL="0" marR="0" rtl="0" algn="l">
              <a:lnSpc>
                <a:spcPct val="125000"/>
              </a:lnSpc>
              <a:spcBef>
                <a:spcPts val="0"/>
              </a:spcBef>
              <a:spcAft>
                <a:spcPts val="0"/>
              </a:spcAft>
              <a:buClr>
                <a:srgbClr val="23303A"/>
              </a:buClr>
              <a:buSzPts val="900"/>
              <a:buFont typeface="Arial"/>
              <a:buNone/>
            </a:pPr>
            <a:r>
              <a:rPr b="0" i="0" lang="en-US" sz="900">
                <a:solidFill>
                  <a:srgbClr val="23303A"/>
                </a:solidFill>
                <a:latin typeface="Arial"/>
                <a:ea typeface="Arial"/>
                <a:cs typeface="Arial"/>
                <a:sym typeface="Arial"/>
              </a:rPr>
              <a:t>Schwippert &amp; Ewert (1995), Fig. 1(A–B). Pretectal stimulation arrangement and delay-dependent suppression of the negative wave.</a:t>
            </a:r>
            <a:endParaRPr sz="1800">
              <a:solidFill>
                <a:schemeClr val="dk1"/>
              </a:solidFill>
              <a:latin typeface="Calibri"/>
              <a:ea typeface="Calibri"/>
              <a:cs typeface="Calibri"/>
              <a:sym typeface="Calibri"/>
            </a:endParaRPr>
          </a:p>
        </p:txBody>
      </p:sp>
      <p:pic>
        <p:nvPicPr>
          <p:cNvPr id="547" name="Google Shape;547;p38"/>
          <p:cNvPicPr preferRelativeResize="0"/>
          <p:nvPr/>
        </p:nvPicPr>
        <p:blipFill rotWithShape="1">
          <a:blip r:embed="rId4">
            <a:alphaModFix/>
          </a:blip>
          <a:srcRect b="0" l="0" r="0" t="0"/>
          <a:stretch/>
        </p:blipFill>
        <p:spPr>
          <a:xfrm>
            <a:off x="457200" y="6405563"/>
            <a:ext cx="11277600" cy="242888"/>
          </a:xfrm>
          <a:prstGeom prst="rect">
            <a:avLst/>
          </a:prstGeom>
          <a:noFill/>
          <a:ln>
            <a:noFill/>
          </a:ln>
        </p:spPr>
      </p:pic>
      <p:sp>
        <p:nvSpPr>
          <p:cNvPr id="548" name="Google Shape;548;p38"/>
          <p:cNvSpPr/>
          <p:nvPr/>
        </p:nvSpPr>
        <p:spPr>
          <a:xfrm>
            <a:off x="457200" y="6491288"/>
            <a:ext cx="2513409" cy="157163"/>
          </a:xfrm>
          <a:prstGeom prst="rect">
            <a:avLst/>
          </a:prstGeom>
          <a:noFill/>
          <a:ln>
            <a:noFill/>
          </a:ln>
        </p:spPr>
        <p:txBody>
          <a:bodyPr anchorCtr="0" anchor="t" bIns="0" lIns="0" spcFirstLastPara="1" rIns="0" wrap="square" tIns="0">
            <a:normAutofit/>
          </a:bodyPr>
          <a:lstStyle/>
          <a:p>
            <a:pPr indent="0" lvl="0" marL="0" marR="0" rtl="0" algn="l">
              <a:lnSpc>
                <a:spcPct val="150060"/>
              </a:lnSpc>
              <a:spcBef>
                <a:spcPts val="0"/>
              </a:spcBef>
              <a:spcAft>
                <a:spcPts val="0"/>
              </a:spcAft>
              <a:buClr>
                <a:srgbClr val="5F6E7A"/>
              </a:buClr>
              <a:buSzPts val="825"/>
              <a:buFont typeface="Arial"/>
              <a:buNone/>
            </a:pPr>
            <a:r>
              <a:rPr b="0" i="0" lang="en-US" sz="825">
                <a:solidFill>
                  <a:srgbClr val="5F6E7A"/>
                </a:solidFill>
                <a:latin typeface="Arial"/>
                <a:ea typeface="Arial"/>
                <a:cs typeface="Arial"/>
                <a:sym typeface="Arial"/>
              </a:rPr>
              <a:t>Schwippert &amp; Ewert (1995); Schwippert et al. (1995)</a:t>
            </a:r>
            <a:endParaRPr sz="1800">
              <a:solidFill>
                <a:schemeClr val="dk1"/>
              </a:solidFill>
              <a:latin typeface="Calibri"/>
              <a:ea typeface="Calibri"/>
              <a:cs typeface="Calibri"/>
              <a:sym typeface="Calibri"/>
            </a:endParaRPr>
          </a:p>
        </p:txBody>
      </p:sp>
      <p:sp>
        <p:nvSpPr>
          <p:cNvPr id="549" name="Google Shape;549;p38"/>
          <p:cNvSpPr/>
          <p:nvPr/>
        </p:nvSpPr>
        <p:spPr>
          <a:xfrm>
            <a:off x="11614845" y="6491288"/>
            <a:ext cx="139005" cy="157163"/>
          </a:xfrm>
          <a:prstGeom prst="rect">
            <a:avLst/>
          </a:prstGeom>
          <a:noFill/>
          <a:ln>
            <a:noFill/>
          </a:ln>
        </p:spPr>
        <p:txBody>
          <a:bodyPr anchorCtr="0" anchor="t" bIns="0" lIns="0" spcFirstLastPara="1" rIns="0" wrap="square" tIns="0">
            <a:normAutofit/>
          </a:bodyPr>
          <a:lstStyle/>
          <a:p>
            <a:pPr indent="0" lvl="0" marL="0" marR="0" rtl="0" algn="l">
              <a:lnSpc>
                <a:spcPct val="150060"/>
              </a:lnSpc>
              <a:spcBef>
                <a:spcPts val="0"/>
              </a:spcBef>
              <a:spcAft>
                <a:spcPts val="0"/>
              </a:spcAft>
              <a:buClr>
                <a:srgbClr val="5F6E7A"/>
              </a:buClr>
              <a:buSzPts val="825"/>
              <a:buFont typeface="Arial"/>
              <a:buNone/>
            </a:pPr>
            <a:r>
              <a:rPr b="0" i="0" lang="en-US" sz="825">
                <a:solidFill>
                  <a:srgbClr val="5F6E7A"/>
                </a:solidFill>
                <a:latin typeface="Arial"/>
                <a:ea typeface="Arial"/>
                <a:cs typeface="Arial"/>
                <a:sym typeface="Arial"/>
              </a:rPr>
              <a:t>38</a:t>
            </a:r>
            <a:endParaRPr sz="1800">
              <a:solidFill>
                <a:schemeClr val="dk1"/>
              </a:solidFill>
              <a:latin typeface="Calibri"/>
              <a:ea typeface="Calibri"/>
              <a:cs typeface="Calibri"/>
              <a:sym typeface="Calibri"/>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53" name="Shape 553"/>
        <p:cNvGrpSpPr/>
        <p:nvPr/>
      </p:nvGrpSpPr>
      <p:grpSpPr>
        <a:xfrm>
          <a:off x="0" y="0"/>
          <a:ext cx="0" cy="0"/>
          <a:chOff x="0" y="0"/>
          <a:chExt cx="0" cy="0"/>
        </a:xfrm>
      </p:grpSpPr>
      <p:sp>
        <p:nvSpPr>
          <p:cNvPr id="554" name="Google Shape;554;p39"/>
          <p:cNvSpPr/>
          <p:nvPr/>
        </p:nvSpPr>
        <p:spPr>
          <a:xfrm>
            <a:off x="457200" y="457200"/>
            <a:ext cx="11296650" cy="328613"/>
          </a:xfrm>
          <a:prstGeom prst="rect">
            <a:avLst/>
          </a:prstGeom>
          <a:noFill/>
          <a:ln>
            <a:noFill/>
          </a:ln>
        </p:spPr>
        <p:txBody>
          <a:bodyPr anchorCtr="0" anchor="t" bIns="0" lIns="0" spcFirstLastPara="1" rIns="0" wrap="square" tIns="0">
            <a:normAutofit/>
          </a:bodyPr>
          <a:lstStyle/>
          <a:p>
            <a:pPr indent="0" lvl="0" marL="0" marR="0" rtl="0" algn="l">
              <a:lnSpc>
                <a:spcPct val="115022"/>
              </a:lnSpc>
              <a:spcBef>
                <a:spcPts val="0"/>
              </a:spcBef>
              <a:spcAft>
                <a:spcPts val="0"/>
              </a:spcAft>
              <a:buClr>
                <a:srgbClr val="35536B"/>
              </a:buClr>
              <a:buSzPts val="2250"/>
              <a:buFont typeface="Arial"/>
              <a:buNone/>
            </a:pPr>
            <a:r>
              <a:rPr b="1" i="0" lang="en-US" sz="2250">
                <a:solidFill>
                  <a:srgbClr val="35536B"/>
                </a:solidFill>
                <a:latin typeface="Arial"/>
                <a:ea typeface="Arial"/>
                <a:cs typeface="Arial"/>
                <a:sym typeface="Arial"/>
              </a:rPr>
              <a:t>NPY does not identify the complete inhibitory pathway</a:t>
            </a:r>
            <a:endParaRPr sz="1800">
              <a:solidFill>
                <a:schemeClr val="dk1"/>
              </a:solidFill>
              <a:latin typeface="Calibri"/>
              <a:ea typeface="Calibri"/>
              <a:cs typeface="Calibri"/>
              <a:sym typeface="Calibri"/>
            </a:endParaRPr>
          </a:p>
        </p:txBody>
      </p:sp>
      <p:sp>
        <p:nvSpPr>
          <p:cNvPr id="555" name="Google Shape;555;p39"/>
          <p:cNvSpPr/>
          <p:nvPr/>
        </p:nvSpPr>
        <p:spPr>
          <a:xfrm>
            <a:off x="457200" y="1071563"/>
            <a:ext cx="5695950" cy="1194346"/>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3303A"/>
              </a:buClr>
              <a:buSzPts val="1425"/>
              <a:buFont typeface="Arial"/>
              <a:buNone/>
            </a:pPr>
            <a:r>
              <a:rPr b="0" i="0" lang="en-US" sz="1425">
                <a:solidFill>
                  <a:srgbClr val="23303A"/>
                </a:solidFill>
                <a:latin typeface="Arial"/>
                <a:ea typeface="Arial"/>
                <a:cs typeface="Arial"/>
                <a:sym typeface="Arial"/>
              </a:rPr>
              <a:t>Schwippert and Ewert related their NPY effect to published anatomical evidence for NPY-containing pretectal projections and superficial tectal fibers near retinal terminals. This distribution is compatible with a peptide influence on incoming visual transmission.</a:t>
            </a:r>
            <a:endParaRPr sz="1800">
              <a:solidFill>
                <a:schemeClr val="dk1"/>
              </a:solidFill>
              <a:latin typeface="Calibri"/>
              <a:ea typeface="Calibri"/>
              <a:cs typeface="Calibri"/>
              <a:sym typeface="Calibri"/>
            </a:endParaRPr>
          </a:p>
        </p:txBody>
      </p:sp>
      <p:sp>
        <p:nvSpPr>
          <p:cNvPr id="556" name="Google Shape;556;p39"/>
          <p:cNvSpPr/>
          <p:nvPr/>
        </p:nvSpPr>
        <p:spPr>
          <a:xfrm>
            <a:off x="457200" y="2418308"/>
            <a:ext cx="5695950" cy="1194346"/>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3303A"/>
              </a:buClr>
              <a:buSzPts val="1425"/>
              <a:buFont typeface="Arial"/>
              <a:buNone/>
            </a:pPr>
            <a:r>
              <a:rPr b="0" i="0" lang="en-US" sz="1425">
                <a:solidFill>
                  <a:srgbClr val="23303A"/>
                </a:solidFill>
                <a:latin typeface="Arial"/>
                <a:ea typeface="Arial"/>
                <a:cs typeface="Arial"/>
                <a:sym typeface="Arial"/>
              </a:rPr>
              <a:t>They proposed that NPY might reduce excitation at retinal terminals, a form of presynaptic inhibition. The measured result remains a reduction of the negative field to approximately 24% after local peptide application; no individual retinal terminal or postsynaptic cell was recorded intracellularly in this test.</a:t>
            </a:r>
            <a:endParaRPr sz="1800">
              <a:solidFill>
                <a:schemeClr val="dk1"/>
              </a:solidFill>
              <a:latin typeface="Calibri"/>
              <a:ea typeface="Calibri"/>
              <a:cs typeface="Calibri"/>
              <a:sym typeface="Calibri"/>
            </a:endParaRPr>
          </a:p>
        </p:txBody>
      </p:sp>
      <p:sp>
        <p:nvSpPr>
          <p:cNvPr id="557" name="Google Shape;557;p39"/>
          <p:cNvSpPr/>
          <p:nvPr/>
        </p:nvSpPr>
        <p:spPr>
          <a:xfrm>
            <a:off x="457200" y="3765054"/>
            <a:ext cx="5695950" cy="1194346"/>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3303A"/>
              </a:buClr>
              <a:buSzPts val="1425"/>
              <a:buFont typeface="Arial"/>
              <a:buNone/>
            </a:pPr>
            <a:r>
              <a:rPr b="0" i="0" lang="en-US" sz="1425">
                <a:solidFill>
                  <a:srgbClr val="23303A"/>
                </a:solidFill>
                <a:latin typeface="Arial"/>
                <a:ea typeface="Arial"/>
                <a:cs typeface="Arial"/>
                <a:sym typeface="Arial"/>
              </a:rPr>
              <a:t>The study did not establish a particular NPY receptor subtype, demonstrate endogenous peptide release during avoidance, or block an identified ion channel to test its necessity. A candidate transmitter and a demonstrated complete synaptic mechanism are different levels of explanation.</a:t>
            </a:r>
            <a:endParaRPr sz="1800">
              <a:solidFill>
                <a:schemeClr val="dk1"/>
              </a:solidFill>
              <a:latin typeface="Calibri"/>
              <a:ea typeface="Calibri"/>
              <a:cs typeface="Calibri"/>
              <a:sym typeface="Calibri"/>
            </a:endParaRPr>
          </a:p>
        </p:txBody>
      </p:sp>
      <p:pic>
        <p:nvPicPr>
          <p:cNvPr id="558" name="Google Shape;558;p39"/>
          <p:cNvPicPr preferRelativeResize="0"/>
          <p:nvPr/>
        </p:nvPicPr>
        <p:blipFill rotWithShape="1">
          <a:blip r:embed="rId3">
            <a:alphaModFix/>
          </a:blip>
          <a:srcRect b="0" l="0" r="0" t="0"/>
          <a:stretch/>
        </p:blipFill>
        <p:spPr>
          <a:xfrm>
            <a:off x="7496694" y="1071563"/>
            <a:ext cx="3218412" cy="2333625"/>
          </a:xfrm>
          <a:prstGeom prst="rect">
            <a:avLst/>
          </a:prstGeom>
          <a:noFill/>
          <a:ln>
            <a:noFill/>
          </a:ln>
        </p:spPr>
      </p:pic>
      <p:sp>
        <p:nvSpPr>
          <p:cNvPr id="559" name="Google Shape;559;p39"/>
          <p:cNvSpPr/>
          <p:nvPr/>
        </p:nvSpPr>
        <p:spPr>
          <a:xfrm>
            <a:off x="6477000" y="3481388"/>
            <a:ext cx="5276850" cy="285750"/>
          </a:xfrm>
          <a:prstGeom prst="rect">
            <a:avLst/>
          </a:prstGeom>
          <a:noFill/>
          <a:ln>
            <a:noFill/>
          </a:ln>
        </p:spPr>
        <p:txBody>
          <a:bodyPr anchorCtr="0" anchor="t" bIns="0" lIns="0" spcFirstLastPara="1" rIns="0" wrap="square" tIns="0">
            <a:normAutofit/>
          </a:bodyPr>
          <a:lstStyle/>
          <a:p>
            <a:pPr indent="0" lvl="0" marL="0" marR="0" rtl="0" algn="l">
              <a:lnSpc>
                <a:spcPct val="125000"/>
              </a:lnSpc>
              <a:spcBef>
                <a:spcPts val="0"/>
              </a:spcBef>
              <a:spcAft>
                <a:spcPts val="0"/>
              </a:spcAft>
              <a:buClr>
                <a:srgbClr val="23303A"/>
              </a:buClr>
              <a:buSzPts val="900"/>
              <a:buFont typeface="Arial"/>
              <a:buNone/>
            </a:pPr>
            <a:r>
              <a:rPr b="0" i="0" lang="en-US" sz="900">
                <a:solidFill>
                  <a:srgbClr val="23303A"/>
                </a:solidFill>
                <a:latin typeface="Arial"/>
                <a:ea typeface="Arial"/>
                <a:cs typeface="Arial"/>
                <a:sym typeface="Arial"/>
              </a:rPr>
              <a:t>Schwippert &amp; Ewert (1995), Fig. 2. NPY application reduces the negative tectal wave and partial recovery follows removal.</a:t>
            </a:r>
            <a:endParaRPr sz="1800">
              <a:solidFill>
                <a:schemeClr val="dk1"/>
              </a:solidFill>
              <a:latin typeface="Calibri"/>
              <a:ea typeface="Calibri"/>
              <a:cs typeface="Calibri"/>
              <a:sym typeface="Calibri"/>
            </a:endParaRPr>
          </a:p>
        </p:txBody>
      </p:sp>
      <p:pic>
        <p:nvPicPr>
          <p:cNvPr id="560" name="Google Shape;560;p39"/>
          <p:cNvPicPr preferRelativeResize="0"/>
          <p:nvPr/>
        </p:nvPicPr>
        <p:blipFill rotWithShape="1">
          <a:blip r:embed="rId4">
            <a:alphaModFix/>
          </a:blip>
          <a:srcRect b="0" l="0" r="0" t="0"/>
          <a:stretch/>
        </p:blipFill>
        <p:spPr>
          <a:xfrm>
            <a:off x="7987343" y="3938588"/>
            <a:ext cx="2237114" cy="1476375"/>
          </a:xfrm>
          <a:prstGeom prst="rect">
            <a:avLst/>
          </a:prstGeom>
          <a:noFill/>
          <a:ln>
            <a:noFill/>
          </a:ln>
        </p:spPr>
      </p:pic>
      <p:sp>
        <p:nvSpPr>
          <p:cNvPr id="561" name="Google Shape;561;p39"/>
          <p:cNvSpPr/>
          <p:nvPr/>
        </p:nvSpPr>
        <p:spPr>
          <a:xfrm>
            <a:off x="6477000" y="5491163"/>
            <a:ext cx="5276850" cy="142875"/>
          </a:xfrm>
          <a:prstGeom prst="rect">
            <a:avLst/>
          </a:prstGeom>
          <a:noFill/>
          <a:ln>
            <a:noFill/>
          </a:ln>
        </p:spPr>
        <p:txBody>
          <a:bodyPr anchorCtr="0" anchor="t" bIns="0" lIns="0" spcFirstLastPara="1" rIns="0" wrap="square" tIns="0">
            <a:normAutofit/>
          </a:bodyPr>
          <a:lstStyle/>
          <a:p>
            <a:pPr indent="0" lvl="0" marL="0" marR="0" rtl="0" algn="l">
              <a:lnSpc>
                <a:spcPct val="125000"/>
              </a:lnSpc>
              <a:spcBef>
                <a:spcPts val="0"/>
              </a:spcBef>
              <a:spcAft>
                <a:spcPts val="0"/>
              </a:spcAft>
              <a:buClr>
                <a:srgbClr val="23303A"/>
              </a:buClr>
              <a:buSzPts val="900"/>
              <a:buFont typeface="Arial"/>
              <a:buNone/>
            </a:pPr>
            <a:r>
              <a:rPr b="0" i="0" lang="en-US" sz="900">
                <a:solidFill>
                  <a:srgbClr val="23303A"/>
                </a:solidFill>
                <a:latin typeface="Arial"/>
                <a:ea typeface="Arial"/>
                <a:cs typeface="Arial"/>
                <a:sym typeface="Arial"/>
              </a:rPr>
              <a:t>Schwippert &amp; Ewert (1995), Fig. 1(A). Stimulation and recording sites.</a:t>
            </a:r>
            <a:endParaRPr sz="1800">
              <a:solidFill>
                <a:schemeClr val="dk1"/>
              </a:solidFill>
              <a:latin typeface="Calibri"/>
              <a:ea typeface="Calibri"/>
              <a:cs typeface="Calibri"/>
              <a:sym typeface="Calibri"/>
            </a:endParaRPr>
          </a:p>
        </p:txBody>
      </p:sp>
      <p:pic>
        <p:nvPicPr>
          <p:cNvPr id="562" name="Google Shape;562;p39"/>
          <p:cNvPicPr preferRelativeResize="0"/>
          <p:nvPr/>
        </p:nvPicPr>
        <p:blipFill rotWithShape="1">
          <a:blip r:embed="rId5">
            <a:alphaModFix/>
          </a:blip>
          <a:srcRect b="0" l="0" r="0" t="0"/>
          <a:stretch/>
        </p:blipFill>
        <p:spPr>
          <a:xfrm>
            <a:off x="457200" y="6405563"/>
            <a:ext cx="11277600" cy="242888"/>
          </a:xfrm>
          <a:prstGeom prst="rect">
            <a:avLst/>
          </a:prstGeom>
          <a:noFill/>
          <a:ln>
            <a:noFill/>
          </a:ln>
        </p:spPr>
      </p:pic>
      <p:sp>
        <p:nvSpPr>
          <p:cNvPr id="563" name="Google Shape;563;p39"/>
          <p:cNvSpPr/>
          <p:nvPr/>
        </p:nvSpPr>
        <p:spPr>
          <a:xfrm>
            <a:off x="457200" y="6491288"/>
            <a:ext cx="1311920" cy="157163"/>
          </a:xfrm>
          <a:prstGeom prst="rect">
            <a:avLst/>
          </a:prstGeom>
          <a:noFill/>
          <a:ln>
            <a:noFill/>
          </a:ln>
        </p:spPr>
        <p:txBody>
          <a:bodyPr anchorCtr="0" anchor="t" bIns="0" lIns="0" spcFirstLastPara="1" rIns="0" wrap="square" tIns="0">
            <a:normAutofit/>
          </a:bodyPr>
          <a:lstStyle/>
          <a:p>
            <a:pPr indent="0" lvl="0" marL="0" marR="0" rtl="0" algn="l">
              <a:lnSpc>
                <a:spcPct val="150060"/>
              </a:lnSpc>
              <a:spcBef>
                <a:spcPts val="0"/>
              </a:spcBef>
              <a:spcAft>
                <a:spcPts val="0"/>
              </a:spcAft>
              <a:buClr>
                <a:srgbClr val="5F6E7A"/>
              </a:buClr>
              <a:buSzPts val="825"/>
              <a:buFont typeface="Arial"/>
              <a:buNone/>
            </a:pPr>
            <a:r>
              <a:rPr b="0" i="0" lang="en-US" sz="825">
                <a:solidFill>
                  <a:srgbClr val="5F6E7A"/>
                </a:solidFill>
                <a:latin typeface="Arial"/>
                <a:ea typeface="Arial"/>
                <a:cs typeface="Arial"/>
                <a:sym typeface="Arial"/>
              </a:rPr>
              <a:t>Schwippert &amp; Ewert (1995)</a:t>
            </a:r>
            <a:endParaRPr sz="1800">
              <a:solidFill>
                <a:schemeClr val="dk1"/>
              </a:solidFill>
              <a:latin typeface="Calibri"/>
              <a:ea typeface="Calibri"/>
              <a:cs typeface="Calibri"/>
              <a:sym typeface="Calibri"/>
            </a:endParaRPr>
          </a:p>
        </p:txBody>
      </p:sp>
      <p:sp>
        <p:nvSpPr>
          <p:cNvPr id="564" name="Google Shape;564;p39"/>
          <p:cNvSpPr/>
          <p:nvPr/>
        </p:nvSpPr>
        <p:spPr>
          <a:xfrm>
            <a:off x="11614845" y="6491288"/>
            <a:ext cx="139005" cy="157163"/>
          </a:xfrm>
          <a:prstGeom prst="rect">
            <a:avLst/>
          </a:prstGeom>
          <a:noFill/>
          <a:ln>
            <a:noFill/>
          </a:ln>
        </p:spPr>
        <p:txBody>
          <a:bodyPr anchorCtr="0" anchor="t" bIns="0" lIns="0" spcFirstLastPara="1" rIns="0" wrap="square" tIns="0">
            <a:normAutofit/>
          </a:bodyPr>
          <a:lstStyle/>
          <a:p>
            <a:pPr indent="0" lvl="0" marL="0" marR="0" rtl="0" algn="l">
              <a:lnSpc>
                <a:spcPct val="150060"/>
              </a:lnSpc>
              <a:spcBef>
                <a:spcPts val="0"/>
              </a:spcBef>
              <a:spcAft>
                <a:spcPts val="0"/>
              </a:spcAft>
              <a:buClr>
                <a:srgbClr val="5F6E7A"/>
              </a:buClr>
              <a:buSzPts val="825"/>
              <a:buFont typeface="Arial"/>
              <a:buNone/>
            </a:pPr>
            <a:r>
              <a:rPr b="0" i="0" lang="en-US" sz="825">
                <a:solidFill>
                  <a:srgbClr val="5F6E7A"/>
                </a:solidFill>
                <a:latin typeface="Arial"/>
                <a:ea typeface="Arial"/>
                <a:cs typeface="Arial"/>
                <a:sym typeface="Arial"/>
              </a:rPr>
              <a:t>39</a:t>
            </a:r>
            <a:endParaRPr sz="1800">
              <a:solidFill>
                <a:schemeClr val="dk1"/>
              </a:solidFill>
              <a:latin typeface="Calibri"/>
              <a:ea typeface="Calibri"/>
              <a:cs typeface="Calibri"/>
              <a:sym typeface="Calibri"/>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68" name="Shape 568"/>
        <p:cNvGrpSpPr/>
        <p:nvPr/>
      </p:nvGrpSpPr>
      <p:grpSpPr>
        <a:xfrm>
          <a:off x="0" y="0"/>
          <a:ext cx="0" cy="0"/>
          <a:chOff x="0" y="0"/>
          <a:chExt cx="0" cy="0"/>
        </a:xfrm>
      </p:grpSpPr>
      <p:sp>
        <p:nvSpPr>
          <p:cNvPr id="569" name="Google Shape;569;p40"/>
          <p:cNvSpPr/>
          <p:nvPr/>
        </p:nvSpPr>
        <p:spPr>
          <a:xfrm>
            <a:off x="457200" y="457200"/>
            <a:ext cx="11296650" cy="328613"/>
          </a:xfrm>
          <a:prstGeom prst="rect">
            <a:avLst/>
          </a:prstGeom>
          <a:noFill/>
          <a:ln>
            <a:noFill/>
          </a:ln>
        </p:spPr>
        <p:txBody>
          <a:bodyPr anchorCtr="0" anchor="t" bIns="0" lIns="0" spcFirstLastPara="1" rIns="0" wrap="square" tIns="0">
            <a:normAutofit/>
          </a:bodyPr>
          <a:lstStyle/>
          <a:p>
            <a:pPr indent="0" lvl="0" marL="0" marR="0" rtl="0" algn="l">
              <a:lnSpc>
                <a:spcPct val="115022"/>
              </a:lnSpc>
              <a:spcBef>
                <a:spcPts val="0"/>
              </a:spcBef>
              <a:spcAft>
                <a:spcPts val="0"/>
              </a:spcAft>
              <a:buClr>
                <a:srgbClr val="35536B"/>
              </a:buClr>
              <a:buSzPts val="2250"/>
              <a:buFont typeface="Arial"/>
              <a:buNone/>
            </a:pPr>
            <a:r>
              <a:rPr b="1" i="0" lang="en-US" sz="2250">
                <a:solidFill>
                  <a:srgbClr val="35536B"/>
                </a:solidFill>
                <a:latin typeface="Arial"/>
                <a:ea typeface="Arial"/>
                <a:cs typeface="Arial"/>
                <a:sym typeface="Arial"/>
              </a:rPr>
              <a:t>DC stimulation tests avoidance in behaving toads</a:t>
            </a:r>
            <a:endParaRPr sz="1800">
              <a:solidFill>
                <a:schemeClr val="dk1"/>
              </a:solidFill>
              <a:latin typeface="Calibri"/>
              <a:ea typeface="Calibri"/>
              <a:cs typeface="Calibri"/>
              <a:sym typeface="Calibri"/>
            </a:endParaRPr>
          </a:p>
        </p:txBody>
      </p:sp>
      <p:sp>
        <p:nvSpPr>
          <p:cNvPr id="570" name="Google Shape;570;p40"/>
          <p:cNvSpPr/>
          <p:nvPr/>
        </p:nvSpPr>
        <p:spPr>
          <a:xfrm>
            <a:off x="457200" y="1071563"/>
            <a:ext cx="5695950" cy="1194346"/>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3303A"/>
              </a:buClr>
              <a:buSzPts val="1425"/>
              <a:buFont typeface="Arial"/>
              <a:buNone/>
            </a:pPr>
            <a:r>
              <a:rPr b="0" i="0" lang="en-US" sz="1425">
                <a:solidFill>
                  <a:srgbClr val="23303A"/>
                </a:solidFill>
                <a:latin typeface="Arial"/>
                <a:ea typeface="Arial"/>
                <a:cs typeface="Arial"/>
                <a:sym typeface="Arial"/>
              </a:rPr>
              <a:t>McConville and Laming applied </a:t>
            </a:r>
            <a:r>
              <a:rPr b="1" i="0" lang="en-US" sz="1425">
                <a:solidFill>
                  <a:srgbClr val="23303A"/>
                </a:solidFill>
                <a:latin typeface="Arial"/>
                <a:ea typeface="Arial"/>
                <a:cs typeface="Arial"/>
                <a:sym typeface="Arial"/>
              </a:rPr>
              <a:t>direct current</a:t>
            </a:r>
            <a:r>
              <a:rPr b="0" i="0" lang="en-US" sz="1425">
                <a:solidFill>
                  <a:srgbClr val="23303A"/>
                </a:solidFill>
                <a:latin typeface="Arial"/>
                <a:ea typeface="Arial"/>
                <a:cs typeface="Arial"/>
                <a:sym typeface="Arial"/>
              </a:rPr>
              <a:t>, or DC, a sustained electrical current, over the pretectal region while adult common toads viewed a moving prey-like object. The positive electrode contacted the right surface over the lateral posterodorsal nucleus, or Lpd.</a:t>
            </a:r>
            <a:endParaRPr sz="1800">
              <a:solidFill>
                <a:schemeClr val="dk1"/>
              </a:solidFill>
              <a:latin typeface="Calibri"/>
              <a:ea typeface="Calibri"/>
              <a:cs typeface="Calibri"/>
              <a:sym typeface="Calibri"/>
            </a:endParaRPr>
          </a:p>
        </p:txBody>
      </p:sp>
      <p:sp>
        <p:nvSpPr>
          <p:cNvPr id="571" name="Google Shape;571;p40"/>
          <p:cNvSpPr/>
          <p:nvPr/>
        </p:nvSpPr>
        <p:spPr>
          <a:xfrm>
            <a:off x="457200" y="2418308"/>
            <a:ext cx="5695950" cy="1194346"/>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3303A"/>
              </a:buClr>
              <a:buSzPts val="1425"/>
              <a:buFont typeface="Arial"/>
              <a:buNone/>
            </a:pPr>
            <a:r>
              <a:rPr b="0" i="0" lang="en-US" sz="1425">
                <a:solidFill>
                  <a:srgbClr val="23303A"/>
                </a:solidFill>
                <a:latin typeface="Arial"/>
                <a:ea typeface="Arial"/>
                <a:cs typeface="Arial"/>
                <a:sym typeface="Arial"/>
              </a:rPr>
              <a:t>A black cardboard object 3 cm long and 0.75 cm wide moved at approximately 2 cm/s around a viewing window. Both clockwise and anticlockwise movement were tested, providing opposite directions of visual motion while retaining the same physical object and chamber.</a:t>
            </a:r>
            <a:endParaRPr sz="1800">
              <a:solidFill>
                <a:schemeClr val="dk1"/>
              </a:solidFill>
              <a:latin typeface="Calibri"/>
              <a:ea typeface="Calibri"/>
              <a:cs typeface="Calibri"/>
              <a:sym typeface="Calibri"/>
            </a:endParaRPr>
          </a:p>
        </p:txBody>
      </p:sp>
      <p:sp>
        <p:nvSpPr>
          <p:cNvPr id="572" name="Google Shape;572;p40"/>
          <p:cNvSpPr/>
          <p:nvPr/>
        </p:nvSpPr>
        <p:spPr>
          <a:xfrm>
            <a:off x="457200" y="3765054"/>
            <a:ext cx="5695950" cy="1194346"/>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3303A"/>
              </a:buClr>
              <a:buSzPts val="1425"/>
              <a:buFont typeface="Arial"/>
              <a:buNone/>
            </a:pPr>
            <a:r>
              <a:rPr b="0" i="0" lang="en-US" sz="1425">
                <a:solidFill>
                  <a:srgbClr val="23303A"/>
                </a:solidFill>
                <a:latin typeface="Arial"/>
                <a:ea typeface="Arial"/>
                <a:cs typeface="Arial"/>
                <a:sym typeface="Arial"/>
              </a:rPr>
              <a:t>The experiment tested whether stimulation could bias an intact behaving animal away from prey approach and toward defensive actions. Surface current is not selective for one neuron class, and changes in behavior cannot alone establish whether a particular pretectal cell population increased its firing.</a:t>
            </a:r>
            <a:endParaRPr sz="1800">
              <a:solidFill>
                <a:schemeClr val="dk1"/>
              </a:solidFill>
              <a:latin typeface="Calibri"/>
              <a:ea typeface="Calibri"/>
              <a:cs typeface="Calibri"/>
              <a:sym typeface="Calibri"/>
            </a:endParaRPr>
          </a:p>
        </p:txBody>
      </p:sp>
      <p:pic>
        <p:nvPicPr>
          <p:cNvPr id="573" name="Google Shape;573;p40"/>
          <p:cNvPicPr preferRelativeResize="0"/>
          <p:nvPr/>
        </p:nvPicPr>
        <p:blipFill rotWithShape="1">
          <a:blip r:embed="rId3">
            <a:alphaModFix/>
          </a:blip>
          <a:srcRect b="0" l="0" r="0" t="0"/>
          <a:stretch/>
        </p:blipFill>
        <p:spPr>
          <a:xfrm>
            <a:off x="7654499" y="1071563"/>
            <a:ext cx="2902802" cy="2333625"/>
          </a:xfrm>
          <a:prstGeom prst="rect">
            <a:avLst/>
          </a:prstGeom>
          <a:noFill/>
          <a:ln>
            <a:noFill/>
          </a:ln>
        </p:spPr>
      </p:pic>
      <p:sp>
        <p:nvSpPr>
          <p:cNvPr id="574" name="Google Shape;574;p40"/>
          <p:cNvSpPr/>
          <p:nvPr/>
        </p:nvSpPr>
        <p:spPr>
          <a:xfrm>
            <a:off x="6477000" y="3481388"/>
            <a:ext cx="5276850" cy="285750"/>
          </a:xfrm>
          <a:prstGeom prst="rect">
            <a:avLst/>
          </a:prstGeom>
          <a:noFill/>
          <a:ln>
            <a:noFill/>
          </a:ln>
        </p:spPr>
        <p:txBody>
          <a:bodyPr anchorCtr="0" anchor="t" bIns="0" lIns="0" spcFirstLastPara="1" rIns="0" wrap="square" tIns="0">
            <a:normAutofit/>
          </a:bodyPr>
          <a:lstStyle/>
          <a:p>
            <a:pPr indent="0" lvl="0" marL="0" marR="0" rtl="0" algn="l">
              <a:lnSpc>
                <a:spcPct val="125000"/>
              </a:lnSpc>
              <a:spcBef>
                <a:spcPts val="0"/>
              </a:spcBef>
              <a:spcAft>
                <a:spcPts val="0"/>
              </a:spcAft>
              <a:buClr>
                <a:srgbClr val="23303A"/>
              </a:buClr>
              <a:buSzPts val="900"/>
              <a:buFont typeface="Arial"/>
              <a:buNone/>
            </a:pPr>
            <a:r>
              <a:rPr b="0" i="0" lang="en-US" sz="900">
                <a:solidFill>
                  <a:srgbClr val="23303A"/>
                </a:solidFill>
                <a:latin typeface="Arial"/>
                <a:ea typeface="Arial"/>
                <a:cs typeface="Arial"/>
                <a:sym typeface="Arial"/>
              </a:rPr>
              <a:t>McConville &amp; Laming (2007), Fig. 1. Original colored behavioral chamber for visual and electrical stimulation.</a:t>
            </a:r>
            <a:endParaRPr sz="1800">
              <a:solidFill>
                <a:schemeClr val="dk1"/>
              </a:solidFill>
              <a:latin typeface="Calibri"/>
              <a:ea typeface="Calibri"/>
              <a:cs typeface="Calibri"/>
              <a:sym typeface="Calibri"/>
            </a:endParaRPr>
          </a:p>
        </p:txBody>
      </p:sp>
      <p:pic>
        <p:nvPicPr>
          <p:cNvPr id="575" name="Google Shape;575;p40"/>
          <p:cNvPicPr preferRelativeResize="0"/>
          <p:nvPr/>
        </p:nvPicPr>
        <p:blipFill rotWithShape="1">
          <a:blip r:embed="rId4">
            <a:alphaModFix/>
          </a:blip>
          <a:srcRect b="0" l="0" r="0" t="0"/>
          <a:stretch/>
        </p:blipFill>
        <p:spPr>
          <a:xfrm>
            <a:off x="8197673" y="3938588"/>
            <a:ext cx="1816454" cy="1476375"/>
          </a:xfrm>
          <a:prstGeom prst="rect">
            <a:avLst/>
          </a:prstGeom>
          <a:noFill/>
          <a:ln>
            <a:noFill/>
          </a:ln>
        </p:spPr>
      </p:pic>
      <p:sp>
        <p:nvSpPr>
          <p:cNvPr id="576" name="Google Shape;576;p40"/>
          <p:cNvSpPr/>
          <p:nvPr/>
        </p:nvSpPr>
        <p:spPr>
          <a:xfrm>
            <a:off x="6477000" y="5491163"/>
            <a:ext cx="5276850" cy="142875"/>
          </a:xfrm>
          <a:prstGeom prst="rect">
            <a:avLst/>
          </a:prstGeom>
          <a:noFill/>
          <a:ln>
            <a:noFill/>
          </a:ln>
        </p:spPr>
        <p:txBody>
          <a:bodyPr anchorCtr="0" anchor="t" bIns="0" lIns="0" spcFirstLastPara="1" rIns="0" wrap="square" tIns="0">
            <a:normAutofit/>
          </a:bodyPr>
          <a:lstStyle/>
          <a:p>
            <a:pPr indent="0" lvl="0" marL="0" marR="0" rtl="0" algn="l">
              <a:lnSpc>
                <a:spcPct val="125000"/>
              </a:lnSpc>
              <a:spcBef>
                <a:spcPts val="0"/>
              </a:spcBef>
              <a:spcAft>
                <a:spcPts val="0"/>
              </a:spcAft>
              <a:buClr>
                <a:srgbClr val="23303A"/>
              </a:buClr>
              <a:buSzPts val="900"/>
              <a:buFont typeface="Arial"/>
              <a:buNone/>
            </a:pPr>
            <a:r>
              <a:rPr b="0" i="0" lang="en-US" sz="900">
                <a:solidFill>
                  <a:srgbClr val="23303A"/>
                </a:solidFill>
                <a:latin typeface="Arial"/>
                <a:ea typeface="Arial"/>
                <a:cs typeface="Arial"/>
                <a:sym typeface="Arial"/>
              </a:rPr>
              <a:t>McConville &amp; Laming (2007), Fig. 3. Lpd electrodes.</a:t>
            </a:r>
            <a:endParaRPr sz="1800">
              <a:solidFill>
                <a:schemeClr val="dk1"/>
              </a:solidFill>
              <a:latin typeface="Calibri"/>
              <a:ea typeface="Calibri"/>
              <a:cs typeface="Calibri"/>
              <a:sym typeface="Calibri"/>
            </a:endParaRPr>
          </a:p>
        </p:txBody>
      </p:sp>
      <p:pic>
        <p:nvPicPr>
          <p:cNvPr id="577" name="Google Shape;577;p40"/>
          <p:cNvPicPr preferRelativeResize="0"/>
          <p:nvPr/>
        </p:nvPicPr>
        <p:blipFill rotWithShape="1">
          <a:blip r:embed="rId5">
            <a:alphaModFix/>
          </a:blip>
          <a:srcRect b="0" l="0" r="0" t="0"/>
          <a:stretch/>
        </p:blipFill>
        <p:spPr>
          <a:xfrm>
            <a:off x="457200" y="6405563"/>
            <a:ext cx="11277600" cy="242888"/>
          </a:xfrm>
          <a:prstGeom prst="rect">
            <a:avLst/>
          </a:prstGeom>
          <a:noFill/>
          <a:ln>
            <a:noFill/>
          </a:ln>
        </p:spPr>
      </p:pic>
      <p:sp>
        <p:nvSpPr>
          <p:cNvPr id="578" name="Google Shape;578;p40"/>
          <p:cNvSpPr/>
          <p:nvPr/>
        </p:nvSpPr>
        <p:spPr>
          <a:xfrm>
            <a:off x="457200" y="6491288"/>
            <a:ext cx="1381125" cy="157163"/>
          </a:xfrm>
          <a:prstGeom prst="rect">
            <a:avLst/>
          </a:prstGeom>
          <a:noFill/>
          <a:ln>
            <a:noFill/>
          </a:ln>
        </p:spPr>
        <p:txBody>
          <a:bodyPr anchorCtr="0" anchor="t" bIns="0" lIns="0" spcFirstLastPara="1" rIns="0" wrap="square" tIns="0">
            <a:normAutofit/>
          </a:bodyPr>
          <a:lstStyle/>
          <a:p>
            <a:pPr indent="0" lvl="0" marL="0" marR="0" rtl="0" algn="l">
              <a:lnSpc>
                <a:spcPct val="150060"/>
              </a:lnSpc>
              <a:spcBef>
                <a:spcPts val="0"/>
              </a:spcBef>
              <a:spcAft>
                <a:spcPts val="0"/>
              </a:spcAft>
              <a:buClr>
                <a:srgbClr val="5F6E7A"/>
              </a:buClr>
              <a:buSzPts val="825"/>
              <a:buFont typeface="Arial"/>
              <a:buNone/>
            </a:pPr>
            <a:r>
              <a:rPr b="0" i="0" lang="en-US" sz="825">
                <a:solidFill>
                  <a:srgbClr val="5F6E7A"/>
                </a:solidFill>
                <a:latin typeface="Arial"/>
                <a:ea typeface="Arial"/>
                <a:cs typeface="Arial"/>
                <a:sym typeface="Arial"/>
              </a:rPr>
              <a:t>McConville &amp; Laming (2007)</a:t>
            </a:r>
            <a:endParaRPr sz="1800">
              <a:solidFill>
                <a:schemeClr val="dk1"/>
              </a:solidFill>
              <a:latin typeface="Calibri"/>
              <a:ea typeface="Calibri"/>
              <a:cs typeface="Calibri"/>
              <a:sym typeface="Calibri"/>
            </a:endParaRPr>
          </a:p>
        </p:txBody>
      </p:sp>
      <p:sp>
        <p:nvSpPr>
          <p:cNvPr id="579" name="Google Shape;579;p40"/>
          <p:cNvSpPr/>
          <p:nvPr/>
        </p:nvSpPr>
        <p:spPr>
          <a:xfrm>
            <a:off x="11614845" y="6491288"/>
            <a:ext cx="139005" cy="157163"/>
          </a:xfrm>
          <a:prstGeom prst="rect">
            <a:avLst/>
          </a:prstGeom>
          <a:noFill/>
          <a:ln>
            <a:noFill/>
          </a:ln>
        </p:spPr>
        <p:txBody>
          <a:bodyPr anchorCtr="0" anchor="t" bIns="0" lIns="0" spcFirstLastPara="1" rIns="0" wrap="square" tIns="0">
            <a:normAutofit/>
          </a:bodyPr>
          <a:lstStyle/>
          <a:p>
            <a:pPr indent="0" lvl="0" marL="0" marR="0" rtl="0" algn="l">
              <a:lnSpc>
                <a:spcPct val="150060"/>
              </a:lnSpc>
              <a:spcBef>
                <a:spcPts val="0"/>
              </a:spcBef>
              <a:spcAft>
                <a:spcPts val="0"/>
              </a:spcAft>
              <a:buClr>
                <a:srgbClr val="5F6E7A"/>
              </a:buClr>
              <a:buSzPts val="825"/>
              <a:buFont typeface="Arial"/>
              <a:buNone/>
            </a:pPr>
            <a:r>
              <a:rPr b="0" i="0" lang="en-US" sz="825">
                <a:solidFill>
                  <a:srgbClr val="5F6E7A"/>
                </a:solidFill>
                <a:latin typeface="Arial"/>
                <a:ea typeface="Arial"/>
                <a:cs typeface="Arial"/>
                <a:sym typeface="Arial"/>
              </a:rPr>
              <a:t>40</a:t>
            </a:r>
            <a:endParaRPr sz="1800">
              <a:solidFill>
                <a:schemeClr val="dk1"/>
              </a:solidFill>
              <a:latin typeface="Calibri"/>
              <a:ea typeface="Calibri"/>
              <a:cs typeface="Calibri"/>
              <a:sym typeface="Calibri"/>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83" name="Shape 583"/>
        <p:cNvGrpSpPr/>
        <p:nvPr/>
      </p:nvGrpSpPr>
      <p:grpSpPr>
        <a:xfrm>
          <a:off x="0" y="0"/>
          <a:ext cx="0" cy="0"/>
          <a:chOff x="0" y="0"/>
          <a:chExt cx="0" cy="0"/>
        </a:xfrm>
      </p:grpSpPr>
      <p:sp>
        <p:nvSpPr>
          <p:cNvPr id="584" name="Google Shape;584;p41"/>
          <p:cNvSpPr/>
          <p:nvPr/>
        </p:nvSpPr>
        <p:spPr>
          <a:xfrm>
            <a:off x="457200" y="457200"/>
            <a:ext cx="11296650" cy="328613"/>
          </a:xfrm>
          <a:prstGeom prst="rect">
            <a:avLst/>
          </a:prstGeom>
          <a:noFill/>
          <a:ln>
            <a:noFill/>
          </a:ln>
        </p:spPr>
        <p:txBody>
          <a:bodyPr anchorCtr="0" anchor="t" bIns="0" lIns="0" spcFirstLastPara="1" rIns="0" wrap="square" tIns="0">
            <a:normAutofit/>
          </a:bodyPr>
          <a:lstStyle/>
          <a:p>
            <a:pPr indent="0" lvl="0" marL="0" marR="0" rtl="0" algn="l">
              <a:lnSpc>
                <a:spcPct val="115022"/>
              </a:lnSpc>
              <a:spcBef>
                <a:spcPts val="0"/>
              </a:spcBef>
              <a:spcAft>
                <a:spcPts val="0"/>
              </a:spcAft>
              <a:buClr>
                <a:srgbClr val="35536B"/>
              </a:buClr>
              <a:buSzPts val="2250"/>
              <a:buFont typeface="Arial"/>
              <a:buNone/>
            </a:pPr>
            <a:r>
              <a:rPr b="1" i="0" lang="en-US" sz="2250">
                <a:solidFill>
                  <a:srgbClr val="35536B"/>
                </a:solidFill>
                <a:latin typeface="Arial"/>
                <a:ea typeface="Arial"/>
                <a:cs typeface="Arial"/>
                <a:sym typeface="Arial"/>
              </a:rPr>
              <a:t>Pretectal DC generally reduces approach</a:t>
            </a:r>
            <a:endParaRPr sz="1800">
              <a:solidFill>
                <a:schemeClr val="dk1"/>
              </a:solidFill>
              <a:latin typeface="Calibri"/>
              <a:ea typeface="Calibri"/>
              <a:cs typeface="Calibri"/>
              <a:sym typeface="Calibri"/>
            </a:endParaRPr>
          </a:p>
        </p:txBody>
      </p:sp>
      <p:sp>
        <p:nvSpPr>
          <p:cNvPr id="585" name="Google Shape;585;p41"/>
          <p:cNvSpPr/>
          <p:nvPr/>
        </p:nvSpPr>
        <p:spPr>
          <a:xfrm>
            <a:off x="457200" y="1071563"/>
            <a:ext cx="5695950" cy="955477"/>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3303A"/>
              </a:buClr>
              <a:buSzPts val="1425"/>
              <a:buFont typeface="Arial"/>
              <a:buNone/>
            </a:pPr>
            <a:r>
              <a:rPr b="0" i="0" lang="en-US" sz="1425">
                <a:solidFill>
                  <a:srgbClr val="23303A"/>
                </a:solidFill>
                <a:latin typeface="Arial"/>
                <a:ea typeface="Arial"/>
                <a:cs typeface="Arial"/>
                <a:sym typeface="Arial"/>
              </a:rPr>
              <a:t>The </a:t>
            </a:r>
            <a:r>
              <a:rPr b="1" i="0" lang="en-US" sz="1425">
                <a:solidFill>
                  <a:srgbClr val="23303A"/>
                </a:solidFill>
                <a:latin typeface="Arial"/>
                <a:ea typeface="Arial"/>
                <a:cs typeface="Arial"/>
                <a:sym typeface="Arial"/>
              </a:rPr>
              <a:t>approach</a:t>
            </a:r>
            <a:r>
              <a:rPr b="0" i="0" lang="en-US" sz="1425">
                <a:solidFill>
                  <a:srgbClr val="23303A"/>
                </a:solidFill>
                <a:latin typeface="Arial"/>
                <a:ea typeface="Arial"/>
                <a:cs typeface="Arial"/>
                <a:sym typeface="Arial"/>
              </a:rPr>
              <a:t> component of prey-catching was scored as forward movement toward the moving worm-like stimulus. McConville and Laming counted its occurrence while varying pretectal DC current and presenting the same 3 cm × 0.75 cm visual object.</a:t>
            </a:r>
            <a:endParaRPr sz="1800">
              <a:solidFill>
                <a:schemeClr val="dk1"/>
              </a:solidFill>
              <a:latin typeface="Calibri"/>
              <a:ea typeface="Calibri"/>
              <a:cs typeface="Calibri"/>
              <a:sym typeface="Calibri"/>
            </a:endParaRPr>
          </a:p>
        </p:txBody>
      </p:sp>
      <p:sp>
        <p:nvSpPr>
          <p:cNvPr id="586" name="Google Shape;586;p41"/>
          <p:cNvSpPr/>
          <p:nvPr/>
        </p:nvSpPr>
        <p:spPr>
          <a:xfrm>
            <a:off x="457200" y="2179439"/>
            <a:ext cx="5695950" cy="1194346"/>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3303A"/>
              </a:buClr>
              <a:buSzPts val="1425"/>
              <a:buFont typeface="Arial"/>
              <a:buNone/>
            </a:pPr>
            <a:r>
              <a:rPr b="0" i="0" lang="en-US" sz="1425">
                <a:solidFill>
                  <a:srgbClr val="23303A"/>
                </a:solidFill>
                <a:latin typeface="Arial"/>
                <a:ea typeface="Arial"/>
                <a:cs typeface="Arial"/>
                <a:sym typeface="Arial"/>
              </a:rPr>
              <a:t>Approach generally declined as current increased, with very low occurrence through much of the higher-current range. At 300 μA there was a small increase relative to the preceding high-current conditions. The published original color bars retain both directions of stimulus movement.</a:t>
            </a:r>
            <a:endParaRPr sz="1800">
              <a:solidFill>
                <a:schemeClr val="dk1"/>
              </a:solidFill>
              <a:latin typeface="Calibri"/>
              <a:ea typeface="Calibri"/>
              <a:cs typeface="Calibri"/>
              <a:sym typeface="Calibri"/>
            </a:endParaRPr>
          </a:p>
        </p:txBody>
      </p:sp>
      <p:sp>
        <p:nvSpPr>
          <p:cNvPr id="587" name="Google Shape;587;p41"/>
          <p:cNvSpPr/>
          <p:nvPr/>
        </p:nvSpPr>
        <p:spPr>
          <a:xfrm>
            <a:off x="457200" y="3526185"/>
            <a:ext cx="5695950" cy="1194346"/>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3303A"/>
              </a:buClr>
              <a:buSzPts val="1425"/>
              <a:buFont typeface="Arial"/>
              <a:buNone/>
            </a:pPr>
            <a:r>
              <a:rPr b="0" i="0" lang="en-US" sz="1425">
                <a:solidFill>
                  <a:srgbClr val="23303A"/>
                </a:solidFill>
                <a:latin typeface="Arial"/>
                <a:ea typeface="Arial"/>
                <a:cs typeface="Arial"/>
                <a:sym typeface="Arial"/>
              </a:rPr>
              <a:t>The overall reduction is consistent with a pretectal influence that restrains feeding-related actions. The nonmonotonic endpoint prevents describing the relation as a perfectly graded suppression, and an approach movement by itself does not establish the animal’s recognition of the object as edible.</a:t>
            </a:r>
            <a:endParaRPr sz="1800">
              <a:solidFill>
                <a:schemeClr val="dk1"/>
              </a:solidFill>
              <a:latin typeface="Calibri"/>
              <a:ea typeface="Calibri"/>
              <a:cs typeface="Calibri"/>
              <a:sym typeface="Calibri"/>
            </a:endParaRPr>
          </a:p>
        </p:txBody>
      </p:sp>
      <p:pic>
        <p:nvPicPr>
          <p:cNvPr id="588" name="Google Shape;588;p41"/>
          <p:cNvPicPr preferRelativeResize="0"/>
          <p:nvPr/>
        </p:nvPicPr>
        <p:blipFill rotWithShape="1">
          <a:blip r:embed="rId3">
            <a:alphaModFix/>
          </a:blip>
          <a:srcRect b="0" l="0" r="0" t="0"/>
          <a:stretch/>
        </p:blipFill>
        <p:spPr>
          <a:xfrm>
            <a:off x="6650355" y="1071563"/>
            <a:ext cx="2920365" cy="4171950"/>
          </a:xfrm>
          <a:prstGeom prst="rect">
            <a:avLst/>
          </a:prstGeom>
          <a:noFill/>
          <a:ln>
            <a:noFill/>
          </a:ln>
        </p:spPr>
      </p:pic>
      <p:sp>
        <p:nvSpPr>
          <p:cNvPr id="589" name="Google Shape;589;p41"/>
          <p:cNvSpPr/>
          <p:nvPr/>
        </p:nvSpPr>
        <p:spPr>
          <a:xfrm>
            <a:off x="6477000" y="5319713"/>
            <a:ext cx="3286125" cy="285750"/>
          </a:xfrm>
          <a:prstGeom prst="rect">
            <a:avLst/>
          </a:prstGeom>
          <a:noFill/>
          <a:ln>
            <a:noFill/>
          </a:ln>
        </p:spPr>
        <p:txBody>
          <a:bodyPr anchorCtr="0" anchor="t" bIns="0" lIns="0" spcFirstLastPara="1" rIns="0" wrap="square" tIns="0">
            <a:normAutofit/>
          </a:bodyPr>
          <a:lstStyle/>
          <a:p>
            <a:pPr indent="0" lvl="0" marL="0" marR="0" rtl="0" algn="l">
              <a:lnSpc>
                <a:spcPct val="125000"/>
              </a:lnSpc>
              <a:spcBef>
                <a:spcPts val="0"/>
              </a:spcBef>
              <a:spcAft>
                <a:spcPts val="0"/>
              </a:spcAft>
              <a:buClr>
                <a:srgbClr val="23303A"/>
              </a:buClr>
              <a:buSzPts val="900"/>
              <a:buFont typeface="Arial"/>
              <a:buNone/>
            </a:pPr>
            <a:r>
              <a:rPr b="0" i="0" lang="en-US" sz="900">
                <a:solidFill>
                  <a:srgbClr val="23303A"/>
                </a:solidFill>
                <a:latin typeface="Arial"/>
                <a:ea typeface="Arial"/>
                <a:cs typeface="Arial"/>
                <a:sym typeface="Arial"/>
              </a:rPr>
              <a:t>McConville &amp; Laming (2007), Fig. 5. Approach responses generally decline as DC current increases.</a:t>
            </a:r>
            <a:endParaRPr sz="1800">
              <a:solidFill>
                <a:schemeClr val="dk1"/>
              </a:solidFill>
              <a:latin typeface="Calibri"/>
              <a:ea typeface="Calibri"/>
              <a:cs typeface="Calibri"/>
              <a:sym typeface="Calibri"/>
            </a:endParaRPr>
          </a:p>
        </p:txBody>
      </p:sp>
      <p:pic>
        <p:nvPicPr>
          <p:cNvPr id="590" name="Google Shape;590;p41"/>
          <p:cNvPicPr preferRelativeResize="0"/>
          <p:nvPr/>
        </p:nvPicPr>
        <p:blipFill rotWithShape="1">
          <a:blip r:embed="rId4">
            <a:alphaModFix/>
          </a:blip>
          <a:srcRect b="0" l="0" r="0" t="0"/>
          <a:stretch/>
        </p:blipFill>
        <p:spPr>
          <a:xfrm>
            <a:off x="9896475" y="1681163"/>
            <a:ext cx="1838325" cy="1494151"/>
          </a:xfrm>
          <a:prstGeom prst="rect">
            <a:avLst/>
          </a:prstGeom>
          <a:noFill/>
          <a:ln>
            <a:noFill/>
          </a:ln>
        </p:spPr>
      </p:pic>
      <p:sp>
        <p:nvSpPr>
          <p:cNvPr id="591" name="Google Shape;591;p41"/>
          <p:cNvSpPr/>
          <p:nvPr/>
        </p:nvSpPr>
        <p:spPr>
          <a:xfrm>
            <a:off x="9896475" y="5091113"/>
            <a:ext cx="1857375" cy="285750"/>
          </a:xfrm>
          <a:prstGeom prst="rect">
            <a:avLst/>
          </a:prstGeom>
          <a:noFill/>
          <a:ln>
            <a:noFill/>
          </a:ln>
        </p:spPr>
        <p:txBody>
          <a:bodyPr anchorCtr="0" anchor="t" bIns="0" lIns="0" spcFirstLastPara="1" rIns="0" wrap="square" tIns="0">
            <a:normAutofit/>
          </a:bodyPr>
          <a:lstStyle/>
          <a:p>
            <a:pPr indent="0" lvl="0" marL="0" marR="0" rtl="0" algn="l">
              <a:lnSpc>
                <a:spcPct val="125000"/>
              </a:lnSpc>
              <a:spcBef>
                <a:spcPts val="0"/>
              </a:spcBef>
              <a:spcAft>
                <a:spcPts val="0"/>
              </a:spcAft>
              <a:buClr>
                <a:srgbClr val="23303A"/>
              </a:buClr>
              <a:buSzPts val="900"/>
              <a:buFont typeface="Arial"/>
              <a:buNone/>
            </a:pPr>
            <a:r>
              <a:rPr b="0" i="0" lang="en-US" sz="900">
                <a:solidFill>
                  <a:srgbClr val="23303A"/>
                </a:solidFill>
                <a:latin typeface="Arial"/>
                <a:ea typeface="Arial"/>
                <a:cs typeface="Arial"/>
                <a:sym typeface="Arial"/>
              </a:rPr>
              <a:t>McConville &amp; Laming (2007), Fig. 3. Lpd electrodes.</a:t>
            </a:r>
            <a:endParaRPr sz="1800">
              <a:solidFill>
                <a:schemeClr val="dk1"/>
              </a:solidFill>
              <a:latin typeface="Calibri"/>
              <a:ea typeface="Calibri"/>
              <a:cs typeface="Calibri"/>
              <a:sym typeface="Calibri"/>
            </a:endParaRPr>
          </a:p>
        </p:txBody>
      </p:sp>
      <p:pic>
        <p:nvPicPr>
          <p:cNvPr id="592" name="Google Shape;592;p41"/>
          <p:cNvPicPr preferRelativeResize="0"/>
          <p:nvPr/>
        </p:nvPicPr>
        <p:blipFill rotWithShape="1">
          <a:blip r:embed="rId5">
            <a:alphaModFix/>
          </a:blip>
          <a:srcRect b="0" l="0" r="0" t="0"/>
          <a:stretch/>
        </p:blipFill>
        <p:spPr>
          <a:xfrm>
            <a:off x="457200" y="6405563"/>
            <a:ext cx="11277600" cy="242888"/>
          </a:xfrm>
          <a:prstGeom prst="rect">
            <a:avLst/>
          </a:prstGeom>
          <a:noFill/>
          <a:ln>
            <a:noFill/>
          </a:ln>
        </p:spPr>
      </p:pic>
      <p:sp>
        <p:nvSpPr>
          <p:cNvPr id="593" name="Google Shape;593;p41"/>
          <p:cNvSpPr/>
          <p:nvPr/>
        </p:nvSpPr>
        <p:spPr>
          <a:xfrm>
            <a:off x="457200" y="6491288"/>
            <a:ext cx="1381125" cy="157163"/>
          </a:xfrm>
          <a:prstGeom prst="rect">
            <a:avLst/>
          </a:prstGeom>
          <a:noFill/>
          <a:ln>
            <a:noFill/>
          </a:ln>
        </p:spPr>
        <p:txBody>
          <a:bodyPr anchorCtr="0" anchor="t" bIns="0" lIns="0" spcFirstLastPara="1" rIns="0" wrap="square" tIns="0">
            <a:normAutofit/>
          </a:bodyPr>
          <a:lstStyle/>
          <a:p>
            <a:pPr indent="0" lvl="0" marL="0" marR="0" rtl="0" algn="l">
              <a:lnSpc>
                <a:spcPct val="150060"/>
              </a:lnSpc>
              <a:spcBef>
                <a:spcPts val="0"/>
              </a:spcBef>
              <a:spcAft>
                <a:spcPts val="0"/>
              </a:spcAft>
              <a:buClr>
                <a:srgbClr val="5F6E7A"/>
              </a:buClr>
              <a:buSzPts val="825"/>
              <a:buFont typeface="Arial"/>
              <a:buNone/>
            </a:pPr>
            <a:r>
              <a:rPr b="0" i="0" lang="en-US" sz="825">
                <a:solidFill>
                  <a:srgbClr val="5F6E7A"/>
                </a:solidFill>
                <a:latin typeface="Arial"/>
                <a:ea typeface="Arial"/>
                <a:cs typeface="Arial"/>
                <a:sym typeface="Arial"/>
              </a:rPr>
              <a:t>McConville &amp; Laming (2007)</a:t>
            </a:r>
            <a:endParaRPr sz="1800">
              <a:solidFill>
                <a:schemeClr val="dk1"/>
              </a:solidFill>
              <a:latin typeface="Calibri"/>
              <a:ea typeface="Calibri"/>
              <a:cs typeface="Calibri"/>
              <a:sym typeface="Calibri"/>
            </a:endParaRPr>
          </a:p>
        </p:txBody>
      </p:sp>
      <p:sp>
        <p:nvSpPr>
          <p:cNvPr id="594" name="Google Shape;594;p41"/>
          <p:cNvSpPr/>
          <p:nvPr/>
        </p:nvSpPr>
        <p:spPr>
          <a:xfrm>
            <a:off x="11614845" y="6491288"/>
            <a:ext cx="139005" cy="157163"/>
          </a:xfrm>
          <a:prstGeom prst="rect">
            <a:avLst/>
          </a:prstGeom>
          <a:noFill/>
          <a:ln>
            <a:noFill/>
          </a:ln>
        </p:spPr>
        <p:txBody>
          <a:bodyPr anchorCtr="0" anchor="t" bIns="0" lIns="0" spcFirstLastPara="1" rIns="0" wrap="square" tIns="0">
            <a:normAutofit/>
          </a:bodyPr>
          <a:lstStyle/>
          <a:p>
            <a:pPr indent="0" lvl="0" marL="0" marR="0" rtl="0" algn="l">
              <a:lnSpc>
                <a:spcPct val="150060"/>
              </a:lnSpc>
              <a:spcBef>
                <a:spcPts val="0"/>
              </a:spcBef>
              <a:spcAft>
                <a:spcPts val="0"/>
              </a:spcAft>
              <a:buClr>
                <a:srgbClr val="5F6E7A"/>
              </a:buClr>
              <a:buSzPts val="825"/>
              <a:buFont typeface="Arial"/>
              <a:buNone/>
            </a:pPr>
            <a:r>
              <a:rPr b="0" i="0" lang="en-US" sz="825">
                <a:solidFill>
                  <a:srgbClr val="5F6E7A"/>
                </a:solidFill>
                <a:latin typeface="Arial"/>
                <a:ea typeface="Arial"/>
                <a:cs typeface="Arial"/>
                <a:sym typeface="Arial"/>
              </a:rPr>
              <a:t>41</a:t>
            </a:r>
            <a:endParaRPr sz="1800">
              <a:solidFill>
                <a:schemeClr val="dk1"/>
              </a:solidFill>
              <a:latin typeface="Calibri"/>
              <a:ea typeface="Calibri"/>
              <a:cs typeface="Calibri"/>
              <a:sym typeface="Calibri"/>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98" name="Shape 598"/>
        <p:cNvGrpSpPr/>
        <p:nvPr/>
      </p:nvGrpSpPr>
      <p:grpSpPr>
        <a:xfrm>
          <a:off x="0" y="0"/>
          <a:ext cx="0" cy="0"/>
          <a:chOff x="0" y="0"/>
          <a:chExt cx="0" cy="0"/>
        </a:xfrm>
      </p:grpSpPr>
      <p:sp>
        <p:nvSpPr>
          <p:cNvPr id="599" name="Google Shape;599;p42"/>
          <p:cNvSpPr/>
          <p:nvPr/>
        </p:nvSpPr>
        <p:spPr>
          <a:xfrm>
            <a:off x="457200" y="457200"/>
            <a:ext cx="11296650" cy="328613"/>
          </a:xfrm>
          <a:prstGeom prst="rect">
            <a:avLst/>
          </a:prstGeom>
          <a:noFill/>
          <a:ln>
            <a:noFill/>
          </a:ln>
        </p:spPr>
        <p:txBody>
          <a:bodyPr anchorCtr="0" anchor="t" bIns="0" lIns="0" spcFirstLastPara="1" rIns="0" wrap="square" tIns="0">
            <a:normAutofit/>
          </a:bodyPr>
          <a:lstStyle/>
          <a:p>
            <a:pPr indent="0" lvl="0" marL="0" marR="0" rtl="0" algn="l">
              <a:lnSpc>
                <a:spcPct val="115022"/>
              </a:lnSpc>
              <a:spcBef>
                <a:spcPts val="0"/>
              </a:spcBef>
              <a:spcAft>
                <a:spcPts val="0"/>
              </a:spcAft>
              <a:buClr>
                <a:srgbClr val="35536B"/>
              </a:buClr>
              <a:buSzPts val="2250"/>
              <a:buFont typeface="Arial"/>
              <a:buNone/>
            </a:pPr>
            <a:r>
              <a:rPr b="1" i="0" lang="en-US" sz="2250">
                <a:solidFill>
                  <a:srgbClr val="35536B"/>
                </a:solidFill>
                <a:latin typeface="Arial"/>
                <a:ea typeface="Arial"/>
                <a:cs typeface="Arial"/>
                <a:sym typeface="Arial"/>
              </a:rPr>
              <a:t>Arousal persists when approach is reduced</a:t>
            </a:r>
            <a:endParaRPr sz="1800">
              <a:solidFill>
                <a:schemeClr val="dk1"/>
              </a:solidFill>
              <a:latin typeface="Calibri"/>
              <a:ea typeface="Calibri"/>
              <a:cs typeface="Calibri"/>
              <a:sym typeface="Calibri"/>
            </a:endParaRPr>
          </a:p>
        </p:txBody>
      </p:sp>
      <p:sp>
        <p:nvSpPr>
          <p:cNvPr id="600" name="Google Shape;600;p42"/>
          <p:cNvSpPr/>
          <p:nvPr/>
        </p:nvSpPr>
        <p:spPr>
          <a:xfrm>
            <a:off x="457200" y="1071563"/>
            <a:ext cx="5695950" cy="955477"/>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3303A"/>
              </a:buClr>
              <a:buSzPts val="1425"/>
              <a:buFont typeface="Arial"/>
              <a:buNone/>
            </a:pPr>
            <a:r>
              <a:rPr b="0" i="0" lang="en-US" sz="1425">
                <a:solidFill>
                  <a:srgbClr val="23303A"/>
                </a:solidFill>
                <a:latin typeface="Arial"/>
                <a:ea typeface="Arial"/>
                <a:cs typeface="Arial"/>
                <a:sym typeface="Arial"/>
              </a:rPr>
              <a:t>McConville and Laming distinguished </a:t>
            </a:r>
            <a:r>
              <a:rPr b="1" i="0" lang="en-US" sz="1425">
                <a:solidFill>
                  <a:srgbClr val="23303A"/>
                </a:solidFill>
                <a:latin typeface="Arial"/>
                <a:ea typeface="Arial"/>
                <a:cs typeface="Arial"/>
                <a:sym typeface="Arial"/>
              </a:rPr>
              <a:t>arousal</a:t>
            </a:r>
            <a:r>
              <a:rPr b="0" i="0" lang="en-US" sz="1425">
                <a:solidFill>
                  <a:srgbClr val="23303A"/>
                </a:solidFill>
                <a:latin typeface="Arial"/>
                <a:ea typeface="Arial"/>
                <a:cs typeface="Arial"/>
                <a:sym typeface="Arial"/>
              </a:rPr>
              <a:t>, extension of the head and forelimbs, from approach, retreat and crouching. These components separate detection-related activation from the particular direction of the animal’s subsequent movement.</a:t>
            </a:r>
            <a:endParaRPr sz="1800">
              <a:solidFill>
                <a:schemeClr val="dk1"/>
              </a:solidFill>
              <a:latin typeface="Calibri"/>
              <a:ea typeface="Calibri"/>
              <a:cs typeface="Calibri"/>
              <a:sym typeface="Calibri"/>
            </a:endParaRPr>
          </a:p>
        </p:txBody>
      </p:sp>
      <p:sp>
        <p:nvSpPr>
          <p:cNvPr id="601" name="Google Shape;601;p42"/>
          <p:cNvSpPr/>
          <p:nvPr/>
        </p:nvSpPr>
        <p:spPr>
          <a:xfrm>
            <a:off x="457200" y="2179439"/>
            <a:ext cx="5695950" cy="1194346"/>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3303A"/>
              </a:buClr>
              <a:buSzPts val="1425"/>
              <a:buFont typeface="Arial"/>
              <a:buNone/>
            </a:pPr>
            <a:r>
              <a:rPr b="0" i="0" lang="en-US" sz="1425">
                <a:solidFill>
                  <a:srgbClr val="23303A"/>
                </a:solidFill>
                <a:latin typeface="Arial"/>
                <a:ea typeface="Arial"/>
                <a:cs typeface="Arial"/>
                <a:sym typeface="Arial"/>
              </a:rPr>
              <a:t>Across the 0–300 μA DC range, arousal was relatively constant, although reductions occurred at 0.1 and 50 μA. Approach was reduced much more broadly as current increased. The animal could therefore remain behaviorally responsive while its prey-directed movement declined.</a:t>
            </a:r>
            <a:endParaRPr sz="1800">
              <a:solidFill>
                <a:schemeClr val="dk1"/>
              </a:solidFill>
              <a:latin typeface="Calibri"/>
              <a:ea typeface="Calibri"/>
              <a:cs typeface="Calibri"/>
              <a:sym typeface="Calibri"/>
            </a:endParaRPr>
          </a:p>
        </p:txBody>
      </p:sp>
      <p:sp>
        <p:nvSpPr>
          <p:cNvPr id="602" name="Google Shape;602;p42"/>
          <p:cNvSpPr/>
          <p:nvPr/>
        </p:nvSpPr>
        <p:spPr>
          <a:xfrm>
            <a:off x="457200" y="3526185"/>
            <a:ext cx="5695950" cy="1194346"/>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3303A"/>
              </a:buClr>
              <a:buSzPts val="1425"/>
              <a:buFont typeface="Arial"/>
              <a:buNone/>
            </a:pPr>
            <a:r>
              <a:rPr b="0" i="0" lang="en-US" sz="1425">
                <a:solidFill>
                  <a:srgbClr val="23303A"/>
                </a:solidFill>
                <a:latin typeface="Arial"/>
                <a:ea typeface="Arial"/>
                <a:cs typeface="Arial"/>
                <a:sym typeface="Arial"/>
              </a:rPr>
              <a:t>The dissociation argues against treating reduced approach as complete visual unresponsiveness or generalized paralysis. It does not prove that sensation was unchanged in every respect, and it does not establish whether current altered perception, action selection, motivation or several processes together.</a:t>
            </a:r>
            <a:endParaRPr sz="1800">
              <a:solidFill>
                <a:schemeClr val="dk1"/>
              </a:solidFill>
              <a:latin typeface="Calibri"/>
              <a:ea typeface="Calibri"/>
              <a:cs typeface="Calibri"/>
              <a:sym typeface="Calibri"/>
            </a:endParaRPr>
          </a:p>
        </p:txBody>
      </p:sp>
      <p:pic>
        <p:nvPicPr>
          <p:cNvPr id="603" name="Google Shape;603;p42"/>
          <p:cNvPicPr preferRelativeResize="0"/>
          <p:nvPr/>
        </p:nvPicPr>
        <p:blipFill rotWithShape="1">
          <a:blip r:embed="rId3">
            <a:alphaModFix/>
          </a:blip>
          <a:srcRect b="0" l="0" r="0" t="0"/>
          <a:stretch/>
        </p:blipFill>
        <p:spPr>
          <a:xfrm>
            <a:off x="6512071" y="1071563"/>
            <a:ext cx="3196932" cy="4171950"/>
          </a:xfrm>
          <a:prstGeom prst="rect">
            <a:avLst/>
          </a:prstGeom>
          <a:noFill/>
          <a:ln>
            <a:noFill/>
          </a:ln>
        </p:spPr>
      </p:pic>
      <p:sp>
        <p:nvSpPr>
          <p:cNvPr id="604" name="Google Shape;604;p42"/>
          <p:cNvSpPr/>
          <p:nvPr/>
        </p:nvSpPr>
        <p:spPr>
          <a:xfrm>
            <a:off x="6477000" y="5319713"/>
            <a:ext cx="3286125" cy="285750"/>
          </a:xfrm>
          <a:prstGeom prst="rect">
            <a:avLst/>
          </a:prstGeom>
          <a:noFill/>
          <a:ln>
            <a:noFill/>
          </a:ln>
        </p:spPr>
        <p:txBody>
          <a:bodyPr anchorCtr="0" anchor="t" bIns="0" lIns="0" spcFirstLastPara="1" rIns="0" wrap="square" tIns="0">
            <a:normAutofit/>
          </a:bodyPr>
          <a:lstStyle/>
          <a:p>
            <a:pPr indent="0" lvl="0" marL="0" marR="0" rtl="0" algn="l">
              <a:lnSpc>
                <a:spcPct val="125000"/>
              </a:lnSpc>
              <a:spcBef>
                <a:spcPts val="0"/>
              </a:spcBef>
              <a:spcAft>
                <a:spcPts val="0"/>
              </a:spcAft>
              <a:buClr>
                <a:srgbClr val="23303A"/>
              </a:buClr>
              <a:buSzPts val="900"/>
              <a:buFont typeface="Arial"/>
              <a:buNone/>
            </a:pPr>
            <a:r>
              <a:rPr b="0" i="0" lang="en-US" sz="900">
                <a:solidFill>
                  <a:srgbClr val="23303A"/>
                </a:solidFill>
                <a:latin typeface="Arial"/>
                <a:ea typeface="Arial"/>
                <a:cs typeface="Arial"/>
                <a:sym typeface="Arial"/>
              </a:rPr>
              <a:t>McConville &amp; Laming (2007), Fig. 4. Arousal remains relatively constant across the DC current range.</a:t>
            </a:r>
            <a:endParaRPr sz="1800">
              <a:solidFill>
                <a:schemeClr val="dk1"/>
              </a:solidFill>
              <a:latin typeface="Calibri"/>
              <a:ea typeface="Calibri"/>
              <a:cs typeface="Calibri"/>
              <a:sym typeface="Calibri"/>
            </a:endParaRPr>
          </a:p>
        </p:txBody>
      </p:sp>
      <p:pic>
        <p:nvPicPr>
          <p:cNvPr id="605" name="Google Shape;605;p42"/>
          <p:cNvPicPr preferRelativeResize="0"/>
          <p:nvPr/>
        </p:nvPicPr>
        <p:blipFill rotWithShape="1">
          <a:blip r:embed="rId4">
            <a:alphaModFix/>
          </a:blip>
          <a:srcRect b="0" l="0" r="0" t="0"/>
          <a:stretch/>
        </p:blipFill>
        <p:spPr>
          <a:xfrm>
            <a:off x="9896475" y="1681163"/>
            <a:ext cx="1838325" cy="1494151"/>
          </a:xfrm>
          <a:prstGeom prst="rect">
            <a:avLst/>
          </a:prstGeom>
          <a:noFill/>
          <a:ln>
            <a:noFill/>
          </a:ln>
        </p:spPr>
      </p:pic>
      <p:sp>
        <p:nvSpPr>
          <p:cNvPr id="606" name="Google Shape;606;p42"/>
          <p:cNvSpPr/>
          <p:nvPr/>
        </p:nvSpPr>
        <p:spPr>
          <a:xfrm>
            <a:off x="9896475" y="5091113"/>
            <a:ext cx="1857375" cy="285750"/>
          </a:xfrm>
          <a:prstGeom prst="rect">
            <a:avLst/>
          </a:prstGeom>
          <a:noFill/>
          <a:ln>
            <a:noFill/>
          </a:ln>
        </p:spPr>
        <p:txBody>
          <a:bodyPr anchorCtr="0" anchor="t" bIns="0" lIns="0" spcFirstLastPara="1" rIns="0" wrap="square" tIns="0">
            <a:normAutofit/>
          </a:bodyPr>
          <a:lstStyle/>
          <a:p>
            <a:pPr indent="0" lvl="0" marL="0" marR="0" rtl="0" algn="l">
              <a:lnSpc>
                <a:spcPct val="125000"/>
              </a:lnSpc>
              <a:spcBef>
                <a:spcPts val="0"/>
              </a:spcBef>
              <a:spcAft>
                <a:spcPts val="0"/>
              </a:spcAft>
              <a:buClr>
                <a:srgbClr val="23303A"/>
              </a:buClr>
              <a:buSzPts val="900"/>
              <a:buFont typeface="Arial"/>
              <a:buNone/>
            </a:pPr>
            <a:r>
              <a:rPr b="0" i="0" lang="en-US" sz="900">
                <a:solidFill>
                  <a:srgbClr val="23303A"/>
                </a:solidFill>
                <a:latin typeface="Arial"/>
                <a:ea typeface="Arial"/>
                <a:cs typeface="Arial"/>
                <a:sym typeface="Arial"/>
              </a:rPr>
              <a:t>McConville &amp; Laming (2007), Fig. 3. Lpd electrodes.</a:t>
            </a:r>
            <a:endParaRPr sz="1800">
              <a:solidFill>
                <a:schemeClr val="dk1"/>
              </a:solidFill>
              <a:latin typeface="Calibri"/>
              <a:ea typeface="Calibri"/>
              <a:cs typeface="Calibri"/>
              <a:sym typeface="Calibri"/>
            </a:endParaRPr>
          </a:p>
        </p:txBody>
      </p:sp>
      <p:pic>
        <p:nvPicPr>
          <p:cNvPr id="607" name="Google Shape;607;p42"/>
          <p:cNvPicPr preferRelativeResize="0"/>
          <p:nvPr/>
        </p:nvPicPr>
        <p:blipFill rotWithShape="1">
          <a:blip r:embed="rId5">
            <a:alphaModFix/>
          </a:blip>
          <a:srcRect b="0" l="0" r="0" t="0"/>
          <a:stretch/>
        </p:blipFill>
        <p:spPr>
          <a:xfrm>
            <a:off x="457200" y="6405563"/>
            <a:ext cx="11277600" cy="242888"/>
          </a:xfrm>
          <a:prstGeom prst="rect">
            <a:avLst/>
          </a:prstGeom>
          <a:noFill/>
          <a:ln>
            <a:noFill/>
          </a:ln>
        </p:spPr>
      </p:pic>
      <p:sp>
        <p:nvSpPr>
          <p:cNvPr id="608" name="Google Shape;608;p42"/>
          <p:cNvSpPr/>
          <p:nvPr/>
        </p:nvSpPr>
        <p:spPr>
          <a:xfrm>
            <a:off x="457200" y="6491288"/>
            <a:ext cx="1381125" cy="157163"/>
          </a:xfrm>
          <a:prstGeom prst="rect">
            <a:avLst/>
          </a:prstGeom>
          <a:noFill/>
          <a:ln>
            <a:noFill/>
          </a:ln>
        </p:spPr>
        <p:txBody>
          <a:bodyPr anchorCtr="0" anchor="t" bIns="0" lIns="0" spcFirstLastPara="1" rIns="0" wrap="square" tIns="0">
            <a:normAutofit/>
          </a:bodyPr>
          <a:lstStyle/>
          <a:p>
            <a:pPr indent="0" lvl="0" marL="0" marR="0" rtl="0" algn="l">
              <a:lnSpc>
                <a:spcPct val="150060"/>
              </a:lnSpc>
              <a:spcBef>
                <a:spcPts val="0"/>
              </a:spcBef>
              <a:spcAft>
                <a:spcPts val="0"/>
              </a:spcAft>
              <a:buClr>
                <a:srgbClr val="5F6E7A"/>
              </a:buClr>
              <a:buSzPts val="825"/>
              <a:buFont typeface="Arial"/>
              <a:buNone/>
            </a:pPr>
            <a:r>
              <a:rPr b="0" i="0" lang="en-US" sz="825">
                <a:solidFill>
                  <a:srgbClr val="5F6E7A"/>
                </a:solidFill>
                <a:latin typeface="Arial"/>
                <a:ea typeface="Arial"/>
                <a:cs typeface="Arial"/>
                <a:sym typeface="Arial"/>
              </a:rPr>
              <a:t>McConville &amp; Laming (2007)</a:t>
            </a:r>
            <a:endParaRPr sz="1800">
              <a:solidFill>
                <a:schemeClr val="dk1"/>
              </a:solidFill>
              <a:latin typeface="Calibri"/>
              <a:ea typeface="Calibri"/>
              <a:cs typeface="Calibri"/>
              <a:sym typeface="Calibri"/>
            </a:endParaRPr>
          </a:p>
        </p:txBody>
      </p:sp>
      <p:sp>
        <p:nvSpPr>
          <p:cNvPr id="609" name="Google Shape;609;p42"/>
          <p:cNvSpPr/>
          <p:nvPr/>
        </p:nvSpPr>
        <p:spPr>
          <a:xfrm>
            <a:off x="11614845" y="6491288"/>
            <a:ext cx="139005" cy="157163"/>
          </a:xfrm>
          <a:prstGeom prst="rect">
            <a:avLst/>
          </a:prstGeom>
          <a:noFill/>
          <a:ln>
            <a:noFill/>
          </a:ln>
        </p:spPr>
        <p:txBody>
          <a:bodyPr anchorCtr="0" anchor="t" bIns="0" lIns="0" spcFirstLastPara="1" rIns="0" wrap="square" tIns="0">
            <a:normAutofit/>
          </a:bodyPr>
          <a:lstStyle/>
          <a:p>
            <a:pPr indent="0" lvl="0" marL="0" marR="0" rtl="0" algn="l">
              <a:lnSpc>
                <a:spcPct val="150060"/>
              </a:lnSpc>
              <a:spcBef>
                <a:spcPts val="0"/>
              </a:spcBef>
              <a:spcAft>
                <a:spcPts val="0"/>
              </a:spcAft>
              <a:buClr>
                <a:srgbClr val="5F6E7A"/>
              </a:buClr>
              <a:buSzPts val="825"/>
              <a:buFont typeface="Arial"/>
              <a:buNone/>
            </a:pPr>
            <a:r>
              <a:rPr b="0" i="0" lang="en-US" sz="825">
                <a:solidFill>
                  <a:srgbClr val="5F6E7A"/>
                </a:solidFill>
                <a:latin typeface="Arial"/>
                <a:ea typeface="Arial"/>
                <a:cs typeface="Arial"/>
                <a:sym typeface="Arial"/>
              </a:rPr>
              <a:t>42</a:t>
            </a:r>
            <a:endParaRPr sz="1800">
              <a:solidFill>
                <a:schemeClr val="dk1"/>
              </a:solidFill>
              <a:latin typeface="Calibri"/>
              <a:ea typeface="Calibri"/>
              <a:cs typeface="Calibri"/>
              <a:sym typeface="Calibri"/>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13" name="Shape 613"/>
        <p:cNvGrpSpPr/>
        <p:nvPr/>
      </p:nvGrpSpPr>
      <p:grpSpPr>
        <a:xfrm>
          <a:off x="0" y="0"/>
          <a:ext cx="0" cy="0"/>
          <a:chOff x="0" y="0"/>
          <a:chExt cx="0" cy="0"/>
        </a:xfrm>
      </p:grpSpPr>
      <p:sp>
        <p:nvSpPr>
          <p:cNvPr id="614" name="Google Shape;614;p43"/>
          <p:cNvSpPr/>
          <p:nvPr/>
        </p:nvSpPr>
        <p:spPr>
          <a:xfrm>
            <a:off x="457200" y="457200"/>
            <a:ext cx="11296650" cy="328613"/>
          </a:xfrm>
          <a:prstGeom prst="rect">
            <a:avLst/>
          </a:prstGeom>
          <a:noFill/>
          <a:ln>
            <a:noFill/>
          </a:ln>
        </p:spPr>
        <p:txBody>
          <a:bodyPr anchorCtr="0" anchor="t" bIns="0" lIns="0" spcFirstLastPara="1" rIns="0" wrap="square" tIns="0">
            <a:normAutofit/>
          </a:bodyPr>
          <a:lstStyle/>
          <a:p>
            <a:pPr indent="0" lvl="0" marL="0" marR="0" rtl="0" algn="l">
              <a:lnSpc>
                <a:spcPct val="115022"/>
              </a:lnSpc>
              <a:spcBef>
                <a:spcPts val="0"/>
              </a:spcBef>
              <a:spcAft>
                <a:spcPts val="0"/>
              </a:spcAft>
              <a:buClr>
                <a:srgbClr val="35536B"/>
              </a:buClr>
              <a:buSzPts val="2250"/>
              <a:buFont typeface="Arial"/>
              <a:buNone/>
            </a:pPr>
            <a:r>
              <a:rPr b="1" i="0" lang="en-US" sz="2250">
                <a:solidFill>
                  <a:srgbClr val="35536B"/>
                </a:solidFill>
                <a:latin typeface="Arial"/>
                <a:ea typeface="Arial"/>
                <a:cs typeface="Arial"/>
                <a:sym typeface="Arial"/>
              </a:rPr>
              <a:t>High DC current recruits retreat</a:t>
            </a:r>
            <a:endParaRPr sz="1800">
              <a:solidFill>
                <a:schemeClr val="dk1"/>
              </a:solidFill>
              <a:latin typeface="Calibri"/>
              <a:ea typeface="Calibri"/>
              <a:cs typeface="Calibri"/>
              <a:sym typeface="Calibri"/>
            </a:endParaRPr>
          </a:p>
        </p:txBody>
      </p:sp>
      <p:sp>
        <p:nvSpPr>
          <p:cNvPr id="615" name="Google Shape;615;p43"/>
          <p:cNvSpPr/>
          <p:nvPr/>
        </p:nvSpPr>
        <p:spPr>
          <a:xfrm>
            <a:off x="457200" y="1071563"/>
            <a:ext cx="5695950" cy="955477"/>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3303A"/>
              </a:buClr>
              <a:buSzPts val="1425"/>
              <a:buFont typeface="Arial"/>
              <a:buNone/>
            </a:pPr>
            <a:r>
              <a:rPr b="1" i="0" lang="en-US" sz="1425">
                <a:solidFill>
                  <a:srgbClr val="23303A"/>
                </a:solidFill>
                <a:latin typeface="Arial"/>
                <a:ea typeface="Arial"/>
                <a:cs typeface="Arial"/>
                <a:sym typeface="Arial"/>
              </a:rPr>
              <a:t>Retreat</a:t>
            </a:r>
            <a:r>
              <a:rPr b="0" i="0" lang="en-US" sz="1425">
                <a:solidFill>
                  <a:srgbClr val="23303A"/>
                </a:solidFill>
                <a:latin typeface="Arial"/>
                <a:ea typeface="Arial"/>
                <a:cs typeface="Arial"/>
                <a:sym typeface="Arial"/>
              </a:rPr>
              <a:t> was scored as backward movement away from the worm-like stimulus. McConville and Laming presented that same prey-like object during each DC condition, allowing a defensive action to emerge without substituting a larger predator-shaped visual cue.</a:t>
            </a:r>
            <a:endParaRPr sz="1800">
              <a:solidFill>
                <a:schemeClr val="dk1"/>
              </a:solidFill>
              <a:latin typeface="Calibri"/>
              <a:ea typeface="Calibri"/>
              <a:cs typeface="Calibri"/>
              <a:sym typeface="Calibri"/>
            </a:endParaRPr>
          </a:p>
        </p:txBody>
      </p:sp>
      <p:sp>
        <p:nvSpPr>
          <p:cNvPr id="616" name="Google Shape;616;p43"/>
          <p:cNvSpPr/>
          <p:nvPr/>
        </p:nvSpPr>
        <p:spPr>
          <a:xfrm>
            <a:off x="457200" y="2179439"/>
            <a:ext cx="5695950" cy="1194346"/>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3303A"/>
              </a:buClr>
              <a:buSzPts val="1425"/>
              <a:buFont typeface="Arial"/>
              <a:buNone/>
            </a:pPr>
            <a:r>
              <a:rPr b="0" i="0" lang="en-US" sz="1425">
                <a:solidFill>
                  <a:srgbClr val="23303A"/>
                </a:solidFill>
                <a:latin typeface="Arial"/>
                <a:ea typeface="Arial"/>
                <a:cs typeface="Arial"/>
                <a:sym typeface="Arial"/>
              </a:rPr>
              <a:t>Retreat was not observed at currents below 100 μA in the reported experiment. It appeared at 100 μA and increased at 300 μA, in the same range where prey-related approach was generally reduced. Both directions of object movement were represented in the source data.</a:t>
            </a:r>
            <a:endParaRPr sz="1800">
              <a:solidFill>
                <a:schemeClr val="dk1"/>
              </a:solidFill>
              <a:latin typeface="Calibri"/>
              <a:ea typeface="Calibri"/>
              <a:cs typeface="Calibri"/>
              <a:sym typeface="Calibri"/>
            </a:endParaRPr>
          </a:p>
        </p:txBody>
      </p:sp>
      <p:sp>
        <p:nvSpPr>
          <p:cNvPr id="617" name="Google Shape;617;p43"/>
          <p:cNvSpPr/>
          <p:nvPr/>
        </p:nvSpPr>
        <p:spPr>
          <a:xfrm>
            <a:off x="457200" y="3526185"/>
            <a:ext cx="5695950" cy="955477"/>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3303A"/>
              </a:buClr>
              <a:buSzPts val="1425"/>
              <a:buFont typeface="Arial"/>
              <a:buNone/>
            </a:pPr>
            <a:r>
              <a:rPr b="0" i="0" lang="en-US" sz="1425">
                <a:solidFill>
                  <a:srgbClr val="23303A"/>
                </a:solidFill>
                <a:latin typeface="Arial"/>
                <a:ea typeface="Arial"/>
                <a:cs typeface="Arial"/>
                <a:sym typeface="Arial"/>
              </a:rPr>
              <a:t>The result supports a stimulation-dependent change in the action released by a constant visual stimulus. It does not show that the toad recognized an actual predator, and the current threshold should not be treated as a natural pretectal firing threshold.</a:t>
            </a:r>
            <a:endParaRPr sz="1800">
              <a:solidFill>
                <a:schemeClr val="dk1"/>
              </a:solidFill>
              <a:latin typeface="Calibri"/>
              <a:ea typeface="Calibri"/>
              <a:cs typeface="Calibri"/>
              <a:sym typeface="Calibri"/>
            </a:endParaRPr>
          </a:p>
        </p:txBody>
      </p:sp>
      <p:pic>
        <p:nvPicPr>
          <p:cNvPr id="618" name="Google Shape;618;p43"/>
          <p:cNvPicPr preferRelativeResize="0"/>
          <p:nvPr/>
        </p:nvPicPr>
        <p:blipFill rotWithShape="1">
          <a:blip r:embed="rId3">
            <a:alphaModFix/>
          </a:blip>
          <a:srcRect b="0" l="0" r="0" t="0"/>
          <a:stretch/>
        </p:blipFill>
        <p:spPr>
          <a:xfrm>
            <a:off x="6477000" y="1071563"/>
            <a:ext cx="3267075" cy="3794023"/>
          </a:xfrm>
          <a:prstGeom prst="rect">
            <a:avLst/>
          </a:prstGeom>
          <a:noFill/>
          <a:ln>
            <a:noFill/>
          </a:ln>
        </p:spPr>
      </p:pic>
      <p:sp>
        <p:nvSpPr>
          <p:cNvPr id="619" name="Google Shape;619;p43"/>
          <p:cNvSpPr/>
          <p:nvPr/>
        </p:nvSpPr>
        <p:spPr>
          <a:xfrm>
            <a:off x="6477000" y="5319713"/>
            <a:ext cx="3286125" cy="285750"/>
          </a:xfrm>
          <a:prstGeom prst="rect">
            <a:avLst/>
          </a:prstGeom>
          <a:noFill/>
          <a:ln>
            <a:noFill/>
          </a:ln>
        </p:spPr>
        <p:txBody>
          <a:bodyPr anchorCtr="0" anchor="t" bIns="0" lIns="0" spcFirstLastPara="1" rIns="0" wrap="square" tIns="0">
            <a:normAutofit/>
          </a:bodyPr>
          <a:lstStyle/>
          <a:p>
            <a:pPr indent="0" lvl="0" marL="0" marR="0" rtl="0" algn="l">
              <a:lnSpc>
                <a:spcPct val="125000"/>
              </a:lnSpc>
              <a:spcBef>
                <a:spcPts val="0"/>
              </a:spcBef>
              <a:spcAft>
                <a:spcPts val="0"/>
              </a:spcAft>
              <a:buClr>
                <a:srgbClr val="23303A"/>
              </a:buClr>
              <a:buSzPts val="900"/>
              <a:buFont typeface="Arial"/>
              <a:buNone/>
            </a:pPr>
            <a:r>
              <a:rPr b="0" i="0" lang="en-US" sz="900">
                <a:solidFill>
                  <a:srgbClr val="23303A"/>
                </a:solidFill>
                <a:latin typeface="Arial"/>
                <a:ea typeface="Arial"/>
                <a:cs typeface="Arial"/>
                <a:sym typeface="Arial"/>
              </a:rPr>
              <a:t>McConville &amp; Laming (2007), Fig. 6. Retreat occurs at 100 and 300 μA, with both directions of visual motion.</a:t>
            </a:r>
            <a:endParaRPr sz="1800">
              <a:solidFill>
                <a:schemeClr val="dk1"/>
              </a:solidFill>
              <a:latin typeface="Calibri"/>
              <a:ea typeface="Calibri"/>
              <a:cs typeface="Calibri"/>
              <a:sym typeface="Calibri"/>
            </a:endParaRPr>
          </a:p>
        </p:txBody>
      </p:sp>
      <p:pic>
        <p:nvPicPr>
          <p:cNvPr id="620" name="Google Shape;620;p43"/>
          <p:cNvPicPr preferRelativeResize="0"/>
          <p:nvPr/>
        </p:nvPicPr>
        <p:blipFill rotWithShape="1">
          <a:blip r:embed="rId4">
            <a:alphaModFix/>
          </a:blip>
          <a:srcRect b="0" l="0" r="0" t="0"/>
          <a:stretch/>
        </p:blipFill>
        <p:spPr>
          <a:xfrm>
            <a:off x="9896475" y="1681163"/>
            <a:ext cx="1838325" cy="1494151"/>
          </a:xfrm>
          <a:prstGeom prst="rect">
            <a:avLst/>
          </a:prstGeom>
          <a:noFill/>
          <a:ln>
            <a:noFill/>
          </a:ln>
        </p:spPr>
      </p:pic>
      <p:sp>
        <p:nvSpPr>
          <p:cNvPr id="621" name="Google Shape;621;p43"/>
          <p:cNvSpPr/>
          <p:nvPr/>
        </p:nvSpPr>
        <p:spPr>
          <a:xfrm>
            <a:off x="9896475" y="5091113"/>
            <a:ext cx="1857375" cy="285750"/>
          </a:xfrm>
          <a:prstGeom prst="rect">
            <a:avLst/>
          </a:prstGeom>
          <a:noFill/>
          <a:ln>
            <a:noFill/>
          </a:ln>
        </p:spPr>
        <p:txBody>
          <a:bodyPr anchorCtr="0" anchor="t" bIns="0" lIns="0" spcFirstLastPara="1" rIns="0" wrap="square" tIns="0">
            <a:normAutofit/>
          </a:bodyPr>
          <a:lstStyle/>
          <a:p>
            <a:pPr indent="0" lvl="0" marL="0" marR="0" rtl="0" algn="l">
              <a:lnSpc>
                <a:spcPct val="125000"/>
              </a:lnSpc>
              <a:spcBef>
                <a:spcPts val="0"/>
              </a:spcBef>
              <a:spcAft>
                <a:spcPts val="0"/>
              </a:spcAft>
              <a:buClr>
                <a:srgbClr val="23303A"/>
              </a:buClr>
              <a:buSzPts val="900"/>
              <a:buFont typeface="Arial"/>
              <a:buNone/>
            </a:pPr>
            <a:r>
              <a:rPr b="0" i="0" lang="en-US" sz="900">
                <a:solidFill>
                  <a:srgbClr val="23303A"/>
                </a:solidFill>
                <a:latin typeface="Arial"/>
                <a:ea typeface="Arial"/>
                <a:cs typeface="Arial"/>
                <a:sym typeface="Arial"/>
              </a:rPr>
              <a:t>McConville &amp; Laming (2007), Fig. 3. Lpd electrodes.</a:t>
            </a:r>
            <a:endParaRPr sz="1800">
              <a:solidFill>
                <a:schemeClr val="dk1"/>
              </a:solidFill>
              <a:latin typeface="Calibri"/>
              <a:ea typeface="Calibri"/>
              <a:cs typeface="Calibri"/>
              <a:sym typeface="Calibri"/>
            </a:endParaRPr>
          </a:p>
        </p:txBody>
      </p:sp>
      <p:pic>
        <p:nvPicPr>
          <p:cNvPr id="622" name="Google Shape;622;p43"/>
          <p:cNvPicPr preferRelativeResize="0"/>
          <p:nvPr/>
        </p:nvPicPr>
        <p:blipFill rotWithShape="1">
          <a:blip r:embed="rId5">
            <a:alphaModFix/>
          </a:blip>
          <a:srcRect b="0" l="0" r="0" t="0"/>
          <a:stretch/>
        </p:blipFill>
        <p:spPr>
          <a:xfrm>
            <a:off x="457200" y="6405563"/>
            <a:ext cx="11277600" cy="242888"/>
          </a:xfrm>
          <a:prstGeom prst="rect">
            <a:avLst/>
          </a:prstGeom>
          <a:noFill/>
          <a:ln>
            <a:noFill/>
          </a:ln>
        </p:spPr>
      </p:pic>
      <p:sp>
        <p:nvSpPr>
          <p:cNvPr id="623" name="Google Shape;623;p43"/>
          <p:cNvSpPr/>
          <p:nvPr/>
        </p:nvSpPr>
        <p:spPr>
          <a:xfrm>
            <a:off x="457200" y="6491288"/>
            <a:ext cx="1381125" cy="157163"/>
          </a:xfrm>
          <a:prstGeom prst="rect">
            <a:avLst/>
          </a:prstGeom>
          <a:noFill/>
          <a:ln>
            <a:noFill/>
          </a:ln>
        </p:spPr>
        <p:txBody>
          <a:bodyPr anchorCtr="0" anchor="t" bIns="0" lIns="0" spcFirstLastPara="1" rIns="0" wrap="square" tIns="0">
            <a:normAutofit/>
          </a:bodyPr>
          <a:lstStyle/>
          <a:p>
            <a:pPr indent="0" lvl="0" marL="0" marR="0" rtl="0" algn="l">
              <a:lnSpc>
                <a:spcPct val="150060"/>
              </a:lnSpc>
              <a:spcBef>
                <a:spcPts val="0"/>
              </a:spcBef>
              <a:spcAft>
                <a:spcPts val="0"/>
              </a:spcAft>
              <a:buClr>
                <a:srgbClr val="5F6E7A"/>
              </a:buClr>
              <a:buSzPts val="825"/>
              <a:buFont typeface="Arial"/>
              <a:buNone/>
            </a:pPr>
            <a:r>
              <a:rPr b="0" i="0" lang="en-US" sz="825">
                <a:solidFill>
                  <a:srgbClr val="5F6E7A"/>
                </a:solidFill>
                <a:latin typeface="Arial"/>
                <a:ea typeface="Arial"/>
                <a:cs typeface="Arial"/>
                <a:sym typeface="Arial"/>
              </a:rPr>
              <a:t>McConville &amp; Laming (2007)</a:t>
            </a:r>
            <a:endParaRPr sz="1800">
              <a:solidFill>
                <a:schemeClr val="dk1"/>
              </a:solidFill>
              <a:latin typeface="Calibri"/>
              <a:ea typeface="Calibri"/>
              <a:cs typeface="Calibri"/>
              <a:sym typeface="Calibri"/>
            </a:endParaRPr>
          </a:p>
        </p:txBody>
      </p:sp>
      <p:sp>
        <p:nvSpPr>
          <p:cNvPr id="624" name="Google Shape;624;p43"/>
          <p:cNvSpPr/>
          <p:nvPr/>
        </p:nvSpPr>
        <p:spPr>
          <a:xfrm>
            <a:off x="11614845" y="6491288"/>
            <a:ext cx="139005" cy="157163"/>
          </a:xfrm>
          <a:prstGeom prst="rect">
            <a:avLst/>
          </a:prstGeom>
          <a:noFill/>
          <a:ln>
            <a:noFill/>
          </a:ln>
        </p:spPr>
        <p:txBody>
          <a:bodyPr anchorCtr="0" anchor="t" bIns="0" lIns="0" spcFirstLastPara="1" rIns="0" wrap="square" tIns="0">
            <a:normAutofit/>
          </a:bodyPr>
          <a:lstStyle/>
          <a:p>
            <a:pPr indent="0" lvl="0" marL="0" marR="0" rtl="0" algn="l">
              <a:lnSpc>
                <a:spcPct val="150060"/>
              </a:lnSpc>
              <a:spcBef>
                <a:spcPts val="0"/>
              </a:spcBef>
              <a:spcAft>
                <a:spcPts val="0"/>
              </a:spcAft>
              <a:buClr>
                <a:srgbClr val="5F6E7A"/>
              </a:buClr>
              <a:buSzPts val="825"/>
              <a:buFont typeface="Arial"/>
              <a:buNone/>
            </a:pPr>
            <a:r>
              <a:rPr b="0" i="0" lang="en-US" sz="825">
                <a:solidFill>
                  <a:srgbClr val="5F6E7A"/>
                </a:solidFill>
                <a:latin typeface="Arial"/>
                <a:ea typeface="Arial"/>
                <a:cs typeface="Arial"/>
                <a:sym typeface="Arial"/>
              </a:rPr>
              <a:t>43</a:t>
            </a:r>
            <a:endParaRPr sz="1800">
              <a:solidFill>
                <a:schemeClr val="dk1"/>
              </a:solidFill>
              <a:latin typeface="Calibri"/>
              <a:ea typeface="Calibri"/>
              <a:cs typeface="Calibri"/>
              <a:sym typeface="Calibri"/>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28" name="Shape 628"/>
        <p:cNvGrpSpPr/>
        <p:nvPr/>
      </p:nvGrpSpPr>
      <p:grpSpPr>
        <a:xfrm>
          <a:off x="0" y="0"/>
          <a:ext cx="0" cy="0"/>
          <a:chOff x="0" y="0"/>
          <a:chExt cx="0" cy="0"/>
        </a:xfrm>
      </p:grpSpPr>
      <p:sp>
        <p:nvSpPr>
          <p:cNvPr id="629" name="Google Shape;629;p44"/>
          <p:cNvSpPr/>
          <p:nvPr/>
        </p:nvSpPr>
        <p:spPr>
          <a:xfrm>
            <a:off x="457200" y="457200"/>
            <a:ext cx="11296650" cy="328613"/>
          </a:xfrm>
          <a:prstGeom prst="rect">
            <a:avLst/>
          </a:prstGeom>
          <a:noFill/>
          <a:ln>
            <a:noFill/>
          </a:ln>
        </p:spPr>
        <p:txBody>
          <a:bodyPr anchorCtr="0" anchor="t" bIns="0" lIns="0" spcFirstLastPara="1" rIns="0" wrap="square" tIns="0">
            <a:normAutofit/>
          </a:bodyPr>
          <a:lstStyle/>
          <a:p>
            <a:pPr indent="0" lvl="0" marL="0" marR="0" rtl="0" algn="l">
              <a:lnSpc>
                <a:spcPct val="115022"/>
              </a:lnSpc>
              <a:spcBef>
                <a:spcPts val="0"/>
              </a:spcBef>
              <a:spcAft>
                <a:spcPts val="0"/>
              </a:spcAft>
              <a:buClr>
                <a:srgbClr val="35536B"/>
              </a:buClr>
              <a:buSzPts val="2250"/>
              <a:buFont typeface="Arial"/>
              <a:buNone/>
            </a:pPr>
            <a:r>
              <a:rPr b="1" i="0" lang="en-US" sz="2250">
                <a:solidFill>
                  <a:srgbClr val="35536B"/>
                </a:solidFill>
                <a:latin typeface="Arial"/>
                <a:ea typeface="Arial"/>
                <a:cs typeface="Arial"/>
                <a:sym typeface="Arial"/>
              </a:rPr>
              <a:t>High DC current also recruits crouching</a:t>
            </a:r>
            <a:endParaRPr sz="1800">
              <a:solidFill>
                <a:schemeClr val="dk1"/>
              </a:solidFill>
              <a:latin typeface="Calibri"/>
              <a:ea typeface="Calibri"/>
              <a:cs typeface="Calibri"/>
              <a:sym typeface="Calibri"/>
            </a:endParaRPr>
          </a:p>
        </p:txBody>
      </p:sp>
      <p:sp>
        <p:nvSpPr>
          <p:cNvPr id="630" name="Google Shape;630;p44"/>
          <p:cNvSpPr/>
          <p:nvPr/>
        </p:nvSpPr>
        <p:spPr>
          <a:xfrm>
            <a:off x="457200" y="1071563"/>
            <a:ext cx="5695950" cy="955477"/>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3303A"/>
              </a:buClr>
              <a:buSzPts val="1425"/>
              <a:buFont typeface="Arial"/>
              <a:buNone/>
            </a:pPr>
            <a:r>
              <a:rPr b="1" i="0" lang="en-US" sz="1425">
                <a:solidFill>
                  <a:srgbClr val="23303A"/>
                </a:solidFill>
                <a:latin typeface="Arial"/>
                <a:ea typeface="Arial"/>
                <a:cs typeface="Arial"/>
                <a:sym typeface="Arial"/>
              </a:rPr>
              <a:t>Crouching</a:t>
            </a:r>
            <a:r>
              <a:rPr b="0" i="0" lang="en-US" sz="1425">
                <a:solidFill>
                  <a:srgbClr val="23303A"/>
                </a:solidFill>
                <a:latin typeface="Arial"/>
                <a:ea typeface="Arial"/>
                <a:cs typeface="Arial"/>
                <a:sym typeface="Arial"/>
              </a:rPr>
              <a:t> was scored as lowering the head and shoulders rather than advancing toward the object. This posture is a defensive component distinct from retreat, which changes the animal’s position by moving backward.</a:t>
            </a:r>
            <a:endParaRPr sz="1800">
              <a:solidFill>
                <a:schemeClr val="dk1"/>
              </a:solidFill>
              <a:latin typeface="Calibri"/>
              <a:ea typeface="Calibri"/>
              <a:cs typeface="Calibri"/>
              <a:sym typeface="Calibri"/>
            </a:endParaRPr>
          </a:p>
        </p:txBody>
      </p:sp>
      <p:sp>
        <p:nvSpPr>
          <p:cNvPr id="631" name="Google Shape;631;p44"/>
          <p:cNvSpPr/>
          <p:nvPr/>
        </p:nvSpPr>
        <p:spPr>
          <a:xfrm>
            <a:off x="457200" y="2179439"/>
            <a:ext cx="5695950" cy="1194346"/>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3303A"/>
              </a:buClr>
              <a:buSzPts val="1425"/>
              <a:buFont typeface="Arial"/>
              <a:buNone/>
            </a:pPr>
            <a:r>
              <a:rPr b="0" i="0" lang="en-US" sz="1425">
                <a:solidFill>
                  <a:srgbClr val="23303A"/>
                </a:solidFill>
                <a:latin typeface="Arial"/>
                <a:ea typeface="Arial"/>
                <a:cs typeface="Arial"/>
                <a:sym typeface="Arial"/>
              </a:rPr>
              <a:t>McConville and Laming reported no crouching below 100 μA, followed by crouch responses at 100 and 300 μA. The same moving worm-like object was present, and high-current stimulation increased both this postural response and retreat while generally reducing approach.</a:t>
            </a:r>
            <a:endParaRPr sz="1800">
              <a:solidFill>
                <a:schemeClr val="dk1"/>
              </a:solidFill>
              <a:latin typeface="Calibri"/>
              <a:ea typeface="Calibri"/>
              <a:cs typeface="Calibri"/>
              <a:sym typeface="Calibri"/>
            </a:endParaRPr>
          </a:p>
        </p:txBody>
      </p:sp>
      <p:sp>
        <p:nvSpPr>
          <p:cNvPr id="632" name="Google Shape;632;p44"/>
          <p:cNvSpPr/>
          <p:nvPr/>
        </p:nvSpPr>
        <p:spPr>
          <a:xfrm>
            <a:off x="457200" y="3526185"/>
            <a:ext cx="5695950" cy="1194346"/>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3303A"/>
              </a:buClr>
              <a:buSzPts val="1425"/>
              <a:buFont typeface="Arial"/>
              <a:buNone/>
            </a:pPr>
            <a:r>
              <a:rPr b="0" i="0" lang="en-US" sz="1425">
                <a:solidFill>
                  <a:srgbClr val="23303A"/>
                </a:solidFill>
                <a:latin typeface="Arial"/>
                <a:ea typeface="Arial"/>
                <a:cs typeface="Arial"/>
                <a:sym typeface="Arial"/>
              </a:rPr>
              <a:t>The coordinated behavioral changes support a shift toward defensive responding rather than a simple uniform reduction of all movement. They do not establish that the pretectal Lpd region contains a single command neuron for crouching or that current selectively activated a naturally defined predator pathway.</a:t>
            </a:r>
            <a:endParaRPr sz="1800">
              <a:solidFill>
                <a:schemeClr val="dk1"/>
              </a:solidFill>
              <a:latin typeface="Calibri"/>
              <a:ea typeface="Calibri"/>
              <a:cs typeface="Calibri"/>
              <a:sym typeface="Calibri"/>
            </a:endParaRPr>
          </a:p>
        </p:txBody>
      </p:sp>
      <p:pic>
        <p:nvPicPr>
          <p:cNvPr id="633" name="Google Shape;633;p44"/>
          <p:cNvPicPr preferRelativeResize="0"/>
          <p:nvPr/>
        </p:nvPicPr>
        <p:blipFill rotWithShape="1">
          <a:blip r:embed="rId3">
            <a:alphaModFix/>
          </a:blip>
          <a:srcRect b="0" l="0" r="0" t="0"/>
          <a:stretch/>
        </p:blipFill>
        <p:spPr>
          <a:xfrm>
            <a:off x="6477000" y="1071563"/>
            <a:ext cx="3267075" cy="3806811"/>
          </a:xfrm>
          <a:prstGeom prst="rect">
            <a:avLst/>
          </a:prstGeom>
          <a:noFill/>
          <a:ln>
            <a:noFill/>
          </a:ln>
        </p:spPr>
      </p:pic>
      <p:sp>
        <p:nvSpPr>
          <p:cNvPr id="634" name="Google Shape;634;p44"/>
          <p:cNvSpPr/>
          <p:nvPr/>
        </p:nvSpPr>
        <p:spPr>
          <a:xfrm>
            <a:off x="6477000" y="5319713"/>
            <a:ext cx="3286125" cy="285750"/>
          </a:xfrm>
          <a:prstGeom prst="rect">
            <a:avLst/>
          </a:prstGeom>
          <a:noFill/>
          <a:ln>
            <a:noFill/>
          </a:ln>
        </p:spPr>
        <p:txBody>
          <a:bodyPr anchorCtr="0" anchor="t" bIns="0" lIns="0" spcFirstLastPara="1" rIns="0" wrap="square" tIns="0">
            <a:normAutofit/>
          </a:bodyPr>
          <a:lstStyle/>
          <a:p>
            <a:pPr indent="0" lvl="0" marL="0" marR="0" rtl="0" algn="l">
              <a:lnSpc>
                <a:spcPct val="125000"/>
              </a:lnSpc>
              <a:spcBef>
                <a:spcPts val="0"/>
              </a:spcBef>
              <a:spcAft>
                <a:spcPts val="0"/>
              </a:spcAft>
              <a:buClr>
                <a:srgbClr val="23303A"/>
              </a:buClr>
              <a:buSzPts val="900"/>
              <a:buFont typeface="Arial"/>
              <a:buNone/>
            </a:pPr>
            <a:r>
              <a:rPr b="0" i="0" lang="en-US" sz="900">
                <a:solidFill>
                  <a:srgbClr val="23303A"/>
                </a:solidFill>
                <a:latin typeface="Arial"/>
                <a:ea typeface="Arial"/>
                <a:cs typeface="Arial"/>
                <a:sym typeface="Arial"/>
              </a:rPr>
              <a:t>McConville &amp; Laming (2007), Fig. 7. Crouch responses emerge at high DC currents.</a:t>
            </a:r>
            <a:endParaRPr sz="1800">
              <a:solidFill>
                <a:schemeClr val="dk1"/>
              </a:solidFill>
              <a:latin typeface="Calibri"/>
              <a:ea typeface="Calibri"/>
              <a:cs typeface="Calibri"/>
              <a:sym typeface="Calibri"/>
            </a:endParaRPr>
          </a:p>
        </p:txBody>
      </p:sp>
      <p:pic>
        <p:nvPicPr>
          <p:cNvPr id="635" name="Google Shape;635;p44"/>
          <p:cNvPicPr preferRelativeResize="0"/>
          <p:nvPr/>
        </p:nvPicPr>
        <p:blipFill rotWithShape="1">
          <a:blip r:embed="rId4">
            <a:alphaModFix/>
          </a:blip>
          <a:srcRect b="0" l="0" r="0" t="0"/>
          <a:stretch/>
        </p:blipFill>
        <p:spPr>
          <a:xfrm>
            <a:off x="9896475" y="1681163"/>
            <a:ext cx="1838325" cy="1494151"/>
          </a:xfrm>
          <a:prstGeom prst="rect">
            <a:avLst/>
          </a:prstGeom>
          <a:noFill/>
          <a:ln>
            <a:noFill/>
          </a:ln>
        </p:spPr>
      </p:pic>
      <p:sp>
        <p:nvSpPr>
          <p:cNvPr id="636" name="Google Shape;636;p44"/>
          <p:cNvSpPr/>
          <p:nvPr/>
        </p:nvSpPr>
        <p:spPr>
          <a:xfrm>
            <a:off x="9896475" y="5091113"/>
            <a:ext cx="1857375" cy="285750"/>
          </a:xfrm>
          <a:prstGeom prst="rect">
            <a:avLst/>
          </a:prstGeom>
          <a:noFill/>
          <a:ln>
            <a:noFill/>
          </a:ln>
        </p:spPr>
        <p:txBody>
          <a:bodyPr anchorCtr="0" anchor="t" bIns="0" lIns="0" spcFirstLastPara="1" rIns="0" wrap="square" tIns="0">
            <a:normAutofit/>
          </a:bodyPr>
          <a:lstStyle/>
          <a:p>
            <a:pPr indent="0" lvl="0" marL="0" marR="0" rtl="0" algn="l">
              <a:lnSpc>
                <a:spcPct val="125000"/>
              </a:lnSpc>
              <a:spcBef>
                <a:spcPts val="0"/>
              </a:spcBef>
              <a:spcAft>
                <a:spcPts val="0"/>
              </a:spcAft>
              <a:buClr>
                <a:srgbClr val="23303A"/>
              </a:buClr>
              <a:buSzPts val="900"/>
              <a:buFont typeface="Arial"/>
              <a:buNone/>
            </a:pPr>
            <a:r>
              <a:rPr b="0" i="0" lang="en-US" sz="900">
                <a:solidFill>
                  <a:srgbClr val="23303A"/>
                </a:solidFill>
                <a:latin typeface="Arial"/>
                <a:ea typeface="Arial"/>
                <a:cs typeface="Arial"/>
                <a:sym typeface="Arial"/>
              </a:rPr>
              <a:t>McConville &amp; Laming (2007), Fig. 3. Lpd electrodes.</a:t>
            </a:r>
            <a:endParaRPr sz="1800">
              <a:solidFill>
                <a:schemeClr val="dk1"/>
              </a:solidFill>
              <a:latin typeface="Calibri"/>
              <a:ea typeface="Calibri"/>
              <a:cs typeface="Calibri"/>
              <a:sym typeface="Calibri"/>
            </a:endParaRPr>
          </a:p>
        </p:txBody>
      </p:sp>
      <p:pic>
        <p:nvPicPr>
          <p:cNvPr id="637" name="Google Shape;637;p44"/>
          <p:cNvPicPr preferRelativeResize="0"/>
          <p:nvPr/>
        </p:nvPicPr>
        <p:blipFill rotWithShape="1">
          <a:blip r:embed="rId5">
            <a:alphaModFix/>
          </a:blip>
          <a:srcRect b="0" l="0" r="0" t="0"/>
          <a:stretch/>
        </p:blipFill>
        <p:spPr>
          <a:xfrm>
            <a:off x="457200" y="6405563"/>
            <a:ext cx="11277600" cy="242888"/>
          </a:xfrm>
          <a:prstGeom prst="rect">
            <a:avLst/>
          </a:prstGeom>
          <a:noFill/>
          <a:ln>
            <a:noFill/>
          </a:ln>
        </p:spPr>
      </p:pic>
      <p:sp>
        <p:nvSpPr>
          <p:cNvPr id="638" name="Google Shape;638;p44"/>
          <p:cNvSpPr/>
          <p:nvPr/>
        </p:nvSpPr>
        <p:spPr>
          <a:xfrm>
            <a:off x="457200" y="6491288"/>
            <a:ext cx="1381125" cy="157163"/>
          </a:xfrm>
          <a:prstGeom prst="rect">
            <a:avLst/>
          </a:prstGeom>
          <a:noFill/>
          <a:ln>
            <a:noFill/>
          </a:ln>
        </p:spPr>
        <p:txBody>
          <a:bodyPr anchorCtr="0" anchor="t" bIns="0" lIns="0" spcFirstLastPara="1" rIns="0" wrap="square" tIns="0">
            <a:normAutofit/>
          </a:bodyPr>
          <a:lstStyle/>
          <a:p>
            <a:pPr indent="0" lvl="0" marL="0" marR="0" rtl="0" algn="l">
              <a:lnSpc>
                <a:spcPct val="150060"/>
              </a:lnSpc>
              <a:spcBef>
                <a:spcPts val="0"/>
              </a:spcBef>
              <a:spcAft>
                <a:spcPts val="0"/>
              </a:spcAft>
              <a:buClr>
                <a:srgbClr val="5F6E7A"/>
              </a:buClr>
              <a:buSzPts val="825"/>
              <a:buFont typeface="Arial"/>
              <a:buNone/>
            </a:pPr>
            <a:r>
              <a:rPr b="0" i="0" lang="en-US" sz="825">
                <a:solidFill>
                  <a:srgbClr val="5F6E7A"/>
                </a:solidFill>
                <a:latin typeface="Arial"/>
                <a:ea typeface="Arial"/>
                <a:cs typeface="Arial"/>
                <a:sym typeface="Arial"/>
              </a:rPr>
              <a:t>McConville &amp; Laming (2007)</a:t>
            </a:r>
            <a:endParaRPr sz="1800">
              <a:solidFill>
                <a:schemeClr val="dk1"/>
              </a:solidFill>
              <a:latin typeface="Calibri"/>
              <a:ea typeface="Calibri"/>
              <a:cs typeface="Calibri"/>
              <a:sym typeface="Calibri"/>
            </a:endParaRPr>
          </a:p>
        </p:txBody>
      </p:sp>
      <p:sp>
        <p:nvSpPr>
          <p:cNvPr id="639" name="Google Shape;639;p44"/>
          <p:cNvSpPr/>
          <p:nvPr/>
        </p:nvSpPr>
        <p:spPr>
          <a:xfrm>
            <a:off x="11614845" y="6491288"/>
            <a:ext cx="139005" cy="157163"/>
          </a:xfrm>
          <a:prstGeom prst="rect">
            <a:avLst/>
          </a:prstGeom>
          <a:noFill/>
          <a:ln>
            <a:noFill/>
          </a:ln>
        </p:spPr>
        <p:txBody>
          <a:bodyPr anchorCtr="0" anchor="t" bIns="0" lIns="0" spcFirstLastPara="1" rIns="0" wrap="square" tIns="0">
            <a:normAutofit/>
          </a:bodyPr>
          <a:lstStyle/>
          <a:p>
            <a:pPr indent="0" lvl="0" marL="0" marR="0" rtl="0" algn="l">
              <a:lnSpc>
                <a:spcPct val="150060"/>
              </a:lnSpc>
              <a:spcBef>
                <a:spcPts val="0"/>
              </a:spcBef>
              <a:spcAft>
                <a:spcPts val="0"/>
              </a:spcAft>
              <a:buClr>
                <a:srgbClr val="5F6E7A"/>
              </a:buClr>
              <a:buSzPts val="825"/>
              <a:buFont typeface="Arial"/>
              <a:buNone/>
            </a:pPr>
            <a:r>
              <a:rPr b="0" i="0" lang="en-US" sz="825">
                <a:solidFill>
                  <a:srgbClr val="5F6E7A"/>
                </a:solidFill>
                <a:latin typeface="Arial"/>
                <a:ea typeface="Arial"/>
                <a:cs typeface="Arial"/>
                <a:sym typeface="Arial"/>
              </a:rPr>
              <a:t>44</a:t>
            </a:r>
            <a:endParaRPr sz="1800">
              <a:solidFill>
                <a:schemeClr val="dk1"/>
              </a:solidFill>
              <a:latin typeface="Calibri"/>
              <a:ea typeface="Calibri"/>
              <a:cs typeface="Calibri"/>
              <a:sym typeface="Calibri"/>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43" name="Shape 643"/>
        <p:cNvGrpSpPr/>
        <p:nvPr/>
      </p:nvGrpSpPr>
      <p:grpSpPr>
        <a:xfrm>
          <a:off x="0" y="0"/>
          <a:ext cx="0" cy="0"/>
          <a:chOff x="0" y="0"/>
          <a:chExt cx="0" cy="0"/>
        </a:xfrm>
      </p:grpSpPr>
      <p:sp>
        <p:nvSpPr>
          <p:cNvPr id="644" name="Google Shape;644;p45"/>
          <p:cNvSpPr/>
          <p:nvPr/>
        </p:nvSpPr>
        <p:spPr>
          <a:xfrm>
            <a:off x="457200" y="457200"/>
            <a:ext cx="11296650" cy="328613"/>
          </a:xfrm>
          <a:prstGeom prst="rect">
            <a:avLst/>
          </a:prstGeom>
          <a:noFill/>
          <a:ln>
            <a:noFill/>
          </a:ln>
        </p:spPr>
        <p:txBody>
          <a:bodyPr anchorCtr="0" anchor="t" bIns="0" lIns="0" spcFirstLastPara="1" rIns="0" wrap="square" tIns="0">
            <a:normAutofit/>
          </a:bodyPr>
          <a:lstStyle/>
          <a:p>
            <a:pPr indent="0" lvl="0" marL="0" marR="0" rtl="0" algn="l">
              <a:lnSpc>
                <a:spcPct val="115022"/>
              </a:lnSpc>
              <a:spcBef>
                <a:spcPts val="0"/>
              </a:spcBef>
              <a:spcAft>
                <a:spcPts val="0"/>
              </a:spcAft>
              <a:buClr>
                <a:srgbClr val="35536B"/>
              </a:buClr>
              <a:buSzPts val="2250"/>
              <a:buFont typeface="Arial"/>
              <a:buNone/>
            </a:pPr>
            <a:r>
              <a:rPr b="1" i="0" lang="en-US" sz="2250">
                <a:solidFill>
                  <a:srgbClr val="35536B"/>
                </a:solidFill>
                <a:latin typeface="Arial"/>
                <a:ea typeface="Arial"/>
                <a:cs typeface="Arial"/>
                <a:sym typeface="Arial"/>
              </a:rPr>
              <a:t>Glial potassium modulation remains a proposed mechanism</a:t>
            </a:r>
            <a:endParaRPr sz="1800">
              <a:solidFill>
                <a:schemeClr val="dk1"/>
              </a:solidFill>
              <a:latin typeface="Calibri"/>
              <a:ea typeface="Calibri"/>
              <a:cs typeface="Calibri"/>
              <a:sym typeface="Calibri"/>
            </a:endParaRPr>
          </a:p>
        </p:txBody>
      </p:sp>
      <p:sp>
        <p:nvSpPr>
          <p:cNvPr id="645" name="Google Shape;645;p45"/>
          <p:cNvSpPr/>
          <p:nvPr/>
        </p:nvSpPr>
        <p:spPr>
          <a:xfrm>
            <a:off x="457200" y="1071563"/>
            <a:ext cx="5695950" cy="1194346"/>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3303A"/>
              </a:buClr>
              <a:buSzPts val="1425"/>
              <a:buFont typeface="Arial"/>
              <a:buNone/>
            </a:pPr>
            <a:r>
              <a:rPr b="0" i="0" lang="en-US" sz="1425">
                <a:solidFill>
                  <a:srgbClr val="23303A"/>
                </a:solidFill>
                <a:latin typeface="Arial"/>
                <a:ea typeface="Arial"/>
                <a:cs typeface="Arial"/>
                <a:sym typeface="Arial"/>
              </a:rPr>
              <a:t>McConville and Laming proposed that DC stimulation could generate slow potential shifts associated with redistribution of potassium ions. </a:t>
            </a:r>
            <a:r>
              <a:rPr b="1" i="0" lang="en-US" sz="1425">
                <a:solidFill>
                  <a:srgbClr val="23303A"/>
                </a:solidFill>
                <a:latin typeface="Arial"/>
                <a:ea typeface="Arial"/>
                <a:cs typeface="Arial"/>
                <a:sym typeface="Arial"/>
              </a:rPr>
              <a:t>Glia</a:t>
            </a:r>
            <a:r>
              <a:rPr b="0" i="0" lang="en-US" sz="1425">
                <a:solidFill>
                  <a:srgbClr val="23303A"/>
                </a:solidFill>
                <a:latin typeface="Arial"/>
                <a:ea typeface="Arial"/>
                <a:cs typeface="Arial"/>
                <a:sym typeface="Arial"/>
              </a:rPr>
              <a:t> are non-neuronal cells that regulate the environment around neurons; their discussion emphasized radial glial processes in amphibian tissue.</a:t>
            </a:r>
            <a:endParaRPr sz="1800">
              <a:solidFill>
                <a:schemeClr val="dk1"/>
              </a:solidFill>
              <a:latin typeface="Calibri"/>
              <a:ea typeface="Calibri"/>
              <a:cs typeface="Calibri"/>
              <a:sym typeface="Calibri"/>
            </a:endParaRPr>
          </a:p>
        </p:txBody>
      </p:sp>
      <p:sp>
        <p:nvSpPr>
          <p:cNvPr id="646" name="Google Shape;646;p45"/>
          <p:cNvSpPr/>
          <p:nvPr/>
        </p:nvSpPr>
        <p:spPr>
          <a:xfrm>
            <a:off x="457200" y="2418308"/>
            <a:ext cx="5695950" cy="1433215"/>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3303A"/>
              </a:buClr>
              <a:buSzPts val="1425"/>
              <a:buFont typeface="Arial"/>
              <a:buNone/>
            </a:pPr>
            <a:r>
              <a:rPr b="0" i="0" lang="en-US" sz="1425">
                <a:solidFill>
                  <a:srgbClr val="23303A"/>
                </a:solidFill>
                <a:latin typeface="Arial"/>
                <a:ea typeface="Arial"/>
                <a:cs typeface="Arial"/>
                <a:sym typeface="Arial"/>
              </a:rPr>
              <a:t>Increasing extracellular potassium can bring neuronal membrane voltage closer to spike threshold and thereby increase excitability. The authors suggested that such modulation might prime pretectal nonprey-responsive cells and increase restraint of tectal feeding-related activity. Their behavioral effect included crouching only at currents of 100 μA and above.</a:t>
            </a:r>
            <a:endParaRPr sz="1800">
              <a:solidFill>
                <a:schemeClr val="dk1"/>
              </a:solidFill>
              <a:latin typeface="Calibri"/>
              <a:ea typeface="Calibri"/>
              <a:cs typeface="Calibri"/>
              <a:sym typeface="Calibri"/>
            </a:endParaRPr>
          </a:p>
        </p:txBody>
      </p:sp>
      <p:sp>
        <p:nvSpPr>
          <p:cNvPr id="647" name="Google Shape;647;p45"/>
          <p:cNvSpPr/>
          <p:nvPr/>
        </p:nvSpPr>
        <p:spPr>
          <a:xfrm>
            <a:off x="457200" y="4003923"/>
            <a:ext cx="5695950" cy="1194346"/>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3303A"/>
              </a:buClr>
              <a:buSzPts val="1425"/>
              <a:buFont typeface="Arial"/>
              <a:buNone/>
            </a:pPr>
            <a:r>
              <a:rPr b="0" i="0" lang="en-US" sz="1425">
                <a:solidFill>
                  <a:srgbClr val="23303A"/>
                </a:solidFill>
                <a:latin typeface="Arial"/>
                <a:ea typeface="Arial"/>
                <a:cs typeface="Arial"/>
                <a:sym typeface="Arial"/>
              </a:rPr>
              <a:t>The experiment did not directly measure potassium redistribution, glial currents, TH3-cell firing or a particular potassium channel. The ion-based account is an explanatory hypothesis for a measured behavioral change, rather than an established molecular sequence for predator avoidance.</a:t>
            </a:r>
            <a:endParaRPr sz="1800">
              <a:solidFill>
                <a:schemeClr val="dk1"/>
              </a:solidFill>
              <a:latin typeface="Calibri"/>
              <a:ea typeface="Calibri"/>
              <a:cs typeface="Calibri"/>
              <a:sym typeface="Calibri"/>
            </a:endParaRPr>
          </a:p>
        </p:txBody>
      </p:sp>
      <p:pic>
        <p:nvPicPr>
          <p:cNvPr id="648" name="Google Shape;648;p45"/>
          <p:cNvPicPr preferRelativeResize="0"/>
          <p:nvPr/>
        </p:nvPicPr>
        <p:blipFill rotWithShape="1">
          <a:blip r:embed="rId3">
            <a:alphaModFix/>
          </a:blip>
          <a:srcRect b="0" l="0" r="0" t="0"/>
          <a:stretch/>
        </p:blipFill>
        <p:spPr>
          <a:xfrm>
            <a:off x="8104520" y="1071563"/>
            <a:ext cx="2002760" cy="2333625"/>
          </a:xfrm>
          <a:prstGeom prst="rect">
            <a:avLst/>
          </a:prstGeom>
          <a:noFill/>
          <a:ln>
            <a:noFill/>
          </a:ln>
        </p:spPr>
      </p:pic>
      <p:sp>
        <p:nvSpPr>
          <p:cNvPr id="649" name="Google Shape;649;p45"/>
          <p:cNvSpPr/>
          <p:nvPr/>
        </p:nvSpPr>
        <p:spPr>
          <a:xfrm>
            <a:off x="6477000" y="3481388"/>
            <a:ext cx="5276850" cy="142875"/>
          </a:xfrm>
          <a:prstGeom prst="rect">
            <a:avLst/>
          </a:prstGeom>
          <a:noFill/>
          <a:ln>
            <a:noFill/>
          </a:ln>
        </p:spPr>
        <p:txBody>
          <a:bodyPr anchorCtr="0" anchor="t" bIns="0" lIns="0" spcFirstLastPara="1" rIns="0" wrap="square" tIns="0">
            <a:normAutofit/>
          </a:bodyPr>
          <a:lstStyle/>
          <a:p>
            <a:pPr indent="0" lvl="0" marL="0" marR="0" rtl="0" algn="l">
              <a:lnSpc>
                <a:spcPct val="125000"/>
              </a:lnSpc>
              <a:spcBef>
                <a:spcPts val="0"/>
              </a:spcBef>
              <a:spcAft>
                <a:spcPts val="0"/>
              </a:spcAft>
              <a:buClr>
                <a:srgbClr val="23303A"/>
              </a:buClr>
              <a:buSzPts val="900"/>
              <a:buFont typeface="Arial"/>
              <a:buNone/>
            </a:pPr>
            <a:r>
              <a:rPr b="0" i="0" lang="en-US" sz="900">
                <a:solidFill>
                  <a:srgbClr val="23303A"/>
                </a:solidFill>
                <a:latin typeface="Arial"/>
                <a:ea typeface="Arial"/>
                <a:cs typeface="Arial"/>
                <a:sym typeface="Arial"/>
              </a:rPr>
              <a:t>McConville &amp; Laming (2007), Fig. 7. Crouch responses emerge at high DC currents.</a:t>
            </a:r>
            <a:endParaRPr sz="1800">
              <a:solidFill>
                <a:schemeClr val="dk1"/>
              </a:solidFill>
              <a:latin typeface="Calibri"/>
              <a:ea typeface="Calibri"/>
              <a:cs typeface="Calibri"/>
              <a:sym typeface="Calibri"/>
            </a:endParaRPr>
          </a:p>
        </p:txBody>
      </p:sp>
      <p:pic>
        <p:nvPicPr>
          <p:cNvPr id="650" name="Google Shape;650;p45"/>
          <p:cNvPicPr preferRelativeResize="0"/>
          <p:nvPr/>
        </p:nvPicPr>
        <p:blipFill rotWithShape="1">
          <a:blip r:embed="rId4">
            <a:alphaModFix/>
          </a:blip>
          <a:srcRect b="0" l="0" r="0" t="0"/>
          <a:stretch/>
        </p:blipFill>
        <p:spPr>
          <a:xfrm>
            <a:off x="8197673" y="3795713"/>
            <a:ext cx="1816454" cy="1476375"/>
          </a:xfrm>
          <a:prstGeom prst="rect">
            <a:avLst/>
          </a:prstGeom>
          <a:noFill/>
          <a:ln>
            <a:noFill/>
          </a:ln>
        </p:spPr>
      </p:pic>
      <p:sp>
        <p:nvSpPr>
          <p:cNvPr id="651" name="Google Shape;651;p45"/>
          <p:cNvSpPr/>
          <p:nvPr/>
        </p:nvSpPr>
        <p:spPr>
          <a:xfrm>
            <a:off x="6477000" y="5348288"/>
            <a:ext cx="5276850" cy="142875"/>
          </a:xfrm>
          <a:prstGeom prst="rect">
            <a:avLst/>
          </a:prstGeom>
          <a:noFill/>
          <a:ln>
            <a:noFill/>
          </a:ln>
        </p:spPr>
        <p:txBody>
          <a:bodyPr anchorCtr="0" anchor="t" bIns="0" lIns="0" spcFirstLastPara="1" rIns="0" wrap="square" tIns="0">
            <a:normAutofit/>
          </a:bodyPr>
          <a:lstStyle/>
          <a:p>
            <a:pPr indent="0" lvl="0" marL="0" marR="0" rtl="0" algn="l">
              <a:lnSpc>
                <a:spcPct val="125000"/>
              </a:lnSpc>
              <a:spcBef>
                <a:spcPts val="0"/>
              </a:spcBef>
              <a:spcAft>
                <a:spcPts val="0"/>
              </a:spcAft>
              <a:buClr>
                <a:srgbClr val="23303A"/>
              </a:buClr>
              <a:buSzPts val="900"/>
              <a:buFont typeface="Arial"/>
              <a:buNone/>
            </a:pPr>
            <a:r>
              <a:rPr b="0" i="0" lang="en-US" sz="900">
                <a:solidFill>
                  <a:srgbClr val="23303A"/>
                </a:solidFill>
                <a:latin typeface="Arial"/>
                <a:ea typeface="Arial"/>
                <a:cs typeface="Arial"/>
                <a:sym typeface="Arial"/>
              </a:rPr>
              <a:t>McConville &amp; Laming (2007), Fig. 3. Lpd electrodes.</a:t>
            </a:r>
            <a:endParaRPr sz="1800">
              <a:solidFill>
                <a:schemeClr val="dk1"/>
              </a:solidFill>
              <a:latin typeface="Calibri"/>
              <a:ea typeface="Calibri"/>
              <a:cs typeface="Calibri"/>
              <a:sym typeface="Calibri"/>
            </a:endParaRPr>
          </a:p>
        </p:txBody>
      </p:sp>
      <p:pic>
        <p:nvPicPr>
          <p:cNvPr id="652" name="Google Shape;652;p45"/>
          <p:cNvPicPr preferRelativeResize="0"/>
          <p:nvPr/>
        </p:nvPicPr>
        <p:blipFill rotWithShape="1">
          <a:blip r:embed="rId5">
            <a:alphaModFix/>
          </a:blip>
          <a:srcRect b="0" l="0" r="0" t="0"/>
          <a:stretch/>
        </p:blipFill>
        <p:spPr>
          <a:xfrm>
            <a:off x="457200" y="6405563"/>
            <a:ext cx="11277600" cy="242888"/>
          </a:xfrm>
          <a:prstGeom prst="rect">
            <a:avLst/>
          </a:prstGeom>
          <a:noFill/>
          <a:ln>
            <a:noFill/>
          </a:ln>
        </p:spPr>
      </p:pic>
      <p:sp>
        <p:nvSpPr>
          <p:cNvPr id="653" name="Google Shape;653;p45"/>
          <p:cNvSpPr/>
          <p:nvPr/>
        </p:nvSpPr>
        <p:spPr>
          <a:xfrm>
            <a:off x="457200" y="6491288"/>
            <a:ext cx="1381125" cy="157163"/>
          </a:xfrm>
          <a:prstGeom prst="rect">
            <a:avLst/>
          </a:prstGeom>
          <a:noFill/>
          <a:ln>
            <a:noFill/>
          </a:ln>
        </p:spPr>
        <p:txBody>
          <a:bodyPr anchorCtr="0" anchor="t" bIns="0" lIns="0" spcFirstLastPara="1" rIns="0" wrap="square" tIns="0">
            <a:normAutofit/>
          </a:bodyPr>
          <a:lstStyle/>
          <a:p>
            <a:pPr indent="0" lvl="0" marL="0" marR="0" rtl="0" algn="l">
              <a:lnSpc>
                <a:spcPct val="150060"/>
              </a:lnSpc>
              <a:spcBef>
                <a:spcPts val="0"/>
              </a:spcBef>
              <a:spcAft>
                <a:spcPts val="0"/>
              </a:spcAft>
              <a:buClr>
                <a:srgbClr val="5F6E7A"/>
              </a:buClr>
              <a:buSzPts val="825"/>
              <a:buFont typeface="Arial"/>
              <a:buNone/>
            </a:pPr>
            <a:r>
              <a:rPr b="0" i="0" lang="en-US" sz="825">
                <a:solidFill>
                  <a:srgbClr val="5F6E7A"/>
                </a:solidFill>
                <a:latin typeface="Arial"/>
                <a:ea typeface="Arial"/>
                <a:cs typeface="Arial"/>
                <a:sym typeface="Arial"/>
              </a:rPr>
              <a:t>McConville &amp; Laming (2007)</a:t>
            </a:r>
            <a:endParaRPr sz="1800">
              <a:solidFill>
                <a:schemeClr val="dk1"/>
              </a:solidFill>
              <a:latin typeface="Calibri"/>
              <a:ea typeface="Calibri"/>
              <a:cs typeface="Calibri"/>
              <a:sym typeface="Calibri"/>
            </a:endParaRPr>
          </a:p>
        </p:txBody>
      </p:sp>
      <p:sp>
        <p:nvSpPr>
          <p:cNvPr id="654" name="Google Shape;654;p45"/>
          <p:cNvSpPr/>
          <p:nvPr/>
        </p:nvSpPr>
        <p:spPr>
          <a:xfrm>
            <a:off x="11614845" y="6491288"/>
            <a:ext cx="139005" cy="157163"/>
          </a:xfrm>
          <a:prstGeom prst="rect">
            <a:avLst/>
          </a:prstGeom>
          <a:noFill/>
          <a:ln>
            <a:noFill/>
          </a:ln>
        </p:spPr>
        <p:txBody>
          <a:bodyPr anchorCtr="0" anchor="t" bIns="0" lIns="0" spcFirstLastPara="1" rIns="0" wrap="square" tIns="0">
            <a:normAutofit/>
          </a:bodyPr>
          <a:lstStyle/>
          <a:p>
            <a:pPr indent="0" lvl="0" marL="0" marR="0" rtl="0" algn="l">
              <a:lnSpc>
                <a:spcPct val="150060"/>
              </a:lnSpc>
              <a:spcBef>
                <a:spcPts val="0"/>
              </a:spcBef>
              <a:spcAft>
                <a:spcPts val="0"/>
              </a:spcAft>
              <a:buClr>
                <a:srgbClr val="5F6E7A"/>
              </a:buClr>
              <a:buSzPts val="825"/>
              <a:buFont typeface="Arial"/>
              <a:buNone/>
            </a:pPr>
            <a:r>
              <a:rPr b="0" i="0" lang="en-US" sz="825">
                <a:solidFill>
                  <a:srgbClr val="5F6E7A"/>
                </a:solidFill>
                <a:latin typeface="Arial"/>
                <a:ea typeface="Arial"/>
                <a:cs typeface="Arial"/>
                <a:sym typeface="Arial"/>
              </a:rPr>
              <a:t>45</a:t>
            </a:r>
            <a:endParaRPr sz="1800">
              <a:solidFill>
                <a:schemeClr val="dk1"/>
              </a:solidFill>
              <a:latin typeface="Calibri"/>
              <a:ea typeface="Calibri"/>
              <a:cs typeface="Calibri"/>
              <a:sym typeface="Calibri"/>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58" name="Shape 658"/>
        <p:cNvGrpSpPr/>
        <p:nvPr/>
      </p:nvGrpSpPr>
      <p:grpSpPr>
        <a:xfrm>
          <a:off x="0" y="0"/>
          <a:ext cx="0" cy="0"/>
          <a:chOff x="0" y="0"/>
          <a:chExt cx="0" cy="0"/>
        </a:xfrm>
      </p:grpSpPr>
      <p:sp>
        <p:nvSpPr>
          <p:cNvPr id="659" name="Google Shape;659;p46"/>
          <p:cNvSpPr/>
          <p:nvPr/>
        </p:nvSpPr>
        <p:spPr>
          <a:xfrm>
            <a:off x="457200" y="457200"/>
            <a:ext cx="11296650" cy="514350"/>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35536B"/>
              </a:buClr>
              <a:buSzPts val="2700"/>
              <a:buFont typeface="Arial"/>
              <a:buNone/>
            </a:pPr>
            <a:r>
              <a:rPr b="1" i="0" lang="en-US" sz="2700">
                <a:solidFill>
                  <a:srgbClr val="35536B"/>
                </a:solidFill>
                <a:latin typeface="Arial"/>
                <a:ea typeface="Arial"/>
                <a:cs typeface="Arial"/>
                <a:sym typeface="Arial"/>
              </a:rPr>
              <a:t>Key takeaways</a:t>
            </a:r>
            <a:endParaRPr sz="1800">
              <a:solidFill>
                <a:schemeClr val="dk1"/>
              </a:solidFill>
              <a:latin typeface="Calibri"/>
              <a:ea typeface="Calibri"/>
              <a:cs typeface="Calibri"/>
              <a:sym typeface="Calibri"/>
            </a:endParaRPr>
          </a:p>
        </p:txBody>
      </p:sp>
      <p:sp>
        <p:nvSpPr>
          <p:cNvPr id="660" name="Google Shape;660;p46"/>
          <p:cNvSpPr/>
          <p:nvPr/>
        </p:nvSpPr>
        <p:spPr>
          <a:xfrm>
            <a:off x="457200" y="1295400"/>
            <a:ext cx="5553075" cy="1378744"/>
          </a:xfrm>
          <a:prstGeom prst="rect">
            <a:avLst/>
          </a:prstGeom>
          <a:solidFill>
            <a:srgbClr val="EDF2F5"/>
          </a:solidFill>
          <a:ln>
            <a:noFill/>
          </a:ln>
        </p:spPr>
        <p:txBody>
          <a:bodyPr anchorCtr="0" anchor="t" bIns="219075" lIns="219075" spcFirstLastPara="1" rIns="219075" wrap="square" tIns="219075">
            <a:normAutofit/>
          </a:bodyPr>
          <a:lstStyle/>
          <a:p>
            <a:pPr indent="0" lvl="0" marL="0" marR="0" rtl="0" algn="l">
              <a:lnSpc>
                <a:spcPct val="129964"/>
              </a:lnSpc>
              <a:spcBef>
                <a:spcPts val="0"/>
              </a:spcBef>
              <a:spcAft>
                <a:spcPts val="0"/>
              </a:spcAft>
              <a:buClr>
                <a:srgbClr val="23303A"/>
              </a:buClr>
              <a:buSzPts val="1425"/>
              <a:buFont typeface="Arial"/>
              <a:buNone/>
            </a:pPr>
            <a:r>
              <a:rPr b="1" i="0" lang="en-US" sz="1425">
                <a:solidFill>
                  <a:srgbClr val="23303A"/>
                </a:solidFill>
                <a:latin typeface="Arial"/>
                <a:ea typeface="Arial"/>
                <a:cs typeface="Arial"/>
                <a:sym typeface="Arial"/>
              </a:rPr>
              <a:t>Pretectal restraint.</a:t>
            </a:r>
            <a:r>
              <a:rPr b="0" i="0" lang="en-US" sz="1425">
                <a:solidFill>
                  <a:srgbClr val="23303A"/>
                </a:solidFill>
                <a:latin typeface="Arial"/>
                <a:ea typeface="Arial"/>
                <a:cs typeface="Arial"/>
                <a:sym typeface="Arial"/>
              </a:rPr>
              <a:t> Effective pretectal and caudal thalamic damage releases catching toward large or unsuitable objects; preserved snapping separates this effect from loss of the motor capacity.</a:t>
            </a:r>
            <a:endParaRPr sz="1800">
              <a:solidFill>
                <a:schemeClr val="dk1"/>
              </a:solidFill>
              <a:latin typeface="Calibri"/>
              <a:ea typeface="Calibri"/>
              <a:cs typeface="Calibri"/>
              <a:sym typeface="Calibri"/>
            </a:endParaRPr>
          </a:p>
        </p:txBody>
      </p:sp>
      <p:sp>
        <p:nvSpPr>
          <p:cNvPr id="661" name="Google Shape;661;p46"/>
          <p:cNvSpPr/>
          <p:nvPr/>
        </p:nvSpPr>
        <p:spPr>
          <a:xfrm>
            <a:off x="6200775" y="1295400"/>
            <a:ext cx="5553075" cy="1378744"/>
          </a:xfrm>
          <a:prstGeom prst="rect">
            <a:avLst/>
          </a:prstGeom>
          <a:solidFill>
            <a:srgbClr val="EDF2F5"/>
          </a:solidFill>
          <a:ln>
            <a:noFill/>
          </a:ln>
        </p:spPr>
        <p:txBody>
          <a:bodyPr anchorCtr="0" anchor="t" bIns="219075" lIns="219075" spcFirstLastPara="1" rIns="219075" wrap="square" tIns="219075">
            <a:normAutofit/>
          </a:bodyPr>
          <a:lstStyle/>
          <a:p>
            <a:pPr indent="0" lvl="0" marL="0" marR="0" rtl="0" algn="l">
              <a:lnSpc>
                <a:spcPct val="129964"/>
              </a:lnSpc>
              <a:spcBef>
                <a:spcPts val="0"/>
              </a:spcBef>
              <a:spcAft>
                <a:spcPts val="0"/>
              </a:spcAft>
              <a:buClr>
                <a:srgbClr val="23303A"/>
              </a:buClr>
              <a:buSzPts val="1425"/>
              <a:buFont typeface="Arial"/>
              <a:buNone/>
            </a:pPr>
            <a:r>
              <a:rPr b="1" i="0" lang="en-US" sz="1425">
                <a:solidFill>
                  <a:srgbClr val="23303A"/>
                </a:solidFill>
                <a:latin typeface="Arial"/>
                <a:ea typeface="Arial"/>
                <a:cs typeface="Arial"/>
                <a:sym typeface="Arial"/>
              </a:rPr>
              <a:t>Selectivity and excitability.</a:t>
            </a:r>
            <a:r>
              <a:rPr b="0" i="0" lang="en-US" sz="1425">
                <a:solidFill>
                  <a:srgbClr val="23303A"/>
                </a:solidFill>
                <a:latin typeface="Arial"/>
                <a:ea typeface="Arial"/>
                <a:cs typeface="Arial"/>
                <a:sym typeface="Arial"/>
              </a:rPr>
              <a:t> Configuration filtering and response strength are distinct: some cuts increase firing without eliminating the worm–antiworm distinction.</a:t>
            </a:r>
            <a:endParaRPr sz="1800">
              <a:solidFill>
                <a:schemeClr val="dk1"/>
              </a:solidFill>
              <a:latin typeface="Calibri"/>
              <a:ea typeface="Calibri"/>
              <a:cs typeface="Calibri"/>
              <a:sym typeface="Calibri"/>
            </a:endParaRPr>
          </a:p>
        </p:txBody>
      </p:sp>
      <p:sp>
        <p:nvSpPr>
          <p:cNvPr id="662" name="Google Shape;662;p46"/>
          <p:cNvSpPr/>
          <p:nvPr/>
        </p:nvSpPr>
        <p:spPr>
          <a:xfrm>
            <a:off x="457200" y="2883694"/>
            <a:ext cx="5553075" cy="1378744"/>
          </a:xfrm>
          <a:prstGeom prst="rect">
            <a:avLst/>
          </a:prstGeom>
          <a:solidFill>
            <a:srgbClr val="EDF2F5"/>
          </a:solidFill>
          <a:ln>
            <a:noFill/>
          </a:ln>
        </p:spPr>
        <p:txBody>
          <a:bodyPr anchorCtr="0" anchor="t" bIns="219075" lIns="219075" spcFirstLastPara="1" rIns="219075" wrap="square" tIns="219075">
            <a:normAutofit/>
          </a:bodyPr>
          <a:lstStyle/>
          <a:p>
            <a:pPr indent="0" lvl="0" marL="0" marR="0" rtl="0" algn="l">
              <a:lnSpc>
                <a:spcPct val="129964"/>
              </a:lnSpc>
              <a:spcBef>
                <a:spcPts val="0"/>
              </a:spcBef>
              <a:spcAft>
                <a:spcPts val="0"/>
              </a:spcAft>
              <a:buClr>
                <a:srgbClr val="23303A"/>
              </a:buClr>
              <a:buSzPts val="1425"/>
              <a:buFont typeface="Arial"/>
              <a:buNone/>
            </a:pPr>
            <a:r>
              <a:rPr b="1" i="0" lang="en-US" sz="1425">
                <a:solidFill>
                  <a:srgbClr val="23303A"/>
                </a:solidFill>
                <a:latin typeface="Arial"/>
                <a:ea typeface="Arial"/>
                <a:cs typeface="Arial"/>
                <a:sym typeface="Arial"/>
              </a:rPr>
              <a:t>Timed input interaction.</a:t>
            </a:r>
            <a:r>
              <a:rPr b="0" i="0" lang="en-US" sz="1425">
                <a:solidFill>
                  <a:srgbClr val="23303A"/>
                </a:solidFill>
                <a:latin typeface="Arial"/>
                <a:ea typeface="Arial"/>
                <a:cs typeface="Arial"/>
                <a:sym typeface="Arial"/>
              </a:rPr>
              <a:t> Pretectal conditioning strongly attenuates an early optic-nerve-evoked tectal component at a lead of approximately 17–25 ms; adaptation controls support a pathway-specific effect.</a:t>
            </a:r>
            <a:endParaRPr sz="1800">
              <a:solidFill>
                <a:schemeClr val="dk1"/>
              </a:solidFill>
              <a:latin typeface="Calibri"/>
              <a:ea typeface="Calibri"/>
              <a:cs typeface="Calibri"/>
              <a:sym typeface="Calibri"/>
            </a:endParaRPr>
          </a:p>
        </p:txBody>
      </p:sp>
      <p:sp>
        <p:nvSpPr>
          <p:cNvPr id="663" name="Google Shape;663;p46"/>
          <p:cNvSpPr/>
          <p:nvPr/>
        </p:nvSpPr>
        <p:spPr>
          <a:xfrm>
            <a:off x="6200775" y="2883694"/>
            <a:ext cx="5553075" cy="1378744"/>
          </a:xfrm>
          <a:prstGeom prst="rect">
            <a:avLst/>
          </a:prstGeom>
          <a:solidFill>
            <a:srgbClr val="EDF2F5"/>
          </a:solidFill>
          <a:ln>
            <a:noFill/>
          </a:ln>
        </p:spPr>
        <p:txBody>
          <a:bodyPr anchorCtr="0" anchor="t" bIns="219075" lIns="219075" spcFirstLastPara="1" rIns="219075" wrap="square" tIns="219075">
            <a:normAutofit/>
          </a:bodyPr>
          <a:lstStyle/>
          <a:p>
            <a:pPr indent="0" lvl="0" marL="0" marR="0" rtl="0" algn="l">
              <a:lnSpc>
                <a:spcPct val="129964"/>
              </a:lnSpc>
              <a:spcBef>
                <a:spcPts val="0"/>
              </a:spcBef>
              <a:spcAft>
                <a:spcPts val="0"/>
              </a:spcAft>
              <a:buClr>
                <a:srgbClr val="23303A"/>
              </a:buClr>
              <a:buSzPts val="1425"/>
              <a:buFont typeface="Arial"/>
              <a:buNone/>
            </a:pPr>
            <a:r>
              <a:rPr b="1" i="0" lang="en-US" sz="1425">
                <a:solidFill>
                  <a:srgbClr val="23303A"/>
                </a:solidFill>
                <a:latin typeface="Arial"/>
                <a:ea typeface="Arial"/>
                <a:cs typeface="Arial"/>
                <a:sym typeface="Arial"/>
              </a:rPr>
              <a:t>Distinct electrical measurements.</a:t>
            </a:r>
            <a:r>
              <a:rPr b="0" i="0" lang="en-US" sz="1425">
                <a:solidFill>
                  <a:srgbClr val="23303A"/>
                </a:solidFill>
                <a:latin typeface="Arial"/>
                <a:ea typeface="Arial"/>
                <a:cs typeface="Arial"/>
                <a:sym typeface="Arial"/>
              </a:rPr>
              <a:t> Unit spikes, EEG and slow extracellular potentials measure different activity; more firing can coexist with a smaller population field.</a:t>
            </a:r>
            <a:endParaRPr sz="1800">
              <a:solidFill>
                <a:schemeClr val="dk1"/>
              </a:solidFill>
              <a:latin typeface="Calibri"/>
              <a:ea typeface="Calibri"/>
              <a:cs typeface="Calibri"/>
              <a:sym typeface="Calibri"/>
            </a:endParaRPr>
          </a:p>
        </p:txBody>
      </p:sp>
      <p:sp>
        <p:nvSpPr>
          <p:cNvPr id="664" name="Google Shape;664;p46"/>
          <p:cNvSpPr/>
          <p:nvPr/>
        </p:nvSpPr>
        <p:spPr>
          <a:xfrm>
            <a:off x="457200" y="4471988"/>
            <a:ext cx="5553075" cy="1378744"/>
          </a:xfrm>
          <a:prstGeom prst="rect">
            <a:avLst/>
          </a:prstGeom>
          <a:solidFill>
            <a:srgbClr val="EDF2F5"/>
          </a:solidFill>
          <a:ln>
            <a:noFill/>
          </a:ln>
        </p:spPr>
        <p:txBody>
          <a:bodyPr anchorCtr="0" anchor="t" bIns="219075" lIns="219075" spcFirstLastPara="1" rIns="219075" wrap="square" tIns="219075">
            <a:normAutofit/>
          </a:bodyPr>
          <a:lstStyle/>
          <a:p>
            <a:pPr indent="0" lvl="0" marL="0" marR="0" rtl="0" algn="l">
              <a:lnSpc>
                <a:spcPct val="129964"/>
              </a:lnSpc>
              <a:spcBef>
                <a:spcPts val="0"/>
              </a:spcBef>
              <a:spcAft>
                <a:spcPts val="0"/>
              </a:spcAft>
              <a:buClr>
                <a:srgbClr val="23303A"/>
              </a:buClr>
              <a:buSzPts val="1425"/>
              <a:buFont typeface="Arial"/>
              <a:buNone/>
            </a:pPr>
            <a:r>
              <a:rPr b="1" i="0" lang="en-US" sz="1425">
                <a:solidFill>
                  <a:srgbClr val="23303A"/>
                </a:solidFill>
                <a:latin typeface="Arial"/>
                <a:ea typeface="Arial"/>
                <a:cs typeface="Arial"/>
                <a:sym typeface="Arial"/>
              </a:rPr>
              <a:t>NPY evidence.</a:t>
            </a:r>
            <a:r>
              <a:rPr b="0" i="0" lang="en-US" sz="1425">
                <a:solidFill>
                  <a:srgbClr val="23303A"/>
                </a:solidFill>
                <a:latin typeface="Arial"/>
                <a:ea typeface="Arial"/>
                <a:cs typeface="Arial"/>
                <a:sym typeface="Arial"/>
              </a:rPr>
              <a:t> Local NPY reduces the negative tectal field component, but receptor identity, endogenous release and necessity for avoidance were not established by the application experiment.</a:t>
            </a:r>
            <a:endParaRPr sz="1800">
              <a:solidFill>
                <a:schemeClr val="dk1"/>
              </a:solidFill>
              <a:latin typeface="Calibri"/>
              <a:ea typeface="Calibri"/>
              <a:cs typeface="Calibri"/>
              <a:sym typeface="Calibri"/>
            </a:endParaRPr>
          </a:p>
        </p:txBody>
      </p:sp>
      <p:sp>
        <p:nvSpPr>
          <p:cNvPr id="665" name="Google Shape;665;p46"/>
          <p:cNvSpPr/>
          <p:nvPr/>
        </p:nvSpPr>
        <p:spPr>
          <a:xfrm>
            <a:off x="6200775" y="4471988"/>
            <a:ext cx="5553075" cy="1378744"/>
          </a:xfrm>
          <a:prstGeom prst="rect">
            <a:avLst/>
          </a:prstGeom>
          <a:solidFill>
            <a:srgbClr val="EDF2F5"/>
          </a:solidFill>
          <a:ln>
            <a:noFill/>
          </a:ln>
        </p:spPr>
        <p:txBody>
          <a:bodyPr anchorCtr="0" anchor="t" bIns="219075" lIns="219075" spcFirstLastPara="1" rIns="219075" wrap="square" tIns="219075">
            <a:normAutofit/>
          </a:bodyPr>
          <a:lstStyle/>
          <a:p>
            <a:pPr indent="0" lvl="0" marL="0" marR="0" rtl="0" algn="l">
              <a:lnSpc>
                <a:spcPct val="129964"/>
              </a:lnSpc>
              <a:spcBef>
                <a:spcPts val="0"/>
              </a:spcBef>
              <a:spcAft>
                <a:spcPts val="0"/>
              </a:spcAft>
              <a:buClr>
                <a:srgbClr val="23303A"/>
              </a:buClr>
              <a:buSzPts val="1425"/>
              <a:buFont typeface="Arial"/>
              <a:buNone/>
            </a:pPr>
            <a:r>
              <a:rPr b="1" i="0" lang="en-US" sz="1425">
                <a:solidFill>
                  <a:srgbClr val="23303A"/>
                </a:solidFill>
                <a:latin typeface="Arial"/>
                <a:ea typeface="Arial"/>
                <a:cs typeface="Arial"/>
                <a:sym typeface="Arial"/>
              </a:rPr>
              <a:t>Behavioral bias and molecular limits.</a:t>
            </a:r>
            <a:r>
              <a:rPr b="0" i="0" lang="en-US" sz="1425">
                <a:solidFill>
                  <a:srgbClr val="23303A"/>
                </a:solidFill>
                <a:latin typeface="Arial"/>
                <a:ea typeface="Arial"/>
                <a:cs typeface="Arial"/>
                <a:sym typeface="Arial"/>
              </a:rPr>
              <a:t> High pretectal DC recruits retreat and crouching while generally reducing approach; glial potassium modulation remains a proposed explanation rather than a measured pathway.</a:t>
            </a:r>
            <a:endParaRPr sz="1800">
              <a:solidFill>
                <a:schemeClr val="dk1"/>
              </a:solidFill>
              <a:latin typeface="Calibri"/>
              <a:ea typeface="Calibri"/>
              <a:cs typeface="Calibri"/>
              <a:sym typeface="Calibri"/>
            </a:endParaRPr>
          </a:p>
        </p:txBody>
      </p:sp>
      <p:pic>
        <p:nvPicPr>
          <p:cNvPr id="666" name="Google Shape;666;p46"/>
          <p:cNvPicPr preferRelativeResize="0"/>
          <p:nvPr/>
        </p:nvPicPr>
        <p:blipFill rotWithShape="1">
          <a:blip r:embed="rId3">
            <a:alphaModFix/>
          </a:blip>
          <a:srcRect b="0" l="0" r="0" t="0"/>
          <a:stretch/>
        </p:blipFill>
        <p:spPr>
          <a:xfrm>
            <a:off x="457200" y="6405563"/>
            <a:ext cx="11277600" cy="242888"/>
          </a:xfrm>
          <a:prstGeom prst="rect">
            <a:avLst/>
          </a:prstGeom>
          <a:noFill/>
          <a:ln>
            <a:noFill/>
          </a:ln>
        </p:spPr>
      </p:pic>
      <p:sp>
        <p:nvSpPr>
          <p:cNvPr id="667" name="Google Shape;667;p46"/>
          <p:cNvSpPr/>
          <p:nvPr/>
        </p:nvSpPr>
        <p:spPr>
          <a:xfrm>
            <a:off x="457200" y="6491288"/>
            <a:ext cx="6397526" cy="157163"/>
          </a:xfrm>
          <a:prstGeom prst="rect">
            <a:avLst/>
          </a:prstGeom>
          <a:noFill/>
          <a:ln>
            <a:noFill/>
          </a:ln>
        </p:spPr>
        <p:txBody>
          <a:bodyPr anchorCtr="0" anchor="t" bIns="0" lIns="0" spcFirstLastPara="1" rIns="0" wrap="square" tIns="0">
            <a:normAutofit/>
          </a:bodyPr>
          <a:lstStyle/>
          <a:p>
            <a:pPr indent="0" lvl="0" marL="0" marR="0" rtl="0" algn="l">
              <a:lnSpc>
                <a:spcPct val="150060"/>
              </a:lnSpc>
              <a:spcBef>
                <a:spcPts val="0"/>
              </a:spcBef>
              <a:spcAft>
                <a:spcPts val="0"/>
              </a:spcAft>
              <a:buClr>
                <a:srgbClr val="5F6E7A"/>
              </a:buClr>
              <a:buSzPts val="825"/>
              <a:buFont typeface="Arial"/>
              <a:buNone/>
            </a:pPr>
            <a:r>
              <a:rPr b="0" i="0" lang="en-US" sz="825">
                <a:solidFill>
                  <a:srgbClr val="5F6E7A"/>
                </a:solidFill>
                <a:latin typeface="Arial"/>
                <a:ea typeface="Arial"/>
                <a:cs typeface="Arial"/>
                <a:sym typeface="Arial"/>
              </a:rPr>
              <a:t>Ewert (1970); Ingle (1973); Laming &amp; Ewert (1983); Schwippert et al. (1995); Schwippert &amp; Ewert (1995); McConville &amp; Laming (2007)</a:t>
            </a:r>
            <a:endParaRPr sz="1800">
              <a:solidFill>
                <a:schemeClr val="dk1"/>
              </a:solidFill>
              <a:latin typeface="Calibri"/>
              <a:ea typeface="Calibri"/>
              <a:cs typeface="Calibri"/>
              <a:sym typeface="Calibri"/>
            </a:endParaRPr>
          </a:p>
        </p:txBody>
      </p:sp>
      <p:sp>
        <p:nvSpPr>
          <p:cNvPr id="668" name="Google Shape;668;p46"/>
          <p:cNvSpPr/>
          <p:nvPr/>
        </p:nvSpPr>
        <p:spPr>
          <a:xfrm>
            <a:off x="11614845" y="6491288"/>
            <a:ext cx="139005" cy="157163"/>
          </a:xfrm>
          <a:prstGeom prst="rect">
            <a:avLst/>
          </a:prstGeom>
          <a:noFill/>
          <a:ln>
            <a:noFill/>
          </a:ln>
        </p:spPr>
        <p:txBody>
          <a:bodyPr anchorCtr="0" anchor="t" bIns="0" lIns="0" spcFirstLastPara="1" rIns="0" wrap="square" tIns="0">
            <a:normAutofit/>
          </a:bodyPr>
          <a:lstStyle/>
          <a:p>
            <a:pPr indent="0" lvl="0" marL="0" marR="0" rtl="0" algn="l">
              <a:lnSpc>
                <a:spcPct val="150060"/>
              </a:lnSpc>
              <a:spcBef>
                <a:spcPts val="0"/>
              </a:spcBef>
              <a:spcAft>
                <a:spcPts val="0"/>
              </a:spcAft>
              <a:buClr>
                <a:srgbClr val="5F6E7A"/>
              </a:buClr>
              <a:buSzPts val="825"/>
              <a:buFont typeface="Arial"/>
              <a:buNone/>
            </a:pPr>
            <a:r>
              <a:rPr b="0" i="0" lang="en-US" sz="825">
                <a:solidFill>
                  <a:srgbClr val="5F6E7A"/>
                </a:solidFill>
                <a:latin typeface="Arial"/>
                <a:ea typeface="Arial"/>
                <a:cs typeface="Arial"/>
                <a:sym typeface="Arial"/>
              </a:rPr>
              <a:t>46</a:t>
            </a:r>
            <a:endParaRPr sz="1800">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2026-10-08T17:05:06.386Z</dcterms:created>
  <dc:creator>Presenton</dc:creator>
</cp:coreProperties>
</file>