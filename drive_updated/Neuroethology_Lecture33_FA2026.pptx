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iQejCBVsu2mF98mg+KGAn7vbZP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customschemas.google.com/relationships/presentationmetadata" Target="metadata"/><Relationship Id="rId50" Type="http://schemas.openxmlformats.org/officeDocument/2006/relationships/slide" Target="slides/slide4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Vocal communication II: song learning, sensitive periods, the template model (Marler &amp; Konishi)</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Friday, November 13, 2026</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 name="Google Shape;30;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**Vocal learning** changes the acoustic form of a sound through experience. In white-crowned sparrows, _Zonotrichia leucophrys_, males acquire distinctive song patterns from adult songs heard while young. This differs from learning when to emit an already available call.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analyzed sound spectrograms, which display frequency against time. Whistle phrases and repeated trill syllables provided recognizable components for comparing a pupil's song with its training model.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song can preserve its general whistle–trill organization yet fail to reproduce the tutor's detailed syllables. Vocal learning therefore requires assessment of acoustic structure, rather than simply counting how often a bird sings.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Whistle portions are comparatively sustained sounds, while trills contain repeated acoustic elements. Their frequency trajectories and repetition patterns distinguish a detailed copy from broad resemblance.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 name="Google Shape;43;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White-crowned sparrows produce several vocalizations, including short calls and the elaborate male song. A **call** is a relatively brief vocal signal; the song contains organized whistle and trill components repeated during the breeding season.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Marler's spectrograms distinguish adult calls from juvenile begging and location calls. Their different acoustic forms make it possible to identify which vocalization is being measured during development.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learning experiments concern song structure, rather than every sound the species produces. Abnormal song after acoustic isolation cannot be generalized into a claim that all sparrow vocal behavior requires imitation.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adult song is produced by males, whereas many shorter calls occur in both sexes. These differences prevent equating the song-learning experiment with acquisition of the entire vocal repertoire.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 name="Google Shape;56;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**dialect** is a song pattern shared within a local population but differing from patterns elsewhere in the same species. Marler compared white-crowned sparrow songs from several parts of the San Francisco Bay area.</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populations shared broad species characteristics while differing in syllable structure and arrangement. These differences supplied alternative training models whose distinctive details could be recognized in later songs.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Geographical resemblance alone does not establish learning, because neighboring birds can also share ancestry and habitat. Controlled exposure to a particular dialect was required to separate the acoustic model from the bird's place of origin.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alien dialect is still conspecific song. Learning its details would separate the source of an acoustic pattern from the pupil’s geographical population of origin.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bird brought into isolation after spending time in the wild may already have heard a usable song model. Marler distinguished birds collected after fledging from birds collected as very young nestlings.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songs of birds isolated after early field experience could retain local dialect characteristics. Those outcomes cannot be interpreted as normal development in the complete absence of adult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age and acoustic history at collection are therefore part of the experimental treatment. Removing a bird from its natural environment does not erase information acquired before capture, even when its full song emerges much later.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comparison songs from the capture area provide a reference for identifying retained dialect details. Without that reference, normal-looking adult structure cannot identify the source of learning.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**Acoustic isolation** excludes the adult song models normally available during development. Marler reared nestling white-crowned sparrows without normal adult song and compared their later vocalizations with natural dialects.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isolates still sang, but their songs were simplified or abnormal in detailed syllable structure. Production of sound was therefore preserved while normal organization of the learned song was disrupted.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Isolation separates spontaneous vocal development from experience-dependent refinement. It does not imply that every component is learned: some broad tendencies can emerge without tutoring, while the detailed adult pattern depends on an appropriate acoustic environment.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isolates’ developmental series retain a record of earlier vocal forms. Comparing only their final songs would conceal the gradual emergence of the abnormal mature patterns.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Marler also raised young white-crowned sparrows together while excluding adult song. **Group isolation** preserves interactions among young birds but removes the normal adult acoustic model.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resulting songs remained abnormal. Their companions' developing vocalizations did not supply the same information as an established adult dialect under these experimental conditions.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comparison distinguishes access to other birds from access to an appropriate tutor. A group can provide social stimulation without providing the mature song pattern needed for accurate imitation; the result does not establish that social interactions are irrelevant to learning.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Individual and group isolation both removed adult song. Their similar abnormal outcomes in this study identify a missing adult model rather than simply the absence of young companions.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Song exposure can be ineffective even when it occurs before the usual learning interval. Marler tested playback during the nestling phase and followed the later development of isolated males.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Exposure before about 10 days of age did not produce detailed copying comparable to effective early fledgling training. An acoustic signal's presence therefore does not by itself establish that the bird stores it as a song model.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distinction concerns developmental responsiveness to the tested recordings. It does not establish an inability to hear every sound, nor does it imply that all kinds of early sensory experience have no developmental effects.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 name="Google Shape;120;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Marler presented recorded songs to otherwise isolated young males during defined age intervals. Early tutoring included exposure from days 8–28 or days 35–56, followed by development without continued adult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eventual songs were good copies of the white-crowned sparrow model, although a final vibrato component could be missing. **Imitation** here means reproduction of identifiable acoustic details, rather than merely a broadly normal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Because the mature song appeared long after tutoring, the recordings must have influenced information retained for later vocal development. The behavioral experiment establishes delayed learning without locating the stored information in a particular neuron.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After the recorded exposure ended, the young males remained isolated. Subsequent resemblance to the earlier model therefore did not require continued availability of that recording during mature singing.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 name="Google Shape;133;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In Marler's early training experiment, pupils heard two minutes of white-crowned sparrow song and two minutes of another species' song in morning and afternoon sessions. Presentation order alternated across sessions and days.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recordings were played at six songs per minute. Effective learning therefore occurred from controlled episodes of exposure, rather than continuous access to a singing adult throughout development.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Alternating the order reduced a simple presentation-order explanation for selective copying. The experiment established that this schedule could support learning; it did not determine the minimum exposure required or prove that live tutoring and recorded tutoring are equivalent.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Harris’ sparrow song resembles white-crowned sparrow song more closely than the tested song sparrow recording. Neither alien pattern left a recognizable trace in the resulting copied songs.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6" name="Google Shape;146;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Pupils trained from days 50–71 did not reproduce the training models in detailed syllable form. One developed an isolate-like song, whereas another retained a more normal division into whistle and trill portions.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partial outcome distinguishes coarse song organization from accurate copying. A late experience can shift development toward species-typical structure without installing all the detailed features obtained after earlier training.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**sensitive period** is an interval of enhanced responsiveness to experience. Its boundary depends on the measured outcome: loss of detailed imitation need not coincide with complete loss of every developmental influence from song exposure.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whistle and trill division is a coarse organizational feature. Its survival in one late-trained male did not include matching the model’s detailed trill syllables.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 name="Google Shape;159;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Marler tested song exposure at later ages as well as in early development. Playback around or after 100 days did not yield the detailed training-song reproduction associated with the earlier effective interval.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outcome contrasts with the ability of younger pupils to acquire a specific dialect. Developmental age changed the effect of an acoustic model that could otherwise be suitable for the species.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findings concern the tested subspecies and playback conditions. They support an age-dependent limitation on detailed song acquisition, rather than a universal rule that every songbird must stop learning at the same chronological age.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later field-collected birds also had earlier acoustic histories. Their exposure records matter when distinguishing a new playback effect from information acquired before laboratory testing.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**conspecific** is a member of the same species; a heterospecific belongs to another species. Marler presented conspecific song alongside Harris' sparrow or song sparrow recordings during early tutoring.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young white-crowned sparrows later copied the conspecific model, while recognizable effects of the other species' songs were absent. Equal availability of acoustic examples did not produce equal incorporation into adult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Selective acquisition supports a bias toward suitable song patterns. The comparison does not prove that alien songs were inaudible, because failing to imitate a signal and failing to detect it are different experimental outcomes.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alien recordings were supplied in addition to conspecific tutoring. The resulting choice of copied pattern concerns selectivity under simultaneous access to those two categories of acoustic model.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5" name="Google Shape;185;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Marler tested whether excluding a competing conspecific model would permit white-crowned sparrows to copy song sparrow song. Individually isolated nestlings received the alien recordings from days 7–28.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Their later songs showed no detectable correspondence to those training songs and remained abnormal as white-crowned sparrow songs. The result differed from successful conspecific tutoring during a similar early interval.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failure was therefore not explained solely by choosing a familiar conspecific model over an alien alternative. Under this playback procedure, another species' song did not provide an effective substitute for the acoustic information required for normal development.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Presenting alien song alone removed conspecific competition during training. The absence of recognizable alien copying nevertheless persisted, while the birds still developed their own abnormal songs.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8" name="Google Shape;198;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An **auditory template** is a proposed internal specification against which developing vocal output can be evaluated. Marler inferred such a specification from early song exposure followed by much later reproduction of the training pattern.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model separates acquiring a target from producing a mature imitation. A pupil can retain information about a song before the vocal system produces its final whistle and trill sequence.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template is a functional hypothesis about information storage and matching. Accurate copying after a delay supports a retained target, but these behavioral data do not identify its cellular location or demonstrate a literal stored spectrogram.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0" name="Google Shape;210;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Marler proposed that the early template contains a coarse specification favoring species-appropriate sounds. Experience with an adult song would then refine that specification into the detailed pattern used during later development.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Selective conspecific learning and abnormal isolate songs motivated different parts of this account. A predisposition can restrict the acceptable model without already containing every syllable of the local dialect.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**Predisposition** means an initial bias in development, not a fully specified mature behavior. The proposed interaction between bias and experience explains why neither unrestricted imitation nor complete genetic specification describes the experimental outcomes adequately.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coarse early specification is proposed, rather than directly recorded from the brain. The behavioral contrasts constrain its possible properties without identifying a cellular representation.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The **sensory phase** acquires information from a tutor; the **sensorimotor phase** links that information to developing vocal production. In a template account, hearing a model and hearing the pupil's own voice perform different functions.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Marler's delayed imitation establishes that adult song exposure can precede mature production. Konishi's deafening findings, as discussed in the supplied Brainard and Doupe review, support a separate requirement for auditory feedback during refinement.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Removing access to the tutor and removing the pupil’s hearing after tutoring affect different stages of song development. A retained target alone is insufficient when the bird cannot use hearing to regulate its developing vocal output.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Brainard MS, Doupe AJ (2000). Auditory feedback in learning and maintenance of vocal behaviour. Nature Reviews Neuroscience 1: 31–40. https://doi.org/10.1038/35036205</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 name="Google Shape;235;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Marler and Peters studied **swamp sparrows**, _Melospiza georgiana_, reared with controlled recordings in infancy. Later songs contained syllables matching components of those recordings rather than an arbitrary adult pattern.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Training began between 16 and 26 days of age and continued for 40 days. The pupils were subsequently kept in separate soundproof chambers, removing continued access to the original acoustic models.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Detailed matching after this separation supports storage of song information. It is the correspondence between the later syllables and earlier training material, together with the untrained comparison, that distinguishes learning from independent maturation into a species-typical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training material contained known syllable arrangements. That controlled history made it possible to compare later vocal units with actual earlier inputs instead of inferring a tutor from resemblance alone.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Peters S (1981). Sparrows learn adult song and more from memory. Science 213(4509): 780–782. https://doi.org/10.1126/science.213.4509.780</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8" name="Google Shape;248;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**Subsong** is variable early singing without the stable syllable organization of mature song. Marler and Peters recorded the pupils repeatedly and classified vocalizations by acoustic stability and organization.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Early singing lacked recognizable rehearsal of the syllables that would later match the tutor material. The existence of some vocal activity therefore did not establish continuous practice of each memorized pattern.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conclusion rests on the sampled recordings and spectrographic comparisons. It supports a long separation between learning and recognizable imitation, while avoiding the stronger claim that every possible vocalization throughout the entire interval was observed.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early variable vocalizations differ from later recognizable syllables. Calling both stages singing does not mean that the same acoustic material was practiced continuously throughout development.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Peters S (1981). Sparrows learn adult song and more from memory. Science 213(4509): 780–782. https://doi.org/10.1126/science.213.4509.780</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1" name="Google Shape;261;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The swamp sparrows' first recognizable attempts at memorized syllables occurred roughly 225 days after the last training exposure. More definite rehearsal of particular syllables followed about two weeks later.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interval was approximately eight months, far longer than the immediate delay between hearing and repeating a sound. The birds began regular song development near adulthood rather than producing a mature copy during infancy.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result supports long-lasting perceptual memory that can guide later motor learning. The retention interval does not itself identify the molecular substrate of memory, nor establish that a template must be stored in a single brain nucleus.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Peters S (1981). Sparrows learn adult song and more from memory. Science 213(4509): 780–782. https://doi.org/10.1126/science.213.4509.780</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**Plastic song** contains developing syllables whose acoustic form or combination remains variable. **Crystallization** is the transition to the more stable mature song pattern. Marler and Peters distinguished these states through repeated spectrographic analysis.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Mature swamp sparrow songs consisted of a roughly two-second series of repeated multinote syllables. Defined syllables and regular repetition emerged from earlier, less organized vocalizations.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transition was not the first occurrence of every adult sound. It involved refinement and stabilization of material already present during development, making longitudinal recordings necessary for distinguishing acquisition from the final expression of a repertoire.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Stability was assessed across repeated renditions. A single well-formed syllable during plastic song therefore did not by itself establish that the adult pattern had crystallized.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Peters S (1981). Sparrows learn adult song and more from memory. Science 213(4509): 780–782. https://doi.org/10.1126/science.213.4509.780</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6" name="Google Shape;286;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**repertoire** is the collection of distinct song types or syllables produced by an individual. During plastic song, swamp sparrows produced more distinct syllables than remained in their crystallized adult repertoires.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and Peters tracked individual syllable types across age. Some copied training syllables were expressed temporarily and then disappeared, alongside other developing material.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Adult song therefore underestimates information revealed during learning. Failure to retain a copied syllable in the final repertoire does not establish failure to learn it; a developmental record can detect temporary expression that a single adult recording would miss.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age record followed named syllable types as their use changed. A copied type could be temporarily expressed and later lost while other copied material remained in the adult repertoire.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Peters S (1981). Sparrows learn adult song and more from memory. Science 213(4509): 780–782. https://doi.org/10.1126/science.213.4509.780</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9" name="Google Shape;299;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Marler and Peters classified developing swamp sparrow syllables by their relation to the training recordings. **Imitations** matched models; **improvisations** resembled altered or poorly copied models; **inventions** lacked an identified model in the training set.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categories occurred together during plastic song, and both copied and noncopied syllables could be discarded during crystallization. Adult development involved selection as well as acoustic refinement.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classification depends on comparison with the known recordings. It does not establish a new neural mechanism for each category, and an unrecognized copy cannot be excluded merely by labeling a syllable an invention.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Copied and invented material mingled during plastic song. The reduction at crystallization therefore acted on both categories, rather than selectively retaining every syllable that matched the tutor.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Peters S (1981). Sparrows learn adult song and more from memory. Science 213(4509): 780–782. https://doi.org/10.1126/science.213.4509.780</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2" name="Google Shape;312;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**Autogenous song** means the song produced by the individual itself. Margoliash and Konishi compared auditory responses in adult white-crowned sparrows to own song, other dialect songs, and a training model.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Their comparisons included laboratory-reared birds whose final songs differed from the model they had heard. A tutor recording and the bird's own vocal output were therefore separable acoustic stimuli.</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distinction is essential for interpreting a possible template. A neuron preferring own song is not automatically a neuron storing the tutor target, because the copied model and the resulting vocalization can share many features yet remain acoustically different.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tutor is the acoustic source of the training model. Own song is the pupil’s resulting output; the distinction persists even when their shared features make them superficially similar.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Margoliash D, Konishi M (1985). Auditory representation of autogenous song in the song system of white-crowned sparrows. Proceedings of the National Academy of Sciences USA 82(17): 5997–6000. https://doi.org/10.1073/pnas.82.17.5997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7" name="Google Shape;327;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**HVC** is a forebrain song nucleus involved in learned vocal control. In Margoliash and Konishi's adult sparrow recordings, playback of the bird's own song elicited strong responses from song-responsive neuronal clusters.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study compared these responses with responses to other songs using the same recording site and controlled presentations. An amplitude-derived measure quantified the multiunit signal, which pools activity from several nearby neurons.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larger own-song response establishes auditory selectivity in this preparation. It does not establish that the same clusters compute error during singing, because playback responsiveness and an active feedback comparison are different physiological measurements.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Own song and the alternative recordings were compared at the same neuronal cluster. This control avoids attributing a stimulus difference to measurements from unrelated recording sites.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Margoliash D, Konishi M (1985). Auditory representation of autogenous song in the song system of white-crowned sparrows. Proceedings of the National Academy of Sciences USA 82(17): 5997–6000. https://doi.org/10.1073/pnas.82.17.5997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2" name="Google Shape;342;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Songs from the same dialect share conspicuous structural features, making them a demanding comparison for own-song selectivity. Margoliash and Konishi tested own song against other songs from the Bodega Bay dialect.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bird's own song generally elicited stronger multiunit responses even when the alternatives belonged to the same local acoustic tradition. Selectivity therefore extended beyond a simple distinction between two geographically different dialects.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experiment supports sensitivity to individual song structure. It does not demonstrate behavioral recognition of the singer, because neuronal responses to recordings and the animal's discrimination or social response must be tested separately.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alternatives shared the Bodega Bay dialect with the tested singers. Differences in response thus occurred despite common dialect structure, not only when the playback belonged to another population.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Margoliash D, Konishi M (1985). Auditory representation of autogenous song in the song system of white-crowned sparrows. Proceedings of the National Academy of Sciences USA 82(17): 5997–6000. https://doi.org/10.1073/pnas.82.17.5997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7" name="Google Shape;357;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Laboratory birds in Margoliash and Konishi's study produced unusual song components, including patterns absent from the natural songs used for comparison. Their neural responses still favored their own vocalizations.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cases weaken an explanation based only on a fixed preference for the normal species song. HVC responses could be associated with an individual's acquired or self-produced acoustic pattern, including abnormal components.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Experience-dependent tuning is consistent with this result, but the adult comparison does not isolate tutor exposure from auditory feedback of the bird's own singing. Both histories can contribute to the correspondence between vocal output and neural selectivity.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training paradigm included an unnatural upward-sweeping trill. Selective responses to abnormal own-song components weaken a purely fixed preference for the acoustic details normally heard in wild songs.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Margoliash D, Konishi M (1985). Auditory representation of autogenous song in the song system of white-crowned sparrows. Proceedings of the National Academy of Sciences USA 82(17): 5997–6000. https://doi.org/10.1073/pnas.82.17.5997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2" name="Google Shape;372;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stronger response to own song supplies a possible representation of vocal output. It does not, by itself, identify the remembered target used to guide a pupil toward its tutor's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Margoliash and Konishi's comparisons separated own-song preference from general dialect responsiveness. Their adult recordings characterized stimulus selectivity rather than directly observing formation or retrieval of the early tutor memory.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template hypothesis requires additional evidence linking a representation to learning. Correlation between a neuron's preferred stimulus and the mature song supports a candidate role, while a demonstrated teaching target would require measurements or interventions that connect it to acquisition and correction.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Margoliash D, Konishi M (1985). Auditory representation of autogenous song in the song system of white-crowned sparrows. Proceedings of the National Academy of Sciences USA 82(17): 5997–6000. https://doi.org/10.1073/pnas.82.17.5997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6" name="Google Shape;386;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McCasland and Konishi implanted electrodes and recorded vocal output together with neural activity in freely moving birds. The experiment sampled canaries, white-crowned sparrows, and zebra finches.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Activity within HVC increased in temporal correspondence with song elements. Control recordings outside the nucleus lacked comparable song-locked changes, and postoperative songs were checked against recordings made before implantation.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measurements connect HVC to the timing of vocal performance. Because extracellular multiunit recordings combine signals from nearby cells, they do not specify the role of every neuron or establish that each observed burst generates the corresponding sound element.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Songs recorded after electrode implantation were compared with preoperative songs. This check reduced an explanation in which the recording procedure itself created the abnormal vocal pattern under measurement.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McCasland JS, Konishi M (1981). Interaction between auditory and motor activities in an avian song control nucleus. Proceedings of the National Academy of Sciences USA 78(12): 7815–7819. https://doi.org/10.1073/pnas.78.12.7815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1" name="Google Shape;401;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McCasland and Konishi compared song-associated HVC activity before and after deafening by removal of the cochlea, the inner-ear organ required for hearing. Song-related discharge remained in the deafened bird.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Persistence of that temporal pattern means the signal was not simply an auditory response driven by the sound of each produced syllable. A motor-associated component could occur when normal acoustic feedback was absent.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separates ongoing neural activity from immediate hearing. It does not imply that auditory feedback is unnecessary for normal development or long-term maintenance; the origin of a discharge and the plasticity of learned song are distinct questions.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McCasland JS, Konishi M (1981). Interaction between auditory and motor activities in an avian song control nucleus. Proceedings of the National Academy of Sciences USA 78(12): 7815–7819. https://doi.org/10.1073/pnas.78.12.7815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5" name="Google Shape;415;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recording can be played forward or reversed while neural activity is measured in a bird that is not singing. McCasland and Konishi found different HVC responses to these versions of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Reversal changes the temporal organization of the acoustic signal. The comparison tests whether responses depend on more than the presence of sound energy within a similar overall frequency range.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forward preference supports temporal sensitivity in the auditory response. It does not isolate a single temporal feature, because reversing a waveform changes both the order of elements and their internal acoustic progression.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forward and reverse comparison changes the arrangement of the same recorded material. The resulting response difference cannot be explained simply by replacing the stimulus with another singer’s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McCasland JS, Konishi M (1981). Interaction between auditory and motor activities in an avian song control nucleus. Proceedings of the National Academy of Sciences USA 78(12): 7815–7819. https://doi.org/10.1073/pnas.78.12.7815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0" name="Google Shape;430;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McCasland and Konishi compared activity recorded during singing with auditory responses to playback of the same song elements. The temporal discharge patterns were distinguishable rather than identical.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comparison holds much of the acoustic content constant while changing whether the bird is producing the song. The recordings therefore implicate behavioral context and motor-associated activity in the measured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argues against treating every song-related HVC discharge as a passive response to hearing. It does not establish how an individual cell combines sensory and motor inputs, because the recordings characterize multiunit activity rather than a complete identified synaptic circuit.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acoustic recording supplies a shared reference for aligning the two response patterns. Similar sound content therefore need not produce identical neural activity during listening and active production.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McCasland JS, Konishi M (1981). Interaction between auditory and motor activities in an avian song control nucleus. Proceedings of the National Academy of Sciences USA 78(12): 7815–7819. https://doi.org/10.1073/pnas.78.12.7815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5" name="Google Shape;445;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Playback during and after singing revealed a reduction in HVC auditory responses associated with vocal production. McCasland and Konishi described suppression that decayed over seconds after the song ended.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same suppression was not explained by a simple continuous auditory response to every emitted sound. Vocal behavior changed the conditions under which a playback stimulus could evoke activity.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**Gating** is a change in access or responsiveness to sensory input associated with behavioral state. This observation complicates a passive feedback-comparator account; a circuit's response to playback in a silent bird cannot simply be assumed to describe its operation during singing.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Suppression persisted after the song terminated and then recovered. Its time course links auditory responsiveness to the preceding vocal behavior instead of merely the instantaneous presence of an acoustic stimulus.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McCasland JS, Konishi M (1981). Interaction between auditory and motor activities in an avian song control nucleus. Proceedings of the National Academy of Sciences USA 78(12): 7815–7819. https://doi.org/10.1073/pnas.78.12.7815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0" name="Google Shape;460;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Doupe and Konishi distinguished a direct HVC-to-RA route from an accessory route through Area X, DLM, and LMAN. **Area X** is a basal ganglia song nucleus; **RA** is a premotor nucleus; **DLM** lies in the thalamus; **LMAN** is the lateral magnocellular nucleus of the anterior neostriatum, using the paper’s historical terminology.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paper's published anatomical diagram specifies these connections. Both pathways connect auditory-responsive portions of the song system to a nucleus involved in vocal output.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Convergence supplies a possible route for learning-related signals to influence performance. The diagram is anatomical context, not proof that each connection carries a tutor template or a measured error signal during song acquisition.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2" name="Google Shape;472;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Doupe and Konishi recorded isolated auditory neurons in anesthetized adult male zebra finches. In LMAN, the bird's own song was more effective than songs produced by other zebra finches.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**peristimulus time histogram** summarizes when spikes occur relative to repeated presentations of a stimulus. The histograms allow comparison of the temporal response to own song and alternative acoustic patterns.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Single-unit sampling narrows the measurement to an isolated neuronal signal, unlike a multiunit cluster. The own-song preference still does not establish that the neuron compares actual feedback with a tutor memory while the awake bird is singing.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Own song, reversed own song, and another finch’s song were tested against the same isolated response. This separates within-neuron acoustic preference from comparisons between different sampled neurons.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7" name="Google Shape;487;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Doupe and Konishi reversed the bird's own recorded song and compared its effect with forward playback. LMAN neurons responded much less effectively to the reversed version.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manipulation retained overall spectral content while altering temporal structure. The response therefore depended on the acoustic signal's organization, rather than only on the presence of its constituent frequencies.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control supports a complex auditory preference. It does not establish recognition of grammatical meaning, and it cannot separate sensitivity to syllable order from sensitivity to acoustic changes within reversed syllables; both are changed by whole-song reversal.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Whole-song reversal does not preserve the internal direction of acoustic sweeps. The control therefore tests temporal organization broadly rather than altering only the positions of intact syllables.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2" name="Google Shape;502;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Doupe and Konishi also recorded auditory neurons in Area X and DLM, the nuclei upstream of LMAN in the accessory pathway. Own song was an effective stimulus in these areas as well.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Responses to simpler noise and tone stimuli differed among nuclei. LMAN was less readily excited by broadband noise and more strictly selective for forward song than the upstream populations sampled.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comparison is consistent with different degrees of acoustic selectivity along the pathway. It does not prove that this adult circuit progressively constructs the juvenile tutor memory, because the recordings did not follow the development of individual pupils during learning.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4" name="Google Shape;514;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Doupe and Konishi recorded auditory responses in RA while altering its possible input sources. Song-selective RA responses remained after LMAN lesions or local anesthetic treatment of LMAN.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Injecting lidocaine into HVC reversibly abolished RA song responses. **Lidocaine** is the local anesthetic used in this experiment to silence the input region temporarily, separating its contribution from the activity recorded in RA.</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loss and recovery implicate HVC-dependent input in adult RA auditory responsiveness. They do not establish that LMAN has no learning function, because adult playback responses and juvenile learning can depend differently on the same pathway.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Persistence after LMAN disruption distinguishes that input from an indispensable adult auditory drive. The additional HVC treatment tests a dependency that the LMAN manipulation alone could not establish.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9" name="Google Shape;529;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In the RA recording example, Doupe and Konishi compared responses before HVC lidocaine, five minutes after treatment, and after recovery. The same cell's response changed while the song stimulus remained available.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reversible effect is different from destruction of RA itself. Recovery supports a temporary interruption of input rather than an explanation requiring permanent loss of the recorded neuron.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experiment establishes a dependency under the adult anesthetized preparation. It does not specify which HVC cell class supplied the input or reveal a complete feedback mechanism, because regional inactivation affects multiple neurons and local connections together.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before-and-after sequence retains the song stimulus while changing the input region’s activity. Recovery adds evidence unavailable from a comparison involving only permanent destructive lesions.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4" name="Google Shape;544;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**Bengalese finches**, _Lonchura striata_ var. _domestica_, produce learned songs with recurring motifs but variable note sequences. Okanoya and Yamaguchi distinguished individual notes from motifs, which are recurring groups of notes.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**spectrogram** records frequency over time and permits corresponding note types to be followed across renditions. Adult variability in sequence can coexist with recognizable note identities.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stable inventory is therefore different from an invariant sequence. This distinction matters when testing auditory feedback: a bird can preserve many acoustic units while changing the order or frequency with which it assembles them into song.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Notes were identified from acoustic form before their transition patterns were analyzed. The distinction between note identity and arrangement allows separate descriptions of the same adult vocal performance.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Okanoya K, Yamaguchi A (1997). Adult Bengalese finches (Lonchura striata var. domestica) require real-time auditory feedback to produce normal song syntax. Journal of Neurobiology 33(4): 343–356. https://doi.org/10.1002/(SICI)1097-4695(199710)33:4&lt;343::AID-NEU1&gt;3.0.CO;2-A</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7" name="Google Shape;557;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Okanoya and Yamaguchi removed auditory feedback after Bengalese finches had developed adult song. They compared subsequent recordings with each bird's preoperative song and with hearing controls.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Changes could arise within five days, even though the birds were not acquiring an entirely new juvenile repertoire. The experiment therefore tested maintenance and organization of a learned performance.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**closed-ended learner** normally acquires its repertoire during a limited developmental interval. That label does not imply that adult production is independent of hearing: restricting acquisition of new material and maintaining existing material are separate functional properties.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Adult recordings established the preoperative song pattern. Subsequent changes therefore occurred after an existing repertoire had been acquired, rather than merely reflecting failure to hear a juvenile tutor.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Okanoya K, Yamaguchi A (1997). Adult Bengalese finches (Lonchura striata var. domestica) require real-time auditory feedback to produce normal song syntax. Journal of Neurobiology 33(4): 343–356. https://doi.org/10.1002/(SICI)1097-4695(199710)33:4&lt;343::AID-NEU1&gt;3.0.CO;2-A</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0" name="Google Shape;570;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Okanoya and Yamaguchi followed transitions between recognizable song notes before and after deafening. They assessed whether a note was followed by the same alternatives with similar consistency across recordings.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Sequence organization became abnormal in deafened birds, while hearing controls retained more stable patterns. **Song syntax** here means the ordering of vocal units, rather than the semantic grammar of human language.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comparison establishes a role for auditory feedback in maintaining adult sequence organization. It does not identify a particular comparator neuron or prove that every transition requires an instantaneous conscious response to hearing the preceding note.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preoperative pattern supplies a personal reference for sequence change. The relevant comparison is not whether every rendition was identical, but whether its existing organization remained stable over time.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Okanoya K, Yamaguchi A (1997). Adult Bengalese finches (Lonchura striata var. domestica) require real-time auditory feedback to produce normal song syntax. Journal of Neurobiology 33(4): 343–356. https://doi.org/10.1002/(SICI)1097-4695(199710)33:4&lt;343::AID-NEU1&gt;3.0.CO;2-A</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3" name="Google Shape;583;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Some deafened Bengalese finches repeated particular notes excessively. Okanoya and Yamaguchi illustrated this **stuttering** with spectrograms and the corresponding changes in note-transition patterns.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acoustic identity of a repeated note could remain recognizable even when its repetition became abnormal. Loss of hearing therefore affected the organization of an existing unit, rather than necessarily replacing every sound with a novel 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case separates the integrity of individual notes from control of their sequencing. It also prevents treating all post-deafening changes as one uniform loss of acoustic quality; different aspects of song can deteriorate in different ways.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repeated note occupies a changed sequence context. Recognizing its acoustic identity makes the excess repetition measurable even when the bird retains the capacity to produce that sound.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Okanoya K, Yamaguchi A (1997). Adult Bengalese finches (Lonchura striata var. domestica) require real-time auditory feedback to produce normal song syntax. Journal of Neurobiology 33(4): 343–356. https://doi.org/10.1002/(SICI)1097-4695(199710)33:4&lt;343::AID-NEU1&gt;3.0.CO;2-A</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6" name="Google Shape;596;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Other deafened Bengalese finches developed **scrambled** song, with altered transitions among recognizable notes. Okanoya and Yamaguchi tracked these changes relative to the same individual's preoperative sequence.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resulting organization differed from simple repetition of one note. Some expected units could be omitted, while new relationships among surviving units appeared as the song deteriorated.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longitudinal examples support individual variation in the consequences of feedback loss. A group tendency does not require identical deterioration in every bird, and a single characteristic example cannot establish that all species or all adults respond to deafening in the same way.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study’s spectrograms retain the original note labels across recordings. Those labels allow omissions and altered transitions to be distinguished from wholesale replacement of the acoustic repertoire.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Okanoya K, Yamaguchi A (1997). Adult Bengalese finches (Lonchura striata var. domestica) require real-time auditory feedback to produce normal song syntax. Journal of Neurobiology 33(4): 343–356. https://doi.org/10.1002/(SICI)1097-4695(199710)33:4&lt;343::AID-NEU1&gt;3.0.CO;2-A</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9" name="Google Shape;609;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The Bengalese finch experiments separate acquisition of song from maintenance of adult performance. Removing auditory feedback after learning disrupted sequence organization despite the persistence of recognizable vocal material.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Marler's early tutoring and memory experiments establish retained acoustic information; the adult deafening experiment establishes that stabilized production can still require sensory support. These are complementary requirements rather than interchangeable measurements.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template model remains a functional account of stored targets and feedback-guided adjustment. The supplied studies establish several necessary relationships, while leaving the precise storage site and the mechanism converting mismatch into corrective neural change unresolved.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sensory requirement for maintenance can persist beyond the interval for acquiring new song models. Stable adult performance therefore does not prove that the underlying motor control has become impervious to experience.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Okanoya K, Yamaguchi A (1997). Adult Bengalese finches (Lonchura striata var. domestica) require real-time auditory feedback to produce normal song syntax. Journal of Neurobiology 33(4): 343–356. https://doi.org/10.1002/(SICI)1097-4695(199710)33:4&lt;343::AID-NEU1&gt;3.0.CO;2-A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Brainard MS, Doupe AJ (2000). Auditory feedback in learning and maintenance of vocal behaviour. Nature Reviews Neuroscience 1: 31–40. https://doi.org/10.1038/35036205</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2" name="Google Shape;622;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Sensitive periods depend on the outcome measured. Early playback supports detailed copying; later exposure can influence broad organization without reproducing tutor syllables.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Predispositions constrain learning. White-crowned sparrows learn conspecific models selectively under the tested playback conditions; experience supplies detailed dialect structure.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retained target can precede mature singing. Swamp sparrows reproduce syllables heard months earlier, and adult repertoires omit material expressed during plastic song.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Own-song selectivity is not proof of tutor-memory storage. Konishi coauthored recordings establish auditory preferences and motor associations, while leaving the template’s exact neural substrate unresolved.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Behavioral state changes auditory responses. HVC playback responses differ from singing-related discharge and can be suppressed around vocal production.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Adult song stability can depend on feedback. Bengalese finch deafening disrupts sequence organization after acquisition; restricting repertoire learning does not imply independence from hearing.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(1970). A comparative approach to vocal learning: Song development in white-crowned sparrows. Journal of Comparative and Physiological Psychology 71(2, Pt. 2): 1–25. https://doi.org/10.1037/h0029144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Marler P, Peters S (1981). Sparrows learn adult song and more from memory. Science 213(4509): 780–782. https://doi.org/10.1126/science.213.4509.780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Margoliash D, Konishi M (1985). Auditory representation of autogenous song in the song system of white-crowned sparrows. Proceedings of the National Academy of Sciences USA 82(17): 5997–6000. https://doi.org/10.1073/pnas.82.17.5997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McCasland JS, Konishi M (1981). Interaction between auditory and motor activities in an avian song control nucleus. Proceedings of the National Academy of Sciences USA 78(12): 7815–7819. https://doi.org/10.1073/pnas.78.12.7815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Doupe AJ, Konishi M (1991). Song-selective auditory circuits in the vocal control system of the zebra finch. Proceedings of the National Academy of Sciences USA 88(24): 11339–11343. https://doi.org/10.1073/pnas.88.24.11339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Okanoya K, Yamaguchi A (1997). Adult Bengalese finches (Lonchura striata var. domestica) require real-time auditory feedback to produce normal song syntax. Journal of Neurobiology 33(4): 343–356. https://doi.org/10.1002/(SICI)1097-4695(199710)33:4&lt;343::AID-NEU1&gt;3.0.CO;2-A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Brainard MS, Doupe AJ (2000). Auditory feedback in learning and maintenance of vocal behaviour. Nature Reviews Neuroscience 1: 31–40. https://doi.org/10.1038/35036205</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8.png"/><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7.png"/><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8.png"/><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8.png"/><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7.png"/><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6.png"/><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0.png"/><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1.png"/><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9.png"/><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2.png"/><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5.png"/><Relationship Id="rId4"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8.png"/><Relationship Id="rId4" Type="http://schemas.openxmlformats.org/officeDocument/2006/relationships/image" Target="../media/image1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6.png"/><Relationship Id="rId4" Type="http://schemas.openxmlformats.org/officeDocument/2006/relationships/image" Target="../media/image1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6.png"/><Relationship Id="rId4"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 name="Shape 18"/>
        <p:cNvGrpSpPr/>
        <p:nvPr/>
      </p:nvGrpSpPr>
      <p:grpSpPr>
        <a:xfrm>
          <a:off x="0" y="0"/>
          <a:ext cx="0" cy="0"/>
          <a:chOff x="0" y="0"/>
          <a:chExt cx="0" cy="0"/>
        </a:xfrm>
      </p:grpSpPr>
      <p:sp>
        <p:nvSpPr>
          <p:cNvPr id="19" name="Google Shape;19;p1"/>
          <p:cNvSpPr/>
          <p:nvPr/>
        </p:nvSpPr>
        <p:spPr>
          <a:xfrm>
            <a:off x="9525" y="0"/>
            <a:ext cx="6096000" cy="6858000"/>
          </a:xfrm>
          <a:prstGeom prst="rect">
            <a:avLst/>
          </a:prstGeom>
          <a:solidFill>
            <a:srgbClr val="38333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1"/>
          <p:cNvSpPr/>
          <p:nvPr/>
        </p:nvSpPr>
        <p:spPr>
          <a:xfrm>
            <a:off x="685875" y="616325"/>
            <a:ext cx="3277200" cy="3429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FFFFF"/>
              </a:buClr>
              <a:buSzPts val="1200"/>
              <a:buFont typeface="Arial"/>
              <a:buNone/>
            </a:pPr>
            <a:r>
              <a:rPr b="0" i="0" lang="en-US" sz="1200">
                <a:solidFill>
                  <a:schemeClr val="lt2"/>
                </a:solidFill>
                <a:latin typeface="Arial"/>
                <a:ea typeface="Arial"/>
                <a:cs typeface="Arial"/>
                <a:sym typeface="Arial"/>
              </a:rPr>
              <a:t>NEUR 411 · NEUROETHOLOGY · FALL 2026</a:t>
            </a:r>
            <a:endParaRPr sz="1800">
              <a:solidFill>
                <a:schemeClr val="lt2"/>
              </a:solidFill>
              <a:latin typeface="Calibri"/>
              <a:ea typeface="Calibri"/>
              <a:cs typeface="Calibri"/>
              <a:sym typeface="Calibri"/>
            </a:endParaRPr>
          </a:p>
        </p:txBody>
      </p:sp>
      <p:sp>
        <p:nvSpPr>
          <p:cNvPr id="21" name="Google Shape;21;p1"/>
          <p:cNvSpPr/>
          <p:nvPr/>
        </p:nvSpPr>
        <p:spPr>
          <a:xfrm>
            <a:off x="685875" y="1466850"/>
            <a:ext cx="4972200" cy="3429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FFFFF"/>
              </a:buClr>
              <a:buSzPts val="1800"/>
              <a:buFont typeface="Arial"/>
              <a:buNone/>
            </a:pPr>
            <a:r>
              <a:rPr b="0" i="0" lang="en-US" sz="1800">
                <a:solidFill>
                  <a:schemeClr val="lt2"/>
                </a:solidFill>
                <a:latin typeface="Arial"/>
                <a:ea typeface="Arial"/>
                <a:cs typeface="Arial"/>
                <a:sym typeface="Arial"/>
              </a:rPr>
              <a:t>Lecture 33</a:t>
            </a:r>
            <a:endParaRPr sz="1800">
              <a:solidFill>
                <a:schemeClr val="lt2"/>
              </a:solidFill>
              <a:latin typeface="Calibri"/>
              <a:ea typeface="Calibri"/>
              <a:cs typeface="Calibri"/>
              <a:sym typeface="Calibri"/>
            </a:endParaRPr>
          </a:p>
        </p:txBody>
      </p:sp>
      <p:sp>
        <p:nvSpPr>
          <p:cNvPr id="22" name="Google Shape;22;p1"/>
          <p:cNvSpPr/>
          <p:nvPr/>
        </p:nvSpPr>
        <p:spPr>
          <a:xfrm>
            <a:off x="685875" y="2048950"/>
            <a:ext cx="4972200" cy="1676400"/>
          </a:xfrm>
          <a:prstGeom prst="rect">
            <a:avLst/>
          </a:prstGeom>
          <a:noFill/>
          <a:ln>
            <a:noFill/>
          </a:ln>
        </p:spPr>
        <p:txBody>
          <a:bodyPr anchorCtr="0" anchor="t" bIns="0" lIns="0" spcFirstLastPara="1" rIns="0" wrap="square" tIns="0">
            <a:normAutofit/>
          </a:bodyPr>
          <a:lstStyle/>
          <a:p>
            <a:pPr indent="0" lvl="0" marL="0" marR="0" rtl="0" algn="l">
              <a:lnSpc>
                <a:spcPct val="122222"/>
              </a:lnSpc>
              <a:spcBef>
                <a:spcPts val="0"/>
              </a:spcBef>
              <a:spcAft>
                <a:spcPts val="0"/>
              </a:spcAft>
              <a:buClr>
                <a:srgbClr val="FFFFFF"/>
              </a:buClr>
              <a:buSzPts val="2700"/>
              <a:buFont typeface="Arial"/>
              <a:buNone/>
            </a:pPr>
            <a:r>
              <a:rPr b="1" i="0" lang="en-US" sz="2700">
                <a:solidFill>
                  <a:srgbClr val="FFFFFF"/>
                </a:solidFill>
                <a:latin typeface="Arial"/>
                <a:ea typeface="Arial"/>
                <a:cs typeface="Arial"/>
                <a:sym typeface="Arial"/>
              </a:rPr>
              <a:t>Vocal communication II: song learning, sensitive periods, the template model (Marler &amp; Konishi)</a:t>
            </a:r>
            <a:endParaRPr sz="1800">
              <a:solidFill>
                <a:schemeClr val="dk1"/>
              </a:solidFill>
              <a:latin typeface="Calibri"/>
              <a:ea typeface="Calibri"/>
              <a:cs typeface="Calibri"/>
              <a:sym typeface="Calibri"/>
            </a:endParaRPr>
          </a:p>
        </p:txBody>
      </p:sp>
      <p:sp>
        <p:nvSpPr>
          <p:cNvPr id="23" name="Google Shape;23;p1"/>
          <p:cNvSpPr/>
          <p:nvPr/>
        </p:nvSpPr>
        <p:spPr>
          <a:xfrm>
            <a:off x="685800" y="4974200"/>
            <a:ext cx="4972200" cy="328500"/>
          </a:xfrm>
          <a:prstGeom prst="rect">
            <a:avLst/>
          </a:prstGeom>
          <a:noFill/>
          <a:ln>
            <a:noFill/>
          </a:ln>
        </p:spPr>
        <p:txBody>
          <a:bodyPr anchorCtr="0" anchor="t" bIns="0" lIns="0" spcFirstLastPara="1" rIns="0" wrap="square" tIns="0">
            <a:normAutofit/>
          </a:bodyPr>
          <a:lstStyle/>
          <a:p>
            <a:pPr indent="0" lvl="0" marL="0" marR="0" rtl="0" algn="l">
              <a:lnSpc>
                <a:spcPct val="150028"/>
              </a:lnSpc>
              <a:spcBef>
                <a:spcPts val="0"/>
              </a:spcBef>
              <a:spcAft>
                <a:spcPts val="0"/>
              </a:spcAft>
              <a:buClr>
                <a:srgbClr val="FFFFFF"/>
              </a:buClr>
              <a:buSzPts val="1725"/>
              <a:buFont typeface="Arial"/>
              <a:buNone/>
            </a:pPr>
            <a:r>
              <a:rPr b="0" i="0" lang="en-US" sz="1625">
                <a:solidFill>
                  <a:srgbClr val="FFFFFF"/>
                </a:solidFill>
                <a:latin typeface="Arial"/>
                <a:ea typeface="Arial"/>
                <a:cs typeface="Arial"/>
                <a:sym typeface="Arial"/>
              </a:rPr>
              <a:t>Friday, November 13, 2026</a:t>
            </a:r>
            <a:endParaRPr sz="1700">
              <a:solidFill>
                <a:schemeClr val="dk1"/>
              </a:solidFill>
              <a:latin typeface="Calibri"/>
              <a:ea typeface="Calibri"/>
              <a:cs typeface="Calibri"/>
              <a:sym typeface="Calibri"/>
            </a:endParaRPr>
          </a:p>
        </p:txBody>
      </p:sp>
      <p:pic>
        <p:nvPicPr>
          <p:cNvPr id="24" name="Google Shape;24;p1"/>
          <p:cNvPicPr preferRelativeResize="0"/>
          <p:nvPr/>
        </p:nvPicPr>
        <p:blipFill rotWithShape="1">
          <a:blip r:embed="rId3">
            <a:alphaModFix/>
          </a:blip>
          <a:srcRect b="0" l="0" r="0" t="0"/>
          <a:stretch/>
        </p:blipFill>
        <p:spPr>
          <a:xfrm>
            <a:off x="6667500" y="1587903"/>
            <a:ext cx="4953000" cy="3301194"/>
          </a:xfrm>
          <a:prstGeom prst="rect">
            <a:avLst/>
          </a:prstGeom>
          <a:noFill/>
          <a:ln>
            <a:noFill/>
          </a:ln>
        </p:spPr>
      </p:pic>
      <p:sp>
        <p:nvSpPr>
          <p:cNvPr id="25" name="Google Shape;25;p1"/>
          <p:cNvSpPr/>
          <p:nvPr/>
        </p:nvSpPr>
        <p:spPr>
          <a:xfrm>
            <a:off x="6667500" y="5476875"/>
            <a:ext cx="49720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Photo: Wolfgang Wander, CC BY-SA 3.0. Wikimedia Commons.</a:t>
            </a:r>
            <a:endParaRPr sz="1800">
              <a:solidFill>
                <a:schemeClr val="dk1"/>
              </a:solidFill>
              <a:latin typeface="Calibri"/>
              <a:ea typeface="Calibri"/>
              <a:cs typeface="Calibri"/>
              <a:sym typeface="Calibri"/>
            </a:endParaRPr>
          </a:p>
        </p:txBody>
      </p:sp>
      <p:sp>
        <p:nvSpPr>
          <p:cNvPr id="26" name="Google Shape;26;p1"/>
          <p:cNvSpPr/>
          <p:nvPr/>
        </p:nvSpPr>
        <p:spPr>
          <a:xfrm>
            <a:off x="685800" y="5435352"/>
            <a:ext cx="4743600" cy="1644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2697B"/>
              </a:buClr>
              <a:buSzPts val="1200"/>
              <a:buFont typeface="Arial"/>
              <a:buNone/>
            </a:pPr>
            <a:r>
              <a:rPr b="0" i="0" lang="en-US" sz="1200">
                <a:solidFill>
                  <a:srgbClr val="F3F2F3"/>
                </a:solidFill>
                <a:latin typeface="Arial"/>
                <a:ea typeface="Arial"/>
                <a:cs typeface="Arial"/>
                <a:sym typeface="Arial"/>
              </a:rPr>
              <a:t>Jordan Lopez, Ph.D.</a:t>
            </a:r>
            <a:endParaRPr sz="1800">
              <a:solidFill>
                <a:srgbClr val="F3F2F3"/>
              </a:solidFill>
              <a:latin typeface="Calibri"/>
              <a:ea typeface="Calibri"/>
              <a:cs typeface="Calibri"/>
              <a:sym typeface="Calibri"/>
            </a:endParaRPr>
          </a:p>
        </p:txBody>
      </p:sp>
      <p:sp>
        <p:nvSpPr>
          <p:cNvPr id="27" name="Google Shape;27;p1"/>
          <p:cNvSpPr/>
          <p:nvPr/>
        </p:nvSpPr>
        <p:spPr>
          <a:xfrm>
            <a:off x="685800" y="5625108"/>
            <a:ext cx="4743600" cy="1644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52697B"/>
              </a:buClr>
              <a:buSzPts val="1200"/>
              <a:buFont typeface="Arial"/>
              <a:buNone/>
            </a:pPr>
            <a:r>
              <a:rPr b="0" i="0" lang="en-US" sz="1200">
                <a:solidFill>
                  <a:srgbClr val="F4F1F2"/>
                </a:solidFill>
                <a:latin typeface="Arial"/>
                <a:ea typeface="Arial"/>
                <a:cs typeface="Arial"/>
                <a:sym typeface="Arial"/>
              </a:rPr>
              <a:t>Professor of Neurobiology &amp; Biomedical Engineering</a:t>
            </a:r>
            <a:endParaRPr sz="1800">
              <a:solidFill>
                <a:srgbClr val="F4F1F2"/>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 name="Shape 31"/>
        <p:cNvGrpSpPr/>
        <p:nvPr/>
      </p:nvGrpSpPr>
      <p:grpSpPr>
        <a:xfrm>
          <a:off x="0" y="0"/>
          <a:ext cx="0" cy="0"/>
          <a:chOff x="0" y="0"/>
          <a:chExt cx="0" cy="0"/>
        </a:xfrm>
      </p:grpSpPr>
      <p:sp>
        <p:nvSpPr>
          <p:cNvPr id="32" name="Google Shape;32;p2"/>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Song learning changes the structure of vocal output</a:t>
            </a:r>
            <a:endParaRPr sz="1800">
              <a:solidFill>
                <a:schemeClr val="dk1"/>
              </a:solidFill>
              <a:latin typeface="Calibri"/>
              <a:ea typeface="Calibri"/>
              <a:cs typeface="Calibri"/>
              <a:sym typeface="Calibri"/>
            </a:endParaRPr>
          </a:p>
        </p:txBody>
      </p:sp>
      <p:sp>
        <p:nvSpPr>
          <p:cNvPr id="33" name="Google Shape;33;p2"/>
          <p:cNvSpPr/>
          <p:nvPr/>
        </p:nvSpPr>
        <p:spPr>
          <a:xfrm>
            <a:off x="571500" y="1238250"/>
            <a:ext cx="5400675" cy="16002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1" i="0" lang="en-US" sz="1575">
                <a:solidFill>
                  <a:srgbClr val="29272C"/>
                </a:solidFill>
                <a:latin typeface="Arial"/>
                <a:ea typeface="Arial"/>
                <a:cs typeface="Arial"/>
                <a:sym typeface="Arial"/>
              </a:rPr>
              <a:t>Vocal learning</a:t>
            </a:r>
            <a:r>
              <a:rPr b="0" i="0" lang="en-US" sz="1575">
                <a:solidFill>
                  <a:srgbClr val="29272C"/>
                </a:solidFill>
                <a:latin typeface="Arial"/>
                <a:ea typeface="Arial"/>
                <a:cs typeface="Arial"/>
                <a:sym typeface="Arial"/>
              </a:rPr>
              <a:t> changes the acoustic form of a sound through experience. In white-crowned sparrows, </a:t>
            </a:r>
            <a:r>
              <a:rPr b="0" i="1" lang="en-US" sz="1575">
                <a:solidFill>
                  <a:srgbClr val="29272C"/>
                </a:solidFill>
                <a:latin typeface="Arial"/>
                <a:ea typeface="Arial"/>
                <a:cs typeface="Arial"/>
                <a:sym typeface="Arial"/>
              </a:rPr>
              <a:t>Zonotrichia leucophrys</a:t>
            </a:r>
            <a:r>
              <a:rPr b="0" i="0" lang="en-US" sz="1575">
                <a:solidFill>
                  <a:srgbClr val="29272C"/>
                </a:solidFill>
                <a:latin typeface="Arial"/>
                <a:ea typeface="Arial"/>
                <a:cs typeface="Arial"/>
                <a:sym typeface="Arial"/>
              </a:rPr>
              <a:t>, males acquire distinctive song patterns from adult songs heard while young. This differs from learning when to emit an already available call.</a:t>
            </a:r>
            <a:endParaRPr sz="1800">
              <a:solidFill>
                <a:schemeClr val="dk1"/>
              </a:solidFill>
              <a:latin typeface="Calibri"/>
              <a:ea typeface="Calibri"/>
              <a:cs typeface="Calibri"/>
              <a:sym typeface="Calibri"/>
            </a:endParaRPr>
          </a:p>
        </p:txBody>
      </p:sp>
      <p:sp>
        <p:nvSpPr>
          <p:cNvPr id="34" name="Google Shape;34;p2"/>
          <p:cNvSpPr/>
          <p:nvPr/>
        </p:nvSpPr>
        <p:spPr>
          <a:xfrm>
            <a:off x="571500" y="30099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Marler analyzed sound spectrograms, which display frequency against time. Whistle phrases and repeated trill syllables provided recognizable components for comparing a pupil's song with its training model.</a:t>
            </a:r>
            <a:endParaRPr sz="1800">
              <a:solidFill>
                <a:schemeClr val="dk1"/>
              </a:solidFill>
              <a:latin typeface="Calibri"/>
              <a:ea typeface="Calibri"/>
              <a:cs typeface="Calibri"/>
              <a:sym typeface="Calibri"/>
            </a:endParaRPr>
          </a:p>
        </p:txBody>
      </p:sp>
      <p:sp>
        <p:nvSpPr>
          <p:cNvPr id="35" name="Google Shape;35;p2"/>
          <p:cNvSpPr/>
          <p:nvPr/>
        </p:nvSpPr>
        <p:spPr>
          <a:xfrm>
            <a:off x="571500" y="42481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A song can preserve its general whistle–trill organization yet fail to reproduce the tutor's detailed syllables. Vocal learning therefore requires assessment of acoustic structure, rather than simply counting how often a bird sings.</a:t>
            </a:r>
            <a:endParaRPr sz="1800">
              <a:solidFill>
                <a:schemeClr val="dk1"/>
              </a:solidFill>
              <a:latin typeface="Calibri"/>
              <a:ea typeface="Calibri"/>
              <a:cs typeface="Calibri"/>
              <a:sym typeface="Calibri"/>
            </a:endParaRPr>
          </a:p>
        </p:txBody>
      </p:sp>
      <p:sp>
        <p:nvSpPr>
          <p:cNvPr id="36" name="Google Shape;36;p2"/>
          <p:cNvSpPr/>
          <p:nvPr/>
        </p:nvSpPr>
        <p:spPr>
          <a:xfrm>
            <a:off x="571500" y="57531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Whistle portions are comparatively sustained sounds, while trills contain repeated acoustic elements. Their frequency trajectories and repetition patterns distinguish a detailed copy from broad resemblance.</a:t>
            </a:r>
            <a:endParaRPr sz="1800">
              <a:solidFill>
                <a:schemeClr val="dk1"/>
              </a:solidFill>
              <a:latin typeface="Calibri"/>
              <a:ea typeface="Calibri"/>
              <a:cs typeface="Calibri"/>
              <a:sym typeface="Calibri"/>
            </a:endParaRPr>
          </a:p>
        </p:txBody>
      </p:sp>
      <p:pic>
        <p:nvPicPr>
          <p:cNvPr id="37" name="Google Shape;37;p2"/>
          <p:cNvPicPr preferRelativeResize="0"/>
          <p:nvPr/>
        </p:nvPicPr>
        <p:blipFill rotWithShape="1">
          <a:blip r:embed="rId3">
            <a:alphaModFix/>
          </a:blip>
          <a:srcRect b="0" l="0" r="0" t="0"/>
          <a:stretch/>
        </p:blipFill>
        <p:spPr>
          <a:xfrm>
            <a:off x="7505725" y="1238250"/>
            <a:ext cx="3181301" cy="4143375"/>
          </a:xfrm>
          <a:prstGeom prst="rect">
            <a:avLst/>
          </a:prstGeom>
          <a:noFill/>
          <a:ln>
            <a:noFill/>
          </a:ln>
        </p:spPr>
      </p:pic>
      <p:sp>
        <p:nvSpPr>
          <p:cNvPr id="38" name="Google Shape;38;p2"/>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2. Whistle and trill portions of male song.</a:t>
            </a:r>
            <a:endParaRPr sz="1800">
              <a:solidFill>
                <a:schemeClr val="dk1"/>
              </a:solidFill>
              <a:latin typeface="Calibri"/>
              <a:ea typeface="Calibri"/>
              <a:cs typeface="Calibri"/>
              <a:sym typeface="Calibri"/>
            </a:endParaRPr>
          </a:p>
        </p:txBody>
      </p:sp>
      <p:sp>
        <p:nvSpPr>
          <p:cNvPr id="39" name="Google Shape;39;p2"/>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40" name="Google Shape;40;p2"/>
          <p:cNvSpPr/>
          <p:nvPr/>
        </p:nvSpPr>
        <p:spPr>
          <a:xfrm>
            <a:off x="11544151" y="6419850"/>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 name="Shape 44"/>
        <p:cNvGrpSpPr/>
        <p:nvPr/>
      </p:nvGrpSpPr>
      <p:grpSpPr>
        <a:xfrm>
          <a:off x="0" y="0"/>
          <a:ext cx="0" cy="0"/>
          <a:chOff x="0" y="0"/>
          <a:chExt cx="0" cy="0"/>
        </a:xfrm>
      </p:grpSpPr>
      <p:sp>
        <p:nvSpPr>
          <p:cNvPr id="45" name="Google Shape;45;p3"/>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Song and calls have different developmental requirements</a:t>
            </a:r>
            <a:endParaRPr sz="1800">
              <a:solidFill>
                <a:schemeClr val="dk1"/>
              </a:solidFill>
              <a:latin typeface="Calibri"/>
              <a:ea typeface="Calibri"/>
              <a:cs typeface="Calibri"/>
              <a:sym typeface="Calibri"/>
            </a:endParaRPr>
          </a:p>
        </p:txBody>
      </p:sp>
      <p:sp>
        <p:nvSpPr>
          <p:cNvPr id="46" name="Google Shape;46;p3"/>
          <p:cNvSpPr/>
          <p:nvPr/>
        </p:nvSpPr>
        <p:spPr>
          <a:xfrm>
            <a:off x="571500" y="12382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White-crowned sparrows produce several vocalizations, including short calls and the elaborate male song. A </a:t>
            </a:r>
            <a:r>
              <a:rPr b="1" i="0" lang="en-US" sz="1575">
                <a:solidFill>
                  <a:srgbClr val="29272C"/>
                </a:solidFill>
                <a:latin typeface="Arial"/>
                <a:ea typeface="Arial"/>
                <a:cs typeface="Arial"/>
                <a:sym typeface="Arial"/>
              </a:rPr>
              <a:t>call</a:t>
            </a:r>
            <a:r>
              <a:rPr b="0" i="0" lang="en-US" sz="1575">
                <a:solidFill>
                  <a:srgbClr val="29272C"/>
                </a:solidFill>
                <a:latin typeface="Arial"/>
                <a:ea typeface="Arial"/>
                <a:cs typeface="Arial"/>
                <a:sym typeface="Arial"/>
              </a:rPr>
              <a:t> is a relatively brief vocal signal; the song contains organized whistle and trill components repeated during the breeding season.</a:t>
            </a:r>
            <a:endParaRPr sz="1800">
              <a:solidFill>
                <a:schemeClr val="dk1"/>
              </a:solidFill>
              <a:latin typeface="Calibri"/>
              <a:ea typeface="Calibri"/>
              <a:cs typeface="Calibri"/>
              <a:sym typeface="Calibri"/>
            </a:endParaRPr>
          </a:p>
        </p:txBody>
      </p:sp>
      <p:sp>
        <p:nvSpPr>
          <p:cNvPr id="47" name="Google Shape;47;p3"/>
          <p:cNvSpPr/>
          <p:nvPr/>
        </p:nvSpPr>
        <p:spPr>
          <a:xfrm>
            <a:off x="571500" y="27432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Marler's spectrograms distinguish adult calls from juvenile begging and location calls. Their different acoustic forms make it possible to identify which vocalization is being measured during development.</a:t>
            </a:r>
            <a:endParaRPr sz="1800">
              <a:solidFill>
                <a:schemeClr val="dk1"/>
              </a:solidFill>
              <a:latin typeface="Calibri"/>
              <a:ea typeface="Calibri"/>
              <a:cs typeface="Calibri"/>
              <a:sym typeface="Calibri"/>
            </a:endParaRPr>
          </a:p>
        </p:txBody>
      </p:sp>
      <p:sp>
        <p:nvSpPr>
          <p:cNvPr id="48" name="Google Shape;48;p3"/>
          <p:cNvSpPr/>
          <p:nvPr/>
        </p:nvSpPr>
        <p:spPr>
          <a:xfrm>
            <a:off x="571500" y="398145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learning experiments concern song structure, rather than every sound the species produces. Abnormal song after acoustic isolation cannot be generalized into a claim that all sparrow vocal behavior requires imitation.</a:t>
            </a:r>
            <a:endParaRPr sz="1800">
              <a:solidFill>
                <a:schemeClr val="dk1"/>
              </a:solidFill>
              <a:latin typeface="Calibri"/>
              <a:ea typeface="Calibri"/>
              <a:cs typeface="Calibri"/>
              <a:sym typeface="Calibri"/>
            </a:endParaRPr>
          </a:p>
        </p:txBody>
      </p:sp>
      <p:sp>
        <p:nvSpPr>
          <p:cNvPr id="49" name="Google Shape;49;p3"/>
          <p:cNvSpPr/>
          <p:nvPr/>
        </p:nvSpPr>
        <p:spPr>
          <a:xfrm>
            <a:off x="571500" y="52197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adult song is produced by males, whereas many shorter calls occur in both sexes. These differences prevent equating the song-learning experiment with acquisition of the entire vocal repertoire.</a:t>
            </a:r>
            <a:endParaRPr sz="1800">
              <a:solidFill>
                <a:schemeClr val="dk1"/>
              </a:solidFill>
              <a:latin typeface="Calibri"/>
              <a:ea typeface="Calibri"/>
              <a:cs typeface="Calibri"/>
              <a:sym typeface="Calibri"/>
            </a:endParaRPr>
          </a:p>
        </p:txBody>
      </p:sp>
      <p:pic>
        <p:nvPicPr>
          <p:cNvPr id="50" name="Google Shape;50;p3"/>
          <p:cNvPicPr preferRelativeResize="0"/>
          <p:nvPr/>
        </p:nvPicPr>
        <p:blipFill rotWithShape="1">
          <a:blip r:embed="rId3">
            <a:alphaModFix/>
          </a:blip>
          <a:srcRect b="0" l="0" r="0" t="0"/>
          <a:stretch/>
        </p:blipFill>
        <p:spPr>
          <a:xfrm>
            <a:off x="7169561" y="1238250"/>
            <a:ext cx="3853628" cy="4143375"/>
          </a:xfrm>
          <a:prstGeom prst="rect">
            <a:avLst/>
          </a:prstGeom>
          <a:noFill/>
          <a:ln>
            <a:noFill/>
          </a:ln>
        </p:spPr>
      </p:pic>
      <p:sp>
        <p:nvSpPr>
          <p:cNvPr id="51" name="Google Shape;51;p3"/>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1. Major song and call vocalizations.</a:t>
            </a:r>
            <a:endParaRPr sz="1800">
              <a:solidFill>
                <a:schemeClr val="dk1"/>
              </a:solidFill>
              <a:latin typeface="Calibri"/>
              <a:ea typeface="Calibri"/>
              <a:cs typeface="Calibri"/>
              <a:sym typeface="Calibri"/>
            </a:endParaRPr>
          </a:p>
        </p:txBody>
      </p:sp>
      <p:sp>
        <p:nvSpPr>
          <p:cNvPr id="52" name="Google Shape;52;p3"/>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53" name="Google Shape;53;p3"/>
          <p:cNvSpPr/>
          <p:nvPr/>
        </p:nvSpPr>
        <p:spPr>
          <a:xfrm>
            <a:off x="11544151" y="6419850"/>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sp>
        <p:nvSpPr>
          <p:cNvPr id="58" name="Google Shape;58;p4"/>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Local dialects provide acoustic models for learning</a:t>
            </a:r>
            <a:endParaRPr sz="1800">
              <a:solidFill>
                <a:schemeClr val="dk1"/>
              </a:solidFill>
              <a:latin typeface="Calibri"/>
              <a:ea typeface="Calibri"/>
              <a:cs typeface="Calibri"/>
              <a:sym typeface="Calibri"/>
            </a:endParaRPr>
          </a:p>
        </p:txBody>
      </p:sp>
      <p:sp>
        <p:nvSpPr>
          <p:cNvPr id="59" name="Google Shape;59;p4"/>
          <p:cNvSpPr/>
          <p:nvPr/>
        </p:nvSpPr>
        <p:spPr>
          <a:xfrm>
            <a:off x="571500" y="123825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A </a:t>
            </a:r>
            <a:r>
              <a:rPr b="1" i="0" lang="en-US" sz="1575">
                <a:solidFill>
                  <a:srgbClr val="29272C"/>
                </a:solidFill>
                <a:latin typeface="Arial"/>
                <a:ea typeface="Arial"/>
                <a:cs typeface="Arial"/>
                <a:sym typeface="Arial"/>
              </a:rPr>
              <a:t>dialect</a:t>
            </a:r>
            <a:r>
              <a:rPr b="0" i="0" lang="en-US" sz="1575">
                <a:solidFill>
                  <a:srgbClr val="29272C"/>
                </a:solidFill>
                <a:latin typeface="Arial"/>
                <a:ea typeface="Arial"/>
                <a:cs typeface="Arial"/>
                <a:sym typeface="Arial"/>
              </a:rPr>
              <a:t> is a song pattern shared within a local population but differing from patterns elsewhere in the same species. Marler compared white-crowned sparrow songs from several parts of the San Francisco Bay area.</a:t>
            </a:r>
            <a:endParaRPr sz="1800">
              <a:solidFill>
                <a:schemeClr val="dk1"/>
              </a:solidFill>
              <a:latin typeface="Calibri"/>
              <a:ea typeface="Calibri"/>
              <a:cs typeface="Calibri"/>
              <a:sym typeface="Calibri"/>
            </a:endParaRPr>
          </a:p>
        </p:txBody>
      </p:sp>
      <p:sp>
        <p:nvSpPr>
          <p:cNvPr id="60" name="Google Shape;60;p4"/>
          <p:cNvSpPr/>
          <p:nvPr/>
        </p:nvSpPr>
        <p:spPr>
          <a:xfrm>
            <a:off x="571500" y="247650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populations shared broad species characteristics while differing in syllable structure and arrangement. These differences supplied alternative training models whose distinctive details could be recognized in later songs.</a:t>
            </a:r>
            <a:endParaRPr sz="1800">
              <a:solidFill>
                <a:schemeClr val="dk1"/>
              </a:solidFill>
              <a:latin typeface="Calibri"/>
              <a:ea typeface="Calibri"/>
              <a:cs typeface="Calibri"/>
              <a:sym typeface="Calibri"/>
            </a:endParaRPr>
          </a:p>
        </p:txBody>
      </p:sp>
      <p:sp>
        <p:nvSpPr>
          <p:cNvPr id="61" name="Google Shape;61;p4"/>
          <p:cNvSpPr/>
          <p:nvPr/>
        </p:nvSpPr>
        <p:spPr>
          <a:xfrm>
            <a:off x="571500" y="39814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Geographical resemblance alone does not establish learning, because neighboring birds can also share ancestry and habitat. Controlled exposure to a particular dialect was required to separate the acoustic model from the bird's place of origin.</a:t>
            </a:r>
            <a:endParaRPr sz="1800">
              <a:solidFill>
                <a:schemeClr val="dk1"/>
              </a:solidFill>
              <a:latin typeface="Calibri"/>
              <a:ea typeface="Calibri"/>
              <a:cs typeface="Calibri"/>
              <a:sym typeface="Calibri"/>
            </a:endParaRPr>
          </a:p>
        </p:txBody>
      </p:sp>
      <p:sp>
        <p:nvSpPr>
          <p:cNvPr id="62" name="Google Shape;62;p4"/>
          <p:cNvSpPr/>
          <p:nvPr/>
        </p:nvSpPr>
        <p:spPr>
          <a:xfrm>
            <a:off x="571500" y="5486400"/>
            <a:ext cx="5400675" cy="8001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An alien dialect is still conspecific song. Learning its details would separate the source of an acoustic pattern from the pupil’s geographical population of origin.</a:t>
            </a:r>
            <a:endParaRPr sz="1800">
              <a:solidFill>
                <a:schemeClr val="dk1"/>
              </a:solidFill>
              <a:latin typeface="Calibri"/>
              <a:ea typeface="Calibri"/>
              <a:cs typeface="Calibri"/>
              <a:sym typeface="Calibri"/>
            </a:endParaRPr>
          </a:p>
        </p:txBody>
      </p:sp>
      <p:pic>
        <p:nvPicPr>
          <p:cNvPr id="63" name="Google Shape;63;p4"/>
          <p:cNvPicPr preferRelativeResize="0"/>
          <p:nvPr/>
        </p:nvPicPr>
        <p:blipFill rotWithShape="1">
          <a:blip r:embed="rId3">
            <a:alphaModFix/>
          </a:blip>
          <a:srcRect b="0" l="0" r="0" t="0"/>
          <a:stretch/>
        </p:blipFill>
        <p:spPr>
          <a:xfrm>
            <a:off x="7120131" y="1238250"/>
            <a:ext cx="3952488" cy="4143375"/>
          </a:xfrm>
          <a:prstGeom prst="rect">
            <a:avLst/>
          </a:prstGeom>
          <a:noFill/>
          <a:ln>
            <a:noFill/>
          </a:ln>
        </p:spPr>
      </p:pic>
      <p:sp>
        <p:nvSpPr>
          <p:cNvPr id="64" name="Google Shape;64;p4"/>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3. Local song dialects.</a:t>
            </a:r>
            <a:endParaRPr sz="1800">
              <a:solidFill>
                <a:schemeClr val="dk1"/>
              </a:solidFill>
              <a:latin typeface="Calibri"/>
              <a:ea typeface="Calibri"/>
              <a:cs typeface="Calibri"/>
              <a:sym typeface="Calibri"/>
            </a:endParaRPr>
          </a:p>
        </p:txBody>
      </p:sp>
      <p:sp>
        <p:nvSpPr>
          <p:cNvPr id="65" name="Google Shape;65;p4"/>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66" name="Google Shape;66;p4"/>
          <p:cNvSpPr/>
          <p:nvPr/>
        </p:nvSpPr>
        <p:spPr>
          <a:xfrm>
            <a:off x="11544151" y="6419850"/>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 name="Shape 70"/>
        <p:cNvGrpSpPr/>
        <p:nvPr/>
      </p:nvGrpSpPr>
      <p:grpSpPr>
        <a:xfrm>
          <a:off x="0" y="0"/>
          <a:ext cx="0" cy="0"/>
          <a:chOff x="0" y="0"/>
          <a:chExt cx="0" cy="0"/>
        </a:xfrm>
      </p:grpSpPr>
      <p:sp>
        <p:nvSpPr>
          <p:cNvPr id="71" name="Google Shape;71;p5"/>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Field experience can precede laboratory isolation</a:t>
            </a:r>
            <a:endParaRPr sz="1800">
              <a:solidFill>
                <a:schemeClr val="dk1"/>
              </a:solidFill>
              <a:latin typeface="Calibri"/>
              <a:ea typeface="Calibri"/>
              <a:cs typeface="Calibri"/>
              <a:sym typeface="Calibri"/>
            </a:endParaRPr>
          </a:p>
        </p:txBody>
      </p:sp>
      <p:sp>
        <p:nvSpPr>
          <p:cNvPr id="72" name="Google Shape;72;p5"/>
          <p:cNvSpPr/>
          <p:nvPr/>
        </p:nvSpPr>
        <p:spPr>
          <a:xfrm>
            <a:off x="571500" y="123825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A bird brought into isolation after spending time in the wild may already have heard a usable song model. Marler distinguished birds collected after fledging from birds collected as very young nestlings.</a:t>
            </a:r>
            <a:endParaRPr sz="1800">
              <a:solidFill>
                <a:schemeClr val="dk1"/>
              </a:solidFill>
              <a:latin typeface="Calibri"/>
              <a:ea typeface="Calibri"/>
              <a:cs typeface="Calibri"/>
              <a:sym typeface="Calibri"/>
            </a:endParaRPr>
          </a:p>
        </p:txBody>
      </p:sp>
      <p:sp>
        <p:nvSpPr>
          <p:cNvPr id="73" name="Google Shape;73;p5"/>
          <p:cNvSpPr/>
          <p:nvPr/>
        </p:nvSpPr>
        <p:spPr>
          <a:xfrm>
            <a:off x="571500" y="24765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songs of birds isolated after early field experience could retain local dialect characteristics. Those outcomes cannot be interpreted as normal development in the complete absence of adult song.</a:t>
            </a:r>
            <a:endParaRPr sz="1800">
              <a:solidFill>
                <a:schemeClr val="dk1"/>
              </a:solidFill>
              <a:latin typeface="Calibri"/>
              <a:ea typeface="Calibri"/>
              <a:cs typeface="Calibri"/>
              <a:sym typeface="Calibri"/>
            </a:endParaRPr>
          </a:p>
        </p:txBody>
      </p:sp>
      <p:sp>
        <p:nvSpPr>
          <p:cNvPr id="74" name="Google Shape;74;p5"/>
          <p:cNvSpPr/>
          <p:nvPr/>
        </p:nvSpPr>
        <p:spPr>
          <a:xfrm>
            <a:off x="571500" y="37147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age and acoustic history at collection are therefore part of the experimental treatment. Removing a bird from its natural environment does not erase information acquired before capture, even when its full song emerges much later.</a:t>
            </a:r>
            <a:endParaRPr sz="1800">
              <a:solidFill>
                <a:schemeClr val="dk1"/>
              </a:solidFill>
              <a:latin typeface="Calibri"/>
              <a:ea typeface="Calibri"/>
              <a:cs typeface="Calibri"/>
              <a:sym typeface="Calibri"/>
            </a:endParaRPr>
          </a:p>
        </p:txBody>
      </p:sp>
      <p:sp>
        <p:nvSpPr>
          <p:cNvPr id="75" name="Google Shape;75;p5"/>
          <p:cNvSpPr/>
          <p:nvPr/>
        </p:nvSpPr>
        <p:spPr>
          <a:xfrm>
            <a:off x="571500" y="52197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comparison songs from the capture area provide a reference for identifying retained dialect details. Without that reference, normal-looking adult structure cannot identify the source of learning.</a:t>
            </a:r>
            <a:endParaRPr sz="1800">
              <a:solidFill>
                <a:schemeClr val="dk1"/>
              </a:solidFill>
              <a:latin typeface="Calibri"/>
              <a:ea typeface="Calibri"/>
              <a:cs typeface="Calibri"/>
              <a:sym typeface="Calibri"/>
            </a:endParaRPr>
          </a:p>
        </p:txBody>
      </p:sp>
      <p:pic>
        <p:nvPicPr>
          <p:cNvPr id="76" name="Google Shape;76;p5"/>
          <p:cNvPicPr preferRelativeResize="0"/>
          <p:nvPr/>
        </p:nvPicPr>
        <p:blipFill rotWithShape="1">
          <a:blip r:embed="rId3">
            <a:alphaModFix/>
          </a:blip>
          <a:srcRect b="0" l="0" r="0" t="0"/>
          <a:stretch/>
        </p:blipFill>
        <p:spPr>
          <a:xfrm>
            <a:off x="6745209" y="1238250"/>
            <a:ext cx="4702331" cy="4143375"/>
          </a:xfrm>
          <a:prstGeom prst="rect">
            <a:avLst/>
          </a:prstGeom>
          <a:noFill/>
          <a:ln>
            <a:noFill/>
          </a:ln>
        </p:spPr>
      </p:pic>
      <p:sp>
        <p:nvSpPr>
          <p:cNvPr id="77" name="Google Shape;77;p5"/>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4. Development following early field experience.</a:t>
            </a:r>
            <a:endParaRPr sz="1800">
              <a:solidFill>
                <a:schemeClr val="dk1"/>
              </a:solidFill>
              <a:latin typeface="Calibri"/>
              <a:ea typeface="Calibri"/>
              <a:cs typeface="Calibri"/>
              <a:sym typeface="Calibri"/>
            </a:endParaRPr>
          </a:p>
        </p:txBody>
      </p:sp>
      <p:sp>
        <p:nvSpPr>
          <p:cNvPr id="78" name="Google Shape;78;p5"/>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79" name="Google Shape;79;p5"/>
          <p:cNvSpPr/>
          <p:nvPr/>
        </p:nvSpPr>
        <p:spPr>
          <a:xfrm>
            <a:off x="11544151" y="6419850"/>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5</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6"/>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Early isolation prevents normal song development</a:t>
            </a:r>
            <a:endParaRPr sz="1800">
              <a:solidFill>
                <a:schemeClr val="dk1"/>
              </a:solidFill>
              <a:latin typeface="Calibri"/>
              <a:ea typeface="Calibri"/>
              <a:cs typeface="Calibri"/>
              <a:sym typeface="Calibri"/>
            </a:endParaRPr>
          </a:p>
        </p:txBody>
      </p:sp>
      <p:sp>
        <p:nvSpPr>
          <p:cNvPr id="85" name="Google Shape;85;p6"/>
          <p:cNvSpPr/>
          <p:nvPr/>
        </p:nvSpPr>
        <p:spPr>
          <a:xfrm>
            <a:off x="571500" y="12382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1" i="0" lang="en-US" sz="1575">
                <a:solidFill>
                  <a:srgbClr val="29272C"/>
                </a:solidFill>
                <a:latin typeface="Arial"/>
                <a:ea typeface="Arial"/>
                <a:cs typeface="Arial"/>
                <a:sym typeface="Arial"/>
              </a:rPr>
              <a:t>Acoustic isolation</a:t>
            </a:r>
            <a:r>
              <a:rPr b="0" i="0" lang="en-US" sz="1575">
                <a:solidFill>
                  <a:srgbClr val="29272C"/>
                </a:solidFill>
                <a:latin typeface="Arial"/>
                <a:ea typeface="Arial"/>
                <a:cs typeface="Arial"/>
                <a:sym typeface="Arial"/>
              </a:rPr>
              <a:t> excludes the adult song models normally available during development. Marler reared nestling white-crowned sparrows without normal adult song and compared their later vocalizations with natural dialects.</a:t>
            </a:r>
            <a:endParaRPr sz="1800">
              <a:solidFill>
                <a:schemeClr val="dk1"/>
              </a:solidFill>
              <a:latin typeface="Calibri"/>
              <a:ea typeface="Calibri"/>
              <a:cs typeface="Calibri"/>
              <a:sym typeface="Calibri"/>
            </a:endParaRPr>
          </a:p>
        </p:txBody>
      </p:sp>
      <p:sp>
        <p:nvSpPr>
          <p:cNvPr id="86" name="Google Shape;86;p6"/>
          <p:cNvSpPr/>
          <p:nvPr/>
        </p:nvSpPr>
        <p:spPr>
          <a:xfrm>
            <a:off x="571500" y="27432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isolates still sang, but their songs were simplified or abnormal in detailed syllable structure. Production of sound was therefore preserved while normal organization of the learned song was disrupted.</a:t>
            </a:r>
            <a:endParaRPr sz="1800">
              <a:solidFill>
                <a:schemeClr val="dk1"/>
              </a:solidFill>
              <a:latin typeface="Calibri"/>
              <a:ea typeface="Calibri"/>
              <a:cs typeface="Calibri"/>
              <a:sym typeface="Calibri"/>
            </a:endParaRPr>
          </a:p>
        </p:txBody>
      </p:sp>
      <p:sp>
        <p:nvSpPr>
          <p:cNvPr id="87" name="Google Shape;87;p6"/>
          <p:cNvSpPr/>
          <p:nvPr/>
        </p:nvSpPr>
        <p:spPr>
          <a:xfrm>
            <a:off x="571500" y="3981450"/>
            <a:ext cx="5400675" cy="16002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Isolation separates spontaneous vocal development from experience-dependent refinement. It does not imply that every component is learned: some broad tendencies can emerge without tutoring, while the detailed adult pattern depends on an appropriate acoustic environment.</a:t>
            </a:r>
            <a:endParaRPr sz="1800">
              <a:solidFill>
                <a:schemeClr val="dk1"/>
              </a:solidFill>
              <a:latin typeface="Calibri"/>
              <a:ea typeface="Calibri"/>
              <a:cs typeface="Calibri"/>
              <a:sym typeface="Calibri"/>
            </a:endParaRPr>
          </a:p>
        </p:txBody>
      </p:sp>
      <p:sp>
        <p:nvSpPr>
          <p:cNvPr id="88" name="Google Shape;88;p6"/>
          <p:cNvSpPr/>
          <p:nvPr/>
        </p:nvSpPr>
        <p:spPr>
          <a:xfrm>
            <a:off x="571500" y="57531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isolates’ developmental series retain a record of earlier vocal forms. Comparing only their final songs would conceal the gradual emergence of the abnormal mature patterns.</a:t>
            </a:r>
            <a:endParaRPr sz="1800">
              <a:solidFill>
                <a:schemeClr val="dk1"/>
              </a:solidFill>
              <a:latin typeface="Calibri"/>
              <a:ea typeface="Calibri"/>
              <a:cs typeface="Calibri"/>
              <a:sym typeface="Calibri"/>
            </a:endParaRPr>
          </a:p>
        </p:txBody>
      </p:sp>
      <p:pic>
        <p:nvPicPr>
          <p:cNvPr id="89" name="Google Shape;89;p6"/>
          <p:cNvPicPr preferRelativeResize="0"/>
          <p:nvPr/>
        </p:nvPicPr>
        <p:blipFill rotWithShape="1">
          <a:blip r:embed="rId3">
            <a:alphaModFix/>
          </a:blip>
          <a:srcRect b="0" l="0" r="0" t="0"/>
          <a:stretch/>
        </p:blipFill>
        <p:spPr>
          <a:xfrm>
            <a:off x="6572250" y="1815675"/>
            <a:ext cx="5048250" cy="2988526"/>
          </a:xfrm>
          <a:prstGeom prst="rect">
            <a:avLst/>
          </a:prstGeom>
          <a:noFill/>
          <a:ln>
            <a:noFill/>
          </a:ln>
        </p:spPr>
      </p:pic>
      <p:sp>
        <p:nvSpPr>
          <p:cNvPr id="90" name="Google Shape;90;p6"/>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5. Song development in acoustic isolation.</a:t>
            </a:r>
            <a:endParaRPr sz="1800">
              <a:solidFill>
                <a:schemeClr val="dk1"/>
              </a:solidFill>
              <a:latin typeface="Calibri"/>
              <a:ea typeface="Calibri"/>
              <a:cs typeface="Calibri"/>
              <a:sym typeface="Calibri"/>
            </a:endParaRPr>
          </a:p>
        </p:txBody>
      </p:sp>
      <p:sp>
        <p:nvSpPr>
          <p:cNvPr id="91" name="Google Shape;91;p6"/>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92" name="Google Shape;92;p6"/>
          <p:cNvSpPr/>
          <p:nvPr/>
        </p:nvSpPr>
        <p:spPr>
          <a:xfrm>
            <a:off x="11544151" y="6419850"/>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6</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 name="Shape 96"/>
        <p:cNvGrpSpPr/>
        <p:nvPr/>
      </p:nvGrpSpPr>
      <p:grpSpPr>
        <a:xfrm>
          <a:off x="0" y="0"/>
          <a:ext cx="0" cy="0"/>
          <a:chOff x="0" y="0"/>
          <a:chExt cx="0" cy="0"/>
        </a:xfrm>
      </p:grpSpPr>
      <p:sp>
        <p:nvSpPr>
          <p:cNvPr id="97" name="Google Shape;97;p7"/>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Young companions do not replace an adult song model</a:t>
            </a:r>
            <a:endParaRPr sz="1800">
              <a:solidFill>
                <a:schemeClr val="dk1"/>
              </a:solidFill>
              <a:latin typeface="Calibri"/>
              <a:ea typeface="Calibri"/>
              <a:cs typeface="Calibri"/>
              <a:sym typeface="Calibri"/>
            </a:endParaRPr>
          </a:p>
        </p:txBody>
      </p:sp>
      <p:sp>
        <p:nvSpPr>
          <p:cNvPr id="98" name="Google Shape;98;p7"/>
          <p:cNvSpPr/>
          <p:nvPr/>
        </p:nvSpPr>
        <p:spPr>
          <a:xfrm>
            <a:off x="571500" y="123825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Marler also raised young white-crowned sparrows together while excluding adult song. </a:t>
            </a:r>
            <a:r>
              <a:rPr b="1" i="0" lang="en-US" sz="1575">
                <a:solidFill>
                  <a:srgbClr val="29272C"/>
                </a:solidFill>
                <a:latin typeface="Arial"/>
                <a:ea typeface="Arial"/>
                <a:cs typeface="Arial"/>
                <a:sym typeface="Arial"/>
              </a:rPr>
              <a:t>Group isolation</a:t>
            </a:r>
            <a:r>
              <a:rPr b="0" i="0" lang="en-US" sz="1575">
                <a:solidFill>
                  <a:srgbClr val="29272C"/>
                </a:solidFill>
                <a:latin typeface="Arial"/>
                <a:ea typeface="Arial"/>
                <a:cs typeface="Arial"/>
                <a:sym typeface="Arial"/>
              </a:rPr>
              <a:t> preserves interactions among young birds but removes the normal adult acoustic model.</a:t>
            </a:r>
            <a:endParaRPr sz="1800">
              <a:solidFill>
                <a:schemeClr val="dk1"/>
              </a:solidFill>
              <a:latin typeface="Calibri"/>
              <a:ea typeface="Calibri"/>
              <a:cs typeface="Calibri"/>
              <a:sym typeface="Calibri"/>
            </a:endParaRPr>
          </a:p>
        </p:txBody>
      </p:sp>
      <p:sp>
        <p:nvSpPr>
          <p:cNvPr id="99" name="Google Shape;99;p7"/>
          <p:cNvSpPr/>
          <p:nvPr/>
        </p:nvSpPr>
        <p:spPr>
          <a:xfrm>
            <a:off x="571500" y="24765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resulting songs remained abnormal. Their companions' developing vocalizations did not supply the same information as an established adult dialect under these experimental conditions.</a:t>
            </a:r>
            <a:endParaRPr sz="1800">
              <a:solidFill>
                <a:schemeClr val="dk1"/>
              </a:solidFill>
              <a:latin typeface="Calibri"/>
              <a:ea typeface="Calibri"/>
              <a:cs typeface="Calibri"/>
              <a:sym typeface="Calibri"/>
            </a:endParaRPr>
          </a:p>
        </p:txBody>
      </p:sp>
      <p:sp>
        <p:nvSpPr>
          <p:cNvPr id="100" name="Google Shape;100;p7"/>
          <p:cNvSpPr/>
          <p:nvPr/>
        </p:nvSpPr>
        <p:spPr>
          <a:xfrm>
            <a:off x="571500" y="3714750"/>
            <a:ext cx="5400675" cy="16002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This comparison distinguishes access to other birds from access to an appropriate tutor. A group can provide social stimulation without providing the mature song pattern needed for accurate imitation; the result does not establish that social interactions are irrelevant to learning.</a:t>
            </a:r>
            <a:endParaRPr sz="1800">
              <a:solidFill>
                <a:schemeClr val="dk1"/>
              </a:solidFill>
              <a:latin typeface="Calibri"/>
              <a:ea typeface="Calibri"/>
              <a:cs typeface="Calibri"/>
              <a:sym typeface="Calibri"/>
            </a:endParaRPr>
          </a:p>
        </p:txBody>
      </p:sp>
      <p:sp>
        <p:nvSpPr>
          <p:cNvPr id="101" name="Google Shape;101;p7"/>
          <p:cNvSpPr/>
          <p:nvPr/>
        </p:nvSpPr>
        <p:spPr>
          <a:xfrm>
            <a:off x="571500" y="54864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Individual and group isolation both removed adult song. Their similar abnormal outcomes in this study identify a missing adult model rather than simply the absence of young companions.</a:t>
            </a:r>
            <a:endParaRPr sz="1800">
              <a:solidFill>
                <a:schemeClr val="dk1"/>
              </a:solidFill>
              <a:latin typeface="Calibri"/>
              <a:ea typeface="Calibri"/>
              <a:cs typeface="Calibri"/>
              <a:sym typeface="Calibri"/>
            </a:endParaRPr>
          </a:p>
        </p:txBody>
      </p:sp>
      <p:pic>
        <p:nvPicPr>
          <p:cNvPr id="102" name="Google Shape;102;p7"/>
          <p:cNvPicPr preferRelativeResize="0"/>
          <p:nvPr/>
        </p:nvPicPr>
        <p:blipFill rotWithShape="1">
          <a:blip r:embed="rId3">
            <a:alphaModFix/>
          </a:blip>
          <a:srcRect b="0" l="0" r="0" t="0"/>
          <a:stretch/>
        </p:blipFill>
        <p:spPr>
          <a:xfrm>
            <a:off x="6572250" y="1311968"/>
            <a:ext cx="5048250" cy="3995939"/>
          </a:xfrm>
          <a:prstGeom prst="rect">
            <a:avLst/>
          </a:prstGeom>
          <a:noFill/>
          <a:ln>
            <a:noFill/>
          </a:ln>
        </p:spPr>
      </p:pic>
      <p:sp>
        <p:nvSpPr>
          <p:cNvPr id="103" name="Google Shape;103;p7"/>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6. Songs of group-isolated males.</a:t>
            </a:r>
            <a:endParaRPr sz="1800">
              <a:solidFill>
                <a:schemeClr val="dk1"/>
              </a:solidFill>
              <a:latin typeface="Calibri"/>
              <a:ea typeface="Calibri"/>
              <a:cs typeface="Calibri"/>
              <a:sym typeface="Calibri"/>
            </a:endParaRPr>
          </a:p>
        </p:txBody>
      </p:sp>
      <p:sp>
        <p:nvSpPr>
          <p:cNvPr id="104" name="Google Shape;104;p7"/>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105" name="Google Shape;105;p7"/>
          <p:cNvSpPr/>
          <p:nvPr/>
        </p:nvSpPr>
        <p:spPr>
          <a:xfrm>
            <a:off x="11544151" y="6419850"/>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7</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8"/>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Very early playback does not guarantee song copying</a:t>
            </a:r>
            <a:endParaRPr sz="1800">
              <a:solidFill>
                <a:schemeClr val="dk1"/>
              </a:solidFill>
              <a:latin typeface="Calibri"/>
              <a:ea typeface="Calibri"/>
              <a:cs typeface="Calibri"/>
              <a:sym typeface="Calibri"/>
            </a:endParaRPr>
          </a:p>
        </p:txBody>
      </p:sp>
      <p:sp>
        <p:nvSpPr>
          <p:cNvPr id="111" name="Google Shape;111;p8"/>
          <p:cNvSpPr/>
          <p:nvPr/>
        </p:nvSpPr>
        <p:spPr>
          <a:xfrm>
            <a:off x="571500" y="123825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Song exposure can be ineffective even when it occurs before the usual learning interval. Marler tested playback during the nestling phase and followed the later development of isolated males.</a:t>
            </a:r>
            <a:endParaRPr sz="1800">
              <a:solidFill>
                <a:schemeClr val="dk1"/>
              </a:solidFill>
              <a:latin typeface="Calibri"/>
              <a:ea typeface="Calibri"/>
              <a:cs typeface="Calibri"/>
              <a:sym typeface="Calibri"/>
            </a:endParaRPr>
          </a:p>
        </p:txBody>
      </p:sp>
      <p:sp>
        <p:nvSpPr>
          <p:cNvPr id="112" name="Google Shape;112;p8"/>
          <p:cNvSpPr/>
          <p:nvPr/>
        </p:nvSpPr>
        <p:spPr>
          <a:xfrm>
            <a:off x="571500" y="24765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Exposure before about 10 days of age did not produce detailed copying comparable to effective early fledgling training. An acoustic signal's presence therefore does not by itself establish that the bird stores it as a song model.</a:t>
            </a:r>
            <a:endParaRPr sz="1800">
              <a:solidFill>
                <a:schemeClr val="dk1"/>
              </a:solidFill>
              <a:latin typeface="Calibri"/>
              <a:ea typeface="Calibri"/>
              <a:cs typeface="Calibri"/>
              <a:sym typeface="Calibri"/>
            </a:endParaRPr>
          </a:p>
        </p:txBody>
      </p:sp>
      <p:sp>
        <p:nvSpPr>
          <p:cNvPr id="113" name="Google Shape;113;p8"/>
          <p:cNvSpPr/>
          <p:nvPr/>
        </p:nvSpPr>
        <p:spPr>
          <a:xfrm>
            <a:off x="571500" y="371475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distinction concerns developmental responsiveness to the tested recordings. It does not establish an inability to hear every sound, nor does it imply that all kinds of early sensory experience have no developmental effects.</a:t>
            </a:r>
            <a:endParaRPr sz="1800">
              <a:solidFill>
                <a:schemeClr val="dk1"/>
              </a:solidFill>
              <a:latin typeface="Calibri"/>
              <a:ea typeface="Calibri"/>
              <a:cs typeface="Calibri"/>
              <a:sym typeface="Calibri"/>
            </a:endParaRPr>
          </a:p>
        </p:txBody>
      </p:sp>
      <p:pic>
        <p:nvPicPr>
          <p:cNvPr id="114" name="Google Shape;114;p8"/>
          <p:cNvPicPr preferRelativeResize="0"/>
          <p:nvPr/>
        </p:nvPicPr>
        <p:blipFill rotWithShape="1">
          <a:blip r:embed="rId3">
            <a:alphaModFix/>
          </a:blip>
          <a:srcRect b="0" l="0" r="0" t="0"/>
          <a:stretch/>
        </p:blipFill>
        <p:spPr>
          <a:xfrm>
            <a:off x="6741475" y="1238250"/>
            <a:ext cx="4709800" cy="4143375"/>
          </a:xfrm>
          <a:prstGeom prst="rect">
            <a:avLst/>
          </a:prstGeom>
          <a:noFill/>
          <a:ln>
            <a:noFill/>
          </a:ln>
        </p:spPr>
      </p:pic>
      <p:sp>
        <p:nvSpPr>
          <p:cNvPr id="115" name="Google Shape;115;p8"/>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7. Development after very early or late exposure.</a:t>
            </a:r>
            <a:endParaRPr sz="1800">
              <a:solidFill>
                <a:schemeClr val="dk1"/>
              </a:solidFill>
              <a:latin typeface="Calibri"/>
              <a:ea typeface="Calibri"/>
              <a:cs typeface="Calibri"/>
              <a:sym typeface="Calibri"/>
            </a:endParaRPr>
          </a:p>
        </p:txBody>
      </p:sp>
      <p:sp>
        <p:nvSpPr>
          <p:cNvPr id="116" name="Google Shape;116;p8"/>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117" name="Google Shape;117;p8"/>
          <p:cNvSpPr/>
          <p:nvPr/>
        </p:nvSpPr>
        <p:spPr>
          <a:xfrm>
            <a:off x="11544151" y="6419850"/>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8</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p9"/>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Early fledgling tutoring supports detailed imitation</a:t>
            </a:r>
            <a:endParaRPr sz="1800">
              <a:solidFill>
                <a:schemeClr val="dk1"/>
              </a:solidFill>
              <a:latin typeface="Calibri"/>
              <a:ea typeface="Calibri"/>
              <a:cs typeface="Calibri"/>
              <a:sym typeface="Calibri"/>
            </a:endParaRPr>
          </a:p>
        </p:txBody>
      </p:sp>
      <p:sp>
        <p:nvSpPr>
          <p:cNvPr id="123" name="Google Shape;123;p9"/>
          <p:cNvSpPr/>
          <p:nvPr/>
        </p:nvSpPr>
        <p:spPr>
          <a:xfrm>
            <a:off x="571500" y="123825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Marler presented recorded songs to otherwise isolated young males during defined age intervals. Early tutoring included exposure from days 8–28 or days 35–56, followed by development without continued adult song.</a:t>
            </a:r>
            <a:endParaRPr sz="1800">
              <a:solidFill>
                <a:schemeClr val="dk1"/>
              </a:solidFill>
              <a:latin typeface="Calibri"/>
              <a:ea typeface="Calibri"/>
              <a:cs typeface="Calibri"/>
              <a:sym typeface="Calibri"/>
            </a:endParaRPr>
          </a:p>
        </p:txBody>
      </p:sp>
      <p:sp>
        <p:nvSpPr>
          <p:cNvPr id="124" name="Google Shape;124;p9"/>
          <p:cNvSpPr/>
          <p:nvPr/>
        </p:nvSpPr>
        <p:spPr>
          <a:xfrm>
            <a:off x="571500" y="247650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eventual songs were good copies of the white-crowned sparrow model, although a final vibrato component could be missing. </a:t>
            </a:r>
            <a:r>
              <a:rPr b="1" i="0" lang="en-US" sz="1575">
                <a:solidFill>
                  <a:srgbClr val="29272C"/>
                </a:solidFill>
                <a:latin typeface="Arial"/>
                <a:ea typeface="Arial"/>
                <a:cs typeface="Arial"/>
                <a:sym typeface="Arial"/>
              </a:rPr>
              <a:t>Imitation</a:t>
            </a:r>
            <a:r>
              <a:rPr b="0" i="0" lang="en-US" sz="1575">
                <a:solidFill>
                  <a:srgbClr val="29272C"/>
                </a:solidFill>
                <a:latin typeface="Arial"/>
                <a:ea typeface="Arial"/>
                <a:cs typeface="Arial"/>
                <a:sym typeface="Arial"/>
              </a:rPr>
              <a:t> here means reproduction of identifiable acoustic details, rather than merely a broadly normal song.</a:t>
            </a:r>
            <a:endParaRPr sz="1800">
              <a:solidFill>
                <a:schemeClr val="dk1"/>
              </a:solidFill>
              <a:latin typeface="Calibri"/>
              <a:ea typeface="Calibri"/>
              <a:cs typeface="Calibri"/>
              <a:sym typeface="Calibri"/>
            </a:endParaRPr>
          </a:p>
        </p:txBody>
      </p:sp>
      <p:sp>
        <p:nvSpPr>
          <p:cNvPr id="125" name="Google Shape;125;p9"/>
          <p:cNvSpPr/>
          <p:nvPr/>
        </p:nvSpPr>
        <p:spPr>
          <a:xfrm>
            <a:off x="571500" y="39814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Because the mature song appeared long after tutoring, the recordings must have influenced information retained for later vocal development. The behavioral experiment establishes delayed learning without locating the stored information in a particular neuron.</a:t>
            </a:r>
            <a:endParaRPr sz="1800">
              <a:solidFill>
                <a:schemeClr val="dk1"/>
              </a:solidFill>
              <a:latin typeface="Calibri"/>
              <a:ea typeface="Calibri"/>
              <a:cs typeface="Calibri"/>
              <a:sym typeface="Calibri"/>
            </a:endParaRPr>
          </a:p>
        </p:txBody>
      </p:sp>
      <p:sp>
        <p:nvSpPr>
          <p:cNvPr id="126" name="Google Shape;126;p9"/>
          <p:cNvSpPr/>
          <p:nvPr/>
        </p:nvSpPr>
        <p:spPr>
          <a:xfrm>
            <a:off x="571500" y="54864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After the recorded exposure ended, the young males remained isolated. Subsequent resemblance to the earlier model therefore did not require continued availability of that recording during mature singing.</a:t>
            </a:r>
            <a:endParaRPr sz="1800">
              <a:solidFill>
                <a:schemeClr val="dk1"/>
              </a:solidFill>
              <a:latin typeface="Calibri"/>
              <a:ea typeface="Calibri"/>
              <a:cs typeface="Calibri"/>
              <a:sym typeface="Calibri"/>
            </a:endParaRPr>
          </a:p>
        </p:txBody>
      </p:sp>
      <p:pic>
        <p:nvPicPr>
          <p:cNvPr id="127" name="Google Shape;127;p9"/>
          <p:cNvPicPr preferRelativeResize="0"/>
          <p:nvPr/>
        </p:nvPicPr>
        <p:blipFill rotWithShape="1">
          <a:blip r:embed="rId3">
            <a:alphaModFix/>
          </a:blip>
          <a:srcRect b="0" l="0" r="0" t="0"/>
          <a:stretch/>
        </p:blipFill>
        <p:spPr>
          <a:xfrm>
            <a:off x="6591690" y="1238250"/>
            <a:ext cx="5009369" cy="4143375"/>
          </a:xfrm>
          <a:prstGeom prst="rect">
            <a:avLst/>
          </a:prstGeom>
          <a:noFill/>
          <a:ln>
            <a:noFill/>
          </a:ln>
        </p:spPr>
      </p:pic>
      <p:sp>
        <p:nvSpPr>
          <p:cNvPr id="128" name="Google Shape;128;p9"/>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9. Development after early conspecific and alien tutoring.</a:t>
            </a:r>
            <a:endParaRPr sz="1800">
              <a:solidFill>
                <a:schemeClr val="dk1"/>
              </a:solidFill>
              <a:latin typeface="Calibri"/>
              <a:ea typeface="Calibri"/>
              <a:cs typeface="Calibri"/>
              <a:sym typeface="Calibri"/>
            </a:endParaRPr>
          </a:p>
        </p:txBody>
      </p:sp>
      <p:sp>
        <p:nvSpPr>
          <p:cNvPr id="129" name="Google Shape;129;p9"/>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130" name="Google Shape;130;p9"/>
          <p:cNvSpPr/>
          <p:nvPr/>
        </p:nvSpPr>
        <p:spPr>
          <a:xfrm>
            <a:off x="11544151" y="6419850"/>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9</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 name="Shape 134"/>
        <p:cNvGrpSpPr/>
        <p:nvPr/>
      </p:nvGrpSpPr>
      <p:grpSpPr>
        <a:xfrm>
          <a:off x="0" y="0"/>
          <a:ext cx="0" cy="0"/>
          <a:chOff x="0" y="0"/>
          <a:chExt cx="0" cy="0"/>
        </a:xfrm>
      </p:grpSpPr>
      <p:sp>
        <p:nvSpPr>
          <p:cNvPr id="135" name="Google Shape;135;p10"/>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A brief playback schedule can supply a usable model</a:t>
            </a:r>
            <a:endParaRPr sz="1800">
              <a:solidFill>
                <a:schemeClr val="dk1"/>
              </a:solidFill>
              <a:latin typeface="Calibri"/>
              <a:ea typeface="Calibri"/>
              <a:cs typeface="Calibri"/>
              <a:sym typeface="Calibri"/>
            </a:endParaRPr>
          </a:p>
        </p:txBody>
      </p:sp>
      <p:sp>
        <p:nvSpPr>
          <p:cNvPr id="136" name="Google Shape;136;p10"/>
          <p:cNvSpPr/>
          <p:nvPr/>
        </p:nvSpPr>
        <p:spPr>
          <a:xfrm>
            <a:off x="571500" y="12382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In Marler's early training experiment, pupils heard two minutes of white-crowned sparrow song and two minutes of another species' song in morning and afternoon sessions. Presentation order alternated across sessions and days.</a:t>
            </a:r>
            <a:endParaRPr sz="1800">
              <a:solidFill>
                <a:schemeClr val="dk1"/>
              </a:solidFill>
              <a:latin typeface="Calibri"/>
              <a:ea typeface="Calibri"/>
              <a:cs typeface="Calibri"/>
              <a:sym typeface="Calibri"/>
            </a:endParaRPr>
          </a:p>
        </p:txBody>
      </p:sp>
      <p:sp>
        <p:nvSpPr>
          <p:cNvPr id="137" name="Google Shape;137;p10"/>
          <p:cNvSpPr/>
          <p:nvPr/>
        </p:nvSpPr>
        <p:spPr>
          <a:xfrm>
            <a:off x="571500" y="27432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recordings were played at six songs per minute. Effective learning therefore occurred from controlled episodes of exposure, rather than continuous access to a singing adult throughout development.</a:t>
            </a:r>
            <a:endParaRPr sz="1800">
              <a:solidFill>
                <a:schemeClr val="dk1"/>
              </a:solidFill>
              <a:latin typeface="Calibri"/>
              <a:ea typeface="Calibri"/>
              <a:cs typeface="Calibri"/>
              <a:sym typeface="Calibri"/>
            </a:endParaRPr>
          </a:p>
        </p:txBody>
      </p:sp>
      <p:sp>
        <p:nvSpPr>
          <p:cNvPr id="138" name="Google Shape;138;p10"/>
          <p:cNvSpPr/>
          <p:nvPr/>
        </p:nvSpPr>
        <p:spPr>
          <a:xfrm>
            <a:off x="571500" y="3981450"/>
            <a:ext cx="5400675" cy="16002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Alternating the order reduced a simple presentation-order explanation for selective copying. The experiment established that this schedule could support learning; it did not determine the minimum exposure required or prove that live tutoring and recorded tutoring are equivalent.</a:t>
            </a:r>
            <a:endParaRPr sz="1800">
              <a:solidFill>
                <a:schemeClr val="dk1"/>
              </a:solidFill>
              <a:latin typeface="Calibri"/>
              <a:ea typeface="Calibri"/>
              <a:cs typeface="Calibri"/>
              <a:sym typeface="Calibri"/>
            </a:endParaRPr>
          </a:p>
        </p:txBody>
      </p:sp>
      <p:sp>
        <p:nvSpPr>
          <p:cNvPr id="139" name="Google Shape;139;p10"/>
          <p:cNvSpPr/>
          <p:nvPr/>
        </p:nvSpPr>
        <p:spPr>
          <a:xfrm>
            <a:off x="571500" y="57531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Harris’ sparrow song resembles white-crowned sparrow song more closely than the tested song sparrow recording. Neither alien pattern left a recognizable trace in the resulting copied songs.</a:t>
            </a:r>
            <a:endParaRPr sz="1800">
              <a:solidFill>
                <a:schemeClr val="dk1"/>
              </a:solidFill>
              <a:latin typeface="Calibri"/>
              <a:ea typeface="Calibri"/>
              <a:cs typeface="Calibri"/>
              <a:sym typeface="Calibri"/>
            </a:endParaRPr>
          </a:p>
        </p:txBody>
      </p:sp>
      <p:pic>
        <p:nvPicPr>
          <p:cNvPr id="140" name="Google Shape;140;p10"/>
          <p:cNvPicPr preferRelativeResize="0"/>
          <p:nvPr/>
        </p:nvPicPr>
        <p:blipFill rotWithShape="1">
          <a:blip r:embed="rId3">
            <a:alphaModFix/>
          </a:blip>
          <a:srcRect b="0" l="0" r="0" t="0"/>
          <a:stretch/>
        </p:blipFill>
        <p:spPr>
          <a:xfrm>
            <a:off x="6591690" y="1238250"/>
            <a:ext cx="5009369" cy="4143375"/>
          </a:xfrm>
          <a:prstGeom prst="rect">
            <a:avLst/>
          </a:prstGeom>
          <a:noFill/>
          <a:ln>
            <a:noFill/>
          </a:ln>
        </p:spPr>
      </p:pic>
      <p:sp>
        <p:nvSpPr>
          <p:cNvPr id="141" name="Google Shape;141;p10"/>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9. Development after early conspecific and alien tutoring.</a:t>
            </a:r>
            <a:endParaRPr sz="1800">
              <a:solidFill>
                <a:schemeClr val="dk1"/>
              </a:solidFill>
              <a:latin typeface="Calibri"/>
              <a:ea typeface="Calibri"/>
              <a:cs typeface="Calibri"/>
              <a:sym typeface="Calibri"/>
            </a:endParaRPr>
          </a:p>
        </p:txBody>
      </p:sp>
      <p:sp>
        <p:nvSpPr>
          <p:cNvPr id="142" name="Google Shape;142;p10"/>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143" name="Google Shape;143;p10"/>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10</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 name="Shape 147"/>
        <p:cNvGrpSpPr/>
        <p:nvPr/>
      </p:nvGrpSpPr>
      <p:grpSpPr>
        <a:xfrm>
          <a:off x="0" y="0"/>
          <a:ext cx="0" cy="0"/>
          <a:chOff x="0" y="0"/>
          <a:chExt cx="0" cy="0"/>
        </a:xfrm>
      </p:grpSpPr>
      <p:sp>
        <p:nvSpPr>
          <p:cNvPr id="148" name="Google Shape;148;p11"/>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Later tutoring can spare organization without fine copying</a:t>
            </a:r>
            <a:endParaRPr sz="1800">
              <a:solidFill>
                <a:schemeClr val="dk1"/>
              </a:solidFill>
              <a:latin typeface="Calibri"/>
              <a:ea typeface="Calibri"/>
              <a:cs typeface="Calibri"/>
              <a:sym typeface="Calibri"/>
            </a:endParaRPr>
          </a:p>
        </p:txBody>
      </p:sp>
      <p:sp>
        <p:nvSpPr>
          <p:cNvPr id="149" name="Google Shape;149;p11"/>
          <p:cNvSpPr/>
          <p:nvPr/>
        </p:nvSpPr>
        <p:spPr>
          <a:xfrm>
            <a:off x="571500" y="123825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Pupils trained from days 50–71 did not reproduce the training models in detailed syllable form. One developed an isolate-like song, whereas another retained a more normal division into whistle and trill portions.</a:t>
            </a:r>
            <a:endParaRPr sz="1800">
              <a:solidFill>
                <a:schemeClr val="dk1"/>
              </a:solidFill>
              <a:latin typeface="Calibri"/>
              <a:ea typeface="Calibri"/>
              <a:cs typeface="Calibri"/>
              <a:sym typeface="Calibri"/>
            </a:endParaRPr>
          </a:p>
        </p:txBody>
      </p:sp>
      <p:sp>
        <p:nvSpPr>
          <p:cNvPr id="150" name="Google Shape;150;p11"/>
          <p:cNvSpPr/>
          <p:nvPr/>
        </p:nvSpPr>
        <p:spPr>
          <a:xfrm>
            <a:off x="571500" y="247650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This partial outcome distinguishes coarse song organization from accurate copying. A late experience can shift development toward species-typical structure without installing all the detailed features obtained after earlier training.</a:t>
            </a:r>
            <a:endParaRPr sz="1800">
              <a:solidFill>
                <a:schemeClr val="dk1"/>
              </a:solidFill>
              <a:latin typeface="Calibri"/>
              <a:ea typeface="Calibri"/>
              <a:cs typeface="Calibri"/>
              <a:sym typeface="Calibri"/>
            </a:endParaRPr>
          </a:p>
        </p:txBody>
      </p:sp>
      <p:sp>
        <p:nvSpPr>
          <p:cNvPr id="151" name="Google Shape;151;p11"/>
          <p:cNvSpPr/>
          <p:nvPr/>
        </p:nvSpPr>
        <p:spPr>
          <a:xfrm>
            <a:off x="571500" y="39814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A </a:t>
            </a:r>
            <a:r>
              <a:rPr b="1" i="0" lang="en-US" sz="1575">
                <a:solidFill>
                  <a:srgbClr val="29272C"/>
                </a:solidFill>
                <a:latin typeface="Arial"/>
                <a:ea typeface="Arial"/>
                <a:cs typeface="Arial"/>
                <a:sym typeface="Arial"/>
              </a:rPr>
              <a:t>sensitive period</a:t>
            </a:r>
            <a:r>
              <a:rPr b="0" i="0" lang="en-US" sz="1575">
                <a:solidFill>
                  <a:srgbClr val="29272C"/>
                </a:solidFill>
                <a:latin typeface="Arial"/>
                <a:ea typeface="Arial"/>
                <a:cs typeface="Arial"/>
                <a:sym typeface="Arial"/>
              </a:rPr>
              <a:t> is an interval of enhanced responsiveness to experience. Its boundary depends on the measured outcome: loss of detailed imitation need not coincide with complete loss of every developmental influence from song exposure.</a:t>
            </a:r>
            <a:endParaRPr sz="1800">
              <a:solidFill>
                <a:schemeClr val="dk1"/>
              </a:solidFill>
              <a:latin typeface="Calibri"/>
              <a:ea typeface="Calibri"/>
              <a:cs typeface="Calibri"/>
              <a:sym typeface="Calibri"/>
            </a:endParaRPr>
          </a:p>
        </p:txBody>
      </p:sp>
      <p:sp>
        <p:nvSpPr>
          <p:cNvPr id="152" name="Google Shape;152;p11"/>
          <p:cNvSpPr/>
          <p:nvPr/>
        </p:nvSpPr>
        <p:spPr>
          <a:xfrm>
            <a:off x="571500" y="5486400"/>
            <a:ext cx="5400675" cy="8001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whistle and trill division is a coarse organizational feature. Its survival in one late-trained male did not include matching the model’s detailed trill syllables.</a:t>
            </a:r>
            <a:endParaRPr sz="1800">
              <a:solidFill>
                <a:schemeClr val="dk1"/>
              </a:solidFill>
              <a:latin typeface="Calibri"/>
              <a:ea typeface="Calibri"/>
              <a:cs typeface="Calibri"/>
              <a:sym typeface="Calibri"/>
            </a:endParaRPr>
          </a:p>
        </p:txBody>
      </p:sp>
      <p:pic>
        <p:nvPicPr>
          <p:cNvPr id="153" name="Google Shape;153;p11"/>
          <p:cNvPicPr preferRelativeResize="0"/>
          <p:nvPr/>
        </p:nvPicPr>
        <p:blipFill rotWithShape="1">
          <a:blip r:embed="rId3">
            <a:alphaModFix/>
          </a:blip>
          <a:srcRect b="0" l="0" r="0" t="0"/>
          <a:stretch/>
        </p:blipFill>
        <p:spPr>
          <a:xfrm>
            <a:off x="6572250" y="1430732"/>
            <a:ext cx="5048250" cy="3758410"/>
          </a:xfrm>
          <a:prstGeom prst="rect">
            <a:avLst/>
          </a:prstGeom>
          <a:noFill/>
          <a:ln>
            <a:noFill/>
          </a:ln>
        </p:spPr>
      </p:pic>
      <p:sp>
        <p:nvSpPr>
          <p:cNvPr id="154" name="Google Shape;154;p11"/>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10. Development after tutoring on days 50–71.</a:t>
            </a:r>
            <a:endParaRPr sz="1800">
              <a:solidFill>
                <a:schemeClr val="dk1"/>
              </a:solidFill>
              <a:latin typeface="Calibri"/>
              <a:ea typeface="Calibri"/>
              <a:cs typeface="Calibri"/>
              <a:sym typeface="Calibri"/>
            </a:endParaRPr>
          </a:p>
        </p:txBody>
      </p:sp>
      <p:sp>
        <p:nvSpPr>
          <p:cNvPr id="155" name="Google Shape;155;p11"/>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156" name="Google Shape;156;p11"/>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11</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0" name="Shape 160"/>
        <p:cNvGrpSpPr/>
        <p:nvPr/>
      </p:nvGrpSpPr>
      <p:grpSpPr>
        <a:xfrm>
          <a:off x="0" y="0"/>
          <a:ext cx="0" cy="0"/>
          <a:chOff x="0" y="0"/>
          <a:chExt cx="0" cy="0"/>
        </a:xfrm>
      </p:grpSpPr>
      <p:sp>
        <p:nvSpPr>
          <p:cNvPr id="161" name="Google Shape;161;p12"/>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Late exposure does not simply rewrite established song</a:t>
            </a:r>
            <a:endParaRPr sz="1800">
              <a:solidFill>
                <a:schemeClr val="dk1"/>
              </a:solidFill>
              <a:latin typeface="Calibri"/>
              <a:ea typeface="Calibri"/>
              <a:cs typeface="Calibri"/>
              <a:sym typeface="Calibri"/>
            </a:endParaRPr>
          </a:p>
        </p:txBody>
      </p:sp>
      <p:sp>
        <p:nvSpPr>
          <p:cNvPr id="162" name="Google Shape;162;p12"/>
          <p:cNvSpPr/>
          <p:nvPr/>
        </p:nvSpPr>
        <p:spPr>
          <a:xfrm>
            <a:off x="571500" y="123825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Marler tested song exposure at later ages as well as in early development. Playback around or after 100 days did not yield the detailed training-song reproduction associated with the earlier effective interval.</a:t>
            </a:r>
            <a:endParaRPr sz="1800">
              <a:solidFill>
                <a:schemeClr val="dk1"/>
              </a:solidFill>
              <a:latin typeface="Calibri"/>
              <a:ea typeface="Calibri"/>
              <a:cs typeface="Calibri"/>
              <a:sym typeface="Calibri"/>
            </a:endParaRPr>
          </a:p>
        </p:txBody>
      </p:sp>
      <p:sp>
        <p:nvSpPr>
          <p:cNvPr id="163" name="Google Shape;163;p12"/>
          <p:cNvSpPr/>
          <p:nvPr/>
        </p:nvSpPr>
        <p:spPr>
          <a:xfrm>
            <a:off x="571500" y="24765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outcome contrasts with the ability of younger pupils to acquire a specific dialect. Developmental age changed the effect of an acoustic model that could otherwise be suitable for the species.</a:t>
            </a:r>
            <a:endParaRPr sz="1800">
              <a:solidFill>
                <a:schemeClr val="dk1"/>
              </a:solidFill>
              <a:latin typeface="Calibri"/>
              <a:ea typeface="Calibri"/>
              <a:cs typeface="Calibri"/>
              <a:sym typeface="Calibri"/>
            </a:endParaRPr>
          </a:p>
        </p:txBody>
      </p:sp>
      <p:sp>
        <p:nvSpPr>
          <p:cNvPr id="164" name="Google Shape;164;p12"/>
          <p:cNvSpPr/>
          <p:nvPr/>
        </p:nvSpPr>
        <p:spPr>
          <a:xfrm>
            <a:off x="571500" y="37147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These findings concern the tested subspecies and playback conditions. They support an age-dependent limitation on detailed song acquisition, rather than a universal rule that every songbird must stop learning at the same chronological age.</a:t>
            </a:r>
            <a:endParaRPr sz="1800">
              <a:solidFill>
                <a:schemeClr val="dk1"/>
              </a:solidFill>
              <a:latin typeface="Calibri"/>
              <a:ea typeface="Calibri"/>
              <a:cs typeface="Calibri"/>
              <a:sym typeface="Calibri"/>
            </a:endParaRPr>
          </a:p>
        </p:txBody>
      </p:sp>
      <p:sp>
        <p:nvSpPr>
          <p:cNvPr id="165" name="Google Shape;165;p12"/>
          <p:cNvSpPr/>
          <p:nvPr/>
        </p:nvSpPr>
        <p:spPr>
          <a:xfrm>
            <a:off x="571500" y="52197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later field-collected birds also had earlier acoustic histories. Their exposure records matter when distinguishing a new playback effect from information acquired before laboratory testing.</a:t>
            </a:r>
            <a:endParaRPr sz="1800">
              <a:solidFill>
                <a:schemeClr val="dk1"/>
              </a:solidFill>
              <a:latin typeface="Calibri"/>
              <a:ea typeface="Calibri"/>
              <a:cs typeface="Calibri"/>
              <a:sym typeface="Calibri"/>
            </a:endParaRPr>
          </a:p>
        </p:txBody>
      </p:sp>
      <p:pic>
        <p:nvPicPr>
          <p:cNvPr id="166" name="Google Shape;166;p12"/>
          <p:cNvPicPr preferRelativeResize="0"/>
          <p:nvPr/>
        </p:nvPicPr>
        <p:blipFill rotWithShape="1">
          <a:blip r:embed="rId3">
            <a:alphaModFix/>
          </a:blip>
          <a:srcRect b="0" l="0" r="0" t="0"/>
          <a:stretch/>
        </p:blipFill>
        <p:spPr>
          <a:xfrm>
            <a:off x="6572250" y="1376515"/>
            <a:ext cx="5048250" cy="3866846"/>
          </a:xfrm>
          <a:prstGeom prst="rect">
            <a:avLst/>
          </a:prstGeom>
          <a:noFill/>
          <a:ln>
            <a:noFill/>
          </a:ln>
        </p:spPr>
      </p:pic>
      <p:sp>
        <p:nvSpPr>
          <p:cNvPr id="167" name="Google Shape;167;p12"/>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8. Songs after later field collection and playback.</a:t>
            </a:r>
            <a:endParaRPr sz="1800">
              <a:solidFill>
                <a:schemeClr val="dk1"/>
              </a:solidFill>
              <a:latin typeface="Calibri"/>
              <a:ea typeface="Calibri"/>
              <a:cs typeface="Calibri"/>
              <a:sym typeface="Calibri"/>
            </a:endParaRPr>
          </a:p>
        </p:txBody>
      </p:sp>
      <p:sp>
        <p:nvSpPr>
          <p:cNvPr id="168" name="Google Shape;168;p12"/>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169" name="Google Shape;169;p12"/>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12</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 name="Shape 173"/>
        <p:cNvGrpSpPr/>
        <p:nvPr/>
      </p:nvGrpSpPr>
      <p:grpSpPr>
        <a:xfrm>
          <a:off x="0" y="0"/>
          <a:ext cx="0" cy="0"/>
          <a:chOff x="0" y="0"/>
          <a:chExt cx="0" cy="0"/>
        </a:xfrm>
      </p:grpSpPr>
      <p:sp>
        <p:nvSpPr>
          <p:cNvPr id="174" name="Google Shape;174;p13"/>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Conspecific and alien songs are not learned equally</a:t>
            </a:r>
            <a:endParaRPr sz="1800">
              <a:solidFill>
                <a:schemeClr val="dk1"/>
              </a:solidFill>
              <a:latin typeface="Calibri"/>
              <a:ea typeface="Calibri"/>
              <a:cs typeface="Calibri"/>
              <a:sym typeface="Calibri"/>
            </a:endParaRPr>
          </a:p>
        </p:txBody>
      </p:sp>
      <p:sp>
        <p:nvSpPr>
          <p:cNvPr id="175" name="Google Shape;175;p13"/>
          <p:cNvSpPr/>
          <p:nvPr/>
        </p:nvSpPr>
        <p:spPr>
          <a:xfrm>
            <a:off x="571500" y="123825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A </a:t>
            </a:r>
            <a:r>
              <a:rPr b="1" i="0" lang="en-US" sz="1575">
                <a:solidFill>
                  <a:srgbClr val="29272C"/>
                </a:solidFill>
                <a:latin typeface="Arial"/>
                <a:ea typeface="Arial"/>
                <a:cs typeface="Arial"/>
                <a:sym typeface="Arial"/>
              </a:rPr>
              <a:t>conspecific</a:t>
            </a:r>
            <a:r>
              <a:rPr b="0" i="0" lang="en-US" sz="1575">
                <a:solidFill>
                  <a:srgbClr val="29272C"/>
                </a:solidFill>
                <a:latin typeface="Arial"/>
                <a:ea typeface="Arial"/>
                <a:cs typeface="Arial"/>
                <a:sym typeface="Arial"/>
              </a:rPr>
              <a:t> is a member of the same species; a heterospecific belongs to another species. Marler presented conspecific song alongside Harris' sparrow or song sparrow recordings during early tutoring.</a:t>
            </a:r>
            <a:endParaRPr sz="1800">
              <a:solidFill>
                <a:schemeClr val="dk1"/>
              </a:solidFill>
              <a:latin typeface="Calibri"/>
              <a:ea typeface="Calibri"/>
              <a:cs typeface="Calibri"/>
              <a:sym typeface="Calibri"/>
            </a:endParaRPr>
          </a:p>
        </p:txBody>
      </p:sp>
      <p:sp>
        <p:nvSpPr>
          <p:cNvPr id="176" name="Google Shape;176;p13"/>
          <p:cNvSpPr/>
          <p:nvPr/>
        </p:nvSpPr>
        <p:spPr>
          <a:xfrm>
            <a:off x="571500" y="247650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young white-crowned sparrows later copied the conspecific model, while recognizable effects of the other species' songs were absent. Equal availability of acoustic examples did not produce equal incorporation into adult song.</a:t>
            </a:r>
            <a:endParaRPr sz="1800">
              <a:solidFill>
                <a:schemeClr val="dk1"/>
              </a:solidFill>
              <a:latin typeface="Calibri"/>
              <a:ea typeface="Calibri"/>
              <a:cs typeface="Calibri"/>
              <a:sym typeface="Calibri"/>
            </a:endParaRPr>
          </a:p>
        </p:txBody>
      </p:sp>
      <p:sp>
        <p:nvSpPr>
          <p:cNvPr id="177" name="Google Shape;177;p13"/>
          <p:cNvSpPr/>
          <p:nvPr/>
        </p:nvSpPr>
        <p:spPr>
          <a:xfrm>
            <a:off x="571500" y="39814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Selective acquisition supports a bias toward suitable song patterns. The comparison does not prove that alien songs were inaudible, because failing to imitate a signal and failing to detect it are different experimental outcomes.</a:t>
            </a:r>
            <a:endParaRPr sz="1800">
              <a:solidFill>
                <a:schemeClr val="dk1"/>
              </a:solidFill>
              <a:latin typeface="Calibri"/>
              <a:ea typeface="Calibri"/>
              <a:cs typeface="Calibri"/>
              <a:sym typeface="Calibri"/>
            </a:endParaRPr>
          </a:p>
        </p:txBody>
      </p:sp>
      <p:sp>
        <p:nvSpPr>
          <p:cNvPr id="178" name="Google Shape;178;p13"/>
          <p:cNvSpPr/>
          <p:nvPr/>
        </p:nvSpPr>
        <p:spPr>
          <a:xfrm>
            <a:off x="571500" y="54864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alien recordings were supplied in addition to conspecific tutoring. The resulting choice of copied pattern concerns selectivity under simultaneous access to those two categories of acoustic model.</a:t>
            </a:r>
            <a:endParaRPr sz="1800">
              <a:solidFill>
                <a:schemeClr val="dk1"/>
              </a:solidFill>
              <a:latin typeface="Calibri"/>
              <a:ea typeface="Calibri"/>
              <a:cs typeface="Calibri"/>
              <a:sym typeface="Calibri"/>
            </a:endParaRPr>
          </a:p>
        </p:txBody>
      </p:sp>
      <p:pic>
        <p:nvPicPr>
          <p:cNvPr id="179" name="Google Shape;179;p13"/>
          <p:cNvPicPr preferRelativeResize="0"/>
          <p:nvPr/>
        </p:nvPicPr>
        <p:blipFill rotWithShape="1">
          <a:blip r:embed="rId3">
            <a:alphaModFix/>
          </a:blip>
          <a:srcRect b="0" l="0" r="0" t="0"/>
          <a:stretch/>
        </p:blipFill>
        <p:spPr>
          <a:xfrm>
            <a:off x="6591690" y="1238250"/>
            <a:ext cx="5009369" cy="4143375"/>
          </a:xfrm>
          <a:prstGeom prst="rect">
            <a:avLst/>
          </a:prstGeom>
          <a:noFill/>
          <a:ln>
            <a:noFill/>
          </a:ln>
        </p:spPr>
      </p:pic>
      <p:sp>
        <p:nvSpPr>
          <p:cNvPr id="180" name="Google Shape;180;p13"/>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9. Development after early conspecific and alien tutoring.</a:t>
            </a:r>
            <a:endParaRPr sz="1800">
              <a:solidFill>
                <a:schemeClr val="dk1"/>
              </a:solidFill>
              <a:latin typeface="Calibri"/>
              <a:ea typeface="Calibri"/>
              <a:cs typeface="Calibri"/>
              <a:sym typeface="Calibri"/>
            </a:endParaRPr>
          </a:p>
        </p:txBody>
      </p:sp>
      <p:sp>
        <p:nvSpPr>
          <p:cNvPr id="181" name="Google Shape;181;p13"/>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182" name="Google Shape;182;p13"/>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13</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 name="Shape 186"/>
        <p:cNvGrpSpPr/>
        <p:nvPr/>
      </p:nvGrpSpPr>
      <p:grpSpPr>
        <a:xfrm>
          <a:off x="0" y="0"/>
          <a:ext cx="0" cy="0"/>
          <a:chOff x="0" y="0"/>
          <a:chExt cx="0" cy="0"/>
        </a:xfrm>
      </p:grpSpPr>
      <p:sp>
        <p:nvSpPr>
          <p:cNvPr id="187" name="Google Shape;187;p14"/>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Alien song alone does not restore normal development</a:t>
            </a:r>
            <a:endParaRPr sz="1800">
              <a:solidFill>
                <a:schemeClr val="dk1"/>
              </a:solidFill>
              <a:latin typeface="Calibri"/>
              <a:ea typeface="Calibri"/>
              <a:cs typeface="Calibri"/>
              <a:sym typeface="Calibri"/>
            </a:endParaRPr>
          </a:p>
        </p:txBody>
      </p:sp>
      <p:sp>
        <p:nvSpPr>
          <p:cNvPr id="188" name="Google Shape;188;p14"/>
          <p:cNvSpPr/>
          <p:nvPr/>
        </p:nvSpPr>
        <p:spPr>
          <a:xfrm>
            <a:off x="571500" y="123825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Marler tested whether excluding a competing conspecific model would permit white-crowned sparrows to copy song sparrow song. Individually isolated nestlings received the alien recordings from days 7–28.</a:t>
            </a:r>
            <a:endParaRPr sz="1800">
              <a:solidFill>
                <a:schemeClr val="dk1"/>
              </a:solidFill>
              <a:latin typeface="Calibri"/>
              <a:ea typeface="Calibri"/>
              <a:cs typeface="Calibri"/>
              <a:sym typeface="Calibri"/>
            </a:endParaRPr>
          </a:p>
        </p:txBody>
      </p:sp>
      <p:sp>
        <p:nvSpPr>
          <p:cNvPr id="189" name="Google Shape;189;p14"/>
          <p:cNvSpPr/>
          <p:nvPr/>
        </p:nvSpPr>
        <p:spPr>
          <a:xfrm>
            <a:off x="571500" y="247650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Their later songs showed no detectable correspondence to those training songs and remained abnormal as white-crowned sparrow songs. The result differed from successful conspecific tutoring during a similar early interval.</a:t>
            </a:r>
            <a:endParaRPr sz="1800">
              <a:solidFill>
                <a:schemeClr val="dk1"/>
              </a:solidFill>
              <a:latin typeface="Calibri"/>
              <a:ea typeface="Calibri"/>
              <a:cs typeface="Calibri"/>
              <a:sym typeface="Calibri"/>
            </a:endParaRPr>
          </a:p>
        </p:txBody>
      </p:sp>
      <p:sp>
        <p:nvSpPr>
          <p:cNvPr id="190" name="Google Shape;190;p14"/>
          <p:cNvSpPr/>
          <p:nvPr/>
        </p:nvSpPr>
        <p:spPr>
          <a:xfrm>
            <a:off x="571500" y="3981450"/>
            <a:ext cx="5400675" cy="16002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failure was therefore not explained solely by choosing a familiar conspecific model over an alien alternative. Under this playback procedure, another species' song did not provide an effective substitute for the acoustic information required for normal development.</a:t>
            </a:r>
            <a:endParaRPr sz="1800">
              <a:solidFill>
                <a:schemeClr val="dk1"/>
              </a:solidFill>
              <a:latin typeface="Calibri"/>
              <a:ea typeface="Calibri"/>
              <a:cs typeface="Calibri"/>
              <a:sym typeface="Calibri"/>
            </a:endParaRPr>
          </a:p>
        </p:txBody>
      </p:sp>
      <p:sp>
        <p:nvSpPr>
          <p:cNvPr id="191" name="Google Shape;191;p14"/>
          <p:cNvSpPr/>
          <p:nvPr/>
        </p:nvSpPr>
        <p:spPr>
          <a:xfrm>
            <a:off x="571500" y="57531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Presenting alien song alone removed conspecific competition during training. The absence of recognizable alien copying nevertheless persisted, while the birds still developed their own abnormal songs.</a:t>
            </a:r>
            <a:endParaRPr sz="1800">
              <a:solidFill>
                <a:schemeClr val="dk1"/>
              </a:solidFill>
              <a:latin typeface="Calibri"/>
              <a:ea typeface="Calibri"/>
              <a:cs typeface="Calibri"/>
              <a:sym typeface="Calibri"/>
            </a:endParaRPr>
          </a:p>
        </p:txBody>
      </p:sp>
      <p:pic>
        <p:nvPicPr>
          <p:cNvPr id="192" name="Google Shape;192;p14"/>
          <p:cNvPicPr preferRelativeResize="0"/>
          <p:nvPr/>
        </p:nvPicPr>
        <p:blipFill rotWithShape="1">
          <a:blip r:embed="rId3">
            <a:alphaModFix/>
          </a:blip>
          <a:srcRect b="0" l="0" r="0" t="0"/>
          <a:stretch/>
        </p:blipFill>
        <p:spPr>
          <a:xfrm>
            <a:off x="6572250" y="1348641"/>
            <a:ext cx="5048250" cy="3922593"/>
          </a:xfrm>
          <a:prstGeom prst="rect">
            <a:avLst/>
          </a:prstGeom>
          <a:noFill/>
          <a:ln>
            <a:noFill/>
          </a:ln>
        </p:spPr>
      </p:pic>
      <p:sp>
        <p:nvSpPr>
          <p:cNvPr id="193" name="Google Shape;193;p14"/>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11. Development with alien song alone.</a:t>
            </a:r>
            <a:endParaRPr sz="1800">
              <a:solidFill>
                <a:schemeClr val="dk1"/>
              </a:solidFill>
              <a:latin typeface="Calibri"/>
              <a:ea typeface="Calibri"/>
              <a:cs typeface="Calibri"/>
              <a:sym typeface="Calibri"/>
            </a:endParaRPr>
          </a:p>
        </p:txBody>
      </p:sp>
      <p:sp>
        <p:nvSpPr>
          <p:cNvPr id="194" name="Google Shape;194;p14"/>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195" name="Google Shape;195;p14"/>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14</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9" name="Shape 199"/>
        <p:cNvGrpSpPr/>
        <p:nvPr/>
      </p:nvGrpSpPr>
      <p:grpSpPr>
        <a:xfrm>
          <a:off x="0" y="0"/>
          <a:ext cx="0" cy="0"/>
          <a:chOff x="0" y="0"/>
          <a:chExt cx="0" cy="0"/>
        </a:xfrm>
      </p:grpSpPr>
      <p:sp>
        <p:nvSpPr>
          <p:cNvPr id="200" name="Google Shape;200;p15"/>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A learned target can guide vocalizations months later</a:t>
            </a:r>
            <a:endParaRPr sz="1800">
              <a:solidFill>
                <a:schemeClr val="dk1"/>
              </a:solidFill>
              <a:latin typeface="Calibri"/>
              <a:ea typeface="Calibri"/>
              <a:cs typeface="Calibri"/>
              <a:sym typeface="Calibri"/>
            </a:endParaRPr>
          </a:p>
        </p:txBody>
      </p:sp>
      <p:sp>
        <p:nvSpPr>
          <p:cNvPr id="201" name="Google Shape;201;p15"/>
          <p:cNvSpPr/>
          <p:nvPr/>
        </p:nvSpPr>
        <p:spPr>
          <a:xfrm>
            <a:off x="571500" y="12382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An </a:t>
            </a:r>
            <a:r>
              <a:rPr b="1" i="0" lang="en-US" sz="1575">
                <a:solidFill>
                  <a:srgbClr val="29272C"/>
                </a:solidFill>
                <a:latin typeface="Arial"/>
                <a:ea typeface="Arial"/>
                <a:cs typeface="Arial"/>
                <a:sym typeface="Arial"/>
              </a:rPr>
              <a:t>auditory template</a:t>
            </a:r>
            <a:r>
              <a:rPr b="0" i="0" lang="en-US" sz="1575">
                <a:solidFill>
                  <a:srgbClr val="29272C"/>
                </a:solidFill>
                <a:latin typeface="Arial"/>
                <a:ea typeface="Arial"/>
                <a:cs typeface="Arial"/>
                <a:sym typeface="Arial"/>
              </a:rPr>
              <a:t> is a proposed internal specification against which developing vocal output can be evaluated. Marler inferred such a specification from early song exposure followed by much later reproduction of the training pattern.</a:t>
            </a:r>
            <a:endParaRPr sz="1800">
              <a:solidFill>
                <a:schemeClr val="dk1"/>
              </a:solidFill>
              <a:latin typeface="Calibri"/>
              <a:ea typeface="Calibri"/>
              <a:cs typeface="Calibri"/>
              <a:sym typeface="Calibri"/>
            </a:endParaRPr>
          </a:p>
        </p:txBody>
      </p:sp>
      <p:sp>
        <p:nvSpPr>
          <p:cNvPr id="202" name="Google Shape;202;p15"/>
          <p:cNvSpPr/>
          <p:nvPr/>
        </p:nvSpPr>
        <p:spPr>
          <a:xfrm>
            <a:off x="571500" y="27432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model separates acquiring a target from producing a mature imitation. A pupil can retain information about a song before the vocal system produces its final whistle and trill sequence.</a:t>
            </a:r>
            <a:endParaRPr sz="1800">
              <a:solidFill>
                <a:schemeClr val="dk1"/>
              </a:solidFill>
              <a:latin typeface="Calibri"/>
              <a:ea typeface="Calibri"/>
              <a:cs typeface="Calibri"/>
              <a:sym typeface="Calibri"/>
            </a:endParaRPr>
          </a:p>
        </p:txBody>
      </p:sp>
      <p:sp>
        <p:nvSpPr>
          <p:cNvPr id="203" name="Google Shape;203;p15"/>
          <p:cNvSpPr/>
          <p:nvPr/>
        </p:nvSpPr>
        <p:spPr>
          <a:xfrm>
            <a:off x="571500" y="39814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template is a functional hypothesis about information storage and matching. Accurate copying after a delay supports a retained target, but these behavioral data do not identify its cellular location or demonstrate a literal stored spectrogram.</a:t>
            </a:r>
            <a:endParaRPr sz="1800">
              <a:solidFill>
                <a:schemeClr val="dk1"/>
              </a:solidFill>
              <a:latin typeface="Calibri"/>
              <a:ea typeface="Calibri"/>
              <a:cs typeface="Calibri"/>
              <a:sym typeface="Calibri"/>
            </a:endParaRPr>
          </a:p>
        </p:txBody>
      </p:sp>
      <p:pic>
        <p:nvPicPr>
          <p:cNvPr id="204" name="Google Shape;204;p15"/>
          <p:cNvPicPr preferRelativeResize="0"/>
          <p:nvPr/>
        </p:nvPicPr>
        <p:blipFill rotWithShape="1">
          <a:blip r:embed="rId3">
            <a:alphaModFix/>
          </a:blip>
          <a:srcRect b="0" l="0" r="0" t="0"/>
          <a:stretch/>
        </p:blipFill>
        <p:spPr>
          <a:xfrm>
            <a:off x="6591690" y="1238250"/>
            <a:ext cx="5009369" cy="4143375"/>
          </a:xfrm>
          <a:prstGeom prst="rect">
            <a:avLst/>
          </a:prstGeom>
          <a:noFill/>
          <a:ln>
            <a:noFill/>
          </a:ln>
        </p:spPr>
      </p:pic>
      <p:sp>
        <p:nvSpPr>
          <p:cNvPr id="205" name="Google Shape;205;p15"/>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9. Development after early conspecific and alien tutoring.</a:t>
            </a:r>
            <a:endParaRPr sz="1800">
              <a:solidFill>
                <a:schemeClr val="dk1"/>
              </a:solidFill>
              <a:latin typeface="Calibri"/>
              <a:ea typeface="Calibri"/>
              <a:cs typeface="Calibri"/>
              <a:sym typeface="Calibri"/>
            </a:endParaRPr>
          </a:p>
        </p:txBody>
      </p:sp>
      <p:sp>
        <p:nvSpPr>
          <p:cNvPr id="206" name="Google Shape;206;p15"/>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207" name="Google Shape;207;p15"/>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15</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 name="Shape 211"/>
        <p:cNvGrpSpPr/>
        <p:nvPr/>
      </p:nvGrpSpPr>
      <p:grpSpPr>
        <a:xfrm>
          <a:off x="0" y="0"/>
          <a:ext cx="0" cy="0"/>
          <a:chOff x="0" y="0"/>
          <a:chExt cx="0" cy="0"/>
        </a:xfrm>
      </p:grpSpPr>
      <p:sp>
        <p:nvSpPr>
          <p:cNvPr id="212" name="Google Shape;212;p16"/>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Species bias and learned detail can coexist</a:t>
            </a:r>
            <a:endParaRPr sz="1800">
              <a:solidFill>
                <a:schemeClr val="dk1"/>
              </a:solidFill>
              <a:latin typeface="Calibri"/>
              <a:ea typeface="Calibri"/>
              <a:cs typeface="Calibri"/>
              <a:sym typeface="Calibri"/>
            </a:endParaRPr>
          </a:p>
        </p:txBody>
      </p:sp>
      <p:sp>
        <p:nvSpPr>
          <p:cNvPr id="213" name="Google Shape;213;p16"/>
          <p:cNvSpPr/>
          <p:nvPr/>
        </p:nvSpPr>
        <p:spPr>
          <a:xfrm>
            <a:off x="571500" y="12382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Marler proposed that the early template contains a coarse specification favoring species-appropriate sounds. Experience with an adult song would then refine that specification into the detailed pattern used during later development.</a:t>
            </a:r>
            <a:endParaRPr sz="1800">
              <a:solidFill>
                <a:schemeClr val="dk1"/>
              </a:solidFill>
              <a:latin typeface="Calibri"/>
              <a:ea typeface="Calibri"/>
              <a:cs typeface="Calibri"/>
              <a:sym typeface="Calibri"/>
            </a:endParaRPr>
          </a:p>
        </p:txBody>
      </p:sp>
      <p:sp>
        <p:nvSpPr>
          <p:cNvPr id="214" name="Google Shape;214;p16"/>
          <p:cNvSpPr/>
          <p:nvPr/>
        </p:nvSpPr>
        <p:spPr>
          <a:xfrm>
            <a:off x="571500" y="27432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Selective conspecific learning and abnormal isolate songs motivated different parts of this account. A predisposition can restrict the acceptable model without already containing every syllable of the local dialect.</a:t>
            </a:r>
            <a:endParaRPr sz="1800">
              <a:solidFill>
                <a:schemeClr val="dk1"/>
              </a:solidFill>
              <a:latin typeface="Calibri"/>
              <a:ea typeface="Calibri"/>
              <a:cs typeface="Calibri"/>
              <a:sym typeface="Calibri"/>
            </a:endParaRPr>
          </a:p>
        </p:txBody>
      </p:sp>
      <p:sp>
        <p:nvSpPr>
          <p:cNvPr id="215" name="Google Shape;215;p16"/>
          <p:cNvSpPr/>
          <p:nvPr/>
        </p:nvSpPr>
        <p:spPr>
          <a:xfrm>
            <a:off x="571500" y="3981450"/>
            <a:ext cx="5400675" cy="16002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1" i="0" lang="en-US" sz="1575">
                <a:solidFill>
                  <a:srgbClr val="29272C"/>
                </a:solidFill>
                <a:latin typeface="Arial"/>
                <a:ea typeface="Arial"/>
                <a:cs typeface="Arial"/>
                <a:sym typeface="Arial"/>
              </a:rPr>
              <a:t>Predisposition</a:t>
            </a:r>
            <a:r>
              <a:rPr b="0" i="0" lang="en-US" sz="1575">
                <a:solidFill>
                  <a:srgbClr val="29272C"/>
                </a:solidFill>
                <a:latin typeface="Arial"/>
                <a:ea typeface="Arial"/>
                <a:cs typeface="Arial"/>
                <a:sym typeface="Arial"/>
              </a:rPr>
              <a:t> means an initial bias in development, not a fully specified mature behavior. The proposed interaction between bias and experience explains why neither unrestricted imitation nor complete genetic specification describes the experimental outcomes adequately.</a:t>
            </a:r>
            <a:endParaRPr sz="1800">
              <a:solidFill>
                <a:schemeClr val="dk1"/>
              </a:solidFill>
              <a:latin typeface="Calibri"/>
              <a:ea typeface="Calibri"/>
              <a:cs typeface="Calibri"/>
              <a:sym typeface="Calibri"/>
            </a:endParaRPr>
          </a:p>
        </p:txBody>
      </p:sp>
      <p:sp>
        <p:nvSpPr>
          <p:cNvPr id="216" name="Google Shape;216;p16"/>
          <p:cNvSpPr/>
          <p:nvPr/>
        </p:nvSpPr>
        <p:spPr>
          <a:xfrm>
            <a:off x="571500" y="57531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coarse early specification is proposed, rather than directly recorded from the brain. The behavioral contrasts constrain its possible properties without identifying a cellular representation.</a:t>
            </a:r>
            <a:endParaRPr sz="1800">
              <a:solidFill>
                <a:schemeClr val="dk1"/>
              </a:solidFill>
              <a:latin typeface="Calibri"/>
              <a:ea typeface="Calibri"/>
              <a:cs typeface="Calibri"/>
              <a:sym typeface="Calibri"/>
            </a:endParaRPr>
          </a:p>
        </p:txBody>
      </p:sp>
      <p:pic>
        <p:nvPicPr>
          <p:cNvPr id="217" name="Google Shape;217;p16"/>
          <p:cNvPicPr preferRelativeResize="0"/>
          <p:nvPr/>
        </p:nvPicPr>
        <p:blipFill rotWithShape="1">
          <a:blip r:embed="rId3">
            <a:alphaModFix/>
          </a:blip>
          <a:srcRect b="0" l="0" r="0" t="0"/>
          <a:stretch/>
        </p:blipFill>
        <p:spPr>
          <a:xfrm>
            <a:off x="6572250" y="1348641"/>
            <a:ext cx="5048250" cy="3922593"/>
          </a:xfrm>
          <a:prstGeom prst="rect">
            <a:avLst/>
          </a:prstGeom>
          <a:noFill/>
          <a:ln>
            <a:noFill/>
          </a:ln>
        </p:spPr>
      </p:pic>
      <p:sp>
        <p:nvSpPr>
          <p:cNvPr id="218" name="Google Shape;218;p16"/>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11. Development with alien song alone.</a:t>
            </a:r>
            <a:endParaRPr sz="1800">
              <a:solidFill>
                <a:schemeClr val="dk1"/>
              </a:solidFill>
              <a:latin typeface="Calibri"/>
              <a:ea typeface="Calibri"/>
              <a:cs typeface="Calibri"/>
              <a:sym typeface="Calibri"/>
            </a:endParaRPr>
          </a:p>
        </p:txBody>
      </p:sp>
      <p:sp>
        <p:nvSpPr>
          <p:cNvPr id="219" name="Google Shape;219;p16"/>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a:t>
            </a:r>
            <a:endParaRPr sz="1800">
              <a:solidFill>
                <a:schemeClr val="dk1"/>
              </a:solidFill>
              <a:latin typeface="Calibri"/>
              <a:ea typeface="Calibri"/>
              <a:cs typeface="Calibri"/>
              <a:sym typeface="Calibri"/>
            </a:endParaRPr>
          </a:p>
        </p:txBody>
      </p:sp>
      <p:sp>
        <p:nvSpPr>
          <p:cNvPr id="220" name="Google Shape;220;p16"/>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16</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4" name="Shape 224"/>
        <p:cNvGrpSpPr/>
        <p:nvPr/>
      </p:nvGrpSpPr>
      <p:grpSpPr>
        <a:xfrm>
          <a:off x="0" y="0"/>
          <a:ext cx="0" cy="0"/>
          <a:chOff x="0" y="0"/>
          <a:chExt cx="0" cy="0"/>
        </a:xfrm>
      </p:grpSpPr>
      <p:sp>
        <p:nvSpPr>
          <p:cNvPr id="225" name="Google Shape;225;p17"/>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Hearing a tutor and hearing oneself serve different roles</a:t>
            </a:r>
            <a:endParaRPr sz="1800">
              <a:solidFill>
                <a:schemeClr val="dk1"/>
              </a:solidFill>
              <a:latin typeface="Calibri"/>
              <a:ea typeface="Calibri"/>
              <a:cs typeface="Calibri"/>
              <a:sym typeface="Calibri"/>
            </a:endParaRPr>
          </a:p>
        </p:txBody>
      </p:sp>
      <p:sp>
        <p:nvSpPr>
          <p:cNvPr id="226" name="Google Shape;226;p17"/>
          <p:cNvSpPr/>
          <p:nvPr/>
        </p:nvSpPr>
        <p:spPr>
          <a:xfrm>
            <a:off x="571500" y="12382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a:t>
            </a:r>
            <a:r>
              <a:rPr b="1" i="0" lang="en-US" sz="1575">
                <a:solidFill>
                  <a:srgbClr val="29272C"/>
                </a:solidFill>
                <a:latin typeface="Arial"/>
                <a:ea typeface="Arial"/>
                <a:cs typeface="Arial"/>
                <a:sym typeface="Arial"/>
              </a:rPr>
              <a:t>sensory phase</a:t>
            </a:r>
            <a:r>
              <a:rPr b="0" i="0" lang="en-US" sz="1575">
                <a:solidFill>
                  <a:srgbClr val="29272C"/>
                </a:solidFill>
                <a:latin typeface="Arial"/>
                <a:ea typeface="Arial"/>
                <a:cs typeface="Arial"/>
                <a:sym typeface="Arial"/>
              </a:rPr>
              <a:t> acquires information from a tutor; the </a:t>
            </a:r>
            <a:r>
              <a:rPr b="1" i="0" lang="en-US" sz="1575">
                <a:solidFill>
                  <a:srgbClr val="29272C"/>
                </a:solidFill>
                <a:latin typeface="Arial"/>
                <a:ea typeface="Arial"/>
                <a:cs typeface="Arial"/>
                <a:sym typeface="Arial"/>
              </a:rPr>
              <a:t>sensorimotor phase</a:t>
            </a:r>
            <a:r>
              <a:rPr b="0" i="0" lang="en-US" sz="1575">
                <a:solidFill>
                  <a:srgbClr val="29272C"/>
                </a:solidFill>
                <a:latin typeface="Arial"/>
                <a:ea typeface="Arial"/>
                <a:cs typeface="Arial"/>
                <a:sym typeface="Arial"/>
              </a:rPr>
              <a:t> links that information to developing vocal production. In a template account, hearing a model and hearing the pupil's own voice perform different functions.</a:t>
            </a:r>
            <a:endParaRPr sz="1800">
              <a:solidFill>
                <a:schemeClr val="dk1"/>
              </a:solidFill>
              <a:latin typeface="Calibri"/>
              <a:ea typeface="Calibri"/>
              <a:cs typeface="Calibri"/>
              <a:sym typeface="Calibri"/>
            </a:endParaRPr>
          </a:p>
        </p:txBody>
      </p:sp>
      <p:sp>
        <p:nvSpPr>
          <p:cNvPr id="227" name="Google Shape;227;p17"/>
          <p:cNvSpPr/>
          <p:nvPr/>
        </p:nvSpPr>
        <p:spPr>
          <a:xfrm>
            <a:off x="571500" y="274320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Marler's delayed imitation establishes that adult song exposure can precede mature production. Konishi's deafening findings, as discussed in the supplied Brainard and Doupe review, support a separate requirement for auditory feedback during refinement.</a:t>
            </a:r>
            <a:endParaRPr sz="1800">
              <a:solidFill>
                <a:schemeClr val="dk1"/>
              </a:solidFill>
              <a:latin typeface="Calibri"/>
              <a:ea typeface="Calibri"/>
              <a:cs typeface="Calibri"/>
              <a:sym typeface="Calibri"/>
            </a:endParaRPr>
          </a:p>
        </p:txBody>
      </p:sp>
      <p:sp>
        <p:nvSpPr>
          <p:cNvPr id="228" name="Google Shape;228;p17"/>
          <p:cNvSpPr/>
          <p:nvPr/>
        </p:nvSpPr>
        <p:spPr>
          <a:xfrm>
            <a:off x="571500" y="42481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Removing access to the tutor and removing the pupil’s hearing after tutoring affect different stages of song development. A retained target alone is insufficient when the bird cannot use hearing to regulate its developing vocal output.</a:t>
            </a:r>
            <a:endParaRPr sz="1800">
              <a:solidFill>
                <a:schemeClr val="dk1"/>
              </a:solidFill>
              <a:latin typeface="Calibri"/>
              <a:ea typeface="Calibri"/>
              <a:cs typeface="Calibri"/>
              <a:sym typeface="Calibri"/>
            </a:endParaRPr>
          </a:p>
        </p:txBody>
      </p:sp>
      <p:pic>
        <p:nvPicPr>
          <p:cNvPr id="229" name="Google Shape;229;p17"/>
          <p:cNvPicPr preferRelativeResize="0"/>
          <p:nvPr/>
        </p:nvPicPr>
        <p:blipFill rotWithShape="1">
          <a:blip r:embed="rId3">
            <a:alphaModFix/>
          </a:blip>
          <a:srcRect b="0" l="0" r="0" t="0"/>
          <a:stretch/>
        </p:blipFill>
        <p:spPr>
          <a:xfrm>
            <a:off x="6572250" y="1815675"/>
            <a:ext cx="5048250" cy="2988526"/>
          </a:xfrm>
          <a:prstGeom prst="rect">
            <a:avLst/>
          </a:prstGeom>
          <a:noFill/>
          <a:ln>
            <a:noFill/>
          </a:ln>
        </p:spPr>
      </p:pic>
      <p:sp>
        <p:nvSpPr>
          <p:cNvPr id="230" name="Google Shape;230;p17"/>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(1970), Fig. 5. Song development in acoustic isolation.</a:t>
            </a:r>
            <a:endParaRPr sz="1800">
              <a:solidFill>
                <a:schemeClr val="dk1"/>
              </a:solidFill>
              <a:latin typeface="Calibri"/>
              <a:ea typeface="Calibri"/>
              <a:cs typeface="Calibri"/>
              <a:sym typeface="Calibri"/>
            </a:endParaRPr>
          </a:p>
        </p:txBody>
      </p:sp>
      <p:sp>
        <p:nvSpPr>
          <p:cNvPr id="231" name="Google Shape;231;p17"/>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(1970); Brainard &amp; Doupe (2000)</a:t>
            </a:r>
            <a:endParaRPr sz="1800">
              <a:solidFill>
                <a:schemeClr val="dk1"/>
              </a:solidFill>
              <a:latin typeface="Calibri"/>
              <a:ea typeface="Calibri"/>
              <a:cs typeface="Calibri"/>
              <a:sym typeface="Calibri"/>
            </a:endParaRPr>
          </a:p>
        </p:txBody>
      </p:sp>
      <p:sp>
        <p:nvSpPr>
          <p:cNvPr id="232" name="Google Shape;232;p17"/>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17</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6" name="Shape 236"/>
        <p:cNvGrpSpPr/>
        <p:nvPr/>
      </p:nvGrpSpPr>
      <p:grpSpPr>
        <a:xfrm>
          <a:off x="0" y="0"/>
          <a:ext cx="0" cy="0"/>
          <a:chOff x="0" y="0"/>
          <a:chExt cx="0" cy="0"/>
        </a:xfrm>
      </p:grpSpPr>
      <p:sp>
        <p:nvSpPr>
          <p:cNvPr id="237" name="Google Shape;237;p18"/>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Swamp sparrows reproduce material heard in infancy</a:t>
            </a:r>
            <a:endParaRPr sz="1800">
              <a:solidFill>
                <a:schemeClr val="dk1"/>
              </a:solidFill>
              <a:latin typeface="Calibri"/>
              <a:ea typeface="Calibri"/>
              <a:cs typeface="Calibri"/>
              <a:sym typeface="Calibri"/>
            </a:endParaRPr>
          </a:p>
        </p:txBody>
      </p:sp>
      <p:sp>
        <p:nvSpPr>
          <p:cNvPr id="238" name="Google Shape;238;p18"/>
          <p:cNvSpPr/>
          <p:nvPr/>
        </p:nvSpPr>
        <p:spPr>
          <a:xfrm>
            <a:off x="571500" y="123825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Marler and Peters studied </a:t>
            </a:r>
            <a:r>
              <a:rPr b="1" i="0" lang="en-US" sz="1575">
                <a:solidFill>
                  <a:srgbClr val="29272C"/>
                </a:solidFill>
                <a:latin typeface="Arial"/>
                <a:ea typeface="Arial"/>
                <a:cs typeface="Arial"/>
                <a:sym typeface="Arial"/>
              </a:rPr>
              <a:t>swamp sparrows</a:t>
            </a:r>
            <a:r>
              <a:rPr b="0" i="0" lang="en-US" sz="1575">
                <a:solidFill>
                  <a:srgbClr val="29272C"/>
                </a:solidFill>
                <a:latin typeface="Arial"/>
                <a:ea typeface="Arial"/>
                <a:cs typeface="Arial"/>
                <a:sym typeface="Arial"/>
              </a:rPr>
              <a:t>, </a:t>
            </a:r>
            <a:r>
              <a:rPr b="0" i="1" lang="en-US" sz="1575">
                <a:solidFill>
                  <a:srgbClr val="29272C"/>
                </a:solidFill>
                <a:latin typeface="Arial"/>
                <a:ea typeface="Arial"/>
                <a:cs typeface="Arial"/>
                <a:sym typeface="Arial"/>
              </a:rPr>
              <a:t>Melospiza georgiana</a:t>
            </a:r>
            <a:r>
              <a:rPr b="0" i="0" lang="en-US" sz="1575">
                <a:solidFill>
                  <a:srgbClr val="29272C"/>
                </a:solidFill>
                <a:latin typeface="Arial"/>
                <a:ea typeface="Arial"/>
                <a:cs typeface="Arial"/>
                <a:sym typeface="Arial"/>
              </a:rPr>
              <a:t>, reared with controlled recordings in infancy. Later songs contained syllables matching components of those recordings rather than an arbitrary adult pattern.</a:t>
            </a:r>
            <a:endParaRPr sz="1800">
              <a:solidFill>
                <a:schemeClr val="dk1"/>
              </a:solidFill>
              <a:latin typeface="Calibri"/>
              <a:ea typeface="Calibri"/>
              <a:cs typeface="Calibri"/>
              <a:sym typeface="Calibri"/>
            </a:endParaRPr>
          </a:p>
        </p:txBody>
      </p:sp>
      <p:sp>
        <p:nvSpPr>
          <p:cNvPr id="239" name="Google Shape;239;p18"/>
          <p:cNvSpPr/>
          <p:nvPr/>
        </p:nvSpPr>
        <p:spPr>
          <a:xfrm>
            <a:off x="571500" y="24765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Training began between 16 and 26 days of age and continued for 40 days. The pupils were subsequently kept in separate soundproof chambers, removing continued access to the original acoustic models.</a:t>
            </a:r>
            <a:endParaRPr sz="1800">
              <a:solidFill>
                <a:schemeClr val="dk1"/>
              </a:solidFill>
              <a:latin typeface="Calibri"/>
              <a:ea typeface="Calibri"/>
              <a:cs typeface="Calibri"/>
              <a:sym typeface="Calibri"/>
            </a:endParaRPr>
          </a:p>
        </p:txBody>
      </p:sp>
      <p:sp>
        <p:nvSpPr>
          <p:cNvPr id="240" name="Google Shape;240;p18"/>
          <p:cNvSpPr/>
          <p:nvPr/>
        </p:nvSpPr>
        <p:spPr>
          <a:xfrm>
            <a:off x="571500" y="3714750"/>
            <a:ext cx="5400675" cy="16002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Detailed matching after this separation supports storage of song information. It is the correspondence between the later syllables and earlier training material, together with the untrained comparison, that distinguishes learning from independent maturation into a species-typical song.</a:t>
            </a:r>
            <a:endParaRPr sz="1800">
              <a:solidFill>
                <a:schemeClr val="dk1"/>
              </a:solidFill>
              <a:latin typeface="Calibri"/>
              <a:ea typeface="Calibri"/>
              <a:cs typeface="Calibri"/>
              <a:sym typeface="Calibri"/>
            </a:endParaRPr>
          </a:p>
        </p:txBody>
      </p:sp>
      <p:sp>
        <p:nvSpPr>
          <p:cNvPr id="241" name="Google Shape;241;p18"/>
          <p:cNvSpPr/>
          <p:nvPr/>
        </p:nvSpPr>
        <p:spPr>
          <a:xfrm>
            <a:off x="571500" y="54864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training material contained known syllable arrangements. That controlled history made it possible to compare later vocal units with actual earlier inputs instead of inferring a tutor from resemblance alone.</a:t>
            </a:r>
            <a:endParaRPr sz="1800">
              <a:solidFill>
                <a:schemeClr val="dk1"/>
              </a:solidFill>
              <a:latin typeface="Calibri"/>
              <a:ea typeface="Calibri"/>
              <a:cs typeface="Calibri"/>
              <a:sym typeface="Calibri"/>
            </a:endParaRPr>
          </a:p>
        </p:txBody>
      </p:sp>
      <p:pic>
        <p:nvPicPr>
          <p:cNvPr id="242" name="Google Shape;242;p18"/>
          <p:cNvPicPr preferRelativeResize="0"/>
          <p:nvPr/>
        </p:nvPicPr>
        <p:blipFill rotWithShape="1">
          <a:blip r:embed="rId3">
            <a:alphaModFix/>
          </a:blip>
          <a:srcRect b="0" l="0" r="0" t="0"/>
          <a:stretch/>
        </p:blipFill>
        <p:spPr>
          <a:xfrm>
            <a:off x="7249120" y="1238250"/>
            <a:ext cx="3694509" cy="4143375"/>
          </a:xfrm>
          <a:prstGeom prst="rect">
            <a:avLst/>
          </a:prstGeom>
          <a:noFill/>
          <a:ln>
            <a:noFill/>
          </a:ln>
        </p:spPr>
      </p:pic>
      <p:sp>
        <p:nvSpPr>
          <p:cNvPr id="243" name="Google Shape;243;p18"/>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&amp; Peters (1981), Fig. 1. Training syllables and developing vocal material.</a:t>
            </a:r>
            <a:endParaRPr sz="1800">
              <a:solidFill>
                <a:schemeClr val="dk1"/>
              </a:solidFill>
              <a:latin typeface="Calibri"/>
              <a:ea typeface="Calibri"/>
              <a:cs typeface="Calibri"/>
              <a:sym typeface="Calibri"/>
            </a:endParaRPr>
          </a:p>
        </p:txBody>
      </p:sp>
      <p:sp>
        <p:nvSpPr>
          <p:cNvPr id="244" name="Google Shape;244;p18"/>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&amp; Peters (1981)</a:t>
            </a:r>
            <a:endParaRPr sz="1800">
              <a:solidFill>
                <a:schemeClr val="dk1"/>
              </a:solidFill>
              <a:latin typeface="Calibri"/>
              <a:ea typeface="Calibri"/>
              <a:cs typeface="Calibri"/>
              <a:sym typeface="Calibri"/>
            </a:endParaRPr>
          </a:p>
        </p:txBody>
      </p:sp>
      <p:sp>
        <p:nvSpPr>
          <p:cNvPr id="245" name="Google Shape;245;p18"/>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18</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9" name="Shape 249"/>
        <p:cNvGrpSpPr/>
        <p:nvPr/>
      </p:nvGrpSpPr>
      <p:grpSpPr>
        <a:xfrm>
          <a:off x="0" y="0"/>
          <a:ext cx="0" cy="0"/>
          <a:chOff x="0" y="0"/>
          <a:chExt cx="0" cy="0"/>
        </a:xfrm>
      </p:grpSpPr>
      <p:sp>
        <p:nvSpPr>
          <p:cNvPr id="250" name="Google Shape;250;p19"/>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Early subsong does not reproduce the stored syllables</a:t>
            </a:r>
            <a:endParaRPr sz="1800">
              <a:solidFill>
                <a:schemeClr val="dk1"/>
              </a:solidFill>
              <a:latin typeface="Calibri"/>
              <a:ea typeface="Calibri"/>
              <a:cs typeface="Calibri"/>
              <a:sym typeface="Calibri"/>
            </a:endParaRPr>
          </a:p>
        </p:txBody>
      </p:sp>
      <p:sp>
        <p:nvSpPr>
          <p:cNvPr id="251" name="Google Shape;251;p19"/>
          <p:cNvSpPr/>
          <p:nvPr/>
        </p:nvSpPr>
        <p:spPr>
          <a:xfrm>
            <a:off x="571500" y="123825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1" i="0" lang="en-US" sz="1575">
                <a:solidFill>
                  <a:srgbClr val="29272C"/>
                </a:solidFill>
                <a:latin typeface="Arial"/>
                <a:ea typeface="Arial"/>
                <a:cs typeface="Arial"/>
                <a:sym typeface="Arial"/>
              </a:rPr>
              <a:t>Subsong</a:t>
            </a:r>
            <a:r>
              <a:rPr b="0" i="0" lang="en-US" sz="1575">
                <a:solidFill>
                  <a:srgbClr val="29272C"/>
                </a:solidFill>
                <a:latin typeface="Arial"/>
                <a:ea typeface="Arial"/>
                <a:cs typeface="Arial"/>
                <a:sym typeface="Arial"/>
              </a:rPr>
              <a:t> is variable early singing without the stable syllable organization of mature song. Marler and Peters recorded the pupils repeatedly and classified vocalizations by acoustic stability and organization.</a:t>
            </a:r>
            <a:endParaRPr sz="1800">
              <a:solidFill>
                <a:schemeClr val="dk1"/>
              </a:solidFill>
              <a:latin typeface="Calibri"/>
              <a:ea typeface="Calibri"/>
              <a:cs typeface="Calibri"/>
              <a:sym typeface="Calibri"/>
            </a:endParaRPr>
          </a:p>
        </p:txBody>
      </p:sp>
      <p:sp>
        <p:nvSpPr>
          <p:cNvPr id="252" name="Google Shape;252;p19"/>
          <p:cNvSpPr/>
          <p:nvPr/>
        </p:nvSpPr>
        <p:spPr>
          <a:xfrm>
            <a:off x="571500" y="247650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Early singing lacked recognizable rehearsal of the syllables that would later match the tutor material. The existence of some vocal activity therefore did not establish continuous practice of each memorized pattern.</a:t>
            </a:r>
            <a:endParaRPr sz="1800">
              <a:solidFill>
                <a:schemeClr val="dk1"/>
              </a:solidFill>
              <a:latin typeface="Calibri"/>
              <a:ea typeface="Calibri"/>
              <a:cs typeface="Calibri"/>
              <a:sym typeface="Calibri"/>
            </a:endParaRPr>
          </a:p>
        </p:txBody>
      </p:sp>
      <p:sp>
        <p:nvSpPr>
          <p:cNvPr id="253" name="Google Shape;253;p19"/>
          <p:cNvSpPr/>
          <p:nvPr/>
        </p:nvSpPr>
        <p:spPr>
          <a:xfrm>
            <a:off x="571500" y="39814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conclusion rests on the sampled recordings and spectrographic comparisons. It supports a long separation between learning and recognizable imitation, while avoiding the stronger claim that every possible vocalization throughout the entire interval was observed.</a:t>
            </a:r>
            <a:endParaRPr sz="1800">
              <a:solidFill>
                <a:schemeClr val="dk1"/>
              </a:solidFill>
              <a:latin typeface="Calibri"/>
              <a:ea typeface="Calibri"/>
              <a:cs typeface="Calibri"/>
              <a:sym typeface="Calibri"/>
            </a:endParaRPr>
          </a:p>
        </p:txBody>
      </p:sp>
      <p:sp>
        <p:nvSpPr>
          <p:cNvPr id="254" name="Google Shape;254;p19"/>
          <p:cNvSpPr/>
          <p:nvPr/>
        </p:nvSpPr>
        <p:spPr>
          <a:xfrm>
            <a:off x="571500" y="54864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early variable vocalizations differ from later recognizable syllables. Calling both stages singing does not mean that the same acoustic material was practiced continuously throughout development.</a:t>
            </a:r>
            <a:endParaRPr sz="1800">
              <a:solidFill>
                <a:schemeClr val="dk1"/>
              </a:solidFill>
              <a:latin typeface="Calibri"/>
              <a:ea typeface="Calibri"/>
              <a:cs typeface="Calibri"/>
              <a:sym typeface="Calibri"/>
            </a:endParaRPr>
          </a:p>
        </p:txBody>
      </p:sp>
      <p:pic>
        <p:nvPicPr>
          <p:cNvPr id="255" name="Google Shape;255;p19"/>
          <p:cNvPicPr preferRelativeResize="0"/>
          <p:nvPr/>
        </p:nvPicPr>
        <p:blipFill rotWithShape="1">
          <a:blip r:embed="rId3">
            <a:alphaModFix/>
          </a:blip>
          <a:srcRect b="0" l="0" r="0" t="0"/>
          <a:stretch/>
        </p:blipFill>
        <p:spPr>
          <a:xfrm>
            <a:off x="7249120" y="1238250"/>
            <a:ext cx="3694509" cy="4143375"/>
          </a:xfrm>
          <a:prstGeom prst="rect">
            <a:avLst/>
          </a:prstGeom>
          <a:noFill/>
          <a:ln>
            <a:noFill/>
          </a:ln>
        </p:spPr>
      </p:pic>
      <p:sp>
        <p:nvSpPr>
          <p:cNvPr id="256" name="Google Shape;256;p19"/>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&amp; Peters (1981), Fig. 1. Training syllables and developing vocal material.</a:t>
            </a:r>
            <a:endParaRPr sz="1800">
              <a:solidFill>
                <a:schemeClr val="dk1"/>
              </a:solidFill>
              <a:latin typeface="Calibri"/>
              <a:ea typeface="Calibri"/>
              <a:cs typeface="Calibri"/>
              <a:sym typeface="Calibri"/>
            </a:endParaRPr>
          </a:p>
        </p:txBody>
      </p:sp>
      <p:sp>
        <p:nvSpPr>
          <p:cNvPr id="257" name="Google Shape;257;p19"/>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&amp; Peters (1981)</a:t>
            </a:r>
            <a:endParaRPr sz="1800">
              <a:solidFill>
                <a:schemeClr val="dk1"/>
              </a:solidFill>
              <a:latin typeface="Calibri"/>
              <a:ea typeface="Calibri"/>
              <a:cs typeface="Calibri"/>
              <a:sym typeface="Calibri"/>
            </a:endParaRPr>
          </a:p>
        </p:txBody>
      </p:sp>
      <p:sp>
        <p:nvSpPr>
          <p:cNvPr id="258" name="Google Shape;258;p19"/>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19</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2" name="Shape 262"/>
        <p:cNvGrpSpPr/>
        <p:nvPr/>
      </p:nvGrpSpPr>
      <p:grpSpPr>
        <a:xfrm>
          <a:off x="0" y="0"/>
          <a:ext cx="0" cy="0"/>
          <a:chOff x="0" y="0"/>
          <a:chExt cx="0" cy="0"/>
        </a:xfrm>
      </p:grpSpPr>
      <p:sp>
        <p:nvSpPr>
          <p:cNvPr id="263" name="Google Shape;263;p20"/>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Recognizable rehearsal follows a long retention interval</a:t>
            </a:r>
            <a:endParaRPr sz="1800">
              <a:solidFill>
                <a:schemeClr val="dk1"/>
              </a:solidFill>
              <a:latin typeface="Calibri"/>
              <a:ea typeface="Calibri"/>
              <a:cs typeface="Calibri"/>
              <a:sym typeface="Calibri"/>
            </a:endParaRPr>
          </a:p>
        </p:txBody>
      </p:sp>
      <p:sp>
        <p:nvSpPr>
          <p:cNvPr id="264" name="Google Shape;264;p20"/>
          <p:cNvSpPr/>
          <p:nvPr/>
        </p:nvSpPr>
        <p:spPr>
          <a:xfrm>
            <a:off x="571500" y="123825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swamp sparrows' first recognizable attempts at memorized syllables occurred roughly 225 days after the last training exposure. More definite rehearsal of particular syllables followed about two weeks later.</a:t>
            </a:r>
            <a:endParaRPr sz="1800">
              <a:solidFill>
                <a:schemeClr val="dk1"/>
              </a:solidFill>
              <a:latin typeface="Calibri"/>
              <a:ea typeface="Calibri"/>
              <a:cs typeface="Calibri"/>
              <a:sym typeface="Calibri"/>
            </a:endParaRPr>
          </a:p>
        </p:txBody>
      </p:sp>
      <p:sp>
        <p:nvSpPr>
          <p:cNvPr id="265" name="Google Shape;265;p20"/>
          <p:cNvSpPr/>
          <p:nvPr/>
        </p:nvSpPr>
        <p:spPr>
          <a:xfrm>
            <a:off x="571500" y="247650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interval was approximately eight months, far longer than the immediate delay between hearing and repeating a sound. The birds began regular song development near adulthood rather than producing a mature copy during infancy.</a:t>
            </a:r>
            <a:endParaRPr sz="1800">
              <a:solidFill>
                <a:schemeClr val="dk1"/>
              </a:solidFill>
              <a:latin typeface="Calibri"/>
              <a:ea typeface="Calibri"/>
              <a:cs typeface="Calibri"/>
              <a:sym typeface="Calibri"/>
            </a:endParaRPr>
          </a:p>
        </p:txBody>
      </p:sp>
      <p:sp>
        <p:nvSpPr>
          <p:cNvPr id="266" name="Google Shape;266;p20"/>
          <p:cNvSpPr/>
          <p:nvPr/>
        </p:nvSpPr>
        <p:spPr>
          <a:xfrm>
            <a:off x="571500" y="39814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This result supports long-lasting perceptual memory that can guide later motor learning. The retention interval does not itself identify the molecular substrate of memory, nor establish that a template must be stored in a single brain nucleus.</a:t>
            </a:r>
            <a:endParaRPr sz="1800">
              <a:solidFill>
                <a:schemeClr val="dk1"/>
              </a:solidFill>
              <a:latin typeface="Calibri"/>
              <a:ea typeface="Calibri"/>
              <a:cs typeface="Calibri"/>
              <a:sym typeface="Calibri"/>
            </a:endParaRPr>
          </a:p>
        </p:txBody>
      </p:sp>
      <p:pic>
        <p:nvPicPr>
          <p:cNvPr id="267" name="Google Shape;267;p20"/>
          <p:cNvPicPr preferRelativeResize="0"/>
          <p:nvPr/>
        </p:nvPicPr>
        <p:blipFill rotWithShape="1">
          <a:blip r:embed="rId3">
            <a:alphaModFix/>
          </a:blip>
          <a:srcRect b="0" l="0" r="0" t="0"/>
          <a:stretch/>
        </p:blipFill>
        <p:spPr>
          <a:xfrm>
            <a:off x="6678151" y="1238250"/>
            <a:ext cx="4836449" cy="4143375"/>
          </a:xfrm>
          <a:prstGeom prst="rect">
            <a:avLst/>
          </a:prstGeom>
          <a:noFill/>
          <a:ln>
            <a:noFill/>
          </a:ln>
        </p:spPr>
      </p:pic>
      <p:sp>
        <p:nvSpPr>
          <p:cNvPr id="268" name="Google Shape;268;p20"/>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&amp; Peters (1981), Fig. 2. Syllable use across developmental age.</a:t>
            </a:r>
            <a:endParaRPr sz="1800">
              <a:solidFill>
                <a:schemeClr val="dk1"/>
              </a:solidFill>
              <a:latin typeface="Calibri"/>
              <a:ea typeface="Calibri"/>
              <a:cs typeface="Calibri"/>
              <a:sym typeface="Calibri"/>
            </a:endParaRPr>
          </a:p>
        </p:txBody>
      </p:sp>
      <p:sp>
        <p:nvSpPr>
          <p:cNvPr id="269" name="Google Shape;269;p20"/>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&amp; Peters (1981)</a:t>
            </a:r>
            <a:endParaRPr sz="1800">
              <a:solidFill>
                <a:schemeClr val="dk1"/>
              </a:solidFill>
              <a:latin typeface="Calibri"/>
              <a:ea typeface="Calibri"/>
              <a:cs typeface="Calibri"/>
              <a:sym typeface="Calibri"/>
            </a:endParaRPr>
          </a:p>
        </p:txBody>
      </p:sp>
      <p:sp>
        <p:nvSpPr>
          <p:cNvPr id="270" name="Google Shape;270;p20"/>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20</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4" name="Shape 274"/>
        <p:cNvGrpSpPr/>
        <p:nvPr/>
      </p:nvGrpSpPr>
      <p:grpSpPr>
        <a:xfrm>
          <a:off x="0" y="0"/>
          <a:ext cx="0" cy="0"/>
          <a:chOff x="0" y="0"/>
          <a:chExt cx="0" cy="0"/>
        </a:xfrm>
      </p:grpSpPr>
      <p:sp>
        <p:nvSpPr>
          <p:cNvPr id="275" name="Google Shape;275;p21"/>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Crystallization stabilizes previously variable syllables</a:t>
            </a:r>
            <a:endParaRPr sz="1800">
              <a:solidFill>
                <a:schemeClr val="dk1"/>
              </a:solidFill>
              <a:latin typeface="Calibri"/>
              <a:ea typeface="Calibri"/>
              <a:cs typeface="Calibri"/>
              <a:sym typeface="Calibri"/>
            </a:endParaRPr>
          </a:p>
        </p:txBody>
      </p:sp>
      <p:sp>
        <p:nvSpPr>
          <p:cNvPr id="276" name="Google Shape;276;p21"/>
          <p:cNvSpPr/>
          <p:nvPr/>
        </p:nvSpPr>
        <p:spPr>
          <a:xfrm>
            <a:off x="571500" y="12382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1" i="0" lang="en-US" sz="1575">
                <a:solidFill>
                  <a:srgbClr val="29272C"/>
                </a:solidFill>
                <a:latin typeface="Arial"/>
                <a:ea typeface="Arial"/>
                <a:cs typeface="Arial"/>
                <a:sym typeface="Arial"/>
              </a:rPr>
              <a:t>Plastic song</a:t>
            </a:r>
            <a:r>
              <a:rPr b="0" i="0" lang="en-US" sz="1575">
                <a:solidFill>
                  <a:srgbClr val="29272C"/>
                </a:solidFill>
                <a:latin typeface="Arial"/>
                <a:ea typeface="Arial"/>
                <a:cs typeface="Arial"/>
                <a:sym typeface="Arial"/>
              </a:rPr>
              <a:t> contains developing syllables whose acoustic form or combination remains variable. </a:t>
            </a:r>
            <a:r>
              <a:rPr b="1" i="0" lang="en-US" sz="1575">
                <a:solidFill>
                  <a:srgbClr val="29272C"/>
                </a:solidFill>
                <a:latin typeface="Arial"/>
                <a:ea typeface="Arial"/>
                <a:cs typeface="Arial"/>
                <a:sym typeface="Arial"/>
              </a:rPr>
              <a:t>Crystallization</a:t>
            </a:r>
            <a:r>
              <a:rPr b="0" i="0" lang="en-US" sz="1575">
                <a:solidFill>
                  <a:srgbClr val="29272C"/>
                </a:solidFill>
                <a:latin typeface="Arial"/>
                <a:ea typeface="Arial"/>
                <a:cs typeface="Arial"/>
                <a:sym typeface="Arial"/>
              </a:rPr>
              <a:t> is the transition to the more stable mature song pattern. Marler and Peters distinguished these states through repeated spectrographic analysis.</a:t>
            </a:r>
            <a:endParaRPr sz="1800">
              <a:solidFill>
                <a:schemeClr val="dk1"/>
              </a:solidFill>
              <a:latin typeface="Calibri"/>
              <a:ea typeface="Calibri"/>
              <a:cs typeface="Calibri"/>
              <a:sym typeface="Calibri"/>
            </a:endParaRPr>
          </a:p>
        </p:txBody>
      </p:sp>
      <p:sp>
        <p:nvSpPr>
          <p:cNvPr id="277" name="Google Shape;277;p21"/>
          <p:cNvSpPr/>
          <p:nvPr/>
        </p:nvSpPr>
        <p:spPr>
          <a:xfrm>
            <a:off x="571500" y="27432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Mature swamp sparrow songs consisted of a roughly two-second series of repeated multinote syllables. Defined syllables and regular repetition emerged from earlier, less organized vocalizations.</a:t>
            </a:r>
            <a:endParaRPr sz="1800">
              <a:solidFill>
                <a:schemeClr val="dk1"/>
              </a:solidFill>
              <a:latin typeface="Calibri"/>
              <a:ea typeface="Calibri"/>
              <a:cs typeface="Calibri"/>
              <a:sym typeface="Calibri"/>
            </a:endParaRPr>
          </a:p>
        </p:txBody>
      </p:sp>
      <p:sp>
        <p:nvSpPr>
          <p:cNvPr id="278" name="Google Shape;278;p21"/>
          <p:cNvSpPr/>
          <p:nvPr/>
        </p:nvSpPr>
        <p:spPr>
          <a:xfrm>
            <a:off x="571500" y="39814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transition was not the first occurrence of every adult sound. It involved refinement and stabilization of material already present during development, making longitudinal recordings necessary for distinguishing acquisition from the final expression of a repertoire.</a:t>
            </a:r>
            <a:endParaRPr sz="1800">
              <a:solidFill>
                <a:schemeClr val="dk1"/>
              </a:solidFill>
              <a:latin typeface="Calibri"/>
              <a:ea typeface="Calibri"/>
              <a:cs typeface="Calibri"/>
              <a:sym typeface="Calibri"/>
            </a:endParaRPr>
          </a:p>
        </p:txBody>
      </p:sp>
      <p:sp>
        <p:nvSpPr>
          <p:cNvPr id="279" name="Google Shape;279;p21"/>
          <p:cNvSpPr/>
          <p:nvPr/>
        </p:nvSpPr>
        <p:spPr>
          <a:xfrm>
            <a:off x="571500" y="54864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Stability was assessed across repeated renditions. A single well-formed syllable during plastic song therefore did not by itself establish that the adult pattern had crystallized.</a:t>
            </a:r>
            <a:endParaRPr sz="1800">
              <a:solidFill>
                <a:schemeClr val="dk1"/>
              </a:solidFill>
              <a:latin typeface="Calibri"/>
              <a:ea typeface="Calibri"/>
              <a:cs typeface="Calibri"/>
              <a:sym typeface="Calibri"/>
            </a:endParaRPr>
          </a:p>
        </p:txBody>
      </p:sp>
      <p:pic>
        <p:nvPicPr>
          <p:cNvPr id="280" name="Google Shape;280;p21"/>
          <p:cNvPicPr preferRelativeResize="0"/>
          <p:nvPr/>
        </p:nvPicPr>
        <p:blipFill rotWithShape="1">
          <a:blip r:embed="rId3">
            <a:alphaModFix/>
          </a:blip>
          <a:srcRect b="0" l="0" r="0" t="0"/>
          <a:stretch/>
        </p:blipFill>
        <p:spPr>
          <a:xfrm>
            <a:off x="7249120" y="1238250"/>
            <a:ext cx="3694509" cy="4143375"/>
          </a:xfrm>
          <a:prstGeom prst="rect">
            <a:avLst/>
          </a:prstGeom>
          <a:noFill/>
          <a:ln>
            <a:noFill/>
          </a:ln>
        </p:spPr>
      </p:pic>
      <p:sp>
        <p:nvSpPr>
          <p:cNvPr id="281" name="Google Shape;281;p21"/>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&amp; Peters (1981), Fig. 1. Training syllables and developing vocal material.</a:t>
            </a:r>
            <a:endParaRPr sz="1800">
              <a:solidFill>
                <a:schemeClr val="dk1"/>
              </a:solidFill>
              <a:latin typeface="Calibri"/>
              <a:ea typeface="Calibri"/>
              <a:cs typeface="Calibri"/>
              <a:sym typeface="Calibri"/>
            </a:endParaRPr>
          </a:p>
        </p:txBody>
      </p:sp>
      <p:sp>
        <p:nvSpPr>
          <p:cNvPr id="282" name="Google Shape;282;p21"/>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&amp; Peters (1981)</a:t>
            </a:r>
            <a:endParaRPr sz="1800">
              <a:solidFill>
                <a:schemeClr val="dk1"/>
              </a:solidFill>
              <a:latin typeface="Calibri"/>
              <a:ea typeface="Calibri"/>
              <a:cs typeface="Calibri"/>
              <a:sym typeface="Calibri"/>
            </a:endParaRPr>
          </a:p>
        </p:txBody>
      </p:sp>
      <p:sp>
        <p:nvSpPr>
          <p:cNvPr id="283" name="Google Shape;283;p21"/>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21</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7" name="Shape 287"/>
        <p:cNvGrpSpPr/>
        <p:nvPr/>
      </p:nvGrpSpPr>
      <p:grpSpPr>
        <a:xfrm>
          <a:off x="0" y="0"/>
          <a:ext cx="0" cy="0"/>
          <a:chOff x="0" y="0"/>
          <a:chExt cx="0" cy="0"/>
        </a:xfrm>
      </p:grpSpPr>
      <p:sp>
        <p:nvSpPr>
          <p:cNvPr id="288" name="Google Shape;288;p22"/>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Plastic song contains material absent from adult song</a:t>
            </a:r>
            <a:endParaRPr sz="1800">
              <a:solidFill>
                <a:schemeClr val="dk1"/>
              </a:solidFill>
              <a:latin typeface="Calibri"/>
              <a:ea typeface="Calibri"/>
              <a:cs typeface="Calibri"/>
              <a:sym typeface="Calibri"/>
            </a:endParaRPr>
          </a:p>
        </p:txBody>
      </p:sp>
      <p:sp>
        <p:nvSpPr>
          <p:cNvPr id="289" name="Google Shape;289;p22"/>
          <p:cNvSpPr/>
          <p:nvPr/>
        </p:nvSpPr>
        <p:spPr>
          <a:xfrm>
            <a:off x="571500" y="123825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A </a:t>
            </a:r>
            <a:r>
              <a:rPr b="1" i="0" lang="en-US" sz="1575">
                <a:solidFill>
                  <a:srgbClr val="29272C"/>
                </a:solidFill>
                <a:latin typeface="Arial"/>
                <a:ea typeface="Arial"/>
                <a:cs typeface="Arial"/>
                <a:sym typeface="Arial"/>
              </a:rPr>
              <a:t>repertoire</a:t>
            </a:r>
            <a:r>
              <a:rPr b="0" i="0" lang="en-US" sz="1575">
                <a:solidFill>
                  <a:srgbClr val="29272C"/>
                </a:solidFill>
                <a:latin typeface="Arial"/>
                <a:ea typeface="Arial"/>
                <a:cs typeface="Arial"/>
                <a:sym typeface="Arial"/>
              </a:rPr>
              <a:t> is the collection of distinct song types or syllables produced by an individual. During plastic song, swamp sparrows produced more distinct syllables than remained in their crystallized adult repertoires.</a:t>
            </a:r>
            <a:endParaRPr sz="1800">
              <a:solidFill>
                <a:schemeClr val="dk1"/>
              </a:solidFill>
              <a:latin typeface="Calibri"/>
              <a:ea typeface="Calibri"/>
              <a:cs typeface="Calibri"/>
              <a:sym typeface="Calibri"/>
            </a:endParaRPr>
          </a:p>
        </p:txBody>
      </p:sp>
      <p:sp>
        <p:nvSpPr>
          <p:cNvPr id="290" name="Google Shape;290;p22"/>
          <p:cNvSpPr/>
          <p:nvPr/>
        </p:nvSpPr>
        <p:spPr>
          <a:xfrm>
            <a:off x="571500" y="24765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Marler and Peters tracked individual syllable types across age. Some copied training syllables were expressed temporarily and then disappeared, alongside other developing material.</a:t>
            </a:r>
            <a:endParaRPr sz="1800">
              <a:solidFill>
                <a:schemeClr val="dk1"/>
              </a:solidFill>
              <a:latin typeface="Calibri"/>
              <a:ea typeface="Calibri"/>
              <a:cs typeface="Calibri"/>
              <a:sym typeface="Calibri"/>
            </a:endParaRPr>
          </a:p>
        </p:txBody>
      </p:sp>
      <p:sp>
        <p:nvSpPr>
          <p:cNvPr id="291" name="Google Shape;291;p22"/>
          <p:cNvSpPr/>
          <p:nvPr/>
        </p:nvSpPr>
        <p:spPr>
          <a:xfrm>
            <a:off x="571500" y="37147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Adult song therefore underestimates information revealed during learning. Failure to retain a copied syllable in the final repertoire does not establish failure to learn it; a developmental record can detect temporary expression that a single adult recording would miss.</a:t>
            </a:r>
            <a:endParaRPr sz="1800">
              <a:solidFill>
                <a:schemeClr val="dk1"/>
              </a:solidFill>
              <a:latin typeface="Calibri"/>
              <a:ea typeface="Calibri"/>
              <a:cs typeface="Calibri"/>
              <a:sym typeface="Calibri"/>
            </a:endParaRPr>
          </a:p>
        </p:txBody>
      </p:sp>
      <p:sp>
        <p:nvSpPr>
          <p:cNvPr id="292" name="Google Shape;292;p22"/>
          <p:cNvSpPr/>
          <p:nvPr/>
        </p:nvSpPr>
        <p:spPr>
          <a:xfrm>
            <a:off x="571500" y="52197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age record followed named syllable types as their use changed. A copied type could be temporarily expressed and later lost while other copied material remained in the adult repertoire.</a:t>
            </a:r>
            <a:endParaRPr sz="1800">
              <a:solidFill>
                <a:schemeClr val="dk1"/>
              </a:solidFill>
              <a:latin typeface="Calibri"/>
              <a:ea typeface="Calibri"/>
              <a:cs typeface="Calibri"/>
              <a:sym typeface="Calibri"/>
            </a:endParaRPr>
          </a:p>
        </p:txBody>
      </p:sp>
      <p:pic>
        <p:nvPicPr>
          <p:cNvPr id="293" name="Google Shape;293;p22"/>
          <p:cNvPicPr preferRelativeResize="0"/>
          <p:nvPr/>
        </p:nvPicPr>
        <p:blipFill rotWithShape="1">
          <a:blip r:embed="rId3">
            <a:alphaModFix/>
          </a:blip>
          <a:srcRect b="0" l="0" r="0" t="0"/>
          <a:stretch/>
        </p:blipFill>
        <p:spPr>
          <a:xfrm>
            <a:off x="6678151" y="1238250"/>
            <a:ext cx="4836449" cy="4143375"/>
          </a:xfrm>
          <a:prstGeom prst="rect">
            <a:avLst/>
          </a:prstGeom>
          <a:noFill/>
          <a:ln>
            <a:noFill/>
          </a:ln>
        </p:spPr>
      </p:pic>
      <p:sp>
        <p:nvSpPr>
          <p:cNvPr id="294" name="Google Shape;294;p22"/>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&amp; Peters (1981), Fig. 2. Syllable use across developmental age.</a:t>
            </a:r>
            <a:endParaRPr sz="1800">
              <a:solidFill>
                <a:schemeClr val="dk1"/>
              </a:solidFill>
              <a:latin typeface="Calibri"/>
              <a:ea typeface="Calibri"/>
              <a:cs typeface="Calibri"/>
              <a:sym typeface="Calibri"/>
            </a:endParaRPr>
          </a:p>
        </p:txBody>
      </p:sp>
      <p:sp>
        <p:nvSpPr>
          <p:cNvPr id="295" name="Google Shape;295;p22"/>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&amp; Peters (1981)</a:t>
            </a:r>
            <a:endParaRPr sz="1800">
              <a:solidFill>
                <a:schemeClr val="dk1"/>
              </a:solidFill>
              <a:latin typeface="Calibri"/>
              <a:ea typeface="Calibri"/>
              <a:cs typeface="Calibri"/>
              <a:sym typeface="Calibri"/>
            </a:endParaRPr>
          </a:p>
        </p:txBody>
      </p:sp>
      <p:sp>
        <p:nvSpPr>
          <p:cNvPr id="296" name="Google Shape;296;p22"/>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22</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0" name="Shape 300"/>
        <p:cNvGrpSpPr/>
        <p:nvPr/>
      </p:nvGrpSpPr>
      <p:grpSpPr>
        <a:xfrm>
          <a:off x="0" y="0"/>
          <a:ext cx="0" cy="0"/>
          <a:chOff x="0" y="0"/>
          <a:chExt cx="0" cy="0"/>
        </a:xfrm>
      </p:grpSpPr>
      <p:sp>
        <p:nvSpPr>
          <p:cNvPr id="301" name="Google Shape;301;p23"/>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Imitation, improvisation, and invention contribute to song</a:t>
            </a:r>
            <a:endParaRPr sz="1800">
              <a:solidFill>
                <a:schemeClr val="dk1"/>
              </a:solidFill>
              <a:latin typeface="Calibri"/>
              <a:ea typeface="Calibri"/>
              <a:cs typeface="Calibri"/>
              <a:sym typeface="Calibri"/>
            </a:endParaRPr>
          </a:p>
        </p:txBody>
      </p:sp>
      <p:sp>
        <p:nvSpPr>
          <p:cNvPr id="302" name="Google Shape;302;p23"/>
          <p:cNvSpPr/>
          <p:nvPr/>
        </p:nvSpPr>
        <p:spPr>
          <a:xfrm>
            <a:off x="571500" y="12382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Marler and Peters classified developing swamp sparrow syllables by their relation to the training recordings. </a:t>
            </a:r>
            <a:r>
              <a:rPr b="1" i="0" lang="en-US" sz="1575">
                <a:solidFill>
                  <a:srgbClr val="29272C"/>
                </a:solidFill>
                <a:latin typeface="Arial"/>
                <a:ea typeface="Arial"/>
                <a:cs typeface="Arial"/>
                <a:sym typeface="Arial"/>
              </a:rPr>
              <a:t>Imitations</a:t>
            </a:r>
            <a:r>
              <a:rPr b="0" i="0" lang="en-US" sz="1575">
                <a:solidFill>
                  <a:srgbClr val="29272C"/>
                </a:solidFill>
                <a:latin typeface="Arial"/>
                <a:ea typeface="Arial"/>
                <a:cs typeface="Arial"/>
                <a:sym typeface="Arial"/>
              </a:rPr>
              <a:t> matched models; </a:t>
            </a:r>
            <a:r>
              <a:rPr b="1" i="0" lang="en-US" sz="1575">
                <a:solidFill>
                  <a:srgbClr val="29272C"/>
                </a:solidFill>
                <a:latin typeface="Arial"/>
                <a:ea typeface="Arial"/>
                <a:cs typeface="Arial"/>
                <a:sym typeface="Arial"/>
              </a:rPr>
              <a:t>improvisations</a:t>
            </a:r>
            <a:r>
              <a:rPr b="0" i="0" lang="en-US" sz="1575">
                <a:solidFill>
                  <a:srgbClr val="29272C"/>
                </a:solidFill>
                <a:latin typeface="Arial"/>
                <a:ea typeface="Arial"/>
                <a:cs typeface="Arial"/>
                <a:sym typeface="Arial"/>
              </a:rPr>
              <a:t> resembled altered or poorly copied models; </a:t>
            </a:r>
            <a:r>
              <a:rPr b="1" i="0" lang="en-US" sz="1575">
                <a:solidFill>
                  <a:srgbClr val="29272C"/>
                </a:solidFill>
                <a:latin typeface="Arial"/>
                <a:ea typeface="Arial"/>
                <a:cs typeface="Arial"/>
                <a:sym typeface="Arial"/>
              </a:rPr>
              <a:t>inventions</a:t>
            </a:r>
            <a:r>
              <a:rPr b="0" i="0" lang="en-US" sz="1575">
                <a:solidFill>
                  <a:srgbClr val="29272C"/>
                </a:solidFill>
                <a:latin typeface="Arial"/>
                <a:ea typeface="Arial"/>
                <a:cs typeface="Arial"/>
                <a:sym typeface="Arial"/>
              </a:rPr>
              <a:t> lacked an identified model in the training set.</a:t>
            </a:r>
            <a:endParaRPr sz="1800">
              <a:solidFill>
                <a:schemeClr val="dk1"/>
              </a:solidFill>
              <a:latin typeface="Calibri"/>
              <a:ea typeface="Calibri"/>
              <a:cs typeface="Calibri"/>
              <a:sym typeface="Calibri"/>
            </a:endParaRPr>
          </a:p>
        </p:txBody>
      </p:sp>
      <p:sp>
        <p:nvSpPr>
          <p:cNvPr id="303" name="Google Shape;303;p23"/>
          <p:cNvSpPr/>
          <p:nvPr/>
        </p:nvSpPr>
        <p:spPr>
          <a:xfrm>
            <a:off x="571500" y="27432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These categories occurred together during plastic song, and both copied and noncopied syllables could be discarded during crystallization. Adult development involved selection as well as acoustic refinement.</a:t>
            </a:r>
            <a:endParaRPr sz="1800">
              <a:solidFill>
                <a:schemeClr val="dk1"/>
              </a:solidFill>
              <a:latin typeface="Calibri"/>
              <a:ea typeface="Calibri"/>
              <a:cs typeface="Calibri"/>
              <a:sym typeface="Calibri"/>
            </a:endParaRPr>
          </a:p>
        </p:txBody>
      </p:sp>
      <p:sp>
        <p:nvSpPr>
          <p:cNvPr id="304" name="Google Shape;304;p23"/>
          <p:cNvSpPr/>
          <p:nvPr/>
        </p:nvSpPr>
        <p:spPr>
          <a:xfrm>
            <a:off x="571500" y="39814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classification depends on comparison with the known recordings. It does not establish a new neural mechanism for each category, and an unrecognized copy cannot be excluded merely by labeling a syllable an invention.</a:t>
            </a:r>
            <a:endParaRPr sz="1800">
              <a:solidFill>
                <a:schemeClr val="dk1"/>
              </a:solidFill>
              <a:latin typeface="Calibri"/>
              <a:ea typeface="Calibri"/>
              <a:cs typeface="Calibri"/>
              <a:sym typeface="Calibri"/>
            </a:endParaRPr>
          </a:p>
        </p:txBody>
      </p:sp>
      <p:sp>
        <p:nvSpPr>
          <p:cNvPr id="305" name="Google Shape;305;p23"/>
          <p:cNvSpPr/>
          <p:nvPr/>
        </p:nvSpPr>
        <p:spPr>
          <a:xfrm>
            <a:off x="571500" y="54864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Copied and invented material mingled during plastic song. The reduction at crystallization therefore acted on both categories, rather than selectively retaining every syllable that matched the tutor.</a:t>
            </a:r>
            <a:endParaRPr sz="1800">
              <a:solidFill>
                <a:schemeClr val="dk1"/>
              </a:solidFill>
              <a:latin typeface="Calibri"/>
              <a:ea typeface="Calibri"/>
              <a:cs typeface="Calibri"/>
              <a:sym typeface="Calibri"/>
            </a:endParaRPr>
          </a:p>
        </p:txBody>
      </p:sp>
      <p:pic>
        <p:nvPicPr>
          <p:cNvPr id="306" name="Google Shape;306;p23"/>
          <p:cNvPicPr preferRelativeResize="0"/>
          <p:nvPr/>
        </p:nvPicPr>
        <p:blipFill rotWithShape="1">
          <a:blip r:embed="rId3">
            <a:alphaModFix/>
          </a:blip>
          <a:srcRect b="0" l="0" r="0" t="0"/>
          <a:stretch/>
        </p:blipFill>
        <p:spPr>
          <a:xfrm>
            <a:off x="7249120" y="1238250"/>
            <a:ext cx="3694509" cy="4143375"/>
          </a:xfrm>
          <a:prstGeom prst="rect">
            <a:avLst/>
          </a:prstGeom>
          <a:noFill/>
          <a:ln>
            <a:noFill/>
          </a:ln>
        </p:spPr>
      </p:pic>
      <p:sp>
        <p:nvSpPr>
          <p:cNvPr id="307" name="Google Shape;307;p23"/>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Marler &amp; Peters (1981), Fig. 1. Training syllables and developing vocal material.</a:t>
            </a:r>
            <a:endParaRPr sz="1800">
              <a:solidFill>
                <a:schemeClr val="dk1"/>
              </a:solidFill>
              <a:latin typeface="Calibri"/>
              <a:ea typeface="Calibri"/>
              <a:cs typeface="Calibri"/>
              <a:sym typeface="Calibri"/>
            </a:endParaRPr>
          </a:p>
        </p:txBody>
      </p:sp>
      <p:sp>
        <p:nvSpPr>
          <p:cNvPr id="308" name="Google Shape;308;p23"/>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Marler &amp; Peters (1981)</a:t>
            </a:r>
            <a:endParaRPr sz="1800">
              <a:solidFill>
                <a:schemeClr val="dk1"/>
              </a:solidFill>
              <a:latin typeface="Calibri"/>
              <a:ea typeface="Calibri"/>
              <a:cs typeface="Calibri"/>
              <a:sym typeface="Calibri"/>
            </a:endParaRPr>
          </a:p>
        </p:txBody>
      </p:sp>
      <p:sp>
        <p:nvSpPr>
          <p:cNvPr id="309" name="Google Shape;309;p23"/>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23</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3" name="Shape 313"/>
        <p:cNvGrpSpPr/>
        <p:nvPr/>
      </p:nvGrpSpPr>
      <p:grpSpPr>
        <a:xfrm>
          <a:off x="0" y="0"/>
          <a:ext cx="0" cy="0"/>
          <a:chOff x="0" y="0"/>
          <a:chExt cx="0" cy="0"/>
        </a:xfrm>
      </p:grpSpPr>
      <p:sp>
        <p:nvSpPr>
          <p:cNvPr id="314" name="Google Shape;314;p24"/>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Own song can be distinguished from the tutor song</a:t>
            </a:r>
            <a:endParaRPr sz="1800">
              <a:solidFill>
                <a:schemeClr val="dk1"/>
              </a:solidFill>
              <a:latin typeface="Calibri"/>
              <a:ea typeface="Calibri"/>
              <a:cs typeface="Calibri"/>
              <a:sym typeface="Calibri"/>
            </a:endParaRPr>
          </a:p>
        </p:txBody>
      </p:sp>
      <p:sp>
        <p:nvSpPr>
          <p:cNvPr id="315" name="Google Shape;315;p24"/>
          <p:cNvSpPr/>
          <p:nvPr/>
        </p:nvSpPr>
        <p:spPr>
          <a:xfrm>
            <a:off x="571500" y="123825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1" i="0" lang="en-US" sz="1575">
                <a:solidFill>
                  <a:srgbClr val="29272C"/>
                </a:solidFill>
                <a:latin typeface="Arial"/>
                <a:ea typeface="Arial"/>
                <a:cs typeface="Arial"/>
                <a:sym typeface="Arial"/>
              </a:rPr>
              <a:t>Autogenous song</a:t>
            </a:r>
            <a:r>
              <a:rPr b="0" i="0" lang="en-US" sz="1575">
                <a:solidFill>
                  <a:srgbClr val="29272C"/>
                </a:solidFill>
                <a:latin typeface="Arial"/>
                <a:ea typeface="Arial"/>
                <a:cs typeface="Arial"/>
                <a:sym typeface="Arial"/>
              </a:rPr>
              <a:t> means the song produced by the individual itself. Margoliash and Konishi compared auditory responses in adult white-crowned sparrows to own song, other dialect songs, and a training model.</a:t>
            </a:r>
            <a:endParaRPr sz="1800">
              <a:solidFill>
                <a:schemeClr val="dk1"/>
              </a:solidFill>
              <a:latin typeface="Calibri"/>
              <a:ea typeface="Calibri"/>
              <a:cs typeface="Calibri"/>
              <a:sym typeface="Calibri"/>
            </a:endParaRPr>
          </a:p>
        </p:txBody>
      </p:sp>
      <p:sp>
        <p:nvSpPr>
          <p:cNvPr id="316" name="Google Shape;316;p24"/>
          <p:cNvSpPr/>
          <p:nvPr/>
        </p:nvSpPr>
        <p:spPr>
          <a:xfrm>
            <a:off x="571500" y="24765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Their comparisons included laboratory-reared birds whose final songs differed from the model they had heard. A tutor recording and the bird's own vocal output were therefore separable acoustic stimuli.</a:t>
            </a:r>
            <a:endParaRPr sz="1800">
              <a:solidFill>
                <a:schemeClr val="dk1"/>
              </a:solidFill>
              <a:latin typeface="Calibri"/>
              <a:ea typeface="Calibri"/>
              <a:cs typeface="Calibri"/>
              <a:sym typeface="Calibri"/>
            </a:endParaRPr>
          </a:p>
        </p:txBody>
      </p:sp>
      <p:sp>
        <p:nvSpPr>
          <p:cNvPr id="317" name="Google Shape;317;p24"/>
          <p:cNvSpPr/>
          <p:nvPr/>
        </p:nvSpPr>
        <p:spPr>
          <a:xfrm>
            <a:off x="571500" y="37147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This distinction is essential for interpreting a possible template. A neuron preferring own song is not automatically a neuron storing the tutor target, because the copied model and the resulting vocalization can share many features yet remain acoustically different.</a:t>
            </a:r>
            <a:endParaRPr sz="1800">
              <a:solidFill>
                <a:schemeClr val="dk1"/>
              </a:solidFill>
              <a:latin typeface="Calibri"/>
              <a:ea typeface="Calibri"/>
              <a:cs typeface="Calibri"/>
              <a:sym typeface="Calibri"/>
            </a:endParaRPr>
          </a:p>
        </p:txBody>
      </p:sp>
      <p:sp>
        <p:nvSpPr>
          <p:cNvPr id="318" name="Google Shape;318;p24"/>
          <p:cNvSpPr/>
          <p:nvPr/>
        </p:nvSpPr>
        <p:spPr>
          <a:xfrm>
            <a:off x="571500" y="52197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tutor is the acoustic source of the training model. Own song is the pupil’s resulting output; the distinction persists even when their shared features make them superficially similar.</a:t>
            </a:r>
            <a:endParaRPr sz="1800">
              <a:solidFill>
                <a:schemeClr val="dk1"/>
              </a:solidFill>
              <a:latin typeface="Calibri"/>
              <a:ea typeface="Calibri"/>
              <a:cs typeface="Calibri"/>
              <a:sym typeface="Calibri"/>
            </a:endParaRPr>
          </a:p>
        </p:txBody>
      </p:sp>
      <p:pic>
        <p:nvPicPr>
          <p:cNvPr id="319" name="Google Shape;319;p24"/>
          <p:cNvPicPr preferRelativeResize="0"/>
          <p:nvPr/>
        </p:nvPicPr>
        <p:blipFill rotWithShape="1">
          <a:blip r:embed="rId3">
            <a:alphaModFix/>
          </a:blip>
          <a:srcRect b="0" l="0" r="0" t="0"/>
          <a:stretch/>
        </p:blipFill>
        <p:spPr>
          <a:xfrm>
            <a:off x="6572250" y="2204869"/>
            <a:ext cx="3095625" cy="2210138"/>
          </a:xfrm>
          <a:prstGeom prst="rect">
            <a:avLst/>
          </a:prstGeom>
          <a:noFill/>
          <a:ln>
            <a:noFill/>
          </a:ln>
        </p:spPr>
      </p:pic>
      <p:sp>
        <p:nvSpPr>
          <p:cNvPr id="320" name="Google Shape;320;p24"/>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Margoliash &amp; Konishi (1985), Fig. 2. Own-song and same-dialect comparison spectrograms.</a:t>
            </a:r>
            <a:endParaRPr sz="1800">
              <a:solidFill>
                <a:schemeClr val="dk1"/>
              </a:solidFill>
              <a:latin typeface="Calibri"/>
              <a:ea typeface="Calibri"/>
              <a:cs typeface="Calibri"/>
              <a:sym typeface="Calibri"/>
            </a:endParaRPr>
          </a:p>
        </p:txBody>
      </p:sp>
      <p:pic>
        <p:nvPicPr>
          <p:cNvPr id="321" name="Google Shape;321;p24"/>
          <p:cNvPicPr preferRelativeResize="0"/>
          <p:nvPr/>
        </p:nvPicPr>
        <p:blipFill rotWithShape="1">
          <a:blip r:embed="rId4">
            <a:alphaModFix/>
          </a:blip>
          <a:srcRect b="0" l="0" r="0" t="0"/>
          <a:stretch/>
        </p:blipFill>
        <p:spPr>
          <a:xfrm>
            <a:off x="9906000" y="2549672"/>
            <a:ext cx="1714500" cy="1234781"/>
          </a:xfrm>
          <a:prstGeom prst="rect">
            <a:avLst/>
          </a:prstGeom>
          <a:noFill/>
          <a:ln>
            <a:noFill/>
          </a:ln>
        </p:spPr>
      </p:pic>
      <p:sp>
        <p:nvSpPr>
          <p:cNvPr id="322" name="Google Shape;322;p24"/>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323" name="Google Shape;323;p24"/>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Margoliash &amp; Konishi (1985)</a:t>
            </a:r>
            <a:endParaRPr sz="1800">
              <a:solidFill>
                <a:schemeClr val="dk1"/>
              </a:solidFill>
              <a:latin typeface="Calibri"/>
              <a:ea typeface="Calibri"/>
              <a:cs typeface="Calibri"/>
              <a:sym typeface="Calibri"/>
            </a:endParaRPr>
          </a:p>
        </p:txBody>
      </p:sp>
      <p:sp>
        <p:nvSpPr>
          <p:cNvPr id="324" name="Google Shape;324;p24"/>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24</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8" name="Shape 328"/>
        <p:cNvGrpSpPr/>
        <p:nvPr/>
      </p:nvGrpSpPr>
      <p:grpSpPr>
        <a:xfrm>
          <a:off x="0" y="0"/>
          <a:ext cx="0" cy="0"/>
          <a:chOff x="0" y="0"/>
          <a:chExt cx="0" cy="0"/>
        </a:xfrm>
      </p:grpSpPr>
      <p:sp>
        <p:nvSpPr>
          <p:cNvPr id="329" name="Google Shape;329;p25"/>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HVC responds strongly to playback of own song</a:t>
            </a:r>
            <a:endParaRPr sz="1800">
              <a:solidFill>
                <a:schemeClr val="dk1"/>
              </a:solidFill>
              <a:latin typeface="Calibri"/>
              <a:ea typeface="Calibri"/>
              <a:cs typeface="Calibri"/>
              <a:sym typeface="Calibri"/>
            </a:endParaRPr>
          </a:p>
        </p:txBody>
      </p:sp>
      <p:sp>
        <p:nvSpPr>
          <p:cNvPr id="330" name="Google Shape;330;p25"/>
          <p:cNvSpPr/>
          <p:nvPr/>
        </p:nvSpPr>
        <p:spPr>
          <a:xfrm>
            <a:off x="571500" y="12382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1" i="0" lang="en-US" sz="1575">
                <a:solidFill>
                  <a:srgbClr val="29272C"/>
                </a:solidFill>
                <a:latin typeface="Arial"/>
                <a:ea typeface="Arial"/>
                <a:cs typeface="Arial"/>
                <a:sym typeface="Arial"/>
              </a:rPr>
              <a:t>HVC</a:t>
            </a:r>
            <a:r>
              <a:rPr b="0" i="0" lang="en-US" sz="1575">
                <a:solidFill>
                  <a:srgbClr val="29272C"/>
                </a:solidFill>
                <a:latin typeface="Arial"/>
                <a:ea typeface="Arial"/>
                <a:cs typeface="Arial"/>
                <a:sym typeface="Arial"/>
              </a:rPr>
              <a:t> is a forebrain song nucleus involved in learned vocal control. In Margoliash and Konishi's adult sparrow recordings, playback of the bird's own song elicited strong responses from song-responsive neuronal clusters.</a:t>
            </a:r>
            <a:endParaRPr sz="1800">
              <a:solidFill>
                <a:schemeClr val="dk1"/>
              </a:solidFill>
              <a:latin typeface="Calibri"/>
              <a:ea typeface="Calibri"/>
              <a:cs typeface="Calibri"/>
              <a:sym typeface="Calibri"/>
            </a:endParaRPr>
          </a:p>
        </p:txBody>
      </p:sp>
      <p:sp>
        <p:nvSpPr>
          <p:cNvPr id="331" name="Google Shape;331;p25"/>
          <p:cNvSpPr/>
          <p:nvPr/>
        </p:nvSpPr>
        <p:spPr>
          <a:xfrm>
            <a:off x="571500" y="274320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study compared these responses with responses to other songs using the same recording site and controlled presentations. An amplitude-derived measure quantified the multiunit signal, which pools activity from several nearby neurons.</a:t>
            </a:r>
            <a:endParaRPr sz="1800">
              <a:solidFill>
                <a:schemeClr val="dk1"/>
              </a:solidFill>
              <a:latin typeface="Calibri"/>
              <a:ea typeface="Calibri"/>
              <a:cs typeface="Calibri"/>
              <a:sym typeface="Calibri"/>
            </a:endParaRPr>
          </a:p>
        </p:txBody>
      </p:sp>
      <p:sp>
        <p:nvSpPr>
          <p:cNvPr id="332" name="Google Shape;332;p25"/>
          <p:cNvSpPr/>
          <p:nvPr/>
        </p:nvSpPr>
        <p:spPr>
          <a:xfrm>
            <a:off x="571500" y="42481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larger own-song response establishes auditory selectivity in this preparation. It does not establish that the same clusters compute error during singing, because playback responsiveness and an active feedback comparison are different physiological measurements.</a:t>
            </a:r>
            <a:endParaRPr sz="1800">
              <a:solidFill>
                <a:schemeClr val="dk1"/>
              </a:solidFill>
              <a:latin typeface="Calibri"/>
              <a:ea typeface="Calibri"/>
              <a:cs typeface="Calibri"/>
              <a:sym typeface="Calibri"/>
            </a:endParaRPr>
          </a:p>
        </p:txBody>
      </p:sp>
      <p:sp>
        <p:nvSpPr>
          <p:cNvPr id="333" name="Google Shape;333;p25"/>
          <p:cNvSpPr/>
          <p:nvPr/>
        </p:nvSpPr>
        <p:spPr>
          <a:xfrm>
            <a:off x="571500" y="57531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Own song and the alternative recordings were compared at the same neuronal cluster. This control avoids attributing a stimulus difference to measurements from unrelated recording sites.</a:t>
            </a:r>
            <a:endParaRPr sz="1800">
              <a:solidFill>
                <a:schemeClr val="dk1"/>
              </a:solidFill>
              <a:latin typeface="Calibri"/>
              <a:ea typeface="Calibri"/>
              <a:cs typeface="Calibri"/>
              <a:sym typeface="Calibri"/>
            </a:endParaRPr>
          </a:p>
        </p:txBody>
      </p:sp>
      <p:pic>
        <p:nvPicPr>
          <p:cNvPr id="334" name="Google Shape;334;p25"/>
          <p:cNvPicPr preferRelativeResize="0"/>
          <p:nvPr/>
        </p:nvPicPr>
        <p:blipFill rotWithShape="1">
          <a:blip r:embed="rId3">
            <a:alphaModFix/>
          </a:blip>
          <a:srcRect b="0" l="0" r="0" t="0"/>
          <a:stretch/>
        </p:blipFill>
        <p:spPr>
          <a:xfrm>
            <a:off x="6723881" y="1238250"/>
            <a:ext cx="2792364" cy="4143375"/>
          </a:xfrm>
          <a:prstGeom prst="rect">
            <a:avLst/>
          </a:prstGeom>
          <a:noFill/>
          <a:ln>
            <a:noFill/>
          </a:ln>
        </p:spPr>
      </p:pic>
      <p:sp>
        <p:nvSpPr>
          <p:cNvPr id="335" name="Google Shape;335;p25"/>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Margoliash &amp; Konishi (1985), Fig. 1. Multiunit responses to own and comparison songs.</a:t>
            </a:r>
            <a:endParaRPr sz="1800">
              <a:solidFill>
                <a:schemeClr val="dk1"/>
              </a:solidFill>
              <a:latin typeface="Calibri"/>
              <a:ea typeface="Calibri"/>
              <a:cs typeface="Calibri"/>
              <a:sym typeface="Calibri"/>
            </a:endParaRPr>
          </a:p>
        </p:txBody>
      </p:sp>
      <p:pic>
        <p:nvPicPr>
          <p:cNvPr id="336" name="Google Shape;336;p25"/>
          <p:cNvPicPr preferRelativeResize="0"/>
          <p:nvPr/>
        </p:nvPicPr>
        <p:blipFill rotWithShape="1">
          <a:blip r:embed="rId4">
            <a:alphaModFix/>
          </a:blip>
          <a:srcRect b="0" l="0" r="0" t="0"/>
          <a:stretch/>
        </p:blipFill>
        <p:spPr>
          <a:xfrm>
            <a:off x="9906000" y="2549672"/>
            <a:ext cx="1714500" cy="1234781"/>
          </a:xfrm>
          <a:prstGeom prst="rect">
            <a:avLst/>
          </a:prstGeom>
          <a:noFill/>
          <a:ln>
            <a:noFill/>
          </a:ln>
        </p:spPr>
      </p:pic>
      <p:sp>
        <p:nvSpPr>
          <p:cNvPr id="337" name="Google Shape;337;p25"/>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338" name="Google Shape;338;p25"/>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Margoliash &amp; Konishi (1985)</a:t>
            </a:r>
            <a:endParaRPr sz="1800">
              <a:solidFill>
                <a:schemeClr val="dk1"/>
              </a:solidFill>
              <a:latin typeface="Calibri"/>
              <a:ea typeface="Calibri"/>
              <a:cs typeface="Calibri"/>
              <a:sym typeface="Calibri"/>
            </a:endParaRPr>
          </a:p>
        </p:txBody>
      </p:sp>
      <p:sp>
        <p:nvSpPr>
          <p:cNvPr id="339" name="Google Shape;339;p25"/>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25</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3" name="Shape 343"/>
        <p:cNvGrpSpPr/>
        <p:nvPr/>
      </p:nvGrpSpPr>
      <p:grpSpPr>
        <a:xfrm>
          <a:off x="0" y="0"/>
          <a:ext cx="0" cy="0"/>
          <a:chOff x="0" y="0"/>
          <a:chExt cx="0" cy="0"/>
        </a:xfrm>
      </p:grpSpPr>
      <p:sp>
        <p:nvSpPr>
          <p:cNvPr id="344" name="Google Shape;344;p26"/>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Same-dialect songs remain distinguishable in HVC</a:t>
            </a:r>
            <a:endParaRPr sz="1800">
              <a:solidFill>
                <a:schemeClr val="dk1"/>
              </a:solidFill>
              <a:latin typeface="Calibri"/>
              <a:ea typeface="Calibri"/>
              <a:cs typeface="Calibri"/>
              <a:sym typeface="Calibri"/>
            </a:endParaRPr>
          </a:p>
        </p:txBody>
      </p:sp>
      <p:sp>
        <p:nvSpPr>
          <p:cNvPr id="345" name="Google Shape;345;p26"/>
          <p:cNvSpPr/>
          <p:nvPr/>
        </p:nvSpPr>
        <p:spPr>
          <a:xfrm>
            <a:off x="571500" y="12382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Songs from the same dialect share conspicuous structural features, making them a demanding comparison for own-song selectivity. Margoliash and Konishi tested own song against other songs from the Bodega Bay dialect.</a:t>
            </a:r>
            <a:endParaRPr sz="1800">
              <a:solidFill>
                <a:schemeClr val="dk1"/>
              </a:solidFill>
              <a:latin typeface="Calibri"/>
              <a:ea typeface="Calibri"/>
              <a:cs typeface="Calibri"/>
              <a:sym typeface="Calibri"/>
            </a:endParaRPr>
          </a:p>
        </p:txBody>
      </p:sp>
      <p:sp>
        <p:nvSpPr>
          <p:cNvPr id="346" name="Google Shape;346;p26"/>
          <p:cNvSpPr/>
          <p:nvPr/>
        </p:nvSpPr>
        <p:spPr>
          <a:xfrm>
            <a:off x="571500" y="274320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bird's own song generally elicited stronger multiunit responses even when the alternatives belonged to the same local acoustic tradition. Selectivity therefore extended beyond a simple distinction between two geographically different dialects.</a:t>
            </a:r>
            <a:endParaRPr sz="1800">
              <a:solidFill>
                <a:schemeClr val="dk1"/>
              </a:solidFill>
              <a:latin typeface="Calibri"/>
              <a:ea typeface="Calibri"/>
              <a:cs typeface="Calibri"/>
              <a:sym typeface="Calibri"/>
            </a:endParaRPr>
          </a:p>
        </p:txBody>
      </p:sp>
      <p:sp>
        <p:nvSpPr>
          <p:cNvPr id="347" name="Google Shape;347;p26"/>
          <p:cNvSpPr/>
          <p:nvPr/>
        </p:nvSpPr>
        <p:spPr>
          <a:xfrm>
            <a:off x="571500" y="42481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experiment supports sensitivity to individual song structure. It does not demonstrate behavioral recognition of the singer, because neuronal responses to recordings and the animal's discrimination or social response must be tested separately.</a:t>
            </a:r>
            <a:endParaRPr sz="1800">
              <a:solidFill>
                <a:schemeClr val="dk1"/>
              </a:solidFill>
              <a:latin typeface="Calibri"/>
              <a:ea typeface="Calibri"/>
              <a:cs typeface="Calibri"/>
              <a:sym typeface="Calibri"/>
            </a:endParaRPr>
          </a:p>
        </p:txBody>
      </p:sp>
      <p:sp>
        <p:nvSpPr>
          <p:cNvPr id="348" name="Google Shape;348;p26"/>
          <p:cNvSpPr/>
          <p:nvPr/>
        </p:nvSpPr>
        <p:spPr>
          <a:xfrm>
            <a:off x="571500" y="57531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alternatives shared the Bodega Bay dialect with the tested singers. Differences in response thus occurred despite common dialect structure, not only when the playback belonged to another population.</a:t>
            </a:r>
            <a:endParaRPr sz="1800">
              <a:solidFill>
                <a:schemeClr val="dk1"/>
              </a:solidFill>
              <a:latin typeface="Calibri"/>
              <a:ea typeface="Calibri"/>
              <a:cs typeface="Calibri"/>
              <a:sym typeface="Calibri"/>
            </a:endParaRPr>
          </a:p>
        </p:txBody>
      </p:sp>
      <p:pic>
        <p:nvPicPr>
          <p:cNvPr id="349" name="Google Shape;349;p26"/>
          <p:cNvPicPr preferRelativeResize="0"/>
          <p:nvPr/>
        </p:nvPicPr>
        <p:blipFill rotWithShape="1">
          <a:blip r:embed="rId3">
            <a:alphaModFix/>
          </a:blip>
          <a:srcRect b="0" l="0" r="0" t="0"/>
          <a:stretch/>
        </p:blipFill>
        <p:spPr>
          <a:xfrm>
            <a:off x="6572250" y="2204869"/>
            <a:ext cx="3095625" cy="2210138"/>
          </a:xfrm>
          <a:prstGeom prst="rect">
            <a:avLst/>
          </a:prstGeom>
          <a:noFill/>
          <a:ln>
            <a:noFill/>
          </a:ln>
        </p:spPr>
      </p:pic>
      <p:sp>
        <p:nvSpPr>
          <p:cNvPr id="350" name="Google Shape;350;p26"/>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Margoliash &amp; Konishi (1985), Fig. 2. Own-song and same-dialect comparison spectrograms.</a:t>
            </a:r>
            <a:endParaRPr sz="1800">
              <a:solidFill>
                <a:schemeClr val="dk1"/>
              </a:solidFill>
              <a:latin typeface="Calibri"/>
              <a:ea typeface="Calibri"/>
              <a:cs typeface="Calibri"/>
              <a:sym typeface="Calibri"/>
            </a:endParaRPr>
          </a:p>
        </p:txBody>
      </p:sp>
      <p:pic>
        <p:nvPicPr>
          <p:cNvPr id="351" name="Google Shape;351;p26"/>
          <p:cNvPicPr preferRelativeResize="0"/>
          <p:nvPr/>
        </p:nvPicPr>
        <p:blipFill rotWithShape="1">
          <a:blip r:embed="rId4">
            <a:alphaModFix/>
          </a:blip>
          <a:srcRect b="0" l="0" r="0" t="0"/>
          <a:stretch/>
        </p:blipFill>
        <p:spPr>
          <a:xfrm>
            <a:off x="9906000" y="2549672"/>
            <a:ext cx="1714500" cy="1234781"/>
          </a:xfrm>
          <a:prstGeom prst="rect">
            <a:avLst/>
          </a:prstGeom>
          <a:noFill/>
          <a:ln>
            <a:noFill/>
          </a:ln>
        </p:spPr>
      </p:pic>
      <p:sp>
        <p:nvSpPr>
          <p:cNvPr id="352" name="Google Shape;352;p26"/>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353" name="Google Shape;353;p26"/>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Margoliash &amp; Konishi (1985)</a:t>
            </a:r>
            <a:endParaRPr sz="1800">
              <a:solidFill>
                <a:schemeClr val="dk1"/>
              </a:solidFill>
              <a:latin typeface="Calibri"/>
              <a:ea typeface="Calibri"/>
              <a:cs typeface="Calibri"/>
              <a:sym typeface="Calibri"/>
            </a:endParaRPr>
          </a:p>
        </p:txBody>
      </p:sp>
      <p:sp>
        <p:nvSpPr>
          <p:cNvPr id="354" name="Google Shape;354;p26"/>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26</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8" name="Shape 358"/>
        <p:cNvGrpSpPr/>
        <p:nvPr/>
      </p:nvGrpSpPr>
      <p:grpSpPr>
        <a:xfrm>
          <a:off x="0" y="0"/>
          <a:ext cx="0" cy="0"/>
          <a:chOff x="0" y="0"/>
          <a:chExt cx="0" cy="0"/>
        </a:xfrm>
      </p:grpSpPr>
      <p:sp>
        <p:nvSpPr>
          <p:cNvPr id="359" name="Google Shape;359;p27"/>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Unusual learned sounds can acquire selective responses</a:t>
            </a:r>
            <a:endParaRPr sz="1800">
              <a:solidFill>
                <a:schemeClr val="dk1"/>
              </a:solidFill>
              <a:latin typeface="Calibri"/>
              <a:ea typeface="Calibri"/>
              <a:cs typeface="Calibri"/>
              <a:sym typeface="Calibri"/>
            </a:endParaRPr>
          </a:p>
        </p:txBody>
      </p:sp>
      <p:sp>
        <p:nvSpPr>
          <p:cNvPr id="360" name="Google Shape;360;p27"/>
          <p:cNvSpPr/>
          <p:nvPr/>
        </p:nvSpPr>
        <p:spPr>
          <a:xfrm>
            <a:off x="571500" y="12382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Laboratory birds in Margoliash and Konishi's study produced unusual song components, including patterns absent from the natural songs used for comparison. Their neural responses still favored their own vocalizations.</a:t>
            </a:r>
            <a:endParaRPr sz="1800">
              <a:solidFill>
                <a:schemeClr val="dk1"/>
              </a:solidFill>
              <a:latin typeface="Calibri"/>
              <a:ea typeface="Calibri"/>
              <a:cs typeface="Calibri"/>
              <a:sym typeface="Calibri"/>
            </a:endParaRPr>
          </a:p>
        </p:txBody>
      </p:sp>
      <p:sp>
        <p:nvSpPr>
          <p:cNvPr id="361" name="Google Shape;361;p27"/>
          <p:cNvSpPr/>
          <p:nvPr/>
        </p:nvSpPr>
        <p:spPr>
          <a:xfrm>
            <a:off x="571500" y="274320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These cases weaken an explanation based only on a fixed preference for the normal species song. HVC responses could be associated with an individual's acquired or self-produced acoustic pattern, including abnormal components.</a:t>
            </a:r>
            <a:endParaRPr sz="1800">
              <a:solidFill>
                <a:schemeClr val="dk1"/>
              </a:solidFill>
              <a:latin typeface="Calibri"/>
              <a:ea typeface="Calibri"/>
              <a:cs typeface="Calibri"/>
              <a:sym typeface="Calibri"/>
            </a:endParaRPr>
          </a:p>
        </p:txBody>
      </p:sp>
      <p:sp>
        <p:nvSpPr>
          <p:cNvPr id="362" name="Google Shape;362;p27"/>
          <p:cNvSpPr/>
          <p:nvPr/>
        </p:nvSpPr>
        <p:spPr>
          <a:xfrm>
            <a:off x="571500" y="4248150"/>
            <a:ext cx="5400675" cy="16002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Experience-dependent tuning is consistent with this result, but the adult comparison does not isolate tutor exposure from auditory feedback of the bird's own singing. Both histories can contribute to the correspondence between vocal output and neural selectivity.</a:t>
            </a:r>
            <a:endParaRPr sz="1800">
              <a:solidFill>
                <a:schemeClr val="dk1"/>
              </a:solidFill>
              <a:latin typeface="Calibri"/>
              <a:ea typeface="Calibri"/>
              <a:cs typeface="Calibri"/>
              <a:sym typeface="Calibri"/>
            </a:endParaRPr>
          </a:p>
        </p:txBody>
      </p:sp>
      <p:sp>
        <p:nvSpPr>
          <p:cNvPr id="363" name="Google Shape;363;p27"/>
          <p:cNvSpPr/>
          <p:nvPr/>
        </p:nvSpPr>
        <p:spPr>
          <a:xfrm>
            <a:off x="571500" y="60198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training paradigm included an unnatural upward-sweeping trill. Selective responses to abnormal own-song components weaken a purely fixed preference for the acoustic details normally heard in wild songs.</a:t>
            </a:r>
            <a:endParaRPr sz="1800">
              <a:solidFill>
                <a:schemeClr val="dk1"/>
              </a:solidFill>
              <a:latin typeface="Calibri"/>
              <a:ea typeface="Calibri"/>
              <a:cs typeface="Calibri"/>
              <a:sym typeface="Calibri"/>
            </a:endParaRPr>
          </a:p>
        </p:txBody>
      </p:sp>
      <p:pic>
        <p:nvPicPr>
          <p:cNvPr id="364" name="Google Shape;364;p27"/>
          <p:cNvPicPr preferRelativeResize="0"/>
          <p:nvPr/>
        </p:nvPicPr>
        <p:blipFill rotWithShape="1">
          <a:blip r:embed="rId3">
            <a:alphaModFix/>
          </a:blip>
          <a:srcRect b="0" l="0" r="0" t="0"/>
          <a:stretch/>
        </p:blipFill>
        <p:spPr>
          <a:xfrm>
            <a:off x="6572250" y="2204869"/>
            <a:ext cx="3095625" cy="2210138"/>
          </a:xfrm>
          <a:prstGeom prst="rect">
            <a:avLst/>
          </a:prstGeom>
          <a:noFill/>
          <a:ln>
            <a:noFill/>
          </a:ln>
        </p:spPr>
      </p:pic>
      <p:sp>
        <p:nvSpPr>
          <p:cNvPr id="365" name="Google Shape;365;p27"/>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Margoliash &amp; Konishi (1985), Fig. 2. Own-song and same-dialect comparison spectrograms.</a:t>
            </a:r>
            <a:endParaRPr sz="1800">
              <a:solidFill>
                <a:schemeClr val="dk1"/>
              </a:solidFill>
              <a:latin typeface="Calibri"/>
              <a:ea typeface="Calibri"/>
              <a:cs typeface="Calibri"/>
              <a:sym typeface="Calibri"/>
            </a:endParaRPr>
          </a:p>
        </p:txBody>
      </p:sp>
      <p:pic>
        <p:nvPicPr>
          <p:cNvPr id="366" name="Google Shape;366;p27"/>
          <p:cNvPicPr preferRelativeResize="0"/>
          <p:nvPr/>
        </p:nvPicPr>
        <p:blipFill rotWithShape="1">
          <a:blip r:embed="rId4">
            <a:alphaModFix/>
          </a:blip>
          <a:srcRect b="0" l="0" r="0" t="0"/>
          <a:stretch/>
        </p:blipFill>
        <p:spPr>
          <a:xfrm>
            <a:off x="9906000" y="2549672"/>
            <a:ext cx="1714500" cy="1234781"/>
          </a:xfrm>
          <a:prstGeom prst="rect">
            <a:avLst/>
          </a:prstGeom>
          <a:noFill/>
          <a:ln>
            <a:noFill/>
          </a:ln>
        </p:spPr>
      </p:pic>
      <p:sp>
        <p:nvSpPr>
          <p:cNvPr id="367" name="Google Shape;367;p27"/>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368" name="Google Shape;368;p27"/>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Margoliash &amp; Konishi (1985)</a:t>
            </a:r>
            <a:endParaRPr sz="1800">
              <a:solidFill>
                <a:schemeClr val="dk1"/>
              </a:solidFill>
              <a:latin typeface="Calibri"/>
              <a:ea typeface="Calibri"/>
              <a:cs typeface="Calibri"/>
              <a:sym typeface="Calibri"/>
            </a:endParaRPr>
          </a:p>
        </p:txBody>
      </p:sp>
      <p:sp>
        <p:nvSpPr>
          <p:cNvPr id="369" name="Google Shape;369;p27"/>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27</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3" name="Shape 373"/>
        <p:cNvGrpSpPr/>
        <p:nvPr/>
      </p:nvGrpSpPr>
      <p:grpSpPr>
        <a:xfrm>
          <a:off x="0" y="0"/>
          <a:ext cx="0" cy="0"/>
          <a:chOff x="0" y="0"/>
          <a:chExt cx="0" cy="0"/>
        </a:xfrm>
      </p:grpSpPr>
      <p:sp>
        <p:nvSpPr>
          <p:cNvPr id="374" name="Google Shape;374;p28"/>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An auditory preference does not locate the tutor memory</a:t>
            </a:r>
            <a:endParaRPr sz="1800">
              <a:solidFill>
                <a:schemeClr val="dk1"/>
              </a:solidFill>
              <a:latin typeface="Calibri"/>
              <a:ea typeface="Calibri"/>
              <a:cs typeface="Calibri"/>
              <a:sym typeface="Calibri"/>
            </a:endParaRPr>
          </a:p>
        </p:txBody>
      </p:sp>
      <p:sp>
        <p:nvSpPr>
          <p:cNvPr id="375" name="Google Shape;375;p28"/>
          <p:cNvSpPr/>
          <p:nvPr/>
        </p:nvSpPr>
        <p:spPr>
          <a:xfrm>
            <a:off x="571500" y="123825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A stronger response to own song supplies a possible representation of vocal output. It does not, by itself, identify the remembered target used to guide a pupil toward its tutor's song.</a:t>
            </a:r>
            <a:endParaRPr sz="1800">
              <a:solidFill>
                <a:schemeClr val="dk1"/>
              </a:solidFill>
              <a:latin typeface="Calibri"/>
              <a:ea typeface="Calibri"/>
              <a:cs typeface="Calibri"/>
              <a:sym typeface="Calibri"/>
            </a:endParaRPr>
          </a:p>
        </p:txBody>
      </p:sp>
      <p:sp>
        <p:nvSpPr>
          <p:cNvPr id="376" name="Google Shape;376;p28"/>
          <p:cNvSpPr/>
          <p:nvPr/>
        </p:nvSpPr>
        <p:spPr>
          <a:xfrm>
            <a:off x="571500" y="247650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Margoliash and Konishi's comparisons separated own-song preference from general dialect responsiveness. Their adult recordings characterized stimulus selectivity rather than directly observing formation or retrieval of the early tutor memory.</a:t>
            </a:r>
            <a:endParaRPr sz="1800">
              <a:solidFill>
                <a:schemeClr val="dk1"/>
              </a:solidFill>
              <a:latin typeface="Calibri"/>
              <a:ea typeface="Calibri"/>
              <a:cs typeface="Calibri"/>
              <a:sym typeface="Calibri"/>
            </a:endParaRPr>
          </a:p>
        </p:txBody>
      </p:sp>
      <p:sp>
        <p:nvSpPr>
          <p:cNvPr id="377" name="Google Shape;377;p28"/>
          <p:cNvSpPr/>
          <p:nvPr/>
        </p:nvSpPr>
        <p:spPr>
          <a:xfrm>
            <a:off x="571500" y="3981450"/>
            <a:ext cx="5400675" cy="18669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A template hypothesis requires additional evidence linking a representation to learning. Correlation between a neuron's preferred stimulus and the mature song supports a candidate role, while a demonstrated teaching target would require measurements or interventions that connect it to acquisition and correction.</a:t>
            </a:r>
            <a:endParaRPr sz="1800">
              <a:solidFill>
                <a:schemeClr val="dk1"/>
              </a:solidFill>
              <a:latin typeface="Calibri"/>
              <a:ea typeface="Calibri"/>
              <a:cs typeface="Calibri"/>
              <a:sym typeface="Calibri"/>
            </a:endParaRPr>
          </a:p>
        </p:txBody>
      </p:sp>
      <p:pic>
        <p:nvPicPr>
          <p:cNvPr id="378" name="Google Shape;378;p28"/>
          <p:cNvPicPr preferRelativeResize="0"/>
          <p:nvPr/>
        </p:nvPicPr>
        <p:blipFill rotWithShape="1">
          <a:blip r:embed="rId3">
            <a:alphaModFix/>
          </a:blip>
          <a:srcRect b="0" l="0" r="0" t="0"/>
          <a:stretch/>
        </p:blipFill>
        <p:spPr>
          <a:xfrm>
            <a:off x="6723881" y="1238250"/>
            <a:ext cx="2792364" cy="4143375"/>
          </a:xfrm>
          <a:prstGeom prst="rect">
            <a:avLst/>
          </a:prstGeom>
          <a:noFill/>
          <a:ln>
            <a:noFill/>
          </a:ln>
        </p:spPr>
      </p:pic>
      <p:sp>
        <p:nvSpPr>
          <p:cNvPr id="379" name="Google Shape;379;p28"/>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Margoliash &amp; Konishi (1985), Fig. 1. Multiunit responses to own and comparison songs.</a:t>
            </a:r>
            <a:endParaRPr sz="1800">
              <a:solidFill>
                <a:schemeClr val="dk1"/>
              </a:solidFill>
              <a:latin typeface="Calibri"/>
              <a:ea typeface="Calibri"/>
              <a:cs typeface="Calibri"/>
              <a:sym typeface="Calibri"/>
            </a:endParaRPr>
          </a:p>
        </p:txBody>
      </p:sp>
      <p:pic>
        <p:nvPicPr>
          <p:cNvPr id="380" name="Google Shape;380;p28"/>
          <p:cNvPicPr preferRelativeResize="0"/>
          <p:nvPr/>
        </p:nvPicPr>
        <p:blipFill rotWithShape="1">
          <a:blip r:embed="rId4">
            <a:alphaModFix/>
          </a:blip>
          <a:srcRect b="0" l="0" r="0" t="0"/>
          <a:stretch/>
        </p:blipFill>
        <p:spPr>
          <a:xfrm>
            <a:off x="9906000" y="2549672"/>
            <a:ext cx="1714500" cy="1234781"/>
          </a:xfrm>
          <a:prstGeom prst="rect">
            <a:avLst/>
          </a:prstGeom>
          <a:noFill/>
          <a:ln>
            <a:noFill/>
          </a:ln>
        </p:spPr>
      </p:pic>
      <p:sp>
        <p:nvSpPr>
          <p:cNvPr id="381" name="Google Shape;381;p28"/>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382" name="Google Shape;382;p28"/>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Margoliash &amp; Konishi (1985)</a:t>
            </a:r>
            <a:endParaRPr sz="1800">
              <a:solidFill>
                <a:schemeClr val="dk1"/>
              </a:solidFill>
              <a:latin typeface="Calibri"/>
              <a:ea typeface="Calibri"/>
              <a:cs typeface="Calibri"/>
              <a:sym typeface="Calibri"/>
            </a:endParaRPr>
          </a:p>
        </p:txBody>
      </p:sp>
      <p:sp>
        <p:nvSpPr>
          <p:cNvPr id="383" name="Google Shape;383;p28"/>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28</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7" name="Shape 387"/>
        <p:cNvGrpSpPr/>
        <p:nvPr/>
      </p:nvGrpSpPr>
      <p:grpSpPr>
        <a:xfrm>
          <a:off x="0" y="0"/>
          <a:ext cx="0" cy="0"/>
          <a:chOff x="0" y="0"/>
          <a:chExt cx="0" cy="0"/>
        </a:xfrm>
      </p:grpSpPr>
      <p:sp>
        <p:nvSpPr>
          <p:cNvPr id="388" name="Google Shape;388;p29"/>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HVC activity is timed to the bird’s own singing</a:t>
            </a:r>
            <a:endParaRPr sz="1800">
              <a:solidFill>
                <a:schemeClr val="dk1"/>
              </a:solidFill>
              <a:latin typeface="Calibri"/>
              <a:ea typeface="Calibri"/>
              <a:cs typeface="Calibri"/>
              <a:sym typeface="Calibri"/>
            </a:endParaRPr>
          </a:p>
        </p:txBody>
      </p:sp>
      <p:sp>
        <p:nvSpPr>
          <p:cNvPr id="389" name="Google Shape;389;p29"/>
          <p:cNvSpPr/>
          <p:nvPr/>
        </p:nvSpPr>
        <p:spPr>
          <a:xfrm>
            <a:off x="571500" y="123825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McCasland and Konishi implanted electrodes and recorded vocal output together with neural activity in freely moving birds. The experiment sampled canaries, white-crowned sparrows, and zebra finches.</a:t>
            </a:r>
            <a:endParaRPr sz="1800">
              <a:solidFill>
                <a:schemeClr val="dk1"/>
              </a:solidFill>
              <a:latin typeface="Calibri"/>
              <a:ea typeface="Calibri"/>
              <a:cs typeface="Calibri"/>
              <a:sym typeface="Calibri"/>
            </a:endParaRPr>
          </a:p>
        </p:txBody>
      </p:sp>
      <p:sp>
        <p:nvSpPr>
          <p:cNvPr id="390" name="Google Shape;390;p29"/>
          <p:cNvSpPr/>
          <p:nvPr/>
        </p:nvSpPr>
        <p:spPr>
          <a:xfrm>
            <a:off x="571500" y="247650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Activity within HVC increased in temporal correspondence with song elements. Control recordings outside the nucleus lacked comparable song-locked changes, and postoperative songs were checked against recordings made before implantation.</a:t>
            </a:r>
            <a:endParaRPr sz="1800">
              <a:solidFill>
                <a:schemeClr val="dk1"/>
              </a:solidFill>
              <a:latin typeface="Calibri"/>
              <a:ea typeface="Calibri"/>
              <a:cs typeface="Calibri"/>
              <a:sym typeface="Calibri"/>
            </a:endParaRPr>
          </a:p>
        </p:txBody>
      </p:sp>
      <p:sp>
        <p:nvSpPr>
          <p:cNvPr id="391" name="Google Shape;391;p29"/>
          <p:cNvSpPr/>
          <p:nvPr/>
        </p:nvSpPr>
        <p:spPr>
          <a:xfrm>
            <a:off x="571500" y="39814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These measurements connect HVC to the timing of vocal performance. Because extracellular multiunit recordings combine signals from nearby cells, they do not specify the role of every neuron or establish that each observed burst generates the corresponding sound element.</a:t>
            </a:r>
            <a:endParaRPr sz="1800">
              <a:solidFill>
                <a:schemeClr val="dk1"/>
              </a:solidFill>
              <a:latin typeface="Calibri"/>
              <a:ea typeface="Calibri"/>
              <a:cs typeface="Calibri"/>
              <a:sym typeface="Calibri"/>
            </a:endParaRPr>
          </a:p>
        </p:txBody>
      </p:sp>
      <p:sp>
        <p:nvSpPr>
          <p:cNvPr id="392" name="Google Shape;392;p29"/>
          <p:cNvSpPr/>
          <p:nvPr/>
        </p:nvSpPr>
        <p:spPr>
          <a:xfrm>
            <a:off x="571500" y="54864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Songs recorded after electrode implantation were compared with preoperative songs. This check reduced an explanation in which the recording procedure itself created the abnormal vocal pattern under measurement.</a:t>
            </a:r>
            <a:endParaRPr sz="1800">
              <a:solidFill>
                <a:schemeClr val="dk1"/>
              </a:solidFill>
              <a:latin typeface="Calibri"/>
              <a:ea typeface="Calibri"/>
              <a:cs typeface="Calibri"/>
              <a:sym typeface="Calibri"/>
            </a:endParaRPr>
          </a:p>
        </p:txBody>
      </p:sp>
      <p:pic>
        <p:nvPicPr>
          <p:cNvPr id="393" name="Google Shape;393;p29"/>
          <p:cNvPicPr preferRelativeResize="0"/>
          <p:nvPr/>
        </p:nvPicPr>
        <p:blipFill rotWithShape="1">
          <a:blip r:embed="rId3">
            <a:alphaModFix/>
          </a:blip>
          <a:srcRect b="0" l="0" r="0" t="0"/>
          <a:stretch/>
        </p:blipFill>
        <p:spPr>
          <a:xfrm>
            <a:off x="6572250" y="1749762"/>
            <a:ext cx="3095625" cy="3120350"/>
          </a:xfrm>
          <a:prstGeom prst="rect">
            <a:avLst/>
          </a:prstGeom>
          <a:noFill/>
          <a:ln>
            <a:noFill/>
          </a:ln>
        </p:spPr>
      </p:pic>
      <p:sp>
        <p:nvSpPr>
          <p:cNvPr id="394" name="Google Shape;394;p29"/>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McCasland &amp; Konishi (1981), Fig. 1. HVC discharge during vocal production.</a:t>
            </a:r>
            <a:endParaRPr sz="1800">
              <a:solidFill>
                <a:schemeClr val="dk1"/>
              </a:solidFill>
              <a:latin typeface="Calibri"/>
              <a:ea typeface="Calibri"/>
              <a:cs typeface="Calibri"/>
              <a:sym typeface="Calibri"/>
            </a:endParaRPr>
          </a:p>
        </p:txBody>
      </p:sp>
      <p:pic>
        <p:nvPicPr>
          <p:cNvPr id="395" name="Google Shape;395;p29"/>
          <p:cNvPicPr preferRelativeResize="0"/>
          <p:nvPr/>
        </p:nvPicPr>
        <p:blipFill rotWithShape="1">
          <a:blip r:embed="rId4">
            <a:alphaModFix/>
          </a:blip>
          <a:srcRect b="0" l="0" r="0" t="0"/>
          <a:stretch/>
        </p:blipFill>
        <p:spPr>
          <a:xfrm>
            <a:off x="9906000" y="2549672"/>
            <a:ext cx="1714500" cy="1234781"/>
          </a:xfrm>
          <a:prstGeom prst="rect">
            <a:avLst/>
          </a:prstGeom>
          <a:noFill/>
          <a:ln>
            <a:noFill/>
          </a:ln>
        </p:spPr>
      </p:pic>
      <p:sp>
        <p:nvSpPr>
          <p:cNvPr id="396" name="Google Shape;396;p29"/>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397" name="Google Shape;397;p29"/>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McCasland &amp; Konishi (1981)</a:t>
            </a:r>
            <a:endParaRPr sz="1800">
              <a:solidFill>
                <a:schemeClr val="dk1"/>
              </a:solidFill>
              <a:latin typeface="Calibri"/>
              <a:ea typeface="Calibri"/>
              <a:cs typeface="Calibri"/>
              <a:sym typeface="Calibri"/>
            </a:endParaRPr>
          </a:p>
        </p:txBody>
      </p:sp>
      <p:sp>
        <p:nvSpPr>
          <p:cNvPr id="398" name="Google Shape;398;p29"/>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29</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2" name="Shape 402"/>
        <p:cNvGrpSpPr/>
        <p:nvPr/>
      </p:nvGrpSpPr>
      <p:grpSpPr>
        <a:xfrm>
          <a:off x="0" y="0"/>
          <a:ext cx="0" cy="0"/>
          <a:chOff x="0" y="0"/>
          <a:chExt cx="0" cy="0"/>
        </a:xfrm>
      </p:grpSpPr>
      <p:sp>
        <p:nvSpPr>
          <p:cNvPr id="403" name="Google Shape;403;p30"/>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Song-related discharge persists without hearing</a:t>
            </a:r>
            <a:endParaRPr sz="1800">
              <a:solidFill>
                <a:schemeClr val="dk1"/>
              </a:solidFill>
              <a:latin typeface="Calibri"/>
              <a:ea typeface="Calibri"/>
              <a:cs typeface="Calibri"/>
              <a:sym typeface="Calibri"/>
            </a:endParaRPr>
          </a:p>
        </p:txBody>
      </p:sp>
      <p:sp>
        <p:nvSpPr>
          <p:cNvPr id="404" name="Google Shape;404;p30"/>
          <p:cNvSpPr/>
          <p:nvPr/>
        </p:nvSpPr>
        <p:spPr>
          <a:xfrm>
            <a:off x="571500" y="123825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McCasland and Konishi compared song-associated HVC activity before and after deafening by removal of the cochlea, the inner-ear organ required for hearing. Song-related discharge remained in the deafened bird.</a:t>
            </a:r>
            <a:endParaRPr sz="1800">
              <a:solidFill>
                <a:schemeClr val="dk1"/>
              </a:solidFill>
              <a:latin typeface="Calibri"/>
              <a:ea typeface="Calibri"/>
              <a:cs typeface="Calibri"/>
              <a:sym typeface="Calibri"/>
            </a:endParaRPr>
          </a:p>
        </p:txBody>
      </p:sp>
      <p:sp>
        <p:nvSpPr>
          <p:cNvPr id="405" name="Google Shape;405;p30"/>
          <p:cNvSpPr/>
          <p:nvPr/>
        </p:nvSpPr>
        <p:spPr>
          <a:xfrm>
            <a:off x="571500" y="247650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Persistence of that temporal pattern means the signal was not simply an auditory response driven by the sound of each produced syllable. A motor-associated component could occur when normal acoustic feedback was absent.</a:t>
            </a:r>
            <a:endParaRPr sz="1800">
              <a:solidFill>
                <a:schemeClr val="dk1"/>
              </a:solidFill>
              <a:latin typeface="Calibri"/>
              <a:ea typeface="Calibri"/>
              <a:cs typeface="Calibri"/>
              <a:sym typeface="Calibri"/>
            </a:endParaRPr>
          </a:p>
        </p:txBody>
      </p:sp>
      <p:sp>
        <p:nvSpPr>
          <p:cNvPr id="406" name="Google Shape;406;p30"/>
          <p:cNvSpPr/>
          <p:nvPr/>
        </p:nvSpPr>
        <p:spPr>
          <a:xfrm>
            <a:off x="571500" y="39814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result separates ongoing neural activity from immediate hearing. It does not imply that auditory feedback is unnecessary for normal development or long-term maintenance; the origin of a discharge and the plasticity of learned song are distinct questions.</a:t>
            </a:r>
            <a:endParaRPr sz="1800">
              <a:solidFill>
                <a:schemeClr val="dk1"/>
              </a:solidFill>
              <a:latin typeface="Calibri"/>
              <a:ea typeface="Calibri"/>
              <a:cs typeface="Calibri"/>
              <a:sym typeface="Calibri"/>
            </a:endParaRPr>
          </a:p>
        </p:txBody>
      </p:sp>
      <p:pic>
        <p:nvPicPr>
          <p:cNvPr id="407" name="Google Shape;407;p30"/>
          <p:cNvPicPr preferRelativeResize="0"/>
          <p:nvPr/>
        </p:nvPicPr>
        <p:blipFill rotWithShape="1">
          <a:blip r:embed="rId3">
            <a:alphaModFix/>
          </a:blip>
          <a:srcRect b="0" l="0" r="0" t="0"/>
          <a:stretch/>
        </p:blipFill>
        <p:spPr>
          <a:xfrm>
            <a:off x="6572250" y="2969467"/>
            <a:ext cx="3095625" cy="680941"/>
          </a:xfrm>
          <a:prstGeom prst="rect">
            <a:avLst/>
          </a:prstGeom>
          <a:noFill/>
          <a:ln>
            <a:noFill/>
          </a:ln>
        </p:spPr>
      </p:pic>
      <p:sp>
        <p:nvSpPr>
          <p:cNvPr id="408" name="Google Shape;408;p30"/>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McCasland &amp; Konishi (1981), Fig. 2. Song-related discharge after deafening.</a:t>
            </a:r>
            <a:endParaRPr sz="1800">
              <a:solidFill>
                <a:schemeClr val="dk1"/>
              </a:solidFill>
              <a:latin typeface="Calibri"/>
              <a:ea typeface="Calibri"/>
              <a:cs typeface="Calibri"/>
              <a:sym typeface="Calibri"/>
            </a:endParaRPr>
          </a:p>
        </p:txBody>
      </p:sp>
      <p:pic>
        <p:nvPicPr>
          <p:cNvPr id="409" name="Google Shape;409;p30"/>
          <p:cNvPicPr preferRelativeResize="0"/>
          <p:nvPr/>
        </p:nvPicPr>
        <p:blipFill rotWithShape="1">
          <a:blip r:embed="rId4">
            <a:alphaModFix/>
          </a:blip>
          <a:srcRect b="0" l="0" r="0" t="0"/>
          <a:stretch/>
        </p:blipFill>
        <p:spPr>
          <a:xfrm>
            <a:off x="9906000" y="2549672"/>
            <a:ext cx="1714500" cy="1234781"/>
          </a:xfrm>
          <a:prstGeom prst="rect">
            <a:avLst/>
          </a:prstGeom>
          <a:noFill/>
          <a:ln>
            <a:noFill/>
          </a:ln>
        </p:spPr>
      </p:pic>
      <p:sp>
        <p:nvSpPr>
          <p:cNvPr id="410" name="Google Shape;410;p30"/>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411" name="Google Shape;411;p30"/>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McCasland &amp; Konishi (1981)</a:t>
            </a:r>
            <a:endParaRPr sz="1800">
              <a:solidFill>
                <a:schemeClr val="dk1"/>
              </a:solidFill>
              <a:latin typeface="Calibri"/>
              <a:ea typeface="Calibri"/>
              <a:cs typeface="Calibri"/>
              <a:sym typeface="Calibri"/>
            </a:endParaRPr>
          </a:p>
        </p:txBody>
      </p:sp>
      <p:sp>
        <p:nvSpPr>
          <p:cNvPr id="412" name="Google Shape;412;p30"/>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30</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6" name="Shape 416"/>
        <p:cNvGrpSpPr/>
        <p:nvPr/>
      </p:nvGrpSpPr>
      <p:grpSpPr>
        <a:xfrm>
          <a:off x="0" y="0"/>
          <a:ext cx="0" cy="0"/>
          <a:chOff x="0" y="0"/>
          <a:chExt cx="0" cy="0"/>
        </a:xfrm>
      </p:grpSpPr>
      <p:sp>
        <p:nvSpPr>
          <p:cNvPr id="417" name="Google Shape;417;p31"/>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Reversed playback changes the auditory response</a:t>
            </a:r>
            <a:endParaRPr sz="1800">
              <a:solidFill>
                <a:schemeClr val="dk1"/>
              </a:solidFill>
              <a:latin typeface="Calibri"/>
              <a:ea typeface="Calibri"/>
              <a:cs typeface="Calibri"/>
              <a:sym typeface="Calibri"/>
            </a:endParaRPr>
          </a:p>
        </p:txBody>
      </p:sp>
      <p:sp>
        <p:nvSpPr>
          <p:cNvPr id="418" name="Google Shape;418;p31"/>
          <p:cNvSpPr/>
          <p:nvPr/>
        </p:nvSpPr>
        <p:spPr>
          <a:xfrm>
            <a:off x="571500" y="123825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A recording can be played forward or reversed while neural activity is measured in a bird that is not singing. McCasland and Konishi found different HVC responses to these versions of song.</a:t>
            </a:r>
            <a:endParaRPr sz="1800">
              <a:solidFill>
                <a:schemeClr val="dk1"/>
              </a:solidFill>
              <a:latin typeface="Calibri"/>
              <a:ea typeface="Calibri"/>
              <a:cs typeface="Calibri"/>
              <a:sym typeface="Calibri"/>
            </a:endParaRPr>
          </a:p>
        </p:txBody>
      </p:sp>
      <p:sp>
        <p:nvSpPr>
          <p:cNvPr id="419" name="Google Shape;419;p31"/>
          <p:cNvSpPr/>
          <p:nvPr/>
        </p:nvSpPr>
        <p:spPr>
          <a:xfrm>
            <a:off x="571500" y="24765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Reversal changes the temporal organization of the acoustic signal. The comparison tests whether responses depend on more than the presence of sound energy within a similar overall frequency range.</a:t>
            </a:r>
            <a:endParaRPr sz="1800">
              <a:solidFill>
                <a:schemeClr val="dk1"/>
              </a:solidFill>
              <a:latin typeface="Calibri"/>
              <a:ea typeface="Calibri"/>
              <a:cs typeface="Calibri"/>
              <a:sym typeface="Calibri"/>
            </a:endParaRPr>
          </a:p>
        </p:txBody>
      </p:sp>
      <p:sp>
        <p:nvSpPr>
          <p:cNvPr id="420" name="Google Shape;420;p31"/>
          <p:cNvSpPr/>
          <p:nvPr/>
        </p:nvSpPr>
        <p:spPr>
          <a:xfrm>
            <a:off x="571500" y="37147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A forward preference supports temporal sensitivity in the auditory response. It does not isolate a single temporal feature, because reversing a waveform changes both the order of elements and their internal acoustic progression.</a:t>
            </a:r>
            <a:endParaRPr sz="1800">
              <a:solidFill>
                <a:schemeClr val="dk1"/>
              </a:solidFill>
              <a:latin typeface="Calibri"/>
              <a:ea typeface="Calibri"/>
              <a:cs typeface="Calibri"/>
              <a:sym typeface="Calibri"/>
            </a:endParaRPr>
          </a:p>
        </p:txBody>
      </p:sp>
      <p:sp>
        <p:nvSpPr>
          <p:cNvPr id="421" name="Google Shape;421;p31"/>
          <p:cNvSpPr/>
          <p:nvPr/>
        </p:nvSpPr>
        <p:spPr>
          <a:xfrm>
            <a:off x="571500" y="52197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A forward and reverse comparison changes the arrangement of the same recorded material. The resulting response difference cannot be explained simply by replacing the stimulus with another singer’s song.</a:t>
            </a:r>
            <a:endParaRPr sz="1800">
              <a:solidFill>
                <a:schemeClr val="dk1"/>
              </a:solidFill>
              <a:latin typeface="Calibri"/>
              <a:ea typeface="Calibri"/>
              <a:cs typeface="Calibri"/>
              <a:sym typeface="Calibri"/>
            </a:endParaRPr>
          </a:p>
        </p:txBody>
      </p:sp>
      <p:pic>
        <p:nvPicPr>
          <p:cNvPr id="422" name="Google Shape;422;p31"/>
          <p:cNvPicPr preferRelativeResize="0"/>
          <p:nvPr/>
        </p:nvPicPr>
        <p:blipFill rotWithShape="1">
          <a:blip r:embed="rId3">
            <a:alphaModFix/>
          </a:blip>
          <a:srcRect b="0" l="0" r="0" t="0"/>
          <a:stretch/>
        </p:blipFill>
        <p:spPr>
          <a:xfrm>
            <a:off x="7110034" y="1238250"/>
            <a:ext cx="2020057" cy="4143375"/>
          </a:xfrm>
          <a:prstGeom prst="rect">
            <a:avLst/>
          </a:prstGeom>
          <a:noFill/>
          <a:ln>
            <a:noFill/>
          </a:ln>
        </p:spPr>
      </p:pic>
      <p:sp>
        <p:nvSpPr>
          <p:cNvPr id="423" name="Google Shape;423;p31"/>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McCasland &amp; Konishi (1981), Fig. 3. Forward and reverse playback responses.</a:t>
            </a:r>
            <a:endParaRPr sz="1800">
              <a:solidFill>
                <a:schemeClr val="dk1"/>
              </a:solidFill>
              <a:latin typeface="Calibri"/>
              <a:ea typeface="Calibri"/>
              <a:cs typeface="Calibri"/>
              <a:sym typeface="Calibri"/>
            </a:endParaRPr>
          </a:p>
        </p:txBody>
      </p:sp>
      <p:pic>
        <p:nvPicPr>
          <p:cNvPr id="424" name="Google Shape;424;p31"/>
          <p:cNvPicPr preferRelativeResize="0"/>
          <p:nvPr/>
        </p:nvPicPr>
        <p:blipFill rotWithShape="1">
          <a:blip r:embed="rId4">
            <a:alphaModFix/>
          </a:blip>
          <a:srcRect b="0" l="0" r="0" t="0"/>
          <a:stretch/>
        </p:blipFill>
        <p:spPr>
          <a:xfrm>
            <a:off x="9906000" y="2549672"/>
            <a:ext cx="1714500" cy="1234781"/>
          </a:xfrm>
          <a:prstGeom prst="rect">
            <a:avLst/>
          </a:prstGeom>
          <a:noFill/>
          <a:ln>
            <a:noFill/>
          </a:ln>
        </p:spPr>
      </p:pic>
      <p:sp>
        <p:nvSpPr>
          <p:cNvPr id="425" name="Google Shape;425;p31"/>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426" name="Google Shape;426;p31"/>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McCasland &amp; Konishi (1981)</a:t>
            </a:r>
            <a:endParaRPr sz="1800">
              <a:solidFill>
                <a:schemeClr val="dk1"/>
              </a:solidFill>
              <a:latin typeface="Calibri"/>
              <a:ea typeface="Calibri"/>
              <a:cs typeface="Calibri"/>
              <a:sym typeface="Calibri"/>
            </a:endParaRPr>
          </a:p>
        </p:txBody>
      </p:sp>
      <p:sp>
        <p:nvSpPr>
          <p:cNvPr id="427" name="Google Shape;427;p31"/>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31</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1" name="Shape 431"/>
        <p:cNvGrpSpPr/>
        <p:nvPr/>
      </p:nvGrpSpPr>
      <p:grpSpPr>
        <a:xfrm>
          <a:off x="0" y="0"/>
          <a:ext cx="0" cy="0"/>
          <a:chOff x="0" y="0"/>
          <a:chExt cx="0" cy="0"/>
        </a:xfrm>
      </p:grpSpPr>
      <p:sp>
        <p:nvSpPr>
          <p:cNvPr id="432" name="Google Shape;432;p32"/>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Playback and singing evoke distinguishable activity patterns</a:t>
            </a:r>
            <a:endParaRPr sz="1800">
              <a:solidFill>
                <a:schemeClr val="dk1"/>
              </a:solidFill>
              <a:latin typeface="Calibri"/>
              <a:ea typeface="Calibri"/>
              <a:cs typeface="Calibri"/>
              <a:sym typeface="Calibri"/>
            </a:endParaRPr>
          </a:p>
        </p:txBody>
      </p:sp>
      <p:sp>
        <p:nvSpPr>
          <p:cNvPr id="433" name="Google Shape;433;p32"/>
          <p:cNvSpPr/>
          <p:nvPr/>
        </p:nvSpPr>
        <p:spPr>
          <a:xfrm>
            <a:off x="571500" y="123825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McCasland and Konishi compared activity recorded during singing with auditory responses to playback of the same song elements. The temporal discharge patterns were distinguishable rather than identical.</a:t>
            </a:r>
            <a:endParaRPr sz="1800">
              <a:solidFill>
                <a:schemeClr val="dk1"/>
              </a:solidFill>
              <a:latin typeface="Calibri"/>
              <a:ea typeface="Calibri"/>
              <a:cs typeface="Calibri"/>
              <a:sym typeface="Calibri"/>
            </a:endParaRPr>
          </a:p>
        </p:txBody>
      </p:sp>
      <p:sp>
        <p:nvSpPr>
          <p:cNvPr id="434" name="Google Shape;434;p32"/>
          <p:cNvSpPr/>
          <p:nvPr/>
        </p:nvSpPr>
        <p:spPr>
          <a:xfrm>
            <a:off x="571500" y="247650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This comparison holds much of the acoustic content constant while changing whether the bird is producing the song. The recordings therefore implicate behavioral context and motor-associated activity in the measured response.</a:t>
            </a:r>
            <a:endParaRPr sz="1800">
              <a:solidFill>
                <a:schemeClr val="dk1"/>
              </a:solidFill>
              <a:latin typeface="Calibri"/>
              <a:ea typeface="Calibri"/>
              <a:cs typeface="Calibri"/>
              <a:sym typeface="Calibri"/>
            </a:endParaRPr>
          </a:p>
        </p:txBody>
      </p:sp>
      <p:sp>
        <p:nvSpPr>
          <p:cNvPr id="435" name="Google Shape;435;p32"/>
          <p:cNvSpPr/>
          <p:nvPr/>
        </p:nvSpPr>
        <p:spPr>
          <a:xfrm>
            <a:off x="571500" y="3981450"/>
            <a:ext cx="5400675" cy="16002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result argues against treating every song-related HVC discharge as a passive response to hearing. It does not establish how an individual cell combines sensory and motor inputs, because the recordings characterize multiunit activity rather than a complete identified synaptic circuit.</a:t>
            </a:r>
            <a:endParaRPr sz="1800">
              <a:solidFill>
                <a:schemeClr val="dk1"/>
              </a:solidFill>
              <a:latin typeface="Calibri"/>
              <a:ea typeface="Calibri"/>
              <a:cs typeface="Calibri"/>
              <a:sym typeface="Calibri"/>
            </a:endParaRPr>
          </a:p>
        </p:txBody>
      </p:sp>
      <p:sp>
        <p:nvSpPr>
          <p:cNvPr id="436" name="Google Shape;436;p32"/>
          <p:cNvSpPr/>
          <p:nvPr/>
        </p:nvSpPr>
        <p:spPr>
          <a:xfrm>
            <a:off x="571500" y="57531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acoustic recording supplies a shared reference for aligning the two response patterns. Similar sound content therefore need not produce identical neural activity during listening and active production.</a:t>
            </a:r>
            <a:endParaRPr sz="1800">
              <a:solidFill>
                <a:schemeClr val="dk1"/>
              </a:solidFill>
              <a:latin typeface="Calibri"/>
              <a:ea typeface="Calibri"/>
              <a:cs typeface="Calibri"/>
              <a:sym typeface="Calibri"/>
            </a:endParaRPr>
          </a:p>
        </p:txBody>
      </p:sp>
      <p:pic>
        <p:nvPicPr>
          <p:cNvPr id="437" name="Google Shape;437;p32"/>
          <p:cNvPicPr preferRelativeResize="0"/>
          <p:nvPr/>
        </p:nvPicPr>
        <p:blipFill rotWithShape="1">
          <a:blip r:embed="rId3">
            <a:alphaModFix/>
          </a:blip>
          <a:srcRect b="0" l="0" r="0" t="0"/>
          <a:stretch/>
        </p:blipFill>
        <p:spPr>
          <a:xfrm>
            <a:off x="7090723" y="1238250"/>
            <a:ext cx="2058678" cy="4143375"/>
          </a:xfrm>
          <a:prstGeom prst="rect">
            <a:avLst/>
          </a:prstGeom>
          <a:noFill/>
          <a:ln>
            <a:noFill/>
          </a:ln>
        </p:spPr>
      </p:pic>
      <p:sp>
        <p:nvSpPr>
          <p:cNvPr id="438" name="Google Shape;438;p32"/>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McCasland &amp; Konishi (1981), Fig. 4. Motor and auditory discharge patterns.</a:t>
            </a:r>
            <a:endParaRPr sz="1800">
              <a:solidFill>
                <a:schemeClr val="dk1"/>
              </a:solidFill>
              <a:latin typeface="Calibri"/>
              <a:ea typeface="Calibri"/>
              <a:cs typeface="Calibri"/>
              <a:sym typeface="Calibri"/>
            </a:endParaRPr>
          </a:p>
        </p:txBody>
      </p:sp>
      <p:pic>
        <p:nvPicPr>
          <p:cNvPr id="439" name="Google Shape;439;p32"/>
          <p:cNvPicPr preferRelativeResize="0"/>
          <p:nvPr/>
        </p:nvPicPr>
        <p:blipFill rotWithShape="1">
          <a:blip r:embed="rId4">
            <a:alphaModFix/>
          </a:blip>
          <a:srcRect b="0" l="0" r="0" t="0"/>
          <a:stretch/>
        </p:blipFill>
        <p:spPr>
          <a:xfrm>
            <a:off x="9906000" y="2549672"/>
            <a:ext cx="1714500" cy="1234781"/>
          </a:xfrm>
          <a:prstGeom prst="rect">
            <a:avLst/>
          </a:prstGeom>
          <a:noFill/>
          <a:ln>
            <a:noFill/>
          </a:ln>
        </p:spPr>
      </p:pic>
      <p:sp>
        <p:nvSpPr>
          <p:cNvPr id="440" name="Google Shape;440;p32"/>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441" name="Google Shape;441;p32"/>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McCasland &amp; Konishi (1981)</a:t>
            </a:r>
            <a:endParaRPr sz="1800">
              <a:solidFill>
                <a:schemeClr val="dk1"/>
              </a:solidFill>
              <a:latin typeface="Calibri"/>
              <a:ea typeface="Calibri"/>
              <a:cs typeface="Calibri"/>
              <a:sym typeface="Calibri"/>
            </a:endParaRPr>
          </a:p>
        </p:txBody>
      </p:sp>
      <p:sp>
        <p:nvSpPr>
          <p:cNvPr id="442" name="Google Shape;442;p32"/>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32</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6" name="Shape 446"/>
        <p:cNvGrpSpPr/>
        <p:nvPr/>
      </p:nvGrpSpPr>
      <p:grpSpPr>
        <a:xfrm>
          <a:off x="0" y="0"/>
          <a:ext cx="0" cy="0"/>
          <a:chOff x="0" y="0"/>
          <a:chExt cx="0" cy="0"/>
        </a:xfrm>
      </p:grpSpPr>
      <p:sp>
        <p:nvSpPr>
          <p:cNvPr id="447" name="Google Shape;447;p33"/>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Auditory responsiveness is suppressed around singing</a:t>
            </a:r>
            <a:endParaRPr sz="1800">
              <a:solidFill>
                <a:schemeClr val="dk1"/>
              </a:solidFill>
              <a:latin typeface="Calibri"/>
              <a:ea typeface="Calibri"/>
              <a:cs typeface="Calibri"/>
              <a:sym typeface="Calibri"/>
            </a:endParaRPr>
          </a:p>
        </p:txBody>
      </p:sp>
      <p:sp>
        <p:nvSpPr>
          <p:cNvPr id="448" name="Google Shape;448;p33"/>
          <p:cNvSpPr/>
          <p:nvPr/>
        </p:nvSpPr>
        <p:spPr>
          <a:xfrm>
            <a:off x="571500" y="12382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Playback during and after singing revealed a reduction in HVC auditory responses associated with vocal production. McCasland and Konishi described suppression that decayed over seconds after the song ended.</a:t>
            </a:r>
            <a:endParaRPr sz="1800">
              <a:solidFill>
                <a:schemeClr val="dk1"/>
              </a:solidFill>
              <a:latin typeface="Calibri"/>
              <a:ea typeface="Calibri"/>
              <a:cs typeface="Calibri"/>
              <a:sym typeface="Calibri"/>
            </a:endParaRPr>
          </a:p>
        </p:txBody>
      </p:sp>
      <p:sp>
        <p:nvSpPr>
          <p:cNvPr id="449" name="Google Shape;449;p33"/>
          <p:cNvSpPr/>
          <p:nvPr/>
        </p:nvSpPr>
        <p:spPr>
          <a:xfrm>
            <a:off x="571500" y="27432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same suppression was not explained by a simple continuous auditory response to every emitted sound. Vocal behavior changed the conditions under which a playback stimulus could evoke activity.</a:t>
            </a:r>
            <a:endParaRPr sz="1800">
              <a:solidFill>
                <a:schemeClr val="dk1"/>
              </a:solidFill>
              <a:latin typeface="Calibri"/>
              <a:ea typeface="Calibri"/>
              <a:cs typeface="Calibri"/>
              <a:sym typeface="Calibri"/>
            </a:endParaRPr>
          </a:p>
        </p:txBody>
      </p:sp>
      <p:sp>
        <p:nvSpPr>
          <p:cNvPr id="450" name="Google Shape;450;p33"/>
          <p:cNvSpPr/>
          <p:nvPr/>
        </p:nvSpPr>
        <p:spPr>
          <a:xfrm>
            <a:off x="571500" y="3981450"/>
            <a:ext cx="5400675" cy="16002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1" i="0" lang="en-US" sz="1575">
                <a:solidFill>
                  <a:srgbClr val="29272C"/>
                </a:solidFill>
                <a:latin typeface="Arial"/>
                <a:ea typeface="Arial"/>
                <a:cs typeface="Arial"/>
                <a:sym typeface="Arial"/>
              </a:rPr>
              <a:t>Gating</a:t>
            </a:r>
            <a:r>
              <a:rPr b="0" i="0" lang="en-US" sz="1575">
                <a:solidFill>
                  <a:srgbClr val="29272C"/>
                </a:solidFill>
                <a:latin typeface="Arial"/>
                <a:ea typeface="Arial"/>
                <a:cs typeface="Arial"/>
                <a:sym typeface="Arial"/>
              </a:rPr>
              <a:t> is a change in access or responsiveness to sensory input associated with behavioral state. This observation complicates a passive feedback-comparator account; a circuit's response to playback in a silent bird cannot simply be assumed to describe its operation during singing.</a:t>
            </a:r>
            <a:endParaRPr sz="1800">
              <a:solidFill>
                <a:schemeClr val="dk1"/>
              </a:solidFill>
              <a:latin typeface="Calibri"/>
              <a:ea typeface="Calibri"/>
              <a:cs typeface="Calibri"/>
              <a:sym typeface="Calibri"/>
            </a:endParaRPr>
          </a:p>
        </p:txBody>
      </p:sp>
      <p:sp>
        <p:nvSpPr>
          <p:cNvPr id="451" name="Google Shape;451;p33"/>
          <p:cNvSpPr/>
          <p:nvPr/>
        </p:nvSpPr>
        <p:spPr>
          <a:xfrm>
            <a:off x="571500" y="575310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Suppression persisted after the song terminated and then recovered. Its time course links auditory responsiveness to the preceding vocal behavior instead of merely the instantaneous presence of an acoustic stimulus.</a:t>
            </a:r>
            <a:endParaRPr sz="1800">
              <a:solidFill>
                <a:schemeClr val="dk1"/>
              </a:solidFill>
              <a:latin typeface="Calibri"/>
              <a:ea typeface="Calibri"/>
              <a:cs typeface="Calibri"/>
              <a:sym typeface="Calibri"/>
            </a:endParaRPr>
          </a:p>
        </p:txBody>
      </p:sp>
      <p:pic>
        <p:nvPicPr>
          <p:cNvPr id="452" name="Google Shape;452;p33"/>
          <p:cNvPicPr preferRelativeResize="0"/>
          <p:nvPr/>
        </p:nvPicPr>
        <p:blipFill rotWithShape="1">
          <a:blip r:embed="rId3">
            <a:alphaModFix/>
          </a:blip>
          <a:srcRect b="0" l="0" r="0" t="0"/>
          <a:stretch/>
        </p:blipFill>
        <p:spPr>
          <a:xfrm>
            <a:off x="6572250" y="2256056"/>
            <a:ext cx="3095625" cy="2107764"/>
          </a:xfrm>
          <a:prstGeom prst="rect">
            <a:avLst/>
          </a:prstGeom>
          <a:noFill/>
          <a:ln>
            <a:noFill/>
          </a:ln>
        </p:spPr>
      </p:pic>
      <p:sp>
        <p:nvSpPr>
          <p:cNvPr id="453" name="Google Shape;453;p33"/>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McCasland &amp; Konishi (1981), Fig. 5. Suppression of auditory responses around singing.</a:t>
            </a:r>
            <a:endParaRPr sz="1800">
              <a:solidFill>
                <a:schemeClr val="dk1"/>
              </a:solidFill>
              <a:latin typeface="Calibri"/>
              <a:ea typeface="Calibri"/>
              <a:cs typeface="Calibri"/>
              <a:sym typeface="Calibri"/>
            </a:endParaRPr>
          </a:p>
        </p:txBody>
      </p:sp>
      <p:pic>
        <p:nvPicPr>
          <p:cNvPr id="454" name="Google Shape;454;p33"/>
          <p:cNvPicPr preferRelativeResize="0"/>
          <p:nvPr/>
        </p:nvPicPr>
        <p:blipFill rotWithShape="1">
          <a:blip r:embed="rId4">
            <a:alphaModFix/>
          </a:blip>
          <a:srcRect b="0" l="0" r="0" t="0"/>
          <a:stretch/>
        </p:blipFill>
        <p:spPr>
          <a:xfrm>
            <a:off x="9906000" y="2549672"/>
            <a:ext cx="1714500" cy="1234781"/>
          </a:xfrm>
          <a:prstGeom prst="rect">
            <a:avLst/>
          </a:prstGeom>
          <a:noFill/>
          <a:ln>
            <a:noFill/>
          </a:ln>
        </p:spPr>
      </p:pic>
      <p:sp>
        <p:nvSpPr>
          <p:cNvPr id="455" name="Google Shape;455;p33"/>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456" name="Google Shape;456;p33"/>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McCasland &amp; Konishi (1981)</a:t>
            </a:r>
            <a:endParaRPr sz="1800">
              <a:solidFill>
                <a:schemeClr val="dk1"/>
              </a:solidFill>
              <a:latin typeface="Calibri"/>
              <a:ea typeface="Calibri"/>
              <a:cs typeface="Calibri"/>
              <a:sym typeface="Calibri"/>
            </a:endParaRPr>
          </a:p>
        </p:txBody>
      </p:sp>
      <p:sp>
        <p:nvSpPr>
          <p:cNvPr id="457" name="Google Shape;457;p33"/>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33</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1" name="Shape 461"/>
        <p:cNvGrpSpPr/>
        <p:nvPr/>
      </p:nvGrpSpPr>
      <p:grpSpPr>
        <a:xfrm>
          <a:off x="0" y="0"/>
          <a:ext cx="0" cy="0"/>
          <a:chOff x="0" y="0"/>
          <a:chExt cx="0" cy="0"/>
        </a:xfrm>
      </p:grpSpPr>
      <p:sp>
        <p:nvSpPr>
          <p:cNvPr id="462" name="Google Shape;462;p34"/>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Two song pathways converge on RA</a:t>
            </a:r>
            <a:endParaRPr sz="1800">
              <a:solidFill>
                <a:schemeClr val="dk1"/>
              </a:solidFill>
              <a:latin typeface="Calibri"/>
              <a:ea typeface="Calibri"/>
              <a:cs typeface="Calibri"/>
              <a:sym typeface="Calibri"/>
            </a:endParaRPr>
          </a:p>
        </p:txBody>
      </p:sp>
      <p:sp>
        <p:nvSpPr>
          <p:cNvPr id="463" name="Google Shape;463;p34"/>
          <p:cNvSpPr/>
          <p:nvPr/>
        </p:nvSpPr>
        <p:spPr>
          <a:xfrm>
            <a:off x="571500" y="1238250"/>
            <a:ext cx="5400675" cy="16002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Doupe and Konishi distinguished a direct HVC-to-RA route from an accessory route through Area X, DLM, and LMAN. </a:t>
            </a:r>
            <a:r>
              <a:rPr b="1" i="0" lang="en-US" sz="1575">
                <a:solidFill>
                  <a:srgbClr val="29272C"/>
                </a:solidFill>
                <a:latin typeface="Arial"/>
                <a:ea typeface="Arial"/>
                <a:cs typeface="Arial"/>
                <a:sym typeface="Arial"/>
              </a:rPr>
              <a:t>Area X</a:t>
            </a:r>
            <a:r>
              <a:rPr b="0" i="0" lang="en-US" sz="1575">
                <a:solidFill>
                  <a:srgbClr val="29272C"/>
                </a:solidFill>
                <a:latin typeface="Arial"/>
                <a:ea typeface="Arial"/>
                <a:cs typeface="Arial"/>
                <a:sym typeface="Arial"/>
              </a:rPr>
              <a:t> is a basal ganglia song nucleus; </a:t>
            </a:r>
            <a:r>
              <a:rPr b="1" i="0" lang="en-US" sz="1575">
                <a:solidFill>
                  <a:srgbClr val="29272C"/>
                </a:solidFill>
                <a:latin typeface="Arial"/>
                <a:ea typeface="Arial"/>
                <a:cs typeface="Arial"/>
                <a:sym typeface="Arial"/>
              </a:rPr>
              <a:t>RA</a:t>
            </a:r>
            <a:r>
              <a:rPr b="0" i="0" lang="en-US" sz="1575">
                <a:solidFill>
                  <a:srgbClr val="29272C"/>
                </a:solidFill>
                <a:latin typeface="Arial"/>
                <a:ea typeface="Arial"/>
                <a:cs typeface="Arial"/>
                <a:sym typeface="Arial"/>
              </a:rPr>
              <a:t> is a premotor nucleus; </a:t>
            </a:r>
            <a:r>
              <a:rPr b="1" i="0" lang="en-US" sz="1575">
                <a:solidFill>
                  <a:srgbClr val="29272C"/>
                </a:solidFill>
                <a:latin typeface="Arial"/>
                <a:ea typeface="Arial"/>
                <a:cs typeface="Arial"/>
                <a:sym typeface="Arial"/>
              </a:rPr>
              <a:t>DLM</a:t>
            </a:r>
            <a:r>
              <a:rPr b="0" i="0" lang="en-US" sz="1575">
                <a:solidFill>
                  <a:srgbClr val="29272C"/>
                </a:solidFill>
                <a:latin typeface="Arial"/>
                <a:ea typeface="Arial"/>
                <a:cs typeface="Arial"/>
                <a:sym typeface="Arial"/>
              </a:rPr>
              <a:t> lies in the thalamus; </a:t>
            </a:r>
            <a:r>
              <a:rPr b="1" i="0" lang="en-US" sz="1575">
                <a:solidFill>
                  <a:srgbClr val="29272C"/>
                </a:solidFill>
                <a:latin typeface="Arial"/>
                <a:ea typeface="Arial"/>
                <a:cs typeface="Arial"/>
                <a:sym typeface="Arial"/>
              </a:rPr>
              <a:t>LMAN</a:t>
            </a:r>
            <a:r>
              <a:rPr b="0" i="0" lang="en-US" sz="1575">
                <a:solidFill>
                  <a:srgbClr val="29272C"/>
                </a:solidFill>
                <a:latin typeface="Arial"/>
                <a:ea typeface="Arial"/>
                <a:cs typeface="Arial"/>
                <a:sym typeface="Arial"/>
              </a:rPr>
              <a:t> is the lateral magnocellular nucleus of the anterior neostriatum, using the paper’s historical terminology.</a:t>
            </a:r>
            <a:endParaRPr sz="1800">
              <a:solidFill>
                <a:schemeClr val="dk1"/>
              </a:solidFill>
              <a:latin typeface="Calibri"/>
              <a:ea typeface="Calibri"/>
              <a:cs typeface="Calibri"/>
              <a:sym typeface="Calibri"/>
            </a:endParaRPr>
          </a:p>
        </p:txBody>
      </p:sp>
      <p:sp>
        <p:nvSpPr>
          <p:cNvPr id="464" name="Google Shape;464;p34"/>
          <p:cNvSpPr/>
          <p:nvPr/>
        </p:nvSpPr>
        <p:spPr>
          <a:xfrm>
            <a:off x="571500" y="30099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paper's published anatomical diagram specifies these connections. Both pathways connect auditory-responsive portions of the song system to a nucleus involved in vocal output.</a:t>
            </a:r>
            <a:endParaRPr sz="1800">
              <a:solidFill>
                <a:schemeClr val="dk1"/>
              </a:solidFill>
              <a:latin typeface="Calibri"/>
              <a:ea typeface="Calibri"/>
              <a:cs typeface="Calibri"/>
              <a:sym typeface="Calibri"/>
            </a:endParaRPr>
          </a:p>
        </p:txBody>
      </p:sp>
      <p:sp>
        <p:nvSpPr>
          <p:cNvPr id="465" name="Google Shape;465;p34"/>
          <p:cNvSpPr/>
          <p:nvPr/>
        </p:nvSpPr>
        <p:spPr>
          <a:xfrm>
            <a:off x="571500" y="42481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Convergence supplies a possible route for learning-related signals to influence performance. The diagram is anatomical context, not proof that each connection carries a tutor template or a measured error signal during song acquisition.</a:t>
            </a:r>
            <a:endParaRPr sz="1800">
              <a:solidFill>
                <a:schemeClr val="dk1"/>
              </a:solidFill>
              <a:latin typeface="Calibri"/>
              <a:ea typeface="Calibri"/>
              <a:cs typeface="Calibri"/>
              <a:sym typeface="Calibri"/>
            </a:endParaRPr>
          </a:p>
        </p:txBody>
      </p:sp>
      <p:pic>
        <p:nvPicPr>
          <p:cNvPr id="466" name="Google Shape;466;p34"/>
          <p:cNvPicPr preferRelativeResize="0"/>
          <p:nvPr/>
        </p:nvPicPr>
        <p:blipFill rotWithShape="1">
          <a:blip r:embed="rId3">
            <a:alphaModFix/>
          </a:blip>
          <a:srcRect b="0" l="0" r="0" t="0"/>
          <a:stretch/>
        </p:blipFill>
        <p:spPr>
          <a:xfrm>
            <a:off x="6572250" y="1492066"/>
            <a:ext cx="5048250" cy="3635743"/>
          </a:xfrm>
          <a:prstGeom prst="rect">
            <a:avLst/>
          </a:prstGeom>
          <a:noFill/>
          <a:ln>
            <a:noFill/>
          </a:ln>
        </p:spPr>
      </p:pic>
      <p:sp>
        <p:nvSpPr>
          <p:cNvPr id="467" name="Google Shape;467;p34"/>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organization of song pathways.</a:t>
            </a:r>
            <a:endParaRPr sz="1800">
              <a:solidFill>
                <a:schemeClr val="dk1"/>
              </a:solidFill>
              <a:latin typeface="Calibri"/>
              <a:ea typeface="Calibri"/>
              <a:cs typeface="Calibri"/>
              <a:sym typeface="Calibri"/>
            </a:endParaRPr>
          </a:p>
        </p:txBody>
      </p:sp>
      <p:sp>
        <p:nvSpPr>
          <p:cNvPr id="468" name="Google Shape;468;p34"/>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Doupe &amp; Konishi (1991)</a:t>
            </a:r>
            <a:endParaRPr sz="1800">
              <a:solidFill>
                <a:schemeClr val="dk1"/>
              </a:solidFill>
              <a:latin typeface="Calibri"/>
              <a:ea typeface="Calibri"/>
              <a:cs typeface="Calibri"/>
              <a:sym typeface="Calibri"/>
            </a:endParaRPr>
          </a:p>
        </p:txBody>
      </p:sp>
      <p:sp>
        <p:nvSpPr>
          <p:cNvPr id="469" name="Google Shape;469;p34"/>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34</a:t>
            </a: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3" name="Shape 473"/>
        <p:cNvGrpSpPr/>
        <p:nvPr/>
      </p:nvGrpSpPr>
      <p:grpSpPr>
        <a:xfrm>
          <a:off x="0" y="0"/>
          <a:ext cx="0" cy="0"/>
          <a:chOff x="0" y="0"/>
          <a:chExt cx="0" cy="0"/>
        </a:xfrm>
      </p:grpSpPr>
      <p:sp>
        <p:nvSpPr>
          <p:cNvPr id="474" name="Google Shape;474;p35"/>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LMAN neurons prefer the individual’s own song</a:t>
            </a:r>
            <a:endParaRPr sz="1800">
              <a:solidFill>
                <a:schemeClr val="dk1"/>
              </a:solidFill>
              <a:latin typeface="Calibri"/>
              <a:ea typeface="Calibri"/>
              <a:cs typeface="Calibri"/>
              <a:sym typeface="Calibri"/>
            </a:endParaRPr>
          </a:p>
        </p:txBody>
      </p:sp>
      <p:sp>
        <p:nvSpPr>
          <p:cNvPr id="475" name="Google Shape;475;p35"/>
          <p:cNvSpPr/>
          <p:nvPr/>
        </p:nvSpPr>
        <p:spPr>
          <a:xfrm>
            <a:off x="571500" y="123825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Doupe and Konishi recorded isolated auditory neurons in anesthetized adult male zebra finches. In LMAN, the bird's own song was more effective than songs produced by other zebra finches.</a:t>
            </a:r>
            <a:endParaRPr sz="1800">
              <a:solidFill>
                <a:schemeClr val="dk1"/>
              </a:solidFill>
              <a:latin typeface="Calibri"/>
              <a:ea typeface="Calibri"/>
              <a:cs typeface="Calibri"/>
              <a:sym typeface="Calibri"/>
            </a:endParaRPr>
          </a:p>
        </p:txBody>
      </p:sp>
      <p:sp>
        <p:nvSpPr>
          <p:cNvPr id="476" name="Google Shape;476;p35"/>
          <p:cNvSpPr/>
          <p:nvPr/>
        </p:nvSpPr>
        <p:spPr>
          <a:xfrm>
            <a:off x="571500" y="247650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A </a:t>
            </a:r>
            <a:r>
              <a:rPr b="1" i="0" lang="en-US" sz="1575">
                <a:solidFill>
                  <a:srgbClr val="29272C"/>
                </a:solidFill>
                <a:latin typeface="Arial"/>
                <a:ea typeface="Arial"/>
                <a:cs typeface="Arial"/>
                <a:sym typeface="Arial"/>
              </a:rPr>
              <a:t>peristimulus time histogram</a:t>
            </a:r>
            <a:r>
              <a:rPr b="0" i="0" lang="en-US" sz="1575">
                <a:solidFill>
                  <a:srgbClr val="29272C"/>
                </a:solidFill>
                <a:latin typeface="Arial"/>
                <a:ea typeface="Arial"/>
                <a:cs typeface="Arial"/>
                <a:sym typeface="Arial"/>
              </a:rPr>
              <a:t> summarizes when spikes occur relative to repeated presentations of a stimulus. The histograms allow comparison of the temporal response to own song and alternative acoustic patterns.</a:t>
            </a:r>
            <a:endParaRPr sz="1800">
              <a:solidFill>
                <a:schemeClr val="dk1"/>
              </a:solidFill>
              <a:latin typeface="Calibri"/>
              <a:ea typeface="Calibri"/>
              <a:cs typeface="Calibri"/>
              <a:sym typeface="Calibri"/>
            </a:endParaRPr>
          </a:p>
        </p:txBody>
      </p:sp>
      <p:sp>
        <p:nvSpPr>
          <p:cNvPr id="477" name="Google Shape;477;p35"/>
          <p:cNvSpPr/>
          <p:nvPr/>
        </p:nvSpPr>
        <p:spPr>
          <a:xfrm>
            <a:off x="571500" y="39814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Single-unit sampling narrows the measurement to an isolated neuronal signal, unlike a multiunit cluster. The own-song preference still does not establish that the neuron compares actual feedback with a tutor memory while the awake bird is singing.</a:t>
            </a:r>
            <a:endParaRPr sz="1800">
              <a:solidFill>
                <a:schemeClr val="dk1"/>
              </a:solidFill>
              <a:latin typeface="Calibri"/>
              <a:ea typeface="Calibri"/>
              <a:cs typeface="Calibri"/>
              <a:sym typeface="Calibri"/>
            </a:endParaRPr>
          </a:p>
        </p:txBody>
      </p:sp>
      <p:sp>
        <p:nvSpPr>
          <p:cNvPr id="478" name="Google Shape;478;p35"/>
          <p:cNvSpPr/>
          <p:nvPr/>
        </p:nvSpPr>
        <p:spPr>
          <a:xfrm>
            <a:off x="571500" y="54864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Own song, reversed own song, and another finch’s song were tested against the same isolated response. This separates within-neuron acoustic preference from comparisons between different sampled neurons.</a:t>
            </a:r>
            <a:endParaRPr sz="1800">
              <a:solidFill>
                <a:schemeClr val="dk1"/>
              </a:solidFill>
              <a:latin typeface="Calibri"/>
              <a:ea typeface="Calibri"/>
              <a:cs typeface="Calibri"/>
              <a:sym typeface="Calibri"/>
            </a:endParaRPr>
          </a:p>
        </p:txBody>
      </p:sp>
      <p:pic>
        <p:nvPicPr>
          <p:cNvPr id="479" name="Google Shape;479;p35"/>
          <p:cNvPicPr preferRelativeResize="0"/>
          <p:nvPr/>
        </p:nvPicPr>
        <p:blipFill rotWithShape="1">
          <a:blip r:embed="rId3">
            <a:alphaModFix/>
          </a:blip>
          <a:srcRect b="0" l="0" r="0" t="0"/>
          <a:stretch/>
        </p:blipFill>
        <p:spPr>
          <a:xfrm>
            <a:off x="6816626" y="1238250"/>
            <a:ext cx="2606873" cy="4143375"/>
          </a:xfrm>
          <a:prstGeom prst="rect">
            <a:avLst/>
          </a:prstGeom>
          <a:noFill/>
          <a:ln>
            <a:noFill/>
          </a:ln>
        </p:spPr>
      </p:pic>
      <p:sp>
        <p:nvSpPr>
          <p:cNvPr id="480" name="Google Shape;480;p35"/>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2. LMAN responses to own, reversed and conspecific song.</a:t>
            </a:r>
            <a:endParaRPr sz="1800">
              <a:solidFill>
                <a:schemeClr val="dk1"/>
              </a:solidFill>
              <a:latin typeface="Calibri"/>
              <a:ea typeface="Calibri"/>
              <a:cs typeface="Calibri"/>
              <a:sym typeface="Calibri"/>
            </a:endParaRPr>
          </a:p>
        </p:txBody>
      </p:sp>
      <p:pic>
        <p:nvPicPr>
          <p:cNvPr id="481" name="Google Shape;481;p35"/>
          <p:cNvPicPr preferRelativeResize="0"/>
          <p:nvPr/>
        </p:nvPicPr>
        <p:blipFill rotWithShape="1">
          <a:blip r:embed="rId4">
            <a:alphaModFix/>
          </a:blip>
          <a:srcRect b="0" l="0" r="0" t="0"/>
          <a:stretch/>
        </p:blipFill>
        <p:spPr>
          <a:xfrm>
            <a:off x="9906000" y="2549672"/>
            <a:ext cx="1714500" cy="1234781"/>
          </a:xfrm>
          <a:prstGeom prst="rect">
            <a:avLst/>
          </a:prstGeom>
          <a:noFill/>
          <a:ln>
            <a:noFill/>
          </a:ln>
        </p:spPr>
      </p:pic>
      <p:sp>
        <p:nvSpPr>
          <p:cNvPr id="482" name="Google Shape;482;p35"/>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483" name="Google Shape;483;p35"/>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Doupe &amp; Konishi (1991)</a:t>
            </a:r>
            <a:endParaRPr sz="1800">
              <a:solidFill>
                <a:schemeClr val="dk1"/>
              </a:solidFill>
              <a:latin typeface="Calibri"/>
              <a:ea typeface="Calibri"/>
              <a:cs typeface="Calibri"/>
              <a:sym typeface="Calibri"/>
            </a:endParaRPr>
          </a:p>
        </p:txBody>
      </p:sp>
      <p:sp>
        <p:nvSpPr>
          <p:cNvPr id="484" name="Google Shape;484;p35"/>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35</a:t>
            </a:r>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8" name="Shape 488"/>
        <p:cNvGrpSpPr/>
        <p:nvPr/>
      </p:nvGrpSpPr>
      <p:grpSpPr>
        <a:xfrm>
          <a:off x="0" y="0"/>
          <a:ext cx="0" cy="0"/>
          <a:chOff x="0" y="0"/>
          <a:chExt cx="0" cy="0"/>
        </a:xfrm>
      </p:grpSpPr>
      <p:sp>
        <p:nvSpPr>
          <p:cNvPr id="489" name="Google Shape;489;p36"/>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LMAN selectivity includes temporal song structure</a:t>
            </a:r>
            <a:endParaRPr sz="1800">
              <a:solidFill>
                <a:schemeClr val="dk1"/>
              </a:solidFill>
              <a:latin typeface="Calibri"/>
              <a:ea typeface="Calibri"/>
              <a:cs typeface="Calibri"/>
              <a:sym typeface="Calibri"/>
            </a:endParaRPr>
          </a:p>
        </p:txBody>
      </p:sp>
      <p:sp>
        <p:nvSpPr>
          <p:cNvPr id="490" name="Google Shape;490;p36"/>
          <p:cNvSpPr/>
          <p:nvPr/>
        </p:nvSpPr>
        <p:spPr>
          <a:xfrm>
            <a:off x="571500" y="123825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Doupe and Konishi reversed the bird's own recorded song and compared its effect with forward playback. LMAN neurons responded much less effectively to the reversed version.</a:t>
            </a:r>
            <a:endParaRPr sz="1800">
              <a:solidFill>
                <a:schemeClr val="dk1"/>
              </a:solidFill>
              <a:latin typeface="Calibri"/>
              <a:ea typeface="Calibri"/>
              <a:cs typeface="Calibri"/>
              <a:sym typeface="Calibri"/>
            </a:endParaRPr>
          </a:p>
        </p:txBody>
      </p:sp>
      <p:sp>
        <p:nvSpPr>
          <p:cNvPr id="491" name="Google Shape;491;p36"/>
          <p:cNvSpPr/>
          <p:nvPr/>
        </p:nvSpPr>
        <p:spPr>
          <a:xfrm>
            <a:off x="571500" y="24765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manipulation retained overall spectral content while altering temporal structure. The response therefore depended on the acoustic signal's organization, rather than only on the presence of its constituent frequencies.</a:t>
            </a:r>
            <a:endParaRPr sz="1800">
              <a:solidFill>
                <a:schemeClr val="dk1"/>
              </a:solidFill>
              <a:latin typeface="Calibri"/>
              <a:ea typeface="Calibri"/>
              <a:cs typeface="Calibri"/>
              <a:sym typeface="Calibri"/>
            </a:endParaRPr>
          </a:p>
        </p:txBody>
      </p:sp>
      <p:sp>
        <p:nvSpPr>
          <p:cNvPr id="492" name="Google Shape;492;p36"/>
          <p:cNvSpPr/>
          <p:nvPr/>
        </p:nvSpPr>
        <p:spPr>
          <a:xfrm>
            <a:off x="571500" y="37147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This control supports a complex auditory preference. It does not establish recognition of grammatical meaning, and it cannot separate sensitivity to syllable order from sensitivity to acoustic changes within reversed syllables; both are changed by whole-song reversal.</a:t>
            </a:r>
            <a:endParaRPr sz="1800">
              <a:solidFill>
                <a:schemeClr val="dk1"/>
              </a:solidFill>
              <a:latin typeface="Calibri"/>
              <a:ea typeface="Calibri"/>
              <a:cs typeface="Calibri"/>
              <a:sym typeface="Calibri"/>
            </a:endParaRPr>
          </a:p>
        </p:txBody>
      </p:sp>
      <p:sp>
        <p:nvSpPr>
          <p:cNvPr id="493" name="Google Shape;493;p36"/>
          <p:cNvSpPr/>
          <p:nvPr/>
        </p:nvSpPr>
        <p:spPr>
          <a:xfrm>
            <a:off x="571500" y="52197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Whole-song reversal does not preserve the internal direction of acoustic sweeps. The control therefore tests temporal organization broadly rather than altering only the positions of intact syllables.</a:t>
            </a:r>
            <a:endParaRPr sz="1800">
              <a:solidFill>
                <a:schemeClr val="dk1"/>
              </a:solidFill>
              <a:latin typeface="Calibri"/>
              <a:ea typeface="Calibri"/>
              <a:cs typeface="Calibri"/>
              <a:sym typeface="Calibri"/>
            </a:endParaRPr>
          </a:p>
        </p:txBody>
      </p:sp>
      <p:pic>
        <p:nvPicPr>
          <p:cNvPr id="494" name="Google Shape;494;p36"/>
          <p:cNvPicPr preferRelativeResize="0"/>
          <p:nvPr/>
        </p:nvPicPr>
        <p:blipFill rotWithShape="1">
          <a:blip r:embed="rId3">
            <a:alphaModFix/>
          </a:blip>
          <a:srcRect b="0" l="0" r="0" t="0"/>
          <a:stretch/>
        </p:blipFill>
        <p:spPr>
          <a:xfrm>
            <a:off x="6879815" y="1238250"/>
            <a:ext cx="2480495" cy="4143375"/>
          </a:xfrm>
          <a:prstGeom prst="rect">
            <a:avLst/>
          </a:prstGeom>
          <a:noFill/>
          <a:ln>
            <a:noFill/>
          </a:ln>
        </p:spPr>
      </p:pic>
      <p:sp>
        <p:nvSpPr>
          <p:cNvPr id="495" name="Google Shape;495;p36"/>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3. LMAN response strengths for song comparisons.</a:t>
            </a:r>
            <a:endParaRPr sz="1800">
              <a:solidFill>
                <a:schemeClr val="dk1"/>
              </a:solidFill>
              <a:latin typeface="Calibri"/>
              <a:ea typeface="Calibri"/>
              <a:cs typeface="Calibri"/>
              <a:sym typeface="Calibri"/>
            </a:endParaRPr>
          </a:p>
        </p:txBody>
      </p:sp>
      <p:pic>
        <p:nvPicPr>
          <p:cNvPr id="496" name="Google Shape;496;p36"/>
          <p:cNvPicPr preferRelativeResize="0"/>
          <p:nvPr/>
        </p:nvPicPr>
        <p:blipFill rotWithShape="1">
          <a:blip r:embed="rId4">
            <a:alphaModFix/>
          </a:blip>
          <a:srcRect b="0" l="0" r="0" t="0"/>
          <a:stretch/>
        </p:blipFill>
        <p:spPr>
          <a:xfrm>
            <a:off x="9906000" y="2549672"/>
            <a:ext cx="1714500" cy="1234781"/>
          </a:xfrm>
          <a:prstGeom prst="rect">
            <a:avLst/>
          </a:prstGeom>
          <a:noFill/>
          <a:ln>
            <a:noFill/>
          </a:ln>
        </p:spPr>
      </p:pic>
      <p:sp>
        <p:nvSpPr>
          <p:cNvPr id="497" name="Google Shape;497;p36"/>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498" name="Google Shape;498;p36"/>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Doupe &amp; Konishi (1991)</a:t>
            </a:r>
            <a:endParaRPr sz="1800">
              <a:solidFill>
                <a:schemeClr val="dk1"/>
              </a:solidFill>
              <a:latin typeface="Calibri"/>
              <a:ea typeface="Calibri"/>
              <a:cs typeface="Calibri"/>
              <a:sym typeface="Calibri"/>
            </a:endParaRPr>
          </a:p>
        </p:txBody>
      </p:sp>
      <p:sp>
        <p:nvSpPr>
          <p:cNvPr id="499" name="Google Shape;499;p36"/>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36</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3" name="Shape 503"/>
        <p:cNvGrpSpPr/>
        <p:nvPr/>
      </p:nvGrpSpPr>
      <p:grpSpPr>
        <a:xfrm>
          <a:off x="0" y="0"/>
          <a:ext cx="0" cy="0"/>
          <a:chOff x="0" y="0"/>
          <a:chExt cx="0" cy="0"/>
        </a:xfrm>
      </p:grpSpPr>
      <p:sp>
        <p:nvSpPr>
          <p:cNvPr id="504" name="Google Shape;504;p37"/>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Song responses extend through the accessory pathway</a:t>
            </a:r>
            <a:endParaRPr sz="1800">
              <a:solidFill>
                <a:schemeClr val="dk1"/>
              </a:solidFill>
              <a:latin typeface="Calibri"/>
              <a:ea typeface="Calibri"/>
              <a:cs typeface="Calibri"/>
              <a:sym typeface="Calibri"/>
            </a:endParaRPr>
          </a:p>
        </p:txBody>
      </p:sp>
      <p:sp>
        <p:nvSpPr>
          <p:cNvPr id="505" name="Google Shape;505;p37"/>
          <p:cNvSpPr/>
          <p:nvPr/>
        </p:nvSpPr>
        <p:spPr>
          <a:xfrm>
            <a:off x="571500" y="123825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Doupe and Konishi also recorded auditory neurons in Area X and DLM, the nuclei upstream of LMAN in the accessory pathway. Own song was an effective stimulus in these areas as well.</a:t>
            </a:r>
            <a:endParaRPr sz="1800">
              <a:solidFill>
                <a:schemeClr val="dk1"/>
              </a:solidFill>
              <a:latin typeface="Calibri"/>
              <a:ea typeface="Calibri"/>
              <a:cs typeface="Calibri"/>
              <a:sym typeface="Calibri"/>
            </a:endParaRPr>
          </a:p>
        </p:txBody>
      </p:sp>
      <p:sp>
        <p:nvSpPr>
          <p:cNvPr id="506" name="Google Shape;506;p37"/>
          <p:cNvSpPr/>
          <p:nvPr/>
        </p:nvSpPr>
        <p:spPr>
          <a:xfrm>
            <a:off x="571500" y="24765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Responses to simpler noise and tone stimuli differed among nuclei. LMAN was less readily excited by broadband noise and more strictly selective for forward song than the upstream populations sampled.</a:t>
            </a:r>
            <a:endParaRPr sz="1800">
              <a:solidFill>
                <a:schemeClr val="dk1"/>
              </a:solidFill>
              <a:latin typeface="Calibri"/>
              <a:ea typeface="Calibri"/>
              <a:cs typeface="Calibri"/>
              <a:sym typeface="Calibri"/>
            </a:endParaRPr>
          </a:p>
        </p:txBody>
      </p:sp>
      <p:sp>
        <p:nvSpPr>
          <p:cNvPr id="507" name="Google Shape;507;p37"/>
          <p:cNvSpPr/>
          <p:nvPr/>
        </p:nvSpPr>
        <p:spPr>
          <a:xfrm>
            <a:off x="571500" y="3714750"/>
            <a:ext cx="5400675" cy="16002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comparison is consistent with different degrees of acoustic selectivity along the pathway. It does not prove that this adult circuit progressively constructs the juvenile tutor memory, because the recordings did not follow the development of individual pupils during learning.</a:t>
            </a:r>
            <a:endParaRPr sz="1800">
              <a:solidFill>
                <a:schemeClr val="dk1"/>
              </a:solidFill>
              <a:latin typeface="Calibri"/>
              <a:ea typeface="Calibri"/>
              <a:cs typeface="Calibri"/>
              <a:sym typeface="Calibri"/>
            </a:endParaRPr>
          </a:p>
        </p:txBody>
      </p:sp>
      <p:pic>
        <p:nvPicPr>
          <p:cNvPr id="508" name="Google Shape;508;p37"/>
          <p:cNvPicPr preferRelativeResize="0"/>
          <p:nvPr/>
        </p:nvPicPr>
        <p:blipFill rotWithShape="1">
          <a:blip r:embed="rId3">
            <a:alphaModFix/>
          </a:blip>
          <a:srcRect b="0" l="0" r="0" t="0"/>
          <a:stretch/>
        </p:blipFill>
        <p:spPr>
          <a:xfrm>
            <a:off x="6572250" y="1492066"/>
            <a:ext cx="5048250" cy="3635743"/>
          </a:xfrm>
          <a:prstGeom prst="rect">
            <a:avLst/>
          </a:prstGeom>
          <a:noFill/>
          <a:ln>
            <a:noFill/>
          </a:ln>
        </p:spPr>
      </p:pic>
      <p:sp>
        <p:nvSpPr>
          <p:cNvPr id="509" name="Google Shape;509;p37"/>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organization of song pathways.</a:t>
            </a:r>
            <a:endParaRPr sz="1800">
              <a:solidFill>
                <a:schemeClr val="dk1"/>
              </a:solidFill>
              <a:latin typeface="Calibri"/>
              <a:ea typeface="Calibri"/>
              <a:cs typeface="Calibri"/>
              <a:sym typeface="Calibri"/>
            </a:endParaRPr>
          </a:p>
        </p:txBody>
      </p:sp>
      <p:sp>
        <p:nvSpPr>
          <p:cNvPr id="510" name="Google Shape;510;p37"/>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Doupe &amp; Konishi (1991)</a:t>
            </a:r>
            <a:endParaRPr sz="1800">
              <a:solidFill>
                <a:schemeClr val="dk1"/>
              </a:solidFill>
              <a:latin typeface="Calibri"/>
              <a:ea typeface="Calibri"/>
              <a:cs typeface="Calibri"/>
              <a:sym typeface="Calibri"/>
            </a:endParaRPr>
          </a:p>
        </p:txBody>
      </p:sp>
      <p:sp>
        <p:nvSpPr>
          <p:cNvPr id="511" name="Google Shape;511;p37"/>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37</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5" name="Shape 515"/>
        <p:cNvGrpSpPr/>
        <p:nvPr/>
      </p:nvGrpSpPr>
      <p:grpSpPr>
        <a:xfrm>
          <a:off x="0" y="0"/>
          <a:ext cx="0" cy="0"/>
          <a:chOff x="0" y="0"/>
          <a:chExt cx="0" cy="0"/>
        </a:xfrm>
      </p:grpSpPr>
      <p:sp>
        <p:nvSpPr>
          <p:cNvPr id="516" name="Google Shape;516;p38"/>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HVC silencing removes RA’s auditory song response</a:t>
            </a:r>
            <a:endParaRPr sz="1800">
              <a:solidFill>
                <a:schemeClr val="dk1"/>
              </a:solidFill>
              <a:latin typeface="Calibri"/>
              <a:ea typeface="Calibri"/>
              <a:cs typeface="Calibri"/>
              <a:sym typeface="Calibri"/>
            </a:endParaRPr>
          </a:p>
        </p:txBody>
      </p:sp>
      <p:sp>
        <p:nvSpPr>
          <p:cNvPr id="517" name="Google Shape;517;p38"/>
          <p:cNvSpPr/>
          <p:nvPr/>
        </p:nvSpPr>
        <p:spPr>
          <a:xfrm>
            <a:off x="571500" y="123825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Doupe and Konishi recorded auditory responses in RA while altering its possible input sources. Song-selective RA responses remained after LMAN lesions or local anesthetic treatment of LMAN.</a:t>
            </a:r>
            <a:endParaRPr sz="1800">
              <a:solidFill>
                <a:schemeClr val="dk1"/>
              </a:solidFill>
              <a:latin typeface="Calibri"/>
              <a:ea typeface="Calibri"/>
              <a:cs typeface="Calibri"/>
              <a:sym typeface="Calibri"/>
            </a:endParaRPr>
          </a:p>
        </p:txBody>
      </p:sp>
      <p:sp>
        <p:nvSpPr>
          <p:cNvPr id="518" name="Google Shape;518;p38"/>
          <p:cNvSpPr/>
          <p:nvPr/>
        </p:nvSpPr>
        <p:spPr>
          <a:xfrm>
            <a:off x="571500" y="247650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Injecting lidocaine into HVC reversibly abolished RA song responses. </a:t>
            </a:r>
            <a:r>
              <a:rPr b="1" i="0" lang="en-US" sz="1575">
                <a:solidFill>
                  <a:srgbClr val="29272C"/>
                </a:solidFill>
                <a:latin typeface="Arial"/>
                <a:ea typeface="Arial"/>
                <a:cs typeface="Arial"/>
                <a:sym typeface="Arial"/>
              </a:rPr>
              <a:t>Lidocaine</a:t>
            </a:r>
            <a:r>
              <a:rPr b="0" i="0" lang="en-US" sz="1575">
                <a:solidFill>
                  <a:srgbClr val="29272C"/>
                </a:solidFill>
                <a:latin typeface="Arial"/>
                <a:ea typeface="Arial"/>
                <a:cs typeface="Arial"/>
                <a:sym typeface="Arial"/>
              </a:rPr>
              <a:t> is the local anesthetic used in this experiment to silence the input region temporarily, separating its contribution from the activity recorded in RA.</a:t>
            </a:r>
            <a:endParaRPr sz="1800">
              <a:solidFill>
                <a:schemeClr val="dk1"/>
              </a:solidFill>
              <a:latin typeface="Calibri"/>
              <a:ea typeface="Calibri"/>
              <a:cs typeface="Calibri"/>
              <a:sym typeface="Calibri"/>
            </a:endParaRPr>
          </a:p>
        </p:txBody>
      </p:sp>
      <p:sp>
        <p:nvSpPr>
          <p:cNvPr id="519" name="Google Shape;519;p38"/>
          <p:cNvSpPr/>
          <p:nvPr/>
        </p:nvSpPr>
        <p:spPr>
          <a:xfrm>
            <a:off x="571500" y="39814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loss and recovery implicate HVC-dependent input in adult RA auditory responsiveness. They do not establish that LMAN has no learning function, because adult playback responses and juvenile learning can depend differently on the same pathway.</a:t>
            </a:r>
            <a:endParaRPr sz="1800">
              <a:solidFill>
                <a:schemeClr val="dk1"/>
              </a:solidFill>
              <a:latin typeface="Calibri"/>
              <a:ea typeface="Calibri"/>
              <a:cs typeface="Calibri"/>
              <a:sym typeface="Calibri"/>
            </a:endParaRPr>
          </a:p>
        </p:txBody>
      </p:sp>
      <p:sp>
        <p:nvSpPr>
          <p:cNvPr id="520" name="Google Shape;520;p38"/>
          <p:cNvSpPr/>
          <p:nvPr/>
        </p:nvSpPr>
        <p:spPr>
          <a:xfrm>
            <a:off x="571500" y="54864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Persistence after LMAN disruption distinguishes that input from an indispensable adult auditory drive. The additional HVC treatment tests a dependency that the LMAN manipulation alone could not establish.</a:t>
            </a:r>
            <a:endParaRPr sz="1800">
              <a:solidFill>
                <a:schemeClr val="dk1"/>
              </a:solidFill>
              <a:latin typeface="Calibri"/>
              <a:ea typeface="Calibri"/>
              <a:cs typeface="Calibri"/>
              <a:sym typeface="Calibri"/>
            </a:endParaRPr>
          </a:p>
        </p:txBody>
      </p:sp>
      <p:pic>
        <p:nvPicPr>
          <p:cNvPr id="521" name="Google Shape;521;p38"/>
          <p:cNvPicPr preferRelativeResize="0"/>
          <p:nvPr/>
        </p:nvPicPr>
        <p:blipFill rotWithShape="1">
          <a:blip r:embed="rId3">
            <a:alphaModFix/>
          </a:blip>
          <a:srcRect b="0" l="0" r="0" t="0"/>
          <a:stretch/>
        </p:blipFill>
        <p:spPr>
          <a:xfrm>
            <a:off x="6997526" y="1238250"/>
            <a:ext cx="2245073" cy="4143375"/>
          </a:xfrm>
          <a:prstGeom prst="rect">
            <a:avLst/>
          </a:prstGeom>
          <a:noFill/>
          <a:ln>
            <a:noFill/>
          </a:ln>
        </p:spPr>
      </p:pic>
      <p:sp>
        <p:nvSpPr>
          <p:cNvPr id="522" name="Google Shape;522;p38"/>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4. RA responses before, during and after HVC inactivation.</a:t>
            </a:r>
            <a:endParaRPr sz="1800">
              <a:solidFill>
                <a:schemeClr val="dk1"/>
              </a:solidFill>
              <a:latin typeface="Calibri"/>
              <a:ea typeface="Calibri"/>
              <a:cs typeface="Calibri"/>
              <a:sym typeface="Calibri"/>
            </a:endParaRPr>
          </a:p>
        </p:txBody>
      </p:sp>
      <p:pic>
        <p:nvPicPr>
          <p:cNvPr id="523" name="Google Shape;523;p38"/>
          <p:cNvPicPr preferRelativeResize="0"/>
          <p:nvPr/>
        </p:nvPicPr>
        <p:blipFill rotWithShape="1">
          <a:blip r:embed="rId4">
            <a:alphaModFix/>
          </a:blip>
          <a:srcRect b="0" l="0" r="0" t="0"/>
          <a:stretch/>
        </p:blipFill>
        <p:spPr>
          <a:xfrm>
            <a:off x="9906000" y="2549672"/>
            <a:ext cx="1714500" cy="1234781"/>
          </a:xfrm>
          <a:prstGeom prst="rect">
            <a:avLst/>
          </a:prstGeom>
          <a:noFill/>
          <a:ln>
            <a:noFill/>
          </a:ln>
        </p:spPr>
      </p:pic>
      <p:sp>
        <p:nvSpPr>
          <p:cNvPr id="524" name="Google Shape;524;p38"/>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525" name="Google Shape;525;p38"/>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Doupe &amp; Konishi (1991)</a:t>
            </a:r>
            <a:endParaRPr sz="1800">
              <a:solidFill>
                <a:schemeClr val="dk1"/>
              </a:solidFill>
              <a:latin typeface="Calibri"/>
              <a:ea typeface="Calibri"/>
              <a:cs typeface="Calibri"/>
              <a:sym typeface="Calibri"/>
            </a:endParaRPr>
          </a:p>
        </p:txBody>
      </p:sp>
      <p:sp>
        <p:nvSpPr>
          <p:cNvPr id="526" name="Google Shape;526;p38"/>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38</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0" name="Shape 530"/>
        <p:cNvGrpSpPr/>
        <p:nvPr/>
      </p:nvGrpSpPr>
      <p:grpSpPr>
        <a:xfrm>
          <a:off x="0" y="0"/>
          <a:ext cx="0" cy="0"/>
          <a:chOff x="0" y="0"/>
          <a:chExt cx="0" cy="0"/>
        </a:xfrm>
      </p:grpSpPr>
      <p:sp>
        <p:nvSpPr>
          <p:cNvPr id="531" name="Google Shape;531;p39"/>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Reversible disruption separates input from lasting damage</a:t>
            </a:r>
            <a:endParaRPr sz="1800">
              <a:solidFill>
                <a:schemeClr val="dk1"/>
              </a:solidFill>
              <a:latin typeface="Calibri"/>
              <a:ea typeface="Calibri"/>
              <a:cs typeface="Calibri"/>
              <a:sym typeface="Calibri"/>
            </a:endParaRPr>
          </a:p>
        </p:txBody>
      </p:sp>
      <p:sp>
        <p:nvSpPr>
          <p:cNvPr id="532" name="Google Shape;532;p39"/>
          <p:cNvSpPr/>
          <p:nvPr/>
        </p:nvSpPr>
        <p:spPr>
          <a:xfrm>
            <a:off x="571500" y="12382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In the RA recording example, Doupe and Konishi compared responses before HVC lidocaine, five minutes after treatment, and after recovery. The same cell's response changed while the song stimulus remained available.</a:t>
            </a:r>
            <a:endParaRPr sz="1800">
              <a:solidFill>
                <a:schemeClr val="dk1"/>
              </a:solidFill>
              <a:latin typeface="Calibri"/>
              <a:ea typeface="Calibri"/>
              <a:cs typeface="Calibri"/>
              <a:sym typeface="Calibri"/>
            </a:endParaRPr>
          </a:p>
        </p:txBody>
      </p:sp>
      <p:sp>
        <p:nvSpPr>
          <p:cNvPr id="533" name="Google Shape;533;p39"/>
          <p:cNvSpPr/>
          <p:nvPr/>
        </p:nvSpPr>
        <p:spPr>
          <a:xfrm>
            <a:off x="571500" y="27432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A reversible effect is different from destruction of RA itself. Recovery supports a temporary interruption of input rather than an explanation requiring permanent loss of the recorded neuron.</a:t>
            </a:r>
            <a:endParaRPr sz="1800">
              <a:solidFill>
                <a:schemeClr val="dk1"/>
              </a:solidFill>
              <a:latin typeface="Calibri"/>
              <a:ea typeface="Calibri"/>
              <a:cs typeface="Calibri"/>
              <a:sym typeface="Calibri"/>
            </a:endParaRPr>
          </a:p>
        </p:txBody>
      </p:sp>
      <p:sp>
        <p:nvSpPr>
          <p:cNvPr id="534" name="Google Shape;534;p39"/>
          <p:cNvSpPr/>
          <p:nvPr/>
        </p:nvSpPr>
        <p:spPr>
          <a:xfrm>
            <a:off x="571500" y="39814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experiment establishes a dependency under the adult anesthetized preparation. It does not specify which HVC cell class supplied the input or reveal a complete feedback mechanism, because regional inactivation affects multiple neurons and local connections together.</a:t>
            </a:r>
            <a:endParaRPr sz="1800">
              <a:solidFill>
                <a:schemeClr val="dk1"/>
              </a:solidFill>
              <a:latin typeface="Calibri"/>
              <a:ea typeface="Calibri"/>
              <a:cs typeface="Calibri"/>
              <a:sym typeface="Calibri"/>
            </a:endParaRPr>
          </a:p>
        </p:txBody>
      </p:sp>
      <p:sp>
        <p:nvSpPr>
          <p:cNvPr id="535" name="Google Shape;535;p39"/>
          <p:cNvSpPr/>
          <p:nvPr/>
        </p:nvSpPr>
        <p:spPr>
          <a:xfrm>
            <a:off x="571500" y="54864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before-and-after sequence retains the song stimulus while changing the input region’s activity. Recovery adds evidence unavailable from a comparison involving only permanent destructive lesions.</a:t>
            </a:r>
            <a:endParaRPr sz="1800">
              <a:solidFill>
                <a:schemeClr val="dk1"/>
              </a:solidFill>
              <a:latin typeface="Calibri"/>
              <a:ea typeface="Calibri"/>
              <a:cs typeface="Calibri"/>
              <a:sym typeface="Calibri"/>
            </a:endParaRPr>
          </a:p>
        </p:txBody>
      </p:sp>
      <p:pic>
        <p:nvPicPr>
          <p:cNvPr id="536" name="Google Shape;536;p39"/>
          <p:cNvPicPr preferRelativeResize="0"/>
          <p:nvPr/>
        </p:nvPicPr>
        <p:blipFill rotWithShape="1">
          <a:blip r:embed="rId3">
            <a:alphaModFix/>
          </a:blip>
          <a:srcRect b="0" l="0" r="0" t="0"/>
          <a:stretch/>
        </p:blipFill>
        <p:spPr>
          <a:xfrm>
            <a:off x="6997526" y="1238250"/>
            <a:ext cx="2245073" cy="4143375"/>
          </a:xfrm>
          <a:prstGeom prst="rect">
            <a:avLst/>
          </a:prstGeom>
          <a:noFill/>
          <a:ln>
            <a:noFill/>
          </a:ln>
        </p:spPr>
      </p:pic>
      <p:sp>
        <p:nvSpPr>
          <p:cNvPr id="537" name="Google Shape;537;p39"/>
          <p:cNvSpPr/>
          <p:nvPr/>
        </p:nvSpPr>
        <p:spPr>
          <a:xfrm>
            <a:off x="6572250" y="5457825"/>
            <a:ext cx="311467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4. RA responses before, during and after HVC inactivation.</a:t>
            </a:r>
            <a:endParaRPr sz="1800">
              <a:solidFill>
                <a:schemeClr val="dk1"/>
              </a:solidFill>
              <a:latin typeface="Calibri"/>
              <a:ea typeface="Calibri"/>
              <a:cs typeface="Calibri"/>
              <a:sym typeface="Calibri"/>
            </a:endParaRPr>
          </a:p>
        </p:txBody>
      </p:sp>
      <p:pic>
        <p:nvPicPr>
          <p:cNvPr id="538" name="Google Shape;538;p39"/>
          <p:cNvPicPr preferRelativeResize="0"/>
          <p:nvPr/>
        </p:nvPicPr>
        <p:blipFill rotWithShape="1">
          <a:blip r:embed="rId4">
            <a:alphaModFix/>
          </a:blip>
          <a:srcRect b="0" l="0" r="0" t="0"/>
          <a:stretch/>
        </p:blipFill>
        <p:spPr>
          <a:xfrm>
            <a:off x="9906000" y="2549672"/>
            <a:ext cx="1714500" cy="1234781"/>
          </a:xfrm>
          <a:prstGeom prst="rect">
            <a:avLst/>
          </a:prstGeom>
          <a:noFill/>
          <a:ln>
            <a:noFill/>
          </a:ln>
        </p:spPr>
      </p:pic>
      <p:sp>
        <p:nvSpPr>
          <p:cNvPr id="539" name="Google Shape;539;p39"/>
          <p:cNvSpPr/>
          <p:nvPr/>
        </p:nvSpPr>
        <p:spPr>
          <a:xfrm>
            <a:off x="9906000" y="4124325"/>
            <a:ext cx="1733550"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Doupe &amp; Konishi (1991), Fig. 1. Published anatomical locations and pathways.</a:t>
            </a:r>
            <a:endParaRPr sz="1800">
              <a:solidFill>
                <a:schemeClr val="dk1"/>
              </a:solidFill>
              <a:latin typeface="Calibri"/>
              <a:ea typeface="Calibri"/>
              <a:cs typeface="Calibri"/>
              <a:sym typeface="Calibri"/>
            </a:endParaRPr>
          </a:p>
        </p:txBody>
      </p:sp>
      <p:sp>
        <p:nvSpPr>
          <p:cNvPr id="540" name="Google Shape;540;p39"/>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Doupe &amp; Konishi (1991)</a:t>
            </a:r>
            <a:endParaRPr sz="1800">
              <a:solidFill>
                <a:schemeClr val="dk1"/>
              </a:solidFill>
              <a:latin typeface="Calibri"/>
              <a:ea typeface="Calibri"/>
              <a:cs typeface="Calibri"/>
              <a:sym typeface="Calibri"/>
            </a:endParaRPr>
          </a:p>
        </p:txBody>
      </p:sp>
      <p:sp>
        <p:nvSpPr>
          <p:cNvPr id="541" name="Google Shape;541;p39"/>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39</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5" name="Shape 545"/>
        <p:cNvGrpSpPr/>
        <p:nvPr/>
      </p:nvGrpSpPr>
      <p:grpSpPr>
        <a:xfrm>
          <a:off x="0" y="0"/>
          <a:ext cx="0" cy="0"/>
          <a:chOff x="0" y="0"/>
          <a:chExt cx="0" cy="0"/>
        </a:xfrm>
      </p:grpSpPr>
      <p:sp>
        <p:nvSpPr>
          <p:cNvPr id="546" name="Google Shape;546;p40"/>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Adult Bengalese song retains variable note sequences</a:t>
            </a:r>
            <a:endParaRPr sz="1800">
              <a:solidFill>
                <a:schemeClr val="dk1"/>
              </a:solidFill>
              <a:latin typeface="Calibri"/>
              <a:ea typeface="Calibri"/>
              <a:cs typeface="Calibri"/>
              <a:sym typeface="Calibri"/>
            </a:endParaRPr>
          </a:p>
        </p:txBody>
      </p:sp>
      <p:sp>
        <p:nvSpPr>
          <p:cNvPr id="547" name="Google Shape;547;p40"/>
          <p:cNvSpPr/>
          <p:nvPr/>
        </p:nvSpPr>
        <p:spPr>
          <a:xfrm>
            <a:off x="571500" y="1085170"/>
            <a:ext cx="5400600"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1" i="0" lang="en-US" sz="1275">
                <a:solidFill>
                  <a:srgbClr val="29272C"/>
                </a:solidFill>
                <a:latin typeface="Arial"/>
                <a:ea typeface="Arial"/>
                <a:cs typeface="Arial"/>
                <a:sym typeface="Arial"/>
              </a:rPr>
              <a:t>Bengalese finches</a:t>
            </a:r>
            <a:r>
              <a:rPr b="0" i="0" lang="en-US" sz="1275">
                <a:solidFill>
                  <a:srgbClr val="29272C"/>
                </a:solidFill>
                <a:latin typeface="Arial"/>
                <a:ea typeface="Arial"/>
                <a:cs typeface="Arial"/>
                <a:sym typeface="Arial"/>
              </a:rPr>
              <a:t>, </a:t>
            </a:r>
            <a:r>
              <a:rPr b="0" i="1" lang="en-US" sz="1275">
                <a:solidFill>
                  <a:srgbClr val="29272C"/>
                </a:solidFill>
                <a:latin typeface="Arial"/>
                <a:ea typeface="Arial"/>
                <a:cs typeface="Arial"/>
                <a:sym typeface="Arial"/>
              </a:rPr>
              <a:t>Lonchura striata</a:t>
            </a:r>
            <a:r>
              <a:rPr b="0" i="0" lang="en-US" sz="1275">
                <a:solidFill>
                  <a:srgbClr val="29272C"/>
                </a:solidFill>
                <a:latin typeface="Arial"/>
                <a:ea typeface="Arial"/>
                <a:cs typeface="Arial"/>
                <a:sym typeface="Arial"/>
              </a:rPr>
              <a:t> var. </a:t>
            </a:r>
            <a:r>
              <a:rPr b="0" i="1" lang="en-US" sz="1275">
                <a:solidFill>
                  <a:srgbClr val="29272C"/>
                </a:solidFill>
                <a:latin typeface="Arial"/>
                <a:ea typeface="Arial"/>
                <a:cs typeface="Arial"/>
                <a:sym typeface="Arial"/>
              </a:rPr>
              <a:t>domestica</a:t>
            </a:r>
            <a:r>
              <a:rPr b="0" i="0" lang="en-US" sz="1275">
                <a:solidFill>
                  <a:srgbClr val="29272C"/>
                </a:solidFill>
                <a:latin typeface="Arial"/>
                <a:ea typeface="Arial"/>
                <a:cs typeface="Arial"/>
                <a:sym typeface="Arial"/>
              </a:rPr>
              <a:t>, produce learned songs with recurring motifs but variable note sequences. Okanoya and Yamaguchi distinguished individual notes from motifs, which are recurring groups of notes.</a:t>
            </a:r>
            <a:endParaRPr sz="1500">
              <a:solidFill>
                <a:schemeClr val="dk1"/>
              </a:solidFill>
              <a:latin typeface="Calibri"/>
              <a:ea typeface="Calibri"/>
              <a:cs typeface="Calibri"/>
              <a:sym typeface="Calibri"/>
            </a:endParaRPr>
          </a:p>
        </p:txBody>
      </p:sp>
      <p:sp>
        <p:nvSpPr>
          <p:cNvPr id="548" name="Google Shape;548;p40"/>
          <p:cNvSpPr/>
          <p:nvPr/>
        </p:nvSpPr>
        <p:spPr>
          <a:xfrm>
            <a:off x="571500" y="2590120"/>
            <a:ext cx="5400600"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275">
                <a:solidFill>
                  <a:srgbClr val="29272C"/>
                </a:solidFill>
                <a:latin typeface="Arial"/>
                <a:ea typeface="Arial"/>
                <a:cs typeface="Arial"/>
                <a:sym typeface="Arial"/>
              </a:rPr>
              <a:t>A </a:t>
            </a:r>
            <a:r>
              <a:rPr b="1" i="0" lang="en-US" sz="1275">
                <a:solidFill>
                  <a:srgbClr val="29272C"/>
                </a:solidFill>
                <a:latin typeface="Arial"/>
                <a:ea typeface="Arial"/>
                <a:cs typeface="Arial"/>
                <a:sym typeface="Arial"/>
              </a:rPr>
              <a:t>spectrogram</a:t>
            </a:r>
            <a:r>
              <a:rPr b="0" i="0" lang="en-US" sz="1275">
                <a:solidFill>
                  <a:srgbClr val="29272C"/>
                </a:solidFill>
                <a:latin typeface="Arial"/>
                <a:ea typeface="Arial"/>
                <a:cs typeface="Arial"/>
                <a:sym typeface="Arial"/>
              </a:rPr>
              <a:t> records frequency over time and permits corresponding note types to be followed across renditions. Adult variability in sequence can coexist with recognizable note identities.</a:t>
            </a:r>
            <a:endParaRPr sz="1500">
              <a:solidFill>
                <a:schemeClr val="dk1"/>
              </a:solidFill>
              <a:latin typeface="Calibri"/>
              <a:ea typeface="Calibri"/>
              <a:cs typeface="Calibri"/>
              <a:sym typeface="Calibri"/>
            </a:endParaRPr>
          </a:p>
        </p:txBody>
      </p:sp>
      <p:sp>
        <p:nvSpPr>
          <p:cNvPr id="549" name="Google Shape;549;p40"/>
          <p:cNvSpPr/>
          <p:nvPr/>
        </p:nvSpPr>
        <p:spPr>
          <a:xfrm>
            <a:off x="571500" y="3828370"/>
            <a:ext cx="5400600"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275">
                <a:solidFill>
                  <a:srgbClr val="29272C"/>
                </a:solidFill>
                <a:latin typeface="Arial"/>
                <a:ea typeface="Arial"/>
                <a:cs typeface="Arial"/>
                <a:sym typeface="Arial"/>
              </a:rPr>
              <a:t>A stable inventory is therefore different from an invariant sequence. This distinction matters when testing auditory feedback: a bird can preserve many acoustic units while changing the order or frequency with which it assembles them into song.</a:t>
            </a:r>
            <a:endParaRPr sz="1500">
              <a:solidFill>
                <a:schemeClr val="dk1"/>
              </a:solidFill>
              <a:latin typeface="Calibri"/>
              <a:ea typeface="Calibri"/>
              <a:cs typeface="Calibri"/>
              <a:sym typeface="Calibri"/>
            </a:endParaRPr>
          </a:p>
        </p:txBody>
      </p:sp>
      <p:sp>
        <p:nvSpPr>
          <p:cNvPr id="550" name="Google Shape;550;p40"/>
          <p:cNvSpPr/>
          <p:nvPr/>
        </p:nvSpPr>
        <p:spPr>
          <a:xfrm>
            <a:off x="571500" y="5333320"/>
            <a:ext cx="5400600"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275">
                <a:solidFill>
                  <a:srgbClr val="29272C"/>
                </a:solidFill>
                <a:latin typeface="Arial"/>
                <a:ea typeface="Arial"/>
                <a:cs typeface="Arial"/>
                <a:sym typeface="Arial"/>
              </a:rPr>
              <a:t>Notes were identified from acoustic form before their transition patterns were analyzed. The distinction between note identity and arrangement allows separate descriptions of the same adult vocal performance.</a:t>
            </a:r>
            <a:endParaRPr sz="1500">
              <a:solidFill>
                <a:schemeClr val="dk1"/>
              </a:solidFill>
              <a:latin typeface="Calibri"/>
              <a:ea typeface="Calibri"/>
              <a:cs typeface="Calibri"/>
              <a:sym typeface="Calibri"/>
            </a:endParaRPr>
          </a:p>
        </p:txBody>
      </p:sp>
      <p:pic>
        <p:nvPicPr>
          <p:cNvPr id="551" name="Google Shape;551;p40"/>
          <p:cNvPicPr preferRelativeResize="0"/>
          <p:nvPr/>
        </p:nvPicPr>
        <p:blipFill rotWithShape="1">
          <a:blip r:embed="rId3">
            <a:alphaModFix/>
          </a:blip>
          <a:srcRect b="0" l="0" r="0" t="0"/>
          <a:stretch/>
        </p:blipFill>
        <p:spPr>
          <a:xfrm>
            <a:off x="6572250" y="2425807"/>
            <a:ext cx="5048250" cy="1768262"/>
          </a:xfrm>
          <a:prstGeom prst="rect">
            <a:avLst/>
          </a:prstGeom>
          <a:noFill/>
          <a:ln>
            <a:noFill/>
          </a:ln>
        </p:spPr>
      </p:pic>
      <p:sp>
        <p:nvSpPr>
          <p:cNvPr id="552" name="Google Shape;552;p40"/>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Okanoya &amp; Yamaguchi (1997), Fig. 1. Adult Bengalese finch notes and motifs.</a:t>
            </a:r>
            <a:endParaRPr sz="1800">
              <a:solidFill>
                <a:schemeClr val="dk1"/>
              </a:solidFill>
              <a:latin typeface="Calibri"/>
              <a:ea typeface="Calibri"/>
              <a:cs typeface="Calibri"/>
              <a:sym typeface="Calibri"/>
            </a:endParaRPr>
          </a:p>
        </p:txBody>
      </p:sp>
      <p:sp>
        <p:nvSpPr>
          <p:cNvPr id="553" name="Google Shape;553;p40"/>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Okanoya &amp; Yamaguchi (1997)</a:t>
            </a:r>
            <a:endParaRPr sz="1800">
              <a:solidFill>
                <a:schemeClr val="dk1"/>
              </a:solidFill>
              <a:latin typeface="Calibri"/>
              <a:ea typeface="Calibri"/>
              <a:cs typeface="Calibri"/>
              <a:sym typeface="Calibri"/>
            </a:endParaRPr>
          </a:p>
        </p:txBody>
      </p:sp>
      <p:sp>
        <p:nvSpPr>
          <p:cNvPr id="554" name="Google Shape;554;p40"/>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40</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8" name="Shape 558"/>
        <p:cNvGrpSpPr/>
        <p:nvPr/>
      </p:nvGrpSpPr>
      <p:grpSpPr>
        <a:xfrm>
          <a:off x="0" y="0"/>
          <a:ext cx="0" cy="0"/>
          <a:chOff x="0" y="0"/>
          <a:chExt cx="0" cy="0"/>
        </a:xfrm>
      </p:grpSpPr>
      <p:sp>
        <p:nvSpPr>
          <p:cNvPr id="559" name="Google Shape;559;p41"/>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Adult deafening tests maintenance after learning</a:t>
            </a:r>
            <a:endParaRPr sz="1800">
              <a:solidFill>
                <a:schemeClr val="dk1"/>
              </a:solidFill>
              <a:latin typeface="Calibri"/>
              <a:ea typeface="Calibri"/>
              <a:cs typeface="Calibri"/>
              <a:sym typeface="Calibri"/>
            </a:endParaRPr>
          </a:p>
        </p:txBody>
      </p:sp>
      <p:sp>
        <p:nvSpPr>
          <p:cNvPr id="560" name="Google Shape;560;p41"/>
          <p:cNvSpPr/>
          <p:nvPr/>
        </p:nvSpPr>
        <p:spPr>
          <a:xfrm>
            <a:off x="571500" y="123825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Okanoya and Yamaguchi removed auditory feedback after Bengalese finches had developed adult song. They compared subsequent recordings with each bird's preoperative song and with hearing controls.</a:t>
            </a:r>
            <a:endParaRPr sz="1800">
              <a:solidFill>
                <a:schemeClr val="dk1"/>
              </a:solidFill>
              <a:latin typeface="Calibri"/>
              <a:ea typeface="Calibri"/>
              <a:cs typeface="Calibri"/>
              <a:sym typeface="Calibri"/>
            </a:endParaRPr>
          </a:p>
        </p:txBody>
      </p:sp>
      <p:sp>
        <p:nvSpPr>
          <p:cNvPr id="561" name="Google Shape;561;p41"/>
          <p:cNvSpPr/>
          <p:nvPr/>
        </p:nvSpPr>
        <p:spPr>
          <a:xfrm>
            <a:off x="571500" y="247650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Changes could arise within five days, even though the birds were not acquiring an entirely new juvenile repertoire. The experiment therefore tested maintenance and organization of a learned performance.</a:t>
            </a:r>
            <a:endParaRPr sz="1800">
              <a:solidFill>
                <a:schemeClr val="dk1"/>
              </a:solidFill>
              <a:latin typeface="Calibri"/>
              <a:ea typeface="Calibri"/>
              <a:cs typeface="Calibri"/>
              <a:sym typeface="Calibri"/>
            </a:endParaRPr>
          </a:p>
        </p:txBody>
      </p:sp>
      <p:sp>
        <p:nvSpPr>
          <p:cNvPr id="562" name="Google Shape;562;p41"/>
          <p:cNvSpPr/>
          <p:nvPr/>
        </p:nvSpPr>
        <p:spPr>
          <a:xfrm>
            <a:off x="571500" y="3981450"/>
            <a:ext cx="5400675" cy="16002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A </a:t>
            </a:r>
            <a:r>
              <a:rPr b="1" i="0" lang="en-US" sz="1575">
                <a:solidFill>
                  <a:srgbClr val="29272C"/>
                </a:solidFill>
                <a:latin typeface="Arial"/>
                <a:ea typeface="Arial"/>
                <a:cs typeface="Arial"/>
                <a:sym typeface="Arial"/>
              </a:rPr>
              <a:t>closed-ended learner</a:t>
            </a:r>
            <a:r>
              <a:rPr b="0" i="0" lang="en-US" sz="1575">
                <a:solidFill>
                  <a:srgbClr val="29272C"/>
                </a:solidFill>
                <a:latin typeface="Arial"/>
                <a:ea typeface="Arial"/>
                <a:cs typeface="Arial"/>
                <a:sym typeface="Arial"/>
              </a:rPr>
              <a:t> normally acquires its repertoire during a limited developmental interval. That label does not imply that adult production is independent of hearing: restricting acquisition of new material and maintaining existing material are separate functional properties.</a:t>
            </a:r>
            <a:endParaRPr sz="1800">
              <a:solidFill>
                <a:schemeClr val="dk1"/>
              </a:solidFill>
              <a:latin typeface="Calibri"/>
              <a:ea typeface="Calibri"/>
              <a:cs typeface="Calibri"/>
              <a:sym typeface="Calibri"/>
            </a:endParaRPr>
          </a:p>
        </p:txBody>
      </p:sp>
      <p:sp>
        <p:nvSpPr>
          <p:cNvPr id="563" name="Google Shape;563;p41"/>
          <p:cNvSpPr/>
          <p:nvPr/>
        </p:nvSpPr>
        <p:spPr>
          <a:xfrm>
            <a:off x="571500" y="57531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Adult recordings established the preoperative song pattern. Subsequent changes therefore occurred after an existing repertoire had been acquired, rather than merely reflecting failure to hear a juvenile tutor.</a:t>
            </a:r>
            <a:endParaRPr sz="1800">
              <a:solidFill>
                <a:schemeClr val="dk1"/>
              </a:solidFill>
              <a:latin typeface="Calibri"/>
              <a:ea typeface="Calibri"/>
              <a:cs typeface="Calibri"/>
              <a:sym typeface="Calibri"/>
            </a:endParaRPr>
          </a:p>
        </p:txBody>
      </p:sp>
      <p:pic>
        <p:nvPicPr>
          <p:cNvPr id="564" name="Google Shape;564;p41"/>
          <p:cNvPicPr preferRelativeResize="0"/>
          <p:nvPr/>
        </p:nvPicPr>
        <p:blipFill rotWithShape="1">
          <a:blip r:embed="rId3">
            <a:alphaModFix/>
          </a:blip>
          <a:srcRect b="0" l="0" r="0" t="0"/>
          <a:stretch/>
        </p:blipFill>
        <p:spPr>
          <a:xfrm>
            <a:off x="7281978" y="1238250"/>
            <a:ext cx="3628795" cy="4143375"/>
          </a:xfrm>
          <a:prstGeom prst="rect">
            <a:avLst/>
          </a:prstGeom>
          <a:noFill/>
          <a:ln>
            <a:noFill/>
          </a:ln>
        </p:spPr>
      </p:pic>
      <p:sp>
        <p:nvSpPr>
          <p:cNvPr id="565" name="Google Shape;565;p41"/>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Okanoya &amp; Yamaguchi (1997), Fig. 3. Note types and similarity after surgery.</a:t>
            </a:r>
            <a:endParaRPr sz="1800">
              <a:solidFill>
                <a:schemeClr val="dk1"/>
              </a:solidFill>
              <a:latin typeface="Calibri"/>
              <a:ea typeface="Calibri"/>
              <a:cs typeface="Calibri"/>
              <a:sym typeface="Calibri"/>
            </a:endParaRPr>
          </a:p>
        </p:txBody>
      </p:sp>
      <p:sp>
        <p:nvSpPr>
          <p:cNvPr id="566" name="Google Shape;566;p41"/>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Okanoya &amp; Yamaguchi (1997)</a:t>
            </a:r>
            <a:endParaRPr sz="1800">
              <a:solidFill>
                <a:schemeClr val="dk1"/>
              </a:solidFill>
              <a:latin typeface="Calibri"/>
              <a:ea typeface="Calibri"/>
              <a:cs typeface="Calibri"/>
              <a:sym typeface="Calibri"/>
            </a:endParaRPr>
          </a:p>
        </p:txBody>
      </p:sp>
      <p:sp>
        <p:nvSpPr>
          <p:cNvPr id="567" name="Google Shape;567;p41"/>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41</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1" name="Shape 571"/>
        <p:cNvGrpSpPr/>
        <p:nvPr/>
      </p:nvGrpSpPr>
      <p:grpSpPr>
        <a:xfrm>
          <a:off x="0" y="0"/>
          <a:ext cx="0" cy="0"/>
          <a:chOff x="0" y="0"/>
          <a:chExt cx="0" cy="0"/>
        </a:xfrm>
      </p:grpSpPr>
      <p:sp>
        <p:nvSpPr>
          <p:cNvPr id="572" name="Google Shape;572;p42"/>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Sequence organization deteriorates after feedback loss</a:t>
            </a:r>
            <a:endParaRPr sz="1800">
              <a:solidFill>
                <a:schemeClr val="dk1"/>
              </a:solidFill>
              <a:latin typeface="Calibri"/>
              <a:ea typeface="Calibri"/>
              <a:cs typeface="Calibri"/>
              <a:sym typeface="Calibri"/>
            </a:endParaRPr>
          </a:p>
        </p:txBody>
      </p:sp>
      <p:sp>
        <p:nvSpPr>
          <p:cNvPr id="573" name="Google Shape;573;p42"/>
          <p:cNvSpPr/>
          <p:nvPr/>
        </p:nvSpPr>
        <p:spPr>
          <a:xfrm>
            <a:off x="571500" y="123825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Okanoya and Yamaguchi followed transitions between recognizable song notes before and after deafening. They assessed whether a note was followed by the same alternatives with similar consistency across recordings.</a:t>
            </a:r>
            <a:endParaRPr sz="1800">
              <a:solidFill>
                <a:schemeClr val="dk1"/>
              </a:solidFill>
              <a:latin typeface="Calibri"/>
              <a:ea typeface="Calibri"/>
              <a:cs typeface="Calibri"/>
              <a:sym typeface="Calibri"/>
            </a:endParaRPr>
          </a:p>
        </p:txBody>
      </p:sp>
      <p:sp>
        <p:nvSpPr>
          <p:cNvPr id="574" name="Google Shape;574;p42"/>
          <p:cNvSpPr/>
          <p:nvPr/>
        </p:nvSpPr>
        <p:spPr>
          <a:xfrm>
            <a:off x="571500" y="247650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Sequence organization became abnormal in deafened birds, while hearing controls retained more stable patterns. </a:t>
            </a:r>
            <a:r>
              <a:rPr b="1" i="0" lang="en-US" sz="1575">
                <a:solidFill>
                  <a:srgbClr val="29272C"/>
                </a:solidFill>
                <a:latin typeface="Arial"/>
                <a:ea typeface="Arial"/>
                <a:cs typeface="Arial"/>
                <a:sym typeface="Arial"/>
              </a:rPr>
              <a:t>Song syntax</a:t>
            </a:r>
            <a:r>
              <a:rPr b="0" i="0" lang="en-US" sz="1575">
                <a:solidFill>
                  <a:srgbClr val="29272C"/>
                </a:solidFill>
                <a:latin typeface="Arial"/>
                <a:ea typeface="Arial"/>
                <a:cs typeface="Arial"/>
                <a:sym typeface="Arial"/>
              </a:rPr>
              <a:t> here means the ordering of vocal units, rather than the semantic grammar of human language.</a:t>
            </a:r>
            <a:endParaRPr sz="1800">
              <a:solidFill>
                <a:schemeClr val="dk1"/>
              </a:solidFill>
              <a:latin typeface="Calibri"/>
              <a:ea typeface="Calibri"/>
              <a:cs typeface="Calibri"/>
              <a:sym typeface="Calibri"/>
            </a:endParaRPr>
          </a:p>
        </p:txBody>
      </p:sp>
      <p:sp>
        <p:nvSpPr>
          <p:cNvPr id="575" name="Google Shape;575;p42"/>
          <p:cNvSpPr/>
          <p:nvPr/>
        </p:nvSpPr>
        <p:spPr>
          <a:xfrm>
            <a:off x="571500" y="39814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comparison establishes a role for auditory feedback in maintaining adult sequence organization. It does not identify a particular comparator neuron or prove that every transition requires an instantaneous conscious response to hearing the preceding note.</a:t>
            </a:r>
            <a:endParaRPr sz="1800">
              <a:solidFill>
                <a:schemeClr val="dk1"/>
              </a:solidFill>
              <a:latin typeface="Calibri"/>
              <a:ea typeface="Calibri"/>
              <a:cs typeface="Calibri"/>
              <a:sym typeface="Calibri"/>
            </a:endParaRPr>
          </a:p>
        </p:txBody>
      </p:sp>
      <p:sp>
        <p:nvSpPr>
          <p:cNvPr id="576" name="Google Shape;576;p42"/>
          <p:cNvSpPr/>
          <p:nvPr/>
        </p:nvSpPr>
        <p:spPr>
          <a:xfrm>
            <a:off x="571500" y="54864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preoperative pattern supplies a personal reference for sequence change. The relevant comparison is not whether every rendition was identical, but whether its existing organization remained stable over time.</a:t>
            </a:r>
            <a:endParaRPr sz="1800">
              <a:solidFill>
                <a:schemeClr val="dk1"/>
              </a:solidFill>
              <a:latin typeface="Calibri"/>
              <a:ea typeface="Calibri"/>
              <a:cs typeface="Calibri"/>
              <a:sym typeface="Calibri"/>
            </a:endParaRPr>
          </a:p>
        </p:txBody>
      </p:sp>
      <p:pic>
        <p:nvPicPr>
          <p:cNvPr id="577" name="Google Shape;577;p42"/>
          <p:cNvPicPr preferRelativeResize="0"/>
          <p:nvPr/>
        </p:nvPicPr>
        <p:blipFill rotWithShape="1">
          <a:blip r:embed="rId3">
            <a:alphaModFix/>
          </a:blip>
          <a:srcRect b="0" l="0" r="0" t="0"/>
          <a:stretch/>
        </p:blipFill>
        <p:spPr>
          <a:xfrm>
            <a:off x="7351796" y="1238250"/>
            <a:ext cx="3489158" cy="4143375"/>
          </a:xfrm>
          <a:prstGeom prst="rect">
            <a:avLst/>
          </a:prstGeom>
          <a:noFill/>
          <a:ln>
            <a:noFill/>
          </a:ln>
        </p:spPr>
      </p:pic>
      <p:sp>
        <p:nvSpPr>
          <p:cNvPr id="578" name="Google Shape;578;p42"/>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Okanoya &amp; Yamaguchi (1997), Fig. 4. Sequence variation and consistency after surgery.</a:t>
            </a:r>
            <a:endParaRPr sz="1800">
              <a:solidFill>
                <a:schemeClr val="dk1"/>
              </a:solidFill>
              <a:latin typeface="Calibri"/>
              <a:ea typeface="Calibri"/>
              <a:cs typeface="Calibri"/>
              <a:sym typeface="Calibri"/>
            </a:endParaRPr>
          </a:p>
        </p:txBody>
      </p:sp>
      <p:sp>
        <p:nvSpPr>
          <p:cNvPr id="579" name="Google Shape;579;p42"/>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Okanoya &amp; Yamaguchi (1997)</a:t>
            </a:r>
            <a:endParaRPr sz="1800">
              <a:solidFill>
                <a:schemeClr val="dk1"/>
              </a:solidFill>
              <a:latin typeface="Calibri"/>
              <a:ea typeface="Calibri"/>
              <a:cs typeface="Calibri"/>
              <a:sym typeface="Calibri"/>
            </a:endParaRPr>
          </a:p>
        </p:txBody>
      </p:sp>
      <p:sp>
        <p:nvSpPr>
          <p:cNvPr id="580" name="Google Shape;580;p42"/>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42</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4" name="Shape 584"/>
        <p:cNvGrpSpPr/>
        <p:nvPr/>
      </p:nvGrpSpPr>
      <p:grpSpPr>
        <a:xfrm>
          <a:off x="0" y="0"/>
          <a:ext cx="0" cy="0"/>
          <a:chOff x="0" y="0"/>
          <a:chExt cx="0" cy="0"/>
        </a:xfrm>
      </p:grpSpPr>
      <p:sp>
        <p:nvSpPr>
          <p:cNvPr id="585" name="Google Shape;585;p43"/>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Stuttering can preserve notes while changing repetition</a:t>
            </a:r>
            <a:endParaRPr sz="1800">
              <a:solidFill>
                <a:schemeClr val="dk1"/>
              </a:solidFill>
              <a:latin typeface="Calibri"/>
              <a:ea typeface="Calibri"/>
              <a:cs typeface="Calibri"/>
              <a:sym typeface="Calibri"/>
            </a:endParaRPr>
          </a:p>
        </p:txBody>
      </p:sp>
      <p:sp>
        <p:nvSpPr>
          <p:cNvPr id="586" name="Google Shape;586;p43"/>
          <p:cNvSpPr/>
          <p:nvPr/>
        </p:nvSpPr>
        <p:spPr>
          <a:xfrm>
            <a:off x="571500" y="123825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Some deafened Bengalese finches repeated particular notes excessively. Okanoya and Yamaguchi illustrated this </a:t>
            </a:r>
            <a:r>
              <a:rPr b="1" i="0" lang="en-US" sz="1575">
                <a:solidFill>
                  <a:srgbClr val="29272C"/>
                </a:solidFill>
                <a:latin typeface="Arial"/>
                <a:ea typeface="Arial"/>
                <a:cs typeface="Arial"/>
                <a:sym typeface="Arial"/>
              </a:rPr>
              <a:t>stuttering</a:t>
            </a:r>
            <a:r>
              <a:rPr b="0" i="0" lang="en-US" sz="1575">
                <a:solidFill>
                  <a:srgbClr val="29272C"/>
                </a:solidFill>
                <a:latin typeface="Arial"/>
                <a:ea typeface="Arial"/>
                <a:cs typeface="Arial"/>
                <a:sym typeface="Arial"/>
              </a:rPr>
              <a:t> with spectrograms and the corresponding changes in note-transition patterns.</a:t>
            </a:r>
            <a:endParaRPr sz="1800">
              <a:solidFill>
                <a:schemeClr val="dk1"/>
              </a:solidFill>
              <a:latin typeface="Calibri"/>
              <a:ea typeface="Calibri"/>
              <a:cs typeface="Calibri"/>
              <a:sym typeface="Calibri"/>
            </a:endParaRPr>
          </a:p>
        </p:txBody>
      </p:sp>
      <p:sp>
        <p:nvSpPr>
          <p:cNvPr id="587" name="Google Shape;587;p43"/>
          <p:cNvSpPr/>
          <p:nvPr/>
        </p:nvSpPr>
        <p:spPr>
          <a:xfrm>
            <a:off x="571500" y="247650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acoustic identity of a repeated note could remain recognizable even when its repetition became abnormal. Loss of hearing therefore affected the organization of an existing unit, rather than necessarily replacing every sound with a novel one.</a:t>
            </a:r>
            <a:endParaRPr sz="1800">
              <a:solidFill>
                <a:schemeClr val="dk1"/>
              </a:solidFill>
              <a:latin typeface="Calibri"/>
              <a:ea typeface="Calibri"/>
              <a:cs typeface="Calibri"/>
              <a:sym typeface="Calibri"/>
            </a:endParaRPr>
          </a:p>
        </p:txBody>
      </p:sp>
      <p:sp>
        <p:nvSpPr>
          <p:cNvPr id="588" name="Google Shape;588;p43"/>
          <p:cNvSpPr/>
          <p:nvPr/>
        </p:nvSpPr>
        <p:spPr>
          <a:xfrm>
            <a:off x="571500" y="3981450"/>
            <a:ext cx="5400675"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This case separates the integrity of individual notes from control of their sequencing. It also prevents treating all post-deafening changes as one uniform loss of acoustic quality; different aspects of song can deteriorate in different ways.</a:t>
            </a:r>
            <a:endParaRPr sz="1800">
              <a:solidFill>
                <a:schemeClr val="dk1"/>
              </a:solidFill>
              <a:latin typeface="Calibri"/>
              <a:ea typeface="Calibri"/>
              <a:cs typeface="Calibri"/>
              <a:sym typeface="Calibri"/>
            </a:endParaRPr>
          </a:p>
        </p:txBody>
      </p:sp>
      <p:sp>
        <p:nvSpPr>
          <p:cNvPr id="589" name="Google Shape;589;p43"/>
          <p:cNvSpPr/>
          <p:nvPr/>
        </p:nvSpPr>
        <p:spPr>
          <a:xfrm>
            <a:off x="571500" y="54864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575">
                <a:solidFill>
                  <a:srgbClr val="29272C"/>
                </a:solidFill>
                <a:latin typeface="Arial"/>
                <a:ea typeface="Arial"/>
                <a:cs typeface="Arial"/>
                <a:sym typeface="Arial"/>
              </a:rPr>
              <a:t>The repeated note occupies a changed sequence context. Recognizing its acoustic identity makes the excess repetition measurable even when the bird retains the capacity to produce that sound.</a:t>
            </a:r>
            <a:endParaRPr sz="1800">
              <a:solidFill>
                <a:schemeClr val="dk1"/>
              </a:solidFill>
              <a:latin typeface="Calibri"/>
              <a:ea typeface="Calibri"/>
              <a:cs typeface="Calibri"/>
              <a:sym typeface="Calibri"/>
            </a:endParaRPr>
          </a:p>
        </p:txBody>
      </p:sp>
      <p:pic>
        <p:nvPicPr>
          <p:cNvPr id="590" name="Google Shape;590;p43"/>
          <p:cNvPicPr preferRelativeResize="0"/>
          <p:nvPr/>
        </p:nvPicPr>
        <p:blipFill rotWithShape="1">
          <a:blip r:embed="rId3">
            <a:alphaModFix/>
          </a:blip>
          <a:srcRect b="0" l="0" r="0" t="0"/>
          <a:stretch/>
        </p:blipFill>
        <p:spPr>
          <a:xfrm>
            <a:off x="7185957" y="1238250"/>
            <a:ext cx="3820837" cy="4143375"/>
          </a:xfrm>
          <a:prstGeom prst="rect">
            <a:avLst/>
          </a:prstGeom>
          <a:noFill/>
          <a:ln>
            <a:noFill/>
          </a:ln>
        </p:spPr>
      </p:pic>
      <p:sp>
        <p:nvSpPr>
          <p:cNvPr id="591" name="Google Shape;591;p43"/>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Okanoya &amp; Yamaguchi (1997), Fig. 5. Post-deafening stuttering.</a:t>
            </a:r>
            <a:endParaRPr sz="1800">
              <a:solidFill>
                <a:schemeClr val="dk1"/>
              </a:solidFill>
              <a:latin typeface="Calibri"/>
              <a:ea typeface="Calibri"/>
              <a:cs typeface="Calibri"/>
              <a:sym typeface="Calibri"/>
            </a:endParaRPr>
          </a:p>
        </p:txBody>
      </p:sp>
      <p:sp>
        <p:nvSpPr>
          <p:cNvPr id="592" name="Google Shape;592;p43"/>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Okanoya &amp; Yamaguchi (1997)</a:t>
            </a:r>
            <a:endParaRPr sz="1800">
              <a:solidFill>
                <a:schemeClr val="dk1"/>
              </a:solidFill>
              <a:latin typeface="Calibri"/>
              <a:ea typeface="Calibri"/>
              <a:cs typeface="Calibri"/>
              <a:sym typeface="Calibri"/>
            </a:endParaRPr>
          </a:p>
        </p:txBody>
      </p:sp>
      <p:sp>
        <p:nvSpPr>
          <p:cNvPr id="593" name="Google Shape;593;p43"/>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43</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7" name="Shape 597"/>
        <p:cNvGrpSpPr/>
        <p:nvPr/>
      </p:nvGrpSpPr>
      <p:grpSpPr>
        <a:xfrm>
          <a:off x="0" y="0"/>
          <a:ext cx="0" cy="0"/>
          <a:chOff x="0" y="0"/>
          <a:chExt cx="0" cy="0"/>
        </a:xfrm>
      </p:grpSpPr>
      <p:sp>
        <p:nvSpPr>
          <p:cNvPr id="598" name="Google Shape;598;p44"/>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Scrambling changes relations among retained song units</a:t>
            </a:r>
            <a:endParaRPr sz="1800">
              <a:solidFill>
                <a:schemeClr val="dk1"/>
              </a:solidFill>
              <a:latin typeface="Calibri"/>
              <a:ea typeface="Calibri"/>
              <a:cs typeface="Calibri"/>
              <a:sym typeface="Calibri"/>
            </a:endParaRPr>
          </a:p>
        </p:txBody>
      </p:sp>
      <p:sp>
        <p:nvSpPr>
          <p:cNvPr id="599" name="Google Shape;599;p44"/>
          <p:cNvSpPr/>
          <p:nvPr/>
        </p:nvSpPr>
        <p:spPr>
          <a:xfrm>
            <a:off x="571500" y="123825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375">
                <a:solidFill>
                  <a:srgbClr val="29272C"/>
                </a:solidFill>
                <a:latin typeface="Arial"/>
                <a:ea typeface="Arial"/>
                <a:cs typeface="Arial"/>
                <a:sym typeface="Arial"/>
              </a:rPr>
              <a:t>Other deafened Bengalese finches developed </a:t>
            </a:r>
            <a:r>
              <a:rPr b="1" i="0" lang="en-US" sz="1375">
                <a:solidFill>
                  <a:srgbClr val="29272C"/>
                </a:solidFill>
                <a:latin typeface="Arial"/>
                <a:ea typeface="Arial"/>
                <a:cs typeface="Arial"/>
                <a:sym typeface="Arial"/>
              </a:rPr>
              <a:t>scrambled</a:t>
            </a:r>
            <a:r>
              <a:rPr b="0" i="0" lang="en-US" sz="1375">
                <a:solidFill>
                  <a:srgbClr val="29272C"/>
                </a:solidFill>
                <a:latin typeface="Arial"/>
                <a:ea typeface="Arial"/>
                <a:cs typeface="Arial"/>
                <a:sym typeface="Arial"/>
              </a:rPr>
              <a:t> song, with altered transitions among recognizable notes. Okanoya and Yamaguchi tracked these changes relative to the same individual's preoperative sequence.</a:t>
            </a:r>
            <a:endParaRPr sz="1600">
              <a:solidFill>
                <a:schemeClr val="dk1"/>
              </a:solidFill>
              <a:latin typeface="Calibri"/>
              <a:ea typeface="Calibri"/>
              <a:cs typeface="Calibri"/>
              <a:sym typeface="Calibri"/>
            </a:endParaRPr>
          </a:p>
        </p:txBody>
      </p:sp>
      <p:sp>
        <p:nvSpPr>
          <p:cNvPr id="600" name="Google Shape;600;p44"/>
          <p:cNvSpPr/>
          <p:nvPr/>
        </p:nvSpPr>
        <p:spPr>
          <a:xfrm>
            <a:off x="571500" y="2476500"/>
            <a:ext cx="5400675"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375">
                <a:solidFill>
                  <a:srgbClr val="29272C"/>
                </a:solidFill>
                <a:latin typeface="Arial"/>
                <a:ea typeface="Arial"/>
                <a:cs typeface="Arial"/>
                <a:sym typeface="Arial"/>
              </a:rPr>
              <a:t>The resulting organization differed from simple repetition of one note. Some expected units could be omitted, while new relationships among surviving units appeared as the song deteriorated.</a:t>
            </a:r>
            <a:endParaRPr sz="1600">
              <a:solidFill>
                <a:schemeClr val="dk1"/>
              </a:solidFill>
              <a:latin typeface="Calibri"/>
              <a:ea typeface="Calibri"/>
              <a:cs typeface="Calibri"/>
              <a:sym typeface="Calibri"/>
            </a:endParaRPr>
          </a:p>
        </p:txBody>
      </p:sp>
      <p:sp>
        <p:nvSpPr>
          <p:cNvPr id="601" name="Google Shape;601;p44"/>
          <p:cNvSpPr/>
          <p:nvPr/>
        </p:nvSpPr>
        <p:spPr>
          <a:xfrm>
            <a:off x="571500" y="3516828"/>
            <a:ext cx="5400600" cy="16002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375">
                <a:solidFill>
                  <a:srgbClr val="29272C"/>
                </a:solidFill>
                <a:latin typeface="Arial"/>
                <a:ea typeface="Arial"/>
                <a:cs typeface="Arial"/>
                <a:sym typeface="Arial"/>
              </a:rPr>
              <a:t>These longitudinal examples support individual variation in the consequences of feedback loss. A group tendency does not require identical deterioration in every bird, and a single characteristic example cannot establish that all species or all adults respond to deafening in the same way.</a:t>
            </a:r>
            <a:endParaRPr sz="1600">
              <a:solidFill>
                <a:schemeClr val="dk1"/>
              </a:solidFill>
              <a:latin typeface="Calibri"/>
              <a:ea typeface="Calibri"/>
              <a:cs typeface="Calibri"/>
              <a:sym typeface="Calibri"/>
            </a:endParaRPr>
          </a:p>
        </p:txBody>
      </p:sp>
      <p:sp>
        <p:nvSpPr>
          <p:cNvPr id="602" name="Google Shape;602;p44"/>
          <p:cNvSpPr/>
          <p:nvPr/>
        </p:nvSpPr>
        <p:spPr>
          <a:xfrm>
            <a:off x="571500" y="5065816"/>
            <a:ext cx="5400600" cy="10668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375">
                <a:solidFill>
                  <a:srgbClr val="29272C"/>
                </a:solidFill>
                <a:latin typeface="Arial"/>
                <a:ea typeface="Arial"/>
                <a:cs typeface="Arial"/>
                <a:sym typeface="Arial"/>
              </a:rPr>
              <a:t>The study’s spectrograms retain the original note labels across recordings. Those labels allow omissions and altered transitions to be distinguished from wholesale replacement of the acoustic repertoire.</a:t>
            </a:r>
            <a:endParaRPr sz="1600">
              <a:solidFill>
                <a:schemeClr val="dk1"/>
              </a:solidFill>
              <a:latin typeface="Calibri"/>
              <a:ea typeface="Calibri"/>
              <a:cs typeface="Calibri"/>
              <a:sym typeface="Calibri"/>
            </a:endParaRPr>
          </a:p>
        </p:txBody>
      </p:sp>
      <p:pic>
        <p:nvPicPr>
          <p:cNvPr id="603" name="Google Shape;603;p44"/>
          <p:cNvPicPr preferRelativeResize="0"/>
          <p:nvPr/>
        </p:nvPicPr>
        <p:blipFill rotWithShape="1">
          <a:blip r:embed="rId3">
            <a:alphaModFix/>
          </a:blip>
          <a:srcRect b="0" l="0" r="0" t="0"/>
          <a:stretch/>
        </p:blipFill>
        <p:spPr>
          <a:xfrm>
            <a:off x="7150291" y="1238250"/>
            <a:ext cx="3892167" cy="4143375"/>
          </a:xfrm>
          <a:prstGeom prst="rect">
            <a:avLst/>
          </a:prstGeom>
          <a:noFill/>
          <a:ln>
            <a:noFill/>
          </a:ln>
        </p:spPr>
      </p:pic>
      <p:sp>
        <p:nvSpPr>
          <p:cNvPr id="604" name="Google Shape;604;p44"/>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Okanoya &amp; Yamaguchi (1997), Fig. 6. Post-deafening scrambling.</a:t>
            </a:r>
            <a:endParaRPr sz="1800">
              <a:solidFill>
                <a:schemeClr val="dk1"/>
              </a:solidFill>
              <a:latin typeface="Calibri"/>
              <a:ea typeface="Calibri"/>
              <a:cs typeface="Calibri"/>
              <a:sym typeface="Calibri"/>
            </a:endParaRPr>
          </a:p>
        </p:txBody>
      </p:sp>
      <p:sp>
        <p:nvSpPr>
          <p:cNvPr id="605" name="Google Shape;605;p44"/>
          <p:cNvSpPr/>
          <p:nvPr/>
        </p:nvSpPr>
        <p:spPr>
          <a:xfrm>
            <a:off x="571500" y="6419850"/>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1050">
                <a:solidFill>
                  <a:srgbClr val="70646A"/>
                </a:solidFill>
                <a:latin typeface="Arial"/>
                <a:ea typeface="Arial"/>
                <a:cs typeface="Arial"/>
                <a:sym typeface="Arial"/>
              </a:rPr>
              <a:t>Okanoya &amp; Yamaguchi (1997)</a:t>
            </a:r>
            <a:endParaRPr sz="1800">
              <a:solidFill>
                <a:schemeClr val="dk1"/>
              </a:solidFill>
              <a:latin typeface="Calibri"/>
              <a:ea typeface="Calibri"/>
              <a:cs typeface="Calibri"/>
              <a:sym typeface="Calibri"/>
            </a:endParaRPr>
          </a:p>
        </p:txBody>
      </p:sp>
      <p:sp>
        <p:nvSpPr>
          <p:cNvPr id="606" name="Google Shape;606;p44"/>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44</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0" name="Shape 610"/>
        <p:cNvGrpSpPr/>
        <p:nvPr/>
      </p:nvGrpSpPr>
      <p:grpSpPr>
        <a:xfrm>
          <a:off x="0" y="0"/>
          <a:ext cx="0" cy="0"/>
          <a:chOff x="0" y="0"/>
          <a:chExt cx="0" cy="0"/>
        </a:xfrm>
      </p:grpSpPr>
      <p:sp>
        <p:nvSpPr>
          <p:cNvPr id="611" name="Google Shape;611;p45"/>
          <p:cNvSpPr/>
          <p:nvPr/>
        </p:nvSpPr>
        <p:spPr>
          <a:xfrm>
            <a:off x="571500" y="32385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58434B"/>
              </a:buClr>
              <a:buSzPts val="2250"/>
              <a:buFont typeface="Arial"/>
              <a:buNone/>
            </a:pPr>
            <a:r>
              <a:rPr b="1" i="0" lang="en-US" sz="2250">
                <a:solidFill>
                  <a:srgbClr val="58434B"/>
                </a:solidFill>
                <a:latin typeface="Arial"/>
                <a:ea typeface="Arial"/>
                <a:cs typeface="Arial"/>
                <a:sym typeface="Arial"/>
              </a:rPr>
              <a:t>A learned repertoire can remain dependent on hearing</a:t>
            </a:r>
            <a:endParaRPr sz="1800">
              <a:solidFill>
                <a:schemeClr val="dk1"/>
              </a:solidFill>
              <a:latin typeface="Calibri"/>
              <a:ea typeface="Calibri"/>
              <a:cs typeface="Calibri"/>
              <a:sym typeface="Calibri"/>
            </a:endParaRPr>
          </a:p>
        </p:txBody>
      </p:sp>
      <p:sp>
        <p:nvSpPr>
          <p:cNvPr id="612" name="Google Shape;612;p45"/>
          <p:cNvSpPr/>
          <p:nvPr/>
        </p:nvSpPr>
        <p:spPr>
          <a:xfrm>
            <a:off x="571500" y="1000125"/>
            <a:ext cx="5400600"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275">
                <a:solidFill>
                  <a:srgbClr val="29272C"/>
                </a:solidFill>
                <a:latin typeface="Arial"/>
                <a:ea typeface="Arial"/>
                <a:cs typeface="Arial"/>
                <a:sym typeface="Arial"/>
              </a:rPr>
              <a:t>The Bengalese finch experiments separate acquisition of song from maintenance of adult performance. Removing auditory feedback after learning disrupted sequence organization despite the persistence of recognizable vocal material.</a:t>
            </a:r>
            <a:endParaRPr sz="1500">
              <a:solidFill>
                <a:schemeClr val="dk1"/>
              </a:solidFill>
              <a:latin typeface="Calibri"/>
              <a:ea typeface="Calibri"/>
              <a:cs typeface="Calibri"/>
              <a:sym typeface="Calibri"/>
            </a:endParaRPr>
          </a:p>
        </p:txBody>
      </p:sp>
      <p:sp>
        <p:nvSpPr>
          <p:cNvPr id="613" name="Google Shape;613;p45"/>
          <p:cNvSpPr/>
          <p:nvPr/>
        </p:nvSpPr>
        <p:spPr>
          <a:xfrm>
            <a:off x="571500" y="2268313"/>
            <a:ext cx="5400600" cy="16002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275">
                <a:solidFill>
                  <a:srgbClr val="29272C"/>
                </a:solidFill>
                <a:latin typeface="Arial"/>
                <a:ea typeface="Arial"/>
                <a:cs typeface="Arial"/>
                <a:sym typeface="Arial"/>
              </a:rPr>
              <a:t>Marler's early tutoring and memory experiments establish retained acoustic information; the adult deafening experiment establishes that stabilized production can still require sensory support. These are complementary requirements rather than interchangeable measurements.</a:t>
            </a:r>
            <a:endParaRPr sz="1500">
              <a:solidFill>
                <a:schemeClr val="dk1"/>
              </a:solidFill>
              <a:latin typeface="Calibri"/>
              <a:ea typeface="Calibri"/>
              <a:cs typeface="Calibri"/>
              <a:sym typeface="Calibri"/>
            </a:endParaRPr>
          </a:p>
        </p:txBody>
      </p:sp>
      <p:sp>
        <p:nvSpPr>
          <p:cNvPr id="614" name="Google Shape;614;p45"/>
          <p:cNvSpPr/>
          <p:nvPr/>
        </p:nvSpPr>
        <p:spPr>
          <a:xfrm>
            <a:off x="571500" y="3426275"/>
            <a:ext cx="5400600" cy="16002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275">
                <a:solidFill>
                  <a:srgbClr val="29272C"/>
                </a:solidFill>
                <a:latin typeface="Arial"/>
                <a:ea typeface="Arial"/>
                <a:cs typeface="Arial"/>
                <a:sym typeface="Arial"/>
              </a:rPr>
              <a:t>The template model remains a functional account of stored targets and feedback-guided adjustment. The supplied studies establish several necessary relationships, while leaving the precise storage site and the mechanism converting mismatch into corrective neural change unresolved.</a:t>
            </a:r>
            <a:endParaRPr sz="1500">
              <a:solidFill>
                <a:schemeClr val="dk1"/>
              </a:solidFill>
              <a:latin typeface="Calibri"/>
              <a:ea typeface="Calibri"/>
              <a:cs typeface="Calibri"/>
              <a:sym typeface="Calibri"/>
            </a:endParaRPr>
          </a:p>
        </p:txBody>
      </p:sp>
      <p:sp>
        <p:nvSpPr>
          <p:cNvPr id="615" name="Google Shape;615;p45"/>
          <p:cNvSpPr/>
          <p:nvPr/>
        </p:nvSpPr>
        <p:spPr>
          <a:xfrm>
            <a:off x="571500" y="4619621"/>
            <a:ext cx="5400600" cy="1333500"/>
          </a:xfrm>
          <a:prstGeom prst="rect">
            <a:avLst/>
          </a:prstGeom>
          <a:noFill/>
          <a:ln>
            <a:noFill/>
          </a:ln>
        </p:spPr>
        <p:txBody>
          <a:bodyPr anchorCtr="0" anchor="t" bIns="0" lIns="0" spcFirstLastPara="1" rIns="0" wrap="square" tIns="0">
            <a:normAutofit/>
          </a:bodyPr>
          <a:lstStyle/>
          <a:p>
            <a:pPr indent="0" lvl="0" marL="0" marR="0" rtl="0" algn="l">
              <a:lnSpc>
                <a:spcPct val="133333"/>
              </a:lnSpc>
              <a:spcBef>
                <a:spcPts val="0"/>
              </a:spcBef>
              <a:spcAft>
                <a:spcPts val="0"/>
              </a:spcAft>
              <a:buClr>
                <a:srgbClr val="29272C"/>
              </a:buClr>
              <a:buSzPts val="1575"/>
              <a:buFont typeface="Arial"/>
              <a:buNone/>
            </a:pPr>
            <a:r>
              <a:rPr b="0" i="0" lang="en-US" sz="1375">
                <a:solidFill>
                  <a:srgbClr val="29272C"/>
                </a:solidFill>
                <a:latin typeface="Arial"/>
                <a:ea typeface="Arial"/>
                <a:cs typeface="Arial"/>
                <a:sym typeface="Arial"/>
              </a:rPr>
              <a:t>A sensory requirement for maintenance can persist beyond the interval for acquiring new song models. Stable adult performance therefore does not prove that the underlying motor control has become impervious to experience.</a:t>
            </a:r>
            <a:endParaRPr sz="1600">
              <a:solidFill>
                <a:schemeClr val="dk1"/>
              </a:solidFill>
              <a:latin typeface="Calibri"/>
              <a:ea typeface="Calibri"/>
              <a:cs typeface="Calibri"/>
              <a:sym typeface="Calibri"/>
            </a:endParaRPr>
          </a:p>
        </p:txBody>
      </p:sp>
      <p:pic>
        <p:nvPicPr>
          <p:cNvPr id="616" name="Google Shape;616;p45"/>
          <p:cNvPicPr preferRelativeResize="0"/>
          <p:nvPr/>
        </p:nvPicPr>
        <p:blipFill rotWithShape="1">
          <a:blip r:embed="rId3">
            <a:alphaModFix/>
          </a:blip>
          <a:srcRect b="0" l="0" r="0" t="0"/>
          <a:stretch/>
        </p:blipFill>
        <p:spPr>
          <a:xfrm>
            <a:off x="7351796" y="1238250"/>
            <a:ext cx="3489158" cy="4143375"/>
          </a:xfrm>
          <a:prstGeom prst="rect">
            <a:avLst/>
          </a:prstGeom>
          <a:noFill/>
          <a:ln>
            <a:noFill/>
          </a:ln>
        </p:spPr>
      </p:pic>
      <p:sp>
        <p:nvSpPr>
          <p:cNvPr id="617" name="Google Shape;617;p45"/>
          <p:cNvSpPr/>
          <p:nvPr/>
        </p:nvSpPr>
        <p:spPr>
          <a:xfrm>
            <a:off x="6572250" y="5457825"/>
            <a:ext cx="506730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70646A"/>
              </a:buClr>
              <a:buSzPts val="975"/>
              <a:buFont typeface="Arial"/>
              <a:buNone/>
            </a:pPr>
            <a:r>
              <a:rPr b="0" i="0" lang="en-US" sz="975">
                <a:solidFill>
                  <a:srgbClr val="70646A"/>
                </a:solidFill>
                <a:latin typeface="Arial"/>
                <a:ea typeface="Arial"/>
                <a:cs typeface="Arial"/>
                <a:sym typeface="Arial"/>
              </a:rPr>
              <a:t>Okanoya &amp; Yamaguchi (1997), Fig. 4. Sequence variation and consistency after surgery.</a:t>
            </a:r>
            <a:endParaRPr sz="1800">
              <a:solidFill>
                <a:schemeClr val="dk1"/>
              </a:solidFill>
              <a:latin typeface="Calibri"/>
              <a:ea typeface="Calibri"/>
              <a:cs typeface="Calibri"/>
              <a:sym typeface="Calibri"/>
            </a:endParaRPr>
          </a:p>
        </p:txBody>
      </p:sp>
      <p:sp>
        <p:nvSpPr>
          <p:cNvPr id="618" name="Google Shape;618;p45"/>
          <p:cNvSpPr/>
          <p:nvPr/>
        </p:nvSpPr>
        <p:spPr>
          <a:xfrm>
            <a:off x="571500" y="6419809"/>
            <a:ext cx="10496700" cy="2001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70646A"/>
              </a:buClr>
              <a:buSzPts val="1050"/>
              <a:buFont typeface="Arial"/>
              <a:buNone/>
            </a:pPr>
            <a:r>
              <a:rPr b="0" i="0" lang="en-US" sz="850">
                <a:solidFill>
                  <a:srgbClr val="70646A"/>
                </a:solidFill>
                <a:latin typeface="Arial"/>
                <a:ea typeface="Arial"/>
                <a:cs typeface="Arial"/>
                <a:sym typeface="Arial"/>
              </a:rPr>
              <a:t>Okanoya &amp; Yamaguchi (1997); Brainard &amp; Doupe (2000)</a:t>
            </a:r>
            <a:endParaRPr sz="1600">
              <a:solidFill>
                <a:schemeClr val="dk1"/>
              </a:solidFill>
              <a:latin typeface="Calibri"/>
              <a:ea typeface="Calibri"/>
              <a:cs typeface="Calibri"/>
              <a:sym typeface="Calibri"/>
            </a:endParaRPr>
          </a:p>
        </p:txBody>
      </p:sp>
      <p:sp>
        <p:nvSpPr>
          <p:cNvPr id="619" name="Google Shape;619;p45"/>
          <p:cNvSpPr/>
          <p:nvPr/>
        </p:nvSpPr>
        <p:spPr>
          <a:xfrm>
            <a:off x="11467802" y="6419850"/>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45</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3" name="Shape 623"/>
        <p:cNvGrpSpPr/>
        <p:nvPr/>
      </p:nvGrpSpPr>
      <p:grpSpPr>
        <a:xfrm>
          <a:off x="0" y="0"/>
          <a:ext cx="0" cy="0"/>
          <a:chOff x="0" y="0"/>
          <a:chExt cx="0" cy="0"/>
        </a:xfrm>
      </p:grpSpPr>
      <p:sp>
        <p:nvSpPr>
          <p:cNvPr id="624" name="Google Shape;624;p46"/>
          <p:cNvSpPr/>
          <p:nvPr/>
        </p:nvSpPr>
        <p:spPr>
          <a:xfrm>
            <a:off x="571500" y="323850"/>
            <a:ext cx="2571304" cy="5143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58434B"/>
              </a:buClr>
              <a:buSzPts val="2700"/>
              <a:buFont typeface="Arial"/>
              <a:buNone/>
            </a:pPr>
            <a:r>
              <a:rPr b="1" i="0" lang="en-US" sz="2700">
                <a:solidFill>
                  <a:srgbClr val="58434B"/>
                </a:solidFill>
                <a:latin typeface="Arial"/>
                <a:ea typeface="Arial"/>
                <a:cs typeface="Arial"/>
                <a:sym typeface="Arial"/>
              </a:rPr>
              <a:t>Key takeaways</a:t>
            </a:r>
            <a:endParaRPr sz="1800">
              <a:solidFill>
                <a:schemeClr val="dk1"/>
              </a:solidFill>
              <a:latin typeface="Calibri"/>
              <a:ea typeface="Calibri"/>
              <a:cs typeface="Calibri"/>
              <a:sym typeface="Calibri"/>
            </a:endParaRPr>
          </a:p>
        </p:txBody>
      </p:sp>
      <p:sp>
        <p:nvSpPr>
          <p:cNvPr id="625" name="Google Shape;625;p46"/>
          <p:cNvSpPr/>
          <p:nvPr/>
        </p:nvSpPr>
        <p:spPr>
          <a:xfrm>
            <a:off x="571500" y="1285875"/>
            <a:ext cx="5353050" cy="1390650"/>
          </a:xfrm>
          <a:prstGeom prst="rect">
            <a:avLst/>
          </a:prstGeom>
          <a:solidFill>
            <a:srgbClr val="F4F1F2"/>
          </a:solidFill>
          <a:ln>
            <a:noFill/>
          </a:ln>
        </p:spPr>
        <p:txBody>
          <a:bodyPr anchorCtr="0" anchor="t" bIns="190500" lIns="190500" spcFirstLastPara="1" rIns="190500" wrap="square" tIns="190500">
            <a:normAutofit/>
          </a:bodyPr>
          <a:lstStyle/>
          <a:p>
            <a:pPr indent="0" lvl="0" marL="0" marR="0" rtl="0" algn="l">
              <a:lnSpc>
                <a:spcPct val="125000"/>
              </a:lnSpc>
              <a:spcBef>
                <a:spcPts val="0"/>
              </a:spcBef>
              <a:spcAft>
                <a:spcPts val="0"/>
              </a:spcAft>
              <a:buClr>
                <a:srgbClr val="000000"/>
              </a:buClr>
              <a:buSzPts val="1500"/>
              <a:buFont typeface="Arial"/>
              <a:buNone/>
            </a:pPr>
            <a:r>
              <a:rPr b="1" i="0" lang="en-US" sz="1500">
                <a:solidFill>
                  <a:srgbClr val="000000"/>
                </a:solidFill>
                <a:latin typeface="Arial"/>
                <a:ea typeface="Arial"/>
                <a:cs typeface="Arial"/>
                <a:sym typeface="Arial"/>
              </a:rPr>
              <a:t>Sensitive periods depend on the outcome measured.</a:t>
            </a:r>
            <a:r>
              <a:rPr b="0" i="0" lang="en-US" sz="1500">
                <a:solidFill>
                  <a:srgbClr val="000000"/>
                </a:solidFill>
                <a:latin typeface="Arial"/>
                <a:ea typeface="Arial"/>
                <a:cs typeface="Arial"/>
                <a:sym typeface="Arial"/>
              </a:rPr>
              <a:t> Early playback supports detailed copying; later exposure can influence broad organization without reproducing tutor syllables.</a:t>
            </a:r>
            <a:endParaRPr sz="1800">
              <a:solidFill>
                <a:schemeClr val="dk1"/>
              </a:solidFill>
              <a:latin typeface="Calibri"/>
              <a:ea typeface="Calibri"/>
              <a:cs typeface="Calibri"/>
              <a:sym typeface="Calibri"/>
            </a:endParaRPr>
          </a:p>
        </p:txBody>
      </p:sp>
      <p:sp>
        <p:nvSpPr>
          <p:cNvPr id="626" name="Google Shape;626;p46"/>
          <p:cNvSpPr/>
          <p:nvPr/>
        </p:nvSpPr>
        <p:spPr>
          <a:xfrm>
            <a:off x="6286500" y="1285875"/>
            <a:ext cx="5353050" cy="1390650"/>
          </a:xfrm>
          <a:prstGeom prst="rect">
            <a:avLst/>
          </a:prstGeom>
          <a:solidFill>
            <a:srgbClr val="F4F1F2"/>
          </a:solidFill>
          <a:ln>
            <a:noFill/>
          </a:ln>
        </p:spPr>
        <p:txBody>
          <a:bodyPr anchorCtr="0" anchor="t" bIns="190500" lIns="190500" spcFirstLastPara="1" rIns="190500" wrap="square" tIns="190500">
            <a:normAutofit/>
          </a:bodyPr>
          <a:lstStyle/>
          <a:p>
            <a:pPr indent="0" lvl="0" marL="0" marR="0" rtl="0" algn="l">
              <a:lnSpc>
                <a:spcPct val="125000"/>
              </a:lnSpc>
              <a:spcBef>
                <a:spcPts val="0"/>
              </a:spcBef>
              <a:spcAft>
                <a:spcPts val="0"/>
              </a:spcAft>
              <a:buClr>
                <a:srgbClr val="000000"/>
              </a:buClr>
              <a:buSzPts val="1500"/>
              <a:buFont typeface="Arial"/>
              <a:buNone/>
            </a:pPr>
            <a:r>
              <a:rPr b="1" i="0" lang="en-US" sz="1500">
                <a:solidFill>
                  <a:srgbClr val="000000"/>
                </a:solidFill>
                <a:latin typeface="Arial"/>
                <a:ea typeface="Arial"/>
                <a:cs typeface="Arial"/>
                <a:sym typeface="Arial"/>
              </a:rPr>
              <a:t>Predispositions constrain learning.</a:t>
            </a:r>
            <a:r>
              <a:rPr b="0" i="0" lang="en-US" sz="1500">
                <a:solidFill>
                  <a:srgbClr val="000000"/>
                </a:solidFill>
                <a:latin typeface="Arial"/>
                <a:ea typeface="Arial"/>
                <a:cs typeface="Arial"/>
                <a:sym typeface="Arial"/>
              </a:rPr>
              <a:t> White-crowned sparrows learn conspecific models selectively under the tested playback conditions; experience supplies detailed dialect structure.</a:t>
            </a:r>
            <a:endParaRPr sz="1800">
              <a:solidFill>
                <a:schemeClr val="dk1"/>
              </a:solidFill>
              <a:latin typeface="Calibri"/>
              <a:ea typeface="Calibri"/>
              <a:cs typeface="Calibri"/>
              <a:sym typeface="Calibri"/>
            </a:endParaRPr>
          </a:p>
        </p:txBody>
      </p:sp>
      <p:sp>
        <p:nvSpPr>
          <p:cNvPr id="627" name="Google Shape;627;p46"/>
          <p:cNvSpPr/>
          <p:nvPr/>
        </p:nvSpPr>
        <p:spPr>
          <a:xfrm>
            <a:off x="571500" y="2867025"/>
            <a:ext cx="5353050" cy="1390650"/>
          </a:xfrm>
          <a:prstGeom prst="rect">
            <a:avLst/>
          </a:prstGeom>
          <a:solidFill>
            <a:srgbClr val="F4F1F2"/>
          </a:solidFill>
          <a:ln>
            <a:noFill/>
          </a:ln>
        </p:spPr>
        <p:txBody>
          <a:bodyPr anchorCtr="0" anchor="t" bIns="190500" lIns="190500" spcFirstLastPara="1" rIns="190500" wrap="square" tIns="190500">
            <a:normAutofit/>
          </a:bodyPr>
          <a:lstStyle/>
          <a:p>
            <a:pPr indent="0" lvl="0" marL="0" marR="0" rtl="0" algn="l">
              <a:lnSpc>
                <a:spcPct val="125000"/>
              </a:lnSpc>
              <a:spcBef>
                <a:spcPts val="0"/>
              </a:spcBef>
              <a:spcAft>
                <a:spcPts val="0"/>
              </a:spcAft>
              <a:buClr>
                <a:srgbClr val="000000"/>
              </a:buClr>
              <a:buSzPts val="1500"/>
              <a:buFont typeface="Arial"/>
              <a:buNone/>
            </a:pPr>
            <a:r>
              <a:rPr b="1" i="0" lang="en-US" sz="1500">
                <a:solidFill>
                  <a:srgbClr val="000000"/>
                </a:solidFill>
                <a:latin typeface="Arial"/>
                <a:ea typeface="Arial"/>
                <a:cs typeface="Arial"/>
                <a:sym typeface="Arial"/>
              </a:rPr>
              <a:t>A retained target can precede mature singing.</a:t>
            </a:r>
            <a:r>
              <a:rPr b="0" i="0" lang="en-US" sz="1500">
                <a:solidFill>
                  <a:srgbClr val="000000"/>
                </a:solidFill>
                <a:latin typeface="Arial"/>
                <a:ea typeface="Arial"/>
                <a:cs typeface="Arial"/>
                <a:sym typeface="Arial"/>
              </a:rPr>
              <a:t> Swamp sparrows reproduce syllables heard months earlier, and adult repertoires omit material expressed during plastic song.</a:t>
            </a:r>
            <a:endParaRPr sz="1800">
              <a:solidFill>
                <a:schemeClr val="dk1"/>
              </a:solidFill>
              <a:latin typeface="Calibri"/>
              <a:ea typeface="Calibri"/>
              <a:cs typeface="Calibri"/>
              <a:sym typeface="Calibri"/>
            </a:endParaRPr>
          </a:p>
        </p:txBody>
      </p:sp>
      <p:sp>
        <p:nvSpPr>
          <p:cNvPr id="628" name="Google Shape;628;p46"/>
          <p:cNvSpPr/>
          <p:nvPr/>
        </p:nvSpPr>
        <p:spPr>
          <a:xfrm>
            <a:off x="6286500" y="2867025"/>
            <a:ext cx="5353050" cy="1390650"/>
          </a:xfrm>
          <a:prstGeom prst="rect">
            <a:avLst/>
          </a:prstGeom>
          <a:solidFill>
            <a:srgbClr val="F4F1F2"/>
          </a:solidFill>
          <a:ln>
            <a:noFill/>
          </a:ln>
        </p:spPr>
        <p:txBody>
          <a:bodyPr anchorCtr="0" anchor="t" bIns="190500" lIns="190500" spcFirstLastPara="1" rIns="190500" wrap="square" tIns="190500">
            <a:normAutofit/>
          </a:bodyPr>
          <a:lstStyle/>
          <a:p>
            <a:pPr indent="0" lvl="0" marL="0" marR="0" rtl="0" algn="l">
              <a:lnSpc>
                <a:spcPct val="125000"/>
              </a:lnSpc>
              <a:spcBef>
                <a:spcPts val="0"/>
              </a:spcBef>
              <a:spcAft>
                <a:spcPts val="0"/>
              </a:spcAft>
              <a:buClr>
                <a:srgbClr val="000000"/>
              </a:buClr>
              <a:buSzPts val="1500"/>
              <a:buFont typeface="Arial"/>
              <a:buNone/>
            </a:pPr>
            <a:r>
              <a:rPr b="1" i="0" lang="en-US" sz="1500">
                <a:solidFill>
                  <a:srgbClr val="000000"/>
                </a:solidFill>
                <a:latin typeface="Arial"/>
                <a:ea typeface="Arial"/>
                <a:cs typeface="Arial"/>
                <a:sym typeface="Arial"/>
              </a:rPr>
              <a:t>Own-song selectivity is not proof of tutor-memory storage.</a:t>
            </a:r>
            <a:r>
              <a:rPr b="0" i="0" lang="en-US" sz="1500">
                <a:solidFill>
                  <a:srgbClr val="000000"/>
                </a:solidFill>
                <a:latin typeface="Arial"/>
                <a:ea typeface="Arial"/>
                <a:cs typeface="Arial"/>
                <a:sym typeface="Arial"/>
              </a:rPr>
              <a:t> Konishi coauthored recordings establish auditory preferences and motor associations, while leaving the template’s exact neural substrate unresolved.</a:t>
            </a:r>
            <a:endParaRPr sz="1800">
              <a:solidFill>
                <a:schemeClr val="dk1"/>
              </a:solidFill>
              <a:latin typeface="Calibri"/>
              <a:ea typeface="Calibri"/>
              <a:cs typeface="Calibri"/>
              <a:sym typeface="Calibri"/>
            </a:endParaRPr>
          </a:p>
        </p:txBody>
      </p:sp>
      <p:sp>
        <p:nvSpPr>
          <p:cNvPr id="629" name="Google Shape;629;p46"/>
          <p:cNvSpPr/>
          <p:nvPr/>
        </p:nvSpPr>
        <p:spPr>
          <a:xfrm>
            <a:off x="571500" y="4448175"/>
            <a:ext cx="5353050" cy="1390650"/>
          </a:xfrm>
          <a:prstGeom prst="rect">
            <a:avLst/>
          </a:prstGeom>
          <a:solidFill>
            <a:srgbClr val="F4F1F2"/>
          </a:solidFill>
          <a:ln>
            <a:noFill/>
          </a:ln>
        </p:spPr>
        <p:txBody>
          <a:bodyPr anchorCtr="0" anchor="t" bIns="190500" lIns="190500" spcFirstLastPara="1" rIns="190500" wrap="square" tIns="190500">
            <a:normAutofit/>
          </a:bodyPr>
          <a:lstStyle/>
          <a:p>
            <a:pPr indent="0" lvl="0" marL="0" marR="0" rtl="0" algn="l">
              <a:lnSpc>
                <a:spcPct val="125000"/>
              </a:lnSpc>
              <a:spcBef>
                <a:spcPts val="0"/>
              </a:spcBef>
              <a:spcAft>
                <a:spcPts val="0"/>
              </a:spcAft>
              <a:buClr>
                <a:srgbClr val="000000"/>
              </a:buClr>
              <a:buSzPts val="1500"/>
              <a:buFont typeface="Arial"/>
              <a:buNone/>
            </a:pPr>
            <a:r>
              <a:rPr b="1" i="0" lang="en-US" sz="1500">
                <a:solidFill>
                  <a:srgbClr val="000000"/>
                </a:solidFill>
                <a:latin typeface="Arial"/>
                <a:ea typeface="Arial"/>
                <a:cs typeface="Arial"/>
                <a:sym typeface="Arial"/>
              </a:rPr>
              <a:t>Behavioral state changes auditory responses.</a:t>
            </a:r>
            <a:r>
              <a:rPr b="0" i="0" lang="en-US" sz="1500">
                <a:solidFill>
                  <a:srgbClr val="000000"/>
                </a:solidFill>
                <a:latin typeface="Arial"/>
                <a:ea typeface="Arial"/>
                <a:cs typeface="Arial"/>
                <a:sym typeface="Arial"/>
              </a:rPr>
              <a:t> HVC playback responses differ from singing-related discharge and can be suppressed around vocal production.</a:t>
            </a:r>
            <a:endParaRPr sz="1800">
              <a:solidFill>
                <a:schemeClr val="dk1"/>
              </a:solidFill>
              <a:latin typeface="Calibri"/>
              <a:ea typeface="Calibri"/>
              <a:cs typeface="Calibri"/>
              <a:sym typeface="Calibri"/>
            </a:endParaRPr>
          </a:p>
        </p:txBody>
      </p:sp>
      <p:sp>
        <p:nvSpPr>
          <p:cNvPr id="630" name="Google Shape;630;p46"/>
          <p:cNvSpPr/>
          <p:nvPr/>
        </p:nvSpPr>
        <p:spPr>
          <a:xfrm>
            <a:off x="6286500" y="4448175"/>
            <a:ext cx="5353050" cy="1390650"/>
          </a:xfrm>
          <a:prstGeom prst="rect">
            <a:avLst/>
          </a:prstGeom>
          <a:solidFill>
            <a:srgbClr val="F4F1F2"/>
          </a:solidFill>
          <a:ln>
            <a:noFill/>
          </a:ln>
        </p:spPr>
        <p:txBody>
          <a:bodyPr anchorCtr="0" anchor="t" bIns="190500" lIns="190500" spcFirstLastPara="1" rIns="190500" wrap="square" tIns="190500">
            <a:normAutofit/>
          </a:bodyPr>
          <a:lstStyle/>
          <a:p>
            <a:pPr indent="0" lvl="0" marL="0" marR="0" rtl="0" algn="l">
              <a:lnSpc>
                <a:spcPct val="125000"/>
              </a:lnSpc>
              <a:spcBef>
                <a:spcPts val="0"/>
              </a:spcBef>
              <a:spcAft>
                <a:spcPts val="0"/>
              </a:spcAft>
              <a:buClr>
                <a:srgbClr val="000000"/>
              </a:buClr>
              <a:buSzPts val="1500"/>
              <a:buFont typeface="Arial"/>
              <a:buNone/>
            </a:pPr>
            <a:r>
              <a:rPr b="1" i="0" lang="en-US" sz="1500">
                <a:solidFill>
                  <a:srgbClr val="000000"/>
                </a:solidFill>
                <a:latin typeface="Arial"/>
                <a:ea typeface="Arial"/>
                <a:cs typeface="Arial"/>
                <a:sym typeface="Arial"/>
              </a:rPr>
              <a:t>Adult song stability can depend on feedback.</a:t>
            </a:r>
            <a:r>
              <a:rPr b="0" i="0" lang="en-US" sz="1500">
                <a:solidFill>
                  <a:srgbClr val="000000"/>
                </a:solidFill>
                <a:latin typeface="Arial"/>
                <a:ea typeface="Arial"/>
                <a:cs typeface="Arial"/>
                <a:sym typeface="Arial"/>
              </a:rPr>
              <a:t> Bengalese finch deafening disrupts sequence organization after acquisition; restricting repertoire learning does not imply independence from hearing.</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2026-10-08T23:38:49.098Z</dcterms:created>
  <dc:creator>Presenton</dc:creator>
</cp:coreProperties>
</file>