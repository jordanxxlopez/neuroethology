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mQnKct2N8VbS47ZeLepVK+DOc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Chemoreception II: lobster olfactory search behavior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25. NEUR 411 · NEUROETHOLOGY · FALL 2026. Friday, October 23,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Pravin &amp; Reidenbach (2013), Fig. 1C. Caribbean spiny lobster with its lateral antennule labeled.</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https://doi.org/10.3390/s131216591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Lobsters sample transported food odors with antennules and other sensory surfaces. The original title photograph shows Panulirus argus, with its lateral antennule labeled; photograph J. A. Goldman, reproduced in Pravin and Reidenbach Figure 1C.</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Chemoreception is the detection of chemicals by sensory cells. Clawed lobsters, Homarus americanus, use dissolved food odors while walking across the seabed. Moore, Scholz and Atema compared paths toward mussel extract with paths recorded during otherwise equivalent raw-seawater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source-search path is the sequence of positions occupied by the animal. Its length, direction and speed are distinct variables; a slower path can be more useful if it remains associated with the odor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Odor-search paths contained pauses, sideways movement and backward steps while still progressing toward the source. Mean walking speed was 5.94 cm/s during odor trials, compared with 10.81 cm/s in controls. Faster movement therefore did not necessarily indicate better source-directed searching.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trajectories demonstrate that chemical stimulation reorganizes locomotion under flowing-water conditions. Only motivated, successful approaches were included in the detailed analysis, so these measurements do not estimate the success probability of all lobsters. They also do not identify the neurons that select each correction.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5A–C. Repeated recorded source-search paths of individual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flume is a channel that supplies controlled flowing water. Moore and colleagues tested lobsters in a 250 × 90 × 20 cm arena with a current of 1.0 cm/s. A reference grid and overhead video allowed position and heading to be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rostrum is the anterior projection used as a positional landmark. Turbulent dilution and the animal’s movement mean the chemical concentration at a receptor cannot be inferred directly from the source 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Mussel extract at 0.5 g/L was delivered at 50 mL/min from a source 9 cm above the bottom. Control trials substituted raw seawater while retaining delivery conditions. Rostrum positions were digitized once per second, providing a common spatial and temporal reference for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attribute behavioral differences to the presence of the food extract rather than the existence of current or a delivery tube alone. The extract is a mixture, not an identified receptor ligand. Its source concentration also differs from the fluctuating concentration reaching the animal downstream.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1A–B. Flume, odor delivery and reference grid.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Heading angle describes the direction of the lobster’s body relative to upstream. Moore and colleagues grouped recorded behavior by distance from the source. This analysis asks whether the approach is uniform or changes as chemical and mechanical conditions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heading near zero is upstream; a larger angle can accompany lateral sampling. The last approach need not be the fastest because close-range localization can involve slowing and repositioning.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From 240 to 110 cm away, mean speed increased from 2.3 to 7.8 cm/s while heading decreased from 98.8° to about 20°. Between 110 and 40 cm, speed remained near 7 cm/s. Within the final 40 cm, speed fell toward 4.7 cm/s and heading increased toward 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transitions establish distinct movement regimes during successful searching. They are consistent with changing sensory guidance near the source, but distance covaries with plume structure and concentration. The experiment therefore does not establish a dedicated neuronal distance code or prove that one chemical gradient causes every transition.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6. Walking speed and heading versus distance from the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Turning angle is the change in movement direction between successive path segments. Moore and colleagues compared heading and turn distributions in odor-search trials. A stereotyped alternating search program would predict consistently organized counterturns rather than the observed broad variation among paths.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absence of one stereotyped trajectory is different from an absence of neural organization. Feedback control can produce variable trajectories even when the same circuit is used on every trial.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Experimental headings were centered around 0–10°, and turns around 10–20°. Individual animals followed variable paths across repeated trials. Odor stimulation supported an upstream bias without producing a single characteristic path that every lobster repeated at fixed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weaken a simple invariant counterturn account for this preparation. They do not exclude central motor programs altogether: sensory feedback could modify an internally generated movement sequence. The data also leave open how bilateral antennular input and water-flow information contribute to the observed directional corrections.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4A–B. Heading and turning-angle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Moore and colleagues measured leg raking, repeated movements that bring walking-leg sensory surfaces into contact with the local environment. They compared raking rates at several distances from the odor source, testing whether close-range searching involves more than antennular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recorded paths provide spatial context for the independent raking measurements. The figure does not plot raking frequency, and its trajectories should not be mistaken for a direct readout of leg-receptor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Raking averaged 3.4 events per 5 s within 7 cm of the source, 2.6 at 7–15 cm, and 1.15 at 15–22 cm. Beyond 22 cm it averaged only 0.1 per 5 s. Most recorded raking therefore occurred near the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change supports recruitment of near-substrate sampling during final localization. A switch from antennular guidance to leg-based guidance was the authors’ interpretation, rather than a selective-lesion result in this study. Increased raking could also accompany contact exploration or feeding preparation, so its sensory cause requires separate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5A–C. Repeated recorded source-search paths of individual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Caribbean spiny lobster, Panulirus argus, differs from the clawed lobster used in the earlier flume study. Its antennules carry aesthetascs, specialized olfactory hairs, together with non-aesthetasc sensilla containing other chemical and mechanical sensory neurons. These populations offer potentially overlapping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sensillum is a cuticular sensory structure. Aesthetasc and non-aesthetasc pathways are anatomical categories, not merely strong and weak versions of one measured receptor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Horner, Weissburg and Derby tested 48–74 mm carapace-length animals in a 5,000-L flume with flow near 5 cm/s. Shrimp extract at 3 or 0.3 g/L supplied high- and low-odor treatments; seawater supplied a chemical control. Selective manipulations targeted different sensory populations on both antennules.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asks whether one pathway is indispensable for food-source localization under realistic flow. A preserved response after removing one population can show that the remaining pathway is sufficient in this assay. It cannot establish that the populations are identical or redundant in every natural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1A–F. Body and antennular sensory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Horner and colleagues used several interventions because sensory hairs can contain different neuron types. Shaving removed about 99.8% of aesthetascs. Removing and sealing non-aesthetasc sensilla targeted another pathway, while a 15-min distilled-water treatment temporarily impaired antennular chemosensitivity.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lesion experiment requires both confirmation of sensory removal and a control for non-sensory impairment. Feeding after the trial helps assess motivation but does not prove that every aspect of locomotor function was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source was positioned 2 m upstream of release. High and low shrimp concentrations were compared with seawater, and animals were offered shrimp afterward to check feeding motivation. Some manipulations also affected mechanoreceptors, an important qualification when interpreting a failure to orient.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combination separates chemical guidance from complete loss of appetite more effectively than a lesion alone. Distilled-water treatment is reversible over approximately 24 h, but is not a molecularly selective receptor knockout. The conclusions concern the sensory populations affected by each treatment and the particular flow assay.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2. Shrimp-odor source, flow chamber and lobster release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Horner and colleagues measured the proportion of lobsters reaching the odor source after selective bilateral sensory manipulation. Intact animals found the high-odor source in 68% of trials and the low-odor source in 45%; no intact animal located a seawater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Necessity and sufficiency are different claims. Preserved behavior after one pathway is removed argues against its unique necessity here; it does not remove the possibility that it normally contributes useful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aesthetasc removal, success remained 77% for high odor and 69% for low odor. Removing non-aesthetasc chemo-mechanosensory sensilla also preserved source finding, at 64% and 45%. In contrast, eliminating antennular chemoreceptor input broadly produced very poor 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Either retained antennular chemical pathway can therefore support this food-search task. The results do not show that aesthetascs are unnecessary for all olfactory functions or that increased percentages demonstrate an improvement caused by removal. Variable success and the different effects of each manipulation must be interpreted within the tested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3. Source-finding success after selective antennular lesions.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Net-to-gross displacement ratio, or NGDR, is straight-line displacement divided by total path length. A value closer to one indicates a straighter route. Horner and colleagues measured this variable separately from eventual source-finding success, together with arrival time, speed and heading.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Arrival and path straightness measure different properties. A lobster that eventually succeeds can still expend more walking distance, encounter more interruptions or require more opportunities to correct its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high odor concentration, mean NGDR was 0.82 in controls, compared with 0.63 after aesthetasc removal and 0.62 after non-aesthetasc chemo-mechanosensory removal. Mean arrival times across treatment groups were at most 96 s for high odor and 176 s for low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Remaining sensory pathways can preserve arrival while losing efficient progress. Those times are group means, not upper limits for every animal. The altered routes show a contribution to search performance but do not identify whether the missing information concerned concentration, timing, flow direction or the reliability of bilateral comparisons.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4A–D. Arrival time, path straightness, walking speed and heading.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 plume is the distribution of odor-bearing water transported downstream from a source. Reidenbach and Koehl visualized plumes using planar laser-induced fluorescence, or PLIF: a thin laser sheet excites dissolved dye, and calibrated camera intensity estimates local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PLIF provides chemical-transport information in a plane. It does not measure every location in a three-dimensional plume at once, and the concentration represented by color is calibrated dye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25-m flume produced fine odor filaments separated by cleaner water. Images were recorded at 60 frames/s, yielding 16.7-ms temporal resolution. Measurements at different lateral positions showed a denser central plume and sparser encounters toward its edge.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images establish the physical input available to a sensory appendage, rather than recording receptor activation. Fluorescent dye is a transport tracer and need not bind lobster odor receptors. A smooth time-averaged concentration field therefore conceals the intermittent encounters and gaps that a moving animal actually samples.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3A–C. Measured dye plumes under three flow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Reidenbach and Koehl placed virtual sampling lines within measured PLIF images to represent the aesthetasc-bearing portion of an antennule. Lobster and blue-crab geometries were compared at the same 8-cm height. This approach separates appendage geometry from differences in chemical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virtual sampler is an analysis of physical measurements, not a recording of a receptor neuron. Its value is to isolate which aspects of the input depend on appendage size and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lobster sampler flicked at 2 Hz and moved at 6 cm/s during the downstroke. The crab sampler was only 2 mm long and flicked at 3 Hz. Lobster geometry intercepted odor during more flicks and sampled higher peak concentrations than crab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sampling structures can encounter more filaments, while faster sampling can partly compensate for shorter length. These are measurements extracted from real plume images using specified sampling assumptions. They do not show that an intact lobster consciously compares every point along its antennule or implements the authors’ analysis algorithm.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5A–B. Colored plume filaments and concentration along a sampling transect.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odor-free gap is an interval without an encounter above the chosen detection threshold. Reidenbach and Koehl compared continuous concentration measurements with concentrations encountered by virtual flicking antennules. The comparison tests whether intermittent movement changes the timing of available chemical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 can miss a passing filament between samples. Therefore, an odor-free interval in the sampled record need not mean there was no odor-bearing water anywhere near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Almost all gaps in continuously measured concentration were shorter than 500 ms throughout the sampled plume. Flicking antennules instead experienced longer gaps, and their gaps increased as downstream distance to the source decreased. Sampling schedule altered the input statistics before neural processing occurred.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counterintuitive distance relationship shows why encounter frequency cannot be treated as a universal distance ruler. The result depends on plume transport, threshold and flicking geometry. It identifies available temporal cues but does not establish that a lobster uses this particular gap statistic to choose a 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7A–F. Odor-free gap categories for flicking and continuous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Near the seabed, transport and mixing differ from conditions several centimeters above it. Reidenbach and Koehl compared chemical samples at antennular height with samples near walking-leg height. The same source can therefore generate different concentration patterns for different sensory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boundary layer is the region near a surface where flow is influenced by that surface. Sensory location within it changes chemical exposure even when the animal’s distance to the food source is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sampled concentrations near the bed increased toward the source, whereas mean concentrations sampled higher by flicking antennules decreased toward it in this preparation. Variance was also lower near the bed. Measurements covered downstream positions from approximately 1 to 2.5 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Close-range leg sampling and distant antennular sampling need not provide interchangeable information. These physical results make the increase in leg raking during Homarus approaches plausible, but they do not causally explain those earlier animals’ movements. The behavioral and transport measurements involve different species and experimental arrangements.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8A–D. Encountered concentrations versus source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Aesthetascs are thin-walled sensory hairs bearing the outer dendrites of olfactory receptor neurons. On a Panulirus lateral antennular flagellum, they occur in repeated rows bordered by larger guard hairs. The scanning electron micrographs reveal a structured array rather than a uniformly exposed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outer dendrite is the distal sensory portion of a neuron extending into the hair. The hair’s cuticle and fluid environment are part of the path between transported chemicals and neuronal membrane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Reidenbach, George and Koehl measured biological geometry before constructing physical models. Representative aesthetasc diameter was 22 µm, length about 720 µm, and spacing about 60 µm. The hairs are arranged at an offset angle, allowing appendage orientation to influence the water entering their gaps.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detection requires molecules to reach this sensory interface before membrane receptors can respond. Microscopy establishes dimensions and arrangement, not channel opening or neural firing. Guard-hair function must therefore be tested through flow measurements rather than inferred solely from the presence of a protective-looking structure.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1A–C. Spiny lobster photograph and antennular scanning electron micrographs.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dynamically scaled model reproduces the important balance of fluid forces despite using enlarged structures and a different fluid. Reidenbach and colleagues built glass-rod hair arrays in mineral oil and matched the Reynolds number, the ratio of inertial to viscous effects relevant to flow.</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Matching Reynolds number preserves the relative influence of inertia and viscosity. It does not automatically reproduce every chemical property, molecular diffusion rate or feature of a living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Biological dimensions and flicking motions constrained the model geometry. Particle-image velocimetry, or PIV, tracked suspended particles between images to measure fluid velocity around and between hairs. The investigators varied orientation, speed and guard-hair presence while retaining the remaining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controlled changes identify mechanical causes of water exchange that are difficult to measure inside a living hair array. The model contains no sensory neurons and measures no ligand binding. Its results establish physical delivery conditions that can influence olfaction, rather than a complete explanation of receptor transduction or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3A–B. Ventral and side photographs of the dynamically scaled physical hair-array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antennular flick consists of a fast downward movement followed by a slower return. In the scaled-model study, PIV measured water velocity inside the hair array during the downstroke. The published color map reports velocity rather than chemical concentration or sensory-neuron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reference frame matters: water flowing relative to a moving hair is the delivery variable. An ambient current and the appendage’s own movement can both contribute to that relative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the fast movement, water penetrated the aesthetasc gaps and replaced the previously retained sample. Measured profiles were comparatively uniform across the array. Separate high-speed recordings placed downstroke motion near an aesthetasc Reynolds number of 2, compared with about 0.5 during return.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sensory organ therefore controls exposure mechanically before a receptor opens. Fresh water entering the gaps can deliver new odor molecules, but a flow map alone cannot establish which molecules bind or how many spikes are emitted. Reynolds-number estimates describe the biological movement studied, not a universal threshold for all crustacean hairs.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Goldman JA, Koehl MAR (2001). Fluid Dynamic Design of Lobster Olfactory Organs: High Speed Kinematic Analysis of Antennule Flicking by Panulirus argus. Chemical Senses 26(4):385-398. https://doi.org/10.1093/chemse/26.4.385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5A–B. Measured particle-image-velocimetry flow during the downstroke.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Leakiness describes the extent to which water passes through a hair array rather than around it. Reidenbach and colleagues compared measured downstroke and return-stroke flow. The slower return reduced penetration, allowing the captured water to remain near the aesthetasc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Diffusion is random molecular motion that redistributes solute down local concentration differences. Retaining water near a hair increases available contact time, but does not guarantee that all retained molecules reach the membrane.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Return motion was approximately one-quarter of downstroke speed, yet water between hairs moved about 25 times more slowly. The nonlinear change shows that reducing appendage speed can alter array permeability much more than it alters the movement of the appendage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Retention creates time for molecular diffusion toward the sensory surface. The authors estimated that diffusion over 0.5 s could span about 32 µm; this is a physical calculation, not measured ligand uptake by neurons. The experiment establishes a sampling mechanism without proving which concentration history an individual receptor experiences.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9A–B. Measured slow-return flow field and velocity profile.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shape and orientation of an aesthetasc array determine how incident water moves through it. Reidenbach and colleagues compared the observed zigzag orientation, offset by about 32°, with a zero-degree arrangement. They also measured arrays with and without surrounding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source’s colored velocity map is a measurement from the original physical model. Its bright regions show faster relative flow, not stronger neural activity or more receptor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observed orientation produced relatively uniform water penetration during the flick. Guard-hair removal changed the spatial velocity profile, revealing a hydrodynamic contribution beyond a possible protective role. The controlled physical model isolated these geometry effects without altering neuronal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link anatomical arrangement to the distribution of a fresh sensory sample. They do not show that guard hairs detect food or that a particular flow profile automatically improves behavioral success. Sensory performance depends on subsequent diffusion, receptor activation and central interpretation, none of which was measured in the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6. Measured flow through a zigzag array in its observed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7A–C. Hair-array photographs and measured velocity with guard hairs present or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Koehl and colleagues programmed a mechanical lobster to flick real Panulirus antennules in a fluorescent dye plume. This preparation retained the biological hair array while controlling movement. Dye released from a benthic source 1 m upstream represented chemicals carried from a food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image sequence contains successive frames, not a diagram created for this lecture. Tracking the same dye feature distinguishes exchange with the surrounding plume from simple movement of the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original high-speed frames show approximately 1-mm-thick dye parcels entering the array during the rapid downstroke. During the slower return, dye remained trapped between hairs while the surrounding plume continued moving. A later downstroke shed that sample and captured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 directly supports discrete water sampling rather than uninterrupted exposure to ambient concentration. Fluorescent dye visualizes transported water and solute; it does not record food-odor receptor binding. The mechanically moved preparation also omits feedback by which an intact animal adjusts where and when to flick.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Koehl et al. (2001), Fig. 1A–D. Original video frames of dye capture and retention during flicking.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https://doi.org/10.1126/science.1063724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Koehl and colleagues measured concentration along the aesthetasc-bearing section of the antennule through successive video frames. Their published spatiotemporal map places position on one axis and time on the other, with color representing measured dye concentration at each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horizontal streak in the published map means concentration at one position remained similar over time. It should not be interpreted as a sustained spike train or a labeled sensory axon.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pattern changed during rapid downstrokes but remained comparatively stable during slower return and stationary intervals. Dye could spread along the antennule during acquisition, so the captured pattern was not an exact unchanged slice of the original plume. Sampling both retains and filters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physical filtering precedes neuronal transduction. A spatially nonuniform retained sample could stimulate different sensory endings differently, but the paper did not record those cells or prove that the brain reconstructs the original spatial pattern. Mechanical retention therefore constrains the input without establishing a particular downstream code.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Koehl et al. (2001), Fig. 2. Measured spatial dye pattern retained between successive flicks.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https://doi.org/10.1126/science.1063724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Ionotropic receptors, or IRs, are chemosensory proteins related to ionotropic glutamate receptors, a family of ligand-gated membrane channels. Corey and colleagues identified candidate IR sequences in Panulirus olfactory tissue and used in situ hybridization to locate their RNA within sensory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ionotropic glutamate receptor detects glutamate in its established synaptic role. A related chemosensory IR need not recognize glutamate merely because it shares part of that receptor’s sequence and predicted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IR25a and IR93a signals occurred broadly in olfactory receptor neurons. Antisense probes detect complementary target RNA; sense probes supplied negative controls for nonspecific staining. IR8a and another candidate showed more restricted expression, suggesting common components alongside more variable receptor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an IR-based molecular architecture in lobster olfaction. Sequence similarity and cellular expression do not establish the ligand of a candidate receptor, its ion selectivity or the exact subunit composition of a native channel. Those properties require functional tests beyond staining for receptor RNA.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2. Receptor RNA localization with antisense and sense-probe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RNA expression alone does not show where the resulting protein acts. Corey and colleagues used an antibody against IR25a to test its localization. Cross-sections through distal aesthetasc hairs supplied anatomical access to the outer dendrites, where transported odorants first approach olfactory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kilodalton is a unit of molecular mass. Western-band size supports protein identity, while the section image addresses its anatomical location; neither alone measures an ion channel opening.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IR25a immunofluorescence occurred within the dendritic profiles. Sections stained without the primary antibody supplied a background control, and an antibody recognizing an Ih-channel protein provided a separate neuronal comparison. Western blots also detected a band near the predicted IR25a molecular mass of approximately 100 kDa.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convergence of biochemical detection and dendritic staining places a candidate receptor component at a plausible transduction site. It does not demonstrate that every stained molecule forms an active surface channel. Antibody specificity, membrane localization and direct odor-evoked current are distinct evidentiary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Corey and colleagues loaded sensory-cell clusters with a calcium-sensitive dye and applied different chemical stimuli. Calcium imaging reports changes in intracellular calcium through changing fluorescence. It can reveal many cells simultaneously, complementing measurements made from one neuron at a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Deorphanization means identifying the activating ligand of a receptor whose ligand was unknown. Responding to arginine in an intact cell does not prove that any particular expressed receptor is the arginine-binding protein.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stimulus set included food extract, arginine and glutamate at 1 mM for the amino-acid tests. Neighboring cells showed different response profiles across the panel. A published heat map summarizes this heterogeneity rather than assigning one shared response to the whole cluster.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responses establish chemical selectivity at the cellular level despite broad expression of common IR components. They do not identify which variable IR recognizes each ligand or prove that fluorescence amplitude equals membrane current. The association between expression and physiology motivates receptor tests but is not itself receptor deorphanization.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6A–D. Calcium imaging reveals heterogeneous odor-response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Whole-organ sequencing combines RNA from sensory neurons, support cells and other tissue. Kozma and colleagues instead collected individual fluorescently identified olfactory sensory neurons for single-cell transcriptomics, sequencing the expressed RNA of each cell. This separates within-cell coexpression from differences between cell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transcriptome is the set of RNA molecules detected in a sample. Sequencing depth and amplification affect which low-abundance transcripts are recovered, especially when the starting material is one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All seven analyzed single-cell transcriptomes contained IR25a and IR93a. They also contained variable tuning-IR transcripts, while IR8a and IR76b were not detected in those cells. The photographed collection pipette documents the cellular preparation used for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shared receptor components with cell-specific combinations of additional candidates. Seven cells cannot exhaust the entire sensory population, and a failure to detect an RNA need not mean the gene is absent from every neuron. Transcript detection also does not establish protein abundance or channel assembly.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Tuning IRs are variable receptor candidates proposed to contribute ligand selectivity alongside more widely expressed components. Kozma and colleagues compared their abundance across single olfactory sensory neurons. The original heat map displays receptor identity by row and cellular sample by column.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heat-map color is a transformed expression measurement from the original paper. A stronger color does not establish a proportionally larger odor-evoked current because translation and channel regulation intervene.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Each analyzed neuron contained 9–53 tuning-IR transcripts, often with only one or a few expressed at high abundance. This arrangement differs from a simple rule in which every sensory neuron expresses exactly one ligand-selective receptor. Shared coreceptors do not eliminate molecular diversity between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data constrain candidate combinations but do not show that all detected IRs enter the same membrane complex. Low-abundance transcripts could have different functions or reflect technical sampling. Receptor composition, surface delivery and ligand specificity require additional protein-localization and functional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3. Single-cell expression of common and variable ionotropic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Kozma and colleagues also examined G-protein-coupled receptors, or GPCRs, and transient receptor potential channels, or TRP channels, in sensory neurons. GPCRs can regulate intracellular signaling, whereas TRP proteins form ion channels with diverse sensory and cellular functions.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 protein links some activated receptors to intracellular enzymes or channels. Molecular presence indicates that a pathway could exist, but causal function must be tested rather than assigned from a protein-family name.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Individual cells expressed 12–17 GPCR candidates and overlapping sets of TRP-channel genes. The published summary includes common proteins and additional variable candidates. These transcript inventories reveal potential molecular machinery alongside the IR family rather than one fully resolved odor-transduction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of a GPCR in an olfactory neuron does not prove that it binds a food odor; it may receive modulatory input. Likewise, a TRP transcript does not establish the channel carrying the primary receptor current. Connecting genes to mechanism requires ligand responses, channel properties and perturbations in identified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4. Authors’ summary of genes expressed in olfactory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recorded Panulirus sensory neurons in a semi-intact antennular preparation. Odor reached the outer dendrites while the cell bodies remained accessible to electrodes and imaging. Separate fluid compartments limited direct stimulation of somata and allowed repeated inputs to the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loose-patch electrode detects spikes without tightly controlling membrane voltage. It records output timing, while stimulus calibration independently measures the physical input that produces that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fluorescent tracer characterized stimulus timing, while calcium imaging and loose-patch recordings measured responses. Food extract was tested at concentrations up to 0.5 mg/mL. Increasing pulse duration increased the effective delivered stimulus, but did not create a perfectly independent change in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calibrations establish when chemical input arrived relative to cellular activity. They also expose an important experimental limitation: pulse duration, onset kinetics and effective dose can covary. Apparent concentration dependence must therefore be interpreted using the actual delivery waveform, rather than only the solution concentration stated at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1A–C. Simultaneous dye calibration, calcium responses and firing-rate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found tonic excitation, phasic–tonic excitation and inhibition among olfactory receptor neurons exposed to food extract. Tonic responses persist during stimulation; phasic responses emphasize its beginning. Inhibitory responses reduce activity relative to the cell’s unstimulated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Voltage clamp holds membrane voltage near a chosen level and measures compensating current. A current trace therefore reveals membrane conductance changes more directly than a spike train, but requires ionic tests to identify the ions involved.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Whole-cell voltage-clamp recordings near −70 to −60 mV measured inward or outward odor-evoked currents alongside firing patterns. Excitatory current could persist or adapt rapidly, while some cells showed inhibitory currents. Thus, diversity was already present in the receptor input, before central synaptic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observations reject an account in which all peripheral cells transmit the same excitation and the brain creates every inhibitory response. They do not resolve the molecular channel responsible for every current class. A current’s direction depends on holding voltage and ionic driving force, not simply the behavioral meaning of an odor.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2A–D. Excitatory, inhibitory and intrinsic sensory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Calcium-sensitive fluorescence is often used as a proxy for neuronal activity, but it is not an action potential. Bobkov and colleagues recorded spikes and calcium simultaneously in identified lobster sensory neurons. The comparison tested how reliably a slower optical signal represents rapid electrical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Calcium can enter through voltage-dependent channels and can also be released from intracellular stores. This simultaneous-recording experiment relates fluorescence to activity without proving the contribution of each calcium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Tonic, phasic–tonic and inhibitory neurons showed corresponding but differently filtered fluorescence changes. Calcium generally changed more slowly than the spike pattern. An inhibitory optical response could accompany reduced firing, while excitation increased firing and then accumulated a calcium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relationship supports calcium imaging for identifying response classes while limiting interpretations of precise encounter timing. Dye kinetics, intracellular buffering and calcium removal all intervene between spikes and fluorescence. A broad calcium peak cannot be assigned the same duration as the odor pulse or the underlying burst of spikes.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3A–C. Simultaneous spikes and calcium responses across neuronal response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burst is a cluster of spikes separated from another cluster by a quieter interval. Bobkov and colleagues observed intrinsically bursting olfactory receptor neurons in the absence of presented odor. Their spontaneous output therefore contains temporal structure before environmental stimulation is added.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Intrinsic means generated by the neuron’s own dynamics under the recording conditions. It does not mean the neuron is unaffected by chemical stimulation, modulators or the ionic composition of the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Simultaneous recordings showed repeated electrical bursts followed by slower calcium oscillations. Across cells, optical oscillation frequencies ranged from approximately 0.015 to 0.9 Hz, with an average near 0.16 Hz. Different cells consequently supplied different intrinsic temporal reference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observations establish spontaneous peripheral timing, not a synchronized clock shared by the whole antennule. They also do not identify every ion channel producing the oscillation. An odor-evoked burst must be distinguished from a spontaneous burst when evaluating whether a cell has detected a new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4A–B. Simultaneous bursting and slower calcium oscillations.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imaged many sensory somata within the same antennular cluster and compared their calcium time series. Correlation measures the degree to which two signals vary together. Pairwise comparisons tested whether nearby bursting cells behaved as one tightly synchronized peripheral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Independent oscillators can provide diverse temporal sensitivities. A population may become more informative by combining their outputs centrally even when neighboring peripheral cells do not synchronize with one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Most recorded pairs were weakly correlated and exhibited different oscillatory timing. A small number of highly similar records could arise from overlapping optical sampling, which required caution before attributing them to cellular coupling. The colored micrograph identifies the individual regions used for analysis.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substantial independence among nearby sensory-cell oscillations in this preparation. It does not exclude all interactions or establish independence after signals converge centrally. Optical separation and imaging resolution constrain a negative result, so lack of correlation should not be expanded into proof that no communication is possible.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5A–C. Colored sensory-cell images, calcium records and pairwise correlations.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second messenger is an intracellular molecule whose concentration changes after signaling begins. Michel and Ache tested cyclic nucleotides in lobster sensory neurons that were excited by food extract but inhibited by proline. Whole-cell recordings were made at a holding voltage of −60 mV.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phosphodiesterase normally breaks down cyclic nucleotides. Blocking it can raise intracellular signaling levels, but its inhibitor is a pathway probe rather than an odor-specific receptor ligand.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Proline produced a small outward current in this cell class. The phosphodiesterase inhibitor IBMX at 1 mM and membrane-permeant cyclic-nucleotide analogs could mimic an outward response. These manipulations link intracellular cyclic-nucleotide accumulation to a conductance associated with peripheral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interpretation builds on an odor-evoked potassium conductance characterized in this receptor-cell system. Pharmacological mimicry does not identify the odor-binding receptor or prove that one nucleotide is the exclusive physiological signal. Drug actions and analog selectivity require comparison with cells lacking the same proline-inhibitory phenotype.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Michel &amp; Ache (1992), Fig. 4. Proline, phosphodiesterase inhibition and cyclic-GMP analog evoke outward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https://doi.org/10.1523/jneurosci.12-10-03979.1992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Adenylyl cyclase synthesizes cyclic AMP, or cAMP. Michel and Ache applied forskolin, an activator of this enzyme, to test whether increasing its activity could reproduce proline-associated inhibition. Saline application provided a comparison for the mechanical delivery of 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Opening a potassium conductance can stabilize or shift voltage toward the potassium equilibrium potential. The behavioral meaning depends on which sensory neuron is inhibited, not on potassium flow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Forskolin at 50 µM evoked an outward current in proline-inhibited neurons, and IBMX enhanced related responses by reducing nucleotide breakdown. Cells excited by food extract but not inhibited by proline supplied a contrasting response class, helping separate a general toxic effect from pathway-dependent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cyclic-nucleotide participation in inhibitory transduction. They do not prove a complete receptor-to-enzyme sequence in an intact searching lobster or identify a GPCR that initiates it. Modern IR expression and earlier biochemical signaling findings must therefore be evaluated together without forcing them into one experimentally complete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Michel &amp; Ache (1992), Fig. 2. Forskolin and IBMX evoke an outward current in a proline-inhibited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https://doi.org/10.1523/jneurosci.12-10-03979.1992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Boekhoff and colleagues isolated membranes enriched from the outer dendrites of Panulirus olfactory hairs. A quench-flow assay mixes membrane material with stimulus and rapidly stops the reaction, allowing biochemical changes over milliseconds to be measured independently of spike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rapid biochemical response can be compatible with a causal transduction role without proving it. Necessity would require selectively disrupting that response while preserving other cellular functions and measuring sensory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Food extract produced transient increases in cAMP and inositol 1,4,5-trisphosphate, or IP3, peaking within approximately 50 ms. IP3 is a signaling molecule produced from membrane phosphoinositides. The timing is fast enough to participate in early sensory transduction rather than only a delayed behavioral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assay establishes rapid odor-associated biochemical signaling in pooled dendritic material. It does not demonstrate that both messengers rise in every individual neuron, or that a measured rise directly opens a particular channel. Pooling, biochemical enrichment and separation from the intact organ limit cell-specific circuit interpretations.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Boekhoff et al. (1994), Fig. 1. Odor evokes rapid cAMP and IP3 accumulation in dendritic membranes.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https://doi.org/10.1523/jneurosci.14-05-03304.1994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Boekhoff and colleagues compared taurine and proline because individual ligands can excite one lobster sensory neuron yet inhibit another. At 1 µM, taurine preferentially elevated IP3 and proline preferentially elevated cAMP in isolated dendritic membranes. The published plots show these distinct low-dose time courses.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illustrated low-dose figure and the stated higher-dose values answer complementary questions. The higher-dose measurements come from Figure 4 of the same paper, rather than a numerical extrapolation from the displayed traces.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100 µM, both ligands elevated both signals while retaining different preferences. Taurine produced peak IP3 near 630 pmol/mg and cAMP near 280 pmol/mg; proline produced cAMP near 720 pmol/mg and IP3 near 220 pmol/mg.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concentration dependence argues against assigning each ligand an exclusively fixed messenger pathway. Picomoles per milligram normalize the measured messenger quantity to membrane protein, not to one neuron. The data do not identify which receptor proteins or cell combinations generated the pooled signal, leaving several mechanistic explanations open.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Boekhoff et al. (1994), Fig. 3A–B. Taurine and proline differ in second-messenger recruitment.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https://doi.org/10.1523/jneurosci.14-05-03304.1994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Park and colleagues recorded bursting olfactory receptor neurons and quantified the intervals between spontaneous bursts. A quasiperiodic oscillator repeats approximately, with variability rather than a perfectly fixed period. Such intrinsic activity offers a possible reference against which incoming odor encounters can be registered.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quasiperiodic cell is not a stopwatch with a perfectly reproducible tick. Trial-to-trial variability must be incorporated when evaluating how much information its response carries.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recorded cells displayed different mean burst intervals and within-cell variation. Some repeated over a few seconds, whereas others had substantially longer intervals. The original figure compares electrical records and interval distributions, establishing diversity in measured cellular timing before a population decoder is proposed.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intrinsic period is a property of the recorded cell under these conditions, not a direct measurement of plume encounter rate. The diversity may support multiple temporal sensitivities, but its usefulness for navigation requires input-dependent responses and downstream interpretation. Recording spontaneous bursts alone cannot demonstrate a working distance or direction estimate.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1a–d. Recorded spontaneous bursts and distribution of intrinsic periods.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Phase describes where a neuron lies within its recurring burst cycle. Park and colleagues delivered comparable odor pulses at different times after the previous spontaneous burst. This manipulation tests whether the same chemical input has different effects depending on the cell’s current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refractory or low-responsiveness phase can conceal an encounter in one cell. Other cells at different phases could respond, making population activity more informative than a single-neuron yes-or-no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an example cell, burst probability was about 50% when odor arrived 3 s after the preceding burst and approached 100% at 6 s. The same intensity therefore did not guarantee the same output. Recordings also showed odor-related changes in electrical activity and burst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history-dependent sensory responsiveness. It does not mean every bursting neuron has a 3- or 6-s threshold, nor that nonresponse proves chemical absence. A population with different periods could jointly report encounter timing, but behavioral use of that information remains a further hypothesis.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2a–d. Stimulus timing changes burst probability and sensory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Park and colleagues fitted oscillator-response models using experimentally measured properties of bursting neurons, then combined 2,000 synthetic neurons into a population. A decoder is an analysis rule that estimates an input from output activity. It tests whether measured response rules could carry temporal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computationally available signal is not automatically read out by the animal. The model motivates a behavioral prediction, while its parameters and idealized decoder define the limits of that prediction.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model estimated intervals among presented events, including inputs at 10, 12, 35, 40 and 43 s. Combining cells with different intrinsic periods improved access to the time since a previous encounter. The displayed curves are the authors’ published synthetic-population results.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study demonstrates coding feasibility under its model assumptions, not simultaneous recordings from 2,000 real neurons or a lobster’s actual decision rule. Successful model decoding cannot establish behavioral necessity. Selective disruption of bursting and measurement of plume tracking would be needed to connect the proposed code causally to searching.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6a–c. Authors’ synthetic-population decoder estimates stimulus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afferent neuron carries sensory input toward the brain. Wachowiak and Cohen electrically stimulated the lobster antennular nerve and recorded voltage-sensitive dye signals in the nerve and olfactory lobe. The published anatomy identifies the central region receiving these sensory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olfactory lobe is a primary central processing region, not the sensory hair itself. Paired-pulse suppression compares the second response with the first while controlling the delivered electrical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Two 2-ms shocks separated by approximately 300–400 ms produced a smaller second response in the olfactory lobe, while the nerve response was less affected. Calcium-free, high-magnesium saline reduced synaptic transmission, helping separate incoming axonal signals from activity generated by the local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locates suppression beyond peripheral conduction in the tested preparation. Electrical shocks synchronize afferents differently from natural odor, and a population optical signal does not identify each synapse. The result establishes central modulation of incoming information without demonstrating a particular turn command or source-search strategy.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Paired-shock responses in the olfactory lobe and antennular nerve.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GABA, gamma-aminobutyric acid, and histamine can act as neurotransmitters. Wachowiak and Cohen applied them while measuring lobster afferent voltage signals. Calcium-free conditions reduced network transmission, allowing drug effects on incoming sensory processes to be distinguished from ordinary downstream synaptic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Presynaptic means acting on the input side of a synapse. Opening a shunting conductance allows current to leak across the membrane, reducing local voltage changes. A weaker spike can then reduce transmitter release; the channel’s exact molecular composition and natural behavioral recruitment were not measured 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100 µM, histamine reduced the measured response by about 82% and GABA by about 45%. At 30 µM, histamine still reduced it by about 61%, whereas GABA had little effect. Responses recovered during washout, arguing against irreversible damage as the main explanation.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dose-dependent effects support distinct inhibitory sensitivities of lobster afferent transmission. The study did not measure odor-search behavior or identify every receptor subunit. The authors proposed shunting inhibition: ligand-gated conductance lowers membrane resistance, reducing terminal spike amplitude or propagation. They did not distinguish these alternatives or directly measure presynaptic calcium entry in the lobster.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2A–B. Histamine and GABA suppress lobster afferent voltage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Olfactory-lobe anatomy and original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receptor antagonist reduces activation of a receptor by its ligand. Wachowiak and Cohen used picrotoxin to test GABA-sensitive inhibition and cimetidine to test histamine-sensitive inhibition in lobster olfactory afferents. The pharmacological comparisons followed control recordings from the same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Histamine used as a central transmitter must be distinguished from histamine delivered as an odorant to sensory dendrites in other experiments. Site of application and the recorded response determine which role is being tested.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Picrotoxin at 100 µM blocked the GABA effect, whereas histamine inhibition persisted. Cimetidine at 5 mM reduced the histamine effect without producing the same blockade of GABA. The separation argues that the transmitters do not act through one indistinguishable receptor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constrain receptor classes and the locus of modulation, but these drugs are not perfectly selective molecular labels at every concentration. An isolated nerve segment was comparatively unaffected, supporting a central-terminal locus. Exact channel subunits and natural release during a lobster’s food search were not established.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3. Histamine inhibition persists after GABA-receptor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Olfactory-lobe anatomy and original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Odor flux combines chemical concentration with the motion carrying that chemical. Pravin and Reidenbach measured flow and fluorescent concentration in a flume, then developed a three-dimensional fluid model constrained by those measurements. This addresses direction information unavailable from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Transverse means across the main flow direction. A concentration reading can signal presence, while correlated fluctuations in flow can additionally indicate where odor-bearing water is being transported.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published model showed transverse chemical transport toward the plume center on opposite sides of the plume. Useful differences emerged over averaging intervals of approximately 0.5 s. The displayed colored traces are their modeled transverse flux, not trajectories or neural recordings from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Joint chemical and mechanical sensing could therefore provide a directional cue, but the study establishes physical availability rather than biological implementation. No lobster neuron was shown multiplying velocity by concentration, and no selective behavioral test demonstrated this calculation. The proposed mechanism should remain distinct from established source-search and lesion results.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Pravin &amp; Reidenbach (2013), Fig. 11C. Authors’ modeled transverse odor flux on opposite sides of a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https://doi.org/10.3390/s131216591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Intermittency describes the temporal discontinuity of odor. Michaelis and colleagues quantified it as the count of concentration spikes crossing a threshold within a time window. Michaelis and colleagues used a turbulent-plume model validated against laboratory fluorescence and velocity measurements. They compared intermittency with concentration as potential information for aquatic odor-source tracking.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threshold defines an encounter when concentration crosses from below to above it. Its choice can change encounter counts, so an intermittency code requires a biologically plausible detector as well as a physically realistic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model covered a 5 × 0.5 × 0.15 m domain with mean flow near 0.02 m/s. Intermittency profiles depended on cross-stream position and the observation window. At plume edges, bilateral differences in encounter frequency could remain informative when instantaneous concentration was unreliable.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propose a statistic that complements a mean concentration reading. The published profiles are model-derived and threshold dependent, not direct measurements of lobster navigation commands. Physical validation strengthens the plume representation but does not validate every assumption about sensory thresholds, memory windows or bilateral neural comparisons.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Michaelis et al. (2020), Fig. 6. Authors’ modeled concentration-spike counts across the plume at different sampling frequencies.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https://doi.org/10.1038/s41598-020-64766-y</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Michaelis and colleagues compared modeled intermittency estimates at different sampling frequencies and tested simulated search rules. The original figure shows how a finite observation window and sample schedule affect the estimated chemical statistic. This makes sampling strategy part of the navigation hypothesis rather than a passive detail.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strongest next test would manipulate a specific timing mechanism while preserving chemical detection, then measure path efficiency under controlled plume statistics. That experiment would link a proposed neural code to its behavioral consequence.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results support temporal encounter information alongside concentration under specified plume conditions. Earlier measurements show why those conditions matter: flicking changes encounter gaps, bursting neurons respond according to recent history, and removing one antennular pathway can preserve arrival while reducing path straightness.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Together, the studies connect physical acquisition, peripheral coding and source-directed behavior without establishing every intervening synapse. A complete account must distinguish measured fluid patterns, recorded neuronal responses and actual animal trajectories. Neither a successful model search nor receptor expression alone proves the mechanism that a lobster uses in nature.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Michaelis et al. (2020), Fig. 7. Authors’ model compares detected concentration-spike counts at different sampling frequencies.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https://doi.org/10.1038/s41598-020-64766-y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Behavior changes during approach. Food odor changes walking speed, heading and close-range raking; successful paths do not follow one invariant turning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pathways overlap conditionally. Either antennular chemical pathway can preserve source finding in Panulirus, while selective loss can reduce path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Sniffing filters input mechanically. Fast flicks replace water between aesthetascs; slow returns retain it, changing the timing and spatial pattern reaching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does not establish receptor function. IR localization and single-cell coexpression identify candidate machinery, but ligand specificity, channel composition and causal function require further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Timing begins in the periphery. Excitation, inhibition and intrinsic bursting occur in sensory neurons; phase-dependent responses can carry encounter-history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Navigation requires linked evidence. Central inhibition changes transmission, while plume and decoding models propose usable cues; their behavioral necessity remains to be demonstrated.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6.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7.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F4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200"/>
              <a:buFont typeface="Arial"/>
              <a:buNone/>
            </a:pPr>
            <a:r>
              <a:rPr b="0" i="0" lang="en-US" sz="1200">
                <a:solidFill>
                  <a:srgbClr val="743B4A"/>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800"/>
              <a:buFont typeface="Arial"/>
              <a:buNone/>
            </a:pPr>
            <a:r>
              <a:rPr b="0" i="0" lang="en-US" sz="1800">
                <a:solidFill>
                  <a:srgbClr val="743B4A"/>
                </a:solidFill>
                <a:latin typeface="Arial"/>
                <a:ea typeface="Arial"/>
                <a:cs typeface="Arial"/>
                <a:sym typeface="Arial"/>
              </a:rPr>
              <a:t>Lecture 25</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6855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2A32"/>
              </a:buClr>
              <a:buSzPts val="2500"/>
              <a:buFont typeface="Arial"/>
              <a:buNone/>
            </a:pPr>
            <a:r>
              <a:rPr b="1" i="0" lang="en-US" sz="2500">
                <a:solidFill>
                  <a:schemeClr val="dk1"/>
                </a:solidFill>
                <a:latin typeface="Arial"/>
                <a:ea typeface="Arial"/>
                <a:cs typeface="Arial"/>
                <a:sym typeface="Arial"/>
              </a:rPr>
              <a:t>Chemoreception II: lobster olfactory search behavior</a:t>
            </a:r>
            <a:endParaRPr sz="1800">
              <a:solidFill>
                <a:schemeClr val="dk1"/>
              </a:solidFill>
              <a:latin typeface="Calibri"/>
              <a:ea typeface="Calibri"/>
              <a:cs typeface="Calibri"/>
              <a:sym typeface="Calibri"/>
            </a:endParaRPr>
          </a:p>
        </p:txBody>
      </p:sp>
      <p:sp>
        <p:nvSpPr>
          <p:cNvPr id="23" name="Google Shape;23;p1"/>
          <p:cNvSpPr/>
          <p:nvPr/>
        </p:nvSpPr>
        <p:spPr>
          <a:xfrm>
            <a:off x="685800" y="4465588"/>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0" i="0" lang="en-US" sz="1600">
                <a:solidFill>
                  <a:srgbClr val="743B4A"/>
                </a:solidFill>
                <a:latin typeface="Arial"/>
                <a:ea typeface="Arial"/>
                <a:cs typeface="Arial"/>
                <a:sym typeface="Arial"/>
              </a:rPr>
              <a:t>Friday, October 23, 2026</a:t>
            </a:r>
            <a:endParaRPr sz="1800">
              <a:solidFill>
                <a:schemeClr val="dk1"/>
              </a:solidFill>
              <a:latin typeface="Calibri"/>
              <a:ea typeface="Calibri"/>
              <a:cs typeface="Calibri"/>
              <a:sym typeface="Calibri"/>
            </a:endParaRPr>
          </a:p>
        </p:txBody>
      </p:sp>
      <p:sp>
        <p:nvSpPr>
          <p:cNvPr id="24" name="Google Shape;24;p1"/>
          <p:cNvSpPr/>
          <p:nvPr/>
        </p:nvSpPr>
        <p:spPr>
          <a:xfrm>
            <a:off x="685800" y="5394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200"/>
              <a:buFont typeface="Arial"/>
              <a:buNone/>
            </a:pPr>
            <a:r>
              <a:rPr b="0" i="0" lang="en-US" sz="1200">
                <a:solidFill>
                  <a:srgbClr val="743B4A"/>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584627"/>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200"/>
              <a:buFont typeface="Arial"/>
              <a:buNone/>
            </a:pPr>
            <a:r>
              <a:rPr b="0" i="0" lang="en-US" sz="1200">
                <a:solidFill>
                  <a:srgbClr val="743B4A"/>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54" y="822871"/>
            <a:ext cx="5181292" cy="4056906"/>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Pravin &amp; Reidenbach (2013), Fig. 1C. Caribbean spiny lobster with its lateral antennule labeled.</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Food odor organizes source-directed walking</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Chemoreception</a:t>
            </a:r>
            <a:r>
              <a:rPr b="0" i="0" lang="en-US" sz="1600">
                <a:solidFill>
                  <a:srgbClr val="252D35"/>
                </a:solidFill>
                <a:latin typeface="Arial"/>
                <a:ea typeface="Arial"/>
                <a:cs typeface="Arial"/>
                <a:sym typeface="Arial"/>
              </a:rPr>
              <a:t> is the detection of chemicals by sensory cells. Clawed lobsters, </a:t>
            </a:r>
            <a:r>
              <a:rPr b="0" i="1" lang="en-US" sz="1600">
                <a:solidFill>
                  <a:srgbClr val="252D35"/>
                </a:solidFill>
                <a:latin typeface="Arial"/>
                <a:ea typeface="Arial"/>
                <a:cs typeface="Arial"/>
                <a:sym typeface="Arial"/>
              </a:rPr>
              <a:t>Homarus americanus</a:t>
            </a:r>
            <a:r>
              <a:rPr b="0" i="0" lang="en-US" sz="1600">
                <a:solidFill>
                  <a:srgbClr val="252D35"/>
                </a:solidFill>
                <a:latin typeface="Arial"/>
                <a:ea typeface="Arial"/>
                <a:cs typeface="Arial"/>
                <a:sym typeface="Arial"/>
              </a:rPr>
              <a:t>, use dissolved food odors while walking across the seabed. Moore, Scholz and Atema compared paths toward mussel extract with paths recorded during otherwise equivalent raw-seawater delivery.</a:t>
            </a:r>
            <a:endParaRPr sz="1800">
              <a:solidFill>
                <a:schemeClr val="dk1"/>
              </a:solidFill>
              <a:latin typeface="Calibri"/>
              <a:ea typeface="Calibri"/>
              <a:cs typeface="Calibri"/>
              <a:sym typeface="Calibri"/>
            </a:endParaRPr>
          </a:p>
        </p:txBody>
      </p:sp>
      <p:sp>
        <p:nvSpPr>
          <p:cNvPr id="34" name="Google Shape;34;p2"/>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Odor-search paths contained pauses, sideways movement and backward steps while still progressing toward the source. Mean walking speed was 5.94 cm/s during odor trials, compared with 10.81 cm/s in controls. Faster movement therefore did not necessarily indicate better source-directed searching.</a:t>
            </a:r>
            <a:endParaRPr sz="1800">
              <a:solidFill>
                <a:schemeClr val="dk1"/>
              </a:solidFill>
              <a:latin typeface="Calibri"/>
              <a:ea typeface="Calibri"/>
              <a:cs typeface="Calibri"/>
              <a:sym typeface="Calibri"/>
            </a:endParaRPr>
          </a:p>
        </p:txBody>
      </p:sp>
      <p:sp>
        <p:nvSpPr>
          <p:cNvPr id="35" name="Google Shape;35;p2"/>
          <p:cNvSpPr/>
          <p:nvPr/>
        </p:nvSpPr>
        <p:spPr>
          <a:xfrm>
            <a:off x="566886" y="4110633"/>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trajectories demonstrate that chemical stimulation reorganizes locomotion under flowing-water conditions. Only motivated, successful approaches were included in the detailed analysis, so these measurements do not estimate the success probability of all lobsters. They also do not identify the neurons that select each correction.</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612064" y="1280071"/>
            <a:ext cx="4859233" cy="4297561"/>
          </a:xfrm>
          <a:prstGeom prst="rect">
            <a:avLst/>
          </a:prstGeom>
          <a:noFill/>
          <a:ln>
            <a:noFill/>
          </a:ln>
        </p:spPr>
      </p:pic>
      <p:sp>
        <p:nvSpPr>
          <p:cNvPr id="37" name="Google Shape;37;p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5A–C. Repeated recorded source-search paths of individual lobsters.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flume separates chemical input from water flow</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flume</a:t>
            </a:r>
            <a:r>
              <a:rPr b="0" i="0" lang="en-US" sz="1600">
                <a:solidFill>
                  <a:srgbClr val="252D35"/>
                </a:solidFill>
                <a:latin typeface="Arial"/>
                <a:ea typeface="Arial"/>
                <a:cs typeface="Arial"/>
                <a:sym typeface="Arial"/>
              </a:rPr>
              <a:t> is a channel that supplies controlled flowing water. Moore and colleagues tested lobsters in a 250 × 90 × 20 cm arena with a current of 1.0 cm/s. A reference grid and overhead video allowed position and heading to be measured.</a:t>
            </a:r>
            <a:endParaRPr sz="1800">
              <a:solidFill>
                <a:schemeClr val="dk1"/>
              </a:solidFill>
              <a:latin typeface="Calibri"/>
              <a:ea typeface="Calibri"/>
              <a:cs typeface="Calibri"/>
              <a:sym typeface="Calibri"/>
            </a:endParaRPr>
          </a:p>
        </p:txBody>
      </p:sp>
      <p:sp>
        <p:nvSpPr>
          <p:cNvPr id="47" name="Google Shape;47;p3"/>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Mussel extract at 0.5 g/L was delivered at 50 mL/min from a source 9 cm above the bottom. Control trials substituted raw seawater while retaining delivery conditions. Rostrum positions were digitized once per second, providing a common spatial and temporal reference for comparisons.</a:t>
            </a:r>
            <a:endParaRPr sz="1800">
              <a:solidFill>
                <a:schemeClr val="dk1"/>
              </a:solidFill>
              <a:latin typeface="Calibri"/>
              <a:ea typeface="Calibri"/>
              <a:cs typeface="Calibri"/>
              <a:sym typeface="Calibri"/>
            </a:endParaRPr>
          </a:p>
        </p:txBody>
      </p:sp>
      <p:sp>
        <p:nvSpPr>
          <p:cNvPr id="48" name="Google Shape;48;p3"/>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These controls attribute behavioral differences to the presence of the food extract rather than the existence of current or a delivery tube alone. The extract is a mixture, not an identified receptor ligand. Its source concentration also differs from the fluctuating concentration reaching the animal downstream.</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58469" y="1280071"/>
            <a:ext cx="5166274" cy="4092625"/>
          </a:xfrm>
          <a:prstGeom prst="rect">
            <a:avLst/>
          </a:prstGeom>
          <a:noFill/>
          <a:ln>
            <a:noFill/>
          </a:ln>
        </p:spPr>
      </p:pic>
      <p:sp>
        <p:nvSpPr>
          <p:cNvPr id="50" name="Google Shape;50;p3"/>
          <p:cNvSpPr/>
          <p:nvPr/>
        </p:nvSpPr>
        <p:spPr>
          <a:xfrm>
            <a:off x="6458396" y="546422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1A–B. Flume, odor delivery and reference grid.</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Speed and heading change during the approach</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Heading angle</a:t>
            </a:r>
            <a:r>
              <a:rPr b="0" i="0" lang="en-US" sz="1600">
                <a:solidFill>
                  <a:srgbClr val="252D35"/>
                </a:solidFill>
                <a:latin typeface="Arial"/>
                <a:ea typeface="Arial"/>
                <a:cs typeface="Arial"/>
                <a:sym typeface="Arial"/>
              </a:rPr>
              <a:t> describes the direction of the lobster’s body relative to upstream. Moore and colleagues grouped recorded behavior by distance from the source. This analysis asks whether the approach is uniform or changes as chemical and mechanical conditions change.</a:t>
            </a:r>
            <a:endParaRPr sz="1800">
              <a:solidFill>
                <a:schemeClr val="dk1"/>
              </a:solidFill>
              <a:latin typeface="Calibri"/>
              <a:ea typeface="Calibri"/>
              <a:cs typeface="Calibri"/>
              <a:sym typeface="Calibri"/>
            </a:endParaRPr>
          </a:p>
        </p:txBody>
      </p:sp>
      <p:sp>
        <p:nvSpPr>
          <p:cNvPr id="60" name="Google Shape;60;p4"/>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From 240 to 110 cm away, mean speed increased from 2.3 to 7.8 cm/s while heading decreased from 98.8° to about 20°. Between 110 and 40 cm, speed remained near 7 cm/s. Within the final 40 cm, speed fell toward 4.7 cm/s and heading increased toward 37°.</a:t>
            </a:r>
            <a:endParaRPr sz="1800">
              <a:solidFill>
                <a:schemeClr val="dk1"/>
              </a:solidFill>
              <a:latin typeface="Calibri"/>
              <a:ea typeface="Calibri"/>
              <a:cs typeface="Calibri"/>
              <a:sym typeface="Calibri"/>
            </a:endParaRPr>
          </a:p>
        </p:txBody>
      </p:sp>
      <p:sp>
        <p:nvSpPr>
          <p:cNvPr id="61" name="Google Shape;61;p4"/>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These transitions establish distinct movement regimes during successful searching. They are consistent with changing sensory guidance near the source, but distance covaries with plume structure and concentration. The experiment therefore does not establish a dedicated neuronal distance code or prove that one chemical gradient causes every transition.</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458503" y="1280071"/>
            <a:ext cx="5166207" cy="2978051"/>
          </a:xfrm>
          <a:prstGeom prst="rect">
            <a:avLst/>
          </a:prstGeom>
          <a:noFill/>
          <a:ln>
            <a:noFill/>
          </a:ln>
        </p:spPr>
      </p:pic>
      <p:sp>
        <p:nvSpPr>
          <p:cNvPr id="63" name="Google Shape;63;p4"/>
          <p:cNvSpPr/>
          <p:nvPr/>
        </p:nvSpPr>
        <p:spPr>
          <a:xfrm>
            <a:off x="6458396" y="434965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6. Walking speed and heading versus distance from the source.</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Recorded turns do not reveal a fixed casting program</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Turning angle</a:t>
            </a:r>
            <a:r>
              <a:rPr b="0" i="0" lang="en-US" sz="1600">
                <a:solidFill>
                  <a:srgbClr val="252D35"/>
                </a:solidFill>
                <a:latin typeface="Arial"/>
                <a:ea typeface="Arial"/>
                <a:cs typeface="Arial"/>
                <a:sym typeface="Arial"/>
              </a:rPr>
              <a:t> is the change in movement direction between successive path segments. Moore and colleagues compared heading and turn distributions in odor-search trials. A stereotyped alternating search program would predict consistently organized counterturns rather than the observed broad variation among paths.</a:t>
            </a:r>
            <a:endParaRPr sz="1800">
              <a:solidFill>
                <a:schemeClr val="dk1"/>
              </a:solidFill>
              <a:latin typeface="Calibri"/>
              <a:ea typeface="Calibri"/>
              <a:cs typeface="Calibri"/>
              <a:sym typeface="Calibri"/>
            </a:endParaRPr>
          </a:p>
        </p:txBody>
      </p:sp>
      <p:sp>
        <p:nvSpPr>
          <p:cNvPr id="73" name="Google Shape;73;p5"/>
          <p:cNvSpPr/>
          <p:nvPr/>
        </p:nvSpPr>
        <p:spPr>
          <a:xfrm>
            <a:off x="566886" y="2891879"/>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Experimental headings were centered around 0–10°, and turns around 10–20°. Individual animals followed variable paths across repeated trials. Odor stimulation supported an upstream bias without producing a single characteristic path that every lobster repeated at fixed intervals.</a:t>
            </a:r>
            <a:endParaRPr sz="1800">
              <a:solidFill>
                <a:schemeClr val="dk1"/>
              </a:solidFill>
              <a:latin typeface="Calibri"/>
              <a:ea typeface="Calibri"/>
              <a:cs typeface="Calibri"/>
              <a:sym typeface="Calibri"/>
            </a:endParaRPr>
          </a:p>
        </p:txBody>
      </p:sp>
      <p:sp>
        <p:nvSpPr>
          <p:cNvPr id="74" name="Google Shape;74;p5"/>
          <p:cNvSpPr/>
          <p:nvPr/>
        </p:nvSpPr>
        <p:spPr>
          <a:xfrm>
            <a:off x="566886" y="4330005"/>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findings weaken a simple invariant counterturn account for this preparation. They do not exclude central motor programs altogether: sensory feedback could modify an internally generated movement sequence. The data also leave open how bilateral antennular input and water-flow information contribute to the observed directional corrections.</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333984" y="1280071"/>
            <a:ext cx="3415244" cy="4297561"/>
          </a:xfrm>
          <a:prstGeom prst="rect">
            <a:avLst/>
          </a:prstGeom>
          <a:noFill/>
          <a:ln>
            <a:noFill/>
          </a:ln>
        </p:spPr>
      </p:pic>
      <p:sp>
        <p:nvSpPr>
          <p:cNvPr id="76" name="Google Shape;76;p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4A–B. Heading and turning-angle distributions.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Close-range searching recruits walking-leg raking</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Moore and colleagues measured </a:t>
            </a:r>
            <a:r>
              <a:rPr b="1" i="0" lang="en-US" sz="1600">
                <a:solidFill>
                  <a:srgbClr val="743B4A"/>
                </a:solidFill>
                <a:latin typeface="Arial"/>
                <a:ea typeface="Arial"/>
                <a:cs typeface="Arial"/>
                <a:sym typeface="Arial"/>
              </a:rPr>
              <a:t>leg raking</a:t>
            </a:r>
            <a:r>
              <a:rPr b="0" i="0" lang="en-US" sz="1600">
                <a:solidFill>
                  <a:srgbClr val="252D35"/>
                </a:solidFill>
                <a:latin typeface="Arial"/>
                <a:ea typeface="Arial"/>
                <a:cs typeface="Arial"/>
                <a:sym typeface="Arial"/>
              </a:rPr>
              <a:t>, repeated movements that bring walking-leg sensory surfaces into contact with the local environment. They compared raking rates at several distances from the odor source, testing whether close-range searching involves more than antennular sampling.</a:t>
            </a:r>
            <a:endParaRPr sz="1800">
              <a:solidFill>
                <a:schemeClr val="dk1"/>
              </a:solidFill>
              <a:latin typeface="Calibri"/>
              <a:ea typeface="Calibri"/>
              <a:cs typeface="Calibri"/>
              <a:sym typeface="Calibri"/>
            </a:endParaRPr>
          </a:p>
        </p:txBody>
      </p:sp>
      <p:sp>
        <p:nvSpPr>
          <p:cNvPr id="86" name="Google Shape;86;p6"/>
          <p:cNvSpPr/>
          <p:nvPr/>
        </p:nvSpPr>
        <p:spPr>
          <a:xfrm>
            <a:off x="566886" y="2672507"/>
            <a:ext cx="5544741"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Raking averaged 3.4 events per 5 s within 7 cm of the source, 2.6 at 7–15 cm, and 1.15 at 15–22 cm. Beyond 22 cm it averaged only 0.1 per 5 s. Most recorded raking therefore occurred near the source.</a:t>
            </a:r>
            <a:endParaRPr sz="1800">
              <a:solidFill>
                <a:schemeClr val="dk1"/>
              </a:solidFill>
              <a:latin typeface="Calibri"/>
              <a:ea typeface="Calibri"/>
              <a:cs typeface="Calibri"/>
              <a:sym typeface="Calibri"/>
            </a:endParaRPr>
          </a:p>
        </p:txBody>
      </p:sp>
      <p:sp>
        <p:nvSpPr>
          <p:cNvPr id="87" name="Google Shape;87;p6"/>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change supports recruitment of near-substrate sampling during final localization. A switch from antennular guidance to leg-based guidance was the authors’ interpretation, rather than a selective-lesion result in this study. Increased raking could also accompany contact exploration or feeding preparation, so its sensory cause requires separate tests.</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612064" y="1280071"/>
            <a:ext cx="4859233" cy="4297561"/>
          </a:xfrm>
          <a:prstGeom prst="rect">
            <a:avLst/>
          </a:prstGeom>
          <a:noFill/>
          <a:ln>
            <a:noFill/>
          </a:ln>
        </p:spPr>
      </p:pic>
      <p:sp>
        <p:nvSpPr>
          <p:cNvPr id="89" name="Google Shape;89;p6"/>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5A–C. Repeated recorded source-search paths of individual lobsters.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Two antennular pathways can guide spiny lobsters</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Caribbean spiny lobster, </a:t>
            </a:r>
            <a:r>
              <a:rPr b="0" i="1" lang="en-US" sz="1500">
                <a:solidFill>
                  <a:srgbClr val="252D35"/>
                </a:solidFill>
                <a:latin typeface="Arial"/>
                <a:ea typeface="Arial"/>
                <a:cs typeface="Arial"/>
                <a:sym typeface="Arial"/>
              </a:rPr>
              <a:t>Panulirus argus</a:t>
            </a:r>
            <a:r>
              <a:rPr b="0" i="0" lang="en-US" sz="1500">
                <a:solidFill>
                  <a:srgbClr val="252D35"/>
                </a:solidFill>
                <a:latin typeface="Arial"/>
                <a:ea typeface="Arial"/>
                <a:cs typeface="Arial"/>
                <a:sym typeface="Arial"/>
              </a:rPr>
              <a:t>, differs from the clawed lobster used in the earlier flume study. Its antennules carry </a:t>
            </a:r>
            <a:r>
              <a:rPr b="1" i="0" lang="en-US" sz="1500">
                <a:solidFill>
                  <a:srgbClr val="743B4A"/>
                </a:solidFill>
                <a:latin typeface="Arial"/>
                <a:ea typeface="Arial"/>
                <a:cs typeface="Arial"/>
                <a:sym typeface="Arial"/>
              </a:rPr>
              <a:t>aesthetascs</a:t>
            </a:r>
            <a:r>
              <a:rPr b="0" i="0" lang="en-US" sz="1500">
                <a:solidFill>
                  <a:srgbClr val="252D35"/>
                </a:solidFill>
                <a:latin typeface="Arial"/>
                <a:ea typeface="Arial"/>
                <a:cs typeface="Arial"/>
                <a:sym typeface="Arial"/>
              </a:rPr>
              <a:t>, specialized olfactory hairs, together with non-aesthetasc sensilla containing other chemical and mechanical sensory neurons. These populations offer potentially overlapping information.</a:t>
            </a:r>
            <a:endParaRPr sz="1800">
              <a:solidFill>
                <a:schemeClr val="dk1"/>
              </a:solidFill>
              <a:latin typeface="Calibri"/>
              <a:ea typeface="Calibri"/>
              <a:cs typeface="Calibri"/>
              <a:sym typeface="Calibri"/>
            </a:endParaRPr>
          </a:p>
        </p:txBody>
      </p:sp>
      <p:sp>
        <p:nvSpPr>
          <p:cNvPr id="99" name="Google Shape;99;p7"/>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Horner, Weissburg and Derby tested 48–74 mm carapace-length animals in a 5,000-L flume with flow near 5 cm/s. Shrimp extract at 3 or 0.3 g/L supplied high- and low-odor treatments; seawater supplied a chemical control. Selective manipulations targeted different sensory populations on both antennules.</a:t>
            </a:r>
            <a:endParaRPr sz="1800">
              <a:solidFill>
                <a:schemeClr val="dk1"/>
              </a:solidFill>
              <a:latin typeface="Calibri"/>
              <a:ea typeface="Calibri"/>
              <a:cs typeface="Calibri"/>
              <a:sym typeface="Calibri"/>
            </a:endParaRPr>
          </a:p>
        </p:txBody>
      </p:sp>
      <p:sp>
        <p:nvSpPr>
          <p:cNvPr id="100" name="Google Shape;100;p7"/>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experiment asks whether one pathway is indispensable for food-source localization under realistic flow. A preserved response after removing one population can show that the remaining pathway is sufficient in this assay. It cannot establish that the populations are identical or redundant in every natural behavior.</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6973446" y="1280071"/>
            <a:ext cx="4136768" cy="4297561"/>
          </a:xfrm>
          <a:prstGeom prst="rect">
            <a:avLst/>
          </a:prstGeom>
          <a:noFill/>
          <a:ln>
            <a:noFill/>
          </a:ln>
        </p:spPr>
      </p:pic>
      <p:sp>
        <p:nvSpPr>
          <p:cNvPr id="102" name="Google Shape;102;p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1A–F. Body and antennular sensory structures.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Selective lesions require distinct procedural controls</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Horner and colleagues used several interventions because sensory hairs can contain different neuron types. Shaving removed about 99.8% of aesthetascs. Removing and sealing non-aesthetasc sensilla targeted another pathway, while a 15-min distilled-water treatment temporarily impaired antennular chemosensitivity.</a:t>
            </a:r>
            <a:endParaRPr sz="1800">
              <a:solidFill>
                <a:schemeClr val="dk1"/>
              </a:solidFill>
              <a:latin typeface="Calibri"/>
              <a:ea typeface="Calibri"/>
              <a:cs typeface="Calibri"/>
              <a:sym typeface="Calibri"/>
            </a:endParaRPr>
          </a:p>
        </p:txBody>
      </p:sp>
      <p:sp>
        <p:nvSpPr>
          <p:cNvPr id="112" name="Google Shape;112;p8"/>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source was positioned 2 m upstream of release. High and low shrimp concentrations were compared with seawater, and animals were offered shrimp afterward to check feeding motivation. Some manipulations also affected mechanoreceptors, an important qualification when interpreting a failure to orient.</a:t>
            </a:r>
            <a:endParaRPr sz="1800">
              <a:solidFill>
                <a:schemeClr val="dk1"/>
              </a:solidFill>
              <a:latin typeface="Calibri"/>
              <a:ea typeface="Calibri"/>
              <a:cs typeface="Calibri"/>
              <a:sym typeface="Calibri"/>
            </a:endParaRPr>
          </a:p>
        </p:txBody>
      </p:sp>
      <p:sp>
        <p:nvSpPr>
          <p:cNvPr id="113" name="Google Shape;113;p8"/>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combination separates chemical guidance from complete loss of appetite more effectively than a lesion alone. Distilled-water treatment is reversible over approximately 24 h, but is not a molecularly selective receptor knockout. The conclusions concern the sensory populations affected by each treatment and the particular flow assay.</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325162" y="1280071"/>
            <a:ext cx="5204585" cy="2925961"/>
          </a:xfrm>
          <a:prstGeom prst="rect">
            <a:avLst/>
          </a:prstGeom>
          <a:noFill/>
          <a:ln>
            <a:noFill/>
          </a:ln>
        </p:spPr>
      </p:pic>
      <p:sp>
        <p:nvSpPr>
          <p:cNvPr id="115" name="Google Shape;115;p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2. Shrimp-odor source, flow chamber and lobster release position.</a:t>
            </a:r>
            <a:endParaRPr sz="1800">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17" name="Google Shape;117;p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20" name="Google Shape;12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Either pathway can preserve food-source finding</a:t>
            </a:r>
            <a:endParaRPr sz="1800">
              <a:solidFill>
                <a:schemeClr val="dk1"/>
              </a:solidFill>
              <a:latin typeface="Calibri"/>
              <a:ea typeface="Calibri"/>
              <a:cs typeface="Calibri"/>
              <a:sym typeface="Calibri"/>
            </a:endParaRPr>
          </a:p>
        </p:txBody>
      </p:sp>
      <p:sp>
        <p:nvSpPr>
          <p:cNvPr id="126" name="Google Shape;126;p9"/>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Horner and colleagues measured the proportion of lobsters reaching the odor source after selective bilateral sensory manipulation. Intact animals found the high-odor source in 68% of trials and the low-odor source in 45%; no intact animal located a seawater source.</a:t>
            </a:r>
            <a:endParaRPr sz="1800">
              <a:solidFill>
                <a:schemeClr val="dk1"/>
              </a:solidFill>
              <a:latin typeface="Calibri"/>
              <a:ea typeface="Calibri"/>
              <a:cs typeface="Calibri"/>
              <a:sym typeface="Calibri"/>
            </a:endParaRPr>
          </a:p>
        </p:txBody>
      </p:sp>
      <p:sp>
        <p:nvSpPr>
          <p:cNvPr id="127" name="Google Shape;127;p9"/>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After aesthetasc removal, success remained 77% for high odor and 69% for low odor. Removing non-aesthetasc chemo-mechanosensory sensilla also preserved source finding, at 64% and 45%. In contrast, eliminating antennular chemoreceptor input broadly produced very poor localization.</a:t>
            </a:r>
            <a:endParaRPr sz="1800">
              <a:solidFill>
                <a:schemeClr val="dk1"/>
              </a:solidFill>
              <a:latin typeface="Calibri"/>
              <a:ea typeface="Calibri"/>
              <a:cs typeface="Calibri"/>
              <a:sym typeface="Calibri"/>
            </a:endParaRPr>
          </a:p>
        </p:txBody>
      </p:sp>
      <p:sp>
        <p:nvSpPr>
          <p:cNvPr id="128" name="Google Shape;128;p9"/>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Either retained antennular chemical pathway can therefore support this food-search task. The results do not show that aesthetascs are unnecessary for all olfactory functions or that increased percentages demonstrate an improvement caused by removal. Variable success and the different effects of each manipulation must be interpreted within the tested preparation.</a:t>
            </a:r>
            <a:endParaRPr sz="1800">
              <a:solidFill>
                <a:schemeClr val="dk1"/>
              </a:solidFill>
              <a:latin typeface="Calibri"/>
              <a:ea typeface="Calibri"/>
              <a:cs typeface="Calibri"/>
              <a:sym typeface="Calibri"/>
            </a:endParaRPr>
          </a:p>
        </p:txBody>
      </p:sp>
      <p:pic>
        <p:nvPicPr>
          <p:cNvPr id="129" name="Google Shape;129;p9"/>
          <p:cNvPicPr preferRelativeResize="0"/>
          <p:nvPr/>
        </p:nvPicPr>
        <p:blipFill rotWithShape="1">
          <a:blip r:embed="rId3">
            <a:alphaModFix/>
          </a:blip>
          <a:srcRect b="0" l="0" r="0" t="0"/>
          <a:stretch/>
        </p:blipFill>
        <p:spPr>
          <a:xfrm>
            <a:off x="6662887" y="1280071"/>
            <a:ext cx="4529285" cy="2925961"/>
          </a:xfrm>
          <a:prstGeom prst="rect">
            <a:avLst/>
          </a:prstGeom>
          <a:noFill/>
          <a:ln>
            <a:noFill/>
          </a:ln>
        </p:spPr>
      </p:pic>
      <p:sp>
        <p:nvSpPr>
          <p:cNvPr id="130" name="Google Shape;130;p9"/>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3. Source-finding success after selective antennular lesions.</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32" name="Google Shape;132;p9"/>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Successful searching can still become less efficient</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Net-to-gross displacement ratio</a:t>
            </a:r>
            <a:r>
              <a:rPr b="0" i="0" lang="en-US" sz="1500">
                <a:solidFill>
                  <a:srgbClr val="252D35"/>
                </a:solidFill>
                <a:latin typeface="Arial"/>
                <a:ea typeface="Arial"/>
                <a:cs typeface="Arial"/>
                <a:sym typeface="Arial"/>
              </a:rPr>
              <a:t>, or NGDR, is straight-line displacement divided by total path length. A value closer to one indicates a straighter route. Horner and colleagues measured this variable separately from eventual source-finding success, together with arrival time, speed and heading.</a:t>
            </a:r>
            <a:endParaRPr sz="1800">
              <a:solidFill>
                <a:schemeClr val="dk1"/>
              </a:solidFill>
              <a:latin typeface="Calibri"/>
              <a:ea typeface="Calibri"/>
              <a:cs typeface="Calibri"/>
              <a:sym typeface="Calibri"/>
            </a:endParaRPr>
          </a:p>
        </p:txBody>
      </p:sp>
      <p:sp>
        <p:nvSpPr>
          <p:cNvPr id="142" name="Google Shape;142;p10"/>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At high odor concentration, mean NGDR was 0.82 in controls, compared with 0.63 after aesthetasc removal and 0.62 after non-aesthetasc chemo-mechanosensory removal. Mean arrival times across treatment groups were at most 96 s for high odor and 176 s for low odor.</a:t>
            </a:r>
            <a:endParaRPr sz="1800">
              <a:solidFill>
                <a:schemeClr val="dk1"/>
              </a:solidFill>
              <a:latin typeface="Calibri"/>
              <a:ea typeface="Calibri"/>
              <a:cs typeface="Calibri"/>
              <a:sym typeface="Calibri"/>
            </a:endParaRPr>
          </a:p>
        </p:txBody>
      </p:sp>
      <p:sp>
        <p:nvSpPr>
          <p:cNvPr id="143" name="Google Shape;143;p10"/>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Remaining sensory pathways can preserve arrival while losing efficient progress. Those times are group means, not upper limits for every animal. The altered routes show a contribution to search performance but do not identify whether the missing information concerned concentration, timing, flow direction or the reliability of bilateral comparisons.</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6229955" y="1280071"/>
            <a:ext cx="5394703" cy="2849463"/>
          </a:xfrm>
          <a:prstGeom prst="rect">
            <a:avLst/>
          </a:prstGeom>
          <a:noFill/>
          <a:ln>
            <a:noFill/>
          </a:ln>
        </p:spPr>
      </p:pic>
      <p:sp>
        <p:nvSpPr>
          <p:cNvPr id="145" name="Google Shape;145;p10"/>
          <p:cNvSpPr/>
          <p:nvPr/>
        </p:nvSpPr>
        <p:spPr>
          <a:xfrm>
            <a:off x="6229796" y="4221063"/>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4A–D. Arrival time, path straightness, walking speed and heading.</a:t>
            </a:r>
            <a:endParaRPr sz="1800">
              <a:solidFill>
                <a:schemeClr val="dk1"/>
              </a:solidFill>
              <a:latin typeface="Calibri"/>
              <a:ea typeface="Calibri"/>
              <a:cs typeface="Calibri"/>
              <a:sym typeface="Calibri"/>
            </a:endParaRPr>
          </a:p>
        </p:txBody>
      </p:sp>
      <p:pic>
        <p:nvPicPr>
          <p:cNvPr id="146" name="Google Shape;146;p10"/>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47" name="Google Shape;147;p10"/>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48" name="Google Shape;148;p1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50" name="Google Shape;150;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Turbulence produces patchy dissolved odor input</a:t>
            </a:r>
            <a:endParaRPr sz="1800">
              <a:solidFill>
                <a:schemeClr val="dk1"/>
              </a:solidFill>
              <a:latin typeface="Calibri"/>
              <a:ea typeface="Calibri"/>
              <a:cs typeface="Calibri"/>
              <a:sym typeface="Calibri"/>
            </a:endParaRPr>
          </a:p>
        </p:txBody>
      </p:sp>
      <p:sp>
        <p:nvSpPr>
          <p:cNvPr id="156" name="Google Shape;156;p11"/>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An </a:t>
            </a:r>
            <a:r>
              <a:rPr b="1" i="0" lang="en-US" sz="1600">
                <a:solidFill>
                  <a:srgbClr val="743B4A"/>
                </a:solidFill>
                <a:latin typeface="Arial"/>
                <a:ea typeface="Arial"/>
                <a:cs typeface="Arial"/>
                <a:sym typeface="Arial"/>
              </a:rPr>
              <a:t>odor plume</a:t>
            </a:r>
            <a:r>
              <a:rPr b="0" i="0" lang="en-US" sz="1600">
                <a:solidFill>
                  <a:srgbClr val="252D35"/>
                </a:solidFill>
                <a:latin typeface="Arial"/>
                <a:ea typeface="Arial"/>
                <a:cs typeface="Arial"/>
                <a:sym typeface="Arial"/>
              </a:rPr>
              <a:t> is the distribution of odor-bearing water transported downstream from a source. Reidenbach and Koehl visualized plumes using </a:t>
            </a:r>
            <a:r>
              <a:rPr b="1" i="0" lang="en-US" sz="1600">
                <a:solidFill>
                  <a:srgbClr val="743B4A"/>
                </a:solidFill>
                <a:latin typeface="Arial"/>
                <a:ea typeface="Arial"/>
                <a:cs typeface="Arial"/>
                <a:sym typeface="Arial"/>
              </a:rPr>
              <a:t>planar laser-induced fluorescence</a:t>
            </a:r>
            <a:r>
              <a:rPr b="0" i="0" lang="en-US" sz="1600">
                <a:solidFill>
                  <a:srgbClr val="252D35"/>
                </a:solidFill>
                <a:latin typeface="Arial"/>
                <a:ea typeface="Arial"/>
                <a:cs typeface="Arial"/>
                <a:sym typeface="Arial"/>
              </a:rPr>
              <a:t>, or PLIF: a thin laser sheet excites dissolved dye, and calibrated camera intensity estimates local concentration.</a:t>
            </a:r>
            <a:endParaRPr sz="1800">
              <a:solidFill>
                <a:schemeClr val="dk1"/>
              </a:solidFill>
              <a:latin typeface="Calibri"/>
              <a:ea typeface="Calibri"/>
              <a:cs typeface="Calibri"/>
              <a:sym typeface="Calibri"/>
            </a:endParaRPr>
          </a:p>
        </p:txBody>
      </p:sp>
      <p:sp>
        <p:nvSpPr>
          <p:cNvPr id="157" name="Google Shape;157;p11"/>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Their 25-m flume produced fine odor filaments separated by cleaner water. Images were recorded at 60 frames/s, yielding 16.7-ms temporal resolution. Measurements at different lateral positions showed a denser central plume and sparser encounters toward its edge.</a:t>
            </a:r>
            <a:endParaRPr sz="1800">
              <a:solidFill>
                <a:schemeClr val="dk1"/>
              </a:solidFill>
              <a:latin typeface="Calibri"/>
              <a:ea typeface="Calibri"/>
              <a:cs typeface="Calibri"/>
              <a:sym typeface="Calibri"/>
            </a:endParaRPr>
          </a:p>
        </p:txBody>
      </p:sp>
      <p:sp>
        <p:nvSpPr>
          <p:cNvPr id="158" name="Google Shape;158;p11"/>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images establish the physical input available to a sensory appendage, rather than recording receptor activation. Fluorescent dye is a transport tracer and need not bind lobster odor receptors. A smooth time-averaged concentration field therefore conceals the intermittent encounters and gaps that a moving animal actually samples.</a:t>
            </a:r>
            <a:endParaRPr sz="1800">
              <a:solidFill>
                <a:schemeClr val="dk1"/>
              </a:solidFill>
              <a:latin typeface="Calibri"/>
              <a:ea typeface="Calibri"/>
              <a:cs typeface="Calibri"/>
              <a:sym typeface="Calibri"/>
            </a:endParaRPr>
          </a:p>
        </p:txBody>
      </p:sp>
      <p:pic>
        <p:nvPicPr>
          <p:cNvPr id="159" name="Google Shape;159;p11"/>
          <p:cNvPicPr preferRelativeResize="0"/>
          <p:nvPr/>
        </p:nvPicPr>
        <p:blipFill rotWithShape="1">
          <a:blip r:embed="rId3">
            <a:alphaModFix/>
          </a:blip>
          <a:srcRect b="0" l="0" r="0" t="0"/>
          <a:stretch/>
        </p:blipFill>
        <p:spPr>
          <a:xfrm>
            <a:off x="6458577" y="1280071"/>
            <a:ext cx="5166058" cy="1621482"/>
          </a:xfrm>
          <a:prstGeom prst="rect">
            <a:avLst/>
          </a:prstGeom>
          <a:noFill/>
          <a:ln>
            <a:noFill/>
          </a:ln>
        </p:spPr>
      </p:pic>
      <p:sp>
        <p:nvSpPr>
          <p:cNvPr id="160" name="Google Shape;160;p11"/>
          <p:cNvSpPr/>
          <p:nvPr/>
        </p:nvSpPr>
        <p:spPr>
          <a:xfrm>
            <a:off x="6458396" y="299308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3A–C. Measured dye plumes under three flow conditions.</a:t>
            </a:r>
            <a:endParaRPr sz="1800">
              <a:solidFill>
                <a:schemeClr val="dk1"/>
              </a:solidFill>
              <a:latin typeface="Calibri"/>
              <a:ea typeface="Calibri"/>
              <a:cs typeface="Calibri"/>
              <a:sym typeface="Calibri"/>
            </a:endParaRPr>
          </a:p>
        </p:txBody>
      </p:sp>
      <p:sp>
        <p:nvSpPr>
          <p:cNvPr id="161" name="Google Shape;161;p1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63" name="Google Shape;163;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Antennular length changes the sampled chemical pattern</a:t>
            </a:r>
            <a:endParaRPr sz="1800">
              <a:solidFill>
                <a:schemeClr val="dk1"/>
              </a:solidFill>
              <a:latin typeface="Calibri"/>
              <a:ea typeface="Calibri"/>
              <a:cs typeface="Calibri"/>
              <a:sym typeface="Calibri"/>
            </a:endParaRPr>
          </a:p>
        </p:txBody>
      </p:sp>
      <p:sp>
        <p:nvSpPr>
          <p:cNvPr id="169" name="Google Shape;169;p12"/>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Reidenbach and Koehl placed virtual sampling lines within measured PLIF images to represent the aesthetasc-bearing portion of an antennule. Lobster and blue-crab geometries were compared at the same 8-cm height. This approach separates appendage geometry from differences in chemical receptor sensitivity.</a:t>
            </a:r>
            <a:endParaRPr sz="1800">
              <a:solidFill>
                <a:schemeClr val="dk1"/>
              </a:solidFill>
              <a:latin typeface="Calibri"/>
              <a:ea typeface="Calibri"/>
              <a:cs typeface="Calibri"/>
              <a:sym typeface="Calibri"/>
            </a:endParaRPr>
          </a:p>
        </p:txBody>
      </p:sp>
      <p:sp>
        <p:nvSpPr>
          <p:cNvPr id="170" name="Google Shape;170;p12"/>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lobster sampler flicked at 2 Hz and moved at 6 cm/s during the downstroke. The crab sampler was only 2 mm long and flicked at 3 Hz. Lobster geometry intercepted odor during more flicks and sampled higher peak concentrations than crab geometry.</a:t>
            </a:r>
            <a:endParaRPr sz="1800">
              <a:solidFill>
                <a:schemeClr val="dk1"/>
              </a:solidFill>
              <a:latin typeface="Calibri"/>
              <a:ea typeface="Calibri"/>
              <a:cs typeface="Calibri"/>
              <a:sym typeface="Calibri"/>
            </a:endParaRPr>
          </a:p>
        </p:txBody>
      </p:sp>
      <p:sp>
        <p:nvSpPr>
          <p:cNvPr id="171" name="Google Shape;171;p12"/>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Longer sampling structures can encounter more filaments, while faster sampling can partly compensate for shorter length. These are measurements extracted from real plume images using specified sampling assumptions. They do not show that an intact lobster consciously compares every point along its antennule or implements the authors’ analysis algorithm.</a:t>
            </a:r>
            <a:endParaRPr sz="1800">
              <a:solidFill>
                <a:schemeClr val="dk1"/>
              </a:solidFill>
              <a:latin typeface="Calibri"/>
              <a:ea typeface="Calibri"/>
              <a:cs typeface="Calibri"/>
              <a:sym typeface="Calibri"/>
            </a:endParaRPr>
          </a:p>
        </p:txBody>
      </p:sp>
      <p:pic>
        <p:nvPicPr>
          <p:cNvPr id="172" name="Google Shape;172;p12"/>
          <p:cNvPicPr preferRelativeResize="0"/>
          <p:nvPr/>
        </p:nvPicPr>
        <p:blipFill rotWithShape="1">
          <a:blip r:embed="rId3">
            <a:alphaModFix/>
          </a:blip>
          <a:srcRect b="0" l="0" r="0" t="0"/>
          <a:stretch/>
        </p:blipFill>
        <p:spPr>
          <a:xfrm>
            <a:off x="6458497" y="1280071"/>
            <a:ext cx="5166219" cy="4067770"/>
          </a:xfrm>
          <a:prstGeom prst="rect">
            <a:avLst/>
          </a:prstGeom>
          <a:noFill/>
          <a:ln>
            <a:noFill/>
          </a:ln>
        </p:spPr>
      </p:pic>
      <p:sp>
        <p:nvSpPr>
          <p:cNvPr id="173" name="Google Shape;173;p12"/>
          <p:cNvSpPr/>
          <p:nvPr/>
        </p:nvSpPr>
        <p:spPr>
          <a:xfrm>
            <a:off x="6458396" y="543937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5A–B. Colored plume filaments and concentration along a sampling transect.</a:t>
            </a:r>
            <a:endParaRPr sz="1800">
              <a:solidFill>
                <a:schemeClr val="dk1"/>
              </a:solidFill>
              <a:latin typeface="Calibri"/>
              <a:ea typeface="Calibri"/>
              <a:cs typeface="Calibri"/>
              <a:sym typeface="Calibri"/>
            </a:endParaRPr>
          </a:p>
        </p:txBody>
      </p:sp>
      <p:sp>
        <p:nvSpPr>
          <p:cNvPr id="174" name="Google Shape;174;p1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76" name="Google Shape;176;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Discrete sniffing changes the gaps between encounters</a:t>
            </a:r>
            <a:endParaRPr sz="1800">
              <a:solidFill>
                <a:schemeClr val="dk1"/>
              </a:solidFill>
              <a:latin typeface="Calibri"/>
              <a:ea typeface="Calibri"/>
              <a:cs typeface="Calibri"/>
              <a:sym typeface="Calibri"/>
            </a:endParaRPr>
          </a:p>
        </p:txBody>
      </p:sp>
      <p:sp>
        <p:nvSpPr>
          <p:cNvPr id="182" name="Google Shape;182;p13"/>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An </a:t>
            </a:r>
            <a:r>
              <a:rPr b="1" i="0" lang="en-US" sz="1500">
                <a:solidFill>
                  <a:srgbClr val="743B4A"/>
                </a:solidFill>
                <a:latin typeface="Arial"/>
                <a:ea typeface="Arial"/>
                <a:cs typeface="Arial"/>
                <a:sym typeface="Arial"/>
              </a:rPr>
              <a:t>odor-free gap</a:t>
            </a:r>
            <a:r>
              <a:rPr b="0" i="0" lang="en-US" sz="1500">
                <a:solidFill>
                  <a:srgbClr val="252D35"/>
                </a:solidFill>
                <a:latin typeface="Arial"/>
                <a:ea typeface="Arial"/>
                <a:cs typeface="Arial"/>
                <a:sym typeface="Arial"/>
              </a:rPr>
              <a:t> is an interval without an encounter above the chosen detection threshold. Reidenbach and Koehl compared continuous concentration measurements with concentrations encountered by virtual flicking antennules. The comparison tests whether intermittent movement changes the timing of available chemical information.</a:t>
            </a:r>
            <a:endParaRPr sz="1800">
              <a:solidFill>
                <a:schemeClr val="dk1"/>
              </a:solidFill>
              <a:latin typeface="Calibri"/>
              <a:ea typeface="Calibri"/>
              <a:cs typeface="Calibri"/>
              <a:sym typeface="Calibri"/>
            </a:endParaRPr>
          </a:p>
        </p:txBody>
      </p:sp>
      <p:sp>
        <p:nvSpPr>
          <p:cNvPr id="183" name="Google Shape;183;p13"/>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Almost all gaps in continuously measured concentration were shorter than 500 ms throughout the sampled plume. Flicking antennules instead experienced longer gaps, and their gaps increased as downstream distance to the source decreased. Sampling schedule altered the input statistics before neural processing occurred.</a:t>
            </a:r>
            <a:endParaRPr sz="1800">
              <a:solidFill>
                <a:schemeClr val="dk1"/>
              </a:solidFill>
              <a:latin typeface="Calibri"/>
              <a:ea typeface="Calibri"/>
              <a:cs typeface="Calibri"/>
              <a:sym typeface="Calibri"/>
            </a:endParaRPr>
          </a:p>
        </p:txBody>
      </p:sp>
      <p:sp>
        <p:nvSpPr>
          <p:cNvPr id="184" name="Google Shape;184;p13"/>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counterintuitive distance relationship shows why encounter frequency cannot be treated as a universal distance ruler. The result depends on plume transport, threshold and flicking geometry. It identifies available temporal cues but does not establish that a lobster uses this particular gap statistic to choose a turn.</a:t>
            </a:r>
            <a:endParaRPr sz="1800">
              <a:solidFill>
                <a:schemeClr val="dk1"/>
              </a:solidFill>
              <a:latin typeface="Calibri"/>
              <a:ea typeface="Calibri"/>
              <a:cs typeface="Calibri"/>
              <a:sym typeface="Calibri"/>
            </a:endParaRPr>
          </a:p>
        </p:txBody>
      </p:sp>
      <p:pic>
        <p:nvPicPr>
          <p:cNvPr id="185" name="Google Shape;185;p13"/>
          <p:cNvPicPr preferRelativeResize="0"/>
          <p:nvPr/>
        </p:nvPicPr>
        <p:blipFill rotWithShape="1">
          <a:blip r:embed="rId3">
            <a:alphaModFix/>
          </a:blip>
          <a:srcRect b="0" l="0" r="0" t="0"/>
          <a:stretch/>
        </p:blipFill>
        <p:spPr>
          <a:xfrm>
            <a:off x="7175938" y="1280071"/>
            <a:ext cx="3731337" cy="4297561"/>
          </a:xfrm>
          <a:prstGeom prst="rect">
            <a:avLst/>
          </a:prstGeom>
          <a:noFill/>
          <a:ln>
            <a:noFill/>
          </a:ln>
        </p:spPr>
      </p:pic>
      <p:sp>
        <p:nvSpPr>
          <p:cNvPr id="186" name="Google Shape;186;p1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7A–F. Odor-free gap categories for flicking and continuous sampling.</a:t>
            </a:r>
            <a:endParaRPr sz="1800">
              <a:solidFill>
                <a:schemeClr val="dk1"/>
              </a:solidFill>
              <a:latin typeface="Calibri"/>
              <a:ea typeface="Calibri"/>
              <a:cs typeface="Calibri"/>
              <a:sym typeface="Calibri"/>
            </a:endParaRPr>
          </a:p>
        </p:txBody>
      </p:sp>
      <p:sp>
        <p:nvSpPr>
          <p:cNvPr id="187" name="Google Shape;187;p1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89" name="Google Shape;189;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Antennules and legs encounter different gradients</a:t>
            </a:r>
            <a:endParaRPr sz="1800">
              <a:solidFill>
                <a:schemeClr val="dk1"/>
              </a:solidFill>
              <a:latin typeface="Calibri"/>
              <a:ea typeface="Calibri"/>
              <a:cs typeface="Calibri"/>
              <a:sym typeface="Calibri"/>
            </a:endParaRPr>
          </a:p>
        </p:txBody>
      </p:sp>
      <p:sp>
        <p:nvSpPr>
          <p:cNvPr id="195" name="Google Shape;195;p14"/>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Near the seabed, transport and mixing differ from conditions several centimeters above it. Reidenbach and Koehl compared chemical samples at antennular height with samples near walking-leg height. The same source can therefore generate different concentration patterns for different sensory surfaces.</a:t>
            </a:r>
            <a:endParaRPr sz="1800">
              <a:solidFill>
                <a:schemeClr val="dk1"/>
              </a:solidFill>
              <a:latin typeface="Calibri"/>
              <a:ea typeface="Calibri"/>
              <a:cs typeface="Calibri"/>
              <a:sym typeface="Calibri"/>
            </a:endParaRPr>
          </a:p>
        </p:txBody>
      </p:sp>
      <p:sp>
        <p:nvSpPr>
          <p:cNvPr id="196" name="Google Shape;196;p14"/>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Mean sampled concentrations near the bed increased toward the source, whereas mean concentrations sampled higher by flicking antennules decreased toward it in this preparation. Variance was also lower near the bed. Measurements covered downstream positions from approximately 1 to 2.5 m.</a:t>
            </a:r>
            <a:endParaRPr sz="1800">
              <a:solidFill>
                <a:schemeClr val="dk1"/>
              </a:solidFill>
              <a:latin typeface="Calibri"/>
              <a:ea typeface="Calibri"/>
              <a:cs typeface="Calibri"/>
              <a:sym typeface="Calibri"/>
            </a:endParaRPr>
          </a:p>
        </p:txBody>
      </p:sp>
      <p:sp>
        <p:nvSpPr>
          <p:cNvPr id="197" name="Google Shape;197;p14"/>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Close-range leg sampling and distant antennular sampling need not provide interchangeable information. These physical results make the increase in leg raking during Homarus approaches plausible, but they do not causally explain those earlier animals’ movements. The behavioral and transport measurements involve different species and experimental arrangements.</a:t>
            </a:r>
            <a:endParaRPr sz="1800">
              <a:solidFill>
                <a:schemeClr val="dk1"/>
              </a:solidFill>
              <a:latin typeface="Calibri"/>
              <a:ea typeface="Calibri"/>
              <a:cs typeface="Calibri"/>
              <a:sym typeface="Calibri"/>
            </a:endParaRPr>
          </a:p>
        </p:txBody>
      </p:sp>
      <p:pic>
        <p:nvPicPr>
          <p:cNvPr id="198" name="Google Shape;198;p14"/>
          <p:cNvPicPr preferRelativeResize="0"/>
          <p:nvPr/>
        </p:nvPicPr>
        <p:blipFill rotWithShape="1">
          <a:blip r:embed="rId3">
            <a:alphaModFix/>
          </a:blip>
          <a:srcRect b="0" l="0" r="0" t="0"/>
          <a:stretch/>
        </p:blipFill>
        <p:spPr>
          <a:xfrm>
            <a:off x="6458564" y="1280071"/>
            <a:ext cx="5166085" cy="2195513"/>
          </a:xfrm>
          <a:prstGeom prst="rect">
            <a:avLst/>
          </a:prstGeom>
          <a:noFill/>
          <a:ln>
            <a:noFill/>
          </a:ln>
        </p:spPr>
      </p:pic>
      <p:sp>
        <p:nvSpPr>
          <p:cNvPr id="199" name="Google Shape;199;p14"/>
          <p:cNvSpPr/>
          <p:nvPr/>
        </p:nvSpPr>
        <p:spPr>
          <a:xfrm>
            <a:off x="6458396" y="3567113"/>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8A–D. Encountered concentrations versus source distance.</a:t>
            </a:r>
            <a:endParaRPr sz="1800">
              <a:solidFill>
                <a:schemeClr val="dk1"/>
              </a:solidFill>
              <a:latin typeface="Calibri"/>
              <a:ea typeface="Calibri"/>
              <a:cs typeface="Calibri"/>
              <a:sym typeface="Calibri"/>
            </a:endParaRPr>
          </a:p>
        </p:txBody>
      </p:sp>
      <p:sp>
        <p:nvSpPr>
          <p:cNvPr id="200" name="Google Shape;200;p1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 Moore et al. (1991)</a:t>
            </a:r>
            <a:endParaRPr sz="1800">
              <a:solidFill>
                <a:schemeClr val="dk1"/>
              </a:solidFill>
              <a:latin typeface="Calibri"/>
              <a:ea typeface="Calibri"/>
              <a:cs typeface="Calibri"/>
              <a:sym typeface="Calibri"/>
            </a:endParaRPr>
          </a:p>
        </p:txBody>
      </p:sp>
      <p:sp>
        <p:nvSpPr>
          <p:cNvPr id="202" name="Google Shape;202;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Aesthetasc arrays organize the olfactory interface</a:t>
            </a:r>
            <a:endParaRPr sz="1800">
              <a:solidFill>
                <a:schemeClr val="dk1"/>
              </a:solidFill>
              <a:latin typeface="Calibri"/>
              <a:ea typeface="Calibri"/>
              <a:cs typeface="Calibri"/>
              <a:sym typeface="Calibri"/>
            </a:endParaRPr>
          </a:p>
        </p:txBody>
      </p:sp>
      <p:sp>
        <p:nvSpPr>
          <p:cNvPr id="208" name="Google Shape;208;p15"/>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Aesthetascs</a:t>
            </a:r>
            <a:r>
              <a:rPr b="0" i="0" lang="en-US" sz="1500">
                <a:solidFill>
                  <a:srgbClr val="252D35"/>
                </a:solidFill>
                <a:latin typeface="Arial"/>
                <a:ea typeface="Arial"/>
                <a:cs typeface="Arial"/>
                <a:sym typeface="Arial"/>
              </a:rPr>
              <a:t> are thin-walled sensory hairs bearing the outer dendrites of olfactory receptor neurons. On a Panulirus lateral antennular flagellum, they occur in repeated rows bordered by larger guard hairs. The scanning electron micrographs reveal a structured array rather than a uniformly exposed sensory surface.</a:t>
            </a:r>
            <a:endParaRPr sz="1800">
              <a:solidFill>
                <a:schemeClr val="dk1"/>
              </a:solidFill>
              <a:latin typeface="Calibri"/>
              <a:ea typeface="Calibri"/>
              <a:cs typeface="Calibri"/>
              <a:sym typeface="Calibri"/>
            </a:endParaRPr>
          </a:p>
        </p:txBody>
      </p:sp>
      <p:sp>
        <p:nvSpPr>
          <p:cNvPr id="209" name="Google Shape;209;p15"/>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Reidenbach, George and Koehl measured biological geometry before constructing physical models. Representative aesthetasc diameter was 22 µm, length about 720 µm, and spacing about 60 µm. The hairs are arranged at an offset angle, allowing appendage orientation to influence the water entering their gaps.</a:t>
            </a:r>
            <a:endParaRPr sz="1800">
              <a:solidFill>
                <a:schemeClr val="dk1"/>
              </a:solidFill>
              <a:latin typeface="Calibri"/>
              <a:ea typeface="Calibri"/>
              <a:cs typeface="Calibri"/>
              <a:sym typeface="Calibri"/>
            </a:endParaRPr>
          </a:p>
        </p:txBody>
      </p:sp>
      <p:sp>
        <p:nvSpPr>
          <p:cNvPr id="210" name="Google Shape;210;p15"/>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Chemical detection requires molecules to reach this sensory interface before membrane receptors can respond. Microscopy establishes dimensions and arrangement, not channel opening or neural firing. Guard-hair function must therefore be tested through flow measurements rather than inferred solely from the presence of a protective-looking structure.</a:t>
            </a:r>
            <a:endParaRPr sz="1800">
              <a:solidFill>
                <a:schemeClr val="dk1"/>
              </a:solidFill>
              <a:latin typeface="Calibri"/>
              <a:ea typeface="Calibri"/>
              <a:cs typeface="Calibri"/>
              <a:sym typeface="Calibri"/>
            </a:endParaRPr>
          </a:p>
        </p:txBody>
      </p:sp>
      <p:pic>
        <p:nvPicPr>
          <p:cNvPr id="211" name="Google Shape;211;p15"/>
          <p:cNvPicPr preferRelativeResize="0"/>
          <p:nvPr/>
        </p:nvPicPr>
        <p:blipFill rotWithShape="1">
          <a:blip r:embed="rId3">
            <a:alphaModFix/>
          </a:blip>
          <a:srcRect b="0" l="0" r="0" t="0"/>
          <a:stretch/>
        </p:blipFill>
        <p:spPr>
          <a:xfrm>
            <a:off x="7996463" y="1280071"/>
            <a:ext cx="2090584" cy="4297561"/>
          </a:xfrm>
          <a:prstGeom prst="rect">
            <a:avLst/>
          </a:prstGeom>
          <a:noFill/>
          <a:ln>
            <a:noFill/>
          </a:ln>
        </p:spPr>
      </p:pic>
      <p:sp>
        <p:nvSpPr>
          <p:cNvPr id="212" name="Google Shape;212;p1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1A–C. Spiny lobster photograph and antennular scanning electron micrographs.</a:t>
            </a:r>
            <a:endParaRPr sz="1800">
              <a:solidFill>
                <a:schemeClr val="dk1"/>
              </a:solidFill>
              <a:latin typeface="Calibri"/>
              <a:ea typeface="Calibri"/>
              <a:cs typeface="Calibri"/>
              <a:sym typeface="Calibri"/>
            </a:endParaRPr>
          </a:p>
        </p:txBody>
      </p:sp>
      <p:sp>
        <p:nvSpPr>
          <p:cNvPr id="213" name="Google Shape;213;p1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a:t>
            </a:r>
            <a:endParaRPr sz="1800">
              <a:solidFill>
                <a:schemeClr val="dk1"/>
              </a:solidFill>
              <a:latin typeface="Calibri"/>
              <a:ea typeface="Calibri"/>
              <a:cs typeface="Calibri"/>
              <a:sym typeface="Calibri"/>
            </a:endParaRPr>
          </a:p>
        </p:txBody>
      </p:sp>
      <p:sp>
        <p:nvSpPr>
          <p:cNvPr id="215" name="Google Shape;21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Scaled physical models isolate hair-array hydrodynamics</a:t>
            </a:r>
            <a:endParaRPr sz="1800">
              <a:solidFill>
                <a:schemeClr val="dk1"/>
              </a:solidFill>
              <a:latin typeface="Calibri"/>
              <a:ea typeface="Calibri"/>
              <a:cs typeface="Calibri"/>
              <a:sym typeface="Calibri"/>
            </a:endParaRPr>
          </a:p>
        </p:txBody>
      </p:sp>
      <p:sp>
        <p:nvSpPr>
          <p:cNvPr id="221" name="Google Shape;221;p16"/>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dynamically scaled model</a:t>
            </a:r>
            <a:r>
              <a:rPr b="0" i="0" lang="en-US" sz="1500">
                <a:solidFill>
                  <a:srgbClr val="252D35"/>
                </a:solidFill>
                <a:latin typeface="Arial"/>
                <a:ea typeface="Arial"/>
                <a:cs typeface="Arial"/>
                <a:sym typeface="Arial"/>
              </a:rPr>
              <a:t> reproduces the important balance of fluid forces despite using enlarged structures and a different fluid. Reidenbach and colleagues built glass-rod hair arrays in mineral oil and matched the </a:t>
            </a:r>
            <a:r>
              <a:rPr b="1" i="0" lang="en-US" sz="1500">
                <a:solidFill>
                  <a:srgbClr val="743B4A"/>
                </a:solidFill>
                <a:latin typeface="Arial"/>
                <a:ea typeface="Arial"/>
                <a:cs typeface="Arial"/>
                <a:sym typeface="Arial"/>
              </a:rPr>
              <a:t>Reynolds number</a:t>
            </a:r>
            <a:r>
              <a:rPr b="0" i="0" lang="en-US" sz="1500">
                <a:solidFill>
                  <a:srgbClr val="252D35"/>
                </a:solidFill>
                <a:latin typeface="Arial"/>
                <a:ea typeface="Arial"/>
                <a:cs typeface="Arial"/>
                <a:sym typeface="Arial"/>
              </a:rPr>
              <a:t>, the ratio of inertial to viscous effects relevant to flow.</a:t>
            </a:r>
            <a:endParaRPr sz="1800">
              <a:solidFill>
                <a:schemeClr val="dk1"/>
              </a:solidFill>
              <a:latin typeface="Calibri"/>
              <a:ea typeface="Calibri"/>
              <a:cs typeface="Calibri"/>
              <a:sym typeface="Calibri"/>
            </a:endParaRPr>
          </a:p>
        </p:txBody>
      </p:sp>
      <p:sp>
        <p:nvSpPr>
          <p:cNvPr id="222" name="Google Shape;222;p16"/>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Biological dimensions and flicking motions constrained the model geometry. </a:t>
            </a:r>
            <a:r>
              <a:rPr b="1" i="0" lang="en-US" sz="1500">
                <a:solidFill>
                  <a:srgbClr val="743B4A"/>
                </a:solidFill>
                <a:latin typeface="Arial"/>
                <a:ea typeface="Arial"/>
                <a:cs typeface="Arial"/>
                <a:sym typeface="Arial"/>
              </a:rPr>
              <a:t>Particle-image velocimetry</a:t>
            </a:r>
            <a:r>
              <a:rPr b="0" i="0" lang="en-US" sz="1500">
                <a:solidFill>
                  <a:srgbClr val="252D35"/>
                </a:solidFill>
                <a:latin typeface="Arial"/>
                <a:ea typeface="Arial"/>
                <a:cs typeface="Arial"/>
                <a:sym typeface="Arial"/>
              </a:rPr>
              <a:t>, or PIV, tracked suspended particles between images to measure fluid velocity around and between hairs. The investigators varied orientation, speed and guard-hair presence while retaining the remaining preparation.</a:t>
            </a:r>
            <a:endParaRPr sz="1800">
              <a:solidFill>
                <a:schemeClr val="dk1"/>
              </a:solidFill>
              <a:latin typeface="Calibri"/>
              <a:ea typeface="Calibri"/>
              <a:cs typeface="Calibri"/>
              <a:sym typeface="Calibri"/>
            </a:endParaRPr>
          </a:p>
        </p:txBody>
      </p:sp>
      <p:sp>
        <p:nvSpPr>
          <p:cNvPr id="223" name="Google Shape;223;p16"/>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These controlled changes identify mechanical causes of water exchange that are difficult to measure inside a living hair array. The model contains no sensory neurons and measures no ligand binding. Its results establish physical delivery conditions that can influence olfaction, rather than a complete explanation of receptor transduction or behavior.</a:t>
            </a:r>
            <a:endParaRPr sz="1800">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b="0" l="0" r="0" t="0"/>
          <a:stretch/>
        </p:blipFill>
        <p:spPr>
          <a:xfrm>
            <a:off x="7959642" y="1280071"/>
            <a:ext cx="1935477" cy="2925961"/>
          </a:xfrm>
          <a:prstGeom prst="rect">
            <a:avLst/>
          </a:prstGeom>
          <a:noFill/>
          <a:ln>
            <a:noFill/>
          </a:ln>
        </p:spPr>
      </p:pic>
      <p:sp>
        <p:nvSpPr>
          <p:cNvPr id="225" name="Google Shape;225;p1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3A–B. Ventral and side photographs of the dynamically scaled physical hair-array model.</a:t>
            </a:r>
            <a:endParaRPr sz="1800">
              <a:solidFill>
                <a:schemeClr val="dk1"/>
              </a:solidFill>
              <a:latin typeface="Calibri"/>
              <a:ea typeface="Calibri"/>
              <a:cs typeface="Calibri"/>
              <a:sym typeface="Calibri"/>
            </a:endParaRPr>
          </a:p>
        </p:txBody>
      </p:sp>
      <p:pic>
        <p:nvPicPr>
          <p:cNvPr id="226" name="Google Shape;226;p16"/>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27" name="Google Shape;227;p1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28" name="Google Shape;228;p1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a:t>
            </a:r>
            <a:endParaRPr sz="1800">
              <a:solidFill>
                <a:schemeClr val="dk1"/>
              </a:solidFill>
              <a:latin typeface="Calibri"/>
              <a:ea typeface="Calibri"/>
              <a:cs typeface="Calibri"/>
              <a:sym typeface="Calibri"/>
            </a:endParaRPr>
          </a:p>
        </p:txBody>
      </p:sp>
      <p:sp>
        <p:nvSpPr>
          <p:cNvPr id="230" name="Google Shape;230;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The fast downstroke replaces water between hairs</a:t>
            </a:r>
            <a:endParaRPr sz="1800">
              <a:solidFill>
                <a:schemeClr val="dk1"/>
              </a:solidFill>
              <a:latin typeface="Calibri"/>
              <a:ea typeface="Calibri"/>
              <a:cs typeface="Calibri"/>
              <a:sym typeface="Calibri"/>
            </a:endParaRPr>
          </a:p>
        </p:txBody>
      </p:sp>
      <p:sp>
        <p:nvSpPr>
          <p:cNvPr id="236" name="Google Shape;236;p17"/>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An antennular flick consists of a fast downward movement followed by a slower return. In the scaled-model study, PIV measured water velocity inside the hair array during the downstroke. The published color map reports velocity rather than chemical concentration or sensory-neuron activity.</a:t>
            </a:r>
            <a:endParaRPr sz="1800">
              <a:solidFill>
                <a:schemeClr val="dk1"/>
              </a:solidFill>
              <a:latin typeface="Calibri"/>
              <a:ea typeface="Calibri"/>
              <a:cs typeface="Calibri"/>
              <a:sym typeface="Calibri"/>
            </a:endParaRPr>
          </a:p>
        </p:txBody>
      </p:sp>
      <p:sp>
        <p:nvSpPr>
          <p:cNvPr id="237" name="Google Shape;237;p17"/>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During the fast movement, water penetrated the aesthetasc gaps and replaced the previously retained sample. Measured profiles were comparatively uniform across the array. Separate high-speed recordings placed downstroke motion near an aesthetasc Reynolds number of 2, compared with about 0.5 during return.</a:t>
            </a:r>
            <a:endParaRPr sz="1800">
              <a:solidFill>
                <a:schemeClr val="dk1"/>
              </a:solidFill>
              <a:latin typeface="Calibri"/>
              <a:ea typeface="Calibri"/>
              <a:cs typeface="Calibri"/>
              <a:sym typeface="Calibri"/>
            </a:endParaRPr>
          </a:p>
        </p:txBody>
      </p:sp>
      <p:sp>
        <p:nvSpPr>
          <p:cNvPr id="238" name="Google Shape;238;p17"/>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sensory organ therefore controls exposure mechanically before a receptor opens. Fresh water entering the gaps can deliver new odor molecules, but a flow map alone cannot establish which molecules bind or how many spikes are emitted. Reynolds-number estimates describe the biological movement studied, not a universal threshold for all crustacean hairs.</a:t>
            </a:r>
            <a:endParaRPr sz="1800">
              <a:solidFill>
                <a:schemeClr val="dk1"/>
              </a:solidFill>
              <a:latin typeface="Calibri"/>
              <a:ea typeface="Calibri"/>
              <a:cs typeface="Calibri"/>
              <a:sym typeface="Calibri"/>
            </a:endParaRPr>
          </a:p>
        </p:txBody>
      </p:sp>
      <p:pic>
        <p:nvPicPr>
          <p:cNvPr id="239" name="Google Shape;239;p17"/>
          <p:cNvPicPr preferRelativeResize="0"/>
          <p:nvPr/>
        </p:nvPicPr>
        <p:blipFill rotWithShape="1">
          <a:blip r:embed="rId3">
            <a:alphaModFix/>
          </a:blip>
          <a:srcRect b="0" l="0" r="0" t="0"/>
          <a:stretch/>
        </p:blipFill>
        <p:spPr>
          <a:xfrm>
            <a:off x="7886744" y="1280071"/>
            <a:ext cx="2081572" cy="2925961"/>
          </a:xfrm>
          <a:prstGeom prst="rect">
            <a:avLst/>
          </a:prstGeom>
          <a:noFill/>
          <a:ln>
            <a:noFill/>
          </a:ln>
        </p:spPr>
      </p:pic>
      <p:sp>
        <p:nvSpPr>
          <p:cNvPr id="240" name="Google Shape;240;p17"/>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5A–B. Measured particle-image-velocimetry flow during the downstroke.</a:t>
            </a:r>
            <a:endParaRPr sz="1800">
              <a:solidFill>
                <a:schemeClr val="dk1"/>
              </a:solidFill>
              <a:latin typeface="Calibri"/>
              <a:ea typeface="Calibri"/>
              <a:cs typeface="Calibri"/>
              <a:sym typeface="Calibri"/>
            </a:endParaRPr>
          </a:p>
        </p:txBody>
      </p:sp>
      <p:pic>
        <p:nvPicPr>
          <p:cNvPr id="241" name="Google Shape;241;p17"/>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42" name="Google Shape;242;p1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43" name="Google Shape;243;p1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 Goldman &amp; Koehl (2001)</a:t>
            </a:r>
            <a:endParaRPr sz="1800">
              <a:solidFill>
                <a:schemeClr val="dk1"/>
              </a:solidFill>
              <a:latin typeface="Calibri"/>
              <a:ea typeface="Calibri"/>
              <a:cs typeface="Calibri"/>
              <a:sym typeface="Calibri"/>
            </a:endParaRPr>
          </a:p>
        </p:txBody>
      </p:sp>
      <p:sp>
        <p:nvSpPr>
          <p:cNvPr id="245" name="Google Shape;24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The slow return retains a chemical sample</a:t>
            </a:r>
            <a:endParaRPr sz="1800">
              <a:solidFill>
                <a:schemeClr val="dk1"/>
              </a:solidFill>
              <a:latin typeface="Calibri"/>
              <a:ea typeface="Calibri"/>
              <a:cs typeface="Calibri"/>
              <a:sym typeface="Calibri"/>
            </a:endParaRPr>
          </a:p>
        </p:txBody>
      </p:sp>
      <p:sp>
        <p:nvSpPr>
          <p:cNvPr id="251" name="Google Shape;251;p18"/>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Leakiness</a:t>
            </a:r>
            <a:r>
              <a:rPr b="0" i="0" lang="en-US" sz="1500">
                <a:solidFill>
                  <a:srgbClr val="252D35"/>
                </a:solidFill>
                <a:latin typeface="Arial"/>
                <a:ea typeface="Arial"/>
                <a:cs typeface="Arial"/>
                <a:sym typeface="Arial"/>
              </a:rPr>
              <a:t> describes the extent to which water passes through a hair array rather than around it. Reidenbach and colleagues compared measured downstroke and return-stroke flow. The slower return reduced penetration, allowing the captured water to remain near the aesthetasc surfaces.</a:t>
            </a:r>
            <a:endParaRPr sz="1800">
              <a:solidFill>
                <a:schemeClr val="dk1"/>
              </a:solidFill>
              <a:latin typeface="Calibri"/>
              <a:ea typeface="Calibri"/>
              <a:cs typeface="Calibri"/>
              <a:sym typeface="Calibri"/>
            </a:endParaRPr>
          </a:p>
        </p:txBody>
      </p:sp>
      <p:sp>
        <p:nvSpPr>
          <p:cNvPr id="252" name="Google Shape;252;p18"/>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Return motion was approximately one-quarter of downstroke speed, yet water between hairs moved about 25 times more slowly. The nonlinear change shows that reducing appendage speed can alter array permeability much more than it alters the movement of the appendage itself.</a:t>
            </a:r>
            <a:endParaRPr sz="1800">
              <a:solidFill>
                <a:schemeClr val="dk1"/>
              </a:solidFill>
              <a:latin typeface="Calibri"/>
              <a:ea typeface="Calibri"/>
              <a:cs typeface="Calibri"/>
              <a:sym typeface="Calibri"/>
            </a:endParaRPr>
          </a:p>
        </p:txBody>
      </p:sp>
      <p:sp>
        <p:nvSpPr>
          <p:cNvPr id="253" name="Google Shape;253;p18"/>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Retention creates time for molecular diffusion toward the sensory surface. The authors estimated that diffusion over 0.5 s could span about 32 µm; this is a physical calculation, not measured ligand uptake by neurons. The experiment establishes a sampling mechanism without proving which concentration history an individual receptor experiences.</a:t>
            </a:r>
            <a:endParaRPr sz="1800">
              <a:solidFill>
                <a:schemeClr val="dk1"/>
              </a:solidFill>
              <a:latin typeface="Calibri"/>
              <a:ea typeface="Calibri"/>
              <a:cs typeface="Calibri"/>
              <a:sym typeface="Calibri"/>
            </a:endParaRPr>
          </a:p>
        </p:txBody>
      </p:sp>
      <p:pic>
        <p:nvPicPr>
          <p:cNvPr id="254" name="Google Shape;254;p18"/>
          <p:cNvPicPr preferRelativeResize="0"/>
          <p:nvPr/>
        </p:nvPicPr>
        <p:blipFill rotWithShape="1">
          <a:blip r:embed="rId3">
            <a:alphaModFix/>
          </a:blip>
          <a:srcRect b="0" l="0" r="0" t="0"/>
          <a:stretch/>
        </p:blipFill>
        <p:spPr>
          <a:xfrm>
            <a:off x="7963535" y="1280071"/>
            <a:ext cx="1927692" cy="2925961"/>
          </a:xfrm>
          <a:prstGeom prst="rect">
            <a:avLst/>
          </a:prstGeom>
          <a:noFill/>
          <a:ln>
            <a:noFill/>
          </a:ln>
        </p:spPr>
      </p:pic>
      <p:sp>
        <p:nvSpPr>
          <p:cNvPr id="255" name="Google Shape;255;p1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9A–B. Measured slow-return flow field and velocity profile.</a:t>
            </a:r>
            <a:endParaRPr sz="1800">
              <a:solidFill>
                <a:schemeClr val="dk1"/>
              </a:solidFill>
              <a:latin typeface="Calibri"/>
              <a:ea typeface="Calibri"/>
              <a:cs typeface="Calibri"/>
              <a:sym typeface="Calibri"/>
            </a:endParaRPr>
          </a:p>
        </p:txBody>
      </p:sp>
      <p:pic>
        <p:nvPicPr>
          <p:cNvPr id="256" name="Google Shape;256;p18"/>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57" name="Google Shape;257;p1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58" name="Google Shape;258;p1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a:t>
            </a:r>
            <a:endParaRPr sz="1800">
              <a:solidFill>
                <a:schemeClr val="dk1"/>
              </a:solidFill>
              <a:latin typeface="Calibri"/>
              <a:ea typeface="Calibri"/>
              <a:cs typeface="Calibri"/>
              <a:sym typeface="Calibri"/>
            </a:endParaRPr>
          </a:p>
        </p:txBody>
      </p:sp>
      <p:sp>
        <p:nvSpPr>
          <p:cNvPr id="260" name="Google Shape;260;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Hair orientation and guard hairs alter delivery</a:t>
            </a:r>
            <a:endParaRPr sz="1800">
              <a:solidFill>
                <a:schemeClr val="dk1"/>
              </a:solidFill>
              <a:latin typeface="Calibri"/>
              <a:ea typeface="Calibri"/>
              <a:cs typeface="Calibri"/>
              <a:sym typeface="Calibri"/>
            </a:endParaRPr>
          </a:p>
        </p:txBody>
      </p:sp>
      <p:sp>
        <p:nvSpPr>
          <p:cNvPr id="266" name="Google Shape;266;p19"/>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shape and orientation of an aesthetasc array determine how incident water moves through it. Reidenbach and colleagues compared the observed zigzag orientation, offset by about 32°, with a zero-degree arrangement. They also measured arrays with and without surrounding guard hairs.</a:t>
            </a:r>
            <a:endParaRPr sz="1800">
              <a:solidFill>
                <a:schemeClr val="dk1"/>
              </a:solidFill>
              <a:latin typeface="Calibri"/>
              <a:ea typeface="Calibri"/>
              <a:cs typeface="Calibri"/>
              <a:sym typeface="Calibri"/>
            </a:endParaRPr>
          </a:p>
        </p:txBody>
      </p:sp>
      <p:sp>
        <p:nvSpPr>
          <p:cNvPr id="267" name="Google Shape;267;p19"/>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observed orientation produced relatively uniform water penetration during the flick. Guard-hair removal changed the spatial velocity profile, revealing a hydrodynamic contribution beyond a possible protective role. The controlled physical model isolated these geometry effects without altering neuronal excitability.</a:t>
            </a:r>
            <a:endParaRPr sz="1800">
              <a:solidFill>
                <a:schemeClr val="dk1"/>
              </a:solidFill>
              <a:latin typeface="Calibri"/>
              <a:ea typeface="Calibri"/>
              <a:cs typeface="Calibri"/>
              <a:sym typeface="Calibri"/>
            </a:endParaRPr>
          </a:p>
        </p:txBody>
      </p:sp>
      <p:sp>
        <p:nvSpPr>
          <p:cNvPr id="268" name="Google Shape;268;p19"/>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findings link anatomical arrangement to the distribution of a fresh sensory sample. They do not show that guard hairs detect food or that a particular flow profile automatically improves behavioral success. Sensory performance depends on subsequent diffusion, receptor activation and central interpretation, none of which was measured in the model.</a:t>
            </a:r>
            <a:endParaRPr sz="1800">
              <a:solidFill>
                <a:schemeClr val="dk1"/>
              </a:solidFill>
              <a:latin typeface="Calibri"/>
              <a:ea typeface="Calibri"/>
              <a:cs typeface="Calibri"/>
              <a:sym typeface="Calibri"/>
            </a:endParaRPr>
          </a:p>
        </p:txBody>
      </p:sp>
      <p:pic>
        <p:nvPicPr>
          <p:cNvPr id="269" name="Google Shape;269;p19"/>
          <p:cNvPicPr preferRelativeResize="0"/>
          <p:nvPr/>
        </p:nvPicPr>
        <p:blipFill rotWithShape="1">
          <a:blip r:embed="rId3">
            <a:alphaModFix/>
          </a:blip>
          <a:srcRect b="0" l="0" r="0" t="0"/>
          <a:stretch/>
        </p:blipFill>
        <p:spPr>
          <a:xfrm>
            <a:off x="7086500" y="1280071"/>
            <a:ext cx="3681761" cy="2925961"/>
          </a:xfrm>
          <a:prstGeom prst="rect">
            <a:avLst/>
          </a:prstGeom>
          <a:noFill/>
          <a:ln>
            <a:noFill/>
          </a:ln>
        </p:spPr>
      </p:pic>
      <p:sp>
        <p:nvSpPr>
          <p:cNvPr id="270" name="Google Shape;270;p1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6. Measured flow through a zigzag array in its observed orientation.</a:t>
            </a:r>
            <a:endParaRPr sz="1800">
              <a:solidFill>
                <a:schemeClr val="dk1"/>
              </a:solidFill>
              <a:latin typeface="Calibri"/>
              <a:ea typeface="Calibri"/>
              <a:cs typeface="Calibri"/>
              <a:sym typeface="Calibri"/>
            </a:endParaRPr>
          </a:p>
        </p:txBody>
      </p:sp>
      <p:pic>
        <p:nvPicPr>
          <p:cNvPr id="271" name="Google Shape;271;p19"/>
          <p:cNvPicPr preferRelativeResize="0"/>
          <p:nvPr/>
        </p:nvPicPr>
        <p:blipFill rotWithShape="1">
          <a:blip r:embed="rId4">
            <a:alphaModFix/>
          </a:blip>
          <a:srcRect b="0" l="0" r="0" t="0"/>
          <a:stretch/>
        </p:blipFill>
        <p:spPr>
          <a:xfrm>
            <a:off x="8526959" y="4754776"/>
            <a:ext cx="800993" cy="1005751"/>
          </a:xfrm>
          <a:prstGeom prst="rect">
            <a:avLst/>
          </a:prstGeom>
          <a:noFill/>
          <a:ln>
            <a:noFill/>
          </a:ln>
        </p:spPr>
      </p:pic>
      <p:sp>
        <p:nvSpPr>
          <p:cNvPr id="272" name="Google Shape;272;p1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7A–C. Hair-array photographs and measured velocity with guard hairs present or removed.</a:t>
            </a:r>
            <a:endParaRPr sz="1800">
              <a:solidFill>
                <a:schemeClr val="dk1"/>
              </a:solidFill>
              <a:latin typeface="Calibri"/>
              <a:ea typeface="Calibri"/>
              <a:cs typeface="Calibri"/>
              <a:sym typeface="Calibri"/>
            </a:endParaRPr>
          </a:p>
        </p:txBody>
      </p:sp>
      <p:sp>
        <p:nvSpPr>
          <p:cNvPr id="273" name="Google Shape;273;p1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a:t>
            </a:r>
            <a:endParaRPr sz="1800">
              <a:solidFill>
                <a:schemeClr val="dk1"/>
              </a:solidFill>
              <a:latin typeface="Calibri"/>
              <a:ea typeface="Calibri"/>
              <a:cs typeface="Calibri"/>
              <a:sym typeface="Calibri"/>
            </a:endParaRPr>
          </a:p>
        </p:txBody>
      </p:sp>
      <p:sp>
        <p:nvSpPr>
          <p:cNvPr id="275" name="Google Shape;275;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Published video directly reveals lobster sniffing</a:t>
            </a:r>
            <a:endParaRPr sz="1800">
              <a:solidFill>
                <a:schemeClr val="dk1"/>
              </a:solidFill>
              <a:latin typeface="Calibri"/>
              <a:ea typeface="Calibri"/>
              <a:cs typeface="Calibri"/>
              <a:sym typeface="Calibri"/>
            </a:endParaRPr>
          </a:p>
        </p:txBody>
      </p:sp>
      <p:sp>
        <p:nvSpPr>
          <p:cNvPr id="281" name="Google Shape;281;p20"/>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Koehl and colleagues programmed a mechanical lobster to flick real Panulirus antennules in a fluorescent dye plume. This preparation retained the biological hair array while controlling movement. Dye released from a benthic source 1 m upstream represented chemicals carried from a food source.</a:t>
            </a:r>
            <a:endParaRPr sz="1800">
              <a:solidFill>
                <a:schemeClr val="dk1"/>
              </a:solidFill>
              <a:latin typeface="Calibri"/>
              <a:ea typeface="Calibri"/>
              <a:cs typeface="Calibri"/>
              <a:sym typeface="Calibri"/>
            </a:endParaRPr>
          </a:p>
        </p:txBody>
      </p:sp>
      <p:sp>
        <p:nvSpPr>
          <p:cNvPr id="282" name="Google Shape;282;p20"/>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original high-speed frames show approximately 1-mm-thick dye parcels entering the array during the rapid downstroke. During the slower return, dye remained trapped between hairs while the surrounding plume continued moving. A later downstroke shed that sample and captured another.</a:t>
            </a:r>
            <a:endParaRPr sz="1800">
              <a:solidFill>
                <a:schemeClr val="dk1"/>
              </a:solidFill>
              <a:latin typeface="Calibri"/>
              <a:ea typeface="Calibri"/>
              <a:cs typeface="Calibri"/>
              <a:sym typeface="Calibri"/>
            </a:endParaRPr>
          </a:p>
        </p:txBody>
      </p:sp>
      <p:sp>
        <p:nvSpPr>
          <p:cNvPr id="283" name="Google Shape;283;p20"/>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observation directly supports discrete water sampling rather than uninterrupted exposure to ambient concentration. Fluorescent dye visualizes transported water and solute; it does not record food-odor receptor binding. The mechanically moved preparation also omits feedback by which an intact animal adjusts where and when to flick.</a:t>
            </a:r>
            <a:endParaRPr sz="1800">
              <a:solidFill>
                <a:schemeClr val="dk1"/>
              </a:solidFill>
              <a:latin typeface="Calibri"/>
              <a:ea typeface="Calibri"/>
              <a:cs typeface="Calibri"/>
              <a:sym typeface="Calibri"/>
            </a:endParaRPr>
          </a:p>
        </p:txBody>
      </p:sp>
      <p:pic>
        <p:nvPicPr>
          <p:cNvPr id="284" name="Google Shape;284;p20"/>
          <p:cNvPicPr preferRelativeResize="0"/>
          <p:nvPr/>
        </p:nvPicPr>
        <p:blipFill rotWithShape="1">
          <a:blip r:embed="rId3">
            <a:alphaModFix/>
          </a:blip>
          <a:srcRect b="0" l="0" r="0" t="0"/>
          <a:stretch/>
        </p:blipFill>
        <p:spPr>
          <a:xfrm>
            <a:off x="6458755" y="1280071"/>
            <a:ext cx="5165703" cy="1070967"/>
          </a:xfrm>
          <a:prstGeom prst="rect">
            <a:avLst/>
          </a:prstGeom>
          <a:noFill/>
          <a:ln>
            <a:noFill/>
          </a:ln>
        </p:spPr>
      </p:pic>
      <p:sp>
        <p:nvSpPr>
          <p:cNvPr id="285" name="Google Shape;285;p20"/>
          <p:cNvSpPr/>
          <p:nvPr/>
        </p:nvSpPr>
        <p:spPr>
          <a:xfrm>
            <a:off x="6458396" y="2442567"/>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Koehl et al. (2001), Fig. 1A–D. Original video frames of dye capture and retention during flicking.</a:t>
            </a:r>
            <a:endParaRPr sz="1800">
              <a:solidFill>
                <a:schemeClr val="dk1"/>
              </a:solidFill>
              <a:latin typeface="Calibri"/>
              <a:ea typeface="Calibri"/>
              <a:cs typeface="Calibri"/>
              <a:sym typeface="Calibri"/>
            </a:endParaRPr>
          </a:p>
        </p:txBody>
      </p:sp>
      <p:sp>
        <p:nvSpPr>
          <p:cNvPr id="286" name="Google Shape;286;p2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Koehl et al. (2001)</a:t>
            </a:r>
            <a:endParaRPr sz="1800">
              <a:solidFill>
                <a:schemeClr val="dk1"/>
              </a:solidFill>
              <a:latin typeface="Calibri"/>
              <a:ea typeface="Calibri"/>
              <a:cs typeface="Calibri"/>
              <a:sym typeface="Calibri"/>
            </a:endParaRPr>
          </a:p>
        </p:txBody>
      </p:sp>
      <p:sp>
        <p:nvSpPr>
          <p:cNvPr id="288" name="Google Shape;288;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captured sample preserves spatial information briefly</a:t>
            </a:r>
            <a:endParaRPr sz="1800">
              <a:solidFill>
                <a:schemeClr val="dk1"/>
              </a:solidFill>
              <a:latin typeface="Calibri"/>
              <a:ea typeface="Calibri"/>
              <a:cs typeface="Calibri"/>
              <a:sym typeface="Calibri"/>
            </a:endParaRPr>
          </a:p>
        </p:txBody>
      </p:sp>
      <p:sp>
        <p:nvSpPr>
          <p:cNvPr id="294" name="Google Shape;294;p21"/>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Koehl and colleagues measured concentration along the aesthetasc-bearing section of the antennule through successive video frames. Their published </a:t>
            </a:r>
            <a:r>
              <a:rPr b="1" i="0" lang="en-US" sz="1600">
                <a:solidFill>
                  <a:srgbClr val="743B4A"/>
                </a:solidFill>
                <a:latin typeface="Arial"/>
                <a:ea typeface="Arial"/>
                <a:cs typeface="Arial"/>
                <a:sym typeface="Arial"/>
              </a:rPr>
              <a:t>spatiotemporal map</a:t>
            </a:r>
            <a:r>
              <a:rPr b="0" i="0" lang="en-US" sz="1600">
                <a:solidFill>
                  <a:srgbClr val="252D35"/>
                </a:solidFill>
                <a:latin typeface="Arial"/>
                <a:ea typeface="Arial"/>
                <a:cs typeface="Arial"/>
                <a:sym typeface="Arial"/>
              </a:rPr>
              <a:t> places position on one axis and time on the other, with color representing measured dye concentration at each position.</a:t>
            </a:r>
            <a:endParaRPr sz="1800">
              <a:solidFill>
                <a:schemeClr val="dk1"/>
              </a:solidFill>
              <a:latin typeface="Calibri"/>
              <a:ea typeface="Calibri"/>
              <a:cs typeface="Calibri"/>
              <a:sym typeface="Calibri"/>
            </a:endParaRPr>
          </a:p>
        </p:txBody>
      </p:sp>
      <p:sp>
        <p:nvSpPr>
          <p:cNvPr id="295" name="Google Shape;295;p21"/>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pattern changed during rapid downstrokes but remained comparatively stable during slower return and stationary intervals. Dye could spread along the antennule during acquisition, so the captured pattern was not an exact unchanged slice of the original plume. Sampling both retains and filters information.</a:t>
            </a:r>
            <a:endParaRPr sz="1800">
              <a:solidFill>
                <a:schemeClr val="dk1"/>
              </a:solidFill>
              <a:latin typeface="Calibri"/>
              <a:ea typeface="Calibri"/>
              <a:cs typeface="Calibri"/>
              <a:sym typeface="Calibri"/>
            </a:endParaRPr>
          </a:p>
        </p:txBody>
      </p:sp>
      <p:sp>
        <p:nvSpPr>
          <p:cNvPr id="296" name="Google Shape;296;p21"/>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This physical filtering precedes neuronal transduction. A spatially nonuniform retained sample could stimulate different sensory endings differently, but the paper did not record those cells or prove that the brain reconstructs the original spatial pattern. Mechanical retention therefore constrains the input without establishing a particular downstream code.</a:t>
            </a:r>
            <a:endParaRPr sz="1800">
              <a:solidFill>
                <a:schemeClr val="dk1"/>
              </a:solidFill>
              <a:latin typeface="Calibri"/>
              <a:ea typeface="Calibri"/>
              <a:cs typeface="Calibri"/>
              <a:sym typeface="Calibri"/>
            </a:endParaRPr>
          </a:p>
        </p:txBody>
      </p:sp>
      <p:pic>
        <p:nvPicPr>
          <p:cNvPr id="297" name="Google Shape;297;p21"/>
          <p:cNvPicPr preferRelativeResize="0"/>
          <p:nvPr/>
        </p:nvPicPr>
        <p:blipFill rotWithShape="1">
          <a:blip r:embed="rId3">
            <a:alphaModFix/>
          </a:blip>
          <a:srcRect b="0" l="0" r="0" t="0"/>
          <a:stretch/>
        </p:blipFill>
        <p:spPr>
          <a:xfrm>
            <a:off x="6458495" y="1280071"/>
            <a:ext cx="5166223" cy="1914079"/>
          </a:xfrm>
          <a:prstGeom prst="rect">
            <a:avLst/>
          </a:prstGeom>
          <a:noFill/>
          <a:ln>
            <a:noFill/>
          </a:ln>
        </p:spPr>
      </p:pic>
      <p:sp>
        <p:nvSpPr>
          <p:cNvPr id="298" name="Google Shape;298;p21"/>
          <p:cNvSpPr/>
          <p:nvPr/>
        </p:nvSpPr>
        <p:spPr>
          <a:xfrm>
            <a:off x="6458396" y="3285679"/>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Koehl et al. (2001), Fig. 2. Measured spatial dye pattern retained between successive flicks.</a:t>
            </a:r>
            <a:endParaRPr sz="1800">
              <a:solidFill>
                <a:schemeClr val="dk1"/>
              </a:solidFill>
              <a:latin typeface="Calibri"/>
              <a:ea typeface="Calibri"/>
              <a:cs typeface="Calibri"/>
              <a:sym typeface="Calibri"/>
            </a:endParaRPr>
          </a:p>
        </p:txBody>
      </p:sp>
      <p:sp>
        <p:nvSpPr>
          <p:cNvPr id="299" name="Google Shape;299;p2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Koehl et al. (2001)</a:t>
            </a:r>
            <a:endParaRPr sz="1800">
              <a:solidFill>
                <a:schemeClr val="dk1"/>
              </a:solidFill>
              <a:latin typeface="Calibri"/>
              <a:ea typeface="Calibri"/>
              <a:cs typeface="Calibri"/>
              <a:sym typeface="Calibri"/>
            </a:endParaRPr>
          </a:p>
        </p:txBody>
      </p:sp>
      <p:sp>
        <p:nvSpPr>
          <p:cNvPr id="301" name="Google Shape;30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Ionotropic-receptor genes occur in olfactory neurons</a:t>
            </a:r>
            <a:endParaRPr sz="1800">
              <a:solidFill>
                <a:schemeClr val="dk1"/>
              </a:solidFill>
              <a:latin typeface="Calibri"/>
              <a:ea typeface="Calibri"/>
              <a:cs typeface="Calibri"/>
              <a:sym typeface="Calibri"/>
            </a:endParaRPr>
          </a:p>
        </p:txBody>
      </p:sp>
      <p:sp>
        <p:nvSpPr>
          <p:cNvPr id="307" name="Google Shape;307;p22"/>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Ionotropic receptors</a:t>
            </a:r>
            <a:r>
              <a:rPr b="0" i="0" lang="en-US" sz="1500">
                <a:solidFill>
                  <a:srgbClr val="252D35"/>
                </a:solidFill>
                <a:latin typeface="Arial"/>
                <a:ea typeface="Arial"/>
                <a:cs typeface="Arial"/>
                <a:sym typeface="Arial"/>
              </a:rPr>
              <a:t>, or IRs, are chemosensory proteins related to ionotropic glutamate receptors, a family of ligand-gated membrane channels. Corey and colleagues identified candidate IR sequences in Panulirus olfactory tissue and used in situ hybridization to locate their RNA within sensory cells.</a:t>
            </a:r>
            <a:endParaRPr sz="1800">
              <a:solidFill>
                <a:schemeClr val="dk1"/>
              </a:solidFill>
              <a:latin typeface="Calibri"/>
              <a:ea typeface="Calibri"/>
              <a:cs typeface="Calibri"/>
              <a:sym typeface="Calibri"/>
            </a:endParaRPr>
          </a:p>
        </p:txBody>
      </p:sp>
      <p:sp>
        <p:nvSpPr>
          <p:cNvPr id="308" name="Google Shape;308;p22"/>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IR25a and IR93a signals occurred broadly in olfactory receptor neurons. Antisense probes detect complementary target RNA; sense probes supplied negative controls for nonspecific staining. IR8a and another candidate showed more restricted expression, suggesting common components alongside more variable receptor populations.</a:t>
            </a:r>
            <a:endParaRPr sz="1800">
              <a:solidFill>
                <a:schemeClr val="dk1"/>
              </a:solidFill>
              <a:latin typeface="Calibri"/>
              <a:ea typeface="Calibri"/>
              <a:cs typeface="Calibri"/>
              <a:sym typeface="Calibri"/>
            </a:endParaRPr>
          </a:p>
        </p:txBody>
      </p:sp>
      <p:sp>
        <p:nvSpPr>
          <p:cNvPr id="309" name="Google Shape;309;p22"/>
          <p:cNvSpPr/>
          <p:nvPr/>
        </p:nvSpPr>
        <p:spPr>
          <a:xfrm>
            <a:off x="566886" y="372546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findings support an IR-based molecular architecture in lobster olfaction. Sequence similarity and cellular expression do not establish the ligand of a candidate receptor, its ion selectivity or the exact subunit composition of a native channel. Those properties require functional tests beyond staining for receptor RNA.</a:t>
            </a:r>
            <a:endParaRPr sz="1800">
              <a:solidFill>
                <a:schemeClr val="dk1"/>
              </a:solidFill>
              <a:latin typeface="Calibri"/>
              <a:ea typeface="Calibri"/>
              <a:cs typeface="Calibri"/>
              <a:sym typeface="Calibri"/>
            </a:endParaRPr>
          </a:p>
        </p:txBody>
      </p:sp>
      <p:pic>
        <p:nvPicPr>
          <p:cNvPr id="310" name="Google Shape;310;p22"/>
          <p:cNvPicPr preferRelativeResize="0"/>
          <p:nvPr/>
        </p:nvPicPr>
        <p:blipFill rotWithShape="1">
          <a:blip r:embed="rId3">
            <a:alphaModFix/>
          </a:blip>
          <a:srcRect b="0" l="0" r="0" t="0"/>
          <a:stretch/>
        </p:blipFill>
        <p:spPr>
          <a:xfrm>
            <a:off x="7297684" y="1280071"/>
            <a:ext cx="3487845" cy="4297561"/>
          </a:xfrm>
          <a:prstGeom prst="rect">
            <a:avLst/>
          </a:prstGeom>
          <a:noFill/>
          <a:ln>
            <a:noFill/>
          </a:ln>
        </p:spPr>
      </p:pic>
      <p:sp>
        <p:nvSpPr>
          <p:cNvPr id="311" name="Google Shape;311;p2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2. Receptor RNA localization with antisense and sense-probe controls.</a:t>
            </a:r>
            <a:endParaRPr sz="1800">
              <a:solidFill>
                <a:schemeClr val="dk1"/>
              </a:solidFill>
              <a:latin typeface="Calibri"/>
              <a:ea typeface="Calibri"/>
              <a:cs typeface="Calibri"/>
              <a:sym typeface="Calibri"/>
            </a:endParaRPr>
          </a:p>
        </p:txBody>
      </p:sp>
      <p:sp>
        <p:nvSpPr>
          <p:cNvPr id="312" name="Google Shape;312;p2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14" name="Google Shape;314;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Receptor protein reaches the sensory dendrites</a:t>
            </a:r>
            <a:endParaRPr sz="1800">
              <a:solidFill>
                <a:schemeClr val="dk1"/>
              </a:solidFill>
              <a:latin typeface="Calibri"/>
              <a:ea typeface="Calibri"/>
              <a:cs typeface="Calibri"/>
              <a:sym typeface="Calibri"/>
            </a:endParaRPr>
          </a:p>
        </p:txBody>
      </p:sp>
      <p:sp>
        <p:nvSpPr>
          <p:cNvPr id="320" name="Google Shape;320;p23"/>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RNA expression alone does not show where the resulting protein acts. Corey and colleagues used an antibody against IR25a to test its localization. Cross-sections through distal aesthetasc hairs supplied anatomical access to the outer dendrites, where transported odorants first approach olfactory neurons.</a:t>
            </a:r>
            <a:endParaRPr sz="1800">
              <a:solidFill>
                <a:schemeClr val="dk1"/>
              </a:solidFill>
              <a:latin typeface="Calibri"/>
              <a:ea typeface="Calibri"/>
              <a:cs typeface="Calibri"/>
              <a:sym typeface="Calibri"/>
            </a:endParaRPr>
          </a:p>
        </p:txBody>
      </p:sp>
      <p:sp>
        <p:nvSpPr>
          <p:cNvPr id="321" name="Google Shape;321;p23"/>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IR25a immunofluorescence occurred within the dendritic profiles. Sections stained without the primary antibody supplied a background control, and an antibody recognizing an Ih-channel protein provided a separate neuronal comparison. Western blots also detected a band near the predicted IR25a molecular mass of approximately 100 kDa.</a:t>
            </a:r>
            <a:endParaRPr sz="1800">
              <a:solidFill>
                <a:schemeClr val="dk1"/>
              </a:solidFill>
              <a:latin typeface="Calibri"/>
              <a:ea typeface="Calibri"/>
              <a:cs typeface="Calibri"/>
              <a:sym typeface="Calibri"/>
            </a:endParaRPr>
          </a:p>
        </p:txBody>
      </p:sp>
      <p:sp>
        <p:nvSpPr>
          <p:cNvPr id="322" name="Google Shape;322;p23"/>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convergence of biochemical detection and dendritic staining places a candidate receptor component at a plausible transduction site. It does not demonstrate that every stained molecule forms an active surface channel. Antibody specificity, membrane localization and direct odor-evoked current are distinct evidentiary questions.</a:t>
            </a:r>
            <a:endParaRPr sz="1800">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3">
            <a:alphaModFix/>
          </a:blip>
          <a:srcRect b="0" l="0" r="0" t="0"/>
          <a:stretch/>
        </p:blipFill>
        <p:spPr>
          <a:xfrm>
            <a:off x="6458702" y="1280071"/>
            <a:ext cx="5165808" cy="1681311"/>
          </a:xfrm>
          <a:prstGeom prst="rect">
            <a:avLst/>
          </a:prstGeom>
          <a:noFill/>
          <a:ln>
            <a:noFill/>
          </a:ln>
        </p:spPr>
      </p:pic>
      <p:sp>
        <p:nvSpPr>
          <p:cNvPr id="324" name="Google Shape;324;p23"/>
          <p:cNvSpPr/>
          <p:nvPr/>
        </p:nvSpPr>
        <p:spPr>
          <a:xfrm>
            <a:off x="6458396" y="305291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Neighboring sensory cells differ in chemical selectivity</a:t>
            </a:r>
            <a:endParaRPr sz="1800">
              <a:solidFill>
                <a:schemeClr val="dk1"/>
              </a:solidFill>
              <a:latin typeface="Calibri"/>
              <a:ea typeface="Calibri"/>
              <a:cs typeface="Calibri"/>
              <a:sym typeface="Calibri"/>
            </a:endParaRPr>
          </a:p>
        </p:txBody>
      </p:sp>
      <p:sp>
        <p:nvSpPr>
          <p:cNvPr id="333" name="Google Shape;333;p24"/>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Corey and colleagues loaded sensory-cell clusters with a calcium-sensitive dye and applied different chemical stimuli. </a:t>
            </a:r>
            <a:r>
              <a:rPr b="1" i="0" lang="en-US" sz="1500">
                <a:solidFill>
                  <a:srgbClr val="743B4A"/>
                </a:solidFill>
                <a:latin typeface="Arial"/>
                <a:ea typeface="Arial"/>
                <a:cs typeface="Arial"/>
                <a:sym typeface="Arial"/>
              </a:rPr>
              <a:t>Calcium imaging</a:t>
            </a:r>
            <a:r>
              <a:rPr b="0" i="0" lang="en-US" sz="1500">
                <a:solidFill>
                  <a:srgbClr val="252D35"/>
                </a:solidFill>
                <a:latin typeface="Arial"/>
                <a:ea typeface="Arial"/>
                <a:cs typeface="Arial"/>
                <a:sym typeface="Arial"/>
              </a:rPr>
              <a:t> reports changes in intracellular calcium through changing fluorescence. It can reveal many cells simultaneously, complementing measurements made from one neuron at a time.</a:t>
            </a:r>
            <a:endParaRPr sz="1800">
              <a:solidFill>
                <a:schemeClr val="dk1"/>
              </a:solidFill>
              <a:latin typeface="Calibri"/>
              <a:ea typeface="Calibri"/>
              <a:cs typeface="Calibri"/>
              <a:sym typeface="Calibri"/>
            </a:endParaRPr>
          </a:p>
        </p:txBody>
      </p:sp>
      <p:sp>
        <p:nvSpPr>
          <p:cNvPr id="334" name="Google Shape;334;p24"/>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stimulus set included food extract, arginine and glutamate at 1 mM for the amino-acid tests. Neighboring cells showed different response profiles across the panel. A published heat map summarizes this heterogeneity rather than assigning one shared response to the whole cluster.</a:t>
            </a:r>
            <a:endParaRPr sz="1800">
              <a:solidFill>
                <a:schemeClr val="dk1"/>
              </a:solidFill>
              <a:latin typeface="Calibri"/>
              <a:ea typeface="Calibri"/>
              <a:cs typeface="Calibri"/>
              <a:sym typeface="Calibri"/>
            </a:endParaRPr>
          </a:p>
        </p:txBody>
      </p:sp>
      <p:sp>
        <p:nvSpPr>
          <p:cNvPr id="335" name="Google Shape;335;p24"/>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responses establish chemical selectivity at the cellular level despite broad expression of common IR components. They do not identify which variable IR recognizes each ligand or prove that fluorescence amplitude equals membrane current. The association between expression and physiology motivates receptor tests but is not itself receptor deorphanization.</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6229941" y="1280071"/>
            <a:ext cx="5394730" cy="2731443"/>
          </a:xfrm>
          <a:prstGeom prst="rect">
            <a:avLst/>
          </a:prstGeom>
          <a:noFill/>
          <a:ln>
            <a:noFill/>
          </a:ln>
        </p:spPr>
      </p:pic>
      <p:sp>
        <p:nvSpPr>
          <p:cNvPr id="337" name="Google Shape;337;p24"/>
          <p:cNvSpPr/>
          <p:nvPr/>
        </p:nvSpPr>
        <p:spPr>
          <a:xfrm>
            <a:off x="6229796" y="410304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6A–D. Calcium imaging reveals heterogeneous odor-response profiles.</a:t>
            </a:r>
            <a:endParaRPr sz="1800">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339" name="Google Shape;339;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Single-cell sequencing resolves receptor coexpression</a:t>
            </a:r>
            <a:endParaRPr sz="1800">
              <a:solidFill>
                <a:schemeClr val="dk1"/>
              </a:solidFill>
              <a:latin typeface="Calibri"/>
              <a:ea typeface="Calibri"/>
              <a:cs typeface="Calibri"/>
              <a:sym typeface="Calibri"/>
            </a:endParaRPr>
          </a:p>
        </p:txBody>
      </p:sp>
      <p:sp>
        <p:nvSpPr>
          <p:cNvPr id="348" name="Google Shape;348;p25"/>
          <p:cNvSpPr/>
          <p:nvPr/>
        </p:nvSpPr>
        <p:spPr>
          <a:xfrm>
            <a:off x="566886" y="1234380"/>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Whole-organ sequencing combines RNA from sensory neurons, support cells and other tissue. Kozma and colleagues instead collected individual fluorescently identified olfactory sensory neurons for </a:t>
            </a:r>
            <a:r>
              <a:rPr b="1" i="0" lang="en-US" sz="1500">
                <a:solidFill>
                  <a:srgbClr val="743B4A"/>
                </a:solidFill>
                <a:latin typeface="Arial"/>
                <a:ea typeface="Arial"/>
                <a:cs typeface="Arial"/>
                <a:sym typeface="Arial"/>
              </a:rPr>
              <a:t>single-cell transcriptomics</a:t>
            </a:r>
            <a:r>
              <a:rPr b="0" i="0" lang="en-US" sz="1500">
                <a:solidFill>
                  <a:srgbClr val="252D35"/>
                </a:solidFill>
                <a:latin typeface="Arial"/>
                <a:ea typeface="Arial"/>
                <a:cs typeface="Arial"/>
                <a:sym typeface="Arial"/>
              </a:rPr>
              <a:t>, sequencing the expressed RNA of each cell. This separates within-cell coexpression from differences between cell populations.</a:t>
            </a:r>
            <a:endParaRPr sz="1800">
              <a:solidFill>
                <a:schemeClr val="dk1"/>
              </a:solidFill>
              <a:latin typeface="Calibri"/>
              <a:ea typeface="Calibri"/>
              <a:cs typeface="Calibri"/>
              <a:sym typeface="Calibri"/>
            </a:endParaRPr>
          </a:p>
        </p:txBody>
      </p:sp>
      <p:sp>
        <p:nvSpPr>
          <p:cNvPr id="349" name="Google Shape;349;p25"/>
          <p:cNvSpPr/>
          <p:nvPr/>
        </p:nvSpPr>
        <p:spPr>
          <a:xfrm>
            <a:off x="566886" y="2788444"/>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All seven analyzed single-cell transcriptomes contained IR25a and IR93a. They also contained variable tuning-IR transcripts, while IR8a and IR76b were not detected in those cells. The photographed collection pipette documents the cellular preparation used for sampling.</a:t>
            </a:r>
            <a:endParaRPr sz="1800">
              <a:solidFill>
                <a:schemeClr val="dk1"/>
              </a:solidFill>
              <a:latin typeface="Calibri"/>
              <a:ea typeface="Calibri"/>
              <a:cs typeface="Calibri"/>
              <a:sym typeface="Calibri"/>
            </a:endParaRPr>
          </a:p>
        </p:txBody>
      </p:sp>
      <p:sp>
        <p:nvSpPr>
          <p:cNvPr id="350" name="Google Shape;350;p25"/>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result supports shared receptor components with cell-specific combinations of additional candidates. Seven cells cannot exhaust the entire sensory population, and a failure to detect an RNA need not mean the gene is absent from every neuron. Transcript detection also does not establish protein abundance or channel assembly.</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6516236" y="1280071"/>
            <a:ext cx="5050890" cy="4297561"/>
          </a:xfrm>
          <a:prstGeom prst="rect">
            <a:avLst/>
          </a:prstGeom>
          <a:noFill/>
          <a:ln>
            <a:noFill/>
          </a:ln>
        </p:spPr>
      </p:pic>
      <p:sp>
        <p:nvSpPr>
          <p:cNvPr id="352" name="Google Shape;352;p2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neuron can express many candidate tuning receptors</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Tuning IRs</a:t>
            </a:r>
            <a:r>
              <a:rPr b="0" i="0" lang="en-US" sz="1500">
                <a:solidFill>
                  <a:srgbClr val="252D35"/>
                </a:solidFill>
                <a:latin typeface="Arial"/>
                <a:ea typeface="Arial"/>
                <a:cs typeface="Arial"/>
                <a:sym typeface="Arial"/>
              </a:rPr>
              <a:t> are variable receptor candidates proposed to contribute ligand selectivity alongside more widely expressed components. Kozma and colleagues compared their abundance across single olfactory sensory neurons. The original heat map displays receptor identity by row and cellular sample by column.</a:t>
            </a:r>
            <a:endParaRPr sz="1800">
              <a:solidFill>
                <a:schemeClr val="dk1"/>
              </a:solidFill>
              <a:latin typeface="Calibri"/>
              <a:ea typeface="Calibri"/>
              <a:cs typeface="Calibri"/>
              <a:sym typeface="Calibri"/>
            </a:endParaRPr>
          </a:p>
        </p:txBody>
      </p:sp>
      <p:sp>
        <p:nvSpPr>
          <p:cNvPr id="362" name="Google Shape;362;p26"/>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Each analyzed neuron contained 9–53 tuning-IR transcripts, often with only one or a few expressed at high abundance. This arrangement differs from a simple rule in which every sensory neuron expresses exactly one ligand-selective receptor. Shared coreceptors do not eliminate molecular diversity between cells.</a:t>
            </a:r>
            <a:endParaRPr sz="1800">
              <a:solidFill>
                <a:schemeClr val="dk1"/>
              </a:solidFill>
              <a:latin typeface="Calibri"/>
              <a:ea typeface="Calibri"/>
              <a:cs typeface="Calibri"/>
              <a:sym typeface="Calibri"/>
            </a:endParaRPr>
          </a:p>
        </p:txBody>
      </p:sp>
      <p:sp>
        <p:nvSpPr>
          <p:cNvPr id="363" name="Google Shape;363;p26"/>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data constrain candidate combinations but do not show that all detected IRs enter the same membrane complex. Low-abundance transcripts could have different functions or reflect technical sampling. Receptor composition, surface delivery and ligand specificity require additional protein-localization and functional experiments.</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553220" y="1280071"/>
            <a:ext cx="2919671" cy="4297561"/>
          </a:xfrm>
          <a:prstGeom prst="rect">
            <a:avLst/>
          </a:prstGeom>
          <a:noFill/>
          <a:ln>
            <a:noFill/>
          </a:ln>
        </p:spPr>
      </p:pic>
      <p:sp>
        <p:nvSpPr>
          <p:cNvPr id="365" name="Google Shape;365;p26"/>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3. Single-cell expression of common and variable ionotropic receptors.</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9978976" y="2148780"/>
            <a:ext cx="1645790" cy="1400324"/>
          </a:xfrm>
          <a:prstGeom prst="rect">
            <a:avLst/>
          </a:prstGeom>
          <a:noFill/>
          <a:ln>
            <a:noFill/>
          </a:ln>
        </p:spPr>
      </p:pic>
      <p:sp>
        <p:nvSpPr>
          <p:cNvPr id="367" name="Google Shape;367;p26"/>
          <p:cNvSpPr/>
          <p:nvPr/>
        </p:nvSpPr>
        <p:spPr>
          <a:xfrm>
            <a:off x="9978926" y="3622328"/>
            <a:ext cx="166494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Gene expression does not establish odor recognition</a:t>
            </a:r>
            <a:endParaRPr sz="1800">
              <a:solidFill>
                <a:schemeClr val="dk1"/>
              </a:solidFill>
              <a:latin typeface="Calibri"/>
              <a:ea typeface="Calibri"/>
              <a:cs typeface="Calibri"/>
              <a:sym typeface="Calibri"/>
            </a:endParaRPr>
          </a:p>
        </p:txBody>
      </p:sp>
      <p:sp>
        <p:nvSpPr>
          <p:cNvPr id="376" name="Google Shape;376;p27"/>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Kozma and colleagues also examined </a:t>
            </a:r>
            <a:r>
              <a:rPr b="1" i="0" lang="en-US" sz="1500">
                <a:solidFill>
                  <a:srgbClr val="743B4A"/>
                </a:solidFill>
                <a:latin typeface="Arial"/>
                <a:ea typeface="Arial"/>
                <a:cs typeface="Arial"/>
                <a:sym typeface="Arial"/>
              </a:rPr>
              <a:t>G-protein-coupled receptors</a:t>
            </a:r>
            <a:r>
              <a:rPr b="0" i="0" lang="en-US" sz="1500">
                <a:solidFill>
                  <a:srgbClr val="252D35"/>
                </a:solidFill>
                <a:latin typeface="Arial"/>
                <a:ea typeface="Arial"/>
                <a:cs typeface="Arial"/>
                <a:sym typeface="Arial"/>
              </a:rPr>
              <a:t>, or GPCRs, and </a:t>
            </a:r>
            <a:r>
              <a:rPr b="1" i="0" lang="en-US" sz="1500">
                <a:solidFill>
                  <a:srgbClr val="743B4A"/>
                </a:solidFill>
                <a:latin typeface="Arial"/>
                <a:ea typeface="Arial"/>
                <a:cs typeface="Arial"/>
                <a:sym typeface="Arial"/>
              </a:rPr>
              <a:t>transient receptor potential</a:t>
            </a:r>
            <a:r>
              <a:rPr b="0" i="0" lang="en-US" sz="1500">
                <a:solidFill>
                  <a:srgbClr val="252D35"/>
                </a:solidFill>
                <a:latin typeface="Arial"/>
                <a:ea typeface="Arial"/>
                <a:cs typeface="Arial"/>
                <a:sym typeface="Arial"/>
              </a:rPr>
              <a:t> channels, or TRP channels, in sensory neurons. GPCRs can regulate intracellular signaling, whereas TRP proteins form ion channels with diverse sensory and cellular functions.</a:t>
            </a:r>
            <a:endParaRPr sz="1800">
              <a:solidFill>
                <a:schemeClr val="dk1"/>
              </a:solidFill>
              <a:latin typeface="Calibri"/>
              <a:ea typeface="Calibri"/>
              <a:cs typeface="Calibri"/>
              <a:sym typeface="Calibri"/>
            </a:endParaRPr>
          </a:p>
        </p:txBody>
      </p:sp>
      <p:sp>
        <p:nvSpPr>
          <p:cNvPr id="377" name="Google Shape;377;p27"/>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Individual cells expressed 12–17 GPCR candidates and overlapping sets of TRP-channel genes. The published summary includes common proteins and additional variable candidates. These transcript inventories reveal potential molecular machinery alongside the IR family rather than one fully resolved odor-transduction pathway.</a:t>
            </a:r>
            <a:endParaRPr sz="1800">
              <a:solidFill>
                <a:schemeClr val="dk1"/>
              </a:solidFill>
              <a:latin typeface="Calibri"/>
              <a:ea typeface="Calibri"/>
              <a:cs typeface="Calibri"/>
              <a:sym typeface="Calibri"/>
            </a:endParaRPr>
          </a:p>
        </p:txBody>
      </p:sp>
      <p:sp>
        <p:nvSpPr>
          <p:cNvPr id="378" name="Google Shape;378;p27"/>
          <p:cNvSpPr/>
          <p:nvPr/>
        </p:nvSpPr>
        <p:spPr>
          <a:xfrm>
            <a:off x="566886" y="372546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Expression of a GPCR in an olfactory neuron does not prove that it binds a food odor; it may receive modulatory input. Likewise, a TRP transcript does not establish the channel carrying the primary receptor current. Connecting genes to mechanism requires ligand responses, channel properties and perturbations in identified cells.</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6229989" y="1280071"/>
            <a:ext cx="5394635" cy="2505224"/>
          </a:xfrm>
          <a:prstGeom prst="rect">
            <a:avLst/>
          </a:prstGeom>
          <a:noFill/>
          <a:ln>
            <a:noFill/>
          </a:ln>
        </p:spPr>
      </p:pic>
      <p:sp>
        <p:nvSpPr>
          <p:cNvPr id="380" name="Google Shape;380;p27"/>
          <p:cNvSpPr/>
          <p:nvPr/>
        </p:nvSpPr>
        <p:spPr>
          <a:xfrm>
            <a:off x="6229796" y="3876824"/>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4. Authors’ summary of genes expressed in olfactory sensory neurons.</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8336338" y="4754761"/>
            <a:ext cx="1182086" cy="1005780"/>
          </a:xfrm>
          <a:prstGeom prst="rect">
            <a:avLst/>
          </a:prstGeom>
          <a:noFill/>
          <a:ln>
            <a:noFill/>
          </a:ln>
        </p:spPr>
      </p:pic>
      <p:sp>
        <p:nvSpPr>
          <p:cNvPr id="382" name="Google Shape;382;p2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Controlled odor delivery separates input from response</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Bobkov and colleagues recorded Panulirus sensory neurons in a semi-intact antennular preparation. Odor reached the outer dendrites while the cell bodies remained accessible to electrodes and imaging. Separate fluid compartments limited direct stimulation of somata and allowed repeated inputs to the sensory surface.</a:t>
            </a:r>
            <a:endParaRPr sz="1800">
              <a:solidFill>
                <a:schemeClr val="dk1"/>
              </a:solidFill>
              <a:latin typeface="Calibri"/>
              <a:ea typeface="Calibri"/>
              <a:cs typeface="Calibri"/>
              <a:sym typeface="Calibri"/>
            </a:endParaRPr>
          </a:p>
        </p:txBody>
      </p:sp>
      <p:sp>
        <p:nvSpPr>
          <p:cNvPr id="392" name="Google Shape;392;p28"/>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 fluorescent tracer characterized stimulus timing, while calcium imaging and loose-patch recordings measured responses. Food extract was tested at concentrations up to 0.5 mg/mL. Increasing pulse duration increased the effective delivered stimulus, but did not create a perfectly independent change in concentration alone.</a:t>
            </a:r>
            <a:endParaRPr sz="1800">
              <a:solidFill>
                <a:schemeClr val="dk1"/>
              </a:solidFill>
              <a:latin typeface="Calibri"/>
              <a:ea typeface="Calibri"/>
              <a:cs typeface="Calibri"/>
              <a:sym typeface="Calibri"/>
            </a:endParaRPr>
          </a:p>
        </p:txBody>
      </p:sp>
      <p:sp>
        <p:nvSpPr>
          <p:cNvPr id="393" name="Google Shape;393;p28"/>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These calibrations establish when chemical input arrived relative to cellular activity. They also expose an important experimental limitation: pulse duration, onset kinetics and effective dose can covary. Apparent concentration dependence must therefore be interpreted using the actual delivery waveform, rather than only the solution concentration stated at the source.</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6561861" y="1280071"/>
            <a:ext cx="4731187" cy="2925961"/>
          </a:xfrm>
          <a:prstGeom prst="rect">
            <a:avLst/>
          </a:prstGeom>
          <a:noFill/>
          <a:ln>
            <a:noFill/>
          </a:ln>
        </p:spPr>
      </p:pic>
      <p:sp>
        <p:nvSpPr>
          <p:cNvPr id="395" name="Google Shape;395;p28"/>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1A–C. Simultaneous dye calibration, calcium responses and firing-rate controls.</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397" name="Google Shape;397;p2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Peripheral neurons can be excited or inhibited by odor</a:t>
            </a:r>
            <a:endParaRPr sz="1800">
              <a:solidFill>
                <a:schemeClr val="dk1"/>
              </a:solidFill>
              <a:latin typeface="Calibri"/>
              <a:ea typeface="Calibri"/>
              <a:cs typeface="Calibri"/>
              <a:sym typeface="Calibri"/>
            </a:endParaRPr>
          </a:p>
        </p:txBody>
      </p:sp>
      <p:sp>
        <p:nvSpPr>
          <p:cNvPr id="406" name="Google Shape;406;p29"/>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Bobkov and colleagues found tonic excitation, phasic–tonic excitation and inhibition among olfactory receptor neurons exposed to food extract. </a:t>
            </a:r>
            <a:r>
              <a:rPr b="1" i="0" lang="en-US" sz="1500">
                <a:solidFill>
                  <a:srgbClr val="743B4A"/>
                </a:solidFill>
                <a:latin typeface="Arial"/>
                <a:ea typeface="Arial"/>
                <a:cs typeface="Arial"/>
                <a:sym typeface="Arial"/>
              </a:rPr>
              <a:t>Tonic</a:t>
            </a:r>
            <a:r>
              <a:rPr b="0" i="0" lang="en-US" sz="1500">
                <a:solidFill>
                  <a:srgbClr val="252D35"/>
                </a:solidFill>
                <a:latin typeface="Arial"/>
                <a:ea typeface="Arial"/>
                <a:cs typeface="Arial"/>
                <a:sym typeface="Arial"/>
              </a:rPr>
              <a:t> responses persist during stimulation; </a:t>
            </a:r>
            <a:r>
              <a:rPr b="1" i="0" lang="en-US" sz="1500">
                <a:solidFill>
                  <a:srgbClr val="743B4A"/>
                </a:solidFill>
                <a:latin typeface="Arial"/>
                <a:ea typeface="Arial"/>
                <a:cs typeface="Arial"/>
                <a:sym typeface="Arial"/>
              </a:rPr>
              <a:t>phasic</a:t>
            </a:r>
            <a:r>
              <a:rPr b="0" i="0" lang="en-US" sz="1500">
                <a:solidFill>
                  <a:srgbClr val="252D35"/>
                </a:solidFill>
                <a:latin typeface="Arial"/>
                <a:ea typeface="Arial"/>
                <a:cs typeface="Arial"/>
                <a:sym typeface="Arial"/>
              </a:rPr>
              <a:t> responses emphasize its beginning. Inhibitory responses reduce activity relative to the cell’s unstimulated state.</a:t>
            </a:r>
            <a:endParaRPr sz="1800">
              <a:solidFill>
                <a:schemeClr val="dk1"/>
              </a:solidFill>
              <a:latin typeface="Calibri"/>
              <a:ea typeface="Calibri"/>
              <a:cs typeface="Calibri"/>
              <a:sym typeface="Calibri"/>
            </a:endParaRPr>
          </a:p>
        </p:txBody>
      </p:sp>
      <p:sp>
        <p:nvSpPr>
          <p:cNvPr id="407" name="Google Shape;407;p29"/>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Whole-cell voltage-clamp recordings near −70 to −60 mV measured inward or outward odor-evoked currents alongside firing patterns. Excitatory current could persist or adapt rapidly, while some cells showed inhibitory currents. Thus, diversity was already present in the receptor input, before central synaptic processing.</a:t>
            </a:r>
            <a:endParaRPr sz="1800">
              <a:solidFill>
                <a:schemeClr val="dk1"/>
              </a:solidFill>
              <a:latin typeface="Calibri"/>
              <a:ea typeface="Calibri"/>
              <a:cs typeface="Calibri"/>
              <a:sym typeface="Calibri"/>
            </a:endParaRPr>
          </a:p>
        </p:txBody>
      </p:sp>
      <p:sp>
        <p:nvSpPr>
          <p:cNvPr id="408" name="Google Shape;408;p29"/>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observations reject an account in which all peripheral cells transmit the same excitation and the brain creates every inhibitory response. They do not resolve the molecular channel responsible for every current class. A current’s direction depends on holding voltage and ionic driving force, not simply the behavioral meaning of an odor.</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6559821" y="1280071"/>
            <a:ext cx="2906468" cy="4297561"/>
          </a:xfrm>
          <a:prstGeom prst="rect">
            <a:avLst/>
          </a:prstGeom>
          <a:noFill/>
          <a:ln>
            <a:noFill/>
          </a:ln>
        </p:spPr>
      </p:pic>
      <p:sp>
        <p:nvSpPr>
          <p:cNvPr id="410" name="Google Shape;410;p29"/>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2A–D. Excitatory, inhibitory and intrinsic sensory activity.</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412" name="Google Shape;412;p29"/>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Calcium signals and spikes have different time courses</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Calcium-sensitive fluorescence is often used as a proxy for neuronal activity, but it is not an action potential. Bobkov and colleagues recorded spikes and calcium simultaneously in identified lobster sensory neurons. The comparison tested how reliably a slower optical signal represents rapid electrical output.</a:t>
            </a:r>
            <a:endParaRPr sz="1800">
              <a:solidFill>
                <a:schemeClr val="dk1"/>
              </a:solidFill>
              <a:latin typeface="Calibri"/>
              <a:ea typeface="Calibri"/>
              <a:cs typeface="Calibri"/>
              <a:sym typeface="Calibri"/>
            </a:endParaRPr>
          </a:p>
        </p:txBody>
      </p:sp>
      <p:sp>
        <p:nvSpPr>
          <p:cNvPr id="422" name="Google Shape;422;p30"/>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Tonic, phasic–tonic and inhibitory neurons showed corresponding but differently filtered fluorescence changes. Calcium generally changed more slowly than the spike pattern. An inhibitory optical response could accompany reduced firing, while excitation increased firing and then accumulated a calcium signal.</a:t>
            </a:r>
            <a:endParaRPr sz="1800">
              <a:solidFill>
                <a:schemeClr val="dk1"/>
              </a:solidFill>
              <a:latin typeface="Calibri"/>
              <a:ea typeface="Calibri"/>
              <a:cs typeface="Calibri"/>
              <a:sym typeface="Calibri"/>
            </a:endParaRPr>
          </a:p>
        </p:txBody>
      </p:sp>
      <p:sp>
        <p:nvSpPr>
          <p:cNvPr id="423" name="Google Shape;423;p30"/>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relationship supports calcium imaging for identifying response classes while limiting interpretations of precise encounter timing. Dye kinetics, intracellular buffering and calcium removal all intervene between spikes and fluorescence. A broad calcium peak cannot be assigned the same duration as the odor pulse or the underlying burst of spikes.</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7385981" y="1280071"/>
            <a:ext cx="3082947" cy="2925961"/>
          </a:xfrm>
          <a:prstGeom prst="rect">
            <a:avLst/>
          </a:prstGeom>
          <a:noFill/>
          <a:ln>
            <a:noFill/>
          </a:ln>
        </p:spPr>
      </p:pic>
      <p:sp>
        <p:nvSpPr>
          <p:cNvPr id="425" name="Google Shape;425;p3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3A–C. Simultaneous spikes and calcium responses across neuronal response classes.</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27" name="Google Shape;427;p30"/>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Some olfactory neurons burst without odor stimulation</a:t>
            </a:r>
            <a:endParaRPr sz="1800">
              <a:solidFill>
                <a:schemeClr val="dk1"/>
              </a:solidFill>
              <a:latin typeface="Calibri"/>
              <a:ea typeface="Calibri"/>
              <a:cs typeface="Calibri"/>
              <a:sym typeface="Calibri"/>
            </a:endParaRPr>
          </a:p>
        </p:txBody>
      </p:sp>
      <p:sp>
        <p:nvSpPr>
          <p:cNvPr id="436" name="Google Shape;436;p31"/>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burst</a:t>
            </a:r>
            <a:r>
              <a:rPr b="0" i="0" lang="en-US" sz="1600">
                <a:solidFill>
                  <a:srgbClr val="252D35"/>
                </a:solidFill>
                <a:latin typeface="Arial"/>
                <a:ea typeface="Arial"/>
                <a:cs typeface="Arial"/>
                <a:sym typeface="Arial"/>
              </a:rPr>
              <a:t> is a cluster of spikes separated from another cluster by a quieter interval. Bobkov and colleagues observed intrinsically bursting olfactory receptor neurons in the absence of presented odor. Their spontaneous output therefore contains temporal structure before environmental stimulation is added.</a:t>
            </a:r>
            <a:endParaRPr sz="1800">
              <a:solidFill>
                <a:schemeClr val="dk1"/>
              </a:solidFill>
              <a:latin typeface="Calibri"/>
              <a:ea typeface="Calibri"/>
              <a:cs typeface="Calibri"/>
              <a:sym typeface="Calibri"/>
            </a:endParaRPr>
          </a:p>
        </p:txBody>
      </p:sp>
      <p:sp>
        <p:nvSpPr>
          <p:cNvPr id="437" name="Google Shape;437;p31"/>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Simultaneous recordings showed repeated electrical bursts followed by slower calcium oscillations. Across cells, optical oscillation frequencies ranged from approximately 0.015 to 0.9 Hz, with an average near 0.16 Hz. Different cells consequently supplied different intrinsic temporal reference scales.</a:t>
            </a:r>
            <a:endParaRPr sz="1800">
              <a:solidFill>
                <a:schemeClr val="dk1"/>
              </a:solidFill>
              <a:latin typeface="Calibri"/>
              <a:ea typeface="Calibri"/>
              <a:cs typeface="Calibri"/>
              <a:sym typeface="Calibri"/>
            </a:endParaRPr>
          </a:p>
        </p:txBody>
      </p:sp>
      <p:sp>
        <p:nvSpPr>
          <p:cNvPr id="438" name="Google Shape;438;p31"/>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These observations establish spontaneous peripheral timing, not a synchronized clock shared by the whole antennule. They also do not identify every ion channel producing the oscillation. An odor-evoked burst must be distinguished from a spontaneous burst when evaluating whether a cell has detected a new encounter.</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862489" y="1280071"/>
            <a:ext cx="2300982" cy="4297561"/>
          </a:xfrm>
          <a:prstGeom prst="rect">
            <a:avLst/>
          </a:prstGeom>
          <a:noFill/>
          <a:ln>
            <a:noFill/>
          </a:ln>
        </p:spPr>
      </p:pic>
      <p:sp>
        <p:nvSpPr>
          <p:cNvPr id="440" name="Google Shape;440;p31"/>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4A–B. Simultaneous bursting and slower calcium oscillations.</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442" name="Google Shape;442;p31"/>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Adjacent receptor neurons need not share an oscillator</a:t>
            </a:r>
            <a:endParaRPr sz="1800">
              <a:solidFill>
                <a:schemeClr val="dk1"/>
              </a:solidFill>
              <a:latin typeface="Calibri"/>
              <a:ea typeface="Calibri"/>
              <a:cs typeface="Calibri"/>
              <a:sym typeface="Calibri"/>
            </a:endParaRPr>
          </a:p>
        </p:txBody>
      </p:sp>
      <p:sp>
        <p:nvSpPr>
          <p:cNvPr id="451" name="Google Shape;451;p32"/>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Bobkov and colleagues imaged many sensory somata within the same antennular cluster and compared their calcium time series. </a:t>
            </a:r>
            <a:r>
              <a:rPr b="1" i="0" lang="en-US" sz="1500">
                <a:solidFill>
                  <a:srgbClr val="743B4A"/>
                </a:solidFill>
                <a:latin typeface="Arial"/>
                <a:ea typeface="Arial"/>
                <a:cs typeface="Arial"/>
                <a:sym typeface="Arial"/>
              </a:rPr>
              <a:t>Correlation</a:t>
            </a:r>
            <a:r>
              <a:rPr b="0" i="0" lang="en-US" sz="1500">
                <a:solidFill>
                  <a:srgbClr val="252D35"/>
                </a:solidFill>
                <a:latin typeface="Arial"/>
                <a:ea typeface="Arial"/>
                <a:cs typeface="Arial"/>
                <a:sym typeface="Arial"/>
              </a:rPr>
              <a:t> measures the degree to which two signals vary together. Pairwise comparisons tested whether nearby bursting cells behaved as one tightly synchronized peripheral network.</a:t>
            </a:r>
            <a:endParaRPr sz="1800">
              <a:solidFill>
                <a:schemeClr val="dk1"/>
              </a:solidFill>
              <a:latin typeface="Calibri"/>
              <a:ea typeface="Calibri"/>
              <a:cs typeface="Calibri"/>
              <a:sym typeface="Calibri"/>
            </a:endParaRPr>
          </a:p>
        </p:txBody>
      </p:sp>
      <p:sp>
        <p:nvSpPr>
          <p:cNvPr id="452" name="Google Shape;452;p32"/>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Most recorded pairs were weakly correlated and exhibited different oscillatory timing. A small number of highly similar records could arise from overlapping optical sampling, which required caution before attributing them to cellular coupling. The colored micrograph identifies the individual regions used for analysis.</a:t>
            </a:r>
            <a:endParaRPr sz="1800">
              <a:solidFill>
                <a:schemeClr val="dk1"/>
              </a:solidFill>
              <a:latin typeface="Calibri"/>
              <a:ea typeface="Calibri"/>
              <a:cs typeface="Calibri"/>
              <a:sym typeface="Calibri"/>
            </a:endParaRPr>
          </a:p>
        </p:txBody>
      </p:sp>
      <p:sp>
        <p:nvSpPr>
          <p:cNvPr id="453" name="Google Shape;453;p32"/>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result supports substantial independence among nearby sensory-cell oscillations in this preparation. It does not exclude all interactions or establish independence after signals converge centrally. Optical separation and imaging resolution constrain a negative result, so lack of correlation should not be expanded into proof that no communication is possible.</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7551688" y="1280075"/>
            <a:ext cx="2980134" cy="4297552"/>
          </a:xfrm>
          <a:prstGeom prst="rect">
            <a:avLst/>
          </a:prstGeom>
          <a:noFill/>
          <a:ln>
            <a:noFill/>
          </a:ln>
        </p:spPr>
      </p:pic>
      <p:sp>
        <p:nvSpPr>
          <p:cNvPr id="455" name="Google Shape;455;p3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5A–C. Colored sensory-cell images, calcium records and pairwise correlations.</a:t>
            </a:r>
            <a:endParaRPr sz="1800">
              <a:solidFill>
                <a:schemeClr val="dk1"/>
              </a:solidFill>
              <a:latin typeface="Calibri"/>
              <a:ea typeface="Calibri"/>
              <a:cs typeface="Calibri"/>
              <a:sym typeface="Calibri"/>
            </a:endParaRPr>
          </a:p>
        </p:txBody>
      </p:sp>
      <p:sp>
        <p:nvSpPr>
          <p:cNvPr id="456" name="Google Shape;456;p3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a:t>
            </a:r>
            <a:endParaRPr sz="1800">
              <a:solidFill>
                <a:schemeClr val="dk1"/>
              </a:solidFill>
              <a:latin typeface="Calibri"/>
              <a:ea typeface="Calibri"/>
              <a:cs typeface="Calibri"/>
              <a:sym typeface="Calibri"/>
            </a:endParaRPr>
          </a:p>
        </p:txBody>
      </p:sp>
      <p:sp>
        <p:nvSpPr>
          <p:cNvPr id="458" name="Google Shape;458;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Cyclic nucleotides can support peripheral inhibition</a:t>
            </a:r>
            <a:endParaRPr sz="1800">
              <a:solidFill>
                <a:schemeClr val="dk1"/>
              </a:solidFill>
              <a:latin typeface="Calibri"/>
              <a:ea typeface="Calibri"/>
              <a:cs typeface="Calibri"/>
              <a:sym typeface="Calibri"/>
            </a:endParaRPr>
          </a:p>
        </p:txBody>
      </p:sp>
      <p:sp>
        <p:nvSpPr>
          <p:cNvPr id="464" name="Google Shape;464;p33"/>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second messenger</a:t>
            </a:r>
            <a:r>
              <a:rPr b="0" i="0" lang="en-US" sz="1500">
                <a:solidFill>
                  <a:srgbClr val="252D35"/>
                </a:solidFill>
                <a:latin typeface="Arial"/>
                <a:ea typeface="Arial"/>
                <a:cs typeface="Arial"/>
                <a:sym typeface="Arial"/>
              </a:rPr>
              <a:t> is an intracellular molecule whose concentration changes after signaling begins. Michel and Ache tested cyclic nucleotides in lobster sensory neurons that were excited by food extract but inhibited by proline. Whole-cell recordings were made at a holding voltage of −60 mV.</a:t>
            </a:r>
            <a:endParaRPr sz="1800">
              <a:solidFill>
                <a:schemeClr val="dk1"/>
              </a:solidFill>
              <a:latin typeface="Calibri"/>
              <a:ea typeface="Calibri"/>
              <a:cs typeface="Calibri"/>
              <a:sym typeface="Calibri"/>
            </a:endParaRPr>
          </a:p>
        </p:txBody>
      </p:sp>
      <p:sp>
        <p:nvSpPr>
          <p:cNvPr id="465" name="Google Shape;465;p33"/>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Proline produced a small outward current in this cell class. The phosphodiesterase inhibitor IBMX at 1 mM and membrane-permeant cyclic-nucleotide analogs could mimic an outward response. These manipulations link intracellular cyclic-nucleotide accumulation to a conductance associated with peripheral inhibition.</a:t>
            </a:r>
            <a:endParaRPr sz="1800">
              <a:solidFill>
                <a:schemeClr val="dk1"/>
              </a:solidFill>
              <a:latin typeface="Calibri"/>
              <a:ea typeface="Calibri"/>
              <a:cs typeface="Calibri"/>
              <a:sym typeface="Calibri"/>
            </a:endParaRPr>
          </a:p>
        </p:txBody>
      </p:sp>
      <p:sp>
        <p:nvSpPr>
          <p:cNvPr id="466" name="Google Shape;466;p33"/>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interpretation builds on an odor-evoked potassium conductance characterized in this receptor-cell system. Pharmacological mimicry does not identify the odor-binding receptor or prove that one nucleotide is the exclusive physiological signal. Drug actions and analog selectivity require comparison with cells lacking the same proline-inhibitory phenotype.</a:t>
            </a:r>
            <a:endParaRPr sz="1800">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3">
            <a:alphaModFix/>
          </a:blip>
          <a:srcRect b="0" l="0" r="0" t="0"/>
          <a:stretch/>
        </p:blipFill>
        <p:spPr>
          <a:xfrm>
            <a:off x="6229924" y="1280071"/>
            <a:ext cx="5394765" cy="2859435"/>
          </a:xfrm>
          <a:prstGeom prst="rect">
            <a:avLst/>
          </a:prstGeom>
          <a:noFill/>
          <a:ln>
            <a:noFill/>
          </a:ln>
        </p:spPr>
      </p:pic>
      <p:sp>
        <p:nvSpPr>
          <p:cNvPr id="468" name="Google Shape;468;p33"/>
          <p:cNvSpPr/>
          <p:nvPr/>
        </p:nvSpPr>
        <p:spPr>
          <a:xfrm>
            <a:off x="6229796" y="423103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Michel &amp; Ache (1992), Fig. 4. Proline, phosphodiesterase inhibition and cyclic-GMP analog evoke outward currents.</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70" name="Google Shape;470;p3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71" name="Google Shape;471;p3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Michel &amp; Ache (1992); Corey et al. (2013)</a:t>
            </a:r>
            <a:endParaRPr sz="1800">
              <a:solidFill>
                <a:schemeClr val="dk1"/>
              </a:solidFill>
              <a:latin typeface="Calibri"/>
              <a:ea typeface="Calibri"/>
              <a:cs typeface="Calibri"/>
              <a:sym typeface="Calibri"/>
            </a:endParaRPr>
          </a:p>
        </p:txBody>
      </p:sp>
      <p:sp>
        <p:nvSpPr>
          <p:cNvPr id="473" name="Google Shape;47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Enzyme activation probes a candidate inhibitory pathway</a:t>
            </a:r>
            <a:endParaRPr sz="1800">
              <a:solidFill>
                <a:schemeClr val="dk1"/>
              </a:solidFill>
              <a:latin typeface="Calibri"/>
              <a:ea typeface="Calibri"/>
              <a:cs typeface="Calibri"/>
              <a:sym typeface="Calibri"/>
            </a:endParaRPr>
          </a:p>
        </p:txBody>
      </p:sp>
      <p:sp>
        <p:nvSpPr>
          <p:cNvPr id="479" name="Google Shape;479;p34"/>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Adenylyl cyclase</a:t>
            </a:r>
            <a:r>
              <a:rPr b="0" i="0" lang="en-US" sz="1500">
                <a:solidFill>
                  <a:srgbClr val="252D35"/>
                </a:solidFill>
                <a:latin typeface="Arial"/>
                <a:ea typeface="Arial"/>
                <a:cs typeface="Arial"/>
                <a:sym typeface="Arial"/>
              </a:rPr>
              <a:t> synthesizes cyclic AMP, or cAMP. Michel and Ache applied forskolin, an activator of this enzyme, to test whether increasing its activity could reproduce proline-associated inhibition. Saline application provided a comparison for the mechanical delivery of solution.</a:t>
            </a:r>
            <a:endParaRPr sz="1800">
              <a:solidFill>
                <a:schemeClr val="dk1"/>
              </a:solidFill>
              <a:latin typeface="Calibri"/>
              <a:ea typeface="Calibri"/>
              <a:cs typeface="Calibri"/>
              <a:sym typeface="Calibri"/>
            </a:endParaRPr>
          </a:p>
        </p:txBody>
      </p:sp>
      <p:sp>
        <p:nvSpPr>
          <p:cNvPr id="480" name="Google Shape;480;p34"/>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Forskolin at 50 µM evoked an outward current in proline-inhibited neurons, and IBMX enhanced related responses by reducing nucleotide breakdown. Cells excited by food extract but not inhibited by proline supplied a contrasting response class, helping separate a general toxic effect from pathway-dependent sensitivity.</a:t>
            </a:r>
            <a:endParaRPr sz="1800">
              <a:solidFill>
                <a:schemeClr val="dk1"/>
              </a:solidFill>
              <a:latin typeface="Calibri"/>
              <a:ea typeface="Calibri"/>
              <a:cs typeface="Calibri"/>
              <a:sym typeface="Calibri"/>
            </a:endParaRPr>
          </a:p>
        </p:txBody>
      </p:sp>
      <p:sp>
        <p:nvSpPr>
          <p:cNvPr id="481" name="Google Shape;481;p34"/>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results support cyclic-nucleotide participation in inhibitory transduction. They do not prove a complete receptor-to-enzyme sequence in an intact searching lobster or identify a GPCR that initiates it. Modern IR expression and earlier biochemical signaling findings must therefore be evaluated together without forcing them into one experimentally complete pathway.</a:t>
            </a:r>
            <a:endParaRPr sz="1800">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3">
            <a:alphaModFix/>
          </a:blip>
          <a:srcRect b="0" l="0" r="0" t="0"/>
          <a:stretch/>
        </p:blipFill>
        <p:spPr>
          <a:xfrm>
            <a:off x="6686012" y="1280071"/>
            <a:ext cx="4482589" cy="2925961"/>
          </a:xfrm>
          <a:prstGeom prst="rect">
            <a:avLst/>
          </a:prstGeom>
          <a:noFill/>
          <a:ln>
            <a:noFill/>
          </a:ln>
        </p:spPr>
      </p:pic>
      <p:sp>
        <p:nvSpPr>
          <p:cNvPr id="483" name="Google Shape;483;p34"/>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Michel &amp; Ache (1992), Fig. 2. Forskolin and IBMX evoke an outward current in a proline-inhibited neuron.</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85" name="Google Shape;485;p3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86" name="Google Shape;486;p3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Michel &amp; Ache (1992); Corey et al. (2013)</a:t>
            </a:r>
            <a:endParaRPr sz="1800">
              <a:solidFill>
                <a:schemeClr val="dk1"/>
              </a:solidFill>
              <a:latin typeface="Calibri"/>
              <a:ea typeface="Calibri"/>
              <a:cs typeface="Calibri"/>
              <a:sym typeface="Calibri"/>
            </a:endParaRPr>
          </a:p>
        </p:txBody>
      </p:sp>
      <p:sp>
        <p:nvSpPr>
          <p:cNvPr id="488" name="Google Shape;48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Odor rapidly changes dendritic second messengers</a:t>
            </a:r>
            <a:endParaRPr sz="1800">
              <a:solidFill>
                <a:schemeClr val="dk1"/>
              </a:solidFill>
              <a:latin typeface="Calibri"/>
              <a:ea typeface="Calibri"/>
              <a:cs typeface="Calibri"/>
              <a:sym typeface="Calibri"/>
            </a:endParaRPr>
          </a:p>
        </p:txBody>
      </p:sp>
      <p:sp>
        <p:nvSpPr>
          <p:cNvPr id="494" name="Google Shape;494;p35"/>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Boekhoff and colleagues isolated membranes enriched from the outer dendrites of Panulirus olfactory hairs. A </a:t>
            </a:r>
            <a:r>
              <a:rPr b="1" i="0" lang="en-US" sz="1500">
                <a:solidFill>
                  <a:srgbClr val="743B4A"/>
                </a:solidFill>
                <a:latin typeface="Arial"/>
                <a:ea typeface="Arial"/>
                <a:cs typeface="Arial"/>
                <a:sym typeface="Arial"/>
              </a:rPr>
              <a:t>quench-flow assay</a:t>
            </a:r>
            <a:r>
              <a:rPr b="0" i="0" lang="en-US" sz="1500">
                <a:solidFill>
                  <a:srgbClr val="252D35"/>
                </a:solidFill>
                <a:latin typeface="Arial"/>
                <a:ea typeface="Arial"/>
                <a:cs typeface="Arial"/>
                <a:sym typeface="Arial"/>
              </a:rPr>
              <a:t> mixes membrane material with stimulus and rapidly stops the reaction, allowing biochemical changes over milliseconds to be measured independently of spike output.</a:t>
            </a:r>
            <a:endParaRPr sz="1800">
              <a:solidFill>
                <a:schemeClr val="dk1"/>
              </a:solidFill>
              <a:latin typeface="Calibri"/>
              <a:ea typeface="Calibri"/>
              <a:cs typeface="Calibri"/>
              <a:sym typeface="Calibri"/>
            </a:endParaRPr>
          </a:p>
        </p:txBody>
      </p:sp>
      <p:sp>
        <p:nvSpPr>
          <p:cNvPr id="495" name="Google Shape;495;p35"/>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Food extract produced transient increases in cAMP and </a:t>
            </a:r>
            <a:r>
              <a:rPr b="1" i="0" lang="en-US" sz="1500">
                <a:solidFill>
                  <a:srgbClr val="743B4A"/>
                </a:solidFill>
                <a:latin typeface="Arial"/>
                <a:ea typeface="Arial"/>
                <a:cs typeface="Arial"/>
                <a:sym typeface="Arial"/>
              </a:rPr>
              <a:t>inositol 1,4,5-trisphosphate</a:t>
            </a:r>
            <a:r>
              <a:rPr b="0" i="0" lang="en-US" sz="1500">
                <a:solidFill>
                  <a:srgbClr val="252D35"/>
                </a:solidFill>
                <a:latin typeface="Arial"/>
                <a:ea typeface="Arial"/>
                <a:cs typeface="Arial"/>
                <a:sym typeface="Arial"/>
              </a:rPr>
              <a:t>, or IP3, peaking within approximately 50 ms. IP3 is a signaling molecule produced from membrane phosphoinositides. The timing is fast enough to participate in early sensory transduction rather than only a delayed behavioral response.</a:t>
            </a:r>
            <a:endParaRPr sz="1800">
              <a:solidFill>
                <a:schemeClr val="dk1"/>
              </a:solidFill>
              <a:latin typeface="Calibri"/>
              <a:ea typeface="Calibri"/>
              <a:cs typeface="Calibri"/>
              <a:sym typeface="Calibri"/>
            </a:endParaRPr>
          </a:p>
        </p:txBody>
      </p:sp>
      <p:sp>
        <p:nvSpPr>
          <p:cNvPr id="496" name="Google Shape;496;p35"/>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assay establishes rapid odor-associated biochemical signaling in pooled dendritic material. It does not demonstrate that both messengers rise in every individual neuron, or that a measured rise directly opens a particular channel. Pooling, biochemical enrichment and separation from the intact organ limit cell-specific circuit interpretations.</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7732093" y="1280071"/>
            <a:ext cx="2390724" cy="2925961"/>
          </a:xfrm>
          <a:prstGeom prst="rect">
            <a:avLst/>
          </a:prstGeom>
          <a:noFill/>
          <a:ln>
            <a:noFill/>
          </a:ln>
        </p:spPr>
      </p:pic>
      <p:sp>
        <p:nvSpPr>
          <p:cNvPr id="498" name="Google Shape;498;p35"/>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Boekhoff et al. (1994), Fig. 1. Odor evokes rapid cAMP and IP3 accumulation in dendritic membranes.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7382257" y="4754761"/>
            <a:ext cx="3090248" cy="1005780"/>
          </a:xfrm>
          <a:prstGeom prst="rect">
            <a:avLst/>
          </a:prstGeom>
          <a:noFill/>
          <a:ln>
            <a:noFill/>
          </a:ln>
        </p:spPr>
      </p:pic>
      <p:sp>
        <p:nvSpPr>
          <p:cNvPr id="500" name="Google Shape;500;p35"/>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501" name="Google Shape;501;p3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Boekhoff et al. (1994); Corey et al. (2013)</a:t>
            </a:r>
            <a:endParaRPr sz="1800">
              <a:solidFill>
                <a:schemeClr val="dk1"/>
              </a:solidFill>
              <a:latin typeface="Calibri"/>
              <a:ea typeface="Calibri"/>
              <a:cs typeface="Calibri"/>
              <a:sym typeface="Calibri"/>
            </a:endParaRPr>
          </a:p>
        </p:txBody>
      </p:sp>
      <p:sp>
        <p:nvSpPr>
          <p:cNvPr id="503" name="Google Shape;50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Ligand concentration changes messenger recruitment</a:t>
            </a:r>
            <a:endParaRPr sz="1800">
              <a:solidFill>
                <a:schemeClr val="dk1"/>
              </a:solidFill>
              <a:latin typeface="Calibri"/>
              <a:ea typeface="Calibri"/>
              <a:cs typeface="Calibri"/>
              <a:sym typeface="Calibri"/>
            </a:endParaRPr>
          </a:p>
        </p:txBody>
      </p:sp>
      <p:sp>
        <p:nvSpPr>
          <p:cNvPr id="509" name="Google Shape;509;p36"/>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Boekhoff and colleagues compared taurine and proline because individual ligands can excite one lobster sensory neuron yet inhibit another. At 1 µM, taurine preferentially elevated IP3 and proline preferentially elevated cAMP in isolated dendritic membranes. The published plots show these distinct low-dose time courses.</a:t>
            </a:r>
            <a:endParaRPr sz="1800">
              <a:solidFill>
                <a:schemeClr val="dk1"/>
              </a:solidFill>
              <a:latin typeface="Calibri"/>
              <a:ea typeface="Calibri"/>
              <a:cs typeface="Calibri"/>
              <a:sym typeface="Calibri"/>
            </a:endParaRPr>
          </a:p>
        </p:txBody>
      </p:sp>
      <p:sp>
        <p:nvSpPr>
          <p:cNvPr id="510" name="Google Shape;510;p36"/>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At 100 µM, both ligands elevated both signals while retaining different preferences. Taurine produced peak IP3 near 630 pmol/mg and cAMP near 280 pmol/mg; proline produced cAMP near 720 pmol/mg and IP3 near 220 pmol/mg.</a:t>
            </a:r>
            <a:endParaRPr sz="1800">
              <a:solidFill>
                <a:schemeClr val="dk1"/>
              </a:solidFill>
              <a:latin typeface="Calibri"/>
              <a:ea typeface="Calibri"/>
              <a:cs typeface="Calibri"/>
              <a:sym typeface="Calibri"/>
            </a:endParaRPr>
          </a:p>
        </p:txBody>
      </p:sp>
      <p:sp>
        <p:nvSpPr>
          <p:cNvPr id="511" name="Google Shape;511;p36"/>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concentration dependence argues against assigning each ligand an exclusively fixed messenger pathway. Picomoles per milligram normalize the measured messenger quantity to membrane protein, not to one neuron. The data do not identify which receptor proteins or cell combinations generated the pooled signal, leaving several mechanistic explanations open.</a:t>
            </a:r>
            <a:endParaRPr sz="1800">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3">
            <a:alphaModFix/>
          </a:blip>
          <a:srcRect b="0" l="0" r="0" t="0"/>
          <a:stretch/>
        </p:blipFill>
        <p:spPr>
          <a:xfrm>
            <a:off x="6631316" y="1280071"/>
            <a:ext cx="4592278" cy="2925961"/>
          </a:xfrm>
          <a:prstGeom prst="rect">
            <a:avLst/>
          </a:prstGeom>
          <a:noFill/>
          <a:ln>
            <a:noFill/>
          </a:ln>
        </p:spPr>
      </p:pic>
      <p:sp>
        <p:nvSpPr>
          <p:cNvPr id="513" name="Google Shape;513;p3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Boekhoff et al. (1994), Fig. 3A–B. Taurine and proline differ in second-messenger recruitment.</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4">
            <a:alphaModFix/>
          </a:blip>
          <a:srcRect b="0" l="0" r="0" t="0"/>
          <a:stretch/>
        </p:blipFill>
        <p:spPr>
          <a:xfrm>
            <a:off x="7382257" y="4754761"/>
            <a:ext cx="3090248" cy="1005780"/>
          </a:xfrm>
          <a:prstGeom prst="rect">
            <a:avLst/>
          </a:prstGeom>
          <a:noFill/>
          <a:ln>
            <a:noFill/>
          </a:ln>
        </p:spPr>
      </p:pic>
      <p:sp>
        <p:nvSpPr>
          <p:cNvPr id="515" name="Google Shape;515;p36"/>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516" name="Google Shape;516;p3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Boekhoff et al. (1994); Corey et al. (2013)</a:t>
            </a:r>
            <a:endParaRPr sz="1800">
              <a:solidFill>
                <a:schemeClr val="dk1"/>
              </a:solidFill>
              <a:latin typeface="Calibri"/>
              <a:ea typeface="Calibri"/>
              <a:cs typeface="Calibri"/>
              <a:sym typeface="Calibri"/>
            </a:endParaRPr>
          </a:p>
        </p:txBody>
      </p:sp>
      <p:sp>
        <p:nvSpPr>
          <p:cNvPr id="518" name="Google Shape;51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2" name="Shape 522"/>
        <p:cNvGrpSpPr/>
        <p:nvPr/>
      </p:nvGrpSpPr>
      <p:grpSpPr>
        <a:xfrm>
          <a:off x="0" y="0"/>
          <a:ext cx="0" cy="0"/>
          <a:chOff x="0" y="0"/>
          <a:chExt cx="0" cy="0"/>
        </a:xfrm>
      </p:grpSpPr>
      <p:sp>
        <p:nvSpPr>
          <p:cNvPr id="523" name="Google Shape;523;p3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Bursting neurons supply diverse temporal reference scales</a:t>
            </a:r>
            <a:endParaRPr sz="1800">
              <a:solidFill>
                <a:schemeClr val="dk1"/>
              </a:solidFill>
              <a:latin typeface="Calibri"/>
              <a:ea typeface="Calibri"/>
              <a:cs typeface="Calibri"/>
              <a:sym typeface="Calibri"/>
            </a:endParaRPr>
          </a:p>
        </p:txBody>
      </p:sp>
      <p:sp>
        <p:nvSpPr>
          <p:cNvPr id="524" name="Google Shape;524;p37"/>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Park and colleagues recorded bursting olfactory receptor neurons and quantified the intervals between spontaneous bursts. A </a:t>
            </a:r>
            <a:r>
              <a:rPr b="1" i="0" lang="en-US" sz="1400">
                <a:solidFill>
                  <a:srgbClr val="743B4A"/>
                </a:solidFill>
                <a:latin typeface="Arial"/>
                <a:ea typeface="Arial"/>
                <a:cs typeface="Arial"/>
                <a:sym typeface="Arial"/>
              </a:rPr>
              <a:t>quasiperiodic oscillator</a:t>
            </a:r>
            <a:r>
              <a:rPr b="0" i="0" lang="en-US" sz="1400">
                <a:solidFill>
                  <a:srgbClr val="252D35"/>
                </a:solidFill>
                <a:latin typeface="Arial"/>
                <a:ea typeface="Arial"/>
                <a:cs typeface="Arial"/>
                <a:sym typeface="Arial"/>
              </a:rPr>
              <a:t> repeats approximately, with variability rather than a perfectly fixed period. Such intrinsic activity offers a possible reference against which incoming odor encounters can be registered.</a:t>
            </a:r>
            <a:endParaRPr sz="1800">
              <a:solidFill>
                <a:schemeClr val="dk1"/>
              </a:solidFill>
              <a:latin typeface="Calibri"/>
              <a:ea typeface="Calibri"/>
              <a:cs typeface="Calibri"/>
              <a:sym typeface="Calibri"/>
            </a:endParaRPr>
          </a:p>
        </p:txBody>
      </p:sp>
      <p:sp>
        <p:nvSpPr>
          <p:cNvPr id="525" name="Google Shape;525;p37"/>
          <p:cNvSpPr/>
          <p:nvPr/>
        </p:nvSpPr>
        <p:spPr>
          <a:xfrm>
            <a:off x="566886" y="2492871"/>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The recorded cells displayed different mean burst intervals and within-cell variation. Some repeated over a few seconds, whereas others had substantially longer intervals. The original figure compares electrical records and interval distributions, establishing diversity in measured cellular timing before a population decoder is proposed.</a:t>
            </a:r>
            <a:endParaRPr sz="1800">
              <a:solidFill>
                <a:schemeClr val="dk1"/>
              </a:solidFill>
              <a:latin typeface="Calibri"/>
              <a:ea typeface="Calibri"/>
              <a:cs typeface="Calibri"/>
              <a:sym typeface="Calibri"/>
            </a:endParaRPr>
          </a:p>
        </p:txBody>
      </p:sp>
      <p:sp>
        <p:nvSpPr>
          <p:cNvPr id="526" name="Google Shape;526;p37"/>
          <p:cNvSpPr/>
          <p:nvPr/>
        </p:nvSpPr>
        <p:spPr>
          <a:xfrm>
            <a:off x="566886" y="3751362"/>
            <a:ext cx="53161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An intrinsic period is a property of the recorded cell under these conditions, not a direct measurement of plume encounter rate. The diversity may support multiple temporal sensitivities, but its usefulness for navigation requires input-dependent responses and downstream interpretation. Recording spontaneous bursts alone cannot demonstrate a working distance or direction estimate.</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3">
            <a:alphaModFix/>
          </a:blip>
          <a:srcRect b="0" l="0" r="0" t="0"/>
          <a:stretch/>
        </p:blipFill>
        <p:spPr>
          <a:xfrm>
            <a:off x="6913986" y="1280071"/>
            <a:ext cx="2198137" cy="4297561"/>
          </a:xfrm>
          <a:prstGeom prst="rect">
            <a:avLst/>
          </a:prstGeom>
          <a:noFill/>
          <a:ln>
            <a:noFill/>
          </a:ln>
        </p:spPr>
      </p:pic>
      <p:sp>
        <p:nvSpPr>
          <p:cNvPr id="528" name="Google Shape;528;p37"/>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1a–d. Recorded spontaneous bursts and distribution of intrinsic periods.</a:t>
            </a:r>
            <a:endParaRPr sz="1800">
              <a:solidFill>
                <a:schemeClr val="dk1"/>
              </a:solidFill>
              <a:latin typeface="Calibri"/>
              <a:ea typeface="Calibri"/>
              <a:cs typeface="Calibri"/>
              <a:sym typeface="Calibri"/>
            </a:endParaRPr>
          </a:p>
        </p:txBody>
      </p:sp>
      <p:pic>
        <p:nvPicPr>
          <p:cNvPr id="529" name="Google Shape;529;p37"/>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530" name="Google Shape;530;p37"/>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31" name="Google Shape;531;p3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33" name="Google Shape;533;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Odor-response probability depends on bursting phase</a:t>
            </a:r>
            <a:endParaRPr sz="1800">
              <a:solidFill>
                <a:schemeClr val="dk1"/>
              </a:solidFill>
              <a:latin typeface="Calibri"/>
              <a:ea typeface="Calibri"/>
              <a:cs typeface="Calibri"/>
              <a:sym typeface="Calibri"/>
            </a:endParaRPr>
          </a:p>
        </p:txBody>
      </p:sp>
      <p:sp>
        <p:nvSpPr>
          <p:cNvPr id="539" name="Google Shape;539;p38"/>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Phase</a:t>
            </a:r>
            <a:r>
              <a:rPr b="0" i="0" lang="en-US" sz="1600">
                <a:solidFill>
                  <a:srgbClr val="252D35"/>
                </a:solidFill>
                <a:latin typeface="Arial"/>
                <a:ea typeface="Arial"/>
                <a:cs typeface="Arial"/>
                <a:sym typeface="Arial"/>
              </a:rPr>
              <a:t> describes where a neuron lies within its recurring burst cycle. Park and colleagues delivered comparable odor pulses at different times after the previous spontaneous burst. This manipulation tests whether the same chemical input has different effects depending on the cell’s current state.</a:t>
            </a:r>
            <a:endParaRPr sz="1800">
              <a:solidFill>
                <a:schemeClr val="dk1"/>
              </a:solidFill>
              <a:latin typeface="Calibri"/>
              <a:ea typeface="Calibri"/>
              <a:cs typeface="Calibri"/>
              <a:sym typeface="Calibri"/>
            </a:endParaRPr>
          </a:p>
        </p:txBody>
      </p:sp>
      <p:sp>
        <p:nvSpPr>
          <p:cNvPr id="540" name="Google Shape;540;p38"/>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In an example cell, burst probability was about 50% when odor arrived 3 s after the preceding burst and approached 100% at 6 s. The same intensity therefore did not guarantee the same output. Recordings also showed odor-related changes in electrical activity and burst timing.</a:t>
            </a:r>
            <a:endParaRPr sz="1800">
              <a:solidFill>
                <a:schemeClr val="dk1"/>
              </a:solidFill>
              <a:latin typeface="Calibri"/>
              <a:ea typeface="Calibri"/>
              <a:cs typeface="Calibri"/>
              <a:sym typeface="Calibri"/>
            </a:endParaRPr>
          </a:p>
        </p:txBody>
      </p:sp>
      <p:sp>
        <p:nvSpPr>
          <p:cNvPr id="541" name="Google Shape;541;p38"/>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600"/>
              <a:buFont typeface="Arial"/>
              <a:buNone/>
            </a:pPr>
            <a:r>
              <a:rPr b="0" i="0" lang="en-US" sz="1600">
                <a:solidFill>
                  <a:srgbClr val="252D35"/>
                </a:solidFill>
                <a:latin typeface="Arial"/>
                <a:ea typeface="Arial"/>
                <a:cs typeface="Arial"/>
                <a:sym typeface="Arial"/>
              </a:rPr>
              <a:t>The result establishes history-dependent sensory responsiveness. It does not mean every bursting neuron has a 3- or 6-s threshold, nor that nonresponse proves chemical absence. A population with different periods could jointly report encounter timing, but behavioral use of that information remains a further hypothesis.</a:t>
            </a:r>
            <a:endParaRPr sz="1800">
              <a:solidFill>
                <a:schemeClr val="dk1"/>
              </a:solidFill>
              <a:latin typeface="Calibri"/>
              <a:ea typeface="Calibri"/>
              <a:cs typeface="Calibri"/>
              <a:sym typeface="Calibri"/>
            </a:endParaRPr>
          </a:p>
        </p:txBody>
      </p:sp>
      <p:pic>
        <p:nvPicPr>
          <p:cNvPr id="542" name="Google Shape;542;p38"/>
          <p:cNvPicPr preferRelativeResize="0"/>
          <p:nvPr/>
        </p:nvPicPr>
        <p:blipFill rotWithShape="1">
          <a:blip r:embed="rId3">
            <a:alphaModFix/>
          </a:blip>
          <a:srcRect b="0" l="0" r="0" t="0"/>
          <a:stretch/>
        </p:blipFill>
        <p:spPr>
          <a:xfrm>
            <a:off x="7388639" y="1280071"/>
            <a:ext cx="3077484" cy="2925961"/>
          </a:xfrm>
          <a:prstGeom prst="rect">
            <a:avLst/>
          </a:prstGeom>
          <a:noFill/>
          <a:ln>
            <a:noFill/>
          </a:ln>
        </p:spPr>
      </p:pic>
      <p:sp>
        <p:nvSpPr>
          <p:cNvPr id="543" name="Google Shape;543;p38"/>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2a–d. Stimulus timing changes burst probability and sensory responses.</a:t>
            </a:r>
            <a:endParaRPr sz="1800">
              <a:solidFill>
                <a:schemeClr val="dk1"/>
              </a:solidFill>
              <a:latin typeface="Calibri"/>
              <a:ea typeface="Calibri"/>
              <a:cs typeface="Calibri"/>
              <a:sym typeface="Calibri"/>
            </a:endParaRPr>
          </a:p>
        </p:txBody>
      </p:sp>
      <p:pic>
        <p:nvPicPr>
          <p:cNvPr id="544" name="Google Shape;544;p38"/>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545" name="Google Shape;545;p3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46" name="Google Shape;546;p3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48" name="Google Shape;548;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published decoder tests the timing-code hypothesis</a:t>
            </a:r>
            <a:endParaRPr sz="1800">
              <a:solidFill>
                <a:schemeClr val="dk1"/>
              </a:solidFill>
              <a:latin typeface="Calibri"/>
              <a:ea typeface="Calibri"/>
              <a:cs typeface="Calibri"/>
              <a:sym typeface="Calibri"/>
            </a:endParaRPr>
          </a:p>
        </p:txBody>
      </p:sp>
      <p:sp>
        <p:nvSpPr>
          <p:cNvPr id="554" name="Google Shape;554;p39"/>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Park and colleagues fitted oscillator-response models using experimentally measured properties of bursting neurons, then combined 2,000 synthetic neurons into a population. A </a:t>
            </a:r>
            <a:r>
              <a:rPr b="1" i="0" lang="en-US" sz="1500">
                <a:solidFill>
                  <a:srgbClr val="743B4A"/>
                </a:solidFill>
                <a:latin typeface="Arial"/>
                <a:ea typeface="Arial"/>
                <a:cs typeface="Arial"/>
                <a:sym typeface="Arial"/>
              </a:rPr>
              <a:t>decoder</a:t>
            </a:r>
            <a:r>
              <a:rPr b="0" i="0" lang="en-US" sz="1500">
                <a:solidFill>
                  <a:srgbClr val="252D35"/>
                </a:solidFill>
                <a:latin typeface="Arial"/>
                <a:ea typeface="Arial"/>
                <a:cs typeface="Arial"/>
                <a:sym typeface="Arial"/>
              </a:rPr>
              <a:t> is an analysis rule that estimates an input from output activity. It tests whether measured response rules could carry temporal information.</a:t>
            </a:r>
            <a:endParaRPr sz="1800">
              <a:solidFill>
                <a:schemeClr val="dk1"/>
              </a:solidFill>
              <a:latin typeface="Calibri"/>
              <a:ea typeface="Calibri"/>
              <a:cs typeface="Calibri"/>
              <a:sym typeface="Calibri"/>
            </a:endParaRPr>
          </a:p>
        </p:txBody>
      </p:sp>
      <p:sp>
        <p:nvSpPr>
          <p:cNvPr id="555" name="Google Shape;555;p39"/>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model estimated intervals among presented events, including inputs at 10, 12, 35, 40 and 43 s. Combining cells with different intrinsic periods improved access to the time since a previous encounter. The displayed curves are the authors’ published synthetic-population results.</a:t>
            </a:r>
            <a:endParaRPr sz="1800">
              <a:solidFill>
                <a:schemeClr val="dk1"/>
              </a:solidFill>
              <a:latin typeface="Calibri"/>
              <a:ea typeface="Calibri"/>
              <a:cs typeface="Calibri"/>
              <a:sym typeface="Calibri"/>
            </a:endParaRPr>
          </a:p>
        </p:txBody>
      </p:sp>
      <p:sp>
        <p:nvSpPr>
          <p:cNvPr id="556" name="Google Shape;556;p39"/>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study demonstrates coding feasibility under its model assumptions, not simultaneous recordings from 2,000 real neurons or a lobster’s actual decision rule. Successful model decoding cannot establish behavioral necessity. Selective disruption of bursting and measurement of plume tracking would be needed to connect the proposed code causally to searching.</a:t>
            </a:r>
            <a:endParaRPr sz="1800">
              <a:solidFill>
                <a:schemeClr val="dk1"/>
              </a:solidFill>
              <a:latin typeface="Calibri"/>
              <a:ea typeface="Calibri"/>
              <a:cs typeface="Calibri"/>
              <a:sym typeface="Calibri"/>
            </a:endParaRPr>
          </a:p>
        </p:txBody>
      </p:sp>
      <p:pic>
        <p:nvPicPr>
          <p:cNvPr id="557" name="Google Shape;557;p39"/>
          <p:cNvPicPr preferRelativeResize="0"/>
          <p:nvPr/>
        </p:nvPicPr>
        <p:blipFill rotWithShape="1">
          <a:blip r:embed="rId3">
            <a:alphaModFix/>
          </a:blip>
          <a:srcRect b="0" l="0" r="0" t="0"/>
          <a:stretch/>
        </p:blipFill>
        <p:spPr>
          <a:xfrm>
            <a:off x="6958552" y="1280071"/>
            <a:ext cx="3937657" cy="2925961"/>
          </a:xfrm>
          <a:prstGeom prst="rect">
            <a:avLst/>
          </a:prstGeom>
          <a:noFill/>
          <a:ln>
            <a:noFill/>
          </a:ln>
        </p:spPr>
      </p:pic>
      <p:sp>
        <p:nvSpPr>
          <p:cNvPr id="558" name="Google Shape;558;p3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6a–c. Authors’ synthetic-population decoder estimates stimulus intervals.</a:t>
            </a:r>
            <a:endParaRPr sz="1800">
              <a:solidFill>
                <a:schemeClr val="dk1"/>
              </a:solidFill>
              <a:latin typeface="Calibri"/>
              <a:ea typeface="Calibri"/>
              <a:cs typeface="Calibri"/>
              <a:sym typeface="Calibri"/>
            </a:endParaRPr>
          </a:p>
        </p:txBody>
      </p:sp>
      <p:pic>
        <p:nvPicPr>
          <p:cNvPr id="559" name="Google Shape;559;p39"/>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560" name="Google Shape;560;p3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61" name="Google Shape;561;p3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63" name="Google Shape;563;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40"/>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Central transmission can suppress repeated afferent input</a:t>
            </a:r>
            <a:endParaRPr sz="1800">
              <a:solidFill>
                <a:schemeClr val="dk1"/>
              </a:solidFill>
              <a:latin typeface="Calibri"/>
              <a:ea typeface="Calibri"/>
              <a:cs typeface="Calibri"/>
              <a:sym typeface="Calibri"/>
            </a:endParaRPr>
          </a:p>
        </p:txBody>
      </p:sp>
      <p:sp>
        <p:nvSpPr>
          <p:cNvPr id="569" name="Google Shape;569;p40"/>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An </a:t>
            </a:r>
            <a:r>
              <a:rPr b="1" i="0" lang="en-US" sz="1500">
                <a:solidFill>
                  <a:srgbClr val="743B4A"/>
                </a:solidFill>
                <a:latin typeface="Arial"/>
                <a:ea typeface="Arial"/>
                <a:cs typeface="Arial"/>
                <a:sym typeface="Arial"/>
              </a:rPr>
              <a:t>afferent</a:t>
            </a:r>
            <a:r>
              <a:rPr b="0" i="0" lang="en-US" sz="1500">
                <a:solidFill>
                  <a:srgbClr val="252D35"/>
                </a:solidFill>
                <a:latin typeface="Arial"/>
                <a:ea typeface="Arial"/>
                <a:cs typeface="Arial"/>
                <a:sym typeface="Arial"/>
              </a:rPr>
              <a:t> neuron carries sensory input toward the brain. Wachowiak and Cohen electrically stimulated the lobster antennular nerve and recorded voltage-sensitive dye signals in the nerve and olfactory lobe. The published anatomy identifies the central region receiving these sensory axons.</a:t>
            </a:r>
            <a:endParaRPr sz="1800">
              <a:solidFill>
                <a:schemeClr val="dk1"/>
              </a:solidFill>
              <a:latin typeface="Calibri"/>
              <a:ea typeface="Calibri"/>
              <a:cs typeface="Calibri"/>
              <a:sym typeface="Calibri"/>
            </a:endParaRPr>
          </a:p>
        </p:txBody>
      </p:sp>
      <p:sp>
        <p:nvSpPr>
          <p:cNvPr id="570" name="Google Shape;570;p40"/>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Two 2-ms shocks separated by approximately 300–400 ms produced a smaller second response in the olfactory lobe, while the nerve response was less affected. Calcium-free, high-magnesium saline reduced synaptic transmission, helping separate incoming axonal signals from activity generated by the local network.</a:t>
            </a:r>
            <a:endParaRPr sz="1800">
              <a:solidFill>
                <a:schemeClr val="dk1"/>
              </a:solidFill>
              <a:latin typeface="Calibri"/>
              <a:ea typeface="Calibri"/>
              <a:cs typeface="Calibri"/>
              <a:sym typeface="Calibri"/>
            </a:endParaRPr>
          </a:p>
        </p:txBody>
      </p:sp>
      <p:sp>
        <p:nvSpPr>
          <p:cNvPr id="571" name="Google Shape;571;p40"/>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comparison locates suppression beyond peripheral conduction in the tested preparation. Electrical shocks synchronize afferents differently from natural odor, and a population optical signal does not identify each synapse. The result establishes central modulation of incoming information without demonstrating a particular turn command or source-search strategy.</a:t>
            </a:r>
            <a:endParaRPr sz="1800">
              <a:solidFill>
                <a:schemeClr val="dk1"/>
              </a:solidFill>
              <a:latin typeface="Calibri"/>
              <a:ea typeface="Calibri"/>
              <a:cs typeface="Calibri"/>
              <a:sym typeface="Calibri"/>
            </a:endParaRPr>
          </a:p>
        </p:txBody>
      </p:sp>
      <p:pic>
        <p:nvPicPr>
          <p:cNvPr id="572" name="Google Shape;572;p40"/>
          <p:cNvPicPr preferRelativeResize="0"/>
          <p:nvPr/>
        </p:nvPicPr>
        <p:blipFill rotWithShape="1">
          <a:blip r:embed="rId3">
            <a:alphaModFix/>
          </a:blip>
          <a:srcRect b="0" l="0" r="0" t="0"/>
          <a:stretch/>
        </p:blipFill>
        <p:spPr>
          <a:xfrm>
            <a:off x="6762871" y="1280071"/>
            <a:ext cx="4557618" cy="4297561"/>
          </a:xfrm>
          <a:prstGeom prst="rect">
            <a:avLst/>
          </a:prstGeom>
          <a:noFill/>
          <a:ln>
            <a:noFill/>
          </a:ln>
        </p:spPr>
      </p:pic>
      <p:sp>
        <p:nvSpPr>
          <p:cNvPr id="573" name="Google Shape;573;p40"/>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Paired-shock responses in the olfactory lobe and antennular nerve.</a:t>
            </a:r>
            <a:endParaRPr sz="1800">
              <a:solidFill>
                <a:schemeClr val="dk1"/>
              </a:solidFill>
              <a:latin typeface="Calibri"/>
              <a:ea typeface="Calibri"/>
              <a:cs typeface="Calibri"/>
              <a:sym typeface="Calibri"/>
            </a:endParaRPr>
          </a:p>
        </p:txBody>
      </p:sp>
      <p:sp>
        <p:nvSpPr>
          <p:cNvPr id="574" name="Google Shape;574;p4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576" name="Google Shape;57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GABA and histamine inhibit lobster afferent transmission</a:t>
            </a:r>
            <a:endParaRPr sz="1800">
              <a:solidFill>
                <a:schemeClr val="dk1"/>
              </a:solidFill>
              <a:latin typeface="Calibri"/>
              <a:ea typeface="Calibri"/>
              <a:cs typeface="Calibri"/>
              <a:sym typeface="Calibri"/>
            </a:endParaRPr>
          </a:p>
        </p:txBody>
      </p:sp>
      <p:sp>
        <p:nvSpPr>
          <p:cNvPr id="582" name="Google Shape;582;p41"/>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400"/>
              <a:buFont typeface="Arial"/>
              <a:buNone/>
            </a:pPr>
            <a:r>
              <a:rPr b="1" i="0" lang="en-US" sz="1400">
                <a:solidFill>
                  <a:srgbClr val="743B4A"/>
                </a:solidFill>
                <a:latin typeface="Arial"/>
                <a:ea typeface="Arial"/>
                <a:cs typeface="Arial"/>
                <a:sym typeface="Arial"/>
              </a:rPr>
              <a:t>GABA</a:t>
            </a:r>
            <a:r>
              <a:rPr b="0" i="0" lang="en-US" sz="1400">
                <a:solidFill>
                  <a:srgbClr val="252D35"/>
                </a:solidFill>
                <a:latin typeface="Arial"/>
                <a:ea typeface="Arial"/>
                <a:cs typeface="Arial"/>
                <a:sym typeface="Arial"/>
              </a:rPr>
              <a:t>, gamma-aminobutyric acid, and </a:t>
            </a:r>
            <a:r>
              <a:rPr b="1" i="0" lang="en-US" sz="1400">
                <a:solidFill>
                  <a:srgbClr val="743B4A"/>
                </a:solidFill>
                <a:latin typeface="Arial"/>
                <a:ea typeface="Arial"/>
                <a:cs typeface="Arial"/>
                <a:sym typeface="Arial"/>
              </a:rPr>
              <a:t>histamine</a:t>
            </a:r>
            <a:r>
              <a:rPr b="0" i="0" lang="en-US" sz="1400">
                <a:solidFill>
                  <a:srgbClr val="252D35"/>
                </a:solidFill>
                <a:latin typeface="Arial"/>
                <a:ea typeface="Arial"/>
                <a:cs typeface="Arial"/>
                <a:sym typeface="Arial"/>
              </a:rPr>
              <a:t> can act as neurotransmitters. Wachowiak and Cohen applied them while measuring lobster afferent voltage signals. Calcium-free conditions reduced network transmission, allowing drug effects on incoming sensory processes to be distinguished from ordinary downstream synaptic activity.</a:t>
            </a:r>
            <a:endParaRPr sz="1800">
              <a:solidFill>
                <a:schemeClr val="dk1"/>
              </a:solidFill>
              <a:latin typeface="Calibri"/>
              <a:ea typeface="Calibri"/>
              <a:cs typeface="Calibri"/>
              <a:sym typeface="Calibri"/>
            </a:endParaRPr>
          </a:p>
        </p:txBody>
      </p:sp>
      <p:sp>
        <p:nvSpPr>
          <p:cNvPr id="583" name="Google Shape;583;p41"/>
          <p:cNvSpPr/>
          <p:nvPr/>
        </p:nvSpPr>
        <p:spPr>
          <a:xfrm>
            <a:off x="566886" y="2492871"/>
            <a:ext cx="5316141"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At 100 µM, histamine reduced the measured response by about 82% and GABA by about 45%. At 30 µM, histamine still reduced it by about 61%, whereas GABA had little effect. Responses recovered during washout, arguing against irreversible damage as the main explanation.</a:t>
            </a:r>
            <a:endParaRPr sz="1800">
              <a:solidFill>
                <a:schemeClr val="dk1"/>
              </a:solidFill>
              <a:latin typeface="Calibri"/>
              <a:ea typeface="Calibri"/>
              <a:cs typeface="Calibri"/>
              <a:sym typeface="Calibri"/>
            </a:endParaRPr>
          </a:p>
        </p:txBody>
      </p:sp>
      <p:sp>
        <p:nvSpPr>
          <p:cNvPr id="584" name="Google Shape;584;p41"/>
          <p:cNvSpPr/>
          <p:nvPr/>
        </p:nvSpPr>
        <p:spPr>
          <a:xfrm>
            <a:off x="566886" y="3559373"/>
            <a:ext cx="5316141" cy="15359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These dose-dependent effects support distinct inhibitory sensitivities of lobster afferent transmission. The study did not measure odor-search behavior or identify every receptor subunit. The authors proposed </a:t>
            </a:r>
            <a:r>
              <a:rPr b="1" i="0" lang="en-US" sz="1400">
                <a:solidFill>
                  <a:srgbClr val="743B4A"/>
                </a:solidFill>
                <a:latin typeface="Arial"/>
                <a:ea typeface="Arial"/>
                <a:cs typeface="Arial"/>
                <a:sym typeface="Arial"/>
              </a:rPr>
              <a:t>shunting inhibition</a:t>
            </a:r>
            <a:r>
              <a:rPr b="0" i="0" lang="en-US" sz="1400">
                <a:solidFill>
                  <a:srgbClr val="252D35"/>
                </a:solidFill>
                <a:latin typeface="Arial"/>
                <a:ea typeface="Arial"/>
                <a:cs typeface="Arial"/>
                <a:sym typeface="Arial"/>
              </a:rPr>
              <a:t>: ligand-gated conductance lowers membrane resistance, reducing terminal spike amplitude or propagation. They did not distinguish these alternatives or directly measure presynaptic calcium entry in the lobster.</a:t>
            </a:r>
            <a:endParaRPr sz="1800">
              <a:solidFill>
                <a:schemeClr val="dk1"/>
              </a:solidFill>
              <a:latin typeface="Calibri"/>
              <a:ea typeface="Calibri"/>
              <a:cs typeface="Calibri"/>
              <a:sym typeface="Calibri"/>
            </a:endParaRPr>
          </a:p>
        </p:txBody>
      </p:sp>
      <p:pic>
        <p:nvPicPr>
          <p:cNvPr id="585" name="Google Shape;585;p41"/>
          <p:cNvPicPr preferRelativeResize="0"/>
          <p:nvPr/>
        </p:nvPicPr>
        <p:blipFill rotWithShape="1">
          <a:blip r:embed="rId3">
            <a:alphaModFix/>
          </a:blip>
          <a:srcRect b="0" l="0" r="0" t="0"/>
          <a:stretch/>
        </p:blipFill>
        <p:spPr>
          <a:xfrm>
            <a:off x="7521106" y="1280071"/>
            <a:ext cx="2812698" cy="2925961"/>
          </a:xfrm>
          <a:prstGeom prst="rect">
            <a:avLst/>
          </a:prstGeom>
          <a:noFill/>
          <a:ln>
            <a:noFill/>
          </a:ln>
        </p:spPr>
      </p:pic>
      <p:sp>
        <p:nvSpPr>
          <p:cNvPr id="586" name="Google Shape;586;p41"/>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2A–B. Histamine and GABA suppress lobster afferent voltage signals.</a:t>
            </a:r>
            <a:endParaRPr sz="1800">
              <a:solidFill>
                <a:schemeClr val="dk1"/>
              </a:solidFill>
              <a:latin typeface="Calibri"/>
              <a:ea typeface="Calibri"/>
              <a:cs typeface="Calibri"/>
              <a:sym typeface="Calibri"/>
            </a:endParaRPr>
          </a:p>
        </p:txBody>
      </p:sp>
      <p:pic>
        <p:nvPicPr>
          <p:cNvPr id="587" name="Google Shape;587;p41"/>
          <p:cNvPicPr preferRelativeResize="0"/>
          <p:nvPr/>
        </p:nvPicPr>
        <p:blipFill rotWithShape="1">
          <a:blip r:embed="rId4">
            <a:alphaModFix/>
          </a:blip>
          <a:srcRect b="0" l="0" r="0" t="0"/>
          <a:stretch/>
        </p:blipFill>
        <p:spPr>
          <a:xfrm>
            <a:off x="8394059" y="4754761"/>
            <a:ext cx="1066643" cy="1005780"/>
          </a:xfrm>
          <a:prstGeom prst="rect">
            <a:avLst/>
          </a:prstGeom>
          <a:noFill/>
          <a:ln>
            <a:noFill/>
          </a:ln>
        </p:spPr>
      </p:pic>
      <p:sp>
        <p:nvSpPr>
          <p:cNvPr id="588" name="Google Shape;588;p41"/>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Olfactory-lobe anatomy and original recording locations.</a:t>
            </a:r>
            <a:endParaRPr sz="1800">
              <a:solidFill>
                <a:schemeClr val="dk1"/>
              </a:solidFill>
              <a:latin typeface="Calibri"/>
              <a:ea typeface="Calibri"/>
              <a:cs typeface="Calibri"/>
              <a:sym typeface="Calibri"/>
            </a:endParaRPr>
          </a:p>
        </p:txBody>
      </p:sp>
      <p:sp>
        <p:nvSpPr>
          <p:cNvPr id="589" name="Google Shape;589;p4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591" name="Google Shape;59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Antagonists distinguish two inhibitory receptor actions</a:t>
            </a:r>
            <a:endParaRPr sz="1800">
              <a:solidFill>
                <a:schemeClr val="dk1"/>
              </a:solidFill>
              <a:latin typeface="Calibri"/>
              <a:ea typeface="Calibri"/>
              <a:cs typeface="Calibri"/>
              <a:sym typeface="Calibri"/>
            </a:endParaRPr>
          </a:p>
        </p:txBody>
      </p:sp>
      <p:sp>
        <p:nvSpPr>
          <p:cNvPr id="597" name="Google Shape;597;p42"/>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receptor antagonist</a:t>
            </a:r>
            <a:r>
              <a:rPr b="0" i="0" lang="en-US" sz="1500">
                <a:solidFill>
                  <a:srgbClr val="252D35"/>
                </a:solidFill>
                <a:latin typeface="Arial"/>
                <a:ea typeface="Arial"/>
                <a:cs typeface="Arial"/>
                <a:sym typeface="Arial"/>
              </a:rPr>
              <a:t> reduces activation of a receptor by its ligand. Wachowiak and Cohen used picrotoxin to test GABA-sensitive inhibition and cimetidine to test histamine-sensitive inhibition in lobster olfactory afferents. The pharmacological comparisons followed control recordings from the same preparation.</a:t>
            </a:r>
            <a:endParaRPr sz="1800">
              <a:solidFill>
                <a:schemeClr val="dk1"/>
              </a:solidFill>
              <a:latin typeface="Calibri"/>
              <a:ea typeface="Calibri"/>
              <a:cs typeface="Calibri"/>
              <a:sym typeface="Calibri"/>
            </a:endParaRPr>
          </a:p>
        </p:txBody>
      </p:sp>
      <p:sp>
        <p:nvSpPr>
          <p:cNvPr id="598" name="Google Shape;598;p42"/>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Picrotoxin at 100 µM blocked the GABA effect, whereas histamine inhibition persisted. Cimetidine at 5 mM reduced the histamine effect without producing the same blockade of GABA. The separation argues that the transmitters do not act through one indistinguishable receptor mechanism.</a:t>
            </a:r>
            <a:endParaRPr sz="1800">
              <a:solidFill>
                <a:schemeClr val="dk1"/>
              </a:solidFill>
              <a:latin typeface="Calibri"/>
              <a:ea typeface="Calibri"/>
              <a:cs typeface="Calibri"/>
              <a:sym typeface="Calibri"/>
            </a:endParaRPr>
          </a:p>
        </p:txBody>
      </p:sp>
      <p:sp>
        <p:nvSpPr>
          <p:cNvPr id="599" name="Google Shape;599;p42"/>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findings constrain receptor classes and the locus of modulation, but these drugs are not perfectly selective molecular labels at every concentration. An isolated nerve segment was comparatively unaffected, supporting a central-terminal locus. Exact channel subunits and natural release during a lobster’s food search were not established.</a:t>
            </a:r>
            <a:endParaRPr sz="1800">
              <a:solidFill>
                <a:schemeClr val="dk1"/>
              </a:solidFill>
              <a:latin typeface="Calibri"/>
              <a:ea typeface="Calibri"/>
              <a:cs typeface="Calibri"/>
              <a:sym typeface="Calibri"/>
            </a:endParaRPr>
          </a:p>
        </p:txBody>
      </p:sp>
      <p:pic>
        <p:nvPicPr>
          <p:cNvPr id="600" name="Google Shape;600;p42"/>
          <p:cNvPicPr preferRelativeResize="0"/>
          <p:nvPr/>
        </p:nvPicPr>
        <p:blipFill rotWithShape="1">
          <a:blip r:embed="rId3">
            <a:alphaModFix/>
          </a:blip>
          <a:srcRect b="0" l="0" r="0" t="0"/>
          <a:stretch/>
        </p:blipFill>
        <p:spPr>
          <a:xfrm>
            <a:off x="8052093" y="1280071"/>
            <a:ext cx="1750575" cy="2925961"/>
          </a:xfrm>
          <a:prstGeom prst="rect">
            <a:avLst/>
          </a:prstGeom>
          <a:noFill/>
          <a:ln>
            <a:noFill/>
          </a:ln>
        </p:spPr>
      </p:pic>
      <p:sp>
        <p:nvSpPr>
          <p:cNvPr id="601" name="Google Shape;601;p4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3. Histamine inhibition persists after GABA-receptor blockade.</a:t>
            </a:r>
            <a:endParaRPr sz="1800">
              <a:solidFill>
                <a:schemeClr val="dk1"/>
              </a:solidFill>
              <a:latin typeface="Calibri"/>
              <a:ea typeface="Calibri"/>
              <a:cs typeface="Calibri"/>
              <a:sym typeface="Calibri"/>
            </a:endParaRPr>
          </a:p>
        </p:txBody>
      </p:sp>
      <p:pic>
        <p:nvPicPr>
          <p:cNvPr id="602" name="Google Shape;602;p42"/>
          <p:cNvPicPr preferRelativeResize="0"/>
          <p:nvPr/>
        </p:nvPicPr>
        <p:blipFill rotWithShape="1">
          <a:blip r:embed="rId4">
            <a:alphaModFix/>
          </a:blip>
          <a:srcRect b="0" l="0" r="0" t="0"/>
          <a:stretch/>
        </p:blipFill>
        <p:spPr>
          <a:xfrm>
            <a:off x="8394059" y="4754761"/>
            <a:ext cx="1066643" cy="1005780"/>
          </a:xfrm>
          <a:prstGeom prst="rect">
            <a:avLst/>
          </a:prstGeom>
          <a:noFill/>
          <a:ln>
            <a:noFill/>
          </a:ln>
        </p:spPr>
      </p:pic>
      <p:sp>
        <p:nvSpPr>
          <p:cNvPr id="603" name="Google Shape;603;p4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Olfactory-lobe anatomy and original recording locations.</a:t>
            </a:r>
            <a:endParaRPr sz="1800">
              <a:solidFill>
                <a:schemeClr val="dk1"/>
              </a:solidFill>
              <a:latin typeface="Calibri"/>
              <a:ea typeface="Calibri"/>
              <a:cs typeface="Calibri"/>
              <a:sym typeface="Calibri"/>
            </a:endParaRPr>
          </a:p>
        </p:txBody>
      </p:sp>
      <p:sp>
        <p:nvSpPr>
          <p:cNvPr id="604" name="Google Shape;604;p4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606" name="Google Shape;60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Joint odor and flow sampling offers direction cues</a:t>
            </a:r>
            <a:endParaRPr sz="1800">
              <a:solidFill>
                <a:schemeClr val="dk1"/>
              </a:solidFill>
              <a:latin typeface="Calibri"/>
              <a:ea typeface="Calibri"/>
              <a:cs typeface="Calibri"/>
              <a:sym typeface="Calibri"/>
            </a:endParaRPr>
          </a:p>
        </p:txBody>
      </p:sp>
      <p:sp>
        <p:nvSpPr>
          <p:cNvPr id="612" name="Google Shape;612;p43"/>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Odor flux</a:t>
            </a:r>
            <a:r>
              <a:rPr b="0" i="0" lang="en-US" sz="1500">
                <a:solidFill>
                  <a:srgbClr val="252D35"/>
                </a:solidFill>
                <a:latin typeface="Arial"/>
                <a:ea typeface="Arial"/>
                <a:cs typeface="Arial"/>
                <a:sym typeface="Arial"/>
              </a:rPr>
              <a:t> combines chemical concentration with the motion carrying that chemical. Pravin and Reidenbach measured flow and fluorescent concentration in a flume, then developed a three-dimensional fluid model constrained by those measurements. This addresses direction information unavailable from concentration alone.</a:t>
            </a:r>
            <a:endParaRPr sz="1800">
              <a:solidFill>
                <a:schemeClr val="dk1"/>
              </a:solidFill>
              <a:latin typeface="Calibri"/>
              <a:ea typeface="Calibri"/>
              <a:cs typeface="Calibri"/>
              <a:sym typeface="Calibri"/>
            </a:endParaRPr>
          </a:p>
        </p:txBody>
      </p:sp>
      <p:sp>
        <p:nvSpPr>
          <p:cNvPr id="613" name="Google Shape;613;p43"/>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The authors’ published model showed transverse chemical transport toward the plume center on opposite sides of the plume. Useful differences emerged over averaging intervals of approximately 0.5 s. The displayed colored traces are their modeled transverse flux, not trajectories or neural recordings from lobsters.</a:t>
            </a:r>
            <a:endParaRPr sz="1800">
              <a:solidFill>
                <a:schemeClr val="dk1"/>
              </a:solidFill>
              <a:latin typeface="Calibri"/>
              <a:ea typeface="Calibri"/>
              <a:cs typeface="Calibri"/>
              <a:sym typeface="Calibri"/>
            </a:endParaRPr>
          </a:p>
        </p:txBody>
      </p:sp>
      <p:sp>
        <p:nvSpPr>
          <p:cNvPr id="614" name="Google Shape;614;p43"/>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500"/>
              <a:buFont typeface="Arial"/>
              <a:buNone/>
            </a:pPr>
            <a:r>
              <a:rPr b="0" i="0" lang="en-US" sz="1500">
                <a:solidFill>
                  <a:srgbClr val="252D35"/>
                </a:solidFill>
                <a:latin typeface="Arial"/>
                <a:ea typeface="Arial"/>
                <a:cs typeface="Arial"/>
                <a:sym typeface="Arial"/>
              </a:rPr>
              <a:t>Joint chemical and mechanical sensing could therefore provide a directional cue, but the study establishes physical availability rather than biological implementation. No lobster neuron was shown multiplying velocity by concentration, and no selective behavioral test demonstrated this calculation. The proposed mechanism should remain distinct from established source-search and lesion results.</a:t>
            </a:r>
            <a:endParaRPr sz="1800">
              <a:solidFill>
                <a:schemeClr val="dk1"/>
              </a:solidFill>
              <a:latin typeface="Calibri"/>
              <a:ea typeface="Calibri"/>
              <a:cs typeface="Calibri"/>
              <a:sym typeface="Calibri"/>
            </a:endParaRPr>
          </a:p>
        </p:txBody>
      </p:sp>
      <p:pic>
        <p:nvPicPr>
          <p:cNvPr id="615" name="Google Shape;615;p43"/>
          <p:cNvPicPr preferRelativeResize="0"/>
          <p:nvPr/>
        </p:nvPicPr>
        <p:blipFill rotWithShape="1">
          <a:blip r:embed="rId3">
            <a:alphaModFix/>
          </a:blip>
          <a:srcRect b="0" l="0" r="0" t="0"/>
          <a:stretch/>
        </p:blipFill>
        <p:spPr>
          <a:xfrm>
            <a:off x="6458625" y="1280071"/>
            <a:ext cx="5165963" cy="1403747"/>
          </a:xfrm>
          <a:prstGeom prst="rect">
            <a:avLst/>
          </a:prstGeom>
          <a:noFill/>
          <a:ln>
            <a:noFill/>
          </a:ln>
        </p:spPr>
      </p:pic>
      <p:sp>
        <p:nvSpPr>
          <p:cNvPr id="616" name="Google Shape;616;p43"/>
          <p:cNvSpPr/>
          <p:nvPr/>
        </p:nvSpPr>
        <p:spPr>
          <a:xfrm>
            <a:off x="6458396" y="2775347"/>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Pravin &amp; Reidenbach (2013), Fig. 11C. Authors’ modeled transverse odor flux on opposite sides of a plume.</a:t>
            </a:r>
            <a:endParaRPr sz="1800">
              <a:solidFill>
                <a:schemeClr val="dk1"/>
              </a:solidFill>
              <a:latin typeface="Calibri"/>
              <a:ea typeface="Calibri"/>
              <a:cs typeface="Calibri"/>
              <a:sym typeface="Calibri"/>
            </a:endParaRPr>
          </a:p>
        </p:txBody>
      </p:sp>
      <p:sp>
        <p:nvSpPr>
          <p:cNvPr id="617" name="Google Shape;617;p4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Pravin &amp; Reidenbach (2013); Horner et al. (2004)</a:t>
            </a:r>
            <a:endParaRPr sz="1800">
              <a:solidFill>
                <a:schemeClr val="dk1"/>
              </a:solidFill>
              <a:latin typeface="Calibri"/>
              <a:ea typeface="Calibri"/>
              <a:cs typeface="Calibri"/>
              <a:sym typeface="Calibri"/>
            </a:endParaRPr>
          </a:p>
        </p:txBody>
      </p:sp>
      <p:sp>
        <p:nvSpPr>
          <p:cNvPr id="619" name="Google Shape;61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sp>
        <p:nvSpPr>
          <p:cNvPr id="624" name="Google Shape;62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Plume intermittency supplies a different spatial statistic</a:t>
            </a:r>
            <a:endParaRPr sz="1800">
              <a:solidFill>
                <a:schemeClr val="dk1"/>
              </a:solidFill>
              <a:latin typeface="Calibri"/>
              <a:ea typeface="Calibri"/>
              <a:cs typeface="Calibri"/>
              <a:sym typeface="Calibri"/>
            </a:endParaRPr>
          </a:p>
        </p:txBody>
      </p:sp>
      <p:sp>
        <p:nvSpPr>
          <p:cNvPr id="625" name="Google Shape;625;p44"/>
          <p:cNvSpPr/>
          <p:nvPr/>
        </p:nvSpPr>
        <p:spPr>
          <a:xfrm>
            <a:off x="566886" y="1234380"/>
            <a:ext cx="55447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400"/>
              <a:buFont typeface="Arial"/>
              <a:buNone/>
            </a:pPr>
            <a:r>
              <a:rPr b="1" i="0" lang="en-US" sz="1400">
                <a:solidFill>
                  <a:srgbClr val="743B4A"/>
                </a:solidFill>
                <a:latin typeface="Arial"/>
                <a:ea typeface="Arial"/>
                <a:cs typeface="Arial"/>
                <a:sym typeface="Arial"/>
              </a:rPr>
              <a:t>Intermittency</a:t>
            </a:r>
            <a:r>
              <a:rPr b="0" i="0" lang="en-US" sz="1400">
                <a:solidFill>
                  <a:srgbClr val="252D35"/>
                </a:solidFill>
                <a:latin typeface="Arial"/>
                <a:ea typeface="Arial"/>
                <a:cs typeface="Arial"/>
                <a:sym typeface="Arial"/>
              </a:rPr>
              <a:t> describes the temporal discontinuity of odor. Michaelis and colleagues quantified it as the count of concentration spikes crossing a threshold within a time window. Michaelis and colleagues used a turbulent-plume model validated against laboratory fluorescence and velocity measurements. They compared intermittency with concentration as potential information for aquatic odor-source tracking.</a:t>
            </a:r>
            <a:endParaRPr sz="1800">
              <a:solidFill>
                <a:schemeClr val="dk1"/>
              </a:solidFill>
              <a:latin typeface="Calibri"/>
              <a:ea typeface="Calibri"/>
              <a:cs typeface="Calibri"/>
              <a:sym typeface="Calibri"/>
            </a:endParaRPr>
          </a:p>
        </p:txBody>
      </p:sp>
      <p:sp>
        <p:nvSpPr>
          <p:cNvPr id="626" name="Google Shape;626;p44"/>
          <p:cNvSpPr/>
          <p:nvPr/>
        </p:nvSpPr>
        <p:spPr>
          <a:xfrm>
            <a:off x="566886" y="2684859"/>
            <a:ext cx="5544741"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The model covered a 5 × 0.5 × 0.15 m domain with mean flow near 0.02 m/s. Intermittency profiles depended on cross-stream position and the observation window. At plume edges, bilateral differences in encounter frequency could remain informative when instantaneous concentration was unreliable.</a:t>
            </a:r>
            <a:endParaRPr sz="1800">
              <a:solidFill>
                <a:schemeClr val="dk1"/>
              </a:solidFill>
              <a:latin typeface="Calibri"/>
              <a:ea typeface="Calibri"/>
              <a:cs typeface="Calibri"/>
              <a:sym typeface="Calibri"/>
            </a:endParaRPr>
          </a:p>
        </p:txBody>
      </p:sp>
      <p:sp>
        <p:nvSpPr>
          <p:cNvPr id="627" name="Google Shape;627;p44"/>
          <p:cNvSpPr/>
          <p:nvPr/>
        </p:nvSpPr>
        <p:spPr>
          <a:xfrm>
            <a:off x="566886" y="3751362"/>
            <a:ext cx="55447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These results propose a statistic that complements a mean concentration reading. The published profiles are model-derived and threshold dependent, not direct measurements of lobster navigation commands. Physical validation strengthens the plume representation but does not validate every assumption about sensory thresholds, memory windows or bilateral neural comparisons.</a:t>
            </a:r>
            <a:endParaRPr sz="18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3">
            <a:alphaModFix/>
          </a:blip>
          <a:srcRect b="0" l="0" r="0" t="0"/>
          <a:stretch/>
        </p:blipFill>
        <p:spPr>
          <a:xfrm>
            <a:off x="6458483" y="1280071"/>
            <a:ext cx="5166247" cy="1862882"/>
          </a:xfrm>
          <a:prstGeom prst="rect">
            <a:avLst/>
          </a:prstGeom>
          <a:noFill/>
          <a:ln>
            <a:noFill/>
          </a:ln>
        </p:spPr>
      </p:pic>
      <p:sp>
        <p:nvSpPr>
          <p:cNvPr id="629" name="Google Shape;629;p44"/>
          <p:cNvSpPr/>
          <p:nvPr/>
        </p:nvSpPr>
        <p:spPr>
          <a:xfrm>
            <a:off x="6458396" y="323448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Michaelis et al. (2020), Fig. 6. Authors’ modeled concentration-spike counts across the plume at different sampling frequencies.</a:t>
            </a:r>
            <a:endParaRPr sz="1800">
              <a:solidFill>
                <a:schemeClr val="dk1"/>
              </a:solidFill>
              <a:latin typeface="Calibri"/>
              <a:ea typeface="Calibri"/>
              <a:cs typeface="Calibri"/>
              <a:sym typeface="Calibri"/>
            </a:endParaRPr>
          </a:p>
        </p:txBody>
      </p:sp>
      <p:sp>
        <p:nvSpPr>
          <p:cNvPr id="630" name="Google Shape;630;p4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Michaelis et al. (2020)</a:t>
            </a:r>
            <a:endParaRPr sz="1800">
              <a:solidFill>
                <a:schemeClr val="dk1"/>
              </a:solidFill>
              <a:latin typeface="Calibri"/>
              <a:ea typeface="Calibri"/>
              <a:cs typeface="Calibri"/>
              <a:sym typeface="Calibri"/>
            </a:endParaRPr>
          </a:p>
        </p:txBody>
      </p:sp>
      <p:sp>
        <p:nvSpPr>
          <p:cNvPr id="632" name="Google Shape;63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6" name="Shape 636"/>
        <p:cNvGrpSpPr/>
        <p:nvPr/>
      </p:nvGrpSpPr>
      <p:grpSpPr>
        <a:xfrm>
          <a:off x="0" y="0"/>
          <a:ext cx="0" cy="0"/>
          <a:chOff x="0" y="0"/>
          <a:chExt cx="0" cy="0"/>
        </a:xfrm>
      </p:grpSpPr>
      <p:sp>
        <p:nvSpPr>
          <p:cNvPr id="637" name="Google Shape;63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Search combines sampling, neural timing and context</a:t>
            </a:r>
            <a:endParaRPr sz="1800">
              <a:solidFill>
                <a:schemeClr val="dk1"/>
              </a:solidFill>
              <a:latin typeface="Calibri"/>
              <a:ea typeface="Calibri"/>
              <a:cs typeface="Calibri"/>
              <a:sym typeface="Calibri"/>
            </a:endParaRPr>
          </a:p>
        </p:txBody>
      </p:sp>
      <p:sp>
        <p:nvSpPr>
          <p:cNvPr id="638" name="Google Shape;638;p45"/>
          <p:cNvSpPr/>
          <p:nvPr/>
        </p:nvSpPr>
        <p:spPr>
          <a:xfrm>
            <a:off x="566886" y="1234380"/>
            <a:ext cx="55447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Michaelis and colleagues compared modeled intermittency estimates at different sampling frequencies and tested simulated search rules. The original figure shows how a finite observation window and sample schedule affect the estimated chemical statistic. This makes sampling strategy part of the navigation hypothesis rather than a passive detail.</a:t>
            </a:r>
            <a:endParaRPr sz="1800">
              <a:solidFill>
                <a:schemeClr val="dk1"/>
              </a:solidFill>
              <a:latin typeface="Calibri"/>
              <a:ea typeface="Calibri"/>
              <a:cs typeface="Calibri"/>
              <a:sym typeface="Calibri"/>
            </a:endParaRPr>
          </a:p>
        </p:txBody>
      </p:sp>
      <p:sp>
        <p:nvSpPr>
          <p:cNvPr id="639" name="Google Shape;639;p45"/>
          <p:cNvSpPr/>
          <p:nvPr/>
        </p:nvSpPr>
        <p:spPr>
          <a:xfrm>
            <a:off x="566886" y="2492871"/>
            <a:ext cx="55447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Their results support temporal encounter information alongside concentration under specified plume conditions. Earlier measurements show why those conditions matter: flicking changes encounter gaps, bursting neurons respond according to recent history, and removing one antennular pathway can preserve arrival while reducing path straightness.</a:t>
            </a:r>
            <a:endParaRPr sz="1800">
              <a:solidFill>
                <a:schemeClr val="dk1"/>
              </a:solidFill>
              <a:latin typeface="Calibri"/>
              <a:ea typeface="Calibri"/>
              <a:cs typeface="Calibri"/>
              <a:sym typeface="Calibri"/>
            </a:endParaRPr>
          </a:p>
        </p:txBody>
      </p:sp>
      <p:sp>
        <p:nvSpPr>
          <p:cNvPr id="640" name="Google Shape;640;p45"/>
          <p:cNvSpPr/>
          <p:nvPr/>
        </p:nvSpPr>
        <p:spPr>
          <a:xfrm>
            <a:off x="566886" y="3751362"/>
            <a:ext cx="55447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D35"/>
              </a:buClr>
              <a:buSzPts val="1400"/>
              <a:buFont typeface="Arial"/>
              <a:buNone/>
            </a:pPr>
            <a:r>
              <a:rPr b="0" i="0" lang="en-US" sz="1400">
                <a:solidFill>
                  <a:srgbClr val="252D35"/>
                </a:solidFill>
                <a:latin typeface="Arial"/>
                <a:ea typeface="Arial"/>
                <a:cs typeface="Arial"/>
                <a:sym typeface="Arial"/>
              </a:rPr>
              <a:t>Together, the studies connect physical acquisition, peripheral coding and source-directed behavior without establishing every intervening synapse. A complete account must distinguish measured fluid patterns, recorded neuronal responses and actual animal trajectories. Neither a successful model search nor receptor expression alone proves the mechanism that a lobster uses in nature.</a:t>
            </a:r>
            <a:endParaRPr sz="1800">
              <a:solidFill>
                <a:schemeClr val="dk1"/>
              </a:solidFill>
              <a:latin typeface="Calibri"/>
              <a:ea typeface="Calibri"/>
              <a:cs typeface="Calibri"/>
              <a:sym typeface="Calibri"/>
            </a:endParaRPr>
          </a:p>
        </p:txBody>
      </p:sp>
      <p:pic>
        <p:nvPicPr>
          <p:cNvPr id="641" name="Google Shape;641;p45"/>
          <p:cNvPicPr preferRelativeResize="0"/>
          <p:nvPr/>
        </p:nvPicPr>
        <p:blipFill rotWithShape="1">
          <a:blip r:embed="rId3">
            <a:alphaModFix/>
          </a:blip>
          <a:srcRect b="0" l="0" r="0" t="0"/>
          <a:stretch/>
        </p:blipFill>
        <p:spPr>
          <a:xfrm>
            <a:off x="6458567" y="1280071"/>
            <a:ext cx="5166078" cy="1784300"/>
          </a:xfrm>
          <a:prstGeom prst="rect">
            <a:avLst/>
          </a:prstGeom>
          <a:noFill/>
          <a:ln>
            <a:noFill/>
          </a:ln>
        </p:spPr>
      </p:pic>
      <p:sp>
        <p:nvSpPr>
          <p:cNvPr id="642" name="Google Shape;642;p45"/>
          <p:cNvSpPr/>
          <p:nvPr/>
        </p:nvSpPr>
        <p:spPr>
          <a:xfrm>
            <a:off x="6458396" y="315590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Michaelis et al. (2020), Fig. 7. Authors’ model compares detected concentration-spike counts at different sampling frequencies.</a:t>
            </a:r>
            <a:endParaRPr sz="1800">
              <a:solidFill>
                <a:schemeClr val="dk1"/>
              </a:solidFill>
              <a:latin typeface="Calibri"/>
              <a:ea typeface="Calibri"/>
              <a:cs typeface="Calibri"/>
              <a:sym typeface="Calibri"/>
            </a:endParaRPr>
          </a:p>
        </p:txBody>
      </p:sp>
      <p:sp>
        <p:nvSpPr>
          <p:cNvPr id="643" name="Google Shape;643;p4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Michaelis et al. (2020); Reidenbach &amp; Koehl (2011); Park et al. (2014); Horner et al. (2004)</a:t>
            </a:r>
            <a:endParaRPr sz="1800">
              <a:solidFill>
                <a:schemeClr val="dk1"/>
              </a:solidFill>
              <a:latin typeface="Calibri"/>
              <a:ea typeface="Calibri"/>
              <a:cs typeface="Calibri"/>
              <a:sym typeface="Calibri"/>
            </a:endParaRPr>
          </a:p>
        </p:txBody>
      </p:sp>
      <p:sp>
        <p:nvSpPr>
          <p:cNvPr id="645" name="Google Shape;645;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1" name="Google Shape;651;p46"/>
          <p:cNvSpPr/>
          <p:nvPr/>
        </p:nvSpPr>
        <p:spPr>
          <a:xfrm>
            <a:off x="566886" y="12343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Behavior changes during approach</a:t>
            </a:r>
            <a:r>
              <a:rPr b="0" i="0" lang="en-US" sz="1600">
                <a:solidFill>
                  <a:srgbClr val="252D35"/>
                </a:solidFill>
                <a:latin typeface="Arial"/>
                <a:ea typeface="Arial"/>
                <a:cs typeface="Arial"/>
                <a:sym typeface="Arial"/>
              </a:rPr>
              <a:t> Food odor changes walking speed, heading and close-range raking; successful paths do not follow one invariant turning program.</a:t>
            </a:r>
            <a:endParaRPr sz="1800">
              <a:solidFill>
                <a:schemeClr val="dk1"/>
              </a:solidFill>
              <a:latin typeface="Calibri"/>
              <a:ea typeface="Calibri"/>
              <a:cs typeface="Calibri"/>
              <a:sym typeface="Calibri"/>
            </a:endParaRPr>
          </a:p>
        </p:txBody>
      </p:sp>
      <p:sp>
        <p:nvSpPr>
          <p:cNvPr id="653" name="Google Shape;653;p46"/>
          <p:cNvSpPr/>
          <p:nvPr/>
        </p:nvSpPr>
        <p:spPr>
          <a:xfrm>
            <a:off x="6233071" y="12343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Sensory pathways overlap conditionally</a:t>
            </a:r>
            <a:r>
              <a:rPr b="0" i="0" lang="en-US" sz="1600">
                <a:solidFill>
                  <a:srgbClr val="252D35"/>
                </a:solidFill>
                <a:latin typeface="Arial"/>
                <a:ea typeface="Arial"/>
                <a:cs typeface="Arial"/>
                <a:sym typeface="Arial"/>
              </a:rPr>
              <a:t> Either antennular chemical pathway can preserve source finding in Panulirus, while selective loss can reduce path efficiency.</a:t>
            </a:r>
            <a:endParaRPr sz="1800">
              <a:solidFill>
                <a:schemeClr val="dk1"/>
              </a:solidFill>
              <a:latin typeface="Calibri"/>
              <a:ea typeface="Calibri"/>
              <a:cs typeface="Calibri"/>
              <a:sym typeface="Calibri"/>
            </a:endParaRPr>
          </a:p>
        </p:txBody>
      </p:sp>
      <p:sp>
        <p:nvSpPr>
          <p:cNvPr id="655" name="Google Shape;655;p46"/>
          <p:cNvSpPr/>
          <p:nvPr/>
        </p:nvSpPr>
        <p:spPr>
          <a:xfrm>
            <a:off x="566886" y="29869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Sniffing filters input mechanically</a:t>
            </a:r>
            <a:r>
              <a:rPr b="0" i="0" lang="en-US" sz="1600">
                <a:solidFill>
                  <a:srgbClr val="252D35"/>
                </a:solidFill>
                <a:latin typeface="Arial"/>
                <a:ea typeface="Arial"/>
                <a:cs typeface="Arial"/>
                <a:sym typeface="Arial"/>
              </a:rPr>
              <a:t> Fast flicks replace water between aesthetascs; slow returns retain it, changing the timing and spatial pattern reaching receptors.</a:t>
            </a:r>
            <a:endParaRPr sz="1800">
              <a:solidFill>
                <a:schemeClr val="dk1"/>
              </a:solidFill>
              <a:latin typeface="Calibri"/>
              <a:ea typeface="Calibri"/>
              <a:cs typeface="Calibri"/>
              <a:sym typeface="Calibri"/>
            </a:endParaRPr>
          </a:p>
        </p:txBody>
      </p:sp>
      <p:sp>
        <p:nvSpPr>
          <p:cNvPr id="657" name="Google Shape;657;p46"/>
          <p:cNvSpPr/>
          <p:nvPr/>
        </p:nvSpPr>
        <p:spPr>
          <a:xfrm>
            <a:off x="6233071" y="29869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6415980"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Expression does not establish receptor function</a:t>
            </a:r>
            <a:r>
              <a:rPr b="0" i="0" lang="en-US" sz="1500">
                <a:solidFill>
                  <a:srgbClr val="252D35"/>
                </a:solidFill>
                <a:latin typeface="Arial"/>
                <a:ea typeface="Arial"/>
                <a:cs typeface="Arial"/>
                <a:sym typeface="Arial"/>
              </a:rPr>
              <a:t> IR localization and single-cell coexpression identify candidate machinery, but ligand specificity, channel composition and causal function require further tests.</a:t>
            </a:r>
            <a:endParaRPr sz="1800">
              <a:solidFill>
                <a:schemeClr val="dk1"/>
              </a:solidFill>
              <a:latin typeface="Calibri"/>
              <a:ea typeface="Calibri"/>
              <a:cs typeface="Calibri"/>
              <a:sym typeface="Calibri"/>
            </a:endParaRPr>
          </a:p>
        </p:txBody>
      </p:sp>
      <p:sp>
        <p:nvSpPr>
          <p:cNvPr id="659" name="Google Shape;659;p46"/>
          <p:cNvSpPr/>
          <p:nvPr/>
        </p:nvSpPr>
        <p:spPr>
          <a:xfrm>
            <a:off x="566886" y="47395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Timing begins in the periphery</a:t>
            </a:r>
            <a:r>
              <a:rPr b="0" i="0" lang="en-US" sz="1600">
                <a:solidFill>
                  <a:srgbClr val="252D35"/>
                </a:solidFill>
                <a:latin typeface="Arial"/>
                <a:ea typeface="Arial"/>
                <a:cs typeface="Arial"/>
                <a:sym typeface="Arial"/>
              </a:rPr>
              <a:t> Excitation, inhibition and intrinsic bursting occur in sensory neurons; phase-dependent responses can carry encounter-history information.</a:t>
            </a:r>
            <a:endParaRPr sz="1800">
              <a:solidFill>
                <a:schemeClr val="dk1"/>
              </a:solidFill>
              <a:latin typeface="Calibri"/>
              <a:ea typeface="Calibri"/>
              <a:cs typeface="Calibri"/>
              <a:sym typeface="Calibri"/>
            </a:endParaRPr>
          </a:p>
        </p:txBody>
      </p:sp>
      <p:sp>
        <p:nvSpPr>
          <p:cNvPr id="661" name="Google Shape;661;p46"/>
          <p:cNvSpPr/>
          <p:nvPr/>
        </p:nvSpPr>
        <p:spPr>
          <a:xfrm>
            <a:off x="6233071" y="47395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Navigation requires linked evidence</a:t>
            </a:r>
            <a:r>
              <a:rPr b="0" i="0" lang="en-US" sz="1600">
                <a:solidFill>
                  <a:srgbClr val="252D35"/>
                </a:solidFill>
                <a:latin typeface="Arial"/>
                <a:ea typeface="Arial"/>
                <a:cs typeface="Arial"/>
                <a:sym typeface="Arial"/>
              </a:rPr>
              <a:t> Central inhibition changes transmission, while plume and decoding models propose usable cues; their behavioral necessity remains to be demonstrated.</a:t>
            </a:r>
            <a:endParaRPr sz="1800">
              <a:solidFill>
                <a:schemeClr val="dk1"/>
              </a:solidFill>
              <a:latin typeface="Calibri"/>
              <a:ea typeface="Calibri"/>
              <a:cs typeface="Calibri"/>
              <a:sym typeface="Calibri"/>
            </a:endParaRPr>
          </a:p>
        </p:txBody>
      </p:sp>
      <p:sp>
        <p:nvSpPr>
          <p:cNvPr id="663" name="Google Shape;663;p4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 Horner et al. (2004); Koehl et al. (2001); Corey et al. (2013); Kozma et al. (2020); Park et al. (2014)</a:t>
            </a:r>
            <a:endParaRPr sz="1800">
              <a:solidFill>
                <a:schemeClr val="dk1"/>
              </a:solidFill>
              <a:latin typeface="Calibri"/>
              <a:ea typeface="Calibri"/>
              <a:cs typeface="Calibri"/>
              <a:sym typeface="Calibri"/>
            </a:endParaRPr>
          </a:p>
        </p:txBody>
      </p:sp>
      <p:sp>
        <p:nvSpPr>
          <p:cNvPr id="665" name="Google Shape;665;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2026-10-08T17:32:48.925Z</dcterms:created>
  <dc:creator>Presenton</dc:creator>
</cp:coreProperties>
</file>