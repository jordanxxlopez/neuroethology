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2" roundtripDataSignature="AMtx7mizvKRfhuZ4LAq2lX9JlMUfHYGt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Amphibian prey capture I: toad visual prey-catching and tectal feature detectors (Ewert)</a:t>
            </a:r>
            <a:endParaRPr/>
          </a:p>
          <a:p>
            <a:pPr indent="0" lvl="0" marL="0" rtl="0" algn="l">
              <a:spcBef>
                <a:spcPts val="0"/>
              </a:spcBef>
              <a:spcAft>
                <a:spcPts val="0"/>
              </a:spcAft>
              <a:buNone/>
            </a:pPr>
            <a:r>
              <a:rPr lang="en-US"/>
              <a:t>Lecture 9. NEUR 411 · NEUROETHOLOGY · FALL 2026. Monday, September 14, 2026.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Image: Photo: Common toad (Bufo bufo), the species used in Ewert's prey-catching studies. Credit: George Chernilevsky. License: Public domain. Source: https://commons.wikimedia.org/wiki/File:Bufo_bufo_2009_G1.jpg</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common toad is an active hunter, and Ewert broke its prey-catching into a sequence of separate acts.</a:t>
            </a:r>
            <a:endParaRPr/>
          </a:p>
          <a:p>
            <a:pPr indent="0" lvl="0" marL="0" rtl="0" algn="l">
              <a:spcBef>
                <a:spcPts val="0"/>
              </a:spcBef>
              <a:spcAft>
                <a:spcPts val="0"/>
              </a:spcAft>
              <a:buNone/>
            </a:pPr>
            <a:r>
              <a:rPr lang="en-US"/>
              <a:t>  – First it orients, turning toward the object; then it approaches, fixates the object with both eyes, and finally snaps with its tongue.</a:t>
            </a:r>
            <a:endParaRPr/>
          </a:p>
          <a:p>
            <a:pPr indent="0" lvl="0" marL="0" rtl="0" algn="l">
              <a:spcBef>
                <a:spcPts val="0"/>
              </a:spcBef>
              <a:spcAft>
                <a:spcPts val="0"/>
              </a:spcAft>
              <a:buNone/>
            </a:pPr>
            <a:r>
              <a:rPr lang="en-US"/>
              <a:t>  – Each act is fast and ballistic, but which act comes next depends on where the prey is.</a:t>
            </a:r>
            <a:endParaRPr/>
          </a:p>
          <a:p>
            <a:pPr indent="0" lvl="0" marL="0" rtl="0" algn="l">
              <a:spcBef>
                <a:spcPts val="0"/>
              </a:spcBef>
              <a:spcAft>
                <a:spcPts val="0"/>
              </a:spcAft>
              <a:buNone/>
            </a:pPr>
            <a:r>
              <a:rPr lang="en-US"/>
              <a:t>• To measure the behavior, a toad sat in a glass vessel and a small piece of black cardboard was moved past a window about 7 centimeters away.</a:t>
            </a:r>
            <a:endParaRPr/>
          </a:p>
          <a:p>
            <a:pPr indent="0" lvl="0" marL="0" rtl="0" algn="l">
              <a:spcBef>
                <a:spcPts val="0"/>
              </a:spcBef>
              <a:spcAft>
                <a:spcPts val="0"/>
              </a:spcAft>
              <a:buNone/>
            </a:pPr>
            <a:r>
              <a:rPr lang="en-US"/>
              <a:t>  – Counting how often the toad turned toward the object gives a number for how prey-like that object is.</a:t>
            </a:r>
            <a:endParaRPr/>
          </a:p>
          <a:p>
            <a:pPr indent="0" lvl="0" marL="0" rtl="0" algn="l">
              <a:spcBef>
                <a:spcPts val="0"/>
              </a:spcBef>
              <a:spcAft>
                <a:spcPts val="0"/>
              </a:spcAft>
              <a:buNone/>
            </a:pPr>
            <a:r>
              <a:rPr lang="en-US"/>
              <a:t>• Frogs like Rana esculenta wait for prey instead, often turning and snapping in one movement, and they snap at non-prey items more often than toads.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rPr lang="en-US"/>
              <a:t>Ewert JP, Arend B, Becker V, Borchers HW (1979). Invariants in configurational prey selection by Bufo bufo (L.). Brain, Behavior and Evolution 16: 38–51. https://doi.org/10.1159/000121822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(1979), Fig. 1. Apparatus: a toad (t) in a glass vessel watches a stimulus (s) moved past a window; photos A–C show turning toward it.</a:t>
            </a:r>
            <a:endParaRPr/>
          </a:p>
          <a:p>
            <a:pPr indent="0" lvl="0" marL="0" rtl="0" algn="l">
              <a:spcBef>
                <a:spcPts val="0"/>
              </a:spcBef>
              <a:spcAft>
                <a:spcPts val="0"/>
              </a:spcAft>
              <a:buNone/>
            </a:pPr>
            <a:r>
              <a:rPr lang="en-US"/>
              <a:t>Figure source: https://doi.org/10.1159/000121822</a:t>
            </a:r>
            <a:endParaRPr/>
          </a:p>
        </p:txBody>
      </p:sp>
      <p:sp>
        <p:nvSpPr>
          <p:cNvPr id="96" name="Google Shape;9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In the standard test the toad sits in a glass vessel in the middle of a round arena, and a black cardboard object circles around it at a constant speed.</a:t>
            </a:r>
            <a:endParaRPr/>
          </a:p>
          <a:p>
            <a:pPr indent="0" lvl="0" marL="0" rtl="0" algn="l">
              <a:spcBef>
                <a:spcPts val="0"/>
              </a:spcBef>
              <a:spcAft>
                <a:spcPts val="0"/>
              </a:spcAft>
              <a:buNone/>
            </a:pPr>
            <a:r>
              <a:rPr lang="en-US"/>
              <a:t>  – A hungry toad turns to follow the object each time it passes.</a:t>
            </a:r>
            <a:endParaRPr/>
          </a:p>
          <a:p>
            <a:pPr indent="0" lvl="0" marL="0" rtl="0" algn="l">
              <a:spcBef>
                <a:spcPts val="0"/>
              </a:spcBef>
              <a:spcAft>
                <a:spcPts val="0"/>
              </a:spcAft>
              <a:buNone/>
            </a:pPr>
            <a:r>
              <a:rPr lang="en-US"/>
              <a:t>• The number of turns in 30 seconds is the measure of how prey-like the stimulus is.</a:t>
            </a:r>
            <a:endParaRPr/>
          </a:p>
          <a:p>
            <a:pPr indent="0" lvl="0" marL="0" rtl="0" algn="l">
              <a:spcBef>
                <a:spcPts val="0"/>
              </a:spcBef>
              <a:spcAft>
                <a:spcPts val="0"/>
              </a:spcAft>
              <a:buNone/>
            </a:pPr>
            <a:r>
              <a:rPr lang="en-US"/>
              <a:t>• The strength of this method is control.</a:t>
            </a:r>
            <a:endParaRPr/>
          </a:p>
          <a:p>
            <a:pPr indent="0" lvl="0" marL="0" rtl="0" algn="l">
              <a:spcBef>
                <a:spcPts val="0"/>
              </a:spcBef>
              <a:spcAft>
                <a:spcPts val="0"/>
              </a:spcAft>
              <a:buNone/>
            </a:pPr>
            <a:r>
              <a:rPr lang="en-US"/>
              <a:t>  – Shape, size, contrast and speed can each be changed one at a time, and the same number can then be compared with neuron recordings, lesions and learning experiments.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2A. Arena for the dummy test: the toad in a glass vessel (GV) and the stimulus object (SO) driven around it by a motor (MD).</a:t>
            </a:r>
            <a:endParaRPr/>
          </a:p>
          <a:p>
            <a:pPr indent="0" lvl="0" marL="0" rtl="0" algn="l">
              <a:spcBef>
                <a:spcPts val="0"/>
              </a:spcBef>
              <a:spcAft>
                <a:spcPts val="0"/>
              </a:spcAft>
              <a:buNone/>
            </a:pPr>
            <a:r>
              <a:rPr lang="en-US"/>
              <a:t>Figure source: https://doi.org/10.1016/S1095-6433(00)00333-0</a:t>
            </a:r>
            <a:endParaRPr/>
          </a:p>
        </p:txBody>
      </p:sp>
      <p:sp>
        <p:nvSpPr>
          <p:cNvPr id="108" name="Google Shape;108;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Ewert used black rectangles and changed two dimensions separately.</a:t>
            </a:r>
            <a:endParaRPr/>
          </a:p>
          <a:p>
            <a:pPr indent="0" lvl="0" marL="0" rtl="0" algn="l">
              <a:spcBef>
                <a:spcPts val="0"/>
              </a:spcBef>
              <a:spcAft>
                <a:spcPts val="0"/>
              </a:spcAft>
              <a:buNone/>
            </a:pPr>
            <a:r>
              <a:rPr lang="en-US"/>
              <a:t>  – ep is the length along the direction of movement and ea is the length across it.</a:t>
            </a:r>
            <a:endParaRPr/>
          </a:p>
          <a:p>
            <a:pPr indent="0" lvl="0" marL="0" rtl="0" algn="l">
              <a:spcBef>
                <a:spcPts val="0"/>
              </a:spcBef>
              <a:spcAft>
                <a:spcPts val="0"/>
              </a:spcAft>
              <a:buNone/>
            </a:pPr>
            <a:r>
              <a:rPr lang="en-US"/>
              <a:t>• The results were clear.</a:t>
            </a:r>
            <a:endParaRPr/>
          </a:p>
          <a:p>
            <a:pPr indent="0" lvl="0" marL="0" rtl="0" algn="l">
              <a:spcBef>
                <a:spcPts val="0"/>
              </a:spcBef>
              <a:spcAft>
                <a:spcPts val="0"/>
              </a:spcAft>
              <a:buNone/>
            </a:pPr>
            <a:r>
              <a:rPr lang="en-US"/>
              <a:t>  – Making a 2.5 millimeter bar longer along its direction of motion, a worm, raised the turning rate to about 40 turns per 30 seconds.</a:t>
            </a:r>
            <a:endParaRPr/>
          </a:p>
          <a:p>
            <a:pPr indent="0" lvl="0" marL="0" rtl="0" algn="l">
              <a:spcBef>
                <a:spcPts val="0"/>
              </a:spcBef>
              <a:spcAft>
                <a:spcPts val="0"/>
              </a:spcAft>
              <a:buNone/>
            </a:pPr>
            <a:r>
              <a:rPr lang="en-US"/>
              <a:t>  – Making the same bar longer across its direction of motion, an antiworm, abolished turning.</a:t>
            </a:r>
            <a:endParaRPr/>
          </a:p>
          <a:p>
            <a:pPr indent="0" lvl="0" marL="0" rtl="0" algn="l">
              <a:spcBef>
                <a:spcPts val="0"/>
              </a:spcBef>
              <a:spcAft>
                <a:spcPts val="0"/>
              </a:spcAft>
              <a:buNone/>
            </a:pPr>
            <a:r>
              <a:rPr lang="en-US"/>
              <a:t>  – Squares worked best around 10 millimeters and then stopped working as they grew.</a:t>
            </a:r>
            <a:endParaRPr/>
          </a:p>
          <a:p>
            <a:pPr indent="0" lvl="0" marL="0" rtl="0" algn="l">
              <a:spcBef>
                <a:spcPts val="0"/>
              </a:spcBef>
              <a:spcAft>
                <a:spcPts val="0"/>
              </a:spcAft>
              <a:buNone/>
            </a:pPr>
            <a:r>
              <a:rPr lang="en-US"/>
              <a:t>• So the toad compares the two extensions instead of judging size.</a:t>
            </a:r>
            <a:endParaRPr/>
          </a:p>
          <a:p>
            <a:pPr indent="0" lvl="0" marL="0" rtl="0" algn="l">
              <a:spcBef>
                <a:spcPts val="0"/>
              </a:spcBef>
              <a:spcAft>
                <a:spcPts val="0"/>
              </a:spcAft>
              <a:buNone/>
            </a:pPr>
            <a:r>
              <a:rPr lang="en-US"/>
              <a:t>  – Length along the movement direction signals prey, length across it reduces prey value, and a large square that is big in both directions resembles a threat.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2B–C. Stimuli a (worm), b (antiworm) and c (square) and turning rate as each edge length increases (n = 20 toads).</a:t>
            </a:r>
            <a:endParaRPr/>
          </a:p>
          <a:p>
            <a:pPr indent="0" lvl="0" marL="0" rtl="0" algn="l">
              <a:spcBef>
                <a:spcPts val="0"/>
              </a:spcBef>
              <a:spcAft>
                <a:spcPts val="0"/>
              </a:spcAft>
              <a:buNone/>
            </a:pPr>
            <a:r>
              <a:rPr lang="en-US"/>
              <a:t>Figure source: https://doi.org/10.1016/S1095-6433(00)00333-0</a:t>
            </a:r>
            <a:endParaRPr/>
          </a:p>
        </p:txBody>
      </p:sp>
      <p:sp>
        <p:nvSpPr>
          <p:cNvPr id="120" name="Google Shape;120;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next question was whether the worm rule depends on horizontal movement.</a:t>
            </a:r>
            <a:endParaRPr/>
          </a:p>
          <a:p>
            <a:pPr indent="0" lvl="0" marL="0" rtl="0" algn="l">
              <a:spcBef>
                <a:spcPts val="0"/>
              </a:spcBef>
              <a:spcAft>
                <a:spcPts val="0"/>
              </a:spcAft>
              <a:buNone/>
            </a:pPr>
            <a:r>
              <a:rPr lang="en-US"/>
              <a:t>  – Stripes were moved up and down in front of the toad instead of sideways.</a:t>
            </a:r>
            <a:endParaRPr/>
          </a:p>
          <a:p>
            <a:pPr indent="0" lvl="0" marL="0" rtl="0" algn="l">
              <a:spcBef>
                <a:spcPts val="0"/>
              </a:spcBef>
              <a:spcAft>
                <a:spcPts val="0"/>
              </a:spcAft>
              <a:buNone/>
            </a:pPr>
            <a:r>
              <a:rPr lang="en-US"/>
              <a:t>• The answer was no.</a:t>
            </a:r>
            <a:endParaRPr/>
          </a:p>
          <a:p>
            <a:pPr indent="0" lvl="0" marL="0" rtl="0" algn="l">
              <a:spcBef>
                <a:spcPts val="0"/>
              </a:spcBef>
              <a:spcAft>
                <a:spcPts val="0"/>
              </a:spcAft>
              <a:buNone/>
            </a:pPr>
            <a:r>
              <a:rPr lang="en-US"/>
              <a:t>  – A stripe long along its vertical path was still a worm and drew more turning as it lengthened.</a:t>
            </a:r>
            <a:endParaRPr/>
          </a:p>
          <a:p>
            <a:pPr indent="0" lvl="0" marL="0" rtl="0" algn="l">
              <a:spcBef>
                <a:spcPts val="0"/>
              </a:spcBef>
              <a:spcAft>
                <a:spcPts val="0"/>
              </a:spcAft>
              <a:buNone/>
            </a:pPr>
            <a:r>
              <a:rPr lang="en-US"/>
              <a:t>  – A stripe long across its path was still an antiworm and was rejected.</a:t>
            </a:r>
            <a:endParaRPr/>
          </a:p>
          <a:p>
            <a:pPr indent="0" lvl="0" marL="0" rtl="0" algn="l">
              <a:spcBef>
                <a:spcPts val="0"/>
              </a:spcBef>
              <a:spcAft>
                <a:spcPts val="0"/>
              </a:spcAft>
              <a:buNone/>
            </a:pPr>
            <a:r>
              <a:rPr lang="en-US"/>
              <a:t>• The same held for white stripes on a black background. Black on white gave stronger responses overall, but the worm–antiworm preference was the same.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Arend B, Becker V, Borchers HW (1979). Invariants in configurational prey selection by Bufo bufo (L.). Brain, Behavior and Evolution 16: 38–51. https://doi.org/10.1159/000121822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(1979), Fig. 2. Turning to vertically moving stripes: worm-like (A) and antiworm-like (B), white on black (left) and black on white (right).</a:t>
            </a:r>
            <a:endParaRPr/>
          </a:p>
          <a:p>
            <a:pPr indent="0" lvl="0" marL="0" rtl="0" algn="l">
              <a:spcBef>
                <a:spcPts val="0"/>
              </a:spcBef>
              <a:spcAft>
                <a:spcPts val="0"/>
              </a:spcAft>
              <a:buNone/>
            </a:pPr>
            <a:r>
              <a:rPr lang="en-US"/>
              <a:t>Figure source: https://doi.org/10.1159/000121822</a:t>
            </a:r>
            <a:endParaRPr/>
          </a:p>
        </p:txBody>
      </p:sp>
      <p:sp>
        <p:nvSpPr>
          <p:cNvPr id="132" name="Google Shape;13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Here the stimuli moved in many directions: sideways, diagonally and up and down.</a:t>
            </a:r>
            <a:endParaRPr/>
          </a:p>
          <a:p>
            <a:pPr indent="0" lvl="0" marL="0" rtl="0" algn="l">
              <a:spcBef>
                <a:spcPts val="0"/>
              </a:spcBef>
              <a:spcAft>
                <a:spcPts val="0"/>
              </a:spcAft>
              <a:buNone/>
            </a:pPr>
            <a:r>
              <a:rPr lang="en-US"/>
              <a:t>  – The worm, the antiworm and a small square were each tested at every angle.</a:t>
            </a:r>
            <a:endParaRPr/>
          </a:p>
          <a:p>
            <a:pPr indent="0" lvl="0" marL="0" rtl="0" algn="l">
              <a:spcBef>
                <a:spcPts val="0"/>
              </a:spcBef>
              <a:spcAft>
                <a:spcPts val="0"/>
              </a:spcAft>
              <a:buNone/>
            </a:pPr>
            <a:r>
              <a:rPr lang="en-US"/>
              <a:t>• At every angle the worm drew about 30 turns in 30 seconds, while the antiworm and the small square drew almost none.</a:t>
            </a:r>
            <a:endParaRPr/>
          </a:p>
          <a:p>
            <a:pPr indent="0" lvl="0" marL="0" rtl="0" algn="l">
              <a:spcBef>
                <a:spcPts val="0"/>
              </a:spcBef>
              <a:spcAft>
                <a:spcPts val="0"/>
              </a:spcAft>
              <a:buNone/>
            </a:pPr>
            <a:r>
              <a:rPr lang="en-US"/>
              <a:t>  – The toad essentially never mistook one for the other.</a:t>
            </a:r>
            <a:endParaRPr/>
          </a:p>
          <a:p>
            <a:pPr indent="0" lvl="0" marL="0" rtl="0" algn="l">
              <a:spcBef>
                <a:spcPts val="0"/>
              </a:spcBef>
              <a:spcAft>
                <a:spcPts val="0"/>
              </a:spcAft>
              <a:buNone/>
            </a:pPr>
            <a:r>
              <a:rPr lang="en-US"/>
              <a:t>• An invariant is a feature of recognition that stays the same when other things about the stimulus change. For the toad, the worm–antiworm decision is invariant to movement direction, contrast direction and, within limits, speed and distance.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Arend B, Becker V, Borchers HW (1979). Invariants in configurational prey selection by Bufo bufo (L.). Brain, Behavior and Evolution 16: 38–51. https://doi.org/10.1159/000121822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(1979), Fig. 3A. Turning to a worm stripe (a), antiworm stripe (b) and small square (c) moved at different angles to the horizon.</a:t>
            </a:r>
            <a:endParaRPr/>
          </a:p>
          <a:p>
            <a:pPr indent="0" lvl="0" marL="0" rtl="0" algn="l">
              <a:spcBef>
                <a:spcPts val="0"/>
              </a:spcBef>
              <a:spcAft>
                <a:spcPts val="0"/>
              </a:spcAft>
              <a:buNone/>
            </a:pPr>
            <a:r>
              <a:rPr lang="en-US"/>
              <a:t>Figure source: https://doi.org/10.1159/000121822</a:t>
            </a:r>
            <a:endParaRPr/>
          </a:p>
        </p:txBody>
      </p:sp>
      <p:sp>
        <p:nvSpPr>
          <p:cNvPr id="144" name="Google Shape;144;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This experiment added a small square next to a worm stripe.</a:t>
            </a:r>
            <a:endParaRPr/>
          </a:p>
          <a:p>
            <a:pPr indent="0" lvl="0" marL="0" rtl="0" algn="l">
              <a:spcBef>
                <a:spcPts val="0"/>
              </a:spcBef>
              <a:spcAft>
                <a:spcPts val="0"/>
              </a:spcAft>
              <a:buNone/>
            </a:pPr>
            <a:r>
              <a:rPr lang="en-US"/>
              <a:t>  – The square sat 10 millimeters from the stripe and moved with it.</a:t>
            </a:r>
            <a:endParaRPr/>
          </a:p>
          <a:p>
            <a:pPr indent="0" lvl="0" marL="0" rtl="0" algn="l">
              <a:spcBef>
                <a:spcPts val="0"/>
              </a:spcBef>
              <a:spcAft>
                <a:spcPts val="0"/>
              </a:spcAft>
              <a:buNone/>
            </a:pPr>
            <a:r>
              <a:rPr lang="en-US"/>
              <a:t>• The square sharply reduced turning, from about 26 to about 8 to 10 turns per 30 seconds, whatever the direction of movement.</a:t>
            </a:r>
            <a:endParaRPr/>
          </a:p>
          <a:p>
            <a:pPr indent="0" lvl="0" marL="0" rtl="0" algn="l">
              <a:spcBef>
                <a:spcPts val="0"/>
              </a:spcBef>
              <a:spcAft>
                <a:spcPts val="0"/>
              </a:spcAft>
              <a:buNone/>
            </a:pPr>
            <a:r>
              <a:rPr lang="en-US"/>
              <a:t>  – When the stripe was shown alone again, the toad responded normally.</a:t>
            </a:r>
            <a:endParaRPr/>
          </a:p>
          <a:p>
            <a:pPr indent="0" lvl="0" marL="0" rtl="0" algn="l">
              <a:spcBef>
                <a:spcPts val="0"/>
              </a:spcBef>
              <a:spcAft>
                <a:spcPts val="0"/>
              </a:spcAft>
              <a:buNone/>
            </a:pPr>
            <a:r>
              <a:rPr lang="en-US"/>
              <a:t>• The square adds extent across the direction of motion, an antiworm feature, so the combined object looks less like prey.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Arend B, Becker V, Borchers HW (1979). Invariants in configurational prey selection by Bufo bufo (L.). Brain, Behavior and Evolution 16: 38–51. https://doi.org/10.1159/000121822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(1979), Fig. 4. Turning to a worm stripe alone (a, a') and to the stripe with a small square 10 mm away (b), at 0°, 45° and 90°.</a:t>
            </a:r>
            <a:endParaRPr/>
          </a:p>
          <a:p>
            <a:pPr indent="0" lvl="0" marL="0" rtl="0" algn="l">
              <a:spcBef>
                <a:spcPts val="0"/>
              </a:spcBef>
              <a:spcAft>
                <a:spcPts val="0"/>
              </a:spcAft>
              <a:buNone/>
            </a:pPr>
            <a:r>
              <a:rPr lang="en-US"/>
              <a:t>Figure source: https://doi.org/10.1159/000121822</a:t>
            </a:r>
            <a:endParaRPr/>
          </a:p>
        </p:txBody>
      </p:sp>
      <p:sp>
        <p:nvSpPr>
          <p:cNvPr id="156" name="Google Shape;15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Ewert compared the toad's worm recognition with how we recognize the letter A.</a:t>
            </a:r>
            <a:endParaRPr/>
          </a:p>
          <a:p>
            <a:pPr indent="0" lvl="0" marL="0" rtl="0" algn="l">
              <a:spcBef>
                <a:spcPts val="0"/>
              </a:spcBef>
              <a:spcAft>
                <a:spcPts val="0"/>
              </a:spcAft>
              <a:buNone/>
            </a:pPr>
            <a:r>
              <a:rPr lang="en-US"/>
              <a:t>  – We recognize the A when it is tilted, smaller or larger, or white on black.</a:t>
            </a:r>
            <a:endParaRPr/>
          </a:p>
          <a:p>
            <a:pPr indent="0" lvl="0" marL="0" rtl="0" algn="l">
              <a:spcBef>
                <a:spcPts val="0"/>
              </a:spcBef>
              <a:spcAft>
                <a:spcPts val="0"/>
              </a:spcAft>
              <a:buNone/>
            </a:pPr>
            <a:r>
              <a:rPr lang="en-US"/>
              <a:t>• The toad recognizes a worm when it moves in any direction and in either contrast, so its recognition also has invariants.</a:t>
            </a:r>
            <a:endParaRPr/>
          </a:p>
          <a:p>
            <a:pPr indent="0" lvl="0" marL="0" rtl="0" algn="l">
              <a:spcBef>
                <a:spcPts val="0"/>
              </a:spcBef>
              <a:spcAft>
                <a:spcPts val="0"/>
              </a:spcAft>
              <a:buNone/>
            </a:pPr>
            <a:r>
              <a:rPr lang="en-US"/>
              <a:t>• That makes the toad a model for how a brain recognizes objects.</a:t>
            </a:r>
            <a:endParaRPr/>
          </a:p>
          <a:p>
            <a:pPr indent="0" lvl="0" marL="0" rtl="0" algn="l">
              <a:spcBef>
                <a:spcPts val="0"/>
              </a:spcBef>
              <a:spcAft>
                <a:spcPts val="0"/>
              </a:spcAft>
              <a:buNone/>
            </a:pPr>
            <a:r>
              <a:rPr lang="en-US"/>
              <a:t>  – The relevant neurons in the tectum and pretectum have roughly circular receptive fields, so their preference for worms has to come from how the brain combines information about length along and across the movement direction.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Arend B, Becker V, Borchers HW (1979). Invariants in configurational prey selection by Bufo bufo (L.). Brain, Behavior and Evolution 16: 38–51. https://doi.org/10.1159/000121822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(1979), Fig. 6. Invariants in pattern recognition: the letter A for a human and worm versus antiworm for Bufo bufo.</a:t>
            </a:r>
            <a:endParaRPr/>
          </a:p>
          <a:p>
            <a:pPr indent="0" lvl="0" marL="0" rtl="0" algn="l">
              <a:spcBef>
                <a:spcPts val="0"/>
              </a:spcBef>
              <a:spcAft>
                <a:spcPts val="0"/>
              </a:spcAft>
              <a:buNone/>
            </a:pPr>
            <a:r>
              <a:rPr lang="en-US"/>
              <a:t>Figure source: https://doi.org/10.1159/000121822</a:t>
            </a:r>
            <a:endParaRPr/>
          </a:p>
        </p:txBody>
      </p:sp>
      <p:sp>
        <p:nvSpPr>
          <p:cNvPr id="168" name="Google Shape;16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Schürg-Pfeiffer and Ewert compared the common frog and the common toad with one number, the discriminant value.</a:t>
            </a:r>
            <a:endParaRPr/>
          </a:p>
          <a:p>
            <a:pPr indent="0" lvl="0" marL="0" rtl="0" algn="l">
              <a:spcBef>
                <a:spcPts val="0"/>
              </a:spcBef>
              <a:spcAft>
                <a:spcPts val="0"/>
              </a:spcAft>
              <a:buNone/>
            </a:pPr>
            <a:r>
              <a:rPr lang="en-US"/>
              <a:t>  – It is plus one if only the worm gets a response, minus one if only the antiworm does, and zero if they are equal.</a:t>
            </a:r>
            <a:endParaRPr/>
          </a:p>
          <a:p>
            <a:pPr indent="0" lvl="0" marL="0" rtl="0" algn="l">
              <a:spcBef>
                <a:spcPts val="0"/>
              </a:spcBef>
              <a:spcAft>
                <a:spcPts val="0"/>
              </a:spcAft>
              <a:buNone/>
            </a:pPr>
            <a:r>
              <a:rPr lang="en-US"/>
              <a:t>• Both species prefer worms, but the toad is much sharper.</a:t>
            </a:r>
            <a:endParaRPr/>
          </a:p>
          <a:p>
            <a:pPr indent="0" lvl="0" marL="0" rtl="0" algn="l">
              <a:spcBef>
                <a:spcPts val="0"/>
              </a:spcBef>
              <a:spcAft>
                <a:spcPts val="0"/>
              </a:spcAft>
              <a:buNone/>
            </a:pPr>
            <a:r>
              <a:rPr lang="en-US"/>
              <a:t>  – The toad's value reaches plus one with short stripes, while the frog needs long stripes to discriminate completely.</a:t>
            </a:r>
            <a:endParaRPr/>
          </a:p>
          <a:p>
            <a:pPr indent="0" lvl="0" marL="0" rtl="0" algn="l">
              <a:spcBef>
                <a:spcPts val="0"/>
              </a:spcBef>
              <a:spcAft>
                <a:spcPts val="0"/>
              </a:spcAft>
              <a:buNone/>
            </a:pPr>
            <a:r>
              <a:rPr lang="en-US"/>
              <a:t>• That matches how they hunt. The toad searches actively and is selective; the frog waits and snaps at more things, including non-prey.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Schürg-Pfeiffer E, Ewert JP (1981). Investigation of neurons involved in the analysis of gestalt prey features in the frog Rana temporaria. Journal of Comparative Physiology 141: 139–152. https://doi.org/10.1007/BF01342660</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Schürg-Pfeiffer &amp; Ewert (1981), Fig. 12. Discriminant value for worm versus antiworm during prey-catching in R. temporaria and B. bufo as stripe length increases.</a:t>
            </a:r>
            <a:endParaRPr/>
          </a:p>
          <a:p>
            <a:pPr indent="0" lvl="0" marL="0" rtl="0" algn="l">
              <a:spcBef>
                <a:spcPts val="0"/>
              </a:spcBef>
              <a:spcAft>
                <a:spcPts val="0"/>
              </a:spcAft>
              <a:buNone/>
            </a:pPr>
            <a:r>
              <a:rPr lang="en-US"/>
              <a:t>Figure source: https://doi.org/10.1007/BF01342660</a:t>
            </a:r>
            <a:endParaRPr/>
          </a:p>
        </p:txBody>
      </p:sp>
      <p:sp>
        <p:nvSpPr>
          <p:cNvPr id="180" name="Google Shape;180;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Barlow and Lettvin in the 1950s suggested that a type of frog retinal ganglion cell was a bug detector.</a:t>
            </a:r>
            <a:endParaRPr/>
          </a:p>
          <a:p>
            <a:pPr indent="0" lvl="0" marL="0" rtl="0" algn="l">
              <a:spcBef>
                <a:spcPts val="0"/>
              </a:spcBef>
              <a:spcAft>
                <a:spcPts val="0"/>
              </a:spcAft>
              <a:buNone/>
            </a:pPr>
            <a:r>
              <a:rPr lang="en-US"/>
              <a:t>  – Ganglion cells are the output neurons of the retina, and in the toad they come in four classes, R1 to R4, with progressively larger receptive fields.</a:t>
            </a:r>
            <a:endParaRPr/>
          </a:p>
          <a:p>
            <a:pPr indent="0" lvl="0" marL="0" rtl="0" algn="l">
              <a:spcBef>
                <a:spcPts val="0"/>
              </a:spcBef>
              <a:spcAft>
                <a:spcPts val="0"/>
              </a:spcAft>
              <a:buNone/>
            </a:pPr>
            <a:r>
              <a:rPr lang="en-US"/>
              <a:t>• Ewert's group tested R2, R3 and R4 cells with worm and antiworm stripes.</a:t>
            </a:r>
            <a:endParaRPr/>
          </a:p>
          <a:p>
            <a:pPr indent="0" lvl="0" marL="0" rtl="0" algn="l">
              <a:spcBef>
                <a:spcPts val="0"/>
              </a:spcBef>
              <a:spcAft>
                <a:spcPts val="0"/>
              </a:spcAft>
              <a:buNone/>
            </a:pPr>
            <a:r>
              <a:rPr lang="en-US"/>
              <a:t>  – R2 cells fired best to small objects of either kind and fired less as stripes got longer in either orientation.</a:t>
            </a:r>
            <a:endParaRPr/>
          </a:p>
          <a:p>
            <a:pPr indent="0" lvl="0" marL="0" rtl="0" algn="l">
              <a:spcBef>
                <a:spcPts val="0"/>
              </a:spcBef>
              <a:spcAft>
                <a:spcPts val="0"/>
              </a:spcAft>
              <a:buNone/>
            </a:pPr>
            <a:r>
              <a:rPr lang="en-US"/>
              <a:t>• No retinal class matched the toad's behavior, which goes up for worms and down for antiworms. The retina reports size, contrast and movement, but it does not identify prey.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Borchers HW, von Wietersheim A (1978). Question of prey feature detectors in the toad's Bufo bufo (L.) visual system: a correlation analysis. Journal of Comparative Physiology 126: 43–47. https://doi.org/10.1007/BF01342649</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rPr lang="en-US"/>
              <a:t>Förster D, Helmbrecht TO, Mearns DS, Jordan L, Mokayes N, Baier H (2020). Retinotectal circuitry of larval zebrafish is adapted to detection and pursuit of prey. eLife 9: e58596. https://doi.org/10.7554/eLife.58596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(1978), Fig. 1. Turning (B) and firing of tectal T5(1), T5(2), pretectal TH3 and retinal R2–R4 neurons to worm (W) and antiworm (A) stripes.</a:t>
            </a:r>
            <a:endParaRPr/>
          </a:p>
          <a:p>
            <a:pPr indent="0" lvl="0" marL="0" rtl="0" algn="l">
              <a:spcBef>
                <a:spcPts val="0"/>
              </a:spcBef>
              <a:spcAft>
                <a:spcPts val="0"/>
              </a:spcAft>
              <a:buNone/>
            </a:pPr>
            <a:r>
              <a:rPr lang="en-US"/>
              <a:t>Figure source: https://doi.org/10.1007/BF01342649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Förster et al. (2020), Fig. 3C. Zebrafish retinal axon terminals in the tectum colored by functional class; 5°-dot and 30°-dot inputs by depth.</a:t>
            </a:r>
            <a:endParaRPr/>
          </a:p>
          <a:p>
            <a:pPr indent="0" lvl="0" marL="0" rtl="0" algn="l">
              <a:spcBef>
                <a:spcPts val="0"/>
              </a:spcBef>
              <a:spcAft>
                <a:spcPts val="0"/>
              </a:spcAft>
              <a:buNone/>
            </a:pPr>
            <a:r>
              <a:rPr lang="en-US"/>
              <a:t>Figure source: https://doi.org/10.7554/eLife.58596</a:t>
            </a:r>
            <a:endParaRPr/>
          </a:p>
        </p:txBody>
      </p:sp>
      <p:sp>
        <p:nvSpPr>
          <p:cNvPr id="192" name="Google Shape;192;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Ewert's group then compared every neuron class with behavior using the discriminant value.</a:t>
            </a:r>
            <a:endParaRPr/>
          </a:p>
          <a:p>
            <a:pPr indent="0" lvl="0" marL="0" rtl="0" algn="l">
              <a:spcBef>
                <a:spcPts val="0"/>
              </a:spcBef>
              <a:spcAft>
                <a:spcPts val="0"/>
              </a:spcAft>
              <a:buNone/>
            </a:pPr>
            <a:r>
              <a:rPr lang="en-US"/>
              <a:t>  – Behavior went to plus one; the retinal classes were negative or near zero for most stripe lengths.</a:t>
            </a:r>
            <a:endParaRPr/>
          </a:p>
          <a:p>
            <a:pPr indent="0" lvl="0" marL="0" rtl="0" algn="l">
              <a:spcBef>
                <a:spcPts val="0"/>
              </a:spcBef>
              <a:spcAft>
                <a:spcPts val="0"/>
              </a:spcAft>
              <a:buNone/>
            </a:pPr>
            <a:r>
              <a:rPr lang="en-US"/>
              <a:t>• In the tectum, T5(1) neurons responded to the stimuli but barely told worm from antiworm.</a:t>
            </a:r>
            <a:endParaRPr/>
          </a:p>
          <a:p>
            <a:pPr indent="0" lvl="0" marL="0" rtl="0" algn="l">
              <a:spcBef>
                <a:spcPts val="0"/>
              </a:spcBef>
              <a:spcAft>
                <a:spcPts val="0"/>
              </a:spcAft>
              <a:buNone/>
            </a:pPr>
            <a:r>
              <a:rPr lang="en-US"/>
              <a:t>  – Pretectal TH3 neurons had negative values, meaning they preferred antiworms.</a:t>
            </a:r>
            <a:endParaRPr/>
          </a:p>
          <a:p>
            <a:pPr indent="0" lvl="0" marL="0" rtl="0" algn="l">
              <a:spcBef>
                <a:spcPts val="0"/>
              </a:spcBef>
              <a:spcAft>
                <a:spcPts val="0"/>
              </a:spcAft>
              <a:buNone/>
            </a:pPr>
            <a:r>
              <a:rPr lang="en-US"/>
              <a:t>• Only tectal T5(2) neurons followed the behavior.</a:t>
            </a:r>
            <a:endParaRPr/>
          </a:p>
          <a:p>
            <a:pPr indent="0" lvl="0" marL="0" rtl="0" algn="l">
              <a:spcBef>
                <a:spcPts val="0"/>
              </a:spcBef>
              <a:spcAft>
                <a:spcPts val="0"/>
              </a:spcAft>
              <a:buNone/>
            </a:pPr>
            <a:r>
              <a:rPr lang="en-US"/>
              <a:t>  – Ewert called them selective, because they discriminate the way the toad does.</a:t>
            </a:r>
            <a:endParaRPr/>
          </a:p>
          <a:p>
            <a:pPr indent="0" lvl="0" marL="0" rtl="0" algn="l">
              <a:spcBef>
                <a:spcPts val="0"/>
              </a:spcBef>
              <a:spcAft>
                <a:spcPts val="0"/>
              </a:spcAft>
              <a:buNone/>
            </a:pPr>
            <a:r>
              <a:rPr lang="en-US"/>
              <a:t>  – But none were specific, responding only to worms, so there is no single worm-detector neuron.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Borchers HW, von Wietersheim A (1978). Question of prey feature detectors in the toad's Bufo bufo (L.) visual system: a correlation analysis. Journal of Comparative Physiology 126: 43–47. https://doi.org/10.1007/BF01342649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(1978), Fig. 2. Discriminant value D(W,A) for behavior (B) and for retinal (R2–R4), tectal (T5(1), T5(2)) and pretectal (TH3) neurons.</a:t>
            </a:r>
            <a:endParaRPr/>
          </a:p>
          <a:p>
            <a:pPr indent="0" lvl="0" marL="0" rtl="0" algn="l">
              <a:spcBef>
                <a:spcPts val="0"/>
              </a:spcBef>
              <a:spcAft>
                <a:spcPts val="0"/>
              </a:spcAft>
              <a:buNone/>
            </a:pPr>
            <a:r>
              <a:rPr lang="en-US"/>
              <a:t>Figure source: https://doi.org/10.1007/BF01342649</a:t>
            </a:r>
            <a:endParaRPr/>
          </a:p>
        </p:txBody>
      </p:sp>
      <p:sp>
        <p:nvSpPr>
          <p:cNvPr id="206" name="Google Shape;206;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same analysis was done in the frog with 63 neurons from the retina and tectum.</a:t>
            </a:r>
            <a:endParaRPr/>
          </a:p>
          <a:p>
            <a:pPr indent="0" lvl="0" marL="0" rtl="0" algn="l">
              <a:spcBef>
                <a:spcPts val="0"/>
              </a:spcBef>
              <a:spcAft>
                <a:spcPts val="0"/>
              </a:spcAft>
              <a:buNone/>
            </a:pPr>
            <a:r>
              <a:rPr lang="en-US"/>
              <a:t>  – Retinal cells preferred antiworms for short stripes and worms for long stripes, which follows from their centre–surround receptive fields.</a:t>
            </a:r>
            <a:endParaRPr/>
          </a:p>
          <a:p>
            <a:pPr indent="0" lvl="0" marL="0" rtl="0" algn="l">
              <a:spcBef>
                <a:spcPts val="0"/>
              </a:spcBef>
              <a:spcAft>
                <a:spcPts val="0"/>
              </a:spcAft>
              <a:buNone/>
            </a:pPr>
            <a:r>
              <a:rPr lang="en-US"/>
              <a:t>• In the tectum, three classes had three different preferences.</a:t>
            </a:r>
            <a:endParaRPr/>
          </a:p>
          <a:p>
            <a:pPr indent="0" lvl="0" marL="0" rtl="0" algn="l">
              <a:spcBef>
                <a:spcPts val="0"/>
              </a:spcBef>
              <a:spcAft>
                <a:spcPts val="0"/>
              </a:spcAft>
              <a:buNone/>
            </a:pPr>
            <a:r>
              <a:rPr lang="en-US"/>
              <a:t>  – T5(1) cells barely cared about configuration, T5(2) cells preferred worms, and T5(3) cells preferred antiworms, much like pretectal TH3 cells in the toad.</a:t>
            </a:r>
            <a:endParaRPr/>
          </a:p>
          <a:p>
            <a:pPr indent="0" lvl="0" marL="0" rtl="0" algn="l">
              <a:spcBef>
                <a:spcPts val="0"/>
              </a:spcBef>
              <a:spcAft>
                <a:spcPts val="0"/>
              </a:spcAft>
              <a:buNone/>
            </a:pPr>
            <a:r>
              <a:rPr lang="en-US"/>
              <a:t>• Frog and toad have the same neuron classes, but the toad's are more selective, which matches its more selective behavior.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Schürg-Pfeiffer E, Ewert JP (1981). Investigation of neurons involved in the analysis of gestalt prey features in the frog Rana temporaria. Journal of Comparative Physiology 141: 139–152. https://doi.org/10.1007/BF01342660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Schürg-Pfeiffer &amp; Ewert (1981), Fig. 11. Discriminant values of retinal and tectal neuron classes in R. temporaria (above) and B. bufo (below) versus stripe length.</a:t>
            </a:r>
            <a:endParaRPr/>
          </a:p>
          <a:p>
            <a:pPr indent="0" lvl="0" marL="0" rtl="0" algn="l">
              <a:spcBef>
                <a:spcPts val="0"/>
              </a:spcBef>
              <a:spcAft>
                <a:spcPts val="0"/>
              </a:spcAft>
              <a:buNone/>
            </a:pPr>
            <a:r>
              <a:rPr lang="en-US"/>
              <a:t>Figure source: https://doi.org/10.1007/BF01342660</a:t>
            </a:r>
            <a:endParaRPr/>
          </a:p>
        </p:txBody>
      </p:sp>
      <p:sp>
        <p:nvSpPr>
          <p:cNvPr id="218" name="Google Shape;218;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 name="Google Shape;22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main structures are the retina, the optic tectum and the pretectal thalamus.</a:t>
            </a:r>
            <a:endParaRPr/>
          </a:p>
          <a:p>
            <a:pPr indent="0" lvl="0" marL="0" rtl="0" algn="l">
              <a:spcBef>
                <a:spcPts val="0"/>
              </a:spcBef>
              <a:spcAft>
                <a:spcPts val="0"/>
              </a:spcAft>
              <a:buNone/>
            </a:pPr>
            <a:r>
              <a:rPr lang="en-US"/>
              <a:t>  – The tectum is in the roof of the midbrain and corresponds to the mammalian superior colliculus; the pretectum lies just in front of it.</a:t>
            </a:r>
            <a:endParaRPr/>
          </a:p>
          <a:p>
            <a:pPr indent="0" lvl="0" marL="0" rtl="0" algn="l">
              <a:spcBef>
                <a:spcPts val="0"/>
              </a:spcBef>
              <a:spcAft>
                <a:spcPts val="0"/>
              </a:spcAft>
              <a:buNone/>
            </a:pPr>
            <a:r>
              <a:rPr lang="en-US"/>
              <a:t>  – Both have retinotopic maps, where neighboring points in space map onto neighboring neurons.</a:t>
            </a:r>
            <a:endParaRPr/>
          </a:p>
          <a:p>
            <a:pPr indent="0" lvl="0" marL="0" rtl="0" algn="l">
              <a:spcBef>
                <a:spcPts val="0"/>
              </a:spcBef>
              <a:spcAft>
                <a:spcPts val="0"/>
              </a:spcAft>
              <a:buNone/>
            </a:pPr>
            <a:r>
              <a:rPr lang="en-US"/>
              <a:t>• Their output goes down to premotor and motor structures in the medulla and spinal cord that produce turning and snapping.</a:t>
            </a:r>
            <a:endParaRPr/>
          </a:p>
          <a:p>
            <a:pPr indent="0" lvl="0" marL="0" rtl="0" algn="l">
              <a:spcBef>
                <a:spcPts val="0"/>
              </a:spcBef>
              <a:spcAft>
                <a:spcPts val="0"/>
              </a:spcAft>
              <a:buNone/>
            </a:pPr>
            <a:r>
              <a:rPr lang="en-US"/>
              <a:t>• Forebrain areas modulate this pathway: the striatum and lateral anterior thalamus help gate responses, and the medial pallium, the amphibian hippocampus, is involved in learning.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(1997), Fig. 1A. Anuran brain: retina (R), optic tectum (T), pretectal thalamus (TH), striatum (S), medial pallium (MP) and premotor–motor structures (PMS).</a:t>
            </a:r>
            <a:endParaRPr/>
          </a:p>
          <a:p>
            <a:pPr indent="0" lvl="0" marL="0" rtl="0" algn="l">
              <a:spcBef>
                <a:spcPts val="0"/>
              </a:spcBef>
              <a:spcAft>
                <a:spcPts val="0"/>
              </a:spcAft>
              <a:buNone/>
            </a:pPr>
            <a:r>
              <a:rPr lang="en-US"/>
              <a:t>Figure source: https://doi.org/10.1016/S0166-2236(96)01042-9</a:t>
            </a:r>
            <a:endParaRPr/>
          </a:p>
        </p:txBody>
      </p:sp>
      <p:sp>
        <p:nvSpPr>
          <p:cNvPr id="230" name="Google Shape;230;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Each retinal class ends in its own layers of the tectum.</a:t>
            </a:r>
            <a:endParaRPr/>
          </a:p>
          <a:p>
            <a:pPr indent="0" lvl="0" marL="0" rtl="0" algn="l">
              <a:spcBef>
                <a:spcPts val="0"/>
              </a:spcBef>
              <a:spcAft>
                <a:spcPts val="0"/>
              </a:spcAft>
              <a:buNone/>
            </a:pPr>
            <a:r>
              <a:rPr lang="en-US"/>
              <a:t>  – R2 axons end in laminae B and C, R3 in C to F, and R4 in F and G, and inhibitory fibers from the pretectum end mainly in B and C.</a:t>
            </a:r>
            <a:endParaRPr/>
          </a:p>
          <a:p>
            <a:pPr indent="0" lvl="0" marL="0" rtl="0" algn="l">
              <a:spcBef>
                <a:spcPts val="0"/>
              </a:spcBef>
              <a:spcAft>
                <a:spcPts val="0"/>
              </a:spcAft>
              <a:buNone/>
            </a:pPr>
            <a:r>
              <a:rPr lang="en-US"/>
              <a:t>• Tectal neurons reach across these layers.</a:t>
            </a:r>
            <a:endParaRPr/>
          </a:p>
          <a:p>
            <a:pPr indent="0" lvl="0" marL="0" rtl="0" algn="l">
              <a:spcBef>
                <a:spcPts val="0"/>
              </a:spcBef>
              <a:spcAft>
                <a:spcPts val="0"/>
              </a:spcAft>
              <a:buNone/>
            </a:pPr>
            <a:r>
              <a:rPr lang="en-US"/>
              <a:t>  – The yellow T5.1 cell has dendrites from lamina B to G, so it can combine several retinal classes.</a:t>
            </a:r>
            <a:endParaRPr/>
          </a:p>
          <a:p>
            <a:pPr indent="0" lvl="0" marL="0" rtl="0" algn="l">
              <a:spcBef>
                <a:spcPts val="0"/>
              </a:spcBef>
              <a:spcAft>
                <a:spcPts val="0"/>
              </a:spcAft>
              <a:buNone/>
            </a:pPr>
            <a:r>
              <a:rPr lang="en-US"/>
              <a:t>  – The blue T5.2 cell collects input from layers 8 and 9 and sends its axon down to the medulla.</a:t>
            </a:r>
            <a:endParaRPr/>
          </a:p>
          <a:p>
            <a:pPr indent="0" lvl="0" marL="0" rtl="0" algn="l">
              <a:spcBef>
                <a:spcPts val="0"/>
              </a:spcBef>
              <a:spcAft>
                <a:spcPts val="0"/>
              </a:spcAft>
              <a:buNone/>
            </a:pPr>
            <a:r>
              <a:rPr lang="en-US"/>
              <a:t>• Because the dendrites cross layers, each tectal output neuron can mix several retinal channels and pretectal input.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(1997), Fig. 2A. Cobalt-filled tectal neurons (T5.1 yellow and green, large neuron violet, T5.2 blue) spanning tectal laminae A–G.</a:t>
            </a:r>
            <a:endParaRPr/>
          </a:p>
          <a:p>
            <a:pPr indent="0" lvl="0" marL="0" rtl="0" algn="l">
              <a:spcBef>
                <a:spcPts val="0"/>
              </a:spcBef>
              <a:spcAft>
                <a:spcPts val="0"/>
              </a:spcAft>
              <a:buNone/>
            </a:pPr>
            <a:r>
              <a:rPr lang="en-US"/>
              <a:t>Figure source: https://doi.org/10.1016/S0166-2236(96)01042-9</a:t>
            </a:r>
            <a:endParaRPr/>
          </a:p>
        </p:txBody>
      </p:sp>
      <p:sp>
        <p:nvSpPr>
          <p:cNvPr id="242" name="Google Shape;242;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These are spike trains from one frog T5(2) neuron.</a:t>
            </a:r>
            <a:endParaRPr/>
          </a:p>
          <a:p>
            <a:pPr indent="0" lvl="0" marL="0" rtl="0" algn="l">
              <a:spcBef>
                <a:spcPts val="0"/>
              </a:spcBef>
              <a:spcAft>
                <a:spcPts val="0"/>
              </a:spcAft>
              <a:buNone/>
            </a:pPr>
            <a:r>
              <a:rPr lang="en-US"/>
              <a:t>  – Squares drove it best at about 8 degrees, and larger squares drove it less.</a:t>
            </a:r>
            <a:endParaRPr/>
          </a:p>
          <a:p>
            <a:pPr indent="0" lvl="0" marL="0" rtl="0" algn="l">
              <a:spcBef>
                <a:spcPts val="0"/>
              </a:spcBef>
              <a:spcAft>
                <a:spcPts val="0"/>
              </a:spcAft>
              <a:buNone/>
            </a:pPr>
            <a:r>
              <a:rPr lang="en-US"/>
              <a:t>• Worm-like stripes kept driving it strongly as they got longer, but antiworm stripes drove it less and less.</a:t>
            </a:r>
            <a:endParaRPr/>
          </a:p>
          <a:p>
            <a:pPr indent="0" lvl="0" marL="0" rtl="0" algn="l">
              <a:spcBef>
                <a:spcPts val="0"/>
              </a:spcBef>
              <a:spcAft>
                <a:spcPts val="0"/>
              </a:spcAft>
              <a:buNone/>
            </a:pPr>
            <a:r>
              <a:rPr lang="en-US"/>
              <a:t>  – That is the same preference the animal shows in behavior.</a:t>
            </a:r>
            <a:endParaRPr/>
          </a:p>
          <a:p>
            <a:pPr indent="0" lvl="0" marL="0" rtl="0" algn="l">
              <a:spcBef>
                <a:spcPts val="0"/>
              </a:spcBef>
              <a:spcAft>
                <a:spcPts val="0"/>
              </a:spcAft>
              <a:buNone/>
            </a:pPr>
            <a:r>
              <a:rPr lang="en-US"/>
              <a:t>• Its receptive field is round, about 18 degrees across, so the preference cannot come from the shape of the field; it comes from how the cell's inputs combine length along and across the motion.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Schürg-Pfeiffer E, Ewert JP (1981). Investigation of neurons involved in the analysis of gestalt prey features in the frog Rana temporaria. Journal of Comparative Physiology 141: 139–152. https://doi.org/10.1007/BF01342660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Schürg-Pfeiffer &amp; Ewert (1981), Fig. 8. Spike trains of a T5(2) neuron to squares, antiworm (middle) and worm (right) stripes of 4–20° length; time scale 1 s.</a:t>
            </a:r>
            <a:endParaRPr/>
          </a:p>
          <a:p>
            <a:pPr indent="0" lvl="0" marL="0" rtl="0" algn="l">
              <a:spcBef>
                <a:spcPts val="0"/>
              </a:spcBef>
              <a:spcAft>
                <a:spcPts val="0"/>
              </a:spcAft>
              <a:buNone/>
            </a:pPr>
            <a:r>
              <a:rPr lang="en-US"/>
              <a:t>Figure source: https://doi.org/10.1007/BF01342660</a:t>
            </a:r>
            <a:endParaRPr/>
          </a:p>
        </p:txBody>
      </p:sp>
      <p:sp>
        <p:nvSpPr>
          <p:cNvPr id="254" name="Google Shape;254;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This color table puts behavior and neurons on the same scale.</a:t>
            </a:r>
            <a:endParaRPr/>
          </a:p>
          <a:p>
            <a:pPr indent="0" lvl="0" marL="0" rtl="0" algn="l">
              <a:spcBef>
                <a:spcPts val="0"/>
              </a:spcBef>
              <a:spcAft>
                <a:spcPts val="0"/>
              </a:spcAft>
              <a:buNone/>
            </a:pPr>
            <a:r>
              <a:rPr lang="en-US"/>
              <a:t>  – Red means the strongest response and dark gray almost none.</a:t>
            </a:r>
            <a:endParaRPr/>
          </a:p>
          <a:p>
            <a:pPr indent="0" lvl="0" marL="0" rtl="0" algn="l">
              <a:spcBef>
                <a:spcPts val="0"/>
              </a:spcBef>
              <a:spcAft>
                <a:spcPts val="0"/>
              </a:spcAft>
              <a:buNone/>
            </a:pPr>
            <a:r>
              <a:rPr lang="en-US"/>
              <a:t>• Prey-catching rises with length along the motion, falls with length across it, and peaks for medium squares; avoidance is the opposite.</a:t>
            </a:r>
            <a:endParaRPr/>
          </a:p>
          <a:p>
            <a:pPr indent="0" lvl="0" marL="0" rtl="0" algn="l">
              <a:spcBef>
                <a:spcPts val="0"/>
              </a:spcBef>
              <a:spcAft>
                <a:spcPts val="0"/>
              </a:spcAft>
              <a:buNone/>
            </a:pPr>
            <a:r>
              <a:rPr lang="en-US"/>
              <a:t>  – Retinal cells mainly track area, and pretectal TH3 and tectal T5.3 cells like large extensions across the motion.</a:t>
            </a:r>
            <a:endParaRPr/>
          </a:p>
          <a:p>
            <a:pPr indent="0" lvl="0" marL="0" rtl="0" algn="l">
              <a:spcBef>
                <a:spcPts val="0"/>
              </a:spcBef>
              <a:spcAft>
                <a:spcPts val="0"/>
              </a:spcAft>
              <a:buNone/>
            </a:pPr>
            <a:r>
              <a:rPr lang="en-US"/>
              <a:t>• T5.2 neurons have the same pattern as prey-catching, and T5.4 neurons the pattern of avoidance.</a:t>
            </a:r>
            <a:endParaRPr/>
          </a:p>
          <a:p>
            <a:pPr indent="0" lvl="0" marL="0" rtl="0" algn="l">
              <a:spcBef>
                <a:spcPts val="0"/>
              </a:spcBef>
              <a:spcAft>
                <a:spcPts val="0"/>
              </a:spcAft>
              <a:buNone/>
            </a:pPr>
            <a:r>
              <a:rPr lang="en-US"/>
              <a:t>  – Ewert proposed that groups of such neurons define categories like prey and predator.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(1997), Fig. 3. Relative responses to changes in ep (A), ea (B) and square size (C): behavior and R, T and TH neuron classes (color-coded %).</a:t>
            </a:r>
            <a:endParaRPr/>
          </a:p>
          <a:p>
            <a:pPr indent="0" lvl="0" marL="0" rtl="0" algn="l">
              <a:spcBef>
                <a:spcPts val="0"/>
              </a:spcBef>
              <a:spcAft>
                <a:spcPts val="0"/>
              </a:spcAft>
              <a:buNone/>
            </a:pPr>
            <a:r>
              <a:rPr lang="en-US"/>
              <a:t>Figure source: https://doi.org/10.1016/S0166-2236(96)01042-9</a:t>
            </a:r>
            <a:endParaRPr/>
          </a:p>
        </p:txBody>
      </p:sp>
      <p:sp>
        <p:nvSpPr>
          <p:cNvPr id="266" name="Google Shape;266;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strongest link came from recordings in toads that could move freely.</a:t>
            </a:r>
            <a:endParaRPr/>
          </a:p>
          <a:p>
            <a:pPr indent="0" lvl="0" marL="0" rtl="0" algn="l">
              <a:spcBef>
                <a:spcPts val="0"/>
              </a:spcBef>
              <a:spcAft>
                <a:spcPts val="0"/>
              </a:spcAft>
              <a:buNone/>
            </a:pPr>
            <a:r>
              <a:rPr lang="en-US"/>
              <a:t>  – An electrode in the tectum recorded a T5.2 neuron while a bar moved through its receptive field.</a:t>
            </a:r>
            <a:endParaRPr/>
          </a:p>
          <a:p>
            <a:pPr indent="0" lvl="0" marL="0" rtl="0" algn="l">
              <a:spcBef>
                <a:spcPts val="0"/>
              </a:spcBef>
              <a:spcAft>
                <a:spcPts val="0"/>
              </a:spcAft>
              <a:buNone/>
            </a:pPr>
            <a:r>
              <a:rPr lang="en-US"/>
              <a:t>• When the bar moved as a worm, the neuron fired a strong burst, and that burst came just before the toad turned toward it.</a:t>
            </a:r>
            <a:endParaRPr/>
          </a:p>
          <a:p>
            <a:pPr indent="0" lvl="0" marL="0" rtl="0" algn="l">
              <a:spcBef>
                <a:spcPts val="0"/>
              </a:spcBef>
              <a:spcAft>
                <a:spcPts val="0"/>
              </a:spcAft>
              <a:buNone/>
            </a:pPr>
            <a:r>
              <a:rPr lang="en-US"/>
              <a:t>  – When the same bar moved as an antiworm, the neuron was almost silent and the toad did nothing.</a:t>
            </a:r>
            <a:endParaRPr/>
          </a:p>
          <a:p>
            <a:pPr indent="0" lvl="0" marL="0" rtl="0" algn="l">
              <a:spcBef>
                <a:spcPts val="0"/>
              </a:spcBef>
              <a:spcAft>
                <a:spcPts val="0"/>
              </a:spcAft>
              <a:buNone/>
            </a:pPr>
            <a:r>
              <a:rPr lang="en-US"/>
              <a:t>• This ties the neuron's activity to the behavior, though by itself it is a correlation, not proof that the neuron causes the turn.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(1997), Fig. 4A–C. A freely moving toad's T5.2 neuron: bar in prey (A) and non-prey (B) configuration before, and non-prey (C) after a pretectal lesion.</a:t>
            </a:r>
            <a:endParaRPr/>
          </a:p>
          <a:p>
            <a:pPr indent="0" lvl="0" marL="0" rtl="0" algn="l">
              <a:spcBef>
                <a:spcPts val="0"/>
              </a:spcBef>
              <a:spcAft>
                <a:spcPts val="0"/>
              </a:spcAft>
              <a:buNone/>
            </a:pPr>
            <a:r>
              <a:rPr lang="en-US"/>
              <a:t>Figure source: https://doi.org/10.1016/S0166-2236(96)01042-9</a:t>
            </a:r>
            <a:endParaRPr/>
          </a:p>
        </p:txBody>
      </p:sp>
      <p:sp>
        <p:nvSpPr>
          <p:cNvPr id="278" name="Google Shape;278;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9" name="Google Shape;289;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After a lesion of the pretectum, the same T5.2 neuron fired strongly to the antiworm bar, and the toad turned toward it.</a:t>
            </a:r>
            <a:endParaRPr/>
          </a:p>
          <a:p>
            <a:pPr indent="0" lvl="0" marL="0" rtl="0" algn="l">
              <a:spcBef>
                <a:spcPts val="0"/>
              </a:spcBef>
              <a:spcAft>
                <a:spcPts val="0"/>
              </a:spcAft>
              <a:buNone/>
            </a:pPr>
            <a:r>
              <a:rPr lang="en-US"/>
              <a:t>  – The neuron's receptive field also got bigger and it started firing spontaneously.</a:t>
            </a:r>
            <a:endParaRPr/>
          </a:p>
          <a:p>
            <a:pPr indent="0" lvl="0" marL="0" rtl="0" algn="l">
              <a:spcBef>
                <a:spcPts val="0"/>
              </a:spcBef>
              <a:spcAft>
                <a:spcPts val="0"/>
              </a:spcAft>
              <a:buNone/>
            </a:pPr>
            <a:r>
              <a:rPr lang="en-US"/>
              <a:t>• Behaviorally, toads without a pretectum turned toward worms, antiworms and squares about equally.</a:t>
            </a:r>
            <a:endParaRPr/>
          </a:p>
          <a:p>
            <a:pPr indent="0" lvl="0" marL="0" rtl="0" algn="l">
              <a:spcBef>
                <a:spcPts val="0"/>
              </a:spcBef>
              <a:spcAft>
                <a:spcPts val="0"/>
              </a:spcAft>
              <a:buNone/>
            </a:pPr>
            <a:r>
              <a:rPr lang="en-US"/>
              <a:t>  – The antiworm, normally ignored, became as good as a worm.</a:t>
            </a:r>
            <a:endParaRPr/>
          </a:p>
          <a:p>
            <a:pPr indent="0" lvl="0" marL="0" rtl="0" algn="l">
              <a:spcBef>
                <a:spcPts val="0"/>
              </a:spcBef>
              <a:spcAft>
                <a:spcPts val="0"/>
              </a:spcAft>
              <a:buNone/>
            </a:pPr>
            <a:r>
              <a:rPr lang="en-US"/>
              <a:t>• They also snapped at non-moving objects, at things too far away and at image motion caused by their own movement. The pretectum normally provides the inhibition that makes the tectum selective.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2D. Turning to worm (a), antiworm (b) and square (c) stimuli after bilateral pretectal thalamic lesions (n = 20 toads).</a:t>
            </a:r>
            <a:endParaRPr/>
          </a:p>
          <a:p>
            <a:pPr indent="0" lvl="0" marL="0" rtl="0" algn="l">
              <a:spcBef>
                <a:spcPts val="0"/>
              </a:spcBef>
              <a:spcAft>
                <a:spcPts val="0"/>
              </a:spcAft>
              <a:buNone/>
            </a:pPr>
            <a:r>
              <a:rPr lang="en-US"/>
              <a:t>Figure source: https://doi.org/10.1016/S1095-6433(00)00333-0</a:t>
            </a:r>
            <a:endParaRPr/>
          </a:p>
        </p:txBody>
      </p:sp>
      <p:sp>
        <p:nvSpPr>
          <p:cNvPr id="290" name="Google Shape;290;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Neuropeptide Y is a peptide transmitter used by the pretectal neurons that project to the tectum.</a:t>
            </a:r>
            <a:endParaRPr/>
          </a:p>
          <a:p>
            <a:pPr indent="0" lvl="0" marL="0" rtl="0" algn="l">
              <a:spcBef>
                <a:spcPts val="0"/>
              </a:spcBef>
              <a:spcAft>
                <a:spcPts val="0"/>
              </a:spcAft>
              <a:buNone/>
            </a:pPr>
            <a:r>
              <a:rPr lang="en-US"/>
              <a:t>  – NPY fibers in the tectum come from the same pretectal areas where TH3 and TH4 neurons are recorded.</a:t>
            </a:r>
            <a:endParaRPr/>
          </a:p>
          <a:p>
            <a:pPr indent="0" lvl="0" marL="0" rtl="0" algn="l">
              <a:spcBef>
                <a:spcPts val="0"/>
              </a:spcBef>
              <a:spcAft>
                <a:spcPts val="0"/>
              </a:spcAft>
              <a:buNone/>
            </a:pPr>
            <a:r>
              <a:rPr lang="en-US"/>
              <a:t>• The experiment measured the tectal field potential evoked by turning a light on or off.</a:t>
            </a:r>
            <a:endParaRPr/>
          </a:p>
          <a:p>
            <a:pPr indent="0" lvl="0" marL="0" rtl="0" algn="l">
              <a:spcBef>
                <a:spcPts val="0"/>
              </a:spcBef>
              <a:spcAft>
                <a:spcPts val="0"/>
              </a:spcAft>
              <a:buNone/>
            </a:pPr>
            <a:r>
              <a:rPr lang="en-US"/>
              <a:t>  – Putting NPY on the tectum cut the first excitatory wave, the retinal input, roughly in half for over an hour.</a:t>
            </a:r>
            <a:endParaRPr/>
          </a:p>
          <a:p>
            <a:pPr indent="0" lvl="0" marL="0" rtl="0" algn="l">
              <a:spcBef>
                <a:spcPts val="0"/>
              </a:spcBef>
              <a:spcAft>
                <a:spcPts val="0"/>
              </a:spcAft>
              <a:buNone/>
            </a:pPr>
            <a:r>
              <a:rPr lang="en-US"/>
              <a:t>• A fragment that activates Y2 receptors did the same, and a fragment that does not had no effect.</a:t>
            </a:r>
            <a:endParaRPr/>
          </a:p>
          <a:p>
            <a:pPr indent="0" lvl="0" marL="0" rtl="0" algn="l">
              <a:spcBef>
                <a:spcPts val="0"/>
              </a:spcBef>
              <a:spcAft>
                <a:spcPts val="0"/>
              </a:spcAft>
              <a:buNone/>
            </a:pPr>
            <a:r>
              <a:rPr lang="en-US"/>
              <a:t>  – Y2 receptors are often on presynaptic terminals, which fits the idea that NPY turns down retinal input to the tectum.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5. N1 amplitude of the tectal field potential to light-on (a) and light-off (b) after NPY (A), NPY 13–36 (B) and NPY 18–36 (C).</a:t>
            </a:r>
            <a:endParaRPr/>
          </a:p>
          <a:p>
            <a:pPr indent="0" lvl="0" marL="0" rtl="0" algn="l">
              <a:spcBef>
                <a:spcPts val="0"/>
              </a:spcBef>
              <a:spcAft>
                <a:spcPts val="0"/>
              </a:spcAft>
              <a:buNone/>
            </a:pPr>
            <a:r>
              <a:rPr lang="en-US"/>
              <a:t>Figure source: https://doi.org/10.1016/S1095-6433(00)00333-0</a:t>
            </a:r>
            <a:endParaRPr/>
          </a:p>
        </p:txBody>
      </p:sp>
      <p:sp>
        <p:nvSpPr>
          <p:cNvPr id="302" name="Google Shape;302;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3" name="Google Shape;313;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Ewert's model replaces a single worm detector with combinations of active neuron types, which he called sensorimotor codes.</a:t>
            </a:r>
            <a:endParaRPr/>
          </a:p>
          <a:p>
            <a:pPr indent="0" lvl="0" marL="0" rtl="0" algn="l">
              <a:spcBef>
                <a:spcPts val="0"/>
              </a:spcBef>
              <a:spcAft>
                <a:spcPts val="0"/>
              </a:spcAft>
              <a:buNone/>
            </a:pPr>
            <a:r>
              <a:rPr lang="en-US"/>
              <a:t>  – At least seven types of tectal neurons and several pretectal types send axons down to the medulla.</a:t>
            </a:r>
            <a:endParaRPr/>
          </a:p>
          <a:p>
            <a:pPr indent="0" lvl="0" marL="0" rtl="0" algn="l">
              <a:spcBef>
                <a:spcPts val="0"/>
              </a:spcBef>
              <a:spcAft>
                <a:spcPts val="0"/>
              </a:spcAft>
              <a:buNone/>
            </a:pPr>
            <a:r>
              <a:rPr lang="en-US"/>
              <a:t>• Each type carries information about several features, and each feature is carried by several types.</a:t>
            </a:r>
            <a:endParaRPr/>
          </a:p>
          <a:p>
            <a:pPr indent="0" lvl="0" marL="0" rtl="0" algn="l">
              <a:spcBef>
                <a:spcPts val="0"/>
              </a:spcBef>
              <a:spcAft>
                <a:spcPts val="0"/>
              </a:spcAft>
              <a:buNone/>
            </a:pPr>
            <a:r>
              <a:rPr lang="en-US"/>
              <a:t>  – A particular combination activates the motor circuit for snapping, turning, avoiding, jumping or ducking.</a:t>
            </a:r>
            <a:endParaRPr/>
          </a:p>
          <a:p>
            <a:pPr indent="0" lvl="0" marL="0" rtl="0" algn="l">
              <a:spcBef>
                <a:spcPts val="0"/>
              </a:spcBef>
              <a:spcAft>
                <a:spcPts val="0"/>
              </a:spcAft>
              <a:buNone/>
            </a:pPr>
            <a:r>
              <a:rPr lang="en-US"/>
              <a:t>• Motivation filters these codes. T5.2 neurons respond weakly in a well-fed toad, and in the mating season, when toads approach mates instead of prey.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(1997), Fig. 5. Combinations of tectal (T) and pretectal (TH) streams, gated by feeding and mating motivation, select motor pattern circuits.</a:t>
            </a:r>
            <a:endParaRPr/>
          </a:p>
          <a:p>
            <a:pPr indent="0" lvl="0" marL="0" rtl="0" algn="l">
              <a:spcBef>
                <a:spcPts val="0"/>
              </a:spcBef>
              <a:spcAft>
                <a:spcPts val="0"/>
              </a:spcAft>
              <a:buNone/>
            </a:pPr>
            <a:r>
              <a:rPr lang="en-US"/>
              <a:t>Figure source: https://doi.org/10.1016/S0166-2236(96)01042-9</a:t>
            </a:r>
            <a:endParaRPr/>
          </a:p>
        </p:txBody>
      </p:sp>
      <p:sp>
        <p:nvSpPr>
          <p:cNvPr id="314" name="Google Shape;314;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5" name="Google Shape;325;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final steps happen in the medulla, the lowest part of the brainstem.</a:t>
            </a:r>
            <a:endParaRPr/>
          </a:p>
          <a:p>
            <a:pPr indent="0" lvl="0" marL="0" rtl="0" algn="l">
              <a:spcBef>
                <a:spcPts val="0"/>
              </a:spcBef>
              <a:spcAft>
                <a:spcPts val="0"/>
              </a:spcAft>
              <a:buNone/>
            </a:pPr>
            <a:r>
              <a:rPr lang="en-US"/>
              <a:t>  – Some neurons in the trigeminal motor nucleus, which drives the jaw muscles, respond best to prey-like visual stimuli.</a:t>
            </a:r>
            <a:endParaRPr/>
          </a:p>
          <a:p>
            <a:pPr indent="0" lvl="0" marL="0" rtl="0" algn="l">
              <a:spcBef>
                <a:spcPts val="0"/>
              </a:spcBef>
              <a:spcAft>
                <a:spcPts val="0"/>
              </a:spcAft>
              <a:buNone/>
            </a:pPr>
            <a:r>
              <a:rPr lang="en-US"/>
              <a:t>• This filled medullary neuron has a huge dendritic tree reaching into several brainstem regions.</a:t>
            </a:r>
            <a:endParaRPr/>
          </a:p>
          <a:p>
            <a:pPr indent="0" lvl="0" marL="0" rtl="0" algn="l">
              <a:spcBef>
                <a:spcPts val="0"/>
              </a:spcBef>
              <a:spcAft>
                <a:spcPts val="0"/>
              </a:spcAft>
              <a:buNone/>
            </a:pPr>
            <a:r>
              <a:rPr lang="en-US"/>
              <a:t>  – That allows it to collect signals from many descending streams at once.</a:t>
            </a:r>
            <a:endParaRPr/>
          </a:p>
          <a:p>
            <a:pPr indent="0" lvl="0" marL="0" rtl="0" algn="l">
              <a:spcBef>
                <a:spcPts val="0"/>
              </a:spcBef>
              <a:spcAft>
                <a:spcPts val="0"/>
              </a:spcAft>
              <a:buNone/>
            </a:pPr>
            <a:r>
              <a:rPr lang="en-US"/>
              <a:t>• Ewert suggested that the timing of those inputs, arriving together, could select the motor command. Recordings suggest only one or two synapses between the tectal snapping area and the medullary motor neurons.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(1997), Fig. 2A–B. Tectal neurons converging inputs (A) and a cobalt-filled medullary neuron with dendrites spanning reticular and vestibular regions (B).</a:t>
            </a:r>
            <a:endParaRPr/>
          </a:p>
          <a:p>
            <a:pPr indent="0" lvl="0" marL="0" rtl="0" algn="l">
              <a:spcBef>
                <a:spcPts val="0"/>
              </a:spcBef>
              <a:spcAft>
                <a:spcPts val="0"/>
              </a:spcAft>
              <a:buNone/>
            </a:pPr>
            <a:r>
              <a:rPr lang="en-US"/>
              <a:t>Figure source: https://doi.org/10.1016/S0166-2236(96)01042-9</a:t>
            </a:r>
            <a:endParaRPr/>
          </a:p>
        </p:txBody>
      </p:sp>
      <p:sp>
        <p:nvSpPr>
          <p:cNvPr id="326" name="Google Shape;326;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Two lesions give opposite results.</a:t>
            </a:r>
            <a:endParaRPr/>
          </a:p>
          <a:p>
            <a:pPr indent="0" lvl="0" marL="0" rtl="0" algn="l">
              <a:spcBef>
                <a:spcPts val="0"/>
              </a:spcBef>
              <a:spcAft>
                <a:spcPts val="0"/>
              </a:spcAft>
              <a:buNone/>
            </a:pPr>
            <a:r>
              <a:rPr lang="en-US"/>
              <a:t>  – Removing only the cerebral hemispheres abolished prey orienting.</a:t>
            </a:r>
            <a:endParaRPr/>
          </a:p>
          <a:p>
            <a:pPr indent="0" lvl="0" marL="0" rtl="0" algn="l">
              <a:spcBef>
                <a:spcPts val="0"/>
              </a:spcBef>
              <a:spcAft>
                <a:spcPts val="0"/>
              </a:spcAft>
              <a:buNone/>
            </a:pPr>
            <a:r>
              <a:rPr lang="en-US"/>
              <a:t>  – Removing the hemispheres together with the dorsal diencephalon, which includes the pretectum, left toads that readily turned and snapped at moving objects.</a:t>
            </a:r>
            <a:endParaRPr/>
          </a:p>
          <a:p>
            <a:pPr indent="0" lvl="0" marL="0" rtl="0" algn="l">
              <a:spcBef>
                <a:spcPts val="0"/>
              </a:spcBef>
              <a:spcAft>
                <a:spcPts val="0"/>
              </a:spcAft>
              <a:buNone/>
            </a:pPr>
            <a:r>
              <a:rPr lang="en-US"/>
              <a:t>• So the core pathway, retina to tectum to tegmentum and medulla to the motor nuclei, is enough to produce turning and snapping.</a:t>
            </a:r>
            <a:endParaRPr/>
          </a:p>
          <a:p>
            <a:pPr indent="0" lvl="0" marL="0" rtl="0" algn="l">
              <a:spcBef>
                <a:spcPts val="0"/>
              </a:spcBef>
              <a:spcAft>
                <a:spcPts val="0"/>
              </a:spcAft>
              <a:buNone/>
            </a:pPr>
            <a:r>
              <a:rPr lang="en-US"/>
              <a:t>  – But without the pretectum it is indiscriminate: any moving image triggers prey-catching, and the toads bump into obstacles and misjudge distance.</a:t>
            </a:r>
            <a:endParaRPr/>
          </a:p>
          <a:p>
            <a:pPr indent="0" lvl="0" marL="0" rtl="0" algn="l">
              <a:spcBef>
                <a:spcPts val="0"/>
              </a:spcBef>
              <a:spcAft>
                <a:spcPts val="0"/>
              </a:spcAft>
              <a:buNone/>
            </a:pPr>
            <a:r>
              <a:rPr lang="en-US"/>
              <a:t>• Flaive and Ryczko found a matching chain in salamanders, from retina through tectum to reticulospinal neurons that steer the body toward prey.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rPr lang="en-US"/>
              <a:t>Flaive A, Ryczko D (2022). From retina to motoneurons: a substrate for visuomotor transformation in salamanders. Journal of Comparative Neurology 530(14): 2518–2536. https://doi.org/10.1002/cne.25348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3. Retino–tecto–tegmento–bulbar/spinal pathway (bold) that remains after forebrain lesion.</a:t>
            </a:r>
            <a:endParaRPr/>
          </a:p>
          <a:p>
            <a:pPr indent="0" lvl="0" marL="0" rtl="0" algn="l">
              <a:spcBef>
                <a:spcPts val="0"/>
              </a:spcBef>
              <a:spcAft>
                <a:spcPts val="0"/>
              </a:spcAft>
              <a:buNone/>
            </a:pPr>
            <a:r>
              <a:rPr lang="en-US"/>
              <a:t>Figure source: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Flaive &amp; Ryczko (2022), Fig. 8. Salamander visuomotor circuit: retina, tectum, middle reticular nucleus and motoneurons for orienting.</a:t>
            </a:r>
            <a:endParaRPr/>
          </a:p>
          <a:p>
            <a:pPr indent="0" lvl="0" marL="0" rtl="0" algn="l">
              <a:spcBef>
                <a:spcPts val="0"/>
              </a:spcBef>
              <a:spcAft>
                <a:spcPts val="0"/>
              </a:spcAft>
              <a:buNone/>
            </a:pPr>
            <a:r>
              <a:rPr lang="en-US"/>
              <a:t>Figure source: https://doi.org/10.1002/cne.25348</a:t>
            </a:r>
            <a:endParaRPr/>
          </a:p>
        </p:txBody>
      </p:sp>
      <p:sp>
        <p:nvSpPr>
          <p:cNvPr id="338" name="Google Shape;338;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1" name="Google Shape;351;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Snapping is the final act, and Keeffe and colleagues filmed it with X-ray video in the cane toad.</a:t>
            </a:r>
            <a:endParaRPr/>
          </a:p>
          <a:p>
            <a:pPr indent="0" lvl="0" marL="0" rtl="0" algn="l">
              <a:spcBef>
                <a:spcPts val="0"/>
              </a:spcBef>
              <a:spcAft>
                <a:spcPts val="0"/>
              </a:spcAft>
              <a:buNone/>
            </a:pPr>
            <a:r>
              <a:rPr lang="en-US"/>
              <a:t>  – Markers in the bones and tongue let them reconstruct movements in three dimensions.</a:t>
            </a:r>
            <a:endParaRPr/>
          </a:p>
          <a:p>
            <a:pPr indent="0" lvl="0" marL="0" rtl="0" algn="l">
              <a:spcBef>
                <a:spcPts val="0"/>
              </a:spcBef>
              <a:spcAft>
                <a:spcPts val="0"/>
              </a:spcAft>
              <a:buNone/>
            </a:pPr>
            <a:r>
              <a:rPr lang="en-US"/>
              <a:t>• The whole strike is quick and ordered.</a:t>
            </a:r>
            <a:endParaRPr/>
          </a:p>
          <a:p>
            <a:pPr indent="0" lvl="0" marL="0" rtl="0" algn="l">
              <a:spcBef>
                <a:spcPts val="0"/>
              </a:spcBef>
              <a:spcAft>
                <a:spcPts val="0"/>
              </a:spcAft>
              <a:buNone/>
            </a:pPr>
            <a:r>
              <a:rPr lang="en-US"/>
              <a:t>  – The mouth opens, the tongue is fully out by about 13 percent of the cycle, and the mouth closes on the prey by about 23 percent.</a:t>
            </a:r>
            <a:endParaRPr/>
          </a:p>
          <a:p>
            <a:pPr indent="0" lvl="0" marL="0" rtl="0" algn="l">
              <a:spcBef>
                <a:spcPts val="0"/>
              </a:spcBef>
              <a:spcAft>
                <a:spcPts val="0"/>
              </a:spcAft>
              <a:buNone/>
            </a:pPr>
            <a:r>
              <a:rPr lang="en-US"/>
              <a:t>  – Then the hyoid, the cartilage frame under the tongue, moves the prey back for swallowing.</a:t>
            </a:r>
            <a:endParaRPr/>
          </a:p>
          <a:p>
            <a:pPr indent="0" lvl="0" marL="0" rtl="0" algn="l">
              <a:spcBef>
                <a:spcPts val="0"/>
              </a:spcBef>
              <a:spcAft>
                <a:spcPts val="0"/>
              </a:spcAft>
              <a:buNone/>
            </a:pPr>
            <a:r>
              <a:rPr lang="en-US"/>
              <a:t>• Strikes looked the same from toad to toad, and misses looked like hits, which fits the idea that once launched, the strike runs to completion.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Keeffe R, Blob R, Blackburn D, Mayerl C (2022). XROMM analysis of feeding mechanics in toads: interactions of the tongue, hyoid, and pectoral girdle. Integrative Organismal Biology 4(1): obac045. https://doi.org/10.1093/iob/obac045</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Keeffe et al. (2022), Fig. 8. Phases of a cane toad feeding event from X-ray video, ventral and lateral views, with tongue (pink) and hyoid (blue).</a:t>
            </a:r>
            <a:endParaRPr/>
          </a:p>
          <a:p>
            <a:pPr indent="0" lvl="0" marL="0" rtl="0" algn="l">
              <a:spcBef>
                <a:spcPts val="0"/>
              </a:spcBef>
              <a:spcAft>
                <a:spcPts val="0"/>
              </a:spcAft>
              <a:buNone/>
            </a:pPr>
            <a:r>
              <a:rPr lang="en-US"/>
              <a:t>Figure source: https://doi.org/10.1093/iob/obac045</a:t>
            </a:r>
            <a:endParaRPr/>
          </a:p>
        </p:txBody>
      </p:sp>
      <p:sp>
        <p:nvSpPr>
          <p:cNvPr id="352" name="Google Shape;352;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3" name="Google Shape;363;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striatum in amphibians corresponds to part of the mammalian basal ganglia, which help start orienting movements.</a:t>
            </a:r>
            <a:endParaRPr/>
          </a:p>
          <a:p>
            <a:pPr indent="0" lvl="0" marL="0" rtl="0" algn="l">
              <a:spcBef>
                <a:spcPts val="0"/>
              </a:spcBef>
              <a:spcAft>
                <a:spcPts val="0"/>
              </a:spcAft>
              <a:buNone/>
            </a:pPr>
            <a:r>
              <a:rPr lang="en-US"/>
              <a:t>  – Small lesions of the toad's caudal striatum produced prey neglect, a drop in prey-catching.</a:t>
            </a:r>
            <a:endParaRPr/>
          </a:p>
          <a:p>
            <a:pPr indent="0" lvl="0" marL="0" rtl="0" algn="l">
              <a:spcBef>
                <a:spcPts val="0"/>
              </a:spcBef>
              <a:spcAft>
                <a:spcPts val="0"/>
              </a:spcAft>
              <a:buNone/>
            </a:pPr>
            <a:r>
              <a:rPr lang="en-US"/>
              <a:t>• Stimulating the striatum did not cause turning by itself, but it made the toad more likely to turn toward a weak prey stimulus.</a:t>
            </a:r>
            <a:endParaRPr/>
          </a:p>
          <a:p>
            <a:pPr indent="0" lvl="0" marL="0" rtl="0" algn="l">
              <a:spcBef>
                <a:spcPts val="0"/>
              </a:spcBef>
              <a:spcAft>
                <a:spcPts val="0"/>
              </a:spcAft>
              <a:buNone/>
            </a:pPr>
            <a:r>
              <a:rPr lang="en-US"/>
              <a:t>  – The effect was even mapped to parts of the visual field, depending on where the electrode was.</a:t>
            </a:r>
            <a:endParaRPr/>
          </a:p>
          <a:p>
            <a:pPr indent="0" lvl="0" marL="0" rtl="0" algn="l">
              <a:spcBef>
                <a:spcPts val="0"/>
              </a:spcBef>
              <a:spcAft>
                <a:spcPts val="0"/>
              </a:spcAft>
              <a:buNone/>
            </a:pPr>
            <a:r>
              <a:rPr lang="en-US"/>
              <a:t>• Recordings found visually responsive neurons in the caudal ventral striatum, marked by the symbols on this section.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6. Recording sites of visually responsive striatal neurons (symbols) on a transverse section of the cane toad telencephalon.</a:t>
            </a:r>
            <a:endParaRPr/>
          </a:p>
          <a:p>
            <a:pPr indent="0" lvl="0" marL="0" rtl="0" algn="l">
              <a:spcBef>
                <a:spcPts val="0"/>
              </a:spcBef>
              <a:spcAft>
                <a:spcPts val="0"/>
              </a:spcAft>
              <a:buNone/>
            </a:pPr>
            <a:r>
              <a:rPr lang="en-US"/>
              <a:t>Figure source: https://doi.org/10.1016/S1095-6433(00)00333-0</a:t>
            </a:r>
            <a:endParaRPr/>
          </a:p>
        </p:txBody>
      </p:sp>
      <p:sp>
        <p:nvSpPr>
          <p:cNvPr id="364" name="Google Shape;364;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5" name="Google Shape;375;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Striatal neurons fell into several types depending on what moving stimuli excited them.</a:t>
            </a:r>
            <a:endParaRPr/>
          </a:p>
          <a:p>
            <a:pPr indent="0" lvl="0" marL="0" rtl="0" algn="l">
              <a:spcBef>
                <a:spcPts val="0"/>
              </a:spcBef>
              <a:spcAft>
                <a:spcPts val="0"/>
              </a:spcAft>
              <a:buNone/>
            </a:pPr>
            <a:r>
              <a:rPr lang="en-US"/>
              <a:t>  – About a third, STR2, fired to any moving object, like motion detectors.</a:t>
            </a:r>
            <a:endParaRPr/>
          </a:p>
          <a:p>
            <a:pPr indent="0" lvl="0" marL="0" rtl="0" algn="l">
              <a:spcBef>
                <a:spcPts val="0"/>
              </a:spcBef>
              <a:spcAft>
                <a:spcPts val="0"/>
              </a:spcAft>
              <a:buNone/>
            </a:pPr>
            <a:r>
              <a:rPr lang="en-US"/>
              <a:t>  – STR3 preferred squares, STR4a responded to a large threatening square, and STR4b preferred worm-like prey.</a:t>
            </a:r>
            <a:endParaRPr/>
          </a:p>
          <a:p>
            <a:pPr indent="0" lvl="0" marL="0" rtl="0" algn="l">
              <a:spcBef>
                <a:spcPts val="0"/>
              </a:spcBef>
              <a:spcAft>
                <a:spcPts val="0"/>
              </a:spcAft>
              <a:buNone/>
            </a:pPr>
            <a:r>
              <a:rPr lang="en-US"/>
              <a:t>• STR5 neurons had ongoing activity that moving stimuli, especially threats, turned down.</a:t>
            </a:r>
            <a:endParaRPr/>
          </a:p>
          <a:p>
            <a:pPr indent="0" lvl="0" marL="0" rtl="0" algn="l">
              <a:spcBef>
                <a:spcPts val="0"/>
              </a:spcBef>
              <a:spcAft>
                <a:spcPts val="0"/>
              </a:spcAft>
              <a:buNone/>
            </a:pPr>
            <a:r>
              <a:rPr lang="en-US"/>
              <a:t>• Their receptive fields covered the whole visual field, and most stopped responding with repetition.</a:t>
            </a:r>
            <a:endParaRPr/>
          </a:p>
          <a:p>
            <a:pPr indent="0" lvl="0" marL="0" rtl="0" algn="l">
              <a:spcBef>
                <a:spcPts val="0"/>
              </a:spcBef>
              <a:spcAft>
                <a:spcPts val="0"/>
              </a:spcAft>
              <a:buNone/>
            </a:pPr>
            <a:r>
              <a:rPr lang="en-US"/>
              <a:t>  – This looks less like detailed shape analysis and more like signaling that something relevant has appeared, which fits a role in attention.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7. Firing of STR2, STR3, STR4a, STR4b and STR5 neurons to a large square (S16°), small square (S4°), antiworm (A16°) and worm (W16°).</a:t>
            </a:r>
            <a:endParaRPr/>
          </a:p>
          <a:p>
            <a:pPr indent="0" lvl="0" marL="0" rtl="0" algn="l">
              <a:spcBef>
                <a:spcPts val="0"/>
              </a:spcBef>
              <a:spcAft>
                <a:spcPts val="0"/>
              </a:spcAft>
              <a:buNone/>
            </a:pPr>
            <a:r>
              <a:rPr lang="en-US"/>
              <a:t>Figure source: https://doi.org/10.1016/S1095-6433(00)00333-0</a:t>
            </a:r>
            <a:endParaRPr/>
          </a:p>
        </p:txBody>
      </p:sp>
      <p:sp>
        <p:nvSpPr>
          <p:cNvPr id="376" name="Google Shape;376;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7" name="Google Shape;387;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Ewert's gating loop ties the forebrain to the tectum.</a:t>
            </a:r>
            <a:endParaRPr/>
          </a:p>
          <a:p>
            <a:pPr indent="0" lvl="0" marL="0" rtl="0" algn="l">
              <a:spcBef>
                <a:spcPts val="0"/>
              </a:spcBef>
              <a:spcAft>
                <a:spcPts val="0"/>
              </a:spcAft>
              <a:buNone/>
            </a:pPr>
            <a:r>
              <a:rPr lang="en-US"/>
              <a:t>  – The tectum's visual information reaches the striatum through the lateral anterior thalamus.</a:t>
            </a:r>
            <a:endParaRPr/>
          </a:p>
          <a:p>
            <a:pPr indent="0" lvl="0" marL="0" rtl="0" algn="l">
              <a:spcBef>
                <a:spcPts val="0"/>
              </a:spcBef>
              <a:spcAft>
                <a:spcPts val="0"/>
              </a:spcAft>
              <a:buNone/>
            </a:pPr>
            <a:r>
              <a:rPr lang="en-US"/>
              <a:t>  – The striatum projects back to the pretectum and inhibits it.</a:t>
            </a:r>
            <a:endParaRPr/>
          </a:p>
          <a:p>
            <a:pPr indent="0" lvl="0" marL="0" rtl="0" algn="l">
              <a:spcBef>
                <a:spcPts val="0"/>
              </a:spcBef>
              <a:spcAft>
                <a:spcPts val="0"/>
              </a:spcAft>
              <a:buNone/>
            </a:pPr>
            <a:r>
              <a:rPr lang="en-US"/>
              <a:t>• Because the pretectum inhibits the tectum, inhibiting the pretectum releases the tectum, which is disinhibition.</a:t>
            </a:r>
            <a:endParaRPr/>
          </a:p>
          <a:p>
            <a:pPr indent="0" lvl="0" marL="0" rtl="0" algn="l">
              <a:spcBef>
                <a:spcPts val="0"/>
              </a:spcBef>
              <a:spcAft>
                <a:spcPts val="0"/>
              </a:spcAft>
              <a:buNone/>
            </a:pPr>
            <a:r>
              <a:rPr lang="en-US"/>
              <a:t>  – A recognized prey can then trigger orienting.</a:t>
            </a:r>
            <a:endParaRPr/>
          </a:p>
          <a:p>
            <a:pPr indent="0" lvl="0" marL="0" rtl="0" algn="l">
              <a:spcBef>
                <a:spcPts val="0"/>
              </a:spcBef>
              <a:spcAft>
                <a:spcPts val="0"/>
              </a:spcAft>
              <a:buNone/>
            </a:pPr>
            <a:r>
              <a:rPr lang="en-US"/>
              <a:t>• This explains both lesions. Without the striatum, the pretectum's inhibition wins and prey-catching fails; without the pretectum, the tectum responds to everything.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(1997), Fig. 1B. Gating loop: striatum (S) receives tectal (T) input via lateral anterior thalamus (LA) and inhibits pretectum (TH), which inhibits tectum.</a:t>
            </a:r>
            <a:endParaRPr/>
          </a:p>
          <a:p>
            <a:pPr indent="0" lvl="0" marL="0" rtl="0" algn="l">
              <a:spcBef>
                <a:spcPts val="0"/>
              </a:spcBef>
              <a:spcAft>
                <a:spcPts val="0"/>
              </a:spcAft>
              <a:buNone/>
            </a:pPr>
            <a:r>
              <a:rPr lang="en-US"/>
              <a:t>Figure source: https://doi.org/10.1016/S0166-2236(96)01042-9</a:t>
            </a:r>
            <a:endParaRPr/>
          </a:p>
        </p:txBody>
      </p:sp>
      <p:sp>
        <p:nvSpPr>
          <p:cNvPr id="388" name="Google Shape;388;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9" name="Google Shape;399;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Apomorphine activates dopamine receptors, and it changed how toads hunt.</a:t>
            </a:r>
            <a:endParaRPr/>
          </a:p>
          <a:p>
            <a:pPr indent="0" lvl="0" marL="0" rtl="0" algn="l">
              <a:spcBef>
                <a:spcPts val="0"/>
              </a:spcBef>
              <a:spcAft>
                <a:spcPts val="0"/>
              </a:spcAft>
              <a:buNone/>
            </a:pPr>
            <a:r>
              <a:rPr lang="en-US"/>
              <a:t>  – With higher doses, turning toward prey dropped to almost nothing, while snapping roughly tripled.</a:t>
            </a:r>
            <a:endParaRPr/>
          </a:p>
          <a:p>
            <a:pPr indent="0" lvl="0" marL="0" rtl="0" algn="l">
              <a:spcBef>
                <a:spcPts val="0"/>
              </a:spcBef>
              <a:spcAft>
                <a:spcPts val="0"/>
              </a:spcAft>
              <a:buNone/>
            </a:pPr>
            <a:r>
              <a:rPr lang="en-US"/>
              <a:t>• The toads stopped pursuing and sat still, snapping at anything that came close.</a:t>
            </a:r>
            <a:endParaRPr/>
          </a:p>
          <a:p>
            <a:pPr indent="0" lvl="0" marL="0" rtl="0" algn="l">
              <a:spcBef>
                <a:spcPts val="0"/>
              </a:spcBef>
              <a:spcAft>
                <a:spcPts val="0"/>
              </a:spcAft>
              <a:buNone/>
            </a:pPr>
            <a:r>
              <a:rPr lang="en-US"/>
              <a:t>  – That is a switch from an active hunting strategy to a sit-and-wait strategy, like the frog's.</a:t>
            </a:r>
            <a:endParaRPr/>
          </a:p>
          <a:p>
            <a:pPr indent="0" lvl="0" marL="0" rtl="0" algn="l">
              <a:spcBef>
                <a:spcPts val="0"/>
              </a:spcBef>
              <a:spcAft>
                <a:spcPts val="0"/>
              </a:spcAft>
              <a:buNone/>
            </a:pPr>
            <a:r>
              <a:rPr lang="en-US"/>
              <a:t>• They still preferred prey-like objects, but less sharply. The effect peaked 15 to 35 minutes after injection, and haloperidol, which blocks D2 receptors, prevented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9. Prey-oriented turning (black) and snapping (white) per minute 20 min after apomorphine at 0–100 mg/kg (n = 15 toads).</a:t>
            </a:r>
            <a:endParaRPr/>
          </a:p>
          <a:p>
            <a:pPr indent="0" lvl="0" marL="0" rtl="0" algn="l">
              <a:spcBef>
                <a:spcPts val="0"/>
              </a:spcBef>
              <a:spcAft>
                <a:spcPts val="0"/>
              </a:spcAft>
              <a:buNone/>
            </a:pPr>
            <a:r>
              <a:rPr lang="en-US"/>
              <a:t>Figure source: https://doi.org/10.1016/S1095-6433(00)00333-0</a:t>
            </a:r>
            <a:endParaRPr/>
          </a:p>
        </p:txBody>
      </p:sp>
      <p:sp>
        <p:nvSpPr>
          <p:cNvPr id="400" name="Google Shape;400;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1" name="Google Shape;411;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2-deoxyglucose method shows which brain regions are working harder.</a:t>
            </a:r>
            <a:endParaRPr/>
          </a:p>
          <a:p>
            <a:pPr indent="0" lvl="0" marL="0" rtl="0" algn="l">
              <a:spcBef>
                <a:spcPts val="0"/>
              </a:spcBef>
              <a:spcAft>
                <a:spcPts val="0"/>
              </a:spcAft>
              <a:buNone/>
            </a:pPr>
            <a:r>
              <a:rPr lang="en-US"/>
              <a:t>  – The tracer is taken up like glucose but gets trapped in active cells, so autoradiography of brain sections maps activity, from blue for low to red for high.</a:t>
            </a:r>
            <a:endParaRPr/>
          </a:p>
          <a:p>
            <a:pPr indent="0" lvl="0" marL="0" rtl="0" algn="l">
              <a:spcBef>
                <a:spcPts val="0"/>
              </a:spcBef>
              <a:spcAft>
                <a:spcPts val="0"/>
              </a:spcAft>
              <a:buNone/>
            </a:pPr>
            <a:r>
              <a:rPr lang="en-US"/>
              <a:t>• Apomorphine raised activity in the areas that receive retinal input, including the pretectum, and lowered it in the deep tectal layers that hold the output neurons.</a:t>
            </a:r>
            <a:endParaRPr/>
          </a:p>
          <a:p>
            <a:pPr indent="0" lvl="0" marL="0" rtl="0" algn="l">
              <a:spcBef>
                <a:spcPts val="0"/>
              </a:spcBef>
              <a:spcAft>
                <a:spcPts val="0"/>
              </a:spcAft>
              <a:buNone/>
            </a:pPr>
            <a:r>
              <a:rPr lang="en-US"/>
              <a:t>  – That fits stronger pretectal inhibition and weaker tectal output for turning.</a:t>
            </a:r>
            <a:endParaRPr/>
          </a:p>
          <a:p>
            <a:pPr indent="0" lvl="0" marL="0" rtl="0" algn="l">
              <a:spcBef>
                <a:spcPts val="0"/>
              </a:spcBef>
              <a:spcAft>
                <a:spcPts val="0"/>
              </a:spcAft>
              <a:buNone/>
            </a:pPr>
            <a:r>
              <a:rPr lang="en-US"/>
              <a:t>• Activity also rose in snapping circuits in the medulla and in limbic and mesolimbic structures, all regions with dopamine fibers.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10. Color-coded 2DG uptake in transverse sections (a–d) of an untreated (A) and an apomorphine-treated (B) toad; blue low, red high.</a:t>
            </a:r>
            <a:endParaRPr/>
          </a:p>
          <a:p>
            <a:pPr indent="0" lvl="0" marL="0" rtl="0" algn="l">
              <a:spcBef>
                <a:spcPts val="0"/>
              </a:spcBef>
              <a:spcAft>
                <a:spcPts val="0"/>
              </a:spcAft>
              <a:buNone/>
            </a:pPr>
            <a:r>
              <a:rPr lang="en-US"/>
              <a:t>Figure source: https://doi.org/10.1016/S1095-6433(00)00333-0</a:t>
            </a:r>
            <a:endParaRPr/>
          </a:p>
        </p:txBody>
      </p:sp>
      <p:sp>
        <p:nvSpPr>
          <p:cNvPr id="412" name="Google Shape;412;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3" name="Google Shape;423;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Recordings from retinal ganglion cells showed that apomorphine made them more active.</a:t>
            </a:r>
            <a:endParaRPr/>
          </a:p>
          <a:p>
            <a:pPr indent="0" lvl="0" marL="0" rtl="0" algn="l">
              <a:spcBef>
                <a:spcPts val="0"/>
              </a:spcBef>
              <a:spcAft>
                <a:spcPts val="0"/>
              </a:spcAft>
              <a:buNone/>
            </a:pPr>
            <a:r>
              <a:rPr lang="en-US"/>
              <a:t>  – The same bar drove much more firing 10 to 25 minutes after the drug.</a:t>
            </a:r>
            <a:endParaRPr/>
          </a:p>
          <a:p>
            <a:pPr indent="0" lvl="0" marL="0" rtl="0" algn="l">
              <a:spcBef>
                <a:spcPts val="0"/>
              </a:spcBef>
              <a:spcAft>
                <a:spcPts val="0"/>
              </a:spcAft>
              <a:buNone/>
            </a:pPr>
            <a:r>
              <a:rPr lang="en-US"/>
              <a:t>• The receptive fields also grew.</a:t>
            </a:r>
            <a:endParaRPr/>
          </a:p>
          <a:p>
            <a:pPr indent="0" lvl="0" marL="0" rtl="0" algn="l">
              <a:spcBef>
                <a:spcPts val="0"/>
              </a:spcBef>
              <a:spcAft>
                <a:spcPts val="0"/>
              </a:spcAft>
              <a:buNone/>
            </a:pPr>
            <a:r>
              <a:rPr lang="en-US"/>
              <a:t>  – For R2 cells, the best stimulus size moved from about 6 degrees to about 12 degrees, so the excitatory field roughly doubled.</a:t>
            </a:r>
            <a:endParaRPr/>
          </a:p>
          <a:p>
            <a:pPr indent="0" lvl="0" marL="0" rtl="0" algn="l">
              <a:spcBef>
                <a:spcPts val="0"/>
              </a:spcBef>
              <a:spcAft>
                <a:spcPts val="0"/>
              </a:spcAft>
              <a:buNone/>
            </a:pPr>
            <a:r>
              <a:rPr lang="en-US"/>
              <a:t>• Dopamine in the retina uncouples the horizontal cells that create the inhibitory surround, which fits larger excitatory fields. More retinal input then feeds more pretectal inhibition onto the tectum.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12. R2 (A) and R3 (B) discharges before (a) and 10–25 min after apomorphine (b–d); (e) R2 size tuning before and after.</a:t>
            </a:r>
            <a:endParaRPr/>
          </a:p>
          <a:p>
            <a:pPr indent="0" lvl="0" marL="0" rtl="0" algn="l">
              <a:spcBef>
                <a:spcPts val="0"/>
              </a:spcBef>
              <a:spcAft>
                <a:spcPts val="0"/>
              </a:spcAft>
              <a:buNone/>
            </a:pPr>
            <a:r>
              <a:rPr lang="en-US"/>
              <a:t>Figure source: https://doi.org/10.1016/S1095-6433(00)00333-0</a:t>
            </a:r>
            <a:endParaRPr/>
          </a:p>
        </p:txBody>
      </p:sp>
      <p:sp>
        <p:nvSpPr>
          <p:cNvPr id="424" name="Google Shape;424;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5" name="Google Shape;435;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Thirty-five minutes after apomorphine, T5.2 neurons fired less to all stimuli, even though their retinal input was larger.</a:t>
            </a:r>
            <a:endParaRPr/>
          </a:p>
          <a:p>
            <a:pPr indent="0" lvl="0" marL="0" rtl="0" algn="l">
              <a:spcBef>
                <a:spcPts val="0"/>
              </a:spcBef>
              <a:spcAft>
                <a:spcPts val="0"/>
              </a:spcAft>
              <a:buNone/>
            </a:pPr>
            <a:r>
              <a:rPr lang="en-US"/>
              <a:t>  – They still preferred the worm over the antiworm.</a:t>
            </a:r>
            <a:endParaRPr/>
          </a:p>
          <a:p>
            <a:pPr indent="0" lvl="0" marL="0" rtl="0" algn="l">
              <a:spcBef>
                <a:spcPts val="0"/>
              </a:spcBef>
              <a:spcAft>
                <a:spcPts val="0"/>
              </a:spcAft>
              <a:buNone/>
            </a:pPr>
            <a:r>
              <a:rPr lang="en-US"/>
              <a:t>• By about 75 minutes their responses came back, at the same time as turning behavior returned.</a:t>
            </a:r>
            <a:endParaRPr/>
          </a:p>
          <a:p>
            <a:pPr indent="0" lvl="0" marL="0" rtl="0" algn="l">
              <a:spcBef>
                <a:spcPts val="0"/>
              </a:spcBef>
              <a:spcAft>
                <a:spcPts val="0"/>
              </a:spcAft>
              <a:buNone/>
            </a:pPr>
            <a:r>
              <a:rPr lang="en-US"/>
              <a:t>• The time course matches behavior: less tectal output, less turning. Pretectal TH3 and TH4 neurons fired more under apomorphine, which fits the idea that extra pretectal inhibition reduces tectal output.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13. A T5.2 neuron's responses to worm (A), antiworm (B) and square (C) before (a), 35 min (b) and 75 min (c) after apomorphine.</a:t>
            </a:r>
            <a:endParaRPr/>
          </a:p>
          <a:p>
            <a:pPr indent="0" lvl="0" marL="0" rtl="0" algn="l">
              <a:spcBef>
                <a:spcPts val="0"/>
              </a:spcBef>
              <a:spcAft>
                <a:spcPts val="0"/>
              </a:spcAft>
              <a:buNone/>
            </a:pPr>
            <a:r>
              <a:rPr lang="en-US"/>
              <a:t>Figure source: https://doi.org/10.1016/S1095-6433(00)00333-0</a:t>
            </a:r>
            <a:endParaRPr/>
          </a:p>
        </p:txBody>
      </p:sp>
      <p:sp>
        <p:nvSpPr>
          <p:cNvPr id="436" name="Google Shape;436;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7" name="Google Shape;447;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This recording compared pretectal TH3 and TH4 neurons with a tectal T5.2 neuron, all shown the same prey-like bar.</a:t>
            </a:r>
            <a:endParaRPr/>
          </a:p>
          <a:p>
            <a:pPr indent="0" lvl="0" marL="0" rtl="0" algn="l">
              <a:spcBef>
                <a:spcPts val="0"/>
              </a:spcBef>
              <a:spcAft>
                <a:spcPts val="0"/>
              </a:spcAft>
              <a:buNone/>
            </a:pPr>
            <a:r>
              <a:rPr lang="en-US"/>
              <a:t>  – Before the drug, the pretectal neurons barely responded and the T5.2 neuron responded strongly.</a:t>
            </a:r>
            <a:endParaRPr/>
          </a:p>
          <a:p>
            <a:pPr indent="0" lvl="0" marL="0" rtl="0" algn="l">
              <a:spcBef>
                <a:spcPts val="0"/>
              </a:spcBef>
              <a:spcAft>
                <a:spcPts val="0"/>
              </a:spcAft>
              <a:buNone/>
            </a:pPr>
            <a:r>
              <a:rPr lang="en-US"/>
              <a:t>• After apomorphine, the pretectal neurons fired much more and the T5.2 neuron fired less.</a:t>
            </a:r>
            <a:endParaRPr/>
          </a:p>
          <a:p>
            <a:pPr indent="0" lvl="0" marL="0" rtl="0" algn="l">
              <a:spcBef>
                <a:spcPts val="0"/>
              </a:spcBef>
              <a:spcAft>
                <a:spcPts val="0"/>
              </a:spcAft>
              <a:buNone/>
            </a:pPr>
            <a:r>
              <a:rPr lang="en-US"/>
              <a:t>  – The pretectum gets stronger while the tectum gets weaker.</a:t>
            </a:r>
            <a:endParaRPr/>
          </a:p>
          <a:p>
            <a:pPr indent="0" lvl="0" marL="0" rtl="0" algn="l">
              <a:spcBef>
                <a:spcPts val="0"/>
              </a:spcBef>
              <a:spcAft>
                <a:spcPts val="0"/>
              </a:spcAft>
              <a:buNone/>
            </a:pPr>
            <a:r>
              <a:rPr lang="en-US"/>
              <a:t>• That fits the gating model: more retinal input drives more pretectal inhibition, which turns down the tectal output for turning toward prey.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14. Responses of pretectal TH3, TH4 and tectal T5.2 neurons to a prey-configured bar before (A) and 35 min after apomorphine (B).</a:t>
            </a:r>
            <a:endParaRPr/>
          </a:p>
          <a:p>
            <a:pPr indent="0" lvl="0" marL="0" rtl="0" algn="l">
              <a:spcBef>
                <a:spcPts val="0"/>
              </a:spcBef>
              <a:spcAft>
                <a:spcPts val="0"/>
              </a:spcAft>
              <a:buNone/>
            </a:pPr>
            <a:r>
              <a:rPr lang="en-US"/>
              <a:t>Figure source: https://doi.org/10.1016/S1095-6433(00)00333-0</a:t>
            </a:r>
            <a:endParaRPr/>
          </a:p>
        </p:txBody>
      </p:sp>
      <p:sp>
        <p:nvSpPr>
          <p:cNvPr id="448" name="Google Shape;448;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9" name="Google Shape;459;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Habituation is a drop in responding to a repeated stimulus.</a:t>
            </a:r>
            <a:endParaRPr/>
          </a:p>
          <a:p>
            <a:pPr indent="0" lvl="0" marL="0" rtl="0" algn="l">
              <a:spcBef>
                <a:spcPts val="0"/>
              </a:spcBef>
              <a:spcAft>
                <a:spcPts val="0"/>
              </a:spcAft>
              <a:buNone/>
            </a:pPr>
            <a:r>
              <a:rPr lang="en-US"/>
              <a:t>  – A toad shown the same prey dummy over and over eventually stops turning toward it.</a:t>
            </a:r>
            <a:endParaRPr/>
          </a:p>
          <a:p>
            <a:pPr indent="0" lvl="0" marL="0" rtl="0" algn="l">
              <a:spcBef>
                <a:spcPts val="0"/>
              </a:spcBef>
              <a:spcAft>
                <a:spcPts val="0"/>
              </a:spcAft>
              <a:buNone/>
            </a:pPr>
            <a:r>
              <a:rPr lang="en-US"/>
              <a:t>• The decline is specific to the stimulus.</a:t>
            </a:r>
            <a:endParaRPr/>
          </a:p>
          <a:p>
            <a:pPr indent="0" lvl="0" marL="0" rtl="0" algn="l">
              <a:spcBef>
                <a:spcPts val="0"/>
              </a:spcBef>
              <a:spcAft>
                <a:spcPts val="0"/>
              </a:spcAft>
              <a:buNone/>
            </a:pPr>
            <a:r>
              <a:rPr lang="en-US"/>
              <a:t>  – After habituating to one triangle, the toad responded fully to its mirror image.</a:t>
            </a:r>
            <a:endParaRPr/>
          </a:p>
          <a:p>
            <a:pPr indent="0" lvl="0" marL="0" rtl="0" algn="l">
              <a:spcBef>
                <a:spcPts val="0"/>
              </a:spcBef>
              <a:spcAft>
                <a:spcPts val="0"/>
              </a:spcAft>
              <a:buNone/>
            </a:pPr>
            <a:r>
              <a:rPr lang="en-US"/>
              <a:t>  – That means the change lies in recognition, not in fatigue of the motor system.</a:t>
            </a:r>
            <a:endParaRPr/>
          </a:p>
          <a:p>
            <a:pPr indent="0" lvl="0" marL="0" rtl="0" algn="l">
              <a:spcBef>
                <a:spcPts val="0"/>
              </a:spcBef>
              <a:spcAft>
                <a:spcPts val="0"/>
              </a:spcAft>
              <a:buNone/>
            </a:pPr>
            <a:r>
              <a:rPr lang="en-US"/>
              <a:t>• Testing many pairs produced a hierarchy: some patterns renewed responding to others but not the reverse. So toads can tell apart features like leading and trailing edges that the basic worm rule does not capture.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16. Stimulus-specific habituation to triangles A and B (A) and the dishabituation hierarchy of moving patterns (B); inset: beetle Carabus.</a:t>
            </a:r>
            <a:endParaRPr/>
          </a:p>
          <a:p>
            <a:pPr indent="0" lvl="0" marL="0" rtl="0" algn="l">
              <a:spcBef>
                <a:spcPts val="0"/>
              </a:spcBef>
              <a:spcAft>
                <a:spcPts val="0"/>
              </a:spcAft>
              <a:buNone/>
            </a:pPr>
            <a:r>
              <a:rPr lang="en-US"/>
              <a:t>Figure source: https://doi.org/10.1016/S1095-6433(00)00333-0</a:t>
            </a:r>
            <a:endParaRPr/>
          </a:p>
        </p:txBody>
      </p:sp>
      <p:sp>
        <p:nvSpPr>
          <p:cNvPr id="460" name="Google Shape;460;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1" name="Google Shape;471;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In the hand-feeding experiment, toads took a mealworm from the experimenter's hand once a day.</a:t>
            </a:r>
            <a:endParaRPr/>
          </a:p>
          <a:p>
            <a:pPr indent="0" lvl="0" marL="0" rtl="0" algn="l">
              <a:spcBef>
                <a:spcPts val="0"/>
              </a:spcBef>
              <a:spcAft>
                <a:spcPts val="0"/>
              </a:spcAft>
              <a:buNone/>
            </a:pPr>
            <a:r>
              <a:rPr lang="en-US"/>
              <a:t>  – A moving hand is normally a threat, but after about seven weeks the toads turned and snapped at the hand alone.</a:t>
            </a:r>
            <a:endParaRPr/>
          </a:p>
          <a:p>
            <a:pPr indent="0" lvl="0" marL="0" rtl="0" algn="l">
              <a:spcBef>
                <a:spcPts val="0"/>
              </a:spcBef>
              <a:spcAft>
                <a:spcPts val="0"/>
              </a:spcAft>
              <a:buNone/>
            </a:pPr>
            <a:r>
              <a:rPr lang="en-US"/>
              <a:t>• The learning spread.</a:t>
            </a:r>
            <a:endParaRPr/>
          </a:p>
          <a:p>
            <a:pPr indent="0" lvl="0" marL="0" rtl="0" algn="l">
              <a:spcBef>
                <a:spcPts val="0"/>
              </a:spcBef>
              <a:spcAft>
                <a:spcPts val="0"/>
              </a:spcAft>
              <a:buNone/>
            </a:pPr>
            <a:r>
              <a:rPr lang="en-US"/>
              <a:t>  – Trained toads also treated antiworms and large squares as prey, much like toads without a pretectum, while controls given hand and mealworm separately stayed normal.</a:t>
            </a:r>
            <a:endParaRPr/>
          </a:p>
          <a:p>
            <a:pPr indent="0" lvl="0" marL="0" rtl="0" algn="l">
              <a:spcBef>
                <a:spcPts val="0"/>
              </a:spcBef>
              <a:spcAft>
                <a:spcPts val="0"/>
              </a:spcAft>
              <a:buNone/>
            </a:pPr>
            <a:r>
              <a:rPr lang="en-US"/>
              <a:t>• Brain activity mapping showed more activity in the ventral medial pallium and less in the pretectum. Ewert proposed that the pallium, through the anterior thalamus, switches off the pretectal inhibition.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18. 2DG uptake in trained versus untrained toads viewing a large square; filled bars significant.</a:t>
            </a:r>
            <a:endParaRPr/>
          </a:p>
          <a:p>
            <a:pPr indent="0" lvl="0" marL="0" rtl="0" algn="l">
              <a:spcBef>
                <a:spcPts val="0"/>
              </a:spcBef>
              <a:spcAft>
                <a:spcPts val="0"/>
              </a:spcAft>
              <a:buNone/>
            </a:pPr>
            <a:r>
              <a:rPr lang="en-US"/>
              <a:t>Figure source: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(1997), Fig. 1C. Proposed learning loop: medial pallium (MP) inhibits pretecto-tectal inhibition via anterior thalamus (A).</a:t>
            </a:r>
            <a:endParaRPr/>
          </a:p>
          <a:p>
            <a:pPr indent="0" lvl="0" marL="0" rtl="0" algn="l">
              <a:spcBef>
                <a:spcPts val="0"/>
              </a:spcBef>
              <a:spcAft>
                <a:spcPts val="0"/>
              </a:spcAft>
              <a:buNone/>
            </a:pPr>
            <a:r>
              <a:rPr lang="en-US"/>
              <a:t>Figure source: https://doi.org/10.1016/S0166-2236(96)01042-9</a:t>
            </a:r>
            <a:endParaRPr/>
          </a:p>
        </p:txBody>
      </p:sp>
      <p:sp>
        <p:nvSpPr>
          <p:cNvPr id="472" name="Google Shape;472;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5" name="Google Shape;485;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Here the cue was a smell.</a:t>
            </a:r>
            <a:endParaRPr/>
          </a:p>
          <a:p>
            <a:pPr indent="0" lvl="0" marL="0" rtl="0" algn="l">
              <a:spcBef>
                <a:spcPts val="0"/>
              </a:spcBef>
              <a:spcAft>
                <a:spcPts val="0"/>
              </a:spcAft>
              <a:buNone/>
            </a:pPr>
            <a:r>
              <a:rPr lang="en-US"/>
              <a:t>  – Toads learned that the odor cineol came with prey.</a:t>
            </a:r>
            <a:endParaRPr/>
          </a:p>
          <a:p>
            <a:pPr indent="0" lvl="0" marL="0" rtl="0" algn="l">
              <a:spcBef>
                <a:spcPts val="0"/>
              </a:spcBef>
              <a:spcAft>
                <a:spcPts val="0"/>
              </a:spcAft>
              <a:buNone/>
            </a:pPr>
            <a:r>
              <a:rPr lang="en-US"/>
              <a:t>  – Before training cineol reduced prey-catching, but afterward it increased prey-catching and made toads less choosy.</a:t>
            </a:r>
            <a:endParaRPr/>
          </a:p>
          <a:p>
            <a:pPr indent="0" lvl="0" marL="0" rtl="0" algn="l">
              <a:spcBef>
                <a:spcPts val="0"/>
              </a:spcBef>
              <a:spcAft>
                <a:spcPts val="0"/>
              </a:spcAft>
              <a:buNone/>
            </a:pPr>
            <a:r>
              <a:rPr lang="en-US"/>
              <a:t>• Brain mapping showed where the learned odor acts.</a:t>
            </a:r>
            <a:endParaRPr/>
          </a:p>
          <a:p>
            <a:pPr indent="0" lvl="0" marL="0" rtl="0" algn="l">
              <a:spcBef>
                <a:spcPts val="0"/>
              </a:spcBef>
              <a:spcAft>
                <a:spcPts val="0"/>
              </a:spcAft>
              <a:buNone/>
            </a:pPr>
            <a:r>
              <a:rPr lang="en-US"/>
              <a:t>  – In blinded toads, the ventral medial pallium was silent without the odor and strongly active with the prey-associated odor.</a:t>
            </a:r>
            <a:endParaRPr/>
          </a:p>
          <a:p>
            <a:pPr indent="0" lvl="0" marL="0" rtl="0" algn="l">
              <a:spcBef>
                <a:spcPts val="0"/>
              </a:spcBef>
              <a:spcAft>
                <a:spcPts val="0"/>
              </a:spcAft>
              <a:buNone/>
            </a:pPr>
            <a:r>
              <a:rPr lang="en-US"/>
              <a:t>• The ventral medial pallium is the amphibian hippocampus. Ewert proposed that it raises prey-catching motivation by releasing the tectal prey neurons from inhibition.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22. Caudal telencephalon (A); 2DG uptake in vMP of a blinded toad without (Ba) and with (Bb) prey-associated cineol.</a:t>
            </a:r>
            <a:endParaRPr/>
          </a:p>
          <a:p>
            <a:pPr indent="0" lvl="0" marL="0" rtl="0" algn="l">
              <a:spcBef>
                <a:spcPts val="0"/>
              </a:spcBef>
              <a:spcAft>
                <a:spcPts val="0"/>
              </a:spcAft>
              <a:buNone/>
            </a:pPr>
            <a:r>
              <a:rPr lang="en-US"/>
              <a:t>Figure source: https://doi.org/10.1016/S1095-6433(00)00333-0</a:t>
            </a:r>
            <a:endParaRPr/>
          </a:p>
        </p:txBody>
      </p:sp>
      <p:sp>
        <p:nvSpPr>
          <p:cNvPr id="486" name="Google Shape;486;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7" name="Google Shape;497;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Ewert's dummies were black and white, but toads also see color.</a:t>
            </a:r>
            <a:endParaRPr/>
          </a:p>
          <a:p>
            <a:pPr indent="0" lvl="0" marL="0" rtl="0" algn="l">
              <a:spcBef>
                <a:spcPts val="0"/>
              </a:spcBef>
              <a:spcAft>
                <a:spcPts val="0"/>
              </a:spcAft>
              <a:buNone/>
            </a:pPr>
            <a:r>
              <a:rPr lang="en-US"/>
              <a:t>  – Yovanovich and colleagues offered toads and frogs colored moving dummies.</a:t>
            </a:r>
            <a:endParaRPr/>
          </a:p>
          <a:p>
            <a:pPr indent="0" lvl="0" marL="0" rtl="0" algn="l">
              <a:spcBef>
                <a:spcPts val="0"/>
              </a:spcBef>
              <a:spcAft>
                <a:spcPts val="0"/>
              </a:spcAft>
              <a:buNone/>
            </a:pPr>
            <a:r>
              <a:rPr lang="en-US"/>
              <a:t>• In good light, toads chose green over blue about three times out of four.</a:t>
            </a:r>
            <a:endParaRPr/>
          </a:p>
          <a:p>
            <a:pPr indent="0" lvl="0" marL="0" rtl="0" algn="l">
              <a:spcBef>
                <a:spcPts val="0"/>
              </a:spcBef>
              <a:spcAft>
                <a:spcPts val="0"/>
              </a:spcAft>
              <a:buNone/>
            </a:pPr>
            <a:r>
              <a:rPr lang="en-US"/>
              <a:t>  – Frogs did not show a color preference in prey-catching but strongly preferred darker objects.</a:t>
            </a:r>
            <a:endParaRPr/>
          </a:p>
          <a:p>
            <a:pPr indent="0" lvl="0" marL="0" rtl="0" algn="l">
              <a:spcBef>
                <a:spcPts val="0"/>
              </a:spcBef>
              <a:spcAft>
                <a:spcPts val="0"/>
              </a:spcAft>
              <a:buNone/>
            </a:pPr>
            <a:r>
              <a:rPr lang="en-US"/>
              <a:t>• The toads' preference faded in very dim light, where only rods work. Frogs jumping toward light could tell blue from green even at the visual threshold, so whether color is used depends on the behavior.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Yovanovich CAM, Koskela SM, Nevala N, Kondrashev SL, Kelber A, Donner K (2017). The dual rod system of amphibians supports colour discrimination at the absolute visual threshold. Philosophical Transactions of the Royal Society B 372: 20160066. https://doi.org/10.1098/rstb.2016.0066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Yovanovich et al. (2017), Fig. 2. Prey choices by color (a) and brightness (b) in Bufo and Rana at 40 cd/m²; toad color choices across luminance (c).</a:t>
            </a:r>
            <a:endParaRPr/>
          </a:p>
          <a:p>
            <a:pPr indent="0" lvl="0" marL="0" rtl="0" algn="l">
              <a:spcBef>
                <a:spcPts val="0"/>
              </a:spcBef>
              <a:spcAft>
                <a:spcPts val="0"/>
              </a:spcAft>
              <a:buNone/>
            </a:pPr>
            <a:r>
              <a:rPr lang="en-US"/>
              <a:t>Figure source: https://doi.org/10.1098/rstb.2016.0066</a:t>
            </a:r>
            <a:endParaRPr/>
          </a:p>
        </p:txBody>
      </p:sp>
      <p:sp>
        <p:nvSpPr>
          <p:cNvPr id="498" name="Google Shape;498;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9" name="Google Shape;509;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Flaive and Ryczko kept a salamander brain alive with the eyes attached.</a:t>
            </a:r>
            <a:endParaRPr/>
          </a:p>
          <a:p>
            <a:pPr indent="0" lvl="0" marL="0" rtl="0" algn="l">
              <a:spcBef>
                <a:spcPts val="0"/>
              </a:spcBef>
              <a:spcAft>
                <a:spcPts val="0"/>
              </a:spcAft>
              <a:buNone/>
            </a:pPr>
            <a:r>
              <a:rPr lang="en-US"/>
              <a:t>  – They stimulated the retina and watched calcium signals in reticulospinal neurons that control steering.</a:t>
            </a:r>
            <a:endParaRPr/>
          </a:p>
          <a:p>
            <a:pPr indent="0" lvl="0" marL="0" rtl="0" algn="l">
              <a:spcBef>
                <a:spcPts val="0"/>
              </a:spcBef>
              <a:spcAft>
                <a:spcPts val="0"/>
              </a:spcAft>
              <a:buNone/>
            </a:pPr>
            <a:r>
              <a:rPr lang="en-US"/>
              <a:t>• The neurons responded more as the stimulus got stronger, and more on one side than the other, which is what a turning command needs.</a:t>
            </a:r>
            <a:endParaRPr/>
          </a:p>
          <a:p>
            <a:pPr indent="0" lvl="0" marL="0" rtl="0" algn="l">
              <a:spcBef>
                <a:spcPts val="0"/>
              </a:spcBef>
              <a:spcAft>
                <a:spcPts val="0"/>
              </a:spcAft>
              <a:buNone/>
            </a:pPr>
            <a:r>
              <a:rPr lang="en-US"/>
              <a:t>  – The colors in the heat maps show the size of the calcium response.</a:t>
            </a:r>
            <a:endParaRPr/>
          </a:p>
          <a:p>
            <a:pPr indent="0" lvl="0" marL="0" rtl="0" algn="l">
              <a:spcBef>
                <a:spcPts val="0"/>
              </a:spcBef>
              <a:spcAft>
                <a:spcPts val="0"/>
              </a:spcAft>
              <a:buNone/>
            </a:pPr>
            <a:r>
              <a:rPr lang="en-US"/>
              <a:t>• Blocking glutamate receptors in the tectum reduced the responses, and tracing showed the connections. That gives a cell-by-cell route from eye to motoneurons for orienting toward prey.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Flaive A, Ryczko D (2022). From retina to motoneurons: a substrate for visuomotor transformation in salamanders. Journal of Comparative Neurology 530(14): 2518–2536. https://doi.org/10.1002/cne.25348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Flaive &amp; Ryczko (2022), Fig. 7. Retinal stimulation evokes graded calcium responses in ipsilateral and contralateral reticulospinal neurons of the middle reticular nucleus.</a:t>
            </a:r>
            <a:endParaRPr/>
          </a:p>
          <a:p>
            <a:pPr indent="0" lvl="0" marL="0" rtl="0" algn="l">
              <a:spcBef>
                <a:spcPts val="0"/>
              </a:spcBef>
              <a:spcAft>
                <a:spcPts val="0"/>
              </a:spcAft>
              <a:buNone/>
            </a:pPr>
            <a:r>
              <a:rPr lang="en-US"/>
              <a:t>Figure source: https://doi.org/10.1002/cne.25348</a:t>
            </a:r>
            <a:endParaRPr/>
          </a:p>
        </p:txBody>
      </p:sp>
      <p:sp>
        <p:nvSpPr>
          <p:cNvPr id="510" name="Google Shape;510;p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1" name="Google Shape;521;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Zebrafish larvae hunt small paramecia from about five days old, and their transparent brains let us image the circuits.</a:t>
            </a:r>
            <a:endParaRPr/>
          </a:p>
          <a:p>
            <a:pPr indent="0" lvl="0" marL="0" rtl="0" algn="l">
              <a:spcBef>
                <a:spcPts val="0"/>
              </a:spcBef>
              <a:spcAft>
                <a:spcPts val="0"/>
              </a:spcAft>
              <a:buNone/>
            </a:pPr>
            <a:r>
              <a:rPr lang="en-US"/>
              <a:t>  – Every hunt starts with both eyes turning inward, called eye convergence.</a:t>
            </a:r>
            <a:endParaRPr/>
          </a:p>
          <a:p>
            <a:pPr indent="0" lvl="0" marL="0" rtl="0" algn="l">
              <a:spcBef>
                <a:spcPts val="0"/>
              </a:spcBef>
              <a:spcAft>
                <a:spcPts val="0"/>
              </a:spcAft>
              <a:buNone/>
            </a:pPr>
            <a:r>
              <a:rPr lang="en-US"/>
              <a:t>• The eyes stay converged during tracking and capture.</a:t>
            </a:r>
            <a:endParaRPr/>
          </a:p>
          <a:p>
            <a:pPr indent="0" lvl="0" marL="0" rtl="0" algn="l">
              <a:spcBef>
                <a:spcPts val="0"/>
              </a:spcBef>
              <a:spcAft>
                <a:spcPts val="0"/>
              </a:spcAft>
              <a:buNone/>
            </a:pPr>
            <a:r>
              <a:rPr lang="en-US"/>
              <a:t>  – That increases the area seen by both eyes, which the authors suggest helps judge distance to the prey.</a:t>
            </a:r>
            <a:endParaRPr/>
          </a:p>
          <a:p>
            <a:pPr indent="0" lvl="0" marL="0" rtl="0" algn="l">
              <a:spcBef>
                <a:spcPts val="0"/>
              </a:spcBef>
              <a:spcAft>
                <a:spcPts val="0"/>
              </a:spcAft>
              <a:buNone/>
            </a:pPr>
            <a:r>
              <a:rPr lang="en-US"/>
              <a:t>• Small moving spots drew small turns toward them, while large spots drew big turns away. Just like the toad, size decides between prey and threat.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Bianco IH, Kampff AR, Engert F (2011). Prey capture behavior evoked by simple visual stimuli in larval zebrafish. Frontiers in Systems Neuroscience 5: 101. https://doi.org/10.3389/fnsys.2011.00101</a:t>
            </a:r>
            <a:endParaRPr/>
          </a:p>
          <a:p>
            <a:pPr indent="0" lvl="0" marL="0" rtl="0" algn="l">
              <a:spcBef>
                <a:spcPts val="0"/>
              </a:spcBef>
              <a:spcAft>
                <a:spcPts val="0"/>
              </a:spcAft>
              <a:buNone/>
            </a:pPr>
            <a:r>
              <a:rPr lang="en-US"/>
              <a:t>Semmelhack JL, Donovan JC, Thiele TR, Kuehn E, Laurell E, Baier H (2014). A dedicated visual pathway for prey detection in larval zebrafish. eLife 3: e04878. https://doi.org/10.7554/eLife.04878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Bianco et al. (2011), Fig. 2. A larva hunting a paramecium (arrowhead), eye vergence at each stage (B–D), J-turn tail shapes (E–F) and prey distance at strike (G).</a:t>
            </a:r>
            <a:endParaRPr/>
          </a:p>
          <a:p>
            <a:pPr indent="0" lvl="0" marL="0" rtl="0" algn="l">
              <a:spcBef>
                <a:spcPts val="0"/>
              </a:spcBef>
              <a:spcAft>
                <a:spcPts val="0"/>
              </a:spcAft>
              <a:buNone/>
            </a:pPr>
            <a:r>
              <a:rPr lang="en-US"/>
              <a:t>Figure source: https://doi.org/10.3389/fnsys.2011.00101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Semmelhack et al. (2014), Fig. 1A–C. Prey-capture forward swim, J-turn and spontaneous swim to virtual stimuli, with tail-position traces.</a:t>
            </a:r>
            <a:endParaRPr/>
          </a:p>
          <a:p>
            <a:pPr indent="0" lvl="0" marL="0" rtl="0" algn="l">
              <a:spcBef>
                <a:spcPts val="0"/>
              </a:spcBef>
              <a:spcAft>
                <a:spcPts val="0"/>
              </a:spcAft>
              <a:buNone/>
            </a:pPr>
            <a:r>
              <a:rPr lang="en-US"/>
              <a:t>Figure source: https://doi.org/10.7554/eLife.04878</a:t>
            </a:r>
            <a:endParaRPr/>
          </a:p>
        </p:txBody>
      </p:sp>
      <p:sp>
        <p:nvSpPr>
          <p:cNvPr id="522" name="Google Shape;522;p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5" name="Google Shape;535;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Semmelhack and colleagues showed virtual dots to larvae held in agarose with the tail free.</a:t>
            </a:r>
            <a:endParaRPr/>
          </a:p>
          <a:p>
            <a:pPr indent="0" lvl="0" marL="0" rtl="0" algn="l">
              <a:spcBef>
                <a:spcPts val="0"/>
              </a:spcBef>
              <a:spcAft>
                <a:spcPts val="0"/>
              </a:spcAft>
              <a:buNone/>
            </a:pPr>
            <a:r>
              <a:rPr lang="en-US"/>
              <a:t>  – A computer classifier separated hunting movements, like J-turns, from ordinary swimming.</a:t>
            </a:r>
            <a:endParaRPr/>
          </a:p>
          <a:p>
            <a:pPr indent="0" lvl="0" marL="0" rtl="0" algn="l">
              <a:spcBef>
                <a:spcPts val="0"/>
              </a:spcBef>
              <a:spcAft>
                <a:spcPts val="0"/>
              </a:spcAft>
              <a:buNone/>
            </a:pPr>
            <a:r>
              <a:rPr lang="en-US"/>
              <a:t>• Hunting was tuned to the dot.</a:t>
            </a:r>
            <a:endParaRPr/>
          </a:p>
          <a:p>
            <a:pPr indent="0" lvl="0" marL="0" rtl="0" algn="l">
              <a:spcBef>
                <a:spcPts val="0"/>
              </a:spcBef>
              <a:spcAft>
                <a:spcPts val="0"/>
              </a:spcAft>
              <a:buNone/>
            </a:pPr>
            <a:r>
              <a:rPr lang="en-US"/>
              <a:t>  – It peaked for dots about 3 degrees across moving at about 90 to 100 degrees per second and dropped off for big dots.</a:t>
            </a:r>
            <a:endParaRPr/>
          </a:p>
          <a:p>
            <a:pPr indent="0" lvl="0" marL="0" rtl="0" algn="l">
              <a:spcBef>
                <a:spcPts val="0"/>
              </a:spcBef>
              <a:spcAft>
                <a:spcPts val="0"/>
              </a:spcAft>
              <a:buNone/>
            </a:pPr>
            <a:r>
              <a:rPr lang="en-US"/>
              <a:t>• Bianco and Engert imaged the tectum during the same kind of task and found that hunting depends on combinations of size, speed and contrast, a modern version of Ewert's configurational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Semmelhack JL, Donovan JC, Thiele TR, Kuehn E, Laurell E, Baier H (2014). A dedicated visual pathway for prey detection in larval zebrafish. eLife 3: e04878. https://doi.org/10.7554/eLife.04878</a:t>
            </a:r>
            <a:endParaRPr/>
          </a:p>
          <a:p>
            <a:pPr indent="0" lvl="0" marL="0" rtl="0" algn="l">
              <a:spcBef>
                <a:spcPts val="0"/>
              </a:spcBef>
              <a:spcAft>
                <a:spcPts val="0"/>
              </a:spcAft>
              <a:buNone/>
            </a:pPr>
            <a:r>
              <a:rPr lang="en-US"/>
              <a:t>Bianco IH, Engert F (2015). Visuomotor transformations underlying hunting behavior in zebrafish. Current Biology 25(7): 831–846. https://doi.org/10.1016/j.cub.2015.01.042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Semmelhack et al. (2014), Fig. 2. Prey-capture score versus dot diameter (A) and speed (B) in semi-restrained larvae.</a:t>
            </a:r>
            <a:endParaRPr/>
          </a:p>
          <a:p>
            <a:pPr indent="0" lvl="0" marL="0" rtl="0" algn="l">
              <a:spcBef>
                <a:spcPts val="0"/>
              </a:spcBef>
              <a:spcAft>
                <a:spcPts val="0"/>
              </a:spcAft>
              <a:buNone/>
            </a:pPr>
            <a:r>
              <a:rPr lang="en-US"/>
              <a:t>Figure source: https://doi.org/10.7554/eLife.04878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Bianco &amp; Engert (2015), Fig. 1. Two-photon imaging during virtual hunting: setup, eye positions before and after convergence, and tectal imaging field.</a:t>
            </a:r>
            <a:endParaRPr/>
          </a:p>
          <a:p>
            <a:pPr indent="0" lvl="0" marL="0" rtl="0" algn="l">
              <a:spcBef>
                <a:spcPts val="0"/>
              </a:spcBef>
              <a:spcAft>
                <a:spcPts val="0"/>
              </a:spcAft>
              <a:buNone/>
            </a:pPr>
            <a:r>
              <a:rPr lang="en-US"/>
              <a:t>Figure source: https://doi.org/10.1016/j.cub.2015.01.042</a:t>
            </a:r>
            <a:endParaRPr/>
          </a:p>
        </p:txBody>
      </p:sp>
      <p:sp>
        <p:nvSpPr>
          <p:cNvPr id="536" name="Google Shape;536;p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9" name="Google Shape;549;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In zebrafish, retinal axons end in ten areas called arborization fields, and AF10 is the tectum.</a:t>
            </a:r>
            <a:endParaRPr/>
          </a:p>
          <a:p>
            <a:pPr indent="0" lvl="0" marL="0" rtl="0" algn="l">
              <a:spcBef>
                <a:spcPts val="0"/>
              </a:spcBef>
              <a:spcAft>
                <a:spcPts val="0"/>
              </a:spcAft>
              <a:buNone/>
            </a:pPr>
            <a:r>
              <a:rPr lang="en-US"/>
              <a:t>  – Imaging calcium in the retinal axons showed which areas respond to prey.</a:t>
            </a:r>
            <a:endParaRPr/>
          </a:p>
          <a:p>
            <a:pPr indent="0" lvl="0" marL="0" rtl="0" algn="l">
              <a:spcBef>
                <a:spcPts val="0"/>
              </a:spcBef>
              <a:spcAft>
                <a:spcPts val="0"/>
              </a:spcAft>
              <a:buNone/>
            </a:pPr>
            <a:r>
              <a:rPr lang="en-US"/>
              <a:t>• Only AF7, in the pretectum, responded strongly to a small 2-degree dot.</a:t>
            </a:r>
            <a:endParaRPr/>
          </a:p>
          <a:p>
            <a:pPr indent="0" lvl="0" marL="0" rtl="0" algn="l">
              <a:spcBef>
                <a:spcPts val="0"/>
              </a:spcBef>
              <a:spcAft>
                <a:spcPts val="0"/>
              </a:spcAft>
              <a:buNone/>
            </a:pPr>
            <a:r>
              <a:rPr lang="en-US"/>
              <a:t>  – AF9 responded to larger dots instead, and AF7's size tuning matched the hunting behavior.</a:t>
            </a:r>
            <a:endParaRPr/>
          </a:p>
          <a:p>
            <a:pPr indent="0" lvl="0" marL="0" rtl="0" algn="l">
              <a:spcBef>
                <a:spcPts val="0"/>
              </a:spcBef>
              <a:spcAft>
                <a:spcPts val="0"/>
              </a:spcAft>
              <a:buNone/>
            </a:pPr>
            <a:r>
              <a:rPr lang="en-US"/>
              <a:t>• So fish have a pretectal channel tuned to prey-sized objects, fed by retinal cells that also send branches to the tectum.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Semmelhack JL, Donovan JC, Thiele TR, Kuehn E, Laurell E, Baier H (2014). A dedicated visual pathway for prey detection in larval zebrafish. eLife 3: e04878. https://doi.org/10.7554/eLife.04878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Semmelhack et al. (2014), Fig. 3A–G. Retinal arborization fields; AF7 responds to a 2° dot but AF9 to a 10° dot (color ΔF/F); size and speed tuning.</a:t>
            </a:r>
            <a:endParaRPr/>
          </a:p>
          <a:p>
            <a:pPr indent="0" lvl="0" marL="0" rtl="0" algn="l">
              <a:spcBef>
                <a:spcPts val="0"/>
              </a:spcBef>
              <a:spcAft>
                <a:spcPts val="0"/>
              </a:spcAft>
              <a:buNone/>
            </a:pPr>
            <a:r>
              <a:rPr lang="en-US"/>
              <a:t>Figure source: https://doi.org/10.7554/eLife.04878</a:t>
            </a:r>
            <a:endParaRPr/>
          </a:p>
        </p:txBody>
      </p:sp>
      <p:sp>
        <p:nvSpPr>
          <p:cNvPr id="550" name="Google Shape;550;p3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1" name="Google Shape;561;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Next, the AF7 axons were destroyed with a laser, and AF9 was destroyed in other fish as a control.</a:t>
            </a:r>
            <a:endParaRPr/>
          </a:p>
          <a:p>
            <a:pPr indent="0" lvl="0" marL="0" rtl="0" algn="l">
              <a:spcBef>
                <a:spcPts val="0"/>
              </a:spcBef>
              <a:spcAft>
                <a:spcPts val="0"/>
              </a:spcAft>
              <a:buNone/>
            </a:pPr>
            <a:r>
              <a:rPr lang="en-US"/>
              <a:t>  – Losing AF7 cut prey capture to about 40 percent, while losing AF9 had no effect on it.</a:t>
            </a:r>
            <a:endParaRPr/>
          </a:p>
          <a:p>
            <a:pPr indent="0" lvl="0" marL="0" rtl="0" algn="l">
              <a:spcBef>
                <a:spcPts val="0"/>
              </a:spcBef>
              <a:spcAft>
                <a:spcPts val="0"/>
              </a:spcAft>
              <a:buNone/>
            </a:pPr>
            <a:r>
              <a:rPr lang="en-US"/>
              <a:t>• The optomotor response, swimming with moving stripes, showed the reverse.</a:t>
            </a:r>
            <a:endParaRPr/>
          </a:p>
          <a:p>
            <a:pPr indent="0" lvl="0" marL="0" rtl="0" algn="l">
              <a:spcBef>
                <a:spcPts val="0"/>
              </a:spcBef>
              <a:spcAft>
                <a:spcPts val="0"/>
              </a:spcAft>
              <a:buNone/>
            </a:pPr>
            <a:r>
              <a:rPr lang="en-US"/>
              <a:t>  – It was spared after AF7 ablation and reduced after AF9 ablation.</a:t>
            </a:r>
            <a:endParaRPr/>
          </a:p>
          <a:p>
            <a:pPr indent="0" lvl="0" marL="0" rtl="0" algn="l">
              <a:spcBef>
                <a:spcPts val="0"/>
              </a:spcBef>
              <a:spcAft>
                <a:spcPts val="0"/>
              </a:spcAft>
              <a:buNone/>
            </a:pPr>
            <a:r>
              <a:rPr lang="en-US"/>
              <a:t>• So AF7 is specifically needed for hunting, and neurons reading out AF7 project to the tectum and to premotor areas.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Semmelhack JL, Donovan JC, Thiele TR, Kuehn E, Laurell E, Baier H (2014). A dedicated visual pathway for prey detection in larval zebrafish. eLife 3: e04878. https://doi.org/10.7554/eLife.04878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Semmelhack et al. (2014), Fig. 6. AF7 before and after ablation (A–B); tail traces with prey-capture bouts (C–D); prey capture and optomotor response after AF7 or AF9 ablation (E–H).</a:t>
            </a:r>
            <a:endParaRPr/>
          </a:p>
          <a:p>
            <a:pPr indent="0" lvl="0" marL="0" rtl="0" algn="l">
              <a:spcBef>
                <a:spcPts val="0"/>
              </a:spcBef>
              <a:spcAft>
                <a:spcPts val="0"/>
              </a:spcAft>
              <a:buNone/>
            </a:pPr>
            <a:r>
              <a:rPr lang="en-US"/>
              <a:t>Figure source: https://doi.org/10.7554/eLife.04878</a:t>
            </a:r>
            <a:endParaRPr/>
          </a:p>
        </p:txBody>
      </p:sp>
      <p:sp>
        <p:nvSpPr>
          <p:cNvPr id="562" name="Google Shape;562;p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3" name="Google Shape;573;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Bianco and Engert imaged thousands of tectal neurons at once while fish watched moving spots.</a:t>
            </a:r>
            <a:endParaRPr/>
          </a:p>
          <a:p>
            <a:pPr indent="0" lvl="0" marL="0" rtl="0" algn="l">
              <a:spcBef>
                <a:spcPts val="0"/>
              </a:spcBef>
              <a:spcAft>
                <a:spcPts val="0"/>
              </a:spcAft>
              <a:buNone/>
            </a:pPr>
            <a:r>
              <a:rPr lang="en-US"/>
              <a:t>  – Some neurons were tuned like the behavior, to small spots moving at hunting speeds, some in any direction and some in one direction only.</a:t>
            </a:r>
            <a:endParaRPr/>
          </a:p>
          <a:p>
            <a:pPr indent="0" lvl="0" marL="0" rtl="0" algn="l">
              <a:spcBef>
                <a:spcPts val="0"/>
              </a:spcBef>
              <a:spcAft>
                <a:spcPts val="0"/>
              </a:spcAft>
              <a:buNone/>
            </a:pPr>
            <a:r>
              <a:rPr lang="en-US"/>
              <a:t>• These cells needed the right combination of features, not just one.</a:t>
            </a:r>
            <a:endParaRPr/>
          </a:p>
          <a:p>
            <a:pPr indent="0" lvl="0" marL="0" rtl="0" algn="l">
              <a:spcBef>
                <a:spcPts val="0"/>
              </a:spcBef>
              <a:spcAft>
                <a:spcPts val="0"/>
              </a:spcAft>
              <a:buNone/>
            </a:pPr>
            <a:r>
              <a:rPr lang="en-US"/>
              <a:t>  – That is called nonlinear mixed selectivity, and it is the kind of combining Ewert inferred for T5.2 neurons.</a:t>
            </a:r>
            <a:endParaRPr/>
          </a:p>
          <a:p>
            <a:pPr indent="0" lvl="0" marL="0" rtl="0" algn="l">
              <a:spcBef>
                <a:spcPts val="0"/>
              </a:spcBef>
              <a:spcAft>
                <a:spcPts val="0"/>
              </a:spcAft>
              <a:buNone/>
            </a:pPr>
            <a:r>
              <a:rPr lang="en-US"/>
              <a:t>• Small groups of tectal neurons became active just before the fish converged its eyes, which suggests they help trigger the hunt, much like the T5.2 bursts before orienting in toads.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Bianco IH, Engert F (2015). Visuomotor transformations underlying hunting behavior in zebrafish. Current Biology 25(7): 831–846. https://doi.org/10.1016/j.cub.2015.01.042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Bianco &amp; Engert (2015), Fig. 5A. Calcium responses of tectal neurons selected by behavioral tuning regressors, grouped by direction and speed selectivity.</a:t>
            </a:r>
            <a:endParaRPr/>
          </a:p>
          <a:p>
            <a:pPr indent="0" lvl="0" marL="0" rtl="0" algn="l">
              <a:spcBef>
                <a:spcPts val="0"/>
              </a:spcBef>
              <a:spcAft>
                <a:spcPts val="0"/>
              </a:spcAft>
              <a:buNone/>
            </a:pPr>
            <a:r>
              <a:rPr lang="en-US"/>
              <a:t>Figure source: https://doi.org/10.1016/j.cub.2015.01.042</a:t>
            </a:r>
            <a:endParaRPr/>
          </a:p>
        </p:txBody>
      </p:sp>
      <p:sp>
        <p:nvSpPr>
          <p:cNvPr id="574" name="Google Shape;574;p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5" name="Google Shape;585;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Prey is first seen off to the side, which maps onto the back of the tectum, and as the fish approaches, the prey moves to the front of the visual field and looks bigger.</a:t>
            </a:r>
            <a:endParaRPr/>
          </a:p>
          <a:p>
            <a:pPr indent="0" lvl="0" marL="0" rtl="0" algn="l">
              <a:spcBef>
                <a:spcPts val="0"/>
              </a:spcBef>
              <a:spcAft>
                <a:spcPts val="0"/>
              </a:spcAft>
              <a:buNone/>
            </a:pPr>
            <a:r>
              <a:rPr lang="en-US"/>
              <a:t>  – Förster and colleagues asked whether the tectum is organized for this.</a:t>
            </a:r>
            <a:endParaRPr/>
          </a:p>
          <a:p>
            <a:pPr indent="0" lvl="0" marL="0" rtl="0" algn="l">
              <a:spcBef>
                <a:spcPts val="0"/>
              </a:spcBef>
              <a:spcAft>
                <a:spcPts val="0"/>
              </a:spcAft>
              <a:buNone/>
            </a:pPr>
            <a:r>
              <a:rPr lang="en-US"/>
              <a:t>• Cells for small dots, especially direction-selective ones, sat in the posterior tectum, while cells for larger dots sat in the anterior tectum and were often not direction-selective.</a:t>
            </a:r>
            <a:endParaRPr/>
          </a:p>
          <a:p>
            <a:pPr indent="0" lvl="0" marL="0" rtl="0" algn="l">
              <a:spcBef>
                <a:spcPts val="0"/>
              </a:spcBef>
              <a:spcAft>
                <a:spcPts val="0"/>
              </a:spcAft>
              <a:buNone/>
            </a:pPr>
            <a:r>
              <a:rPr lang="en-US"/>
              <a:t>• Killing the large-object cells impaired hunting, so the tectal map is laid out for distant prey in one place and close prey in another.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Förster D, Helmbrecht TO, Mearns DS, Jordan L, Mokayes N, Baier H (2020). Retinotectal circuitry of larval zebrafish is adapted to detection and pursuit of prey. eLife 9: e58596. https://doi.org/10.7554/eLife.58596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Förster et al. (2020), Fig. 6. Positions of 30°-dot (blue), 5°-dot (red) and direction-selective 5°-dot (yellow) cells along the tectum; their neurite traces.</a:t>
            </a:r>
            <a:endParaRPr/>
          </a:p>
          <a:p>
            <a:pPr indent="0" lvl="0" marL="0" rtl="0" algn="l">
              <a:spcBef>
                <a:spcPts val="0"/>
              </a:spcBef>
              <a:spcAft>
                <a:spcPts val="0"/>
              </a:spcAft>
              <a:buNone/>
            </a:pPr>
            <a:r>
              <a:rPr lang="en-US"/>
              <a:t>Figure source: https://doi.org/10.7554/eLife.58596</a:t>
            </a:r>
            <a:endParaRPr/>
          </a:p>
        </p:txBody>
      </p:sp>
      <p:sp>
        <p:nvSpPr>
          <p:cNvPr id="586" name="Google Shape;586;p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7" name="Google Shape;597;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Antinucci and colleagues found a small pretectal region whose neurons became active when fish started to hunt.</a:t>
            </a:r>
            <a:endParaRPr/>
          </a:p>
          <a:p>
            <a:pPr indent="0" lvl="0" marL="0" rtl="0" algn="l">
              <a:spcBef>
                <a:spcPts val="0"/>
              </a:spcBef>
              <a:spcAft>
                <a:spcPts val="0"/>
              </a:spcAft>
              <a:buNone/>
            </a:pPr>
            <a:r>
              <a:rPr lang="en-US"/>
              <a:t>  – Two classes project to the tectum or to the tegmentum.</a:t>
            </a:r>
            <a:endParaRPr/>
          </a:p>
          <a:p>
            <a:pPr indent="0" lvl="0" marL="0" rtl="0" algn="l">
              <a:spcBef>
                <a:spcPts val="0"/>
              </a:spcBef>
              <a:spcAft>
                <a:spcPts val="0"/>
              </a:spcAft>
              <a:buNone/>
            </a:pPr>
            <a:r>
              <a:rPr lang="en-US"/>
              <a:t>• Activating just one of these neurons with light was enough to start a full hunting sequence, eye convergence and J-turns, with no prey present.</a:t>
            </a:r>
            <a:endParaRPr/>
          </a:p>
          <a:p>
            <a:pPr indent="0" lvl="0" marL="0" rtl="0" algn="l">
              <a:spcBef>
                <a:spcPts val="0"/>
              </a:spcBef>
              <a:spcAft>
                <a:spcPts val="0"/>
              </a:spcAft>
              <a:buNone/>
            </a:pPr>
            <a:r>
              <a:rPr lang="en-US"/>
              <a:t>  – Removing them reduced prey-catching and blocked hunting triggered from the tectum.</a:t>
            </a:r>
            <a:endParaRPr/>
          </a:p>
          <a:p>
            <a:pPr indent="0" lvl="0" marL="0" rtl="0" algn="l">
              <a:spcBef>
                <a:spcPts val="0"/>
              </a:spcBef>
              <a:spcAft>
                <a:spcPts val="0"/>
              </a:spcAft>
              <a:buNone/>
            </a:pPr>
            <a:r>
              <a:rPr lang="en-US"/>
              <a:t>• These pretectal cells work like a command system for hunting. In toads, the pretectum mainly vetoes non-prey; in fish, part of it starts the hunt.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Antinucci P, Folgueira M, Bianco IH (2019). Pretectal neurons control hunting behaviour. eLife 8: e48114. https://doi.org/10.7554/eLife.48114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Antinucci et al. (2019), Fig. 2A–B. Brain maps of prey-responsive and hunting-initiation neuron clusters; the AF7-pretectum is outlined.</a:t>
            </a:r>
            <a:endParaRPr/>
          </a:p>
          <a:p>
            <a:pPr indent="0" lvl="0" marL="0" rtl="0" algn="l">
              <a:spcBef>
                <a:spcPts val="0"/>
              </a:spcBef>
              <a:spcAft>
                <a:spcPts val="0"/>
              </a:spcAft>
              <a:buNone/>
            </a:pPr>
            <a:r>
              <a:rPr lang="en-US"/>
              <a:t>Figure source: https://doi.org/10.7554/eLife.48114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Antinucci et al. (2019), Fig. 5A–C. Optogenetic stimulation of a single KalTA4u508 pretectal neuron (B) induces hunting with eye convergence (C).</a:t>
            </a:r>
            <a:endParaRPr/>
          </a:p>
          <a:p>
            <a:pPr indent="0" lvl="0" marL="0" rtl="0" algn="l">
              <a:spcBef>
                <a:spcPts val="0"/>
              </a:spcBef>
              <a:spcAft>
                <a:spcPts val="0"/>
              </a:spcAft>
              <a:buNone/>
            </a:pPr>
            <a:r>
              <a:rPr lang="en-US"/>
              <a:t>Figure source: https://doi.org/10.7554/eLife.48114</a:t>
            </a:r>
            <a:endParaRPr/>
          </a:p>
        </p:txBody>
      </p:sp>
      <p:sp>
        <p:nvSpPr>
          <p:cNvPr id="598" name="Google Shape;598;p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1" name="Google Shape;611;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nucleus isthmi is a cholinergic nucleus wired in loops with the tectum.</a:t>
            </a:r>
            <a:endParaRPr/>
          </a:p>
          <a:p>
            <a:pPr indent="0" lvl="0" marL="0" rtl="0" algn="l">
              <a:spcBef>
                <a:spcPts val="0"/>
              </a:spcBef>
              <a:spcAft>
                <a:spcPts val="0"/>
              </a:spcAft>
              <a:buNone/>
            </a:pPr>
            <a:r>
              <a:rPr lang="en-US"/>
              <a:t>  – One type of isthmic neuron projects to the tectum and pretectum on the same side, and another to both tectal halves.</a:t>
            </a:r>
            <a:endParaRPr/>
          </a:p>
          <a:p>
            <a:pPr indent="0" lvl="0" marL="0" rtl="0" algn="l">
              <a:spcBef>
                <a:spcPts val="0"/>
              </a:spcBef>
              <a:spcAft>
                <a:spcPts val="0"/>
              </a:spcAft>
              <a:buNone/>
            </a:pPr>
            <a:r>
              <a:rPr lang="en-US"/>
              <a:t>• Without the nucleus isthmi, fish still noticed prey and started hunting.</a:t>
            </a:r>
            <a:endParaRPr/>
          </a:p>
          <a:p>
            <a:pPr indent="0" lvl="0" marL="0" rtl="0" algn="l">
              <a:spcBef>
                <a:spcPts val="0"/>
              </a:spcBef>
              <a:spcAft>
                <a:spcPts val="0"/>
              </a:spcAft>
              <a:buNone/>
            </a:pPr>
            <a:r>
              <a:rPr lang="en-US"/>
              <a:t>  – But they gave up more often: aborted hunts went from 60 to 80 percent and captures from 36 to 16 percent.</a:t>
            </a:r>
            <a:endParaRPr/>
          </a:p>
          <a:p>
            <a:pPr indent="0" lvl="0" marL="0" rtl="0" algn="l">
              <a:spcBef>
                <a:spcPts val="0"/>
              </a:spcBef>
              <a:spcAft>
                <a:spcPts val="0"/>
              </a:spcAft>
              <a:buNone/>
            </a:pPr>
            <a:r>
              <a:rPr lang="en-US"/>
              <a:t>• So this nucleus helps keep the pursuit going once it has started, by boosting tectal and pretectal activity during the hunt.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Henriques PM, Rahman N, Jackson SE, Bianco IH (2019). Nucleus isthmi is required to sustain target pursuit during visually guided prey-catching. Current Biology 29(11): 1771–1786.e5. https://doi.org/10.1016/j.cub.2019.04.064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Henriques et al. (2019), Fig. 2. Traced type I and type II nucleus isthmi projection neurons and their targets in tectum and pretectum (AF7).</a:t>
            </a:r>
            <a:endParaRPr/>
          </a:p>
          <a:p>
            <a:pPr indent="0" lvl="0" marL="0" rtl="0" algn="l">
              <a:spcBef>
                <a:spcPts val="0"/>
              </a:spcBef>
              <a:spcAft>
                <a:spcPts val="0"/>
              </a:spcAft>
              <a:buNone/>
            </a:pPr>
            <a:r>
              <a:rPr lang="en-US"/>
              <a:t>Figure source: https://doi.org/10.1016/j.cub.2019.04.064</a:t>
            </a:r>
            <a:endParaRPr/>
          </a:p>
        </p:txBody>
      </p:sp>
      <p:sp>
        <p:nvSpPr>
          <p:cNvPr id="612" name="Google Shape;612;p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3" name="Google Shape;623;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Muto and colleagues watched the hypothalamic feeding center, the inferior lobe, in swimming larvae.</a:t>
            </a:r>
            <a:endParaRPr/>
          </a:p>
          <a:p>
            <a:pPr indent="0" lvl="0" marL="0" rtl="0" algn="l">
              <a:spcBef>
                <a:spcPts val="0"/>
              </a:spcBef>
              <a:spcAft>
                <a:spcPts val="0"/>
              </a:spcAft>
              <a:buNone/>
            </a:pPr>
            <a:r>
              <a:rPr lang="en-US"/>
              <a:t>  – It switched on when the larva converged its eyes on prey and rose further after the catch.</a:t>
            </a:r>
            <a:endParaRPr/>
          </a:p>
          <a:p>
            <a:pPr indent="0" lvl="0" marL="0" rtl="0" algn="l">
              <a:spcBef>
                <a:spcPts val="0"/>
              </a:spcBef>
              <a:spcAft>
                <a:spcPts val="0"/>
              </a:spcAft>
              <a:buNone/>
            </a:pPr>
            <a:r>
              <a:rPr lang="en-US"/>
              <a:t>• Pretectal neurons responded to paramecia and to virtual spots of prey size and speed.</a:t>
            </a:r>
            <a:endParaRPr/>
          </a:p>
          <a:p>
            <a:pPr indent="0" lvl="0" marL="0" rtl="0" algn="l">
              <a:spcBef>
                <a:spcPts val="0"/>
              </a:spcBef>
              <a:spcAft>
                <a:spcPts val="0"/>
              </a:spcAft>
              <a:buNone/>
            </a:pPr>
            <a:r>
              <a:rPr lang="en-US"/>
              <a:t>  – Single pretectal neurons sent axons to the feeding center, and their activity was correlated with it.</a:t>
            </a:r>
            <a:endParaRPr/>
          </a:p>
          <a:p>
            <a:pPr indent="0" lvl="0" marL="0" rtl="0" algn="l">
              <a:spcBef>
                <a:spcPts val="0"/>
              </a:spcBef>
              <a:spcAft>
                <a:spcPts val="0"/>
              </a:spcAft>
              <a:buNone/>
            </a:pPr>
            <a:r>
              <a:rPr lang="en-US"/>
              <a:t>• Removing the pretectum abolished prey capture. The authors proposed that this pathway turns seeing prey into the motivation to feed, the same kind of motivational state that in toads controls how strongly T5.2 neurons respond.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Muto A, Lal P, Ailani D, Abe G, Itoh M, Kawakami K (2017). Activation of the hypothalamic feeding centre upon visual prey detection. Nature Communications 8: 15029. https://doi.org/10.1038/ncomms15029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Muto et al. (2017), Fig. 2a–h. Pretectal (PT) calcium responses to paramecia during hunting; tuning to spot diameter (g) and speed (h).</a:t>
            </a:r>
            <a:endParaRPr/>
          </a:p>
          <a:p>
            <a:pPr indent="0" lvl="0" marL="0" rtl="0" algn="l">
              <a:spcBef>
                <a:spcPts val="0"/>
              </a:spcBef>
              <a:spcAft>
                <a:spcPts val="0"/>
              </a:spcAft>
              <a:buNone/>
            </a:pPr>
            <a:r>
              <a:rPr lang="en-US"/>
              <a:t>Figure source: https://doi.org/10.1038/ncomms15029</a:t>
            </a:r>
            <a:endParaRPr/>
          </a:p>
        </p:txBody>
      </p:sp>
      <p:sp>
        <p:nvSpPr>
          <p:cNvPr id="624" name="Google Shape;624;p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5" name="Google Shape;635;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Ewert JP, Borchers HW, von Wietersheim A (1978). Question of prey feature detectors in the toad's Bufo bufo (L.) visual system: a correlation analysis. Journal of Comparative Physiology 126: 43–47. https://doi.org/10.1007/BF01342649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Ewert JP, Arend B, Becker V, Borchers HW (1979). Invariants in configurational prey selection by Bufo bufo (L.). Brain, Behavior and Evolution 16: 38–51. https://doi.org/10.1159/000121822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Schürg-Pfeiffer E, Ewert JP (1981). Investigation of neurons involved in the analysis of gestalt prey features in the frog Rana temporaria. Journal of Comparative Physiology 141: 139–152. https://doi.org/10.1007/BF01342660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Keeffe R, Blob R, Blackburn D, Mayerl C (2022). XROMM analysis of feeding mechanics in toads: interactions of the tongue, hyoid, and pectoral girdle. Integrative Organismal Biology 4(1): obac045. https://doi.org/10.1093/iob/obac045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Yovanovich CAM, Koskela SM, Nevala N, Kondrashev SL, Kelber A, Donner K (2017). The dual rod system of amphibians supports colour discrimination at the absolute visual threshold. Philosophical Transactions of the Royal Society B 372: 20160066. https://doi.org/10.1098/rstb.2016.0066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Flaive A, Ryczko D (2022). From retina to motoneurons: a substrate for visuomotor transformation in salamanders. Journal of Comparative Neurology 530(14): 2518–2536. https://doi.org/10.1002/cne.25348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Bianco IH, Kampff AR, Engert F (2011). Prey capture behavior evoked by simple visual stimuli in larval zebrafish. Frontiers in Systems Neuroscience 5: 101. https://doi.org/10.3389/fnsys.2011.00101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Semmelhack JL, Donovan JC, Thiele TR, Kuehn E, Laurell E, Baier H (2014). A dedicated visual pathway for prey detection in larval zebrafish. eLife 3: e04878. https://doi.org/10.7554/eLife.04878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Bianco IH, Engert F (2015). Visuomotor transformations underlying hunting behavior in zebrafish. Current Biology 25(7): 831–846. https://doi.org/10.1016/j.cub.2015.01.042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Förster D, Helmbrecht TO, Mearns DS, Jordan L, Mokayes N, Baier H (2020). Retinotectal circuitry of larval zebrafish is adapted to detection and pursuit of prey. eLife 9: e58596. https://doi.org/10.7554/eLife.58596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Antinucci P, Folgueira M, Bianco IH (2019). Pretectal neurons control hunting behaviour. eLife 8: e48114. https://doi.org/10.7554/eLife.48114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Henriques PM, Rahman N, Jackson SE, Bianco IH (2019). Nucleus isthmi is required to sustain target pursuit during visually guided prey-catching. Current Biology 29(11): 1771–1786.e5. https://doi.org/10.1016/j.cub.2019.04.064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Muto A, Lal P, Ailani D, Abe G, Itoh M, Kawakami K (2017). Activation of the hypothalamic feeding centre upon visual prey detection. Nature Communications 8: 15029. https://doi.org/10.1038/ncomms15029</a:t>
            </a:r>
            <a:endParaRPr/>
          </a:p>
        </p:txBody>
      </p:sp>
      <p:sp>
        <p:nvSpPr>
          <p:cNvPr id="636" name="Google Shape;636;p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6"/>
          <p:cNvSpPr/>
          <p:nvPr>
            <p:ph idx="2" type="pic"/>
          </p:nvPr>
        </p:nvSpPr>
        <p:spPr>
          <a:xfrm>
            <a:off x="1792288" y="612775"/>
            <a:ext cx="5486400" cy="4114800"/>
          </a:xfrm>
          <a:prstGeom prst="rect">
            <a:avLst/>
          </a:prstGeom>
          <a:noFill/>
          <a:ln>
            <a:noFill/>
          </a:ln>
        </p:spPr>
      </p:sp>
      <p:sp>
        <p:nvSpPr>
          <p:cNvPr id="64" name="Google Shape;64;p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8.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3.png"/><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0.png"/><Relationship Id="rId4" Type="http://schemas.openxmlformats.org/officeDocument/2006/relationships/image" Target="../media/image4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2.png"/><Relationship Id="rId4" Type="http://schemas.openxmlformats.org/officeDocument/2006/relationships/image" Target="../media/image4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5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51.png"/><Relationship Id="rId4" Type="http://schemas.openxmlformats.org/officeDocument/2006/relationships/image" Target="../media/image4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
          <p:cNvSpPr/>
          <p:nvPr/>
        </p:nvSpPr>
        <p:spPr>
          <a:xfrm>
            <a:off x="0" y="0"/>
            <a:ext cx="6095847" cy="6858000"/>
          </a:xfrm>
          <a:prstGeom prst="rect">
            <a:avLst/>
          </a:prstGeom>
          <a:solidFill>
            <a:srgbClr val="102A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txBox="1"/>
          <p:nvPr/>
        </p:nvSpPr>
        <p:spPr>
          <a:xfrm>
            <a:off x="685800" y="822960"/>
            <a:ext cx="4724247" cy="32004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B8C7DB"/>
                </a:solidFill>
                <a:latin typeface="Arial"/>
                <a:ea typeface="Arial"/>
                <a:cs typeface="Arial"/>
                <a:sym typeface="Arial"/>
              </a:rPr>
              <a:t>NEUR 411 · NEUROETHOLOGY · FALL 2026</a:t>
            </a:r>
            <a:endParaRPr/>
          </a:p>
        </p:txBody>
      </p:sp>
      <p:sp>
        <p:nvSpPr>
          <p:cNvPr id="87" name="Google Shape;87;p1"/>
          <p:cNvSpPr txBox="1"/>
          <p:nvPr/>
        </p:nvSpPr>
        <p:spPr>
          <a:xfrm>
            <a:off x="685800" y="1783080"/>
            <a:ext cx="4724247" cy="4114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B8C7DB"/>
                </a:solidFill>
                <a:latin typeface="Arial"/>
                <a:ea typeface="Arial"/>
                <a:cs typeface="Arial"/>
                <a:sym typeface="Arial"/>
              </a:rPr>
              <a:t>Lecture 9</a:t>
            </a:r>
            <a:endParaRPr/>
          </a:p>
        </p:txBody>
      </p:sp>
      <p:sp>
        <p:nvSpPr>
          <p:cNvPr id="88" name="Google Shape;88;p1"/>
          <p:cNvSpPr txBox="1"/>
          <p:nvPr/>
        </p:nvSpPr>
        <p:spPr>
          <a:xfrm>
            <a:off x="685800" y="2331720"/>
            <a:ext cx="4724247" cy="192024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2700" u="none" cap="none" strike="noStrike">
                <a:solidFill>
                  <a:srgbClr val="FFFFFF"/>
                </a:solidFill>
                <a:latin typeface="Arial"/>
                <a:ea typeface="Arial"/>
                <a:cs typeface="Arial"/>
                <a:sym typeface="Arial"/>
              </a:rPr>
              <a:t>Amphibian prey capture I:</a:t>
            </a:r>
            <a:endParaRPr/>
          </a:p>
          <a:p>
            <a:pPr indent="0" lvl="0" marL="0" marR="0" rtl="0" algn="l">
              <a:lnSpc>
                <a:spcPct val="108000"/>
              </a:lnSpc>
              <a:spcBef>
                <a:spcPts val="0"/>
              </a:spcBef>
              <a:spcAft>
                <a:spcPts val="0"/>
              </a:spcAft>
              <a:buNone/>
            </a:pPr>
            <a:r>
              <a:rPr b="1" i="0" lang="en-US" sz="2700" u="none" cap="none" strike="noStrike">
                <a:solidFill>
                  <a:srgbClr val="FFFFFF"/>
                </a:solidFill>
                <a:latin typeface="Arial"/>
                <a:ea typeface="Arial"/>
                <a:cs typeface="Arial"/>
                <a:sym typeface="Arial"/>
              </a:rPr>
              <a:t>toad visual prey-catching and tectal feature detectors (Ewert)</a:t>
            </a:r>
            <a:endParaRPr/>
          </a:p>
        </p:txBody>
      </p:sp>
      <p:sp>
        <p:nvSpPr>
          <p:cNvPr id="89" name="Google Shape;89;p1"/>
          <p:cNvSpPr txBox="1"/>
          <p:nvPr/>
        </p:nvSpPr>
        <p:spPr>
          <a:xfrm>
            <a:off x="685800" y="4749622"/>
            <a:ext cx="4724247" cy="3657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B8C7DB"/>
                </a:solidFill>
                <a:latin typeface="Arial"/>
                <a:ea typeface="Arial"/>
                <a:cs typeface="Arial"/>
                <a:sym typeface="Arial"/>
              </a:rPr>
              <a:t>Monday, September 14, 2026</a:t>
            </a:r>
            <a:endParaRPr/>
          </a:p>
        </p:txBody>
      </p:sp>
      <p:sp>
        <p:nvSpPr>
          <p:cNvPr id="90" name="Google Shape;90;p1"/>
          <p:cNvSpPr txBox="1"/>
          <p:nvPr/>
        </p:nvSpPr>
        <p:spPr>
          <a:xfrm>
            <a:off x="685800" y="5435422"/>
            <a:ext cx="4724247" cy="6400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B8C7DB"/>
                </a:solidFill>
                <a:latin typeface="Arial"/>
                <a:ea typeface="Arial"/>
                <a:cs typeface="Arial"/>
                <a:sym typeface="Arial"/>
              </a:rPr>
              <a:t>Jordan Lopez, Ph.D.</a:t>
            </a:r>
            <a:endParaRPr/>
          </a:p>
          <a:p>
            <a:pPr indent="0" lvl="0" marL="0" marR="0" rtl="0" algn="l">
              <a:lnSpc>
                <a:spcPct val="108000"/>
              </a:lnSpc>
              <a:spcBef>
                <a:spcPts val="200"/>
              </a:spcBef>
              <a:spcAft>
                <a:spcPts val="0"/>
              </a:spcAft>
              <a:buNone/>
            </a:pPr>
            <a:r>
              <a:rPr b="0" i="0" lang="en-US" sz="1200" u="none" cap="none" strike="noStrike">
                <a:solidFill>
                  <a:srgbClr val="B8C7DB"/>
                </a:solidFill>
                <a:latin typeface="Arial"/>
                <a:ea typeface="Arial"/>
                <a:cs typeface="Arial"/>
                <a:sym typeface="Arial"/>
              </a:rPr>
              <a:t>Professor of Neurobiology &amp; Biomedical Engineering</a:t>
            </a:r>
            <a:endParaRPr/>
          </a:p>
        </p:txBody>
      </p:sp>
      <p:pic>
        <p:nvPicPr>
          <p:cNvPr descr="title_toad.jpg" id="91" name="Google Shape;91;p1"/>
          <p:cNvPicPr preferRelativeResize="0"/>
          <p:nvPr/>
        </p:nvPicPr>
        <p:blipFill rotWithShape="1">
          <a:blip r:embed="rId3">
            <a:alphaModFix/>
          </a:blip>
          <a:srcRect b="0" l="0" r="0" t="0"/>
          <a:stretch/>
        </p:blipFill>
        <p:spPr>
          <a:xfrm>
            <a:off x="6553047" y="822960"/>
            <a:ext cx="5181446" cy="3886085"/>
          </a:xfrm>
          <a:prstGeom prst="rect">
            <a:avLst/>
          </a:prstGeom>
          <a:noFill/>
          <a:ln>
            <a:noFill/>
          </a:ln>
        </p:spPr>
      </p:pic>
      <p:sp>
        <p:nvSpPr>
          <p:cNvPr id="92" name="Google Shape;92;p1"/>
          <p:cNvSpPr txBox="1"/>
          <p:nvPr/>
        </p:nvSpPr>
        <p:spPr>
          <a:xfrm>
            <a:off x="6553047" y="5943600"/>
            <a:ext cx="5181447"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Photo: Common toad (Bufo bufo), the species used in Ewert's prey-catching studies.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Common toads catch prey in a fixed sequence of acts</a:t>
            </a:r>
            <a:endParaRPr/>
          </a:p>
        </p:txBody>
      </p:sp>
      <p:sp>
        <p:nvSpPr>
          <p:cNvPr id="99" name="Google Shape;99;p2"/>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1F2530"/>
                </a:solidFill>
                <a:latin typeface="Arial"/>
                <a:ea typeface="Arial"/>
                <a:cs typeface="Arial"/>
                <a:sym typeface="Arial"/>
              </a:rPr>
              <a:t>The common toad, </a:t>
            </a:r>
            <a:r>
              <a:rPr b="0" i="1" lang="en-US" sz="1700" u="none" cap="none" strike="noStrike">
                <a:solidFill>
                  <a:srgbClr val="1F2530"/>
                </a:solidFill>
                <a:latin typeface="Arial"/>
                <a:ea typeface="Arial"/>
                <a:cs typeface="Arial"/>
                <a:sym typeface="Arial"/>
              </a:rPr>
              <a:t>Bufo bufo</a:t>
            </a:r>
            <a:r>
              <a:rPr b="0" i="0" lang="en-US" sz="1700" u="none" cap="none" strike="noStrike">
                <a:solidFill>
                  <a:srgbClr val="1F2530"/>
                </a:solidFill>
                <a:latin typeface="Arial"/>
                <a:ea typeface="Arial"/>
                <a:cs typeface="Arial"/>
                <a:sym typeface="Arial"/>
              </a:rPr>
              <a:t>, is an active forager. </a:t>
            </a:r>
            <a:r>
              <a:rPr b="1" i="0" lang="en-US" sz="1700" u="none" cap="none" strike="noStrike">
                <a:solidFill>
                  <a:srgbClr val="1D4E89"/>
                </a:solidFill>
                <a:latin typeface="Arial"/>
                <a:ea typeface="Arial"/>
                <a:cs typeface="Arial"/>
                <a:sym typeface="Arial"/>
              </a:rPr>
              <a:t>Prey-catching</a:t>
            </a:r>
            <a:r>
              <a:rPr b="0" i="0" lang="en-US" sz="1700" u="none" cap="none" strike="noStrike">
                <a:solidFill>
                  <a:srgbClr val="1F2530"/>
                </a:solidFill>
                <a:latin typeface="Arial"/>
                <a:ea typeface="Arial"/>
                <a:cs typeface="Arial"/>
                <a:sym typeface="Arial"/>
              </a:rPr>
              <a:t> proceeds as a sequence of acts: the toad </a:t>
            </a:r>
            <a:r>
              <a:rPr b="1" i="0" lang="en-US" sz="1700" u="none" cap="none" strike="noStrike">
                <a:solidFill>
                  <a:srgbClr val="1D4E89"/>
                </a:solidFill>
                <a:latin typeface="Arial"/>
                <a:ea typeface="Arial"/>
                <a:cs typeface="Arial"/>
                <a:sym typeface="Arial"/>
              </a:rPr>
              <a:t>orients</a:t>
            </a:r>
            <a:r>
              <a:rPr b="0" i="0" lang="en-US" sz="1700" u="none" cap="none" strike="noStrike">
                <a:solidFill>
                  <a:srgbClr val="1F2530"/>
                </a:solidFill>
                <a:latin typeface="Arial"/>
                <a:ea typeface="Arial"/>
                <a:cs typeface="Arial"/>
                <a:sym typeface="Arial"/>
              </a:rPr>
              <a:t> (turns its head and body toward the object), </a:t>
            </a:r>
            <a:r>
              <a:rPr b="1" i="0" lang="en-US" sz="1700" u="none" cap="none" strike="noStrike">
                <a:solidFill>
                  <a:srgbClr val="1D4E89"/>
                </a:solidFill>
                <a:latin typeface="Arial"/>
                <a:ea typeface="Arial"/>
                <a:cs typeface="Arial"/>
                <a:sym typeface="Arial"/>
              </a:rPr>
              <a:t>approaches</a:t>
            </a:r>
            <a:r>
              <a:rPr b="0" i="0" lang="en-US" sz="1700" u="none" cap="none" strike="noStrike">
                <a:solidFill>
                  <a:srgbClr val="1F2530"/>
                </a:solidFill>
                <a:latin typeface="Arial"/>
                <a:ea typeface="Arial"/>
                <a:cs typeface="Arial"/>
                <a:sym typeface="Arial"/>
              </a:rPr>
              <a:t> it, </a:t>
            </a:r>
            <a:r>
              <a:rPr b="1" i="0" lang="en-US" sz="1700" u="none" cap="none" strike="noStrike">
                <a:solidFill>
                  <a:srgbClr val="1D4E89"/>
                </a:solidFill>
                <a:latin typeface="Arial"/>
                <a:ea typeface="Arial"/>
                <a:cs typeface="Arial"/>
                <a:sym typeface="Arial"/>
              </a:rPr>
              <a:t>fixates</a:t>
            </a:r>
            <a:r>
              <a:rPr b="0" i="0" lang="en-US" sz="1700" u="none" cap="none" strike="noStrike">
                <a:solidFill>
                  <a:srgbClr val="1F2530"/>
                </a:solidFill>
                <a:latin typeface="Arial"/>
                <a:ea typeface="Arial"/>
                <a:cs typeface="Arial"/>
                <a:sym typeface="Arial"/>
              </a:rPr>
              <a:t> it binocularly and finally </a:t>
            </a:r>
            <a:r>
              <a:rPr b="1" i="0" lang="en-US" sz="1700" u="none" cap="none" strike="noStrike">
                <a:solidFill>
                  <a:srgbClr val="1D4E89"/>
                </a:solidFill>
                <a:latin typeface="Arial"/>
                <a:ea typeface="Arial"/>
                <a:cs typeface="Arial"/>
                <a:sym typeface="Arial"/>
              </a:rPr>
              <a:t>snaps</a:t>
            </a:r>
            <a:r>
              <a:rPr b="0" i="0" lang="en-US" sz="1700" u="none" cap="none" strike="noStrike">
                <a:solidFill>
                  <a:srgbClr val="1F2530"/>
                </a:solidFill>
                <a:latin typeface="Arial"/>
                <a:ea typeface="Arial"/>
                <a:cs typeface="Arial"/>
                <a:sym typeface="Arial"/>
              </a:rPr>
              <a:t>, flipping out its sticky tongue. Each act is ballistic, but the chain depends on where the prey moves.</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Ewert's laboratory measured the first act under controlled conditions. A toad sat in a glass vessel while a small cardboard object was driven past a window at a fixed distance of about 7 cm, and an observer counted the toad's turning responses.</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Frogs such as </a:t>
            </a:r>
            <a:r>
              <a:rPr b="0" i="1" lang="en-US" sz="1700" u="none" cap="none" strike="noStrike">
                <a:solidFill>
                  <a:srgbClr val="1F2530"/>
                </a:solidFill>
                <a:latin typeface="Arial"/>
                <a:ea typeface="Arial"/>
                <a:cs typeface="Arial"/>
                <a:sym typeface="Arial"/>
              </a:rPr>
              <a:t>Rana esculenta</a:t>
            </a:r>
            <a:r>
              <a:rPr b="0" i="0" lang="en-US" sz="1700" u="none" cap="none" strike="noStrike">
                <a:solidFill>
                  <a:srgbClr val="1F2530"/>
                </a:solidFill>
                <a:latin typeface="Arial"/>
                <a:ea typeface="Arial"/>
                <a:cs typeface="Arial"/>
                <a:sym typeface="Arial"/>
              </a:rPr>
              <a:t> hunt differently, as sit-and-wait predators that often orient and snap in one smooth event and accept non-prey items more readily.</a:t>
            </a:r>
            <a:endParaRPr/>
          </a:p>
        </p:txBody>
      </p:sp>
      <p:pic>
        <p:nvPicPr>
          <p:cNvPr descr="e79_f1.png" id="100" name="Google Shape;100;p2"/>
          <p:cNvPicPr preferRelativeResize="0"/>
          <p:nvPr/>
        </p:nvPicPr>
        <p:blipFill rotWithShape="1">
          <a:blip r:embed="rId3">
            <a:alphaModFix/>
          </a:blip>
          <a:srcRect b="0" l="0" r="0" t="0"/>
          <a:stretch/>
        </p:blipFill>
        <p:spPr>
          <a:xfrm>
            <a:off x="6926563" y="1280160"/>
            <a:ext cx="4275767" cy="4297679"/>
          </a:xfrm>
          <a:prstGeom prst="rect">
            <a:avLst/>
          </a:prstGeom>
          <a:noFill/>
          <a:ln>
            <a:noFill/>
          </a:ln>
        </p:spPr>
      </p:pic>
      <p:sp>
        <p:nvSpPr>
          <p:cNvPr id="101" name="Google Shape;101;p2"/>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(1979), Fig. 1. Apparatus: a toad (t) in a glass vessel watches a stimulus (s) moved past a window; photos A–C show turning toward it.</a:t>
            </a:r>
            <a:endParaRPr/>
          </a:p>
        </p:txBody>
      </p:sp>
      <p:sp>
        <p:nvSpPr>
          <p:cNvPr id="102" name="Google Shape;102;p2"/>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 Ewert et al. (1979)</a:t>
            </a:r>
            <a:endParaRPr/>
          </a:p>
        </p:txBody>
      </p:sp>
      <p:sp>
        <p:nvSpPr>
          <p:cNvPr id="104" name="Google Shape;104;p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Turning toward a circling dummy measures prey value</a:t>
            </a:r>
            <a:endParaRPr/>
          </a:p>
        </p:txBody>
      </p:sp>
      <p:sp>
        <p:nvSpPr>
          <p:cNvPr id="111" name="Google Shape;111;p3"/>
          <p:cNvSpPr txBox="1"/>
          <p:nvPr/>
        </p:nvSpPr>
        <p:spPr>
          <a:xfrm>
            <a:off x="566928" y="1234440"/>
            <a:ext cx="64858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In the standard </a:t>
            </a:r>
            <a:r>
              <a:rPr b="1" i="0" lang="en-US" sz="1800" u="none" cap="none" strike="noStrike">
                <a:solidFill>
                  <a:srgbClr val="1D4E89"/>
                </a:solidFill>
                <a:latin typeface="Arial"/>
                <a:ea typeface="Arial"/>
                <a:cs typeface="Arial"/>
                <a:sym typeface="Arial"/>
              </a:rPr>
              <a:t>dummy test</a:t>
            </a:r>
            <a:r>
              <a:rPr b="0" i="0" lang="en-US" sz="1800" u="none" cap="none" strike="noStrike">
                <a:solidFill>
                  <a:srgbClr val="1F2530"/>
                </a:solidFill>
                <a:latin typeface="Arial"/>
                <a:ea typeface="Arial"/>
                <a:cs typeface="Arial"/>
                <a:sym typeface="Arial"/>
              </a:rPr>
              <a:t>, the toad sits in a glass vessel at the center of a cylindrical arena. A black cardboard object, the </a:t>
            </a:r>
            <a:r>
              <a:rPr b="1" i="0" lang="en-US" sz="1800" u="none" cap="none" strike="noStrike">
                <a:solidFill>
                  <a:srgbClr val="1D4E89"/>
                </a:solidFill>
                <a:latin typeface="Arial"/>
                <a:ea typeface="Arial"/>
                <a:cs typeface="Arial"/>
                <a:sym typeface="Arial"/>
              </a:rPr>
              <a:t>dummy</a:t>
            </a:r>
            <a:r>
              <a:rPr b="0" i="0" lang="en-US" sz="1800" u="none" cap="none" strike="noStrike">
                <a:solidFill>
                  <a:srgbClr val="1F2530"/>
                </a:solidFill>
                <a:latin typeface="Arial"/>
                <a:ea typeface="Arial"/>
                <a:cs typeface="Arial"/>
                <a:sym typeface="Arial"/>
              </a:rPr>
              <a:t>, is moved around the vessel at constant angular velocity by a motor-driven holder.</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Each time the object passes, a hungry toad turns to follow it. The number of </a:t>
            </a:r>
            <a:r>
              <a:rPr b="1" i="0" lang="en-US" sz="1800" u="none" cap="none" strike="noStrike">
                <a:solidFill>
                  <a:srgbClr val="1D4E89"/>
                </a:solidFill>
                <a:latin typeface="Arial"/>
                <a:ea typeface="Arial"/>
                <a:cs typeface="Arial"/>
                <a:sym typeface="Arial"/>
              </a:rPr>
              <a:t>orienting turns</a:t>
            </a:r>
            <a:r>
              <a:rPr b="0" i="0" lang="en-US" sz="1800" u="none" cap="none" strike="noStrike">
                <a:solidFill>
                  <a:srgbClr val="1F2530"/>
                </a:solidFill>
                <a:latin typeface="Arial"/>
                <a:ea typeface="Arial"/>
                <a:cs typeface="Arial"/>
                <a:sym typeface="Arial"/>
              </a:rPr>
              <a:t> per 30 s is the measure of how strongly the stimulus releases prey-catching.</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Because the object's shape, size, contrast and speed are fully controlled, the dummy test turns a natural behavior into a quantitative stimulus–response relationship. Real prey have other features too; the advantage of the paradigm is that the same measure can be compared with neuronal responses, with lesion effects and with changes produced by learning.</a:t>
            </a:r>
            <a:endParaRPr/>
          </a:p>
        </p:txBody>
      </p:sp>
      <p:pic>
        <p:nvPicPr>
          <p:cNvPr descr="e01_f2a.png" id="112" name="Google Shape;112;p3"/>
          <p:cNvPicPr preferRelativeResize="0"/>
          <p:nvPr/>
        </p:nvPicPr>
        <p:blipFill rotWithShape="1">
          <a:blip r:embed="rId3">
            <a:alphaModFix/>
          </a:blip>
          <a:srcRect b="0" l="0" r="0" t="0"/>
          <a:stretch/>
        </p:blipFill>
        <p:spPr>
          <a:xfrm>
            <a:off x="7696713" y="1280160"/>
            <a:ext cx="3649867" cy="4297679"/>
          </a:xfrm>
          <a:prstGeom prst="rect">
            <a:avLst/>
          </a:prstGeom>
          <a:noFill/>
          <a:ln>
            <a:noFill/>
          </a:ln>
        </p:spPr>
      </p:pic>
      <p:sp>
        <p:nvSpPr>
          <p:cNvPr id="113" name="Google Shape;113;p3"/>
          <p:cNvSpPr txBox="1"/>
          <p:nvPr/>
        </p:nvSpPr>
        <p:spPr>
          <a:xfrm>
            <a:off x="7418527" y="5669279"/>
            <a:ext cx="42062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2A. Arena for the dummy test: the toad in a glass vessel (GV) and the stimulus object (SO) driven around it by a motor (MD).</a:t>
            </a:r>
            <a:endParaRPr/>
          </a:p>
        </p:txBody>
      </p:sp>
      <p:sp>
        <p:nvSpPr>
          <p:cNvPr id="114" name="Google Shape;114;p3"/>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a:t>
            </a:r>
            <a:endParaRPr/>
          </a:p>
        </p:txBody>
      </p:sp>
      <p:sp>
        <p:nvSpPr>
          <p:cNvPr id="116" name="Google Shape;116;p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A worm is long along its direction of motion</a:t>
            </a:r>
            <a:endParaRPr/>
          </a:p>
        </p:txBody>
      </p:sp>
      <p:sp>
        <p:nvSpPr>
          <p:cNvPr id="123" name="Google Shape;123;p4"/>
          <p:cNvSpPr txBox="1"/>
          <p:nvPr/>
        </p:nvSpPr>
        <p:spPr>
          <a:xfrm>
            <a:off x="566928" y="1234440"/>
            <a:ext cx="64858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Ewert varied two dimensions of a black rectangle. </a:t>
            </a:r>
            <a:r>
              <a:rPr b="1" i="0" lang="en-US" sz="1800" u="none" cap="none" strike="noStrike">
                <a:solidFill>
                  <a:srgbClr val="1D4E89"/>
                </a:solidFill>
                <a:latin typeface="Arial"/>
                <a:ea typeface="Arial"/>
                <a:cs typeface="Arial"/>
                <a:sym typeface="Arial"/>
              </a:rPr>
              <a:t>ep</a:t>
            </a:r>
            <a:r>
              <a:rPr b="0" i="0" lang="en-US" sz="1800" u="none" cap="none" strike="noStrike">
                <a:solidFill>
                  <a:srgbClr val="1F2530"/>
                </a:solidFill>
                <a:latin typeface="Arial"/>
                <a:ea typeface="Arial"/>
                <a:cs typeface="Arial"/>
                <a:sym typeface="Arial"/>
              </a:rPr>
              <a:t> is its edge length </a:t>
            </a:r>
            <a:r>
              <a:rPr b="1" i="0" lang="en-US" sz="1800" u="none" cap="none" strike="noStrike">
                <a:solidFill>
                  <a:srgbClr val="1D4E89"/>
                </a:solidFill>
                <a:latin typeface="Arial"/>
                <a:ea typeface="Arial"/>
                <a:cs typeface="Arial"/>
                <a:sym typeface="Arial"/>
              </a:rPr>
              <a:t>parallel</a:t>
            </a:r>
            <a:r>
              <a:rPr b="0" i="0" lang="en-US" sz="1800" u="none" cap="none" strike="noStrike">
                <a:solidFill>
                  <a:srgbClr val="1F2530"/>
                </a:solidFill>
                <a:latin typeface="Arial"/>
                <a:ea typeface="Arial"/>
                <a:cs typeface="Arial"/>
                <a:sym typeface="Arial"/>
              </a:rPr>
              <a:t> to the direction of movement and </a:t>
            </a:r>
            <a:r>
              <a:rPr b="1" i="0" lang="en-US" sz="1800" u="none" cap="none" strike="noStrike">
                <a:solidFill>
                  <a:srgbClr val="1D4E89"/>
                </a:solidFill>
                <a:latin typeface="Arial"/>
                <a:ea typeface="Arial"/>
                <a:cs typeface="Arial"/>
                <a:sym typeface="Arial"/>
              </a:rPr>
              <a:t>ea</a:t>
            </a:r>
            <a:r>
              <a:rPr b="0" i="0" lang="en-US" sz="1800" u="none" cap="none" strike="noStrike">
                <a:solidFill>
                  <a:srgbClr val="1F2530"/>
                </a:solidFill>
                <a:latin typeface="Arial"/>
                <a:ea typeface="Arial"/>
                <a:cs typeface="Arial"/>
                <a:sym typeface="Arial"/>
              </a:rPr>
              <a:t> its edge length </a:t>
            </a:r>
            <a:r>
              <a:rPr b="1" i="0" lang="en-US" sz="1800" u="none" cap="none" strike="noStrike">
                <a:solidFill>
                  <a:srgbClr val="1D4E89"/>
                </a:solidFill>
                <a:latin typeface="Arial"/>
                <a:ea typeface="Arial"/>
                <a:cs typeface="Arial"/>
                <a:sym typeface="Arial"/>
              </a:rPr>
              <a:t>across</a:t>
            </a:r>
            <a:r>
              <a:rPr b="0" i="0" lang="en-US" sz="1800" u="none" cap="none" strike="noStrike">
                <a:solidFill>
                  <a:srgbClr val="1F2530"/>
                </a:solidFill>
                <a:latin typeface="Arial"/>
                <a:ea typeface="Arial"/>
                <a:cs typeface="Arial"/>
                <a:sym typeface="Arial"/>
              </a:rPr>
              <a:t> the direction of movement.</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Lengthening a 2.5-mm bar along ep, which produces a </a:t>
            </a:r>
            <a:r>
              <a:rPr b="1" i="0" lang="en-US" sz="1800" u="none" cap="none" strike="noStrike">
                <a:solidFill>
                  <a:srgbClr val="1D4E89"/>
                </a:solidFill>
                <a:latin typeface="Arial"/>
                <a:ea typeface="Arial"/>
                <a:cs typeface="Arial"/>
                <a:sym typeface="Arial"/>
              </a:rPr>
              <a:t>worm-like</a:t>
            </a:r>
            <a:r>
              <a:rPr b="0" i="0" lang="en-US" sz="1800" u="none" cap="none" strike="noStrike">
                <a:solidFill>
                  <a:srgbClr val="1F2530"/>
                </a:solidFill>
                <a:latin typeface="Arial"/>
                <a:ea typeface="Arial"/>
                <a:cs typeface="Arial"/>
                <a:sym typeface="Arial"/>
              </a:rPr>
              <a:t> stripe, increased the turning rate steeply, to about 40 turns per 30 s at 20–40 mm. Lengthening the same bar along ea, an </a:t>
            </a:r>
            <a:r>
              <a:rPr b="1" i="0" lang="en-US" sz="1800" u="none" cap="none" strike="noStrike">
                <a:solidFill>
                  <a:srgbClr val="1D4E89"/>
                </a:solidFill>
                <a:latin typeface="Arial"/>
                <a:ea typeface="Arial"/>
                <a:cs typeface="Arial"/>
                <a:sym typeface="Arial"/>
              </a:rPr>
              <a:t>antiworm</a:t>
            </a:r>
            <a:r>
              <a:rPr b="0" i="0" lang="en-US" sz="1800" u="none" cap="none" strike="noStrike">
                <a:solidFill>
                  <a:srgbClr val="1F2530"/>
                </a:solidFill>
                <a:latin typeface="Arial"/>
                <a:ea typeface="Arial"/>
                <a:cs typeface="Arial"/>
                <a:sym typeface="Arial"/>
              </a:rPr>
              <a:t>, abolished turning. Squares (ep = ea) became more effective up to about 10 mm and then lost their prey value as they grew larger.</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The toad therefore does not respond to size alone. It relates the two extensions to each other, a computation Ewert called a </a:t>
            </a:r>
            <a:r>
              <a:rPr b="1" i="0" lang="en-US" sz="1800" u="none" cap="none" strike="noStrike">
                <a:solidFill>
                  <a:srgbClr val="1D4E89"/>
                </a:solidFill>
                <a:latin typeface="Arial"/>
                <a:ea typeface="Arial"/>
                <a:cs typeface="Arial"/>
                <a:sym typeface="Arial"/>
              </a:rPr>
              <a:t>features-relating algorithm</a:t>
            </a:r>
            <a:r>
              <a:rPr b="0" i="0" lang="en-US" sz="1800" u="none" cap="none" strike="noStrike">
                <a:solidFill>
                  <a:srgbClr val="1F2530"/>
                </a:solidFill>
                <a:latin typeface="Arial"/>
                <a:ea typeface="Arial"/>
                <a:cs typeface="Arial"/>
                <a:sym typeface="Arial"/>
              </a:rPr>
              <a:t>: extension along ep signals prey, and extension along ea, the most decisive feature, reduces prey value. Large squares, which extend in both dimensions, resemble threats.</a:t>
            </a:r>
            <a:endParaRPr/>
          </a:p>
        </p:txBody>
      </p:sp>
      <p:pic>
        <p:nvPicPr>
          <p:cNvPr descr="e01_f2bc.png" id="124" name="Google Shape;124;p4"/>
          <p:cNvPicPr preferRelativeResize="0"/>
          <p:nvPr/>
        </p:nvPicPr>
        <p:blipFill rotWithShape="1">
          <a:blip r:embed="rId3">
            <a:alphaModFix/>
          </a:blip>
          <a:srcRect b="0" l="0" r="0" t="0"/>
          <a:stretch/>
        </p:blipFill>
        <p:spPr>
          <a:xfrm>
            <a:off x="7604475" y="1280160"/>
            <a:ext cx="3834343" cy="4297679"/>
          </a:xfrm>
          <a:prstGeom prst="rect">
            <a:avLst/>
          </a:prstGeom>
          <a:noFill/>
          <a:ln>
            <a:noFill/>
          </a:ln>
        </p:spPr>
      </p:pic>
      <p:sp>
        <p:nvSpPr>
          <p:cNvPr id="125" name="Google Shape;125;p4"/>
          <p:cNvSpPr txBox="1"/>
          <p:nvPr/>
        </p:nvSpPr>
        <p:spPr>
          <a:xfrm>
            <a:off x="7418527" y="5669279"/>
            <a:ext cx="42062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2B–C. Stimuli a (worm), b (antiworm) and c (square) and turning rate as each edge length increases (n = 20 toads).</a:t>
            </a:r>
            <a:endParaRPr/>
          </a:p>
        </p:txBody>
      </p:sp>
      <p:sp>
        <p:nvSpPr>
          <p:cNvPr id="126" name="Google Shape;126;p4"/>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 Ewert (1997)</a:t>
            </a:r>
            <a:endParaRPr/>
          </a:p>
        </p:txBody>
      </p:sp>
      <p:sp>
        <p:nvSpPr>
          <p:cNvPr id="128" name="Google Shape;128;p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04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Worm preference holds for vertical motion and contrast</a:t>
            </a:r>
            <a:endParaRPr/>
          </a:p>
        </p:txBody>
      </p:sp>
      <p:sp>
        <p:nvSpPr>
          <p:cNvPr id="135" name="Google Shape;135;p5"/>
          <p:cNvSpPr txBox="1"/>
          <p:nvPr/>
        </p:nvSpPr>
        <p:spPr>
          <a:xfrm>
            <a:off x="566928" y="1234440"/>
            <a:ext cx="685159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Ewert, Arend, Becker and Borchers asked whether the worm–antiworm distinction depends on how the stimulus moves. Stripes 3.5 mm wide were moved up and down in front of the toad at 16°/s.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When the stripe was elongated along its vertical path (worm), turning increased with length. When it was elongated perpendicular to its path (antiworm), turning decreased toward zero. The rule was the same as for horizontal motion: the axis that matters is defined by the direction of movement, not by gravity or the horizon.</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The discrimination also held when white stripes moved on a black background, although black stripes on white produced stronger responses. Contrast direction therefore changes the overall level of prey-catching but not the configurational preference.</a:t>
            </a:r>
            <a:endParaRPr/>
          </a:p>
        </p:txBody>
      </p:sp>
      <p:pic>
        <p:nvPicPr>
          <p:cNvPr descr="e79_f2.png" id="136" name="Google Shape;136;p5"/>
          <p:cNvPicPr preferRelativeResize="0"/>
          <p:nvPr/>
        </p:nvPicPr>
        <p:blipFill rotWithShape="1">
          <a:blip r:embed="rId3">
            <a:alphaModFix/>
          </a:blip>
          <a:srcRect b="0" l="0" r="0" t="0"/>
          <a:stretch/>
        </p:blipFill>
        <p:spPr>
          <a:xfrm>
            <a:off x="8203483" y="1280160"/>
            <a:ext cx="3002086" cy="4297679"/>
          </a:xfrm>
          <a:prstGeom prst="rect">
            <a:avLst/>
          </a:prstGeom>
          <a:noFill/>
          <a:ln>
            <a:noFill/>
          </a:ln>
        </p:spPr>
      </p:pic>
      <p:sp>
        <p:nvSpPr>
          <p:cNvPr id="137" name="Google Shape;137;p5"/>
          <p:cNvSpPr txBox="1"/>
          <p:nvPr/>
        </p:nvSpPr>
        <p:spPr>
          <a:xfrm>
            <a:off x="7784287" y="5669279"/>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(1979), Fig. 2. Turning to vertically moving stripes: worm-like (A) and antiworm-like (B), white on black (left) and black on white (right).</a:t>
            </a:r>
            <a:endParaRPr/>
          </a:p>
        </p:txBody>
      </p:sp>
      <p:sp>
        <p:nvSpPr>
          <p:cNvPr id="138" name="Google Shape;138;p5"/>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(1979)</a:t>
            </a:r>
            <a:endParaRPr/>
          </a:p>
        </p:txBody>
      </p:sp>
      <p:sp>
        <p:nvSpPr>
          <p:cNvPr id="140" name="Google Shape;140;p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05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p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Prey selection is invariant to movement direction</a:t>
            </a:r>
            <a:endParaRPr/>
          </a:p>
        </p:txBody>
      </p:sp>
      <p:sp>
        <p:nvSpPr>
          <p:cNvPr id="147" name="Google Shape;147;p6"/>
          <p:cNvSpPr txBox="1"/>
          <p:nvPr/>
        </p:nvSpPr>
        <p:spPr>
          <a:xfrm>
            <a:off x="566928" y="1234440"/>
            <a:ext cx="666871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Ewert et al. then moved the stimuli horizontally, diagonally at 30°, 60°, 120° and 150°, and vertically, always at 20°/s. A </a:t>
            </a:r>
            <a:r>
              <a:rPr b="1" i="0" lang="en-US" sz="1800" u="none" cap="none" strike="noStrike">
                <a:solidFill>
                  <a:srgbClr val="1D4E89"/>
                </a:solidFill>
                <a:latin typeface="Arial"/>
                <a:ea typeface="Arial"/>
                <a:cs typeface="Arial"/>
                <a:sym typeface="Arial"/>
              </a:rPr>
              <a:t>2.5 × 30 mm stripe</a:t>
            </a:r>
            <a:r>
              <a:rPr b="0" i="0" lang="en-US" sz="1800" u="none" cap="none" strike="noStrike">
                <a:solidFill>
                  <a:srgbClr val="1F2530"/>
                </a:solidFill>
                <a:latin typeface="Arial"/>
                <a:ea typeface="Arial"/>
                <a:cs typeface="Arial"/>
                <a:sym typeface="Arial"/>
              </a:rPr>
              <a:t> oriented along its direction of motion (a) was compared with the same stripe oriented across it (b) and with a small 2.5 × 2.5 mm square (c).</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At every direction the worm released about 30 turns per 30 s, while the antiworm and the small square released almost none. The toad made essentially no errors in classifying worm against antiworm at any angle.</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An </a:t>
            </a:r>
            <a:r>
              <a:rPr b="1" i="0" lang="en-US" sz="1800" u="none" cap="none" strike="noStrike">
                <a:solidFill>
                  <a:srgbClr val="1D4E89"/>
                </a:solidFill>
                <a:latin typeface="Arial"/>
                <a:ea typeface="Arial"/>
                <a:cs typeface="Arial"/>
                <a:sym typeface="Arial"/>
              </a:rPr>
              <a:t>invariant</a:t>
            </a:r>
            <a:r>
              <a:rPr b="0" i="0" lang="en-US" sz="1800" u="none" cap="none" strike="noStrike">
                <a:solidFill>
                  <a:srgbClr val="1F2530"/>
                </a:solidFill>
                <a:latin typeface="Arial"/>
                <a:ea typeface="Arial"/>
                <a:cs typeface="Arial"/>
                <a:sym typeface="Arial"/>
              </a:rPr>
              <a:t> is a property of recognition that does not change when other stimulus parameters change. The worm–antiworm discrimination is invariant to the direction of movement in the visual field, to contrast direction and, within limits, to velocity and distance.</a:t>
            </a:r>
            <a:endParaRPr/>
          </a:p>
        </p:txBody>
      </p:sp>
      <p:pic>
        <p:nvPicPr>
          <p:cNvPr descr="e79_f3.png" id="148" name="Google Shape;148;p6"/>
          <p:cNvPicPr preferRelativeResize="0"/>
          <p:nvPr/>
        </p:nvPicPr>
        <p:blipFill rotWithShape="1">
          <a:blip r:embed="rId3">
            <a:alphaModFix/>
          </a:blip>
          <a:srcRect b="0" l="0" r="0" t="0"/>
          <a:stretch/>
        </p:blipFill>
        <p:spPr>
          <a:xfrm>
            <a:off x="8327016" y="1280160"/>
            <a:ext cx="2572140" cy="4297679"/>
          </a:xfrm>
          <a:prstGeom prst="rect">
            <a:avLst/>
          </a:prstGeom>
          <a:noFill/>
          <a:ln>
            <a:noFill/>
          </a:ln>
        </p:spPr>
      </p:pic>
      <p:sp>
        <p:nvSpPr>
          <p:cNvPr id="149" name="Google Shape;149;p6"/>
          <p:cNvSpPr txBox="1"/>
          <p:nvPr/>
        </p:nvSpPr>
        <p:spPr>
          <a:xfrm>
            <a:off x="7601407" y="5669279"/>
            <a:ext cx="40233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(1979), Fig. 3A. Turning to a worm stripe (a), antiworm stripe (b) and small square (c) moved at different angles to the horizon.</a:t>
            </a:r>
            <a:endParaRPr/>
          </a:p>
        </p:txBody>
      </p:sp>
      <p:sp>
        <p:nvSpPr>
          <p:cNvPr id="150" name="Google Shape;150;p6"/>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(1979)</a:t>
            </a:r>
            <a:endParaRPr/>
          </a:p>
        </p:txBody>
      </p:sp>
      <p:sp>
        <p:nvSpPr>
          <p:cNvPr id="152" name="Google Shape;152;p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06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A nearby square reduces the prey value of a worm</a:t>
            </a:r>
            <a:endParaRPr/>
          </a:p>
        </p:txBody>
      </p:sp>
      <p:sp>
        <p:nvSpPr>
          <p:cNvPr id="159" name="Google Shape;159;p7"/>
          <p:cNvSpPr txBox="1"/>
          <p:nvPr/>
        </p:nvSpPr>
        <p:spPr>
          <a:xfrm>
            <a:off x="566928" y="1234440"/>
            <a:ext cx="70344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Ewert et al. tested how a second element changes recognition. A 2.5 × 30 mm worm stripe was moved alone (a) or together with a 2.5 × 2.5 mm square placed 10 mm from it (b).</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Adding the square reduced prey-catching from about 26 turns per 30 s to about 8–10 turns, at horizontal, diagonal and vertical directions alike. When the stripe was tested alone again (a'), responses returned to their original level.</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The square adds extension across the direction of movement of the whole configuration, which the toad treats as an antiworm feature. The inhibitory effect therefore follows the same configurational rule, and it too is independent of movement direction.</a:t>
            </a:r>
            <a:endParaRPr/>
          </a:p>
        </p:txBody>
      </p:sp>
      <p:pic>
        <p:nvPicPr>
          <p:cNvPr descr="e79_f4.png" id="160" name="Google Shape;160;p7"/>
          <p:cNvPicPr preferRelativeResize="0"/>
          <p:nvPr/>
        </p:nvPicPr>
        <p:blipFill rotWithShape="1">
          <a:blip r:embed="rId3">
            <a:alphaModFix/>
          </a:blip>
          <a:srcRect b="0" l="0" r="0" t="0"/>
          <a:stretch/>
        </p:blipFill>
        <p:spPr>
          <a:xfrm>
            <a:off x="8576163" y="1280160"/>
            <a:ext cx="2439607" cy="4297679"/>
          </a:xfrm>
          <a:prstGeom prst="rect">
            <a:avLst/>
          </a:prstGeom>
          <a:noFill/>
          <a:ln>
            <a:noFill/>
          </a:ln>
        </p:spPr>
      </p:pic>
      <p:sp>
        <p:nvSpPr>
          <p:cNvPr id="161" name="Google Shape;161;p7"/>
          <p:cNvSpPr txBox="1"/>
          <p:nvPr/>
        </p:nvSpPr>
        <p:spPr>
          <a:xfrm>
            <a:off x="7967167" y="5669279"/>
            <a:ext cx="36576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(1979), Fig. 4. Turning to a worm stripe alone (a, a') and to the stripe with a small square 10 mm away (b), at 0°, 45° and 90°.</a:t>
            </a:r>
            <a:endParaRPr/>
          </a:p>
        </p:txBody>
      </p:sp>
      <p:sp>
        <p:nvSpPr>
          <p:cNvPr id="162" name="Google Shape;162;p7"/>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(1979)</a:t>
            </a:r>
            <a:endParaRPr/>
          </a:p>
        </p:txBody>
      </p:sp>
      <p:sp>
        <p:nvSpPr>
          <p:cNvPr id="164" name="Google Shape;164;p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07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 name="Shape 169"/>
        <p:cNvGrpSpPr/>
        <p:nvPr/>
      </p:nvGrpSpPr>
      <p:grpSpPr>
        <a:xfrm>
          <a:off x="0" y="0"/>
          <a:ext cx="0" cy="0"/>
          <a:chOff x="0" y="0"/>
          <a:chExt cx="0" cy="0"/>
        </a:xfrm>
      </p:grpSpPr>
      <p:sp>
        <p:nvSpPr>
          <p:cNvPr id="170" name="Google Shape;170;p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Recognition invariants resemble human object recognition</a:t>
            </a:r>
            <a:endParaRPr/>
          </a:p>
        </p:txBody>
      </p:sp>
      <p:sp>
        <p:nvSpPr>
          <p:cNvPr id="171" name="Google Shape;171;p8"/>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Ewert et al. compared the toad's prey recognition with how humans recognize a symbol. A person identifies the letter A whether it is tilted, small or large, or drawn in white on black. In the same way, a toad identifies a worm whether it moves horizontally or vertically, and whether it is black on white or white on black.</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Ewert proposed that such invariants make the toad a useful model for the mechanism of object recognition. Neurons in the optic tectum and the thalamic–pretectal region respond to configurational features of moving stimuli, and their receptive fields are approximately radially symmetrical, so their selectivity must come from the way information about extension along and across the direction of movement is combined.</a:t>
            </a:r>
            <a:endParaRPr/>
          </a:p>
        </p:txBody>
      </p:sp>
      <p:pic>
        <p:nvPicPr>
          <p:cNvPr descr="e79_f6.png" id="172" name="Google Shape;172;p8"/>
          <p:cNvPicPr preferRelativeResize="0"/>
          <p:nvPr/>
        </p:nvPicPr>
        <p:blipFill rotWithShape="1">
          <a:blip r:embed="rId3">
            <a:alphaModFix/>
          </a:blip>
          <a:srcRect b="0" l="0" r="0" t="0"/>
          <a:stretch/>
        </p:blipFill>
        <p:spPr>
          <a:xfrm>
            <a:off x="6504127" y="1280160"/>
            <a:ext cx="5120640" cy="2887682"/>
          </a:xfrm>
          <a:prstGeom prst="rect">
            <a:avLst/>
          </a:prstGeom>
          <a:noFill/>
          <a:ln>
            <a:noFill/>
          </a:ln>
        </p:spPr>
      </p:pic>
      <p:sp>
        <p:nvSpPr>
          <p:cNvPr id="173" name="Google Shape;173;p8"/>
          <p:cNvSpPr txBox="1"/>
          <p:nvPr/>
        </p:nvSpPr>
        <p:spPr>
          <a:xfrm>
            <a:off x="6504127" y="4259282"/>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(1979), Fig. 6. Invariants in pattern recognition: the letter A for a human and worm versus antiworm for Bufo bufo.</a:t>
            </a:r>
            <a:endParaRPr/>
          </a:p>
        </p:txBody>
      </p:sp>
      <p:sp>
        <p:nvSpPr>
          <p:cNvPr id="174" name="Google Shape;174;p8"/>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(1979)</a:t>
            </a:r>
            <a:endParaRPr/>
          </a:p>
        </p:txBody>
      </p:sp>
      <p:sp>
        <p:nvSpPr>
          <p:cNvPr id="176" name="Google Shape;176;p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08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sp>
        <p:nvSpPr>
          <p:cNvPr id="182" name="Google Shape;182;p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Frogs and toads differ in how sharply they reject antiworms</a:t>
            </a:r>
            <a:endParaRPr/>
          </a:p>
        </p:txBody>
      </p:sp>
      <p:sp>
        <p:nvSpPr>
          <p:cNvPr id="183" name="Google Shape;183;p9"/>
          <p:cNvSpPr txBox="1"/>
          <p:nvPr/>
        </p:nvSpPr>
        <p:spPr>
          <a:xfrm>
            <a:off x="566928" y="1234440"/>
            <a:ext cx="64858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Schürg-Pfeiffer and Ewert compared configurational selectivity in the frog </a:t>
            </a:r>
            <a:r>
              <a:rPr b="0" i="1" lang="en-US" sz="1800" u="none" cap="none" strike="noStrike">
                <a:solidFill>
                  <a:srgbClr val="1F2530"/>
                </a:solidFill>
                <a:latin typeface="Arial"/>
                <a:ea typeface="Arial"/>
                <a:cs typeface="Arial"/>
                <a:sym typeface="Arial"/>
              </a:rPr>
              <a:t>Rana temporaria</a:t>
            </a:r>
            <a:r>
              <a:rPr b="0" i="0" lang="en-US" sz="1800" u="none" cap="none" strike="noStrike">
                <a:solidFill>
                  <a:srgbClr val="1F2530"/>
                </a:solidFill>
                <a:latin typeface="Arial"/>
                <a:ea typeface="Arial"/>
                <a:cs typeface="Arial"/>
                <a:sym typeface="Arial"/>
              </a:rPr>
              <a:t> and the toad </a:t>
            </a:r>
            <a:r>
              <a:rPr b="0" i="1" lang="en-US" sz="1800" u="none" cap="none" strike="noStrike">
                <a:solidFill>
                  <a:srgbClr val="1F2530"/>
                </a:solidFill>
                <a:latin typeface="Arial"/>
                <a:ea typeface="Arial"/>
                <a:cs typeface="Arial"/>
                <a:sym typeface="Arial"/>
              </a:rPr>
              <a:t>Bufo bufo</a:t>
            </a:r>
            <a:r>
              <a:rPr b="0" i="0" lang="en-US" sz="1800" u="none" cap="none" strike="noStrike">
                <a:solidFill>
                  <a:srgbClr val="1F2530"/>
                </a:solidFill>
                <a:latin typeface="Arial"/>
                <a:ea typeface="Arial"/>
                <a:cs typeface="Arial"/>
                <a:sym typeface="Arial"/>
              </a:rPr>
              <a:t>. They used a </a:t>
            </a:r>
            <a:r>
              <a:rPr b="1" i="0" lang="en-US" sz="1800" u="none" cap="none" strike="noStrike">
                <a:solidFill>
                  <a:srgbClr val="1D4E89"/>
                </a:solidFill>
                <a:latin typeface="Arial"/>
                <a:ea typeface="Arial"/>
                <a:cs typeface="Arial"/>
                <a:sym typeface="Arial"/>
              </a:rPr>
              <a:t>discriminant value</a:t>
            </a:r>
            <a:r>
              <a:rPr b="0" i="0" lang="en-US" sz="1800" u="none" cap="none" strike="noStrike">
                <a:solidFill>
                  <a:srgbClr val="1F2530"/>
                </a:solidFill>
                <a:latin typeface="Arial"/>
                <a:ea typeface="Arial"/>
                <a:cs typeface="Arial"/>
                <a:sym typeface="Arial"/>
              </a:rPr>
              <a:t>, D(W,A), which equals +1 when only the worm releases a response, −1 when only the antiworm does and 0 when both are equally effective.</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In both species D(W,A) rose with stripe length, so both prefer worms. The toad's curve rose steeply and reached +1 at short lengths, whereas the frog's rose gradually and reached +1 only for long stripes.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This difference fits the species' hunting strategies. The actively hunting toad is relatively selective, whereas the sit-and-wait frog, which depends on a low snapping threshold, also catches non-prey items occasionally.</a:t>
            </a:r>
            <a:endParaRPr/>
          </a:p>
        </p:txBody>
      </p:sp>
      <p:pic>
        <p:nvPicPr>
          <p:cNvPr descr="sp_f12.png" id="184" name="Google Shape;184;p9"/>
          <p:cNvPicPr preferRelativeResize="0"/>
          <p:nvPr/>
        </p:nvPicPr>
        <p:blipFill rotWithShape="1">
          <a:blip r:embed="rId3">
            <a:alphaModFix/>
          </a:blip>
          <a:srcRect b="0" l="0" r="0" t="0"/>
          <a:stretch/>
        </p:blipFill>
        <p:spPr>
          <a:xfrm>
            <a:off x="7418527" y="1280160"/>
            <a:ext cx="4206240" cy="3114167"/>
          </a:xfrm>
          <a:prstGeom prst="rect">
            <a:avLst/>
          </a:prstGeom>
          <a:noFill/>
          <a:ln>
            <a:noFill/>
          </a:ln>
        </p:spPr>
      </p:pic>
      <p:sp>
        <p:nvSpPr>
          <p:cNvPr id="185" name="Google Shape;185;p9"/>
          <p:cNvSpPr txBox="1"/>
          <p:nvPr/>
        </p:nvSpPr>
        <p:spPr>
          <a:xfrm>
            <a:off x="7418527" y="4485767"/>
            <a:ext cx="42062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Schürg-Pfeiffer &amp; Ewert (1981), Fig. 12. Discriminant value for worm versus antiworm during prey-catching in R. temporaria and B. bufo as stripe length increases.</a:t>
            </a:r>
            <a:endParaRPr/>
          </a:p>
        </p:txBody>
      </p:sp>
      <p:sp>
        <p:nvSpPr>
          <p:cNvPr id="186" name="Google Shape;186;p9"/>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Schürg-Pfeiffer &amp; Ewert (1981); Ewert et al. (2001)</a:t>
            </a:r>
            <a:endParaRPr/>
          </a:p>
        </p:txBody>
      </p:sp>
      <p:sp>
        <p:nvSpPr>
          <p:cNvPr id="188" name="Google Shape;188;p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09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sp>
        <p:nvSpPr>
          <p:cNvPr id="194" name="Google Shape;194;p1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Retinal ganglion cells encode size, not configuration</a:t>
            </a:r>
            <a:endParaRPr/>
          </a:p>
        </p:txBody>
      </p:sp>
      <p:sp>
        <p:nvSpPr>
          <p:cNvPr id="195" name="Google Shape;195;p10"/>
          <p:cNvSpPr txBox="1"/>
          <p:nvPr/>
        </p:nvSpPr>
        <p:spPr>
          <a:xfrm>
            <a:off x="566928" y="1234440"/>
            <a:ext cx="61200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1F2530"/>
                </a:solidFill>
                <a:latin typeface="Arial"/>
                <a:ea typeface="Arial"/>
                <a:cs typeface="Arial"/>
                <a:sym typeface="Arial"/>
              </a:rPr>
              <a:t>In the 1950s Barlow and Lettvin proposed that a class of frog retinal ganglion cell acts as a "bug detector". </a:t>
            </a:r>
            <a:r>
              <a:rPr b="1" i="0" lang="en-US" sz="1700" u="none" cap="none" strike="noStrike">
                <a:solidFill>
                  <a:srgbClr val="1D4E89"/>
                </a:solidFill>
                <a:latin typeface="Arial"/>
                <a:ea typeface="Arial"/>
                <a:cs typeface="Arial"/>
                <a:sym typeface="Arial"/>
              </a:rPr>
              <a:t>Retinal ganglion cells</a:t>
            </a:r>
            <a:r>
              <a:rPr b="0" i="0" lang="en-US" sz="1700" u="none" cap="none" strike="noStrike">
                <a:solidFill>
                  <a:srgbClr val="1F2530"/>
                </a:solidFill>
                <a:latin typeface="Arial"/>
                <a:ea typeface="Arial"/>
                <a:cs typeface="Arial"/>
                <a:sym typeface="Arial"/>
              </a:rPr>
              <a:t> are the output neurons of the retina. Toad ganglion cells fall into classes </a:t>
            </a:r>
            <a:r>
              <a:rPr b="1" i="0" lang="en-US" sz="1700" u="none" cap="none" strike="noStrike">
                <a:solidFill>
                  <a:srgbClr val="1D4E89"/>
                </a:solidFill>
                <a:latin typeface="Arial"/>
                <a:ea typeface="Arial"/>
                <a:cs typeface="Arial"/>
                <a:sym typeface="Arial"/>
              </a:rPr>
              <a:t>R1–R4</a:t>
            </a:r>
            <a:r>
              <a:rPr b="0" i="0" lang="en-US" sz="1700" u="none" cap="none" strike="noStrike">
                <a:solidFill>
                  <a:srgbClr val="1F2530"/>
                </a:solidFill>
                <a:latin typeface="Arial"/>
                <a:ea typeface="Arial"/>
                <a:cs typeface="Arial"/>
                <a:sym typeface="Arial"/>
              </a:rPr>
              <a:t>, with excitatory receptive fields of about 2–3°, 4–6°, 8–10° and 12–16° respectively, each surrounded by an inhibitory zone.</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Ewert, Borchers and von Wietersheim recorded R2, R3 and R4 cells while worm-like (W) and antiworm-like (A) stripes crossed their receptive fields. R2 cells responded best to small stimuli of either configuration and declined as stripes lengthened in both orientations.</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No retinal class reproduced the toad's behavior, which rose for worms and fell for antiworms. Grüsser concluded from such data that no ganglion cell type is specific to prey; the retina parcels the image by size, contrast and movement.</a:t>
            </a:r>
            <a:endParaRPr/>
          </a:p>
        </p:txBody>
      </p:sp>
      <p:pic>
        <p:nvPicPr>
          <p:cNvPr descr="e78_f1.png" id="196" name="Google Shape;196;p10"/>
          <p:cNvPicPr preferRelativeResize="0"/>
          <p:nvPr/>
        </p:nvPicPr>
        <p:blipFill rotWithShape="1">
          <a:blip r:embed="rId3">
            <a:alphaModFix/>
          </a:blip>
          <a:srcRect b="0" l="0" r="0" t="0"/>
          <a:stretch/>
        </p:blipFill>
        <p:spPr>
          <a:xfrm>
            <a:off x="8148064" y="1280160"/>
            <a:ext cx="2381404" cy="2743200"/>
          </a:xfrm>
          <a:prstGeom prst="rect">
            <a:avLst/>
          </a:prstGeom>
          <a:noFill/>
          <a:ln>
            <a:noFill/>
          </a:ln>
        </p:spPr>
      </p:pic>
      <p:sp>
        <p:nvSpPr>
          <p:cNvPr id="197" name="Google Shape;197;p10"/>
          <p:cNvSpPr txBox="1"/>
          <p:nvPr/>
        </p:nvSpPr>
        <p:spPr>
          <a:xfrm>
            <a:off x="7052767" y="4114800"/>
            <a:ext cx="45720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(1978), Fig. 1. Turning (B) and firing of tectal T5(1), T5(2), pretectal TH3 and retinal R2–R4 neurons to worm (W) and antiworm (A) stripes.</a:t>
            </a:r>
            <a:endParaRPr/>
          </a:p>
        </p:txBody>
      </p:sp>
      <p:pic>
        <p:nvPicPr>
          <p:cNvPr descr="forster_f3c.png" id="198" name="Google Shape;198;p10"/>
          <p:cNvPicPr preferRelativeResize="0"/>
          <p:nvPr/>
        </p:nvPicPr>
        <p:blipFill rotWithShape="1">
          <a:blip r:embed="rId4">
            <a:alphaModFix/>
          </a:blip>
          <a:srcRect b="0" l="0" r="0" t="0"/>
          <a:stretch/>
        </p:blipFill>
        <p:spPr>
          <a:xfrm>
            <a:off x="8702795" y="4572000"/>
            <a:ext cx="1271942" cy="1188719"/>
          </a:xfrm>
          <a:prstGeom prst="rect">
            <a:avLst/>
          </a:prstGeom>
          <a:noFill/>
          <a:ln>
            <a:noFill/>
          </a:ln>
        </p:spPr>
      </p:pic>
      <p:sp>
        <p:nvSpPr>
          <p:cNvPr id="199" name="Google Shape;199;p10"/>
          <p:cNvSpPr txBox="1"/>
          <p:nvPr/>
        </p:nvSpPr>
        <p:spPr>
          <a:xfrm>
            <a:off x="7052767" y="5833872"/>
            <a:ext cx="45720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Förster et al. (2020), Fig. 3C. Zebrafish retinal axon terminals in the tectum colored by functional class; 5°-dot and 30°-dot inputs by depth.</a:t>
            </a:r>
            <a:endParaRPr/>
          </a:p>
        </p:txBody>
      </p:sp>
      <p:sp>
        <p:nvSpPr>
          <p:cNvPr id="200" name="Google Shape;200;p10"/>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1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(1978); Ewert (1997); Förster et al. (2020)</a:t>
            </a:r>
            <a:endParaRPr/>
          </a:p>
        </p:txBody>
      </p:sp>
      <p:sp>
        <p:nvSpPr>
          <p:cNvPr id="202" name="Google Shape;202;p1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 name="Shape 207"/>
        <p:cNvGrpSpPr/>
        <p:nvPr/>
      </p:nvGrpSpPr>
      <p:grpSpPr>
        <a:xfrm>
          <a:off x="0" y="0"/>
          <a:ext cx="0" cy="0"/>
          <a:chOff x="0" y="0"/>
          <a:chExt cx="0" cy="0"/>
        </a:xfrm>
      </p:grpSpPr>
      <p:sp>
        <p:nvSpPr>
          <p:cNvPr id="208" name="Google Shape;208;p1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Only tectal T5(2) neurons match the toad's discrimination</a:t>
            </a:r>
            <a:endParaRPr/>
          </a:p>
        </p:txBody>
      </p:sp>
      <p:sp>
        <p:nvSpPr>
          <p:cNvPr id="209" name="Google Shape;209;p11"/>
          <p:cNvSpPr txBox="1"/>
          <p:nvPr/>
        </p:nvSpPr>
        <p:spPr>
          <a:xfrm>
            <a:off x="566928" y="1234440"/>
            <a:ext cx="64858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Ewert et al. computed the discriminant value D(W,A) for behavior and for each neuron class, and correlated the stimulus–response curves.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The behavioral curve rose to +1. Retinal R2 and R3 values were negative for short stripes and rose only at long lengths; R4 stayed near zero. Tectal </a:t>
            </a:r>
            <a:r>
              <a:rPr b="1" i="0" lang="en-US" sz="1800" u="none" cap="none" strike="noStrike">
                <a:solidFill>
                  <a:srgbClr val="1D4E89"/>
                </a:solidFill>
                <a:latin typeface="Arial"/>
                <a:ea typeface="Arial"/>
                <a:cs typeface="Arial"/>
                <a:sym typeface="Arial"/>
              </a:rPr>
              <a:t>T5(1)</a:t>
            </a:r>
            <a:r>
              <a:rPr b="0" i="0" lang="en-US" sz="1800" u="none" cap="none" strike="noStrike">
                <a:solidFill>
                  <a:srgbClr val="1F2530"/>
                </a:solidFill>
                <a:latin typeface="Arial"/>
                <a:ea typeface="Arial"/>
                <a:cs typeface="Arial"/>
                <a:sym typeface="Arial"/>
              </a:rPr>
              <a:t> neurons were sensitive to configuration but hardly discriminated, and pretectal </a:t>
            </a:r>
            <a:r>
              <a:rPr b="1" i="0" lang="en-US" sz="1800" u="none" cap="none" strike="noStrike">
                <a:solidFill>
                  <a:srgbClr val="1D4E89"/>
                </a:solidFill>
                <a:latin typeface="Arial"/>
                <a:ea typeface="Arial"/>
                <a:cs typeface="Arial"/>
                <a:sym typeface="Arial"/>
              </a:rPr>
              <a:t>TH3</a:t>
            </a:r>
            <a:r>
              <a:rPr b="0" i="0" lang="en-US" sz="1800" u="none" cap="none" strike="noStrike">
                <a:solidFill>
                  <a:srgbClr val="1F2530"/>
                </a:solidFill>
                <a:latin typeface="Arial"/>
                <a:ea typeface="Arial"/>
                <a:cs typeface="Arial"/>
                <a:sym typeface="Arial"/>
              </a:rPr>
              <a:t> neurons had negative values, preferring antiworms.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Only tectal </a:t>
            </a:r>
            <a:r>
              <a:rPr b="1" i="0" lang="en-US" sz="1800" u="none" cap="none" strike="noStrike">
                <a:solidFill>
                  <a:srgbClr val="1D4E89"/>
                </a:solidFill>
                <a:latin typeface="Arial"/>
                <a:ea typeface="Arial"/>
                <a:cs typeface="Arial"/>
                <a:sym typeface="Arial"/>
              </a:rPr>
              <a:t>T5(2)</a:t>
            </a:r>
            <a:r>
              <a:rPr b="0" i="0" lang="en-US" sz="1800" u="none" cap="none" strike="noStrike">
                <a:solidFill>
                  <a:srgbClr val="1F2530"/>
                </a:solidFill>
                <a:latin typeface="Arial"/>
                <a:ea typeface="Arial"/>
                <a:cs typeface="Arial"/>
                <a:sym typeface="Arial"/>
              </a:rPr>
              <a:t> neurons had a curve resembling the behavior. Ewert classed neurons as </a:t>
            </a:r>
            <a:r>
              <a:rPr b="1" i="0" lang="en-US" sz="1800" u="none" cap="none" strike="noStrike">
                <a:solidFill>
                  <a:srgbClr val="1D4E89"/>
                </a:solidFill>
                <a:latin typeface="Arial"/>
                <a:ea typeface="Arial"/>
                <a:cs typeface="Arial"/>
                <a:sym typeface="Arial"/>
              </a:rPr>
              <a:t>sensitive</a:t>
            </a:r>
            <a:r>
              <a:rPr b="0" i="0" lang="en-US" sz="1800" u="none" cap="none" strike="noStrike">
                <a:solidFill>
                  <a:srgbClr val="1F2530"/>
                </a:solidFill>
                <a:latin typeface="Arial"/>
                <a:ea typeface="Arial"/>
                <a:cs typeface="Arial"/>
                <a:sym typeface="Arial"/>
              </a:rPr>
              <a:t> (responding to configurational stimuli), </a:t>
            </a:r>
            <a:r>
              <a:rPr b="1" i="0" lang="en-US" sz="1800" u="none" cap="none" strike="noStrike">
                <a:solidFill>
                  <a:srgbClr val="1D4E89"/>
                </a:solidFill>
                <a:latin typeface="Arial"/>
                <a:ea typeface="Arial"/>
                <a:cs typeface="Arial"/>
                <a:sym typeface="Arial"/>
              </a:rPr>
              <a:t>selective</a:t>
            </a:r>
            <a:r>
              <a:rPr b="0" i="0" lang="en-US" sz="1800" u="none" cap="none" strike="noStrike">
                <a:solidFill>
                  <a:srgbClr val="1F2530"/>
                </a:solidFill>
                <a:latin typeface="Arial"/>
                <a:ea typeface="Arial"/>
                <a:cs typeface="Arial"/>
                <a:sym typeface="Arial"/>
              </a:rPr>
              <a:t> (responding differentially in the same way as behavior) or </a:t>
            </a:r>
            <a:r>
              <a:rPr b="1" i="0" lang="en-US" sz="1800" u="none" cap="none" strike="noStrike">
                <a:solidFill>
                  <a:srgbClr val="1D4E89"/>
                </a:solidFill>
                <a:latin typeface="Arial"/>
                <a:ea typeface="Arial"/>
                <a:cs typeface="Arial"/>
                <a:sym typeface="Arial"/>
              </a:rPr>
              <a:t>specific</a:t>
            </a:r>
            <a:r>
              <a:rPr b="0" i="0" lang="en-US" sz="1800" u="none" cap="none" strike="noStrike">
                <a:solidFill>
                  <a:srgbClr val="1F2530"/>
                </a:solidFill>
                <a:latin typeface="Arial"/>
                <a:ea typeface="Arial"/>
                <a:cs typeface="Arial"/>
                <a:sym typeface="Arial"/>
              </a:rPr>
              <a:t> (responding to one configuration only). T5(2) neurons were selective, but no neuron was specific: no single "worm detector" cell was found.</a:t>
            </a:r>
            <a:endParaRPr/>
          </a:p>
        </p:txBody>
      </p:sp>
      <p:pic>
        <p:nvPicPr>
          <p:cNvPr descr="e78_f2.png" id="210" name="Google Shape;210;p11"/>
          <p:cNvPicPr preferRelativeResize="0"/>
          <p:nvPr/>
        </p:nvPicPr>
        <p:blipFill rotWithShape="1">
          <a:blip r:embed="rId3">
            <a:alphaModFix/>
          </a:blip>
          <a:srcRect b="0" l="0" r="0" t="0"/>
          <a:stretch/>
        </p:blipFill>
        <p:spPr>
          <a:xfrm>
            <a:off x="7599528" y="1280160"/>
            <a:ext cx="3844236" cy="4297679"/>
          </a:xfrm>
          <a:prstGeom prst="rect">
            <a:avLst/>
          </a:prstGeom>
          <a:noFill/>
          <a:ln>
            <a:noFill/>
          </a:ln>
        </p:spPr>
      </p:pic>
      <p:sp>
        <p:nvSpPr>
          <p:cNvPr id="211" name="Google Shape;211;p11"/>
          <p:cNvSpPr txBox="1"/>
          <p:nvPr/>
        </p:nvSpPr>
        <p:spPr>
          <a:xfrm>
            <a:off x="7418527" y="5669279"/>
            <a:ext cx="42062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(1978), Fig. 2. Discriminant value D(W,A) for behavior (B) and for retinal (R2–R4), tectal (T5(1), T5(2)) and pretectal (TH3) neurons.</a:t>
            </a:r>
            <a:endParaRPr/>
          </a:p>
        </p:txBody>
      </p:sp>
      <p:sp>
        <p:nvSpPr>
          <p:cNvPr id="212" name="Google Shape;212;p11"/>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1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(1978)</a:t>
            </a:r>
            <a:endParaRPr/>
          </a:p>
        </p:txBody>
      </p:sp>
      <p:sp>
        <p:nvSpPr>
          <p:cNvPr id="214" name="Google Shape;214;p1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 name="Shape 219"/>
        <p:cNvGrpSpPr/>
        <p:nvPr/>
      </p:nvGrpSpPr>
      <p:grpSpPr>
        <a:xfrm>
          <a:off x="0" y="0"/>
          <a:ext cx="0" cy="0"/>
          <a:chOff x="0" y="0"/>
          <a:chExt cx="0" cy="0"/>
        </a:xfrm>
      </p:grpSpPr>
      <p:sp>
        <p:nvSpPr>
          <p:cNvPr id="220" name="Google Shape;220;p1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Frog tectal neurons show the same division of labor</a:t>
            </a:r>
            <a:endParaRPr/>
          </a:p>
        </p:txBody>
      </p:sp>
      <p:sp>
        <p:nvSpPr>
          <p:cNvPr id="221" name="Google Shape;221;p12"/>
          <p:cNvSpPr txBox="1"/>
          <p:nvPr/>
        </p:nvSpPr>
        <p:spPr>
          <a:xfrm>
            <a:off x="566928" y="1234440"/>
            <a:ext cx="483991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Schürg-Pfeiffer and Ewert recorded 63 single neurons in the frog </a:t>
            </a:r>
            <a:r>
              <a:rPr b="0" i="1" lang="en-US" sz="1600" u="none" cap="none" strike="noStrike">
                <a:solidFill>
                  <a:srgbClr val="1F2530"/>
                </a:solidFill>
                <a:latin typeface="Arial"/>
                <a:ea typeface="Arial"/>
                <a:cs typeface="Arial"/>
                <a:sym typeface="Arial"/>
              </a:rPr>
              <a:t>Rana temporaria</a:t>
            </a:r>
            <a:r>
              <a:rPr b="0" i="0" lang="en-US" sz="1600" u="none" cap="none" strike="noStrike">
                <a:solidFill>
                  <a:srgbClr val="1F2530"/>
                </a:solidFill>
                <a:latin typeface="Arial"/>
                <a:ea typeface="Arial"/>
                <a:cs typeface="Arial"/>
                <a:sym typeface="Arial"/>
              </a:rPr>
              <a:t>: retinal classes R1–R3 and tectal classes T5(1), T5(2), T5(3) and T7.</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Retinal cells preferred antiworms when stripes were shorter than their excitatory receptive field and worms only when stripes were longer, as expected from a centre–surround organization. Tectal </a:t>
            </a:r>
            <a:r>
              <a:rPr b="1" i="0" lang="en-US" sz="1600" u="none" cap="none" strike="noStrike">
                <a:solidFill>
                  <a:srgbClr val="1D4E89"/>
                </a:solidFill>
                <a:latin typeface="Arial"/>
                <a:ea typeface="Arial"/>
                <a:cs typeface="Arial"/>
                <a:sym typeface="Arial"/>
              </a:rPr>
              <a:t>T5(1)</a:t>
            </a:r>
            <a:r>
              <a:rPr b="0" i="0" lang="en-US" sz="1600" u="none" cap="none" strike="noStrike">
                <a:solidFill>
                  <a:srgbClr val="1F2530"/>
                </a:solidFill>
                <a:latin typeface="Arial"/>
                <a:ea typeface="Arial"/>
                <a:cs typeface="Arial"/>
                <a:sym typeface="Arial"/>
              </a:rPr>
              <a:t> neurons showed almost no configurational preference, </a:t>
            </a:r>
            <a:r>
              <a:rPr b="1" i="0" lang="en-US" sz="1600" u="none" cap="none" strike="noStrike">
                <a:solidFill>
                  <a:srgbClr val="1D4E89"/>
                </a:solidFill>
                <a:latin typeface="Arial"/>
                <a:ea typeface="Arial"/>
                <a:cs typeface="Arial"/>
                <a:sym typeface="Arial"/>
              </a:rPr>
              <a:t>T5(2)</a:t>
            </a:r>
            <a:r>
              <a:rPr b="0" i="0" lang="en-US" sz="1600" u="none" cap="none" strike="noStrike">
                <a:solidFill>
                  <a:srgbClr val="1F2530"/>
                </a:solidFill>
                <a:latin typeface="Arial"/>
                <a:ea typeface="Arial"/>
                <a:cs typeface="Arial"/>
                <a:sym typeface="Arial"/>
              </a:rPr>
              <a:t> neurons preferred worms, and </a:t>
            </a:r>
            <a:r>
              <a:rPr b="1" i="0" lang="en-US" sz="1600" u="none" cap="none" strike="noStrike">
                <a:solidFill>
                  <a:srgbClr val="1D4E89"/>
                </a:solidFill>
                <a:latin typeface="Arial"/>
                <a:ea typeface="Arial"/>
                <a:cs typeface="Arial"/>
                <a:sym typeface="Arial"/>
              </a:rPr>
              <a:t>T5(3)</a:t>
            </a:r>
            <a:r>
              <a:rPr b="0" i="0" lang="en-US" sz="1600" u="none" cap="none" strike="noStrike">
                <a:solidFill>
                  <a:srgbClr val="1F2530"/>
                </a:solidFill>
                <a:latin typeface="Arial"/>
                <a:ea typeface="Arial"/>
                <a:cs typeface="Arial"/>
                <a:sym typeface="Arial"/>
              </a:rPr>
              <a:t> neurons preferred antiworms, resembling pretectal TH3 cells.</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Plotted side by side, frog and toad neuron classes have similar shapes, but the toad's retinal (R2, R3) and tectal (T5(1), T5(2)) selectivities are sharper. This parallels the sharper discrimination of the toad's behavior.</a:t>
            </a:r>
            <a:endParaRPr/>
          </a:p>
        </p:txBody>
      </p:sp>
      <p:pic>
        <p:nvPicPr>
          <p:cNvPr descr="sp_f11.png" id="222" name="Google Shape;222;p12"/>
          <p:cNvPicPr preferRelativeResize="0"/>
          <p:nvPr/>
        </p:nvPicPr>
        <p:blipFill rotWithShape="1">
          <a:blip r:embed="rId3">
            <a:alphaModFix/>
          </a:blip>
          <a:srcRect b="0" l="0" r="0" t="0"/>
          <a:stretch/>
        </p:blipFill>
        <p:spPr>
          <a:xfrm>
            <a:off x="5772607" y="1280160"/>
            <a:ext cx="5852160" cy="2469253"/>
          </a:xfrm>
          <a:prstGeom prst="rect">
            <a:avLst/>
          </a:prstGeom>
          <a:noFill/>
          <a:ln>
            <a:noFill/>
          </a:ln>
        </p:spPr>
      </p:pic>
      <p:sp>
        <p:nvSpPr>
          <p:cNvPr id="223" name="Google Shape;223;p12"/>
          <p:cNvSpPr txBox="1"/>
          <p:nvPr/>
        </p:nvSpPr>
        <p:spPr>
          <a:xfrm>
            <a:off x="5772607" y="3840853"/>
            <a:ext cx="58521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Schürg-Pfeiffer &amp; Ewert (1981), Fig. 11. Discriminant values of retinal and tectal neuron classes in R. temporaria (above) and B. bufo (below) versus stripe length.</a:t>
            </a:r>
            <a:endParaRPr/>
          </a:p>
        </p:txBody>
      </p:sp>
      <p:sp>
        <p:nvSpPr>
          <p:cNvPr id="224" name="Google Shape;224;p12"/>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1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Schürg-Pfeiffer &amp; Ewert (1981)</a:t>
            </a:r>
            <a:endParaRPr/>
          </a:p>
        </p:txBody>
      </p:sp>
      <p:sp>
        <p:nvSpPr>
          <p:cNvPr id="226" name="Google Shape;226;p1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 name="Shape 231"/>
        <p:cNvGrpSpPr/>
        <p:nvPr/>
      </p:nvGrpSpPr>
      <p:grpSpPr>
        <a:xfrm>
          <a:off x="0" y="0"/>
          <a:ext cx="0" cy="0"/>
          <a:chOff x="0" y="0"/>
          <a:chExt cx="0" cy="0"/>
        </a:xfrm>
      </p:grpSpPr>
      <p:sp>
        <p:nvSpPr>
          <p:cNvPr id="232" name="Google Shape;232;p1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Retina, tectum and pretectum feed visual prey-catching</a:t>
            </a:r>
            <a:endParaRPr/>
          </a:p>
        </p:txBody>
      </p:sp>
      <p:sp>
        <p:nvSpPr>
          <p:cNvPr id="233" name="Google Shape;233;p13"/>
          <p:cNvSpPr txBox="1"/>
          <p:nvPr/>
        </p:nvSpPr>
        <p:spPr>
          <a:xfrm>
            <a:off x="566928" y="1234440"/>
            <a:ext cx="575431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1F2530"/>
                </a:solidFill>
                <a:latin typeface="Arial"/>
                <a:ea typeface="Arial"/>
                <a:cs typeface="Arial"/>
                <a:sym typeface="Arial"/>
              </a:rPr>
              <a:t>The </a:t>
            </a:r>
            <a:r>
              <a:rPr b="1" i="0" lang="en-US" sz="1700" u="none" cap="none" strike="noStrike">
                <a:solidFill>
                  <a:srgbClr val="1D4E89"/>
                </a:solidFill>
                <a:latin typeface="Arial"/>
                <a:ea typeface="Arial"/>
                <a:cs typeface="Arial"/>
                <a:sym typeface="Arial"/>
              </a:rPr>
              <a:t>optic tectum (T)</a:t>
            </a:r>
            <a:r>
              <a:rPr b="0" i="0" lang="en-US" sz="1700" u="none" cap="none" strike="noStrike">
                <a:solidFill>
                  <a:srgbClr val="1F2530"/>
                </a:solidFill>
                <a:latin typeface="Arial"/>
                <a:ea typeface="Arial"/>
                <a:cs typeface="Arial"/>
                <a:sym typeface="Arial"/>
              </a:rPr>
              <a:t>, in the roof of the midbrain, is the main target of the retina (R). It is homologous to the mammalian </a:t>
            </a:r>
            <a:r>
              <a:rPr b="1" i="0" lang="en-US" sz="1700" u="none" cap="none" strike="noStrike">
                <a:solidFill>
                  <a:srgbClr val="1D4E89"/>
                </a:solidFill>
                <a:latin typeface="Arial"/>
                <a:ea typeface="Arial"/>
                <a:cs typeface="Arial"/>
                <a:sym typeface="Arial"/>
              </a:rPr>
              <a:t>superior colliculus</a:t>
            </a:r>
            <a:r>
              <a:rPr b="0" i="0" lang="en-US" sz="1700" u="none" cap="none" strike="noStrike">
                <a:solidFill>
                  <a:srgbClr val="1F2530"/>
                </a:solidFill>
                <a:latin typeface="Arial"/>
                <a:ea typeface="Arial"/>
                <a:cs typeface="Arial"/>
                <a:sym typeface="Arial"/>
              </a:rPr>
              <a:t>. The </a:t>
            </a:r>
            <a:r>
              <a:rPr b="1" i="0" lang="en-US" sz="1700" u="none" cap="none" strike="noStrike">
                <a:solidFill>
                  <a:srgbClr val="1D4E89"/>
                </a:solidFill>
                <a:latin typeface="Arial"/>
                <a:ea typeface="Arial"/>
                <a:cs typeface="Arial"/>
                <a:sym typeface="Arial"/>
              </a:rPr>
              <a:t>pretectal thalamic</a:t>
            </a:r>
            <a:r>
              <a:rPr b="0" i="0" lang="en-US" sz="1700" u="none" cap="none" strike="noStrike">
                <a:solidFill>
                  <a:srgbClr val="1F2530"/>
                </a:solidFill>
                <a:latin typeface="Arial"/>
                <a:ea typeface="Arial"/>
                <a:cs typeface="Arial"/>
                <a:sym typeface="Arial"/>
              </a:rPr>
              <a:t> region (TH), at the boundary of diencephalon and midbrain, also receives retinal input. Both contain </a:t>
            </a:r>
            <a:r>
              <a:rPr b="1" i="0" lang="en-US" sz="1700" u="none" cap="none" strike="noStrike">
                <a:solidFill>
                  <a:srgbClr val="1D4E89"/>
                </a:solidFill>
                <a:latin typeface="Arial"/>
                <a:ea typeface="Arial"/>
                <a:cs typeface="Arial"/>
                <a:sym typeface="Arial"/>
              </a:rPr>
              <a:t>retinotopic maps</a:t>
            </a:r>
            <a:r>
              <a:rPr b="0" i="0" lang="en-US" sz="1700" u="none" cap="none" strike="noStrike">
                <a:solidFill>
                  <a:srgbClr val="1F2530"/>
                </a:solidFill>
                <a:latin typeface="Arial"/>
                <a:ea typeface="Arial"/>
                <a:cs typeface="Arial"/>
                <a:sym typeface="Arial"/>
              </a:rPr>
              <a:t>, in which neighboring points in the visual field are represented by neighboring neurons.</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Outputs from tectum and pretectum descend to </a:t>
            </a:r>
            <a:r>
              <a:rPr b="1" i="0" lang="en-US" sz="1700" u="none" cap="none" strike="noStrike">
                <a:solidFill>
                  <a:srgbClr val="1D4E89"/>
                </a:solidFill>
                <a:latin typeface="Arial"/>
                <a:ea typeface="Arial"/>
                <a:cs typeface="Arial"/>
                <a:sym typeface="Arial"/>
              </a:rPr>
              <a:t>premotor and motor structures (PMS)</a:t>
            </a:r>
            <a:r>
              <a:rPr b="0" i="0" lang="en-US" sz="1700" u="none" cap="none" strike="noStrike">
                <a:solidFill>
                  <a:srgbClr val="1F2530"/>
                </a:solidFill>
                <a:latin typeface="Arial"/>
                <a:ea typeface="Arial"/>
                <a:cs typeface="Arial"/>
                <a:sym typeface="Arial"/>
              </a:rPr>
              <a:t> in the medulla oblongata and spinal cord that generate orienting and snapping.</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Forebrain structures modulate this pathway: the </a:t>
            </a:r>
            <a:r>
              <a:rPr b="1" i="0" lang="en-US" sz="1700" u="none" cap="none" strike="noStrike">
                <a:solidFill>
                  <a:srgbClr val="1D4E89"/>
                </a:solidFill>
                <a:latin typeface="Arial"/>
                <a:ea typeface="Arial"/>
                <a:cs typeface="Arial"/>
                <a:sym typeface="Arial"/>
              </a:rPr>
              <a:t>striatum (S)</a:t>
            </a:r>
            <a:r>
              <a:rPr b="0" i="0" lang="en-US" sz="1700" u="none" cap="none" strike="noStrike">
                <a:solidFill>
                  <a:srgbClr val="1F2530"/>
                </a:solidFill>
                <a:latin typeface="Arial"/>
                <a:ea typeface="Arial"/>
                <a:cs typeface="Arial"/>
                <a:sym typeface="Arial"/>
              </a:rPr>
              <a:t> and the </a:t>
            </a:r>
            <a:r>
              <a:rPr b="1" i="0" lang="en-US" sz="1700" u="none" cap="none" strike="noStrike">
                <a:solidFill>
                  <a:srgbClr val="1D4E89"/>
                </a:solidFill>
                <a:latin typeface="Arial"/>
                <a:ea typeface="Arial"/>
                <a:cs typeface="Arial"/>
                <a:sym typeface="Arial"/>
              </a:rPr>
              <a:t>lateral anterior thalamic nucleus (LA)</a:t>
            </a:r>
            <a:r>
              <a:rPr b="0" i="0" lang="en-US" sz="1700" u="none" cap="none" strike="noStrike">
                <a:solidFill>
                  <a:srgbClr val="1F2530"/>
                </a:solidFill>
                <a:latin typeface="Arial"/>
                <a:ea typeface="Arial"/>
                <a:cs typeface="Arial"/>
                <a:sym typeface="Arial"/>
              </a:rPr>
              <a:t> take part in response gating, and the </a:t>
            </a:r>
            <a:r>
              <a:rPr b="1" i="0" lang="en-US" sz="1700" u="none" cap="none" strike="noStrike">
                <a:solidFill>
                  <a:srgbClr val="1D4E89"/>
                </a:solidFill>
                <a:latin typeface="Arial"/>
                <a:ea typeface="Arial"/>
                <a:cs typeface="Arial"/>
                <a:sym typeface="Arial"/>
              </a:rPr>
              <a:t>medial pallium (MP)</a:t>
            </a:r>
            <a:r>
              <a:rPr b="0" i="0" lang="en-US" sz="1700" u="none" cap="none" strike="noStrike">
                <a:solidFill>
                  <a:srgbClr val="1F2530"/>
                </a:solidFill>
                <a:latin typeface="Arial"/>
                <a:ea typeface="Arial"/>
                <a:cs typeface="Arial"/>
                <a:sym typeface="Arial"/>
              </a:rPr>
              <a:t>, the amphibian homolog of the hippocampus, takes part in learning.</a:t>
            </a:r>
            <a:endParaRPr/>
          </a:p>
        </p:txBody>
      </p:sp>
      <p:pic>
        <p:nvPicPr>
          <p:cNvPr descr="t97_f1a.png" id="234" name="Google Shape;234;p13"/>
          <p:cNvPicPr preferRelativeResize="0"/>
          <p:nvPr/>
        </p:nvPicPr>
        <p:blipFill rotWithShape="1">
          <a:blip r:embed="rId3">
            <a:alphaModFix/>
          </a:blip>
          <a:srcRect b="0" l="0" r="0" t="0"/>
          <a:stretch/>
        </p:blipFill>
        <p:spPr>
          <a:xfrm>
            <a:off x="6687007" y="1280160"/>
            <a:ext cx="4937760" cy="2925699"/>
          </a:xfrm>
          <a:prstGeom prst="rect">
            <a:avLst/>
          </a:prstGeom>
          <a:noFill/>
          <a:ln>
            <a:noFill/>
          </a:ln>
        </p:spPr>
      </p:pic>
      <p:sp>
        <p:nvSpPr>
          <p:cNvPr id="235" name="Google Shape;235;p13"/>
          <p:cNvSpPr txBox="1"/>
          <p:nvPr/>
        </p:nvSpPr>
        <p:spPr>
          <a:xfrm>
            <a:off x="6687007" y="4297299"/>
            <a:ext cx="49377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(1997), Fig. 1A. Anuran brain: retina (R), optic tectum (T), pretectal thalamus (TH), striatum (S), medial pallium (MP) and premotor–motor structures (PMS).</a:t>
            </a:r>
            <a:endParaRPr/>
          </a:p>
        </p:txBody>
      </p:sp>
      <p:sp>
        <p:nvSpPr>
          <p:cNvPr id="236" name="Google Shape;236;p13"/>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7" name="Google Shape;237;p1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(1997); Ewert et al. (2001)</a:t>
            </a:r>
            <a:endParaRPr/>
          </a:p>
        </p:txBody>
      </p:sp>
      <p:sp>
        <p:nvSpPr>
          <p:cNvPr id="238" name="Google Shape;238;p1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sp>
        <p:nvSpPr>
          <p:cNvPr id="244" name="Google Shape;244;p1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Tectal neurons collect input across retinal layers</a:t>
            </a:r>
            <a:endParaRPr/>
          </a:p>
        </p:txBody>
      </p:sp>
      <p:sp>
        <p:nvSpPr>
          <p:cNvPr id="245" name="Google Shape;245;p14"/>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Retinal ganglion cell axons end in different layers of the superficial tectum: </a:t>
            </a:r>
            <a:r>
              <a:rPr b="1" i="0" lang="en-US" sz="1600" u="none" cap="none" strike="noStrike">
                <a:solidFill>
                  <a:srgbClr val="1D4E89"/>
                </a:solidFill>
                <a:latin typeface="Arial"/>
                <a:ea typeface="Arial"/>
                <a:cs typeface="Arial"/>
                <a:sym typeface="Arial"/>
              </a:rPr>
              <a:t>R2</a:t>
            </a:r>
            <a:r>
              <a:rPr b="0" i="0" lang="en-US" sz="1600" u="none" cap="none" strike="noStrike">
                <a:solidFill>
                  <a:srgbClr val="1F2530"/>
                </a:solidFill>
                <a:latin typeface="Arial"/>
                <a:ea typeface="Arial"/>
                <a:cs typeface="Arial"/>
                <a:sym typeface="Arial"/>
              </a:rPr>
              <a:t> in laminae B–C, </a:t>
            </a:r>
            <a:r>
              <a:rPr b="1" i="0" lang="en-US" sz="1600" u="none" cap="none" strike="noStrike">
                <a:solidFill>
                  <a:srgbClr val="1D4E89"/>
                </a:solidFill>
                <a:latin typeface="Arial"/>
                <a:ea typeface="Arial"/>
                <a:cs typeface="Arial"/>
                <a:sym typeface="Arial"/>
              </a:rPr>
              <a:t>R3</a:t>
            </a:r>
            <a:r>
              <a:rPr b="0" i="0" lang="en-US" sz="1600" u="none" cap="none" strike="noStrike">
                <a:solidFill>
                  <a:srgbClr val="1F2530"/>
                </a:solidFill>
                <a:latin typeface="Arial"/>
                <a:ea typeface="Arial"/>
                <a:cs typeface="Arial"/>
                <a:sym typeface="Arial"/>
              </a:rPr>
              <a:t> in C–F and </a:t>
            </a:r>
            <a:r>
              <a:rPr b="1" i="0" lang="en-US" sz="1600" u="none" cap="none" strike="noStrike">
                <a:solidFill>
                  <a:srgbClr val="1D4E89"/>
                </a:solidFill>
                <a:latin typeface="Arial"/>
                <a:ea typeface="Arial"/>
                <a:cs typeface="Arial"/>
                <a:sym typeface="Arial"/>
              </a:rPr>
              <a:t>R4</a:t>
            </a:r>
            <a:r>
              <a:rPr b="0" i="0" lang="en-US" sz="1600" u="none" cap="none" strike="noStrike">
                <a:solidFill>
                  <a:srgbClr val="1F2530"/>
                </a:solidFill>
                <a:latin typeface="Arial"/>
                <a:ea typeface="Arial"/>
                <a:cs typeface="Arial"/>
                <a:sym typeface="Arial"/>
              </a:rPr>
              <a:t> in F–G. Neuropeptide-Y fibers from the pretectum end mainly in laminae B and C.</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Intracellular recordings followed by cobalt-lysine filling revealed tectal neurons whose dendrites span several of these laminae. A pear-shaped </a:t>
            </a:r>
            <a:r>
              <a:rPr b="1" i="0" lang="en-US" sz="1600" u="none" cap="none" strike="noStrike">
                <a:solidFill>
                  <a:srgbClr val="1D4E89"/>
                </a:solidFill>
                <a:latin typeface="Arial"/>
                <a:ea typeface="Arial"/>
                <a:cs typeface="Arial"/>
                <a:sym typeface="Arial"/>
              </a:rPr>
              <a:t>T5.1</a:t>
            </a:r>
            <a:r>
              <a:rPr b="0" i="0" lang="en-US" sz="1600" u="none" cap="none" strike="noStrike">
                <a:solidFill>
                  <a:srgbClr val="1F2530"/>
                </a:solidFill>
                <a:latin typeface="Arial"/>
                <a:ea typeface="Arial"/>
                <a:cs typeface="Arial"/>
                <a:sym typeface="Arial"/>
              </a:rPr>
              <a:t> cell (yellow) arborizes from lamina B through G and can integrate inputs from several retinal classes. Another T5.1 subtype (green) spreads laterally, suited to interactions across the tectal map. A large neuron (violet) responds to any moving stimulus. The </a:t>
            </a:r>
            <a:r>
              <a:rPr b="1" i="0" lang="en-US" sz="1600" u="none" cap="none" strike="noStrike">
                <a:solidFill>
                  <a:srgbClr val="1D4E89"/>
                </a:solidFill>
                <a:latin typeface="Arial"/>
                <a:ea typeface="Arial"/>
                <a:cs typeface="Arial"/>
                <a:sym typeface="Arial"/>
              </a:rPr>
              <a:t>T5.2</a:t>
            </a:r>
            <a:r>
              <a:rPr b="0" i="0" lang="en-US" sz="1600" u="none" cap="none" strike="noStrike">
                <a:solidFill>
                  <a:srgbClr val="1F2530"/>
                </a:solidFill>
                <a:latin typeface="Arial"/>
                <a:ea typeface="Arial"/>
                <a:cs typeface="Arial"/>
                <a:sym typeface="Arial"/>
              </a:rPr>
              <a:t> pyramidal cell (blue) integrates inputs from layers 8 and 9 and sends its axon toward the medulla oblongata.</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This anatomy allows each tectal output neuron to combine several retinal channels with pretectal input.</a:t>
            </a:r>
            <a:endParaRPr/>
          </a:p>
        </p:txBody>
      </p:sp>
      <p:pic>
        <p:nvPicPr>
          <p:cNvPr descr="t97_f2a.png" id="246" name="Google Shape;246;p14"/>
          <p:cNvPicPr preferRelativeResize="0"/>
          <p:nvPr/>
        </p:nvPicPr>
        <p:blipFill rotWithShape="1">
          <a:blip r:embed="rId3">
            <a:alphaModFix/>
          </a:blip>
          <a:srcRect b="0" l="0" r="0" t="0"/>
          <a:stretch/>
        </p:blipFill>
        <p:spPr>
          <a:xfrm>
            <a:off x="6138367" y="1280160"/>
            <a:ext cx="5486400" cy="2758213"/>
          </a:xfrm>
          <a:prstGeom prst="rect">
            <a:avLst/>
          </a:prstGeom>
          <a:noFill/>
          <a:ln>
            <a:noFill/>
          </a:ln>
        </p:spPr>
      </p:pic>
      <p:sp>
        <p:nvSpPr>
          <p:cNvPr id="247" name="Google Shape;247;p14"/>
          <p:cNvSpPr txBox="1"/>
          <p:nvPr/>
        </p:nvSpPr>
        <p:spPr>
          <a:xfrm>
            <a:off x="6138367" y="4129813"/>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(1997), Fig. 2A. Cobalt-filled tectal neurons (T5.1 yellow and green, large neuron violet, T5.2 blue) spanning tectal laminae A–G.</a:t>
            </a:r>
            <a:endParaRPr/>
          </a:p>
        </p:txBody>
      </p:sp>
      <p:sp>
        <p:nvSpPr>
          <p:cNvPr id="248" name="Google Shape;248;p14"/>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9" name="Google Shape;249;p1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(1997)</a:t>
            </a:r>
            <a:endParaRPr/>
          </a:p>
        </p:txBody>
      </p:sp>
      <p:sp>
        <p:nvSpPr>
          <p:cNvPr id="250" name="Google Shape;250;p1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14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 name="Shape 255"/>
        <p:cNvGrpSpPr/>
        <p:nvPr/>
      </p:nvGrpSpPr>
      <p:grpSpPr>
        <a:xfrm>
          <a:off x="0" y="0"/>
          <a:ext cx="0" cy="0"/>
          <a:chOff x="0" y="0"/>
          <a:chExt cx="0" cy="0"/>
        </a:xfrm>
      </p:grpSpPr>
      <p:sp>
        <p:nvSpPr>
          <p:cNvPr id="256" name="Google Shape;256;p1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T5(2) neurons fire to worms but weakly to antiworms</a:t>
            </a:r>
            <a:endParaRPr/>
          </a:p>
        </p:txBody>
      </p:sp>
      <p:sp>
        <p:nvSpPr>
          <p:cNvPr id="257" name="Google Shape;257;p15"/>
          <p:cNvSpPr txBox="1"/>
          <p:nvPr/>
        </p:nvSpPr>
        <p:spPr>
          <a:xfrm>
            <a:off x="566928" y="1234440"/>
            <a:ext cx="63029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Schürg-Pfeiffer and Ewert showed the spike trains of a frog </a:t>
            </a:r>
            <a:r>
              <a:rPr b="1" i="0" lang="en-US" sz="1800" u="none" cap="none" strike="noStrike">
                <a:solidFill>
                  <a:srgbClr val="1D4E89"/>
                </a:solidFill>
                <a:latin typeface="Arial"/>
                <a:ea typeface="Arial"/>
                <a:cs typeface="Arial"/>
                <a:sym typeface="Arial"/>
              </a:rPr>
              <a:t>T5(2)</a:t>
            </a:r>
            <a:r>
              <a:rPr b="0" i="0" lang="en-US" sz="1800" u="none" cap="none" strike="noStrike">
                <a:solidFill>
                  <a:srgbClr val="1F2530"/>
                </a:solidFill>
                <a:latin typeface="Arial"/>
                <a:ea typeface="Arial"/>
                <a:cs typeface="Arial"/>
                <a:sym typeface="Arial"/>
              </a:rPr>
              <a:t> neuron to squares, worm-like stripes and antiworm-like stripes of increasing length.</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For squares (left column), firing increased up to 8° and then fell. For stripes extended along the direction of movement (right column), firing remained strong as the stripe lengthened. For stripes extended across the direction of movement (middle column), firing weakened progressively as the stripe became longer.</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The excitatory receptive field of these cells averaged about 18° in diameter and is roughly circular, so the worm preference is not simply a matter of receptive-field shape. It depends on interactions between the stimulus's extension along and across its path, the same relation the toad's behavior expresses.</a:t>
            </a:r>
            <a:endParaRPr/>
          </a:p>
        </p:txBody>
      </p:sp>
      <p:pic>
        <p:nvPicPr>
          <p:cNvPr descr="sp_f8.png" id="258" name="Google Shape;258;p15"/>
          <p:cNvPicPr preferRelativeResize="0"/>
          <p:nvPr/>
        </p:nvPicPr>
        <p:blipFill rotWithShape="1">
          <a:blip r:embed="rId3">
            <a:alphaModFix/>
          </a:blip>
          <a:srcRect b="0" l="0" r="0" t="0"/>
          <a:stretch/>
        </p:blipFill>
        <p:spPr>
          <a:xfrm>
            <a:off x="7949121" y="1280160"/>
            <a:ext cx="2962171" cy="4297679"/>
          </a:xfrm>
          <a:prstGeom prst="rect">
            <a:avLst/>
          </a:prstGeom>
          <a:noFill/>
          <a:ln>
            <a:noFill/>
          </a:ln>
        </p:spPr>
      </p:pic>
      <p:sp>
        <p:nvSpPr>
          <p:cNvPr id="259" name="Google Shape;259;p15"/>
          <p:cNvSpPr txBox="1"/>
          <p:nvPr/>
        </p:nvSpPr>
        <p:spPr>
          <a:xfrm>
            <a:off x="7235647" y="5669279"/>
            <a:ext cx="43891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Schürg-Pfeiffer &amp; Ewert (1981), Fig. 8. Spike trains of a T5(2) neuron to squares, antiworm (middle) and worm (right) stripes of 4–20° length; time scale 1 s.</a:t>
            </a:r>
            <a:endParaRPr/>
          </a:p>
        </p:txBody>
      </p:sp>
      <p:sp>
        <p:nvSpPr>
          <p:cNvPr id="260" name="Google Shape;260;p15"/>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1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Schürg-Pfeiffer &amp; Ewert (1981)</a:t>
            </a:r>
            <a:endParaRPr/>
          </a:p>
        </p:txBody>
      </p:sp>
      <p:sp>
        <p:nvSpPr>
          <p:cNvPr id="262" name="Google Shape;262;p1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15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 name="Shape 267"/>
        <p:cNvGrpSpPr/>
        <p:nvPr/>
      </p:nvGrpSpPr>
      <p:grpSpPr>
        <a:xfrm>
          <a:off x="0" y="0"/>
          <a:ext cx="0" cy="0"/>
          <a:chOff x="0" y="0"/>
          <a:chExt cx="0" cy="0"/>
        </a:xfrm>
      </p:grpSpPr>
      <p:sp>
        <p:nvSpPr>
          <p:cNvPr id="268" name="Google Shape;268;p1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Retina, tectum and pretectum code ep and ea differently</a:t>
            </a:r>
            <a:endParaRPr/>
          </a:p>
        </p:txBody>
      </p:sp>
      <p:sp>
        <p:nvSpPr>
          <p:cNvPr id="269" name="Google Shape;269;p16"/>
          <p:cNvSpPr txBox="1"/>
          <p:nvPr/>
        </p:nvSpPr>
        <p:spPr>
          <a:xfrm>
            <a:off x="566928" y="1234440"/>
            <a:ext cx="666871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Ewert summarized responses to ep, ea and square size in a color-coded table, with each response scaled to the optimal stimulus.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Prey-catching rose with ep, fell with ea and peaked for intermediate squares. Avoidance behavior showed the reverse, rising for large squares. Retinal </a:t>
            </a:r>
            <a:r>
              <a:rPr b="1" i="0" lang="en-US" sz="1800" u="none" cap="none" strike="noStrike">
                <a:solidFill>
                  <a:srgbClr val="1D4E89"/>
                </a:solidFill>
                <a:latin typeface="Arial"/>
                <a:ea typeface="Arial"/>
                <a:cs typeface="Arial"/>
                <a:sym typeface="Arial"/>
              </a:rPr>
              <a:t>R2, R3 and R4</a:t>
            </a:r>
            <a:r>
              <a:rPr b="0" i="0" lang="en-US" sz="1800" u="none" cap="none" strike="noStrike">
                <a:solidFill>
                  <a:srgbClr val="1F2530"/>
                </a:solidFill>
                <a:latin typeface="Arial"/>
                <a:ea typeface="Arial"/>
                <a:cs typeface="Arial"/>
                <a:sym typeface="Arial"/>
              </a:rPr>
              <a:t> cells responded to ea and to square area according to their receptive-field size. Pretectal </a:t>
            </a:r>
            <a:r>
              <a:rPr b="1" i="0" lang="en-US" sz="1800" u="none" cap="none" strike="noStrike">
                <a:solidFill>
                  <a:srgbClr val="1D4E89"/>
                </a:solidFill>
                <a:latin typeface="Arial"/>
                <a:ea typeface="Arial"/>
                <a:cs typeface="Arial"/>
                <a:sym typeface="Arial"/>
              </a:rPr>
              <a:t>TH3</a:t>
            </a:r>
            <a:r>
              <a:rPr b="0" i="0" lang="en-US" sz="1800" u="none" cap="none" strike="noStrike">
                <a:solidFill>
                  <a:srgbClr val="1F2530"/>
                </a:solidFill>
                <a:latin typeface="Arial"/>
                <a:ea typeface="Arial"/>
                <a:cs typeface="Arial"/>
                <a:sym typeface="Arial"/>
              </a:rPr>
              <a:t> and tectal </a:t>
            </a:r>
            <a:r>
              <a:rPr b="1" i="0" lang="en-US" sz="1800" u="none" cap="none" strike="noStrike">
                <a:solidFill>
                  <a:srgbClr val="1D4E89"/>
                </a:solidFill>
                <a:latin typeface="Arial"/>
                <a:ea typeface="Arial"/>
                <a:cs typeface="Arial"/>
                <a:sym typeface="Arial"/>
              </a:rPr>
              <a:t>T5.3</a:t>
            </a:r>
            <a:r>
              <a:rPr b="0" i="0" lang="en-US" sz="1800" u="none" cap="none" strike="noStrike">
                <a:solidFill>
                  <a:srgbClr val="1F2530"/>
                </a:solidFill>
                <a:latin typeface="Arial"/>
                <a:ea typeface="Arial"/>
                <a:cs typeface="Arial"/>
                <a:sym typeface="Arial"/>
              </a:rPr>
              <a:t> neurons responded best to large ea and large squares.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Tectal </a:t>
            </a:r>
            <a:r>
              <a:rPr b="1" i="0" lang="en-US" sz="1800" u="none" cap="none" strike="noStrike">
                <a:solidFill>
                  <a:srgbClr val="1D4E89"/>
                </a:solidFill>
                <a:latin typeface="Arial"/>
                <a:ea typeface="Arial"/>
                <a:cs typeface="Arial"/>
                <a:sym typeface="Arial"/>
              </a:rPr>
              <a:t>T5.1</a:t>
            </a:r>
            <a:r>
              <a:rPr b="0" i="0" lang="en-US" sz="1800" u="none" cap="none" strike="noStrike">
                <a:solidFill>
                  <a:srgbClr val="1F2530"/>
                </a:solidFill>
                <a:latin typeface="Arial"/>
                <a:ea typeface="Arial"/>
                <a:cs typeface="Arial"/>
                <a:sym typeface="Arial"/>
              </a:rPr>
              <a:t> neurons coded ep. Only </a:t>
            </a:r>
            <a:r>
              <a:rPr b="1" i="0" lang="en-US" sz="1800" u="none" cap="none" strike="noStrike">
                <a:solidFill>
                  <a:srgbClr val="1D4E89"/>
                </a:solidFill>
                <a:latin typeface="Arial"/>
                <a:ea typeface="Arial"/>
                <a:cs typeface="Arial"/>
                <a:sym typeface="Arial"/>
              </a:rPr>
              <a:t>T5.2</a:t>
            </a:r>
            <a:r>
              <a:rPr b="0" i="0" lang="en-US" sz="1800" u="none" cap="none" strike="noStrike">
                <a:solidFill>
                  <a:srgbClr val="1F2530"/>
                </a:solidFill>
                <a:latin typeface="Arial"/>
                <a:ea typeface="Arial"/>
                <a:cs typeface="Arial"/>
                <a:sym typeface="Arial"/>
              </a:rPr>
              <a:t> neurons combined strong responses to ep with weak responses to ea, the pattern of prey-catching, and </a:t>
            </a:r>
            <a:r>
              <a:rPr b="1" i="0" lang="en-US" sz="1800" u="none" cap="none" strike="noStrike">
                <a:solidFill>
                  <a:srgbClr val="1D4E89"/>
                </a:solidFill>
                <a:latin typeface="Arial"/>
                <a:ea typeface="Arial"/>
                <a:cs typeface="Arial"/>
                <a:sym typeface="Arial"/>
              </a:rPr>
              <a:t>T5.4</a:t>
            </a:r>
            <a:r>
              <a:rPr b="0" i="0" lang="en-US" sz="1800" u="none" cap="none" strike="noStrike">
                <a:solidFill>
                  <a:srgbClr val="1F2530"/>
                </a:solidFill>
                <a:latin typeface="Arial"/>
                <a:ea typeface="Arial"/>
                <a:cs typeface="Arial"/>
                <a:sym typeface="Arial"/>
              </a:rPr>
              <a:t> neurons responded to large extensions in both dimensions, like avoidance. Ewert proposed that ensembles of such neurons define perceptual categories: prey (T5.1, T5.2), predator (T5.3, TH3, T5.4).</a:t>
            </a:r>
            <a:endParaRPr/>
          </a:p>
        </p:txBody>
      </p:sp>
      <p:pic>
        <p:nvPicPr>
          <p:cNvPr descr="t97_f3.png" id="270" name="Google Shape;270;p16"/>
          <p:cNvPicPr preferRelativeResize="0"/>
          <p:nvPr/>
        </p:nvPicPr>
        <p:blipFill rotWithShape="1">
          <a:blip r:embed="rId3">
            <a:alphaModFix/>
          </a:blip>
          <a:srcRect b="0" l="0" r="0" t="0"/>
          <a:stretch/>
        </p:blipFill>
        <p:spPr>
          <a:xfrm>
            <a:off x="8060943" y="1280160"/>
            <a:ext cx="3104286" cy="4297679"/>
          </a:xfrm>
          <a:prstGeom prst="rect">
            <a:avLst/>
          </a:prstGeom>
          <a:noFill/>
          <a:ln>
            <a:noFill/>
          </a:ln>
        </p:spPr>
      </p:pic>
      <p:sp>
        <p:nvSpPr>
          <p:cNvPr id="271" name="Google Shape;271;p16"/>
          <p:cNvSpPr txBox="1"/>
          <p:nvPr/>
        </p:nvSpPr>
        <p:spPr>
          <a:xfrm>
            <a:off x="7601407" y="5669279"/>
            <a:ext cx="40233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(1997), Fig. 3. Relative responses to changes in ep (A), ea (B) and square size (C): behavior and R, T and TH neuron classes (color-coded %).</a:t>
            </a:r>
            <a:endParaRPr/>
          </a:p>
        </p:txBody>
      </p:sp>
      <p:sp>
        <p:nvSpPr>
          <p:cNvPr id="272" name="Google Shape;272;p16"/>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1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(1997)</a:t>
            </a:r>
            <a:endParaRPr/>
          </a:p>
        </p:txBody>
      </p:sp>
      <p:sp>
        <p:nvSpPr>
          <p:cNvPr id="274" name="Google Shape;274;p1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16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9" name="Shape 279"/>
        <p:cNvGrpSpPr/>
        <p:nvPr/>
      </p:nvGrpSpPr>
      <p:grpSpPr>
        <a:xfrm>
          <a:off x="0" y="0"/>
          <a:ext cx="0" cy="0"/>
          <a:chOff x="0" y="0"/>
          <a:chExt cx="0" cy="0"/>
        </a:xfrm>
      </p:grpSpPr>
      <p:sp>
        <p:nvSpPr>
          <p:cNvPr id="280" name="Google Shape;280;p1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T5.2 activity precedes orienting in freely moving toads</a:t>
            </a:r>
            <a:endParaRPr/>
          </a:p>
        </p:txBody>
      </p:sp>
      <p:sp>
        <p:nvSpPr>
          <p:cNvPr id="281" name="Google Shape;281;p17"/>
          <p:cNvSpPr txBox="1"/>
          <p:nvPr/>
        </p:nvSpPr>
        <p:spPr>
          <a:xfrm>
            <a:off x="566928" y="1234440"/>
            <a:ext cx="72173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To link neurons to behavior directly, Ewert's group implanted microelectrodes in the tectum of freely moving toads and recorded a </a:t>
            </a:r>
            <a:r>
              <a:rPr b="1" i="0" lang="en-US" sz="1800" u="none" cap="none" strike="noStrike">
                <a:solidFill>
                  <a:srgbClr val="1D4E89"/>
                </a:solidFill>
                <a:latin typeface="Arial"/>
                <a:ea typeface="Arial"/>
                <a:cs typeface="Arial"/>
                <a:sym typeface="Arial"/>
              </a:rPr>
              <a:t>T5.2</a:t>
            </a:r>
            <a:r>
              <a:rPr b="0" i="0" lang="en-US" sz="1800" u="none" cap="none" strike="noStrike">
                <a:solidFill>
                  <a:srgbClr val="1F2530"/>
                </a:solidFill>
                <a:latin typeface="Arial"/>
                <a:ea typeface="Arial"/>
                <a:cs typeface="Arial"/>
                <a:sym typeface="Arial"/>
              </a:rPr>
              <a:t> neuron while bars moved through its receptive field.</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A 2.5 × 20 mm bar moving in </a:t>
            </a:r>
            <a:r>
              <a:rPr b="1" i="0" lang="en-US" sz="1800" u="none" cap="none" strike="noStrike">
                <a:solidFill>
                  <a:srgbClr val="1D4E89"/>
                </a:solidFill>
                <a:latin typeface="Arial"/>
                <a:ea typeface="Arial"/>
                <a:cs typeface="Arial"/>
                <a:sym typeface="Arial"/>
              </a:rPr>
              <a:t>prey configuration</a:t>
            </a:r>
            <a:r>
              <a:rPr b="0" i="0" lang="en-US" sz="1800" u="none" cap="none" strike="noStrike">
                <a:solidFill>
                  <a:srgbClr val="1F2530"/>
                </a:solidFill>
                <a:latin typeface="Arial"/>
                <a:ea typeface="Arial"/>
                <a:cs typeface="Arial"/>
                <a:sym typeface="Arial"/>
              </a:rPr>
              <a:t> produced a strong burst of spikes that preceded and "predicted" the toad's orienting movement toward the stimulus (arrow). The same bar moving at the same speed in </a:t>
            </a:r>
            <a:r>
              <a:rPr b="1" i="0" lang="en-US" sz="1800" u="none" cap="none" strike="noStrike">
                <a:solidFill>
                  <a:srgbClr val="1D4E89"/>
                </a:solidFill>
                <a:latin typeface="Arial"/>
                <a:ea typeface="Arial"/>
                <a:cs typeface="Arial"/>
                <a:sym typeface="Arial"/>
              </a:rPr>
              <a:t>non-prey configuration</a:t>
            </a:r>
            <a:r>
              <a:rPr b="0" i="0" lang="en-US" sz="1800" u="none" cap="none" strike="noStrike">
                <a:solidFill>
                  <a:srgbClr val="1F2530"/>
                </a:solidFill>
                <a:latin typeface="Arial"/>
                <a:ea typeface="Arial"/>
                <a:cs typeface="Arial"/>
                <a:sym typeface="Arial"/>
              </a:rPr>
              <a:t> produced almost no activity, and the toad did not respond.</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The coupling between the neuron's burst and the behavior supports the proposal that T5.2 neurons contribute to releasing prey-catching. The data are correlational; the burst could reflect prey recognition, its consequence or a premotor signal.</a:t>
            </a:r>
            <a:endParaRPr/>
          </a:p>
        </p:txBody>
      </p:sp>
      <p:pic>
        <p:nvPicPr>
          <p:cNvPr descr="t97_f4.png" id="282" name="Google Shape;282;p17"/>
          <p:cNvPicPr preferRelativeResize="0"/>
          <p:nvPr/>
        </p:nvPicPr>
        <p:blipFill rotWithShape="1">
          <a:blip r:embed="rId3">
            <a:alphaModFix/>
          </a:blip>
          <a:srcRect b="0" l="0" r="0" t="0"/>
          <a:stretch/>
        </p:blipFill>
        <p:spPr>
          <a:xfrm>
            <a:off x="8797984" y="1280160"/>
            <a:ext cx="2178845" cy="4297679"/>
          </a:xfrm>
          <a:prstGeom prst="rect">
            <a:avLst/>
          </a:prstGeom>
          <a:noFill/>
          <a:ln>
            <a:noFill/>
          </a:ln>
        </p:spPr>
      </p:pic>
      <p:sp>
        <p:nvSpPr>
          <p:cNvPr id="283" name="Google Shape;283;p17"/>
          <p:cNvSpPr txBox="1"/>
          <p:nvPr/>
        </p:nvSpPr>
        <p:spPr>
          <a:xfrm>
            <a:off x="8150047" y="5669279"/>
            <a:ext cx="34747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(1997), Fig. 4A–C. A freely moving toad's T5.2 neuron: bar in prey (A) and non-prey (B) configuration before, and non-prey (C) after a pretectal lesion.</a:t>
            </a:r>
            <a:endParaRPr/>
          </a:p>
        </p:txBody>
      </p:sp>
      <p:sp>
        <p:nvSpPr>
          <p:cNvPr id="284" name="Google Shape;284;p17"/>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5" name="Google Shape;285;p1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(1997); Ewert et al. (2001)</a:t>
            </a:r>
            <a:endParaRPr/>
          </a:p>
        </p:txBody>
      </p:sp>
      <p:sp>
        <p:nvSpPr>
          <p:cNvPr id="286" name="Google Shape;286;p1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17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1" name="Shape 291"/>
        <p:cNvGrpSpPr/>
        <p:nvPr/>
      </p:nvGrpSpPr>
      <p:grpSpPr>
        <a:xfrm>
          <a:off x="0" y="0"/>
          <a:ext cx="0" cy="0"/>
          <a:chOff x="0" y="0"/>
          <a:chExt cx="0" cy="0"/>
        </a:xfrm>
      </p:grpSpPr>
      <p:sp>
        <p:nvSpPr>
          <p:cNvPr id="292" name="Google Shape;292;p1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Pretectal lesions abolish the worm–antiworm distinction</a:t>
            </a:r>
            <a:endParaRPr/>
          </a:p>
        </p:txBody>
      </p:sp>
      <p:sp>
        <p:nvSpPr>
          <p:cNvPr id="293" name="Google Shape;293;p18"/>
          <p:cNvSpPr txBox="1"/>
          <p:nvPr/>
        </p:nvSpPr>
        <p:spPr>
          <a:xfrm>
            <a:off x="566928" y="1234440"/>
            <a:ext cx="64858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After a </a:t>
            </a:r>
            <a:r>
              <a:rPr b="1" i="0" lang="en-US" sz="1800" u="none" cap="none" strike="noStrike">
                <a:solidFill>
                  <a:srgbClr val="1D4E89"/>
                </a:solidFill>
                <a:latin typeface="Arial"/>
                <a:ea typeface="Arial"/>
                <a:cs typeface="Arial"/>
                <a:sym typeface="Arial"/>
              </a:rPr>
              <a:t>pretectal lesion</a:t>
            </a:r>
            <a:r>
              <a:rPr b="0" i="0" lang="en-US" sz="1800" u="none" cap="none" strike="noStrike">
                <a:solidFill>
                  <a:srgbClr val="1F2530"/>
                </a:solidFill>
                <a:latin typeface="Arial"/>
                <a:ea typeface="Arial"/>
                <a:cs typeface="Arial"/>
                <a:sym typeface="Arial"/>
              </a:rPr>
              <a:t> delivered through a second implanted electrode, the same T5.2 neuron fired strongly to the non-prey bar, and the toad oriented toward it (Fig. 4C). The neuron's receptive field also enlarged and it developed resting discharge.</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In behavior, toads with bilateral pretectal lesions turned toward worms, antiworms and squares at similar rates. Antiworms, which normally abolish turning, became as effective as worms.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Lesioned toads showed a wider syndrome: tectal neurons responded more strongly and to large objects and textures; toads snapped at stationary objects, at targets far out of reach and at self-induced image motion. The pretectum therefore supplies inhibition that sharpens tectal responses.</a:t>
            </a:r>
            <a:endParaRPr/>
          </a:p>
        </p:txBody>
      </p:sp>
      <p:pic>
        <p:nvPicPr>
          <p:cNvPr descr="e01_f2d.png" id="294" name="Google Shape;294;p18"/>
          <p:cNvPicPr preferRelativeResize="0"/>
          <p:nvPr/>
        </p:nvPicPr>
        <p:blipFill rotWithShape="1">
          <a:blip r:embed="rId3">
            <a:alphaModFix/>
          </a:blip>
          <a:srcRect b="0" l="0" r="0" t="0"/>
          <a:stretch/>
        </p:blipFill>
        <p:spPr>
          <a:xfrm>
            <a:off x="7418527" y="1280160"/>
            <a:ext cx="4206240" cy="2976277"/>
          </a:xfrm>
          <a:prstGeom prst="rect">
            <a:avLst/>
          </a:prstGeom>
          <a:noFill/>
          <a:ln>
            <a:noFill/>
          </a:ln>
        </p:spPr>
      </p:pic>
      <p:sp>
        <p:nvSpPr>
          <p:cNvPr id="295" name="Google Shape;295;p18"/>
          <p:cNvSpPr txBox="1"/>
          <p:nvPr/>
        </p:nvSpPr>
        <p:spPr>
          <a:xfrm>
            <a:off x="7418527" y="4347877"/>
            <a:ext cx="42062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2D. Turning to worm (a), antiworm (b) and square (c) stimuli after bilateral pretectal thalamic lesions (n = 20 toads).</a:t>
            </a:r>
            <a:endParaRPr/>
          </a:p>
        </p:txBody>
      </p:sp>
      <p:sp>
        <p:nvSpPr>
          <p:cNvPr id="296" name="Google Shape;296;p18"/>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7" name="Google Shape;297;p1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 Ewert (1997)</a:t>
            </a:r>
            <a:endParaRPr/>
          </a:p>
        </p:txBody>
      </p:sp>
      <p:sp>
        <p:nvSpPr>
          <p:cNvPr id="298" name="Google Shape;298;p1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18</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3" name="Shape 303"/>
        <p:cNvGrpSpPr/>
        <p:nvPr/>
      </p:nvGrpSpPr>
      <p:grpSpPr>
        <a:xfrm>
          <a:off x="0" y="0"/>
          <a:ext cx="0" cy="0"/>
          <a:chOff x="0" y="0"/>
          <a:chExt cx="0" cy="0"/>
        </a:xfrm>
      </p:grpSpPr>
      <p:sp>
        <p:nvSpPr>
          <p:cNvPr id="304" name="Google Shape;304;p1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Neuropeptide Y carries pretecto-tectal inhibition</a:t>
            </a:r>
            <a:endParaRPr/>
          </a:p>
        </p:txBody>
      </p:sp>
      <p:sp>
        <p:nvSpPr>
          <p:cNvPr id="305" name="Google Shape;305;p19"/>
          <p:cNvSpPr txBox="1"/>
          <p:nvPr/>
        </p:nvSpPr>
        <p:spPr>
          <a:xfrm>
            <a:off x="566928" y="1234440"/>
            <a:ext cx="502279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D4E89"/>
                </a:solidFill>
                <a:latin typeface="Arial"/>
                <a:ea typeface="Arial"/>
                <a:cs typeface="Arial"/>
                <a:sym typeface="Arial"/>
              </a:rPr>
              <a:t>Neuropeptide Y (NPY)</a:t>
            </a:r>
            <a:r>
              <a:rPr b="0" i="0" lang="en-US" sz="1600" u="none" cap="none" strike="noStrike">
                <a:solidFill>
                  <a:srgbClr val="1F2530"/>
                </a:solidFill>
                <a:latin typeface="Arial"/>
                <a:ea typeface="Arial"/>
                <a:cs typeface="Arial"/>
                <a:sym typeface="Arial"/>
              </a:rPr>
              <a:t> is a 36-amino-acid peptide transmitter. NPY-immunoreactive fibers in the superficial tectum originate in ipsilateral pretectal nuclei that match the recording sites of TH3 and TH4 neurons, which project to the tectum.</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Schwippert et al. measured the </a:t>
            </a:r>
            <a:r>
              <a:rPr b="1" i="0" lang="en-US" sz="1600" u="none" cap="none" strike="noStrike">
                <a:solidFill>
                  <a:srgbClr val="1D4E89"/>
                </a:solidFill>
                <a:latin typeface="Arial"/>
                <a:ea typeface="Arial"/>
                <a:cs typeface="Arial"/>
                <a:sym typeface="Arial"/>
              </a:rPr>
              <a:t>tectal surface field potential</a:t>
            </a:r>
            <a:r>
              <a:rPr b="0" i="0" lang="en-US" sz="1600" u="none" cap="none" strike="noStrike">
                <a:solidFill>
                  <a:srgbClr val="1F2530"/>
                </a:solidFill>
                <a:latin typeface="Arial"/>
                <a:ea typeface="Arial"/>
                <a:cs typeface="Arial"/>
                <a:sym typeface="Arial"/>
              </a:rPr>
              <a:t> in cane toads, evoked by diffuse light-on and light-off, before and after NPY was applied to the tectum. NPY reduced the excitatory </a:t>
            </a:r>
            <a:r>
              <a:rPr b="1" i="0" lang="en-US" sz="1600" u="none" cap="none" strike="noStrike">
                <a:solidFill>
                  <a:srgbClr val="1D4E89"/>
                </a:solidFill>
                <a:latin typeface="Arial"/>
                <a:ea typeface="Arial"/>
                <a:cs typeface="Arial"/>
                <a:sym typeface="Arial"/>
              </a:rPr>
              <a:t>N1 wave</a:t>
            </a:r>
            <a:r>
              <a:rPr b="0" i="0" lang="en-US" sz="1600" u="none" cap="none" strike="noStrike">
                <a:solidFill>
                  <a:srgbClr val="1F2530"/>
                </a:solidFill>
                <a:latin typeface="Arial"/>
                <a:ea typeface="Arial"/>
                <a:cs typeface="Arial"/>
                <a:sym typeface="Arial"/>
              </a:rPr>
              <a:t>, which reflects retinal input, by about half within minutes, and the effect lasted more than an hour.</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The fragment NPY 13–36, which activates </a:t>
            </a:r>
            <a:r>
              <a:rPr b="1" i="0" lang="en-US" sz="1600" u="none" cap="none" strike="noStrike">
                <a:solidFill>
                  <a:srgbClr val="1D4E89"/>
                </a:solidFill>
                <a:latin typeface="Arial"/>
                <a:ea typeface="Arial"/>
                <a:cs typeface="Arial"/>
                <a:sym typeface="Arial"/>
              </a:rPr>
              <a:t>Y2 receptors</a:t>
            </a:r>
            <a:r>
              <a:rPr b="0" i="0" lang="en-US" sz="1600" u="none" cap="none" strike="noStrike">
                <a:solidFill>
                  <a:srgbClr val="1F2530"/>
                </a:solidFill>
                <a:latin typeface="Arial"/>
                <a:ea typeface="Arial"/>
                <a:cs typeface="Arial"/>
                <a:sym typeface="Arial"/>
              </a:rPr>
              <a:t>, had the same effect, whereas NPY 18–36 did not. Y2 receptors are often presynaptic, consistent with the proposal that pretectal NPY reduces transmission from retinal terminals in the tectum.</a:t>
            </a:r>
            <a:endParaRPr/>
          </a:p>
        </p:txBody>
      </p:sp>
      <p:pic>
        <p:nvPicPr>
          <p:cNvPr descr="e01_f5.png" id="306" name="Google Shape;306;p19"/>
          <p:cNvPicPr preferRelativeResize="0"/>
          <p:nvPr/>
        </p:nvPicPr>
        <p:blipFill rotWithShape="1">
          <a:blip r:embed="rId3">
            <a:alphaModFix/>
          </a:blip>
          <a:srcRect b="0" l="0" r="0" t="0"/>
          <a:stretch/>
        </p:blipFill>
        <p:spPr>
          <a:xfrm>
            <a:off x="5955487" y="1280160"/>
            <a:ext cx="5669280" cy="2508150"/>
          </a:xfrm>
          <a:prstGeom prst="rect">
            <a:avLst/>
          </a:prstGeom>
          <a:noFill/>
          <a:ln>
            <a:noFill/>
          </a:ln>
        </p:spPr>
      </p:pic>
      <p:sp>
        <p:nvSpPr>
          <p:cNvPr id="307" name="Google Shape;307;p19"/>
          <p:cNvSpPr txBox="1"/>
          <p:nvPr/>
        </p:nvSpPr>
        <p:spPr>
          <a:xfrm>
            <a:off x="5955487" y="3879750"/>
            <a:ext cx="5669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5. N1 amplitude of the tectal field potential to light-on (a) and light-off (b) after NPY (A), NPY 13–36 (B) and NPY 18–36 (C).</a:t>
            </a:r>
            <a:endParaRPr/>
          </a:p>
        </p:txBody>
      </p:sp>
      <p:sp>
        <p:nvSpPr>
          <p:cNvPr id="308" name="Google Shape;308;p19"/>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9" name="Google Shape;309;p1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 Ewert (1997)</a:t>
            </a:r>
            <a:endParaRPr/>
          </a:p>
        </p:txBody>
      </p:sp>
      <p:sp>
        <p:nvSpPr>
          <p:cNvPr id="310" name="Google Shape;310;p1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19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5" name="Shape 315"/>
        <p:cNvGrpSpPr/>
        <p:nvPr/>
      </p:nvGrpSpPr>
      <p:grpSpPr>
        <a:xfrm>
          <a:off x="0" y="0"/>
          <a:ext cx="0" cy="0"/>
          <a:chOff x="0" y="0"/>
          <a:chExt cx="0" cy="0"/>
        </a:xfrm>
      </p:grpSpPr>
      <p:sp>
        <p:nvSpPr>
          <p:cNvPr id="316" name="Google Shape;316;p2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Sensorimotor codes combine many processing streams</a:t>
            </a:r>
            <a:endParaRPr/>
          </a:p>
        </p:txBody>
      </p:sp>
      <p:sp>
        <p:nvSpPr>
          <p:cNvPr id="317" name="Google Shape;317;p20"/>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Ewert proposed that behavior is released not by single detector neurons but by </a:t>
            </a:r>
            <a:r>
              <a:rPr b="1" i="0" lang="en-US" sz="1600" u="none" cap="none" strike="noStrike">
                <a:solidFill>
                  <a:srgbClr val="1D4E89"/>
                </a:solidFill>
                <a:latin typeface="Arial"/>
                <a:ea typeface="Arial"/>
                <a:cs typeface="Arial"/>
                <a:sym typeface="Arial"/>
              </a:rPr>
              <a:t>sensorimotor codes</a:t>
            </a:r>
            <a:r>
              <a:rPr b="0" i="0" lang="en-US" sz="1600" u="none" cap="none" strike="noStrike">
                <a:solidFill>
                  <a:srgbClr val="1F2530"/>
                </a:solidFill>
                <a:latin typeface="Arial"/>
                <a:ea typeface="Arial"/>
                <a:cs typeface="Arial"/>
                <a:sym typeface="Arial"/>
              </a:rPr>
              <a:t>: combinations of activity across distributed processing streams.</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At least seven physiologically distinct types of tectal neurons, and several pretectal types, project to the medulla, as shown by antidromic stimulation. Each stream carries information about several stimulus properties (convergence), and each property is represented in several streams (divergence).</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Particular combinations activate the motor-pattern circuits for snapping, turning toward prey, avoiding, jumping or ducking. Motivation selects among them: T5.2 responses are very weak in satiated toads during the hunting season and in unfed toads during the mating season, when approach to a mate takes priority.</a:t>
            </a:r>
            <a:endParaRPr/>
          </a:p>
        </p:txBody>
      </p:sp>
      <p:pic>
        <p:nvPicPr>
          <p:cNvPr descr="t97_f5.png" id="318" name="Google Shape;318;p20"/>
          <p:cNvPicPr preferRelativeResize="0"/>
          <p:nvPr/>
        </p:nvPicPr>
        <p:blipFill rotWithShape="1">
          <a:blip r:embed="rId3">
            <a:alphaModFix/>
          </a:blip>
          <a:srcRect b="0" l="0" r="0" t="0"/>
          <a:stretch/>
        </p:blipFill>
        <p:spPr>
          <a:xfrm>
            <a:off x="6504127" y="1280160"/>
            <a:ext cx="5120640" cy="2745500"/>
          </a:xfrm>
          <a:prstGeom prst="rect">
            <a:avLst/>
          </a:prstGeom>
          <a:noFill/>
          <a:ln>
            <a:noFill/>
          </a:ln>
        </p:spPr>
      </p:pic>
      <p:sp>
        <p:nvSpPr>
          <p:cNvPr id="319" name="Google Shape;319;p20"/>
          <p:cNvSpPr txBox="1"/>
          <p:nvPr/>
        </p:nvSpPr>
        <p:spPr>
          <a:xfrm>
            <a:off x="6504127" y="4117100"/>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(1997), Fig. 5. Combinations of tectal (T) and pretectal (TH) streams, gated by feeding and mating motivation, select motor pattern circuits.</a:t>
            </a:r>
            <a:endParaRPr/>
          </a:p>
        </p:txBody>
      </p:sp>
      <p:sp>
        <p:nvSpPr>
          <p:cNvPr id="320" name="Google Shape;320;p20"/>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1" name="Google Shape;321;p2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(1997)</a:t>
            </a:r>
            <a:endParaRPr/>
          </a:p>
        </p:txBody>
      </p:sp>
      <p:sp>
        <p:nvSpPr>
          <p:cNvPr id="322" name="Google Shape;322;p2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20</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7" name="Shape 327"/>
        <p:cNvGrpSpPr/>
        <p:nvPr/>
      </p:nvGrpSpPr>
      <p:grpSpPr>
        <a:xfrm>
          <a:off x="0" y="0"/>
          <a:ext cx="0" cy="0"/>
          <a:chOff x="0" y="0"/>
          <a:chExt cx="0" cy="0"/>
        </a:xfrm>
      </p:grpSpPr>
      <p:sp>
        <p:nvSpPr>
          <p:cNvPr id="328" name="Google Shape;328;p2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Medullary neurons converge inputs for snapping</a:t>
            </a:r>
            <a:endParaRPr/>
          </a:p>
        </p:txBody>
      </p:sp>
      <p:sp>
        <p:nvSpPr>
          <p:cNvPr id="329" name="Google Shape;329;p21"/>
          <p:cNvSpPr txBox="1"/>
          <p:nvPr/>
        </p:nvSpPr>
        <p:spPr>
          <a:xfrm>
            <a:off x="566928" y="1234440"/>
            <a:ext cx="61200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Tectal and pretectal projection neurons send axons to premotor and motor structures in the </a:t>
            </a:r>
            <a:r>
              <a:rPr b="1" i="0" lang="en-US" sz="1600" u="none" cap="none" strike="noStrike">
                <a:solidFill>
                  <a:srgbClr val="1D4E89"/>
                </a:solidFill>
                <a:latin typeface="Arial"/>
                <a:ea typeface="Arial"/>
                <a:cs typeface="Arial"/>
                <a:sym typeface="Arial"/>
              </a:rPr>
              <a:t>medulla oblongata</a:t>
            </a:r>
            <a:r>
              <a:rPr b="0" i="0" lang="en-US" sz="1600" u="none" cap="none" strike="noStrike">
                <a:solidFill>
                  <a:srgbClr val="1F2530"/>
                </a:solidFill>
                <a:latin typeface="Arial"/>
                <a:ea typeface="Arial"/>
                <a:cs typeface="Arial"/>
                <a:sym typeface="Arial"/>
              </a:rPr>
              <a:t>, the most caudal part of the brainstem.</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In the medullary motor nucleus of the </a:t>
            </a:r>
            <a:r>
              <a:rPr b="1" i="0" lang="en-US" sz="1600" u="none" cap="none" strike="noStrike">
                <a:solidFill>
                  <a:srgbClr val="1D4E89"/>
                </a:solidFill>
                <a:latin typeface="Arial"/>
                <a:ea typeface="Arial"/>
                <a:cs typeface="Arial"/>
                <a:sym typeface="Arial"/>
              </a:rPr>
              <a:t>trigeminal nerve</a:t>
            </a:r>
            <a:r>
              <a:rPr b="0" i="0" lang="en-US" sz="1600" u="none" cap="none" strike="noStrike">
                <a:solidFill>
                  <a:srgbClr val="1F2530"/>
                </a:solidFill>
                <a:latin typeface="Arial"/>
                <a:ea typeface="Arial"/>
                <a:cs typeface="Arial"/>
                <a:sym typeface="Arial"/>
              </a:rPr>
              <a:t>, which controls the jaw muscles, some neurons respond best to prey-like visual stimuli. A cobalt-filled medullary neuron has a richly branched dendritic tree extending into the lateral and medial reticular formation and into vestibular and spinocerebellar regions.</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Such dendritic trees can collect inputs from many descending streams. Ewert suggested that the precise timing of these inputs could allow coincidence detection, binding distributed activity into the command for a ballistic act. Neurophysiological data suggest di- or polysynaptic connections between the tectal snapping-evoking area and medullary motor neurons for snapping.</a:t>
            </a:r>
            <a:endParaRPr/>
          </a:p>
        </p:txBody>
      </p:sp>
      <p:pic>
        <p:nvPicPr>
          <p:cNvPr descr="t97_f2ab.png" id="330" name="Google Shape;330;p21"/>
          <p:cNvPicPr preferRelativeResize="0"/>
          <p:nvPr/>
        </p:nvPicPr>
        <p:blipFill rotWithShape="1">
          <a:blip r:embed="rId3">
            <a:alphaModFix/>
          </a:blip>
          <a:srcRect b="0" l="0" r="0" t="0"/>
          <a:stretch/>
        </p:blipFill>
        <p:spPr>
          <a:xfrm>
            <a:off x="7614572" y="1280160"/>
            <a:ext cx="3448389" cy="4297679"/>
          </a:xfrm>
          <a:prstGeom prst="rect">
            <a:avLst/>
          </a:prstGeom>
          <a:noFill/>
          <a:ln>
            <a:noFill/>
          </a:ln>
        </p:spPr>
      </p:pic>
      <p:sp>
        <p:nvSpPr>
          <p:cNvPr id="331" name="Google Shape;331;p21"/>
          <p:cNvSpPr txBox="1"/>
          <p:nvPr/>
        </p:nvSpPr>
        <p:spPr>
          <a:xfrm>
            <a:off x="7052767" y="5669279"/>
            <a:ext cx="45720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(1997), Fig. 2A–B. Tectal neurons converging inputs (A) and a cobalt-filled medullary neuron with dendrites spanning reticular and vestibular regions (B).</a:t>
            </a:r>
            <a:endParaRPr/>
          </a:p>
        </p:txBody>
      </p:sp>
      <p:sp>
        <p:nvSpPr>
          <p:cNvPr id="332" name="Google Shape;332;p21"/>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3" name="Google Shape;333;p2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(1997)</a:t>
            </a:r>
            <a:endParaRPr/>
          </a:p>
        </p:txBody>
      </p:sp>
      <p:sp>
        <p:nvSpPr>
          <p:cNvPr id="334" name="Google Shape;334;p2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21</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9" name="Shape 339"/>
        <p:cNvGrpSpPr/>
        <p:nvPr/>
      </p:nvGrpSpPr>
      <p:grpSpPr>
        <a:xfrm>
          <a:off x="0" y="0"/>
          <a:ext cx="0" cy="0"/>
          <a:chOff x="0" y="0"/>
          <a:chExt cx="0" cy="0"/>
        </a:xfrm>
      </p:grpSpPr>
      <p:sp>
        <p:nvSpPr>
          <p:cNvPr id="340" name="Google Shape;340;p2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Without forebrain and pretectum, prey-catching is crude</a:t>
            </a:r>
            <a:endParaRPr/>
          </a:p>
        </p:txBody>
      </p:sp>
      <p:sp>
        <p:nvSpPr>
          <p:cNvPr id="341" name="Google Shape;341;p22"/>
          <p:cNvSpPr txBox="1"/>
          <p:nvPr/>
        </p:nvSpPr>
        <p:spPr>
          <a:xfrm>
            <a:off x="566928" y="1234440"/>
            <a:ext cx="575431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Ewert ablated both telencephalic hemispheres together with the dorsal diencephalon, which contains the pretectum, sparing the eyes, optic chiasm, preoptic area, hypothalamus, pituitary and ventral thalamus. These toads readily oriented and snapped toward moving objects. Removing the telencephalon alone, by contrast, abolished prey orienting.</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The remaining </a:t>
            </a:r>
            <a:r>
              <a:rPr b="1" i="0" lang="en-US" sz="1600" u="none" cap="none" strike="noStrike">
                <a:solidFill>
                  <a:srgbClr val="1D4E89"/>
                </a:solidFill>
                <a:latin typeface="Arial"/>
                <a:ea typeface="Arial"/>
                <a:cs typeface="Arial"/>
                <a:sym typeface="Arial"/>
              </a:rPr>
              <a:t>retino–tecto/tegmento–bulbar/spinal</a:t>
            </a:r>
            <a:r>
              <a:rPr b="0" i="0" lang="en-US" sz="1600" u="none" cap="none" strike="noStrike">
                <a:solidFill>
                  <a:srgbClr val="1F2530"/>
                </a:solidFill>
                <a:latin typeface="Arial"/>
                <a:ea typeface="Arial"/>
                <a:cs typeface="Arial"/>
                <a:sym typeface="Arial"/>
              </a:rPr>
              <a:t> pathway, from retina to tectum, then through tegmentum and medullary reticular formation (MRF) to spinal and cranial motor nuclei, is therefore sufficient to release orienting and snapping. Without the pretectum, however, any moving image elicited prey-catching, and toads collided with obstacles and misjudged distance.</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Flaive and Ryczko traced a homologous route in salamanders, from retina through tectum to reticulospinal neurons of the middle reticular nucleus that steer the body.</a:t>
            </a:r>
            <a:endParaRPr/>
          </a:p>
        </p:txBody>
      </p:sp>
      <p:pic>
        <p:nvPicPr>
          <p:cNvPr descr="e01_f3.png" id="342" name="Google Shape;342;p22"/>
          <p:cNvPicPr preferRelativeResize="0"/>
          <p:nvPr/>
        </p:nvPicPr>
        <p:blipFill rotWithShape="1">
          <a:blip r:embed="rId3">
            <a:alphaModFix/>
          </a:blip>
          <a:srcRect b="0" l="0" r="0" t="0"/>
          <a:stretch/>
        </p:blipFill>
        <p:spPr>
          <a:xfrm>
            <a:off x="8182627" y="1280160"/>
            <a:ext cx="1946519" cy="2651760"/>
          </a:xfrm>
          <a:prstGeom prst="rect">
            <a:avLst/>
          </a:prstGeom>
          <a:noFill/>
          <a:ln>
            <a:noFill/>
          </a:ln>
        </p:spPr>
      </p:pic>
      <p:sp>
        <p:nvSpPr>
          <p:cNvPr id="343" name="Google Shape;343;p22"/>
          <p:cNvSpPr txBox="1"/>
          <p:nvPr/>
        </p:nvSpPr>
        <p:spPr>
          <a:xfrm>
            <a:off x="6687007" y="4023360"/>
            <a:ext cx="49377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3. Retino–tecto–tegmento–bulbar/spinal pathway (bold) that remains after forebrain lesion.</a:t>
            </a:r>
            <a:endParaRPr/>
          </a:p>
        </p:txBody>
      </p:sp>
      <p:pic>
        <p:nvPicPr>
          <p:cNvPr descr="flaive_f8.png" id="344" name="Google Shape;344;p22"/>
          <p:cNvPicPr preferRelativeResize="0"/>
          <p:nvPr/>
        </p:nvPicPr>
        <p:blipFill rotWithShape="1">
          <a:blip r:embed="rId4">
            <a:alphaModFix/>
          </a:blip>
          <a:srcRect b="0" l="0" r="0" t="0"/>
          <a:stretch/>
        </p:blipFill>
        <p:spPr>
          <a:xfrm>
            <a:off x="8120717" y="4480560"/>
            <a:ext cx="2070339" cy="1280159"/>
          </a:xfrm>
          <a:prstGeom prst="rect">
            <a:avLst/>
          </a:prstGeom>
          <a:noFill/>
          <a:ln>
            <a:noFill/>
          </a:ln>
        </p:spPr>
      </p:pic>
      <p:sp>
        <p:nvSpPr>
          <p:cNvPr id="345" name="Google Shape;345;p22"/>
          <p:cNvSpPr txBox="1"/>
          <p:nvPr/>
        </p:nvSpPr>
        <p:spPr>
          <a:xfrm>
            <a:off x="6687007" y="5833872"/>
            <a:ext cx="49377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Flaive &amp; Ryczko (2022), Fig. 8. Salamander visuomotor circuit: retina, tectum, middle reticular nucleus and motoneurons for orienting.</a:t>
            </a:r>
            <a:endParaRPr/>
          </a:p>
        </p:txBody>
      </p:sp>
      <p:sp>
        <p:nvSpPr>
          <p:cNvPr id="346" name="Google Shape;346;p22"/>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7" name="Google Shape;347;p2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 Flaive &amp; Ryczko (2022)</a:t>
            </a:r>
            <a:endParaRPr/>
          </a:p>
        </p:txBody>
      </p:sp>
      <p:sp>
        <p:nvSpPr>
          <p:cNvPr id="348" name="Google Shape;348;p2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22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3" name="Shape 353"/>
        <p:cNvGrpSpPr/>
        <p:nvPr/>
      </p:nvGrpSpPr>
      <p:grpSpPr>
        <a:xfrm>
          <a:off x="0" y="0"/>
          <a:ext cx="0" cy="0"/>
          <a:chOff x="0" y="0"/>
          <a:chExt cx="0" cy="0"/>
        </a:xfrm>
      </p:grpSpPr>
      <p:sp>
        <p:nvSpPr>
          <p:cNvPr id="354" name="Google Shape;354;p2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The tongue is flipped out and the hyoid swallows the prey</a:t>
            </a:r>
            <a:endParaRPr/>
          </a:p>
        </p:txBody>
      </p:sp>
      <p:sp>
        <p:nvSpPr>
          <p:cNvPr id="355" name="Google Shape;355;p23"/>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The consummatory act, </a:t>
            </a:r>
            <a:r>
              <a:rPr b="1" i="0" lang="en-US" sz="1600" u="none" cap="none" strike="noStrike">
                <a:solidFill>
                  <a:srgbClr val="1D4E89"/>
                </a:solidFill>
                <a:latin typeface="Arial"/>
                <a:ea typeface="Arial"/>
                <a:cs typeface="Arial"/>
                <a:sym typeface="Arial"/>
              </a:rPr>
              <a:t>snapping</a:t>
            </a:r>
            <a:r>
              <a:rPr b="0" i="0" lang="en-US" sz="1600" u="none" cap="none" strike="noStrike">
                <a:solidFill>
                  <a:srgbClr val="1F2530"/>
                </a:solidFill>
                <a:latin typeface="Arial"/>
                <a:ea typeface="Arial"/>
                <a:cs typeface="Arial"/>
                <a:sym typeface="Arial"/>
              </a:rPr>
              <a:t>, launches the tongue. Keeffe and colleagues used </a:t>
            </a:r>
            <a:r>
              <a:rPr b="1" i="0" lang="en-US" sz="1600" u="none" cap="none" strike="noStrike">
                <a:solidFill>
                  <a:srgbClr val="1D4E89"/>
                </a:solidFill>
                <a:latin typeface="Arial"/>
                <a:ea typeface="Arial"/>
                <a:cs typeface="Arial"/>
                <a:sym typeface="Arial"/>
              </a:rPr>
              <a:t>XROMM</a:t>
            </a:r>
            <a:r>
              <a:rPr b="0" i="0" lang="en-US" sz="1600" u="none" cap="none" strike="noStrike">
                <a:solidFill>
                  <a:srgbClr val="1F2530"/>
                </a:solidFill>
                <a:latin typeface="Arial"/>
                <a:ea typeface="Arial"/>
                <a:cs typeface="Arial"/>
                <a:sym typeface="Arial"/>
              </a:rPr>
              <a:t> (X-ray Reconstruction of Moving Morphology), in which radio-opaque markers implanted in skeleton and tongue are tracked in biplanar X-ray video, to follow the cane toad, </a:t>
            </a:r>
            <a:r>
              <a:rPr b="0" i="1" lang="en-US" sz="1600" u="none" cap="none" strike="noStrike">
                <a:solidFill>
                  <a:srgbClr val="1F2530"/>
                </a:solidFill>
                <a:latin typeface="Arial"/>
                <a:ea typeface="Arial"/>
                <a:cs typeface="Arial"/>
                <a:sym typeface="Arial"/>
              </a:rPr>
              <a:t>Rhinella marina</a:t>
            </a:r>
            <a:r>
              <a:rPr b="0" i="0" lang="en-US" sz="1600" u="none" cap="none" strike="noStrike">
                <a:solidFill>
                  <a:srgbClr val="1F2530"/>
                </a:solidFill>
                <a:latin typeface="Arial"/>
                <a:ea typeface="Arial"/>
                <a:cs typeface="Arial"/>
                <a:sym typeface="Arial"/>
              </a:rPr>
              <a:t>, through the feeding cycle.</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The mouth opened at about 9% of the cycle, the tongue reached maximal protrusion at 13% and maximal gape at 16%, and the mouth closed with the prey at 23%. During transport and swallowing the </a:t>
            </a:r>
            <a:r>
              <a:rPr b="1" i="0" lang="en-US" sz="1600" u="none" cap="none" strike="noStrike">
                <a:solidFill>
                  <a:srgbClr val="1D4E89"/>
                </a:solidFill>
                <a:latin typeface="Arial"/>
                <a:ea typeface="Arial"/>
                <a:cs typeface="Arial"/>
                <a:sym typeface="Arial"/>
              </a:rPr>
              <a:t>hyoid apparatus</a:t>
            </a:r>
            <a:r>
              <a:rPr b="0" i="0" lang="en-US" sz="1600" u="none" cap="none" strike="noStrike">
                <a:solidFill>
                  <a:srgbClr val="1F2530"/>
                </a:solidFill>
                <a:latin typeface="Arial"/>
                <a:ea typeface="Arial"/>
                <a:cs typeface="Arial"/>
                <a:sym typeface="Arial"/>
              </a:rPr>
              <a:t> moved dorsally and anteriorly, and the tongue stretched behind the skull, often more than during protrusion.</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Kinematics were similar across individuals, and unsuccessful strikes resembled successful ones, consistent with snapping being a ballistic motor pattern.</a:t>
            </a:r>
            <a:endParaRPr/>
          </a:p>
        </p:txBody>
      </p:sp>
      <p:pic>
        <p:nvPicPr>
          <p:cNvPr descr="xromm_f8.png" id="356" name="Google Shape;356;p23"/>
          <p:cNvPicPr preferRelativeResize="0"/>
          <p:nvPr/>
        </p:nvPicPr>
        <p:blipFill rotWithShape="1">
          <a:blip r:embed="rId3">
            <a:alphaModFix/>
          </a:blip>
          <a:srcRect b="0" l="0" r="0" t="0"/>
          <a:stretch/>
        </p:blipFill>
        <p:spPr>
          <a:xfrm>
            <a:off x="6504127" y="1280160"/>
            <a:ext cx="5120640" cy="4088623"/>
          </a:xfrm>
          <a:prstGeom prst="rect">
            <a:avLst/>
          </a:prstGeom>
          <a:noFill/>
          <a:ln>
            <a:noFill/>
          </a:ln>
        </p:spPr>
      </p:pic>
      <p:sp>
        <p:nvSpPr>
          <p:cNvPr id="357" name="Google Shape;357;p23"/>
          <p:cNvSpPr txBox="1"/>
          <p:nvPr/>
        </p:nvSpPr>
        <p:spPr>
          <a:xfrm>
            <a:off x="6504127" y="5460223"/>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Keeffe et al. (2022), Fig. 8. Phases of a cane toad feeding event from X-ray video, ventral and lateral views, with tongue (pink) and hyoid (blue).</a:t>
            </a:r>
            <a:endParaRPr/>
          </a:p>
        </p:txBody>
      </p:sp>
      <p:sp>
        <p:nvSpPr>
          <p:cNvPr id="358" name="Google Shape;358;p23"/>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9" name="Google Shape;359;p2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Keeffe et al. (2022); Ewert et al. (2001)</a:t>
            </a:r>
            <a:endParaRPr/>
          </a:p>
        </p:txBody>
      </p:sp>
      <p:sp>
        <p:nvSpPr>
          <p:cNvPr id="360" name="Google Shape;360;p2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23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5" name="Shape 365"/>
        <p:cNvGrpSpPr/>
        <p:nvPr/>
      </p:nvGrpSpPr>
      <p:grpSpPr>
        <a:xfrm>
          <a:off x="0" y="0"/>
          <a:ext cx="0" cy="0"/>
          <a:chOff x="0" y="0"/>
          <a:chExt cx="0" cy="0"/>
        </a:xfrm>
      </p:grpSpPr>
      <p:sp>
        <p:nvSpPr>
          <p:cNvPr id="366" name="Google Shape;366;p2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Visual neurons in the caudal ventral striatum</a:t>
            </a:r>
            <a:endParaRPr/>
          </a:p>
        </p:txBody>
      </p:sp>
      <p:sp>
        <p:nvSpPr>
          <p:cNvPr id="367" name="Google Shape;367;p24"/>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The amphibian </a:t>
            </a:r>
            <a:r>
              <a:rPr b="1" i="0" lang="en-US" sz="1600" u="none" cap="none" strike="noStrike">
                <a:solidFill>
                  <a:srgbClr val="1D4E89"/>
                </a:solidFill>
                <a:latin typeface="Arial"/>
                <a:ea typeface="Arial"/>
                <a:cs typeface="Arial"/>
                <a:sym typeface="Arial"/>
              </a:rPr>
              <a:t>striatum</a:t>
            </a:r>
            <a:r>
              <a:rPr b="0" i="0" lang="en-US" sz="1600" u="none" cap="none" strike="noStrike">
                <a:solidFill>
                  <a:srgbClr val="1F2530"/>
                </a:solidFill>
                <a:latin typeface="Arial"/>
                <a:ea typeface="Arial"/>
                <a:cs typeface="Arial"/>
                <a:sym typeface="Arial"/>
              </a:rPr>
              <a:t> is homologous to part of the basal ganglia of amniotes, which in mammals participate in initiating and controlling orienting responses. Small lesions of the toad's caudal striatum, but not of the ventral medial pallium, produced </a:t>
            </a:r>
            <a:r>
              <a:rPr b="1" i="0" lang="en-US" sz="1600" u="none" cap="none" strike="noStrike">
                <a:solidFill>
                  <a:srgbClr val="1D4E89"/>
                </a:solidFill>
                <a:latin typeface="Arial"/>
                <a:ea typeface="Arial"/>
                <a:cs typeface="Arial"/>
                <a:sym typeface="Arial"/>
              </a:rPr>
              <a:t>prey neglect</a:t>
            </a:r>
            <a:r>
              <a:rPr b="0" i="0" lang="en-US" sz="1600" u="none" cap="none" strike="noStrike">
                <a:solidFill>
                  <a:srgbClr val="1F2530"/>
                </a:solidFill>
                <a:latin typeface="Arial"/>
                <a:ea typeface="Arial"/>
                <a:cs typeface="Arial"/>
                <a:sym typeface="Arial"/>
              </a:rPr>
              <a:t>: visually guided prey-catching decreased.</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Electrical stimulation of the striatum in freely moving toads did not elicit orienting, but it facilitated orienting toward a subliminal prey stimulus. There was even a retinotopic relation between stimulation sites and the parts of the visual field in which orienting was facilitated.</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Buxbaum-Conradi and Ewert recorded visually responsive neurons in the cane toad's caudal ventral striatum. Their recording sites (symbols) extended from the striatal gray matter into the lateral forebrain bundle.</a:t>
            </a:r>
            <a:endParaRPr/>
          </a:p>
        </p:txBody>
      </p:sp>
      <p:pic>
        <p:nvPicPr>
          <p:cNvPr descr="e01_f6.png" id="368" name="Google Shape;368;p24"/>
          <p:cNvPicPr preferRelativeResize="0"/>
          <p:nvPr/>
        </p:nvPicPr>
        <p:blipFill rotWithShape="1">
          <a:blip r:embed="rId3">
            <a:alphaModFix/>
          </a:blip>
          <a:srcRect b="0" l="0" r="0" t="0"/>
          <a:stretch/>
        </p:blipFill>
        <p:spPr>
          <a:xfrm>
            <a:off x="6504127" y="1280160"/>
            <a:ext cx="5120640" cy="3957376"/>
          </a:xfrm>
          <a:prstGeom prst="rect">
            <a:avLst/>
          </a:prstGeom>
          <a:noFill/>
          <a:ln>
            <a:noFill/>
          </a:ln>
        </p:spPr>
      </p:pic>
      <p:sp>
        <p:nvSpPr>
          <p:cNvPr id="369" name="Google Shape;369;p24"/>
          <p:cNvSpPr txBox="1"/>
          <p:nvPr/>
        </p:nvSpPr>
        <p:spPr>
          <a:xfrm>
            <a:off x="6504127" y="5328976"/>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6. Recording sites of visually responsive striatal neurons (symbols) on a transverse section of the cane toad telencephalon.</a:t>
            </a:r>
            <a:endParaRPr/>
          </a:p>
        </p:txBody>
      </p:sp>
      <p:sp>
        <p:nvSpPr>
          <p:cNvPr id="370" name="Google Shape;370;p24"/>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1" name="Google Shape;371;p2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a:t>
            </a:r>
            <a:endParaRPr/>
          </a:p>
        </p:txBody>
      </p:sp>
      <p:sp>
        <p:nvSpPr>
          <p:cNvPr id="372" name="Google Shape;372;p2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24</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7" name="Shape 377"/>
        <p:cNvGrpSpPr/>
        <p:nvPr/>
      </p:nvGrpSpPr>
      <p:grpSpPr>
        <a:xfrm>
          <a:off x="0" y="0"/>
          <a:ext cx="0" cy="0"/>
          <a:chOff x="0" y="0"/>
          <a:chExt cx="0" cy="0"/>
        </a:xfrm>
      </p:grpSpPr>
      <p:sp>
        <p:nvSpPr>
          <p:cNvPr id="378" name="Google Shape;378;p2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Striatal neurons signal motion, prey and threat</a:t>
            </a:r>
            <a:endParaRPr/>
          </a:p>
        </p:txBody>
      </p:sp>
      <p:sp>
        <p:nvSpPr>
          <p:cNvPr id="379" name="Google Shape;379;p25"/>
          <p:cNvSpPr txBox="1"/>
          <p:nvPr/>
        </p:nvSpPr>
        <p:spPr>
          <a:xfrm>
            <a:off x="566928" y="1234440"/>
            <a:ext cx="74002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Buxbaum-Conradi and Ewert classified striatal neurons by their responses to a large square (S16°), a small square (S4°), an antiworm (A16°) and a worm (W16°).</a:t>
            </a:r>
            <a:endParaRPr/>
          </a:p>
          <a:p>
            <a:pPr indent="0" lvl="0" marL="0" marR="0" rtl="0" algn="l">
              <a:lnSpc>
                <a:spcPct val="108000"/>
              </a:lnSpc>
              <a:spcBef>
                <a:spcPts val="1080"/>
              </a:spcBef>
              <a:spcAft>
                <a:spcPts val="0"/>
              </a:spcAft>
              <a:buNone/>
            </a:pPr>
            <a:r>
              <a:rPr b="1" i="0" lang="en-US" sz="1800" u="none" cap="none" strike="noStrike">
                <a:solidFill>
                  <a:srgbClr val="1D4E89"/>
                </a:solidFill>
                <a:latin typeface="Arial"/>
                <a:ea typeface="Arial"/>
                <a:cs typeface="Arial"/>
                <a:sym typeface="Arial"/>
              </a:rPr>
              <a:t>STR2</a:t>
            </a:r>
            <a:r>
              <a:rPr b="0" i="0" lang="en-US" sz="1800" u="none" cap="none" strike="noStrike">
                <a:solidFill>
                  <a:srgbClr val="1F2530"/>
                </a:solidFill>
                <a:latin typeface="Arial"/>
                <a:ea typeface="Arial"/>
                <a:cs typeface="Arial"/>
                <a:sym typeface="Arial"/>
              </a:rPr>
              <a:t> neurons (about 32%) increased firing to any moving stimulus, behaving like motion detectors. </a:t>
            </a:r>
            <a:r>
              <a:rPr b="1" i="0" lang="en-US" sz="1800" u="none" cap="none" strike="noStrike">
                <a:solidFill>
                  <a:srgbClr val="1D4E89"/>
                </a:solidFill>
                <a:latin typeface="Arial"/>
                <a:ea typeface="Arial"/>
                <a:cs typeface="Arial"/>
                <a:sym typeface="Arial"/>
              </a:rPr>
              <a:t>STR3</a:t>
            </a:r>
            <a:r>
              <a:rPr b="0" i="0" lang="en-US" sz="1800" u="none" cap="none" strike="noStrike">
                <a:solidFill>
                  <a:srgbClr val="1F2530"/>
                </a:solidFill>
                <a:latin typeface="Arial"/>
                <a:ea typeface="Arial"/>
                <a:cs typeface="Arial"/>
                <a:sym typeface="Arial"/>
              </a:rPr>
              <a:t> neurons (15%) preferred moving squares. </a:t>
            </a:r>
            <a:r>
              <a:rPr b="1" i="0" lang="en-US" sz="1800" u="none" cap="none" strike="noStrike">
                <a:solidFill>
                  <a:srgbClr val="1D4E89"/>
                </a:solidFill>
                <a:latin typeface="Arial"/>
                <a:ea typeface="Arial"/>
                <a:cs typeface="Arial"/>
                <a:sym typeface="Arial"/>
              </a:rPr>
              <a:t>STR4a</a:t>
            </a:r>
            <a:r>
              <a:rPr b="0" i="0" lang="en-US" sz="1800" u="none" cap="none" strike="noStrike">
                <a:solidFill>
                  <a:srgbClr val="1F2530"/>
                </a:solidFill>
                <a:latin typeface="Arial"/>
                <a:ea typeface="Arial"/>
                <a:cs typeface="Arial"/>
                <a:sym typeface="Arial"/>
              </a:rPr>
              <a:t> neurons responded well to the large threatening square, and </a:t>
            </a:r>
            <a:r>
              <a:rPr b="1" i="0" lang="en-US" sz="1800" u="none" cap="none" strike="noStrike">
                <a:solidFill>
                  <a:srgbClr val="1D4E89"/>
                </a:solidFill>
                <a:latin typeface="Arial"/>
                <a:ea typeface="Arial"/>
                <a:cs typeface="Arial"/>
                <a:sym typeface="Arial"/>
              </a:rPr>
              <a:t>STR4b</a:t>
            </a:r>
            <a:r>
              <a:rPr b="0" i="0" lang="en-US" sz="1800" u="none" cap="none" strike="noStrike">
                <a:solidFill>
                  <a:srgbClr val="1F2530"/>
                </a:solidFill>
                <a:latin typeface="Arial"/>
                <a:ea typeface="Arial"/>
                <a:cs typeface="Arial"/>
                <a:sym typeface="Arial"/>
              </a:rPr>
              <a:t> neurons preferred prey-like worms and small squares. </a:t>
            </a:r>
            <a:r>
              <a:rPr b="1" i="0" lang="en-US" sz="1800" u="none" cap="none" strike="noStrike">
                <a:solidFill>
                  <a:srgbClr val="1D4E89"/>
                </a:solidFill>
                <a:latin typeface="Arial"/>
                <a:ea typeface="Arial"/>
                <a:cs typeface="Arial"/>
                <a:sym typeface="Arial"/>
              </a:rPr>
              <a:t>STR5</a:t>
            </a:r>
            <a:r>
              <a:rPr b="0" i="0" lang="en-US" sz="1800" u="none" cap="none" strike="noStrike">
                <a:solidFill>
                  <a:srgbClr val="1F2530"/>
                </a:solidFill>
                <a:latin typeface="Arial"/>
                <a:ea typeface="Arial"/>
                <a:cs typeface="Arial"/>
                <a:sym typeface="Arial"/>
              </a:rPr>
              <a:t> neurons (15%) had resting activity that was reduced by moving stimuli, especially threat. STR1 neurons were uninfluenced.</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The receptive fields of these neurons covered the whole visual field of the opposite eye or both eyes, and most habituated to repeated stimulation. Antidromic stimulation showed that striatal output in the lateral forebrain bundle is carried mainly by motion detectors and compact-object neurons.</a:t>
            </a:r>
            <a:endParaRPr/>
          </a:p>
        </p:txBody>
      </p:sp>
      <p:pic>
        <p:nvPicPr>
          <p:cNvPr descr="e01_f7.png" id="380" name="Google Shape;380;p25"/>
          <p:cNvPicPr preferRelativeResize="0"/>
          <p:nvPr/>
        </p:nvPicPr>
        <p:blipFill rotWithShape="1">
          <a:blip r:embed="rId3">
            <a:alphaModFix/>
          </a:blip>
          <a:srcRect b="0" l="0" r="0" t="0"/>
          <a:stretch/>
        </p:blipFill>
        <p:spPr>
          <a:xfrm>
            <a:off x="9453575" y="1280160"/>
            <a:ext cx="1050544" cy="4297679"/>
          </a:xfrm>
          <a:prstGeom prst="rect">
            <a:avLst/>
          </a:prstGeom>
          <a:noFill/>
          <a:ln>
            <a:noFill/>
          </a:ln>
        </p:spPr>
      </p:pic>
      <p:sp>
        <p:nvSpPr>
          <p:cNvPr id="381" name="Google Shape;381;p25"/>
          <p:cNvSpPr txBox="1"/>
          <p:nvPr/>
        </p:nvSpPr>
        <p:spPr>
          <a:xfrm>
            <a:off x="8332927" y="5669279"/>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7. Firing of STR2, STR3, STR4a, STR4b and STR5 neurons to a large square (S16°), small square (S4°), antiworm (A16°) and worm (W16°).</a:t>
            </a:r>
            <a:endParaRPr/>
          </a:p>
        </p:txBody>
      </p:sp>
      <p:sp>
        <p:nvSpPr>
          <p:cNvPr id="382" name="Google Shape;382;p25"/>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3" name="Google Shape;383;p2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a:t>
            </a:r>
            <a:endParaRPr/>
          </a:p>
        </p:txBody>
      </p:sp>
      <p:sp>
        <p:nvSpPr>
          <p:cNvPr id="384" name="Google Shape;384;p2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25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9" name="Shape 389"/>
        <p:cNvGrpSpPr/>
        <p:nvPr/>
      </p:nvGrpSpPr>
      <p:grpSpPr>
        <a:xfrm>
          <a:off x="0" y="0"/>
          <a:ext cx="0" cy="0"/>
          <a:chOff x="0" y="0"/>
          <a:chExt cx="0" cy="0"/>
        </a:xfrm>
      </p:grpSpPr>
      <p:sp>
        <p:nvSpPr>
          <p:cNvPr id="390" name="Google Shape;390;p2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A striato-pretecto-tectal loop gates prey-catching</a:t>
            </a:r>
            <a:endParaRPr/>
          </a:p>
        </p:txBody>
      </p:sp>
      <p:sp>
        <p:nvSpPr>
          <p:cNvPr id="391" name="Google Shape;391;p26"/>
          <p:cNvSpPr txBox="1"/>
          <p:nvPr/>
        </p:nvSpPr>
        <p:spPr>
          <a:xfrm>
            <a:off x="566928" y="1234440"/>
            <a:ext cx="61200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Ewert proposed a </a:t>
            </a:r>
            <a:r>
              <a:rPr b="1" i="0" lang="en-US" sz="1600" u="none" cap="none" strike="noStrike">
                <a:solidFill>
                  <a:srgbClr val="1D4E89"/>
                </a:solidFill>
                <a:latin typeface="Arial"/>
                <a:ea typeface="Arial"/>
                <a:cs typeface="Arial"/>
                <a:sym typeface="Arial"/>
              </a:rPr>
              <a:t>gating loop</a:t>
            </a:r>
            <a:r>
              <a:rPr b="0" i="0" lang="en-US" sz="1600" u="none" cap="none" strike="noStrike">
                <a:solidFill>
                  <a:srgbClr val="1F2530"/>
                </a:solidFill>
                <a:latin typeface="Arial"/>
                <a:ea typeface="Arial"/>
                <a:cs typeface="Arial"/>
                <a:sym typeface="Arial"/>
              </a:rPr>
              <a:t> for directed attention, the translation of prey recognition into action. Retinal output reaches both tectum (T) and pretectum (TH), and pretecto-tectal inhibition distinguishes prey from non-prey.</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The striatum (S) receives tectal visual information through the </a:t>
            </a:r>
            <a:r>
              <a:rPr b="1" i="0" lang="en-US" sz="1600" u="none" cap="none" strike="noStrike">
                <a:solidFill>
                  <a:srgbClr val="1D4E89"/>
                </a:solidFill>
                <a:latin typeface="Arial"/>
                <a:ea typeface="Arial"/>
                <a:cs typeface="Arial"/>
                <a:sym typeface="Arial"/>
              </a:rPr>
              <a:t>lateral anterior thalamic nucleus (LA)</a:t>
            </a:r>
            <a:r>
              <a:rPr b="0" i="0" lang="en-US" sz="1600" u="none" cap="none" strike="noStrike">
                <a:solidFill>
                  <a:srgbClr val="1F2530"/>
                </a:solidFill>
                <a:latin typeface="Arial"/>
                <a:ea typeface="Arial"/>
                <a:cs typeface="Arial"/>
                <a:sym typeface="Arial"/>
              </a:rPr>
              <a:t>. It projects through the lateral forebrain bundle, which contains enkephalinergic fibers, to the pretectum, where it inhibits pretectal neurons. By reducing pretecto-tectal inhibition, the striatum </a:t>
            </a:r>
            <a:r>
              <a:rPr b="1" i="0" lang="en-US" sz="1600" u="none" cap="none" strike="noStrike">
                <a:solidFill>
                  <a:srgbClr val="1D4E89"/>
                </a:solidFill>
                <a:latin typeface="Arial"/>
                <a:ea typeface="Arial"/>
                <a:cs typeface="Arial"/>
                <a:sym typeface="Arial"/>
              </a:rPr>
              <a:t>disinhibits</a:t>
            </a:r>
            <a:r>
              <a:rPr b="0" i="0" lang="en-US" sz="1600" u="none" cap="none" strike="noStrike">
                <a:solidFill>
                  <a:srgbClr val="1F2530"/>
                </a:solidFill>
                <a:latin typeface="Arial"/>
                <a:ea typeface="Arial"/>
                <a:cs typeface="Arial"/>
                <a:sym typeface="Arial"/>
              </a:rPr>
              <a:t> the tectum and releases tectal output to the motor systems.</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This model explains both lesion results: without the striatum, unopposed pretectal inhibition overrides tectal responses and prey-catching fails; without the pretectum, the tectum is released indiscriminately. In the intact toad, partial inhibition allows a cautious approach.</a:t>
            </a:r>
            <a:endParaRPr/>
          </a:p>
        </p:txBody>
      </p:sp>
      <p:pic>
        <p:nvPicPr>
          <p:cNvPr descr="t97_f1b.png" id="392" name="Google Shape;392;p26"/>
          <p:cNvPicPr preferRelativeResize="0"/>
          <p:nvPr/>
        </p:nvPicPr>
        <p:blipFill rotWithShape="1">
          <a:blip r:embed="rId3">
            <a:alphaModFix/>
          </a:blip>
          <a:srcRect b="0" l="0" r="0" t="0"/>
          <a:stretch/>
        </p:blipFill>
        <p:spPr>
          <a:xfrm>
            <a:off x="7052767" y="1280160"/>
            <a:ext cx="4572000" cy="2641386"/>
          </a:xfrm>
          <a:prstGeom prst="rect">
            <a:avLst/>
          </a:prstGeom>
          <a:noFill/>
          <a:ln>
            <a:noFill/>
          </a:ln>
        </p:spPr>
      </p:pic>
      <p:sp>
        <p:nvSpPr>
          <p:cNvPr id="393" name="Google Shape;393;p26"/>
          <p:cNvSpPr txBox="1"/>
          <p:nvPr/>
        </p:nvSpPr>
        <p:spPr>
          <a:xfrm>
            <a:off x="7052767" y="4012986"/>
            <a:ext cx="45720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(1997), Fig. 1B. Gating loop: striatum (S) receives tectal (T) input via lateral anterior thalamus (LA) and inhibits pretectum (TH), which inhibits tectum.</a:t>
            </a:r>
            <a:endParaRPr/>
          </a:p>
        </p:txBody>
      </p:sp>
      <p:sp>
        <p:nvSpPr>
          <p:cNvPr id="394" name="Google Shape;394;p26"/>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5" name="Google Shape;395;p2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(1997); Ewert et al. (2001)</a:t>
            </a:r>
            <a:endParaRPr/>
          </a:p>
        </p:txBody>
      </p:sp>
      <p:sp>
        <p:nvSpPr>
          <p:cNvPr id="396" name="Google Shape;396;p2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26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1" name="Shape 401"/>
        <p:cNvGrpSpPr/>
        <p:nvPr/>
      </p:nvGrpSpPr>
      <p:grpSpPr>
        <a:xfrm>
          <a:off x="0" y="0"/>
          <a:ext cx="0" cy="0"/>
          <a:chOff x="0" y="0"/>
          <a:chExt cx="0" cy="0"/>
        </a:xfrm>
      </p:grpSpPr>
      <p:sp>
        <p:nvSpPr>
          <p:cNvPr id="402" name="Google Shape;402;p2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Apomorphine shifts toads from hunting to waiting</a:t>
            </a:r>
            <a:endParaRPr/>
          </a:p>
        </p:txBody>
      </p:sp>
      <p:sp>
        <p:nvSpPr>
          <p:cNvPr id="403" name="Google Shape;403;p27"/>
          <p:cNvSpPr txBox="1"/>
          <p:nvPr/>
        </p:nvSpPr>
        <p:spPr>
          <a:xfrm>
            <a:off x="566928" y="1234440"/>
            <a:ext cx="61200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700" u="none" cap="none" strike="noStrike">
                <a:solidFill>
                  <a:srgbClr val="1D4E89"/>
                </a:solidFill>
                <a:latin typeface="Arial"/>
                <a:ea typeface="Arial"/>
                <a:cs typeface="Arial"/>
                <a:sym typeface="Arial"/>
              </a:rPr>
              <a:t>Apomorphine (APO)</a:t>
            </a:r>
            <a:r>
              <a:rPr b="0" i="0" lang="en-US" sz="1700" u="none" cap="none" strike="noStrike">
                <a:solidFill>
                  <a:srgbClr val="1F2530"/>
                </a:solidFill>
                <a:latin typeface="Arial"/>
                <a:ea typeface="Arial"/>
                <a:cs typeface="Arial"/>
                <a:sym typeface="Arial"/>
              </a:rPr>
              <a:t> is an agonist at dopamine D1 and D2 receptors. Glagow and Ewert injected it into the lymph sac of common toads and measured prey-catching 20 min later.</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As the dose increased, prey-oriented turning fell from about 29 to near zero responses per minute, while snapping rose from about 7 to about 20. Toads that had been hunting sat motionless and "watched" for prey, snapping at items that came close: a shift from a </a:t>
            </a:r>
            <a:r>
              <a:rPr b="1" i="0" lang="en-US" sz="1700" u="none" cap="none" strike="noStrike">
                <a:solidFill>
                  <a:srgbClr val="1D4E89"/>
                </a:solidFill>
                <a:latin typeface="Arial"/>
                <a:ea typeface="Arial"/>
                <a:cs typeface="Arial"/>
                <a:sym typeface="Arial"/>
              </a:rPr>
              <a:t>hunting strategy</a:t>
            </a:r>
            <a:r>
              <a:rPr b="0" i="0" lang="en-US" sz="1700" u="none" cap="none" strike="noStrike">
                <a:solidFill>
                  <a:srgbClr val="1F2530"/>
                </a:solidFill>
                <a:latin typeface="Arial"/>
                <a:ea typeface="Arial"/>
                <a:cs typeface="Arial"/>
                <a:sym typeface="Arial"/>
              </a:rPr>
              <a:t> to a </a:t>
            </a:r>
            <a:r>
              <a:rPr b="1" i="0" lang="en-US" sz="1700" u="none" cap="none" strike="noStrike">
                <a:solidFill>
                  <a:srgbClr val="1D4E89"/>
                </a:solidFill>
                <a:latin typeface="Arial"/>
                <a:ea typeface="Arial"/>
                <a:cs typeface="Arial"/>
                <a:sym typeface="Arial"/>
              </a:rPr>
              <a:t>waiting strategy</a:t>
            </a:r>
            <a:r>
              <a:rPr b="0" i="0" lang="en-US" sz="1700" u="none" cap="none" strike="noStrike">
                <a:solidFill>
                  <a:srgbClr val="1F2530"/>
                </a:solidFill>
                <a:latin typeface="Arial"/>
                <a:ea typeface="Arial"/>
                <a:cs typeface="Arial"/>
                <a:sym typeface="Arial"/>
              </a:rPr>
              <a:t>, like that of </a:t>
            </a:r>
            <a:r>
              <a:rPr b="0" i="1" lang="en-US" sz="1700" u="none" cap="none" strike="noStrike">
                <a:solidFill>
                  <a:srgbClr val="1F2530"/>
                </a:solidFill>
                <a:latin typeface="Arial"/>
                <a:ea typeface="Arial"/>
                <a:cs typeface="Arial"/>
                <a:sym typeface="Arial"/>
              </a:rPr>
              <a:t>Rana</a:t>
            </a:r>
            <a:r>
              <a:rPr b="0" i="0" lang="en-US" sz="1700" u="none" cap="none" strike="noStrike">
                <a:solidFill>
                  <a:srgbClr val="1F2530"/>
                </a:solidFill>
                <a:latin typeface="Arial"/>
                <a:ea typeface="Arial"/>
                <a:cs typeface="Arial"/>
                <a:sym typeface="Arial"/>
              </a:rPr>
              <a:t>.</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The basic pattern of prey discrimination was maintained, but its acuity dropped because of the low snapping threshold. Effects peaked 15–35 min after injection; after 70–90 min turning returned with a short rebound. Pretreatment with the D2 antagonist </a:t>
            </a:r>
            <a:r>
              <a:rPr b="1" i="0" lang="en-US" sz="1700" u="none" cap="none" strike="noStrike">
                <a:solidFill>
                  <a:srgbClr val="1D4E89"/>
                </a:solidFill>
                <a:latin typeface="Arial"/>
                <a:ea typeface="Arial"/>
                <a:cs typeface="Arial"/>
                <a:sym typeface="Arial"/>
              </a:rPr>
              <a:t>haloperidol</a:t>
            </a:r>
            <a:r>
              <a:rPr b="0" i="0" lang="en-US" sz="1700" u="none" cap="none" strike="noStrike">
                <a:solidFill>
                  <a:srgbClr val="1F2530"/>
                </a:solidFill>
                <a:latin typeface="Arial"/>
                <a:ea typeface="Arial"/>
                <a:cs typeface="Arial"/>
                <a:sym typeface="Arial"/>
              </a:rPr>
              <a:t> prevented the APO effects.</a:t>
            </a:r>
            <a:endParaRPr/>
          </a:p>
        </p:txBody>
      </p:sp>
      <p:pic>
        <p:nvPicPr>
          <p:cNvPr descr="e01_f9.png" id="404" name="Google Shape;404;p27"/>
          <p:cNvPicPr preferRelativeResize="0"/>
          <p:nvPr/>
        </p:nvPicPr>
        <p:blipFill rotWithShape="1">
          <a:blip r:embed="rId3">
            <a:alphaModFix/>
          </a:blip>
          <a:srcRect b="0" l="0" r="0" t="0"/>
          <a:stretch/>
        </p:blipFill>
        <p:spPr>
          <a:xfrm>
            <a:off x="7052767" y="1280160"/>
            <a:ext cx="4572000" cy="3308543"/>
          </a:xfrm>
          <a:prstGeom prst="rect">
            <a:avLst/>
          </a:prstGeom>
          <a:noFill/>
          <a:ln>
            <a:noFill/>
          </a:ln>
        </p:spPr>
      </p:pic>
      <p:sp>
        <p:nvSpPr>
          <p:cNvPr id="405" name="Google Shape;405;p27"/>
          <p:cNvSpPr txBox="1"/>
          <p:nvPr/>
        </p:nvSpPr>
        <p:spPr>
          <a:xfrm>
            <a:off x="7052767" y="4680143"/>
            <a:ext cx="45720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9. Prey-oriented turning (black) and snapping (white) per minute 20 min after apomorphine at 0–100 mg/kg (n = 15 toads).</a:t>
            </a:r>
            <a:endParaRPr/>
          </a:p>
        </p:txBody>
      </p:sp>
      <p:sp>
        <p:nvSpPr>
          <p:cNvPr id="406" name="Google Shape;406;p27"/>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7" name="Google Shape;407;p2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a:t>
            </a:r>
            <a:endParaRPr/>
          </a:p>
        </p:txBody>
      </p:sp>
      <p:sp>
        <p:nvSpPr>
          <p:cNvPr id="408" name="Google Shape;408;p2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27</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3" name="Shape 413"/>
        <p:cNvGrpSpPr/>
        <p:nvPr/>
      </p:nvGrpSpPr>
      <p:grpSpPr>
        <a:xfrm>
          <a:off x="0" y="0"/>
          <a:ext cx="0" cy="0"/>
          <a:chOff x="0" y="0"/>
          <a:chExt cx="0" cy="0"/>
        </a:xfrm>
      </p:grpSpPr>
      <p:sp>
        <p:nvSpPr>
          <p:cNvPr id="414" name="Google Shape;414;p2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Apomorphine changes glucose use across the toad brain</a:t>
            </a:r>
            <a:endParaRPr/>
          </a:p>
        </p:txBody>
      </p:sp>
      <p:sp>
        <p:nvSpPr>
          <p:cNvPr id="415" name="Google Shape;415;p28"/>
          <p:cNvSpPr txBox="1"/>
          <p:nvPr/>
        </p:nvSpPr>
        <p:spPr>
          <a:xfrm>
            <a:off x="566928" y="1234440"/>
            <a:ext cx="74002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The </a:t>
            </a:r>
            <a:r>
              <a:rPr b="1" i="0" lang="en-US" sz="1800" u="none" cap="none" strike="noStrike">
                <a:solidFill>
                  <a:srgbClr val="1D4E89"/>
                </a:solidFill>
                <a:latin typeface="Arial"/>
                <a:ea typeface="Arial"/>
                <a:cs typeface="Arial"/>
                <a:sym typeface="Arial"/>
              </a:rPr>
              <a:t>¹⁴C-2-deoxyglucose (2DG)</a:t>
            </a:r>
            <a:r>
              <a:rPr b="0" i="0" lang="en-US" sz="1800" u="none" cap="none" strike="noStrike">
                <a:solidFill>
                  <a:srgbClr val="1F2530"/>
                </a:solidFill>
                <a:latin typeface="Arial"/>
                <a:ea typeface="Arial"/>
                <a:cs typeface="Arial"/>
                <a:sym typeface="Arial"/>
              </a:rPr>
              <a:t> method measures local glucose utilization: 2DG is taken up like glucose but trapped in active cells, and autoradiography maps its accumulation in brain sections.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Glagow and Ewert compared APO-treated and untreated toads, both shown a moving prey-like stimulus, across 41 brain structures. In APO-treated toads, 2DG uptake increased in retinal projection fields, the dorsal tectal layers, pretectal Lpd and anterior thalamus. It decreased in the medial tectal layers, which contain T5.1 and T5.2 output neurons.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Uptake also rose in structures for snapping (medial reticular formation, hypoglossal nucleus) and in mesolimbic and limbic structures (nucleus accumbens, ventral tegmentum, ventral medial pallium, medial septum). These changes match the distribution of dopaminergic cells and fibers in the anuran brain.</a:t>
            </a:r>
            <a:endParaRPr/>
          </a:p>
        </p:txBody>
      </p:sp>
      <p:pic>
        <p:nvPicPr>
          <p:cNvPr descr="e01_f10.png" id="416" name="Google Shape;416;p28"/>
          <p:cNvPicPr preferRelativeResize="0"/>
          <p:nvPr/>
        </p:nvPicPr>
        <p:blipFill rotWithShape="1">
          <a:blip r:embed="rId3">
            <a:alphaModFix/>
          </a:blip>
          <a:srcRect b="0" l="0" r="0" t="0"/>
          <a:stretch/>
        </p:blipFill>
        <p:spPr>
          <a:xfrm>
            <a:off x="9190498" y="1280160"/>
            <a:ext cx="1576697" cy="4297679"/>
          </a:xfrm>
          <a:prstGeom prst="rect">
            <a:avLst/>
          </a:prstGeom>
          <a:noFill/>
          <a:ln>
            <a:noFill/>
          </a:ln>
        </p:spPr>
      </p:pic>
      <p:sp>
        <p:nvSpPr>
          <p:cNvPr id="417" name="Google Shape;417;p28"/>
          <p:cNvSpPr txBox="1"/>
          <p:nvPr/>
        </p:nvSpPr>
        <p:spPr>
          <a:xfrm>
            <a:off x="8332927" y="5669279"/>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10. Color-coded 2DG uptake in transverse sections (a–d) of an untreated (A) and an apomorphine-treated (B) toad; blue low, red high.</a:t>
            </a:r>
            <a:endParaRPr/>
          </a:p>
        </p:txBody>
      </p:sp>
      <p:sp>
        <p:nvSpPr>
          <p:cNvPr id="418" name="Google Shape;418;p28"/>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9" name="Google Shape;419;p2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a:t>
            </a:r>
            <a:endParaRPr/>
          </a:p>
        </p:txBody>
      </p:sp>
      <p:sp>
        <p:nvSpPr>
          <p:cNvPr id="420" name="Google Shape;420;p2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28</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5" name="Shape 425"/>
        <p:cNvGrpSpPr/>
        <p:nvPr/>
      </p:nvGrpSpPr>
      <p:grpSpPr>
        <a:xfrm>
          <a:off x="0" y="0"/>
          <a:ext cx="0" cy="0"/>
          <a:chOff x="0" y="0"/>
          <a:chExt cx="0" cy="0"/>
        </a:xfrm>
      </p:grpSpPr>
      <p:sp>
        <p:nvSpPr>
          <p:cNvPr id="426" name="Google Shape;426;p2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Dopamine enlarges retinal receptive fields</a:t>
            </a:r>
            <a:endParaRPr/>
          </a:p>
        </p:txBody>
      </p:sp>
      <p:sp>
        <p:nvSpPr>
          <p:cNvPr id="427" name="Google Shape;427;p29"/>
          <p:cNvSpPr txBox="1"/>
          <p:nvPr/>
        </p:nvSpPr>
        <p:spPr>
          <a:xfrm>
            <a:off x="566928" y="1234440"/>
            <a:ext cx="758311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Glagow and Ewert recorded single retinal ganglion cell fibers in the tectum before and after APO, using a 2° × 16° bar moving across the receptive field in antiworm orientation.</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R2 neurons (excitatory receptive field 6°) and R3 neurons (8°) fired strongly increasing discharge 10–25 min after APO. In R2 neurons, the size-tuning curve shifted: the stimulus size that drove the strongest response moved from 6° before APO to about 12° after APO, so the excitatory receptive field diameter roughly doubled.</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In the retina, dopamine uncouples the gap junctions of horizontal cells, which carry the inhibitory surround. Weakening the surround is consistent with larger excitatory fields and greater retinal output. Ewert et al. proposed that this enhanced retinal input drives the pretectal inhibition that reduces tectal output.</a:t>
            </a:r>
            <a:endParaRPr/>
          </a:p>
        </p:txBody>
      </p:sp>
      <p:pic>
        <p:nvPicPr>
          <p:cNvPr descr="e01_f12.png" id="428" name="Google Shape;428;p29"/>
          <p:cNvPicPr preferRelativeResize="0"/>
          <p:nvPr/>
        </p:nvPicPr>
        <p:blipFill rotWithShape="1">
          <a:blip r:embed="rId3">
            <a:alphaModFix/>
          </a:blip>
          <a:srcRect b="0" l="0" r="0" t="0"/>
          <a:stretch/>
        </p:blipFill>
        <p:spPr>
          <a:xfrm>
            <a:off x="9363974" y="1280160"/>
            <a:ext cx="1412625" cy="4297679"/>
          </a:xfrm>
          <a:prstGeom prst="rect">
            <a:avLst/>
          </a:prstGeom>
          <a:noFill/>
          <a:ln>
            <a:noFill/>
          </a:ln>
        </p:spPr>
      </p:pic>
      <p:sp>
        <p:nvSpPr>
          <p:cNvPr id="429" name="Google Shape;429;p29"/>
          <p:cNvSpPr txBox="1"/>
          <p:nvPr/>
        </p:nvSpPr>
        <p:spPr>
          <a:xfrm>
            <a:off x="8515807" y="5669279"/>
            <a:ext cx="31089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12. R2 (A) and R3 (B) discharges before (a) and 10–25 min after apomorphine (b–d); (e) R2 size tuning before and after.</a:t>
            </a:r>
            <a:endParaRPr/>
          </a:p>
        </p:txBody>
      </p:sp>
      <p:sp>
        <p:nvSpPr>
          <p:cNvPr id="430" name="Google Shape;430;p29"/>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1" name="Google Shape;431;p2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a:t>
            </a:r>
            <a:endParaRPr/>
          </a:p>
        </p:txBody>
      </p:sp>
      <p:sp>
        <p:nvSpPr>
          <p:cNvPr id="432" name="Google Shape;432;p2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29</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7" name="Shape 437"/>
        <p:cNvGrpSpPr/>
        <p:nvPr/>
      </p:nvGrpSpPr>
      <p:grpSpPr>
        <a:xfrm>
          <a:off x="0" y="0"/>
          <a:ext cx="0" cy="0"/>
          <a:chOff x="0" y="0"/>
          <a:chExt cx="0" cy="0"/>
        </a:xfrm>
      </p:grpSpPr>
      <p:sp>
        <p:nvSpPr>
          <p:cNvPr id="438" name="Google Shape;438;p3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Apomorphine lowers T5.2 output but keeps its preference</a:t>
            </a:r>
            <a:endParaRPr/>
          </a:p>
        </p:txBody>
      </p:sp>
      <p:sp>
        <p:nvSpPr>
          <p:cNvPr id="439" name="Google Shape;439;p30"/>
          <p:cNvSpPr txBox="1"/>
          <p:nvPr/>
        </p:nvSpPr>
        <p:spPr>
          <a:xfrm>
            <a:off x="566928" y="1234440"/>
            <a:ext cx="70344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At 35 min after APO, the </a:t>
            </a:r>
            <a:r>
              <a:rPr b="1" i="0" lang="en-US" sz="1800" u="none" cap="none" strike="noStrike">
                <a:solidFill>
                  <a:srgbClr val="1D4E89"/>
                </a:solidFill>
                <a:latin typeface="Arial"/>
                <a:ea typeface="Arial"/>
                <a:cs typeface="Arial"/>
                <a:sym typeface="Arial"/>
              </a:rPr>
              <a:t>tectal reduction phase</a:t>
            </a:r>
            <a:r>
              <a:rPr b="0" i="0" lang="en-US" sz="1800" u="none" cap="none" strike="noStrike">
                <a:solidFill>
                  <a:srgbClr val="1F2530"/>
                </a:solidFill>
                <a:latin typeface="Arial"/>
                <a:ea typeface="Arial"/>
                <a:cs typeface="Arial"/>
                <a:sym typeface="Arial"/>
              </a:rPr>
              <a:t>, prey-selective T5.2 neurons fired less to a worm bar (A), an antiworm bar (B) and an 8° square (C), even though their retinal input had increased. T5.1 neurons were reduced as well. Their configurational preference was preserved: the worm still drove more spikes than the antiworm.</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At about 75 min, during the </a:t>
            </a:r>
            <a:r>
              <a:rPr b="1" i="0" lang="en-US" sz="1800" u="none" cap="none" strike="noStrike">
                <a:solidFill>
                  <a:srgbClr val="1D4E89"/>
                </a:solidFill>
                <a:latin typeface="Arial"/>
                <a:ea typeface="Arial"/>
                <a:cs typeface="Arial"/>
                <a:sym typeface="Arial"/>
              </a:rPr>
              <a:t>tectal rebound phase</a:t>
            </a:r>
            <a:r>
              <a:rPr b="0" i="0" lang="en-US" sz="1800" u="none" cap="none" strike="noStrike">
                <a:solidFill>
                  <a:srgbClr val="1F2530"/>
                </a:solidFill>
                <a:latin typeface="Arial"/>
                <a:ea typeface="Arial"/>
                <a:cs typeface="Arial"/>
                <a:sym typeface="Arial"/>
              </a:rPr>
              <a:t>, T5.2 responses increased again, matching the return of orienting behavior.</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The reduction in T5.2 firing parallels the drop in prey-oriented turning, and the medial tectal layers containing these output neurons showed lower 2DG uptake. Ewert et al. proposed that APO-enhanced pretectal activity, from TH3 and TH4 neurons whose responses rose under APO, suppresses tectal output to the orienting circuits.</a:t>
            </a:r>
            <a:endParaRPr/>
          </a:p>
        </p:txBody>
      </p:sp>
      <p:pic>
        <p:nvPicPr>
          <p:cNvPr descr="e01_f13.png" id="440" name="Google Shape;440;p30"/>
          <p:cNvPicPr preferRelativeResize="0"/>
          <p:nvPr/>
        </p:nvPicPr>
        <p:blipFill rotWithShape="1">
          <a:blip r:embed="rId3">
            <a:alphaModFix/>
          </a:blip>
          <a:srcRect b="0" l="0" r="0" t="0"/>
          <a:stretch/>
        </p:blipFill>
        <p:spPr>
          <a:xfrm>
            <a:off x="8632820" y="1280160"/>
            <a:ext cx="2326292" cy="4297679"/>
          </a:xfrm>
          <a:prstGeom prst="rect">
            <a:avLst/>
          </a:prstGeom>
          <a:noFill/>
          <a:ln>
            <a:noFill/>
          </a:ln>
        </p:spPr>
      </p:pic>
      <p:sp>
        <p:nvSpPr>
          <p:cNvPr id="441" name="Google Shape;441;p30"/>
          <p:cNvSpPr txBox="1"/>
          <p:nvPr/>
        </p:nvSpPr>
        <p:spPr>
          <a:xfrm>
            <a:off x="7967167" y="5669279"/>
            <a:ext cx="36576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13. A T5.2 neuron's responses to worm (A), antiworm (B) and square (C) before (a), 35 min (b) and 75 min (c) after apomorphine.</a:t>
            </a:r>
            <a:endParaRPr/>
          </a:p>
        </p:txBody>
      </p:sp>
      <p:sp>
        <p:nvSpPr>
          <p:cNvPr id="442" name="Google Shape;442;p30"/>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3" name="Google Shape;443;p3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a:t>
            </a:r>
            <a:endParaRPr/>
          </a:p>
        </p:txBody>
      </p:sp>
      <p:sp>
        <p:nvSpPr>
          <p:cNvPr id="444" name="Google Shape;444;p3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30</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9" name="Shape 449"/>
        <p:cNvGrpSpPr/>
        <p:nvPr/>
      </p:nvGrpSpPr>
      <p:grpSpPr>
        <a:xfrm>
          <a:off x="0" y="0"/>
          <a:ext cx="0" cy="0"/>
          <a:chOff x="0" y="0"/>
          <a:chExt cx="0" cy="0"/>
        </a:xfrm>
      </p:grpSpPr>
      <p:sp>
        <p:nvSpPr>
          <p:cNvPr id="450" name="Google Shape;450;p3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Apomorphine boosts pretectal TH3 and TH4 responses</a:t>
            </a:r>
            <a:endParaRPr/>
          </a:p>
        </p:txBody>
      </p:sp>
      <p:sp>
        <p:nvSpPr>
          <p:cNvPr id="451" name="Google Shape;451;p31"/>
          <p:cNvSpPr txBox="1"/>
          <p:nvPr/>
        </p:nvSpPr>
        <p:spPr>
          <a:xfrm>
            <a:off x="566928" y="1234440"/>
            <a:ext cx="63029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1F2530"/>
                </a:solidFill>
                <a:latin typeface="Arial"/>
                <a:ea typeface="Arial"/>
                <a:cs typeface="Arial"/>
                <a:sym typeface="Arial"/>
              </a:rPr>
              <a:t>Glagow and Ewert recorded pretectal </a:t>
            </a:r>
            <a:r>
              <a:rPr b="1" i="0" lang="en-US" sz="1700" u="none" cap="none" strike="noStrike">
                <a:solidFill>
                  <a:srgbClr val="1D4E89"/>
                </a:solidFill>
                <a:latin typeface="Arial"/>
                <a:ea typeface="Arial"/>
                <a:cs typeface="Arial"/>
                <a:sym typeface="Arial"/>
              </a:rPr>
              <a:t>TH3</a:t>
            </a:r>
            <a:r>
              <a:rPr b="0" i="0" lang="en-US" sz="1700" u="none" cap="none" strike="noStrike">
                <a:solidFill>
                  <a:srgbClr val="1F2530"/>
                </a:solidFill>
                <a:latin typeface="Arial"/>
                <a:ea typeface="Arial"/>
                <a:cs typeface="Arial"/>
                <a:sym typeface="Arial"/>
              </a:rPr>
              <a:t> and </a:t>
            </a:r>
            <a:r>
              <a:rPr b="1" i="0" lang="en-US" sz="1700" u="none" cap="none" strike="noStrike">
                <a:solidFill>
                  <a:srgbClr val="1D4E89"/>
                </a:solidFill>
                <a:latin typeface="Arial"/>
                <a:ea typeface="Arial"/>
                <a:cs typeface="Arial"/>
                <a:sym typeface="Arial"/>
              </a:rPr>
              <a:t>TH4</a:t>
            </a:r>
            <a:r>
              <a:rPr b="0" i="0" lang="en-US" sz="1700" u="none" cap="none" strike="noStrike">
                <a:solidFill>
                  <a:srgbClr val="1F2530"/>
                </a:solidFill>
                <a:latin typeface="Arial"/>
                <a:ea typeface="Arial"/>
                <a:cs typeface="Arial"/>
                <a:sym typeface="Arial"/>
              </a:rPr>
              <a:t> neurons, whose axons project to the tectum, and compared them with a tectal T5.2 neuron in the same stimulus condition: a 2° × 16° bar moving at 10°/s in prey configuration.</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Before APO, TH3 and TH4 neurons responded only weakly to the prey-configured bar, while the T5.2 neuron responded strongly. About 35 min after APO, TH3 and TH4 discharges to the same bar increased markedly, and the T5.2 neuron's response decreased.</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The opposite changes in pretectal and tectal neurons fit the gating model: dopaminergic enhancement of retinal input increases pretecto-tectal inhibition, reducing tectal output for prey-oriented turning. Striatal disinhibition of the pretectum may also be weakened under APO, which would act in the same direction.</a:t>
            </a:r>
            <a:endParaRPr/>
          </a:p>
        </p:txBody>
      </p:sp>
      <p:pic>
        <p:nvPicPr>
          <p:cNvPr descr="e01_f14.png" id="452" name="Google Shape;452;p31"/>
          <p:cNvPicPr preferRelativeResize="0"/>
          <p:nvPr/>
        </p:nvPicPr>
        <p:blipFill rotWithShape="1">
          <a:blip r:embed="rId3">
            <a:alphaModFix/>
          </a:blip>
          <a:srcRect b="0" l="0" r="0" t="0"/>
          <a:stretch/>
        </p:blipFill>
        <p:spPr>
          <a:xfrm>
            <a:off x="7698275" y="1280160"/>
            <a:ext cx="3463863" cy="4297679"/>
          </a:xfrm>
          <a:prstGeom prst="rect">
            <a:avLst/>
          </a:prstGeom>
          <a:noFill/>
          <a:ln>
            <a:noFill/>
          </a:ln>
        </p:spPr>
      </p:pic>
      <p:sp>
        <p:nvSpPr>
          <p:cNvPr id="453" name="Google Shape;453;p31"/>
          <p:cNvSpPr txBox="1"/>
          <p:nvPr/>
        </p:nvSpPr>
        <p:spPr>
          <a:xfrm>
            <a:off x="7235647" y="5669279"/>
            <a:ext cx="43891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14. Responses of pretectal TH3, TH4 and tectal T5.2 neurons to a prey-configured bar before (A) and 35 min after apomorphine (B).</a:t>
            </a:r>
            <a:endParaRPr/>
          </a:p>
        </p:txBody>
      </p:sp>
      <p:sp>
        <p:nvSpPr>
          <p:cNvPr id="454" name="Google Shape;454;p31"/>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5" name="Google Shape;455;p3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a:t>
            </a:r>
            <a:endParaRPr/>
          </a:p>
        </p:txBody>
      </p:sp>
      <p:sp>
        <p:nvSpPr>
          <p:cNvPr id="456" name="Google Shape;456;p3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31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1" name="Shape 461"/>
        <p:cNvGrpSpPr/>
        <p:nvPr/>
      </p:nvGrpSpPr>
      <p:grpSpPr>
        <a:xfrm>
          <a:off x="0" y="0"/>
          <a:ext cx="0" cy="0"/>
          <a:chOff x="0" y="0"/>
          <a:chExt cx="0" cy="0"/>
        </a:xfrm>
      </p:grpSpPr>
      <p:sp>
        <p:nvSpPr>
          <p:cNvPr id="462" name="Google Shape;462;p3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Habituation to prey dummies is stimulus-specific</a:t>
            </a:r>
            <a:endParaRPr/>
          </a:p>
        </p:txBody>
      </p:sp>
      <p:sp>
        <p:nvSpPr>
          <p:cNvPr id="463" name="Google Shape;463;p32"/>
          <p:cNvSpPr txBox="1"/>
          <p:nvPr/>
        </p:nvSpPr>
        <p:spPr>
          <a:xfrm>
            <a:off x="566928" y="1234440"/>
            <a:ext cx="70344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700" u="none" cap="none" strike="noStrike">
                <a:solidFill>
                  <a:srgbClr val="1D4E89"/>
                </a:solidFill>
                <a:latin typeface="Arial"/>
                <a:ea typeface="Arial"/>
                <a:cs typeface="Arial"/>
                <a:sym typeface="Arial"/>
              </a:rPr>
              <a:t>Habituation</a:t>
            </a:r>
            <a:r>
              <a:rPr b="0" i="0" lang="en-US" sz="1700" u="none" cap="none" strike="noStrike">
                <a:solidFill>
                  <a:srgbClr val="1F2530"/>
                </a:solidFill>
                <a:latin typeface="Arial"/>
                <a:ea typeface="Arial"/>
                <a:cs typeface="Arial"/>
                <a:sym typeface="Arial"/>
              </a:rPr>
              <a:t> is a decrease in response with repeated stimulation. When a prey dummy circles repeatedly, the toad's orienting gradually stops. Responding recovers if the stimulus is withheld, presented to another part of the visual field, or altered.</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Ewert and Kehl habituated toads to a black triangle moving with its narrow side leading (A). Immediately afterward the mirror-image triangle (B) elicited full responding, and it too habituated. The response decrement is therefore specific to stimulus features, which places the change in sensory and modulatory structures rather than in the motor system.</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Testing many pairs revealed a </a:t>
            </a:r>
            <a:r>
              <a:rPr b="1" i="0" lang="en-US" sz="1700" u="none" cap="none" strike="noStrike">
                <a:solidFill>
                  <a:srgbClr val="1D4E89"/>
                </a:solidFill>
                <a:latin typeface="Arial"/>
                <a:ea typeface="Arial"/>
                <a:cs typeface="Arial"/>
                <a:sym typeface="Arial"/>
              </a:rPr>
              <a:t>dishabituation hierarchy</a:t>
            </a:r>
            <a:r>
              <a:rPr b="0" i="0" lang="en-US" sz="1700" u="none" cap="none" strike="noStrike">
                <a:solidFill>
                  <a:srgbClr val="1F2530"/>
                </a:solidFill>
                <a:latin typeface="Arial"/>
                <a:ea typeface="Arial"/>
                <a:cs typeface="Arial"/>
                <a:sym typeface="Arial"/>
              </a:rPr>
              <a:t>: one pattern dishabituates all those below it but not vice versa, even though before habituation all were about equally effective. The toad can thus discriminate configurational cues, such as leading versus trailing edges, beyond the worm–antiworm rule.</a:t>
            </a:r>
            <a:endParaRPr/>
          </a:p>
        </p:txBody>
      </p:sp>
      <p:pic>
        <p:nvPicPr>
          <p:cNvPr descr="e01_f16.png" id="464" name="Google Shape;464;p32"/>
          <p:cNvPicPr preferRelativeResize="0"/>
          <p:nvPr/>
        </p:nvPicPr>
        <p:blipFill rotWithShape="1">
          <a:blip r:embed="rId3">
            <a:alphaModFix/>
          </a:blip>
          <a:srcRect b="0" l="0" r="0" t="0"/>
          <a:stretch/>
        </p:blipFill>
        <p:spPr>
          <a:xfrm>
            <a:off x="8588058" y="1280160"/>
            <a:ext cx="2415817" cy="4297679"/>
          </a:xfrm>
          <a:prstGeom prst="rect">
            <a:avLst/>
          </a:prstGeom>
          <a:noFill/>
          <a:ln>
            <a:noFill/>
          </a:ln>
        </p:spPr>
      </p:pic>
      <p:sp>
        <p:nvSpPr>
          <p:cNvPr id="465" name="Google Shape;465;p32"/>
          <p:cNvSpPr txBox="1"/>
          <p:nvPr/>
        </p:nvSpPr>
        <p:spPr>
          <a:xfrm>
            <a:off x="7967167" y="5669279"/>
            <a:ext cx="36576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16. Stimulus-specific habituation to triangles A and B (A) and the dishabituation hierarchy of moving patterns (B); inset: beetle Carabus.</a:t>
            </a:r>
            <a:endParaRPr/>
          </a:p>
        </p:txBody>
      </p:sp>
      <p:sp>
        <p:nvSpPr>
          <p:cNvPr id="466" name="Google Shape;466;p32"/>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7" name="Google Shape;467;p3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a:t>
            </a:r>
            <a:endParaRPr/>
          </a:p>
        </p:txBody>
      </p:sp>
      <p:sp>
        <p:nvSpPr>
          <p:cNvPr id="468" name="Google Shape;468;p3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32</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3" name="Shape 473"/>
        <p:cNvGrpSpPr/>
        <p:nvPr/>
      </p:nvGrpSpPr>
      <p:grpSpPr>
        <a:xfrm>
          <a:off x="0" y="0"/>
          <a:ext cx="0" cy="0"/>
          <a:chOff x="0" y="0"/>
          <a:chExt cx="0" cy="0"/>
        </a:xfrm>
      </p:grpSpPr>
      <p:sp>
        <p:nvSpPr>
          <p:cNvPr id="474" name="Google Shape;474;p3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Hand-feeding teaches toads to treat a threat as prey</a:t>
            </a:r>
            <a:endParaRPr/>
          </a:p>
        </p:txBody>
      </p:sp>
      <p:sp>
        <p:nvSpPr>
          <p:cNvPr id="475" name="Google Shape;475;p33"/>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In the </a:t>
            </a:r>
            <a:r>
              <a:rPr b="1" i="0" lang="en-US" sz="1600" u="none" cap="none" strike="noStrike">
                <a:solidFill>
                  <a:srgbClr val="1D4E89"/>
                </a:solidFill>
                <a:latin typeface="Arial"/>
                <a:ea typeface="Arial"/>
                <a:cs typeface="Arial"/>
                <a:sym typeface="Arial"/>
              </a:rPr>
              <a:t>hand-feeding paradigm</a:t>
            </a:r>
            <a:r>
              <a:rPr b="0" i="0" lang="en-US" sz="1600" u="none" cap="none" strike="noStrike">
                <a:solidFill>
                  <a:srgbClr val="1F2530"/>
                </a:solidFill>
                <a:latin typeface="Arial"/>
                <a:ea typeface="Arial"/>
                <a:cs typeface="Arial"/>
                <a:sym typeface="Arial"/>
              </a:rPr>
              <a:t>, a toad was allowed to catch a mealworm from the experimenter's hand once daily. The moving hand is a threatening stimulus, and naive toads hesitate. After about 7 weeks, toads oriented and snapped about eight times per minute toward the hand alone: the hand (conditioned stimulus) had been associated with prey (unconditioned stimulus).</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The effect generalized: antiworm bars and large moving squares were included in the prey schema. Controls exposed to hand and mealworm without contingency kept normal selectivity. Trained toads thus behaved like pretectally lesioned toads.</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In 2DG experiments with a large moving square, trained toads showed increased uptake in the ventral medial pallium (vMP) and tectal structures and decreased uptake in the pretectal Lpd and Lpv nuclei. Ewert proposed that the pallium inhibits pretecto-tectal inhibition via the anterior thalamus.</a:t>
            </a:r>
            <a:endParaRPr/>
          </a:p>
        </p:txBody>
      </p:sp>
      <p:pic>
        <p:nvPicPr>
          <p:cNvPr descr="e01_f18.png" id="476" name="Google Shape;476;p33"/>
          <p:cNvPicPr preferRelativeResize="0"/>
          <p:nvPr/>
        </p:nvPicPr>
        <p:blipFill rotWithShape="1">
          <a:blip r:embed="rId3">
            <a:alphaModFix/>
          </a:blip>
          <a:srcRect b="0" l="0" r="0" t="0"/>
          <a:stretch/>
        </p:blipFill>
        <p:spPr>
          <a:xfrm>
            <a:off x="6622703" y="1280160"/>
            <a:ext cx="4700607" cy="2286000"/>
          </a:xfrm>
          <a:prstGeom prst="rect">
            <a:avLst/>
          </a:prstGeom>
          <a:noFill/>
          <a:ln>
            <a:noFill/>
          </a:ln>
        </p:spPr>
      </p:pic>
      <p:sp>
        <p:nvSpPr>
          <p:cNvPr id="477" name="Google Shape;477;p33"/>
          <p:cNvSpPr txBox="1"/>
          <p:nvPr/>
        </p:nvSpPr>
        <p:spPr>
          <a:xfrm>
            <a:off x="6321247" y="3657600"/>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18. 2DG uptake in trained versus untrained toads viewing a large square; filled bars significant.</a:t>
            </a:r>
            <a:endParaRPr/>
          </a:p>
        </p:txBody>
      </p:sp>
      <p:pic>
        <p:nvPicPr>
          <p:cNvPr descr="t97_f1c.png" id="478" name="Google Shape;478;p33"/>
          <p:cNvPicPr preferRelativeResize="0"/>
          <p:nvPr/>
        </p:nvPicPr>
        <p:blipFill rotWithShape="1">
          <a:blip r:embed="rId4">
            <a:alphaModFix/>
          </a:blip>
          <a:srcRect b="0" l="0" r="0" t="0"/>
          <a:stretch/>
        </p:blipFill>
        <p:spPr>
          <a:xfrm>
            <a:off x="7413457" y="4114800"/>
            <a:ext cx="3119099" cy="1645919"/>
          </a:xfrm>
          <a:prstGeom prst="rect">
            <a:avLst/>
          </a:prstGeom>
          <a:noFill/>
          <a:ln>
            <a:noFill/>
          </a:ln>
        </p:spPr>
      </p:pic>
      <p:sp>
        <p:nvSpPr>
          <p:cNvPr id="479" name="Google Shape;479;p33"/>
          <p:cNvSpPr txBox="1"/>
          <p:nvPr/>
        </p:nvSpPr>
        <p:spPr>
          <a:xfrm>
            <a:off x="6321247" y="5833872"/>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(1997), Fig. 1C. Proposed learning loop: medial pallium (MP) inhibits pretecto-tectal inhibition via anterior thalamus (A).</a:t>
            </a:r>
            <a:endParaRPr/>
          </a:p>
        </p:txBody>
      </p:sp>
      <p:sp>
        <p:nvSpPr>
          <p:cNvPr id="480" name="Google Shape;480;p33"/>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1" name="Google Shape;481;p3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 Ewert (1997)</a:t>
            </a:r>
            <a:endParaRPr/>
          </a:p>
        </p:txBody>
      </p:sp>
      <p:sp>
        <p:nvSpPr>
          <p:cNvPr id="482" name="Google Shape;482;p3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33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7" name="Shape 487"/>
        <p:cNvGrpSpPr/>
        <p:nvPr/>
      </p:nvGrpSpPr>
      <p:grpSpPr>
        <a:xfrm>
          <a:off x="0" y="0"/>
          <a:ext cx="0" cy="0"/>
          <a:chOff x="0" y="0"/>
          <a:chExt cx="0" cy="0"/>
        </a:xfrm>
      </p:grpSpPr>
      <p:sp>
        <p:nvSpPr>
          <p:cNvPr id="488" name="Google Shape;488;p3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A prey-associated odor activates the hippocampal pallium</a:t>
            </a:r>
            <a:endParaRPr/>
          </a:p>
        </p:txBody>
      </p:sp>
      <p:sp>
        <p:nvSpPr>
          <p:cNvPr id="489" name="Google Shape;489;p34"/>
          <p:cNvSpPr txBox="1"/>
          <p:nvPr/>
        </p:nvSpPr>
        <p:spPr>
          <a:xfrm>
            <a:off x="566928" y="1234440"/>
            <a:ext cx="666871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Merkel-Harff and Ewert paired the odor </a:t>
            </a:r>
            <a:r>
              <a:rPr b="1" i="0" lang="en-US" sz="1800" u="none" cap="none" strike="noStrike">
                <a:solidFill>
                  <a:srgbClr val="1D4E89"/>
                </a:solidFill>
                <a:latin typeface="Arial"/>
                <a:ea typeface="Arial"/>
                <a:cs typeface="Arial"/>
                <a:sym typeface="Arial"/>
              </a:rPr>
              <a:t>cineol</a:t>
            </a:r>
            <a:r>
              <a:rPr b="0" i="0" lang="en-US" sz="1800" u="none" cap="none" strike="noStrike">
                <a:solidFill>
                  <a:srgbClr val="1F2530"/>
                </a:solidFill>
                <a:latin typeface="Arial"/>
                <a:ea typeface="Arial"/>
                <a:cs typeface="Arial"/>
                <a:sym typeface="Arial"/>
              </a:rPr>
              <a:t> with visual prey in repeated training sessions. In naive toads, cineol presented with prey reduced prey-catching; after training, the prey-associated odor facilitated prey-catching and reduced prey selectivity, and the odor alone elicited orienting movements in arbitrary directions.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2DG autoradiography located a key structure. In a binocularly enucleated (blinded) toad without odor stimulation, the </a:t>
            </a:r>
            <a:r>
              <a:rPr b="1" i="0" lang="en-US" sz="1800" u="none" cap="none" strike="noStrike">
                <a:solidFill>
                  <a:srgbClr val="1D4E89"/>
                </a:solidFill>
                <a:latin typeface="Arial"/>
                <a:ea typeface="Arial"/>
                <a:cs typeface="Arial"/>
                <a:sym typeface="Arial"/>
              </a:rPr>
              <a:t>caudal ventral medial pallium (vMP)</a:t>
            </a:r>
            <a:r>
              <a:rPr b="0" i="0" lang="en-US" sz="1800" u="none" cap="none" strike="noStrike">
                <a:solidFill>
                  <a:srgbClr val="1F2530"/>
                </a:solidFill>
                <a:latin typeface="Arial"/>
                <a:ea typeface="Arial"/>
                <a:cs typeface="Arial"/>
                <a:sym typeface="Arial"/>
              </a:rPr>
              <a:t> showed no 2DG uptake. In a blinded toad stimulated with the prey-associated cineol, vMP uptake was strong.</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The vMP, the amphibian homolog of the hippocampus, thus responds to a learned olfactory prey cue even without vision. Ewert et al. proposed that vMP output disinhibits tectal T5.1 and T5.2 neurons through hypothalamic pathways, raising conditioned prey-catching motivation.</a:t>
            </a:r>
            <a:endParaRPr/>
          </a:p>
        </p:txBody>
      </p:sp>
      <p:pic>
        <p:nvPicPr>
          <p:cNvPr descr="e01_f22.png" id="490" name="Google Shape;490;p34"/>
          <p:cNvPicPr preferRelativeResize="0"/>
          <p:nvPr/>
        </p:nvPicPr>
        <p:blipFill rotWithShape="1">
          <a:blip r:embed="rId3">
            <a:alphaModFix/>
          </a:blip>
          <a:srcRect b="0" l="0" r="0" t="0"/>
          <a:stretch/>
        </p:blipFill>
        <p:spPr>
          <a:xfrm>
            <a:off x="8008998" y="1280160"/>
            <a:ext cx="3208177" cy="4297679"/>
          </a:xfrm>
          <a:prstGeom prst="rect">
            <a:avLst/>
          </a:prstGeom>
          <a:noFill/>
          <a:ln>
            <a:noFill/>
          </a:ln>
        </p:spPr>
      </p:pic>
      <p:sp>
        <p:nvSpPr>
          <p:cNvPr id="491" name="Google Shape;491;p34"/>
          <p:cNvSpPr txBox="1"/>
          <p:nvPr/>
        </p:nvSpPr>
        <p:spPr>
          <a:xfrm>
            <a:off x="7601407" y="5669279"/>
            <a:ext cx="40233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22. Caudal telencephalon (A); 2DG uptake in vMP of a blinded toad without (Ba) and with (Bb) prey-associated cineol.</a:t>
            </a:r>
            <a:endParaRPr/>
          </a:p>
        </p:txBody>
      </p:sp>
      <p:sp>
        <p:nvSpPr>
          <p:cNvPr id="492" name="Google Shape;492;p34"/>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3" name="Google Shape;493;p3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a:t>
            </a:r>
            <a:endParaRPr/>
          </a:p>
        </p:txBody>
      </p:sp>
      <p:sp>
        <p:nvSpPr>
          <p:cNvPr id="494" name="Google Shape;494;p3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34</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9" name="Shape 499"/>
        <p:cNvGrpSpPr/>
        <p:nvPr/>
      </p:nvGrpSpPr>
      <p:grpSpPr>
        <a:xfrm>
          <a:off x="0" y="0"/>
          <a:ext cx="0" cy="0"/>
          <a:chOff x="0" y="0"/>
          <a:chExt cx="0" cy="0"/>
        </a:xfrm>
      </p:grpSpPr>
      <p:sp>
        <p:nvSpPr>
          <p:cNvPr id="500" name="Google Shape;500;p3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Toads use color when choosing prey</a:t>
            </a:r>
            <a:endParaRPr/>
          </a:p>
        </p:txBody>
      </p:sp>
      <p:sp>
        <p:nvSpPr>
          <p:cNvPr id="501" name="Google Shape;501;p35"/>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Yovanovich and colleagues tested whether toads (</a:t>
            </a:r>
            <a:r>
              <a:rPr b="0" i="1" lang="en-US" sz="1600" u="none" cap="none" strike="noStrike">
                <a:solidFill>
                  <a:srgbClr val="1F2530"/>
                </a:solidFill>
                <a:latin typeface="Arial"/>
                <a:ea typeface="Arial"/>
                <a:cs typeface="Arial"/>
                <a:sym typeface="Arial"/>
              </a:rPr>
              <a:t>Bufo bufo</a:t>
            </a:r>
            <a:r>
              <a:rPr b="0" i="0" lang="en-US" sz="1600" u="none" cap="none" strike="noStrike">
                <a:solidFill>
                  <a:srgbClr val="1F2530"/>
                </a:solidFill>
                <a:latin typeface="Arial"/>
                <a:ea typeface="Arial"/>
                <a:cs typeface="Arial"/>
                <a:sym typeface="Arial"/>
              </a:rPr>
              <a:t>) and frogs (</a:t>
            </a:r>
            <a:r>
              <a:rPr b="0" i="1" lang="en-US" sz="1600" u="none" cap="none" strike="noStrike">
                <a:solidFill>
                  <a:srgbClr val="1F2530"/>
                </a:solidFill>
                <a:latin typeface="Arial"/>
                <a:ea typeface="Arial"/>
                <a:cs typeface="Arial"/>
                <a:sym typeface="Arial"/>
              </a:rPr>
              <a:t>Rana temporaria</a:t>
            </a:r>
            <a:r>
              <a:rPr b="0" i="0" lang="en-US" sz="1600" u="none" cap="none" strike="noStrike">
                <a:solidFill>
                  <a:srgbClr val="1F2530"/>
                </a:solidFill>
                <a:latin typeface="Arial"/>
                <a:ea typeface="Arial"/>
                <a:cs typeface="Arial"/>
                <a:sym typeface="Arial"/>
              </a:rPr>
              <a:t>) use color in prey-catching. Moving prey dummies of different colors and brightness were presented at controlled light levels.</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At 40 cd/m², toads chose green dummies over blue ones about three times out of four, a significant color preference, whereas frogs showed no significant color preference but strongly preferred darker stimuli.</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As luminance decreased, the toads' green preference persisted down to dim light but disappeared at the lowest intensities, where vision depends on rods. The authors found no evidence of rod-based color discrimination in prey-catching or mate choice. By contrast, frogs jumping toward lit windows could discriminate blue from green down to the absolute visual threshold. Color processing therefore depends on the task.</a:t>
            </a:r>
            <a:endParaRPr/>
          </a:p>
        </p:txBody>
      </p:sp>
      <p:pic>
        <p:nvPicPr>
          <p:cNvPr descr="yov_f2.png" id="502" name="Google Shape;502;p35"/>
          <p:cNvPicPr preferRelativeResize="0"/>
          <p:nvPr/>
        </p:nvPicPr>
        <p:blipFill rotWithShape="1">
          <a:blip r:embed="rId3">
            <a:alphaModFix/>
          </a:blip>
          <a:srcRect b="0" l="0" r="0" t="0"/>
          <a:stretch/>
        </p:blipFill>
        <p:spPr>
          <a:xfrm>
            <a:off x="6138367" y="1280160"/>
            <a:ext cx="5486400" cy="2828544"/>
          </a:xfrm>
          <a:prstGeom prst="rect">
            <a:avLst/>
          </a:prstGeom>
          <a:noFill/>
          <a:ln>
            <a:noFill/>
          </a:ln>
        </p:spPr>
      </p:pic>
      <p:sp>
        <p:nvSpPr>
          <p:cNvPr id="503" name="Google Shape;503;p35"/>
          <p:cNvSpPr txBox="1"/>
          <p:nvPr/>
        </p:nvSpPr>
        <p:spPr>
          <a:xfrm>
            <a:off x="6138367" y="4200144"/>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Yovanovich et al. (2017), Fig. 2. Prey choices by color (a) and brightness (b) in Bufo and Rana at 40 cd/m²; toad color choices across luminance (c).</a:t>
            </a:r>
            <a:endParaRPr/>
          </a:p>
        </p:txBody>
      </p:sp>
      <p:sp>
        <p:nvSpPr>
          <p:cNvPr id="504" name="Google Shape;504;p35"/>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5" name="Google Shape;505;p3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Yovanovich et al. (2017)</a:t>
            </a:r>
            <a:endParaRPr/>
          </a:p>
        </p:txBody>
      </p:sp>
      <p:sp>
        <p:nvSpPr>
          <p:cNvPr id="506" name="Google Shape;506;p3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35</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1" name="Shape 511"/>
        <p:cNvGrpSpPr/>
        <p:nvPr/>
      </p:nvGrpSpPr>
      <p:grpSpPr>
        <a:xfrm>
          <a:off x="0" y="0"/>
          <a:ext cx="0" cy="0"/>
          <a:chOff x="0" y="0"/>
          <a:chExt cx="0" cy="0"/>
        </a:xfrm>
      </p:grpSpPr>
      <p:sp>
        <p:nvSpPr>
          <p:cNvPr id="512" name="Google Shape;512;p3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Retinal input reaches salamander reticulospinal neurons</a:t>
            </a:r>
            <a:endParaRPr/>
          </a:p>
        </p:txBody>
      </p:sp>
      <p:sp>
        <p:nvSpPr>
          <p:cNvPr id="513" name="Google Shape;513;p36"/>
          <p:cNvSpPr txBox="1"/>
          <p:nvPr/>
        </p:nvSpPr>
        <p:spPr>
          <a:xfrm>
            <a:off x="566928" y="1234440"/>
            <a:ext cx="63029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1F2530"/>
                </a:solidFill>
                <a:latin typeface="Arial"/>
                <a:ea typeface="Arial"/>
                <a:cs typeface="Arial"/>
                <a:sym typeface="Arial"/>
              </a:rPr>
              <a:t>Flaive and Ryczko used an isolated salamander brain with eyes attached. They stimulated the retina electrically and imaged calcium in </a:t>
            </a:r>
            <a:r>
              <a:rPr b="1" i="0" lang="en-US" sz="1700" u="none" cap="none" strike="noStrike">
                <a:solidFill>
                  <a:srgbClr val="1D4E89"/>
                </a:solidFill>
                <a:latin typeface="Arial"/>
                <a:ea typeface="Arial"/>
                <a:cs typeface="Arial"/>
                <a:sym typeface="Arial"/>
              </a:rPr>
              <a:t>reticulospinal (RS) neurons</a:t>
            </a:r>
            <a:r>
              <a:rPr b="0" i="0" lang="en-US" sz="1700" u="none" cap="none" strike="noStrike">
                <a:solidFill>
                  <a:srgbClr val="1F2530"/>
                </a:solidFill>
                <a:latin typeface="Arial"/>
                <a:ea typeface="Arial"/>
                <a:cs typeface="Arial"/>
                <a:sym typeface="Arial"/>
              </a:rPr>
              <a:t> of the middle reticular nucleus, which control steering movements.</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Retinal stimulation evoked calcium responses in RS neurons, and response size grew with stimulus intensity. Responses on the side ipsilateral to the stimulated retina were larger than contralateral ones, a bias suited to turning toward one side.</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Microinjection of glutamate receptor antagonists into the </a:t>
            </a:r>
            <a:r>
              <a:rPr b="1" i="0" lang="en-US" sz="1700" u="none" cap="none" strike="noStrike">
                <a:solidFill>
                  <a:srgbClr val="1D4E89"/>
                </a:solidFill>
                <a:latin typeface="Arial"/>
                <a:ea typeface="Arial"/>
                <a:cs typeface="Arial"/>
                <a:sym typeface="Arial"/>
              </a:rPr>
              <a:t>optic tectum</a:t>
            </a:r>
            <a:r>
              <a:rPr b="0" i="0" lang="en-US" sz="1700" u="none" cap="none" strike="noStrike">
                <a:solidFill>
                  <a:srgbClr val="1F2530"/>
                </a:solidFill>
                <a:latin typeface="Arial"/>
                <a:ea typeface="Arial"/>
                <a:cs typeface="Arial"/>
                <a:sym typeface="Arial"/>
              </a:rPr>
              <a:t> reduced the RS responses, and tracing showed tectal projections onto RS neurons, which in turn contact spinal motoneurons. This establishes a cellular substrate, retina → tectum → reticulospinal neurons → motoneurons, for the visually guided orientation that Ewert studied behaviorally in toads.</a:t>
            </a:r>
            <a:endParaRPr/>
          </a:p>
        </p:txBody>
      </p:sp>
      <p:pic>
        <p:nvPicPr>
          <p:cNvPr descr="flaive_f7.png" id="514" name="Google Shape;514;p36"/>
          <p:cNvPicPr preferRelativeResize="0"/>
          <p:nvPr/>
        </p:nvPicPr>
        <p:blipFill rotWithShape="1">
          <a:blip r:embed="rId3">
            <a:alphaModFix/>
          </a:blip>
          <a:srcRect b="0" l="0" r="0" t="0"/>
          <a:stretch/>
        </p:blipFill>
        <p:spPr>
          <a:xfrm>
            <a:off x="7500111" y="1280160"/>
            <a:ext cx="3860191" cy="4297679"/>
          </a:xfrm>
          <a:prstGeom prst="rect">
            <a:avLst/>
          </a:prstGeom>
          <a:noFill/>
          <a:ln>
            <a:noFill/>
          </a:ln>
        </p:spPr>
      </p:pic>
      <p:sp>
        <p:nvSpPr>
          <p:cNvPr id="515" name="Google Shape;515;p36"/>
          <p:cNvSpPr txBox="1"/>
          <p:nvPr/>
        </p:nvSpPr>
        <p:spPr>
          <a:xfrm>
            <a:off x="7235647" y="5669279"/>
            <a:ext cx="43891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Flaive &amp; Ryczko (2022), Fig. 7. Retinal stimulation evokes graded calcium responses in ipsilateral and contralateral reticulospinal neurons of the middle reticular nucleus.</a:t>
            </a:r>
            <a:endParaRPr/>
          </a:p>
        </p:txBody>
      </p:sp>
      <p:sp>
        <p:nvSpPr>
          <p:cNvPr id="516" name="Google Shape;516;p36"/>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7" name="Google Shape;517;p3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Flaive &amp; Ryczko (2022)</a:t>
            </a:r>
            <a:endParaRPr/>
          </a:p>
        </p:txBody>
      </p:sp>
      <p:sp>
        <p:nvSpPr>
          <p:cNvPr id="518" name="Google Shape;518;p3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36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3" name="Shape 523"/>
        <p:cNvGrpSpPr/>
        <p:nvPr/>
      </p:nvGrpSpPr>
      <p:grpSpPr>
        <a:xfrm>
          <a:off x="0" y="0"/>
          <a:ext cx="0" cy="0"/>
          <a:chOff x="0" y="0"/>
          <a:chExt cx="0" cy="0"/>
        </a:xfrm>
      </p:grpSpPr>
      <p:sp>
        <p:nvSpPr>
          <p:cNvPr id="524" name="Google Shape;524;p3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Zebrafish larvae converge their eyes to hunt prey</a:t>
            </a:r>
            <a:endParaRPr/>
          </a:p>
        </p:txBody>
      </p:sp>
      <p:sp>
        <p:nvSpPr>
          <p:cNvPr id="525" name="Google Shape;525;p37"/>
          <p:cNvSpPr txBox="1"/>
          <p:nvPr/>
        </p:nvSpPr>
        <p:spPr>
          <a:xfrm>
            <a:off x="566928" y="1234440"/>
            <a:ext cx="575431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Larval zebrafish begin hunting paramecia at about 5 days after fertilization, and the accessibility of their brains makes them a modern model for the circuits Ewert studied.</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Bianco, Kampff and Engert found that every prey-capture routine begins with </a:t>
            </a:r>
            <a:r>
              <a:rPr b="1" i="0" lang="en-US" sz="1600" u="none" cap="none" strike="noStrike">
                <a:solidFill>
                  <a:srgbClr val="1D4E89"/>
                </a:solidFill>
                <a:latin typeface="Arial"/>
                <a:ea typeface="Arial"/>
                <a:cs typeface="Arial"/>
                <a:sym typeface="Arial"/>
              </a:rPr>
              <a:t>eye convergence</a:t>
            </a:r>
            <a:r>
              <a:rPr b="0" i="0" lang="en-US" sz="1600" u="none" cap="none" strike="noStrike">
                <a:solidFill>
                  <a:srgbClr val="1F2530"/>
                </a:solidFill>
                <a:latin typeface="Arial"/>
                <a:ea typeface="Arial"/>
                <a:cs typeface="Arial"/>
                <a:sym typeface="Arial"/>
              </a:rPr>
              <a:t>: both eyes rotate nasally, and vergence stays high during tracking and the capture swim before relaxing after the strike. Convergence enlarges the region of binocular overlap in front of the fish, which the authors proposed allows stereoscopic targeting of prey.</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In a virtual-reality assay, small moving spots (about 1°) evoked low-amplitude orienting turns toward the spot, whereas larger spots (10°) evoked high-amplitude turns away. As in toads, the response category depends on stimulus size. Semmelhack and colleagues distinguished the hunting </a:t>
            </a:r>
            <a:r>
              <a:rPr b="1" i="0" lang="en-US" sz="1600" u="none" cap="none" strike="noStrike">
                <a:solidFill>
                  <a:srgbClr val="1D4E89"/>
                </a:solidFill>
                <a:latin typeface="Arial"/>
                <a:ea typeface="Arial"/>
                <a:cs typeface="Arial"/>
                <a:sym typeface="Arial"/>
              </a:rPr>
              <a:t>J-turn</a:t>
            </a:r>
            <a:r>
              <a:rPr b="0" i="0" lang="en-US" sz="1600" u="none" cap="none" strike="noStrike">
                <a:solidFill>
                  <a:srgbClr val="1F2530"/>
                </a:solidFill>
                <a:latin typeface="Arial"/>
                <a:ea typeface="Arial"/>
                <a:cs typeface="Arial"/>
                <a:sym typeface="Arial"/>
              </a:rPr>
              <a:t>, a bend that holds the tail in a J shape, from spontaneous swims.</a:t>
            </a:r>
            <a:endParaRPr/>
          </a:p>
        </p:txBody>
      </p:sp>
      <p:pic>
        <p:nvPicPr>
          <p:cNvPr descr="bianco11_f2.png" id="526" name="Google Shape;526;p37"/>
          <p:cNvPicPr preferRelativeResize="0"/>
          <p:nvPr/>
        </p:nvPicPr>
        <p:blipFill rotWithShape="1">
          <a:blip r:embed="rId3">
            <a:alphaModFix/>
          </a:blip>
          <a:srcRect b="0" l="0" r="0" t="0"/>
          <a:stretch/>
        </p:blipFill>
        <p:spPr>
          <a:xfrm>
            <a:off x="7578730" y="1280160"/>
            <a:ext cx="3154314" cy="2926080"/>
          </a:xfrm>
          <a:prstGeom prst="rect">
            <a:avLst/>
          </a:prstGeom>
          <a:noFill/>
          <a:ln>
            <a:noFill/>
          </a:ln>
        </p:spPr>
      </p:pic>
      <p:sp>
        <p:nvSpPr>
          <p:cNvPr id="527" name="Google Shape;527;p37"/>
          <p:cNvSpPr txBox="1"/>
          <p:nvPr/>
        </p:nvSpPr>
        <p:spPr>
          <a:xfrm>
            <a:off x="6687007" y="4297680"/>
            <a:ext cx="49377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Bianco et al. (2011), Fig. 2. A larva hunting a paramecium (arrowhead), eye vergence at each stage (B–D), J-turn tail shapes (E–F) and prey distance at strike (G).</a:t>
            </a:r>
            <a:endParaRPr/>
          </a:p>
        </p:txBody>
      </p:sp>
      <p:pic>
        <p:nvPicPr>
          <p:cNvPr descr="semm_f1.png" id="528" name="Google Shape;528;p37"/>
          <p:cNvPicPr preferRelativeResize="0"/>
          <p:nvPr/>
        </p:nvPicPr>
        <p:blipFill rotWithShape="1">
          <a:blip r:embed="rId4">
            <a:alphaModFix/>
          </a:blip>
          <a:srcRect b="0" l="0" r="0" t="0"/>
          <a:stretch/>
        </p:blipFill>
        <p:spPr>
          <a:xfrm>
            <a:off x="7582701" y="4754880"/>
            <a:ext cx="3146371" cy="1005839"/>
          </a:xfrm>
          <a:prstGeom prst="rect">
            <a:avLst/>
          </a:prstGeom>
          <a:noFill/>
          <a:ln>
            <a:noFill/>
          </a:ln>
        </p:spPr>
      </p:pic>
      <p:sp>
        <p:nvSpPr>
          <p:cNvPr id="529" name="Google Shape;529;p37"/>
          <p:cNvSpPr txBox="1"/>
          <p:nvPr/>
        </p:nvSpPr>
        <p:spPr>
          <a:xfrm>
            <a:off x="6687007" y="5833872"/>
            <a:ext cx="49377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Semmelhack et al. (2014), Fig. 1A–C. Prey-capture forward swim, J-turn and spontaneous swim to virtual stimuli, with tail-position traces.</a:t>
            </a:r>
            <a:endParaRPr/>
          </a:p>
        </p:txBody>
      </p:sp>
      <p:sp>
        <p:nvSpPr>
          <p:cNvPr id="530" name="Google Shape;530;p37"/>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1" name="Google Shape;531;p3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Bianco et al. (2011); Semmelhack et al. (2014)</a:t>
            </a:r>
            <a:endParaRPr/>
          </a:p>
        </p:txBody>
      </p:sp>
      <p:sp>
        <p:nvSpPr>
          <p:cNvPr id="532" name="Google Shape;532;p3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37</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7" name="Shape 537"/>
        <p:cNvGrpSpPr/>
        <p:nvPr/>
      </p:nvGrpSpPr>
      <p:grpSpPr>
        <a:xfrm>
          <a:off x="0" y="0"/>
          <a:ext cx="0" cy="0"/>
          <a:chOff x="0" y="0"/>
          <a:chExt cx="0" cy="0"/>
        </a:xfrm>
      </p:grpSpPr>
      <p:sp>
        <p:nvSpPr>
          <p:cNvPr id="538" name="Google Shape;538;p3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Small moving dots release zebrafish prey capture</a:t>
            </a:r>
            <a:endParaRPr/>
          </a:p>
        </p:txBody>
      </p:sp>
      <p:sp>
        <p:nvSpPr>
          <p:cNvPr id="539" name="Google Shape;539;p38"/>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Semmelhack and colleagues presented virtual prey to semi-restrained larvae whose tails were free to move. They distinguished prey-capture </a:t>
            </a:r>
            <a:r>
              <a:rPr b="1" i="0" lang="en-US" sz="1600" u="none" cap="none" strike="noStrike">
                <a:solidFill>
                  <a:srgbClr val="1D4E89"/>
                </a:solidFill>
                <a:latin typeface="Arial"/>
                <a:ea typeface="Arial"/>
                <a:cs typeface="Arial"/>
                <a:sym typeface="Arial"/>
              </a:rPr>
              <a:t>J-turns</a:t>
            </a:r>
            <a:r>
              <a:rPr b="0" i="0" lang="en-US" sz="1600" u="none" cap="none" strike="noStrike">
                <a:solidFill>
                  <a:srgbClr val="1F2530"/>
                </a:solidFill>
                <a:latin typeface="Arial"/>
                <a:ea typeface="Arial"/>
                <a:cs typeface="Arial"/>
                <a:sym typeface="Arial"/>
              </a:rPr>
              <a:t>, in which the tail is held in a J shape to turn toward prey, and forward swims from spontaneous swims, using a machine-learning classifier of tail kinematics.</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A prey-capture score was tuned to stimulus size and speed: it peaked for dots of about 3° moving at about 90–100°/s, and fell sharply for dots of 10° or more.</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Bianco and Engert combined such a virtual hunting assay with two-photon calcium imaging of the tectum. Hunting responses depended on combinations of features: size, speed and contrast polarity. The tuning parallels the toad's preference for small, elongated objects moving along their axis.</a:t>
            </a:r>
            <a:endParaRPr/>
          </a:p>
        </p:txBody>
      </p:sp>
      <p:pic>
        <p:nvPicPr>
          <p:cNvPr descr="semm_f2.png" id="540" name="Google Shape;540;p38"/>
          <p:cNvPicPr preferRelativeResize="0"/>
          <p:nvPr/>
        </p:nvPicPr>
        <p:blipFill rotWithShape="1">
          <a:blip r:embed="rId3">
            <a:alphaModFix/>
          </a:blip>
          <a:srcRect b="0" l="0" r="0" t="0"/>
          <a:stretch/>
        </p:blipFill>
        <p:spPr>
          <a:xfrm>
            <a:off x="6529626" y="1280160"/>
            <a:ext cx="4886761" cy="2377440"/>
          </a:xfrm>
          <a:prstGeom prst="rect">
            <a:avLst/>
          </a:prstGeom>
          <a:noFill/>
          <a:ln>
            <a:noFill/>
          </a:ln>
        </p:spPr>
      </p:pic>
      <p:sp>
        <p:nvSpPr>
          <p:cNvPr id="541" name="Google Shape;541;p38"/>
          <p:cNvSpPr txBox="1"/>
          <p:nvPr/>
        </p:nvSpPr>
        <p:spPr>
          <a:xfrm>
            <a:off x="6321247" y="374903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Semmelhack et al. (2014), Fig. 2. Prey-capture score versus dot diameter (A) and speed (B) in semi-restrained larvae.</a:t>
            </a:r>
            <a:endParaRPr/>
          </a:p>
        </p:txBody>
      </p:sp>
      <p:pic>
        <p:nvPicPr>
          <p:cNvPr descr="be15_f1.png" id="542" name="Google Shape;542;p38"/>
          <p:cNvPicPr preferRelativeResize="0"/>
          <p:nvPr/>
        </p:nvPicPr>
        <p:blipFill rotWithShape="1">
          <a:blip r:embed="rId4">
            <a:alphaModFix/>
          </a:blip>
          <a:srcRect b="0" l="0" r="0" t="0"/>
          <a:stretch/>
        </p:blipFill>
        <p:spPr>
          <a:xfrm>
            <a:off x="6827470" y="4206240"/>
            <a:ext cx="4291074" cy="1554479"/>
          </a:xfrm>
          <a:prstGeom prst="rect">
            <a:avLst/>
          </a:prstGeom>
          <a:noFill/>
          <a:ln>
            <a:noFill/>
          </a:ln>
        </p:spPr>
      </p:pic>
      <p:sp>
        <p:nvSpPr>
          <p:cNvPr id="543" name="Google Shape;543;p38"/>
          <p:cNvSpPr txBox="1"/>
          <p:nvPr/>
        </p:nvSpPr>
        <p:spPr>
          <a:xfrm>
            <a:off x="6321247" y="5833872"/>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Bianco &amp; Engert (2015), Fig. 1. Two-photon imaging during virtual hunting: setup, eye positions before and after convergence, and tectal imaging field.</a:t>
            </a:r>
            <a:endParaRPr/>
          </a:p>
        </p:txBody>
      </p:sp>
      <p:sp>
        <p:nvSpPr>
          <p:cNvPr id="544" name="Google Shape;544;p38"/>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5" name="Google Shape;545;p3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Semmelhack et al. (2014); Bianco &amp; Engert (2015)</a:t>
            </a:r>
            <a:endParaRPr/>
          </a:p>
        </p:txBody>
      </p:sp>
      <p:sp>
        <p:nvSpPr>
          <p:cNvPr id="546" name="Google Shape;546;p3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38</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1" name="Shape 551"/>
        <p:cNvGrpSpPr/>
        <p:nvPr/>
      </p:nvGrpSpPr>
      <p:grpSpPr>
        <a:xfrm>
          <a:off x="0" y="0"/>
          <a:ext cx="0" cy="0"/>
          <a:chOff x="0" y="0"/>
          <a:chExt cx="0" cy="0"/>
        </a:xfrm>
      </p:grpSpPr>
      <p:sp>
        <p:nvSpPr>
          <p:cNvPr id="552" name="Google Shape;552;p3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Pretectal area AF7 responds to prey-sized dots</a:t>
            </a:r>
            <a:endParaRPr/>
          </a:p>
        </p:txBody>
      </p:sp>
      <p:sp>
        <p:nvSpPr>
          <p:cNvPr id="553" name="Google Shape;553;p39"/>
          <p:cNvSpPr txBox="1"/>
          <p:nvPr/>
        </p:nvSpPr>
        <p:spPr>
          <a:xfrm>
            <a:off x="566928" y="1234440"/>
            <a:ext cx="666871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Retinal ganglion cell axons in zebrafish end in ten </a:t>
            </a:r>
            <a:r>
              <a:rPr b="1" i="0" lang="en-US" sz="1800" u="none" cap="none" strike="noStrike">
                <a:solidFill>
                  <a:srgbClr val="1D4E89"/>
                </a:solidFill>
                <a:latin typeface="Arial"/>
                <a:ea typeface="Arial"/>
                <a:cs typeface="Arial"/>
                <a:sym typeface="Arial"/>
              </a:rPr>
              <a:t>arborization fields (AF1–AF10)</a:t>
            </a:r>
            <a:r>
              <a:rPr b="0" i="0" lang="en-US" sz="1800" u="none" cap="none" strike="noStrike">
                <a:solidFill>
                  <a:srgbClr val="1F2530"/>
                </a:solidFill>
                <a:latin typeface="Arial"/>
                <a:ea typeface="Arial"/>
                <a:cs typeface="Arial"/>
                <a:sym typeface="Arial"/>
              </a:rPr>
              <a:t>; AF10 is the tectum. Semmelhack and colleagues imaged calcium in retinal axons while presenting the optimal prey stimulus.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Only </a:t>
            </a:r>
            <a:r>
              <a:rPr b="1" i="0" lang="en-US" sz="1800" u="none" cap="none" strike="noStrike">
                <a:solidFill>
                  <a:srgbClr val="1D4E89"/>
                </a:solidFill>
                <a:latin typeface="Arial"/>
                <a:ea typeface="Arial"/>
                <a:cs typeface="Arial"/>
                <a:sym typeface="Arial"/>
              </a:rPr>
              <a:t>AF7</a:t>
            </a:r>
            <a:r>
              <a:rPr b="0" i="0" lang="en-US" sz="1800" u="none" cap="none" strike="noStrike">
                <a:solidFill>
                  <a:srgbClr val="1F2530"/>
                </a:solidFill>
                <a:latin typeface="Arial"/>
                <a:ea typeface="Arial"/>
                <a:cs typeface="Arial"/>
                <a:sym typeface="Arial"/>
              </a:rPr>
              <a:t>, a small pretectal field, responded strongly to a 2° dot. AF9 responded to a 10° dot instead. AF7's size tuning matched the behavioral prey-capture curve, whereas AF9's increased with size, and both were tuned to speed.</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AF7 is innervated by two types of retinal ganglion cells that also send collaterals to the tectum. A dedicated pretectal channel for prey-sized objects therefore exists in fish, at the same level of the visual system as the toad's pretectal region.</a:t>
            </a:r>
            <a:endParaRPr/>
          </a:p>
        </p:txBody>
      </p:sp>
      <p:pic>
        <p:nvPicPr>
          <p:cNvPr descr="semm_f3.png" id="554" name="Google Shape;554;p39"/>
          <p:cNvPicPr preferRelativeResize="0"/>
          <p:nvPr/>
        </p:nvPicPr>
        <p:blipFill rotWithShape="1">
          <a:blip r:embed="rId3">
            <a:alphaModFix/>
          </a:blip>
          <a:srcRect b="0" l="0" r="0" t="0"/>
          <a:stretch/>
        </p:blipFill>
        <p:spPr>
          <a:xfrm>
            <a:off x="7634081" y="1280160"/>
            <a:ext cx="3958010" cy="4297679"/>
          </a:xfrm>
          <a:prstGeom prst="rect">
            <a:avLst/>
          </a:prstGeom>
          <a:noFill/>
          <a:ln>
            <a:noFill/>
          </a:ln>
        </p:spPr>
      </p:pic>
      <p:sp>
        <p:nvSpPr>
          <p:cNvPr id="555" name="Google Shape;555;p39"/>
          <p:cNvSpPr txBox="1"/>
          <p:nvPr/>
        </p:nvSpPr>
        <p:spPr>
          <a:xfrm>
            <a:off x="7601407" y="5669279"/>
            <a:ext cx="40233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Semmelhack et al. (2014), Fig. 3A–G. Retinal arborization fields; AF7 responds to a 2° dot but AF9 to a 10° dot (color ΔF/F); size and speed tuning.</a:t>
            </a:r>
            <a:endParaRPr/>
          </a:p>
        </p:txBody>
      </p:sp>
      <p:sp>
        <p:nvSpPr>
          <p:cNvPr id="556" name="Google Shape;556;p39"/>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7" name="Google Shape;557;p3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Semmelhack et al. (2014)</a:t>
            </a:r>
            <a:endParaRPr/>
          </a:p>
        </p:txBody>
      </p:sp>
      <p:sp>
        <p:nvSpPr>
          <p:cNvPr id="558" name="Google Shape;558;p3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39</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3" name="Shape 563"/>
        <p:cNvGrpSpPr/>
        <p:nvPr/>
      </p:nvGrpSpPr>
      <p:grpSpPr>
        <a:xfrm>
          <a:off x="0" y="0"/>
          <a:ext cx="0" cy="0"/>
          <a:chOff x="0" y="0"/>
          <a:chExt cx="0" cy="0"/>
        </a:xfrm>
      </p:grpSpPr>
      <p:sp>
        <p:nvSpPr>
          <p:cNvPr id="564" name="Google Shape;564;p4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AF7 ablation impairs prey capture, not optomotor turning</a:t>
            </a:r>
            <a:endParaRPr/>
          </a:p>
        </p:txBody>
      </p:sp>
      <p:sp>
        <p:nvSpPr>
          <p:cNvPr id="565" name="Google Shape;565;p40"/>
          <p:cNvSpPr txBox="1"/>
          <p:nvPr/>
        </p:nvSpPr>
        <p:spPr>
          <a:xfrm>
            <a:off x="566928" y="1234440"/>
            <a:ext cx="64858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To test whether AF7 is needed, Semmelhack and colleagues laser-ablated the retinal axons in AF7 or, as a control, in AF9.</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After AF7 ablation, prey-capture bouts (shaded in the tail traces) were greatly reduced, and the time spent in prey capture fell to about 40% of pre-ablation levels. AF9 ablation left prey capture unchanged.</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The </a:t>
            </a:r>
            <a:r>
              <a:rPr b="1" i="0" lang="en-US" sz="1800" u="none" cap="none" strike="noStrike">
                <a:solidFill>
                  <a:srgbClr val="1D4E89"/>
                </a:solidFill>
                <a:latin typeface="Arial"/>
                <a:ea typeface="Arial"/>
                <a:cs typeface="Arial"/>
                <a:sym typeface="Arial"/>
              </a:rPr>
              <a:t>optomotor response</a:t>
            </a:r>
            <a:r>
              <a:rPr b="0" i="0" lang="en-US" sz="1800" u="none" cap="none" strike="noStrike">
                <a:solidFill>
                  <a:srgbClr val="1F2530"/>
                </a:solidFill>
                <a:latin typeface="Arial"/>
                <a:ea typeface="Arial"/>
                <a:cs typeface="Arial"/>
                <a:sym typeface="Arial"/>
              </a:rPr>
              <a:t>, swimming in the direction of moving gratings, was unaffected by AF7 ablation but reduced after AF9 ablation. AF7 is therefore selectively required for prey capture. Semmelhack and colleagues also found neurons with arbors in AF7 that projected to the tectum, the nucleus of the medial longitudinal fasciculus and the hindbrain.</a:t>
            </a:r>
            <a:endParaRPr/>
          </a:p>
        </p:txBody>
      </p:sp>
      <p:pic>
        <p:nvPicPr>
          <p:cNvPr descr="semm_f6.png" id="566" name="Google Shape;566;p40"/>
          <p:cNvPicPr preferRelativeResize="0"/>
          <p:nvPr/>
        </p:nvPicPr>
        <p:blipFill rotWithShape="1">
          <a:blip r:embed="rId3">
            <a:alphaModFix/>
          </a:blip>
          <a:srcRect b="0" l="0" r="0" t="0"/>
          <a:stretch/>
        </p:blipFill>
        <p:spPr>
          <a:xfrm>
            <a:off x="7418527" y="1280160"/>
            <a:ext cx="4206240" cy="4291382"/>
          </a:xfrm>
          <a:prstGeom prst="rect">
            <a:avLst/>
          </a:prstGeom>
          <a:noFill/>
          <a:ln>
            <a:noFill/>
          </a:ln>
        </p:spPr>
      </p:pic>
      <p:sp>
        <p:nvSpPr>
          <p:cNvPr id="567" name="Google Shape;567;p40"/>
          <p:cNvSpPr txBox="1"/>
          <p:nvPr/>
        </p:nvSpPr>
        <p:spPr>
          <a:xfrm>
            <a:off x="7418527" y="5662982"/>
            <a:ext cx="42062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Semmelhack et al. (2014), Fig. 6. AF7 before and after ablation (A–B); tail traces with prey-capture bouts (C–D); prey capture and optomotor response after AF7 or AF9 ablation (E–H).</a:t>
            </a:r>
            <a:endParaRPr/>
          </a:p>
        </p:txBody>
      </p:sp>
      <p:sp>
        <p:nvSpPr>
          <p:cNvPr id="568" name="Google Shape;568;p40"/>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9" name="Google Shape;569;p4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Semmelhack et al. (2014)</a:t>
            </a:r>
            <a:endParaRPr/>
          </a:p>
        </p:txBody>
      </p:sp>
      <p:sp>
        <p:nvSpPr>
          <p:cNvPr id="570" name="Google Shape;570;p4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40</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5" name="Shape 575"/>
        <p:cNvGrpSpPr/>
        <p:nvPr/>
      </p:nvGrpSpPr>
      <p:grpSpPr>
        <a:xfrm>
          <a:off x="0" y="0"/>
          <a:ext cx="0" cy="0"/>
          <a:chOff x="0" y="0"/>
          <a:chExt cx="0" cy="0"/>
        </a:xfrm>
      </p:grpSpPr>
      <p:sp>
        <p:nvSpPr>
          <p:cNvPr id="576" name="Google Shape;576;p4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Tectal neurons combine features nonlinearly</a:t>
            </a:r>
            <a:endParaRPr/>
          </a:p>
        </p:txBody>
      </p:sp>
      <p:sp>
        <p:nvSpPr>
          <p:cNvPr id="577" name="Google Shape;577;p41"/>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Bianco and Engert imaged thousands of tectal neurons with GCaMP while larvae responded to moving spots that varied in size, speed, contrast polarity and direction.</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They identified neurons tuned like the behavior: responsive to small, dark or bright, moving spots at hunting speeds, either regardless of direction or selective for left-to-right or right-to-left motion. These neurons showed </a:t>
            </a:r>
            <a:r>
              <a:rPr b="1" i="0" lang="en-US" sz="1600" u="none" cap="none" strike="noStrike">
                <a:solidFill>
                  <a:srgbClr val="1D4E89"/>
                </a:solidFill>
                <a:latin typeface="Arial"/>
                <a:ea typeface="Arial"/>
                <a:cs typeface="Arial"/>
                <a:sym typeface="Arial"/>
              </a:rPr>
              <a:t>nonlinear mixed selectivity</a:t>
            </a:r>
            <a:r>
              <a:rPr b="0" i="0" lang="en-US" sz="1600" u="none" cap="none" strike="noStrike">
                <a:solidFill>
                  <a:srgbClr val="1F2530"/>
                </a:solidFill>
                <a:latin typeface="Arial"/>
                <a:ea typeface="Arial"/>
                <a:cs typeface="Arial"/>
                <a:sym typeface="Arial"/>
              </a:rPr>
              <a:t>: they responded strongly only to particular combinations of features, rather than summing feature preferences independently.</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Comparing trials with and without a hunting response, they found small tectal assemblies whose activity preceded eye convergence. Bianco and Engert proposed that such neurons mediate prey recognition and that their premotor activity releases hunting. This parallels Ewert's T5.2 neurons, whose bursts predicted orienting.</a:t>
            </a:r>
            <a:endParaRPr/>
          </a:p>
        </p:txBody>
      </p:sp>
      <p:pic>
        <p:nvPicPr>
          <p:cNvPr descr="be15_f5.png" id="578" name="Google Shape;578;p41"/>
          <p:cNvPicPr preferRelativeResize="0"/>
          <p:nvPr/>
        </p:nvPicPr>
        <p:blipFill rotWithShape="1">
          <a:blip r:embed="rId3">
            <a:alphaModFix/>
          </a:blip>
          <a:srcRect b="0" l="0" r="0" t="0"/>
          <a:stretch/>
        </p:blipFill>
        <p:spPr>
          <a:xfrm>
            <a:off x="6504127" y="1280160"/>
            <a:ext cx="5120640" cy="2397587"/>
          </a:xfrm>
          <a:prstGeom prst="rect">
            <a:avLst/>
          </a:prstGeom>
          <a:noFill/>
          <a:ln>
            <a:noFill/>
          </a:ln>
        </p:spPr>
      </p:pic>
      <p:sp>
        <p:nvSpPr>
          <p:cNvPr id="579" name="Google Shape;579;p41"/>
          <p:cNvSpPr txBox="1"/>
          <p:nvPr/>
        </p:nvSpPr>
        <p:spPr>
          <a:xfrm>
            <a:off x="6504127" y="3769187"/>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Bianco &amp; Engert (2015), Fig. 5A. Calcium responses of tectal neurons selected by behavioral tuning regressors, grouped by direction and speed selectivity.</a:t>
            </a:r>
            <a:endParaRPr/>
          </a:p>
        </p:txBody>
      </p:sp>
      <p:sp>
        <p:nvSpPr>
          <p:cNvPr id="580" name="Google Shape;580;p41"/>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1" name="Google Shape;581;p4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Bianco &amp; Engert (2015)</a:t>
            </a:r>
            <a:endParaRPr/>
          </a:p>
        </p:txBody>
      </p:sp>
      <p:sp>
        <p:nvSpPr>
          <p:cNvPr id="582" name="Google Shape;582;p4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41</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7" name="Shape 587"/>
        <p:cNvGrpSpPr/>
        <p:nvPr/>
      </p:nvGrpSpPr>
      <p:grpSpPr>
        <a:xfrm>
          <a:off x="0" y="0"/>
          <a:ext cx="0" cy="0"/>
          <a:chOff x="0" y="0"/>
          <a:chExt cx="0" cy="0"/>
        </a:xfrm>
      </p:grpSpPr>
      <p:sp>
        <p:nvSpPr>
          <p:cNvPr id="588" name="Google Shape;588;p4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Anterior tectum is tuned to prey at close range</a:t>
            </a:r>
            <a:endParaRPr/>
          </a:p>
        </p:txBody>
      </p:sp>
      <p:sp>
        <p:nvSpPr>
          <p:cNvPr id="589" name="Google Shape;589;p42"/>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1F2530"/>
                </a:solidFill>
                <a:latin typeface="Arial"/>
                <a:ea typeface="Arial"/>
                <a:cs typeface="Arial"/>
                <a:sym typeface="Arial"/>
              </a:rPr>
              <a:t>Prey is first seen in the peripheral visual field, which maps to the posterior tectum. As the larva turns and approaches, the prey image moves into the central binocular field, mapped to the anterior tectum, and appears larger.</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Förster and colleagues imaged tectal neurons and found that cells responding to a small 5° dot, especially direction-selective ones, were concentrated in posterior and medial tectum. Cells tuned to a larger 30° dot were concentrated anteriorly, and anterior neurons were frequently not direction-selective.</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The tectal map is therefore specialized by location for different stages of the hunt. Ablating tectal neurons tuned to large objects impaired hunting, indicating that the close-range representation is needed for capture.</a:t>
            </a:r>
            <a:endParaRPr/>
          </a:p>
        </p:txBody>
      </p:sp>
      <p:pic>
        <p:nvPicPr>
          <p:cNvPr descr="forster_f6.png" id="590" name="Google Shape;590;p42"/>
          <p:cNvPicPr preferRelativeResize="0"/>
          <p:nvPr/>
        </p:nvPicPr>
        <p:blipFill rotWithShape="1">
          <a:blip r:embed="rId3">
            <a:alphaModFix/>
          </a:blip>
          <a:srcRect b="0" l="0" r="0" t="0"/>
          <a:stretch/>
        </p:blipFill>
        <p:spPr>
          <a:xfrm>
            <a:off x="6321247" y="1280160"/>
            <a:ext cx="5303520" cy="3407232"/>
          </a:xfrm>
          <a:prstGeom prst="rect">
            <a:avLst/>
          </a:prstGeom>
          <a:noFill/>
          <a:ln>
            <a:noFill/>
          </a:ln>
        </p:spPr>
      </p:pic>
      <p:sp>
        <p:nvSpPr>
          <p:cNvPr id="591" name="Google Shape;591;p42"/>
          <p:cNvSpPr txBox="1"/>
          <p:nvPr/>
        </p:nvSpPr>
        <p:spPr>
          <a:xfrm>
            <a:off x="6321247" y="4778832"/>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Förster et al. (2020), Fig. 6. Positions of 30°-dot (blue), 5°-dot (red) and direction-selective 5°-dot (yellow) cells along the tectum; their neurite traces.</a:t>
            </a:r>
            <a:endParaRPr/>
          </a:p>
        </p:txBody>
      </p:sp>
      <p:sp>
        <p:nvSpPr>
          <p:cNvPr id="592" name="Google Shape;592;p42"/>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3" name="Google Shape;593;p4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Förster et al. (2020)</a:t>
            </a:r>
            <a:endParaRPr/>
          </a:p>
        </p:txBody>
      </p:sp>
      <p:sp>
        <p:nvSpPr>
          <p:cNvPr id="594" name="Google Shape;594;p4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42</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9" name="Shape 599"/>
        <p:cNvGrpSpPr/>
        <p:nvPr/>
      </p:nvGrpSpPr>
      <p:grpSpPr>
        <a:xfrm>
          <a:off x="0" y="0"/>
          <a:ext cx="0" cy="0"/>
          <a:chOff x="0" y="0"/>
          <a:chExt cx="0" cy="0"/>
        </a:xfrm>
      </p:grpSpPr>
      <p:sp>
        <p:nvSpPr>
          <p:cNvPr id="600" name="Google Shape;600;p4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Single pretectal neurons can command hunting</a:t>
            </a:r>
            <a:endParaRPr/>
          </a:p>
        </p:txBody>
      </p:sp>
      <p:sp>
        <p:nvSpPr>
          <p:cNvPr id="601" name="Google Shape;601;p43"/>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Antinucci, Folgueira and Bianco imaged neurons across the larval brain during virtual hunting. A discrete region near AF7, the </a:t>
            </a:r>
            <a:r>
              <a:rPr b="1" i="0" lang="en-US" sz="1600" u="none" cap="none" strike="noStrike">
                <a:solidFill>
                  <a:srgbClr val="1D4E89"/>
                </a:solidFill>
                <a:latin typeface="Arial"/>
                <a:ea typeface="Arial"/>
                <a:cs typeface="Arial"/>
                <a:sym typeface="Arial"/>
              </a:rPr>
              <a:t>AF7-pretectum</a:t>
            </a:r>
            <a:r>
              <a:rPr b="0" i="0" lang="en-US" sz="1600" u="none" cap="none" strike="noStrike">
                <a:solidFill>
                  <a:srgbClr val="1F2530"/>
                </a:solidFill>
                <a:latin typeface="Arial"/>
                <a:ea typeface="Arial"/>
                <a:cs typeface="Arial"/>
                <a:sym typeface="Arial"/>
              </a:rPr>
              <a:t>, contained a high density of neurons active specifically when larvae initiated hunting.</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Using the KalTA4u508 line, they labeled two classes of these pretectal neurons, projecting to the ipsilateral tectum or to the contralateral tegmentum. </a:t>
            </a:r>
            <a:r>
              <a:rPr b="1" i="0" lang="en-US" sz="1600" u="none" cap="none" strike="noStrike">
                <a:solidFill>
                  <a:srgbClr val="1D4E89"/>
                </a:solidFill>
                <a:latin typeface="Arial"/>
                <a:ea typeface="Arial"/>
                <a:cs typeface="Arial"/>
                <a:sym typeface="Arial"/>
              </a:rPr>
              <a:t>Optogenetic</a:t>
            </a:r>
            <a:r>
              <a:rPr b="0" i="0" lang="en-US" sz="1600" u="none" cap="none" strike="noStrike">
                <a:solidFill>
                  <a:srgbClr val="1F2530"/>
                </a:solidFill>
                <a:latin typeface="Arial"/>
                <a:ea typeface="Arial"/>
                <a:cs typeface="Arial"/>
                <a:sym typeface="Arial"/>
              </a:rPr>
              <a:t> stimulation of a single neuron of either class, using the light-gated channel CoChR, induced sustained hunting sequences, with eye convergence and J-turns, in the absence of prey.</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Laser ablation of these neurons impaired prey-catching and prevented hunting evoked by stimulating the anterior-ventral tectum. The authors proposed that they form a </a:t>
            </a:r>
            <a:r>
              <a:rPr b="1" i="0" lang="en-US" sz="1600" u="none" cap="none" strike="noStrike">
                <a:solidFill>
                  <a:srgbClr val="1D4E89"/>
                </a:solidFill>
                <a:latin typeface="Arial"/>
                <a:ea typeface="Arial"/>
                <a:cs typeface="Arial"/>
                <a:sym typeface="Arial"/>
              </a:rPr>
              <a:t>command system</a:t>
            </a:r>
            <a:r>
              <a:rPr b="0" i="0" lang="en-US" sz="1600" u="none" cap="none" strike="noStrike">
                <a:solidFill>
                  <a:srgbClr val="1F2530"/>
                </a:solidFill>
                <a:latin typeface="Arial"/>
                <a:ea typeface="Arial"/>
                <a:cs typeface="Arial"/>
                <a:sym typeface="Arial"/>
              </a:rPr>
              <a:t> for predatory behavior, a pretectal role unlike the inhibitory one Ewert described for non-prey.</a:t>
            </a:r>
            <a:endParaRPr/>
          </a:p>
        </p:txBody>
      </p:sp>
      <p:pic>
        <p:nvPicPr>
          <p:cNvPr descr="antin_f2.png" id="602" name="Google Shape;602;p43"/>
          <p:cNvPicPr preferRelativeResize="0"/>
          <p:nvPr/>
        </p:nvPicPr>
        <p:blipFill rotWithShape="1">
          <a:blip r:embed="rId3">
            <a:alphaModFix/>
          </a:blip>
          <a:srcRect b="0" l="0" r="0" t="0"/>
          <a:stretch/>
        </p:blipFill>
        <p:spPr>
          <a:xfrm>
            <a:off x="6710976" y="1280160"/>
            <a:ext cx="4524060" cy="2377440"/>
          </a:xfrm>
          <a:prstGeom prst="rect">
            <a:avLst/>
          </a:prstGeom>
          <a:noFill/>
          <a:ln>
            <a:noFill/>
          </a:ln>
        </p:spPr>
      </p:pic>
      <p:sp>
        <p:nvSpPr>
          <p:cNvPr id="603" name="Google Shape;603;p43"/>
          <p:cNvSpPr txBox="1"/>
          <p:nvPr/>
        </p:nvSpPr>
        <p:spPr>
          <a:xfrm>
            <a:off x="6321247" y="374903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Antinucci et al. (2019), Fig. 2A–B. Brain maps of prey-responsive and hunting-initiation neuron clusters; the AF7-pretectum is outlined.</a:t>
            </a:r>
            <a:endParaRPr/>
          </a:p>
        </p:txBody>
      </p:sp>
      <p:pic>
        <p:nvPicPr>
          <p:cNvPr descr="antin_f5.png" id="604" name="Google Shape;604;p43"/>
          <p:cNvPicPr preferRelativeResize="0"/>
          <p:nvPr/>
        </p:nvPicPr>
        <p:blipFill rotWithShape="1">
          <a:blip r:embed="rId4">
            <a:alphaModFix/>
          </a:blip>
          <a:srcRect b="0" l="0" r="0" t="0"/>
          <a:stretch/>
        </p:blipFill>
        <p:spPr>
          <a:xfrm>
            <a:off x="7512716" y="4206240"/>
            <a:ext cx="2920581" cy="1554479"/>
          </a:xfrm>
          <a:prstGeom prst="rect">
            <a:avLst/>
          </a:prstGeom>
          <a:noFill/>
          <a:ln>
            <a:noFill/>
          </a:ln>
        </p:spPr>
      </p:pic>
      <p:sp>
        <p:nvSpPr>
          <p:cNvPr id="605" name="Google Shape;605;p43"/>
          <p:cNvSpPr txBox="1"/>
          <p:nvPr/>
        </p:nvSpPr>
        <p:spPr>
          <a:xfrm>
            <a:off x="6321247" y="5833872"/>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Antinucci et al. (2019), Fig. 5A–C. Optogenetic stimulation of a single KalTA4u508 pretectal neuron (B) induces hunting with eye convergence (C).</a:t>
            </a:r>
            <a:endParaRPr/>
          </a:p>
        </p:txBody>
      </p:sp>
      <p:sp>
        <p:nvSpPr>
          <p:cNvPr id="606" name="Google Shape;606;p43"/>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7" name="Google Shape;607;p4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Antinucci et al. (2019)</a:t>
            </a:r>
            <a:endParaRPr/>
          </a:p>
        </p:txBody>
      </p:sp>
      <p:sp>
        <p:nvSpPr>
          <p:cNvPr id="608" name="Google Shape;608;p4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43</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3" name="Shape 613"/>
        <p:cNvGrpSpPr/>
        <p:nvPr/>
      </p:nvGrpSpPr>
      <p:grpSpPr>
        <a:xfrm>
          <a:off x="0" y="0"/>
          <a:ext cx="0" cy="0"/>
          <a:chOff x="0" y="0"/>
          <a:chExt cx="0" cy="0"/>
        </a:xfrm>
      </p:grpSpPr>
      <p:sp>
        <p:nvSpPr>
          <p:cNvPr id="614" name="Google Shape;614;p4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The nucleus isthmi sustains pursuit after hunting starts</a:t>
            </a:r>
            <a:endParaRPr/>
          </a:p>
        </p:txBody>
      </p:sp>
      <p:sp>
        <p:nvSpPr>
          <p:cNvPr id="615" name="Google Shape;615;p44"/>
          <p:cNvSpPr txBox="1"/>
          <p:nvPr/>
        </p:nvSpPr>
        <p:spPr>
          <a:xfrm>
            <a:off x="566928" y="1234440"/>
            <a:ext cx="593719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The </a:t>
            </a:r>
            <a:r>
              <a:rPr b="1" i="0" lang="en-US" sz="1600" u="none" cap="none" strike="noStrike">
                <a:solidFill>
                  <a:srgbClr val="1D4E89"/>
                </a:solidFill>
                <a:latin typeface="Arial"/>
                <a:ea typeface="Arial"/>
                <a:cs typeface="Arial"/>
                <a:sym typeface="Arial"/>
              </a:rPr>
              <a:t>nucleus isthmi (NI)</a:t>
            </a:r>
            <a:r>
              <a:rPr b="0" i="0" lang="en-US" sz="1600" u="none" cap="none" strike="noStrike">
                <a:solidFill>
                  <a:srgbClr val="1F2530"/>
                </a:solidFill>
                <a:latin typeface="Arial"/>
                <a:ea typeface="Arial"/>
                <a:cs typeface="Arial"/>
                <a:sym typeface="Arial"/>
              </a:rPr>
              <a:t> is a cholinergic nucleus reciprocally connected with the tectum; in amphibians its homolog has long been implicated in tectal function. Henriques and colleagues traced two types of NI projection neuron in zebrafish: type I projects ipsilaterally to retinorecipient laminae of tectum and pretectum, including AF7, and type II projects to both tectal hemispheres.</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After laser ablation of NI, larvae detected prey and initiated hunting as often as controls, but they failed to sustain prey-tracking sequences: the abort rate rose from 0.60 to 0.80 and the capture rate fell from 0.36 to 0.16. Ablated larvae consumed fewer paramecia.</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NI neurons became more active after hunting began. The authors proposed that NI provides state-dependent feedback facilitation to tectum and pretectum during pursuit.</a:t>
            </a:r>
            <a:endParaRPr/>
          </a:p>
        </p:txBody>
      </p:sp>
      <p:pic>
        <p:nvPicPr>
          <p:cNvPr descr="henriques_f2.png" id="616" name="Google Shape;616;p44"/>
          <p:cNvPicPr preferRelativeResize="0"/>
          <p:nvPr/>
        </p:nvPicPr>
        <p:blipFill rotWithShape="1">
          <a:blip r:embed="rId3">
            <a:alphaModFix/>
          </a:blip>
          <a:srcRect b="0" l="0" r="0" t="0"/>
          <a:stretch/>
        </p:blipFill>
        <p:spPr>
          <a:xfrm>
            <a:off x="6869887" y="1280160"/>
            <a:ext cx="4754880" cy="3868057"/>
          </a:xfrm>
          <a:prstGeom prst="rect">
            <a:avLst/>
          </a:prstGeom>
          <a:noFill/>
          <a:ln>
            <a:noFill/>
          </a:ln>
        </p:spPr>
      </p:pic>
      <p:sp>
        <p:nvSpPr>
          <p:cNvPr id="617" name="Google Shape;617;p44"/>
          <p:cNvSpPr txBox="1"/>
          <p:nvPr/>
        </p:nvSpPr>
        <p:spPr>
          <a:xfrm>
            <a:off x="6869887" y="5239657"/>
            <a:ext cx="47548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Henriques et al. (2019), Fig. 2. Traced type I and type II nucleus isthmi projection neurons and their targets in tectum and pretectum (AF7).</a:t>
            </a:r>
            <a:endParaRPr/>
          </a:p>
        </p:txBody>
      </p:sp>
      <p:sp>
        <p:nvSpPr>
          <p:cNvPr id="618" name="Google Shape;618;p44"/>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9" name="Google Shape;619;p4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Henriques et al. (2019)</a:t>
            </a:r>
            <a:endParaRPr/>
          </a:p>
        </p:txBody>
      </p:sp>
      <p:sp>
        <p:nvSpPr>
          <p:cNvPr id="620" name="Google Shape;620;p4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44</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5" name="Shape 625"/>
        <p:cNvGrpSpPr/>
        <p:nvPr/>
      </p:nvGrpSpPr>
      <p:grpSpPr>
        <a:xfrm>
          <a:off x="0" y="0"/>
          <a:ext cx="0" cy="0"/>
          <a:chOff x="0" y="0"/>
          <a:chExt cx="0" cy="0"/>
        </a:xfrm>
      </p:grpSpPr>
      <p:sp>
        <p:nvSpPr>
          <p:cNvPr id="626" name="Google Shape;626;p4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Pretectal prey detectors drive a hypothalamic feeding center</a:t>
            </a:r>
            <a:endParaRPr/>
          </a:p>
        </p:txBody>
      </p:sp>
      <p:sp>
        <p:nvSpPr>
          <p:cNvPr id="627" name="Google Shape;627;p45"/>
          <p:cNvSpPr txBox="1"/>
          <p:nvPr/>
        </p:nvSpPr>
        <p:spPr>
          <a:xfrm>
            <a:off x="566928" y="1234440"/>
            <a:ext cx="61200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1F2530"/>
                </a:solidFill>
                <a:latin typeface="Arial"/>
                <a:ea typeface="Arial"/>
                <a:cs typeface="Arial"/>
                <a:sym typeface="Arial"/>
              </a:rPr>
              <a:t>Muto and colleagues imaged calcium in freely swimming larvae. The </a:t>
            </a:r>
            <a:r>
              <a:rPr b="1" i="0" lang="en-US" sz="1700" u="none" cap="none" strike="noStrike">
                <a:solidFill>
                  <a:srgbClr val="1D4E89"/>
                </a:solidFill>
                <a:latin typeface="Arial"/>
                <a:ea typeface="Arial"/>
                <a:cs typeface="Arial"/>
                <a:sym typeface="Arial"/>
              </a:rPr>
              <a:t>inferior lobe of the hypothalamus (ILH)</a:t>
            </a:r>
            <a:r>
              <a:rPr b="0" i="0" lang="en-US" sz="1700" u="none" cap="none" strike="noStrike">
                <a:solidFill>
                  <a:srgbClr val="1F2530"/>
                </a:solidFill>
                <a:latin typeface="Arial"/>
                <a:ea typeface="Arial"/>
                <a:cs typeface="Arial"/>
                <a:sym typeface="Arial"/>
              </a:rPr>
              <a:t>, a feeding center, became active when a larva converged its eyes on prey and rose further after capture.</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Pretectal neurons were activated by paramecia: their activity rose as a larva approached prey, and in restrained larvae they responded best to virtual spots about 2–5° in size moving at intermediate speeds, matching the sizes and speeds of captured prey.</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Single labeled pretectal neurons sent axons to the ILH, and pretectal and ILH activity were correlated. Ablation of the pretectum completely abolished prey capture, and silencing ILH neurons reduced feeding. The authors proposed that this pretecto-hypothalamic pathway converts visual prey detection into feeding motivation, linking recognition to the motivational state that, in toads, gates T5.2 responses.</a:t>
            </a:r>
            <a:endParaRPr/>
          </a:p>
        </p:txBody>
      </p:sp>
      <p:pic>
        <p:nvPicPr>
          <p:cNvPr descr="muto_f2.png" id="628" name="Google Shape;628;p45"/>
          <p:cNvPicPr preferRelativeResize="0"/>
          <p:nvPr/>
        </p:nvPicPr>
        <p:blipFill rotWithShape="1">
          <a:blip r:embed="rId3">
            <a:alphaModFix/>
          </a:blip>
          <a:srcRect b="0" l="0" r="0" t="0"/>
          <a:stretch/>
        </p:blipFill>
        <p:spPr>
          <a:xfrm>
            <a:off x="7052767" y="1280160"/>
            <a:ext cx="4572000" cy="2740867"/>
          </a:xfrm>
          <a:prstGeom prst="rect">
            <a:avLst/>
          </a:prstGeom>
          <a:noFill/>
          <a:ln>
            <a:noFill/>
          </a:ln>
        </p:spPr>
      </p:pic>
      <p:sp>
        <p:nvSpPr>
          <p:cNvPr id="629" name="Google Shape;629;p45"/>
          <p:cNvSpPr txBox="1"/>
          <p:nvPr/>
        </p:nvSpPr>
        <p:spPr>
          <a:xfrm>
            <a:off x="7052767" y="4112467"/>
            <a:ext cx="45720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Muto et al. (2017), Fig. 2a–h. Pretectal (PT) calcium responses to paramecia during hunting; tuning to spot diameter (g) and speed (h).</a:t>
            </a:r>
            <a:endParaRPr/>
          </a:p>
        </p:txBody>
      </p:sp>
      <p:sp>
        <p:nvSpPr>
          <p:cNvPr id="630" name="Google Shape;630;p45"/>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1" name="Google Shape;631;p4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Muto et al. (2017)</a:t>
            </a:r>
            <a:endParaRPr/>
          </a:p>
        </p:txBody>
      </p:sp>
      <p:sp>
        <p:nvSpPr>
          <p:cNvPr id="632" name="Google Shape;632;p4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45</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7" name="Shape 637"/>
        <p:cNvGrpSpPr/>
        <p:nvPr/>
      </p:nvGrpSpPr>
      <p:grpSpPr>
        <a:xfrm>
          <a:off x="0" y="0"/>
          <a:ext cx="0" cy="0"/>
          <a:chOff x="0" y="0"/>
          <a:chExt cx="0" cy="0"/>
        </a:xfrm>
      </p:grpSpPr>
      <p:sp>
        <p:nvSpPr>
          <p:cNvPr id="638" name="Google Shape;638;p4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Key takeaways</a:t>
            </a:r>
            <a:endParaRPr/>
          </a:p>
        </p:txBody>
      </p:sp>
      <p:sp>
        <p:nvSpPr>
          <p:cNvPr id="639" name="Google Shape;639;p46"/>
          <p:cNvSpPr/>
          <p:nvPr/>
        </p:nvSpPr>
        <p:spPr>
          <a:xfrm>
            <a:off x="566928" y="1234440"/>
            <a:ext cx="5391759" cy="1478279"/>
          </a:xfrm>
          <a:prstGeom prst="rect">
            <a:avLst/>
          </a:prstGeom>
          <a:solidFill>
            <a:srgbClr val="EEF3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0" name="Google Shape;640;p46"/>
          <p:cNvSpPr txBox="1"/>
          <p:nvPr/>
        </p:nvSpPr>
        <p:spPr>
          <a:xfrm>
            <a:off x="749808"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1D4E89"/>
                </a:solidFill>
                <a:latin typeface="Arial"/>
                <a:ea typeface="Arial"/>
                <a:cs typeface="Arial"/>
                <a:sym typeface="Arial"/>
              </a:rPr>
              <a:t>Prey is defined by configuration.</a:t>
            </a:r>
            <a:r>
              <a:rPr b="0" i="0" lang="en-US" sz="1500" u="none" cap="none" strike="noStrike">
                <a:solidFill>
                  <a:srgbClr val="1F2530"/>
                </a:solidFill>
                <a:latin typeface="Arial"/>
                <a:ea typeface="Arial"/>
                <a:cs typeface="Arial"/>
                <a:sym typeface="Arial"/>
              </a:rPr>
              <a:t> Toads prefer objects elongated along their direction of movement (worms) and reject the same objects moving across it (antiworms); the rule is invariant to direction, contrast and, within limits, speed.</a:t>
            </a:r>
            <a:endParaRPr/>
          </a:p>
        </p:txBody>
      </p:sp>
      <p:sp>
        <p:nvSpPr>
          <p:cNvPr id="641" name="Google Shape;641;p46"/>
          <p:cNvSpPr/>
          <p:nvPr/>
        </p:nvSpPr>
        <p:spPr>
          <a:xfrm>
            <a:off x="6233007" y="1234440"/>
            <a:ext cx="5391759" cy="1478279"/>
          </a:xfrm>
          <a:prstGeom prst="rect">
            <a:avLst/>
          </a:prstGeom>
          <a:solidFill>
            <a:srgbClr val="EEF3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2" name="Google Shape;642;p46"/>
          <p:cNvSpPr txBox="1"/>
          <p:nvPr/>
        </p:nvSpPr>
        <p:spPr>
          <a:xfrm>
            <a:off x="6415887"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1D4E89"/>
                </a:solidFill>
                <a:latin typeface="Arial"/>
                <a:ea typeface="Arial"/>
                <a:cs typeface="Arial"/>
                <a:sym typeface="Arial"/>
              </a:rPr>
              <a:t>No single cell is a worm detector.</a:t>
            </a:r>
            <a:r>
              <a:rPr b="0" i="0" lang="en-US" sz="1500" u="none" cap="none" strike="noStrike">
                <a:solidFill>
                  <a:srgbClr val="1F2530"/>
                </a:solidFill>
                <a:latin typeface="Arial"/>
                <a:ea typeface="Arial"/>
                <a:cs typeface="Arial"/>
                <a:sym typeface="Arial"/>
              </a:rPr>
              <a:t> Retinal ganglion cells (R2–R4) encode size and contrast; tectal T5(2) neurons are selective in the same way as behavior, but no neuron is specific to one configuration.</a:t>
            </a:r>
            <a:endParaRPr/>
          </a:p>
        </p:txBody>
      </p:sp>
      <p:sp>
        <p:nvSpPr>
          <p:cNvPr id="643" name="Google Shape;643;p46"/>
          <p:cNvSpPr/>
          <p:nvPr/>
        </p:nvSpPr>
        <p:spPr>
          <a:xfrm>
            <a:off x="566928" y="2987040"/>
            <a:ext cx="5391759" cy="1478279"/>
          </a:xfrm>
          <a:prstGeom prst="rect">
            <a:avLst/>
          </a:prstGeom>
          <a:solidFill>
            <a:srgbClr val="EEF3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4" name="Google Shape;644;p46"/>
          <p:cNvSpPr txBox="1"/>
          <p:nvPr/>
        </p:nvSpPr>
        <p:spPr>
          <a:xfrm>
            <a:off x="749808"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D4E89"/>
                </a:solidFill>
                <a:latin typeface="Arial"/>
                <a:ea typeface="Arial"/>
                <a:cs typeface="Arial"/>
                <a:sym typeface="Arial"/>
              </a:rPr>
              <a:t>Pretectal inhibition sharpens tectal selectivity.</a:t>
            </a:r>
            <a:r>
              <a:rPr b="0" i="0" lang="en-US" sz="1600" u="none" cap="none" strike="noStrike">
                <a:solidFill>
                  <a:srgbClr val="1F2530"/>
                </a:solidFill>
                <a:latin typeface="Arial"/>
                <a:ea typeface="Arial"/>
                <a:cs typeface="Arial"/>
                <a:sym typeface="Arial"/>
              </a:rPr>
              <a:t> Pretectal TH3 neurons prefer large and antiworm stimuli; pretectal lesions or NPY block make T5.2 neurons and behavior respond to non-prey.</a:t>
            </a:r>
            <a:endParaRPr/>
          </a:p>
        </p:txBody>
      </p:sp>
      <p:sp>
        <p:nvSpPr>
          <p:cNvPr id="645" name="Google Shape;645;p46"/>
          <p:cNvSpPr/>
          <p:nvPr/>
        </p:nvSpPr>
        <p:spPr>
          <a:xfrm>
            <a:off x="6233007" y="2987040"/>
            <a:ext cx="5391759" cy="1478279"/>
          </a:xfrm>
          <a:prstGeom prst="rect">
            <a:avLst/>
          </a:prstGeom>
          <a:solidFill>
            <a:srgbClr val="EEF3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6" name="Google Shape;646;p46"/>
          <p:cNvSpPr txBox="1"/>
          <p:nvPr/>
        </p:nvSpPr>
        <p:spPr>
          <a:xfrm>
            <a:off x="6415887"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1D4E89"/>
                </a:solidFill>
                <a:latin typeface="Arial"/>
                <a:ea typeface="Arial"/>
                <a:cs typeface="Arial"/>
                <a:sym typeface="Arial"/>
              </a:rPr>
              <a:t>Forebrain loops gate and modify recognition.</a:t>
            </a:r>
            <a:r>
              <a:rPr b="0" i="0" lang="en-US" sz="1500" u="none" cap="none" strike="noStrike">
                <a:solidFill>
                  <a:srgbClr val="1F2530"/>
                </a:solidFill>
                <a:latin typeface="Arial"/>
                <a:ea typeface="Arial"/>
                <a:cs typeface="Arial"/>
                <a:sym typeface="Arial"/>
              </a:rPr>
              <a:t> The striatum disinhibits the tectum via the pretectum to release prey-catching; the ventral medial pallium (hippocampus) alters prey selectivity after learning; dopamine shifts hunting to waiting.</a:t>
            </a:r>
            <a:endParaRPr/>
          </a:p>
        </p:txBody>
      </p:sp>
      <p:sp>
        <p:nvSpPr>
          <p:cNvPr id="647" name="Google Shape;647;p46"/>
          <p:cNvSpPr/>
          <p:nvPr/>
        </p:nvSpPr>
        <p:spPr>
          <a:xfrm>
            <a:off x="566928" y="4739640"/>
            <a:ext cx="5391759" cy="1478279"/>
          </a:xfrm>
          <a:prstGeom prst="rect">
            <a:avLst/>
          </a:prstGeom>
          <a:solidFill>
            <a:srgbClr val="EEF3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8" name="Google Shape;648;p46"/>
          <p:cNvSpPr txBox="1"/>
          <p:nvPr/>
        </p:nvSpPr>
        <p:spPr>
          <a:xfrm>
            <a:off x="749808"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D4E89"/>
                </a:solidFill>
                <a:latin typeface="Arial"/>
                <a:ea typeface="Arial"/>
                <a:cs typeface="Arial"/>
                <a:sym typeface="Arial"/>
              </a:rPr>
              <a:t>Behavior emerges from sensorimotor codes.</a:t>
            </a:r>
            <a:r>
              <a:rPr b="0" i="0" lang="en-US" sz="1600" u="none" cap="none" strike="noStrike">
                <a:solidFill>
                  <a:srgbClr val="1F2530"/>
                </a:solidFill>
                <a:latin typeface="Arial"/>
                <a:ea typeface="Arial"/>
                <a:cs typeface="Arial"/>
                <a:sym typeface="Arial"/>
              </a:rPr>
              <a:t> Combinations of tectal and pretectal streams, filtered by motivation, select turning, snapping or avoidance in medullary motor circuits.</a:t>
            </a:r>
            <a:endParaRPr/>
          </a:p>
        </p:txBody>
      </p:sp>
      <p:sp>
        <p:nvSpPr>
          <p:cNvPr id="649" name="Google Shape;649;p46"/>
          <p:cNvSpPr/>
          <p:nvPr/>
        </p:nvSpPr>
        <p:spPr>
          <a:xfrm>
            <a:off x="6233007" y="4739640"/>
            <a:ext cx="5391759" cy="1478279"/>
          </a:xfrm>
          <a:prstGeom prst="rect">
            <a:avLst/>
          </a:prstGeom>
          <a:solidFill>
            <a:srgbClr val="EEF3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0" name="Google Shape;650;p46"/>
          <p:cNvSpPr txBox="1"/>
          <p:nvPr/>
        </p:nvSpPr>
        <p:spPr>
          <a:xfrm>
            <a:off x="6415887"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1D4E89"/>
                </a:solidFill>
                <a:latin typeface="Arial"/>
                <a:ea typeface="Arial"/>
                <a:cs typeface="Arial"/>
                <a:sym typeface="Arial"/>
              </a:rPr>
              <a:t>Fish reveal the same logic at cellular level.</a:t>
            </a:r>
            <a:r>
              <a:rPr b="0" i="0" lang="en-US" sz="1500" u="none" cap="none" strike="noStrike">
                <a:solidFill>
                  <a:srgbClr val="1F2530"/>
                </a:solidFill>
                <a:latin typeface="Arial"/>
                <a:ea typeface="Arial"/>
                <a:cs typeface="Arial"/>
                <a:sym typeface="Arial"/>
              </a:rPr>
              <a:t> Zebrafish prey detection uses a pretectal AF7 channel, tectal neurons with nonlinear mixed selectivity and pretectal command neurons that can start hunting.</a:t>
            </a:r>
            <a:endParaRPr/>
          </a:p>
        </p:txBody>
      </p:sp>
      <p:sp>
        <p:nvSpPr>
          <p:cNvPr id="651" name="Google Shape;651;p46"/>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2" name="Google Shape;652;p4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(1978); Ewert (1997); Ewert et al. (2001); Semmelhack et al. (2014)</a:t>
            </a:r>
            <a:endParaRPr/>
          </a:p>
        </p:txBody>
      </p:sp>
      <p:sp>
        <p:nvSpPr>
          <p:cNvPr id="653" name="Google Shape;653;p4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46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Jordan Lopez, Ph.D.</dc:creator>
</cp:coreProperties>
</file>