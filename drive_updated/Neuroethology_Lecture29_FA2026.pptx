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jcUMslIkxRWgWEHnUR1jfYSME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Navigation II: honeybee waggle dance and sun-compass navigation (von Frisch)</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Honeybee foragers communicate a resource vector on the comb. The study animal is photographed within Dong et al. (2023), Figure 1A; the complete published panel retains its labels and dance-path annotation.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Direction, visually calibrated distance, time compensation and terminal search are experimentally separable components of recruitment.</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Dong et al. (2023), Fig. 1A. Waggle-run angle, return loops and following bees.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https://doi.org/10.1126/science.ade1702</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Foragers of Apis mellifera communicate a resource location through the waggle dance, repeated movements on the comb that contain a straight abdominal-wagging run and alternating return loops. A vector specifies a direction and a distance from an origin; here the origin is the hive.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return loops bring the dancer back to the start of another waggle run. The loop itself is not a second advertised destination.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Dong and colleagues filmed individually marked bees visiting a feeder 150 m away. The angle of the waggle run on a vertical comb encoded the food direction relative to the sun, while its duration encoded distance. Attending bees followed the dancer at close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signal concerns a location outside the hive, rather than merely the dancer’s immediate position. Video measurements establish its spatial and temporal structure; successful communication additionally requires that followers obtain the signal and subsequently choose an appropriate flight. These are distinct experimental questions.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Dong et al. (2023), Fig. 1A. Waggle-run angle, return loops and following bees.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https://doi.org/10.1126/science.ade1702</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dancer on a vertical comb uses the upward direction as the reference for the sun. The waggle-run angle relative to vertical represents the resource direction relative to the sun outside. This transformation allows direction to be communicated where the sun itself is unavailable.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Sunward is encoded upward on a vertical comb. The absolute flight bearing also depends on the sun’s current position, so a fixed resource can require changing dance angles during the day.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Dong and colleagues recorded dance angles on the crowded, uneven comb surface. They measured divergence among repeated waggle runs rather than assuming that every run conveyed an identical angle. Bees without experienced dancers produced larger directional divergence in their first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Directional encoding therefore has both a reference system and a motor-precision component. A follower must translate the comb-relative angle into a flight direction using celestial information. The video experiment measures the dancer’s output; it does not identify a gravity receptor or the neurons that perform the coordinate transformation.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Dong et al. (2023), Fig. 1A. Waggle-run angle, return loops and following bees.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https://doi.org/10.1126/science.ade1702</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Von Frisch and Lindauer trained marked foragers to a feeding location and then moved the hive into an unfamiliar landscape. In their 1952 displacement experiment, the training feeder was 180 m away in a direction 30° north of west. The bees had learned this route during the afternoon.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four dishes controlled food identity and odor across directions. Capturing arrivals separated an individual’s remembered route from recruitment by another successful bee.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following morning, equally familiar scented food dishes were available in four directions in the new landscape. Arriving bees were captured immediately, preventing successful visitors from returning and recruiting nestmates. Searches favored the previously trained compass direction despite the changed terrestrial surroundings.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compensation for the sun’s movement between afternoon training and morning flight. Across related tests, cloudy conditions could prevent correct orientation when both direct sun and polarized skylight were unavailable. Landmarks and celestial cues can compete; the experiment does not imply that terrestrial information is normally ignored.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von Frisch K, Lindauer M (1954). Himmel und Erde in Konkurrenz bei der Orientierung der Bienen. Die Naturwissenschaften 41(11): 245-253. https://doi.org/10.1007/bf00634944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von Frisch &amp; Lindauer (1954), Fig. 1a,b. Training and unfamiliar release landscapes.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https://doi.org/10.1007/bf00634944</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Riley and colleagues tracked bees that had followed dances advertising an unscented feeder 200 m east of the hive. A harmonic radar detects a small transponder carried by the bee, allowing a trajectory to be measured outside the observation hive.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transponder marks the bee’s location, not a neural signal. The initial straight segment and later search were behaviorally defined from the recorded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Recruits released at the hive generally flew an initially straight, eastward route. Their straight-flight sections averaged 206 m before searching began. Radar positions were acquired every 3 s, permitting a separation between directed travel and more tortuous search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recruits had not previously visited the advertised feeder. The unscented feeding site and the experimental wind direction reduced the possibility of direct odor guidance from the destination. The trajectory supports acquisition of a flight vector from the dance, although radar cannot reveal which sensory components a follower used while attending the dancer.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Riley et al. (2005), Fig. 1. Tracks from hive and displaced release points.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https://doi.org/10.1038/nature03526</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Riley and colleagues captured dance followers at the hive and released them 200–250 m southwest of it. This manipulation preserved the communicated instruction but changed the point from which the recruit began its flight. The real feeder was no longer 200 m east of the release point.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Transport changed the origin without changing the dance. The predicted endpoint for the displaced vector differs from the actual food site.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Displaced bees nevertheless began with an eastward straight flight, averaging 188 m before search. They did not immediately choose the new bearing from the release point toward the actual feeder. The flight instruction therefore retained its direction and approximate distance after displacement.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origin-dependent vector is useful from its specified origin but leads to a different endpoint when executed elsewhere. This result separates a decoded movement instruction from immediate correction to a world location. It does not exclude later use of familiar landscape information, particularly in environments richer in recognizable landmarks.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Riley et al. (2005), Fig. 1. Tracks from hive and displaced release points.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https://doi.org/10.1038/nature03526</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straight flights of hive-released recruits ended near the advertised feeder on average, but individual endpoints differed by tens of meters. Riley and colleagues then tracked looping searches, some lasting up to 20 min and extending as far as 200 m from the feeding site.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group average can be close to the feeder even when many individual bees miss it. The search phase is a genuine component of recruitment rather than an error-free continuation of the initial vector.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Only two tracked recruits found the unscented feeder. A mean endpoint close to the food location therefore did not imply reliable arrival by every bee. Directional variation increased near the end of the vector flight as directed travel gave way to search.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Dance information supplies an approximate search area. Local visual or odor cues can be needed to resolve the final destination, but the unscented-feeder experiment did not manipulate every possible terminal cue. Spatial scatter and terminal failure distinguish successful long-range information transfer from precise source recognition.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Riley et al. (2005), Fig. 2a,b. Direction changes during initial vector flights.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https://doi.org/10.1038/nature03526</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Riley and colleagues measured flight tracks together with wind velocity to distinguish movement over the ground from movement through the air. A bee exposed to a crosswind must direct its body partly into the wind if it is to maintain the advertised ground track.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Ground velocity combines the bee’s movement through air with air movement over the ground. Distinguishing those quantities prevents heading from being confused with destination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one recorded flight, ground speed was 6.8 m/s while a 3.3 m/s wind acted from a different direction. The reconstructed air velocity was 5.2 m/s. The bee’s air heading differed from its ground-track direction by approximately 28°, counteracting wind drift.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resulting displacement followed the eastward instruction rather than the uncorrected wind-displaced heading. This establishes active compensation during recruitment flight. The wind-and-radar measurements do not isolate the visual or other feedback signals that determine the correction, and a single trajectory is not a universal wind-response calibration.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Riley et al. (2005), Fig. 3a,b. Crosswind compensation during a recruit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https://doi.org/10.1038/nature03526</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Optic flow is the movement of environmental images across the retina during self-motion. Nearby surfaces produce more angular image displacement than distant surfaces for the same translational travel. A narrow textured tunnel therefore increases optic flow without requiring a long physical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tunnel dimensions matter because proximity changes angular image speed. The feeder location and tunnel texture were controlled independently.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Srinivasan and colleagues trained honeybees through a tunnel 6.4 m long, 11 cm wide and 20 cm high. Random black-and-white texture covered the walls and floor; a mesh ceiling allowed a view of the sky. The feeder was positioned 6 m into the tunnel.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Returning bees produced waggle dances after this short passage even when an equally short outdoor journey normally elicited round dances. The preparation separates physical distance from visual motion experienced en route. It supports a visual odometer, a mechanism estimating distance traveled, rather than an exclusively energy-based distance measure.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Srinivasan et al. (2000), Fig. 1A,B. Tunnel geometry and texture-dependent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https://doi.org/10.1126/science.287.5454.851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Srinivasan and colleagues kept the feeder at the same physical location while replacing random tunnel texture with stripes parallel to flight. Axial stripes change little along the flight axis, reducing the visual motion normally generated by forward travel.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Parallel stripes and random texture impose different visual motion while preserving the target location. The comparison addresses distance estimation rather than reward quality.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35 m outdoor journey followed by 6 m through random texture produced waggle dances in 90% of recorded dances. With axial stripes at the same total distance of 41 m, 86.7% of dances were round dances. Without the tunnel, a feeder at 35 m elicited predominantly round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Physical journey length cannot explain the difference between the two 41 m preparations. The texture control identifies optic flow as the relevant variable under these conditions. It does not establish that all visual patterns are equally effective or that energetic state never affects other aspects of dancing.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Srinivasan et al. (2000), Fig. 1A,B. Tunnel geometry and texture-dependent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https://doi.org/10.1126/science.287.5454.851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Srinivasan and colleagues moved outdoor feeders between 60 and 350 m and measured the duration of each waggle phase on return to the hive. Over this range, mean waggle duration increased approximately linearly with feeder distance.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Duration is the measured motor output. The experimental outdoor calibration gives it a distance interpretation without treating a tunnel flight as an ordinary outdoor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reported calibration increased by 1.88 ms of waggle duration per meter of outdoor travel. It provided a reference for interpreting the unusually long dances produced after textured-tunnel flights. The calibration was measured independently of the tunnel manipulation.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calibration relates a measured signal to a known quantity under specified conditions. It is not necessarily a universal conversion applicable to every landscape or colony. The outdoor measurements establish the relation for the tested routes and distances; they do not identify the neurons integrating optic flow or storing the resulting distance estimate.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Srinivasan et al. (2000), Fig. 2. Outdoor distance calibration of waggle duration.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https://doi.org/10.1126/science.287.5454.851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Srinivasan and colleagues used the outdoor calibration to interpret dances following textured-tunnel passages. A 41 m journey containing 6 m inside the tunnel produced a mean waggle duration of 528.8 ms, corresponding to approximately 230 m in the outdoor calibration.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two tunnel conditions were mapped onto the published outdoor relation. They establish a visual dependence of the signal, without requiring a verbal attribution of perceived meters to the bee.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second arrangement placed the tunnel nearer the hive, producing only 12 m of total travel. Its mean duration was 441.2 ms, corresponding to approximately 184 m outdoors. Both preparations generated a disproportionately large distance signal despite their different outdoor approach lengths.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close textured surfaces amplified the visually measured journey. The comparison rejects a simple account in which waggle duration reports physical meters independently of visual surroundings. These inferred outdoor distances are values from the authors’ calibration, not direct measurements of a bee’s subjective experience.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Srinivasan et al. (2000), Fig. 2. Outdoor distance calibration of waggle duration.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https://doi.org/10.1126/science.287.5454.851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Esch and colleagues trained dancers to fly 3 m outdoors and then through an 8 m textured tunnel toward the south. Although the actual feeder was only 11 m from the hive, returning bees produced waggle runs averaging 358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Bees arriving at control stations were captured so their own return dances could not create additional recruitment to the station. The search behavior tests decoding independently of the dancer’s physical flight length.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local outdoor calibration associated this duration with approximately 72 m. Newly recruited bees searched predominantly at a control station 70 m south of the hive rather than at the tunnel feeder. Control stations offered neither food reward nor an added scent.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the first 30 min, the tunnel was closed: dancers did not advertise the tunnel journey and recruits did not arrive at the stations. Opening it initiated dancing and subsequent recruitment. This links the visually inflated distance signal to followers’ search behavior, rather than merely to a change in the dancer’s movements.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Esch HE, Zhang S, Srinivasan MV, Tautz J (2001). Honeybee dances communicate distances measured by optic flow. Nature 411(6837): 581-583. https://doi.org/10.1038/35079072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Esch et al. (2001), Fig. 2a–c. Recruit searches after tunnel-distance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https://doi.org/10.1038/35079072</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Esch and colleagues measured outdoor dance durations separately for southern and northwestern routes. A given waggle duration corresponded to different physical distances on the two routes, even though both involved ordinary outdoor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graph distinguishes southern squares from northwestern triangles. Duration can carry a reliable route-specific instruction even when physical meters differ between routes.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example, 270 ms corresponded to about 52 m using the southern relation but about 157 m using the northwestern relation. The northwestern landscape generated less distance signal per physical meter than the southern landscape. A single route-independent conversion would therefore misread the 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relevant quantity is accumulated visual motion shaped by the route. Terrain and viewing geometry can change the relation between optic flow and physical distance. The calibration experiment does not identify the exact contribution of every landmark, but it establishes that the environmental dependence matters when comparing advertised and searched distances.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Esch HE, Zhang S, Srinivasan MV, Tautz J (2001). Honeybee dances communicate distances measured by optic flow. Nature 411(6837): 581-583. https://doi.org/10.1038/35079072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Esch et al. (2001), Fig. 1. Outdoor calibration of dance duration.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https://doi.org/10.1038/35079072</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Esch and colleagues repeated the tunnel recruitment test with a northwestern approach: 3 m outdoors followed by 6 m through the tunnel. The actual feeder was 9 m away, and returning dancers produced waggle runs averaging 270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tunnel-distance instruction can be shared because dancer and follower navigate comparable visual terrain. The physical feeder distance and the searched distance remain experimentally distinct.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Recruit searches peaked near 140 m along the northwestern route. The northwestern outdoor calibration predicted approximately 157 m, whereas applying the southern calibration would predict only about 52 m. Recruits therefore searched where a route-appropriate visual-distance interpretation placed the destination.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Stations were unrewarded, and closing the tunnel before each experiment prevented the relevant dances and recruitment. The result connects dance decoding with followers’ own visual navigation. It does not establish a permanently fixed distance dictionary: the conversion depends on the visual conditions encountered by the navigating bees.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Esch HE, Zhang S, Srinivasan MV, Tautz J (2001). Honeybee dances communicate distances measured by optic flow. Nature 411(6837): 581-583. https://doi.org/10.1038/35079072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Esch et al. (2001), Fig. 2a–c. Recruit searches after tunnel-distance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https://doi.org/10.1038/35079072</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Tautz and colleagues moved feeders along two routes, each 580 m long. One route crossed land, water and then an island; the other remained over land. Marked foragers were trained to follow the moving food source, including a feeder carried by boat.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Maintaining trained bees at the boat feeder allowed distance signals to be measured even when spontaneous recruitment onto the water was uncommon.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each position, returning dances were filmed and waggle-run duration measured. The experiment tested whether the tunnel-defined visual odometer also depended on natural terrain. Both routes increased physical distance without the artificial proximity of tunnel walls.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Water-crossing bees continued to signal increasing distance, but the rate of increase differed across route segments. Recruits were scarce while the feeder was over water and reappeared on the island. Recruitment success and distance encoding are related but distinct outcomes, and the habitat change can affect both.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Tautz J, Zhang S, Spaethe J, Brockmann A, Si A, Srinivasan M (2004). Honeybee Odometry: Performance in Varying Natural Terrain. PLoS Biology 2(7): e211. https://doi.org/10.1371/journal.pbio.0020211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Tautz et al. (2004), Fig. 1. Land, water and island routes.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https://doi.org/10.1371/journal.pbio.0020211</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On the land–water–island route, Tautz and colleagues measured a waggle-duration increase of 1.970 ms/m over the first land segment, 0.546 ms/m over water and 2.243 ms/m over the island. Equal increments of physical travel therefore contributed unequally to the dance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units are milliseconds of additional waggle duration per physical meter. A flatter slope means less signal increment, not necessarily a lower flight speed.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Segment-specific relations captured the change more closely than a single constant slope across the whole route. An all-land comparison route lacked a corresponding water-associated flattening. The control separated a specific terrain transition from a general dependence on increasing feeder distance.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visual odometer need not stop working over water; it can accumulate less effective image motion there. These behavioral measurements constrain the distance signal’s input dependence. They do not directly record retinal motion neurons or prove that low contrast alone accounts for the entire water effect.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Tautz J, Zhang S, Spaethe J, Brockmann A, Si A, Srinivasan M (2004). Honeybee Odometry: Performance in Varying Natural Terrain. PLoS Biology 2(7): e211. https://doi.org/10.1371/journal.pbio.0020211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Tautz et al. (2004), Fig. 2A,B. Distance coding changes over 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https://doi.org/10.1371/journal.pbio.0020211</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Visual contrast measures differences in image intensity that make spatial structure detectable. Tautz and colleagues photographed land and water scenes along the experimental routes and analyzed intensity variation in defined image windows.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Low contrast can weaken motion signals even when the animal continues moving. The photographs document the actual terrain; they are not a reconstructed visual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Mean contrast was greater over land than over water. The low-contrast water segment coincided with slower accumulation of waggle duration, whereas the terrestrial segments supported larger increases. The original scene photographs retain the investigators’ measurement windows.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Contrast provides a plausible connection between natural image structure and effective optic flow. A correlation across route segments does not isolate contrast from flight height, viewing direction or surface texture. The controlled tunnel-texture experiments supply a separate intervention on visual motion, while the field measurements establish ecological dependence under ordinary foraging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Tautz J, Zhang S, Spaethe J, Brockmann A, Si A, Srinivasan M (2004). Honeybee Odometry: Performance in Varying Natural Terrain. PLoS Biology 2(7): e211. https://doi.org/10.1371/journal.pbio.0020211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Tautz et al. (2004), Fig. 4. Scenes used to compare land and water contrast.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https://doi.org/10.1371/journal.pbio.0020211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Tautz et al. (2004), Fig. 5. Natural terrestrial route and image-analysis windows.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https://doi.org/10.1371/journal.pbio.0020211</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Polarized light has a preferred orientation of its electric-field oscillation, called the e-vector. Sakura and colleagues tested whether restrained honeybees could discriminate two e-vector directions presented from above without having to complete a navigational journey.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Rewarded and unrewarded directions differed by 90°. The dorsal-rim anatomy is from Zeller and colleagues; it identifies the sensory entry region investigated with occlusion in Sakura’s behavioral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One direction was paired with sucrose; the perpendicular direction was not rewarded. The proboscis extension response, extension of the feeding mouthparts, supplied a behavioral readout of association. During ultraviolet-light conditioning, responses increased to the rewarded direction while remaining low to the other.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test establishes learned discrimination of polarization orientation independently of free-flight steering. Head-fixed bees could also learn, supporting detection without repeated active head scanning. It does not measure an internal compass bearing or establish how this sensory discrimination is converted into the direction advertised in a dance.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 M, Okada R, Aonuma H (2012). Evidence for instantaneous e-vector detection in the honeybee using an associative learning paradigm. Proceedings of the Royal Society B: Biological Sciences 279(1728): 535-542. https://doi.org/10.1098/rspb.2011.0929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 et al. (2012), Fig. 1. Rewarded and unrewarded polarization directions.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https://doi.org/10.1098/rspb.2011.0929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1A–F. Dorsal-rim input reaches dorsal medulla.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Sakura and colleagues repeated polarization conditioning with ultraviolet light near 350 nm, blue light near 442 nm and green light near 546 nm. Each preparation used a rewarded e-vector and a perpendicular unrewarded e-vector.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three wavelength conditions isolate spectral dependence. The source anatomy places dorsal-rim inputs in the dorsal medulla, but wavelength-dependent learning itself was measured behaviorally.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Bees acquired the discrimination under ultraviolet stimulation but did not acquire it under the tested blue or green conditions. The wavelength comparison controlled the form of the associative task while changing the available spectral input. Ordinary responsiveness to sucrose was assessed separately.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is consistent with ultraviolet-sensitive polarization input rather than a wavelength-independent task solution. It does not mean that blue and green receptors are unimportant in other visual behaviors. Nor does this behavioral experiment identify an individual phototransduction ion channel or trace a complete polarization-processing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 M, Okada R, Aonuma H (2012). Evidence for instantaneous e-vector detection in the honeybee using an associative learning paradigm. Proceedings of the Royal Society B: Biological Sciences 279(1728): 535-542. https://doi.org/10.1098/rspb.2011.0929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 et al. (2012), Fig. 3a–c. Learning with ultraviolet, blue and green 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https://doi.org/10.1098/rspb.2011.0929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1A–F. Dorsal-rim input reaches dorsal medulla.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dorsal rim area is a specialized region near the upper edge of the compound eye associated with skylight polarization detection. Sakura and colleagues painted either this region or the rest of the eye before ultraviolet polarization conditioning.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extradorsal-rim condition leaves the candidate polarization-sensitive region available. This is a stronger localization control than covering the whole eye.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Bees with the dorsal rim covered did not learn the rewarded e-vector. Bees with the extradorsal-rim region covered retained discrimination, despite having much of the eye occluded. This complementary control links the behavioral effect to the specialized region rather than simply to reduced exposed eye area.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supports a necessary dorsal-rim contribution under these conditions. Zeller and colleagues traced input from this region into a specialized dorsal-medulla compartment. The occlusion and tracing results converge on a sensory pathway, but neither establishes every receptor subtype or the downstream synapses required for dance navigation.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 M, Okada R, Aonuma H (2012). Evidence for instantaneous e-vector detection in the honeybee using an associative learning paradigm. Proceedings of the Royal Society B: Biological Sciences 279(1728): 535-542. https://doi.org/10.1098/rspb.2011.0929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 et al. (2012), Fig. 2a,b. Dorsal-rim occlusion and extradorsal-rim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https://doi.org/10.1098/rspb.2011.0929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1A–F. Dorsal-rim input reaches dorsal medulla.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Kraft and colleagues trained bees in a four-tunnel maze with one entrance and three possible exits. Each tunnel was 125 cm long, 11 cm wide and 18 cm high. Polarizing filters above the tunnels specified illumination parallel or perpendicular to the flight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original preparation drawing comes from the primary article. Relative polarization means orientation with respect to the tunnel axis, rather than a compass direction written on the maze.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rewarded exit carried the same relative polarization orientation as the entrance. Incorrect exits offered no reward; during tests, choices were measured without reward. A diffuser prevented a direct view of the sun and obscured overhead landmarks.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preparation asks whether a bee can associate a route with a particular relationship between body axis and e-vector. It does not require an absolute geographical compass solution. Moving the illumination pattern among exits then tests the contribution of polarization against a learned preference for turning or going straight.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Kraft P, Evangelista C, Dacke M, Labhart T, Srinivasan MV (2011). Honeybee navigation: following routes using polarized-light cues. Philosophical Transactions of the Royal Society B: Biological Sciences 366(1565): 703-708. https://doi.org/10.1098/rstb.2010.0203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Kraft et al. (2011), Fig. 1. Four-tunnel polarized-light maze.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https://doi.org/10.1098/rstb.2010.0203</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 Kraft and colleagues’ straight-ahead training condition, bees chose the rewarded tunnel on 67% of tests with the original illumination arrangement. Moving the rewarded polarization to the left exit raised left choices from 15% to 28%, but straight-ahead choices remained at 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two training conditions are separate preparations. Their different transfer patterns argue against treating all choices as a pure readout of one sensory cue.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the right-turn training condition, bees chose the rewarded right exit on 74% of tests. When its polarization was moved to the straight-ahead exit, straight-ahead choices reached 56%. Three exits gave a random-choice level of approximately 33%.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cue relocation changed behavior, but it did not erase the learned route preference uniformly across training conditions. Polarization and motor-route memory can both influence choice. The experiment supports learned use of relative e-vector information without claiming that this cue exclusively determines every route decision.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Kraft P, Evangelista C, Dacke M, Labhart T, Srinivasan MV (2011). Honeybee navigation: following routes using polarized-light cues. Philosophical Transactions of the Royal Society B: Biological Sciences 366(1565): 703-708. https://doi.org/10.1098/rstb.2010.0203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Kraft et al. (2011), Fig. 3a,b. Choices after relocating the rewarded polarization.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https://doi.org/10.1098/rstb.2010.0203</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Evangelista and colleagues trained bees through a 12 m textured tunnel covered by ultraviolet-transmitting polarizers and a diffuser. The diffuser removed a direct view of the sun and overhead landmarks, leaving the artificial polarization pattern as the celestial cue.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polarizer orientation changed while tunnel direction remained fixed. The original article contains the preparation images and measured dance distributions; no direction plots have been reconstructed.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With transverse polarization, waggle runs clustered along a vertical axis on the comb. With axial polarization, they clustered along a horizontal axis. The reported mean axes were approximately 91.7° and 1.3° relative to horizontal, respectively.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single e-vector has a 180° ambiguity: the same axis can represent opposite travel directions. Bees advertised both alternatives rather than a unique direction. The experiment links polarized flight input to the communicated direction while distinguishing an axis of possible headings from a fully disambiguated sun-referenced bearing.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Evangelista C, Kraft P, Dacke M, Labhart T, Srinivasan MV (2014). Honeybee navigation: critically examining the role of the polarization compass. Philosophical Transactions of the Royal Society B: Biological Sciences 369(1636): 20130037. https://doi.org/10.1098/rstb.2013.0037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Evangelista et al. (2014), Fig. 2a–c. Transverse polarization and vertical dance runs.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https://doi.org/10.1098/rstb.2013.0037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Evangelista et al. (2014), Fig. 3a–c. Axial polarization and horizontal dance runs.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https://doi.org/10.1098/rstb.2013.0037</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Evangelista and colleagues also changed the polarization axis halfway along the tunnel. The first 6 m and the second 6 m provided perpendicular e-vector orientations, although the physical tunnel itself remained straight.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source figure includes the authors’ stimulus arrangement and measured durations. The suggested two-leg geometry is an interpretation of the behavior, not a directly observed physical turn.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the two-segment journey, bees advertised diagonal directions consistent with interpreting a turn between the segments. Their mean waggle duration was shorter than after a tunnel with one uniform polarization axis. The authors related this reduced distance signal to an inferred two-leg displacement.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 alters the sensory compass instruction without inserting an actual corner. It supports combination of directional input with a distance estimate when generating the dance. The inferred trajectory depends on ambiguity in the artificial sky cue, and the study did not directly record neural vector accumulation or identify a central-complex calculation.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Evangelista C, Kraft P, Dacke M, Labhart T, Srinivasan MV (2014). Honeybee navigation: critically examining the role of the polarization compass. Philosophical Transactions of the Royal Society B: Biological Sciences 369(1636): 20130037. https://doi.org/10.1098/rstb.2013.0037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Evangelista et al. (2014), Fig. 8. Distance signals after switching polarization mid-route.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https://doi.org/10.1098/rstb.2013.0037</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Solar azimuth is the sun’s horizontal bearing; an ephemeris describes its changing position over the day. Dyer and Dickinson reared bees in an incubator and allowed them to fly outside only during the late afternoon.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Cloud cover removed direct celestial information during the test. Direction was inferred from dances relative to a known food route, not from an electrode measurement of a sun representation.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On a cloudy test day, these bees flew for the first time during morning and early afternoon. Their dances indicated a morning solar estimate approximately 180° from the evening azimuth they had previously experienced. Around local noon, they switched toward the familiar evening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bees therefore supplied an approximate morning reference without having directly experienced that portion of the sun’s course. The step-like pattern supports a general expectation of daily solar movement refined by experience. It differs from exact memorization of every hourly sun position and leaves the implementing neuronal computation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Dyer FC, Dickinson JA (1994). Development of sun compensation by honeybees: how partially experienced bees estimate the sun's course. Proceedings of the National Academy of Sciences 91(10): 4471-4474. https://doi.org/10.1073/pnas.91.10.4471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Dyer &amp; Dickinson (1994), Fig. 2A. Solar estimates after afternoon-only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https://doi.org/10.1073/pnas.91.10.4471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Dyer and Dickinson compared experience-restricted bees with bees that had previously flown throughout the day. Both groups were tested under a cloudy sky, so current direct sight of the sun could not explain the difference in their dance orientations.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actual daily course was known independently from astronomical position. Shared cloud cover controls the availability of immediate celestial cues across the two experience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Fully experienced bees’ solar estimates followed the continuously changing local sun course more closely. Bees with afternoon-only experience instead used the coarse morning–afternoon pattern. The comparison separates a broad expectation about solar movement from its more precise local calibration.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sun’s horizontal bearing changes at a variable rate with time, latitude and season; a universal constant angular-rate correction is insufficient. Experience improves the temporal reference used for navigation. The design supports learned calibration but does not isolate whether particular visual scenes, flight directions or training times supplied each component of that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Dyer FC, Dickinson JA (1994). Development of sun compensation by honeybees: how partially experienced bees estimate the sun's course. Proceedings of the National Academy of Sciences 91(10): 4471-4474. https://doi.org/10.1073/pnas.91.10.4471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Dyer &amp; Dickinson (1994), Fig. 2B. Experienced bees track the sun under cloud cover.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https://doi.org/10.1073/pnas.91.10.4471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circadian clock is an internal timing system with an approximately daily cycle. Cheeseman and colleagues used 2% isoflurane anesthesia to perturb this timing system and tested subsequent sun-compass homing.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comparison was between long and short anesthesia, rather than between treatment and an unhandled animal alone. Vanishing bearing samples initial orientation and does not establish eventual homing success.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the Southern Hemisphere, bees trained to a feeder 100 m from the hive were transported 6 km into unfamiliar terrain. Six-hour anesthesia produced an approximately 87° anticlockwise shift in vanishing bearing relative to a 30-min anesthetic control. A vanishing bearing is the direction at which a departing bee leaves the observer’s view.</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time error predicts a directional error because solar bearing depends on time of day. The shifted orientation supports this relationship, but extended anesthesia can also affect general performance. The short-anesthetic control and independent clock measurements are needed to distinguish a timing disturbance from nonspecific drug effects.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Cheeseman JF, Winnebeck EC, Millar CD, Kirkland LS, Sleigh J, Goodwin M, Pawley MDM, Bloch G, Lehmann K, Menzel R, Warman GR (2012). General anesthesia alters time perception by phase shifting the circadian clock. Proceedings of the National Academy of Sciences 109(18): 7061-7066. https://doi.org/10.1073/pnas.1201734109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Cheeseman et al. (2012), Fig. 1. Anesthesia shifts Southern Hemisphere bearings.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https://doi.org/10.1073/pnas.1201734109</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Cheeseman and colleagues repeated the navigation test in the Northern Hemisphere using harmonic radar. Bees trained to a feeder 300 m from the hive were displaced 500 m before release, allowing the initial homeward vector flight to be separated from later correction.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compass error tied to solar movement can reverse sign across hemispheres. A fixed lateral motor bias would not predict that reversal.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Six-hour anesthesia shifted the initial vector approximately 58° clockwise relative to the 30-min control. Unanesthetized catch-and-release bees provided another handling comparison. The direction of the error was opposite to the Southern Hemisphere result, as expected from the different solar course.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hemisphere comparison links the behavioral error to sun-compass timing rather than to a fixed tendency to turn left or right after treatment. Individual variation and possible secondary cues remain. The measured trajectory establishes an altered initial compass instruction, without locating its neural implementation.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Cheeseman JF, Winnebeck EC, Millar CD, Kirkland LS, Sleigh J, Goodwin M, Pawley MDM, Bloch G, Lehmann K, Menzel R, Warman GR (2012). General anesthesia alters time perception by phase shifting the circadian clock. Proceedings of the National Academy of Sciences 109(18): 7061-7066. https://doi.org/10.1073/pnas.1201734109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Cheeseman et al. (2012), Fig. 2A,B. Northern Hemisphere tracks after clock disruption.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https://doi.org/10.1073/pnas.1201734109</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Cheeseman and colleagues measured hive activity under constant dim light, removing ordinary day–night transitions as the immediate cause of a shifted rhythm. Daytime six-hour anesthesia delayed daily activity and altered rhythmic gene expression in sampled bee brains.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Cryptochrome and period expression were sampled across the daily cycle rather than at a single post-treatment time. A phase shift changes when the rhythm peaks, not simply whether a gene is expressed.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reported phase delays were 4.9 h for mammalian-type cryptochrome messenger RNA and 4.3 h for period messenger RNA. Messenger RNA is the transcript used to produce a gene’s protein. The sampled hive’s activity phase shifted by 5.3 h, while clock expression remained broadly constitutive.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Six-hour anesthesia during subjective night did not produce the same delay. This time-dependent effect supports disturbance of the circadian oscillator rather than a literal six-hour pause in all behavior. Whole-brain expression cannot specify the cells delivering time information to a compass pathway or identify the relevant anesthetic receptor.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Cheeseman JF, Winnebeck EC, Millar CD, Kirkland LS, Sleigh J, Goodwin M, Pawley MDM, Bloch G, Lehmann K, Menzel R, Warman GR (2012). General anesthesia alters time perception by phase shifting the circadian clock. Proceedings of the National Academy of Sciences 109(18): 7061-7066. https://doi.org/10.1073/pnas.1201734109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Cheeseman et al. (2012), Fig. 4A–D. Activity rhythms and clock-gene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https://doi.org/10.1073/pnas.1201734109</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Zeller and colleagues injected fluorescent tracers into the dorsal rim of the honeybee eye and labeled surrounding neuropil. Neuropil is tissue containing interwoven neuronal branches and synapses. The medulla is a visual-processing region within the optic lobe.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Afferents are neurons carrying input into a processing region. Tracer transport identifies projection geometry, while synapsin staining supplies a reference for the surrounding synaptic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Dorsal-rim input reached a distinct dorsal-medulla compartment called the MEDRA. Complementary injections into other pathway regions and synapsin labeling distinguished this compartment from neighboring medulla. The published micrographs preserve anatomical orientation and micrometer scale bars.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tracing identifies an entry pathway for polarization-associated visual input. It does not by itself measure e-vector tuning or prove that every labeled connection is required for dance orientation. Anatomical localization and Sakura’s regional-occlusion experiment address different links between sensory specialization and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 M, Okada R, Aonuma H (2012). Evidence for instantaneous e-vector detection in the honeybee using an associative learning paradigm. Proceedings of the Royal Society B: Biological Sciences 279(1728): 535-542. https://doi.org/10.1098/rspb.2011.0929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1A–F. Dorsal-rim input reaches dorsal medulla.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 name="Google Shape;430;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Zeller and colleagues traced transmedulla neurons, cells whose branches cross the medulla from the dorsal-rim-associated input compartment toward more medial brain regions. Dye injections from different locations provided complementary views of their branching pattern.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anterior optic tubercle is divided into compartments. The lower-unit complex is associated with this traced pathway, so the term does not refer to every tubercle neuron indiscriminately.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neurons arborized in the MEDRA and extended through a defined medulla layer. Their medial projections reached the lower-unit complex of the anterior optic tubercle, a visual-processing center outside the optic lobe. Fine terminal morphology distinguished plausible input and output portions of the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ordered projection provides an anatomical route from specialized eye input toward central compass circuitry. Morphology supports this direction of information flow but cannot replace physiological measurements of transmission. The study did not identify a transmitter for every transmedulla cell or directly establish its role in correcting a dance angle for time of day.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2A–F. Transmedulla neuron branches and medial projections.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3A–D. Projections to the lower anterior optic tubercle.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Pigment-dispersing factor, or PDF, is a neuropeptide associated with circadian signaling in insects. Zeller and colleagues combined PDF immunostaining with tracer labeling of transmedulla neurons to ask where potential timing input could meet the honeybee sky-compass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Immunoreactivity means that an antibody recognizes a target in the preparation. It supports the presence of the labeled substance, but a nearby labeled bouton is not equivalent to a confirmed connection.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PDF-positive fibers occupied the same medulla layer as parts of the traced neurons. At higher magnification, labeled puncta lay in close proximity along their passage through the medulla. The two labels did not colocalize, and PDF labeling was not found within the MEDRA itself.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identifies neighboring neuronal populations and a candidate site for modulation. Close proximity does not establish peptide release, a postsynaptic PDF receptor or a functional synapse. Circadian compass correction is therefore a proposed role of this contact region rather than a demonstrated action of PDF on these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5A–C. PDF-positive fibers lie beside transmedulla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Zeller and colleagues combined transmedulla tracer labeling with antibodies against serotonin, a monoamine signaling molecule, and GABA, gamma-aminobutyric acid. GABA commonly contributes inhibitory signaling, but its action at a particular connection requires receptor and physiological evidence.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Different distributions imply different possible access to the traced pathway. Assigning an excitatory or inhibitory effect solely from proximity would go beyond the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Serotonin-positive puncta overlapped the dorsal portion of the relevant medulla layer but not the MEDRA. GABA-positive fibers lay near transmedulla branches throughout their length, including the MEDRA. In both preparations, tracer and transmitter labels marked different populations rather than the same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spatial relationships support candidate modulatory and local processing interactions. They do not establish whether serotonin increases or decreases compass-pathway excitability or whether a particular GABA receptor or chloride conductance mediates an effect. The necessary receptor identity, synaptic direction and time-dependent physiology remain unmeasured in this anatomical study.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6A–C. Serotonin-positive fibers and transmedulla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7A–C. GABA-positive fibers near compass-pathway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3" name="Google Shape;473;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Held and colleagues traced the honeybee sky-compass network using dye injections, neuropil labeling and single-cell preparations. TuLAL1 neurons project from the anterior optic tubercle toward paired synaptic regions called the lateral and medial bulbs.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pathway nomenclature names the projection classes used by the authors. The original article’s anatomical drawing is included unchanged; no circuit has been newly drawn for this deck.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second class, TL neurons, connects these bulbs with the lower division of the central body, part of the central complex. The labeled branches establish two parallel anatomical routes from tubercle outputs toward central-brain circuitry associated with directional processing.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bulbs provide a defined interface rather than an undifferentiated relay. The study identifies its neurons and terminal organization, but it does not directly record a honeybee heading code or demonstrate the conversion of that code into a waggle-run angle. Functional interpretations must remain separate from the measured projection anatomy.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Held M, Berz A, Hensgen R, Muenz TS, Scholl C, Rössler W, Homberg U, Pfeiffer K (2016). Microglomerular Synaptic Complexes in the Sky-Compass Network of the Honeybee Connect Parallel Pathways from the Anterior Optic Tubercle to the Central Complex. Frontiers in Behavioral Neuroscience 10: 186. https://doi.org/10.3389/fnbeh.2016.00186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Held et al. (2016), Fig. 1A–F. AOTU–bulb–central-body projection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https://doi.org/10.3389/fnbeh.2016.00186</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microglomerulus is a compact synaptic complex in which a large presynaptic terminal contacts several smaller postsynaptic processes. Held and colleagues stained honeybee bulb tissue for synapsin, associated with presynaptic machinery, and filamentous actin, prominent in postsynaptic regions.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Synapsin and actin are markers, not themselves a transmitter identity. Their different distributions help separate terminal compartments before synaptic membrane structure is examined.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Confocal images revealed separated microglomerular complexes in the lateral and medial bulbs. Traced TuLAL1 terminals occupied the presynaptic cores, while postsynaptic processes from TL neurons contacted them. Complementary labeling linked cell projections to the local terminal organization.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stains identify an anatomical arrangement for distributing tubercle signals among downstream neurons. Confocal proximity alone cannot resolve every membrane contact, so the authors also used electron microscopy. These structures are a measured substrate for parallel processing, without establishing what exact directional information each complex carries during flight or dancing.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Held M, Berz A, Hensgen R, Muenz TS, Scholl C, Rössler W, Homberg U, Pfeiffer K (2016). Microglomerular Synaptic Complexes in the Sky-Compass Network of the Honeybee Connect Parallel Pathways from the Anterior Optic Tubercle to the Central Complex. Frontiers in Behavioral Neuroscience 10: 186. https://doi.org/10.3389/fnbeh.2016.00186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Held et al. (2016), Fig. 2A–C. Synapsin and actin identify bulb microglomeruli.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https://doi.org/10.3389/fnbeh.2016.00186</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Held and colleagues used transmission electron microscopy to examine honeybee bulb complexes at membrane resolution. Large TuLAL1 terminals contained vesicles and multiple presynaptic specializations facing smaller profiles. Vesicles are membrane-bound structures that store releasable signaling molecules.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Dyadic and tetradic count the postsynaptic profiles at a single specialization. They do not imply that the entire presynaptic neuron has only two or four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identified dyadic and tetradic contacts, where one presynaptic specialization faced two or four postsynaptic profiles. GABA immunostaining associated downstream TL neurons with an inhibitory transmitter phenotype. These observations constrain connectivity more directly than a light-microscopy overlap.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Synaptic morphology establishes physical contacts, and transmitter staining supports a candidate sign of downstream signaling. Neither observation identifies all postsynaptic receptors or the activity-dependent effect on a navigation computation. A GABA-associated projection is not sufficient evidence for a specific chloride-channel mechanism at every terminal in the network.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Held M, Berz A, Hensgen R, Muenz TS, Scholl C, Rössler W, Homberg U, Pfeiffer K (2016). Microglomerular Synaptic Complexes in the Sky-Compass Network of the Honeybee Connect Parallel Pathways from the Anterior Optic Tubercle to the Central Complex. Frontiers in Behavioral Neuroscience 10: 186. https://doi.org/10.3389/fnbeh.2016.00186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Held et al. (2016), Fig. 7A,B. Dyadic and tetradic synapses in bulb complexes.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https://doi.org/10.3389/fnbeh.2016.00186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Held et al. (2016), Fig. 5A–C. GABA-positive tangential-neuron terminals.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https://doi.org/10.3389/fnbeh.2016.00186</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Greggers and colleagues recorded electric fields around dancing bees and measured antennal movements during controlled electrical stimulation. Charged bodies can exert forces on nearby charged structures; detecting such a force does not require a dedicated electric-field receptor.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moving flagellum can stimulate the same mechanical sensory apparatus through different physical causes. The published anatomical panel locates the organ and the afferent route into the brain.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isolated wing oscillating at 40 Hz, 2 mm from the head, evoked larger flagellar movements when charge was preserved rather than discharged. Laser Doppler measurements quantified these movements. Johnston’s organ, a mechanosensory organ in the antennal pedicel, responded to field-induced movement. The flagellum is the distal antennal segment, and the pedicel is its supporting joint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resulting sequence is an electric force, antennal displacement and activation of movement-sensitive sensory neurons. This supports a mechanical route for field detection. It does not establish that electric fields are necessary for natural dance decoding or identify the mechanotransduction channel converting movement into receptor current.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Greggers U, Koch G, Schmidt V, Dürr A, Floriou-Servou A, Piepenbrock D, Göpfert MC, Menzel R (2013). Reception and learning of electric fields in bees. Proceedings of the Royal Society B: Biological Sciences 280(1759): 20130528. https://doi.org/10.1098/rspb.2013.0528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Kumaraswamy A, Ai H, Kai K, Ikeno H, Wachtler T (2019). Adaptations during Maturation in an Identified Honeybee Interneuron Responsive to Waggle Dance Vibration Signals. eNeuro 6(5): ENEURO.0454-18.2019. https://doi.org/10.1523/eneuro.0454-18.2019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Greggers et al. (2013), Fig. 3a,b and Fig. 4. Field-induced flagellar motion and Johnston-organ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https://doi.org/10.1098/rspb.2013.0528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Kumaraswamy et al. (2019), Fig. 1a–c. Antennal input, mechanosensory neuropils and DL-Int-1.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https://doi.org/10.1523/eneuro.0454-18.2019</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9" name="Google Shape;529;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Greggers and colleagues paired an electric-field stimulus with sucrose and tested the conditioned proboscis extension response. Uncharged material or an inactive stimulus source served as the unrewarded comparison. Bees learned both constant fields and modulated stimulation at 60 Hz.</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Treating bees after conditioning separates sensory access at test from initial acquisition. Surface coating and joint restriction are different interventions and should not be treated as identical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learning, removing antennae eliminated the learned field response. Wax treatments that restricted antennal joints strongly reduced it; coating surfaces while retaining movement produced a less marked reduction. Learned responses to electric cues were also retained after 24 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 pattern supports a contribution from antennal mechanoreception, including receptors associated with both joints. It does not isolate Johnston’s organ as the sole sensor or exclude every contribution from antennal surface hairs. The conditioning demonstrates a usable cue under controlled conditions, rather than its exclusive or necessary role in a crowded hive.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Greggers U, Koch G, Schmidt V, Dürr A, Floriou-Servou A, Piepenbrock D, Göpfert MC, Menzel R (2013). Reception and learning of electric fields in bees. Proceedings of the Royal Society B: Biological Sciences 280(1759): 20130528. https://doi.org/10.1098/rspb.2013.0528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Kumaraswamy A, Ai H, Kai K, Ikeno H, Wachtler T (2019). Adaptations during Maturation in an Identified Honeybee Interneuron Responsive to Waggle Dance Vibration Signals. eNeuro 6(5): ENEURO.0454-18.2019. https://doi.org/10.1523/eneuro.0454-18.2019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Greggers et al. (2013), Fig. 7a–c. Associative learning after antennal interventions.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https://doi.org/10.1098/rspb.2013.0528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Kumaraswamy et al. (2019), Fig. 1a–c. Antennal input, mechanosensory neuropils and DL-Int-1.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https://doi.org/10.1523/eneuro.0454-18.2019</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Ai and colleagues recorded intracellularly from identified honeybee interneurons while a mechanical stimulator vibrated the antennal flagellum. DL-Int-1 branches in the dorsal lobe and related mechanosensory tissue. Dye filling and anti-GABA staining associated this cell type with a GABAergic phenotype.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Intracellular recording measures voltage changes and spikes in the same identified neuron. Suppression of this GABA-positive cell is different from evidence that its output inhibits a specific downstream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stimulus carrier was 265 Hz, within the wing-vibration range relevant to waggle dancing. Pulse trains with durations up to 16 ms and intervals up to 33 ms suppressed DL-Int-1 firing below its spontaneous level. Longer 100 ms intervals allowed intermittent spikes during the train.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response distinguishes closely spaced vibration pulses from more widely spaced events. Antibody controls supported label specificity, but GABA staining does not prove a particular inhibitory connection to another named neuron. The cellular recording establishes temporal filtering without identifying the receptor or ion channel that generates the observed inhibitory potentials.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Ai H, Kai K, Kumaraswamy A, Ikeno H, Wachtler T (2017). Interneurons in the Honeybee Primary Auditory Center Responding to Waggle Dance-Like Vibration Pulses. The Journal of Neuroscience 37(44): 10624-10635. https://doi.org/10.1523/jneurosci.0044-17.2017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Ai et al. (2017), Fig. 3A–D. DL-Int-1 responses to pulse duration and interval.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https://doi.org/10.1523/jneurosci.0044-17.2017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Ai et al. (2017), Fig. 2A–E. DL-Int-1 morphology and GABA immunoreactivity.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https://doi.org/10.1523/jneurosci.0044-17.2017</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 name="Google Shape;559;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Ai and colleagues found a different response in DL-Int-2, another identified interneuron in the primary mechanosensory processing region. Its soma did not coincide with the anti-GABA labeling observed for DL-Int-1; this negative label does not by itself identify its transmitter.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stimulus envelope and the carrier are different quantities. A 265 Hz vibration inside repeated pulses is not equivalent to a 265 Hz rate of whole waggle runs.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a 265 Hz carrier, trains with 16 ms pulses and 33 ms intervals evoked an initial excitation followed by maintained excitation. In contrast, DL-Int-1 was suppressed during comparable short-interval stimulation. Tonic activity is sustained activity during a stimulus, whereas phasic activity is concentrated near a change such as onset.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contrasting responses could allow pulse-train duration to influence downstream signaling. A proposed inhibitory relationship between the two cell types was supported by modeling and morphology, not by direct synaptic measurement. The recorded excitation must therefore be distinguished from a proven circuit for decoding advertised distance.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Ai H, Kai K, Kumaraswamy A, Ikeno H, Wachtler T (2017). Interneurons in the Honeybee Primary Auditory Center Responding to Waggle Dance-Like Vibration Pulses. The Journal of Neuroscience 37(44): 10624-10635. https://doi.org/10.1523/jneurosci.0044-17.2017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Ai et al. (2017), Fig. 4A,B. DL-Int-2 excitation during vibration pulse trains.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https://doi.org/10.1523/jneurosci.0044-17.2017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Ai et al. (2017), Fig. 2F–J. DL-Int-2 morphology and transmitter-label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https://doi.org/10.1523/jneurosci.0044-17.2017</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Kumaraswamy and colleagues compared DL-Int-1 in newly emerged workers aged 1–3 days with foragers older than 10 days. The preparation combined intracellular recording with dye-filled morphology, allowing cell identity to be retained across the age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Young bees had been maintained in cages, while foragers had natural behavioral experience. That group difference limits any claim that age alone or dance experience alone caused the response changes.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Gross arborization extent was similar between groups, but branch density differed in selected regions. Foragers’ responses showed a stronger contrast between spontaneous activity and vibration-evoked inhibition, giving the stimulus a more distinct temporal signature. The original reconstructions and response distributions document different levels of analysis.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Maturation can change signal processing without replacing a neuron’s overall projection pattern. Age and experience were not independently manipulated, however, so the differences cannot be assigned exclusively to dance learning. The comparison establishes developmental association rather than the cellular cause of an acquired navigational skill.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Kumaraswamy A, Ai H, Kai K, Ikeno H, Wachtler T (2019). Adaptations during Maturation in an Identified Honeybee Interneuron Responsive to Waggle Dance Vibration Signals. eNeuro 6(5): ENEURO.0454-18.2019. https://doi.org/10.1523/eneuro.0454-18.2019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Kumaraswamy et al. (2019), Fig. 5a–d. Neuronal response distributions in young bees and foragers.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https://doi.org/10.1523/eneuro.0454-18.2019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Kumaraswamy et al. (2019), Fig. 3a,b. Reconstructed DL-Int-1 arborizations during maturation.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https://doi.org/10.1523/eneuro.0454-18.2019</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Dong and colleagues created colonies of newly emerged workers with no experienced dancers and compared them with mixed-age colonies. Individually marked bees first danced for a feeder 150 m away; the same bees were tested again 20 days later.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Directional divergence measures variation among waggle runs, not necessarily a systematic bias in the average advertised compass bearing. Those two kinds of error have different consequences for followers.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Bees that could not follow experienced dancers before their first dance produced larger waggle-angle divergence and more disordered movements. Their directional precision improved by the later test. First dances in mixed-age colonies were already more precise, separating early social exposure from the act of merely performing a 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social contributions to dance development alongside an inherited behavioral pattern. Later improvement could reflect age, flight practice, following experience or their combination. Colony composition changes several experiences together, so the study does not isolate a single teaching interaction or a synaptic learning rule.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Dong et al. (2023), Fig. 1B. Directional divergence before and after dance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https://doi.org/10.1126/science.ade1702</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2" name="Google Shape;602;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 Dong and colleagues’ 150 m feeder preparation, naive first dancers produced longer waggle runs and more waggles per run than first dancers from mixed-age colonies. The altered timing advertised a greater distance despite the common food location.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feeder remained at the same distance for the group comparison. An improved return flight and a persistently long dance signal cannot be collapsed into one general measure of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Twenty days later, the previously naive bees still produced the elevated distance signal. Their return-flight times had improved, and their directional precision had recovered, but the distance difference remained. The persistence separates distance calibration from changes that become more normal with later foraging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Social experience therefore influences different components of the dance differently. Persistence through the measured adult interval supports a lasting calibration effect; it is not a longitudinal measurement of every future dance throughout a bee’s life. The experiment does not identify the sensory or neural mechanism storing that early calibration.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Dong et al. (2023), Fig. 2. Dance distance signals and return flights over time.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https://doi.org/10.1126/science.ade1702</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Wang and colleagues tracked dance followers released either at the hive or at displaced sites within an explored landscape. The recruits had never visited the advertised food source. Harmonic radar sampled flight positions every 3 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virtual endpoint is a predicted destination from an origin-dependent instruction, not a second feeder presented to the bee. The real and virtual alternatives distinguish later source-directed search from continuing the displaced vector.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groups first flew approximately the communicated vector. During later search, displaced recruits directed more behavior toward the real feeder location than toward the virtual endpoint obtained by executing that vector from the wrong origin. Search could therefore incorporate landscape knowledge acquired before the recruitment event.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interpreted this behavior as inference of source location using map-like spatial knowledge. It does not directly record a neural map, and familiar visual guidance must be distinguished from a purely metric representation. The contrast with Riley’s sparse-terrain experiment emphasizes the separate contributions of initial vector flight and subsequent search.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Wang Z, Chen X, Becker F, Greggers U, Walter S, Werner M, Gallistel CR, Menzel R (2023). Honey bees infer source location from the dances of returning foragers. Proceedings of the National Academy of Sciences 120(12): e2213068120. https://doi.org/10.1073/pnas.2213068120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Wang et al. (2023), Fig. 4. Search distributions relative to real and virtual feeders.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https://doi.org/10.1073/pnas.2213068120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Wang et al. (2023), Fig. 1A–C. Experimental landscape and radar trajectories.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https://doi.org/10.1073/pnas.2213068120</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Dance vectors. Waggle-run angle specifies direction relative to the sun; duration specifies a visually calibrated distance from the hive. Vector flight and terminal source search are distinct.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Visual odometry. Optic flow changes dance duration and recruit search distance. Tunnel texture and natural terrain prevent a universal conversion from duration to physical meters.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Time compensation. Bees refine the local solar course through experience. Circadian phase disruption causes sun-compass errors whose direction depends on hemisphere.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Compass pathways. Ultraviolet-sensitive dorsal-rim input reaches the medulla, optic tubercle, bulbs and central body. Tracing establishes anatomy; candidate timing contacts require functional tests.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Dance-signal processing. Antennal movement activates mechanosensory pathways. Identified interneurons filter vibration pulse trains, but their proposed inhibitory connections and distance-decoding role are not fully established.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Experience and search. Early social experience affects dance precision and lasting distance calibration. Familiar landscape knowledge can influence later search without replacing the initial dance vector.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von Frisch K, Lindauer M (1954). Himmel und Erde in Konkurrenz bei der Orientierung der Bienen. Die Naturwissenschaften 41(11): 245-253. https://doi.org/10.1007/bf00634944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Esch HE, Zhang S, Srinivasan MV, Tautz J (2001). Honeybee dances communicate distances measured by optic flow. Nature 411(6837): 581-583. https://doi.org/10.1038/35079072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Cheeseman JF, Winnebeck EC, Millar CD, Kirkland LS, Sleigh J, Goodwin M, Pawley MDM, Bloch G, Lehmann K, Menzel R, Warman GR (2012). General anesthesia alters time perception by phase shifting the circadian clock. Proceedings of the National Academy of Sciences 109(18): 7061-7066. https://doi.org/10.1073/pnas.1201734109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Wang Z, Chen X, Becker F, Greggers U, Walter S, Werner M, Gallistel CR, Menzel R (2023). Honey bees infer source location from the dances of returning foragers. Proceedings of the National Academy of Sciences 120(12): e2213068120. https://doi.org/10.1073/pnas.2213068120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Greggers U, Koch G, Schmidt V, Dürr A, Floriou-Servou A, Piepenbrock D, Göpfert MC, Menzel R (2013). Reception and learning of electric fields in bees. Proceedings of the Royal Society B: Biological Sciences 280(1759): 20130528. https://doi.org/10.1098/rspb.2013.0528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Kumaraswamy A, Ai H, Kai K, Ikeno H, Wachtler T (2019). Adaptations during Maturation in an Identified Honeybee Interneuron Responsive to Waggle Dance Vibration Signals. eNeuro 6(5): ENEURO.0454-18.2019. https://doi.org/10.1523/eneuro.0454-18.2019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Held M, Berz A, Hensgen R, Muenz TS, Scholl C, Rössler W, Homberg U, Pfeiffer K (2016). Microglomerular Synaptic Complexes in the Sky-Compass Network of the Honeybee Connect Parallel Pathways from the Anterior Optic Tubercle to the Central Complex. Frontiers in Behavioral Neuroscience 10: 186. https://doi.org/10.3389/fnbeh.2016.00186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 M, Okada R, Aonuma H (2012). Evidence for instantaneous e-vector detection in the honeybee using an associative learning paradigm. Proceedings of the Royal Society B: Biological Sciences 279(1728): 535-542. https://doi.org/10.1098/rspb.2011.0929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Evangelista C, Kraft P, Dacke M, Labhart T, Srinivasan MV (2014). Honeybee navigation: critically examining the role of the polarization compass. Philosophical Transactions of the Royal Society B: Biological Sciences 369(1636): 20130037. https://doi.org/10.1098/rstb.2013.0037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Kraft P, Evangelista C, Dacke M, Labhart T, Srinivasan MV (2011). Honeybee navigation: following routes using polarized-light cues. Philosophical Transactions of the Royal Society B: Biological Sciences 366(1565): 703-708. https://doi.org/10.1098/rstb.2010.0203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Dyer FC, Dickinson JA (1994). Development of sun compensation by honeybees: how partially experienced bees estimate the sun's course. Proceedings of the National Academy of Sciences 91(10): 4471-4474. https://doi.org/10.1073/pnas.91.10.4471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Tautz J, Zhang S, Spaethe J, Brockmann A, Si A, Srinivasan M (2004). Honeybee Odometry: Performance in Varying Natural Terrain. PLoS Biology 2(7): e211. https://doi.org/10.1371/journal.pbio.0020211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Ai H, Kai K, Kumaraswamy A, Ikeno H, Wachtler T (2017). Interneurons in the Honeybee Primary Auditory Center Responding to Waggle Dance-Like Vibration Pulses. The Journal of Neuroscience 37(44): 10624-10635. https://doi.org/10.1523/jneurosci.0044-17.2017</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7.png"/><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2.png"/><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8.pn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5.png"/><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3.png"/><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9.png"/><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D9D2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51C75"/>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B3747"/>
              </a:buClr>
              <a:buSzPts val="1200"/>
              <a:buFont typeface="Arial"/>
              <a:buNone/>
            </a:pPr>
            <a:r>
              <a:rPr b="0" i="0" lang="en-US" sz="1200">
                <a:solidFill>
                  <a:srgbClr val="351C75"/>
                </a:solidFill>
                <a:latin typeface="Arial"/>
                <a:ea typeface="Arial"/>
                <a:cs typeface="Arial"/>
                <a:sym typeface="Arial"/>
              </a:rPr>
              <a:t>NEUR 411 · NEUROETHOLOGY · FALL 2026</a:t>
            </a:r>
            <a:endParaRPr sz="1800">
              <a:solidFill>
                <a:srgbClr val="351C75"/>
              </a:solidFill>
              <a:latin typeface="Calibri"/>
              <a:ea typeface="Calibri"/>
              <a:cs typeface="Calibri"/>
              <a:sym typeface="Calibri"/>
            </a:endParaRPr>
          </a:p>
        </p:txBody>
      </p:sp>
      <p:sp>
        <p:nvSpPr>
          <p:cNvPr id="21" name="Google Shape;21;p1"/>
          <p:cNvSpPr/>
          <p:nvPr/>
        </p:nvSpPr>
        <p:spPr>
          <a:xfrm>
            <a:off x="685800" y="1782961"/>
            <a:ext cx="4743450" cy="24675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B3747"/>
              </a:buClr>
              <a:buSzPts val="1800"/>
              <a:buFont typeface="Arial"/>
              <a:buNone/>
            </a:pPr>
            <a:r>
              <a:rPr b="0" i="0" lang="en-US" sz="1800">
                <a:solidFill>
                  <a:srgbClr val="351C75"/>
                </a:solidFill>
                <a:latin typeface="Arial"/>
                <a:ea typeface="Arial"/>
                <a:cs typeface="Arial"/>
                <a:sym typeface="Arial"/>
              </a:rPr>
              <a:t>Lecture 29</a:t>
            </a:r>
            <a:endParaRPr sz="1800">
              <a:solidFill>
                <a:srgbClr val="351C75"/>
              </a:solidFill>
              <a:latin typeface="Calibri"/>
              <a:ea typeface="Calibri"/>
              <a:cs typeface="Calibri"/>
              <a:sym typeface="Calibri"/>
            </a:endParaRPr>
          </a:p>
        </p:txBody>
      </p:sp>
      <p:sp>
        <p:nvSpPr>
          <p:cNvPr id="22" name="Google Shape;22;p1"/>
          <p:cNvSpPr/>
          <p:nvPr/>
        </p:nvSpPr>
        <p:spPr>
          <a:xfrm>
            <a:off x="685800" y="2331690"/>
            <a:ext cx="4743450" cy="1371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B4149"/>
              </a:buClr>
              <a:buSzPts val="2500"/>
              <a:buFont typeface="Arial"/>
              <a:buNone/>
            </a:pPr>
            <a:r>
              <a:rPr b="1" i="0" lang="en-US" sz="2500">
                <a:solidFill>
                  <a:schemeClr val="dk1"/>
                </a:solidFill>
                <a:latin typeface="Arial"/>
                <a:ea typeface="Arial"/>
                <a:cs typeface="Arial"/>
                <a:sym typeface="Arial"/>
              </a:rPr>
              <a:t>Navigation II: honeybee waggle dance and sun-compass navigation (von Frisch)</a:t>
            </a:r>
            <a:endParaRPr sz="1800">
              <a:solidFill>
                <a:schemeClr val="dk1"/>
              </a:solidFill>
              <a:latin typeface="Calibri"/>
              <a:ea typeface="Calibri"/>
              <a:cs typeface="Calibri"/>
              <a:sym typeface="Calibri"/>
            </a:endParaRPr>
          </a:p>
        </p:txBody>
      </p:sp>
      <p:sp>
        <p:nvSpPr>
          <p:cNvPr id="23" name="Google Shape;23;p1"/>
          <p:cNvSpPr/>
          <p:nvPr/>
        </p:nvSpPr>
        <p:spPr>
          <a:xfrm>
            <a:off x="685800" y="4749552"/>
            <a:ext cx="4743450" cy="21937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B3747"/>
              </a:buClr>
              <a:buSzPts val="1600"/>
              <a:buFont typeface="Arial"/>
              <a:buNone/>
            </a:pPr>
            <a:r>
              <a:rPr b="0" i="0" lang="en-US" sz="1600">
                <a:solidFill>
                  <a:srgbClr val="351C75"/>
                </a:solidFill>
                <a:latin typeface="Arial"/>
                <a:ea typeface="Arial"/>
                <a:cs typeface="Arial"/>
                <a:sym typeface="Arial"/>
              </a:rPr>
              <a:t>Monday, November 2, 2026</a:t>
            </a:r>
            <a:endParaRPr sz="1800">
              <a:solidFill>
                <a:srgbClr val="351C75"/>
              </a:solidFill>
              <a:latin typeface="Calibri"/>
              <a:ea typeface="Calibri"/>
              <a:cs typeface="Calibri"/>
              <a:sym typeface="Calibri"/>
            </a:endParaRPr>
          </a:p>
        </p:txBody>
      </p:sp>
      <p:sp>
        <p:nvSpPr>
          <p:cNvPr id="24" name="Google Shape;24;p1"/>
          <p:cNvSpPr/>
          <p:nvPr/>
        </p:nvSpPr>
        <p:spPr>
          <a:xfrm>
            <a:off x="685800" y="5435352"/>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B3747"/>
              </a:buClr>
              <a:buSzPts val="1200"/>
              <a:buFont typeface="Arial"/>
              <a:buNone/>
            </a:pPr>
            <a:r>
              <a:rPr b="0" i="0" lang="en-US" sz="1200">
                <a:solidFill>
                  <a:srgbClr val="351C75"/>
                </a:solidFill>
                <a:latin typeface="Arial"/>
                <a:ea typeface="Arial"/>
                <a:cs typeface="Arial"/>
                <a:sym typeface="Arial"/>
              </a:rPr>
              <a:t>Jordan Lopez, Ph.D.</a:t>
            </a:r>
            <a:endParaRPr sz="1800">
              <a:solidFill>
                <a:srgbClr val="351C75"/>
              </a:solidFill>
              <a:latin typeface="Calibri"/>
              <a:ea typeface="Calibri"/>
              <a:cs typeface="Calibri"/>
              <a:sym typeface="Calibri"/>
            </a:endParaRPr>
          </a:p>
        </p:txBody>
      </p:sp>
      <p:sp>
        <p:nvSpPr>
          <p:cNvPr id="25" name="Google Shape;25;p1"/>
          <p:cNvSpPr/>
          <p:nvPr/>
        </p:nvSpPr>
        <p:spPr>
          <a:xfrm>
            <a:off x="685800" y="5625108"/>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B3747"/>
              </a:buClr>
              <a:buSzPts val="1200"/>
              <a:buFont typeface="Arial"/>
              <a:buNone/>
            </a:pPr>
            <a:r>
              <a:rPr b="0" i="0" lang="en-US" sz="1200">
                <a:solidFill>
                  <a:srgbClr val="351C75"/>
                </a:solidFill>
                <a:latin typeface="Arial"/>
                <a:ea typeface="Arial"/>
                <a:cs typeface="Arial"/>
                <a:sym typeface="Arial"/>
              </a:rPr>
              <a:t>Professor of Neurobiology &amp; Biomedical Engineering</a:t>
            </a:r>
            <a:endParaRPr sz="1800">
              <a:solidFill>
                <a:srgbClr val="351C75"/>
              </a:solidFill>
              <a:latin typeface="Calibri"/>
              <a:ea typeface="Calibri"/>
              <a:cs typeface="Calibri"/>
              <a:sym typeface="Calibri"/>
            </a:endParaRPr>
          </a:p>
        </p:txBody>
      </p:sp>
      <p:pic>
        <p:nvPicPr>
          <p:cNvPr id="26" name="Google Shape;26;p1" title="Screenshot 2026-10-08 at 3.30.21 PM.png"/>
          <p:cNvPicPr preferRelativeResize="0"/>
          <p:nvPr/>
        </p:nvPicPr>
        <p:blipFill>
          <a:blip r:embed="rId3">
            <a:alphaModFix/>
          </a:blip>
          <a:stretch>
            <a:fillRect/>
          </a:stretch>
        </p:blipFill>
        <p:spPr>
          <a:xfrm>
            <a:off x="6840375" y="1225548"/>
            <a:ext cx="4626300" cy="3852451"/>
          </a:xfrm>
          <a:prstGeom prst="rect">
            <a:avLst/>
          </a:prstGeom>
          <a:noFill/>
          <a:ln>
            <a:noFill/>
          </a:ln>
        </p:spPr>
      </p:pic>
      <p:sp>
        <p:nvSpPr>
          <p:cNvPr id="27" name="Google Shape;27;p1"/>
          <p:cNvSpPr txBox="1"/>
          <p:nvPr/>
        </p:nvSpPr>
        <p:spPr>
          <a:xfrm>
            <a:off x="6840375" y="5265125"/>
            <a:ext cx="4626300" cy="504900"/>
          </a:xfrm>
          <a:prstGeom prst="rect">
            <a:avLst/>
          </a:prstGeom>
          <a:noFill/>
          <a:ln>
            <a:noFill/>
          </a:ln>
        </p:spPr>
        <p:txBody>
          <a:bodyPr anchorCtr="0" anchor="t" bIns="91425" lIns="91425" spcFirstLastPara="1" rIns="91425" wrap="square" tIns="91425">
            <a:spAutoFit/>
          </a:bodyPr>
          <a:lstStyle/>
          <a:p>
            <a:pPr indent="0" lvl="0" marL="0" rtl="0" algn="l">
              <a:lnSpc>
                <a:spcPct val="108000"/>
              </a:lnSpc>
              <a:spcBef>
                <a:spcPts val="0"/>
              </a:spcBef>
              <a:spcAft>
                <a:spcPts val="0"/>
              </a:spcAft>
              <a:buNone/>
            </a:pPr>
            <a:r>
              <a:rPr lang="en-US" sz="1000">
                <a:solidFill>
                  <a:srgbClr val="606B76"/>
                </a:solidFill>
              </a:rPr>
              <a:t>Photo: Honeybee (</a:t>
            </a:r>
            <a:r>
              <a:rPr i="1" lang="en-US" sz="1000">
                <a:solidFill>
                  <a:srgbClr val="606B76"/>
                </a:solidFill>
              </a:rPr>
              <a:t>Apis mellifera</a:t>
            </a:r>
            <a:r>
              <a:rPr lang="en-US" sz="1000">
                <a:solidFill>
                  <a:srgbClr val="606B76"/>
                </a:solidFill>
              </a:rPr>
              <a:t>), the classic species for waggle-dance and sun-compass navigation studies.</a:t>
            </a:r>
            <a:endParaRPr sz="1300">
              <a:solidFill>
                <a:srgbClr val="606B7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waggle run encodes a resource vector</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Foragers of </a:t>
            </a:r>
            <a:r>
              <a:rPr b="0" i="1" lang="en-US" sz="1600">
                <a:solidFill>
                  <a:srgbClr val="252B32"/>
                </a:solidFill>
                <a:latin typeface="Arial"/>
                <a:ea typeface="Arial"/>
                <a:cs typeface="Arial"/>
                <a:sym typeface="Arial"/>
              </a:rPr>
              <a:t>Apis mellifera</a:t>
            </a:r>
            <a:r>
              <a:rPr b="0" i="0" lang="en-US" sz="1600">
                <a:solidFill>
                  <a:srgbClr val="252B32"/>
                </a:solidFill>
                <a:latin typeface="Arial"/>
                <a:ea typeface="Arial"/>
                <a:cs typeface="Arial"/>
                <a:sym typeface="Arial"/>
              </a:rPr>
              <a:t> communicate a resource location through the </a:t>
            </a:r>
            <a:r>
              <a:rPr b="1" i="0" lang="en-US" sz="1600">
                <a:solidFill>
                  <a:srgbClr val="3F5063"/>
                </a:solidFill>
                <a:latin typeface="Arial"/>
                <a:ea typeface="Arial"/>
                <a:cs typeface="Arial"/>
                <a:sym typeface="Arial"/>
              </a:rPr>
              <a:t>waggle dance</a:t>
            </a:r>
            <a:r>
              <a:rPr b="0" i="0" lang="en-US" sz="1600">
                <a:solidFill>
                  <a:srgbClr val="252B32"/>
                </a:solidFill>
                <a:latin typeface="Arial"/>
                <a:ea typeface="Arial"/>
                <a:cs typeface="Arial"/>
                <a:sym typeface="Arial"/>
              </a:rPr>
              <a:t>, repeated movements on the comb that contain a straight abdominal-wagging run and alternating return loops. A </a:t>
            </a:r>
            <a:r>
              <a:rPr b="1" i="0" lang="en-US" sz="1600">
                <a:solidFill>
                  <a:srgbClr val="3F5063"/>
                </a:solidFill>
                <a:latin typeface="Arial"/>
                <a:ea typeface="Arial"/>
                <a:cs typeface="Arial"/>
                <a:sym typeface="Arial"/>
              </a:rPr>
              <a:t>vector</a:t>
            </a:r>
            <a:r>
              <a:rPr b="0" i="0" lang="en-US" sz="1600">
                <a:solidFill>
                  <a:srgbClr val="252B32"/>
                </a:solidFill>
                <a:latin typeface="Arial"/>
                <a:ea typeface="Arial"/>
                <a:cs typeface="Arial"/>
                <a:sym typeface="Arial"/>
              </a:rPr>
              <a:t> specifies a direction and a distance from an origin; here the origin is the hive.</a:t>
            </a:r>
            <a:endParaRPr sz="1800">
              <a:solidFill>
                <a:schemeClr val="dk1"/>
              </a:solidFill>
              <a:latin typeface="Calibri"/>
              <a:ea typeface="Calibri"/>
              <a:cs typeface="Calibri"/>
              <a:sym typeface="Calibri"/>
            </a:endParaRPr>
          </a:p>
        </p:txBody>
      </p:sp>
      <p:sp>
        <p:nvSpPr>
          <p:cNvPr id="34" name="Google Shape;34;p2"/>
          <p:cNvSpPr/>
          <p:nvPr/>
        </p:nvSpPr>
        <p:spPr>
          <a:xfrm>
            <a:off x="566886" y="2672507"/>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Dong and colleagues filmed individually marked bees visiting a feeder 150 m away. The angle of the waggle run on a vertical comb encoded the food direction relative to the sun, while its duration encoded distance. Attending bees followed the dancer at close range.</a:t>
            </a:r>
            <a:endParaRPr sz="1800">
              <a:solidFill>
                <a:schemeClr val="dk1"/>
              </a:solidFill>
              <a:latin typeface="Calibri"/>
              <a:ea typeface="Calibri"/>
              <a:cs typeface="Calibri"/>
              <a:sym typeface="Calibri"/>
            </a:endParaRPr>
          </a:p>
        </p:txBody>
      </p:sp>
      <p:sp>
        <p:nvSpPr>
          <p:cNvPr id="35" name="Google Shape;35;p2"/>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signal concerns a location outside the hive, rather than merely the dancer’s immediate position. Video measurements establish its spatial and temporal structure; successful communication additionally requires that followers obtain the signal and subsequently choose an appropriate flight. These are distinct experimental questions.</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7948812" y="1280071"/>
            <a:ext cx="2185887" cy="4297561"/>
          </a:xfrm>
          <a:prstGeom prst="rect">
            <a:avLst/>
          </a:prstGeom>
          <a:noFill/>
          <a:ln>
            <a:noFill/>
          </a:ln>
        </p:spPr>
      </p:pic>
      <p:sp>
        <p:nvSpPr>
          <p:cNvPr id="37" name="Google Shape;37;p2"/>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Dong et al. (2023), Fig. 1A. Waggle-run angle, return loops and following bees.</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Dong et al. (2023)</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Gravity supplies the reference inside the dark hive</a:t>
            </a:r>
            <a:endParaRPr sz="1800">
              <a:solidFill>
                <a:schemeClr val="dk1"/>
              </a:solidFill>
              <a:latin typeface="Calibri"/>
              <a:ea typeface="Calibri"/>
              <a:cs typeface="Calibri"/>
              <a:sym typeface="Calibri"/>
            </a:endParaRPr>
          </a:p>
        </p:txBody>
      </p:sp>
      <p:sp>
        <p:nvSpPr>
          <p:cNvPr id="46" name="Google Shape;46;p3"/>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A dancer on a vertical comb uses the upward direction as the reference for the sun. The waggle-run angle relative to vertical represents the resource direction relative to the sun outside. This transformation allows direction to be communicated where the sun itself is unavailable.</a:t>
            </a:r>
            <a:endParaRPr sz="1800">
              <a:solidFill>
                <a:schemeClr val="dk1"/>
              </a:solidFill>
              <a:latin typeface="Calibri"/>
              <a:ea typeface="Calibri"/>
              <a:cs typeface="Calibri"/>
              <a:sym typeface="Calibri"/>
            </a:endParaRPr>
          </a:p>
        </p:txBody>
      </p:sp>
      <p:sp>
        <p:nvSpPr>
          <p:cNvPr id="47" name="Google Shape;47;p3"/>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Dong and colleagues recorded dance angles on the crowded, uneven comb surface. They measured divergence among repeated waggle runs rather than assuming that every run conveyed an identical angle. Bees without experienced dancers produced larger directional divergence in their first dances.</a:t>
            </a:r>
            <a:endParaRPr sz="1800">
              <a:solidFill>
                <a:schemeClr val="dk1"/>
              </a:solidFill>
              <a:latin typeface="Calibri"/>
              <a:ea typeface="Calibri"/>
              <a:cs typeface="Calibri"/>
              <a:sym typeface="Calibri"/>
            </a:endParaRPr>
          </a:p>
        </p:txBody>
      </p:sp>
      <p:sp>
        <p:nvSpPr>
          <p:cNvPr id="48" name="Google Shape;48;p3"/>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Directional encoding therefore has both a reference system and a motor-precision component. A follower must translate the comb-relative angle into a flight direction using celestial information. The video experiment measures the dancer’s output; it does not identify a gravity receptor or the neurons that perform the coordinate transformation.</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7948812" y="1280071"/>
            <a:ext cx="2185887" cy="4297561"/>
          </a:xfrm>
          <a:prstGeom prst="rect">
            <a:avLst/>
          </a:prstGeom>
          <a:noFill/>
          <a:ln>
            <a:noFill/>
          </a:ln>
        </p:spPr>
      </p:pic>
      <p:sp>
        <p:nvSpPr>
          <p:cNvPr id="50" name="Google Shape;50;p3"/>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Dong et al. (2023), Fig. 1A. Waggle-run angle, return loops and following bees.</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Dong et al. (2023)</a:t>
            </a:r>
            <a:endParaRPr sz="1800">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familiar compass bearing survives hive relocation</a:t>
            </a:r>
            <a:endParaRPr sz="1800">
              <a:solidFill>
                <a:schemeClr val="dk1"/>
              </a:solidFill>
              <a:latin typeface="Calibri"/>
              <a:ea typeface="Calibri"/>
              <a:cs typeface="Calibri"/>
              <a:sym typeface="Calibri"/>
            </a:endParaRPr>
          </a:p>
        </p:txBody>
      </p:sp>
      <p:sp>
        <p:nvSpPr>
          <p:cNvPr id="59" name="Google Shape;59;p4"/>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Von Frisch and Lindauer trained marked foragers to a feeding location and then moved the hive into an unfamiliar landscape. In their 1952 displacement experiment, the training feeder was 180 m away in a direction 30° north of west. The bees had learned this route during the afternoon.</a:t>
            </a:r>
            <a:endParaRPr sz="1800">
              <a:solidFill>
                <a:schemeClr val="dk1"/>
              </a:solidFill>
              <a:latin typeface="Calibri"/>
              <a:ea typeface="Calibri"/>
              <a:cs typeface="Calibri"/>
              <a:sym typeface="Calibri"/>
            </a:endParaRPr>
          </a:p>
        </p:txBody>
      </p:sp>
      <p:sp>
        <p:nvSpPr>
          <p:cNvPr id="60" name="Google Shape;60;p4"/>
          <p:cNvSpPr/>
          <p:nvPr/>
        </p:nvSpPr>
        <p:spPr>
          <a:xfrm>
            <a:off x="566886" y="237708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 following morning, equally familiar scented food dishes were available in four directions in the new landscape. Arriving bees were captured immediately, preventing successful visitors from returning and recruiting nestmates. Searches favored the previously trained compass direction despite the changed terrestrial surroundings.</a:t>
            </a:r>
            <a:endParaRPr sz="1800">
              <a:solidFill>
                <a:schemeClr val="dk1"/>
              </a:solidFill>
              <a:latin typeface="Calibri"/>
              <a:ea typeface="Calibri"/>
              <a:cs typeface="Calibri"/>
              <a:sym typeface="Calibri"/>
            </a:endParaRPr>
          </a:p>
        </p:txBody>
      </p:sp>
      <p:sp>
        <p:nvSpPr>
          <p:cNvPr id="61" name="Google Shape;61;p4"/>
          <p:cNvSpPr/>
          <p:nvPr/>
        </p:nvSpPr>
        <p:spPr>
          <a:xfrm>
            <a:off x="566886" y="372546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 result supports compensation for the sun’s movement between afternoon training and morning flight. Across related tests, cloudy conditions could prevent correct orientation when both direct sun and polarized skylight were unavailable. Landmarks and celestial cues can compete; the experiment does not imply that terrestrial information is normally ignored.</a:t>
            </a:r>
            <a:endParaRPr sz="1800">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6458438" y="1280071"/>
            <a:ext cx="5166336" cy="2812256"/>
          </a:xfrm>
          <a:prstGeom prst="rect">
            <a:avLst/>
          </a:prstGeom>
          <a:noFill/>
          <a:ln>
            <a:noFill/>
          </a:ln>
        </p:spPr>
      </p:pic>
      <p:sp>
        <p:nvSpPr>
          <p:cNvPr id="63" name="Google Shape;63;p4"/>
          <p:cNvSpPr/>
          <p:nvPr/>
        </p:nvSpPr>
        <p:spPr>
          <a:xfrm>
            <a:off x="6458396" y="4183856"/>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von Frisch &amp; Lindauer (1954), Fig. 1a,b. Training and unfamiliar release landscapes.</a:t>
            </a:r>
            <a:endParaRPr sz="1800">
              <a:solidFill>
                <a:schemeClr val="dk1"/>
              </a:solidFill>
              <a:latin typeface="Calibri"/>
              <a:ea typeface="Calibri"/>
              <a:cs typeface="Calibri"/>
              <a:sym typeface="Calibri"/>
            </a:endParaRPr>
          </a:p>
        </p:txBody>
      </p:sp>
      <p:sp>
        <p:nvSpPr>
          <p:cNvPr id="64" name="Google Shape;64;p4"/>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von Frisch &amp; Lindauer (1954)</a:t>
            </a:r>
            <a:endParaRPr sz="1800">
              <a:solidFill>
                <a:schemeClr val="dk1"/>
              </a:solidFill>
              <a:latin typeface="Calibri"/>
              <a:ea typeface="Calibri"/>
              <a:cs typeface="Calibri"/>
              <a:sym typeface="Calibri"/>
            </a:endParaRPr>
          </a:p>
        </p:txBody>
      </p:sp>
      <p:sp>
        <p:nvSpPr>
          <p:cNvPr id="66" name="Google Shape;66;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Recruits initially fly the direction advertised in dances</a:t>
            </a:r>
            <a:endParaRPr sz="1800">
              <a:solidFill>
                <a:schemeClr val="dk1"/>
              </a:solidFill>
              <a:latin typeface="Calibri"/>
              <a:ea typeface="Calibri"/>
              <a:cs typeface="Calibri"/>
              <a:sym typeface="Calibri"/>
            </a:endParaRPr>
          </a:p>
        </p:txBody>
      </p:sp>
      <p:sp>
        <p:nvSpPr>
          <p:cNvPr id="72" name="Google Shape;72;p5"/>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Riley and colleagues tracked bees that had followed dances advertising an unscented feeder 200 m east of the hive. A </a:t>
            </a:r>
            <a:r>
              <a:rPr b="1" i="0" lang="en-US" sz="1600">
                <a:solidFill>
                  <a:srgbClr val="3F5063"/>
                </a:solidFill>
                <a:latin typeface="Arial"/>
                <a:ea typeface="Arial"/>
                <a:cs typeface="Arial"/>
                <a:sym typeface="Arial"/>
              </a:rPr>
              <a:t>harmonic radar</a:t>
            </a:r>
            <a:r>
              <a:rPr b="0" i="0" lang="en-US" sz="1600">
                <a:solidFill>
                  <a:srgbClr val="252B32"/>
                </a:solidFill>
                <a:latin typeface="Arial"/>
                <a:ea typeface="Arial"/>
                <a:cs typeface="Arial"/>
                <a:sym typeface="Arial"/>
              </a:rPr>
              <a:t> detects a small transponder carried by the bee, allowing a trajectory to be measured outside the observation hive.</a:t>
            </a:r>
            <a:endParaRPr sz="1800">
              <a:solidFill>
                <a:schemeClr val="dk1"/>
              </a:solidFill>
              <a:latin typeface="Calibri"/>
              <a:ea typeface="Calibri"/>
              <a:cs typeface="Calibri"/>
              <a:sym typeface="Calibri"/>
            </a:endParaRPr>
          </a:p>
        </p:txBody>
      </p:sp>
      <p:sp>
        <p:nvSpPr>
          <p:cNvPr id="73" name="Google Shape;73;p5"/>
          <p:cNvSpPr/>
          <p:nvPr/>
        </p:nvSpPr>
        <p:spPr>
          <a:xfrm>
            <a:off x="566886" y="2453134"/>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Recruits released at the hive generally flew an initially straight, eastward route. Their straight-flight sections averaged 206 m before searching began. Radar positions were acquired every 3 s, permitting a separation between directed travel and more tortuous search behavior.</a:t>
            </a:r>
            <a:endParaRPr sz="1800">
              <a:solidFill>
                <a:schemeClr val="dk1"/>
              </a:solidFill>
              <a:latin typeface="Calibri"/>
              <a:ea typeface="Calibri"/>
              <a:cs typeface="Calibri"/>
              <a:sym typeface="Calibri"/>
            </a:endParaRPr>
          </a:p>
        </p:txBody>
      </p:sp>
      <p:sp>
        <p:nvSpPr>
          <p:cNvPr id="74" name="Google Shape;74;p5"/>
          <p:cNvSpPr/>
          <p:nvPr/>
        </p:nvSpPr>
        <p:spPr>
          <a:xfrm>
            <a:off x="566886" y="3671888"/>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recruits had not previously visited the advertised feeder. The unscented feeding site and the experimental wind direction reduced the possibility of direct odor guidance from the destination. The trajectory supports acquisition of a flight vector from the dance, although radar cannot reveal which sensory components a follower used while attending the dancer.</a:t>
            </a:r>
            <a:endParaRPr sz="1800">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3">
            <a:alphaModFix/>
          </a:blip>
          <a:srcRect b="0" l="0" r="0" t="0"/>
          <a:stretch/>
        </p:blipFill>
        <p:spPr>
          <a:xfrm>
            <a:off x="6458509" y="1280071"/>
            <a:ext cx="5166194" cy="3256062"/>
          </a:xfrm>
          <a:prstGeom prst="rect">
            <a:avLst/>
          </a:prstGeom>
          <a:noFill/>
          <a:ln>
            <a:noFill/>
          </a:ln>
        </p:spPr>
      </p:pic>
      <p:sp>
        <p:nvSpPr>
          <p:cNvPr id="76" name="Google Shape;76;p5"/>
          <p:cNvSpPr/>
          <p:nvPr/>
        </p:nvSpPr>
        <p:spPr>
          <a:xfrm>
            <a:off x="6458396" y="4627662"/>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Riley et al. (2005), Fig. 1. Tracks from hive and displaced release points.</a:t>
            </a:r>
            <a:endParaRPr sz="1800">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a:t>
            </a:r>
            <a:endParaRPr sz="1800">
              <a:solidFill>
                <a:schemeClr val="dk1"/>
              </a:solidFill>
              <a:latin typeface="Calibri"/>
              <a:ea typeface="Calibri"/>
              <a:cs typeface="Calibri"/>
              <a:sym typeface="Calibri"/>
            </a:endParaRPr>
          </a:p>
        </p:txBody>
      </p:sp>
      <p:sp>
        <p:nvSpPr>
          <p:cNvPr id="79" name="Google Shape;79;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Displaced recruits retain a hive-centered flight vector</a:t>
            </a:r>
            <a:endParaRPr sz="1800">
              <a:solidFill>
                <a:schemeClr val="dk1"/>
              </a:solidFill>
              <a:latin typeface="Calibri"/>
              <a:ea typeface="Calibri"/>
              <a:cs typeface="Calibri"/>
              <a:sym typeface="Calibri"/>
            </a:endParaRPr>
          </a:p>
        </p:txBody>
      </p:sp>
      <p:sp>
        <p:nvSpPr>
          <p:cNvPr id="85" name="Google Shape;85;p6"/>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Riley and colleagues captured dance followers at the hive and released them 200–250 m southwest of it. This manipulation preserved the communicated instruction but changed the point from which the recruit began its flight. The real feeder was no longer 200 m east of the release point.</a:t>
            </a:r>
            <a:endParaRPr sz="1800">
              <a:solidFill>
                <a:schemeClr val="dk1"/>
              </a:solidFill>
              <a:latin typeface="Calibri"/>
              <a:ea typeface="Calibri"/>
              <a:cs typeface="Calibri"/>
              <a:sym typeface="Calibri"/>
            </a:endParaRPr>
          </a:p>
        </p:txBody>
      </p:sp>
      <p:sp>
        <p:nvSpPr>
          <p:cNvPr id="86" name="Google Shape;86;p6"/>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Displaced bees nevertheless began with an eastward straight flight, averaging 188 m before search. They did not immediately choose the new bearing from the release point toward the actual feeder. The flight instruction therefore retained its direction and approximate distance after displacement.</a:t>
            </a:r>
            <a:endParaRPr sz="1800">
              <a:solidFill>
                <a:schemeClr val="dk1"/>
              </a:solidFill>
              <a:latin typeface="Calibri"/>
              <a:ea typeface="Calibri"/>
              <a:cs typeface="Calibri"/>
              <a:sym typeface="Calibri"/>
            </a:endParaRPr>
          </a:p>
        </p:txBody>
      </p:sp>
      <p:sp>
        <p:nvSpPr>
          <p:cNvPr id="87" name="Google Shape;87;p6"/>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An </a:t>
            </a:r>
            <a:r>
              <a:rPr b="1" i="0" lang="en-US" sz="1600">
                <a:solidFill>
                  <a:srgbClr val="3F5063"/>
                </a:solidFill>
                <a:latin typeface="Arial"/>
                <a:ea typeface="Arial"/>
                <a:cs typeface="Arial"/>
                <a:sym typeface="Arial"/>
              </a:rPr>
              <a:t>origin-dependent vector</a:t>
            </a:r>
            <a:r>
              <a:rPr b="0" i="0" lang="en-US" sz="1600">
                <a:solidFill>
                  <a:srgbClr val="252B32"/>
                </a:solidFill>
                <a:latin typeface="Arial"/>
                <a:ea typeface="Arial"/>
                <a:cs typeface="Arial"/>
                <a:sym typeface="Arial"/>
              </a:rPr>
              <a:t> is useful from its specified origin but leads to a different endpoint when executed elsewhere. This result separates a decoded movement instruction from immediate correction to a world location. It does not exclude later use of familiar landscape information, particularly in environments richer in recognizable landmarks.</a:t>
            </a:r>
            <a:endParaRPr sz="1800">
              <a:solidFill>
                <a:schemeClr val="dk1"/>
              </a:solidFill>
              <a:latin typeface="Calibri"/>
              <a:ea typeface="Calibri"/>
              <a:cs typeface="Calibri"/>
              <a:sym typeface="Calibri"/>
            </a:endParaRPr>
          </a:p>
        </p:txBody>
      </p:sp>
      <p:pic>
        <p:nvPicPr>
          <p:cNvPr id="88" name="Google Shape;88;p6"/>
          <p:cNvPicPr preferRelativeResize="0"/>
          <p:nvPr/>
        </p:nvPicPr>
        <p:blipFill rotWithShape="1">
          <a:blip r:embed="rId3">
            <a:alphaModFix/>
          </a:blip>
          <a:srcRect b="0" l="0" r="0" t="0"/>
          <a:stretch/>
        </p:blipFill>
        <p:spPr>
          <a:xfrm>
            <a:off x="6458509" y="1280071"/>
            <a:ext cx="5166194" cy="3256062"/>
          </a:xfrm>
          <a:prstGeom prst="rect">
            <a:avLst/>
          </a:prstGeom>
          <a:noFill/>
          <a:ln>
            <a:noFill/>
          </a:ln>
        </p:spPr>
      </p:pic>
      <p:sp>
        <p:nvSpPr>
          <p:cNvPr id="89" name="Google Shape;89;p6"/>
          <p:cNvSpPr/>
          <p:nvPr/>
        </p:nvSpPr>
        <p:spPr>
          <a:xfrm>
            <a:off x="6458396" y="4627662"/>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Riley et al. (2005), Fig. 1. Tracks from hive and displaced release points.</a:t>
            </a:r>
            <a:endParaRPr sz="1800">
              <a:solidFill>
                <a:schemeClr val="dk1"/>
              </a:solidFill>
              <a:latin typeface="Calibri"/>
              <a:ea typeface="Calibri"/>
              <a:cs typeface="Calibri"/>
              <a:sym typeface="Calibri"/>
            </a:endParaRPr>
          </a:p>
        </p:txBody>
      </p:sp>
      <p:sp>
        <p:nvSpPr>
          <p:cNvPr id="90" name="Google Shape;90;p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a:t>
            </a:r>
            <a:endParaRPr sz="1800">
              <a:solidFill>
                <a:schemeClr val="dk1"/>
              </a:solidFill>
              <a:latin typeface="Calibri"/>
              <a:ea typeface="Calibri"/>
              <a:cs typeface="Calibri"/>
              <a:sym typeface="Calibri"/>
            </a:endParaRPr>
          </a:p>
        </p:txBody>
      </p:sp>
      <p:sp>
        <p:nvSpPr>
          <p:cNvPr id="92" name="Google Shape;92;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The dance narrows search without pinpointing the feeder</a:t>
            </a:r>
            <a:endParaRPr sz="1800">
              <a:solidFill>
                <a:schemeClr val="dk1"/>
              </a:solidFill>
              <a:latin typeface="Calibri"/>
              <a:ea typeface="Calibri"/>
              <a:cs typeface="Calibri"/>
              <a:sym typeface="Calibri"/>
            </a:endParaRPr>
          </a:p>
        </p:txBody>
      </p:sp>
      <p:sp>
        <p:nvSpPr>
          <p:cNvPr id="98" name="Google Shape;98;p7"/>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straight flights of hive-released recruits ended near the advertised feeder on average, but individual endpoints differed by tens of meters. Riley and colleagues then tracked looping searches, some lasting up to 20 min and extending as far as 200 m from the feeding site.</a:t>
            </a:r>
            <a:endParaRPr sz="1800">
              <a:solidFill>
                <a:schemeClr val="dk1"/>
              </a:solidFill>
              <a:latin typeface="Calibri"/>
              <a:ea typeface="Calibri"/>
              <a:cs typeface="Calibri"/>
              <a:sym typeface="Calibri"/>
            </a:endParaRPr>
          </a:p>
        </p:txBody>
      </p:sp>
      <p:sp>
        <p:nvSpPr>
          <p:cNvPr id="99" name="Google Shape;99;p7"/>
          <p:cNvSpPr/>
          <p:nvPr/>
        </p:nvSpPr>
        <p:spPr>
          <a:xfrm>
            <a:off x="566886" y="2453134"/>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Only two tracked recruits found the unscented feeder. A mean endpoint close to the food location therefore did not imply reliable arrival by every bee. Directional variation increased near the end of the vector flight as directed travel gave way to search.</a:t>
            </a:r>
            <a:endParaRPr sz="1800">
              <a:solidFill>
                <a:schemeClr val="dk1"/>
              </a:solidFill>
              <a:latin typeface="Calibri"/>
              <a:ea typeface="Calibri"/>
              <a:cs typeface="Calibri"/>
              <a:sym typeface="Calibri"/>
            </a:endParaRPr>
          </a:p>
        </p:txBody>
      </p:sp>
      <p:sp>
        <p:nvSpPr>
          <p:cNvPr id="100" name="Google Shape;100;p7"/>
          <p:cNvSpPr/>
          <p:nvPr/>
        </p:nvSpPr>
        <p:spPr>
          <a:xfrm>
            <a:off x="566886" y="3671888"/>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Dance information supplies an approximate search area. Local visual or odor cues can be needed to resolve the final destination, but the unscented-feeder experiment did not manipulate every possible terminal cue. Spatial scatter and terminal failure distinguish successful long-range information transfer from precise source recognition.</a:t>
            </a:r>
            <a:endParaRPr sz="1800">
              <a:solidFill>
                <a:schemeClr val="dk1"/>
              </a:solidFill>
              <a:latin typeface="Calibri"/>
              <a:ea typeface="Calibri"/>
              <a:cs typeface="Calibri"/>
              <a:sym typeface="Calibri"/>
            </a:endParaRPr>
          </a:p>
        </p:txBody>
      </p:sp>
      <p:pic>
        <p:nvPicPr>
          <p:cNvPr id="101" name="Google Shape;101;p7"/>
          <p:cNvPicPr preferRelativeResize="0"/>
          <p:nvPr/>
        </p:nvPicPr>
        <p:blipFill rotWithShape="1">
          <a:blip r:embed="rId3">
            <a:alphaModFix/>
          </a:blip>
          <a:srcRect b="0" l="0" r="0" t="0"/>
          <a:stretch/>
        </p:blipFill>
        <p:spPr>
          <a:xfrm>
            <a:off x="7505578" y="1280071"/>
            <a:ext cx="3072205" cy="4297561"/>
          </a:xfrm>
          <a:prstGeom prst="rect">
            <a:avLst/>
          </a:prstGeom>
          <a:noFill/>
          <a:ln>
            <a:noFill/>
          </a:ln>
        </p:spPr>
      </p:pic>
      <p:sp>
        <p:nvSpPr>
          <p:cNvPr id="102" name="Google Shape;102;p7"/>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Riley et al. (2005), Fig. 2a,b. Direction changes during initial vector flights.</a:t>
            </a:r>
            <a:endParaRPr sz="1800">
              <a:solidFill>
                <a:schemeClr val="dk1"/>
              </a:solidFill>
              <a:latin typeface="Calibri"/>
              <a:ea typeface="Calibri"/>
              <a:cs typeface="Calibri"/>
              <a:sym typeface="Calibri"/>
            </a:endParaRPr>
          </a:p>
        </p:txBody>
      </p:sp>
      <p:sp>
        <p:nvSpPr>
          <p:cNvPr id="103" name="Google Shape;103;p7"/>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a:t>
            </a:r>
            <a:endParaRPr sz="1800">
              <a:solidFill>
                <a:schemeClr val="dk1"/>
              </a:solidFill>
              <a:latin typeface="Calibri"/>
              <a:ea typeface="Calibri"/>
              <a:cs typeface="Calibri"/>
              <a:sym typeface="Calibri"/>
            </a:endParaRPr>
          </a:p>
        </p:txBody>
      </p:sp>
      <p:sp>
        <p:nvSpPr>
          <p:cNvPr id="105" name="Google Shape;105;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Recruits compensate for drift during crosswind flight</a:t>
            </a:r>
            <a:endParaRPr sz="1800">
              <a:solidFill>
                <a:schemeClr val="dk1"/>
              </a:solidFill>
              <a:latin typeface="Calibri"/>
              <a:ea typeface="Calibri"/>
              <a:cs typeface="Calibri"/>
              <a:sym typeface="Calibri"/>
            </a:endParaRPr>
          </a:p>
        </p:txBody>
      </p:sp>
      <p:sp>
        <p:nvSpPr>
          <p:cNvPr id="111" name="Google Shape;111;p8"/>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Riley and colleagues measured flight tracks together with wind velocity to distinguish movement over the ground from movement through the air. A bee exposed to a crosswind must direct its body partly into the wind if it is to maintain the advertised ground track.</a:t>
            </a:r>
            <a:endParaRPr sz="1800">
              <a:solidFill>
                <a:schemeClr val="dk1"/>
              </a:solidFill>
              <a:latin typeface="Calibri"/>
              <a:ea typeface="Calibri"/>
              <a:cs typeface="Calibri"/>
              <a:sym typeface="Calibri"/>
            </a:endParaRPr>
          </a:p>
        </p:txBody>
      </p:sp>
      <p:sp>
        <p:nvSpPr>
          <p:cNvPr id="112" name="Google Shape;112;p8"/>
          <p:cNvSpPr/>
          <p:nvPr/>
        </p:nvSpPr>
        <p:spPr>
          <a:xfrm>
            <a:off x="566886" y="2453134"/>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In one recorded flight, ground speed was 6.8 m/s while a 3.3 m/s wind acted from a different direction. The reconstructed air velocity was 5.2 m/s. The bee’s air heading differed from its ground-track direction by approximately 28°, counteracting wind drift.</a:t>
            </a:r>
            <a:endParaRPr sz="1800">
              <a:solidFill>
                <a:schemeClr val="dk1"/>
              </a:solidFill>
              <a:latin typeface="Calibri"/>
              <a:ea typeface="Calibri"/>
              <a:cs typeface="Calibri"/>
              <a:sym typeface="Calibri"/>
            </a:endParaRPr>
          </a:p>
        </p:txBody>
      </p:sp>
      <p:sp>
        <p:nvSpPr>
          <p:cNvPr id="113" name="Google Shape;113;p8"/>
          <p:cNvSpPr/>
          <p:nvPr/>
        </p:nvSpPr>
        <p:spPr>
          <a:xfrm>
            <a:off x="566886" y="3671888"/>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resulting displacement followed the eastward instruction rather than the uncorrected wind-displaced heading. This establishes active compensation during recruitment flight. The wind-and-radar measurements do not isolate the visual or other feedback signals that determine the correction, and a single trajectory is not a universal wind-response calibration.</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3">
            <a:alphaModFix/>
          </a:blip>
          <a:srcRect b="0" l="0" r="0" t="0"/>
          <a:stretch/>
        </p:blipFill>
        <p:spPr>
          <a:xfrm>
            <a:off x="7366759" y="1280071"/>
            <a:ext cx="3349992" cy="4297561"/>
          </a:xfrm>
          <a:prstGeom prst="rect">
            <a:avLst/>
          </a:prstGeom>
          <a:noFill/>
          <a:ln>
            <a:noFill/>
          </a:ln>
        </p:spPr>
      </p:pic>
      <p:sp>
        <p:nvSpPr>
          <p:cNvPr id="115" name="Google Shape;115;p8"/>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Riley et al. (2005), Fig. 3a,b. Crosswind compensation during a recruit flight.</a:t>
            </a:r>
            <a:endParaRPr sz="1800">
              <a:solidFill>
                <a:schemeClr val="dk1"/>
              </a:solidFill>
              <a:latin typeface="Calibri"/>
              <a:ea typeface="Calibri"/>
              <a:cs typeface="Calibri"/>
              <a:sym typeface="Calibri"/>
            </a:endParaRPr>
          </a:p>
        </p:txBody>
      </p:sp>
      <p:sp>
        <p:nvSpPr>
          <p:cNvPr id="116" name="Google Shape;116;p8"/>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a:t>
            </a:r>
            <a:endParaRPr sz="1800">
              <a:solidFill>
                <a:schemeClr val="dk1"/>
              </a:solidFill>
              <a:latin typeface="Calibri"/>
              <a:ea typeface="Calibri"/>
              <a:cs typeface="Calibri"/>
              <a:sym typeface="Calibri"/>
            </a:endParaRPr>
          </a:p>
        </p:txBody>
      </p:sp>
      <p:sp>
        <p:nvSpPr>
          <p:cNvPr id="118" name="Google Shape;118;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narrow tunnel magnifies retinal image motion</a:t>
            </a:r>
            <a:endParaRPr sz="1800">
              <a:solidFill>
                <a:schemeClr val="dk1"/>
              </a:solidFill>
              <a:latin typeface="Calibri"/>
              <a:ea typeface="Calibri"/>
              <a:cs typeface="Calibri"/>
              <a:sym typeface="Calibri"/>
            </a:endParaRPr>
          </a:p>
        </p:txBody>
      </p:sp>
      <p:sp>
        <p:nvSpPr>
          <p:cNvPr id="124" name="Google Shape;124;p9"/>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600"/>
              <a:buFont typeface="Arial"/>
              <a:buNone/>
            </a:pPr>
            <a:r>
              <a:rPr b="1" i="0" lang="en-US" sz="1600">
                <a:solidFill>
                  <a:srgbClr val="3F5063"/>
                </a:solidFill>
                <a:latin typeface="Arial"/>
                <a:ea typeface="Arial"/>
                <a:cs typeface="Arial"/>
                <a:sym typeface="Arial"/>
              </a:rPr>
              <a:t>Optic flow</a:t>
            </a:r>
            <a:r>
              <a:rPr b="0" i="0" lang="en-US" sz="1600">
                <a:solidFill>
                  <a:srgbClr val="252B32"/>
                </a:solidFill>
                <a:latin typeface="Arial"/>
                <a:ea typeface="Arial"/>
                <a:cs typeface="Arial"/>
                <a:sym typeface="Arial"/>
              </a:rPr>
              <a:t> is the movement of environmental images across the retina during self-motion. Nearby surfaces produce more angular image displacement than distant surfaces for the same translational travel. A narrow textured tunnel therefore increases optic flow without requiring a long physical flight.</a:t>
            </a:r>
            <a:endParaRPr sz="1800">
              <a:solidFill>
                <a:schemeClr val="dk1"/>
              </a:solidFill>
              <a:latin typeface="Calibri"/>
              <a:ea typeface="Calibri"/>
              <a:cs typeface="Calibri"/>
              <a:sym typeface="Calibri"/>
            </a:endParaRPr>
          </a:p>
        </p:txBody>
      </p:sp>
      <p:sp>
        <p:nvSpPr>
          <p:cNvPr id="125" name="Google Shape;125;p9"/>
          <p:cNvSpPr/>
          <p:nvPr/>
        </p:nvSpPr>
        <p:spPr>
          <a:xfrm>
            <a:off x="566886" y="2672507"/>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Srinivasan and colleagues trained honeybees through a tunnel 6.4 m long, 11 cm wide and 20 cm high. Random black-and-white texture covered the walls and floor; a mesh ceiling allowed a view of the sky. The feeder was positioned 6 m into the tunnel.</a:t>
            </a:r>
            <a:endParaRPr sz="1800">
              <a:solidFill>
                <a:schemeClr val="dk1"/>
              </a:solidFill>
              <a:latin typeface="Calibri"/>
              <a:ea typeface="Calibri"/>
              <a:cs typeface="Calibri"/>
              <a:sym typeface="Calibri"/>
            </a:endParaRPr>
          </a:p>
        </p:txBody>
      </p:sp>
      <p:sp>
        <p:nvSpPr>
          <p:cNvPr id="126" name="Google Shape;126;p9"/>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Returning bees produced waggle dances after this short passage even when an equally short outdoor journey normally elicited round dances. The preparation separates physical distance from visual motion experienced en route. It supports a visual odometer, a mechanism estimating distance traveled, rather than an exclusively energy-based distance measure.</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3">
            <a:alphaModFix/>
          </a:blip>
          <a:srcRect b="0" l="0" r="0" t="0"/>
          <a:stretch/>
        </p:blipFill>
        <p:spPr>
          <a:xfrm>
            <a:off x="7221065" y="1280071"/>
            <a:ext cx="3641530" cy="4297561"/>
          </a:xfrm>
          <a:prstGeom prst="rect">
            <a:avLst/>
          </a:prstGeom>
          <a:noFill/>
          <a:ln>
            <a:noFill/>
          </a:ln>
        </p:spPr>
      </p:pic>
      <p:sp>
        <p:nvSpPr>
          <p:cNvPr id="128" name="Google Shape;128;p9"/>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Srinivasan et al. (2000), Fig. 1A,B. Tunnel geometry and texture-dependent dances.</a:t>
            </a:r>
            <a:endParaRPr sz="1800">
              <a:solidFill>
                <a:schemeClr val="dk1"/>
              </a:solidFill>
              <a:latin typeface="Calibri"/>
              <a:ea typeface="Calibri"/>
              <a:cs typeface="Calibri"/>
              <a:sym typeface="Calibri"/>
            </a:endParaRPr>
          </a:p>
        </p:txBody>
      </p:sp>
      <p:sp>
        <p:nvSpPr>
          <p:cNvPr id="129" name="Google Shape;129;p9"/>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Srinivasan et al. (2000)</a:t>
            </a:r>
            <a:endParaRPr sz="1800">
              <a:solidFill>
                <a:schemeClr val="dk1"/>
              </a:solidFill>
              <a:latin typeface="Calibri"/>
              <a:ea typeface="Calibri"/>
              <a:cs typeface="Calibri"/>
              <a:sym typeface="Calibri"/>
            </a:endParaRPr>
          </a:p>
        </p:txBody>
      </p:sp>
      <p:sp>
        <p:nvSpPr>
          <p:cNvPr id="131" name="Google Shape;131;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Axial stripes remove the tunnel’s distance inflation</a:t>
            </a:r>
            <a:endParaRPr sz="1800">
              <a:solidFill>
                <a:schemeClr val="dk1"/>
              </a:solidFill>
              <a:latin typeface="Calibri"/>
              <a:ea typeface="Calibri"/>
              <a:cs typeface="Calibri"/>
              <a:sym typeface="Calibri"/>
            </a:endParaRPr>
          </a:p>
        </p:txBody>
      </p:sp>
      <p:sp>
        <p:nvSpPr>
          <p:cNvPr id="137" name="Google Shape;137;p10"/>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Srinivasan and colleagues kept the feeder at the same physical location while replacing random tunnel texture with stripes parallel to flight. </a:t>
            </a:r>
            <a:r>
              <a:rPr b="1" i="0" lang="en-US" sz="1600">
                <a:solidFill>
                  <a:srgbClr val="3F5063"/>
                </a:solidFill>
                <a:latin typeface="Arial"/>
                <a:ea typeface="Arial"/>
                <a:cs typeface="Arial"/>
                <a:sym typeface="Arial"/>
              </a:rPr>
              <a:t>Axial stripes</a:t>
            </a:r>
            <a:r>
              <a:rPr b="0" i="0" lang="en-US" sz="1600">
                <a:solidFill>
                  <a:srgbClr val="252B32"/>
                </a:solidFill>
                <a:latin typeface="Arial"/>
                <a:ea typeface="Arial"/>
                <a:cs typeface="Arial"/>
                <a:sym typeface="Arial"/>
              </a:rPr>
              <a:t> change little along the flight axis, reducing the visual motion normally generated by forward travel.</a:t>
            </a:r>
            <a:endParaRPr sz="1800">
              <a:solidFill>
                <a:schemeClr val="dk1"/>
              </a:solidFill>
              <a:latin typeface="Calibri"/>
              <a:ea typeface="Calibri"/>
              <a:cs typeface="Calibri"/>
              <a:sym typeface="Calibri"/>
            </a:endParaRPr>
          </a:p>
        </p:txBody>
      </p:sp>
      <p:sp>
        <p:nvSpPr>
          <p:cNvPr id="138" name="Google Shape;138;p10"/>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A 35 m outdoor journey followed by 6 m through random texture produced waggle dances in 90% of recorded dances. With axial stripes at the same total distance of 41 m, 86.7% of dances were round dances. Without the tunnel, a feeder at 35 m elicited predominantly round dances.</a:t>
            </a:r>
            <a:endParaRPr sz="1800">
              <a:solidFill>
                <a:schemeClr val="dk1"/>
              </a:solidFill>
              <a:latin typeface="Calibri"/>
              <a:ea typeface="Calibri"/>
              <a:cs typeface="Calibri"/>
              <a:sym typeface="Calibri"/>
            </a:endParaRPr>
          </a:p>
        </p:txBody>
      </p:sp>
      <p:sp>
        <p:nvSpPr>
          <p:cNvPr id="139" name="Google Shape;139;p10"/>
          <p:cNvSpPr/>
          <p:nvPr/>
        </p:nvSpPr>
        <p:spPr>
          <a:xfrm>
            <a:off x="566886" y="389126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Physical journey length cannot explain the difference between the two 41 m preparations. The texture control identifies optic flow as the relevant variable under these conditions. It does not establish that all visual patterns are equally effective or that energetic state never affects other aspects of dancing.</a:t>
            </a:r>
            <a:endParaRPr sz="1800">
              <a:solidFill>
                <a:schemeClr val="dk1"/>
              </a:solidFill>
              <a:latin typeface="Calibri"/>
              <a:ea typeface="Calibri"/>
              <a:cs typeface="Calibri"/>
              <a:sym typeface="Calibri"/>
            </a:endParaRPr>
          </a:p>
        </p:txBody>
      </p:sp>
      <p:pic>
        <p:nvPicPr>
          <p:cNvPr id="140" name="Google Shape;140;p10"/>
          <p:cNvPicPr preferRelativeResize="0"/>
          <p:nvPr/>
        </p:nvPicPr>
        <p:blipFill rotWithShape="1">
          <a:blip r:embed="rId3">
            <a:alphaModFix/>
          </a:blip>
          <a:srcRect b="0" l="0" r="0" t="0"/>
          <a:stretch/>
        </p:blipFill>
        <p:spPr>
          <a:xfrm>
            <a:off x="7221065" y="1280071"/>
            <a:ext cx="3641530" cy="4297561"/>
          </a:xfrm>
          <a:prstGeom prst="rect">
            <a:avLst/>
          </a:prstGeom>
          <a:noFill/>
          <a:ln>
            <a:noFill/>
          </a:ln>
        </p:spPr>
      </p:pic>
      <p:sp>
        <p:nvSpPr>
          <p:cNvPr id="141" name="Google Shape;141;p10"/>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Srinivasan et al. (2000), Fig. 1A,B. Tunnel geometry and texture-dependent dances.</a:t>
            </a:r>
            <a:endParaRPr sz="1800">
              <a:solidFill>
                <a:schemeClr val="dk1"/>
              </a:solidFill>
              <a:latin typeface="Calibri"/>
              <a:ea typeface="Calibri"/>
              <a:cs typeface="Calibri"/>
              <a:sym typeface="Calibri"/>
            </a:endParaRPr>
          </a:p>
        </p:txBody>
      </p:sp>
      <p:sp>
        <p:nvSpPr>
          <p:cNvPr id="142" name="Google Shape;142;p10"/>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Srinivasan et al. (2000)</a:t>
            </a:r>
            <a:endParaRPr sz="1800">
              <a:solidFill>
                <a:schemeClr val="dk1"/>
              </a:solidFill>
              <a:latin typeface="Calibri"/>
              <a:ea typeface="Calibri"/>
              <a:cs typeface="Calibri"/>
              <a:sym typeface="Calibri"/>
            </a:endParaRPr>
          </a:p>
        </p:txBody>
      </p:sp>
      <p:sp>
        <p:nvSpPr>
          <p:cNvPr id="144" name="Google Shape;144;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Outdoor dances calibrate the duration–distance relation</a:t>
            </a:r>
            <a:endParaRPr sz="1800">
              <a:solidFill>
                <a:schemeClr val="dk1"/>
              </a:solidFill>
              <a:latin typeface="Calibri"/>
              <a:ea typeface="Calibri"/>
              <a:cs typeface="Calibri"/>
              <a:sym typeface="Calibri"/>
            </a:endParaRPr>
          </a:p>
        </p:txBody>
      </p:sp>
      <p:sp>
        <p:nvSpPr>
          <p:cNvPr id="150" name="Google Shape;150;p11"/>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Srinivasan and colleagues moved outdoor feeders between 60 and 350 m and measured the duration of each waggle phase on return to the hive. Over this range, mean waggle duration increased approximately linearly with feeder distance.</a:t>
            </a:r>
            <a:endParaRPr sz="1800">
              <a:solidFill>
                <a:schemeClr val="dk1"/>
              </a:solidFill>
              <a:latin typeface="Calibri"/>
              <a:ea typeface="Calibri"/>
              <a:cs typeface="Calibri"/>
              <a:sym typeface="Calibri"/>
            </a:endParaRPr>
          </a:p>
        </p:txBody>
      </p:sp>
      <p:sp>
        <p:nvSpPr>
          <p:cNvPr id="151" name="Google Shape;151;p11"/>
          <p:cNvSpPr/>
          <p:nvPr/>
        </p:nvSpPr>
        <p:spPr>
          <a:xfrm>
            <a:off x="566886" y="2453134"/>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reported calibration increased by 1.88 ms of waggle duration per meter of outdoor travel. It provided a reference for interpreting the unusually long dances produced after textured-tunnel flights. The calibration was measured independently of the tunnel manipulation.</a:t>
            </a:r>
            <a:endParaRPr sz="1800">
              <a:solidFill>
                <a:schemeClr val="dk1"/>
              </a:solidFill>
              <a:latin typeface="Calibri"/>
              <a:ea typeface="Calibri"/>
              <a:cs typeface="Calibri"/>
              <a:sym typeface="Calibri"/>
            </a:endParaRPr>
          </a:p>
        </p:txBody>
      </p:sp>
      <p:sp>
        <p:nvSpPr>
          <p:cNvPr id="152" name="Google Shape;152;p11"/>
          <p:cNvSpPr/>
          <p:nvPr/>
        </p:nvSpPr>
        <p:spPr>
          <a:xfrm>
            <a:off x="566886" y="3671888"/>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A </a:t>
            </a:r>
            <a:r>
              <a:rPr b="1" i="0" lang="en-US" sz="1600">
                <a:solidFill>
                  <a:srgbClr val="3F5063"/>
                </a:solidFill>
                <a:latin typeface="Arial"/>
                <a:ea typeface="Arial"/>
                <a:cs typeface="Arial"/>
                <a:sym typeface="Arial"/>
              </a:rPr>
              <a:t>calibration</a:t>
            </a:r>
            <a:r>
              <a:rPr b="0" i="0" lang="en-US" sz="1600">
                <a:solidFill>
                  <a:srgbClr val="252B32"/>
                </a:solidFill>
                <a:latin typeface="Arial"/>
                <a:ea typeface="Arial"/>
                <a:cs typeface="Arial"/>
                <a:sym typeface="Arial"/>
              </a:rPr>
              <a:t> relates a measured signal to a known quantity under specified conditions. It is not necessarily a universal conversion applicable to every landscape or colony. The outdoor measurements establish the relation for the tested routes and distances; they do not identify the neurons integrating optic flow or storing the resulting distance estimate.</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3">
            <a:alphaModFix/>
          </a:blip>
          <a:srcRect b="0" l="0" r="0" t="0"/>
          <a:stretch/>
        </p:blipFill>
        <p:spPr>
          <a:xfrm>
            <a:off x="6458400" y="1280071"/>
            <a:ext cx="5166413" cy="3720554"/>
          </a:xfrm>
          <a:prstGeom prst="rect">
            <a:avLst/>
          </a:prstGeom>
          <a:noFill/>
          <a:ln>
            <a:noFill/>
          </a:ln>
        </p:spPr>
      </p:pic>
      <p:sp>
        <p:nvSpPr>
          <p:cNvPr id="154" name="Google Shape;154;p11"/>
          <p:cNvSpPr/>
          <p:nvPr/>
        </p:nvSpPr>
        <p:spPr>
          <a:xfrm>
            <a:off x="6458396" y="5092154"/>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Srinivasan et al. (2000), Fig. 2. Outdoor distance calibration of waggle duration.</a:t>
            </a:r>
            <a:endParaRPr sz="1800">
              <a:solidFill>
                <a:schemeClr val="dk1"/>
              </a:solidFill>
              <a:latin typeface="Calibri"/>
              <a:ea typeface="Calibri"/>
              <a:cs typeface="Calibri"/>
              <a:sym typeface="Calibri"/>
            </a:endParaRPr>
          </a:p>
        </p:txBody>
      </p:sp>
      <p:sp>
        <p:nvSpPr>
          <p:cNvPr id="155" name="Google Shape;155;p11"/>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Srinivasan et al. (2000)</a:t>
            </a:r>
            <a:endParaRPr sz="1800">
              <a:solidFill>
                <a:schemeClr val="dk1"/>
              </a:solidFill>
              <a:latin typeface="Calibri"/>
              <a:ea typeface="Calibri"/>
              <a:cs typeface="Calibri"/>
              <a:sym typeface="Calibri"/>
            </a:endParaRPr>
          </a:p>
        </p:txBody>
      </p:sp>
      <p:sp>
        <p:nvSpPr>
          <p:cNvPr id="157" name="Google Shape;157;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Six tunnel meters can signal a much longer journey</a:t>
            </a:r>
            <a:endParaRPr sz="1800">
              <a:solidFill>
                <a:schemeClr val="dk1"/>
              </a:solidFill>
              <a:latin typeface="Calibri"/>
              <a:ea typeface="Calibri"/>
              <a:cs typeface="Calibri"/>
              <a:sym typeface="Calibri"/>
            </a:endParaRPr>
          </a:p>
        </p:txBody>
      </p:sp>
      <p:sp>
        <p:nvSpPr>
          <p:cNvPr id="163" name="Google Shape;163;p12"/>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Srinivasan and colleagues used the outdoor calibration to interpret dances following textured-tunnel passages. A 41 m journey containing 6 m inside the tunnel produced a mean waggle duration of 528.8 ms, corresponding to approximately 230 m in the outdoor calibration.</a:t>
            </a:r>
            <a:endParaRPr sz="1800">
              <a:solidFill>
                <a:schemeClr val="dk1"/>
              </a:solidFill>
              <a:latin typeface="Calibri"/>
              <a:ea typeface="Calibri"/>
              <a:cs typeface="Calibri"/>
              <a:sym typeface="Calibri"/>
            </a:endParaRPr>
          </a:p>
        </p:txBody>
      </p:sp>
      <p:sp>
        <p:nvSpPr>
          <p:cNvPr id="164" name="Google Shape;164;p12"/>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A second arrangement placed the tunnel nearer the hive, producing only 12 m of total travel. Its mean duration was 441.2 ms, corresponding to approximately 184 m outdoors. Both preparations generated a disproportionately large distance signal despite their different outdoor approach lengths.</a:t>
            </a:r>
            <a:endParaRPr sz="1800">
              <a:solidFill>
                <a:schemeClr val="dk1"/>
              </a:solidFill>
              <a:latin typeface="Calibri"/>
              <a:ea typeface="Calibri"/>
              <a:cs typeface="Calibri"/>
              <a:sym typeface="Calibri"/>
            </a:endParaRPr>
          </a:p>
        </p:txBody>
      </p:sp>
      <p:sp>
        <p:nvSpPr>
          <p:cNvPr id="165" name="Google Shape;165;p12"/>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close textured surfaces amplified the visually measured journey. The comparison rejects a simple account in which waggle duration reports physical meters independently of visual surroundings. These inferred outdoor distances are values from the authors’ calibration, not direct measurements of a bee’s subjective experience.</a:t>
            </a:r>
            <a:endParaRPr sz="1800">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6458400" y="1280071"/>
            <a:ext cx="5166413" cy="3720554"/>
          </a:xfrm>
          <a:prstGeom prst="rect">
            <a:avLst/>
          </a:prstGeom>
          <a:noFill/>
          <a:ln>
            <a:noFill/>
          </a:ln>
        </p:spPr>
      </p:pic>
      <p:sp>
        <p:nvSpPr>
          <p:cNvPr id="167" name="Google Shape;167;p12"/>
          <p:cNvSpPr/>
          <p:nvPr/>
        </p:nvSpPr>
        <p:spPr>
          <a:xfrm>
            <a:off x="6458396" y="5092154"/>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Srinivasan et al. (2000), Fig. 2. Outdoor distance calibration of waggle duration.</a:t>
            </a:r>
            <a:endParaRPr sz="1800">
              <a:solidFill>
                <a:schemeClr val="dk1"/>
              </a:solidFill>
              <a:latin typeface="Calibri"/>
              <a:ea typeface="Calibri"/>
              <a:cs typeface="Calibri"/>
              <a:sym typeface="Calibri"/>
            </a:endParaRPr>
          </a:p>
        </p:txBody>
      </p:sp>
      <p:sp>
        <p:nvSpPr>
          <p:cNvPr id="168" name="Google Shape;168;p12"/>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Srinivasan et al. (2000)</a:t>
            </a:r>
            <a:endParaRPr sz="1800">
              <a:solidFill>
                <a:schemeClr val="dk1"/>
              </a:solidFill>
              <a:latin typeface="Calibri"/>
              <a:ea typeface="Calibri"/>
              <a:cs typeface="Calibri"/>
              <a:sym typeface="Calibri"/>
            </a:endParaRPr>
          </a:p>
        </p:txBody>
      </p:sp>
      <p:sp>
        <p:nvSpPr>
          <p:cNvPr id="170" name="Google Shape;170;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3"/>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Followers search at the distance encoded by tunnel dances</a:t>
            </a:r>
            <a:endParaRPr sz="1800">
              <a:solidFill>
                <a:schemeClr val="dk1"/>
              </a:solidFill>
              <a:latin typeface="Calibri"/>
              <a:ea typeface="Calibri"/>
              <a:cs typeface="Calibri"/>
              <a:sym typeface="Calibri"/>
            </a:endParaRPr>
          </a:p>
        </p:txBody>
      </p:sp>
      <p:sp>
        <p:nvSpPr>
          <p:cNvPr id="176" name="Google Shape;176;p13"/>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Esch and colleagues trained dancers to fly 3 m outdoors and then through an 8 m textured tunnel toward the south. Although the actual feeder was only 11 m from the hive, returning bees produced waggle runs averaging 358 ms.</a:t>
            </a:r>
            <a:endParaRPr sz="1800">
              <a:solidFill>
                <a:schemeClr val="dk1"/>
              </a:solidFill>
              <a:latin typeface="Calibri"/>
              <a:ea typeface="Calibri"/>
              <a:cs typeface="Calibri"/>
              <a:sym typeface="Calibri"/>
            </a:endParaRPr>
          </a:p>
        </p:txBody>
      </p:sp>
      <p:sp>
        <p:nvSpPr>
          <p:cNvPr id="177" name="Google Shape;177;p13"/>
          <p:cNvSpPr/>
          <p:nvPr/>
        </p:nvSpPr>
        <p:spPr>
          <a:xfrm>
            <a:off x="566886" y="2453134"/>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local outdoor calibration associated this duration with approximately 72 m. Newly recruited bees searched predominantly at a control station 70 m south of the hive rather than at the tunnel feeder. Control stations offered neither food reward nor an added scent.</a:t>
            </a:r>
            <a:endParaRPr sz="1800">
              <a:solidFill>
                <a:schemeClr val="dk1"/>
              </a:solidFill>
              <a:latin typeface="Calibri"/>
              <a:ea typeface="Calibri"/>
              <a:cs typeface="Calibri"/>
              <a:sym typeface="Calibri"/>
            </a:endParaRPr>
          </a:p>
        </p:txBody>
      </p:sp>
      <p:sp>
        <p:nvSpPr>
          <p:cNvPr id="178" name="Google Shape;178;p13"/>
          <p:cNvSpPr/>
          <p:nvPr/>
        </p:nvSpPr>
        <p:spPr>
          <a:xfrm>
            <a:off x="566886" y="3671888"/>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For the first 30 min, the tunnel was closed: dancers did not advertise the tunnel journey and recruits did not arrive at the stations. Opening it initiated dancing and subsequent recruitment. This links the visually inflated distance signal to followers’ search behavior, rather than merely to a change in the dancer’s movements.</a:t>
            </a:r>
            <a:endParaRPr sz="1800">
              <a:solidFill>
                <a:schemeClr val="dk1"/>
              </a:solidFill>
              <a:latin typeface="Calibri"/>
              <a:ea typeface="Calibri"/>
              <a:cs typeface="Calibri"/>
              <a:sym typeface="Calibri"/>
            </a:endParaRPr>
          </a:p>
        </p:txBody>
      </p:sp>
      <p:pic>
        <p:nvPicPr>
          <p:cNvPr id="179" name="Google Shape;179;p13"/>
          <p:cNvPicPr preferRelativeResize="0"/>
          <p:nvPr/>
        </p:nvPicPr>
        <p:blipFill rotWithShape="1">
          <a:blip r:embed="rId3">
            <a:alphaModFix/>
          </a:blip>
          <a:srcRect b="0" l="0" r="0" t="0"/>
          <a:stretch/>
        </p:blipFill>
        <p:spPr>
          <a:xfrm>
            <a:off x="7772126" y="1280071"/>
            <a:ext cx="2539109" cy="4297561"/>
          </a:xfrm>
          <a:prstGeom prst="rect">
            <a:avLst/>
          </a:prstGeom>
          <a:noFill/>
          <a:ln>
            <a:noFill/>
          </a:ln>
        </p:spPr>
      </p:pic>
      <p:sp>
        <p:nvSpPr>
          <p:cNvPr id="180" name="Google Shape;180;p13"/>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Esch et al. (2001), Fig. 2a–c. Recruit searches after tunnel-distance dances.</a:t>
            </a:r>
            <a:endParaRPr sz="1800">
              <a:solidFill>
                <a:schemeClr val="dk1"/>
              </a:solidFill>
              <a:latin typeface="Calibri"/>
              <a:ea typeface="Calibri"/>
              <a:cs typeface="Calibri"/>
              <a:sym typeface="Calibri"/>
            </a:endParaRPr>
          </a:p>
        </p:txBody>
      </p:sp>
      <p:sp>
        <p:nvSpPr>
          <p:cNvPr id="181" name="Google Shape;181;p13"/>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Esch et al. (2001)</a:t>
            </a:r>
            <a:endParaRPr sz="1800">
              <a:solidFill>
                <a:schemeClr val="dk1"/>
              </a:solidFill>
              <a:latin typeface="Calibri"/>
              <a:ea typeface="Calibri"/>
              <a:cs typeface="Calibri"/>
              <a:sym typeface="Calibri"/>
            </a:endParaRPr>
          </a:p>
        </p:txBody>
      </p:sp>
      <p:sp>
        <p:nvSpPr>
          <p:cNvPr id="183" name="Google Shape;183;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Outdoor calibration differs between flight routes</a:t>
            </a:r>
            <a:endParaRPr sz="1800">
              <a:solidFill>
                <a:schemeClr val="dk1"/>
              </a:solidFill>
              <a:latin typeface="Calibri"/>
              <a:ea typeface="Calibri"/>
              <a:cs typeface="Calibri"/>
              <a:sym typeface="Calibri"/>
            </a:endParaRPr>
          </a:p>
        </p:txBody>
      </p:sp>
      <p:sp>
        <p:nvSpPr>
          <p:cNvPr id="189" name="Google Shape;189;p14"/>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Esch and colleagues measured outdoor dance durations separately for southern and northwestern routes. A given waggle duration corresponded to different physical distances on the two routes, even though both involved ordinary outdoor flight.</a:t>
            </a:r>
            <a:endParaRPr sz="1800">
              <a:solidFill>
                <a:schemeClr val="dk1"/>
              </a:solidFill>
              <a:latin typeface="Calibri"/>
              <a:ea typeface="Calibri"/>
              <a:cs typeface="Calibri"/>
              <a:sym typeface="Calibri"/>
            </a:endParaRPr>
          </a:p>
        </p:txBody>
      </p:sp>
      <p:sp>
        <p:nvSpPr>
          <p:cNvPr id="190" name="Google Shape;190;p14"/>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For example, 270 ms corresponded to about 52 m using the southern relation but about 157 m using the northwestern relation. The northwestern landscape generated less distance signal per physical meter than the southern landscape. A single route-independent conversion would therefore misread the dance.</a:t>
            </a:r>
            <a:endParaRPr sz="1800">
              <a:solidFill>
                <a:schemeClr val="dk1"/>
              </a:solidFill>
              <a:latin typeface="Calibri"/>
              <a:ea typeface="Calibri"/>
              <a:cs typeface="Calibri"/>
              <a:sym typeface="Calibri"/>
            </a:endParaRPr>
          </a:p>
        </p:txBody>
      </p:sp>
      <p:sp>
        <p:nvSpPr>
          <p:cNvPr id="191" name="Google Shape;191;p14"/>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relevant quantity is accumulated visual motion shaped by the route. Terrain and viewing geometry can change the relation between optic flow and physical distance. The calibration experiment does not identify the exact contribution of every landmark, but it establishes that the environmental dependence matters when comparing advertised and searched distances.</a:t>
            </a:r>
            <a:endParaRPr sz="1800">
              <a:solidFill>
                <a:schemeClr val="dk1"/>
              </a:solidFill>
              <a:latin typeface="Calibri"/>
              <a:ea typeface="Calibri"/>
              <a:cs typeface="Calibri"/>
              <a:sym typeface="Calibri"/>
            </a:endParaRPr>
          </a:p>
        </p:txBody>
      </p:sp>
      <p:pic>
        <p:nvPicPr>
          <p:cNvPr id="192" name="Google Shape;192;p14"/>
          <p:cNvPicPr preferRelativeResize="0"/>
          <p:nvPr/>
        </p:nvPicPr>
        <p:blipFill rotWithShape="1">
          <a:blip r:embed="rId3">
            <a:alphaModFix/>
          </a:blip>
          <a:srcRect b="0" l="0" r="0" t="0"/>
          <a:stretch/>
        </p:blipFill>
        <p:spPr>
          <a:xfrm>
            <a:off x="6458497" y="1280071"/>
            <a:ext cx="5166218" cy="2921050"/>
          </a:xfrm>
          <a:prstGeom prst="rect">
            <a:avLst/>
          </a:prstGeom>
          <a:noFill/>
          <a:ln>
            <a:noFill/>
          </a:ln>
        </p:spPr>
      </p:pic>
      <p:sp>
        <p:nvSpPr>
          <p:cNvPr id="193" name="Google Shape;193;p14"/>
          <p:cNvSpPr/>
          <p:nvPr/>
        </p:nvSpPr>
        <p:spPr>
          <a:xfrm>
            <a:off x="6458396" y="429265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Esch et al. (2001), Fig. 1. Outdoor calibration of dance duration.</a:t>
            </a:r>
            <a:endParaRPr sz="1800">
              <a:solidFill>
                <a:schemeClr val="dk1"/>
              </a:solidFill>
              <a:latin typeface="Calibri"/>
              <a:ea typeface="Calibri"/>
              <a:cs typeface="Calibri"/>
              <a:sym typeface="Calibri"/>
            </a:endParaRPr>
          </a:p>
        </p:txBody>
      </p:sp>
      <p:sp>
        <p:nvSpPr>
          <p:cNvPr id="194" name="Google Shape;194;p14"/>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Esch et al. (2001)</a:t>
            </a:r>
            <a:endParaRPr sz="1800">
              <a:solidFill>
                <a:schemeClr val="dk1"/>
              </a:solidFill>
              <a:latin typeface="Calibri"/>
              <a:ea typeface="Calibri"/>
              <a:cs typeface="Calibri"/>
              <a:sym typeface="Calibri"/>
            </a:endParaRPr>
          </a:p>
        </p:txBody>
      </p:sp>
      <p:sp>
        <p:nvSpPr>
          <p:cNvPr id="196" name="Google Shape;196;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Northwestern recruits use their route’s visual calibration</a:t>
            </a:r>
            <a:endParaRPr sz="1800">
              <a:solidFill>
                <a:schemeClr val="dk1"/>
              </a:solidFill>
              <a:latin typeface="Calibri"/>
              <a:ea typeface="Calibri"/>
              <a:cs typeface="Calibri"/>
              <a:sym typeface="Calibri"/>
            </a:endParaRPr>
          </a:p>
        </p:txBody>
      </p:sp>
      <p:sp>
        <p:nvSpPr>
          <p:cNvPr id="202" name="Google Shape;202;p15"/>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Esch and colleagues repeated the tunnel recruitment test with a northwestern approach: 3 m outdoors followed by 6 m through the tunnel. The actual feeder was 9 m away, and returning dancers produced waggle runs averaging 270 ms.</a:t>
            </a:r>
            <a:endParaRPr sz="1800">
              <a:solidFill>
                <a:schemeClr val="dk1"/>
              </a:solidFill>
              <a:latin typeface="Calibri"/>
              <a:ea typeface="Calibri"/>
              <a:cs typeface="Calibri"/>
              <a:sym typeface="Calibri"/>
            </a:endParaRPr>
          </a:p>
        </p:txBody>
      </p:sp>
      <p:sp>
        <p:nvSpPr>
          <p:cNvPr id="203" name="Google Shape;203;p15"/>
          <p:cNvSpPr/>
          <p:nvPr/>
        </p:nvSpPr>
        <p:spPr>
          <a:xfrm>
            <a:off x="566886" y="2453134"/>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Recruit searches peaked near 140 m along the northwestern route. The northwestern outdoor calibration predicted approximately 157 m, whereas applying the southern calibration would predict only about 52 m. Recruits therefore searched where a route-appropriate visual-distance interpretation placed the destination.</a:t>
            </a:r>
            <a:endParaRPr sz="1800">
              <a:solidFill>
                <a:schemeClr val="dk1"/>
              </a:solidFill>
              <a:latin typeface="Calibri"/>
              <a:ea typeface="Calibri"/>
              <a:cs typeface="Calibri"/>
              <a:sym typeface="Calibri"/>
            </a:endParaRPr>
          </a:p>
        </p:txBody>
      </p:sp>
      <p:sp>
        <p:nvSpPr>
          <p:cNvPr id="204" name="Google Shape;204;p15"/>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Stations were unrewarded, and closing the tunnel before each experiment prevented the relevant dances and recruitment. The result connects dance decoding with followers’ own visual navigation. It does not establish a permanently fixed distance dictionary: the conversion depends on the visual conditions encountered by the navigating bees.</a:t>
            </a:r>
            <a:endParaRPr sz="1800">
              <a:solidFill>
                <a:schemeClr val="dk1"/>
              </a:solidFill>
              <a:latin typeface="Calibri"/>
              <a:ea typeface="Calibri"/>
              <a:cs typeface="Calibri"/>
              <a:sym typeface="Calibri"/>
            </a:endParaRPr>
          </a:p>
        </p:txBody>
      </p:sp>
      <p:pic>
        <p:nvPicPr>
          <p:cNvPr id="205" name="Google Shape;205;p15"/>
          <p:cNvPicPr preferRelativeResize="0"/>
          <p:nvPr/>
        </p:nvPicPr>
        <p:blipFill rotWithShape="1">
          <a:blip r:embed="rId3">
            <a:alphaModFix/>
          </a:blip>
          <a:srcRect b="0" l="0" r="0" t="0"/>
          <a:stretch/>
        </p:blipFill>
        <p:spPr>
          <a:xfrm>
            <a:off x="7772126" y="1280071"/>
            <a:ext cx="2539109" cy="4297561"/>
          </a:xfrm>
          <a:prstGeom prst="rect">
            <a:avLst/>
          </a:prstGeom>
          <a:noFill/>
          <a:ln>
            <a:noFill/>
          </a:ln>
        </p:spPr>
      </p:pic>
      <p:sp>
        <p:nvSpPr>
          <p:cNvPr id="206" name="Google Shape;206;p15"/>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Esch et al. (2001), Fig. 2a–c. Recruit searches after tunnel-distance dances.</a:t>
            </a:r>
            <a:endParaRPr sz="1800">
              <a:solidFill>
                <a:schemeClr val="dk1"/>
              </a:solidFill>
              <a:latin typeface="Calibri"/>
              <a:ea typeface="Calibri"/>
              <a:cs typeface="Calibri"/>
              <a:sym typeface="Calibri"/>
            </a:endParaRPr>
          </a:p>
        </p:txBody>
      </p:sp>
      <p:sp>
        <p:nvSpPr>
          <p:cNvPr id="207" name="Google Shape;207;p15"/>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Esch et al. (2001)</a:t>
            </a:r>
            <a:endParaRPr sz="1800">
              <a:solidFill>
                <a:schemeClr val="dk1"/>
              </a:solidFill>
              <a:latin typeface="Calibri"/>
              <a:ea typeface="Calibri"/>
              <a:cs typeface="Calibri"/>
              <a:sym typeface="Calibri"/>
            </a:endParaRPr>
          </a:p>
        </p:txBody>
      </p:sp>
      <p:sp>
        <p:nvSpPr>
          <p:cNvPr id="209" name="Google Shape;209;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Natural water crossings alter the distance signal</a:t>
            </a:r>
            <a:endParaRPr sz="1800">
              <a:solidFill>
                <a:schemeClr val="dk1"/>
              </a:solidFill>
              <a:latin typeface="Calibri"/>
              <a:ea typeface="Calibri"/>
              <a:cs typeface="Calibri"/>
              <a:sym typeface="Calibri"/>
            </a:endParaRPr>
          </a:p>
        </p:txBody>
      </p:sp>
      <p:sp>
        <p:nvSpPr>
          <p:cNvPr id="215" name="Google Shape;215;p16"/>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Tautz and colleagues moved feeders along two routes, each 580 m long. One route crossed land, water and then an island; the other remained over land. Marked foragers were trained to follow the moving food source, including a feeder carried by boat.</a:t>
            </a:r>
            <a:endParaRPr sz="1800">
              <a:solidFill>
                <a:schemeClr val="dk1"/>
              </a:solidFill>
              <a:latin typeface="Calibri"/>
              <a:ea typeface="Calibri"/>
              <a:cs typeface="Calibri"/>
              <a:sym typeface="Calibri"/>
            </a:endParaRPr>
          </a:p>
        </p:txBody>
      </p:sp>
      <p:sp>
        <p:nvSpPr>
          <p:cNvPr id="216" name="Google Shape;216;p16"/>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For each position, returning dances were filmed and waggle-run duration measured. The experiment tested whether the tunnel-defined visual odometer also depended on natural terrain. Both routes increased physical distance without the artificial proximity of tunnel walls.</a:t>
            </a:r>
            <a:endParaRPr sz="1800">
              <a:solidFill>
                <a:schemeClr val="dk1"/>
              </a:solidFill>
              <a:latin typeface="Calibri"/>
              <a:ea typeface="Calibri"/>
              <a:cs typeface="Calibri"/>
              <a:sym typeface="Calibri"/>
            </a:endParaRPr>
          </a:p>
        </p:txBody>
      </p:sp>
      <p:sp>
        <p:nvSpPr>
          <p:cNvPr id="217" name="Google Shape;217;p16"/>
          <p:cNvSpPr/>
          <p:nvPr/>
        </p:nvSpPr>
        <p:spPr>
          <a:xfrm>
            <a:off x="566886" y="389126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Water-crossing bees continued to signal increasing distance, but the rate of increase differed across route segments. Recruits were scarce while the feeder was over water and reappeared on the island. Recruitment success and distance encoding are related but distinct outcomes, and the habitat change can affect both.</a:t>
            </a:r>
            <a:endParaRPr sz="1800">
              <a:solidFill>
                <a:schemeClr val="dk1"/>
              </a:solidFill>
              <a:latin typeface="Calibri"/>
              <a:ea typeface="Calibri"/>
              <a:cs typeface="Calibri"/>
              <a:sym typeface="Calibri"/>
            </a:endParaRPr>
          </a:p>
        </p:txBody>
      </p:sp>
      <p:pic>
        <p:nvPicPr>
          <p:cNvPr id="218" name="Google Shape;218;p16"/>
          <p:cNvPicPr preferRelativeResize="0"/>
          <p:nvPr/>
        </p:nvPicPr>
        <p:blipFill rotWithShape="1">
          <a:blip r:embed="rId3">
            <a:alphaModFix/>
          </a:blip>
          <a:srcRect b="0" l="0" r="0" t="0"/>
          <a:stretch/>
        </p:blipFill>
        <p:spPr>
          <a:xfrm>
            <a:off x="6881273" y="1280071"/>
            <a:ext cx="4320666" cy="4297561"/>
          </a:xfrm>
          <a:prstGeom prst="rect">
            <a:avLst/>
          </a:prstGeom>
          <a:noFill/>
          <a:ln>
            <a:noFill/>
          </a:ln>
        </p:spPr>
      </p:pic>
      <p:sp>
        <p:nvSpPr>
          <p:cNvPr id="219" name="Google Shape;219;p16"/>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Tautz et al. (2004), Fig. 1. Land, water and island routes.</a:t>
            </a:r>
            <a:endParaRPr sz="1800">
              <a:solidFill>
                <a:schemeClr val="dk1"/>
              </a:solidFill>
              <a:latin typeface="Calibri"/>
              <a:ea typeface="Calibri"/>
              <a:cs typeface="Calibri"/>
              <a:sym typeface="Calibri"/>
            </a:endParaRPr>
          </a:p>
        </p:txBody>
      </p:sp>
      <p:sp>
        <p:nvSpPr>
          <p:cNvPr id="220" name="Google Shape;220;p1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Tautz et al. (2004)</a:t>
            </a:r>
            <a:endParaRPr sz="1800">
              <a:solidFill>
                <a:schemeClr val="dk1"/>
              </a:solidFill>
              <a:latin typeface="Calibri"/>
              <a:ea typeface="Calibri"/>
              <a:cs typeface="Calibri"/>
              <a:sym typeface="Calibri"/>
            </a:endParaRPr>
          </a:p>
        </p:txBody>
      </p:sp>
      <p:sp>
        <p:nvSpPr>
          <p:cNvPr id="222" name="Google Shape;222;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Waggle duration accumulates more slowly over water</a:t>
            </a:r>
            <a:endParaRPr sz="1800">
              <a:solidFill>
                <a:schemeClr val="dk1"/>
              </a:solidFill>
              <a:latin typeface="Calibri"/>
              <a:ea typeface="Calibri"/>
              <a:cs typeface="Calibri"/>
              <a:sym typeface="Calibri"/>
            </a:endParaRPr>
          </a:p>
        </p:txBody>
      </p:sp>
      <p:sp>
        <p:nvSpPr>
          <p:cNvPr id="228" name="Google Shape;228;p17"/>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On the land–water–island route, Tautz and colleagues measured a waggle-duration increase of 1.970 ms/m over the first land segment, 0.546 ms/m over water and 2.243 ms/m over the island. Equal increments of physical travel therefore contributed unequally to the dance signal.</a:t>
            </a:r>
            <a:endParaRPr sz="1800">
              <a:solidFill>
                <a:schemeClr val="dk1"/>
              </a:solidFill>
              <a:latin typeface="Calibri"/>
              <a:ea typeface="Calibri"/>
              <a:cs typeface="Calibri"/>
              <a:sym typeface="Calibri"/>
            </a:endParaRPr>
          </a:p>
        </p:txBody>
      </p:sp>
      <p:sp>
        <p:nvSpPr>
          <p:cNvPr id="229" name="Google Shape;229;p17"/>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Segment-specific relations captured the change more closely than a single constant slope across the whole route. An all-land comparison route lacked a corresponding water-associated flattening. The control separated a specific terrain transition from a general dependence on increasing feeder distance.</a:t>
            </a:r>
            <a:endParaRPr sz="1800">
              <a:solidFill>
                <a:schemeClr val="dk1"/>
              </a:solidFill>
              <a:latin typeface="Calibri"/>
              <a:ea typeface="Calibri"/>
              <a:cs typeface="Calibri"/>
              <a:sym typeface="Calibri"/>
            </a:endParaRPr>
          </a:p>
        </p:txBody>
      </p:sp>
      <p:sp>
        <p:nvSpPr>
          <p:cNvPr id="230" name="Google Shape;230;p17"/>
          <p:cNvSpPr/>
          <p:nvPr/>
        </p:nvSpPr>
        <p:spPr>
          <a:xfrm>
            <a:off x="566886" y="389126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A visual odometer need not stop working over water; it can accumulate less effective image motion there. These behavioral measurements constrain the distance signal’s input dependence. They do not directly record retinal motion neurons or prove that low contrast alone accounts for the entire water effect.</a:t>
            </a:r>
            <a:endParaRPr sz="1800">
              <a:solidFill>
                <a:schemeClr val="dk1"/>
              </a:solidFill>
              <a:latin typeface="Calibri"/>
              <a:ea typeface="Calibri"/>
              <a:cs typeface="Calibri"/>
              <a:sym typeface="Calibri"/>
            </a:endParaRPr>
          </a:p>
        </p:txBody>
      </p:sp>
      <p:pic>
        <p:nvPicPr>
          <p:cNvPr id="231" name="Google Shape;231;p17"/>
          <p:cNvPicPr preferRelativeResize="0"/>
          <p:nvPr/>
        </p:nvPicPr>
        <p:blipFill rotWithShape="1">
          <a:blip r:embed="rId3">
            <a:alphaModFix/>
          </a:blip>
          <a:srcRect b="0" l="0" r="0" t="0"/>
          <a:stretch/>
        </p:blipFill>
        <p:spPr>
          <a:xfrm>
            <a:off x="7512145" y="1280071"/>
            <a:ext cx="3059071" cy="4297561"/>
          </a:xfrm>
          <a:prstGeom prst="rect">
            <a:avLst/>
          </a:prstGeom>
          <a:noFill/>
          <a:ln>
            <a:noFill/>
          </a:ln>
        </p:spPr>
      </p:pic>
      <p:sp>
        <p:nvSpPr>
          <p:cNvPr id="232" name="Google Shape;232;p17"/>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Tautz et al. (2004), Fig. 2A,B. Distance coding changes over water.</a:t>
            </a:r>
            <a:endParaRPr sz="1800">
              <a:solidFill>
                <a:schemeClr val="dk1"/>
              </a:solidFill>
              <a:latin typeface="Calibri"/>
              <a:ea typeface="Calibri"/>
              <a:cs typeface="Calibri"/>
              <a:sym typeface="Calibri"/>
            </a:endParaRPr>
          </a:p>
        </p:txBody>
      </p:sp>
      <p:sp>
        <p:nvSpPr>
          <p:cNvPr id="233" name="Google Shape;233;p17"/>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Tautz et al. (2004)</a:t>
            </a:r>
            <a:endParaRPr sz="1800">
              <a:solidFill>
                <a:schemeClr val="dk1"/>
              </a:solidFill>
              <a:latin typeface="Calibri"/>
              <a:ea typeface="Calibri"/>
              <a:cs typeface="Calibri"/>
              <a:sym typeface="Calibri"/>
            </a:endParaRPr>
          </a:p>
        </p:txBody>
      </p:sp>
      <p:sp>
        <p:nvSpPr>
          <p:cNvPr id="235" name="Google Shape;235;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Image contrast constrains natural visual odometry</a:t>
            </a:r>
            <a:endParaRPr sz="1800">
              <a:solidFill>
                <a:schemeClr val="dk1"/>
              </a:solidFill>
              <a:latin typeface="Calibri"/>
              <a:ea typeface="Calibri"/>
              <a:cs typeface="Calibri"/>
              <a:sym typeface="Calibri"/>
            </a:endParaRPr>
          </a:p>
        </p:txBody>
      </p:sp>
      <p:sp>
        <p:nvSpPr>
          <p:cNvPr id="241" name="Google Shape;241;p18"/>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500"/>
              <a:buFont typeface="Arial"/>
              <a:buNone/>
            </a:pPr>
            <a:r>
              <a:rPr b="1" i="0" lang="en-US" sz="1500">
                <a:solidFill>
                  <a:srgbClr val="3F5063"/>
                </a:solidFill>
                <a:latin typeface="Arial"/>
                <a:ea typeface="Arial"/>
                <a:cs typeface="Arial"/>
                <a:sym typeface="Arial"/>
              </a:rPr>
              <a:t>Visual contrast</a:t>
            </a:r>
            <a:r>
              <a:rPr b="0" i="0" lang="en-US" sz="1500">
                <a:solidFill>
                  <a:srgbClr val="252B32"/>
                </a:solidFill>
                <a:latin typeface="Arial"/>
                <a:ea typeface="Arial"/>
                <a:cs typeface="Arial"/>
                <a:sym typeface="Arial"/>
              </a:rPr>
              <a:t> measures differences in image intensity that make spatial structure detectable. Tautz and colleagues photographed land and water scenes along the experimental routes and analyzed intensity variation in defined image windows.</a:t>
            </a:r>
            <a:endParaRPr sz="1800">
              <a:solidFill>
                <a:schemeClr val="dk1"/>
              </a:solidFill>
              <a:latin typeface="Calibri"/>
              <a:ea typeface="Calibri"/>
              <a:cs typeface="Calibri"/>
              <a:sym typeface="Calibri"/>
            </a:endParaRPr>
          </a:p>
        </p:txBody>
      </p:sp>
      <p:sp>
        <p:nvSpPr>
          <p:cNvPr id="242" name="Google Shape;242;p18"/>
          <p:cNvSpPr/>
          <p:nvPr/>
        </p:nvSpPr>
        <p:spPr>
          <a:xfrm>
            <a:off x="566886" y="2377083"/>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Mean contrast was greater over land than over water. The low-contrast water segment coincided with slower accumulation of waggle duration, whereas the terrestrial segments supported larger increases. The original scene photographs retain the investigators’ measurement windows.</a:t>
            </a:r>
            <a:endParaRPr sz="1800">
              <a:solidFill>
                <a:schemeClr val="dk1"/>
              </a:solidFill>
              <a:latin typeface="Calibri"/>
              <a:ea typeface="Calibri"/>
              <a:cs typeface="Calibri"/>
              <a:sym typeface="Calibri"/>
            </a:endParaRPr>
          </a:p>
        </p:txBody>
      </p:sp>
      <p:sp>
        <p:nvSpPr>
          <p:cNvPr id="243" name="Google Shape;243;p18"/>
          <p:cNvSpPr/>
          <p:nvPr/>
        </p:nvSpPr>
        <p:spPr>
          <a:xfrm>
            <a:off x="566886" y="3519785"/>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Contrast provides a plausible connection between natural image structure and effective optic flow. A correlation across route segments does not isolate contrast from flight height, viewing direction or surface texture. The controlled tunnel-texture experiments supply a separate intervention on visual motion, while the field measurements establish ecological dependence under ordinary foraging conditions.</a:t>
            </a:r>
            <a:endParaRPr sz="1800">
              <a:solidFill>
                <a:schemeClr val="dk1"/>
              </a:solidFill>
              <a:latin typeface="Calibri"/>
              <a:ea typeface="Calibri"/>
              <a:cs typeface="Calibri"/>
              <a:sym typeface="Calibri"/>
            </a:endParaRPr>
          </a:p>
        </p:txBody>
      </p:sp>
      <p:pic>
        <p:nvPicPr>
          <p:cNvPr id="244" name="Google Shape;244;p18"/>
          <p:cNvPicPr preferRelativeResize="0"/>
          <p:nvPr/>
        </p:nvPicPr>
        <p:blipFill rotWithShape="1">
          <a:blip r:embed="rId3">
            <a:alphaModFix/>
          </a:blip>
          <a:srcRect b="0" l="0" r="0" t="0"/>
          <a:stretch/>
        </p:blipFill>
        <p:spPr>
          <a:xfrm>
            <a:off x="8322932" y="1280071"/>
            <a:ext cx="1437646" cy="2148780"/>
          </a:xfrm>
          <a:prstGeom prst="rect">
            <a:avLst/>
          </a:prstGeom>
          <a:noFill/>
          <a:ln>
            <a:noFill/>
          </a:ln>
        </p:spPr>
      </p:pic>
      <p:sp>
        <p:nvSpPr>
          <p:cNvPr id="245" name="Google Shape;245;p18"/>
          <p:cNvSpPr/>
          <p:nvPr/>
        </p:nvSpPr>
        <p:spPr>
          <a:xfrm>
            <a:off x="6458396" y="352038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Tautz et al. (2004), Fig. 4. Scenes used to compare land and water contrast.</a:t>
            </a:r>
            <a:endParaRPr sz="1800">
              <a:solidFill>
                <a:schemeClr val="dk1"/>
              </a:solidFill>
              <a:latin typeface="Calibri"/>
              <a:ea typeface="Calibri"/>
              <a:cs typeface="Calibri"/>
              <a:sym typeface="Calibri"/>
            </a:endParaRPr>
          </a:p>
        </p:txBody>
      </p:sp>
      <p:pic>
        <p:nvPicPr>
          <p:cNvPr id="246" name="Google Shape;246;p18"/>
          <p:cNvPicPr preferRelativeResize="0"/>
          <p:nvPr/>
        </p:nvPicPr>
        <p:blipFill rotWithShape="1">
          <a:blip r:embed="rId4">
            <a:alphaModFix/>
          </a:blip>
          <a:srcRect b="0" l="0" r="0" t="0"/>
          <a:stretch/>
        </p:blipFill>
        <p:spPr>
          <a:xfrm>
            <a:off x="7712190" y="3977580"/>
            <a:ext cx="2658982" cy="1782961"/>
          </a:xfrm>
          <a:prstGeom prst="rect">
            <a:avLst/>
          </a:prstGeom>
          <a:noFill/>
          <a:ln>
            <a:noFill/>
          </a:ln>
        </p:spPr>
      </p:pic>
      <p:sp>
        <p:nvSpPr>
          <p:cNvPr id="247" name="Google Shape;247;p18"/>
          <p:cNvSpPr/>
          <p:nvPr/>
        </p:nvSpPr>
        <p:spPr>
          <a:xfrm>
            <a:off x="6458396" y="583376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Tautz et al. (2004), Fig. 5. Natural terrestrial route and image-analysis windows.</a:t>
            </a:r>
            <a:endParaRPr sz="1800">
              <a:solidFill>
                <a:schemeClr val="dk1"/>
              </a:solidFill>
              <a:latin typeface="Calibri"/>
              <a:ea typeface="Calibri"/>
              <a:cs typeface="Calibri"/>
              <a:sym typeface="Calibri"/>
            </a:endParaRPr>
          </a:p>
        </p:txBody>
      </p:sp>
      <p:sp>
        <p:nvSpPr>
          <p:cNvPr id="248" name="Google Shape;248;p18"/>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Tautz et al. (2004); Srinivasan et al. (2000)</a:t>
            </a:r>
            <a:endParaRPr sz="1800">
              <a:solidFill>
                <a:schemeClr val="dk1"/>
              </a:solidFill>
              <a:latin typeface="Calibri"/>
              <a:ea typeface="Calibri"/>
              <a:cs typeface="Calibri"/>
              <a:sym typeface="Calibri"/>
            </a:endParaRPr>
          </a:p>
        </p:txBody>
      </p:sp>
      <p:sp>
        <p:nvSpPr>
          <p:cNvPr id="250" name="Google Shape;250;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Bees can learn the orientation of polarized light</a:t>
            </a:r>
            <a:endParaRPr sz="1800">
              <a:solidFill>
                <a:schemeClr val="dk1"/>
              </a:solidFill>
              <a:latin typeface="Calibri"/>
              <a:ea typeface="Calibri"/>
              <a:cs typeface="Calibri"/>
              <a:sym typeface="Calibri"/>
            </a:endParaRPr>
          </a:p>
        </p:txBody>
      </p:sp>
      <p:sp>
        <p:nvSpPr>
          <p:cNvPr id="256" name="Google Shape;256;p19"/>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500"/>
              <a:buFont typeface="Arial"/>
              <a:buNone/>
            </a:pPr>
            <a:r>
              <a:rPr b="1" i="0" lang="en-US" sz="1500">
                <a:solidFill>
                  <a:srgbClr val="3F5063"/>
                </a:solidFill>
                <a:latin typeface="Arial"/>
                <a:ea typeface="Arial"/>
                <a:cs typeface="Arial"/>
                <a:sym typeface="Arial"/>
              </a:rPr>
              <a:t>Polarized light</a:t>
            </a:r>
            <a:r>
              <a:rPr b="0" i="0" lang="en-US" sz="1500">
                <a:solidFill>
                  <a:srgbClr val="252B32"/>
                </a:solidFill>
                <a:latin typeface="Arial"/>
                <a:ea typeface="Arial"/>
                <a:cs typeface="Arial"/>
                <a:sym typeface="Arial"/>
              </a:rPr>
              <a:t> has a preferred orientation of its electric-field oscillation, called the </a:t>
            </a:r>
            <a:r>
              <a:rPr b="1" i="0" lang="en-US" sz="1500">
                <a:solidFill>
                  <a:srgbClr val="3F5063"/>
                </a:solidFill>
                <a:latin typeface="Arial"/>
                <a:ea typeface="Arial"/>
                <a:cs typeface="Arial"/>
                <a:sym typeface="Arial"/>
              </a:rPr>
              <a:t>e-vector</a:t>
            </a:r>
            <a:r>
              <a:rPr b="0" i="0" lang="en-US" sz="1500">
                <a:solidFill>
                  <a:srgbClr val="252B32"/>
                </a:solidFill>
                <a:latin typeface="Arial"/>
                <a:ea typeface="Arial"/>
                <a:cs typeface="Arial"/>
                <a:sym typeface="Arial"/>
              </a:rPr>
              <a:t>. Sakura and colleagues tested whether restrained honeybees could discriminate two e-vector directions presented from above without having to complete a navigational journey.</a:t>
            </a:r>
            <a:endParaRPr sz="1800">
              <a:solidFill>
                <a:schemeClr val="dk1"/>
              </a:solidFill>
              <a:latin typeface="Calibri"/>
              <a:ea typeface="Calibri"/>
              <a:cs typeface="Calibri"/>
              <a:sym typeface="Calibri"/>
            </a:endParaRPr>
          </a:p>
        </p:txBody>
      </p:sp>
      <p:sp>
        <p:nvSpPr>
          <p:cNvPr id="257" name="Google Shape;257;p19"/>
          <p:cNvSpPr/>
          <p:nvPr/>
        </p:nvSpPr>
        <p:spPr>
          <a:xfrm>
            <a:off x="566886" y="237708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One direction was paired with sucrose; the perpendicular direction was not rewarded. The </a:t>
            </a:r>
            <a:r>
              <a:rPr b="1" i="0" lang="en-US" sz="1500">
                <a:solidFill>
                  <a:srgbClr val="3F5063"/>
                </a:solidFill>
                <a:latin typeface="Arial"/>
                <a:ea typeface="Arial"/>
                <a:cs typeface="Arial"/>
                <a:sym typeface="Arial"/>
              </a:rPr>
              <a:t>proboscis extension response</a:t>
            </a:r>
            <a:r>
              <a:rPr b="0" i="0" lang="en-US" sz="1500">
                <a:solidFill>
                  <a:srgbClr val="252B32"/>
                </a:solidFill>
                <a:latin typeface="Arial"/>
                <a:ea typeface="Arial"/>
                <a:cs typeface="Arial"/>
                <a:sym typeface="Arial"/>
              </a:rPr>
              <a:t>, extension of the feeding mouthparts, supplied a behavioral readout of association. During ultraviolet-light conditioning, responses increased to the rewarded direction while remaining low to the other.</a:t>
            </a:r>
            <a:endParaRPr sz="1800">
              <a:solidFill>
                <a:schemeClr val="dk1"/>
              </a:solidFill>
              <a:latin typeface="Calibri"/>
              <a:ea typeface="Calibri"/>
              <a:cs typeface="Calibri"/>
              <a:sym typeface="Calibri"/>
            </a:endParaRPr>
          </a:p>
        </p:txBody>
      </p:sp>
      <p:sp>
        <p:nvSpPr>
          <p:cNvPr id="258" name="Google Shape;258;p19"/>
          <p:cNvSpPr/>
          <p:nvPr/>
        </p:nvSpPr>
        <p:spPr>
          <a:xfrm>
            <a:off x="566886" y="3725466"/>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 test establishes learned discrimination of polarization orientation independently of free-flight steering. Head-fixed bees could also learn, supporting detection without repeated active head scanning. It does not measure an internal compass bearing or establish how this sensory discrimination is converted into the direction advertised in a dance.</a:t>
            </a:r>
            <a:endParaRPr sz="1800">
              <a:solidFill>
                <a:schemeClr val="dk1"/>
              </a:solidFill>
              <a:latin typeface="Calibri"/>
              <a:ea typeface="Calibri"/>
              <a:cs typeface="Calibri"/>
              <a:sym typeface="Calibri"/>
            </a:endParaRPr>
          </a:p>
        </p:txBody>
      </p:sp>
      <p:pic>
        <p:nvPicPr>
          <p:cNvPr id="259" name="Google Shape;259;p19"/>
          <p:cNvPicPr preferRelativeResize="0"/>
          <p:nvPr/>
        </p:nvPicPr>
        <p:blipFill rotWithShape="1">
          <a:blip r:embed="rId3">
            <a:alphaModFix/>
          </a:blip>
          <a:srcRect b="0" l="0" r="0" t="0"/>
          <a:stretch/>
        </p:blipFill>
        <p:spPr>
          <a:xfrm>
            <a:off x="6458420" y="1280071"/>
            <a:ext cx="3520483" cy="2177504"/>
          </a:xfrm>
          <a:prstGeom prst="rect">
            <a:avLst/>
          </a:prstGeom>
          <a:noFill/>
          <a:ln>
            <a:noFill/>
          </a:ln>
        </p:spPr>
      </p:pic>
      <p:sp>
        <p:nvSpPr>
          <p:cNvPr id="260" name="Google Shape;260;p19"/>
          <p:cNvSpPr/>
          <p:nvPr/>
        </p:nvSpPr>
        <p:spPr>
          <a:xfrm>
            <a:off x="6458396" y="3549104"/>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Sakura et al. (2012), Fig. 1. Rewarded and unrewarded polarization directions.</a:t>
            </a:r>
            <a:endParaRPr sz="1800">
              <a:solidFill>
                <a:schemeClr val="dk1"/>
              </a:solidFill>
              <a:latin typeface="Calibri"/>
              <a:ea typeface="Calibri"/>
              <a:cs typeface="Calibri"/>
              <a:sym typeface="Calibri"/>
            </a:endParaRPr>
          </a:p>
        </p:txBody>
      </p:sp>
      <p:pic>
        <p:nvPicPr>
          <p:cNvPr id="261" name="Google Shape;261;p19"/>
          <p:cNvPicPr preferRelativeResize="0"/>
          <p:nvPr/>
        </p:nvPicPr>
        <p:blipFill rotWithShape="1">
          <a:blip r:embed="rId4">
            <a:alphaModFix/>
          </a:blip>
          <a:srcRect b="0" l="0" r="0" t="0"/>
          <a:stretch/>
        </p:blipFill>
        <p:spPr>
          <a:xfrm>
            <a:off x="10161836" y="2148796"/>
            <a:ext cx="1462980" cy="1396571"/>
          </a:xfrm>
          <a:prstGeom prst="rect">
            <a:avLst/>
          </a:prstGeom>
          <a:noFill/>
          <a:ln>
            <a:noFill/>
          </a:ln>
        </p:spPr>
      </p:pic>
      <p:sp>
        <p:nvSpPr>
          <p:cNvPr id="262" name="Google Shape;262;p19"/>
          <p:cNvSpPr/>
          <p:nvPr/>
        </p:nvSpPr>
        <p:spPr>
          <a:xfrm>
            <a:off x="10161836" y="3618607"/>
            <a:ext cx="1482030" cy="41121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1A–F. Dorsal-rim input reaches dorsal medulla.</a:t>
            </a:r>
            <a:endParaRPr sz="1800">
              <a:solidFill>
                <a:schemeClr val="dk1"/>
              </a:solidFill>
              <a:latin typeface="Calibri"/>
              <a:ea typeface="Calibri"/>
              <a:cs typeface="Calibri"/>
              <a:sym typeface="Calibri"/>
            </a:endParaRPr>
          </a:p>
        </p:txBody>
      </p:sp>
      <p:sp>
        <p:nvSpPr>
          <p:cNvPr id="263" name="Google Shape;263;p19"/>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Sakura et al. (2012)</a:t>
            </a:r>
            <a:endParaRPr sz="1800">
              <a:solidFill>
                <a:schemeClr val="dk1"/>
              </a:solidFill>
              <a:latin typeface="Calibri"/>
              <a:ea typeface="Calibri"/>
              <a:cs typeface="Calibri"/>
              <a:sym typeface="Calibri"/>
            </a:endParaRPr>
          </a:p>
        </p:txBody>
      </p:sp>
      <p:sp>
        <p:nvSpPr>
          <p:cNvPr id="265" name="Google Shape;265;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Polarization learning depends on ultraviolet stimulation</a:t>
            </a:r>
            <a:endParaRPr sz="1800">
              <a:solidFill>
                <a:schemeClr val="dk1"/>
              </a:solidFill>
              <a:latin typeface="Calibri"/>
              <a:ea typeface="Calibri"/>
              <a:cs typeface="Calibri"/>
              <a:sym typeface="Calibri"/>
            </a:endParaRPr>
          </a:p>
        </p:txBody>
      </p:sp>
      <p:sp>
        <p:nvSpPr>
          <p:cNvPr id="271" name="Google Shape;271;p20"/>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Sakura and colleagues repeated polarization conditioning with ultraviolet light near 350 nm, blue light near 442 nm and green light near 546 nm. Each preparation used a rewarded e-vector and a perpendicular unrewarded e-vector.</a:t>
            </a:r>
            <a:endParaRPr sz="1800">
              <a:solidFill>
                <a:schemeClr val="dk1"/>
              </a:solidFill>
              <a:latin typeface="Calibri"/>
              <a:ea typeface="Calibri"/>
              <a:cs typeface="Calibri"/>
              <a:sym typeface="Calibri"/>
            </a:endParaRPr>
          </a:p>
        </p:txBody>
      </p:sp>
      <p:sp>
        <p:nvSpPr>
          <p:cNvPr id="272" name="Google Shape;272;p20"/>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Bees acquired the discrimination under ultraviolet stimulation but did not acquire it under the tested blue or green conditions. The wavelength comparison controlled the form of the associative task while changing the available spectral input. Ordinary responsiveness to sucrose was assessed separately.</a:t>
            </a:r>
            <a:endParaRPr sz="1800">
              <a:solidFill>
                <a:schemeClr val="dk1"/>
              </a:solidFill>
              <a:latin typeface="Calibri"/>
              <a:ea typeface="Calibri"/>
              <a:cs typeface="Calibri"/>
              <a:sym typeface="Calibri"/>
            </a:endParaRPr>
          </a:p>
        </p:txBody>
      </p:sp>
      <p:sp>
        <p:nvSpPr>
          <p:cNvPr id="273" name="Google Shape;273;p20"/>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result is consistent with ultraviolet-sensitive polarization input rather than a wavelength-independent task solution. It does not mean that blue and green receptors are unimportant in other visual behaviors. Nor does this behavioral experiment identify an individual phototransduction ion channel or trace a complete polarization-processing circuit.</a:t>
            </a:r>
            <a:endParaRPr sz="1800">
              <a:solidFill>
                <a:schemeClr val="dk1"/>
              </a:solidFill>
              <a:latin typeface="Calibri"/>
              <a:ea typeface="Calibri"/>
              <a:cs typeface="Calibri"/>
              <a:sym typeface="Calibri"/>
            </a:endParaRPr>
          </a:p>
        </p:txBody>
      </p:sp>
      <p:pic>
        <p:nvPicPr>
          <p:cNvPr id="274" name="Google Shape;274;p20"/>
          <p:cNvPicPr preferRelativeResize="0"/>
          <p:nvPr/>
        </p:nvPicPr>
        <p:blipFill rotWithShape="1">
          <a:blip r:embed="rId3">
            <a:alphaModFix/>
          </a:blip>
          <a:srcRect b="0" l="0" r="0" t="0"/>
          <a:stretch/>
        </p:blipFill>
        <p:spPr>
          <a:xfrm>
            <a:off x="7073535" y="1280071"/>
            <a:ext cx="2290401" cy="4297561"/>
          </a:xfrm>
          <a:prstGeom prst="rect">
            <a:avLst/>
          </a:prstGeom>
          <a:noFill/>
          <a:ln>
            <a:noFill/>
          </a:ln>
        </p:spPr>
      </p:pic>
      <p:sp>
        <p:nvSpPr>
          <p:cNvPr id="275" name="Google Shape;275;p20"/>
          <p:cNvSpPr/>
          <p:nvPr/>
        </p:nvSpPr>
        <p:spPr>
          <a:xfrm>
            <a:off x="6458396" y="5669161"/>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Sakura et al. (2012), Fig. 3a–c. Learning with ultraviolet, blue and green light.</a:t>
            </a:r>
            <a:endParaRPr sz="1800">
              <a:solidFill>
                <a:schemeClr val="dk1"/>
              </a:solidFill>
              <a:latin typeface="Calibri"/>
              <a:ea typeface="Calibri"/>
              <a:cs typeface="Calibri"/>
              <a:sym typeface="Calibri"/>
            </a:endParaRPr>
          </a:p>
        </p:txBody>
      </p:sp>
      <p:pic>
        <p:nvPicPr>
          <p:cNvPr id="276" name="Google Shape;276;p20"/>
          <p:cNvPicPr preferRelativeResize="0"/>
          <p:nvPr/>
        </p:nvPicPr>
        <p:blipFill rotWithShape="1">
          <a:blip r:embed="rId4">
            <a:alphaModFix/>
          </a:blip>
          <a:srcRect b="0" l="0" r="0" t="0"/>
          <a:stretch/>
        </p:blipFill>
        <p:spPr>
          <a:xfrm>
            <a:off x="10161836" y="2148796"/>
            <a:ext cx="1462980" cy="1396571"/>
          </a:xfrm>
          <a:prstGeom prst="rect">
            <a:avLst/>
          </a:prstGeom>
          <a:noFill/>
          <a:ln>
            <a:noFill/>
          </a:ln>
        </p:spPr>
      </p:pic>
      <p:sp>
        <p:nvSpPr>
          <p:cNvPr id="277" name="Google Shape;277;p20"/>
          <p:cNvSpPr/>
          <p:nvPr/>
        </p:nvSpPr>
        <p:spPr>
          <a:xfrm>
            <a:off x="10161836" y="3618607"/>
            <a:ext cx="1482030" cy="41121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1A–F. Dorsal-rim input reaches dorsal medulla.</a:t>
            </a:r>
            <a:endParaRPr sz="1800">
              <a:solidFill>
                <a:schemeClr val="dk1"/>
              </a:solidFill>
              <a:latin typeface="Calibri"/>
              <a:ea typeface="Calibri"/>
              <a:cs typeface="Calibri"/>
              <a:sym typeface="Calibri"/>
            </a:endParaRPr>
          </a:p>
        </p:txBody>
      </p:sp>
      <p:sp>
        <p:nvSpPr>
          <p:cNvPr id="278" name="Google Shape;278;p20"/>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Sakura et al. (2012)</a:t>
            </a:r>
            <a:endParaRPr sz="1800">
              <a:solidFill>
                <a:schemeClr val="dk1"/>
              </a:solidFill>
              <a:latin typeface="Calibri"/>
              <a:ea typeface="Calibri"/>
              <a:cs typeface="Calibri"/>
              <a:sym typeface="Calibri"/>
            </a:endParaRPr>
          </a:p>
        </p:txBody>
      </p:sp>
      <p:sp>
        <p:nvSpPr>
          <p:cNvPr id="280" name="Google Shape;280;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Occluding the dorsal rim removes e-vector learning</a:t>
            </a:r>
            <a:endParaRPr sz="1800">
              <a:solidFill>
                <a:schemeClr val="dk1"/>
              </a:solidFill>
              <a:latin typeface="Calibri"/>
              <a:ea typeface="Calibri"/>
              <a:cs typeface="Calibri"/>
              <a:sym typeface="Calibri"/>
            </a:endParaRPr>
          </a:p>
        </p:txBody>
      </p:sp>
      <p:sp>
        <p:nvSpPr>
          <p:cNvPr id="286" name="Google Shape;286;p21"/>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a:t>
            </a:r>
            <a:r>
              <a:rPr b="1" i="0" lang="en-US" sz="1600">
                <a:solidFill>
                  <a:srgbClr val="3F5063"/>
                </a:solidFill>
                <a:latin typeface="Arial"/>
                <a:ea typeface="Arial"/>
                <a:cs typeface="Arial"/>
                <a:sym typeface="Arial"/>
              </a:rPr>
              <a:t>dorsal rim area</a:t>
            </a:r>
            <a:r>
              <a:rPr b="0" i="0" lang="en-US" sz="1600">
                <a:solidFill>
                  <a:srgbClr val="252B32"/>
                </a:solidFill>
                <a:latin typeface="Arial"/>
                <a:ea typeface="Arial"/>
                <a:cs typeface="Arial"/>
                <a:sym typeface="Arial"/>
              </a:rPr>
              <a:t> is a specialized region near the upper edge of the compound eye associated with skylight polarization detection. Sakura and colleagues painted either this region or the rest of the eye before ultraviolet polarization conditioning.</a:t>
            </a:r>
            <a:endParaRPr sz="1800">
              <a:solidFill>
                <a:schemeClr val="dk1"/>
              </a:solidFill>
              <a:latin typeface="Calibri"/>
              <a:ea typeface="Calibri"/>
              <a:cs typeface="Calibri"/>
              <a:sym typeface="Calibri"/>
            </a:endParaRPr>
          </a:p>
        </p:txBody>
      </p:sp>
      <p:sp>
        <p:nvSpPr>
          <p:cNvPr id="287" name="Google Shape;287;p21"/>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Bees with the dorsal rim covered did not learn the rewarded e-vector. Bees with the extradorsal-rim region covered retained discrimination, despite having much of the eye occluded. This complementary control links the behavioral effect to the specialized region rather than simply to reduced exposed eye area.</a:t>
            </a:r>
            <a:endParaRPr sz="1800">
              <a:solidFill>
                <a:schemeClr val="dk1"/>
              </a:solidFill>
              <a:latin typeface="Calibri"/>
              <a:ea typeface="Calibri"/>
              <a:cs typeface="Calibri"/>
              <a:sym typeface="Calibri"/>
            </a:endParaRPr>
          </a:p>
        </p:txBody>
      </p:sp>
      <p:sp>
        <p:nvSpPr>
          <p:cNvPr id="288" name="Google Shape;288;p21"/>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experiment supports a necessary dorsal-rim contribution under these conditions. Zeller and colleagues traced input from this region into a specialized dorsal-medulla compartment. The occlusion and tracing results converge on a sensory pathway, but neither establishes every receptor subtype or the downstream synapses required for dance navigation.</a:t>
            </a:r>
            <a:endParaRPr sz="1800">
              <a:solidFill>
                <a:schemeClr val="dk1"/>
              </a:solidFill>
              <a:latin typeface="Calibri"/>
              <a:ea typeface="Calibri"/>
              <a:cs typeface="Calibri"/>
              <a:sym typeface="Calibri"/>
            </a:endParaRPr>
          </a:p>
        </p:txBody>
      </p:sp>
      <p:pic>
        <p:nvPicPr>
          <p:cNvPr id="289" name="Google Shape;289;p21"/>
          <p:cNvPicPr preferRelativeResize="0"/>
          <p:nvPr/>
        </p:nvPicPr>
        <p:blipFill rotWithShape="1">
          <a:blip r:embed="rId3">
            <a:alphaModFix/>
          </a:blip>
          <a:srcRect b="0" l="0" r="0" t="0"/>
          <a:stretch/>
        </p:blipFill>
        <p:spPr>
          <a:xfrm>
            <a:off x="6458496" y="1280071"/>
            <a:ext cx="3520330" cy="4232970"/>
          </a:xfrm>
          <a:prstGeom prst="rect">
            <a:avLst/>
          </a:prstGeom>
          <a:noFill/>
          <a:ln>
            <a:noFill/>
          </a:ln>
        </p:spPr>
      </p:pic>
      <p:sp>
        <p:nvSpPr>
          <p:cNvPr id="290" name="Google Shape;290;p21"/>
          <p:cNvSpPr/>
          <p:nvPr/>
        </p:nvSpPr>
        <p:spPr>
          <a:xfrm>
            <a:off x="6458396" y="5604570"/>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Sakura et al. (2012), Fig. 2a,b. Dorsal-rim occlusion and extradorsal-rim controls.</a:t>
            </a:r>
            <a:endParaRPr sz="1800">
              <a:solidFill>
                <a:schemeClr val="dk1"/>
              </a:solidFill>
              <a:latin typeface="Calibri"/>
              <a:ea typeface="Calibri"/>
              <a:cs typeface="Calibri"/>
              <a:sym typeface="Calibri"/>
            </a:endParaRPr>
          </a:p>
        </p:txBody>
      </p:sp>
      <p:pic>
        <p:nvPicPr>
          <p:cNvPr id="291" name="Google Shape;291;p21"/>
          <p:cNvPicPr preferRelativeResize="0"/>
          <p:nvPr/>
        </p:nvPicPr>
        <p:blipFill rotWithShape="1">
          <a:blip r:embed="rId4">
            <a:alphaModFix/>
          </a:blip>
          <a:srcRect b="0" l="0" r="0" t="0"/>
          <a:stretch/>
        </p:blipFill>
        <p:spPr>
          <a:xfrm>
            <a:off x="10161836" y="2148796"/>
            <a:ext cx="1462980" cy="1396571"/>
          </a:xfrm>
          <a:prstGeom prst="rect">
            <a:avLst/>
          </a:prstGeom>
          <a:noFill/>
          <a:ln>
            <a:noFill/>
          </a:ln>
        </p:spPr>
      </p:pic>
      <p:sp>
        <p:nvSpPr>
          <p:cNvPr id="292" name="Google Shape;292;p21"/>
          <p:cNvSpPr/>
          <p:nvPr/>
        </p:nvSpPr>
        <p:spPr>
          <a:xfrm>
            <a:off x="10161836" y="3618607"/>
            <a:ext cx="1482030" cy="41121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1A–F. Dorsal-rim input reaches dorsal medulla.</a:t>
            </a:r>
            <a:endParaRPr sz="1800">
              <a:solidFill>
                <a:schemeClr val="dk1"/>
              </a:solidFill>
              <a:latin typeface="Calibri"/>
              <a:ea typeface="Calibri"/>
              <a:cs typeface="Calibri"/>
              <a:sym typeface="Calibri"/>
            </a:endParaRPr>
          </a:p>
        </p:txBody>
      </p:sp>
      <p:sp>
        <p:nvSpPr>
          <p:cNvPr id="293" name="Google Shape;293;p21"/>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Sakura et al. (2012); Zeller et al. (2015)</a:t>
            </a:r>
            <a:endParaRPr sz="1800">
              <a:solidFill>
                <a:schemeClr val="dk1"/>
              </a:solidFill>
              <a:latin typeface="Calibri"/>
              <a:ea typeface="Calibri"/>
              <a:cs typeface="Calibri"/>
              <a:sym typeface="Calibri"/>
            </a:endParaRPr>
          </a:p>
        </p:txBody>
      </p:sp>
      <p:sp>
        <p:nvSpPr>
          <p:cNvPr id="295" name="Google Shape;295;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Polarized illumination can label a learned flight route</a:t>
            </a:r>
            <a:endParaRPr sz="1800">
              <a:solidFill>
                <a:schemeClr val="dk1"/>
              </a:solidFill>
              <a:latin typeface="Calibri"/>
              <a:ea typeface="Calibri"/>
              <a:cs typeface="Calibri"/>
              <a:sym typeface="Calibri"/>
            </a:endParaRPr>
          </a:p>
        </p:txBody>
      </p:sp>
      <p:sp>
        <p:nvSpPr>
          <p:cNvPr id="301" name="Google Shape;301;p22"/>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Kraft and colleagues trained bees in a four-tunnel maze with one entrance and three possible exits. Each tunnel was 125 cm long, 11 cm wide and 18 cm high. Polarizing filters above the tunnels specified illumination parallel or perpendicular to the flight axis.</a:t>
            </a:r>
            <a:endParaRPr sz="1800">
              <a:solidFill>
                <a:schemeClr val="dk1"/>
              </a:solidFill>
              <a:latin typeface="Calibri"/>
              <a:ea typeface="Calibri"/>
              <a:cs typeface="Calibri"/>
              <a:sym typeface="Calibri"/>
            </a:endParaRPr>
          </a:p>
        </p:txBody>
      </p:sp>
      <p:sp>
        <p:nvSpPr>
          <p:cNvPr id="302" name="Google Shape;302;p22"/>
          <p:cNvSpPr/>
          <p:nvPr/>
        </p:nvSpPr>
        <p:spPr>
          <a:xfrm>
            <a:off x="566886" y="2453134"/>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rewarded exit carried the same relative polarization orientation as the entrance. Incorrect exits offered no reward; during tests, choices were measured without reward. A diffuser prevented a direct view of the sun and obscured overhead landmarks.</a:t>
            </a:r>
            <a:endParaRPr sz="1800">
              <a:solidFill>
                <a:schemeClr val="dk1"/>
              </a:solidFill>
              <a:latin typeface="Calibri"/>
              <a:ea typeface="Calibri"/>
              <a:cs typeface="Calibri"/>
              <a:sym typeface="Calibri"/>
            </a:endParaRPr>
          </a:p>
        </p:txBody>
      </p:sp>
      <p:sp>
        <p:nvSpPr>
          <p:cNvPr id="303" name="Google Shape;303;p22"/>
          <p:cNvSpPr/>
          <p:nvPr/>
        </p:nvSpPr>
        <p:spPr>
          <a:xfrm>
            <a:off x="566886" y="3671888"/>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preparation asks whether a bee can associate a route with a particular relationship between body axis and e-vector. It does not require an absolute geographical compass solution. Moving the illumination pattern among exits then tests the contribution of polarization against a learned preference for turning or going straight.</a:t>
            </a:r>
            <a:endParaRPr sz="1800">
              <a:solidFill>
                <a:schemeClr val="dk1"/>
              </a:solidFill>
              <a:latin typeface="Calibri"/>
              <a:ea typeface="Calibri"/>
              <a:cs typeface="Calibri"/>
              <a:sym typeface="Calibri"/>
            </a:endParaRPr>
          </a:p>
        </p:txBody>
      </p:sp>
      <p:pic>
        <p:nvPicPr>
          <p:cNvPr id="304" name="Google Shape;304;p22"/>
          <p:cNvPicPr preferRelativeResize="0"/>
          <p:nvPr/>
        </p:nvPicPr>
        <p:blipFill rotWithShape="1">
          <a:blip r:embed="rId3">
            <a:alphaModFix/>
          </a:blip>
          <a:srcRect b="0" l="0" r="0" t="0"/>
          <a:stretch/>
        </p:blipFill>
        <p:spPr>
          <a:xfrm>
            <a:off x="6458555" y="1280071"/>
            <a:ext cx="5166102" cy="2132112"/>
          </a:xfrm>
          <a:prstGeom prst="rect">
            <a:avLst/>
          </a:prstGeom>
          <a:noFill/>
          <a:ln>
            <a:noFill/>
          </a:ln>
        </p:spPr>
      </p:pic>
      <p:sp>
        <p:nvSpPr>
          <p:cNvPr id="305" name="Google Shape;305;p22"/>
          <p:cNvSpPr/>
          <p:nvPr/>
        </p:nvSpPr>
        <p:spPr>
          <a:xfrm>
            <a:off x="6458396" y="3503712"/>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Kraft et al. (2011), Fig. 1. Four-tunnel polarized-light maze.</a:t>
            </a:r>
            <a:endParaRPr sz="1800">
              <a:solidFill>
                <a:schemeClr val="dk1"/>
              </a:solidFill>
              <a:latin typeface="Calibri"/>
              <a:ea typeface="Calibri"/>
              <a:cs typeface="Calibri"/>
              <a:sym typeface="Calibri"/>
            </a:endParaRPr>
          </a:p>
        </p:txBody>
      </p:sp>
      <p:sp>
        <p:nvSpPr>
          <p:cNvPr id="306" name="Google Shape;306;p22"/>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Kraft et al. (2011)</a:t>
            </a:r>
            <a:endParaRPr sz="1800">
              <a:solidFill>
                <a:schemeClr val="dk1"/>
              </a:solidFill>
              <a:latin typeface="Calibri"/>
              <a:ea typeface="Calibri"/>
              <a:cs typeface="Calibri"/>
              <a:sym typeface="Calibri"/>
            </a:endParaRPr>
          </a:p>
        </p:txBody>
      </p:sp>
      <p:sp>
        <p:nvSpPr>
          <p:cNvPr id="308" name="Google Shape;308;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 name="Shape 312"/>
        <p:cNvGrpSpPr/>
        <p:nvPr/>
      </p:nvGrpSpPr>
      <p:grpSpPr>
        <a:xfrm>
          <a:off x="0" y="0"/>
          <a:ext cx="0" cy="0"/>
          <a:chOff x="0" y="0"/>
          <a:chExt cx="0" cy="0"/>
        </a:xfrm>
      </p:grpSpPr>
      <p:sp>
        <p:nvSpPr>
          <p:cNvPr id="313" name="Google Shape;313;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Route choices combine polarization with learned turns</a:t>
            </a:r>
            <a:endParaRPr sz="1800">
              <a:solidFill>
                <a:schemeClr val="dk1"/>
              </a:solidFill>
              <a:latin typeface="Calibri"/>
              <a:ea typeface="Calibri"/>
              <a:cs typeface="Calibri"/>
              <a:sym typeface="Calibri"/>
            </a:endParaRPr>
          </a:p>
        </p:txBody>
      </p:sp>
      <p:sp>
        <p:nvSpPr>
          <p:cNvPr id="314" name="Google Shape;314;p23"/>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In Kraft and colleagues’ straight-ahead training condition, bees chose the rewarded tunnel on 67% of tests with the original illumination arrangement. Moving the rewarded polarization to the left exit raised left choices from 15% to 28%, but straight-ahead choices remained at 51%.</a:t>
            </a:r>
            <a:endParaRPr sz="1800">
              <a:solidFill>
                <a:schemeClr val="dk1"/>
              </a:solidFill>
              <a:latin typeface="Calibri"/>
              <a:ea typeface="Calibri"/>
              <a:cs typeface="Calibri"/>
              <a:sym typeface="Calibri"/>
            </a:endParaRPr>
          </a:p>
        </p:txBody>
      </p:sp>
      <p:sp>
        <p:nvSpPr>
          <p:cNvPr id="315" name="Google Shape;315;p23"/>
          <p:cNvSpPr/>
          <p:nvPr/>
        </p:nvSpPr>
        <p:spPr>
          <a:xfrm>
            <a:off x="566886" y="2453134"/>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In the right-turn training condition, bees chose the rewarded right exit on 74% of tests. When its polarization was moved to the straight-ahead exit, straight-ahead choices reached 56%. Three exits gave a random-choice level of approximately 33%.</a:t>
            </a:r>
            <a:endParaRPr sz="1800">
              <a:solidFill>
                <a:schemeClr val="dk1"/>
              </a:solidFill>
              <a:latin typeface="Calibri"/>
              <a:ea typeface="Calibri"/>
              <a:cs typeface="Calibri"/>
              <a:sym typeface="Calibri"/>
            </a:endParaRPr>
          </a:p>
        </p:txBody>
      </p:sp>
      <p:sp>
        <p:nvSpPr>
          <p:cNvPr id="316" name="Google Shape;316;p23"/>
          <p:cNvSpPr/>
          <p:nvPr/>
        </p:nvSpPr>
        <p:spPr>
          <a:xfrm>
            <a:off x="566886" y="3671888"/>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cue relocation changed behavior, but it did not erase the learned route preference uniformly across training conditions. Polarization and motor-route memory can both influence choice. The experiment supports learned use of relative e-vector information without claiming that this cue exclusively determines every route decision.</a:t>
            </a:r>
            <a:endParaRPr sz="1800">
              <a:solidFill>
                <a:schemeClr val="dk1"/>
              </a:solidFill>
              <a:latin typeface="Calibri"/>
              <a:ea typeface="Calibri"/>
              <a:cs typeface="Calibri"/>
              <a:sym typeface="Calibri"/>
            </a:endParaRPr>
          </a:p>
        </p:txBody>
      </p:sp>
      <p:pic>
        <p:nvPicPr>
          <p:cNvPr id="317" name="Google Shape;317;p23"/>
          <p:cNvPicPr preferRelativeResize="0"/>
          <p:nvPr/>
        </p:nvPicPr>
        <p:blipFill rotWithShape="1">
          <a:blip r:embed="rId3">
            <a:alphaModFix/>
          </a:blip>
          <a:srcRect b="0" l="0" r="0" t="0"/>
          <a:stretch/>
        </p:blipFill>
        <p:spPr>
          <a:xfrm>
            <a:off x="6458525" y="1280071"/>
            <a:ext cx="5166162" cy="2813745"/>
          </a:xfrm>
          <a:prstGeom prst="rect">
            <a:avLst/>
          </a:prstGeom>
          <a:noFill/>
          <a:ln>
            <a:noFill/>
          </a:ln>
        </p:spPr>
      </p:pic>
      <p:sp>
        <p:nvSpPr>
          <p:cNvPr id="318" name="Google Shape;318;p23"/>
          <p:cNvSpPr/>
          <p:nvPr/>
        </p:nvSpPr>
        <p:spPr>
          <a:xfrm>
            <a:off x="6458396" y="418534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Kraft et al. (2011), Fig. 3a,b. Choices after relocating the rewarded polarization.</a:t>
            </a:r>
            <a:endParaRPr sz="1800">
              <a:solidFill>
                <a:schemeClr val="dk1"/>
              </a:solidFill>
              <a:latin typeface="Calibri"/>
              <a:ea typeface="Calibri"/>
              <a:cs typeface="Calibri"/>
              <a:sym typeface="Calibri"/>
            </a:endParaRPr>
          </a:p>
        </p:txBody>
      </p:sp>
      <p:sp>
        <p:nvSpPr>
          <p:cNvPr id="319" name="Google Shape;319;p23"/>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Kraft et al. (2011)</a:t>
            </a:r>
            <a:endParaRPr sz="1800">
              <a:solidFill>
                <a:schemeClr val="dk1"/>
              </a:solidFill>
              <a:latin typeface="Calibri"/>
              <a:ea typeface="Calibri"/>
              <a:cs typeface="Calibri"/>
              <a:sym typeface="Calibri"/>
            </a:endParaRPr>
          </a:p>
        </p:txBody>
      </p:sp>
      <p:sp>
        <p:nvSpPr>
          <p:cNvPr id="321" name="Google Shape;321;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Polarization orientation changes the direction danced</a:t>
            </a:r>
            <a:endParaRPr sz="1800">
              <a:solidFill>
                <a:schemeClr val="dk1"/>
              </a:solidFill>
              <a:latin typeface="Calibri"/>
              <a:ea typeface="Calibri"/>
              <a:cs typeface="Calibri"/>
              <a:sym typeface="Calibri"/>
            </a:endParaRPr>
          </a:p>
        </p:txBody>
      </p:sp>
      <p:sp>
        <p:nvSpPr>
          <p:cNvPr id="327" name="Google Shape;327;p24"/>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Evangelista and colleagues trained bees through a 12 m textured tunnel covered by ultraviolet-transmitting polarizers and a diffuser. The diffuser removed a direct view of the sun and overhead landmarks, leaving the artificial polarization pattern as the celestial cue.</a:t>
            </a:r>
            <a:endParaRPr sz="1800">
              <a:solidFill>
                <a:schemeClr val="dk1"/>
              </a:solidFill>
              <a:latin typeface="Calibri"/>
              <a:ea typeface="Calibri"/>
              <a:cs typeface="Calibri"/>
              <a:sym typeface="Calibri"/>
            </a:endParaRPr>
          </a:p>
        </p:txBody>
      </p:sp>
      <p:sp>
        <p:nvSpPr>
          <p:cNvPr id="328" name="Google Shape;328;p24"/>
          <p:cNvSpPr/>
          <p:nvPr/>
        </p:nvSpPr>
        <p:spPr>
          <a:xfrm>
            <a:off x="566886" y="2453134"/>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With transverse polarization, waggle runs clustered along a vertical axis on the comb. With axial polarization, they clustered along a horizontal axis. The reported mean axes were approximately 91.7° and 1.3° relative to horizontal, respectively.</a:t>
            </a:r>
            <a:endParaRPr sz="1800">
              <a:solidFill>
                <a:schemeClr val="dk1"/>
              </a:solidFill>
              <a:latin typeface="Calibri"/>
              <a:ea typeface="Calibri"/>
              <a:cs typeface="Calibri"/>
              <a:sym typeface="Calibri"/>
            </a:endParaRPr>
          </a:p>
        </p:txBody>
      </p:sp>
      <p:sp>
        <p:nvSpPr>
          <p:cNvPr id="329" name="Google Shape;329;p24"/>
          <p:cNvSpPr/>
          <p:nvPr/>
        </p:nvSpPr>
        <p:spPr>
          <a:xfrm>
            <a:off x="566886" y="3671888"/>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A single e-vector has a 180° ambiguity: the same axis can represent opposite travel directions. Bees advertised both alternatives rather than a unique direction. The experiment links polarized flight input to the communicated direction while distinguishing an axis of possible headings from a fully disambiguated sun-referenced bearing.</a:t>
            </a:r>
            <a:endParaRPr sz="1800">
              <a:solidFill>
                <a:schemeClr val="dk1"/>
              </a:solidFill>
              <a:latin typeface="Calibri"/>
              <a:ea typeface="Calibri"/>
              <a:cs typeface="Calibri"/>
              <a:sym typeface="Calibri"/>
            </a:endParaRPr>
          </a:p>
        </p:txBody>
      </p:sp>
      <p:pic>
        <p:nvPicPr>
          <p:cNvPr id="330" name="Google Shape;330;p24"/>
          <p:cNvPicPr preferRelativeResize="0"/>
          <p:nvPr/>
        </p:nvPicPr>
        <p:blipFill rotWithShape="1">
          <a:blip r:embed="rId3">
            <a:alphaModFix/>
          </a:blip>
          <a:srcRect b="0" l="0" r="0" t="0"/>
          <a:stretch/>
        </p:blipFill>
        <p:spPr>
          <a:xfrm>
            <a:off x="8256592" y="1280071"/>
            <a:ext cx="1570178" cy="2148780"/>
          </a:xfrm>
          <a:prstGeom prst="rect">
            <a:avLst/>
          </a:prstGeom>
          <a:noFill/>
          <a:ln>
            <a:noFill/>
          </a:ln>
        </p:spPr>
      </p:pic>
      <p:sp>
        <p:nvSpPr>
          <p:cNvPr id="331" name="Google Shape;331;p24"/>
          <p:cNvSpPr/>
          <p:nvPr/>
        </p:nvSpPr>
        <p:spPr>
          <a:xfrm>
            <a:off x="6458396" y="352038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Evangelista et al. (2014), Fig. 2a–c. Transverse polarization and vertical dance runs.</a:t>
            </a:r>
            <a:endParaRPr sz="1800">
              <a:solidFill>
                <a:schemeClr val="dk1"/>
              </a:solidFill>
              <a:latin typeface="Calibri"/>
              <a:ea typeface="Calibri"/>
              <a:cs typeface="Calibri"/>
              <a:sym typeface="Calibri"/>
            </a:endParaRPr>
          </a:p>
        </p:txBody>
      </p:sp>
      <p:pic>
        <p:nvPicPr>
          <p:cNvPr id="332" name="Google Shape;332;p24"/>
          <p:cNvPicPr preferRelativeResize="0"/>
          <p:nvPr/>
        </p:nvPicPr>
        <p:blipFill rotWithShape="1">
          <a:blip r:embed="rId4">
            <a:alphaModFix/>
          </a:blip>
          <a:srcRect b="0" l="0" r="0" t="0"/>
          <a:stretch/>
        </p:blipFill>
        <p:spPr>
          <a:xfrm>
            <a:off x="8432506" y="3977580"/>
            <a:ext cx="1218497" cy="1782961"/>
          </a:xfrm>
          <a:prstGeom prst="rect">
            <a:avLst/>
          </a:prstGeom>
          <a:noFill/>
          <a:ln>
            <a:noFill/>
          </a:ln>
        </p:spPr>
      </p:pic>
      <p:sp>
        <p:nvSpPr>
          <p:cNvPr id="333" name="Google Shape;333;p24"/>
          <p:cNvSpPr/>
          <p:nvPr/>
        </p:nvSpPr>
        <p:spPr>
          <a:xfrm>
            <a:off x="6458396" y="583376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Evangelista et al. (2014), Fig. 3a–c. Axial polarization and horizontal dance runs.</a:t>
            </a:r>
            <a:endParaRPr sz="1800">
              <a:solidFill>
                <a:schemeClr val="dk1"/>
              </a:solidFill>
              <a:latin typeface="Calibri"/>
              <a:ea typeface="Calibri"/>
              <a:cs typeface="Calibri"/>
              <a:sym typeface="Calibri"/>
            </a:endParaRPr>
          </a:p>
        </p:txBody>
      </p:sp>
      <p:sp>
        <p:nvSpPr>
          <p:cNvPr id="334" name="Google Shape;334;p24"/>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Evangelista et al. (2014)</a:t>
            </a:r>
            <a:endParaRPr sz="1800">
              <a:solidFill>
                <a:schemeClr val="dk1"/>
              </a:solidFill>
              <a:latin typeface="Calibri"/>
              <a:ea typeface="Calibri"/>
              <a:cs typeface="Calibri"/>
              <a:sym typeface="Calibri"/>
            </a:endParaRPr>
          </a:p>
        </p:txBody>
      </p:sp>
      <p:sp>
        <p:nvSpPr>
          <p:cNvPr id="336" name="Google Shape;336;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polarization switch changes the communicated journey</a:t>
            </a:r>
            <a:endParaRPr sz="1800">
              <a:solidFill>
                <a:schemeClr val="dk1"/>
              </a:solidFill>
              <a:latin typeface="Calibri"/>
              <a:ea typeface="Calibri"/>
              <a:cs typeface="Calibri"/>
              <a:sym typeface="Calibri"/>
            </a:endParaRPr>
          </a:p>
        </p:txBody>
      </p:sp>
      <p:sp>
        <p:nvSpPr>
          <p:cNvPr id="342" name="Google Shape;342;p25"/>
          <p:cNvSpPr/>
          <p:nvPr/>
        </p:nvSpPr>
        <p:spPr>
          <a:xfrm>
            <a:off x="566886" y="1234380"/>
            <a:ext cx="5544741"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Evangelista and colleagues also changed the polarization axis halfway along the tunnel. The first 6 m and the second 6 m provided perpendicular e-vector orientations, although the physical tunnel itself remained straight.</a:t>
            </a:r>
            <a:endParaRPr sz="1800">
              <a:solidFill>
                <a:schemeClr val="dk1"/>
              </a:solidFill>
              <a:latin typeface="Calibri"/>
              <a:ea typeface="Calibri"/>
              <a:cs typeface="Calibri"/>
              <a:sym typeface="Calibri"/>
            </a:endParaRPr>
          </a:p>
        </p:txBody>
      </p:sp>
      <p:sp>
        <p:nvSpPr>
          <p:cNvPr id="343" name="Google Shape;343;p25"/>
          <p:cNvSpPr/>
          <p:nvPr/>
        </p:nvSpPr>
        <p:spPr>
          <a:xfrm>
            <a:off x="566886" y="2233761"/>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After the two-segment journey, bees advertised diagonal directions consistent with interpreting a turn between the segments. Their mean waggle duration was shorter than after a tunnel with one uniform polarization axis. The authors related this reduced distance signal to an inferred two-leg displacement.</a:t>
            </a:r>
            <a:endParaRPr sz="1800">
              <a:solidFill>
                <a:schemeClr val="dk1"/>
              </a:solidFill>
              <a:latin typeface="Calibri"/>
              <a:ea typeface="Calibri"/>
              <a:cs typeface="Calibri"/>
              <a:sym typeface="Calibri"/>
            </a:endParaRPr>
          </a:p>
        </p:txBody>
      </p:sp>
      <p:sp>
        <p:nvSpPr>
          <p:cNvPr id="344" name="Google Shape;344;p25"/>
          <p:cNvSpPr/>
          <p:nvPr/>
        </p:nvSpPr>
        <p:spPr>
          <a:xfrm>
            <a:off x="566886" y="3671888"/>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intervention alters the sensory compass instruction without inserting an actual corner. It supports combination of directional input with a distance estimate when generating the dance. The inferred trajectory depends on ambiguity in the artificial sky cue, and the study did not directly record neural vector accumulation or identify a central-complex calculation.</a:t>
            </a:r>
            <a:endParaRPr sz="1800">
              <a:solidFill>
                <a:schemeClr val="dk1"/>
              </a:solidFill>
              <a:latin typeface="Calibri"/>
              <a:ea typeface="Calibri"/>
              <a:cs typeface="Calibri"/>
              <a:sym typeface="Calibri"/>
            </a:endParaRPr>
          </a:p>
        </p:txBody>
      </p:sp>
      <p:pic>
        <p:nvPicPr>
          <p:cNvPr id="345" name="Google Shape;345;p25"/>
          <p:cNvPicPr preferRelativeResize="0"/>
          <p:nvPr/>
        </p:nvPicPr>
        <p:blipFill rotWithShape="1">
          <a:blip r:embed="rId3">
            <a:alphaModFix/>
          </a:blip>
          <a:srcRect b="0" l="0" r="0" t="0"/>
          <a:stretch/>
        </p:blipFill>
        <p:spPr>
          <a:xfrm>
            <a:off x="6458442" y="1280071"/>
            <a:ext cx="5166328" cy="3647480"/>
          </a:xfrm>
          <a:prstGeom prst="rect">
            <a:avLst/>
          </a:prstGeom>
          <a:noFill/>
          <a:ln>
            <a:noFill/>
          </a:ln>
        </p:spPr>
      </p:pic>
      <p:sp>
        <p:nvSpPr>
          <p:cNvPr id="346" name="Google Shape;346;p25"/>
          <p:cNvSpPr/>
          <p:nvPr/>
        </p:nvSpPr>
        <p:spPr>
          <a:xfrm>
            <a:off x="6458396" y="501908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Evangelista et al. (2014), Fig. 8. Distance signals after switching polarization mid-route.</a:t>
            </a:r>
            <a:endParaRPr sz="1800">
              <a:solidFill>
                <a:schemeClr val="dk1"/>
              </a:solidFill>
              <a:latin typeface="Calibri"/>
              <a:ea typeface="Calibri"/>
              <a:cs typeface="Calibri"/>
              <a:sym typeface="Calibri"/>
            </a:endParaRPr>
          </a:p>
        </p:txBody>
      </p:sp>
      <p:sp>
        <p:nvSpPr>
          <p:cNvPr id="347" name="Google Shape;347;p25"/>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Evangelista et al. (2014)</a:t>
            </a:r>
            <a:endParaRPr sz="1800">
              <a:solidFill>
                <a:schemeClr val="dk1"/>
              </a:solidFill>
              <a:latin typeface="Calibri"/>
              <a:ea typeface="Calibri"/>
              <a:cs typeface="Calibri"/>
              <a:sym typeface="Calibri"/>
            </a:endParaRPr>
          </a:p>
        </p:txBody>
      </p:sp>
      <p:sp>
        <p:nvSpPr>
          <p:cNvPr id="349" name="Google Shape;349;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Partial solar experience supports a coarse compass</a:t>
            </a:r>
            <a:endParaRPr sz="1800">
              <a:solidFill>
                <a:schemeClr val="dk1"/>
              </a:solidFill>
              <a:latin typeface="Calibri"/>
              <a:ea typeface="Calibri"/>
              <a:cs typeface="Calibri"/>
              <a:sym typeface="Calibri"/>
            </a:endParaRPr>
          </a:p>
        </p:txBody>
      </p:sp>
      <p:sp>
        <p:nvSpPr>
          <p:cNvPr id="355" name="Google Shape;355;p26"/>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600"/>
              <a:buFont typeface="Arial"/>
              <a:buNone/>
            </a:pPr>
            <a:r>
              <a:rPr b="1" i="0" lang="en-US" sz="1600">
                <a:solidFill>
                  <a:srgbClr val="3F5063"/>
                </a:solidFill>
                <a:latin typeface="Arial"/>
                <a:ea typeface="Arial"/>
                <a:cs typeface="Arial"/>
                <a:sym typeface="Arial"/>
              </a:rPr>
              <a:t>Solar azimuth</a:t>
            </a:r>
            <a:r>
              <a:rPr b="0" i="0" lang="en-US" sz="1600">
                <a:solidFill>
                  <a:srgbClr val="252B32"/>
                </a:solidFill>
                <a:latin typeface="Arial"/>
                <a:ea typeface="Arial"/>
                <a:cs typeface="Arial"/>
                <a:sym typeface="Arial"/>
              </a:rPr>
              <a:t> is the sun’s horizontal bearing; an </a:t>
            </a:r>
            <a:r>
              <a:rPr b="1" i="0" lang="en-US" sz="1600">
                <a:solidFill>
                  <a:srgbClr val="3F5063"/>
                </a:solidFill>
                <a:latin typeface="Arial"/>
                <a:ea typeface="Arial"/>
                <a:cs typeface="Arial"/>
                <a:sym typeface="Arial"/>
              </a:rPr>
              <a:t>ephemeris</a:t>
            </a:r>
            <a:r>
              <a:rPr b="0" i="0" lang="en-US" sz="1600">
                <a:solidFill>
                  <a:srgbClr val="252B32"/>
                </a:solidFill>
                <a:latin typeface="Arial"/>
                <a:ea typeface="Arial"/>
                <a:cs typeface="Arial"/>
                <a:sym typeface="Arial"/>
              </a:rPr>
              <a:t> describes its changing position over the day. Dyer and Dickinson reared bees in an incubator and allowed them to fly outside only during the late afternoon.</a:t>
            </a:r>
            <a:endParaRPr sz="1800">
              <a:solidFill>
                <a:schemeClr val="dk1"/>
              </a:solidFill>
              <a:latin typeface="Calibri"/>
              <a:ea typeface="Calibri"/>
              <a:cs typeface="Calibri"/>
              <a:sym typeface="Calibri"/>
            </a:endParaRPr>
          </a:p>
        </p:txBody>
      </p:sp>
      <p:sp>
        <p:nvSpPr>
          <p:cNvPr id="356" name="Google Shape;356;p26"/>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On a cloudy test day, these bees flew for the first time during morning and early afternoon. Their dances indicated a morning solar estimate approximately 180° from the evening azimuth they had previously experienced. Around local noon, they switched toward the familiar evening direction.</a:t>
            </a:r>
            <a:endParaRPr sz="1800">
              <a:solidFill>
                <a:schemeClr val="dk1"/>
              </a:solidFill>
              <a:latin typeface="Calibri"/>
              <a:ea typeface="Calibri"/>
              <a:cs typeface="Calibri"/>
              <a:sym typeface="Calibri"/>
            </a:endParaRPr>
          </a:p>
        </p:txBody>
      </p:sp>
      <p:sp>
        <p:nvSpPr>
          <p:cNvPr id="357" name="Google Shape;357;p26"/>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bees therefore supplied an approximate morning reference without having directly experienced that portion of the sun’s course. The step-like pattern supports a general expectation of daily solar movement refined by experience. It differs from exact memorization of every hourly sun position and leaves the implementing neuronal computation unresolved.</a:t>
            </a:r>
            <a:endParaRPr sz="1800">
              <a:solidFill>
                <a:schemeClr val="dk1"/>
              </a:solidFill>
              <a:latin typeface="Calibri"/>
              <a:ea typeface="Calibri"/>
              <a:cs typeface="Calibri"/>
              <a:sym typeface="Calibri"/>
            </a:endParaRPr>
          </a:p>
        </p:txBody>
      </p:sp>
      <p:pic>
        <p:nvPicPr>
          <p:cNvPr id="358" name="Google Shape;358;p26"/>
          <p:cNvPicPr preferRelativeResize="0"/>
          <p:nvPr/>
        </p:nvPicPr>
        <p:blipFill rotWithShape="1">
          <a:blip r:embed="rId3">
            <a:alphaModFix/>
          </a:blip>
          <a:srcRect b="0" l="0" r="0" t="0"/>
          <a:stretch/>
        </p:blipFill>
        <p:spPr>
          <a:xfrm>
            <a:off x="6532888" y="1280071"/>
            <a:ext cx="5017735" cy="4297561"/>
          </a:xfrm>
          <a:prstGeom prst="rect">
            <a:avLst/>
          </a:prstGeom>
          <a:noFill/>
          <a:ln>
            <a:noFill/>
          </a:ln>
        </p:spPr>
      </p:pic>
      <p:sp>
        <p:nvSpPr>
          <p:cNvPr id="359" name="Google Shape;359;p26"/>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Dyer &amp; Dickinson (1994), Fig. 2A. Solar estimates after afternoon-only experience.</a:t>
            </a:r>
            <a:endParaRPr sz="1800">
              <a:solidFill>
                <a:schemeClr val="dk1"/>
              </a:solidFill>
              <a:latin typeface="Calibri"/>
              <a:ea typeface="Calibri"/>
              <a:cs typeface="Calibri"/>
              <a:sym typeface="Calibri"/>
            </a:endParaRPr>
          </a:p>
        </p:txBody>
      </p:sp>
      <p:sp>
        <p:nvSpPr>
          <p:cNvPr id="360" name="Google Shape;360;p2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Dyer &amp; Dickinson (1994)</a:t>
            </a:r>
            <a:endParaRPr sz="1800">
              <a:solidFill>
                <a:schemeClr val="dk1"/>
              </a:solidFill>
              <a:latin typeface="Calibri"/>
              <a:ea typeface="Calibri"/>
              <a:cs typeface="Calibri"/>
              <a:sym typeface="Calibri"/>
            </a:endParaRPr>
          </a:p>
        </p:txBody>
      </p:sp>
      <p:sp>
        <p:nvSpPr>
          <p:cNvPr id="362" name="Google Shape;362;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Full-day experience refines the learned solar course</a:t>
            </a:r>
            <a:endParaRPr sz="1800">
              <a:solidFill>
                <a:schemeClr val="dk1"/>
              </a:solidFill>
              <a:latin typeface="Calibri"/>
              <a:ea typeface="Calibri"/>
              <a:cs typeface="Calibri"/>
              <a:sym typeface="Calibri"/>
            </a:endParaRPr>
          </a:p>
        </p:txBody>
      </p:sp>
      <p:sp>
        <p:nvSpPr>
          <p:cNvPr id="368" name="Google Shape;368;p27"/>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Dyer and Dickinson compared experience-restricted bees with bees that had previously flown throughout the day. Both groups were tested under a cloudy sky, so current direct sight of the sun could not explain the difference in their dance orientations.</a:t>
            </a:r>
            <a:endParaRPr sz="1800">
              <a:solidFill>
                <a:schemeClr val="dk1"/>
              </a:solidFill>
              <a:latin typeface="Calibri"/>
              <a:ea typeface="Calibri"/>
              <a:cs typeface="Calibri"/>
              <a:sym typeface="Calibri"/>
            </a:endParaRPr>
          </a:p>
        </p:txBody>
      </p:sp>
      <p:sp>
        <p:nvSpPr>
          <p:cNvPr id="369" name="Google Shape;369;p27"/>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Fully experienced bees’ solar estimates followed the continuously changing local sun course more closely. Bees with afternoon-only experience instead used the coarse morning–afternoon pattern. The comparison separates a broad expectation about solar movement from its more precise local calibration.</a:t>
            </a:r>
            <a:endParaRPr sz="1800">
              <a:solidFill>
                <a:schemeClr val="dk1"/>
              </a:solidFill>
              <a:latin typeface="Calibri"/>
              <a:ea typeface="Calibri"/>
              <a:cs typeface="Calibri"/>
              <a:sym typeface="Calibri"/>
            </a:endParaRPr>
          </a:p>
        </p:txBody>
      </p:sp>
      <p:sp>
        <p:nvSpPr>
          <p:cNvPr id="370" name="Google Shape;370;p27"/>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sun’s horizontal bearing changes at a variable rate with time, latitude and season; a universal constant angular-rate correction is insufficient. Experience improves the temporal reference used for navigation. The design supports learned calibration but does not isolate whether particular visual scenes, flight directions or training times supplied each component of that learning.</a:t>
            </a:r>
            <a:endParaRPr sz="1800">
              <a:solidFill>
                <a:schemeClr val="dk1"/>
              </a:solidFill>
              <a:latin typeface="Calibri"/>
              <a:ea typeface="Calibri"/>
              <a:cs typeface="Calibri"/>
              <a:sym typeface="Calibri"/>
            </a:endParaRPr>
          </a:p>
        </p:txBody>
      </p:sp>
      <p:pic>
        <p:nvPicPr>
          <p:cNvPr id="371" name="Google Shape;371;p27"/>
          <p:cNvPicPr preferRelativeResize="0"/>
          <p:nvPr/>
        </p:nvPicPr>
        <p:blipFill rotWithShape="1">
          <a:blip r:embed="rId3">
            <a:alphaModFix/>
          </a:blip>
          <a:srcRect b="0" l="0" r="0" t="0"/>
          <a:stretch/>
        </p:blipFill>
        <p:spPr>
          <a:xfrm>
            <a:off x="6488592" y="1280071"/>
            <a:ext cx="5106327" cy="4297561"/>
          </a:xfrm>
          <a:prstGeom prst="rect">
            <a:avLst/>
          </a:prstGeom>
          <a:noFill/>
          <a:ln>
            <a:noFill/>
          </a:ln>
        </p:spPr>
      </p:pic>
      <p:sp>
        <p:nvSpPr>
          <p:cNvPr id="372" name="Google Shape;372;p27"/>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Dyer &amp; Dickinson (1994), Fig. 2B. Experienced bees track the sun under cloud cover.</a:t>
            </a:r>
            <a:endParaRPr sz="1800">
              <a:solidFill>
                <a:schemeClr val="dk1"/>
              </a:solidFill>
              <a:latin typeface="Calibri"/>
              <a:ea typeface="Calibri"/>
              <a:cs typeface="Calibri"/>
              <a:sym typeface="Calibri"/>
            </a:endParaRPr>
          </a:p>
        </p:txBody>
      </p:sp>
      <p:sp>
        <p:nvSpPr>
          <p:cNvPr id="373" name="Google Shape;373;p27"/>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Dyer &amp; Dickinson (1994)</a:t>
            </a:r>
            <a:endParaRPr sz="1800">
              <a:solidFill>
                <a:schemeClr val="dk1"/>
              </a:solidFill>
              <a:latin typeface="Calibri"/>
              <a:ea typeface="Calibri"/>
              <a:cs typeface="Calibri"/>
              <a:sym typeface="Calibri"/>
            </a:endParaRPr>
          </a:p>
        </p:txBody>
      </p:sp>
      <p:sp>
        <p:nvSpPr>
          <p:cNvPr id="375" name="Google Shape;375;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9" name="Shape 379"/>
        <p:cNvGrpSpPr/>
        <p:nvPr/>
      </p:nvGrpSpPr>
      <p:grpSpPr>
        <a:xfrm>
          <a:off x="0" y="0"/>
          <a:ext cx="0" cy="0"/>
          <a:chOff x="0" y="0"/>
          <a:chExt cx="0" cy="0"/>
        </a:xfrm>
      </p:grpSpPr>
      <p:sp>
        <p:nvSpPr>
          <p:cNvPr id="380" name="Google Shape;38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Clock disruption shifts sun-compass flight bearings</a:t>
            </a:r>
            <a:endParaRPr sz="1800">
              <a:solidFill>
                <a:schemeClr val="dk1"/>
              </a:solidFill>
              <a:latin typeface="Calibri"/>
              <a:ea typeface="Calibri"/>
              <a:cs typeface="Calibri"/>
              <a:sym typeface="Calibri"/>
            </a:endParaRPr>
          </a:p>
        </p:txBody>
      </p:sp>
      <p:sp>
        <p:nvSpPr>
          <p:cNvPr id="381" name="Google Shape;381;p28"/>
          <p:cNvSpPr/>
          <p:nvPr/>
        </p:nvSpPr>
        <p:spPr>
          <a:xfrm>
            <a:off x="566886" y="1234380"/>
            <a:ext cx="5544741"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A </a:t>
            </a:r>
            <a:r>
              <a:rPr b="1" i="0" lang="en-US" sz="1600">
                <a:solidFill>
                  <a:srgbClr val="3F5063"/>
                </a:solidFill>
                <a:latin typeface="Arial"/>
                <a:ea typeface="Arial"/>
                <a:cs typeface="Arial"/>
                <a:sym typeface="Arial"/>
              </a:rPr>
              <a:t>circadian clock</a:t>
            </a:r>
            <a:r>
              <a:rPr b="0" i="0" lang="en-US" sz="1600">
                <a:solidFill>
                  <a:srgbClr val="252B32"/>
                </a:solidFill>
                <a:latin typeface="Arial"/>
                <a:ea typeface="Arial"/>
                <a:cs typeface="Arial"/>
                <a:sym typeface="Arial"/>
              </a:rPr>
              <a:t> is an internal timing system with an approximately daily cycle. Cheeseman and colleagues used 2% isoflurane anesthesia to perturb this timing system and tested subsequent sun-compass homing.</a:t>
            </a:r>
            <a:endParaRPr sz="1800">
              <a:solidFill>
                <a:schemeClr val="dk1"/>
              </a:solidFill>
              <a:latin typeface="Calibri"/>
              <a:ea typeface="Calibri"/>
              <a:cs typeface="Calibri"/>
              <a:sym typeface="Calibri"/>
            </a:endParaRPr>
          </a:p>
        </p:txBody>
      </p:sp>
      <p:sp>
        <p:nvSpPr>
          <p:cNvPr id="382" name="Google Shape;382;p28"/>
          <p:cNvSpPr/>
          <p:nvPr/>
        </p:nvSpPr>
        <p:spPr>
          <a:xfrm>
            <a:off x="566886" y="2233761"/>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In the Southern Hemisphere, bees trained to a feeder 100 m from the hive were transported 6 km into unfamiliar terrain. Six-hour anesthesia produced an approximately 87° anticlockwise shift in vanishing bearing relative to a 30-min anesthetic control. A vanishing bearing is the direction at which a departing bee leaves the observer’s view.</a:t>
            </a:r>
            <a:endParaRPr sz="1800">
              <a:solidFill>
                <a:schemeClr val="dk1"/>
              </a:solidFill>
              <a:latin typeface="Calibri"/>
              <a:ea typeface="Calibri"/>
              <a:cs typeface="Calibri"/>
              <a:sym typeface="Calibri"/>
            </a:endParaRPr>
          </a:p>
        </p:txBody>
      </p:sp>
      <p:sp>
        <p:nvSpPr>
          <p:cNvPr id="383" name="Google Shape;383;p28"/>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A time error predicts a directional error because solar bearing depends on time of day. The shifted orientation supports this relationship, but extended anesthesia can also affect general performance. The short-anesthetic control and independent clock measurements are needed to distinguish a timing disturbance from nonspecific drug effects.</a:t>
            </a:r>
            <a:endParaRPr sz="1800">
              <a:solidFill>
                <a:schemeClr val="dk1"/>
              </a:solidFill>
              <a:latin typeface="Calibri"/>
              <a:ea typeface="Calibri"/>
              <a:cs typeface="Calibri"/>
              <a:sym typeface="Calibri"/>
            </a:endParaRPr>
          </a:p>
        </p:txBody>
      </p:sp>
      <p:pic>
        <p:nvPicPr>
          <p:cNvPr id="384" name="Google Shape;384;p28"/>
          <p:cNvPicPr preferRelativeResize="0"/>
          <p:nvPr/>
        </p:nvPicPr>
        <p:blipFill rotWithShape="1">
          <a:blip r:embed="rId3">
            <a:alphaModFix/>
          </a:blip>
          <a:srcRect b="0" l="0" r="0" t="0"/>
          <a:stretch/>
        </p:blipFill>
        <p:spPr>
          <a:xfrm>
            <a:off x="6458477" y="1280071"/>
            <a:ext cx="5166259" cy="3878312"/>
          </a:xfrm>
          <a:prstGeom prst="rect">
            <a:avLst/>
          </a:prstGeom>
          <a:noFill/>
          <a:ln>
            <a:noFill/>
          </a:ln>
        </p:spPr>
      </p:pic>
      <p:sp>
        <p:nvSpPr>
          <p:cNvPr id="385" name="Google Shape;385;p28"/>
          <p:cNvSpPr/>
          <p:nvPr/>
        </p:nvSpPr>
        <p:spPr>
          <a:xfrm>
            <a:off x="6458396" y="5249912"/>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Cheeseman et al. (2012), Fig. 1. Anesthesia shifts Southern Hemisphere bearings.</a:t>
            </a:r>
            <a:endParaRPr sz="1800">
              <a:solidFill>
                <a:schemeClr val="dk1"/>
              </a:solidFill>
              <a:latin typeface="Calibri"/>
              <a:ea typeface="Calibri"/>
              <a:cs typeface="Calibri"/>
              <a:sym typeface="Calibri"/>
            </a:endParaRPr>
          </a:p>
        </p:txBody>
      </p:sp>
      <p:sp>
        <p:nvSpPr>
          <p:cNvPr id="386" name="Google Shape;386;p28"/>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Cheeseman et al. (2012)</a:t>
            </a:r>
            <a:endParaRPr sz="1800">
              <a:solidFill>
                <a:schemeClr val="dk1"/>
              </a:solidFill>
              <a:latin typeface="Calibri"/>
              <a:ea typeface="Calibri"/>
              <a:cs typeface="Calibri"/>
              <a:sym typeface="Calibri"/>
            </a:endParaRPr>
          </a:p>
        </p:txBody>
      </p:sp>
      <p:sp>
        <p:nvSpPr>
          <p:cNvPr id="388" name="Google Shape;388;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2" name="Shape 392"/>
        <p:cNvGrpSpPr/>
        <p:nvPr/>
      </p:nvGrpSpPr>
      <p:grpSpPr>
        <a:xfrm>
          <a:off x="0" y="0"/>
          <a:ext cx="0" cy="0"/>
          <a:chOff x="0" y="0"/>
          <a:chExt cx="0" cy="0"/>
        </a:xfrm>
      </p:grpSpPr>
      <p:sp>
        <p:nvSpPr>
          <p:cNvPr id="393" name="Google Shape;393;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The opposite hemisphere reverses the directional error</a:t>
            </a:r>
            <a:endParaRPr sz="1800">
              <a:solidFill>
                <a:schemeClr val="dk1"/>
              </a:solidFill>
              <a:latin typeface="Calibri"/>
              <a:ea typeface="Calibri"/>
              <a:cs typeface="Calibri"/>
              <a:sym typeface="Calibri"/>
            </a:endParaRPr>
          </a:p>
        </p:txBody>
      </p:sp>
      <p:sp>
        <p:nvSpPr>
          <p:cNvPr id="394" name="Google Shape;394;p29"/>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Cheeseman and colleagues repeated the navigation test in the Northern Hemisphere using harmonic radar. Bees trained to a feeder 300 m from the hive were displaced 500 m before release, allowing the initial homeward vector flight to be separated from later correction.</a:t>
            </a:r>
            <a:endParaRPr sz="1800">
              <a:solidFill>
                <a:schemeClr val="dk1"/>
              </a:solidFill>
              <a:latin typeface="Calibri"/>
              <a:ea typeface="Calibri"/>
              <a:cs typeface="Calibri"/>
              <a:sym typeface="Calibri"/>
            </a:endParaRPr>
          </a:p>
        </p:txBody>
      </p:sp>
      <p:sp>
        <p:nvSpPr>
          <p:cNvPr id="395" name="Google Shape;395;p29"/>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Six-hour anesthesia shifted the initial vector approximately 58° clockwise relative to the 30-min control. Unanesthetized catch-and-release bees provided another handling comparison. The direction of the error was opposite to the Southern Hemisphere result, as expected from the different solar course.</a:t>
            </a:r>
            <a:endParaRPr sz="1800">
              <a:solidFill>
                <a:schemeClr val="dk1"/>
              </a:solidFill>
              <a:latin typeface="Calibri"/>
              <a:ea typeface="Calibri"/>
              <a:cs typeface="Calibri"/>
              <a:sym typeface="Calibri"/>
            </a:endParaRPr>
          </a:p>
        </p:txBody>
      </p:sp>
      <p:sp>
        <p:nvSpPr>
          <p:cNvPr id="396" name="Google Shape;396;p29"/>
          <p:cNvSpPr/>
          <p:nvPr/>
        </p:nvSpPr>
        <p:spPr>
          <a:xfrm>
            <a:off x="566886" y="389126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hemisphere comparison links the behavioral error to sun-compass timing rather than to a fixed tendency to turn left or right after treatment. Individual variation and possible secondary cues remain. The measured trajectory establishes an altered initial compass instruction, without locating its neural implementation.</a:t>
            </a:r>
            <a:endParaRPr sz="1800">
              <a:solidFill>
                <a:schemeClr val="dk1"/>
              </a:solidFill>
              <a:latin typeface="Calibri"/>
              <a:ea typeface="Calibri"/>
              <a:cs typeface="Calibri"/>
              <a:sym typeface="Calibri"/>
            </a:endParaRPr>
          </a:p>
        </p:txBody>
      </p:sp>
      <p:pic>
        <p:nvPicPr>
          <p:cNvPr id="397" name="Google Shape;397;p29"/>
          <p:cNvPicPr preferRelativeResize="0"/>
          <p:nvPr/>
        </p:nvPicPr>
        <p:blipFill rotWithShape="1">
          <a:blip r:embed="rId3">
            <a:alphaModFix/>
          </a:blip>
          <a:srcRect b="0" l="0" r="0" t="0"/>
          <a:stretch/>
        </p:blipFill>
        <p:spPr>
          <a:xfrm>
            <a:off x="6458480" y="1280071"/>
            <a:ext cx="5166252" cy="2928640"/>
          </a:xfrm>
          <a:prstGeom prst="rect">
            <a:avLst/>
          </a:prstGeom>
          <a:noFill/>
          <a:ln>
            <a:noFill/>
          </a:ln>
        </p:spPr>
      </p:pic>
      <p:sp>
        <p:nvSpPr>
          <p:cNvPr id="398" name="Google Shape;398;p29"/>
          <p:cNvSpPr/>
          <p:nvPr/>
        </p:nvSpPr>
        <p:spPr>
          <a:xfrm>
            <a:off x="6458396" y="430024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Cheeseman et al. (2012), Fig. 2A,B. Northern Hemisphere tracks after clock disruption.</a:t>
            </a:r>
            <a:endParaRPr sz="1800">
              <a:solidFill>
                <a:schemeClr val="dk1"/>
              </a:solidFill>
              <a:latin typeface="Calibri"/>
              <a:ea typeface="Calibri"/>
              <a:cs typeface="Calibri"/>
              <a:sym typeface="Calibri"/>
            </a:endParaRPr>
          </a:p>
        </p:txBody>
      </p:sp>
      <p:sp>
        <p:nvSpPr>
          <p:cNvPr id="399" name="Google Shape;399;p29"/>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Cheeseman et al. (2012)</a:t>
            </a:r>
            <a:endParaRPr sz="1800">
              <a:solidFill>
                <a:schemeClr val="dk1"/>
              </a:solidFill>
              <a:latin typeface="Calibri"/>
              <a:ea typeface="Calibri"/>
              <a:cs typeface="Calibri"/>
              <a:sym typeface="Calibri"/>
            </a:endParaRPr>
          </a:p>
        </p:txBody>
      </p:sp>
      <p:sp>
        <p:nvSpPr>
          <p:cNvPr id="401" name="Google Shape;401;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Anesthesia changes molecular-clock phase</a:t>
            </a:r>
            <a:endParaRPr sz="1800">
              <a:solidFill>
                <a:schemeClr val="dk1"/>
              </a:solidFill>
              <a:latin typeface="Calibri"/>
              <a:ea typeface="Calibri"/>
              <a:cs typeface="Calibri"/>
              <a:sym typeface="Calibri"/>
            </a:endParaRPr>
          </a:p>
        </p:txBody>
      </p:sp>
      <p:sp>
        <p:nvSpPr>
          <p:cNvPr id="407" name="Google Shape;407;p30"/>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Cheeseman and colleagues measured hive activity under constant dim light, removing ordinary day–night transitions as the immediate cause of a shifted rhythm. Daytime six-hour anesthesia delayed daily activity and altered rhythmic gene expression in sampled bee brains.</a:t>
            </a:r>
            <a:endParaRPr sz="1800">
              <a:solidFill>
                <a:schemeClr val="dk1"/>
              </a:solidFill>
              <a:latin typeface="Calibri"/>
              <a:ea typeface="Calibri"/>
              <a:cs typeface="Calibri"/>
              <a:sym typeface="Calibri"/>
            </a:endParaRPr>
          </a:p>
        </p:txBody>
      </p:sp>
      <p:sp>
        <p:nvSpPr>
          <p:cNvPr id="408" name="Google Shape;408;p30"/>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reported phase delays were 4.9 h for mammalian-type </a:t>
            </a:r>
            <a:r>
              <a:rPr b="1" i="0" lang="en-US" sz="1600">
                <a:solidFill>
                  <a:srgbClr val="3F5063"/>
                </a:solidFill>
                <a:latin typeface="Arial"/>
                <a:ea typeface="Arial"/>
                <a:cs typeface="Arial"/>
                <a:sym typeface="Arial"/>
              </a:rPr>
              <a:t>cryptochrome</a:t>
            </a:r>
            <a:r>
              <a:rPr b="0" i="0" lang="en-US" sz="1600">
                <a:solidFill>
                  <a:srgbClr val="252B32"/>
                </a:solidFill>
                <a:latin typeface="Arial"/>
                <a:ea typeface="Arial"/>
                <a:cs typeface="Arial"/>
                <a:sym typeface="Arial"/>
              </a:rPr>
              <a:t> messenger RNA and 4.3 h for </a:t>
            </a:r>
            <a:r>
              <a:rPr b="1" i="0" lang="en-US" sz="1600">
                <a:solidFill>
                  <a:srgbClr val="3F5063"/>
                </a:solidFill>
                <a:latin typeface="Arial"/>
                <a:ea typeface="Arial"/>
                <a:cs typeface="Arial"/>
                <a:sym typeface="Arial"/>
              </a:rPr>
              <a:t>period</a:t>
            </a:r>
            <a:r>
              <a:rPr b="0" i="0" lang="en-US" sz="1600">
                <a:solidFill>
                  <a:srgbClr val="252B32"/>
                </a:solidFill>
                <a:latin typeface="Arial"/>
                <a:ea typeface="Arial"/>
                <a:cs typeface="Arial"/>
                <a:sym typeface="Arial"/>
              </a:rPr>
              <a:t> messenger RNA. Messenger RNA is the transcript used to produce a gene’s protein. The sampled hive’s activity phase shifted by 5.3 h, while </a:t>
            </a:r>
            <a:r>
              <a:rPr b="1" i="0" lang="en-US" sz="1600">
                <a:solidFill>
                  <a:srgbClr val="3F5063"/>
                </a:solidFill>
                <a:latin typeface="Arial"/>
                <a:ea typeface="Arial"/>
                <a:cs typeface="Arial"/>
                <a:sym typeface="Arial"/>
              </a:rPr>
              <a:t>clock</a:t>
            </a:r>
            <a:r>
              <a:rPr b="0" i="0" lang="en-US" sz="1600">
                <a:solidFill>
                  <a:srgbClr val="252B32"/>
                </a:solidFill>
                <a:latin typeface="Arial"/>
                <a:ea typeface="Arial"/>
                <a:cs typeface="Arial"/>
                <a:sym typeface="Arial"/>
              </a:rPr>
              <a:t> expression remained broadly constitutive.</a:t>
            </a:r>
            <a:endParaRPr sz="1800">
              <a:solidFill>
                <a:schemeClr val="dk1"/>
              </a:solidFill>
              <a:latin typeface="Calibri"/>
              <a:ea typeface="Calibri"/>
              <a:cs typeface="Calibri"/>
              <a:sym typeface="Calibri"/>
            </a:endParaRPr>
          </a:p>
        </p:txBody>
      </p:sp>
      <p:sp>
        <p:nvSpPr>
          <p:cNvPr id="409" name="Google Shape;409;p30"/>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Six-hour anesthesia during subjective night did not produce the same delay. This time-dependent effect supports disturbance of the circadian oscillator rather than a literal six-hour pause in all behavior. Whole-brain expression cannot specify the cells delivering time information to a compass pathway or identify the relevant anesthetic receptor.</a:t>
            </a:r>
            <a:endParaRPr sz="1800">
              <a:solidFill>
                <a:schemeClr val="dk1"/>
              </a:solidFill>
              <a:latin typeface="Calibri"/>
              <a:ea typeface="Calibri"/>
              <a:cs typeface="Calibri"/>
              <a:sym typeface="Calibri"/>
            </a:endParaRPr>
          </a:p>
        </p:txBody>
      </p:sp>
      <p:pic>
        <p:nvPicPr>
          <p:cNvPr id="410" name="Google Shape;410;p30"/>
          <p:cNvPicPr preferRelativeResize="0"/>
          <p:nvPr/>
        </p:nvPicPr>
        <p:blipFill rotWithShape="1">
          <a:blip r:embed="rId3">
            <a:alphaModFix/>
          </a:blip>
          <a:srcRect b="0" l="0" r="0" t="0"/>
          <a:stretch/>
        </p:blipFill>
        <p:spPr>
          <a:xfrm>
            <a:off x="7441183" y="1280071"/>
            <a:ext cx="3201294" cy="4297561"/>
          </a:xfrm>
          <a:prstGeom prst="rect">
            <a:avLst/>
          </a:prstGeom>
          <a:noFill/>
          <a:ln>
            <a:noFill/>
          </a:ln>
        </p:spPr>
      </p:pic>
      <p:sp>
        <p:nvSpPr>
          <p:cNvPr id="411" name="Google Shape;411;p30"/>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Cheeseman et al. (2012), Fig. 4A–D. Activity rhythms and clock-gene expression.</a:t>
            </a:r>
            <a:endParaRPr sz="1800">
              <a:solidFill>
                <a:schemeClr val="dk1"/>
              </a:solidFill>
              <a:latin typeface="Calibri"/>
              <a:ea typeface="Calibri"/>
              <a:cs typeface="Calibri"/>
              <a:sym typeface="Calibri"/>
            </a:endParaRPr>
          </a:p>
        </p:txBody>
      </p:sp>
      <p:sp>
        <p:nvSpPr>
          <p:cNvPr id="412" name="Google Shape;412;p30"/>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Cheeseman et al. (2012)</a:t>
            </a:r>
            <a:endParaRPr sz="1800">
              <a:solidFill>
                <a:schemeClr val="dk1"/>
              </a:solidFill>
              <a:latin typeface="Calibri"/>
              <a:ea typeface="Calibri"/>
              <a:cs typeface="Calibri"/>
              <a:sym typeface="Calibri"/>
            </a:endParaRPr>
          </a:p>
        </p:txBody>
      </p:sp>
      <p:sp>
        <p:nvSpPr>
          <p:cNvPr id="414" name="Google Shape;414;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8" name="Shape 418"/>
        <p:cNvGrpSpPr/>
        <p:nvPr/>
      </p:nvGrpSpPr>
      <p:grpSpPr>
        <a:xfrm>
          <a:off x="0" y="0"/>
          <a:ext cx="0" cy="0"/>
          <a:chOff x="0" y="0"/>
          <a:chExt cx="0" cy="0"/>
        </a:xfrm>
      </p:grpSpPr>
      <p:sp>
        <p:nvSpPr>
          <p:cNvPr id="419" name="Google Shape;419;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Dorsal-rim afferents reach a specialized medulla region</a:t>
            </a:r>
            <a:endParaRPr sz="1800">
              <a:solidFill>
                <a:schemeClr val="dk1"/>
              </a:solidFill>
              <a:latin typeface="Calibri"/>
              <a:ea typeface="Calibri"/>
              <a:cs typeface="Calibri"/>
              <a:sym typeface="Calibri"/>
            </a:endParaRPr>
          </a:p>
        </p:txBody>
      </p:sp>
      <p:sp>
        <p:nvSpPr>
          <p:cNvPr id="420" name="Google Shape;420;p31"/>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Zeller and colleagues injected fluorescent tracers into the dorsal rim of the honeybee eye and labeled surrounding neuropil. </a:t>
            </a:r>
            <a:r>
              <a:rPr b="1" i="0" lang="en-US" sz="1600">
                <a:solidFill>
                  <a:srgbClr val="3F5063"/>
                </a:solidFill>
                <a:latin typeface="Arial"/>
                <a:ea typeface="Arial"/>
                <a:cs typeface="Arial"/>
                <a:sym typeface="Arial"/>
              </a:rPr>
              <a:t>Neuropil</a:t>
            </a:r>
            <a:r>
              <a:rPr b="0" i="0" lang="en-US" sz="1600">
                <a:solidFill>
                  <a:srgbClr val="252B32"/>
                </a:solidFill>
                <a:latin typeface="Arial"/>
                <a:ea typeface="Arial"/>
                <a:cs typeface="Arial"/>
                <a:sym typeface="Arial"/>
              </a:rPr>
              <a:t> is tissue containing interwoven neuronal branches and synapses. The medulla is a visual-processing region within the optic lobe.</a:t>
            </a:r>
            <a:endParaRPr sz="1800">
              <a:solidFill>
                <a:schemeClr val="dk1"/>
              </a:solidFill>
              <a:latin typeface="Calibri"/>
              <a:ea typeface="Calibri"/>
              <a:cs typeface="Calibri"/>
              <a:sym typeface="Calibri"/>
            </a:endParaRPr>
          </a:p>
        </p:txBody>
      </p:sp>
      <p:sp>
        <p:nvSpPr>
          <p:cNvPr id="421" name="Google Shape;421;p31"/>
          <p:cNvSpPr/>
          <p:nvPr/>
        </p:nvSpPr>
        <p:spPr>
          <a:xfrm>
            <a:off x="566886" y="2453134"/>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Dorsal-rim input reached a distinct dorsal-medulla compartment called the </a:t>
            </a:r>
            <a:r>
              <a:rPr b="1" i="0" lang="en-US" sz="1600">
                <a:solidFill>
                  <a:srgbClr val="3F5063"/>
                </a:solidFill>
                <a:latin typeface="Arial"/>
                <a:ea typeface="Arial"/>
                <a:cs typeface="Arial"/>
                <a:sym typeface="Arial"/>
              </a:rPr>
              <a:t>MEDRA</a:t>
            </a:r>
            <a:r>
              <a:rPr b="0" i="0" lang="en-US" sz="1600">
                <a:solidFill>
                  <a:srgbClr val="252B32"/>
                </a:solidFill>
                <a:latin typeface="Arial"/>
                <a:ea typeface="Arial"/>
                <a:cs typeface="Arial"/>
                <a:sym typeface="Arial"/>
              </a:rPr>
              <a:t>. Complementary injections into other pathway regions and synapsin labeling distinguished this compartment from neighboring medulla. The published micrographs preserve anatomical orientation and micrometer scale bars.</a:t>
            </a:r>
            <a:endParaRPr sz="1800">
              <a:solidFill>
                <a:schemeClr val="dk1"/>
              </a:solidFill>
              <a:latin typeface="Calibri"/>
              <a:ea typeface="Calibri"/>
              <a:cs typeface="Calibri"/>
              <a:sym typeface="Calibri"/>
            </a:endParaRPr>
          </a:p>
        </p:txBody>
      </p:sp>
      <p:sp>
        <p:nvSpPr>
          <p:cNvPr id="422" name="Google Shape;422;p31"/>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This tracing identifies an entry pathway for polarization-associated visual input. It does not by itself measure e-vector tuning or prove that every labeled connection is required for dance orientation. Anatomical localization and Sakura’s regional-occlusion experiment address different links between sensory specialization and behavior.</a:t>
            </a:r>
            <a:endParaRPr sz="1800">
              <a:solidFill>
                <a:schemeClr val="dk1"/>
              </a:solidFill>
              <a:latin typeface="Calibri"/>
              <a:ea typeface="Calibri"/>
              <a:cs typeface="Calibri"/>
              <a:sym typeface="Calibri"/>
            </a:endParaRPr>
          </a:p>
        </p:txBody>
      </p:sp>
      <p:pic>
        <p:nvPicPr>
          <p:cNvPr id="423" name="Google Shape;423;p31"/>
          <p:cNvPicPr preferRelativeResize="0"/>
          <p:nvPr/>
        </p:nvPicPr>
        <p:blipFill rotWithShape="1">
          <a:blip r:embed="rId3">
            <a:alphaModFix/>
          </a:blip>
          <a:srcRect b="0" l="0" r="0" t="0"/>
          <a:stretch/>
        </p:blipFill>
        <p:spPr>
          <a:xfrm>
            <a:off x="6790797" y="1280071"/>
            <a:ext cx="4501916" cy="4297561"/>
          </a:xfrm>
          <a:prstGeom prst="rect">
            <a:avLst/>
          </a:prstGeom>
          <a:noFill/>
          <a:ln>
            <a:noFill/>
          </a:ln>
        </p:spPr>
      </p:pic>
      <p:sp>
        <p:nvSpPr>
          <p:cNvPr id="424" name="Google Shape;424;p31"/>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1A–F. Dorsal-rim input reaches dorsal medulla.</a:t>
            </a:r>
            <a:endParaRPr sz="1800">
              <a:solidFill>
                <a:schemeClr val="dk1"/>
              </a:solidFill>
              <a:latin typeface="Calibri"/>
              <a:ea typeface="Calibri"/>
              <a:cs typeface="Calibri"/>
              <a:sym typeface="Calibri"/>
            </a:endParaRPr>
          </a:p>
        </p:txBody>
      </p:sp>
      <p:sp>
        <p:nvSpPr>
          <p:cNvPr id="425" name="Google Shape;425;p31"/>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Zeller et al. (2015); Sakura et al. (2012)</a:t>
            </a:r>
            <a:endParaRPr sz="1800">
              <a:solidFill>
                <a:schemeClr val="dk1"/>
              </a:solidFill>
              <a:latin typeface="Calibri"/>
              <a:ea typeface="Calibri"/>
              <a:cs typeface="Calibri"/>
              <a:sym typeface="Calibri"/>
            </a:endParaRPr>
          </a:p>
        </p:txBody>
      </p:sp>
      <p:sp>
        <p:nvSpPr>
          <p:cNvPr id="427" name="Google Shape;427;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Transmedulla neurons relay dorsal visual input medially</a:t>
            </a:r>
            <a:endParaRPr sz="1800">
              <a:solidFill>
                <a:schemeClr val="dk1"/>
              </a:solidFill>
              <a:latin typeface="Calibri"/>
              <a:ea typeface="Calibri"/>
              <a:cs typeface="Calibri"/>
              <a:sym typeface="Calibri"/>
            </a:endParaRPr>
          </a:p>
        </p:txBody>
      </p:sp>
      <p:sp>
        <p:nvSpPr>
          <p:cNvPr id="433" name="Google Shape;433;p32"/>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Zeller and colleagues traced </a:t>
            </a:r>
            <a:r>
              <a:rPr b="1" i="0" lang="en-US" sz="1500">
                <a:solidFill>
                  <a:srgbClr val="3F5063"/>
                </a:solidFill>
                <a:latin typeface="Arial"/>
                <a:ea typeface="Arial"/>
                <a:cs typeface="Arial"/>
                <a:sym typeface="Arial"/>
              </a:rPr>
              <a:t>transmedulla neurons</a:t>
            </a:r>
            <a:r>
              <a:rPr b="0" i="0" lang="en-US" sz="1500">
                <a:solidFill>
                  <a:srgbClr val="252B32"/>
                </a:solidFill>
                <a:latin typeface="Arial"/>
                <a:ea typeface="Arial"/>
                <a:cs typeface="Arial"/>
                <a:sym typeface="Arial"/>
              </a:rPr>
              <a:t>, cells whose branches cross the medulla from the dorsal-rim-associated input compartment toward more medial brain regions. Dye injections from different locations provided complementary views of their branching pattern.</a:t>
            </a:r>
            <a:endParaRPr sz="1800">
              <a:solidFill>
                <a:schemeClr val="dk1"/>
              </a:solidFill>
              <a:latin typeface="Calibri"/>
              <a:ea typeface="Calibri"/>
              <a:cs typeface="Calibri"/>
              <a:sym typeface="Calibri"/>
            </a:endParaRPr>
          </a:p>
        </p:txBody>
      </p:sp>
      <p:sp>
        <p:nvSpPr>
          <p:cNvPr id="434" name="Google Shape;434;p32"/>
          <p:cNvSpPr/>
          <p:nvPr/>
        </p:nvSpPr>
        <p:spPr>
          <a:xfrm>
            <a:off x="566886" y="237708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These neurons arborized in the MEDRA and extended through a defined medulla layer. Their medial projections reached the lower-unit complex of the </a:t>
            </a:r>
            <a:r>
              <a:rPr b="1" i="0" lang="en-US" sz="1500">
                <a:solidFill>
                  <a:srgbClr val="3F5063"/>
                </a:solidFill>
                <a:latin typeface="Arial"/>
                <a:ea typeface="Arial"/>
                <a:cs typeface="Arial"/>
                <a:sym typeface="Arial"/>
              </a:rPr>
              <a:t>anterior optic tubercle</a:t>
            </a:r>
            <a:r>
              <a:rPr b="0" i="0" lang="en-US" sz="1500">
                <a:solidFill>
                  <a:srgbClr val="252B32"/>
                </a:solidFill>
                <a:latin typeface="Arial"/>
                <a:ea typeface="Arial"/>
                <a:cs typeface="Arial"/>
                <a:sym typeface="Arial"/>
              </a:rPr>
              <a:t>, a visual-processing center outside the optic lobe. Fine terminal morphology distinguished plausible input and output portions of the pathway.</a:t>
            </a:r>
            <a:endParaRPr sz="1800">
              <a:solidFill>
                <a:schemeClr val="dk1"/>
              </a:solidFill>
              <a:latin typeface="Calibri"/>
              <a:ea typeface="Calibri"/>
              <a:cs typeface="Calibri"/>
              <a:sym typeface="Calibri"/>
            </a:endParaRPr>
          </a:p>
        </p:txBody>
      </p:sp>
      <p:sp>
        <p:nvSpPr>
          <p:cNvPr id="435" name="Google Shape;435;p32"/>
          <p:cNvSpPr/>
          <p:nvPr/>
        </p:nvSpPr>
        <p:spPr>
          <a:xfrm>
            <a:off x="566886" y="372546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 ordered projection provides an anatomical route from specialized eye input toward central compass circuitry. Morphology supports this direction of information flow but cannot replace physiological measurements of transmission. The study did not identify a transmitter for every transmedulla cell or directly establish its role in correcting a dance angle for time of day.</a:t>
            </a:r>
            <a:endParaRPr sz="1800">
              <a:solidFill>
                <a:schemeClr val="dk1"/>
              </a:solidFill>
              <a:latin typeface="Calibri"/>
              <a:ea typeface="Calibri"/>
              <a:cs typeface="Calibri"/>
              <a:sym typeface="Calibri"/>
            </a:endParaRPr>
          </a:p>
        </p:txBody>
      </p:sp>
      <p:pic>
        <p:nvPicPr>
          <p:cNvPr id="436" name="Google Shape;436;p32"/>
          <p:cNvPicPr preferRelativeResize="0"/>
          <p:nvPr/>
        </p:nvPicPr>
        <p:blipFill rotWithShape="1">
          <a:blip r:embed="rId3">
            <a:alphaModFix/>
          </a:blip>
          <a:srcRect b="0" l="0" r="0" t="0"/>
          <a:stretch/>
        </p:blipFill>
        <p:spPr>
          <a:xfrm>
            <a:off x="7770063" y="1280071"/>
            <a:ext cx="2543384" cy="2148780"/>
          </a:xfrm>
          <a:prstGeom prst="rect">
            <a:avLst/>
          </a:prstGeom>
          <a:noFill/>
          <a:ln>
            <a:noFill/>
          </a:ln>
        </p:spPr>
      </p:pic>
      <p:sp>
        <p:nvSpPr>
          <p:cNvPr id="437" name="Google Shape;437;p32"/>
          <p:cNvSpPr/>
          <p:nvPr/>
        </p:nvSpPr>
        <p:spPr>
          <a:xfrm>
            <a:off x="6458396" y="352038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2A–F. Transmedulla neuron branches and medial projections.</a:t>
            </a:r>
            <a:endParaRPr sz="1800">
              <a:solidFill>
                <a:schemeClr val="dk1"/>
              </a:solidFill>
              <a:latin typeface="Calibri"/>
              <a:ea typeface="Calibri"/>
              <a:cs typeface="Calibri"/>
              <a:sym typeface="Calibri"/>
            </a:endParaRPr>
          </a:p>
        </p:txBody>
      </p:sp>
      <p:pic>
        <p:nvPicPr>
          <p:cNvPr id="438" name="Google Shape;438;p32"/>
          <p:cNvPicPr preferRelativeResize="0"/>
          <p:nvPr/>
        </p:nvPicPr>
        <p:blipFill rotWithShape="1">
          <a:blip r:embed="rId4">
            <a:alphaModFix/>
          </a:blip>
          <a:srcRect b="0" l="0" r="0" t="0"/>
          <a:stretch/>
        </p:blipFill>
        <p:spPr>
          <a:xfrm>
            <a:off x="7989169" y="3977580"/>
            <a:ext cx="2105320" cy="1782961"/>
          </a:xfrm>
          <a:prstGeom prst="rect">
            <a:avLst/>
          </a:prstGeom>
          <a:noFill/>
          <a:ln>
            <a:noFill/>
          </a:ln>
        </p:spPr>
      </p:pic>
      <p:sp>
        <p:nvSpPr>
          <p:cNvPr id="439" name="Google Shape;439;p32"/>
          <p:cNvSpPr/>
          <p:nvPr/>
        </p:nvSpPr>
        <p:spPr>
          <a:xfrm>
            <a:off x="6458396" y="583376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3A–D. Projections to the lower anterior optic tubercle.</a:t>
            </a:r>
            <a:endParaRPr sz="1800">
              <a:solidFill>
                <a:schemeClr val="dk1"/>
              </a:solidFill>
              <a:latin typeface="Calibri"/>
              <a:ea typeface="Calibri"/>
              <a:cs typeface="Calibri"/>
              <a:sym typeface="Calibri"/>
            </a:endParaRPr>
          </a:p>
        </p:txBody>
      </p:sp>
      <p:sp>
        <p:nvSpPr>
          <p:cNvPr id="440" name="Google Shape;440;p32"/>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Zeller et al. (2015)</a:t>
            </a:r>
            <a:endParaRPr sz="1800">
              <a:solidFill>
                <a:schemeClr val="dk1"/>
              </a:solidFill>
              <a:latin typeface="Calibri"/>
              <a:ea typeface="Calibri"/>
              <a:cs typeface="Calibri"/>
              <a:sym typeface="Calibri"/>
            </a:endParaRPr>
          </a:p>
        </p:txBody>
      </p:sp>
      <p:sp>
        <p:nvSpPr>
          <p:cNvPr id="442" name="Google Shape;442;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PDF-positive fibers are candidate timing inputs</a:t>
            </a:r>
            <a:endParaRPr sz="1800">
              <a:solidFill>
                <a:schemeClr val="dk1"/>
              </a:solidFill>
              <a:latin typeface="Calibri"/>
              <a:ea typeface="Calibri"/>
              <a:cs typeface="Calibri"/>
              <a:sym typeface="Calibri"/>
            </a:endParaRPr>
          </a:p>
        </p:txBody>
      </p:sp>
      <p:sp>
        <p:nvSpPr>
          <p:cNvPr id="448" name="Google Shape;448;p33"/>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600"/>
              <a:buFont typeface="Arial"/>
              <a:buNone/>
            </a:pPr>
            <a:r>
              <a:rPr b="1" i="0" lang="en-US" sz="1600">
                <a:solidFill>
                  <a:srgbClr val="3F5063"/>
                </a:solidFill>
                <a:latin typeface="Arial"/>
                <a:ea typeface="Arial"/>
                <a:cs typeface="Arial"/>
                <a:sym typeface="Arial"/>
              </a:rPr>
              <a:t>Pigment-dispersing factor</a:t>
            </a:r>
            <a:r>
              <a:rPr b="0" i="0" lang="en-US" sz="1600">
                <a:solidFill>
                  <a:srgbClr val="252B32"/>
                </a:solidFill>
                <a:latin typeface="Arial"/>
                <a:ea typeface="Arial"/>
                <a:cs typeface="Arial"/>
                <a:sym typeface="Arial"/>
              </a:rPr>
              <a:t>, or </a:t>
            </a:r>
            <a:r>
              <a:rPr b="1" i="0" lang="en-US" sz="1600">
                <a:solidFill>
                  <a:srgbClr val="3F5063"/>
                </a:solidFill>
                <a:latin typeface="Arial"/>
                <a:ea typeface="Arial"/>
                <a:cs typeface="Arial"/>
                <a:sym typeface="Arial"/>
              </a:rPr>
              <a:t>PDF</a:t>
            </a:r>
            <a:r>
              <a:rPr b="0" i="0" lang="en-US" sz="1600">
                <a:solidFill>
                  <a:srgbClr val="252B32"/>
                </a:solidFill>
                <a:latin typeface="Arial"/>
                <a:ea typeface="Arial"/>
                <a:cs typeface="Arial"/>
                <a:sym typeface="Arial"/>
              </a:rPr>
              <a:t>, is a neuropeptide associated with circadian signaling in insects. Zeller and colleagues combined PDF immunostaining with tracer labeling of transmedulla neurons to ask where potential timing input could meet the honeybee sky-compass pathway.</a:t>
            </a:r>
            <a:endParaRPr sz="1800">
              <a:solidFill>
                <a:schemeClr val="dk1"/>
              </a:solidFill>
              <a:latin typeface="Calibri"/>
              <a:ea typeface="Calibri"/>
              <a:cs typeface="Calibri"/>
              <a:sym typeface="Calibri"/>
            </a:endParaRPr>
          </a:p>
        </p:txBody>
      </p:sp>
      <p:sp>
        <p:nvSpPr>
          <p:cNvPr id="449" name="Google Shape;449;p33"/>
          <p:cNvSpPr/>
          <p:nvPr/>
        </p:nvSpPr>
        <p:spPr>
          <a:xfrm>
            <a:off x="566886" y="2672507"/>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PDF-positive fibers occupied the same medulla layer as parts of the traced neurons. At higher magnification, labeled puncta lay in close proximity along their passage through the medulla. The two labels did not colocalize, and PDF labeling was not found within the MEDRA itself.</a:t>
            </a:r>
            <a:endParaRPr sz="1800">
              <a:solidFill>
                <a:schemeClr val="dk1"/>
              </a:solidFill>
              <a:latin typeface="Calibri"/>
              <a:ea typeface="Calibri"/>
              <a:cs typeface="Calibri"/>
              <a:sym typeface="Calibri"/>
            </a:endParaRPr>
          </a:p>
        </p:txBody>
      </p:sp>
      <p:sp>
        <p:nvSpPr>
          <p:cNvPr id="450" name="Google Shape;450;p33"/>
          <p:cNvSpPr/>
          <p:nvPr/>
        </p:nvSpPr>
        <p:spPr>
          <a:xfrm>
            <a:off x="566886" y="389126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result identifies neighboring neuronal populations and a candidate site for modulation. Close proximity does not establish peptide release, a postsynaptic PDF receptor or a functional synapse. Circadian compass correction is therefore a proposed role of this contact region rather than a demonstrated action of PDF on these neurons.</a:t>
            </a:r>
            <a:endParaRPr sz="1800">
              <a:solidFill>
                <a:schemeClr val="dk1"/>
              </a:solidFill>
              <a:latin typeface="Calibri"/>
              <a:ea typeface="Calibri"/>
              <a:cs typeface="Calibri"/>
              <a:sym typeface="Calibri"/>
            </a:endParaRPr>
          </a:p>
        </p:txBody>
      </p:sp>
      <p:pic>
        <p:nvPicPr>
          <p:cNvPr id="451" name="Google Shape;451;p33"/>
          <p:cNvPicPr preferRelativeResize="0"/>
          <p:nvPr/>
        </p:nvPicPr>
        <p:blipFill rotWithShape="1">
          <a:blip r:embed="rId3">
            <a:alphaModFix/>
          </a:blip>
          <a:srcRect b="0" l="0" r="0" t="0"/>
          <a:stretch/>
        </p:blipFill>
        <p:spPr>
          <a:xfrm>
            <a:off x="6458603" y="1280071"/>
            <a:ext cx="5166006" cy="2355503"/>
          </a:xfrm>
          <a:prstGeom prst="rect">
            <a:avLst/>
          </a:prstGeom>
          <a:noFill/>
          <a:ln>
            <a:noFill/>
          </a:ln>
        </p:spPr>
      </p:pic>
      <p:sp>
        <p:nvSpPr>
          <p:cNvPr id="452" name="Google Shape;452;p33"/>
          <p:cNvSpPr/>
          <p:nvPr/>
        </p:nvSpPr>
        <p:spPr>
          <a:xfrm>
            <a:off x="6458396" y="3727103"/>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5A–C. PDF-positive fibers lie beside transmedulla neurons.</a:t>
            </a:r>
            <a:endParaRPr sz="1800">
              <a:solidFill>
                <a:schemeClr val="dk1"/>
              </a:solidFill>
              <a:latin typeface="Calibri"/>
              <a:ea typeface="Calibri"/>
              <a:cs typeface="Calibri"/>
              <a:sym typeface="Calibri"/>
            </a:endParaRPr>
          </a:p>
        </p:txBody>
      </p:sp>
      <p:sp>
        <p:nvSpPr>
          <p:cNvPr id="453" name="Google Shape;453;p33"/>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Zeller et al. (2015)</a:t>
            </a:r>
            <a:endParaRPr sz="1800">
              <a:solidFill>
                <a:schemeClr val="dk1"/>
              </a:solidFill>
              <a:latin typeface="Calibri"/>
              <a:ea typeface="Calibri"/>
              <a:cs typeface="Calibri"/>
              <a:sym typeface="Calibri"/>
            </a:endParaRPr>
          </a:p>
        </p:txBody>
      </p:sp>
      <p:sp>
        <p:nvSpPr>
          <p:cNvPr id="455" name="Google Shape;455;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Serotonin and GABA lie near compass-pathway branches</a:t>
            </a:r>
            <a:endParaRPr sz="1800">
              <a:solidFill>
                <a:schemeClr val="dk1"/>
              </a:solidFill>
              <a:latin typeface="Calibri"/>
              <a:ea typeface="Calibri"/>
              <a:cs typeface="Calibri"/>
              <a:sym typeface="Calibri"/>
            </a:endParaRPr>
          </a:p>
        </p:txBody>
      </p:sp>
      <p:sp>
        <p:nvSpPr>
          <p:cNvPr id="461" name="Google Shape;461;p34"/>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Zeller and colleagues combined transmedulla tracer labeling with antibodies against </a:t>
            </a:r>
            <a:r>
              <a:rPr b="1" i="0" lang="en-US" sz="1500">
                <a:solidFill>
                  <a:srgbClr val="3F5063"/>
                </a:solidFill>
                <a:latin typeface="Arial"/>
                <a:ea typeface="Arial"/>
                <a:cs typeface="Arial"/>
                <a:sym typeface="Arial"/>
              </a:rPr>
              <a:t>serotonin</a:t>
            </a:r>
            <a:r>
              <a:rPr b="0" i="0" lang="en-US" sz="1500">
                <a:solidFill>
                  <a:srgbClr val="252B32"/>
                </a:solidFill>
                <a:latin typeface="Arial"/>
                <a:ea typeface="Arial"/>
                <a:cs typeface="Arial"/>
                <a:sym typeface="Arial"/>
              </a:rPr>
              <a:t>, a monoamine signaling molecule, and </a:t>
            </a:r>
            <a:r>
              <a:rPr b="1" i="0" lang="en-US" sz="1500">
                <a:solidFill>
                  <a:srgbClr val="3F5063"/>
                </a:solidFill>
                <a:latin typeface="Arial"/>
                <a:ea typeface="Arial"/>
                <a:cs typeface="Arial"/>
                <a:sym typeface="Arial"/>
              </a:rPr>
              <a:t>GABA</a:t>
            </a:r>
            <a:r>
              <a:rPr b="0" i="0" lang="en-US" sz="1500">
                <a:solidFill>
                  <a:srgbClr val="252B32"/>
                </a:solidFill>
                <a:latin typeface="Arial"/>
                <a:ea typeface="Arial"/>
                <a:cs typeface="Arial"/>
                <a:sym typeface="Arial"/>
              </a:rPr>
              <a:t>, gamma-aminobutyric acid. GABA commonly contributes inhibitory signaling, but its action at a particular connection requires receptor and physiological evidence.</a:t>
            </a:r>
            <a:endParaRPr sz="1800">
              <a:solidFill>
                <a:schemeClr val="dk1"/>
              </a:solidFill>
              <a:latin typeface="Calibri"/>
              <a:ea typeface="Calibri"/>
              <a:cs typeface="Calibri"/>
              <a:sym typeface="Calibri"/>
            </a:endParaRPr>
          </a:p>
        </p:txBody>
      </p:sp>
      <p:sp>
        <p:nvSpPr>
          <p:cNvPr id="462" name="Google Shape;462;p34"/>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Serotonin-positive puncta overlapped the dorsal portion of the relevant medulla layer but not the MEDRA. GABA-positive fibers lay near transmedulla branches throughout their length, including the MEDRA. In both preparations, tracer and transmitter labels marked different populations rather than the same cells.</a:t>
            </a:r>
            <a:endParaRPr sz="1800">
              <a:solidFill>
                <a:schemeClr val="dk1"/>
              </a:solidFill>
              <a:latin typeface="Calibri"/>
              <a:ea typeface="Calibri"/>
              <a:cs typeface="Calibri"/>
              <a:sym typeface="Calibri"/>
            </a:endParaRPr>
          </a:p>
        </p:txBody>
      </p:sp>
      <p:sp>
        <p:nvSpPr>
          <p:cNvPr id="463" name="Google Shape;463;p34"/>
          <p:cNvSpPr/>
          <p:nvPr/>
        </p:nvSpPr>
        <p:spPr>
          <a:xfrm>
            <a:off x="566886" y="393114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These spatial relationships support candidate modulatory and local processing interactions. They do not establish whether serotonin increases or decreases compass-pathway excitability or whether a particular GABA receptor or chloride conductance mediates an effect. The necessary receptor identity, synaptic direction and time-dependent physiology remain unmeasured in this anatomical study.</a:t>
            </a:r>
            <a:endParaRPr sz="1800">
              <a:solidFill>
                <a:schemeClr val="dk1"/>
              </a:solidFill>
              <a:latin typeface="Calibri"/>
              <a:ea typeface="Calibri"/>
              <a:cs typeface="Calibri"/>
              <a:sym typeface="Calibri"/>
            </a:endParaRPr>
          </a:p>
        </p:txBody>
      </p:sp>
      <p:pic>
        <p:nvPicPr>
          <p:cNvPr id="464" name="Google Shape;464;p34"/>
          <p:cNvPicPr preferRelativeResize="0"/>
          <p:nvPr/>
        </p:nvPicPr>
        <p:blipFill rotWithShape="1">
          <a:blip r:embed="rId3">
            <a:alphaModFix/>
          </a:blip>
          <a:srcRect b="0" l="0" r="0" t="0"/>
          <a:stretch/>
        </p:blipFill>
        <p:spPr>
          <a:xfrm>
            <a:off x="6692422" y="1280071"/>
            <a:ext cx="4698667" cy="2148780"/>
          </a:xfrm>
          <a:prstGeom prst="rect">
            <a:avLst/>
          </a:prstGeom>
          <a:noFill/>
          <a:ln>
            <a:noFill/>
          </a:ln>
        </p:spPr>
      </p:pic>
      <p:sp>
        <p:nvSpPr>
          <p:cNvPr id="465" name="Google Shape;465;p34"/>
          <p:cNvSpPr/>
          <p:nvPr/>
        </p:nvSpPr>
        <p:spPr>
          <a:xfrm>
            <a:off x="6458396" y="352038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6A–C. Serotonin-positive fibers and transmedulla neurons.</a:t>
            </a:r>
            <a:endParaRPr sz="1800">
              <a:solidFill>
                <a:schemeClr val="dk1"/>
              </a:solidFill>
              <a:latin typeface="Calibri"/>
              <a:ea typeface="Calibri"/>
              <a:cs typeface="Calibri"/>
              <a:sym typeface="Calibri"/>
            </a:endParaRPr>
          </a:p>
        </p:txBody>
      </p:sp>
      <p:pic>
        <p:nvPicPr>
          <p:cNvPr id="466" name="Google Shape;466;p34"/>
          <p:cNvPicPr preferRelativeResize="0"/>
          <p:nvPr/>
        </p:nvPicPr>
        <p:blipFill rotWithShape="1">
          <a:blip r:embed="rId4">
            <a:alphaModFix/>
          </a:blip>
          <a:srcRect b="0" l="0" r="0" t="0"/>
          <a:stretch/>
        </p:blipFill>
        <p:spPr>
          <a:xfrm>
            <a:off x="6884516" y="3977580"/>
            <a:ext cx="4314181" cy="1782961"/>
          </a:xfrm>
          <a:prstGeom prst="rect">
            <a:avLst/>
          </a:prstGeom>
          <a:noFill/>
          <a:ln>
            <a:noFill/>
          </a:ln>
        </p:spPr>
      </p:pic>
      <p:sp>
        <p:nvSpPr>
          <p:cNvPr id="467" name="Google Shape;467;p34"/>
          <p:cNvSpPr/>
          <p:nvPr/>
        </p:nvSpPr>
        <p:spPr>
          <a:xfrm>
            <a:off x="6458396" y="583376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7A–C. GABA-positive fibers near compass-pathway cells.</a:t>
            </a:r>
            <a:endParaRPr sz="1800">
              <a:solidFill>
                <a:schemeClr val="dk1"/>
              </a:solidFill>
              <a:latin typeface="Calibri"/>
              <a:ea typeface="Calibri"/>
              <a:cs typeface="Calibri"/>
              <a:sym typeface="Calibri"/>
            </a:endParaRPr>
          </a:p>
        </p:txBody>
      </p:sp>
      <p:sp>
        <p:nvSpPr>
          <p:cNvPr id="468" name="Google Shape;468;p34"/>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Zeller et al. (2015)</a:t>
            </a:r>
            <a:endParaRPr sz="1800">
              <a:solidFill>
                <a:schemeClr val="dk1"/>
              </a:solidFill>
              <a:latin typeface="Calibri"/>
              <a:ea typeface="Calibri"/>
              <a:cs typeface="Calibri"/>
              <a:sym typeface="Calibri"/>
            </a:endParaRPr>
          </a:p>
        </p:txBody>
      </p:sp>
      <p:sp>
        <p:nvSpPr>
          <p:cNvPr id="470" name="Google Shape;470;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4" name="Shape 474"/>
        <p:cNvGrpSpPr/>
        <p:nvPr/>
      </p:nvGrpSpPr>
      <p:grpSpPr>
        <a:xfrm>
          <a:off x="0" y="0"/>
          <a:ext cx="0" cy="0"/>
          <a:chOff x="0" y="0"/>
          <a:chExt cx="0" cy="0"/>
        </a:xfrm>
      </p:grpSpPr>
      <p:sp>
        <p:nvSpPr>
          <p:cNvPr id="475" name="Google Shape;475;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Tubercle outputs reach bulbs and the central body</a:t>
            </a:r>
            <a:endParaRPr sz="1800">
              <a:solidFill>
                <a:schemeClr val="dk1"/>
              </a:solidFill>
              <a:latin typeface="Calibri"/>
              <a:ea typeface="Calibri"/>
              <a:cs typeface="Calibri"/>
              <a:sym typeface="Calibri"/>
            </a:endParaRPr>
          </a:p>
        </p:txBody>
      </p:sp>
      <p:sp>
        <p:nvSpPr>
          <p:cNvPr id="476" name="Google Shape;476;p35"/>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Held and colleagues traced the honeybee sky-compass network using dye injections, neuropil labeling and single-cell preparations. </a:t>
            </a:r>
            <a:r>
              <a:rPr b="1" i="0" lang="en-US" sz="1600">
                <a:solidFill>
                  <a:srgbClr val="3F5063"/>
                </a:solidFill>
                <a:latin typeface="Arial"/>
                <a:ea typeface="Arial"/>
                <a:cs typeface="Arial"/>
                <a:sym typeface="Arial"/>
              </a:rPr>
              <a:t>TuLAL1 neurons</a:t>
            </a:r>
            <a:r>
              <a:rPr b="0" i="0" lang="en-US" sz="1600">
                <a:solidFill>
                  <a:srgbClr val="252B32"/>
                </a:solidFill>
                <a:latin typeface="Arial"/>
                <a:ea typeface="Arial"/>
                <a:cs typeface="Arial"/>
                <a:sym typeface="Arial"/>
              </a:rPr>
              <a:t> project from the anterior optic tubercle toward paired synaptic regions called the lateral and medial </a:t>
            </a:r>
            <a:r>
              <a:rPr b="1" i="0" lang="en-US" sz="1600">
                <a:solidFill>
                  <a:srgbClr val="3F5063"/>
                </a:solidFill>
                <a:latin typeface="Arial"/>
                <a:ea typeface="Arial"/>
                <a:cs typeface="Arial"/>
                <a:sym typeface="Arial"/>
              </a:rPr>
              <a:t>bulbs</a:t>
            </a:r>
            <a:r>
              <a:rPr b="0" i="0" lang="en-US" sz="1600">
                <a:solidFill>
                  <a:srgbClr val="252B32"/>
                </a:solidFill>
                <a:latin typeface="Arial"/>
                <a:ea typeface="Arial"/>
                <a:cs typeface="Arial"/>
                <a:sym typeface="Arial"/>
              </a:rPr>
              <a:t>.</a:t>
            </a:r>
            <a:endParaRPr sz="1800">
              <a:solidFill>
                <a:schemeClr val="dk1"/>
              </a:solidFill>
              <a:latin typeface="Calibri"/>
              <a:ea typeface="Calibri"/>
              <a:cs typeface="Calibri"/>
              <a:sym typeface="Calibri"/>
            </a:endParaRPr>
          </a:p>
        </p:txBody>
      </p:sp>
      <p:sp>
        <p:nvSpPr>
          <p:cNvPr id="477" name="Google Shape;477;p35"/>
          <p:cNvSpPr/>
          <p:nvPr/>
        </p:nvSpPr>
        <p:spPr>
          <a:xfrm>
            <a:off x="566886" y="2453134"/>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A second class, </a:t>
            </a:r>
            <a:r>
              <a:rPr b="1" i="0" lang="en-US" sz="1600">
                <a:solidFill>
                  <a:srgbClr val="3F5063"/>
                </a:solidFill>
                <a:latin typeface="Arial"/>
                <a:ea typeface="Arial"/>
                <a:cs typeface="Arial"/>
                <a:sym typeface="Arial"/>
              </a:rPr>
              <a:t>TL neurons</a:t>
            </a:r>
            <a:r>
              <a:rPr b="0" i="0" lang="en-US" sz="1600">
                <a:solidFill>
                  <a:srgbClr val="252B32"/>
                </a:solidFill>
                <a:latin typeface="Arial"/>
                <a:ea typeface="Arial"/>
                <a:cs typeface="Arial"/>
                <a:sym typeface="Arial"/>
              </a:rPr>
              <a:t>, connects these bulbs with the lower division of the </a:t>
            </a:r>
            <a:r>
              <a:rPr b="1" i="0" lang="en-US" sz="1600">
                <a:solidFill>
                  <a:srgbClr val="3F5063"/>
                </a:solidFill>
                <a:latin typeface="Arial"/>
                <a:ea typeface="Arial"/>
                <a:cs typeface="Arial"/>
                <a:sym typeface="Arial"/>
              </a:rPr>
              <a:t>central body</a:t>
            </a:r>
            <a:r>
              <a:rPr b="0" i="0" lang="en-US" sz="1600">
                <a:solidFill>
                  <a:srgbClr val="252B32"/>
                </a:solidFill>
                <a:latin typeface="Arial"/>
                <a:ea typeface="Arial"/>
                <a:cs typeface="Arial"/>
                <a:sym typeface="Arial"/>
              </a:rPr>
              <a:t>, part of the central complex. The labeled branches establish two parallel anatomical routes from tubercle outputs toward central-brain circuitry associated with directional processing.</a:t>
            </a:r>
            <a:endParaRPr sz="1800">
              <a:solidFill>
                <a:schemeClr val="dk1"/>
              </a:solidFill>
              <a:latin typeface="Calibri"/>
              <a:ea typeface="Calibri"/>
              <a:cs typeface="Calibri"/>
              <a:sym typeface="Calibri"/>
            </a:endParaRPr>
          </a:p>
        </p:txBody>
      </p:sp>
      <p:sp>
        <p:nvSpPr>
          <p:cNvPr id="478" name="Google Shape;478;p35"/>
          <p:cNvSpPr/>
          <p:nvPr/>
        </p:nvSpPr>
        <p:spPr>
          <a:xfrm>
            <a:off x="566886" y="3671888"/>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bulbs provide a defined interface rather than an undifferentiated relay. The study identifies its neurons and terminal organization, but it does not directly record a honeybee heading code or demonstrate the conversion of that code into a waggle-run angle. Functional interpretations must remain separate from the measured projection anatomy.</a:t>
            </a:r>
            <a:endParaRPr sz="1800">
              <a:solidFill>
                <a:schemeClr val="dk1"/>
              </a:solidFill>
              <a:latin typeface="Calibri"/>
              <a:ea typeface="Calibri"/>
              <a:cs typeface="Calibri"/>
              <a:sym typeface="Calibri"/>
            </a:endParaRPr>
          </a:p>
        </p:txBody>
      </p:sp>
      <p:pic>
        <p:nvPicPr>
          <p:cNvPr id="479" name="Google Shape;479;p35"/>
          <p:cNvPicPr preferRelativeResize="0"/>
          <p:nvPr/>
        </p:nvPicPr>
        <p:blipFill rotWithShape="1">
          <a:blip r:embed="rId3">
            <a:alphaModFix/>
          </a:blip>
          <a:srcRect b="0" l="0" r="0" t="0"/>
          <a:stretch/>
        </p:blipFill>
        <p:spPr>
          <a:xfrm>
            <a:off x="7655042" y="1280071"/>
            <a:ext cx="2773426" cy="4297561"/>
          </a:xfrm>
          <a:prstGeom prst="rect">
            <a:avLst/>
          </a:prstGeom>
          <a:noFill/>
          <a:ln>
            <a:noFill/>
          </a:ln>
        </p:spPr>
      </p:pic>
      <p:sp>
        <p:nvSpPr>
          <p:cNvPr id="480" name="Google Shape;480;p35"/>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Held et al. (2016), Fig. 1A–F. AOTU–bulb–central-body projection anatomy.</a:t>
            </a:r>
            <a:endParaRPr sz="1800">
              <a:solidFill>
                <a:schemeClr val="dk1"/>
              </a:solidFill>
              <a:latin typeface="Calibri"/>
              <a:ea typeface="Calibri"/>
              <a:cs typeface="Calibri"/>
              <a:sym typeface="Calibri"/>
            </a:endParaRPr>
          </a:p>
        </p:txBody>
      </p:sp>
      <p:sp>
        <p:nvSpPr>
          <p:cNvPr id="481" name="Google Shape;481;p35"/>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Held et al. (2016)</a:t>
            </a:r>
            <a:endParaRPr sz="1800">
              <a:solidFill>
                <a:schemeClr val="dk1"/>
              </a:solidFill>
              <a:latin typeface="Calibri"/>
              <a:ea typeface="Calibri"/>
              <a:cs typeface="Calibri"/>
              <a:sym typeface="Calibri"/>
            </a:endParaRPr>
          </a:p>
        </p:txBody>
      </p:sp>
      <p:sp>
        <p:nvSpPr>
          <p:cNvPr id="483" name="Google Shape;483;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7" name="Shape 487"/>
        <p:cNvGrpSpPr/>
        <p:nvPr/>
      </p:nvGrpSpPr>
      <p:grpSpPr>
        <a:xfrm>
          <a:off x="0" y="0"/>
          <a:ext cx="0" cy="0"/>
          <a:chOff x="0" y="0"/>
          <a:chExt cx="0" cy="0"/>
        </a:xfrm>
      </p:grpSpPr>
      <p:sp>
        <p:nvSpPr>
          <p:cNvPr id="488" name="Google Shape;488;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Bulb microglomeruli organize convergent synaptic tissue</a:t>
            </a:r>
            <a:endParaRPr sz="1800">
              <a:solidFill>
                <a:schemeClr val="dk1"/>
              </a:solidFill>
              <a:latin typeface="Calibri"/>
              <a:ea typeface="Calibri"/>
              <a:cs typeface="Calibri"/>
              <a:sym typeface="Calibri"/>
            </a:endParaRPr>
          </a:p>
        </p:txBody>
      </p:sp>
      <p:sp>
        <p:nvSpPr>
          <p:cNvPr id="489" name="Google Shape;489;p36"/>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A </a:t>
            </a:r>
            <a:r>
              <a:rPr b="1" i="0" lang="en-US" sz="1500">
                <a:solidFill>
                  <a:srgbClr val="3F5063"/>
                </a:solidFill>
                <a:latin typeface="Arial"/>
                <a:ea typeface="Arial"/>
                <a:cs typeface="Arial"/>
                <a:sym typeface="Arial"/>
              </a:rPr>
              <a:t>microglomerulus</a:t>
            </a:r>
            <a:r>
              <a:rPr b="0" i="0" lang="en-US" sz="1500">
                <a:solidFill>
                  <a:srgbClr val="252B32"/>
                </a:solidFill>
                <a:latin typeface="Arial"/>
                <a:ea typeface="Arial"/>
                <a:cs typeface="Arial"/>
                <a:sym typeface="Arial"/>
              </a:rPr>
              <a:t> is a compact synaptic complex in which a large presynaptic terminal contacts several smaller postsynaptic processes. Held and colleagues stained honeybee bulb tissue for </a:t>
            </a:r>
            <a:r>
              <a:rPr b="1" i="0" lang="en-US" sz="1500">
                <a:solidFill>
                  <a:srgbClr val="3F5063"/>
                </a:solidFill>
                <a:latin typeface="Arial"/>
                <a:ea typeface="Arial"/>
                <a:cs typeface="Arial"/>
                <a:sym typeface="Arial"/>
              </a:rPr>
              <a:t>synapsin</a:t>
            </a:r>
            <a:r>
              <a:rPr b="0" i="0" lang="en-US" sz="1500">
                <a:solidFill>
                  <a:srgbClr val="252B32"/>
                </a:solidFill>
                <a:latin typeface="Arial"/>
                <a:ea typeface="Arial"/>
                <a:cs typeface="Arial"/>
                <a:sym typeface="Arial"/>
              </a:rPr>
              <a:t>, associated with presynaptic machinery, and filamentous actin, prominent in postsynaptic regions.</a:t>
            </a:r>
            <a:endParaRPr sz="1800">
              <a:solidFill>
                <a:schemeClr val="dk1"/>
              </a:solidFill>
              <a:latin typeface="Calibri"/>
              <a:ea typeface="Calibri"/>
              <a:cs typeface="Calibri"/>
              <a:sym typeface="Calibri"/>
            </a:endParaRPr>
          </a:p>
        </p:txBody>
      </p:sp>
      <p:sp>
        <p:nvSpPr>
          <p:cNvPr id="490" name="Google Shape;490;p36"/>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Confocal images revealed separated microglomerular complexes in the lateral and medial bulbs. Traced TuLAL1 terminals occupied the presynaptic cores, while postsynaptic processes from TL neurons contacted them. Complementary labeling linked cell projections to the local terminal organization.</a:t>
            </a:r>
            <a:endParaRPr sz="1800">
              <a:solidFill>
                <a:schemeClr val="dk1"/>
              </a:solidFill>
              <a:latin typeface="Calibri"/>
              <a:ea typeface="Calibri"/>
              <a:cs typeface="Calibri"/>
              <a:sym typeface="Calibri"/>
            </a:endParaRPr>
          </a:p>
        </p:txBody>
      </p:sp>
      <p:sp>
        <p:nvSpPr>
          <p:cNvPr id="491" name="Google Shape;491;p36"/>
          <p:cNvSpPr/>
          <p:nvPr/>
        </p:nvSpPr>
        <p:spPr>
          <a:xfrm>
            <a:off x="566886" y="393114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 stains identify an anatomical arrangement for distributing tubercle signals among downstream neurons. Confocal proximity alone cannot resolve every membrane contact, so the authors also used electron microscopy. These structures are a measured substrate for parallel processing, without establishing what exact directional information each complex carries during flight or dancing.</a:t>
            </a:r>
            <a:endParaRPr sz="1800">
              <a:solidFill>
                <a:schemeClr val="dk1"/>
              </a:solidFill>
              <a:latin typeface="Calibri"/>
              <a:ea typeface="Calibri"/>
              <a:cs typeface="Calibri"/>
              <a:sym typeface="Calibri"/>
            </a:endParaRPr>
          </a:p>
        </p:txBody>
      </p:sp>
      <p:pic>
        <p:nvPicPr>
          <p:cNvPr id="492" name="Google Shape;492;p36"/>
          <p:cNvPicPr preferRelativeResize="0"/>
          <p:nvPr/>
        </p:nvPicPr>
        <p:blipFill rotWithShape="1">
          <a:blip r:embed="rId3">
            <a:alphaModFix/>
          </a:blip>
          <a:srcRect b="0" l="0" r="0" t="0"/>
          <a:stretch/>
        </p:blipFill>
        <p:spPr>
          <a:xfrm>
            <a:off x="6458453" y="1280071"/>
            <a:ext cx="5166306" cy="3925937"/>
          </a:xfrm>
          <a:prstGeom prst="rect">
            <a:avLst/>
          </a:prstGeom>
          <a:noFill/>
          <a:ln>
            <a:noFill/>
          </a:ln>
        </p:spPr>
      </p:pic>
      <p:sp>
        <p:nvSpPr>
          <p:cNvPr id="493" name="Google Shape;493;p36"/>
          <p:cNvSpPr/>
          <p:nvPr/>
        </p:nvSpPr>
        <p:spPr>
          <a:xfrm>
            <a:off x="6458396" y="5297537"/>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Held et al. (2016), Fig. 2A–C. Synapsin and actin identify bulb microglomeruli.</a:t>
            </a:r>
            <a:endParaRPr sz="1800">
              <a:solidFill>
                <a:schemeClr val="dk1"/>
              </a:solidFill>
              <a:latin typeface="Calibri"/>
              <a:ea typeface="Calibri"/>
              <a:cs typeface="Calibri"/>
              <a:sym typeface="Calibri"/>
            </a:endParaRPr>
          </a:p>
        </p:txBody>
      </p:sp>
      <p:sp>
        <p:nvSpPr>
          <p:cNvPr id="494" name="Google Shape;494;p3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Held et al. (2016)</a:t>
            </a:r>
            <a:endParaRPr sz="1800">
              <a:solidFill>
                <a:schemeClr val="dk1"/>
              </a:solidFill>
              <a:latin typeface="Calibri"/>
              <a:ea typeface="Calibri"/>
              <a:cs typeface="Calibri"/>
              <a:sym typeface="Calibri"/>
            </a:endParaRPr>
          </a:p>
        </p:txBody>
      </p:sp>
      <p:sp>
        <p:nvSpPr>
          <p:cNvPr id="496" name="Google Shape;496;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0" name="Shape 500"/>
        <p:cNvGrpSpPr/>
        <p:nvPr/>
      </p:nvGrpSpPr>
      <p:grpSpPr>
        <a:xfrm>
          <a:off x="0" y="0"/>
          <a:ext cx="0" cy="0"/>
          <a:chOff x="0" y="0"/>
          <a:chExt cx="0" cy="0"/>
        </a:xfrm>
      </p:grpSpPr>
      <p:sp>
        <p:nvSpPr>
          <p:cNvPr id="501" name="Google Shape;501;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Electron microscopy resolves bulb synaptic contacts</a:t>
            </a:r>
            <a:endParaRPr sz="1800">
              <a:solidFill>
                <a:schemeClr val="dk1"/>
              </a:solidFill>
              <a:latin typeface="Calibri"/>
              <a:ea typeface="Calibri"/>
              <a:cs typeface="Calibri"/>
              <a:sym typeface="Calibri"/>
            </a:endParaRPr>
          </a:p>
        </p:txBody>
      </p:sp>
      <p:sp>
        <p:nvSpPr>
          <p:cNvPr id="502" name="Google Shape;502;p37"/>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Held and colleagues used transmission electron microscopy to examine honeybee bulb complexes at membrane resolution. Large TuLAL1 terminals contained vesicles and multiple presynaptic specializations facing smaller profiles. </a:t>
            </a:r>
            <a:r>
              <a:rPr b="1" i="0" lang="en-US" sz="1500">
                <a:solidFill>
                  <a:srgbClr val="3F5063"/>
                </a:solidFill>
                <a:latin typeface="Arial"/>
                <a:ea typeface="Arial"/>
                <a:cs typeface="Arial"/>
                <a:sym typeface="Arial"/>
              </a:rPr>
              <a:t>Vesicles</a:t>
            </a:r>
            <a:r>
              <a:rPr b="0" i="0" lang="en-US" sz="1500">
                <a:solidFill>
                  <a:srgbClr val="252B32"/>
                </a:solidFill>
                <a:latin typeface="Arial"/>
                <a:ea typeface="Arial"/>
                <a:cs typeface="Arial"/>
                <a:sym typeface="Arial"/>
              </a:rPr>
              <a:t> are membrane-bound structures that store releasable signaling molecules.</a:t>
            </a:r>
            <a:endParaRPr sz="1800">
              <a:solidFill>
                <a:schemeClr val="dk1"/>
              </a:solidFill>
              <a:latin typeface="Calibri"/>
              <a:ea typeface="Calibri"/>
              <a:cs typeface="Calibri"/>
              <a:sym typeface="Calibri"/>
            </a:endParaRPr>
          </a:p>
        </p:txBody>
      </p:sp>
      <p:sp>
        <p:nvSpPr>
          <p:cNvPr id="503" name="Google Shape;503;p37"/>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 authors identified </a:t>
            </a:r>
            <a:r>
              <a:rPr b="1" i="0" lang="en-US" sz="1500">
                <a:solidFill>
                  <a:srgbClr val="3F5063"/>
                </a:solidFill>
                <a:latin typeface="Arial"/>
                <a:ea typeface="Arial"/>
                <a:cs typeface="Arial"/>
                <a:sym typeface="Arial"/>
              </a:rPr>
              <a:t>dyadic</a:t>
            </a:r>
            <a:r>
              <a:rPr b="0" i="0" lang="en-US" sz="1500">
                <a:solidFill>
                  <a:srgbClr val="252B32"/>
                </a:solidFill>
                <a:latin typeface="Arial"/>
                <a:ea typeface="Arial"/>
                <a:cs typeface="Arial"/>
                <a:sym typeface="Arial"/>
              </a:rPr>
              <a:t> and </a:t>
            </a:r>
            <a:r>
              <a:rPr b="1" i="0" lang="en-US" sz="1500">
                <a:solidFill>
                  <a:srgbClr val="3F5063"/>
                </a:solidFill>
                <a:latin typeface="Arial"/>
                <a:ea typeface="Arial"/>
                <a:cs typeface="Arial"/>
                <a:sym typeface="Arial"/>
              </a:rPr>
              <a:t>tetradic</a:t>
            </a:r>
            <a:r>
              <a:rPr b="0" i="0" lang="en-US" sz="1500">
                <a:solidFill>
                  <a:srgbClr val="252B32"/>
                </a:solidFill>
                <a:latin typeface="Arial"/>
                <a:ea typeface="Arial"/>
                <a:cs typeface="Arial"/>
                <a:sym typeface="Arial"/>
              </a:rPr>
              <a:t> contacts, where one presynaptic specialization faced two or four postsynaptic profiles. GABA immunostaining associated downstream TL neurons with an inhibitory transmitter phenotype. These observations constrain connectivity more directly than a light-microscopy overlap.</a:t>
            </a:r>
            <a:endParaRPr sz="1800">
              <a:solidFill>
                <a:schemeClr val="dk1"/>
              </a:solidFill>
              <a:latin typeface="Calibri"/>
              <a:ea typeface="Calibri"/>
              <a:cs typeface="Calibri"/>
              <a:sym typeface="Calibri"/>
            </a:endParaRPr>
          </a:p>
        </p:txBody>
      </p:sp>
      <p:sp>
        <p:nvSpPr>
          <p:cNvPr id="504" name="Google Shape;504;p37"/>
          <p:cNvSpPr/>
          <p:nvPr/>
        </p:nvSpPr>
        <p:spPr>
          <a:xfrm>
            <a:off x="566886" y="393114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Synaptic morphology establishes physical contacts, and transmitter staining supports a candidate sign of downstream signaling. Neither observation identifies all postsynaptic receptors or the activity-dependent effect on a navigation computation. A GABA-associated projection is not sufficient evidence for a specific chloride-channel mechanism at every terminal in the network.</a:t>
            </a:r>
            <a:endParaRPr sz="1800">
              <a:solidFill>
                <a:schemeClr val="dk1"/>
              </a:solidFill>
              <a:latin typeface="Calibri"/>
              <a:ea typeface="Calibri"/>
              <a:cs typeface="Calibri"/>
              <a:sym typeface="Calibri"/>
            </a:endParaRPr>
          </a:p>
        </p:txBody>
      </p:sp>
      <p:pic>
        <p:nvPicPr>
          <p:cNvPr id="505" name="Google Shape;505;p37"/>
          <p:cNvPicPr preferRelativeResize="0"/>
          <p:nvPr/>
        </p:nvPicPr>
        <p:blipFill rotWithShape="1">
          <a:blip r:embed="rId3">
            <a:alphaModFix/>
          </a:blip>
          <a:srcRect b="0" l="0" r="0" t="0"/>
          <a:stretch/>
        </p:blipFill>
        <p:spPr>
          <a:xfrm>
            <a:off x="6846689" y="1280072"/>
            <a:ext cx="2743944" cy="4297558"/>
          </a:xfrm>
          <a:prstGeom prst="rect">
            <a:avLst/>
          </a:prstGeom>
          <a:noFill/>
          <a:ln>
            <a:noFill/>
          </a:ln>
        </p:spPr>
      </p:pic>
      <p:sp>
        <p:nvSpPr>
          <p:cNvPr id="506" name="Google Shape;506;p37"/>
          <p:cNvSpPr/>
          <p:nvPr/>
        </p:nvSpPr>
        <p:spPr>
          <a:xfrm>
            <a:off x="6458396" y="5669161"/>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Held et al. (2016), Fig. 7A,B. Dyadic and tetradic synapses in bulb complexes.</a:t>
            </a:r>
            <a:endParaRPr sz="1800">
              <a:solidFill>
                <a:schemeClr val="dk1"/>
              </a:solidFill>
              <a:latin typeface="Calibri"/>
              <a:ea typeface="Calibri"/>
              <a:cs typeface="Calibri"/>
              <a:sym typeface="Calibri"/>
            </a:endParaRPr>
          </a:p>
        </p:txBody>
      </p:sp>
      <p:pic>
        <p:nvPicPr>
          <p:cNvPr id="507" name="Google Shape;507;p37"/>
          <p:cNvPicPr preferRelativeResize="0"/>
          <p:nvPr/>
        </p:nvPicPr>
        <p:blipFill rotWithShape="1">
          <a:blip r:embed="rId4">
            <a:alphaModFix/>
          </a:blip>
          <a:srcRect b="0" l="0" r="0" t="0"/>
          <a:stretch/>
        </p:blipFill>
        <p:spPr>
          <a:xfrm>
            <a:off x="10161836" y="2148797"/>
            <a:ext cx="1462980" cy="1891572"/>
          </a:xfrm>
          <a:prstGeom prst="rect">
            <a:avLst/>
          </a:prstGeom>
          <a:noFill/>
          <a:ln>
            <a:noFill/>
          </a:ln>
        </p:spPr>
      </p:pic>
      <p:sp>
        <p:nvSpPr>
          <p:cNvPr id="508" name="Google Shape;508;p37"/>
          <p:cNvSpPr/>
          <p:nvPr/>
        </p:nvSpPr>
        <p:spPr>
          <a:xfrm>
            <a:off x="10161836" y="4113609"/>
            <a:ext cx="148203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Held et al. (2016), Fig. 5A–C. GABA-positive tangential-neuron terminals.</a:t>
            </a:r>
            <a:endParaRPr sz="1800">
              <a:solidFill>
                <a:schemeClr val="dk1"/>
              </a:solidFill>
              <a:latin typeface="Calibri"/>
              <a:ea typeface="Calibri"/>
              <a:cs typeface="Calibri"/>
              <a:sym typeface="Calibri"/>
            </a:endParaRPr>
          </a:p>
        </p:txBody>
      </p:sp>
      <p:sp>
        <p:nvSpPr>
          <p:cNvPr id="509" name="Google Shape;509;p37"/>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Held et al. (2016)</a:t>
            </a:r>
            <a:endParaRPr sz="1800">
              <a:solidFill>
                <a:schemeClr val="dk1"/>
              </a:solidFill>
              <a:latin typeface="Calibri"/>
              <a:ea typeface="Calibri"/>
              <a:cs typeface="Calibri"/>
              <a:sym typeface="Calibri"/>
            </a:endParaRPr>
          </a:p>
        </p:txBody>
      </p:sp>
      <p:sp>
        <p:nvSpPr>
          <p:cNvPr id="511" name="Google Shape;511;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Electric fields can mechanically deflect bee antennae</a:t>
            </a:r>
            <a:endParaRPr sz="1800">
              <a:solidFill>
                <a:schemeClr val="dk1"/>
              </a:solidFill>
              <a:latin typeface="Calibri"/>
              <a:ea typeface="Calibri"/>
              <a:cs typeface="Calibri"/>
              <a:sym typeface="Calibri"/>
            </a:endParaRPr>
          </a:p>
        </p:txBody>
      </p:sp>
      <p:sp>
        <p:nvSpPr>
          <p:cNvPr id="517" name="Google Shape;517;p38"/>
          <p:cNvSpPr/>
          <p:nvPr/>
        </p:nvSpPr>
        <p:spPr>
          <a:xfrm>
            <a:off x="566886" y="1234380"/>
            <a:ext cx="5544741"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400"/>
              <a:buFont typeface="Arial"/>
              <a:buNone/>
            </a:pPr>
            <a:r>
              <a:rPr b="0" i="0" lang="en-US" sz="1400">
                <a:solidFill>
                  <a:srgbClr val="252B32"/>
                </a:solidFill>
                <a:latin typeface="Arial"/>
                <a:ea typeface="Arial"/>
                <a:cs typeface="Arial"/>
                <a:sym typeface="Arial"/>
              </a:rPr>
              <a:t>Greggers and colleagues recorded electric fields around dancing bees and measured antennal movements during controlled electrical stimulation. Charged bodies can exert forces on nearby charged structures; detecting such a force does not require a dedicated electric-field receptor.</a:t>
            </a:r>
            <a:endParaRPr sz="1800">
              <a:solidFill>
                <a:schemeClr val="dk1"/>
              </a:solidFill>
              <a:latin typeface="Calibri"/>
              <a:ea typeface="Calibri"/>
              <a:cs typeface="Calibri"/>
              <a:sym typeface="Calibri"/>
            </a:endParaRPr>
          </a:p>
        </p:txBody>
      </p:sp>
      <p:sp>
        <p:nvSpPr>
          <p:cNvPr id="518" name="Google Shape;518;p38"/>
          <p:cNvSpPr/>
          <p:nvPr/>
        </p:nvSpPr>
        <p:spPr>
          <a:xfrm>
            <a:off x="566886" y="2300883"/>
            <a:ext cx="5544741"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400"/>
              <a:buFont typeface="Arial"/>
              <a:buNone/>
            </a:pPr>
            <a:r>
              <a:rPr b="0" i="0" lang="en-US" sz="1400">
                <a:solidFill>
                  <a:srgbClr val="252B32"/>
                </a:solidFill>
                <a:latin typeface="Arial"/>
                <a:ea typeface="Arial"/>
                <a:cs typeface="Arial"/>
                <a:sym typeface="Arial"/>
              </a:rPr>
              <a:t>An isolated wing oscillating at 40 Hz, 2 mm from the head, evoked larger flagellar movements when charge was preserved rather than discharged. Laser Doppler measurements quantified these movements. </a:t>
            </a:r>
            <a:r>
              <a:rPr b="1" i="0" lang="en-US" sz="1400">
                <a:solidFill>
                  <a:srgbClr val="3F5063"/>
                </a:solidFill>
                <a:latin typeface="Arial"/>
                <a:ea typeface="Arial"/>
                <a:cs typeface="Arial"/>
                <a:sym typeface="Arial"/>
              </a:rPr>
              <a:t>Johnston’s organ</a:t>
            </a:r>
            <a:r>
              <a:rPr b="0" i="0" lang="en-US" sz="1400">
                <a:solidFill>
                  <a:srgbClr val="252B32"/>
                </a:solidFill>
                <a:latin typeface="Arial"/>
                <a:ea typeface="Arial"/>
                <a:cs typeface="Arial"/>
                <a:sym typeface="Arial"/>
              </a:rPr>
              <a:t>, a mechanosensory organ in the antennal pedicel, responded to field-induced movement. The flagellum is the distal antennal segment, and the pedicel is its supporting joint region.</a:t>
            </a:r>
            <a:endParaRPr sz="1800">
              <a:solidFill>
                <a:schemeClr val="dk1"/>
              </a:solidFill>
              <a:latin typeface="Calibri"/>
              <a:ea typeface="Calibri"/>
              <a:cs typeface="Calibri"/>
              <a:sym typeface="Calibri"/>
            </a:endParaRPr>
          </a:p>
        </p:txBody>
      </p:sp>
      <p:sp>
        <p:nvSpPr>
          <p:cNvPr id="519" name="Google Shape;519;p38"/>
          <p:cNvSpPr/>
          <p:nvPr/>
        </p:nvSpPr>
        <p:spPr>
          <a:xfrm>
            <a:off x="566886" y="3751362"/>
            <a:ext cx="55447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400"/>
              <a:buFont typeface="Arial"/>
              <a:buNone/>
            </a:pPr>
            <a:r>
              <a:rPr b="0" i="0" lang="en-US" sz="1400">
                <a:solidFill>
                  <a:srgbClr val="252B32"/>
                </a:solidFill>
                <a:latin typeface="Arial"/>
                <a:ea typeface="Arial"/>
                <a:cs typeface="Arial"/>
                <a:sym typeface="Arial"/>
              </a:rPr>
              <a:t>The resulting sequence is an electric force, antennal displacement and activation of movement-sensitive sensory neurons. This supports a mechanical route for field detection. It does not establish that electric fields are necessary for natural dance decoding or identify the mechanotransduction channel converting movement into receptor current.</a:t>
            </a:r>
            <a:endParaRPr sz="1800">
              <a:solidFill>
                <a:schemeClr val="dk1"/>
              </a:solidFill>
              <a:latin typeface="Calibri"/>
              <a:ea typeface="Calibri"/>
              <a:cs typeface="Calibri"/>
              <a:sym typeface="Calibri"/>
            </a:endParaRPr>
          </a:p>
        </p:txBody>
      </p:sp>
      <p:pic>
        <p:nvPicPr>
          <p:cNvPr id="520" name="Google Shape;520;p38"/>
          <p:cNvPicPr preferRelativeResize="0"/>
          <p:nvPr/>
        </p:nvPicPr>
        <p:blipFill rotWithShape="1">
          <a:blip r:embed="rId3">
            <a:alphaModFix/>
          </a:blip>
          <a:srcRect b="0" l="0" r="0" t="0"/>
          <a:stretch/>
        </p:blipFill>
        <p:spPr>
          <a:xfrm>
            <a:off x="6458555" y="1280071"/>
            <a:ext cx="5166102" cy="1733252"/>
          </a:xfrm>
          <a:prstGeom prst="rect">
            <a:avLst/>
          </a:prstGeom>
          <a:noFill/>
          <a:ln>
            <a:noFill/>
          </a:ln>
        </p:spPr>
      </p:pic>
      <p:sp>
        <p:nvSpPr>
          <p:cNvPr id="521" name="Google Shape;521;p38"/>
          <p:cNvSpPr/>
          <p:nvPr/>
        </p:nvSpPr>
        <p:spPr>
          <a:xfrm>
            <a:off x="6458396" y="3104852"/>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Greggers et al. (2013), Fig. 3a,b and Fig. 4. Field-induced flagellar motion and Johnston-organ activity.</a:t>
            </a:r>
            <a:endParaRPr sz="1800">
              <a:solidFill>
                <a:schemeClr val="dk1"/>
              </a:solidFill>
              <a:latin typeface="Calibri"/>
              <a:ea typeface="Calibri"/>
              <a:cs typeface="Calibri"/>
              <a:sym typeface="Calibri"/>
            </a:endParaRPr>
          </a:p>
        </p:txBody>
      </p:sp>
      <p:pic>
        <p:nvPicPr>
          <p:cNvPr id="522" name="Google Shape;522;p38"/>
          <p:cNvPicPr preferRelativeResize="0"/>
          <p:nvPr/>
        </p:nvPicPr>
        <p:blipFill rotWithShape="1">
          <a:blip r:embed="rId4">
            <a:alphaModFix/>
          </a:blip>
          <a:srcRect b="0" l="0" r="0" t="0"/>
          <a:stretch/>
        </p:blipFill>
        <p:spPr>
          <a:xfrm>
            <a:off x="8422802" y="3977580"/>
            <a:ext cx="1237758" cy="1782961"/>
          </a:xfrm>
          <a:prstGeom prst="rect">
            <a:avLst/>
          </a:prstGeom>
          <a:noFill/>
          <a:ln>
            <a:noFill/>
          </a:ln>
        </p:spPr>
      </p:pic>
      <p:sp>
        <p:nvSpPr>
          <p:cNvPr id="523" name="Google Shape;523;p38"/>
          <p:cNvSpPr/>
          <p:nvPr/>
        </p:nvSpPr>
        <p:spPr>
          <a:xfrm>
            <a:off x="6458396" y="5833765"/>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Kumaraswamy et al. (2019), Fig. 1a–c. Antennal input, mechanosensory neuropils and DL-Int-1.</a:t>
            </a:r>
            <a:endParaRPr sz="1800">
              <a:solidFill>
                <a:schemeClr val="dk1"/>
              </a:solidFill>
              <a:latin typeface="Calibri"/>
              <a:ea typeface="Calibri"/>
              <a:cs typeface="Calibri"/>
              <a:sym typeface="Calibri"/>
            </a:endParaRPr>
          </a:p>
        </p:txBody>
      </p:sp>
      <p:sp>
        <p:nvSpPr>
          <p:cNvPr id="524" name="Google Shape;524;p38"/>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Greggers et al. (2013)</a:t>
            </a:r>
            <a:endParaRPr sz="1800">
              <a:solidFill>
                <a:schemeClr val="dk1"/>
              </a:solidFill>
              <a:latin typeface="Calibri"/>
              <a:ea typeface="Calibri"/>
              <a:cs typeface="Calibri"/>
              <a:sym typeface="Calibri"/>
            </a:endParaRPr>
          </a:p>
        </p:txBody>
      </p:sp>
      <p:sp>
        <p:nvSpPr>
          <p:cNvPr id="526" name="Google Shape;526;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0" name="Shape 530"/>
        <p:cNvGrpSpPr/>
        <p:nvPr/>
      </p:nvGrpSpPr>
      <p:grpSpPr>
        <a:xfrm>
          <a:off x="0" y="0"/>
          <a:ext cx="0" cy="0"/>
          <a:chOff x="0" y="0"/>
          <a:chExt cx="0" cy="0"/>
        </a:xfrm>
      </p:grpSpPr>
      <p:sp>
        <p:nvSpPr>
          <p:cNvPr id="531" name="Google Shape;531;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Antennal interventions reduce learned field responses</a:t>
            </a:r>
            <a:endParaRPr sz="1800">
              <a:solidFill>
                <a:schemeClr val="dk1"/>
              </a:solidFill>
              <a:latin typeface="Calibri"/>
              <a:ea typeface="Calibri"/>
              <a:cs typeface="Calibri"/>
              <a:sym typeface="Calibri"/>
            </a:endParaRPr>
          </a:p>
        </p:txBody>
      </p:sp>
      <p:sp>
        <p:nvSpPr>
          <p:cNvPr id="532" name="Google Shape;532;p39"/>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Greggers and colleagues paired an electric-field stimulus with sucrose and tested the conditioned proboscis extension response. Uncharged material or an inactive stimulus source served as the unrewarded comparison. Bees learned both constant fields and modulated stimulation at 60 Hz.</a:t>
            </a:r>
            <a:endParaRPr sz="1800">
              <a:solidFill>
                <a:schemeClr val="dk1"/>
              </a:solidFill>
              <a:latin typeface="Calibri"/>
              <a:ea typeface="Calibri"/>
              <a:cs typeface="Calibri"/>
              <a:sym typeface="Calibri"/>
            </a:endParaRPr>
          </a:p>
        </p:txBody>
      </p:sp>
      <p:sp>
        <p:nvSpPr>
          <p:cNvPr id="533" name="Google Shape;533;p39"/>
          <p:cNvSpPr/>
          <p:nvPr/>
        </p:nvSpPr>
        <p:spPr>
          <a:xfrm>
            <a:off x="566886" y="2377083"/>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After learning, removing antennae eliminated the learned field response. Wax treatments that restricted antennal joints strongly reduced it; coating surfaces while retaining movement produced a less marked reduction. Learned responses to electric cues were also retained after 24 h.</a:t>
            </a:r>
            <a:endParaRPr sz="1800">
              <a:solidFill>
                <a:schemeClr val="dk1"/>
              </a:solidFill>
              <a:latin typeface="Calibri"/>
              <a:ea typeface="Calibri"/>
              <a:cs typeface="Calibri"/>
              <a:sym typeface="Calibri"/>
            </a:endParaRPr>
          </a:p>
        </p:txBody>
      </p:sp>
      <p:sp>
        <p:nvSpPr>
          <p:cNvPr id="534" name="Google Shape;534;p39"/>
          <p:cNvSpPr/>
          <p:nvPr/>
        </p:nvSpPr>
        <p:spPr>
          <a:xfrm>
            <a:off x="566886" y="3519785"/>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 intervention pattern supports a contribution from antennal mechanoreception, including receptors associated with both joints. It does not isolate Johnston’s organ as the sole sensor or exclude every contribution from antennal surface hairs. The conditioning demonstrates a usable cue under controlled conditions, rather than its exclusive or necessary role in a crowded hive.</a:t>
            </a:r>
            <a:endParaRPr sz="1800">
              <a:solidFill>
                <a:schemeClr val="dk1"/>
              </a:solidFill>
              <a:latin typeface="Calibri"/>
              <a:ea typeface="Calibri"/>
              <a:cs typeface="Calibri"/>
              <a:sym typeface="Calibri"/>
            </a:endParaRPr>
          </a:p>
        </p:txBody>
      </p:sp>
      <p:pic>
        <p:nvPicPr>
          <p:cNvPr id="535" name="Google Shape;535;p39"/>
          <p:cNvPicPr preferRelativeResize="0"/>
          <p:nvPr/>
        </p:nvPicPr>
        <p:blipFill rotWithShape="1">
          <a:blip r:embed="rId3">
            <a:alphaModFix/>
          </a:blip>
          <a:srcRect b="0" l="0" r="0" t="0"/>
          <a:stretch/>
        </p:blipFill>
        <p:spPr>
          <a:xfrm>
            <a:off x="7194225" y="1280071"/>
            <a:ext cx="2048872" cy="4297561"/>
          </a:xfrm>
          <a:prstGeom prst="rect">
            <a:avLst/>
          </a:prstGeom>
          <a:noFill/>
          <a:ln>
            <a:noFill/>
          </a:ln>
        </p:spPr>
      </p:pic>
      <p:sp>
        <p:nvSpPr>
          <p:cNvPr id="536" name="Google Shape;536;p39"/>
          <p:cNvSpPr/>
          <p:nvPr/>
        </p:nvSpPr>
        <p:spPr>
          <a:xfrm>
            <a:off x="6458396" y="5669161"/>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Greggers et al. (2013), Fig. 7a–c. Associative learning after antennal interventions.</a:t>
            </a:r>
            <a:endParaRPr sz="1800">
              <a:solidFill>
                <a:schemeClr val="dk1"/>
              </a:solidFill>
              <a:latin typeface="Calibri"/>
              <a:ea typeface="Calibri"/>
              <a:cs typeface="Calibri"/>
              <a:sym typeface="Calibri"/>
            </a:endParaRPr>
          </a:p>
        </p:txBody>
      </p:sp>
      <p:pic>
        <p:nvPicPr>
          <p:cNvPr id="537" name="Google Shape;537;p39"/>
          <p:cNvPicPr preferRelativeResize="0"/>
          <p:nvPr/>
        </p:nvPicPr>
        <p:blipFill rotWithShape="1">
          <a:blip r:embed="rId4">
            <a:alphaModFix/>
          </a:blip>
          <a:srcRect b="0" l="0" r="0" t="0"/>
          <a:stretch/>
        </p:blipFill>
        <p:spPr>
          <a:xfrm>
            <a:off x="10161836" y="2148789"/>
            <a:ext cx="1462980" cy="2107389"/>
          </a:xfrm>
          <a:prstGeom prst="rect">
            <a:avLst/>
          </a:prstGeom>
          <a:noFill/>
          <a:ln>
            <a:noFill/>
          </a:ln>
        </p:spPr>
      </p:pic>
      <p:sp>
        <p:nvSpPr>
          <p:cNvPr id="538" name="Google Shape;538;p39"/>
          <p:cNvSpPr/>
          <p:nvPr/>
        </p:nvSpPr>
        <p:spPr>
          <a:xfrm>
            <a:off x="10161836" y="4329410"/>
            <a:ext cx="1482030"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Kumaraswamy et al. (2019), Fig. 1a–c. Antennal input, mechanosensory neuropils and DL-Int-1.</a:t>
            </a:r>
            <a:endParaRPr sz="1800">
              <a:solidFill>
                <a:schemeClr val="dk1"/>
              </a:solidFill>
              <a:latin typeface="Calibri"/>
              <a:ea typeface="Calibri"/>
              <a:cs typeface="Calibri"/>
              <a:sym typeface="Calibri"/>
            </a:endParaRPr>
          </a:p>
        </p:txBody>
      </p:sp>
      <p:sp>
        <p:nvSpPr>
          <p:cNvPr id="539" name="Google Shape;539;p39"/>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Greggers et al. (2013)</a:t>
            </a:r>
            <a:endParaRPr sz="1800">
              <a:solidFill>
                <a:schemeClr val="dk1"/>
              </a:solidFill>
              <a:latin typeface="Calibri"/>
              <a:ea typeface="Calibri"/>
              <a:cs typeface="Calibri"/>
              <a:sym typeface="Calibri"/>
            </a:endParaRPr>
          </a:p>
        </p:txBody>
      </p:sp>
      <p:sp>
        <p:nvSpPr>
          <p:cNvPr id="541" name="Google Shape;541;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5" name="Shape 545"/>
        <p:cNvGrpSpPr/>
        <p:nvPr/>
      </p:nvGrpSpPr>
      <p:grpSpPr>
        <a:xfrm>
          <a:off x="0" y="0"/>
          <a:ext cx="0" cy="0"/>
          <a:chOff x="0" y="0"/>
          <a:chExt cx="0" cy="0"/>
        </a:xfrm>
      </p:grpSpPr>
      <p:sp>
        <p:nvSpPr>
          <p:cNvPr id="546" name="Google Shape;546;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DL-Int-1 is GABA-positive and inhibited by pulse trains</a:t>
            </a:r>
            <a:endParaRPr sz="1800">
              <a:solidFill>
                <a:schemeClr val="dk1"/>
              </a:solidFill>
              <a:latin typeface="Calibri"/>
              <a:ea typeface="Calibri"/>
              <a:cs typeface="Calibri"/>
              <a:sym typeface="Calibri"/>
            </a:endParaRPr>
          </a:p>
        </p:txBody>
      </p:sp>
      <p:sp>
        <p:nvSpPr>
          <p:cNvPr id="547" name="Google Shape;547;p40"/>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Ai and colleagues recorded intracellularly from identified honeybee interneurons while a mechanical stimulator vibrated the antennal flagellum. </a:t>
            </a:r>
            <a:r>
              <a:rPr b="1" i="0" lang="en-US" sz="1500">
                <a:solidFill>
                  <a:srgbClr val="3F5063"/>
                </a:solidFill>
                <a:latin typeface="Arial"/>
                <a:ea typeface="Arial"/>
                <a:cs typeface="Arial"/>
                <a:sym typeface="Arial"/>
              </a:rPr>
              <a:t>DL-Int-1</a:t>
            </a:r>
            <a:r>
              <a:rPr b="0" i="0" lang="en-US" sz="1500">
                <a:solidFill>
                  <a:srgbClr val="252B32"/>
                </a:solidFill>
                <a:latin typeface="Arial"/>
                <a:ea typeface="Arial"/>
                <a:cs typeface="Arial"/>
                <a:sym typeface="Arial"/>
              </a:rPr>
              <a:t> branches in the dorsal lobe and related mechanosensory tissue. Dye filling and anti-GABA staining associated this cell type with a GABAergic phenotype.</a:t>
            </a:r>
            <a:endParaRPr sz="1800">
              <a:solidFill>
                <a:schemeClr val="dk1"/>
              </a:solidFill>
              <a:latin typeface="Calibri"/>
              <a:ea typeface="Calibri"/>
              <a:cs typeface="Calibri"/>
              <a:sym typeface="Calibri"/>
            </a:endParaRPr>
          </a:p>
        </p:txBody>
      </p:sp>
      <p:sp>
        <p:nvSpPr>
          <p:cNvPr id="548" name="Google Shape;548;p40"/>
          <p:cNvSpPr/>
          <p:nvPr/>
        </p:nvSpPr>
        <p:spPr>
          <a:xfrm>
            <a:off x="566886" y="2582763"/>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 stimulus carrier was 265 Hz, within the wing-vibration range relevant to waggle dancing. Pulse trains with durations up to 16 ms and intervals up to 33 ms suppressed DL-Int-1 firing below its spontaneous level. Longer 100 ms intervals allowed intermittent spikes during the train.</a:t>
            </a:r>
            <a:endParaRPr sz="1800">
              <a:solidFill>
                <a:schemeClr val="dk1"/>
              </a:solidFill>
              <a:latin typeface="Calibri"/>
              <a:ea typeface="Calibri"/>
              <a:cs typeface="Calibri"/>
              <a:sym typeface="Calibri"/>
            </a:endParaRPr>
          </a:p>
        </p:txBody>
      </p:sp>
      <p:sp>
        <p:nvSpPr>
          <p:cNvPr id="549" name="Google Shape;549;p40"/>
          <p:cNvSpPr/>
          <p:nvPr/>
        </p:nvSpPr>
        <p:spPr>
          <a:xfrm>
            <a:off x="566886" y="372546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This response distinguishes closely spaced vibration pulses from more widely spaced events. Antibody controls supported label specificity, but GABA staining does not prove a particular inhibitory connection to another named neuron. The cellular recording establishes temporal filtering without identifying the receptor or ion channel that generates the observed inhibitory potentials.</a:t>
            </a:r>
            <a:endParaRPr sz="1800">
              <a:solidFill>
                <a:schemeClr val="dk1"/>
              </a:solidFill>
              <a:latin typeface="Calibri"/>
              <a:ea typeface="Calibri"/>
              <a:cs typeface="Calibri"/>
              <a:sym typeface="Calibri"/>
            </a:endParaRPr>
          </a:p>
        </p:txBody>
      </p:sp>
      <p:pic>
        <p:nvPicPr>
          <p:cNvPr id="550" name="Google Shape;550;p40"/>
          <p:cNvPicPr preferRelativeResize="0"/>
          <p:nvPr/>
        </p:nvPicPr>
        <p:blipFill rotWithShape="1">
          <a:blip r:embed="rId3">
            <a:alphaModFix/>
          </a:blip>
          <a:srcRect b="0" l="0" r="0" t="0"/>
          <a:stretch/>
        </p:blipFill>
        <p:spPr>
          <a:xfrm>
            <a:off x="6458499" y="1280071"/>
            <a:ext cx="3520323" cy="2764482"/>
          </a:xfrm>
          <a:prstGeom prst="rect">
            <a:avLst/>
          </a:prstGeom>
          <a:noFill/>
          <a:ln>
            <a:noFill/>
          </a:ln>
        </p:spPr>
      </p:pic>
      <p:sp>
        <p:nvSpPr>
          <p:cNvPr id="551" name="Google Shape;551;p40"/>
          <p:cNvSpPr/>
          <p:nvPr/>
        </p:nvSpPr>
        <p:spPr>
          <a:xfrm>
            <a:off x="6458396" y="4136082"/>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Ai et al. (2017), Fig. 3A–D. DL-Int-1 responses to pulse duration and interval.</a:t>
            </a:r>
            <a:endParaRPr sz="1800">
              <a:solidFill>
                <a:schemeClr val="dk1"/>
              </a:solidFill>
              <a:latin typeface="Calibri"/>
              <a:ea typeface="Calibri"/>
              <a:cs typeface="Calibri"/>
              <a:sym typeface="Calibri"/>
            </a:endParaRPr>
          </a:p>
        </p:txBody>
      </p:sp>
      <p:pic>
        <p:nvPicPr>
          <p:cNvPr id="552" name="Google Shape;552;p40"/>
          <p:cNvPicPr preferRelativeResize="0"/>
          <p:nvPr/>
        </p:nvPicPr>
        <p:blipFill rotWithShape="1">
          <a:blip r:embed="rId4">
            <a:alphaModFix/>
          </a:blip>
          <a:srcRect b="0" l="0" r="0" t="0"/>
          <a:stretch/>
        </p:blipFill>
        <p:spPr>
          <a:xfrm>
            <a:off x="10161836" y="2148780"/>
            <a:ext cx="1462980" cy="877788"/>
          </a:xfrm>
          <a:prstGeom prst="rect">
            <a:avLst/>
          </a:prstGeom>
          <a:noFill/>
          <a:ln>
            <a:noFill/>
          </a:ln>
        </p:spPr>
      </p:pic>
      <p:sp>
        <p:nvSpPr>
          <p:cNvPr id="553" name="Google Shape;553;p40"/>
          <p:cNvSpPr/>
          <p:nvPr/>
        </p:nvSpPr>
        <p:spPr>
          <a:xfrm>
            <a:off x="10161836" y="3099792"/>
            <a:ext cx="148203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Ai et al. (2017), Fig. 2A–E. DL-Int-1 morphology and GABA immunoreactivity.</a:t>
            </a:r>
            <a:endParaRPr sz="1800">
              <a:solidFill>
                <a:schemeClr val="dk1"/>
              </a:solidFill>
              <a:latin typeface="Calibri"/>
              <a:ea typeface="Calibri"/>
              <a:cs typeface="Calibri"/>
              <a:sym typeface="Calibri"/>
            </a:endParaRPr>
          </a:p>
        </p:txBody>
      </p:sp>
      <p:sp>
        <p:nvSpPr>
          <p:cNvPr id="554" name="Google Shape;554;p40"/>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Ai et al. (2017)</a:t>
            </a:r>
            <a:endParaRPr sz="1800">
              <a:solidFill>
                <a:schemeClr val="dk1"/>
              </a:solidFill>
              <a:latin typeface="Calibri"/>
              <a:ea typeface="Calibri"/>
              <a:cs typeface="Calibri"/>
              <a:sym typeface="Calibri"/>
            </a:endParaRPr>
          </a:p>
        </p:txBody>
      </p:sp>
      <p:sp>
        <p:nvSpPr>
          <p:cNvPr id="556" name="Google Shape;556;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0" name="Shape 560"/>
        <p:cNvGrpSpPr/>
        <p:nvPr/>
      </p:nvGrpSpPr>
      <p:grpSpPr>
        <a:xfrm>
          <a:off x="0" y="0"/>
          <a:ext cx="0" cy="0"/>
          <a:chOff x="0" y="0"/>
          <a:chExt cx="0" cy="0"/>
        </a:xfrm>
      </p:grpSpPr>
      <p:sp>
        <p:nvSpPr>
          <p:cNvPr id="561" name="Google Shape;561;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DL-Int-2 remains excited during dance-like vibration</a:t>
            </a:r>
            <a:endParaRPr sz="1800">
              <a:solidFill>
                <a:schemeClr val="dk1"/>
              </a:solidFill>
              <a:latin typeface="Calibri"/>
              <a:ea typeface="Calibri"/>
              <a:cs typeface="Calibri"/>
              <a:sym typeface="Calibri"/>
            </a:endParaRPr>
          </a:p>
        </p:txBody>
      </p:sp>
      <p:sp>
        <p:nvSpPr>
          <p:cNvPr id="562" name="Google Shape;562;p41"/>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Ai and colleagues found a different response in </a:t>
            </a:r>
            <a:r>
              <a:rPr b="1" i="0" lang="en-US" sz="1500">
                <a:solidFill>
                  <a:srgbClr val="3F5063"/>
                </a:solidFill>
                <a:latin typeface="Arial"/>
                <a:ea typeface="Arial"/>
                <a:cs typeface="Arial"/>
                <a:sym typeface="Arial"/>
              </a:rPr>
              <a:t>DL-Int-2</a:t>
            </a:r>
            <a:r>
              <a:rPr b="0" i="0" lang="en-US" sz="1500">
                <a:solidFill>
                  <a:srgbClr val="252B32"/>
                </a:solidFill>
                <a:latin typeface="Arial"/>
                <a:ea typeface="Arial"/>
                <a:cs typeface="Arial"/>
                <a:sym typeface="Arial"/>
              </a:rPr>
              <a:t>, another identified interneuron in the primary mechanosensory processing region. Its soma did not coincide with the anti-GABA labeling observed for DL-Int-1; this negative label does not by itself identify its transmitter.</a:t>
            </a:r>
            <a:endParaRPr sz="1800">
              <a:solidFill>
                <a:schemeClr val="dk1"/>
              </a:solidFill>
              <a:latin typeface="Calibri"/>
              <a:ea typeface="Calibri"/>
              <a:cs typeface="Calibri"/>
              <a:sym typeface="Calibri"/>
            </a:endParaRPr>
          </a:p>
        </p:txBody>
      </p:sp>
      <p:sp>
        <p:nvSpPr>
          <p:cNvPr id="563" name="Google Shape;563;p41"/>
          <p:cNvSpPr/>
          <p:nvPr/>
        </p:nvSpPr>
        <p:spPr>
          <a:xfrm>
            <a:off x="566886" y="237708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At a 265 Hz carrier, trains with 16 ms pulses and 33 ms intervals evoked an initial excitation followed by maintained excitation. In contrast, DL-Int-1 was suppressed during comparable short-interval stimulation. </a:t>
            </a:r>
            <a:r>
              <a:rPr b="1" i="0" lang="en-US" sz="1500">
                <a:solidFill>
                  <a:srgbClr val="3F5063"/>
                </a:solidFill>
                <a:latin typeface="Arial"/>
                <a:ea typeface="Arial"/>
                <a:cs typeface="Arial"/>
                <a:sym typeface="Arial"/>
              </a:rPr>
              <a:t>Tonic</a:t>
            </a:r>
            <a:r>
              <a:rPr b="0" i="0" lang="en-US" sz="1500">
                <a:solidFill>
                  <a:srgbClr val="252B32"/>
                </a:solidFill>
                <a:latin typeface="Arial"/>
                <a:ea typeface="Arial"/>
                <a:cs typeface="Arial"/>
                <a:sym typeface="Arial"/>
              </a:rPr>
              <a:t> activity is sustained activity during a stimulus, whereas </a:t>
            </a:r>
            <a:r>
              <a:rPr b="1" i="0" lang="en-US" sz="1500">
                <a:solidFill>
                  <a:srgbClr val="3F5063"/>
                </a:solidFill>
                <a:latin typeface="Arial"/>
                <a:ea typeface="Arial"/>
                <a:cs typeface="Arial"/>
                <a:sym typeface="Arial"/>
              </a:rPr>
              <a:t>phasic</a:t>
            </a:r>
            <a:r>
              <a:rPr b="0" i="0" lang="en-US" sz="1500">
                <a:solidFill>
                  <a:srgbClr val="252B32"/>
                </a:solidFill>
                <a:latin typeface="Arial"/>
                <a:ea typeface="Arial"/>
                <a:cs typeface="Arial"/>
                <a:sym typeface="Arial"/>
              </a:rPr>
              <a:t> activity is concentrated near a change such as onset.</a:t>
            </a:r>
            <a:endParaRPr sz="1800">
              <a:solidFill>
                <a:schemeClr val="dk1"/>
              </a:solidFill>
              <a:latin typeface="Calibri"/>
              <a:ea typeface="Calibri"/>
              <a:cs typeface="Calibri"/>
              <a:sym typeface="Calibri"/>
            </a:endParaRPr>
          </a:p>
        </p:txBody>
      </p:sp>
      <p:sp>
        <p:nvSpPr>
          <p:cNvPr id="564" name="Google Shape;564;p41"/>
          <p:cNvSpPr/>
          <p:nvPr/>
        </p:nvSpPr>
        <p:spPr>
          <a:xfrm>
            <a:off x="566886" y="372546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 contrasting responses could allow pulse-train duration to influence downstream signaling. A proposed inhibitory relationship between the two cell types was supported by modeling and morphology, not by direct synaptic measurement. The recorded excitation must therefore be distinguished from a proven circuit for decoding advertised distance.</a:t>
            </a:r>
            <a:endParaRPr sz="1800">
              <a:solidFill>
                <a:schemeClr val="dk1"/>
              </a:solidFill>
              <a:latin typeface="Calibri"/>
              <a:ea typeface="Calibri"/>
              <a:cs typeface="Calibri"/>
              <a:sym typeface="Calibri"/>
            </a:endParaRPr>
          </a:p>
        </p:txBody>
      </p:sp>
      <p:pic>
        <p:nvPicPr>
          <p:cNvPr id="565" name="Google Shape;565;p41"/>
          <p:cNvPicPr preferRelativeResize="0"/>
          <p:nvPr/>
        </p:nvPicPr>
        <p:blipFill rotWithShape="1">
          <a:blip r:embed="rId3">
            <a:alphaModFix/>
          </a:blip>
          <a:srcRect b="0" l="0" r="0" t="0"/>
          <a:stretch/>
        </p:blipFill>
        <p:spPr>
          <a:xfrm>
            <a:off x="6458461" y="1280071"/>
            <a:ext cx="3520401" cy="3967609"/>
          </a:xfrm>
          <a:prstGeom prst="rect">
            <a:avLst/>
          </a:prstGeom>
          <a:noFill/>
          <a:ln>
            <a:noFill/>
          </a:ln>
        </p:spPr>
      </p:pic>
      <p:sp>
        <p:nvSpPr>
          <p:cNvPr id="566" name="Google Shape;566;p41"/>
          <p:cNvSpPr/>
          <p:nvPr/>
        </p:nvSpPr>
        <p:spPr>
          <a:xfrm>
            <a:off x="6458396" y="5339209"/>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Ai et al. (2017), Fig. 4A,B. DL-Int-2 excitation during vibration pulse trains.</a:t>
            </a:r>
            <a:endParaRPr sz="1800">
              <a:solidFill>
                <a:schemeClr val="dk1"/>
              </a:solidFill>
              <a:latin typeface="Calibri"/>
              <a:ea typeface="Calibri"/>
              <a:cs typeface="Calibri"/>
              <a:sym typeface="Calibri"/>
            </a:endParaRPr>
          </a:p>
        </p:txBody>
      </p:sp>
      <p:pic>
        <p:nvPicPr>
          <p:cNvPr id="567" name="Google Shape;567;p41"/>
          <p:cNvPicPr preferRelativeResize="0"/>
          <p:nvPr/>
        </p:nvPicPr>
        <p:blipFill rotWithShape="1">
          <a:blip r:embed="rId4">
            <a:alphaModFix/>
          </a:blip>
          <a:srcRect b="0" l="0" r="0" t="0"/>
          <a:stretch/>
        </p:blipFill>
        <p:spPr>
          <a:xfrm>
            <a:off x="10161842" y="2148780"/>
            <a:ext cx="1462967" cy="751136"/>
          </a:xfrm>
          <a:prstGeom prst="rect">
            <a:avLst/>
          </a:prstGeom>
          <a:noFill/>
          <a:ln>
            <a:noFill/>
          </a:ln>
        </p:spPr>
      </p:pic>
      <p:sp>
        <p:nvSpPr>
          <p:cNvPr id="568" name="Google Shape;568;p41"/>
          <p:cNvSpPr/>
          <p:nvPr/>
        </p:nvSpPr>
        <p:spPr>
          <a:xfrm>
            <a:off x="10161836" y="2972991"/>
            <a:ext cx="148203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Ai et al. (2017), Fig. 2F–J. DL-Int-2 morphology and transmitter-label controls.</a:t>
            </a:r>
            <a:endParaRPr sz="1800">
              <a:solidFill>
                <a:schemeClr val="dk1"/>
              </a:solidFill>
              <a:latin typeface="Calibri"/>
              <a:ea typeface="Calibri"/>
              <a:cs typeface="Calibri"/>
              <a:sym typeface="Calibri"/>
            </a:endParaRPr>
          </a:p>
        </p:txBody>
      </p:sp>
      <p:sp>
        <p:nvSpPr>
          <p:cNvPr id="569" name="Google Shape;569;p41"/>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Ai et al. (2017)</a:t>
            </a:r>
            <a:endParaRPr sz="1800">
              <a:solidFill>
                <a:schemeClr val="dk1"/>
              </a:solidFill>
              <a:latin typeface="Calibri"/>
              <a:ea typeface="Calibri"/>
              <a:cs typeface="Calibri"/>
              <a:sym typeface="Calibri"/>
            </a:endParaRPr>
          </a:p>
        </p:txBody>
      </p:sp>
      <p:sp>
        <p:nvSpPr>
          <p:cNvPr id="571" name="Google Shape;571;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5" name="Shape 575"/>
        <p:cNvGrpSpPr/>
        <p:nvPr/>
      </p:nvGrpSpPr>
      <p:grpSpPr>
        <a:xfrm>
          <a:off x="0" y="0"/>
          <a:ext cx="0" cy="0"/>
          <a:chOff x="0" y="0"/>
          <a:chExt cx="0" cy="0"/>
        </a:xfrm>
      </p:grpSpPr>
      <p:sp>
        <p:nvSpPr>
          <p:cNvPr id="576" name="Google Shape;576;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Mechanosensory responses change as workers mature</a:t>
            </a:r>
            <a:endParaRPr sz="1800">
              <a:solidFill>
                <a:schemeClr val="dk1"/>
              </a:solidFill>
              <a:latin typeface="Calibri"/>
              <a:ea typeface="Calibri"/>
              <a:cs typeface="Calibri"/>
              <a:sym typeface="Calibri"/>
            </a:endParaRPr>
          </a:p>
        </p:txBody>
      </p:sp>
      <p:sp>
        <p:nvSpPr>
          <p:cNvPr id="577" name="Google Shape;577;p42"/>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Kumaraswamy and colleagues compared DL-Int-1 in newly emerged workers aged 1–3 days with foragers older than 10 days. The preparation combined intracellular recording with dye-filled morphology, allowing cell identity to be retained across the age comparison.</a:t>
            </a:r>
            <a:endParaRPr sz="1800">
              <a:solidFill>
                <a:schemeClr val="dk1"/>
              </a:solidFill>
              <a:latin typeface="Calibri"/>
              <a:ea typeface="Calibri"/>
              <a:cs typeface="Calibri"/>
              <a:sym typeface="Calibri"/>
            </a:endParaRPr>
          </a:p>
        </p:txBody>
      </p:sp>
      <p:sp>
        <p:nvSpPr>
          <p:cNvPr id="578" name="Google Shape;578;p42"/>
          <p:cNvSpPr/>
          <p:nvPr/>
        </p:nvSpPr>
        <p:spPr>
          <a:xfrm>
            <a:off x="566886" y="2672507"/>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Gross arborization extent was similar between groups, but branch density differed in selected regions. Foragers’ responses showed a stronger contrast between spontaneous activity and vibration-evoked inhibition, giving the stimulus a more distinct temporal signature. The original reconstructions and response distributions document different levels of analysis.</a:t>
            </a:r>
            <a:endParaRPr sz="1800">
              <a:solidFill>
                <a:schemeClr val="dk1"/>
              </a:solidFill>
              <a:latin typeface="Calibri"/>
              <a:ea typeface="Calibri"/>
              <a:cs typeface="Calibri"/>
              <a:sym typeface="Calibri"/>
            </a:endParaRPr>
          </a:p>
        </p:txBody>
      </p:sp>
      <p:sp>
        <p:nvSpPr>
          <p:cNvPr id="579" name="Google Shape;579;p42"/>
          <p:cNvSpPr/>
          <p:nvPr/>
        </p:nvSpPr>
        <p:spPr>
          <a:xfrm>
            <a:off x="566886" y="4330005"/>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Maturation can change signal processing without replacing a neuron’s overall projection pattern. Age and experience were not independently manipulated, however, so the differences cannot be assigned exclusively to dance learning. The comparison establishes developmental association rather than the cellular cause of an acquired navigational skill.</a:t>
            </a:r>
            <a:endParaRPr sz="1800">
              <a:solidFill>
                <a:schemeClr val="dk1"/>
              </a:solidFill>
              <a:latin typeface="Calibri"/>
              <a:ea typeface="Calibri"/>
              <a:cs typeface="Calibri"/>
              <a:sym typeface="Calibri"/>
            </a:endParaRPr>
          </a:p>
        </p:txBody>
      </p:sp>
      <p:pic>
        <p:nvPicPr>
          <p:cNvPr id="580" name="Google Shape;580;p42"/>
          <p:cNvPicPr preferRelativeResize="0"/>
          <p:nvPr/>
        </p:nvPicPr>
        <p:blipFill rotWithShape="1">
          <a:blip r:embed="rId3">
            <a:alphaModFix/>
          </a:blip>
          <a:srcRect b="0" l="0" r="0" t="0"/>
          <a:stretch/>
        </p:blipFill>
        <p:spPr>
          <a:xfrm>
            <a:off x="6458458" y="1280071"/>
            <a:ext cx="3520406" cy="2928045"/>
          </a:xfrm>
          <a:prstGeom prst="rect">
            <a:avLst/>
          </a:prstGeom>
          <a:noFill/>
          <a:ln>
            <a:noFill/>
          </a:ln>
        </p:spPr>
      </p:pic>
      <p:sp>
        <p:nvSpPr>
          <p:cNvPr id="581" name="Google Shape;581;p42"/>
          <p:cNvSpPr/>
          <p:nvPr/>
        </p:nvSpPr>
        <p:spPr>
          <a:xfrm>
            <a:off x="6458396" y="4299645"/>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Kumaraswamy et al. (2019), Fig. 5a–d. Neuronal response distributions in young bees and foragers.</a:t>
            </a:r>
            <a:endParaRPr sz="1800">
              <a:solidFill>
                <a:schemeClr val="dk1"/>
              </a:solidFill>
              <a:latin typeface="Calibri"/>
              <a:ea typeface="Calibri"/>
              <a:cs typeface="Calibri"/>
              <a:sym typeface="Calibri"/>
            </a:endParaRPr>
          </a:p>
        </p:txBody>
      </p:sp>
      <p:pic>
        <p:nvPicPr>
          <p:cNvPr id="582" name="Google Shape;582;p42"/>
          <p:cNvPicPr preferRelativeResize="0"/>
          <p:nvPr/>
        </p:nvPicPr>
        <p:blipFill rotWithShape="1">
          <a:blip r:embed="rId4">
            <a:alphaModFix/>
          </a:blip>
          <a:srcRect b="0" l="0" r="0" t="0"/>
          <a:stretch/>
        </p:blipFill>
        <p:spPr>
          <a:xfrm>
            <a:off x="10161837" y="2148780"/>
            <a:ext cx="1462978" cy="1007418"/>
          </a:xfrm>
          <a:prstGeom prst="rect">
            <a:avLst/>
          </a:prstGeom>
          <a:noFill/>
          <a:ln>
            <a:noFill/>
          </a:ln>
        </p:spPr>
      </p:pic>
      <p:sp>
        <p:nvSpPr>
          <p:cNvPr id="583" name="Google Shape;583;p42"/>
          <p:cNvSpPr/>
          <p:nvPr/>
        </p:nvSpPr>
        <p:spPr>
          <a:xfrm>
            <a:off x="10161836" y="3229421"/>
            <a:ext cx="1482030"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Kumaraswamy et al. (2019), Fig. 3a,b. Reconstructed DL-Int-1 arborizations during maturation.</a:t>
            </a:r>
            <a:endParaRPr sz="1800">
              <a:solidFill>
                <a:schemeClr val="dk1"/>
              </a:solidFill>
              <a:latin typeface="Calibri"/>
              <a:ea typeface="Calibri"/>
              <a:cs typeface="Calibri"/>
              <a:sym typeface="Calibri"/>
            </a:endParaRPr>
          </a:p>
        </p:txBody>
      </p:sp>
      <p:sp>
        <p:nvSpPr>
          <p:cNvPr id="584" name="Google Shape;584;p42"/>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Kumaraswamy et al. (2019)</a:t>
            </a:r>
            <a:endParaRPr sz="1800">
              <a:solidFill>
                <a:schemeClr val="dk1"/>
              </a:solidFill>
              <a:latin typeface="Calibri"/>
              <a:ea typeface="Calibri"/>
              <a:cs typeface="Calibri"/>
              <a:sym typeface="Calibri"/>
            </a:endParaRPr>
          </a:p>
        </p:txBody>
      </p:sp>
      <p:sp>
        <p:nvSpPr>
          <p:cNvPr id="586" name="Google Shape;586;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0" name="Shape 590"/>
        <p:cNvGrpSpPr/>
        <p:nvPr/>
      </p:nvGrpSpPr>
      <p:grpSpPr>
        <a:xfrm>
          <a:off x="0" y="0"/>
          <a:ext cx="0" cy="0"/>
          <a:chOff x="0" y="0"/>
          <a:chExt cx="0" cy="0"/>
        </a:xfrm>
      </p:grpSpPr>
      <p:sp>
        <p:nvSpPr>
          <p:cNvPr id="591" name="Google Shape;591;p43"/>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Experienced dancers improve novices’ directional precision</a:t>
            </a:r>
            <a:endParaRPr sz="1800">
              <a:solidFill>
                <a:schemeClr val="dk1"/>
              </a:solidFill>
              <a:latin typeface="Calibri"/>
              <a:ea typeface="Calibri"/>
              <a:cs typeface="Calibri"/>
              <a:sym typeface="Calibri"/>
            </a:endParaRPr>
          </a:p>
        </p:txBody>
      </p:sp>
      <p:sp>
        <p:nvSpPr>
          <p:cNvPr id="592" name="Google Shape;592;p43"/>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Dong and colleagues created colonies of newly emerged workers with no experienced dancers and compared them with mixed-age colonies. Individually marked bees first danced for a feeder 150 m away; the same bees were tested again 20 days later.</a:t>
            </a:r>
            <a:endParaRPr sz="1800">
              <a:solidFill>
                <a:schemeClr val="dk1"/>
              </a:solidFill>
              <a:latin typeface="Calibri"/>
              <a:ea typeface="Calibri"/>
              <a:cs typeface="Calibri"/>
              <a:sym typeface="Calibri"/>
            </a:endParaRPr>
          </a:p>
        </p:txBody>
      </p:sp>
      <p:sp>
        <p:nvSpPr>
          <p:cNvPr id="593" name="Google Shape;593;p43"/>
          <p:cNvSpPr/>
          <p:nvPr/>
        </p:nvSpPr>
        <p:spPr>
          <a:xfrm>
            <a:off x="566886" y="2453134"/>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Bees that could not follow experienced dancers before their first dance produced larger waggle-angle divergence and more disordered movements. Their directional precision improved by the later test. First dances in mixed-age colonies were already more precise, separating early social exposure from the act of merely performing a dance.</a:t>
            </a:r>
            <a:endParaRPr sz="1800">
              <a:solidFill>
                <a:schemeClr val="dk1"/>
              </a:solidFill>
              <a:latin typeface="Calibri"/>
              <a:ea typeface="Calibri"/>
              <a:cs typeface="Calibri"/>
              <a:sym typeface="Calibri"/>
            </a:endParaRPr>
          </a:p>
        </p:txBody>
      </p:sp>
      <p:sp>
        <p:nvSpPr>
          <p:cNvPr id="594" name="Google Shape;594;p43"/>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The result supports social contributions to dance development alongside an inherited behavioral pattern. Later improvement could reflect age, flight practice, following experience or their combination. Colony composition changes several experiences together, so the study does not isolate a single teaching interaction or a synaptic learning rule.</a:t>
            </a:r>
            <a:endParaRPr sz="1800">
              <a:solidFill>
                <a:schemeClr val="dk1"/>
              </a:solidFill>
              <a:latin typeface="Calibri"/>
              <a:ea typeface="Calibri"/>
              <a:cs typeface="Calibri"/>
              <a:sym typeface="Calibri"/>
            </a:endParaRPr>
          </a:p>
        </p:txBody>
      </p:sp>
      <p:pic>
        <p:nvPicPr>
          <p:cNvPr id="595" name="Google Shape;595;p43"/>
          <p:cNvPicPr preferRelativeResize="0"/>
          <p:nvPr/>
        </p:nvPicPr>
        <p:blipFill rotWithShape="1">
          <a:blip r:embed="rId3">
            <a:alphaModFix/>
          </a:blip>
          <a:srcRect b="0" l="0" r="0" t="0"/>
          <a:stretch/>
        </p:blipFill>
        <p:spPr>
          <a:xfrm>
            <a:off x="6932955" y="1280071"/>
            <a:ext cx="4217749" cy="4297561"/>
          </a:xfrm>
          <a:prstGeom prst="rect">
            <a:avLst/>
          </a:prstGeom>
          <a:noFill/>
          <a:ln>
            <a:noFill/>
          </a:ln>
        </p:spPr>
      </p:pic>
      <p:sp>
        <p:nvSpPr>
          <p:cNvPr id="596" name="Google Shape;596;p43"/>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Dong et al. (2023), Fig. 1B. Directional divergence before and after dance experience.</a:t>
            </a:r>
            <a:endParaRPr sz="1800">
              <a:solidFill>
                <a:schemeClr val="dk1"/>
              </a:solidFill>
              <a:latin typeface="Calibri"/>
              <a:ea typeface="Calibri"/>
              <a:cs typeface="Calibri"/>
              <a:sym typeface="Calibri"/>
            </a:endParaRPr>
          </a:p>
        </p:txBody>
      </p:sp>
      <p:sp>
        <p:nvSpPr>
          <p:cNvPr id="597" name="Google Shape;597;p43"/>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Dong et al. (2023)</a:t>
            </a:r>
            <a:endParaRPr sz="1800">
              <a:solidFill>
                <a:schemeClr val="dk1"/>
              </a:solidFill>
              <a:latin typeface="Calibri"/>
              <a:ea typeface="Calibri"/>
              <a:cs typeface="Calibri"/>
              <a:sym typeface="Calibri"/>
            </a:endParaRPr>
          </a:p>
        </p:txBody>
      </p:sp>
      <p:sp>
        <p:nvSpPr>
          <p:cNvPr id="599" name="Google Shape;599;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3" name="Shape 603"/>
        <p:cNvGrpSpPr/>
        <p:nvPr/>
      </p:nvGrpSpPr>
      <p:grpSpPr>
        <a:xfrm>
          <a:off x="0" y="0"/>
          <a:ext cx="0" cy="0"/>
          <a:chOff x="0" y="0"/>
          <a:chExt cx="0" cy="0"/>
        </a:xfrm>
      </p:grpSpPr>
      <p:sp>
        <p:nvSpPr>
          <p:cNvPr id="604" name="Google Shape;604;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Early social experience leaves a lasting distance bias</a:t>
            </a:r>
            <a:endParaRPr sz="1800">
              <a:solidFill>
                <a:schemeClr val="dk1"/>
              </a:solidFill>
              <a:latin typeface="Calibri"/>
              <a:ea typeface="Calibri"/>
              <a:cs typeface="Calibri"/>
              <a:sym typeface="Calibri"/>
            </a:endParaRPr>
          </a:p>
        </p:txBody>
      </p:sp>
      <p:sp>
        <p:nvSpPr>
          <p:cNvPr id="605" name="Google Shape;605;p44"/>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In Dong and colleagues’ 150 m feeder preparation, naive first dancers produced longer waggle runs and more waggles per run than first dancers from mixed-age colonies. The altered timing advertised a greater distance despite the common food location.</a:t>
            </a:r>
            <a:endParaRPr sz="1800">
              <a:solidFill>
                <a:schemeClr val="dk1"/>
              </a:solidFill>
              <a:latin typeface="Calibri"/>
              <a:ea typeface="Calibri"/>
              <a:cs typeface="Calibri"/>
              <a:sym typeface="Calibri"/>
            </a:endParaRPr>
          </a:p>
        </p:txBody>
      </p:sp>
      <p:sp>
        <p:nvSpPr>
          <p:cNvPr id="606" name="Google Shape;606;p44"/>
          <p:cNvSpPr/>
          <p:nvPr/>
        </p:nvSpPr>
        <p:spPr>
          <a:xfrm>
            <a:off x="566886" y="2453134"/>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Twenty days later, the previously naive bees still produced the elevated distance signal. Their return-flight times had improved, and their directional precision had recovered, but the distance difference remained. The persistence separates distance calibration from changes that become more normal with later foraging experience.</a:t>
            </a:r>
            <a:endParaRPr sz="1800">
              <a:solidFill>
                <a:schemeClr val="dk1"/>
              </a:solidFill>
              <a:latin typeface="Calibri"/>
              <a:ea typeface="Calibri"/>
              <a:cs typeface="Calibri"/>
              <a:sym typeface="Calibri"/>
            </a:endParaRPr>
          </a:p>
        </p:txBody>
      </p:sp>
      <p:sp>
        <p:nvSpPr>
          <p:cNvPr id="607" name="Google Shape;607;p44"/>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600"/>
              <a:buFont typeface="Arial"/>
              <a:buNone/>
            </a:pPr>
            <a:r>
              <a:rPr b="0" i="0" lang="en-US" sz="1600">
                <a:solidFill>
                  <a:srgbClr val="252B32"/>
                </a:solidFill>
                <a:latin typeface="Arial"/>
                <a:ea typeface="Arial"/>
                <a:cs typeface="Arial"/>
                <a:sym typeface="Arial"/>
              </a:rPr>
              <a:t>Social experience therefore influences different components of the dance differently. Persistence through the measured adult interval supports a lasting calibration effect; it is not a longitudinal measurement of every future dance throughout a bee’s life. The experiment does not identify the sensory or neural mechanism storing that early calibration.</a:t>
            </a:r>
            <a:endParaRPr sz="1800">
              <a:solidFill>
                <a:schemeClr val="dk1"/>
              </a:solidFill>
              <a:latin typeface="Calibri"/>
              <a:ea typeface="Calibri"/>
              <a:cs typeface="Calibri"/>
              <a:sym typeface="Calibri"/>
            </a:endParaRPr>
          </a:p>
        </p:txBody>
      </p:sp>
      <p:pic>
        <p:nvPicPr>
          <p:cNvPr id="608" name="Google Shape;608;p44"/>
          <p:cNvPicPr preferRelativeResize="0"/>
          <p:nvPr/>
        </p:nvPicPr>
        <p:blipFill rotWithShape="1">
          <a:blip r:embed="rId3">
            <a:alphaModFix/>
          </a:blip>
          <a:srcRect b="0" l="0" r="0" t="0"/>
          <a:stretch/>
        </p:blipFill>
        <p:spPr>
          <a:xfrm>
            <a:off x="8267263" y="1280071"/>
            <a:ext cx="1548836" cy="4297561"/>
          </a:xfrm>
          <a:prstGeom prst="rect">
            <a:avLst/>
          </a:prstGeom>
          <a:noFill/>
          <a:ln>
            <a:noFill/>
          </a:ln>
        </p:spPr>
      </p:pic>
      <p:sp>
        <p:nvSpPr>
          <p:cNvPr id="609" name="Google Shape;609;p44"/>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Dong et al. (2023), Fig. 2. Dance distance signals and return flights over time.</a:t>
            </a:r>
            <a:endParaRPr sz="1800">
              <a:solidFill>
                <a:schemeClr val="dk1"/>
              </a:solidFill>
              <a:latin typeface="Calibri"/>
              <a:ea typeface="Calibri"/>
              <a:cs typeface="Calibri"/>
              <a:sym typeface="Calibri"/>
            </a:endParaRPr>
          </a:p>
        </p:txBody>
      </p:sp>
      <p:sp>
        <p:nvSpPr>
          <p:cNvPr id="610" name="Google Shape;610;p44"/>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Dong et al. (2023)</a:t>
            </a:r>
            <a:endParaRPr sz="1800">
              <a:solidFill>
                <a:schemeClr val="dk1"/>
              </a:solidFill>
              <a:latin typeface="Calibri"/>
              <a:ea typeface="Calibri"/>
              <a:cs typeface="Calibri"/>
              <a:sym typeface="Calibri"/>
            </a:endParaRPr>
          </a:p>
        </p:txBody>
      </p:sp>
      <p:sp>
        <p:nvSpPr>
          <p:cNvPr id="612" name="Google Shape;61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45"/>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Landscape knowledge can modify the recruit’s later search</a:t>
            </a:r>
            <a:endParaRPr sz="1800">
              <a:solidFill>
                <a:schemeClr val="dk1"/>
              </a:solidFill>
              <a:latin typeface="Calibri"/>
              <a:ea typeface="Calibri"/>
              <a:cs typeface="Calibri"/>
              <a:sym typeface="Calibri"/>
            </a:endParaRPr>
          </a:p>
        </p:txBody>
      </p:sp>
      <p:sp>
        <p:nvSpPr>
          <p:cNvPr id="618" name="Google Shape;618;p45"/>
          <p:cNvSpPr/>
          <p:nvPr/>
        </p:nvSpPr>
        <p:spPr>
          <a:xfrm>
            <a:off x="566886" y="1234380"/>
            <a:ext cx="5544741"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Wang and colleagues tracked dance followers released either at the hive or at displaced sites within an explored landscape. The recruits had never visited the advertised food source. Harmonic radar sampled flight positions every 3 s.</a:t>
            </a:r>
            <a:endParaRPr sz="1800">
              <a:solidFill>
                <a:schemeClr val="dk1"/>
              </a:solidFill>
              <a:latin typeface="Calibri"/>
              <a:ea typeface="Calibri"/>
              <a:cs typeface="Calibri"/>
              <a:sym typeface="Calibri"/>
            </a:endParaRPr>
          </a:p>
        </p:txBody>
      </p:sp>
      <p:sp>
        <p:nvSpPr>
          <p:cNvPr id="619" name="Google Shape;619;p45"/>
          <p:cNvSpPr/>
          <p:nvPr/>
        </p:nvSpPr>
        <p:spPr>
          <a:xfrm>
            <a:off x="566886" y="2171402"/>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Both groups first flew approximately the communicated vector. During later search, displaced recruits directed more behavior toward the real feeder location than toward the virtual endpoint obtained by executing that vector from the wrong origin. Search could therefore incorporate landscape knowledge acquired before the recruitment event.</a:t>
            </a:r>
            <a:endParaRPr sz="1800">
              <a:solidFill>
                <a:schemeClr val="dk1"/>
              </a:solidFill>
              <a:latin typeface="Calibri"/>
              <a:ea typeface="Calibri"/>
              <a:cs typeface="Calibri"/>
              <a:sym typeface="Calibri"/>
            </a:endParaRPr>
          </a:p>
        </p:txBody>
      </p:sp>
      <p:sp>
        <p:nvSpPr>
          <p:cNvPr id="620" name="Google Shape;620;p45"/>
          <p:cNvSpPr/>
          <p:nvPr/>
        </p:nvSpPr>
        <p:spPr>
          <a:xfrm>
            <a:off x="566886" y="3519785"/>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2B32"/>
              </a:buClr>
              <a:buSzPts val="1500"/>
              <a:buFont typeface="Arial"/>
              <a:buNone/>
            </a:pPr>
            <a:r>
              <a:rPr b="0" i="0" lang="en-US" sz="1500">
                <a:solidFill>
                  <a:srgbClr val="252B32"/>
                </a:solidFill>
                <a:latin typeface="Arial"/>
                <a:ea typeface="Arial"/>
                <a:cs typeface="Arial"/>
                <a:sym typeface="Arial"/>
              </a:rPr>
              <a:t>The authors interpreted this behavior as inference of source location using map-like spatial knowledge. It does not directly record a neural map, and familiar visual guidance must be distinguished from a purely metric representation. The contrast with Riley’s sparse-terrain experiment emphasizes the separate contributions of initial vector flight and subsequent search.</a:t>
            </a:r>
            <a:endParaRPr sz="1800">
              <a:solidFill>
                <a:schemeClr val="dk1"/>
              </a:solidFill>
              <a:latin typeface="Calibri"/>
              <a:ea typeface="Calibri"/>
              <a:cs typeface="Calibri"/>
              <a:sym typeface="Calibri"/>
            </a:endParaRPr>
          </a:p>
        </p:txBody>
      </p:sp>
      <p:pic>
        <p:nvPicPr>
          <p:cNvPr id="621" name="Google Shape;621;p45"/>
          <p:cNvPicPr preferRelativeResize="0"/>
          <p:nvPr/>
        </p:nvPicPr>
        <p:blipFill rotWithShape="1">
          <a:blip r:embed="rId3">
            <a:alphaModFix/>
          </a:blip>
          <a:srcRect b="0" l="0" r="0" t="0"/>
          <a:stretch/>
        </p:blipFill>
        <p:spPr>
          <a:xfrm>
            <a:off x="7159414" y="1280071"/>
            <a:ext cx="2118643" cy="4297561"/>
          </a:xfrm>
          <a:prstGeom prst="rect">
            <a:avLst/>
          </a:prstGeom>
          <a:noFill/>
          <a:ln>
            <a:noFill/>
          </a:ln>
        </p:spPr>
      </p:pic>
      <p:sp>
        <p:nvSpPr>
          <p:cNvPr id="622" name="Google Shape;622;p45"/>
          <p:cNvSpPr/>
          <p:nvPr/>
        </p:nvSpPr>
        <p:spPr>
          <a:xfrm>
            <a:off x="6458396" y="5669161"/>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Wang et al. (2023), Fig. 4. Search distributions relative to real and virtual feeders.</a:t>
            </a:r>
            <a:endParaRPr sz="1800">
              <a:solidFill>
                <a:schemeClr val="dk1"/>
              </a:solidFill>
              <a:latin typeface="Calibri"/>
              <a:ea typeface="Calibri"/>
              <a:cs typeface="Calibri"/>
              <a:sym typeface="Calibri"/>
            </a:endParaRPr>
          </a:p>
        </p:txBody>
      </p:sp>
      <p:pic>
        <p:nvPicPr>
          <p:cNvPr id="623" name="Google Shape;623;p45"/>
          <p:cNvPicPr preferRelativeResize="0"/>
          <p:nvPr/>
        </p:nvPicPr>
        <p:blipFill rotWithShape="1">
          <a:blip r:embed="rId4">
            <a:alphaModFix/>
          </a:blip>
          <a:srcRect b="0" l="0" r="0" t="0"/>
          <a:stretch/>
        </p:blipFill>
        <p:spPr>
          <a:xfrm>
            <a:off x="10161986" y="2148780"/>
            <a:ext cx="1462680" cy="399008"/>
          </a:xfrm>
          <a:prstGeom prst="rect">
            <a:avLst/>
          </a:prstGeom>
          <a:noFill/>
          <a:ln>
            <a:noFill/>
          </a:ln>
        </p:spPr>
      </p:pic>
      <p:sp>
        <p:nvSpPr>
          <p:cNvPr id="624" name="Google Shape;624;p45"/>
          <p:cNvSpPr/>
          <p:nvPr/>
        </p:nvSpPr>
        <p:spPr>
          <a:xfrm>
            <a:off x="10161836" y="2621012"/>
            <a:ext cx="148203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Wang et al. (2023), Fig. 1A–C. Experimental landscape and radar trajectories.</a:t>
            </a:r>
            <a:endParaRPr sz="1800">
              <a:solidFill>
                <a:schemeClr val="dk1"/>
              </a:solidFill>
              <a:latin typeface="Calibri"/>
              <a:ea typeface="Calibri"/>
              <a:cs typeface="Calibri"/>
              <a:sym typeface="Calibri"/>
            </a:endParaRPr>
          </a:p>
        </p:txBody>
      </p:sp>
      <p:sp>
        <p:nvSpPr>
          <p:cNvPr id="625" name="Google Shape;625;p45"/>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Wang et al. (2023); Riley et al. (2005)</a:t>
            </a:r>
            <a:endParaRPr sz="1800">
              <a:solidFill>
                <a:schemeClr val="dk1"/>
              </a:solidFill>
              <a:latin typeface="Calibri"/>
              <a:ea typeface="Calibri"/>
              <a:cs typeface="Calibri"/>
              <a:sym typeface="Calibri"/>
            </a:endParaRPr>
          </a:p>
        </p:txBody>
      </p:sp>
      <p:sp>
        <p:nvSpPr>
          <p:cNvPr id="627" name="Google Shape;62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33" name="Google Shape;633;p46"/>
          <p:cNvSpPr/>
          <p:nvPr/>
        </p:nvSpPr>
        <p:spPr>
          <a:xfrm>
            <a:off x="566886" y="12343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46"/>
          <p:cNvSpPr/>
          <p:nvPr/>
        </p:nvSpPr>
        <p:spPr>
          <a:xfrm>
            <a:off x="749796" y="13716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500"/>
              <a:buFont typeface="Arial"/>
              <a:buNone/>
            </a:pPr>
            <a:r>
              <a:rPr b="1" i="0" lang="en-US" sz="1500">
                <a:solidFill>
                  <a:srgbClr val="3F5063"/>
                </a:solidFill>
                <a:latin typeface="Arial"/>
                <a:ea typeface="Arial"/>
                <a:cs typeface="Arial"/>
                <a:sym typeface="Arial"/>
              </a:rPr>
              <a:t>Dance vectors</a:t>
            </a:r>
            <a:r>
              <a:rPr b="0" i="0" lang="en-US" sz="1500">
                <a:solidFill>
                  <a:srgbClr val="252B32"/>
                </a:solidFill>
                <a:latin typeface="Arial"/>
                <a:ea typeface="Arial"/>
                <a:cs typeface="Arial"/>
                <a:sym typeface="Arial"/>
              </a:rPr>
              <a:t> Waggle-run angle specifies direction relative to the sun; duration specifies a visually calibrated distance from the hive. Vector flight and terminal source search are distinct.</a:t>
            </a:r>
            <a:endParaRPr sz="1800">
              <a:solidFill>
                <a:schemeClr val="dk1"/>
              </a:solidFill>
              <a:latin typeface="Calibri"/>
              <a:ea typeface="Calibri"/>
              <a:cs typeface="Calibri"/>
              <a:sym typeface="Calibri"/>
            </a:endParaRPr>
          </a:p>
        </p:txBody>
      </p:sp>
      <p:sp>
        <p:nvSpPr>
          <p:cNvPr id="635" name="Google Shape;635;p46"/>
          <p:cNvSpPr/>
          <p:nvPr/>
        </p:nvSpPr>
        <p:spPr>
          <a:xfrm>
            <a:off x="6233071" y="12343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46"/>
          <p:cNvSpPr/>
          <p:nvPr/>
        </p:nvSpPr>
        <p:spPr>
          <a:xfrm>
            <a:off x="6415980"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600"/>
              <a:buFont typeface="Arial"/>
              <a:buNone/>
            </a:pPr>
            <a:r>
              <a:rPr b="1" i="0" lang="en-US" sz="1600">
                <a:solidFill>
                  <a:srgbClr val="3F5063"/>
                </a:solidFill>
                <a:latin typeface="Arial"/>
                <a:ea typeface="Arial"/>
                <a:cs typeface="Arial"/>
                <a:sym typeface="Arial"/>
              </a:rPr>
              <a:t>Visual odometry</a:t>
            </a:r>
            <a:r>
              <a:rPr b="0" i="0" lang="en-US" sz="1600">
                <a:solidFill>
                  <a:srgbClr val="252B32"/>
                </a:solidFill>
                <a:latin typeface="Arial"/>
                <a:ea typeface="Arial"/>
                <a:cs typeface="Arial"/>
                <a:sym typeface="Arial"/>
              </a:rPr>
              <a:t> Optic flow changes dance duration and recruit search distance. Tunnel texture and natural terrain prevent a universal conversion from duration to physical meters.</a:t>
            </a:r>
            <a:endParaRPr sz="1800">
              <a:solidFill>
                <a:schemeClr val="dk1"/>
              </a:solidFill>
              <a:latin typeface="Calibri"/>
              <a:ea typeface="Calibri"/>
              <a:cs typeface="Calibri"/>
              <a:sym typeface="Calibri"/>
            </a:endParaRPr>
          </a:p>
        </p:txBody>
      </p:sp>
      <p:sp>
        <p:nvSpPr>
          <p:cNvPr id="637" name="Google Shape;637;p46"/>
          <p:cNvSpPr/>
          <p:nvPr/>
        </p:nvSpPr>
        <p:spPr>
          <a:xfrm>
            <a:off x="566886" y="29869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600"/>
              <a:buFont typeface="Arial"/>
              <a:buNone/>
            </a:pPr>
            <a:r>
              <a:rPr b="1" i="0" lang="en-US" sz="1600">
                <a:solidFill>
                  <a:srgbClr val="3F5063"/>
                </a:solidFill>
                <a:latin typeface="Arial"/>
                <a:ea typeface="Arial"/>
                <a:cs typeface="Arial"/>
                <a:sym typeface="Arial"/>
              </a:rPr>
              <a:t>Time compensation</a:t>
            </a:r>
            <a:r>
              <a:rPr b="0" i="0" lang="en-US" sz="1600">
                <a:solidFill>
                  <a:srgbClr val="252B32"/>
                </a:solidFill>
                <a:latin typeface="Arial"/>
                <a:ea typeface="Arial"/>
                <a:cs typeface="Arial"/>
                <a:sym typeface="Arial"/>
              </a:rPr>
              <a:t> Bees refine the local solar course through experience. Circadian phase disruption causes sun-compass errors whose direction depends on hemisphere.</a:t>
            </a:r>
            <a:endParaRPr sz="1800">
              <a:solidFill>
                <a:schemeClr val="dk1"/>
              </a:solidFill>
              <a:latin typeface="Calibri"/>
              <a:ea typeface="Calibri"/>
              <a:cs typeface="Calibri"/>
              <a:sym typeface="Calibri"/>
            </a:endParaRPr>
          </a:p>
        </p:txBody>
      </p:sp>
      <p:sp>
        <p:nvSpPr>
          <p:cNvPr id="639" name="Google Shape;639;p46"/>
          <p:cNvSpPr/>
          <p:nvPr/>
        </p:nvSpPr>
        <p:spPr>
          <a:xfrm>
            <a:off x="6233071" y="29869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46"/>
          <p:cNvSpPr/>
          <p:nvPr/>
        </p:nvSpPr>
        <p:spPr>
          <a:xfrm>
            <a:off x="6415980" y="31242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500"/>
              <a:buFont typeface="Arial"/>
              <a:buNone/>
            </a:pPr>
            <a:r>
              <a:rPr b="1" i="0" lang="en-US" sz="1500">
                <a:solidFill>
                  <a:srgbClr val="3F5063"/>
                </a:solidFill>
                <a:latin typeface="Arial"/>
                <a:ea typeface="Arial"/>
                <a:cs typeface="Arial"/>
                <a:sym typeface="Arial"/>
              </a:rPr>
              <a:t>Compass pathways</a:t>
            </a:r>
            <a:r>
              <a:rPr b="0" i="0" lang="en-US" sz="1500">
                <a:solidFill>
                  <a:srgbClr val="252B32"/>
                </a:solidFill>
                <a:latin typeface="Arial"/>
                <a:ea typeface="Arial"/>
                <a:cs typeface="Arial"/>
                <a:sym typeface="Arial"/>
              </a:rPr>
              <a:t> Ultraviolet-sensitive dorsal-rim input reaches the medulla, optic tubercle, bulbs and central body. Tracing establishes anatomy; candidate timing contacts require functional tests.</a:t>
            </a:r>
            <a:endParaRPr sz="1800">
              <a:solidFill>
                <a:schemeClr val="dk1"/>
              </a:solidFill>
              <a:latin typeface="Calibri"/>
              <a:ea typeface="Calibri"/>
              <a:cs typeface="Calibri"/>
              <a:sym typeface="Calibri"/>
            </a:endParaRPr>
          </a:p>
        </p:txBody>
      </p:sp>
      <p:sp>
        <p:nvSpPr>
          <p:cNvPr id="641" name="Google Shape;641;p46"/>
          <p:cNvSpPr/>
          <p:nvPr/>
        </p:nvSpPr>
        <p:spPr>
          <a:xfrm>
            <a:off x="566886" y="47395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46"/>
          <p:cNvSpPr/>
          <p:nvPr/>
        </p:nvSpPr>
        <p:spPr>
          <a:xfrm>
            <a:off x="749796" y="48768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500"/>
              <a:buFont typeface="Arial"/>
              <a:buNone/>
            </a:pPr>
            <a:r>
              <a:rPr b="1" i="0" lang="en-US" sz="1500">
                <a:solidFill>
                  <a:srgbClr val="3F5063"/>
                </a:solidFill>
                <a:latin typeface="Arial"/>
                <a:ea typeface="Arial"/>
                <a:cs typeface="Arial"/>
                <a:sym typeface="Arial"/>
              </a:rPr>
              <a:t>Dance-signal processing</a:t>
            </a:r>
            <a:r>
              <a:rPr b="0" i="0" lang="en-US" sz="1500">
                <a:solidFill>
                  <a:srgbClr val="252B32"/>
                </a:solidFill>
                <a:latin typeface="Arial"/>
                <a:ea typeface="Arial"/>
                <a:cs typeface="Arial"/>
                <a:sym typeface="Arial"/>
              </a:rPr>
              <a:t> Antennal movement activates mechanosensory pathways. Identified interneurons filter vibration pulse trains, but their proposed inhibitory connections and distance-decoding role are not fully established.</a:t>
            </a:r>
            <a:endParaRPr sz="1800">
              <a:solidFill>
                <a:schemeClr val="dk1"/>
              </a:solidFill>
              <a:latin typeface="Calibri"/>
              <a:ea typeface="Calibri"/>
              <a:cs typeface="Calibri"/>
              <a:sym typeface="Calibri"/>
            </a:endParaRPr>
          </a:p>
        </p:txBody>
      </p:sp>
      <p:sp>
        <p:nvSpPr>
          <p:cNvPr id="643" name="Google Shape;643;p46"/>
          <p:cNvSpPr/>
          <p:nvPr/>
        </p:nvSpPr>
        <p:spPr>
          <a:xfrm>
            <a:off x="6233071" y="47395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46"/>
          <p:cNvSpPr/>
          <p:nvPr/>
        </p:nvSpPr>
        <p:spPr>
          <a:xfrm>
            <a:off x="6415980"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500"/>
              <a:buFont typeface="Arial"/>
              <a:buNone/>
            </a:pPr>
            <a:r>
              <a:rPr b="1" i="0" lang="en-US" sz="1500">
                <a:solidFill>
                  <a:srgbClr val="3F5063"/>
                </a:solidFill>
                <a:latin typeface="Arial"/>
                <a:ea typeface="Arial"/>
                <a:cs typeface="Arial"/>
                <a:sym typeface="Arial"/>
              </a:rPr>
              <a:t>Experience and search</a:t>
            </a:r>
            <a:r>
              <a:rPr b="0" i="0" lang="en-US" sz="1500">
                <a:solidFill>
                  <a:srgbClr val="252B32"/>
                </a:solidFill>
                <a:latin typeface="Arial"/>
                <a:ea typeface="Arial"/>
                <a:cs typeface="Arial"/>
                <a:sym typeface="Arial"/>
              </a:rPr>
              <a:t> Early social experience affects dance precision and lasting distance calibration. Familiar landscape knowledge can influence later search without replacing the initial dance vector.</a:t>
            </a:r>
            <a:endParaRPr sz="1800">
              <a:solidFill>
                <a:schemeClr val="dk1"/>
              </a:solidFill>
              <a:latin typeface="Calibri"/>
              <a:ea typeface="Calibri"/>
              <a:cs typeface="Calibri"/>
              <a:sym typeface="Calibri"/>
            </a:endParaRPr>
          </a:p>
        </p:txBody>
      </p:sp>
      <p:sp>
        <p:nvSpPr>
          <p:cNvPr id="645" name="Google Shape;645;p4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 Dong et al. (2023); Srinivasan et al. (2000); Zeller et al. (2015)</a:t>
            </a:r>
            <a:endParaRPr sz="1800">
              <a:solidFill>
                <a:schemeClr val="dk1"/>
              </a:solidFill>
              <a:latin typeface="Calibri"/>
              <a:ea typeface="Calibri"/>
              <a:cs typeface="Calibri"/>
              <a:sym typeface="Calibri"/>
            </a:endParaRPr>
          </a:p>
        </p:txBody>
      </p:sp>
      <p:sp>
        <p:nvSpPr>
          <p:cNvPr id="647" name="Google Shape;64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2026-10-08T22:26:11.889Z</dcterms:created>
  <dc:creator>Presenton</dc:creator>
</cp:coreProperties>
</file>