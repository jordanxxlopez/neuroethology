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gLYFAiXQD8TcrBD9HVP6MYrGyI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slide" Target="slides/slide4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Spatial cognition: hippocampal place cells and grid cells (O'Keefe &amp; Moser)</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Monday, November 23, 2026</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References: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**place cell** is a neuron whose activity depends on the animal's location. O'Keefe and Dostrovsky recorded hippocampal units while rats moved on a 24 × 36 cm platform, testing whether neural firing could provide a spatial reference for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Their clearest CA1 example also required a particular facing direction and a restraining tactile stimulus. Location was therefore one component of a combined response, rather than the only variable controlling the cell.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proposed **cognitive map**, an internal representation of spatial relationships, was an interpretation of these responses. The recordings supported spatial coding but did not establish a complete map or identify how it guides a route.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 **extracellular recording** measures voltage changes outside neurons when they fire action potentials. A lightweight skull-mounted microdrive allowed electrodes to advance through the dorsal hippocampus while the recovered rat walked, groomed, ate, or remained still.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Adjacent recording and reference electrodes fed a differential amplifier, which reduced shared muscle and movement artifacts. The experimental preparation retained behavior that anesthesia would remove, while keeping the recording apparatus attached to the animal.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also tested sounds, moving visual stimuli, odors, and touch. These comparisons distinguished spatially dependent responses from simple sensory responsiveness, although extracellular spikes alone could not identify a neuron's transmitter, dendritic structure, or synaptic inputs.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 name="Google Shape;57;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recorded CA1 unit fired when the rat was restrained at positions A and B. A hand over the back supplied the tactile stimulus while the experimenter moved the animal around the platform and repeated the same manipulation at other positions.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position D, the same restraint did not produce the strong response present at A. At A, remaining still without restraint also failed to produce firing. Both the spatial configuration and the tactile input were required under these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**conjunctive response** depends on a combination of variables. This cell's response was conjunctive, so the finding cannot be reduced to either a touch detector or a pure position detector independent of sensory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 name="Google Shape;71;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O'Keefe and Dostrovsky translated the rat to position H while retaining an orientation related to the preferred orientation. The response became much smaller, indicating that facing direction alone did not account for the unit's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platform procedure compared restraint at multiple positions and orientations, with intervals of immobility before and after restraint. These intervals separated the sensory manipulation from the animal's movement between testing positions.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neuron's **spatial field** is the set of locations associated with elevated firing under specified conditions. In this early experiment, the effective field included position, orientation, and touch. A firing field should therefore be defined together with the behavioral conditions used to measure it.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Switching off the lights abolished the response of the featured CA1 unit. The spatially restricted tactile response depended on visual information, even though the immediate stimulus that evoked firing was touch on the animal's back.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tested moving striped cards but could not identify a restricted visual receptive field that explained the response. A **receptive field** is the region of sensory space within which a suitable stimulus alters a neuron's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rat rotated between effective orientations, making a fixed retinal image an unlikely explanation. These observations favored dependence on the surrounding visual configuration, but the experiment did not isolate which particular landmarks supplied the relevant positional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neighboring hippocampal unit responded to moving visual stimuli when the rat occupied a preferred orientation between G and A. At moderate arousal, stimulation elsewhere did not evoke a comparable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higher arousal, weak responses became possible outside the preferred orientation, while the preferred response grew stronger. **Arousal** refers here to the animal's behavioral activation state, which altered how readily sensory input produced spikes.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same sensory stimulus therefore had different effects depending on spatial configuration and state. The observations establish state dependence of the response, but they do not identify the neuromodulator or receptor responsible. Assigning the effect to a particular transmitter would require an additional intervention.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investigators rotated the platform to challenge explanations based on local odors or tactile markings. They also removed prominent sound sources and darkened or occluded portions of the visual environment while monitoring spatially restricted responses.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Individual cue removals often failed to disrupt orientation preferences. More radical changes, including removing the surrounding curtain, disrupted some responses and induced sustained exploration, making a familiar environment behave like a new 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proposed that several cues might provide interchangeable spatial information. This **redundancy** means one cue can compensate for another, but it remained a hypothesis: unsuccessful removal of a single cue does not prove that the remaining cues have equal causal influence.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O'Keefe and Dostrovsky proposed that activation of spatially selective cells, combined with signals related to movement, could recruit cells representing subsequent orientations. This would allow neural activity to anticipate sensory input associated with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proposed internal wiring was not measured in the 1971 study. Recordings established location-dependent responses, whereas prediction, route selection, and explanation of lesion-induced behavioral deficits remained theoretical extensions of those observations.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**neural representation** is a reliable relationship between activity and a variable; a navigational mechanism additionally requires transformations that guide behavior. The initial evidence supplied the former. Establishing the latter requires manipulations of the circuit during tasks that demand spatial choices.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**grid cell** fires in multiple spatial fields arranged with approximately regular spacing. Hafting and colleagues recorded neurons in superficial dorsocaudal medial entorhinal cortex while rats explored a circular arena 2 m in diameter.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larger arena exposed repeated fields that were difficult to recognize in smaller enclosures. Individual cells fired when the rat crossed separated locations distributed across the recording surface, rather than only one confined region.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firing-rate map relates activity to position after accounting for time spent at each location. The repeated fields establish a periodic spatial code. They do not mean that the cortex contains a physically drawn lattice or that each neuron independently specifies one unique place.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**Histology** identifies tissue structure in thin stained brain sections. The recording location in Hafting and colleagues' example was in layer II of medial entorhinal cortex, near its border with postrhinal cortex.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Nissl stain highlights neuronal cell bodies and allows cortical layers and regional boundaries to be recognized. Electrode positions were reconstructed from their tracks and the recorded progression of the microdrive, linking physiological measurements to anatomical location.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reconstruction distinguishes an entorhinal recording from a hippocampal recording. It does not determine the molecular identity of every recorded cell. A spatial firing phenotype and an anatomical layer are measurable properties, but neither alone identifies the full synaptic circuit generating that phenotype.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Rats do not spend equal time at every point in an arena. A **firing rate**, measured in spikes per second or hertz, relates spike counts to the time available for spikes at each location.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and colleagues compared the animal's trajectory with spike locations and the corresponding rate map. Repeated regions of elevated rate remained after the spatial distribution of occupancy was incorporated into the analysis.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comparison prevents a frequently visited region from being treated automatically as a high-response field. It still depends on adequate exploration: poorly sampled locations provide limited evidence about firing. A color-coded rate map represents measured neuronal activity, rather than a direct image of anatomical connections between spatial fields.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**Spatial autocorrelation** compares a rate map with shifted versions of itself. Similarity becomes high when the displacement aligns one set of firing fields with another, exposing repetition that may be less apparent from a single trajectory.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central autocorrelation peak represents alignment without displacement. Six nearby peaks surrounded it, with directions separated by approximately 60°. That arrangement was consistent with firing locations at the vertices of an equilateral triangular lattice.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analysis establishes regularity of the spatial pattern, rather than a mechanism that creates it. An autocorrelation map is also distinct from a temporal autocorrelation: the former compares spatial displacements, while the latter compares the timing of spikes.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**Grid spacing** is the distance between neighboring repeated firing locations. Hafting and colleagues estimated spacing from the distances between the central autocorrelation peak and its nearest surrounding peaks.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Across the reported cells, spacing ranged from 39 to 73 cm. Within a cell, similar distances in several directions and approximately 60° angular separation supported a regular triangular pattern across the arena.</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Spacing describes the spatial scale of a neuron's code, not the distance between neurons in brain tissue. Cells with different spacing can represent the same physical environment at different scales. The original observations did not establish whether those scales were selected continuously or organized into discrete functional modules.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Hafting and colleagues recorded cells as animals moved between a large and a smaller circular enclosure and returned to the large enclosure. The repeated triangular organization remained recognizable across the changes in available surface.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expanded arena contained more activity nodes, while their density remained similar. The pattern therefore was not simply a small fixed collection of fields stretched to match the enclosing walls.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supports a spatially repeated code that can extend across different recording areas. The authors discussed potentially unlimited grids, but finite experimental arenas cannot establish infinite extent. Boundaries and available sampling still limit which portions of a cell's spatial pattern can be observed.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Simultaneously recorded grid cells near the same electrode location had similar spacing and orientation. **Orientation** is the angle of the lattice relative to a reference direction in the recording environment.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Their rate maps contained repeated fields with a common geometry, even when the locations of individual fields differed. A **tetrode**, a bundle of four recording wires, helps separate neurons by comparing the amplitudes of their spikes on multiple channels.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Shared metric properties support coordination among nearby cells. They do not establish direct synaptic connections between every simultaneously recorded pair. Common input and local interactions are both possible explanations for coordinated geometry, and extracellular recordings alone do not distinguish them.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**Dorsal** and **ventral** describe positions along the anatomical axis used to compare recording sites. In the same rat, one site near the dorsal entorhinal border had denser grid spacing than a site 560 µm deeper.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Reported spacing was 39.1–43.0 cm at the dorsal location and 48.1–52.2 cm at the more ventral location. Comparing sites within one animal reduced explanations based entirely on differences between animals or their environments.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finding links anatomical position to the spatial scale of firing. It does not mean that the same neuron changed scale solely because an electrode moved. The recordings sampled different cells at different positions, revealing an organized relationship across the tissue.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**firing field** is a region where a cell's rate exceeds the surrounding background under the tested conditions. Hafting and colleagues measured field size from the central peak of the spatial autocorrelation.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More ventral recording positions were associated with both greater spacing and larger individual fields. These are related but distinct properties: spacing concerns separation between fields, whereas field size concerns the extent of each field.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Their joint increase produces a coarser spatial pattern, rather than merely moving unchanged fields farther apart. The measurements depend on the stated analysis threshold. Field size is therefore an operational measurement of an activity pattern, not an anatomical boundary visible in the entorhinal tissue.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angle of a grid can differ between recording locations even when nearby cells at each location share similar orientation. Hafting and colleagues defined that angle relative to a camera-based reference direction.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Spacing and field size increased toward ventral locations, but orientation did not exhibit the same systematic dorsal-to-ventral relationship. Spatial scale and directional alignment therefore must be treated as separate properties of the code.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change in angle rotates a lattice without necessarily changing the distance between its fields. A change in spacing alters the metric scale without necessarily rotating it. Separating these variables prevents a shift in directional reference from being mistaken for a change in spatial resolution.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**Spatial phase** describes where the vertices of a grid lie relative to a reference location. Nearby neurons can share spacing and orientation while placing their elevated firing fields at different positions.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and colleagues compared simultaneously recorded rate maps and found displaced versions of similar lattices. Superimposing the patterns after a spatial shift brought their vertices into closer alignment.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Different phases allow neighboring cells to become active at different positions, collectively covering more of the environment than a single cell. Phase is a spatial displacement here, not the timing of a spike relative to an oscillation. These two uses of the word refer to different measurements.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**Spatial cross-correlation** compares the rate maps of two different neurons as one map is shifted relative to the other. Peaks indicate displacements that bring their firing patterns into alignment.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For neighboring grid cells, the cross-correlation retained a repeated arrangement but commonly placed its nearest peak away from the origin. That offset quantified a difference in spatial phase despite shared spacing and orientation.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Cells at different recording locations could have different scales and orientations, producing less sharply aligned cross-correlations. The comparison measures similarity of spatial codes, not communication between the neurons. A correlated pattern can arise through common inputs without a direct synapse between the recorded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grid cell's periodic firing leaves locations where that particular cell is relatively inactive. Neighboring cells with different spatial phases place their fields in other regions while retaining similar metric properties.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recorded population collectively covered the arena because field locations differed across cells. The observed phase differences were distributed across the available range rather than restricted to a single common alignment.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Population coverage supports a code for location using combinations of active neurons. It does not establish that every location has a unique code in an arbitrarily large environment: periodic activity can repeat. Additional scales, starting-position information, or other inputs may be required to resolve such ambiguity.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 **external landmark** is an environmental feature that can supply a stable spatial reference. Hafting and colleagues rotated a cue card by 90° and compared the grid before, during, and after the manipulation.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Grid orientation changed with the cue, while the periodic organization was retained. Returning the card toward its original position restored the corresponding alignment, supporting control of the grid's directional reference by a visible environmental feature.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distinguishes the existence of periodic firing from its alignment to a particular room. It does not establish that vision generates the periodicity itself. The same lattice can retain its geometry while external cues determine how that lattice is oriented in the environment.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Hafting and colleagues recorded a grid cell during 10 min of light, 10 min of darkness, and a return to light. The animal remained in the recording environment during these changes.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grid pattern persisted in darkness, although fields could become somewhat dispersed or displaced. **Self-motion information** comprises signals related to the animal's own movement, which remain available even when visual landmarks are absent.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Persistence without vision is consistent with movement-based updating of location. Darkness does not remove every external cue: odors, touch, and environmental boundaries can remain available. The experiment therefore supports a contribution from self-motion without proving that the grid operates independently of all environmental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1" name="Google Shape;351;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**Path integration** updates an estimate of location from movement since a reference position. A spatial code that persists in darkness is compatible with this computation because movement information can continue to update the estimate.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and colleagues found no major change in grid spacing during visual deprivation. The preserved metric pattern contrasted with the ability of visible landmarks to change the grid's directional alignment.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combination supports a distinction between internally maintained geometry and external calibration. The recordings did not directly measure all movement signals or selectively remove them. Path integration was consequently a supported explanation of grid function, rather than a fully identified sequence of synaptic transformations established by the experiment.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 name="Google Shape;365;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animals were tested in a familiar room, a novel room, and the familiar room again. Repeated firing fields were present early in the novel environment, rather than appearing only after prolonged experience with that particular room.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and colleagues divided the novel-room trial into short blocks. Activity during the first 2 min already related to the spatial pattern measured near the end of the trial, while the pattern became more stable with exposure.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Rapid expression supports transfer of a spatial organizing process across environments. It does not mean that landmark associations are already complete on entry. An available grid geometry and the stabilization of its alignment are separate aspects of the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9" name="Google Shape;379;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novel-room rate maps became more consistent during continued exploration. Stability was measured by comparing firing at corresponding locations during earlier portions of a trial and its final portion.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grid's orientation also differed between the familiar and novel rooms, while repeated familiar-room tests had much smaller changes. The same spatial organizing principle could therefore be expressed with room-specific alignment.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proposed that learning establishes associations between landmarks and the grid's phase and orientation. That proposal accounts for gradual stabilization but does not identify a particular plasticity receptor or synapse. The study measured changes in spatial activity, not the molecular events that stored those associations.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3" name="Google Shape;393;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Giocomo and colleagues tested whether an ion-channel protein contributes to spatial scale by recording grid cells in mice with forebrain-restricted **HCN1 knockout**. A knockout removes functional expression of the targeted gene in the affected tissue.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Littermate controls provided a comparison for the genetic manipulation, and experimenters remained unaware of group identity during collection and preliminary analysis. Recordings sampled superficial medial entorhinal cortex while mice explored open fields.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intervention moved beyond observing a scale gradient to altering a candidate molecular contributor. Because the deletion affected the forebrain rather than only recorded grid cells, the results cannot be assigned exclusively to a cell-autonomous action of HCN1 within each recorded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 name="Google Shape;407;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**HCN** denotes hyperpolarization-activated cyclic nucleotide-gated channels. These channels conduct the inward cation current called **Ih** and influence membrane responses and the time over which inputs can interact.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and colleagues used prior cellular evidence that reducing HCN1 slows resonance and temporal integration in entorhinal layer II cells as the rationale for recording spatial activity after forebrain deletion. **Temporal integration** is the combination of inputs arriving at different times.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knockout grid maps connect the channel intervention to altered spatial firing. They do not directly measure Ih in the same recorded grid cells. The relationship between membrane integration and the movement-to-space transformation remains a mechanistic interpretation constrained by the observed changes in scale.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1" name="Google Shape;421;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Mice explored a 100 × 100 cm box and, in additional sessions, a 50 × 50 cm box. The larger environment provided sufficient extent to recognize repeated fields over the sampled dorsal-to-ventral recording range.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smaller box supported measurements of boundary-related and head-direction activity, but did not reveal every grid's full periodicity. The researchers consequently based the principal grid-cell comparison on recordings from the larger environment.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Arena dimensions determine how much of a spatial pattern can be sampled. Failure to recognize a lattice in a small box does not establish that a neuron lacks periodic activity. This control is particularly relevant when a manipulation enlarges spacing and reduces the number of visible fields.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5" name="Google Shape;435;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Grid cells remained present after forebrain HCN1 deletion. Their rate maps and spatial autocorrelations retained repeated, approximately hexagonal organization, establishing that HCN1 was not required for every expression of the grid pattern.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and colleagues compared observed spatial patterns with patterns obtained by shifting spike timing relative to the animal's path. This **shuffle control** preserves the spike sequence while disrupting its original association with position.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Preserved periodicity separates generation of grid-like structure from regulation of its scale. The result does not establish that Ih has no contribution to the network: other HCN subunits, other intrinsic currents, and circuit interactions can remain after removal of HCN1.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9" name="Google Shape;449;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Grid spacing was greater in knockout mice than in controls across the sampled anatomical positions. Giocomo and colleagues plotted spacing against distance from the dorsal border of medial entorhinal cortex.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Comparing cells at similar anatomical levels reduced confusion between a genetic effect and the normal dorsal-to-ventral scale difference. The knockout relationship was shifted toward larger spacing while still increasing toward ventral positions.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intervention establishes that HCN1 expression contributes to the normal range of spatial scale. It does not establish the exact synaptic calculation by which the channel changes spacing. The measured outcome is a change in the distance between activity fields, rather than disappearance of spatial coding.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3" name="Google Shape;463;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HCN1 knockout enlarged both grid spacing and the size of individual fields. These two measurements distinguished distance between repeated peaks from the extent of each elevated firing region.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reported spacing-to-field-size ratios were approximately 3.26 in controls and 3.32 after knockout. Their similarity supports coordinated expansion of the pattern rather than selective broadening of fields without a corresponding spacing change.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proportionately enlarged grid represents a coarser metric pattern. It does not directly imply poorer behavioral performance or reduced ability to identify a location. The experiment quantified neuronal spatial firing during exploration, and that measurement must be distinguished from a separate test of navigational accuracy or memory.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7" name="Google Shape;477;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Giocomo and colleagues presented grid maps together with stained sections locating their recording sites. At similar distances from the dorsal entorhinal border, knockout examples had wider spacing than control examples.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anatomical reconstruction used sagittal sections and cortical staining patterns to identify medial entorhinal cortex and its layers. **Cytoarchitecture** means the arrangement and appearance of cells used to distinguish tissue regions.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Matching anatomical locations makes a scale difference less likely to arise solely from recording deeper in the knockout group. Histology verifies where electrodes sampled activity, but does not prove identical cellular composition at every site or restrict a forebrain genetic manipulation to the neurons recorded there.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Within a single knockout animal, grid spacing still increased as recording locations progressed away from the dorsal border. Giocomo and colleagues used this within-animal series to test whether HCN1 deletion abolished the anatomical organization of scale.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persistence of a gradient distinguished a general expansion of the scale range from loss of topographic organization. **Topography** is the systematic relationship between anatomical position and a measured functional property.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HCN1 therefore contributed to scale without providing the sole determinant of the dorsal-to-ventral relationship. Other cellular properties and circuit mechanisms remained possible contributors. The surviving gradient does not identify which of them is responsible, and it should not be attributed to a specific remaining current without additional measurements.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5" name="Google Shape;505;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**Theta modulation** is a recurring change in neuronal firing associated with a low-frequency rhythm. Giocomo and colleagues compared spike-time autocorrelations of grid cells in control and knockout mice.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typical interval between theta-related peaks was longer after knockout: the reported values were 108.1 ms in controls and 114.4 ms in knockout grid cells. The enlarged spatial pattern therefore accompanied a slower recurring timescale of firing.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**temporal autocorrelation** measures how often spikes recur at different time lags. It does not measure the physical spacing of fields. The association between slower timing and wider spacing constrains proposed mechanisms, but correlation of the two outcomes does not by itself establish which one causes the other.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9" name="Google Shape;519;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Movement speed can influence theta-related activity, so Giocomo and colleagues compared groups across speed ranges. At 20–30 cm/s, the reported theta-related spike intervals were 101.4 ms in controls and 112.4 ms after HCN1 knockout.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difference remained at comparable speeds, reducing an explanation based entirely on the knockout animals' faster average movement. The speed comparison separated a behavioral covariate from the genetic change in neuronal timing.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is consistent with altered coupling between movement and the spatial code. It does not establish that the channel directly detects speed. HCN1 influences neuronal integration, while the origin and routing of velocity-related inputs require separate circuit measurements.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**local field potential** is the extracellular voltage produced by coordinated activity in nearby tissue. Its theta frequency differs from the frequency inferred from repeated spikes of one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and colleagues reported average entorhinal field-theta frequencies of 8.63 Hz in controls and 8.25 Hz after knockout. The increase of field-theta frequency with running speed was also weaker in knockout mice.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observations connect the channel intervention to population-level timing as well as grid-cell scale. They do not establish that every recorded grid cell fires exactly once per field-theta cycle. Individual discharge timing and the surrounding field rhythm must be measured separately before a proposed phase relationship can be evaluated.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7" name="Google Shape;547;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 **interneuron** is a neuron whose principal connections remain within a local circuit. Giocomo and colleagues compared theta-modulated entorhinal interneurons with the principal cells carrying the grid-cell spatial pattern.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knockout-related increase in theta timing was present in grid cells but was not comparably detected in the simultaneously recorded interneuron population. This comparison argues against a uniform slowing of every recorded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Cell-class differences constrain how a molecular intervention affects network dynamics. The study did not directly measure transmitter release or receptor currents from the recorded interneurons. Their comparison supports a selective physiological effect without specifying every inhibitory synapse or proving that all inhibitory circuitry remained unchanged.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1" name="Google Shape;561;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**border cell** fires most strongly near one or more environmental boundaries. Giocomo and colleagues recorded boundary-related activity in the same entorhinal region used to study grid cells.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maps concentrated activity along walls rather than at the repeated interior locations characteristic of a grid. Border-related firing remained identifiable after HCN1 deletion, providing a comparison with the enlarged grid pattern.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boundary code supplies information different from grid spacing: it relates activity to environmental edges. Its persistence indicates that knockout did not eliminate every form of spatial tuning. The comparison does not establish how border-cell input interacts synaptically with the grid network or whether each class is independently sufficient for navigation.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 name="Google Shape;575;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**head-direction cell** fires preferentially when the animal's head points toward a particular direction. Giocomo and colleagues used two tracking lights to estimate heading and compared firing across angles.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Directional tuning remained present in control and knockout mice. A directional response is distinct from a grid field: an animal can face the preferred direction at several locations, whereas a grid cell's rate is organized by repeated spatial positions.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comparison separates directional coding from the genetic effect on grid scale. The continued directional signal does not prove that it reaches every grid cell normally. Establishing the transformation from heading and speed into location requires measurements of the relevant inputs and their circuit interactions.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9" name="Google Shape;589;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**Spatial stability** describes the consistency of a neuron's firing pattern across repeated portions of a recording. Giocomo and colleagues compared maps from the first and second halves of each trial.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Grid and border patterns were more stable in knockout mice, while directional stability did not change comparably. The analysis also considered grid spacing because broader patterns can appear more stable than narrower patterns under the same displacement.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Greater consistency of activity is distinct from greater spatial precision. A broader field can remain stable while distinguishing positions less sharply. The observed stability difference therefore should not be equated directly with improved navigation or treated as proof of a specific synaptic plasticity mechanism.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3" name="Google Shape;603;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 **oscillatory interference model** proposes that relationships between oscillations contribute to spatially periodic firing. Giocomo and colleagues examined their knockout results in relation to proposed links between intrinsic timing and grid scale.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HCN1 deletion enlarged spacing but preserved the dorsal-to-ventral gradient. The authors contrasted that result with earlier cellular observations that HCN1 deletion strongly alters the anatomical gradient of resonance.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mismatch challenges explanations in which the HCN1-dependent resonance gradient alone determines the scale gradient. It does not disprove every oscillatory mechanism. Different versions make different predictions, and the forebrain intervention also leaves other intrinsic currents and network interactions available to influence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7" name="Google Shape;617;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three studies establish different levels of evidence: spatially dependent hippocampal responses, periodic entorhinal firing, and a genetic contribution to the spatial scale of that periodic activity. Their experimental outcomes should be kept distinct.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HCN1 knockout provides a perturbation of a candidate cellular mechanism, whereas grid recordings in darkness and under landmark rotation compare conditions affecting an intact spatial code. Each manipulation limits a different explanation of the measured firing.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None of these recordings alone identifies a complete route-planning algorithm. A causal account of navigation additionally requires linking the altered representation to behavior under a defined spatial demand, with controls for movement, sensory information, and the broader effects of the intervention.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1" name="Google Shape;631;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**Gain** describes how strongly a system's output changes in response to its input. Giocomo and colleagues proposed that HCN1-dependent integration contributes to the gain linking movement signals with changes in the spatial firing pattern.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After HCN1 deletion, wider field spacing accompanied weaker modulation of theta frequency by running speed. These outcomes were compatible with an altered movement-to-space relationship, while the preserved anatomical scale gradient required additional determinants.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study did not directly record every velocity input or measure its transfer through identified synapses. Gain regulation is therefore a proposed explanation connecting the molecular intervention to spatial activity, rather than a measured circuit diagram or a complete account of how a grid is generated.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5" name="Google Shape;645;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Place coding. Hippocampal activity can depend on location together with sensory conditions, facing direction and behavioral state.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Grid geometry. Entorhinal grid cells have repeated fields whose spacing, orientation and spatial phase are distinct properties.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Landmarks and self-motion. Landmarks align grid activity; persistence in darkness supports movement-based updating without proving independence from all external cues.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Anatomical scale. Grid spacing and field size increase toward ventral entorhinal recording locations.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HCN1 contribution. Forebrain HCN1 deletion expands grid scale and slows theta-related timing while preserving periodicity and the anatomical scale gradient.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Evidence and mechanism. Spatial firing establishes a representation; a complete causal account of navigation requires circuit and behavioral tests beyond these recordings.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O'Keefe J, Dostrovsky J (1971). The hippocampus as a spatial map. Preliminary evidence from unit activity in the freely-moving rat. Brain Research 34(1): 171–175. https://doi.org/10.1016/0006-8993(71)90358-1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Hafting T, Fyhn M, Molden S, Moser MB, Moser EI (2005). Microstructure of a spatial map in the entorhinal cortex. Nature 436(7052): 801–806. https://doi.org/10.1038/nature03721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Giocomo LM, Hussaini SA, Zheng F, Kandel ER, Moser MB, Moser EI (2011). Grid cells use HCN1 channels for spatial scaling. Cell 147(5): 1159–1170. https://doi.org/10.1016/j.cell.2011.08.051</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9.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3.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8.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1.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0.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8.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1.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1.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7.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5.pn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3.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2.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2.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3.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4.png"/><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6.png"/><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1.png"/><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8.png"/><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7.png"/><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1.png"/><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 name="Shape 18"/>
        <p:cNvGrpSpPr/>
        <p:nvPr/>
      </p:nvGrpSpPr>
      <p:grpSpPr>
        <a:xfrm>
          <a:off x="0" y="0"/>
          <a:ext cx="0" cy="0"/>
          <a:chOff x="0" y="0"/>
          <a:chExt cx="0" cy="0"/>
        </a:xfrm>
      </p:grpSpPr>
      <p:sp>
        <p:nvSpPr>
          <p:cNvPr id="19" name="Google Shape;19;p1"/>
          <p:cNvSpPr/>
          <p:nvPr/>
        </p:nvSpPr>
        <p:spPr>
          <a:xfrm>
            <a:off x="6606525" y="5689075"/>
            <a:ext cx="5257800" cy="4002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lang="en-US" sz="1050"/>
              <a:t>Rat. Photo: Alexey Krasavin/Flickr, CC BY-SA 2.0, via WIRED.</a:t>
            </a:r>
            <a:endParaRPr sz="1800">
              <a:solidFill>
                <a:schemeClr val="dk1"/>
              </a:solidFill>
              <a:latin typeface="Calibri"/>
              <a:ea typeface="Calibri"/>
              <a:cs typeface="Calibri"/>
              <a:sym typeface="Calibri"/>
            </a:endParaRPr>
          </a:p>
        </p:txBody>
      </p:sp>
      <p:sp>
        <p:nvSpPr>
          <p:cNvPr id="20" name="Google Shape;20;p1"/>
          <p:cNvSpPr/>
          <p:nvPr/>
        </p:nvSpPr>
        <p:spPr>
          <a:xfrm>
            <a:off x="0" y="0"/>
            <a:ext cx="6095700" cy="6858000"/>
          </a:xfrm>
          <a:prstGeom prst="rect">
            <a:avLst/>
          </a:prstGeom>
          <a:solidFill>
            <a:srgbClr val="493B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D9D9D9"/>
              </a:solidFill>
              <a:latin typeface="Calibri"/>
              <a:ea typeface="Calibri"/>
              <a:cs typeface="Calibri"/>
              <a:sym typeface="Calibri"/>
            </a:endParaRPr>
          </a:p>
        </p:txBody>
      </p:sp>
      <p:sp>
        <p:nvSpPr>
          <p:cNvPr id="21" name="Google Shape;21;p1"/>
          <p:cNvSpPr txBox="1"/>
          <p:nvPr/>
        </p:nvSpPr>
        <p:spPr>
          <a:xfrm>
            <a:off x="685800" y="822960"/>
            <a:ext cx="4724100" cy="1848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D9D9D9"/>
                </a:solidFill>
                <a:latin typeface="Arial"/>
                <a:ea typeface="Arial"/>
                <a:cs typeface="Arial"/>
                <a:sym typeface="Arial"/>
              </a:rPr>
              <a:t>NEUR 411 · NEUROETHOLOGY · FALL 2026</a:t>
            </a:r>
            <a:endParaRPr>
              <a:solidFill>
                <a:srgbClr val="D9D9D9"/>
              </a:solidFill>
            </a:endParaRPr>
          </a:p>
        </p:txBody>
      </p:sp>
      <p:sp>
        <p:nvSpPr>
          <p:cNvPr id="22" name="Google Shape;22;p1"/>
          <p:cNvSpPr txBox="1"/>
          <p:nvPr/>
        </p:nvSpPr>
        <p:spPr>
          <a:xfrm>
            <a:off x="685800" y="1783080"/>
            <a:ext cx="4724100" cy="2772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D9D9D9"/>
                </a:solidFill>
                <a:latin typeface="Arial"/>
                <a:ea typeface="Arial"/>
                <a:cs typeface="Arial"/>
                <a:sym typeface="Arial"/>
              </a:rPr>
              <a:t>Lecture 3</a:t>
            </a:r>
            <a:r>
              <a:rPr lang="en-US" sz="1800">
                <a:solidFill>
                  <a:srgbClr val="D9D9D9"/>
                </a:solidFill>
              </a:rPr>
              <a:t>7</a:t>
            </a:r>
            <a:endParaRPr>
              <a:solidFill>
                <a:srgbClr val="D9D9D9"/>
              </a:solidFill>
            </a:endParaRPr>
          </a:p>
        </p:txBody>
      </p:sp>
      <p:sp>
        <p:nvSpPr>
          <p:cNvPr id="23" name="Google Shape;23;p1"/>
          <p:cNvSpPr txBox="1"/>
          <p:nvPr/>
        </p:nvSpPr>
        <p:spPr>
          <a:xfrm>
            <a:off x="685800" y="2331720"/>
            <a:ext cx="4724100" cy="1970100"/>
          </a:xfrm>
          <a:prstGeom prst="rect">
            <a:avLst/>
          </a:prstGeom>
          <a:noFill/>
          <a:ln>
            <a:noFill/>
          </a:ln>
        </p:spPr>
        <p:txBody>
          <a:bodyPr anchorCtr="0" anchor="t" bIns="0" lIns="0" spcFirstLastPara="1" rIns="0" wrap="square" tIns="0">
            <a:spAutoFit/>
          </a:bodyPr>
          <a:lstStyle/>
          <a:p>
            <a:pPr indent="0" lvl="0" marL="0" rtl="0" algn="l">
              <a:lnSpc>
                <a:spcPct val="122222"/>
              </a:lnSpc>
              <a:spcBef>
                <a:spcPts val="0"/>
              </a:spcBef>
              <a:spcAft>
                <a:spcPts val="0"/>
              </a:spcAft>
              <a:buClr>
                <a:schemeClr val="lt1"/>
              </a:buClr>
              <a:buSzPts val="2700"/>
              <a:buFont typeface="Arial"/>
              <a:buNone/>
            </a:pPr>
            <a:r>
              <a:rPr b="1" lang="en-US" sz="2700">
                <a:solidFill>
                  <a:schemeClr val="lt1"/>
                </a:solidFill>
              </a:rPr>
              <a:t>Spatial cognition: hippocampal place cells and grid cells (O'Keefe &amp; Moser)</a:t>
            </a:r>
            <a:endParaRPr sz="1800">
              <a:solidFill>
                <a:schemeClr val="lt1"/>
              </a:solidFill>
              <a:latin typeface="Calibri"/>
              <a:ea typeface="Calibri"/>
              <a:cs typeface="Calibri"/>
              <a:sym typeface="Calibri"/>
            </a:endParaRPr>
          </a:p>
          <a:p>
            <a:pPr indent="0" lvl="0" marL="0" marR="0" rtl="0" algn="l">
              <a:lnSpc>
                <a:spcPct val="108000"/>
              </a:lnSpc>
              <a:spcBef>
                <a:spcPts val="0"/>
              </a:spcBef>
              <a:spcAft>
                <a:spcPts val="0"/>
              </a:spcAft>
              <a:buNone/>
            </a:pPr>
            <a:r>
              <a:t/>
            </a:r>
            <a:endParaRPr b="1" sz="2900">
              <a:solidFill>
                <a:srgbClr val="D9D9D9"/>
              </a:solidFill>
            </a:endParaRPr>
          </a:p>
        </p:txBody>
      </p:sp>
      <p:sp>
        <p:nvSpPr>
          <p:cNvPr id="24" name="Google Shape;24;p1"/>
          <p:cNvSpPr txBox="1"/>
          <p:nvPr/>
        </p:nvSpPr>
        <p:spPr>
          <a:xfrm>
            <a:off x="685800" y="4405236"/>
            <a:ext cx="4724100" cy="2463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D9D9D9"/>
                </a:solidFill>
                <a:latin typeface="Arial"/>
                <a:ea typeface="Arial"/>
                <a:cs typeface="Arial"/>
                <a:sym typeface="Arial"/>
              </a:rPr>
              <a:t>Monday, November </a:t>
            </a:r>
            <a:r>
              <a:rPr lang="en-US" sz="1600">
                <a:solidFill>
                  <a:srgbClr val="D9D9D9"/>
                </a:solidFill>
              </a:rPr>
              <a:t>23, 2026</a:t>
            </a:r>
            <a:endParaRPr>
              <a:solidFill>
                <a:srgbClr val="D9D9D9"/>
              </a:solidFill>
            </a:endParaRPr>
          </a:p>
        </p:txBody>
      </p:sp>
      <p:sp>
        <p:nvSpPr>
          <p:cNvPr id="25" name="Google Shape;25;p1"/>
          <p:cNvSpPr txBox="1"/>
          <p:nvPr/>
        </p:nvSpPr>
        <p:spPr>
          <a:xfrm>
            <a:off x="685800" y="5394960"/>
            <a:ext cx="4724100" cy="4098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D9D9D9"/>
                </a:solidFill>
                <a:latin typeface="Arial"/>
                <a:ea typeface="Arial"/>
                <a:cs typeface="Arial"/>
                <a:sym typeface="Arial"/>
              </a:rPr>
              <a:t>Jordan Lopez, Ph.D.</a:t>
            </a:r>
            <a:endParaRPr>
              <a:solidFill>
                <a:srgbClr val="D9D9D9"/>
              </a:solidFill>
            </a:endParaRPr>
          </a:p>
          <a:p>
            <a:pPr indent="0" lvl="0" marL="0" marR="0" rtl="0" algn="l">
              <a:lnSpc>
                <a:spcPct val="108000"/>
              </a:lnSpc>
              <a:spcBef>
                <a:spcPts val="200"/>
              </a:spcBef>
              <a:spcAft>
                <a:spcPts val="0"/>
              </a:spcAft>
              <a:buNone/>
            </a:pPr>
            <a:r>
              <a:rPr b="0" i="0" lang="en-US" sz="1200" u="none" cap="none" strike="noStrike">
                <a:solidFill>
                  <a:srgbClr val="D9D9D9"/>
                </a:solidFill>
                <a:latin typeface="Arial"/>
                <a:ea typeface="Arial"/>
                <a:cs typeface="Arial"/>
                <a:sym typeface="Arial"/>
              </a:rPr>
              <a:t>Professor of Neurobiology &amp; Biomedical Engineering</a:t>
            </a:r>
            <a:endParaRPr>
              <a:solidFill>
                <a:srgbClr val="D9D9D9"/>
              </a:solidFill>
            </a:endParaRPr>
          </a:p>
        </p:txBody>
      </p:sp>
      <p:pic>
        <p:nvPicPr>
          <p:cNvPr descr="User attachment" id="26" name="Google Shape;26;p1"/>
          <p:cNvPicPr preferRelativeResize="0"/>
          <p:nvPr/>
        </p:nvPicPr>
        <p:blipFill>
          <a:blip r:embed="rId3">
            <a:alphaModFix/>
          </a:blip>
          <a:stretch>
            <a:fillRect/>
          </a:stretch>
        </p:blipFill>
        <p:spPr>
          <a:xfrm>
            <a:off x="6606525" y="1007750"/>
            <a:ext cx="5040654" cy="3396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sp>
        <p:nvSpPr>
          <p:cNvPr id="31" name="Google Shape;31;p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Spatial firing depends on an animal's surroundings</a:t>
            </a:r>
            <a:endParaRPr sz="1800">
              <a:solidFill>
                <a:schemeClr val="dk1"/>
              </a:solidFill>
              <a:latin typeface="Calibri"/>
              <a:ea typeface="Calibri"/>
              <a:cs typeface="Calibri"/>
              <a:sym typeface="Calibri"/>
            </a:endParaRPr>
          </a:p>
        </p:txBody>
      </p:sp>
      <p:sp>
        <p:nvSpPr>
          <p:cNvPr id="32" name="Google Shape;32;p2"/>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a:t>
            </a:r>
            <a:r>
              <a:rPr b="1" i="0" lang="en-US" sz="1500">
                <a:solidFill>
                  <a:srgbClr val="332925"/>
                </a:solidFill>
                <a:latin typeface="Arial"/>
                <a:ea typeface="Arial"/>
                <a:cs typeface="Arial"/>
                <a:sym typeface="Arial"/>
              </a:rPr>
              <a:t>place cell</a:t>
            </a:r>
            <a:r>
              <a:rPr b="0" i="0" lang="en-US" sz="1500">
                <a:solidFill>
                  <a:srgbClr val="000000"/>
                </a:solidFill>
                <a:latin typeface="Arial"/>
                <a:ea typeface="Arial"/>
                <a:cs typeface="Arial"/>
                <a:sym typeface="Arial"/>
              </a:rPr>
              <a:t> is a neuron whose activity depends on the animal's location. O'Keefe and Dostrovsky recorded hippocampal units while rats moved on a 24 × 36 cm platform, testing whether neural firing could provide a spatial reference for behavior.</a:t>
            </a:r>
            <a:endParaRPr sz="1800">
              <a:solidFill>
                <a:schemeClr val="dk1"/>
              </a:solidFill>
              <a:latin typeface="Calibri"/>
              <a:ea typeface="Calibri"/>
              <a:cs typeface="Calibri"/>
              <a:sym typeface="Calibri"/>
            </a:endParaRPr>
          </a:p>
        </p:txBody>
      </p:sp>
      <p:sp>
        <p:nvSpPr>
          <p:cNvPr id="33" name="Google Shape;33;p2"/>
          <p:cNvSpPr/>
          <p:nvPr/>
        </p:nvSpPr>
        <p:spPr>
          <a:xfrm>
            <a:off x="571500" y="2628900"/>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Their clearest CA1 example also required a particular facing direction and a restraining tactile stimulus. Location was therefore one component of a combined response, rather than the only variable controlling the cell.</a:t>
            </a:r>
            <a:endParaRPr sz="1800">
              <a:solidFill>
                <a:schemeClr val="dk1"/>
              </a:solidFill>
              <a:latin typeface="Calibri"/>
              <a:ea typeface="Calibri"/>
              <a:cs typeface="Calibri"/>
              <a:sym typeface="Calibri"/>
            </a:endParaRPr>
          </a:p>
        </p:txBody>
      </p:sp>
      <p:sp>
        <p:nvSpPr>
          <p:cNvPr id="34" name="Google Shape;34;p2"/>
          <p:cNvSpPr/>
          <p:nvPr/>
        </p:nvSpPr>
        <p:spPr>
          <a:xfrm>
            <a:off x="571500" y="38100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proposed </a:t>
            </a:r>
            <a:r>
              <a:rPr b="1" i="0" lang="en-US" sz="1500">
                <a:solidFill>
                  <a:srgbClr val="332925"/>
                </a:solidFill>
                <a:latin typeface="Arial"/>
                <a:ea typeface="Arial"/>
                <a:cs typeface="Arial"/>
                <a:sym typeface="Arial"/>
              </a:rPr>
              <a:t>cognitive map</a:t>
            </a:r>
            <a:r>
              <a:rPr b="0" i="0" lang="en-US" sz="1500">
                <a:solidFill>
                  <a:srgbClr val="000000"/>
                </a:solidFill>
                <a:latin typeface="Arial"/>
                <a:ea typeface="Arial"/>
                <a:cs typeface="Arial"/>
                <a:sym typeface="Arial"/>
              </a:rPr>
              <a:t>, an internal representation of spatial relationships, was an interpretation of these responses. The recordings supported spatial coding but did not establish a complete map or identify how it guides a route.</a:t>
            </a:r>
            <a:endParaRPr sz="1800">
              <a:solidFill>
                <a:schemeClr val="dk1"/>
              </a:solidFill>
              <a:latin typeface="Calibri"/>
              <a:ea typeface="Calibri"/>
              <a:cs typeface="Calibri"/>
              <a:sym typeface="Calibri"/>
            </a:endParaRPr>
          </a:p>
        </p:txBody>
      </p:sp>
      <p:pic>
        <p:nvPicPr>
          <p:cNvPr id="35" name="Google Shape;35;p2"/>
          <p:cNvPicPr preferRelativeResize="0"/>
          <p:nvPr/>
        </p:nvPicPr>
        <p:blipFill rotWithShape="1">
          <a:blip r:embed="rId3">
            <a:alphaModFix/>
          </a:blip>
          <a:srcRect b="0" l="0" r="0" t="0"/>
          <a:stretch/>
        </p:blipFill>
        <p:spPr>
          <a:xfrm>
            <a:off x="6576976" y="1190625"/>
            <a:ext cx="3086174" cy="4143375"/>
          </a:xfrm>
          <a:prstGeom prst="rect">
            <a:avLst/>
          </a:prstGeom>
          <a:noFill/>
          <a:ln>
            <a:noFill/>
          </a:ln>
        </p:spPr>
      </p:pic>
      <p:sp>
        <p:nvSpPr>
          <p:cNvPr id="36" name="Google Shape;36;p2"/>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O'Keefe &amp; Dostrovsky (1971), Fig. 1. Spatially dependent CA1 response to restraint.</a:t>
            </a:r>
            <a:endParaRPr sz="1800">
              <a:solidFill>
                <a:schemeClr val="dk1"/>
              </a:solidFill>
              <a:latin typeface="Calibri"/>
              <a:ea typeface="Calibri"/>
              <a:cs typeface="Calibri"/>
              <a:sym typeface="Calibri"/>
            </a:endParaRPr>
          </a:p>
        </p:txBody>
      </p:sp>
      <p:pic>
        <p:nvPicPr>
          <p:cNvPr id="37" name="Google Shape;37;p2"/>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38" name="Google Shape;38;p2"/>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39" name="Google Shape;39;p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O'Keefe &amp; Dostrovsky (1971); Giocomo et al. (2011)</a:t>
            </a:r>
            <a:endParaRPr sz="1800">
              <a:solidFill>
                <a:schemeClr val="dk1"/>
              </a:solidFill>
              <a:latin typeface="Calibri"/>
              <a:ea typeface="Calibri"/>
              <a:cs typeface="Calibri"/>
              <a:sym typeface="Calibri"/>
            </a:endParaRPr>
          </a:p>
        </p:txBody>
      </p:sp>
      <p:sp>
        <p:nvSpPr>
          <p:cNvPr id="40" name="Google Shape;40;p2"/>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Movable electrodes reveal activity during natural behavior</a:t>
            </a:r>
            <a:endParaRPr sz="1800">
              <a:solidFill>
                <a:schemeClr val="dk1"/>
              </a:solidFill>
              <a:latin typeface="Calibri"/>
              <a:ea typeface="Calibri"/>
              <a:cs typeface="Calibri"/>
              <a:sym typeface="Calibri"/>
            </a:endParaRPr>
          </a:p>
        </p:txBody>
      </p:sp>
      <p:sp>
        <p:nvSpPr>
          <p:cNvPr id="46" name="Google Shape;46;p3"/>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An </a:t>
            </a:r>
            <a:r>
              <a:rPr b="1" i="0" lang="en-US" sz="1500">
                <a:solidFill>
                  <a:srgbClr val="332925"/>
                </a:solidFill>
                <a:latin typeface="Arial"/>
                <a:ea typeface="Arial"/>
                <a:cs typeface="Arial"/>
                <a:sym typeface="Arial"/>
              </a:rPr>
              <a:t>extracellular recording</a:t>
            </a:r>
            <a:r>
              <a:rPr b="0" i="0" lang="en-US" sz="1500">
                <a:solidFill>
                  <a:srgbClr val="000000"/>
                </a:solidFill>
                <a:latin typeface="Arial"/>
                <a:ea typeface="Arial"/>
                <a:cs typeface="Arial"/>
                <a:sym typeface="Arial"/>
              </a:rPr>
              <a:t> measures voltage changes outside neurons when they fire action potentials. A lightweight skull-mounted microdrive allowed electrodes to advance through the dorsal hippocampus while the recovered rat walked, groomed, ate, or remained still.</a:t>
            </a:r>
            <a:endParaRPr sz="1800">
              <a:solidFill>
                <a:schemeClr val="dk1"/>
              </a:solidFill>
              <a:latin typeface="Calibri"/>
              <a:ea typeface="Calibri"/>
              <a:cs typeface="Calibri"/>
              <a:sym typeface="Calibri"/>
            </a:endParaRPr>
          </a:p>
        </p:txBody>
      </p:sp>
      <p:sp>
        <p:nvSpPr>
          <p:cNvPr id="47" name="Google Shape;47;p3"/>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Adjacent recording and reference electrodes fed a differential amplifier, which reduced shared muscle and movement artifacts. The experimental preparation retained behavior that anesthesia would remove, while keeping the recording apparatus attached to the animal.</a:t>
            </a:r>
            <a:endParaRPr sz="1800">
              <a:solidFill>
                <a:schemeClr val="dk1"/>
              </a:solidFill>
              <a:latin typeface="Calibri"/>
              <a:ea typeface="Calibri"/>
              <a:cs typeface="Calibri"/>
              <a:sym typeface="Calibri"/>
            </a:endParaRPr>
          </a:p>
        </p:txBody>
      </p:sp>
      <p:sp>
        <p:nvSpPr>
          <p:cNvPr id="48" name="Google Shape;48;p3"/>
          <p:cNvSpPr/>
          <p:nvPr/>
        </p:nvSpPr>
        <p:spPr>
          <a:xfrm>
            <a:off x="571500" y="406717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authors also tested sounds, moving visual stimuli, odors, and touch. These comparisons distinguished spatially dependent responses from simple sensory responsiveness, although extracellular spikes alone could not identify a neuron's transmitter, dendritic structure, or synaptic inputs.</a:t>
            </a:r>
            <a:endParaRPr sz="18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3">
            <a:alphaModFix/>
          </a:blip>
          <a:srcRect b="0" l="0" r="0" t="0"/>
          <a:stretch/>
        </p:blipFill>
        <p:spPr>
          <a:xfrm>
            <a:off x="6576976" y="1190625"/>
            <a:ext cx="3086174" cy="4143375"/>
          </a:xfrm>
          <a:prstGeom prst="rect">
            <a:avLst/>
          </a:prstGeom>
          <a:noFill/>
          <a:ln>
            <a:noFill/>
          </a:ln>
        </p:spPr>
      </p:pic>
      <p:sp>
        <p:nvSpPr>
          <p:cNvPr id="50" name="Google Shape;50;p3"/>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O'Keefe &amp; Dostrovsky (1971), Fig. 1. Spatially dependent CA1 response to restraint.</a:t>
            </a:r>
            <a:endParaRPr sz="1800">
              <a:solidFill>
                <a:schemeClr val="dk1"/>
              </a:solidFill>
              <a:latin typeface="Calibri"/>
              <a:ea typeface="Calibri"/>
              <a:cs typeface="Calibri"/>
              <a:sym typeface="Calibri"/>
            </a:endParaRPr>
          </a:p>
        </p:txBody>
      </p:sp>
      <p:pic>
        <p:nvPicPr>
          <p:cNvPr id="51" name="Google Shape;51;p3"/>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52" name="Google Shape;52;p3"/>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53" name="Google Shape;53;p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O'Keefe &amp; Dostrovsky (1971); Giocomo et al. (2011)</a:t>
            </a:r>
            <a:endParaRPr sz="1800">
              <a:solidFill>
                <a:schemeClr val="dk1"/>
              </a:solidFill>
              <a:latin typeface="Calibri"/>
              <a:ea typeface="Calibri"/>
              <a:cs typeface="Calibri"/>
              <a:sym typeface="Calibri"/>
            </a:endParaRPr>
          </a:p>
        </p:txBody>
      </p:sp>
      <p:sp>
        <p:nvSpPr>
          <p:cNvPr id="54" name="Google Shape;54;p3"/>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 name="Shape 58"/>
        <p:cNvGrpSpPr/>
        <p:nvPr/>
      </p:nvGrpSpPr>
      <p:grpSpPr>
        <a:xfrm>
          <a:off x="0" y="0"/>
          <a:ext cx="0" cy="0"/>
          <a:chOff x="0" y="0"/>
          <a:chExt cx="0" cy="0"/>
        </a:xfrm>
      </p:grpSpPr>
      <p:sp>
        <p:nvSpPr>
          <p:cNvPr id="59" name="Google Shape;59;p4"/>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Touch evokes firing only at preferred orientations</a:t>
            </a:r>
            <a:endParaRPr sz="1800">
              <a:solidFill>
                <a:schemeClr val="dk1"/>
              </a:solidFill>
              <a:latin typeface="Calibri"/>
              <a:ea typeface="Calibri"/>
              <a:cs typeface="Calibri"/>
              <a:sym typeface="Calibri"/>
            </a:endParaRPr>
          </a:p>
        </p:txBody>
      </p:sp>
      <p:sp>
        <p:nvSpPr>
          <p:cNvPr id="60" name="Google Shape;60;p4"/>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recorded CA1 unit fired when the rat was restrained at positions A and B. A hand over the back supplied the tactile stimulus while the experimenter moved the animal around the platform and repeated the same manipulation at other positions.</a:t>
            </a:r>
            <a:endParaRPr sz="1800">
              <a:solidFill>
                <a:schemeClr val="dk1"/>
              </a:solidFill>
              <a:latin typeface="Calibri"/>
              <a:ea typeface="Calibri"/>
              <a:cs typeface="Calibri"/>
              <a:sym typeface="Calibri"/>
            </a:endParaRPr>
          </a:p>
        </p:txBody>
      </p:sp>
      <p:sp>
        <p:nvSpPr>
          <p:cNvPr id="61" name="Google Shape;61;p4"/>
          <p:cNvSpPr/>
          <p:nvPr/>
        </p:nvSpPr>
        <p:spPr>
          <a:xfrm>
            <a:off x="571500" y="2628900"/>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At position D, the same restraint did not produce the strong response present at A. At A, remaining still without restraint also failed to produce firing. Both the spatial configuration and the tactile input were required under these conditions.</a:t>
            </a:r>
            <a:endParaRPr sz="1800">
              <a:solidFill>
                <a:schemeClr val="dk1"/>
              </a:solidFill>
              <a:latin typeface="Calibri"/>
              <a:ea typeface="Calibri"/>
              <a:cs typeface="Calibri"/>
              <a:sym typeface="Calibri"/>
            </a:endParaRPr>
          </a:p>
        </p:txBody>
      </p:sp>
      <p:sp>
        <p:nvSpPr>
          <p:cNvPr id="62" name="Google Shape;62;p4"/>
          <p:cNvSpPr/>
          <p:nvPr/>
        </p:nvSpPr>
        <p:spPr>
          <a:xfrm>
            <a:off x="571500" y="3810000"/>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a:t>
            </a:r>
            <a:r>
              <a:rPr b="1" i="0" lang="en-US" sz="1500">
                <a:solidFill>
                  <a:srgbClr val="332925"/>
                </a:solidFill>
                <a:latin typeface="Arial"/>
                <a:ea typeface="Arial"/>
                <a:cs typeface="Arial"/>
                <a:sym typeface="Arial"/>
              </a:rPr>
              <a:t>conjunctive response</a:t>
            </a:r>
            <a:r>
              <a:rPr b="0" i="0" lang="en-US" sz="1500">
                <a:solidFill>
                  <a:srgbClr val="000000"/>
                </a:solidFill>
                <a:latin typeface="Arial"/>
                <a:ea typeface="Arial"/>
                <a:cs typeface="Arial"/>
                <a:sym typeface="Arial"/>
              </a:rPr>
              <a:t> depends on a combination of variables. This cell's response was conjunctive, so the finding cannot be reduced to either a touch detector or a pure position detector independent of sensory conditions.</a:t>
            </a:r>
            <a:endParaRPr sz="1800">
              <a:solidFill>
                <a:schemeClr val="dk1"/>
              </a:solidFill>
              <a:latin typeface="Calibri"/>
              <a:ea typeface="Calibri"/>
              <a:cs typeface="Calibri"/>
              <a:sym typeface="Calibri"/>
            </a:endParaRPr>
          </a:p>
        </p:txBody>
      </p:sp>
      <p:pic>
        <p:nvPicPr>
          <p:cNvPr id="63" name="Google Shape;63;p4"/>
          <p:cNvPicPr preferRelativeResize="0"/>
          <p:nvPr/>
        </p:nvPicPr>
        <p:blipFill rotWithShape="1">
          <a:blip r:embed="rId3">
            <a:alphaModFix/>
          </a:blip>
          <a:srcRect b="0" l="0" r="0" t="0"/>
          <a:stretch/>
        </p:blipFill>
        <p:spPr>
          <a:xfrm>
            <a:off x="6576976" y="1190625"/>
            <a:ext cx="3086174" cy="4143375"/>
          </a:xfrm>
          <a:prstGeom prst="rect">
            <a:avLst/>
          </a:prstGeom>
          <a:noFill/>
          <a:ln>
            <a:noFill/>
          </a:ln>
        </p:spPr>
      </p:pic>
      <p:sp>
        <p:nvSpPr>
          <p:cNvPr id="64" name="Google Shape;64;p4"/>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O'Keefe &amp; Dostrovsky (1971), Fig. 1. Spatially dependent CA1 response to restraint.</a:t>
            </a:r>
            <a:endParaRPr sz="1800">
              <a:solidFill>
                <a:schemeClr val="dk1"/>
              </a:solidFill>
              <a:latin typeface="Calibri"/>
              <a:ea typeface="Calibri"/>
              <a:cs typeface="Calibri"/>
              <a:sym typeface="Calibri"/>
            </a:endParaRPr>
          </a:p>
        </p:txBody>
      </p:sp>
      <p:pic>
        <p:nvPicPr>
          <p:cNvPr id="65" name="Google Shape;65;p4"/>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66" name="Google Shape;66;p4"/>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67" name="Google Shape;67;p4"/>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O'Keefe &amp; Dostrovsky (1971); Giocomo et al. (2011)</a:t>
            </a:r>
            <a:endParaRPr sz="1800">
              <a:solidFill>
                <a:schemeClr val="dk1"/>
              </a:solidFill>
              <a:latin typeface="Calibri"/>
              <a:ea typeface="Calibri"/>
              <a:cs typeface="Calibri"/>
              <a:sym typeface="Calibri"/>
            </a:endParaRPr>
          </a:p>
        </p:txBody>
      </p:sp>
      <p:sp>
        <p:nvSpPr>
          <p:cNvPr id="68" name="Google Shape;68;p4"/>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 name="Shape 72"/>
        <p:cNvGrpSpPr/>
        <p:nvPr/>
      </p:nvGrpSpPr>
      <p:grpSpPr>
        <a:xfrm>
          <a:off x="0" y="0"/>
          <a:ext cx="0" cy="0"/>
          <a:chOff x="0" y="0"/>
          <a:chExt cx="0" cy="0"/>
        </a:xfrm>
      </p:grpSpPr>
      <p:sp>
        <p:nvSpPr>
          <p:cNvPr id="73" name="Google Shape;73;p5"/>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Position contributes beyond the direction of facing</a:t>
            </a:r>
            <a:endParaRPr sz="1800">
              <a:solidFill>
                <a:schemeClr val="dk1"/>
              </a:solidFill>
              <a:latin typeface="Calibri"/>
              <a:ea typeface="Calibri"/>
              <a:cs typeface="Calibri"/>
              <a:sym typeface="Calibri"/>
            </a:endParaRPr>
          </a:p>
        </p:txBody>
      </p:sp>
      <p:sp>
        <p:nvSpPr>
          <p:cNvPr id="74" name="Google Shape;74;p5"/>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O'Keefe and Dostrovsky translated the rat to position H while retaining an orientation related to the preferred orientation. The response became much smaller, indicating that facing direction alone did not account for the unit's activity.</a:t>
            </a:r>
            <a:endParaRPr sz="1800">
              <a:solidFill>
                <a:schemeClr val="dk1"/>
              </a:solidFill>
              <a:latin typeface="Calibri"/>
              <a:ea typeface="Calibri"/>
              <a:cs typeface="Calibri"/>
              <a:sym typeface="Calibri"/>
            </a:endParaRPr>
          </a:p>
        </p:txBody>
      </p:sp>
      <p:sp>
        <p:nvSpPr>
          <p:cNvPr id="75" name="Google Shape;75;p5"/>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platform procedure compared restraint at multiple positions and orientations, with intervals of immobility before and after restraint. These intervals separated the sensory manipulation from the animal's movement between testing positions.</a:t>
            </a:r>
            <a:endParaRPr sz="1800">
              <a:solidFill>
                <a:schemeClr val="dk1"/>
              </a:solidFill>
              <a:latin typeface="Calibri"/>
              <a:ea typeface="Calibri"/>
              <a:cs typeface="Calibri"/>
              <a:sym typeface="Calibri"/>
            </a:endParaRPr>
          </a:p>
        </p:txBody>
      </p:sp>
      <p:sp>
        <p:nvSpPr>
          <p:cNvPr id="76" name="Google Shape;76;p5"/>
          <p:cNvSpPr/>
          <p:nvPr/>
        </p:nvSpPr>
        <p:spPr>
          <a:xfrm>
            <a:off x="571500" y="406717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neuron's </a:t>
            </a:r>
            <a:r>
              <a:rPr b="1" i="0" lang="en-US" sz="1500">
                <a:solidFill>
                  <a:srgbClr val="332925"/>
                </a:solidFill>
                <a:latin typeface="Arial"/>
                <a:ea typeface="Arial"/>
                <a:cs typeface="Arial"/>
                <a:sym typeface="Arial"/>
              </a:rPr>
              <a:t>spatial field</a:t>
            </a:r>
            <a:r>
              <a:rPr b="0" i="0" lang="en-US" sz="1500">
                <a:solidFill>
                  <a:srgbClr val="000000"/>
                </a:solidFill>
                <a:latin typeface="Arial"/>
                <a:ea typeface="Arial"/>
                <a:cs typeface="Arial"/>
                <a:sym typeface="Arial"/>
              </a:rPr>
              <a:t> is the set of locations associated with elevated firing under specified conditions. In this early experiment, the effective field included position, orientation, and touch. A firing field should therefore be defined together with the behavioral conditions used to measure it.</a:t>
            </a:r>
            <a:endParaRPr sz="1800">
              <a:solidFill>
                <a:schemeClr val="dk1"/>
              </a:solidFill>
              <a:latin typeface="Calibri"/>
              <a:ea typeface="Calibri"/>
              <a:cs typeface="Calibri"/>
              <a:sym typeface="Calibri"/>
            </a:endParaRPr>
          </a:p>
        </p:txBody>
      </p:sp>
      <p:pic>
        <p:nvPicPr>
          <p:cNvPr id="77" name="Google Shape;77;p5"/>
          <p:cNvPicPr preferRelativeResize="0"/>
          <p:nvPr/>
        </p:nvPicPr>
        <p:blipFill rotWithShape="1">
          <a:blip r:embed="rId3">
            <a:alphaModFix/>
          </a:blip>
          <a:srcRect b="0" l="0" r="0" t="0"/>
          <a:stretch/>
        </p:blipFill>
        <p:spPr>
          <a:xfrm>
            <a:off x="6576976" y="1190625"/>
            <a:ext cx="3086174" cy="4143375"/>
          </a:xfrm>
          <a:prstGeom prst="rect">
            <a:avLst/>
          </a:prstGeom>
          <a:noFill/>
          <a:ln>
            <a:noFill/>
          </a:ln>
        </p:spPr>
      </p:pic>
      <p:sp>
        <p:nvSpPr>
          <p:cNvPr id="78" name="Google Shape;78;p5"/>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O'Keefe &amp; Dostrovsky (1971), Fig. 1. Spatially dependent CA1 response to restraint.</a:t>
            </a:r>
            <a:endParaRPr sz="1800">
              <a:solidFill>
                <a:schemeClr val="dk1"/>
              </a:solidFill>
              <a:latin typeface="Calibri"/>
              <a:ea typeface="Calibri"/>
              <a:cs typeface="Calibri"/>
              <a:sym typeface="Calibri"/>
            </a:endParaRPr>
          </a:p>
        </p:txBody>
      </p:sp>
      <p:pic>
        <p:nvPicPr>
          <p:cNvPr id="79" name="Google Shape;79;p5"/>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80" name="Google Shape;80;p5"/>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81" name="Google Shape;81;p5"/>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O'Keefe &amp; Dostrovsky (1971); Giocomo et al. (2011)</a:t>
            </a:r>
            <a:endParaRPr sz="1800">
              <a:solidFill>
                <a:schemeClr val="dk1"/>
              </a:solidFill>
              <a:latin typeface="Calibri"/>
              <a:ea typeface="Calibri"/>
              <a:cs typeface="Calibri"/>
              <a:sym typeface="Calibri"/>
            </a:endParaRPr>
          </a:p>
        </p:txBody>
      </p:sp>
      <p:sp>
        <p:nvSpPr>
          <p:cNvPr id="82" name="Google Shape;82;p5"/>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 name="Shape 86"/>
        <p:cNvGrpSpPr/>
        <p:nvPr/>
      </p:nvGrpSpPr>
      <p:grpSpPr>
        <a:xfrm>
          <a:off x="0" y="0"/>
          <a:ext cx="0" cy="0"/>
          <a:chOff x="0" y="0"/>
          <a:chExt cx="0" cy="0"/>
        </a:xfrm>
      </p:grpSpPr>
      <p:sp>
        <p:nvSpPr>
          <p:cNvPr id="87" name="Google Shape;87;p6"/>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Visual cues are necessary for the original CA1 example</a:t>
            </a:r>
            <a:endParaRPr sz="1800">
              <a:solidFill>
                <a:schemeClr val="dk1"/>
              </a:solidFill>
              <a:latin typeface="Calibri"/>
              <a:ea typeface="Calibri"/>
              <a:cs typeface="Calibri"/>
              <a:sym typeface="Calibri"/>
            </a:endParaRPr>
          </a:p>
        </p:txBody>
      </p:sp>
      <p:sp>
        <p:nvSpPr>
          <p:cNvPr id="88" name="Google Shape;88;p6"/>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Switching off the lights abolished the response of the featured CA1 unit. The spatially restricted tactile response depended on visual information, even though the immediate stimulus that evoked firing was touch on the animal's back.</a:t>
            </a:r>
            <a:endParaRPr sz="1800">
              <a:solidFill>
                <a:schemeClr val="dk1"/>
              </a:solidFill>
              <a:latin typeface="Calibri"/>
              <a:ea typeface="Calibri"/>
              <a:cs typeface="Calibri"/>
              <a:sym typeface="Calibri"/>
            </a:endParaRPr>
          </a:p>
        </p:txBody>
      </p:sp>
      <p:sp>
        <p:nvSpPr>
          <p:cNvPr id="89" name="Google Shape;89;p6"/>
          <p:cNvSpPr/>
          <p:nvPr/>
        </p:nvSpPr>
        <p:spPr>
          <a:xfrm>
            <a:off x="571500" y="2628900"/>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authors tested moving striped cards but could not identify a restricted visual receptive field that explained the response. A </a:t>
            </a:r>
            <a:r>
              <a:rPr b="1" i="0" lang="en-US" sz="1500">
                <a:solidFill>
                  <a:srgbClr val="332925"/>
                </a:solidFill>
                <a:latin typeface="Arial"/>
                <a:ea typeface="Arial"/>
                <a:cs typeface="Arial"/>
                <a:sym typeface="Arial"/>
              </a:rPr>
              <a:t>receptive field</a:t>
            </a:r>
            <a:r>
              <a:rPr b="0" i="0" lang="en-US" sz="1500">
                <a:solidFill>
                  <a:srgbClr val="000000"/>
                </a:solidFill>
                <a:latin typeface="Arial"/>
                <a:ea typeface="Arial"/>
                <a:cs typeface="Arial"/>
                <a:sym typeface="Arial"/>
              </a:rPr>
              <a:t> is the region of sensory space within which a suitable stimulus alters a neuron's activity.</a:t>
            </a:r>
            <a:endParaRPr sz="1800">
              <a:solidFill>
                <a:schemeClr val="dk1"/>
              </a:solidFill>
              <a:latin typeface="Calibri"/>
              <a:ea typeface="Calibri"/>
              <a:cs typeface="Calibri"/>
              <a:sym typeface="Calibri"/>
            </a:endParaRPr>
          </a:p>
        </p:txBody>
      </p:sp>
      <p:sp>
        <p:nvSpPr>
          <p:cNvPr id="90" name="Google Shape;90;p6"/>
          <p:cNvSpPr/>
          <p:nvPr/>
        </p:nvSpPr>
        <p:spPr>
          <a:xfrm>
            <a:off x="571500" y="38100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rat rotated between effective orientations, making a fixed retinal image an unlikely explanation. These observations favored dependence on the surrounding visual configuration, but the experiment did not isolate which particular landmarks supplied the relevant positional information.</a:t>
            </a:r>
            <a:endParaRPr sz="1800">
              <a:solidFill>
                <a:schemeClr val="dk1"/>
              </a:solidFill>
              <a:latin typeface="Calibri"/>
              <a:ea typeface="Calibri"/>
              <a:cs typeface="Calibri"/>
              <a:sym typeface="Calibri"/>
            </a:endParaRPr>
          </a:p>
        </p:txBody>
      </p:sp>
      <p:pic>
        <p:nvPicPr>
          <p:cNvPr id="91" name="Google Shape;91;p6"/>
          <p:cNvPicPr preferRelativeResize="0"/>
          <p:nvPr/>
        </p:nvPicPr>
        <p:blipFill rotWithShape="1">
          <a:blip r:embed="rId3">
            <a:alphaModFix/>
          </a:blip>
          <a:srcRect b="0" l="0" r="0" t="0"/>
          <a:stretch/>
        </p:blipFill>
        <p:spPr>
          <a:xfrm>
            <a:off x="6576976" y="1190625"/>
            <a:ext cx="3086174" cy="4143375"/>
          </a:xfrm>
          <a:prstGeom prst="rect">
            <a:avLst/>
          </a:prstGeom>
          <a:noFill/>
          <a:ln>
            <a:noFill/>
          </a:ln>
        </p:spPr>
      </p:pic>
      <p:sp>
        <p:nvSpPr>
          <p:cNvPr id="92" name="Google Shape;92;p6"/>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O'Keefe &amp; Dostrovsky (1971), Fig. 1. Spatially dependent CA1 response to restraint.</a:t>
            </a:r>
            <a:endParaRPr sz="1800">
              <a:solidFill>
                <a:schemeClr val="dk1"/>
              </a:solidFill>
              <a:latin typeface="Calibri"/>
              <a:ea typeface="Calibri"/>
              <a:cs typeface="Calibri"/>
              <a:sym typeface="Calibri"/>
            </a:endParaRPr>
          </a:p>
        </p:txBody>
      </p:sp>
      <p:pic>
        <p:nvPicPr>
          <p:cNvPr id="93" name="Google Shape;93;p6"/>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94" name="Google Shape;94;p6"/>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95" name="Google Shape;95;p6"/>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O'Keefe &amp; Dostrovsky (1971); Giocomo et al. (2011)</a:t>
            </a:r>
            <a:endParaRPr sz="1800">
              <a:solidFill>
                <a:schemeClr val="dk1"/>
              </a:solidFill>
              <a:latin typeface="Calibri"/>
              <a:ea typeface="Calibri"/>
              <a:cs typeface="Calibri"/>
              <a:sym typeface="Calibri"/>
            </a:endParaRPr>
          </a:p>
        </p:txBody>
      </p:sp>
      <p:sp>
        <p:nvSpPr>
          <p:cNvPr id="96" name="Google Shape;96;p6"/>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p7"/>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Arousal changes the expression of spatial responses</a:t>
            </a:r>
            <a:endParaRPr sz="1800">
              <a:solidFill>
                <a:schemeClr val="dk1"/>
              </a:solidFill>
              <a:latin typeface="Calibri"/>
              <a:ea typeface="Calibri"/>
              <a:cs typeface="Calibri"/>
              <a:sym typeface="Calibri"/>
            </a:endParaRPr>
          </a:p>
        </p:txBody>
      </p:sp>
      <p:sp>
        <p:nvSpPr>
          <p:cNvPr id="102" name="Google Shape;102;p7"/>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neighboring hippocampal unit responded to moving visual stimuli when the rat occupied a preferred orientation between G and A. At moderate arousal, stimulation elsewhere did not evoke a comparable response.</a:t>
            </a:r>
            <a:endParaRPr sz="1800">
              <a:solidFill>
                <a:schemeClr val="dk1"/>
              </a:solidFill>
              <a:latin typeface="Calibri"/>
              <a:ea typeface="Calibri"/>
              <a:cs typeface="Calibri"/>
              <a:sym typeface="Calibri"/>
            </a:endParaRPr>
          </a:p>
        </p:txBody>
      </p:sp>
      <p:sp>
        <p:nvSpPr>
          <p:cNvPr id="103" name="Google Shape;103;p7"/>
          <p:cNvSpPr/>
          <p:nvPr/>
        </p:nvSpPr>
        <p:spPr>
          <a:xfrm>
            <a:off x="571500" y="23717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At higher arousal, weak responses became possible outside the preferred orientation, while the preferred response grew stronger. </a:t>
            </a:r>
            <a:r>
              <a:rPr b="1" i="0" lang="en-US" sz="1500">
                <a:solidFill>
                  <a:srgbClr val="332925"/>
                </a:solidFill>
                <a:latin typeface="Arial"/>
                <a:ea typeface="Arial"/>
                <a:cs typeface="Arial"/>
                <a:sym typeface="Arial"/>
              </a:rPr>
              <a:t>Arousal</a:t>
            </a:r>
            <a:r>
              <a:rPr b="0" i="0" lang="en-US" sz="1500">
                <a:solidFill>
                  <a:srgbClr val="000000"/>
                </a:solidFill>
                <a:latin typeface="Arial"/>
                <a:ea typeface="Arial"/>
                <a:cs typeface="Arial"/>
                <a:sym typeface="Arial"/>
              </a:rPr>
              <a:t> refers here to the animal's behavioral activation state, which altered how readily sensory input produced spikes.</a:t>
            </a:r>
            <a:endParaRPr sz="1800">
              <a:solidFill>
                <a:schemeClr val="dk1"/>
              </a:solidFill>
              <a:latin typeface="Calibri"/>
              <a:ea typeface="Calibri"/>
              <a:cs typeface="Calibri"/>
              <a:sym typeface="Calibri"/>
            </a:endParaRPr>
          </a:p>
        </p:txBody>
      </p:sp>
      <p:sp>
        <p:nvSpPr>
          <p:cNvPr id="104" name="Google Shape;104;p7"/>
          <p:cNvSpPr/>
          <p:nvPr/>
        </p:nvSpPr>
        <p:spPr>
          <a:xfrm>
            <a:off x="571500" y="38100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same sensory stimulus therefore had different effects depending on spatial configuration and state. The observations establish state dependence of the response, but they do not identify the neuromodulator or receptor responsible. Assigning the effect to a particular transmitter would require an additional intervention.</a:t>
            </a:r>
            <a:endParaRPr sz="1800">
              <a:solidFill>
                <a:schemeClr val="dk1"/>
              </a:solidFill>
              <a:latin typeface="Calibri"/>
              <a:ea typeface="Calibri"/>
              <a:cs typeface="Calibri"/>
              <a:sym typeface="Calibri"/>
            </a:endParaRPr>
          </a:p>
        </p:txBody>
      </p:sp>
      <p:pic>
        <p:nvPicPr>
          <p:cNvPr id="105" name="Google Shape;105;p7"/>
          <p:cNvPicPr preferRelativeResize="0"/>
          <p:nvPr/>
        </p:nvPicPr>
        <p:blipFill rotWithShape="1">
          <a:blip r:embed="rId3">
            <a:alphaModFix/>
          </a:blip>
          <a:srcRect b="0" l="0" r="0" t="0"/>
          <a:stretch/>
        </p:blipFill>
        <p:spPr>
          <a:xfrm>
            <a:off x="6576976" y="1190625"/>
            <a:ext cx="3086174" cy="4143375"/>
          </a:xfrm>
          <a:prstGeom prst="rect">
            <a:avLst/>
          </a:prstGeom>
          <a:noFill/>
          <a:ln>
            <a:noFill/>
          </a:ln>
        </p:spPr>
      </p:pic>
      <p:sp>
        <p:nvSpPr>
          <p:cNvPr id="106" name="Google Shape;106;p7"/>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O'Keefe &amp; Dostrovsky (1971), Fig. 1. Spatially dependent CA1 response to restraint.</a:t>
            </a:r>
            <a:endParaRPr sz="1800">
              <a:solidFill>
                <a:schemeClr val="dk1"/>
              </a:solidFill>
              <a:latin typeface="Calibri"/>
              <a:ea typeface="Calibri"/>
              <a:cs typeface="Calibri"/>
              <a:sym typeface="Calibri"/>
            </a:endParaRPr>
          </a:p>
        </p:txBody>
      </p:sp>
      <p:pic>
        <p:nvPicPr>
          <p:cNvPr id="107" name="Google Shape;107;p7"/>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108" name="Google Shape;108;p7"/>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109" name="Google Shape;109;p7"/>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O'Keefe &amp; Dostrovsky (1971); Giocomo et al. (2011)</a:t>
            </a:r>
            <a:endParaRPr sz="1800">
              <a:solidFill>
                <a:schemeClr val="dk1"/>
              </a:solidFill>
              <a:latin typeface="Calibri"/>
              <a:ea typeface="Calibri"/>
              <a:cs typeface="Calibri"/>
              <a:sym typeface="Calibri"/>
            </a:endParaRPr>
          </a:p>
        </p:txBody>
      </p:sp>
      <p:sp>
        <p:nvSpPr>
          <p:cNvPr id="110" name="Google Shape;110;p7"/>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 name="Shape 114"/>
        <p:cNvGrpSpPr/>
        <p:nvPr/>
      </p:nvGrpSpPr>
      <p:grpSpPr>
        <a:xfrm>
          <a:off x="0" y="0"/>
          <a:ext cx="0" cy="0"/>
          <a:chOff x="0" y="0"/>
          <a:chExt cx="0" cy="0"/>
        </a:xfrm>
      </p:grpSpPr>
      <p:sp>
        <p:nvSpPr>
          <p:cNvPr id="115" name="Google Shape;115;p8"/>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Cue manipulations test alternative spatial explanations</a:t>
            </a:r>
            <a:endParaRPr sz="1800">
              <a:solidFill>
                <a:schemeClr val="dk1"/>
              </a:solidFill>
              <a:latin typeface="Calibri"/>
              <a:ea typeface="Calibri"/>
              <a:cs typeface="Calibri"/>
              <a:sym typeface="Calibri"/>
            </a:endParaRPr>
          </a:p>
        </p:txBody>
      </p:sp>
      <p:sp>
        <p:nvSpPr>
          <p:cNvPr id="116" name="Google Shape;116;p8"/>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investigators rotated the platform to challenge explanations based on local odors or tactile markings. They also removed prominent sound sources and darkened or occluded portions of the visual environment while monitoring spatially restricted responses.</a:t>
            </a:r>
            <a:endParaRPr sz="1800">
              <a:solidFill>
                <a:schemeClr val="dk1"/>
              </a:solidFill>
              <a:latin typeface="Calibri"/>
              <a:ea typeface="Calibri"/>
              <a:cs typeface="Calibri"/>
              <a:sym typeface="Calibri"/>
            </a:endParaRPr>
          </a:p>
        </p:txBody>
      </p:sp>
      <p:sp>
        <p:nvSpPr>
          <p:cNvPr id="117" name="Google Shape;117;p8"/>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Individual cue removals often failed to disrupt orientation preferences. More radical changes, including removing the surrounding curtain, disrupted some responses and induced sustained exploration, making a familiar environment behave like a new one.</a:t>
            </a:r>
            <a:endParaRPr sz="1800">
              <a:solidFill>
                <a:schemeClr val="dk1"/>
              </a:solidFill>
              <a:latin typeface="Calibri"/>
              <a:ea typeface="Calibri"/>
              <a:cs typeface="Calibri"/>
              <a:sym typeface="Calibri"/>
            </a:endParaRPr>
          </a:p>
        </p:txBody>
      </p:sp>
      <p:sp>
        <p:nvSpPr>
          <p:cNvPr id="118" name="Google Shape;118;p8"/>
          <p:cNvSpPr/>
          <p:nvPr/>
        </p:nvSpPr>
        <p:spPr>
          <a:xfrm>
            <a:off x="571500" y="406717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authors proposed that several cues might provide interchangeable spatial information. This </a:t>
            </a:r>
            <a:r>
              <a:rPr b="1" i="0" lang="en-US" sz="1500">
                <a:solidFill>
                  <a:srgbClr val="332925"/>
                </a:solidFill>
                <a:latin typeface="Arial"/>
                <a:ea typeface="Arial"/>
                <a:cs typeface="Arial"/>
                <a:sym typeface="Arial"/>
              </a:rPr>
              <a:t>redundancy</a:t>
            </a:r>
            <a:r>
              <a:rPr b="0" i="0" lang="en-US" sz="1500">
                <a:solidFill>
                  <a:srgbClr val="000000"/>
                </a:solidFill>
                <a:latin typeface="Arial"/>
                <a:ea typeface="Arial"/>
                <a:cs typeface="Arial"/>
                <a:sym typeface="Arial"/>
              </a:rPr>
              <a:t> means one cue can compensate for another, but it remained a hypothesis: unsuccessful removal of a single cue does not prove that the remaining cues have equal causal influence.</a:t>
            </a:r>
            <a:endParaRPr sz="1800">
              <a:solidFill>
                <a:schemeClr val="dk1"/>
              </a:solidFill>
              <a:latin typeface="Calibri"/>
              <a:ea typeface="Calibri"/>
              <a:cs typeface="Calibri"/>
              <a:sym typeface="Calibri"/>
            </a:endParaRPr>
          </a:p>
        </p:txBody>
      </p:sp>
      <p:pic>
        <p:nvPicPr>
          <p:cNvPr id="119" name="Google Shape;119;p8"/>
          <p:cNvPicPr preferRelativeResize="0"/>
          <p:nvPr/>
        </p:nvPicPr>
        <p:blipFill rotWithShape="1">
          <a:blip r:embed="rId3">
            <a:alphaModFix/>
          </a:blip>
          <a:srcRect b="0" l="0" r="0" t="0"/>
          <a:stretch/>
        </p:blipFill>
        <p:spPr>
          <a:xfrm>
            <a:off x="6576976" y="1190625"/>
            <a:ext cx="3086174" cy="4143375"/>
          </a:xfrm>
          <a:prstGeom prst="rect">
            <a:avLst/>
          </a:prstGeom>
          <a:noFill/>
          <a:ln>
            <a:noFill/>
          </a:ln>
        </p:spPr>
      </p:pic>
      <p:sp>
        <p:nvSpPr>
          <p:cNvPr id="120" name="Google Shape;120;p8"/>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O'Keefe &amp; Dostrovsky (1971), Fig. 1. Spatially dependent CA1 response to restraint.</a:t>
            </a:r>
            <a:endParaRPr sz="1800">
              <a:solidFill>
                <a:schemeClr val="dk1"/>
              </a:solidFill>
              <a:latin typeface="Calibri"/>
              <a:ea typeface="Calibri"/>
              <a:cs typeface="Calibri"/>
              <a:sym typeface="Calibri"/>
            </a:endParaRPr>
          </a:p>
        </p:txBody>
      </p:sp>
      <p:pic>
        <p:nvPicPr>
          <p:cNvPr id="121" name="Google Shape;121;p8"/>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122" name="Google Shape;122;p8"/>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123" name="Google Shape;123;p8"/>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O'Keefe &amp; Dostrovsky (1971); Giocomo et al. (2011)</a:t>
            </a:r>
            <a:endParaRPr sz="1800">
              <a:solidFill>
                <a:schemeClr val="dk1"/>
              </a:solidFill>
              <a:latin typeface="Calibri"/>
              <a:ea typeface="Calibri"/>
              <a:cs typeface="Calibri"/>
              <a:sym typeface="Calibri"/>
            </a:endParaRPr>
          </a:p>
        </p:txBody>
      </p:sp>
      <p:sp>
        <p:nvSpPr>
          <p:cNvPr id="124" name="Google Shape;124;p8"/>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p9"/>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The cognitive-map proposal exceeds the initial recordings</a:t>
            </a:r>
            <a:endParaRPr sz="1800">
              <a:solidFill>
                <a:schemeClr val="dk1"/>
              </a:solidFill>
              <a:latin typeface="Calibri"/>
              <a:ea typeface="Calibri"/>
              <a:cs typeface="Calibri"/>
              <a:sym typeface="Calibri"/>
            </a:endParaRPr>
          </a:p>
        </p:txBody>
      </p:sp>
      <p:sp>
        <p:nvSpPr>
          <p:cNvPr id="130" name="Google Shape;130;p9"/>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O'Keefe and Dostrovsky proposed that activation of spatially selective cells, combined with signals related to movement, could recruit cells representing subsequent orientations. This would allow neural activity to anticipate sensory input associated with movement.</a:t>
            </a:r>
            <a:endParaRPr sz="1800">
              <a:solidFill>
                <a:schemeClr val="dk1"/>
              </a:solidFill>
              <a:latin typeface="Calibri"/>
              <a:ea typeface="Calibri"/>
              <a:cs typeface="Calibri"/>
              <a:sym typeface="Calibri"/>
            </a:endParaRPr>
          </a:p>
        </p:txBody>
      </p:sp>
      <p:sp>
        <p:nvSpPr>
          <p:cNvPr id="131" name="Google Shape;131;p9"/>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proposed internal wiring was not measured in the 1971 study. Recordings established location-dependent responses, whereas prediction, route selection, and explanation of lesion-induced behavioral deficits remained theoretical extensions of those observations.</a:t>
            </a:r>
            <a:endParaRPr sz="1800">
              <a:solidFill>
                <a:schemeClr val="dk1"/>
              </a:solidFill>
              <a:latin typeface="Calibri"/>
              <a:ea typeface="Calibri"/>
              <a:cs typeface="Calibri"/>
              <a:sym typeface="Calibri"/>
            </a:endParaRPr>
          </a:p>
        </p:txBody>
      </p:sp>
      <p:sp>
        <p:nvSpPr>
          <p:cNvPr id="132" name="Google Shape;132;p9"/>
          <p:cNvSpPr/>
          <p:nvPr/>
        </p:nvSpPr>
        <p:spPr>
          <a:xfrm>
            <a:off x="571500" y="406717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a:t>
            </a:r>
            <a:r>
              <a:rPr b="1" i="0" lang="en-US" sz="1500">
                <a:solidFill>
                  <a:srgbClr val="332925"/>
                </a:solidFill>
                <a:latin typeface="Arial"/>
                <a:ea typeface="Arial"/>
                <a:cs typeface="Arial"/>
                <a:sym typeface="Arial"/>
              </a:rPr>
              <a:t>neural representation</a:t>
            </a:r>
            <a:r>
              <a:rPr b="0" i="0" lang="en-US" sz="1500">
                <a:solidFill>
                  <a:srgbClr val="000000"/>
                </a:solidFill>
                <a:latin typeface="Arial"/>
                <a:ea typeface="Arial"/>
                <a:cs typeface="Arial"/>
                <a:sym typeface="Arial"/>
              </a:rPr>
              <a:t> is a reliable relationship between activity and a variable; a navigational mechanism additionally requires transformations that guide behavior. The initial evidence supplied the former. Establishing the latter requires manipulations of the circuit during tasks that demand spatial choices.</a:t>
            </a:r>
            <a:endParaRPr sz="1800">
              <a:solidFill>
                <a:schemeClr val="dk1"/>
              </a:solidFill>
              <a:latin typeface="Calibri"/>
              <a:ea typeface="Calibri"/>
              <a:cs typeface="Calibri"/>
              <a:sym typeface="Calibri"/>
            </a:endParaRPr>
          </a:p>
        </p:txBody>
      </p:sp>
      <p:pic>
        <p:nvPicPr>
          <p:cNvPr id="133" name="Google Shape;133;p9"/>
          <p:cNvPicPr preferRelativeResize="0"/>
          <p:nvPr/>
        </p:nvPicPr>
        <p:blipFill rotWithShape="1">
          <a:blip r:embed="rId3">
            <a:alphaModFix/>
          </a:blip>
          <a:srcRect b="0" l="0" r="0" t="0"/>
          <a:stretch/>
        </p:blipFill>
        <p:spPr>
          <a:xfrm>
            <a:off x="6576976" y="1190625"/>
            <a:ext cx="3086174" cy="4143375"/>
          </a:xfrm>
          <a:prstGeom prst="rect">
            <a:avLst/>
          </a:prstGeom>
          <a:noFill/>
          <a:ln>
            <a:noFill/>
          </a:ln>
        </p:spPr>
      </p:pic>
      <p:sp>
        <p:nvSpPr>
          <p:cNvPr id="134" name="Google Shape;134;p9"/>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O'Keefe &amp; Dostrovsky (1971), Fig. 1. Spatially dependent CA1 response to restraint.</a:t>
            </a:r>
            <a:endParaRPr sz="1800">
              <a:solidFill>
                <a:schemeClr val="dk1"/>
              </a:solidFill>
              <a:latin typeface="Calibri"/>
              <a:ea typeface="Calibri"/>
              <a:cs typeface="Calibri"/>
              <a:sym typeface="Calibri"/>
            </a:endParaRPr>
          </a:p>
        </p:txBody>
      </p:sp>
      <p:pic>
        <p:nvPicPr>
          <p:cNvPr id="135" name="Google Shape;135;p9"/>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136" name="Google Shape;136;p9"/>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137" name="Google Shape;137;p9"/>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O'Keefe &amp; Dostrovsky (1971); Giocomo et al. (2011)</a:t>
            </a:r>
            <a:endParaRPr sz="1800">
              <a:solidFill>
                <a:schemeClr val="dk1"/>
              </a:solidFill>
              <a:latin typeface="Calibri"/>
              <a:ea typeface="Calibri"/>
              <a:cs typeface="Calibri"/>
              <a:sym typeface="Calibri"/>
            </a:endParaRPr>
          </a:p>
        </p:txBody>
      </p:sp>
      <p:sp>
        <p:nvSpPr>
          <p:cNvPr id="138" name="Google Shape;138;p9"/>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 name="Shape 142"/>
        <p:cNvGrpSpPr/>
        <p:nvPr/>
      </p:nvGrpSpPr>
      <p:grpSpPr>
        <a:xfrm>
          <a:off x="0" y="0"/>
          <a:ext cx="0" cy="0"/>
          <a:chOff x="0" y="0"/>
          <a:chExt cx="0" cy="0"/>
        </a:xfrm>
      </p:grpSpPr>
      <p:sp>
        <p:nvSpPr>
          <p:cNvPr id="143" name="Google Shape;143;p10"/>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Entorhinal neurons fire at repeated spatial locations</a:t>
            </a:r>
            <a:endParaRPr sz="1800">
              <a:solidFill>
                <a:schemeClr val="dk1"/>
              </a:solidFill>
              <a:latin typeface="Calibri"/>
              <a:ea typeface="Calibri"/>
              <a:cs typeface="Calibri"/>
              <a:sym typeface="Calibri"/>
            </a:endParaRPr>
          </a:p>
        </p:txBody>
      </p:sp>
      <p:sp>
        <p:nvSpPr>
          <p:cNvPr id="144" name="Google Shape;144;p10"/>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a:t>
            </a:r>
            <a:r>
              <a:rPr b="1" i="0" lang="en-US" sz="1500">
                <a:solidFill>
                  <a:srgbClr val="332925"/>
                </a:solidFill>
                <a:latin typeface="Arial"/>
                <a:ea typeface="Arial"/>
                <a:cs typeface="Arial"/>
                <a:sym typeface="Arial"/>
              </a:rPr>
              <a:t>grid cell</a:t>
            </a:r>
            <a:r>
              <a:rPr b="0" i="0" lang="en-US" sz="1500">
                <a:solidFill>
                  <a:srgbClr val="000000"/>
                </a:solidFill>
                <a:latin typeface="Arial"/>
                <a:ea typeface="Arial"/>
                <a:cs typeface="Arial"/>
                <a:sym typeface="Arial"/>
              </a:rPr>
              <a:t> fires in multiple spatial fields arranged with approximately regular spacing. Hafting and colleagues recorded neurons in superficial dorsocaudal medial entorhinal cortex while rats explored a circular arena 2 m in diameter.</a:t>
            </a:r>
            <a:endParaRPr sz="1800">
              <a:solidFill>
                <a:schemeClr val="dk1"/>
              </a:solidFill>
              <a:latin typeface="Calibri"/>
              <a:ea typeface="Calibri"/>
              <a:cs typeface="Calibri"/>
              <a:sym typeface="Calibri"/>
            </a:endParaRPr>
          </a:p>
        </p:txBody>
      </p:sp>
      <p:sp>
        <p:nvSpPr>
          <p:cNvPr id="145" name="Google Shape;145;p10"/>
          <p:cNvSpPr/>
          <p:nvPr/>
        </p:nvSpPr>
        <p:spPr>
          <a:xfrm>
            <a:off x="571500" y="2628900"/>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larger arena exposed repeated fields that were difficult to recognize in smaller enclosures. Individual cells fired when the rat crossed separated locations distributed across the recording surface, rather than only one confined region.</a:t>
            </a:r>
            <a:endParaRPr sz="1800">
              <a:solidFill>
                <a:schemeClr val="dk1"/>
              </a:solidFill>
              <a:latin typeface="Calibri"/>
              <a:ea typeface="Calibri"/>
              <a:cs typeface="Calibri"/>
              <a:sym typeface="Calibri"/>
            </a:endParaRPr>
          </a:p>
        </p:txBody>
      </p:sp>
      <p:sp>
        <p:nvSpPr>
          <p:cNvPr id="146" name="Google Shape;146;p10"/>
          <p:cNvSpPr/>
          <p:nvPr/>
        </p:nvSpPr>
        <p:spPr>
          <a:xfrm>
            <a:off x="571500" y="38100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firing-rate map relates activity to position after accounting for time spent at each location. The repeated fields establish a periodic spatial code. They do not mean that the cortex contains a physically drawn lattice or that each neuron independently specifies one unique place.</a:t>
            </a:r>
            <a:endParaRPr sz="1800">
              <a:solidFill>
                <a:schemeClr val="dk1"/>
              </a:solidFill>
              <a:latin typeface="Calibri"/>
              <a:ea typeface="Calibri"/>
              <a:cs typeface="Calibri"/>
              <a:sym typeface="Calibri"/>
            </a:endParaRPr>
          </a:p>
        </p:txBody>
      </p:sp>
      <p:pic>
        <p:nvPicPr>
          <p:cNvPr id="147" name="Google Shape;147;p10"/>
          <p:cNvPicPr preferRelativeResize="0"/>
          <p:nvPr/>
        </p:nvPicPr>
        <p:blipFill rotWithShape="1">
          <a:blip r:embed="rId3">
            <a:alphaModFix/>
          </a:blip>
          <a:srcRect b="0" l="0" r="0" t="0"/>
          <a:stretch/>
        </p:blipFill>
        <p:spPr>
          <a:xfrm>
            <a:off x="6477000" y="1472929"/>
            <a:ext cx="3286125" cy="3578767"/>
          </a:xfrm>
          <a:prstGeom prst="rect">
            <a:avLst/>
          </a:prstGeom>
          <a:noFill/>
          <a:ln>
            <a:noFill/>
          </a:ln>
        </p:spPr>
      </p:pic>
      <p:sp>
        <p:nvSpPr>
          <p:cNvPr id="148" name="Google Shape;148;p10"/>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1(b). Trajectories, rates and spatial autocorrelations.</a:t>
            </a:r>
            <a:endParaRPr sz="1800">
              <a:solidFill>
                <a:schemeClr val="dk1"/>
              </a:solidFill>
              <a:latin typeface="Calibri"/>
              <a:ea typeface="Calibri"/>
              <a:cs typeface="Calibri"/>
              <a:sym typeface="Calibri"/>
            </a:endParaRPr>
          </a:p>
        </p:txBody>
      </p:sp>
      <p:pic>
        <p:nvPicPr>
          <p:cNvPr id="149" name="Google Shape;149;p10"/>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150" name="Google Shape;150;p10"/>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151" name="Google Shape;151;p10"/>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152" name="Google Shape;152;p10"/>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 name="Shape 156"/>
        <p:cNvGrpSpPr/>
        <p:nvPr/>
      </p:nvGrpSpPr>
      <p:grpSpPr>
        <a:xfrm>
          <a:off x="0" y="0"/>
          <a:ext cx="0" cy="0"/>
          <a:chOff x="0" y="0"/>
          <a:chExt cx="0" cy="0"/>
        </a:xfrm>
      </p:grpSpPr>
      <p:sp>
        <p:nvSpPr>
          <p:cNvPr id="157" name="Google Shape;157;p11"/>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Histology locates the grid recordings in entorhinal cortex</a:t>
            </a:r>
            <a:endParaRPr sz="1800">
              <a:solidFill>
                <a:schemeClr val="dk1"/>
              </a:solidFill>
              <a:latin typeface="Calibri"/>
              <a:ea typeface="Calibri"/>
              <a:cs typeface="Calibri"/>
              <a:sym typeface="Calibri"/>
            </a:endParaRPr>
          </a:p>
        </p:txBody>
      </p:sp>
      <p:sp>
        <p:nvSpPr>
          <p:cNvPr id="158" name="Google Shape;158;p11"/>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Histology</a:t>
            </a:r>
            <a:r>
              <a:rPr b="0" i="0" lang="en-US" sz="1500">
                <a:solidFill>
                  <a:srgbClr val="000000"/>
                </a:solidFill>
                <a:latin typeface="Arial"/>
                <a:ea typeface="Arial"/>
                <a:cs typeface="Arial"/>
                <a:sym typeface="Arial"/>
              </a:rPr>
              <a:t> identifies tissue structure in thin stained brain sections. The recording location in Hafting and colleagues' example was in layer II of medial entorhinal cortex, near its border with postrhinal cortex.</a:t>
            </a:r>
            <a:endParaRPr sz="1800">
              <a:solidFill>
                <a:schemeClr val="dk1"/>
              </a:solidFill>
              <a:latin typeface="Calibri"/>
              <a:ea typeface="Calibri"/>
              <a:cs typeface="Calibri"/>
              <a:sym typeface="Calibri"/>
            </a:endParaRPr>
          </a:p>
        </p:txBody>
      </p:sp>
      <p:sp>
        <p:nvSpPr>
          <p:cNvPr id="159" name="Google Shape;159;p11"/>
          <p:cNvSpPr/>
          <p:nvPr/>
        </p:nvSpPr>
        <p:spPr>
          <a:xfrm>
            <a:off x="571500" y="23717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Nissl stain highlights neuronal cell bodies and allows cortical layers and regional boundaries to be recognized. Electrode positions were reconstructed from their tracks and the recorded progression of the microdrive, linking physiological measurements to anatomical location.</a:t>
            </a:r>
            <a:endParaRPr sz="1800">
              <a:solidFill>
                <a:schemeClr val="dk1"/>
              </a:solidFill>
              <a:latin typeface="Calibri"/>
              <a:ea typeface="Calibri"/>
              <a:cs typeface="Calibri"/>
              <a:sym typeface="Calibri"/>
            </a:endParaRPr>
          </a:p>
        </p:txBody>
      </p:sp>
      <p:sp>
        <p:nvSpPr>
          <p:cNvPr id="160" name="Google Shape;160;p11"/>
          <p:cNvSpPr/>
          <p:nvPr/>
        </p:nvSpPr>
        <p:spPr>
          <a:xfrm>
            <a:off x="571500" y="38100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This reconstruction distinguishes an entorhinal recording from a hippocampal recording. It does not determine the molecular identity of every recorded cell. A spatial firing phenotype and an anatomical layer are measurable properties, but neither alone identifies the full synaptic circuit generating that phenotype.</a:t>
            </a:r>
            <a:endParaRPr sz="1800">
              <a:solidFill>
                <a:schemeClr val="dk1"/>
              </a:solidFill>
              <a:latin typeface="Calibri"/>
              <a:ea typeface="Calibri"/>
              <a:cs typeface="Calibri"/>
              <a:sym typeface="Calibri"/>
            </a:endParaRPr>
          </a:p>
        </p:txBody>
      </p:sp>
      <p:pic>
        <p:nvPicPr>
          <p:cNvPr id="161" name="Google Shape;161;p11"/>
          <p:cNvPicPr preferRelativeResize="0"/>
          <p:nvPr/>
        </p:nvPicPr>
        <p:blipFill rotWithShape="1">
          <a:blip r:embed="rId3">
            <a:alphaModFix/>
          </a:blip>
          <a:srcRect b="0" l="0" r="0" t="0"/>
          <a:stretch/>
        </p:blipFill>
        <p:spPr>
          <a:xfrm>
            <a:off x="6500725" y="1190625"/>
            <a:ext cx="3238675" cy="4143375"/>
          </a:xfrm>
          <a:prstGeom prst="rect">
            <a:avLst/>
          </a:prstGeom>
          <a:noFill/>
          <a:ln>
            <a:noFill/>
          </a:ln>
        </p:spPr>
      </p:pic>
      <p:sp>
        <p:nvSpPr>
          <p:cNvPr id="162" name="Google Shape;162;p11"/>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1(a–d). Recording site and repeated spatial firing.</a:t>
            </a:r>
            <a:endParaRPr sz="1800">
              <a:solidFill>
                <a:schemeClr val="dk1"/>
              </a:solidFill>
              <a:latin typeface="Calibri"/>
              <a:ea typeface="Calibri"/>
              <a:cs typeface="Calibri"/>
              <a:sym typeface="Calibri"/>
            </a:endParaRPr>
          </a:p>
        </p:txBody>
      </p:sp>
      <p:pic>
        <p:nvPicPr>
          <p:cNvPr id="163" name="Google Shape;163;p11"/>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164" name="Google Shape;164;p11"/>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165" name="Google Shape;165;p11"/>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166" name="Google Shape;166;p11"/>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1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Rate maps separate firing from uneven exploration</a:t>
            </a:r>
            <a:endParaRPr sz="1800">
              <a:solidFill>
                <a:schemeClr val="dk1"/>
              </a:solidFill>
              <a:latin typeface="Calibri"/>
              <a:ea typeface="Calibri"/>
              <a:cs typeface="Calibri"/>
              <a:sym typeface="Calibri"/>
            </a:endParaRPr>
          </a:p>
        </p:txBody>
      </p:sp>
      <p:sp>
        <p:nvSpPr>
          <p:cNvPr id="172" name="Google Shape;172;p12"/>
          <p:cNvSpPr/>
          <p:nvPr/>
        </p:nvSpPr>
        <p:spPr>
          <a:xfrm>
            <a:off x="571500" y="1190625"/>
            <a:ext cx="5448300" cy="7715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Rats do not spend equal time at every point in an arena. A </a:t>
            </a:r>
            <a:r>
              <a:rPr b="1" i="0" lang="en-US" sz="1500">
                <a:solidFill>
                  <a:srgbClr val="332925"/>
                </a:solidFill>
                <a:latin typeface="Arial"/>
                <a:ea typeface="Arial"/>
                <a:cs typeface="Arial"/>
                <a:sym typeface="Arial"/>
              </a:rPr>
              <a:t>firing rate</a:t>
            </a:r>
            <a:r>
              <a:rPr b="0" i="0" lang="en-US" sz="1500">
                <a:solidFill>
                  <a:srgbClr val="000000"/>
                </a:solidFill>
                <a:latin typeface="Arial"/>
                <a:ea typeface="Arial"/>
                <a:cs typeface="Arial"/>
                <a:sym typeface="Arial"/>
              </a:rPr>
              <a:t>, measured in spikes per second or hertz, relates spike counts to the time available for spikes at each location.</a:t>
            </a:r>
            <a:endParaRPr sz="1800">
              <a:solidFill>
                <a:schemeClr val="dk1"/>
              </a:solidFill>
              <a:latin typeface="Calibri"/>
              <a:ea typeface="Calibri"/>
              <a:cs typeface="Calibri"/>
              <a:sym typeface="Calibri"/>
            </a:endParaRPr>
          </a:p>
        </p:txBody>
      </p:sp>
      <p:sp>
        <p:nvSpPr>
          <p:cNvPr id="173" name="Google Shape;173;p12"/>
          <p:cNvSpPr/>
          <p:nvPr/>
        </p:nvSpPr>
        <p:spPr>
          <a:xfrm>
            <a:off x="571500" y="2114550"/>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Hafting and colleagues compared the animal's trajectory with spike locations and the corresponding rate map. Repeated regions of elevated rate remained after the spatial distribution of occupancy was incorporated into the analysis.</a:t>
            </a:r>
            <a:endParaRPr sz="1800">
              <a:solidFill>
                <a:schemeClr val="dk1"/>
              </a:solidFill>
              <a:latin typeface="Calibri"/>
              <a:ea typeface="Calibri"/>
              <a:cs typeface="Calibri"/>
              <a:sym typeface="Calibri"/>
            </a:endParaRPr>
          </a:p>
        </p:txBody>
      </p:sp>
      <p:sp>
        <p:nvSpPr>
          <p:cNvPr id="174" name="Google Shape;174;p12"/>
          <p:cNvSpPr/>
          <p:nvPr/>
        </p:nvSpPr>
        <p:spPr>
          <a:xfrm>
            <a:off x="571500" y="3295650"/>
            <a:ext cx="5448300" cy="18002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comparison prevents a frequently visited region from being treated automatically as a high-response field. It still depends on adequate exploration: poorly sampled locations provide limited evidence about firing. A color-coded rate map represents measured neuronal activity, rather than a direct image of anatomical connections between spatial fields.</a:t>
            </a:r>
            <a:endParaRPr sz="1800">
              <a:solidFill>
                <a:schemeClr val="dk1"/>
              </a:solidFill>
              <a:latin typeface="Calibri"/>
              <a:ea typeface="Calibri"/>
              <a:cs typeface="Calibri"/>
              <a:sym typeface="Calibri"/>
            </a:endParaRPr>
          </a:p>
        </p:txBody>
      </p:sp>
      <p:pic>
        <p:nvPicPr>
          <p:cNvPr id="175" name="Google Shape;175;p12"/>
          <p:cNvPicPr preferRelativeResize="0"/>
          <p:nvPr/>
        </p:nvPicPr>
        <p:blipFill rotWithShape="1">
          <a:blip r:embed="rId3">
            <a:alphaModFix/>
          </a:blip>
          <a:srcRect b="0" l="0" r="0" t="0"/>
          <a:stretch/>
        </p:blipFill>
        <p:spPr>
          <a:xfrm>
            <a:off x="6477000" y="1472929"/>
            <a:ext cx="3286125" cy="3578767"/>
          </a:xfrm>
          <a:prstGeom prst="rect">
            <a:avLst/>
          </a:prstGeom>
          <a:noFill/>
          <a:ln>
            <a:noFill/>
          </a:ln>
        </p:spPr>
      </p:pic>
      <p:sp>
        <p:nvSpPr>
          <p:cNvPr id="176" name="Google Shape;176;p12"/>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1(b). Trajectories, rates and spatial autocorrelations.</a:t>
            </a:r>
            <a:endParaRPr sz="1800">
              <a:solidFill>
                <a:schemeClr val="dk1"/>
              </a:solidFill>
              <a:latin typeface="Calibri"/>
              <a:ea typeface="Calibri"/>
              <a:cs typeface="Calibri"/>
              <a:sym typeface="Calibri"/>
            </a:endParaRPr>
          </a:p>
        </p:txBody>
      </p:sp>
      <p:pic>
        <p:nvPicPr>
          <p:cNvPr id="177" name="Google Shape;177;p12"/>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178" name="Google Shape;178;p12"/>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179" name="Google Shape;179;p1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180" name="Google Shape;180;p12"/>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sp>
        <p:nvSpPr>
          <p:cNvPr id="185" name="Google Shape;185;p1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Spatial autocorrelation measures repeated grid structure</a:t>
            </a:r>
            <a:endParaRPr sz="1800">
              <a:solidFill>
                <a:schemeClr val="dk1"/>
              </a:solidFill>
              <a:latin typeface="Calibri"/>
              <a:ea typeface="Calibri"/>
              <a:cs typeface="Calibri"/>
              <a:sym typeface="Calibri"/>
            </a:endParaRPr>
          </a:p>
        </p:txBody>
      </p:sp>
      <p:sp>
        <p:nvSpPr>
          <p:cNvPr id="186" name="Google Shape;186;p13"/>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Spatial autocorrelation</a:t>
            </a:r>
            <a:r>
              <a:rPr b="0" i="0" lang="en-US" sz="1500">
                <a:solidFill>
                  <a:srgbClr val="000000"/>
                </a:solidFill>
                <a:latin typeface="Arial"/>
                <a:ea typeface="Arial"/>
                <a:cs typeface="Arial"/>
                <a:sym typeface="Arial"/>
              </a:rPr>
              <a:t> compares a rate map with shifted versions of itself. Similarity becomes high when the displacement aligns one set of firing fields with another, exposing repetition that may be less apparent from a single trajectory.</a:t>
            </a:r>
            <a:endParaRPr sz="1800">
              <a:solidFill>
                <a:schemeClr val="dk1"/>
              </a:solidFill>
              <a:latin typeface="Calibri"/>
              <a:ea typeface="Calibri"/>
              <a:cs typeface="Calibri"/>
              <a:sym typeface="Calibri"/>
            </a:endParaRPr>
          </a:p>
        </p:txBody>
      </p:sp>
      <p:sp>
        <p:nvSpPr>
          <p:cNvPr id="187" name="Google Shape;187;p13"/>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central autocorrelation peak represents alignment without displacement. Six nearby peaks surrounded it, with directions separated by approximately 60°. That arrangement was consistent with firing locations at the vertices of an equilateral triangular lattice.</a:t>
            </a:r>
            <a:endParaRPr sz="1800">
              <a:solidFill>
                <a:schemeClr val="dk1"/>
              </a:solidFill>
              <a:latin typeface="Calibri"/>
              <a:ea typeface="Calibri"/>
              <a:cs typeface="Calibri"/>
              <a:sym typeface="Calibri"/>
            </a:endParaRPr>
          </a:p>
        </p:txBody>
      </p:sp>
      <p:sp>
        <p:nvSpPr>
          <p:cNvPr id="188" name="Google Shape;188;p13"/>
          <p:cNvSpPr/>
          <p:nvPr/>
        </p:nvSpPr>
        <p:spPr>
          <a:xfrm>
            <a:off x="571500" y="406717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analysis establishes regularity of the spatial pattern, rather than a mechanism that creates it. An autocorrelation map is also distinct from a temporal autocorrelation: the former compares spatial displacements, while the latter compares the timing of spikes.</a:t>
            </a:r>
            <a:endParaRPr sz="1800">
              <a:solidFill>
                <a:schemeClr val="dk1"/>
              </a:solidFill>
              <a:latin typeface="Calibri"/>
              <a:ea typeface="Calibri"/>
              <a:cs typeface="Calibri"/>
              <a:sym typeface="Calibri"/>
            </a:endParaRPr>
          </a:p>
        </p:txBody>
      </p:sp>
      <p:pic>
        <p:nvPicPr>
          <p:cNvPr id="189" name="Google Shape;189;p13"/>
          <p:cNvPicPr preferRelativeResize="0"/>
          <p:nvPr/>
        </p:nvPicPr>
        <p:blipFill rotWithShape="1">
          <a:blip r:embed="rId3">
            <a:alphaModFix/>
          </a:blip>
          <a:srcRect b="0" l="0" r="0" t="0"/>
          <a:stretch/>
        </p:blipFill>
        <p:spPr>
          <a:xfrm>
            <a:off x="6477000" y="1472929"/>
            <a:ext cx="3286125" cy="3578767"/>
          </a:xfrm>
          <a:prstGeom prst="rect">
            <a:avLst/>
          </a:prstGeom>
          <a:noFill/>
          <a:ln>
            <a:noFill/>
          </a:ln>
        </p:spPr>
      </p:pic>
      <p:sp>
        <p:nvSpPr>
          <p:cNvPr id="190" name="Google Shape;190;p13"/>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1(b). Trajectories, rates and spatial autocorrelations.</a:t>
            </a:r>
            <a:endParaRPr sz="1800">
              <a:solidFill>
                <a:schemeClr val="dk1"/>
              </a:solidFill>
              <a:latin typeface="Calibri"/>
              <a:ea typeface="Calibri"/>
              <a:cs typeface="Calibri"/>
              <a:sym typeface="Calibri"/>
            </a:endParaRPr>
          </a:p>
        </p:txBody>
      </p:sp>
      <p:pic>
        <p:nvPicPr>
          <p:cNvPr id="191" name="Google Shape;191;p13"/>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192" name="Google Shape;192;p13"/>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193" name="Google Shape;193;p1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194" name="Google Shape;194;p13"/>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sp>
        <p:nvSpPr>
          <p:cNvPr id="199" name="Google Shape;199;p14"/>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Grid spacing specifies a distance between repeated fields</a:t>
            </a:r>
            <a:endParaRPr sz="1800">
              <a:solidFill>
                <a:schemeClr val="dk1"/>
              </a:solidFill>
              <a:latin typeface="Calibri"/>
              <a:ea typeface="Calibri"/>
              <a:cs typeface="Calibri"/>
              <a:sym typeface="Calibri"/>
            </a:endParaRPr>
          </a:p>
        </p:txBody>
      </p:sp>
      <p:sp>
        <p:nvSpPr>
          <p:cNvPr id="200" name="Google Shape;200;p14"/>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Grid spacing</a:t>
            </a:r>
            <a:r>
              <a:rPr b="0" i="0" lang="en-US" sz="1500">
                <a:solidFill>
                  <a:srgbClr val="000000"/>
                </a:solidFill>
                <a:latin typeface="Arial"/>
                <a:ea typeface="Arial"/>
                <a:cs typeface="Arial"/>
                <a:sym typeface="Arial"/>
              </a:rPr>
              <a:t> is the distance between neighboring repeated firing locations. Hafting and colleagues estimated spacing from the distances between the central autocorrelation peak and its nearest surrounding peaks.</a:t>
            </a:r>
            <a:endParaRPr sz="1800">
              <a:solidFill>
                <a:schemeClr val="dk1"/>
              </a:solidFill>
              <a:latin typeface="Calibri"/>
              <a:ea typeface="Calibri"/>
              <a:cs typeface="Calibri"/>
              <a:sym typeface="Calibri"/>
            </a:endParaRPr>
          </a:p>
        </p:txBody>
      </p:sp>
      <p:sp>
        <p:nvSpPr>
          <p:cNvPr id="201" name="Google Shape;201;p14"/>
          <p:cNvSpPr/>
          <p:nvPr/>
        </p:nvSpPr>
        <p:spPr>
          <a:xfrm>
            <a:off x="571500" y="23717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Across the reported cells, spacing ranged from 39 to 73 cm. Within a cell, similar distances in several directions and approximately 60° angular separation supported a regular triangular pattern across the arena.</a:t>
            </a:r>
            <a:endParaRPr sz="1800">
              <a:solidFill>
                <a:schemeClr val="dk1"/>
              </a:solidFill>
              <a:latin typeface="Calibri"/>
              <a:ea typeface="Calibri"/>
              <a:cs typeface="Calibri"/>
              <a:sym typeface="Calibri"/>
            </a:endParaRPr>
          </a:p>
        </p:txBody>
      </p:sp>
      <p:sp>
        <p:nvSpPr>
          <p:cNvPr id="202" name="Google Shape;202;p14"/>
          <p:cNvSpPr/>
          <p:nvPr/>
        </p:nvSpPr>
        <p:spPr>
          <a:xfrm>
            <a:off x="571500" y="355282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Spacing describes the spatial scale of a neuron's code, not the distance between neurons in brain tissue. Cells with different spacing can represent the same physical environment at different scales. The original observations did not establish whether those scales were selected continuously or organized into discrete functional modules.</a:t>
            </a:r>
            <a:endParaRPr sz="1800">
              <a:solidFill>
                <a:schemeClr val="dk1"/>
              </a:solidFill>
              <a:latin typeface="Calibri"/>
              <a:ea typeface="Calibri"/>
              <a:cs typeface="Calibri"/>
              <a:sym typeface="Calibri"/>
            </a:endParaRPr>
          </a:p>
        </p:txBody>
      </p:sp>
      <p:pic>
        <p:nvPicPr>
          <p:cNvPr id="203" name="Google Shape;203;p14"/>
          <p:cNvPicPr preferRelativeResize="0"/>
          <p:nvPr/>
        </p:nvPicPr>
        <p:blipFill rotWithShape="1">
          <a:blip r:embed="rId3">
            <a:alphaModFix/>
          </a:blip>
          <a:srcRect b="0" l="0" r="0" t="0"/>
          <a:stretch/>
        </p:blipFill>
        <p:spPr>
          <a:xfrm>
            <a:off x="6477000" y="1472929"/>
            <a:ext cx="3286125" cy="3578767"/>
          </a:xfrm>
          <a:prstGeom prst="rect">
            <a:avLst/>
          </a:prstGeom>
          <a:noFill/>
          <a:ln>
            <a:noFill/>
          </a:ln>
        </p:spPr>
      </p:pic>
      <p:sp>
        <p:nvSpPr>
          <p:cNvPr id="204" name="Google Shape;204;p14"/>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1(b). Trajectories, rates and spatial autocorrelations.</a:t>
            </a:r>
            <a:endParaRPr sz="1800">
              <a:solidFill>
                <a:schemeClr val="dk1"/>
              </a:solidFill>
              <a:latin typeface="Calibri"/>
              <a:ea typeface="Calibri"/>
              <a:cs typeface="Calibri"/>
              <a:sym typeface="Calibri"/>
            </a:endParaRPr>
          </a:p>
        </p:txBody>
      </p:sp>
      <p:pic>
        <p:nvPicPr>
          <p:cNvPr id="205" name="Google Shape;205;p14"/>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206" name="Google Shape;206;p14"/>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207" name="Google Shape;207;p14"/>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208" name="Google Shape;208;p14"/>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 name="Shape 212"/>
        <p:cNvGrpSpPr/>
        <p:nvPr/>
      </p:nvGrpSpPr>
      <p:grpSpPr>
        <a:xfrm>
          <a:off x="0" y="0"/>
          <a:ext cx="0" cy="0"/>
          <a:chOff x="0" y="0"/>
          <a:chExt cx="0" cy="0"/>
        </a:xfrm>
      </p:grpSpPr>
      <p:sp>
        <p:nvSpPr>
          <p:cNvPr id="213" name="Google Shape;213;p15"/>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Arena expansion adds fields without matching the boundary</a:t>
            </a:r>
            <a:endParaRPr sz="1800">
              <a:solidFill>
                <a:schemeClr val="dk1"/>
              </a:solidFill>
              <a:latin typeface="Calibri"/>
              <a:ea typeface="Calibri"/>
              <a:cs typeface="Calibri"/>
              <a:sym typeface="Calibri"/>
            </a:endParaRPr>
          </a:p>
        </p:txBody>
      </p:sp>
      <p:sp>
        <p:nvSpPr>
          <p:cNvPr id="214" name="Google Shape;214;p15"/>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Hafting and colleagues recorded cells as animals moved between a large and a smaller circular enclosure and returned to the large enclosure. The repeated triangular organization remained recognizable across the changes in available surface.</a:t>
            </a:r>
            <a:endParaRPr sz="1800">
              <a:solidFill>
                <a:schemeClr val="dk1"/>
              </a:solidFill>
              <a:latin typeface="Calibri"/>
              <a:ea typeface="Calibri"/>
              <a:cs typeface="Calibri"/>
              <a:sym typeface="Calibri"/>
            </a:endParaRPr>
          </a:p>
        </p:txBody>
      </p:sp>
      <p:sp>
        <p:nvSpPr>
          <p:cNvPr id="215" name="Google Shape;215;p15"/>
          <p:cNvSpPr/>
          <p:nvPr/>
        </p:nvSpPr>
        <p:spPr>
          <a:xfrm>
            <a:off x="571500" y="2628900"/>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expanded arena contained more activity nodes, while their density remained similar. The pattern therefore was not simply a small fixed collection of fields stretched to match the enclosing walls.</a:t>
            </a:r>
            <a:endParaRPr sz="1800">
              <a:solidFill>
                <a:schemeClr val="dk1"/>
              </a:solidFill>
              <a:latin typeface="Calibri"/>
              <a:ea typeface="Calibri"/>
              <a:cs typeface="Calibri"/>
              <a:sym typeface="Calibri"/>
            </a:endParaRPr>
          </a:p>
        </p:txBody>
      </p:sp>
      <p:sp>
        <p:nvSpPr>
          <p:cNvPr id="216" name="Google Shape;216;p15"/>
          <p:cNvSpPr/>
          <p:nvPr/>
        </p:nvSpPr>
        <p:spPr>
          <a:xfrm>
            <a:off x="571500" y="38100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result supports a spatially repeated code that can extend across different recording areas. The authors discussed potentially unlimited grids, but finite experimental arenas cannot establish infinite extent. Boundaries and available sampling still limit which portions of a cell's spatial pattern can be observed.</a:t>
            </a:r>
            <a:endParaRPr sz="1800">
              <a:solidFill>
                <a:schemeClr val="dk1"/>
              </a:solidFill>
              <a:latin typeface="Calibri"/>
              <a:ea typeface="Calibri"/>
              <a:cs typeface="Calibri"/>
              <a:sym typeface="Calibri"/>
            </a:endParaRPr>
          </a:p>
        </p:txBody>
      </p:sp>
      <p:pic>
        <p:nvPicPr>
          <p:cNvPr id="217" name="Google Shape;217;p15"/>
          <p:cNvPicPr preferRelativeResize="0"/>
          <p:nvPr/>
        </p:nvPicPr>
        <p:blipFill rotWithShape="1">
          <a:blip r:embed="rId3">
            <a:alphaModFix/>
          </a:blip>
          <a:srcRect b="0" l="0" r="0" t="0"/>
          <a:stretch/>
        </p:blipFill>
        <p:spPr>
          <a:xfrm>
            <a:off x="6477000" y="1714245"/>
            <a:ext cx="3286125" cy="3096135"/>
          </a:xfrm>
          <a:prstGeom prst="rect">
            <a:avLst/>
          </a:prstGeom>
          <a:noFill/>
          <a:ln>
            <a:noFill/>
          </a:ln>
        </p:spPr>
      </p:pic>
      <p:sp>
        <p:nvSpPr>
          <p:cNvPr id="218" name="Google Shape;218;p15"/>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1(d). Grid fields in large and small arenas.</a:t>
            </a:r>
            <a:endParaRPr sz="1800">
              <a:solidFill>
                <a:schemeClr val="dk1"/>
              </a:solidFill>
              <a:latin typeface="Calibri"/>
              <a:ea typeface="Calibri"/>
              <a:cs typeface="Calibri"/>
              <a:sym typeface="Calibri"/>
            </a:endParaRPr>
          </a:p>
        </p:txBody>
      </p:sp>
      <p:pic>
        <p:nvPicPr>
          <p:cNvPr id="219" name="Google Shape;219;p15"/>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220" name="Google Shape;220;p15"/>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221" name="Google Shape;221;p15"/>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222" name="Google Shape;222;p15"/>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16"/>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Nearby grid cells share orientation and spacing</a:t>
            </a:r>
            <a:endParaRPr sz="1800">
              <a:solidFill>
                <a:schemeClr val="dk1"/>
              </a:solidFill>
              <a:latin typeface="Calibri"/>
              <a:ea typeface="Calibri"/>
              <a:cs typeface="Calibri"/>
              <a:sym typeface="Calibri"/>
            </a:endParaRPr>
          </a:p>
        </p:txBody>
      </p:sp>
      <p:sp>
        <p:nvSpPr>
          <p:cNvPr id="228" name="Google Shape;228;p16"/>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Simultaneously recorded grid cells near the same electrode location had similar spacing and orientation. </a:t>
            </a:r>
            <a:r>
              <a:rPr b="1" i="0" lang="en-US" sz="1500">
                <a:solidFill>
                  <a:srgbClr val="332925"/>
                </a:solidFill>
                <a:latin typeface="Arial"/>
                <a:ea typeface="Arial"/>
                <a:cs typeface="Arial"/>
                <a:sym typeface="Arial"/>
              </a:rPr>
              <a:t>Orientation</a:t>
            </a:r>
            <a:r>
              <a:rPr b="0" i="0" lang="en-US" sz="1500">
                <a:solidFill>
                  <a:srgbClr val="000000"/>
                </a:solidFill>
                <a:latin typeface="Arial"/>
                <a:ea typeface="Arial"/>
                <a:cs typeface="Arial"/>
                <a:sym typeface="Arial"/>
              </a:rPr>
              <a:t> is the angle of the lattice relative to a reference direction in the recording environment.</a:t>
            </a:r>
            <a:endParaRPr sz="1800">
              <a:solidFill>
                <a:schemeClr val="dk1"/>
              </a:solidFill>
              <a:latin typeface="Calibri"/>
              <a:ea typeface="Calibri"/>
              <a:cs typeface="Calibri"/>
              <a:sym typeface="Calibri"/>
            </a:endParaRPr>
          </a:p>
        </p:txBody>
      </p:sp>
      <p:sp>
        <p:nvSpPr>
          <p:cNvPr id="229" name="Google Shape;229;p16"/>
          <p:cNvSpPr/>
          <p:nvPr/>
        </p:nvSpPr>
        <p:spPr>
          <a:xfrm>
            <a:off x="571500" y="23717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Their rate maps contained repeated fields with a common geometry, even when the locations of individual fields differed. A </a:t>
            </a:r>
            <a:r>
              <a:rPr b="1" i="0" lang="en-US" sz="1500">
                <a:solidFill>
                  <a:srgbClr val="332925"/>
                </a:solidFill>
                <a:latin typeface="Arial"/>
                <a:ea typeface="Arial"/>
                <a:cs typeface="Arial"/>
                <a:sym typeface="Arial"/>
              </a:rPr>
              <a:t>tetrode</a:t>
            </a:r>
            <a:r>
              <a:rPr b="0" i="0" lang="en-US" sz="1500">
                <a:solidFill>
                  <a:srgbClr val="000000"/>
                </a:solidFill>
                <a:latin typeface="Arial"/>
                <a:ea typeface="Arial"/>
                <a:cs typeface="Arial"/>
                <a:sym typeface="Arial"/>
              </a:rPr>
              <a:t>, a bundle of four recording wires, helps separate neurons by comparing the amplitudes of their spikes on multiple channels.</a:t>
            </a:r>
            <a:endParaRPr sz="1800">
              <a:solidFill>
                <a:schemeClr val="dk1"/>
              </a:solidFill>
              <a:latin typeface="Calibri"/>
              <a:ea typeface="Calibri"/>
              <a:cs typeface="Calibri"/>
              <a:sym typeface="Calibri"/>
            </a:endParaRPr>
          </a:p>
        </p:txBody>
      </p:sp>
      <p:sp>
        <p:nvSpPr>
          <p:cNvPr id="230" name="Google Shape;230;p16"/>
          <p:cNvSpPr/>
          <p:nvPr/>
        </p:nvSpPr>
        <p:spPr>
          <a:xfrm>
            <a:off x="571500" y="38100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Shared metric properties support coordination among nearby cells. They do not establish direct synaptic connections between every simultaneously recorded pair. Common input and local interactions are both possible explanations for coordinated geometry, and extracellular recordings alone do not distinguish them.</a:t>
            </a:r>
            <a:endParaRPr sz="1800">
              <a:solidFill>
                <a:schemeClr val="dk1"/>
              </a:solidFill>
              <a:latin typeface="Calibri"/>
              <a:ea typeface="Calibri"/>
              <a:cs typeface="Calibri"/>
              <a:sym typeface="Calibri"/>
            </a:endParaRPr>
          </a:p>
        </p:txBody>
      </p:sp>
      <p:pic>
        <p:nvPicPr>
          <p:cNvPr id="231" name="Google Shape;231;p16"/>
          <p:cNvPicPr preferRelativeResize="0"/>
          <p:nvPr/>
        </p:nvPicPr>
        <p:blipFill rotWithShape="1">
          <a:blip r:embed="rId3">
            <a:alphaModFix/>
          </a:blip>
          <a:srcRect b="0" l="0" r="0" t="0"/>
          <a:stretch/>
        </p:blipFill>
        <p:spPr>
          <a:xfrm>
            <a:off x="6477000" y="2099378"/>
            <a:ext cx="3286125" cy="2325868"/>
          </a:xfrm>
          <a:prstGeom prst="rect">
            <a:avLst/>
          </a:prstGeom>
          <a:noFill/>
          <a:ln>
            <a:noFill/>
          </a:ln>
        </p:spPr>
      </p:pic>
      <p:sp>
        <p:nvSpPr>
          <p:cNvPr id="232" name="Google Shape;232;p16"/>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2(a,c). Rat recording site and dorsal grid fields.</a:t>
            </a:r>
            <a:endParaRPr sz="1800">
              <a:solidFill>
                <a:schemeClr val="dk1"/>
              </a:solidFill>
              <a:latin typeface="Calibri"/>
              <a:ea typeface="Calibri"/>
              <a:cs typeface="Calibri"/>
              <a:sym typeface="Calibri"/>
            </a:endParaRPr>
          </a:p>
        </p:txBody>
      </p:sp>
      <p:pic>
        <p:nvPicPr>
          <p:cNvPr id="233" name="Google Shape;233;p16"/>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234" name="Google Shape;234;p16"/>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235" name="Google Shape;235;p16"/>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236" name="Google Shape;236;p16"/>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 name="Shape 240"/>
        <p:cNvGrpSpPr/>
        <p:nvPr/>
      </p:nvGrpSpPr>
      <p:grpSpPr>
        <a:xfrm>
          <a:off x="0" y="0"/>
          <a:ext cx="0" cy="0"/>
          <a:chOff x="0" y="0"/>
          <a:chExt cx="0" cy="0"/>
        </a:xfrm>
      </p:grpSpPr>
      <p:sp>
        <p:nvSpPr>
          <p:cNvPr id="241" name="Google Shape;241;p17"/>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Ventral recording sites have wider grid spacing</a:t>
            </a:r>
            <a:endParaRPr sz="1800">
              <a:solidFill>
                <a:schemeClr val="dk1"/>
              </a:solidFill>
              <a:latin typeface="Calibri"/>
              <a:ea typeface="Calibri"/>
              <a:cs typeface="Calibri"/>
              <a:sym typeface="Calibri"/>
            </a:endParaRPr>
          </a:p>
        </p:txBody>
      </p:sp>
      <p:sp>
        <p:nvSpPr>
          <p:cNvPr id="242" name="Google Shape;242;p17"/>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Dorsal</a:t>
            </a:r>
            <a:r>
              <a:rPr b="0" i="0" lang="en-US" sz="1500">
                <a:solidFill>
                  <a:srgbClr val="000000"/>
                </a:solidFill>
                <a:latin typeface="Arial"/>
                <a:ea typeface="Arial"/>
                <a:cs typeface="Arial"/>
                <a:sym typeface="Arial"/>
              </a:rPr>
              <a:t> and </a:t>
            </a:r>
            <a:r>
              <a:rPr b="1" i="0" lang="en-US" sz="1500">
                <a:solidFill>
                  <a:srgbClr val="332925"/>
                </a:solidFill>
                <a:latin typeface="Arial"/>
                <a:ea typeface="Arial"/>
                <a:cs typeface="Arial"/>
                <a:sym typeface="Arial"/>
              </a:rPr>
              <a:t>ventral</a:t>
            </a:r>
            <a:r>
              <a:rPr b="0" i="0" lang="en-US" sz="1500">
                <a:solidFill>
                  <a:srgbClr val="000000"/>
                </a:solidFill>
                <a:latin typeface="Arial"/>
                <a:ea typeface="Arial"/>
                <a:cs typeface="Arial"/>
                <a:sym typeface="Arial"/>
              </a:rPr>
              <a:t> describe positions along the anatomical axis used to compare recording sites. In the same rat, one site near the dorsal entorhinal border had denser grid spacing than a site 560 µm deeper.</a:t>
            </a:r>
            <a:endParaRPr sz="1800">
              <a:solidFill>
                <a:schemeClr val="dk1"/>
              </a:solidFill>
              <a:latin typeface="Calibri"/>
              <a:ea typeface="Calibri"/>
              <a:cs typeface="Calibri"/>
              <a:sym typeface="Calibri"/>
            </a:endParaRPr>
          </a:p>
        </p:txBody>
      </p:sp>
      <p:sp>
        <p:nvSpPr>
          <p:cNvPr id="243" name="Google Shape;243;p17"/>
          <p:cNvSpPr/>
          <p:nvPr/>
        </p:nvSpPr>
        <p:spPr>
          <a:xfrm>
            <a:off x="571500" y="23717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Reported spacing was 39.1–43.0 cm at the dorsal location and 48.1–52.2 cm at the more ventral location. Comparing sites within one animal reduced explanations based entirely on differences between animals or their environments.</a:t>
            </a:r>
            <a:endParaRPr sz="1800">
              <a:solidFill>
                <a:schemeClr val="dk1"/>
              </a:solidFill>
              <a:latin typeface="Calibri"/>
              <a:ea typeface="Calibri"/>
              <a:cs typeface="Calibri"/>
              <a:sym typeface="Calibri"/>
            </a:endParaRPr>
          </a:p>
        </p:txBody>
      </p:sp>
      <p:sp>
        <p:nvSpPr>
          <p:cNvPr id="244" name="Google Shape;244;p17"/>
          <p:cNvSpPr/>
          <p:nvPr/>
        </p:nvSpPr>
        <p:spPr>
          <a:xfrm>
            <a:off x="571500" y="35528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finding links anatomical position to the spatial scale of firing. It does not mean that the same neuron changed scale solely because an electrode moved. The recordings sampled different cells at different positions, revealing an organized relationship across the tissue.</a:t>
            </a:r>
            <a:endParaRPr sz="1800">
              <a:solidFill>
                <a:schemeClr val="dk1"/>
              </a:solidFill>
              <a:latin typeface="Calibri"/>
              <a:ea typeface="Calibri"/>
              <a:cs typeface="Calibri"/>
              <a:sym typeface="Calibri"/>
            </a:endParaRPr>
          </a:p>
        </p:txBody>
      </p:sp>
      <p:pic>
        <p:nvPicPr>
          <p:cNvPr id="245" name="Google Shape;245;p17"/>
          <p:cNvPicPr preferRelativeResize="0"/>
          <p:nvPr/>
        </p:nvPicPr>
        <p:blipFill rotWithShape="1">
          <a:blip r:embed="rId3">
            <a:alphaModFix/>
          </a:blip>
          <a:srcRect b="0" l="0" r="0" t="0"/>
          <a:stretch/>
        </p:blipFill>
        <p:spPr>
          <a:xfrm>
            <a:off x="6477000" y="2295690"/>
            <a:ext cx="3286125" cy="1933245"/>
          </a:xfrm>
          <a:prstGeom prst="rect">
            <a:avLst/>
          </a:prstGeom>
          <a:noFill/>
          <a:ln>
            <a:noFill/>
          </a:ln>
        </p:spPr>
      </p:pic>
      <p:sp>
        <p:nvSpPr>
          <p:cNvPr id="246" name="Google Shape;246;p17"/>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2(b,d). Ventral recording site and grid fields.</a:t>
            </a:r>
            <a:endParaRPr sz="1800">
              <a:solidFill>
                <a:schemeClr val="dk1"/>
              </a:solidFill>
              <a:latin typeface="Calibri"/>
              <a:ea typeface="Calibri"/>
              <a:cs typeface="Calibri"/>
              <a:sym typeface="Calibri"/>
            </a:endParaRPr>
          </a:p>
        </p:txBody>
      </p:sp>
      <p:pic>
        <p:nvPicPr>
          <p:cNvPr id="247" name="Google Shape;247;p17"/>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248" name="Google Shape;248;p17"/>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249" name="Google Shape;249;p17"/>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250" name="Google Shape;250;p17"/>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 name="Shape 254"/>
        <p:cNvGrpSpPr/>
        <p:nvPr/>
      </p:nvGrpSpPr>
      <p:grpSpPr>
        <a:xfrm>
          <a:off x="0" y="0"/>
          <a:ext cx="0" cy="0"/>
          <a:chOff x="0" y="0"/>
          <a:chExt cx="0" cy="0"/>
        </a:xfrm>
      </p:grpSpPr>
      <p:sp>
        <p:nvSpPr>
          <p:cNvPr id="255" name="Google Shape;255;p18"/>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Grid field size increases with the spatial scale</a:t>
            </a:r>
            <a:endParaRPr sz="1800">
              <a:solidFill>
                <a:schemeClr val="dk1"/>
              </a:solidFill>
              <a:latin typeface="Calibri"/>
              <a:ea typeface="Calibri"/>
              <a:cs typeface="Calibri"/>
              <a:sym typeface="Calibri"/>
            </a:endParaRPr>
          </a:p>
        </p:txBody>
      </p:sp>
      <p:sp>
        <p:nvSpPr>
          <p:cNvPr id="256" name="Google Shape;256;p18"/>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a:t>
            </a:r>
            <a:r>
              <a:rPr b="1" i="0" lang="en-US" sz="1500">
                <a:solidFill>
                  <a:srgbClr val="332925"/>
                </a:solidFill>
                <a:latin typeface="Arial"/>
                <a:ea typeface="Arial"/>
                <a:cs typeface="Arial"/>
                <a:sym typeface="Arial"/>
              </a:rPr>
              <a:t>firing field</a:t>
            </a:r>
            <a:r>
              <a:rPr b="0" i="0" lang="en-US" sz="1500">
                <a:solidFill>
                  <a:srgbClr val="000000"/>
                </a:solidFill>
                <a:latin typeface="Arial"/>
                <a:ea typeface="Arial"/>
                <a:cs typeface="Arial"/>
                <a:sym typeface="Arial"/>
              </a:rPr>
              <a:t> is a region where a cell's rate exceeds the surrounding background under the tested conditions. Hafting and colleagues measured field size from the central peak of the spatial autocorrelation.</a:t>
            </a:r>
            <a:endParaRPr sz="1800">
              <a:solidFill>
                <a:schemeClr val="dk1"/>
              </a:solidFill>
              <a:latin typeface="Calibri"/>
              <a:ea typeface="Calibri"/>
              <a:cs typeface="Calibri"/>
              <a:sym typeface="Calibri"/>
            </a:endParaRPr>
          </a:p>
        </p:txBody>
      </p:sp>
      <p:sp>
        <p:nvSpPr>
          <p:cNvPr id="257" name="Google Shape;257;p18"/>
          <p:cNvSpPr/>
          <p:nvPr/>
        </p:nvSpPr>
        <p:spPr>
          <a:xfrm>
            <a:off x="571500" y="23717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More ventral recording positions were associated with both greater spacing and larger individual fields. These are related but distinct properties: spacing concerns separation between fields, whereas field size concerns the extent of each field.</a:t>
            </a:r>
            <a:endParaRPr sz="1800">
              <a:solidFill>
                <a:schemeClr val="dk1"/>
              </a:solidFill>
              <a:latin typeface="Calibri"/>
              <a:ea typeface="Calibri"/>
              <a:cs typeface="Calibri"/>
              <a:sym typeface="Calibri"/>
            </a:endParaRPr>
          </a:p>
        </p:txBody>
      </p:sp>
      <p:sp>
        <p:nvSpPr>
          <p:cNvPr id="258" name="Google Shape;258;p18"/>
          <p:cNvSpPr/>
          <p:nvPr/>
        </p:nvSpPr>
        <p:spPr>
          <a:xfrm>
            <a:off x="571500" y="38100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Their joint increase produces a coarser spatial pattern, rather than merely moving unchanged fields farther apart. The measurements depend on the stated analysis threshold. Field size is therefore an operational measurement of an activity pattern, not an anatomical boundary visible in the entorhinal tissue.</a:t>
            </a:r>
            <a:endParaRPr sz="1800">
              <a:solidFill>
                <a:schemeClr val="dk1"/>
              </a:solidFill>
              <a:latin typeface="Calibri"/>
              <a:ea typeface="Calibri"/>
              <a:cs typeface="Calibri"/>
              <a:sym typeface="Calibri"/>
            </a:endParaRPr>
          </a:p>
        </p:txBody>
      </p:sp>
      <p:pic>
        <p:nvPicPr>
          <p:cNvPr id="259" name="Google Shape;259;p18"/>
          <p:cNvPicPr preferRelativeResize="0"/>
          <p:nvPr/>
        </p:nvPicPr>
        <p:blipFill rotWithShape="1">
          <a:blip r:embed="rId3">
            <a:alphaModFix/>
          </a:blip>
          <a:srcRect b="0" l="0" r="0" t="0"/>
          <a:stretch/>
        </p:blipFill>
        <p:spPr>
          <a:xfrm>
            <a:off x="7327947" y="1190625"/>
            <a:ext cx="1584232" cy="4143375"/>
          </a:xfrm>
          <a:prstGeom prst="rect">
            <a:avLst/>
          </a:prstGeom>
          <a:noFill/>
          <a:ln>
            <a:noFill/>
          </a:ln>
        </p:spPr>
      </p:pic>
      <p:sp>
        <p:nvSpPr>
          <p:cNvPr id="260" name="Google Shape;260;p18"/>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2(f–h). Recording depth and spatial scale.</a:t>
            </a:r>
            <a:endParaRPr sz="1800">
              <a:solidFill>
                <a:schemeClr val="dk1"/>
              </a:solidFill>
              <a:latin typeface="Calibri"/>
              <a:ea typeface="Calibri"/>
              <a:cs typeface="Calibri"/>
              <a:sym typeface="Calibri"/>
            </a:endParaRPr>
          </a:p>
        </p:txBody>
      </p:sp>
      <p:pic>
        <p:nvPicPr>
          <p:cNvPr id="261" name="Google Shape;261;p18"/>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262" name="Google Shape;262;p18"/>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263" name="Google Shape;263;p18"/>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264" name="Google Shape;264;p18"/>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8" name="Shape 268"/>
        <p:cNvGrpSpPr/>
        <p:nvPr/>
      </p:nvGrpSpPr>
      <p:grpSpPr>
        <a:xfrm>
          <a:off x="0" y="0"/>
          <a:ext cx="0" cy="0"/>
          <a:chOff x="0" y="0"/>
          <a:chExt cx="0" cy="0"/>
        </a:xfrm>
      </p:grpSpPr>
      <p:sp>
        <p:nvSpPr>
          <p:cNvPr id="269" name="Google Shape;269;p19"/>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Grid orientation is distinct from the scale gradient</a:t>
            </a:r>
            <a:endParaRPr sz="1800">
              <a:solidFill>
                <a:schemeClr val="dk1"/>
              </a:solidFill>
              <a:latin typeface="Calibri"/>
              <a:ea typeface="Calibri"/>
              <a:cs typeface="Calibri"/>
              <a:sym typeface="Calibri"/>
            </a:endParaRPr>
          </a:p>
        </p:txBody>
      </p:sp>
      <p:sp>
        <p:nvSpPr>
          <p:cNvPr id="270" name="Google Shape;270;p19"/>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angle of a grid can differ between recording locations even when nearby cells at each location share similar orientation. Hafting and colleagues defined that angle relative to a camera-based reference direction.</a:t>
            </a:r>
            <a:endParaRPr sz="1800">
              <a:solidFill>
                <a:schemeClr val="dk1"/>
              </a:solidFill>
              <a:latin typeface="Calibri"/>
              <a:ea typeface="Calibri"/>
              <a:cs typeface="Calibri"/>
              <a:sym typeface="Calibri"/>
            </a:endParaRPr>
          </a:p>
        </p:txBody>
      </p:sp>
      <p:sp>
        <p:nvSpPr>
          <p:cNvPr id="271" name="Google Shape;271;p19"/>
          <p:cNvSpPr/>
          <p:nvPr/>
        </p:nvSpPr>
        <p:spPr>
          <a:xfrm>
            <a:off x="571500" y="23717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Spacing and field size increased toward ventral locations, but orientation did not exhibit the same systematic dorsal-to-ventral relationship. Spatial scale and directional alignment therefore must be treated as separate properties of the code.</a:t>
            </a:r>
            <a:endParaRPr sz="1800">
              <a:solidFill>
                <a:schemeClr val="dk1"/>
              </a:solidFill>
              <a:latin typeface="Calibri"/>
              <a:ea typeface="Calibri"/>
              <a:cs typeface="Calibri"/>
              <a:sym typeface="Calibri"/>
            </a:endParaRPr>
          </a:p>
        </p:txBody>
      </p:sp>
      <p:sp>
        <p:nvSpPr>
          <p:cNvPr id="272" name="Google Shape;272;p19"/>
          <p:cNvSpPr/>
          <p:nvPr/>
        </p:nvSpPr>
        <p:spPr>
          <a:xfrm>
            <a:off x="571500" y="38100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change in angle rotates a lattice without necessarily changing the distance between its fields. A change in spacing alters the metric scale without necessarily rotating it. Separating these variables prevents a shift in directional reference from being mistaken for a change in spatial resolution.</a:t>
            </a:r>
            <a:endParaRPr sz="1800">
              <a:solidFill>
                <a:schemeClr val="dk1"/>
              </a:solidFill>
              <a:latin typeface="Calibri"/>
              <a:ea typeface="Calibri"/>
              <a:cs typeface="Calibri"/>
              <a:sym typeface="Calibri"/>
            </a:endParaRPr>
          </a:p>
        </p:txBody>
      </p:sp>
      <p:pic>
        <p:nvPicPr>
          <p:cNvPr id="273" name="Google Shape;273;p19"/>
          <p:cNvPicPr preferRelativeResize="0"/>
          <p:nvPr/>
        </p:nvPicPr>
        <p:blipFill rotWithShape="1">
          <a:blip r:embed="rId3">
            <a:alphaModFix/>
          </a:blip>
          <a:srcRect b="0" l="0" r="0" t="0"/>
          <a:stretch/>
        </p:blipFill>
        <p:spPr>
          <a:xfrm>
            <a:off x="6477000" y="1358317"/>
            <a:ext cx="3286125" cy="3807991"/>
          </a:xfrm>
          <a:prstGeom prst="rect">
            <a:avLst/>
          </a:prstGeom>
          <a:noFill/>
          <a:ln>
            <a:noFill/>
          </a:ln>
        </p:spPr>
      </p:pic>
      <p:sp>
        <p:nvSpPr>
          <p:cNvPr id="274" name="Google Shape;274;p19"/>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2(e). Grid spacing and orientation at two sites.</a:t>
            </a:r>
            <a:endParaRPr sz="1800">
              <a:solidFill>
                <a:schemeClr val="dk1"/>
              </a:solidFill>
              <a:latin typeface="Calibri"/>
              <a:ea typeface="Calibri"/>
              <a:cs typeface="Calibri"/>
              <a:sym typeface="Calibri"/>
            </a:endParaRPr>
          </a:p>
        </p:txBody>
      </p:sp>
      <p:pic>
        <p:nvPicPr>
          <p:cNvPr id="275" name="Google Shape;275;p19"/>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276" name="Google Shape;276;p19"/>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277" name="Google Shape;277;p19"/>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278" name="Google Shape;278;p19"/>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2" name="Shape 282"/>
        <p:cNvGrpSpPr/>
        <p:nvPr/>
      </p:nvGrpSpPr>
      <p:grpSpPr>
        <a:xfrm>
          <a:off x="0" y="0"/>
          <a:ext cx="0" cy="0"/>
          <a:chOff x="0" y="0"/>
          <a:chExt cx="0" cy="0"/>
        </a:xfrm>
      </p:grpSpPr>
      <p:sp>
        <p:nvSpPr>
          <p:cNvPr id="283" name="Google Shape;283;p20"/>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Grid phase differs among neighboring neurons</a:t>
            </a:r>
            <a:endParaRPr sz="1800">
              <a:solidFill>
                <a:schemeClr val="dk1"/>
              </a:solidFill>
              <a:latin typeface="Calibri"/>
              <a:ea typeface="Calibri"/>
              <a:cs typeface="Calibri"/>
              <a:sym typeface="Calibri"/>
            </a:endParaRPr>
          </a:p>
        </p:txBody>
      </p:sp>
      <p:sp>
        <p:nvSpPr>
          <p:cNvPr id="284" name="Google Shape;284;p20"/>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Spatial phase</a:t>
            </a:r>
            <a:r>
              <a:rPr b="0" i="0" lang="en-US" sz="1500">
                <a:solidFill>
                  <a:srgbClr val="000000"/>
                </a:solidFill>
                <a:latin typeface="Arial"/>
                <a:ea typeface="Arial"/>
                <a:cs typeface="Arial"/>
                <a:sym typeface="Arial"/>
              </a:rPr>
              <a:t> describes where the vertices of a grid lie relative to a reference location. Nearby neurons can share spacing and orientation while placing their elevated firing fields at different positions.</a:t>
            </a:r>
            <a:endParaRPr sz="1800">
              <a:solidFill>
                <a:schemeClr val="dk1"/>
              </a:solidFill>
              <a:latin typeface="Calibri"/>
              <a:ea typeface="Calibri"/>
              <a:cs typeface="Calibri"/>
              <a:sym typeface="Calibri"/>
            </a:endParaRPr>
          </a:p>
        </p:txBody>
      </p:sp>
      <p:sp>
        <p:nvSpPr>
          <p:cNvPr id="285" name="Google Shape;285;p20"/>
          <p:cNvSpPr/>
          <p:nvPr/>
        </p:nvSpPr>
        <p:spPr>
          <a:xfrm>
            <a:off x="571500" y="23717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Hafting and colleagues compared simultaneously recorded rate maps and found displaced versions of similar lattices. Superimposing the patterns after a spatial shift brought their vertices into closer alignment.</a:t>
            </a:r>
            <a:endParaRPr sz="1800">
              <a:solidFill>
                <a:schemeClr val="dk1"/>
              </a:solidFill>
              <a:latin typeface="Calibri"/>
              <a:ea typeface="Calibri"/>
              <a:cs typeface="Calibri"/>
              <a:sym typeface="Calibri"/>
            </a:endParaRPr>
          </a:p>
        </p:txBody>
      </p:sp>
      <p:sp>
        <p:nvSpPr>
          <p:cNvPr id="286" name="Google Shape;286;p20"/>
          <p:cNvSpPr/>
          <p:nvPr/>
        </p:nvSpPr>
        <p:spPr>
          <a:xfrm>
            <a:off x="571500" y="355282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Different phases allow neighboring cells to become active at different positions, collectively covering more of the environment than a single cell. Phase is a spatial displacement here, not the timing of a spike relative to an oscillation. These two uses of the word refer to different measurements.</a:t>
            </a:r>
            <a:endParaRPr sz="1800">
              <a:solidFill>
                <a:schemeClr val="dk1"/>
              </a:solidFill>
              <a:latin typeface="Calibri"/>
              <a:ea typeface="Calibri"/>
              <a:cs typeface="Calibri"/>
              <a:sym typeface="Calibri"/>
            </a:endParaRPr>
          </a:p>
        </p:txBody>
      </p:sp>
      <p:pic>
        <p:nvPicPr>
          <p:cNvPr id="287" name="Google Shape;287;p20"/>
          <p:cNvPicPr preferRelativeResize="0"/>
          <p:nvPr/>
        </p:nvPicPr>
        <p:blipFill rotWithShape="1">
          <a:blip r:embed="rId3">
            <a:alphaModFix/>
          </a:blip>
          <a:srcRect b="0" l="0" r="0" t="0"/>
          <a:stretch/>
        </p:blipFill>
        <p:spPr>
          <a:xfrm>
            <a:off x="6668064" y="1190625"/>
            <a:ext cx="2903997" cy="4143375"/>
          </a:xfrm>
          <a:prstGeom prst="rect">
            <a:avLst/>
          </a:prstGeom>
          <a:noFill/>
          <a:ln>
            <a:noFill/>
          </a:ln>
        </p:spPr>
      </p:pic>
      <p:sp>
        <p:nvSpPr>
          <p:cNvPr id="288" name="Google Shape;288;p20"/>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3(a–c). Spatial phases of neighboring grid cells.</a:t>
            </a:r>
            <a:endParaRPr sz="1800">
              <a:solidFill>
                <a:schemeClr val="dk1"/>
              </a:solidFill>
              <a:latin typeface="Calibri"/>
              <a:ea typeface="Calibri"/>
              <a:cs typeface="Calibri"/>
              <a:sym typeface="Calibri"/>
            </a:endParaRPr>
          </a:p>
        </p:txBody>
      </p:sp>
      <p:pic>
        <p:nvPicPr>
          <p:cNvPr id="289" name="Google Shape;289;p20"/>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290" name="Google Shape;290;p20"/>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291" name="Google Shape;291;p20"/>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292" name="Google Shape;292;p20"/>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6" name="Shape 296"/>
        <p:cNvGrpSpPr/>
        <p:nvPr/>
      </p:nvGrpSpPr>
      <p:grpSpPr>
        <a:xfrm>
          <a:off x="0" y="0"/>
          <a:ext cx="0" cy="0"/>
          <a:chOff x="0" y="0"/>
          <a:chExt cx="0" cy="0"/>
        </a:xfrm>
      </p:grpSpPr>
      <p:sp>
        <p:nvSpPr>
          <p:cNvPr id="297" name="Google Shape;297;p21"/>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Cross-correlation compares the phase of two cells</a:t>
            </a:r>
            <a:endParaRPr sz="1800">
              <a:solidFill>
                <a:schemeClr val="dk1"/>
              </a:solidFill>
              <a:latin typeface="Calibri"/>
              <a:ea typeface="Calibri"/>
              <a:cs typeface="Calibri"/>
              <a:sym typeface="Calibri"/>
            </a:endParaRPr>
          </a:p>
        </p:txBody>
      </p:sp>
      <p:sp>
        <p:nvSpPr>
          <p:cNvPr id="298" name="Google Shape;298;p21"/>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Spatial cross-correlation</a:t>
            </a:r>
            <a:r>
              <a:rPr b="0" i="0" lang="en-US" sz="1500">
                <a:solidFill>
                  <a:srgbClr val="000000"/>
                </a:solidFill>
                <a:latin typeface="Arial"/>
                <a:ea typeface="Arial"/>
                <a:cs typeface="Arial"/>
                <a:sym typeface="Arial"/>
              </a:rPr>
              <a:t> compares the rate maps of two different neurons as one map is shifted relative to the other. Peaks indicate displacements that bring their firing patterns into alignment.</a:t>
            </a:r>
            <a:endParaRPr sz="1800">
              <a:solidFill>
                <a:schemeClr val="dk1"/>
              </a:solidFill>
              <a:latin typeface="Calibri"/>
              <a:ea typeface="Calibri"/>
              <a:cs typeface="Calibri"/>
              <a:sym typeface="Calibri"/>
            </a:endParaRPr>
          </a:p>
        </p:txBody>
      </p:sp>
      <p:sp>
        <p:nvSpPr>
          <p:cNvPr id="299" name="Google Shape;299;p21"/>
          <p:cNvSpPr/>
          <p:nvPr/>
        </p:nvSpPr>
        <p:spPr>
          <a:xfrm>
            <a:off x="571500" y="23717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For neighboring grid cells, the cross-correlation retained a repeated arrangement but commonly placed its nearest peak away from the origin. That offset quantified a difference in spatial phase despite shared spacing and orientation.</a:t>
            </a:r>
            <a:endParaRPr sz="1800">
              <a:solidFill>
                <a:schemeClr val="dk1"/>
              </a:solidFill>
              <a:latin typeface="Calibri"/>
              <a:ea typeface="Calibri"/>
              <a:cs typeface="Calibri"/>
              <a:sym typeface="Calibri"/>
            </a:endParaRPr>
          </a:p>
        </p:txBody>
      </p:sp>
      <p:sp>
        <p:nvSpPr>
          <p:cNvPr id="300" name="Google Shape;300;p21"/>
          <p:cNvSpPr/>
          <p:nvPr/>
        </p:nvSpPr>
        <p:spPr>
          <a:xfrm>
            <a:off x="571500" y="38100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Cells at different recording locations could have different scales and orientations, producing less sharply aligned cross-correlations. The comparison measures similarity of spatial codes, not communication between the neurons. A correlated pattern can arise through common inputs without a direct synapse between the recorded cells.</a:t>
            </a:r>
            <a:endParaRPr sz="1800">
              <a:solidFill>
                <a:schemeClr val="dk1"/>
              </a:solidFill>
              <a:latin typeface="Calibri"/>
              <a:ea typeface="Calibri"/>
              <a:cs typeface="Calibri"/>
              <a:sym typeface="Calibri"/>
            </a:endParaRPr>
          </a:p>
        </p:txBody>
      </p:sp>
      <p:pic>
        <p:nvPicPr>
          <p:cNvPr id="301" name="Google Shape;301;p21"/>
          <p:cNvPicPr preferRelativeResize="0"/>
          <p:nvPr/>
        </p:nvPicPr>
        <p:blipFill rotWithShape="1">
          <a:blip r:embed="rId3">
            <a:alphaModFix/>
          </a:blip>
          <a:srcRect b="0" l="0" r="0" t="0"/>
          <a:stretch/>
        </p:blipFill>
        <p:spPr>
          <a:xfrm>
            <a:off x="6477000" y="2599721"/>
            <a:ext cx="3286125" cy="1325184"/>
          </a:xfrm>
          <a:prstGeom prst="rect">
            <a:avLst/>
          </a:prstGeom>
          <a:noFill/>
          <a:ln>
            <a:noFill/>
          </a:ln>
        </p:spPr>
      </p:pic>
      <p:sp>
        <p:nvSpPr>
          <p:cNvPr id="302" name="Google Shape;302;p21"/>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3(b). Spatial cross-correlations of neighboring cells.</a:t>
            </a:r>
            <a:endParaRPr sz="1800">
              <a:solidFill>
                <a:schemeClr val="dk1"/>
              </a:solidFill>
              <a:latin typeface="Calibri"/>
              <a:ea typeface="Calibri"/>
              <a:cs typeface="Calibri"/>
              <a:sym typeface="Calibri"/>
            </a:endParaRPr>
          </a:p>
        </p:txBody>
      </p:sp>
      <p:pic>
        <p:nvPicPr>
          <p:cNvPr id="303" name="Google Shape;303;p21"/>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304" name="Google Shape;304;p21"/>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305" name="Google Shape;305;p21"/>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306" name="Google Shape;306;p21"/>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0" name="Shape 310"/>
        <p:cNvGrpSpPr/>
        <p:nvPr/>
      </p:nvGrpSpPr>
      <p:grpSpPr>
        <a:xfrm>
          <a:off x="0" y="0"/>
          <a:ext cx="0" cy="0"/>
          <a:chOff x="0" y="0"/>
          <a:chExt cx="0" cy="0"/>
        </a:xfrm>
      </p:grpSpPr>
      <p:sp>
        <p:nvSpPr>
          <p:cNvPr id="311" name="Google Shape;311;p2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Different phases distribute activity across the arena</a:t>
            </a:r>
            <a:endParaRPr sz="1800">
              <a:solidFill>
                <a:schemeClr val="dk1"/>
              </a:solidFill>
              <a:latin typeface="Calibri"/>
              <a:ea typeface="Calibri"/>
              <a:cs typeface="Calibri"/>
              <a:sym typeface="Calibri"/>
            </a:endParaRPr>
          </a:p>
        </p:txBody>
      </p:sp>
      <p:sp>
        <p:nvSpPr>
          <p:cNvPr id="312" name="Google Shape;312;p22"/>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grid cell's periodic firing leaves locations where that particular cell is relatively inactive. Neighboring cells with different spatial phases place their fields in other regions while retaining similar metric properties.</a:t>
            </a:r>
            <a:endParaRPr sz="1800">
              <a:solidFill>
                <a:schemeClr val="dk1"/>
              </a:solidFill>
              <a:latin typeface="Calibri"/>
              <a:ea typeface="Calibri"/>
              <a:cs typeface="Calibri"/>
              <a:sym typeface="Calibri"/>
            </a:endParaRPr>
          </a:p>
        </p:txBody>
      </p:sp>
      <p:sp>
        <p:nvSpPr>
          <p:cNvPr id="313" name="Google Shape;313;p22"/>
          <p:cNvSpPr/>
          <p:nvPr/>
        </p:nvSpPr>
        <p:spPr>
          <a:xfrm>
            <a:off x="571500" y="23717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recorded population collectively covered the arena because field locations differed across cells. The observed phase differences were distributed across the available range rather than restricted to a single common alignment.</a:t>
            </a:r>
            <a:endParaRPr sz="1800">
              <a:solidFill>
                <a:schemeClr val="dk1"/>
              </a:solidFill>
              <a:latin typeface="Calibri"/>
              <a:ea typeface="Calibri"/>
              <a:cs typeface="Calibri"/>
              <a:sym typeface="Calibri"/>
            </a:endParaRPr>
          </a:p>
        </p:txBody>
      </p:sp>
      <p:sp>
        <p:nvSpPr>
          <p:cNvPr id="314" name="Google Shape;314;p22"/>
          <p:cNvSpPr/>
          <p:nvPr/>
        </p:nvSpPr>
        <p:spPr>
          <a:xfrm>
            <a:off x="571500" y="355282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Population coverage supports a code for location using combinations of active neurons. It does not establish that every location has a unique code in an arbitrarily large environment: periodic activity can repeat. Additional scales, starting-position information, or other inputs may be required to resolve such ambiguity.</a:t>
            </a:r>
            <a:endParaRPr sz="1800">
              <a:solidFill>
                <a:schemeClr val="dk1"/>
              </a:solidFill>
              <a:latin typeface="Calibri"/>
              <a:ea typeface="Calibri"/>
              <a:cs typeface="Calibri"/>
              <a:sym typeface="Calibri"/>
            </a:endParaRPr>
          </a:p>
        </p:txBody>
      </p:sp>
      <p:pic>
        <p:nvPicPr>
          <p:cNvPr id="315" name="Google Shape;315;p22"/>
          <p:cNvPicPr preferRelativeResize="0"/>
          <p:nvPr/>
        </p:nvPicPr>
        <p:blipFill rotWithShape="1">
          <a:blip r:embed="rId3">
            <a:alphaModFix/>
          </a:blip>
          <a:srcRect b="0" l="0" r="0" t="0"/>
          <a:stretch/>
        </p:blipFill>
        <p:spPr>
          <a:xfrm>
            <a:off x="6668064" y="1190625"/>
            <a:ext cx="2903997" cy="4143375"/>
          </a:xfrm>
          <a:prstGeom prst="rect">
            <a:avLst/>
          </a:prstGeom>
          <a:noFill/>
          <a:ln>
            <a:noFill/>
          </a:ln>
        </p:spPr>
      </p:pic>
      <p:sp>
        <p:nvSpPr>
          <p:cNvPr id="316" name="Google Shape;316;p22"/>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3(a–c). Spatial phases of neighboring grid cells.</a:t>
            </a:r>
            <a:endParaRPr sz="1800">
              <a:solidFill>
                <a:schemeClr val="dk1"/>
              </a:solidFill>
              <a:latin typeface="Calibri"/>
              <a:ea typeface="Calibri"/>
              <a:cs typeface="Calibri"/>
              <a:sym typeface="Calibri"/>
            </a:endParaRPr>
          </a:p>
        </p:txBody>
      </p:sp>
      <p:pic>
        <p:nvPicPr>
          <p:cNvPr id="317" name="Google Shape;317;p22"/>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318" name="Google Shape;318;p22"/>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319" name="Google Shape;319;p2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320" name="Google Shape;320;p22"/>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4" name="Shape 324"/>
        <p:cNvGrpSpPr/>
        <p:nvPr/>
      </p:nvGrpSpPr>
      <p:grpSpPr>
        <a:xfrm>
          <a:off x="0" y="0"/>
          <a:ext cx="0" cy="0"/>
          <a:chOff x="0" y="0"/>
          <a:chExt cx="0" cy="0"/>
        </a:xfrm>
      </p:grpSpPr>
      <p:sp>
        <p:nvSpPr>
          <p:cNvPr id="325" name="Google Shape;325;p2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Landmark rotation rotates the grid's reference frame</a:t>
            </a:r>
            <a:endParaRPr sz="1800">
              <a:solidFill>
                <a:schemeClr val="dk1"/>
              </a:solidFill>
              <a:latin typeface="Calibri"/>
              <a:ea typeface="Calibri"/>
              <a:cs typeface="Calibri"/>
              <a:sym typeface="Calibri"/>
            </a:endParaRPr>
          </a:p>
        </p:txBody>
      </p:sp>
      <p:sp>
        <p:nvSpPr>
          <p:cNvPr id="326" name="Google Shape;326;p23"/>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An </a:t>
            </a:r>
            <a:r>
              <a:rPr b="1" i="0" lang="en-US" sz="1500">
                <a:solidFill>
                  <a:srgbClr val="332925"/>
                </a:solidFill>
                <a:latin typeface="Arial"/>
                <a:ea typeface="Arial"/>
                <a:cs typeface="Arial"/>
                <a:sym typeface="Arial"/>
              </a:rPr>
              <a:t>external landmark</a:t>
            </a:r>
            <a:r>
              <a:rPr b="0" i="0" lang="en-US" sz="1500">
                <a:solidFill>
                  <a:srgbClr val="000000"/>
                </a:solidFill>
                <a:latin typeface="Arial"/>
                <a:ea typeface="Arial"/>
                <a:cs typeface="Arial"/>
                <a:sym typeface="Arial"/>
              </a:rPr>
              <a:t> is an environmental feature that can supply a stable spatial reference. Hafting and colleagues rotated a cue card by 90° and compared the grid before, during, and after the manipulation.</a:t>
            </a:r>
            <a:endParaRPr sz="1800">
              <a:solidFill>
                <a:schemeClr val="dk1"/>
              </a:solidFill>
              <a:latin typeface="Calibri"/>
              <a:ea typeface="Calibri"/>
              <a:cs typeface="Calibri"/>
              <a:sym typeface="Calibri"/>
            </a:endParaRPr>
          </a:p>
        </p:txBody>
      </p:sp>
      <p:sp>
        <p:nvSpPr>
          <p:cNvPr id="327" name="Google Shape;327;p23"/>
          <p:cNvSpPr/>
          <p:nvPr/>
        </p:nvSpPr>
        <p:spPr>
          <a:xfrm>
            <a:off x="571500" y="23717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Grid orientation changed with the cue, while the periodic organization was retained. Returning the card toward its original position restored the corresponding alignment, supporting control of the grid's directional reference by a visible environmental feature.</a:t>
            </a:r>
            <a:endParaRPr sz="1800">
              <a:solidFill>
                <a:schemeClr val="dk1"/>
              </a:solidFill>
              <a:latin typeface="Calibri"/>
              <a:ea typeface="Calibri"/>
              <a:cs typeface="Calibri"/>
              <a:sym typeface="Calibri"/>
            </a:endParaRPr>
          </a:p>
        </p:txBody>
      </p:sp>
      <p:sp>
        <p:nvSpPr>
          <p:cNvPr id="328" name="Google Shape;328;p23"/>
          <p:cNvSpPr/>
          <p:nvPr/>
        </p:nvSpPr>
        <p:spPr>
          <a:xfrm>
            <a:off x="571500" y="38100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result distinguishes the existence of periodic firing from its alignment to a particular room. It does not establish that vision generates the periodicity itself. The same lattice can retain its geometry while external cues determine how that lattice is oriented in the environment.</a:t>
            </a:r>
            <a:endParaRPr sz="1800">
              <a:solidFill>
                <a:schemeClr val="dk1"/>
              </a:solidFill>
              <a:latin typeface="Calibri"/>
              <a:ea typeface="Calibri"/>
              <a:cs typeface="Calibri"/>
              <a:sym typeface="Calibri"/>
            </a:endParaRPr>
          </a:p>
        </p:txBody>
      </p:sp>
      <p:pic>
        <p:nvPicPr>
          <p:cNvPr id="329" name="Google Shape;329;p23"/>
          <p:cNvPicPr preferRelativeResize="0"/>
          <p:nvPr/>
        </p:nvPicPr>
        <p:blipFill rotWithShape="1">
          <a:blip r:embed="rId3">
            <a:alphaModFix/>
          </a:blip>
          <a:srcRect b="0" l="0" r="0" t="0"/>
          <a:stretch/>
        </p:blipFill>
        <p:spPr>
          <a:xfrm>
            <a:off x="6477000" y="2249413"/>
            <a:ext cx="3286125" cy="2025799"/>
          </a:xfrm>
          <a:prstGeom prst="rect">
            <a:avLst/>
          </a:prstGeom>
          <a:noFill/>
          <a:ln>
            <a:noFill/>
          </a:ln>
        </p:spPr>
      </p:pic>
      <p:sp>
        <p:nvSpPr>
          <p:cNvPr id="330" name="Google Shape;330;p23"/>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4(a–d). Grid alignment during cue-card rotation.</a:t>
            </a:r>
            <a:endParaRPr sz="1800">
              <a:solidFill>
                <a:schemeClr val="dk1"/>
              </a:solidFill>
              <a:latin typeface="Calibri"/>
              <a:ea typeface="Calibri"/>
              <a:cs typeface="Calibri"/>
              <a:sym typeface="Calibri"/>
            </a:endParaRPr>
          </a:p>
        </p:txBody>
      </p:sp>
      <p:pic>
        <p:nvPicPr>
          <p:cNvPr id="331" name="Google Shape;331;p23"/>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332" name="Google Shape;332;p23"/>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333" name="Google Shape;333;p2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334" name="Google Shape;334;p23"/>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8" name="Shape 338"/>
        <p:cNvGrpSpPr/>
        <p:nvPr/>
      </p:nvGrpSpPr>
      <p:grpSpPr>
        <a:xfrm>
          <a:off x="0" y="0"/>
          <a:ext cx="0" cy="0"/>
          <a:chOff x="0" y="0"/>
          <a:chExt cx="0" cy="0"/>
        </a:xfrm>
      </p:grpSpPr>
      <p:sp>
        <p:nvSpPr>
          <p:cNvPr id="339" name="Google Shape;339;p24"/>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Grid periodicity persists when the lights go off</a:t>
            </a:r>
            <a:endParaRPr sz="1800">
              <a:solidFill>
                <a:schemeClr val="dk1"/>
              </a:solidFill>
              <a:latin typeface="Calibri"/>
              <a:ea typeface="Calibri"/>
              <a:cs typeface="Calibri"/>
              <a:sym typeface="Calibri"/>
            </a:endParaRPr>
          </a:p>
        </p:txBody>
      </p:sp>
      <p:sp>
        <p:nvSpPr>
          <p:cNvPr id="340" name="Google Shape;340;p24"/>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Hafting and colleagues recorded a grid cell during 10 min of light, 10 min of darkness, and a return to light. The animal remained in the recording environment during these changes.</a:t>
            </a:r>
            <a:endParaRPr sz="1800">
              <a:solidFill>
                <a:schemeClr val="dk1"/>
              </a:solidFill>
              <a:latin typeface="Calibri"/>
              <a:ea typeface="Calibri"/>
              <a:cs typeface="Calibri"/>
              <a:sym typeface="Calibri"/>
            </a:endParaRPr>
          </a:p>
        </p:txBody>
      </p:sp>
      <p:sp>
        <p:nvSpPr>
          <p:cNvPr id="341" name="Google Shape;341;p24"/>
          <p:cNvSpPr/>
          <p:nvPr/>
        </p:nvSpPr>
        <p:spPr>
          <a:xfrm>
            <a:off x="571500" y="23717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grid pattern persisted in darkness, although fields could become somewhat dispersed or displaced. </a:t>
            </a:r>
            <a:r>
              <a:rPr b="1" i="0" lang="en-US" sz="1500">
                <a:solidFill>
                  <a:srgbClr val="332925"/>
                </a:solidFill>
                <a:latin typeface="Arial"/>
                <a:ea typeface="Arial"/>
                <a:cs typeface="Arial"/>
                <a:sym typeface="Arial"/>
              </a:rPr>
              <a:t>Self-motion information</a:t>
            </a:r>
            <a:r>
              <a:rPr b="0" i="0" lang="en-US" sz="1500">
                <a:solidFill>
                  <a:srgbClr val="000000"/>
                </a:solidFill>
                <a:latin typeface="Arial"/>
                <a:ea typeface="Arial"/>
                <a:cs typeface="Arial"/>
                <a:sym typeface="Arial"/>
              </a:rPr>
              <a:t> comprises signals related to the animal's own movement, which remain available even when visual landmarks are absent.</a:t>
            </a:r>
            <a:endParaRPr sz="1800">
              <a:solidFill>
                <a:schemeClr val="dk1"/>
              </a:solidFill>
              <a:latin typeface="Calibri"/>
              <a:ea typeface="Calibri"/>
              <a:cs typeface="Calibri"/>
              <a:sym typeface="Calibri"/>
            </a:endParaRPr>
          </a:p>
        </p:txBody>
      </p:sp>
      <p:sp>
        <p:nvSpPr>
          <p:cNvPr id="342" name="Google Shape;342;p24"/>
          <p:cNvSpPr/>
          <p:nvPr/>
        </p:nvSpPr>
        <p:spPr>
          <a:xfrm>
            <a:off x="571500" y="38100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Persistence without vision is consistent with movement-based updating of location. Darkness does not remove every external cue: odors, touch, and environmental boundaries can remain available. The experiment therefore supports a contribution from self-motion without proving that the grid operates independently of all environmental information.</a:t>
            </a:r>
            <a:endParaRPr sz="1800">
              <a:solidFill>
                <a:schemeClr val="dk1"/>
              </a:solidFill>
              <a:latin typeface="Calibri"/>
              <a:ea typeface="Calibri"/>
              <a:cs typeface="Calibri"/>
              <a:sym typeface="Calibri"/>
            </a:endParaRPr>
          </a:p>
        </p:txBody>
      </p:sp>
      <p:pic>
        <p:nvPicPr>
          <p:cNvPr id="343" name="Google Shape;343;p24"/>
          <p:cNvPicPr preferRelativeResize="0"/>
          <p:nvPr/>
        </p:nvPicPr>
        <p:blipFill rotWithShape="1">
          <a:blip r:embed="rId3">
            <a:alphaModFix/>
          </a:blip>
          <a:srcRect b="0" l="0" r="0" t="0"/>
          <a:stretch/>
        </p:blipFill>
        <p:spPr>
          <a:xfrm>
            <a:off x="6477000" y="2201826"/>
            <a:ext cx="3286125" cy="2120973"/>
          </a:xfrm>
          <a:prstGeom prst="rect">
            <a:avLst/>
          </a:prstGeom>
          <a:noFill/>
          <a:ln>
            <a:noFill/>
          </a:ln>
        </p:spPr>
      </p:pic>
      <p:sp>
        <p:nvSpPr>
          <p:cNvPr id="344" name="Google Shape;344;p24"/>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5(a). Trajectory and rate maps across light conditions.</a:t>
            </a:r>
            <a:endParaRPr sz="1800">
              <a:solidFill>
                <a:schemeClr val="dk1"/>
              </a:solidFill>
              <a:latin typeface="Calibri"/>
              <a:ea typeface="Calibri"/>
              <a:cs typeface="Calibri"/>
              <a:sym typeface="Calibri"/>
            </a:endParaRPr>
          </a:p>
        </p:txBody>
      </p:sp>
      <p:pic>
        <p:nvPicPr>
          <p:cNvPr id="345" name="Google Shape;345;p24"/>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346" name="Google Shape;346;p24"/>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347" name="Google Shape;347;p24"/>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348" name="Google Shape;348;p24"/>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2" name="Shape 352"/>
        <p:cNvGrpSpPr/>
        <p:nvPr/>
      </p:nvGrpSpPr>
      <p:grpSpPr>
        <a:xfrm>
          <a:off x="0" y="0"/>
          <a:ext cx="0" cy="0"/>
          <a:chOff x="0" y="0"/>
          <a:chExt cx="0" cy="0"/>
        </a:xfrm>
      </p:grpSpPr>
      <p:sp>
        <p:nvSpPr>
          <p:cNvPr id="353" name="Google Shape;353;p25"/>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Path integration remains a supported mechanism</a:t>
            </a:r>
            <a:endParaRPr sz="1800">
              <a:solidFill>
                <a:schemeClr val="dk1"/>
              </a:solidFill>
              <a:latin typeface="Calibri"/>
              <a:ea typeface="Calibri"/>
              <a:cs typeface="Calibri"/>
              <a:sym typeface="Calibri"/>
            </a:endParaRPr>
          </a:p>
        </p:txBody>
      </p:sp>
      <p:sp>
        <p:nvSpPr>
          <p:cNvPr id="354" name="Google Shape;354;p25"/>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Path integration</a:t>
            </a:r>
            <a:r>
              <a:rPr b="0" i="0" lang="en-US" sz="1500">
                <a:solidFill>
                  <a:srgbClr val="000000"/>
                </a:solidFill>
                <a:latin typeface="Arial"/>
                <a:ea typeface="Arial"/>
                <a:cs typeface="Arial"/>
                <a:sym typeface="Arial"/>
              </a:rPr>
              <a:t> updates an estimate of location from movement since a reference position. A spatial code that persists in darkness is compatible with this computation because movement information can continue to update the estimate.</a:t>
            </a:r>
            <a:endParaRPr sz="1800">
              <a:solidFill>
                <a:schemeClr val="dk1"/>
              </a:solidFill>
              <a:latin typeface="Calibri"/>
              <a:ea typeface="Calibri"/>
              <a:cs typeface="Calibri"/>
              <a:sym typeface="Calibri"/>
            </a:endParaRPr>
          </a:p>
        </p:txBody>
      </p:sp>
      <p:sp>
        <p:nvSpPr>
          <p:cNvPr id="355" name="Google Shape;355;p25"/>
          <p:cNvSpPr/>
          <p:nvPr/>
        </p:nvSpPr>
        <p:spPr>
          <a:xfrm>
            <a:off x="571500" y="2628900"/>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Hafting and colleagues found no major change in grid spacing during visual deprivation. The preserved metric pattern contrasted with the ability of visible landmarks to change the grid's directional alignment.</a:t>
            </a:r>
            <a:endParaRPr sz="1800">
              <a:solidFill>
                <a:schemeClr val="dk1"/>
              </a:solidFill>
              <a:latin typeface="Calibri"/>
              <a:ea typeface="Calibri"/>
              <a:cs typeface="Calibri"/>
              <a:sym typeface="Calibri"/>
            </a:endParaRPr>
          </a:p>
        </p:txBody>
      </p:sp>
      <p:sp>
        <p:nvSpPr>
          <p:cNvPr id="356" name="Google Shape;356;p25"/>
          <p:cNvSpPr/>
          <p:nvPr/>
        </p:nvSpPr>
        <p:spPr>
          <a:xfrm>
            <a:off x="571500" y="3810000"/>
            <a:ext cx="5448300" cy="18002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combination supports a distinction between internally maintained geometry and external calibration. The recordings did not directly measure all movement signals or selectively remove them. Path integration was consequently a supported explanation of grid function, rather than a fully identified sequence of synaptic transformations established by the experiment.</a:t>
            </a:r>
            <a:endParaRPr sz="1800">
              <a:solidFill>
                <a:schemeClr val="dk1"/>
              </a:solidFill>
              <a:latin typeface="Calibri"/>
              <a:ea typeface="Calibri"/>
              <a:cs typeface="Calibri"/>
              <a:sym typeface="Calibri"/>
            </a:endParaRPr>
          </a:p>
        </p:txBody>
      </p:sp>
      <p:pic>
        <p:nvPicPr>
          <p:cNvPr id="357" name="Google Shape;357;p25"/>
          <p:cNvPicPr preferRelativeResize="0"/>
          <p:nvPr/>
        </p:nvPicPr>
        <p:blipFill rotWithShape="1">
          <a:blip r:embed="rId3">
            <a:alphaModFix/>
          </a:blip>
          <a:srcRect b="0" l="0" r="0" t="0"/>
          <a:stretch/>
        </p:blipFill>
        <p:spPr>
          <a:xfrm>
            <a:off x="6477000" y="1644831"/>
            <a:ext cx="3286125" cy="3234964"/>
          </a:xfrm>
          <a:prstGeom prst="rect">
            <a:avLst/>
          </a:prstGeom>
          <a:noFill/>
          <a:ln>
            <a:noFill/>
          </a:ln>
        </p:spPr>
      </p:pic>
      <p:sp>
        <p:nvSpPr>
          <p:cNvPr id="358" name="Google Shape;358;p25"/>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5(a–d). Grid activity during light and darkness.</a:t>
            </a:r>
            <a:endParaRPr sz="1800">
              <a:solidFill>
                <a:schemeClr val="dk1"/>
              </a:solidFill>
              <a:latin typeface="Calibri"/>
              <a:ea typeface="Calibri"/>
              <a:cs typeface="Calibri"/>
              <a:sym typeface="Calibri"/>
            </a:endParaRPr>
          </a:p>
        </p:txBody>
      </p:sp>
      <p:pic>
        <p:nvPicPr>
          <p:cNvPr id="359" name="Google Shape;359;p25"/>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360" name="Google Shape;360;p25"/>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361" name="Google Shape;361;p25"/>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362" name="Google Shape;362;p25"/>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6" name="Shape 366"/>
        <p:cNvGrpSpPr/>
        <p:nvPr/>
      </p:nvGrpSpPr>
      <p:grpSpPr>
        <a:xfrm>
          <a:off x="0" y="0"/>
          <a:ext cx="0" cy="0"/>
          <a:chOff x="0" y="0"/>
          <a:chExt cx="0" cy="0"/>
        </a:xfrm>
      </p:grpSpPr>
      <p:sp>
        <p:nvSpPr>
          <p:cNvPr id="367" name="Google Shape;367;p26"/>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Grid structure appears rapidly in a novel room</a:t>
            </a:r>
            <a:endParaRPr sz="1800">
              <a:solidFill>
                <a:schemeClr val="dk1"/>
              </a:solidFill>
              <a:latin typeface="Calibri"/>
              <a:ea typeface="Calibri"/>
              <a:cs typeface="Calibri"/>
              <a:sym typeface="Calibri"/>
            </a:endParaRPr>
          </a:p>
        </p:txBody>
      </p:sp>
      <p:sp>
        <p:nvSpPr>
          <p:cNvPr id="368" name="Google Shape;368;p26"/>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animals were tested in a familiar room, a novel room, and the familiar room again. Repeated firing fields were present early in the novel environment, rather than appearing only after prolonged experience with that particular room.</a:t>
            </a:r>
            <a:endParaRPr sz="1800">
              <a:solidFill>
                <a:schemeClr val="dk1"/>
              </a:solidFill>
              <a:latin typeface="Calibri"/>
              <a:ea typeface="Calibri"/>
              <a:cs typeface="Calibri"/>
              <a:sym typeface="Calibri"/>
            </a:endParaRPr>
          </a:p>
        </p:txBody>
      </p:sp>
      <p:sp>
        <p:nvSpPr>
          <p:cNvPr id="369" name="Google Shape;369;p26"/>
          <p:cNvSpPr/>
          <p:nvPr/>
        </p:nvSpPr>
        <p:spPr>
          <a:xfrm>
            <a:off x="571500" y="2628900"/>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Hafting and colleagues divided the novel-room trial into short blocks. Activity during the first 2 min already related to the spatial pattern measured near the end of the trial, while the pattern became more stable with exposure.</a:t>
            </a:r>
            <a:endParaRPr sz="1800">
              <a:solidFill>
                <a:schemeClr val="dk1"/>
              </a:solidFill>
              <a:latin typeface="Calibri"/>
              <a:ea typeface="Calibri"/>
              <a:cs typeface="Calibri"/>
              <a:sym typeface="Calibri"/>
            </a:endParaRPr>
          </a:p>
        </p:txBody>
      </p:sp>
      <p:sp>
        <p:nvSpPr>
          <p:cNvPr id="370" name="Google Shape;370;p26"/>
          <p:cNvSpPr/>
          <p:nvPr/>
        </p:nvSpPr>
        <p:spPr>
          <a:xfrm>
            <a:off x="571500" y="38100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Rapid expression supports transfer of a spatial organizing process across environments. It does not mean that landmark associations are already complete on entry. An available grid geometry and the stabilization of its alignment are separate aspects of the response.</a:t>
            </a:r>
            <a:endParaRPr sz="1800">
              <a:solidFill>
                <a:schemeClr val="dk1"/>
              </a:solidFill>
              <a:latin typeface="Calibri"/>
              <a:ea typeface="Calibri"/>
              <a:cs typeface="Calibri"/>
              <a:sym typeface="Calibri"/>
            </a:endParaRPr>
          </a:p>
        </p:txBody>
      </p:sp>
      <p:pic>
        <p:nvPicPr>
          <p:cNvPr id="371" name="Google Shape;371;p26"/>
          <p:cNvPicPr preferRelativeResize="0"/>
          <p:nvPr/>
        </p:nvPicPr>
        <p:blipFill rotWithShape="1">
          <a:blip r:embed="rId3">
            <a:alphaModFix/>
          </a:blip>
          <a:srcRect b="0" l="0" r="0" t="0"/>
          <a:stretch/>
        </p:blipFill>
        <p:spPr>
          <a:xfrm>
            <a:off x="6477000" y="1512432"/>
            <a:ext cx="3286125" cy="3499762"/>
          </a:xfrm>
          <a:prstGeom prst="rect">
            <a:avLst/>
          </a:prstGeom>
          <a:noFill/>
          <a:ln>
            <a:noFill/>
          </a:ln>
        </p:spPr>
      </p:pic>
      <p:sp>
        <p:nvSpPr>
          <p:cNvPr id="372" name="Google Shape;372;p26"/>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6(a). Spatial firing during novel-room exposure.</a:t>
            </a:r>
            <a:endParaRPr sz="1800">
              <a:solidFill>
                <a:schemeClr val="dk1"/>
              </a:solidFill>
              <a:latin typeface="Calibri"/>
              <a:ea typeface="Calibri"/>
              <a:cs typeface="Calibri"/>
              <a:sym typeface="Calibri"/>
            </a:endParaRPr>
          </a:p>
        </p:txBody>
      </p:sp>
      <p:pic>
        <p:nvPicPr>
          <p:cNvPr id="373" name="Google Shape;373;p26"/>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374" name="Google Shape;374;p26"/>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375" name="Google Shape;375;p26"/>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376" name="Google Shape;376;p26"/>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0" name="Shape 380"/>
        <p:cNvGrpSpPr/>
        <p:nvPr/>
      </p:nvGrpSpPr>
      <p:grpSpPr>
        <a:xfrm>
          <a:off x="0" y="0"/>
          <a:ext cx="0" cy="0"/>
          <a:chOff x="0" y="0"/>
          <a:chExt cx="0" cy="0"/>
        </a:xfrm>
      </p:grpSpPr>
      <p:sp>
        <p:nvSpPr>
          <p:cNvPr id="381" name="Google Shape;381;p27"/>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Experience stabilizes alignment without creating the lattice</a:t>
            </a:r>
            <a:endParaRPr sz="1800">
              <a:solidFill>
                <a:schemeClr val="dk1"/>
              </a:solidFill>
              <a:latin typeface="Calibri"/>
              <a:ea typeface="Calibri"/>
              <a:cs typeface="Calibri"/>
              <a:sym typeface="Calibri"/>
            </a:endParaRPr>
          </a:p>
        </p:txBody>
      </p:sp>
      <p:sp>
        <p:nvSpPr>
          <p:cNvPr id="382" name="Google Shape;382;p27"/>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novel-room rate maps became more consistent during continued exploration. Stability was measured by comparing firing at corresponding locations during earlier portions of a trial and its final portion.</a:t>
            </a:r>
            <a:endParaRPr sz="1800">
              <a:solidFill>
                <a:schemeClr val="dk1"/>
              </a:solidFill>
              <a:latin typeface="Calibri"/>
              <a:ea typeface="Calibri"/>
              <a:cs typeface="Calibri"/>
              <a:sym typeface="Calibri"/>
            </a:endParaRPr>
          </a:p>
        </p:txBody>
      </p:sp>
      <p:sp>
        <p:nvSpPr>
          <p:cNvPr id="383" name="Google Shape;383;p27"/>
          <p:cNvSpPr/>
          <p:nvPr/>
        </p:nvSpPr>
        <p:spPr>
          <a:xfrm>
            <a:off x="571500" y="23717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grid's orientation also differed between the familiar and novel rooms, while repeated familiar-room tests had much smaller changes. The same spatial organizing principle could therefore be expressed with room-specific alignment.</a:t>
            </a:r>
            <a:endParaRPr sz="1800">
              <a:solidFill>
                <a:schemeClr val="dk1"/>
              </a:solidFill>
              <a:latin typeface="Calibri"/>
              <a:ea typeface="Calibri"/>
              <a:cs typeface="Calibri"/>
              <a:sym typeface="Calibri"/>
            </a:endParaRPr>
          </a:p>
        </p:txBody>
      </p:sp>
      <p:sp>
        <p:nvSpPr>
          <p:cNvPr id="384" name="Google Shape;384;p27"/>
          <p:cNvSpPr/>
          <p:nvPr/>
        </p:nvSpPr>
        <p:spPr>
          <a:xfrm>
            <a:off x="571500" y="355282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authors proposed that learning establishes associations between landmarks and the grid's phase and orientation. That proposal accounts for gradual stabilization but does not identify a particular plasticity receptor or synapse. The study measured changes in spatial activity, not the molecular events that stored those associations.</a:t>
            </a:r>
            <a:endParaRPr sz="1800">
              <a:solidFill>
                <a:schemeClr val="dk1"/>
              </a:solidFill>
              <a:latin typeface="Calibri"/>
              <a:ea typeface="Calibri"/>
              <a:cs typeface="Calibri"/>
              <a:sym typeface="Calibri"/>
            </a:endParaRPr>
          </a:p>
        </p:txBody>
      </p:sp>
      <p:pic>
        <p:nvPicPr>
          <p:cNvPr id="385" name="Google Shape;385;p27"/>
          <p:cNvPicPr preferRelativeResize="0"/>
          <p:nvPr/>
        </p:nvPicPr>
        <p:blipFill rotWithShape="1">
          <a:blip r:embed="rId3">
            <a:alphaModFix/>
          </a:blip>
          <a:srcRect b="0" l="0" r="0" t="0"/>
          <a:stretch/>
        </p:blipFill>
        <p:spPr>
          <a:xfrm>
            <a:off x="6477000" y="2613274"/>
            <a:ext cx="3286125" cy="1298078"/>
          </a:xfrm>
          <a:prstGeom prst="rect">
            <a:avLst/>
          </a:prstGeom>
          <a:noFill/>
          <a:ln>
            <a:noFill/>
          </a:ln>
        </p:spPr>
      </p:pic>
      <p:sp>
        <p:nvSpPr>
          <p:cNvPr id="386" name="Google Shape;386;p27"/>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6(b,c). Rate-map stabilization across exploration.</a:t>
            </a:r>
            <a:endParaRPr sz="1800">
              <a:solidFill>
                <a:schemeClr val="dk1"/>
              </a:solidFill>
              <a:latin typeface="Calibri"/>
              <a:ea typeface="Calibri"/>
              <a:cs typeface="Calibri"/>
              <a:sym typeface="Calibri"/>
            </a:endParaRPr>
          </a:p>
        </p:txBody>
      </p:sp>
      <p:pic>
        <p:nvPicPr>
          <p:cNvPr id="387" name="Google Shape;387;p27"/>
          <p:cNvPicPr preferRelativeResize="0"/>
          <p:nvPr/>
        </p:nvPicPr>
        <p:blipFill rotWithShape="1">
          <a:blip r:embed="rId4">
            <a:alphaModFix/>
          </a:blip>
          <a:srcRect b="0" l="0" r="0" t="0"/>
          <a:stretch/>
        </p:blipFill>
        <p:spPr>
          <a:xfrm>
            <a:off x="10164705" y="2095500"/>
            <a:ext cx="1244715" cy="2524125"/>
          </a:xfrm>
          <a:prstGeom prst="rect">
            <a:avLst/>
          </a:prstGeom>
          <a:noFill/>
          <a:ln>
            <a:noFill/>
          </a:ln>
        </p:spPr>
      </p:pic>
      <p:sp>
        <p:nvSpPr>
          <p:cNvPr id="388" name="Google Shape;388;p27"/>
          <p:cNvSpPr/>
          <p:nvPr/>
        </p:nvSpPr>
        <p:spPr>
          <a:xfrm>
            <a:off x="10001250" y="471487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Hafting et al. (2005), Fig. 1(a). Nissl-stained rat entorhinal recording site.</a:t>
            </a:r>
            <a:endParaRPr sz="1800">
              <a:solidFill>
                <a:schemeClr val="dk1"/>
              </a:solidFill>
              <a:latin typeface="Calibri"/>
              <a:ea typeface="Calibri"/>
              <a:cs typeface="Calibri"/>
              <a:sym typeface="Calibri"/>
            </a:endParaRPr>
          </a:p>
        </p:txBody>
      </p:sp>
      <p:sp>
        <p:nvSpPr>
          <p:cNvPr id="389" name="Google Shape;389;p27"/>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Hafting et al. (2005)</a:t>
            </a:r>
            <a:endParaRPr sz="1800">
              <a:solidFill>
                <a:schemeClr val="dk1"/>
              </a:solidFill>
              <a:latin typeface="Calibri"/>
              <a:ea typeface="Calibri"/>
              <a:cs typeface="Calibri"/>
              <a:sym typeface="Calibri"/>
            </a:endParaRPr>
          </a:p>
        </p:txBody>
      </p:sp>
      <p:sp>
        <p:nvSpPr>
          <p:cNvPr id="390" name="Google Shape;390;p27"/>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4" name="Shape 394"/>
        <p:cNvGrpSpPr/>
        <p:nvPr/>
      </p:nvGrpSpPr>
      <p:grpSpPr>
        <a:xfrm>
          <a:off x="0" y="0"/>
          <a:ext cx="0" cy="0"/>
          <a:chOff x="0" y="0"/>
          <a:chExt cx="0" cy="0"/>
        </a:xfrm>
      </p:grpSpPr>
      <p:sp>
        <p:nvSpPr>
          <p:cNvPr id="395" name="Google Shape;395;p28"/>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HCN1 deletion tests a cellular contribution to grid scale</a:t>
            </a:r>
            <a:endParaRPr sz="1800">
              <a:solidFill>
                <a:schemeClr val="dk1"/>
              </a:solidFill>
              <a:latin typeface="Calibri"/>
              <a:ea typeface="Calibri"/>
              <a:cs typeface="Calibri"/>
              <a:sym typeface="Calibri"/>
            </a:endParaRPr>
          </a:p>
        </p:txBody>
      </p:sp>
      <p:sp>
        <p:nvSpPr>
          <p:cNvPr id="396" name="Google Shape;396;p28"/>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Giocomo and colleagues tested whether an ion-channel protein contributes to spatial scale by recording grid cells in mice with forebrain-restricted </a:t>
            </a:r>
            <a:r>
              <a:rPr b="1" i="0" lang="en-US" sz="1500">
                <a:solidFill>
                  <a:srgbClr val="332925"/>
                </a:solidFill>
                <a:latin typeface="Arial"/>
                <a:ea typeface="Arial"/>
                <a:cs typeface="Arial"/>
                <a:sym typeface="Arial"/>
              </a:rPr>
              <a:t>HCN1 knockout</a:t>
            </a:r>
            <a:r>
              <a:rPr b="0" i="0" lang="en-US" sz="1500">
                <a:solidFill>
                  <a:srgbClr val="000000"/>
                </a:solidFill>
                <a:latin typeface="Arial"/>
                <a:ea typeface="Arial"/>
                <a:cs typeface="Arial"/>
                <a:sym typeface="Arial"/>
              </a:rPr>
              <a:t>. A knockout removes functional expression of the targeted gene in the affected tissue.</a:t>
            </a:r>
            <a:endParaRPr sz="1800">
              <a:solidFill>
                <a:schemeClr val="dk1"/>
              </a:solidFill>
              <a:latin typeface="Calibri"/>
              <a:ea typeface="Calibri"/>
              <a:cs typeface="Calibri"/>
              <a:sym typeface="Calibri"/>
            </a:endParaRPr>
          </a:p>
        </p:txBody>
      </p:sp>
      <p:sp>
        <p:nvSpPr>
          <p:cNvPr id="397" name="Google Shape;397;p28"/>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Littermate controls provided a comparison for the genetic manipulation, and experimenters remained unaware of group identity during collection and preliminary analysis. Recordings sampled superficial medial entorhinal cortex while mice explored open fields.</a:t>
            </a:r>
            <a:endParaRPr sz="1800">
              <a:solidFill>
                <a:schemeClr val="dk1"/>
              </a:solidFill>
              <a:latin typeface="Calibri"/>
              <a:ea typeface="Calibri"/>
              <a:cs typeface="Calibri"/>
              <a:sym typeface="Calibri"/>
            </a:endParaRPr>
          </a:p>
        </p:txBody>
      </p:sp>
      <p:sp>
        <p:nvSpPr>
          <p:cNvPr id="398" name="Google Shape;398;p28"/>
          <p:cNvSpPr/>
          <p:nvPr/>
        </p:nvSpPr>
        <p:spPr>
          <a:xfrm>
            <a:off x="571500" y="406717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intervention moved beyond observing a scale gradient to altering a candidate molecular contributor. Because the deletion affected the forebrain rather than only recorded grid cells, the results cannot be assigned exclusively to a cell-autonomous action of HCN1 within each recorded neuron.</a:t>
            </a:r>
            <a:endParaRPr sz="1800">
              <a:solidFill>
                <a:schemeClr val="dk1"/>
              </a:solidFill>
              <a:latin typeface="Calibri"/>
              <a:ea typeface="Calibri"/>
              <a:cs typeface="Calibri"/>
              <a:sym typeface="Calibri"/>
            </a:endParaRPr>
          </a:p>
        </p:txBody>
      </p:sp>
      <p:pic>
        <p:nvPicPr>
          <p:cNvPr id="399" name="Google Shape;399;p28"/>
          <p:cNvPicPr preferRelativeResize="0"/>
          <p:nvPr/>
        </p:nvPicPr>
        <p:blipFill rotWithShape="1">
          <a:blip r:embed="rId3">
            <a:alphaModFix/>
          </a:blip>
          <a:srcRect b="0" l="0" r="0" t="0"/>
          <a:stretch/>
        </p:blipFill>
        <p:spPr>
          <a:xfrm>
            <a:off x="6655648" y="1190625"/>
            <a:ext cx="2928828" cy="4143375"/>
          </a:xfrm>
          <a:prstGeom prst="rect">
            <a:avLst/>
          </a:prstGeom>
          <a:noFill/>
          <a:ln>
            <a:noFill/>
          </a:ln>
        </p:spPr>
      </p:pic>
      <p:sp>
        <p:nvSpPr>
          <p:cNvPr id="400" name="Google Shape;400;p28"/>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1(B). Grid-cell patterns after HCN1 knockout.</a:t>
            </a:r>
            <a:endParaRPr sz="1800">
              <a:solidFill>
                <a:schemeClr val="dk1"/>
              </a:solidFill>
              <a:latin typeface="Calibri"/>
              <a:ea typeface="Calibri"/>
              <a:cs typeface="Calibri"/>
              <a:sym typeface="Calibri"/>
            </a:endParaRPr>
          </a:p>
        </p:txBody>
      </p:sp>
      <p:pic>
        <p:nvPicPr>
          <p:cNvPr id="401" name="Google Shape;401;p28"/>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402" name="Google Shape;402;p28"/>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403" name="Google Shape;403;p28"/>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404" name="Google Shape;404;p28"/>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8" name="Shape 408"/>
        <p:cNvGrpSpPr/>
        <p:nvPr/>
      </p:nvGrpSpPr>
      <p:grpSpPr>
        <a:xfrm>
          <a:off x="0" y="0"/>
          <a:ext cx="0" cy="0"/>
          <a:chOff x="0" y="0"/>
          <a:chExt cx="0" cy="0"/>
        </a:xfrm>
      </p:grpSpPr>
      <p:sp>
        <p:nvSpPr>
          <p:cNvPr id="409" name="Google Shape;409;p29"/>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HCN channels influence how neurons integrate input</a:t>
            </a:r>
            <a:endParaRPr sz="1800">
              <a:solidFill>
                <a:schemeClr val="dk1"/>
              </a:solidFill>
              <a:latin typeface="Calibri"/>
              <a:ea typeface="Calibri"/>
              <a:cs typeface="Calibri"/>
              <a:sym typeface="Calibri"/>
            </a:endParaRPr>
          </a:p>
        </p:txBody>
      </p:sp>
      <p:sp>
        <p:nvSpPr>
          <p:cNvPr id="410" name="Google Shape;410;p29"/>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HCN</a:t>
            </a:r>
            <a:r>
              <a:rPr b="0" i="0" lang="en-US" sz="1500">
                <a:solidFill>
                  <a:srgbClr val="000000"/>
                </a:solidFill>
                <a:latin typeface="Arial"/>
                <a:ea typeface="Arial"/>
                <a:cs typeface="Arial"/>
                <a:sym typeface="Arial"/>
              </a:rPr>
              <a:t> denotes hyperpolarization-activated cyclic nucleotide-gated channels. These channels conduct the inward cation current called </a:t>
            </a:r>
            <a:r>
              <a:rPr b="1" i="0" lang="en-US" sz="1500">
                <a:solidFill>
                  <a:srgbClr val="332925"/>
                </a:solidFill>
                <a:latin typeface="Arial"/>
                <a:ea typeface="Arial"/>
                <a:cs typeface="Arial"/>
                <a:sym typeface="Arial"/>
              </a:rPr>
              <a:t>Ih</a:t>
            </a:r>
            <a:r>
              <a:rPr b="0" i="0" lang="en-US" sz="1500">
                <a:solidFill>
                  <a:srgbClr val="000000"/>
                </a:solidFill>
                <a:latin typeface="Arial"/>
                <a:ea typeface="Arial"/>
                <a:cs typeface="Arial"/>
                <a:sym typeface="Arial"/>
              </a:rPr>
              <a:t> and influence membrane responses and the time over which inputs can interact.</a:t>
            </a:r>
            <a:endParaRPr sz="1800">
              <a:solidFill>
                <a:schemeClr val="dk1"/>
              </a:solidFill>
              <a:latin typeface="Calibri"/>
              <a:ea typeface="Calibri"/>
              <a:cs typeface="Calibri"/>
              <a:sym typeface="Calibri"/>
            </a:endParaRPr>
          </a:p>
        </p:txBody>
      </p:sp>
      <p:sp>
        <p:nvSpPr>
          <p:cNvPr id="411" name="Google Shape;411;p29"/>
          <p:cNvSpPr/>
          <p:nvPr/>
        </p:nvSpPr>
        <p:spPr>
          <a:xfrm>
            <a:off x="571500" y="23717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Giocomo and colleagues used prior cellular evidence that reducing HCN1 slows resonance and temporal integration in entorhinal layer II cells as the rationale for recording spatial activity after forebrain deletion. </a:t>
            </a:r>
            <a:r>
              <a:rPr b="1" i="0" lang="en-US" sz="1500">
                <a:solidFill>
                  <a:srgbClr val="332925"/>
                </a:solidFill>
                <a:latin typeface="Arial"/>
                <a:ea typeface="Arial"/>
                <a:cs typeface="Arial"/>
                <a:sym typeface="Arial"/>
              </a:rPr>
              <a:t>Temporal integration</a:t>
            </a:r>
            <a:r>
              <a:rPr b="0" i="0" lang="en-US" sz="1500">
                <a:solidFill>
                  <a:srgbClr val="000000"/>
                </a:solidFill>
                <a:latin typeface="Arial"/>
                <a:ea typeface="Arial"/>
                <a:cs typeface="Arial"/>
                <a:sym typeface="Arial"/>
              </a:rPr>
              <a:t> is the combination of inputs arriving at different times.</a:t>
            </a:r>
            <a:endParaRPr sz="1800">
              <a:solidFill>
                <a:schemeClr val="dk1"/>
              </a:solidFill>
              <a:latin typeface="Calibri"/>
              <a:ea typeface="Calibri"/>
              <a:cs typeface="Calibri"/>
              <a:sym typeface="Calibri"/>
            </a:endParaRPr>
          </a:p>
        </p:txBody>
      </p:sp>
      <p:sp>
        <p:nvSpPr>
          <p:cNvPr id="412" name="Google Shape;412;p29"/>
          <p:cNvSpPr/>
          <p:nvPr/>
        </p:nvSpPr>
        <p:spPr>
          <a:xfrm>
            <a:off x="571500" y="38100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knockout grid maps connect the channel intervention to altered spatial firing. They do not directly measure Ih in the same recorded grid cells. The relationship between membrane integration and the movement-to-space transformation remains a mechanistic interpretation constrained by the observed changes in scale.</a:t>
            </a:r>
            <a:endParaRPr sz="1800">
              <a:solidFill>
                <a:schemeClr val="dk1"/>
              </a:solidFill>
              <a:latin typeface="Calibri"/>
              <a:ea typeface="Calibri"/>
              <a:cs typeface="Calibri"/>
              <a:sym typeface="Calibri"/>
            </a:endParaRPr>
          </a:p>
        </p:txBody>
      </p:sp>
      <p:pic>
        <p:nvPicPr>
          <p:cNvPr id="413" name="Google Shape;413;p29"/>
          <p:cNvPicPr preferRelativeResize="0"/>
          <p:nvPr/>
        </p:nvPicPr>
        <p:blipFill rotWithShape="1">
          <a:blip r:embed="rId3">
            <a:alphaModFix/>
          </a:blip>
          <a:srcRect b="0" l="0" r="0" t="0"/>
          <a:stretch/>
        </p:blipFill>
        <p:spPr>
          <a:xfrm>
            <a:off x="6477000" y="1193442"/>
            <a:ext cx="3286125" cy="4137740"/>
          </a:xfrm>
          <a:prstGeom prst="rect">
            <a:avLst/>
          </a:prstGeom>
          <a:noFill/>
          <a:ln>
            <a:noFill/>
          </a:ln>
        </p:spPr>
      </p:pic>
      <p:sp>
        <p:nvSpPr>
          <p:cNvPr id="414" name="Google Shape;414;p29"/>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2(A). Grid patterns at several recording depths.</a:t>
            </a:r>
            <a:endParaRPr sz="1800">
              <a:solidFill>
                <a:schemeClr val="dk1"/>
              </a:solidFill>
              <a:latin typeface="Calibri"/>
              <a:ea typeface="Calibri"/>
              <a:cs typeface="Calibri"/>
              <a:sym typeface="Calibri"/>
            </a:endParaRPr>
          </a:p>
        </p:txBody>
      </p:sp>
      <p:pic>
        <p:nvPicPr>
          <p:cNvPr id="415" name="Google Shape;415;p29"/>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416" name="Google Shape;416;p29"/>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417" name="Google Shape;417;p29"/>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418" name="Google Shape;418;p29"/>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2" name="Shape 422"/>
        <p:cNvGrpSpPr/>
        <p:nvPr/>
      </p:nvGrpSpPr>
      <p:grpSpPr>
        <a:xfrm>
          <a:off x="0" y="0"/>
          <a:ext cx="0" cy="0"/>
          <a:chOff x="0" y="0"/>
          <a:chExt cx="0" cy="0"/>
        </a:xfrm>
      </p:grpSpPr>
      <p:sp>
        <p:nvSpPr>
          <p:cNvPr id="423" name="Google Shape;423;p30"/>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A large open field reveals the knockout grid pattern</a:t>
            </a:r>
            <a:endParaRPr sz="1800">
              <a:solidFill>
                <a:schemeClr val="dk1"/>
              </a:solidFill>
              <a:latin typeface="Calibri"/>
              <a:ea typeface="Calibri"/>
              <a:cs typeface="Calibri"/>
              <a:sym typeface="Calibri"/>
            </a:endParaRPr>
          </a:p>
        </p:txBody>
      </p:sp>
      <p:sp>
        <p:nvSpPr>
          <p:cNvPr id="424" name="Google Shape;424;p30"/>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Mice explored a 100 × 100 cm box and, in additional sessions, a 50 × 50 cm box. The larger environment provided sufficient extent to recognize repeated fields over the sampled dorsal-to-ventral recording range.</a:t>
            </a:r>
            <a:endParaRPr sz="1800">
              <a:solidFill>
                <a:schemeClr val="dk1"/>
              </a:solidFill>
              <a:latin typeface="Calibri"/>
              <a:ea typeface="Calibri"/>
              <a:cs typeface="Calibri"/>
              <a:sym typeface="Calibri"/>
            </a:endParaRPr>
          </a:p>
        </p:txBody>
      </p:sp>
      <p:sp>
        <p:nvSpPr>
          <p:cNvPr id="425" name="Google Shape;425;p30"/>
          <p:cNvSpPr/>
          <p:nvPr/>
        </p:nvSpPr>
        <p:spPr>
          <a:xfrm>
            <a:off x="571500" y="23717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smaller box supported measurements of boundary-related and head-direction activity, but did not reveal every grid's full periodicity. The researchers consequently based the principal grid-cell comparison on recordings from the larger environment.</a:t>
            </a:r>
            <a:endParaRPr sz="1800">
              <a:solidFill>
                <a:schemeClr val="dk1"/>
              </a:solidFill>
              <a:latin typeface="Calibri"/>
              <a:ea typeface="Calibri"/>
              <a:cs typeface="Calibri"/>
              <a:sym typeface="Calibri"/>
            </a:endParaRPr>
          </a:p>
        </p:txBody>
      </p:sp>
      <p:sp>
        <p:nvSpPr>
          <p:cNvPr id="426" name="Google Shape;426;p30"/>
          <p:cNvSpPr/>
          <p:nvPr/>
        </p:nvSpPr>
        <p:spPr>
          <a:xfrm>
            <a:off x="571500" y="38100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Arena dimensions determine how much of a spatial pattern can be sampled. Failure to recognize a lattice in a small box does not establish that a neuron lacks periodic activity. This control is particularly relevant when a manipulation enlarges spacing and reduces the number of visible fields.</a:t>
            </a:r>
            <a:endParaRPr sz="1800">
              <a:solidFill>
                <a:schemeClr val="dk1"/>
              </a:solidFill>
              <a:latin typeface="Calibri"/>
              <a:ea typeface="Calibri"/>
              <a:cs typeface="Calibri"/>
              <a:sym typeface="Calibri"/>
            </a:endParaRPr>
          </a:p>
        </p:txBody>
      </p:sp>
      <p:pic>
        <p:nvPicPr>
          <p:cNvPr id="427" name="Google Shape;427;p30"/>
          <p:cNvPicPr preferRelativeResize="0"/>
          <p:nvPr/>
        </p:nvPicPr>
        <p:blipFill rotWithShape="1">
          <a:blip r:embed="rId3">
            <a:alphaModFix/>
          </a:blip>
          <a:srcRect b="0" l="0" r="0" t="0"/>
          <a:stretch/>
        </p:blipFill>
        <p:spPr>
          <a:xfrm>
            <a:off x="6667069" y="1190625"/>
            <a:ext cx="2905987" cy="4143375"/>
          </a:xfrm>
          <a:prstGeom prst="rect">
            <a:avLst/>
          </a:prstGeom>
          <a:noFill/>
          <a:ln>
            <a:noFill/>
          </a:ln>
        </p:spPr>
      </p:pic>
      <p:sp>
        <p:nvSpPr>
          <p:cNvPr id="428" name="Google Shape;428;p30"/>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1(A). Control grid-cell rates and autocorrelations.</a:t>
            </a:r>
            <a:endParaRPr sz="1800">
              <a:solidFill>
                <a:schemeClr val="dk1"/>
              </a:solidFill>
              <a:latin typeface="Calibri"/>
              <a:ea typeface="Calibri"/>
              <a:cs typeface="Calibri"/>
              <a:sym typeface="Calibri"/>
            </a:endParaRPr>
          </a:p>
        </p:txBody>
      </p:sp>
      <p:pic>
        <p:nvPicPr>
          <p:cNvPr id="429" name="Google Shape;429;p30"/>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430" name="Google Shape;430;p30"/>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431" name="Google Shape;431;p30"/>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432" name="Google Shape;432;p30"/>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6" name="Shape 436"/>
        <p:cNvGrpSpPr/>
        <p:nvPr/>
      </p:nvGrpSpPr>
      <p:grpSpPr>
        <a:xfrm>
          <a:off x="0" y="0"/>
          <a:ext cx="0" cy="0"/>
          <a:chOff x="0" y="0"/>
          <a:chExt cx="0" cy="0"/>
        </a:xfrm>
      </p:grpSpPr>
      <p:sp>
        <p:nvSpPr>
          <p:cNvPr id="437" name="Google Shape;437;p31"/>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HCN1 knockout preserves periodic grid firing</a:t>
            </a:r>
            <a:endParaRPr sz="1800">
              <a:solidFill>
                <a:schemeClr val="dk1"/>
              </a:solidFill>
              <a:latin typeface="Calibri"/>
              <a:ea typeface="Calibri"/>
              <a:cs typeface="Calibri"/>
              <a:sym typeface="Calibri"/>
            </a:endParaRPr>
          </a:p>
        </p:txBody>
      </p:sp>
      <p:sp>
        <p:nvSpPr>
          <p:cNvPr id="438" name="Google Shape;438;p31"/>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Grid cells remained present after forebrain HCN1 deletion. Their rate maps and spatial autocorrelations retained repeated, approximately hexagonal organization, establishing that HCN1 was not required for every expression of the grid pattern.</a:t>
            </a:r>
            <a:endParaRPr sz="1800">
              <a:solidFill>
                <a:schemeClr val="dk1"/>
              </a:solidFill>
              <a:latin typeface="Calibri"/>
              <a:ea typeface="Calibri"/>
              <a:cs typeface="Calibri"/>
              <a:sym typeface="Calibri"/>
            </a:endParaRPr>
          </a:p>
        </p:txBody>
      </p:sp>
      <p:sp>
        <p:nvSpPr>
          <p:cNvPr id="439" name="Google Shape;439;p31"/>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Giocomo and colleagues compared observed spatial patterns with patterns obtained by shifting spike timing relative to the animal's path. This </a:t>
            </a:r>
            <a:r>
              <a:rPr b="1" i="0" lang="en-US" sz="1500">
                <a:solidFill>
                  <a:srgbClr val="332925"/>
                </a:solidFill>
                <a:latin typeface="Arial"/>
                <a:ea typeface="Arial"/>
                <a:cs typeface="Arial"/>
                <a:sym typeface="Arial"/>
              </a:rPr>
              <a:t>shuffle control</a:t>
            </a:r>
            <a:r>
              <a:rPr b="0" i="0" lang="en-US" sz="1500">
                <a:solidFill>
                  <a:srgbClr val="000000"/>
                </a:solidFill>
                <a:latin typeface="Arial"/>
                <a:ea typeface="Arial"/>
                <a:cs typeface="Arial"/>
                <a:sym typeface="Arial"/>
              </a:rPr>
              <a:t> preserves the spike sequence while disrupting its original association with position.</a:t>
            </a:r>
            <a:endParaRPr sz="1800">
              <a:solidFill>
                <a:schemeClr val="dk1"/>
              </a:solidFill>
              <a:latin typeface="Calibri"/>
              <a:ea typeface="Calibri"/>
              <a:cs typeface="Calibri"/>
              <a:sym typeface="Calibri"/>
            </a:endParaRPr>
          </a:p>
        </p:txBody>
      </p:sp>
      <p:sp>
        <p:nvSpPr>
          <p:cNvPr id="440" name="Google Shape;440;p31"/>
          <p:cNvSpPr/>
          <p:nvPr/>
        </p:nvSpPr>
        <p:spPr>
          <a:xfrm>
            <a:off x="571500" y="406717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Preserved periodicity separates generation of grid-like structure from regulation of its scale. The result does not establish that Ih has no contribution to the network: other HCN subunits, other intrinsic currents, and circuit interactions can remain after removal of HCN1.</a:t>
            </a:r>
            <a:endParaRPr sz="1800">
              <a:solidFill>
                <a:schemeClr val="dk1"/>
              </a:solidFill>
              <a:latin typeface="Calibri"/>
              <a:ea typeface="Calibri"/>
              <a:cs typeface="Calibri"/>
              <a:sym typeface="Calibri"/>
            </a:endParaRPr>
          </a:p>
        </p:txBody>
      </p:sp>
      <p:pic>
        <p:nvPicPr>
          <p:cNvPr id="441" name="Google Shape;441;p31"/>
          <p:cNvPicPr preferRelativeResize="0"/>
          <p:nvPr/>
        </p:nvPicPr>
        <p:blipFill rotWithShape="1">
          <a:blip r:embed="rId3">
            <a:alphaModFix/>
          </a:blip>
          <a:srcRect b="0" l="0" r="0" t="0"/>
          <a:stretch/>
        </p:blipFill>
        <p:spPr>
          <a:xfrm>
            <a:off x="6655648" y="1190625"/>
            <a:ext cx="2928828" cy="4143375"/>
          </a:xfrm>
          <a:prstGeom prst="rect">
            <a:avLst/>
          </a:prstGeom>
          <a:noFill/>
          <a:ln>
            <a:noFill/>
          </a:ln>
        </p:spPr>
      </p:pic>
      <p:sp>
        <p:nvSpPr>
          <p:cNvPr id="442" name="Google Shape;442;p31"/>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1(B). Grid-cell patterns after HCN1 knockout.</a:t>
            </a:r>
            <a:endParaRPr sz="1800">
              <a:solidFill>
                <a:schemeClr val="dk1"/>
              </a:solidFill>
              <a:latin typeface="Calibri"/>
              <a:ea typeface="Calibri"/>
              <a:cs typeface="Calibri"/>
              <a:sym typeface="Calibri"/>
            </a:endParaRPr>
          </a:p>
        </p:txBody>
      </p:sp>
      <p:pic>
        <p:nvPicPr>
          <p:cNvPr id="443" name="Google Shape;443;p31"/>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444" name="Google Shape;444;p31"/>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445" name="Google Shape;445;p31"/>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446" name="Google Shape;446;p31"/>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0" name="Shape 450"/>
        <p:cNvGrpSpPr/>
        <p:nvPr/>
      </p:nvGrpSpPr>
      <p:grpSpPr>
        <a:xfrm>
          <a:off x="0" y="0"/>
          <a:ext cx="0" cy="0"/>
          <a:chOff x="0" y="0"/>
          <a:chExt cx="0" cy="0"/>
        </a:xfrm>
      </p:grpSpPr>
      <p:sp>
        <p:nvSpPr>
          <p:cNvPr id="451" name="Google Shape;451;p3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Spatial spacing is larger after HCN1 deletion</a:t>
            </a:r>
            <a:endParaRPr sz="1800">
              <a:solidFill>
                <a:schemeClr val="dk1"/>
              </a:solidFill>
              <a:latin typeface="Calibri"/>
              <a:ea typeface="Calibri"/>
              <a:cs typeface="Calibri"/>
              <a:sym typeface="Calibri"/>
            </a:endParaRPr>
          </a:p>
        </p:txBody>
      </p:sp>
      <p:sp>
        <p:nvSpPr>
          <p:cNvPr id="452" name="Google Shape;452;p32"/>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Grid spacing was greater in knockout mice than in controls across the sampled anatomical positions. Giocomo and colleagues plotted spacing against distance from the dorsal border of medial entorhinal cortex.</a:t>
            </a:r>
            <a:endParaRPr sz="1800">
              <a:solidFill>
                <a:schemeClr val="dk1"/>
              </a:solidFill>
              <a:latin typeface="Calibri"/>
              <a:ea typeface="Calibri"/>
              <a:cs typeface="Calibri"/>
              <a:sym typeface="Calibri"/>
            </a:endParaRPr>
          </a:p>
        </p:txBody>
      </p:sp>
      <p:sp>
        <p:nvSpPr>
          <p:cNvPr id="453" name="Google Shape;453;p32"/>
          <p:cNvSpPr/>
          <p:nvPr/>
        </p:nvSpPr>
        <p:spPr>
          <a:xfrm>
            <a:off x="571500" y="23717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Comparing cells at similar anatomical levels reduced confusion between a genetic effect and the normal dorsal-to-ventral scale difference. The knockout relationship was shifted toward larger spacing while still increasing toward ventral positions.</a:t>
            </a:r>
            <a:endParaRPr sz="1800">
              <a:solidFill>
                <a:schemeClr val="dk1"/>
              </a:solidFill>
              <a:latin typeface="Calibri"/>
              <a:ea typeface="Calibri"/>
              <a:cs typeface="Calibri"/>
              <a:sym typeface="Calibri"/>
            </a:endParaRPr>
          </a:p>
        </p:txBody>
      </p:sp>
      <p:sp>
        <p:nvSpPr>
          <p:cNvPr id="454" name="Google Shape;454;p32"/>
          <p:cNvSpPr/>
          <p:nvPr/>
        </p:nvSpPr>
        <p:spPr>
          <a:xfrm>
            <a:off x="571500" y="38100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intervention establishes that HCN1 expression contributes to the normal range of spatial scale. It does not establish the exact synaptic calculation by which the channel changes spacing. The measured outcome is a change in the distance between activity fields, rather than disappearance of spatial coding.</a:t>
            </a:r>
            <a:endParaRPr sz="1800">
              <a:solidFill>
                <a:schemeClr val="dk1"/>
              </a:solidFill>
              <a:latin typeface="Calibri"/>
              <a:ea typeface="Calibri"/>
              <a:cs typeface="Calibri"/>
              <a:sym typeface="Calibri"/>
            </a:endParaRPr>
          </a:p>
        </p:txBody>
      </p:sp>
      <p:pic>
        <p:nvPicPr>
          <p:cNvPr id="455" name="Google Shape;455;p32"/>
          <p:cNvPicPr preferRelativeResize="0"/>
          <p:nvPr/>
        </p:nvPicPr>
        <p:blipFill rotWithShape="1">
          <a:blip r:embed="rId3">
            <a:alphaModFix/>
          </a:blip>
          <a:srcRect b="0" l="0" r="0" t="0"/>
          <a:stretch/>
        </p:blipFill>
        <p:spPr>
          <a:xfrm>
            <a:off x="7221954" y="1190625"/>
            <a:ext cx="1796217" cy="4143375"/>
          </a:xfrm>
          <a:prstGeom prst="rect">
            <a:avLst/>
          </a:prstGeom>
          <a:noFill/>
          <a:ln>
            <a:noFill/>
          </a:ln>
        </p:spPr>
      </p:pic>
      <p:sp>
        <p:nvSpPr>
          <p:cNvPr id="456" name="Google Shape;456;p32"/>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2(B,C). Grid spacing and field size versus depth.</a:t>
            </a:r>
            <a:endParaRPr sz="1800">
              <a:solidFill>
                <a:schemeClr val="dk1"/>
              </a:solidFill>
              <a:latin typeface="Calibri"/>
              <a:ea typeface="Calibri"/>
              <a:cs typeface="Calibri"/>
              <a:sym typeface="Calibri"/>
            </a:endParaRPr>
          </a:p>
        </p:txBody>
      </p:sp>
      <p:pic>
        <p:nvPicPr>
          <p:cNvPr id="457" name="Google Shape;457;p32"/>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458" name="Google Shape;458;p32"/>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459" name="Google Shape;459;p3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460" name="Google Shape;460;p32"/>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4" name="Shape 464"/>
        <p:cNvGrpSpPr/>
        <p:nvPr/>
      </p:nvGrpSpPr>
      <p:grpSpPr>
        <a:xfrm>
          <a:off x="0" y="0"/>
          <a:ext cx="0" cy="0"/>
          <a:chOff x="0" y="0"/>
          <a:chExt cx="0" cy="0"/>
        </a:xfrm>
      </p:grpSpPr>
      <p:sp>
        <p:nvSpPr>
          <p:cNvPr id="465" name="Google Shape;465;p3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Field size and spacing expand proportionately</a:t>
            </a:r>
            <a:endParaRPr sz="1800">
              <a:solidFill>
                <a:schemeClr val="dk1"/>
              </a:solidFill>
              <a:latin typeface="Calibri"/>
              <a:ea typeface="Calibri"/>
              <a:cs typeface="Calibri"/>
              <a:sym typeface="Calibri"/>
            </a:endParaRPr>
          </a:p>
        </p:txBody>
      </p:sp>
      <p:sp>
        <p:nvSpPr>
          <p:cNvPr id="466" name="Google Shape;466;p33"/>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HCN1 knockout enlarged both grid spacing and the size of individual fields. These two measurements distinguished distance between repeated peaks from the extent of each elevated firing region.</a:t>
            </a:r>
            <a:endParaRPr sz="1800">
              <a:solidFill>
                <a:schemeClr val="dk1"/>
              </a:solidFill>
              <a:latin typeface="Calibri"/>
              <a:ea typeface="Calibri"/>
              <a:cs typeface="Calibri"/>
              <a:sym typeface="Calibri"/>
            </a:endParaRPr>
          </a:p>
        </p:txBody>
      </p:sp>
      <p:sp>
        <p:nvSpPr>
          <p:cNvPr id="467" name="Google Shape;467;p33"/>
          <p:cNvSpPr/>
          <p:nvPr/>
        </p:nvSpPr>
        <p:spPr>
          <a:xfrm>
            <a:off x="571500" y="23717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reported spacing-to-field-size ratios were approximately 3.26 in controls and 3.32 after knockout. Their similarity supports coordinated expansion of the pattern rather than selective broadening of fields without a corresponding spacing change.</a:t>
            </a:r>
            <a:endParaRPr sz="1800">
              <a:solidFill>
                <a:schemeClr val="dk1"/>
              </a:solidFill>
              <a:latin typeface="Calibri"/>
              <a:ea typeface="Calibri"/>
              <a:cs typeface="Calibri"/>
              <a:sym typeface="Calibri"/>
            </a:endParaRPr>
          </a:p>
        </p:txBody>
      </p:sp>
      <p:sp>
        <p:nvSpPr>
          <p:cNvPr id="468" name="Google Shape;468;p33"/>
          <p:cNvSpPr/>
          <p:nvPr/>
        </p:nvSpPr>
        <p:spPr>
          <a:xfrm>
            <a:off x="571500" y="38100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proportionately enlarged grid represents a coarser metric pattern. It does not directly imply poorer behavioral performance or reduced ability to identify a location. The experiment quantified neuronal spatial firing during exploration, and that measurement must be distinguished from a separate test of navigational accuracy or memory.</a:t>
            </a:r>
            <a:endParaRPr sz="1800">
              <a:solidFill>
                <a:schemeClr val="dk1"/>
              </a:solidFill>
              <a:latin typeface="Calibri"/>
              <a:ea typeface="Calibri"/>
              <a:cs typeface="Calibri"/>
              <a:sym typeface="Calibri"/>
            </a:endParaRPr>
          </a:p>
        </p:txBody>
      </p:sp>
      <p:pic>
        <p:nvPicPr>
          <p:cNvPr id="469" name="Google Shape;469;p33"/>
          <p:cNvPicPr preferRelativeResize="0"/>
          <p:nvPr/>
        </p:nvPicPr>
        <p:blipFill rotWithShape="1">
          <a:blip r:embed="rId3">
            <a:alphaModFix/>
          </a:blip>
          <a:srcRect b="0" l="0" r="0" t="0"/>
          <a:stretch/>
        </p:blipFill>
        <p:spPr>
          <a:xfrm>
            <a:off x="7221954" y="1190625"/>
            <a:ext cx="1796217" cy="4143375"/>
          </a:xfrm>
          <a:prstGeom prst="rect">
            <a:avLst/>
          </a:prstGeom>
          <a:noFill/>
          <a:ln>
            <a:noFill/>
          </a:ln>
        </p:spPr>
      </p:pic>
      <p:sp>
        <p:nvSpPr>
          <p:cNvPr id="470" name="Google Shape;470;p33"/>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2(B,C). Grid spacing and field size versus depth.</a:t>
            </a:r>
            <a:endParaRPr sz="1800">
              <a:solidFill>
                <a:schemeClr val="dk1"/>
              </a:solidFill>
              <a:latin typeface="Calibri"/>
              <a:ea typeface="Calibri"/>
              <a:cs typeface="Calibri"/>
              <a:sym typeface="Calibri"/>
            </a:endParaRPr>
          </a:p>
        </p:txBody>
      </p:sp>
      <p:pic>
        <p:nvPicPr>
          <p:cNvPr id="471" name="Google Shape;471;p33"/>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472" name="Google Shape;472;p33"/>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473" name="Google Shape;473;p3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474" name="Google Shape;474;p33"/>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8" name="Shape 478"/>
        <p:cNvGrpSpPr/>
        <p:nvPr/>
      </p:nvGrpSpPr>
      <p:grpSpPr>
        <a:xfrm>
          <a:off x="0" y="0"/>
          <a:ext cx="0" cy="0"/>
          <a:chOff x="0" y="0"/>
          <a:chExt cx="0" cy="0"/>
        </a:xfrm>
      </p:grpSpPr>
      <p:sp>
        <p:nvSpPr>
          <p:cNvPr id="479" name="Google Shape;479;p34"/>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Histological matches strengthen the scale comparison</a:t>
            </a:r>
            <a:endParaRPr sz="1800">
              <a:solidFill>
                <a:schemeClr val="dk1"/>
              </a:solidFill>
              <a:latin typeface="Calibri"/>
              <a:ea typeface="Calibri"/>
              <a:cs typeface="Calibri"/>
              <a:sym typeface="Calibri"/>
            </a:endParaRPr>
          </a:p>
        </p:txBody>
      </p:sp>
      <p:sp>
        <p:nvSpPr>
          <p:cNvPr id="480" name="Google Shape;480;p34"/>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Giocomo and colleagues presented grid maps together with stained sections locating their recording sites. At similar distances from the dorsal entorhinal border, knockout examples had wider spacing than control examples.</a:t>
            </a:r>
            <a:endParaRPr sz="1800">
              <a:solidFill>
                <a:schemeClr val="dk1"/>
              </a:solidFill>
              <a:latin typeface="Calibri"/>
              <a:ea typeface="Calibri"/>
              <a:cs typeface="Calibri"/>
              <a:sym typeface="Calibri"/>
            </a:endParaRPr>
          </a:p>
        </p:txBody>
      </p:sp>
      <p:sp>
        <p:nvSpPr>
          <p:cNvPr id="481" name="Google Shape;481;p34"/>
          <p:cNvSpPr/>
          <p:nvPr/>
        </p:nvSpPr>
        <p:spPr>
          <a:xfrm>
            <a:off x="571500" y="23717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anatomical reconstruction used sagittal sections and cortical staining patterns to identify medial entorhinal cortex and its layers. </a:t>
            </a:r>
            <a:r>
              <a:rPr b="1" i="0" lang="en-US" sz="1500">
                <a:solidFill>
                  <a:srgbClr val="332925"/>
                </a:solidFill>
                <a:latin typeface="Arial"/>
                <a:ea typeface="Arial"/>
                <a:cs typeface="Arial"/>
                <a:sym typeface="Arial"/>
              </a:rPr>
              <a:t>Cytoarchitecture</a:t>
            </a:r>
            <a:r>
              <a:rPr b="0" i="0" lang="en-US" sz="1500">
                <a:solidFill>
                  <a:srgbClr val="000000"/>
                </a:solidFill>
                <a:latin typeface="Arial"/>
                <a:ea typeface="Arial"/>
                <a:cs typeface="Arial"/>
                <a:sym typeface="Arial"/>
              </a:rPr>
              <a:t> means the arrangement and appearance of cells used to distinguish tissue regions.</a:t>
            </a:r>
            <a:endParaRPr sz="1800">
              <a:solidFill>
                <a:schemeClr val="dk1"/>
              </a:solidFill>
              <a:latin typeface="Calibri"/>
              <a:ea typeface="Calibri"/>
              <a:cs typeface="Calibri"/>
              <a:sym typeface="Calibri"/>
            </a:endParaRPr>
          </a:p>
        </p:txBody>
      </p:sp>
      <p:sp>
        <p:nvSpPr>
          <p:cNvPr id="482" name="Google Shape;482;p34"/>
          <p:cNvSpPr/>
          <p:nvPr/>
        </p:nvSpPr>
        <p:spPr>
          <a:xfrm>
            <a:off x="571500" y="355282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Matching anatomical locations makes a scale difference less likely to arise solely from recording deeper in the knockout group. Histology verifies where electrodes sampled activity, but does not prove identical cellular composition at every site or restrict a forebrain genetic manipulation to the neurons recorded there.</a:t>
            </a:r>
            <a:endParaRPr sz="1800">
              <a:solidFill>
                <a:schemeClr val="dk1"/>
              </a:solidFill>
              <a:latin typeface="Calibri"/>
              <a:ea typeface="Calibri"/>
              <a:cs typeface="Calibri"/>
              <a:sym typeface="Calibri"/>
            </a:endParaRPr>
          </a:p>
        </p:txBody>
      </p:sp>
      <p:pic>
        <p:nvPicPr>
          <p:cNvPr id="483" name="Google Shape;483;p34"/>
          <p:cNvPicPr preferRelativeResize="0"/>
          <p:nvPr/>
        </p:nvPicPr>
        <p:blipFill rotWithShape="1">
          <a:blip r:embed="rId3">
            <a:alphaModFix/>
          </a:blip>
          <a:srcRect b="0" l="0" r="0" t="0"/>
          <a:stretch/>
        </p:blipFill>
        <p:spPr>
          <a:xfrm>
            <a:off x="6477000" y="1908762"/>
            <a:ext cx="3286125" cy="2707100"/>
          </a:xfrm>
          <a:prstGeom prst="rect">
            <a:avLst/>
          </a:prstGeom>
          <a:noFill/>
          <a:ln>
            <a:noFill/>
          </a:ln>
        </p:spPr>
      </p:pic>
      <p:sp>
        <p:nvSpPr>
          <p:cNvPr id="484" name="Google Shape;484;p34"/>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3(A,B). Grid fields and corresponding stained sections.</a:t>
            </a:r>
            <a:endParaRPr sz="1800">
              <a:solidFill>
                <a:schemeClr val="dk1"/>
              </a:solidFill>
              <a:latin typeface="Calibri"/>
              <a:ea typeface="Calibri"/>
              <a:cs typeface="Calibri"/>
              <a:sym typeface="Calibri"/>
            </a:endParaRPr>
          </a:p>
        </p:txBody>
      </p:sp>
      <p:pic>
        <p:nvPicPr>
          <p:cNvPr id="485" name="Google Shape;485;p34"/>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486" name="Google Shape;486;p34"/>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487" name="Google Shape;487;p34"/>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488" name="Google Shape;488;p34"/>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2" name="Shape 492"/>
        <p:cNvGrpSpPr/>
        <p:nvPr/>
      </p:nvGrpSpPr>
      <p:grpSpPr>
        <a:xfrm>
          <a:off x="0" y="0"/>
          <a:ext cx="0" cy="0"/>
          <a:chOff x="0" y="0"/>
          <a:chExt cx="0" cy="0"/>
        </a:xfrm>
      </p:grpSpPr>
      <p:sp>
        <p:nvSpPr>
          <p:cNvPr id="493" name="Google Shape;493;p35"/>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The dorsal-to-ventral scale gradient survives knockout</a:t>
            </a:r>
            <a:endParaRPr sz="1800">
              <a:solidFill>
                <a:schemeClr val="dk1"/>
              </a:solidFill>
              <a:latin typeface="Calibri"/>
              <a:ea typeface="Calibri"/>
              <a:cs typeface="Calibri"/>
              <a:sym typeface="Calibri"/>
            </a:endParaRPr>
          </a:p>
        </p:txBody>
      </p:sp>
      <p:sp>
        <p:nvSpPr>
          <p:cNvPr id="494" name="Google Shape;494;p35"/>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Within a single knockout animal, grid spacing still increased as recording locations progressed away from the dorsal border. Giocomo and colleagues used this within-animal series to test whether HCN1 deletion abolished the anatomical organization of scale.</a:t>
            </a:r>
            <a:endParaRPr sz="1800">
              <a:solidFill>
                <a:schemeClr val="dk1"/>
              </a:solidFill>
              <a:latin typeface="Calibri"/>
              <a:ea typeface="Calibri"/>
              <a:cs typeface="Calibri"/>
              <a:sym typeface="Calibri"/>
            </a:endParaRPr>
          </a:p>
        </p:txBody>
      </p:sp>
      <p:sp>
        <p:nvSpPr>
          <p:cNvPr id="495" name="Google Shape;495;p35"/>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persistence of a gradient distinguished a general expansion of the scale range from loss of topographic organization. </a:t>
            </a:r>
            <a:r>
              <a:rPr b="1" i="0" lang="en-US" sz="1500">
                <a:solidFill>
                  <a:srgbClr val="332925"/>
                </a:solidFill>
                <a:latin typeface="Arial"/>
                <a:ea typeface="Arial"/>
                <a:cs typeface="Arial"/>
                <a:sym typeface="Arial"/>
              </a:rPr>
              <a:t>Topography</a:t>
            </a:r>
            <a:r>
              <a:rPr b="0" i="0" lang="en-US" sz="1500">
                <a:solidFill>
                  <a:srgbClr val="000000"/>
                </a:solidFill>
                <a:latin typeface="Arial"/>
                <a:ea typeface="Arial"/>
                <a:cs typeface="Arial"/>
                <a:sym typeface="Arial"/>
              </a:rPr>
              <a:t> is the systematic relationship between anatomical position and a measured functional property.</a:t>
            </a:r>
            <a:endParaRPr sz="1800">
              <a:solidFill>
                <a:schemeClr val="dk1"/>
              </a:solidFill>
              <a:latin typeface="Calibri"/>
              <a:ea typeface="Calibri"/>
              <a:cs typeface="Calibri"/>
              <a:sym typeface="Calibri"/>
            </a:endParaRPr>
          </a:p>
        </p:txBody>
      </p:sp>
      <p:sp>
        <p:nvSpPr>
          <p:cNvPr id="496" name="Google Shape;496;p35"/>
          <p:cNvSpPr/>
          <p:nvPr/>
        </p:nvSpPr>
        <p:spPr>
          <a:xfrm>
            <a:off x="571500" y="4067175"/>
            <a:ext cx="5448300" cy="18002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HCN1 therefore contributed to scale without providing the sole determinant of the dorsal-to-ventral relationship. Other cellular properties and circuit mechanisms remained possible contributors. The surviving gradient does not identify which of them is responsible, and it should not be attributed to a specific remaining current without additional measurements.</a:t>
            </a:r>
            <a:endParaRPr sz="1800">
              <a:solidFill>
                <a:schemeClr val="dk1"/>
              </a:solidFill>
              <a:latin typeface="Calibri"/>
              <a:ea typeface="Calibri"/>
              <a:cs typeface="Calibri"/>
              <a:sym typeface="Calibri"/>
            </a:endParaRPr>
          </a:p>
        </p:txBody>
      </p:sp>
      <p:pic>
        <p:nvPicPr>
          <p:cNvPr id="497" name="Google Shape;497;p35"/>
          <p:cNvPicPr preferRelativeResize="0"/>
          <p:nvPr/>
        </p:nvPicPr>
        <p:blipFill rotWithShape="1">
          <a:blip r:embed="rId3">
            <a:alphaModFix/>
          </a:blip>
          <a:srcRect b="0" l="0" r="0" t="0"/>
          <a:stretch/>
        </p:blipFill>
        <p:spPr>
          <a:xfrm>
            <a:off x="7446354" y="1190625"/>
            <a:ext cx="1347417" cy="4143375"/>
          </a:xfrm>
          <a:prstGeom prst="rect">
            <a:avLst/>
          </a:prstGeom>
          <a:noFill/>
          <a:ln>
            <a:noFill/>
          </a:ln>
        </p:spPr>
      </p:pic>
      <p:sp>
        <p:nvSpPr>
          <p:cNvPr id="498" name="Google Shape;498;p35"/>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4(A). Grid patterns along one knockout recording series.</a:t>
            </a:r>
            <a:endParaRPr sz="1800">
              <a:solidFill>
                <a:schemeClr val="dk1"/>
              </a:solidFill>
              <a:latin typeface="Calibri"/>
              <a:ea typeface="Calibri"/>
              <a:cs typeface="Calibri"/>
              <a:sym typeface="Calibri"/>
            </a:endParaRPr>
          </a:p>
        </p:txBody>
      </p:sp>
      <p:pic>
        <p:nvPicPr>
          <p:cNvPr id="499" name="Google Shape;499;p35"/>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500" name="Google Shape;500;p35"/>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501" name="Google Shape;501;p35"/>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502" name="Google Shape;502;p35"/>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6" name="Shape 506"/>
        <p:cNvGrpSpPr/>
        <p:nvPr/>
      </p:nvGrpSpPr>
      <p:grpSpPr>
        <a:xfrm>
          <a:off x="0" y="0"/>
          <a:ext cx="0" cy="0"/>
          <a:chOff x="0" y="0"/>
          <a:chExt cx="0" cy="0"/>
        </a:xfrm>
      </p:grpSpPr>
      <p:sp>
        <p:nvSpPr>
          <p:cNvPr id="507" name="Google Shape;507;p36"/>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Slower theta timing accompanies larger grid spacing</a:t>
            </a:r>
            <a:endParaRPr sz="1800">
              <a:solidFill>
                <a:schemeClr val="dk1"/>
              </a:solidFill>
              <a:latin typeface="Calibri"/>
              <a:ea typeface="Calibri"/>
              <a:cs typeface="Calibri"/>
              <a:sym typeface="Calibri"/>
            </a:endParaRPr>
          </a:p>
        </p:txBody>
      </p:sp>
      <p:sp>
        <p:nvSpPr>
          <p:cNvPr id="508" name="Google Shape;508;p36"/>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Theta modulation</a:t>
            </a:r>
            <a:r>
              <a:rPr b="0" i="0" lang="en-US" sz="1500">
                <a:solidFill>
                  <a:srgbClr val="000000"/>
                </a:solidFill>
                <a:latin typeface="Arial"/>
                <a:ea typeface="Arial"/>
                <a:cs typeface="Arial"/>
                <a:sym typeface="Arial"/>
              </a:rPr>
              <a:t> is a recurring change in neuronal firing associated with a low-frequency rhythm. Giocomo and colleagues compared spike-time autocorrelations of grid cells in control and knockout mice.</a:t>
            </a:r>
            <a:endParaRPr sz="1800">
              <a:solidFill>
                <a:schemeClr val="dk1"/>
              </a:solidFill>
              <a:latin typeface="Calibri"/>
              <a:ea typeface="Calibri"/>
              <a:cs typeface="Calibri"/>
              <a:sym typeface="Calibri"/>
            </a:endParaRPr>
          </a:p>
        </p:txBody>
      </p:sp>
      <p:sp>
        <p:nvSpPr>
          <p:cNvPr id="509" name="Google Shape;509;p36"/>
          <p:cNvSpPr/>
          <p:nvPr/>
        </p:nvSpPr>
        <p:spPr>
          <a:xfrm>
            <a:off x="571500" y="23717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typical interval between theta-related peaks was longer after knockout: the reported values were 108.1 ms in controls and 114.4 ms in knockout grid cells. The enlarged spatial pattern therefore accompanied a slower recurring timescale of firing.</a:t>
            </a:r>
            <a:endParaRPr sz="1800">
              <a:solidFill>
                <a:schemeClr val="dk1"/>
              </a:solidFill>
              <a:latin typeface="Calibri"/>
              <a:ea typeface="Calibri"/>
              <a:cs typeface="Calibri"/>
              <a:sym typeface="Calibri"/>
            </a:endParaRPr>
          </a:p>
        </p:txBody>
      </p:sp>
      <p:sp>
        <p:nvSpPr>
          <p:cNvPr id="510" name="Google Shape;510;p36"/>
          <p:cNvSpPr/>
          <p:nvPr/>
        </p:nvSpPr>
        <p:spPr>
          <a:xfrm>
            <a:off x="571500" y="38100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a:t>
            </a:r>
            <a:r>
              <a:rPr b="1" i="0" lang="en-US" sz="1500">
                <a:solidFill>
                  <a:srgbClr val="332925"/>
                </a:solidFill>
                <a:latin typeface="Arial"/>
                <a:ea typeface="Arial"/>
                <a:cs typeface="Arial"/>
                <a:sym typeface="Arial"/>
              </a:rPr>
              <a:t>temporal autocorrelation</a:t>
            </a:r>
            <a:r>
              <a:rPr b="0" i="0" lang="en-US" sz="1500">
                <a:solidFill>
                  <a:srgbClr val="000000"/>
                </a:solidFill>
                <a:latin typeface="Arial"/>
                <a:ea typeface="Arial"/>
                <a:cs typeface="Arial"/>
                <a:sym typeface="Arial"/>
              </a:rPr>
              <a:t> measures how often spikes recur at different time lags. It does not measure the physical spacing of fields. The association between slower timing and wider spacing constrains proposed mechanisms, but correlation of the two outcomes does not by itself establish which one causes the other.</a:t>
            </a:r>
            <a:endParaRPr sz="1800">
              <a:solidFill>
                <a:schemeClr val="dk1"/>
              </a:solidFill>
              <a:latin typeface="Calibri"/>
              <a:ea typeface="Calibri"/>
              <a:cs typeface="Calibri"/>
              <a:sym typeface="Calibri"/>
            </a:endParaRPr>
          </a:p>
        </p:txBody>
      </p:sp>
      <p:pic>
        <p:nvPicPr>
          <p:cNvPr id="511" name="Google Shape;511;p36"/>
          <p:cNvPicPr preferRelativeResize="0"/>
          <p:nvPr/>
        </p:nvPicPr>
        <p:blipFill rotWithShape="1">
          <a:blip r:embed="rId3">
            <a:alphaModFix/>
          </a:blip>
          <a:srcRect b="0" l="0" r="0" t="0"/>
          <a:stretch/>
        </p:blipFill>
        <p:spPr>
          <a:xfrm>
            <a:off x="7110187" y="1190625"/>
            <a:ext cx="2019751" cy="4143375"/>
          </a:xfrm>
          <a:prstGeom prst="rect">
            <a:avLst/>
          </a:prstGeom>
          <a:noFill/>
          <a:ln>
            <a:noFill/>
          </a:ln>
        </p:spPr>
      </p:pic>
      <p:sp>
        <p:nvSpPr>
          <p:cNvPr id="512" name="Google Shape;512;p36"/>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5(A). Spike-time and spatial autocorrelations.</a:t>
            </a:r>
            <a:endParaRPr sz="1800">
              <a:solidFill>
                <a:schemeClr val="dk1"/>
              </a:solidFill>
              <a:latin typeface="Calibri"/>
              <a:ea typeface="Calibri"/>
              <a:cs typeface="Calibri"/>
              <a:sym typeface="Calibri"/>
            </a:endParaRPr>
          </a:p>
        </p:txBody>
      </p:sp>
      <p:pic>
        <p:nvPicPr>
          <p:cNvPr id="513" name="Google Shape;513;p36"/>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514" name="Google Shape;514;p36"/>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515" name="Google Shape;515;p36"/>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516" name="Google Shape;516;p36"/>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0" name="Shape 520"/>
        <p:cNvGrpSpPr/>
        <p:nvPr/>
      </p:nvGrpSpPr>
      <p:grpSpPr>
        <a:xfrm>
          <a:off x="0" y="0"/>
          <a:ext cx="0" cy="0"/>
          <a:chOff x="0" y="0"/>
          <a:chExt cx="0" cy="0"/>
        </a:xfrm>
      </p:grpSpPr>
      <p:sp>
        <p:nvSpPr>
          <p:cNvPr id="521" name="Google Shape;521;p37"/>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Running speed changes the timing comparison</a:t>
            </a:r>
            <a:endParaRPr sz="1800">
              <a:solidFill>
                <a:schemeClr val="dk1"/>
              </a:solidFill>
              <a:latin typeface="Calibri"/>
              <a:ea typeface="Calibri"/>
              <a:cs typeface="Calibri"/>
              <a:sym typeface="Calibri"/>
            </a:endParaRPr>
          </a:p>
        </p:txBody>
      </p:sp>
      <p:sp>
        <p:nvSpPr>
          <p:cNvPr id="522" name="Google Shape;522;p37"/>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Movement speed can influence theta-related activity, so Giocomo and colleagues compared groups across speed ranges. At 20–30 cm/s, the reported theta-related spike intervals were 101.4 ms in controls and 112.4 ms after HCN1 knockout.</a:t>
            </a:r>
            <a:endParaRPr sz="1800">
              <a:solidFill>
                <a:schemeClr val="dk1"/>
              </a:solidFill>
              <a:latin typeface="Calibri"/>
              <a:ea typeface="Calibri"/>
              <a:cs typeface="Calibri"/>
              <a:sym typeface="Calibri"/>
            </a:endParaRPr>
          </a:p>
        </p:txBody>
      </p:sp>
      <p:sp>
        <p:nvSpPr>
          <p:cNvPr id="523" name="Google Shape;523;p37"/>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difference remained at comparable speeds, reducing an explanation based entirely on the knockout animals' faster average movement. The speed comparison separated a behavioral covariate from the genetic change in neuronal timing.</a:t>
            </a:r>
            <a:endParaRPr sz="1800">
              <a:solidFill>
                <a:schemeClr val="dk1"/>
              </a:solidFill>
              <a:latin typeface="Calibri"/>
              <a:ea typeface="Calibri"/>
              <a:cs typeface="Calibri"/>
              <a:sym typeface="Calibri"/>
            </a:endParaRPr>
          </a:p>
        </p:txBody>
      </p:sp>
      <p:sp>
        <p:nvSpPr>
          <p:cNvPr id="524" name="Google Shape;524;p37"/>
          <p:cNvSpPr/>
          <p:nvPr/>
        </p:nvSpPr>
        <p:spPr>
          <a:xfrm>
            <a:off x="571500" y="406717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result is consistent with altered coupling between movement and the spatial code. It does not establish that the channel directly detects speed. HCN1 influences neuronal integration, while the origin and routing of velocity-related inputs require separate circuit measurements.</a:t>
            </a:r>
            <a:endParaRPr sz="1800">
              <a:solidFill>
                <a:schemeClr val="dk1"/>
              </a:solidFill>
              <a:latin typeface="Calibri"/>
              <a:ea typeface="Calibri"/>
              <a:cs typeface="Calibri"/>
              <a:sym typeface="Calibri"/>
            </a:endParaRPr>
          </a:p>
        </p:txBody>
      </p:sp>
      <p:pic>
        <p:nvPicPr>
          <p:cNvPr id="525" name="Google Shape;525;p37"/>
          <p:cNvPicPr preferRelativeResize="0"/>
          <p:nvPr/>
        </p:nvPicPr>
        <p:blipFill rotWithShape="1">
          <a:blip r:embed="rId3">
            <a:alphaModFix/>
          </a:blip>
          <a:srcRect b="0" l="0" r="0" t="0"/>
          <a:stretch/>
        </p:blipFill>
        <p:spPr>
          <a:xfrm>
            <a:off x="6477000" y="2455351"/>
            <a:ext cx="3286125" cy="1613922"/>
          </a:xfrm>
          <a:prstGeom prst="rect">
            <a:avLst/>
          </a:prstGeom>
          <a:noFill/>
          <a:ln>
            <a:noFill/>
          </a:ln>
        </p:spPr>
      </p:pic>
      <p:sp>
        <p:nvSpPr>
          <p:cNvPr id="526" name="Google Shape;526;p37"/>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5(B,C). Theta timing and speed modulation.</a:t>
            </a:r>
            <a:endParaRPr sz="1800">
              <a:solidFill>
                <a:schemeClr val="dk1"/>
              </a:solidFill>
              <a:latin typeface="Calibri"/>
              <a:ea typeface="Calibri"/>
              <a:cs typeface="Calibri"/>
              <a:sym typeface="Calibri"/>
            </a:endParaRPr>
          </a:p>
        </p:txBody>
      </p:sp>
      <p:pic>
        <p:nvPicPr>
          <p:cNvPr id="527" name="Google Shape;527;p37"/>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528" name="Google Shape;528;p37"/>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529" name="Google Shape;529;p37"/>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530" name="Google Shape;530;p37"/>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4" name="Shape 534"/>
        <p:cNvGrpSpPr/>
        <p:nvPr/>
      </p:nvGrpSpPr>
      <p:grpSpPr>
        <a:xfrm>
          <a:off x="0" y="0"/>
          <a:ext cx="0" cy="0"/>
          <a:chOff x="0" y="0"/>
          <a:chExt cx="0" cy="0"/>
        </a:xfrm>
      </p:grpSpPr>
      <p:sp>
        <p:nvSpPr>
          <p:cNvPr id="535" name="Google Shape;535;p38"/>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Local-field theta and single-cell timing are distinct</a:t>
            </a:r>
            <a:endParaRPr sz="1800">
              <a:solidFill>
                <a:schemeClr val="dk1"/>
              </a:solidFill>
              <a:latin typeface="Calibri"/>
              <a:ea typeface="Calibri"/>
              <a:cs typeface="Calibri"/>
              <a:sym typeface="Calibri"/>
            </a:endParaRPr>
          </a:p>
        </p:txBody>
      </p:sp>
      <p:sp>
        <p:nvSpPr>
          <p:cNvPr id="536" name="Google Shape;536;p38"/>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a:t>
            </a:r>
            <a:r>
              <a:rPr b="1" i="0" lang="en-US" sz="1500">
                <a:solidFill>
                  <a:srgbClr val="332925"/>
                </a:solidFill>
                <a:latin typeface="Arial"/>
                <a:ea typeface="Arial"/>
                <a:cs typeface="Arial"/>
                <a:sym typeface="Arial"/>
              </a:rPr>
              <a:t>local field potential</a:t>
            </a:r>
            <a:r>
              <a:rPr b="0" i="0" lang="en-US" sz="1500">
                <a:solidFill>
                  <a:srgbClr val="000000"/>
                </a:solidFill>
                <a:latin typeface="Arial"/>
                <a:ea typeface="Arial"/>
                <a:cs typeface="Arial"/>
                <a:sym typeface="Arial"/>
              </a:rPr>
              <a:t> is the extracellular voltage produced by coordinated activity in nearby tissue. Its theta frequency differs from the frequency inferred from repeated spikes of one neuron.</a:t>
            </a:r>
            <a:endParaRPr sz="1800">
              <a:solidFill>
                <a:schemeClr val="dk1"/>
              </a:solidFill>
              <a:latin typeface="Calibri"/>
              <a:ea typeface="Calibri"/>
              <a:cs typeface="Calibri"/>
              <a:sym typeface="Calibri"/>
            </a:endParaRPr>
          </a:p>
        </p:txBody>
      </p:sp>
      <p:sp>
        <p:nvSpPr>
          <p:cNvPr id="537" name="Google Shape;537;p38"/>
          <p:cNvSpPr/>
          <p:nvPr/>
        </p:nvSpPr>
        <p:spPr>
          <a:xfrm>
            <a:off x="571500" y="23717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Giocomo and colleagues reported average entorhinal field-theta frequencies of 8.63 Hz in controls and 8.25 Hz after knockout. The increase of field-theta frequency with running speed was also weaker in knockout mice.</a:t>
            </a:r>
            <a:endParaRPr sz="1800">
              <a:solidFill>
                <a:schemeClr val="dk1"/>
              </a:solidFill>
              <a:latin typeface="Calibri"/>
              <a:ea typeface="Calibri"/>
              <a:cs typeface="Calibri"/>
              <a:sym typeface="Calibri"/>
            </a:endParaRPr>
          </a:p>
        </p:txBody>
      </p:sp>
      <p:sp>
        <p:nvSpPr>
          <p:cNvPr id="538" name="Google Shape;538;p38"/>
          <p:cNvSpPr/>
          <p:nvPr/>
        </p:nvSpPr>
        <p:spPr>
          <a:xfrm>
            <a:off x="571500" y="355282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These observations connect the channel intervention to population-level timing as well as grid-cell scale. They do not establish that every recorded grid cell fires exactly once per field-theta cycle. Individual discharge timing and the surrounding field rhythm must be measured separately before a proposed phase relationship can be evaluated.</a:t>
            </a:r>
            <a:endParaRPr sz="1800">
              <a:solidFill>
                <a:schemeClr val="dk1"/>
              </a:solidFill>
              <a:latin typeface="Calibri"/>
              <a:ea typeface="Calibri"/>
              <a:cs typeface="Calibri"/>
              <a:sym typeface="Calibri"/>
            </a:endParaRPr>
          </a:p>
        </p:txBody>
      </p:sp>
      <p:pic>
        <p:nvPicPr>
          <p:cNvPr id="539" name="Google Shape;539;p38"/>
          <p:cNvPicPr preferRelativeResize="0"/>
          <p:nvPr/>
        </p:nvPicPr>
        <p:blipFill rotWithShape="1">
          <a:blip r:embed="rId3">
            <a:alphaModFix/>
          </a:blip>
          <a:srcRect b="0" l="0" r="0" t="0"/>
          <a:stretch/>
        </p:blipFill>
        <p:spPr>
          <a:xfrm>
            <a:off x="6477000" y="2455351"/>
            <a:ext cx="3286125" cy="1613922"/>
          </a:xfrm>
          <a:prstGeom prst="rect">
            <a:avLst/>
          </a:prstGeom>
          <a:noFill/>
          <a:ln>
            <a:noFill/>
          </a:ln>
        </p:spPr>
      </p:pic>
      <p:sp>
        <p:nvSpPr>
          <p:cNvPr id="540" name="Google Shape;540;p38"/>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5(B,C). Theta timing and speed modulation.</a:t>
            </a:r>
            <a:endParaRPr sz="1800">
              <a:solidFill>
                <a:schemeClr val="dk1"/>
              </a:solidFill>
              <a:latin typeface="Calibri"/>
              <a:ea typeface="Calibri"/>
              <a:cs typeface="Calibri"/>
              <a:sym typeface="Calibri"/>
            </a:endParaRPr>
          </a:p>
        </p:txBody>
      </p:sp>
      <p:pic>
        <p:nvPicPr>
          <p:cNvPr id="541" name="Google Shape;541;p38"/>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542" name="Google Shape;542;p38"/>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543" name="Google Shape;543;p38"/>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544" name="Google Shape;544;p38"/>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8" name="Shape 548"/>
        <p:cNvGrpSpPr/>
        <p:nvPr/>
      </p:nvGrpSpPr>
      <p:grpSpPr>
        <a:xfrm>
          <a:off x="0" y="0"/>
          <a:ext cx="0" cy="0"/>
          <a:chOff x="0" y="0"/>
          <a:chExt cx="0" cy="0"/>
        </a:xfrm>
      </p:grpSpPr>
      <p:sp>
        <p:nvSpPr>
          <p:cNvPr id="549" name="Google Shape;549;p39"/>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Interneuron timing provides a cell-class comparison</a:t>
            </a:r>
            <a:endParaRPr sz="1800">
              <a:solidFill>
                <a:schemeClr val="dk1"/>
              </a:solidFill>
              <a:latin typeface="Calibri"/>
              <a:ea typeface="Calibri"/>
              <a:cs typeface="Calibri"/>
              <a:sym typeface="Calibri"/>
            </a:endParaRPr>
          </a:p>
        </p:txBody>
      </p:sp>
      <p:sp>
        <p:nvSpPr>
          <p:cNvPr id="550" name="Google Shape;550;p39"/>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An </a:t>
            </a:r>
            <a:r>
              <a:rPr b="1" i="0" lang="en-US" sz="1500">
                <a:solidFill>
                  <a:srgbClr val="332925"/>
                </a:solidFill>
                <a:latin typeface="Arial"/>
                <a:ea typeface="Arial"/>
                <a:cs typeface="Arial"/>
                <a:sym typeface="Arial"/>
              </a:rPr>
              <a:t>interneuron</a:t>
            </a:r>
            <a:r>
              <a:rPr b="0" i="0" lang="en-US" sz="1500">
                <a:solidFill>
                  <a:srgbClr val="000000"/>
                </a:solidFill>
                <a:latin typeface="Arial"/>
                <a:ea typeface="Arial"/>
                <a:cs typeface="Arial"/>
                <a:sym typeface="Arial"/>
              </a:rPr>
              <a:t> is a neuron whose principal connections remain within a local circuit. Giocomo and colleagues compared theta-modulated entorhinal interneurons with the principal cells carrying the grid-cell spatial pattern.</a:t>
            </a:r>
            <a:endParaRPr sz="1800">
              <a:solidFill>
                <a:schemeClr val="dk1"/>
              </a:solidFill>
              <a:latin typeface="Calibri"/>
              <a:ea typeface="Calibri"/>
              <a:cs typeface="Calibri"/>
              <a:sym typeface="Calibri"/>
            </a:endParaRPr>
          </a:p>
        </p:txBody>
      </p:sp>
      <p:sp>
        <p:nvSpPr>
          <p:cNvPr id="551" name="Google Shape;551;p39"/>
          <p:cNvSpPr/>
          <p:nvPr/>
        </p:nvSpPr>
        <p:spPr>
          <a:xfrm>
            <a:off x="571500" y="23717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knockout-related increase in theta timing was present in grid cells but was not comparably detected in the simultaneously recorded interneuron population. This comparison argues against a uniform slowing of every recorded neuron.</a:t>
            </a:r>
            <a:endParaRPr sz="1800">
              <a:solidFill>
                <a:schemeClr val="dk1"/>
              </a:solidFill>
              <a:latin typeface="Calibri"/>
              <a:ea typeface="Calibri"/>
              <a:cs typeface="Calibri"/>
              <a:sym typeface="Calibri"/>
            </a:endParaRPr>
          </a:p>
        </p:txBody>
      </p:sp>
      <p:sp>
        <p:nvSpPr>
          <p:cNvPr id="552" name="Google Shape;552;p39"/>
          <p:cNvSpPr/>
          <p:nvPr/>
        </p:nvSpPr>
        <p:spPr>
          <a:xfrm>
            <a:off x="571500" y="3810000"/>
            <a:ext cx="5448300" cy="18002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Cell-class differences constrain how a molecular intervention affects network dynamics. The study did not directly measure transmitter release or receptor currents from the recorded interneurons. Their comparison supports a selective physiological effect without specifying every inhibitory synapse or proving that all inhibitory circuitry remained unchanged.</a:t>
            </a:r>
            <a:endParaRPr sz="1800">
              <a:solidFill>
                <a:schemeClr val="dk1"/>
              </a:solidFill>
              <a:latin typeface="Calibri"/>
              <a:ea typeface="Calibri"/>
              <a:cs typeface="Calibri"/>
              <a:sym typeface="Calibri"/>
            </a:endParaRPr>
          </a:p>
        </p:txBody>
      </p:sp>
      <p:pic>
        <p:nvPicPr>
          <p:cNvPr id="553" name="Google Shape;553;p39"/>
          <p:cNvPicPr preferRelativeResize="0"/>
          <p:nvPr/>
        </p:nvPicPr>
        <p:blipFill rotWithShape="1">
          <a:blip r:embed="rId3">
            <a:alphaModFix/>
          </a:blip>
          <a:srcRect b="0" l="0" r="0" t="0"/>
          <a:stretch/>
        </p:blipFill>
        <p:spPr>
          <a:xfrm>
            <a:off x="7110187" y="1190625"/>
            <a:ext cx="2019751" cy="4143375"/>
          </a:xfrm>
          <a:prstGeom prst="rect">
            <a:avLst/>
          </a:prstGeom>
          <a:noFill/>
          <a:ln>
            <a:noFill/>
          </a:ln>
        </p:spPr>
      </p:pic>
      <p:sp>
        <p:nvSpPr>
          <p:cNvPr id="554" name="Google Shape;554;p39"/>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5(A). Spike-time and spatial autocorrelations.</a:t>
            </a:r>
            <a:endParaRPr sz="1800">
              <a:solidFill>
                <a:schemeClr val="dk1"/>
              </a:solidFill>
              <a:latin typeface="Calibri"/>
              <a:ea typeface="Calibri"/>
              <a:cs typeface="Calibri"/>
              <a:sym typeface="Calibri"/>
            </a:endParaRPr>
          </a:p>
        </p:txBody>
      </p:sp>
      <p:pic>
        <p:nvPicPr>
          <p:cNvPr id="555" name="Google Shape;555;p39"/>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556" name="Google Shape;556;p39"/>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557" name="Google Shape;557;p39"/>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558" name="Google Shape;558;p39"/>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2" name="Shape 562"/>
        <p:cNvGrpSpPr/>
        <p:nvPr/>
      </p:nvGrpSpPr>
      <p:grpSpPr>
        <a:xfrm>
          <a:off x="0" y="0"/>
          <a:ext cx="0" cy="0"/>
          <a:chOff x="0" y="0"/>
          <a:chExt cx="0" cy="0"/>
        </a:xfrm>
      </p:grpSpPr>
      <p:sp>
        <p:nvSpPr>
          <p:cNvPr id="563" name="Google Shape;563;p40"/>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Border cells provide a separate boundary-related code</a:t>
            </a:r>
            <a:endParaRPr sz="1800">
              <a:solidFill>
                <a:schemeClr val="dk1"/>
              </a:solidFill>
              <a:latin typeface="Calibri"/>
              <a:ea typeface="Calibri"/>
              <a:cs typeface="Calibri"/>
              <a:sym typeface="Calibri"/>
            </a:endParaRPr>
          </a:p>
        </p:txBody>
      </p:sp>
      <p:sp>
        <p:nvSpPr>
          <p:cNvPr id="564" name="Google Shape;564;p40"/>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a:t>
            </a:r>
            <a:r>
              <a:rPr b="1" i="0" lang="en-US" sz="1500">
                <a:solidFill>
                  <a:srgbClr val="332925"/>
                </a:solidFill>
                <a:latin typeface="Arial"/>
                <a:ea typeface="Arial"/>
                <a:cs typeface="Arial"/>
                <a:sym typeface="Arial"/>
              </a:rPr>
              <a:t>border cell</a:t>
            </a:r>
            <a:r>
              <a:rPr b="0" i="0" lang="en-US" sz="1500">
                <a:solidFill>
                  <a:srgbClr val="000000"/>
                </a:solidFill>
                <a:latin typeface="Arial"/>
                <a:ea typeface="Arial"/>
                <a:cs typeface="Arial"/>
                <a:sym typeface="Arial"/>
              </a:rPr>
              <a:t> fires most strongly near one or more environmental boundaries. Giocomo and colleagues recorded boundary-related activity in the same entorhinal region used to study grid cells.</a:t>
            </a:r>
            <a:endParaRPr sz="1800">
              <a:solidFill>
                <a:schemeClr val="dk1"/>
              </a:solidFill>
              <a:latin typeface="Calibri"/>
              <a:ea typeface="Calibri"/>
              <a:cs typeface="Calibri"/>
              <a:sym typeface="Calibri"/>
            </a:endParaRPr>
          </a:p>
        </p:txBody>
      </p:sp>
      <p:sp>
        <p:nvSpPr>
          <p:cNvPr id="565" name="Google Shape;565;p40"/>
          <p:cNvSpPr/>
          <p:nvPr/>
        </p:nvSpPr>
        <p:spPr>
          <a:xfrm>
            <a:off x="571500" y="23717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maps concentrated activity along walls rather than at the repeated interior locations characteristic of a grid. Border-related firing remained identifiable after HCN1 deletion, providing a comparison with the enlarged grid pattern.</a:t>
            </a:r>
            <a:endParaRPr sz="1800">
              <a:solidFill>
                <a:schemeClr val="dk1"/>
              </a:solidFill>
              <a:latin typeface="Calibri"/>
              <a:ea typeface="Calibri"/>
              <a:cs typeface="Calibri"/>
              <a:sym typeface="Calibri"/>
            </a:endParaRPr>
          </a:p>
        </p:txBody>
      </p:sp>
      <p:sp>
        <p:nvSpPr>
          <p:cNvPr id="566" name="Google Shape;566;p40"/>
          <p:cNvSpPr/>
          <p:nvPr/>
        </p:nvSpPr>
        <p:spPr>
          <a:xfrm>
            <a:off x="571500" y="3810000"/>
            <a:ext cx="5448300" cy="18002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boundary code supplies information different from grid spacing: it relates activity to environmental edges. Its persistence indicates that knockout did not eliminate every form of spatial tuning. The comparison does not establish how border-cell input interacts synaptically with the grid network or whether each class is independently sufficient for navigation.</a:t>
            </a:r>
            <a:endParaRPr sz="1800">
              <a:solidFill>
                <a:schemeClr val="dk1"/>
              </a:solidFill>
              <a:latin typeface="Calibri"/>
              <a:ea typeface="Calibri"/>
              <a:cs typeface="Calibri"/>
              <a:sym typeface="Calibri"/>
            </a:endParaRPr>
          </a:p>
        </p:txBody>
      </p:sp>
      <p:pic>
        <p:nvPicPr>
          <p:cNvPr id="567" name="Google Shape;567;p40"/>
          <p:cNvPicPr preferRelativeResize="0"/>
          <p:nvPr/>
        </p:nvPicPr>
        <p:blipFill rotWithShape="1">
          <a:blip r:embed="rId3">
            <a:alphaModFix/>
          </a:blip>
          <a:srcRect b="0" l="0" r="0" t="0"/>
          <a:stretch/>
        </p:blipFill>
        <p:spPr>
          <a:xfrm>
            <a:off x="6597340" y="1190625"/>
            <a:ext cx="3045446" cy="4143375"/>
          </a:xfrm>
          <a:prstGeom prst="rect">
            <a:avLst/>
          </a:prstGeom>
          <a:noFill/>
          <a:ln>
            <a:noFill/>
          </a:ln>
        </p:spPr>
      </p:pic>
      <p:sp>
        <p:nvSpPr>
          <p:cNvPr id="568" name="Google Shape;568;p40"/>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6(A). Boundary-related firing in control mice.</a:t>
            </a:r>
            <a:endParaRPr sz="1800">
              <a:solidFill>
                <a:schemeClr val="dk1"/>
              </a:solidFill>
              <a:latin typeface="Calibri"/>
              <a:ea typeface="Calibri"/>
              <a:cs typeface="Calibri"/>
              <a:sym typeface="Calibri"/>
            </a:endParaRPr>
          </a:p>
        </p:txBody>
      </p:sp>
      <p:pic>
        <p:nvPicPr>
          <p:cNvPr id="569" name="Google Shape;569;p40"/>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570" name="Google Shape;570;p40"/>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571" name="Google Shape;571;p40"/>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572" name="Google Shape;572;p40"/>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6" name="Shape 576"/>
        <p:cNvGrpSpPr/>
        <p:nvPr/>
      </p:nvGrpSpPr>
      <p:grpSpPr>
        <a:xfrm>
          <a:off x="0" y="0"/>
          <a:ext cx="0" cy="0"/>
          <a:chOff x="0" y="0"/>
          <a:chExt cx="0" cy="0"/>
        </a:xfrm>
      </p:grpSpPr>
      <p:sp>
        <p:nvSpPr>
          <p:cNvPr id="577" name="Google Shape;577;p41"/>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Head-direction cells represent where the animal faces</a:t>
            </a:r>
            <a:endParaRPr sz="1800">
              <a:solidFill>
                <a:schemeClr val="dk1"/>
              </a:solidFill>
              <a:latin typeface="Calibri"/>
              <a:ea typeface="Calibri"/>
              <a:cs typeface="Calibri"/>
              <a:sym typeface="Calibri"/>
            </a:endParaRPr>
          </a:p>
        </p:txBody>
      </p:sp>
      <p:sp>
        <p:nvSpPr>
          <p:cNvPr id="578" name="Google Shape;578;p41"/>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 </a:t>
            </a:r>
            <a:r>
              <a:rPr b="1" i="0" lang="en-US" sz="1500">
                <a:solidFill>
                  <a:srgbClr val="332925"/>
                </a:solidFill>
                <a:latin typeface="Arial"/>
                <a:ea typeface="Arial"/>
                <a:cs typeface="Arial"/>
                <a:sym typeface="Arial"/>
              </a:rPr>
              <a:t>head-direction cell</a:t>
            </a:r>
            <a:r>
              <a:rPr b="0" i="0" lang="en-US" sz="1500">
                <a:solidFill>
                  <a:srgbClr val="000000"/>
                </a:solidFill>
                <a:latin typeface="Arial"/>
                <a:ea typeface="Arial"/>
                <a:cs typeface="Arial"/>
                <a:sym typeface="Arial"/>
              </a:rPr>
              <a:t> fires preferentially when the animal's head points toward a particular direction. Giocomo and colleagues used two tracking lights to estimate heading and compared firing across angles.</a:t>
            </a:r>
            <a:endParaRPr sz="1800">
              <a:solidFill>
                <a:schemeClr val="dk1"/>
              </a:solidFill>
              <a:latin typeface="Calibri"/>
              <a:ea typeface="Calibri"/>
              <a:cs typeface="Calibri"/>
              <a:sym typeface="Calibri"/>
            </a:endParaRPr>
          </a:p>
        </p:txBody>
      </p:sp>
      <p:sp>
        <p:nvSpPr>
          <p:cNvPr id="579" name="Google Shape;579;p41"/>
          <p:cNvSpPr/>
          <p:nvPr/>
        </p:nvSpPr>
        <p:spPr>
          <a:xfrm>
            <a:off x="571500" y="23717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Directional tuning remained present in control and knockout mice. A directional response is distinct from a grid field: an animal can face the preferred direction at several locations, whereas a grid cell's rate is organized by repeated spatial positions.</a:t>
            </a:r>
            <a:endParaRPr sz="1800">
              <a:solidFill>
                <a:schemeClr val="dk1"/>
              </a:solidFill>
              <a:latin typeface="Calibri"/>
              <a:ea typeface="Calibri"/>
              <a:cs typeface="Calibri"/>
              <a:sym typeface="Calibri"/>
            </a:endParaRPr>
          </a:p>
        </p:txBody>
      </p:sp>
      <p:sp>
        <p:nvSpPr>
          <p:cNvPr id="580" name="Google Shape;580;p41"/>
          <p:cNvSpPr/>
          <p:nvPr/>
        </p:nvSpPr>
        <p:spPr>
          <a:xfrm>
            <a:off x="571500" y="38100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This comparison separates directional coding from the genetic effect on grid scale. The continued directional signal does not prove that it reaches every grid cell normally. Establishing the transformation from heading and speed into location requires measurements of the relevant inputs and their circuit interactions.</a:t>
            </a:r>
            <a:endParaRPr sz="1800">
              <a:solidFill>
                <a:schemeClr val="dk1"/>
              </a:solidFill>
              <a:latin typeface="Calibri"/>
              <a:ea typeface="Calibri"/>
              <a:cs typeface="Calibri"/>
              <a:sym typeface="Calibri"/>
            </a:endParaRPr>
          </a:p>
        </p:txBody>
      </p:sp>
      <p:pic>
        <p:nvPicPr>
          <p:cNvPr id="581" name="Google Shape;581;p41"/>
          <p:cNvPicPr preferRelativeResize="0"/>
          <p:nvPr/>
        </p:nvPicPr>
        <p:blipFill rotWithShape="1">
          <a:blip r:embed="rId3">
            <a:alphaModFix/>
          </a:blip>
          <a:srcRect b="0" l="0" r="0" t="0"/>
          <a:stretch/>
        </p:blipFill>
        <p:spPr>
          <a:xfrm>
            <a:off x="6477000" y="1769106"/>
            <a:ext cx="3286125" cy="2986413"/>
          </a:xfrm>
          <a:prstGeom prst="rect">
            <a:avLst/>
          </a:prstGeom>
          <a:noFill/>
          <a:ln>
            <a:noFill/>
          </a:ln>
        </p:spPr>
      </p:pic>
      <p:sp>
        <p:nvSpPr>
          <p:cNvPr id="582" name="Google Shape;582;p41"/>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7(A). Directional firing in control mice.</a:t>
            </a:r>
            <a:endParaRPr sz="1800">
              <a:solidFill>
                <a:schemeClr val="dk1"/>
              </a:solidFill>
              <a:latin typeface="Calibri"/>
              <a:ea typeface="Calibri"/>
              <a:cs typeface="Calibri"/>
              <a:sym typeface="Calibri"/>
            </a:endParaRPr>
          </a:p>
        </p:txBody>
      </p:sp>
      <p:pic>
        <p:nvPicPr>
          <p:cNvPr id="583" name="Google Shape;583;p41"/>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584" name="Google Shape;584;p41"/>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585" name="Google Shape;585;p41"/>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586" name="Google Shape;586;p41"/>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0" name="Shape 590"/>
        <p:cNvGrpSpPr/>
        <p:nvPr/>
      </p:nvGrpSpPr>
      <p:grpSpPr>
        <a:xfrm>
          <a:off x="0" y="0"/>
          <a:ext cx="0" cy="0"/>
          <a:chOff x="0" y="0"/>
          <a:chExt cx="0" cy="0"/>
        </a:xfrm>
      </p:grpSpPr>
      <p:sp>
        <p:nvSpPr>
          <p:cNvPr id="591" name="Google Shape;591;p4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HCN1 deletion increases within-trial spatial stability</a:t>
            </a:r>
            <a:endParaRPr sz="1800">
              <a:solidFill>
                <a:schemeClr val="dk1"/>
              </a:solidFill>
              <a:latin typeface="Calibri"/>
              <a:ea typeface="Calibri"/>
              <a:cs typeface="Calibri"/>
              <a:sym typeface="Calibri"/>
            </a:endParaRPr>
          </a:p>
        </p:txBody>
      </p:sp>
      <p:sp>
        <p:nvSpPr>
          <p:cNvPr id="592" name="Google Shape;592;p42"/>
          <p:cNvSpPr/>
          <p:nvPr/>
        </p:nvSpPr>
        <p:spPr>
          <a:xfrm>
            <a:off x="571500" y="1190625"/>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Spatial stability</a:t>
            </a:r>
            <a:r>
              <a:rPr b="0" i="0" lang="en-US" sz="1500">
                <a:solidFill>
                  <a:srgbClr val="000000"/>
                </a:solidFill>
                <a:latin typeface="Arial"/>
                <a:ea typeface="Arial"/>
                <a:cs typeface="Arial"/>
                <a:sym typeface="Arial"/>
              </a:rPr>
              <a:t> describes the consistency of a neuron's firing pattern across repeated portions of a recording. Giocomo and colleagues compared maps from the first and second halves of each trial.</a:t>
            </a:r>
            <a:endParaRPr sz="1800">
              <a:solidFill>
                <a:schemeClr val="dk1"/>
              </a:solidFill>
              <a:latin typeface="Calibri"/>
              <a:ea typeface="Calibri"/>
              <a:cs typeface="Calibri"/>
              <a:sym typeface="Calibri"/>
            </a:endParaRPr>
          </a:p>
        </p:txBody>
      </p:sp>
      <p:sp>
        <p:nvSpPr>
          <p:cNvPr id="593" name="Google Shape;593;p42"/>
          <p:cNvSpPr/>
          <p:nvPr/>
        </p:nvSpPr>
        <p:spPr>
          <a:xfrm>
            <a:off x="571500" y="23717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Grid and border patterns were more stable in knockout mice, while directional stability did not change comparably. The analysis also considered grid spacing because broader patterns can appear more stable than narrower patterns under the same displacement.</a:t>
            </a:r>
            <a:endParaRPr sz="1800">
              <a:solidFill>
                <a:schemeClr val="dk1"/>
              </a:solidFill>
              <a:latin typeface="Calibri"/>
              <a:ea typeface="Calibri"/>
              <a:cs typeface="Calibri"/>
              <a:sym typeface="Calibri"/>
            </a:endParaRPr>
          </a:p>
        </p:txBody>
      </p:sp>
      <p:sp>
        <p:nvSpPr>
          <p:cNvPr id="594" name="Google Shape;594;p42"/>
          <p:cNvSpPr/>
          <p:nvPr/>
        </p:nvSpPr>
        <p:spPr>
          <a:xfrm>
            <a:off x="571500" y="38100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Greater consistency of activity is distinct from greater spatial precision. A broader field can remain stable while distinguishing positions less sharply. The observed stability difference therefore should not be equated directly with improved navigation or treated as proof of a specific synaptic plasticity mechanism.</a:t>
            </a:r>
            <a:endParaRPr sz="1800">
              <a:solidFill>
                <a:schemeClr val="dk1"/>
              </a:solidFill>
              <a:latin typeface="Calibri"/>
              <a:ea typeface="Calibri"/>
              <a:cs typeface="Calibri"/>
              <a:sym typeface="Calibri"/>
            </a:endParaRPr>
          </a:p>
        </p:txBody>
      </p:sp>
      <p:pic>
        <p:nvPicPr>
          <p:cNvPr id="595" name="Google Shape;595;p42"/>
          <p:cNvPicPr preferRelativeResize="0"/>
          <p:nvPr/>
        </p:nvPicPr>
        <p:blipFill rotWithShape="1">
          <a:blip r:embed="rId3">
            <a:alphaModFix/>
          </a:blip>
          <a:srcRect b="0" l="0" r="0" t="0"/>
          <a:stretch/>
        </p:blipFill>
        <p:spPr>
          <a:xfrm>
            <a:off x="6477000" y="1193442"/>
            <a:ext cx="3286125" cy="4137740"/>
          </a:xfrm>
          <a:prstGeom prst="rect">
            <a:avLst/>
          </a:prstGeom>
          <a:noFill/>
          <a:ln>
            <a:noFill/>
          </a:ln>
        </p:spPr>
      </p:pic>
      <p:sp>
        <p:nvSpPr>
          <p:cNvPr id="596" name="Google Shape;596;p42"/>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2(A). Grid patterns at several recording depths.</a:t>
            </a:r>
            <a:endParaRPr sz="1800">
              <a:solidFill>
                <a:schemeClr val="dk1"/>
              </a:solidFill>
              <a:latin typeface="Calibri"/>
              <a:ea typeface="Calibri"/>
              <a:cs typeface="Calibri"/>
              <a:sym typeface="Calibri"/>
            </a:endParaRPr>
          </a:p>
        </p:txBody>
      </p:sp>
      <p:pic>
        <p:nvPicPr>
          <p:cNvPr id="597" name="Google Shape;597;p42"/>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598" name="Google Shape;598;p42"/>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599" name="Google Shape;599;p4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600" name="Google Shape;600;p42"/>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4" name="Shape 604"/>
        <p:cNvGrpSpPr/>
        <p:nvPr/>
      </p:nvGrpSpPr>
      <p:grpSpPr>
        <a:xfrm>
          <a:off x="0" y="0"/>
          <a:ext cx="0" cy="0"/>
          <a:chOff x="0" y="0"/>
          <a:chExt cx="0" cy="0"/>
        </a:xfrm>
      </p:grpSpPr>
      <p:sp>
        <p:nvSpPr>
          <p:cNvPr id="605" name="Google Shape;605;p4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The knockout constrains oscillatory explanations of grids</a:t>
            </a:r>
            <a:endParaRPr sz="1800">
              <a:solidFill>
                <a:schemeClr val="dk1"/>
              </a:solidFill>
              <a:latin typeface="Calibri"/>
              <a:ea typeface="Calibri"/>
              <a:cs typeface="Calibri"/>
              <a:sym typeface="Calibri"/>
            </a:endParaRPr>
          </a:p>
        </p:txBody>
      </p:sp>
      <p:sp>
        <p:nvSpPr>
          <p:cNvPr id="606" name="Google Shape;606;p43"/>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An </a:t>
            </a:r>
            <a:r>
              <a:rPr b="1" i="0" lang="en-US" sz="1500">
                <a:solidFill>
                  <a:srgbClr val="332925"/>
                </a:solidFill>
                <a:latin typeface="Arial"/>
                <a:ea typeface="Arial"/>
                <a:cs typeface="Arial"/>
                <a:sym typeface="Arial"/>
              </a:rPr>
              <a:t>oscillatory interference model</a:t>
            </a:r>
            <a:r>
              <a:rPr b="0" i="0" lang="en-US" sz="1500">
                <a:solidFill>
                  <a:srgbClr val="000000"/>
                </a:solidFill>
                <a:latin typeface="Arial"/>
                <a:ea typeface="Arial"/>
                <a:cs typeface="Arial"/>
                <a:sym typeface="Arial"/>
              </a:rPr>
              <a:t> proposes that relationships between oscillations contribute to spatially periodic firing. Giocomo and colleagues examined their knockout results in relation to proposed links between intrinsic timing and grid scale.</a:t>
            </a:r>
            <a:endParaRPr sz="1800">
              <a:solidFill>
                <a:schemeClr val="dk1"/>
              </a:solidFill>
              <a:latin typeface="Calibri"/>
              <a:ea typeface="Calibri"/>
              <a:cs typeface="Calibri"/>
              <a:sym typeface="Calibri"/>
            </a:endParaRPr>
          </a:p>
        </p:txBody>
      </p:sp>
      <p:sp>
        <p:nvSpPr>
          <p:cNvPr id="607" name="Google Shape;607;p43"/>
          <p:cNvSpPr/>
          <p:nvPr/>
        </p:nvSpPr>
        <p:spPr>
          <a:xfrm>
            <a:off x="571500" y="2628900"/>
            <a:ext cx="544830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HCN1 deletion enlarged spacing but preserved the dorsal-to-ventral gradient. The authors contrasted that result with earlier cellular observations that HCN1 deletion strongly alters the anatomical gradient of resonance.</a:t>
            </a:r>
            <a:endParaRPr sz="1800">
              <a:solidFill>
                <a:schemeClr val="dk1"/>
              </a:solidFill>
              <a:latin typeface="Calibri"/>
              <a:ea typeface="Calibri"/>
              <a:cs typeface="Calibri"/>
              <a:sym typeface="Calibri"/>
            </a:endParaRPr>
          </a:p>
        </p:txBody>
      </p:sp>
      <p:sp>
        <p:nvSpPr>
          <p:cNvPr id="608" name="Google Shape;608;p43"/>
          <p:cNvSpPr/>
          <p:nvPr/>
        </p:nvSpPr>
        <p:spPr>
          <a:xfrm>
            <a:off x="571500" y="3810000"/>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mismatch challenges explanations in which the HCN1-dependent resonance gradient alone determines the scale gradient. It does not disprove every oscillatory mechanism. Different versions make different predictions, and the forebrain intervention also leaves other intrinsic currents and network interactions available to influence activity.</a:t>
            </a:r>
            <a:endParaRPr sz="1800">
              <a:solidFill>
                <a:schemeClr val="dk1"/>
              </a:solidFill>
              <a:latin typeface="Calibri"/>
              <a:ea typeface="Calibri"/>
              <a:cs typeface="Calibri"/>
              <a:sym typeface="Calibri"/>
            </a:endParaRPr>
          </a:p>
        </p:txBody>
      </p:sp>
      <p:pic>
        <p:nvPicPr>
          <p:cNvPr id="609" name="Google Shape;609;p43"/>
          <p:cNvPicPr preferRelativeResize="0"/>
          <p:nvPr/>
        </p:nvPicPr>
        <p:blipFill rotWithShape="1">
          <a:blip r:embed="rId3">
            <a:alphaModFix/>
          </a:blip>
          <a:srcRect b="0" l="0" r="0" t="0"/>
          <a:stretch/>
        </p:blipFill>
        <p:spPr>
          <a:xfrm>
            <a:off x="6477000" y="1630377"/>
            <a:ext cx="3286125" cy="3263871"/>
          </a:xfrm>
          <a:prstGeom prst="rect">
            <a:avLst/>
          </a:prstGeom>
          <a:noFill/>
          <a:ln>
            <a:noFill/>
          </a:ln>
        </p:spPr>
      </p:pic>
      <p:sp>
        <p:nvSpPr>
          <p:cNvPr id="610" name="Google Shape;610;p43"/>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4(B). Spacing versus depth within a knockout animal.</a:t>
            </a:r>
            <a:endParaRPr sz="1800">
              <a:solidFill>
                <a:schemeClr val="dk1"/>
              </a:solidFill>
              <a:latin typeface="Calibri"/>
              <a:ea typeface="Calibri"/>
              <a:cs typeface="Calibri"/>
              <a:sym typeface="Calibri"/>
            </a:endParaRPr>
          </a:p>
        </p:txBody>
      </p:sp>
      <p:pic>
        <p:nvPicPr>
          <p:cNvPr id="611" name="Google Shape;611;p43"/>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612" name="Google Shape;612;p43"/>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613" name="Google Shape;613;p4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614" name="Google Shape;614;p43"/>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8" name="Shape 618"/>
        <p:cNvGrpSpPr/>
        <p:nvPr/>
      </p:nvGrpSpPr>
      <p:grpSpPr>
        <a:xfrm>
          <a:off x="0" y="0"/>
          <a:ext cx="0" cy="0"/>
          <a:chOff x="0" y="0"/>
          <a:chExt cx="0" cy="0"/>
        </a:xfrm>
      </p:grpSpPr>
      <p:sp>
        <p:nvSpPr>
          <p:cNvPr id="619" name="Google Shape;619;p44"/>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Spatial coding does not establish navigational causation</a:t>
            </a:r>
            <a:endParaRPr sz="1800">
              <a:solidFill>
                <a:schemeClr val="dk1"/>
              </a:solidFill>
              <a:latin typeface="Calibri"/>
              <a:ea typeface="Calibri"/>
              <a:cs typeface="Calibri"/>
              <a:sym typeface="Calibri"/>
            </a:endParaRPr>
          </a:p>
        </p:txBody>
      </p:sp>
      <p:sp>
        <p:nvSpPr>
          <p:cNvPr id="620" name="Google Shape;620;p44"/>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three studies establish different levels of evidence: spatially dependent hippocampal responses, periodic entorhinal firing, and a genetic contribution to the spatial scale of that periodic activity. Their experimental outcomes should be kept distinct.</a:t>
            </a:r>
            <a:endParaRPr sz="1800">
              <a:solidFill>
                <a:schemeClr val="dk1"/>
              </a:solidFill>
              <a:latin typeface="Calibri"/>
              <a:ea typeface="Calibri"/>
              <a:cs typeface="Calibri"/>
              <a:sym typeface="Calibri"/>
            </a:endParaRPr>
          </a:p>
        </p:txBody>
      </p:sp>
      <p:sp>
        <p:nvSpPr>
          <p:cNvPr id="621" name="Google Shape;621;p44"/>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HCN1 knockout provides a perturbation of a candidate cellular mechanism, whereas grid recordings in darkness and under landmark rotation compare conditions affecting an intact spatial code. Each manipulation limits a different explanation of the measured firing.</a:t>
            </a:r>
            <a:endParaRPr sz="1800">
              <a:solidFill>
                <a:schemeClr val="dk1"/>
              </a:solidFill>
              <a:latin typeface="Calibri"/>
              <a:ea typeface="Calibri"/>
              <a:cs typeface="Calibri"/>
              <a:sym typeface="Calibri"/>
            </a:endParaRPr>
          </a:p>
        </p:txBody>
      </p:sp>
      <p:sp>
        <p:nvSpPr>
          <p:cNvPr id="622" name="Google Shape;622;p44"/>
          <p:cNvSpPr/>
          <p:nvPr/>
        </p:nvSpPr>
        <p:spPr>
          <a:xfrm>
            <a:off x="571500" y="406717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None of these recordings alone identifies a complete route-planning algorithm. A causal account of navigation additionally requires linking the altered representation to behavior under a defined spatial demand, with controls for movement, sensory information, and the broader effects of the intervention.</a:t>
            </a:r>
            <a:endParaRPr sz="1800">
              <a:solidFill>
                <a:schemeClr val="dk1"/>
              </a:solidFill>
              <a:latin typeface="Calibri"/>
              <a:ea typeface="Calibri"/>
              <a:cs typeface="Calibri"/>
              <a:sym typeface="Calibri"/>
            </a:endParaRPr>
          </a:p>
        </p:txBody>
      </p:sp>
      <p:pic>
        <p:nvPicPr>
          <p:cNvPr id="623" name="Google Shape;623;p44"/>
          <p:cNvPicPr preferRelativeResize="0"/>
          <p:nvPr/>
        </p:nvPicPr>
        <p:blipFill rotWithShape="1">
          <a:blip r:embed="rId3">
            <a:alphaModFix/>
          </a:blip>
          <a:srcRect b="0" l="0" r="0" t="0"/>
          <a:stretch/>
        </p:blipFill>
        <p:spPr>
          <a:xfrm>
            <a:off x="6477000" y="1908762"/>
            <a:ext cx="3286125" cy="2707100"/>
          </a:xfrm>
          <a:prstGeom prst="rect">
            <a:avLst/>
          </a:prstGeom>
          <a:noFill/>
          <a:ln>
            <a:noFill/>
          </a:ln>
        </p:spPr>
      </p:pic>
      <p:sp>
        <p:nvSpPr>
          <p:cNvPr id="624" name="Google Shape;624;p44"/>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3(A,B). Grid fields and corresponding stained sections.</a:t>
            </a:r>
            <a:endParaRPr sz="1800">
              <a:solidFill>
                <a:schemeClr val="dk1"/>
              </a:solidFill>
              <a:latin typeface="Calibri"/>
              <a:ea typeface="Calibri"/>
              <a:cs typeface="Calibri"/>
              <a:sym typeface="Calibri"/>
            </a:endParaRPr>
          </a:p>
        </p:txBody>
      </p:sp>
      <p:pic>
        <p:nvPicPr>
          <p:cNvPr id="625" name="Google Shape;625;p44"/>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626" name="Google Shape;626;p44"/>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627" name="Google Shape;627;p44"/>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628" name="Google Shape;628;p44"/>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2" name="Shape 632"/>
        <p:cNvGrpSpPr/>
        <p:nvPr/>
      </p:nvGrpSpPr>
      <p:grpSpPr>
        <a:xfrm>
          <a:off x="0" y="0"/>
          <a:ext cx="0" cy="0"/>
          <a:chOff x="0" y="0"/>
          <a:chExt cx="0" cy="0"/>
        </a:xfrm>
      </p:grpSpPr>
      <p:sp>
        <p:nvSpPr>
          <p:cNvPr id="633" name="Google Shape;633;p45"/>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332925"/>
              </a:buClr>
              <a:buSzPts val="2250"/>
              <a:buFont typeface="Arial"/>
              <a:buNone/>
            </a:pPr>
            <a:r>
              <a:rPr b="1" i="0" lang="en-US" sz="2250">
                <a:solidFill>
                  <a:srgbClr val="332925"/>
                </a:solidFill>
                <a:latin typeface="Arial"/>
                <a:ea typeface="Arial"/>
                <a:cs typeface="Arial"/>
                <a:sym typeface="Arial"/>
              </a:rPr>
              <a:t>Movement-to-space gain is a hypothesis about integration</a:t>
            </a:r>
            <a:endParaRPr sz="1800">
              <a:solidFill>
                <a:schemeClr val="dk1"/>
              </a:solidFill>
              <a:latin typeface="Calibri"/>
              <a:ea typeface="Calibri"/>
              <a:cs typeface="Calibri"/>
              <a:sym typeface="Calibri"/>
            </a:endParaRPr>
          </a:p>
        </p:txBody>
      </p:sp>
      <p:sp>
        <p:nvSpPr>
          <p:cNvPr id="634" name="Google Shape;634;p45"/>
          <p:cNvSpPr/>
          <p:nvPr/>
        </p:nvSpPr>
        <p:spPr>
          <a:xfrm>
            <a:off x="571500" y="1190625"/>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Gain</a:t>
            </a:r>
            <a:r>
              <a:rPr b="0" i="0" lang="en-US" sz="1500">
                <a:solidFill>
                  <a:srgbClr val="000000"/>
                </a:solidFill>
                <a:latin typeface="Arial"/>
                <a:ea typeface="Arial"/>
                <a:cs typeface="Arial"/>
                <a:sym typeface="Arial"/>
              </a:rPr>
              <a:t> describes how strongly a system's output changes in response to its input. Giocomo and colleagues proposed that HCN1-dependent integration contributes to the gain linking movement signals with changes in the spatial firing pattern.</a:t>
            </a:r>
            <a:endParaRPr sz="1800">
              <a:solidFill>
                <a:schemeClr val="dk1"/>
              </a:solidFill>
              <a:latin typeface="Calibri"/>
              <a:ea typeface="Calibri"/>
              <a:cs typeface="Calibri"/>
              <a:sym typeface="Calibri"/>
            </a:endParaRPr>
          </a:p>
        </p:txBody>
      </p:sp>
      <p:sp>
        <p:nvSpPr>
          <p:cNvPr id="635" name="Google Shape;635;p45"/>
          <p:cNvSpPr/>
          <p:nvPr/>
        </p:nvSpPr>
        <p:spPr>
          <a:xfrm>
            <a:off x="571500" y="2628900"/>
            <a:ext cx="5448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After HCN1 deletion, wider field spacing accompanied weaker modulation of theta frequency by running speed. These outcomes were compatible with an altered movement-to-space relationship, while the preserved anatomical scale gradient required additional determinants.</a:t>
            </a:r>
            <a:endParaRPr sz="1800">
              <a:solidFill>
                <a:schemeClr val="dk1"/>
              </a:solidFill>
              <a:latin typeface="Calibri"/>
              <a:ea typeface="Calibri"/>
              <a:cs typeface="Calibri"/>
              <a:sym typeface="Calibri"/>
            </a:endParaRPr>
          </a:p>
        </p:txBody>
      </p:sp>
      <p:sp>
        <p:nvSpPr>
          <p:cNvPr id="636" name="Google Shape;636;p45"/>
          <p:cNvSpPr/>
          <p:nvPr/>
        </p:nvSpPr>
        <p:spPr>
          <a:xfrm>
            <a:off x="571500" y="4067175"/>
            <a:ext cx="5448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00000"/>
              </a:buClr>
              <a:buSzPts val="1500"/>
              <a:buFont typeface="Arial"/>
              <a:buNone/>
            </a:pPr>
            <a:r>
              <a:rPr b="0" i="0" lang="en-US" sz="1500">
                <a:solidFill>
                  <a:srgbClr val="000000"/>
                </a:solidFill>
                <a:latin typeface="Arial"/>
                <a:ea typeface="Arial"/>
                <a:cs typeface="Arial"/>
                <a:sym typeface="Arial"/>
              </a:rPr>
              <a:t>The study did not directly record every velocity input or measure its transfer through identified synapses. Gain regulation is therefore a proposed explanation connecting the molecular intervention to spatial activity, rather than a measured circuit diagram or a complete account of how a grid is generated.</a:t>
            </a:r>
            <a:endParaRPr sz="1800">
              <a:solidFill>
                <a:schemeClr val="dk1"/>
              </a:solidFill>
              <a:latin typeface="Calibri"/>
              <a:ea typeface="Calibri"/>
              <a:cs typeface="Calibri"/>
              <a:sym typeface="Calibri"/>
            </a:endParaRPr>
          </a:p>
        </p:txBody>
      </p:sp>
      <p:pic>
        <p:nvPicPr>
          <p:cNvPr id="637" name="Google Shape;637;p45"/>
          <p:cNvPicPr preferRelativeResize="0"/>
          <p:nvPr/>
        </p:nvPicPr>
        <p:blipFill rotWithShape="1">
          <a:blip r:embed="rId3">
            <a:alphaModFix/>
          </a:blip>
          <a:srcRect b="0" l="0" r="0" t="0"/>
          <a:stretch/>
        </p:blipFill>
        <p:spPr>
          <a:xfrm>
            <a:off x="7221954" y="1190625"/>
            <a:ext cx="1796217" cy="4143375"/>
          </a:xfrm>
          <a:prstGeom prst="rect">
            <a:avLst/>
          </a:prstGeom>
          <a:noFill/>
          <a:ln>
            <a:noFill/>
          </a:ln>
        </p:spPr>
      </p:pic>
      <p:sp>
        <p:nvSpPr>
          <p:cNvPr id="638" name="Google Shape;638;p45"/>
          <p:cNvSpPr/>
          <p:nvPr/>
        </p:nvSpPr>
        <p:spPr>
          <a:xfrm>
            <a:off x="6477000" y="5429250"/>
            <a:ext cx="33051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2(B,C). Grid spacing and field size versus depth.</a:t>
            </a:r>
            <a:endParaRPr sz="1800">
              <a:solidFill>
                <a:schemeClr val="dk1"/>
              </a:solidFill>
              <a:latin typeface="Calibri"/>
              <a:ea typeface="Calibri"/>
              <a:cs typeface="Calibri"/>
              <a:sym typeface="Calibri"/>
            </a:endParaRPr>
          </a:p>
        </p:txBody>
      </p:sp>
      <p:pic>
        <p:nvPicPr>
          <p:cNvPr id="639" name="Google Shape;639;p45"/>
          <p:cNvPicPr preferRelativeResize="0"/>
          <p:nvPr/>
        </p:nvPicPr>
        <p:blipFill rotWithShape="1">
          <a:blip r:embed="rId4">
            <a:alphaModFix/>
          </a:blip>
          <a:srcRect b="0" l="0" r="0" t="0"/>
          <a:stretch/>
        </p:blipFill>
        <p:spPr>
          <a:xfrm>
            <a:off x="10007271" y="2095500"/>
            <a:ext cx="1559583" cy="2524125"/>
          </a:xfrm>
          <a:prstGeom prst="rect">
            <a:avLst/>
          </a:prstGeom>
          <a:noFill/>
          <a:ln>
            <a:noFill/>
          </a:ln>
        </p:spPr>
      </p:pic>
      <p:sp>
        <p:nvSpPr>
          <p:cNvPr id="640" name="Google Shape;640;p45"/>
          <p:cNvSpPr/>
          <p:nvPr/>
        </p:nvSpPr>
        <p:spPr>
          <a:xfrm>
            <a:off x="10001250" y="4714875"/>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Giocomo et al. (2011), Fig. 3(A, upper histology). Mouse sagittal brain section and entorhinal recording location.</a:t>
            </a:r>
            <a:endParaRPr sz="1800">
              <a:solidFill>
                <a:schemeClr val="dk1"/>
              </a:solidFill>
              <a:latin typeface="Calibri"/>
              <a:ea typeface="Calibri"/>
              <a:cs typeface="Calibri"/>
              <a:sym typeface="Calibri"/>
            </a:endParaRPr>
          </a:p>
        </p:txBody>
      </p:sp>
      <p:sp>
        <p:nvSpPr>
          <p:cNvPr id="641" name="Google Shape;641;p45"/>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Giocomo et al. (2011)</a:t>
            </a:r>
            <a:endParaRPr sz="1800">
              <a:solidFill>
                <a:schemeClr val="dk1"/>
              </a:solidFill>
              <a:latin typeface="Calibri"/>
              <a:ea typeface="Calibri"/>
              <a:cs typeface="Calibri"/>
              <a:sym typeface="Calibri"/>
            </a:endParaRPr>
          </a:p>
        </p:txBody>
      </p:sp>
      <p:sp>
        <p:nvSpPr>
          <p:cNvPr id="642" name="Google Shape;642;p45"/>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6" name="Shape 646"/>
        <p:cNvGrpSpPr/>
        <p:nvPr/>
      </p:nvGrpSpPr>
      <p:grpSpPr>
        <a:xfrm>
          <a:off x="0" y="0"/>
          <a:ext cx="0" cy="0"/>
          <a:chOff x="0" y="0"/>
          <a:chExt cx="0" cy="0"/>
        </a:xfrm>
      </p:grpSpPr>
      <p:sp>
        <p:nvSpPr>
          <p:cNvPr id="647" name="Google Shape;647;p46"/>
          <p:cNvSpPr/>
          <p:nvPr/>
        </p:nvSpPr>
        <p:spPr>
          <a:xfrm>
            <a:off x="571500" y="342900"/>
            <a:ext cx="2571304" cy="5143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332925"/>
              </a:buClr>
              <a:buSzPts val="2700"/>
              <a:buFont typeface="Arial"/>
              <a:buNone/>
            </a:pPr>
            <a:r>
              <a:rPr b="1" i="0" lang="en-US" sz="2700">
                <a:solidFill>
                  <a:srgbClr val="332925"/>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48" name="Google Shape;648;p46"/>
          <p:cNvSpPr/>
          <p:nvPr/>
        </p:nvSpPr>
        <p:spPr>
          <a:xfrm>
            <a:off x="571500" y="1285875"/>
            <a:ext cx="5353050" cy="1390650"/>
          </a:xfrm>
          <a:prstGeom prst="rect">
            <a:avLst/>
          </a:prstGeom>
          <a:solidFill>
            <a:srgbClr val="F3F0EE"/>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Place coding.</a:t>
            </a:r>
            <a:r>
              <a:rPr b="0" i="0" lang="en-US" sz="1500">
                <a:solidFill>
                  <a:srgbClr val="000000"/>
                </a:solidFill>
                <a:latin typeface="Arial"/>
                <a:ea typeface="Arial"/>
                <a:cs typeface="Arial"/>
                <a:sym typeface="Arial"/>
              </a:rPr>
              <a:t> Hippocampal activity can depend on location together with sensory conditions, facing direction and behavioral state.</a:t>
            </a:r>
            <a:endParaRPr sz="1800">
              <a:solidFill>
                <a:schemeClr val="dk1"/>
              </a:solidFill>
              <a:latin typeface="Calibri"/>
              <a:ea typeface="Calibri"/>
              <a:cs typeface="Calibri"/>
              <a:sym typeface="Calibri"/>
            </a:endParaRPr>
          </a:p>
        </p:txBody>
      </p:sp>
      <p:sp>
        <p:nvSpPr>
          <p:cNvPr id="649" name="Google Shape;649;p46"/>
          <p:cNvSpPr/>
          <p:nvPr/>
        </p:nvSpPr>
        <p:spPr>
          <a:xfrm>
            <a:off x="6286500" y="1285875"/>
            <a:ext cx="5353050" cy="1390650"/>
          </a:xfrm>
          <a:prstGeom prst="rect">
            <a:avLst/>
          </a:prstGeom>
          <a:solidFill>
            <a:srgbClr val="F3F0EE"/>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Grid geometry.</a:t>
            </a:r>
            <a:r>
              <a:rPr b="0" i="0" lang="en-US" sz="1500">
                <a:solidFill>
                  <a:srgbClr val="000000"/>
                </a:solidFill>
                <a:latin typeface="Arial"/>
                <a:ea typeface="Arial"/>
                <a:cs typeface="Arial"/>
                <a:sym typeface="Arial"/>
              </a:rPr>
              <a:t> Entorhinal grid cells have repeated fields whose spacing, orientation and spatial phase are distinct properties.</a:t>
            </a:r>
            <a:endParaRPr sz="1800">
              <a:solidFill>
                <a:schemeClr val="dk1"/>
              </a:solidFill>
              <a:latin typeface="Calibri"/>
              <a:ea typeface="Calibri"/>
              <a:cs typeface="Calibri"/>
              <a:sym typeface="Calibri"/>
            </a:endParaRPr>
          </a:p>
        </p:txBody>
      </p:sp>
      <p:sp>
        <p:nvSpPr>
          <p:cNvPr id="650" name="Google Shape;650;p46"/>
          <p:cNvSpPr/>
          <p:nvPr/>
        </p:nvSpPr>
        <p:spPr>
          <a:xfrm>
            <a:off x="571500" y="2867025"/>
            <a:ext cx="5353050" cy="1390650"/>
          </a:xfrm>
          <a:prstGeom prst="rect">
            <a:avLst/>
          </a:prstGeom>
          <a:solidFill>
            <a:srgbClr val="F3F0EE"/>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Landmarks and self-motion.</a:t>
            </a:r>
            <a:r>
              <a:rPr b="0" i="0" lang="en-US" sz="1500">
                <a:solidFill>
                  <a:srgbClr val="000000"/>
                </a:solidFill>
                <a:latin typeface="Arial"/>
                <a:ea typeface="Arial"/>
                <a:cs typeface="Arial"/>
                <a:sym typeface="Arial"/>
              </a:rPr>
              <a:t> Landmarks align grid activity; persistence in darkness supports movement-based updating without proving independence from all external cues.</a:t>
            </a:r>
            <a:endParaRPr sz="1800">
              <a:solidFill>
                <a:schemeClr val="dk1"/>
              </a:solidFill>
              <a:latin typeface="Calibri"/>
              <a:ea typeface="Calibri"/>
              <a:cs typeface="Calibri"/>
              <a:sym typeface="Calibri"/>
            </a:endParaRPr>
          </a:p>
        </p:txBody>
      </p:sp>
      <p:sp>
        <p:nvSpPr>
          <p:cNvPr id="651" name="Google Shape;651;p46"/>
          <p:cNvSpPr/>
          <p:nvPr/>
        </p:nvSpPr>
        <p:spPr>
          <a:xfrm>
            <a:off x="6286500" y="2867025"/>
            <a:ext cx="5353050" cy="1390650"/>
          </a:xfrm>
          <a:prstGeom prst="rect">
            <a:avLst/>
          </a:prstGeom>
          <a:solidFill>
            <a:srgbClr val="F3F0EE"/>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Anatomical scale.</a:t>
            </a:r>
            <a:r>
              <a:rPr b="0" i="0" lang="en-US" sz="1500">
                <a:solidFill>
                  <a:srgbClr val="000000"/>
                </a:solidFill>
                <a:latin typeface="Arial"/>
                <a:ea typeface="Arial"/>
                <a:cs typeface="Arial"/>
                <a:sym typeface="Arial"/>
              </a:rPr>
              <a:t> Grid spacing and field size increase toward ventral entorhinal recording locations.</a:t>
            </a:r>
            <a:endParaRPr sz="1800">
              <a:solidFill>
                <a:schemeClr val="dk1"/>
              </a:solidFill>
              <a:latin typeface="Calibri"/>
              <a:ea typeface="Calibri"/>
              <a:cs typeface="Calibri"/>
              <a:sym typeface="Calibri"/>
            </a:endParaRPr>
          </a:p>
        </p:txBody>
      </p:sp>
      <p:sp>
        <p:nvSpPr>
          <p:cNvPr id="652" name="Google Shape;652;p46"/>
          <p:cNvSpPr/>
          <p:nvPr/>
        </p:nvSpPr>
        <p:spPr>
          <a:xfrm>
            <a:off x="571500" y="4448175"/>
            <a:ext cx="5353050" cy="1390650"/>
          </a:xfrm>
          <a:prstGeom prst="rect">
            <a:avLst/>
          </a:prstGeom>
          <a:solidFill>
            <a:srgbClr val="F3F0EE"/>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HCN1 contribution.</a:t>
            </a:r>
            <a:r>
              <a:rPr b="0" i="0" lang="en-US" sz="1500">
                <a:solidFill>
                  <a:srgbClr val="000000"/>
                </a:solidFill>
                <a:latin typeface="Arial"/>
                <a:ea typeface="Arial"/>
                <a:cs typeface="Arial"/>
                <a:sym typeface="Arial"/>
              </a:rPr>
              <a:t> Forebrain HCN1 deletion expands grid scale and slows theta-related timing while preserving periodicity and the anatomical scale gradient.</a:t>
            </a:r>
            <a:endParaRPr sz="1800">
              <a:solidFill>
                <a:schemeClr val="dk1"/>
              </a:solidFill>
              <a:latin typeface="Calibri"/>
              <a:ea typeface="Calibri"/>
              <a:cs typeface="Calibri"/>
              <a:sym typeface="Calibri"/>
            </a:endParaRPr>
          </a:p>
        </p:txBody>
      </p:sp>
      <p:sp>
        <p:nvSpPr>
          <p:cNvPr id="653" name="Google Shape;653;p46"/>
          <p:cNvSpPr/>
          <p:nvPr/>
        </p:nvSpPr>
        <p:spPr>
          <a:xfrm>
            <a:off x="6286500" y="4448175"/>
            <a:ext cx="5353050" cy="1390650"/>
          </a:xfrm>
          <a:prstGeom prst="rect">
            <a:avLst/>
          </a:prstGeom>
          <a:solidFill>
            <a:srgbClr val="F3F0EE"/>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332925"/>
              </a:buClr>
              <a:buSzPts val="1500"/>
              <a:buFont typeface="Arial"/>
              <a:buNone/>
            </a:pPr>
            <a:r>
              <a:rPr b="1" i="0" lang="en-US" sz="1500">
                <a:solidFill>
                  <a:srgbClr val="332925"/>
                </a:solidFill>
                <a:latin typeface="Arial"/>
                <a:ea typeface="Arial"/>
                <a:cs typeface="Arial"/>
                <a:sym typeface="Arial"/>
              </a:rPr>
              <a:t>Evidence and mechanism.</a:t>
            </a:r>
            <a:r>
              <a:rPr b="0" i="0" lang="en-US" sz="1500">
                <a:solidFill>
                  <a:srgbClr val="000000"/>
                </a:solidFill>
                <a:latin typeface="Arial"/>
                <a:ea typeface="Arial"/>
                <a:cs typeface="Arial"/>
                <a:sym typeface="Arial"/>
              </a:rPr>
              <a:t> Spatial firing establishes a representation; a complete causal account of navigation requires circuit and behavioral tests beyond these recordings.</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2026-10-09T00:12:08.493Z</dcterms:created>
  <dc:creator>Presenton</dc:creator>
</cp:coreProperties>
</file>