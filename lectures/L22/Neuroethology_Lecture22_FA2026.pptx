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007/BF01047630" TargetMode="External"/><Relationship Id="rId4" Type="http://schemas.openxmlformats.org/officeDocument/2006/relationships/hyperlink" Target="https://doi.org/10.1007/bf01047630"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007/bf0104763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007/bf01047630"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523/jneurosci.06-01-00107.1986"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007/bf0104763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007/bf01047630"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007/bf01047630"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38/318178a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038/318178a0"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038/318178a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038/318178a0"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523/jneurosci.06-01-00107.1986"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523/jneurosci.05-02-00515.1985"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523/jneurosci.06-01-00107.1986"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523/jneurosci.06-01-00107.1986"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523/jneurosci.06-05-01372.1986"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523/jneurosci.06-05-01372.1986"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523/jneurosci.05-02-00515.1985"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523/jneurosci.05-02-00515.1985"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523/jneurosci.05-02-00515.1985"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523/jneurosci.05-02-00515.1985"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523/jneurosci.05-02-00515.1985"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523/jneurosci.05-02-00515.1985"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523/jneurosci.05-02-00515.1985"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523/jneurosci.13-05-01862.1993"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523/jneurosci.05-02-00515.1985"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523/jneurosci.13-05-01862.1993" TargetMode="External"/><Relationship Id="rId4" Type="http://schemas.openxmlformats.org/officeDocument/2006/relationships/hyperlink" Target="https://doi.org/10.1523/jneurosci.18-21-09010.1998" TargetMode="External"/><Relationship Id="rId5" Type="http://schemas.openxmlformats.org/officeDocument/2006/relationships/hyperlink" Target="https://doi.org/10.1523/JNEUROSCI.18-21-09010.1998"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523/jneurosci.13-05-01862.1993"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523/jneurosci.13-05-01862.1993" TargetMode="External"/><Relationship Id="rId4" Type="http://schemas.openxmlformats.org/officeDocument/2006/relationships/hyperlink" Target="https://doi.org/10.1523/jneurosci.18-21-09010.1998" TargetMode="External"/><Relationship Id="rId5" Type="http://schemas.openxmlformats.org/officeDocument/2006/relationships/hyperlink" Target="https://doi.org/10.1523/JNEUROSCI.18-21-09010.1998"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523/jneurosci.13-05-01862.1993"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523/jneurosci.13-05-01862.1993"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523/jneurosci.13-05-01862.1993" TargetMode="External"/><Relationship Id="rId4" Type="http://schemas.openxmlformats.org/officeDocument/2006/relationships/hyperlink" Target="https://doi.org/10.1523/jneurosci.18-21-09010.1998" TargetMode="External"/><Relationship Id="rId5" Type="http://schemas.openxmlformats.org/officeDocument/2006/relationships/hyperlink" Target="https://doi.org/10.1523/JNEUROSCI.18-21-09010.1998"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523/jneurosci.13-05-01862.1993" TargetMode="External"/><Relationship Id="rId4" Type="http://schemas.openxmlformats.org/officeDocument/2006/relationships/hyperlink" Target="https://doi.org/10.1523/jneurosci.18-21-09010.1998" TargetMode="External"/><Relationship Id="rId5" Type="http://schemas.openxmlformats.org/officeDocument/2006/relationships/hyperlink" Target="https://doi.org/10.1523/JNEUROSCI.18-21-09010.1998"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523/jneurosci.13-05-01862.1993" TargetMode="External"/><Relationship Id="rId4" Type="http://schemas.openxmlformats.org/officeDocument/2006/relationships/hyperlink" Target="https://doi.org/10.1523/jneurosci.18-21-09010.1998" TargetMode="External"/><Relationship Id="rId5" Type="http://schemas.openxmlformats.org/officeDocument/2006/relationships/hyperlink" Target="https://doi.org/10.1523/JNEUROSCI.18-21-09010.1998"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523/jneurosci.13-05-01862.1993" TargetMode="External"/><Relationship Id="rId4" Type="http://schemas.openxmlformats.org/officeDocument/2006/relationships/hyperlink" Target="https://doi.org/10.1523/jneurosci.18-21-09010.1998" TargetMode="External"/><Relationship Id="rId5" Type="http://schemas.openxmlformats.org/officeDocument/2006/relationships/hyperlink" Target="https://doi.org/10.1523/JNEUROSCI.18-21-09010.1998"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523/jneurosci.10-12-03896.1990" TargetMode="External"/><Relationship Id="rId4" Type="http://schemas.openxmlformats.org/officeDocument/2006/relationships/hyperlink" Target="https://doi.org/10.1523/jneurosci.13-05-01862.1993" TargetMode="External"/><Relationship Id="rId5" Type="http://schemas.openxmlformats.org/officeDocument/2006/relationships/hyperlink" Target="https://doi.org/10.1523/jneurosci.18-21-09010.1998" TargetMode="External"/><Relationship Id="rId6" Type="http://schemas.openxmlformats.org/officeDocument/2006/relationships/hyperlink" Target="https://doi.org/10.1523/JNEUROSCI.18-21-09010.1998"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523/jneurosci.18-21-09010.1998" TargetMode="External"/><Relationship Id="rId4" Type="http://schemas.openxmlformats.org/officeDocument/2006/relationships/hyperlink" Target="https://doi.org/10.1523/JNEUROSCI.18-21-09010.1998"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523/jneurosci.18-21-09010.1998" TargetMode="External"/><Relationship Id="rId4" Type="http://schemas.openxmlformats.org/officeDocument/2006/relationships/hyperlink" Target="https://doi.org/10.1523/JNEUROSCI.18-21-09010.1998"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523/jneurosci.18-21-09010.1998" TargetMode="External"/><Relationship Id="rId4" Type="http://schemas.openxmlformats.org/officeDocument/2006/relationships/hyperlink" Target="https://doi.org/10.1523/JNEUROSCI.18-21-09010.1998"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523/jneurosci.17-10-03815.1997"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523/jneurosci.19-17-07629.1999" TargetMode="External"/><Relationship Id="rId4" Type="http://schemas.openxmlformats.org/officeDocument/2006/relationships/hyperlink" Target="https://doi.org/10.1523/jneurosci.06-05-01372.1986" TargetMode="External"/><Relationship Id="rId5" Type="http://schemas.openxmlformats.org/officeDocument/2006/relationships/hyperlink" Target="https://doi.org/10.1523/JNEUROSCI.06-05-01372.1986"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242/jeb.202.10.1377"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242/jeb.202.10.1377"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242/jeb.202.10.1377"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098/rsif.2017.0633"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38/318178a0" TargetMode="External"/><Relationship Id="rId4" Type="http://schemas.openxmlformats.org/officeDocument/2006/relationships/hyperlink" Target="https://doi.org/10.1523/jneurosci.05-02-00515.1985" TargetMode="External"/><Relationship Id="rId5" Type="http://schemas.openxmlformats.org/officeDocument/2006/relationships/hyperlink" Target="https://doi.org/10.1523/jneurosci.13-05-01862.1993" TargetMode="External"/><Relationship Id="rId6" Type="http://schemas.openxmlformats.org/officeDocument/2006/relationships/hyperlink" Target="https://doi.org/10.1523/jneurosci.18-21-09010.1998" TargetMode="External"/><Relationship Id="rId7" Type="http://schemas.openxmlformats.org/officeDocument/2006/relationships/hyperlink" Target="https://doi.org/10.1242/jeb.202.10.1377"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Electroreception III: the jamming avoidance response (Heiligenberg)</a:t>
            </a:r>
          </a:p>
          <a:p>
            <a:r>
              <a:rPr sz="1200">
                <a:latin typeface="Arial"/>
              </a:rPr>
              <a:t>Lecture 22. NEUR 411 · NEUROETHOLOGY · FALL 2026. Friday, October 16, 2026.</a:t>
            </a:r>
          </a:p>
          <a:p/>
          <a:p>
            <a:r>
              <a:rPr sz="1200">
                <a:latin typeface="Arial"/>
              </a:rPr>
              <a:t>Figure: Heiligenberg (1980), Fig. 1(a, top). Eigenmannia and its caudal electric organ; original published animal drawing.</a:t>
            </a:r>
          </a:p>
          <a:p>
            <a:r>
              <a:rPr sz="1200">
                <a:latin typeface="Arial"/>
              </a:rPr>
              <a:t>Figure source: </a:t>
            </a:r>
            <a:r>
              <a:rPr sz="1200">
                <a:latin typeface="Arial"/>
                <a:hlinkClick r:id="rId3"/>
              </a:rPr>
              <a:t>https://doi.org/10.1007/BF01047630</a:t>
            </a:r>
          </a:p>
          <a:p/>
          <a:p>
            <a:r>
              <a:rPr sz="1200">
                <a:latin typeface="Arial"/>
              </a:rPr>
              <a:t>• Eigenmannia virescens produces a continuous wave-type electric organ discharge. The title image is the original published animal figure from Heiligenberg (1980).</a:t>
            </a:r>
          </a:p>
          <a:p/>
          <a:p>
            <a:r>
              <a:rPr sz="1200">
                <a:latin typeface="Arial"/>
              </a:rPr>
              <a:t>References:</a:t>
            </a:r>
          </a:p>
          <a:p>
            <a:r>
              <a:rPr sz="1200">
                <a:latin typeface="Arial"/>
              </a:rPr>
              <a:t>Heiligenberg W (1980). The jamming avoidance response in the weakly electric fish Eigenmannia: A behavior controlled by distributed evaluation of electroreceptive afferences. Naturwissenschaften 67(10):499-507. </a:t>
            </a:r>
            <a:r>
              <a:rPr sz="1200">
                <a:latin typeface="Arial"/>
                <a:hlinkClick r:id="rId4"/>
              </a:rPr>
              <a:t>https://doi.org/10.1007/bf01047630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Eigenmannia virescens is a South American weakly electric fish whose electric organ discharge, or EOD, is a continuously repeating electrical signal. Heiligenberg described individual discharge frequencies between 300 and 600 Hz. The caudal electric organ produces the field used to detect nearby objects.</a:t>
            </a:r>
          </a:p>
          <a:p>
            <a:r>
              <a:rPr sz="1200">
                <a:latin typeface="Arial"/>
              </a:rPr>
              <a:t>  – The electric organ lies in the tail, but the relevant sensory inputs arrive from skin over the body. The illustrated neural route in the 1980 paper was an early account; later lesion and recording experiments revised the proposed premotor control without changing the defining direction of the behavior.</a:t>
            </a:r>
          </a:p>
          <a:p>
            <a:r>
              <a:rPr sz="1200">
                <a:latin typeface="Arial"/>
              </a:rPr>
              <a:t>• A neighboring fish with a similar frequency creates interference. In the jamming avoidance response, or JAR, the focal fish shifts its discharge away from the neighbor’s frequency. A lower-frequency neighbor elicits an increase; a higher-frequency neighbor elicits a decrease. Removing the neighbor’s signal permits a return toward the original frequency.</a:t>
            </a:r>
          </a:p>
          <a:p>
            <a:r>
              <a:rPr sz="1200">
                <a:latin typeface="Arial"/>
              </a:rPr>
              <a:t>• The published simultaneous recordings pair a 500-Hz EOD with one pacemaker command per cycle. The pacemaker nucleus, a hindbrain group generating rhythmic commands, changes signal frequency rather than turning the electric sense off. The movement of discharge frequency is a measurable motor output.</a:t>
            </a:r>
          </a:p>
          <a:p/>
          <a:p>
            <a:r>
              <a:rPr sz="1200">
                <a:latin typeface="Arial"/>
              </a:rPr>
              <a:t>References:</a:t>
            </a:r>
          </a:p>
          <a:p>
            <a:r>
              <a:rPr sz="1200">
                <a:latin typeface="Arial"/>
              </a:rPr>
              <a:t>Heiligenberg W (1980). The jamming avoidance response in the weakly electric fish Eigenmannia: A behavior controlled by distributed evaluation of electroreceptive afferences. Naturwissenschaften 67(10):499-507. </a:t>
            </a:r>
            <a:r>
              <a:rPr sz="1200">
                <a:latin typeface="Arial"/>
                <a:hlinkClick r:id="rId3"/>
              </a:rPr>
              <a:t>https://doi.org/10.1007/bf01047630</a:t>
            </a:r>
          </a:p>
          <a:p/>
          <a:p>
            <a:r>
              <a:rPr sz="1200">
                <a:latin typeface="Arial"/>
              </a:rPr>
              <a:t>Figure: Heiligenberg (1980), Fig. 1(a). Animal, brain structures, and the 500-Hz discharge record.</a:t>
            </a:r>
          </a:p>
          <a:p>
            <a:r>
              <a:rPr sz="1200">
                <a:latin typeface="Arial"/>
              </a:rPr>
              <a:t>Figure source: </a:t>
            </a:r>
            <a:r>
              <a:rPr sz="1200">
                <a:latin typeface="Arial"/>
                <a:hlinkClick r:id="rId3"/>
              </a:rPr>
              <a:t>https://doi.org/10.1007/bf01047630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beat is the slow modulation produced when two similar-frequency signals combine. Amplitude is signal magnitude; phase is position within its repeating cycle. Heiligenberg represented the fish’s discharge by S1 and the foreign signal by S2, measuring the mixed signal rather than either source alone.</a:t>
            </a:r>
          </a:p>
          <a:p>
            <a:r>
              <a:rPr sz="1200">
                <a:latin typeface="Arial"/>
              </a:rPr>
              <a:t>  – A zero crossing is the moment when the electrical voltage changes sign. It supplies a reproducible timing landmark. Amplitude and zero-crossing timing are different properties of the same mixed waveform, and neither sensory pathway directly receives an isolated copy of the neighbor’s signal.</a:t>
            </a:r>
          </a:p>
          <a:p>
            <a:r>
              <a:rPr sz="1200">
                <a:latin typeface="Arial"/>
              </a:rPr>
              <a:t>• The mixture repeatedly becomes stronger and weaker while its timing advances and delays relative to S1. These changes occur at the difference between the source frequencies. Thus a fast electrical carrier can contain a slow interference pattern that competes with amplitude changes used for object sensing.</a:t>
            </a:r>
          </a:p>
          <a:p>
            <a:r>
              <a:rPr sz="1200">
                <a:latin typeface="Arial"/>
              </a:rPr>
              <a:t>• The original oscilloscope and amplitude–phase representation preserve this relationship. For the illustrated 500-Hz carrier, one cycle lasts 2 ms. A beat rate alone identifies the magnitude of a frequency difference but cannot distinguish a neighbor above the fish’s frequency from one equally far below it.</a:t>
            </a:r>
          </a:p>
          <a:p/>
          <a:p>
            <a:r>
              <a:rPr sz="1200">
                <a:latin typeface="Arial"/>
              </a:rPr>
              <a:t>References:</a:t>
            </a:r>
          </a:p>
          <a:p>
            <a:r>
              <a:rPr sz="1200">
                <a:latin typeface="Arial"/>
              </a:rPr>
              <a:t>Heiligenberg W (1980). The jamming avoidance response in the weakly electric fish Eigenmannia: A behavior controlled by distributed evaluation of electroreceptive afferences. Naturwissenschaften 67(10):499-507. </a:t>
            </a:r>
            <a:r>
              <a:rPr sz="1200">
                <a:latin typeface="Arial"/>
                <a:hlinkClick r:id="rId3"/>
              </a:rPr>
              <a:t>https://doi.org/10.1007/bf01047630</a:t>
            </a:r>
          </a:p>
          <a:p/>
          <a:p>
            <a:r>
              <a:rPr sz="1200">
                <a:latin typeface="Arial"/>
              </a:rPr>
              <a:t>Figure: Heiligenberg (1980), Fig. 2. Interference changes amplitude and phase during a beat.</a:t>
            </a:r>
          </a:p>
          <a:p>
            <a:r>
              <a:rPr sz="1200">
                <a:latin typeface="Arial"/>
              </a:rPr>
              <a:t>Figure source: </a:t>
            </a:r>
            <a:r>
              <a:rPr sz="1200">
                <a:latin typeface="Arial"/>
                <a:hlinkClick r:id="rId3"/>
              </a:rPr>
              <a:t>https://doi.org/10.1007/bf01047630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Difference frequency, written Δf in these studies, is the neighbor’s frequency minus the fish’s own frequency. Positive Δf requires a decrease in the fish’s EOD; negative Δf requires an increase. The sensory problem is therefore a decision about sign, rather than merely detection of interference.</a:t>
            </a:r>
          </a:p>
          <a:p>
            <a:r>
              <a:rPr sz="1200">
                <a:latin typeface="Arial"/>
              </a:rPr>
              <a:t>  – The sign convention must remain fixed when comparing experiments. A frequency increase is the correct avoidance response only when the neighboring signal is lower. A response plotted as positive by an investigator may instead mean a correctly directed response, encompassing either an actual increase or an actual decrease.</a:t>
            </a:r>
          </a:p>
          <a:p>
            <a:r>
              <a:rPr sz="1200">
                <a:latin typeface="Arial"/>
              </a:rPr>
              <a:t>• Carr and colleagues depicted how an internal EOD source and an external, transverse source combine at the skin. Their example uses a 500-Hz EOD with neighbors at 495 or 505 Hz. Both produce 5-Hz amplitude beats, but the relationship between amplitude change and differential timing reverses.</a:t>
            </a:r>
          </a:p>
          <a:p>
            <a:r>
              <a:rPr sz="1200">
                <a:latin typeface="Arial"/>
              </a:rPr>
              <a:t>• Natural current geometry provides a basis for this discrimination. The external source affects opposite body regions differently, whereas the internal discharge has a common origin. The published stimulus construction makes sign information available through paired amplitude and timing cues; a 5-Hz rate by itself remains ambiguous.</a:t>
            </a:r>
          </a:p>
          <a:p/>
          <a:p>
            <a:r>
              <a:rPr sz="1200">
                <a:latin typeface="Arial"/>
              </a:rPr>
              <a:t>References:</a:t>
            </a:r>
          </a:p>
          <a:p>
            <a:r>
              <a:rPr sz="1200">
                <a:latin typeface="Arial"/>
              </a:rPr>
              <a:t>Carr C, Heiligenberg W, Rose G (1986). A time-comparison circuit in the electric fish midbrain. I. Behavior and physiology. The Journal of Neuroscience 6(1):107-119. </a:t>
            </a:r>
            <a:r>
              <a:rPr sz="1200">
                <a:latin typeface="Arial"/>
                <a:hlinkClick r:id="rId3"/>
              </a:rPr>
              <a:t>https://doi.org/10.1523/jneurosci.06-01-00107.1986</a:t>
            </a:r>
          </a:p>
          <a:p/>
          <a:p>
            <a:r>
              <a:rPr sz="1200">
                <a:latin typeface="Arial"/>
              </a:rPr>
              <a:t>Figure: Carr et al. (1986), Fig. 1(A–D). Current geometry and opposite amplitude–phase trajectories.</a:t>
            </a:r>
          </a:p>
          <a:p>
            <a:r>
              <a:rPr sz="1200">
                <a:latin typeface="Arial"/>
              </a:rPr>
              <a:t>Figure source: </a:t>
            </a:r>
            <a:r>
              <a:rPr sz="1200">
                <a:latin typeface="Arial"/>
                <a:hlinkClick r:id="rId3"/>
              </a:rPr>
              <a:t>https://doi.org/10.1523/jneurosci.06-01-00107.1986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amplitude ratio compares the local strength of the foreign signal with the EOD substitute. Heiligenberg analyzed two body regions with ratios of 0.3 and 0.1. The more contaminated region undergoes larger changes in both amplitude and phase during the same interference cycle.</a:t>
            </a:r>
          </a:p>
          <a:p>
            <a:r>
              <a:rPr sz="1200">
                <a:latin typeface="Arial"/>
              </a:rPr>
              <a:t>  – If two pure sinusoidal sources have identical spatial geometry, their amplitude ratio is constant over the body. The resulting common timing changes provide no differential phase cue. Different electrode geometries are consequently a sensory manipulation, not a minor variation in apparatus placement.</a:t>
            </a:r>
          </a:p>
          <a:p>
            <a:r>
              <a:rPr sz="1200">
                <a:latin typeface="Arial"/>
              </a:rPr>
              <a:t>• The fish can compare timing between these regions without requiring an entirely uncontaminated patch of skin. Differential phase is the phase of one local signal relative to another local signal. Subtracting the common timing component leaves the disparity caused by their different mixtures.</a:t>
            </a:r>
          </a:p>
          <a:p>
            <a:r>
              <a:rPr sz="1200">
                <a:latin typeface="Arial"/>
              </a:rPr>
              <a:t>• The two local amplitude–differential-phase trajectories can nevertheless rotate in opposite directions. Their contributions must be weighted rather than treated as identical votes. The paper tested regional stimulation and interpreted larger amplitude modulation as a stronger contribution to the eventual frequency shift; the graphical description alone does not identify the responsible neurons.</a:t>
            </a:r>
          </a:p>
          <a:p/>
          <a:p>
            <a:r>
              <a:rPr sz="1200">
                <a:latin typeface="Arial"/>
              </a:rPr>
              <a:t>References:</a:t>
            </a:r>
          </a:p>
          <a:p>
            <a:r>
              <a:rPr sz="1200">
                <a:latin typeface="Arial"/>
              </a:rPr>
              <a:t>Heiligenberg W (1980). The jamming avoidance response in the weakly electric fish Eigenmannia: A behavior controlled by distributed evaluation of electroreceptive afferences. Naturwissenschaften 67(10):499-507. </a:t>
            </a:r>
            <a:r>
              <a:rPr sz="1200">
                <a:latin typeface="Arial"/>
                <a:hlinkClick r:id="rId3"/>
              </a:rPr>
              <a:t>https://doi.org/10.1007/bf01047630</a:t>
            </a:r>
          </a:p>
          <a:p/>
          <a:p>
            <a:r>
              <a:rPr sz="1200">
                <a:latin typeface="Arial"/>
              </a:rPr>
              <a:t>Figure: Heiligenberg (1980), Fig. 3. Different contamination ratios across the body surface.</a:t>
            </a:r>
          </a:p>
          <a:p>
            <a:r>
              <a:rPr sz="1200">
                <a:latin typeface="Arial"/>
              </a:rPr>
              <a:t>Figure source: </a:t>
            </a:r>
            <a:r>
              <a:rPr sz="1200">
                <a:latin typeface="Arial"/>
                <a:hlinkClick r:id="rId3"/>
              </a:rPr>
              <a:t>https://doi.org/10.1007/bf01047630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used electronically controlled stimuli to manipulate amplitude and phase independently in separate body regions. One region received a modulated carrier and the other supplied a comparison signal. The foreign-signal difference frequency in the published experiment was 4 Hz.</a:t>
            </a:r>
          </a:p>
          <a:p>
            <a:r>
              <a:rPr sz="1200">
                <a:latin typeface="Arial"/>
              </a:rPr>
              <a:t>  – Artificial regional stimulation is useful because the investigator can hold one cue constant while changing another. A natural neighbor changes several cues together. The phase-offset dependence constrains candidate neural operations, but a graph of behavior is not a direct measure of a cellular coincidence mechanism.</a:t>
            </a:r>
          </a:p>
          <a:p>
            <a:r>
              <a:rPr sz="1200">
                <a:latin typeface="Arial"/>
              </a:rPr>
              <a:t>• Exchanging which region carried the phase modulation reversed the pacemaker response while preserving the amplitude modulation arrangement. Responses also depended on the constant phase offset between the regional signals. Near zero offset, the normal timing relationship produced the expected negative shift for positive Δf.</a:t>
            </a:r>
          </a:p>
          <a:p>
            <a:r>
              <a:rPr sz="1200">
                <a:latin typeface="Arial"/>
              </a:rPr>
              <a:t>• This manipulation separates a causal timing cue from the mere occurrence of amplitude beats. A change in the timing relationship can reverse the behavioral decision without changing the beat frequency. The experiment tests the information used by the animal; it does not assign that comparison to a single identified neuron.</a:t>
            </a:r>
          </a:p>
          <a:p/>
          <a:p>
            <a:r>
              <a:rPr sz="1200">
                <a:latin typeface="Arial"/>
              </a:rPr>
              <a:t>References:</a:t>
            </a:r>
          </a:p>
          <a:p>
            <a:r>
              <a:rPr sz="1200">
                <a:latin typeface="Arial"/>
              </a:rPr>
              <a:t>Heiligenberg W (1980). The jamming avoidance response in the weakly electric fish Eigenmannia: A behavior controlled by distributed evaluation of electroreceptive afferences. Naturwissenschaften 67(10):499-507. </a:t>
            </a:r>
            <a:r>
              <a:rPr sz="1200">
                <a:latin typeface="Arial"/>
                <a:hlinkClick r:id="rId3"/>
              </a:rPr>
              <a:t>https://doi.org/10.1007/bf01047630</a:t>
            </a:r>
          </a:p>
          <a:p/>
          <a:p>
            <a:r>
              <a:rPr sz="1200">
                <a:latin typeface="Arial"/>
              </a:rPr>
              <a:t>Figure: Heiligenberg (1980), Fig. 4. Exchanging phase modulation reverses pacemaker responses.</a:t>
            </a:r>
          </a:p>
          <a:p>
            <a:r>
              <a:rPr sz="1200">
                <a:latin typeface="Arial"/>
              </a:rPr>
              <a:t>Figure source: </a:t>
            </a:r>
            <a:r>
              <a:rPr sz="1200">
                <a:latin typeface="Arial"/>
                <a:hlinkClick r:id="rId3"/>
              </a:rPr>
              <a:t>https://doi.org/10.1007/bf01047630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presented closed and open trajectories in an amplitude–phase plane, a representation pairing local amplitude with differential timing. Changing the sequence of cue combinations altered pacemaker output even when the overall set of available amplitude and phase values was similar.</a:t>
            </a:r>
          </a:p>
          <a:p>
            <a:r>
              <a:rPr sz="1200">
                <a:latin typeface="Arial"/>
              </a:rPr>
              <a:t>  – A waveform’s temporal order carries information that is lost if amplitude and phase are separately averaged over a whole beat. The original paper’s trajectories belong to that published analysis; no new mathematical reconstruction is needed to teach the experimental dependence on cue order.</a:t>
            </a:r>
          </a:p>
          <a:p>
            <a:r>
              <a:rPr sz="1200">
                <a:latin typeface="Arial"/>
              </a:rPr>
              <a:t>• The published behavioral comparisons associated opposite trajectory orientations with opposite frequency shifts. Vertical portions contributed strongly when amplitude was elevated, whereas timing changes at weaker amplitude contributed differently. These experiments motivated an amplitude-dependent weighting of timing information rather than a detector of beat rate alone.</a:t>
            </a:r>
          </a:p>
          <a:p>
            <a:r>
              <a:rPr sz="1200">
                <a:latin typeface="Arial"/>
              </a:rPr>
              <a:t>• The proposed integral over a trajectory was a functional description of behavior, not a measured intracellular arithmetic operation. Later recordings tested whether neurons possessed the required cue combinations. Natural avoidance therefore required experimental separation of stimulus computation, neural implementation, and the resulting motor command.</a:t>
            </a:r>
          </a:p>
          <a:p/>
          <a:p>
            <a:r>
              <a:rPr sz="1200">
                <a:latin typeface="Arial"/>
              </a:rPr>
              <a:t>References:</a:t>
            </a:r>
          </a:p>
          <a:p>
            <a:r>
              <a:rPr sz="1200">
                <a:latin typeface="Arial"/>
              </a:rPr>
              <a:t>Heiligenberg W (1980). The jamming avoidance response in the weakly electric fish Eigenmannia: A behavior controlled by distributed evaluation of electroreceptive afferences. Naturwissenschaften 67(10):499-507. </a:t>
            </a:r>
            <a:r>
              <a:rPr sz="1200">
                <a:latin typeface="Arial"/>
                <a:hlinkClick r:id="rId3"/>
              </a:rPr>
              <a:t>https://doi.org/10.1007/bf01047630</a:t>
            </a:r>
          </a:p>
          <a:p/>
          <a:p>
            <a:r>
              <a:rPr sz="1200">
                <a:latin typeface="Arial"/>
              </a:rPr>
              <a:t>Figure: Heiligenberg (1980), Fig. 5. Different trajectories separate amplitude and timing contributions.</a:t>
            </a:r>
          </a:p>
          <a:p>
            <a:r>
              <a:rPr sz="1200">
                <a:latin typeface="Arial"/>
              </a:rPr>
              <a:t>Figure source: </a:t>
            </a:r>
            <a:r>
              <a:rPr sz="1200">
                <a:latin typeface="Arial"/>
                <a:hlinkClick r:id="rId3"/>
              </a:rPr>
              <a:t>https://doi.org/10.1007/bf01047630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Temporal hyperacuity is behavioral discrimination finer than the timing precision expected from individual sensory inputs. Rose and Heiligenberg immobilized fish, suppressed their EOD, and replaced it with controlled electrical signals in a two-compartment chamber. The compartments electrically separated head and tail stimulation.</a:t>
            </a:r>
          </a:p>
          <a:p>
            <a:r>
              <a:rPr sz="1200">
                <a:latin typeface="Arial"/>
              </a:rPr>
              <a:t>  – Four hundred nanoseconds is 0.4 microseconds. The fish need not produce a separate action potential every 400 ns; it compares the timing of spikes tied to much slower EOD cycles. Behavioral precision and the interval between spikes are distinct quantities.</a:t>
            </a:r>
          </a:p>
          <a:p>
            <a:r>
              <a:rPr sz="1200">
                <a:latin typeface="Arial"/>
              </a:rPr>
              <a:t>• A neighbor mimic was mixed with the replacement signal at the head, while the tail received the replacement alone. The sign of a 4-Hz frequency difference alternated every 25.6 s. Fish shifted in the appropriate direction in at least 90% of trials at available temporal disparities as small as 400 ns.</a:t>
            </a:r>
          </a:p>
          <a:p>
            <a:r>
              <a:rPr sz="1200">
                <a:latin typeface="Arial"/>
              </a:rPr>
              <a:t>• The response was recorded from the spinal command signal despite suppression of the electric organ’s discharge. The controlled preparation establishes extraordinarily fine discrimination of a spatial timing cue. Because the chamber was less effective than broader stimulation, the authors regarded the measured threshold as a conservative estimate.</a:t>
            </a:r>
          </a:p>
          <a:p/>
          <a:p>
            <a:r>
              <a:rPr sz="1200">
                <a:latin typeface="Arial"/>
              </a:rPr>
              <a:t>References:</a:t>
            </a:r>
          </a:p>
          <a:p>
            <a:r>
              <a:rPr sz="1200">
                <a:latin typeface="Arial"/>
              </a:rPr>
              <a:t>Rose G, Heiligenberg W (1985). Temporal hyperacuity in the electric sense of fish. Nature 318(6042):178-180. </a:t>
            </a:r>
            <a:r>
              <a:rPr sz="1200">
                <a:latin typeface="Arial"/>
                <a:hlinkClick r:id="rId3"/>
              </a:rPr>
              <a:t>https://doi.org/10.1038/318178a0</a:t>
            </a:r>
          </a:p>
          <a:p/>
          <a:p>
            <a:r>
              <a:rPr sz="1200">
                <a:latin typeface="Arial"/>
              </a:rPr>
              <a:t>Figure: Rose &amp; Heiligenberg (1985), Fig. 1. Correct responses persist at submicrosecond disparities.</a:t>
            </a:r>
          </a:p>
          <a:p>
            <a:r>
              <a:rPr sz="1200">
                <a:latin typeface="Arial"/>
              </a:rPr>
              <a:t>Figure source: </a:t>
            </a:r>
            <a:r>
              <a:rPr sz="1200">
                <a:latin typeface="Arial"/>
                <a:hlinkClick r:id="rId3"/>
              </a:rPr>
              <a:t>https://doi.org/10.1038/318178a0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Rose and Heiligenberg recorded intracellular spikes from primary afferents, sensory neurons carrying receptor information toward the brain. Phase-coding afferents fired at a preferred moment of each electrical cycle, but their spike times varied from cycle to cycle even under controlled stimulation.</a:t>
            </a:r>
          </a:p>
          <a:p>
            <a:r>
              <a:rPr sz="1200">
                <a:latin typeface="Arial"/>
              </a:rPr>
              <a:t>  – The electronic controls were adjusted to resemble the steep rising portion of neural spikes. A different spike shape could otherwise alter threshold-crossing precision. Intracellular recordings also reduced contamination from small extracellular signals, helping distinguish biological variability from the recording method.</a:t>
            </a:r>
          </a:p>
          <a:p>
            <a:r>
              <a:rPr sz="1200">
                <a:latin typeface="Arial"/>
              </a:rPr>
              <a:t>• The investigators also recorded electronically generated spike mimics through the same equipment. A computer-controlled clock resolved timing in 0.1-µs increments. The much narrower distribution of electronic events excluded recording-system uncertainty as the main explanation for the broader neural timing distribution.</a:t>
            </a:r>
          </a:p>
          <a:p>
            <a:r>
              <a:rPr sz="1200">
                <a:latin typeface="Arial"/>
              </a:rPr>
              <a:t>• The most precisely recorded afferent still could not account straightforwardly for 400-ns behavioral discrimination within the roughly 300-ms response latency. This result motivated convergence across parallel inputs. It does not mean that each afferent lacks timing information; it limits an explanation based on one afferent’s short record.</a:t>
            </a:r>
          </a:p>
          <a:p/>
          <a:p>
            <a:r>
              <a:rPr sz="1200">
                <a:latin typeface="Arial"/>
              </a:rPr>
              <a:t>References:</a:t>
            </a:r>
          </a:p>
          <a:p>
            <a:r>
              <a:rPr sz="1200">
                <a:latin typeface="Arial"/>
              </a:rPr>
              <a:t>Rose G, Heiligenberg W (1985). Temporal hyperacuity in the electric sense of fish. Nature 318(6042):178-180. </a:t>
            </a:r>
            <a:r>
              <a:rPr sz="1200">
                <a:latin typeface="Arial"/>
                <a:hlinkClick r:id="rId3"/>
              </a:rPr>
              <a:t>https://doi.org/10.1038/318178a0</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Rose &amp; Heiligenberg (1985), Fig. 2(a–b). Afferent timing and electronic spike-mimic control.</a:t>
            </a:r>
          </a:p>
          <a:p>
            <a:r>
              <a:rPr sz="1200">
                <a:latin typeface="Arial"/>
              </a:rPr>
              <a:t>Figure source: </a:t>
            </a:r>
            <a:r>
              <a:rPr sz="1200">
                <a:latin typeface="Arial"/>
                <a:hlinkClick r:id="rId3"/>
              </a:rPr>
              <a:t>https://doi.org/10.1038/318178a0</a:t>
            </a:r>
          </a:p>
          <a:p/>
          <a:p>
            <a:r>
              <a:rPr sz="1200">
                <a:latin typeface="Arial"/>
              </a:rPr>
              <a:t>Figure: Carr et al. (1986), Fig. 1(B). Receptor, nerve, spherical-cell and toral timing pathway.</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Rose and Heiligenberg divided the fish’s body into electrically isolated compartments so that local receptor populations could be stimulated separately or together. A strong neighbor-to-EOD amplitude ratio of 0.05 elicited a JAR from a single body region.</a:t>
            </a:r>
          </a:p>
          <a:p>
            <a:r>
              <a:rPr sz="1200">
                <a:latin typeface="Arial"/>
              </a:rPr>
              <a:t>  – The internal EOD substitute and the transverse neighbor mimic had different current geometries. Opposite body sides therefore provided different timing information within a compartment. Stimulating additional regions also increased the available set of cross-body comparisons rather than merely repeating one identical receptor input.</a:t>
            </a:r>
          </a:p>
          <a:p>
            <a:r>
              <a:rPr sz="1200">
                <a:latin typeface="Arial"/>
              </a:rPr>
              <a:t>• At a ratio of 0.0016, corresponding to a maximal left–right disparity of 1.8 µs in this arrangement, separate stimulation of the tested compartments failed to produce a detectable response. Simultaneous stimulation of the three regions produced a strong, correctly directed JAR under the same local stimulus conditions.</a:t>
            </a:r>
          </a:p>
          <a:p>
            <a:r>
              <a:rPr sz="1200">
                <a:latin typeface="Arial"/>
              </a:rPr>
              <a:t>• The manipulation changes the area providing information rather than increasing each region’s stimulus strength. Regional recruitment supports pooling within the central nervous system. It does not identify how many afferents converge on a particular comparator or prove that one anatomical stage alone generates the improvement.</a:t>
            </a:r>
          </a:p>
          <a:p/>
          <a:p>
            <a:r>
              <a:rPr sz="1200">
                <a:latin typeface="Arial"/>
              </a:rPr>
              <a:t>References:</a:t>
            </a:r>
          </a:p>
          <a:p>
            <a:r>
              <a:rPr sz="1200">
                <a:latin typeface="Arial"/>
              </a:rPr>
              <a:t>Rose G, Heiligenberg W (1985). Temporal hyperacuity in the electric sense of fish. Nature 318(6042):178-180. </a:t>
            </a:r>
            <a:r>
              <a:rPr sz="1200">
                <a:latin typeface="Arial"/>
                <a:hlinkClick r:id="rId3"/>
              </a:rPr>
              <a:t>https://doi.org/10.1038/318178a0</a:t>
            </a:r>
          </a:p>
          <a:p/>
          <a:p>
            <a:r>
              <a:rPr sz="1200">
                <a:latin typeface="Arial"/>
              </a:rPr>
              <a:t>Figure: Rose &amp; Heiligenberg (1985), Fig. 3(a–c). Recruiting multiple skin regions restores the response.</a:t>
            </a:r>
          </a:p>
          <a:p>
            <a:r>
              <a:rPr sz="1200">
                <a:latin typeface="Arial"/>
              </a:rPr>
              <a:t>Figure source: </a:t>
            </a:r>
            <a:r>
              <a:rPr sz="1200">
                <a:latin typeface="Arial"/>
                <a:hlinkClick r:id="rId3"/>
              </a:rPr>
              <a:t>https://doi.org/10.1038/318178a0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compartment experiment permitted a quantitative comparison between responses to individual regions and their simultaneous stimulation. Rose and Heiligenberg measured integrated, correctly directed frequency shifts while retaining the same weak local signals used for the separate-region conditions.</a:t>
            </a:r>
          </a:p>
          <a:p>
            <a:r>
              <a:rPr sz="1200">
                <a:latin typeface="Arial"/>
              </a:rPr>
              <a:t>  – The original comparison considered an additive expectation that already allowed more cross-region phase comparisons during combined stimulation. The measured effect remained larger. The result is consequently stronger than observing that a larger stimulated skin area produces a larger response.</a:t>
            </a:r>
          </a:p>
          <a:p>
            <a:r>
              <a:rPr sz="1200">
                <a:latin typeface="Arial"/>
              </a:rPr>
              <a:t>• The combined response exceeded the contribution expected from merely adding the measured individual responses. Independent amplitude and phase manipulations indicated that the limiting factor was resolution of temporal disparity rather than sensitivity to amplitude modulation alone. The observed improvement was therefore associated with joint timing information.</a:t>
            </a:r>
          </a:p>
          <a:p>
            <a:r>
              <a:rPr sz="1200">
                <a:latin typeface="Arial"/>
              </a:rPr>
              <a:t>• This nonlinear convergence, an output not proportional to a simple sum of regional outputs, supported a distributed source of hyperacuity. The particular nonlinearity and its cellular location were proposed rather than directly identified by this behavioral experiment. A silent regional behavioral response does not imply that its afferents were electrically silent.</a:t>
            </a:r>
          </a:p>
          <a:p/>
          <a:p>
            <a:r>
              <a:rPr sz="1200">
                <a:latin typeface="Arial"/>
              </a:rPr>
              <a:t>References:</a:t>
            </a:r>
          </a:p>
          <a:p>
            <a:r>
              <a:rPr sz="1200">
                <a:latin typeface="Arial"/>
              </a:rPr>
              <a:t>Rose G, Heiligenberg W (1985). Temporal hyperacuity in the electric sense of fish. Nature 318(6042):178-180. </a:t>
            </a:r>
            <a:r>
              <a:rPr sz="1200">
                <a:latin typeface="Arial"/>
                <a:hlinkClick r:id="rId3"/>
              </a:rPr>
              <a:t>https://doi.org/10.1038/318178a0</a:t>
            </a:r>
          </a:p>
          <a:p/>
          <a:p>
            <a:r>
              <a:rPr sz="1200">
                <a:latin typeface="Arial"/>
              </a:rPr>
              <a:t>Figure: Rose &amp; Heiligenberg (1985), Fig. 4. Combined stimulation exceeds individual regional responses.</a:t>
            </a:r>
          </a:p>
          <a:p>
            <a:r>
              <a:rPr sz="1200">
                <a:latin typeface="Arial"/>
              </a:rPr>
              <a:t>Figure source: </a:t>
            </a:r>
            <a:r>
              <a:rPr sz="1200">
                <a:latin typeface="Arial"/>
                <a:hlinkClick r:id="rId3"/>
              </a:rPr>
              <a:t>https://doi.org/10.1038/318178a0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Tuberous electroreceptors respond to high-frequency electrical signals near the EOD carrier. Their timing-sensitive, or T-type, afferents encode a recurring phase of the local signal. Carr and colleagues traced this pathway from the skin through the anterior lateral line nerve to the hindbrain.</a:t>
            </a:r>
          </a:p>
          <a:p>
            <a:r>
              <a:rPr sz="1200">
                <a:latin typeface="Arial"/>
              </a:rPr>
              <a:t>  – A primary afferent’s cell body lies in a peripheral ganglion, whereas the spherical cell is a central neuron. These are successive elements, not different names for one cell. The parallel P-type pathway represents signal amplitude and follows different central cellular targets.</a:t>
            </a:r>
          </a:p>
          <a:p>
            <a:r>
              <a:rPr sz="1200">
                <a:latin typeface="Arial"/>
              </a:rPr>
              <a:t>• The afferents contact spherical cells in the electrosensory lateral line lobe, or ELL. Spherical-cell axons then project to lamina VI, the sixth layer of the midbrain torus semicircularis. There they contact giant cells and provide the timing input needed for comparisons between body regions.</a:t>
            </a:r>
          </a:p>
          <a:p>
            <a:r>
              <a:rPr sz="1200">
                <a:latin typeface="Arial"/>
              </a:rPr>
              <a:t>• The illustrated circuit retains a phase-locked spike on successive carrier cycles rather than first converting every timing signal into average firing rate. Physiological recordings and anatomical labeling connect these stages. The pathway identifies timing transmission, but its existence alone does not establish the small-cell comparison rule.</a:t>
            </a:r>
          </a:p>
          <a:p/>
          <a:p>
            <a:r>
              <a:rPr sz="1200">
                <a:latin typeface="Arial"/>
              </a:rPr>
              <a:t>References:</a:t>
            </a:r>
          </a:p>
          <a:p>
            <a:r>
              <a:rPr sz="1200">
                <a:latin typeface="Arial"/>
              </a:rPr>
              <a:t>Carr C, Heiligenberg W, Rose G (1986). A time-comparison circuit in the electric fish midbrain. I. Behavior and physiology. The Journal of Neuroscience 6(1):107-119. </a:t>
            </a:r>
            <a:r>
              <a:rPr sz="1200">
                <a:latin typeface="Arial"/>
                <a:hlinkClick r:id="rId3"/>
              </a:rPr>
              <a:t>https://doi.org/10.1523/jneurosci.06-01-00107.1986</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Carr et al. (1986), Fig. 5. Phase-coding pathway from the skin to toral giant cells.</a:t>
            </a:r>
          </a:p>
          <a:p>
            <a:r>
              <a:rPr sz="1200">
                <a:latin typeface="Arial"/>
              </a:rPr>
              <a:t>Figure source: </a:t>
            </a:r>
            <a:r>
              <a:rPr sz="1200">
                <a:latin typeface="Arial"/>
                <a:hlinkClick r:id="rId3"/>
              </a:rPr>
              <a:t>https://doi.org/10.1523/jneurosci.06-01-00107.1986</a:t>
            </a:r>
          </a:p>
          <a:p/>
          <a:p>
            <a:r>
              <a:rPr sz="1200">
                <a:latin typeface="Arial"/>
              </a:rPr>
              <a:t>Figure: Carr et al. (1986), Fig. 1(A). Sagittal brain anatomy with torus and electrosensory lateral line lobe.</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P-type afferents encode electrical amplitude through their probability of firing on successive cycles. In the ELL, E units increase activity with rising amplitude, whereas I units increase activity as amplitude falls. Their responses separate opposite directions of amplitude change.</a:t>
            </a:r>
          </a:p>
          <a:p>
            <a:r>
              <a:rPr sz="1200">
                <a:latin typeface="Arial"/>
              </a:rPr>
              <a:t>  – The original preparation used controlled interference signals and intracellular labeling to associate response class with axonal structure. The presence of a projection is an anatomical finding, while the recorded preference for amplitude decline is a physiological finding. Neither alone proves a complete pathway to pacemaker output.</a:t>
            </a:r>
          </a:p>
          <a:p>
            <a:r>
              <a:rPr sz="1200">
                <a:latin typeface="Arial"/>
              </a:rPr>
              <a:t>• Heiligenberg and Rose recorded and labeled ELL projections entering the torus. The published I-type example responded during declining amplitude for either sign of the neighbor’s frequency difference. Its axon terminated across several toral laminae, while individual afferents differed in their detailed terminal patterns.</a:t>
            </a:r>
          </a:p>
          <a:p>
            <a:r>
              <a:rPr sz="1200">
                <a:latin typeface="Arial"/>
              </a:rPr>
              <a:t>• Amplitude sensitivity therefore supplies a necessary cue without inherently solving the sign decision. An I-unit response can occur during either positive or negative Δf. Comparing its activity with timing-sensitive signals is required to distinguish these cases; the afferent labeling does not establish every downstream synaptic connection.</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p>
            <a:r>
              <a:rPr sz="1200">
                <a:latin typeface="Arial"/>
              </a:rPr>
              <a:t>Figure: Heiligenberg &amp; Rose (1985), Fig. 3(a–c). Labeled amplitude-coding afferents and laminar terminations.</a:t>
            </a:r>
          </a:p>
          <a:p>
            <a:r>
              <a:rPr sz="1200">
                <a:latin typeface="Arial"/>
              </a:rPr>
              <a:t>Figure source: </a:t>
            </a:r>
            <a:r>
              <a:rPr sz="1200">
                <a:latin typeface="Arial"/>
                <a:hlinkClick r:id="rId3"/>
              </a:rPr>
              <a:t>https://doi.org/10.1523/jneurosci.05-02-00515.1985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Carr and colleagues compared timing-sensitive afferents in the anterior lateral line nerve with neurons in the torus. A repeated sinusoidal stimulus fixed the timing landmark, allowing the precision of phase-locked spikes to be compared at peripheral and central stages.</a:t>
            </a:r>
          </a:p>
          <a:p>
            <a:r>
              <a:rPr sz="1200">
                <a:latin typeface="Arial"/>
              </a:rPr>
              <a:t>  – The measurements used the same repeated electrical cycle as a reference for both recording locations. A change in firing rate alone would not establish more precise phase locking. The proposed contribution of convergence is supported jointly by the physiological comparison and the independently reconstructed connectivity.</a:t>
            </a:r>
          </a:p>
          <a:p>
            <a:r>
              <a:rPr sz="1200">
                <a:latin typeface="Arial"/>
              </a:rPr>
              <a:t>• The comparison included stimulus intensities of 1 mV/cm and three times that value. Midbrain phase-coding responses were generally more tightly aligned to the stimulus than peripheral responses. Increasing stimulus strength did not eliminate the distinction between the two stages.</a:t>
            </a:r>
          </a:p>
          <a:p>
            <a:r>
              <a:rPr sz="1200">
                <a:latin typeface="Arial"/>
              </a:rPr>
              <a:t>• Anatomical convergence is consistent with combining partly independent timing estimates into a more precise central signal. Nevertheless, the best single-cell responses remained less precise than behavioral hyperacuity. Improved phase locking within the pathway and the final detection of a disparity across body regions are related but distinct operations.</a:t>
            </a:r>
          </a:p>
          <a:p/>
          <a:p>
            <a:r>
              <a:rPr sz="1200">
                <a:latin typeface="Arial"/>
              </a:rPr>
              <a:t>References:</a:t>
            </a:r>
          </a:p>
          <a:p>
            <a:r>
              <a:rPr sz="1200">
                <a:latin typeface="Arial"/>
              </a:rPr>
              <a:t>Carr C, Heiligenberg W, Rose G (1986). A time-comparison circuit in the electric fish midbrain. I. Behavior and physiology. The Journal of Neuroscience 6(1):107-119. </a:t>
            </a:r>
            <a:r>
              <a:rPr sz="1200">
                <a:latin typeface="Arial"/>
                <a:hlinkClick r:id="rId3"/>
              </a:rPr>
              <a:t>https://doi.org/10.1523/jneurosci.06-01-00107.1986</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Carr et al. (1986), Fig. 6. Timing precision in peripheral and midbrain recordings.</a:t>
            </a:r>
          </a:p>
          <a:p>
            <a:r>
              <a:rPr sz="1200">
                <a:latin typeface="Arial"/>
              </a:rPr>
              <a:t>Figure source: </a:t>
            </a:r>
            <a:r>
              <a:rPr sz="1200">
                <a:latin typeface="Arial"/>
                <a:hlinkClick r:id="rId3"/>
              </a:rPr>
              <a:t>https://doi.org/10.1523/jneurosci.06-01-00107.1986</a:t>
            </a:r>
          </a:p>
          <a:p/>
          <a:p>
            <a:r>
              <a:rPr sz="1200">
                <a:latin typeface="Arial"/>
              </a:rPr>
              <a:t>Figure: Carr et al. (1986), Fig. 1(A). Sagittal brain anatomy with torus and electrosensory lateral line lobe.</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gap junction is a direct electrical connection between neighboring cells that permits current to pass without a conventional transmitter-release step. Carr and colleagues recorded spherical-cell afferent terminals close to their contacts on giant cells in lamina VI.</a:t>
            </a:r>
          </a:p>
          <a:p>
            <a:r>
              <a:rPr sz="1200">
                <a:latin typeface="Arial"/>
              </a:rPr>
              <a:t>  – The original micrograph has a 20-µm scale bar. Recording near a terminal and labeling the same pathway linked electrophysiology to an identifiable contact. The investigators did not infer electrical transmission merely from the proximity of unlabeled cells.</a:t>
            </a:r>
          </a:p>
          <a:p>
            <a:r>
              <a:rPr sz="1200">
                <a:latin typeface="Arial"/>
              </a:rPr>
              <a:t>• With a stimulus present, the terminals carried the expected phase-locked axonal spikes. Without external stimulation, junctional potentials could still be recorded in these terminals, including events as large as 40 mV. Labeled terminals surrounded the giant-cell soma in the accompanying anatomical preparation.</a:t>
            </a:r>
          </a:p>
          <a:p>
            <a:r>
              <a:rPr sz="1200">
                <a:latin typeface="Arial"/>
              </a:rPr>
              <a:t>• These potentials support a nonrectifying connection: current can influence the afferent terminal from the giant-cell side as well as forward into the giant cell. They were interpreted as giant-cell spikes and potentials transmitted backward through the junction. This interpretation differs from a newly generated peripheral sensory event.</a:t>
            </a:r>
          </a:p>
          <a:p/>
          <a:p>
            <a:r>
              <a:rPr sz="1200">
                <a:latin typeface="Arial"/>
              </a:rPr>
              <a:t>References:</a:t>
            </a:r>
          </a:p>
          <a:p>
            <a:r>
              <a:rPr sz="1200">
                <a:latin typeface="Arial"/>
              </a:rPr>
              <a:t>Carr C, Heiligenberg W, Rose G (1986). A time-comparison circuit in the electric fish midbrain. I. Behavior and physiology. The Journal of Neuroscience 6(1):107-119. </a:t>
            </a:r>
            <a:r>
              <a:rPr sz="1200">
                <a:latin typeface="Arial"/>
                <a:hlinkClick r:id="rId3"/>
              </a:rPr>
              <a:t>https://doi.org/10.1523/jneurosci.06-01-00107.1986</a:t>
            </a:r>
          </a:p>
          <a:p/>
          <a:p>
            <a:r>
              <a:rPr sz="1200">
                <a:latin typeface="Arial"/>
              </a:rPr>
              <a:t>Figure: Carr et al. (1986), Fig. 8(A–C). Afferent spikes, junctional potentials, and labeled terminals.</a:t>
            </a:r>
          </a:p>
          <a:p>
            <a:r>
              <a:rPr sz="1200">
                <a:latin typeface="Arial"/>
              </a:rPr>
              <a:t>Figure source: </a:t>
            </a:r>
            <a:r>
              <a:rPr sz="1200">
                <a:latin typeface="Arial"/>
                <a:hlinkClick r:id="rId3"/>
              </a:rPr>
              <a:t>https://doi.org/10.1523/jneurosci.06-01-00107.1986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Carr, Maler, and Taylor combined intracellular labeling with electron microscopy, imaging fine cellular structure at synapses. Afferents from ELL spherical cells formed restricted terminal arbors in lamina VI, preserving information about a local patch of the body surface.</a:t>
            </a:r>
          </a:p>
          <a:p>
            <a:r>
              <a:rPr sz="1200">
                <a:latin typeface="Arial"/>
              </a:rPr>
              <a:t>  – A soma is the cell body; a dendrite is a receiving cellular process; an axon carries signals toward downstream targets. The location of an input on the soma or distal dendrite matters here because the proposed timing comparison depends on segregated input sites.</a:t>
            </a:r>
          </a:p>
          <a:p>
            <a:r>
              <a:rPr sz="1200">
                <a:latin typeface="Arial"/>
              </a:rPr>
              <a:t>• Each afferent contacted one or two giant-cell somata and distal dendrites of small cells. Some terminals formed clusters termed synaptic islands. The published panels include labeled afferent terminals and their contacts, with scale bars ranging from 2 to 20 µm.</a:t>
            </a:r>
          </a:p>
          <a:p>
            <a:r>
              <a:rPr sz="1200">
                <a:latin typeface="Arial"/>
              </a:rPr>
              <a:t>• The same local timing source thus enters different elements of the comparison circuit. Contacts on giant cells distribute information broadly, whereas small-cell dendritic contacts preserve local input. Anatomical apposition alone cannot specify the exact contribution of each contact; ultrastructure distinguishes junction types, and physiology constrains their functional interpretation.</a:t>
            </a:r>
          </a:p>
          <a:p/>
          <a:p>
            <a:r>
              <a:rPr sz="1200">
                <a:latin typeface="Arial"/>
              </a:rPr>
              <a:t>References:</a:t>
            </a:r>
          </a:p>
          <a:p>
            <a:r>
              <a:rPr sz="1200">
                <a:latin typeface="Arial"/>
              </a:rPr>
              <a:t>Carr C, Maler L, Taylor B (1986). A time-comparison circuit in the electric fish midbrain. II. Functional morphology. The Journal of Neuroscience 6(5):1372-1383. </a:t>
            </a:r>
            <a:r>
              <a:rPr sz="1200">
                <a:latin typeface="Arial"/>
                <a:hlinkClick r:id="rId3"/>
              </a:rPr>
              <a:t>https://doi.org/10.1523/jneurosci.06-05-01372.1986</a:t>
            </a:r>
          </a:p>
          <a:p/>
          <a:p>
            <a:r>
              <a:rPr sz="1200">
                <a:latin typeface="Arial"/>
              </a:rPr>
              <a:t>Figure: Carr et al. (1986), Fig. 2(A–F). Local afferent synapses onto giant cells and small-cell dendrites.</a:t>
            </a:r>
          </a:p>
          <a:p>
            <a:r>
              <a:rPr sz="1200">
                <a:latin typeface="Arial"/>
              </a:rPr>
              <a:t>Figure source: </a:t>
            </a:r>
            <a:r>
              <a:rPr sz="1200">
                <a:latin typeface="Arial"/>
                <a:hlinkClick r:id="rId3"/>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Giant cells in lamina VI have extensive axonal arbors and lack the conventional dendritic tree of many central neurons. Carr and colleagues reconstructed labeled cells and examined their contacts with afferents at light- and electron-microscope resolution.</a:t>
            </a:r>
          </a:p>
          <a:p>
            <a:r>
              <a:rPr sz="1200">
                <a:latin typeface="Arial"/>
              </a:rPr>
              <a:t>  – The published circuit includes morphologically mixed contacts onto small-cell dendrites, with both electrical and chemical specializations. Those contacts must not be described as exclusively electrical. Giant-cell somatic contacts and small-cell dendritic contacts differ in both location and ultrastructural organization.</a:t>
            </a:r>
          </a:p>
          <a:p>
            <a:r>
              <a:rPr sz="1200">
                <a:latin typeface="Arial"/>
              </a:rPr>
              <a:t>• The published ultrastructure identifies gap-junction contacts between afferent terminals and giant cells. Its detailed contact panel includes a 0.5-µm scale bar. Other panels reveal the unipolar soma and large axonal processes that distribute timing information across the layer.</a:t>
            </a:r>
          </a:p>
          <a:p>
            <a:r>
              <a:rPr sz="1200">
                <a:latin typeface="Arial"/>
              </a:rPr>
              <a:t>• This organization can provide many local comparators with timing signals originating at other body regions. The anatomy establishes direct electrical contacts and broad distribution; it does not mean that one giant cell encodes the entire animal’s behavioral decision. The comparison still depends on which local and distributed inputs reach each small cell.</a:t>
            </a:r>
          </a:p>
          <a:p/>
          <a:p>
            <a:r>
              <a:rPr sz="1200">
                <a:latin typeface="Arial"/>
              </a:rPr>
              <a:t>References:</a:t>
            </a:r>
          </a:p>
          <a:p>
            <a:r>
              <a:rPr sz="1200">
                <a:latin typeface="Arial"/>
              </a:rPr>
              <a:t>Carr C, Maler L, Taylor B (1986). A time-comparison circuit in the electric fish midbrain. II. Functional morphology. The Journal of Neuroscience 6(5):1372-1383. </a:t>
            </a:r>
            <a:r>
              <a:rPr sz="1200">
                <a:latin typeface="Arial"/>
                <a:hlinkClick r:id="rId3"/>
              </a:rPr>
              <a:t>https://doi.org/10.1523/jneurosci.06-05-01372.1986</a:t>
            </a:r>
          </a:p>
          <a:p/>
          <a:p>
            <a:r>
              <a:rPr sz="1200">
                <a:latin typeface="Arial"/>
              </a:rPr>
              <a:t>Figure: Carr et al. (1986), Fig. 4(A–F). Giant-cell anatomy and ultrastructure of gap-junction contacts.</a:t>
            </a:r>
          </a:p>
          <a:p>
            <a:r>
              <a:rPr sz="1200">
                <a:latin typeface="Arial"/>
              </a:rPr>
              <a:t>Figure source: </a:t>
            </a:r>
            <a:r>
              <a:rPr sz="1200">
                <a:latin typeface="Arial"/>
                <a:hlinkClick r:id="rId3"/>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and Rose recorded intracellularly in the torus and filled physiologically identified neurons with dyes. Their anatomical summary separated amplitude-coding ELL pyramidal inputs from phase-coding spherical-cell inputs rather than treating the torus as a uniform relay.</a:t>
            </a:r>
          </a:p>
          <a:p>
            <a:r>
              <a:rPr sz="1200">
                <a:latin typeface="Arial"/>
              </a:rPr>
              <a:t>  – Intracellular labeling permitted the response properties of a cell to be linked with its position and processes. The named laminae are anatomical layers rather than separate behavioral stages with only one operation each. The source explicitly retained uncertainty about some projections instead of assigning every connection a JAR function.</a:t>
            </a:r>
          </a:p>
          <a:p>
            <a:r>
              <a:rPr sz="1200">
                <a:latin typeface="Arial"/>
              </a:rPr>
              <a:t>• Amplitude inputs reached laminae 3, 5, 7, 8c, and 8d. Phase information reached giant cells in lamina 6, with subsequent processing in deeper layers. The body surface was represented somatotopically, meaning that different body locations mapped onto different neural locations.</a:t>
            </a:r>
          </a:p>
          <a:p>
            <a:r>
              <a:rPr sz="1200">
                <a:latin typeface="Arial"/>
              </a:rPr>
              <a:t>• This arrangement makes local amplitude information available alongside comparisons of timing across body regions. A layered projection pattern is consistent with successive cue transformations, but a lamina can contain heterogeneous cells. The paper also identified a lobus caudalis projection whose computational significance remained unresolved.</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p>
            <a:r>
              <a:rPr sz="1200">
                <a:latin typeface="Arial"/>
              </a:rPr>
              <a:t>Figure: Heiligenberg &amp; Rose (1985), Fig. 2. Amplitude and phase inputs reach distinct toral laminae.</a:t>
            </a:r>
          </a:p>
          <a:p>
            <a:r>
              <a:rPr sz="1200">
                <a:latin typeface="Arial"/>
              </a:rPr>
              <a:t>Figure source: </a:t>
            </a:r>
            <a:r>
              <a:rPr sz="1200">
                <a:latin typeface="Arial"/>
                <a:hlinkClick r:id="rId3"/>
              </a:rPr>
              <a:t>https://doi.org/10.1523/jneurosci.05-02-00515.1985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and Rose stimulated head and tail compartments independently while recording small cells in lamina 6. The head signal’s timing was advanced or delayed relative to the tail, while a triangular waveform swept the phase difference at 2 Hz.</a:t>
            </a:r>
          </a:p>
          <a:p>
            <a:r>
              <a:rPr sz="1200">
                <a:latin typeface="Arial"/>
              </a:rPr>
              <a:t>  – In the proposed arrangement, a small cell receives distributed timing on its soma and local timing on a dendrite. A dendritic delay could make simultaneous arrival at the spike-generating region depend on the original difference between the two signals. The anatomical segregation supports this proposal without directly measuring every dendritic delay.</a:t>
            </a:r>
          </a:p>
          <a:p>
            <a:r>
              <a:rPr sz="1200">
                <a:latin typeface="Arial"/>
              </a:rPr>
              <a:t>• Spikes occurred preferentially within particular portions of the differential-phase range. One small cell was silent when the head signal lagged; another had a different preference. Intracellular dye filling associated these response patterns with small-cell anatomy near giant cells.</a:t>
            </a:r>
          </a:p>
          <a:p>
            <a:r>
              <a:rPr sz="1200">
                <a:latin typeface="Arial"/>
              </a:rPr>
              <a:t>• The experiment isolates a phase comparator, a neuron whose firing depends on relative timing rather than only on one local waveform. Selectivity is not a complete JAR decision because amplitude change has not yet been combined with phase preference. The anatomical delay-and-coincidence interpretation remained a proposed mechanism for this selectivity.</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p>
            <a:r>
              <a:rPr sz="1200">
                <a:latin typeface="Arial"/>
              </a:rPr>
              <a:t>Figure: Heiligenberg &amp; Rose (1985), Fig. 4(a–c). Small-cell firing depends on differential phase.</a:t>
            </a:r>
          </a:p>
          <a:p>
            <a:r>
              <a:rPr sz="1200">
                <a:latin typeface="Arial"/>
              </a:rPr>
              <a:t>Figure source: </a:t>
            </a:r>
            <a:r>
              <a:rPr sz="1200">
                <a:latin typeface="Arial"/>
                <a:hlinkClick r:id="rId3"/>
              </a:rPr>
              <a:t>https://doi.org/10.1523/jneurosci.05-02-00515.1985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same two-compartment preparation allowed Heiligenberg and Rose to compare combined amplitude-and-phase modulation with phase modulation alone and amplitude modulation alone. Intracellular recording distinguished the contributions while retaining a recurring electrical carrier in the reference compartment.</a:t>
            </a:r>
          </a:p>
          <a:p>
            <a:r>
              <a:rPr sz="1200">
                <a:latin typeface="Arial"/>
              </a:rPr>
              <a:t>  – The source used the stimulus variables independently because a natural beat changes them together. The recording separates correlation from cue dependence. A cell’s response to a mixed stimulus would otherwise leave unresolved whether the relevant driver was amplitude, differential phase, or their interaction.</a:t>
            </a:r>
          </a:p>
          <a:p>
            <a:r>
              <a:rPr sz="1200">
                <a:latin typeface="Arial"/>
              </a:rPr>
              <a:t>• A small cell in lamina 6 retained differential-phase sensitivity under phase-only stimulation. Isolated amplitude modulation did not produce the same response pattern. Removing the comparison signal changed activity rather than supplying an equivalent timing reference through the central pacemaker.</a:t>
            </a:r>
          </a:p>
          <a:p>
            <a:r>
              <a:rPr sz="1200">
                <a:latin typeface="Arial"/>
              </a:rPr>
              <a:t>• These controls place the first relative-timing comparison within the sensory circuit. A phase-sensitive response cannot be assigned to the amplitude beat merely because both coexist during normal interference. The result also does not require a neuron to recognize the neighbor’s absolute EOD frequency or identity.</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Heiligenberg &amp; Rose (1985), Fig. 5(a–d). Small-cell responses to isolated amplitude and phase modulation.</a:t>
            </a:r>
          </a:p>
          <a:p>
            <a:r>
              <a:rPr sz="1200">
                <a:latin typeface="Arial"/>
              </a:rPr>
              <a:t>Figure source: </a:t>
            </a:r>
            <a:r>
              <a:rPr sz="1200">
                <a:latin typeface="Arial"/>
                <a:hlinkClick r:id="rId3"/>
              </a:rPr>
              <a:t>https://doi.org/10.1523/jneurosci.05-02-00515.1985</a:t>
            </a:r>
          </a:p>
          <a:p/>
          <a:p>
            <a:r>
              <a:rPr sz="1200">
                <a:latin typeface="Arial"/>
              </a:rPr>
              <a:t>Figure: Carr et al. (1986), Fig. 5(A). Published reconstruction of lamina-VI small cells and their processes.</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and Rose varied the timing relationship between head and tail while recording a small cell in lamina 6. At 2-Hz triangular phase modulation, its spike density favored a restricted phase range. Removing the head carrier released activity over much more of the cycle.</a:t>
            </a:r>
          </a:p>
          <a:p>
            <a:r>
              <a:rPr sz="1200">
                <a:latin typeface="Arial"/>
              </a:rPr>
              <a:t>  – A phase advance and a phase delay concern the order of corresponding carrier events, not a faster or slower beat in isolation. Holding a phase value constant tests the comparator’s steady response. Sweeping it tests how that response behaves during changing input.</a:t>
            </a:r>
          </a:p>
          <a:p>
            <a:r>
              <a:rPr sz="1200">
                <a:latin typeface="Arial"/>
              </a:rPr>
              <a:t>• Another record used a 0.2-Hz phase scan and sustained phase offsets. The neuron could discriminate stationary phase values rather than responding only to the direction of a rapid scan. Carrier presence and relative phase therefore changed the operating state of the comparator.</a:t>
            </a:r>
          </a:p>
          <a:p>
            <a:r>
              <a:rPr sz="1200">
                <a:latin typeface="Arial"/>
              </a:rPr>
              <a:t>• The differing tests distinguish sensitivity to instantaneous timing from sensitivity to temporal change. They do not imply that every comparator has identical dynamics or that its firing directly specifies upward versus downward JAR. The behavioral decision requires the phase preference to be interpreted together with amplitude information.</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Heiligenberg &amp; Rose (1985), Fig. 6(a–b). Phase-sensitive responses and removal of the head signal.</a:t>
            </a:r>
          </a:p>
          <a:p>
            <a:r>
              <a:rPr sz="1200">
                <a:latin typeface="Arial"/>
              </a:rPr>
              <a:t>Figure source: </a:t>
            </a:r>
            <a:r>
              <a:rPr sz="1200">
                <a:latin typeface="Arial"/>
                <a:hlinkClick r:id="rId3"/>
              </a:rPr>
              <a:t>https://doi.org/10.1523/jneurosci.05-02-00515.1985</a:t>
            </a:r>
          </a:p>
          <a:p/>
          <a:p>
            <a:r>
              <a:rPr sz="1200">
                <a:latin typeface="Arial"/>
              </a:rPr>
              <a:t>Figure: Carr et al. (1986), Fig. 5(A). Published reconstruction of lamina-VI small cells and their processes.</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In deeper toral laminae, Heiligenberg and Rose found neurons sensitive to both amplitude and differential phase. The investigators modulated either the head or tail while retaining a carrier at the other region, then removed or restored the reference signal.</a:t>
            </a:r>
          </a:p>
          <a:p>
            <a:r>
              <a:rPr sz="1200">
                <a:latin typeface="Arial"/>
              </a:rPr>
              <a:t>  – The source also compared slow phase scans with stationary offsets. These tests separated phase tuning from the modulation cycle itself. The recorded preference was influenced by which body region supplied the local amplitude signal, consistent with a somatotopic organization of cue integration.</a:t>
            </a:r>
          </a:p>
          <a:p>
            <a:r>
              <a:rPr sz="1200">
                <a:latin typeface="Arial"/>
              </a:rPr>
              <a:t>• The published lamina-8b/8c neuron responded differently to combined modulation, amplitude alone, and phase alone. A local amplitude change altered the expression of its phase preference. Its labeled morphology extended through the deeper layers where the two information streams could converge.</a:t>
            </a:r>
          </a:p>
          <a:p>
            <a:r>
              <a:rPr sz="1200">
                <a:latin typeface="Arial"/>
              </a:rPr>
              <a:t>• Combination sensitivity is a dependence on a particular pairing of stimulus features. Here, phase information is interpreted in the context of local amplitude, providing a candidate operation for determining beat sign. The recording establishes cue interaction in this neuron, rather than proving that all cells use an identical multiplication mechanism.</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p>
            <a:r>
              <a:rPr sz="1200">
                <a:latin typeface="Arial"/>
              </a:rPr>
              <a:t>Figure: Heiligenberg &amp; Rose (1985), Fig. 7(a–c). Amplitude-dependent gating and phase sensitivity in a deeper neuron.</a:t>
            </a:r>
          </a:p>
          <a:p>
            <a:r>
              <a:rPr sz="1200">
                <a:latin typeface="Arial"/>
              </a:rPr>
              <a:t>Figure source: </a:t>
            </a:r>
            <a:r>
              <a:rPr sz="1200">
                <a:latin typeface="Arial"/>
                <a:hlinkClick r:id="rId3"/>
              </a:rPr>
              <a:t>https://doi.org/10.1523/jneurosci.05-02-00515.1985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and Rose applied amplitude modulation to the head, to the tail, or to both regions while independently varying differential phase. The deeper neuron’s response changed with the spatial assignment of the cues even when modulation occurred at the same 2-Hz rate.</a:t>
            </a:r>
          </a:p>
          <a:p>
            <a:r>
              <a:rPr sz="1200">
                <a:latin typeface="Arial"/>
              </a:rPr>
              <a:t>  – The source’s phase-only and amplitude-only conditions were not interchangeable with removing the electrical carrier. Carrier removal changes the availability of a timing reference. Maintaining that distinction prevents a response to absent input from being mistaken for selectivity to a different beat sign.</a:t>
            </a:r>
          </a:p>
          <a:p>
            <a:r>
              <a:rPr sz="1200">
                <a:latin typeface="Arial"/>
              </a:rPr>
              <a:t>• The published response matrix contrasts conditions with the tail carrier present and absent. A neuron excited by one phase relationship could become insensitive to amplitude modulation at an appropriate static phase. Reversing which body region was modulated also changed which phase relationship favored its firing.</a:t>
            </a:r>
          </a:p>
          <a:p>
            <a:r>
              <a:rPr sz="1200">
                <a:latin typeface="Arial"/>
              </a:rPr>
              <a:t>• The interaction links timing comparison to a particular local amplitude channel. A phase advance does not carry a universal motor instruction independent of spatial context. These controlled stimuli identify conditional sensory tuning; they do not by themselves identify the downstream synaptic sign at the pacemaker nucleus.</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Heiligenberg &amp; Rose (1985), Fig. 8(a–i). Responses when head and tail signals are modulated separately.</a:t>
            </a:r>
          </a:p>
          <a:p>
            <a:r>
              <a:rPr sz="1200">
                <a:latin typeface="Arial"/>
              </a:rPr>
              <a:t>Figure source: </a:t>
            </a:r>
            <a:r>
              <a:rPr sz="1200">
                <a:latin typeface="Arial"/>
                <a:hlinkClick r:id="rId3"/>
              </a:rPr>
              <a:t>https://doi.org/10.1523/jneurosci.05-02-00515.1985</a:t>
            </a:r>
          </a:p>
          <a:p/>
          <a:p>
            <a:r>
              <a:rPr sz="1200">
                <a:latin typeface="Arial"/>
              </a:rPr>
              <a:t>Figure: Carr et al. (1986), Fig. 1(A). Sagittal brain anatomy with torus and electrosensory lateral line lobe.</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Heiligenberg and Rose classified deeper toral neurons by two independent response preferences. Cells could favor rising amplitude, termed E-type, or falling amplitude, termed I-type. They could also favor a local phase advance or a phase delay relative to the comparison region.</a:t>
            </a:r>
          </a:p>
          <a:p>
            <a:r>
              <a:rPr sz="1200">
                <a:latin typeface="Arial"/>
              </a:rPr>
              <a:t>  – The term excitatory in E-type denotes excitation during amplitude increase, not necessarily the neurotransmitter released by the cell. An I-type sensory preference likewise does not establish that the neuron inhibits every postsynaptic target. Sensory response class and synaptic transmitter identity must remain distinct.</a:t>
            </a:r>
          </a:p>
          <a:p>
            <a:r>
              <a:rPr sz="1200">
                <a:latin typeface="Arial"/>
              </a:rPr>
              <a:t>• The resulting E-advance, E-delay, I-advance, and I-delay classes were associated with labeled multipolar cells in deeper laminae. Their dendritic and axonal forms differed from the small comparators of lamina 6. The published drawings preserve their laminar positions and 100-µm scale.</a:t>
            </a:r>
          </a:p>
          <a:p>
            <a:r>
              <a:rPr sz="1200">
                <a:latin typeface="Arial"/>
              </a:rPr>
              <a:t>• The four combinations supply opposing evidence about the sign of interference. Individual neurons were not perfectly invariant across stimulus conditions; the authors emphasized the joint effect of populations. Physiological classification identifies a response preference, while labeled morphology supplies an anatomical correlate rather than a molecular cell identity.</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p>
            <a:r>
              <a:rPr sz="1200">
                <a:latin typeface="Arial"/>
              </a:rPr>
              <a:t>Figure: Heiligenberg &amp; Rose (1985), Fig. 9(a–d). Morphology of excitatory/inhibitory advance/delay classes.</a:t>
            </a:r>
          </a:p>
          <a:p>
            <a:r>
              <a:rPr sz="1200">
                <a:latin typeface="Arial"/>
              </a:rPr>
              <a:t>Figure source: </a:t>
            </a:r>
            <a:r>
              <a:rPr sz="1200">
                <a:latin typeface="Arial"/>
                <a:hlinkClick r:id="rId3"/>
              </a:rPr>
              <a:t>https://doi.org/10.1523/jneurosci.05-02-00515.1985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Metzner recorded a deeper toral neuron during naturalistic interference and then filled it with biocytin, a cellular tracer. Transverse jamming electrodes and longitudinal EOD-mimic electrodes supplied different spatial geometries. The jamming signal differed from the EOD mimic by 2 Hz.</a:t>
            </a:r>
          </a:p>
          <a:p>
            <a:r>
              <a:rPr sz="1200">
                <a:latin typeface="Arial"/>
              </a:rPr>
              <a:t>  – The source could follow the thinner collateral about 600 µm rostrally before describing its diencephalic course. The labeled cell provides a direct link between recorded sensory preference and a candidate downstream target. A complete reconstruction of every sign-selective toral neuron was not obtained.</a:t>
            </a:r>
          </a:p>
          <a:p>
            <a:r>
              <a:rPr sz="1200">
                <a:latin typeface="Arial"/>
              </a:rPr>
              <a:t>• The neuron favored positive Δf under the spatially differentiated stimulus. When the two signals used identical electrodes, differential phase was absent and its response reduced to an amplitude preference. Its axon projected prominently to the optic tectum and sent a thinner collateral toward the nucleus electrosensorius.</a:t>
            </a:r>
          </a:p>
          <a:p>
            <a:r>
              <a:rPr sz="1200">
                <a:latin typeface="Arial"/>
              </a:rPr>
              <a:t>• The collateral formed terminals at the ventral nucleus electrosensorius, consistent with a route carrying information for frequency decreases. Sign selectivity here means unequal responses to positive and negative difference frequencies. The anatomical evidence concerned one successfully labeled neuron and therefore does not establish uniform connectivity for the entire class.</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p>
            <a:r>
              <a:rPr sz="1200">
                <a:latin typeface="Arial"/>
              </a:rPr>
              <a:t>Figure: Metzner (1993), Fig. 14(A–D). Sign-selective physiology and a traced diencephalic projection.</a:t>
            </a:r>
          </a:p>
          <a:p>
            <a:r>
              <a:rPr sz="1200">
                <a:latin typeface="Arial"/>
              </a:rPr>
              <a:t>Figure source: </a:t>
            </a:r>
            <a:r>
              <a:rPr sz="1200">
                <a:latin typeface="Arial"/>
                <a:hlinkClick r:id="rId3"/>
              </a:rPr>
              <a:t>https://doi.org/10.1523/jneurosci.13-05-01862.1993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published synthesis by Heiligenberg and Rose paired four combination-sensitive classes with the amplitude and timing patterns produced by opposite difference frequencies. E-delay and I-advance neurons preferentially represented positive Δf; E-advance and I-delay neurons preferentially represented negative Δf.</a:t>
            </a:r>
          </a:p>
          <a:p>
            <a:r>
              <a:rPr sz="1200">
                <a:latin typeface="Arial"/>
              </a:rPr>
              <a:t>  – The published summary includes pure amplitude coders, phase coders, and cells sensitive to both variables. These are experimentally distinguishable stages of representation. Their coexistence also prevents the conclusion that every toral cell individually encodes the complete sign decision.</a:t>
            </a:r>
          </a:p>
          <a:p>
            <a:r>
              <a:rPr sz="1200">
                <a:latin typeface="Arial"/>
              </a:rPr>
              <a:t>• Positive Δf denotes a higher-frequency neighbor and calls for a decrease in the focal fish’s EOD. Negative Δf denotes a lower-frequency neighbor and calls for an increase. The population code converts the relationship between two sensory variables into evidence for these opposing motor outcomes.</a:t>
            </a:r>
          </a:p>
          <a:p>
            <a:r>
              <a:rPr sz="1200">
                <a:latin typeface="Arial"/>
              </a:rPr>
              <a:t>• The authors derived this classification from intracellular response tests and labeled neurons. A population interpretation accommodates incomplete tuning in single cells, but the 1985 study did not causally silence each class. Later motor-pathway experiments were needed to determine how the sensory decision changed oscillator frequency.</a:t>
            </a:r>
          </a:p>
          <a:p/>
          <a:p>
            <a:r>
              <a:rPr sz="1200">
                <a:latin typeface="Arial"/>
              </a:rPr>
              <a:t>References:</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3"/>
              </a:rPr>
              <a:t>https://doi.org/10.1523/jneurosci.05-02-00515.1985</a:t>
            </a:r>
          </a:p>
          <a:p/>
          <a:p>
            <a:r>
              <a:rPr sz="1200">
                <a:latin typeface="Arial"/>
              </a:rPr>
              <a:t>Figure: Heiligenberg &amp; Rose (1985), Fig. 12. Four combination-sensitive classes encode opposite beat signs.</a:t>
            </a:r>
          </a:p>
          <a:p>
            <a:r>
              <a:rPr sz="1200">
                <a:latin typeface="Arial"/>
              </a:rPr>
              <a:t>Figure source: </a:t>
            </a:r>
            <a:r>
              <a:rPr sz="1200">
                <a:latin typeface="Arial"/>
                <a:hlinkClick r:id="rId3"/>
              </a:rPr>
              <a:t>https://doi.org/10.1523/jneurosci.05-02-00515.1985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Metzner tested the earlier idea that one prepacemaker population controlled both directions of the JAR. The study combined brain lesions, stimulation, pharmacology, and continuous recording of EOD frequency in immobilized Eigenmannia. The nucleus electrosensorius is a diencephalic sensory–motor interface.</a:t>
            </a:r>
          </a:p>
          <a:p>
            <a:r>
              <a:rPr sz="1200">
                <a:latin typeface="Arial"/>
              </a:rPr>
              <a:t>  – The older single-population interpretation treated a decrease as reduced activity in the same neurons producing increases. Selective lesions supported a different organization. Each route can alter one direction of frequency modulation while the other direction remains available.</a:t>
            </a:r>
          </a:p>
          <a:p>
            <a:r>
              <a:rPr sz="1200">
                <a:latin typeface="Arial"/>
              </a:rPr>
              <a:t>• The dorsal electrosensorius pathway drives the gradual prepacemaker region, PPn-G, and supports frequency increases. A ventral pathway engages the sublemniscal prepacemaker nucleus, or SPPn, and supports decreases by reducing its ongoing excitatory influence on the pacemaker network.</a:t>
            </a:r>
          </a:p>
          <a:p>
            <a:r>
              <a:rPr sz="1200">
                <a:latin typeface="Arial"/>
              </a:rPr>
              <a:t>• The published circuit separates these routes from the chirp-controlling PPn-C. The proposed architecture was constrained by selective losses and preserved responses, rather than by a diagram alone. Some cellular targets in 1993 remained inferred; subsequent intracellular recordings tested the target-cell assignments directly.</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4"/>
              </a:rPr>
              <a:t>https://doi.org/10.1523/jneurosci.18-21-09010.1998</a:t>
            </a:r>
          </a:p>
          <a:p/>
          <a:p>
            <a:r>
              <a:rPr sz="1200">
                <a:latin typeface="Arial"/>
              </a:rPr>
              <a:t>Figure: Metzner (1993), Fig. 2. Separate acceleration, deceleration, and chirp pathways.</a:t>
            </a:r>
          </a:p>
          <a:p>
            <a:r>
              <a:rPr sz="1200">
                <a:latin typeface="Arial"/>
              </a:rPr>
              <a:t>Figure source: </a:t>
            </a:r>
            <a:r>
              <a:rPr sz="1200">
                <a:latin typeface="Arial"/>
                <a:hlinkClick r:id="rId3"/>
              </a:rPr>
              <a:t>https://doi.org/10.1523/jneurosci.13-05-01862.1993</a:t>
            </a:r>
          </a:p>
          <a:p/>
          <a:p>
            <a:r>
              <a:rPr sz="1200">
                <a:latin typeface="Arial"/>
              </a:rPr>
              <a:t>Figure: Juranek &amp; Metzner (1998), Fig. 1. Published circuit with pacemaker and relay-cell targets.</a:t>
            </a:r>
          </a:p>
          <a:p>
            <a:r>
              <a:rPr sz="1200">
                <a:latin typeface="Arial"/>
              </a:rPr>
              <a:t>Figure source: </a:t>
            </a:r>
            <a:r>
              <a:rPr sz="1200">
                <a:latin typeface="Arial"/>
                <a:hlinkClick r:id="rId5"/>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Metzner made bilateral lesions in the PPn-G/central posterior region and measured the JAR before and after the manipulation. The jamming stimulus alternated between positive and negative frequency differences, while the fish’s resting EOD frequency supplied the reference for response direction.</a:t>
            </a:r>
          </a:p>
          <a:p>
            <a:r>
              <a:rPr sz="1200">
                <a:latin typeface="Arial"/>
              </a:rPr>
              <a:t>  – The original analysis also separated recovery toward baseline after a previous response from a newly induced frequency decrease. Passive recovery can continue even when a specific JAR direction is lost. A frequency trace must therefore be related to the stimulus and resting level, not interpreted from its slope alone.</a:t>
            </a:r>
          </a:p>
          <a:p>
            <a:r>
              <a:rPr sz="1200">
                <a:latin typeface="Arial"/>
              </a:rPr>
              <a:t>• After the lesion, the EOD no longer rose above resting frequency in response to a lower-frequency signal. Frequency decreases elicited by a higher-frequency signal remained. The published records compare responses approximately one minute before the lesion with those after it and document lesion location.</a:t>
            </a:r>
          </a:p>
          <a:p>
            <a:r>
              <a:rPr sz="1200">
                <a:latin typeface="Arial"/>
              </a:rPr>
              <a:t>• This selective deficit identifies the region as necessary for normal frequency acceleration under the tested conditions. Preserved deceleration argues against a complete loss of sensation, pacemaker function, or all motor output. The lesion affects a region and its connections, so it does not isolate one molecularly identified neuron type.</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p>
            <a:r>
              <a:rPr sz="1200">
                <a:latin typeface="Arial"/>
              </a:rPr>
              <a:t>Figure: Metzner (1993), Fig. 3(A–D). Prepacemaker lesions remove frequency increases selectively.</a:t>
            </a:r>
          </a:p>
          <a:p>
            <a:r>
              <a:rPr sz="1200">
                <a:latin typeface="Arial"/>
              </a:rPr>
              <a:t>Figure source: </a:t>
            </a:r>
            <a:r>
              <a:rPr sz="1200">
                <a:latin typeface="Arial"/>
                <a:hlinkClick r:id="rId3"/>
              </a:rPr>
              <a:t>https://doi.org/10.1523/jneurosci.13-05-01862.1993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Metzner stimulated dorsal and ventral nucleus electrosensorius sites and the SPPn before and after a PPn-G lesion. Iontophoresis uses electrical current to deliver a charged compound locally; L-glutamate was applied to activate neurons near the stimulation electrode.</a:t>
            </a:r>
          </a:p>
          <a:p>
            <a:r>
              <a:rPr sz="1200">
                <a:latin typeface="Arial"/>
              </a:rPr>
              <a:t>  – The stimulation bars in the original records delimit the period of local activation. The comparison concerns the same candidate pathway before and after a structural interruption. Resting frequency and the direction of induced change remain separate from the availability of a natural jamming cue.</a:t>
            </a:r>
          </a:p>
          <a:p>
            <a:r>
              <a:rPr sz="1200">
                <a:latin typeface="Arial"/>
              </a:rPr>
              <a:t>• After the lesion, stimulation of the dorsal electrosensorius no longer produced the normal frequency increase through the damaged route. Responses associated with the ventral electrosensorius and SPPn remained, consistent with their access to the oscillator through a separate pathway.</a:t>
            </a:r>
          </a:p>
          <a:p>
            <a:r>
              <a:rPr sz="1200">
                <a:latin typeface="Arial"/>
              </a:rPr>
              <a:t>• Combining lesions with stimulation distinguishes damage to an ascending sensory representation from interruption of a descending route. The preserved alternative responses also constrain nonspecific explanations for the lesion effect. Local chemical stimulation nevertheless activates nearby cells and does not prove a monosynaptic connection between every named structure.</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4"/>
              </a:rPr>
              <a:t>https://doi.org/10.1523/jneurosci.18-21-09010.1998</a:t>
            </a:r>
          </a:p>
          <a:p/>
          <a:p>
            <a:r>
              <a:rPr sz="1200">
                <a:latin typeface="Arial"/>
              </a:rPr>
              <a:t>Figure: Metzner (1993), Fig. 4(A–C). Upstream stimulation before and after prepacemaker lesions.</a:t>
            </a:r>
          </a:p>
          <a:p>
            <a:r>
              <a:rPr sz="1200">
                <a:latin typeface="Arial"/>
              </a:rPr>
              <a:t>Figure source: </a:t>
            </a:r>
            <a:r>
              <a:rPr sz="1200">
                <a:latin typeface="Arial"/>
                <a:hlinkClick r:id="rId3"/>
              </a:rPr>
              <a:t>https://doi.org/10.1523/jneurosci.13-05-01862.1993</a:t>
            </a:r>
          </a:p>
          <a:p/>
          <a:p>
            <a:r>
              <a:rPr sz="1200">
                <a:latin typeface="Arial"/>
              </a:rPr>
              <a:t>Figure: Juranek &amp; Metzner (1998), Fig. 1. Published circuit with pacemaker and relay-cell targets.</a:t>
            </a:r>
          </a:p>
          <a:p>
            <a:r>
              <a:rPr sz="1200">
                <a:latin typeface="Arial"/>
              </a:rPr>
              <a:t>Figure source: </a:t>
            </a:r>
            <a:r>
              <a:rPr sz="1200">
                <a:latin typeface="Arial"/>
                <a:hlinkClick r:id="rId5"/>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SPPn is a scattered brainstem population rather than a conspicuous compact nucleus. Metzner injected a retrograde tracer into the medullary pacemaker nucleus and examined labeled cells at the appropriate level of the brainstem tegmentum.</a:t>
            </a:r>
          </a:p>
          <a:p>
            <a:r>
              <a:rPr sz="1200">
                <a:latin typeface="Arial"/>
              </a:rPr>
              <a:t>  – The SPPn’s position relative to the lateral lemniscus and nearby structures guided the experiments. An injection into the pacemaker must be evaluated for spread to neighboring tissue. Anatomical labeling supports pathway localization while the selective behavioral effects constrain the role assigned to it.</a:t>
            </a:r>
          </a:p>
          <a:p>
            <a:r>
              <a:rPr sz="1200">
                <a:latin typeface="Arial"/>
              </a:rPr>
              <a:t>• Retrograde tracing labels neurons that project toward the injection site. The published histology identifies scattered cells beneath the lateral lemniscus, with 100-µm scales in the broader and enlarged views. These cells supplied an anatomical candidate for an independent premotor route.</a:t>
            </a:r>
          </a:p>
          <a:p>
            <a:r>
              <a:rPr sz="1200">
                <a:latin typeface="Arial"/>
              </a:rPr>
              <a:t>• The tracer identifies a projection to the pacemaker region; it does not independently determine whether those cells raise or lower frequency. Physiological stimulation and lesions supplied the complementary functional evidence. Sparse organization also makes precise lesion placement and chemical stimulation more difficult than in a large compact nucleus.</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p>
            <a:r>
              <a:rPr sz="1200">
                <a:latin typeface="Arial"/>
              </a:rPr>
              <a:t>Figure: Metzner (1993), Fig. 5(A–B). Retrograde labeling identifies the sublemniscal prepacemaker.</a:t>
            </a:r>
          </a:p>
          <a:p>
            <a:r>
              <a:rPr sz="1200">
                <a:latin typeface="Arial"/>
              </a:rPr>
              <a:t>Figure source: </a:t>
            </a:r>
            <a:r>
              <a:rPr sz="1200">
                <a:latin typeface="Arial"/>
                <a:hlinkClick r:id="rId3"/>
              </a:rPr>
              <a:t>https://doi.org/10.1523/jneurosci.13-05-01862.1993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Metzner lesioned the SPPn and compared responses before and after the manipulation. Before the lesion, positive difference frequencies lowered the EOD and negative difference frequencies raised it. The published anatomical panel documents the lesion within the relevant brainstem region.</a:t>
            </a:r>
          </a:p>
          <a:p>
            <a:r>
              <a:rPr sz="1200">
                <a:latin typeface="Arial"/>
              </a:rPr>
              <a:t>  – The paper distinguished stimulus-induced deceleration from passive return after an earlier frequency increase. Lowering the oscillator’s baseline does not mean the entire pacemaker is silenced. The network continues discharging, but one route for moving below its operating frequency has been removed.</a:t>
            </a:r>
          </a:p>
          <a:p>
            <a:r>
              <a:rPr sz="1200">
                <a:latin typeface="Arial"/>
              </a:rPr>
              <a:t>• The lesion lowered the resting EOD frequency and eliminated further JAR decreases below the new baseline. Frequency increases to lower-frequency jamming signals remained. The result contrasts with PPn-G lesions, which removed acceleration while sparing deceleration.</a:t>
            </a:r>
          </a:p>
          <a:p>
            <a:r>
              <a:rPr sz="1200">
                <a:latin typeface="Arial"/>
              </a:rPr>
              <a:t>• The baseline decrease indicates that the SPPn normally supplies tonic drive, an influence maintained even without a jamming stimulus. JAR deceleration can reduce that drive. Selective preservation of acceleration supports independent control routes; lesion extent and neighboring tissue remain limitations of a regional ablation.</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p>
            <a:r>
              <a:rPr sz="1200">
                <a:latin typeface="Arial"/>
              </a:rPr>
              <a:t>Figure: Metzner (1993), Fig. 6(A–D). Sublemniscal lesions alter baseline and abolish decreases.</a:t>
            </a:r>
          </a:p>
          <a:p>
            <a:r>
              <a:rPr sz="1200">
                <a:latin typeface="Arial"/>
              </a:rPr>
              <a:t>Figure source: </a:t>
            </a:r>
            <a:r>
              <a:rPr sz="1200">
                <a:latin typeface="Arial"/>
                <a:hlinkClick r:id="rId3"/>
              </a:rPr>
              <a:t>https://doi.org/10.1523/jneurosci.13-05-01862.1993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GABA, gamma-aminobutyric acid, is an inhibitory neurotransmitter in the tested pathway. Metzner applied GABA to the SPPn and measured a fall in resting EOD frequency. Electrical stimulation of the same region instead increased the operating frequency.</a:t>
            </a:r>
          </a:p>
          <a:p>
            <a:r>
              <a:rPr sz="1200">
                <a:latin typeface="Arial"/>
              </a:rPr>
              <a:t>  – The published experiments compared resting frequency with ongoing JAR performance. GABA changed the operating level while the preserved responses constrained generalized suppression. Pharmacological delivery concentration is not the measured concentration at each synapse, so it cannot be treated as an endogenous transmitter level.</a:t>
            </a:r>
          </a:p>
          <a:p>
            <a:r>
              <a:rPr sz="1200">
                <a:latin typeface="Arial"/>
              </a:rPr>
              <a:t>• Bicuculline, an antagonist that interferes with GABA-sensitive inhibition, raised the baseline when applied locally. It also blocked the frequency decrease normally elicited by stimulating the ventral nucleus electrosensorius. That upstream stimulation therefore depended on inhibitory action within the sublemniscal route.</a:t>
            </a:r>
          </a:p>
          <a:p>
            <a:r>
              <a:rPr sz="1200">
                <a:latin typeface="Arial"/>
              </a:rPr>
              <a:t>• The mechanistic sequence is inhibition of SPPn activity, reduction of tonic excitation reaching the pacemaker, and slower EOD output. A slower oscillator need not result from direct inhibition of its rhythm-generating cells. Local drug effects establish a GABA-sensitive mechanism without identifying every receptor subunit or ion conductance in the SPPn.</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4"/>
              </a:rPr>
              <a:t>https://doi.org/10.1523/jneurosci.18-21-09010.1998</a:t>
            </a:r>
          </a:p>
          <a:p/>
          <a:p>
            <a:r>
              <a:rPr sz="1200">
                <a:latin typeface="Arial"/>
              </a:rPr>
              <a:t>Figure: Metzner (1993), Fig. 8(A–D). GABA and bicuculline effects in the sublemniscal nucleus.</a:t>
            </a:r>
          </a:p>
          <a:p>
            <a:r>
              <a:rPr sz="1200">
                <a:latin typeface="Arial"/>
              </a:rPr>
              <a:t>Figure source: </a:t>
            </a:r>
            <a:r>
              <a:rPr sz="1200">
                <a:latin typeface="Arial"/>
                <a:hlinkClick r:id="rId3"/>
              </a:rPr>
              <a:t>https://doi.org/10.1523/jneurosci.13-05-01862.1993</a:t>
            </a:r>
          </a:p>
          <a:p/>
          <a:p>
            <a:r>
              <a:rPr sz="1200">
                <a:latin typeface="Arial"/>
              </a:rPr>
              <a:t>Figure: Juranek &amp; Metzner (1998), Fig. 1. Published circuit with pacemaker and relay-cell targets.</a:t>
            </a:r>
          </a:p>
          <a:p>
            <a:r>
              <a:rPr sz="1200">
                <a:latin typeface="Arial"/>
              </a:rPr>
              <a:t>Figure source: </a:t>
            </a:r>
            <a:r>
              <a:rPr sz="1200">
                <a:latin typeface="Arial"/>
                <a:hlinkClick r:id="rId5"/>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Glutamate is an excitatory neurotransmitter acting through several receptor classes. AMPA-type receptors are glutamate-sensitive, channel-forming receptors; their activation changes postsynaptic membrane conductance. Metzner injected CNQX, an antagonist of AMPA/non-NMDA transmission, into the medullary pacemaker nucleus.</a:t>
            </a:r>
          </a:p>
          <a:p>
            <a:r>
              <a:rPr sz="1200">
                <a:latin typeface="Arial"/>
              </a:rPr>
              <a:t>  – An antagonist reduces signaling through a receptor class, whereas L-glutamate stimulation activates nearby neurons through available receptors. These interventions answer different questions. The vehicle control was essential because injecting fluid into a small nucleus can alter the recording or local tissue independently of receptor blockade.</a:t>
            </a:r>
          </a:p>
          <a:p>
            <a:r>
              <a:rPr sz="1200">
                <a:latin typeface="Arial"/>
              </a:rPr>
              <a:t>• CNQX selectively suppressed the frequency increases normally evoked by negative Δf. Frequency decreases remained available, and the acceleration response recovered after the drug effect diminished. Artificial cerebrospinal-fluid injections provided a control for mechanical and solution-delivery effects.</a:t>
            </a:r>
          </a:p>
          <a:p>
            <a:r>
              <a:rPr sz="1200">
                <a:latin typeface="Arial"/>
              </a:rPr>
              <a:t>• The result assigns an AMPA-sensitive component to the acceleration route rather than requiring the same receptor mechanism for both JAR directions. It does not imply that all glutamatergic input uses AMPA receptors exclusively. Drug spread and the electrically coupled oscillator network limit localization to an individual synaptic contact.</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4"/>
              </a:rPr>
              <a:t>https://doi.org/10.1523/jneurosci.18-21-09010.1998</a:t>
            </a:r>
          </a:p>
          <a:p/>
          <a:p>
            <a:r>
              <a:rPr sz="1200">
                <a:latin typeface="Arial"/>
              </a:rPr>
              <a:t>Figure: Metzner (1993), Fig. 9(A–C). CNQX selectively suppresses JAR frequency increases.</a:t>
            </a:r>
          </a:p>
          <a:p>
            <a:r>
              <a:rPr sz="1200">
                <a:latin typeface="Arial"/>
              </a:rPr>
              <a:t>Figure source: </a:t>
            </a:r>
            <a:r>
              <a:rPr sz="1200">
                <a:latin typeface="Arial"/>
                <a:hlinkClick r:id="rId3"/>
              </a:rPr>
              <a:t>https://doi.org/10.1523/jneurosci.13-05-01862.1993</a:t>
            </a:r>
          </a:p>
          <a:p/>
          <a:p>
            <a:r>
              <a:rPr sz="1200">
                <a:latin typeface="Arial"/>
              </a:rPr>
              <a:t>Figure: Juranek &amp; Metzner (1998), Fig. 1. Published circuit with pacemaker and relay-cell targets.</a:t>
            </a:r>
          </a:p>
          <a:p>
            <a:r>
              <a:rPr sz="1200">
                <a:latin typeface="Arial"/>
              </a:rPr>
              <a:t>Figure source: </a:t>
            </a:r>
            <a:r>
              <a:rPr sz="1200">
                <a:latin typeface="Arial"/>
                <a:hlinkClick r:id="rId5"/>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Metzner combined pacemaker CNQX injections with stimulation of upstream structures. Activation of dorsal nucleus electrosensorius and PPn-G tested frequency-increasing commands; activation of ventral electrosensorius and manipulation of the SPPn tested the deceleration route.</a:t>
            </a:r>
          </a:p>
          <a:p>
            <a:r>
              <a:rPr sz="1200">
                <a:latin typeface="Arial"/>
              </a:rPr>
              <a:t>  – The same pacemaker network can remain responsive after one receptor-dependent input is weakened. A preserved response through another input therefore acts as a functional control for the ability of the oscillator to change frequency. Electrical coupling also allows a local synaptic effect to influence network output.</a:t>
            </a:r>
          </a:p>
          <a:p>
            <a:r>
              <a:rPr sz="1200">
                <a:latin typeface="Arial"/>
              </a:rPr>
              <a:t>• CNQX strongly reduced accelerations induced through the dorsal and PPn-G pathway. Effects associated with the alternative route were retained to a much greater extent. The original frequency traces use a 5-Hz vertical calibration and document the timing of drug delivery and upstream stimulation.</a:t>
            </a:r>
          </a:p>
          <a:p>
            <a:r>
              <a:rPr sz="1200">
                <a:latin typeface="Arial"/>
              </a:rPr>
              <a:t>• The experiment places the receptor-sensitive step downstream of the stimulated acceleration structures. It is stronger evidence than loss of natural JAR alone, which could result from disrupting sensory encoding. The source supports pathway-specific glutamatergic transmission, while the exact balance of receptor classes requires additional cellular evidence.</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4"/>
              </a:rPr>
              <a:t>https://doi.org/10.1523/jneurosci.18-21-09010.1998</a:t>
            </a:r>
          </a:p>
          <a:p/>
          <a:p>
            <a:r>
              <a:rPr sz="1200">
                <a:latin typeface="Arial"/>
              </a:rPr>
              <a:t>Figure: Metzner (1993), Fig. 11(A–E). CNQX effects on stimulated acceleration and deceleration routes.</a:t>
            </a:r>
          </a:p>
          <a:p>
            <a:r>
              <a:rPr sz="1200">
                <a:latin typeface="Arial"/>
              </a:rPr>
              <a:t>Figure source: </a:t>
            </a:r>
            <a:r>
              <a:rPr sz="1200">
                <a:latin typeface="Arial"/>
                <a:hlinkClick r:id="rId3"/>
              </a:rPr>
              <a:t>https://doi.org/10.1523/jneurosci.13-05-01862.1993</a:t>
            </a:r>
          </a:p>
          <a:p/>
          <a:p>
            <a:r>
              <a:rPr sz="1200">
                <a:latin typeface="Arial"/>
              </a:rPr>
              <a:t>Figure: Juranek &amp; Metzner (1998), Fig. 1. Published circuit with pacemaker and relay-cell targets.</a:t>
            </a:r>
          </a:p>
          <a:p>
            <a:r>
              <a:rPr sz="1200">
                <a:latin typeface="Arial"/>
              </a:rPr>
              <a:t>Figure source: </a:t>
            </a:r>
            <a:r>
              <a:rPr sz="1200">
                <a:latin typeface="Arial"/>
                <a:hlinkClick r:id="rId5"/>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NMDA-type receptors are another glutamate-sensitive channel-forming receptor class. Metzner injected APV, an NMDA-receptor antagonist, into the pacemaker nucleus while monitoring resting frequency and JAR responses. The intervention tested the tonic sublemniscal influence separately from the CNQX-sensitive route.</a:t>
            </a:r>
          </a:p>
          <a:p>
            <a:r>
              <a:rPr sz="1200">
                <a:latin typeface="Arial"/>
              </a:rPr>
              <a:t>  – The baseline change follows removal of excitatory drive, and later deceleration is limited because the same tonic component has already been reduced. This mechanism differs from opening a new inhibitory conductance directly in the pacemaker. The original temporal record is necessary to separate early nonspecific changes from the longer selective deficit.</a:t>
            </a:r>
          </a:p>
          <a:p>
            <a:r>
              <a:rPr sz="1200">
                <a:latin typeface="Arial"/>
              </a:rPr>
              <a:t>• In the published example, APV lowered resting frequency from 215 to 209 Hz. Both JAR directions were initially reduced, but acceleration recovered after roughly one minute, whereas the deceleration response recovered only after approximately 12 minutes.</a:t>
            </a:r>
          </a:p>
          <a:p>
            <a:r>
              <a:rPr sz="1200">
                <a:latin typeface="Arial"/>
              </a:rPr>
              <a:t>• The different recovery courses, together with upstream stimulation tests, support an NMDA-sensitive tonic input required for frequency decreases. Initial suppression of both directions should not be interpreted as identical pathway dependence. The experiment measures network behavior during a local drug perturbation, rather than isolated receptor current in a single identified cell.</a:t>
            </a:r>
          </a:p>
          <a:p/>
          <a:p>
            <a:r>
              <a:rPr sz="1200">
                <a:latin typeface="Arial"/>
              </a:rPr>
              <a:t>References:</a:t>
            </a:r>
          </a:p>
          <a:p>
            <a:r>
              <a:rPr sz="1200">
                <a:latin typeface="Arial"/>
              </a:rPr>
              <a:t>Metzner W (1993). The jamming avoidance response in Eigenmannia is controlled by two separate motor pathways. The Journal of Neuroscience 13(5):1862-1878. </a:t>
            </a:r>
            <a:r>
              <a:rPr sz="1200">
                <a:latin typeface="Arial"/>
                <a:hlinkClick r:id="rId3"/>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4"/>
              </a:rPr>
              <a:t>https://doi.org/10.1523/jneurosci.18-21-09010.1998</a:t>
            </a:r>
          </a:p>
          <a:p/>
          <a:p>
            <a:r>
              <a:rPr sz="1200">
                <a:latin typeface="Arial"/>
              </a:rPr>
              <a:t>Figure: Metzner (1993), Fig. 12(A–C). APV lowers baseline and delays recovery of frequency decreases.</a:t>
            </a:r>
          </a:p>
          <a:p>
            <a:r>
              <a:rPr sz="1200">
                <a:latin typeface="Arial"/>
              </a:rPr>
              <a:t>Figure source: </a:t>
            </a:r>
            <a:r>
              <a:rPr sz="1200">
                <a:latin typeface="Arial"/>
                <a:hlinkClick r:id="rId3"/>
              </a:rPr>
              <a:t>https://doi.org/10.1523/jneurosci.13-05-01862.1993</a:t>
            </a:r>
          </a:p>
          <a:p/>
          <a:p>
            <a:r>
              <a:rPr sz="1200">
                <a:latin typeface="Arial"/>
              </a:rPr>
              <a:t>Figure: Juranek &amp; Metzner (1998), Fig. 1. Published circuit with pacemaker and relay-cell targets.</a:t>
            </a:r>
          </a:p>
          <a:p>
            <a:r>
              <a:rPr sz="1200">
                <a:latin typeface="Arial"/>
              </a:rPr>
              <a:t>Figure source: </a:t>
            </a:r>
            <a:r>
              <a:rPr sz="1200">
                <a:latin typeface="Arial"/>
                <a:hlinkClick r:id="rId5"/>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Kawasaki and Heiligenberg’s 1990 study compared pharmacological control of neuronal oscillators in different electric-fish genera. Its Eigenmannia record tested APV and bicuculline within the pacemaker nucleus, before the later demonstration of separate JAR motor routes.</a:t>
            </a:r>
          </a:p>
          <a:p>
            <a:r>
              <a:rPr sz="1200">
                <a:latin typeface="Arial"/>
              </a:rPr>
              <a:t>  – The 1990 paper includes many experiments in the pulse-type genus Hypopomus. Its anatomical and drug results cannot all be transferred to Eigenmannia. The selected panel specifically concerns Eigenmannia, and later primary experiments are cited to explain the revised circuit assignment.</a:t>
            </a:r>
          </a:p>
          <a:p>
            <a:r>
              <a:rPr sz="1200">
                <a:latin typeface="Arial"/>
              </a:rPr>
              <a:t>• APV at 500 µM lowered resting frequency and reduced JAR frequency rises. Bicuculline at 2 mM did not produce the corresponding inhibitory-blockade effect in Eigenmannia. These results initially supported a prominent glutamatergic influence and argued against simple GABA-mediated inhibition directly at the oscillator.</a:t>
            </a:r>
          </a:p>
          <a:p>
            <a:r>
              <a:rPr sz="1200">
                <a:latin typeface="Arial"/>
              </a:rPr>
              <a:t>• Metzner’s subsequent lesions, receptor blockade, and recovery comparisons refined the interpretation. Frequency decrease involves GABA-sensitive inhibition upstream in the SPPn and loss of tonic excitation downstream. An early drug effect on a coupled network cannot alone identify the physiological target cells or every route contributing to the response.</a:t>
            </a:r>
          </a:p>
          <a:p/>
          <a:p>
            <a:r>
              <a:rPr sz="1200">
                <a:latin typeface="Arial"/>
              </a:rPr>
              <a:t>References:</a:t>
            </a:r>
          </a:p>
          <a:p>
            <a:r>
              <a:rPr sz="1200">
                <a:latin typeface="Arial"/>
              </a:rPr>
              <a:t>Kawasaki M, Heiligenberg W (1990). Different classes of glutamate receptors and GABA mediate distinct modulations of a neuronal oscillator, the medullary pacemaker of a gymnotiform electric fish. The Journal of Neuroscience 10(12):3896-3904. </a:t>
            </a:r>
            <a:r>
              <a:rPr sz="1200">
                <a:latin typeface="Arial"/>
                <a:hlinkClick r:id="rId3"/>
              </a:rPr>
              <a:t>https://doi.org/10.1523/jneurosci.10-12-03896.1990</a:t>
            </a:r>
          </a:p>
          <a:p>
            <a:r>
              <a:rPr sz="1200">
                <a:latin typeface="Arial"/>
              </a:rPr>
              <a:t>Metzner W (1993). The jamming avoidance response in Eigenmannia is controlled by two separate motor pathways. The Journal of Neuroscience 13(5):1862-1878. </a:t>
            </a:r>
            <a:r>
              <a:rPr sz="1200">
                <a:latin typeface="Arial"/>
                <a:hlinkClick r:id="rId4"/>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5"/>
              </a:rPr>
              <a:t>https://doi.org/10.1523/jneurosci.18-21-09010.1998</a:t>
            </a:r>
          </a:p>
          <a:p/>
          <a:p>
            <a:r>
              <a:rPr sz="1200">
                <a:latin typeface="Arial"/>
              </a:rPr>
              <a:t>Figure: Kawasaki &amp; Heiligenberg (1990), Fig. 4. Early APV and bicuculline tests in Eigenmannia.</a:t>
            </a:r>
          </a:p>
          <a:p>
            <a:r>
              <a:rPr sz="1200">
                <a:latin typeface="Arial"/>
              </a:rPr>
              <a:t>Figure source: </a:t>
            </a:r>
            <a:r>
              <a:rPr sz="1200">
                <a:latin typeface="Arial"/>
                <a:hlinkClick r:id="rId3"/>
              </a:rPr>
              <a:t>https://doi.org/10.1523/jneurosci.10-12-03896.1990</a:t>
            </a:r>
          </a:p>
          <a:p/>
          <a:p>
            <a:r>
              <a:rPr sz="1200">
                <a:latin typeface="Arial"/>
              </a:rPr>
              <a:t>Figure: Juranek &amp; Metzner (1998), Fig. 1. Published circuit with pacemaker and relay-cell targets.</a:t>
            </a:r>
          </a:p>
          <a:p>
            <a:r>
              <a:rPr sz="1200">
                <a:latin typeface="Arial"/>
              </a:rPr>
              <a:t>Figure source: </a:t>
            </a:r>
            <a:r>
              <a:rPr sz="1200">
                <a:latin typeface="Arial"/>
                <a:hlinkClick r:id="rId6"/>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Juranek and Metzner recorded intracellularly from pacemaker and relay cells while activating PPn-G. Pacemaker cells generate the rhythm; relay cells transmit the command toward spinal output. Histological labeling verified cell identity after physiological classification.</a:t>
            </a:r>
          </a:p>
          <a:p>
            <a:r>
              <a:rPr sz="1200">
                <a:latin typeface="Arial"/>
              </a:rPr>
              <a:t>  – The investigators tested whether changing membrane voltage alone altered resistance across the relevant operating range. That control reduced an explanation based solely on intrinsic voltage-dependent conductances. The measurement locates a synaptic influence more directly than an EOD-frequency trace alone.</a:t>
            </a:r>
          </a:p>
          <a:p>
            <a:r>
              <a:rPr sz="1200">
                <a:latin typeface="Arial"/>
              </a:rPr>
              <a:t>• Brief current pulses measured input resistance, the voltage response per injected current. PPn-G stimulation produced gradual accelerations of 5–30 Hz and decreased resistance more strongly in pacemaker cells. The published example begins near 496 Hz with a pacemaker-cell resistance of 3.4 MΩ.</a:t>
            </a:r>
          </a:p>
          <a:p>
            <a:r>
              <a:rPr sz="1200">
                <a:latin typeface="Arial"/>
              </a:rPr>
              <a:t>• A resistance decrease indicates greater conductance, or easier current flow through the membrane. The preferential change supports excitatory input onto rhythm-generating cells. Smaller changes in relay cells can arise through coupling, so an observed effect in both cell types does not imply equivalent direct innervation.</a:t>
            </a:r>
          </a:p>
          <a:p/>
          <a:p>
            <a:r>
              <a:rPr sz="1200">
                <a:latin typeface="Arial"/>
              </a:rPr>
              <a:t>References:</a:t>
            </a:r>
          </a:p>
          <a:p>
            <a:r>
              <a:rPr sz="1200">
                <a:latin typeface="Arial"/>
              </a:rPr>
              <a:t>Juranek J, Metzner W (1998). Segregation of Behavior-Specific Synaptic Inputs to a Vertebrate Neuronal Oscillator. The Journal of Neuroscience 18(21):9010-9019. </a:t>
            </a:r>
            <a:r>
              <a:rPr sz="1200">
                <a:latin typeface="Arial"/>
                <a:hlinkClick r:id="rId3"/>
              </a:rPr>
              <a:t>https://doi.org/10.1523/jneurosci.18-21-09010.1998</a:t>
            </a:r>
          </a:p>
          <a:p/>
          <a:p>
            <a:r>
              <a:rPr sz="1200">
                <a:latin typeface="Arial"/>
              </a:rPr>
              <a:t>Figure: Juranek &amp; Metzner (1998), Fig. 6(A–C). Input-resistance changes during gradual frequency increases.</a:t>
            </a:r>
          </a:p>
          <a:p>
            <a:r>
              <a:rPr sz="1200">
                <a:latin typeface="Arial"/>
              </a:rPr>
              <a:t>Figure source: </a:t>
            </a:r>
            <a:r>
              <a:rPr sz="1200">
                <a:latin typeface="Arial"/>
                <a:hlinkClick r:id="rId3"/>
              </a:rPr>
              <a:t>https://doi.org/10.1523/jneurosci.18-21-09010.1998</a:t>
            </a:r>
          </a:p>
          <a:p/>
          <a:p>
            <a:r>
              <a:rPr sz="1200">
                <a:latin typeface="Arial"/>
              </a:rPr>
              <a:t>Figure: Juranek &amp; Metzner (1998), Fig. 1. Published circuit with pacemaker and relay-cell targets.</a:t>
            </a:r>
          </a:p>
          <a:p>
            <a:r>
              <a:rPr sz="1200">
                <a:latin typeface="Arial"/>
              </a:rPr>
              <a:t>Figure source: </a:t>
            </a:r>
            <a:r>
              <a:rPr sz="1200">
                <a:latin typeface="Arial"/>
                <a:hlinkClick r:id="rId4"/>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Juranek and Metzner activated the ventral nucleus electrosensorius to inhibit the SPPn indirectly while recording identified oscillator cells. Directly manipulating the sparse SPPn consistently was difficult, so the upstream route supplied a reproducible way to reduce its tonic influence.</a:t>
            </a:r>
          </a:p>
          <a:p>
            <a:r>
              <a:rPr sz="1200">
                <a:latin typeface="Arial"/>
              </a:rPr>
              <a:t>  – The causal sequence connects an upstream inhibitory action to reduced downstream excitation. The transmitter-mediated conductance at the relay cell and the GABA-sensitive influence in the SPPn occupy different synapses. Treating them as one direct GABA input to the pacemaker would misidentify the circuit.</a:t>
            </a:r>
          </a:p>
          <a:p>
            <a:r>
              <a:rPr sz="1200">
                <a:latin typeface="Arial"/>
              </a:rPr>
              <a:t>• The stimulation produced gradual frequency decreases of 3–5 Hz. During a representative 4-Hz decrease, relay-cell input resistance increased by 8%, whereas the pacemaker-cell increase was 5%. The relay-cell response tracked deceleration more consistently across the recorded conditions.</a:t>
            </a:r>
          </a:p>
          <a:p>
            <a:r>
              <a:rPr sz="1200">
                <a:latin typeface="Arial"/>
              </a:rPr>
              <a:t>• Increased resistance indicates removal of membrane conductance, supporting withdrawal of tonic excitatory input onto relay cells. This is not the signature expected from adding a new inhibitory conductance directly to those cells. Electrical coupling explains why pacemaker cells may also change despite a more selective relay-cell target.</a:t>
            </a:r>
          </a:p>
          <a:p/>
          <a:p>
            <a:r>
              <a:rPr sz="1200">
                <a:latin typeface="Arial"/>
              </a:rPr>
              <a:t>References:</a:t>
            </a:r>
          </a:p>
          <a:p>
            <a:r>
              <a:rPr sz="1200">
                <a:latin typeface="Arial"/>
              </a:rPr>
              <a:t>Juranek J, Metzner W (1998). Segregation of Behavior-Specific Synaptic Inputs to a Vertebrate Neuronal Oscillator. The Journal of Neuroscience 18(21):9010-9019. </a:t>
            </a:r>
            <a:r>
              <a:rPr sz="1200">
                <a:latin typeface="Arial"/>
                <a:hlinkClick r:id="rId3"/>
              </a:rPr>
              <a:t>https://doi.org/10.1523/jneurosci.18-21-09010.1998</a:t>
            </a:r>
          </a:p>
          <a:p/>
          <a:p>
            <a:r>
              <a:rPr sz="1200">
                <a:latin typeface="Arial"/>
              </a:rPr>
              <a:t>Figure: Juranek &amp; Metzner (1998), Fig. 7(A–C). Relay-cell resistance rises during frequency deceleration.</a:t>
            </a:r>
          </a:p>
          <a:p>
            <a:r>
              <a:rPr sz="1200">
                <a:latin typeface="Arial"/>
              </a:rPr>
              <a:t>Figure source: </a:t>
            </a:r>
            <a:r>
              <a:rPr sz="1200">
                <a:latin typeface="Arial"/>
                <a:hlinkClick r:id="rId3"/>
              </a:rPr>
              <a:t>https://doi.org/10.1523/jneurosci.18-21-09010.1998</a:t>
            </a:r>
          </a:p>
          <a:p/>
          <a:p>
            <a:r>
              <a:rPr sz="1200">
                <a:latin typeface="Arial"/>
              </a:rPr>
              <a:t>Figure: Juranek &amp; Metzner (1998), Fig. 1. Published circuit with pacemaker and relay-cell targets.</a:t>
            </a:r>
          </a:p>
          <a:p>
            <a:r>
              <a:rPr sz="1200">
                <a:latin typeface="Arial"/>
              </a:rPr>
              <a:t>Figure source: </a:t>
            </a:r>
            <a:r>
              <a:rPr sz="1200">
                <a:latin typeface="Arial"/>
                <a:hlinkClick r:id="rId4"/>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Chirps are brief modulations used in electric communication, distinct from gradual JAR frequency shifts. Juranek and Metzner activated PPn-C while recording pacemaker or relay-cell somata. The resulting frequency changes lasted about 5–20 ms and ranged from 30 to 160 Hz.</a:t>
            </a:r>
          </a:p>
          <a:p>
            <a:r>
              <a:rPr sz="1200">
                <a:latin typeface="Arial"/>
              </a:rPr>
              <a:t>  – PPn-C and PPn-G are neighboring premotor subdivisions with different behavioral effects. Their separation continues to the cellular targets within the oscillator. The timing and size of a change in EOD frequency do not alone identify which subdivision was responsible; the stimulation site and intracellular response are needed.</a:t>
            </a:r>
          </a:p>
          <a:p>
            <a:r>
              <a:rPr sz="1200">
                <a:latin typeface="Arial"/>
              </a:rPr>
              <a:t>• In representative comparable chirps, relay-cell input resistance fell by 34%, while pacemaker-cell resistance fell by 9%. Relay-cell conductance changes lasted approximately 8–20 ms. These measurements support preferential excitatory input onto the output cells for rapid communication signals.</a:t>
            </a:r>
          </a:p>
          <a:p>
            <a:r>
              <a:rPr sz="1200">
                <a:latin typeface="Arial"/>
              </a:rPr>
              <a:t>• The same oscillator therefore supports different behaviors through segregated synaptic targets and receptor-sensitive inputs. A rapid chirp should not be mistaken for a stronger JAR. The source’s resistance controls and cell labeling constrain the target assignment, while coupled cells can still exhibit secondary responses.</a:t>
            </a:r>
          </a:p>
          <a:p/>
          <a:p>
            <a:r>
              <a:rPr sz="1200">
                <a:latin typeface="Arial"/>
              </a:rPr>
              <a:t>References:</a:t>
            </a:r>
          </a:p>
          <a:p>
            <a:r>
              <a:rPr sz="1200">
                <a:latin typeface="Arial"/>
              </a:rPr>
              <a:t>Juranek J, Metzner W (1998). Segregation of Behavior-Specific Synaptic Inputs to a Vertebrate Neuronal Oscillator. The Journal of Neuroscience 18(21):9010-9019. </a:t>
            </a:r>
            <a:r>
              <a:rPr sz="1200">
                <a:latin typeface="Arial"/>
                <a:hlinkClick r:id="rId3"/>
              </a:rPr>
              <a:t>https://doi.org/10.1523/jneurosci.18-21-09010.1998</a:t>
            </a:r>
          </a:p>
          <a:p/>
          <a:p>
            <a:r>
              <a:rPr sz="1200">
                <a:latin typeface="Arial"/>
              </a:rPr>
              <a:t>Figure: Juranek &amp; Metzner (1998), Fig. 4(A–C). Brief chirps preferentially change relay-cell conductance.</a:t>
            </a:r>
          </a:p>
          <a:p>
            <a:r>
              <a:rPr sz="1200">
                <a:latin typeface="Arial"/>
              </a:rPr>
              <a:t>Figure source: </a:t>
            </a:r>
            <a:r>
              <a:rPr sz="1200">
                <a:latin typeface="Arial"/>
                <a:hlinkClick r:id="rId3"/>
              </a:rPr>
              <a:t>https://doi.org/10.1523/jneurosci.18-21-09010.1998</a:t>
            </a:r>
          </a:p>
          <a:p/>
          <a:p>
            <a:r>
              <a:rPr sz="1200">
                <a:latin typeface="Arial"/>
              </a:rPr>
              <a:t>Figure: Juranek &amp; Metzner (1998), Fig. 1. Published circuit with pacemaker and relay-cell targets.</a:t>
            </a:r>
          </a:p>
          <a:p>
            <a:r>
              <a:rPr sz="1200">
                <a:latin typeface="Arial"/>
              </a:rPr>
              <a:t>Figure source: </a:t>
            </a:r>
            <a:r>
              <a:rPr sz="1200">
                <a:latin typeface="Arial"/>
                <a:hlinkClick r:id="rId4"/>
              </a:rPr>
              <a:t>https://doi.org/10.1523/JNEUROSCI.18-21-09010.1998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Temporal filtering is selective transmission of slow or fast changes in sensory input. Fortune and Rose made whole-cell intracellular recordings from toral neurons while comparing electrical sensory stimulation with injected current over 2–30 Hz. Labeled cells supplied anatomical context.</a:t>
            </a:r>
          </a:p>
          <a:p>
            <a:r>
              <a:rPr sz="1200">
                <a:latin typeface="Arial"/>
              </a:rPr>
              <a:t>  – A whole-cell recording measures membrane voltage while permitting controlled current injection. Depolarization makes the voltage less negative, whereas hyperpolarization makes it more negative. The observed holding-current dependence is evidence for an active contribution; assigning it to a named calcium or sodium channel requires an additional selective test.</a:t>
            </a:r>
          </a:p>
          <a:p>
            <a:r>
              <a:rPr sz="1200">
                <a:latin typeface="Arial"/>
              </a:rPr>
              <a:t>• Changing the holding current exposed voltage-dependent responses beyond the incoming postsynaptic potential. Some active responses lasted in proportion to the stimulus cycle; others remained brief, generally below 30 ms. Hyperpolarizing the membrane reduced these components and changed the neuron’s filtering properties.</a:t>
            </a:r>
          </a:p>
          <a:p>
            <a:r>
              <a:rPr sz="1200">
                <a:latin typeface="Arial"/>
              </a:rPr>
              <a:t>• The experiments separate incoming synaptic drive from an active membrane conductance, a conductance whose expression depends on membrane voltage. Passive properties and active responses both contribute, but neither always explains the full sensory filter. The specific molecular channels underlying these active responses were not identified by this experiment.</a:t>
            </a:r>
          </a:p>
          <a:p/>
          <a:p>
            <a:r>
              <a:rPr sz="1200">
                <a:latin typeface="Arial"/>
              </a:rPr>
              <a:t>References:</a:t>
            </a:r>
          </a:p>
          <a:p>
            <a:r>
              <a:rPr sz="1200">
                <a:latin typeface="Arial"/>
              </a:rPr>
              <a:t>Fortune ES, Rose GJ (1997). Passive and Active Membrane Properties Contribute to the Temporal Filtering Properties of Midbrain Neurons In Vivo. The Journal of Neuroscience 17(10):3815-3825. </a:t>
            </a:r>
            <a:r>
              <a:rPr sz="1200">
                <a:latin typeface="Arial"/>
                <a:hlinkClick r:id="rId3"/>
              </a:rPr>
              <a:t>https://doi.org/10.1523/jneurosci.17-10-03815.1997</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Fortune &amp; Rose (1997), Fig. 6(A–B). Holding current separates active responses from synaptic input.</a:t>
            </a:r>
          </a:p>
          <a:p>
            <a:r>
              <a:rPr sz="1200">
                <a:latin typeface="Arial"/>
              </a:rPr>
              <a:t>Figure source: </a:t>
            </a:r>
            <a:r>
              <a:rPr sz="1200">
                <a:latin typeface="Arial"/>
                <a:hlinkClick r:id="rId3"/>
              </a:rPr>
              <a:t>https://doi.org/10.1523/jneurosci.17-10-03815.1997</a:t>
            </a:r>
          </a:p>
          <a:p/>
          <a:p>
            <a:r>
              <a:rPr sz="1200">
                <a:latin typeface="Arial"/>
              </a:rPr>
              <a:t>Figure: Carr et al. (1986), Fig. 1(A). Sagittal brain anatomy with torus and electrosensory lateral line lobe.</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Postsynaptic potentials, or PSPs, are changes in a receiving neuron’s membrane voltage following synaptic input. Short-term depression is a reversible decline in these responses during repeated stimulation. Rose and Fortune recorded toral neurons during continuous and interrupted sensory signals.</a:t>
            </a:r>
          </a:p>
          <a:p>
            <a:r>
              <a:rPr sz="1200">
                <a:latin typeface="Arial"/>
              </a:rPr>
              <a:t>  – The source related this mechanism to behavior: continuous 30-Hz beats elicited much smaller decelerations than slow beats, whereas interruption at 5 Hz restored a larger response. Recovery from depression allows a stimulus with fast internal cycles to become effective when its temporal organization includes sufficiently spaced input.</a:t>
            </a:r>
          </a:p>
          <a:p>
            <a:r>
              <a:rPr sz="1200">
                <a:latin typeface="Arial"/>
              </a:rPr>
              <a:t>• At 20-Hz stimulation, introducing gaps of 8–48 ms increased the first responses after the interruption. Recovery depended on gap duration; most neurons regained their initial PSP amplitude after a 150-ms gap. Direct current injection did not reproduce the sensory response decline.</a:t>
            </a:r>
          </a:p>
          <a:p>
            <a:r>
              <a:rPr sz="1200">
                <a:latin typeface="Arial"/>
              </a:rPr>
              <a:t>• The controls support a synaptic contribution to low-pass filtering, preferential transmission of slow changes. Depression can attenuate rapid beats while retaining sensitivity to slower jamming cues. The recordings do not establish whether the underlying cause is transmitter depletion, receptor desensitization, or another synaptic process.</a:t>
            </a:r>
          </a:p>
          <a:p/>
          <a:p>
            <a:r>
              <a:rPr sz="1200">
                <a:latin typeface="Arial"/>
              </a:rPr>
              <a:t>References:</a:t>
            </a:r>
          </a:p>
          <a:p>
            <a:r>
              <a:rPr sz="1200">
                <a:latin typeface="Arial"/>
              </a:rPr>
              <a:t>Rose GJ, Fortune ES (1999). Frequency-Dependent PSP Depression Contributes to Low-Pass Temporal Filtering in Eigenmannia. The Journal of Neuroscience 19(17):7629-7639. </a:t>
            </a:r>
            <a:r>
              <a:rPr sz="1200">
                <a:latin typeface="Arial"/>
                <a:hlinkClick r:id="rId3"/>
              </a:rPr>
              <a:t>https://doi.org/10.1523/jneurosci.19-17-07629.1999</a:t>
            </a:r>
          </a:p>
          <a:p>
            <a:r>
              <a:rPr sz="1200">
                <a:latin typeface="Arial"/>
              </a:rPr>
              <a:t>Carr C, Maler L, Taylor B (1986). A time-comparison circuit in the electric fish midbrain. II. Functional morphology. The Journal of Neuroscience 6(5):1372-1383. </a:t>
            </a:r>
            <a:r>
              <a:rPr sz="1200">
                <a:latin typeface="Arial"/>
                <a:hlinkClick r:id="rId4"/>
              </a:rPr>
              <a:t>https://doi.org/10.1523/jneurosci.06-05-01372.1986</a:t>
            </a:r>
          </a:p>
          <a:p/>
          <a:p>
            <a:r>
              <a:rPr sz="1200">
                <a:latin typeface="Arial"/>
              </a:rPr>
              <a:t>Figure: Rose &amp; Fortune (1999), Fig. 7(A–B). Brief gaps restore depressed sensory postsynaptic potentials.</a:t>
            </a:r>
          </a:p>
          <a:p>
            <a:r>
              <a:rPr sz="1200">
                <a:latin typeface="Arial"/>
              </a:rPr>
              <a:t>Figure source: </a:t>
            </a:r>
            <a:r>
              <a:rPr sz="1200">
                <a:latin typeface="Arial"/>
                <a:hlinkClick r:id="rId3"/>
              </a:rPr>
              <a:t>https://doi.org/10.1523/jneurosci.19-17-07629.1999</a:t>
            </a:r>
          </a:p>
          <a:p/>
          <a:p>
            <a:r>
              <a:rPr sz="1200">
                <a:latin typeface="Arial"/>
              </a:rPr>
              <a:t>Figure: Carr et al. (1986), Fig. 1(A). Sagittal brain anatomy with torus and electrosensory lateral line lobe.</a:t>
            </a:r>
          </a:p>
          <a:p>
            <a:r>
              <a:rPr sz="1200">
                <a:latin typeface="Arial"/>
              </a:rPr>
              <a:t>Figure source: </a:t>
            </a:r>
            <a:r>
              <a:rPr sz="1200">
                <a:latin typeface="Arial"/>
                <a:hlinkClick r:id="rId5"/>
              </a:rPr>
              <a:t>https://doi.org/10.1523/JNEUROSCI.06-05-01372.1986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Takizawa, Rose, and Kawasaki tested whether the classical sign-computation account explains every frequency decrease. In curarized fish, they amplitude-modulated the EOD substitute while omitting the separate neighbor signal. An unmodulated carrier between presentations supplied the baseline control.</a:t>
            </a:r>
          </a:p>
          <a:p>
            <a:r>
              <a:rPr sz="1200">
                <a:latin typeface="Arial"/>
              </a:rPr>
              <a:t>  – Curarization suppresses the electric organ while leaving a command signal available for recording. Testing intact fish addressed whether the amplitude-only response depended entirely on replacing the natural electric field. The authors observed individual differences rather than an identical response magnitude in every preparation.</a:t>
            </a:r>
          </a:p>
          <a:p>
            <a:r>
              <a:rPr sz="1200">
                <a:latin typeface="Arial"/>
              </a:rPr>
              <a:t>• A 30% amplitude modulation at 4 Hz produced consistent deceleration. One published example decreased by 3.5 Hz; other individuals differed in magnitude. Similar decelerations occurred when recorded EODs from intact fish were amplitude-modulated and returned to the tank.</a:t>
            </a:r>
          </a:p>
          <a:p>
            <a:r>
              <a:rPr sz="1200">
                <a:latin typeface="Arial"/>
              </a:rPr>
              <a:t>• This response does not discriminate positive from negative Δf because a separate neighbor frequency need not be present. Amplitude-only deceleration is therefore distinct from the bidirectional sign-selective JAR, even though it can contribute to the measured output during natural interference. Curarized and intact preparations supported the finding under their respective conditions.</a:t>
            </a:r>
          </a:p>
          <a:p/>
          <a:p>
            <a:r>
              <a:rPr sz="1200">
                <a:latin typeface="Arial"/>
              </a:rPr>
              <a:t>References:</a:t>
            </a:r>
          </a:p>
          <a:p>
            <a:r>
              <a:rPr sz="1200">
                <a:latin typeface="Arial"/>
              </a:rPr>
              <a:t>Takizawa Y, Rose GJ, Kawasaki M (1999). Resolving competing theories for control of the jamming avoidance response: the role of amplitude modulations in electric organ discharge decelerations. Journal of Experimental Biology 202(10):1377-1386. </a:t>
            </a:r>
            <a:r>
              <a:rPr sz="1200">
                <a:latin typeface="Arial"/>
                <a:hlinkClick r:id="rId3"/>
              </a:rPr>
              <a:t>https://doi.org/10.1242/jeb.202.10.1377</a:t>
            </a:r>
          </a:p>
          <a:p/>
          <a:p>
            <a:r>
              <a:rPr sz="1200">
                <a:latin typeface="Arial"/>
              </a:rPr>
              <a:t>Figure: Takizawa et al. (1999), Fig. 2(A–B). Pure amplitude modulation produces repeatable decelerations.</a:t>
            </a:r>
          </a:p>
          <a:p>
            <a:r>
              <a:rPr sz="1200">
                <a:latin typeface="Arial"/>
              </a:rPr>
              <a:t>Figure source: </a:t>
            </a:r>
            <a:r>
              <a:rPr sz="1200">
                <a:latin typeface="Arial"/>
                <a:hlinkClick r:id="rId3"/>
              </a:rPr>
              <a:t>https://doi.org/10.1242/jeb.202.10.1377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Takizawa and colleagues varied amplitude-modulation depth while keeping the carrier and modulation frequency controlled. Modulation depth describes the relative size of the amplitude fluctuation. The published experiment used 4-Hz sinusoidal modulation and compared several depths in the same preparations.</a:t>
            </a:r>
          </a:p>
          <a:p>
            <a:r>
              <a:rPr sz="1200">
                <a:latin typeface="Arial"/>
              </a:rPr>
              <a:t>  – The stimulus period lasted 30 s and alternated with 30-s baseline periods. Responses were measured relative to each animal’s prestimulus frequency. This reference distinguishes a true increase above resting frequency from a return upward after an earlier amplitude-induced decrease.</a:t>
            </a:r>
          </a:p>
          <a:p>
            <a:r>
              <a:rPr sz="1200">
                <a:latin typeface="Arial"/>
              </a:rPr>
              <a:t>• A few percent modulation generally induced deceleration. One particularly sensitive fish responded at 0.1%, while less sensitive individuals required more than 10%. Frequency dependence was strongest near 4 Hz, matching the range that strongly activates natural jamming responses.</a:t>
            </a:r>
          </a:p>
          <a:p>
            <a:r>
              <a:rPr sz="1200">
                <a:latin typeface="Arial"/>
              </a:rPr>
              <a:t>• The shared tuning does not make amplitude-only deceleration identical to beat-sign discrimination. Both can be driven by slow amplitude changes, while only the bidirectional component requires the appropriate spatial timing relationship. Sensitivity differed across individuals, so the most sensitive trace should not be treated as a universal behavioral threshold.</a:t>
            </a:r>
          </a:p>
          <a:p/>
          <a:p>
            <a:r>
              <a:rPr sz="1200">
                <a:latin typeface="Arial"/>
              </a:rPr>
              <a:t>References:</a:t>
            </a:r>
          </a:p>
          <a:p>
            <a:r>
              <a:rPr sz="1200">
                <a:latin typeface="Arial"/>
              </a:rPr>
              <a:t>Takizawa Y, Rose GJ, Kawasaki M (1999). Resolving competing theories for control of the jamming avoidance response: the role of amplitude modulations in electric organ discharge decelerations. Journal of Experimental Biology 202(10):1377-1386. </a:t>
            </a:r>
            <a:r>
              <a:rPr sz="1200">
                <a:latin typeface="Arial"/>
                <a:hlinkClick r:id="rId3"/>
              </a:rPr>
              <a:t>https://doi.org/10.1242/jeb.202.10.1377</a:t>
            </a:r>
          </a:p>
          <a:p/>
          <a:p>
            <a:r>
              <a:rPr sz="1200">
                <a:latin typeface="Arial"/>
              </a:rPr>
              <a:t>Figure: Takizawa et al. (1999), Fig. 4(A–B). Amplitude-modulation depth controls deceleration magnitude.</a:t>
            </a:r>
          </a:p>
          <a:p>
            <a:r>
              <a:rPr sz="1200">
                <a:latin typeface="Arial"/>
              </a:rPr>
              <a:t>Figure source: </a:t>
            </a:r>
            <a:r>
              <a:rPr sz="1200">
                <a:latin typeface="Arial"/>
                <a:hlinkClick r:id="rId3"/>
              </a:rPr>
              <a:t>https://doi.org/10.1242/jeb.202.10.1377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Takizawa and colleagues electrically separated the head and trunk and independently manipulated the head carrier’s amplitude and phase. In the published experiment, a 380-Hz carrier supported 30% amplitude modulation and phase excursions spanning 200 µs peak to peak.</a:t>
            </a:r>
          </a:p>
          <a:p>
            <a:r>
              <a:rPr sz="1200">
                <a:latin typeface="Arial"/>
              </a:rPr>
              <a:t>  – The same paper emphasized that EOD frequency must be compared with its resting level. Alternating two stimuli that both cause decreases can create an apparently bidirectional trace. A rise from one depressed level to another is not equivalent to a genuine acceleration above baseline.</a:t>
            </a:r>
          </a:p>
          <a:p>
            <a:r>
              <a:rPr sz="1200">
                <a:latin typeface="Arial"/>
              </a:rPr>
              <a:t>• With a trunk reference, the normal amplitude–phase pairings produced the expected opposing JAR directions. Removing the trunk signal did not abolish amplitude-induced deceleration. Changing or omitting head phase modulation still allowed strong decreases without the usual spatial reference.</a:t>
            </a:r>
          </a:p>
          <a:p>
            <a:r>
              <a:rPr sz="1200">
                <a:latin typeface="Arial"/>
              </a:rPr>
              <a:t>• The finding argues against an explanation in which every amplitude-only decrease requires an internally generated, or “phantom,” differential-phase cue. It supports an additional amplitude-driven process. Its proposed role in balancing natural upward and downward excursions remained untested, rather than a proven adaptive function.</a:t>
            </a:r>
          </a:p>
          <a:p/>
          <a:p>
            <a:r>
              <a:rPr sz="1200">
                <a:latin typeface="Arial"/>
              </a:rPr>
              <a:t>References:</a:t>
            </a:r>
          </a:p>
          <a:p>
            <a:r>
              <a:rPr sz="1200">
                <a:latin typeface="Arial"/>
              </a:rPr>
              <a:t>Takizawa Y, Rose GJ, Kawasaki M (1999). Resolving competing theories for control of the jamming avoidance response: the role of amplitude modulations in electric organ discharge decelerations. Journal of Experimental Biology 202(10):1377-1386. </a:t>
            </a:r>
            <a:r>
              <a:rPr sz="1200">
                <a:latin typeface="Arial"/>
                <a:hlinkClick r:id="rId3"/>
              </a:rPr>
              <a:t>https://doi.org/10.1242/jeb.202.10.1377</a:t>
            </a:r>
          </a:p>
          <a:p/>
          <a:p>
            <a:r>
              <a:rPr sz="1200">
                <a:latin typeface="Arial"/>
              </a:rPr>
              <a:t>Figure: Takizawa et al. (1999), Fig. 8(A–F). Head stimulation decelerates without a trunk phase reference.</a:t>
            </a:r>
          </a:p>
          <a:p>
            <a:r>
              <a:rPr sz="1200">
                <a:latin typeface="Arial"/>
              </a:rPr>
              <a:t>Figure source: </a:t>
            </a:r>
            <a:r>
              <a:rPr sz="1200">
                <a:latin typeface="Arial"/>
                <a:hlinkClick r:id="rId3"/>
              </a:rPr>
              <a:t>https://doi.org/10.1242/jeb.202.10.1377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Shifman and Lewis used experimentally constrained finite-element models, numerical descriptions of electrical fields, to compare Eigenmannia with Apteronotus. The model fish discharged at 300 and 600 Hz, respectively. Published analyses considered both single-neighbor interference and mixtures representing two neighbors.</a:t>
            </a:r>
          </a:p>
          <a:p>
            <a:r>
              <a:rPr sz="1200">
                <a:latin typeface="Arial"/>
              </a:rPr>
              <a:t>  – The paper distinguishes electric-field geometry from the mere existence of sign-sensitive neurons. A system can retain sensory selectivity while its motor pathways or available cues differ. The proposed relationship between field complexity and circuit evolution requires comparative physiological and behavioral tests beyond the model alone.</a:t>
            </a:r>
          </a:p>
          <a:p>
            <a:r>
              <a:rPr sz="1200">
                <a:latin typeface="Arial"/>
              </a:rPr>
              <a:t>• In three-fish conditions, amplitude envelopes and relative phase became more complex. The Apteronotus field produced less reliable cue combinations for a model of sign-dependent frequency adjustment than the more spatially uniform Eigenmannia field. The published polar trajectories are results of that computational analysis.</a:t>
            </a:r>
          </a:p>
          <a:p>
            <a:r>
              <a:rPr sz="1200">
                <a:latin typeface="Arial"/>
              </a:rPr>
              <a:t>• The authors proposed that degraded cues could help explain evolutionary differences in frequency-control behavior. These plotted results are modeled sensory inputs, not newly recorded neuronal tuning or direct proof of evolutionary causation. Applying an Eigenmannia-based behavioral mapping to another species also does not establish identical neural algorithms.</a:t>
            </a:r>
          </a:p>
          <a:p/>
          <a:p>
            <a:r>
              <a:rPr sz="1200">
                <a:latin typeface="Arial"/>
              </a:rPr>
              <a:t>References:</a:t>
            </a:r>
          </a:p>
          <a:p>
            <a:r>
              <a:rPr sz="1200">
                <a:latin typeface="Arial"/>
              </a:rPr>
              <a:t>Shifman AR, Lewis JE (2018). The complexity of high-frequency electric fields degrades electrosensory inputs: implications for the jamming avoidance response in weakly electric fish. Journal of The Royal Society Interface 15(138):20170633. </a:t>
            </a:r>
            <a:r>
              <a:rPr sz="1200">
                <a:latin typeface="Arial"/>
                <a:hlinkClick r:id="rId3"/>
              </a:rPr>
              <a:t>https://doi.org/10.1098/rsif.2017.0633</a:t>
            </a:r>
          </a:p>
          <a:p/>
          <a:p>
            <a:r>
              <a:rPr sz="1200">
                <a:latin typeface="Arial"/>
              </a:rPr>
              <a:t>Figure: Shifman &amp; Lewis (2018), Fig. 6. Published electric-field model predicts ambiguity in phase cues.</a:t>
            </a:r>
          </a:p>
          <a:p>
            <a:r>
              <a:rPr sz="1200">
                <a:latin typeface="Arial"/>
              </a:rPr>
              <a:t>Figure source: </a:t>
            </a:r>
            <a:r>
              <a:rPr sz="1200">
                <a:latin typeface="Arial"/>
                <a:hlinkClick r:id="rId3"/>
              </a:rPr>
              <a:t>https://doi.org/10.1098/rsif.2017.0633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Beat rate is insufficient. Opposite frequency differences can produce the same beat rate; spatial amplitude–phase relationships supply the sign cue.</a:t>
            </a:r>
          </a:p>
          <a:p>
            <a:r>
              <a:rPr sz="1200">
                <a:latin typeface="Arial"/>
              </a:rPr>
              <a:t>• Hyperacuity is distributed. Eigenmannia discriminates temporal disparities near 400 ns, and recruiting multiple skin regions supports nonlinear pooling of timing information.</a:t>
            </a:r>
          </a:p>
          <a:p>
            <a:r>
              <a:rPr sz="1200">
                <a:latin typeface="Arial"/>
              </a:rPr>
              <a:t>• Sensory pathways converge. Amplitude-coding E/I inputs and phase comparisons feed combination-sensitive toral populations representing opposite beat signs.</a:t>
            </a:r>
          </a:p>
          <a:p>
            <a:r>
              <a:rPr sz="1200">
                <a:latin typeface="Arial"/>
              </a:rPr>
              <a:t>• Motor routes remain separate. PPn-G supports frequency increases, while inhibition of tonic SPPn drive supports decreases; selective lesions distinguish the routes.</a:t>
            </a:r>
          </a:p>
          <a:p>
            <a:r>
              <a:rPr sz="1200">
                <a:latin typeface="Arial"/>
              </a:rPr>
              <a:t>• Synaptic targets shape behavior. Gradual acceleration preferentially increases pacemaker-cell conductance, whereas deceleration removes tonic excitation from relay cells.</a:t>
            </a:r>
          </a:p>
          <a:p>
            <a:r>
              <a:rPr sz="1200">
                <a:latin typeface="Arial"/>
              </a:rPr>
              <a:t>• A decrease alone does not prove sign discrimination. Amplitude modulation can lower EOD frequency without a trunk phase reference; responses must be measured against resting frequency.</a:t>
            </a:r>
          </a:p>
          <a:p/>
          <a:p>
            <a:r>
              <a:rPr sz="1200">
                <a:latin typeface="Arial"/>
              </a:rPr>
              <a:t>References:</a:t>
            </a:r>
          </a:p>
          <a:p>
            <a:r>
              <a:rPr sz="1200">
                <a:latin typeface="Arial"/>
              </a:rPr>
              <a:t>Rose G, Heiligenberg W (1985). Temporal hyperacuity in the electric sense of fish. Nature 318(6042):178-180. </a:t>
            </a:r>
            <a:r>
              <a:rPr sz="1200">
                <a:latin typeface="Arial"/>
                <a:hlinkClick r:id="rId3"/>
              </a:rPr>
              <a:t>https://doi.org/10.1038/318178a0</a:t>
            </a:r>
          </a:p>
          <a:p>
            <a:r>
              <a:rPr sz="1200">
                <a:latin typeface="Arial"/>
              </a:rPr>
              <a:t>Heiligenberg W, Rose G (1985). Phase and amplitude computations in the midbrain of an electric fish: intracellular studies of neurons participating in the jamming avoidance response of Eigenmannia. The Journal of Neuroscience 5(2):515-531. </a:t>
            </a:r>
            <a:r>
              <a:rPr sz="1200">
                <a:latin typeface="Arial"/>
                <a:hlinkClick r:id="rId4"/>
              </a:rPr>
              <a:t>https://doi.org/10.1523/jneurosci.05-02-00515.1985</a:t>
            </a:r>
          </a:p>
          <a:p>
            <a:r>
              <a:rPr sz="1200">
                <a:latin typeface="Arial"/>
              </a:rPr>
              <a:t>Metzner W (1993). The jamming avoidance response in Eigenmannia is controlled by two separate motor pathways. The Journal of Neuroscience 13(5):1862-1878. </a:t>
            </a:r>
            <a:r>
              <a:rPr sz="1200">
                <a:latin typeface="Arial"/>
                <a:hlinkClick r:id="rId5"/>
              </a:rPr>
              <a:t>https://doi.org/10.1523/jneurosci.13-05-01862.1993</a:t>
            </a:r>
          </a:p>
          <a:p>
            <a:r>
              <a:rPr sz="1200">
                <a:latin typeface="Arial"/>
              </a:rPr>
              <a:t>Juranek J, Metzner W (1998). Segregation of Behavior-Specific Synaptic Inputs to a Vertebrate Neuronal Oscillator. The Journal of Neuroscience 18(21):9010-9019. </a:t>
            </a:r>
            <a:r>
              <a:rPr sz="1200">
                <a:latin typeface="Arial"/>
                <a:hlinkClick r:id="rId6"/>
              </a:rPr>
              <a:t>https://doi.org/10.1523/jneurosci.18-21-09010.1998</a:t>
            </a:r>
          </a:p>
          <a:p>
            <a:r>
              <a:rPr sz="1200">
                <a:latin typeface="Arial"/>
              </a:rPr>
              <a:t>Takizawa Y, Rose GJ, Kawasaki M (1999). Resolving competing theories for control of the jamming avoidance response: the role of amplitude modulations in electric organ discharge decelerations. Journal of Experimental Biology 202(10):1377-1386. </a:t>
            </a:r>
            <a:r>
              <a:rPr sz="1200">
                <a:latin typeface="Arial"/>
                <a:hlinkClick r:id="rId7"/>
              </a:rPr>
              <a:t>https://doi.org/10.1242/jeb.202.10.1377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1.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4.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16181D"/>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B3B7C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B3B7C0"/>
                </a:solidFill>
                <a:latin typeface="Arial"/>
              </a:rPr>
              <a:t>Lecture 22</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a:solidFill>
                  <a:srgbClr val="FFFFFF"/>
                </a:solidFill>
                <a:latin typeface="Arial"/>
              </a:rPr>
              <a:t>Electroreception III: the jamming avoidance response (Heiligenberg)</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B3B7C0"/>
                </a:solidFill>
                <a:latin typeface="Arial"/>
              </a:rPr>
              <a:t>Friday, October 16,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B3B7C0"/>
                </a:solidFill>
                <a:latin typeface="Arial"/>
              </a:rPr>
              <a:t>Jordan Lopez, Ph.D.</a:t>
            </a:r>
          </a:p>
          <a:p>
            <a:pPr algn="l">
              <a:lnSpc>
                <a:spcPct val="108000"/>
              </a:lnSpc>
              <a:spcAft>
                <a:spcPts val="200"/>
              </a:spcAft>
            </a:pPr>
            <a:r>
              <a:rPr sz="1200" b="0" i="0">
                <a:solidFill>
                  <a:srgbClr val="B3B7C0"/>
                </a:solidFill>
                <a:latin typeface="Arial"/>
              </a:rPr>
              <a:t>Professor of Neurobiology &amp; Biomedical Engineering</a:t>
            </a:r>
          </a:p>
        </p:txBody>
      </p:sp>
      <p:pic>
        <p:nvPicPr>
          <p:cNvPr id="8" name="Picture 7" descr="title_animal.png"/>
          <p:cNvPicPr>
            <a:picLocks noChangeAspect="1"/>
          </p:cNvPicPr>
          <p:nvPr/>
        </p:nvPicPr>
        <p:blipFill>
          <a:blip r:embed="rId2"/>
          <a:stretch>
            <a:fillRect/>
          </a:stretch>
        </p:blipFill>
        <p:spPr>
          <a:xfrm>
            <a:off x="6553047" y="822960"/>
            <a:ext cx="5181447" cy="2466244"/>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(1980), Fig. 1(a, top). Eigenmannia and its caudal electric organ; original published animal drawing.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 stable electric discharge can be shifted away from a rival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1">
                <a:solidFill>
                  <a:srgbClr val="202329"/>
                </a:solidFill>
                <a:latin typeface="Arial"/>
              </a:rPr>
              <a:t>Eigenmannia virescens</a:t>
            </a:r>
            <a:r>
              <a:rPr sz="1600" b="0" i="0">
                <a:solidFill>
                  <a:srgbClr val="202329"/>
                </a:solidFill>
                <a:latin typeface="Arial"/>
              </a:rPr>
              <a:t> is a South American weakly electric fish whose </a:t>
            </a:r>
            <a:r>
              <a:rPr sz="1600" b="1" i="0">
                <a:solidFill>
                  <a:srgbClr val="16181D"/>
                </a:solidFill>
                <a:latin typeface="Arial"/>
              </a:rPr>
              <a:t>electric organ discharge</a:t>
            </a:r>
            <a:r>
              <a:rPr sz="1600" b="0" i="0">
                <a:solidFill>
                  <a:srgbClr val="202329"/>
                </a:solidFill>
                <a:latin typeface="Arial"/>
              </a:rPr>
              <a:t>, or </a:t>
            </a:r>
            <a:r>
              <a:rPr sz="1600" b="1" i="0">
                <a:solidFill>
                  <a:srgbClr val="16181D"/>
                </a:solidFill>
                <a:latin typeface="Arial"/>
              </a:rPr>
              <a:t>EOD</a:t>
            </a:r>
            <a:r>
              <a:rPr sz="1600" b="0" i="0">
                <a:solidFill>
                  <a:srgbClr val="202329"/>
                </a:solidFill>
                <a:latin typeface="Arial"/>
              </a:rPr>
              <a:t>, is a continuously repeating electrical signal. Heiligenberg described individual discharge frequencies between 300 and 600 Hz. The caudal electric organ produces the field used to detect nearby objects.</a:t>
            </a:r>
          </a:p>
          <a:p>
            <a:pPr algn="l">
              <a:lnSpc>
                <a:spcPct val="108000"/>
              </a:lnSpc>
              <a:spcAft>
                <a:spcPts val="960"/>
              </a:spcAft>
            </a:pPr>
            <a:r>
              <a:rPr sz="1600" b="0" i="0">
                <a:solidFill>
                  <a:srgbClr val="202329"/>
                </a:solidFill>
                <a:latin typeface="Arial"/>
              </a:rPr>
              <a:t>A neighboring fish with a similar frequency creates interference. In the </a:t>
            </a:r>
            <a:r>
              <a:rPr sz="1600" b="1" i="0">
                <a:solidFill>
                  <a:srgbClr val="16181D"/>
                </a:solidFill>
                <a:latin typeface="Arial"/>
              </a:rPr>
              <a:t>jamming avoidance response</a:t>
            </a:r>
            <a:r>
              <a:rPr sz="1600" b="0" i="0">
                <a:solidFill>
                  <a:srgbClr val="202329"/>
                </a:solidFill>
                <a:latin typeface="Arial"/>
              </a:rPr>
              <a:t>, or </a:t>
            </a:r>
            <a:r>
              <a:rPr sz="1600" b="1" i="0">
                <a:solidFill>
                  <a:srgbClr val="16181D"/>
                </a:solidFill>
                <a:latin typeface="Arial"/>
              </a:rPr>
              <a:t>JAR</a:t>
            </a:r>
            <a:r>
              <a:rPr sz="1600" b="0" i="0">
                <a:solidFill>
                  <a:srgbClr val="202329"/>
                </a:solidFill>
                <a:latin typeface="Arial"/>
              </a:rPr>
              <a:t>, the focal fish shifts its discharge away from the neighbor’s frequency. A lower-frequency neighbor elicits an increase; a higher-frequency neighbor elicits a decrease. Removing the neighbor’s signal permits a return toward the original frequency.</a:t>
            </a:r>
          </a:p>
          <a:p>
            <a:pPr algn="l">
              <a:lnSpc>
                <a:spcPct val="108000"/>
              </a:lnSpc>
              <a:spcAft>
                <a:spcPts val="960"/>
              </a:spcAft>
            </a:pPr>
            <a:r>
              <a:rPr sz="1600" b="0" i="0">
                <a:solidFill>
                  <a:srgbClr val="202329"/>
                </a:solidFill>
                <a:latin typeface="Arial"/>
              </a:rPr>
              <a:t>The published simultaneous recordings pair a 500-Hz EOD with one pacemaker command per cycle. The </a:t>
            </a:r>
            <a:r>
              <a:rPr sz="1600" b="1" i="0">
                <a:solidFill>
                  <a:srgbClr val="16181D"/>
                </a:solidFill>
                <a:latin typeface="Arial"/>
              </a:rPr>
              <a:t>pacemaker nucleus</a:t>
            </a:r>
            <a:r>
              <a:rPr sz="1600" b="0" i="0">
                <a:solidFill>
                  <a:srgbClr val="202329"/>
                </a:solidFill>
                <a:latin typeface="Arial"/>
              </a:rPr>
              <a:t>, a hindbrain group generating rhythmic commands, changes signal frequency rather than turning the electric sense off. The movement of discharge frequency is a measurable motor output.</a:t>
            </a:r>
          </a:p>
        </p:txBody>
      </p:sp>
      <p:pic>
        <p:nvPicPr>
          <p:cNvPr id="4" name="Picture 3" descr="01_control80.png"/>
          <p:cNvPicPr>
            <a:picLocks noChangeAspect="1"/>
          </p:cNvPicPr>
          <p:nvPr/>
        </p:nvPicPr>
        <p:blipFill>
          <a:blip r:embed="rId2"/>
          <a:stretch>
            <a:fillRect/>
          </a:stretch>
        </p:blipFill>
        <p:spPr>
          <a:xfrm>
            <a:off x="7372564" y="1280160"/>
            <a:ext cx="374952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(1980), Fig. 1(a). Animal, brain structures, and the 500-Hz discharge record.</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(1980)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Interference creates slow amplitude and phase modulation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beat</a:t>
            </a:r>
            <a:r>
              <a:rPr sz="1600" b="0" i="0">
                <a:solidFill>
                  <a:srgbClr val="202329"/>
                </a:solidFill>
                <a:latin typeface="Arial"/>
              </a:rPr>
              <a:t> is the slow modulation produced when two similar-frequency signals combine. </a:t>
            </a:r>
            <a:r>
              <a:rPr sz="1600" b="1" i="0">
                <a:solidFill>
                  <a:srgbClr val="16181D"/>
                </a:solidFill>
                <a:latin typeface="Arial"/>
              </a:rPr>
              <a:t>Amplitude</a:t>
            </a:r>
            <a:r>
              <a:rPr sz="1600" b="0" i="0">
                <a:solidFill>
                  <a:srgbClr val="202329"/>
                </a:solidFill>
                <a:latin typeface="Arial"/>
              </a:rPr>
              <a:t> is signal magnitude; </a:t>
            </a:r>
            <a:r>
              <a:rPr sz="1600" b="1" i="0">
                <a:solidFill>
                  <a:srgbClr val="16181D"/>
                </a:solidFill>
                <a:latin typeface="Arial"/>
              </a:rPr>
              <a:t>phase</a:t>
            </a:r>
            <a:r>
              <a:rPr sz="1600" b="0" i="0">
                <a:solidFill>
                  <a:srgbClr val="202329"/>
                </a:solidFill>
                <a:latin typeface="Arial"/>
              </a:rPr>
              <a:t> is position within its repeating cycle. Heiligenberg represented the fish’s discharge by S1 and the foreign signal by S2, measuring the mixed signal rather than either source alone.</a:t>
            </a:r>
          </a:p>
          <a:p>
            <a:pPr algn="l">
              <a:lnSpc>
                <a:spcPct val="108000"/>
              </a:lnSpc>
              <a:spcAft>
                <a:spcPts val="960"/>
              </a:spcAft>
            </a:pPr>
            <a:r>
              <a:rPr sz="1600" b="0" i="0">
                <a:solidFill>
                  <a:srgbClr val="202329"/>
                </a:solidFill>
                <a:latin typeface="Arial"/>
              </a:rPr>
              <a:t>The mixture repeatedly becomes stronger and weaker while its timing advances and delays relative to S1. These changes occur at the difference between the source frequencies. Thus a fast electrical carrier can contain a slow interference pattern that competes with amplitude changes used for object sensing.</a:t>
            </a:r>
          </a:p>
          <a:p>
            <a:pPr algn="l">
              <a:lnSpc>
                <a:spcPct val="108000"/>
              </a:lnSpc>
              <a:spcAft>
                <a:spcPts val="960"/>
              </a:spcAft>
            </a:pPr>
            <a:r>
              <a:rPr sz="1600" b="0" i="0">
                <a:solidFill>
                  <a:srgbClr val="202329"/>
                </a:solidFill>
                <a:latin typeface="Arial"/>
              </a:rPr>
              <a:t>The original oscilloscope and amplitude–phase representation preserve this relationship. For the illustrated 500-Hz carrier, one cycle lasts 2 ms. A beat rate alone identifies the magnitude of a frequency difference but cannot distinguish a neighbor above the fish’s frequency from one equally far below it.</a:t>
            </a:r>
          </a:p>
        </p:txBody>
      </p:sp>
      <p:pic>
        <p:nvPicPr>
          <p:cNvPr id="4" name="Picture 3" descr="02_control80.png"/>
          <p:cNvPicPr>
            <a:picLocks noChangeAspect="1"/>
          </p:cNvPicPr>
          <p:nvPr/>
        </p:nvPicPr>
        <p:blipFill>
          <a:blip r:embed="rId2"/>
          <a:stretch>
            <a:fillRect/>
          </a:stretch>
        </p:blipFill>
        <p:spPr>
          <a:xfrm>
            <a:off x="7940691" y="1280160"/>
            <a:ext cx="261327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(1980), Fig. 2. Interference changes amplitude and phase during a beat.</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(1980)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Opposite beat signs require opposite frequency shifts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Difference frequency</a:t>
            </a:r>
            <a:r>
              <a:rPr sz="1600" b="0" i="0">
                <a:solidFill>
                  <a:srgbClr val="202329"/>
                </a:solidFill>
                <a:latin typeface="Arial"/>
              </a:rPr>
              <a:t>, written Δf in these studies, is the neighbor’s frequency minus the fish’s own frequency. Positive Δf requires a decrease in the fish’s EOD; negative Δf requires an increase. The sensory problem is therefore a decision about sign, rather than merely detection of interference.</a:t>
            </a:r>
          </a:p>
          <a:p>
            <a:pPr algn="l">
              <a:lnSpc>
                <a:spcPct val="108000"/>
              </a:lnSpc>
              <a:spcAft>
                <a:spcPts val="960"/>
              </a:spcAft>
            </a:pPr>
            <a:r>
              <a:rPr sz="1600" b="0" i="0">
                <a:solidFill>
                  <a:srgbClr val="202329"/>
                </a:solidFill>
                <a:latin typeface="Arial"/>
              </a:rPr>
              <a:t>Carr and colleagues depicted how an internal EOD source and an external, transverse source combine at the skin. Their example uses a 500-Hz EOD with neighbors at 495 or 505 Hz. Both produce 5-Hz amplitude beats, but the relationship between amplitude change and differential timing reverses.</a:t>
            </a:r>
          </a:p>
          <a:p>
            <a:pPr algn="l">
              <a:lnSpc>
                <a:spcPct val="108000"/>
              </a:lnSpc>
              <a:spcAft>
                <a:spcPts val="960"/>
              </a:spcAft>
            </a:pPr>
            <a:r>
              <a:rPr sz="1600" b="0" i="0">
                <a:solidFill>
                  <a:srgbClr val="202329"/>
                </a:solidFill>
                <a:latin typeface="Arial"/>
              </a:rPr>
              <a:t>Natural current geometry provides a basis for this discrimination. The external source affects opposite body regions differently, whereas the internal discharge has a common origin. The published stimulus construction makes sign information available through paired amplitude and timing cues; a 5-Hz rate by itself remains ambiguous.</a:t>
            </a:r>
          </a:p>
        </p:txBody>
      </p:sp>
      <p:pic>
        <p:nvPicPr>
          <p:cNvPr id="4" name="Picture 3" descr="03_rose86a.png"/>
          <p:cNvPicPr>
            <a:picLocks noChangeAspect="1"/>
          </p:cNvPicPr>
          <p:nvPr/>
        </p:nvPicPr>
        <p:blipFill>
          <a:blip r:embed="rId2"/>
          <a:stretch>
            <a:fillRect/>
          </a:stretch>
        </p:blipFill>
        <p:spPr>
          <a:xfrm>
            <a:off x="7832850" y="1280160"/>
            <a:ext cx="282895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1(A–D). Current geometry and opposite amplitude–phase trajectories.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Carr et al.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Different skin regions receive different mixtures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An </a:t>
            </a:r>
            <a:r>
              <a:rPr sz="1600" b="1" i="0">
                <a:solidFill>
                  <a:srgbClr val="16181D"/>
                </a:solidFill>
                <a:latin typeface="Arial"/>
              </a:rPr>
              <a:t>amplitude ratio</a:t>
            </a:r>
            <a:r>
              <a:rPr sz="1600" b="0" i="0">
                <a:solidFill>
                  <a:srgbClr val="202329"/>
                </a:solidFill>
                <a:latin typeface="Arial"/>
              </a:rPr>
              <a:t> compares the local strength of the foreign signal with the EOD substitute. Heiligenberg analyzed two body regions with ratios of 0.3 and 0.1. The more contaminated region undergoes larger changes in both amplitude and phase during the same interference cycle.</a:t>
            </a:r>
          </a:p>
          <a:p>
            <a:pPr algn="l">
              <a:lnSpc>
                <a:spcPct val="108000"/>
              </a:lnSpc>
              <a:spcAft>
                <a:spcPts val="960"/>
              </a:spcAft>
            </a:pPr>
            <a:r>
              <a:rPr sz="1600" b="0" i="0">
                <a:solidFill>
                  <a:srgbClr val="202329"/>
                </a:solidFill>
                <a:latin typeface="Arial"/>
              </a:rPr>
              <a:t>The fish can compare timing between these regions without requiring an entirely uncontaminated patch of skin. </a:t>
            </a:r>
            <a:r>
              <a:rPr sz="1600" b="1" i="0">
                <a:solidFill>
                  <a:srgbClr val="16181D"/>
                </a:solidFill>
                <a:latin typeface="Arial"/>
              </a:rPr>
              <a:t>Differential phase</a:t>
            </a:r>
            <a:r>
              <a:rPr sz="1600" b="0" i="0">
                <a:solidFill>
                  <a:srgbClr val="202329"/>
                </a:solidFill>
                <a:latin typeface="Arial"/>
              </a:rPr>
              <a:t> is the phase of one local signal relative to another local signal. Subtracting the common timing component leaves the disparity caused by their different mixtures.</a:t>
            </a:r>
          </a:p>
          <a:p>
            <a:pPr algn="l">
              <a:lnSpc>
                <a:spcPct val="108000"/>
              </a:lnSpc>
              <a:spcAft>
                <a:spcPts val="960"/>
              </a:spcAft>
            </a:pPr>
            <a:r>
              <a:rPr sz="1600" b="0" i="0">
                <a:solidFill>
                  <a:srgbClr val="202329"/>
                </a:solidFill>
                <a:latin typeface="Arial"/>
              </a:rPr>
              <a:t>The two local amplitude–differential-phase trajectories can nevertheless rotate in opposite directions. Their contributions must be weighted rather than treated as identical votes. The paper tested regional stimulation and interpreted larger amplitude modulation as a stronger contribution to the eventual frequency shift; the graphical description alone does not identify the responsible neurons.</a:t>
            </a:r>
          </a:p>
        </p:txBody>
      </p:sp>
      <p:pic>
        <p:nvPicPr>
          <p:cNvPr id="4" name="Picture 3" descr="04_control80.png"/>
          <p:cNvPicPr>
            <a:picLocks noChangeAspect="1"/>
          </p:cNvPicPr>
          <p:nvPr/>
        </p:nvPicPr>
        <p:blipFill>
          <a:blip r:embed="rId2"/>
          <a:stretch>
            <a:fillRect/>
          </a:stretch>
        </p:blipFill>
        <p:spPr>
          <a:xfrm>
            <a:off x="7653026" y="1280160"/>
            <a:ext cx="318860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(1980), Fig. 3. Different contamination ratios across the body surface.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(1980)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Exchanging regional timing reverses the motor response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Heiligenberg used electronically controlled stimuli to manipulate amplitude and phase independently in separate body regions. One region received a modulated carrier and the other supplied a comparison signal. The foreign-signal difference frequency in the published experiment was 4 Hz.</a:t>
            </a:r>
          </a:p>
          <a:p>
            <a:pPr algn="l">
              <a:lnSpc>
                <a:spcPct val="108000"/>
              </a:lnSpc>
              <a:spcAft>
                <a:spcPts val="960"/>
              </a:spcAft>
            </a:pPr>
            <a:r>
              <a:rPr sz="1600" b="0" i="0">
                <a:solidFill>
                  <a:srgbClr val="202329"/>
                </a:solidFill>
                <a:latin typeface="Arial"/>
              </a:rPr>
              <a:t>Exchanging which region carried the phase modulation reversed the pacemaker response while preserving the amplitude modulation arrangement. Responses also depended on the constant phase offset between the regional signals. Near zero offset, the normal timing relationship produced the expected negative shift for positive Δf.</a:t>
            </a:r>
          </a:p>
          <a:p>
            <a:pPr algn="l">
              <a:lnSpc>
                <a:spcPct val="108000"/>
              </a:lnSpc>
              <a:spcAft>
                <a:spcPts val="960"/>
              </a:spcAft>
            </a:pPr>
            <a:r>
              <a:rPr sz="1600" b="0" i="0">
                <a:solidFill>
                  <a:srgbClr val="202329"/>
                </a:solidFill>
                <a:latin typeface="Arial"/>
              </a:rPr>
              <a:t>This manipulation separates a causal timing cue from the mere occurrence of amplitude beats. A change in the timing relationship can reverse the behavioral decision without changing the beat frequency. The experiment tests the information used by the animal; it does not assign that comparison to a single identified neuron.</a:t>
            </a:r>
          </a:p>
        </p:txBody>
      </p:sp>
      <p:pic>
        <p:nvPicPr>
          <p:cNvPr id="4" name="Picture 3" descr="05_control80.png"/>
          <p:cNvPicPr>
            <a:picLocks noChangeAspect="1"/>
          </p:cNvPicPr>
          <p:nvPr/>
        </p:nvPicPr>
        <p:blipFill>
          <a:blip r:embed="rId2"/>
          <a:stretch>
            <a:fillRect/>
          </a:stretch>
        </p:blipFill>
        <p:spPr>
          <a:xfrm>
            <a:off x="6869887" y="1280160"/>
            <a:ext cx="4754880" cy="2698349"/>
          </a:xfrm>
          <a:prstGeom prst="rect">
            <a:avLst/>
          </a:prstGeom>
        </p:spPr>
      </p:pic>
      <p:sp>
        <p:nvSpPr>
          <p:cNvPr id="5" name="Figure caption"/>
          <p:cNvSpPr txBox="1"/>
          <p:nvPr/>
        </p:nvSpPr>
        <p:spPr>
          <a:xfrm>
            <a:off x="6869887" y="406994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(1980), Fig. 4. Exchanging phase modulation reverses pacemaker responses.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(1980)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Cue trajectories distinguish order from beat magnitude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202329"/>
                </a:solidFill>
                <a:latin typeface="Arial"/>
              </a:rPr>
              <a:t>Heiligenberg presented closed and open trajectories in an </a:t>
            </a:r>
            <a:r>
              <a:rPr sz="1500" b="1" i="0">
                <a:solidFill>
                  <a:srgbClr val="16181D"/>
                </a:solidFill>
                <a:latin typeface="Arial"/>
              </a:rPr>
              <a:t>amplitude–phase plane</a:t>
            </a:r>
            <a:r>
              <a:rPr sz="1500" b="0" i="0">
                <a:solidFill>
                  <a:srgbClr val="202329"/>
                </a:solidFill>
                <a:latin typeface="Arial"/>
              </a:rPr>
              <a:t>, a representation pairing local amplitude with differential timing. Changing the sequence of cue combinations altered pacemaker output even when the overall set of available amplitude and phase values was similar.</a:t>
            </a:r>
          </a:p>
          <a:p>
            <a:pPr algn="l">
              <a:lnSpc>
                <a:spcPct val="108000"/>
              </a:lnSpc>
              <a:spcAft>
                <a:spcPts val="900"/>
              </a:spcAft>
            </a:pPr>
            <a:r>
              <a:rPr sz="1500" b="0" i="0">
                <a:solidFill>
                  <a:srgbClr val="202329"/>
                </a:solidFill>
                <a:latin typeface="Arial"/>
              </a:rPr>
              <a:t>The published behavioral comparisons associated opposite trajectory orientations with opposite frequency shifts. Vertical portions contributed strongly when amplitude was elevated, whereas timing changes at weaker amplitude contributed differently. These experiments motivated an amplitude-dependent weighting of timing information rather than a detector of beat rate alone.</a:t>
            </a:r>
          </a:p>
          <a:p>
            <a:pPr algn="l">
              <a:lnSpc>
                <a:spcPct val="108000"/>
              </a:lnSpc>
              <a:spcAft>
                <a:spcPts val="900"/>
              </a:spcAft>
            </a:pPr>
            <a:r>
              <a:rPr sz="1500" b="0" i="0">
                <a:solidFill>
                  <a:srgbClr val="202329"/>
                </a:solidFill>
                <a:latin typeface="Arial"/>
              </a:rPr>
              <a:t>The proposed integral over a trajectory was a functional description of behavior, not a measured intracellular arithmetic operation. Later recordings tested whether neurons possessed the required cue combinations. Natural avoidance therefore required experimental separation of stimulus computation, neural implementation, and the resulting motor command.</a:t>
            </a:r>
          </a:p>
        </p:txBody>
      </p:sp>
      <p:pic>
        <p:nvPicPr>
          <p:cNvPr id="4" name="Picture 3" descr="06_control80.png"/>
          <p:cNvPicPr>
            <a:picLocks noChangeAspect="1"/>
          </p:cNvPicPr>
          <p:nvPr/>
        </p:nvPicPr>
        <p:blipFill>
          <a:blip r:embed="rId2"/>
          <a:stretch>
            <a:fillRect/>
          </a:stretch>
        </p:blipFill>
        <p:spPr>
          <a:xfrm>
            <a:off x="7319395" y="1280160"/>
            <a:ext cx="3855862" cy="4297680"/>
          </a:xfrm>
          <a:prstGeom prst="rect">
            <a:avLst/>
          </a:prstGeom>
        </p:spPr>
      </p:pic>
      <p:sp>
        <p:nvSpPr>
          <p:cNvPr id="5" name="Figure caption"/>
          <p:cNvSpPr txBox="1"/>
          <p:nvPr/>
        </p:nvSpPr>
        <p:spPr>
          <a:xfrm>
            <a:off x="6869887" y="56692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(1980), Fig. 5. Different trajectories separate amplitude and timing contributions.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(1980)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Behavior detects temporal disparities of 400 nanoseconds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Temporal hyperacuity</a:t>
            </a:r>
            <a:r>
              <a:rPr sz="1600" b="0" i="0">
                <a:solidFill>
                  <a:srgbClr val="202329"/>
                </a:solidFill>
                <a:latin typeface="Arial"/>
              </a:rPr>
              <a:t> is behavioral discrimination finer than the timing precision expected from individual sensory inputs. Rose and Heiligenberg immobilized fish, suppressed their EOD, and replaced it with controlled electrical signals in a two-compartment chamber. The compartments electrically separated head and tail stimulation.</a:t>
            </a:r>
          </a:p>
          <a:p>
            <a:pPr algn="l">
              <a:lnSpc>
                <a:spcPct val="108000"/>
              </a:lnSpc>
              <a:spcAft>
                <a:spcPts val="960"/>
              </a:spcAft>
            </a:pPr>
            <a:r>
              <a:rPr sz="1600" b="0" i="0">
                <a:solidFill>
                  <a:srgbClr val="202329"/>
                </a:solidFill>
                <a:latin typeface="Arial"/>
              </a:rPr>
              <a:t>A neighbor mimic was mixed with the replacement signal at the head, while the tail received the replacement alone. The sign of a 4-Hz frequency difference alternated every 25.6 s. Fish shifted in the appropriate direction in at least 90% of trials at available temporal disparities as small as 400 ns.</a:t>
            </a:r>
          </a:p>
          <a:p>
            <a:pPr algn="l">
              <a:lnSpc>
                <a:spcPct val="108000"/>
              </a:lnSpc>
              <a:spcAft>
                <a:spcPts val="960"/>
              </a:spcAft>
            </a:pPr>
            <a:r>
              <a:rPr sz="1600" b="0" i="0">
                <a:solidFill>
                  <a:srgbClr val="202329"/>
                </a:solidFill>
                <a:latin typeface="Arial"/>
              </a:rPr>
              <a:t>The response was recorded from the spinal command signal despite suppression of the electric organ’s discharge. The controlled preparation establishes extraordinarily fine discrimination of a spatial timing cue. Because the chamber was less effective than broader stimulation, the authors regarded the measured threshold as a conservative estimate.</a:t>
            </a:r>
          </a:p>
        </p:txBody>
      </p:sp>
      <p:pic>
        <p:nvPicPr>
          <p:cNvPr id="4" name="Picture 3" descr="07_hyperacuity85.png"/>
          <p:cNvPicPr>
            <a:picLocks noChangeAspect="1"/>
          </p:cNvPicPr>
          <p:nvPr/>
        </p:nvPicPr>
        <p:blipFill>
          <a:blip r:embed="rId2"/>
          <a:stretch>
            <a:fillRect/>
          </a:stretch>
        </p:blipFill>
        <p:spPr>
          <a:xfrm>
            <a:off x="6869887" y="1280160"/>
            <a:ext cx="4754880" cy="2089370"/>
          </a:xfrm>
          <a:prstGeom prst="rect">
            <a:avLst/>
          </a:prstGeom>
        </p:spPr>
      </p:pic>
      <p:sp>
        <p:nvSpPr>
          <p:cNvPr id="5" name="Figure caption"/>
          <p:cNvSpPr txBox="1"/>
          <p:nvPr/>
        </p:nvSpPr>
        <p:spPr>
          <a:xfrm>
            <a:off x="6869887" y="346097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Rose &amp; Heiligenberg (1985), Fig. 1. Correct responses persist at submicrosecond disparities.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Rose &amp; Heiligenberg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Electronic controls isolate neural timing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Rose and Heiligenberg recorded intracellular spikes from </a:t>
            </a:r>
            <a:r>
              <a:rPr sz="1600" b="1" i="0">
                <a:solidFill>
                  <a:srgbClr val="16181D"/>
                </a:solidFill>
                <a:latin typeface="Arial"/>
              </a:rPr>
              <a:t>primary afferents</a:t>
            </a:r>
            <a:r>
              <a:rPr sz="1600" b="0" i="0">
                <a:solidFill>
                  <a:srgbClr val="202329"/>
                </a:solidFill>
                <a:latin typeface="Arial"/>
              </a:rPr>
              <a:t>, sensory neurons carrying receptor information toward the brain. Phase-coding afferents fired at a preferred moment of each electrical cycle, but their spike times varied from cycle to cycle even under controlled stimulation.</a:t>
            </a:r>
          </a:p>
          <a:p>
            <a:pPr algn="l">
              <a:lnSpc>
                <a:spcPct val="108000"/>
              </a:lnSpc>
              <a:spcAft>
                <a:spcPts val="960"/>
              </a:spcAft>
            </a:pPr>
            <a:r>
              <a:rPr sz="1600" b="0" i="0">
                <a:solidFill>
                  <a:srgbClr val="202329"/>
                </a:solidFill>
                <a:latin typeface="Arial"/>
              </a:rPr>
              <a:t>The investigators also recorded electronically generated spike mimics through the same equipment. A computer-controlled clock resolved timing in 0.1-µs increments. The much narrower distribution of electronic events excluded recording-system uncertainty as the main explanation for the broader neural timing distribution.</a:t>
            </a:r>
          </a:p>
          <a:p>
            <a:pPr algn="l">
              <a:lnSpc>
                <a:spcPct val="108000"/>
              </a:lnSpc>
              <a:spcAft>
                <a:spcPts val="960"/>
              </a:spcAft>
            </a:pPr>
            <a:r>
              <a:rPr sz="1600" b="0" i="0">
                <a:solidFill>
                  <a:srgbClr val="202329"/>
                </a:solidFill>
                <a:latin typeface="Arial"/>
              </a:rPr>
              <a:t>The most precisely recorded afferent still could not account straightforwardly for 400-ns behavioral discrimination within the roughly 300-ms response latency. This result motivated convergence across parallel inputs. It does not mean that each afferent lacks timing information; it limits an explanation based on one afferent’s short record.</a:t>
            </a:r>
          </a:p>
        </p:txBody>
      </p:sp>
      <p:pic>
        <p:nvPicPr>
          <p:cNvPr id="4" name="Picture 3" descr="08_hyperacuity85.png"/>
          <p:cNvPicPr>
            <a:picLocks noChangeAspect="1"/>
          </p:cNvPicPr>
          <p:nvPr/>
        </p:nvPicPr>
        <p:blipFill>
          <a:blip r:embed="rId2"/>
          <a:stretch>
            <a:fillRect/>
          </a:stretch>
        </p:blipFill>
        <p:spPr>
          <a:xfrm>
            <a:off x="8258655" y="1280160"/>
            <a:ext cx="1977343"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Rose &amp; Heiligenberg (1985), Fig. 2(a–b). Afferent timing and electronic spike-mimic control.</a:t>
            </a:r>
          </a:p>
        </p:txBody>
      </p:sp>
      <p:pic>
        <p:nvPicPr>
          <p:cNvPr id="6" name="Picture 5" descr="phase_chain.png"/>
          <p:cNvPicPr>
            <a:picLocks noChangeAspect="1"/>
          </p:cNvPicPr>
          <p:nvPr/>
        </p:nvPicPr>
        <p:blipFill>
          <a:blip r:embed="rId3"/>
          <a:stretch>
            <a:fillRect/>
          </a:stretch>
        </p:blipFill>
        <p:spPr>
          <a:xfrm>
            <a:off x="8770801" y="4709160"/>
            <a:ext cx="953050"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1(B). Receptor, nerve, spherical-cell and toral timing pathway.</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Rose &amp; Heiligenberg (1985);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Recruiting additional skin regions restores weak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Rose and Heiligenberg divided the fish’s body into electrically isolated compartments so that local receptor populations could be stimulated separately or together. A strong neighbor-to-EOD amplitude ratio of 0.05 elicited a JAR from a single body region.</a:t>
            </a:r>
          </a:p>
          <a:p>
            <a:pPr algn="l">
              <a:lnSpc>
                <a:spcPct val="108000"/>
              </a:lnSpc>
              <a:spcAft>
                <a:spcPts val="960"/>
              </a:spcAft>
            </a:pPr>
            <a:r>
              <a:rPr sz="1600" b="0" i="0">
                <a:solidFill>
                  <a:srgbClr val="202329"/>
                </a:solidFill>
                <a:latin typeface="Arial"/>
              </a:rPr>
              <a:t>At a ratio of 0.0016, corresponding to a maximal left–right disparity of 1.8 µs in this arrangement, separate stimulation of the tested compartments failed to produce a detectable response. Simultaneous stimulation of the three regions produced a strong, correctly directed JAR under the same local stimulus conditions.</a:t>
            </a:r>
          </a:p>
          <a:p>
            <a:pPr algn="l">
              <a:lnSpc>
                <a:spcPct val="108000"/>
              </a:lnSpc>
              <a:spcAft>
                <a:spcPts val="960"/>
              </a:spcAft>
            </a:pPr>
            <a:r>
              <a:rPr sz="1600" b="0" i="0">
                <a:solidFill>
                  <a:srgbClr val="202329"/>
                </a:solidFill>
                <a:latin typeface="Arial"/>
              </a:rPr>
              <a:t>The manipulation changes the area providing information rather than increasing each region’s stimulus strength. Regional recruitment supports pooling within the central nervous system. It does not identify how many afferents converge on a particular comparator or prove that one anatomical stage alone generates the improvement.</a:t>
            </a:r>
          </a:p>
        </p:txBody>
      </p:sp>
      <p:pic>
        <p:nvPicPr>
          <p:cNvPr id="4" name="Picture 3" descr="09_hyperacuity85.png"/>
          <p:cNvPicPr>
            <a:picLocks noChangeAspect="1"/>
          </p:cNvPicPr>
          <p:nvPr/>
        </p:nvPicPr>
        <p:blipFill>
          <a:blip r:embed="rId2"/>
          <a:stretch>
            <a:fillRect/>
          </a:stretch>
        </p:blipFill>
        <p:spPr>
          <a:xfrm>
            <a:off x="7041510" y="1280160"/>
            <a:ext cx="441163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Rose &amp; Heiligenberg (1985), Fig. 3(a–c). Recruiting multiple skin regions restores the response.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Rose &amp; Heiligenberg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Regional inputs combine more strongly than simple addition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202329"/>
                </a:solidFill>
                <a:latin typeface="Arial"/>
              </a:rPr>
              <a:t>The compartment experiment permitted a quantitative comparison between responses to individual regions and their simultaneous stimulation. Rose and Heiligenberg measured integrated, correctly directed frequency shifts while retaining the same weak local signals used for the separate-region conditions.</a:t>
            </a:r>
          </a:p>
          <a:p>
            <a:pPr algn="l">
              <a:lnSpc>
                <a:spcPct val="108000"/>
              </a:lnSpc>
              <a:spcAft>
                <a:spcPts val="900"/>
              </a:spcAft>
            </a:pPr>
            <a:r>
              <a:rPr sz="1500" b="0" i="0">
                <a:solidFill>
                  <a:srgbClr val="202329"/>
                </a:solidFill>
                <a:latin typeface="Arial"/>
              </a:rPr>
              <a:t>The combined response exceeded the contribution expected from merely adding the measured individual responses. Independent amplitude and phase manipulations indicated that the limiting factor was resolution of temporal disparity rather than sensitivity to amplitude modulation alone. The observed improvement was therefore associated with joint timing information.</a:t>
            </a:r>
          </a:p>
          <a:p>
            <a:pPr algn="l">
              <a:lnSpc>
                <a:spcPct val="108000"/>
              </a:lnSpc>
              <a:spcAft>
                <a:spcPts val="900"/>
              </a:spcAft>
            </a:pPr>
            <a:r>
              <a:rPr sz="1500" b="0" i="0">
                <a:solidFill>
                  <a:srgbClr val="202329"/>
                </a:solidFill>
                <a:latin typeface="Arial"/>
              </a:rPr>
              <a:t>This </a:t>
            </a:r>
            <a:r>
              <a:rPr sz="1500" b="1" i="0">
                <a:solidFill>
                  <a:srgbClr val="16181D"/>
                </a:solidFill>
                <a:latin typeface="Arial"/>
              </a:rPr>
              <a:t>nonlinear convergence</a:t>
            </a:r>
            <a:r>
              <a:rPr sz="1500" b="0" i="0">
                <a:solidFill>
                  <a:srgbClr val="202329"/>
                </a:solidFill>
                <a:latin typeface="Arial"/>
              </a:rPr>
              <a:t>, an output not proportional to a simple sum of regional outputs, supported a distributed source of hyperacuity. The particular nonlinearity and its cellular location were proposed rather than directly identified by this behavioral experiment. A silent regional behavioral response does not imply that its afferents were electrically silent.</a:t>
            </a:r>
          </a:p>
        </p:txBody>
      </p:sp>
      <p:pic>
        <p:nvPicPr>
          <p:cNvPr id="4" name="Picture 3" descr="10_hyperacuity85.png"/>
          <p:cNvPicPr>
            <a:picLocks noChangeAspect="1"/>
          </p:cNvPicPr>
          <p:nvPr/>
        </p:nvPicPr>
        <p:blipFill>
          <a:blip r:embed="rId2"/>
          <a:stretch>
            <a:fillRect/>
          </a:stretch>
        </p:blipFill>
        <p:spPr>
          <a:xfrm>
            <a:off x="6869887" y="1280160"/>
            <a:ext cx="4754880" cy="2879590"/>
          </a:xfrm>
          <a:prstGeom prst="rect">
            <a:avLst/>
          </a:prstGeom>
        </p:spPr>
      </p:pic>
      <p:sp>
        <p:nvSpPr>
          <p:cNvPr id="5" name="Figure caption"/>
          <p:cNvSpPr txBox="1"/>
          <p:nvPr/>
        </p:nvSpPr>
        <p:spPr>
          <a:xfrm>
            <a:off x="6869887" y="425119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Rose &amp; Heiligenberg (1985), Fig. 4. Combined stimulation exceeds individual regional responses.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Rose &amp; Heiligenberg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Phase-coded spikes pass through spherical and giant cells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Tuberous electroreceptors</a:t>
            </a:r>
            <a:r>
              <a:rPr sz="1600" b="0" i="0">
                <a:solidFill>
                  <a:srgbClr val="202329"/>
                </a:solidFill>
                <a:latin typeface="Arial"/>
              </a:rPr>
              <a:t> respond to high-frequency electrical signals near the EOD carrier. Their timing-sensitive, or T-type, afferents encode a recurring phase of the local signal. Carr and colleagues traced this pathway from the skin through the anterior lateral line nerve to the hindbrain.</a:t>
            </a:r>
          </a:p>
          <a:p>
            <a:pPr algn="l">
              <a:lnSpc>
                <a:spcPct val="108000"/>
              </a:lnSpc>
              <a:spcAft>
                <a:spcPts val="960"/>
              </a:spcAft>
            </a:pPr>
            <a:r>
              <a:rPr sz="1600" b="0" i="0">
                <a:solidFill>
                  <a:srgbClr val="202329"/>
                </a:solidFill>
                <a:latin typeface="Arial"/>
              </a:rPr>
              <a:t>The afferents contact </a:t>
            </a:r>
            <a:r>
              <a:rPr sz="1600" b="1" i="0">
                <a:solidFill>
                  <a:srgbClr val="16181D"/>
                </a:solidFill>
                <a:latin typeface="Arial"/>
              </a:rPr>
              <a:t>spherical cells</a:t>
            </a:r>
            <a:r>
              <a:rPr sz="1600" b="0" i="0">
                <a:solidFill>
                  <a:srgbClr val="202329"/>
                </a:solidFill>
                <a:latin typeface="Arial"/>
              </a:rPr>
              <a:t> in the electrosensory lateral line lobe, or </a:t>
            </a:r>
            <a:r>
              <a:rPr sz="1600" b="1" i="0">
                <a:solidFill>
                  <a:srgbClr val="16181D"/>
                </a:solidFill>
                <a:latin typeface="Arial"/>
              </a:rPr>
              <a:t>ELL</a:t>
            </a:r>
            <a:r>
              <a:rPr sz="1600" b="0" i="0">
                <a:solidFill>
                  <a:srgbClr val="202329"/>
                </a:solidFill>
                <a:latin typeface="Arial"/>
              </a:rPr>
              <a:t>. Spherical-cell axons then project to </a:t>
            </a:r>
            <a:r>
              <a:rPr sz="1600" b="1" i="0">
                <a:solidFill>
                  <a:srgbClr val="16181D"/>
                </a:solidFill>
                <a:latin typeface="Arial"/>
              </a:rPr>
              <a:t>lamina VI</a:t>
            </a:r>
            <a:r>
              <a:rPr sz="1600" b="0" i="0">
                <a:solidFill>
                  <a:srgbClr val="202329"/>
                </a:solidFill>
                <a:latin typeface="Arial"/>
              </a:rPr>
              <a:t>, the sixth layer of the midbrain </a:t>
            </a:r>
            <a:r>
              <a:rPr sz="1600" b="1" i="0">
                <a:solidFill>
                  <a:srgbClr val="16181D"/>
                </a:solidFill>
                <a:latin typeface="Arial"/>
              </a:rPr>
              <a:t>torus semicircularis</a:t>
            </a:r>
            <a:r>
              <a:rPr sz="1600" b="0" i="0">
                <a:solidFill>
                  <a:srgbClr val="202329"/>
                </a:solidFill>
                <a:latin typeface="Arial"/>
              </a:rPr>
              <a:t>. There they contact giant cells and provide the timing input needed for comparisons between body regions.</a:t>
            </a:r>
          </a:p>
          <a:p>
            <a:pPr algn="l">
              <a:lnSpc>
                <a:spcPct val="108000"/>
              </a:lnSpc>
              <a:spcAft>
                <a:spcPts val="960"/>
              </a:spcAft>
            </a:pPr>
            <a:r>
              <a:rPr sz="1600" b="0" i="0">
                <a:solidFill>
                  <a:srgbClr val="202329"/>
                </a:solidFill>
                <a:latin typeface="Arial"/>
              </a:rPr>
              <a:t>The illustrated circuit retains a phase-locked spike on successive carrier cycles rather than first converting every timing signal into average firing rate. Physiological recordings and anatomical labeling connect these stages. The pathway identifies timing transmission, but its existence alone does not establish the small-cell comparison rule.</a:t>
            </a:r>
          </a:p>
        </p:txBody>
      </p:sp>
      <p:pic>
        <p:nvPicPr>
          <p:cNvPr id="4" name="Picture 3" descr="11_rose86a.png"/>
          <p:cNvPicPr>
            <a:picLocks noChangeAspect="1"/>
          </p:cNvPicPr>
          <p:nvPr/>
        </p:nvPicPr>
        <p:blipFill>
          <a:blip r:embed="rId2"/>
          <a:stretch>
            <a:fillRect/>
          </a:stretch>
        </p:blipFill>
        <p:spPr>
          <a:xfrm>
            <a:off x="7406907" y="1280160"/>
            <a:ext cx="3680840"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5. Phase-coding pathway from the skin to toral giant cells.</a:t>
            </a:r>
          </a:p>
        </p:txBody>
      </p:sp>
      <p:pic>
        <p:nvPicPr>
          <p:cNvPr id="6" name="Picture 5" descr="phase_brain.png"/>
          <p:cNvPicPr>
            <a:picLocks noChangeAspect="1"/>
          </p:cNvPicPr>
          <p:nvPr/>
        </p:nvPicPr>
        <p:blipFill>
          <a:blip r:embed="rId3"/>
          <a:stretch>
            <a:fillRect/>
          </a:stretch>
        </p:blipFill>
        <p:spPr>
          <a:xfrm>
            <a:off x="8129001" y="4709160"/>
            <a:ext cx="2236651"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1(A). Sagittal brain anatomy with torus and electrosensory lateral line lobe.</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Carr et al. (1986);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Amplitude signals enter the torus through E and I afferents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P-type afferents</a:t>
            </a:r>
            <a:r>
              <a:rPr sz="1600" b="0" i="0">
                <a:solidFill>
                  <a:srgbClr val="202329"/>
                </a:solidFill>
                <a:latin typeface="Arial"/>
              </a:rPr>
              <a:t> encode electrical amplitude through their probability of firing on successive cycles. In the ELL, </a:t>
            </a:r>
            <a:r>
              <a:rPr sz="1600" b="1" i="0">
                <a:solidFill>
                  <a:srgbClr val="16181D"/>
                </a:solidFill>
                <a:latin typeface="Arial"/>
              </a:rPr>
              <a:t>E units</a:t>
            </a:r>
            <a:r>
              <a:rPr sz="1600" b="0" i="0">
                <a:solidFill>
                  <a:srgbClr val="202329"/>
                </a:solidFill>
                <a:latin typeface="Arial"/>
              </a:rPr>
              <a:t> increase activity with rising amplitude, whereas </a:t>
            </a:r>
            <a:r>
              <a:rPr sz="1600" b="1" i="0">
                <a:solidFill>
                  <a:srgbClr val="16181D"/>
                </a:solidFill>
                <a:latin typeface="Arial"/>
              </a:rPr>
              <a:t>I units</a:t>
            </a:r>
            <a:r>
              <a:rPr sz="1600" b="0" i="0">
                <a:solidFill>
                  <a:srgbClr val="202329"/>
                </a:solidFill>
                <a:latin typeface="Arial"/>
              </a:rPr>
              <a:t> increase activity as amplitude falls. Their responses separate opposite directions of amplitude change.</a:t>
            </a:r>
          </a:p>
          <a:p>
            <a:pPr algn="l">
              <a:lnSpc>
                <a:spcPct val="108000"/>
              </a:lnSpc>
              <a:spcAft>
                <a:spcPts val="960"/>
              </a:spcAft>
            </a:pPr>
            <a:r>
              <a:rPr sz="1600" b="0" i="0">
                <a:solidFill>
                  <a:srgbClr val="202329"/>
                </a:solidFill>
                <a:latin typeface="Arial"/>
              </a:rPr>
              <a:t>Heiligenberg and Rose recorded and labeled ELL projections entering the torus. The published I-type example responded during declining amplitude for either sign of the neighbor’s frequency difference. Its axon terminated across several toral laminae, while individual afferents differed in their detailed terminal patterns.</a:t>
            </a:r>
          </a:p>
          <a:p>
            <a:pPr algn="l">
              <a:lnSpc>
                <a:spcPct val="108000"/>
              </a:lnSpc>
              <a:spcAft>
                <a:spcPts val="960"/>
              </a:spcAft>
            </a:pPr>
            <a:r>
              <a:rPr sz="1600" b="0" i="0">
                <a:solidFill>
                  <a:srgbClr val="202329"/>
                </a:solidFill>
                <a:latin typeface="Arial"/>
              </a:rPr>
              <a:t>Amplitude sensitivity therefore supplies a necessary cue without inherently solving the sign decision. An I-unit response can occur during either positive or negative Δf. Comparing its activity with timing-sensitive signals is required to distinguish these cases; the afferent labeling does not establish every downstream synaptic connection.</a:t>
            </a:r>
          </a:p>
        </p:txBody>
      </p:sp>
      <p:pic>
        <p:nvPicPr>
          <p:cNvPr id="4" name="Picture 3" descr="12_rose85.png"/>
          <p:cNvPicPr>
            <a:picLocks noChangeAspect="1"/>
          </p:cNvPicPr>
          <p:nvPr/>
        </p:nvPicPr>
        <p:blipFill>
          <a:blip r:embed="rId2"/>
          <a:stretch>
            <a:fillRect/>
          </a:stretch>
        </p:blipFill>
        <p:spPr>
          <a:xfrm>
            <a:off x="6936389" y="1280160"/>
            <a:ext cx="462187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3(a–c). Labeled amplitude-coding afferents and laminar terminations.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Convergence improves phase-locking precision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Carr and colleagues compared timing-sensitive afferents in the anterior lateral line nerve with neurons in the torus. A repeated sinusoidal stimulus fixed the timing landmark, allowing the precision of phase-locked spikes to be compared at peripheral and central stages.</a:t>
            </a:r>
          </a:p>
          <a:p>
            <a:pPr algn="l">
              <a:lnSpc>
                <a:spcPct val="108000"/>
              </a:lnSpc>
              <a:spcAft>
                <a:spcPts val="960"/>
              </a:spcAft>
            </a:pPr>
            <a:r>
              <a:rPr sz="1600" b="0" i="0">
                <a:solidFill>
                  <a:srgbClr val="202329"/>
                </a:solidFill>
                <a:latin typeface="Arial"/>
              </a:rPr>
              <a:t>The comparison included stimulus intensities of 1 mV/cm and three times that value. Midbrain phase-coding responses were generally more tightly aligned to the stimulus than peripheral responses. Increasing stimulus strength did not eliminate the distinction between the two stages.</a:t>
            </a:r>
          </a:p>
          <a:p>
            <a:pPr algn="l">
              <a:lnSpc>
                <a:spcPct val="108000"/>
              </a:lnSpc>
              <a:spcAft>
                <a:spcPts val="960"/>
              </a:spcAft>
            </a:pPr>
            <a:r>
              <a:rPr sz="1600" b="0" i="0">
                <a:solidFill>
                  <a:srgbClr val="202329"/>
                </a:solidFill>
                <a:latin typeface="Arial"/>
              </a:rPr>
              <a:t>Anatomical convergence is consistent with combining partly independent timing estimates into a more precise central signal. Nevertheless, the best single-cell responses remained less precise than behavioral hyperacuity. Improved phase locking within the pathway and the final detection of a disparity across body regions are related but distinct operations.</a:t>
            </a:r>
          </a:p>
        </p:txBody>
      </p:sp>
      <p:pic>
        <p:nvPicPr>
          <p:cNvPr id="4" name="Picture 3" descr="13_rose86a.png"/>
          <p:cNvPicPr>
            <a:picLocks noChangeAspect="1"/>
          </p:cNvPicPr>
          <p:nvPr/>
        </p:nvPicPr>
        <p:blipFill>
          <a:blip r:embed="rId2"/>
          <a:stretch>
            <a:fillRect/>
          </a:stretch>
        </p:blipFill>
        <p:spPr>
          <a:xfrm>
            <a:off x="6911239" y="1280160"/>
            <a:ext cx="4672176"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6. Timing precision in peripheral and midbrain recordings.</a:t>
            </a:r>
          </a:p>
        </p:txBody>
      </p:sp>
      <p:pic>
        <p:nvPicPr>
          <p:cNvPr id="6" name="Picture 5" descr="phase_brain.png"/>
          <p:cNvPicPr>
            <a:picLocks noChangeAspect="1"/>
          </p:cNvPicPr>
          <p:nvPr/>
        </p:nvPicPr>
        <p:blipFill>
          <a:blip r:embed="rId3"/>
          <a:stretch>
            <a:fillRect/>
          </a:stretch>
        </p:blipFill>
        <p:spPr>
          <a:xfrm>
            <a:off x="8129001" y="4709160"/>
            <a:ext cx="2236651"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1(A). Sagittal brain anatomy with torus and electrosensory lateral line lobe.</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Carr et al. (1986);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Electrical junctions transmit timing in both directions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gap junction</a:t>
            </a:r>
            <a:r>
              <a:rPr sz="1600" b="0" i="0">
                <a:solidFill>
                  <a:srgbClr val="202329"/>
                </a:solidFill>
                <a:latin typeface="Arial"/>
              </a:rPr>
              <a:t> is a direct electrical connection between neighboring cells that permits current to pass without a conventional transmitter-release step. Carr and colleagues recorded spherical-cell afferent terminals close to their contacts on giant cells in lamina VI.</a:t>
            </a:r>
          </a:p>
          <a:p>
            <a:pPr algn="l">
              <a:lnSpc>
                <a:spcPct val="108000"/>
              </a:lnSpc>
              <a:spcAft>
                <a:spcPts val="960"/>
              </a:spcAft>
            </a:pPr>
            <a:r>
              <a:rPr sz="1600" b="0" i="0">
                <a:solidFill>
                  <a:srgbClr val="202329"/>
                </a:solidFill>
                <a:latin typeface="Arial"/>
              </a:rPr>
              <a:t>With a stimulus present, the terminals carried the expected phase-locked axonal spikes. Without external stimulation, junctional potentials could still be recorded in these terminals, including events as large as 40 mV. Labeled terminals surrounded the giant-cell soma in the accompanying anatomical preparation.</a:t>
            </a:r>
          </a:p>
          <a:p>
            <a:pPr algn="l">
              <a:lnSpc>
                <a:spcPct val="108000"/>
              </a:lnSpc>
              <a:spcAft>
                <a:spcPts val="960"/>
              </a:spcAft>
            </a:pPr>
            <a:r>
              <a:rPr sz="1600" b="0" i="0">
                <a:solidFill>
                  <a:srgbClr val="202329"/>
                </a:solidFill>
                <a:latin typeface="Arial"/>
              </a:rPr>
              <a:t>These potentials support a nonrectifying connection: current can influence the afferent terminal from the giant-cell side as well as forward into the giant cell. They were interpreted as giant-cell spikes and potentials transmitted backward through the junction. This interpretation differs from a newly generated peripheral sensory event.</a:t>
            </a:r>
          </a:p>
        </p:txBody>
      </p:sp>
      <p:pic>
        <p:nvPicPr>
          <p:cNvPr id="4" name="Picture 3" descr="14_rose86a.png"/>
          <p:cNvPicPr>
            <a:picLocks noChangeAspect="1"/>
          </p:cNvPicPr>
          <p:nvPr/>
        </p:nvPicPr>
        <p:blipFill>
          <a:blip r:embed="rId2"/>
          <a:stretch>
            <a:fillRect/>
          </a:stretch>
        </p:blipFill>
        <p:spPr>
          <a:xfrm>
            <a:off x="6869887" y="1280160"/>
            <a:ext cx="4754880" cy="1095455"/>
          </a:xfrm>
          <a:prstGeom prst="rect">
            <a:avLst/>
          </a:prstGeom>
        </p:spPr>
      </p:pic>
      <p:sp>
        <p:nvSpPr>
          <p:cNvPr id="5" name="Figure caption"/>
          <p:cNvSpPr txBox="1"/>
          <p:nvPr/>
        </p:nvSpPr>
        <p:spPr>
          <a:xfrm>
            <a:off x="6869887" y="246705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8(A–C). Afferent spikes, junctional potentials, and labeled terminals.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Carr et al.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Local afferents contact both giant and small cells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Carr, Maler, and Taylor combined intracellular labeling with </a:t>
            </a:r>
            <a:r>
              <a:rPr sz="1600" b="1" i="0">
                <a:solidFill>
                  <a:srgbClr val="16181D"/>
                </a:solidFill>
                <a:latin typeface="Arial"/>
              </a:rPr>
              <a:t>electron microscopy</a:t>
            </a:r>
            <a:r>
              <a:rPr sz="1600" b="0" i="0">
                <a:solidFill>
                  <a:srgbClr val="202329"/>
                </a:solidFill>
                <a:latin typeface="Arial"/>
              </a:rPr>
              <a:t>, imaging fine cellular structure at synapses. Afferents from ELL spherical cells formed restricted terminal arbors in lamina VI, preserving information about a local patch of the body surface.</a:t>
            </a:r>
          </a:p>
          <a:p>
            <a:pPr algn="l">
              <a:lnSpc>
                <a:spcPct val="108000"/>
              </a:lnSpc>
              <a:spcAft>
                <a:spcPts val="960"/>
              </a:spcAft>
            </a:pPr>
            <a:r>
              <a:rPr sz="1600" b="0" i="0">
                <a:solidFill>
                  <a:srgbClr val="202329"/>
                </a:solidFill>
                <a:latin typeface="Arial"/>
              </a:rPr>
              <a:t>Each afferent contacted one or two giant-cell somata and distal dendrites of small cells. Some terminals formed clusters termed </a:t>
            </a:r>
            <a:r>
              <a:rPr sz="1600" b="1" i="0">
                <a:solidFill>
                  <a:srgbClr val="16181D"/>
                </a:solidFill>
                <a:latin typeface="Arial"/>
              </a:rPr>
              <a:t>synaptic islands</a:t>
            </a:r>
            <a:r>
              <a:rPr sz="1600" b="0" i="0">
                <a:solidFill>
                  <a:srgbClr val="202329"/>
                </a:solidFill>
                <a:latin typeface="Arial"/>
              </a:rPr>
              <a:t>. The published panels include labeled afferent terminals and their contacts, with scale bars ranging from 2 to 20 µm.</a:t>
            </a:r>
          </a:p>
          <a:p>
            <a:pPr algn="l">
              <a:lnSpc>
                <a:spcPct val="108000"/>
              </a:lnSpc>
              <a:spcAft>
                <a:spcPts val="960"/>
              </a:spcAft>
            </a:pPr>
            <a:r>
              <a:rPr sz="1600" b="0" i="0">
                <a:solidFill>
                  <a:srgbClr val="202329"/>
                </a:solidFill>
                <a:latin typeface="Arial"/>
              </a:rPr>
              <a:t>The same local timing source thus enters different elements of the comparison circuit. Contacts on giant cells distribute information broadly, whereas small-cell dendritic contacts preserve local input. Anatomical apposition alone cannot specify the exact contribution of each contact; ultrastructure distinguishes junction types, and physiology constrains their functional interpretation.</a:t>
            </a:r>
          </a:p>
        </p:txBody>
      </p:sp>
      <p:pic>
        <p:nvPicPr>
          <p:cNvPr id="4" name="Picture 3" descr="15_rose86b.png"/>
          <p:cNvPicPr>
            <a:picLocks noChangeAspect="1"/>
          </p:cNvPicPr>
          <p:nvPr/>
        </p:nvPicPr>
        <p:blipFill>
          <a:blip r:embed="rId2"/>
          <a:stretch>
            <a:fillRect/>
          </a:stretch>
        </p:blipFill>
        <p:spPr>
          <a:xfrm>
            <a:off x="7164460" y="1280160"/>
            <a:ext cx="416573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2(A–F). Local afferent synapses onto giant cells and small-cell dendrites.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Carr et al.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Giant cells distribute timing through electrical contacts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Giant cells in lamina VI have extensive axonal arbors and lack the conventional dendritic tree of many central neurons. Carr and colleagues reconstructed labeled cells and examined their contacts with afferents at light- and electron-microscope resolution.</a:t>
            </a:r>
          </a:p>
          <a:p>
            <a:pPr algn="l">
              <a:lnSpc>
                <a:spcPct val="108000"/>
              </a:lnSpc>
              <a:spcAft>
                <a:spcPts val="960"/>
              </a:spcAft>
            </a:pPr>
            <a:r>
              <a:rPr sz="1600" b="0" i="0">
                <a:solidFill>
                  <a:srgbClr val="202329"/>
                </a:solidFill>
                <a:latin typeface="Arial"/>
              </a:rPr>
              <a:t>The published ultrastructure identifies gap-junction contacts between afferent terminals and giant cells. Its detailed contact panel includes a 0.5-µm scale bar. Other panels reveal the unipolar soma and large axonal processes that distribute timing information across the layer.</a:t>
            </a:r>
          </a:p>
          <a:p>
            <a:pPr algn="l">
              <a:lnSpc>
                <a:spcPct val="108000"/>
              </a:lnSpc>
              <a:spcAft>
                <a:spcPts val="960"/>
              </a:spcAft>
            </a:pPr>
            <a:r>
              <a:rPr sz="1600" b="0" i="0">
                <a:solidFill>
                  <a:srgbClr val="202329"/>
                </a:solidFill>
                <a:latin typeface="Arial"/>
              </a:rPr>
              <a:t>This organization can provide many local comparators with timing signals originating at other body regions. The anatomy establishes direct electrical contacts and broad distribution; it does not mean that one giant cell encodes the entire animal’s behavioral decision. The comparison still depends on which local and distributed inputs reach each small cell.</a:t>
            </a:r>
          </a:p>
        </p:txBody>
      </p:sp>
      <p:pic>
        <p:nvPicPr>
          <p:cNvPr id="4" name="Picture 3" descr="16_rose86b.png"/>
          <p:cNvPicPr>
            <a:picLocks noChangeAspect="1"/>
          </p:cNvPicPr>
          <p:nvPr/>
        </p:nvPicPr>
        <p:blipFill>
          <a:blip r:embed="rId2"/>
          <a:stretch>
            <a:fillRect/>
          </a:stretch>
        </p:blipFill>
        <p:spPr>
          <a:xfrm>
            <a:off x="7345934" y="1280160"/>
            <a:ext cx="380278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4(A–F). Giant-cell anatomy and ultrastructure of gap-junction contacts.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Carr et al. (1986)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Amplitude and timing pathways occupy different laminae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Heiligenberg and Rose recorded intracellularly in the torus and filled physiologically identified neurons with dyes. Their anatomical summary separated amplitude-coding ELL pyramidal inputs from phase-coding spherical-cell inputs rather than treating the torus as a uniform relay.</a:t>
            </a:r>
          </a:p>
          <a:p>
            <a:pPr algn="l">
              <a:lnSpc>
                <a:spcPct val="108000"/>
              </a:lnSpc>
              <a:spcAft>
                <a:spcPts val="960"/>
              </a:spcAft>
            </a:pPr>
            <a:r>
              <a:rPr sz="1600" b="0" i="0">
                <a:solidFill>
                  <a:srgbClr val="202329"/>
                </a:solidFill>
                <a:latin typeface="Arial"/>
              </a:rPr>
              <a:t>Amplitude inputs reached laminae 3, 5, 7, 8c, and 8d. Phase information reached giant cells in lamina 6, with subsequent processing in deeper layers. The body surface was represented </a:t>
            </a:r>
            <a:r>
              <a:rPr sz="1600" b="1" i="0">
                <a:solidFill>
                  <a:srgbClr val="16181D"/>
                </a:solidFill>
                <a:latin typeface="Arial"/>
              </a:rPr>
              <a:t>somatotopically</a:t>
            </a:r>
            <a:r>
              <a:rPr sz="1600" b="0" i="0">
                <a:solidFill>
                  <a:srgbClr val="202329"/>
                </a:solidFill>
                <a:latin typeface="Arial"/>
              </a:rPr>
              <a:t>, meaning that different body locations mapped onto different neural locations.</a:t>
            </a:r>
          </a:p>
          <a:p>
            <a:pPr algn="l">
              <a:lnSpc>
                <a:spcPct val="108000"/>
              </a:lnSpc>
              <a:spcAft>
                <a:spcPts val="960"/>
              </a:spcAft>
            </a:pPr>
            <a:r>
              <a:rPr sz="1600" b="0" i="0">
                <a:solidFill>
                  <a:srgbClr val="202329"/>
                </a:solidFill>
                <a:latin typeface="Arial"/>
              </a:rPr>
              <a:t>This arrangement makes local amplitude information available alongside comparisons of timing across body regions. A layered projection pattern is consistent with successive cue transformations, but a lamina can contain heterogeneous cells. The paper also identified a lobus caudalis projection whose computational significance remained unresolved.</a:t>
            </a:r>
          </a:p>
        </p:txBody>
      </p:sp>
      <p:pic>
        <p:nvPicPr>
          <p:cNvPr id="4" name="Picture 3" descr="17_rose85.png"/>
          <p:cNvPicPr>
            <a:picLocks noChangeAspect="1"/>
          </p:cNvPicPr>
          <p:nvPr/>
        </p:nvPicPr>
        <p:blipFill>
          <a:blip r:embed="rId2"/>
          <a:stretch>
            <a:fillRect/>
          </a:stretch>
        </p:blipFill>
        <p:spPr>
          <a:xfrm>
            <a:off x="7732800" y="1280160"/>
            <a:ext cx="3029054"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2. Amplitude and phase inputs reach distinct toral laminae.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Small cells respond selectively to differential phase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Heiligenberg and Rose stimulated head and tail compartments independently while recording small cells in lamina 6. The head signal’s timing was advanced or delayed relative to the tail, while a triangular waveform swept the phase difference at 2 Hz.</a:t>
            </a:r>
          </a:p>
          <a:p>
            <a:pPr algn="l">
              <a:lnSpc>
                <a:spcPct val="108000"/>
              </a:lnSpc>
              <a:spcAft>
                <a:spcPts val="960"/>
              </a:spcAft>
            </a:pPr>
            <a:r>
              <a:rPr sz="1600" b="0" i="0">
                <a:solidFill>
                  <a:srgbClr val="202329"/>
                </a:solidFill>
                <a:latin typeface="Arial"/>
              </a:rPr>
              <a:t>Spikes occurred preferentially within particular portions of the differential-phase range. One small cell was silent when the head signal lagged; another had a different preference. Intracellular dye filling associated these response patterns with small-cell anatomy near giant cells.</a:t>
            </a:r>
          </a:p>
          <a:p>
            <a:pPr algn="l">
              <a:lnSpc>
                <a:spcPct val="108000"/>
              </a:lnSpc>
              <a:spcAft>
                <a:spcPts val="960"/>
              </a:spcAft>
            </a:pPr>
            <a:r>
              <a:rPr sz="1600" b="0" i="0">
                <a:solidFill>
                  <a:srgbClr val="202329"/>
                </a:solidFill>
                <a:latin typeface="Arial"/>
              </a:rPr>
              <a:t>The experiment isolates a </a:t>
            </a:r>
            <a:r>
              <a:rPr sz="1600" b="1" i="0">
                <a:solidFill>
                  <a:srgbClr val="16181D"/>
                </a:solidFill>
                <a:latin typeface="Arial"/>
              </a:rPr>
              <a:t>phase comparator</a:t>
            </a:r>
            <a:r>
              <a:rPr sz="1600" b="0" i="0">
                <a:solidFill>
                  <a:srgbClr val="202329"/>
                </a:solidFill>
                <a:latin typeface="Arial"/>
              </a:rPr>
              <a:t>, a neuron whose firing depends on relative timing rather than only on one local waveform. Selectivity is not a complete JAR decision because amplitude change has not yet been combined with phase preference. The anatomical delay-and-coincidence interpretation remained a proposed mechanism for this selectivity.</a:t>
            </a:r>
          </a:p>
        </p:txBody>
      </p:sp>
      <p:pic>
        <p:nvPicPr>
          <p:cNvPr id="4" name="Picture 3" descr="18_rose85.png"/>
          <p:cNvPicPr>
            <a:picLocks noChangeAspect="1"/>
          </p:cNvPicPr>
          <p:nvPr/>
        </p:nvPicPr>
        <p:blipFill>
          <a:blip r:embed="rId2"/>
          <a:stretch>
            <a:fillRect/>
          </a:stretch>
        </p:blipFill>
        <p:spPr>
          <a:xfrm>
            <a:off x="7380261" y="1280160"/>
            <a:ext cx="373413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4(a–c). Small-cell firing depends on differential phase.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Phase comparators do not simply report amplitude beats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The same two-compartment preparation allowed Heiligenberg and Rose to compare combined amplitude-and-phase modulation with phase modulation alone and amplitude modulation alone. Intracellular recording distinguished the contributions while retaining a recurring electrical carrier in the reference compartment.</a:t>
            </a:r>
          </a:p>
          <a:p>
            <a:pPr algn="l">
              <a:lnSpc>
                <a:spcPct val="108000"/>
              </a:lnSpc>
              <a:spcAft>
                <a:spcPts val="960"/>
              </a:spcAft>
            </a:pPr>
            <a:r>
              <a:rPr sz="1600" b="0" i="0">
                <a:solidFill>
                  <a:srgbClr val="202329"/>
                </a:solidFill>
                <a:latin typeface="Arial"/>
              </a:rPr>
              <a:t>A small cell in lamina 6 retained differential-phase sensitivity under phase-only stimulation. Isolated amplitude modulation did not produce the same response pattern. Removing the comparison signal changed activity rather than supplying an equivalent timing reference through the central pacemaker.</a:t>
            </a:r>
          </a:p>
          <a:p>
            <a:pPr algn="l">
              <a:lnSpc>
                <a:spcPct val="108000"/>
              </a:lnSpc>
              <a:spcAft>
                <a:spcPts val="960"/>
              </a:spcAft>
            </a:pPr>
            <a:r>
              <a:rPr sz="1600" b="0" i="0">
                <a:solidFill>
                  <a:srgbClr val="202329"/>
                </a:solidFill>
                <a:latin typeface="Arial"/>
              </a:rPr>
              <a:t>These controls place the first relative-timing comparison within the sensory circuit. A phase-sensitive response cannot be assigned to the amplitude beat merely because both coexist during normal interference. The result also does not require a neuron to recognize the neighbor’s absolute EOD frequency or identity.</a:t>
            </a:r>
          </a:p>
        </p:txBody>
      </p:sp>
      <p:pic>
        <p:nvPicPr>
          <p:cNvPr id="4" name="Picture 3" descr="19_rose85.png"/>
          <p:cNvPicPr>
            <a:picLocks noChangeAspect="1"/>
          </p:cNvPicPr>
          <p:nvPr/>
        </p:nvPicPr>
        <p:blipFill>
          <a:blip r:embed="rId2"/>
          <a:stretch>
            <a:fillRect/>
          </a:stretch>
        </p:blipFill>
        <p:spPr>
          <a:xfrm>
            <a:off x="7174835" y="1280160"/>
            <a:ext cx="4144984"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5(a–d). Small-cell responses to isolated amplitude and phase modulation.</a:t>
            </a:r>
          </a:p>
        </p:txBody>
      </p:sp>
      <p:pic>
        <p:nvPicPr>
          <p:cNvPr id="6" name="Picture 5" descr="small_cells.png"/>
          <p:cNvPicPr>
            <a:picLocks noChangeAspect="1"/>
          </p:cNvPicPr>
          <p:nvPr/>
        </p:nvPicPr>
        <p:blipFill>
          <a:blip r:embed="rId3"/>
          <a:stretch>
            <a:fillRect/>
          </a:stretch>
        </p:blipFill>
        <p:spPr>
          <a:xfrm>
            <a:off x="7811712" y="4709160"/>
            <a:ext cx="2871228"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5(A). Published reconstruction of lamina-VI small cells and their processes.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Phase tuning includes both dynamic and stationary cues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Heiligenberg and Rose varied the timing relationship between head and tail while recording a small cell in lamina 6. At 2-Hz triangular phase modulation, its spike density favored a restricted phase range. Removing the head carrier released activity over much more of the cycle.</a:t>
            </a:r>
          </a:p>
          <a:p>
            <a:pPr algn="l">
              <a:lnSpc>
                <a:spcPct val="108000"/>
              </a:lnSpc>
              <a:spcAft>
                <a:spcPts val="960"/>
              </a:spcAft>
            </a:pPr>
            <a:r>
              <a:rPr sz="1600" b="0" i="0">
                <a:solidFill>
                  <a:srgbClr val="202329"/>
                </a:solidFill>
                <a:latin typeface="Arial"/>
              </a:rPr>
              <a:t>Another record used a 0.2-Hz phase scan and sustained phase offsets. The neuron could discriminate stationary phase values rather than responding only to the direction of a rapid scan. Carrier presence and relative phase therefore changed the operating state of the comparator.</a:t>
            </a:r>
          </a:p>
          <a:p>
            <a:pPr algn="l">
              <a:lnSpc>
                <a:spcPct val="108000"/>
              </a:lnSpc>
              <a:spcAft>
                <a:spcPts val="960"/>
              </a:spcAft>
            </a:pPr>
            <a:r>
              <a:rPr sz="1600" b="0" i="0">
                <a:solidFill>
                  <a:srgbClr val="202329"/>
                </a:solidFill>
                <a:latin typeface="Arial"/>
              </a:rPr>
              <a:t>The differing tests distinguish sensitivity to instantaneous timing from sensitivity to temporal change. They do not imply that every comparator has identical dynamics or that its firing directly specifies upward versus downward JAR. The behavioral decision requires the phase preference to be interpreted together with amplitude information.</a:t>
            </a:r>
          </a:p>
        </p:txBody>
      </p:sp>
      <p:pic>
        <p:nvPicPr>
          <p:cNvPr id="4" name="Picture 3" descr="20_rose85.png"/>
          <p:cNvPicPr>
            <a:picLocks noChangeAspect="1"/>
          </p:cNvPicPr>
          <p:nvPr/>
        </p:nvPicPr>
        <p:blipFill>
          <a:blip r:embed="rId2"/>
          <a:stretch>
            <a:fillRect/>
          </a:stretch>
        </p:blipFill>
        <p:spPr>
          <a:xfrm>
            <a:off x="8369889" y="1280160"/>
            <a:ext cx="1754875"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6(a–b). Phase-sensitive responses and removal of the head signal.</a:t>
            </a:r>
          </a:p>
        </p:txBody>
      </p:sp>
      <p:pic>
        <p:nvPicPr>
          <p:cNvPr id="6" name="Picture 5" descr="small_cells.png"/>
          <p:cNvPicPr>
            <a:picLocks noChangeAspect="1"/>
          </p:cNvPicPr>
          <p:nvPr/>
        </p:nvPicPr>
        <p:blipFill>
          <a:blip r:embed="rId3"/>
          <a:stretch>
            <a:fillRect/>
          </a:stretch>
        </p:blipFill>
        <p:spPr>
          <a:xfrm>
            <a:off x="7811712" y="4709160"/>
            <a:ext cx="2871228"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5(A). Published reconstruction of lamina-VI small cells and their processes.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Local amplitude gates timing responses in deeper neurons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In deeper toral laminae, Heiligenberg and Rose found neurons sensitive to both amplitude and differential phase. The investigators modulated either the head or tail while retaining a carrier at the other region, then removed or restored the reference signal.</a:t>
            </a:r>
          </a:p>
          <a:p>
            <a:pPr algn="l">
              <a:lnSpc>
                <a:spcPct val="108000"/>
              </a:lnSpc>
              <a:spcAft>
                <a:spcPts val="960"/>
              </a:spcAft>
            </a:pPr>
            <a:r>
              <a:rPr sz="1600" b="0" i="0">
                <a:solidFill>
                  <a:srgbClr val="202329"/>
                </a:solidFill>
                <a:latin typeface="Arial"/>
              </a:rPr>
              <a:t>The published lamina-8b/8c neuron responded differently to combined modulation, amplitude alone, and phase alone. A local amplitude change altered the expression of its phase preference. Its labeled morphology extended through the deeper layers where the two information streams could converge.</a:t>
            </a:r>
          </a:p>
          <a:p>
            <a:pPr algn="l">
              <a:lnSpc>
                <a:spcPct val="108000"/>
              </a:lnSpc>
              <a:spcAft>
                <a:spcPts val="960"/>
              </a:spcAft>
            </a:pPr>
            <a:r>
              <a:rPr sz="1600" b="1" i="0">
                <a:solidFill>
                  <a:srgbClr val="16181D"/>
                </a:solidFill>
                <a:latin typeface="Arial"/>
              </a:rPr>
              <a:t>Combination sensitivity</a:t>
            </a:r>
            <a:r>
              <a:rPr sz="1600" b="0" i="0">
                <a:solidFill>
                  <a:srgbClr val="202329"/>
                </a:solidFill>
                <a:latin typeface="Arial"/>
              </a:rPr>
              <a:t> is a dependence on a particular pairing of stimulus features. Here, phase information is interpreted in the context of local amplitude, providing a candidate operation for determining beat sign. The recording establishes cue interaction in this neuron, rather than proving that all cells use an identical multiplication mechanism.</a:t>
            </a:r>
          </a:p>
        </p:txBody>
      </p:sp>
      <p:pic>
        <p:nvPicPr>
          <p:cNvPr id="4" name="Picture 3" descr="21_rose85.png"/>
          <p:cNvPicPr>
            <a:picLocks noChangeAspect="1"/>
          </p:cNvPicPr>
          <p:nvPr/>
        </p:nvPicPr>
        <p:blipFill>
          <a:blip r:embed="rId2"/>
          <a:stretch>
            <a:fillRect/>
          </a:stretch>
        </p:blipFill>
        <p:spPr>
          <a:xfrm>
            <a:off x="6869887" y="1280160"/>
            <a:ext cx="4754879" cy="3827191"/>
          </a:xfrm>
          <a:prstGeom prst="rect">
            <a:avLst/>
          </a:prstGeom>
        </p:spPr>
      </p:pic>
      <p:sp>
        <p:nvSpPr>
          <p:cNvPr id="5" name="Figure caption"/>
          <p:cNvSpPr txBox="1"/>
          <p:nvPr/>
        </p:nvSpPr>
        <p:spPr>
          <a:xfrm>
            <a:off x="6869887" y="519879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7(a–c). Amplitude-dependent gating and phase sensitivity in a deeper neuron.</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Changing the stimulated region changes cue interaction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Heiligenberg and Rose applied amplitude modulation to the head, to the tail, or to both regions while independently varying differential phase. The deeper neuron’s response changed with the spatial assignment of the cues even when modulation occurred at the same 2-Hz rate.</a:t>
            </a:r>
          </a:p>
          <a:p>
            <a:pPr algn="l">
              <a:lnSpc>
                <a:spcPct val="108000"/>
              </a:lnSpc>
              <a:spcAft>
                <a:spcPts val="960"/>
              </a:spcAft>
            </a:pPr>
            <a:r>
              <a:rPr sz="1600" b="0" i="0">
                <a:solidFill>
                  <a:srgbClr val="202329"/>
                </a:solidFill>
                <a:latin typeface="Arial"/>
              </a:rPr>
              <a:t>The published response matrix contrasts conditions with the tail carrier present and absent. A neuron excited by one phase relationship could become insensitive to amplitude modulation at an appropriate static phase. Reversing which body region was modulated also changed which phase relationship favored its firing.</a:t>
            </a:r>
          </a:p>
          <a:p>
            <a:pPr algn="l">
              <a:lnSpc>
                <a:spcPct val="108000"/>
              </a:lnSpc>
              <a:spcAft>
                <a:spcPts val="960"/>
              </a:spcAft>
            </a:pPr>
            <a:r>
              <a:rPr sz="1600" b="0" i="0">
                <a:solidFill>
                  <a:srgbClr val="202329"/>
                </a:solidFill>
                <a:latin typeface="Arial"/>
              </a:rPr>
              <a:t>The interaction links timing comparison to a particular local amplitude channel. A phase advance does not carry a universal motor instruction independent of spatial context. These controlled stimuli identify conditional sensory tuning; they do not by themselves identify the downstream synaptic sign at the pacemaker nucleus.</a:t>
            </a:r>
          </a:p>
        </p:txBody>
      </p:sp>
      <p:pic>
        <p:nvPicPr>
          <p:cNvPr id="4" name="Picture 3" descr="22_rose85.png"/>
          <p:cNvPicPr>
            <a:picLocks noChangeAspect="1"/>
          </p:cNvPicPr>
          <p:nvPr/>
        </p:nvPicPr>
        <p:blipFill>
          <a:blip r:embed="rId2"/>
          <a:stretch>
            <a:fillRect/>
          </a:stretch>
        </p:blipFill>
        <p:spPr>
          <a:xfrm>
            <a:off x="7166248" y="1280160"/>
            <a:ext cx="4162157"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8(a–i). Responses when head and tail signals are modulated separately.</a:t>
            </a:r>
          </a:p>
        </p:txBody>
      </p:sp>
      <p:pic>
        <p:nvPicPr>
          <p:cNvPr id="6" name="Picture 5" descr="phase_brain.png"/>
          <p:cNvPicPr>
            <a:picLocks noChangeAspect="1"/>
          </p:cNvPicPr>
          <p:nvPr/>
        </p:nvPicPr>
        <p:blipFill>
          <a:blip r:embed="rId3"/>
          <a:stretch>
            <a:fillRect/>
          </a:stretch>
        </p:blipFill>
        <p:spPr>
          <a:xfrm>
            <a:off x="8129001" y="4709160"/>
            <a:ext cx="2236651"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1(A). Sagittal brain anatomy with torus and electrosensory lateral line lobe.</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Four cell classes combine amplitude with phase preference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Heiligenberg and Rose classified deeper toral neurons by two independent response preferences. Cells could favor rising amplitude, termed E-type, or falling amplitude, termed I-type. They could also favor a local phase advance or a phase delay relative to the comparison region.</a:t>
            </a:r>
          </a:p>
          <a:p>
            <a:pPr algn="l">
              <a:lnSpc>
                <a:spcPct val="108000"/>
              </a:lnSpc>
              <a:spcAft>
                <a:spcPts val="960"/>
              </a:spcAft>
            </a:pPr>
            <a:r>
              <a:rPr sz="1600" b="0" i="0">
                <a:solidFill>
                  <a:srgbClr val="202329"/>
                </a:solidFill>
                <a:latin typeface="Arial"/>
              </a:rPr>
              <a:t>The resulting E-advance, E-delay, I-advance, and I-delay classes were associated with labeled multipolar cells in deeper laminae. Their dendritic and axonal forms differed from the small comparators of lamina 6. The published drawings preserve their laminar positions and 100-µm scale.</a:t>
            </a:r>
          </a:p>
          <a:p>
            <a:pPr algn="l">
              <a:lnSpc>
                <a:spcPct val="108000"/>
              </a:lnSpc>
              <a:spcAft>
                <a:spcPts val="960"/>
              </a:spcAft>
            </a:pPr>
            <a:r>
              <a:rPr sz="1600" b="0" i="0">
                <a:solidFill>
                  <a:srgbClr val="202329"/>
                </a:solidFill>
                <a:latin typeface="Arial"/>
              </a:rPr>
              <a:t>The four combinations supply opposing evidence about the sign of interference. Individual neurons were not perfectly invariant across stimulus conditions; the authors emphasized the joint effect of populations. Physiological classification identifies a response preference, while labeled morphology supplies an anatomical correlate rather than a molecular cell identity.</a:t>
            </a:r>
          </a:p>
        </p:txBody>
      </p:sp>
      <p:pic>
        <p:nvPicPr>
          <p:cNvPr id="4" name="Picture 3" descr="23_rose85.png"/>
          <p:cNvPicPr>
            <a:picLocks noChangeAspect="1"/>
          </p:cNvPicPr>
          <p:nvPr/>
        </p:nvPicPr>
        <p:blipFill>
          <a:blip r:embed="rId2"/>
          <a:stretch>
            <a:fillRect/>
          </a:stretch>
        </p:blipFill>
        <p:spPr>
          <a:xfrm>
            <a:off x="7420262" y="1280160"/>
            <a:ext cx="365412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9(a–d). Morphology of excitatory/inhibitory advance/delay classes.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 sign-selective neuron projects toward motor-control nuclei</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Metzner recorded a deeper toral neuron during naturalistic interference and then filled it with biocytin, a cellular tracer. Transverse jamming electrodes and longitudinal EOD-mimic electrodes supplied different spatial geometries. The jamming signal differed from the EOD mimic by 2 Hz.</a:t>
            </a:r>
          </a:p>
          <a:p>
            <a:pPr algn="l">
              <a:lnSpc>
                <a:spcPct val="108000"/>
              </a:lnSpc>
              <a:spcAft>
                <a:spcPts val="960"/>
              </a:spcAft>
            </a:pPr>
            <a:r>
              <a:rPr sz="1600" b="0" i="0">
                <a:solidFill>
                  <a:srgbClr val="202329"/>
                </a:solidFill>
                <a:latin typeface="Arial"/>
              </a:rPr>
              <a:t>The neuron favored positive Δf under the spatially differentiated stimulus. When the two signals used identical electrodes, differential phase was absent and its response reduced to an amplitude preference. Its axon projected prominently to the optic tectum and sent a thinner collateral toward the nucleus electrosensorius.</a:t>
            </a:r>
          </a:p>
          <a:p>
            <a:pPr algn="l">
              <a:lnSpc>
                <a:spcPct val="108000"/>
              </a:lnSpc>
              <a:spcAft>
                <a:spcPts val="960"/>
              </a:spcAft>
            </a:pPr>
            <a:r>
              <a:rPr sz="1600" b="0" i="0">
                <a:solidFill>
                  <a:srgbClr val="202329"/>
                </a:solidFill>
                <a:latin typeface="Arial"/>
              </a:rPr>
              <a:t>The collateral formed terminals at the ventral nucleus electrosensorius, consistent with a route carrying information for frequency decreases. </a:t>
            </a:r>
            <a:r>
              <a:rPr sz="1600" b="1" i="0">
                <a:solidFill>
                  <a:srgbClr val="16181D"/>
                </a:solidFill>
                <a:latin typeface="Arial"/>
              </a:rPr>
              <a:t>Sign selectivity</a:t>
            </a:r>
            <a:r>
              <a:rPr sz="1600" b="0" i="0">
                <a:solidFill>
                  <a:srgbClr val="202329"/>
                </a:solidFill>
                <a:latin typeface="Arial"/>
              </a:rPr>
              <a:t> here means unequal responses to positive and negative difference frequencies. The anatomical evidence concerned one successfully labeled neuron and therefore does not establish uniform connectivity for the entire class.</a:t>
            </a:r>
          </a:p>
        </p:txBody>
      </p:sp>
      <p:pic>
        <p:nvPicPr>
          <p:cNvPr id="4" name="Picture 3" descr="24_metzner93.png"/>
          <p:cNvPicPr>
            <a:picLocks noChangeAspect="1"/>
          </p:cNvPicPr>
          <p:nvPr/>
        </p:nvPicPr>
        <p:blipFill>
          <a:blip r:embed="rId2"/>
          <a:stretch>
            <a:fillRect/>
          </a:stretch>
        </p:blipFill>
        <p:spPr>
          <a:xfrm>
            <a:off x="6869887" y="1280160"/>
            <a:ext cx="4754880" cy="3182029"/>
          </a:xfrm>
          <a:prstGeom prst="rect">
            <a:avLst/>
          </a:prstGeom>
        </p:spPr>
      </p:pic>
      <p:sp>
        <p:nvSpPr>
          <p:cNvPr id="5" name="Figure caption"/>
          <p:cNvSpPr txBox="1"/>
          <p:nvPr/>
        </p:nvSpPr>
        <p:spPr>
          <a:xfrm>
            <a:off x="6869887" y="455362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14(A–D). Sign-selective physiology and a traced diencephalic projection.</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Population activity links cue combinations to beat sign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The published synthesis by Heiligenberg and Rose paired four combination-sensitive classes with the amplitude and timing patterns produced by opposite difference frequencies. E-delay and I-advance neurons preferentially represented positive Δf; E-advance and I-delay neurons preferentially represented negative Δf.</a:t>
            </a:r>
          </a:p>
          <a:p>
            <a:pPr algn="l">
              <a:lnSpc>
                <a:spcPct val="108000"/>
              </a:lnSpc>
              <a:spcAft>
                <a:spcPts val="960"/>
              </a:spcAft>
            </a:pPr>
            <a:r>
              <a:rPr sz="1600" b="0" i="0">
                <a:solidFill>
                  <a:srgbClr val="202329"/>
                </a:solidFill>
                <a:latin typeface="Arial"/>
              </a:rPr>
              <a:t>Positive Δf denotes a higher-frequency neighbor and calls for a decrease in the focal fish’s EOD. Negative Δf denotes a lower-frequency neighbor and calls for an increase. The population code converts the relationship between two sensory variables into evidence for these opposing motor outcomes.</a:t>
            </a:r>
          </a:p>
          <a:p>
            <a:pPr algn="l">
              <a:lnSpc>
                <a:spcPct val="108000"/>
              </a:lnSpc>
              <a:spcAft>
                <a:spcPts val="960"/>
              </a:spcAft>
            </a:pPr>
            <a:r>
              <a:rPr sz="1600" b="0" i="0">
                <a:solidFill>
                  <a:srgbClr val="202329"/>
                </a:solidFill>
                <a:latin typeface="Arial"/>
              </a:rPr>
              <a:t>The authors derived this classification from intracellular response tests and labeled neurons. A population interpretation accommodates incomplete tuning in single cells, but the 1985 study did not causally silence each class. Later motor-pathway experiments were needed to determine how the sensory decision changed oscillator frequency.</a:t>
            </a:r>
          </a:p>
        </p:txBody>
      </p:sp>
      <p:pic>
        <p:nvPicPr>
          <p:cNvPr id="4" name="Picture 3" descr="25_rose85.png"/>
          <p:cNvPicPr>
            <a:picLocks noChangeAspect="1"/>
          </p:cNvPicPr>
          <p:nvPr/>
        </p:nvPicPr>
        <p:blipFill>
          <a:blip r:embed="rId2"/>
          <a:stretch>
            <a:fillRect/>
          </a:stretch>
        </p:blipFill>
        <p:spPr>
          <a:xfrm>
            <a:off x="6869887" y="1280160"/>
            <a:ext cx="4754880" cy="4109263"/>
          </a:xfrm>
          <a:prstGeom prst="rect">
            <a:avLst/>
          </a:prstGeom>
        </p:spPr>
      </p:pic>
      <p:sp>
        <p:nvSpPr>
          <p:cNvPr id="5" name="Figure caption"/>
          <p:cNvSpPr txBox="1"/>
          <p:nvPr/>
        </p:nvSpPr>
        <p:spPr>
          <a:xfrm>
            <a:off x="6869887" y="548086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Heiligenberg &amp; Rose (1985), Fig. 12. Four combination-sensitive classes encode opposite beat signs.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Heiligenberg &amp; Rose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Frequency increases and decreases use separate pathways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Metzner tested the earlier idea that one prepacemaker population controlled both directions of the JAR. The study combined brain lesions, stimulation, pharmacology, and continuous recording of EOD frequency in immobilized </a:t>
            </a:r>
            <a:r>
              <a:rPr sz="1600" b="0" i="1">
                <a:solidFill>
                  <a:srgbClr val="202329"/>
                </a:solidFill>
                <a:latin typeface="Arial"/>
              </a:rPr>
              <a:t>Eigenmannia</a:t>
            </a:r>
            <a:r>
              <a:rPr sz="1600" b="0" i="0">
                <a:solidFill>
                  <a:srgbClr val="202329"/>
                </a:solidFill>
                <a:latin typeface="Arial"/>
              </a:rPr>
              <a:t>. The </a:t>
            </a:r>
            <a:r>
              <a:rPr sz="1600" b="1" i="0">
                <a:solidFill>
                  <a:srgbClr val="16181D"/>
                </a:solidFill>
                <a:latin typeface="Arial"/>
              </a:rPr>
              <a:t>nucleus electrosensorius</a:t>
            </a:r>
            <a:r>
              <a:rPr sz="1600" b="0" i="0">
                <a:solidFill>
                  <a:srgbClr val="202329"/>
                </a:solidFill>
                <a:latin typeface="Arial"/>
              </a:rPr>
              <a:t> is a diencephalic sensory–motor interface.</a:t>
            </a:r>
          </a:p>
          <a:p>
            <a:pPr algn="l">
              <a:lnSpc>
                <a:spcPct val="108000"/>
              </a:lnSpc>
              <a:spcAft>
                <a:spcPts val="960"/>
              </a:spcAft>
            </a:pPr>
            <a:r>
              <a:rPr sz="1600" b="0" i="0">
                <a:solidFill>
                  <a:srgbClr val="202329"/>
                </a:solidFill>
                <a:latin typeface="Arial"/>
              </a:rPr>
              <a:t>The dorsal electrosensorius pathway drives the gradual prepacemaker region, </a:t>
            </a:r>
            <a:r>
              <a:rPr sz="1600" b="1" i="0">
                <a:solidFill>
                  <a:srgbClr val="16181D"/>
                </a:solidFill>
                <a:latin typeface="Arial"/>
              </a:rPr>
              <a:t>PPn-G</a:t>
            </a:r>
            <a:r>
              <a:rPr sz="1600" b="0" i="0">
                <a:solidFill>
                  <a:srgbClr val="202329"/>
                </a:solidFill>
                <a:latin typeface="Arial"/>
              </a:rPr>
              <a:t>, and supports frequency increases. A ventral pathway engages the </a:t>
            </a:r>
            <a:r>
              <a:rPr sz="1600" b="1" i="0">
                <a:solidFill>
                  <a:srgbClr val="16181D"/>
                </a:solidFill>
                <a:latin typeface="Arial"/>
              </a:rPr>
              <a:t>sublemniscal prepacemaker nucleus</a:t>
            </a:r>
            <a:r>
              <a:rPr sz="1600" b="0" i="0">
                <a:solidFill>
                  <a:srgbClr val="202329"/>
                </a:solidFill>
                <a:latin typeface="Arial"/>
              </a:rPr>
              <a:t>, or </a:t>
            </a:r>
            <a:r>
              <a:rPr sz="1600" b="1" i="0">
                <a:solidFill>
                  <a:srgbClr val="16181D"/>
                </a:solidFill>
                <a:latin typeface="Arial"/>
              </a:rPr>
              <a:t>SPPn</a:t>
            </a:r>
            <a:r>
              <a:rPr sz="1600" b="0" i="0">
                <a:solidFill>
                  <a:srgbClr val="202329"/>
                </a:solidFill>
                <a:latin typeface="Arial"/>
              </a:rPr>
              <a:t>, and supports decreases by reducing its ongoing excitatory influence on the pacemaker network.</a:t>
            </a:r>
          </a:p>
          <a:p>
            <a:pPr algn="l">
              <a:lnSpc>
                <a:spcPct val="108000"/>
              </a:lnSpc>
              <a:spcAft>
                <a:spcPts val="960"/>
              </a:spcAft>
            </a:pPr>
            <a:r>
              <a:rPr sz="1600" b="0" i="0">
                <a:solidFill>
                  <a:srgbClr val="202329"/>
                </a:solidFill>
                <a:latin typeface="Arial"/>
              </a:rPr>
              <a:t>The published circuit separates these routes from the chirp-controlling </a:t>
            </a:r>
            <a:r>
              <a:rPr sz="1600" b="1" i="0">
                <a:solidFill>
                  <a:srgbClr val="16181D"/>
                </a:solidFill>
                <a:latin typeface="Arial"/>
              </a:rPr>
              <a:t>PPn-C</a:t>
            </a:r>
            <a:r>
              <a:rPr sz="1600" b="0" i="0">
                <a:solidFill>
                  <a:srgbClr val="202329"/>
                </a:solidFill>
                <a:latin typeface="Arial"/>
              </a:rPr>
              <a:t>. The proposed architecture was constrained by selective losses and preserved responses, rather than by a diagram alone. Some cellular targets in 1993 remained inferred; subsequent intracellular recordings tested the target-cell assignments directly.</a:t>
            </a:r>
          </a:p>
        </p:txBody>
      </p:sp>
      <p:pic>
        <p:nvPicPr>
          <p:cNvPr id="4" name="Picture 3" descr="26_metzner93.png"/>
          <p:cNvPicPr>
            <a:picLocks noChangeAspect="1"/>
          </p:cNvPicPr>
          <p:nvPr/>
        </p:nvPicPr>
        <p:blipFill>
          <a:blip r:embed="rId2"/>
          <a:stretch>
            <a:fillRect/>
          </a:stretch>
        </p:blipFill>
        <p:spPr>
          <a:xfrm>
            <a:off x="8199478" y="1280160"/>
            <a:ext cx="2095696" cy="2880359"/>
          </a:xfrm>
          <a:prstGeom prst="rect">
            <a:avLst/>
          </a:prstGeom>
        </p:spPr>
      </p:pic>
      <p:sp>
        <p:nvSpPr>
          <p:cNvPr id="5" name="Figure caption"/>
          <p:cNvSpPr txBox="1"/>
          <p:nvPr/>
        </p:nvSpPr>
        <p:spPr>
          <a:xfrm>
            <a:off x="6869887" y="425195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2. Separate acceleration, deceleration, and chirp pathways.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Prepacemaker lesions abolish frequency increases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Metzner made bilateral lesions in the PPn-G/central posterior region and measured the JAR before and after the manipulation. The jamming stimulus alternated between positive and negative frequency differences, while the fish’s resting EOD frequency supplied the reference for response direction.</a:t>
            </a:r>
          </a:p>
          <a:p>
            <a:pPr algn="l">
              <a:lnSpc>
                <a:spcPct val="108000"/>
              </a:lnSpc>
              <a:spcAft>
                <a:spcPts val="960"/>
              </a:spcAft>
            </a:pPr>
            <a:r>
              <a:rPr sz="1600" b="0" i="0">
                <a:solidFill>
                  <a:srgbClr val="202329"/>
                </a:solidFill>
                <a:latin typeface="Arial"/>
              </a:rPr>
              <a:t>After the lesion, the EOD no longer rose above resting frequency in response to a lower-frequency signal. Frequency decreases elicited by a higher-frequency signal remained. The published records compare responses approximately one minute before the lesion with those after it and document lesion location.</a:t>
            </a:r>
          </a:p>
          <a:p>
            <a:pPr algn="l">
              <a:lnSpc>
                <a:spcPct val="108000"/>
              </a:lnSpc>
              <a:spcAft>
                <a:spcPts val="960"/>
              </a:spcAft>
            </a:pPr>
            <a:r>
              <a:rPr sz="1600" b="0" i="0">
                <a:solidFill>
                  <a:srgbClr val="202329"/>
                </a:solidFill>
                <a:latin typeface="Arial"/>
              </a:rPr>
              <a:t>This selective deficit identifies the region as necessary for normal frequency acceleration under the tested conditions. Preserved deceleration argues against a complete loss of sensation, pacemaker function, or all motor output. The lesion affects a region and its connections, so it does not isolate one molecularly identified neuron type.</a:t>
            </a:r>
          </a:p>
        </p:txBody>
      </p:sp>
      <p:pic>
        <p:nvPicPr>
          <p:cNvPr id="4" name="Picture 3" descr="27_metzner93.png"/>
          <p:cNvPicPr>
            <a:picLocks noChangeAspect="1"/>
          </p:cNvPicPr>
          <p:nvPr/>
        </p:nvPicPr>
        <p:blipFill>
          <a:blip r:embed="rId2"/>
          <a:stretch>
            <a:fillRect/>
          </a:stretch>
        </p:blipFill>
        <p:spPr>
          <a:xfrm>
            <a:off x="7802606" y="1280160"/>
            <a:ext cx="288944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3(A–D). Prepacemaker lesions remove frequency increases selectively.</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Stimulation localizes the interrupted acceleration route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Metzner stimulated dorsal and ventral nucleus electrosensorius sites and the SPPn before and after a PPn-G lesion. </a:t>
            </a:r>
            <a:r>
              <a:rPr sz="1600" b="1" i="0">
                <a:solidFill>
                  <a:srgbClr val="16181D"/>
                </a:solidFill>
                <a:latin typeface="Arial"/>
              </a:rPr>
              <a:t>Iontophoresis</a:t>
            </a:r>
            <a:r>
              <a:rPr sz="1600" b="0" i="0">
                <a:solidFill>
                  <a:srgbClr val="202329"/>
                </a:solidFill>
                <a:latin typeface="Arial"/>
              </a:rPr>
              <a:t> uses electrical current to deliver a charged compound locally; L-glutamate was applied to activate neurons near the stimulation electrode.</a:t>
            </a:r>
          </a:p>
          <a:p>
            <a:pPr algn="l">
              <a:lnSpc>
                <a:spcPct val="108000"/>
              </a:lnSpc>
              <a:spcAft>
                <a:spcPts val="960"/>
              </a:spcAft>
            </a:pPr>
            <a:r>
              <a:rPr sz="1600" b="0" i="0">
                <a:solidFill>
                  <a:srgbClr val="202329"/>
                </a:solidFill>
                <a:latin typeface="Arial"/>
              </a:rPr>
              <a:t>After the lesion, stimulation of the dorsal electrosensorius no longer produced the normal frequency increase through the damaged route. Responses associated with the ventral electrosensorius and SPPn remained, consistent with their access to the oscillator through a separate pathway.</a:t>
            </a:r>
          </a:p>
          <a:p>
            <a:pPr algn="l">
              <a:lnSpc>
                <a:spcPct val="108000"/>
              </a:lnSpc>
              <a:spcAft>
                <a:spcPts val="960"/>
              </a:spcAft>
            </a:pPr>
            <a:r>
              <a:rPr sz="1600" b="0" i="0">
                <a:solidFill>
                  <a:srgbClr val="202329"/>
                </a:solidFill>
                <a:latin typeface="Arial"/>
              </a:rPr>
              <a:t>Combining lesions with stimulation distinguishes damage to an ascending sensory representation from interruption of a descending route. The preserved alternative responses also constrain nonspecific explanations for the lesion effect. Local chemical stimulation nevertheless activates nearby cells and does not prove a monosynaptic connection between every named structure.</a:t>
            </a:r>
          </a:p>
        </p:txBody>
      </p:sp>
      <p:pic>
        <p:nvPicPr>
          <p:cNvPr id="4" name="Picture 3" descr="28_metzner93.png"/>
          <p:cNvPicPr>
            <a:picLocks noChangeAspect="1"/>
          </p:cNvPicPr>
          <p:nvPr/>
        </p:nvPicPr>
        <p:blipFill>
          <a:blip r:embed="rId2"/>
          <a:stretch>
            <a:fillRect/>
          </a:stretch>
        </p:blipFill>
        <p:spPr>
          <a:xfrm>
            <a:off x="7738501" y="1280160"/>
            <a:ext cx="3017650"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4(A–C). Upstream stimulation before and after prepacemaker lesions.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Tracing identifies a sublemniscal projection to the oscillator</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The SPPn is a scattered brainstem population rather than a conspicuous compact nucleus. Metzner injected a retrograde tracer into the medullary pacemaker nucleus and examined labeled cells at the appropriate level of the brainstem tegmentum.</a:t>
            </a:r>
          </a:p>
          <a:p>
            <a:pPr algn="l">
              <a:lnSpc>
                <a:spcPct val="108000"/>
              </a:lnSpc>
              <a:spcAft>
                <a:spcPts val="960"/>
              </a:spcAft>
            </a:pPr>
            <a:r>
              <a:rPr sz="1600" b="1" i="0">
                <a:solidFill>
                  <a:srgbClr val="16181D"/>
                </a:solidFill>
                <a:latin typeface="Arial"/>
              </a:rPr>
              <a:t>Retrograde tracing</a:t>
            </a:r>
            <a:r>
              <a:rPr sz="1600" b="0" i="0">
                <a:solidFill>
                  <a:srgbClr val="202329"/>
                </a:solidFill>
                <a:latin typeface="Arial"/>
              </a:rPr>
              <a:t> labels neurons that project toward the injection site. The published histology identifies scattered cells beneath the lateral lemniscus, with 100-µm scales in the broader and enlarged views. These cells supplied an anatomical candidate for an independent premotor route.</a:t>
            </a:r>
          </a:p>
          <a:p>
            <a:pPr algn="l">
              <a:lnSpc>
                <a:spcPct val="108000"/>
              </a:lnSpc>
              <a:spcAft>
                <a:spcPts val="960"/>
              </a:spcAft>
            </a:pPr>
            <a:r>
              <a:rPr sz="1600" b="0" i="0">
                <a:solidFill>
                  <a:srgbClr val="202329"/>
                </a:solidFill>
                <a:latin typeface="Arial"/>
              </a:rPr>
              <a:t>The tracer identifies a projection to the pacemaker region; it does not independently determine whether those cells raise or lower frequency. Physiological stimulation and lesions supplied the complementary functional evidence. Sparse organization also makes precise lesion placement and chemical stimulation more difficult than in a large compact nucleus.</a:t>
            </a:r>
          </a:p>
        </p:txBody>
      </p:sp>
      <p:pic>
        <p:nvPicPr>
          <p:cNvPr id="4" name="Picture 3" descr="29_metzner93.png"/>
          <p:cNvPicPr>
            <a:picLocks noChangeAspect="1"/>
          </p:cNvPicPr>
          <p:nvPr/>
        </p:nvPicPr>
        <p:blipFill>
          <a:blip r:embed="rId2"/>
          <a:stretch>
            <a:fillRect/>
          </a:stretch>
        </p:blipFill>
        <p:spPr>
          <a:xfrm>
            <a:off x="7054483" y="1280160"/>
            <a:ext cx="438568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5(A–B). Retrograde labeling identifies the sublemniscal prepacemaker.</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Sublemniscal lesions abolish decreases and lower baseline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Metzner lesioned the SPPn and compared responses before and after the manipulation. Before the lesion, positive difference frequencies lowered the EOD and negative difference frequencies raised it. The published anatomical panel documents the lesion within the relevant brainstem region.</a:t>
            </a:r>
          </a:p>
          <a:p>
            <a:pPr algn="l">
              <a:lnSpc>
                <a:spcPct val="108000"/>
              </a:lnSpc>
              <a:spcAft>
                <a:spcPts val="960"/>
              </a:spcAft>
            </a:pPr>
            <a:r>
              <a:rPr sz="1600" b="0" i="0">
                <a:solidFill>
                  <a:srgbClr val="202329"/>
                </a:solidFill>
                <a:latin typeface="Arial"/>
              </a:rPr>
              <a:t>The lesion lowered the resting EOD frequency and eliminated further JAR decreases below the new baseline. Frequency increases to lower-frequency jamming signals remained. The result contrasts with PPn-G lesions, which removed acceleration while sparing deceleration.</a:t>
            </a:r>
          </a:p>
          <a:p>
            <a:pPr algn="l">
              <a:lnSpc>
                <a:spcPct val="108000"/>
              </a:lnSpc>
              <a:spcAft>
                <a:spcPts val="960"/>
              </a:spcAft>
            </a:pPr>
            <a:r>
              <a:rPr sz="1600" b="0" i="0">
                <a:solidFill>
                  <a:srgbClr val="202329"/>
                </a:solidFill>
                <a:latin typeface="Arial"/>
              </a:rPr>
              <a:t>The baseline decrease indicates that the SPPn normally supplies </a:t>
            </a:r>
            <a:r>
              <a:rPr sz="1600" b="1" i="0">
                <a:solidFill>
                  <a:srgbClr val="16181D"/>
                </a:solidFill>
                <a:latin typeface="Arial"/>
              </a:rPr>
              <a:t>tonic drive</a:t>
            </a:r>
            <a:r>
              <a:rPr sz="1600" b="0" i="0">
                <a:solidFill>
                  <a:srgbClr val="202329"/>
                </a:solidFill>
                <a:latin typeface="Arial"/>
              </a:rPr>
              <a:t>, an influence maintained even without a jamming stimulus. JAR deceleration can reduce that drive. Selective preservation of acceleration supports independent control routes; lesion extent and neighboring tissue remain limitations of a regional ablation.</a:t>
            </a:r>
          </a:p>
        </p:txBody>
      </p:sp>
      <p:pic>
        <p:nvPicPr>
          <p:cNvPr id="4" name="Picture 3" descr="30_metzner93.png"/>
          <p:cNvPicPr>
            <a:picLocks noChangeAspect="1"/>
          </p:cNvPicPr>
          <p:nvPr/>
        </p:nvPicPr>
        <p:blipFill>
          <a:blip r:embed="rId2"/>
          <a:stretch>
            <a:fillRect/>
          </a:stretch>
        </p:blipFill>
        <p:spPr>
          <a:xfrm>
            <a:off x="7761767" y="1280160"/>
            <a:ext cx="297111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6(A–D). Sublemniscal lesions alter baseline and abolish decreases.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GABA reduces tonic sublemniscal drive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GABA</a:t>
            </a:r>
            <a:r>
              <a:rPr sz="1600" b="0" i="0">
                <a:solidFill>
                  <a:srgbClr val="202329"/>
                </a:solidFill>
                <a:latin typeface="Arial"/>
              </a:rPr>
              <a:t>, gamma-aminobutyric acid, is an inhibitory neurotransmitter in the tested pathway. Metzner applied GABA to the SPPn and measured a fall in resting EOD frequency. Electrical stimulation of the same region instead increased the operating frequency.</a:t>
            </a:r>
          </a:p>
          <a:p>
            <a:pPr algn="l">
              <a:lnSpc>
                <a:spcPct val="108000"/>
              </a:lnSpc>
              <a:spcAft>
                <a:spcPts val="960"/>
              </a:spcAft>
            </a:pPr>
            <a:r>
              <a:rPr sz="1600" b="1" i="0">
                <a:solidFill>
                  <a:srgbClr val="16181D"/>
                </a:solidFill>
                <a:latin typeface="Arial"/>
              </a:rPr>
              <a:t>Bicuculline</a:t>
            </a:r>
            <a:r>
              <a:rPr sz="1600" b="0" i="0">
                <a:solidFill>
                  <a:srgbClr val="202329"/>
                </a:solidFill>
                <a:latin typeface="Arial"/>
              </a:rPr>
              <a:t>, an antagonist that interferes with GABA-sensitive inhibition, raised the baseline when applied locally. It also blocked the frequency decrease normally elicited by stimulating the ventral nucleus electrosensorius. That upstream stimulation therefore depended on inhibitory action within the sublemniscal route.</a:t>
            </a:r>
          </a:p>
          <a:p>
            <a:pPr algn="l">
              <a:lnSpc>
                <a:spcPct val="108000"/>
              </a:lnSpc>
              <a:spcAft>
                <a:spcPts val="960"/>
              </a:spcAft>
            </a:pPr>
            <a:r>
              <a:rPr sz="1600" b="0" i="0">
                <a:solidFill>
                  <a:srgbClr val="202329"/>
                </a:solidFill>
                <a:latin typeface="Arial"/>
              </a:rPr>
              <a:t>The mechanistic sequence is inhibition of SPPn activity, reduction of tonic excitation reaching the pacemaker, and slower EOD output. A slower oscillator need not result from direct inhibition of its rhythm-generating cells. Local drug effects establish a GABA-sensitive mechanism without identifying every receptor subunit or ion conductance in the SPPn.</a:t>
            </a:r>
          </a:p>
        </p:txBody>
      </p:sp>
      <p:pic>
        <p:nvPicPr>
          <p:cNvPr id="4" name="Picture 3" descr="31_metzner93.png"/>
          <p:cNvPicPr>
            <a:picLocks noChangeAspect="1"/>
          </p:cNvPicPr>
          <p:nvPr/>
        </p:nvPicPr>
        <p:blipFill>
          <a:blip r:embed="rId2"/>
          <a:stretch>
            <a:fillRect/>
          </a:stretch>
        </p:blipFill>
        <p:spPr>
          <a:xfrm>
            <a:off x="6972814" y="1280160"/>
            <a:ext cx="4549025"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8(A–D). GABA and bicuculline effects in the sublemniscal nucleus.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AMPA-sensitive transmission supports frequency increases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Glutamate</a:t>
            </a:r>
            <a:r>
              <a:rPr sz="1600" b="0" i="0">
                <a:solidFill>
                  <a:srgbClr val="202329"/>
                </a:solidFill>
                <a:latin typeface="Arial"/>
              </a:rPr>
              <a:t> is an excitatory neurotransmitter acting through several receptor classes. </a:t>
            </a:r>
            <a:r>
              <a:rPr sz="1600" b="1" i="0">
                <a:solidFill>
                  <a:srgbClr val="16181D"/>
                </a:solidFill>
                <a:latin typeface="Arial"/>
              </a:rPr>
              <a:t>AMPA-type receptors</a:t>
            </a:r>
            <a:r>
              <a:rPr sz="1600" b="0" i="0">
                <a:solidFill>
                  <a:srgbClr val="202329"/>
                </a:solidFill>
                <a:latin typeface="Arial"/>
              </a:rPr>
              <a:t> are glutamate-sensitive, channel-forming receptors; their activation changes postsynaptic membrane conductance. Metzner injected </a:t>
            </a:r>
            <a:r>
              <a:rPr sz="1600" b="1" i="0">
                <a:solidFill>
                  <a:srgbClr val="16181D"/>
                </a:solidFill>
                <a:latin typeface="Arial"/>
              </a:rPr>
              <a:t>CNQX</a:t>
            </a:r>
            <a:r>
              <a:rPr sz="1600" b="0" i="0">
                <a:solidFill>
                  <a:srgbClr val="202329"/>
                </a:solidFill>
                <a:latin typeface="Arial"/>
              </a:rPr>
              <a:t>, an antagonist of AMPA/non-NMDA transmission, into the medullary pacemaker nucleus.</a:t>
            </a:r>
          </a:p>
          <a:p>
            <a:pPr algn="l">
              <a:lnSpc>
                <a:spcPct val="108000"/>
              </a:lnSpc>
              <a:spcAft>
                <a:spcPts val="960"/>
              </a:spcAft>
            </a:pPr>
            <a:r>
              <a:rPr sz="1600" b="0" i="0">
                <a:solidFill>
                  <a:srgbClr val="202329"/>
                </a:solidFill>
                <a:latin typeface="Arial"/>
              </a:rPr>
              <a:t>CNQX selectively suppressed the frequency increases normally evoked by negative Δf. Frequency decreases remained available, and the acceleration response recovered after the drug effect diminished. Artificial cerebrospinal-fluid injections provided a control for mechanical and solution-delivery effects.</a:t>
            </a:r>
          </a:p>
          <a:p>
            <a:pPr algn="l">
              <a:lnSpc>
                <a:spcPct val="108000"/>
              </a:lnSpc>
              <a:spcAft>
                <a:spcPts val="960"/>
              </a:spcAft>
            </a:pPr>
            <a:r>
              <a:rPr sz="1600" b="0" i="0">
                <a:solidFill>
                  <a:srgbClr val="202329"/>
                </a:solidFill>
                <a:latin typeface="Arial"/>
              </a:rPr>
              <a:t>The result assigns an AMPA-sensitive component to the acceleration route rather than requiring the same receptor mechanism for both JAR directions. It does not imply that all glutamatergic input uses AMPA receptors exclusively. Drug spread and the electrically coupled oscillator network limit localization to an individual synaptic contact.</a:t>
            </a:r>
          </a:p>
        </p:txBody>
      </p:sp>
      <p:pic>
        <p:nvPicPr>
          <p:cNvPr id="4" name="Picture 3" descr="32_metzner93.png"/>
          <p:cNvPicPr>
            <a:picLocks noChangeAspect="1"/>
          </p:cNvPicPr>
          <p:nvPr/>
        </p:nvPicPr>
        <p:blipFill>
          <a:blip r:embed="rId2"/>
          <a:stretch>
            <a:fillRect/>
          </a:stretch>
        </p:blipFill>
        <p:spPr>
          <a:xfrm>
            <a:off x="7611458" y="1280160"/>
            <a:ext cx="3271737"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9(A–C). CNQX selectively suppresses JAR frequency increases.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Receptor blockade separates upstream motor commands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Metzner combined pacemaker CNQX injections with stimulation of upstream structures. Activation of dorsal nucleus electrosensorius and PPn-G tested frequency-increasing commands; activation of ventral electrosensorius and manipulation of the SPPn tested the deceleration route.</a:t>
            </a:r>
          </a:p>
          <a:p>
            <a:pPr algn="l">
              <a:lnSpc>
                <a:spcPct val="108000"/>
              </a:lnSpc>
              <a:spcAft>
                <a:spcPts val="960"/>
              </a:spcAft>
            </a:pPr>
            <a:r>
              <a:rPr sz="1600" b="0" i="0">
                <a:solidFill>
                  <a:srgbClr val="202329"/>
                </a:solidFill>
                <a:latin typeface="Arial"/>
              </a:rPr>
              <a:t>CNQX strongly reduced accelerations induced through the dorsal and PPn-G pathway. Effects associated with the alternative route were retained to a much greater extent. The original frequency traces use a 5-Hz vertical calibration and document the timing of drug delivery and upstream stimulation.</a:t>
            </a:r>
          </a:p>
          <a:p>
            <a:pPr algn="l">
              <a:lnSpc>
                <a:spcPct val="108000"/>
              </a:lnSpc>
              <a:spcAft>
                <a:spcPts val="960"/>
              </a:spcAft>
            </a:pPr>
            <a:r>
              <a:rPr sz="1600" b="0" i="0">
                <a:solidFill>
                  <a:srgbClr val="202329"/>
                </a:solidFill>
                <a:latin typeface="Arial"/>
              </a:rPr>
              <a:t>The experiment places the receptor-sensitive step downstream of the stimulated acceleration structures. It is stronger evidence than loss of natural JAR alone, which could result from disrupting sensory encoding. The source supports pathway-specific glutamatergic transmission, while the exact balance of receptor classes requires additional cellular evidence.</a:t>
            </a:r>
          </a:p>
        </p:txBody>
      </p:sp>
      <p:pic>
        <p:nvPicPr>
          <p:cNvPr id="4" name="Picture 3" descr="33_metzner93.png"/>
          <p:cNvPicPr>
            <a:picLocks noChangeAspect="1"/>
          </p:cNvPicPr>
          <p:nvPr/>
        </p:nvPicPr>
        <p:blipFill>
          <a:blip r:embed="rId2"/>
          <a:stretch>
            <a:fillRect/>
          </a:stretch>
        </p:blipFill>
        <p:spPr>
          <a:xfrm>
            <a:off x="8266166" y="1280160"/>
            <a:ext cx="1962321"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11(A–E). CNQX effects on stimulated acceleration and deceleration routes.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NMDA blockade removes tonic excitation and deceleration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NMDA-type receptors</a:t>
            </a:r>
            <a:r>
              <a:rPr sz="1600" b="0" i="0">
                <a:solidFill>
                  <a:srgbClr val="202329"/>
                </a:solidFill>
                <a:latin typeface="Arial"/>
              </a:rPr>
              <a:t> are another glutamate-sensitive channel-forming receptor class. Metzner injected </a:t>
            </a:r>
            <a:r>
              <a:rPr sz="1600" b="1" i="0">
                <a:solidFill>
                  <a:srgbClr val="16181D"/>
                </a:solidFill>
                <a:latin typeface="Arial"/>
              </a:rPr>
              <a:t>APV</a:t>
            </a:r>
            <a:r>
              <a:rPr sz="1600" b="0" i="0">
                <a:solidFill>
                  <a:srgbClr val="202329"/>
                </a:solidFill>
                <a:latin typeface="Arial"/>
              </a:rPr>
              <a:t>, an NMDA-receptor antagonist, into the pacemaker nucleus while monitoring resting frequency and JAR responses. The intervention tested the tonic sublemniscal influence separately from the CNQX-sensitive route.</a:t>
            </a:r>
          </a:p>
          <a:p>
            <a:pPr algn="l">
              <a:lnSpc>
                <a:spcPct val="108000"/>
              </a:lnSpc>
              <a:spcAft>
                <a:spcPts val="960"/>
              </a:spcAft>
            </a:pPr>
            <a:r>
              <a:rPr sz="1600" b="0" i="0">
                <a:solidFill>
                  <a:srgbClr val="202329"/>
                </a:solidFill>
                <a:latin typeface="Arial"/>
              </a:rPr>
              <a:t>In the published example, APV lowered resting frequency from 215 to 209 Hz. Both JAR directions were initially reduced, but acceleration recovered after roughly one minute, whereas the deceleration response recovered only after approximately 12 minutes.</a:t>
            </a:r>
          </a:p>
          <a:p>
            <a:pPr algn="l">
              <a:lnSpc>
                <a:spcPct val="108000"/>
              </a:lnSpc>
              <a:spcAft>
                <a:spcPts val="960"/>
              </a:spcAft>
            </a:pPr>
            <a:r>
              <a:rPr sz="1600" b="0" i="0">
                <a:solidFill>
                  <a:srgbClr val="202329"/>
                </a:solidFill>
                <a:latin typeface="Arial"/>
              </a:rPr>
              <a:t>The different recovery courses, together with upstream stimulation tests, support an NMDA-sensitive tonic input required for frequency decreases. Initial suppression of both directions should not be interpreted as identical pathway dependence. The experiment measures network behavior during a local drug perturbation, rather than isolated receptor current in a single identified cell.</a:t>
            </a:r>
          </a:p>
        </p:txBody>
      </p:sp>
      <p:pic>
        <p:nvPicPr>
          <p:cNvPr id="4" name="Picture 3" descr="34_metzner93.png"/>
          <p:cNvPicPr>
            <a:picLocks noChangeAspect="1"/>
          </p:cNvPicPr>
          <p:nvPr/>
        </p:nvPicPr>
        <p:blipFill>
          <a:blip r:embed="rId2"/>
          <a:stretch>
            <a:fillRect/>
          </a:stretch>
        </p:blipFill>
        <p:spPr>
          <a:xfrm>
            <a:off x="7791432" y="1280160"/>
            <a:ext cx="2911788"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Metzner (1993), Fig. 12(A–C). APV lowers baseline and delays recovery of frequency decreases.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Earlier pharmacology did not fully resolve pathway identity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Kawasaki and Heiligenberg’s 1990 study compared pharmacological control of neuronal oscillators in different electric-fish genera. Its </a:t>
            </a:r>
            <a:r>
              <a:rPr sz="1600" b="0" i="1">
                <a:solidFill>
                  <a:srgbClr val="202329"/>
                </a:solidFill>
                <a:latin typeface="Arial"/>
              </a:rPr>
              <a:t>Eigenmannia</a:t>
            </a:r>
            <a:r>
              <a:rPr sz="1600" b="0" i="0">
                <a:solidFill>
                  <a:srgbClr val="202329"/>
                </a:solidFill>
                <a:latin typeface="Arial"/>
              </a:rPr>
              <a:t> record tested APV and bicuculline within the pacemaker nucleus, before the later demonstration of separate JAR motor routes.</a:t>
            </a:r>
          </a:p>
          <a:p>
            <a:pPr algn="l">
              <a:lnSpc>
                <a:spcPct val="108000"/>
              </a:lnSpc>
              <a:spcAft>
                <a:spcPts val="960"/>
              </a:spcAft>
            </a:pPr>
            <a:r>
              <a:rPr sz="1600" b="0" i="0">
                <a:solidFill>
                  <a:srgbClr val="202329"/>
                </a:solidFill>
                <a:latin typeface="Arial"/>
              </a:rPr>
              <a:t>APV at 500 µM lowered resting frequency and reduced JAR frequency rises. Bicuculline at 2 mM did not produce the corresponding inhibitory-blockade effect in </a:t>
            </a:r>
            <a:r>
              <a:rPr sz="1600" b="0" i="1">
                <a:solidFill>
                  <a:srgbClr val="202329"/>
                </a:solidFill>
                <a:latin typeface="Arial"/>
              </a:rPr>
              <a:t>Eigenmannia</a:t>
            </a:r>
            <a:r>
              <a:rPr sz="1600" b="0" i="0">
                <a:solidFill>
                  <a:srgbClr val="202329"/>
                </a:solidFill>
                <a:latin typeface="Arial"/>
              </a:rPr>
              <a:t>. These results initially supported a prominent glutamatergic influence and argued against simple GABA-mediated inhibition directly at the oscillator.</a:t>
            </a:r>
          </a:p>
          <a:p>
            <a:pPr algn="l">
              <a:lnSpc>
                <a:spcPct val="108000"/>
              </a:lnSpc>
              <a:spcAft>
                <a:spcPts val="960"/>
              </a:spcAft>
            </a:pPr>
            <a:r>
              <a:rPr sz="1600" b="0" i="0">
                <a:solidFill>
                  <a:srgbClr val="202329"/>
                </a:solidFill>
                <a:latin typeface="Arial"/>
              </a:rPr>
              <a:t>Metzner’s subsequent lesions, receptor blockade, and recovery comparisons refined the interpretation. Frequency decrease involves GABA-sensitive inhibition upstream in the SPPn and loss of tonic excitation downstream. An early drug effect on a coupled network cannot alone identify the physiological target cells or every route contributing to the response.</a:t>
            </a:r>
          </a:p>
        </p:txBody>
      </p:sp>
      <p:pic>
        <p:nvPicPr>
          <p:cNvPr id="4" name="Picture 3" descr="35_receptors90.png"/>
          <p:cNvPicPr>
            <a:picLocks noChangeAspect="1"/>
          </p:cNvPicPr>
          <p:nvPr/>
        </p:nvPicPr>
        <p:blipFill>
          <a:blip r:embed="rId2"/>
          <a:stretch>
            <a:fillRect/>
          </a:stretch>
        </p:blipFill>
        <p:spPr>
          <a:xfrm>
            <a:off x="6869887" y="1280160"/>
            <a:ext cx="4754880" cy="2081587"/>
          </a:xfrm>
          <a:prstGeom prst="rect">
            <a:avLst/>
          </a:prstGeom>
        </p:spPr>
      </p:pic>
      <p:sp>
        <p:nvSpPr>
          <p:cNvPr id="5" name="Figure caption"/>
          <p:cNvSpPr txBox="1"/>
          <p:nvPr/>
        </p:nvSpPr>
        <p:spPr>
          <a:xfrm>
            <a:off x="6869887" y="345318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Kawasaki &amp; Heiligenberg (1990), Fig. 4. Early APV and bicuculline tests in Eigenmannia.</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Kawasaki &amp; Heiligenberg (1990); Metzner (1993); 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Gradual acceleration increases pacemaker-cell conductance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Juranek and Metzner recorded intracellularly from pacemaker and relay cells while activating PPn-G. </a:t>
            </a:r>
            <a:r>
              <a:rPr sz="1600" b="1" i="0">
                <a:solidFill>
                  <a:srgbClr val="16181D"/>
                </a:solidFill>
                <a:latin typeface="Arial"/>
              </a:rPr>
              <a:t>Pacemaker cells</a:t>
            </a:r>
            <a:r>
              <a:rPr sz="1600" b="0" i="0">
                <a:solidFill>
                  <a:srgbClr val="202329"/>
                </a:solidFill>
                <a:latin typeface="Arial"/>
              </a:rPr>
              <a:t> generate the rhythm; </a:t>
            </a:r>
            <a:r>
              <a:rPr sz="1600" b="1" i="0">
                <a:solidFill>
                  <a:srgbClr val="16181D"/>
                </a:solidFill>
                <a:latin typeface="Arial"/>
              </a:rPr>
              <a:t>relay cells</a:t>
            </a:r>
            <a:r>
              <a:rPr sz="1600" b="0" i="0">
                <a:solidFill>
                  <a:srgbClr val="202329"/>
                </a:solidFill>
                <a:latin typeface="Arial"/>
              </a:rPr>
              <a:t> transmit the command toward spinal output. Histological labeling verified cell identity after physiological classification.</a:t>
            </a:r>
          </a:p>
          <a:p>
            <a:pPr algn="l">
              <a:lnSpc>
                <a:spcPct val="108000"/>
              </a:lnSpc>
              <a:spcAft>
                <a:spcPts val="960"/>
              </a:spcAft>
            </a:pPr>
            <a:r>
              <a:rPr sz="1600" b="0" i="0">
                <a:solidFill>
                  <a:srgbClr val="202329"/>
                </a:solidFill>
                <a:latin typeface="Arial"/>
              </a:rPr>
              <a:t>Brief current pulses measured </a:t>
            </a:r>
            <a:r>
              <a:rPr sz="1600" b="1" i="0">
                <a:solidFill>
                  <a:srgbClr val="16181D"/>
                </a:solidFill>
                <a:latin typeface="Arial"/>
              </a:rPr>
              <a:t>input resistance</a:t>
            </a:r>
            <a:r>
              <a:rPr sz="1600" b="0" i="0">
                <a:solidFill>
                  <a:srgbClr val="202329"/>
                </a:solidFill>
                <a:latin typeface="Arial"/>
              </a:rPr>
              <a:t>, the voltage response per injected current. PPn-G stimulation produced gradual accelerations of 5–30 Hz and decreased resistance more strongly in pacemaker cells. The published example begins near 496 Hz with a pacemaker-cell resistance of 3.4 MΩ.</a:t>
            </a:r>
          </a:p>
          <a:p>
            <a:pPr algn="l">
              <a:lnSpc>
                <a:spcPct val="108000"/>
              </a:lnSpc>
              <a:spcAft>
                <a:spcPts val="960"/>
              </a:spcAft>
            </a:pPr>
            <a:r>
              <a:rPr sz="1600" b="0" i="0">
                <a:solidFill>
                  <a:srgbClr val="202329"/>
                </a:solidFill>
                <a:latin typeface="Arial"/>
              </a:rPr>
              <a:t>A resistance decrease indicates greater conductance, or easier current flow through the membrane. The preferential change supports excitatory input onto rhythm-generating cells. Smaller changes in relay cells can arise through coupling, so an observed effect in both cell types does not imply equivalent direct innervation.</a:t>
            </a:r>
          </a:p>
        </p:txBody>
      </p:sp>
      <p:pic>
        <p:nvPicPr>
          <p:cNvPr id="4" name="Picture 3" descr="36_segregation98.png"/>
          <p:cNvPicPr>
            <a:picLocks noChangeAspect="1"/>
          </p:cNvPicPr>
          <p:nvPr/>
        </p:nvPicPr>
        <p:blipFill>
          <a:blip r:embed="rId2"/>
          <a:stretch>
            <a:fillRect/>
          </a:stretch>
        </p:blipFill>
        <p:spPr>
          <a:xfrm>
            <a:off x="6869887" y="1280160"/>
            <a:ext cx="4754880" cy="1787695"/>
          </a:xfrm>
          <a:prstGeom prst="rect">
            <a:avLst/>
          </a:prstGeom>
        </p:spPr>
      </p:pic>
      <p:sp>
        <p:nvSpPr>
          <p:cNvPr id="5" name="Figure caption"/>
          <p:cNvSpPr txBox="1"/>
          <p:nvPr/>
        </p:nvSpPr>
        <p:spPr>
          <a:xfrm>
            <a:off x="6869887" y="315929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6(A–C). Input-resistance changes during gradual frequency increases.</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Deceleration reduces excitatory conductance in relay cells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Juranek and Metzner activated the ventral nucleus electrosensorius to inhibit the SPPn indirectly while recording identified oscillator cells. Directly manipulating the sparse SPPn consistently was difficult, so the upstream route supplied a reproducible way to reduce its tonic influence.</a:t>
            </a:r>
          </a:p>
          <a:p>
            <a:pPr algn="l">
              <a:lnSpc>
                <a:spcPct val="108000"/>
              </a:lnSpc>
              <a:spcAft>
                <a:spcPts val="960"/>
              </a:spcAft>
            </a:pPr>
            <a:r>
              <a:rPr sz="1600" b="0" i="0">
                <a:solidFill>
                  <a:srgbClr val="202329"/>
                </a:solidFill>
                <a:latin typeface="Arial"/>
              </a:rPr>
              <a:t>The stimulation produced gradual frequency decreases of 3–5 Hz. During a representative 4-Hz decrease, relay-cell input resistance increased by 8%, whereas the pacemaker-cell increase was 5%. The relay-cell response tracked deceleration more consistently across the recorded conditions.</a:t>
            </a:r>
          </a:p>
          <a:p>
            <a:pPr algn="l">
              <a:lnSpc>
                <a:spcPct val="108000"/>
              </a:lnSpc>
              <a:spcAft>
                <a:spcPts val="960"/>
              </a:spcAft>
            </a:pPr>
            <a:r>
              <a:rPr sz="1600" b="0" i="0">
                <a:solidFill>
                  <a:srgbClr val="202329"/>
                </a:solidFill>
                <a:latin typeface="Arial"/>
              </a:rPr>
              <a:t>Increased resistance indicates removal of membrane conductance, supporting withdrawal of tonic excitatory input onto relay cells. This is not the signature expected from adding a new inhibitory conductance directly to those cells. Electrical coupling explains why pacemaker cells may also change despite a more selective relay-cell target.</a:t>
            </a:r>
          </a:p>
        </p:txBody>
      </p:sp>
      <p:pic>
        <p:nvPicPr>
          <p:cNvPr id="4" name="Picture 3" descr="37_segregation98.png"/>
          <p:cNvPicPr>
            <a:picLocks noChangeAspect="1"/>
          </p:cNvPicPr>
          <p:nvPr/>
        </p:nvPicPr>
        <p:blipFill>
          <a:blip r:embed="rId2"/>
          <a:stretch>
            <a:fillRect/>
          </a:stretch>
        </p:blipFill>
        <p:spPr>
          <a:xfrm>
            <a:off x="6869887" y="1280160"/>
            <a:ext cx="4754880" cy="2052700"/>
          </a:xfrm>
          <a:prstGeom prst="rect">
            <a:avLst/>
          </a:prstGeom>
        </p:spPr>
      </p:pic>
      <p:sp>
        <p:nvSpPr>
          <p:cNvPr id="5" name="Figure caption"/>
          <p:cNvSpPr txBox="1"/>
          <p:nvPr/>
        </p:nvSpPr>
        <p:spPr>
          <a:xfrm>
            <a:off x="6869887" y="34243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7(A–C). Relay-cell resistance rises during frequency deceleration.</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Brief chirps preferentially target relay cells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Chirps</a:t>
            </a:r>
            <a:r>
              <a:rPr sz="1600" b="0" i="0">
                <a:solidFill>
                  <a:srgbClr val="202329"/>
                </a:solidFill>
                <a:latin typeface="Arial"/>
              </a:rPr>
              <a:t> are brief modulations used in electric communication, distinct from gradual JAR frequency shifts. Juranek and Metzner activated PPn-C while recording pacemaker or relay-cell somata. The resulting frequency changes lasted about 5–20 ms and ranged from 30 to 160 Hz.</a:t>
            </a:r>
          </a:p>
          <a:p>
            <a:pPr algn="l">
              <a:lnSpc>
                <a:spcPct val="108000"/>
              </a:lnSpc>
              <a:spcAft>
                <a:spcPts val="960"/>
              </a:spcAft>
            </a:pPr>
            <a:r>
              <a:rPr sz="1600" b="0" i="0">
                <a:solidFill>
                  <a:srgbClr val="202329"/>
                </a:solidFill>
                <a:latin typeface="Arial"/>
              </a:rPr>
              <a:t>In representative comparable chirps, relay-cell input resistance fell by 34%, while pacemaker-cell resistance fell by 9%. Relay-cell conductance changes lasted approximately 8–20 ms. These measurements support preferential excitatory input onto the output cells for rapid communication signals.</a:t>
            </a:r>
          </a:p>
          <a:p>
            <a:pPr algn="l">
              <a:lnSpc>
                <a:spcPct val="108000"/>
              </a:lnSpc>
              <a:spcAft>
                <a:spcPts val="960"/>
              </a:spcAft>
            </a:pPr>
            <a:r>
              <a:rPr sz="1600" b="0" i="0">
                <a:solidFill>
                  <a:srgbClr val="202329"/>
                </a:solidFill>
                <a:latin typeface="Arial"/>
              </a:rPr>
              <a:t>The same oscillator therefore supports different behaviors through segregated synaptic targets and receptor-sensitive inputs. A rapid chirp should not be mistaken for a stronger JAR. The source’s resistance controls and cell labeling constrain the target assignment, while coupled cells can still exhibit secondary responses.</a:t>
            </a:r>
          </a:p>
        </p:txBody>
      </p:sp>
      <p:pic>
        <p:nvPicPr>
          <p:cNvPr id="4" name="Picture 3" descr="38_segregation98.png"/>
          <p:cNvPicPr>
            <a:picLocks noChangeAspect="1"/>
          </p:cNvPicPr>
          <p:nvPr/>
        </p:nvPicPr>
        <p:blipFill>
          <a:blip r:embed="rId2"/>
          <a:stretch>
            <a:fillRect/>
          </a:stretch>
        </p:blipFill>
        <p:spPr>
          <a:xfrm>
            <a:off x="6869887" y="1280160"/>
            <a:ext cx="4754880" cy="1731219"/>
          </a:xfrm>
          <a:prstGeom prst="rect">
            <a:avLst/>
          </a:prstGeom>
        </p:spPr>
      </p:pic>
      <p:sp>
        <p:nvSpPr>
          <p:cNvPr id="5" name="Figure caption"/>
          <p:cNvSpPr txBox="1"/>
          <p:nvPr/>
        </p:nvSpPr>
        <p:spPr>
          <a:xfrm>
            <a:off x="6869887" y="310281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4(A–C). Brief chirps preferentially change relay-cell conductance.</a:t>
            </a:r>
          </a:p>
        </p:txBody>
      </p:sp>
      <p:pic>
        <p:nvPicPr>
          <p:cNvPr id="6" name="Picture 5" descr="pacemaker_targets.png"/>
          <p:cNvPicPr>
            <a:picLocks noChangeAspect="1"/>
          </p:cNvPicPr>
          <p:nvPr/>
        </p:nvPicPr>
        <p:blipFill>
          <a:blip r:embed="rId3"/>
          <a:stretch>
            <a:fillRect/>
          </a:stretch>
        </p:blipFill>
        <p:spPr>
          <a:xfrm>
            <a:off x="8828518" y="4709160"/>
            <a:ext cx="837616"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Juranek &amp; Metzner (1998), Fig. 1. Published circuit with pacemaker and relay-cell targets.</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Juranek &amp; Metzner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Voltage-dependent responses reshape temporal filtering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Temporal filtering</a:t>
            </a:r>
            <a:r>
              <a:rPr sz="1600" b="0" i="0">
                <a:solidFill>
                  <a:srgbClr val="202329"/>
                </a:solidFill>
                <a:latin typeface="Arial"/>
              </a:rPr>
              <a:t> is selective transmission of slow or fast changes in sensory input. Fortune and Rose made whole-cell intracellular recordings from toral neurons while comparing electrical sensory stimulation with injected current over 2–30 Hz. Labeled cells supplied anatomical context.</a:t>
            </a:r>
          </a:p>
          <a:p>
            <a:pPr algn="l">
              <a:lnSpc>
                <a:spcPct val="108000"/>
              </a:lnSpc>
              <a:spcAft>
                <a:spcPts val="960"/>
              </a:spcAft>
            </a:pPr>
            <a:r>
              <a:rPr sz="1600" b="0" i="0">
                <a:solidFill>
                  <a:srgbClr val="202329"/>
                </a:solidFill>
                <a:latin typeface="Arial"/>
              </a:rPr>
              <a:t>Changing the holding current exposed voltage-dependent responses beyond the incoming postsynaptic potential. Some active responses lasted in proportion to the stimulus cycle; others remained brief, generally below 30 ms. Hyperpolarizing the membrane reduced these components and changed the neuron’s filtering properties.</a:t>
            </a:r>
          </a:p>
          <a:p>
            <a:pPr algn="l">
              <a:lnSpc>
                <a:spcPct val="108000"/>
              </a:lnSpc>
              <a:spcAft>
                <a:spcPts val="960"/>
              </a:spcAft>
            </a:pPr>
            <a:r>
              <a:rPr sz="1600" b="0" i="0">
                <a:solidFill>
                  <a:srgbClr val="202329"/>
                </a:solidFill>
                <a:latin typeface="Arial"/>
              </a:rPr>
              <a:t>The experiments separate incoming synaptic drive from an </a:t>
            </a:r>
            <a:r>
              <a:rPr sz="1600" b="1" i="0">
                <a:solidFill>
                  <a:srgbClr val="16181D"/>
                </a:solidFill>
                <a:latin typeface="Arial"/>
              </a:rPr>
              <a:t>active membrane conductance</a:t>
            </a:r>
            <a:r>
              <a:rPr sz="1600" b="0" i="0">
                <a:solidFill>
                  <a:srgbClr val="202329"/>
                </a:solidFill>
                <a:latin typeface="Arial"/>
              </a:rPr>
              <a:t>, a conductance whose expression depends on membrane voltage. Passive properties and active responses both contribute, but neither always explains the full sensory filter. The specific molecular channels underlying these active responses were not identified by this experiment.</a:t>
            </a:r>
          </a:p>
        </p:txBody>
      </p:sp>
      <p:pic>
        <p:nvPicPr>
          <p:cNvPr id="4" name="Picture 3" descr="39_filter97.png"/>
          <p:cNvPicPr>
            <a:picLocks noChangeAspect="1"/>
          </p:cNvPicPr>
          <p:nvPr/>
        </p:nvPicPr>
        <p:blipFill>
          <a:blip r:embed="rId2"/>
          <a:stretch>
            <a:fillRect/>
          </a:stretch>
        </p:blipFill>
        <p:spPr>
          <a:xfrm>
            <a:off x="8516295" y="1280160"/>
            <a:ext cx="1462063"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Fortune &amp; Rose (1997), Fig. 6(A–B). Holding current separates active responses from synaptic input.</a:t>
            </a:r>
          </a:p>
        </p:txBody>
      </p:sp>
      <p:pic>
        <p:nvPicPr>
          <p:cNvPr id="6" name="Picture 5" descr="phase_brain.png"/>
          <p:cNvPicPr>
            <a:picLocks noChangeAspect="1"/>
          </p:cNvPicPr>
          <p:nvPr/>
        </p:nvPicPr>
        <p:blipFill>
          <a:blip r:embed="rId3"/>
          <a:stretch>
            <a:fillRect/>
          </a:stretch>
        </p:blipFill>
        <p:spPr>
          <a:xfrm>
            <a:off x="8129001" y="4709160"/>
            <a:ext cx="2236651"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1(A). Sagittal brain anatomy with torus and electrosensory lateral line lobe.</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Fortune &amp; Rose (1997);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Short-term depression weakens fast sensory input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Postsynaptic potentials</a:t>
            </a:r>
            <a:r>
              <a:rPr sz="1600" b="0" i="0">
                <a:solidFill>
                  <a:srgbClr val="202329"/>
                </a:solidFill>
                <a:latin typeface="Arial"/>
              </a:rPr>
              <a:t>, or </a:t>
            </a:r>
            <a:r>
              <a:rPr sz="1600" b="1" i="0">
                <a:solidFill>
                  <a:srgbClr val="16181D"/>
                </a:solidFill>
                <a:latin typeface="Arial"/>
              </a:rPr>
              <a:t>PSPs</a:t>
            </a:r>
            <a:r>
              <a:rPr sz="1600" b="0" i="0">
                <a:solidFill>
                  <a:srgbClr val="202329"/>
                </a:solidFill>
                <a:latin typeface="Arial"/>
              </a:rPr>
              <a:t>, are changes in a receiving neuron’s membrane voltage following synaptic input. </a:t>
            </a:r>
            <a:r>
              <a:rPr sz="1600" b="1" i="0">
                <a:solidFill>
                  <a:srgbClr val="16181D"/>
                </a:solidFill>
                <a:latin typeface="Arial"/>
              </a:rPr>
              <a:t>Short-term depression</a:t>
            </a:r>
            <a:r>
              <a:rPr sz="1600" b="0" i="0">
                <a:solidFill>
                  <a:srgbClr val="202329"/>
                </a:solidFill>
                <a:latin typeface="Arial"/>
              </a:rPr>
              <a:t> is a reversible decline in these responses during repeated stimulation. Rose and Fortune recorded toral neurons during continuous and interrupted sensory signals.</a:t>
            </a:r>
          </a:p>
          <a:p>
            <a:pPr algn="l">
              <a:lnSpc>
                <a:spcPct val="108000"/>
              </a:lnSpc>
              <a:spcAft>
                <a:spcPts val="960"/>
              </a:spcAft>
            </a:pPr>
            <a:r>
              <a:rPr sz="1600" b="0" i="0">
                <a:solidFill>
                  <a:srgbClr val="202329"/>
                </a:solidFill>
                <a:latin typeface="Arial"/>
              </a:rPr>
              <a:t>At 20-Hz stimulation, introducing gaps of 8–48 ms increased the first responses after the interruption. Recovery depended on gap duration; most neurons regained their initial PSP amplitude after a 150-ms gap. Direct current injection did not reproduce the sensory response decline.</a:t>
            </a:r>
          </a:p>
          <a:p>
            <a:pPr algn="l">
              <a:lnSpc>
                <a:spcPct val="108000"/>
              </a:lnSpc>
              <a:spcAft>
                <a:spcPts val="960"/>
              </a:spcAft>
            </a:pPr>
            <a:r>
              <a:rPr sz="1600" b="0" i="0">
                <a:solidFill>
                  <a:srgbClr val="202329"/>
                </a:solidFill>
                <a:latin typeface="Arial"/>
              </a:rPr>
              <a:t>The controls support a synaptic contribution to low-pass filtering, preferential transmission of slow changes. Depression can attenuate rapid beats while retaining sensitivity to slower jamming cues. The recordings do not establish whether the underlying cause is transmitter depletion, receptor desensitization, or another synaptic process.</a:t>
            </a:r>
          </a:p>
        </p:txBody>
      </p:sp>
      <p:pic>
        <p:nvPicPr>
          <p:cNvPr id="4" name="Picture 3" descr="40_filter99.png"/>
          <p:cNvPicPr>
            <a:picLocks noChangeAspect="1"/>
          </p:cNvPicPr>
          <p:nvPr/>
        </p:nvPicPr>
        <p:blipFill>
          <a:blip r:embed="rId2"/>
          <a:stretch>
            <a:fillRect/>
          </a:stretch>
        </p:blipFill>
        <p:spPr>
          <a:xfrm>
            <a:off x="8587989" y="1280160"/>
            <a:ext cx="1318674" cy="2880360"/>
          </a:xfrm>
          <a:prstGeom prst="rect">
            <a:avLst/>
          </a:prstGeom>
        </p:spPr>
      </p:pic>
      <p:sp>
        <p:nvSpPr>
          <p:cNvPr id="5" name="Figure caption"/>
          <p:cNvSpPr txBox="1"/>
          <p:nvPr/>
        </p:nvSpPr>
        <p:spPr>
          <a:xfrm>
            <a:off x="6869887" y="42519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Rose &amp; Fortune (1999), Fig. 7(A–B). Brief gaps restore depressed sensory postsynaptic potentials.</a:t>
            </a:r>
          </a:p>
        </p:txBody>
      </p:sp>
      <p:pic>
        <p:nvPicPr>
          <p:cNvPr id="6" name="Picture 5" descr="phase_brain.png"/>
          <p:cNvPicPr>
            <a:picLocks noChangeAspect="1"/>
          </p:cNvPicPr>
          <p:nvPr/>
        </p:nvPicPr>
        <p:blipFill>
          <a:blip r:embed="rId3"/>
          <a:stretch>
            <a:fillRect/>
          </a:stretch>
        </p:blipFill>
        <p:spPr>
          <a:xfrm>
            <a:off x="8129001" y="4709160"/>
            <a:ext cx="2236651" cy="105155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Carr et al. (1986), Fig. 1(A). Sagittal brain anatomy with torus and electrosensory lateral line lobe.</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Rose &amp; Fortune (1999); Carr et al. (1986)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Amplitude modulation alone can lower discharge frequency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Takizawa, Rose, and Kawasaki tested whether the classical sign-computation account explains every frequency decrease. In curarized fish, they amplitude-modulated the EOD substitute while omitting the separate neighbor signal. An unmodulated carrier between presentations supplied the baseline control.</a:t>
            </a:r>
          </a:p>
          <a:p>
            <a:pPr algn="l">
              <a:lnSpc>
                <a:spcPct val="108000"/>
              </a:lnSpc>
              <a:spcAft>
                <a:spcPts val="960"/>
              </a:spcAft>
            </a:pPr>
            <a:r>
              <a:rPr sz="1600" b="0" i="0">
                <a:solidFill>
                  <a:srgbClr val="202329"/>
                </a:solidFill>
                <a:latin typeface="Arial"/>
              </a:rPr>
              <a:t>A 30% amplitude modulation at 4 Hz produced consistent deceleration. One published example decreased by 3.5 Hz; other individuals differed in magnitude. Similar decelerations occurred when recorded EODs from intact fish were amplitude-modulated and returned to the tank.</a:t>
            </a:r>
          </a:p>
          <a:p>
            <a:pPr algn="l">
              <a:lnSpc>
                <a:spcPct val="108000"/>
              </a:lnSpc>
              <a:spcAft>
                <a:spcPts val="960"/>
              </a:spcAft>
            </a:pPr>
            <a:r>
              <a:rPr sz="1600" b="0" i="0">
                <a:solidFill>
                  <a:srgbClr val="202329"/>
                </a:solidFill>
                <a:latin typeface="Arial"/>
              </a:rPr>
              <a:t>This response does not discriminate positive from negative Δf because a separate neighbor frequency need not be present. Amplitude-only deceleration is therefore distinct from the bidirectional sign-selective JAR, even though it can contribute to the measured output during natural interference. Curarized and intact preparations supported the finding under their respective conditions.</a:t>
            </a:r>
          </a:p>
        </p:txBody>
      </p:sp>
      <p:pic>
        <p:nvPicPr>
          <p:cNvPr id="4" name="Picture 3" descr="41_behavior99.png"/>
          <p:cNvPicPr>
            <a:picLocks noChangeAspect="1"/>
          </p:cNvPicPr>
          <p:nvPr/>
        </p:nvPicPr>
        <p:blipFill>
          <a:blip r:embed="rId2"/>
          <a:stretch>
            <a:fillRect/>
          </a:stretch>
        </p:blipFill>
        <p:spPr>
          <a:xfrm>
            <a:off x="6968815" y="1280160"/>
            <a:ext cx="455702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Takizawa et al. (1999), Fig. 2(A–B). Pure amplitude modulation produces repeatable decelerations.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Takizawa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Amplitude-only deceleration has measurable sensitivity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Takizawa and colleagues varied amplitude-modulation depth while keeping the carrier and modulation frequency controlled. </a:t>
            </a:r>
            <a:r>
              <a:rPr sz="1600" b="1" i="0">
                <a:solidFill>
                  <a:srgbClr val="16181D"/>
                </a:solidFill>
                <a:latin typeface="Arial"/>
              </a:rPr>
              <a:t>Modulation depth</a:t>
            </a:r>
            <a:r>
              <a:rPr sz="1600" b="0" i="0">
                <a:solidFill>
                  <a:srgbClr val="202329"/>
                </a:solidFill>
                <a:latin typeface="Arial"/>
              </a:rPr>
              <a:t> describes the relative size of the amplitude fluctuation. The published experiment used 4-Hz sinusoidal modulation and compared several depths in the same preparations.</a:t>
            </a:r>
          </a:p>
          <a:p>
            <a:pPr algn="l">
              <a:lnSpc>
                <a:spcPct val="108000"/>
              </a:lnSpc>
              <a:spcAft>
                <a:spcPts val="960"/>
              </a:spcAft>
            </a:pPr>
            <a:r>
              <a:rPr sz="1600" b="0" i="0">
                <a:solidFill>
                  <a:srgbClr val="202329"/>
                </a:solidFill>
                <a:latin typeface="Arial"/>
              </a:rPr>
              <a:t>A few percent modulation generally induced deceleration. One particularly sensitive fish responded at 0.1%, while less sensitive individuals required more than 10%. Frequency dependence was strongest near 4 Hz, matching the range that strongly activates natural jamming responses.</a:t>
            </a:r>
          </a:p>
          <a:p>
            <a:pPr algn="l">
              <a:lnSpc>
                <a:spcPct val="108000"/>
              </a:lnSpc>
              <a:spcAft>
                <a:spcPts val="960"/>
              </a:spcAft>
            </a:pPr>
            <a:r>
              <a:rPr sz="1600" b="0" i="0">
                <a:solidFill>
                  <a:srgbClr val="202329"/>
                </a:solidFill>
                <a:latin typeface="Arial"/>
              </a:rPr>
              <a:t>The shared tuning does not make amplitude-only deceleration identical to beat-sign discrimination. Both can be driven by slow amplitude changes, while only the bidirectional component requires the appropriate spatial timing relationship. Sensitivity differed across individuals, so the most sensitive trace should not be treated as a universal behavioral threshold.</a:t>
            </a:r>
          </a:p>
        </p:txBody>
      </p:sp>
      <p:pic>
        <p:nvPicPr>
          <p:cNvPr id="4" name="Picture 3" descr="42_behavior99.png"/>
          <p:cNvPicPr>
            <a:picLocks noChangeAspect="1"/>
          </p:cNvPicPr>
          <p:nvPr/>
        </p:nvPicPr>
        <p:blipFill>
          <a:blip r:embed="rId2"/>
          <a:stretch>
            <a:fillRect/>
          </a:stretch>
        </p:blipFill>
        <p:spPr>
          <a:xfrm>
            <a:off x="8155659" y="1280160"/>
            <a:ext cx="218333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Takizawa et al. (1999), Fig. 4(A–B). Amplitude-modulation depth controls deceleration magnitude.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Takizawa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 trunk timing reference is unnecessary for amplitude drops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Takizawa and colleagues electrically separated the head and trunk and independently manipulated the head carrier’s amplitude and phase. In the published experiment, a 380-Hz carrier supported 30% amplitude modulation and phase excursions spanning 200 µs peak to peak.</a:t>
            </a:r>
          </a:p>
          <a:p>
            <a:pPr algn="l">
              <a:lnSpc>
                <a:spcPct val="108000"/>
              </a:lnSpc>
              <a:spcAft>
                <a:spcPts val="960"/>
              </a:spcAft>
            </a:pPr>
            <a:r>
              <a:rPr sz="1600" b="0" i="0">
                <a:solidFill>
                  <a:srgbClr val="202329"/>
                </a:solidFill>
                <a:latin typeface="Arial"/>
              </a:rPr>
              <a:t>With a trunk reference, the normal amplitude–phase pairings produced the expected opposing JAR directions. Removing the trunk signal did not abolish amplitude-induced deceleration. Changing or omitting head phase modulation still allowed strong decreases without the usual spatial reference.</a:t>
            </a:r>
          </a:p>
          <a:p>
            <a:pPr algn="l">
              <a:lnSpc>
                <a:spcPct val="108000"/>
              </a:lnSpc>
              <a:spcAft>
                <a:spcPts val="960"/>
              </a:spcAft>
            </a:pPr>
            <a:r>
              <a:rPr sz="1600" b="0" i="0">
                <a:solidFill>
                  <a:srgbClr val="202329"/>
                </a:solidFill>
                <a:latin typeface="Arial"/>
              </a:rPr>
              <a:t>The finding argues against an explanation in which every amplitude-only decrease requires an internally generated, or “phantom,” differential-phase cue. It supports an additional amplitude-driven process. Its proposed role in balancing natural upward and downward excursions remained untested, rather than a proven adaptive function.</a:t>
            </a:r>
          </a:p>
        </p:txBody>
      </p:sp>
      <p:pic>
        <p:nvPicPr>
          <p:cNvPr id="4" name="Picture 3" descr="43_behavior99.png"/>
          <p:cNvPicPr>
            <a:picLocks noChangeAspect="1"/>
          </p:cNvPicPr>
          <p:nvPr/>
        </p:nvPicPr>
        <p:blipFill>
          <a:blip r:embed="rId2"/>
          <a:stretch>
            <a:fillRect/>
          </a:stretch>
        </p:blipFill>
        <p:spPr>
          <a:xfrm>
            <a:off x="7380779" y="1280160"/>
            <a:ext cx="373309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Takizawa et al. (1999), Fig. 8(A–F). Head stimulation decelerates without a trunk phase reference.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Takizawa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Electric-field complexity can degrade usable sign cues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202329"/>
                </a:solidFill>
                <a:latin typeface="Arial"/>
              </a:rPr>
              <a:t>Shifman and Lewis used experimentally constrained </a:t>
            </a:r>
            <a:r>
              <a:rPr sz="1500" b="1" i="0">
                <a:solidFill>
                  <a:srgbClr val="16181D"/>
                </a:solidFill>
                <a:latin typeface="Arial"/>
              </a:rPr>
              <a:t>finite-element models</a:t>
            </a:r>
            <a:r>
              <a:rPr sz="1500" b="0" i="0">
                <a:solidFill>
                  <a:srgbClr val="202329"/>
                </a:solidFill>
                <a:latin typeface="Arial"/>
              </a:rPr>
              <a:t>, numerical descriptions of electrical fields, to compare </a:t>
            </a:r>
            <a:r>
              <a:rPr sz="1500" b="0" i="1">
                <a:solidFill>
                  <a:srgbClr val="202329"/>
                </a:solidFill>
                <a:latin typeface="Arial"/>
              </a:rPr>
              <a:t>Eigenmannia</a:t>
            </a:r>
            <a:r>
              <a:rPr sz="1500" b="0" i="0">
                <a:solidFill>
                  <a:srgbClr val="202329"/>
                </a:solidFill>
                <a:latin typeface="Arial"/>
              </a:rPr>
              <a:t> with </a:t>
            </a:r>
            <a:r>
              <a:rPr sz="1500" b="0" i="1">
                <a:solidFill>
                  <a:srgbClr val="202329"/>
                </a:solidFill>
                <a:latin typeface="Arial"/>
              </a:rPr>
              <a:t>Apteronotus</a:t>
            </a:r>
            <a:r>
              <a:rPr sz="1500" b="0" i="0">
                <a:solidFill>
                  <a:srgbClr val="202329"/>
                </a:solidFill>
                <a:latin typeface="Arial"/>
              </a:rPr>
              <a:t>. The model fish discharged at 300 and 600 Hz, respectively. Published analyses considered both single-neighbor interference and mixtures representing two neighbors.</a:t>
            </a:r>
          </a:p>
          <a:p>
            <a:pPr algn="l">
              <a:lnSpc>
                <a:spcPct val="108000"/>
              </a:lnSpc>
              <a:spcAft>
                <a:spcPts val="900"/>
              </a:spcAft>
            </a:pPr>
            <a:r>
              <a:rPr sz="1500" b="0" i="0">
                <a:solidFill>
                  <a:srgbClr val="202329"/>
                </a:solidFill>
                <a:latin typeface="Arial"/>
              </a:rPr>
              <a:t>In three-fish conditions, amplitude envelopes and relative phase became more complex. The </a:t>
            </a:r>
            <a:r>
              <a:rPr sz="1500" b="0" i="1">
                <a:solidFill>
                  <a:srgbClr val="202329"/>
                </a:solidFill>
                <a:latin typeface="Arial"/>
              </a:rPr>
              <a:t>Apteronotus</a:t>
            </a:r>
            <a:r>
              <a:rPr sz="1500" b="0" i="0">
                <a:solidFill>
                  <a:srgbClr val="202329"/>
                </a:solidFill>
                <a:latin typeface="Arial"/>
              </a:rPr>
              <a:t> field produced less reliable cue combinations for a model of sign-dependent frequency adjustment than the more spatially uniform </a:t>
            </a:r>
            <a:r>
              <a:rPr sz="1500" b="0" i="1">
                <a:solidFill>
                  <a:srgbClr val="202329"/>
                </a:solidFill>
                <a:latin typeface="Arial"/>
              </a:rPr>
              <a:t>Eigenmannia</a:t>
            </a:r>
            <a:r>
              <a:rPr sz="1500" b="0" i="0">
                <a:solidFill>
                  <a:srgbClr val="202329"/>
                </a:solidFill>
                <a:latin typeface="Arial"/>
              </a:rPr>
              <a:t> field. The published polar trajectories are results of that computational analysis.</a:t>
            </a:r>
          </a:p>
          <a:p>
            <a:pPr algn="l">
              <a:lnSpc>
                <a:spcPct val="108000"/>
              </a:lnSpc>
              <a:spcAft>
                <a:spcPts val="900"/>
              </a:spcAft>
            </a:pPr>
            <a:r>
              <a:rPr sz="1500" b="0" i="0">
                <a:solidFill>
                  <a:srgbClr val="202329"/>
                </a:solidFill>
                <a:latin typeface="Arial"/>
              </a:rPr>
              <a:t>The authors proposed that degraded cues could help explain evolutionary differences in frequency-control behavior. These plotted results are modeled sensory inputs, not newly recorded neuronal tuning or direct proof of evolutionary causation. Applying an </a:t>
            </a:r>
            <a:r>
              <a:rPr sz="1500" b="0" i="1">
                <a:solidFill>
                  <a:srgbClr val="202329"/>
                </a:solidFill>
                <a:latin typeface="Arial"/>
              </a:rPr>
              <a:t>Eigenmannia</a:t>
            </a:r>
            <a:r>
              <a:rPr sz="1500" b="0" i="0">
                <a:solidFill>
                  <a:srgbClr val="202329"/>
                </a:solidFill>
                <a:latin typeface="Arial"/>
              </a:rPr>
              <a:t>-based behavioral mapping to another species also does not establish identical neural algorithms.</a:t>
            </a:r>
          </a:p>
        </p:txBody>
      </p:sp>
      <p:pic>
        <p:nvPicPr>
          <p:cNvPr id="4" name="Picture 3" descr="44_interference18.png"/>
          <p:cNvPicPr>
            <a:picLocks noChangeAspect="1"/>
          </p:cNvPicPr>
          <p:nvPr/>
        </p:nvPicPr>
        <p:blipFill>
          <a:blip r:embed="rId2"/>
          <a:stretch>
            <a:fillRect/>
          </a:stretch>
        </p:blipFill>
        <p:spPr>
          <a:xfrm>
            <a:off x="6869887" y="1280160"/>
            <a:ext cx="4754880" cy="3810514"/>
          </a:xfrm>
          <a:prstGeom prst="rect">
            <a:avLst/>
          </a:prstGeom>
        </p:spPr>
      </p:pic>
      <p:sp>
        <p:nvSpPr>
          <p:cNvPr id="5" name="Figure caption"/>
          <p:cNvSpPr txBox="1"/>
          <p:nvPr/>
        </p:nvSpPr>
        <p:spPr>
          <a:xfrm>
            <a:off x="6869887" y="518211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Shifman &amp; Lewis (2018), Fig. 6. Published electric-field model predicts ambiguity in phase cues.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Shifman &amp; Lewis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Key takeaways</a:t>
            </a:r>
          </a:p>
        </p:txBody>
      </p:sp>
      <p:sp>
        <p:nvSpPr>
          <p:cNvPr id="3" name="Rectangle 2"/>
          <p:cNvSpPr/>
          <p:nvPr/>
        </p:nvSpPr>
        <p:spPr>
          <a:xfrm>
            <a:off x="566928" y="1234440"/>
            <a:ext cx="5391759" cy="1478279"/>
          </a:xfrm>
          <a:prstGeom prst="rect">
            <a:avLst/>
          </a:prstGeom>
          <a:solidFill>
            <a:srgbClr val="F3F3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Beat rate is insufficient</a:t>
            </a:r>
            <a:r>
              <a:rPr sz="1600" b="0" i="0">
                <a:solidFill>
                  <a:srgbClr val="202329"/>
                </a:solidFill>
                <a:latin typeface="Arial"/>
              </a:rPr>
              <a:t> Opposite frequency differences can produce the same beat rate; spatial amplitude–phase relationships supply the sign cue.</a:t>
            </a:r>
          </a:p>
        </p:txBody>
      </p:sp>
      <p:sp>
        <p:nvSpPr>
          <p:cNvPr id="5" name="Rectangle 4"/>
          <p:cNvSpPr/>
          <p:nvPr/>
        </p:nvSpPr>
        <p:spPr>
          <a:xfrm>
            <a:off x="6233007" y="1234440"/>
            <a:ext cx="5391759" cy="1478279"/>
          </a:xfrm>
          <a:prstGeom prst="rect">
            <a:avLst/>
          </a:prstGeom>
          <a:solidFill>
            <a:srgbClr val="F3F3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Hyperacuity is distributed</a:t>
            </a:r>
            <a:r>
              <a:rPr sz="1600" b="0" i="0">
                <a:solidFill>
                  <a:srgbClr val="202329"/>
                </a:solidFill>
                <a:latin typeface="Arial"/>
              </a:rPr>
              <a:t> Eigenmannia discriminates temporal disparities near 400 ns, and recruiting multiple skin regions supports nonlinear pooling of timing information.</a:t>
            </a:r>
          </a:p>
        </p:txBody>
      </p:sp>
      <p:sp>
        <p:nvSpPr>
          <p:cNvPr id="7" name="Rectangle 6"/>
          <p:cNvSpPr/>
          <p:nvPr/>
        </p:nvSpPr>
        <p:spPr>
          <a:xfrm>
            <a:off x="566928" y="2987040"/>
            <a:ext cx="5391759" cy="1478279"/>
          </a:xfrm>
          <a:prstGeom prst="rect">
            <a:avLst/>
          </a:prstGeom>
          <a:solidFill>
            <a:srgbClr val="F3F3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Sensory pathways converge</a:t>
            </a:r>
            <a:r>
              <a:rPr sz="1600" b="0" i="0">
                <a:solidFill>
                  <a:srgbClr val="202329"/>
                </a:solidFill>
                <a:latin typeface="Arial"/>
              </a:rPr>
              <a:t> Amplitude-coding E/I inputs and phase comparisons feed combination-sensitive toral populations representing opposite beat signs.</a:t>
            </a:r>
          </a:p>
        </p:txBody>
      </p:sp>
      <p:sp>
        <p:nvSpPr>
          <p:cNvPr id="9" name="Rectangle 8"/>
          <p:cNvSpPr/>
          <p:nvPr/>
        </p:nvSpPr>
        <p:spPr>
          <a:xfrm>
            <a:off x="6233007" y="2987040"/>
            <a:ext cx="5391759" cy="1478279"/>
          </a:xfrm>
          <a:prstGeom prst="rect">
            <a:avLst/>
          </a:prstGeom>
          <a:solidFill>
            <a:srgbClr val="F3F3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Motor routes remain separate</a:t>
            </a:r>
            <a:r>
              <a:rPr sz="1600" b="0" i="0">
                <a:solidFill>
                  <a:srgbClr val="202329"/>
                </a:solidFill>
                <a:latin typeface="Arial"/>
              </a:rPr>
              <a:t> PPn-G supports frequency increases, while inhibition of tonic SPPn drive supports decreases; selective lesions distinguish the routes.</a:t>
            </a:r>
          </a:p>
        </p:txBody>
      </p:sp>
      <p:sp>
        <p:nvSpPr>
          <p:cNvPr id="11" name="Rectangle 10"/>
          <p:cNvSpPr/>
          <p:nvPr/>
        </p:nvSpPr>
        <p:spPr>
          <a:xfrm>
            <a:off x="566928" y="4739640"/>
            <a:ext cx="5391759" cy="1478279"/>
          </a:xfrm>
          <a:prstGeom prst="rect">
            <a:avLst/>
          </a:prstGeom>
          <a:solidFill>
            <a:srgbClr val="F3F3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Synaptic targets shape behavior</a:t>
            </a:r>
            <a:r>
              <a:rPr sz="1600" b="0" i="0">
                <a:solidFill>
                  <a:srgbClr val="202329"/>
                </a:solidFill>
                <a:latin typeface="Arial"/>
              </a:rPr>
              <a:t> Gradual acceleration preferentially increases pacemaker-cell conductance, whereas deceleration removes tonic excitation from relay cells.</a:t>
            </a:r>
          </a:p>
        </p:txBody>
      </p:sp>
      <p:sp>
        <p:nvSpPr>
          <p:cNvPr id="13" name="Rectangle 12"/>
          <p:cNvSpPr/>
          <p:nvPr/>
        </p:nvSpPr>
        <p:spPr>
          <a:xfrm>
            <a:off x="6233007" y="4739640"/>
            <a:ext cx="5391759" cy="1478279"/>
          </a:xfrm>
          <a:prstGeom prst="rect">
            <a:avLst/>
          </a:prstGeom>
          <a:solidFill>
            <a:srgbClr val="F3F3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16181D"/>
                </a:solidFill>
                <a:latin typeface="Arial"/>
              </a:rPr>
              <a:t>A decrease alone does not prove sign discrimination</a:t>
            </a:r>
            <a:r>
              <a:rPr sz="1500" b="0" i="0">
                <a:solidFill>
                  <a:srgbClr val="202329"/>
                </a:solidFill>
                <a:latin typeface="Arial"/>
              </a:rPr>
              <a:t> Amplitude modulation can lower EOD frequency without a trunk phase reference; responses must be measured against resting frequency.</a:t>
            </a:r>
          </a:p>
        </p:txBody>
      </p:sp>
      <p:sp>
        <p:nvSpPr>
          <p:cNvPr id="15" name="Rectangle 14"/>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Rose &amp; Heiligenberg (1985); Metzner (1993); Juranek &amp; Metzner (1998); Takizawa et al. (1999)</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Electroreception III: the jamming avoidance response (Heiligenberg)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