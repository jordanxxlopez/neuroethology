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 Id="rId3" Type="http://schemas.openxmlformats.org/officeDocument/2006/relationships/hyperlink" Target="https://doi.org/10.1002/cne.901650405" TargetMode="External"/><Relationship Id="rId4" Type="http://schemas.openxmlformats.org/officeDocument/2006/relationships/hyperlink" Target="https://doi.org/10.1126/science.6719123" TargetMode="External"/><Relationship Id="rId5" Type="http://schemas.openxmlformats.org/officeDocument/2006/relationships/hyperlink" Target="https://doi.org/10.1002/cne.24437" TargetMode="External"/><Relationship Id="rId6" Type="http://schemas.openxmlformats.org/officeDocument/2006/relationships/hyperlink" Target="https://doi.org/10.1523/jneurosci.17-03-01147.1997"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 Id="rId3" Type="http://schemas.openxmlformats.org/officeDocument/2006/relationships/hyperlink" Target="https://doi.org/10.1002/cne.901650405"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 Id="rId3" Type="http://schemas.openxmlformats.org/officeDocument/2006/relationships/hyperlink" Target="https://doi.org/10.1002/cne.901650405"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 Id="rId3" Type="http://schemas.openxmlformats.org/officeDocument/2006/relationships/hyperlink" Target="https://doi.org/10.1002/cne.901650405" TargetMode="External"/><Relationship Id="rId4" Type="http://schemas.openxmlformats.org/officeDocument/2006/relationships/hyperlink" Target="https://doi.org/10.1002/cne.24437"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 Id="rId3" Type="http://schemas.openxmlformats.org/officeDocument/2006/relationships/hyperlink" Target="https://doi.org/10.1002/cne.24437"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 Id="rId3" Type="http://schemas.openxmlformats.org/officeDocument/2006/relationships/hyperlink" Target="https://doi.org/10.1002/cne.24437"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 Id="rId3" Type="http://schemas.openxmlformats.org/officeDocument/2006/relationships/hyperlink" Target="https://doi.org/10.1002/cne.24437"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 Id="rId3" Type="http://schemas.openxmlformats.org/officeDocument/2006/relationships/hyperlink" Target="https://doi.org/10.1002/cne.24437"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 Id="rId3" Type="http://schemas.openxmlformats.org/officeDocument/2006/relationships/hyperlink" Target="https://doi.org/10.1002/cne.24437"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 Id="rId3" Type="http://schemas.openxmlformats.org/officeDocument/2006/relationships/hyperlink" Target="https://doi.org/10.1002/cne.24437"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 Id="rId3" Type="http://schemas.openxmlformats.org/officeDocument/2006/relationships/hyperlink" Target="https://doi.org/10.1002/cne.24437"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 Id="rId3" Type="http://schemas.openxmlformats.org/officeDocument/2006/relationships/hyperlink" Target="https://doi.org/10.1002/cne.24437"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 Id="rId3" Type="http://schemas.openxmlformats.org/officeDocument/2006/relationships/hyperlink" Target="https://doi.org/10.1002/cne.24437"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 Id="rId3" Type="http://schemas.openxmlformats.org/officeDocument/2006/relationships/hyperlink" Target="https://doi.org/10.1002/cne.24437"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 Id="rId3" Type="http://schemas.openxmlformats.org/officeDocument/2006/relationships/hyperlink" Target="https://doi.org/10.1038/s41467-021-26521-3" TargetMode="External"/><Relationship Id="rId4" Type="http://schemas.openxmlformats.org/officeDocument/2006/relationships/hyperlink" Target="https://doi.org/10.1038/s41598-021-85929-5"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 Id="rId3" Type="http://schemas.openxmlformats.org/officeDocument/2006/relationships/hyperlink" Target="https://doi.org/10.1038/s41467-021-26521-3"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 Id="rId3" Type="http://schemas.openxmlformats.org/officeDocument/2006/relationships/hyperlink" Target="https://doi.org/10.1038/s41467-021-26521-3"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 Id="rId3" Type="http://schemas.openxmlformats.org/officeDocument/2006/relationships/hyperlink" Target="https://doi.org/10.1038/s41467-021-26521-3"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 Id="rId3" Type="http://schemas.openxmlformats.org/officeDocument/2006/relationships/hyperlink" Target="https://doi.org/10.1038/s41467-021-26521-3"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 Id="rId3" Type="http://schemas.openxmlformats.org/officeDocument/2006/relationships/hyperlink" Target="https://doi.org/10.1038/s41467-021-26521-3"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 Id="rId3" Type="http://schemas.openxmlformats.org/officeDocument/2006/relationships/hyperlink" Target="https://doi.org/10.1038/s41467-021-26521-3"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 Id="rId3" Type="http://schemas.openxmlformats.org/officeDocument/2006/relationships/hyperlink" Target="https://doi.org/10.1038/s41467-021-26521-3"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 Id="rId3" Type="http://schemas.openxmlformats.org/officeDocument/2006/relationships/hyperlink" Target="https://doi.org/10.1038/s41467-021-26521-3"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 Id="rId3" Type="http://schemas.openxmlformats.org/officeDocument/2006/relationships/hyperlink" Target="https://doi.org/10.1007/s12264-012-1241-7" TargetMode="External"/><Relationship Id="rId4" Type="http://schemas.openxmlformats.org/officeDocument/2006/relationships/hyperlink" Target="https://doi.org/10.1038/s41467-021-26521-3"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 Id="rId3" Type="http://schemas.openxmlformats.org/officeDocument/2006/relationships/hyperlink" Target="https://doi.org/10.1007/s12264-012-1241-7" TargetMode="External"/><Relationship Id="rId4" Type="http://schemas.openxmlformats.org/officeDocument/2006/relationships/hyperlink" Target="https://doi.org/10.1038/s41467-021-26521-3" TargetMode="Externa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 Id="rId3" Type="http://schemas.openxmlformats.org/officeDocument/2006/relationships/hyperlink" Target="https://doi.org/10.1007/s12264-012-1241-7" TargetMode="External"/><Relationship Id="rId4" Type="http://schemas.openxmlformats.org/officeDocument/2006/relationships/hyperlink" Target="https://doi.org/10.1038/s41467-021-26521-3"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 Id="rId3" Type="http://schemas.openxmlformats.org/officeDocument/2006/relationships/hyperlink" Target="https://doi.org/10.1007/s12264-012-1241-7" TargetMode="External"/><Relationship Id="rId4" Type="http://schemas.openxmlformats.org/officeDocument/2006/relationships/hyperlink" Target="https://doi.org/10.1038/s41467-021-26521-3"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 Id="rId3" Type="http://schemas.openxmlformats.org/officeDocument/2006/relationships/hyperlink" Target="https://doi.org/10.1371/journal.pone.0082497" TargetMode="External"/><Relationship Id="rId4" Type="http://schemas.openxmlformats.org/officeDocument/2006/relationships/hyperlink" Target="https://doi.org/10.1038/s41467-021-26521-3" TargetMode="Externa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 Id="rId3" Type="http://schemas.openxmlformats.org/officeDocument/2006/relationships/hyperlink" Target="https://doi.org/10.1371/journal.pone.0082497" TargetMode="External"/><Relationship Id="rId4" Type="http://schemas.openxmlformats.org/officeDocument/2006/relationships/hyperlink" Target="https://doi.org/10.1038/s41467-021-26521-3" TargetMode="Externa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 Id="rId3" Type="http://schemas.openxmlformats.org/officeDocument/2006/relationships/hyperlink" Target="https://doi.org/10.1371/journal.pone.0082497" TargetMode="External"/><Relationship Id="rId4" Type="http://schemas.openxmlformats.org/officeDocument/2006/relationships/hyperlink" Target="https://doi.org/10.1038/s41467-021-26521-3" TargetMode="Externa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 Id="rId3" Type="http://schemas.openxmlformats.org/officeDocument/2006/relationships/hyperlink" Target="https://doi.org/10.1371/journal.pone.0082497" TargetMode="External"/><Relationship Id="rId4" Type="http://schemas.openxmlformats.org/officeDocument/2006/relationships/hyperlink" Target="https://doi.org/10.1038/s41467-021-26521-3" TargetMode="Externa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 Id="rId3" Type="http://schemas.openxmlformats.org/officeDocument/2006/relationships/hyperlink" Target="https://doi.org/10.7554/elife.03697" TargetMode="Externa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 Id="rId3" Type="http://schemas.openxmlformats.org/officeDocument/2006/relationships/hyperlink" Target="https://doi.org/10.7554/elife.03697" TargetMode="Externa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 Id="rId3" Type="http://schemas.openxmlformats.org/officeDocument/2006/relationships/hyperlink" Target="https://doi.org/10.7554/elife.03697" TargetMode="Externa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 Id="rId3" Type="http://schemas.openxmlformats.org/officeDocument/2006/relationships/hyperlink" Target="https://doi.org/10.7554/elife.03697" TargetMode="Externa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 Id="rId3" Type="http://schemas.openxmlformats.org/officeDocument/2006/relationships/hyperlink" Target="https://doi.org/10.7554/elife.03697" TargetMode="External"/><Relationship Id="rId4" Type="http://schemas.openxmlformats.org/officeDocument/2006/relationships/hyperlink" Target="https://doi.org/10.1038/s41467-021-26521-3" TargetMode="Externa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 Id="rId3" Type="http://schemas.openxmlformats.org/officeDocument/2006/relationships/hyperlink" Target="https://doi.org/10.1126/science.6719123" TargetMode="External"/><Relationship Id="rId4" Type="http://schemas.openxmlformats.org/officeDocument/2006/relationships/hyperlink" Target="https://doi.org/10.7554/elife.03697" TargetMode="Externa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 Id="rId3" Type="http://schemas.openxmlformats.org/officeDocument/2006/relationships/hyperlink" Target="https://doi.org/10.1016/j.jchemneu.2009.07.003" TargetMode="External"/><Relationship Id="rId4" Type="http://schemas.openxmlformats.org/officeDocument/2006/relationships/hyperlink" Target="https://doi.org/10.1523/jneurosci.3585-09.2010" TargetMode="Externa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 Id="rId3" Type="http://schemas.openxmlformats.org/officeDocument/2006/relationships/hyperlink" Target="https://doi.org/10.1073/pnas.92.11.5139" TargetMode="Externa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 Id="rId3" Type="http://schemas.openxmlformats.org/officeDocument/2006/relationships/hyperlink" Target="https://doi.org/10.1073/pnas.92.11.5139" TargetMode="Externa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 Id="rId3" Type="http://schemas.openxmlformats.org/officeDocument/2006/relationships/hyperlink" Target="https://doi.org/10.1523/jneurosci.17-03-01147.1997" TargetMode="External"/><Relationship Id="rId4" Type="http://schemas.openxmlformats.org/officeDocument/2006/relationships/hyperlink" Target="https://doi.org/10.1523/jneurosci.3585-09.2010" TargetMode="Externa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 Id="rId3" Type="http://schemas.openxmlformats.org/officeDocument/2006/relationships/hyperlink" Target="https://doi.org/10.1523/jneurosci.17-03-01147.1997" TargetMode="External"/><Relationship Id="rId4" Type="http://schemas.openxmlformats.org/officeDocument/2006/relationships/hyperlink" Target="https://doi.org/10.1523/jneurosci.3585-09.2010" TargetMode="Externa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 Id="rId3" Type="http://schemas.openxmlformats.org/officeDocument/2006/relationships/hyperlink" Target="https://doi.org/10.1523/jneurosci.17-03-01147.1997" TargetMode="External"/><Relationship Id="rId4" Type="http://schemas.openxmlformats.org/officeDocument/2006/relationships/hyperlink" Target="https://doi.org/10.1523/jneurosci.3585-09.2010" TargetMode="Externa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 Id="rId3" Type="http://schemas.openxmlformats.org/officeDocument/2006/relationships/hyperlink" Target="https://doi.org/10.1523/jneurosci.3585-09.2010" TargetMode="Externa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 Id="rId3" Type="http://schemas.openxmlformats.org/officeDocument/2006/relationships/hyperlink" Target="https://doi.org/10.1523/jneurosci.3585-09.2010" TargetMode="Externa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 Id="rId3" Type="http://schemas.openxmlformats.org/officeDocument/2006/relationships/hyperlink" Target="https://doi.org/10.1002/cne.901650405" TargetMode="External"/><Relationship Id="rId4" Type="http://schemas.openxmlformats.org/officeDocument/2006/relationships/hyperlink" Target="https://doi.org/10.1126/science.6719123" TargetMode="External"/><Relationship Id="rId5" Type="http://schemas.openxmlformats.org/officeDocument/2006/relationships/hyperlink" Target="https://doi.org/10.1002/cne.24437" TargetMode="External"/><Relationship Id="rId6" Type="http://schemas.openxmlformats.org/officeDocument/2006/relationships/hyperlink" Target="https://doi.org/10.7554/elife.03697" TargetMode="External"/><Relationship Id="rId7" Type="http://schemas.openxmlformats.org/officeDocument/2006/relationships/hyperlink" Target="https://doi.org/10.1038/s41467-021-26521-3" TargetMode="External"/><Relationship Id="rId8" Type="http://schemas.openxmlformats.org/officeDocument/2006/relationships/hyperlink" Target="https://doi.org/10.1007/s12264-012-1241-7" TargetMode="External"/><Relationship Id="rId9" Type="http://schemas.openxmlformats.org/officeDocument/2006/relationships/hyperlink" Target="https://doi.org/10.1371/journal.pone.0082497" TargetMode="External"/><Relationship Id="rId10" Type="http://schemas.openxmlformats.org/officeDocument/2006/relationships/hyperlink" Target="https://doi.org/10.1523/jneurosci.17-03-01147.1997" TargetMode="External"/><Relationship Id="rId11" Type="http://schemas.openxmlformats.org/officeDocument/2006/relationships/hyperlink" Target="https://doi.org/10.1523/jneurosci.3585-09.2010" TargetMode="Externa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Vocal communication I: songbird song-system anatomy — HVC–RA–Area X (Nottebohm)</a:t>
            </a:r>
          </a:p>
          <a:p>
            <a:r>
              <a:rPr sz="1200">
                <a:latin typeface="Arial"/>
              </a:rPr>
              <a:t>• Male zebra finches provide an experimentally tractable model of learned vocal motor behavior. Canary lesion experiments established foundational pathways controlling song.</a:t>
            </a:r>
          </a:p>
          <a:p>
            <a:r>
              <a:rPr sz="1200">
                <a:latin typeface="Arial"/>
              </a:rPr>
              <a:t>• The title photograph is credited to Michael Hains, CC BY-NC 4.0. https://www.inaturalist.org/photos/147702462</a:t>
            </a:r>
          </a:p>
          <a:p/>
          <a:p>
            <a:r>
              <a:rPr sz="1200">
                <a:latin typeface="Arial"/>
              </a:rPr>
              <a:t>References:</a:t>
            </a:r>
          </a:p>
          <a:p>
            <a:r>
              <a:rPr sz="1200">
                <a:latin typeface="Arial"/>
              </a:rPr>
              <a:t>Nottebohm F, Stokes TM, Leonard CM (1976). Central control of song in the canary, Serinus canarius. Journal of Comparative Neurology 165(4):457-486. </a:t>
            </a:r>
            <a:r>
              <a:rPr sz="1200">
                <a:latin typeface="Arial"/>
                <a:hlinkClick r:id="rId3"/>
              </a:rPr>
              <a:t>https://doi.org/10.1002/cne.901650405</a:t>
            </a:r>
          </a:p>
          <a:p>
            <a:r>
              <a:rPr sz="1200">
                <a:latin typeface="Arial"/>
              </a:rPr>
              <a:t>Bottjer SW, Miesner EA, Arnold AP (1984). Forebrain Lesions Disrupt Development But Not Maintenance of Song in Passerine Birds. Science 224(4651):901-903. </a:t>
            </a:r>
            <a:r>
              <a:rPr sz="1200">
                <a:latin typeface="Arial"/>
                <a:hlinkClick r:id="rId4"/>
              </a:rPr>
              <a:t>https://doi.org/10.1126/science.6719123</a:t>
            </a:r>
          </a:p>
          <a:p>
            <a:r>
              <a:rPr sz="1200">
                <a:latin typeface="Arial"/>
              </a:rPr>
              <a:t>Benezra SE, Narayanan RT, Egger R, Oberlaender M, Long MA (2018). Morphological characterization of HVC projection neurons in the zebra finch (Taeniopygia guttata). Journal of Comparative Neurology 526(10):1673-1689. </a:t>
            </a:r>
            <a:r>
              <a:rPr sz="1200">
                <a:latin typeface="Arial"/>
                <a:hlinkClick r:id="rId5"/>
              </a:rPr>
              <a:t>https://doi.org/10.1002/cne.24437</a:t>
            </a:r>
          </a:p>
          <a:p>
            <a:r>
              <a:rPr sz="1200">
                <a:latin typeface="Arial"/>
              </a:rPr>
              <a:t>Doupe AJ (1997). Song- and Order-Selective Neurons in the Songbird Anterior Forebrain and their Emergence during Vocal Development. The Journal of Neuroscience 17(3):1147-1167. </a:t>
            </a:r>
            <a:r>
              <a:rPr sz="1200">
                <a:latin typeface="Arial"/>
                <a:hlinkClick r:id="rId6"/>
              </a:rPr>
              <a:t>https://doi.org/10.1523/jneurosci.17-03-01147.1997</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Song consists of coordinated vocal elements whose frequency and timing can be measured with a spectrogram, a display of acoustic energy across time and frequency. Nottebohm and colleagues recorded adult male canaries before brain surgery, establishing each bird's own repertoire as the behavioral baseline.</a:t>
            </a:r>
          </a:p>
          <a:p>
            <a:r>
              <a:rPr sz="1200">
                <a:latin typeface="Arial"/>
              </a:rPr>
              <a:t>• They compared postoperative vocalizations with those recordings rather than treating all changes in singing as equivalent. Damage could reduce the number of available syllables, disturb their acoustic structure, or disrupt the organization of phrases while leaving vocal output possible.</a:t>
            </a:r>
          </a:p>
          <a:p>
            <a:r>
              <a:rPr sz="1200">
                <a:latin typeface="Arial"/>
              </a:rPr>
              <a:t>• A bird that still vocalizes can therefore have a severe song-control deficit. These experiments localized components of an established motor behavior; adult lesions alone did not identify where a juvenile stores or learns a tutor's song.</a:t>
            </a:r>
          </a:p>
          <a:p/>
          <a:p>
            <a:r>
              <a:rPr sz="1200">
                <a:latin typeface="Arial"/>
              </a:rPr>
              <a:t>References:</a:t>
            </a:r>
          </a:p>
          <a:p>
            <a:r>
              <a:rPr sz="1200">
                <a:latin typeface="Arial"/>
              </a:rPr>
              <a:t>Nottebohm F, Stokes TM, Leonard CM (1976). Central control of song in the canary, Serinus canarius. Journal of Comparative Neurology 165(4):457-486. </a:t>
            </a:r>
            <a:r>
              <a:rPr sz="1200">
                <a:latin typeface="Arial"/>
                <a:hlinkClick r:id="rId3"/>
              </a:rPr>
              <a:t>https://doi.org/10.1002/cne.901650405</a:t>
            </a:r>
          </a:p>
          <a:p/>
          <a:p>
            <a:r>
              <a:rPr sz="1200">
                <a:latin typeface="Arial"/>
              </a:rPr>
              <a:t>Figure: Nottebohm et al. (1976), Fig. 13. Canary song before and after a forebrain lesion.</a:t>
            </a:r>
          </a:p>
          <a:p>
            <a:r>
              <a:rPr sz="1200">
                <a:latin typeface="Arial"/>
              </a:rPr>
              <a:t>Figure source: </a:t>
            </a:r>
            <a:r>
              <a:rPr sz="1200">
                <a:latin typeface="Arial"/>
                <a:hlinkClick r:id="rId3"/>
              </a:rPr>
              <a:t>https://doi.org/10.1002/cne.901650405</a:t>
            </a:r>
          </a:p>
          <a:p/>
          <a:p>
            <a:r>
              <a:rPr sz="1200">
                <a:latin typeface="Arial"/>
              </a:rPr>
              <a:t>Figure: Nottebohm et al. (1976), Fig. 11. Lesion locations associated with song disruption.</a:t>
            </a:r>
          </a:p>
          <a:p>
            <a:r>
              <a:rPr sz="1200">
                <a:latin typeface="Arial"/>
              </a:rPr>
              <a:t>Figure source: </a:t>
            </a:r>
            <a:r>
              <a:rPr sz="1200">
                <a:latin typeface="Arial"/>
                <a:hlinkClick r:id="rId3"/>
              </a:rPr>
              <a:t>https://doi.org/10.1002/cne.901650405</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 lesion is damage to tissue used to test whether a region contributes to a behavior. Nottebohm and colleagues made unilateral electrolytic lesions in adult male canaries and reconstructed their positions histologically after repeated postoperative song recordings.</a:t>
            </a:r>
          </a:p>
          <a:p>
            <a:r>
              <a:rPr sz="1200">
                <a:latin typeface="Arial"/>
              </a:rPr>
              <a:t>• Lesions involving HVC or the robust nucleus of the arcopallium, RA, severely altered song organization, whereas several lesions outside the implicated pathway had little or no effect. Comparing effective and ineffective lesion sites constrained the anatomical interpretation beyond a simple surgery-versus-no-surgery comparison.</a:t>
            </a:r>
          </a:p>
          <a:p>
            <a:r>
              <a:rPr sz="1200">
                <a:latin typeface="Arial"/>
              </a:rPr>
              <a:t>• Electrolytic current can damage both local neurons and passing axons. The results establish that these restricted forebrain territories are necessary for normal adult song, but do not isolate a particular cell type or prove that every nucleus performs the same computation.</a:t>
            </a:r>
          </a:p>
          <a:p/>
          <a:p>
            <a:r>
              <a:rPr sz="1200">
                <a:latin typeface="Arial"/>
              </a:rPr>
              <a:t>References:</a:t>
            </a:r>
          </a:p>
          <a:p>
            <a:r>
              <a:rPr sz="1200">
                <a:latin typeface="Arial"/>
              </a:rPr>
              <a:t>Nottebohm F, Stokes TM, Leonard CM (1976). Central control of song in the canary, Serinus canarius. Journal of Comparative Neurology 165(4):457-486. </a:t>
            </a:r>
            <a:r>
              <a:rPr sz="1200">
                <a:latin typeface="Arial"/>
                <a:hlinkClick r:id="rId3"/>
              </a:rPr>
              <a:t>https://doi.org/10.1002/cne.901650405</a:t>
            </a:r>
          </a:p>
          <a:p/>
          <a:p>
            <a:r>
              <a:rPr sz="1200">
                <a:latin typeface="Arial"/>
              </a:rPr>
              <a:t>Figure: Nottebohm et al. (1976), Fig. 11. Lesion locations associated with song disruption.</a:t>
            </a:r>
          </a:p>
          <a:p>
            <a:r>
              <a:rPr sz="1200">
                <a:latin typeface="Arial"/>
              </a:rPr>
              <a:t>Figure source: </a:t>
            </a:r>
            <a:r>
              <a:rPr sz="1200">
                <a:latin typeface="Arial"/>
                <a:hlinkClick r:id="rId3"/>
              </a:rPr>
              <a:t>https://doi.org/10.1002/cne.901650405</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An axon carries signals away from a neuron; a projection is an axonal connection between regions. A synapse is a junction through which a neuron influences another cell. Nottebohm and colleagues combined behavioral lesions with Fink–Heimer staining, a method that reveals degenerating fibers and terminals downstream of damaged neurons.</a:t>
            </a:r>
          </a:p>
          <a:p>
            <a:r>
              <a:rPr sz="1200">
                <a:latin typeface="Arial"/>
              </a:rPr>
              <a:t>• Degeneration linked the region historically called HVc to RA and connected RA with descending pathways toward vocal motor structures. Comparing the locations of lesions with the distributions of degeneration supplied anatomical evidence independent of the acoustic changes in song.</a:t>
            </a:r>
          </a:p>
          <a:p>
            <a:r>
              <a:rPr sz="1200">
                <a:latin typeface="Arial"/>
              </a:rPr>
              <a:t>• The historical names in the original article differ from current avian terminology: HVC is now used as a proper name, and RA lies in the arcopallium. Degeneration tracing establishes a pathway's anatomical direction, but does not measure its transmitter, synaptic sign, or activity during singing.</a:t>
            </a:r>
          </a:p>
          <a:p/>
          <a:p>
            <a:r>
              <a:rPr sz="1200">
                <a:latin typeface="Arial"/>
              </a:rPr>
              <a:t>References:</a:t>
            </a:r>
          </a:p>
          <a:p>
            <a:r>
              <a:rPr sz="1200">
                <a:latin typeface="Arial"/>
              </a:rPr>
              <a:t>Nottebohm F, Stokes TM, Leonard CM (1976). Central control of song in the canary, Serinus canarius. Journal of Comparative Neurology 165(4):457-486. </a:t>
            </a:r>
            <a:r>
              <a:rPr sz="1200">
                <a:latin typeface="Arial"/>
                <a:hlinkClick r:id="rId3"/>
              </a:rPr>
              <a:t>https://doi.org/10.1002/cne.901650405</a:t>
            </a:r>
          </a:p>
          <a:p>
            <a:r>
              <a:rPr sz="1200">
                <a:latin typeface="Arial"/>
              </a:rPr>
              <a:t>Benezra SE, Narayanan RT, Egger R, Oberlaender M, Long MA (2018). Morphological characterization of HVC projection neurons in the zebra finch (Taeniopygia guttata). Journal of Comparative Neurology 526(10):1673-1689. </a:t>
            </a:r>
            <a:r>
              <a:rPr sz="1200">
                <a:latin typeface="Arial"/>
                <a:hlinkClick r:id="rId4"/>
              </a:rPr>
              <a:t>https://doi.org/10.1002/cne.24437</a:t>
            </a:r>
          </a:p>
          <a:p/>
          <a:p>
            <a:r>
              <a:rPr sz="1200">
                <a:latin typeface="Arial"/>
              </a:rPr>
              <a:t>Figure: Nottebohm et al. (1976), Fig. 7(a–d). Degeneration staining in the canary song pathway.</a:t>
            </a:r>
          </a:p>
          <a:p>
            <a:r>
              <a:rPr sz="1200">
                <a:latin typeface="Arial"/>
              </a:rPr>
              <a:t>Figure source: </a:t>
            </a:r>
            <a:r>
              <a:rPr sz="1200">
                <a:latin typeface="Arial"/>
                <a:hlinkClick r:id="rId3"/>
              </a:rPr>
              <a:t>https://doi.org/10.1002/cne.901650405</a:t>
            </a:r>
          </a:p>
          <a:p/>
          <a:p>
            <a:r>
              <a:rPr sz="1200">
                <a:latin typeface="Arial"/>
              </a:rPr>
              <a:t>Figure: Benezra et al. (2018), Fig. 2(a–f). Identified RA- and X-projecting HVC neurons.</a:t>
            </a:r>
          </a:p>
          <a:p>
            <a:r>
              <a:rPr sz="1200">
                <a:latin typeface="Arial"/>
              </a:rPr>
              <a:t>Figure source: </a:t>
            </a:r>
            <a:r>
              <a:rPr sz="1200">
                <a:latin typeface="Arial"/>
                <a:hlinkClick r:id="rId4"/>
              </a:rPr>
              <a:t>https://doi.org/10.1002/cne.24437</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 projection neuron sends an axon outside its local region. Benezra and colleagues distinguished HVC neurons projecting to RA, designated HVC(RA), from neurons projecting to Area X, a song-related basal ganglia region involved in action control, designated HVC(X).</a:t>
            </a:r>
          </a:p>
          <a:p>
            <a:r>
              <a:rPr sz="1200">
                <a:latin typeface="Arial"/>
              </a:rPr>
              <a:t>• They labeled individual cells in adult male zebra finches and reconstructed their dendrites and axons in three dimensions. The analysis retained the target identity of each filled neuron rather than pooling every HVC cell into a single morphological population.</a:t>
            </a:r>
          </a:p>
          <a:p>
            <a:r>
              <a:rPr sz="1200">
                <a:latin typeface="Arial"/>
              </a:rPr>
              <a:t>• HVC(RA) and HVC(X) neurons differed in their dendritic and local axonal organization, although target identity did not perfectly predict every anatomical feature. Separate output classes allow HVC to influence vocal execution and the anterior forebrain pathway; morphology alone does not reveal the precise signals transmitted along either branch.</a:t>
            </a:r>
          </a:p>
          <a:p/>
          <a:p>
            <a:r>
              <a:rPr sz="1200">
                <a:latin typeface="Arial"/>
              </a:rPr>
              <a:t>References:</a:t>
            </a:r>
          </a:p>
          <a:p>
            <a:r>
              <a:rPr sz="1200">
                <a:latin typeface="Arial"/>
              </a:rPr>
              <a:t>Benezra SE, Narayanan RT, Egger R, Oberlaender M, Long MA (2018). Morphological characterization of HVC projection neurons in the zebra finch (Taeniopygia guttata). Journal of Comparative Neurology 526(10):1673-1689. </a:t>
            </a:r>
            <a:r>
              <a:rPr sz="1200">
                <a:latin typeface="Arial"/>
                <a:hlinkClick r:id="rId3"/>
              </a:rPr>
              <a:t>https://doi.org/10.1002/cne.24437</a:t>
            </a:r>
          </a:p>
          <a:p/>
          <a:p>
            <a:r>
              <a:rPr sz="1200">
                <a:latin typeface="Arial"/>
              </a:rPr>
              <a:t>Figure: Benezra et al. (2018), Fig. 2(a–f). Identified RA- and X-projecting HVC neurons.</a:t>
            </a:r>
          </a:p>
          <a:p>
            <a:r>
              <a:rPr sz="1200">
                <a:latin typeface="Arial"/>
              </a:rPr>
              <a:t>Figure source: </a:t>
            </a:r>
            <a:r>
              <a:rPr sz="1200">
                <a:latin typeface="Arial"/>
                <a:hlinkClick r:id="rId3"/>
              </a:rPr>
              <a:t>https://doi.org/10.1002/cne.24437</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Two-photon microscopy uses nonlinear excitation to resolve fluorescent structures within tissue. Benezra and colleagues combined retrograde labeling from an HVC output target with visually guided recordings and intracellular filling, connecting a neuron's projection identity with its later anatomical reconstruction.</a:t>
            </a:r>
          </a:p>
          <a:p>
            <a:r>
              <a:rPr sz="1200">
                <a:latin typeface="Arial"/>
              </a:rPr>
              <a:t>• A fluorescently filled neuron was processed histologically so that its dendrites and axonal branches could be traced across sections. This approach resolved single-cell structure that would be obscured if many neighboring neurons were labeled together.</a:t>
            </a:r>
          </a:p>
          <a:p>
            <a:r>
              <a:rPr sz="1200">
                <a:latin typeface="Arial"/>
              </a:rPr>
              <a:t>• Targeted filling provides a bridge between an identified neuron and its complete local arbor. However, incomplete filling, section boundaries, and finite optical resolution can hide fine processes; the resulting anatomical map is not a direct measurement of every functional synapse.</a:t>
            </a:r>
          </a:p>
          <a:p/>
          <a:p>
            <a:r>
              <a:rPr sz="1200">
                <a:latin typeface="Arial"/>
              </a:rPr>
              <a:t>References:</a:t>
            </a:r>
          </a:p>
          <a:p>
            <a:r>
              <a:rPr sz="1200">
                <a:latin typeface="Arial"/>
              </a:rPr>
              <a:t>Benezra SE, Narayanan RT, Egger R, Oberlaender M, Long MA (2018). Morphological characterization of HVC projection neurons in the zebra finch (Taeniopygia guttata). Journal of Comparative Neurology 526(10):1673-1689. </a:t>
            </a:r>
            <a:r>
              <a:rPr sz="1200">
                <a:latin typeface="Arial"/>
                <a:hlinkClick r:id="rId3"/>
              </a:rPr>
              <a:t>https://doi.org/10.1002/cne.24437</a:t>
            </a:r>
          </a:p>
          <a:p/>
          <a:p>
            <a:r>
              <a:rPr sz="1200">
                <a:latin typeface="Arial"/>
              </a:rPr>
              <a:t>Figure: Benezra et al. (2018), Fig. 1(a–f). Targeted labeling and single-cell filling in HVC.</a:t>
            </a:r>
          </a:p>
          <a:p>
            <a:r>
              <a:rPr sz="1200">
                <a:latin typeface="Arial"/>
              </a:rPr>
              <a:t>Figure source: </a:t>
            </a:r>
            <a:r>
              <a:rPr sz="1200">
                <a:latin typeface="Arial"/>
                <a:hlinkClick r:id="rId3"/>
              </a:rPr>
              <a:t>https://doi.org/10.1002/cne.24437</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 dendrite is a neuronal process that receives synaptic input. Benezra and colleagues compared reconstructed dendritic trees of HVC(RA) and HVC(X) neurons after registering their positions within HVC, allowing cell types to be compared in a common anatomical frame.</a:t>
            </a:r>
          </a:p>
          <a:p>
            <a:r>
              <a:rPr sz="1200">
                <a:latin typeface="Arial"/>
              </a:rPr>
              <a:t>• Most RA-projecting cells had relatively restricted dendritic territories, whereas X-projecting cells occupied larger territories. Displaying individual reconstructions preserved variation within each class rather than replacing the cells with an idealized average neuron.</a:t>
            </a:r>
          </a:p>
          <a:p>
            <a:r>
              <a:rPr sz="1200">
                <a:latin typeface="Arial"/>
              </a:rPr>
              <a:t>• A broader dendritic field creates access to a different spatial distribution of potential inputs, but proximity is not equivalent to connectivity. The study measured anatomy, not the identities, strengths, or timing of all inputs contacting each dendritic branch during natural song.</a:t>
            </a:r>
          </a:p>
          <a:p/>
          <a:p>
            <a:r>
              <a:rPr sz="1200">
                <a:latin typeface="Arial"/>
              </a:rPr>
              <a:t>References:</a:t>
            </a:r>
          </a:p>
          <a:p>
            <a:r>
              <a:rPr sz="1200">
                <a:latin typeface="Arial"/>
              </a:rPr>
              <a:t>Benezra SE, Narayanan RT, Egger R, Oberlaender M, Long MA (2018). Morphological characterization of HVC projection neurons in the zebra finch (Taeniopygia guttata). Journal of Comparative Neurology 526(10):1673-1689. </a:t>
            </a:r>
            <a:r>
              <a:rPr sz="1200">
                <a:latin typeface="Arial"/>
                <a:hlinkClick r:id="rId3"/>
              </a:rPr>
              <a:t>https://doi.org/10.1002/cne.24437</a:t>
            </a:r>
          </a:p>
          <a:p/>
          <a:p>
            <a:r>
              <a:rPr sz="1200">
                <a:latin typeface="Arial"/>
              </a:rPr>
              <a:t>Figure: Benezra et al. (2018), Fig. 3. Dendritic arbors grouped by projection target.</a:t>
            </a:r>
          </a:p>
          <a:p>
            <a:r>
              <a:rPr sz="1200">
                <a:latin typeface="Arial"/>
              </a:rPr>
              <a:t>Figure source: </a:t>
            </a:r>
            <a:r>
              <a:rPr sz="1200">
                <a:latin typeface="Arial"/>
                <a:hlinkClick r:id="rId3"/>
              </a:rPr>
              <a:t>https://doi.org/10.1002/cne.24437</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Benezra and colleagues quantified dendritic length along three spatial axes and the total path length of reconstructed HVC neurons. Centering these measurements on each cell body separated dendritic extent from the neuron's absolute position within the nucleus.</a:t>
            </a:r>
          </a:p>
          <a:p>
            <a:r>
              <a:rPr sz="1200">
                <a:latin typeface="Arial"/>
              </a:rPr>
              <a:t>• RA-projecting neurons generally formed a smaller-dendrite group, whereas X-projecting neurons formed a larger-dendrite group. The distributions nevertheless included exceptions, and cells with branches to both targets did not constitute a single uniform size class.</a:t>
            </a:r>
          </a:p>
          <a:p>
            <a:r>
              <a:rPr sz="1200">
                <a:latin typeface="Arial"/>
              </a:rPr>
              <a:t>• These measurements constrain the spatial integration available to each projection population. They do not justify assigning every small neuron a motor function or every large neuron a learning function without identifying its actual axonal target; anatomical classes overlap in some features even when their average organization differs.</a:t>
            </a:r>
          </a:p>
          <a:p/>
          <a:p>
            <a:r>
              <a:rPr sz="1200">
                <a:latin typeface="Arial"/>
              </a:rPr>
              <a:t>References:</a:t>
            </a:r>
          </a:p>
          <a:p>
            <a:r>
              <a:rPr sz="1200">
                <a:latin typeface="Arial"/>
              </a:rPr>
              <a:t>Benezra SE, Narayanan RT, Egger R, Oberlaender M, Long MA (2018). Morphological characterization of HVC projection neurons in the zebra finch (Taeniopygia guttata). Journal of Comparative Neurology 526(10):1673-1689. </a:t>
            </a:r>
            <a:r>
              <a:rPr sz="1200">
                <a:latin typeface="Arial"/>
                <a:hlinkClick r:id="rId3"/>
              </a:rPr>
              <a:t>https://doi.org/10.1002/cne.24437</a:t>
            </a:r>
          </a:p>
          <a:p/>
          <a:p>
            <a:r>
              <a:rPr sz="1200">
                <a:latin typeface="Arial"/>
              </a:rPr>
              <a:t>Figure: Benezra et al. (2018), Fig. 4(a–d). Spatial distribution and size of HVC dendrites.</a:t>
            </a:r>
          </a:p>
          <a:p>
            <a:r>
              <a:rPr sz="1200">
                <a:latin typeface="Arial"/>
              </a:rPr>
              <a:t>Figure source: </a:t>
            </a:r>
            <a:r>
              <a:rPr sz="1200">
                <a:latin typeface="Arial"/>
                <a:hlinkClick r:id="rId3"/>
              </a:rPr>
              <a:t>https://doi.org/10.1002/cne.24437</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An axon collateral is a branch of an axon, and a bouton is a swelling associated with a potential presynaptic terminal. Benezra and colleagues counted boutons along reconstructed local collateral branches of HVC(RA) and HVC(X) neurons.</a:t>
            </a:r>
          </a:p>
          <a:p>
            <a:r>
              <a:rPr sz="1200">
                <a:latin typeface="Arial"/>
              </a:rPr>
              <a:t>• Both projection classes carried abundant boutons within HVC, with broadly similar bouton densities. Their reconstruction-based estimate was about 400 local boutons per HVC(RA) neuron. The labeled micrographs preserve a 5 µm scale bar, making the spatial separation of adjacent swellings explicit rather than implying that a whole branch acts as one output site.</a:t>
            </a:r>
          </a:p>
          <a:p>
            <a:r>
              <a:rPr sz="1200">
                <a:latin typeface="Arial"/>
              </a:rPr>
              <a:t>• Long-range projection neurons can therefore contribute to local HVC communication as well as sending signals downstream. Light-microscopic boutons are anatomical candidates for synapses; their presence does not identify the postsynaptic cell or establish the strength and sign of a particular connection.</a:t>
            </a:r>
          </a:p>
          <a:p/>
          <a:p>
            <a:r>
              <a:rPr sz="1200">
                <a:latin typeface="Arial"/>
              </a:rPr>
              <a:t>References:</a:t>
            </a:r>
          </a:p>
          <a:p>
            <a:r>
              <a:rPr sz="1200">
                <a:latin typeface="Arial"/>
              </a:rPr>
              <a:t>Benezra SE, Narayanan RT, Egger R, Oberlaender M, Long MA (2018). Morphological characterization of HVC projection neurons in the zebra finch (Taeniopygia guttata). Journal of Comparative Neurology 526(10):1673-1689. </a:t>
            </a:r>
            <a:r>
              <a:rPr sz="1200">
                <a:latin typeface="Arial"/>
                <a:hlinkClick r:id="rId3"/>
              </a:rPr>
              <a:t>https://doi.org/10.1002/cne.24437</a:t>
            </a:r>
          </a:p>
          <a:p/>
          <a:p>
            <a:r>
              <a:rPr sz="1200">
                <a:latin typeface="Arial"/>
              </a:rPr>
              <a:t>Figure: Benezra et al. (2018), Fig. 5(a–d). Axonal boutons and their spatial density.</a:t>
            </a:r>
          </a:p>
          <a:p>
            <a:r>
              <a:rPr sz="1200">
                <a:latin typeface="Arial"/>
              </a:rPr>
              <a:t>Figure source: </a:t>
            </a:r>
            <a:r>
              <a:rPr sz="1200">
                <a:latin typeface="Arial"/>
                <a:hlinkClick r:id="rId3"/>
              </a:rPr>
              <a:t>https://doi.org/10.1002/cne.24437</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Benezra and colleagues reconstructed the dendrites and axonal collaterals of individual HVC(RA) neurons within the boundary of HVC. The descending axon identified the cell's long-range destination, while its local branches provided a separate measure of intranuclear output.</a:t>
            </a:r>
          </a:p>
          <a:p>
            <a:r>
              <a:rPr sz="1200">
                <a:latin typeface="Arial"/>
              </a:rPr>
              <a:t>• Some cells confined most local axonal branches near the cell body, whereas others distributed branches across a broader portion of HVC. This variation remained visible within the RA-projecting population rather than being explained solely by differences between projection targets.</a:t>
            </a:r>
          </a:p>
          <a:p>
            <a:r>
              <a:rPr sz="1200">
                <a:latin typeface="Arial"/>
              </a:rPr>
              <a:t>• Local output makes a strictly feedforward description of HVC incomplete: an RA-projecting neuron can participate in HVC interactions before its axon reaches RA. The reconstruction does not determine whether the cell contacts another projection neuron, an inhibitory interneuron, or both.</a:t>
            </a:r>
          </a:p>
          <a:p/>
          <a:p>
            <a:r>
              <a:rPr sz="1200">
                <a:latin typeface="Arial"/>
              </a:rPr>
              <a:t>References:</a:t>
            </a:r>
          </a:p>
          <a:p>
            <a:r>
              <a:rPr sz="1200">
                <a:latin typeface="Arial"/>
              </a:rPr>
              <a:t>Benezra SE, Narayanan RT, Egger R, Oberlaender M, Long MA (2018). Morphological characterization of HVC projection neurons in the zebra finch (Taeniopygia guttata). Journal of Comparative Neurology 526(10):1673-1689. </a:t>
            </a:r>
            <a:r>
              <a:rPr sz="1200">
                <a:latin typeface="Arial"/>
                <a:hlinkClick r:id="rId3"/>
              </a:rPr>
              <a:t>https://doi.org/10.1002/cne.24437</a:t>
            </a:r>
          </a:p>
          <a:p/>
          <a:p>
            <a:r>
              <a:rPr sz="1200">
                <a:latin typeface="Arial"/>
              </a:rPr>
              <a:t>Figure: Benezra et al. (2018), Fig. 6. Local axons of RA-projecting HVC neurons.</a:t>
            </a:r>
          </a:p>
          <a:p>
            <a:r>
              <a:rPr sz="1200">
                <a:latin typeface="Arial"/>
              </a:rPr>
              <a:t>Figure source: </a:t>
            </a:r>
            <a:r>
              <a:rPr sz="1200">
                <a:latin typeface="Arial"/>
                <a:hlinkClick r:id="rId3"/>
              </a:rPr>
              <a:t>https://doi.org/10.1002/cne.24437</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Area X receives an HVC projection distinct from the direct HVC-to-RA motor pathway. Benezra and colleagues reconstructed HVC(X) neurons with their local axons, dendrites, and descending projection identified in the same preparation.</a:t>
            </a:r>
          </a:p>
          <a:p>
            <a:r>
              <a:rPr sz="1200">
                <a:latin typeface="Arial"/>
              </a:rPr>
              <a:t>• Their local branches varied from restricted arbors to broad distributions within HVC. The authors compared these distributions with RA-projecting cells in a shared reference frame, revealing organization that would be lost in a drawing of one generic HVC-to-X connection.</a:t>
            </a:r>
          </a:p>
          <a:p>
            <a:r>
              <a:rPr sz="1200">
                <a:latin typeface="Arial"/>
              </a:rPr>
              <a:t>• An HVC(X) neuron can consequently influence both the local HVC network and a distant basal ganglia region. The anatomical data support multiple routes for distributing activity, but do not establish whether particular local branches carry a timing signal, an auditory signal, or a mixture during behavior.</a:t>
            </a:r>
          </a:p>
          <a:p/>
          <a:p>
            <a:r>
              <a:rPr sz="1200">
                <a:latin typeface="Arial"/>
              </a:rPr>
              <a:t>References:</a:t>
            </a:r>
          </a:p>
          <a:p>
            <a:r>
              <a:rPr sz="1200">
                <a:latin typeface="Arial"/>
              </a:rPr>
              <a:t>Benezra SE, Narayanan RT, Egger R, Oberlaender M, Long MA (2018). Morphological characterization of HVC projection neurons in the zebra finch (Taeniopygia guttata). Journal of Comparative Neurology 526(10):1673-1689. </a:t>
            </a:r>
            <a:r>
              <a:rPr sz="1200">
                <a:latin typeface="Arial"/>
                <a:hlinkClick r:id="rId3"/>
              </a:rPr>
              <a:t>https://doi.org/10.1002/cne.24437</a:t>
            </a:r>
          </a:p>
          <a:p/>
          <a:p>
            <a:r>
              <a:rPr sz="1200">
                <a:latin typeface="Arial"/>
              </a:rPr>
              <a:t>Figure: Benezra et al. (2018), Fig. 7. Local axons of X-projecting HVC neurons.</a:t>
            </a:r>
          </a:p>
          <a:p>
            <a:r>
              <a:rPr sz="1200">
                <a:latin typeface="Arial"/>
              </a:rPr>
              <a:t>Figure source: </a:t>
            </a:r>
            <a:r>
              <a:rPr sz="1200">
                <a:latin typeface="Arial"/>
                <a:hlinkClick r:id="rId3"/>
              </a:rPr>
              <a:t>https://doi.org/10.1002/cne.24437</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Benezra and colleagues identified HVC neurons with axonal projections toward both RA and Area X. These HVC(RA/X) cells challenge an absolute rule that all long-range HVC outputs belong to two completely separate populations.</a:t>
            </a:r>
          </a:p>
          <a:p>
            <a:r>
              <a:rPr sz="1200">
                <a:latin typeface="Arial"/>
              </a:rPr>
              <a:t>• The reconstructed dual-projecting cells differed from one another in dendritic organization. The authors retained them as individually identified cells rather than forcing them into a single stereotyped anatomical class defined only by their shared target combination.</a:t>
            </a:r>
          </a:p>
          <a:p>
            <a:r>
              <a:rPr sz="1200">
                <a:latin typeface="Arial"/>
              </a:rPr>
              <a:t>• Dual projections provide a possible anatomical route for distributing related activity to motor and anterior forebrain pathways. Their existence does not establish how common such cells are throughout HVC, whether both branches transmit identical information, or whether they are necessary for coordinating the two pathways during singing.</a:t>
            </a:r>
          </a:p>
          <a:p/>
          <a:p>
            <a:r>
              <a:rPr sz="1200">
                <a:latin typeface="Arial"/>
              </a:rPr>
              <a:t>References:</a:t>
            </a:r>
          </a:p>
          <a:p>
            <a:r>
              <a:rPr sz="1200">
                <a:latin typeface="Arial"/>
              </a:rPr>
              <a:t>Benezra SE, Narayanan RT, Egger R, Oberlaender M, Long MA (2018). Morphological characterization of HVC projection neurons in the zebra finch (Taeniopygia guttata). Journal of Comparative Neurology 526(10):1673-1689. </a:t>
            </a:r>
            <a:r>
              <a:rPr sz="1200">
                <a:latin typeface="Arial"/>
                <a:hlinkClick r:id="rId3"/>
              </a:rPr>
              <a:t>https://doi.org/10.1002/cne.24437</a:t>
            </a:r>
          </a:p>
          <a:p/>
          <a:p>
            <a:r>
              <a:rPr sz="1200">
                <a:latin typeface="Arial"/>
              </a:rPr>
              <a:t>Figure: Benezra et al. (2018), Fig. 8. Two dual-projecting HVC neurons.</a:t>
            </a:r>
          </a:p>
          <a:p>
            <a:r>
              <a:rPr sz="1200">
                <a:latin typeface="Arial"/>
              </a:rPr>
              <a:t>Figure source: </a:t>
            </a:r>
            <a:r>
              <a:rPr sz="1200">
                <a:latin typeface="Arial"/>
                <a:hlinkClick r:id="rId3"/>
              </a:rPr>
              <a:t>https://doi.org/10.1002/cne.24437</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The HVC shelf is tissue bordering HVC that is distinguished from the nucleus itself. Benezra and colleagues observed dendrites and axonal collaterals of an identified HVC(X) neuron extending beyond the conventional HVC boundary into this surrounding region.</a:t>
            </a:r>
          </a:p>
          <a:p>
            <a:r>
              <a:rPr sz="1200">
                <a:latin typeface="Arial"/>
              </a:rPr>
              <a:t>• Fluorescent and brightfield images were combined with reconstruction of the labeled processes. The original panels retain scale bars of 100 µm for the wider field and 25 µm and 5 µm for the detailed views, separating nuclear-scale anatomy from fine branches.</a:t>
            </a:r>
          </a:p>
          <a:p>
            <a:r>
              <a:rPr sz="1200">
                <a:latin typeface="Arial"/>
              </a:rPr>
              <a:t>• A histological boundary is therefore not necessarily a complete boundary for a neuron's connections. These processes provide anatomical access to adjacent tissue, but the study did not establish the sensory responses of their partners or prove a specific information flow between shelf and HVC.</a:t>
            </a:r>
          </a:p>
          <a:p/>
          <a:p>
            <a:r>
              <a:rPr sz="1200">
                <a:latin typeface="Arial"/>
              </a:rPr>
              <a:t>References:</a:t>
            </a:r>
          </a:p>
          <a:p>
            <a:r>
              <a:rPr sz="1200">
                <a:latin typeface="Arial"/>
              </a:rPr>
              <a:t>Benezra SE, Narayanan RT, Egger R, Oberlaender M, Long MA (2018). Morphological characterization of HVC projection neurons in the zebra finch (Taeniopygia guttata). Journal of Comparative Neurology 526(10):1673-1689. </a:t>
            </a:r>
            <a:r>
              <a:rPr sz="1200">
                <a:latin typeface="Arial"/>
                <a:hlinkClick r:id="rId3"/>
              </a:rPr>
              <a:t>https://doi.org/10.1002/cne.24437</a:t>
            </a:r>
          </a:p>
          <a:p/>
          <a:p>
            <a:r>
              <a:rPr sz="1200">
                <a:latin typeface="Arial"/>
              </a:rPr>
              <a:t>Figure: Benezra et al. (2018), Fig. 9(a–c). Processes extending from HVC into the shelf.</a:t>
            </a:r>
          </a:p>
          <a:p>
            <a:r>
              <a:rPr sz="1200">
                <a:latin typeface="Arial"/>
              </a:rPr>
              <a:t>Figure source: </a:t>
            </a:r>
            <a:r>
              <a:rPr sz="1200">
                <a:latin typeface="Arial"/>
                <a:hlinkClick r:id="rId3"/>
              </a:rPr>
              <a:t>https://doi.org/10.1002/cne.24437</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 broadcast arbor distributes axonal branches across a relatively broad volume, whereas a local arbor remains more spatially restricted. Benezra and colleagues quantified HVC axonal extent and the proportion of the nucleus occupied by each reconstructed neuron.</a:t>
            </a:r>
          </a:p>
          <a:p>
            <a:r>
              <a:rPr sz="1200">
                <a:latin typeface="Arial"/>
              </a:rPr>
              <a:t>• Both RA-projecting and X-projecting populations contained cells with different local output territories. Quantifying axonal distribution separately from dendritic distribution prevented a large input field from being treated automatically as a large output field.</a:t>
            </a:r>
          </a:p>
          <a:p>
            <a:r>
              <a:rPr sz="1200">
                <a:latin typeface="Arial"/>
              </a:rPr>
              <a:t>• These anatomical differences constrain how activity might spread through the HVC network. The local-versus-broadcast distinction is a description of reconstructed geometry, not a demonstrated classification of neuronal function; identifying the actual partners and recording their responses would be necessary to establish the circuit consequences.</a:t>
            </a:r>
          </a:p>
          <a:p/>
          <a:p>
            <a:r>
              <a:rPr sz="1200">
                <a:latin typeface="Arial"/>
              </a:rPr>
              <a:t>References:</a:t>
            </a:r>
          </a:p>
          <a:p>
            <a:r>
              <a:rPr sz="1200">
                <a:latin typeface="Arial"/>
              </a:rPr>
              <a:t>Benezra SE, Narayanan RT, Egger R, Oberlaender M, Long MA (2018). Morphological characterization of HVC projection neurons in the zebra finch (Taeniopygia guttata). Journal of Comparative Neurology 526(10):1673-1689. </a:t>
            </a:r>
            <a:r>
              <a:rPr sz="1200">
                <a:latin typeface="Arial"/>
                <a:hlinkClick r:id="rId3"/>
              </a:rPr>
              <a:t>https://doi.org/10.1002/cne.24437</a:t>
            </a:r>
          </a:p>
          <a:p/>
          <a:p>
            <a:r>
              <a:rPr sz="1200">
                <a:latin typeface="Arial"/>
              </a:rPr>
              <a:t>Figure: Benezra et al. (2018), Fig. 10(a–d). Local axonal distributions within HVC.</a:t>
            </a:r>
          </a:p>
          <a:p>
            <a:r>
              <a:rPr sz="1200">
                <a:latin typeface="Arial"/>
              </a:rPr>
              <a:t>Figure source: </a:t>
            </a:r>
            <a:r>
              <a:rPr sz="1200">
                <a:latin typeface="Arial"/>
                <a:hlinkClick r:id="rId3"/>
              </a:rPr>
              <a:t>https://doi.org/10.1002/cne.24437</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RA is a forebrain motor nucleus whose projection neurons provide descending output to brainstem targets. Zemel and colleagues place RA within the vocal motor pathway connecting HVC with the tracheosyringeal hypoglossal nucleus, nXIIts, and respiratory-related brainstem circuitry.</a:t>
            </a:r>
          </a:p>
          <a:p>
            <a:r>
              <a:rPr sz="1200">
                <a:latin typeface="Arial"/>
              </a:rPr>
              <a:t>• The syrinx is the avian vocal organ; its muscles are controlled by lower motor neurons rather than directly by RA cell bodies. RA activity thus reaches vocal musculature through descending axons and brainstem motor connections, coordinating sound production with respiratory activity.</a:t>
            </a:r>
          </a:p>
          <a:p>
            <a:r>
              <a:rPr sz="1200">
                <a:latin typeface="Arial"/>
              </a:rPr>
              <a:t>• Maxwell and colleagues controlled air pressures around an isolated zebra finch syrinx and elicited sound without an intact brain. This preparation separates the mechanical sound generator from its neural commands; an anatomically intact vocal organ does not by itself establish normal neural control of song.</a:t>
            </a:r>
          </a:p>
          <a:p/>
          <a:p>
            <a:r>
              <a:rPr sz="1200">
                <a:latin typeface="Arial"/>
              </a:rPr>
              <a:t>References:</a:t>
            </a:r>
          </a:p>
          <a:p>
            <a:r>
              <a:rPr sz="1200">
                <a:latin typeface="Arial"/>
              </a:rPr>
              <a:t>Zemel BM, Nevue AA, Dagostin A, Lovell PV, Mello CV, von Gersdorff H (2021). Resurgent Na+ currents promote ultrafast spiking in projection neurons that drive fine motor control. Nature Communications 12(1):6762. </a:t>
            </a:r>
            <a:r>
              <a:rPr sz="1200">
                <a:latin typeface="Arial"/>
                <a:hlinkClick r:id="rId3"/>
              </a:rPr>
              <a:t>https://doi.org/10.1038/s41467-021-26521-3</a:t>
            </a:r>
          </a:p>
          <a:p>
            <a:r>
              <a:rPr sz="1200">
                <a:latin typeface="Arial"/>
              </a:rPr>
              <a:t>Maxwell A, Adam I, Larsen PS, Sørensen PG, Elemans CPH (2021). Syringeal vocal folds do not have a voice in zebra finch vocal development. Scientific Reports 11(1):6469. </a:t>
            </a:r>
            <a:r>
              <a:rPr sz="1200">
                <a:latin typeface="Arial"/>
                <a:hlinkClick r:id="rId4"/>
              </a:rPr>
              <a:t>https://doi.org/10.1038/s41598-021-85929-5</a:t>
            </a:r>
          </a:p>
          <a:p/>
          <a:p>
            <a:r>
              <a:rPr sz="1200">
                <a:latin typeface="Arial"/>
              </a:rPr>
              <a:t>Figure: Zemel et al. (2021), Fig. 1(a). RA and descending vocal motor pathways.</a:t>
            </a:r>
          </a:p>
          <a:p>
            <a:r>
              <a:rPr sz="1200">
                <a:latin typeface="Arial"/>
              </a:rPr>
              <a:t>Figure source: </a:t>
            </a:r>
            <a:r>
              <a:rPr sz="1200">
                <a:latin typeface="Arial"/>
                <a:hlinkClick r:id="rId3"/>
              </a:rPr>
              <a:t>https://doi.org/10.1038/s41467-021-26521-3</a:t>
            </a:r>
          </a:p>
          <a:p/>
          <a:p>
            <a:r>
              <a:rPr sz="1200">
                <a:latin typeface="Arial"/>
              </a:rPr>
              <a:t>Figure: Maxwell et al. (2021), Fig. 1(a–b). Syrinx muscles and the medial vibratory mass.</a:t>
            </a:r>
          </a:p>
          <a:p>
            <a:r>
              <a:rPr sz="1200">
                <a:latin typeface="Arial"/>
              </a:rPr>
              <a:t>Figure source: </a:t>
            </a:r>
            <a:r>
              <a:rPr sz="1200">
                <a:latin typeface="Arial"/>
                <a:hlinkClick r:id="rId4"/>
              </a:rPr>
              <a:t>https://doi.org/10.1038/s41598-021-85929-5</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An action potential is a rapid electrical spike produced by voltage-dependent membrane conductances. An ion channel is a membrane protein that permits ions to cross the membrane. Zemel and colleagues recorded identified RA projection neurons in zebra finch brain slices using whole-cell current clamp, which measures membrane voltage while current is controlled.</a:t>
            </a:r>
          </a:p>
          <a:p>
            <a:r>
              <a:rPr sz="1200">
                <a:latin typeface="Arial"/>
              </a:rPr>
              <a:t>• At approximately 40 °C, near avian physiological temperature, spontaneous spikes had a half-width of about 0.18 ms. Spontaneous firing was approximately fourfold faster than at room temperature, and depolarizing current could evoke sustained rapid spike trains.</a:t>
            </a:r>
          </a:p>
          <a:p>
            <a:r>
              <a:rPr sz="1200">
                <a:latin typeface="Arial"/>
              </a:rPr>
              <a:t>• Temperature therefore changes the quantitative description of these motor neurons. Slice recordings establish intrinsic firing capacity under controlled conditions, but are not recordings of the commands issued during a particular song syllable; intact singing additionally supplies patterned synaptic input and behavioral state.</a:t>
            </a:r>
          </a:p>
          <a:p/>
          <a:p>
            <a:r>
              <a:rPr sz="1200">
                <a:latin typeface="Arial"/>
              </a:rPr>
              <a:t>References:</a:t>
            </a:r>
          </a:p>
          <a:p>
            <a:r>
              <a:rPr sz="1200">
                <a:latin typeface="Arial"/>
              </a:rPr>
              <a:t>Zemel BM, Nevue AA, Dagostin A, Lovell PV, Mello CV, von Gersdorff H (2021). Resurgent Na+ currents promote ultrafast spiking in projection neurons that drive fine motor control. Nature Communications 12(1):6762. </a:t>
            </a:r>
            <a:r>
              <a:rPr sz="1200">
                <a:latin typeface="Arial"/>
                <a:hlinkClick r:id="rId3"/>
              </a:rPr>
              <a:t>https://doi.org/10.1038/s41467-021-26521-3</a:t>
            </a:r>
          </a:p>
          <a:p/>
          <a:p>
            <a:r>
              <a:rPr sz="1200">
                <a:latin typeface="Arial"/>
              </a:rPr>
              <a:t>Figure: Zemel et al. (2021), Fig. 1(a–k). RA motor anatomy and temperature-dependent spikes.</a:t>
            </a:r>
          </a:p>
          <a:p>
            <a:r>
              <a:rPr sz="1200">
                <a:latin typeface="Arial"/>
              </a:rPr>
              <a:t>Figure source: </a:t>
            </a:r>
            <a:r>
              <a:rPr sz="1200">
                <a:latin typeface="Arial"/>
                <a:hlinkClick r:id="rId3"/>
              </a:rPr>
              <a:t>https://doi.org/10.1038/s41467-021-26521-3</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 resurgent sodium current is an inward sodium current that appears as a membrane repolarizes after strong depolarization. Zemel and colleagues used voltage clamp, which controls membrane voltage while recording current, to separate this component from the initial transient sodium current.</a:t>
            </a:r>
          </a:p>
          <a:p>
            <a:r>
              <a:rPr sz="1200">
                <a:latin typeface="Arial"/>
              </a:rPr>
              <a:t>• A step from −90 to +30 mV activated transient current; subsequent test voltages elicited resurgent current, with a peak near −3 nA at −45 mV in adult RA projection neurons. The sequence of voltage steps made the later inward current experimentally distinguishable from the initial spike-generating component.</a:t>
            </a:r>
          </a:p>
          <a:p>
            <a:r>
              <a:rPr sz="1200">
                <a:latin typeface="Arial"/>
              </a:rPr>
              <a:t>• Resurgent current can support renewed excitation during recovery from a spike. The recording establishes a membrane current under an imposed voltage protocol; its contribution to natural firing requires an additional manipulation of the conductance rather than inference from its presence alone.</a:t>
            </a:r>
          </a:p>
          <a:p/>
          <a:p>
            <a:r>
              <a:rPr sz="1200">
                <a:latin typeface="Arial"/>
              </a:rPr>
              <a:t>References:</a:t>
            </a:r>
          </a:p>
          <a:p>
            <a:r>
              <a:rPr sz="1200">
                <a:latin typeface="Arial"/>
              </a:rPr>
              <a:t>Zemel BM, Nevue AA, Dagostin A, Lovell PV, Mello CV, von Gersdorff H (2021). Resurgent Na+ currents promote ultrafast spiking in projection neurons that drive fine motor control. Nature Communications 12(1):6762. </a:t>
            </a:r>
            <a:r>
              <a:rPr sz="1200">
                <a:latin typeface="Arial"/>
                <a:hlinkClick r:id="rId3"/>
              </a:rPr>
              <a:t>https://doi.org/10.1038/s41467-021-26521-3</a:t>
            </a:r>
          </a:p>
          <a:p/>
          <a:p>
            <a:r>
              <a:rPr sz="1200">
                <a:latin typeface="Arial"/>
              </a:rPr>
              <a:t>Figure: Zemel et al. (2021), Fig. 2(a–j). RA sodium-subunit expression and resurgent current.</a:t>
            </a:r>
          </a:p>
          <a:p>
            <a:r>
              <a:rPr sz="1200">
                <a:latin typeface="Arial"/>
              </a:rPr>
              <a:t>Figure source: </a:t>
            </a:r>
            <a:r>
              <a:rPr sz="1200">
                <a:latin typeface="Arial"/>
                <a:hlinkClick r:id="rId3"/>
              </a:rPr>
              <a:t>https://doi.org/10.1038/s41467-021-26521-3</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 sodium channel's β subunit is an accessory protein that can modify channel function. Zemel and colleagues used in situ hybridization, a method that detects specific RNA sequences in tissue, to compare Navβ3 and Navβ4 expression across male zebra finch development.</a:t>
            </a:r>
          </a:p>
          <a:p>
            <a:r>
              <a:rPr sz="1200">
                <a:latin typeface="Arial"/>
              </a:rPr>
              <a:t>• The sampled stages included 20, 35, and 50 days after hatching and adulthood. RA changed from relatively strong Navβ3 expression toward stronger Navβ4 expression; comparison with surrounding arcopallium helped distinguish an RA-related change from a uniform change throughout nearby tissue.</a:t>
            </a:r>
          </a:p>
          <a:p>
            <a:r>
              <a:rPr sz="1200">
                <a:latin typeface="Arial"/>
              </a:rPr>
              <a:t>• RNA abundance identifies a candidate molecular mechanism but does not directly measure channel current or prove that a subunit causes a behavioral transition. The expression data were therefore paired with physiological recordings and later manipulations of resurgent current.</a:t>
            </a:r>
          </a:p>
          <a:p/>
          <a:p>
            <a:r>
              <a:rPr sz="1200">
                <a:latin typeface="Arial"/>
              </a:rPr>
              <a:t>References:</a:t>
            </a:r>
          </a:p>
          <a:p>
            <a:r>
              <a:rPr sz="1200">
                <a:latin typeface="Arial"/>
              </a:rPr>
              <a:t>Zemel BM, Nevue AA, Dagostin A, Lovell PV, Mello CV, von Gersdorff H (2021). Resurgent Na+ currents promote ultrafast spiking in projection neurons that drive fine motor control. Nature Communications 12(1):6762. </a:t>
            </a:r>
            <a:r>
              <a:rPr sz="1200">
                <a:latin typeface="Arial"/>
                <a:hlinkClick r:id="rId3"/>
              </a:rPr>
              <a:t>https://doi.org/10.1038/s41467-021-26521-3</a:t>
            </a:r>
          </a:p>
          <a:p/>
          <a:p>
            <a:r>
              <a:rPr sz="1200">
                <a:latin typeface="Arial"/>
              </a:rPr>
              <a:t>Figure: Zemel et al. (2021), Fig. 3(a–l). Developmental sodium-subunit expression in RA.</a:t>
            </a:r>
          </a:p>
          <a:p>
            <a:r>
              <a:rPr sz="1200">
                <a:latin typeface="Arial"/>
              </a:rPr>
              <a:t>Figure source: </a:t>
            </a:r>
            <a:r>
              <a:rPr sz="1200">
                <a:latin typeface="Arial"/>
                <a:hlinkClick r:id="rId3"/>
              </a:rPr>
              <a:t>https://doi.org/10.1038/s41467-021-26521-3</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Zemel and colleagues recorded transient and resurgent sodium currents from RA projection neurons at 20, 35, and 50 days after hatching and in adult male zebra finches. Applying the same voltage protocol across stages made the current components directly comparable.</a:t>
            </a:r>
          </a:p>
          <a:p>
            <a:r>
              <a:rPr sz="1200">
                <a:latin typeface="Arial"/>
              </a:rPr>
              <a:t>• Resurgent current increased with age, including when normalized to the transient current measured within the same sweep. That normalization tested whether the developmental effect was simply an increase in all measurable sodium current rather than a disproportionate change in the resurgent component.</a:t>
            </a:r>
          </a:p>
          <a:p>
            <a:r>
              <a:rPr sz="1200">
                <a:latin typeface="Arial"/>
              </a:rPr>
              <a:t>• The age-related current increase tracked the shift toward Navβ4 expression, but a developmental correlation alone cannot identify causation. Intrinsic membrane maturation can accompany song development without being equivalent to learning a particular tutor's syllable sequence.</a:t>
            </a:r>
          </a:p>
          <a:p/>
          <a:p>
            <a:r>
              <a:rPr sz="1200">
                <a:latin typeface="Arial"/>
              </a:rPr>
              <a:t>References:</a:t>
            </a:r>
          </a:p>
          <a:p>
            <a:r>
              <a:rPr sz="1200">
                <a:latin typeface="Arial"/>
              </a:rPr>
              <a:t>Zemel BM, Nevue AA, Dagostin A, Lovell PV, Mello CV, von Gersdorff H (2021). Resurgent Na+ currents promote ultrafast spiking in projection neurons that drive fine motor control. Nature Communications 12(1):6762. </a:t>
            </a:r>
            <a:r>
              <a:rPr sz="1200">
                <a:latin typeface="Arial"/>
                <a:hlinkClick r:id="rId3"/>
              </a:rPr>
              <a:t>https://doi.org/10.1038/s41467-021-26521-3</a:t>
            </a:r>
          </a:p>
          <a:p/>
          <a:p>
            <a:r>
              <a:rPr sz="1200">
                <a:latin typeface="Arial"/>
              </a:rPr>
              <a:t>Figure: Zemel et al. (2021), Fig. 4(a–f). Developmental increase of resurgent current.</a:t>
            </a:r>
          </a:p>
          <a:p>
            <a:r>
              <a:rPr sz="1200">
                <a:latin typeface="Arial"/>
              </a:rPr>
              <a:t>Figure source: </a:t>
            </a:r>
            <a:r>
              <a:rPr sz="1200">
                <a:latin typeface="Arial"/>
                <a:hlinkClick r:id="rId3"/>
              </a:rPr>
              <a:t>https://doi.org/10.1038/s41467-021-26521-3</a:t>
            </a:r>
          </a:p>
          <a:p/>
          <a:p>
            <a:r>
              <a:rPr sz="1200">
                <a:latin typeface="Arial"/>
              </a:rPr>
              <a:t>Figure: Zemel et al. (2021), Fig. 1(a, upper). RA and brainstem targets in the vocal motor pathway.</a:t>
            </a:r>
          </a:p>
          <a:p>
            <a:r>
              <a:rPr sz="1200">
                <a:latin typeface="Arial"/>
              </a:rPr>
              <a:t>Figure source: </a:t>
            </a:r>
            <a:r>
              <a:rPr sz="1200">
                <a:latin typeface="Arial"/>
                <a:hlinkClick r:id="rId3"/>
              </a:rPr>
              <a:t>https://doi.org/10.1038/s41467-021-26521-3</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Space clamp describes how well an electrode controls voltage throughout a neuron; long axons can make that control incomplete. Zemel and colleagues repeated sodium-current measurements in frontal slices that shortened the initial axonal segments of RA projection neurons.</a:t>
            </a:r>
          </a:p>
          <a:p>
            <a:r>
              <a:rPr sz="1200">
                <a:latin typeface="Arial"/>
              </a:rPr>
              <a:t>• They also reduced extracellular sodium to improve recording conditions and compared neurons from 20-day males with adult neurons. The developmental difference in resurgent current remained under these altered preparation conditions, supporting its biological origin rather than a simple difference in recording distant axons.</a:t>
            </a:r>
          </a:p>
          <a:p>
            <a:r>
              <a:rPr sz="1200">
                <a:latin typeface="Arial"/>
              </a:rPr>
              <a:t>• These controls strengthen interpretation of the current measurement without making the voltage clamp perfect. The comparison concerns isolated-cell membrane physiology, and does not itself establish how much a change in resurgent current alters the acoustic structure of a freely singing bird.</a:t>
            </a:r>
          </a:p>
          <a:p/>
          <a:p>
            <a:r>
              <a:rPr sz="1200">
                <a:latin typeface="Arial"/>
              </a:rPr>
              <a:t>References:</a:t>
            </a:r>
          </a:p>
          <a:p>
            <a:r>
              <a:rPr sz="1200">
                <a:latin typeface="Arial"/>
              </a:rPr>
              <a:t>Zemel BM, Nevue AA, Dagostin A, Lovell PV, Mello CV, von Gersdorff H (2021). Resurgent Na+ currents promote ultrafast spiking in projection neurons that drive fine motor control. Nature Communications 12(1):6762. </a:t>
            </a:r>
            <a:r>
              <a:rPr sz="1200">
                <a:latin typeface="Arial"/>
                <a:hlinkClick r:id="rId3"/>
              </a:rPr>
              <a:t>https://doi.org/10.1038/s41467-021-26521-3</a:t>
            </a:r>
          </a:p>
          <a:p/>
          <a:p>
            <a:r>
              <a:rPr sz="1200">
                <a:latin typeface="Arial"/>
              </a:rPr>
              <a:t>Figure: Zemel et al. (2021), Fig. 5(a–i). Axonal and voltage-clamp recording controls.</a:t>
            </a:r>
          </a:p>
          <a:p>
            <a:r>
              <a:rPr sz="1200">
                <a:latin typeface="Arial"/>
              </a:rPr>
              <a:t>Figure source: </a:t>
            </a:r>
            <a:r>
              <a:rPr sz="1200">
                <a:latin typeface="Arial"/>
                <a:hlinkClick r:id="rId3"/>
              </a:rPr>
              <a:t>https://doi.org/10.1038/s41467-021-26521-3</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Zemel and colleagues introduced a peptide from the intracellular C-terminal region of Navβ4 through the recording pipette into RA neurons from 20-day male zebra finches. A peptide is a short amino-acid chain used here to test a proposed channel interaction.</a:t>
            </a:r>
          </a:p>
          <a:p>
            <a:r>
              <a:rPr sz="1200">
                <a:latin typeface="Arial"/>
              </a:rPr>
              <a:t>• Resurgent current increased over approximately 7 minutes after whole-cell access with the native peptide. A scrambled peptide containing the same amino acids in a different sequence did not produce the same increase, controlling for nonspecific introduction of peptide material.</a:t>
            </a:r>
          </a:p>
          <a:p>
            <a:r>
              <a:rPr sz="1200">
                <a:latin typeface="Arial"/>
              </a:rPr>
              <a:t>• This intervention links a defined sequence to the current phenotype more directly than RNA expression alone. It does not recreate every function of the intact β4 protein or establish that this peptide manipulation improves song learning in a behaving bird.</a:t>
            </a:r>
          </a:p>
          <a:p/>
          <a:p>
            <a:r>
              <a:rPr sz="1200">
                <a:latin typeface="Arial"/>
              </a:rPr>
              <a:t>References:</a:t>
            </a:r>
          </a:p>
          <a:p>
            <a:r>
              <a:rPr sz="1200">
                <a:latin typeface="Arial"/>
              </a:rPr>
              <a:t>Zemel BM, Nevue AA, Dagostin A, Lovell PV, Mello CV, von Gersdorff H (2021). Resurgent Na+ currents promote ultrafast spiking in projection neurons that drive fine motor control. Nature Communications 12(1):6762. </a:t>
            </a:r>
            <a:r>
              <a:rPr sz="1200">
                <a:latin typeface="Arial"/>
                <a:hlinkClick r:id="rId3"/>
              </a:rPr>
              <a:t>https://doi.org/10.1038/s41467-021-26521-3</a:t>
            </a:r>
          </a:p>
          <a:p/>
          <a:p>
            <a:r>
              <a:rPr sz="1200">
                <a:latin typeface="Arial"/>
              </a:rPr>
              <a:t>Figure: Zemel et al. (2021), Fig. 7(a–l). Native and scrambled Navβ4 peptide interventions.</a:t>
            </a:r>
          </a:p>
          <a:p>
            <a:r>
              <a:rPr sz="1200">
                <a:latin typeface="Arial"/>
              </a:rPr>
              <a:t>Figure source: </a:t>
            </a:r>
            <a:r>
              <a:rPr sz="1200">
                <a:latin typeface="Arial"/>
                <a:hlinkClick r:id="rId3"/>
              </a:rPr>
              <a:t>https://doi.org/10.1038/s41467-021-26521-3</a:t>
            </a:r>
          </a:p>
          <a:p/>
          <a:p>
            <a:r>
              <a:rPr sz="1200">
                <a:latin typeface="Arial"/>
              </a:rPr>
              <a:t>Figure: Zemel et al. (2021), Fig. 1(a, upper). RA and brainstem targets in the vocal motor pathway.</a:t>
            </a:r>
          </a:p>
          <a:p>
            <a:r>
              <a:rPr sz="1200">
                <a:latin typeface="Arial"/>
              </a:rPr>
              <a:t>Figure source: </a:t>
            </a:r>
            <a:r>
              <a:rPr sz="1200">
                <a:latin typeface="Arial"/>
                <a:hlinkClick r:id="rId3"/>
              </a:rPr>
              <a:t>https://doi.org/10.1038/s41467-021-26521-3</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Dynamic clamp computes a voltage-dependent current during recording and injects that current into a real neuron. Zemel and colleagues used this method to add a resurgent-current component to juvenile RA neurons and subtract a corresponding component from adult neurons.</a:t>
            </a:r>
          </a:p>
          <a:p>
            <a:r>
              <a:rPr sz="1200">
                <a:latin typeface="Arial"/>
              </a:rPr>
              <a:t>• Adding the component increased juvenile firing frequency, whereas subtraction reduced adult firing. The same cell could be compared with the intervention off and on, separating the immediate current effect from stable differences between developmental populations.</a:t>
            </a:r>
          </a:p>
          <a:p>
            <a:r>
              <a:rPr sz="1200">
                <a:latin typeface="Arial"/>
              </a:rPr>
              <a:t>• The experiment supports a causal contribution of resurgent current to neuronal excitability. The injected conductance was calibrated to measured sodium-current kinetics. Agreement with voltage-clamp recordings does not establish that this conductance alone explains song timing or behavioral proficiency.</a:t>
            </a:r>
          </a:p>
          <a:p/>
          <a:p>
            <a:r>
              <a:rPr sz="1200">
                <a:latin typeface="Arial"/>
              </a:rPr>
              <a:t>References:</a:t>
            </a:r>
          </a:p>
          <a:p>
            <a:r>
              <a:rPr sz="1200">
                <a:latin typeface="Arial"/>
              </a:rPr>
              <a:t>Zemel BM, Nevue AA, Dagostin A, Lovell PV, Mello CV, von Gersdorff H (2021). Resurgent Na+ currents promote ultrafast spiking in projection neurons that drive fine motor control. Nature Communications 12(1):6762. </a:t>
            </a:r>
            <a:r>
              <a:rPr sz="1200">
                <a:latin typeface="Arial"/>
                <a:hlinkClick r:id="rId3"/>
              </a:rPr>
              <a:t>https://doi.org/10.1038/s41467-021-26521-3</a:t>
            </a:r>
          </a:p>
          <a:p/>
          <a:p>
            <a:r>
              <a:rPr sz="1200">
                <a:latin typeface="Arial"/>
              </a:rPr>
              <a:t>Figure: Zemel et al. (2021), Fig. 8(a–h). Current records and dynamic-clamp interventions.</a:t>
            </a:r>
          </a:p>
          <a:p>
            <a:r>
              <a:rPr sz="1200">
                <a:latin typeface="Arial"/>
              </a:rPr>
              <a:t>Figure source: </a:t>
            </a:r>
            <a:r>
              <a:rPr sz="1200">
                <a:latin typeface="Arial"/>
                <a:hlinkClick r:id="rId3"/>
              </a:rPr>
              <a:t>https://doi.org/10.1038/s41467-021-26521-3</a:t>
            </a:r>
          </a:p>
          <a:p/>
          <a:p>
            <a:r>
              <a:rPr sz="1200">
                <a:latin typeface="Arial"/>
              </a:rPr>
              <a:t>Figure: Zemel et al. (2021), Fig. 1(a, upper). RA and brainstem targets in the vocal motor pathway.</a:t>
            </a:r>
          </a:p>
          <a:p>
            <a:r>
              <a:rPr sz="1200">
                <a:latin typeface="Arial"/>
              </a:rPr>
              <a:t>Figure source: </a:t>
            </a:r>
            <a:r>
              <a:rPr sz="1200">
                <a:latin typeface="Arial"/>
                <a:hlinkClick r:id="rId3"/>
              </a:rPr>
              <a:t>https://doi.org/10.1038/s41467-021-26521-3</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Zemel and colleagues compared Navβ4 expression and RA physiology across ages in female zebra finches, which do not produce the learned courtship song characteristic of males. In situ hybridization was assessed alongside adjacent Nissl-stained sections identifying the nucleus.</a:t>
            </a:r>
          </a:p>
          <a:p>
            <a:r>
              <a:rPr sz="1200">
                <a:latin typeface="Arial"/>
              </a:rPr>
              <a:t>• Females did not exhibit the male pattern of strong developmental Navβ4 upregulation and mature resurgent-current specialization. This comparison separated a sex-related developmental program from a change that would necessarily occur in every zebra finch reaching the same chronological age.</a:t>
            </a:r>
          </a:p>
          <a:p>
            <a:r>
              <a:rPr sz="1200">
                <a:latin typeface="Arial"/>
              </a:rPr>
              <a:t>• Male birds isolated from tutor song nevertheless developed mature firing properties, further separating intrinsic maturation from successful imitation. The results support sex-linked motor-system specialization; they do not establish that a single sodium-channel subunit is sufficient to create singing behavior.</a:t>
            </a:r>
          </a:p>
          <a:p/>
          <a:p>
            <a:r>
              <a:rPr sz="1200">
                <a:latin typeface="Arial"/>
              </a:rPr>
              <a:t>References:</a:t>
            </a:r>
          </a:p>
          <a:p>
            <a:r>
              <a:rPr sz="1200">
                <a:latin typeface="Arial"/>
              </a:rPr>
              <a:t>Zemel BM, Nevue AA, Dagostin A, Lovell PV, Mello CV, von Gersdorff H (2021). Resurgent Na+ currents promote ultrafast spiking in projection neurons that drive fine motor control. Nature Communications 12(1):6762. </a:t>
            </a:r>
            <a:r>
              <a:rPr sz="1200">
                <a:latin typeface="Arial"/>
                <a:hlinkClick r:id="rId3"/>
              </a:rPr>
              <a:t>https://doi.org/10.1038/s41467-021-26521-3</a:t>
            </a:r>
          </a:p>
          <a:p/>
          <a:p>
            <a:r>
              <a:rPr sz="1200">
                <a:latin typeface="Arial"/>
              </a:rPr>
              <a:t>Figure: Zemel et al. (2021), Fig. 9(a–g). Female RA expression and sodium-current measurements.</a:t>
            </a:r>
          </a:p>
          <a:p>
            <a:r>
              <a:rPr sz="1200">
                <a:latin typeface="Arial"/>
              </a:rPr>
              <a:t>Figure source: </a:t>
            </a:r>
            <a:r>
              <a:rPr sz="1200">
                <a:latin typeface="Arial"/>
                <a:hlinkClick r:id="rId3"/>
              </a:rPr>
              <a:t>https://doi.org/10.1038/s41467-021-26521-3</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SK channels are small-conductance calcium-activated potassium channels. Calcium-dependent potassium efflux can produce an afterhyperpolarization, a period of more negative membrane voltage following a spike that regulates when the next spike occurs.</a:t>
            </a:r>
          </a:p>
          <a:p>
            <a:r>
              <a:rPr sz="1200">
                <a:latin typeface="Arial"/>
              </a:rPr>
              <a:t>• Hou and colleagues recorded RA projection neurons in adult male zebra finch slices and applied apamin, an SK-channel blocker, at 100 nM. An example response to 100 pA rose from 34 to about 53 Hz. Blocking the channels reduced the afterhyperpolarization and increased current-evoked firing, linking the pharmacological target to both the spike waveform and ongoing excitability.</a:t>
            </a:r>
          </a:p>
          <a:p>
            <a:r>
              <a:rPr sz="1200">
                <a:latin typeface="Arial"/>
              </a:rPr>
              <a:t>• The direction of the effect is consistent with removal of a potassium-mediated brake on excitation. Pharmacology establishes a contribution under the slice conditions, but does not identify every SK subunit or prove how this manipulation would change the timing of a complete song.</a:t>
            </a:r>
          </a:p>
          <a:p/>
          <a:p>
            <a:r>
              <a:rPr sz="1200">
                <a:latin typeface="Arial"/>
              </a:rPr>
              <a:t>References:</a:t>
            </a:r>
          </a:p>
          <a:p>
            <a:r>
              <a:rPr sz="1200">
                <a:latin typeface="Arial"/>
              </a:rPr>
              <a:t>Hou GQ, Pan X, Liao CS, Wang SH, Li DF (2012). SK channels modulate the excitability and firing precision of projection neurons in the robust nucleus of the arcopallium in adult male zebra finches. Neuroscience Bulletin 28(3):271-281. </a:t>
            </a:r>
            <a:r>
              <a:rPr sz="1200">
                <a:latin typeface="Arial"/>
                <a:hlinkClick r:id="rId3"/>
              </a:rPr>
              <a:t>https://doi.org/10.1007/s12264-012-1241-7</a:t>
            </a:r>
          </a:p>
          <a:p>
            <a:r>
              <a:rPr sz="1200">
                <a:latin typeface="Arial"/>
              </a:rPr>
              <a:t>Zemel BM, Nevue AA, Dagostin A, Lovell PV, Mello CV, von Gersdorff H (2021). Resurgent Na+ currents promote ultrafast spiking in projection neurons that drive fine motor control. Nature Communications 12(1):6762. </a:t>
            </a:r>
            <a:r>
              <a:rPr sz="1200">
                <a:latin typeface="Arial"/>
                <a:hlinkClick r:id="rId4"/>
              </a:rPr>
              <a:t>https://doi.org/10.1038/s41467-021-26521-3</a:t>
            </a:r>
          </a:p>
          <a:p/>
          <a:p>
            <a:r>
              <a:rPr sz="1200">
                <a:latin typeface="Arial"/>
              </a:rPr>
              <a:t>Figure: Hou et al. (2012), Fig. 1(A–F). SK blockade changes evoked firing and spike recovery.</a:t>
            </a:r>
          </a:p>
          <a:p>
            <a:r>
              <a:rPr sz="1200">
                <a:latin typeface="Arial"/>
              </a:rPr>
              <a:t>Figure source: </a:t>
            </a:r>
            <a:r>
              <a:rPr sz="1200">
                <a:latin typeface="Arial"/>
                <a:hlinkClick r:id="rId3"/>
              </a:rPr>
              <a:t>https://doi.org/10.1007/s12264-012-1241-7</a:t>
            </a:r>
          </a:p>
          <a:p/>
          <a:p>
            <a:r>
              <a:rPr sz="1200">
                <a:latin typeface="Arial"/>
              </a:rPr>
              <a:t>Figure: Zemel et al. (2021), Fig. 1(a, upper). RA and brainstem targets in the vocal motor pathway.</a:t>
            </a:r>
          </a:p>
          <a:p>
            <a:r>
              <a:rPr sz="1200">
                <a:latin typeface="Arial"/>
              </a:rPr>
              <a:t>Figure source: </a:t>
            </a:r>
            <a:r>
              <a:rPr sz="1200">
                <a:latin typeface="Arial"/>
                <a:hlinkClick r:id="rId4"/>
              </a:rPr>
              <a:t>https://doi.org/10.1038/s41467-021-26521-3</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Interspike intervals are the times separating successive action potentials. Hou and colleagues compared spontaneous spike trains from the same RA projection neurons before and after apamin, allowing firing regularity to be assessed separately from the mean firing rate.</a:t>
            </a:r>
          </a:p>
          <a:p>
            <a:r>
              <a:rPr sz="1200">
                <a:latin typeface="Arial"/>
              </a:rPr>
              <a:t>• SK blockade increased variability in the intervals between spikes without a clear change in average spontaneous firing rate. Recordings therefore distinguished a neuron that fires more rapidly from a neuron that fires with more reproducible timing; these are different physiological properties.</a:t>
            </a:r>
          </a:p>
          <a:p>
            <a:r>
              <a:rPr sz="1200">
                <a:latin typeface="Arial"/>
              </a:rPr>
              <a:t>• Calcium-activated potassium feedback can stabilize the return toward spike threshold after each action potential. The result supports a contribution to temporal regularity in isolated RA cells, but natural song-related precision also depends on the timing of HVC and LMAN inputs and cannot be assigned entirely to SK channels.</a:t>
            </a:r>
          </a:p>
          <a:p/>
          <a:p>
            <a:r>
              <a:rPr sz="1200">
                <a:latin typeface="Arial"/>
              </a:rPr>
              <a:t>References:</a:t>
            </a:r>
          </a:p>
          <a:p>
            <a:r>
              <a:rPr sz="1200">
                <a:latin typeface="Arial"/>
              </a:rPr>
              <a:t>Hou GQ, Pan X, Liao CS, Wang SH, Li DF (2012). SK channels modulate the excitability and firing precision of projection neurons in the robust nucleus of the arcopallium in adult male zebra finches. Neuroscience Bulletin 28(3):271-281. </a:t>
            </a:r>
            <a:r>
              <a:rPr sz="1200">
                <a:latin typeface="Arial"/>
                <a:hlinkClick r:id="rId3"/>
              </a:rPr>
              <a:t>https://doi.org/10.1007/s12264-012-1241-7</a:t>
            </a:r>
          </a:p>
          <a:p>
            <a:r>
              <a:rPr sz="1200">
                <a:latin typeface="Arial"/>
              </a:rPr>
              <a:t>Zemel BM, Nevue AA, Dagostin A, Lovell PV, Mello CV, von Gersdorff H (2021). Resurgent Na+ currents promote ultrafast spiking in projection neurons that drive fine motor control. Nature Communications 12(1):6762. </a:t>
            </a:r>
            <a:r>
              <a:rPr sz="1200">
                <a:latin typeface="Arial"/>
                <a:hlinkClick r:id="rId4"/>
              </a:rPr>
              <a:t>https://doi.org/10.1038/s41467-021-26521-3</a:t>
            </a:r>
          </a:p>
          <a:p/>
          <a:p>
            <a:r>
              <a:rPr sz="1200">
                <a:latin typeface="Arial"/>
              </a:rPr>
              <a:t>Figure: Hou et al. (2012), Fig. 2(A–E). Spontaneous spike timing before and after apamin.</a:t>
            </a:r>
          </a:p>
          <a:p>
            <a:r>
              <a:rPr sz="1200">
                <a:latin typeface="Arial"/>
              </a:rPr>
              <a:t>Figure source: </a:t>
            </a:r>
            <a:r>
              <a:rPr sz="1200">
                <a:latin typeface="Arial"/>
                <a:hlinkClick r:id="rId3"/>
              </a:rPr>
              <a:t>https://doi.org/10.1007/s12264-012-1241-7</a:t>
            </a:r>
          </a:p>
          <a:p/>
          <a:p>
            <a:r>
              <a:rPr sz="1200">
                <a:latin typeface="Arial"/>
              </a:rPr>
              <a:t>Figure: Zemel et al. (2021), Fig. 1(a, upper). RA and brainstem targets in the vocal motor pathway.</a:t>
            </a:r>
          </a:p>
          <a:p>
            <a:r>
              <a:rPr sz="1200">
                <a:latin typeface="Arial"/>
              </a:rPr>
              <a:t>Figure source: </a:t>
            </a:r>
            <a:r>
              <a:rPr sz="1200">
                <a:latin typeface="Arial"/>
                <a:hlinkClick r:id="rId4"/>
              </a:rPr>
              <a:t>https://doi.org/10.1038/s41467-021-26521-3</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 spike threshold is the membrane voltage at which regenerative excitation initiates an action potential. Hou and colleagues evoked firing with a 100 pA depolarizing current and compared threshold measurements before and after 100 nM apamin blocked SK channels.</a:t>
            </a:r>
          </a:p>
          <a:p>
            <a:r>
              <a:rPr sz="1200">
                <a:latin typeface="Arial"/>
              </a:rPr>
              <a:t>• Blockade increased the variation of evoked spike thresholds and shifted them toward more depolarized voltages as injected current increased. The recordings linked irregular firing with less stable spike initiation rather than assuming that every change in spike count reflected the same membrane mechanism.</a:t>
            </a:r>
          </a:p>
          <a:p>
            <a:r>
              <a:rPr sz="1200">
                <a:latin typeface="Arial"/>
              </a:rPr>
              <a:t>• The measured effect supports a role for calcium-activated potassium feedback in recovery between spikes. It does not identify the complete sequence of sodium-channel recovery or the calcium source activating SK channels, and spontaneous and current-evoked firing need not respond identically to the same intervention.</a:t>
            </a:r>
          </a:p>
          <a:p/>
          <a:p>
            <a:r>
              <a:rPr sz="1200">
                <a:latin typeface="Arial"/>
              </a:rPr>
              <a:t>References:</a:t>
            </a:r>
          </a:p>
          <a:p>
            <a:r>
              <a:rPr sz="1200">
                <a:latin typeface="Arial"/>
              </a:rPr>
              <a:t>Hou GQ, Pan X, Liao CS, Wang SH, Li DF (2012). SK channels modulate the excitability and firing precision of projection neurons in the robust nucleus of the arcopallium in adult male zebra finches. Neuroscience Bulletin 28(3):271-281. </a:t>
            </a:r>
            <a:r>
              <a:rPr sz="1200">
                <a:latin typeface="Arial"/>
                <a:hlinkClick r:id="rId3"/>
              </a:rPr>
              <a:t>https://doi.org/10.1007/s12264-012-1241-7</a:t>
            </a:r>
          </a:p>
          <a:p>
            <a:r>
              <a:rPr sz="1200">
                <a:latin typeface="Arial"/>
              </a:rPr>
              <a:t>Zemel BM, Nevue AA, Dagostin A, Lovell PV, Mello CV, von Gersdorff H (2021). Resurgent Na+ currents promote ultrafast spiking in projection neurons that drive fine motor control. Nature Communications 12(1):6762. </a:t>
            </a:r>
            <a:r>
              <a:rPr sz="1200">
                <a:latin typeface="Arial"/>
                <a:hlinkClick r:id="rId4"/>
              </a:rPr>
              <a:t>https://doi.org/10.1038/s41467-021-26521-3</a:t>
            </a:r>
          </a:p>
          <a:p/>
          <a:p>
            <a:r>
              <a:rPr sz="1200">
                <a:latin typeface="Arial"/>
              </a:rPr>
              <a:t>Figure: Hou et al. (2012), Fig. 3(A–C). Evoked threshold changes during SK blockade.</a:t>
            </a:r>
          </a:p>
          <a:p>
            <a:r>
              <a:rPr sz="1200">
                <a:latin typeface="Arial"/>
              </a:rPr>
              <a:t>Figure source: </a:t>
            </a:r>
            <a:r>
              <a:rPr sz="1200">
                <a:latin typeface="Arial"/>
                <a:hlinkClick r:id="rId3"/>
              </a:rPr>
              <a:t>https://doi.org/10.1007/s12264-012-1241-7</a:t>
            </a:r>
          </a:p>
          <a:p/>
          <a:p>
            <a:r>
              <a:rPr sz="1200">
                <a:latin typeface="Arial"/>
              </a:rPr>
              <a:t>Figure: Zemel et al. (2021), Fig. 1(a, upper). RA and brainstem targets in the vocal motor pathway.</a:t>
            </a:r>
          </a:p>
          <a:p>
            <a:r>
              <a:rPr sz="1200">
                <a:latin typeface="Arial"/>
              </a:rPr>
              <a:t>Figure source: </a:t>
            </a:r>
            <a:r>
              <a:rPr sz="1200">
                <a:latin typeface="Arial"/>
                <a:hlinkClick r:id="rId4"/>
              </a:rPr>
              <a:t>https://doi.org/10.1038/s41467-021-26521-3</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Hou and colleagues blocked ionotropic glutamate receptors while recording RA projection neurons. AMPA receptors support relatively fast excitatory transmission, whereas NMDA receptors have slower kinetics and voltage-dependent gating; the antagonists DNQX and APV suppress these receptor components.</a:t>
            </a:r>
          </a:p>
          <a:p>
            <a:r>
              <a:rPr sz="1200">
                <a:latin typeface="Arial"/>
              </a:rPr>
              <a:t>• Apamin still increased current-evoked firing after receptor blockade, but its effect on firing regularity was no longer clearly detectable. This comparison separated an excitability effect that persisted without glutamatergic input from a regularity effect that depended on the recording's synaptic conditions.</a:t>
            </a:r>
          </a:p>
          <a:p>
            <a:r>
              <a:rPr sz="1200">
                <a:latin typeface="Arial"/>
              </a:rPr>
              <a:t>• Intrinsic potassium conductance and incoming excitation therefore interact in determining spike timing. The control does not identify the presynaptic source responsible for the difference or establish the corresponding effect during singing; it constrains a purely intrinsic explanation of all changes in temporal regularity.</a:t>
            </a:r>
          </a:p>
          <a:p/>
          <a:p>
            <a:r>
              <a:rPr sz="1200">
                <a:latin typeface="Arial"/>
              </a:rPr>
              <a:t>References:</a:t>
            </a:r>
          </a:p>
          <a:p>
            <a:r>
              <a:rPr sz="1200">
                <a:latin typeface="Arial"/>
              </a:rPr>
              <a:t>Hou GQ, Pan X, Liao CS, Wang SH, Li DF (2012). SK channels modulate the excitability and firing precision of projection neurons in the robust nucleus of the arcopallium in adult male zebra finches. Neuroscience Bulletin 28(3):271-281. </a:t>
            </a:r>
            <a:r>
              <a:rPr sz="1200">
                <a:latin typeface="Arial"/>
                <a:hlinkClick r:id="rId3"/>
              </a:rPr>
              <a:t>https://doi.org/10.1007/s12264-012-1241-7</a:t>
            </a:r>
          </a:p>
          <a:p>
            <a:r>
              <a:rPr sz="1200">
                <a:latin typeface="Arial"/>
              </a:rPr>
              <a:t>Zemel BM, Nevue AA, Dagostin A, Lovell PV, Mello CV, von Gersdorff H (2021). Resurgent Na+ currents promote ultrafast spiking in projection neurons that drive fine motor control. Nature Communications 12(1):6762. </a:t>
            </a:r>
            <a:r>
              <a:rPr sz="1200">
                <a:latin typeface="Arial"/>
                <a:hlinkClick r:id="rId4"/>
              </a:rPr>
              <a:t>https://doi.org/10.1038/s41467-021-26521-3</a:t>
            </a:r>
          </a:p>
          <a:p/>
          <a:p>
            <a:r>
              <a:rPr sz="1200">
                <a:latin typeface="Arial"/>
              </a:rPr>
              <a:t>Figure: Hou et al. (2012), Fig. 4(A–E). Apamin effects after glutamate-receptor blockade.</a:t>
            </a:r>
          </a:p>
          <a:p>
            <a:r>
              <a:rPr sz="1200">
                <a:latin typeface="Arial"/>
              </a:rPr>
              <a:t>Figure source: </a:t>
            </a:r>
            <a:r>
              <a:rPr sz="1200">
                <a:latin typeface="Arial"/>
                <a:hlinkClick r:id="rId3"/>
              </a:rPr>
              <a:t>https://doi.org/10.1007/s12264-012-1241-7</a:t>
            </a:r>
          </a:p>
          <a:p/>
          <a:p>
            <a:r>
              <a:rPr sz="1200">
                <a:latin typeface="Arial"/>
              </a:rPr>
              <a:t>Figure: Zemel et al. (2021), Fig. 1(a, upper). RA and brainstem targets in the vocal motor pathway.</a:t>
            </a:r>
          </a:p>
          <a:p>
            <a:r>
              <a:rPr sz="1200">
                <a:latin typeface="Arial"/>
              </a:rPr>
              <a:t>Figure source: </a:t>
            </a:r>
            <a:r>
              <a:rPr sz="1200">
                <a:latin typeface="Arial"/>
                <a:hlinkClick r:id="rId4"/>
              </a:rPr>
              <a:t>https://doi.org/10.1038/s41467-021-26521-3</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Dopamine is a neurotransmitter that can modulate neuronal properties through receptor-dependent intracellular signaling. Liao and colleagues recorded adult male zebra finch RA projection neurons and applied 50 µM dopamine while controlling the injected current.</a:t>
            </a:r>
          </a:p>
          <a:p>
            <a:r>
              <a:rPr sz="1200">
                <a:latin typeface="Arial"/>
              </a:rPr>
              <a:t>• During a 100 pA stimulus, normalized firing increased to approximately 1.38 times baseline and returned toward baseline after washout. The membrane potential became less negative, shifting from approximately −70 to −61 mV under the reported recording conditions.</a:t>
            </a:r>
          </a:p>
          <a:p>
            <a:r>
              <a:rPr sz="1200">
                <a:latin typeface="Arial"/>
              </a:rPr>
              <a:t>• The within-cell drug and wash comparisons establish reversible modulation of excitability rather than a difference between cell populations. Bath application does not reproduce the concentration, duration, or spatial precision of physiological dopamine release, so these measurements should not be equated directly with a behavioral state during singing.</a:t>
            </a:r>
          </a:p>
          <a:p/>
          <a:p>
            <a:r>
              <a:rPr sz="1200">
                <a:latin typeface="Arial"/>
              </a:rPr>
              <a:t>References:</a:t>
            </a:r>
          </a:p>
          <a:p>
            <a:r>
              <a:rPr sz="1200">
                <a:latin typeface="Arial"/>
              </a:rPr>
              <a:t>Liao C, Wang S, Pan X, Hou G, Li D (2013). Dopamine Modulates the Excitability of Projection Neurons in the Robust Nucleus of the Arcopallium in Adult Zebra Finches. PLoS ONE 8(12):e82497. </a:t>
            </a:r>
            <a:r>
              <a:rPr sz="1200">
                <a:latin typeface="Arial"/>
                <a:hlinkClick r:id="rId3"/>
              </a:rPr>
              <a:t>https://doi.org/10.1371/journal.pone.0082497</a:t>
            </a:r>
          </a:p>
          <a:p>
            <a:r>
              <a:rPr sz="1200">
                <a:latin typeface="Arial"/>
              </a:rPr>
              <a:t>Zemel BM, Nevue AA, Dagostin A, Lovell PV, Mello CV, von Gersdorff H (2021). Resurgent Na+ currents promote ultrafast spiking in projection neurons that drive fine motor control. Nature Communications 12(1):6762. </a:t>
            </a:r>
            <a:r>
              <a:rPr sz="1200">
                <a:latin typeface="Arial"/>
                <a:hlinkClick r:id="rId4"/>
              </a:rPr>
              <a:t>https://doi.org/10.1038/s41467-021-26521-3</a:t>
            </a:r>
          </a:p>
          <a:p/>
          <a:p>
            <a:r>
              <a:rPr sz="1200">
                <a:latin typeface="Arial"/>
              </a:rPr>
              <a:t>Figure: Liao et al. (2013), Fig. 1(A–D). Reversible dopamine effects on RA firing and voltage.</a:t>
            </a:r>
          </a:p>
          <a:p>
            <a:r>
              <a:rPr sz="1200">
                <a:latin typeface="Arial"/>
              </a:rPr>
              <a:t>Figure source: </a:t>
            </a:r>
            <a:r>
              <a:rPr sz="1200">
                <a:latin typeface="Arial"/>
                <a:hlinkClick r:id="rId3"/>
              </a:rPr>
              <a:t>https://doi.org/10.1371/journal.pone.0082497</a:t>
            </a:r>
          </a:p>
          <a:p/>
          <a:p>
            <a:r>
              <a:rPr sz="1200">
                <a:latin typeface="Arial"/>
              </a:rPr>
              <a:t>Figure: Zemel et al. (2021), Fig. 1(a, upper). RA and brainstem targets in the vocal motor pathway.</a:t>
            </a:r>
          </a:p>
          <a:p>
            <a:r>
              <a:rPr sz="1200">
                <a:latin typeface="Arial"/>
              </a:rPr>
              <a:t>Figure source: </a:t>
            </a:r>
            <a:r>
              <a:rPr sz="1200">
                <a:latin typeface="Arial"/>
                <a:hlinkClick r:id="rId4"/>
              </a:rPr>
              <a:t>https://doi.org/10.1038/s41467-021-26521-3</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Liao and colleagues used tetrodotoxin, or TTX, to block voltage-gated sodium channels and prevent action potentials in their RA slice preparation. This manipulation tested whether dopamine-induced depolarization depended on spike-driven activity in the surrounding network.</a:t>
            </a:r>
          </a:p>
          <a:p>
            <a:r>
              <a:rPr sz="1200">
                <a:latin typeface="Arial"/>
              </a:rPr>
              <a:t>• Dopamine still produced a depolarizing membrane shift when sodium-dependent spikes were suppressed. The result separated the change in resting membrane behavior from the increased number of evoked action potentials observed in the unblocked preparation.</a:t>
            </a:r>
          </a:p>
          <a:p>
            <a:r>
              <a:rPr sz="1200">
                <a:latin typeface="Arial"/>
              </a:rPr>
              <a:t>• A direct or locally mediated membrane effect is therefore supported, but the specific ionic conductance responsible was not isolated by this control. TTX also changes network activity broadly; persistence in its presence does not prove that all dopaminergic influences on RA during singing are exclusively postsynaptic.</a:t>
            </a:r>
          </a:p>
          <a:p/>
          <a:p>
            <a:r>
              <a:rPr sz="1200">
                <a:latin typeface="Arial"/>
              </a:rPr>
              <a:t>References:</a:t>
            </a:r>
          </a:p>
          <a:p>
            <a:r>
              <a:rPr sz="1200">
                <a:latin typeface="Arial"/>
              </a:rPr>
              <a:t>Liao C, Wang S, Pan X, Hou G, Li D (2013). Dopamine Modulates the Excitability of Projection Neurons in the Robust Nucleus of the Arcopallium in Adult Zebra Finches. PLoS ONE 8(12):e82497. </a:t>
            </a:r>
            <a:r>
              <a:rPr sz="1200">
                <a:latin typeface="Arial"/>
                <a:hlinkClick r:id="rId3"/>
              </a:rPr>
              <a:t>https://doi.org/10.1371/journal.pone.0082497</a:t>
            </a:r>
          </a:p>
          <a:p>
            <a:r>
              <a:rPr sz="1200">
                <a:latin typeface="Arial"/>
              </a:rPr>
              <a:t>Zemel BM, Nevue AA, Dagostin A, Lovell PV, Mello CV, von Gersdorff H (2021). Resurgent Na+ currents promote ultrafast spiking in projection neurons that drive fine motor control. Nature Communications 12(1):6762. </a:t>
            </a:r>
            <a:r>
              <a:rPr sz="1200">
                <a:latin typeface="Arial"/>
                <a:hlinkClick r:id="rId4"/>
              </a:rPr>
              <a:t>https://doi.org/10.1038/s41467-021-26521-3</a:t>
            </a:r>
          </a:p>
          <a:p/>
          <a:p>
            <a:r>
              <a:rPr sz="1200">
                <a:latin typeface="Arial"/>
              </a:rPr>
              <a:t>Figure: Liao et al. (2013), Fig. 2(A–D). Depolarization with and without sodium-channel blockade.</a:t>
            </a:r>
          </a:p>
          <a:p>
            <a:r>
              <a:rPr sz="1200">
                <a:latin typeface="Arial"/>
              </a:rPr>
              <a:t>Figure source: </a:t>
            </a:r>
            <a:r>
              <a:rPr sz="1200">
                <a:latin typeface="Arial"/>
                <a:hlinkClick r:id="rId3"/>
              </a:rPr>
              <a:t>https://doi.org/10.1371/journal.pone.0082497</a:t>
            </a:r>
          </a:p>
          <a:p/>
          <a:p>
            <a:r>
              <a:rPr sz="1200">
                <a:latin typeface="Arial"/>
              </a:rPr>
              <a:t>Figure: Zemel et al. (2021), Fig. 1(a, upper). RA and brainstem targets in the vocal motor pathway.</a:t>
            </a:r>
          </a:p>
          <a:p>
            <a:r>
              <a:rPr sz="1200">
                <a:latin typeface="Arial"/>
              </a:rPr>
              <a:t>Figure source: </a:t>
            </a:r>
            <a:r>
              <a:rPr sz="1200">
                <a:latin typeface="Arial"/>
                <a:hlinkClick r:id="rId4"/>
              </a:rPr>
              <a:t>https://doi.org/10.1038/s41467-021-26521-3</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 D1-like receptor is a dopamine-receptor class that modulates cellular signaling rather than forming the spike-generating sodium pore. Liao and colleagues compared dopamine with the D1-like agonist SKF-38393 in adult male zebra finch RA projection neurons.</a:t>
            </a:r>
          </a:p>
          <a:p>
            <a:r>
              <a:rPr sz="1200">
                <a:latin typeface="Arial"/>
              </a:rPr>
              <a:t>• The agonist increased excitability, and the D1-like antagonist SCH-23390 prevented the dopamine-associated increase under the study's conditions. Comparing an agonist with receptor blockade supplied converging pharmacological evidence for the receptor class involved.</a:t>
            </a:r>
          </a:p>
          <a:p>
            <a:r>
              <a:rPr sz="1200">
                <a:latin typeface="Arial"/>
              </a:rPr>
              <a:t>• The experiments assign a functional contribution to D1-like signaling but do not resolve every receptor subtype, downstream enzyme, or target ion channel. The recorded effect concerns RA membrane physiology; it should not be generalized automatically to dopamine actions in Area X, where circuit organization and receptor effects differ.</a:t>
            </a:r>
          </a:p>
          <a:p/>
          <a:p>
            <a:r>
              <a:rPr sz="1200">
                <a:latin typeface="Arial"/>
              </a:rPr>
              <a:t>References:</a:t>
            </a:r>
          </a:p>
          <a:p>
            <a:r>
              <a:rPr sz="1200">
                <a:latin typeface="Arial"/>
              </a:rPr>
              <a:t>Liao C, Wang S, Pan X, Hou G, Li D (2013). Dopamine Modulates the Excitability of Projection Neurons in the Robust Nucleus of the Arcopallium in Adult Zebra Finches. PLoS ONE 8(12):e82497. </a:t>
            </a:r>
            <a:r>
              <a:rPr sz="1200">
                <a:latin typeface="Arial"/>
                <a:hlinkClick r:id="rId3"/>
              </a:rPr>
              <a:t>https://doi.org/10.1371/journal.pone.0082497</a:t>
            </a:r>
          </a:p>
          <a:p>
            <a:r>
              <a:rPr sz="1200">
                <a:latin typeface="Arial"/>
              </a:rPr>
              <a:t>Zemel BM, Nevue AA, Dagostin A, Lovell PV, Mello CV, von Gersdorff H (2021). Resurgent Na+ currents promote ultrafast spiking in projection neurons that drive fine motor control. Nature Communications 12(1):6762. </a:t>
            </a:r>
            <a:r>
              <a:rPr sz="1200">
                <a:latin typeface="Arial"/>
                <a:hlinkClick r:id="rId4"/>
              </a:rPr>
              <a:t>https://doi.org/10.1038/s41467-021-26521-3</a:t>
            </a:r>
          </a:p>
          <a:p/>
          <a:p>
            <a:r>
              <a:rPr sz="1200">
                <a:latin typeface="Arial"/>
              </a:rPr>
              <a:t>Figure: Liao et al. (2013), Fig. 3(A–D). D1-like agonist effects on RA neurons.</a:t>
            </a:r>
          </a:p>
          <a:p>
            <a:r>
              <a:rPr sz="1200">
                <a:latin typeface="Arial"/>
              </a:rPr>
              <a:t>Figure source: </a:t>
            </a:r>
            <a:r>
              <a:rPr sz="1200">
                <a:latin typeface="Arial"/>
                <a:hlinkClick r:id="rId3"/>
              </a:rPr>
              <a:t>https://doi.org/10.1371/journal.pone.0082497</a:t>
            </a:r>
          </a:p>
          <a:p/>
          <a:p>
            <a:r>
              <a:rPr sz="1200">
                <a:latin typeface="Arial"/>
              </a:rPr>
              <a:t>Figure: Zemel et al. (2021), Fig. 1(a, upper). RA and brainstem targets in the vocal motor pathway.</a:t>
            </a:r>
          </a:p>
          <a:p>
            <a:r>
              <a:rPr sz="1200">
                <a:latin typeface="Arial"/>
              </a:rPr>
              <a:t>Figure source: </a:t>
            </a:r>
            <a:r>
              <a:rPr sz="1200">
                <a:latin typeface="Arial"/>
                <a:hlinkClick r:id="rId4"/>
              </a:rPr>
              <a:t>https://doi.org/10.1038/s41467-021-26521-3</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D2-like receptors form a dopamine-receptor class pharmacologically distinct from D1-like receptors. Liao and colleagues applied the D2-like agonist quinpirole to RA projection neurons and compared firing and membrane voltage before, during, and after the application.</a:t>
            </a:r>
          </a:p>
          <a:p>
            <a:r>
              <a:rPr sz="1200">
                <a:latin typeface="Arial"/>
              </a:rPr>
              <a:t>• Quinpirole did not reproduce the prominent increase in excitability produced by dopamine and the D1-like agonist in this preparation. The comparison constrained receptor interpretation instead of assuming that every dopamine receptor has the same effect on a neuron.</a:t>
            </a:r>
          </a:p>
          <a:p>
            <a:r>
              <a:rPr sz="1200">
                <a:latin typeface="Arial"/>
              </a:rPr>
              <a:t>• A weak or absent effect under these conditions does not establish that D2-like receptors have no function anywhere in the song system. Receptor expression, release conditions, and network targets differ between regions; the study addresses the measured response of adult RA projection neurons in a controlled slice preparation.</a:t>
            </a:r>
          </a:p>
          <a:p/>
          <a:p>
            <a:r>
              <a:rPr sz="1200">
                <a:latin typeface="Arial"/>
              </a:rPr>
              <a:t>References:</a:t>
            </a:r>
          </a:p>
          <a:p>
            <a:r>
              <a:rPr sz="1200">
                <a:latin typeface="Arial"/>
              </a:rPr>
              <a:t>Liao C, Wang S, Pan X, Hou G, Li D (2013). Dopamine Modulates the Excitability of Projection Neurons in the Robust Nucleus of the Arcopallium in Adult Zebra Finches. PLoS ONE 8(12):e82497. </a:t>
            </a:r>
            <a:r>
              <a:rPr sz="1200">
                <a:latin typeface="Arial"/>
                <a:hlinkClick r:id="rId3"/>
              </a:rPr>
              <a:t>https://doi.org/10.1371/journal.pone.0082497</a:t>
            </a:r>
          </a:p>
          <a:p>
            <a:r>
              <a:rPr sz="1200">
                <a:latin typeface="Arial"/>
              </a:rPr>
              <a:t>Zemel BM, Nevue AA, Dagostin A, Lovell PV, Mello CV, von Gersdorff H (2021). Resurgent Na+ currents promote ultrafast spiking in projection neurons that drive fine motor control. Nature Communications 12(1):6762. </a:t>
            </a:r>
            <a:r>
              <a:rPr sz="1200">
                <a:latin typeface="Arial"/>
                <a:hlinkClick r:id="rId4"/>
              </a:rPr>
              <a:t>https://doi.org/10.1038/s41467-021-26521-3</a:t>
            </a:r>
          </a:p>
          <a:p/>
          <a:p>
            <a:r>
              <a:rPr sz="1200">
                <a:latin typeface="Arial"/>
              </a:rPr>
              <a:t>Figure: Liao et al. (2013), Fig. 5(A–D). D2-like agonist measurements in RA neurons.</a:t>
            </a:r>
          </a:p>
          <a:p>
            <a:r>
              <a:rPr sz="1200">
                <a:latin typeface="Arial"/>
              </a:rPr>
              <a:t>Figure source: </a:t>
            </a:r>
            <a:r>
              <a:rPr sz="1200">
                <a:latin typeface="Arial"/>
                <a:hlinkClick r:id="rId3"/>
              </a:rPr>
              <a:t>https://doi.org/10.1371/journal.pone.0082497</a:t>
            </a:r>
          </a:p>
          <a:p/>
          <a:p>
            <a:r>
              <a:rPr sz="1200">
                <a:latin typeface="Arial"/>
              </a:rPr>
              <a:t>Figure: Zemel et al. (2021), Fig. 1(a, upper). RA and brainstem targets in the vocal motor pathway.</a:t>
            </a:r>
          </a:p>
          <a:p>
            <a:r>
              <a:rPr sz="1200">
                <a:latin typeface="Arial"/>
              </a:rPr>
              <a:t>Figure source: </a:t>
            </a:r>
            <a:r>
              <a:rPr sz="1200">
                <a:latin typeface="Arial"/>
                <a:hlinkClick r:id="rId4"/>
              </a:rPr>
              <a:t>https://doi.org/10.1038/s41467-021-26521-3</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The lateral magnocellular nucleus of the anterior nidopallium, or LMAN, is a forebrain output of the anterior forebrain pathway. Garst-Orozco and colleagues stimulated HVC and LMAN fiber tracts separately while recording excitatory postsynaptic currents in RA projection neurons.</a:t>
            </a:r>
          </a:p>
          <a:p>
            <a:r>
              <a:rPr sz="1200">
                <a:latin typeface="Arial"/>
              </a:rPr>
              <a:t>• An excitatory postsynaptic current is the membrane current produced when excitatory transmitter activates receptors on the recorded cell. Pathway-specific stimulation allowed the strength and receptor contributions of the two convergent inputs to be compared in juvenile and adult zebra finches.</a:t>
            </a:r>
          </a:p>
          <a:p>
            <a:r>
              <a:rPr sz="1200">
                <a:latin typeface="Arial"/>
              </a:rPr>
              <a:t>• RA therefore receives input from a direct motor-related pathway and from a basal ganglia–thalamic pathway. Electrical stimulation in slices samples surviving fibers rather than every connection present in the intact animal, and does not reveal the natural activity pattern of those inputs during a particular syllable.</a:t>
            </a:r>
          </a:p>
          <a:p/>
          <a:p>
            <a:r>
              <a:rPr sz="1200">
                <a:latin typeface="Arial"/>
              </a:rPr>
              <a:t>References:</a:t>
            </a:r>
          </a:p>
          <a:p>
            <a:r>
              <a:rPr sz="1200">
                <a:latin typeface="Arial"/>
              </a:rPr>
              <a:t>Garst-Orozco J, Babadi B, Ölveczky BP (2014). A neural circuit mechanism for regulating vocal variability during song learning in zebra finches. eLife 3:e03697. </a:t>
            </a:r>
            <a:r>
              <a:rPr sz="1200">
                <a:latin typeface="Arial"/>
                <a:hlinkClick r:id="rId3"/>
              </a:rPr>
              <a:t>https://doi.org/10.7554/elife.03697</a:t>
            </a:r>
          </a:p>
          <a:p/>
          <a:p>
            <a:r>
              <a:rPr sz="1200">
                <a:latin typeface="Arial"/>
              </a:rPr>
              <a:t>Figure: Garst-Orozco et al. (2014), Fig. 2(A–E). Pathway stimulation and currents recorded in RA.</a:t>
            </a:r>
          </a:p>
          <a:p>
            <a:r>
              <a:rPr sz="1200">
                <a:latin typeface="Arial"/>
              </a:rPr>
              <a:t>Figure source: </a:t>
            </a:r>
            <a:r>
              <a:rPr sz="1200">
                <a:latin typeface="Arial"/>
                <a:hlinkClick r:id="rId3"/>
              </a:rPr>
              <a:t>https://doi.org/10.7554/elife.03697</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Garst-Orozco and colleagues measured HVC-to-RA currents using weak stimulation that produced either failures or a consistent single-fiber response, and stronger stimulation that recruited the available input population. Comparing these measurements distinguished connection strength from the estimated number of recruited inputs.</a:t>
            </a:r>
          </a:p>
          <a:p>
            <a:r>
              <a:rPr sz="1200">
                <a:latin typeface="Arial"/>
              </a:rPr>
              <a:t>• Median single-fiber HVC currents rose from about 23 pA in subsong birds to 60 pA in adults. Estimated input number initially increased, then declined during later development. The experiment therefore identified refinement rather than a uniform increase in every aspect of excitatory connectivity.</a:t>
            </a:r>
          </a:p>
          <a:p>
            <a:r>
              <a:rPr sz="1200">
                <a:latin typeface="Arial"/>
              </a:rPr>
              <a:t>• Such strengthening and pruning can alter how RA converts HVC activity into motor output. The measurements do not establish that each lost input was an incorrect connection for a particular tutor song, and the fiber-number estimate is limited by slice preservation and assumptions about recruitment and current summation.</a:t>
            </a:r>
          </a:p>
          <a:p/>
          <a:p>
            <a:r>
              <a:rPr sz="1200">
                <a:latin typeface="Arial"/>
              </a:rPr>
              <a:t>References:</a:t>
            </a:r>
          </a:p>
          <a:p>
            <a:r>
              <a:rPr sz="1200">
                <a:latin typeface="Arial"/>
              </a:rPr>
              <a:t>Garst-Orozco J, Babadi B, Ölveczky BP (2014). A neural circuit mechanism for regulating vocal variability during song learning in zebra finches. eLife 3:e03697. </a:t>
            </a:r>
            <a:r>
              <a:rPr sz="1200">
                <a:latin typeface="Arial"/>
                <a:hlinkClick r:id="rId3"/>
              </a:rPr>
              <a:t>https://doi.org/10.7554/elife.03697</a:t>
            </a:r>
          </a:p>
          <a:p/>
          <a:p>
            <a:r>
              <a:rPr sz="1200">
                <a:latin typeface="Arial"/>
              </a:rPr>
              <a:t>Figure: Garst-Orozco et al. (2014), Fig. 3(A–G). HVC input strengthening and refinement.</a:t>
            </a:r>
          </a:p>
          <a:p>
            <a:r>
              <a:rPr sz="1200">
                <a:latin typeface="Arial"/>
              </a:rPr>
              <a:t>Figure source: </a:t>
            </a:r>
            <a:r>
              <a:rPr sz="1200">
                <a:latin typeface="Arial"/>
                <a:hlinkClick r:id="rId3"/>
              </a:rPr>
              <a:t>https://doi.org/10.7554/elife.03697</a:t>
            </a:r>
          </a:p>
          <a:p/>
          <a:p>
            <a:r>
              <a:rPr sz="1200">
                <a:latin typeface="Arial"/>
              </a:rPr>
              <a:t>Figure: Garst-Orozco et al. (2014), Fig. 1(C). HVC, LMAN, and RA in the published pathway map.</a:t>
            </a:r>
          </a:p>
          <a:p>
            <a:r>
              <a:rPr sz="1200">
                <a:latin typeface="Arial"/>
              </a:rPr>
              <a:t>Figure source: </a:t>
            </a:r>
            <a:r>
              <a:rPr sz="1200">
                <a:latin typeface="Arial"/>
                <a:hlinkClick r:id="rId3"/>
              </a:rPr>
              <a:t>https://doi.org/10.7554/elife.03697</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Garst-Orozco and colleagues applied the same single-fiber and maximal-recruitment strategy to the LMAN input onto RA neurons. Recordings from subsong, plastic-song, and adult birds tested whether increasing song stereotypy reflected a simple disappearance of this excitatory pathway.</a:t>
            </a:r>
          </a:p>
          <a:p>
            <a:r>
              <a:rPr sz="1200">
                <a:latin typeface="Arial"/>
              </a:rPr>
              <a:t>• Mean single-fiber LMAN currents were approximately 146 pA in plastic-song birds and 142 pA in adults; the estimated number of available inputs remained relatively stable. The finding contrasted with the strengthening and pruning of HVC inputs measured in the same experimental framework.</a:t>
            </a:r>
          </a:p>
          <a:p>
            <a:r>
              <a:rPr sz="1200">
                <a:latin typeface="Arial"/>
              </a:rPr>
              <a:t>• Reduced behavioral variability can consequently coexist with persistent LMAN-to-RA connectivity. The result does not establish that LMAN firing patterns or synaptic effects are identical in behaving juveniles and adults; a preserved connection can have a different influence when other convergent inputs and network activity change.</a:t>
            </a:r>
          </a:p>
          <a:p/>
          <a:p>
            <a:r>
              <a:rPr sz="1200">
                <a:latin typeface="Arial"/>
              </a:rPr>
              <a:t>References:</a:t>
            </a:r>
          </a:p>
          <a:p>
            <a:r>
              <a:rPr sz="1200">
                <a:latin typeface="Arial"/>
              </a:rPr>
              <a:t>Garst-Orozco J, Babadi B, Ölveczky BP (2014). A neural circuit mechanism for regulating vocal variability during song learning in zebra finches. eLife 3:e03697. </a:t>
            </a:r>
            <a:r>
              <a:rPr sz="1200">
                <a:latin typeface="Arial"/>
                <a:hlinkClick r:id="rId3"/>
              </a:rPr>
              <a:t>https://doi.org/10.7554/elife.03697</a:t>
            </a:r>
          </a:p>
          <a:p/>
          <a:p>
            <a:r>
              <a:rPr sz="1200">
                <a:latin typeface="Arial"/>
              </a:rPr>
              <a:t>Figure: Garst-Orozco et al. (2014), Fig. 4(A–H). LMAN current strength and receptor contributions.</a:t>
            </a:r>
          </a:p>
          <a:p>
            <a:r>
              <a:rPr sz="1200">
                <a:latin typeface="Arial"/>
              </a:rPr>
              <a:t>Figure source: </a:t>
            </a:r>
            <a:r>
              <a:rPr sz="1200">
                <a:latin typeface="Arial"/>
                <a:hlinkClick r:id="rId3"/>
              </a:rPr>
              <a:t>https://doi.org/10.7554/elife.03697</a:t>
            </a:r>
          </a:p>
          <a:p/>
          <a:p>
            <a:r>
              <a:rPr sz="1200">
                <a:latin typeface="Arial"/>
              </a:rPr>
              <a:t>Figure: Garst-Orozco et al. (2014), Fig. 1(C). HVC, LMAN, and RA in the published pathway map.</a:t>
            </a:r>
          </a:p>
          <a:p>
            <a:r>
              <a:rPr sz="1200">
                <a:latin typeface="Arial"/>
              </a:rPr>
              <a:t>Figure source: </a:t>
            </a:r>
            <a:r>
              <a:rPr sz="1200">
                <a:latin typeface="Arial"/>
                <a:hlinkClick r:id="rId3"/>
              </a:rPr>
              <a:t>https://doi.org/10.7554/elife.03697</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Garst-Orozco and colleagues recorded LMAN-evoked currents at −70 and +40 mV. At negative voltages, extracellular magnesium limits NMDA-receptor current; depolarization relieves this voltage-dependent block, allowing the slower receptor component to contribute more strongly.</a:t>
            </a:r>
          </a:p>
          <a:p>
            <a:r>
              <a:rPr sz="1200">
                <a:latin typeface="Arial"/>
              </a:rPr>
              <a:t>• The comparison distinguished predominantly AMPA-mediated responses at −70 mV from the combined AMPA and NMDA response at +40 mV. The estimated NMDA-to-AMPA contribution in subsong birds was approximately 9:1. LMAN responses had a substantial NMDA component, connecting pathway identity to a particular form of postsynaptic integration rather than treating all excitatory inputs as interchangeable.</a:t>
            </a:r>
          </a:p>
          <a:p>
            <a:r>
              <a:rPr sz="1200">
                <a:latin typeface="Arial"/>
              </a:rPr>
              <a:t>• Voltage-dependent gating means that the effect of LMAN input depends partly on the postsynaptic state of RA. The recordings establish receptor contributions under imposed holding potentials, but cannot by themselves specify RA voltage trajectories or transmitter release during freely produced song.</a:t>
            </a:r>
          </a:p>
          <a:p/>
          <a:p>
            <a:r>
              <a:rPr sz="1200">
                <a:latin typeface="Arial"/>
              </a:rPr>
              <a:t>References:</a:t>
            </a:r>
          </a:p>
          <a:p>
            <a:r>
              <a:rPr sz="1200">
                <a:latin typeface="Arial"/>
              </a:rPr>
              <a:t>Garst-Orozco J, Babadi B, Ölveczky BP (2014). A neural circuit mechanism for regulating vocal variability during song learning in zebra finches. eLife 3:e03697. </a:t>
            </a:r>
            <a:r>
              <a:rPr sz="1200">
                <a:latin typeface="Arial"/>
                <a:hlinkClick r:id="rId3"/>
              </a:rPr>
              <a:t>https://doi.org/10.7554/elife.03697</a:t>
            </a:r>
          </a:p>
          <a:p/>
          <a:p>
            <a:r>
              <a:rPr sz="1200">
                <a:latin typeface="Arial"/>
              </a:rPr>
              <a:t>Figure: Garst-Orozco et al. (2014), Fig. 4(A–H). LMAN current strength and receptor contributions.</a:t>
            </a:r>
          </a:p>
          <a:p>
            <a:r>
              <a:rPr sz="1200">
                <a:latin typeface="Arial"/>
              </a:rPr>
              <a:t>Figure source: </a:t>
            </a:r>
            <a:r>
              <a:rPr sz="1200">
                <a:latin typeface="Arial"/>
                <a:hlinkClick r:id="rId3"/>
              </a:rPr>
              <a:t>https://doi.org/10.7554/elife.03697</a:t>
            </a:r>
          </a:p>
          <a:p/>
          <a:p>
            <a:r>
              <a:rPr sz="1200">
                <a:latin typeface="Arial"/>
              </a:rPr>
              <a:t>Figure: Garst-Orozco et al. (2014), Fig. 1(C). HVC, LMAN, and RA in the published pathway map.</a:t>
            </a:r>
          </a:p>
          <a:p>
            <a:r>
              <a:rPr sz="1200">
                <a:latin typeface="Arial"/>
              </a:rPr>
              <a:t>Figure source: </a:t>
            </a:r>
            <a:r>
              <a:rPr sz="1200">
                <a:latin typeface="Arial"/>
                <a:hlinkClick r:id="rId3"/>
              </a:rPr>
              <a:t>https://doi.org/10.7554/elife.03697</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Garst-Orozco and colleagues measured RA responses to 0.5-second current pulses at 35 °C across subsong, plastic-song, and adult stages. Input-to-firing gain and spike-frequency adaptation were broadly similar across these groups, constraining a simple intrinsic-excitability explanation of reduced song variability.</a:t>
            </a:r>
          </a:p>
          <a:p>
            <a:r>
              <a:rPr sz="1200">
                <a:latin typeface="Arial"/>
              </a:rPr>
              <a:t>• Zemel and colleagues included younger 20-day birds and isolated sodium-current components, detecting pronounced maturation of resurgent current and spike properties. The studies differ in developmental window, recording conditions, and the physiological property being measured.</a:t>
            </a:r>
          </a:p>
          <a:p>
            <a:r>
              <a:rPr sz="1200">
                <a:latin typeface="Arial"/>
              </a:rPr>
              <a:t>• A stable firing-rate response over one age interval does not contradict earlier maturation of a particular ion current. Neither experiment supports a universal statement that RA intrinsic properties never change, nor that all decreases in song variability are caused by sodium-channel maturation.</a:t>
            </a:r>
          </a:p>
          <a:p/>
          <a:p>
            <a:r>
              <a:rPr sz="1200">
                <a:latin typeface="Arial"/>
              </a:rPr>
              <a:t>References:</a:t>
            </a:r>
          </a:p>
          <a:p>
            <a:r>
              <a:rPr sz="1200">
                <a:latin typeface="Arial"/>
              </a:rPr>
              <a:t>Garst-Orozco J, Babadi B, Ölveczky BP (2014). A neural circuit mechanism for regulating vocal variability during song learning in zebra finches. eLife 3:e03697. </a:t>
            </a:r>
            <a:r>
              <a:rPr sz="1200">
                <a:latin typeface="Arial"/>
                <a:hlinkClick r:id="rId3"/>
              </a:rPr>
              <a:t>https://doi.org/10.7554/elife.03697</a:t>
            </a:r>
          </a:p>
          <a:p>
            <a:r>
              <a:rPr sz="1200">
                <a:latin typeface="Arial"/>
              </a:rPr>
              <a:t>Zemel BM, Nevue AA, Dagostin A, Lovell PV, Mello CV, von Gersdorff H (2021). Resurgent Na+ currents promote ultrafast spiking in projection neurons that drive fine motor control. Nature Communications 12(1):6762. </a:t>
            </a:r>
            <a:r>
              <a:rPr sz="1200">
                <a:latin typeface="Arial"/>
                <a:hlinkClick r:id="rId4"/>
              </a:rPr>
              <a:t>https://doi.org/10.1038/s41467-021-26521-3</a:t>
            </a:r>
          </a:p>
          <a:p/>
          <a:p>
            <a:r>
              <a:rPr sz="1200">
                <a:latin typeface="Arial"/>
              </a:rPr>
              <a:t>Figure: Garst-Orozco et al. (2014), Fig. 5(A–F). RA firing responses across developmental stages.</a:t>
            </a:r>
          </a:p>
          <a:p>
            <a:r>
              <a:rPr sz="1200">
                <a:latin typeface="Arial"/>
              </a:rPr>
              <a:t>Figure source: </a:t>
            </a:r>
            <a:r>
              <a:rPr sz="1200">
                <a:latin typeface="Arial"/>
                <a:hlinkClick r:id="rId3"/>
              </a:rPr>
              <a:t>https://doi.org/10.7554/elife.03697</a:t>
            </a:r>
          </a:p>
          <a:p/>
          <a:p>
            <a:r>
              <a:rPr sz="1200">
                <a:latin typeface="Arial"/>
              </a:rPr>
              <a:t>Figure: Garst-Orozco et al. (2014), Fig. 1(C). HVC, LMAN, and RA in the published pathway map.</a:t>
            </a:r>
          </a:p>
          <a:p>
            <a:r>
              <a:rPr sz="1200">
                <a:latin typeface="Arial"/>
              </a:rPr>
              <a:t>Figure source: </a:t>
            </a:r>
            <a:r>
              <a:rPr sz="1200">
                <a:latin typeface="Arial"/>
                <a:hlinkClick r:id="rId3"/>
              </a:rPr>
              <a:t>https://doi.org/10.7554/elife.03697</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Bottjer and colleagues lesioned the region then called MAN in male zebra finches at different stages of song development. Postoperative vocalizations were recorded repeatedly, and histology distinguished complete lesions from cases in which the intended region was largely spared.</a:t>
            </a:r>
          </a:p>
          <a:p>
            <a:r>
              <a:rPr sz="1200">
                <a:latin typeface="Arial"/>
              </a:rPr>
              <a:t>• Lesions early in development produced abnormal vocal patterns, whereas adult birds with complete bilateral lesions retained normal song for as long as five weeks. Birds operated at intermediate stages differed according to how established their song pattern was before surgery.</a:t>
            </a:r>
          </a:p>
          <a:p>
            <a:r>
              <a:rPr sz="1200">
                <a:latin typeface="Arial"/>
              </a:rPr>
              <a:t>• The age dependence separates a contribution to developing vocal behavior from an obligatory role in executing established adult song. It does not prove that LMAN stores the tutor memory or that adult LMAN has no function; later pathway-specific physiology identifies persistent input to RA even after song stabilizes.</a:t>
            </a:r>
          </a:p>
          <a:p/>
          <a:p>
            <a:r>
              <a:rPr sz="1200">
                <a:latin typeface="Arial"/>
              </a:rPr>
              <a:t>References:</a:t>
            </a:r>
          </a:p>
          <a:p>
            <a:r>
              <a:rPr sz="1200">
                <a:latin typeface="Arial"/>
              </a:rPr>
              <a:t>Bottjer SW, Miesner EA, Arnold AP (1984). Forebrain Lesions Disrupt Development But Not Maintenance of Song in Passerine Birds. Science 224(4651):901-903. </a:t>
            </a:r>
            <a:r>
              <a:rPr sz="1200">
                <a:latin typeface="Arial"/>
                <a:hlinkClick r:id="rId3"/>
              </a:rPr>
              <a:t>https://doi.org/10.1126/science.6719123</a:t>
            </a:r>
          </a:p>
          <a:p>
            <a:r>
              <a:rPr sz="1200">
                <a:latin typeface="Arial"/>
              </a:rPr>
              <a:t>Garst-Orozco J, Babadi B, Ölveczky BP (2014). A neural circuit mechanism for regulating vocal variability during song learning in zebra finches. eLife 3:e03697. </a:t>
            </a:r>
            <a:r>
              <a:rPr sz="1200">
                <a:latin typeface="Arial"/>
                <a:hlinkClick r:id="rId4"/>
              </a:rPr>
              <a:t>https://doi.org/10.7554/elife.03697</a:t>
            </a:r>
          </a:p>
          <a:p/>
          <a:p>
            <a:r>
              <a:rPr sz="1200">
                <a:latin typeface="Arial"/>
              </a:rPr>
              <a:t>Figure: Garst-Orozco et al. (2014), Fig. 1(C). HVC, LMAN, and RA in the published pathway map.</a:t>
            </a:r>
          </a:p>
          <a:p>
            <a:r>
              <a:rPr sz="1200">
                <a:latin typeface="Arial"/>
              </a:rPr>
              <a:t>Figure source: </a:t>
            </a:r>
            <a:r>
              <a:rPr sz="1200">
                <a:latin typeface="Arial"/>
                <a:hlinkClick r:id="rId4"/>
              </a:rPr>
              <a:t>https://doi.org/10.7554/elife.03697</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Area X is a song-related basal ganglia region containing striatal-like neurons and pallidal-like output neurons. The basal ganglia are forebrain circuits involved in selecting and modifying actions; these cell classes have different positions within the circuit rather than forming one homogeneous population.</a:t>
            </a:r>
          </a:p>
          <a:p>
            <a:r>
              <a:rPr sz="1200">
                <a:latin typeface="Arial"/>
              </a:rPr>
              <a:t>• Area X receives HVC and LMAN input and sends inhibitory output toward the medial portion of the dorsolateral thalamic nucleus, DLM. DLM projects to LMAN, whose output returns to RA and also to Area X, producing an anatomically connected forebrain loop.</a:t>
            </a:r>
          </a:p>
          <a:p>
            <a:r>
              <a:rPr sz="1200">
                <a:latin typeface="Arial"/>
              </a:rPr>
              <a:t>• GABA, gamma-aminobutyric acid, is the inhibitory transmitter associated with the pallidal-like output. The published anatomical pathway constrains possible mechanisms, but a connection diagram alone does not determine the moment-to-moment activity or learning rule operating in that loop.</a:t>
            </a:r>
          </a:p>
          <a:p/>
          <a:p>
            <a:r>
              <a:rPr sz="1200">
                <a:latin typeface="Arial"/>
              </a:rPr>
              <a:t>References:</a:t>
            </a:r>
          </a:p>
          <a:p>
            <a:r>
              <a:rPr sz="1200">
                <a:latin typeface="Arial"/>
              </a:rPr>
              <a:t>Gale SD, Perkel DJ (2010b). Anatomy of a songbird basal ganglia circuit essential for vocal learning and plasticity. Journal of Chemical Neuroanatomy 39(2):124-131. </a:t>
            </a:r>
            <a:r>
              <a:rPr sz="1200">
                <a:latin typeface="Arial"/>
                <a:hlinkClick r:id="rId3"/>
              </a:rPr>
              <a:t>https://doi.org/10.1016/j.jchemneu.2009.07.003</a:t>
            </a:r>
          </a:p>
          <a:p>
            <a:r>
              <a:rPr sz="1200">
                <a:latin typeface="Arial"/>
              </a:rPr>
              <a:t>Gale SD, Perkel DJ (2010a). A Basal Ganglia Pathway Drives Selective Auditory Responses in Songbird Dopaminergic Neurons via Disinhibition. The Journal of Neuroscience 30(3):1027-1037. </a:t>
            </a:r>
            <a:r>
              <a:rPr sz="1200">
                <a:latin typeface="Arial"/>
                <a:hlinkClick r:id="rId4"/>
              </a:rPr>
              <a:t>https://doi.org/10.1523/jneurosci.3585-09.2010</a:t>
            </a:r>
          </a:p>
          <a:p/>
          <a:p>
            <a:r>
              <a:rPr sz="1200">
                <a:latin typeface="Arial"/>
              </a:rPr>
              <a:t>Figure: Gale &amp; Perkel (2010a), Fig. 1(A). Area X, DLM, LMAN, and midbrain connections.</a:t>
            </a:r>
          </a:p>
          <a:p>
            <a:r>
              <a:rPr sz="1200">
                <a:latin typeface="Arial"/>
              </a:rPr>
              <a:t>Figure source: </a:t>
            </a:r>
            <a:r>
              <a:rPr sz="1200">
                <a:latin typeface="Arial"/>
                <a:hlinkClick r:id="rId4"/>
              </a:rPr>
              <a:t>https://doi.org/10.1523/jneurosci.3585-09.2010</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A retrograde tracer labels neurons projecting toward an injection site, whereas an anterograde tracer labels their axons and terminals downstream. Vates and Nottebohm used complementary tracing approaches to investigate pathways linking the song-related forebrain nuclei.</a:t>
            </a:r>
          </a:p>
          <a:p>
            <a:r>
              <a:rPr sz="1200">
                <a:latin typeface="Arial"/>
              </a:rPr>
              <a:t>• Injections associated with Area X and RA labeled neurons and terminal fields in LMAN. These distributions supported an LMAN output route to both the basal ganglia region and the motor nucleus, extending the circuit beyond a one-way chain from HVC to the vocal organ.</a:t>
            </a:r>
          </a:p>
          <a:p>
            <a:r>
              <a:rPr sz="1200">
                <a:latin typeface="Arial"/>
              </a:rPr>
              <a:t>• Using more than one tracer direction reduces ambiguity about which cells send and receive a projection. Tracer labeling nevertheless does not establish whether every anatomical connection is active during song, identify the transmitter at every terminal, or measure the temporal influence of a synapse on its target.</a:t>
            </a:r>
          </a:p>
          <a:p/>
          <a:p>
            <a:r>
              <a:rPr sz="1200">
                <a:latin typeface="Arial"/>
              </a:rPr>
              <a:t>References:</a:t>
            </a:r>
          </a:p>
          <a:p>
            <a:r>
              <a:rPr sz="1200">
                <a:latin typeface="Arial"/>
              </a:rPr>
              <a:t>Vates GE, Nottebohm F (1995). Feedback circuitry within a song-learning pathway.. Proceedings of the National Academy of Sciences 92(11):5139-5143. </a:t>
            </a:r>
            <a:r>
              <a:rPr sz="1200">
                <a:latin typeface="Arial"/>
                <a:hlinkClick r:id="rId3"/>
              </a:rPr>
              <a:t>https://doi.org/10.1073/pnas.92.11.5139</a:t>
            </a:r>
          </a:p>
          <a:p/>
          <a:p>
            <a:r>
              <a:rPr sz="1200">
                <a:latin typeface="Arial"/>
              </a:rPr>
              <a:t>Figure: Vates &amp; Nottebohm (1995), Fig. 3(a–e). Tracer labeling linking LMAN, Area X, and RA.</a:t>
            </a:r>
          </a:p>
          <a:p>
            <a:r>
              <a:rPr sz="1200">
                <a:latin typeface="Arial"/>
              </a:rPr>
              <a:t>Figure source: </a:t>
            </a:r>
            <a:r>
              <a:rPr sz="1200">
                <a:latin typeface="Arial"/>
                <a:hlinkClick r:id="rId3"/>
              </a:rPr>
              <a:t>https://doi.org/10.1073/pnas.92.11.5139</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Vates and Nottebohm placed different retrograde tracers in RA and Area X to ask whether the two projections originated from separate LMAN populations. Neurons containing both labels were identified within LMAN, providing evidence of output toward both targets from individual cells.</a:t>
            </a:r>
          </a:p>
          <a:p>
            <a:r>
              <a:rPr sz="1200">
                <a:latin typeface="Arial"/>
              </a:rPr>
              <a:t>• This result is more specific than overlapping terminal fields: it links the two target regions to a shared projecting neuron. A neuron with branching output can influence RA motor circuitry while also returning activity to the anterior forebrain loop through Area X.</a:t>
            </a:r>
          </a:p>
          <a:p>
            <a:r>
              <a:rPr sz="1200">
                <a:latin typeface="Arial"/>
              </a:rPr>
              <a:t>• Double labeling identifies anatomical collateralization, not the information carried by each branch. Uptake and transport efficiencies also limit interpretation of unlabeled cells, so failure to detect a second label in one neuron does not prove that all of its axonal branches avoid the other target.</a:t>
            </a:r>
          </a:p>
          <a:p/>
          <a:p>
            <a:r>
              <a:rPr sz="1200">
                <a:latin typeface="Arial"/>
              </a:rPr>
              <a:t>References:</a:t>
            </a:r>
          </a:p>
          <a:p>
            <a:r>
              <a:rPr sz="1200">
                <a:latin typeface="Arial"/>
              </a:rPr>
              <a:t>Vates GE, Nottebohm F (1995). Feedback circuitry within a song-learning pathway.. Proceedings of the National Academy of Sciences 92(11):5139-5143. </a:t>
            </a:r>
            <a:r>
              <a:rPr sz="1200">
                <a:latin typeface="Arial"/>
                <a:hlinkClick r:id="rId3"/>
              </a:rPr>
              <a:t>https://doi.org/10.1073/pnas.92.11.5139</a:t>
            </a:r>
          </a:p>
          <a:p/>
          <a:p>
            <a:r>
              <a:rPr sz="1200">
                <a:latin typeface="Arial"/>
              </a:rPr>
              <a:t>Figure: Vates &amp; Nottebohm (1995), Fig. 5(a–b). Two retrograde labels in LMAN neurons.</a:t>
            </a:r>
          </a:p>
          <a:p>
            <a:r>
              <a:rPr sz="1200">
                <a:latin typeface="Arial"/>
              </a:rPr>
              <a:t>Figure source: </a:t>
            </a:r>
            <a:r>
              <a:rPr sz="1200">
                <a:latin typeface="Arial"/>
                <a:hlinkClick r:id="rId3"/>
              </a:rPr>
              <a:t>https://doi.org/10.1073/pnas.92.11.5139</a:t>
            </a:r>
          </a:p>
          <a:p/>
          <a:p>
            <a:r>
              <a:rPr sz="1200">
                <a:latin typeface="Arial"/>
              </a:rPr>
              <a:t>Figure: Vates &amp; Nottebohm (1995), Fig. 4(a–f). Injection sites and retrogradely labeled LMAN cells.</a:t>
            </a:r>
          </a:p>
          <a:p>
            <a:r>
              <a:rPr sz="1200">
                <a:latin typeface="Arial"/>
              </a:rPr>
              <a:t>Figure source: </a:t>
            </a:r>
            <a:r>
              <a:rPr sz="1200">
                <a:latin typeface="Arial"/>
                <a:hlinkClick r:id="rId3"/>
              </a:rPr>
              <a:t>https://doi.org/10.1073/pnas.92.11.5139</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Doupe recorded extracellular spikes from LMAN while playing the bird's own song and comparison sounds to anesthetized adult zebra finches. A raster plot records individual spike times across repeated trials; averaging these trials yields the time-dependent firing-rate response.</a:t>
            </a:r>
          </a:p>
          <a:p>
            <a:r>
              <a:rPr sz="1200">
                <a:latin typeface="Arial"/>
              </a:rPr>
              <a:t>• Many neurons responded strongly to the bird's own song but weakly to other conspecific songs or simple acoustic stimuli. Comparisons with amplitude-modulated noise and tones tested whether a response could be explained by a generic sound-energy change alone.</a:t>
            </a:r>
          </a:p>
          <a:p>
            <a:r>
              <a:rPr sz="1200">
                <a:latin typeface="Arial"/>
              </a:rPr>
              <a:t>• The selectivity links an anterior forebrain nucleus with the acoustic structure of learned vocal behavior. Because these were playback responses under anesthesia, they do not establish that LMAN monitors song identically during awake singing or that the selective response is itself an error signal.</a:t>
            </a:r>
          </a:p>
          <a:p/>
          <a:p>
            <a:r>
              <a:rPr sz="1200">
                <a:latin typeface="Arial"/>
              </a:rPr>
              <a:t>References:</a:t>
            </a:r>
          </a:p>
          <a:p>
            <a:r>
              <a:rPr sz="1200">
                <a:latin typeface="Arial"/>
              </a:rPr>
              <a:t>Doupe AJ (1997). Song- and Order-Selective Neurons in the Songbird Anterior Forebrain and their Emergence during Vocal Development. The Journal of Neuroscience 17(3):1147-1167. </a:t>
            </a:r>
            <a:r>
              <a:rPr sz="1200">
                <a:latin typeface="Arial"/>
                <a:hlinkClick r:id="rId3"/>
              </a:rPr>
              <a:t>https://doi.org/10.1523/jneurosci.17-03-01147.1997</a:t>
            </a:r>
          </a:p>
          <a:p>
            <a:r>
              <a:rPr sz="1200">
                <a:latin typeface="Arial"/>
              </a:rPr>
              <a:t>Gale SD, Perkel DJ (2010a). A Basal Ganglia Pathway Drives Selective Auditory Responses in Songbird Dopaminergic Neurons via Disinhibition. The Journal of Neuroscience 30(3):1027-1037. </a:t>
            </a:r>
            <a:r>
              <a:rPr sz="1200">
                <a:latin typeface="Arial"/>
                <a:hlinkClick r:id="rId4"/>
              </a:rPr>
              <a:t>https://doi.org/10.1523/jneurosci.3585-09.2010</a:t>
            </a:r>
          </a:p>
          <a:p/>
          <a:p>
            <a:r>
              <a:rPr sz="1200">
                <a:latin typeface="Arial"/>
              </a:rPr>
              <a:t>Figure: Doupe (1997), Fig. 2(a–c). LMAN responses to self-song and comparison songs.</a:t>
            </a:r>
          </a:p>
          <a:p>
            <a:r>
              <a:rPr sz="1200">
                <a:latin typeface="Arial"/>
              </a:rPr>
              <a:t>Figure source: </a:t>
            </a:r>
            <a:r>
              <a:rPr sz="1200">
                <a:latin typeface="Arial"/>
                <a:hlinkClick r:id="rId3"/>
              </a:rPr>
              <a:t>https://doi.org/10.1523/jneurosci.17-03-01147.1997</a:t>
            </a:r>
          </a:p>
          <a:p/>
          <a:p>
            <a:r>
              <a:rPr sz="1200">
                <a:latin typeface="Arial"/>
              </a:rPr>
              <a:t>Figure: Gale &amp; Perkel (2010a), Fig. 1(A). Area X, DLM, LMAN, and midbrain connections.</a:t>
            </a:r>
          </a:p>
          <a:p>
            <a:r>
              <a:rPr sz="1200">
                <a:latin typeface="Arial"/>
              </a:rPr>
              <a:t>Figure source: </a:t>
            </a:r>
            <a:r>
              <a:rPr sz="1200">
                <a:latin typeface="Arial"/>
                <a:hlinkClick r:id="rId4"/>
              </a:rPr>
              <a:t>https://doi.org/10.1523/jneurosci.3585-09.2010</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Doupe compared responses to intact song with altered versions in which the order or arrangement of song elements was changed. A syllable is a recognizable acoustic unit; reorganizing syllables preserves many local acoustic features while changing their temporal context.</a:t>
            </a:r>
          </a:p>
          <a:p>
            <a:r>
              <a:rPr sz="1200">
                <a:latin typeface="Arial"/>
              </a:rPr>
              <a:t>• Some LMAN neurons responded more strongly to the normal sequence than to rearrangements or isolated combinations. Such comparisons tested whether selectivity depended only on an individual sound fragment or also on the relationship between fragments across time.</a:t>
            </a:r>
          </a:p>
          <a:p>
            <a:r>
              <a:rPr sz="1200">
                <a:latin typeface="Arial"/>
              </a:rPr>
              <a:t>• Temporal-order sensitivity is consistent with integration of a learned sequence rather than detection of a single frequency alone. It does not identify a complete synaptic mechanism for the selectivity, and responses to experimental rearrangements cannot by themselves distinguish recognition, prediction, and vocal-learning functions in the behaving animal.</a:t>
            </a:r>
          </a:p>
          <a:p/>
          <a:p>
            <a:r>
              <a:rPr sz="1200">
                <a:latin typeface="Arial"/>
              </a:rPr>
              <a:t>References:</a:t>
            </a:r>
          </a:p>
          <a:p>
            <a:r>
              <a:rPr sz="1200">
                <a:latin typeface="Arial"/>
              </a:rPr>
              <a:t>Doupe AJ (1997). Song- and Order-Selective Neurons in the Songbird Anterior Forebrain and their Emergence during Vocal Development. The Journal of Neuroscience 17(3):1147-1167. </a:t>
            </a:r>
            <a:r>
              <a:rPr sz="1200">
                <a:latin typeface="Arial"/>
                <a:hlinkClick r:id="rId3"/>
              </a:rPr>
              <a:t>https://doi.org/10.1523/jneurosci.17-03-01147.1997</a:t>
            </a:r>
          </a:p>
          <a:p>
            <a:r>
              <a:rPr sz="1200">
                <a:latin typeface="Arial"/>
              </a:rPr>
              <a:t>Gale SD, Perkel DJ (2010a). A Basal Ganglia Pathway Drives Selective Auditory Responses in Songbird Dopaminergic Neurons via Disinhibition. The Journal of Neuroscience 30(3):1027-1037. </a:t>
            </a:r>
            <a:r>
              <a:rPr sz="1200">
                <a:latin typeface="Arial"/>
                <a:hlinkClick r:id="rId4"/>
              </a:rPr>
              <a:t>https://doi.org/10.1523/jneurosci.3585-09.2010</a:t>
            </a:r>
          </a:p>
          <a:p/>
          <a:p>
            <a:r>
              <a:rPr sz="1200">
                <a:latin typeface="Arial"/>
              </a:rPr>
              <a:t>Figure: Doupe (1997), Fig. 7(a–g). Responses to combinations of song syllables.</a:t>
            </a:r>
          </a:p>
          <a:p>
            <a:r>
              <a:rPr sz="1200">
                <a:latin typeface="Arial"/>
              </a:rPr>
              <a:t>Figure source: </a:t>
            </a:r>
            <a:r>
              <a:rPr sz="1200">
                <a:latin typeface="Arial"/>
                <a:hlinkClick r:id="rId3"/>
              </a:rPr>
              <a:t>https://doi.org/10.1523/jneurosci.17-03-01147.1997</a:t>
            </a:r>
          </a:p>
          <a:p/>
          <a:p>
            <a:r>
              <a:rPr sz="1200">
                <a:latin typeface="Arial"/>
              </a:rPr>
              <a:t>Figure: Gale &amp; Perkel (2010a), Fig. 1(A). Area X, DLM, LMAN, and midbrain connections.</a:t>
            </a:r>
          </a:p>
          <a:p>
            <a:r>
              <a:rPr sz="1200">
                <a:latin typeface="Arial"/>
              </a:rPr>
              <a:t>Figure source: </a:t>
            </a:r>
            <a:r>
              <a:rPr sz="1200">
                <a:latin typeface="Arial"/>
                <a:hlinkClick r:id="rId4"/>
              </a:rPr>
              <a:t>https://doi.org/10.1523/jneurosci.3585-09.2010</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Doupe recorded auditory responses in Area X using the bird's own song, reversed song, and songs from other zebra finches. Comparing multiple stimuli within the same neuron controlled for differences in overall excitability between cells and recording sites.</a:t>
            </a:r>
          </a:p>
          <a:p>
            <a:r>
              <a:rPr sz="1200">
                <a:latin typeface="Arial"/>
              </a:rPr>
              <a:t>• Area X neurons exhibited selective responses to familiar self-song, with responses influenced by the temporal structure of the playback. Auditory selectivity was therefore present within the basal ganglia portion of the anterior forebrain pathway, rather than being restricted to its LMAN output.</a:t>
            </a:r>
          </a:p>
          <a:p>
            <a:r>
              <a:rPr sz="1200">
                <a:latin typeface="Arial"/>
              </a:rPr>
              <a:t>• These findings establish sensory responsiveness in a song-related circuit but do not equate Area X with an auditory storage site. The extracellular recording does not identify every neuron's cell class, and the anesthetized playback preparation differs from the sensory and motor conditions during natural courtship song.</a:t>
            </a:r>
          </a:p>
          <a:p/>
          <a:p>
            <a:r>
              <a:rPr sz="1200">
                <a:latin typeface="Arial"/>
              </a:rPr>
              <a:t>References:</a:t>
            </a:r>
          </a:p>
          <a:p>
            <a:r>
              <a:rPr sz="1200">
                <a:latin typeface="Arial"/>
              </a:rPr>
              <a:t>Doupe AJ (1997). Song- and Order-Selective Neurons in the Songbird Anterior Forebrain and their Emergence during Vocal Development. The Journal of Neuroscience 17(3):1147-1167. </a:t>
            </a:r>
            <a:r>
              <a:rPr sz="1200">
                <a:latin typeface="Arial"/>
                <a:hlinkClick r:id="rId3"/>
              </a:rPr>
              <a:t>https://doi.org/10.1523/jneurosci.17-03-01147.1997</a:t>
            </a:r>
          </a:p>
          <a:p>
            <a:r>
              <a:rPr sz="1200">
                <a:latin typeface="Arial"/>
              </a:rPr>
              <a:t>Gale SD, Perkel DJ (2010a). A Basal Ganglia Pathway Drives Selective Auditory Responses in Songbird Dopaminergic Neurons via Disinhibition. The Journal of Neuroscience 30(3):1027-1037. </a:t>
            </a:r>
            <a:r>
              <a:rPr sz="1200">
                <a:latin typeface="Arial"/>
                <a:hlinkClick r:id="rId4"/>
              </a:rPr>
              <a:t>https://doi.org/10.1523/jneurosci.3585-09.2010</a:t>
            </a:r>
          </a:p>
          <a:p/>
          <a:p>
            <a:r>
              <a:rPr sz="1200">
                <a:latin typeface="Arial"/>
              </a:rPr>
              <a:t>Figure: Doupe (1997), Fig. 9(a–d). Song-selective auditory responses in Area X.</a:t>
            </a:r>
          </a:p>
          <a:p>
            <a:r>
              <a:rPr sz="1200">
                <a:latin typeface="Arial"/>
              </a:rPr>
              <a:t>Figure source: </a:t>
            </a:r>
            <a:r>
              <a:rPr sz="1200">
                <a:latin typeface="Arial"/>
                <a:hlinkClick r:id="rId3"/>
              </a:rPr>
              <a:t>https://doi.org/10.1523/jneurosci.17-03-01147.1997</a:t>
            </a:r>
          </a:p>
          <a:p/>
          <a:p>
            <a:r>
              <a:rPr sz="1200">
                <a:latin typeface="Arial"/>
              </a:rPr>
              <a:t>Figure: Gale &amp; Perkel (2010a), Fig. 1(A). Area X, DLM, LMAN, and midbrain connections.</a:t>
            </a:r>
          </a:p>
          <a:p>
            <a:r>
              <a:rPr sz="1200">
                <a:latin typeface="Arial"/>
              </a:rPr>
              <a:t>Figure source: </a:t>
            </a:r>
            <a:r>
              <a:rPr sz="1200">
                <a:latin typeface="Arial"/>
                <a:hlinkClick r:id="rId4"/>
              </a:rPr>
              <a:t>https://doi.org/10.1523/jneurosci.3585-09.2010</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Gale and Perkel recorded neurons in the substantia nigra pars compacta and ventral tegmental area, SNc/VTA, while testing auditory responses. These midbrain regions provide dopaminergic input to Area X, but recording location alone does not establish a neuron's transmitter identity.</a:t>
            </a:r>
          </a:p>
          <a:p>
            <a:r>
              <a:rPr sz="1200">
                <a:latin typeface="Arial"/>
              </a:rPr>
              <a:t>• They combined spike measurements with juxtacellular labeling and immunostaining for tyrosine hydroxylase, an enzyme involved in catecholamine synthesis. Labeled cells with the marker provided an anatomical and biochemical check on the classification based on firing properties.</a:t>
            </a:r>
          </a:p>
          <a:p>
            <a:r>
              <a:rPr sz="1200">
                <a:latin typeface="Arial"/>
              </a:rPr>
              <a:t>• The fluorescent micrographs retain 20 µm scale bars and connect a recorded cell with its tissue identity. Marker-positive cells support the dopaminergic interpretation in this preparation, but a waveform criterion alone remains less specific than identifying the recorded neuron histologically.</a:t>
            </a:r>
          </a:p>
          <a:p/>
          <a:p>
            <a:r>
              <a:rPr sz="1200">
                <a:latin typeface="Arial"/>
              </a:rPr>
              <a:t>References:</a:t>
            </a:r>
          </a:p>
          <a:p>
            <a:r>
              <a:rPr sz="1200">
                <a:latin typeface="Arial"/>
              </a:rPr>
              <a:t>Gale SD, Perkel DJ (2010a). A Basal Ganglia Pathway Drives Selective Auditory Responses in Songbird Dopaminergic Neurons via Disinhibition. The Journal of Neuroscience 30(3):1027-1037. </a:t>
            </a:r>
            <a:r>
              <a:rPr sz="1200">
                <a:latin typeface="Arial"/>
                <a:hlinkClick r:id="rId3"/>
              </a:rPr>
              <a:t>https://doi.org/10.1523/jneurosci.3585-09.2010</a:t>
            </a:r>
          </a:p>
          <a:p/>
          <a:p>
            <a:r>
              <a:rPr sz="1200">
                <a:latin typeface="Arial"/>
              </a:rPr>
              <a:t>Figure: Gale &amp; Perkel (2010a), Fig. 4(A–F). Recorded cell labeling and transmitter-marker staining.</a:t>
            </a:r>
          </a:p>
          <a:p>
            <a:r>
              <a:rPr sz="1200">
                <a:latin typeface="Arial"/>
              </a:rPr>
              <a:t>Figure source: </a:t>
            </a:r>
            <a:r>
              <a:rPr sz="1200">
                <a:latin typeface="Arial"/>
                <a:hlinkClick r:id="rId3"/>
              </a:rPr>
              <a:t>https://doi.org/10.1523/jneurosci.3585-09.2010</a:t>
            </a:r>
          </a:p>
          <a:p/>
          <a:p>
            <a:r>
              <a:rPr sz="1200">
                <a:latin typeface="Arial"/>
              </a:rPr>
              <a:t>Figure: Gale &amp; Perkel (2010a), Fig. 1(A). Area X, DLM, LMAN, and midbrain connections.</a:t>
            </a:r>
          </a:p>
          <a:p>
            <a:r>
              <a:rPr sz="1200">
                <a:latin typeface="Arial"/>
              </a:rPr>
              <a:t>Figure source: </a:t>
            </a:r>
            <a:r>
              <a:rPr sz="1200">
                <a:latin typeface="Arial"/>
                <a:hlinkClick r:id="rId3"/>
              </a:rPr>
              <a:t>https://doi.org/10.1523/jneurosci.3585-09.2010</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Disinhibition is increased activity caused by reducing inhibitory input. Gale and Perkel found that song playback excited Area X neurons, inhibited neurons in the ventral pallidum, and excited identified dopaminergic SNc/VTA neurons, consistent with a serial inhibitory pathway.</a:t>
            </a:r>
          </a:p>
          <a:p>
            <a:r>
              <a:rPr sz="1200">
                <a:latin typeface="Arial"/>
              </a:rPr>
              <a:t>• Activating Area X with glutamate increased downstream dopaminergic firing, whereas GABA injection reduced it. Blocking AMPA and NMDA receptors in Area X diminished song-evoked dopaminergic responses; vehicle injections provided a control for the injection procedure.</a:t>
            </a:r>
          </a:p>
          <a:p>
            <a:r>
              <a:rPr sz="1200">
                <a:latin typeface="Arial"/>
              </a:rPr>
              <a:t>• The convergent recordings and interventions support a route through which song-related forebrain activity regulates its own dopamine supply. They do not establish that every evoked dopamine response encodes reward prediction or a vocal error; the experiments tested auditory responsiveness and circuit influence rather than a complete learning algorithm.</a:t>
            </a:r>
          </a:p>
          <a:p/>
          <a:p>
            <a:r>
              <a:rPr sz="1200">
                <a:latin typeface="Arial"/>
              </a:rPr>
              <a:t>References:</a:t>
            </a:r>
          </a:p>
          <a:p>
            <a:r>
              <a:rPr sz="1200">
                <a:latin typeface="Arial"/>
              </a:rPr>
              <a:t>Gale SD, Perkel DJ (2010a). A Basal Ganglia Pathway Drives Selective Auditory Responses in Songbird Dopaminergic Neurons via Disinhibition. The Journal of Neuroscience 30(3):1027-1037. </a:t>
            </a:r>
            <a:r>
              <a:rPr sz="1200">
                <a:latin typeface="Arial"/>
                <a:hlinkClick r:id="rId3"/>
              </a:rPr>
              <a:t>https://doi.org/10.1523/jneurosci.3585-09.2010</a:t>
            </a:r>
          </a:p>
          <a:p/>
          <a:p>
            <a:r>
              <a:rPr sz="1200">
                <a:latin typeface="Arial"/>
              </a:rPr>
              <a:t>Figure: Gale &amp; Perkel (2010a), Fig. 8(A–H). Area X drug injections alter midbrain firing.</a:t>
            </a:r>
          </a:p>
          <a:p>
            <a:r>
              <a:rPr sz="1200">
                <a:latin typeface="Arial"/>
              </a:rPr>
              <a:t>Figure source: </a:t>
            </a:r>
            <a:r>
              <a:rPr sz="1200">
                <a:latin typeface="Arial"/>
                <a:hlinkClick r:id="rId3"/>
              </a:rPr>
              <a:t>https://doi.org/10.1523/jneurosci.3585-09.2010</a:t>
            </a:r>
          </a:p>
          <a:p/>
          <a:p>
            <a:r>
              <a:rPr sz="1200">
                <a:latin typeface="Arial"/>
              </a:rPr>
              <a:t>Figure: Gale &amp; Perkel (2010a), Fig. 1(A). Area X, DLM, LMAN, and midbrain connections.</a:t>
            </a:r>
          </a:p>
          <a:p>
            <a:r>
              <a:rPr sz="1200">
                <a:latin typeface="Arial"/>
              </a:rPr>
              <a:t>Figure source: </a:t>
            </a:r>
            <a:r>
              <a:rPr sz="1200">
                <a:latin typeface="Arial"/>
                <a:hlinkClick r:id="rId3"/>
              </a:rPr>
              <a:t>https://doi.org/10.1523/jneurosci.3585-09.2010</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Arial"/>
              </a:rPr>
              <a:t>• Separate projection pathways. HVC reaches RA directly for vocal motor control and reaches Area X through a distinct output population; DLM and LMAN form the anterior forebrain route back to RA.</a:t>
            </a:r>
          </a:p>
          <a:p>
            <a:r>
              <a:rPr sz="1200">
                <a:latin typeface="Arial"/>
              </a:rPr>
              <a:t>• Anatomical connections constrain mechanisms. Lesions establish regional necessity, tracers establish projection direction, and single-cell reconstructions reveal local collaterals; none alone specifies the information transmitted at a synapse.</a:t>
            </a:r>
          </a:p>
          <a:p>
            <a:r>
              <a:rPr sz="1200">
                <a:latin typeface="Arial"/>
              </a:rPr>
              <a:t>• RA integrates different excitatory inputs. HVC and LMAN converge on RA, but their developmental connectivity and receptor contributions differ; stronger, refined HVC input can coexist with persistent LMAN input.</a:t>
            </a:r>
          </a:p>
          <a:p>
            <a:r>
              <a:rPr sz="1200">
                <a:latin typeface="Arial"/>
              </a:rPr>
              <a:t>• Motor physiology has multiple controls. Resurgent sodium current supports rapid RA firing, while SK channels regulate spike recovery and timing in interaction with synaptic input; dopamine modulates RA excitability through D1-like signaling.</a:t>
            </a:r>
          </a:p>
          <a:p>
            <a:r>
              <a:rPr sz="1200">
                <a:latin typeface="Arial"/>
              </a:rPr>
              <a:t>• LMAN contributes differently across ages. Early lesions disrupt vocal development, whereas established adult song can persist after lesions; this difference does not imply that adult LMAN becomes anatomically disconnected or functionless.</a:t>
            </a:r>
          </a:p>
          <a:p>
            <a:r>
              <a:rPr sz="1200">
                <a:latin typeface="Arial"/>
              </a:rPr>
              <a:t>• Auditory selectivity is not an error signal by itself. LMAN, Area X, and dopaminergic circuitry respond selectively to self-song, but anesthetized playback responses do not establish the complete teaching signal or learning rule used during singing.</a:t>
            </a:r>
          </a:p>
          <a:p/>
          <a:p>
            <a:r>
              <a:rPr sz="1200">
                <a:latin typeface="Arial"/>
              </a:rPr>
              <a:t>References:</a:t>
            </a:r>
          </a:p>
          <a:p>
            <a:r>
              <a:rPr sz="1200">
                <a:latin typeface="Arial"/>
              </a:rPr>
              <a:t>Nottebohm F, Stokes TM, Leonard CM (1976). Central control of song in the canary, Serinus canarius. Journal of Comparative Neurology 165(4):457-486. </a:t>
            </a:r>
            <a:r>
              <a:rPr sz="1200">
                <a:latin typeface="Arial"/>
                <a:hlinkClick r:id="rId3"/>
              </a:rPr>
              <a:t>https://doi.org/10.1002/cne.901650405</a:t>
            </a:r>
          </a:p>
          <a:p>
            <a:r>
              <a:rPr sz="1200">
                <a:latin typeface="Arial"/>
              </a:rPr>
              <a:t>Bottjer SW, Miesner EA, Arnold AP (1984). Forebrain Lesions Disrupt Development But Not Maintenance of Song in Passerine Birds. Science 224(4651):901-903. </a:t>
            </a:r>
            <a:r>
              <a:rPr sz="1200">
                <a:latin typeface="Arial"/>
                <a:hlinkClick r:id="rId4"/>
              </a:rPr>
              <a:t>https://doi.org/10.1126/science.6719123</a:t>
            </a:r>
          </a:p>
          <a:p>
            <a:r>
              <a:rPr sz="1200">
                <a:latin typeface="Arial"/>
              </a:rPr>
              <a:t>Benezra SE, Narayanan RT, Egger R, Oberlaender M, Long MA (2018). Morphological characterization of HVC projection neurons in the zebra finch (Taeniopygia guttata). Journal of Comparative Neurology 526(10):1673-1689. </a:t>
            </a:r>
            <a:r>
              <a:rPr sz="1200">
                <a:latin typeface="Arial"/>
                <a:hlinkClick r:id="rId5"/>
              </a:rPr>
              <a:t>https://doi.org/10.1002/cne.24437</a:t>
            </a:r>
          </a:p>
          <a:p>
            <a:r>
              <a:rPr sz="1200">
                <a:latin typeface="Arial"/>
              </a:rPr>
              <a:t>Garst-Orozco J, Babadi B, Ölveczky BP (2014). A neural circuit mechanism for regulating vocal variability during song learning in zebra finches. eLife 3:e03697. </a:t>
            </a:r>
            <a:r>
              <a:rPr sz="1200">
                <a:latin typeface="Arial"/>
                <a:hlinkClick r:id="rId6"/>
              </a:rPr>
              <a:t>https://doi.org/10.7554/elife.03697</a:t>
            </a:r>
          </a:p>
          <a:p>
            <a:r>
              <a:rPr sz="1200">
                <a:latin typeface="Arial"/>
              </a:rPr>
              <a:t>Zemel BM, Nevue AA, Dagostin A, Lovell PV, Mello CV, von Gersdorff H (2021). Resurgent Na+ currents promote ultrafast spiking in projection neurons that drive fine motor control. Nature Communications 12(1):6762. </a:t>
            </a:r>
            <a:r>
              <a:rPr sz="1200">
                <a:latin typeface="Arial"/>
                <a:hlinkClick r:id="rId7"/>
              </a:rPr>
              <a:t>https://doi.org/10.1038/s41467-021-26521-3</a:t>
            </a:r>
          </a:p>
          <a:p>
            <a:r>
              <a:rPr sz="1200">
                <a:latin typeface="Arial"/>
              </a:rPr>
              <a:t>Hou GQ, Pan X, Liao CS, Wang SH, Li DF (2012). SK channels modulate the excitability and firing precision of projection neurons in the robust nucleus of the arcopallium in adult male zebra finches. Neuroscience Bulletin 28(3):271-281. </a:t>
            </a:r>
            <a:r>
              <a:rPr sz="1200">
                <a:latin typeface="Arial"/>
                <a:hlinkClick r:id="rId8"/>
              </a:rPr>
              <a:t>https://doi.org/10.1007/s12264-012-1241-7</a:t>
            </a:r>
          </a:p>
          <a:p>
            <a:r>
              <a:rPr sz="1200">
                <a:latin typeface="Arial"/>
              </a:rPr>
              <a:t>Liao C, Wang S, Pan X, Hou G, Li D (2013). Dopamine Modulates the Excitability of Projection Neurons in the Robust Nucleus of the Arcopallium in Adult Zebra Finches. PLoS ONE 8(12):e82497. </a:t>
            </a:r>
            <a:r>
              <a:rPr sz="1200">
                <a:latin typeface="Arial"/>
                <a:hlinkClick r:id="rId9"/>
              </a:rPr>
              <a:t>https://doi.org/10.1371/journal.pone.0082497</a:t>
            </a:r>
          </a:p>
          <a:p>
            <a:r>
              <a:rPr sz="1200">
                <a:latin typeface="Arial"/>
              </a:rPr>
              <a:t>Doupe AJ (1997). Song- and Order-Selective Neurons in the Songbird Anterior Forebrain and their Emergence during Vocal Development. The Journal of Neuroscience 17(3):1147-1167. </a:t>
            </a:r>
            <a:r>
              <a:rPr sz="1200">
                <a:latin typeface="Arial"/>
                <a:hlinkClick r:id="rId10"/>
              </a:rPr>
              <a:t>https://doi.org/10.1523/jneurosci.17-03-01147.1997</a:t>
            </a:r>
          </a:p>
          <a:p>
            <a:r>
              <a:rPr sz="1200">
                <a:latin typeface="Arial"/>
              </a:rPr>
              <a:t>Gale SD, Perkel DJ (2010a). A Basal Ganglia Pathway Drives Selective Auditory Responses in Songbird Dopaminergic Neurons via Disinhibition. The Journal of Neuroscience 30(3):1027-1037. </a:t>
            </a:r>
            <a:r>
              <a:rPr sz="1200">
                <a:latin typeface="Arial"/>
                <a:hlinkClick r:id="rId11"/>
              </a:rPr>
              <a:t>https://doi.org/10.1523/jneurosci.3585-09.2010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1.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1.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1.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1.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1.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21.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21.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21.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21.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21.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36.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36.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36.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39.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39.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image" Target="../media/image39.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image" Target="../media/image39.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image" Target="../media/image39.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E6EBEF"/>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52697B"/>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52697B"/>
                </a:solidFill>
                <a:latin typeface="Arial"/>
              </a:rPr>
              <a:t>Lecture 32</a:t>
            </a:r>
          </a:p>
        </p:txBody>
      </p:sp>
      <p:sp>
        <p:nvSpPr>
          <p:cNvPr id="5" name="Lecture title"/>
          <p:cNvSpPr txBox="1"/>
          <p:nvPr/>
        </p:nvSpPr>
        <p:spPr>
          <a:xfrm>
            <a:off x="685800" y="2331720"/>
            <a:ext cx="4724247" cy="1920240"/>
          </a:xfrm>
          <a:prstGeom prst="rect">
            <a:avLst/>
          </a:prstGeom>
          <a:noFill/>
        </p:spPr>
        <p:txBody>
          <a:bodyPr wrap="square" lIns="0" rIns="0" tIns="0" bIns="0">
            <a:spAutoFit/>
          </a:bodyPr>
          <a:lstStyle/>
          <a:p>
            <a:pPr algn="l">
              <a:lnSpc>
                <a:spcPct val="108000"/>
              </a:lnSpc>
              <a:spcAft>
                <a:spcPts val="0"/>
              </a:spcAft>
            </a:pPr>
            <a:r>
              <a:rPr sz="2500" b="1">
                <a:solidFill>
                  <a:srgbClr val="2D4355"/>
                </a:solidFill>
                <a:latin typeface="Arial"/>
              </a:rPr>
              <a:t>Vocal communication I: songbird song-system anatomy — HVC–RA–Area X (Nottebohm)</a:t>
            </a:r>
          </a:p>
        </p:txBody>
      </p:sp>
      <p:sp>
        <p:nvSpPr>
          <p:cNvPr id="6" name="TextBox 5"/>
          <p:cNvSpPr txBox="1"/>
          <p:nvPr/>
        </p:nvSpPr>
        <p:spPr>
          <a:xfrm>
            <a:off x="685800" y="4749622"/>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52697B"/>
                </a:solidFill>
                <a:latin typeface="Arial"/>
              </a:rPr>
              <a:t>Monday, November 9, 2026</a:t>
            </a:r>
          </a:p>
        </p:txBody>
      </p:sp>
      <p:sp>
        <p:nvSpPr>
          <p:cNvPr id="7" name="TextBox 6"/>
          <p:cNvSpPr txBox="1"/>
          <p:nvPr/>
        </p:nvSpPr>
        <p:spPr>
          <a:xfrm>
            <a:off x="685800" y="5435422"/>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52697B"/>
                </a:solidFill>
                <a:latin typeface="Arial"/>
              </a:rPr>
              <a:t>Jordan Lopez, Ph.D.</a:t>
            </a:r>
          </a:p>
          <a:p>
            <a:pPr algn="l">
              <a:lnSpc>
                <a:spcPct val="108000"/>
              </a:lnSpc>
              <a:spcAft>
                <a:spcPts val="200"/>
              </a:spcAft>
            </a:pPr>
            <a:r>
              <a:rPr sz="1200" b="0" i="0">
                <a:solidFill>
                  <a:srgbClr val="52697B"/>
                </a:solidFill>
                <a:latin typeface="Arial"/>
              </a:rPr>
              <a:t>Professor of Neurobiology &amp; Biomedical Engineering</a:t>
            </a:r>
          </a:p>
        </p:txBody>
      </p:sp>
      <p:pic>
        <p:nvPicPr>
          <p:cNvPr id="8" name="Picture 7" descr="zebra-finch.jpg"/>
          <p:cNvPicPr>
            <a:picLocks noChangeAspect="1"/>
          </p:cNvPicPr>
          <p:nvPr/>
        </p:nvPicPr>
        <p:blipFill>
          <a:blip r:embed="rId2"/>
          <a:stretch>
            <a:fillRect/>
          </a:stretch>
        </p:blipFill>
        <p:spPr>
          <a:xfrm>
            <a:off x="6553047" y="822960"/>
            <a:ext cx="5181447" cy="3455985"/>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Photo: Male and female zebra finches.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5D72"/>
                </a:solidFill>
                <a:latin typeface="Arial"/>
              </a:rPr>
              <a:t>Song is a learned, organized motor sequence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405D72"/>
                </a:solidFill>
                <a:latin typeface="Arial"/>
              </a:rPr>
              <a:t>Song</a:t>
            </a:r>
            <a:r>
              <a:rPr sz="1600" b="0" i="0">
                <a:solidFill>
                  <a:srgbClr val="252E36"/>
                </a:solidFill>
                <a:latin typeface="Arial"/>
              </a:rPr>
              <a:t> consists of coordinated vocal elements whose frequency and timing can be measured with a spectrogram, a display of acoustic energy across time and frequency. Nottebohm and colleagues recorded adult male canaries before brain surgery, establishing each bird's own repertoire as the behavioral baseline.</a:t>
            </a:r>
          </a:p>
          <a:p>
            <a:pPr algn="l">
              <a:lnSpc>
                <a:spcPct val="108000"/>
              </a:lnSpc>
              <a:spcAft>
                <a:spcPts val="960"/>
              </a:spcAft>
            </a:pPr>
            <a:r>
              <a:rPr sz="1600" b="0" i="0">
                <a:solidFill>
                  <a:srgbClr val="252E36"/>
                </a:solidFill>
                <a:latin typeface="Arial"/>
              </a:rPr>
              <a:t>They compared postoperative vocalizations with those recordings rather than treating all changes in singing as equivalent. Damage could reduce the number of available syllables, disturb their acoustic structure, or disrupt the organization of phrases while leaving vocal output possible.</a:t>
            </a:r>
          </a:p>
          <a:p>
            <a:pPr algn="l">
              <a:lnSpc>
                <a:spcPct val="108000"/>
              </a:lnSpc>
              <a:spcAft>
                <a:spcPts val="960"/>
              </a:spcAft>
            </a:pPr>
            <a:r>
              <a:rPr sz="1600" b="0" i="0">
                <a:solidFill>
                  <a:srgbClr val="252E36"/>
                </a:solidFill>
                <a:latin typeface="Arial"/>
              </a:rPr>
              <a:t>A bird that still vocalizes can therefore have a severe song-control deficit. These experiments localized components of an established motor behavior; adult lesions alone did not identify where a juvenile stores or learns a tutor's song.</a:t>
            </a:r>
          </a:p>
        </p:txBody>
      </p:sp>
      <p:pic>
        <p:nvPicPr>
          <p:cNvPr id="4" name="Picture 3" descr="n13.png"/>
          <p:cNvPicPr>
            <a:picLocks noChangeAspect="1"/>
          </p:cNvPicPr>
          <p:nvPr/>
        </p:nvPicPr>
        <p:blipFill>
          <a:blip r:embed="rId2"/>
          <a:stretch>
            <a:fillRect/>
          </a:stretch>
        </p:blipFill>
        <p:spPr>
          <a:xfrm>
            <a:off x="8284790" y="1280160"/>
            <a:ext cx="1193553" cy="2926080"/>
          </a:xfrm>
          <a:prstGeom prst="rect">
            <a:avLst/>
          </a:prstGeom>
        </p:spPr>
      </p:pic>
      <p:sp>
        <p:nvSpPr>
          <p:cNvPr id="5" name="Figure caption"/>
          <p:cNvSpPr txBox="1"/>
          <p:nvPr/>
        </p:nvSpPr>
        <p:spPr>
          <a:xfrm>
            <a:off x="6138367" y="42976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Nottebohm et al. (1976), Fig. 13. Canary song before and after a forebrain lesion.</a:t>
            </a:r>
          </a:p>
        </p:txBody>
      </p:sp>
      <p:pic>
        <p:nvPicPr>
          <p:cNvPr id="6" name="Picture 5" descr="n11.png"/>
          <p:cNvPicPr>
            <a:picLocks noChangeAspect="1"/>
          </p:cNvPicPr>
          <p:nvPr/>
        </p:nvPicPr>
        <p:blipFill>
          <a:blip r:embed="rId3"/>
          <a:stretch>
            <a:fillRect/>
          </a:stretch>
        </p:blipFill>
        <p:spPr>
          <a:xfrm>
            <a:off x="8451971" y="4754880"/>
            <a:ext cx="859190" cy="10058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Nottebohm et al. (1976), Fig. 11. Lesion locations associated with song disruption.</a:t>
            </a:r>
          </a:p>
        </p:txBody>
      </p:sp>
      <p:sp>
        <p:nvSpPr>
          <p:cNvPr id="8" name="Rectangle 7"/>
          <p:cNvSpPr/>
          <p:nvPr/>
        </p:nvSpPr>
        <p:spPr>
          <a:xfrm>
            <a:off x="566928" y="6382512"/>
            <a:ext cx="11057839" cy="9144"/>
          </a:xfrm>
          <a:prstGeom prst="rect">
            <a:avLst/>
          </a:prstGeom>
          <a:solidFill>
            <a:srgbClr val="CDD8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17D"/>
                </a:solidFill>
                <a:latin typeface="Arial"/>
              </a:rPr>
              <a:t>Nottebohm et al. (1976)</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17D"/>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5D72"/>
                </a:solidFill>
                <a:latin typeface="Arial"/>
              </a:rPr>
              <a:t>Song disruption depends on lesion location</a:t>
            </a:r>
          </a:p>
        </p:txBody>
      </p:sp>
      <p:sp>
        <p:nvSpPr>
          <p:cNvPr id="3" name="Body"/>
          <p:cNvSpPr txBox="1"/>
          <p:nvPr/>
        </p:nvSpPr>
        <p:spPr>
          <a:xfrm>
            <a:off x="60533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52E36"/>
                </a:solidFill>
                <a:latin typeface="Arial"/>
              </a:rPr>
              <a:t>A </a:t>
            </a:r>
            <a:r>
              <a:rPr sz="1600" b="1" i="0">
                <a:solidFill>
                  <a:srgbClr val="405D72"/>
                </a:solidFill>
                <a:latin typeface="Arial"/>
              </a:rPr>
              <a:t>lesion</a:t>
            </a:r>
            <a:r>
              <a:rPr sz="1600" b="0" i="0">
                <a:solidFill>
                  <a:srgbClr val="252E36"/>
                </a:solidFill>
                <a:latin typeface="Arial"/>
              </a:rPr>
              <a:t> is damage to tissue used to test whether a region contributes to a behavior. Nottebohm and colleagues made unilateral electrolytic lesions in adult male canaries and reconstructed their positions histologically after repeated postoperative song recordings.</a:t>
            </a:r>
          </a:p>
          <a:p>
            <a:pPr algn="l">
              <a:lnSpc>
                <a:spcPct val="108000"/>
              </a:lnSpc>
              <a:spcAft>
                <a:spcPts val="960"/>
              </a:spcAft>
            </a:pPr>
            <a:r>
              <a:rPr sz="1600" b="0" i="0">
                <a:solidFill>
                  <a:srgbClr val="252E36"/>
                </a:solidFill>
                <a:latin typeface="Arial"/>
              </a:rPr>
              <a:t>Lesions involving HVC or the robust nucleus of the arcopallium, </a:t>
            </a:r>
            <a:r>
              <a:rPr sz="1600" b="1" i="0">
                <a:solidFill>
                  <a:srgbClr val="405D72"/>
                </a:solidFill>
                <a:latin typeface="Arial"/>
              </a:rPr>
              <a:t>RA</a:t>
            </a:r>
            <a:r>
              <a:rPr sz="1600" b="0" i="0">
                <a:solidFill>
                  <a:srgbClr val="252E36"/>
                </a:solidFill>
                <a:latin typeface="Arial"/>
              </a:rPr>
              <a:t>, severely altered song organization, whereas several lesions outside the implicated pathway had little or no effect. Comparing effective and ineffective lesion sites constrained the anatomical interpretation beyond a simple surgery-versus-no-surgery comparison.</a:t>
            </a:r>
          </a:p>
          <a:p>
            <a:pPr algn="l">
              <a:lnSpc>
                <a:spcPct val="108000"/>
              </a:lnSpc>
              <a:spcAft>
                <a:spcPts val="960"/>
              </a:spcAft>
            </a:pPr>
            <a:r>
              <a:rPr sz="1600" b="0" i="0">
                <a:solidFill>
                  <a:srgbClr val="252E36"/>
                </a:solidFill>
                <a:latin typeface="Arial"/>
              </a:rPr>
              <a:t>Electrolytic current can damage both local neurons and passing axons. The results establish that these restricted forebrain territories are necessary for normal adult song, but do not isolate a particular cell type or prove that every nucleus performs the same computation.</a:t>
            </a:r>
          </a:p>
        </p:txBody>
      </p:sp>
      <p:pic>
        <p:nvPicPr>
          <p:cNvPr id="4" name="Picture 3" descr="n11.png"/>
          <p:cNvPicPr>
            <a:picLocks noChangeAspect="1"/>
          </p:cNvPicPr>
          <p:nvPr/>
        </p:nvPicPr>
        <p:blipFill>
          <a:blip r:embed="rId2"/>
          <a:stretch>
            <a:fillRect/>
          </a:stretch>
        </p:blipFill>
        <p:spPr>
          <a:xfrm>
            <a:off x="1291703" y="1280160"/>
            <a:ext cx="3671088" cy="4297679"/>
          </a:xfrm>
          <a:prstGeom prst="rect">
            <a:avLst/>
          </a:prstGeom>
        </p:spPr>
      </p:pic>
      <p:sp>
        <p:nvSpPr>
          <p:cNvPr id="5" name="Figure caption"/>
          <p:cNvSpPr txBox="1"/>
          <p:nvPr/>
        </p:nvSpPr>
        <p:spPr>
          <a:xfrm>
            <a:off x="566928"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Nottebohm et al. (1976), Fig. 11. Lesion locations associated with song disruption.</a:t>
            </a:r>
          </a:p>
        </p:txBody>
      </p:sp>
      <p:sp>
        <p:nvSpPr>
          <p:cNvPr id="6" name="Rectangle 5"/>
          <p:cNvSpPr/>
          <p:nvPr/>
        </p:nvSpPr>
        <p:spPr>
          <a:xfrm>
            <a:off x="566928" y="6382512"/>
            <a:ext cx="11057839" cy="9144"/>
          </a:xfrm>
          <a:prstGeom prst="rect">
            <a:avLst/>
          </a:prstGeom>
          <a:solidFill>
            <a:srgbClr val="CDD8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17D"/>
                </a:solidFill>
                <a:latin typeface="Arial"/>
              </a:rPr>
              <a:t>Nottebohm et al. (1976)</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17D"/>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5D72"/>
                </a:solidFill>
                <a:latin typeface="Arial"/>
              </a:rPr>
              <a:t>Degenerating axons reveal descending song pathways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52E36"/>
                </a:solidFill>
                <a:latin typeface="Arial"/>
              </a:rPr>
              <a:t>An </a:t>
            </a:r>
            <a:r>
              <a:rPr sz="1500" b="1" i="0">
                <a:solidFill>
                  <a:srgbClr val="405D72"/>
                </a:solidFill>
                <a:latin typeface="Arial"/>
              </a:rPr>
              <a:t>axon</a:t>
            </a:r>
            <a:r>
              <a:rPr sz="1500" b="0" i="0">
                <a:solidFill>
                  <a:srgbClr val="252E36"/>
                </a:solidFill>
                <a:latin typeface="Arial"/>
              </a:rPr>
              <a:t> carries signals away from a neuron; a projection is an axonal connection between regions. A </a:t>
            </a:r>
            <a:r>
              <a:rPr sz="1500" b="1" i="0">
                <a:solidFill>
                  <a:srgbClr val="405D72"/>
                </a:solidFill>
                <a:latin typeface="Arial"/>
              </a:rPr>
              <a:t>synapse</a:t>
            </a:r>
            <a:r>
              <a:rPr sz="1500" b="0" i="0">
                <a:solidFill>
                  <a:srgbClr val="252E36"/>
                </a:solidFill>
                <a:latin typeface="Arial"/>
              </a:rPr>
              <a:t> is a junction through which a neuron influences another cell. Nottebohm and colleagues combined behavioral lesions with Fink–Heimer staining, a method that reveals degenerating fibers and terminals downstream of damaged neurons.</a:t>
            </a:r>
          </a:p>
          <a:p>
            <a:pPr algn="l">
              <a:lnSpc>
                <a:spcPct val="108000"/>
              </a:lnSpc>
              <a:spcAft>
                <a:spcPts val="900"/>
              </a:spcAft>
            </a:pPr>
            <a:r>
              <a:rPr sz="1500" b="0" i="0">
                <a:solidFill>
                  <a:srgbClr val="252E36"/>
                </a:solidFill>
                <a:latin typeface="Arial"/>
              </a:rPr>
              <a:t>Degeneration linked the region historically called HVc to RA and connected RA with descending pathways toward vocal motor structures. Comparing the locations of lesions with the distributions of degeneration supplied anatomical evidence independent of the acoustic changes in song.</a:t>
            </a:r>
          </a:p>
          <a:p>
            <a:pPr algn="l">
              <a:lnSpc>
                <a:spcPct val="108000"/>
              </a:lnSpc>
              <a:spcAft>
                <a:spcPts val="900"/>
              </a:spcAft>
            </a:pPr>
            <a:r>
              <a:rPr sz="1500" b="0" i="0">
                <a:solidFill>
                  <a:srgbClr val="252E36"/>
                </a:solidFill>
                <a:latin typeface="Arial"/>
              </a:rPr>
              <a:t>The historical names in the original article differ from current avian terminology: HVC is now used as a proper name, and RA lies in the arcopallium. Degeneration tracing establishes a pathway's anatomical direction, but does not measure its transmitter, synaptic sign, or activity during singing.</a:t>
            </a:r>
          </a:p>
        </p:txBody>
      </p:sp>
      <p:pic>
        <p:nvPicPr>
          <p:cNvPr id="4" name="Picture 3" descr="n7.png"/>
          <p:cNvPicPr>
            <a:picLocks noChangeAspect="1"/>
          </p:cNvPicPr>
          <p:nvPr/>
        </p:nvPicPr>
        <p:blipFill>
          <a:blip r:embed="rId2"/>
          <a:stretch>
            <a:fillRect/>
          </a:stretch>
        </p:blipFill>
        <p:spPr>
          <a:xfrm>
            <a:off x="7500190" y="1280160"/>
            <a:ext cx="2762753" cy="2926080"/>
          </a:xfrm>
          <a:prstGeom prst="rect">
            <a:avLst/>
          </a:prstGeom>
        </p:spPr>
      </p:pic>
      <p:sp>
        <p:nvSpPr>
          <p:cNvPr id="5" name="Figure caption"/>
          <p:cNvSpPr txBox="1"/>
          <p:nvPr/>
        </p:nvSpPr>
        <p:spPr>
          <a:xfrm>
            <a:off x="6138367" y="42976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Nottebohm et al. (1976), Fig. 7(a–d). Degeneration staining in the canary song pathway.</a:t>
            </a:r>
          </a:p>
        </p:txBody>
      </p:sp>
      <p:pic>
        <p:nvPicPr>
          <p:cNvPr id="6" name="Picture 5" descr="m2.png"/>
          <p:cNvPicPr>
            <a:picLocks noChangeAspect="1"/>
          </p:cNvPicPr>
          <p:nvPr/>
        </p:nvPicPr>
        <p:blipFill>
          <a:blip r:embed="rId3"/>
          <a:stretch>
            <a:fillRect/>
          </a:stretch>
        </p:blipFill>
        <p:spPr>
          <a:xfrm>
            <a:off x="8414932" y="4754880"/>
            <a:ext cx="933269" cy="10058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Benezra et al. (2018), Fig. 2(a–f). Identified RA- and X-projecting HVC neurons.</a:t>
            </a:r>
          </a:p>
        </p:txBody>
      </p:sp>
      <p:sp>
        <p:nvSpPr>
          <p:cNvPr id="8" name="Rectangle 7"/>
          <p:cNvSpPr/>
          <p:nvPr/>
        </p:nvSpPr>
        <p:spPr>
          <a:xfrm>
            <a:off x="566928" y="6382512"/>
            <a:ext cx="11057839" cy="9144"/>
          </a:xfrm>
          <a:prstGeom prst="rect">
            <a:avLst/>
          </a:prstGeom>
          <a:solidFill>
            <a:srgbClr val="CDD8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17D"/>
                </a:solidFill>
                <a:latin typeface="Arial"/>
              </a:rPr>
              <a:t>Nottebohm et al. (1976); Benezra et al. (2018)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17D"/>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5D72"/>
                </a:solidFill>
                <a:latin typeface="Arial"/>
              </a:rPr>
              <a:t>HVC contains neurons with distinct output targets</a:t>
            </a:r>
          </a:p>
        </p:txBody>
      </p:sp>
      <p:sp>
        <p:nvSpPr>
          <p:cNvPr id="3" name="Body"/>
          <p:cNvSpPr txBox="1"/>
          <p:nvPr/>
        </p:nvSpPr>
        <p:spPr>
          <a:xfrm>
            <a:off x="60533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52E36"/>
                </a:solidFill>
                <a:latin typeface="Arial"/>
              </a:rPr>
              <a:t>A </a:t>
            </a:r>
            <a:r>
              <a:rPr sz="1600" b="1" i="0">
                <a:solidFill>
                  <a:srgbClr val="405D72"/>
                </a:solidFill>
                <a:latin typeface="Arial"/>
              </a:rPr>
              <a:t>projection neuron</a:t>
            </a:r>
            <a:r>
              <a:rPr sz="1600" b="0" i="0">
                <a:solidFill>
                  <a:srgbClr val="252E36"/>
                </a:solidFill>
                <a:latin typeface="Arial"/>
              </a:rPr>
              <a:t> sends an axon outside its local region. Benezra and colleagues distinguished HVC neurons projecting to RA, designated HVC(RA), from neurons projecting to Area X, a song-related </a:t>
            </a:r>
            <a:r>
              <a:rPr sz="1600" b="1" i="0">
                <a:solidFill>
                  <a:srgbClr val="405D72"/>
                </a:solidFill>
                <a:latin typeface="Arial"/>
              </a:rPr>
              <a:t>basal ganglia</a:t>
            </a:r>
            <a:r>
              <a:rPr sz="1600" b="0" i="0">
                <a:solidFill>
                  <a:srgbClr val="252E36"/>
                </a:solidFill>
                <a:latin typeface="Arial"/>
              </a:rPr>
              <a:t> region involved in action control, designated HVC(X).</a:t>
            </a:r>
          </a:p>
          <a:p>
            <a:pPr algn="l">
              <a:lnSpc>
                <a:spcPct val="108000"/>
              </a:lnSpc>
              <a:spcAft>
                <a:spcPts val="960"/>
              </a:spcAft>
            </a:pPr>
            <a:r>
              <a:rPr sz="1600" b="0" i="0">
                <a:solidFill>
                  <a:srgbClr val="252E36"/>
                </a:solidFill>
                <a:latin typeface="Arial"/>
              </a:rPr>
              <a:t>They labeled individual cells in adult male zebra finches and reconstructed their dendrites and axons in three dimensions. The analysis retained the target identity of each filled neuron rather than pooling every HVC cell into a single morphological population.</a:t>
            </a:r>
          </a:p>
          <a:p>
            <a:pPr algn="l">
              <a:lnSpc>
                <a:spcPct val="108000"/>
              </a:lnSpc>
              <a:spcAft>
                <a:spcPts val="960"/>
              </a:spcAft>
            </a:pPr>
            <a:r>
              <a:rPr sz="1600" b="0" i="0">
                <a:solidFill>
                  <a:srgbClr val="252E36"/>
                </a:solidFill>
                <a:latin typeface="Arial"/>
              </a:rPr>
              <a:t>HVC(RA) and HVC(X) neurons differed in their dendritic and local axonal organization, although target identity did not perfectly predict every anatomical feature. Separate output classes allow HVC to influence vocal execution and the anterior forebrain pathway; morphology alone does not reveal the precise signals transmitted along either branch.</a:t>
            </a:r>
          </a:p>
        </p:txBody>
      </p:sp>
      <p:pic>
        <p:nvPicPr>
          <p:cNvPr id="4" name="Picture 3" descr="m2.png"/>
          <p:cNvPicPr>
            <a:picLocks noChangeAspect="1"/>
          </p:cNvPicPr>
          <p:nvPr/>
        </p:nvPicPr>
        <p:blipFill>
          <a:blip r:embed="rId2"/>
          <a:stretch>
            <a:fillRect/>
          </a:stretch>
        </p:blipFill>
        <p:spPr>
          <a:xfrm>
            <a:off x="1133444" y="1280160"/>
            <a:ext cx="3987606" cy="4297679"/>
          </a:xfrm>
          <a:prstGeom prst="rect">
            <a:avLst/>
          </a:prstGeom>
        </p:spPr>
      </p:pic>
      <p:sp>
        <p:nvSpPr>
          <p:cNvPr id="5" name="Figure caption"/>
          <p:cNvSpPr txBox="1"/>
          <p:nvPr/>
        </p:nvSpPr>
        <p:spPr>
          <a:xfrm>
            <a:off x="566928"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Benezra et al. (2018), Fig. 2(a–f). Identified RA- and X-projecting HVC neurons.</a:t>
            </a:r>
          </a:p>
        </p:txBody>
      </p:sp>
      <p:sp>
        <p:nvSpPr>
          <p:cNvPr id="6" name="Rectangle 5"/>
          <p:cNvSpPr/>
          <p:nvPr/>
        </p:nvSpPr>
        <p:spPr>
          <a:xfrm>
            <a:off x="566928" y="6382512"/>
            <a:ext cx="11057839" cy="9144"/>
          </a:xfrm>
          <a:prstGeom prst="rect">
            <a:avLst/>
          </a:prstGeom>
          <a:solidFill>
            <a:srgbClr val="CDD8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17D"/>
                </a:solidFill>
                <a:latin typeface="Arial"/>
              </a:rPr>
              <a:t>Benezra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17D"/>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5D72"/>
                </a:solidFill>
                <a:latin typeface="Arial"/>
              </a:rPr>
              <a:t>Two-photon targeting links cells to reconstructed arbors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405D72"/>
                </a:solidFill>
                <a:latin typeface="Arial"/>
              </a:rPr>
              <a:t>Two-photon microscopy</a:t>
            </a:r>
            <a:r>
              <a:rPr sz="1600" b="0" i="0">
                <a:solidFill>
                  <a:srgbClr val="252E36"/>
                </a:solidFill>
                <a:latin typeface="Arial"/>
              </a:rPr>
              <a:t> uses nonlinear excitation to resolve fluorescent structures within tissue. Benezra and colleagues combined retrograde labeling from an HVC output target with visually guided recordings and intracellular filling, connecting a neuron's projection identity with its later anatomical reconstruction.</a:t>
            </a:r>
          </a:p>
          <a:p>
            <a:pPr algn="l">
              <a:lnSpc>
                <a:spcPct val="108000"/>
              </a:lnSpc>
              <a:spcAft>
                <a:spcPts val="960"/>
              </a:spcAft>
            </a:pPr>
            <a:r>
              <a:rPr sz="1600" b="0" i="0">
                <a:solidFill>
                  <a:srgbClr val="252E36"/>
                </a:solidFill>
                <a:latin typeface="Arial"/>
              </a:rPr>
              <a:t>A fluorescently filled neuron was processed histologically so that its dendrites and axonal branches could be traced across sections. This approach resolved single-cell structure that would be obscured if many neighboring neurons were labeled together.</a:t>
            </a:r>
          </a:p>
          <a:p>
            <a:pPr algn="l">
              <a:lnSpc>
                <a:spcPct val="108000"/>
              </a:lnSpc>
              <a:spcAft>
                <a:spcPts val="960"/>
              </a:spcAft>
            </a:pPr>
            <a:r>
              <a:rPr sz="1600" b="0" i="0">
                <a:solidFill>
                  <a:srgbClr val="252E36"/>
                </a:solidFill>
                <a:latin typeface="Arial"/>
              </a:rPr>
              <a:t>Targeted filling provides a bridge between an identified neuron and its complete local arbor. However, incomplete filling, section boundaries, and finite optical resolution can hide fine processes; the resulting anatomical map is not a direct measurement of every functional synapse.</a:t>
            </a:r>
          </a:p>
        </p:txBody>
      </p:sp>
      <p:pic>
        <p:nvPicPr>
          <p:cNvPr id="4" name="Picture 3" descr="m1.png"/>
          <p:cNvPicPr>
            <a:picLocks noChangeAspect="1"/>
          </p:cNvPicPr>
          <p:nvPr/>
        </p:nvPicPr>
        <p:blipFill>
          <a:blip r:embed="rId2"/>
          <a:stretch>
            <a:fillRect/>
          </a:stretch>
        </p:blipFill>
        <p:spPr>
          <a:xfrm>
            <a:off x="7297245" y="1280160"/>
            <a:ext cx="3534404"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Benezra et al. (2018), Fig. 1(a–f). Targeted labeling and single-cell filling in HVC.</a:t>
            </a:r>
          </a:p>
        </p:txBody>
      </p:sp>
      <p:sp>
        <p:nvSpPr>
          <p:cNvPr id="6" name="Rectangle 5"/>
          <p:cNvSpPr/>
          <p:nvPr/>
        </p:nvSpPr>
        <p:spPr>
          <a:xfrm>
            <a:off x="566928" y="6382512"/>
            <a:ext cx="11057839" cy="9144"/>
          </a:xfrm>
          <a:prstGeom prst="rect">
            <a:avLst/>
          </a:prstGeom>
          <a:solidFill>
            <a:srgbClr val="CDD8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17D"/>
                </a:solidFill>
                <a:latin typeface="Arial"/>
              </a:rPr>
              <a:t>Benezra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17D"/>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5D72"/>
                </a:solidFill>
                <a:latin typeface="Arial"/>
              </a:rPr>
              <a:t>Dendrites occupy different territories in HVC</a:t>
            </a:r>
          </a:p>
        </p:txBody>
      </p:sp>
      <p:sp>
        <p:nvSpPr>
          <p:cNvPr id="3" name="Body"/>
          <p:cNvSpPr txBox="1"/>
          <p:nvPr/>
        </p:nvSpPr>
        <p:spPr>
          <a:xfrm>
            <a:off x="60533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52E36"/>
                </a:solidFill>
                <a:latin typeface="Arial"/>
              </a:rPr>
              <a:t>A </a:t>
            </a:r>
            <a:r>
              <a:rPr sz="1600" b="1" i="0">
                <a:solidFill>
                  <a:srgbClr val="405D72"/>
                </a:solidFill>
                <a:latin typeface="Arial"/>
              </a:rPr>
              <a:t>dendrite</a:t>
            </a:r>
            <a:r>
              <a:rPr sz="1600" b="0" i="0">
                <a:solidFill>
                  <a:srgbClr val="252E36"/>
                </a:solidFill>
                <a:latin typeface="Arial"/>
              </a:rPr>
              <a:t> is a neuronal process that receives synaptic input. Benezra and colleagues compared reconstructed dendritic trees of HVC(RA) and HVC(X) neurons after registering their positions within HVC, allowing cell types to be compared in a common anatomical frame.</a:t>
            </a:r>
          </a:p>
          <a:p>
            <a:pPr algn="l">
              <a:lnSpc>
                <a:spcPct val="108000"/>
              </a:lnSpc>
              <a:spcAft>
                <a:spcPts val="960"/>
              </a:spcAft>
            </a:pPr>
            <a:r>
              <a:rPr sz="1600" b="0" i="0">
                <a:solidFill>
                  <a:srgbClr val="252E36"/>
                </a:solidFill>
                <a:latin typeface="Arial"/>
              </a:rPr>
              <a:t>Most RA-projecting cells had relatively restricted dendritic territories, whereas X-projecting cells occupied larger territories. Displaying individual reconstructions preserved variation within each class rather than replacing the cells with an idealized average neuron.</a:t>
            </a:r>
          </a:p>
          <a:p>
            <a:pPr algn="l">
              <a:lnSpc>
                <a:spcPct val="108000"/>
              </a:lnSpc>
              <a:spcAft>
                <a:spcPts val="960"/>
              </a:spcAft>
            </a:pPr>
            <a:r>
              <a:rPr sz="1600" b="0" i="0">
                <a:solidFill>
                  <a:srgbClr val="252E36"/>
                </a:solidFill>
                <a:latin typeface="Arial"/>
              </a:rPr>
              <a:t>A broader dendritic field creates access to a different spatial distribution of potential inputs, but proximity is not equivalent to connectivity. The study measured anatomy, not the identities, strengths, or timing of all inputs contacting each dendritic branch during natural song.</a:t>
            </a:r>
          </a:p>
        </p:txBody>
      </p:sp>
      <p:pic>
        <p:nvPicPr>
          <p:cNvPr id="4" name="Picture 3" descr="m3.png"/>
          <p:cNvPicPr>
            <a:picLocks noChangeAspect="1"/>
          </p:cNvPicPr>
          <p:nvPr/>
        </p:nvPicPr>
        <p:blipFill>
          <a:blip r:embed="rId2"/>
          <a:stretch>
            <a:fillRect/>
          </a:stretch>
        </p:blipFill>
        <p:spPr>
          <a:xfrm>
            <a:off x="1504812" y="1280160"/>
            <a:ext cx="3244871" cy="4297679"/>
          </a:xfrm>
          <a:prstGeom prst="rect">
            <a:avLst/>
          </a:prstGeom>
        </p:spPr>
      </p:pic>
      <p:sp>
        <p:nvSpPr>
          <p:cNvPr id="5" name="Figure caption"/>
          <p:cNvSpPr txBox="1"/>
          <p:nvPr/>
        </p:nvSpPr>
        <p:spPr>
          <a:xfrm>
            <a:off x="566928"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Benezra et al. (2018), Fig. 3. Dendritic arbors grouped by projection target.</a:t>
            </a:r>
          </a:p>
        </p:txBody>
      </p:sp>
      <p:sp>
        <p:nvSpPr>
          <p:cNvPr id="6" name="Rectangle 5"/>
          <p:cNvSpPr/>
          <p:nvPr/>
        </p:nvSpPr>
        <p:spPr>
          <a:xfrm>
            <a:off x="566928" y="6382512"/>
            <a:ext cx="11057839" cy="9144"/>
          </a:xfrm>
          <a:prstGeom prst="rect">
            <a:avLst/>
          </a:prstGeom>
          <a:solidFill>
            <a:srgbClr val="CDD8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17D"/>
                </a:solidFill>
                <a:latin typeface="Arial"/>
              </a:rPr>
              <a:t>Benezra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17D"/>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5D72"/>
                </a:solidFill>
                <a:latin typeface="Arial"/>
              </a:rPr>
              <a:t>Target identity predicts dendritic scale imperfectly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52E36"/>
                </a:solidFill>
                <a:latin typeface="Arial"/>
              </a:rPr>
              <a:t>Benezra and colleagues quantified dendritic length along three spatial axes and the total path length of reconstructed HVC neurons. Centering these measurements on each cell body separated dendritic extent from the neuron's absolute position within the nucleus.</a:t>
            </a:r>
          </a:p>
          <a:p>
            <a:pPr algn="l">
              <a:lnSpc>
                <a:spcPct val="108000"/>
              </a:lnSpc>
              <a:spcAft>
                <a:spcPts val="960"/>
              </a:spcAft>
            </a:pPr>
            <a:r>
              <a:rPr sz="1600" b="0" i="0">
                <a:solidFill>
                  <a:srgbClr val="252E36"/>
                </a:solidFill>
                <a:latin typeface="Arial"/>
              </a:rPr>
              <a:t>RA-projecting neurons generally formed a smaller-dendrite group, whereas X-projecting neurons formed a larger-dendrite group. The distributions nevertheless included exceptions, and cells with branches to both targets did not constitute a single uniform size class.</a:t>
            </a:r>
          </a:p>
          <a:p>
            <a:pPr algn="l">
              <a:lnSpc>
                <a:spcPct val="108000"/>
              </a:lnSpc>
              <a:spcAft>
                <a:spcPts val="960"/>
              </a:spcAft>
            </a:pPr>
            <a:r>
              <a:rPr sz="1600" b="0" i="0">
                <a:solidFill>
                  <a:srgbClr val="252E36"/>
                </a:solidFill>
                <a:latin typeface="Arial"/>
              </a:rPr>
              <a:t>These measurements constrain the spatial integration available to each projection population. They do not justify assigning every small neuron a motor function or every large neuron a learning function without identifying its actual axonal target; anatomical classes overlap in some features even when their average organization differs.</a:t>
            </a:r>
          </a:p>
        </p:txBody>
      </p:sp>
      <p:pic>
        <p:nvPicPr>
          <p:cNvPr id="4" name="Picture 3" descr="m4.png"/>
          <p:cNvPicPr>
            <a:picLocks noChangeAspect="1"/>
          </p:cNvPicPr>
          <p:nvPr/>
        </p:nvPicPr>
        <p:blipFill>
          <a:blip r:embed="rId2"/>
          <a:stretch>
            <a:fillRect/>
          </a:stretch>
        </p:blipFill>
        <p:spPr>
          <a:xfrm>
            <a:off x="6504127" y="1280160"/>
            <a:ext cx="5120640" cy="3537818"/>
          </a:xfrm>
          <a:prstGeom prst="rect">
            <a:avLst/>
          </a:prstGeom>
        </p:spPr>
      </p:pic>
      <p:sp>
        <p:nvSpPr>
          <p:cNvPr id="5" name="Figure caption"/>
          <p:cNvSpPr txBox="1"/>
          <p:nvPr/>
        </p:nvSpPr>
        <p:spPr>
          <a:xfrm>
            <a:off x="6504127" y="490941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Benezra et al. (2018), Fig. 4(a–d). Spatial distribution and size of HVC dendrites.</a:t>
            </a:r>
          </a:p>
        </p:txBody>
      </p:sp>
      <p:sp>
        <p:nvSpPr>
          <p:cNvPr id="6" name="Rectangle 5"/>
          <p:cNvSpPr/>
          <p:nvPr/>
        </p:nvSpPr>
        <p:spPr>
          <a:xfrm>
            <a:off x="566928" y="6382512"/>
            <a:ext cx="11057839" cy="9144"/>
          </a:xfrm>
          <a:prstGeom prst="rect">
            <a:avLst/>
          </a:prstGeom>
          <a:solidFill>
            <a:srgbClr val="CDD8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17D"/>
                </a:solidFill>
                <a:latin typeface="Arial"/>
              </a:rPr>
              <a:t>Benezra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17D"/>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5D72"/>
                </a:solidFill>
                <a:latin typeface="Arial"/>
              </a:rPr>
              <a:t>Axonal boutons mark potential local output sites</a:t>
            </a:r>
          </a:p>
        </p:txBody>
      </p:sp>
      <p:sp>
        <p:nvSpPr>
          <p:cNvPr id="3" name="Body"/>
          <p:cNvSpPr txBox="1"/>
          <p:nvPr/>
        </p:nvSpPr>
        <p:spPr>
          <a:xfrm>
            <a:off x="60533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52E36"/>
                </a:solidFill>
                <a:latin typeface="Arial"/>
              </a:rPr>
              <a:t>An </a:t>
            </a:r>
            <a:r>
              <a:rPr sz="1600" b="1" i="0">
                <a:solidFill>
                  <a:srgbClr val="405D72"/>
                </a:solidFill>
                <a:latin typeface="Arial"/>
              </a:rPr>
              <a:t>axon collateral</a:t>
            </a:r>
            <a:r>
              <a:rPr sz="1600" b="0" i="0">
                <a:solidFill>
                  <a:srgbClr val="252E36"/>
                </a:solidFill>
                <a:latin typeface="Arial"/>
              </a:rPr>
              <a:t> is a branch of an axon, and a </a:t>
            </a:r>
            <a:r>
              <a:rPr sz="1600" b="1" i="0">
                <a:solidFill>
                  <a:srgbClr val="405D72"/>
                </a:solidFill>
                <a:latin typeface="Arial"/>
              </a:rPr>
              <a:t>bouton</a:t>
            </a:r>
            <a:r>
              <a:rPr sz="1600" b="0" i="0">
                <a:solidFill>
                  <a:srgbClr val="252E36"/>
                </a:solidFill>
                <a:latin typeface="Arial"/>
              </a:rPr>
              <a:t> is a swelling associated with a potential presynaptic terminal. Benezra and colleagues counted boutons along reconstructed local collateral branches of HVC(RA) and HVC(X) neurons.</a:t>
            </a:r>
          </a:p>
          <a:p>
            <a:pPr algn="l">
              <a:lnSpc>
                <a:spcPct val="108000"/>
              </a:lnSpc>
              <a:spcAft>
                <a:spcPts val="960"/>
              </a:spcAft>
            </a:pPr>
            <a:r>
              <a:rPr sz="1600" b="0" i="0">
                <a:solidFill>
                  <a:srgbClr val="252E36"/>
                </a:solidFill>
                <a:latin typeface="Arial"/>
              </a:rPr>
              <a:t>Both projection classes carried abundant boutons within HVC, with broadly similar bouton densities. Their reconstruction-based estimate was about 400 local boutons per HVC(RA) neuron. The labeled micrographs preserve a 5 µm scale bar, making the spatial separation of adjacent swellings explicit rather than implying that a whole branch acts as one output site.</a:t>
            </a:r>
          </a:p>
          <a:p>
            <a:pPr algn="l">
              <a:lnSpc>
                <a:spcPct val="108000"/>
              </a:lnSpc>
              <a:spcAft>
                <a:spcPts val="960"/>
              </a:spcAft>
            </a:pPr>
            <a:r>
              <a:rPr sz="1600" b="0" i="0">
                <a:solidFill>
                  <a:srgbClr val="252E36"/>
                </a:solidFill>
                <a:latin typeface="Arial"/>
              </a:rPr>
              <a:t>Long-range projection neurons can therefore contribute to local HVC communication as well as sending signals downstream. Light-microscopic boutons are anatomical candidates for synapses; their presence does not identify the postsynaptic cell or establish the strength and sign of a particular connection.</a:t>
            </a:r>
          </a:p>
        </p:txBody>
      </p:sp>
      <p:pic>
        <p:nvPicPr>
          <p:cNvPr id="4" name="Picture 3" descr="m5.png"/>
          <p:cNvPicPr>
            <a:picLocks noChangeAspect="1"/>
          </p:cNvPicPr>
          <p:nvPr/>
        </p:nvPicPr>
        <p:blipFill>
          <a:blip r:embed="rId2"/>
          <a:stretch>
            <a:fillRect/>
          </a:stretch>
        </p:blipFill>
        <p:spPr>
          <a:xfrm>
            <a:off x="1814068" y="1280160"/>
            <a:ext cx="2626359" cy="4297679"/>
          </a:xfrm>
          <a:prstGeom prst="rect">
            <a:avLst/>
          </a:prstGeom>
        </p:spPr>
      </p:pic>
      <p:sp>
        <p:nvSpPr>
          <p:cNvPr id="5" name="Figure caption"/>
          <p:cNvSpPr txBox="1"/>
          <p:nvPr/>
        </p:nvSpPr>
        <p:spPr>
          <a:xfrm>
            <a:off x="566928"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Benezra et al. (2018), Fig. 5(a–d). Axonal boutons and their spatial density.</a:t>
            </a:r>
          </a:p>
        </p:txBody>
      </p:sp>
      <p:sp>
        <p:nvSpPr>
          <p:cNvPr id="6" name="Rectangle 5"/>
          <p:cNvSpPr/>
          <p:nvPr/>
        </p:nvSpPr>
        <p:spPr>
          <a:xfrm>
            <a:off x="566928" y="6382512"/>
            <a:ext cx="11057839" cy="9144"/>
          </a:xfrm>
          <a:prstGeom prst="rect">
            <a:avLst/>
          </a:prstGeom>
          <a:solidFill>
            <a:srgbClr val="CDD8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17D"/>
                </a:solidFill>
                <a:latin typeface="Arial"/>
              </a:rPr>
              <a:t>Benezra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17D"/>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5D72"/>
                </a:solidFill>
                <a:latin typeface="Arial"/>
              </a:rPr>
              <a:t>RA-projecting cells also innervate local HVC</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52E36"/>
                </a:solidFill>
                <a:latin typeface="Arial"/>
              </a:rPr>
              <a:t>Benezra and colleagues reconstructed the dendrites and axonal collaterals of individual HVC(RA) neurons within the boundary of HVC. The descending axon identified the cell's long-range destination, while its local branches provided a separate measure of intranuclear output.</a:t>
            </a:r>
          </a:p>
          <a:p>
            <a:pPr algn="l">
              <a:lnSpc>
                <a:spcPct val="108000"/>
              </a:lnSpc>
              <a:spcAft>
                <a:spcPts val="960"/>
              </a:spcAft>
            </a:pPr>
            <a:r>
              <a:rPr sz="1600" b="0" i="0">
                <a:solidFill>
                  <a:srgbClr val="252E36"/>
                </a:solidFill>
                <a:latin typeface="Arial"/>
              </a:rPr>
              <a:t>Some cells confined most local axonal branches near the cell body, whereas others distributed branches across a broader portion of HVC. This variation remained visible within the RA-projecting population rather than being explained solely by differences between projection targets.</a:t>
            </a:r>
          </a:p>
          <a:p>
            <a:pPr algn="l">
              <a:lnSpc>
                <a:spcPct val="108000"/>
              </a:lnSpc>
              <a:spcAft>
                <a:spcPts val="960"/>
              </a:spcAft>
            </a:pPr>
            <a:r>
              <a:rPr sz="1600" b="0" i="0">
                <a:solidFill>
                  <a:srgbClr val="252E36"/>
                </a:solidFill>
                <a:latin typeface="Arial"/>
              </a:rPr>
              <a:t>Local output makes a strictly feedforward description of HVC incomplete: an RA-projecting neuron can participate in HVC interactions before its axon reaches RA. The reconstruction does not determine whether the cell contacts another projection neuron, an inhibitory interneuron, or both.</a:t>
            </a:r>
          </a:p>
        </p:txBody>
      </p:sp>
      <p:pic>
        <p:nvPicPr>
          <p:cNvPr id="4" name="Picture 3" descr="m6.png"/>
          <p:cNvPicPr>
            <a:picLocks noChangeAspect="1"/>
          </p:cNvPicPr>
          <p:nvPr/>
        </p:nvPicPr>
        <p:blipFill>
          <a:blip r:embed="rId2"/>
          <a:stretch>
            <a:fillRect/>
          </a:stretch>
        </p:blipFill>
        <p:spPr>
          <a:xfrm>
            <a:off x="7464186" y="1280160"/>
            <a:ext cx="3200520"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Benezra et al. (2018), Fig. 6. Local axons of RA-projecting HVC neurons.</a:t>
            </a:r>
          </a:p>
        </p:txBody>
      </p:sp>
      <p:sp>
        <p:nvSpPr>
          <p:cNvPr id="6" name="Rectangle 5"/>
          <p:cNvSpPr/>
          <p:nvPr/>
        </p:nvSpPr>
        <p:spPr>
          <a:xfrm>
            <a:off x="566928" y="6382512"/>
            <a:ext cx="11057839" cy="9144"/>
          </a:xfrm>
          <a:prstGeom prst="rect">
            <a:avLst/>
          </a:prstGeom>
          <a:solidFill>
            <a:srgbClr val="CDD8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17D"/>
                </a:solidFill>
                <a:latin typeface="Arial"/>
              </a:rPr>
              <a:t>Benezra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17D"/>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5D72"/>
                </a:solidFill>
                <a:latin typeface="Arial"/>
              </a:rPr>
              <a:t>X-projecting cells have extensive local collaterals</a:t>
            </a:r>
          </a:p>
        </p:txBody>
      </p:sp>
      <p:sp>
        <p:nvSpPr>
          <p:cNvPr id="3" name="Body"/>
          <p:cNvSpPr txBox="1"/>
          <p:nvPr/>
        </p:nvSpPr>
        <p:spPr>
          <a:xfrm>
            <a:off x="60533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52E36"/>
                </a:solidFill>
                <a:latin typeface="Arial"/>
              </a:rPr>
              <a:t>Area X receives an HVC projection distinct from the direct HVC-to-RA motor pathway. Benezra and colleagues reconstructed HVC(X) neurons with their local axons, dendrites, and descending projection identified in the same preparation.</a:t>
            </a:r>
          </a:p>
          <a:p>
            <a:pPr algn="l">
              <a:lnSpc>
                <a:spcPct val="108000"/>
              </a:lnSpc>
              <a:spcAft>
                <a:spcPts val="960"/>
              </a:spcAft>
            </a:pPr>
            <a:r>
              <a:rPr sz="1600" b="0" i="0">
                <a:solidFill>
                  <a:srgbClr val="252E36"/>
                </a:solidFill>
                <a:latin typeface="Arial"/>
              </a:rPr>
              <a:t>Their local branches varied from restricted arbors to broad distributions within HVC. The authors compared these distributions with RA-projecting cells in a shared reference frame, revealing organization that would be lost in a drawing of one generic HVC-to-X connection.</a:t>
            </a:r>
          </a:p>
          <a:p>
            <a:pPr algn="l">
              <a:lnSpc>
                <a:spcPct val="108000"/>
              </a:lnSpc>
              <a:spcAft>
                <a:spcPts val="960"/>
              </a:spcAft>
            </a:pPr>
            <a:r>
              <a:rPr sz="1600" b="0" i="0">
                <a:solidFill>
                  <a:srgbClr val="252E36"/>
                </a:solidFill>
                <a:latin typeface="Arial"/>
              </a:rPr>
              <a:t>An HVC(X) neuron can consequently influence both the local HVC network and a distant basal ganglia region. The anatomical data support multiple routes for distributing activity, but do not establish whether particular local branches carry a timing signal, an auditory signal, or a mixture during behavior.</a:t>
            </a:r>
          </a:p>
        </p:txBody>
      </p:sp>
      <p:pic>
        <p:nvPicPr>
          <p:cNvPr id="4" name="Picture 3" descr="m7.png"/>
          <p:cNvPicPr>
            <a:picLocks noChangeAspect="1"/>
          </p:cNvPicPr>
          <p:nvPr/>
        </p:nvPicPr>
        <p:blipFill>
          <a:blip r:embed="rId2"/>
          <a:stretch>
            <a:fillRect/>
          </a:stretch>
        </p:blipFill>
        <p:spPr>
          <a:xfrm>
            <a:off x="1097387" y="1280160"/>
            <a:ext cx="4059721" cy="4297679"/>
          </a:xfrm>
          <a:prstGeom prst="rect">
            <a:avLst/>
          </a:prstGeom>
        </p:spPr>
      </p:pic>
      <p:sp>
        <p:nvSpPr>
          <p:cNvPr id="5" name="Figure caption"/>
          <p:cNvSpPr txBox="1"/>
          <p:nvPr/>
        </p:nvSpPr>
        <p:spPr>
          <a:xfrm>
            <a:off x="566928"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Benezra et al. (2018), Fig. 7. Local axons of X-projecting HVC neurons.</a:t>
            </a:r>
          </a:p>
        </p:txBody>
      </p:sp>
      <p:sp>
        <p:nvSpPr>
          <p:cNvPr id="6" name="Rectangle 5"/>
          <p:cNvSpPr/>
          <p:nvPr/>
        </p:nvSpPr>
        <p:spPr>
          <a:xfrm>
            <a:off x="566928" y="6382512"/>
            <a:ext cx="11057839" cy="9144"/>
          </a:xfrm>
          <a:prstGeom prst="rect">
            <a:avLst/>
          </a:prstGeom>
          <a:solidFill>
            <a:srgbClr val="CDD8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17D"/>
                </a:solidFill>
                <a:latin typeface="Arial"/>
              </a:rPr>
              <a:t>Benezra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17D"/>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5D72"/>
                </a:solidFill>
                <a:latin typeface="Arial"/>
              </a:rPr>
              <a:t>A few reconstructed cells project to both targets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52E36"/>
                </a:solidFill>
                <a:latin typeface="Arial"/>
              </a:rPr>
              <a:t>Benezra and colleagues identified HVC neurons with axonal projections toward both RA and Area X. These HVC(RA/X) cells challenge an absolute rule that all long-range HVC outputs belong to two completely separate populations.</a:t>
            </a:r>
          </a:p>
          <a:p>
            <a:pPr algn="l">
              <a:lnSpc>
                <a:spcPct val="108000"/>
              </a:lnSpc>
              <a:spcAft>
                <a:spcPts val="960"/>
              </a:spcAft>
            </a:pPr>
            <a:r>
              <a:rPr sz="1600" b="0" i="0">
                <a:solidFill>
                  <a:srgbClr val="252E36"/>
                </a:solidFill>
                <a:latin typeface="Arial"/>
              </a:rPr>
              <a:t>The reconstructed dual-projecting cells differed from one another in dendritic organization. The authors retained them as individually identified cells rather than forcing them into a single stereotyped anatomical class defined only by their shared target combination.</a:t>
            </a:r>
          </a:p>
          <a:p>
            <a:pPr algn="l">
              <a:lnSpc>
                <a:spcPct val="108000"/>
              </a:lnSpc>
              <a:spcAft>
                <a:spcPts val="960"/>
              </a:spcAft>
            </a:pPr>
            <a:r>
              <a:rPr sz="1600" b="0" i="0">
                <a:solidFill>
                  <a:srgbClr val="252E36"/>
                </a:solidFill>
                <a:latin typeface="Arial"/>
              </a:rPr>
              <a:t>Dual projections provide a possible anatomical route for distributing related activity to motor and anterior forebrain pathways. Their existence does not establish how common such cells are throughout HVC, whether both branches transmit identical information, or whether they are necessary for coordinating the two pathways during singing.</a:t>
            </a:r>
          </a:p>
        </p:txBody>
      </p:sp>
      <p:pic>
        <p:nvPicPr>
          <p:cNvPr id="4" name="Picture 3" descr="m8.png"/>
          <p:cNvPicPr>
            <a:picLocks noChangeAspect="1"/>
          </p:cNvPicPr>
          <p:nvPr/>
        </p:nvPicPr>
        <p:blipFill>
          <a:blip r:embed="rId2"/>
          <a:stretch>
            <a:fillRect/>
          </a:stretch>
        </p:blipFill>
        <p:spPr>
          <a:xfrm>
            <a:off x="6504127" y="1280160"/>
            <a:ext cx="5120640" cy="2323711"/>
          </a:xfrm>
          <a:prstGeom prst="rect">
            <a:avLst/>
          </a:prstGeom>
        </p:spPr>
      </p:pic>
      <p:sp>
        <p:nvSpPr>
          <p:cNvPr id="5" name="Figure caption"/>
          <p:cNvSpPr txBox="1"/>
          <p:nvPr/>
        </p:nvSpPr>
        <p:spPr>
          <a:xfrm>
            <a:off x="6504127" y="3695311"/>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Benezra et al. (2018), Fig. 8. Two dual-projecting HVC neurons.</a:t>
            </a:r>
          </a:p>
        </p:txBody>
      </p:sp>
      <p:sp>
        <p:nvSpPr>
          <p:cNvPr id="6" name="Rectangle 5"/>
          <p:cNvSpPr/>
          <p:nvPr/>
        </p:nvSpPr>
        <p:spPr>
          <a:xfrm>
            <a:off x="566928" y="6382512"/>
            <a:ext cx="11057839" cy="9144"/>
          </a:xfrm>
          <a:prstGeom prst="rect">
            <a:avLst/>
          </a:prstGeom>
          <a:solidFill>
            <a:srgbClr val="CDD8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17D"/>
                </a:solidFill>
                <a:latin typeface="Arial"/>
              </a:rPr>
              <a:t>Benezra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17D"/>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5D72"/>
                </a:solidFill>
                <a:latin typeface="Arial"/>
              </a:rPr>
              <a:t>Some HVC processes extend into the surrounding shelf</a:t>
            </a:r>
          </a:p>
        </p:txBody>
      </p:sp>
      <p:sp>
        <p:nvSpPr>
          <p:cNvPr id="3" name="Body"/>
          <p:cNvSpPr txBox="1"/>
          <p:nvPr/>
        </p:nvSpPr>
        <p:spPr>
          <a:xfrm>
            <a:off x="60533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52E36"/>
                </a:solidFill>
                <a:latin typeface="Arial"/>
              </a:rPr>
              <a:t>The </a:t>
            </a:r>
            <a:r>
              <a:rPr sz="1600" b="1" i="0">
                <a:solidFill>
                  <a:srgbClr val="405D72"/>
                </a:solidFill>
                <a:latin typeface="Arial"/>
              </a:rPr>
              <a:t>HVC shelf</a:t>
            </a:r>
            <a:r>
              <a:rPr sz="1600" b="0" i="0">
                <a:solidFill>
                  <a:srgbClr val="252E36"/>
                </a:solidFill>
                <a:latin typeface="Arial"/>
              </a:rPr>
              <a:t> is tissue bordering HVC that is distinguished from the nucleus itself. Benezra and colleagues observed dendrites and axonal collaterals of an identified HVC(X) neuron extending beyond the conventional HVC boundary into this surrounding region.</a:t>
            </a:r>
          </a:p>
          <a:p>
            <a:pPr algn="l">
              <a:lnSpc>
                <a:spcPct val="108000"/>
              </a:lnSpc>
              <a:spcAft>
                <a:spcPts val="960"/>
              </a:spcAft>
            </a:pPr>
            <a:r>
              <a:rPr sz="1600" b="0" i="0">
                <a:solidFill>
                  <a:srgbClr val="252E36"/>
                </a:solidFill>
                <a:latin typeface="Arial"/>
              </a:rPr>
              <a:t>Fluorescent and brightfield images were combined with reconstruction of the labeled processes. The original panels retain scale bars of 100 µm for the wider field and 25 µm and 5 µm for the detailed views, separating nuclear-scale anatomy from fine branches.</a:t>
            </a:r>
          </a:p>
          <a:p>
            <a:pPr algn="l">
              <a:lnSpc>
                <a:spcPct val="108000"/>
              </a:lnSpc>
              <a:spcAft>
                <a:spcPts val="960"/>
              </a:spcAft>
            </a:pPr>
            <a:r>
              <a:rPr sz="1600" b="0" i="0">
                <a:solidFill>
                  <a:srgbClr val="252E36"/>
                </a:solidFill>
                <a:latin typeface="Arial"/>
              </a:rPr>
              <a:t>A histological boundary is therefore not necessarily a complete boundary for a neuron's connections. These processes provide anatomical access to adjacent tissue, but the study did not establish the sensory responses of their partners or prove a specific information flow between shelf and HVC.</a:t>
            </a:r>
          </a:p>
        </p:txBody>
      </p:sp>
      <p:pic>
        <p:nvPicPr>
          <p:cNvPr id="4" name="Picture 3" descr="m9.png"/>
          <p:cNvPicPr>
            <a:picLocks noChangeAspect="1"/>
          </p:cNvPicPr>
          <p:nvPr/>
        </p:nvPicPr>
        <p:blipFill>
          <a:blip r:embed="rId2"/>
          <a:stretch>
            <a:fillRect/>
          </a:stretch>
        </p:blipFill>
        <p:spPr>
          <a:xfrm>
            <a:off x="566928" y="1280160"/>
            <a:ext cx="5120640" cy="4178668"/>
          </a:xfrm>
          <a:prstGeom prst="rect">
            <a:avLst/>
          </a:prstGeom>
        </p:spPr>
      </p:pic>
      <p:sp>
        <p:nvSpPr>
          <p:cNvPr id="5" name="Figure caption"/>
          <p:cNvSpPr txBox="1"/>
          <p:nvPr/>
        </p:nvSpPr>
        <p:spPr>
          <a:xfrm>
            <a:off x="566928" y="555026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Benezra et al. (2018), Fig. 9(a–c). Processes extending from HVC into the shelf.</a:t>
            </a:r>
          </a:p>
        </p:txBody>
      </p:sp>
      <p:sp>
        <p:nvSpPr>
          <p:cNvPr id="6" name="Rectangle 5"/>
          <p:cNvSpPr/>
          <p:nvPr/>
        </p:nvSpPr>
        <p:spPr>
          <a:xfrm>
            <a:off x="566928" y="6382512"/>
            <a:ext cx="11057839" cy="9144"/>
          </a:xfrm>
          <a:prstGeom prst="rect">
            <a:avLst/>
          </a:prstGeom>
          <a:solidFill>
            <a:srgbClr val="CDD8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17D"/>
                </a:solidFill>
                <a:latin typeface="Arial"/>
              </a:rPr>
              <a:t>Benezra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17D"/>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5D72"/>
                </a:solidFill>
                <a:latin typeface="Arial"/>
              </a:rPr>
              <a:t>Local and broadcast axons differ within each class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52E36"/>
                </a:solidFill>
                <a:latin typeface="Arial"/>
              </a:rPr>
              <a:t>A </a:t>
            </a:r>
            <a:r>
              <a:rPr sz="1600" b="1" i="0">
                <a:solidFill>
                  <a:srgbClr val="405D72"/>
                </a:solidFill>
                <a:latin typeface="Arial"/>
              </a:rPr>
              <a:t>broadcast arbor</a:t>
            </a:r>
            <a:r>
              <a:rPr sz="1600" b="0" i="0">
                <a:solidFill>
                  <a:srgbClr val="252E36"/>
                </a:solidFill>
                <a:latin typeface="Arial"/>
              </a:rPr>
              <a:t> distributes axonal branches across a relatively broad volume, whereas a local arbor remains more spatially restricted. Benezra and colleagues quantified HVC axonal extent and the proportion of the nucleus occupied by each reconstructed neuron.</a:t>
            </a:r>
          </a:p>
          <a:p>
            <a:pPr algn="l">
              <a:lnSpc>
                <a:spcPct val="108000"/>
              </a:lnSpc>
              <a:spcAft>
                <a:spcPts val="960"/>
              </a:spcAft>
            </a:pPr>
            <a:r>
              <a:rPr sz="1600" b="0" i="0">
                <a:solidFill>
                  <a:srgbClr val="252E36"/>
                </a:solidFill>
                <a:latin typeface="Arial"/>
              </a:rPr>
              <a:t>Both RA-projecting and X-projecting populations contained cells with different local output territories. Quantifying axonal distribution separately from dendritic distribution prevented a large input field from being treated automatically as a large output field.</a:t>
            </a:r>
          </a:p>
          <a:p>
            <a:pPr algn="l">
              <a:lnSpc>
                <a:spcPct val="108000"/>
              </a:lnSpc>
              <a:spcAft>
                <a:spcPts val="960"/>
              </a:spcAft>
            </a:pPr>
            <a:r>
              <a:rPr sz="1600" b="0" i="0">
                <a:solidFill>
                  <a:srgbClr val="252E36"/>
                </a:solidFill>
                <a:latin typeface="Arial"/>
              </a:rPr>
              <a:t>These anatomical differences constrain how activity might spread through the HVC network. The local-versus-broadcast distinction is a description of reconstructed geometry, not a demonstrated classification of neuronal function; identifying the actual partners and recording their responses would be necessary to establish the circuit consequences.</a:t>
            </a:r>
          </a:p>
        </p:txBody>
      </p:sp>
      <p:pic>
        <p:nvPicPr>
          <p:cNvPr id="4" name="Picture 3" descr="m10.png"/>
          <p:cNvPicPr>
            <a:picLocks noChangeAspect="1"/>
          </p:cNvPicPr>
          <p:nvPr/>
        </p:nvPicPr>
        <p:blipFill>
          <a:blip r:embed="rId2"/>
          <a:stretch>
            <a:fillRect/>
          </a:stretch>
        </p:blipFill>
        <p:spPr>
          <a:xfrm>
            <a:off x="6504127" y="1280160"/>
            <a:ext cx="5120640" cy="3145095"/>
          </a:xfrm>
          <a:prstGeom prst="rect">
            <a:avLst/>
          </a:prstGeom>
        </p:spPr>
      </p:pic>
      <p:sp>
        <p:nvSpPr>
          <p:cNvPr id="5" name="Figure caption"/>
          <p:cNvSpPr txBox="1"/>
          <p:nvPr/>
        </p:nvSpPr>
        <p:spPr>
          <a:xfrm>
            <a:off x="6504127" y="4516695"/>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Benezra et al. (2018), Fig. 10(a–d). Local axonal distributions within HVC.</a:t>
            </a:r>
          </a:p>
        </p:txBody>
      </p:sp>
      <p:sp>
        <p:nvSpPr>
          <p:cNvPr id="6" name="Rectangle 5"/>
          <p:cNvSpPr/>
          <p:nvPr/>
        </p:nvSpPr>
        <p:spPr>
          <a:xfrm>
            <a:off x="566928" y="6382512"/>
            <a:ext cx="11057839" cy="9144"/>
          </a:xfrm>
          <a:prstGeom prst="rect">
            <a:avLst/>
          </a:prstGeom>
          <a:solidFill>
            <a:srgbClr val="CDD8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17D"/>
                </a:solidFill>
                <a:latin typeface="Arial"/>
              </a:rPr>
              <a:t>Benezra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17D"/>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5D72"/>
                </a:solidFill>
                <a:latin typeface="Arial"/>
              </a:rPr>
              <a:t>RA sends descending output to vocal motor structures</a:t>
            </a:r>
          </a:p>
        </p:txBody>
      </p:sp>
      <p:sp>
        <p:nvSpPr>
          <p:cNvPr id="3" name="Body"/>
          <p:cNvSpPr txBox="1"/>
          <p:nvPr/>
        </p:nvSpPr>
        <p:spPr>
          <a:xfrm>
            <a:off x="641908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52E36"/>
                </a:solidFill>
                <a:latin typeface="Arial"/>
              </a:rPr>
              <a:t>RA is a forebrain motor nucleus whose projection neurons provide descending output to brainstem targets. Zemel and colleagues place RA within the vocal motor pathway connecting HVC with the tracheosyringeal hypoglossal nucleus, </a:t>
            </a:r>
            <a:r>
              <a:rPr sz="1600" b="1" i="0">
                <a:solidFill>
                  <a:srgbClr val="405D72"/>
                </a:solidFill>
                <a:latin typeface="Arial"/>
              </a:rPr>
              <a:t>nXIIts</a:t>
            </a:r>
            <a:r>
              <a:rPr sz="1600" b="0" i="0">
                <a:solidFill>
                  <a:srgbClr val="252E36"/>
                </a:solidFill>
                <a:latin typeface="Arial"/>
              </a:rPr>
              <a:t>, and respiratory-related brainstem circuitry.</a:t>
            </a:r>
          </a:p>
          <a:p>
            <a:pPr algn="l">
              <a:lnSpc>
                <a:spcPct val="108000"/>
              </a:lnSpc>
              <a:spcAft>
                <a:spcPts val="960"/>
              </a:spcAft>
            </a:pPr>
            <a:r>
              <a:rPr sz="1600" b="0" i="0">
                <a:solidFill>
                  <a:srgbClr val="252E36"/>
                </a:solidFill>
                <a:latin typeface="Arial"/>
              </a:rPr>
              <a:t>The </a:t>
            </a:r>
            <a:r>
              <a:rPr sz="1600" b="1" i="0">
                <a:solidFill>
                  <a:srgbClr val="405D72"/>
                </a:solidFill>
                <a:latin typeface="Arial"/>
              </a:rPr>
              <a:t>syrinx</a:t>
            </a:r>
            <a:r>
              <a:rPr sz="1600" b="0" i="0">
                <a:solidFill>
                  <a:srgbClr val="252E36"/>
                </a:solidFill>
                <a:latin typeface="Arial"/>
              </a:rPr>
              <a:t> is the avian vocal organ; its muscles are controlled by lower motor neurons rather than directly by RA cell bodies. RA activity thus reaches vocal musculature through descending axons and brainstem motor connections, coordinating sound production with respiratory activity.</a:t>
            </a:r>
          </a:p>
          <a:p>
            <a:pPr algn="l">
              <a:lnSpc>
                <a:spcPct val="108000"/>
              </a:lnSpc>
              <a:spcAft>
                <a:spcPts val="960"/>
              </a:spcAft>
            </a:pPr>
            <a:r>
              <a:rPr sz="1600" b="0" i="0">
                <a:solidFill>
                  <a:srgbClr val="252E36"/>
                </a:solidFill>
                <a:latin typeface="Arial"/>
              </a:rPr>
              <a:t>Maxwell and colleagues controlled air pressures around an isolated zebra finch syrinx and elicited sound without an intact brain. This preparation separates the mechanical sound generator from its neural commands; an anatomically intact vocal organ does not by itself establish normal neural control of song.</a:t>
            </a:r>
          </a:p>
        </p:txBody>
      </p:sp>
      <p:pic>
        <p:nvPicPr>
          <p:cNvPr id="4" name="Picture 3" descr="z1a.png"/>
          <p:cNvPicPr>
            <a:picLocks noChangeAspect="1"/>
          </p:cNvPicPr>
          <p:nvPr/>
        </p:nvPicPr>
        <p:blipFill>
          <a:blip r:embed="rId2"/>
          <a:stretch>
            <a:fillRect/>
          </a:stretch>
        </p:blipFill>
        <p:spPr>
          <a:xfrm>
            <a:off x="2405318" y="1280160"/>
            <a:ext cx="1809619" cy="2926080"/>
          </a:xfrm>
          <a:prstGeom prst="rect">
            <a:avLst/>
          </a:prstGeom>
        </p:spPr>
      </p:pic>
      <p:sp>
        <p:nvSpPr>
          <p:cNvPr id="5" name="Figure caption"/>
          <p:cNvSpPr txBox="1"/>
          <p:nvPr/>
        </p:nvSpPr>
        <p:spPr>
          <a:xfrm>
            <a:off x="566928" y="42976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Zemel et al. (2021), Fig. 1(a). RA and descending vocal motor pathways.</a:t>
            </a:r>
          </a:p>
        </p:txBody>
      </p:sp>
      <p:pic>
        <p:nvPicPr>
          <p:cNvPr id="6" name="Picture 5" descr="sy1.png"/>
          <p:cNvPicPr>
            <a:picLocks noChangeAspect="1"/>
          </p:cNvPicPr>
          <p:nvPr/>
        </p:nvPicPr>
        <p:blipFill>
          <a:blip r:embed="rId3"/>
          <a:stretch>
            <a:fillRect/>
          </a:stretch>
        </p:blipFill>
        <p:spPr>
          <a:xfrm>
            <a:off x="2474347" y="4754880"/>
            <a:ext cx="1671560" cy="1005839"/>
          </a:xfrm>
          <a:prstGeom prst="rect">
            <a:avLst/>
          </a:prstGeom>
        </p:spPr>
      </p:pic>
      <p:sp>
        <p:nvSpPr>
          <p:cNvPr id="7" name="Figure caption"/>
          <p:cNvSpPr txBox="1"/>
          <p:nvPr/>
        </p:nvSpPr>
        <p:spPr>
          <a:xfrm>
            <a:off x="566928"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Maxwell et al. (2021), Fig. 1(a–b). Syrinx muscles and the medial vibratory mass.</a:t>
            </a:r>
          </a:p>
        </p:txBody>
      </p:sp>
      <p:sp>
        <p:nvSpPr>
          <p:cNvPr id="8" name="Rectangle 7"/>
          <p:cNvSpPr/>
          <p:nvPr/>
        </p:nvSpPr>
        <p:spPr>
          <a:xfrm>
            <a:off x="566928" y="6382512"/>
            <a:ext cx="11057839" cy="9144"/>
          </a:xfrm>
          <a:prstGeom prst="rect">
            <a:avLst/>
          </a:prstGeom>
          <a:solidFill>
            <a:srgbClr val="CDD8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17D"/>
                </a:solidFill>
                <a:latin typeface="Arial"/>
              </a:rPr>
              <a:t>Zemel et al. (2021); Maxwell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17D"/>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5D72"/>
                </a:solidFill>
                <a:latin typeface="Arial"/>
              </a:rPr>
              <a:t>RA neurons generate exceptionally narrow spikes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252E36"/>
                </a:solidFill>
                <a:latin typeface="Arial"/>
              </a:rPr>
              <a:t>An </a:t>
            </a:r>
            <a:r>
              <a:rPr sz="1500" b="1" i="0">
                <a:solidFill>
                  <a:srgbClr val="405D72"/>
                </a:solidFill>
                <a:latin typeface="Arial"/>
              </a:rPr>
              <a:t>action potential</a:t>
            </a:r>
            <a:r>
              <a:rPr sz="1500" b="0" i="0">
                <a:solidFill>
                  <a:srgbClr val="252E36"/>
                </a:solidFill>
                <a:latin typeface="Arial"/>
              </a:rPr>
              <a:t> is a rapid electrical spike produced by voltage-dependent membrane conductances. An </a:t>
            </a:r>
            <a:r>
              <a:rPr sz="1500" b="1" i="0">
                <a:solidFill>
                  <a:srgbClr val="405D72"/>
                </a:solidFill>
                <a:latin typeface="Arial"/>
              </a:rPr>
              <a:t>ion channel</a:t>
            </a:r>
            <a:r>
              <a:rPr sz="1500" b="0" i="0">
                <a:solidFill>
                  <a:srgbClr val="252E36"/>
                </a:solidFill>
                <a:latin typeface="Arial"/>
              </a:rPr>
              <a:t> is a membrane protein that permits ions to cross the membrane. Zemel and colleagues recorded identified RA projection neurons in zebra finch brain slices using whole-cell current clamp, which measures membrane voltage while current is controlled.</a:t>
            </a:r>
          </a:p>
          <a:p>
            <a:pPr algn="l">
              <a:lnSpc>
                <a:spcPct val="108000"/>
              </a:lnSpc>
              <a:spcAft>
                <a:spcPts val="900"/>
              </a:spcAft>
            </a:pPr>
            <a:r>
              <a:rPr sz="1500" b="0" i="0">
                <a:solidFill>
                  <a:srgbClr val="252E36"/>
                </a:solidFill>
                <a:latin typeface="Arial"/>
              </a:rPr>
              <a:t>At approximately 40 °C, near avian physiological temperature, spontaneous spikes had a half-width of about 0.18 ms. Spontaneous firing was approximately fourfold faster than at room temperature, and depolarizing current could evoke sustained rapid spike trains.</a:t>
            </a:r>
          </a:p>
          <a:p>
            <a:pPr algn="l">
              <a:lnSpc>
                <a:spcPct val="108000"/>
              </a:lnSpc>
              <a:spcAft>
                <a:spcPts val="900"/>
              </a:spcAft>
            </a:pPr>
            <a:r>
              <a:rPr sz="1500" b="0" i="0">
                <a:solidFill>
                  <a:srgbClr val="252E36"/>
                </a:solidFill>
                <a:latin typeface="Arial"/>
              </a:rPr>
              <a:t>Temperature therefore changes the quantitative description of these motor neurons. Slice recordings establish intrinsic firing capacity under controlled conditions, but are not recordings of the commands issued during a particular song syllable; intact singing additionally supplies patterned synaptic input and behavioral state.</a:t>
            </a:r>
          </a:p>
        </p:txBody>
      </p:sp>
      <p:pic>
        <p:nvPicPr>
          <p:cNvPr id="4" name="Picture 3" descr="z1.png"/>
          <p:cNvPicPr>
            <a:picLocks noChangeAspect="1"/>
          </p:cNvPicPr>
          <p:nvPr/>
        </p:nvPicPr>
        <p:blipFill>
          <a:blip r:embed="rId2"/>
          <a:stretch>
            <a:fillRect/>
          </a:stretch>
        </p:blipFill>
        <p:spPr>
          <a:xfrm>
            <a:off x="6504127" y="1280160"/>
            <a:ext cx="5120640" cy="3174520"/>
          </a:xfrm>
          <a:prstGeom prst="rect">
            <a:avLst/>
          </a:prstGeom>
        </p:spPr>
      </p:pic>
      <p:sp>
        <p:nvSpPr>
          <p:cNvPr id="5" name="Figure caption"/>
          <p:cNvSpPr txBox="1"/>
          <p:nvPr/>
        </p:nvSpPr>
        <p:spPr>
          <a:xfrm>
            <a:off x="6504127" y="4546120"/>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Zemel et al. (2021), Fig. 1(a–k). RA motor anatomy and temperature-dependent spikes.</a:t>
            </a:r>
          </a:p>
        </p:txBody>
      </p:sp>
      <p:sp>
        <p:nvSpPr>
          <p:cNvPr id="6" name="Rectangle 5"/>
          <p:cNvSpPr/>
          <p:nvPr/>
        </p:nvSpPr>
        <p:spPr>
          <a:xfrm>
            <a:off x="566928" y="6382512"/>
            <a:ext cx="11057839" cy="9144"/>
          </a:xfrm>
          <a:prstGeom prst="rect">
            <a:avLst/>
          </a:prstGeom>
          <a:solidFill>
            <a:srgbClr val="CDD8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17D"/>
                </a:solidFill>
                <a:latin typeface="Arial"/>
              </a:rPr>
              <a:t>Zemel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17D"/>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5D72"/>
                </a:solidFill>
                <a:latin typeface="Arial"/>
              </a:rPr>
              <a:t>Resurgent sodium current follows repolarization</a:t>
            </a:r>
          </a:p>
        </p:txBody>
      </p:sp>
      <p:sp>
        <p:nvSpPr>
          <p:cNvPr id="3" name="Body"/>
          <p:cNvSpPr txBox="1"/>
          <p:nvPr/>
        </p:nvSpPr>
        <p:spPr>
          <a:xfrm>
            <a:off x="60533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52E36"/>
                </a:solidFill>
                <a:latin typeface="Arial"/>
              </a:rPr>
              <a:t>A </a:t>
            </a:r>
            <a:r>
              <a:rPr sz="1600" b="1" i="0">
                <a:solidFill>
                  <a:srgbClr val="405D72"/>
                </a:solidFill>
                <a:latin typeface="Arial"/>
              </a:rPr>
              <a:t>resurgent sodium current</a:t>
            </a:r>
            <a:r>
              <a:rPr sz="1600" b="0" i="0">
                <a:solidFill>
                  <a:srgbClr val="252E36"/>
                </a:solidFill>
                <a:latin typeface="Arial"/>
              </a:rPr>
              <a:t> is an inward sodium current that appears as a membrane repolarizes after strong depolarization. Zemel and colleagues used voltage clamp, which controls membrane voltage while recording current, to separate this component from the initial transient sodium current.</a:t>
            </a:r>
          </a:p>
          <a:p>
            <a:pPr algn="l">
              <a:lnSpc>
                <a:spcPct val="108000"/>
              </a:lnSpc>
              <a:spcAft>
                <a:spcPts val="960"/>
              </a:spcAft>
            </a:pPr>
            <a:r>
              <a:rPr sz="1600" b="0" i="0">
                <a:solidFill>
                  <a:srgbClr val="252E36"/>
                </a:solidFill>
                <a:latin typeface="Arial"/>
              </a:rPr>
              <a:t>A step from −90 to +30 mV activated transient current; subsequent test voltages elicited resurgent current, with a peak near −3 nA at −45 mV in adult RA projection neurons. The sequence of voltage steps made the later inward current experimentally distinguishable from the initial spike-generating component.</a:t>
            </a:r>
          </a:p>
          <a:p>
            <a:pPr algn="l">
              <a:lnSpc>
                <a:spcPct val="108000"/>
              </a:lnSpc>
              <a:spcAft>
                <a:spcPts val="960"/>
              </a:spcAft>
            </a:pPr>
            <a:r>
              <a:rPr sz="1600" b="0" i="0">
                <a:solidFill>
                  <a:srgbClr val="252E36"/>
                </a:solidFill>
                <a:latin typeface="Arial"/>
              </a:rPr>
              <a:t>Resurgent current can support renewed excitation during recovery from a spike. The recording establishes a membrane current under an imposed voltage protocol; its contribution to natural firing requires an additional manipulation of the conductance rather than inference from its presence alone.</a:t>
            </a:r>
          </a:p>
        </p:txBody>
      </p:sp>
      <p:pic>
        <p:nvPicPr>
          <p:cNvPr id="4" name="Picture 3" descr="z2.png"/>
          <p:cNvPicPr>
            <a:picLocks noChangeAspect="1"/>
          </p:cNvPicPr>
          <p:nvPr/>
        </p:nvPicPr>
        <p:blipFill>
          <a:blip r:embed="rId2"/>
          <a:stretch>
            <a:fillRect/>
          </a:stretch>
        </p:blipFill>
        <p:spPr>
          <a:xfrm>
            <a:off x="832954" y="1280160"/>
            <a:ext cx="4588587" cy="4297679"/>
          </a:xfrm>
          <a:prstGeom prst="rect">
            <a:avLst/>
          </a:prstGeom>
        </p:spPr>
      </p:pic>
      <p:sp>
        <p:nvSpPr>
          <p:cNvPr id="5" name="Figure caption"/>
          <p:cNvSpPr txBox="1"/>
          <p:nvPr/>
        </p:nvSpPr>
        <p:spPr>
          <a:xfrm>
            <a:off x="566928"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Zemel et al. (2021), Fig. 2(a–j). RA sodium-subunit expression and resurgent current.</a:t>
            </a:r>
          </a:p>
        </p:txBody>
      </p:sp>
      <p:sp>
        <p:nvSpPr>
          <p:cNvPr id="6" name="Rectangle 5"/>
          <p:cNvSpPr/>
          <p:nvPr/>
        </p:nvSpPr>
        <p:spPr>
          <a:xfrm>
            <a:off x="566928" y="6382512"/>
            <a:ext cx="11057839" cy="9144"/>
          </a:xfrm>
          <a:prstGeom prst="rect">
            <a:avLst/>
          </a:prstGeom>
          <a:solidFill>
            <a:srgbClr val="CDD8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17D"/>
                </a:solidFill>
                <a:latin typeface="Arial"/>
              </a:rPr>
              <a:t>Zemel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17D"/>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5D72"/>
                </a:solidFill>
                <a:latin typeface="Arial"/>
              </a:rPr>
              <a:t>Sodium-channel subunit expression changes within RA</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52E36"/>
                </a:solidFill>
                <a:latin typeface="Arial"/>
              </a:rPr>
              <a:t>A sodium channel's </a:t>
            </a:r>
            <a:r>
              <a:rPr sz="1600" b="1" i="0">
                <a:solidFill>
                  <a:srgbClr val="405D72"/>
                </a:solidFill>
                <a:latin typeface="Arial"/>
              </a:rPr>
              <a:t>β subunit</a:t>
            </a:r>
            <a:r>
              <a:rPr sz="1600" b="0" i="0">
                <a:solidFill>
                  <a:srgbClr val="252E36"/>
                </a:solidFill>
                <a:latin typeface="Arial"/>
              </a:rPr>
              <a:t> is an accessory protein that can modify channel function. Zemel and colleagues used in situ hybridization, a method that detects specific RNA sequences in tissue, to compare Navβ3 and Navβ4 expression across male zebra finch development.</a:t>
            </a:r>
          </a:p>
          <a:p>
            <a:pPr algn="l">
              <a:lnSpc>
                <a:spcPct val="108000"/>
              </a:lnSpc>
              <a:spcAft>
                <a:spcPts val="960"/>
              </a:spcAft>
            </a:pPr>
            <a:r>
              <a:rPr sz="1600" b="0" i="0">
                <a:solidFill>
                  <a:srgbClr val="252E36"/>
                </a:solidFill>
                <a:latin typeface="Arial"/>
              </a:rPr>
              <a:t>The sampled stages included 20, 35, and 50 days after hatching and adulthood. RA changed from relatively strong Navβ3 expression toward stronger Navβ4 expression; comparison with surrounding arcopallium helped distinguish an RA-related change from a uniform change throughout nearby tissue.</a:t>
            </a:r>
          </a:p>
          <a:p>
            <a:pPr algn="l">
              <a:lnSpc>
                <a:spcPct val="108000"/>
              </a:lnSpc>
              <a:spcAft>
                <a:spcPts val="960"/>
              </a:spcAft>
            </a:pPr>
            <a:r>
              <a:rPr sz="1600" b="0" i="0">
                <a:solidFill>
                  <a:srgbClr val="252E36"/>
                </a:solidFill>
                <a:latin typeface="Arial"/>
              </a:rPr>
              <a:t>RNA abundance identifies a candidate molecular mechanism but does not directly measure channel current or prove that a subunit causes a behavioral transition. The expression data were therefore paired with physiological recordings and later manipulations of resurgent current.</a:t>
            </a:r>
          </a:p>
        </p:txBody>
      </p:sp>
      <p:pic>
        <p:nvPicPr>
          <p:cNvPr id="4" name="Picture 3" descr="z3.png"/>
          <p:cNvPicPr>
            <a:picLocks noChangeAspect="1"/>
          </p:cNvPicPr>
          <p:nvPr/>
        </p:nvPicPr>
        <p:blipFill>
          <a:blip r:embed="rId2"/>
          <a:stretch>
            <a:fillRect/>
          </a:stretch>
        </p:blipFill>
        <p:spPr>
          <a:xfrm>
            <a:off x="7445596" y="1280160"/>
            <a:ext cx="3237701"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Zemel et al. (2021), Fig. 3(a–l). Developmental sodium-subunit expression in RA.</a:t>
            </a:r>
          </a:p>
        </p:txBody>
      </p:sp>
      <p:sp>
        <p:nvSpPr>
          <p:cNvPr id="6" name="Rectangle 5"/>
          <p:cNvSpPr/>
          <p:nvPr/>
        </p:nvSpPr>
        <p:spPr>
          <a:xfrm>
            <a:off x="566928" y="6382512"/>
            <a:ext cx="11057839" cy="9144"/>
          </a:xfrm>
          <a:prstGeom prst="rect">
            <a:avLst/>
          </a:prstGeom>
          <a:solidFill>
            <a:srgbClr val="CDD8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17D"/>
                </a:solidFill>
                <a:latin typeface="Arial"/>
              </a:rPr>
              <a:t>Zemel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17D"/>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5D72"/>
                </a:solidFill>
                <a:latin typeface="Arial"/>
              </a:rPr>
              <a:t>Resurgent current increases across male development</a:t>
            </a:r>
          </a:p>
        </p:txBody>
      </p:sp>
      <p:sp>
        <p:nvSpPr>
          <p:cNvPr id="3" name="Body"/>
          <p:cNvSpPr txBox="1"/>
          <p:nvPr/>
        </p:nvSpPr>
        <p:spPr>
          <a:xfrm>
            <a:off x="641908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52E36"/>
                </a:solidFill>
                <a:latin typeface="Arial"/>
              </a:rPr>
              <a:t>Zemel and colleagues recorded transient and resurgent sodium currents from RA projection neurons at 20, 35, and 50 days after hatching and in adult male zebra finches. Applying the same voltage protocol across stages made the current components directly comparable.</a:t>
            </a:r>
          </a:p>
          <a:p>
            <a:pPr algn="l">
              <a:lnSpc>
                <a:spcPct val="108000"/>
              </a:lnSpc>
              <a:spcAft>
                <a:spcPts val="960"/>
              </a:spcAft>
            </a:pPr>
            <a:r>
              <a:rPr sz="1600" b="0" i="0">
                <a:solidFill>
                  <a:srgbClr val="252E36"/>
                </a:solidFill>
                <a:latin typeface="Arial"/>
              </a:rPr>
              <a:t>Resurgent current increased with age, including when normalized to the transient current measured within the same sweep. That normalization tested whether the developmental effect was simply an increase in all measurable sodium current rather than a disproportionate change in the resurgent component.</a:t>
            </a:r>
          </a:p>
          <a:p>
            <a:pPr algn="l">
              <a:lnSpc>
                <a:spcPct val="108000"/>
              </a:lnSpc>
              <a:spcAft>
                <a:spcPts val="960"/>
              </a:spcAft>
            </a:pPr>
            <a:r>
              <a:rPr sz="1600" b="0" i="0">
                <a:solidFill>
                  <a:srgbClr val="252E36"/>
                </a:solidFill>
                <a:latin typeface="Arial"/>
              </a:rPr>
              <a:t>The age-related current increase tracked the shift toward Navβ4 expression, but a developmental correlation alone cannot identify causation. Intrinsic membrane maturation can accompany song development without being equivalent to learning a particular tutor's syllable sequence.</a:t>
            </a:r>
          </a:p>
        </p:txBody>
      </p:sp>
      <p:pic>
        <p:nvPicPr>
          <p:cNvPr id="4" name="Picture 3" descr="z4.png"/>
          <p:cNvPicPr>
            <a:picLocks noChangeAspect="1"/>
          </p:cNvPicPr>
          <p:nvPr/>
        </p:nvPicPr>
        <p:blipFill>
          <a:blip r:embed="rId2"/>
          <a:stretch>
            <a:fillRect/>
          </a:stretch>
        </p:blipFill>
        <p:spPr>
          <a:xfrm>
            <a:off x="2160659" y="1280160"/>
            <a:ext cx="2298937" cy="2926080"/>
          </a:xfrm>
          <a:prstGeom prst="rect">
            <a:avLst/>
          </a:prstGeom>
        </p:spPr>
      </p:pic>
      <p:sp>
        <p:nvSpPr>
          <p:cNvPr id="5" name="Figure caption"/>
          <p:cNvSpPr txBox="1"/>
          <p:nvPr/>
        </p:nvSpPr>
        <p:spPr>
          <a:xfrm>
            <a:off x="566928" y="42976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Zemel et al. (2021), Fig. 4(a–f). Developmental increase of resurgent current.</a:t>
            </a:r>
          </a:p>
        </p:txBody>
      </p:sp>
      <p:pic>
        <p:nvPicPr>
          <p:cNvPr id="6" name="Picture 5" descr="zbrain.png"/>
          <p:cNvPicPr>
            <a:picLocks noChangeAspect="1"/>
          </p:cNvPicPr>
          <p:nvPr/>
        </p:nvPicPr>
        <p:blipFill>
          <a:blip r:embed="rId3"/>
          <a:stretch>
            <a:fillRect/>
          </a:stretch>
        </p:blipFill>
        <p:spPr>
          <a:xfrm>
            <a:off x="2668342" y="4754880"/>
            <a:ext cx="1283571" cy="1005839"/>
          </a:xfrm>
          <a:prstGeom prst="rect">
            <a:avLst/>
          </a:prstGeom>
        </p:spPr>
      </p:pic>
      <p:sp>
        <p:nvSpPr>
          <p:cNvPr id="7" name="Figure caption"/>
          <p:cNvSpPr txBox="1"/>
          <p:nvPr/>
        </p:nvSpPr>
        <p:spPr>
          <a:xfrm>
            <a:off x="566928"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Zemel et al. (2021), Fig. 1(a, upper). RA and brainstem targets in the vocal motor pathway.</a:t>
            </a:r>
          </a:p>
        </p:txBody>
      </p:sp>
      <p:sp>
        <p:nvSpPr>
          <p:cNvPr id="8" name="Rectangle 7"/>
          <p:cNvSpPr/>
          <p:nvPr/>
        </p:nvSpPr>
        <p:spPr>
          <a:xfrm>
            <a:off x="566928" y="6382512"/>
            <a:ext cx="11057839" cy="9144"/>
          </a:xfrm>
          <a:prstGeom prst="rect">
            <a:avLst/>
          </a:prstGeom>
          <a:solidFill>
            <a:srgbClr val="CDD8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17D"/>
                </a:solidFill>
                <a:latin typeface="Arial"/>
              </a:rPr>
              <a:t>Zemel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17D"/>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5D72"/>
                </a:solidFill>
                <a:latin typeface="Arial"/>
              </a:rPr>
              <a:t>Voltage-clamp controls address axonal recording errors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405D72"/>
                </a:solidFill>
                <a:latin typeface="Arial"/>
              </a:rPr>
              <a:t>Space clamp</a:t>
            </a:r>
            <a:r>
              <a:rPr sz="1600" b="0" i="0">
                <a:solidFill>
                  <a:srgbClr val="252E36"/>
                </a:solidFill>
                <a:latin typeface="Arial"/>
              </a:rPr>
              <a:t> describes how well an electrode controls voltage throughout a neuron; long axons can make that control incomplete. Zemel and colleagues repeated sodium-current measurements in frontal slices that shortened the initial axonal segments of RA projection neurons.</a:t>
            </a:r>
          </a:p>
          <a:p>
            <a:pPr algn="l">
              <a:lnSpc>
                <a:spcPct val="108000"/>
              </a:lnSpc>
              <a:spcAft>
                <a:spcPts val="960"/>
              </a:spcAft>
            </a:pPr>
            <a:r>
              <a:rPr sz="1600" b="0" i="0">
                <a:solidFill>
                  <a:srgbClr val="252E36"/>
                </a:solidFill>
                <a:latin typeface="Arial"/>
              </a:rPr>
              <a:t>They also reduced extracellular sodium to improve recording conditions and compared neurons from 20-day males with adult neurons. The developmental difference in resurgent current remained under these altered preparation conditions, supporting its biological origin rather than a simple difference in recording distant axons.</a:t>
            </a:r>
          </a:p>
          <a:p>
            <a:pPr algn="l">
              <a:lnSpc>
                <a:spcPct val="108000"/>
              </a:lnSpc>
              <a:spcAft>
                <a:spcPts val="960"/>
              </a:spcAft>
            </a:pPr>
            <a:r>
              <a:rPr sz="1600" b="0" i="0">
                <a:solidFill>
                  <a:srgbClr val="252E36"/>
                </a:solidFill>
                <a:latin typeface="Arial"/>
              </a:rPr>
              <a:t>These controls strengthen interpretation of the current measurement without making the voltage clamp perfect. The comparison concerns isolated-cell membrane physiology, and does not itself establish how much a change in resurgent current alters the acoustic structure of a freely singing bird.</a:t>
            </a:r>
          </a:p>
        </p:txBody>
      </p:sp>
      <p:pic>
        <p:nvPicPr>
          <p:cNvPr id="4" name="Picture 3" descr="z5.png"/>
          <p:cNvPicPr>
            <a:picLocks noChangeAspect="1"/>
          </p:cNvPicPr>
          <p:nvPr/>
        </p:nvPicPr>
        <p:blipFill>
          <a:blip r:embed="rId2"/>
          <a:stretch>
            <a:fillRect/>
          </a:stretch>
        </p:blipFill>
        <p:spPr>
          <a:xfrm>
            <a:off x="6504127" y="1280160"/>
            <a:ext cx="5120640" cy="4274651"/>
          </a:xfrm>
          <a:prstGeom prst="rect">
            <a:avLst/>
          </a:prstGeom>
        </p:spPr>
      </p:pic>
      <p:sp>
        <p:nvSpPr>
          <p:cNvPr id="5" name="Figure caption"/>
          <p:cNvSpPr txBox="1"/>
          <p:nvPr/>
        </p:nvSpPr>
        <p:spPr>
          <a:xfrm>
            <a:off x="6504127" y="5646251"/>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Zemel et al. (2021), Fig. 5(a–i). Axonal and voltage-clamp recording controls.</a:t>
            </a:r>
          </a:p>
        </p:txBody>
      </p:sp>
      <p:sp>
        <p:nvSpPr>
          <p:cNvPr id="6" name="Rectangle 5"/>
          <p:cNvSpPr/>
          <p:nvPr/>
        </p:nvSpPr>
        <p:spPr>
          <a:xfrm>
            <a:off x="566928" y="6382512"/>
            <a:ext cx="11057839" cy="9144"/>
          </a:xfrm>
          <a:prstGeom prst="rect">
            <a:avLst/>
          </a:prstGeom>
          <a:solidFill>
            <a:srgbClr val="CDD8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17D"/>
                </a:solidFill>
                <a:latin typeface="Arial"/>
              </a:rPr>
              <a:t>Zemel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17D"/>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5D72"/>
                </a:solidFill>
                <a:latin typeface="Arial"/>
              </a:rPr>
              <a:t>A Navβ4 peptide increases juvenile resurgent current</a:t>
            </a:r>
          </a:p>
        </p:txBody>
      </p:sp>
      <p:sp>
        <p:nvSpPr>
          <p:cNvPr id="3" name="Body"/>
          <p:cNvSpPr txBox="1"/>
          <p:nvPr/>
        </p:nvSpPr>
        <p:spPr>
          <a:xfrm>
            <a:off x="641908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52E36"/>
                </a:solidFill>
                <a:latin typeface="Arial"/>
              </a:rPr>
              <a:t>Zemel and colleagues introduced a peptide from the intracellular C-terminal region of Navβ4 through the recording pipette into RA neurons from 20-day male zebra finches. A </a:t>
            </a:r>
            <a:r>
              <a:rPr sz="1600" b="1" i="0">
                <a:solidFill>
                  <a:srgbClr val="405D72"/>
                </a:solidFill>
                <a:latin typeface="Arial"/>
              </a:rPr>
              <a:t>peptide</a:t>
            </a:r>
            <a:r>
              <a:rPr sz="1600" b="0" i="0">
                <a:solidFill>
                  <a:srgbClr val="252E36"/>
                </a:solidFill>
                <a:latin typeface="Arial"/>
              </a:rPr>
              <a:t> is a short amino-acid chain used here to test a proposed channel interaction.</a:t>
            </a:r>
          </a:p>
          <a:p>
            <a:pPr algn="l">
              <a:lnSpc>
                <a:spcPct val="108000"/>
              </a:lnSpc>
              <a:spcAft>
                <a:spcPts val="960"/>
              </a:spcAft>
            </a:pPr>
            <a:r>
              <a:rPr sz="1600" b="0" i="0">
                <a:solidFill>
                  <a:srgbClr val="252E36"/>
                </a:solidFill>
                <a:latin typeface="Arial"/>
              </a:rPr>
              <a:t>Resurgent current increased over approximately 7 minutes after whole-cell access with the native peptide. A scrambled peptide containing the same amino acids in a different sequence did not produce the same increase, controlling for nonspecific introduction of peptide material.</a:t>
            </a:r>
          </a:p>
          <a:p>
            <a:pPr algn="l">
              <a:lnSpc>
                <a:spcPct val="108000"/>
              </a:lnSpc>
              <a:spcAft>
                <a:spcPts val="960"/>
              </a:spcAft>
            </a:pPr>
            <a:r>
              <a:rPr sz="1600" b="0" i="0">
                <a:solidFill>
                  <a:srgbClr val="252E36"/>
                </a:solidFill>
                <a:latin typeface="Arial"/>
              </a:rPr>
              <a:t>This intervention links a defined sequence to the current phenotype more directly than RNA expression alone. It does not recreate every function of the intact β4 protein or establish that this peptide manipulation improves song learning in a behaving bird.</a:t>
            </a:r>
          </a:p>
        </p:txBody>
      </p:sp>
      <p:pic>
        <p:nvPicPr>
          <p:cNvPr id="4" name="Picture 3" descr="z7.png"/>
          <p:cNvPicPr>
            <a:picLocks noChangeAspect="1"/>
          </p:cNvPicPr>
          <p:nvPr/>
        </p:nvPicPr>
        <p:blipFill>
          <a:blip r:embed="rId2"/>
          <a:stretch>
            <a:fillRect/>
          </a:stretch>
        </p:blipFill>
        <p:spPr>
          <a:xfrm>
            <a:off x="1951916" y="1280160"/>
            <a:ext cx="2716423" cy="2926079"/>
          </a:xfrm>
          <a:prstGeom prst="rect">
            <a:avLst/>
          </a:prstGeom>
        </p:spPr>
      </p:pic>
      <p:sp>
        <p:nvSpPr>
          <p:cNvPr id="5" name="Figure caption"/>
          <p:cNvSpPr txBox="1"/>
          <p:nvPr/>
        </p:nvSpPr>
        <p:spPr>
          <a:xfrm>
            <a:off x="566928" y="42976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Zemel et al. (2021), Fig. 7(a–l). Native and scrambled Navβ4 peptide interventions.</a:t>
            </a:r>
          </a:p>
        </p:txBody>
      </p:sp>
      <p:pic>
        <p:nvPicPr>
          <p:cNvPr id="6" name="Picture 5" descr="zbrain.png"/>
          <p:cNvPicPr>
            <a:picLocks noChangeAspect="1"/>
          </p:cNvPicPr>
          <p:nvPr/>
        </p:nvPicPr>
        <p:blipFill>
          <a:blip r:embed="rId3"/>
          <a:stretch>
            <a:fillRect/>
          </a:stretch>
        </p:blipFill>
        <p:spPr>
          <a:xfrm>
            <a:off x="2668342" y="4754880"/>
            <a:ext cx="1283571" cy="1005839"/>
          </a:xfrm>
          <a:prstGeom prst="rect">
            <a:avLst/>
          </a:prstGeom>
        </p:spPr>
      </p:pic>
      <p:sp>
        <p:nvSpPr>
          <p:cNvPr id="7" name="Figure caption"/>
          <p:cNvSpPr txBox="1"/>
          <p:nvPr/>
        </p:nvSpPr>
        <p:spPr>
          <a:xfrm>
            <a:off x="566928"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Zemel et al. (2021), Fig. 1(a, upper). RA and brainstem targets in the vocal motor pathway.</a:t>
            </a:r>
          </a:p>
        </p:txBody>
      </p:sp>
      <p:sp>
        <p:nvSpPr>
          <p:cNvPr id="8" name="Rectangle 7"/>
          <p:cNvSpPr/>
          <p:nvPr/>
        </p:nvSpPr>
        <p:spPr>
          <a:xfrm>
            <a:off x="566928" y="6382512"/>
            <a:ext cx="11057839" cy="9144"/>
          </a:xfrm>
          <a:prstGeom prst="rect">
            <a:avLst/>
          </a:prstGeom>
          <a:solidFill>
            <a:srgbClr val="CDD8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17D"/>
                </a:solidFill>
                <a:latin typeface="Arial"/>
              </a:rPr>
              <a:t>Zemel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17D"/>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5D72"/>
                </a:solidFill>
                <a:latin typeface="Arial"/>
              </a:rPr>
              <a:t>Dynamic clamp tests the effect of resurgent current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405D72"/>
                </a:solidFill>
                <a:latin typeface="Arial"/>
              </a:rPr>
              <a:t>Dynamic clamp</a:t>
            </a:r>
            <a:r>
              <a:rPr sz="1600" b="0" i="0">
                <a:solidFill>
                  <a:srgbClr val="252E36"/>
                </a:solidFill>
                <a:latin typeface="Arial"/>
              </a:rPr>
              <a:t> computes a voltage-dependent current during recording and injects that current into a real neuron. Zemel and colleagues used this method to add a resurgent-current component to juvenile RA neurons and subtract a corresponding component from adult neurons.</a:t>
            </a:r>
          </a:p>
          <a:p>
            <a:pPr algn="l">
              <a:lnSpc>
                <a:spcPct val="108000"/>
              </a:lnSpc>
              <a:spcAft>
                <a:spcPts val="960"/>
              </a:spcAft>
            </a:pPr>
            <a:r>
              <a:rPr sz="1600" b="0" i="0">
                <a:solidFill>
                  <a:srgbClr val="252E36"/>
                </a:solidFill>
                <a:latin typeface="Arial"/>
              </a:rPr>
              <a:t>Adding the component increased juvenile firing frequency, whereas subtraction reduced adult firing. The same cell could be compared with the intervention off and on, separating the immediate current effect from stable differences between developmental populations.</a:t>
            </a:r>
          </a:p>
          <a:p>
            <a:pPr algn="l">
              <a:lnSpc>
                <a:spcPct val="108000"/>
              </a:lnSpc>
              <a:spcAft>
                <a:spcPts val="960"/>
              </a:spcAft>
            </a:pPr>
            <a:r>
              <a:rPr sz="1600" b="0" i="0">
                <a:solidFill>
                  <a:srgbClr val="252E36"/>
                </a:solidFill>
                <a:latin typeface="Arial"/>
              </a:rPr>
              <a:t>The experiment supports a causal contribution of resurgent current to neuronal excitability. The injected conductance was calibrated to measured sodium-current kinetics. Agreement with voltage-clamp recordings does not establish that this conductance alone explains song timing or behavioral proficiency.</a:t>
            </a:r>
          </a:p>
        </p:txBody>
      </p:sp>
      <p:pic>
        <p:nvPicPr>
          <p:cNvPr id="4" name="Picture 3" descr="z8.png"/>
          <p:cNvPicPr>
            <a:picLocks noChangeAspect="1"/>
          </p:cNvPicPr>
          <p:nvPr/>
        </p:nvPicPr>
        <p:blipFill>
          <a:blip r:embed="rId2"/>
          <a:stretch>
            <a:fillRect/>
          </a:stretch>
        </p:blipFill>
        <p:spPr>
          <a:xfrm>
            <a:off x="7858098" y="1280160"/>
            <a:ext cx="2046936" cy="2926080"/>
          </a:xfrm>
          <a:prstGeom prst="rect">
            <a:avLst/>
          </a:prstGeom>
        </p:spPr>
      </p:pic>
      <p:sp>
        <p:nvSpPr>
          <p:cNvPr id="5" name="Figure caption"/>
          <p:cNvSpPr txBox="1"/>
          <p:nvPr/>
        </p:nvSpPr>
        <p:spPr>
          <a:xfrm>
            <a:off x="6138367" y="42976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Zemel et al. (2021), Fig. 8(a–h). Current records and dynamic-clamp interventions.</a:t>
            </a:r>
          </a:p>
        </p:txBody>
      </p:sp>
      <p:pic>
        <p:nvPicPr>
          <p:cNvPr id="6" name="Picture 5" descr="zbrain.png"/>
          <p:cNvPicPr>
            <a:picLocks noChangeAspect="1"/>
          </p:cNvPicPr>
          <p:nvPr/>
        </p:nvPicPr>
        <p:blipFill>
          <a:blip r:embed="rId3"/>
          <a:stretch>
            <a:fillRect/>
          </a:stretch>
        </p:blipFill>
        <p:spPr>
          <a:xfrm>
            <a:off x="8239781" y="4754880"/>
            <a:ext cx="1283571" cy="10058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Zemel et al. (2021), Fig. 1(a, upper). RA and brainstem targets in the vocal motor pathway.</a:t>
            </a:r>
          </a:p>
        </p:txBody>
      </p:sp>
      <p:sp>
        <p:nvSpPr>
          <p:cNvPr id="8" name="Rectangle 7"/>
          <p:cNvSpPr/>
          <p:nvPr/>
        </p:nvSpPr>
        <p:spPr>
          <a:xfrm>
            <a:off x="566928" y="6382512"/>
            <a:ext cx="11057839" cy="9144"/>
          </a:xfrm>
          <a:prstGeom prst="rect">
            <a:avLst/>
          </a:prstGeom>
          <a:solidFill>
            <a:srgbClr val="CDD8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17D"/>
                </a:solidFill>
                <a:latin typeface="Arial"/>
              </a:rPr>
              <a:t>Zemel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17D"/>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5D72"/>
                </a:solidFill>
                <a:latin typeface="Arial"/>
              </a:rPr>
              <a:t>RA maturation differs between males and females</a:t>
            </a:r>
          </a:p>
        </p:txBody>
      </p:sp>
      <p:sp>
        <p:nvSpPr>
          <p:cNvPr id="3" name="Body"/>
          <p:cNvSpPr txBox="1"/>
          <p:nvPr/>
        </p:nvSpPr>
        <p:spPr>
          <a:xfrm>
            <a:off x="60533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52E36"/>
                </a:solidFill>
                <a:latin typeface="Arial"/>
              </a:rPr>
              <a:t>Zemel and colleagues compared Navβ4 expression and RA physiology across ages in female zebra finches, which do not produce the learned courtship song characteristic of males. In situ hybridization was assessed alongside adjacent Nissl-stained sections identifying the nucleus.</a:t>
            </a:r>
          </a:p>
          <a:p>
            <a:pPr algn="l">
              <a:lnSpc>
                <a:spcPct val="108000"/>
              </a:lnSpc>
              <a:spcAft>
                <a:spcPts val="960"/>
              </a:spcAft>
            </a:pPr>
            <a:r>
              <a:rPr sz="1600" b="0" i="0">
                <a:solidFill>
                  <a:srgbClr val="252E36"/>
                </a:solidFill>
                <a:latin typeface="Arial"/>
              </a:rPr>
              <a:t>Females did not exhibit the male pattern of strong developmental Navβ4 upregulation and mature resurgent-current specialization. This comparison separated a sex-related developmental program from a change that would necessarily occur in every zebra finch reaching the same chronological age.</a:t>
            </a:r>
          </a:p>
          <a:p>
            <a:pPr algn="l">
              <a:lnSpc>
                <a:spcPct val="108000"/>
              </a:lnSpc>
              <a:spcAft>
                <a:spcPts val="960"/>
              </a:spcAft>
            </a:pPr>
            <a:r>
              <a:rPr sz="1600" b="0" i="0">
                <a:solidFill>
                  <a:srgbClr val="252E36"/>
                </a:solidFill>
                <a:latin typeface="Arial"/>
              </a:rPr>
              <a:t>Male birds isolated from tutor song nevertheless developed mature firing properties, further separating intrinsic maturation from successful imitation. The results support sex-linked motor-system specialization; they do not establish that a single sodium-channel subunit is sufficient to create singing behavior.</a:t>
            </a:r>
          </a:p>
        </p:txBody>
      </p:sp>
      <p:pic>
        <p:nvPicPr>
          <p:cNvPr id="4" name="Picture 3" descr="z9.png"/>
          <p:cNvPicPr>
            <a:picLocks noChangeAspect="1"/>
          </p:cNvPicPr>
          <p:nvPr/>
        </p:nvPicPr>
        <p:blipFill>
          <a:blip r:embed="rId2"/>
          <a:stretch>
            <a:fillRect/>
          </a:stretch>
        </p:blipFill>
        <p:spPr>
          <a:xfrm>
            <a:off x="566928" y="1280160"/>
            <a:ext cx="5120640" cy="4075208"/>
          </a:xfrm>
          <a:prstGeom prst="rect">
            <a:avLst/>
          </a:prstGeom>
        </p:spPr>
      </p:pic>
      <p:sp>
        <p:nvSpPr>
          <p:cNvPr id="5" name="Figure caption"/>
          <p:cNvSpPr txBox="1"/>
          <p:nvPr/>
        </p:nvSpPr>
        <p:spPr>
          <a:xfrm>
            <a:off x="566928" y="544680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Zemel et al. (2021), Fig. 9(a–g). Female RA expression and sodium-current measurements.</a:t>
            </a:r>
          </a:p>
        </p:txBody>
      </p:sp>
      <p:sp>
        <p:nvSpPr>
          <p:cNvPr id="6" name="Rectangle 5"/>
          <p:cNvSpPr/>
          <p:nvPr/>
        </p:nvSpPr>
        <p:spPr>
          <a:xfrm>
            <a:off x="566928" y="6382512"/>
            <a:ext cx="11057839" cy="9144"/>
          </a:xfrm>
          <a:prstGeom prst="rect">
            <a:avLst/>
          </a:prstGeom>
          <a:solidFill>
            <a:srgbClr val="CDD8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17D"/>
                </a:solidFill>
                <a:latin typeface="Arial"/>
              </a:rPr>
              <a:t>Zemel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17D"/>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5D72"/>
                </a:solidFill>
                <a:latin typeface="Arial"/>
              </a:rPr>
              <a:t>SK channels contribute to the afterhyperpolarization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405D72"/>
                </a:solidFill>
                <a:latin typeface="Arial"/>
              </a:rPr>
              <a:t>SK channels</a:t>
            </a:r>
            <a:r>
              <a:rPr sz="1600" b="0" i="0">
                <a:solidFill>
                  <a:srgbClr val="252E36"/>
                </a:solidFill>
                <a:latin typeface="Arial"/>
              </a:rPr>
              <a:t> are small-conductance calcium-activated potassium channels. Calcium-dependent potassium efflux can produce an </a:t>
            </a:r>
            <a:r>
              <a:rPr sz="1600" b="1" i="0">
                <a:solidFill>
                  <a:srgbClr val="405D72"/>
                </a:solidFill>
                <a:latin typeface="Arial"/>
              </a:rPr>
              <a:t>afterhyperpolarization</a:t>
            </a:r>
            <a:r>
              <a:rPr sz="1600" b="0" i="0">
                <a:solidFill>
                  <a:srgbClr val="252E36"/>
                </a:solidFill>
                <a:latin typeface="Arial"/>
              </a:rPr>
              <a:t>, a period of more negative membrane voltage following a spike that regulates when the next spike occurs.</a:t>
            </a:r>
          </a:p>
          <a:p>
            <a:pPr algn="l">
              <a:lnSpc>
                <a:spcPct val="108000"/>
              </a:lnSpc>
              <a:spcAft>
                <a:spcPts val="960"/>
              </a:spcAft>
            </a:pPr>
            <a:r>
              <a:rPr sz="1600" b="0" i="0">
                <a:solidFill>
                  <a:srgbClr val="252E36"/>
                </a:solidFill>
                <a:latin typeface="Arial"/>
              </a:rPr>
              <a:t>Hou and colleagues recorded RA projection neurons in adult male zebra finch slices and applied apamin, an SK-channel blocker, at 100 nM. An example response to 100 pA rose from 34 to about 53 Hz. Blocking the channels reduced the afterhyperpolarization and increased current-evoked firing, linking the pharmacological target to both the spike waveform and ongoing excitability.</a:t>
            </a:r>
          </a:p>
          <a:p>
            <a:pPr algn="l">
              <a:lnSpc>
                <a:spcPct val="108000"/>
              </a:lnSpc>
              <a:spcAft>
                <a:spcPts val="960"/>
              </a:spcAft>
            </a:pPr>
            <a:r>
              <a:rPr sz="1600" b="0" i="0">
                <a:solidFill>
                  <a:srgbClr val="252E36"/>
                </a:solidFill>
                <a:latin typeface="Arial"/>
              </a:rPr>
              <a:t>The direction of the effect is consistent with removal of a potassium-mediated brake on excitation. Pharmacology establishes a contribution under the slice conditions, but does not identify every SK subunit or prove how this manipulation would change the timing of a complete song.</a:t>
            </a:r>
          </a:p>
        </p:txBody>
      </p:sp>
      <p:pic>
        <p:nvPicPr>
          <p:cNvPr id="4" name="Picture 3" descr="s1.png"/>
          <p:cNvPicPr>
            <a:picLocks noChangeAspect="1"/>
          </p:cNvPicPr>
          <p:nvPr/>
        </p:nvPicPr>
        <p:blipFill>
          <a:blip r:embed="rId2"/>
          <a:stretch>
            <a:fillRect/>
          </a:stretch>
        </p:blipFill>
        <p:spPr>
          <a:xfrm>
            <a:off x="7629477" y="1280160"/>
            <a:ext cx="2504180" cy="2926080"/>
          </a:xfrm>
          <a:prstGeom prst="rect">
            <a:avLst/>
          </a:prstGeom>
        </p:spPr>
      </p:pic>
      <p:sp>
        <p:nvSpPr>
          <p:cNvPr id="5" name="Figure caption"/>
          <p:cNvSpPr txBox="1"/>
          <p:nvPr/>
        </p:nvSpPr>
        <p:spPr>
          <a:xfrm>
            <a:off x="6138367" y="42976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Hou et al. (2012), Fig. 1(A–F). SK blockade changes evoked firing and spike recovery.</a:t>
            </a:r>
          </a:p>
        </p:txBody>
      </p:sp>
      <p:pic>
        <p:nvPicPr>
          <p:cNvPr id="6" name="Picture 5" descr="zbrain.png"/>
          <p:cNvPicPr>
            <a:picLocks noChangeAspect="1"/>
          </p:cNvPicPr>
          <p:nvPr/>
        </p:nvPicPr>
        <p:blipFill>
          <a:blip r:embed="rId3"/>
          <a:stretch>
            <a:fillRect/>
          </a:stretch>
        </p:blipFill>
        <p:spPr>
          <a:xfrm>
            <a:off x="8239781" y="4754880"/>
            <a:ext cx="1283571" cy="10058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Zemel et al. (2021), Fig. 1(a, upper). RA and brainstem targets in the vocal motor pathway.</a:t>
            </a:r>
          </a:p>
        </p:txBody>
      </p:sp>
      <p:sp>
        <p:nvSpPr>
          <p:cNvPr id="8" name="Rectangle 7"/>
          <p:cNvSpPr/>
          <p:nvPr/>
        </p:nvSpPr>
        <p:spPr>
          <a:xfrm>
            <a:off x="566928" y="6382512"/>
            <a:ext cx="11057839" cy="9144"/>
          </a:xfrm>
          <a:prstGeom prst="rect">
            <a:avLst/>
          </a:prstGeom>
          <a:solidFill>
            <a:srgbClr val="CDD8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17D"/>
                </a:solidFill>
                <a:latin typeface="Arial"/>
              </a:rPr>
              <a:t>Hou et al. (2012); Zemel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17D"/>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5D72"/>
                </a:solidFill>
                <a:latin typeface="Arial"/>
              </a:rPr>
              <a:t>SK blockade makes RA firing less regular</a:t>
            </a:r>
          </a:p>
        </p:txBody>
      </p:sp>
      <p:sp>
        <p:nvSpPr>
          <p:cNvPr id="3" name="Body"/>
          <p:cNvSpPr txBox="1"/>
          <p:nvPr/>
        </p:nvSpPr>
        <p:spPr>
          <a:xfrm>
            <a:off x="641908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405D72"/>
                </a:solidFill>
                <a:latin typeface="Arial"/>
              </a:rPr>
              <a:t>Interspike intervals</a:t>
            </a:r>
            <a:r>
              <a:rPr sz="1600" b="0" i="0">
                <a:solidFill>
                  <a:srgbClr val="252E36"/>
                </a:solidFill>
                <a:latin typeface="Arial"/>
              </a:rPr>
              <a:t> are the times separating successive action potentials. Hou and colleagues compared spontaneous spike trains from the same RA projection neurons before and after apamin, allowing firing regularity to be assessed separately from the mean firing rate.</a:t>
            </a:r>
          </a:p>
          <a:p>
            <a:pPr algn="l">
              <a:lnSpc>
                <a:spcPct val="108000"/>
              </a:lnSpc>
              <a:spcAft>
                <a:spcPts val="960"/>
              </a:spcAft>
            </a:pPr>
            <a:r>
              <a:rPr sz="1600" b="0" i="0">
                <a:solidFill>
                  <a:srgbClr val="252E36"/>
                </a:solidFill>
                <a:latin typeface="Arial"/>
              </a:rPr>
              <a:t>SK blockade increased variability in the intervals between spikes without a clear change in average spontaneous firing rate. Recordings therefore distinguished a neuron that fires more rapidly from a neuron that fires with more reproducible timing; these are different physiological properties.</a:t>
            </a:r>
          </a:p>
          <a:p>
            <a:pPr algn="l">
              <a:lnSpc>
                <a:spcPct val="108000"/>
              </a:lnSpc>
              <a:spcAft>
                <a:spcPts val="960"/>
              </a:spcAft>
            </a:pPr>
            <a:r>
              <a:rPr sz="1600" b="0" i="0">
                <a:solidFill>
                  <a:srgbClr val="252E36"/>
                </a:solidFill>
                <a:latin typeface="Arial"/>
              </a:rPr>
              <a:t>Calcium-activated potassium feedback can stabilize the return toward spike threshold after each action potential. The result supports a contribution to temporal regularity in isolated RA cells, but natural song-related precision also depends on the timing of HVC and LMAN inputs and cannot be assigned entirely to SK channels.</a:t>
            </a:r>
          </a:p>
        </p:txBody>
      </p:sp>
      <p:pic>
        <p:nvPicPr>
          <p:cNvPr id="4" name="Picture 3" descr="s2.png"/>
          <p:cNvPicPr>
            <a:picLocks noChangeAspect="1"/>
          </p:cNvPicPr>
          <p:nvPr/>
        </p:nvPicPr>
        <p:blipFill>
          <a:blip r:embed="rId2"/>
          <a:stretch>
            <a:fillRect/>
          </a:stretch>
        </p:blipFill>
        <p:spPr>
          <a:xfrm>
            <a:off x="2089936" y="1280160"/>
            <a:ext cx="2440382" cy="2926080"/>
          </a:xfrm>
          <a:prstGeom prst="rect">
            <a:avLst/>
          </a:prstGeom>
        </p:spPr>
      </p:pic>
      <p:sp>
        <p:nvSpPr>
          <p:cNvPr id="5" name="Figure caption"/>
          <p:cNvSpPr txBox="1"/>
          <p:nvPr/>
        </p:nvSpPr>
        <p:spPr>
          <a:xfrm>
            <a:off x="566928" y="42976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Hou et al. (2012), Fig. 2(A–E). Spontaneous spike timing before and after apamin.</a:t>
            </a:r>
          </a:p>
        </p:txBody>
      </p:sp>
      <p:pic>
        <p:nvPicPr>
          <p:cNvPr id="6" name="Picture 5" descr="zbrain.png"/>
          <p:cNvPicPr>
            <a:picLocks noChangeAspect="1"/>
          </p:cNvPicPr>
          <p:nvPr/>
        </p:nvPicPr>
        <p:blipFill>
          <a:blip r:embed="rId3"/>
          <a:stretch>
            <a:fillRect/>
          </a:stretch>
        </p:blipFill>
        <p:spPr>
          <a:xfrm>
            <a:off x="2668342" y="4754880"/>
            <a:ext cx="1283571" cy="1005839"/>
          </a:xfrm>
          <a:prstGeom prst="rect">
            <a:avLst/>
          </a:prstGeom>
        </p:spPr>
      </p:pic>
      <p:sp>
        <p:nvSpPr>
          <p:cNvPr id="7" name="Figure caption"/>
          <p:cNvSpPr txBox="1"/>
          <p:nvPr/>
        </p:nvSpPr>
        <p:spPr>
          <a:xfrm>
            <a:off x="566928"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Zemel et al. (2021), Fig. 1(a, upper). RA and brainstem targets in the vocal motor pathway.</a:t>
            </a:r>
          </a:p>
        </p:txBody>
      </p:sp>
      <p:sp>
        <p:nvSpPr>
          <p:cNvPr id="8" name="Rectangle 7"/>
          <p:cNvSpPr/>
          <p:nvPr/>
        </p:nvSpPr>
        <p:spPr>
          <a:xfrm>
            <a:off x="566928" y="6382512"/>
            <a:ext cx="11057839" cy="9144"/>
          </a:xfrm>
          <a:prstGeom prst="rect">
            <a:avLst/>
          </a:prstGeom>
          <a:solidFill>
            <a:srgbClr val="CDD8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17D"/>
                </a:solidFill>
                <a:latin typeface="Arial"/>
              </a:rPr>
              <a:t>Hou et al. (2012); Zemel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17D"/>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5D72"/>
                </a:solidFill>
                <a:latin typeface="Arial"/>
              </a:rPr>
              <a:t>SK blockade destabilizes evoked spike threshold</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52E36"/>
                </a:solidFill>
                <a:latin typeface="Arial"/>
              </a:rPr>
              <a:t>A </a:t>
            </a:r>
            <a:r>
              <a:rPr sz="1500" b="1" i="0">
                <a:solidFill>
                  <a:srgbClr val="405D72"/>
                </a:solidFill>
                <a:latin typeface="Arial"/>
              </a:rPr>
              <a:t>spike threshold</a:t>
            </a:r>
            <a:r>
              <a:rPr sz="1500" b="0" i="0">
                <a:solidFill>
                  <a:srgbClr val="252E36"/>
                </a:solidFill>
                <a:latin typeface="Arial"/>
              </a:rPr>
              <a:t> is the membrane voltage at which regenerative excitation initiates an action potential. Hou and colleagues evoked firing with a 100 pA depolarizing current and compared threshold measurements before and after 100 nM apamin blocked SK channels.</a:t>
            </a:r>
          </a:p>
          <a:p>
            <a:pPr algn="l">
              <a:lnSpc>
                <a:spcPct val="108000"/>
              </a:lnSpc>
              <a:spcAft>
                <a:spcPts val="900"/>
              </a:spcAft>
            </a:pPr>
            <a:r>
              <a:rPr sz="1500" b="0" i="0">
                <a:solidFill>
                  <a:srgbClr val="252E36"/>
                </a:solidFill>
                <a:latin typeface="Arial"/>
              </a:rPr>
              <a:t>Blockade increased the variation of evoked spike thresholds and shifted them toward more depolarized voltages as injected current increased. The recordings linked irregular firing with less stable spike initiation rather than assuming that every change in spike count reflected the same membrane mechanism.</a:t>
            </a:r>
          </a:p>
          <a:p>
            <a:pPr algn="l">
              <a:lnSpc>
                <a:spcPct val="108000"/>
              </a:lnSpc>
              <a:spcAft>
                <a:spcPts val="900"/>
              </a:spcAft>
            </a:pPr>
            <a:r>
              <a:rPr sz="1500" b="0" i="0">
                <a:solidFill>
                  <a:srgbClr val="252E36"/>
                </a:solidFill>
                <a:latin typeface="Arial"/>
              </a:rPr>
              <a:t>The measured effect supports a role for calcium-activated potassium feedback in recovery between spikes. It does not identify the complete sequence of sodium-channel recovery or the calcium source activating SK channels, and spontaneous and current-evoked firing need not respond identically to the same intervention.</a:t>
            </a:r>
          </a:p>
        </p:txBody>
      </p:sp>
      <p:pic>
        <p:nvPicPr>
          <p:cNvPr id="4" name="Picture 3" descr="s3.png"/>
          <p:cNvPicPr>
            <a:picLocks noChangeAspect="1"/>
          </p:cNvPicPr>
          <p:nvPr/>
        </p:nvPicPr>
        <p:blipFill>
          <a:blip r:embed="rId2"/>
          <a:stretch>
            <a:fillRect/>
          </a:stretch>
        </p:blipFill>
        <p:spPr>
          <a:xfrm>
            <a:off x="6960493" y="1280160"/>
            <a:ext cx="3842147" cy="2926080"/>
          </a:xfrm>
          <a:prstGeom prst="rect">
            <a:avLst/>
          </a:prstGeom>
        </p:spPr>
      </p:pic>
      <p:sp>
        <p:nvSpPr>
          <p:cNvPr id="5" name="Figure caption"/>
          <p:cNvSpPr txBox="1"/>
          <p:nvPr/>
        </p:nvSpPr>
        <p:spPr>
          <a:xfrm>
            <a:off x="6138367" y="42976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Hou et al. (2012), Fig. 3(A–C). Evoked threshold changes during SK blockade.</a:t>
            </a:r>
          </a:p>
        </p:txBody>
      </p:sp>
      <p:pic>
        <p:nvPicPr>
          <p:cNvPr id="6" name="Picture 5" descr="zbrain.png"/>
          <p:cNvPicPr>
            <a:picLocks noChangeAspect="1"/>
          </p:cNvPicPr>
          <p:nvPr/>
        </p:nvPicPr>
        <p:blipFill>
          <a:blip r:embed="rId3"/>
          <a:stretch>
            <a:fillRect/>
          </a:stretch>
        </p:blipFill>
        <p:spPr>
          <a:xfrm>
            <a:off x="8239781" y="4754880"/>
            <a:ext cx="1283571" cy="10058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Zemel et al. (2021), Fig. 1(a, upper). RA and brainstem targets in the vocal motor pathway.</a:t>
            </a:r>
          </a:p>
        </p:txBody>
      </p:sp>
      <p:sp>
        <p:nvSpPr>
          <p:cNvPr id="8" name="Rectangle 7"/>
          <p:cNvSpPr/>
          <p:nvPr/>
        </p:nvSpPr>
        <p:spPr>
          <a:xfrm>
            <a:off x="566928" y="6382512"/>
            <a:ext cx="11057839" cy="9144"/>
          </a:xfrm>
          <a:prstGeom prst="rect">
            <a:avLst/>
          </a:prstGeom>
          <a:solidFill>
            <a:srgbClr val="CDD8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17D"/>
                </a:solidFill>
                <a:latin typeface="Arial"/>
              </a:rPr>
              <a:t>Hou et al. (2012); Zemel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17D"/>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5D72"/>
                </a:solidFill>
                <a:latin typeface="Arial"/>
              </a:rPr>
              <a:t>Synaptic input contributes to the SK regularity effect</a:t>
            </a:r>
          </a:p>
        </p:txBody>
      </p:sp>
      <p:sp>
        <p:nvSpPr>
          <p:cNvPr id="3" name="Body"/>
          <p:cNvSpPr txBox="1"/>
          <p:nvPr/>
        </p:nvSpPr>
        <p:spPr>
          <a:xfrm>
            <a:off x="641908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52E36"/>
                </a:solidFill>
                <a:latin typeface="Arial"/>
              </a:rPr>
              <a:t>Hou and colleagues blocked ionotropic glutamate receptors while recording RA projection neurons. </a:t>
            </a:r>
            <a:r>
              <a:rPr sz="1500" b="1" i="0">
                <a:solidFill>
                  <a:srgbClr val="405D72"/>
                </a:solidFill>
                <a:latin typeface="Arial"/>
              </a:rPr>
              <a:t>AMPA receptors</a:t>
            </a:r>
            <a:r>
              <a:rPr sz="1500" b="0" i="0">
                <a:solidFill>
                  <a:srgbClr val="252E36"/>
                </a:solidFill>
                <a:latin typeface="Arial"/>
              </a:rPr>
              <a:t> support relatively fast excitatory transmission, whereas </a:t>
            </a:r>
            <a:r>
              <a:rPr sz="1500" b="1" i="0">
                <a:solidFill>
                  <a:srgbClr val="405D72"/>
                </a:solidFill>
                <a:latin typeface="Arial"/>
              </a:rPr>
              <a:t>NMDA receptors</a:t>
            </a:r>
            <a:r>
              <a:rPr sz="1500" b="0" i="0">
                <a:solidFill>
                  <a:srgbClr val="252E36"/>
                </a:solidFill>
                <a:latin typeface="Arial"/>
              </a:rPr>
              <a:t> have slower kinetics and voltage-dependent gating; the antagonists DNQX and APV suppress these receptor components.</a:t>
            </a:r>
          </a:p>
          <a:p>
            <a:pPr algn="l">
              <a:lnSpc>
                <a:spcPct val="108000"/>
              </a:lnSpc>
              <a:spcAft>
                <a:spcPts val="900"/>
              </a:spcAft>
            </a:pPr>
            <a:r>
              <a:rPr sz="1500" b="0" i="0">
                <a:solidFill>
                  <a:srgbClr val="252E36"/>
                </a:solidFill>
                <a:latin typeface="Arial"/>
              </a:rPr>
              <a:t>Apamin still increased current-evoked firing after receptor blockade, but its effect on firing regularity was no longer clearly detectable. This comparison separated an excitability effect that persisted without glutamatergic input from a regularity effect that depended on the recording's synaptic conditions.</a:t>
            </a:r>
          </a:p>
          <a:p>
            <a:pPr algn="l">
              <a:lnSpc>
                <a:spcPct val="108000"/>
              </a:lnSpc>
              <a:spcAft>
                <a:spcPts val="900"/>
              </a:spcAft>
            </a:pPr>
            <a:r>
              <a:rPr sz="1500" b="0" i="0">
                <a:solidFill>
                  <a:srgbClr val="252E36"/>
                </a:solidFill>
                <a:latin typeface="Arial"/>
              </a:rPr>
              <a:t>Intrinsic potassium conductance and incoming excitation therefore interact in determining spike timing. The control does not identify the presynaptic source responsible for the difference or establish the corresponding effect during singing; it constrains a purely intrinsic explanation of all changes in temporal regularity.</a:t>
            </a:r>
          </a:p>
        </p:txBody>
      </p:sp>
      <p:pic>
        <p:nvPicPr>
          <p:cNvPr id="4" name="Picture 3" descr="s4.png"/>
          <p:cNvPicPr>
            <a:picLocks noChangeAspect="1"/>
          </p:cNvPicPr>
          <p:nvPr/>
        </p:nvPicPr>
        <p:blipFill>
          <a:blip r:embed="rId2"/>
          <a:stretch>
            <a:fillRect/>
          </a:stretch>
        </p:blipFill>
        <p:spPr>
          <a:xfrm>
            <a:off x="1882052" y="1280160"/>
            <a:ext cx="2856151" cy="2926080"/>
          </a:xfrm>
          <a:prstGeom prst="rect">
            <a:avLst/>
          </a:prstGeom>
        </p:spPr>
      </p:pic>
      <p:sp>
        <p:nvSpPr>
          <p:cNvPr id="5" name="Figure caption"/>
          <p:cNvSpPr txBox="1"/>
          <p:nvPr/>
        </p:nvSpPr>
        <p:spPr>
          <a:xfrm>
            <a:off x="566928" y="42976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Hou et al. (2012), Fig. 4(A–E). Apamin effects after glutamate-receptor blockade.</a:t>
            </a:r>
          </a:p>
        </p:txBody>
      </p:sp>
      <p:pic>
        <p:nvPicPr>
          <p:cNvPr id="6" name="Picture 5" descr="zbrain.png"/>
          <p:cNvPicPr>
            <a:picLocks noChangeAspect="1"/>
          </p:cNvPicPr>
          <p:nvPr/>
        </p:nvPicPr>
        <p:blipFill>
          <a:blip r:embed="rId3"/>
          <a:stretch>
            <a:fillRect/>
          </a:stretch>
        </p:blipFill>
        <p:spPr>
          <a:xfrm>
            <a:off x="2668342" y="4754880"/>
            <a:ext cx="1283571" cy="1005839"/>
          </a:xfrm>
          <a:prstGeom prst="rect">
            <a:avLst/>
          </a:prstGeom>
        </p:spPr>
      </p:pic>
      <p:sp>
        <p:nvSpPr>
          <p:cNvPr id="7" name="Figure caption"/>
          <p:cNvSpPr txBox="1"/>
          <p:nvPr/>
        </p:nvSpPr>
        <p:spPr>
          <a:xfrm>
            <a:off x="566928"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Zemel et al. (2021), Fig. 1(a, upper). RA and brainstem targets in the vocal motor pathway.</a:t>
            </a:r>
          </a:p>
        </p:txBody>
      </p:sp>
      <p:sp>
        <p:nvSpPr>
          <p:cNvPr id="8" name="Rectangle 7"/>
          <p:cNvSpPr/>
          <p:nvPr/>
        </p:nvSpPr>
        <p:spPr>
          <a:xfrm>
            <a:off x="566928" y="6382512"/>
            <a:ext cx="11057839" cy="9144"/>
          </a:xfrm>
          <a:prstGeom prst="rect">
            <a:avLst/>
          </a:prstGeom>
          <a:solidFill>
            <a:srgbClr val="CDD8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17D"/>
                </a:solidFill>
                <a:latin typeface="Arial"/>
              </a:rPr>
              <a:t>Hou et al. (2012); Zemel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17D"/>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5D72"/>
                </a:solidFill>
                <a:latin typeface="Arial"/>
              </a:rPr>
              <a:t>Dopamine increases RA neuronal excitability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405D72"/>
                </a:solidFill>
                <a:latin typeface="Arial"/>
              </a:rPr>
              <a:t>Dopamine</a:t>
            </a:r>
            <a:r>
              <a:rPr sz="1500" b="0" i="0">
                <a:solidFill>
                  <a:srgbClr val="252E36"/>
                </a:solidFill>
                <a:latin typeface="Arial"/>
              </a:rPr>
              <a:t> is a neurotransmitter that can modulate neuronal properties through receptor-dependent intracellular signaling. Liao and colleagues recorded adult male zebra finch RA projection neurons and applied 50 µM dopamine while controlling the injected current.</a:t>
            </a:r>
          </a:p>
          <a:p>
            <a:pPr algn="l">
              <a:lnSpc>
                <a:spcPct val="108000"/>
              </a:lnSpc>
              <a:spcAft>
                <a:spcPts val="900"/>
              </a:spcAft>
            </a:pPr>
            <a:r>
              <a:rPr sz="1500" b="0" i="0">
                <a:solidFill>
                  <a:srgbClr val="252E36"/>
                </a:solidFill>
                <a:latin typeface="Arial"/>
              </a:rPr>
              <a:t>During a 100 pA stimulus, normalized firing increased to approximately 1.38 times baseline and returned toward baseline after washout. The membrane potential became less negative, shifting from approximately −70 to −61 mV under the reported recording conditions.</a:t>
            </a:r>
          </a:p>
          <a:p>
            <a:pPr algn="l">
              <a:lnSpc>
                <a:spcPct val="108000"/>
              </a:lnSpc>
              <a:spcAft>
                <a:spcPts val="900"/>
              </a:spcAft>
            </a:pPr>
            <a:r>
              <a:rPr sz="1500" b="0" i="0">
                <a:solidFill>
                  <a:srgbClr val="252E36"/>
                </a:solidFill>
                <a:latin typeface="Arial"/>
              </a:rPr>
              <a:t>The within-cell drug and wash comparisons establish reversible modulation of excitability rather than a difference between cell populations. Bath application does not reproduce the concentration, duration, or spatial precision of physiological dopamine release, so these measurements should not be equated directly with a behavioral state during singing.</a:t>
            </a:r>
          </a:p>
        </p:txBody>
      </p:sp>
      <p:pic>
        <p:nvPicPr>
          <p:cNvPr id="4" name="Picture 3" descr="d1.png"/>
          <p:cNvPicPr>
            <a:picLocks noChangeAspect="1"/>
          </p:cNvPicPr>
          <p:nvPr/>
        </p:nvPicPr>
        <p:blipFill>
          <a:blip r:embed="rId2"/>
          <a:stretch>
            <a:fillRect/>
          </a:stretch>
        </p:blipFill>
        <p:spPr>
          <a:xfrm>
            <a:off x="7308326" y="1280160"/>
            <a:ext cx="3146480" cy="2926079"/>
          </a:xfrm>
          <a:prstGeom prst="rect">
            <a:avLst/>
          </a:prstGeom>
        </p:spPr>
      </p:pic>
      <p:sp>
        <p:nvSpPr>
          <p:cNvPr id="5" name="Figure caption"/>
          <p:cNvSpPr txBox="1"/>
          <p:nvPr/>
        </p:nvSpPr>
        <p:spPr>
          <a:xfrm>
            <a:off x="6138367" y="42976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Liao et al. (2013), Fig. 1(A–D). Reversible dopamine effects on RA firing and voltage.</a:t>
            </a:r>
          </a:p>
        </p:txBody>
      </p:sp>
      <p:pic>
        <p:nvPicPr>
          <p:cNvPr id="6" name="Picture 5" descr="zbrain.png"/>
          <p:cNvPicPr>
            <a:picLocks noChangeAspect="1"/>
          </p:cNvPicPr>
          <p:nvPr/>
        </p:nvPicPr>
        <p:blipFill>
          <a:blip r:embed="rId3"/>
          <a:stretch>
            <a:fillRect/>
          </a:stretch>
        </p:blipFill>
        <p:spPr>
          <a:xfrm>
            <a:off x="8239781" y="4754880"/>
            <a:ext cx="1283571" cy="10058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Zemel et al. (2021), Fig. 1(a, upper). RA and brainstem targets in the vocal motor pathway.</a:t>
            </a:r>
          </a:p>
        </p:txBody>
      </p:sp>
      <p:sp>
        <p:nvSpPr>
          <p:cNvPr id="8" name="Rectangle 7"/>
          <p:cNvSpPr/>
          <p:nvPr/>
        </p:nvSpPr>
        <p:spPr>
          <a:xfrm>
            <a:off x="566928" y="6382512"/>
            <a:ext cx="11057839" cy="9144"/>
          </a:xfrm>
          <a:prstGeom prst="rect">
            <a:avLst/>
          </a:prstGeom>
          <a:solidFill>
            <a:srgbClr val="CDD8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17D"/>
                </a:solidFill>
                <a:latin typeface="Arial"/>
              </a:rPr>
              <a:t>Liao et al. (2013); Zemel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17D"/>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5D72"/>
                </a:solidFill>
                <a:latin typeface="Arial"/>
              </a:rPr>
              <a:t>Dopamine depolarization persists without spikes</a:t>
            </a:r>
          </a:p>
        </p:txBody>
      </p:sp>
      <p:sp>
        <p:nvSpPr>
          <p:cNvPr id="3" name="Body"/>
          <p:cNvSpPr txBox="1"/>
          <p:nvPr/>
        </p:nvSpPr>
        <p:spPr>
          <a:xfrm>
            <a:off x="641908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52E36"/>
                </a:solidFill>
                <a:latin typeface="Arial"/>
              </a:rPr>
              <a:t>Liao and colleagues used </a:t>
            </a:r>
            <a:r>
              <a:rPr sz="1600" b="1" i="0">
                <a:solidFill>
                  <a:srgbClr val="405D72"/>
                </a:solidFill>
                <a:latin typeface="Arial"/>
              </a:rPr>
              <a:t>tetrodotoxin</a:t>
            </a:r>
            <a:r>
              <a:rPr sz="1600" b="0" i="0">
                <a:solidFill>
                  <a:srgbClr val="252E36"/>
                </a:solidFill>
                <a:latin typeface="Arial"/>
              </a:rPr>
              <a:t>, or TTX, to block voltage-gated sodium channels and prevent action potentials in their RA slice preparation. This manipulation tested whether dopamine-induced depolarization depended on spike-driven activity in the surrounding network.</a:t>
            </a:r>
          </a:p>
          <a:p>
            <a:pPr algn="l">
              <a:lnSpc>
                <a:spcPct val="108000"/>
              </a:lnSpc>
              <a:spcAft>
                <a:spcPts val="960"/>
              </a:spcAft>
            </a:pPr>
            <a:r>
              <a:rPr sz="1600" b="0" i="0">
                <a:solidFill>
                  <a:srgbClr val="252E36"/>
                </a:solidFill>
                <a:latin typeface="Arial"/>
              </a:rPr>
              <a:t>Dopamine still produced a depolarizing membrane shift when sodium-dependent spikes were suppressed. The result separated the change in resting membrane behavior from the increased number of evoked action potentials observed in the unblocked preparation.</a:t>
            </a:r>
          </a:p>
          <a:p>
            <a:pPr algn="l">
              <a:lnSpc>
                <a:spcPct val="108000"/>
              </a:lnSpc>
              <a:spcAft>
                <a:spcPts val="960"/>
              </a:spcAft>
            </a:pPr>
            <a:r>
              <a:rPr sz="1600" b="0" i="0">
                <a:solidFill>
                  <a:srgbClr val="252E36"/>
                </a:solidFill>
                <a:latin typeface="Arial"/>
              </a:rPr>
              <a:t>A direct or locally mediated membrane effect is therefore supported, but the specific ionic conductance responsible was not isolated by this control. TTX also changes network activity broadly; persistence in its presence does not prove that all dopaminergic influences on RA during singing are exclusively postsynaptic.</a:t>
            </a:r>
          </a:p>
        </p:txBody>
      </p:sp>
      <p:pic>
        <p:nvPicPr>
          <p:cNvPr id="4" name="Picture 3" descr="d2.png"/>
          <p:cNvPicPr>
            <a:picLocks noChangeAspect="1"/>
          </p:cNvPicPr>
          <p:nvPr/>
        </p:nvPicPr>
        <p:blipFill>
          <a:blip r:embed="rId2"/>
          <a:stretch>
            <a:fillRect/>
          </a:stretch>
        </p:blipFill>
        <p:spPr>
          <a:xfrm>
            <a:off x="566928" y="1280160"/>
            <a:ext cx="5486399" cy="2849226"/>
          </a:xfrm>
          <a:prstGeom prst="rect">
            <a:avLst/>
          </a:prstGeom>
        </p:spPr>
      </p:pic>
      <p:sp>
        <p:nvSpPr>
          <p:cNvPr id="5" name="Figure caption"/>
          <p:cNvSpPr txBox="1"/>
          <p:nvPr/>
        </p:nvSpPr>
        <p:spPr>
          <a:xfrm>
            <a:off x="566928" y="4220826"/>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Liao et al. (2013), Fig. 2(A–D). Depolarization with and without sodium-channel blockade.</a:t>
            </a:r>
          </a:p>
        </p:txBody>
      </p:sp>
      <p:pic>
        <p:nvPicPr>
          <p:cNvPr id="6" name="Picture 5" descr="zbrain.png"/>
          <p:cNvPicPr>
            <a:picLocks noChangeAspect="1"/>
          </p:cNvPicPr>
          <p:nvPr/>
        </p:nvPicPr>
        <p:blipFill>
          <a:blip r:embed="rId3"/>
          <a:stretch>
            <a:fillRect/>
          </a:stretch>
        </p:blipFill>
        <p:spPr>
          <a:xfrm>
            <a:off x="2668342" y="4754880"/>
            <a:ext cx="1283571" cy="1005839"/>
          </a:xfrm>
          <a:prstGeom prst="rect">
            <a:avLst/>
          </a:prstGeom>
        </p:spPr>
      </p:pic>
      <p:sp>
        <p:nvSpPr>
          <p:cNvPr id="7" name="Figure caption"/>
          <p:cNvSpPr txBox="1"/>
          <p:nvPr/>
        </p:nvSpPr>
        <p:spPr>
          <a:xfrm>
            <a:off x="566928"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Zemel et al. (2021), Fig. 1(a, upper). RA and brainstem targets in the vocal motor pathway.</a:t>
            </a:r>
          </a:p>
        </p:txBody>
      </p:sp>
      <p:sp>
        <p:nvSpPr>
          <p:cNvPr id="8" name="Rectangle 7"/>
          <p:cNvSpPr/>
          <p:nvPr/>
        </p:nvSpPr>
        <p:spPr>
          <a:xfrm>
            <a:off x="566928" y="6382512"/>
            <a:ext cx="11057839" cy="9144"/>
          </a:xfrm>
          <a:prstGeom prst="rect">
            <a:avLst/>
          </a:prstGeom>
          <a:solidFill>
            <a:srgbClr val="CDD8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17D"/>
                </a:solidFill>
                <a:latin typeface="Arial"/>
              </a:rPr>
              <a:t>Liao et al. (2013); Zemel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17D"/>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5D72"/>
                </a:solidFill>
                <a:latin typeface="Arial"/>
              </a:rPr>
              <a:t>D1-like receptors mediate the RA dopamine effect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52E36"/>
                </a:solidFill>
                <a:latin typeface="Arial"/>
              </a:rPr>
              <a:t>A </a:t>
            </a:r>
            <a:r>
              <a:rPr sz="1600" b="1" i="0">
                <a:solidFill>
                  <a:srgbClr val="405D72"/>
                </a:solidFill>
                <a:latin typeface="Arial"/>
              </a:rPr>
              <a:t>D1-like receptor</a:t>
            </a:r>
            <a:r>
              <a:rPr sz="1600" b="0" i="0">
                <a:solidFill>
                  <a:srgbClr val="252E36"/>
                </a:solidFill>
                <a:latin typeface="Arial"/>
              </a:rPr>
              <a:t> is a dopamine-receptor class that modulates cellular signaling rather than forming the spike-generating sodium pore. Liao and colleagues compared dopamine with the D1-like agonist SKF-38393 in adult male zebra finch RA projection neurons.</a:t>
            </a:r>
          </a:p>
          <a:p>
            <a:pPr algn="l">
              <a:lnSpc>
                <a:spcPct val="108000"/>
              </a:lnSpc>
              <a:spcAft>
                <a:spcPts val="960"/>
              </a:spcAft>
            </a:pPr>
            <a:r>
              <a:rPr sz="1600" b="0" i="0">
                <a:solidFill>
                  <a:srgbClr val="252E36"/>
                </a:solidFill>
                <a:latin typeface="Arial"/>
              </a:rPr>
              <a:t>The agonist increased excitability, and the D1-like antagonist SCH-23390 prevented the dopamine-associated increase under the study's conditions. Comparing an agonist with receptor blockade supplied converging pharmacological evidence for the receptor class involved.</a:t>
            </a:r>
          </a:p>
          <a:p>
            <a:pPr algn="l">
              <a:lnSpc>
                <a:spcPct val="108000"/>
              </a:lnSpc>
              <a:spcAft>
                <a:spcPts val="960"/>
              </a:spcAft>
            </a:pPr>
            <a:r>
              <a:rPr sz="1600" b="0" i="0">
                <a:solidFill>
                  <a:srgbClr val="252E36"/>
                </a:solidFill>
                <a:latin typeface="Arial"/>
              </a:rPr>
              <a:t>The experiments assign a functional contribution to D1-like signaling but do not resolve every receptor subtype, downstream enzyme, or target ion channel. The recorded effect concerns RA membrane physiology; it should not be generalized automatically to dopamine actions in Area X, where circuit organization and receptor effects differ.</a:t>
            </a:r>
          </a:p>
        </p:txBody>
      </p:sp>
      <p:pic>
        <p:nvPicPr>
          <p:cNvPr id="4" name="Picture 3" descr="d3.png"/>
          <p:cNvPicPr>
            <a:picLocks noChangeAspect="1"/>
          </p:cNvPicPr>
          <p:nvPr/>
        </p:nvPicPr>
        <p:blipFill>
          <a:blip r:embed="rId2"/>
          <a:stretch>
            <a:fillRect/>
          </a:stretch>
        </p:blipFill>
        <p:spPr>
          <a:xfrm>
            <a:off x="7254397" y="1280160"/>
            <a:ext cx="3254340" cy="2926080"/>
          </a:xfrm>
          <a:prstGeom prst="rect">
            <a:avLst/>
          </a:prstGeom>
        </p:spPr>
      </p:pic>
      <p:sp>
        <p:nvSpPr>
          <p:cNvPr id="5" name="Figure caption"/>
          <p:cNvSpPr txBox="1"/>
          <p:nvPr/>
        </p:nvSpPr>
        <p:spPr>
          <a:xfrm>
            <a:off x="6138367" y="42976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Liao et al. (2013), Fig. 3(A–D). D1-like agonist effects on RA neurons.</a:t>
            </a:r>
          </a:p>
        </p:txBody>
      </p:sp>
      <p:pic>
        <p:nvPicPr>
          <p:cNvPr id="6" name="Picture 5" descr="zbrain.png"/>
          <p:cNvPicPr>
            <a:picLocks noChangeAspect="1"/>
          </p:cNvPicPr>
          <p:nvPr/>
        </p:nvPicPr>
        <p:blipFill>
          <a:blip r:embed="rId3"/>
          <a:stretch>
            <a:fillRect/>
          </a:stretch>
        </p:blipFill>
        <p:spPr>
          <a:xfrm>
            <a:off x="8239781" y="4754880"/>
            <a:ext cx="1283571" cy="10058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Zemel et al. (2021), Fig. 1(a, upper). RA and brainstem targets in the vocal motor pathway.</a:t>
            </a:r>
          </a:p>
        </p:txBody>
      </p:sp>
      <p:sp>
        <p:nvSpPr>
          <p:cNvPr id="8" name="Rectangle 7"/>
          <p:cNvSpPr/>
          <p:nvPr/>
        </p:nvSpPr>
        <p:spPr>
          <a:xfrm>
            <a:off x="566928" y="6382512"/>
            <a:ext cx="11057839" cy="9144"/>
          </a:xfrm>
          <a:prstGeom prst="rect">
            <a:avLst/>
          </a:prstGeom>
          <a:solidFill>
            <a:srgbClr val="CDD8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17D"/>
                </a:solidFill>
                <a:latin typeface="Arial"/>
              </a:rPr>
              <a:t>Liao et al. (2013); Zemel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17D"/>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5D72"/>
                </a:solidFill>
                <a:latin typeface="Arial"/>
              </a:rPr>
              <a:t>D2-like stimulation has a different effect in RA</a:t>
            </a:r>
          </a:p>
        </p:txBody>
      </p:sp>
      <p:sp>
        <p:nvSpPr>
          <p:cNvPr id="3" name="Body"/>
          <p:cNvSpPr txBox="1"/>
          <p:nvPr/>
        </p:nvSpPr>
        <p:spPr>
          <a:xfrm>
            <a:off x="641908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405D72"/>
                </a:solidFill>
                <a:latin typeface="Arial"/>
              </a:rPr>
              <a:t>D2-like receptors</a:t>
            </a:r>
            <a:r>
              <a:rPr sz="1600" b="0" i="0">
                <a:solidFill>
                  <a:srgbClr val="252E36"/>
                </a:solidFill>
                <a:latin typeface="Arial"/>
              </a:rPr>
              <a:t> form a dopamine-receptor class pharmacologically distinct from D1-like receptors. Liao and colleagues applied the D2-like agonist quinpirole to RA projection neurons and compared firing and membrane voltage before, during, and after the application.</a:t>
            </a:r>
          </a:p>
          <a:p>
            <a:pPr algn="l">
              <a:lnSpc>
                <a:spcPct val="108000"/>
              </a:lnSpc>
              <a:spcAft>
                <a:spcPts val="960"/>
              </a:spcAft>
            </a:pPr>
            <a:r>
              <a:rPr sz="1600" b="0" i="0">
                <a:solidFill>
                  <a:srgbClr val="252E36"/>
                </a:solidFill>
                <a:latin typeface="Arial"/>
              </a:rPr>
              <a:t>Quinpirole did not reproduce the prominent increase in excitability produced by dopamine and the D1-like agonist in this preparation. The comparison constrained receptor interpretation instead of assuming that every dopamine receptor has the same effect on a neuron.</a:t>
            </a:r>
          </a:p>
          <a:p>
            <a:pPr algn="l">
              <a:lnSpc>
                <a:spcPct val="108000"/>
              </a:lnSpc>
              <a:spcAft>
                <a:spcPts val="960"/>
              </a:spcAft>
            </a:pPr>
            <a:r>
              <a:rPr sz="1600" b="0" i="0">
                <a:solidFill>
                  <a:srgbClr val="252E36"/>
                </a:solidFill>
                <a:latin typeface="Arial"/>
              </a:rPr>
              <a:t>A weak or absent effect under these conditions does not establish that D2-like receptors have no function anywhere in the song system. Receptor expression, release conditions, and network targets differ between regions; the study addresses the measured response of adult RA projection neurons in a controlled slice preparation.</a:t>
            </a:r>
          </a:p>
        </p:txBody>
      </p:sp>
      <p:pic>
        <p:nvPicPr>
          <p:cNvPr id="4" name="Picture 3" descr="d5.png"/>
          <p:cNvPicPr>
            <a:picLocks noChangeAspect="1"/>
          </p:cNvPicPr>
          <p:nvPr/>
        </p:nvPicPr>
        <p:blipFill>
          <a:blip r:embed="rId2"/>
          <a:stretch>
            <a:fillRect/>
          </a:stretch>
        </p:blipFill>
        <p:spPr>
          <a:xfrm>
            <a:off x="1692799" y="1280160"/>
            <a:ext cx="3234656" cy="2926080"/>
          </a:xfrm>
          <a:prstGeom prst="rect">
            <a:avLst/>
          </a:prstGeom>
        </p:spPr>
      </p:pic>
      <p:sp>
        <p:nvSpPr>
          <p:cNvPr id="5" name="Figure caption"/>
          <p:cNvSpPr txBox="1"/>
          <p:nvPr/>
        </p:nvSpPr>
        <p:spPr>
          <a:xfrm>
            <a:off x="566928" y="42976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Liao et al. (2013), Fig. 5(A–D). D2-like agonist measurements in RA neurons.</a:t>
            </a:r>
          </a:p>
        </p:txBody>
      </p:sp>
      <p:pic>
        <p:nvPicPr>
          <p:cNvPr id="6" name="Picture 5" descr="zbrain.png"/>
          <p:cNvPicPr>
            <a:picLocks noChangeAspect="1"/>
          </p:cNvPicPr>
          <p:nvPr/>
        </p:nvPicPr>
        <p:blipFill>
          <a:blip r:embed="rId3"/>
          <a:stretch>
            <a:fillRect/>
          </a:stretch>
        </p:blipFill>
        <p:spPr>
          <a:xfrm>
            <a:off x="2668342" y="4754880"/>
            <a:ext cx="1283571" cy="1005839"/>
          </a:xfrm>
          <a:prstGeom prst="rect">
            <a:avLst/>
          </a:prstGeom>
        </p:spPr>
      </p:pic>
      <p:sp>
        <p:nvSpPr>
          <p:cNvPr id="7" name="Figure caption"/>
          <p:cNvSpPr txBox="1"/>
          <p:nvPr/>
        </p:nvSpPr>
        <p:spPr>
          <a:xfrm>
            <a:off x="566928"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Zemel et al. (2021), Fig. 1(a, upper). RA and brainstem targets in the vocal motor pathway.</a:t>
            </a:r>
          </a:p>
        </p:txBody>
      </p:sp>
      <p:sp>
        <p:nvSpPr>
          <p:cNvPr id="8" name="Rectangle 7"/>
          <p:cNvSpPr/>
          <p:nvPr/>
        </p:nvSpPr>
        <p:spPr>
          <a:xfrm>
            <a:off x="566928" y="6382512"/>
            <a:ext cx="11057839" cy="9144"/>
          </a:xfrm>
          <a:prstGeom prst="rect">
            <a:avLst/>
          </a:prstGeom>
          <a:solidFill>
            <a:srgbClr val="CDD8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17D"/>
                </a:solidFill>
                <a:latin typeface="Arial"/>
              </a:rPr>
              <a:t>Liao et al. (2013); Zemel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17D"/>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5D72"/>
                </a:solidFill>
                <a:latin typeface="Arial"/>
              </a:rPr>
              <a:t>HVC and LMAN inputs converge on RA neurons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52E36"/>
                </a:solidFill>
                <a:latin typeface="Arial"/>
              </a:rPr>
              <a:t>The </a:t>
            </a:r>
            <a:r>
              <a:rPr sz="1600" b="1" i="0">
                <a:solidFill>
                  <a:srgbClr val="405D72"/>
                </a:solidFill>
                <a:latin typeface="Arial"/>
              </a:rPr>
              <a:t>lateral magnocellular nucleus of the anterior nidopallium</a:t>
            </a:r>
            <a:r>
              <a:rPr sz="1600" b="0" i="0">
                <a:solidFill>
                  <a:srgbClr val="252E36"/>
                </a:solidFill>
                <a:latin typeface="Arial"/>
              </a:rPr>
              <a:t>, or LMAN, is a forebrain output of the anterior forebrain pathway. Garst-Orozco and colleagues stimulated HVC and LMAN fiber tracts separately while recording excitatory postsynaptic currents in RA projection neurons.</a:t>
            </a:r>
          </a:p>
          <a:p>
            <a:pPr algn="l">
              <a:lnSpc>
                <a:spcPct val="108000"/>
              </a:lnSpc>
              <a:spcAft>
                <a:spcPts val="960"/>
              </a:spcAft>
            </a:pPr>
            <a:r>
              <a:rPr sz="1600" b="0" i="0">
                <a:solidFill>
                  <a:srgbClr val="252E36"/>
                </a:solidFill>
                <a:latin typeface="Arial"/>
              </a:rPr>
              <a:t>An </a:t>
            </a:r>
            <a:r>
              <a:rPr sz="1600" b="1" i="0">
                <a:solidFill>
                  <a:srgbClr val="405D72"/>
                </a:solidFill>
                <a:latin typeface="Arial"/>
              </a:rPr>
              <a:t>excitatory postsynaptic current</a:t>
            </a:r>
            <a:r>
              <a:rPr sz="1600" b="0" i="0">
                <a:solidFill>
                  <a:srgbClr val="252E36"/>
                </a:solidFill>
                <a:latin typeface="Arial"/>
              </a:rPr>
              <a:t> is the membrane current produced when excitatory transmitter activates receptors on the recorded cell. Pathway-specific stimulation allowed the strength and receptor contributions of the two convergent inputs to be compared in juvenile and adult zebra finches.</a:t>
            </a:r>
          </a:p>
          <a:p>
            <a:pPr algn="l">
              <a:lnSpc>
                <a:spcPct val="108000"/>
              </a:lnSpc>
              <a:spcAft>
                <a:spcPts val="960"/>
              </a:spcAft>
            </a:pPr>
            <a:r>
              <a:rPr sz="1600" b="0" i="0">
                <a:solidFill>
                  <a:srgbClr val="252E36"/>
                </a:solidFill>
                <a:latin typeface="Arial"/>
              </a:rPr>
              <a:t>RA therefore receives input from a direct motor-related pathway and from a basal ganglia–thalamic pathway. Electrical stimulation in slices samples surviving fibers rather than every connection present in the intact animal, and does not reveal the natural activity pattern of those inputs during a particular syllable.</a:t>
            </a:r>
          </a:p>
        </p:txBody>
      </p:sp>
      <p:pic>
        <p:nvPicPr>
          <p:cNvPr id="4" name="Picture 3" descr="v2.png"/>
          <p:cNvPicPr>
            <a:picLocks noChangeAspect="1"/>
          </p:cNvPicPr>
          <p:nvPr/>
        </p:nvPicPr>
        <p:blipFill>
          <a:blip r:embed="rId2"/>
          <a:stretch>
            <a:fillRect/>
          </a:stretch>
        </p:blipFill>
        <p:spPr>
          <a:xfrm>
            <a:off x="6504127" y="1280160"/>
            <a:ext cx="5120640" cy="2886772"/>
          </a:xfrm>
          <a:prstGeom prst="rect">
            <a:avLst/>
          </a:prstGeom>
        </p:spPr>
      </p:pic>
      <p:sp>
        <p:nvSpPr>
          <p:cNvPr id="5" name="Figure caption"/>
          <p:cNvSpPr txBox="1"/>
          <p:nvPr/>
        </p:nvSpPr>
        <p:spPr>
          <a:xfrm>
            <a:off x="6504127" y="4258372"/>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Garst-Orozco et al. (2014), Fig. 2(A–E). Pathway stimulation and currents recorded in RA.</a:t>
            </a:r>
          </a:p>
        </p:txBody>
      </p:sp>
      <p:sp>
        <p:nvSpPr>
          <p:cNvPr id="6" name="Rectangle 5"/>
          <p:cNvSpPr/>
          <p:nvPr/>
        </p:nvSpPr>
        <p:spPr>
          <a:xfrm>
            <a:off x="566928" y="6382512"/>
            <a:ext cx="11057839" cy="9144"/>
          </a:xfrm>
          <a:prstGeom prst="rect">
            <a:avLst/>
          </a:prstGeom>
          <a:solidFill>
            <a:srgbClr val="CDD8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17D"/>
                </a:solidFill>
                <a:latin typeface="Arial"/>
              </a:rPr>
              <a:t>Garst-Orozco et al.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17D"/>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5D72"/>
                </a:solidFill>
                <a:latin typeface="Arial"/>
              </a:rPr>
              <a:t>HVC inputs strengthen and undergo late refinement</a:t>
            </a:r>
          </a:p>
        </p:txBody>
      </p:sp>
      <p:sp>
        <p:nvSpPr>
          <p:cNvPr id="3" name="Body"/>
          <p:cNvSpPr txBox="1"/>
          <p:nvPr/>
        </p:nvSpPr>
        <p:spPr>
          <a:xfrm>
            <a:off x="641908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52E36"/>
                </a:solidFill>
                <a:latin typeface="Arial"/>
              </a:rPr>
              <a:t>Garst-Orozco and colleagues measured HVC-to-RA currents using weak stimulation that produced either failures or a consistent single-fiber response, and stronger stimulation that recruited the available input population. Comparing these measurements distinguished connection strength from the estimated number of recruited inputs.</a:t>
            </a:r>
          </a:p>
          <a:p>
            <a:pPr algn="l">
              <a:lnSpc>
                <a:spcPct val="108000"/>
              </a:lnSpc>
              <a:spcAft>
                <a:spcPts val="900"/>
              </a:spcAft>
            </a:pPr>
            <a:r>
              <a:rPr sz="1500" b="0" i="0">
                <a:solidFill>
                  <a:srgbClr val="252E36"/>
                </a:solidFill>
                <a:latin typeface="Arial"/>
              </a:rPr>
              <a:t>Median single-fiber HVC currents rose from about 23 pA in subsong birds to 60 pA in adults. Estimated input number initially increased, then declined during later development. The experiment therefore identified refinement rather than a uniform increase in every aspect of excitatory connectivity.</a:t>
            </a:r>
          </a:p>
          <a:p>
            <a:pPr algn="l">
              <a:lnSpc>
                <a:spcPct val="108000"/>
              </a:lnSpc>
              <a:spcAft>
                <a:spcPts val="900"/>
              </a:spcAft>
            </a:pPr>
            <a:r>
              <a:rPr sz="1500" b="0" i="0">
                <a:solidFill>
                  <a:srgbClr val="252E36"/>
                </a:solidFill>
                <a:latin typeface="Arial"/>
              </a:rPr>
              <a:t>Such strengthening and pruning can alter how RA converts HVC activity into motor output. The measurements do not establish that each lost input was an incorrect connection for a particular tutor song, and the fiber-number estimate is limited by slice preservation and assumptions about recruitment and current summation.</a:t>
            </a:r>
          </a:p>
        </p:txBody>
      </p:sp>
      <p:pic>
        <p:nvPicPr>
          <p:cNvPr id="4" name="Picture 3" descr="v3.png"/>
          <p:cNvPicPr>
            <a:picLocks noChangeAspect="1"/>
          </p:cNvPicPr>
          <p:nvPr/>
        </p:nvPicPr>
        <p:blipFill>
          <a:blip r:embed="rId2"/>
          <a:stretch>
            <a:fillRect/>
          </a:stretch>
        </p:blipFill>
        <p:spPr>
          <a:xfrm>
            <a:off x="2163505" y="1280160"/>
            <a:ext cx="2293244" cy="2926080"/>
          </a:xfrm>
          <a:prstGeom prst="rect">
            <a:avLst/>
          </a:prstGeom>
        </p:spPr>
      </p:pic>
      <p:sp>
        <p:nvSpPr>
          <p:cNvPr id="5" name="Figure caption"/>
          <p:cNvSpPr txBox="1"/>
          <p:nvPr/>
        </p:nvSpPr>
        <p:spPr>
          <a:xfrm>
            <a:off x="566928" y="42976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Garst-Orozco et al. (2014), Fig. 3(A–G). HVC input strengthening and refinement.</a:t>
            </a:r>
          </a:p>
        </p:txBody>
      </p:sp>
      <p:pic>
        <p:nvPicPr>
          <p:cNvPr id="6" name="Picture 5" descr="v1c.png"/>
          <p:cNvPicPr>
            <a:picLocks noChangeAspect="1"/>
          </p:cNvPicPr>
          <p:nvPr/>
        </p:nvPicPr>
        <p:blipFill>
          <a:blip r:embed="rId3"/>
          <a:stretch>
            <a:fillRect/>
          </a:stretch>
        </p:blipFill>
        <p:spPr>
          <a:xfrm>
            <a:off x="2504429" y="4754880"/>
            <a:ext cx="1611396" cy="1005839"/>
          </a:xfrm>
          <a:prstGeom prst="rect">
            <a:avLst/>
          </a:prstGeom>
        </p:spPr>
      </p:pic>
      <p:sp>
        <p:nvSpPr>
          <p:cNvPr id="7" name="Figure caption"/>
          <p:cNvSpPr txBox="1"/>
          <p:nvPr/>
        </p:nvSpPr>
        <p:spPr>
          <a:xfrm>
            <a:off x="566928"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Garst-Orozco et al. (2014), Fig. 1(C). HVC, LMAN, and RA in the published pathway map.</a:t>
            </a:r>
          </a:p>
        </p:txBody>
      </p:sp>
      <p:sp>
        <p:nvSpPr>
          <p:cNvPr id="8" name="Rectangle 7"/>
          <p:cNvSpPr/>
          <p:nvPr/>
        </p:nvSpPr>
        <p:spPr>
          <a:xfrm>
            <a:off x="566928" y="6382512"/>
            <a:ext cx="11057839" cy="9144"/>
          </a:xfrm>
          <a:prstGeom prst="rect">
            <a:avLst/>
          </a:prstGeom>
          <a:solidFill>
            <a:srgbClr val="CDD8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17D"/>
                </a:solidFill>
                <a:latin typeface="Arial"/>
              </a:rPr>
              <a:t>Garst-Orozco et al.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17D"/>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5D72"/>
                </a:solidFill>
                <a:latin typeface="Arial"/>
              </a:rPr>
              <a:t>LMAN input strength remains relatively stable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52E36"/>
                </a:solidFill>
                <a:latin typeface="Arial"/>
              </a:rPr>
              <a:t>Garst-Orozco and colleagues applied the same single-fiber and maximal-recruitment strategy to the LMAN input onto RA neurons. Recordings from subsong, plastic-song, and adult birds tested whether increasing song stereotypy reflected a simple disappearance of this excitatory pathway.</a:t>
            </a:r>
          </a:p>
          <a:p>
            <a:pPr algn="l">
              <a:lnSpc>
                <a:spcPct val="108000"/>
              </a:lnSpc>
              <a:spcAft>
                <a:spcPts val="900"/>
              </a:spcAft>
            </a:pPr>
            <a:r>
              <a:rPr sz="1500" b="0" i="0">
                <a:solidFill>
                  <a:srgbClr val="252E36"/>
                </a:solidFill>
                <a:latin typeface="Arial"/>
              </a:rPr>
              <a:t>Mean single-fiber LMAN currents were approximately 146 pA in plastic-song birds and 142 pA in adults; the estimated number of available inputs remained relatively stable. The finding contrasted with the strengthening and pruning of HVC inputs measured in the same experimental framework.</a:t>
            </a:r>
          </a:p>
          <a:p>
            <a:pPr algn="l">
              <a:lnSpc>
                <a:spcPct val="108000"/>
              </a:lnSpc>
              <a:spcAft>
                <a:spcPts val="900"/>
              </a:spcAft>
            </a:pPr>
            <a:r>
              <a:rPr sz="1500" b="0" i="0">
                <a:solidFill>
                  <a:srgbClr val="252E36"/>
                </a:solidFill>
                <a:latin typeface="Arial"/>
              </a:rPr>
              <a:t>Reduced behavioral variability can consequently coexist with persistent LMAN-to-RA connectivity. The result does not establish that LMAN firing patterns or synaptic effects are identical in behaving juveniles and adults; a preserved connection can have a different influence when other convergent inputs and network activity change.</a:t>
            </a:r>
          </a:p>
        </p:txBody>
      </p:sp>
      <p:pic>
        <p:nvPicPr>
          <p:cNvPr id="4" name="Picture 3" descr="v4.png"/>
          <p:cNvPicPr>
            <a:picLocks noChangeAspect="1"/>
          </p:cNvPicPr>
          <p:nvPr/>
        </p:nvPicPr>
        <p:blipFill>
          <a:blip r:embed="rId2"/>
          <a:stretch>
            <a:fillRect/>
          </a:stretch>
        </p:blipFill>
        <p:spPr>
          <a:xfrm>
            <a:off x="7295278" y="1280160"/>
            <a:ext cx="3172578" cy="2926080"/>
          </a:xfrm>
          <a:prstGeom prst="rect">
            <a:avLst/>
          </a:prstGeom>
        </p:spPr>
      </p:pic>
      <p:sp>
        <p:nvSpPr>
          <p:cNvPr id="5" name="Figure caption"/>
          <p:cNvSpPr txBox="1"/>
          <p:nvPr/>
        </p:nvSpPr>
        <p:spPr>
          <a:xfrm>
            <a:off x="6138367" y="42976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Garst-Orozco et al. (2014), Fig. 4(A–H). LMAN current strength and receptor contributions.</a:t>
            </a:r>
          </a:p>
        </p:txBody>
      </p:sp>
      <p:pic>
        <p:nvPicPr>
          <p:cNvPr id="6" name="Picture 5" descr="v1c.png"/>
          <p:cNvPicPr>
            <a:picLocks noChangeAspect="1"/>
          </p:cNvPicPr>
          <p:nvPr/>
        </p:nvPicPr>
        <p:blipFill>
          <a:blip r:embed="rId3"/>
          <a:stretch>
            <a:fillRect/>
          </a:stretch>
        </p:blipFill>
        <p:spPr>
          <a:xfrm>
            <a:off x="8075868" y="4754880"/>
            <a:ext cx="1611396" cy="10058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Garst-Orozco et al. (2014), Fig. 1(C). HVC, LMAN, and RA in the published pathway map.</a:t>
            </a:r>
          </a:p>
        </p:txBody>
      </p:sp>
      <p:sp>
        <p:nvSpPr>
          <p:cNvPr id="8" name="Rectangle 7"/>
          <p:cNvSpPr/>
          <p:nvPr/>
        </p:nvSpPr>
        <p:spPr>
          <a:xfrm>
            <a:off x="566928" y="6382512"/>
            <a:ext cx="11057839" cy="9144"/>
          </a:xfrm>
          <a:prstGeom prst="rect">
            <a:avLst/>
          </a:prstGeom>
          <a:solidFill>
            <a:srgbClr val="CDD8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17D"/>
                </a:solidFill>
                <a:latin typeface="Arial"/>
              </a:rPr>
              <a:t>Garst-Orozco et al.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17D"/>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5D72"/>
                </a:solidFill>
                <a:latin typeface="Arial"/>
              </a:rPr>
              <a:t>LMAN currents depend strongly on NMDA receptors</a:t>
            </a:r>
          </a:p>
        </p:txBody>
      </p:sp>
      <p:sp>
        <p:nvSpPr>
          <p:cNvPr id="3" name="Body"/>
          <p:cNvSpPr txBox="1"/>
          <p:nvPr/>
        </p:nvSpPr>
        <p:spPr>
          <a:xfrm>
            <a:off x="641908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252E36"/>
                </a:solidFill>
                <a:latin typeface="Arial"/>
              </a:rPr>
              <a:t>Garst-Orozco and colleagues recorded LMAN-evoked currents at −70 and +40 mV. At negative voltages, extracellular magnesium limits NMDA-receptor current; depolarization relieves this voltage-dependent block, allowing the slower receptor component to contribute more strongly.</a:t>
            </a:r>
          </a:p>
          <a:p>
            <a:pPr algn="l">
              <a:lnSpc>
                <a:spcPct val="108000"/>
              </a:lnSpc>
              <a:spcAft>
                <a:spcPts val="840"/>
              </a:spcAft>
            </a:pPr>
            <a:r>
              <a:rPr sz="1400" b="0" i="0">
                <a:solidFill>
                  <a:srgbClr val="252E36"/>
                </a:solidFill>
                <a:latin typeface="Arial"/>
              </a:rPr>
              <a:t>The comparison distinguished predominantly AMPA-mediated responses at −70 mV from the combined AMPA and NMDA response at +40 mV. The estimated NMDA-to-AMPA contribution in subsong birds was approximately 9:1. LMAN responses had a substantial NMDA component, connecting pathway identity to a particular form of postsynaptic integration rather than treating all excitatory inputs as interchangeable.</a:t>
            </a:r>
          </a:p>
          <a:p>
            <a:pPr algn="l">
              <a:lnSpc>
                <a:spcPct val="108000"/>
              </a:lnSpc>
              <a:spcAft>
                <a:spcPts val="840"/>
              </a:spcAft>
            </a:pPr>
            <a:r>
              <a:rPr sz="1400" b="0" i="0">
                <a:solidFill>
                  <a:srgbClr val="252E36"/>
                </a:solidFill>
                <a:latin typeface="Arial"/>
              </a:rPr>
              <a:t>Voltage-dependent gating means that the effect of LMAN input depends partly on the postsynaptic state of RA. The recordings establish receptor contributions under imposed holding potentials, but cannot by themselves specify RA voltage trajectories or transmitter release during freely produced song.</a:t>
            </a:r>
          </a:p>
        </p:txBody>
      </p:sp>
      <p:pic>
        <p:nvPicPr>
          <p:cNvPr id="4" name="Picture 3" descr="v4.png"/>
          <p:cNvPicPr>
            <a:picLocks noChangeAspect="1"/>
          </p:cNvPicPr>
          <p:nvPr/>
        </p:nvPicPr>
        <p:blipFill>
          <a:blip r:embed="rId2"/>
          <a:stretch>
            <a:fillRect/>
          </a:stretch>
        </p:blipFill>
        <p:spPr>
          <a:xfrm>
            <a:off x="1723838" y="1280160"/>
            <a:ext cx="3172578" cy="2926080"/>
          </a:xfrm>
          <a:prstGeom prst="rect">
            <a:avLst/>
          </a:prstGeom>
        </p:spPr>
      </p:pic>
      <p:sp>
        <p:nvSpPr>
          <p:cNvPr id="5" name="Figure caption"/>
          <p:cNvSpPr txBox="1"/>
          <p:nvPr/>
        </p:nvSpPr>
        <p:spPr>
          <a:xfrm>
            <a:off x="566928" y="42976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Garst-Orozco et al. (2014), Fig. 4(A–H). LMAN current strength and receptor contributions.</a:t>
            </a:r>
          </a:p>
        </p:txBody>
      </p:sp>
      <p:pic>
        <p:nvPicPr>
          <p:cNvPr id="6" name="Picture 5" descr="v1c.png"/>
          <p:cNvPicPr>
            <a:picLocks noChangeAspect="1"/>
          </p:cNvPicPr>
          <p:nvPr/>
        </p:nvPicPr>
        <p:blipFill>
          <a:blip r:embed="rId3"/>
          <a:stretch>
            <a:fillRect/>
          </a:stretch>
        </p:blipFill>
        <p:spPr>
          <a:xfrm>
            <a:off x="2504429" y="4754880"/>
            <a:ext cx="1611396" cy="1005839"/>
          </a:xfrm>
          <a:prstGeom prst="rect">
            <a:avLst/>
          </a:prstGeom>
        </p:spPr>
      </p:pic>
      <p:sp>
        <p:nvSpPr>
          <p:cNvPr id="7" name="Figure caption"/>
          <p:cNvSpPr txBox="1"/>
          <p:nvPr/>
        </p:nvSpPr>
        <p:spPr>
          <a:xfrm>
            <a:off x="566928"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Garst-Orozco et al. (2014), Fig. 1(C). HVC, LMAN, and RA in the published pathway map.</a:t>
            </a:r>
          </a:p>
        </p:txBody>
      </p:sp>
      <p:sp>
        <p:nvSpPr>
          <p:cNvPr id="8" name="Rectangle 7"/>
          <p:cNvSpPr/>
          <p:nvPr/>
        </p:nvSpPr>
        <p:spPr>
          <a:xfrm>
            <a:off x="566928" y="6382512"/>
            <a:ext cx="11057839" cy="9144"/>
          </a:xfrm>
          <a:prstGeom prst="rect">
            <a:avLst/>
          </a:prstGeom>
          <a:solidFill>
            <a:srgbClr val="CDD8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17D"/>
                </a:solidFill>
                <a:latin typeface="Arial"/>
              </a:rPr>
              <a:t>Garst-Orozco et al.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17D"/>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5D72"/>
                </a:solidFill>
                <a:latin typeface="Arial"/>
              </a:rPr>
              <a:t>Developmental conclusions depend on the age window</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52E36"/>
                </a:solidFill>
                <a:latin typeface="Arial"/>
              </a:rPr>
              <a:t>Garst-Orozco and colleagues measured RA responses to 0.5-second current pulses at 35 °C across subsong, plastic-song, and adult stages. Input-to-firing gain and spike-frequency adaptation were broadly similar across these groups, constraining a simple intrinsic-excitability explanation of reduced song variability.</a:t>
            </a:r>
          </a:p>
          <a:p>
            <a:pPr algn="l">
              <a:lnSpc>
                <a:spcPct val="108000"/>
              </a:lnSpc>
              <a:spcAft>
                <a:spcPts val="900"/>
              </a:spcAft>
            </a:pPr>
            <a:r>
              <a:rPr sz="1500" b="0" i="0">
                <a:solidFill>
                  <a:srgbClr val="252E36"/>
                </a:solidFill>
                <a:latin typeface="Arial"/>
              </a:rPr>
              <a:t>Zemel and colleagues included younger 20-day birds and isolated sodium-current components, detecting pronounced maturation of resurgent current and spike properties. The studies differ in developmental window, recording conditions, and the physiological property being measured.</a:t>
            </a:r>
          </a:p>
          <a:p>
            <a:pPr algn="l">
              <a:lnSpc>
                <a:spcPct val="108000"/>
              </a:lnSpc>
              <a:spcAft>
                <a:spcPts val="900"/>
              </a:spcAft>
            </a:pPr>
            <a:r>
              <a:rPr sz="1500" b="0" i="0">
                <a:solidFill>
                  <a:srgbClr val="252E36"/>
                </a:solidFill>
                <a:latin typeface="Arial"/>
              </a:rPr>
              <a:t>A stable firing-rate response over one age interval does not contradict earlier maturation of a particular ion current. Neither experiment supports a universal statement that RA intrinsic properties never change, nor that all decreases in song variability are caused by sodium-channel maturation.</a:t>
            </a:r>
          </a:p>
        </p:txBody>
      </p:sp>
      <p:pic>
        <p:nvPicPr>
          <p:cNvPr id="4" name="Picture 3" descr="v5.png"/>
          <p:cNvPicPr>
            <a:picLocks noChangeAspect="1"/>
          </p:cNvPicPr>
          <p:nvPr/>
        </p:nvPicPr>
        <p:blipFill>
          <a:blip r:embed="rId2"/>
          <a:stretch>
            <a:fillRect/>
          </a:stretch>
        </p:blipFill>
        <p:spPr>
          <a:xfrm>
            <a:off x="7440853" y="1280160"/>
            <a:ext cx="2881427" cy="2926080"/>
          </a:xfrm>
          <a:prstGeom prst="rect">
            <a:avLst/>
          </a:prstGeom>
        </p:spPr>
      </p:pic>
      <p:sp>
        <p:nvSpPr>
          <p:cNvPr id="5" name="Figure caption"/>
          <p:cNvSpPr txBox="1"/>
          <p:nvPr/>
        </p:nvSpPr>
        <p:spPr>
          <a:xfrm>
            <a:off x="6138367" y="42976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Garst-Orozco et al. (2014), Fig. 5(A–F). RA firing responses across developmental stages.</a:t>
            </a:r>
          </a:p>
        </p:txBody>
      </p:sp>
      <p:pic>
        <p:nvPicPr>
          <p:cNvPr id="6" name="Picture 5" descr="v1c.png"/>
          <p:cNvPicPr>
            <a:picLocks noChangeAspect="1"/>
          </p:cNvPicPr>
          <p:nvPr/>
        </p:nvPicPr>
        <p:blipFill>
          <a:blip r:embed="rId3"/>
          <a:stretch>
            <a:fillRect/>
          </a:stretch>
        </p:blipFill>
        <p:spPr>
          <a:xfrm>
            <a:off x="8075868" y="4754880"/>
            <a:ext cx="1611396" cy="10058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Garst-Orozco et al. (2014), Fig. 1(C). HVC, LMAN, and RA in the published pathway map.</a:t>
            </a:r>
          </a:p>
        </p:txBody>
      </p:sp>
      <p:sp>
        <p:nvSpPr>
          <p:cNvPr id="8" name="Rectangle 7"/>
          <p:cNvSpPr/>
          <p:nvPr/>
        </p:nvSpPr>
        <p:spPr>
          <a:xfrm>
            <a:off x="566928" y="6382512"/>
            <a:ext cx="11057839" cy="9144"/>
          </a:xfrm>
          <a:prstGeom prst="rect">
            <a:avLst/>
          </a:prstGeom>
          <a:solidFill>
            <a:srgbClr val="CDD8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17D"/>
                </a:solidFill>
                <a:latin typeface="Arial"/>
              </a:rPr>
              <a:t>Garst-Orozco et al. (2014); Zemel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17D"/>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5D72"/>
                </a:solidFill>
                <a:latin typeface="Arial"/>
              </a:rPr>
              <a:t>Juvenile and adult lesions separate LMAN functions</a:t>
            </a:r>
          </a:p>
        </p:txBody>
      </p:sp>
      <p:sp>
        <p:nvSpPr>
          <p:cNvPr id="3" name="Body"/>
          <p:cNvSpPr txBox="1"/>
          <p:nvPr/>
        </p:nvSpPr>
        <p:spPr>
          <a:xfrm>
            <a:off x="60533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52E36"/>
                </a:solidFill>
                <a:latin typeface="Arial"/>
              </a:rPr>
              <a:t>Bottjer and colleagues lesioned the region then called MAN in male zebra finches at different stages of song development. Postoperative vocalizations were recorded repeatedly, and histology distinguished complete lesions from cases in which the intended region was largely spared.</a:t>
            </a:r>
          </a:p>
          <a:p>
            <a:pPr algn="l">
              <a:lnSpc>
                <a:spcPct val="108000"/>
              </a:lnSpc>
              <a:spcAft>
                <a:spcPts val="960"/>
              </a:spcAft>
            </a:pPr>
            <a:r>
              <a:rPr sz="1600" b="0" i="0">
                <a:solidFill>
                  <a:srgbClr val="252E36"/>
                </a:solidFill>
                <a:latin typeface="Arial"/>
              </a:rPr>
              <a:t>Lesions early in development produced abnormal vocal patterns, whereas adult birds with complete bilateral lesions retained normal song for as long as five weeks. Birds operated at intermediate stages differed according to how established their song pattern was before surgery.</a:t>
            </a:r>
          </a:p>
          <a:p>
            <a:pPr algn="l">
              <a:lnSpc>
                <a:spcPct val="108000"/>
              </a:lnSpc>
              <a:spcAft>
                <a:spcPts val="960"/>
              </a:spcAft>
            </a:pPr>
            <a:r>
              <a:rPr sz="1600" b="0" i="0">
                <a:solidFill>
                  <a:srgbClr val="252E36"/>
                </a:solidFill>
                <a:latin typeface="Arial"/>
              </a:rPr>
              <a:t>The age dependence separates a contribution to developing vocal behavior from an obligatory role in executing established adult song. It does not prove that LMAN stores the tutor memory or that adult LMAN has no function; later pathway-specific physiology identifies persistent input to RA even after song stabilizes.</a:t>
            </a:r>
          </a:p>
        </p:txBody>
      </p:sp>
      <p:pic>
        <p:nvPicPr>
          <p:cNvPr id="4" name="Picture 3" descr="v1c.png"/>
          <p:cNvPicPr>
            <a:picLocks noChangeAspect="1"/>
          </p:cNvPicPr>
          <p:nvPr/>
        </p:nvPicPr>
        <p:blipFill>
          <a:blip r:embed="rId2"/>
          <a:stretch>
            <a:fillRect/>
          </a:stretch>
        </p:blipFill>
        <p:spPr>
          <a:xfrm>
            <a:off x="566928" y="1280160"/>
            <a:ext cx="5120640" cy="3196323"/>
          </a:xfrm>
          <a:prstGeom prst="rect">
            <a:avLst/>
          </a:prstGeom>
        </p:spPr>
      </p:pic>
      <p:sp>
        <p:nvSpPr>
          <p:cNvPr id="5" name="Figure caption"/>
          <p:cNvSpPr txBox="1"/>
          <p:nvPr/>
        </p:nvSpPr>
        <p:spPr>
          <a:xfrm>
            <a:off x="566928" y="4567923"/>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Garst-Orozco et al. (2014), Fig. 1(C). HVC, LMAN, and RA in the published pathway map.</a:t>
            </a:r>
          </a:p>
        </p:txBody>
      </p:sp>
      <p:sp>
        <p:nvSpPr>
          <p:cNvPr id="6" name="Rectangle 5"/>
          <p:cNvSpPr/>
          <p:nvPr/>
        </p:nvSpPr>
        <p:spPr>
          <a:xfrm>
            <a:off x="566928" y="6382512"/>
            <a:ext cx="11057839" cy="9144"/>
          </a:xfrm>
          <a:prstGeom prst="rect">
            <a:avLst/>
          </a:prstGeom>
          <a:solidFill>
            <a:srgbClr val="CDD8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17D"/>
                </a:solidFill>
                <a:latin typeface="Arial"/>
              </a:rPr>
              <a:t>Bottjer et al. (1984); Garst-Orozco et al.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17D"/>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5D72"/>
                </a:solidFill>
                <a:latin typeface="Arial"/>
              </a:rPr>
              <a:t>Area X links striatal processing with pallidal output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405D72"/>
                </a:solidFill>
                <a:latin typeface="Arial"/>
              </a:rPr>
              <a:t>Area X</a:t>
            </a:r>
            <a:r>
              <a:rPr sz="1600" b="0" i="0">
                <a:solidFill>
                  <a:srgbClr val="252E36"/>
                </a:solidFill>
                <a:latin typeface="Arial"/>
              </a:rPr>
              <a:t> is a song-related basal ganglia region containing striatal-like neurons and pallidal-like output neurons. The basal ganglia are forebrain circuits involved in selecting and modifying actions; these cell classes have different positions within the circuit rather than forming one homogeneous population.</a:t>
            </a:r>
          </a:p>
          <a:p>
            <a:pPr algn="l">
              <a:lnSpc>
                <a:spcPct val="108000"/>
              </a:lnSpc>
              <a:spcAft>
                <a:spcPts val="960"/>
              </a:spcAft>
            </a:pPr>
            <a:r>
              <a:rPr sz="1600" b="0" i="0">
                <a:solidFill>
                  <a:srgbClr val="252E36"/>
                </a:solidFill>
                <a:latin typeface="Arial"/>
              </a:rPr>
              <a:t>Area X receives HVC and LMAN input and sends inhibitory output toward the medial portion of the dorsolateral thalamic nucleus, </a:t>
            </a:r>
            <a:r>
              <a:rPr sz="1600" b="1" i="0">
                <a:solidFill>
                  <a:srgbClr val="405D72"/>
                </a:solidFill>
                <a:latin typeface="Arial"/>
              </a:rPr>
              <a:t>DLM</a:t>
            </a:r>
            <a:r>
              <a:rPr sz="1600" b="0" i="0">
                <a:solidFill>
                  <a:srgbClr val="252E36"/>
                </a:solidFill>
                <a:latin typeface="Arial"/>
              </a:rPr>
              <a:t>. DLM projects to LMAN, whose output returns to RA and also to Area X, producing an anatomically connected forebrain loop.</a:t>
            </a:r>
          </a:p>
          <a:p>
            <a:pPr algn="l">
              <a:lnSpc>
                <a:spcPct val="108000"/>
              </a:lnSpc>
              <a:spcAft>
                <a:spcPts val="960"/>
              </a:spcAft>
            </a:pPr>
            <a:r>
              <a:rPr sz="1600" b="1" i="0">
                <a:solidFill>
                  <a:srgbClr val="405D72"/>
                </a:solidFill>
                <a:latin typeface="Arial"/>
              </a:rPr>
              <a:t>GABA</a:t>
            </a:r>
            <a:r>
              <a:rPr sz="1600" b="0" i="0">
                <a:solidFill>
                  <a:srgbClr val="252E36"/>
                </a:solidFill>
                <a:latin typeface="Arial"/>
              </a:rPr>
              <a:t>, gamma-aminobutyric acid, is the inhibitory transmitter associated with the pallidal-like output. The published anatomical pathway constrains possible mechanisms, but a connection diagram alone does not determine the moment-to-moment activity or learning rule operating in that loop.</a:t>
            </a:r>
          </a:p>
        </p:txBody>
      </p:sp>
      <p:pic>
        <p:nvPicPr>
          <p:cNvPr id="4" name="Picture 3" descr="g1a.png"/>
          <p:cNvPicPr>
            <a:picLocks noChangeAspect="1"/>
          </p:cNvPicPr>
          <p:nvPr/>
        </p:nvPicPr>
        <p:blipFill>
          <a:blip r:embed="rId2"/>
          <a:stretch>
            <a:fillRect/>
          </a:stretch>
        </p:blipFill>
        <p:spPr>
          <a:xfrm>
            <a:off x="6504127" y="1280160"/>
            <a:ext cx="5120640" cy="3234088"/>
          </a:xfrm>
          <a:prstGeom prst="rect">
            <a:avLst/>
          </a:prstGeom>
        </p:spPr>
      </p:pic>
      <p:sp>
        <p:nvSpPr>
          <p:cNvPr id="5" name="Figure caption"/>
          <p:cNvSpPr txBox="1"/>
          <p:nvPr/>
        </p:nvSpPr>
        <p:spPr>
          <a:xfrm>
            <a:off x="6504127" y="460568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Gale &amp; Perkel (2010a), Fig. 1(A). Area X, DLM, LMAN, and midbrain connections.</a:t>
            </a:r>
          </a:p>
        </p:txBody>
      </p:sp>
      <p:sp>
        <p:nvSpPr>
          <p:cNvPr id="6" name="Rectangle 5"/>
          <p:cNvSpPr/>
          <p:nvPr/>
        </p:nvSpPr>
        <p:spPr>
          <a:xfrm>
            <a:off x="566928" y="6382512"/>
            <a:ext cx="11057839" cy="9144"/>
          </a:xfrm>
          <a:prstGeom prst="rect">
            <a:avLst/>
          </a:prstGeom>
          <a:solidFill>
            <a:srgbClr val="CDD8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17D"/>
                </a:solidFill>
                <a:latin typeface="Arial"/>
              </a:rPr>
              <a:t>Gale &amp; Perkel (2010b); Gale &amp; Perkel (2010a)</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17D"/>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5D72"/>
                </a:solidFill>
                <a:latin typeface="Arial"/>
              </a:rPr>
              <a:t>Tracer injections reveal reciprocal forebrain routes</a:t>
            </a:r>
          </a:p>
        </p:txBody>
      </p:sp>
      <p:sp>
        <p:nvSpPr>
          <p:cNvPr id="3" name="Body"/>
          <p:cNvSpPr txBox="1"/>
          <p:nvPr/>
        </p:nvSpPr>
        <p:spPr>
          <a:xfrm>
            <a:off x="60533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52E36"/>
                </a:solidFill>
                <a:latin typeface="Arial"/>
              </a:rPr>
              <a:t>A </a:t>
            </a:r>
            <a:r>
              <a:rPr sz="1600" b="1" i="0">
                <a:solidFill>
                  <a:srgbClr val="405D72"/>
                </a:solidFill>
                <a:latin typeface="Arial"/>
              </a:rPr>
              <a:t>retrograde tracer</a:t>
            </a:r>
            <a:r>
              <a:rPr sz="1600" b="0" i="0">
                <a:solidFill>
                  <a:srgbClr val="252E36"/>
                </a:solidFill>
                <a:latin typeface="Arial"/>
              </a:rPr>
              <a:t> labels neurons projecting toward an injection site, whereas an anterograde tracer labels their axons and terminals downstream. Vates and Nottebohm used complementary tracing approaches to investigate pathways linking the song-related forebrain nuclei.</a:t>
            </a:r>
          </a:p>
          <a:p>
            <a:pPr algn="l">
              <a:lnSpc>
                <a:spcPct val="108000"/>
              </a:lnSpc>
              <a:spcAft>
                <a:spcPts val="960"/>
              </a:spcAft>
            </a:pPr>
            <a:r>
              <a:rPr sz="1600" b="0" i="0">
                <a:solidFill>
                  <a:srgbClr val="252E36"/>
                </a:solidFill>
                <a:latin typeface="Arial"/>
              </a:rPr>
              <a:t>Injections associated with Area X and RA labeled neurons and terminal fields in LMAN. These distributions supported an LMAN output route to both the basal ganglia region and the motor nucleus, extending the circuit beyond a one-way chain from HVC to the vocal organ.</a:t>
            </a:r>
          </a:p>
          <a:p>
            <a:pPr algn="l">
              <a:lnSpc>
                <a:spcPct val="108000"/>
              </a:lnSpc>
              <a:spcAft>
                <a:spcPts val="960"/>
              </a:spcAft>
            </a:pPr>
            <a:r>
              <a:rPr sz="1600" b="0" i="0">
                <a:solidFill>
                  <a:srgbClr val="252E36"/>
                </a:solidFill>
                <a:latin typeface="Arial"/>
              </a:rPr>
              <a:t>Using more than one tracer direction reduces ambiguity about which cells send and receive a projection. Tracer labeling nevertheless does not establish whether every anatomical connection is active during song, identify the transmitter at every terminal, or measure the temporal influence of a synapse on its target.</a:t>
            </a:r>
          </a:p>
        </p:txBody>
      </p:sp>
      <p:pic>
        <p:nvPicPr>
          <p:cNvPr id="4" name="Picture 3" descr="f3.png"/>
          <p:cNvPicPr>
            <a:picLocks noChangeAspect="1"/>
          </p:cNvPicPr>
          <p:nvPr/>
        </p:nvPicPr>
        <p:blipFill>
          <a:blip r:embed="rId2"/>
          <a:stretch>
            <a:fillRect/>
          </a:stretch>
        </p:blipFill>
        <p:spPr>
          <a:xfrm>
            <a:off x="566928" y="1280160"/>
            <a:ext cx="5120640" cy="4242934"/>
          </a:xfrm>
          <a:prstGeom prst="rect">
            <a:avLst/>
          </a:prstGeom>
        </p:spPr>
      </p:pic>
      <p:sp>
        <p:nvSpPr>
          <p:cNvPr id="5" name="Figure caption"/>
          <p:cNvSpPr txBox="1"/>
          <p:nvPr/>
        </p:nvSpPr>
        <p:spPr>
          <a:xfrm>
            <a:off x="566928" y="5614534"/>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Vates &amp; Nottebohm (1995), Fig. 3(a–e). Tracer labeling linking LMAN, Area X, and RA.</a:t>
            </a:r>
          </a:p>
        </p:txBody>
      </p:sp>
      <p:sp>
        <p:nvSpPr>
          <p:cNvPr id="6" name="Rectangle 5"/>
          <p:cNvSpPr/>
          <p:nvPr/>
        </p:nvSpPr>
        <p:spPr>
          <a:xfrm>
            <a:off x="566928" y="6382512"/>
            <a:ext cx="11057839" cy="9144"/>
          </a:xfrm>
          <a:prstGeom prst="rect">
            <a:avLst/>
          </a:prstGeom>
          <a:solidFill>
            <a:srgbClr val="CDD8DF"/>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17D"/>
                </a:solidFill>
                <a:latin typeface="Arial"/>
              </a:rPr>
              <a:t>Vates &amp; Nottebohm (1995)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17D"/>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5D72"/>
                </a:solidFill>
                <a:latin typeface="Arial"/>
              </a:rPr>
              <a:t>Some LMAN neurons send output to both RA and Area X</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52E36"/>
                </a:solidFill>
                <a:latin typeface="Arial"/>
              </a:rPr>
              <a:t>Vates and Nottebohm placed different retrograde tracers in RA and Area X to ask whether the two projections originated from separate LMAN populations. Neurons containing both labels were identified within LMAN, providing evidence of output toward both targets from individual cells.</a:t>
            </a:r>
          </a:p>
          <a:p>
            <a:pPr algn="l">
              <a:lnSpc>
                <a:spcPct val="108000"/>
              </a:lnSpc>
              <a:spcAft>
                <a:spcPts val="960"/>
              </a:spcAft>
            </a:pPr>
            <a:r>
              <a:rPr sz="1600" b="0" i="0">
                <a:solidFill>
                  <a:srgbClr val="252E36"/>
                </a:solidFill>
                <a:latin typeface="Arial"/>
              </a:rPr>
              <a:t>This result is more specific than overlapping terminal fields: it links the two target regions to a shared projecting neuron. A neuron with branching output can influence RA motor circuitry while also returning activity to the anterior forebrain loop through Area X.</a:t>
            </a:r>
          </a:p>
          <a:p>
            <a:pPr algn="l">
              <a:lnSpc>
                <a:spcPct val="108000"/>
              </a:lnSpc>
              <a:spcAft>
                <a:spcPts val="960"/>
              </a:spcAft>
            </a:pPr>
            <a:r>
              <a:rPr sz="1600" b="0" i="0">
                <a:solidFill>
                  <a:srgbClr val="252E36"/>
                </a:solidFill>
                <a:latin typeface="Arial"/>
              </a:rPr>
              <a:t>Double labeling identifies anatomical collateralization, not the information carried by each branch. Uptake and transport efficiencies also limit interpretation of unlabeled cells, so failure to detect a second label in one neuron does not prove that all of its axonal branches avoid the other target.</a:t>
            </a:r>
          </a:p>
        </p:txBody>
      </p:sp>
      <p:pic>
        <p:nvPicPr>
          <p:cNvPr id="4" name="Picture 3" descr="f5.png"/>
          <p:cNvPicPr>
            <a:picLocks noChangeAspect="1"/>
          </p:cNvPicPr>
          <p:nvPr/>
        </p:nvPicPr>
        <p:blipFill>
          <a:blip r:embed="rId2"/>
          <a:stretch>
            <a:fillRect/>
          </a:stretch>
        </p:blipFill>
        <p:spPr>
          <a:xfrm>
            <a:off x="6138367" y="1280160"/>
            <a:ext cx="5486400" cy="1876529"/>
          </a:xfrm>
          <a:prstGeom prst="rect">
            <a:avLst/>
          </a:prstGeom>
        </p:spPr>
      </p:pic>
      <p:sp>
        <p:nvSpPr>
          <p:cNvPr id="5" name="Figure caption"/>
          <p:cNvSpPr txBox="1"/>
          <p:nvPr/>
        </p:nvSpPr>
        <p:spPr>
          <a:xfrm>
            <a:off x="6138367" y="324812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Vates &amp; Nottebohm (1995), Fig. 5(a–b). Two retrograde labels in LMAN neurons.</a:t>
            </a:r>
          </a:p>
        </p:txBody>
      </p:sp>
      <p:pic>
        <p:nvPicPr>
          <p:cNvPr id="6" name="Picture 5" descr="f4.png"/>
          <p:cNvPicPr>
            <a:picLocks noChangeAspect="1"/>
          </p:cNvPicPr>
          <p:nvPr/>
        </p:nvPicPr>
        <p:blipFill>
          <a:blip r:embed="rId3"/>
          <a:stretch>
            <a:fillRect/>
          </a:stretch>
        </p:blipFill>
        <p:spPr>
          <a:xfrm>
            <a:off x="8506905" y="4754880"/>
            <a:ext cx="749324" cy="10058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Vates &amp; Nottebohm (1995), Fig. 4(a–f). Injection sites and retrogradely labeled LMAN cells.</a:t>
            </a:r>
          </a:p>
        </p:txBody>
      </p:sp>
      <p:sp>
        <p:nvSpPr>
          <p:cNvPr id="8" name="Rectangle 7"/>
          <p:cNvSpPr/>
          <p:nvPr/>
        </p:nvSpPr>
        <p:spPr>
          <a:xfrm>
            <a:off x="566928" y="6382512"/>
            <a:ext cx="11057839" cy="9144"/>
          </a:xfrm>
          <a:prstGeom prst="rect">
            <a:avLst/>
          </a:prstGeom>
          <a:solidFill>
            <a:srgbClr val="CDD8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17D"/>
                </a:solidFill>
                <a:latin typeface="Arial"/>
              </a:rPr>
              <a:t>Vates &amp; Nottebohm (1995)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17D"/>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5D72"/>
                </a:solidFill>
                <a:latin typeface="Arial"/>
              </a:rPr>
              <a:t>Adult LMAN neurons respond selectively to the bird's song</a:t>
            </a:r>
          </a:p>
        </p:txBody>
      </p:sp>
      <p:sp>
        <p:nvSpPr>
          <p:cNvPr id="3" name="Body"/>
          <p:cNvSpPr txBox="1"/>
          <p:nvPr/>
        </p:nvSpPr>
        <p:spPr>
          <a:xfrm>
            <a:off x="641908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52E36"/>
                </a:solidFill>
                <a:latin typeface="Arial"/>
              </a:rPr>
              <a:t>Doupe recorded extracellular spikes from LMAN while playing the bird's own song and comparison sounds to anesthetized adult zebra finches. A </a:t>
            </a:r>
            <a:r>
              <a:rPr sz="1600" b="1" i="0">
                <a:solidFill>
                  <a:srgbClr val="405D72"/>
                </a:solidFill>
                <a:latin typeface="Arial"/>
              </a:rPr>
              <a:t>raster plot</a:t>
            </a:r>
            <a:r>
              <a:rPr sz="1600" b="0" i="0">
                <a:solidFill>
                  <a:srgbClr val="252E36"/>
                </a:solidFill>
                <a:latin typeface="Arial"/>
              </a:rPr>
              <a:t> records individual spike times across repeated trials; averaging these trials yields the time-dependent firing-rate response.</a:t>
            </a:r>
          </a:p>
          <a:p>
            <a:pPr algn="l">
              <a:lnSpc>
                <a:spcPct val="108000"/>
              </a:lnSpc>
              <a:spcAft>
                <a:spcPts val="960"/>
              </a:spcAft>
            </a:pPr>
            <a:r>
              <a:rPr sz="1600" b="0" i="0">
                <a:solidFill>
                  <a:srgbClr val="252E36"/>
                </a:solidFill>
                <a:latin typeface="Arial"/>
              </a:rPr>
              <a:t>Many neurons responded strongly to the bird's own song but weakly to other conspecific songs or simple acoustic stimuli. Comparisons with amplitude-modulated noise and tones tested whether a response could be explained by a generic sound-energy change alone.</a:t>
            </a:r>
          </a:p>
          <a:p>
            <a:pPr algn="l">
              <a:lnSpc>
                <a:spcPct val="108000"/>
              </a:lnSpc>
              <a:spcAft>
                <a:spcPts val="960"/>
              </a:spcAft>
            </a:pPr>
            <a:r>
              <a:rPr sz="1600" b="0" i="0">
                <a:solidFill>
                  <a:srgbClr val="252E36"/>
                </a:solidFill>
                <a:latin typeface="Arial"/>
              </a:rPr>
              <a:t>The selectivity links an anterior forebrain nucleus with the acoustic structure of learned vocal behavior. Because these were playback responses under anesthesia, they do not establish that LMAN monitors song identically during awake singing or that the selective response is itself an error signal.</a:t>
            </a:r>
          </a:p>
        </p:txBody>
      </p:sp>
      <p:pic>
        <p:nvPicPr>
          <p:cNvPr id="4" name="Picture 3" descr="q2.png"/>
          <p:cNvPicPr>
            <a:picLocks noChangeAspect="1"/>
          </p:cNvPicPr>
          <p:nvPr/>
        </p:nvPicPr>
        <p:blipFill>
          <a:blip r:embed="rId2"/>
          <a:stretch>
            <a:fillRect/>
          </a:stretch>
        </p:blipFill>
        <p:spPr>
          <a:xfrm>
            <a:off x="2762961" y="1280160"/>
            <a:ext cx="1094333" cy="2926080"/>
          </a:xfrm>
          <a:prstGeom prst="rect">
            <a:avLst/>
          </a:prstGeom>
        </p:spPr>
      </p:pic>
      <p:sp>
        <p:nvSpPr>
          <p:cNvPr id="5" name="Figure caption"/>
          <p:cNvSpPr txBox="1"/>
          <p:nvPr/>
        </p:nvSpPr>
        <p:spPr>
          <a:xfrm>
            <a:off x="566928" y="42976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Doupe (1997), Fig. 2(a–c). LMAN responses to self-song and comparison songs.</a:t>
            </a:r>
          </a:p>
        </p:txBody>
      </p:sp>
      <p:pic>
        <p:nvPicPr>
          <p:cNvPr id="6" name="Picture 5" descr="g1a.png"/>
          <p:cNvPicPr>
            <a:picLocks noChangeAspect="1"/>
          </p:cNvPicPr>
          <p:nvPr/>
        </p:nvPicPr>
        <p:blipFill>
          <a:blip r:embed="rId3"/>
          <a:stretch>
            <a:fillRect/>
          </a:stretch>
        </p:blipFill>
        <p:spPr>
          <a:xfrm>
            <a:off x="2513838" y="4754880"/>
            <a:ext cx="1592579" cy="1005839"/>
          </a:xfrm>
          <a:prstGeom prst="rect">
            <a:avLst/>
          </a:prstGeom>
        </p:spPr>
      </p:pic>
      <p:sp>
        <p:nvSpPr>
          <p:cNvPr id="7" name="Figure caption"/>
          <p:cNvSpPr txBox="1"/>
          <p:nvPr/>
        </p:nvSpPr>
        <p:spPr>
          <a:xfrm>
            <a:off x="566928"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Gale &amp; Perkel (2010a), Fig. 1(A). Area X, DLM, LMAN, and midbrain connections.</a:t>
            </a:r>
          </a:p>
        </p:txBody>
      </p:sp>
      <p:sp>
        <p:nvSpPr>
          <p:cNvPr id="8" name="Rectangle 7"/>
          <p:cNvSpPr/>
          <p:nvPr/>
        </p:nvSpPr>
        <p:spPr>
          <a:xfrm>
            <a:off x="566928" y="6382512"/>
            <a:ext cx="11057839" cy="9144"/>
          </a:xfrm>
          <a:prstGeom prst="rect">
            <a:avLst/>
          </a:prstGeom>
          <a:solidFill>
            <a:srgbClr val="CDD8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17D"/>
                </a:solidFill>
                <a:latin typeface="Arial"/>
              </a:rPr>
              <a:t>Doupe (1997); Gale &amp; Perkel (2010a)</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17D"/>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5D72"/>
                </a:solidFill>
                <a:latin typeface="Arial"/>
              </a:rPr>
              <a:t>LMAN selectivity includes temporal order</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52E36"/>
                </a:solidFill>
                <a:latin typeface="Arial"/>
              </a:rPr>
              <a:t>Doupe compared responses to intact song with altered versions in which the order or arrangement of song elements was changed. A </a:t>
            </a:r>
            <a:r>
              <a:rPr sz="1500" b="1" i="0">
                <a:solidFill>
                  <a:srgbClr val="405D72"/>
                </a:solidFill>
                <a:latin typeface="Arial"/>
              </a:rPr>
              <a:t>syllable</a:t>
            </a:r>
            <a:r>
              <a:rPr sz="1500" b="0" i="0">
                <a:solidFill>
                  <a:srgbClr val="252E36"/>
                </a:solidFill>
                <a:latin typeface="Arial"/>
              </a:rPr>
              <a:t> is a recognizable acoustic unit; reorganizing syllables preserves many local acoustic features while changing their temporal context.</a:t>
            </a:r>
          </a:p>
          <a:p>
            <a:pPr algn="l">
              <a:lnSpc>
                <a:spcPct val="108000"/>
              </a:lnSpc>
              <a:spcAft>
                <a:spcPts val="900"/>
              </a:spcAft>
            </a:pPr>
            <a:r>
              <a:rPr sz="1500" b="0" i="0">
                <a:solidFill>
                  <a:srgbClr val="252E36"/>
                </a:solidFill>
                <a:latin typeface="Arial"/>
              </a:rPr>
              <a:t>Some LMAN neurons responded more strongly to the normal sequence than to rearrangements or isolated combinations. Such comparisons tested whether selectivity depended only on an individual sound fragment or also on the relationship between fragments across time.</a:t>
            </a:r>
          </a:p>
          <a:p>
            <a:pPr algn="l">
              <a:lnSpc>
                <a:spcPct val="108000"/>
              </a:lnSpc>
              <a:spcAft>
                <a:spcPts val="900"/>
              </a:spcAft>
            </a:pPr>
            <a:r>
              <a:rPr sz="1500" b="0" i="0">
                <a:solidFill>
                  <a:srgbClr val="252E36"/>
                </a:solidFill>
                <a:latin typeface="Arial"/>
              </a:rPr>
              <a:t>Temporal-order sensitivity is consistent with integration of a learned sequence rather than detection of a single frequency alone. It does not identify a complete synaptic mechanism for the selectivity, and responses to experimental rearrangements cannot by themselves distinguish recognition, prediction, and vocal-learning functions in the behaving animal.</a:t>
            </a:r>
          </a:p>
        </p:txBody>
      </p:sp>
      <p:pic>
        <p:nvPicPr>
          <p:cNvPr id="4" name="Picture 3" descr="q7.png"/>
          <p:cNvPicPr>
            <a:picLocks noChangeAspect="1"/>
          </p:cNvPicPr>
          <p:nvPr/>
        </p:nvPicPr>
        <p:blipFill>
          <a:blip r:embed="rId2"/>
          <a:stretch>
            <a:fillRect/>
          </a:stretch>
        </p:blipFill>
        <p:spPr>
          <a:xfrm>
            <a:off x="7695715" y="1280160"/>
            <a:ext cx="2371703" cy="2926080"/>
          </a:xfrm>
          <a:prstGeom prst="rect">
            <a:avLst/>
          </a:prstGeom>
        </p:spPr>
      </p:pic>
      <p:sp>
        <p:nvSpPr>
          <p:cNvPr id="5" name="Figure caption"/>
          <p:cNvSpPr txBox="1"/>
          <p:nvPr/>
        </p:nvSpPr>
        <p:spPr>
          <a:xfrm>
            <a:off x="6138367" y="42976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Doupe (1997), Fig. 7(a–g). Responses to combinations of song syllables.</a:t>
            </a:r>
          </a:p>
        </p:txBody>
      </p:sp>
      <p:pic>
        <p:nvPicPr>
          <p:cNvPr id="6" name="Picture 5" descr="g1a.png"/>
          <p:cNvPicPr>
            <a:picLocks noChangeAspect="1"/>
          </p:cNvPicPr>
          <p:nvPr/>
        </p:nvPicPr>
        <p:blipFill>
          <a:blip r:embed="rId3"/>
          <a:stretch>
            <a:fillRect/>
          </a:stretch>
        </p:blipFill>
        <p:spPr>
          <a:xfrm>
            <a:off x="8085277" y="4754880"/>
            <a:ext cx="1592579" cy="10058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Gale &amp; Perkel (2010a), Fig. 1(A). Area X, DLM, LMAN, and midbrain connections.</a:t>
            </a:r>
          </a:p>
        </p:txBody>
      </p:sp>
      <p:sp>
        <p:nvSpPr>
          <p:cNvPr id="8" name="Rectangle 7"/>
          <p:cNvSpPr/>
          <p:nvPr/>
        </p:nvSpPr>
        <p:spPr>
          <a:xfrm>
            <a:off x="566928" y="6382512"/>
            <a:ext cx="11057839" cy="9144"/>
          </a:xfrm>
          <a:prstGeom prst="rect">
            <a:avLst/>
          </a:prstGeom>
          <a:solidFill>
            <a:srgbClr val="CDD8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17D"/>
                </a:solidFill>
                <a:latin typeface="Arial"/>
              </a:rPr>
              <a:t>Doupe (1997); Gale &amp; Perkel (2010a)</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17D"/>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5D72"/>
                </a:solidFill>
                <a:latin typeface="Arial"/>
              </a:rPr>
              <a:t>Area X also carries song-selective auditory responses</a:t>
            </a:r>
          </a:p>
        </p:txBody>
      </p:sp>
      <p:sp>
        <p:nvSpPr>
          <p:cNvPr id="3" name="Body"/>
          <p:cNvSpPr txBox="1"/>
          <p:nvPr/>
        </p:nvSpPr>
        <p:spPr>
          <a:xfrm>
            <a:off x="641908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52E36"/>
                </a:solidFill>
                <a:latin typeface="Arial"/>
              </a:rPr>
              <a:t>Doupe recorded auditory responses in Area X using the bird's own song, reversed song, and songs from other zebra finches. Comparing multiple stimuli within the same neuron controlled for differences in overall excitability between cells and recording sites.</a:t>
            </a:r>
          </a:p>
          <a:p>
            <a:pPr algn="l">
              <a:lnSpc>
                <a:spcPct val="108000"/>
              </a:lnSpc>
              <a:spcAft>
                <a:spcPts val="960"/>
              </a:spcAft>
            </a:pPr>
            <a:r>
              <a:rPr sz="1600" b="0" i="0">
                <a:solidFill>
                  <a:srgbClr val="252E36"/>
                </a:solidFill>
                <a:latin typeface="Arial"/>
              </a:rPr>
              <a:t>Area X neurons exhibited selective responses to familiar self-song, with responses influenced by the temporal structure of the playback. Auditory selectivity was therefore present within the basal ganglia portion of the anterior forebrain pathway, rather than being restricted to its LMAN output.</a:t>
            </a:r>
          </a:p>
          <a:p>
            <a:pPr algn="l">
              <a:lnSpc>
                <a:spcPct val="108000"/>
              </a:lnSpc>
              <a:spcAft>
                <a:spcPts val="960"/>
              </a:spcAft>
            </a:pPr>
            <a:r>
              <a:rPr sz="1600" b="0" i="0">
                <a:solidFill>
                  <a:srgbClr val="252E36"/>
                </a:solidFill>
                <a:latin typeface="Arial"/>
              </a:rPr>
              <a:t>These findings establish sensory responsiveness in a song-related circuit but do not equate Area X with an auditory storage site. The extracellular recording does not identify every neuron's cell class, and the anesthetized playback preparation differs from the sensory and motor conditions during natural courtship song.</a:t>
            </a:r>
          </a:p>
        </p:txBody>
      </p:sp>
      <p:pic>
        <p:nvPicPr>
          <p:cNvPr id="4" name="Picture 3" descr="q9.png"/>
          <p:cNvPicPr>
            <a:picLocks noChangeAspect="1"/>
          </p:cNvPicPr>
          <p:nvPr/>
        </p:nvPicPr>
        <p:blipFill>
          <a:blip r:embed="rId2"/>
          <a:stretch>
            <a:fillRect/>
          </a:stretch>
        </p:blipFill>
        <p:spPr>
          <a:xfrm>
            <a:off x="1638232" y="1280160"/>
            <a:ext cx="3343791" cy="2926079"/>
          </a:xfrm>
          <a:prstGeom prst="rect">
            <a:avLst/>
          </a:prstGeom>
        </p:spPr>
      </p:pic>
      <p:sp>
        <p:nvSpPr>
          <p:cNvPr id="5" name="Figure caption"/>
          <p:cNvSpPr txBox="1"/>
          <p:nvPr/>
        </p:nvSpPr>
        <p:spPr>
          <a:xfrm>
            <a:off x="566928" y="4297679"/>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Doupe (1997), Fig. 9(a–d). Song-selective auditory responses in Area X.</a:t>
            </a:r>
          </a:p>
        </p:txBody>
      </p:sp>
      <p:pic>
        <p:nvPicPr>
          <p:cNvPr id="6" name="Picture 5" descr="g1a.png"/>
          <p:cNvPicPr>
            <a:picLocks noChangeAspect="1"/>
          </p:cNvPicPr>
          <p:nvPr/>
        </p:nvPicPr>
        <p:blipFill>
          <a:blip r:embed="rId3"/>
          <a:stretch>
            <a:fillRect/>
          </a:stretch>
        </p:blipFill>
        <p:spPr>
          <a:xfrm>
            <a:off x="2513838" y="4754880"/>
            <a:ext cx="1592579" cy="1005839"/>
          </a:xfrm>
          <a:prstGeom prst="rect">
            <a:avLst/>
          </a:prstGeom>
        </p:spPr>
      </p:pic>
      <p:sp>
        <p:nvSpPr>
          <p:cNvPr id="7" name="Figure caption"/>
          <p:cNvSpPr txBox="1"/>
          <p:nvPr/>
        </p:nvSpPr>
        <p:spPr>
          <a:xfrm>
            <a:off x="566928"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Gale &amp; Perkel (2010a), Fig. 1(A). Area X, DLM, LMAN, and midbrain connections.</a:t>
            </a:r>
          </a:p>
        </p:txBody>
      </p:sp>
      <p:sp>
        <p:nvSpPr>
          <p:cNvPr id="8" name="Rectangle 7"/>
          <p:cNvSpPr/>
          <p:nvPr/>
        </p:nvSpPr>
        <p:spPr>
          <a:xfrm>
            <a:off x="566928" y="6382512"/>
            <a:ext cx="11057839" cy="9144"/>
          </a:xfrm>
          <a:prstGeom prst="rect">
            <a:avLst/>
          </a:prstGeom>
          <a:solidFill>
            <a:srgbClr val="CDD8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17D"/>
                </a:solidFill>
                <a:latin typeface="Arial"/>
              </a:rPr>
              <a:t>Doupe (1997); Gale &amp; Perkel (2010a)</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17D"/>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5D72"/>
                </a:solidFill>
                <a:latin typeface="Arial"/>
              </a:rPr>
              <a:t>Cell labeling identifies dopaminergic midbrain neurons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52E36"/>
                </a:solidFill>
                <a:latin typeface="Arial"/>
              </a:rPr>
              <a:t>Gale and Perkel recorded neurons in the substantia nigra pars compacta and ventral tegmental area, </a:t>
            </a:r>
            <a:r>
              <a:rPr sz="1600" b="1" i="0">
                <a:solidFill>
                  <a:srgbClr val="405D72"/>
                </a:solidFill>
                <a:latin typeface="Arial"/>
              </a:rPr>
              <a:t>SNc/VTA</a:t>
            </a:r>
            <a:r>
              <a:rPr sz="1600" b="0" i="0">
                <a:solidFill>
                  <a:srgbClr val="252E36"/>
                </a:solidFill>
                <a:latin typeface="Arial"/>
              </a:rPr>
              <a:t>, while testing auditory responses. These midbrain regions provide dopaminergic input to Area X, but recording location alone does not establish a neuron's transmitter identity.</a:t>
            </a:r>
          </a:p>
          <a:p>
            <a:pPr algn="l">
              <a:lnSpc>
                <a:spcPct val="108000"/>
              </a:lnSpc>
              <a:spcAft>
                <a:spcPts val="960"/>
              </a:spcAft>
            </a:pPr>
            <a:r>
              <a:rPr sz="1600" b="0" i="0">
                <a:solidFill>
                  <a:srgbClr val="252E36"/>
                </a:solidFill>
                <a:latin typeface="Arial"/>
              </a:rPr>
              <a:t>They combined spike measurements with juxtacellular labeling and immunostaining for </a:t>
            </a:r>
            <a:r>
              <a:rPr sz="1600" b="1" i="0">
                <a:solidFill>
                  <a:srgbClr val="405D72"/>
                </a:solidFill>
                <a:latin typeface="Arial"/>
              </a:rPr>
              <a:t>tyrosine hydroxylase</a:t>
            </a:r>
            <a:r>
              <a:rPr sz="1600" b="0" i="0">
                <a:solidFill>
                  <a:srgbClr val="252E36"/>
                </a:solidFill>
                <a:latin typeface="Arial"/>
              </a:rPr>
              <a:t>, an enzyme involved in catecholamine synthesis. Labeled cells with the marker provided an anatomical and biochemical check on the classification based on firing properties.</a:t>
            </a:r>
          </a:p>
          <a:p>
            <a:pPr algn="l">
              <a:lnSpc>
                <a:spcPct val="108000"/>
              </a:lnSpc>
              <a:spcAft>
                <a:spcPts val="960"/>
              </a:spcAft>
            </a:pPr>
            <a:r>
              <a:rPr sz="1600" b="0" i="0">
                <a:solidFill>
                  <a:srgbClr val="252E36"/>
                </a:solidFill>
                <a:latin typeface="Arial"/>
              </a:rPr>
              <a:t>The fluorescent micrographs retain 20 µm scale bars and connect a recorded cell with its tissue identity. Marker-positive cells support the dopaminergic interpretation in this preparation, but a waveform criterion alone remains less specific than identifying the recorded neuron histologically.</a:t>
            </a:r>
          </a:p>
        </p:txBody>
      </p:sp>
      <p:pic>
        <p:nvPicPr>
          <p:cNvPr id="4" name="Picture 3" descr="g4.png"/>
          <p:cNvPicPr>
            <a:picLocks noChangeAspect="1"/>
          </p:cNvPicPr>
          <p:nvPr/>
        </p:nvPicPr>
        <p:blipFill>
          <a:blip r:embed="rId2"/>
          <a:stretch>
            <a:fillRect/>
          </a:stretch>
        </p:blipFill>
        <p:spPr>
          <a:xfrm>
            <a:off x="7660184" y="1280160"/>
            <a:ext cx="2442764" cy="2926080"/>
          </a:xfrm>
          <a:prstGeom prst="rect">
            <a:avLst/>
          </a:prstGeom>
        </p:spPr>
      </p:pic>
      <p:sp>
        <p:nvSpPr>
          <p:cNvPr id="5" name="Figure caption"/>
          <p:cNvSpPr txBox="1"/>
          <p:nvPr/>
        </p:nvSpPr>
        <p:spPr>
          <a:xfrm>
            <a:off x="6138367" y="42976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Gale &amp; Perkel (2010a), Fig. 4(A–F). Recorded cell labeling and transmitter-marker staining.</a:t>
            </a:r>
          </a:p>
        </p:txBody>
      </p:sp>
      <p:pic>
        <p:nvPicPr>
          <p:cNvPr id="6" name="Picture 5" descr="g1a.png"/>
          <p:cNvPicPr>
            <a:picLocks noChangeAspect="1"/>
          </p:cNvPicPr>
          <p:nvPr/>
        </p:nvPicPr>
        <p:blipFill>
          <a:blip r:embed="rId3"/>
          <a:stretch>
            <a:fillRect/>
          </a:stretch>
        </p:blipFill>
        <p:spPr>
          <a:xfrm>
            <a:off x="8085277" y="4754880"/>
            <a:ext cx="1592579" cy="100583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Gale &amp; Perkel (2010a), Fig. 1(A). Area X, DLM, LMAN, and midbrain connections.</a:t>
            </a:r>
          </a:p>
        </p:txBody>
      </p:sp>
      <p:sp>
        <p:nvSpPr>
          <p:cNvPr id="8" name="Rectangle 7"/>
          <p:cNvSpPr/>
          <p:nvPr/>
        </p:nvSpPr>
        <p:spPr>
          <a:xfrm>
            <a:off x="566928" y="6382512"/>
            <a:ext cx="11057839" cy="9144"/>
          </a:xfrm>
          <a:prstGeom prst="rect">
            <a:avLst/>
          </a:prstGeom>
          <a:solidFill>
            <a:srgbClr val="CDD8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17D"/>
                </a:solidFill>
                <a:latin typeface="Arial"/>
              </a:rPr>
              <a:t>Gale &amp; Perkel (2010a)</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17D"/>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5D72"/>
                </a:solidFill>
                <a:latin typeface="Arial"/>
              </a:rPr>
              <a:t>Area X activity can disinhibit dopaminergic neurons</a:t>
            </a:r>
          </a:p>
        </p:txBody>
      </p:sp>
      <p:sp>
        <p:nvSpPr>
          <p:cNvPr id="3" name="Body"/>
          <p:cNvSpPr txBox="1"/>
          <p:nvPr/>
        </p:nvSpPr>
        <p:spPr>
          <a:xfrm>
            <a:off x="641908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405D72"/>
                </a:solidFill>
                <a:latin typeface="Arial"/>
              </a:rPr>
              <a:t>Disinhibition</a:t>
            </a:r>
            <a:r>
              <a:rPr sz="1500" b="0" i="0">
                <a:solidFill>
                  <a:srgbClr val="252E36"/>
                </a:solidFill>
                <a:latin typeface="Arial"/>
              </a:rPr>
              <a:t> is increased activity caused by reducing inhibitory input. Gale and Perkel found that song playback excited Area X neurons, inhibited neurons in the ventral pallidum, and excited identified dopaminergic SNc/VTA neurons, consistent with a serial inhibitory pathway.</a:t>
            </a:r>
          </a:p>
          <a:p>
            <a:pPr algn="l">
              <a:lnSpc>
                <a:spcPct val="108000"/>
              </a:lnSpc>
              <a:spcAft>
                <a:spcPts val="900"/>
              </a:spcAft>
            </a:pPr>
            <a:r>
              <a:rPr sz="1500" b="0" i="0">
                <a:solidFill>
                  <a:srgbClr val="252E36"/>
                </a:solidFill>
                <a:latin typeface="Arial"/>
              </a:rPr>
              <a:t>Activating Area X with glutamate increased downstream dopaminergic firing, whereas GABA injection reduced it. Blocking AMPA and NMDA receptors in Area X diminished song-evoked dopaminergic responses; vehicle injections provided a control for the injection procedure.</a:t>
            </a:r>
          </a:p>
          <a:p>
            <a:pPr algn="l">
              <a:lnSpc>
                <a:spcPct val="108000"/>
              </a:lnSpc>
              <a:spcAft>
                <a:spcPts val="900"/>
              </a:spcAft>
            </a:pPr>
            <a:r>
              <a:rPr sz="1500" b="0" i="0">
                <a:solidFill>
                  <a:srgbClr val="252E36"/>
                </a:solidFill>
                <a:latin typeface="Arial"/>
              </a:rPr>
              <a:t>The convergent recordings and interventions support a route through which song-related forebrain activity regulates its own dopamine supply. They do not establish that every evoked dopamine response encodes reward prediction or a vocal error; the experiments tested auditory responsiveness and circuit influence rather than a complete learning algorithm.</a:t>
            </a:r>
          </a:p>
        </p:txBody>
      </p:sp>
      <p:pic>
        <p:nvPicPr>
          <p:cNvPr id="4" name="Picture 3" descr="g8.png"/>
          <p:cNvPicPr>
            <a:picLocks noChangeAspect="1"/>
          </p:cNvPicPr>
          <p:nvPr/>
        </p:nvPicPr>
        <p:blipFill>
          <a:blip r:embed="rId2"/>
          <a:stretch>
            <a:fillRect/>
          </a:stretch>
        </p:blipFill>
        <p:spPr>
          <a:xfrm>
            <a:off x="2390016" y="1280160"/>
            <a:ext cx="1840223" cy="2926080"/>
          </a:xfrm>
          <a:prstGeom prst="rect">
            <a:avLst/>
          </a:prstGeom>
        </p:spPr>
      </p:pic>
      <p:sp>
        <p:nvSpPr>
          <p:cNvPr id="5" name="Figure caption"/>
          <p:cNvSpPr txBox="1"/>
          <p:nvPr/>
        </p:nvSpPr>
        <p:spPr>
          <a:xfrm>
            <a:off x="566928" y="429768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Gale &amp; Perkel (2010a), Fig. 8(A–H). Area X drug injections alter midbrain firing.</a:t>
            </a:r>
          </a:p>
        </p:txBody>
      </p:sp>
      <p:pic>
        <p:nvPicPr>
          <p:cNvPr id="6" name="Picture 5" descr="g1a.png"/>
          <p:cNvPicPr>
            <a:picLocks noChangeAspect="1"/>
          </p:cNvPicPr>
          <p:nvPr/>
        </p:nvPicPr>
        <p:blipFill>
          <a:blip r:embed="rId3"/>
          <a:stretch>
            <a:fillRect/>
          </a:stretch>
        </p:blipFill>
        <p:spPr>
          <a:xfrm>
            <a:off x="2513838" y="4754880"/>
            <a:ext cx="1592579" cy="1005839"/>
          </a:xfrm>
          <a:prstGeom prst="rect">
            <a:avLst/>
          </a:prstGeom>
        </p:spPr>
      </p:pic>
      <p:sp>
        <p:nvSpPr>
          <p:cNvPr id="7" name="Figure caption"/>
          <p:cNvSpPr txBox="1"/>
          <p:nvPr/>
        </p:nvSpPr>
        <p:spPr>
          <a:xfrm>
            <a:off x="566928"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64717D"/>
                </a:solidFill>
                <a:latin typeface="Arial"/>
              </a:rPr>
              <a:t>Gale &amp; Perkel (2010a), Fig. 1(A). Area X, DLM, LMAN, and midbrain connections.</a:t>
            </a:r>
          </a:p>
        </p:txBody>
      </p:sp>
      <p:sp>
        <p:nvSpPr>
          <p:cNvPr id="8" name="Rectangle 7"/>
          <p:cNvSpPr/>
          <p:nvPr/>
        </p:nvSpPr>
        <p:spPr>
          <a:xfrm>
            <a:off x="566928" y="6382512"/>
            <a:ext cx="11057839" cy="9144"/>
          </a:xfrm>
          <a:prstGeom prst="rect">
            <a:avLst/>
          </a:prstGeom>
          <a:solidFill>
            <a:srgbClr val="CDD8DF"/>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17D"/>
                </a:solidFill>
                <a:latin typeface="Arial"/>
              </a:rPr>
              <a:t>Gale &amp; Perkel (2010a)</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17D"/>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405D72"/>
                </a:solidFill>
                <a:latin typeface="Arial"/>
              </a:rPr>
              <a:t>Key takeaways</a:t>
            </a:r>
          </a:p>
        </p:txBody>
      </p:sp>
      <p:sp>
        <p:nvSpPr>
          <p:cNvPr id="3" name="Rectangle 2"/>
          <p:cNvSpPr/>
          <p:nvPr/>
        </p:nvSpPr>
        <p:spPr>
          <a:xfrm>
            <a:off x="566928" y="1234440"/>
            <a:ext cx="5391759" cy="1478279"/>
          </a:xfrm>
          <a:prstGeom prst="rect">
            <a:avLst/>
          </a:prstGeom>
          <a:solidFill>
            <a:srgbClr val="F2F5F7"/>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405D72"/>
                </a:solidFill>
                <a:latin typeface="Arial"/>
              </a:rPr>
              <a:t>Separate projection pathways</a:t>
            </a:r>
            <a:r>
              <a:rPr sz="1500" b="0" i="0">
                <a:solidFill>
                  <a:srgbClr val="252E36"/>
                </a:solidFill>
                <a:latin typeface="Arial"/>
              </a:rPr>
              <a:t> HVC reaches RA directly for vocal motor control and reaches Area X through a distinct output population; DLM and LMAN form the anterior forebrain route back to RA.</a:t>
            </a:r>
          </a:p>
        </p:txBody>
      </p:sp>
      <p:sp>
        <p:nvSpPr>
          <p:cNvPr id="5" name="Rectangle 4"/>
          <p:cNvSpPr/>
          <p:nvPr/>
        </p:nvSpPr>
        <p:spPr>
          <a:xfrm>
            <a:off x="6233007" y="1234440"/>
            <a:ext cx="5391759" cy="1478279"/>
          </a:xfrm>
          <a:prstGeom prst="rect">
            <a:avLst/>
          </a:prstGeom>
          <a:solidFill>
            <a:srgbClr val="F2F5F7"/>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405D72"/>
                </a:solidFill>
                <a:latin typeface="Arial"/>
              </a:rPr>
              <a:t>Anatomical connections constrain mechanisms</a:t>
            </a:r>
            <a:r>
              <a:rPr sz="1500" b="0" i="0">
                <a:solidFill>
                  <a:srgbClr val="252E36"/>
                </a:solidFill>
                <a:latin typeface="Arial"/>
              </a:rPr>
              <a:t> Lesions establish regional necessity, tracers establish projection direction, and single-cell reconstructions reveal local collaterals; none alone specifies the information transmitted at a synapse.</a:t>
            </a:r>
          </a:p>
        </p:txBody>
      </p:sp>
      <p:sp>
        <p:nvSpPr>
          <p:cNvPr id="7" name="Rectangle 6"/>
          <p:cNvSpPr/>
          <p:nvPr/>
        </p:nvSpPr>
        <p:spPr>
          <a:xfrm>
            <a:off x="566928" y="2987040"/>
            <a:ext cx="5391759" cy="1478279"/>
          </a:xfrm>
          <a:prstGeom prst="rect">
            <a:avLst/>
          </a:prstGeom>
          <a:solidFill>
            <a:srgbClr val="F2F5F7"/>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405D72"/>
                </a:solidFill>
                <a:latin typeface="Arial"/>
              </a:rPr>
              <a:t>RA integrates different excitatory inputs</a:t>
            </a:r>
            <a:r>
              <a:rPr sz="1500" b="0" i="0">
                <a:solidFill>
                  <a:srgbClr val="252E36"/>
                </a:solidFill>
                <a:latin typeface="Arial"/>
              </a:rPr>
              <a:t> HVC and LMAN converge on RA, but their developmental connectivity and receptor contributions differ; stronger, refined HVC input can coexist with persistent LMAN input.</a:t>
            </a:r>
          </a:p>
        </p:txBody>
      </p:sp>
      <p:sp>
        <p:nvSpPr>
          <p:cNvPr id="9" name="Rectangle 8"/>
          <p:cNvSpPr/>
          <p:nvPr/>
        </p:nvSpPr>
        <p:spPr>
          <a:xfrm>
            <a:off x="6233007" y="2987040"/>
            <a:ext cx="5391759" cy="1478279"/>
          </a:xfrm>
          <a:prstGeom prst="rect">
            <a:avLst/>
          </a:prstGeom>
          <a:solidFill>
            <a:srgbClr val="F2F5F7"/>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405D72"/>
                </a:solidFill>
                <a:latin typeface="Arial"/>
              </a:rPr>
              <a:t>Motor physiology has multiple controls</a:t>
            </a:r>
            <a:r>
              <a:rPr sz="1500" b="0" i="0">
                <a:solidFill>
                  <a:srgbClr val="252E36"/>
                </a:solidFill>
                <a:latin typeface="Arial"/>
              </a:rPr>
              <a:t> Resurgent sodium current supports rapid RA firing, while SK channels regulate spike recovery and timing in interaction with synaptic input; dopamine modulates RA excitability through D1-like signaling.</a:t>
            </a:r>
          </a:p>
        </p:txBody>
      </p:sp>
      <p:sp>
        <p:nvSpPr>
          <p:cNvPr id="11" name="Rectangle 10"/>
          <p:cNvSpPr/>
          <p:nvPr/>
        </p:nvSpPr>
        <p:spPr>
          <a:xfrm>
            <a:off x="566928" y="4739640"/>
            <a:ext cx="5391759" cy="1478279"/>
          </a:xfrm>
          <a:prstGeom prst="rect">
            <a:avLst/>
          </a:prstGeom>
          <a:solidFill>
            <a:srgbClr val="F2F5F7"/>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405D72"/>
                </a:solidFill>
                <a:latin typeface="Arial"/>
              </a:rPr>
              <a:t>LMAN contributes differently across ages</a:t>
            </a:r>
            <a:r>
              <a:rPr sz="1500" b="0" i="0">
                <a:solidFill>
                  <a:srgbClr val="252E36"/>
                </a:solidFill>
                <a:latin typeface="Arial"/>
              </a:rPr>
              <a:t> Early lesions disrupt vocal development, whereas established adult song can persist after lesions; this difference does not imply that adult LMAN becomes anatomically disconnected or functionless.</a:t>
            </a:r>
          </a:p>
        </p:txBody>
      </p:sp>
      <p:sp>
        <p:nvSpPr>
          <p:cNvPr id="13" name="Rectangle 12"/>
          <p:cNvSpPr/>
          <p:nvPr/>
        </p:nvSpPr>
        <p:spPr>
          <a:xfrm>
            <a:off x="6233007" y="4739640"/>
            <a:ext cx="5391759" cy="1478279"/>
          </a:xfrm>
          <a:prstGeom prst="rect">
            <a:avLst/>
          </a:prstGeom>
          <a:solidFill>
            <a:srgbClr val="F2F5F7"/>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840"/>
              </a:spcAft>
            </a:pPr>
            <a:r>
              <a:rPr sz="1400" b="1" i="0">
                <a:solidFill>
                  <a:srgbClr val="405D72"/>
                </a:solidFill>
                <a:latin typeface="Arial"/>
              </a:rPr>
              <a:t>Auditory selectivity is not an error signal by itself</a:t>
            </a:r>
            <a:r>
              <a:rPr sz="1400" b="0" i="0">
                <a:solidFill>
                  <a:srgbClr val="252E36"/>
                </a:solidFill>
                <a:latin typeface="Arial"/>
              </a:rPr>
              <a:t> LMAN, Area X, and dopaminergic circuitry respond selectively to self-song, but anesthetized playback responses do not establish the complete teaching signal or learning rule used during singing.</a:t>
            </a:r>
          </a:p>
        </p:txBody>
      </p:sp>
      <p:sp>
        <p:nvSpPr>
          <p:cNvPr id="15" name="Rectangle 14"/>
          <p:cNvSpPr/>
          <p:nvPr/>
        </p:nvSpPr>
        <p:spPr>
          <a:xfrm>
            <a:off x="566928" y="6382512"/>
            <a:ext cx="11057839" cy="9144"/>
          </a:xfrm>
          <a:prstGeom prst="rect">
            <a:avLst/>
          </a:prstGeom>
          <a:solidFill>
            <a:srgbClr val="CDD8DF"/>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4717D"/>
                </a:solidFill>
                <a:latin typeface="Arial"/>
              </a:rPr>
              <a:t>Nottebohm et al. (1976); Bottjer et al. (1984); Doupe (1997)</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4717D"/>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Vocal communication I: songbird song-system anatomy — HVC–RA–Area X (Nottebohm)</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