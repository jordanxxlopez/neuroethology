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7717/peerj.27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073/pnas.1321543111"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073/pnas.1818284116"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073/pnas.1818284116"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371/journal.pone.0023251"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371/journal.pone.0023251"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371/journal.pone.0023251"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73/pnas.1101765108"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073/pnas.1101765108"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73/pnas.1101765108"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073/pnas.0608062103"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073/pnas.0608062103"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73/pnas.0608062103"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38/srep46309"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38/srep46309"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38/srep46309"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002/ar.20829"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02/ar.20829"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02/ar.20829"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002/ar.20829"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002/ar.20829"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002/ar.20829"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02/ar.20829"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002/cne.23841"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002/cne.23841"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02/cne.23841"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02/cne.23841"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002/cne.23841"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002/cne.23841"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038/434455a"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038/434455a"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038/434455a"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038/434455a"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016/j.cub.2012.09.022"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016/j.cub.2012.09.022"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16/j.cub.2012.09.022"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016/j.cub.2012.09.022"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016/j.cub.2012.09.022"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126/science.1057895"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126/science.1057895"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098/rspb.2011.0168"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073/pnas.1321543111"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186/1742-9994-10-62"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7717/peerj.278"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7717/peerj.278"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38/434455a" TargetMode="External"/><Relationship Id="rId4" Type="http://schemas.openxmlformats.org/officeDocument/2006/relationships/hyperlink" Target="https://doi.org/10.1016/j.cub.2012.09.022" TargetMode="External"/><Relationship Id="rId5" Type="http://schemas.openxmlformats.org/officeDocument/2006/relationships/hyperlink" Target="https://doi.org/10.1073/pnas.0608062103" TargetMode="External"/><Relationship Id="rId6" Type="http://schemas.openxmlformats.org/officeDocument/2006/relationships/hyperlink" Target="https://doi.org/10.1073/pnas.1101765108" TargetMode="External"/><Relationship Id="rId7" Type="http://schemas.openxmlformats.org/officeDocument/2006/relationships/hyperlink" Target="https://doi.org/10.1126/science.1057895" TargetMode="External"/><Relationship Id="rId8" Type="http://schemas.openxmlformats.org/officeDocument/2006/relationships/hyperlink" Target="https://doi.org/10.1098/rspb.2011.0168" TargetMode="External"/><Relationship Id="rId9" Type="http://schemas.openxmlformats.org/officeDocument/2006/relationships/hyperlink" Target="https://doi.org/10.1073/pnas.1321543111" TargetMode="External"/><Relationship Id="rId10" Type="http://schemas.openxmlformats.org/officeDocument/2006/relationships/hyperlink" Target="https://doi.org/10.1186/1742-9994-10-62" TargetMode="External"/><Relationship Id="rId11" Type="http://schemas.openxmlformats.org/officeDocument/2006/relationships/hyperlink" Target="https://doi.org/10.7717/peerj.278" TargetMode="External"/><Relationship Id="rId12" Type="http://schemas.openxmlformats.org/officeDocument/2006/relationships/hyperlink" Target="https://doi.org/10.1038/srep46309" TargetMode="External"/><Relationship Id="rId13" Type="http://schemas.openxmlformats.org/officeDocument/2006/relationships/hyperlink" Target="https://doi.org/10.1371/journal.pone.0023251" TargetMode="External"/><Relationship Id="rId14" Type="http://schemas.openxmlformats.org/officeDocument/2006/relationships/hyperlink" Target="https://doi.org/10.1073/pnas.1818284116" TargetMode="External"/><Relationship Id="rId15" Type="http://schemas.openxmlformats.org/officeDocument/2006/relationships/hyperlink" Target="https://doi.org/10.1002/ar.20829" TargetMode="External"/><Relationship Id="rId16" Type="http://schemas.openxmlformats.org/officeDocument/2006/relationships/hyperlink" Target="https://doi.org/10.1002/cne.23841"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Elephants II: Comparative Cognition, Vocal Learning, and Social Neurobiology</a:t>
            </a:r>
          </a:p>
          <a:p>
            <a:r>
              <a:rPr sz="1200">
                <a:latin typeface="Arial"/>
              </a:rPr>
              <a:t>Lecture 51. NEUR 411 · NEUROETHOLOGY · FALL 2026. Date TBD.</a:t>
            </a:r>
          </a:p>
          <a:p/>
          <a:p>
            <a:r>
              <a:rPr sz="1200">
                <a:latin typeface="Arial"/>
              </a:rPr>
              <a:t>Figure: Plotnik &amp; de Waal (2014), Fig. 1. Asian elephants in affiliative contact.</a:t>
            </a:r>
          </a:p>
          <a:p>
            <a:r>
              <a:rPr sz="1200">
                <a:latin typeface="Arial"/>
              </a:rPr>
              <a:t>Figure source: </a:t>
            </a:r>
            <a:r>
              <a:rPr sz="1200">
                <a:latin typeface="Arial"/>
                <a:hlinkClick r:id="rId3"/>
              </a:rPr>
              <a:t>https://doi.org/10.7717/peerj.278</a:t>
            </a:r>
          </a:p>
          <a:p/>
          <a:p>
            <a:r>
              <a:rPr sz="1200">
                <a:latin typeface="Arial"/>
              </a:rPr>
              <a:t>References:</a:t>
            </a:r>
          </a:p>
          <a:p>
            <a:r>
              <a:rPr sz="1200">
                <a:latin typeface="Arial"/>
              </a:rPr>
              <a:t>Joshua M. Plotnik, Frans B.M. de Waal (2014). Asian elephants ( Elephas maximus ) reassure others in distress. PeerJ 2: e278. </a:t>
            </a:r>
            <a:r>
              <a:rPr sz="1200">
                <a:latin typeface="Arial"/>
                <a:hlinkClick r:id="rId3"/>
              </a:rPr>
              <a:t>https://doi.org/10.7717/peerj.278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Comparative cognition investigates how animals acquire, retain and use information, while accounting for differences in sensory access and natural behavior. McComb and colleagues tested wild African elephant families with recordings of human speech rather than confronting them with people.</a:t>
            </a:r>
          </a:p>
          <a:p>
            <a:r>
              <a:rPr sz="1200">
                <a:latin typeface="Arial"/>
              </a:rPr>
              <a:t>• The speakers repeated the same sentence, allowing voice categories to vary while verbal content remained comparable. Maasai men elicited stronger defensive bunching and investigative smelling than Kamba men; adult male Maasai voices also elicited stronger defenses than female or boy voices.</a:t>
            </a:r>
          </a:p>
          <a:p>
            <a:r>
              <a:rPr sz="1200">
                <a:latin typeface="Arial"/>
              </a:rPr>
              <a:t>• Defensive bunching is the formation of a tight protective group. Recorded voices were sufficient to change this collective response, but the experiments did not locate the neurons storing human-associated danger or establish comprehension of the sentence.</a:t>
            </a:r>
          </a:p>
          <a:p>
            <a:r>
              <a:rPr sz="1200">
                <a:latin typeface="Arial"/>
              </a:rPr>
              <a:t>  – The behavior is a response to acoustic evidence of risk, not a direct measurement of language understanding or the subjective emotion of each elephant.</a:t>
            </a:r>
          </a:p>
          <a:p/>
          <a:p>
            <a:r>
              <a:rPr sz="1200">
                <a:latin typeface="Arial"/>
              </a:rPr>
              <a:t>References:</a:t>
            </a:r>
          </a:p>
          <a:p>
            <a:r>
              <a:rPr sz="1200">
                <a:latin typeface="Arial"/>
              </a:rPr>
              <a:t>Karen McComb, Graeme Shannon, Katito N. Sayialel, Cynthia Moss (2014). Elephants can determine ethnicity, gender, and age from acoustic cues in human voices. Proceedings of the National Academy of Sciences 111: 5433-5438. </a:t>
            </a:r>
            <a:r>
              <a:rPr sz="1200">
                <a:latin typeface="Arial"/>
                <a:hlinkClick r:id="rId3"/>
              </a:rPr>
              <a:t>https://doi.org/10.1073/pnas.1321543111</a:t>
            </a:r>
          </a:p>
          <a:p/>
          <a:p>
            <a:r>
              <a:rPr sz="1200">
                <a:latin typeface="Arial"/>
              </a:rPr>
              <a:t>Figure: McComb et al. (2014), Fig. 1(A–H). Threat-dependent responses to recorded human voices.</a:t>
            </a:r>
          </a:p>
          <a:p>
            <a:r>
              <a:rPr sz="1200">
                <a:latin typeface="Arial"/>
              </a:rPr>
              <a:t>Figure source: </a:t>
            </a:r>
            <a:r>
              <a:rPr sz="1200">
                <a:latin typeface="Arial"/>
                <a:hlinkClick r:id="rId3"/>
              </a:rPr>
              <a:t>https://doi.org/10.1073/pnas.1321543111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Plotnik and colleagues presented captive Asian elephants with two opaque buckets containing sunflower seeds. Olfaction, the detection of airborne chemicals, supplied the information: locked perforated lids admitted odors while preventing visual inspection and access to the food.</a:t>
            </a:r>
          </a:p>
          <a:p>
            <a:r>
              <a:rPr sz="1200">
                <a:latin typeface="Arial"/>
              </a:rPr>
              <a:t>• The table was withdrawn after sampling, the lids were unlocked, and the elephant chose one bucket. Experimental seed quantities ranged from 4 to 24 g. Solid lids prevented successful discrimination, supporting an olfactory basis rather than guidance from visible food or other available cues.</a:t>
            </a:r>
          </a:p>
          <a:p>
            <a:r>
              <a:rPr sz="1200">
                <a:latin typeface="Arial"/>
              </a:rPr>
              <a:t>• This preparation separated sensory investigation from the choice action. Its results concern judgments about relative food amounts; they do not establish that elephants counted individual seeds or encoded an abstract numerical symbol.</a:t>
            </a:r>
          </a:p>
          <a:p>
            <a:r>
              <a:rPr sz="1200">
                <a:latin typeface="Arial"/>
              </a:rPr>
              <a:t>  – A sensory-appropriate task can reveal a competence that a visual-only comparison would miss, without making the task a test of every form of quantitative reasoning.</a:t>
            </a:r>
          </a:p>
          <a:p/>
          <a:p>
            <a:r>
              <a:rPr sz="1200">
                <a:latin typeface="Arial"/>
              </a:rPr>
              <a:t>References:</a:t>
            </a:r>
          </a:p>
          <a:p>
            <a:r>
              <a:rPr sz="1200">
                <a:latin typeface="Arial"/>
              </a:rPr>
              <a:t>Joshua M. Plotnik, Daniel L. Brubaker, Rachel Dale, Lydia N. Tiller, Hannah S. Mumby, Nicola S. Clayton (2019). Elephants have a nose for quantity. Proceedings of the National Academy of Sciences 116: 12566-12571. </a:t>
            </a:r>
            <a:r>
              <a:rPr sz="1200">
                <a:latin typeface="Arial"/>
                <a:hlinkClick r:id="rId3"/>
              </a:rPr>
              <a:t>https://doi.org/10.1073/pnas.1818284116</a:t>
            </a:r>
          </a:p>
          <a:p/>
          <a:p>
            <a:r>
              <a:rPr sz="1200">
                <a:latin typeface="Arial"/>
              </a:rPr>
              <a:t>Figure: Plotnik et al. (2019), Fig. 1(A–D). Odor sampling and subsequent bucket choice.</a:t>
            </a:r>
          </a:p>
          <a:p>
            <a:r>
              <a:rPr sz="1200">
                <a:latin typeface="Arial"/>
              </a:rPr>
              <a:t>Figure source: </a:t>
            </a:r>
            <a:r>
              <a:rPr sz="1200">
                <a:latin typeface="Arial"/>
                <a:hlinkClick r:id="rId3"/>
              </a:rPr>
              <a:t>https://doi.org/10.1073/pnas.1818284116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seed experiment varied the quantity ratio, the smaller food amount relative to the larger amount. Elephants chose the greater amount more reliably when the amounts differed markedly, and their performance declined as the ratio approached equality.</a:t>
            </a:r>
          </a:p>
          <a:p>
            <a:r>
              <a:rPr sz="1200">
                <a:latin typeface="Arial"/>
              </a:rPr>
              <a:t>• Pairs with the same ratio but different total amounts tested whether overall food magnitude controlled performance. For example, the published experiment compared 4 versus 8 g with 12 versus 24 g. Total magnitude did not account for the choice pattern.</a:t>
            </a:r>
          </a:p>
          <a:p>
            <a:r>
              <a:rPr sz="1200">
                <a:latin typeface="Arial"/>
              </a:rPr>
              <a:t>• Metal-bucket and double-blind controls retained successful discrimination, reducing explanations based on residual plastic-container odor or experimenter guidance. Ratio dependence is consistent with approximate quantity assessment, but a learned comparison of odor strength remains possible; no numerical neurons were recorded.</a:t>
            </a:r>
          </a:p>
          <a:p>
            <a:r>
              <a:rPr sz="1200">
                <a:latin typeface="Arial"/>
              </a:rPr>
              <a:t>  – In the double-blind condition, the people presenting the choice did not know which bucket held the larger amount, reducing inadvertent behavioral guidance.</a:t>
            </a:r>
          </a:p>
          <a:p/>
          <a:p>
            <a:r>
              <a:rPr sz="1200">
                <a:latin typeface="Arial"/>
              </a:rPr>
              <a:t>References:</a:t>
            </a:r>
          </a:p>
          <a:p>
            <a:r>
              <a:rPr sz="1200">
                <a:latin typeface="Arial"/>
              </a:rPr>
              <a:t>Joshua M. Plotnik, Daniel L. Brubaker, Rachel Dale, Lydia N. Tiller, Hannah S. Mumby, Nicola S. Clayton (2019). Elephants have a nose for quantity. Proceedings of the National Academy of Sciences 116: 12566-12571. </a:t>
            </a:r>
            <a:r>
              <a:rPr sz="1200">
                <a:latin typeface="Arial"/>
                <a:hlinkClick r:id="rId3"/>
              </a:rPr>
              <a:t>https://doi.org/10.1073/pnas.1818284116</a:t>
            </a:r>
          </a:p>
          <a:p/>
          <a:p>
            <a:r>
              <a:rPr sz="1200">
                <a:latin typeface="Arial"/>
              </a:rPr>
              <a:t>Figure: Plotnik et al. (2019), Fig. 2. Choice success decreases as quantities approach equality.</a:t>
            </a:r>
          </a:p>
          <a:p>
            <a:r>
              <a:rPr sz="1200">
                <a:latin typeface="Arial"/>
              </a:rPr>
              <a:t>Figure source: </a:t>
            </a:r>
            <a:r>
              <a:rPr sz="1200">
                <a:latin typeface="Arial"/>
                <a:hlinkClick r:id="rId3"/>
              </a:rPr>
              <a:t>https://doi.org/10.1073/pnas.1818284116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Foerder and colleagues offered Asian elephants suspended fruit and branches beyond ordinary trunk reach, together with movable objects and sticks. Tool use requires using an external object to alter the relationship between the animal and its goal, rather than merely handling it.</a:t>
            </a:r>
          </a:p>
          <a:p>
            <a:r>
              <a:rPr sz="1200">
                <a:latin typeface="Arial"/>
              </a:rPr>
              <a:t>• The elephants reached and sniffed toward the food but did not use sticks to retrieve it. This failure differed from the later successful use of a standing platform by the juvenile male Kandula. The authors proposed that holding a stick may obstruct the trunk’s simultaneous olfactory and tactile investigation.</a:t>
            </a:r>
          </a:p>
          <a:p>
            <a:r>
              <a:rPr sz="1200">
                <a:latin typeface="Arial"/>
              </a:rPr>
              <a:t>• The proposed sensory interference was not independently manipulated. Failure with a primate-style reaching tool therefore cannot be equated with an absence of physical problem-solving ability, but neither does it prove that sensory interference caused every failure.</a:t>
            </a:r>
          </a:p>
          <a:p>
            <a:r>
              <a:rPr sz="1200">
                <a:latin typeface="Arial"/>
              </a:rPr>
              <a:t>  – The study distinguished interest in the reward from successful use of a particular tool; food-directed reaching persisted during unsuccessful stick trials.</a:t>
            </a:r>
          </a:p>
          <a:p/>
          <a:p>
            <a:r>
              <a:rPr sz="1200">
                <a:latin typeface="Arial"/>
              </a:rPr>
              <a:t>References:</a:t>
            </a:r>
          </a:p>
          <a:p>
            <a:r>
              <a:rPr sz="1200">
                <a:latin typeface="Arial"/>
              </a:rPr>
              <a:t>Preston Foerder, Marie Galloway, Tony Barthel, Donald E. Moore III, Diana Reiss (2011). Insightful Problem Solving in an Asian Elephant. PLoS ONE 6: e23251. </a:t>
            </a:r>
            <a:r>
              <a:rPr sz="1200">
                <a:latin typeface="Arial"/>
                <a:hlinkClick r:id="rId3"/>
              </a:rPr>
              <a:t>https://doi.org/10.1371/journal.pone.0023251</a:t>
            </a:r>
          </a:p>
          <a:p/>
          <a:p>
            <a:r>
              <a:rPr sz="1200">
                <a:latin typeface="Arial"/>
              </a:rPr>
              <a:t>Figure: Foerder et al. (2011), Fig. 1(A). Original stick-and-platform food-reaching preparation.</a:t>
            </a:r>
          </a:p>
          <a:p>
            <a:r>
              <a:rPr sz="1200">
                <a:latin typeface="Arial"/>
              </a:rPr>
              <a:t>Figure source: </a:t>
            </a:r>
            <a:r>
              <a:rPr sz="1200">
                <a:latin typeface="Arial"/>
                <a:hlinkClick r:id="rId3"/>
              </a:rPr>
              <a:t>https://doi.org/10.1371/journal.pone.0023251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Kandula rolled a large plastic cube beneath suspended food, placed his forefeet on it and reached with his trunk. The cube changed his body position while leaving the trunk available for grasping. Its functional contribution was increased reach, not direct contact with the food.</a:t>
            </a:r>
          </a:p>
          <a:p>
            <a:r>
              <a:rPr sz="1200">
                <a:latin typeface="Arial"/>
              </a:rPr>
              <a:t>• The first successful sequence occurred after earlier object exploration without food retrieval. On subsequent sessions he repositioned the cube beneath changed food locations and also used it to investigate an elevated enrichment object and overhanging blossoms.</a:t>
            </a:r>
          </a:p>
          <a:p>
            <a:r>
              <a:rPr sz="1200">
                <a:latin typeface="Arial"/>
              </a:rPr>
              <a:t>• The authors described the initial solution as insight-like because an organized sequence appeared without a documented series of reinforced partial solutions. Earlier cube experience prevents concluding that the solution arose without learning, and the behavior does not reveal the underlying neural computation.</a:t>
            </a:r>
          </a:p>
          <a:p>
            <a:r>
              <a:rPr sz="1200">
                <a:latin typeface="Arial"/>
              </a:rPr>
              <a:t>  – Insight describes the inferred organization of the solution, not a measured mental event; the documented action sequence is stronger evidence than a claim about subjective realization.</a:t>
            </a:r>
          </a:p>
          <a:p/>
          <a:p>
            <a:r>
              <a:rPr sz="1200">
                <a:latin typeface="Arial"/>
              </a:rPr>
              <a:t>References:</a:t>
            </a:r>
          </a:p>
          <a:p>
            <a:r>
              <a:rPr sz="1200">
                <a:latin typeface="Arial"/>
              </a:rPr>
              <a:t>Preston Foerder, Marie Galloway, Tony Barthel, Donald E. Moore III, Diana Reiss (2011). Insightful Problem Solving in an Asian Elephant. PLoS ONE 6: e23251. </a:t>
            </a:r>
            <a:r>
              <a:rPr sz="1200">
                <a:latin typeface="Arial"/>
                <a:hlinkClick r:id="rId3"/>
              </a:rPr>
              <a:t>https://doi.org/10.1371/journal.pone.0023251</a:t>
            </a:r>
          </a:p>
          <a:p/>
          <a:p>
            <a:r>
              <a:rPr sz="1200">
                <a:latin typeface="Arial"/>
              </a:rPr>
              <a:t>Figure: Foerder et al. (2011), Fig. 1(B). Kandula stands on a cube beneath suspended food.</a:t>
            </a:r>
          </a:p>
          <a:p>
            <a:r>
              <a:rPr sz="1200">
                <a:latin typeface="Arial"/>
              </a:rPr>
              <a:t>Figure source: </a:t>
            </a:r>
            <a:r>
              <a:rPr sz="1200">
                <a:latin typeface="Arial"/>
                <a:hlinkClick r:id="rId3"/>
              </a:rPr>
              <a:t>https://doi.org/10.1371/journal.pone.0023251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After successful cube use, Foerder and colleagues displaced it within the enclosure to test whether Kandula had learned only a fixed feeding location. He searched for the cube, moved it to the suspended reward and used it as a standing platform.</a:t>
            </a:r>
          </a:p>
          <a:p>
            <a:r>
              <a:rPr sz="1200">
                <a:latin typeface="Arial"/>
              </a:rPr>
              <a:t>• When the cube was hidden in a passageway, he retrieved it and later returned directly to the previously successful hiding location. Replacing the cube with a large tire also produced platform use, supporting transfer beyond one particular object.</a:t>
            </a:r>
          </a:p>
          <a:p>
            <a:r>
              <a:rPr sz="1200">
                <a:latin typeface="Arial"/>
              </a:rPr>
              <a:t>• These manipulations distinguish flexible object use from repeatedly standing at the original location. They still permit contributions from remembered rewards and prior manipulation experience. The evidence establishes behavioral flexibility in the tested individual, rather than a species-wide rate of insight or a causal memory circuit.</a:t>
            </a:r>
          </a:p>
          <a:p>
            <a:r>
              <a:rPr sz="1200">
                <a:latin typeface="Arial"/>
              </a:rPr>
              <a:t>  – The relocation and replacement conditions tested different aspects of transfer: remembering an object location and using a new object with a similar supporting function.</a:t>
            </a:r>
          </a:p>
          <a:p/>
          <a:p>
            <a:r>
              <a:rPr sz="1200">
                <a:latin typeface="Arial"/>
              </a:rPr>
              <a:t>References:</a:t>
            </a:r>
          </a:p>
          <a:p>
            <a:r>
              <a:rPr sz="1200">
                <a:latin typeface="Arial"/>
              </a:rPr>
              <a:t>Preston Foerder, Marie Galloway, Tony Barthel, Donald E. Moore III, Diana Reiss (2011). Insightful Problem Solving in an Asian Elephant. PLoS ONE 6: e23251. </a:t>
            </a:r>
            <a:r>
              <a:rPr sz="1200">
                <a:latin typeface="Arial"/>
                <a:hlinkClick r:id="rId3"/>
              </a:rPr>
              <a:t>https://doi.org/10.1371/journal.pone.0023251</a:t>
            </a:r>
          </a:p>
          <a:p/>
          <a:p>
            <a:r>
              <a:rPr sz="1200">
                <a:latin typeface="Arial"/>
              </a:rPr>
              <a:t>Figure: Foerder et al. (2011), Fig. 2(A–B). Acquisition and retrieval of a relocated cube.</a:t>
            </a:r>
          </a:p>
          <a:p>
            <a:r>
              <a:rPr sz="1200">
                <a:latin typeface="Arial"/>
              </a:rPr>
              <a:t>Figure source: </a:t>
            </a:r>
            <a:r>
              <a:rPr sz="1200">
                <a:latin typeface="Arial"/>
                <a:hlinkClick r:id="rId3"/>
              </a:rPr>
              <a:t>https://doi.org/10.1371/journal.pone.0023251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Plotnik and colleagues adapted a loose-rope cooperation task for Asian elephants. One rope passed around a sliding food platform, with an end available to each partner. Pulling alone unthreaded the rope; coordinated holding and pulling brought the food within reach.</a:t>
            </a:r>
          </a:p>
          <a:p>
            <a:r>
              <a:rPr sz="1200">
                <a:latin typeface="Arial"/>
              </a:rPr>
              <a:t>• Initial single-rope training taught the pulling action. During paired testing the animals approached through separate lanes from 10 m away, while caretakers remained silent and looked away after release. These precautions reduced immediate human guidance without eliminating the elephants’ training history.</a:t>
            </a:r>
          </a:p>
          <a:p>
            <a:r>
              <a:rPr sz="1200">
                <a:latin typeface="Arial"/>
              </a:rPr>
              <a:t>• Successful simultaneous release established that the apparatus could be operated jointly. It did not alone establish that either animal understood the partner’s necessity, because both could simply repeat a previously rewarded pulling response upon reaching the rope.</a:t>
            </a:r>
          </a:p>
          <a:p>
            <a:r>
              <a:rPr sz="1200">
                <a:latin typeface="Arial"/>
              </a:rPr>
              <a:t>  – The apparatus required both rope ends to remain engaged; one animal pulling alone removed the other’s opportunity to contribute.</a:t>
            </a:r>
          </a:p>
          <a:p/>
          <a:p>
            <a:r>
              <a:rPr sz="1200">
                <a:latin typeface="Arial"/>
              </a:rPr>
              <a:t>References:</a:t>
            </a:r>
          </a:p>
          <a:p>
            <a:r>
              <a:rPr sz="1200">
                <a:latin typeface="Arial"/>
              </a:rPr>
              <a:t>Joshua M. Plotnik, Richard Lair, Wirot Suphachoksahakun, Frans B. M. de Waal (2011). Elephants know when they need a helping trunk in a cooperative task. Proceedings of the National Academy of Sciences 108: 5116-5121. </a:t>
            </a:r>
            <a:r>
              <a:rPr sz="1200">
                <a:latin typeface="Arial"/>
                <a:hlinkClick r:id="rId3"/>
              </a:rPr>
              <a:t>https://doi.org/10.1073/pnas.1101765108</a:t>
            </a:r>
          </a:p>
          <a:p/>
          <a:p>
            <a:r>
              <a:rPr sz="1200">
                <a:latin typeface="Arial"/>
              </a:rPr>
              <a:t>Figure: Plotnik et al. (2011), Fig. 1(views 1–3). Published loose-rope cooperation apparatus.</a:t>
            </a:r>
          </a:p>
          <a:p>
            <a:r>
              <a:rPr sz="1200">
                <a:latin typeface="Arial"/>
              </a:rPr>
              <a:t>Figure source: </a:t>
            </a:r>
            <a:r>
              <a:rPr sz="1200">
                <a:latin typeface="Arial"/>
                <a:hlinkClick r:id="rId3"/>
              </a:rPr>
              <a:t>https://doi.org/10.1073/pnas.1101765108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Response inhibition means withholding an available action when acting immediately would prevent success. In delayed-release trials, the first elephant had to leave the rope available until its partner arrived rather than pull as soon as it reached the apparatus.</a:t>
            </a:r>
          </a:p>
          <a:p>
            <a:r>
              <a:rPr sz="1200">
                <a:latin typeface="Arial"/>
              </a:rPr>
              <a:t>• Training increased release delays in 5-s steps to 25 s. Tests then included previously untrained intervals of 26–45 s. Waiting succeeded on approximately 88–97% of trials across the lead elephants, and performance on longer delays improved after the first test day.</a:t>
            </a:r>
          </a:p>
          <a:p>
            <a:r>
              <a:rPr sz="1200">
                <a:latin typeface="Arial"/>
              </a:rPr>
              <a:t>• Transfer to longer intervals argues against one rigidly learned short waiting period. The preparation nevertheless involved shaping and repeated rewards, so successful waiting does not establish spontaneous cooperative understanding in an untrained animal or identify a specific inhibitory neuronal pathway.</a:t>
            </a:r>
          </a:p>
          <a:p>
            <a:r>
              <a:rPr sz="1200">
                <a:latin typeface="Arial"/>
              </a:rPr>
              <a:t>  – The delayed interval was measured between releases, while the behavioral requirement was to preserve the usable rope until the partner reached its end.</a:t>
            </a:r>
          </a:p>
          <a:p/>
          <a:p>
            <a:r>
              <a:rPr sz="1200">
                <a:latin typeface="Arial"/>
              </a:rPr>
              <a:t>References:</a:t>
            </a:r>
          </a:p>
          <a:p>
            <a:r>
              <a:rPr sz="1200">
                <a:latin typeface="Arial"/>
              </a:rPr>
              <a:t>Joshua M. Plotnik, Richard Lair, Wirot Suphachoksahakun, Frans B. M. de Waal (2011). Elephants know when they need a helping trunk in a cooperative task. Proceedings of the National Academy of Sciences 108: 5116-5121. </a:t>
            </a:r>
            <a:r>
              <a:rPr sz="1200">
                <a:latin typeface="Arial"/>
                <a:hlinkClick r:id="rId3"/>
              </a:rPr>
              <a:t>https://doi.org/10.1073/pnas.1101765108</a:t>
            </a:r>
          </a:p>
          <a:p/>
          <a:p>
            <a:r>
              <a:rPr sz="1200">
                <a:latin typeface="Arial"/>
              </a:rPr>
              <a:t>Figure: Plotnik et al. (2011), Fig. 2. Performance with trained and longer partner delays.</a:t>
            </a:r>
          </a:p>
          <a:p>
            <a:r>
              <a:rPr sz="1200">
                <a:latin typeface="Arial"/>
              </a:rPr>
              <a:t>Figure source: </a:t>
            </a:r>
            <a:r>
              <a:rPr sz="1200">
                <a:latin typeface="Arial"/>
                <a:hlinkClick r:id="rId3"/>
              </a:rPr>
              <a:t>https://doi.org/10.1073/pnas.1101765108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no-rope control left the partner present but placed its rope end out of reach. This separated social proximity from the partner’s ability to contribute mechanically. The lead elephant still had access to its own rope and could attempt to pull.</a:t>
            </a:r>
          </a:p>
          <a:p>
            <a:r>
              <a:rPr sz="1200">
                <a:latin typeface="Arial"/>
              </a:rPr>
              <a:t>• Most tested lead elephants reduced pulling when the partner lacked access, while normal joint trials remained successful. During delayed trials, pulling also increased after the partner arrived at the rope compared with the period before arrival.</a:t>
            </a:r>
          </a:p>
          <a:p>
            <a:r>
              <a:rPr sz="1200">
                <a:latin typeface="Arial"/>
              </a:rPr>
              <a:t>• The contrast supports sensitivity to conditions required for joint success, not merely another elephant’s presence. Feeling rope tension when the partner grasps it remains a possible learned cue. The results therefore do not require attributing intentions or a human-like theory of mind to the partner.</a:t>
            </a:r>
          </a:p>
          <a:p>
            <a:r>
              <a:rPr sz="1200">
                <a:latin typeface="Arial"/>
              </a:rPr>
              <a:t>  – A theory of mind would involve representing another individual’s mental state; recognizing a useful mechanical contingency is a narrower interpretation of this experiment.</a:t>
            </a:r>
          </a:p>
          <a:p/>
          <a:p>
            <a:r>
              <a:rPr sz="1200">
                <a:latin typeface="Arial"/>
              </a:rPr>
              <a:t>References:</a:t>
            </a:r>
          </a:p>
          <a:p>
            <a:r>
              <a:rPr sz="1200">
                <a:latin typeface="Arial"/>
              </a:rPr>
              <a:t>Joshua M. Plotnik, Richard Lair, Wirot Suphachoksahakun, Frans B. M. de Waal (2011). Elephants know when they need a helping trunk in a cooperative task. Proceedings of the National Academy of Sciences 108: 5116-5121. </a:t>
            </a:r>
            <a:r>
              <a:rPr sz="1200">
                <a:latin typeface="Arial"/>
                <a:hlinkClick r:id="rId3"/>
              </a:rPr>
              <a:t>https://doi.org/10.1073/pnas.1101765108</a:t>
            </a:r>
          </a:p>
          <a:p/>
          <a:p>
            <a:r>
              <a:rPr sz="1200">
                <a:latin typeface="Arial"/>
              </a:rPr>
              <a:t>Figure: Plotnik et al. (2011), Fig. 3(A–B). Pulling rates before arrival and with no partner rope.</a:t>
            </a:r>
          </a:p>
          <a:p>
            <a:r>
              <a:rPr sz="1200">
                <a:latin typeface="Arial"/>
              </a:rPr>
              <a:t>Figure source: </a:t>
            </a:r>
            <a:r>
              <a:rPr sz="1200">
                <a:latin typeface="Arial"/>
                <a:hlinkClick r:id="rId3"/>
              </a:rPr>
              <a:t>https://doi.org/10.1073/pnas.1101765108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Plotnik, de Waal and Reiss installed an elephant-accessible mirror measuring 244 by 244 cm. Mirror self-recognition is tested through behavior directed toward one’s own body using the reflection, rather than through attention to the mirror alone.</a:t>
            </a:r>
          </a:p>
          <a:p>
            <a:r>
              <a:rPr sz="1200">
                <a:latin typeface="Arial"/>
              </a:rPr>
              <a:t>• Baseline and covered-mirror phases established comparison behavior before the reflective surface was available. Elephants could approach and inspect the large mirror closely with their trunks, unlike earlier arrangements that kept a small reflective surface beyond reach.</a:t>
            </a:r>
          </a:p>
          <a:p>
            <a:r>
              <a:rPr sz="1200">
                <a:latin typeface="Arial"/>
              </a:rPr>
              <a:t>• All subjects developed mirror-associated testing and self-directed behavior, including unusual trunk and head movements and inspection of their mouths. The preparation makes bodily information available; exploration of a mirror by itself still cannot establish that an animal recognizes its reflected identity.</a:t>
            </a:r>
          </a:p>
          <a:p>
            <a:r>
              <a:rPr sz="1200">
                <a:latin typeface="Arial"/>
              </a:rPr>
              <a:t>  – Physical access matters because the animal can test whether movement of the reflection covaries with its own actions rather than merely viewing a distant unfamiliar shape.</a:t>
            </a:r>
          </a:p>
          <a:p/>
          <a:p>
            <a:r>
              <a:rPr sz="1200">
                <a:latin typeface="Arial"/>
              </a:rPr>
              <a:t>References:</a:t>
            </a:r>
          </a:p>
          <a:p>
            <a:r>
              <a:rPr sz="1200">
                <a:latin typeface="Arial"/>
              </a:rPr>
              <a:t>Joshua M. Plotnik, Frans B. M. de Waal, Diana Reiss (2006). Self-recognition in an Asian elephant. Proceedings of the National Academy of Sciences 103: 17053-17057. </a:t>
            </a:r>
            <a:r>
              <a:rPr sz="1200">
                <a:latin typeface="Arial"/>
                <a:hlinkClick r:id="rId3"/>
              </a:rPr>
              <a:t>https://doi.org/10.1073/pnas.0608062103</a:t>
            </a:r>
          </a:p>
          <a:p/>
          <a:p>
            <a:r>
              <a:rPr sz="1200">
                <a:latin typeface="Arial"/>
              </a:rPr>
              <a:t>Figure: Plotnik et al. (2006), Fig. 1. Original accessible-mirror enclosure preparation.</a:t>
            </a:r>
          </a:p>
          <a:p>
            <a:r>
              <a:rPr sz="1200">
                <a:latin typeface="Arial"/>
              </a:rPr>
              <a:t>Figure source: </a:t>
            </a:r>
            <a:r>
              <a:rPr sz="1200">
                <a:latin typeface="Arial"/>
                <a:hlinkClick r:id="rId3"/>
              </a:rPr>
              <a:t>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mark test placed a visible mark on an otherwise unseen part of the elephant’s head. An invisible sham mark on the opposite side controlled for application-related tactile and olfactory cues, leaving visual appearance as the intended difference.</a:t>
            </a:r>
          </a:p>
          <a:p>
            <a:r>
              <a:rPr sz="1200">
                <a:latin typeface="Arial"/>
              </a:rPr>
              <a:t>• Happy repeatedly investigated the visible mark during or soon after mirror proximity, while the sham-mark side did not receive equivalent touching. Prior covered-mirror sham tests had not elicited mark-directed investigation. The other elephants explored the mirror but did not pass the mark test.</a:t>
            </a:r>
          </a:p>
          <a:p>
            <a:r>
              <a:rPr sz="1200">
                <a:latin typeface="Arial"/>
              </a:rPr>
              <a:t>• Selective touching supports using the reflection to obtain information about one’s own body. The result is individual-specific and does not establish the prevalence of mirror recognition in elephants or prove that all forms of self-awareness depend on this particular visual task.</a:t>
            </a:r>
          </a:p>
          <a:p>
            <a:r>
              <a:rPr sz="1200">
                <a:latin typeface="Arial"/>
              </a:rPr>
              <a:t>  – The visible and sham marks were counterbalanced across sides on consecutive marking days; the positive outcome should not be described as universal success by the tested elephants.</a:t>
            </a:r>
          </a:p>
          <a:p/>
          <a:p>
            <a:r>
              <a:rPr sz="1200">
                <a:latin typeface="Arial"/>
              </a:rPr>
              <a:t>References:</a:t>
            </a:r>
          </a:p>
          <a:p>
            <a:r>
              <a:rPr sz="1200">
                <a:latin typeface="Arial"/>
              </a:rPr>
              <a:t>Joshua M. Plotnik, Frans B. M. de Waal, Diana Reiss (2006). Self-recognition in an Asian elephant. Proceedings of the National Academy of Sciences 103: 17053-17057. </a:t>
            </a:r>
            <a:r>
              <a:rPr sz="1200">
                <a:latin typeface="Arial"/>
                <a:hlinkClick r:id="rId3"/>
              </a:rPr>
              <a:t>https://doi.org/10.1073/pnas.0608062103</a:t>
            </a:r>
          </a:p>
          <a:p/>
          <a:p>
            <a:r>
              <a:rPr sz="1200">
                <a:latin typeface="Arial"/>
              </a:rPr>
              <a:t>Figure: Plotnik et al. (2006), Fig. 2(A–B). Visible head mark and mirror-associated mark touching.</a:t>
            </a:r>
          </a:p>
          <a:p>
            <a:r>
              <a:rPr sz="1200">
                <a:latin typeface="Arial"/>
              </a:rPr>
              <a:t>Figure source: </a:t>
            </a:r>
            <a:r>
              <a:rPr sz="1200">
                <a:latin typeface="Arial"/>
                <a:hlinkClick r:id="rId3"/>
              </a:rPr>
              <a:t>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Happy’s head touching increased during the initial mark session, especially during mirror exposure or within 90 s after it. The temporal association matters because a purely tactile response to application would not specifically require visual access to the reflective surface.</a:t>
            </a:r>
          </a:p>
          <a:p>
            <a:r>
              <a:rPr sz="1200">
                <a:latin typeface="Arial"/>
              </a:rPr>
              <a:t>• The paper compared these responses with earlier open-mirror sessions and nonmirror conditions. Husbandry constraints prevented an ideal visible-mark, covered-mirror control while isolating the subject from its partner, leaving an explicitly acknowledged limitation in the design.</a:t>
            </a:r>
          </a:p>
          <a:p>
            <a:r>
              <a:rPr sz="1200">
                <a:latin typeface="Arial"/>
              </a:rPr>
              <a:t>• Mirror-guided self-investigation is evidence about processing bodily information. Its association with empathy or social complexity is a comparative hypothesis, not a demonstrated causal relationship in this experiment. Neither mirror behavior nor mark touching identified the responsible cortical cells.</a:t>
            </a:r>
          </a:p>
          <a:p>
            <a:r>
              <a:rPr sz="1200">
                <a:latin typeface="Arial"/>
              </a:rPr>
              <a:t>  – A positive behavioral assay can support a restricted cognitive inference without becoming a general measure of consciousness, empathy, or every capacity of the species.</a:t>
            </a:r>
          </a:p>
          <a:p/>
          <a:p>
            <a:r>
              <a:rPr sz="1200">
                <a:latin typeface="Arial"/>
              </a:rPr>
              <a:t>References:</a:t>
            </a:r>
          </a:p>
          <a:p>
            <a:r>
              <a:rPr sz="1200">
                <a:latin typeface="Arial"/>
              </a:rPr>
              <a:t>Joshua M. Plotnik, Frans B. M. de Waal, Diana Reiss (2006). Self-recognition in an Asian elephant. Proceedings of the National Academy of Sciences 103: 17053-17057. </a:t>
            </a:r>
            <a:r>
              <a:rPr sz="1200">
                <a:latin typeface="Arial"/>
                <a:hlinkClick r:id="rId3"/>
              </a:rPr>
              <a:t>https://doi.org/10.1073/pnas.0608062103</a:t>
            </a:r>
          </a:p>
          <a:p/>
          <a:p>
            <a:r>
              <a:rPr sz="1200">
                <a:latin typeface="Arial"/>
              </a:rPr>
              <a:t>Figure: Plotnik et al. (2006), Fig. 3. Head-touching rates across mirror and mark conditions.</a:t>
            </a:r>
          </a:p>
          <a:p>
            <a:r>
              <a:rPr sz="1200">
                <a:latin typeface="Arial"/>
              </a:rPr>
              <a:t>Figure source: </a:t>
            </a:r>
            <a:r>
              <a:rPr sz="1200">
                <a:latin typeface="Arial"/>
                <a:hlinkClick r:id="rId3"/>
              </a:rPr>
              <a:t>https://doi.org/10.1073/pnas.0608062103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Dale and Plotnik tested body awareness, the ability to treat one’s own body as a relevant object in a task. Asian elephants stood on a rubber mat while attempting to pass a stick to an experimenter in front of them.</a:t>
            </a:r>
          </a:p>
          <a:p>
            <a:r>
              <a:rPr sz="1200">
                <a:latin typeface="Arial"/>
              </a:rPr>
              <a:t>• In the test condition, a rope attached the stick to the mat. The elephant’s weight prevented the mat and attached stick from moving freely. Stepping off removed this obstruction and enabled the transfer, whereas an unattached-stick control permitted transfer without stepping off.</a:t>
            </a:r>
          </a:p>
          <a:p>
            <a:r>
              <a:rPr sz="1200">
                <a:latin typeface="Arial"/>
              </a:rPr>
              <a:t>• Elephants left the mat much more often when their weight obstructed the required action. The result concerns a functional body–environment relationship, not recognition of a visual identity, and should not be treated as the same assay as mirror self-recognition.</a:t>
            </a:r>
          </a:p>
          <a:p>
            <a:r>
              <a:rPr sz="1200">
                <a:latin typeface="Arial"/>
              </a:rPr>
              <a:t>  – The crucial relation is mechanical: the elephant’s own weight maintains the constraint until it changes its body position.</a:t>
            </a:r>
          </a:p>
          <a:p/>
          <a:p>
            <a:r>
              <a:rPr sz="1200">
                <a:latin typeface="Arial"/>
              </a:rPr>
              <a:t>References:</a:t>
            </a:r>
          </a:p>
          <a:p>
            <a:r>
              <a:rPr sz="1200">
                <a:latin typeface="Arial"/>
              </a:rPr>
              <a:t>Rachel Dale, Joshua M. Plotnik (2017). Elephants know when their bodies are obstacles to success in a novel transfer task. Scientific Reports 7: 46309. </a:t>
            </a:r>
            <a:r>
              <a:rPr sz="1200">
                <a:latin typeface="Arial"/>
                <a:hlinkClick r:id="rId3"/>
              </a:rPr>
              <a:t>https://doi.org/10.1038/srep46309</a:t>
            </a:r>
          </a:p>
          <a:p/>
          <a:p>
            <a:r>
              <a:rPr sz="1200">
                <a:latin typeface="Arial"/>
              </a:rPr>
              <a:t>Figure: Dale &amp; Plotnik (2017), Fig. 1. Original mat-and-stick transfer task.</a:t>
            </a:r>
          </a:p>
          <a:p>
            <a:r>
              <a:rPr sz="1200">
                <a:latin typeface="Arial"/>
              </a:rPr>
              <a:t>Figure source: </a:t>
            </a:r>
            <a:r>
              <a:rPr sz="1200">
                <a:latin typeface="Arial"/>
                <a:hlinkClick r:id="rId3"/>
              </a:rPr>
              <a:t>https://doi.org/10.1038/srep46309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second control tested whether elephants stepped off the mat simply because pulling created an uncomfortable sensation under their feet. The animal transferred footwear sideways between experimenters while another experimenter tugged the mat’s attached rope.</a:t>
            </a:r>
          </a:p>
          <a:p>
            <a:r>
              <a:rPr sz="1200">
                <a:latin typeface="Arial"/>
              </a:rPr>
              <a:t>• The tug produced underfoot disturbance without making body weight an obstacle to the required transfer. Elephants left the mat less often in this control than in the attached-stick test, making discomfort alone an inadequate explanation of the test response.</a:t>
            </a:r>
          </a:p>
          <a:p>
            <a:r>
              <a:rPr sz="1200">
                <a:latin typeface="Arial"/>
              </a:rPr>
              <a:t>• The control does not reveal whether the animal explicitly conceptualized its own body. It supports a narrower account in which behavior distinguishes an obstructing body position from an irrelevant physical disturbance. Movement, tactile feedback and previous task learning remain components of that solution.</a:t>
            </a:r>
          </a:p>
          <a:p>
            <a:r>
              <a:rPr sz="1200">
                <a:latin typeface="Arial"/>
              </a:rPr>
              <a:t>  – Changing the direction and object of transfer allowed disturbance underfoot while preserving a task that did not require leaving the mat.</a:t>
            </a:r>
          </a:p>
          <a:p/>
          <a:p>
            <a:r>
              <a:rPr sz="1200">
                <a:latin typeface="Arial"/>
              </a:rPr>
              <a:t>References:</a:t>
            </a:r>
          </a:p>
          <a:p>
            <a:r>
              <a:rPr sz="1200">
                <a:latin typeface="Arial"/>
              </a:rPr>
              <a:t>Rachel Dale, Joshua M. Plotnik (2017). Elephants know when their bodies are obstacles to success in a novel transfer task. Scientific Reports 7: 46309. </a:t>
            </a:r>
            <a:r>
              <a:rPr sz="1200">
                <a:latin typeface="Arial"/>
                <a:hlinkClick r:id="rId3"/>
              </a:rPr>
              <a:t>https://doi.org/10.1038/srep46309</a:t>
            </a:r>
          </a:p>
          <a:p/>
          <a:p>
            <a:r>
              <a:rPr sz="1200">
                <a:latin typeface="Arial"/>
              </a:rPr>
              <a:t>Figure: Dale &amp; Plotnik (2017), Fig. 5. Published foot-discomfort control arrangement.</a:t>
            </a:r>
          </a:p>
          <a:p>
            <a:r>
              <a:rPr sz="1200">
                <a:latin typeface="Arial"/>
              </a:rPr>
              <a:t>Figure source: </a:t>
            </a:r>
            <a:r>
              <a:rPr sz="1200">
                <a:latin typeface="Arial"/>
                <a:hlinkClick r:id="rId3"/>
              </a:rPr>
              <a:t>https://doi.org/10.1038/srep46309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Across testing, elephants removed their weight from the mat far more often when the stick was attached than when it was unattached or when the mat was tugged during the discomfort control. The conditions therefore differed according to the task’s physical requirement.</a:t>
            </a:r>
          </a:p>
          <a:p>
            <a:r>
              <a:rPr sz="1200">
                <a:latin typeface="Arial"/>
              </a:rPr>
              <a:t>• The investigators separately examined the first test session because repeated trials could teach a specific escape response. Early successful transfers were common, and some occurred on the first trial, reducing the explanation that success required extensive training within the experiment.</a:t>
            </a:r>
          </a:p>
          <a:p>
            <a:r>
              <a:rPr sz="1200">
                <a:latin typeface="Arial"/>
              </a:rPr>
              <a:t>• Prior handling and transfer experience was not absent. The evidence supports practical sensitivity to self-obstruction under these conditions, while leaving open how the relationship was represented and whether it generalizes to novel body–object problems outside the tested setting.</a:t>
            </a:r>
          </a:p>
          <a:p>
            <a:r>
              <a:rPr sz="1200">
                <a:latin typeface="Arial"/>
              </a:rPr>
              <a:t>  – Early performance weakens one particular learning explanation; it does not establish that an elephant had no relevant experience before entering the experiment.</a:t>
            </a:r>
          </a:p>
          <a:p/>
          <a:p>
            <a:r>
              <a:rPr sz="1200">
                <a:latin typeface="Arial"/>
              </a:rPr>
              <a:t>References:</a:t>
            </a:r>
          </a:p>
          <a:p>
            <a:r>
              <a:rPr sz="1200">
                <a:latin typeface="Arial"/>
              </a:rPr>
              <a:t>Rachel Dale, Joshua M. Plotnik (2017). Elephants know when their bodies are obstacles to success in a novel transfer task. Scientific Reports 7: 46309. </a:t>
            </a:r>
            <a:r>
              <a:rPr sz="1200">
                <a:latin typeface="Arial"/>
                <a:hlinkClick r:id="rId3"/>
              </a:rPr>
              <a:t>https://doi.org/10.1038/srep46309</a:t>
            </a:r>
          </a:p>
          <a:p/>
          <a:p>
            <a:r>
              <a:rPr sz="1200">
                <a:latin typeface="Arial"/>
              </a:rPr>
              <a:t>Figure: Dale &amp; Plotnik (2017), Fig. 2. Mat departure in test and control conditions.</a:t>
            </a:r>
          </a:p>
          <a:p>
            <a:r>
              <a:rPr sz="1200">
                <a:latin typeface="Arial"/>
              </a:rPr>
              <a:t>Figure source: </a:t>
            </a:r>
            <a:r>
              <a:rPr sz="1200">
                <a:latin typeface="Arial"/>
                <a:hlinkClick r:id="rId3"/>
              </a:rPr>
              <a:t>https://doi.org/10.1038/srep46309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Von Economo neurons, or VENs, are identified here by an elongated spindle-shaped cell body with one large apical dendrite and one large basal dendrite, with little branching near the soma. Dendrites are neuronal processes that receive and integrate synaptic input.</a:t>
            </a:r>
          </a:p>
          <a:p>
            <a:r>
              <a:rPr sz="1200">
                <a:latin typeface="Arial"/>
              </a:rPr>
              <a:t>• Hakeem and colleagues examined postmortem elephant cortex using Nissl staining, which reveals cell bodies and cortical architecture. Cells with this morphology occurred in African elephant frontoinsular and dorsolateral frontal tissue and in Asian elephant anterior cingulate tissue.</a:t>
            </a:r>
          </a:p>
          <a:p>
            <a:r>
              <a:rPr sz="1200">
                <a:latin typeface="Arial"/>
              </a:rPr>
              <a:t>• Shape and regional location establish an anatomical cell category in these specimens. They do not measure synaptic input, firing rate or transmitter release. A proposal that these cells rapidly transmit socially important information remained an interpretation requiring direct physiological and connectional tests.</a:t>
            </a:r>
          </a:p>
          <a:p>
            <a:r>
              <a:rPr sz="1200">
                <a:latin typeface="Arial"/>
              </a:rPr>
              <a:t>  – The apical process points toward the cortical surface and the basal process toward deeper tissue; bipolar morphology should not be confused with a complete map of the cell’s axonal targets.</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1(A–E). Original elephant and dolphin VEN photomicrographs.</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frontoinsular cortex, abbreviated FI, is a cortical region at the frontal–insular transition. Hakeem and colleagues mapped VEN locations in serial Nissl-stained sections rather than assigning cells from overall brain size or presumed social intelligence.</a:t>
            </a:r>
          </a:p>
          <a:p>
            <a:r>
              <a:rPr sz="1200">
                <a:latin typeface="Arial"/>
              </a:rPr>
              <a:t>• The largest elephant VEN concentration occupied tissue comparable in location to FI in humans and apes. VENs were more prevalent near gyral crowns and sparse near sulcal depths. A gyrus is a cortical fold’s raised part; a sulcus is the intervening groove.</a:t>
            </a:r>
          </a:p>
          <a:p>
            <a:r>
              <a:rPr sz="1200">
                <a:latin typeface="Arial"/>
              </a:rPr>
              <a:t>• Regional concentration and folding relationships support organized distribution rather than uniform scattering across cortex. The anatomical correspondence does not establish identical human and elephant functions, and no FI activity was recorded during social decisions in this study.</a:t>
            </a:r>
          </a:p>
          <a:p>
            <a:r>
              <a:rPr sz="1200">
                <a:latin typeface="Arial"/>
              </a:rPr>
              <a:t>  – The source’s dots are the authors’ mapped cell locations in a tissue section, not behavioral activation signals or a reconstructed map made for the lecture.</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2(A–B). Nissl section and original frontoinsular distribution map.</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anterior cingulate cortex, or ACC, lies on the medial cerebral surface. Hakeem and colleagues found VENs in subgenual anterior cingulate tissue and documented the same morphology in an Asian elephant ACC specimen, at lower density than in FI.</a:t>
            </a:r>
          </a:p>
          <a:p>
            <a:r>
              <a:rPr sz="1200">
                <a:latin typeface="Arial"/>
              </a:rPr>
              <a:t>• Earlier tissue removal limited mapping in parts of ACC and in one hemisphere. Such incomplete sampling matters when distinguishing a sparse population from an unexamined region. The paper’s regional descriptions are based on available histology, not a complete functional atlas.</a:t>
            </a:r>
          </a:p>
          <a:p>
            <a:r>
              <a:rPr sz="1200">
                <a:latin typeface="Arial"/>
              </a:rPr>
              <a:t>• Connections between ACC, social awareness and emotional evaluation were discussed largely from comparative human evidence. The elephant specimens establish cellular presence; they do not establish that ACC VENs are necessary for reassurance, cooperation or mirror-guided self-investigation.</a:t>
            </a:r>
          </a:p>
          <a:p>
            <a:r>
              <a:rPr sz="1200">
                <a:latin typeface="Arial"/>
              </a:rPr>
              <a:t>  – Subgenual refers to a position beneath the genu, the curved anterior part of the corpus callosum; a regional analogy does not by itself prove functional equivalence.</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1(C). Original anterior cingulate VEN; 70 µm scale bar.</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Hakeem and colleagues also identified VENs in a dorsolateral frontal cortical area, located toward the upper outer frontal surface. The original photomicrograph includes both paired and isolated cells with elongated bodies and prominent opposing dendrites.</a:t>
            </a:r>
          </a:p>
          <a:p>
            <a:r>
              <a:rPr sz="1200">
                <a:latin typeface="Arial"/>
              </a:rPr>
              <a:t>• The investigators searched the frontal cortex in mounted stained sections, using cell morphology to identify candidate VENs. Additional small populations occurred in other frontal locations, so the reported specialization was not confined to one precisely bounded frontoinsular field.</a:t>
            </a:r>
          </a:p>
          <a:p>
            <a:r>
              <a:rPr sz="1200">
                <a:latin typeface="Arial"/>
              </a:rPr>
              <a:t>• This wider distribution complicates claims that one cell shape corresponds to a single social function. The study did not determine elephant-specific projection targets, neurotransmitter identities or response selectivity. Similar morphology across regions is evidence of a shared anatomical feature, not proof of identical circuitry.</a:t>
            </a:r>
          </a:p>
          <a:p>
            <a:r>
              <a:rPr sz="1200">
                <a:latin typeface="Arial"/>
              </a:rPr>
              <a:t>  – The dorsolateral designation is a positional description from the anatomical study; it should not be equated automatically with a experimentally mapped executive-control area in elephants.</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1(A–E). Dorsolateral frontal VENs in panel B.</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cortical layer is a band defined by differences in cell composition and arrangement through cortical depth. In the mapped elephant FI region, VENs occurred primarily in layer 5, alongside other large neurons with different shapes.</a:t>
            </a:r>
          </a:p>
          <a:p>
            <a:r>
              <a:rPr sz="1200">
                <a:latin typeface="Arial"/>
              </a:rPr>
              <a:t>• Serial sections and higher-magnification inspection connected cell morphology to laminar position. The authors also described dense clusters beneath the cortex as possible “claustral islands”; that identification was proposed from their location and appearance rather than established by tracing connections.</a:t>
            </a:r>
          </a:p>
          <a:p>
            <a:r>
              <a:rPr sz="1200">
                <a:latin typeface="Arial"/>
              </a:rPr>
              <a:t>• Laminar position provides a hypothesis about participation in cortical output, but does not reveal an elephant VEN’s exact target or synaptic effect. Neither the source’s section map nor its photomicrograph records active information flow through a social-decision circuit.</a:t>
            </a:r>
          </a:p>
          <a:p>
            <a:r>
              <a:rPr sz="1200">
                <a:latin typeface="Arial"/>
              </a:rPr>
              <a:t>  – The claustrum label was tentative in this paper. The dense clusters should remain candidate anatomical counterparts rather than being taught as a confirmed circuit node.</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4. VEN distribution and layers in a frontoinsular gyrus.</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Stereology estimates cell abundance from systematically sampled tissue rather than counting only conspicuous cells in a selected image. Hakeem and colleagues used this approach to estimate frontoinsular VEN numbers in the two hemispheres of one African elephant.</a:t>
            </a:r>
          </a:p>
          <a:p>
            <a:r>
              <a:rPr sz="1200">
                <a:latin typeface="Arial"/>
              </a:rPr>
              <a:t>• The estimates were approximately 10,200 VENs on the right and 9,110 on the left. The proportions differed more sharply: about 0.78% of counted neurons in the relevant right FI layers versus 2.6% on the left, which was smaller but more densely populated.</a:t>
            </a:r>
          </a:p>
          <a:p>
            <a:r>
              <a:rPr sz="1200">
                <a:latin typeface="Arial"/>
              </a:rPr>
              <a:t>• Absolute abundance and regional percentage therefore answer different questions. These estimates do not establish a population-wide hemispheric rule, greater intelligence on one side, or a relationship between an individual’s VEN number and its measured social behavior.</a:t>
            </a:r>
          </a:p>
          <a:p>
            <a:r>
              <a:rPr sz="1200">
                <a:latin typeface="Arial"/>
              </a:rPr>
              <a:t>  – The denominator refers to neurons in the sampled VEN-containing frontoinsular layers, not all neurons in the cerebral hemisphere or the entire elephant brain.</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2(A–B). Original tissue basis for regional VEN estimates.</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Convergent evolution is the independent emergence of similar traits in lineages without a recent shared origin of that trait. Hakeem and colleagues compared elephant VEN morphology with cells reported in hominids and cetaceans and examined several other mammalian groups.</a:t>
            </a:r>
          </a:p>
          <a:p>
            <a:r>
              <a:rPr sz="1200">
                <a:latin typeface="Arial"/>
              </a:rPr>
              <a:t>• Comparable elongated cells occurred in the elephant material and the dolphin comparison, while the surveyed close relatives generally lacked comparable VEN populations. The authors proposed independent emergence associated with large brains and possibly demands for rapid long-distance information transmission.</a:t>
            </a:r>
          </a:p>
          <a:p>
            <a:r>
              <a:rPr sz="1200">
                <a:latin typeface="Arial"/>
              </a:rPr>
              <a:t>• The comparative distribution supports an evolutionary hypothesis, not a demonstrated conduction mechanism. Axon dimensions, connection targets and conduction times were not measured in the elephant cells. Nor does a shared cell shape establish equal cognitive capacities across these distantly related animals.</a:t>
            </a:r>
          </a:p>
          <a:p>
            <a:r>
              <a:rPr sz="1200">
                <a:latin typeface="Arial"/>
              </a:rPr>
              <a:t>  – The source’s dolphin panel is a real comparative specimen. It must not be identified as an elephant neuron merely because the slide centers on elephant neurobiology.</a:t>
            </a:r>
          </a:p>
          <a:p/>
          <a:p>
            <a:r>
              <a:rPr sz="1200">
                <a:latin typeface="Arial"/>
              </a:rPr>
              <a:t>References:</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3"/>
              </a:rPr>
              <a:t>https://doi.org/10.1002/ar.20829</a:t>
            </a:r>
          </a:p>
          <a:p/>
          <a:p>
            <a:r>
              <a:rPr sz="1200">
                <a:latin typeface="Arial"/>
              </a:rPr>
              <a:t>Figure: Hakeem et al. (2009), Fig. 1(A–E). Elephant VENs and a bottlenose dolphin comparison.</a:t>
            </a:r>
          </a:p>
          <a:p>
            <a:r>
              <a:rPr sz="1200">
                <a:latin typeface="Arial"/>
              </a:rPr>
              <a:t>Figure source: </a:t>
            </a:r>
            <a:r>
              <a:rPr sz="1200">
                <a:latin typeface="Arial"/>
                <a:hlinkClick r:id="rId3"/>
              </a:rPr>
              <a:t>https://doi.org/10.1002/ar.20829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Jacobs and colleagues examined cortical tissue from a stillborn African elephant and a newborn giraffe. The elephant brain weighed 1,745 g; these specimens represent an early developmental stage, not normal adult brain size or an adult cognitive performance comparison.</a:t>
            </a:r>
          </a:p>
          <a:p>
            <a:r>
              <a:rPr sz="1200">
                <a:latin typeface="Arial"/>
              </a:rPr>
              <a:t>• Samples came from elephant frontal, motor and occipital cortex, with anatomical locations documented before staining. Blocks were approximately 3–5 mm thick. Comparing defined regions reduced ambiguity about where the analyzed neuronal forms originated.</a:t>
            </a:r>
          </a:p>
          <a:p>
            <a:r>
              <a:rPr sz="1200">
                <a:latin typeface="Arial"/>
              </a:rPr>
              <a:t>• The design permits comparisons of cellular morphology across species and developmental datasets. The sampling outlines used adult brains because newborn specimens were fragmented; clinical history and fixation also limit inference. Newborn architecture cannot by itself identify the neural basis of the adult’s learned vocal repertoire or social experience.</a:t>
            </a:r>
          </a:p>
          <a:p>
            <a:r>
              <a:rPr sz="1200">
                <a:latin typeface="Arial"/>
              </a:rPr>
              <a:t>  – The figure includes both species; elephant tissue-sampling locations are in panel B. Occipital tissue was designated putative visual cortex from anatomical position.</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1(A–B). Sampling locations on adult-based outlines, with newborn brain weights.</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Golgi method impregnates a subset of neurons so that their cell bodies and dendritic branches can be examined against relatively unstained tissue. Jacobs and colleagues used a modified Golgi technique and computer-assisted tracing of newborn elephant cortical neurons.</a:t>
            </a:r>
          </a:p>
          <a:p>
            <a:r>
              <a:rPr sz="1200">
                <a:latin typeface="Arial"/>
              </a:rPr>
              <a:t>• Selection favored neurons whose processes could be followed and were not excessively obscured or truncated. The source’s motor-cortex tracings retain the positions of cell bodies relative to the pial surface, the outer cortical boundary. Different morphologies occupied overlapping rather than perfectly isolated depths.</a:t>
            </a:r>
          </a:p>
          <a:p>
            <a:r>
              <a:rPr sz="1200">
                <a:latin typeface="Arial"/>
              </a:rPr>
              <a:t>• Selective staining provides detailed shape information but is not a census of all cell types. An anatomical tracing neither establishes which synapses were functional nor measures electrical responses. Selected cells had to permit reliable tracing of branches within the tissue section.</a:t>
            </a:r>
          </a:p>
          <a:p>
            <a:r>
              <a:rPr sz="1200">
                <a:latin typeface="Arial"/>
              </a:rPr>
              <a:t>  – Because Golgi impregnation samples only some cells, relative frequency in the selected tracing dataset must not be treated as the proportion of every neuronal class in the brain.</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10(A–Q). Published motor-cortex neuron tracings and depth scale.</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pyramidal neuron typically has a prominent apical dendrite and several basal dendrites. Jacobs and colleagues described elephant forms whose apical dendrites bifurcated widely or extended laterally, including flattened pyramidal neurons distinct from a narrow upright configuration.</a:t>
            </a:r>
          </a:p>
          <a:p>
            <a:r>
              <a:rPr sz="1200">
                <a:latin typeface="Arial"/>
              </a:rPr>
              <a:t>• The newborn frontal material already contained multiple projection-neuron morphologies. Published tracings placed these forms within cortical depth and supported comparisons with ordinary pyramidal and inverted pyramidal cells, rather than assuming one canonical cortical shape.</a:t>
            </a:r>
          </a:p>
          <a:p>
            <a:r>
              <a:rPr sz="1200">
                <a:latin typeface="Arial"/>
              </a:rPr>
              <a:t>• A wider dendritic configuration could sample inputs over a different tissue extent, but the study did not map the actual presynaptic partners. Morphological diversity is established; a particular role in elephant social learning, vocal imitation or behavioral flexibility is not established by these images.</a:t>
            </a:r>
          </a:p>
          <a:p>
            <a:r>
              <a:rPr sz="1200">
                <a:latin typeface="Arial"/>
              </a:rPr>
              <a:t>  – A projection neuron sends an axon to other tissue, but assigning a morphological class does not specify the complete route or behavioral function of that axon.</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11(A–O). Original newborn frontal-cortex neuronal reconstructions.</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Multipolar neurons have several processes extending from the cell body rather than one dominant apical and one basal dendrite. The newborn elephant frontal tissue contained nonpyramidal multipolar forms alongside inverted pyramidal, flattened pyramidal and other configurations.</a:t>
            </a:r>
          </a:p>
          <a:p>
            <a:r>
              <a:rPr sz="1200">
                <a:latin typeface="Arial"/>
              </a:rPr>
              <a:t>• Jacobs and colleagues documented these cells in Golgi photomicrographs and traced their dendritic trees. The photomicrographs preserve the actual tissue appearance, while the source’s companion reconstructions aid comparisons of branching geometry and cortical position.</a:t>
            </a:r>
          </a:p>
          <a:p>
            <a:r>
              <a:rPr sz="1200">
                <a:latin typeface="Arial"/>
              </a:rPr>
              <a:t>• The study reported greater morphological variety among elephant projection cells than in the newborn giraffe material. This is a comparison of sampled stained neurons, not an experimental demonstration that each additional shape supplies a distinct cognitive operation. Axonal targets and activity during behavior remain unresolved.</a:t>
            </a:r>
          </a:p>
          <a:p>
            <a:r>
              <a:rPr sz="1200">
                <a:latin typeface="Arial"/>
              </a:rPr>
              <a:t>  – Inverted pyramidal refers to a cell whose prominent dendritic orientation differs from the usual surface-directed configuration; it is an anatomical description, not a reversed flow of synaptic signaling.</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6(A–J). Original frontal-cortex Golgi photomicrographs.</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Dendritic spines are small protrusions on dendrites that commonly receive synaptic contacts. Jacobs and colleagues measured spine distributions along traced dendritic segments, using spine density to describe the number of visible spines per unit dendritic length.</a:t>
            </a:r>
          </a:p>
          <a:p>
            <a:r>
              <a:rPr sz="1200">
                <a:latin typeface="Arial"/>
              </a:rPr>
              <a:t>• Several newborn local-circuit morphologies carried spines despite comparatively aspiny adult counterparts. The source compared spine-density profiles by cell type and distance from the soma, revealing that developing neuronal surface organization is not simply a scaled-down adult configuration.</a:t>
            </a:r>
          </a:p>
          <a:p>
            <a:r>
              <a:rPr sz="1200">
                <a:latin typeface="Arial"/>
              </a:rPr>
              <a:t>• Visible spines are structural observations, not measurements of synaptic strength, release probability or receptor composition. The authors discussed maturation of presumed inhibitory and excitatory classes comparatively, but transmitter identity and functional inhibition were not established by the Golgi staining itself.</a:t>
            </a:r>
          </a:p>
          <a:p>
            <a:r>
              <a:rPr sz="1200">
                <a:latin typeface="Arial"/>
              </a:rPr>
              <a:t>  – The soma is the neuronal cell body. The plotted distance is along the dendritic extent; a density profile does not directly measure how many behavioral associations the animal has learned.</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16(A–D). Published spine-density profiles across distance and age.</a:t>
            </a:r>
          </a:p>
          <a:p>
            <a:r>
              <a:rPr sz="1200">
                <a:latin typeface="Arial"/>
              </a:rPr>
              <a:t>Figure source: </a:t>
            </a:r>
            <a:r>
              <a:rPr sz="1200">
                <a:latin typeface="Arial"/>
                <a:hlinkClick r:id="rId3"/>
              </a:rPr>
              <a:t>https://doi.org/10.1002/cne.23841</a:t>
            </a:r>
          </a:p>
          <a:p/>
          <a:p>
            <a:r>
              <a:rPr sz="1200">
                <a:latin typeface="Arial"/>
              </a:rPr>
              <a:t>Figure: Jacobs et al. (2016), Fig. 5(B). Golgi-stained dendritic spines; original 10 µm scale bar.</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Total dendritic length sums the lengths of the traced branches in a neuronal tree. Jacobs and colleagues compared newborn elephant cells with previously collected adult material using a matched subset of neuronal types.</a:t>
            </a:r>
          </a:p>
          <a:p>
            <a:r>
              <a:rPr sz="1200">
                <a:latin typeface="Arial"/>
              </a:rPr>
              <a:t>• Adult projection cells had more extensive dendrites: reported total lengths were approximately 32% greater for pyramidal, 36% greater for flattened pyramidal and 30% greater for nonpyramidal multipolar neurons. In contrast, the compared interneuron dendritic lengths were not similarly enlarged in adults.</a:t>
            </a:r>
          </a:p>
          <a:p>
            <a:r>
              <a:rPr sz="1200">
                <a:latin typeface="Arial"/>
              </a:rPr>
              <a:t>• These cross-sectional differences support prolonged growth of projection-neuron dendritic systems. They do not track the same cells through development, and they cannot separate maturation from particular social or sensory experiences. Structural growth should not be equated automatically with a measured increase in cognitive competence.</a:t>
            </a:r>
          </a:p>
          <a:p>
            <a:r>
              <a:rPr sz="1200">
                <a:latin typeface="Arial"/>
              </a:rPr>
              <a:t>  – The adult comparison is published within this uploaded source; it is used as that paper’s comparison rather than as an independent reanalysis of the unavailable earlier adult paper.</a:t>
            </a:r>
          </a:p>
          <a:p/>
          <a:p>
            <a:r>
              <a:rPr sz="1200">
                <a:latin typeface="Arial"/>
              </a:rPr>
              <a:t>References:</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3"/>
              </a:rPr>
              <a:t>https://doi.org/10.1002/cne.23841</a:t>
            </a:r>
          </a:p>
          <a:p/>
          <a:p>
            <a:r>
              <a:rPr sz="1200">
                <a:latin typeface="Arial"/>
              </a:rPr>
              <a:t>Figure: Jacobs et al. (2016), Fig. 15. Newborn and adult elephant dendritic-length comparisons.</a:t>
            </a:r>
          </a:p>
          <a:p>
            <a:r>
              <a:rPr sz="1200">
                <a:latin typeface="Arial"/>
              </a:rPr>
              <a:t>Figure source: </a:t>
            </a:r>
            <a:r>
              <a:rPr sz="1200">
                <a:latin typeface="Arial"/>
                <a:hlinkClick r:id="rId3"/>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Vocal production learning is modification of the sounds an animal produces through experience of an acoustic model. Poole and colleagues recorded truck-like calls from Mlaika, an adolescent African elephant whose night enclosure was approximately 3 km from a major highway.</a:t>
            </a:r>
          </a:p>
          <a:p>
            <a:r>
              <a:rPr sz="1200">
                <a:latin typeface="Arial"/>
              </a:rPr>
              <a:t>• Her imitations resembled recorded truck sounds in duration and fundamental-frequency characteristics while differing from ordinary African elephant calls. Fundamental frequency is the repetition rate underlying a periodic vocal sound, represented by its lowest harmonic when detectable.</a:t>
            </a:r>
          </a:p>
          <a:p>
            <a:r>
              <a:rPr sz="1200">
                <a:latin typeface="Arial"/>
              </a:rPr>
              <a:t>• The calls were no more similar to simultaneously recorded trucks than to trucks recorded at other times, favoring imitation of general acoustic features rather than exact immediate copying. The case establishes an unusual learned production pattern, not its neural pathway or prevalence in wild elephants.</a:t>
            </a:r>
          </a:p>
          <a:p>
            <a:r>
              <a:rPr sz="1200">
                <a:latin typeface="Arial"/>
              </a:rPr>
              <a:t>  – A spectrogram retains time, frequency and signal-energy information from the actual recordings; no synthetic truck or elephant signal has been added.</a:t>
            </a:r>
          </a:p>
          <a:p/>
          <a:p>
            <a:r>
              <a:rPr sz="1200">
                <a:latin typeface="Arial"/>
              </a:rPr>
              <a:t>References:</a:t>
            </a:r>
          </a:p>
          <a:p>
            <a:r>
              <a:rPr sz="1200">
                <a:latin typeface="Arial"/>
              </a:rPr>
              <a:t>Joyce H. Poole, Peter L. Tyack, Angela S. Stoeger-Horwath, Stephanie Watwood (2005). Elephants are capable of vocal learning. Nature 434: 455-456. </a:t>
            </a:r>
            <a:r>
              <a:rPr sz="1200">
                <a:latin typeface="Arial"/>
                <a:hlinkClick r:id="rId3"/>
              </a:rPr>
              <a:t>https://doi.org/10.1038/434455a</a:t>
            </a:r>
          </a:p>
          <a:p/>
          <a:p>
            <a:r>
              <a:rPr sz="1200">
                <a:latin typeface="Arial"/>
              </a:rPr>
              <a:t>Figure: Poole et al. (2005), Fig. 1(a–d). Truck and elephant models with their imitations.</a:t>
            </a:r>
          </a:p>
          <a:p>
            <a:r>
              <a:rPr sz="1200">
                <a:latin typeface="Arial"/>
              </a:rPr>
              <a:t>Figure source: </a:t>
            </a:r>
            <a:r>
              <a:rPr sz="1200">
                <a:latin typeface="Arial"/>
                <a:hlinkClick r:id="rId3"/>
              </a:rPr>
              <a:t>https://doi.org/10.1038/434455a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Heterospecific imitation copies a sound associated with another species. Poole and colleagues described Calimero, an African male elephant that had lived for 18 years with Asian female elephants and produced chirp-like sounds unusual for African elephants.</a:t>
            </a:r>
          </a:p>
          <a:p>
            <a:r>
              <a:rPr sz="1200">
                <a:latin typeface="Arial"/>
              </a:rPr>
              <a:t>• His chirps resembled the Asian models in acoustic comparisons and differed from ordinary African adult, adolescent and calf calls. The authors analyzed duration and frequency-related properties, rather than relying only on a listener’s impression that the calls sounded similar.</a:t>
            </a:r>
          </a:p>
          <a:p>
            <a:r>
              <a:rPr sz="1200">
                <a:latin typeface="Arial"/>
              </a:rPr>
              <a:t>• Long-term social exposure is consistent with learning a companion-associated vocal pattern. The record was not a randomized exposure experiment, so it does not establish that social bonding caused the change or that every African elephant would imitate chirps under comparable housing conditions.</a:t>
            </a:r>
          </a:p>
          <a:p>
            <a:r>
              <a:rPr sz="1200">
                <a:latin typeface="Arial"/>
              </a:rPr>
              <a:t>  – The comparison separates similarity to the Asian model from similarity to the producing animal’s normal species repertoire; the inference concerns acoustic form, not inferred word meaning.</a:t>
            </a:r>
          </a:p>
          <a:p/>
          <a:p>
            <a:r>
              <a:rPr sz="1200">
                <a:latin typeface="Arial"/>
              </a:rPr>
              <a:t>References:</a:t>
            </a:r>
          </a:p>
          <a:p>
            <a:r>
              <a:rPr sz="1200">
                <a:latin typeface="Arial"/>
              </a:rPr>
              <a:t>Joyce H. Poole, Peter L. Tyack, Angela S. Stoeger-Horwath, Stephanie Watwood (2005). Elephants are capable of vocal learning. Nature 434: 455-456. </a:t>
            </a:r>
            <a:r>
              <a:rPr sz="1200">
                <a:latin typeface="Arial"/>
                <a:hlinkClick r:id="rId3"/>
              </a:rPr>
              <a:t>https://doi.org/10.1038/434455a</a:t>
            </a:r>
          </a:p>
          <a:p/>
          <a:p>
            <a:r>
              <a:rPr sz="1200">
                <a:latin typeface="Arial"/>
              </a:rPr>
              <a:t>Figure: Poole et al. (2005), Fig. 2(a–c). Acoustic comparisons of ordinary calls and imitations.</a:t>
            </a:r>
          </a:p>
          <a:p>
            <a:r>
              <a:rPr sz="1200">
                <a:latin typeface="Arial"/>
              </a:rPr>
              <a:t>Figure source: </a:t>
            </a:r>
            <a:r>
              <a:rPr sz="1200">
                <a:latin typeface="Arial"/>
                <a:hlinkClick r:id="rId3"/>
              </a:rPr>
              <a:t>https://doi.org/10.1038/434455a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Poole study compared imitations with both their proposed models and ordinary elephant vocalizations. Including adult, adolescent and calf calls reduced the explanation that an unusual imitation was simply an age-related or sex-related member of the normal repertoire.</a:t>
            </a:r>
          </a:p>
          <a:p>
            <a:r>
              <a:rPr sz="1200">
                <a:latin typeface="Arial"/>
              </a:rPr>
              <a:t>• Mlaika’s truck-like calls occupied acoustic space near truck sounds, whereas Calimero’s chirp-like calls resembled Asian chirps. The published multidimensional comparisons summarize combinations of acoustic features; their axes are not anatomical brain dimensions or measures of intelligence.</a:t>
            </a:r>
          </a:p>
          <a:p>
            <a:r>
              <a:rPr sz="1200">
                <a:latin typeface="Arial"/>
              </a:rPr>
              <a:t>• Evidence of acoustic matching supports experience-related flexibility in vocal production. It does not identify whether changes were learned through spontaneous practice, reinforcement or another route. The authors’ social-bond hypothesis explains a possible adaptive function, while the measured result remains the altered call structure.</a:t>
            </a:r>
          </a:p>
          <a:p>
            <a:r>
              <a:rPr sz="1200">
                <a:latin typeface="Arial"/>
              </a:rPr>
              <a:t>  – The plotted color categories distinguish model sounds, ordinary species calls and the imitations; the comparison depends on measured acoustic properties rather than a listener’s label.</a:t>
            </a:r>
          </a:p>
          <a:p/>
          <a:p>
            <a:r>
              <a:rPr sz="1200">
                <a:latin typeface="Arial"/>
              </a:rPr>
              <a:t>References:</a:t>
            </a:r>
          </a:p>
          <a:p>
            <a:r>
              <a:rPr sz="1200">
                <a:latin typeface="Arial"/>
              </a:rPr>
              <a:t>Joyce H. Poole, Peter L. Tyack, Angela S. Stoeger-Horwath, Stephanie Watwood (2005). Elephants are capable of vocal learning. Nature 434: 455-456. </a:t>
            </a:r>
            <a:r>
              <a:rPr sz="1200">
                <a:latin typeface="Arial"/>
                <a:hlinkClick r:id="rId3"/>
              </a:rPr>
              <a:t>https://doi.org/10.1038/434455a</a:t>
            </a:r>
          </a:p>
          <a:p/>
          <a:p>
            <a:r>
              <a:rPr sz="1200">
                <a:latin typeface="Arial"/>
              </a:rPr>
              <a:t>Figure: Poole et al. (2005), Fig. 2(a–c). Original frequency-duration and multivariate comparisons.</a:t>
            </a:r>
          </a:p>
          <a:p>
            <a:r>
              <a:rPr sz="1200">
                <a:latin typeface="Arial"/>
              </a:rPr>
              <a:t>Figure source: </a:t>
            </a:r>
            <a:r>
              <a:rPr sz="1200">
                <a:latin typeface="Arial"/>
                <a:hlinkClick r:id="rId3"/>
              </a:rPr>
              <a:t>https://doi.org/10.1038/434455a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Elephant fission–fusion societies involve groups that separate and reunite while maintaining longer-lasting relationships. Poole and colleagues proposed that vocal convergence could help sustain individual-specific bonds when companions are not continuously together.</a:t>
            </a:r>
          </a:p>
          <a:p>
            <a:r>
              <a:rPr sz="1200">
                <a:latin typeface="Arial"/>
              </a:rPr>
              <a:t>• Calimero’s resemblance to Asian companions supplies a social context for this proposal, whereas Mlaika’s truck imitation establishes flexibility beyond ordinary social calls. Neither case manipulated bond strength or measured a subsequent improvement in recognition or affiliation.</a:t>
            </a:r>
          </a:p>
          <a:p>
            <a:r>
              <a:rPr sz="1200">
                <a:latin typeface="Arial"/>
              </a:rPr>
              <a:t>• A capacity and its evolutionary function are different claims. The documented imitations establish learned acoustic flexibility in particular elephants. Selection for maintaining social contact remains a plausible adaptive explanation, requiring evidence that the resulting vocal changes affect communication or relationships in natural groups.</a:t>
            </a:r>
          </a:p>
          <a:p>
            <a:r>
              <a:rPr sz="1200">
                <a:latin typeface="Arial"/>
              </a:rPr>
              <a:t>  – Vocal convergence means becoming acoustically more similar. It should not be described as a demonstrated necessity for elephant bonding on the basis of these case records alone.</a:t>
            </a:r>
          </a:p>
          <a:p/>
          <a:p>
            <a:r>
              <a:rPr sz="1200">
                <a:latin typeface="Arial"/>
              </a:rPr>
              <a:t>References:</a:t>
            </a:r>
          </a:p>
          <a:p>
            <a:r>
              <a:rPr sz="1200">
                <a:latin typeface="Arial"/>
              </a:rPr>
              <a:t>Joyce H. Poole, Peter L. Tyack, Angela S. Stoeger-Horwath, Stephanie Watwood (2005). Elephants are capable of vocal learning. Nature 434: 455-456. </a:t>
            </a:r>
            <a:r>
              <a:rPr sz="1200">
                <a:latin typeface="Arial"/>
                <a:hlinkClick r:id="rId3"/>
              </a:rPr>
              <a:t>https://doi.org/10.1038/434455a</a:t>
            </a:r>
          </a:p>
          <a:p/>
          <a:p>
            <a:r>
              <a:rPr sz="1200">
                <a:latin typeface="Arial"/>
              </a:rPr>
              <a:t>Figure: Poole et al. (2005), Fig. 2(a–c). Published comparisons underlying the vocal-learning inference.</a:t>
            </a:r>
          </a:p>
          <a:p>
            <a:r>
              <a:rPr sz="1200">
                <a:latin typeface="Arial"/>
              </a:rPr>
              <a:t>Figure source: </a:t>
            </a:r>
            <a:r>
              <a:rPr sz="1200">
                <a:latin typeface="Arial"/>
                <a:hlinkClick r:id="rId3"/>
              </a:rPr>
              <a:t>https://doi.org/10.1038/434455a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Stoeger and colleagues analyzed Koshik, an Asian elephant producing speech-like Korean sounds. He inserted his trunk tip into his mouth from the right and raised his lower jaw during phonation. Phonation is production of the periodic source sound by the vocal apparatus.</a:t>
            </a:r>
          </a:p>
          <a:p>
            <a:r>
              <a:rPr sz="1200">
                <a:latin typeface="Arial"/>
              </a:rPr>
              <a:t>• Trunk insertion occurred about 0.3 s before vocal onset, and removal about 0.4 s after vocalization. The coordinated movement changed the vocal-tract configuration rather than simply emitting an ordinary elephant call in response to a spoken command.</a:t>
            </a:r>
          </a:p>
          <a:p>
            <a:r>
              <a:rPr sz="1200">
                <a:latin typeface="Arial"/>
              </a:rPr>
              <a:t>• The authors inferred that the trunk helped overcome anatomical constraints on vowel production. Without internal imaging they could not determine whether tongue movements also contributed. The external movement sequence was documented together with measured acoustic changes.</a:t>
            </a:r>
          </a:p>
          <a:p>
            <a:r>
              <a:rPr sz="1200">
                <a:latin typeface="Arial"/>
              </a:rPr>
              <a:t>  – The researchers documented external articulation but lacked internal X-ray imaging, so the contribution of tongue movements remained unresolved.</a:t>
            </a:r>
          </a:p>
          <a:p/>
          <a:p>
            <a:r>
              <a:rPr sz="1200">
                <a:latin typeface="Arial"/>
              </a:rPr>
              <a:t>References:</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3"/>
              </a:rPr>
              <a:t>https://doi.org/10.1016/j.cub.2012.09.022</a:t>
            </a:r>
          </a:p>
          <a:p/>
          <a:p>
            <a:r>
              <a:rPr sz="1200">
                <a:latin typeface="Arial"/>
              </a:rPr>
              <a:t>Figure: Stoeger et al. (2012), Fig. 3(A–D). Original articulation panel and formant measurements.</a:t>
            </a:r>
          </a:p>
          <a:p>
            <a:r>
              <a:rPr sz="1200">
                <a:latin typeface="Arial"/>
              </a:rPr>
              <a:t>Figure source: </a:t>
            </a:r>
            <a:r>
              <a:rPr sz="1200">
                <a:latin typeface="Arial"/>
                <a:hlinkClick r:id="rId3"/>
              </a:rPr>
              <a:t>https://doi.org/10.1016/j.cub.2012.09.022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Formants are resonant frequency bands shaped by the vocal tract; they contribute to vowel quality. Fundamental frequency instead reflects the periodic source. Stoeger and colleagues compared both properties in Koshik’s imitations and Korean human utterances.</a:t>
            </a:r>
          </a:p>
          <a:p>
            <a:r>
              <a:rPr sz="1200">
                <a:latin typeface="Arial"/>
              </a:rPr>
              <a:t>• The word-like utterance “nuo” was recorded from a trainer, Koshik and an independent Korean speaker. Narrow-band and wide-band spectrograms retained the different information needed to distinguish harmonics from broader resonance patterns, with F1 and F2 marked in the original panels.</a:t>
            </a:r>
          </a:p>
          <a:p>
            <a:r>
              <a:rPr sz="1200">
                <a:latin typeface="Arial"/>
              </a:rPr>
              <a:t>• Matching formants requires control beyond simply producing a similar pitch. The recordings support detailed acoustic imitation, while not establishing that the elephant understood the human utterance’s meaning or that an elephant vocal tract normally produces the same vowels without modification.</a:t>
            </a:r>
          </a:p>
          <a:p>
            <a:r>
              <a:rPr sz="1200">
                <a:latin typeface="Arial"/>
              </a:rPr>
              <a:t>  – F1 and F2 are the first and second formants. Similar fundamental frequencies can occur with different formants, so source periodicity and vocal-tract filtering must remain separate concepts.</a:t>
            </a:r>
          </a:p>
          <a:p/>
          <a:p>
            <a:r>
              <a:rPr sz="1200">
                <a:latin typeface="Arial"/>
              </a:rPr>
              <a:t>References:</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3"/>
              </a:rPr>
              <a:t>https://doi.org/10.1016/j.cub.2012.09.022</a:t>
            </a:r>
          </a:p>
          <a:p/>
          <a:p>
            <a:r>
              <a:rPr sz="1200">
                <a:latin typeface="Arial"/>
              </a:rPr>
              <a:t>Figure: Stoeger et al. (2012), Fig. 1(A–F). Trainer, Koshik and independent speaker utterances.</a:t>
            </a:r>
          </a:p>
          <a:p>
            <a:r>
              <a:rPr sz="1200">
                <a:latin typeface="Arial"/>
              </a:rPr>
              <a:t>Figure source: </a:t>
            </a:r>
            <a:r>
              <a:rPr sz="1200">
                <a:latin typeface="Arial"/>
                <a:hlinkClick r:id="rId3"/>
              </a:rPr>
              <a:t>https://doi.org/10.1016/j.cub.2012.09.022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Stoeger and colleagues compared Koshik’s imitations with natural Asian elephant vocalizations recorded from animals of different ages and sexes in captive and wild settings. Duration, fundamental-frequency extremes and the first spectral peak or formant supplied acoustic comparison measures.</a:t>
            </a:r>
          </a:p>
          <a:p>
            <a:r>
              <a:rPr sz="1200">
                <a:latin typeface="Arial"/>
              </a:rPr>
              <a:t>• The imitations grouped with human model utterances and differed strongly from the natural Asian elephant calls. This control addresses the explanation that trainers merely assigned word labels to ordinary calls already present in the species’ repertoire.</a:t>
            </a:r>
          </a:p>
          <a:p>
            <a:r>
              <a:rPr sz="1200">
                <a:latin typeface="Arial"/>
              </a:rPr>
              <a:t>• The acoustic contrast supports production learning of a human-associated sound pattern. It does not establish how many other elephants could learn it, and the observed similarity does not determine which auditory or motor neurons are necessary to perceive, practice or reproduce the sounds.</a:t>
            </a:r>
          </a:p>
          <a:p>
            <a:r>
              <a:rPr sz="1200">
                <a:latin typeface="Arial"/>
              </a:rPr>
              <a:t>  – The original comparison uses combinations of measured acoustic features. Its plotted classification space is not a map of the elephant’s auditory cortex.</a:t>
            </a:r>
          </a:p>
          <a:p/>
          <a:p>
            <a:r>
              <a:rPr sz="1200">
                <a:latin typeface="Arial"/>
              </a:rPr>
              <a:t>References:</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3"/>
              </a:rPr>
              <a:t>https://doi.org/10.1016/j.cub.2012.09.022</a:t>
            </a:r>
          </a:p>
          <a:p/>
          <a:p>
            <a:r>
              <a:rPr sz="1200">
                <a:latin typeface="Arial"/>
              </a:rPr>
              <a:t>Figure: Stoeger et al. (2012), Fig. 2(A–B). Imitations, human models and natural elephant calls.</a:t>
            </a:r>
          </a:p>
          <a:p>
            <a:r>
              <a:rPr sz="1200">
                <a:latin typeface="Arial"/>
              </a:rPr>
              <a:t>Figure source: </a:t>
            </a:r>
            <a:r>
              <a:rPr sz="1200">
                <a:latin typeface="Arial"/>
                <a:hlinkClick r:id="rId3"/>
              </a:rPr>
              <a:t>https://doi.org/10.1016/j.cub.2012.09.022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Native Korean listeners transcribed Koshik’s recordings without being told the trainers’ proposed spellings or meanings. This blind transcription reduced the possibility that a suggested word would determine what listeners reported hearing.</a:t>
            </a:r>
          </a:p>
          <a:p>
            <a:r>
              <a:rPr sz="1200">
                <a:latin typeface="Arial"/>
              </a:rPr>
              <a:t>• The analysis supported five word-like imitations, with much better agreement for vowels than consonants: approximately 67% versus 21% overall. The trainers’ labels therefore did not correspond to equally accurate reproduction of every speech component.</a:t>
            </a:r>
          </a:p>
          <a:p>
            <a:r>
              <a:rPr sz="1200">
                <a:latin typeface="Arial"/>
              </a:rPr>
              <a:t>• The asymmetry fits the formant-matching evidence and places a concrete limit on imitation fidelity. Recognition by human listeners is an acoustic outcome, not proof of semantic understanding by the elephant. A remembered sound can be copied without representing the referent or instruction associated with a human word.</a:t>
            </a:r>
          </a:p>
          <a:p>
            <a:r>
              <a:rPr sz="1200">
                <a:latin typeface="Arial"/>
              </a:rPr>
              <a:t>  – Blind means the listeners were not given the expected answer. The experiment tested what humans could recover from the sound, not whether Koshik could define or productively combine words.</a:t>
            </a:r>
          </a:p>
          <a:p/>
          <a:p>
            <a:r>
              <a:rPr sz="1200">
                <a:latin typeface="Arial"/>
              </a:rPr>
              <a:t>References:</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3"/>
              </a:rPr>
              <a:t>https://doi.org/10.1016/j.cub.2012.09.022</a:t>
            </a:r>
          </a:p>
          <a:p/>
          <a:p>
            <a:r>
              <a:rPr sz="1200">
                <a:latin typeface="Arial"/>
              </a:rPr>
              <a:t>Figure: Stoeger et al. (2012), Fig. 1(A–F). Original speech-like utterance recordings.</a:t>
            </a:r>
          </a:p>
          <a:p>
            <a:r>
              <a:rPr sz="1200">
                <a:latin typeface="Arial"/>
              </a:rPr>
              <a:t>Figure source: </a:t>
            </a:r>
            <a:r>
              <a:rPr sz="1200">
                <a:latin typeface="Arial"/>
                <a:hlinkClick r:id="rId3"/>
              </a:rPr>
              <a:t>https://doi.org/10.1016/j.cub.2012.09.022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Koshik’s first two formants for commonly produced vowels resembled those of his trainers, despite the elephant’s much longer unmodified vocal tract. The observed trunk–mouth configuration supplied a distinctive way of adjusting the resonant filter during controlled sound production.</a:t>
            </a:r>
          </a:p>
          <a:p>
            <a:r>
              <a:rPr sz="1200">
                <a:latin typeface="Arial"/>
              </a:rPr>
              <a:t>• Matching a heard target requires a relationship between acoustic perception and motor output. The paper inferred transfer of auditory information to planning systems controlling phonation and trunk movement, based on the precision of the behavior and acoustic match.</a:t>
            </a:r>
          </a:p>
          <a:p>
            <a:r>
              <a:rPr sz="1200">
                <a:latin typeface="Arial"/>
              </a:rPr>
              <a:t>• That relationship is a functional inference, not a mapped elephant neural circuit. The study did not trace cortical projections or manipulate neurotransmitters, receptors or ion channels. A specific songbird-like pathway cannot be assigned to elephants from successful imitation alone.</a:t>
            </a:r>
          </a:p>
          <a:p>
            <a:r>
              <a:rPr sz="1200">
                <a:latin typeface="Arial"/>
              </a:rPr>
              <a:t>  – The measured link is between the acoustic target, coordinated movement and output sound. The intervening neural implementation remains a research question.</a:t>
            </a:r>
          </a:p>
          <a:p/>
          <a:p>
            <a:r>
              <a:rPr sz="1200">
                <a:latin typeface="Arial"/>
              </a:rPr>
              <a:t>References:</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3"/>
              </a:rPr>
              <a:t>https://doi.org/10.1016/j.cub.2012.09.022</a:t>
            </a:r>
          </a:p>
          <a:p/>
          <a:p>
            <a:r>
              <a:rPr sz="1200">
                <a:latin typeface="Arial"/>
              </a:rPr>
              <a:t>Figure: Stoeger et al. (2012), Fig. 3(A–D). Vowel formants and coordinated vocal-tract modification.</a:t>
            </a:r>
          </a:p>
          <a:p>
            <a:r>
              <a:rPr sz="1200">
                <a:latin typeface="Arial"/>
              </a:rPr>
              <a:t>Figure source: </a:t>
            </a:r>
            <a:r>
              <a:rPr sz="1200">
                <a:latin typeface="Arial"/>
                <a:hlinkClick r:id="rId3"/>
              </a:rPr>
              <a:t>https://doi.org/10.1016/j.cub.2012.09.022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McComb and colleagues played female contact calls to wild African elephant families whose association histories were known. An association index describes how often families encountered one another, supplying a behavioral measure of caller familiarity independent of the immediate playback response.</a:t>
            </a:r>
          </a:p>
          <a:p>
            <a:r>
              <a:rPr sz="1200">
                <a:latin typeface="Arial"/>
              </a:rPr>
              <a:t>• Families led by older matriarchs differentiated low- and high-association callers more sharply. The published curves compare representative matriarch ages of 35 and 55 years; the analysis treated age continuously rather than as only two fixed categories.</a:t>
            </a:r>
          </a:p>
          <a:p>
            <a:r>
              <a:rPr sz="1200">
                <a:latin typeface="Arial"/>
              </a:rPr>
              <a:t>• Greater discrimination cannot be reduced to uniformly lower defensiveness in older-led groups. The study supports accumulated social knowledge, but age was not experimentally assigned. Experience, survival history and family characteristics remain relevant when interpreting why older leadership was associated with better discrimination.</a:t>
            </a:r>
          </a:p>
          <a:p>
            <a:r>
              <a:rPr sz="1200">
                <a:latin typeface="Arial"/>
              </a:rPr>
              <a:t>  – The association index supplies a measure of familiarity from encounter records, whereas defensive behavior supplies the response to a particular playback.</a:t>
            </a:r>
          </a:p>
          <a:p/>
          <a:p>
            <a:r>
              <a:rPr sz="1200">
                <a:latin typeface="Arial"/>
              </a:rPr>
              <a:t>References:</a:t>
            </a:r>
          </a:p>
          <a:p>
            <a:r>
              <a:rPr sz="1200">
                <a:latin typeface="Arial"/>
              </a:rPr>
              <a:t>Karen McComb, Cynthia Moss, Sarah M. Durant, Lucy Baker, Soila Sayialel (2001). Matriarchs As Repositories of Social Knowledge in African Elephants. Science 292: 491-494. </a:t>
            </a:r>
            <a:r>
              <a:rPr sz="1200">
                <a:latin typeface="Arial"/>
                <a:hlinkClick r:id="rId3"/>
              </a:rPr>
              <a:t>https://doi.org/10.1126/science.1057895</a:t>
            </a:r>
          </a:p>
          <a:p/>
          <a:p>
            <a:r>
              <a:rPr sz="1200">
                <a:latin typeface="Arial"/>
              </a:rPr>
              <a:t>Figure: McComb et al. (2001), Fig. 1(A–B). Playback responses by caller association and matriarch age.</a:t>
            </a:r>
          </a:p>
          <a:p>
            <a:r>
              <a:rPr sz="1200">
                <a:latin typeface="Arial"/>
              </a:rPr>
              <a:t>Figure source: </a:t>
            </a:r>
            <a:r>
              <a:rPr sz="1200">
                <a:latin typeface="Arial"/>
                <a:hlinkClick r:id="rId3"/>
              </a:rPr>
              <a:t>https://doi.org/10.1126/science.1057895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Social recognition distinguishes individuals or relationship categories from available cues. In the Amboseli playback study, contact-call familiarity predicted both defensive bunching and investigative smelling, linking acoustic identity information to coordinated protective behavior.</a:t>
            </a:r>
          </a:p>
          <a:p>
            <a:r>
              <a:rPr sz="1200">
                <a:latin typeface="Arial"/>
              </a:rPr>
              <a:t>• The investigators considered group composition, calf-related variables and the ages of females other than the matriarch. The association with matriarch age persisted beyond these measured alternatives, and older-led families were also associated with higher reproductive performance in the observational records.</a:t>
            </a:r>
          </a:p>
          <a:p>
            <a:r>
              <a:rPr sz="1200">
                <a:latin typeface="Arial"/>
              </a:rPr>
              <a:t>• These results connect social information with group-level consequences but do not demonstrate that one matriarch stores every member’s knowledge. They also do not locate a memory trace in FI, ACC or any other structure. Behavioral leadership and anatomical specialization remain different forms of evidence.</a:t>
            </a:r>
          </a:p>
          <a:p>
            <a:r>
              <a:rPr sz="1200">
                <a:latin typeface="Arial"/>
              </a:rPr>
              <a:t>  – The reproductive relationship was observational, not the outcome of experimentally replacing matriarchs. It should not be taught as proof that age alone causes increased reproduction.</a:t>
            </a:r>
          </a:p>
          <a:p/>
          <a:p>
            <a:r>
              <a:rPr sz="1200">
                <a:latin typeface="Arial"/>
              </a:rPr>
              <a:t>References:</a:t>
            </a:r>
          </a:p>
          <a:p>
            <a:r>
              <a:rPr sz="1200">
                <a:latin typeface="Arial"/>
              </a:rPr>
              <a:t>Karen McComb, Cynthia Moss, Sarah M. Durant, Lucy Baker, Soila Sayialel (2001). Matriarchs As Repositories of Social Knowledge in African Elephants. Science 292: 491-494. </a:t>
            </a:r>
            <a:r>
              <a:rPr sz="1200">
                <a:latin typeface="Arial"/>
                <a:hlinkClick r:id="rId3"/>
              </a:rPr>
              <a:t>https://doi.org/10.1126/science.1057895</a:t>
            </a:r>
          </a:p>
          <a:p/>
          <a:p>
            <a:r>
              <a:rPr sz="1200">
                <a:latin typeface="Arial"/>
              </a:rPr>
              <a:t>Figure: McComb et al. (2001), Fig. 1(A–B). Defensive bunching and investigative smelling responses.</a:t>
            </a:r>
          </a:p>
          <a:p>
            <a:r>
              <a:rPr sz="1200">
                <a:latin typeface="Arial"/>
              </a:rPr>
              <a:t>Figure source: </a:t>
            </a:r>
            <a:r>
              <a:rPr sz="1200">
                <a:latin typeface="Arial"/>
                <a:hlinkClick r:id="rId3"/>
              </a:rPr>
              <a:t>https://doi.org/10.1126/science.1057895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McComb and colleagues used lion-roar playbacks to distinguish judgments about predator number from judgments about predator category. Three lions elicited stronger defensive responses than one, consistent with assessment of the scale of an approaching threat.</a:t>
            </a:r>
          </a:p>
          <a:p>
            <a:r>
              <a:rPr sz="1200">
                <a:latin typeface="Arial"/>
              </a:rPr>
              <a:t>• Sensitivity to male rather than female lion roars increased with matriarch age. Older matriarchs and their groups devoted stronger listening and defensive responses to the category associated with greater danger to elephants, rather than responding equally strongly to all lion sounds.</a:t>
            </a:r>
          </a:p>
          <a:p>
            <a:r>
              <a:rPr sz="1200">
                <a:latin typeface="Arial"/>
              </a:rPr>
              <a:t>• Different threat features therefore showed different relationships with experience. Playback isolates the acoustic stimulus, while observational age comparisons leave the acquisition route unresolved. The study did not establish that older matriarchs possess a generally superior sensory threshold or identify a predator-category neuron.</a:t>
            </a:r>
          </a:p>
          <a:p>
            <a:r>
              <a:rPr sz="1200">
                <a:latin typeface="Arial"/>
              </a:rPr>
              <a:t>  – The distinction concerns the content of the detected threat. More intense behavior toward one category is not a direct measurement of how faint a sound the elephant can hear.</a:t>
            </a:r>
          </a:p>
          <a:p/>
          <a:p>
            <a:r>
              <a:rPr sz="1200">
                <a:latin typeface="Arial"/>
              </a:rPr>
              <a:t>References:</a:t>
            </a:r>
          </a:p>
          <a:p>
            <a:r>
              <a:rPr sz="1200">
                <a:latin typeface="Arial"/>
              </a:rPr>
              <a:t>Karen McComb, Graeme Shannon, Sarah M. Durant, Katito Sayialel, Rob Slotow, Joyce Poole, Cynthia Moss (2011). Leadership in elephants: the adaptive value of age. Proceedings of the Royal Society B: Biological Sciences 278: 3270-3276. </a:t>
            </a:r>
            <a:r>
              <a:rPr sz="1200">
                <a:latin typeface="Arial"/>
                <a:hlinkClick r:id="rId3"/>
              </a:rPr>
              <a:t>https://doi.org/10.1098/rspb.2011.0168</a:t>
            </a:r>
          </a:p>
          <a:p/>
          <a:p>
            <a:r>
              <a:rPr sz="1200">
                <a:latin typeface="Arial"/>
              </a:rPr>
              <a:t>Figure: McComb et al. (2011), Fig. 2(a–d). Male- and female-lion playback responses by age.</a:t>
            </a:r>
          </a:p>
          <a:p>
            <a:r>
              <a:rPr sz="1200">
                <a:latin typeface="Arial"/>
              </a:rPr>
              <a:t>Figure source: </a:t>
            </a:r>
            <a:r>
              <a:rPr sz="1200">
                <a:latin typeface="Arial"/>
                <a:hlinkClick r:id="rId3"/>
              </a:rPr>
              <a:t>https://doi.org/10.1098/rspb.2011.0168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McComb and colleagues resynthesized human voices so that fundamental frequency and formant values resembled those of the opposite sex. This manipulation tested whether those prominent acoustic properties alone accounted for the elephants’ differential responses to men and women.</a:t>
            </a:r>
          </a:p>
          <a:p>
            <a:r>
              <a:rPr sz="1200">
                <a:latin typeface="Arial"/>
              </a:rPr>
              <a:t>• Defensive reactions retained the original direction: male-origin voices still elicited stronger responses despite the modified pitch and formant pattern. The experiment therefore did not support a simple classification rule based only on those two manipulated features.</a:t>
            </a:r>
          </a:p>
          <a:p>
            <a:r>
              <a:rPr sz="1200">
                <a:latin typeface="Arial"/>
              </a:rPr>
              <a:t>• Other retained acoustic characteristics could carry information about the original speaker category. The results support flexible auditory risk assessment but do not identify every effective cue. They also do not show that elephants use the same representation or linguistic categories that human listeners assign to the voices.</a:t>
            </a:r>
          </a:p>
          <a:p>
            <a:r>
              <a:rPr sz="1200">
                <a:latin typeface="Arial"/>
              </a:rPr>
              <a:t>  – Resynthesis changed selected properties of recordings while retaining other speaker characteristics; the remaining discrimination implies that the manipulated features were not sufficient explanations.</a:t>
            </a:r>
          </a:p>
          <a:p/>
          <a:p>
            <a:r>
              <a:rPr sz="1200">
                <a:latin typeface="Arial"/>
              </a:rPr>
              <a:t>References:</a:t>
            </a:r>
          </a:p>
          <a:p>
            <a:r>
              <a:rPr sz="1200">
                <a:latin typeface="Arial"/>
              </a:rPr>
              <a:t>Karen McComb, Graeme Shannon, Katito N. Sayialel, Cynthia Moss (2014). Elephants can determine ethnicity, gender, and age from acoustic cues in human voices. Proceedings of the National Academy of Sciences 111: 5433-5438. </a:t>
            </a:r>
            <a:r>
              <a:rPr sz="1200">
                <a:latin typeface="Arial"/>
                <a:hlinkClick r:id="rId3"/>
              </a:rPr>
              <a:t>https://doi.org/10.1073/pnas.1321543111</a:t>
            </a:r>
          </a:p>
          <a:p/>
          <a:p>
            <a:r>
              <a:rPr sz="1200">
                <a:latin typeface="Arial"/>
              </a:rPr>
              <a:t>Figure: McComb et al. (2014), Fig. 1(A–H). Natural and resynthesized human-voice playback responses.</a:t>
            </a:r>
          </a:p>
          <a:p>
            <a:r>
              <a:rPr sz="1200">
                <a:latin typeface="Arial"/>
              </a:rPr>
              <a:t>Figure source: </a:t>
            </a:r>
            <a:r>
              <a:rPr sz="1200">
                <a:latin typeface="Arial"/>
                <a:hlinkClick r:id="rId3"/>
              </a:rPr>
              <a:t>https://doi.org/10.1073/pnas.1321543111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Shannon and colleagues compared Amboseli families with a Pilanesberg population founded by young elephants translocated after culling. Social disruption involved loss of older family members and a break in normal opportunities to acquire socially relevant information.</a:t>
            </a:r>
          </a:p>
          <a:p>
            <a:r>
              <a:rPr sz="1200">
                <a:latin typeface="Arial"/>
              </a:rPr>
              <a:t>• Contact-call playbacks and resynthesized calls tested familiarity and caller-age-related dominance cues. Amboseli responses were adjusted to social category and age-related information; Pilanesberg families did not show the same appropriate pattern of discrimination decades after the founding disturbance.</a:t>
            </a:r>
          </a:p>
          <a:p>
            <a:r>
              <a:rPr sz="1200">
                <a:latin typeface="Arial"/>
              </a:rPr>
              <a:t>• The comparison supports lasting consequences associated with disrupted social history. It was not a randomized culling experiment, and differences between locations and population histories remain possible contributors. No brain lesion, synaptic alteration or hormone pathway was directly measured by these playback responses.</a:t>
            </a:r>
          </a:p>
          <a:p>
            <a:r>
              <a:rPr sz="1200">
                <a:latin typeface="Arial"/>
              </a:rPr>
              <a:t>  – The authors used systematic resynthesis to test a cue available to both populations, reducing the possibility that unfamiliarity alone explained every population difference.</a:t>
            </a:r>
          </a:p>
          <a:p/>
          <a:p>
            <a:r>
              <a:rPr sz="1200">
                <a:latin typeface="Arial"/>
              </a:rPr>
              <a:t>References:</a:t>
            </a:r>
          </a:p>
          <a:p>
            <a:r>
              <a:rPr sz="1200">
                <a:latin typeface="Arial"/>
              </a:rPr>
              <a:t>Graeme Shannon, Rob Slotow, Sarah M Durant, Katito N Sayialel, Joyce Poole, Cynthia Moss, Karen McComb (2013). Effects of social disruption in elephants persist decades after culling. Frontiers in Zoology 10: 62. </a:t>
            </a:r>
            <a:r>
              <a:rPr sz="1200">
                <a:latin typeface="Arial"/>
                <a:hlinkClick r:id="rId3"/>
              </a:rPr>
              <a:t>https://doi.org/10.1186/1742-9994-10-62</a:t>
            </a:r>
          </a:p>
          <a:p/>
          <a:p>
            <a:r>
              <a:rPr sz="1200">
                <a:latin typeface="Arial"/>
              </a:rPr>
              <a:t>Figure: Shannon et al. (2013), Fig. 2(A–D). Responses to resynthesized caller-age categories.</a:t>
            </a:r>
          </a:p>
          <a:p>
            <a:r>
              <a:rPr sz="1200">
                <a:latin typeface="Arial"/>
              </a:rPr>
              <a:t>Figure source: </a:t>
            </a:r>
            <a:r>
              <a:rPr sz="1200">
                <a:latin typeface="Arial"/>
                <a:hlinkClick r:id="rId3"/>
              </a:rPr>
              <a:t>https://doi.org/10.1186/1742-9994-10-62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Plotnik and de Waal observed captive Asian elephants after naturally occurring distress and compared behavior with matched control periods. Affiliative contact is nonaggressive social contact, including trunk touches directed toward another animal’s head, mouth or other body regions.</a:t>
            </a:r>
          </a:p>
          <a:p>
            <a:r>
              <a:rPr sz="1200">
                <a:latin typeface="Arial"/>
              </a:rPr>
              <a:t>• Bystanders contacted the distressed animal sooner and more frequently during post-distress observations than during matched periods. Bystander initiation mattered because it separated another animal’s approach from contact elicited solely by the distressed elephant actively seeking company.</a:t>
            </a:r>
          </a:p>
          <a:p>
            <a:r>
              <a:rPr sz="1200">
                <a:latin typeface="Arial"/>
              </a:rPr>
              <a:t>• The pattern supports reassurance as a behavioral description. The observers did not measure the recipient’s subjective state, establish that contact reduced physiological stress, or test a causal role for oxytocin, dopamine or a particular cortical population. Functional and neural interpretations remain narrower than the observed contact pattern.</a:t>
            </a:r>
          </a:p>
          <a:p>
            <a:r>
              <a:rPr sz="1200">
                <a:latin typeface="Arial"/>
              </a:rPr>
              <a:t>  – A matched control was a comparable observation period without the preceding distress event, allowing ordinary rates of affiliation to be separated from post-distress changes.</a:t>
            </a:r>
          </a:p>
          <a:p/>
          <a:p>
            <a:r>
              <a:rPr sz="1200">
                <a:latin typeface="Arial"/>
              </a:rPr>
              <a:t>References:</a:t>
            </a:r>
          </a:p>
          <a:p>
            <a:r>
              <a:rPr sz="1200">
                <a:latin typeface="Arial"/>
              </a:rPr>
              <a:t>Joshua M. Plotnik, Frans B.M. de Waal (2014). Asian elephants ( Elephas maximus ) reassure others in distress. PeerJ 2: e278. </a:t>
            </a:r>
            <a:r>
              <a:rPr sz="1200">
                <a:latin typeface="Arial"/>
                <a:hlinkClick r:id="rId3"/>
              </a:rPr>
              <a:t>https://doi.org/10.7717/peerj.278</a:t>
            </a:r>
          </a:p>
          <a:p/>
          <a:p>
            <a:r>
              <a:rPr sz="1200">
                <a:latin typeface="Arial"/>
              </a:rPr>
              <a:t>Figure: Plotnik &amp; de Waal (2014), Fig. 1. Original affiliative trunk contact photograph.</a:t>
            </a:r>
          </a:p>
          <a:p>
            <a:r>
              <a:rPr sz="1200">
                <a:latin typeface="Arial"/>
              </a:rPr>
              <a:t>Figure source: </a:t>
            </a:r>
            <a:r>
              <a:rPr sz="1200">
                <a:latin typeface="Arial"/>
                <a:hlinkClick r:id="rId3"/>
              </a:rPr>
              <a:t>https://doi.org/10.7717/peerj.278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reassurance study concentrated first affiliative contacts within the first minute after distress, compared with matched control observations. Emotional contagion describes a proposed sharing of another individual’s state; synchronized distress-related behavior among bystanders supplied behavioral evidence consistent with that interpretation.</a:t>
            </a:r>
          </a:p>
          <a:p>
            <a:r>
              <a:rPr sz="1200">
                <a:latin typeface="Arial"/>
              </a:rPr>
              <a:t>• Physical contacts and vocal responses were recorded separately. This distinguished changes in approach or touch from changes in calling and allowed the timing of affiliation to be compared against ordinary social interaction rather than merely noting that elephants sometimes touched one another.</a:t>
            </a:r>
          </a:p>
          <a:p>
            <a:r>
              <a:rPr sz="1200">
                <a:latin typeface="Arial"/>
              </a:rPr>
              <a:t>• Coordinated behavior is compatible with social-state sensitivity, but does not establish a specific internal emotion or its neural cause. Together, the cognition, imitation and anatomy studies support multiple specialized capacities while leaving the causal circuits linking elephant experience, cellular physiology and social decisions largely untested.</a:t>
            </a:r>
          </a:p>
          <a:p>
            <a:r>
              <a:rPr sz="1200">
                <a:latin typeface="Arial"/>
              </a:rPr>
              <a:t>  – The final comparison connects distinct evidential levels: anatomical presence, controlled behavioral discrimination, and acoustic production learning. None alone supplies a complete social-neurobiology mechanism.</a:t>
            </a:r>
          </a:p>
          <a:p/>
          <a:p>
            <a:r>
              <a:rPr sz="1200">
                <a:latin typeface="Arial"/>
              </a:rPr>
              <a:t>References:</a:t>
            </a:r>
          </a:p>
          <a:p>
            <a:r>
              <a:rPr sz="1200">
                <a:latin typeface="Arial"/>
              </a:rPr>
              <a:t>Joshua M. Plotnik, Frans B.M. de Waal (2014). Asian elephants ( Elephas maximus ) reassure others in distress. PeerJ 2: e278. </a:t>
            </a:r>
            <a:r>
              <a:rPr sz="1200">
                <a:latin typeface="Arial"/>
                <a:hlinkClick r:id="rId3"/>
              </a:rPr>
              <a:t>https://doi.org/10.7717/peerj.278</a:t>
            </a:r>
          </a:p>
          <a:p/>
          <a:p>
            <a:r>
              <a:rPr sz="1200">
                <a:latin typeface="Arial"/>
              </a:rPr>
              <a:t>Figure: Plotnik &amp; de Waal (2014), Fig. 2. Timing of first affiliation after distress and in controls.</a:t>
            </a:r>
          </a:p>
          <a:p>
            <a:r>
              <a:rPr sz="1200">
                <a:latin typeface="Arial"/>
              </a:rPr>
              <a:t>Figure source: </a:t>
            </a:r>
            <a:r>
              <a:rPr sz="1200">
                <a:latin typeface="Arial"/>
                <a:hlinkClick r:id="rId3"/>
              </a:rPr>
              <a:t>https://doi.org/10.7717/peerj.278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Sensory-appropriate comparisons. Olfactory quantity judgments and alternative tool tasks reveal capacities that a visual or trunk-held task can miss.</a:t>
            </a:r>
          </a:p>
          <a:p>
            <a:r>
              <a:rPr sz="1200">
                <a:latin typeface="Arial"/>
              </a:rPr>
              <a:t>• Controlled cognitive inference. Partner-access controls, sham marks and nonobstructing-mat controls distinguish specific contingencies from simple alternative explanations.</a:t>
            </a:r>
          </a:p>
          <a:p>
            <a:r>
              <a:rPr sz="1200">
                <a:latin typeface="Arial"/>
              </a:rPr>
              <a:t>• Vocal production learning. African imitations and Koshik’s acoustic matching establish flexible sound production; they do not establish human language comprehension.</a:t>
            </a:r>
          </a:p>
          <a:p>
            <a:r>
              <a:rPr sz="1200">
                <a:latin typeface="Arial"/>
              </a:rPr>
              <a:t>• Cortical anatomy. VEN morphology, regional distribution and developing dendritic architecture are established anatomical findings; their exact social functions remain untested.</a:t>
            </a:r>
          </a:p>
          <a:p>
            <a:r>
              <a:rPr sz="1200">
                <a:latin typeface="Arial"/>
              </a:rPr>
              <a:t>• Experience and social knowledge. Older-led groups discriminate socially relevant calls and predator categories more finely; disrupted social histories are associated with persistent deficits.</a:t>
            </a:r>
          </a:p>
          <a:p>
            <a:r>
              <a:rPr sz="1200">
                <a:latin typeface="Arial"/>
              </a:rPr>
              <a:t>• Evidence across levels. Reassurance, recognition and cooperation are behavioral findings; no cited study establishes a complete elephant social circuit or its necessary transmitter mechanism.</a:t>
            </a:r>
          </a:p>
          <a:p/>
          <a:p>
            <a:r>
              <a:rPr sz="1200">
                <a:latin typeface="Arial"/>
              </a:rPr>
              <a:t>References:</a:t>
            </a:r>
          </a:p>
          <a:p>
            <a:r>
              <a:rPr sz="1200">
                <a:latin typeface="Arial"/>
              </a:rPr>
              <a:t>Joyce H. Poole, Peter L. Tyack, Angela S. Stoeger-Horwath, Stephanie Watwood (2005). Elephants are capable of vocal learning. Nature 434: 455-456. </a:t>
            </a:r>
            <a:r>
              <a:rPr sz="1200">
                <a:latin typeface="Arial"/>
                <a:hlinkClick r:id="rId3"/>
              </a:rPr>
              <a:t>https://doi.org/10.1038/434455a</a:t>
            </a:r>
          </a:p>
          <a:p>
            <a:r>
              <a:rPr sz="1200">
                <a:latin typeface="Arial"/>
              </a:rPr>
              <a:t>Angela S. Stoeger, Daniel Mietchen, Sukhun Oh, Shermin de Silva, Christian T. Herbst, Soowhan Kwon, W. Tecumseh Fitch (2012). An Asian Elephant Imitates Human Speech. Current Biology 22: 2144-2148. </a:t>
            </a:r>
            <a:r>
              <a:rPr sz="1200">
                <a:latin typeface="Arial"/>
                <a:hlinkClick r:id="rId4"/>
              </a:rPr>
              <a:t>https://doi.org/10.1016/j.cub.2012.09.022</a:t>
            </a:r>
          </a:p>
          <a:p>
            <a:r>
              <a:rPr sz="1200">
                <a:latin typeface="Arial"/>
              </a:rPr>
              <a:t>Joshua M. Plotnik, Frans B. M. de Waal, Diana Reiss (2006). Self-recognition in an Asian elephant. Proceedings of the National Academy of Sciences 103: 17053-17057. </a:t>
            </a:r>
            <a:r>
              <a:rPr sz="1200">
                <a:latin typeface="Arial"/>
                <a:hlinkClick r:id="rId5"/>
              </a:rPr>
              <a:t>https://doi.org/10.1073/pnas.0608062103</a:t>
            </a:r>
          </a:p>
          <a:p>
            <a:r>
              <a:rPr sz="1200">
                <a:latin typeface="Arial"/>
              </a:rPr>
              <a:t>Joshua M. Plotnik, Richard Lair, Wirot Suphachoksahakun, Frans B. M. de Waal (2011). Elephants know when they need a helping trunk in a cooperative task. Proceedings of the National Academy of Sciences 108: 5116-5121. </a:t>
            </a:r>
            <a:r>
              <a:rPr sz="1200">
                <a:latin typeface="Arial"/>
                <a:hlinkClick r:id="rId6"/>
              </a:rPr>
              <a:t>https://doi.org/10.1073/pnas.1101765108</a:t>
            </a:r>
          </a:p>
          <a:p>
            <a:r>
              <a:rPr sz="1200">
                <a:latin typeface="Arial"/>
              </a:rPr>
              <a:t>Karen McComb, Cynthia Moss, Sarah M. Durant, Lucy Baker, Soila Sayialel (2001). Matriarchs As Repositories of Social Knowledge in African Elephants. Science 292: 491-494. </a:t>
            </a:r>
            <a:r>
              <a:rPr sz="1200">
                <a:latin typeface="Arial"/>
                <a:hlinkClick r:id="rId7"/>
              </a:rPr>
              <a:t>https://doi.org/10.1126/science.1057895</a:t>
            </a:r>
          </a:p>
          <a:p>
            <a:r>
              <a:rPr sz="1200">
                <a:latin typeface="Arial"/>
              </a:rPr>
              <a:t>Karen McComb, Graeme Shannon, Sarah M. Durant, Katito Sayialel, Rob Slotow, Joyce Poole, Cynthia Moss (2011). Leadership in elephants: the adaptive value of age. Proceedings of the Royal Society B: Biological Sciences 278: 3270-3276. </a:t>
            </a:r>
            <a:r>
              <a:rPr sz="1200">
                <a:latin typeface="Arial"/>
                <a:hlinkClick r:id="rId8"/>
              </a:rPr>
              <a:t>https://doi.org/10.1098/rspb.2011.0168</a:t>
            </a:r>
          </a:p>
          <a:p>
            <a:r>
              <a:rPr sz="1200">
                <a:latin typeface="Arial"/>
              </a:rPr>
              <a:t>Karen McComb, Graeme Shannon, Katito N. Sayialel, Cynthia Moss (2014). Elephants can determine ethnicity, gender, and age from acoustic cues in human voices. Proceedings of the National Academy of Sciences 111: 5433-5438. </a:t>
            </a:r>
            <a:r>
              <a:rPr sz="1200">
                <a:latin typeface="Arial"/>
                <a:hlinkClick r:id="rId9"/>
              </a:rPr>
              <a:t>https://doi.org/10.1073/pnas.1321543111</a:t>
            </a:r>
          </a:p>
          <a:p>
            <a:r>
              <a:rPr sz="1200">
                <a:latin typeface="Arial"/>
              </a:rPr>
              <a:t>Graeme Shannon, Rob Slotow, Sarah M Durant, Katito N Sayialel, Joyce Poole, Cynthia Moss, Karen McComb (2013). Effects of social disruption in elephants persist decades after culling. Frontiers in Zoology 10: 62. </a:t>
            </a:r>
            <a:r>
              <a:rPr sz="1200">
                <a:latin typeface="Arial"/>
                <a:hlinkClick r:id="rId10"/>
              </a:rPr>
              <a:t>https://doi.org/10.1186/1742-9994-10-62</a:t>
            </a:r>
          </a:p>
          <a:p>
            <a:r>
              <a:rPr sz="1200">
                <a:latin typeface="Arial"/>
              </a:rPr>
              <a:t>Joshua M. Plotnik, Frans B.M. de Waal (2014). Asian elephants ( Elephas maximus ) reassure others in distress. PeerJ 2: e278. </a:t>
            </a:r>
            <a:r>
              <a:rPr sz="1200">
                <a:latin typeface="Arial"/>
                <a:hlinkClick r:id="rId11"/>
              </a:rPr>
              <a:t>https://doi.org/10.7717/peerj.278</a:t>
            </a:r>
          </a:p>
          <a:p>
            <a:r>
              <a:rPr sz="1200">
                <a:latin typeface="Arial"/>
              </a:rPr>
              <a:t>Rachel Dale, Joshua M. Plotnik (2017). Elephants know when their bodies are obstacles to success in a novel transfer task. Scientific Reports 7: 46309. </a:t>
            </a:r>
            <a:r>
              <a:rPr sz="1200">
                <a:latin typeface="Arial"/>
                <a:hlinkClick r:id="rId12"/>
              </a:rPr>
              <a:t>https://doi.org/10.1038/srep46309</a:t>
            </a:r>
          </a:p>
          <a:p>
            <a:r>
              <a:rPr sz="1200">
                <a:latin typeface="Arial"/>
              </a:rPr>
              <a:t>Preston Foerder, Marie Galloway, Tony Barthel, Donald E. Moore III, Diana Reiss (2011). Insightful Problem Solving in an Asian Elephant. PLoS ONE 6: e23251. </a:t>
            </a:r>
            <a:r>
              <a:rPr sz="1200">
                <a:latin typeface="Arial"/>
                <a:hlinkClick r:id="rId13"/>
              </a:rPr>
              <a:t>https://doi.org/10.1371/journal.pone.0023251</a:t>
            </a:r>
          </a:p>
          <a:p>
            <a:r>
              <a:rPr sz="1200">
                <a:latin typeface="Arial"/>
              </a:rPr>
              <a:t>Joshua M. Plotnik, Daniel L. Brubaker, Rachel Dale, Lydia N. Tiller, Hannah S. Mumby, Nicola S. Clayton (2019). Elephants have a nose for quantity. Proceedings of the National Academy of Sciences 116: 12566-12571. </a:t>
            </a:r>
            <a:r>
              <a:rPr sz="1200">
                <a:latin typeface="Arial"/>
                <a:hlinkClick r:id="rId14"/>
              </a:rPr>
              <a:t>https://doi.org/10.1073/pnas.1818284116</a:t>
            </a:r>
          </a:p>
          <a:p>
            <a:r>
              <a:rPr sz="1200">
                <a:latin typeface="Arial"/>
              </a:rPr>
              <a:t>Atiya Y. Hakeem, Chet C. Sherwood, Christopher J. Bonar, Camilla Butti, Patrick R. Hof, John M. Allman (2009). Von Economo Neurons in the Elephant Brain. The Anatomical Record 292: 242-248. </a:t>
            </a:r>
            <a:r>
              <a:rPr sz="1200">
                <a:latin typeface="Arial"/>
                <a:hlinkClick r:id="rId15"/>
              </a:rPr>
              <a:t>https://doi.org/10.1002/ar.20829</a:t>
            </a:r>
          </a:p>
          <a:p>
            <a:r>
              <a:rPr sz="1200">
                <a:latin typeface="Arial"/>
              </a:rPr>
              <a:t>Bob Jacobs, Laura Lee, Matthew Schall, Mary Ann Raghanti, Albert H. Lewandowski, Jack J. Kottwitz, John F. Roberts, Patrick R. Hof, Chet C. Sherwood (2016). Neocortical neuronal morphology in the newborn giraffe (Giraffa camelopardalis tippelskirchi) and African elephant (Loxodonta africana). Journal of Comparative Neurology 524: 257-287. </a:t>
            </a:r>
            <a:r>
              <a:rPr sz="1200">
                <a:latin typeface="Arial"/>
                <a:hlinkClick r:id="rId16"/>
              </a:rPr>
              <a:t>https://doi.org/10.1002/cne.23841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25F8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9E5F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9E5F0"/>
                </a:solidFill>
                <a:latin typeface="Arial"/>
              </a:rPr>
              <a:t>Lecture 51</a:t>
            </a:r>
          </a:p>
        </p:txBody>
      </p:sp>
      <p:sp>
        <p:nvSpPr>
          <p:cNvPr id="5" name="Lecture title"/>
          <p:cNvSpPr txBox="1"/>
          <p:nvPr/>
        </p:nvSpPr>
        <p:spPr>
          <a:xfrm>
            <a:off x="685800" y="2286000"/>
            <a:ext cx="4724247" cy="2651760"/>
          </a:xfrm>
          <a:prstGeom prst="rect">
            <a:avLst/>
          </a:prstGeom>
          <a:noFill/>
        </p:spPr>
        <p:txBody>
          <a:bodyPr wrap="square" lIns="0" rIns="0" tIns="0" bIns="0">
            <a:spAutoFit/>
          </a:bodyPr>
          <a:lstStyle/>
          <a:p>
            <a:pPr algn="l">
              <a:lnSpc>
                <a:spcPct val="105000"/>
              </a:lnSpc>
              <a:spcAft>
                <a:spcPts val="0"/>
              </a:spcAft>
            </a:pPr>
            <a:r>
              <a:rPr sz="3000" b="1">
                <a:solidFill>
                  <a:srgbClr val="FFFFFF"/>
                </a:solidFill>
                <a:latin typeface="Arial"/>
              </a:rPr>
              <a:t>Elephants II: Comparative Cognition, Vocal Learning, and Social Neurobiology</a:t>
            </a:r>
          </a:p>
        </p:txBody>
      </p:sp>
      <p:sp>
        <p:nvSpPr>
          <p:cNvPr id="6" name="TextBox 5"/>
          <p:cNvSpPr txBox="1"/>
          <p:nvPr/>
        </p:nvSpPr>
        <p:spPr>
          <a:xfrm>
            <a:off x="685800" y="530352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9E5F0"/>
                </a:solidFill>
                <a:latin typeface="Arial"/>
              </a:rPr>
              <a:t>Date TBD</a:t>
            </a:r>
          </a:p>
        </p:txBody>
      </p:sp>
      <p:sp>
        <p:nvSpPr>
          <p:cNvPr id="7" name="TextBox 6"/>
          <p:cNvSpPr txBox="1"/>
          <p:nvPr/>
        </p:nvSpPr>
        <p:spPr>
          <a:xfrm>
            <a:off x="685800" y="58521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9E5F0"/>
                </a:solidFill>
                <a:latin typeface="Arial"/>
              </a:rPr>
              <a:t>Jordan Lopez, Ph.D.</a:t>
            </a:r>
          </a:p>
          <a:p>
            <a:pPr algn="l">
              <a:lnSpc>
                <a:spcPct val="108000"/>
              </a:lnSpc>
              <a:spcAft>
                <a:spcPts val="200"/>
              </a:spcAft>
            </a:pPr>
            <a:r>
              <a:rPr sz="1200" b="0" i="0">
                <a:solidFill>
                  <a:srgbClr val="D9E5F0"/>
                </a:solidFill>
                <a:latin typeface="Arial"/>
              </a:rPr>
              <a:t>Professor of Neurobiology &amp; Biomedical Engineering</a:t>
            </a:r>
          </a:p>
        </p:txBody>
      </p:sp>
      <p:pic>
        <p:nvPicPr>
          <p:cNvPr id="8" name="Picture 7" descr="reassurance_contact.png"/>
          <p:cNvPicPr>
            <a:picLocks noChangeAspect="1"/>
          </p:cNvPicPr>
          <p:nvPr/>
        </p:nvPicPr>
        <p:blipFill>
          <a:blip r:embed="rId2"/>
          <a:stretch>
            <a:fillRect/>
          </a:stretch>
        </p:blipFill>
        <p:spPr>
          <a:xfrm>
            <a:off x="6553047" y="822960"/>
            <a:ext cx="5181447" cy="346294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&amp; de Waal (2014), Fig. 1. Asian elephants in affiliative contact.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Voice playback isolates socially relevant decisions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Comparative cognition</a:t>
            </a:r>
            <a:r>
              <a:rPr sz="1600" b="0" i="0">
                <a:solidFill>
                  <a:srgbClr val="000000"/>
                </a:solidFill>
                <a:latin typeface="Arial"/>
              </a:rPr>
              <a:t> investigates how animals acquire, retain and use information, while accounting for differences in sensory access and natural behavior. McComb and colleagues tested wild African elephant families with recordings of human speech rather than confronting them with people.</a:t>
            </a:r>
          </a:p>
          <a:p>
            <a:pPr algn="l">
              <a:lnSpc>
                <a:spcPct val="108000"/>
              </a:lnSpc>
              <a:spcAft>
                <a:spcPts val="960"/>
              </a:spcAft>
            </a:pPr>
            <a:r>
              <a:rPr sz="1600" b="0" i="0">
                <a:solidFill>
                  <a:srgbClr val="000000"/>
                </a:solidFill>
                <a:latin typeface="Arial"/>
              </a:rPr>
              <a:t>The speakers repeated the same sentence, allowing voice categories to vary while verbal content remained comparable. Maasai men elicited stronger defensive bunching and investigative smelling than Kamba men; adult male Maasai voices also elicited stronger defenses than female or boy voices.</a:t>
            </a:r>
          </a:p>
          <a:p>
            <a:pPr algn="l">
              <a:lnSpc>
                <a:spcPct val="108000"/>
              </a:lnSpc>
              <a:spcAft>
                <a:spcPts val="960"/>
              </a:spcAft>
            </a:pPr>
            <a:r>
              <a:rPr sz="1600" b="1" i="0">
                <a:solidFill>
                  <a:srgbClr val="344B65"/>
                </a:solidFill>
                <a:latin typeface="Arial"/>
              </a:rPr>
              <a:t>Defensive bunching</a:t>
            </a:r>
            <a:r>
              <a:rPr sz="1600" b="0" i="0">
                <a:solidFill>
                  <a:srgbClr val="000000"/>
                </a:solidFill>
                <a:latin typeface="Arial"/>
              </a:rPr>
              <a:t> is the formation of a tight protective group. Recorded voices were sufficient to change this collective response, but the experiments did not locate the neurons storing human-associated danger or establish comprehension of the sentence.</a:t>
            </a:r>
          </a:p>
        </p:txBody>
      </p:sp>
      <p:pic>
        <p:nvPicPr>
          <p:cNvPr id="4" name="Picture 3" descr="voices_results.png"/>
          <p:cNvPicPr>
            <a:picLocks noChangeAspect="1"/>
          </p:cNvPicPr>
          <p:nvPr/>
        </p:nvPicPr>
        <p:blipFill>
          <a:blip r:embed="rId2"/>
          <a:stretch>
            <a:fillRect/>
          </a:stretch>
        </p:blipFill>
        <p:spPr>
          <a:xfrm>
            <a:off x="7447134" y="1280160"/>
            <a:ext cx="323462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McComb et al. (2014), Fig. 1(A–H). Threat-dependent responses to recorded human voices.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McComb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Olfactory access permits food-quantity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Plotnik and colleagues presented captive Asian elephants with two opaque buckets containing sunflower seeds. </a:t>
            </a:r>
            <a:r>
              <a:rPr sz="1600" b="1" i="0">
                <a:solidFill>
                  <a:srgbClr val="344B65"/>
                </a:solidFill>
                <a:latin typeface="Arial"/>
              </a:rPr>
              <a:t>Olfaction</a:t>
            </a:r>
            <a:r>
              <a:rPr sz="1600" b="0" i="0">
                <a:solidFill>
                  <a:srgbClr val="000000"/>
                </a:solidFill>
                <a:latin typeface="Arial"/>
              </a:rPr>
              <a:t>, the detection of airborne chemicals, supplied the information: locked perforated lids admitted odors while preventing visual inspection and access to the food.</a:t>
            </a:r>
          </a:p>
          <a:p>
            <a:pPr algn="l">
              <a:lnSpc>
                <a:spcPct val="108000"/>
              </a:lnSpc>
              <a:spcAft>
                <a:spcPts val="960"/>
              </a:spcAft>
            </a:pPr>
            <a:r>
              <a:rPr sz="1600" b="0" i="0">
                <a:solidFill>
                  <a:srgbClr val="000000"/>
                </a:solidFill>
                <a:latin typeface="Arial"/>
              </a:rPr>
              <a:t>The table was withdrawn after sampling, the lids were unlocked, and the elephant chose one bucket. Experimental seed quantities ranged from 4 to 24 g. Solid lids prevented successful discrimination, supporting an olfactory basis rather than guidance from visible food or other available cues.</a:t>
            </a:r>
          </a:p>
          <a:p>
            <a:pPr algn="l">
              <a:lnSpc>
                <a:spcPct val="108000"/>
              </a:lnSpc>
              <a:spcAft>
                <a:spcPts val="960"/>
              </a:spcAft>
            </a:pPr>
            <a:r>
              <a:rPr sz="1600" b="0" i="0">
                <a:solidFill>
                  <a:srgbClr val="000000"/>
                </a:solidFill>
                <a:latin typeface="Arial"/>
              </a:rPr>
              <a:t>This preparation separated sensory investigation from the choice action. Its results concern judgments about relative food amounts; they do not establish that elephants counted individual seeds or encoded an abstract numerical symbol.</a:t>
            </a:r>
          </a:p>
        </p:txBody>
      </p:sp>
      <p:pic>
        <p:nvPicPr>
          <p:cNvPr id="4" name="Picture 3" descr="quantity_setup.png"/>
          <p:cNvPicPr>
            <a:picLocks noChangeAspect="1"/>
          </p:cNvPicPr>
          <p:nvPr/>
        </p:nvPicPr>
        <p:blipFill>
          <a:blip r:embed="rId2"/>
          <a:stretch>
            <a:fillRect/>
          </a:stretch>
        </p:blipFill>
        <p:spPr>
          <a:xfrm>
            <a:off x="6504127" y="1280160"/>
            <a:ext cx="5120640" cy="3707284"/>
          </a:xfrm>
          <a:prstGeom prst="rect">
            <a:avLst/>
          </a:prstGeom>
        </p:spPr>
      </p:pic>
      <p:sp>
        <p:nvSpPr>
          <p:cNvPr id="5" name="Figure caption"/>
          <p:cNvSpPr txBox="1"/>
          <p:nvPr/>
        </p:nvSpPr>
        <p:spPr>
          <a:xfrm>
            <a:off x="6504127" y="50788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(2019), Fig. 1(A–D). Odor sampling and subsequent bucket choice.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Quantity discrimination depends on relative difference</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seed experiment varied the </a:t>
            </a:r>
            <a:r>
              <a:rPr sz="1600" b="1" i="0">
                <a:solidFill>
                  <a:srgbClr val="344B65"/>
                </a:solidFill>
                <a:latin typeface="Arial"/>
              </a:rPr>
              <a:t>quantity ratio</a:t>
            </a:r>
            <a:r>
              <a:rPr sz="1600" b="0" i="0">
                <a:solidFill>
                  <a:srgbClr val="000000"/>
                </a:solidFill>
                <a:latin typeface="Arial"/>
              </a:rPr>
              <a:t>, the smaller food amount relative to the larger amount. Elephants chose the greater amount more reliably when the amounts differed markedly, and their performance declined as the ratio approached equality.</a:t>
            </a:r>
          </a:p>
          <a:p>
            <a:pPr algn="l">
              <a:lnSpc>
                <a:spcPct val="108000"/>
              </a:lnSpc>
              <a:spcAft>
                <a:spcPts val="960"/>
              </a:spcAft>
            </a:pPr>
            <a:r>
              <a:rPr sz="1600" b="0" i="0">
                <a:solidFill>
                  <a:srgbClr val="000000"/>
                </a:solidFill>
                <a:latin typeface="Arial"/>
              </a:rPr>
              <a:t>Pairs with the same ratio but different total amounts tested whether overall food magnitude controlled performance. For example, the published experiment compared 4 versus 8 g with 12 versus 24 g. Total magnitude did not account for the choice pattern.</a:t>
            </a:r>
          </a:p>
          <a:p>
            <a:pPr algn="l">
              <a:lnSpc>
                <a:spcPct val="108000"/>
              </a:lnSpc>
              <a:spcAft>
                <a:spcPts val="960"/>
              </a:spcAft>
            </a:pPr>
            <a:r>
              <a:rPr sz="1600" b="0" i="0">
                <a:solidFill>
                  <a:srgbClr val="000000"/>
                </a:solidFill>
                <a:latin typeface="Arial"/>
              </a:rPr>
              <a:t>Metal-bucket and double-blind controls retained successful discrimination, reducing explanations based on residual plastic-container odor or experimenter guidance. Ratio dependence is consistent with approximate quantity assessment, but a learned comparison of odor strength remains possible; no numerical neurons were recorded.</a:t>
            </a:r>
          </a:p>
        </p:txBody>
      </p:sp>
      <p:pic>
        <p:nvPicPr>
          <p:cNvPr id="4" name="Picture 3" descr="quantity_ratio.png"/>
          <p:cNvPicPr>
            <a:picLocks noChangeAspect="1"/>
          </p:cNvPicPr>
          <p:nvPr/>
        </p:nvPicPr>
        <p:blipFill>
          <a:blip r:embed="rId2"/>
          <a:stretch>
            <a:fillRect/>
          </a:stretch>
        </p:blipFill>
        <p:spPr>
          <a:xfrm>
            <a:off x="566927" y="1280160"/>
            <a:ext cx="5120640" cy="3605657"/>
          </a:xfrm>
          <a:prstGeom prst="rect">
            <a:avLst/>
          </a:prstGeom>
        </p:spPr>
      </p:pic>
      <p:sp>
        <p:nvSpPr>
          <p:cNvPr id="5" name="Figure caption"/>
          <p:cNvSpPr txBox="1"/>
          <p:nvPr/>
        </p:nvSpPr>
        <p:spPr>
          <a:xfrm>
            <a:off x="566928" y="49772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(2019), Fig. 2. Choice success decreases as quantities approach equality.</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 trunk-held tool can interfere with food sampling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Foerder and colleagues offered Asian elephants suspended fruit and branches beyond ordinary trunk reach, together with movable objects and sticks. </a:t>
            </a:r>
            <a:r>
              <a:rPr sz="1600" b="1" i="0">
                <a:solidFill>
                  <a:srgbClr val="344B65"/>
                </a:solidFill>
                <a:latin typeface="Arial"/>
              </a:rPr>
              <a:t>Tool use</a:t>
            </a:r>
            <a:r>
              <a:rPr sz="1600" b="0" i="0">
                <a:solidFill>
                  <a:srgbClr val="000000"/>
                </a:solidFill>
                <a:latin typeface="Arial"/>
              </a:rPr>
              <a:t> requires using an external object to alter the relationship between the animal and its goal, rather than merely handling it.</a:t>
            </a:r>
          </a:p>
          <a:p>
            <a:pPr algn="l">
              <a:lnSpc>
                <a:spcPct val="108000"/>
              </a:lnSpc>
              <a:spcAft>
                <a:spcPts val="960"/>
              </a:spcAft>
            </a:pPr>
            <a:r>
              <a:rPr sz="1600" b="0" i="0">
                <a:solidFill>
                  <a:srgbClr val="000000"/>
                </a:solidFill>
                <a:latin typeface="Arial"/>
              </a:rPr>
              <a:t>The elephants reached and sniffed toward the food but did not use sticks to retrieve it. This failure differed from the later successful use of a standing platform by the juvenile male Kandula. The authors proposed that holding a stick may obstruct the trunk’s simultaneous olfactory and tactile investigation.</a:t>
            </a:r>
          </a:p>
          <a:p>
            <a:pPr algn="l">
              <a:lnSpc>
                <a:spcPct val="108000"/>
              </a:lnSpc>
              <a:spcAft>
                <a:spcPts val="960"/>
              </a:spcAft>
            </a:pPr>
            <a:r>
              <a:rPr sz="1600" b="0" i="0">
                <a:solidFill>
                  <a:srgbClr val="000000"/>
                </a:solidFill>
                <a:latin typeface="Arial"/>
              </a:rPr>
              <a:t>The proposed sensory interference was not independently manipulated. Failure with a primate-style reaching tool therefore cannot be equated with an absence of physical problem-solving ability, but neither does it prove that sensory interference caused every failure.</a:t>
            </a:r>
          </a:p>
        </p:txBody>
      </p:sp>
      <p:pic>
        <p:nvPicPr>
          <p:cNvPr id="4" name="Picture 3" descr="insight_setup.png"/>
          <p:cNvPicPr>
            <a:picLocks noChangeAspect="1"/>
          </p:cNvPicPr>
          <p:nvPr/>
        </p:nvPicPr>
        <p:blipFill>
          <a:blip r:embed="rId2"/>
          <a:stretch>
            <a:fillRect/>
          </a:stretch>
        </p:blipFill>
        <p:spPr>
          <a:xfrm>
            <a:off x="7282745" y="1280160"/>
            <a:ext cx="356340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Foerder et al. (2011), Fig. 1(A). Original stick-and-platform food-reaching preparation.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Foerder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 movable platform increases effective reach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Kandula rolled a large plastic cube beneath suspended food, placed his forefeet on it and reached with his trunk. The cube changed his body position while leaving the trunk available for grasping. Its functional contribution was increased reach, not direct contact with the food.</a:t>
            </a:r>
          </a:p>
          <a:p>
            <a:pPr algn="l">
              <a:lnSpc>
                <a:spcPct val="108000"/>
              </a:lnSpc>
              <a:spcAft>
                <a:spcPts val="960"/>
              </a:spcAft>
            </a:pPr>
            <a:r>
              <a:rPr sz="1600" b="0" i="0">
                <a:solidFill>
                  <a:srgbClr val="000000"/>
                </a:solidFill>
                <a:latin typeface="Arial"/>
              </a:rPr>
              <a:t>The first successful sequence occurred after earlier object exploration without food retrieval. On subsequent sessions he repositioned the cube beneath changed food locations and also used it to investigate an elevated enrichment object and overhanging blossoms.</a:t>
            </a:r>
          </a:p>
          <a:p>
            <a:pPr algn="l">
              <a:lnSpc>
                <a:spcPct val="108000"/>
              </a:lnSpc>
              <a:spcAft>
                <a:spcPts val="960"/>
              </a:spcAft>
            </a:pPr>
            <a:r>
              <a:rPr sz="1600" b="0" i="0">
                <a:solidFill>
                  <a:srgbClr val="000000"/>
                </a:solidFill>
                <a:latin typeface="Arial"/>
              </a:rPr>
              <a:t>The authors described the initial solution as insight-like because an organized sequence appeared without a documented series of reinforced partial solutions. Earlier cube experience prevents concluding that the solution arose without learning, and the behavior does not reveal the underlying neural computation.</a:t>
            </a:r>
          </a:p>
        </p:txBody>
      </p:sp>
      <p:pic>
        <p:nvPicPr>
          <p:cNvPr id="4" name="Picture 3" descr="insight_cube.png"/>
          <p:cNvPicPr>
            <a:picLocks noChangeAspect="1"/>
          </p:cNvPicPr>
          <p:nvPr/>
        </p:nvPicPr>
        <p:blipFill>
          <a:blip r:embed="rId2"/>
          <a:stretch>
            <a:fillRect/>
          </a:stretch>
        </p:blipFill>
        <p:spPr>
          <a:xfrm>
            <a:off x="7390727" y="1280160"/>
            <a:ext cx="33474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Foerder et al. (2011), Fig. 1(B). Kandula stands on a cube beneath suspended food.</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Foerder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Tool transfer tests more than one learned location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successful cube use, Foerder and colleagues displaced it within the enclosure to test whether Kandula had learned only a fixed feeding location. He searched for the cube, moved it to the suspended reward and used it as a standing platform.</a:t>
            </a:r>
          </a:p>
          <a:p>
            <a:pPr algn="l">
              <a:lnSpc>
                <a:spcPct val="108000"/>
              </a:lnSpc>
              <a:spcAft>
                <a:spcPts val="960"/>
              </a:spcAft>
            </a:pPr>
            <a:r>
              <a:rPr sz="1600" b="0" i="0">
                <a:solidFill>
                  <a:srgbClr val="000000"/>
                </a:solidFill>
                <a:latin typeface="Arial"/>
              </a:rPr>
              <a:t>When the cube was hidden in a passageway, he retrieved it and later returned directly to the previously successful hiding location. Replacing the cube with a large tire also produced platform use, supporting transfer beyond one particular object.</a:t>
            </a:r>
          </a:p>
          <a:p>
            <a:pPr algn="l">
              <a:lnSpc>
                <a:spcPct val="108000"/>
              </a:lnSpc>
              <a:spcAft>
                <a:spcPts val="960"/>
              </a:spcAft>
            </a:pPr>
            <a:r>
              <a:rPr sz="1600" b="0" i="0">
                <a:solidFill>
                  <a:srgbClr val="000000"/>
                </a:solidFill>
                <a:latin typeface="Arial"/>
              </a:rPr>
              <a:t>These manipulations distinguish flexible object use from repeatedly standing at the original location. They still permit contributions from remembered rewards and prior manipulation experience. The evidence establishes behavioral flexibility in the tested individual, rather than a species-wide rate of insight or a causal memory circuit.</a:t>
            </a:r>
          </a:p>
        </p:txBody>
      </p:sp>
      <p:pic>
        <p:nvPicPr>
          <p:cNvPr id="4" name="Picture 3" descr="insight_learning.png"/>
          <p:cNvPicPr>
            <a:picLocks noChangeAspect="1"/>
          </p:cNvPicPr>
          <p:nvPr/>
        </p:nvPicPr>
        <p:blipFill>
          <a:blip r:embed="rId2"/>
          <a:stretch>
            <a:fillRect/>
          </a:stretch>
        </p:blipFill>
        <p:spPr>
          <a:xfrm>
            <a:off x="7199178" y="1280160"/>
            <a:ext cx="373053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Foerder et al. (2011), Fig. 2(A–B). Acquisition and retrieval of a relocated cube.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Foerder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Cooperation requires simultaneous control of a rope</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Plotnik and colleagues adapted a </a:t>
            </a:r>
            <a:r>
              <a:rPr sz="1600" b="1" i="0">
                <a:solidFill>
                  <a:srgbClr val="344B65"/>
                </a:solidFill>
                <a:latin typeface="Arial"/>
              </a:rPr>
              <a:t>loose-rope cooperation task</a:t>
            </a:r>
            <a:r>
              <a:rPr sz="1600" b="0" i="0">
                <a:solidFill>
                  <a:srgbClr val="000000"/>
                </a:solidFill>
                <a:latin typeface="Arial"/>
              </a:rPr>
              <a:t> for Asian elephants. One rope passed around a sliding food platform, with an end available to each partner. Pulling alone unthreaded the rope; coordinated holding and pulling brought the food within reach.</a:t>
            </a:r>
          </a:p>
          <a:p>
            <a:pPr algn="l">
              <a:lnSpc>
                <a:spcPct val="108000"/>
              </a:lnSpc>
              <a:spcAft>
                <a:spcPts val="960"/>
              </a:spcAft>
            </a:pPr>
            <a:r>
              <a:rPr sz="1600" b="0" i="0">
                <a:solidFill>
                  <a:srgbClr val="000000"/>
                </a:solidFill>
                <a:latin typeface="Arial"/>
              </a:rPr>
              <a:t>Initial single-rope training taught the pulling action. During paired testing the animals approached through separate lanes from 10 m away, while caretakers remained silent and looked away after release. These precautions reduced immediate human guidance without eliminating the elephants’ training history.</a:t>
            </a:r>
          </a:p>
          <a:p>
            <a:pPr algn="l">
              <a:lnSpc>
                <a:spcPct val="108000"/>
              </a:lnSpc>
              <a:spcAft>
                <a:spcPts val="960"/>
              </a:spcAft>
            </a:pPr>
            <a:r>
              <a:rPr sz="1600" b="0" i="0">
                <a:solidFill>
                  <a:srgbClr val="000000"/>
                </a:solidFill>
                <a:latin typeface="Arial"/>
              </a:rPr>
              <a:t>Successful simultaneous release established that the apparatus could be operated jointly. It did not alone establish that either animal understood the partner’s necessity, because both could simply repeat a previously rewarded pulling response upon reaching the rope.</a:t>
            </a:r>
          </a:p>
        </p:txBody>
      </p:sp>
      <p:pic>
        <p:nvPicPr>
          <p:cNvPr id="4" name="Picture 3" descr="cooperation_setup.png"/>
          <p:cNvPicPr>
            <a:picLocks noChangeAspect="1"/>
          </p:cNvPicPr>
          <p:nvPr/>
        </p:nvPicPr>
        <p:blipFill>
          <a:blip r:embed="rId2"/>
          <a:stretch>
            <a:fillRect/>
          </a:stretch>
        </p:blipFill>
        <p:spPr>
          <a:xfrm>
            <a:off x="566927" y="1280160"/>
            <a:ext cx="5120640" cy="3402795"/>
          </a:xfrm>
          <a:prstGeom prst="rect">
            <a:avLst/>
          </a:prstGeom>
        </p:spPr>
      </p:pic>
      <p:sp>
        <p:nvSpPr>
          <p:cNvPr id="5" name="Figure caption"/>
          <p:cNvSpPr txBox="1"/>
          <p:nvPr/>
        </p:nvSpPr>
        <p:spPr>
          <a:xfrm>
            <a:off x="566928" y="47743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(2011), Fig. 1(views 1–3). Published loose-rope cooperation apparatus.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Delayed arrival requires inhibition of immediate pulling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Response inhibition</a:t>
            </a:r>
            <a:r>
              <a:rPr sz="1600" b="0" i="0">
                <a:solidFill>
                  <a:srgbClr val="000000"/>
                </a:solidFill>
                <a:latin typeface="Arial"/>
              </a:rPr>
              <a:t> means withholding an available action when acting immediately would prevent success. In delayed-release trials, the first elephant had to leave the rope available until its partner arrived rather than pull as soon as it reached the apparatus.</a:t>
            </a:r>
          </a:p>
          <a:p>
            <a:pPr algn="l">
              <a:lnSpc>
                <a:spcPct val="108000"/>
              </a:lnSpc>
              <a:spcAft>
                <a:spcPts val="960"/>
              </a:spcAft>
            </a:pPr>
            <a:r>
              <a:rPr sz="1600" b="0" i="0">
                <a:solidFill>
                  <a:srgbClr val="000000"/>
                </a:solidFill>
                <a:latin typeface="Arial"/>
              </a:rPr>
              <a:t>Training increased release delays in 5-s steps to 25 s. Tests then included previously untrained intervals of 26–45 s. Waiting succeeded on approximately 88–97% of trials across the lead elephants, and performance on longer delays improved after the first test day.</a:t>
            </a:r>
          </a:p>
          <a:p>
            <a:pPr algn="l">
              <a:lnSpc>
                <a:spcPct val="108000"/>
              </a:lnSpc>
              <a:spcAft>
                <a:spcPts val="960"/>
              </a:spcAft>
            </a:pPr>
            <a:r>
              <a:rPr sz="1600" b="0" i="0">
                <a:solidFill>
                  <a:srgbClr val="000000"/>
                </a:solidFill>
                <a:latin typeface="Arial"/>
              </a:rPr>
              <a:t>Transfer to longer intervals argues against one rigidly learned short waiting period. The preparation nevertheless involved shaping and repeated rewards, so successful waiting does not establish spontaneous cooperative understanding in an untrained animal or identify a specific inhibitory neuronal pathway.</a:t>
            </a:r>
          </a:p>
        </p:txBody>
      </p:sp>
      <p:pic>
        <p:nvPicPr>
          <p:cNvPr id="4" name="Picture 3" descr="cooperation_delay.png"/>
          <p:cNvPicPr>
            <a:picLocks noChangeAspect="1"/>
          </p:cNvPicPr>
          <p:nvPr/>
        </p:nvPicPr>
        <p:blipFill>
          <a:blip r:embed="rId2"/>
          <a:stretch>
            <a:fillRect/>
          </a:stretch>
        </p:blipFill>
        <p:spPr>
          <a:xfrm>
            <a:off x="6590151" y="1280160"/>
            <a:ext cx="494859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(2011), Fig. 2. Performance with trained and longer partner delays.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 partner’s presence is insufficient without rope access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44B65"/>
                </a:solidFill>
                <a:latin typeface="Arial"/>
              </a:rPr>
              <a:t>no-rope control</a:t>
            </a:r>
            <a:r>
              <a:rPr sz="1600" b="0" i="0">
                <a:solidFill>
                  <a:srgbClr val="000000"/>
                </a:solidFill>
                <a:latin typeface="Arial"/>
              </a:rPr>
              <a:t> left the partner present but placed its rope end out of reach. This separated social proximity from the partner’s ability to contribute mechanically. The lead elephant still had access to its own rope and could attempt to pull.</a:t>
            </a:r>
          </a:p>
          <a:p>
            <a:pPr algn="l">
              <a:lnSpc>
                <a:spcPct val="108000"/>
              </a:lnSpc>
              <a:spcAft>
                <a:spcPts val="960"/>
              </a:spcAft>
            </a:pPr>
            <a:r>
              <a:rPr sz="1600" b="0" i="0">
                <a:solidFill>
                  <a:srgbClr val="000000"/>
                </a:solidFill>
                <a:latin typeface="Arial"/>
              </a:rPr>
              <a:t>Most tested lead elephants reduced pulling when the partner lacked access, while normal joint trials remained successful. During delayed trials, pulling also increased after the partner arrived at the rope compared with the period before arrival.</a:t>
            </a:r>
          </a:p>
          <a:p>
            <a:pPr algn="l">
              <a:lnSpc>
                <a:spcPct val="108000"/>
              </a:lnSpc>
              <a:spcAft>
                <a:spcPts val="960"/>
              </a:spcAft>
            </a:pPr>
            <a:r>
              <a:rPr sz="1600" b="0" i="0">
                <a:solidFill>
                  <a:srgbClr val="000000"/>
                </a:solidFill>
                <a:latin typeface="Arial"/>
              </a:rPr>
              <a:t>The contrast supports sensitivity to conditions required for joint success, not merely another elephant’s presence. Feeling rope tension when the partner grasps it remains a possible learned cue. The results therefore do not require attributing intentions or a human-like theory of mind to the partner.</a:t>
            </a:r>
          </a:p>
        </p:txBody>
      </p:sp>
      <p:pic>
        <p:nvPicPr>
          <p:cNvPr id="4" name="Picture 3" descr="cooperation_control.png"/>
          <p:cNvPicPr>
            <a:picLocks noChangeAspect="1"/>
          </p:cNvPicPr>
          <p:nvPr/>
        </p:nvPicPr>
        <p:blipFill>
          <a:blip r:embed="rId2"/>
          <a:stretch>
            <a:fillRect/>
          </a:stretch>
        </p:blipFill>
        <p:spPr>
          <a:xfrm>
            <a:off x="7303271" y="1280160"/>
            <a:ext cx="35223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(2011), Fig. 3(A–B). Pulling rates before arrival and with no partner rope.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Mirror access changes opportunities for self-investigation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Plotnik, de Waal and Reiss installed an elephant-accessible mirror measuring 244 by 244 cm. </a:t>
            </a:r>
            <a:r>
              <a:rPr sz="1600" b="1" i="0">
                <a:solidFill>
                  <a:srgbClr val="344B65"/>
                </a:solidFill>
                <a:latin typeface="Arial"/>
              </a:rPr>
              <a:t>Mirror self-recognition</a:t>
            </a:r>
            <a:r>
              <a:rPr sz="1600" b="0" i="0">
                <a:solidFill>
                  <a:srgbClr val="000000"/>
                </a:solidFill>
                <a:latin typeface="Arial"/>
              </a:rPr>
              <a:t> is tested through behavior directed toward one’s own body using the reflection, rather than through attention to the mirror alone.</a:t>
            </a:r>
          </a:p>
          <a:p>
            <a:pPr algn="l">
              <a:lnSpc>
                <a:spcPct val="108000"/>
              </a:lnSpc>
              <a:spcAft>
                <a:spcPts val="960"/>
              </a:spcAft>
            </a:pPr>
            <a:r>
              <a:rPr sz="1600" b="0" i="0">
                <a:solidFill>
                  <a:srgbClr val="000000"/>
                </a:solidFill>
                <a:latin typeface="Arial"/>
              </a:rPr>
              <a:t>Baseline and covered-mirror phases established comparison behavior before the reflective surface was available. Elephants could approach and inspect the large mirror closely with their trunks, unlike earlier arrangements that kept a small reflective surface beyond reach.</a:t>
            </a:r>
          </a:p>
          <a:p>
            <a:pPr algn="l">
              <a:lnSpc>
                <a:spcPct val="108000"/>
              </a:lnSpc>
              <a:spcAft>
                <a:spcPts val="960"/>
              </a:spcAft>
            </a:pPr>
            <a:r>
              <a:rPr sz="1600" b="0" i="0">
                <a:solidFill>
                  <a:srgbClr val="000000"/>
                </a:solidFill>
                <a:latin typeface="Arial"/>
              </a:rPr>
              <a:t>All subjects developed mirror-associated testing and self-directed behavior, including unusual trunk and head movements and inspection of their mouths. The preparation makes bodily information available; exploration of a mirror by itself still cannot establish that an animal recognizes its reflected identity.</a:t>
            </a:r>
          </a:p>
        </p:txBody>
      </p:sp>
      <p:pic>
        <p:nvPicPr>
          <p:cNvPr id="4" name="Picture 3" descr="mirror_setup.png"/>
          <p:cNvPicPr>
            <a:picLocks noChangeAspect="1"/>
          </p:cNvPicPr>
          <p:nvPr/>
        </p:nvPicPr>
        <p:blipFill>
          <a:blip r:embed="rId2"/>
          <a:stretch>
            <a:fillRect/>
          </a:stretch>
        </p:blipFill>
        <p:spPr>
          <a:xfrm>
            <a:off x="6504127" y="1280160"/>
            <a:ext cx="5120640" cy="4049221"/>
          </a:xfrm>
          <a:prstGeom prst="rect">
            <a:avLst/>
          </a:prstGeom>
        </p:spPr>
      </p:pic>
      <p:sp>
        <p:nvSpPr>
          <p:cNvPr id="5" name="Figure caption"/>
          <p:cNvSpPr txBox="1"/>
          <p:nvPr/>
        </p:nvSpPr>
        <p:spPr>
          <a:xfrm>
            <a:off x="6504127" y="542082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1. Original accessible-mirror enclosure preparation.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 sham mark controls touch and odor explanations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44B65"/>
                </a:solidFill>
                <a:latin typeface="Arial"/>
              </a:rPr>
              <a:t>mark test</a:t>
            </a:r>
            <a:r>
              <a:rPr sz="1600" b="0" i="0">
                <a:solidFill>
                  <a:srgbClr val="000000"/>
                </a:solidFill>
                <a:latin typeface="Arial"/>
              </a:rPr>
              <a:t> placed a visible mark on an otherwise unseen part of the elephant’s head. An invisible sham mark on the opposite side controlled for application-related tactile and olfactory cues, leaving visual appearance as the intended difference.</a:t>
            </a:r>
          </a:p>
          <a:p>
            <a:pPr algn="l">
              <a:lnSpc>
                <a:spcPct val="108000"/>
              </a:lnSpc>
              <a:spcAft>
                <a:spcPts val="960"/>
              </a:spcAft>
            </a:pPr>
            <a:r>
              <a:rPr sz="1600" b="0" i="0">
                <a:solidFill>
                  <a:srgbClr val="000000"/>
                </a:solidFill>
                <a:latin typeface="Arial"/>
              </a:rPr>
              <a:t>Happy repeatedly investigated the visible mark during or soon after mirror proximity, while the sham-mark side did not receive equivalent touching. Prior covered-mirror sham tests had not elicited mark-directed investigation. The other elephants explored the mirror but did not pass the mark test.</a:t>
            </a:r>
          </a:p>
          <a:p>
            <a:pPr algn="l">
              <a:lnSpc>
                <a:spcPct val="108000"/>
              </a:lnSpc>
              <a:spcAft>
                <a:spcPts val="960"/>
              </a:spcAft>
            </a:pPr>
            <a:r>
              <a:rPr sz="1600" b="0" i="0">
                <a:solidFill>
                  <a:srgbClr val="000000"/>
                </a:solidFill>
                <a:latin typeface="Arial"/>
              </a:rPr>
              <a:t>Selective touching supports using the reflection to obtain information about one’s own body. The result is individual-specific and does not establish the prevalence of mirror recognition in elephants or prove that all forms of self-awareness depend on this particular visual task.</a:t>
            </a:r>
          </a:p>
        </p:txBody>
      </p:sp>
      <p:pic>
        <p:nvPicPr>
          <p:cNvPr id="4" name="Picture 3" descr="mirror_mark.png"/>
          <p:cNvPicPr>
            <a:picLocks noChangeAspect="1"/>
          </p:cNvPicPr>
          <p:nvPr/>
        </p:nvPicPr>
        <p:blipFill>
          <a:blip r:embed="rId2"/>
          <a:stretch>
            <a:fillRect/>
          </a:stretch>
        </p:blipFill>
        <p:spPr>
          <a:xfrm>
            <a:off x="1614693" y="1280160"/>
            <a:ext cx="3025108"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2(A–B). Visible head mark and mirror-associated mark touching.</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 positive mark test has a defined evidential scope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Happy’s head touching increased during the initial mark session, especially during mirror exposure or within 90 s after it. The temporal association matters because a purely tactile response to application would not specifically require visual access to the reflective surface.</a:t>
            </a:r>
          </a:p>
          <a:p>
            <a:pPr algn="l">
              <a:lnSpc>
                <a:spcPct val="108000"/>
              </a:lnSpc>
              <a:spcAft>
                <a:spcPts val="960"/>
              </a:spcAft>
            </a:pPr>
            <a:r>
              <a:rPr sz="1600" b="0" i="0">
                <a:solidFill>
                  <a:srgbClr val="000000"/>
                </a:solidFill>
                <a:latin typeface="Arial"/>
              </a:rPr>
              <a:t>The paper compared these responses with earlier open-mirror sessions and nonmirror conditions. Husbandry constraints prevented an ideal visible-mark, covered-mirror control while isolating the subject from its partner, leaving an explicitly acknowledged limitation in the design.</a:t>
            </a:r>
          </a:p>
          <a:p>
            <a:pPr algn="l">
              <a:lnSpc>
                <a:spcPct val="108000"/>
              </a:lnSpc>
              <a:spcAft>
                <a:spcPts val="960"/>
              </a:spcAft>
            </a:pPr>
            <a:r>
              <a:rPr sz="1600" b="0" i="0">
                <a:solidFill>
                  <a:srgbClr val="000000"/>
                </a:solidFill>
                <a:latin typeface="Arial"/>
              </a:rPr>
              <a:t>Mirror-guided self-investigation is evidence about processing bodily information. Its association with empathy or social complexity is a comparative hypothesis, not a demonstrated causal relationship in this experiment. Neither mirror behavior nor mark touching identified the responsible cortical cells.</a:t>
            </a:r>
          </a:p>
        </p:txBody>
      </p:sp>
      <p:pic>
        <p:nvPicPr>
          <p:cNvPr id="4" name="Picture 3" descr="mirror_rates.png"/>
          <p:cNvPicPr>
            <a:picLocks noChangeAspect="1"/>
          </p:cNvPicPr>
          <p:nvPr/>
        </p:nvPicPr>
        <p:blipFill>
          <a:blip r:embed="rId2"/>
          <a:stretch>
            <a:fillRect/>
          </a:stretch>
        </p:blipFill>
        <p:spPr>
          <a:xfrm>
            <a:off x="6890537" y="1280160"/>
            <a:ext cx="43478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et al. (2006), Fig. 3. Head-touching rates across mirror and mark conditions.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Body weight can obstruct a goal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Dale and Plotnik tested </a:t>
            </a:r>
            <a:r>
              <a:rPr sz="1700" b="1" i="0">
                <a:solidFill>
                  <a:srgbClr val="344B65"/>
                </a:solidFill>
                <a:latin typeface="Arial"/>
              </a:rPr>
              <a:t>body awareness</a:t>
            </a:r>
            <a:r>
              <a:rPr sz="1700" b="0" i="0">
                <a:solidFill>
                  <a:srgbClr val="000000"/>
                </a:solidFill>
                <a:latin typeface="Arial"/>
              </a:rPr>
              <a:t>, the ability to treat one’s own body as a relevant object in a task. Asian elephants stood on a rubber mat while attempting to pass a stick to an experimenter in front of them.</a:t>
            </a:r>
          </a:p>
          <a:p>
            <a:pPr algn="l">
              <a:lnSpc>
                <a:spcPct val="108000"/>
              </a:lnSpc>
              <a:spcAft>
                <a:spcPts val="1019"/>
              </a:spcAft>
            </a:pPr>
            <a:r>
              <a:rPr sz="1700" b="0" i="0">
                <a:solidFill>
                  <a:srgbClr val="000000"/>
                </a:solidFill>
                <a:latin typeface="Arial"/>
              </a:rPr>
              <a:t>In the test condition, a rope attached the stick to the mat. The elephant’s weight prevented the mat and attached stick from moving freely. Stepping off removed this obstruction and enabled the transfer, whereas an unattached-stick control permitted transfer without stepping off.</a:t>
            </a:r>
          </a:p>
          <a:p>
            <a:pPr algn="l">
              <a:lnSpc>
                <a:spcPct val="108000"/>
              </a:lnSpc>
              <a:spcAft>
                <a:spcPts val="1019"/>
              </a:spcAft>
            </a:pPr>
            <a:r>
              <a:rPr sz="1700" b="0" i="0">
                <a:solidFill>
                  <a:srgbClr val="000000"/>
                </a:solidFill>
                <a:latin typeface="Arial"/>
              </a:rPr>
              <a:t>Elephants left the mat much more often when their weight obstructed the required action. The result concerns a functional body–environment relationship, not recognition of a visual identity, and should not be treated as the same assay as mirror self-recognition.</a:t>
            </a:r>
          </a:p>
        </p:txBody>
      </p:sp>
      <p:pic>
        <p:nvPicPr>
          <p:cNvPr id="4" name="Picture 3" descr="body_setup.png"/>
          <p:cNvPicPr>
            <a:picLocks noChangeAspect="1"/>
          </p:cNvPicPr>
          <p:nvPr/>
        </p:nvPicPr>
        <p:blipFill>
          <a:blip r:embed="rId2"/>
          <a:stretch>
            <a:fillRect/>
          </a:stretch>
        </p:blipFill>
        <p:spPr>
          <a:xfrm>
            <a:off x="6993001" y="1280160"/>
            <a:ext cx="414289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Dale &amp; Plotnik (2017), Fig. 1. Original mat-and-stick transfer task.</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Dale &amp; Plotnik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Discomfort differs from self-obstruction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second control tested whether elephants stepped off the mat simply because pulling created an uncomfortable sensation under their feet. The animal transferred footwear sideways between experimenters while another experimenter tugged the mat’s attached rope.</a:t>
            </a:r>
          </a:p>
          <a:p>
            <a:pPr algn="l">
              <a:lnSpc>
                <a:spcPct val="108000"/>
              </a:lnSpc>
              <a:spcAft>
                <a:spcPts val="960"/>
              </a:spcAft>
            </a:pPr>
            <a:r>
              <a:rPr sz="1600" b="0" i="0">
                <a:solidFill>
                  <a:srgbClr val="000000"/>
                </a:solidFill>
                <a:latin typeface="Arial"/>
              </a:rPr>
              <a:t>The tug produced underfoot disturbance without making body weight an obstacle to the required transfer. Elephants left the mat less often in this control than in the attached-stick test, making discomfort alone an inadequate explanation of the test response.</a:t>
            </a:r>
          </a:p>
          <a:p>
            <a:pPr algn="l">
              <a:lnSpc>
                <a:spcPct val="108000"/>
              </a:lnSpc>
              <a:spcAft>
                <a:spcPts val="960"/>
              </a:spcAft>
            </a:pPr>
            <a:r>
              <a:rPr sz="1600" b="0" i="0">
                <a:solidFill>
                  <a:srgbClr val="000000"/>
                </a:solidFill>
                <a:latin typeface="Arial"/>
              </a:rPr>
              <a:t>The control does not reveal whether the animal explicitly conceptualized its own body. It supports a narrower account in which behavior distinguishes an obstructing body position from an irrelevant physical disturbance. Movement, tactile feedback and previous task learning remain components of that solution.</a:t>
            </a:r>
          </a:p>
        </p:txBody>
      </p:sp>
      <p:pic>
        <p:nvPicPr>
          <p:cNvPr id="4" name="Picture 3" descr="body_control.png"/>
          <p:cNvPicPr>
            <a:picLocks noChangeAspect="1"/>
          </p:cNvPicPr>
          <p:nvPr/>
        </p:nvPicPr>
        <p:blipFill>
          <a:blip r:embed="rId2"/>
          <a:stretch>
            <a:fillRect/>
          </a:stretch>
        </p:blipFill>
        <p:spPr>
          <a:xfrm>
            <a:off x="6504127" y="1280160"/>
            <a:ext cx="5120640" cy="4203426"/>
          </a:xfrm>
          <a:prstGeom prst="rect">
            <a:avLst/>
          </a:prstGeom>
        </p:spPr>
      </p:pic>
      <p:sp>
        <p:nvSpPr>
          <p:cNvPr id="5" name="Figure caption"/>
          <p:cNvSpPr txBox="1"/>
          <p:nvPr/>
        </p:nvSpPr>
        <p:spPr>
          <a:xfrm>
            <a:off x="6504127" y="55750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Dale &amp; Plotnik (2017), Fig. 5. Published foot-discomfort control arrangement.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Dale &amp; Plotnik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Early success limits a repeated-training explanation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Across testing, elephants removed their weight from the mat far more often when the stick was attached than when it was unattached or when the mat was tugged during the discomfort control. The conditions therefore differed according to the task’s physical requirement.</a:t>
            </a:r>
          </a:p>
          <a:p>
            <a:pPr algn="l">
              <a:lnSpc>
                <a:spcPct val="108000"/>
              </a:lnSpc>
              <a:spcAft>
                <a:spcPts val="960"/>
              </a:spcAft>
            </a:pPr>
            <a:r>
              <a:rPr sz="1600" b="0" i="0">
                <a:solidFill>
                  <a:srgbClr val="000000"/>
                </a:solidFill>
                <a:latin typeface="Arial"/>
              </a:rPr>
              <a:t>The investigators separately examined the first test session because repeated trials could teach a specific escape response. Early successful transfers were common, and some occurred on the first trial, reducing the explanation that success required extensive training within the experiment.</a:t>
            </a:r>
          </a:p>
          <a:p>
            <a:pPr algn="l">
              <a:lnSpc>
                <a:spcPct val="108000"/>
              </a:lnSpc>
              <a:spcAft>
                <a:spcPts val="960"/>
              </a:spcAft>
            </a:pPr>
            <a:r>
              <a:rPr sz="1600" b="0" i="0">
                <a:solidFill>
                  <a:srgbClr val="000000"/>
                </a:solidFill>
                <a:latin typeface="Arial"/>
              </a:rPr>
              <a:t>Prior handling and transfer experience was not absent. The evidence supports practical sensitivity to self-obstruction under these conditions, while leaving open how the relationship was represented and whether it generalizes to novel body–object problems outside the tested setting.</a:t>
            </a:r>
          </a:p>
        </p:txBody>
      </p:sp>
      <p:pic>
        <p:nvPicPr>
          <p:cNvPr id="4" name="Picture 3" descr="body_results.png"/>
          <p:cNvPicPr>
            <a:picLocks noChangeAspect="1"/>
          </p:cNvPicPr>
          <p:nvPr/>
        </p:nvPicPr>
        <p:blipFill>
          <a:blip r:embed="rId2"/>
          <a:stretch>
            <a:fillRect/>
          </a:stretch>
        </p:blipFill>
        <p:spPr>
          <a:xfrm>
            <a:off x="856404" y="1280160"/>
            <a:ext cx="4541687"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Dale &amp; Plotnik (2017), Fig. 2. Mat departure in test and control conditions.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Dale &amp; Plotnik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Von Economo neurons have a distinctive bipolar form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Von Economo neurons</a:t>
            </a:r>
            <a:r>
              <a:rPr sz="1600" b="0" i="0">
                <a:solidFill>
                  <a:srgbClr val="000000"/>
                </a:solidFill>
                <a:latin typeface="Arial"/>
              </a:rPr>
              <a:t>, or VENs, are identified here by an elongated spindle-shaped cell body with one large apical dendrite and one large basal dendrite, with little branching near the soma. </a:t>
            </a:r>
            <a:r>
              <a:rPr sz="1600" b="1" i="0">
                <a:solidFill>
                  <a:srgbClr val="344B65"/>
                </a:solidFill>
                <a:latin typeface="Arial"/>
              </a:rPr>
              <a:t>Dendrites</a:t>
            </a:r>
            <a:r>
              <a:rPr sz="1600" b="0" i="0">
                <a:solidFill>
                  <a:srgbClr val="000000"/>
                </a:solidFill>
                <a:latin typeface="Arial"/>
              </a:rPr>
              <a:t> are neuronal processes that receive and integrate synaptic input.</a:t>
            </a:r>
          </a:p>
          <a:p>
            <a:pPr algn="l">
              <a:lnSpc>
                <a:spcPct val="108000"/>
              </a:lnSpc>
              <a:spcAft>
                <a:spcPts val="960"/>
              </a:spcAft>
            </a:pPr>
            <a:r>
              <a:rPr sz="1600" b="0" i="0">
                <a:solidFill>
                  <a:srgbClr val="000000"/>
                </a:solidFill>
                <a:latin typeface="Arial"/>
              </a:rPr>
              <a:t>Hakeem and colleagues examined postmortem elephant cortex using Nissl staining, which reveals cell bodies and cortical architecture. Cells with this morphology occurred in African elephant frontoinsular and dorsolateral frontal tissue and in Asian elephant anterior cingulate tissue.</a:t>
            </a:r>
          </a:p>
          <a:p>
            <a:pPr algn="l">
              <a:lnSpc>
                <a:spcPct val="108000"/>
              </a:lnSpc>
              <a:spcAft>
                <a:spcPts val="960"/>
              </a:spcAft>
            </a:pPr>
            <a:r>
              <a:rPr sz="1600" b="0" i="0">
                <a:solidFill>
                  <a:srgbClr val="000000"/>
                </a:solidFill>
                <a:latin typeface="Arial"/>
              </a:rPr>
              <a:t>Shape and regional location establish an anatomical cell category in these specimens. They do not measure synaptic input, firing rate or transmitter release. A proposal that these cells rapidly transmit socially important information remained an interpretation requiring direct physiological and connectional tests.</a:t>
            </a:r>
          </a:p>
        </p:txBody>
      </p:sp>
      <p:pic>
        <p:nvPicPr>
          <p:cNvPr id="4" name="Picture 3" descr="ven_cells.png"/>
          <p:cNvPicPr>
            <a:picLocks noChangeAspect="1"/>
          </p:cNvPicPr>
          <p:nvPr/>
        </p:nvPicPr>
        <p:blipFill>
          <a:blip r:embed="rId2"/>
          <a:stretch>
            <a:fillRect/>
          </a:stretch>
        </p:blipFill>
        <p:spPr>
          <a:xfrm>
            <a:off x="7263016" y="1280160"/>
            <a:ext cx="36028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1(A–E). Original elephant and dolphin VEN photomicrographs.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Frontoinsular tissue concentrates VENs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44B65"/>
                </a:solidFill>
                <a:latin typeface="Arial"/>
              </a:rPr>
              <a:t>frontoinsular cortex</a:t>
            </a:r>
            <a:r>
              <a:rPr sz="1600" b="0" i="0">
                <a:solidFill>
                  <a:srgbClr val="000000"/>
                </a:solidFill>
                <a:latin typeface="Arial"/>
              </a:rPr>
              <a:t>, abbreviated FI, is a cortical region at the frontal–insular transition. Hakeem and colleagues mapped VEN locations in serial Nissl-stained sections rather than assigning cells from overall brain size or presumed social intelligence.</a:t>
            </a:r>
          </a:p>
          <a:p>
            <a:pPr algn="l">
              <a:lnSpc>
                <a:spcPct val="108000"/>
              </a:lnSpc>
              <a:spcAft>
                <a:spcPts val="960"/>
              </a:spcAft>
            </a:pPr>
            <a:r>
              <a:rPr sz="1600" b="0" i="0">
                <a:solidFill>
                  <a:srgbClr val="000000"/>
                </a:solidFill>
                <a:latin typeface="Arial"/>
              </a:rPr>
              <a:t>The largest elephant VEN concentration occupied tissue comparable in location to FI in humans and apes. VENs were more prevalent near gyral crowns and sparse near sulcal depths. A </a:t>
            </a:r>
            <a:r>
              <a:rPr sz="1600" b="1" i="0">
                <a:solidFill>
                  <a:srgbClr val="344B65"/>
                </a:solidFill>
                <a:latin typeface="Arial"/>
              </a:rPr>
              <a:t>gyrus</a:t>
            </a:r>
            <a:r>
              <a:rPr sz="1600" b="0" i="0">
                <a:solidFill>
                  <a:srgbClr val="000000"/>
                </a:solidFill>
                <a:latin typeface="Arial"/>
              </a:rPr>
              <a:t> is a cortical fold’s raised part; a </a:t>
            </a:r>
            <a:r>
              <a:rPr sz="1600" b="1" i="0">
                <a:solidFill>
                  <a:srgbClr val="344B65"/>
                </a:solidFill>
                <a:latin typeface="Arial"/>
              </a:rPr>
              <a:t>sulcus</a:t>
            </a:r>
            <a:r>
              <a:rPr sz="1600" b="0" i="0">
                <a:solidFill>
                  <a:srgbClr val="000000"/>
                </a:solidFill>
                <a:latin typeface="Arial"/>
              </a:rPr>
              <a:t> is the intervening groove.</a:t>
            </a:r>
          </a:p>
          <a:p>
            <a:pPr algn="l">
              <a:lnSpc>
                <a:spcPct val="108000"/>
              </a:lnSpc>
              <a:spcAft>
                <a:spcPts val="960"/>
              </a:spcAft>
            </a:pPr>
            <a:r>
              <a:rPr sz="1600" b="0" i="0">
                <a:solidFill>
                  <a:srgbClr val="000000"/>
                </a:solidFill>
                <a:latin typeface="Arial"/>
              </a:rPr>
              <a:t>Regional concentration and folding relationships support organized distribution rather than uniform scattering across cortex. The anatomical correspondence does not establish identical human and elephant functions, and no FI activity was recorded during social decisions in this study.</a:t>
            </a:r>
          </a:p>
        </p:txBody>
      </p:sp>
      <p:pic>
        <p:nvPicPr>
          <p:cNvPr id="4" name="Picture 3" descr="ven_fi.png"/>
          <p:cNvPicPr>
            <a:picLocks noChangeAspect="1"/>
          </p:cNvPicPr>
          <p:nvPr/>
        </p:nvPicPr>
        <p:blipFill>
          <a:blip r:embed="rId2"/>
          <a:stretch>
            <a:fillRect/>
          </a:stretch>
        </p:blipFill>
        <p:spPr>
          <a:xfrm>
            <a:off x="6504127" y="1280160"/>
            <a:ext cx="5120640" cy="3690826"/>
          </a:xfrm>
          <a:prstGeom prst="rect">
            <a:avLst/>
          </a:prstGeom>
        </p:spPr>
      </p:pic>
      <p:sp>
        <p:nvSpPr>
          <p:cNvPr id="5" name="Figure caption"/>
          <p:cNvSpPr txBox="1"/>
          <p:nvPr/>
        </p:nvSpPr>
        <p:spPr>
          <a:xfrm>
            <a:off x="6504127" y="50624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2(A–B). Nissl section and original frontoinsular distribution map.</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ACC anatomy does not establish an empathy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a:t>
            </a:r>
            <a:r>
              <a:rPr sz="1700" b="1" i="0">
                <a:solidFill>
                  <a:srgbClr val="344B65"/>
                </a:solidFill>
                <a:latin typeface="Arial"/>
              </a:rPr>
              <a:t>anterior cingulate cortex</a:t>
            </a:r>
            <a:r>
              <a:rPr sz="1700" b="0" i="0">
                <a:solidFill>
                  <a:srgbClr val="000000"/>
                </a:solidFill>
                <a:latin typeface="Arial"/>
              </a:rPr>
              <a:t>, or ACC, lies on the medial cerebral surface. Hakeem and colleagues found VENs in subgenual anterior cingulate tissue and documented the same morphology in an Asian elephant ACC specimen, at lower density than in FI.</a:t>
            </a:r>
          </a:p>
          <a:p>
            <a:pPr algn="l">
              <a:lnSpc>
                <a:spcPct val="108000"/>
              </a:lnSpc>
              <a:spcAft>
                <a:spcPts val="1019"/>
              </a:spcAft>
            </a:pPr>
            <a:r>
              <a:rPr sz="1700" b="0" i="0">
                <a:solidFill>
                  <a:srgbClr val="000000"/>
                </a:solidFill>
                <a:latin typeface="Arial"/>
              </a:rPr>
              <a:t>Earlier tissue removal limited mapping in parts of ACC and in one hemisphere. Such incomplete sampling matters when distinguishing a sparse population from an unexamined region. The paper’s regional descriptions are based on available histology, not a complete functional atlas.</a:t>
            </a:r>
          </a:p>
          <a:p>
            <a:pPr algn="l">
              <a:lnSpc>
                <a:spcPct val="108000"/>
              </a:lnSpc>
              <a:spcAft>
                <a:spcPts val="1019"/>
              </a:spcAft>
            </a:pPr>
            <a:r>
              <a:rPr sz="1700" b="0" i="0">
                <a:solidFill>
                  <a:srgbClr val="000000"/>
                </a:solidFill>
                <a:latin typeface="Arial"/>
              </a:rPr>
              <a:t>Connections between ACC, social awareness and emotional evaluation were discussed largely from comparative human evidence. The elephant specimens establish cellular presence; they do not establish that ACC VENs are necessary for reassurance, cooperation or mirror-guided self-investigation.</a:t>
            </a:r>
          </a:p>
        </p:txBody>
      </p:sp>
      <p:pic>
        <p:nvPicPr>
          <p:cNvPr id="4" name="Picture 3" descr="ven_acc.png"/>
          <p:cNvPicPr>
            <a:picLocks noChangeAspect="1"/>
          </p:cNvPicPr>
          <p:nvPr/>
        </p:nvPicPr>
        <p:blipFill>
          <a:blip r:embed="rId2"/>
          <a:stretch>
            <a:fillRect/>
          </a:stretch>
        </p:blipFill>
        <p:spPr>
          <a:xfrm>
            <a:off x="7735559" y="1280160"/>
            <a:ext cx="265777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1(C). Original anterior cingulate VEN; 70 µm scale bar.</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Frontal VENs extend beyond the frontoinsular region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Hakeem and colleagues also identified VENs in a </a:t>
            </a:r>
            <a:r>
              <a:rPr sz="1600" b="1" i="0">
                <a:solidFill>
                  <a:srgbClr val="344B65"/>
                </a:solidFill>
                <a:latin typeface="Arial"/>
              </a:rPr>
              <a:t>dorsolateral frontal</a:t>
            </a:r>
            <a:r>
              <a:rPr sz="1600" b="0" i="0">
                <a:solidFill>
                  <a:srgbClr val="000000"/>
                </a:solidFill>
                <a:latin typeface="Arial"/>
              </a:rPr>
              <a:t> cortical area, located toward the upper outer frontal surface. The original photomicrograph includes both paired and isolated cells with elongated bodies and prominent opposing dendrites.</a:t>
            </a:r>
          </a:p>
          <a:p>
            <a:pPr algn="l">
              <a:lnSpc>
                <a:spcPct val="108000"/>
              </a:lnSpc>
              <a:spcAft>
                <a:spcPts val="960"/>
              </a:spcAft>
            </a:pPr>
            <a:r>
              <a:rPr sz="1600" b="0" i="0">
                <a:solidFill>
                  <a:srgbClr val="000000"/>
                </a:solidFill>
                <a:latin typeface="Arial"/>
              </a:rPr>
              <a:t>The investigators searched the frontal cortex in mounted stained sections, using cell morphology to identify candidate VENs. Additional small populations occurred in other frontal locations, so the reported specialization was not confined to one precisely bounded frontoinsular field.</a:t>
            </a:r>
          </a:p>
          <a:p>
            <a:pPr algn="l">
              <a:lnSpc>
                <a:spcPct val="108000"/>
              </a:lnSpc>
              <a:spcAft>
                <a:spcPts val="960"/>
              </a:spcAft>
            </a:pPr>
            <a:r>
              <a:rPr sz="1600" b="0" i="0">
                <a:solidFill>
                  <a:srgbClr val="000000"/>
                </a:solidFill>
                <a:latin typeface="Arial"/>
              </a:rPr>
              <a:t>This wider distribution complicates claims that one cell shape corresponds to a single social function. The study did not determine elephant-specific projection targets, neurotransmitter identities or response selectivity. Similar morphology across regions is evidence of a shared anatomical feature, not proof of identical circuitry.</a:t>
            </a:r>
          </a:p>
        </p:txBody>
      </p:sp>
      <p:pic>
        <p:nvPicPr>
          <p:cNvPr id="4" name="Picture 3" descr="ven_cells.png"/>
          <p:cNvPicPr>
            <a:picLocks noChangeAspect="1"/>
          </p:cNvPicPr>
          <p:nvPr/>
        </p:nvPicPr>
        <p:blipFill>
          <a:blip r:embed="rId2"/>
          <a:stretch>
            <a:fillRect/>
          </a:stretch>
        </p:blipFill>
        <p:spPr>
          <a:xfrm>
            <a:off x="1325817" y="1280160"/>
            <a:ext cx="3602861"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1(A–E). Dorsolateral frontal VENs in panel B.</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VENs concentrate in cortical layer five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44B65"/>
                </a:solidFill>
                <a:latin typeface="Arial"/>
              </a:rPr>
              <a:t>cortical layer</a:t>
            </a:r>
            <a:r>
              <a:rPr sz="1600" b="0" i="0">
                <a:solidFill>
                  <a:srgbClr val="000000"/>
                </a:solidFill>
                <a:latin typeface="Arial"/>
              </a:rPr>
              <a:t> is a band defined by differences in cell composition and arrangement through cortical depth. In the mapped elephant FI region, VENs occurred primarily in layer 5, alongside other large neurons with different shapes.</a:t>
            </a:r>
          </a:p>
          <a:p>
            <a:pPr algn="l">
              <a:lnSpc>
                <a:spcPct val="108000"/>
              </a:lnSpc>
              <a:spcAft>
                <a:spcPts val="960"/>
              </a:spcAft>
            </a:pPr>
            <a:r>
              <a:rPr sz="1600" b="0" i="0">
                <a:solidFill>
                  <a:srgbClr val="000000"/>
                </a:solidFill>
                <a:latin typeface="Arial"/>
              </a:rPr>
              <a:t>Serial sections and higher-magnification inspection connected cell morphology to laminar position. The authors also described dense clusters beneath the cortex as possible “claustral islands”; that identification was proposed from their location and appearance rather than established by tracing connections.</a:t>
            </a:r>
          </a:p>
          <a:p>
            <a:pPr algn="l">
              <a:lnSpc>
                <a:spcPct val="108000"/>
              </a:lnSpc>
              <a:spcAft>
                <a:spcPts val="960"/>
              </a:spcAft>
            </a:pPr>
            <a:r>
              <a:rPr sz="1600" b="0" i="0">
                <a:solidFill>
                  <a:srgbClr val="000000"/>
                </a:solidFill>
                <a:latin typeface="Arial"/>
              </a:rPr>
              <a:t>Laminar position provides a hypothesis about participation in cortical output, but does not reveal an elephant VEN’s exact target or synaptic effect. Neither the source’s section map nor its photomicrograph records active information flow through a social-decision circuit.</a:t>
            </a:r>
          </a:p>
        </p:txBody>
      </p:sp>
      <p:pic>
        <p:nvPicPr>
          <p:cNvPr id="4" name="Picture 3" descr="ven_layers.png"/>
          <p:cNvPicPr>
            <a:picLocks noChangeAspect="1"/>
          </p:cNvPicPr>
          <p:nvPr/>
        </p:nvPicPr>
        <p:blipFill>
          <a:blip r:embed="rId2"/>
          <a:stretch>
            <a:fillRect/>
          </a:stretch>
        </p:blipFill>
        <p:spPr>
          <a:xfrm>
            <a:off x="6504127" y="1280160"/>
            <a:ext cx="5120640" cy="3237492"/>
          </a:xfrm>
          <a:prstGeom prst="rect">
            <a:avLst/>
          </a:prstGeom>
        </p:spPr>
      </p:pic>
      <p:sp>
        <p:nvSpPr>
          <p:cNvPr id="5" name="Figure caption"/>
          <p:cNvSpPr txBox="1"/>
          <p:nvPr/>
        </p:nvSpPr>
        <p:spPr>
          <a:xfrm>
            <a:off x="6504127" y="46090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4. VEN distribution and layers in a frontoinsular gyrus.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Cell abundance differs from proportion within a region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Stereology</a:t>
            </a:r>
            <a:r>
              <a:rPr sz="1600" b="0" i="0">
                <a:solidFill>
                  <a:srgbClr val="000000"/>
                </a:solidFill>
                <a:latin typeface="Arial"/>
              </a:rPr>
              <a:t> estimates cell abundance from systematically sampled tissue rather than counting only conspicuous cells in a selected image. Hakeem and colleagues used this approach to estimate frontoinsular VEN numbers in the two hemispheres of one African elephant.</a:t>
            </a:r>
          </a:p>
          <a:p>
            <a:pPr algn="l">
              <a:lnSpc>
                <a:spcPct val="108000"/>
              </a:lnSpc>
              <a:spcAft>
                <a:spcPts val="960"/>
              </a:spcAft>
            </a:pPr>
            <a:r>
              <a:rPr sz="1600" b="0" i="0">
                <a:solidFill>
                  <a:srgbClr val="000000"/>
                </a:solidFill>
                <a:latin typeface="Arial"/>
              </a:rPr>
              <a:t>The estimates were approximately 10,200 VENs on the right and 9,110 on the left. The proportions differed more sharply: about 0.78% of counted neurons in the relevant right FI layers versus 2.6% on the left, which was smaller but more densely populated.</a:t>
            </a:r>
          </a:p>
          <a:p>
            <a:pPr algn="l">
              <a:lnSpc>
                <a:spcPct val="108000"/>
              </a:lnSpc>
              <a:spcAft>
                <a:spcPts val="960"/>
              </a:spcAft>
            </a:pPr>
            <a:r>
              <a:rPr sz="1600" b="0" i="0">
                <a:solidFill>
                  <a:srgbClr val="000000"/>
                </a:solidFill>
                <a:latin typeface="Arial"/>
              </a:rPr>
              <a:t>Absolute abundance and regional percentage therefore answer different questions. These estimates do not establish a population-wide hemispheric rule, greater intelligence on one side, or a relationship between an individual’s VEN number and its measured social behavior.</a:t>
            </a:r>
          </a:p>
        </p:txBody>
      </p:sp>
      <p:pic>
        <p:nvPicPr>
          <p:cNvPr id="4" name="Picture 3" descr="ven_fi.png"/>
          <p:cNvPicPr>
            <a:picLocks noChangeAspect="1"/>
          </p:cNvPicPr>
          <p:nvPr/>
        </p:nvPicPr>
        <p:blipFill>
          <a:blip r:embed="rId2"/>
          <a:stretch>
            <a:fillRect/>
          </a:stretch>
        </p:blipFill>
        <p:spPr>
          <a:xfrm>
            <a:off x="6504127" y="1280160"/>
            <a:ext cx="5120640" cy="3690826"/>
          </a:xfrm>
          <a:prstGeom prst="rect">
            <a:avLst/>
          </a:prstGeom>
        </p:spPr>
      </p:pic>
      <p:sp>
        <p:nvSpPr>
          <p:cNvPr id="5" name="Figure caption"/>
          <p:cNvSpPr txBox="1"/>
          <p:nvPr/>
        </p:nvSpPr>
        <p:spPr>
          <a:xfrm>
            <a:off x="6504127" y="50624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2(A–B). Original tissue basis for regional VEN estimates.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Similar cell shapes suggest evolutionary convergence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Convergent evolution</a:t>
            </a:r>
            <a:r>
              <a:rPr sz="1600" b="0" i="0">
                <a:solidFill>
                  <a:srgbClr val="000000"/>
                </a:solidFill>
                <a:latin typeface="Arial"/>
              </a:rPr>
              <a:t> is the independent emergence of similar traits in lineages without a recent shared origin of that trait. Hakeem and colleagues compared elephant VEN morphology with cells reported in hominids and cetaceans and examined several other mammalian groups.</a:t>
            </a:r>
          </a:p>
          <a:p>
            <a:pPr algn="l">
              <a:lnSpc>
                <a:spcPct val="108000"/>
              </a:lnSpc>
              <a:spcAft>
                <a:spcPts val="960"/>
              </a:spcAft>
            </a:pPr>
            <a:r>
              <a:rPr sz="1600" b="0" i="0">
                <a:solidFill>
                  <a:srgbClr val="000000"/>
                </a:solidFill>
                <a:latin typeface="Arial"/>
              </a:rPr>
              <a:t>Comparable elongated cells occurred in the elephant material and the dolphin comparison, while the surveyed close relatives generally lacked comparable VEN populations. The authors proposed independent emergence associated with large brains and possibly demands for rapid long-distance information transmission.</a:t>
            </a:r>
          </a:p>
          <a:p>
            <a:pPr algn="l">
              <a:lnSpc>
                <a:spcPct val="108000"/>
              </a:lnSpc>
              <a:spcAft>
                <a:spcPts val="960"/>
              </a:spcAft>
            </a:pPr>
            <a:r>
              <a:rPr sz="1600" b="0" i="0">
                <a:solidFill>
                  <a:srgbClr val="000000"/>
                </a:solidFill>
                <a:latin typeface="Arial"/>
              </a:rPr>
              <a:t>The comparative distribution supports an evolutionary hypothesis, not a demonstrated conduction mechanism. Axon dimensions, connection targets and conduction times were not measured in the elephant cells. Nor does a shared cell shape establish equal cognitive capacities across these distantly related animals.</a:t>
            </a:r>
          </a:p>
        </p:txBody>
      </p:sp>
      <p:pic>
        <p:nvPicPr>
          <p:cNvPr id="4" name="Picture 3" descr="ven_cells.png"/>
          <p:cNvPicPr>
            <a:picLocks noChangeAspect="1"/>
          </p:cNvPicPr>
          <p:nvPr/>
        </p:nvPicPr>
        <p:blipFill>
          <a:blip r:embed="rId2"/>
          <a:stretch>
            <a:fillRect/>
          </a:stretch>
        </p:blipFill>
        <p:spPr>
          <a:xfrm>
            <a:off x="7263016" y="1280160"/>
            <a:ext cx="36028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Hakeem et al. (2009), Fig. 1(A–E). Elephant VENs and a bottlenose dolphin comparison.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Hakeem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Newborn cortex supplies developmental anatomy</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Jacobs and colleagues examined cortical tissue from a stillborn African elephant and a newborn giraffe. The elephant brain weighed 1,745 g; these specimens represent an early developmental stage, not normal adult brain size or an adult cognitive performance comparison.</a:t>
            </a:r>
          </a:p>
          <a:p>
            <a:pPr algn="l">
              <a:lnSpc>
                <a:spcPct val="108000"/>
              </a:lnSpc>
              <a:spcAft>
                <a:spcPts val="960"/>
              </a:spcAft>
            </a:pPr>
            <a:r>
              <a:rPr sz="1600" b="0" i="0">
                <a:solidFill>
                  <a:srgbClr val="000000"/>
                </a:solidFill>
                <a:latin typeface="Arial"/>
              </a:rPr>
              <a:t>Samples came from elephant frontal, motor and occipital cortex, with anatomical locations documented before staining. Blocks were approximately 3–5 mm thick. Comparing defined regions reduced ambiguity about where the analyzed neuronal forms originated.</a:t>
            </a:r>
          </a:p>
          <a:p>
            <a:pPr algn="l">
              <a:lnSpc>
                <a:spcPct val="108000"/>
              </a:lnSpc>
              <a:spcAft>
                <a:spcPts val="960"/>
              </a:spcAft>
            </a:pPr>
            <a:r>
              <a:rPr sz="1600" b="0" i="0">
                <a:solidFill>
                  <a:srgbClr val="000000"/>
                </a:solidFill>
                <a:latin typeface="Arial"/>
              </a:rPr>
              <a:t>The design permits comparisons of cellular morphology across species and developmental datasets. The sampling outlines used adult brains because newborn specimens were fragmented; clinical history and fixation also limit inference. Newborn architecture cannot by itself identify the neural basis of the adult’s learned vocal repertoire or social experience.</a:t>
            </a:r>
          </a:p>
        </p:txBody>
      </p:sp>
      <p:pic>
        <p:nvPicPr>
          <p:cNvPr id="4" name="Picture 3" descr="newborn_brain.png"/>
          <p:cNvPicPr>
            <a:picLocks noChangeAspect="1"/>
          </p:cNvPicPr>
          <p:nvPr/>
        </p:nvPicPr>
        <p:blipFill>
          <a:blip r:embed="rId2"/>
          <a:stretch>
            <a:fillRect/>
          </a:stretch>
        </p:blipFill>
        <p:spPr>
          <a:xfrm>
            <a:off x="1697802" y="1280160"/>
            <a:ext cx="2858891"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1(A–B). Sampling locations on adult-based outlines, with newborn brain weights.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Golgi staining exposes whole dendritic configurations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44B65"/>
                </a:solidFill>
                <a:latin typeface="Arial"/>
              </a:rPr>
              <a:t>Golgi method</a:t>
            </a:r>
            <a:r>
              <a:rPr sz="1600" b="0" i="0">
                <a:solidFill>
                  <a:srgbClr val="000000"/>
                </a:solidFill>
                <a:latin typeface="Arial"/>
              </a:rPr>
              <a:t> impregnates a subset of neurons so that their cell bodies and dendritic branches can be examined against relatively unstained tissue. Jacobs and colleagues used a modified Golgi technique and computer-assisted tracing of newborn elephant cortical neurons.</a:t>
            </a:r>
          </a:p>
          <a:p>
            <a:pPr algn="l">
              <a:lnSpc>
                <a:spcPct val="108000"/>
              </a:lnSpc>
              <a:spcAft>
                <a:spcPts val="960"/>
              </a:spcAft>
            </a:pPr>
            <a:r>
              <a:rPr sz="1600" b="0" i="0">
                <a:solidFill>
                  <a:srgbClr val="000000"/>
                </a:solidFill>
                <a:latin typeface="Arial"/>
              </a:rPr>
              <a:t>Selection favored neurons whose processes could be followed and were not excessively obscured or truncated. The source’s motor-cortex tracings retain the positions of cell bodies relative to the pial surface, the outer cortical boundary. Different morphologies occupied overlapping rather than perfectly isolated depths.</a:t>
            </a:r>
          </a:p>
          <a:p>
            <a:pPr algn="l">
              <a:lnSpc>
                <a:spcPct val="108000"/>
              </a:lnSpc>
              <a:spcAft>
                <a:spcPts val="960"/>
              </a:spcAft>
            </a:pPr>
            <a:r>
              <a:rPr sz="1600" b="0" i="0">
                <a:solidFill>
                  <a:srgbClr val="000000"/>
                </a:solidFill>
                <a:latin typeface="Arial"/>
              </a:rPr>
              <a:t>Selective staining provides detailed shape information but is not a census of all cell types. An anatomical tracing neither establishes which synapses were functional nor measures electrical responses. Selected cells had to permit reliable tracing of branches within the tissue section.</a:t>
            </a:r>
          </a:p>
        </p:txBody>
      </p:sp>
      <p:pic>
        <p:nvPicPr>
          <p:cNvPr id="4" name="Picture 3" descr="newborn_motor.png"/>
          <p:cNvPicPr>
            <a:picLocks noChangeAspect="1"/>
          </p:cNvPicPr>
          <p:nvPr/>
        </p:nvPicPr>
        <p:blipFill>
          <a:blip r:embed="rId2"/>
          <a:stretch>
            <a:fillRect/>
          </a:stretch>
        </p:blipFill>
        <p:spPr>
          <a:xfrm>
            <a:off x="7256973" y="1280160"/>
            <a:ext cx="36149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10(A–Q). Published motor-cortex neuron tracings and depth scale.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Flattened pyramidal cells broaden dendritic geometry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44B65"/>
                </a:solidFill>
                <a:latin typeface="Arial"/>
              </a:rPr>
              <a:t>pyramidal neuron</a:t>
            </a:r>
            <a:r>
              <a:rPr sz="1600" b="0" i="0">
                <a:solidFill>
                  <a:srgbClr val="000000"/>
                </a:solidFill>
                <a:latin typeface="Arial"/>
              </a:rPr>
              <a:t> typically has a prominent apical dendrite and several basal dendrites. Jacobs and colleagues described elephant forms whose apical dendrites bifurcated widely or extended laterally, including flattened pyramidal neurons distinct from a narrow upright configuration.</a:t>
            </a:r>
          </a:p>
          <a:p>
            <a:pPr algn="l">
              <a:lnSpc>
                <a:spcPct val="108000"/>
              </a:lnSpc>
              <a:spcAft>
                <a:spcPts val="960"/>
              </a:spcAft>
            </a:pPr>
            <a:r>
              <a:rPr sz="1600" b="0" i="0">
                <a:solidFill>
                  <a:srgbClr val="000000"/>
                </a:solidFill>
                <a:latin typeface="Arial"/>
              </a:rPr>
              <a:t>The newborn frontal material already contained multiple projection-neuron morphologies. Published tracings placed these forms within cortical depth and supported comparisons with ordinary pyramidal and inverted pyramidal cells, rather than assuming one canonical cortical shape.</a:t>
            </a:r>
          </a:p>
          <a:p>
            <a:pPr algn="l">
              <a:lnSpc>
                <a:spcPct val="108000"/>
              </a:lnSpc>
              <a:spcAft>
                <a:spcPts val="960"/>
              </a:spcAft>
            </a:pPr>
            <a:r>
              <a:rPr sz="1600" b="0" i="0">
                <a:solidFill>
                  <a:srgbClr val="000000"/>
                </a:solidFill>
                <a:latin typeface="Arial"/>
              </a:rPr>
              <a:t>A wider dendritic configuration could sample inputs over a different tissue extent, but the study did not map the actual presynaptic partners. Morphological diversity is established; a particular role in elephant social learning, vocal imitation or behavioral flexibility is not established by these images.</a:t>
            </a:r>
          </a:p>
        </p:txBody>
      </p:sp>
      <p:pic>
        <p:nvPicPr>
          <p:cNvPr id="4" name="Picture 3" descr="newborn_frontal.png"/>
          <p:cNvPicPr>
            <a:picLocks noChangeAspect="1"/>
          </p:cNvPicPr>
          <p:nvPr/>
        </p:nvPicPr>
        <p:blipFill>
          <a:blip r:embed="rId2"/>
          <a:stretch>
            <a:fillRect/>
          </a:stretch>
        </p:blipFill>
        <p:spPr>
          <a:xfrm>
            <a:off x="6537183" y="1280160"/>
            <a:ext cx="505452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11(A–O). Original newborn frontal-cortex neuronal reconstructions.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Multipolar forms enlarge the cortical cell repertoire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Multipolar neurons</a:t>
            </a:r>
            <a:r>
              <a:rPr sz="1600" b="0" i="0">
                <a:solidFill>
                  <a:srgbClr val="000000"/>
                </a:solidFill>
                <a:latin typeface="Arial"/>
              </a:rPr>
              <a:t> have several processes extending from the cell body rather than one dominant apical and one basal dendrite. The newborn elephant frontal tissue contained nonpyramidal multipolar forms alongside inverted pyramidal, flattened pyramidal and other configurations.</a:t>
            </a:r>
          </a:p>
          <a:p>
            <a:pPr algn="l">
              <a:lnSpc>
                <a:spcPct val="108000"/>
              </a:lnSpc>
              <a:spcAft>
                <a:spcPts val="960"/>
              </a:spcAft>
            </a:pPr>
            <a:r>
              <a:rPr sz="1600" b="0" i="0">
                <a:solidFill>
                  <a:srgbClr val="000000"/>
                </a:solidFill>
                <a:latin typeface="Arial"/>
              </a:rPr>
              <a:t>Jacobs and colleagues documented these cells in Golgi photomicrographs and traced their dendritic trees. The photomicrographs preserve the actual tissue appearance, while the source’s companion reconstructions aid comparisons of branching geometry and cortical position.</a:t>
            </a:r>
          </a:p>
          <a:p>
            <a:pPr algn="l">
              <a:lnSpc>
                <a:spcPct val="108000"/>
              </a:lnSpc>
              <a:spcAft>
                <a:spcPts val="960"/>
              </a:spcAft>
            </a:pPr>
            <a:r>
              <a:rPr sz="1600" b="0" i="0">
                <a:solidFill>
                  <a:srgbClr val="000000"/>
                </a:solidFill>
                <a:latin typeface="Arial"/>
              </a:rPr>
              <a:t>The study reported greater morphological variety among elephant projection cells than in the newborn giraffe material. This is a comparison of sampled stained neurons, not an experimental demonstration that each additional shape supplies a distinct cognitive operation. Axonal targets and activity during behavior remain unresolved.</a:t>
            </a:r>
          </a:p>
        </p:txBody>
      </p:sp>
      <p:pic>
        <p:nvPicPr>
          <p:cNvPr id="4" name="Picture 3" descr="newborn_frontal_cells.png"/>
          <p:cNvPicPr>
            <a:picLocks noChangeAspect="1"/>
          </p:cNvPicPr>
          <p:nvPr/>
        </p:nvPicPr>
        <p:blipFill>
          <a:blip r:embed="rId2"/>
          <a:stretch>
            <a:fillRect/>
          </a:stretch>
        </p:blipFill>
        <p:spPr>
          <a:xfrm>
            <a:off x="7469419" y="1280160"/>
            <a:ext cx="319005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6(A–J). Original frontal-cortex Golgi photomicrographs.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Dendritic spines vary with cell type and development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44B65"/>
                </a:solidFill>
                <a:latin typeface="Arial"/>
              </a:rPr>
              <a:t>Dendritic spines</a:t>
            </a:r>
            <a:r>
              <a:rPr sz="1500" b="0" i="0">
                <a:solidFill>
                  <a:srgbClr val="000000"/>
                </a:solidFill>
                <a:latin typeface="Arial"/>
              </a:rPr>
              <a:t> are small protrusions on dendrites that commonly receive synaptic contacts. Jacobs and colleagues measured spine distributions along traced dendritic segments, using </a:t>
            </a:r>
            <a:r>
              <a:rPr sz="1500" b="1" i="0">
                <a:solidFill>
                  <a:srgbClr val="344B65"/>
                </a:solidFill>
                <a:latin typeface="Arial"/>
              </a:rPr>
              <a:t>spine density</a:t>
            </a:r>
            <a:r>
              <a:rPr sz="1500" b="0" i="0">
                <a:solidFill>
                  <a:srgbClr val="000000"/>
                </a:solidFill>
                <a:latin typeface="Arial"/>
              </a:rPr>
              <a:t> to describe the number of visible spines per unit dendritic length.</a:t>
            </a:r>
          </a:p>
          <a:p>
            <a:pPr algn="l">
              <a:lnSpc>
                <a:spcPct val="108000"/>
              </a:lnSpc>
              <a:spcAft>
                <a:spcPts val="900"/>
              </a:spcAft>
            </a:pPr>
            <a:r>
              <a:rPr sz="1500" b="0" i="0">
                <a:solidFill>
                  <a:srgbClr val="000000"/>
                </a:solidFill>
                <a:latin typeface="Arial"/>
              </a:rPr>
              <a:t>Several newborn local-circuit morphologies carried spines despite comparatively aspiny adult counterparts. The source compared spine-density profiles by cell type and distance from the soma, revealing that developing neuronal surface organization is not simply a scaled-down adult configuration.</a:t>
            </a:r>
          </a:p>
          <a:p>
            <a:pPr algn="l">
              <a:lnSpc>
                <a:spcPct val="108000"/>
              </a:lnSpc>
              <a:spcAft>
                <a:spcPts val="900"/>
              </a:spcAft>
            </a:pPr>
            <a:r>
              <a:rPr sz="1500" b="0" i="0">
                <a:solidFill>
                  <a:srgbClr val="000000"/>
                </a:solidFill>
                <a:latin typeface="Arial"/>
              </a:rPr>
              <a:t>Visible spines are structural observations, not measurements of synaptic strength, release probability or receptor composition. The authors discussed maturation of presumed inhibitory and excitatory classes comparatively, but transmitter identity and functional inhibition were not established by the Golgi staining itself.</a:t>
            </a:r>
          </a:p>
        </p:txBody>
      </p:sp>
      <p:pic>
        <p:nvPicPr>
          <p:cNvPr id="4" name="Picture 3" descr="newborn_spines.png"/>
          <p:cNvPicPr>
            <a:picLocks noChangeAspect="1"/>
          </p:cNvPicPr>
          <p:nvPr/>
        </p:nvPicPr>
        <p:blipFill>
          <a:blip r:embed="rId2"/>
          <a:stretch>
            <a:fillRect/>
          </a:stretch>
        </p:blipFill>
        <p:spPr>
          <a:xfrm>
            <a:off x="7955293" y="1280160"/>
            <a:ext cx="1852547"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16(A–D). Published spine-density profiles across distance and age.</a:t>
            </a:r>
          </a:p>
        </p:txBody>
      </p:sp>
      <p:pic>
        <p:nvPicPr>
          <p:cNvPr id="6" name="Picture 5" descr="newborn_spine_micro.png"/>
          <p:cNvPicPr>
            <a:picLocks noChangeAspect="1"/>
          </p:cNvPicPr>
          <p:nvPr/>
        </p:nvPicPr>
        <p:blipFill>
          <a:blip r:embed="rId3"/>
          <a:stretch>
            <a:fillRect/>
          </a:stretch>
        </p:blipFill>
        <p:spPr>
          <a:xfrm>
            <a:off x="8508679" y="4389120"/>
            <a:ext cx="745774"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5(B). Golgi-stained dendritic spines; original 10 µm scale bar.</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Projection dendrites continue growing after birth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Total dendritic length</a:t>
            </a:r>
            <a:r>
              <a:rPr sz="1600" b="0" i="0">
                <a:solidFill>
                  <a:srgbClr val="000000"/>
                </a:solidFill>
                <a:latin typeface="Arial"/>
              </a:rPr>
              <a:t> sums the lengths of the traced branches in a neuronal tree. Jacobs and colleagues compared newborn elephant cells with previously collected adult material using a matched subset of neuronal types.</a:t>
            </a:r>
          </a:p>
          <a:p>
            <a:pPr algn="l">
              <a:lnSpc>
                <a:spcPct val="108000"/>
              </a:lnSpc>
              <a:spcAft>
                <a:spcPts val="960"/>
              </a:spcAft>
            </a:pPr>
            <a:r>
              <a:rPr sz="1600" b="0" i="0">
                <a:solidFill>
                  <a:srgbClr val="000000"/>
                </a:solidFill>
                <a:latin typeface="Arial"/>
              </a:rPr>
              <a:t>Adult projection cells had more extensive dendrites: reported total lengths were approximately 32% greater for pyramidal, 36% greater for flattened pyramidal and 30% greater for nonpyramidal multipolar neurons. In contrast, the compared interneuron dendritic lengths were not similarly enlarged in adults.</a:t>
            </a:r>
          </a:p>
          <a:p>
            <a:pPr algn="l">
              <a:lnSpc>
                <a:spcPct val="108000"/>
              </a:lnSpc>
              <a:spcAft>
                <a:spcPts val="960"/>
              </a:spcAft>
            </a:pPr>
            <a:r>
              <a:rPr sz="1600" b="0" i="0">
                <a:solidFill>
                  <a:srgbClr val="000000"/>
                </a:solidFill>
                <a:latin typeface="Arial"/>
              </a:rPr>
              <a:t>These cross-sectional differences support prolonged growth of projection-neuron dendritic systems. They do not track the same cells through development, and they cannot separate maturation from particular social or sensory experiences. Structural growth should not be equated automatically with a measured increase in cognitive competence.</a:t>
            </a:r>
          </a:p>
        </p:txBody>
      </p:sp>
      <p:pic>
        <p:nvPicPr>
          <p:cNvPr id="4" name="Picture 3" descr="newborn_development.png"/>
          <p:cNvPicPr>
            <a:picLocks noChangeAspect="1"/>
          </p:cNvPicPr>
          <p:nvPr/>
        </p:nvPicPr>
        <p:blipFill>
          <a:blip r:embed="rId2"/>
          <a:stretch>
            <a:fillRect/>
          </a:stretch>
        </p:blipFill>
        <p:spPr>
          <a:xfrm>
            <a:off x="7455672" y="1280160"/>
            <a:ext cx="321754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Jacobs et al. (2016), Fig. 15. Newborn and adult elephant dendritic-length comparisons.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Jacobs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An African elephant copied environmental sounds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Vocal production learning</a:t>
            </a:r>
            <a:r>
              <a:rPr sz="1600" b="0" i="0">
                <a:solidFill>
                  <a:srgbClr val="000000"/>
                </a:solidFill>
                <a:latin typeface="Arial"/>
              </a:rPr>
              <a:t> is modification of the sounds an animal produces through experience of an acoustic model. Poole and colleagues recorded truck-like calls from Mlaika, an adolescent African elephant whose night enclosure was approximately 3 km from a major highway.</a:t>
            </a:r>
          </a:p>
          <a:p>
            <a:pPr algn="l">
              <a:lnSpc>
                <a:spcPct val="108000"/>
              </a:lnSpc>
              <a:spcAft>
                <a:spcPts val="960"/>
              </a:spcAft>
            </a:pPr>
            <a:r>
              <a:rPr sz="1600" b="0" i="0">
                <a:solidFill>
                  <a:srgbClr val="000000"/>
                </a:solidFill>
                <a:latin typeface="Arial"/>
              </a:rPr>
              <a:t>Her imitations resembled recorded truck sounds in duration and fundamental-frequency characteristics while differing from ordinary African elephant calls. </a:t>
            </a:r>
            <a:r>
              <a:rPr sz="1600" b="1" i="0">
                <a:solidFill>
                  <a:srgbClr val="344B65"/>
                </a:solidFill>
                <a:latin typeface="Arial"/>
              </a:rPr>
              <a:t>Fundamental frequency</a:t>
            </a:r>
            <a:r>
              <a:rPr sz="1600" b="0" i="0">
                <a:solidFill>
                  <a:srgbClr val="000000"/>
                </a:solidFill>
                <a:latin typeface="Arial"/>
              </a:rPr>
              <a:t> is the repetition rate underlying a periodic vocal sound, represented by its lowest harmonic when detectable.</a:t>
            </a:r>
          </a:p>
          <a:p>
            <a:pPr algn="l">
              <a:lnSpc>
                <a:spcPct val="108000"/>
              </a:lnSpc>
              <a:spcAft>
                <a:spcPts val="960"/>
              </a:spcAft>
            </a:pPr>
            <a:r>
              <a:rPr sz="1600" b="0" i="0">
                <a:solidFill>
                  <a:srgbClr val="000000"/>
                </a:solidFill>
                <a:latin typeface="Arial"/>
              </a:rPr>
              <a:t>The calls were no more similar to simultaneously recorded trucks than to trucks recorded at other times, favoring imitation of general acoustic features rather than exact immediate copying. The case establishes an unusual learned production pattern, not its neural pathway or prevalence in wild elephants.</a:t>
            </a:r>
          </a:p>
        </p:txBody>
      </p:sp>
      <p:pic>
        <p:nvPicPr>
          <p:cNvPr id="4" name="Picture 3" descr="poole_spectra.png"/>
          <p:cNvPicPr>
            <a:picLocks noChangeAspect="1"/>
          </p:cNvPicPr>
          <p:nvPr/>
        </p:nvPicPr>
        <p:blipFill>
          <a:blip r:embed="rId2"/>
          <a:stretch>
            <a:fillRect/>
          </a:stretch>
        </p:blipFill>
        <p:spPr>
          <a:xfrm>
            <a:off x="7694259" y="1280160"/>
            <a:ext cx="274037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Poole et al. (2005), Fig. 1(a–d). Truck and elephant models with their imitations.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Poole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Long-term companions can supply a heterospecific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Heterospecific imitation</a:t>
            </a:r>
            <a:r>
              <a:rPr sz="1600" b="0" i="0">
                <a:solidFill>
                  <a:srgbClr val="000000"/>
                </a:solidFill>
                <a:latin typeface="Arial"/>
              </a:rPr>
              <a:t> copies a sound associated with another species. Poole and colleagues described Calimero, an African male elephant that had lived for 18 years with Asian female elephants and produced chirp-like sounds unusual for African elephants.</a:t>
            </a:r>
          </a:p>
          <a:p>
            <a:pPr algn="l">
              <a:lnSpc>
                <a:spcPct val="108000"/>
              </a:lnSpc>
              <a:spcAft>
                <a:spcPts val="960"/>
              </a:spcAft>
            </a:pPr>
            <a:r>
              <a:rPr sz="1600" b="0" i="0">
                <a:solidFill>
                  <a:srgbClr val="000000"/>
                </a:solidFill>
                <a:latin typeface="Arial"/>
              </a:rPr>
              <a:t>His chirps resembled the Asian models in acoustic comparisons and differed from ordinary African adult, adolescent and calf calls. The authors analyzed duration and frequency-related properties, rather than relying only on a listener’s impression that the calls sounded similar.</a:t>
            </a:r>
          </a:p>
          <a:p>
            <a:pPr algn="l">
              <a:lnSpc>
                <a:spcPct val="108000"/>
              </a:lnSpc>
              <a:spcAft>
                <a:spcPts val="960"/>
              </a:spcAft>
            </a:pPr>
            <a:r>
              <a:rPr sz="1600" b="0" i="0">
                <a:solidFill>
                  <a:srgbClr val="000000"/>
                </a:solidFill>
                <a:latin typeface="Arial"/>
              </a:rPr>
              <a:t>Long-term social exposure is consistent with learning a companion-associated vocal pattern. The record was not a randomized exposure experiment, so it does not establish that social bonding caused the change or that every African elephant would imitate chirps under comparable housing conditions.</a:t>
            </a:r>
          </a:p>
        </p:txBody>
      </p:sp>
      <p:pic>
        <p:nvPicPr>
          <p:cNvPr id="4" name="Picture 3" descr="poole_comparison.png"/>
          <p:cNvPicPr>
            <a:picLocks noChangeAspect="1"/>
          </p:cNvPicPr>
          <p:nvPr/>
        </p:nvPicPr>
        <p:blipFill>
          <a:blip r:embed="rId2"/>
          <a:stretch>
            <a:fillRect/>
          </a:stretch>
        </p:blipFill>
        <p:spPr>
          <a:xfrm>
            <a:off x="6504127" y="1280160"/>
            <a:ext cx="5120640" cy="3921260"/>
          </a:xfrm>
          <a:prstGeom prst="rect">
            <a:avLst/>
          </a:prstGeom>
        </p:spPr>
      </p:pic>
      <p:sp>
        <p:nvSpPr>
          <p:cNvPr id="5" name="Figure caption"/>
          <p:cNvSpPr txBox="1"/>
          <p:nvPr/>
        </p:nvSpPr>
        <p:spPr>
          <a:xfrm>
            <a:off x="6504127" y="52928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Poole et al. (2005), Fig. 2(a–c). Acoustic comparisons of ordinary calls and imitations.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Poole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Acoustic controls distinguish imitation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Poole study compared imitations with both their proposed models and ordinary elephant vocalizations. Including adult, adolescent and calf calls reduced the explanation that an unusual imitation was simply an age-related or sex-related member of the normal repertoire.</a:t>
            </a:r>
          </a:p>
          <a:p>
            <a:pPr algn="l">
              <a:lnSpc>
                <a:spcPct val="108000"/>
              </a:lnSpc>
              <a:spcAft>
                <a:spcPts val="960"/>
              </a:spcAft>
            </a:pPr>
            <a:r>
              <a:rPr sz="1600" b="0" i="0">
                <a:solidFill>
                  <a:srgbClr val="000000"/>
                </a:solidFill>
                <a:latin typeface="Arial"/>
              </a:rPr>
              <a:t>Mlaika’s truck-like calls occupied acoustic space near truck sounds, whereas Calimero’s chirp-like calls resembled Asian chirps. The published multidimensional comparisons summarize combinations of acoustic features; their axes are not anatomical brain dimensions or measures of intelligence.</a:t>
            </a:r>
          </a:p>
          <a:p>
            <a:pPr algn="l">
              <a:lnSpc>
                <a:spcPct val="108000"/>
              </a:lnSpc>
              <a:spcAft>
                <a:spcPts val="960"/>
              </a:spcAft>
            </a:pPr>
            <a:r>
              <a:rPr sz="1600" b="0" i="0">
                <a:solidFill>
                  <a:srgbClr val="000000"/>
                </a:solidFill>
                <a:latin typeface="Arial"/>
              </a:rPr>
              <a:t>Evidence of acoustic matching supports experience-related flexibility in vocal production. It does not identify whether changes were learned through spontaneous practice, reinforcement or another route. The authors’ social-bond hypothesis explains a possible adaptive function, while the measured result remains the altered call structure.</a:t>
            </a:r>
          </a:p>
        </p:txBody>
      </p:sp>
      <p:pic>
        <p:nvPicPr>
          <p:cNvPr id="4" name="Picture 3" descr="poole_comparison.png"/>
          <p:cNvPicPr>
            <a:picLocks noChangeAspect="1"/>
          </p:cNvPicPr>
          <p:nvPr/>
        </p:nvPicPr>
        <p:blipFill>
          <a:blip r:embed="rId2"/>
          <a:stretch>
            <a:fillRect/>
          </a:stretch>
        </p:blipFill>
        <p:spPr>
          <a:xfrm>
            <a:off x="566928" y="1280160"/>
            <a:ext cx="5120640" cy="3921260"/>
          </a:xfrm>
          <a:prstGeom prst="rect">
            <a:avLst/>
          </a:prstGeom>
        </p:spPr>
      </p:pic>
      <p:sp>
        <p:nvSpPr>
          <p:cNvPr id="5" name="Figure caption"/>
          <p:cNvSpPr txBox="1"/>
          <p:nvPr/>
        </p:nvSpPr>
        <p:spPr>
          <a:xfrm>
            <a:off x="566928" y="52928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Poole et al. (2005), Fig. 2(a–c). Original frequency-duration and multivariate comparisons.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Poole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Imitation suggests a possible social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Elephant </a:t>
            </a:r>
            <a:r>
              <a:rPr sz="1600" b="1" i="0">
                <a:solidFill>
                  <a:srgbClr val="344B65"/>
                </a:solidFill>
                <a:latin typeface="Arial"/>
              </a:rPr>
              <a:t>fission–fusion societies</a:t>
            </a:r>
            <a:r>
              <a:rPr sz="1600" b="0" i="0">
                <a:solidFill>
                  <a:srgbClr val="000000"/>
                </a:solidFill>
                <a:latin typeface="Arial"/>
              </a:rPr>
              <a:t> involve groups that separate and reunite while maintaining longer-lasting relationships. Poole and colleagues proposed that vocal convergence could help sustain individual-specific bonds when companions are not continuously together.</a:t>
            </a:r>
          </a:p>
          <a:p>
            <a:pPr algn="l">
              <a:lnSpc>
                <a:spcPct val="108000"/>
              </a:lnSpc>
              <a:spcAft>
                <a:spcPts val="960"/>
              </a:spcAft>
            </a:pPr>
            <a:r>
              <a:rPr sz="1600" b="0" i="0">
                <a:solidFill>
                  <a:srgbClr val="000000"/>
                </a:solidFill>
                <a:latin typeface="Arial"/>
              </a:rPr>
              <a:t>Calimero’s resemblance to Asian companions supplies a social context for this proposal, whereas Mlaika’s truck imitation establishes flexibility beyond ordinary social calls. Neither case manipulated bond strength or measured a subsequent improvement in recognition or affiliation.</a:t>
            </a:r>
          </a:p>
          <a:p>
            <a:pPr algn="l">
              <a:lnSpc>
                <a:spcPct val="108000"/>
              </a:lnSpc>
              <a:spcAft>
                <a:spcPts val="960"/>
              </a:spcAft>
            </a:pPr>
            <a:r>
              <a:rPr sz="1600" b="0" i="0">
                <a:solidFill>
                  <a:srgbClr val="000000"/>
                </a:solidFill>
                <a:latin typeface="Arial"/>
              </a:rPr>
              <a:t>A capacity and its evolutionary function are different claims. The documented imitations establish learned acoustic flexibility in particular elephants. Selection for maintaining social contact remains a plausible adaptive explanation, requiring evidence that the resulting vocal changes affect communication or relationships in natural groups.</a:t>
            </a:r>
          </a:p>
        </p:txBody>
      </p:sp>
      <p:pic>
        <p:nvPicPr>
          <p:cNvPr id="4" name="Picture 3" descr="poole_comparison.png"/>
          <p:cNvPicPr>
            <a:picLocks noChangeAspect="1"/>
          </p:cNvPicPr>
          <p:nvPr/>
        </p:nvPicPr>
        <p:blipFill>
          <a:blip r:embed="rId2"/>
          <a:stretch>
            <a:fillRect/>
          </a:stretch>
        </p:blipFill>
        <p:spPr>
          <a:xfrm>
            <a:off x="6504127" y="1280160"/>
            <a:ext cx="5120640" cy="3921260"/>
          </a:xfrm>
          <a:prstGeom prst="rect">
            <a:avLst/>
          </a:prstGeom>
        </p:spPr>
      </p:pic>
      <p:sp>
        <p:nvSpPr>
          <p:cNvPr id="5" name="Figure caption"/>
          <p:cNvSpPr txBox="1"/>
          <p:nvPr/>
        </p:nvSpPr>
        <p:spPr>
          <a:xfrm>
            <a:off x="6504127" y="52928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Poole et al. (2005), Fig. 2(a–c). Published comparisons underlying the vocal-learning inference.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Poole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Koshik modified his vocal tract with his trunk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Stoeger and colleagues analyzed Koshik, an Asian elephant producing speech-like Korean sounds. He inserted his trunk tip into his mouth from the right and raised his lower jaw during phonation. </a:t>
            </a:r>
            <a:r>
              <a:rPr sz="1600" b="1" i="0">
                <a:solidFill>
                  <a:srgbClr val="344B65"/>
                </a:solidFill>
                <a:latin typeface="Arial"/>
              </a:rPr>
              <a:t>Phonation</a:t>
            </a:r>
            <a:r>
              <a:rPr sz="1600" b="0" i="0">
                <a:solidFill>
                  <a:srgbClr val="000000"/>
                </a:solidFill>
                <a:latin typeface="Arial"/>
              </a:rPr>
              <a:t> is production of the periodic source sound by the vocal apparatus.</a:t>
            </a:r>
          </a:p>
          <a:p>
            <a:pPr algn="l">
              <a:lnSpc>
                <a:spcPct val="108000"/>
              </a:lnSpc>
              <a:spcAft>
                <a:spcPts val="960"/>
              </a:spcAft>
            </a:pPr>
            <a:r>
              <a:rPr sz="1600" b="0" i="0">
                <a:solidFill>
                  <a:srgbClr val="000000"/>
                </a:solidFill>
                <a:latin typeface="Arial"/>
              </a:rPr>
              <a:t>Trunk insertion occurred about 0.3 s before vocal onset, and removal about 0.4 s after vocalization. The coordinated movement changed the vocal-tract configuration rather than simply emitting an ordinary elephant call in response to a spoken command.</a:t>
            </a:r>
          </a:p>
          <a:p>
            <a:pPr algn="l">
              <a:lnSpc>
                <a:spcPct val="108000"/>
              </a:lnSpc>
              <a:spcAft>
                <a:spcPts val="960"/>
              </a:spcAft>
            </a:pPr>
            <a:r>
              <a:rPr sz="1600" b="0" i="0">
                <a:solidFill>
                  <a:srgbClr val="000000"/>
                </a:solidFill>
                <a:latin typeface="Arial"/>
              </a:rPr>
              <a:t>The authors inferred that the trunk helped overcome anatomical constraints on vowel production. Without internal imaging they could not determine whether tongue movements also contributed. The external movement sequence was documented together with measured acoustic changes.</a:t>
            </a:r>
          </a:p>
        </p:txBody>
      </p:sp>
      <p:pic>
        <p:nvPicPr>
          <p:cNvPr id="4" name="Picture 3" descr="koshik_production.png"/>
          <p:cNvPicPr>
            <a:picLocks noChangeAspect="1"/>
          </p:cNvPicPr>
          <p:nvPr/>
        </p:nvPicPr>
        <p:blipFill>
          <a:blip r:embed="rId2"/>
          <a:stretch>
            <a:fillRect/>
          </a:stretch>
        </p:blipFill>
        <p:spPr>
          <a:xfrm>
            <a:off x="7398451" y="1280160"/>
            <a:ext cx="333199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Stoeger et al. (2012), Fig. 3(A–D). Original articulation panel and formant measurements.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Stoeger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Spectral structure separates pitch from vowel quality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Formants</a:t>
            </a:r>
            <a:r>
              <a:rPr sz="1600" b="0" i="0">
                <a:solidFill>
                  <a:srgbClr val="000000"/>
                </a:solidFill>
                <a:latin typeface="Arial"/>
              </a:rPr>
              <a:t> are resonant frequency bands shaped by the vocal tract; they contribute to vowel quality. Fundamental frequency instead reflects the periodic source. Stoeger and colleagues compared both properties in Koshik’s imitations and Korean human utterances.</a:t>
            </a:r>
          </a:p>
          <a:p>
            <a:pPr algn="l">
              <a:lnSpc>
                <a:spcPct val="108000"/>
              </a:lnSpc>
              <a:spcAft>
                <a:spcPts val="960"/>
              </a:spcAft>
            </a:pPr>
            <a:r>
              <a:rPr sz="1600" b="0" i="0">
                <a:solidFill>
                  <a:srgbClr val="000000"/>
                </a:solidFill>
                <a:latin typeface="Arial"/>
              </a:rPr>
              <a:t>The word-like utterance “nuo” was recorded from a trainer, Koshik and an independent Korean speaker. Narrow-band and wide-band spectrograms retained the different information needed to distinguish harmonics from broader resonance patterns, with F1 and F2 marked in the original panels.</a:t>
            </a:r>
          </a:p>
          <a:p>
            <a:pPr algn="l">
              <a:lnSpc>
                <a:spcPct val="108000"/>
              </a:lnSpc>
              <a:spcAft>
                <a:spcPts val="960"/>
              </a:spcAft>
            </a:pPr>
            <a:r>
              <a:rPr sz="1600" b="0" i="0">
                <a:solidFill>
                  <a:srgbClr val="000000"/>
                </a:solidFill>
                <a:latin typeface="Arial"/>
              </a:rPr>
              <a:t>Matching formants requires control beyond simply producing a similar pitch. The recordings support detailed acoustic imitation, while not establishing that the elephant understood the human utterance’s meaning or that an elephant vocal tract normally produces the same vowels without modification.</a:t>
            </a:r>
          </a:p>
        </p:txBody>
      </p:sp>
      <p:pic>
        <p:nvPicPr>
          <p:cNvPr id="4" name="Picture 3" descr="koshik_spectra.png"/>
          <p:cNvPicPr>
            <a:picLocks noChangeAspect="1"/>
          </p:cNvPicPr>
          <p:nvPr/>
        </p:nvPicPr>
        <p:blipFill>
          <a:blip r:embed="rId2"/>
          <a:stretch>
            <a:fillRect/>
          </a:stretch>
        </p:blipFill>
        <p:spPr>
          <a:xfrm>
            <a:off x="6504127" y="1280160"/>
            <a:ext cx="5120640" cy="2838492"/>
          </a:xfrm>
          <a:prstGeom prst="rect">
            <a:avLst/>
          </a:prstGeom>
        </p:spPr>
      </p:pic>
      <p:sp>
        <p:nvSpPr>
          <p:cNvPr id="5" name="Figure caption"/>
          <p:cNvSpPr txBox="1"/>
          <p:nvPr/>
        </p:nvSpPr>
        <p:spPr>
          <a:xfrm>
            <a:off x="6504127" y="42100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Stoeger et al. (2012), Fig. 1(A–F). Trainer, Koshik and independent speaker utterances.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Stoeger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Learned utterances differ from natural Asian calls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Stoeger and colleagues compared Koshik’s imitations with natural Asian elephant vocalizations recorded from animals of different ages and sexes in captive and wild settings. Duration, fundamental-frequency extremes and the first spectral peak or formant supplied acoustic comparison measures.</a:t>
            </a:r>
          </a:p>
          <a:p>
            <a:pPr algn="l">
              <a:lnSpc>
                <a:spcPct val="108000"/>
              </a:lnSpc>
              <a:spcAft>
                <a:spcPts val="960"/>
              </a:spcAft>
            </a:pPr>
            <a:r>
              <a:rPr sz="1600" b="0" i="0">
                <a:solidFill>
                  <a:srgbClr val="000000"/>
                </a:solidFill>
                <a:latin typeface="Arial"/>
              </a:rPr>
              <a:t>The imitations grouped with human model utterances and differed strongly from the natural Asian elephant calls. This control addresses the explanation that trainers merely assigned word labels to ordinary calls already present in the species’ repertoire.</a:t>
            </a:r>
          </a:p>
          <a:p>
            <a:pPr algn="l">
              <a:lnSpc>
                <a:spcPct val="108000"/>
              </a:lnSpc>
              <a:spcAft>
                <a:spcPts val="960"/>
              </a:spcAft>
            </a:pPr>
            <a:r>
              <a:rPr sz="1600" b="0" i="0">
                <a:solidFill>
                  <a:srgbClr val="000000"/>
                </a:solidFill>
                <a:latin typeface="Arial"/>
              </a:rPr>
              <a:t>The acoustic contrast supports production learning of a human-associated sound pattern. It does not establish how many other elephants could learn it, and the observed similarity does not determine which auditory or motor neurons are necessary to perceive, practice or reproduce the sounds.</a:t>
            </a:r>
          </a:p>
        </p:txBody>
      </p:sp>
      <p:pic>
        <p:nvPicPr>
          <p:cNvPr id="4" name="Picture 3" descr="koshik_comparison.png"/>
          <p:cNvPicPr>
            <a:picLocks noChangeAspect="1"/>
          </p:cNvPicPr>
          <p:nvPr/>
        </p:nvPicPr>
        <p:blipFill>
          <a:blip r:embed="rId2"/>
          <a:stretch>
            <a:fillRect/>
          </a:stretch>
        </p:blipFill>
        <p:spPr>
          <a:xfrm>
            <a:off x="566928" y="1280160"/>
            <a:ext cx="5120640" cy="2667638"/>
          </a:xfrm>
          <a:prstGeom prst="rect">
            <a:avLst/>
          </a:prstGeom>
        </p:spPr>
      </p:pic>
      <p:sp>
        <p:nvSpPr>
          <p:cNvPr id="5" name="Figure caption"/>
          <p:cNvSpPr txBox="1"/>
          <p:nvPr/>
        </p:nvSpPr>
        <p:spPr>
          <a:xfrm>
            <a:off x="566928" y="40392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Stoeger et al. (2012), Fig. 2(A–B). Imitations, human models and natural elephant calls.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Stoeger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Blind listening reveals better vowels than consonants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Native Korean listeners transcribed Koshik’s recordings without being told the trainers’ proposed spellings or meanings. This </a:t>
            </a:r>
            <a:r>
              <a:rPr sz="1600" b="1" i="0">
                <a:solidFill>
                  <a:srgbClr val="344B65"/>
                </a:solidFill>
                <a:latin typeface="Arial"/>
              </a:rPr>
              <a:t>blind transcription</a:t>
            </a:r>
            <a:r>
              <a:rPr sz="1600" b="0" i="0">
                <a:solidFill>
                  <a:srgbClr val="000000"/>
                </a:solidFill>
                <a:latin typeface="Arial"/>
              </a:rPr>
              <a:t> reduced the possibility that a suggested word would determine what listeners reported hearing.</a:t>
            </a:r>
          </a:p>
          <a:p>
            <a:pPr algn="l">
              <a:lnSpc>
                <a:spcPct val="108000"/>
              </a:lnSpc>
              <a:spcAft>
                <a:spcPts val="960"/>
              </a:spcAft>
            </a:pPr>
            <a:r>
              <a:rPr sz="1600" b="0" i="0">
                <a:solidFill>
                  <a:srgbClr val="000000"/>
                </a:solidFill>
                <a:latin typeface="Arial"/>
              </a:rPr>
              <a:t>The analysis supported five word-like imitations, with much better agreement for vowels than consonants: approximately 67% versus 21% overall. The trainers’ labels therefore did not correspond to equally accurate reproduction of every speech component.</a:t>
            </a:r>
          </a:p>
          <a:p>
            <a:pPr algn="l">
              <a:lnSpc>
                <a:spcPct val="108000"/>
              </a:lnSpc>
              <a:spcAft>
                <a:spcPts val="960"/>
              </a:spcAft>
            </a:pPr>
            <a:r>
              <a:rPr sz="1600" b="0" i="0">
                <a:solidFill>
                  <a:srgbClr val="000000"/>
                </a:solidFill>
                <a:latin typeface="Arial"/>
              </a:rPr>
              <a:t>The asymmetry fits the formant-matching evidence and places a concrete limit on imitation fidelity. Recognition by human listeners is an acoustic outcome, not proof of semantic understanding by the elephant. A remembered sound can be copied without representing the referent or instruction associated with a human word.</a:t>
            </a:r>
          </a:p>
        </p:txBody>
      </p:sp>
      <p:pic>
        <p:nvPicPr>
          <p:cNvPr id="4" name="Picture 3" descr="koshik_spectra.png"/>
          <p:cNvPicPr>
            <a:picLocks noChangeAspect="1"/>
          </p:cNvPicPr>
          <p:nvPr/>
        </p:nvPicPr>
        <p:blipFill>
          <a:blip r:embed="rId2"/>
          <a:stretch>
            <a:fillRect/>
          </a:stretch>
        </p:blipFill>
        <p:spPr>
          <a:xfrm>
            <a:off x="6504127" y="1280160"/>
            <a:ext cx="5120640" cy="2838492"/>
          </a:xfrm>
          <a:prstGeom prst="rect">
            <a:avLst/>
          </a:prstGeom>
        </p:spPr>
      </p:pic>
      <p:sp>
        <p:nvSpPr>
          <p:cNvPr id="5" name="Figure caption"/>
          <p:cNvSpPr txBox="1"/>
          <p:nvPr/>
        </p:nvSpPr>
        <p:spPr>
          <a:xfrm>
            <a:off x="6504127" y="42100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Stoeger et al. (2012), Fig. 1(A–F). Original speech-like utterance recordings.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Stoeger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Formants require sensory–motor coordination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Koshik’s first two formants for commonly produced vowels resembled those of his trainers, despite the elephant’s much longer unmodified vocal tract. The observed trunk–mouth configuration supplied a distinctive way of adjusting the resonant filter during controlled sound production.</a:t>
            </a:r>
          </a:p>
          <a:p>
            <a:pPr algn="l">
              <a:lnSpc>
                <a:spcPct val="108000"/>
              </a:lnSpc>
              <a:spcAft>
                <a:spcPts val="960"/>
              </a:spcAft>
            </a:pPr>
            <a:r>
              <a:rPr sz="1600" b="0" i="0">
                <a:solidFill>
                  <a:srgbClr val="000000"/>
                </a:solidFill>
                <a:latin typeface="Arial"/>
              </a:rPr>
              <a:t>Matching a heard target requires a relationship between acoustic perception and motor output. The paper inferred transfer of auditory information to planning systems controlling phonation and trunk movement, based on the precision of the behavior and acoustic match.</a:t>
            </a:r>
          </a:p>
          <a:p>
            <a:pPr algn="l">
              <a:lnSpc>
                <a:spcPct val="108000"/>
              </a:lnSpc>
              <a:spcAft>
                <a:spcPts val="960"/>
              </a:spcAft>
            </a:pPr>
            <a:r>
              <a:rPr sz="1600" b="0" i="0">
                <a:solidFill>
                  <a:srgbClr val="000000"/>
                </a:solidFill>
                <a:latin typeface="Arial"/>
              </a:rPr>
              <a:t>That relationship is a functional inference, not a mapped elephant neural circuit. The study did not trace cortical projections or manipulate neurotransmitters, receptors or ion channels. A specific songbird-like pathway cannot be assigned to elephants from successful imitation alone.</a:t>
            </a:r>
          </a:p>
        </p:txBody>
      </p:sp>
      <p:pic>
        <p:nvPicPr>
          <p:cNvPr id="4" name="Picture 3" descr="koshik_production.png"/>
          <p:cNvPicPr>
            <a:picLocks noChangeAspect="1"/>
          </p:cNvPicPr>
          <p:nvPr/>
        </p:nvPicPr>
        <p:blipFill>
          <a:blip r:embed="rId2"/>
          <a:stretch>
            <a:fillRect/>
          </a:stretch>
        </p:blipFill>
        <p:spPr>
          <a:xfrm>
            <a:off x="7398451" y="1280160"/>
            <a:ext cx="333199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Stoeger et al. (2012), Fig. 3(A–D). Vowel formants and coordinated vocal-tract modification.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Stoeger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Older matriarchs discriminate familiarity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McComb and colleagues played female contact calls to wild African elephant families whose association histories were known. An </a:t>
            </a:r>
            <a:r>
              <a:rPr sz="1600" b="1" i="0">
                <a:solidFill>
                  <a:srgbClr val="344B65"/>
                </a:solidFill>
                <a:latin typeface="Arial"/>
              </a:rPr>
              <a:t>association index</a:t>
            </a:r>
            <a:r>
              <a:rPr sz="1600" b="0" i="0">
                <a:solidFill>
                  <a:srgbClr val="000000"/>
                </a:solidFill>
                <a:latin typeface="Arial"/>
              </a:rPr>
              <a:t> describes how often families encountered one another, supplying a behavioral measure of caller familiarity independent of the immediate playback response.</a:t>
            </a:r>
          </a:p>
          <a:p>
            <a:pPr algn="l">
              <a:lnSpc>
                <a:spcPct val="108000"/>
              </a:lnSpc>
              <a:spcAft>
                <a:spcPts val="960"/>
              </a:spcAft>
            </a:pPr>
            <a:r>
              <a:rPr sz="1600" b="0" i="0">
                <a:solidFill>
                  <a:srgbClr val="000000"/>
                </a:solidFill>
                <a:latin typeface="Arial"/>
              </a:rPr>
              <a:t>Families led by older matriarchs differentiated low- and high-association callers more sharply. The published curves compare representative matriarch ages of 35 and 55 years; the analysis treated age continuously rather than as only two fixed categories.</a:t>
            </a:r>
          </a:p>
          <a:p>
            <a:pPr algn="l">
              <a:lnSpc>
                <a:spcPct val="108000"/>
              </a:lnSpc>
              <a:spcAft>
                <a:spcPts val="960"/>
              </a:spcAft>
            </a:pPr>
            <a:r>
              <a:rPr sz="1600" b="0" i="0">
                <a:solidFill>
                  <a:srgbClr val="000000"/>
                </a:solidFill>
                <a:latin typeface="Arial"/>
              </a:rPr>
              <a:t>Greater discrimination cannot be reduced to uniformly lower defensiveness in older-led groups. The study supports accumulated social knowledge, but age was not experimentally assigned. Experience, survival history and family characteristics remain relevant when interpreting why older leadership was associated with better discrimination.</a:t>
            </a:r>
          </a:p>
        </p:txBody>
      </p:sp>
      <p:pic>
        <p:nvPicPr>
          <p:cNvPr id="4" name="Picture 3" descr="matriarch_results.png"/>
          <p:cNvPicPr>
            <a:picLocks noChangeAspect="1"/>
          </p:cNvPicPr>
          <p:nvPr/>
        </p:nvPicPr>
        <p:blipFill>
          <a:blip r:embed="rId2"/>
          <a:stretch>
            <a:fillRect/>
          </a:stretch>
        </p:blipFill>
        <p:spPr>
          <a:xfrm>
            <a:off x="6504127" y="1280160"/>
            <a:ext cx="5120640" cy="2473922"/>
          </a:xfrm>
          <a:prstGeom prst="rect">
            <a:avLst/>
          </a:prstGeom>
        </p:spPr>
      </p:pic>
      <p:sp>
        <p:nvSpPr>
          <p:cNvPr id="5" name="Figure caption"/>
          <p:cNvSpPr txBox="1"/>
          <p:nvPr/>
        </p:nvSpPr>
        <p:spPr>
          <a:xfrm>
            <a:off x="6504127" y="38455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McComb et al. (2001), Fig. 1(A–B). Playback responses by caller association and matriarch age.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McComb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Social knowledge influences group responses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Social recognition</a:t>
            </a:r>
            <a:r>
              <a:rPr sz="1600" b="0" i="0">
                <a:solidFill>
                  <a:srgbClr val="000000"/>
                </a:solidFill>
                <a:latin typeface="Arial"/>
              </a:rPr>
              <a:t> distinguishes individuals or relationship categories from available cues. In the Amboseli playback study, contact-call familiarity predicted both defensive bunching and investigative smelling, linking acoustic identity information to coordinated protective behavior.</a:t>
            </a:r>
          </a:p>
          <a:p>
            <a:pPr algn="l">
              <a:lnSpc>
                <a:spcPct val="108000"/>
              </a:lnSpc>
              <a:spcAft>
                <a:spcPts val="960"/>
              </a:spcAft>
            </a:pPr>
            <a:r>
              <a:rPr sz="1600" b="0" i="0">
                <a:solidFill>
                  <a:srgbClr val="000000"/>
                </a:solidFill>
                <a:latin typeface="Arial"/>
              </a:rPr>
              <a:t>The investigators considered group composition, calf-related variables and the ages of females other than the matriarch. The association with matriarch age persisted beyond these measured alternatives, and older-led families were also associated with higher reproductive performance in the observational records.</a:t>
            </a:r>
          </a:p>
          <a:p>
            <a:pPr algn="l">
              <a:lnSpc>
                <a:spcPct val="108000"/>
              </a:lnSpc>
              <a:spcAft>
                <a:spcPts val="960"/>
              </a:spcAft>
            </a:pPr>
            <a:r>
              <a:rPr sz="1600" b="0" i="0">
                <a:solidFill>
                  <a:srgbClr val="000000"/>
                </a:solidFill>
                <a:latin typeface="Arial"/>
              </a:rPr>
              <a:t>These results connect social information with group-level consequences but do not demonstrate that one matriarch stores every member’s knowledge. They also do not locate a memory trace in FI, ACC or any other structure. Behavioral leadership and anatomical specialization remain different forms of evidence.</a:t>
            </a:r>
          </a:p>
        </p:txBody>
      </p:sp>
      <p:pic>
        <p:nvPicPr>
          <p:cNvPr id="4" name="Picture 3" descr="matriarch_results.png"/>
          <p:cNvPicPr>
            <a:picLocks noChangeAspect="1"/>
          </p:cNvPicPr>
          <p:nvPr/>
        </p:nvPicPr>
        <p:blipFill>
          <a:blip r:embed="rId2"/>
          <a:stretch>
            <a:fillRect/>
          </a:stretch>
        </p:blipFill>
        <p:spPr>
          <a:xfrm>
            <a:off x="566928" y="1280160"/>
            <a:ext cx="5120640" cy="2473922"/>
          </a:xfrm>
          <a:prstGeom prst="rect">
            <a:avLst/>
          </a:prstGeom>
        </p:spPr>
      </p:pic>
      <p:sp>
        <p:nvSpPr>
          <p:cNvPr id="5" name="Figure caption"/>
          <p:cNvSpPr txBox="1"/>
          <p:nvPr/>
        </p:nvSpPr>
        <p:spPr>
          <a:xfrm>
            <a:off x="566928" y="38455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McComb et al. (2001), Fig. 1(A–B). Defensive bunching and investigative smelling responses.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McComb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Experienced leadership distinguishes predator categories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McComb and colleagues used lion-roar playbacks to distinguish judgments about predator number from judgments about predator category. Three lions elicited stronger defensive responses than one, consistent with assessment of the scale of an approaching threat.</a:t>
            </a:r>
          </a:p>
          <a:p>
            <a:pPr algn="l">
              <a:lnSpc>
                <a:spcPct val="108000"/>
              </a:lnSpc>
              <a:spcAft>
                <a:spcPts val="960"/>
              </a:spcAft>
            </a:pPr>
            <a:r>
              <a:rPr sz="1600" b="0" i="0">
                <a:solidFill>
                  <a:srgbClr val="000000"/>
                </a:solidFill>
                <a:latin typeface="Arial"/>
              </a:rPr>
              <a:t>Sensitivity to male rather than female lion roars increased with matriarch age. Older matriarchs and their groups devoted stronger listening and defensive responses to the category associated with greater danger to elephants, rather than responding equally strongly to all lion sounds.</a:t>
            </a:r>
          </a:p>
          <a:p>
            <a:pPr algn="l">
              <a:lnSpc>
                <a:spcPct val="108000"/>
              </a:lnSpc>
              <a:spcAft>
                <a:spcPts val="960"/>
              </a:spcAft>
            </a:pPr>
            <a:r>
              <a:rPr sz="1600" b="0" i="0">
                <a:solidFill>
                  <a:srgbClr val="000000"/>
                </a:solidFill>
                <a:latin typeface="Arial"/>
              </a:rPr>
              <a:t>Different threat features therefore showed different relationships with experience. Playback isolates the acoustic stimulus, while observational age comparisons leave the acquisition route unresolved. The study did not establish that older matriarchs possess a generally superior sensory threshold or identify a predator-category neuron.</a:t>
            </a:r>
          </a:p>
        </p:txBody>
      </p:sp>
      <p:pic>
        <p:nvPicPr>
          <p:cNvPr id="4" name="Picture 3" descr="leader_results.png"/>
          <p:cNvPicPr>
            <a:picLocks noChangeAspect="1"/>
          </p:cNvPicPr>
          <p:nvPr/>
        </p:nvPicPr>
        <p:blipFill>
          <a:blip r:embed="rId2"/>
          <a:stretch>
            <a:fillRect/>
          </a:stretch>
        </p:blipFill>
        <p:spPr>
          <a:xfrm>
            <a:off x="6504127" y="1280160"/>
            <a:ext cx="5120640" cy="3277572"/>
          </a:xfrm>
          <a:prstGeom prst="rect">
            <a:avLst/>
          </a:prstGeom>
        </p:spPr>
      </p:pic>
      <p:sp>
        <p:nvSpPr>
          <p:cNvPr id="5" name="Figure caption"/>
          <p:cNvSpPr txBox="1"/>
          <p:nvPr/>
        </p:nvSpPr>
        <p:spPr>
          <a:xfrm>
            <a:off x="6504127" y="46491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McComb et al. (2011), Fig. 2(a–d). Male- and female-lion playback responses by age.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McComb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Voice resynthesis tests which acoustic cues are sufficient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McComb and colleagues resynthesized human voices so that fundamental frequency and formant values resembled those of the opposite sex. This manipulation tested whether those prominent acoustic properties alone accounted for the elephants’ differential responses to men and women.</a:t>
            </a:r>
          </a:p>
          <a:p>
            <a:pPr algn="l">
              <a:lnSpc>
                <a:spcPct val="108000"/>
              </a:lnSpc>
              <a:spcAft>
                <a:spcPts val="960"/>
              </a:spcAft>
            </a:pPr>
            <a:r>
              <a:rPr sz="1600" b="0" i="0">
                <a:solidFill>
                  <a:srgbClr val="000000"/>
                </a:solidFill>
                <a:latin typeface="Arial"/>
              </a:rPr>
              <a:t>Defensive reactions retained the original direction: male-origin voices still elicited stronger responses despite the modified pitch and formant pattern. The experiment therefore did not support a simple classification rule based only on those two manipulated features.</a:t>
            </a:r>
          </a:p>
          <a:p>
            <a:pPr algn="l">
              <a:lnSpc>
                <a:spcPct val="108000"/>
              </a:lnSpc>
              <a:spcAft>
                <a:spcPts val="960"/>
              </a:spcAft>
            </a:pPr>
            <a:r>
              <a:rPr sz="1600" b="0" i="0">
                <a:solidFill>
                  <a:srgbClr val="000000"/>
                </a:solidFill>
                <a:latin typeface="Arial"/>
              </a:rPr>
              <a:t>Other retained acoustic characteristics could carry information about the original speaker category. The results support flexible auditory risk assessment but do not identify every effective cue. They also do not show that elephants use the same representation or linguistic categories that human listeners assign to the voices.</a:t>
            </a:r>
          </a:p>
        </p:txBody>
      </p:sp>
      <p:pic>
        <p:nvPicPr>
          <p:cNvPr id="4" name="Picture 3" descr="voices_results.png"/>
          <p:cNvPicPr>
            <a:picLocks noChangeAspect="1"/>
          </p:cNvPicPr>
          <p:nvPr/>
        </p:nvPicPr>
        <p:blipFill>
          <a:blip r:embed="rId2"/>
          <a:stretch>
            <a:fillRect/>
          </a:stretch>
        </p:blipFill>
        <p:spPr>
          <a:xfrm>
            <a:off x="7447134" y="1280160"/>
            <a:ext cx="323462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McComb et al. (2014), Fig. 1(A–H). Natural and resynthesized human-voice playback responses.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McComb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Social disruption has long-lasting behavioral correlates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Shannon and colleagues compared Amboseli families with a Pilanesberg population founded by young elephants translocated after culling. </a:t>
            </a:r>
            <a:r>
              <a:rPr sz="1600" b="1" i="0">
                <a:solidFill>
                  <a:srgbClr val="344B65"/>
                </a:solidFill>
                <a:latin typeface="Arial"/>
              </a:rPr>
              <a:t>Social disruption</a:t>
            </a:r>
            <a:r>
              <a:rPr sz="1600" b="0" i="0">
                <a:solidFill>
                  <a:srgbClr val="000000"/>
                </a:solidFill>
                <a:latin typeface="Arial"/>
              </a:rPr>
              <a:t> involved loss of older family members and a break in normal opportunities to acquire socially relevant information.</a:t>
            </a:r>
          </a:p>
          <a:p>
            <a:pPr algn="l">
              <a:lnSpc>
                <a:spcPct val="108000"/>
              </a:lnSpc>
              <a:spcAft>
                <a:spcPts val="960"/>
              </a:spcAft>
            </a:pPr>
            <a:r>
              <a:rPr sz="1600" b="0" i="0">
                <a:solidFill>
                  <a:srgbClr val="000000"/>
                </a:solidFill>
                <a:latin typeface="Arial"/>
              </a:rPr>
              <a:t>Contact-call playbacks and resynthesized calls tested familiarity and caller-age-related dominance cues. Amboseli responses were adjusted to social category and age-related information; Pilanesberg families did not show the same appropriate pattern of discrimination decades after the founding disturbance.</a:t>
            </a:r>
          </a:p>
          <a:p>
            <a:pPr algn="l">
              <a:lnSpc>
                <a:spcPct val="108000"/>
              </a:lnSpc>
              <a:spcAft>
                <a:spcPts val="960"/>
              </a:spcAft>
            </a:pPr>
            <a:r>
              <a:rPr sz="1600" b="0" i="0">
                <a:solidFill>
                  <a:srgbClr val="000000"/>
                </a:solidFill>
                <a:latin typeface="Arial"/>
              </a:rPr>
              <a:t>The comparison supports lasting consequences associated with disrupted social history. It was not a randomized culling experiment, and differences between locations and population histories remain possible contributors. No brain lesion, synaptic alteration or hormone pathway was directly measured by these playback responses.</a:t>
            </a:r>
          </a:p>
        </p:txBody>
      </p:sp>
      <p:pic>
        <p:nvPicPr>
          <p:cNvPr id="4" name="Picture 3" descr="disruption_dominance.png"/>
          <p:cNvPicPr>
            <a:picLocks noChangeAspect="1"/>
          </p:cNvPicPr>
          <p:nvPr/>
        </p:nvPicPr>
        <p:blipFill>
          <a:blip r:embed="rId2"/>
          <a:stretch>
            <a:fillRect/>
          </a:stretch>
        </p:blipFill>
        <p:spPr>
          <a:xfrm>
            <a:off x="6504127" y="1280160"/>
            <a:ext cx="5120640" cy="3666763"/>
          </a:xfrm>
          <a:prstGeom prst="rect">
            <a:avLst/>
          </a:prstGeom>
        </p:spPr>
      </p:pic>
      <p:sp>
        <p:nvSpPr>
          <p:cNvPr id="5" name="Figure caption"/>
          <p:cNvSpPr txBox="1"/>
          <p:nvPr/>
        </p:nvSpPr>
        <p:spPr>
          <a:xfrm>
            <a:off x="6504127" y="50383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Shannon et al. (2013), Fig. 2(A–D). Responses to resynthesized caller-age categories.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Shannon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Bystanders contact distressed companions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Plotnik and de Waal observed captive Asian elephants after naturally occurring distress and compared behavior with matched control periods. </a:t>
            </a:r>
            <a:r>
              <a:rPr sz="1600" b="1" i="0">
                <a:solidFill>
                  <a:srgbClr val="344B65"/>
                </a:solidFill>
                <a:latin typeface="Arial"/>
              </a:rPr>
              <a:t>Affiliative contact</a:t>
            </a:r>
            <a:r>
              <a:rPr sz="1600" b="0" i="0">
                <a:solidFill>
                  <a:srgbClr val="000000"/>
                </a:solidFill>
                <a:latin typeface="Arial"/>
              </a:rPr>
              <a:t> is nonaggressive social contact, including trunk touches directed toward another animal’s head, mouth or other body regions.</a:t>
            </a:r>
          </a:p>
          <a:p>
            <a:pPr algn="l">
              <a:lnSpc>
                <a:spcPct val="108000"/>
              </a:lnSpc>
              <a:spcAft>
                <a:spcPts val="960"/>
              </a:spcAft>
            </a:pPr>
            <a:r>
              <a:rPr sz="1600" b="0" i="0">
                <a:solidFill>
                  <a:srgbClr val="000000"/>
                </a:solidFill>
                <a:latin typeface="Arial"/>
              </a:rPr>
              <a:t>Bystanders contacted the distressed animal sooner and more frequently during post-distress observations than during matched periods. Bystander initiation mattered because it separated another animal’s approach from contact elicited solely by the distressed elephant actively seeking company.</a:t>
            </a:r>
          </a:p>
          <a:p>
            <a:pPr algn="l">
              <a:lnSpc>
                <a:spcPct val="108000"/>
              </a:lnSpc>
              <a:spcAft>
                <a:spcPts val="960"/>
              </a:spcAft>
            </a:pPr>
            <a:r>
              <a:rPr sz="1600" b="0" i="0">
                <a:solidFill>
                  <a:srgbClr val="000000"/>
                </a:solidFill>
                <a:latin typeface="Arial"/>
              </a:rPr>
              <a:t>The pattern supports reassurance as a behavioral description. The observers did not measure the recipient’s subjective state, establish that contact reduced physiological stress, or test a causal role for oxytocin, dopamine or a particular cortical population. Functional and neural interpretations remain narrower than the observed contact pattern.</a:t>
            </a:r>
          </a:p>
        </p:txBody>
      </p:sp>
      <p:pic>
        <p:nvPicPr>
          <p:cNvPr id="4" name="Picture 3" descr="reassurance_contact.png"/>
          <p:cNvPicPr>
            <a:picLocks noChangeAspect="1"/>
          </p:cNvPicPr>
          <p:nvPr/>
        </p:nvPicPr>
        <p:blipFill>
          <a:blip r:embed="rId2"/>
          <a:stretch>
            <a:fillRect/>
          </a:stretch>
        </p:blipFill>
        <p:spPr>
          <a:xfrm>
            <a:off x="566928" y="1280160"/>
            <a:ext cx="5120640" cy="3422305"/>
          </a:xfrm>
          <a:prstGeom prst="rect">
            <a:avLst/>
          </a:prstGeom>
        </p:spPr>
      </p:pic>
      <p:sp>
        <p:nvSpPr>
          <p:cNvPr id="5" name="Figure caption"/>
          <p:cNvSpPr txBox="1"/>
          <p:nvPr/>
        </p:nvSpPr>
        <p:spPr>
          <a:xfrm>
            <a:off x="566928" y="479390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&amp; de Waal (2014), Fig. 1. Original affiliative trunk contact photograph.</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&amp; de Waal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Rapid affiliation supports reassurance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reassurance study concentrated first affiliative contacts within the first minute after distress, compared with matched control observations. </a:t>
            </a:r>
            <a:r>
              <a:rPr sz="1500" b="1" i="0">
                <a:solidFill>
                  <a:srgbClr val="344B65"/>
                </a:solidFill>
                <a:latin typeface="Arial"/>
              </a:rPr>
              <a:t>Emotional contagion</a:t>
            </a:r>
            <a:r>
              <a:rPr sz="1500" b="0" i="0">
                <a:solidFill>
                  <a:srgbClr val="000000"/>
                </a:solidFill>
                <a:latin typeface="Arial"/>
              </a:rPr>
              <a:t> describes a proposed sharing of another individual’s state; synchronized distress-related behavior among bystanders supplied behavioral evidence consistent with that interpretation.</a:t>
            </a:r>
          </a:p>
          <a:p>
            <a:pPr algn="l">
              <a:lnSpc>
                <a:spcPct val="108000"/>
              </a:lnSpc>
              <a:spcAft>
                <a:spcPts val="900"/>
              </a:spcAft>
            </a:pPr>
            <a:r>
              <a:rPr sz="1500" b="0" i="0">
                <a:solidFill>
                  <a:srgbClr val="000000"/>
                </a:solidFill>
                <a:latin typeface="Arial"/>
              </a:rPr>
              <a:t>Physical contacts and vocal responses were recorded separately. This distinguished changes in approach or touch from changes in calling and allowed the timing of affiliation to be compared against ordinary social interaction rather than merely noting that elephants sometimes touched one another.</a:t>
            </a:r>
          </a:p>
          <a:p>
            <a:pPr algn="l">
              <a:lnSpc>
                <a:spcPct val="108000"/>
              </a:lnSpc>
              <a:spcAft>
                <a:spcPts val="900"/>
              </a:spcAft>
            </a:pPr>
            <a:r>
              <a:rPr sz="1500" b="0" i="0">
                <a:solidFill>
                  <a:srgbClr val="000000"/>
                </a:solidFill>
                <a:latin typeface="Arial"/>
              </a:rPr>
              <a:t>Coordinated behavior is compatible with social-state sensitivity, but does not establish a specific internal emotion or its neural cause. Together, the cognition, imitation and anatomy studies support multiple specialized capacities while leaving the causal circuits linking elephant experience, cellular physiology and social decisions largely untested.</a:t>
            </a:r>
          </a:p>
        </p:txBody>
      </p:sp>
      <p:pic>
        <p:nvPicPr>
          <p:cNvPr id="4" name="Picture 3" descr="reassurance_timing.png"/>
          <p:cNvPicPr>
            <a:picLocks noChangeAspect="1"/>
          </p:cNvPicPr>
          <p:nvPr/>
        </p:nvPicPr>
        <p:blipFill>
          <a:blip r:embed="rId2"/>
          <a:stretch>
            <a:fillRect/>
          </a:stretch>
        </p:blipFill>
        <p:spPr>
          <a:xfrm>
            <a:off x="6504127" y="1280160"/>
            <a:ext cx="5120640" cy="3526337"/>
          </a:xfrm>
          <a:prstGeom prst="rect">
            <a:avLst/>
          </a:prstGeom>
        </p:spPr>
      </p:pic>
      <p:sp>
        <p:nvSpPr>
          <p:cNvPr id="5" name="Figure caption"/>
          <p:cNvSpPr txBox="1"/>
          <p:nvPr/>
        </p:nvSpPr>
        <p:spPr>
          <a:xfrm>
            <a:off x="6504127" y="48979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Plotnik &amp; de Waal (2014), Fig. 2. Timing of first affiliation after distress and in controls.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Plotnik &amp; de Waal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44B65"/>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Sensory-appropriate comparisons.</a:t>
            </a:r>
            <a:r>
              <a:rPr sz="1600" b="0" i="0">
                <a:solidFill>
                  <a:srgbClr val="000000"/>
                </a:solidFill>
                <a:latin typeface="Arial"/>
              </a:rPr>
              <a:t> Olfactory quantity judgments and alternative tool tasks reveal capacities that a visual or trunk-held task can miss.</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Controlled cognitive inference.</a:t>
            </a:r>
            <a:r>
              <a:rPr sz="1600" b="0" i="0">
                <a:solidFill>
                  <a:srgbClr val="000000"/>
                </a:solidFill>
                <a:latin typeface="Arial"/>
              </a:rPr>
              <a:t> Partner-access controls, sham marks and nonobstructing-mat controls distinguish specific contingencies from simple alternative explanations.</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Vocal production learning.</a:t>
            </a:r>
            <a:r>
              <a:rPr sz="1600" b="0" i="0">
                <a:solidFill>
                  <a:srgbClr val="000000"/>
                </a:solidFill>
                <a:latin typeface="Arial"/>
              </a:rPr>
              <a:t> African imitations and Koshik’s acoustic matching establish flexible sound production; they do not establish human language comprehension.</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Cortical anatomy.</a:t>
            </a:r>
            <a:r>
              <a:rPr sz="1600" b="0" i="0">
                <a:solidFill>
                  <a:srgbClr val="000000"/>
                </a:solidFill>
                <a:latin typeface="Arial"/>
              </a:rPr>
              <a:t> VEN morphology, regional distribution and developing dendritic architecture are established anatomical findings; their exact social functions remain untested.</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44B65"/>
                </a:solidFill>
                <a:latin typeface="Arial"/>
              </a:rPr>
              <a:t>Experience and social knowledge.</a:t>
            </a:r>
            <a:r>
              <a:rPr sz="1500" b="0" i="0">
                <a:solidFill>
                  <a:srgbClr val="000000"/>
                </a:solidFill>
                <a:latin typeface="Arial"/>
              </a:rPr>
              <a:t> Older-led groups discriminate socially relevant calls and predator categories more finely; disrupted social histories are associated with persistent deficits.</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44B65"/>
                </a:solidFill>
                <a:latin typeface="Arial"/>
              </a:rPr>
              <a:t>Evidence across levels.</a:t>
            </a:r>
            <a:r>
              <a:rPr sz="1600" b="0" i="0">
                <a:solidFill>
                  <a:srgbClr val="000000"/>
                </a:solidFill>
                <a:latin typeface="Arial"/>
              </a:rPr>
              <a:t> Reassurance, recognition and cooperation are behavioral findings; no cited study establishes a complete elephant social circuit or its necessary transmitter mechanism.</a:t>
            </a:r>
          </a:p>
        </p:txBody>
      </p:sp>
      <p:sp>
        <p:nvSpPr>
          <p:cNvPr id="15" name="Rectangle 14"/>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Poole et al. (2005); Hakeem et al. (2009); Plotnik &amp; de Waal (2014)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Elephants II: Comparative Cognition, Vocal Learning, and Social Neurobiology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