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Biocomputing II: From Pong to Doom — sensory encoding, feedback, adaptive behavior, and neuroethical questions of sentience and welfare
Date TBD
References:
Kagan BJ; Kitchen AC; Tran NT; Habibollahi F; Khajehnejad M; Parker BJ; Bhat A; Rollo B; Razi A; Friston KJ (2022). In vitro neurons learn and exhibit sentience when embodied in a simulated game-world. Neuron 110(23):3952–3969.e8. https://doi.org/10.1016/j.neuron.2022.09.001
Figure source: https://doi.org/10.1016/j.neuron.2022.09.001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Operant conditioning changes the occurrence of a response by making its consequences depend on whether that response occurs. Shahaf and Marom applied this principle to dissociated rat cortical neurons, replacing an animal's movement with an electrically recorded response in a culture.
• A computer stimulated the network and monitored a selected recording electrode. When activity satisfied a predefined response criterion, stimulation stopped for 5 min. The network therefore controlled the timing of an external event through its own electrical activity.
• Across repeated cycles, trained cultures reached the criterion more quickly. A control protocol delivered stimulation for a fixed duration regardless of activity. The difference between these conditions connects learning to the relationship between a response and its consequence, rather than to repeated stimulation alone.
References:
Shahaf G; Marom S (2001). Learning in networks of cortical neurons. Journal of Neuroscience 21(22):8782–8788. https://doi.org/10.1523/JNEUROSCI.21-22-08782.2001
Figure sources:
Shahaf &amp; Marom (2001), Fig. 6. Response acquisition with and without contingent stimulus removal. https://doi.org/10.1523/JNEUROSCI.21-22-08782.2001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Shahaf and Marom dissociated cortex from newborn rats and plated the cells on a multielectrode array, a substrate containing multiple conducting sites for extracellular recording and stimulation. Neurites, the processes extending from neuronal cell bodies, grew across the electrode-bearing surface.
• The neurons formed a network before conditioning began in the third week after plating. Activity recorded at different sites occurred in reproducible temporal relationships. These relationships supplied a repertoire of responses from which the computer could select a conditioning target.
• The electrodes sampled nearby electrical events rather than measuring the entire network. A selected electrode was consequently a response channel within an interconnected preparation. Conditioning changed the occurrence of activity at that channel while stimulation continued to recruit the surrounding cortical network.
References:
Shahaf G; Marom S (2001). Learning in networks of cortical neurons. Journal of Neuroscience 21(22):8782–8788. https://doi.org/10.1523/JNEUROSCI.21-22-08782.2001
Figure sources:
Shahaf &amp; Marom (2001), Fig. 1A. Cortical neurons growing across recording electrodes. https://doi.org/10.1523/JNEUROSCI.21-22-08782.2001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Extracellular stimulation applies an electrical pulse outside the cells, recruiting excitable neural elements near an electrode. Shahaf and Marom used pulses lasting 420 µs at an amplitude of 50 µA. Recordings from multiple sites captured the activity that followed each pulse.
• The response distribution contained an early peak associated with direct activation and a later component associated with activity reverberating through the network. Reverberation means that neural interactions sustain activity beyond the initial electrical input, producing delayed responses at recording sites.
• The conditioning target belonged to this delayed response period. Selecting activity after the initial recruitment made the learned outcome depend on the network's evoked response pattern. Repeated stimulation could alter that pattern, while contingent stimulus removal selected responses occurring within the prescribed temporal window.
References:
Shahaf G; Marom S (2001). Learning in networks of cortical neurons. Journal of Neuroscience 21(22):8782–8788. https://doi.org/10.1523/JNEUROSCI.21-22-08782.2001
Figure sources:
Shahaf &amp; Marom (2001), Fig. 1D–E. Evoked traces and the post-stimulus response distribution. https://doi.org/10.1523/JNEUROSCI.21-22-08782.2001</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conditioning task required a selected electrode to produce activity 40–60 ms after stimulation. Before training, the investigators chose an electrode whose responses rarely occurred in this interval. The target was therefore a particular delayed response, rather than an increase in all activity.
• The computer monitored successive stimulation trials and stopped stimulation when at least two of the latest ten trials contained the target response. This moving criterion linked a short sequence of neural events to the cessation of external input.
• After conditioning, activity occurred more often inside the target window. The relevant response specificity was temporal and spatial: the selected recording channel responded at the designated delay. Activity elsewhere or at another delay contributed to the network's dynamics but did not directly satisfy the programmed criterion.
References:
Shahaf G; Marom S (2001). Learning in networks of cortical neurons. Journal of Neuroscience 21(22):8782–8788. https://doi.org/10.1523/JNEUROSCI.21-22-08782.2001
Figure sources:
Shahaf &amp; Marom (2001), Fig. 2. Responses before and after conditioning. https://doi.org/10.1523/JNEUROSCI.21-22-08782.2001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Acquisition time is the duration of stimulation needed to satisfy the response criterion in one conditioning cycle. Shahaf and Marom stimulated at 0.3, 0.5, or 1 Hz, using the same frequency for successive cycles within a training protocol.
• If the criterion occurred, stimulation stopped and a 5-min pause followed. If the criterion remained unmet for 10 min, stimulation also stopped. This maximum duration prevented an unsuccessful cycle from continuing indefinitely while preserving repeated opportunities for conditioning.
• Acquisition times declined and stabilized during successful training. Fixed-duration control cycles, consisting of 10 min of stimulation followed by 5 min without stimulation, lacked the same systematic improvement. The declining acquisition time reflects an increasingly reliable route from stimulation to the selected network response.
References:
Shahaf G; Marom S (2001). Learning in networks of cortical neurons. Journal of Neuroscience 21(22):8782–8788. https://doi.org/10.1523/JNEUROSCI.21-22-08782.2001
Figure sources:
Shahaf &amp; Marom (2001), Fig. 3A–B. Learning curves and response-independent controls. https://doi.org/10.1523/JNEUROSCI.21-22-08782.2001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Closed-loop control links a system's output to the input it subsequently receives. In DishBrain, Kagan and colleagues used neural activity to move a virtual Pong paddle. Paddle movement affected interception of a moving ball, and interception changed the stimulation delivered to the culture.
• The loop therefore included the neuronal network, electrode interface, software decoder, simulated environment, and stimulation encoder. Each component contributed to the causal relationship between recorded activity and its consequences. The cells received electrical pulses rather than a visual image of the screen.
• The resulting task was defined by this interface. Neural activity had behavioral meaning because the software mapped it onto paddle displacement, while the environment returned input contingent on the resulting action. The same culture could therefore occupy different functional states during spontaneous recording and interactive gameplay.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6A. Outcome-dependent stimulation during gameplay. https://doi.org/10.1016/j.neuron.2022.09.001</a:t>
            </a:r>
          </a:p>
          <a:p>
            <a:r>
              <a:t/>
            </a:r>
          </a:p>
          <a:p>
            <a:r>
              <a:t>Article-provided recording: Kagan et al. (2022), Video S2. SpikeStream activity and Pong control.</a:t>
            </a:r>
          </a:p>
          <a:p>
            <a:r>
              <a:t>• The authors’ SpikeStream recording connects spatially distributed electrical activity with the game visualizer. The sensory stimulation and motor decoding assignments join the culture to the simulated task. The complete original system-overview sequence is retained, including the authors’ own descriptions and visual displays.</a:t>
            </a:r>
          </a:p>
          <a:p>
            <a:r>
              <a:t>Article DOI: https://doi.org/10.1016/j.neuron.2022.09.001</a:t>
            </a:r>
          </a:p>
          <a:p>
            <a:r>
              <a:t>Original media URL: https://ars.els-cdn.com/content/image/1-s2.0-S0896627322008066-mmc3.mp4</a:t>
            </a:r>
          </a:p>
          <a:p>
            <a:r>
              <a:t>Retrieved from: https://pmc-oa-opendata.s3.amazonaws.com/PMC9747182.1/mmc3.mp4</a:t>
            </a:r>
          </a:p>
          <a:p>
            <a:r>
              <a:t>Credit: Brett J. Kagan and coauthors; original article Video S2, interactive SpikeStream visualizer and system overview</a:t>
            </a:r>
          </a:p>
          <a:p>
            <a:r>
              <a:t>License: CC BY 4.0, as supplied with the article; no separate video restriction stated.</a:t>
            </a:r>
          </a:p>
          <a:p>
            <a:r>
              <a:t>Compatibility: H.264 compatibility re-encoding at original resolution, frame rate, frame count, and duration. No scene, speed, overlay, or scientific-content edits. Original recording has no audio stream.</a:t>
            </a:r>
          </a:p>
          <a:p>
            <a:r>
              <a:t>Playback: click the video or its article-figure poster in PowerPoint Slide Show. The original credited figure remains as a static fallback. The complete media decode and embedded relationships were verified; interactive PowerPoint playback was unavailable in this environment.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DishBrain included human cortical neurons derived from induced pluripotent stem cells, cells reprogrammed into a state capable of generating multiple differentiated cell types. The experiment also used primary mouse cortical cultures. Both preparations generated the electrical activity required for interaction with the game.
• Immunostaining identified neuronal cell bodies and processes in the human cultures. MAP2 labeling marked dendrites, neuronal processes receiving synaptic input, and other neuronal markers supported the characterization of the preparation. These networks supplied the biological controller coupled to the computer interface.
• The game decoder read activity from assigned output regions rather than imposing an artificial neural-network learning rule on each biological neuron. Adaptation occurred within a living, interconnected preparation, while the electronic system specified which recorded activity moved the paddle and which external events produced stimulation.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2B. Immunostained human cortical neurons and their processes. https://doi.org/10.1016/j.neuron.2022.09.001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place code represents a variable through the location of activity or stimulation. DishBrain assigned eight electrodes to the sensory input region. Different stimulating sites corresponded to different positions of the virtual ball along the vertical axis of the game.
• The code gave the culture a coarse spatial representation of ball position. The electrode layout was defined electronically, so the assigned sensory region was an input interface rather than a naturally developed sensory organ. Electrical stimulation recruited neurons near the selected sites.
• A useful action required a relationship between this spatial input and output activity controlling vertical paddle movement. The culture's internal connections linked stimulation to distributed responses. Counterbalanced output assignments and control arrays helped assess whether the interface itself favored successful interception without biological adaptation.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4D. Sensory and motor electrode assignments. https://doi.org/10.1016/j.neuron.2022.09.001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rate code represents a variable through the frequency of events. DishBrain's final encoding combined the location of stimulation with a pulse rate that increased from 4 to 40 Hz as the ball approached the paddle. Vertical position and approach were consequently represented by different input properties.
• Earlier pilot configurations used a 4-Hz place code without the additional approach-dependent rate signal. The final combined encoding produced longer average rallies than the earlier configurations. Increasing the information available through the interface changed the cultures' task performance.
• Approach-dependent stimulation connected temporal urgency to neural input. As the ball neared the paddle, the network received pulses more frequently while the stimulating site continued to report vertical position. Successful interception thus depended on coordinating output with both where the ball was and how close it was to the paddle boundary.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4E. Performance across progressively richer input encodings. https://doi.org/10.1016/j.neuron.2022.09.001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decoder converts recorded neural activity into an output command. DishBrain divided recording sites into assigned motor regions. Activity in one output group moved the paddle upward, and activity in the opposing group moved it downward.
• The software used the difference between activity in these regions, with normalization for baseline differences, to determine movement. The decoder operated rapidly enough to return updated stimulation with an approximately 5-ms spike-to-stimulation latency. Neural events could therefore affect the ongoing interaction before the environment changed substantially.
• These output regions were operational assignments on the array, rather than anatomical motor cortex subdivisions. Their biological activity acquired action significance through the interface. A favorable output pattern moved the paddle toward the ball, changing whether the next event was a successful return or a miss.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4D. Assigned sensory and opposing motor electrode regions. https://doi.org/10.1016/j.neuron.2022.09.001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rally is a sequence of successful paddle returns before a miss. Average rally length measures how long a culture maintains the required sensorimotor relationship. The analysis compared the first 5 min with the remaining 15 min of a gameplay session.
• Human and mouse cortical cultures increased rally length during gameplay. The investigators also measured immediate failures, called aces, and extended sequences of returns, called long rallies. These additional measures distinguished sustained interception from isolated successful contacts.
• The task metrics describe the performance of the complete culture-interface system. A longer rally requires repeated appropriate output as ball position changes, rather than a single favorable paddle location. Reductions in immediate failure and increases in sustained returns provide complementary descriptions of adaptation to the task's changing sensory demands.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5B–D. Rally length, missed first returns, and long rallies. https://doi.org/10.1016/j.neuron.2022.09.001</a:t>
            </a:r>
          </a:p>
          <a:p>
            <a:r>
              <a:t/>
            </a:r>
          </a:p>
          <a:p>
            <a:r>
              <a:t>Article-provided recording: Kagan et al. (2022), Video S1. Neural control of a Pong paddle.</a:t>
            </a:r>
          </a:p>
          <a:p>
            <a:r>
              <a:t>• The original representative recording contains a paddle controlled by living neuronal activity. Its motion changes the ball outcome, which determines subsequent electrical feedback. Individual paddle trajectories are observations from this recording, while learning across conditions is assessed by the unchanged published performance figures.</a:t>
            </a:r>
          </a:p>
          <a:p>
            <a:r>
              <a:t>Article DOI: https://doi.org/10.1016/j.neuron.2022.09.001</a:t>
            </a:r>
          </a:p>
          <a:p>
            <a:r>
              <a:t>Original media URL: https://ars.els-cdn.com/content/image/1-s2.0-S0896627322008066-mmc2.mp4</a:t>
            </a:r>
          </a:p>
          <a:p>
            <a:r>
              <a:t>Retrieved from: https://pmc-oa-opendata.s3.amazonaws.com/PMC9747182.1/mmc2.mp4</a:t>
            </a:r>
          </a:p>
          <a:p>
            <a:r>
              <a:t>Credit: Brett J. Kagan, Andy C. Kitchen, Nhi T. Tran, Forough Habibollahi, Moein Khajehnejad, Bradyn J. Parker, Anjali Bhat, Ben Rollo, Adeel Razi, and Karl J. Friston; original article Video S1</a:t>
            </a:r>
          </a:p>
          <a:p>
            <a:r>
              <a:t>License: CC BY 4.0, as supplied with the article; no separate video restriction stated.</a:t>
            </a:r>
          </a:p>
          <a:p>
            <a:r>
              <a:t>Compatibility: Original MP4, byte-for-byte unchanged.</a:t>
            </a:r>
          </a:p>
          <a:p>
            <a:r>
              <a:t>Playback: click the video or its article-figure poster in PowerPoint Slide Show. The original credited figure remains as a static fallback. The complete media decode and embedded relationships were verified; interactive PowerPoint playback was unavailable in this environment.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Kagan and colleagues compared living cultures with media-only arrays, random-output simulations, and a rest condition in which culture activity moved the paddle without sensory stimulation. These controls tested whether electrode artifacts, random commands, or spontaneous activity could generate comparable performance changes.
• Only the mouse and human cortical gameplay groups increased their average rally length over the session. The human cultures initially performed poorly but later exceeded the control groups. Improvement was therefore related to interaction with the structured task, rather than simply to producing electrical activity.
• The controls separate paddle movement from adaptive control. A randomly or spontaneously driven paddle can sometimes intercept the ball, but repeated appropriate returns require an output pattern related to changing input. The distribution of returns shifted during biological gameplay as the cultures adjusted their responses.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5F. Distribution of return counts across gameplay time. https://doi.org/10.1016/j.neuron.2022.09.001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Outcome-contingent feedback changes according to the consequence of an action. A successful Pong return produced a brief predictable stimulus, delivered across electrodes at 100 Hz. The game then continued with the ball's subsequent trajectory.
• A missed return produced an unpredictable stimulation period at 5 Hz for 4 s, followed by a restart in a random direction. The two outcomes therefore differed in stimulation pattern, duration, and continuity of the game. These were electrical consequences, without an added chemical reward.
• The authors' active-inference hypothesis proposes that cultures adapt toward more predictable input by changing their output. Active inference is a framework in which action and internal adjustment reduce mismatch between expected and received input. The experimental evidence supporting adaptation consists of the task results and feedback comparisons, rather than the hypothesis alone.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6A. Outcome-dependent stimulation across three feedback conditions. https://doi.org/10.1016/j.neuron.2022.09.001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no-feedback condition retained stimulation reporting ball position but removed the outcome-dependent restart. After a miss, the ball continued without an interruption that distinguished failure from successful control. The culture received task information without the usual consequence of a missed return.
• In the silent condition, missed returns led to a matching period without stimulation before the game restarted. This manipulation retained a consequence of failure while changing its electrical content. The stimulus condition retained the predictable and unpredictable stimulation schedule.
• Within-session rally-length improvement was strongest under the stimulus-feedback condition. Silent feedback supported higher later performance than the no-feedback condition. The comparison connects adaptation to outcome-dependent changes in the input sequence: continued ball-position stimulation and feedback contingent on failure produced different performance trajectories.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6C. Changes in rally length under feedback manipulations. https://doi.org/10.1016/j.neuron.2022.09.001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Population coordination describes relationships among neural activity recorded at different sites. Kagan and colleagues compared activity in sensory and motor regions during rest and gameplay. Sensory-motor correlations were lower during gameplay than during spontaneous rest activity.
• The opposing motor regions also produced more mutually exclusive activity during gameplay. A mutually exclusive event occurs when one output region is active without simultaneous activity in its opponent. Such events generate a directional command rather than canceling through opposing output.
• The change links population activity to the decoder's requirements. Broadly synchronized firing can activate both output groups together, whereas differentiated activity produces a clearer upward or downward command. Task engagement reorganized the relationships among recorded populations in a direction relevant to control of the paddle.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7E–F. Sensory-motor correlation and mutually exclusive output activity. https://doi.org/10.1016/j.neuron.2022.09.001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Synchrony is coordinated activity occurring at the same time across recorded populations. During DishBrain gameplay, the correlation between opposing motor regions changed markedly near the beginning of a session. The relationship evolved as cultures interacted with the input-output mapping.
• The study also assessed average culture firing across the session. Overall firing magnitude lacked the same learning-related trend, even while the relationships among output regions changed. Adaptation therefore involved the distribution and coordination of activity, rather than simply increasing the total number of spikes.
• This distinction connects the scale of measurement to function. A culture can maintain a similar overall activity level while reorganizing which populations are active together. Because the paddle decoder compares opposing regions, changes in their coordination can alter action selection even when aggregate firing remains relatively stable.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7G–H. Time-dependent correlation between opposing motor regions. https://doi.org/10.1016/j.neuron.2022.09.001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Information entropy quantifies uncertainty in a probability distribution. Kagan and colleagues estimated entropy from recorded neural activity, comparing periods before and after feedback. This measure describes the distribution of electrical events rather than an experienced emotional state.
• Unpredictable stimulation increased the activity-based entropy measure after missed returns during gameplay. Matched resting periods lacked the same feedback-related change. The stimulus and silent feedback conditions also differed from the condition retaining ball information without outcome-dependent interruption.
• These results connect the structure of external input to the organization of population activity. A miss altered the stimulation sequence and was followed by a changed distribution of neural events. Feedback consequently affected both the environment presented to the network and the electrical activity from which subsequent paddle commands were decoded.
References:
Kagan BJ; Kitchen AC; Tran NT; Habibollahi F; Khajehnejad M; Parker BJ; Bhat A; Rollo B; Razi A; Friston KJ (2022). In vitro neurons learn and exhibit sentience when embodied in a simulated game-world. Neuron 110(23):3952–3969.e8. https://doi.org/10.1016/j.neuron.2022.09.001
Figure sources:
Kagan et al. (2022), Fig. 7A–L. Activity entropy before and after feedback. https://doi.org/10.1016/j.neuron.2022.09.001</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Watmuff and colleagues used human neurons generated by inducible expression of neurogenin 2, or NGN2, a transcription factor that promotes neuronal differentiation. A transcription factor changes gene expression by influencing transcription, the production of RNA from DNA.
• The resulting cultures expressed markers associated with glutamatergic neurons. Glutamate is an excitatory neurotransmitter, a chemical signal released by neurons that can increase the activity of receiving cells. A synapse is a site of communication between neurons. Vesicular glutamate transporter 2, or VGLUT2, packages glutamate into synaptic vesicles, membrane-bound structures that store transmitter for release.
• The cultures were supplemented with astrocytes but lacked a balanced complement of inhibitory interneurons. They developed high spontaneous activity and synchronized bursts. This preparation made reduction of excessive excitability a relevant intervention, connecting cellular composition to the operating state of the network before pharmacological testing.
References:
Watmuff B; Habibollahi F; Desouza C; Khajehnejad M; Loeffler A; Baranes K; Poulin N; Kotter M; Kagan BJ (2025). Drug treatment alters performance in a neural microphysiological system of information processing. Communications Biology 8:916. https://doi.org/10.1038/s42003-025-08194-6
Figure sources:
Watmuff et al. (2025), Fig. 1A–B. Neuronal and synaptic markers in the NGN2 culture. https://doi.org/10.1038/s42003-025-08194-6</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burst is a cluster of spikes occurring close together in time. NGN2-derived cultures exhibited substantial spontaneous firing and coordinated network bursts. Such activity can repeatedly recruit large portions of the preparation, reducing the separation between activity in different output populations.
• Watmuff and colleagues measured spontaneous activity alongside behavior in the Pong interface. This paired assay distinguished a drug's effect on baseline excitability from its effect on information processing during interaction with structured input. Recordings began from day 21 of differentiation.
• Carbamazepine changed the raster pattern and reduced firing at the tested high concentration. A raster represents recorded spikes by their occurrence time and recording site. Pharmacological adjustment therefore altered the biological state entering the feedback loop, while the task interface supplied a separate measure of how that state supported control.
References:
Watmuff B; Habibollahi F; Desouza C; Khajehnejad M; Loeffler A; Baranes K; Poulin N; Kotter M; Kagan BJ (2025). Drug treatment alters performance in a neural microphysiological system of information processing. Communications Biology 8:916. https://doi.org/10.1038/s42003-025-08194-6
Figure sources:
Watmuff et al. (2025), Fig. 1C. Population firing before and after carbamazepine. https://doi.org/10.1038/s42003-025-08194-6</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Pharmacological modulation changes neural activity by applying a compound that acts on molecular targets. The study tested carbamazepine at 2–200 µM, phenytoin at 10–33 µM, and perampanel at 1–10 µM. A micromolar concentration describes the amount of dissolved compound per unit volume.
• The compounds produced different firing-rate profiles in the NGN2 cultures. Carbamazepine reduced mean firing with increasing concentration, whereas the other treatments changed activity differently under the tested conditions. The effects depended on the interaction between drug target, dose, and network state.
• Rest and gameplay exposed the cultures to different input conditions. Comparing both states connected spontaneous excitability with activity during task engagement. A compound's effect on baseline firing was consequently one part of its physiological profile, alongside the pattern of activity expressed during closed-loop stimulation.
References:
Watmuff B; Habibollahi F; Desouza C; Khajehnejad M; Loeffler A; Baranes K; Poulin N; Kotter M; Kagan BJ (2025). Drug treatment alters performance in a neural microphysiological system of information processing. Communications Biology 8:916. https://doi.org/10.1038/s42003-025-08194-6
Figure sources:
Watmuff et al. (2025), Fig. 2A. Firing-rate distributions at rest and during gameplay. https://doi.org/10.1038/s42003-025-08194-6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Voltage-gated sodium channels are membrane proteins that open in response to depolarization, a reduction in the electrical voltage difference across the membrane. Sodium entry through these channels contributes to the rapid rising phase of an action potential, the electrical event recorded as a spike.
• Carbamazepine and phenytoin act on neuronal sodium channels. Altering channel availability changes the ability of neurons to generate and sustain activity. In the NGN2 preparation, increasing carbamazepine concentration reduced average firing, linking its molecular target to a measurable network response.
• At 200 µM, carbamazepine also improved gameplay measures. The same compound therefore changed both excitability and task performance in this preparation. The task result links channel modulation to network-level control through the activity entering the paddle decoder, rather than treating lower firing as a sufficient behavioral outcome by itself.
References:
Watmuff B; Habibollahi F; Desouza C; Khajehnejad M; Loeffler A; Baranes K; Poulin N; Kotter M; Kagan BJ (2025). Drug treatment alters performance in a neural microphysiological system of information processing. Communications Biology 8:916. https://doi.org/10.1038/s42003-025-08194-6
Figure sources:
Watmuff et al. (2025), Fig. 1D–E. Carbamazepine dose response and treatment firing rates. https://doi.org/10.1038/s42003-025-08194-6
Watmuff et al. (2025), Fig. 1A–B. Differentiation and neuronal tissue markers. https://doi.org/10.1038/s42003-025-08194-6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AMPA receptor is an ion-conducting glutamate receptor on a receiving cell. Glutamate binding recruits excitatory synaptic current, connecting transmitter release to changes in membrane voltage and the probability of subsequent firing. Repeated synaptic recruitment helps propagate activity through a network.
• Perampanel is a noncompetitive AMPA receptor antagonist. An antagonist reduces a receptor's activity; noncompetitive action means that its inhibitory effect is not produced by simply competing with glutamate for the same binding site. Its target differs from the sodium channels acted on by carbamazepine and phenytoin.
• The drug study compared these distinct interventions using both electrophysiology and gameplay. Perampanel changed neural activity but did not produce the same task improvement as high-dose carbamazepine. Effects on excitatory transmission and effects on spike-generating channels therefore yielded different functional outcomes under the tested culture conditions.
References:
Watmuff B; Habibollahi F; Desouza C; Khajehnejad M; Loeffler A; Baranes K; Poulin N; Kotter M; Kagan BJ (2025). Drug treatment alters performance in a neural microphysiological system of information processing. Communications Biology 8:916. https://doi.org/10.1038/s42003-025-08194-6
Figure sources:
Watmuff et al. (2025), Fig. 3A,C. Rally-length and hit-to-miss distributions. https://doi.org/10.1038/s42003-025-08194-6
Watmuff et al. (2025), Fig. 1A–B. Differentiation and neuronal tissue markers. https://doi.org/10.1038/s42003-025-08194-6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Watmuff and colleagues divided network bursts into small, medium, and large classes according to their recorded size. Burst size describes the amount of activity recruited within a temporally clustered network event. Different sizes represent different degrees of population recruitment.
• The counts of these burst classes changed under pharmacological intervention and differed between rest and gameplay. Small bursts decreased during gameplay relative to rest in the tested groups. Carbamazepine also changed the distribution of larger events, with its effects varying across concentration.
• The classification distinguishes a network's organization from its average rate. Two conditions with similar overall firing can differ in whether spikes occur in many small events or fewer broadly recruited events. Drug effects on burst structure therefore describe how activity is assembled into population events during interaction with the game.
References:
Watmuff B; Habibollahi F; Desouza C; Khajehnejad M; Loeffler A; Baranes K; Poulin N; Kotter M; Kagan BJ (2025). Drug treatment alters performance in a neural microphysiological system of information processing. Communications Biology 8:916. https://doi.org/10.1038/s42003-025-08194-6
Figure sources:
Watmuff et al. (2025), Fig. 4G–I. Small, medium, and large bursts across carbamazepine doses. https://doi.org/10.1038/s42003-025-08194-6</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At 200 µM, carbamazepine improved average rally length in the NGN2 culture assay. The treatment group also produced more successful returns and fewer immediate failures than untreated cultures and other tested treatments. The measured behavior was control of a simulated paddle through neural output.
• The experiment compared the first and second halves of 15-min recordings. Only the high-dose carbamazepine condition showed clear improvement over time in average rally length normalized to rest performance. Untreated cultures lacked the same within-session learning effect in this preparation.
• Network operating state refers to the pattern of excitability and coordinated activity present under particular conditions. The authors propose that excessive excitability limited useful processing in the untreated cultures. Carbamazepine's joint effects on firing and gameplay connect adjustment of that state with improved adaptive performance under the assay's stimulation and decoding rules.
References:
Watmuff B; Habibollahi F; Desouza C; Khajehnejad M; Loeffler A; Baranes K; Poulin N; Kotter M; Kagan BJ (2025). Drug treatment alters performance in a neural microphysiological system of information processing. Communications Biology 8:916. https://doi.org/10.1038/s42003-025-08194-6
Figure sources:
Watmuff et al. (2025), Fig. 3G. Within-session rally changes under carbamazepine. https://doi.org/10.1038/s42003-025-08194-6</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same neural culture encounters different conditions at rest and during gameplay. Spontaneous recording samples internally generated activity, whereas gameplay adds structured input and action-dependent feedback. Drug effects can therefore depend on whether the network is interacting with the task.
• Watmuff and colleagues represented population activity in a reduced-dimensional space, retaining relationships among activity patterns while reducing the number of coordinates used to describe them. Early and later gameplay activity occupied more differentiated regions than corresponding resting activity in several conditions.
• Carbamazepine's effects on task performance accompanied changes in network activity organization. Other drugs altered neural dynamics without producing the same improvement. Combining behavioral and electrophysiological measurements therefore connects molecular intervention to the functional consequences of activity in a specified environment, rather than assigning performance from resting firing alone.
References:
Watmuff B; Habibollahi F; Desouza C; Khajehnejad M; Loeffler A; Baranes K; Poulin N; Kotter M; Kagan BJ (2025). Drug treatment alters performance in a neural microphysiological system of information processing. Communications Biology 8:916. https://doi.org/10.1038/s42003-025-08194-6
Figure sources:
Watmuff et al. (2025), Fig. 6A. Population activity embeddings at rest and during gameplay. https://doi.org/10.1038/s42003-025-08194-6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Functional connectivity is a relationship inferred from activity recorded at different sites. Khajehnejad and colleagues calculated correlations among representations of neural spiking, treating recording channels as nodes and their activity relationships as links in a network graph.
• The analysis compared early and late portions of rest and gameplay recordings. Link colors indicated whether the inferred relationship increased or decreased. Gameplay produced more extensive changes in these relationships than rest, connecting environmental interaction to reorganized population activity.
• A functional link is an activity relationship rather than a counted anatomical synapse. Correlated sites can share input or participate in wider network dynamics. The graph therefore describes how recorded populations function together, while its changes identify a task-associated reorganization that can be related to the biological controller's evolving output.
References:
Khajehnejad M; Habibollahi F; Loeffler A; Paul A; Razi A; Kagan BJ (2025). Dynamic Network Plasticity and Sample Efficiency in Biological Neural Cultures: A Comparative Study with Deep Reinforcement Learning. Cyborg and Bionic Systems 6:0336. https://doi.org/10.34133/cbsystems.0336
Figure sources:
Khajehnejad et al. (2025), Fig. 4A–B. Changes in inferred connectivity during gameplay and rest. https://doi.org/10.34133/cbsystems.0336</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Dimensionality reduction represents complex activity with fewer coordinates while retaining selected relationships among observations. The study applied t-SNE and Isomap to neural recordings, using two different algorithms to examine the organization of population activity during rest and gameplay.
• Early and late gameplay observations separated in the reduced-dimensional representations, whereas corresponding rest observations overlapped more strongly. The result connects time in the interactive task to changes in the structure of recorded activity. It extends the analysis beyond a single population-average firing rate.
• An embedding is the resulting coordinate representation. Its distances reflect the relationships emphasized by the chosen algorithm. Agreement between the two representations supported the distinction between evolving task activity and comparatively stable rest activity, linking changes in population state to the period in which adaptive gameplay occurred.
References:
Khajehnejad M; Habibollahi F; Loeffler A; Paul A; Razi A; Kagan BJ (2025). Dynamic Network Plasticity and Sample Efficiency in Biological Neural Cultures: A Comparative Study with Deep Reinforcement Learning. Cyborg and Bionic Systems 6:0336. https://doi.org/10.34133/cbsystems.0336
Figure sources:
Khajehnejad et al. (2025), Fig. 3A–D. Reduced-dimensional representations of gameplay and rest. https://doi.org/10.34133/cbsystems.0336</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network graph represents recording sites as nodes and inferred activity relationships as edges. The study constructed graphs from high-density recordings and compared summary properties during rest and gameplay. These properties described how links were distributed across the recorded population.
• Density is the fraction of possible links retained in the graph. Clustering describes the tendency for connected nodes to participate in locally interconnected groups. Both measures relate population coordination to the structure of the inferred network rather than to the number of spikes alone.
• Gameplay and rest differed in these summary properties, including stronger inferred connectivity during gameplay. The graph measurements connect the local activity sampled by electrodes with a description of network-wide organization. They complement behavioral measures by characterizing the pattern of population interactions expressed under each environmental condition.
References:
Khajehnejad M; Habibollahi F; Loeffler A; Paul A; Razi A; Kagan BJ (2025). Dynamic Network Plasticity and Sample Efficiency in Biological Neural Cultures: A Comparative Study with Deep Reinforcement Learning. Cyborg and Bionic Systems 6:0336. https://doi.org/10.34133/cbsystems.0336
Figure sources:
Khajehnejad et al. (2025), Fig. 2A–I. Network summary measures during rest and gameplay. https://doi.org/10.34133/cbsystems.0336</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Khajehnejad and colleagues divided recordings into intervals and examined the evolution of inferred connectivity. Their reduced network retained representative recording channels selected from the larger array, allowing relationships among populations to be compared across time in a consistent arrangement.
• During gameplay, average connection weight and local clustering increased, while modularity decreased. Characteristic path length was comparatively stable. Modularity measures separation into relatively strongly connected groups. Path length describes the number of graph links required to connect nodes through the inferred network.
• These changes describe a more integrated pattern of recorded activity during interaction. Reduced modular separation accompanied stronger local relationships, without a corresponding reliable change in path length. The measures supply different aspects of population organization, connecting adaptive task engagement with changes in how the culture's activity was coordinated across recording sites.
References:
Khajehnejad M; Habibollahi F; Loeffler A; Paul A; Razi A; Kagan BJ (2025). Dynamic Network Plasticity and Sample Efficiency in Biological Neural Cultures: A Comparative Study with Deep Reinforcement Learning. Cyborg and Bionic Systems 6:0336. https://doi.org/10.34133/cbsystems.0336
Figure sources:
Khajehnejad et al. (2025), Fig. 4A–G. Network properties across successive recording intervals. https://doi.org/10.34133/cbsystems.0336</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Reinforcement learning adjusts an artificial controller through the consequences of its actions. Khajehnejad and colleagues compared the biological Pong system with Deep Q Network, Advantage Actor-Critic, and Proximal Policy Optimization algorithms. These algorithms use different procedures to improve action selection from experience.
• The comparison limited training to 70 episodes, approximating the experience available during a 20-min biological gameplay session. Sample efficiency describes how much experience is required to improve performance. The experiment therefore tested learning under a restricted experience budget rather than unrestricted eventual performance.
• With image-based input, the biological cultures achieved more successful returns and fewer immediate failures than the tested artificial controllers. This result connects performance to the training regime: a controller that learns well after extensive training may perform differently when its available experience is constrained to the experiment's short interaction period.
References:
Khajehnejad M; Habibollahi F; Loeffler A; Paul A; Razi A; Kagan BJ (2025). Dynamic Network Plasticity and Sample Efficiency in Biological Neural Cultures: A Comparative Study with Deep Reinforcement Learning. Cyborg and Bionic Systems 6:0336. https://doi.org/10.34133/cbsystems.0336
Figure sources:
Khajehnejad et al. (2025), Fig. 5B–D. Performance trajectories with image-based algorithm input. https://doi.org/10.34133/cbsystems.0336</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comparison examined three artificial input designs: a pixel image, numerical paddle-and-ball positions, and ball position alone. Input representation specifies which environmental variables enter a controller and how they are expressed. Changing it alters the information available for selecting an action.
• The numerical paddle-and-ball design supplied explicit coordinates, reducing the burden of extracting position from an image. The biological controller instead received electrical stimulation encoding ball position and approach. These interfaces provided related task information through different physical and computational forms.
• Testing several input designs addressed whether the artificial controllers' performance depended on high-dimensional image processing. The comparison connected algorithm performance to the variables entering the system, rather than assigning learning efficiency solely from one sensory representation. Environmental information and action rules remain part of the experimental definition of each controller.
References:
Khajehnejad M; Habibollahi F; Loeffler A; Paul A; Razi A; Kagan BJ (2025). Dynamic Network Plasticity and Sample Efficiency in Biological Neural Cultures: A Comparative Study with Deep Reinforcement Learning. Cyborg and Bionic Systems 6:0336. https://doi.org/10.34133/cbsystems.0336
Figure sources:
Khajehnejad et al. (2025), Fig. 6A. Biological input and numerical paddle-and-ball input. https://doi.org/10.34133/cbsystems.0336</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numerical-input comparisons retained the same limited training budget while altering the information delivered to the artificial controllers. This manipulation separated the cost of image interpretation from the controller's ability to learn a useful action policy through experience.
• Biological cultures increased average rally length and reduced immediate failures across the tested comparison designs. Artificial controller outcomes varied with algorithm and input representation. Providing more direct environmental coordinates changed particular measures without reproducing the full biological pattern of improvement within the available experience.
• A policy is a rule for selecting actions from the available state information. The observed results concern policies acquired under these specific encoding, reward, and training conditions. They connect sample efficiency to the complete task arrangement, including which state variables are provided and how experience updates the controller.
References:
Khajehnejad M; Habibollahi F; Loeffler A; Paul A; Razi A; Kagan BJ (2025). Dynamic Network Plasticity and Sample Efficiency in Biological Neural Cultures: A Comparative Study with Deep Reinforcement Learning. Cyborg and Bionic Systems 6:0336. https://doi.org/10.34133/cbsystems.0336
Figure sources:
Khajehnejad et al. (2025), Fig. 6B–D. Performance with numerical paddle-and-ball input. https://doi.org/10.34133/cbsystems.0336</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artificial controller can move the paddle frequently without sustaining successful returns. The study measured total paddle movement alongside changes in performance, separating the amount of output from the quality of sensorimotor coordination during the game.
• The artificial algorithms produced greater paddle movement than the biological cultures in the comparisons, yet greater movement did not translate into greater improvement. Biological systems improved the relationship between input and action while producing less total displacement under the tested conditions.
• The distinction concerns task-directed output, activity organized to meet an environmental requirement. Paddle displacement measures how much action occurs; rally length measures whether successive actions intercept the ball. Their different outcomes connect adaptive performance with the timing and direction of output rather than with the volume of commands issued by a controller.
References:
Khajehnejad M; Habibollahi F; Loeffler A; Paul A; Razi A; Kagan BJ (2025). Dynamic Network Plasticity and Sample Efficiency in Biological Neural Cultures: A Comparative Study with Deep Reinforcement Learning. Cyborg and Bionic Systems 6:0336. https://doi.org/10.34133/cbsystems.0336
Figure sources:
Khajehnejad et al. (2025), Fig. 8A–F. Paddle movement and change in task performance. https://doi.org/10.34133/cbsystems.0336</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reservoir transforms a time-varying input into a rich pattern of internal states that a simpler readout can use. Cai and colleagues mounted a human brain organoid on a high-density electrode array, using living neural activity as the physical reservoir in Brainoware.
• A brain organoid is a three-dimensional tissue aggregate developed from pluripotent cells through differentiation and self-organization. Immunostaining identified neurons, neural progenitor cells, and astrocytes in the preparation. Electrical stimulation entered the tissue through the array, and evoked activity supplied the output features.
• The electronic readout mapped these features onto a computational answer. Unlike the Pong paddle loop, this arrangement separated tissue responses from a trained classification or prediction function. The biological reservoir transformed input, while the readout supplied the task-specific mapping from measured neural activity to the desired output.
References:
Cai H; Ao Z; Tian C; Wu Z; Liu H; Tchieu J; Gu M; Mackie K; Guo F (2023). Brain organoid reservoir computing for artificial intelligence. Nature Electronics 6(12):1032–1039. https://doi.org/10.1038/s41928-023-01069-w
Figure sources:
Cai et al. (2023), Fig. 1B–C. Organoid-electrode arrangement and neuronal tissue markers. https://doi.org/10.1038/s41928-023-01069-w</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Nonlinearity means that the output is not simply proportional to the input. Cai and colleagues varied the voltage and duration of bipolar electrical pulses delivered to an organoid. With pulse durations of at least 200 µs, evoked firing varied sigmoidally with stimulus voltage.
• A sigmoid response rises slowly at low input, more strongly across an intermediate range, and then approaches a plateau. Shorter 100-µs pulses produced responses near the spontaneous baseline in the tested organoid. Input duration therefore affected whether voltage changes recruited substantial network activity.
• The same preparation expressed fading responses after stimulation. Pulse voltage and duration altered both response strength and persistence. These properties allow a physical reservoir to transform inputs into nonlinear, history-dependent activity, giving the readout more than a direct copy of the applied electrical stimulus.
References:
Cai H; Ao Z; Tian C; Wu Z; Liu H; Tchieu J; Gu M; Mackie K; Guo F (2023). Brain organoid reservoir computing for artificial intelligence. Nature Electronics 6(12):1032–1039. https://doi.org/10.1038/s41928-023-01069-w
Figure sources:
Cai et al. (2023), Fig. 2B–C. Voltage dependence and fading of evoked responses. https://doi.org/10.1038/s41928-023-01069-w</a:t>
            </a:r>
          </a:p>
          <a:p>
            <a:r>
              <a:t/>
            </a:r>
          </a:p>
          <a:p>
            <a:r>
              <a:t>Article-provided recording: Cai et al. (2023), Supplementary Video 2. Organoid calcium activity.</a:t>
            </a:r>
          </a:p>
          <a:p>
            <a:r>
              <a:t>• Confocal calcium imaging records activity within a day-60 organoid transferred to a glass-bottom six-well plate. Calcium fluorescence and extracellular spikes provide different temporal readouts of neuronal activity. The authors supplied this recording at ten-times speed with a 100 µm scale bar; these original features remain unchanged.</a:t>
            </a:r>
          </a:p>
          <a:p>
            <a:r>
              <a:t>Article DOI: https://doi.org/10.1038/s41928-023-01069-w</a:t>
            </a:r>
          </a:p>
          <a:p>
            <a:r>
              <a:t>Original media URL: https://media.springernature.com/original/springer-static/esm/art%3A10.1038%2Fs41928-023-01069-w/MediaObjects/41928_2023_1069_MOESM4_ESM.mp4</a:t>
            </a:r>
          </a:p>
          <a:p>
            <a:r>
              <a:t>Retrieved from: https://media.springernature.com/original/springer-static/esm/art%3A10.1038%2Fs41928-023-01069-w/MediaObjects/41928_2023_1069_MOESM4_ESM.mp4</a:t>
            </a:r>
          </a:p>
          <a:p>
            <a:r>
              <a:t>Credit: Hongwei Cai, Zheng Ao, Chunhui Tian, Zhuhao Wu, Hongcheng Liu, Jason Tchieu, Mingxia Gu, Ken Mackie, and Feng Guo; original Nature Electronics Supplementary Video 2</a:t>
            </a:r>
          </a:p>
          <a:p>
            <a:r>
              <a:t>License: Springer Nature or its licensor holds exclusive publishing rights; no separate open video license supplied.</a:t>
            </a:r>
          </a:p>
          <a:p>
            <a:r>
              <a:t>Compatibility: Original MP4, byte-for-byte unchanged.</a:t>
            </a:r>
          </a:p>
          <a:p>
            <a:r>
              <a:t>Playback: click the video or its article-figure poster in PowerPoint Slide Show. The original credited figure remains as a static fallback. The complete media decode and embedded relationships were verified; interactive PowerPoint playback was unavailable in this environment.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Fading memory is a temporary dependence of a system's present state on earlier inputs. Brainoware responses persisted after a pulse and decayed over time. The investigators compared activity before stimulation and at 100 and 300 ms after its end.
• Pulse trains with 50-ms intervals produced accumulating responses followed by relaxation. A subsequent pulse therefore entered a network whose activity still depended on earlier stimulation. The input sequence, rather than only the current pulse, influenced the resulting output.
• Complementary spatial stimulation patterns also produced distinct activity distributions across recording sites. Temporal persistence and spatial differentiation jointly supplied the reservoir with information about input history and input location. The readout could use this distributed activity to classify or predict temporally structured data encoded through the electrode interface.
References:
Cai H; Ao Z; Tian C; Wu Z; Liu H; Tchieu J; Gu M; Mackie K; Guo F (2023). Brain organoid reservoir computing for artificial intelligence. Nature Electronics 6(12):1032–1039. https://doi.org/10.1038/s41928-023-01069-w
Figure sources:
Cai et al. (2023), Fig. 2D–E. Accumulating responses and spatially distinct input patterns. https://doi.org/10.1038/s41928-023-01069-w</a:t>
            </a:r>
          </a:p>
          <a:p>
            <a:r>
              <a:t/>
            </a:r>
          </a:p>
          <a:p>
            <a:r>
              <a:t>Article-provided recording: Cai et al. (2023), Supplementary Video 1. Organoid electrical activity.</a:t>
            </a:r>
          </a:p>
          <a:p>
            <a:r>
              <a:t>• The original spike-activity heat map records a day-60 cortical organoid on a high-density multielectrode array. Spatially distributed activity supplies the internal states sampled by the Brainoware readout. The authors supplied this recording at four-times speed and with a 100 µm scale bar; both are retained, without further speed changes.</a:t>
            </a:r>
          </a:p>
          <a:p>
            <a:r>
              <a:t>Article DOI: https://doi.org/10.1038/s41928-023-01069-w</a:t>
            </a:r>
          </a:p>
          <a:p>
            <a:r>
              <a:t>Original media URL: https://media.springernature.com/original/springer-static/esm/art%3A10.1038%2Fs41928-023-01069-w/MediaObjects/41928_2023_1069_MOESM3_ESM.mp4</a:t>
            </a:r>
          </a:p>
          <a:p>
            <a:r>
              <a:t>Retrieved from: https://media.springernature.com/original/springer-static/esm/art%3A10.1038%2Fs41928-023-01069-w/MediaObjects/41928_2023_1069_MOESM3_ESM.mp4</a:t>
            </a:r>
          </a:p>
          <a:p>
            <a:r>
              <a:t>Credit: Hongwei Cai, Zheng Ao, Chunhui Tian, Zhuhao Wu, Hongcheng Liu, Jason Tchieu, Mingxia Gu, Ken Mackie, and Feng Guo; original Nature Electronics Supplementary Video 1</a:t>
            </a:r>
          </a:p>
          <a:p>
            <a:r>
              <a:t>License: Springer Nature or its licensor holds exclusive publishing rights; no separate open video license supplied.</a:t>
            </a:r>
          </a:p>
          <a:p>
            <a:r>
              <a:t>Compatibility: Original MP4, byte-for-byte unchanged; original audio retained.</a:t>
            </a:r>
          </a:p>
          <a:p>
            <a:r>
              <a:t>Playback: click the video or its article-figure poster in PowerPoint Slide Show. The original credited figure remains as a static fallback. The complete media decode and embedded relationships were verified; interactive PowerPoint playback was unavailable in this environment.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Brainoware classified speakers from isolated Japanese vowel recordings. The task used /a/ and /e/ utterances from eight male speakers, converted into spatiotemporal electrical stimulation. Classification assigns an input to a category, here the identity of the speaker who produced the recording.
• Evoked organoid activity entered a logistic-regression readout, an algorithm trained to map response features onto speaker labels. Training also repeatedly exposed the organoid to the encoded recordings. The experiment therefore included supervised readout fitting alongside repeated stimulation of an adaptive biological reservoir.
• Classification accuracy increased from about 51% before training to about 78% after four epochs over two days. An epoch is one presentation of the training dataset. The behavioral analog is recognition of a category from structured input, implemented jointly by the tissue's response transformation and the electronically trained output mapping.
References:
Cai H; Ao Z; Tian C; Wu Z; Liu H; Tchieu J; Gu M; Mackie K; Guo F (2023). Brain organoid reservoir computing for artificial intelligence. Nature Electronics 6(12):1032–1039. https://doi.org/10.1038/s41928-023-01069-w
Figure sources:
Cai et al. (2023), Fig. 3C. Speaker classification before and after training. https://doi.org/10.1038/s41928-023-01069-w
Cai et al. (2023), Fig. 3D. Classification accuracy across training epochs. https://doi.org/10.1038/s41928-023-01069-w</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Repeated presentation of the speech dataset changed inferred functional connectivity in the organoid. Cai and colleagues compared spontaneous activity before training with activity recorded during the training period, identifying relationships that strengthened, weakened, appeared, or were pruned.
• The analysis linked the improvement in classification to a changing biological reservoir. A fixed physical reservoir would leave its internal transformation unchanged while only the readout learned. Brainoware instead combined readout fitting with tissue whose recorded activity relationships evolved during repeated input.
• Unsupervised reservoir adaptation refers to changes in the tissue without direct label-based adjustment of its individual connections. Speaker labels trained the electronic classifier, while repeated electrical input changed the organoid's response organization. Separating these processes explains how supervised output training and biological adaptation contributed different components of the complete computation.
References:
Cai H; Ao Z; Tian C; Wu Z; Liu H; Tchieu J; Gu M; Mackie K; Guo F (2023). Brain organoid reservoir computing for artificial intelligence. Nature Electronics 6(12):1032–1039. https://doi.org/10.1038/s41928-023-01069-w
Figure sources:
Cai et al. (2023), Fig. 3E. Functional-connectivity changes during repeated speech inputs. https://doi.org/10.1038/s41928-023-01069-w</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time-series prediction estimates a later value from earlier values. Cai and colleagues encoded a Hénon-map sequence, a mathematical system producing chaotic dynamics, into electrical inputs and trained a linear readout to predict the next value from organoid responses.
• Prediction improved over four daily training epochs. Organoids exposed to K252a, which the study used to interfere with activity-dependent plasticity, showed much less improvement under the same training procedure. A blank condition without the organoid supplied another comparison for the contribution of the living reservoir.
• The pharmacological result links adaptation to biological activity-dependent processes. The tissue transformed the encoded sequence, and the readout converted that transformation into a prediction. Better prediction therefore arose from the interaction between the adaptive reservoir and output mapping, a computational arrangement distinct from action-contingent feedback in Pong.
References:
Cai H; Ao Z; Tian C; Wu Z; Liu H; Tchieu J; Gu M; Mackie K; Guo F (2023). Brain organoid reservoir computing for artificial intelligence. Nature Electronics 6(12):1032–1039. https://doi.org/10.1038/s41928-023-01069-w
Figure sources:
Cai et al. (2023), Fig. 4D–E. Prediction improvement and plasticity-blocker comparison. https://doi.org/10.1038/s41928-023-01069-w</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Sentience, in welfare discussions, concerns the capacity for subjective experience, including experiences with positive or negative value. Kagan and colleagues used a narrower operational definition centered on responsiveness to sensory impressions. Milford, Shaw, and Starke examined the ethical consequences of this difference in terminology.
• A recorded change in gameplay establishes a change in task performance. A claim about experienced pleasure or suffering requires an account of how that performance relates to subjective states. The ethical analysis distinguishes successful adaptation from phenomenal consciousness, the presence of something it is like to undergo an experience.
• This distinction changes welfare conclusions. Performance measurements characterize the culture-interface system's behavior, while a morally relevant experience would supply a different reason for protection. Clear definitions connect the measurement being made to the claim being considered, preventing an operational use of sentience from silently becoming a claim of experienced suffering.
References:
Milford SR; Shaw D; Starke G (2023). Playing Brains: The Ethical Challenges Posed by Silicon Sentience and Hybrid Intelligence in DishBrain. Science and Engineering Ethics 29(6):38. https://doi.org/10.1007/s11948-023-00457-x
Kagan BJ; Kitchen AC; Tran NT; Habibollahi F; Khajehnejad M; Parker BJ; Bhat A; Rollo B; Razi A; Friston KJ (2022). In vitro neurons learn and exhibit sentience when embodied in a simulated game-world. Neuron 110(23):3952–3969.e8. https://doi.org/10.1016/j.neuron.2022.09.001
Figure sources:
</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Valence is the positive or negative quality of an experience. DishBrain's predictable and unpredictable feedback conditions were defined by electrical stimulation schedules and their consequences for gameplay. The experiment measured neural activity and task performance, rather than an experienced emotional value assigned to those schedules.
• Milford and colleagues discuss a hypothesis linking prediction error with negative phenomenal valence. A prediction error is a mismatch between an expected input and the input received. Their ethical argument depends on additional assumptions connecting computational mismatch to experience in a sufficiently complex system.
• The welfare-relevant distinction is between a consequence that changes behavior and a consequence that is experienced negatively. The authors analyze possible conditions for artificial suffering, including subjective experience, a self-model, and negatively valued states. These are elements of their ethical framework, rather than physiological outcomes measured by the Pong experiment.
References:
Milford SR; Shaw D; Starke G (2023). Playing Brains: The Ethical Challenges Posed by Silicon Sentience and Hybrid Intelligence in DishBrain. Science and Engineering Ethics 29(6):38. https://doi.org/10.1007/s11948-023-00457-x
Kagan BJ; Kitchen AC; Tran NT; Habibollahi F; Khajehnejad M; Parker BJ; Bhat A; Rollo B; Razi A; Friston KJ (2022). In vitro neurons learn and exhibit sentience when embodied in a simulated game-world. Neuron 110(23):3952–3969.e8. https://doi.org/10.1016/j.neuron.2022.09.001
Figure sources: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precautionary principle supports protective action when an uncertain risk could have serious consequences. Milford and colleagues apply it to the possibility that increasingly complex synthetic neural systems could develop morally relevant experiences. Their proposal is an ethical position grounded in a particular account of consciousness.
• They recommend limits on the number and types of neurons used, the experimental applications, and research duration while criteria for experience and suffering are developed. They also call for combined philosophical and empirical work on definitions and measurements of consciousness and sentience.
• These recommendations concern how research should be governed under uncertainty. They differ from an experimentally established welfare threshold. The connection to neurobiology lies in which properties of a neural preparation are considered relevant to experience, how those properties are assessed, and how experimental design changes in response to the resulting ethical judgment.
References:
Milford SR; Shaw D; Starke G (2023). Playing Brains: The Ethical Challenges Posed by Silicon Sentience and Hybrid Intelligence in DishBrain. Science and Engineering Ethics 29(6):38. https://doi.org/10.1007/s11948-023-00457-x
Figure sources: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Sellar and Rouleau's 2026 perspective describes virtual embodiment as one route for synthetic biological intelligence. Embodiment here means a causal connection between a neural construct and an environment through input, action, and feedback. Their discussion mentions Doom as a later extension of game interaction.
• The cited experimental Pong work supplies documented encoding, decoding, feedback schedules, and performance comparisons. The perspective's Doom mention supplies no corresponding experimental protocol or measured learning trajectory. The available sources therefore support different levels of detail for the two games.
• A game connection and adaptive task performance are separate achievements. The former establishes that neural output can affect an environment; the latter requires measured improvement and appropriate controls. The distinction determines whether a claim concerns a functioning interface, a changing action policy, or a demonstrated learning effect under specified conditions.
References:
Sellar EP; Rouleau N (2026). A cybernetic framework for synthetic biological intelligence in the era of neural tissue engineering. npj Unconventional Computing 3:31. https://doi.org/10.1038/s44335-026-00077-1
Kagan BJ; Kitchen AC; Tran NT; Habibollahi F; Khajehnejad M; Parker BJ; Bhat A; Rollo B; Razi A; Friston KJ (2022). In vitro neurons learn and exhibit sentience when embodied in a simulated game-world. Neuron 110(23):3952–3969.e8. https://doi.org/10.1016/j.neuron.2022.09.001
Figure sources:
Sellar &amp; Rouleau (2026), Fig. 1C. Published comparison of virtual and physical embodiments. https://doi.org/10.1038/s44335-026-00077-1</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Cybernetics studies control and communication in systems that link sensing, action, and feedback. Sellar and Rouleau describe controllers whose outputs alter the environment and thereby change subsequent input. The functional loop can include both living neural tissue and electronic components.
• Pong supplied a small action space, upward or downward paddle movement, and electrically encoded ball information. Brainoware supplied classification and prediction readouts. These systems assigned different meanings to neural output because their interfaces implemented different computational tasks and different relationships between input and consequence.
• Adaptive behavior is consequently a property of the coupled arrangement. Encoding determines accessible information, decoding determines available output, and feedback determines the consequences returned to the network. Evaluating performance or welfare requires specifying those relationships alongside the neural preparation, because changing the interface changes what the same tissue can sense and control.
References:
Sellar EP; Rouleau N (2026). A cybernetic framework for synthetic biological intelligence in the era of neural tissue engineering. npj Unconventional Computing 3:31. https://doi.org/10.1038/s44335-026-00077-1
Kagan BJ; Kitchen AC; Tran NT; Habibollahi F; Khajehnejad M; Parker BJ; Bhat A; Rollo B; Razi A; Friston KJ (2022). In vitro neurons learn and exhibit sentience when embodied in a simulated game-world. Neuron 110(23):3952–3969.e8. https://doi.org/10.1016/j.neuron.2022.09.001
Cai H; Ao Z; Tian C; Wu Z; Liu H; Tchieu J; Gu M; Mackie K; Guo F (2023). Brain organoid reservoir computing for artificial intelligence. Nature Electronics 6(12):1032–1039. https://doi.org/10.1038/s41928-023-01069-w
Figure sources:
Sellar &amp; Rouleau (2026), Fig. 1A. Published sensor-controller-actuator feedback loop. https://doi.org/10.1038/s44335-026-00077-1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Contingent feedback. Stopping stimulation after a selected response can increase that response, and Pong learning depends on how action changes subsequent input.
• Sensory and action codes. Electrode location and pulse rate encode ball information; opposing output activity controls paddle movement through an electronic decoder.
• Network state. Adaptive output involves population coordination, and high-dose carbamazepine improves gameplay in the tested hyperactive NGN2 preparation.
• Reservoir computation. Brainoware combines nonlinear, fading neural responses with trained electronic readouts for speech classification and time-series prediction.
• Comparative performance. Sample efficiency depends on the experience budget, input representation, action mapping, and algorithm used in the comparison.
• Sentience and welfare. Adaptive performance and subjective experience require different evidence; welfare proposals state their assumptions about experience and suffering.
References:
Shahaf G; Marom S (2001). Learning in networks of cortical neurons. Journal of Neuroscience 21(22):8782–8788. https://doi.org/10.1523/JNEUROSCI.21-22-08782.2001
Kagan BJ; Kitchen AC; Tran NT; Habibollahi F; Khajehnejad M; Parker BJ; Bhat A; Rollo B; Razi A; Friston KJ (2022). In vitro neurons learn and exhibit sentience when embodied in a simulated game-world. Neuron 110(23):3952–3969.e8. https://doi.org/10.1016/j.neuron.2022.09.001
Watmuff B; Habibollahi F; Desouza C; Khajehnejad M; Loeffler A; Baranes K; Poulin N; Kotter M; Kagan BJ (2025). Drug treatment alters performance in a neural microphysiological system of information processing. Communications Biology 8:916. https://doi.org/10.1038/s42003-025-08194-6
Khajehnejad M; Habibollahi F; Loeffler A; Paul A; Razi A; Kagan BJ (2025). Dynamic Network Plasticity and Sample Efficiency in Biological Neural Cultures: A Comparative Study with Deep Reinforcement Learning. Cyborg and Bionic Systems 6:0336. https://doi.org/10.34133/cbsystems.0336
Cai H; Ao Z; Tian C; Wu Z; Liu H; Tchieu J; Gu M; Mackie K; Guo F (2023). Brain organoid reservoir computing for artificial intelligence. Nature Electronics 6(12):1032–1039. https://doi.org/10.1038/s41928-023-01069-w
Milford SR; Shaw D; Starke G (2023). Playing Brains: The Ethical Challenges Posed by Silicon Sentience and Hybrid Intelligence in DishBrain. Science and Engineering Ethics 29(6):38. https://doi.org/10.1007/s11948-023-00457-x
Sellar EP; Rouleau N (2026). A cybernetic framework for synthetic biological intelligence in the era of neural tissue engineering. npj Unconventional Computing 3:31. https://doi.org/10.1038/s44335-026-00077-1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 Id="rId4" Type="http://schemas.openxmlformats.org/officeDocument/2006/relationships/image" Target="../media/image1.png"/><Relationship Id="rId5" Type="http://schemas.microsoft.com/office/2007/relationships/media" Target="../media/media1.mp4"/><Relationship Id="rId6" Type="http://schemas.openxmlformats.org/officeDocument/2006/relationships/video" Target="../media/media1.mp4"/></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2.xml"/><Relationship Id="rId4" Type="http://schemas.openxmlformats.org/officeDocument/2006/relationships/image" Target="../media/image2.png"/><Relationship Id="rId5" Type="http://schemas.microsoft.com/office/2007/relationships/media" Target="../media/media2.mp4"/><Relationship Id="rId6" Type="http://schemas.openxmlformats.org/officeDocument/2006/relationships/video" Target="../media/media2.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image" Target="../media/Presenton_Native_Image_2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image" Target="../media/Presenton_Native_Image_2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7.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8.png"/><Relationship Id="rId3" Type="http://schemas.openxmlformats.org/officeDocument/2006/relationships/notesSlide" Target="../notesSlides/notesSlide36.xml"/><Relationship Id="rId4" Type="http://schemas.openxmlformats.org/officeDocument/2006/relationships/image" Target="../media/image3.png"/><Relationship Id="rId5" Type="http://schemas.microsoft.com/office/2007/relationships/media" Target="../media/media3.mp4"/><Relationship Id="rId6" Type="http://schemas.openxmlformats.org/officeDocument/2006/relationships/video" Target="../media/media3.mp4"/></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notesSlide" Target="../notesSlides/notesSlide37.xml"/><Relationship Id="rId4" Type="http://schemas.openxmlformats.org/officeDocument/2006/relationships/image" Target="../media/image4.png"/><Relationship Id="rId5" Type="http://schemas.microsoft.com/office/2007/relationships/media" Target="../media/media4.mp4"/><Relationship Id="rId6" Type="http://schemas.openxmlformats.org/officeDocument/2006/relationships/video" Target="../media/media4.mp4"/></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0.png"/><Relationship Id="rId3" Type="http://schemas.openxmlformats.org/officeDocument/2006/relationships/image" Target="../media/Presenton_Native_Image_41.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2"/>
          <p:cNvSpPr/>
          <p:nvPr/>
        </p:nvSpPr>
        <p:spPr>
          <a:xfrm>
            <a:off x="0" y="0"/>
            <a:ext cx="6048375" cy="6858000"/>
          </a:xfrm>
          <a:prstGeom prst="rect">
            <a:avLst/>
          </a:prstGeom>
          <a:solidFill>
            <a:srgbClr val="58677E"/>
          </a:solidFill>
        </p:spPr>
        <p:txBody>
          <a:bodyPr/>
          <a:lstStyle/>
          <a:p/>
        </p:txBody>
      </p:sp>
      <p:sp>
        <p:nvSpPr>
          <p:cNvPr id="3" name="Shape 3"/>
          <p:cNvSpPr/>
          <p:nvPr/>
        </p:nvSpPr>
        <p:spPr>
          <a:xfrm>
            <a:off x="523875" y="571500"/>
            <a:ext cx="5067300" cy="209550"/>
          </a:xfrm>
          <a:prstGeom prst="rect">
            <a:avLst/>
          </a:prstGeom>
          <a:noFill/>
        </p:spPr>
        <p:txBody>
          <a:bodyPr anchor="t" wrap="square" tIns="0" bIns="0" lIns="0" rIns="0">
            <a:normAutofit/>
          </a:bodyPr>
          <a:lstStyle/>
          <a:p>
            <a:pPr algn="l">
              <a:lnSpc>
                <a:spcPts val="1650"/>
              </a:lnSpc>
              <a:buNone/>
            </a:pPr>
            <a:r>
              <a:rPr sz="1200" b="0" i="0">
                <a:solidFill>
                  <a:srgbClr val="FFFFFF"/>
                </a:solidFill>
                <a:latin typeface="Arial"/>
                <a:ea typeface="Arial"/>
              </a:rPr>
              <a:t>NEUR 411 · NEUROETHOLOGY · FALL 2026</a:t>
            </a:r>
            <a:endParaRPr lang="en-US"/>
          </a:p>
        </p:txBody>
      </p:sp>
      <p:sp>
        <p:nvSpPr>
          <p:cNvPr id="4" name="Shape 4"/>
          <p:cNvSpPr/>
          <p:nvPr/>
        </p:nvSpPr>
        <p:spPr>
          <a:xfrm>
            <a:off x="523875" y="1285875"/>
            <a:ext cx="5067300" cy="295275"/>
          </a:xfrm>
          <a:prstGeom prst="rect">
            <a:avLst/>
          </a:prstGeom>
          <a:noFill/>
        </p:spPr>
        <p:txBody>
          <a:bodyPr anchor="t" wrap="square" tIns="0" bIns="0" lIns="0" rIns="0">
            <a:normAutofit/>
          </a:bodyPr>
          <a:lstStyle/>
          <a:p>
            <a:pPr algn="l">
              <a:lnSpc>
                <a:spcPts val="2325"/>
              </a:lnSpc>
              <a:buNone/>
            </a:pPr>
            <a:r>
              <a:rPr sz="1875" b="0" i="0">
                <a:solidFill>
                  <a:srgbClr val="FFFFFF"/>
                </a:solidFill>
                <a:latin typeface="Arial"/>
                <a:ea typeface="Arial"/>
              </a:rPr>
              <a:t>Lecture 72</a:t>
            </a:r>
            <a:endParaRPr lang="en-US"/>
          </a:p>
        </p:txBody>
      </p:sp>
      <p:sp>
        <p:nvSpPr>
          <p:cNvPr id="5" name="Shape 5"/>
          <p:cNvSpPr/>
          <p:nvPr/>
        </p:nvSpPr>
        <p:spPr>
          <a:xfrm>
            <a:off x="523875" y="1762125"/>
            <a:ext cx="5019675" cy="1295400"/>
          </a:xfrm>
          <a:prstGeom prst="rect">
            <a:avLst/>
          </a:prstGeom>
          <a:noFill/>
        </p:spPr>
        <p:txBody>
          <a:bodyPr anchor="t" wrap="square" tIns="0" bIns="0" lIns="0" rIns="0">
            <a:normAutofit/>
          </a:bodyPr>
          <a:lstStyle/>
          <a:p>
            <a:pPr algn="l">
              <a:lnSpc>
                <a:spcPts val="2550"/>
              </a:lnSpc>
              <a:buNone/>
            </a:pPr>
            <a:r>
              <a:rPr sz="2025" b="1" i="0">
                <a:solidFill>
                  <a:srgbClr val="FFFFFF"/>
                </a:solidFill>
                <a:latin typeface="Arial"/>
                <a:ea typeface="Arial"/>
              </a:rPr>
              <a:t>Biocomputing II: From Pong to Doom — sensory encoding, feedback, adaptive behavior, and neuroethical questions of sentience and welfare</a:t>
            </a:r>
            <a:endParaRPr lang="en-US"/>
          </a:p>
        </p:txBody>
      </p:sp>
      <p:sp>
        <p:nvSpPr>
          <p:cNvPr id="6" name="Shape 6"/>
          <p:cNvSpPr/>
          <p:nvPr/>
        </p:nvSpPr>
        <p:spPr>
          <a:xfrm>
            <a:off x="523875" y="5476875"/>
            <a:ext cx="5067300" cy="257175"/>
          </a:xfrm>
          <a:prstGeom prst="rect">
            <a:avLst/>
          </a:prstGeom>
          <a:noFill/>
        </p:spPr>
        <p:txBody>
          <a:bodyPr anchor="t" wrap="square" tIns="0" bIns="0" lIns="0" rIns="0">
            <a:normAutofit/>
          </a:bodyPr>
          <a:lstStyle/>
          <a:p>
            <a:pPr algn="l">
              <a:lnSpc>
                <a:spcPts val="2025"/>
              </a:lnSpc>
              <a:buNone/>
            </a:pPr>
            <a:r>
              <a:rPr sz="1500" b="0" i="0">
                <a:solidFill>
                  <a:srgbClr val="FFFFFF"/>
                </a:solidFill>
                <a:latin typeface="Arial"/>
                <a:ea typeface="Arial"/>
              </a:rPr>
              <a:t>Date TBD</a:t>
            </a:r>
            <a:endParaRPr lang="en-US"/>
          </a:p>
        </p:txBody>
      </p:sp>
      <p:sp>
        <p:nvSpPr>
          <p:cNvPr id="7" name="Shape 7"/>
          <p:cNvSpPr/>
          <p:nvPr/>
        </p:nvSpPr>
        <p:spPr>
          <a:xfrm>
            <a:off x="523875" y="6048375"/>
            <a:ext cx="5067300" cy="209550"/>
          </a:xfrm>
          <a:prstGeom prst="rect">
            <a:avLst/>
          </a:prstGeom>
          <a:noFill/>
        </p:spPr>
        <p:txBody>
          <a:bodyPr anchor="t" wrap="square" tIns="0" bIns="0" lIns="0" rIns="0">
            <a:normAutofit/>
          </a:bodyPr>
          <a:lstStyle/>
          <a:p>
            <a:pPr algn="l">
              <a:lnSpc>
                <a:spcPts val="1650"/>
              </a:lnSpc>
              <a:buNone/>
            </a:pPr>
            <a:r>
              <a:rPr sz="1200" b="0" i="0">
                <a:solidFill>
                  <a:srgbClr val="FFFFFF"/>
                </a:solidFill>
                <a:latin typeface="Arial"/>
                <a:ea typeface="Arial"/>
              </a:rPr>
              <a:t>Jordan Lopez, Ph.D.</a:t>
            </a:r>
            <a:endParaRPr lang="en-US"/>
          </a:p>
        </p:txBody>
      </p:sp>
      <p:sp>
        <p:nvSpPr>
          <p:cNvPr id="8" name="Shape 8"/>
          <p:cNvSpPr/>
          <p:nvPr/>
        </p:nvSpPr>
        <p:spPr>
          <a:xfrm>
            <a:off x="523875" y="6305550"/>
            <a:ext cx="5067300" cy="180975"/>
          </a:xfrm>
          <a:prstGeom prst="rect">
            <a:avLst/>
          </a:prstGeom>
          <a:noFill/>
        </p:spPr>
        <p:txBody>
          <a:bodyPr anchor="t" wrap="square" tIns="0" bIns="0" lIns="0" rIns="0">
            <a:normAutofit/>
          </a:bodyPr>
          <a:lstStyle/>
          <a:p>
            <a:pPr algn="l">
              <a:lnSpc>
                <a:spcPts val="1425"/>
              </a:lnSpc>
              <a:buNone/>
            </a:pPr>
            <a:r>
              <a:rPr sz="1050" b="0" i="0">
                <a:solidFill>
                  <a:srgbClr val="FFFFFF"/>
                </a:solidFill>
                <a:latin typeface="Arial"/>
                <a:ea typeface="Arial"/>
              </a:rPr>
              <a:t xml:space="preserve">Professor of Neurobiology </a:t>
            </a:r>
            <a:r>
              <a:rPr sz="1050" b="0" i="0">
                <a:solidFill>
                  <a:srgbClr val="FFFFFF"/>
                </a:solidFill>
                <a:latin typeface="Arial"/>
                <a:ea typeface="Arial"/>
              </a:rPr>
              <a:t>&amp;</a:t>
            </a:r>
            <a:r>
              <a:rPr sz="1050" b="0" i="0">
                <a:solidFill>
                  <a:srgbClr val="FFFFFF"/>
                </a:solidFill>
                <a:latin typeface="Arial"/>
                <a:ea typeface="Arial"/>
              </a:rPr>
              <a:t xml:space="preserve"> Biomedical Engineering</a:t>
            </a:r>
            <a:endParaRPr lang="en-US"/>
          </a:p>
        </p:txBody>
      </p:sp>
      <p:pic>
        <p:nvPicPr>
          <p:cNvPr id="100" name="Presenton Native Image 1" descr=""/>
          <p:cNvPicPr/>
          <p:nvPr/>
        </p:nvPicPr>
        <p:blipFill>
          <a:blip r:embed="rId2" cstate="none"/>
          <a:stretch>
            <a:fillRect/>
          </a:stretch>
        </p:blipFill>
        <p:spPr>
          <a:xfrm>
            <a:off x="6524863" y="952500"/>
            <a:ext cx="5047775" cy="2562225"/>
          </a:xfrm>
          <a:prstGeom prst="rect">
            <a:avLst/>
          </a:prstGeom>
        </p:spPr>
      </p:pic>
      <p:sp>
        <p:nvSpPr>
          <p:cNvPr id="9" name="Shape 9"/>
          <p:cNvSpPr/>
          <p:nvPr/>
        </p:nvSpPr>
        <p:spPr>
          <a:xfrm>
            <a:off x="6524625" y="3600450"/>
            <a:ext cx="50673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2B. Human cortical neurons used in DishBrain.</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 name="Shape 10"/>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Contingent stimulation trains a neural response</a:t>
            </a:r>
            <a:endParaRPr lang="en-US"/>
          </a:p>
        </p:txBody>
      </p:sp>
      <p:sp>
        <p:nvSpPr>
          <p:cNvPr id="11" name="Shape 11"/>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Operant conditioning</a:t>
            </a:r>
            <a:r>
              <a:rPr sz="1425" b="0" i="0">
                <a:solidFill>
                  <a:srgbClr val="000000"/>
                </a:solidFill>
                <a:latin typeface="Arial"/>
                <a:ea typeface="Arial"/>
              </a:rPr>
              <a:t xml:space="preserve"> changes the occurrence of a response by making its consequences depend on whether that response occurs. Shahaf and Marom applied this principle to dissociated rat cortical neurons, replacing an animal's movement with an electrically recorded response in a culture.</a:t>
            </a:r>
            <a:endParaRPr lang="en-US"/>
          </a:p>
        </p:txBody>
      </p:sp>
      <p:sp>
        <p:nvSpPr>
          <p:cNvPr id="12" name="Shape 12"/>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 computer stimulated the network and monitored a selected recording electrode. When activity satisfied a predefined response criterion, stimulation stopped for 5 min. The network therefore controlled the timing of an external event through its own electrical activity.</a:t>
            </a:r>
            <a:endParaRPr lang="en-US"/>
          </a:p>
        </p:txBody>
      </p:sp>
      <p:sp>
        <p:nvSpPr>
          <p:cNvPr id="13" name="Shape 13"/>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Across repeated cycles, trained cultures reached the criterion more quickly. A control protocol delivered stimulation for a fixed duration regardless of activity. The difference between these conditions connects learning to the relationship between a response and its consequence, rather than to repeated stimulation alone.</a:t>
            </a:r>
            <a:endParaRPr lang="en-US"/>
          </a:p>
        </p:txBody>
      </p:sp>
      <p:pic>
        <p:nvPicPr>
          <p:cNvPr id="101" name="Presenton Native Image 2" descr=""/>
          <p:cNvPicPr/>
          <p:nvPr/>
        </p:nvPicPr>
        <p:blipFill>
          <a:blip r:embed="rId2" cstate="none"/>
          <a:stretch>
            <a:fillRect/>
          </a:stretch>
        </p:blipFill>
        <p:spPr>
          <a:xfrm>
            <a:off x="7886700" y="1202748"/>
            <a:ext cx="2219325" cy="4423928"/>
          </a:xfrm>
          <a:prstGeom prst="rect">
            <a:avLst/>
          </a:prstGeom>
        </p:spPr>
      </p:pic>
      <p:sp>
        <p:nvSpPr>
          <p:cNvPr id="14" name="Shape 14"/>
          <p:cNvSpPr/>
          <p:nvPr/>
        </p:nvSpPr>
        <p:spPr>
          <a:xfrm>
            <a:off x="6572250" y="57150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Shahaf </a:t>
            </a:r>
            <a:r>
              <a:rPr sz="975" b="0" i="0">
                <a:solidFill>
                  <a:srgbClr val="000000"/>
                </a:solidFill>
                <a:latin typeface="Arial"/>
                <a:ea typeface="Arial"/>
              </a:rPr>
              <a:t>&amp;</a:t>
            </a:r>
            <a:r>
              <a:rPr sz="975" b="0" i="0">
                <a:solidFill>
                  <a:srgbClr val="000000"/>
                </a:solidFill>
                <a:latin typeface="Arial"/>
                <a:ea typeface="Arial"/>
              </a:rPr>
              <a:t xml:space="preserve"> Marom (2001), Fig. 6. Response acquisition with and without contingent stimulus removal.</a:t>
            </a:r>
            <a:endParaRPr lang="en-US"/>
          </a:p>
        </p:txBody>
      </p:sp>
      <p:sp>
        <p:nvSpPr>
          <p:cNvPr id="15" name="Shape 15"/>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 xml:space="preserve">Shahaf </a:t>
            </a:r>
            <a:r>
              <a:rPr sz="900" b="0" i="0">
                <a:solidFill>
                  <a:srgbClr val="000000"/>
                </a:solidFill>
                <a:latin typeface="Arial"/>
                <a:ea typeface="Arial"/>
              </a:rPr>
              <a:t>&amp;</a:t>
            </a:r>
            <a:r>
              <a:rPr sz="900" b="0" i="0">
                <a:solidFill>
                  <a:srgbClr val="000000"/>
                </a:solidFill>
                <a:latin typeface="Arial"/>
                <a:ea typeface="Arial"/>
              </a:rPr>
              <a:t xml:space="preserve"> Marom (2001)</a:t>
            </a:r>
            <a:endParaRPr lang="en-US"/>
          </a:p>
        </p:txBody>
      </p:sp>
      <p:sp>
        <p:nvSpPr>
          <p:cNvPr id="16" name="Shape 16"/>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7" name="Shape 17"/>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Interconnected neurons support conditioning</a:t>
            </a:r>
            <a:endParaRPr lang="en-US"/>
          </a:p>
        </p:txBody>
      </p:sp>
      <p:sp>
        <p:nvSpPr>
          <p:cNvPr id="18" name="Shape 18"/>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Shahaf and Marom dissociated cortex from newborn rats and plated the cells on a </a:t>
            </a:r>
            <a:r>
              <a:rPr sz="1425" b="1" i="0">
                <a:solidFill>
                  <a:srgbClr val="3F4A5A"/>
                </a:solidFill>
                <a:latin typeface="Arial"/>
                <a:ea typeface="Arial"/>
              </a:rPr>
              <a:t>multielectrode array</a:t>
            </a:r>
            <a:r>
              <a:rPr sz="1425" b="0" i="0">
                <a:solidFill>
                  <a:srgbClr val="000000"/>
                </a:solidFill>
                <a:latin typeface="Arial"/>
                <a:ea typeface="Arial"/>
              </a:rPr>
              <a:t>, a substrate containing multiple conducting sites for extracellular recording and stimulation. Neurites, the processes extending from neuronal cell bodies, grew across the electrode-bearing surface.</a:t>
            </a:r>
            <a:endParaRPr lang="en-US"/>
          </a:p>
        </p:txBody>
      </p:sp>
      <p:sp>
        <p:nvSpPr>
          <p:cNvPr id="19" name="Shape 19"/>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neurons formed a network before conditioning began in the third week after plating. Activity recorded at different sites occurred in reproducible temporal relationships. These relationships supplied a repertoire of responses from which the computer could select a conditioning target.</a:t>
            </a:r>
            <a:endParaRPr lang="en-US"/>
          </a:p>
        </p:txBody>
      </p:sp>
      <p:sp>
        <p:nvSpPr>
          <p:cNvPr id="20" name="Shape 20"/>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electrodes sampled nearby electrical events rather than measuring the entire network. A selected electrode was consequently a response channel within an interconnected preparation. Conditioning changed the occurrence of activity at that channel while stimulation continued to recruit the surrounding cortical network.</a:t>
            </a:r>
            <a:endParaRPr lang="en-US"/>
          </a:p>
        </p:txBody>
      </p:sp>
      <p:pic>
        <p:nvPicPr>
          <p:cNvPr id="102" name="Presenton Native Image 3" descr=""/>
          <p:cNvPicPr/>
          <p:nvPr/>
        </p:nvPicPr>
        <p:blipFill>
          <a:blip r:embed="rId2" cstate="none"/>
          <a:stretch>
            <a:fillRect/>
          </a:stretch>
        </p:blipFill>
        <p:spPr>
          <a:xfrm>
            <a:off x="6572250" y="1201316"/>
            <a:ext cx="4857750" cy="4093419"/>
          </a:xfrm>
          <a:prstGeom prst="rect">
            <a:avLst/>
          </a:prstGeom>
        </p:spPr>
      </p:pic>
      <p:sp>
        <p:nvSpPr>
          <p:cNvPr id="21" name="Shape 21"/>
          <p:cNvSpPr/>
          <p:nvPr/>
        </p:nvSpPr>
        <p:spPr>
          <a:xfrm>
            <a:off x="6572250" y="538162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Shahaf </a:t>
            </a:r>
            <a:r>
              <a:rPr sz="975" b="0" i="0">
                <a:solidFill>
                  <a:srgbClr val="000000"/>
                </a:solidFill>
                <a:latin typeface="Arial"/>
                <a:ea typeface="Arial"/>
              </a:rPr>
              <a:t>&amp;</a:t>
            </a:r>
            <a:r>
              <a:rPr sz="975" b="0" i="0">
                <a:solidFill>
                  <a:srgbClr val="000000"/>
                </a:solidFill>
                <a:latin typeface="Arial"/>
                <a:ea typeface="Arial"/>
              </a:rPr>
              <a:t xml:space="preserve"> Marom (2001), Fig. 1A. Cortical neurons growing across recording electrodes.</a:t>
            </a:r>
            <a:endParaRPr lang="en-US"/>
          </a:p>
        </p:txBody>
      </p:sp>
      <p:sp>
        <p:nvSpPr>
          <p:cNvPr id="22" name="Shape 22"/>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 xml:space="preserve">Shahaf </a:t>
            </a:r>
            <a:r>
              <a:rPr sz="900" b="0" i="0">
                <a:solidFill>
                  <a:srgbClr val="000000"/>
                </a:solidFill>
                <a:latin typeface="Arial"/>
                <a:ea typeface="Arial"/>
              </a:rPr>
              <a:t>&amp;</a:t>
            </a:r>
            <a:r>
              <a:rPr sz="900" b="0" i="0">
                <a:solidFill>
                  <a:srgbClr val="000000"/>
                </a:solidFill>
                <a:latin typeface="Arial"/>
                <a:ea typeface="Arial"/>
              </a:rPr>
              <a:t xml:space="preserve"> Marom (2001)</a:t>
            </a:r>
            <a:endParaRPr lang="en-US"/>
          </a:p>
        </p:txBody>
      </p:sp>
      <p:sp>
        <p:nvSpPr>
          <p:cNvPr id="23" name="Shape 23"/>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 name="Shape 24"/>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A pulse evokes immediate and delayed activity</a:t>
            </a:r>
            <a:endParaRPr lang="en-US"/>
          </a:p>
        </p:txBody>
      </p:sp>
      <p:sp>
        <p:nvSpPr>
          <p:cNvPr id="25" name="Shape 25"/>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Extracellular stimulation</a:t>
            </a:r>
            <a:r>
              <a:rPr sz="1425" b="0" i="0">
                <a:solidFill>
                  <a:srgbClr val="000000"/>
                </a:solidFill>
                <a:latin typeface="Arial"/>
                <a:ea typeface="Arial"/>
              </a:rPr>
              <a:t xml:space="preserve"> applies an electrical pulse outside the cells, recruiting excitable neural elements near an electrode. Shahaf and Marom used pulses lasting 420 µs at an amplitude of 50 µA. Recordings from multiple sites captured the activity that followed each pulse.</a:t>
            </a:r>
            <a:endParaRPr lang="en-US"/>
          </a:p>
        </p:txBody>
      </p:sp>
      <p:sp>
        <p:nvSpPr>
          <p:cNvPr id="26" name="Shape 26"/>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response distribution contained an early peak associated with direct activation and a later component associated with activity reverberating through the network. Reverberation means that neural interactions sustain activity beyond the initial electrical input, producing delayed responses at recording sites.</a:t>
            </a:r>
            <a:endParaRPr lang="en-US"/>
          </a:p>
        </p:txBody>
      </p:sp>
      <p:sp>
        <p:nvSpPr>
          <p:cNvPr id="27" name="Shape 27"/>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conditioning target belonged to this delayed response period. Selecting activity after the initial recruitment made the learned outcome depend on the network's evoked response pattern. Repeated stimulation could alter that pattern, while contingent stimulus removal selected responses occurring within the prescribed temporal window.</a:t>
            </a:r>
            <a:endParaRPr lang="en-US"/>
          </a:p>
        </p:txBody>
      </p:sp>
      <p:pic>
        <p:nvPicPr>
          <p:cNvPr id="103" name="Presenton Native Image 4" descr=""/>
          <p:cNvPicPr/>
          <p:nvPr/>
        </p:nvPicPr>
        <p:blipFill>
          <a:blip r:embed="rId2" cstate="none"/>
          <a:stretch>
            <a:fillRect/>
          </a:stretch>
        </p:blipFill>
        <p:spPr>
          <a:xfrm>
            <a:off x="7849127" y="1200150"/>
            <a:ext cx="2303997" cy="4429125"/>
          </a:xfrm>
          <a:prstGeom prst="rect">
            <a:avLst/>
          </a:prstGeom>
        </p:spPr>
      </p:pic>
      <p:sp>
        <p:nvSpPr>
          <p:cNvPr id="28" name="Shape 28"/>
          <p:cNvSpPr/>
          <p:nvPr/>
        </p:nvSpPr>
        <p:spPr>
          <a:xfrm>
            <a:off x="6572250" y="57150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Shahaf </a:t>
            </a:r>
            <a:r>
              <a:rPr sz="975" b="0" i="0">
                <a:solidFill>
                  <a:srgbClr val="000000"/>
                </a:solidFill>
                <a:latin typeface="Arial"/>
                <a:ea typeface="Arial"/>
              </a:rPr>
              <a:t>&amp;</a:t>
            </a:r>
            <a:r>
              <a:rPr sz="975" b="0" i="0">
                <a:solidFill>
                  <a:srgbClr val="000000"/>
                </a:solidFill>
                <a:latin typeface="Arial"/>
                <a:ea typeface="Arial"/>
              </a:rPr>
              <a:t xml:space="preserve"> Marom (2001), Fig. 1D–E. Evoked traces and the post-stimulus response distribution.</a:t>
            </a:r>
            <a:endParaRPr lang="en-US"/>
          </a:p>
        </p:txBody>
      </p:sp>
      <p:sp>
        <p:nvSpPr>
          <p:cNvPr id="29" name="Shape 29"/>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 xml:space="preserve">Shahaf </a:t>
            </a:r>
            <a:r>
              <a:rPr sz="900" b="0" i="0">
                <a:solidFill>
                  <a:srgbClr val="000000"/>
                </a:solidFill>
                <a:latin typeface="Arial"/>
                <a:ea typeface="Arial"/>
              </a:rPr>
              <a:t>&amp;</a:t>
            </a:r>
            <a:r>
              <a:rPr sz="900" b="0" i="0">
                <a:solidFill>
                  <a:srgbClr val="000000"/>
                </a:solidFill>
                <a:latin typeface="Arial"/>
                <a:ea typeface="Arial"/>
              </a:rPr>
              <a:t xml:space="preserve"> Marom (2001)</a:t>
            </a:r>
            <a:endParaRPr lang="en-US"/>
          </a:p>
        </p:txBody>
      </p:sp>
      <p:sp>
        <p:nvSpPr>
          <p:cNvPr id="30" name="Shape 30"/>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1" name="Shape 31"/>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The target is activity within a defined time window</a:t>
            </a:r>
            <a:endParaRPr lang="en-US"/>
          </a:p>
        </p:txBody>
      </p:sp>
      <p:sp>
        <p:nvSpPr>
          <p:cNvPr id="32" name="Shape 32"/>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conditioning task required a selected electrode to produce activity 40–60 ms after stimulation. Before training, the investigators chose an electrode whose responses rarely occurred in this interval. The target was therefore a particular delayed response, rather than an increase in all activity.</a:t>
            </a:r>
            <a:endParaRPr lang="en-US"/>
          </a:p>
        </p:txBody>
      </p:sp>
      <p:sp>
        <p:nvSpPr>
          <p:cNvPr id="33" name="Shape 33"/>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computer monitored successive stimulation trials and stopped stimulation when at least two of the latest ten trials contained the target response. This moving criterion linked a short sequence of neural events to the cessation of external input.</a:t>
            </a:r>
            <a:endParaRPr lang="en-US"/>
          </a:p>
        </p:txBody>
      </p:sp>
      <p:sp>
        <p:nvSpPr>
          <p:cNvPr id="34" name="Shape 34"/>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After conditioning, activity occurred more often inside the target window. The relevant </a:t>
            </a:r>
            <a:r>
              <a:rPr sz="1425" b="1" i="0">
                <a:solidFill>
                  <a:srgbClr val="3F4A5A"/>
                </a:solidFill>
                <a:latin typeface="Arial"/>
                <a:ea typeface="Arial"/>
              </a:rPr>
              <a:t>response specificity</a:t>
            </a:r>
            <a:r>
              <a:rPr sz="1425" b="0" i="0">
                <a:solidFill>
                  <a:srgbClr val="000000"/>
                </a:solidFill>
                <a:latin typeface="Arial"/>
                <a:ea typeface="Arial"/>
              </a:rPr>
              <a:t xml:space="preserve"> was temporal and spatial: the selected recording channel responded at the designated delay. Activity elsewhere or at another delay contributed to the network's dynamics but did not directly satisfy the programmed criterion.</a:t>
            </a:r>
            <a:endParaRPr lang="en-US"/>
          </a:p>
        </p:txBody>
      </p:sp>
      <p:pic>
        <p:nvPicPr>
          <p:cNvPr id="104" name="Presenton Native Image 5" descr=""/>
          <p:cNvPicPr/>
          <p:nvPr/>
        </p:nvPicPr>
        <p:blipFill>
          <a:blip r:embed="rId2" cstate="none"/>
          <a:stretch>
            <a:fillRect/>
          </a:stretch>
        </p:blipFill>
        <p:spPr>
          <a:xfrm>
            <a:off x="7277100" y="1202654"/>
            <a:ext cx="3438525" cy="4424118"/>
          </a:xfrm>
          <a:prstGeom prst="rect">
            <a:avLst/>
          </a:prstGeom>
        </p:spPr>
      </p:pic>
      <p:sp>
        <p:nvSpPr>
          <p:cNvPr id="35" name="Shape 35"/>
          <p:cNvSpPr/>
          <p:nvPr/>
        </p:nvSpPr>
        <p:spPr>
          <a:xfrm>
            <a:off x="6572250" y="571500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Shahaf </a:t>
            </a:r>
            <a:r>
              <a:rPr sz="975" b="0" i="0">
                <a:solidFill>
                  <a:srgbClr val="000000"/>
                </a:solidFill>
                <a:latin typeface="Arial"/>
                <a:ea typeface="Arial"/>
              </a:rPr>
              <a:t>&amp;</a:t>
            </a:r>
            <a:r>
              <a:rPr sz="975" b="0" i="0">
                <a:solidFill>
                  <a:srgbClr val="000000"/>
                </a:solidFill>
                <a:latin typeface="Arial"/>
                <a:ea typeface="Arial"/>
              </a:rPr>
              <a:t xml:space="preserve"> Marom (2001), Fig. 2. Responses before and after conditioning.</a:t>
            </a:r>
            <a:endParaRPr lang="en-US"/>
          </a:p>
        </p:txBody>
      </p:sp>
      <p:sp>
        <p:nvSpPr>
          <p:cNvPr id="36" name="Shape 36"/>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 xml:space="preserve">Shahaf </a:t>
            </a:r>
            <a:r>
              <a:rPr sz="900" b="0" i="0">
                <a:solidFill>
                  <a:srgbClr val="000000"/>
                </a:solidFill>
                <a:latin typeface="Arial"/>
                <a:ea typeface="Arial"/>
              </a:rPr>
              <a:t>&amp;</a:t>
            </a:r>
            <a:r>
              <a:rPr sz="900" b="0" i="0">
                <a:solidFill>
                  <a:srgbClr val="000000"/>
                </a:solidFill>
                <a:latin typeface="Arial"/>
                <a:ea typeface="Arial"/>
              </a:rPr>
              <a:t xml:space="preserve"> Marom (2001)</a:t>
            </a:r>
            <a:endParaRPr lang="en-US"/>
          </a:p>
        </p:txBody>
      </p:sp>
      <p:sp>
        <p:nvSpPr>
          <p:cNvPr id="37" name="Shape 37"/>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8" name="Shape 38"/>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Training shortens acquisition time</a:t>
            </a:r>
            <a:endParaRPr lang="en-US"/>
          </a:p>
        </p:txBody>
      </p:sp>
      <p:sp>
        <p:nvSpPr>
          <p:cNvPr id="39" name="Shape 39"/>
          <p:cNvSpPr/>
          <p:nvPr/>
        </p:nvSpPr>
        <p:spPr>
          <a:xfrm>
            <a:off x="523875" y="1200150"/>
            <a:ext cx="5591175" cy="9144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Acquisition time</a:t>
            </a:r>
            <a:r>
              <a:rPr sz="1425" b="0" i="0">
                <a:solidFill>
                  <a:srgbClr val="000000"/>
                </a:solidFill>
                <a:latin typeface="Arial"/>
                <a:ea typeface="Arial"/>
              </a:rPr>
              <a:t xml:space="preserve"> is the duration of stimulation needed to satisfy the response criterion in one conditioning cycle. Shahaf and Marom stimulated at 0.3, 0.5, or 1 Hz, using the same frequency for successive cycles within a training protocol.</a:t>
            </a:r>
            <a:endParaRPr lang="en-US"/>
          </a:p>
        </p:txBody>
      </p:sp>
      <p:sp>
        <p:nvSpPr>
          <p:cNvPr id="40" name="Shape 40"/>
          <p:cNvSpPr/>
          <p:nvPr/>
        </p:nvSpPr>
        <p:spPr>
          <a:xfrm>
            <a:off x="523875" y="23050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If the criterion occurred, stimulation stopped and a 5-min pause followed. If the criterion remained unmet for 10 min, stimulation also stopped. This maximum duration prevented an unsuccessful cycle from continuing indefinitely while preserving repeated opportunities for conditioning.</a:t>
            </a:r>
            <a:endParaRPr lang="en-US"/>
          </a:p>
        </p:txBody>
      </p:sp>
      <p:sp>
        <p:nvSpPr>
          <p:cNvPr id="41" name="Shape 41"/>
          <p:cNvSpPr/>
          <p:nvPr/>
        </p:nvSpPr>
        <p:spPr>
          <a:xfrm>
            <a:off x="523875" y="36385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Acquisition times declined and stabilized during successful training. Fixed-duration control cycles, consisting of 10 min of stimulation followed by 5 min without stimulation, lacked the same systematic improvement. The declining acquisition time reflects an increasingly reliable route from stimulation to the selected network response.</a:t>
            </a:r>
            <a:endParaRPr lang="en-US"/>
          </a:p>
        </p:txBody>
      </p:sp>
      <p:pic>
        <p:nvPicPr>
          <p:cNvPr id="105" name="Presenton Native Image 6" descr=""/>
          <p:cNvPicPr/>
          <p:nvPr/>
        </p:nvPicPr>
        <p:blipFill>
          <a:blip r:embed="rId2" cstate="none"/>
          <a:stretch>
            <a:fillRect/>
          </a:stretch>
        </p:blipFill>
        <p:spPr>
          <a:xfrm>
            <a:off x="8020050" y="1203711"/>
            <a:ext cx="1962150" cy="4422003"/>
          </a:xfrm>
          <a:prstGeom prst="rect">
            <a:avLst/>
          </a:prstGeom>
        </p:spPr>
      </p:pic>
      <p:sp>
        <p:nvSpPr>
          <p:cNvPr id="42" name="Shape 42"/>
          <p:cNvSpPr/>
          <p:nvPr/>
        </p:nvSpPr>
        <p:spPr>
          <a:xfrm>
            <a:off x="6572250" y="57150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Shahaf </a:t>
            </a:r>
            <a:r>
              <a:rPr sz="975" b="0" i="0">
                <a:solidFill>
                  <a:srgbClr val="000000"/>
                </a:solidFill>
                <a:latin typeface="Arial"/>
                <a:ea typeface="Arial"/>
              </a:rPr>
              <a:t>&amp;</a:t>
            </a:r>
            <a:r>
              <a:rPr sz="975" b="0" i="0">
                <a:solidFill>
                  <a:srgbClr val="000000"/>
                </a:solidFill>
                <a:latin typeface="Arial"/>
                <a:ea typeface="Arial"/>
              </a:rPr>
              <a:t xml:space="preserve"> Marom (2001), Fig. 3A–B. Learning curves and response-independent controls.</a:t>
            </a:r>
            <a:endParaRPr lang="en-US"/>
          </a:p>
        </p:txBody>
      </p:sp>
      <p:sp>
        <p:nvSpPr>
          <p:cNvPr id="43" name="Shape 43"/>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 xml:space="preserve">Shahaf </a:t>
            </a:r>
            <a:r>
              <a:rPr sz="900" b="0" i="0">
                <a:solidFill>
                  <a:srgbClr val="000000"/>
                </a:solidFill>
                <a:latin typeface="Arial"/>
                <a:ea typeface="Arial"/>
              </a:rPr>
              <a:t>&amp;</a:t>
            </a:r>
            <a:r>
              <a:rPr sz="900" b="0" i="0">
                <a:solidFill>
                  <a:srgbClr val="000000"/>
                </a:solidFill>
                <a:latin typeface="Arial"/>
                <a:ea typeface="Arial"/>
              </a:rPr>
              <a:t xml:space="preserve"> Marom (2001)</a:t>
            </a:r>
            <a:endParaRPr lang="en-US"/>
          </a:p>
        </p:txBody>
      </p:sp>
      <p:sp>
        <p:nvSpPr>
          <p:cNvPr id="44" name="Shape 44"/>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5" name="Shape 45"/>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A feedback loop makes action change subsequent input</a:t>
            </a:r>
            <a:endParaRPr lang="en-US"/>
          </a:p>
        </p:txBody>
      </p:sp>
      <p:sp>
        <p:nvSpPr>
          <p:cNvPr id="46" name="Shape 46"/>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Closed-loop control</a:t>
            </a:r>
            <a:r>
              <a:rPr sz="1425" b="0" i="0">
                <a:solidFill>
                  <a:srgbClr val="000000"/>
                </a:solidFill>
                <a:latin typeface="Arial"/>
                <a:ea typeface="Arial"/>
              </a:rPr>
              <a:t xml:space="preserve"> links a system's output to the input it subsequently receives. In DishBrain, Kagan and colleagues used neural activity to move a virtual Pong paddle. Paddle movement affected interception of a moving ball, and interception changed the stimulation delivered to the culture.</a:t>
            </a:r>
            <a:endParaRPr lang="en-US"/>
          </a:p>
        </p:txBody>
      </p:sp>
      <p:sp>
        <p:nvSpPr>
          <p:cNvPr id="47" name="Shape 47"/>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loop therefore included the neuronal network, electrode interface, software decoder, simulated environment, and stimulation encoder. Each component contributed to the causal relationship between recorded activity and its consequences. The cells received electrical pulses rather than a visual image of the screen.</a:t>
            </a:r>
            <a:endParaRPr lang="en-US"/>
          </a:p>
        </p:txBody>
      </p:sp>
      <p:sp>
        <p:nvSpPr>
          <p:cNvPr id="48" name="Shape 48"/>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resulting task was defined by this interface. Neural activity had behavioral meaning because the software mapped it onto paddle displacement, while the environment returned input contingent on the resulting action. The same culture could therefore occupy different functional states during spontaneous recording and interactive gameplay.</a:t>
            </a:r>
            <a:endParaRPr lang="en-US"/>
          </a:p>
        </p:txBody>
      </p:sp>
      <p:pic>
        <p:nvPicPr>
          <p:cNvPr id="106" name="Presenton Native Image 7" descr=""/>
          <p:cNvPicPr/>
          <p:nvPr/>
        </p:nvPicPr>
        <p:blipFill>
          <a:blip r:embed="rId2" cstate="none"/>
          <a:stretch>
            <a:fillRect/>
          </a:stretch>
        </p:blipFill>
        <p:spPr>
          <a:xfrm>
            <a:off x="6580772" y="1200150"/>
            <a:ext cx="4840705" cy="1352550"/>
          </a:xfrm>
          <a:prstGeom prst="rect">
            <a:avLst/>
          </a:prstGeom>
        </p:spPr>
      </p:pic>
      <p:sp>
        <p:nvSpPr>
          <p:cNvPr id="49" name="Shape 49"/>
          <p:cNvSpPr/>
          <p:nvPr/>
        </p:nvSpPr>
        <p:spPr>
          <a:xfrm>
            <a:off x="6572250" y="2638425"/>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6A. Outcome-dependent stimulation during gameplay.</a:t>
            </a:r>
            <a:endParaRPr lang="en-US"/>
          </a:p>
        </p:txBody>
      </p:sp>
      <p:sp>
        <p:nvSpPr>
          <p:cNvPr id="50" name="Shape 50"/>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51" name="Shape 51"/>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7</a:t>
            </a:r>
            <a:endParaRPr lang="en-US"/>
          </a:p>
        </p:txBody>
      </p:sp>
      <p:pic>
        <p:nvPicPr>
          <p:cNvPr id="107" name="Picture 106" descr="kagan_video_s2_poster.png"/>
          <p:cNvPicPr>
            <a:picLocks noChangeAspect="1"/>
          </p:cNvPicPr>
          <p:nvPr/>
        </p:nvPicPr>
        <p:blipFill>
          <a:blip r:embed="rId4"/>
          <a:stretch>
            <a:fillRect/>
          </a:stretch>
        </p:blipFill>
        <p:spPr>
          <a:xfrm>
            <a:off x="6812280" y="3136392"/>
            <a:ext cx="4389120" cy="2468880"/>
          </a:xfrm>
          <a:prstGeom prst="rect">
            <a:avLst/>
          </a:prstGeom>
        </p:spPr>
      </p:pic>
      <p:pic>
        <p:nvPicPr>
          <p:cNvPr id="108" name="Kagan et al. (2022), Video S2. SpikeStream activity and Pong control.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812280" y="3136392"/>
            <a:ext cx="4389120" cy="2468880"/>
          </a:xfrm>
          <a:prstGeom prst="rect">
            <a:avLst/>
          </a:prstGeom>
        </p:spPr>
      </p:pic>
      <p:sp>
        <p:nvSpPr>
          <p:cNvPr id="109" name="Article recording credit"/>
          <p:cNvSpPr txBox="1"/>
          <p:nvPr/>
        </p:nvSpPr>
        <p:spPr>
          <a:xfrm>
            <a:off x="6574536" y="5733288"/>
            <a:ext cx="4873752" cy="320040"/>
          </a:xfrm>
          <a:prstGeom prst="rect">
            <a:avLst/>
          </a:prstGeom>
          <a:noFill/>
        </p:spPr>
        <p:txBody>
          <a:bodyPr wrap="square" tIns="0" bIns="0" lIns="0" rIns="0">
            <a:spAutoFit/>
          </a:bodyPr>
          <a:lstStyle/>
          <a:p>
            <a:r>
              <a:rPr sz="900">
                <a:solidFill>
                  <a:srgbClr val="000000"/>
                </a:solidFill>
                <a:latin typeface="Arial"/>
              </a:rPr>
              <a:t>Kagan et al. (2022), Video S2. SpikeStream activity and Pong control.</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8"/>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2" name="Shape 52"/>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Human neurons supply the biological controller</a:t>
            </a:r>
            <a:endParaRPr lang="en-US"/>
          </a:p>
        </p:txBody>
      </p:sp>
      <p:sp>
        <p:nvSpPr>
          <p:cNvPr id="53" name="Shape 53"/>
          <p:cNvSpPr/>
          <p:nvPr/>
        </p:nvSpPr>
        <p:spPr>
          <a:xfrm>
            <a:off x="523875" y="1200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DishBrain included human cortical neurons derived from </a:t>
            </a:r>
            <a:r>
              <a:rPr sz="1425" b="1" i="0">
                <a:solidFill>
                  <a:srgbClr val="3F4A5A"/>
                </a:solidFill>
                <a:latin typeface="Arial"/>
                <a:ea typeface="Arial"/>
              </a:rPr>
              <a:t>induced pluripotent stem cells</a:t>
            </a:r>
            <a:r>
              <a:rPr sz="1425" b="0" i="0">
                <a:solidFill>
                  <a:srgbClr val="000000"/>
                </a:solidFill>
                <a:latin typeface="Arial"/>
                <a:ea typeface="Arial"/>
              </a:rPr>
              <a:t>, cells reprogrammed into a state capable of generating multiple differentiated cell types. The experiment also used primary mouse cortical cultures. Both preparations generated the electrical activity required for interaction with the game.</a:t>
            </a:r>
            <a:endParaRPr lang="en-US"/>
          </a:p>
        </p:txBody>
      </p:sp>
      <p:sp>
        <p:nvSpPr>
          <p:cNvPr id="54" name="Shape 54"/>
          <p:cNvSpPr/>
          <p:nvPr/>
        </p:nvSpPr>
        <p:spPr>
          <a:xfrm>
            <a:off x="523875" y="27622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Immunostaining identified neuronal cell bodies and processes in the human cultures. MAP2 labeling marked dendrites, neuronal processes receiving synaptic input, and other neuronal markers supported the characterization of the preparation. These networks supplied the biological controller coupled to the computer interface.</a:t>
            </a:r>
            <a:endParaRPr lang="en-US"/>
          </a:p>
        </p:txBody>
      </p:sp>
      <p:sp>
        <p:nvSpPr>
          <p:cNvPr id="55" name="Shape 55"/>
          <p:cNvSpPr/>
          <p:nvPr/>
        </p:nvSpPr>
        <p:spPr>
          <a:xfrm>
            <a:off x="523875" y="43243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game decoder read activity from assigned output regions rather than imposing an artificial neural-network learning rule on each biological neuron. Adaptation occurred within a living, interconnected preparation, while the electronic system specified which recorded activity moved the paddle and which external events produced stimulation.</a:t>
            </a:r>
            <a:endParaRPr lang="en-US"/>
          </a:p>
        </p:txBody>
      </p:sp>
      <p:pic>
        <p:nvPicPr>
          <p:cNvPr id="107" name="Presenton Native Image 8" descr=""/>
          <p:cNvPicPr/>
          <p:nvPr/>
        </p:nvPicPr>
        <p:blipFill>
          <a:blip r:embed="rId2" cstate="none"/>
          <a:stretch>
            <a:fillRect/>
          </a:stretch>
        </p:blipFill>
        <p:spPr>
          <a:xfrm>
            <a:off x="6572250" y="1200753"/>
            <a:ext cx="4857750" cy="2465769"/>
          </a:xfrm>
          <a:prstGeom prst="rect">
            <a:avLst/>
          </a:prstGeom>
        </p:spPr>
      </p:pic>
      <p:sp>
        <p:nvSpPr>
          <p:cNvPr id="56" name="Shape 56"/>
          <p:cNvSpPr/>
          <p:nvPr/>
        </p:nvSpPr>
        <p:spPr>
          <a:xfrm>
            <a:off x="6572250" y="375285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2B. Immunostained human cortical neurons and their processes.</a:t>
            </a:r>
            <a:endParaRPr lang="en-US"/>
          </a:p>
        </p:txBody>
      </p:sp>
      <p:sp>
        <p:nvSpPr>
          <p:cNvPr id="57" name="Shape 57"/>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58" name="Shape 58"/>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9" name="Shape 59"/>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Place coding represents the ball's vertical position</a:t>
            </a:r>
            <a:endParaRPr lang="en-US"/>
          </a:p>
        </p:txBody>
      </p:sp>
      <p:sp>
        <p:nvSpPr>
          <p:cNvPr id="60" name="Shape 60"/>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place code</a:t>
            </a:r>
            <a:r>
              <a:rPr sz="1425" b="0" i="0">
                <a:solidFill>
                  <a:srgbClr val="000000"/>
                </a:solidFill>
                <a:latin typeface="Arial"/>
                <a:ea typeface="Arial"/>
              </a:rPr>
              <a:t xml:space="preserve"> represents a variable through the location of activity or stimulation. DishBrain assigned eight electrodes to the sensory input region. Different stimulating sites corresponded to different positions of the virtual ball along the vertical axis of the game.</a:t>
            </a:r>
            <a:endParaRPr lang="en-US"/>
          </a:p>
        </p:txBody>
      </p:sp>
      <p:sp>
        <p:nvSpPr>
          <p:cNvPr id="61" name="Shape 61"/>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code gave the culture a coarse spatial representation of ball position. The electrode layout was defined electronically, so the assigned sensory region was an input interface rather than a naturally developed sensory organ. Electrical stimulation recruited neurons near the selected sites.</a:t>
            </a:r>
            <a:endParaRPr lang="en-US"/>
          </a:p>
        </p:txBody>
      </p:sp>
      <p:sp>
        <p:nvSpPr>
          <p:cNvPr id="62" name="Shape 62"/>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 useful action required a relationship between this spatial input and output activity controlling vertical paddle movement. The culture's internal connections linked stimulation to distributed responses. Counterbalanced output assignments and control arrays helped assess whether the interface itself favored successful interception without biological adaptation.</a:t>
            </a:r>
            <a:endParaRPr lang="en-US"/>
          </a:p>
        </p:txBody>
      </p:sp>
      <p:pic>
        <p:nvPicPr>
          <p:cNvPr id="108" name="Presenton Native Image 9" descr=""/>
          <p:cNvPicPr/>
          <p:nvPr/>
        </p:nvPicPr>
        <p:blipFill>
          <a:blip r:embed="rId2" cstate="none"/>
          <a:stretch>
            <a:fillRect/>
          </a:stretch>
        </p:blipFill>
        <p:spPr>
          <a:xfrm>
            <a:off x="6734596" y="1200150"/>
            <a:ext cx="4533058" cy="4429125"/>
          </a:xfrm>
          <a:prstGeom prst="rect">
            <a:avLst/>
          </a:prstGeom>
        </p:spPr>
      </p:pic>
      <p:sp>
        <p:nvSpPr>
          <p:cNvPr id="63" name="Shape 63"/>
          <p:cNvSpPr/>
          <p:nvPr/>
        </p:nvSpPr>
        <p:spPr>
          <a:xfrm>
            <a:off x="6572250" y="571500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4D. Sensory and motor electrode assignments.</a:t>
            </a:r>
            <a:endParaRPr lang="en-US"/>
          </a:p>
        </p:txBody>
      </p:sp>
      <p:sp>
        <p:nvSpPr>
          <p:cNvPr id="64" name="Shape 64"/>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65" name="Shape 65"/>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 name="Shape 66"/>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Rate coding represents ball approach</a:t>
            </a:r>
            <a:endParaRPr lang="en-US"/>
          </a:p>
        </p:txBody>
      </p:sp>
      <p:sp>
        <p:nvSpPr>
          <p:cNvPr id="67" name="Shape 67"/>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rate code</a:t>
            </a:r>
            <a:r>
              <a:rPr sz="1425" b="0" i="0">
                <a:solidFill>
                  <a:srgbClr val="000000"/>
                </a:solidFill>
                <a:latin typeface="Arial"/>
                <a:ea typeface="Arial"/>
              </a:rPr>
              <a:t xml:space="preserve"> represents a variable through the frequency of events. DishBrain's final encoding combined the location of stimulation with a pulse rate that increased from 4 to 40 Hz as the ball approached the paddle. Vertical position and approach were consequently represented by different input properties.</a:t>
            </a:r>
            <a:endParaRPr lang="en-US"/>
          </a:p>
        </p:txBody>
      </p:sp>
      <p:sp>
        <p:nvSpPr>
          <p:cNvPr id="68" name="Shape 68"/>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Earlier pilot configurations used a 4-Hz place code without the additional approach-dependent rate signal. The final combined encoding produced longer average rallies than the earlier configurations. Increasing the information available through the interface changed the cultures' task performance.</a:t>
            </a:r>
            <a:endParaRPr lang="en-US"/>
          </a:p>
        </p:txBody>
      </p:sp>
      <p:sp>
        <p:nvSpPr>
          <p:cNvPr id="69" name="Shape 69"/>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Approach-dependent stimulation connected temporal urgency to neural input. As the ball neared the paddle, the network received pulses more frequently while the stimulating site continued to report vertical position. Successful interception thus depended on coordinating output with both where the ball was and how close it was to the paddle boundary.</a:t>
            </a:r>
            <a:endParaRPr lang="en-US"/>
          </a:p>
        </p:txBody>
      </p:sp>
      <p:pic>
        <p:nvPicPr>
          <p:cNvPr id="109" name="Presenton Native Image 10" descr=""/>
          <p:cNvPicPr/>
          <p:nvPr/>
        </p:nvPicPr>
        <p:blipFill>
          <a:blip r:embed="rId2" cstate="none"/>
          <a:stretch>
            <a:fillRect/>
          </a:stretch>
        </p:blipFill>
        <p:spPr>
          <a:xfrm>
            <a:off x="7041066" y="1200150"/>
            <a:ext cx="3920117" cy="4429125"/>
          </a:xfrm>
          <a:prstGeom prst="rect">
            <a:avLst/>
          </a:prstGeom>
        </p:spPr>
      </p:pic>
      <p:sp>
        <p:nvSpPr>
          <p:cNvPr id="70" name="Shape 70"/>
          <p:cNvSpPr/>
          <p:nvPr/>
        </p:nvSpPr>
        <p:spPr>
          <a:xfrm>
            <a:off x="6572250" y="57150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4E. Performance across progressively richer input encodings.</a:t>
            </a:r>
            <a:endParaRPr lang="en-US"/>
          </a:p>
        </p:txBody>
      </p:sp>
      <p:sp>
        <p:nvSpPr>
          <p:cNvPr id="71" name="Shape 71"/>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72" name="Shape 72"/>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 name="Shape 73"/>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Motor-zone activity becomes paddle displacement</a:t>
            </a:r>
            <a:endParaRPr lang="en-US"/>
          </a:p>
        </p:txBody>
      </p:sp>
      <p:sp>
        <p:nvSpPr>
          <p:cNvPr id="74" name="Shape 74"/>
          <p:cNvSpPr/>
          <p:nvPr/>
        </p:nvSpPr>
        <p:spPr>
          <a:xfrm>
            <a:off x="523875" y="1200150"/>
            <a:ext cx="5591175" cy="9144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decoder</a:t>
            </a:r>
            <a:r>
              <a:rPr sz="1425" b="0" i="0">
                <a:solidFill>
                  <a:srgbClr val="000000"/>
                </a:solidFill>
                <a:latin typeface="Arial"/>
                <a:ea typeface="Arial"/>
              </a:rPr>
              <a:t xml:space="preserve"> converts recorded neural activity into an output command. DishBrain divided recording sites into assigned motor regions. Activity in one output group moved the paddle upward, and activity in the opposing group moved it downward.</a:t>
            </a:r>
            <a:endParaRPr lang="en-US"/>
          </a:p>
        </p:txBody>
      </p:sp>
      <p:sp>
        <p:nvSpPr>
          <p:cNvPr id="75" name="Shape 75"/>
          <p:cNvSpPr/>
          <p:nvPr/>
        </p:nvSpPr>
        <p:spPr>
          <a:xfrm>
            <a:off x="523875" y="23050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software used the difference between activity in these regions, with normalization for baseline differences, to determine movement. The decoder operated rapidly enough to return updated stimulation with an approximately 5-ms spike-to-stimulation latency. Neural events could therefore affect the ongoing interaction before the environment changed substantially.</a:t>
            </a:r>
            <a:endParaRPr lang="en-US"/>
          </a:p>
        </p:txBody>
      </p:sp>
      <p:sp>
        <p:nvSpPr>
          <p:cNvPr id="76" name="Shape 76"/>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These output regions were operational assignments on the array, rather than anatomical motor cortex subdivisions. Their biological activity acquired action significance through the interface. A favorable output pattern moved the paddle toward the ball, changing whether the next event was a successful return or a miss.</a:t>
            </a:r>
            <a:endParaRPr lang="en-US"/>
          </a:p>
        </p:txBody>
      </p:sp>
      <p:pic>
        <p:nvPicPr>
          <p:cNvPr id="110" name="Presenton Native Image 11" descr=""/>
          <p:cNvPicPr/>
          <p:nvPr/>
        </p:nvPicPr>
        <p:blipFill>
          <a:blip r:embed="rId2" cstate="none"/>
          <a:stretch>
            <a:fillRect/>
          </a:stretch>
        </p:blipFill>
        <p:spPr>
          <a:xfrm>
            <a:off x="6734596" y="1200150"/>
            <a:ext cx="4533058" cy="4429125"/>
          </a:xfrm>
          <a:prstGeom prst="rect">
            <a:avLst/>
          </a:prstGeom>
        </p:spPr>
      </p:pic>
      <p:sp>
        <p:nvSpPr>
          <p:cNvPr id="77" name="Shape 77"/>
          <p:cNvSpPr/>
          <p:nvPr/>
        </p:nvSpPr>
        <p:spPr>
          <a:xfrm>
            <a:off x="6572250" y="57150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4D. Assigned sensory and opposing motor electrode regions.</a:t>
            </a:r>
            <a:endParaRPr lang="en-US"/>
          </a:p>
        </p:txBody>
      </p:sp>
      <p:sp>
        <p:nvSpPr>
          <p:cNvPr id="78" name="Shape 78"/>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79" name="Shape 79"/>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 name="Shape 80"/>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Rally length measures sustained successful control</a:t>
            </a:r>
            <a:endParaRPr lang="en-US"/>
          </a:p>
        </p:txBody>
      </p:sp>
      <p:sp>
        <p:nvSpPr>
          <p:cNvPr id="81" name="Shape 81"/>
          <p:cNvSpPr/>
          <p:nvPr/>
        </p:nvSpPr>
        <p:spPr>
          <a:xfrm>
            <a:off x="523875" y="1200150"/>
            <a:ext cx="5591175" cy="9144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rally</a:t>
            </a:r>
            <a:r>
              <a:rPr sz="1425" b="0" i="0">
                <a:solidFill>
                  <a:srgbClr val="000000"/>
                </a:solidFill>
                <a:latin typeface="Arial"/>
                <a:ea typeface="Arial"/>
              </a:rPr>
              <a:t xml:space="preserve"> is a sequence of successful paddle returns before a miss. Average rally length measures how long a culture maintains the required sensorimotor relationship. The analysis compared the first 5 min with the remaining 15 min of a gameplay session.</a:t>
            </a:r>
            <a:endParaRPr lang="en-US"/>
          </a:p>
        </p:txBody>
      </p:sp>
      <p:sp>
        <p:nvSpPr>
          <p:cNvPr id="82" name="Shape 82"/>
          <p:cNvSpPr/>
          <p:nvPr/>
        </p:nvSpPr>
        <p:spPr>
          <a:xfrm>
            <a:off x="523875" y="23050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Human and mouse cortical cultures increased rally length during gameplay. The investigators also measured immediate failures, called aces, and extended sequences of returns, called long rallies. These additional measures distinguished sustained interception from isolated successful contacts.</a:t>
            </a:r>
            <a:endParaRPr lang="en-US"/>
          </a:p>
        </p:txBody>
      </p:sp>
      <p:sp>
        <p:nvSpPr>
          <p:cNvPr id="83" name="Shape 83"/>
          <p:cNvSpPr/>
          <p:nvPr/>
        </p:nvSpPr>
        <p:spPr>
          <a:xfrm>
            <a:off x="523875" y="36385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task metrics describe the performance of the complete culture-interface system. A longer rally requires repeated appropriate output as ball position changes, rather than a single favorable paddle location. Reductions in immediate failure and increases in sustained returns provide complementary descriptions of adaptation to the task's changing sensory demands.</a:t>
            </a:r>
            <a:endParaRPr lang="en-US"/>
          </a:p>
        </p:txBody>
      </p:sp>
      <p:pic>
        <p:nvPicPr>
          <p:cNvPr id="111" name="Presenton Native Image 12" descr=""/>
          <p:cNvPicPr/>
          <p:nvPr/>
        </p:nvPicPr>
        <p:blipFill>
          <a:blip r:embed="rId2" cstate="none"/>
          <a:stretch>
            <a:fillRect/>
          </a:stretch>
        </p:blipFill>
        <p:spPr>
          <a:xfrm>
            <a:off x="6572250" y="1200366"/>
            <a:ext cx="4857750" cy="2009342"/>
          </a:xfrm>
          <a:prstGeom prst="rect">
            <a:avLst/>
          </a:prstGeom>
        </p:spPr>
      </p:pic>
      <p:sp>
        <p:nvSpPr>
          <p:cNvPr id="84" name="Shape 84"/>
          <p:cNvSpPr/>
          <p:nvPr/>
        </p:nvSpPr>
        <p:spPr>
          <a:xfrm>
            <a:off x="6572250" y="329565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5B–D. Rally length, missed first returns, and long rallies.</a:t>
            </a:r>
            <a:endParaRPr lang="en-US"/>
          </a:p>
        </p:txBody>
      </p:sp>
      <p:sp>
        <p:nvSpPr>
          <p:cNvPr id="85" name="Shape 85"/>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86" name="Shape 86"/>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12</a:t>
            </a:r>
            <a:endParaRPr lang="en-US"/>
          </a:p>
        </p:txBody>
      </p:sp>
      <p:pic>
        <p:nvPicPr>
          <p:cNvPr id="112" name="Picture 111" descr="kagan_video_s1_poster.png"/>
          <p:cNvPicPr>
            <a:picLocks noChangeAspect="1"/>
          </p:cNvPicPr>
          <p:nvPr/>
        </p:nvPicPr>
        <p:blipFill>
          <a:blip r:embed="rId4"/>
          <a:stretch>
            <a:fillRect/>
          </a:stretch>
        </p:blipFill>
        <p:spPr>
          <a:xfrm>
            <a:off x="7854696" y="3694176"/>
            <a:ext cx="2286000" cy="2286000"/>
          </a:xfrm>
          <a:prstGeom prst="rect">
            <a:avLst/>
          </a:prstGeom>
        </p:spPr>
      </p:pic>
      <p:pic>
        <p:nvPicPr>
          <p:cNvPr id="113" name="Kagan et al. (2022), Video S1. Neural control of a Pong paddl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854696" y="3694176"/>
            <a:ext cx="2286000" cy="2286000"/>
          </a:xfrm>
          <a:prstGeom prst="rect">
            <a:avLst/>
          </a:prstGeom>
        </p:spPr>
      </p:pic>
      <p:sp>
        <p:nvSpPr>
          <p:cNvPr id="114" name="Article recording credit"/>
          <p:cNvSpPr txBox="1"/>
          <p:nvPr/>
        </p:nvSpPr>
        <p:spPr>
          <a:xfrm>
            <a:off x="6574536" y="6099048"/>
            <a:ext cx="4873752" cy="201168"/>
          </a:xfrm>
          <a:prstGeom prst="rect">
            <a:avLst/>
          </a:prstGeom>
          <a:noFill/>
        </p:spPr>
        <p:txBody>
          <a:bodyPr wrap="square" tIns="0" bIns="0" lIns="0" rIns="0">
            <a:spAutoFit/>
          </a:bodyPr>
          <a:lstStyle/>
          <a:p>
            <a:r>
              <a:rPr sz="900">
                <a:solidFill>
                  <a:srgbClr val="000000"/>
                </a:solidFill>
                <a:latin typeface="Arial"/>
              </a:rPr>
              <a:t>Kagan et al. (2022), Video S1. Neural control of a Pong paddle.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 name="Shape 87"/>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Controls distinguish adaptation from movement</a:t>
            </a:r>
            <a:endParaRPr lang="en-US"/>
          </a:p>
        </p:txBody>
      </p:sp>
      <p:sp>
        <p:nvSpPr>
          <p:cNvPr id="88" name="Shape 88"/>
          <p:cNvSpPr/>
          <p:nvPr/>
        </p:nvSpPr>
        <p:spPr>
          <a:xfrm>
            <a:off x="523875" y="1200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Kagan and colleagues compared living cultures with media-only arrays, random-output simulations, and a rest condition in which culture activity moved the paddle without sensory stimulation. These controls tested whether electrode artifacts, random commands, or spontaneous activity could generate comparable performance changes.</a:t>
            </a:r>
            <a:endParaRPr lang="en-US"/>
          </a:p>
        </p:txBody>
      </p:sp>
      <p:sp>
        <p:nvSpPr>
          <p:cNvPr id="89" name="Shape 89"/>
          <p:cNvSpPr/>
          <p:nvPr/>
        </p:nvSpPr>
        <p:spPr>
          <a:xfrm>
            <a:off x="523875" y="27622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Only the mouse and human cortical gameplay groups increased their average rally length over the session. The human cultures initially performed poorly but later exceeded the control groups. Improvement was therefore related to interaction with the structured task, rather than simply to producing electrical activity.</a:t>
            </a:r>
            <a:endParaRPr lang="en-US"/>
          </a:p>
        </p:txBody>
      </p:sp>
      <p:sp>
        <p:nvSpPr>
          <p:cNvPr id="90" name="Shape 90"/>
          <p:cNvSpPr/>
          <p:nvPr/>
        </p:nvSpPr>
        <p:spPr>
          <a:xfrm>
            <a:off x="523875" y="43243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controls separate paddle movement from adaptive control. A randomly or spontaneously driven paddle can sometimes intercept the ball, but repeated appropriate returns require an output pattern related to changing input. The distribution of returns shifted during biological gameplay as the cultures adjusted their responses.</a:t>
            </a:r>
            <a:endParaRPr lang="en-US"/>
          </a:p>
        </p:txBody>
      </p:sp>
      <p:pic>
        <p:nvPicPr>
          <p:cNvPr id="112" name="Presenton Native Image 13" descr=""/>
          <p:cNvPicPr/>
          <p:nvPr/>
        </p:nvPicPr>
        <p:blipFill>
          <a:blip r:embed="rId2" cstate="none"/>
          <a:stretch>
            <a:fillRect/>
          </a:stretch>
        </p:blipFill>
        <p:spPr>
          <a:xfrm>
            <a:off x="6572250" y="1201881"/>
            <a:ext cx="4857750" cy="958563"/>
          </a:xfrm>
          <a:prstGeom prst="rect">
            <a:avLst/>
          </a:prstGeom>
        </p:spPr>
      </p:pic>
      <p:sp>
        <p:nvSpPr>
          <p:cNvPr id="91" name="Shape 91"/>
          <p:cNvSpPr/>
          <p:nvPr/>
        </p:nvSpPr>
        <p:spPr>
          <a:xfrm>
            <a:off x="6572250" y="224790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5F. Distribution of return counts across gameplay time.</a:t>
            </a:r>
            <a:endParaRPr lang="en-US"/>
          </a:p>
        </p:txBody>
      </p:sp>
      <p:sp>
        <p:nvSpPr>
          <p:cNvPr id="92" name="Shape 92"/>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93" name="Shape 93"/>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4" name="Shape 94"/>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Hits and misses change stimulation</a:t>
            </a:r>
            <a:endParaRPr lang="en-US"/>
          </a:p>
        </p:txBody>
      </p:sp>
      <p:sp>
        <p:nvSpPr>
          <p:cNvPr id="95" name="Shape 95"/>
          <p:cNvSpPr/>
          <p:nvPr/>
        </p:nvSpPr>
        <p:spPr>
          <a:xfrm>
            <a:off x="523875" y="1200150"/>
            <a:ext cx="5591175" cy="9144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Outcome-contingent feedback</a:t>
            </a:r>
            <a:r>
              <a:rPr sz="1425" b="0" i="0">
                <a:solidFill>
                  <a:srgbClr val="000000"/>
                </a:solidFill>
                <a:latin typeface="Arial"/>
                <a:ea typeface="Arial"/>
              </a:rPr>
              <a:t xml:space="preserve"> changes according to the consequence of an action. A successful Pong return produced a brief predictable stimulus, delivered across electrodes at 100 Hz. The game then continued with the ball's subsequent trajectory.</a:t>
            </a:r>
            <a:endParaRPr lang="en-US"/>
          </a:p>
        </p:txBody>
      </p:sp>
      <p:sp>
        <p:nvSpPr>
          <p:cNvPr id="96" name="Shape 96"/>
          <p:cNvSpPr/>
          <p:nvPr/>
        </p:nvSpPr>
        <p:spPr>
          <a:xfrm>
            <a:off x="523875" y="23050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 missed return produced an unpredictable stimulation period at 5 Hz for 4 s, followed by a restart in a random direction. The two outcomes therefore differed in stimulation pattern, duration, and continuity of the game. These were electrical consequences, without an added chemical reward.</a:t>
            </a:r>
            <a:endParaRPr lang="en-US"/>
          </a:p>
        </p:txBody>
      </p:sp>
      <p:sp>
        <p:nvSpPr>
          <p:cNvPr id="97" name="Shape 97"/>
          <p:cNvSpPr/>
          <p:nvPr/>
        </p:nvSpPr>
        <p:spPr>
          <a:xfrm>
            <a:off x="523875" y="36385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The authors' active-inference hypothesis proposes that cultures adapt toward more predictable input by changing their output. </a:t>
            </a:r>
            <a:r>
              <a:rPr sz="1425" b="1" i="0">
                <a:solidFill>
                  <a:srgbClr val="3F4A5A"/>
                </a:solidFill>
                <a:latin typeface="Arial"/>
                <a:ea typeface="Arial"/>
              </a:rPr>
              <a:t>Active inference</a:t>
            </a:r>
            <a:r>
              <a:rPr sz="1425" b="0" i="0">
                <a:solidFill>
                  <a:srgbClr val="000000"/>
                </a:solidFill>
                <a:latin typeface="Arial"/>
                <a:ea typeface="Arial"/>
              </a:rPr>
              <a:t xml:space="preserve"> is a framework in which action and internal adjustment reduce mismatch between expected and received input. The experimental evidence supporting adaptation consists of the task results and feedback comparisons, rather than the hypothesis alone.</a:t>
            </a:r>
            <a:endParaRPr lang="en-US"/>
          </a:p>
        </p:txBody>
      </p:sp>
      <p:pic>
        <p:nvPicPr>
          <p:cNvPr id="113" name="Presenton Native Image 14" descr=""/>
          <p:cNvPicPr/>
          <p:nvPr/>
        </p:nvPicPr>
        <p:blipFill>
          <a:blip r:embed="rId2" cstate="none"/>
          <a:stretch>
            <a:fillRect/>
          </a:stretch>
        </p:blipFill>
        <p:spPr>
          <a:xfrm>
            <a:off x="6580772" y="1200150"/>
            <a:ext cx="4840705" cy="1352550"/>
          </a:xfrm>
          <a:prstGeom prst="rect">
            <a:avLst/>
          </a:prstGeom>
        </p:spPr>
      </p:pic>
      <p:sp>
        <p:nvSpPr>
          <p:cNvPr id="98" name="Shape 98"/>
          <p:cNvSpPr/>
          <p:nvPr/>
        </p:nvSpPr>
        <p:spPr>
          <a:xfrm>
            <a:off x="6572250" y="263842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6A. Outcome-dependent stimulation across three feedback conditions.</a:t>
            </a:r>
            <a:endParaRPr lang="en-US"/>
          </a:p>
        </p:txBody>
      </p:sp>
      <p:sp>
        <p:nvSpPr>
          <p:cNvPr id="99" name="Shape 99"/>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100" name="Shape 100"/>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1" name="Shape 101"/>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Feedback changes the learning outcome</a:t>
            </a:r>
            <a:endParaRPr lang="en-US"/>
          </a:p>
        </p:txBody>
      </p:sp>
      <p:sp>
        <p:nvSpPr>
          <p:cNvPr id="102" name="Shape 102"/>
          <p:cNvSpPr/>
          <p:nvPr/>
        </p:nvSpPr>
        <p:spPr>
          <a:xfrm>
            <a:off x="523875" y="1200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no-feedback condition retained stimulation reporting ball position but removed the outcome-dependent restart. After a miss, the ball continued without an interruption that distinguished failure from successful control. The culture received task information without the usual consequence of a missed return.</a:t>
            </a:r>
            <a:endParaRPr lang="en-US"/>
          </a:p>
        </p:txBody>
      </p:sp>
      <p:sp>
        <p:nvSpPr>
          <p:cNvPr id="103" name="Shape 103"/>
          <p:cNvSpPr/>
          <p:nvPr/>
        </p:nvSpPr>
        <p:spPr>
          <a:xfrm>
            <a:off x="523875" y="27622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In the silent condition, missed returns led to a matching period without stimulation before the game restarted. This manipulation retained a consequence of failure while changing its electrical content. The stimulus condition retained the predictable and unpredictable stimulation schedule.</a:t>
            </a:r>
            <a:endParaRPr lang="en-US"/>
          </a:p>
        </p:txBody>
      </p:sp>
      <p:sp>
        <p:nvSpPr>
          <p:cNvPr id="104" name="Shape 104"/>
          <p:cNvSpPr/>
          <p:nvPr/>
        </p:nvSpPr>
        <p:spPr>
          <a:xfrm>
            <a:off x="523875" y="40957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Within-session rally-length improvement was strongest under the stimulus-feedback condition. Silent feedback supported higher later performance than the no-feedback condition. The comparison connects adaptation to outcome-dependent changes in the input sequence: continued ball-position stimulation and feedback contingent on failure produced different performance trajectories.</a:t>
            </a:r>
            <a:endParaRPr lang="en-US"/>
          </a:p>
        </p:txBody>
      </p:sp>
      <p:pic>
        <p:nvPicPr>
          <p:cNvPr id="114" name="Presenton Native Image 15" descr=""/>
          <p:cNvPicPr/>
          <p:nvPr/>
        </p:nvPicPr>
        <p:blipFill>
          <a:blip r:embed="rId2" cstate="none"/>
          <a:stretch>
            <a:fillRect/>
          </a:stretch>
        </p:blipFill>
        <p:spPr>
          <a:xfrm>
            <a:off x="7067550" y="1200810"/>
            <a:ext cx="3857625" cy="4427805"/>
          </a:xfrm>
          <a:prstGeom prst="rect">
            <a:avLst/>
          </a:prstGeom>
        </p:spPr>
      </p:pic>
      <p:sp>
        <p:nvSpPr>
          <p:cNvPr id="105" name="Shape 105"/>
          <p:cNvSpPr/>
          <p:nvPr/>
        </p:nvSpPr>
        <p:spPr>
          <a:xfrm>
            <a:off x="6572250" y="571500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6C. Changes in rally length under feedback manipulations.</a:t>
            </a:r>
            <a:endParaRPr lang="en-US"/>
          </a:p>
        </p:txBody>
      </p:sp>
      <p:sp>
        <p:nvSpPr>
          <p:cNvPr id="106" name="Shape 106"/>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107" name="Shape 107"/>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8" name="Shape 108"/>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Gameplay separates opposing output activity</a:t>
            </a:r>
            <a:endParaRPr lang="en-US"/>
          </a:p>
        </p:txBody>
      </p:sp>
      <p:sp>
        <p:nvSpPr>
          <p:cNvPr id="109" name="Shape 109"/>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Population coordination</a:t>
            </a:r>
            <a:r>
              <a:rPr sz="1425" b="0" i="0">
                <a:solidFill>
                  <a:srgbClr val="000000"/>
                </a:solidFill>
                <a:latin typeface="Arial"/>
                <a:ea typeface="Arial"/>
              </a:rPr>
              <a:t xml:space="preserve"> describes relationships among neural activity recorded at different sites. Kagan and colleagues compared activity in sensory and motor regions during rest and gameplay. Sensory-motor correlations were lower during gameplay than during spontaneous rest activity.</a:t>
            </a:r>
            <a:endParaRPr lang="en-US"/>
          </a:p>
        </p:txBody>
      </p:sp>
      <p:sp>
        <p:nvSpPr>
          <p:cNvPr id="110" name="Shape 110"/>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opposing motor regions also produced more mutually exclusive activity during gameplay. A mutually exclusive event occurs when one output region is active without simultaneous activity in its opponent. Such events generate a directional command rather than canceling through opposing output.</a:t>
            </a:r>
            <a:endParaRPr lang="en-US"/>
          </a:p>
        </p:txBody>
      </p:sp>
      <p:sp>
        <p:nvSpPr>
          <p:cNvPr id="111" name="Shape 111"/>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change links population activity to the decoder's requirements. Broadly synchronized firing can activate both output groups together, whereas differentiated activity produces a clearer upward or downward command. Task engagement reorganized the relationships among recorded populations in a direction relevant to control of the paddle.</a:t>
            </a:r>
            <a:endParaRPr lang="en-US"/>
          </a:p>
        </p:txBody>
      </p:sp>
      <p:pic>
        <p:nvPicPr>
          <p:cNvPr id="115" name="Presenton Native Image 16" descr=""/>
          <p:cNvPicPr/>
          <p:nvPr/>
        </p:nvPicPr>
        <p:blipFill>
          <a:blip r:embed="rId2" cstate="none"/>
          <a:stretch>
            <a:fillRect/>
          </a:stretch>
        </p:blipFill>
        <p:spPr>
          <a:xfrm>
            <a:off x="6575377" y="1200150"/>
            <a:ext cx="4851496" cy="2638425"/>
          </a:xfrm>
          <a:prstGeom prst="rect">
            <a:avLst/>
          </a:prstGeom>
        </p:spPr>
      </p:pic>
      <p:sp>
        <p:nvSpPr>
          <p:cNvPr id="112" name="Shape 112"/>
          <p:cNvSpPr/>
          <p:nvPr/>
        </p:nvSpPr>
        <p:spPr>
          <a:xfrm>
            <a:off x="6572250" y="39243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7E–F. Sensory-motor correlation and mutually exclusive output activity.</a:t>
            </a:r>
            <a:endParaRPr lang="en-US"/>
          </a:p>
        </p:txBody>
      </p:sp>
      <p:sp>
        <p:nvSpPr>
          <p:cNvPr id="113" name="Shape 113"/>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114" name="Shape 114"/>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15" name="Shape 115"/>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Coordination changes without increased firing</a:t>
            </a:r>
            <a:endParaRPr lang="en-US"/>
          </a:p>
        </p:txBody>
      </p:sp>
      <p:sp>
        <p:nvSpPr>
          <p:cNvPr id="116" name="Shape 116"/>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Synchrony</a:t>
            </a:r>
            <a:r>
              <a:rPr sz="1425" b="0" i="0">
                <a:solidFill>
                  <a:srgbClr val="000000"/>
                </a:solidFill>
                <a:latin typeface="Arial"/>
                <a:ea typeface="Arial"/>
              </a:rPr>
              <a:t xml:space="preserve"> is coordinated activity occurring at the same time across recorded populations. During DishBrain gameplay, the correlation between opposing motor regions changed markedly near the beginning of a session. The relationship evolved as cultures interacted with the input-output mapping.</a:t>
            </a:r>
            <a:endParaRPr lang="en-US"/>
          </a:p>
        </p:txBody>
      </p:sp>
      <p:sp>
        <p:nvSpPr>
          <p:cNvPr id="117" name="Shape 117"/>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study also assessed average culture firing across the session. Overall firing magnitude lacked the same learning-related trend, even while the relationships among output regions changed. Adaptation therefore involved the distribution and coordination of activity, rather than simply increasing the total number of spikes.</a:t>
            </a:r>
            <a:endParaRPr lang="en-US"/>
          </a:p>
        </p:txBody>
      </p:sp>
      <p:sp>
        <p:nvSpPr>
          <p:cNvPr id="118" name="Shape 118"/>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This distinction connects the scale of measurement to function. A culture can maintain a similar overall activity level while reorganizing which populations are active together. Because the paddle decoder compares opposing regions, changes in their coordination can alter action selection even when aggregate firing remains relatively stable.</a:t>
            </a:r>
            <a:endParaRPr lang="en-US"/>
          </a:p>
        </p:txBody>
      </p:sp>
      <p:pic>
        <p:nvPicPr>
          <p:cNvPr id="116" name="Presenton Native Image 17" descr=""/>
          <p:cNvPicPr/>
          <p:nvPr/>
        </p:nvPicPr>
        <p:blipFill>
          <a:blip r:embed="rId2" cstate="none"/>
          <a:stretch>
            <a:fillRect/>
          </a:stretch>
        </p:blipFill>
        <p:spPr>
          <a:xfrm>
            <a:off x="6572940" y="1200150"/>
            <a:ext cx="4856370" cy="2724150"/>
          </a:xfrm>
          <a:prstGeom prst="rect">
            <a:avLst/>
          </a:prstGeom>
        </p:spPr>
      </p:pic>
      <p:sp>
        <p:nvSpPr>
          <p:cNvPr id="119" name="Shape 119"/>
          <p:cNvSpPr/>
          <p:nvPr/>
        </p:nvSpPr>
        <p:spPr>
          <a:xfrm>
            <a:off x="6572250" y="401002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7G–H. Time-dependent correlation between opposing motor regions.</a:t>
            </a:r>
            <a:endParaRPr lang="en-US"/>
          </a:p>
        </p:txBody>
      </p:sp>
      <p:sp>
        <p:nvSpPr>
          <p:cNvPr id="120" name="Shape 120"/>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121" name="Shape 121"/>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2" name="Shape 122"/>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Feedback changes activity entropy</a:t>
            </a:r>
            <a:endParaRPr lang="en-US"/>
          </a:p>
        </p:txBody>
      </p:sp>
      <p:sp>
        <p:nvSpPr>
          <p:cNvPr id="123" name="Shape 123"/>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Information entropy</a:t>
            </a:r>
            <a:r>
              <a:rPr sz="1425" b="0" i="0">
                <a:solidFill>
                  <a:srgbClr val="000000"/>
                </a:solidFill>
                <a:latin typeface="Arial"/>
                <a:ea typeface="Arial"/>
              </a:rPr>
              <a:t xml:space="preserve"> quantifies uncertainty in a probability distribution. Kagan and colleagues estimated entropy from recorded neural activity, comparing periods before and after feedback. This measure describes the distribution of electrical events rather than an experienced emotional state.</a:t>
            </a:r>
            <a:endParaRPr lang="en-US"/>
          </a:p>
        </p:txBody>
      </p:sp>
      <p:sp>
        <p:nvSpPr>
          <p:cNvPr id="124" name="Shape 124"/>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Unpredictable stimulation increased the activity-based entropy measure after missed returns during gameplay. Matched resting periods lacked the same feedback-related change. The stimulus and silent feedback conditions also differed from the condition retaining ball information without outcome-dependent interruption.</a:t>
            </a:r>
            <a:endParaRPr lang="en-US"/>
          </a:p>
        </p:txBody>
      </p:sp>
      <p:sp>
        <p:nvSpPr>
          <p:cNvPr id="125" name="Shape 125"/>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These results connect the structure of external input to the organization of population activity. A miss altered the stimulation sequence and was followed by a changed distribution of neural events. Feedback consequently affected both the environment presented to the network and the electrical activity from which subsequent paddle commands were decoded.</a:t>
            </a:r>
            <a:endParaRPr lang="en-US"/>
          </a:p>
        </p:txBody>
      </p:sp>
      <p:pic>
        <p:nvPicPr>
          <p:cNvPr id="117" name="Presenton Native Image 18" descr=""/>
          <p:cNvPicPr/>
          <p:nvPr/>
        </p:nvPicPr>
        <p:blipFill>
          <a:blip r:embed="rId2" cstate="none"/>
          <a:stretch>
            <a:fillRect/>
          </a:stretch>
        </p:blipFill>
        <p:spPr>
          <a:xfrm>
            <a:off x="6572250" y="1201628"/>
            <a:ext cx="4857750" cy="3768944"/>
          </a:xfrm>
          <a:prstGeom prst="rect">
            <a:avLst/>
          </a:prstGeom>
        </p:spPr>
      </p:pic>
      <p:sp>
        <p:nvSpPr>
          <p:cNvPr id="126" name="Shape 126"/>
          <p:cNvSpPr/>
          <p:nvPr/>
        </p:nvSpPr>
        <p:spPr>
          <a:xfrm>
            <a:off x="6572250" y="5057775"/>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Kagan et al. (2022), Fig. 7A–L. Activity entropy before and after feedback.</a:t>
            </a:r>
            <a:endParaRPr lang="en-US"/>
          </a:p>
        </p:txBody>
      </p:sp>
      <p:sp>
        <p:nvSpPr>
          <p:cNvPr id="127" name="Shape 127"/>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a:t>
            </a:r>
            <a:endParaRPr lang="en-US"/>
          </a:p>
        </p:txBody>
      </p:sp>
      <p:sp>
        <p:nvSpPr>
          <p:cNvPr id="128" name="Shape 128"/>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9" name="Shape 129"/>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NGN2 creates an excitatory preparation</a:t>
            </a:r>
            <a:endParaRPr lang="en-US"/>
          </a:p>
        </p:txBody>
      </p:sp>
      <p:sp>
        <p:nvSpPr>
          <p:cNvPr id="130" name="Shape 130"/>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Watmuff and colleagues used human neurons generated by inducible expression of </a:t>
            </a:r>
            <a:r>
              <a:rPr sz="1425" b="1" i="0">
                <a:solidFill>
                  <a:srgbClr val="3F4A5A"/>
                </a:solidFill>
                <a:latin typeface="Arial"/>
                <a:ea typeface="Arial"/>
              </a:rPr>
              <a:t>neurogenin 2</a:t>
            </a:r>
            <a:r>
              <a:rPr sz="1425" b="0" i="0">
                <a:solidFill>
                  <a:srgbClr val="000000"/>
                </a:solidFill>
                <a:latin typeface="Arial"/>
                <a:ea typeface="Arial"/>
              </a:rPr>
              <a:t>, or NGN2, a transcription factor that promotes neuronal differentiation. A transcription factor changes gene expression by influencing transcription, the production of RNA from DNA.</a:t>
            </a:r>
            <a:endParaRPr lang="en-US"/>
          </a:p>
        </p:txBody>
      </p:sp>
      <p:sp>
        <p:nvSpPr>
          <p:cNvPr id="131" name="Shape 131"/>
          <p:cNvSpPr/>
          <p:nvPr/>
        </p:nvSpPr>
        <p:spPr>
          <a:xfrm>
            <a:off x="523875" y="2533650"/>
            <a:ext cx="5591175" cy="18288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The resulting cultures expressed markers associated with glutamatergic neurons. </a:t>
            </a:r>
            <a:r>
              <a:rPr sz="1425" b="1" i="0">
                <a:solidFill>
                  <a:srgbClr val="3F4A5A"/>
                </a:solidFill>
                <a:latin typeface="Arial"/>
                <a:ea typeface="Arial"/>
              </a:rPr>
              <a:t>Glutamate</a:t>
            </a:r>
            <a:r>
              <a:rPr sz="1425" b="0" i="0">
                <a:solidFill>
                  <a:srgbClr val="000000"/>
                </a:solidFill>
                <a:latin typeface="Arial"/>
                <a:ea typeface="Arial"/>
              </a:rPr>
              <a:t xml:space="preserve"> is an excitatory neurotransmitter, a chemical signal released by neurons that can increase the activity of receiving cells. A synapse is a site of communication between neurons. Vesicular glutamate transporter 2, or VGLUT2, packages glutamate into synaptic vesicles, membrane-bound structures that store transmitter for release.</a:t>
            </a:r>
            <a:endParaRPr lang="en-US"/>
          </a:p>
        </p:txBody>
      </p:sp>
      <p:sp>
        <p:nvSpPr>
          <p:cNvPr id="132" name="Shape 132"/>
          <p:cNvSpPr/>
          <p:nvPr/>
        </p:nvSpPr>
        <p:spPr>
          <a:xfrm>
            <a:off x="523875" y="45529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cultures were supplemented with astrocytes but lacked a balanced complement of inhibitory interneurons. They developed high spontaneous activity and synchronized bursts. This preparation made reduction of excessive excitability a relevant intervention, connecting cellular composition to the operating state of the network before pharmacological testing.</a:t>
            </a:r>
            <a:endParaRPr lang="en-US"/>
          </a:p>
        </p:txBody>
      </p:sp>
      <p:pic>
        <p:nvPicPr>
          <p:cNvPr id="118" name="Presenton Native Image 19" descr=""/>
          <p:cNvPicPr/>
          <p:nvPr/>
        </p:nvPicPr>
        <p:blipFill>
          <a:blip r:embed="rId2" cstate="none"/>
          <a:stretch>
            <a:fillRect/>
          </a:stretch>
        </p:blipFill>
        <p:spPr>
          <a:xfrm>
            <a:off x="6572250" y="1201378"/>
            <a:ext cx="4857750" cy="3340819"/>
          </a:xfrm>
          <a:prstGeom prst="rect">
            <a:avLst/>
          </a:prstGeom>
        </p:spPr>
      </p:pic>
      <p:sp>
        <p:nvSpPr>
          <p:cNvPr id="133" name="Shape 133"/>
          <p:cNvSpPr/>
          <p:nvPr/>
        </p:nvSpPr>
        <p:spPr>
          <a:xfrm>
            <a:off x="6572250" y="462915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1A–B. Neuronal and synaptic markers in the NGN2 culture.</a:t>
            </a:r>
            <a:endParaRPr lang="en-US"/>
          </a:p>
        </p:txBody>
      </p:sp>
      <p:sp>
        <p:nvSpPr>
          <p:cNvPr id="134" name="Shape 134"/>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Watmuff et al. (2025)</a:t>
            </a:r>
            <a:endParaRPr lang="en-US"/>
          </a:p>
        </p:txBody>
      </p:sp>
      <p:sp>
        <p:nvSpPr>
          <p:cNvPr id="135" name="Shape 135"/>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6" name="Shape 136"/>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Hyperactivity changes the network's operating state</a:t>
            </a:r>
            <a:endParaRPr lang="en-US"/>
          </a:p>
        </p:txBody>
      </p:sp>
      <p:sp>
        <p:nvSpPr>
          <p:cNvPr id="137" name="Shape 137"/>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burst</a:t>
            </a:r>
            <a:r>
              <a:rPr sz="1425" b="0" i="0">
                <a:solidFill>
                  <a:srgbClr val="000000"/>
                </a:solidFill>
                <a:latin typeface="Arial"/>
                <a:ea typeface="Arial"/>
              </a:rPr>
              <a:t xml:space="preserve"> is a cluster of spikes occurring close together in time. NGN2-derived cultures exhibited substantial spontaneous firing and coordinated network bursts. Such activity can repeatedly recruit large portions of the preparation, reducing the separation between activity in different output populations.</a:t>
            </a:r>
            <a:endParaRPr lang="en-US"/>
          </a:p>
        </p:txBody>
      </p:sp>
      <p:sp>
        <p:nvSpPr>
          <p:cNvPr id="138" name="Shape 138"/>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Watmuff and colleagues measured spontaneous activity alongside behavior in the Pong interface. This paired assay distinguished a drug's effect on baseline excitability from its effect on information processing during interaction with structured input. Recordings began from day 21 of differentiation.</a:t>
            </a:r>
            <a:endParaRPr lang="en-US"/>
          </a:p>
        </p:txBody>
      </p:sp>
      <p:sp>
        <p:nvSpPr>
          <p:cNvPr id="139" name="Shape 139"/>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Carbamazepine changed the raster pattern and reduced firing at the tested high concentration. A raster represents recorded spikes by their occurrence time and recording site. Pharmacological adjustment therefore altered the biological state entering the feedback loop, while the task interface supplied a separate measure of how that state supported control.</a:t>
            </a:r>
            <a:endParaRPr lang="en-US"/>
          </a:p>
        </p:txBody>
      </p:sp>
      <p:pic>
        <p:nvPicPr>
          <p:cNvPr id="119" name="Presenton Native Image 20" descr=""/>
          <p:cNvPicPr/>
          <p:nvPr/>
        </p:nvPicPr>
        <p:blipFill>
          <a:blip r:embed="rId2" cstate="none"/>
          <a:stretch>
            <a:fillRect/>
          </a:stretch>
        </p:blipFill>
        <p:spPr>
          <a:xfrm>
            <a:off x="6572250" y="1201151"/>
            <a:ext cx="4857750" cy="3236498"/>
          </a:xfrm>
          <a:prstGeom prst="rect">
            <a:avLst/>
          </a:prstGeom>
        </p:spPr>
      </p:pic>
      <p:sp>
        <p:nvSpPr>
          <p:cNvPr id="140" name="Shape 140"/>
          <p:cNvSpPr/>
          <p:nvPr/>
        </p:nvSpPr>
        <p:spPr>
          <a:xfrm>
            <a:off x="6572250" y="4524375"/>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1C. Population firing before and after carbamazepine.</a:t>
            </a:r>
            <a:endParaRPr lang="en-US"/>
          </a:p>
        </p:txBody>
      </p:sp>
      <p:sp>
        <p:nvSpPr>
          <p:cNvPr id="141" name="Shape 141"/>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Watmuff et al. (2025)</a:t>
            </a:r>
            <a:endParaRPr lang="en-US"/>
          </a:p>
        </p:txBody>
      </p:sp>
      <p:sp>
        <p:nvSpPr>
          <p:cNvPr id="142" name="Shape 142"/>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3" name="Shape 143"/>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Anti-seizure drugs alter firing differently</a:t>
            </a:r>
            <a:endParaRPr lang="en-US"/>
          </a:p>
        </p:txBody>
      </p:sp>
      <p:sp>
        <p:nvSpPr>
          <p:cNvPr id="144" name="Shape 144"/>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Pharmacological modulation</a:t>
            </a:r>
            <a:r>
              <a:rPr sz="1425" b="0" i="0">
                <a:solidFill>
                  <a:srgbClr val="000000"/>
                </a:solidFill>
                <a:latin typeface="Arial"/>
                <a:ea typeface="Arial"/>
              </a:rPr>
              <a:t xml:space="preserve"> changes neural activity by applying a compound that acts on molecular targets. The study tested carbamazepine at 2–200 µM, phenytoin at 10–33 µM, and perampanel at 1–10 µM. A micromolar concentration describes the amount of dissolved compound per unit volume.</a:t>
            </a:r>
            <a:endParaRPr lang="en-US"/>
          </a:p>
        </p:txBody>
      </p:sp>
      <p:sp>
        <p:nvSpPr>
          <p:cNvPr id="145" name="Shape 145"/>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compounds produced different firing-rate profiles in the NGN2 cultures. Carbamazepine reduced mean firing with increasing concentration, whereas the other treatments changed activity differently under the tested conditions. The effects depended on the interaction between drug target, dose, and network state.</a:t>
            </a:r>
            <a:endParaRPr lang="en-US"/>
          </a:p>
        </p:txBody>
      </p:sp>
      <p:sp>
        <p:nvSpPr>
          <p:cNvPr id="146" name="Shape 146"/>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Rest and gameplay exposed the cultures to different input conditions. Comparing both states connected spontaneous excitability with activity during task engagement. A compound's effect on baseline firing was consequently one part of its physiological profile, alongside the pattern of activity expressed during closed-loop stimulation.</a:t>
            </a:r>
            <a:endParaRPr lang="en-US"/>
          </a:p>
        </p:txBody>
      </p:sp>
      <p:pic>
        <p:nvPicPr>
          <p:cNvPr id="120" name="Presenton Native Image 21" descr=""/>
          <p:cNvPicPr/>
          <p:nvPr/>
        </p:nvPicPr>
        <p:blipFill>
          <a:blip r:embed="rId2" cstate="none"/>
          <a:stretch>
            <a:fillRect/>
          </a:stretch>
        </p:blipFill>
        <p:spPr>
          <a:xfrm>
            <a:off x="6572250" y="1201525"/>
            <a:ext cx="4857750" cy="2664251"/>
          </a:xfrm>
          <a:prstGeom prst="rect">
            <a:avLst/>
          </a:prstGeom>
        </p:spPr>
      </p:pic>
      <p:sp>
        <p:nvSpPr>
          <p:cNvPr id="147" name="Shape 147"/>
          <p:cNvSpPr/>
          <p:nvPr/>
        </p:nvSpPr>
        <p:spPr>
          <a:xfrm>
            <a:off x="6572250" y="3952875"/>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2A. Firing-rate distributions at rest and during gameplay.</a:t>
            </a:r>
            <a:endParaRPr lang="en-US"/>
          </a:p>
        </p:txBody>
      </p:sp>
      <p:sp>
        <p:nvSpPr>
          <p:cNvPr id="148" name="Shape 148"/>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Watmuff et al. (2025)</a:t>
            </a:r>
            <a:endParaRPr lang="en-US"/>
          </a:p>
        </p:txBody>
      </p:sp>
      <p:sp>
        <p:nvSpPr>
          <p:cNvPr id="149" name="Shape 149"/>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0" name="Shape 150"/>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Sodium-channel blockade changes spike generation</a:t>
            </a:r>
            <a:endParaRPr lang="en-US"/>
          </a:p>
        </p:txBody>
      </p:sp>
      <p:sp>
        <p:nvSpPr>
          <p:cNvPr id="151" name="Shape 151"/>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Voltage-gated sodium channels</a:t>
            </a:r>
            <a:r>
              <a:rPr sz="1425" b="0" i="0">
                <a:solidFill>
                  <a:srgbClr val="000000"/>
                </a:solidFill>
                <a:latin typeface="Arial"/>
                <a:ea typeface="Arial"/>
              </a:rPr>
              <a:t xml:space="preserve"> are membrane proteins that open in response to depolarization, a reduction in the electrical voltage difference across the membrane. Sodium entry through these channels contributes to the rapid rising phase of an action potential, the electrical event recorded as a spike.</a:t>
            </a:r>
            <a:endParaRPr lang="en-US"/>
          </a:p>
        </p:txBody>
      </p:sp>
      <p:sp>
        <p:nvSpPr>
          <p:cNvPr id="152" name="Shape 152"/>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Carbamazepine and phenytoin act on neuronal sodium channels. Altering channel availability changes the ability of neurons to generate and sustain activity. In the NGN2 preparation, increasing carbamazepine concentration reduced average firing, linking its molecular target to a measurable network response.</a:t>
            </a:r>
            <a:endParaRPr lang="en-US"/>
          </a:p>
        </p:txBody>
      </p:sp>
      <p:sp>
        <p:nvSpPr>
          <p:cNvPr id="153" name="Shape 153"/>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At 200 µM, carbamazepine also improved gameplay measures. The same compound therefore changed both excitability and task performance in this preparation. The task result links channel modulation to network-level control through the activity entering the paddle decoder, rather than treating lower firing as a sufficient behavioral outcome by itself.</a:t>
            </a:r>
            <a:endParaRPr lang="en-US"/>
          </a:p>
        </p:txBody>
      </p:sp>
      <p:pic>
        <p:nvPicPr>
          <p:cNvPr id="121" name="Presenton Native Image 22" descr=""/>
          <p:cNvPicPr/>
          <p:nvPr/>
        </p:nvPicPr>
        <p:blipFill>
          <a:blip r:embed="rId3" cstate="none"/>
          <a:stretch>
            <a:fillRect/>
          </a:stretch>
        </p:blipFill>
        <p:spPr>
          <a:xfrm>
            <a:off x="8068370" y="1200150"/>
            <a:ext cx="1865511" cy="2105025"/>
          </a:xfrm>
          <a:prstGeom prst="rect">
            <a:avLst/>
          </a:prstGeom>
        </p:spPr>
      </p:pic>
      <p:sp>
        <p:nvSpPr>
          <p:cNvPr id="154" name="Shape 154"/>
          <p:cNvSpPr/>
          <p:nvPr/>
        </p:nvSpPr>
        <p:spPr>
          <a:xfrm>
            <a:off x="6572250" y="33909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1D–E. Carbamazepine dose response and treatment firing rates.</a:t>
            </a:r>
            <a:endParaRPr lang="en-US"/>
          </a:p>
        </p:txBody>
      </p:sp>
      <p:pic>
        <p:nvPicPr>
          <p:cNvPr id="122" name="Presenton Native Image 23" descr=""/>
          <p:cNvPicPr/>
          <p:nvPr/>
        </p:nvPicPr>
        <p:blipFill>
          <a:blip r:embed="rId2" cstate="none"/>
          <a:stretch>
            <a:fillRect/>
          </a:stretch>
        </p:blipFill>
        <p:spPr>
          <a:xfrm>
            <a:off x="7715250" y="3914778"/>
            <a:ext cx="2562225" cy="1762118"/>
          </a:xfrm>
          <a:prstGeom prst="rect">
            <a:avLst/>
          </a:prstGeom>
        </p:spPr>
      </p:pic>
      <p:sp>
        <p:nvSpPr>
          <p:cNvPr id="155" name="Shape 155"/>
          <p:cNvSpPr/>
          <p:nvPr/>
        </p:nvSpPr>
        <p:spPr>
          <a:xfrm>
            <a:off x="6572250" y="5762625"/>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1A–B. Differentiation and neuronal tissue markers.</a:t>
            </a:r>
            <a:endParaRPr lang="en-US"/>
          </a:p>
        </p:txBody>
      </p:sp>
      <p:sp>
        <p:nvSpPr>
          <p:cNvPr id="156" name="Shape 156"/>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Watmuff et al. (2025)</a:t>
            </a:r>
            <a:endParaRPr lang="en-US"/>
          </a:p>
        </p:txBody>
      </p:sp>
      <p:sp>
        <p:nvSpPr>
          <p:cNvPr id="157" name="Shape 157"/>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8" name="Shape 158"/>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AMPA blockade alters synaptic recruitment</a:t>
            </a:r>
            <a:endParaRPr lang="en-US"/>
          </a:p>
        </p:txBody>
      </p:sp>
      <p:sp>
        <p:nvSpPr>
          <p:cNvPr id="159" name="Shape 159"/>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An </a:t>
            </a:r>
            <a:r>
              <a:rPr sz="1425" b="1" i="0">
                <a:solidFill>
                  <a:srgbClr val="3F4A5A"/>
                </a:solidFill>
                <a:latin typeface="Arial"/>
                <a:ea typeface="Arial"/>
              </a:rPr>
              <a:t>AMPA receptor</a:t>
            </a:r>
            <a:r>
              <a:rPr sz="1425" b="0" i="0">
                <a:solidFill>
                  <a:srgbClr val="000000"/>
                </a:solidFill>
                <a:latin typeface="Arial"/>
                <a:ea typeface="Arial"/>
              </a:rPr>
              <a:t xml:space="preserve"> is an ion-conducting glutamate receptor on a receiving cell. Glutamate binding recruits excitatory synaptic current, connecting transmitter release to changes in membrane voltage and the probability of subsequent firing. Repeated synaptic recruitment helps propagate activity through a network.</a:t>
            </a:r>
            <a:endParaRPr lang="en-US"/>
          </a:p>
        </p:txBody>
      </p:sp>
      <p:sp>
        <p:nvSpPr>
          <p:cNvPr id="160" name="Shape 160"/>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Perampanel is a noncompetitive AMPA receptor antagonist. An antagonist reduces a receptor's activity; noncompetitive action means that its inhibitory effect is not produced by simply competing with glutamate for the same binding site. Its target differs from the sodium channels acted on by carbamazepine and phenytoin.</a:t>
            </a:r>
            <a:endParaRPr lang="en-US"/>
          </a:p>
        </p:txBody>
      </p:sp>
      <p:sp>
        <p:nvSpPr>
          <p:cNvPr id="161" name="Shape 161"/>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drug study compared these distinct interventions using both electrophysiology and gameplay. Perampanel changed neural activity but did not produce the same task improvement as high-dose carbamazepine. Effects on excitatory transmission and effects on spike-generating channels therefore yielded different functional outcomes under the tested culture conditions.</a:t>
            </a:r>
            <a:endParaRPr lang="en-US"/>
          </a:p>
        </p:txBody>
      </p:sp>
      <p:pic>
        <p:nvPicPr>
          <p:cNvPr id="123" name="Presenton Native Image 24" descr=""/>
          <p:cNvPicPr/>
          <p:nvPr/>
        </p:nvPicPr>
        <p:blipFill>
          <a:blip r:embed="rId3" cstate="none"/>
          <a:stretch>
            <a:fillRect/>
          </a:stretch>
        </p:blipFill>
        <p:spPr>
          <a:xfrm>
            <a:off x="8134350" y="1201654"/>
            <a:ext cx="1733550" cy="2102017"/>
          </a:xfrm>
          <a:prstGeom prst="rect">
            <a:avLst/>
          </a:prstGeom>
        </p:spPr>
      </p:pic>
      <p:sp>
        <p:nvSpPr>
          <p:cNvPr id="162" name="Shape 162"/>
          <p:cNvSpPr/>
          <p:nvPr/>
        </p:nvSpPr>
        <p:spPr>
          <a:xfrm>
            <a:off x="6572250" y="339090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3A,C. Rally-length and hit-to-miss distributions.</a:t>
            </a:r>
            <a:endParaRPr lang="en-US"/>
          </a:p>
        </p:txBody>
      </p:sp>
      <p:pic>
        <p:nvPicPr>
          <p:cNvPr id="124" name="Presenton Native Image 25" descr=""/>
          <p:cNvPicPr/>
          <p:nvPr/>
        </p:nvPicPr>
        <p:blipFill>
          <a:blip r:embed="rId2" cstate="none"/>
          <a:stretch>
            <a:fillRect/>
          </a:stretch>
        </p:blipFill>
        <p:spPr>
          <a:xfrm>
            <a:off x="7715250" y="3914778"/>
            <a:ext cx="2562225" cy="1762118"/>
          </a:xfrm>
          <a:prstGeom prst="rect">
            <a:avLst/>
          </a:prstGeom>
        </p:spPr>
      </p:pic>
      <p:sp>
        <p:nvSpPr>
          <p:cNvPr id="163" name="Shape 163"/>
          <p:cNvSpPr/>
          <p:nvPr/>
        </p:nvSpPr>
        <p:spPr>
          <a:xfrm>
            <a:off x="6572250" y="5762625"/>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1A–B. Differentiation and neuronal tissue markers.</a:t>
            </a:r>
            <a:endParaRPr lang="en-US"/>
          </a:p>
        </p:txBody>
      </p:sp>
      <p:sp>
        <p:nvSpPr>
          <p:cNvPr id="164" name="Shape 164"/>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Watmuff et al. (2025)</a:t>
            </a:r>
            <a:endParaRPr lang="en-US"/>
          </a:p>
        </p:txBody>
      </p:sp>
      <p:sp>
        <p:nvSpPr>
          <p:cNvPr id="165" name="Shape 165"/>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6" name="Shape 166"/>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Carbamazepine changes burst structure</a:t>
            </a:r>
            <a:endParaRPr lang="en-US"/>
          </a:p>
        </p:txBody>
      </p:sp>
      <p:sp>
        <p:nvSpPr>
          <p:cNvPr id="167" name="Shape 167"/>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Watmuff and colleagues divided network bursts into small, medium, and large classes according to their recorded size. </a:t>
            </a:r>
            <a:r>
              <a:rPr sz="1425" b="1" i="0">
                <a:solidFill>
                  <a:srgbClr val="3F4A5A"/>
                </a:solidFill>
                <a:latin typeface="Arial"/>
                <a:ea typeface="Arial"/>
              </a:rPr>
              <a:t>Burst size</a:t>
            </a:r>
            <a:r>
              <a:rPr sz="1425" b="0" i="0">
                <a:solidFill>
                  <a:srgbClr val="000000"/>
                </a:solidFill>
                <a:latin typeface="Arial"/>
                <a:ea typeface="Arial"/>
              </a:rPr>
              <a:t xml:space="preserve"> describes the amount of activity recruited within a temporally clustered network event. Different sizes represent different degrees of population recruitment.</a:t>
            </a:r>
            <a:endParaRPr lang="en-US"/>
          </a:p>
        </p:txBody>
      </p:sp>
      <p:sp>
        <p:nvSpPr>
          <p:cNvPr id="168" name="Shape 168"/>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counts of these burst classes changed under pharmacological intervention and differed between rest and gameplay. Small bursts decreased during gameplay relative to rest in the tested groups. Carbamazepine also changed the distribution of larger events, with its effects varying across concentration.</a:t>
            </a:r>
            <a:endParaRPr lang="en-US"/>
          </a:p>
        </p:txBody>
      </p:sp>
      <p:sp>
        <p:nvSpPr>
          <p:cNvPr id="169" name="Shape 169"/>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classification distinguishes a network's organization from its average rate. Two conditions with similar overall firing can differ in whether spikes occur in many small events or fewer broadly recruited events. Drug effects on burst structure therefore describe how activity is assembled into population events during interaction with the game.</a:t>
            </a:r>
            <a:endParaRPr lang="en-US"/>
          </a:p>
        </p:txBody>
      </p:sp>
      <p:pic>
        <p:nvPicPr>
          <p:cNvPr id="125" name="Presenton Native Image 26" descr=""/>
          <p:cNvPicPr/>
          <p:nvPr/>
        </p:nvPicPr>
        <p:blipFill>
          <a:blip r:embed="rId2" cstate="none"/>
          <a:stretch>
            <a:fillRect/>
          </a:stretch>
        </p:blipFill>
        <p:spPr>
          <a:xfrm>
            <a:off x="6572250" y="1200899"/>
            <a:ext cx="4857750" cy="1255803"/>
          </a:xfrm>
          <a:prstGeom prst="rect">
            <a:avLst/>
          </a:prstGeom>
        </p:spPr>
      </p:pic>
      <p:sp>
        <p:nvSpPr>
          <p:cNvPr id="170" name="Shape 170"/>
          <p:cNvSpPr/>
          <p:nvPr/>
        </p:nvSpPr>
        <p:spPr>
          <a:xfrm>
            <a:off x="6572250" y="254317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4G–I. Small, medium, and large bursts across carbamazepine doses.</a:t>
            </a:r>
            <a:endParaRPr lang="en-US"/>
          </a:p>
        </p:txBody>
      </p:sp>
      <p:sp>
        <p:nvSpPr>
          <p:cNvPr id="171" name="Shape 171"/>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Watmuff et al. (2025)</a:t>
            </a:r>
            <a:endParaRPr lang="en-US"/>
          </a:p>
        </p:txBody>
      </p:sp>
      <p:sp>
        <p:nvSpPr>
          <p:cNvPr id="172" name="Shape 172"/>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73" name="Shape 173"/>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Carbamazepine improves task performance</a:t>
            </a:r>
            <a:endParaRPr lang="en-US"/>
          </a:p>
        </p:txBody>
      </p:sp>
      <p:sp>
        <p:nvSpPr>
          <p:cNvPr id="174" name="Shape 174"/>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At 200 µM, carbamazepine improved average rally length in the NGN2 culture assay. The treatment group also produced more successful returns and fewer immediate failures than untreated cultures and other tested treatments. The measured behavior was control of a simulated paddle through neural output.</a:t>
            </a:r>
            <a:endParaRPr lang="en-US"/>
          </a:p>
        </p:txBody>
      </p:sp>
      <p:sp>
        <p:nvSpPr>
          <p:cNvPr id="175" name="Shape 175"/>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experiment compared the first and second halves of 15-min recordings. Only the high-dose carbamazepine condition showed clear improvement over time in average rally length normalized to rest performance. Untreated cultures lacked the same within-session learning effect in this preparation.</a:t>
            </a:r>
            <a:endParaRPr lang="en-US"/>
          </a:p>
        </p:txBody>
      </p:sp>
      <p:sp>
        <p:nvSpPr>
          <p:cNvPr id="176" name="Shape 176"/>
          <p:cNvSpPr/>
          <p:nvPr/>
        </p:nvSpPr>
        <p:spPr>
          <a:xfrm>
            <a:off x="523875" y="3867150"/>
            <a:ext cx="5591175" cy="16002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Network operating state</a:t>
            </a:r>
            <a:r>
              <a:rPr sz="1425" b="0" i="0">
                <a:solidFill>
                  <a:srgbClr val="000000"/>
                </a:solidFill>
                <a:latin typeface="Arial"/>
                <a:ea typeface="Arial"/>
              </a:rPr>
              <a:t xml:space="preserve"> refers to the pattern of excitability and coordinated activity present under particular conditions. The authors propose that excessive excitability limited useful processing in the untreated cultures. Carbamazepine's joint effects on firing and gameplay connect adjustment of that state with improved adaptive performance under the assay's stimulation and decoding rules.</a:t>
            </a:r>
            <a:endParaRPr lang="en-US"/>
          </a:p>
        </p:txBody>
      </p:sp>
      <p:pic>
        <p:nvPicPr>
          <p:cNvPr id="126" name="Presenton Native Image 27" descr=""/>
          <p:cNvPicPr/>
          <p:nvPr/>
        </p:nvPicPr>
        <p:blipFill>
          <a:blip r:embed="rId2" cstate="none"/>
          <a:stretch>
            <a:fillRect/>
          </a:stretch>
        </p:blipFill>
        <p:spPr>
          <a:xfrm>
            <a:off x="6574886" y="1200150"/>
            <a:ext cx="4852478" cy="3819525"/>
          </a:xfrm>
          <a:prstGeom prst="rect">
            <a:avLst/>
          </a:prstGeom>
        </p:spPr>
      </p:pic>
      <p:sp>
        <p:nvSpPr>
          <p:cNvPr id="177" name="Shape 177"/>
          <p:cNvSpPr/>
          <p:nvPr/>
        </p:nvSpPr>
        <p:spPr>
          <a:xfrm>
            <a:off x="6572250" y="510540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3G. Within-session rally changes under carbamazepine.</a:t>
            </a:r>
            <a:endParaRPr lang="en-US"/>
          </a:p>
        </p:txBody>
      </p:sp>
      <p:sp>
        <p:nvSpPr>
          <p:cNvPr id="178" name="Shape 178"/>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Watmuff et al. (2025)</a:t>
            </a:r>
            <a:endParaRPr lang="en-US"/>
          </a:p>
        </p:txBody>
      </p:sp>
      <p:sp>
        <p:nvSpPr>
          <p:cNvPr id="179" name="Shape 179"/>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80" name="Shape 180"/>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Drug effects depend on network state</a:t>
            </a:r>
            <a:endParaRPr lang="en-US"/>
          </a:p>
        </p:txBody>
      </p:sp>
      <p:sp>
        <p:nvSpPr>
          <p:cNvPr id="181" name="Shape 181"/>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same neural culture encounters different conditions at rest and during gameplay. Spontaneous recording samples internally generated activity, whereas gameplay adds structured input and action-dependent feedback. Drug effects can therefore depend on whether the network is interacting with the task.</a:t>
            </a:r>
            <a:endParaRPr lang="en-US"/>
          </a:p>
        </p:txBody>
      </p:sp>
      <p:sp>
        <p:nvSpPr>
          <p:cNvPr id="182" name="Shape 182"/>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Watmuff and colleagues represented population activity in a reduced-dimensional space, retaining relationships among activity patterns while reducing the number of coordinates used to describe them. Early and later gameplay activity occupied more differentiated regions than corresponding resting activity in several conditions.</a:t>
            </a:r>
            <a:endParaRPr lang="en-US"/>
          </a:p>
        </p:txBody>
      </p:sp>
      <p:sp>
        <p:nvSpPr>
          <p:cNvPr id="183" name="Shape 183"/>
          <p:cNvSpPr/>
          <p:nvPr/>
        </p:nvSpPr>
        <p:spPr>
          <a:xfrm>
            <a:off x="523875" y="40957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Carbamazepine's effects on task performance accompanied changes in network activity organization. Other drugs altered neural dynamics without producing the same improvement. Combining behavioral and electrophysiological measurements therefore connects molecular intervention to the functional consequences of activity in a specified environment, rather than assigning performance from resting firing alone.</a:t>
            </a:r>
            <a:endParaRPr lang="en-US"/>
          </a:p>
        </p:txBody>
      </p:sp>
      <p:pic>
        <p:nvPicPr>
          <p:cNvPr id="127" name="Presenton Native Image 28" descr=""/>
          <p:cNvPicPr/>
          <p:nvPr/>
        </p:nvPicPr>
        <p:blipFill>
          <a:blip r:embed="rId2" cstate="none"/>
          <a:stretch>
            <a:fillRect/>
          </a:stretch>
        </p:blipFill>
        <p:spPr>
          <a:xfrm>
            <a:off x="6574448" y="1200150"/>
            <a:ext cx="4853354" cy="2628900"/>
          </a:xfrm>
          <a:prstGeom prst="rect">
            <a:avLst/>
          </a:prstGeom>
        </p:spPr>
      </p:pic>
      <p:sp>
        <p:nvSpPr>
          <p:cNvPr id="184" name="Shape 184"/>
          <p:cNvSpPr/>
          <p:nvPr/>
        </p:nvSpPr>
        <p:spPr>
          <a:xfrm>
            <a:off x="6572250" y="391477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Watmuff et al. (2025), Fig. 6A. Population activity embeddings at rest and during gameplay.</a:t>
            </a:r>
            <a:endParaRPr lang="en-US"/>
          </a:p>
        </p:txBody>
      </p:sp>
      <p:sp>
        <p:nvSpPr>
          <p:cNvPr id="185" name="Shape 185"/>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Watmuff et al. (2025)</a:t>
            </a:r>
            <a:endParaRPr lang="en-US"/>
          </a:p>
        </p:txBody>
      </p:sp>
      <p:sp>
        <p:nvSpPr>
          <p:cNvPr id="186" name="Shape 186"/>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87" name="Shape 187"/>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Connectivity summarizes coordinated activity</a:t>
            </a:r>
            <a:endParaRPr lang="en-US"/>
          </a:p>
        </p:txBody>
      </p:sp>
      <p:sp>
        <p:nvSpPr>
          <p:cNvPr id="188" name="Shape 188"/>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Functional connectivity</a:t>
            </a:r>
            <a:r>
              <a:rPr sz="1425" b="0" i="0">
                <a:solidFill>
                  <a:srgbClr val="000000"/>
                </a:solidFill>
                <a:latin typeface="Arial"/>
                <a:ea typeface="Arial"/>
              </a:rPr>
              <a:t xml:space="preserve"> is a relationship inferred from activity recorded at different sites. Khajehnejad and colleagues calculated correlations among representations of neural spiking, treating recording channels as nodes and their activity relationships as links in a network graph.</a:t>
            </a:r>
            <a:endParaRPr lang="en-US"/>
          </a:p>
        </p:txBody>
      </p:sp>
      <p:sp>
        <p:nvSpPr>
          <p:cNvPr id="189" name="Shape 189"/>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analysis compared early and late portions of rest and gameplay recordings. Link colors indicated whether the inferred relationship increased or decreased. Gameplay produced more extensive changes in these relationships than rest, connecting environmental interaction to reorganized population activity.</a:t>
            </a:r>
            <a:endParaRPr lang="en-US"/>
          </a:p>
        </p:txBody>
      </p:sp>
      <p:sp>
        <p:nvSpPr>
          <p:cNvPr id="190" name="Shape 190"/>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 functional link is an activity relationship rather than a counted anatomical synapse. Correlated sites can share input or participate in wider network dynamics. The graph therefore describes how recorded populations function together, while its changes identify a task-associated reorganization that can be related to the biological controller's evolving output.</a:t>
            </a:r>
            <a:endParaRPr lang="en-US"/>
          </a:p>
        </p:txBody>
      </p:sp>
      <p:pic>
        <p:nvPicPr>
          <p:cNvPr id="128" name="Presenton Native Image 29" descr=""/>
          <p:cNvPicPr/>
          <p:nvPr/>
        </p:nvPicPr>
        <p:blipFill>
          <a:blip r:embed="rId2" cstate="none"/>
          <a:stretch>
            <a:fillRect/>
          </a:stretch>
        </p:blipFill>
        <p:spPr>
          <a:xfrm>
            <a:off x="6574491" y="1200150"/>
            <a:ext cx="4853268" cy="1162050"/>
          </a:xfrm>
          <a:prstGeom prst="rect">
            <a:avLst/>
          </a:prstGeom>
        </p:spPr>
      </p:pic>
      <p:sp>
        <p:nvSpPr>
          <p:cNvPr id="191" name="Shape 191"/>
          <p:cNvSpPr/>
          <p:nvPr/>
        </p:nvSpPr>
        <p:spPr>
          <a:xfrm>
            <a:off x="6572250" y="244792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Khajehnejad et al. (2025), Fig. 4A–B. Changes in inferred connectivity during gameplay and rest.</a:t>
            </a:r>
            <a:endParaRPr lang="en-US"/>
          </a:p>
        </p:txBody>
      </p:sp>
      <p:sp>
        <p:nvSpPr>
          <p:cNvPr id="192" name="Shape 192"/>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Khajehnejad et al. (2025)</a:t>
            </a:r>
            <a:endParaRPr lang="en-US"/>
          </a:p>
        </p:txBody>
      </p:sp>
      <p:sp>
        <p:nvSpPr>
          <p:cNvPr id="193" name="Shape 193"/>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94" name="Shape 194"/>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Embeddings distinguish early and late gameplay</a:t>
            </a:r>
            <a:endParaRPr lang="en-US"/>
          </a:p>
        </p:txBody>
      </p:sp>
      <p:sp>
        <p:nvSpPr>
          <p:cNvPr id="195" name="Shape 195"/>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Dimensionality reduction</a:t>
            </a:r>
            <a:r>
              <a:rPr sz="1425" b="0" i="0">
                <a:solidFill>
                  <a:srgbClr val="000000"/>
                </a:solidFill>
                <a:latin typeface="Arial"/>
                <a:ea typeface="Arial"/>
              </a:rPr>
              <a:t xml:space="preserve"> represents complex activity with fewer coordinates while retaining selected relationships among observations. The study applied t-SNE and Isomap to neural recordings, using two different algorithms to examine the organization of population activity during rest and gameplay.</a:t>
            </a:r>
            <a:endParaRPr lang="en-US"/>
          </a:p>
        </p:txBody>
      </p:sp>
      <p:sp>
        <p:nvSpPr>
          <p:cNvPr id="196" name="Shape 196"/>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Early and late gameplay observations separated in the reduced-dimensional representations, whereas corresponding rest observations overlapped more strongly. The result connects time in the interactive task to changes in the structure of recorded activity. It extends the analysis beyond a single population-average firing rate.</a:t>
            </a:r>
            <a:endParaRPr lang="en-US"/>
          </a:p>
        </p:txBody>
      </p:sp>
      <p:sp>
        <p:nvSpPr>
          <p:cNvPr id="197" name="Shape 197"/>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An </a:t>
            </a:r>
            <a:r>
              <a:rPr sz="1425" b="1" i="0">
                <a:solidFill>
                  <a:srgbClr val="3F4A5A"/>
                </a:solidFill>
                <a:latin typeface="Arial"/>
                <a:ea typeface="Arial"/>
              </a:rPr>
              <a:t>embedding</a:t>
            </a:r>
            <a:r>
              <a:rPr sz="1425" b="0" i="0">
                <a:solidFill>
                  <a:srgbClr val="000000"/>
                </a:solidFill>
                <a:latin typeface="Arial"/>
                <a:ea typeface="Arial"/>
              </a:rPr>
              <a:t xml:space="preserve"> is the resulting coordinate representation. Its distances reflect the relationships emphasized by the chosen algorithm. Agreement between the two representations supported the distinction between evolving task activity and comparatively stable rest activity, linking changes in population state to the period in which adaptive gameplay occurred.</a:t>
            </a:r>
            <a:endParaRPr lang="en-US"/>
          </a:p>
        </p:txBody>
      </p:sp>
      <p:pic>
        <p:nvPicPr>
          <p:cNvPr id="129" name="Presenton Native Image 30" descr=""/>
          <p:cNvPicPr/>
          <p:nvPr/>
        </p:nvPicPr>
        <p:blipFill>
          <a:blip r:embed="rId2" cstate="none"/>
          <a:stretch>
            <a:fillRect/>
          </a:stretch>
        </p:blipFill>
        <p:spPr>
          <a:xfrm>
            <a:off x="6575438" y="1200150"/>
            <a:ext cx="4851375" cy="1485900"/>
          </a:xfrm>
          <a:prstGeom prst="rect">
            <a:avLst/>
          </a:prstGeom>
        </p:spPr>
      </p:pic>
      <p:sp>
        <p:nvSpPr>
          <p:cNvPr id="198" name="Shape 198"/>
          <p:cNvSpPr/>
          <p:nvPr/>
        </p:nvSpPr>
        <p:spPr>
          <a:xfrm>
            <a:off x="6572250" y="277177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Khajehnejad et al. (2025), Fig. 3A–D. Reduced-dimensional representations of gameplay and rest.</a:t>
            </a:r>
            <a:endParaRPr lang="en-US"/>
          </a:p>
        </p:txBody>
      </p:sp>
      <p:sp>
        <p:nvSpPr>
          <p:cNvPr id="199" name="Shape 199"/>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Khajehnejad et al. (2025)</a:t>
            </a:r>
            <a:endParaRPr lang="en-US"/>
          </a:p>
        </p:txBody>
      </p:sp>
      <p:sp>
        <p:nvSpPr>
          <p:cNvPr id="200" name="Shape 200"/>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1" name="Shape 201"/>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Graphs describe population organization</a:t>
            </a:r>
            <a:endParaRPr lang="en-US"/>
          </a:p>
        </p:txBody>
      </p:sp>
      <p:sp>
        <p:nvSpPr>
          <p:cNvPr id="202" name="Shape 202"/>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network graph</a:t>
            </a:r>
            <a:r>
              <a:rPr sz="1425" b="0" i="0">
                <a:solidFill>
                  <a:srgbClr val="000000"/>
                </a:solidFill>
                <a:latin typeface="Arial"/>
                <a:ea typeface="Arial"/>
              </a:rPr>
              <a:t xml:space="preserve"> represents recording sites as nodes and inferred activity relationships as edges. The study constructed graphs from high-density recordings and compared summary properties during rest and gameplay. These properties described how links were distributed across the recorded population.</a:t>
            </a:r>
            <a:endParaRPr lang="en-US"/>
          </a:p>
        </p:txBody>
      </p:sp>
      <p:sp>
        <p:nvSpPr>
          <p:cNvPr id="203" name="Shape 203"/>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Density</a:t>
            </a:r>
            <a:r>
              <a:rPr sz="1425" b="0" i="0">
                <a:solidFill>
                  <a:srgbClr val="000000"/>
                </a:solidFill>
                <a:latin typeface="Arial"/>
                <a:ea typeface="Arial"/>
              </a:rPr>
              <a:t xml:space="preserve"> is the fraction of possible links retained in the graph. </a:t>
            </a:r>
            <a:r>
              <a:rPr sz="1425" b="1" i="0">
                <a:solidFill>
                  <a:srgbClr val="3F4A5A"/>
                </a:solidFill>
                <a:latin typeface="Arial"/>
                <a:ea typeface="Arial"/>
              </a:rPr>
              <a:t>Clustering</a:t>
            </a:r>
            <a:r>
              <a:rPr sz="1425" b="0" i="0">
                <a:solidFill>
                  <a:srgbClr val="000000"/>
                </a:solidFill>
                <a:latin typeface="Arial"/>
                <a:ea typeface="Arial"/>
              </a:rPr>
              <a:t xml:space="preserve"> describes the tendency for connected nodes to participate in locally interconnected groups. Both measures relate population coordination to the structure of the inferred network rather than to the number of spikes alone.</a:t>
            </a:r>
            <a:endParaRPr lang="en-US"/>
          </a:p>
        </p:txBody>
      </p:sp>
      <p:sp>
        <p:nvSpPr>
          <p:cNvPr id="204" name="Shape 204"/>
          <p:cNvSpPr/>
          <p:nvPr/>
        </p:nvSpPr>
        <p:spPr>
          <a:xfrm>
            <a:off x="523875" y="38671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Gameplay and rest differed in these summary properties, including stronger inferred connectivity during gameplay. The graph measurements connect the local activity sampled by electrodes with a description of network-wide organization. They complement behavioral measures by characterizing the pattern of population interactions expressed under each environmental condition.</a:t>
            </a:r>
            <a:endParaRPr lang="en-US"/>
          </a:p>
        </p:txBody>
      </p:sp>
      <p:pic>
        <p:nvPicPr>
          <p:cNvPr id="130" name="Presenton Native Image 31" descr=""/>
          <p:cNvPicPr/>
          <p:nvPr/>
        </p:nvPicPr>
        <p:blipFill>
          <a:blip r:embed="rId2" cstate="none"/>
          <a:stretch>
            <a:fillRect/>
          </a:stretch>
        </p:blipFill>
        <p:spPr>
          <a:xfrm>
            <a:off x="6576322" y="1200150"/>
            <a:ext cx="4849605" cy="2457450"/>
          </a:xfrm>
          <a:prstGeom prst="rect">
            <a:avLst/>
          </a:prstGeom>
        </p:spPr>
      </p:pic>
      <p:sp>
        <p:nvSpPr>
          <p:cNvPr id="205" name="Shape 205"/>
          <p:cNvSpPr/>
          <p:nvPr/>
        </p:nvSpPr>
        <p:spPr>
          <a:xfrm>
            <a:off x="6572250" y="374332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Khajehnejad et al. (2025), Fig. 2A–I. Network summary measures during rest and gameplay.</a:t>
            </a:r>
            <a:endParaRPr lang="en-US"/>
          </a:p>
        </p:txBody>
      </p:sp>
      <p:sp>
        <p:nvSpPr>
          <p:cNvPr id="206" name="Shape 206"/>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Khajehnejad et al. (2025)</a:t>
            </a:r>
            <a:endParaRPr lang="en-US"/>
          </a:p>
        </p:txBody>
      </p:sp>
      <p:sp>
        <p:nvSpPr>
          <p:cNvPr id="207" name="Shape 207"/>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8" name="Shape 208"/>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Task-associated links reorganize over time</a:t>
            </a:r>
            <a:endParaRPr lang="en-US"/>
          </a:p>
        </p:txBody>
      </p:sp>
      <p:sp>
        <p:nvSpPr>
          <p:cNvPr id="209" name="Shape 209"/>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Khajehnejad and colleagues divided recordings into intervals and examined the evolution of inferred connectivity. Their reduced network retained representative recording channels selected from the larger array, allowing relationships among populations to be compared across time in a consistent arrangement.</a:t>
            </a:r>
            <a:endParaRPr lang="en-US"/>
          </a:p>
        </p:txBody>
      </p:sp>
      <p:sp>
        <p:nvSpPr>
          <p:cNvPr id="210" name="Shape 210"/>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During gameplay, average connection weight and local clustering increased, while modularity decreased. Characteristic path length was comparatively stable. </a:t>
            </a:r>
            <a:r>
              <a:rPr sz="1425" b="1" i="0">
                <a:solidFill>
                  <a:srgbClr val="3F4A5A"/>
                </a:solidFill>
                <a:latin typeface="Arial"/>
                <a:ea typeface="Arial"/>
              </a:rPr>
              <a:t>Modularity</a:t>
            </a:r>
            <a:r>
              <a:rPr sz="1425" b="0" i="0">
                <a:solidFill>
                  <a:srgbClr val="000000"/>
                </a:solidFill>
                <a:latin typeface="Arial"/>
                <a:ea typeface="Arial"/>
              </a:rPr>
              <a:t xml:space="preserve"> measures separation into relatively strongly connected groups. </a:t>
            </a:r>
            <a:r>
              <a:rPr sz="1425" b="1" i="0">
                <a:solidFill>
                  <a:srgbClr val="3F4A5A"/>
                </a:solidFill>
                <a:latin typeface="Arial"/>
                <a:ea typeface="Arial"/>
              </a:rPr>
              <a:t>Path length</a:t>
            </a:r>
            <a:r>
              <a:rPr sz="1425" b="0" i="0">
                <a:solidFill>
                  <a:srgbClr val="000000"/>
                </a:solidFill>
                <a:latin typeface="Arial"/>
                <a:ea typeface="Arial"/>
              </a:rPr>
              <a:t xml:space="preserve"> describes the number of graph links required to connect nodes through the inferred network.</a:t>
            </a:r>
            <a:endParaRPr lang="en-US"/>
          </a:p>
        </p:txBody>
      </p:sp>
      <p:sp>
        <p:nvSpPr>
          <p:cNvPr id="211" name="Shape 211"/>
          <p:cNvSpPr/>
          <p:nvPr/>
        </p:nvSpPr>
        <p:spPr>
          <a:xfrm>
            <a:off x="523875" y="40957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These changes describe a more integrated pattern of recorded activity during interaction. Reduced modular separation accompanied stronger local relationships, without a corresponding reliable change in path length. The measures supply different aspects of population organization, connecting adaptive task engagement with changes in how the culture's activity was coordinated across recording sites.</a:t>
            </a:r>
            <a:endParaRPr lang="en-US"/>
          </a:p>
        </p:txBody>
      </p:sp>
      <p:pic>
        <p:nvPicPr>
          <p:cNvPr id="131" name="Presenton Native Image 32" descr=""/>
          <p:cNvPicPr/>
          <p:nvPr/>
        </p:nvPicPr>
        <p:blipFill>
          <a:blip r:embed="rId2" cstate="none"/>
          <a:stretch>
            <a:fillRect/>
          </a:stretch>
        </p:blipFill>
        <p:spPr>
          <a:xfrm>
            <a:off x="6574416" y="1200150"/>
            <a:ext cx="4853417" cy="2371725"/>
          </a:xfrm>
          <a:prstGeom prst="rect">
            <a:avLst/>
          </a:prstGeom>
        </p:spPr>
      </p:pic>
      <p:sp>
        <p:nvSpPr>
          <p:cNvPr id="212" name="Shape 212"/>
          <p:cNvSpPr/>
          <p:nvPr/>
        </p:nvSpPr>
        <p:spPr>
          <a:xfrm>
            <a:off x="6572250" y="36576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Khajehnejad et al. (2025), Fig. 4A–G. Network properties across successive recording intervals.</a:t>
            </a:r>
            <a:endParaRPr lang="en-US"/>
          </a:p>
        </p:txBody>
      </p:sp>
      <p:sp>
        <p:nvSpPr>
          <p:cNvPr id="213" name="Shape 213"/>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Khajehnejad et al. (2025)</a:t>
            </a:r>
            <a:endParaRPr lang="en-US"/>
          </a:p>
        </p:txBody>
      </p:sp>
      <p:sp>
        <p:nvSpPr>
          <p:cNvPr id="214" name="Shape 214"/>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15" name="Shape 215"/>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Comparisons match limited training experience</a:t>
            </a:r>
            <a:endParaRPr lang="en-US"/>
          </a:p>
        </p:txBody>
      </p:sp>
      <p:sp>
        <p:nvSpPr>
          <p:cNvPr id="216" name="Shape 216"/>
          <p:cNvSpPr/>
          <p:nvPr/>
        </p:nvSpPr>
        <p:spPr>
          <a:xfrm>
            <a:off x="523875" y="1200150"/>
            <a:ext cx="5591175" cy="13716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Reinforcement learning</a:t>
            </a:r>
            <a:r>
              <a:rPr sz="1425" b="0" i="0">
                <a:solidFill>
                  <a:srgbClr val="000000"/>
                </a:solidFill>
                <a:latin typeface="Arial"/>
                <a:ea typeface="Arial"/>
              </a:rPr>
              <a:t xml:space="preserve"> adjusts an artificial controller through the consequences of its actions. Khajehnejad and colleagues compared the biological Pong system with Deep Q Network, Advantage Actor-Critic, and Proximal Policy Optimization algorithms. These algorithms use different procedures to improve action selection from experience.</a:t>
            </a:r>
            <a:endParaRPr lang="en-US"/>
          </a:p>
        </p:txBody>
      </p:sp>
      <p:sp>
        <p:nvSpPr>
          <p:cNvPr id="217" name="Shape 217"/>
          <p:cNvSpPr/>
          <p:nvPr/>
        </p:nvSpPr>
        <p:spPr>
          <a:xfrm>
            <a:off x="523875" y="27622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The comparison limited training to 70 episodes, approximating the experience available during a 20-min biological gameplay session. </a:t>
            </a:r>
            <a:r>
              <a:rPr sz="1425" b="1" i="0">
                <a:solidFill>
                  <a:srgbClr val="3F4A5A"/>
                </a:solidFill>
                <a:latin typeface="Arial"/>
                <a:ea typeface="Arial"/>
              </a:rPr>
              <a:t>Sample efficiency</a:t>
            </a:r>
            <a:r>
              <a:rPr sz="1425" b="0" i="0">
                <a:solidFill>
                  <a:srgbClr val="000000"/>
                </a:solidFill>
                <a:latin typeface="Arial"/>
                <a:ea typeface="Arial"/>
              </a:rPr>
              <a:t xml:space="preserve"> describes how much experience is required to improve performance. The experiment therefore tested learning under a restricted experience budget rather than unrestricted eventual performance.</a:t>
            </a:r>
            <a:endParaRPr lang="en-US"/>
          </a:p>
        </p:txBody>
      </p:sp>
      <p:sp>
        <p:nvSpPr>
          <p:cNvPr id="218" name="Shape 218"/>
          <p:cNvSpPr/>
          <p:nvPr/>
        </p:nvSpPr>
        <p:spPr>
          <a:xfrm>
            <a:off x="523875" y="43243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With image-based input, the biological cultures achieved more successful returns and fewer immediate failures than the tested artificial controllers. This result connects performance to the training regime: a controller that learns well after extensive training may perform differently when its available experience is constrained to the experiment's short interaction period.</a:t>
            </a:r>
            <a:endParaRPr lang="en-US"/>
          </a:p>
        </p:txBody>
      </p:sp>
      <p:pic>
        <p:nvPicPr>
          <p:cNvPr id="132" name="Presenton Native Image 33" descr=""/>
          <p:cNvPicPr/>
          <p:nvPr/>
        </p:nvPicPr>
        <p:blipFill>
          <a:blip r:embed="rId2" cstate="none"/>
          <a:stretch>
            <a:fillRect/>
          </a:stretch>
        </p:blipFill>
        <p:spPr>
          <a:xfrm>
            <a:off x="6578974" y="1200150"/>
            <a:ext cx="4844303" cy="1314450"/>
          </a:xfrm>
          <a:prstGeom prst="rect">
            <a:avLst/>
          </a:prstGeom>
        </p:spPr>
      </p:pic>
      <p:sp>
        <p:nvSpPr>
          <p:cNvPr id="219" name="Shape 219"/>
          <p:cNvSpPr/>
          <p:nvPr/>
        </p:nvSpPr>
        <p:spPr>
          <a:xfrm>
            <a:off x="6572250" y="260032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Khajehnejad et al. (2025), Fig. 5B–D. Performance trajectories with image-based algorithm input.</a:t>
            </a:r>
            <a:endParaRPr lang="en-US"/>
          </a:p>
        </p:txBody>
      </p:sp>
      <p:sp>
        <p:nvSpPr>
          <p:cNvPr id="220" name="Shape 220"/>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Khajehnejad et al. (2025)</a:t>
            </a:r>
            <a:endParaRPr lang="en-US"/>
          </a:p>
        </p:txBody>
      </p:sp>
      <p:sp>
        <p:nvSpPr>
          <p:cNvPr id="221" name="Shape 221"/>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22" name="Shape 222"/>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Input representation changes the artificial task</a:t>
            </a:r>
            <a:endParaRPr lang="en-US"/>
          </a:p>
        </p:txBody>
      </p:sp>
      <p:sp>
        <p:nvSpPr>
          <p:cNvPr id="223" name="Shape 223"/>
          <p:cNvSpPr/>
          <p:nvPr/>
        </p:nvSpPr>
        <p:spPr>
          <a:xfrm>
            <a:off x="523875" y="1200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The comparison examined three artificial input designs: a pixel image, numerical paddle-and-ball positions, and ball position alone. </a:t>
            </a:r>
            <a:r>
              <a:rPr sz="1425" b="1" i="0">
                <a:solidFill>
                  <a:srgbClr val="3F4A5A"/>
                </a:solidFill>
                <a:latin typeface="Arial"/>
                <a:ea typeface="Arial"/>
              </a:rPr>
              <a:t>Input representation</a:t>
            </a:r>
            <a:r>
              <a:rPr sz="1425" b="0" i="0">
                <a:solidFill>
                  <a:srgbClr val="000000"/>
                </a:solidFill>
                <a:latin typeface="Arial"/>
                <a:ea typeface="Arial"/>
              </a:rPr>
              <a:t xml:space="preserve"> specifies which environmental variables enter a controller and how they are expressed. Changing it alters the information available for selecting an action.</a:t>
            </a:r>
            <a:endParaRPr lang="en-US"/>
          </a:p>
        </p:txBody>
      </p:sp>
      <p:sp>
        <p:nvSpPr>
          <p:cNvPr id="224" name="Shape 224"/>
          <p:cNvSpPr/>
          <p:nvPr/>
        </p:nvSpPr>
        <p:spPr>
          <a:xfrm>
            <a:off x="523875" y="27622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numerical paddle-and-ball design supplied explicit coordinates, reducing the burden of extracting position from an image. The biological controller instead received electrical stimulation encoding ball position and approach. These interfaces provided related task information through different physical and computational forms.</a:t>
            </a:r>
            <a:endParaRPr lang="en-US"/>
          </a:p>
        </p:txBody>
      </p:sp>
      <p:sp>
        <p:nvSpPr>
          <p:cNvPr id="225" name="Shape 225"/>
          <p:cNvSpPr/>
          <p:nvPr/>
        </p:nvSpPr>
        <p:spPr>
          <a:xfrm>
            <a:off x="523875" y="43243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Testing several input designs addressed whether the artificial controllers' performance depended on high-dimensional image processing. The comparison connected algorithm performance to the variables entering the system, rather than assigning learning efficiency solely from one sensory representation. Environmental information and action rules remain part of the experimental definition of each controller.</a:t>
            </a:r>
            <a:endParaRPr lang="en-US"/>
          </a:p>
        </p:txBody>
      </p:sp>
      <p:pic>
        <p:nvPicPr>
          <p:cNvPr id="133" name="Presenton Native Image 34" descr=""/>
          <p:cNvPicPr/>
          <p:nvPr/>
        </p:nvPicPr>
        <p:blipFill>
          <a:blip r:embed="rId2" cstate="none"/>
          <a:stretch>
            <a:fillRect/>
          </a:stretch>
        </p:blipFill>
        <p:spPr>
          <a:xfrm>
            <a:off x="6572250" y="1200315"/>
            <a:ext cx="4857750" cy="1437944"/>
          </a:xfrm>
          <a:prstGeom prst="rect">
            <a:avLst/>
          </a:prstGeom>
        </p:spPr>
      </p:pic>
      <p:sp>
        <p:nvSpPr>
          <p:cNvPr id="226" name="Shape 226"/>
          <p:cNvSpPr/>
          <p:nvPr/>
        </p:nvSpPr>
        <p:spPr>
          <a:xfrm>
            <a:off x="6572250" y="272415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Khajehnejad et al. (2025), Fig. 6A. Biological input and numerical paddle-and-ball input.</a:t>
            </a:r>
            <a:endParaRPr lang="en-US"/>
          </a:p>
        </p:txBody>
      </p:sp>
      <p:sp>
        <p:nvSpPr>
          <p:cNvPr id="227" name="Shape 227"/>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Khajehnejad et al. (2025)</a:t>
            </a:r>
            <a:endParaRPr lang="en-US"/>
          </a:p>
        </p:txBody>
      </p:sp>
      <p:sp>
        <p:nvSpPr>
          <p:cNvPr id="228" name="Shape 228"/>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29" name="Shape 229"/>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Performance gains persist across input designs</a:t>
            </a:r>
            <a:endParaRPr lang="en-US"/>
          </a:p>
        </p:txBody>
      </p:sp>
      <p:sp>
        <p:nvSpPr>
          <p:cNvPr id="230" name="Shape 230"/>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numerical-input comparisons retained the same limited training budget while altering the information delivered to the artificial controllers. This manipulation separated the cost of image interpretation from the controller's ability to learn a useful action policy through experience.</a:t>
            </a:r>
            <a:endParaRPr lang="en-US"/>
          </a:p>
        </p:txBody>
      </p:sp>
      <p:sp>
        <p:nvSpPr>
          <p:cNvPr id="231" name="Shape 231"/>
          <p:cNvSpPr/>
          <p:nvPr/>
        </p:nvSpPr>
        <p:spPr>
          <a:xfrm>
            <a:off x="523875" y="25336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Biological cultures increased average rally length and reduced immediate failures across the tested comparison designs. Artificial controller outcomes varied with algorithm and input representation. Providing more direct environmental coordinates changed particular measures without reproducing the full biological pattern of improvement within the available experience.</a:t>
            </a:r>
            <a:endParaRPr lang="en-US"/>
          </a:p>
        </p:txBody>
      </p:sp>
      <p:sp>
        <p:nvSpPr>
          <p:cNvPr id="232" name="Shape 232"/>
          <p:cNvSpPr/>
          <p:nvPr/>
        </p:nvSpPr>
        <p:spPr>
          <a:xfrm>
            <a:off x="523875" y="43243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policy</a:t>
            </a:r>
            <a:r>
              <a:rPr sz="1425" b="0" i="0">
                <a:solidFill>
                  <a:srgbClr val="000000"/>
                </a:solidFill>
                <a:latin typeface="Arial"/>
                <a:ea typeface="Arial"/>
              </a:rPr>
              <a:t xml:space="preserve"> is a rule for selecting actions from the available state information. The observed results concern policies acquired under these specific encoding, reward, and training conditions. They connect sample efficiency to the complete task arrangement, including which state variables are provided and how experience updates the controller.</a:t>
            </a:r>
            <a:endParaRPr lang="en-US"/>
          </a:p>
        </p:txBody>
      </p:sp>
      <p:pic>
        <p:nvPicPr>
          <p:cNvPr id="134" name="Presenton Native Image 35" descr=""/>
          <p:cNvPicPr/>
          <p:nvPr/>
        </p:nvPicPr>
        <p:blipFill>
          <a:blip r:embed="rId2" cstate="none"/>
          <a:stretch>
            <a:fillRect/>
          </a:stretch>
        </p:blipFill>
        <p:spPr>
          <a:xfrm>
            <a:off x="6572250" y="1201465"/>
            <a:ext cx="4857750" cy="1273720"/>
          </a:xfrm>
          <a:prstGeom prst="rect">
            <a:avLst/>
          </a:prstGeom>
        </p:spPr>
      </p:pic>
      <p:sp>
        <p:nvSpPr>
          <p:cNvPr id="233" name="Shape 233"/>
          <p:cNvSpPr/>
          <p:nvPr/>
        </p:nvSpPr>
        <p:spPr>
          <a:xfrm>
            <a:off x="6572250" y="256222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Khajehnejad et al. (2025), Fig. 6B–D. Performance with numerical paddle-and-ball input.</a:t>
            </a:r>
            <a:endParaRPr lang="en-US"/>
          </a:p>
        </p:txBody>
      </p:sp>
      <p:sp>
        <p:nvSpPr>
          <p:cNvPr id="234" name="Shape 234"/>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Khajehnejad et al. (2025)</a:t>
            </a:r>
            <a:endParaRPr lang="en-US"/>
          </a:p>
        </p:txBody>
      </p:sp>
      <p:sp>
        <p:nvSpPr>
          <p:cNvPr id="235" name="Shape 235"/>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36" name="Shape 236"/>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Movement and success are different measures</a:t>
            </a:r>
            <a:endParaRPr lang="en-US"/>
          </a:p>
        </p:txBody>
      </p:sp>
      <p:sp>
        <p:nvSpPr>
          <p:cNvPr id="237" name="Shape 237"/>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An artificial controller can move the paddle frequently without sustaining successful returns. The study measured total paddle movement alongside changes in performance, separating the amount of output from the quality of sensorimotor coordination during the game.</a:t>
            </a:r>
            <a:endParaRPr lang="en-US"/>
          </a:p>
        </p:txBody>
      </p:sp>
      <p:sp>
        <p:nvSpPr>
          <p:cNvPr id="238" name="Shape 238"/>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artificial algorithms produced greater paddle movement than the biological cultures in the comparisons, yet greater movement did not translate into greater improvement. Biological systems improved the relationship between input and action while producing less total displacement under the tested conditions.</a:t>
            </a:r>
            <a:endParaRPr lang="en-US"/>
          </a:p>
        </p:txBody>
      </p:sp>
      <p:sp>
        <p:nvSpPr>
          <p:cNvPr id="239" name="Shape 239"/>
          <p:cNvSpPr/>
          <p:nvPr/>
        </p:nvSpPr>
        <p:spPr>
          <a:xfrm>
            <a:off x="523875" y="40957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The distinction concerns </a:t>
            </a:r>
            <a:r>
              <a:rPr sz="1425" b="1" i="0">
                <a:solidFill>
                  <a:srgbClr val="3F4A5A"/>
                </a:solidFill>
                <a:latin typeface="Arial"/>
                <a:ea typeface="Arial"/>
              </a:rPr>
              <a:t>task-directed output</a:t>
            </a:r>
            <a:r>
              <a:rPr sz="1425" b="0" i="0">
                <a:solidFill>
                  <a:srgbClr val="000000"/>
                </a:solidFill>
                <a:latin typeface="Arial"/>
                <a:ea typeface="Arial"/>
              </a:rPr>
              <a:t>, activity organized to meet an environmental requirement. Paddle displacement measures how much action occurs; rally length measures whether successive actions intercept the ball. Their different outcomes connect adaptive performance with the timing and direction of output rather than with the volume of commands issued by a controller.</a:t>
            </a:r>
            <a:endParaRPr lang="en-US"/>
          </a:p>
        </p:txBody>
      </p:sp>
      <p:pic>
        <p:nvPicPr>
          <p:cNvPr id="135" name="Presenton Native Image 36" descr=""/>
          <p:cNvPicPr/>
          <p:nvPr/>
        </p:nvPicPr>
        <p:blipFill>
          <a:blip r:embed="rId2" cstate="none"/>
          <a:stretch>
            <a:fillRect/>
          </a:stretch>
        </p:blipFill>
        <p:spPr>
          <a:xfrm>
            <a:off x="6574109" y="1200150"/>
            <a:ext cx="4854032" cy="2219325"/>
          </a:xfrm>
          <a:prstGeom prst="rect">
            <a:avLst/>
          </a:prstGeom>
        </p:spPr>
      </p:pic>
      <p:sp>
        <p:nvSpPr>
          <p:cNvPr id="240" name="Shape 240"/>
          <p:cNvSpPr/>
          <p:nvPr/>
        </p:nvSpPr>
        <p:spPr>
          <a:xfrm>
            <a:off x="6572250" y="35052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Khajehnejad et al. (2025), Fig. 8A–F. Paddle movement and change in task performance.</a:t>
            </a:r>
            <a:endParaRPr lang="en-US"/>
          </a:p>
        </p:txBody>
      </p:sp>
      <p:sp>
        <p:nvSpPr>
          <p:cNvPr id="241" name="Shape 241"/>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Khajehnejad et al. (2025)</a:t>
            </a:r>
            <a:endParaRPr lang="en-US"/>
          </a:p>
        </p:txBody>
      </p:sp>
      <p:sp>
        <p:nvSpPr>
          <p:cNvPr id="242" name="Shape 242"/>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3" name="Shape 243"/>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An organoid acts as an adaptive reservoir</a:t>
            </a:r>
            <a:endParaRPr lang="en-US"/>
          </a:p>
        </p:txBody>
      </p:sp>
      <p:sp>
        <p:nvSpPr>
          <p:cNvPr id="244" name="Shape 244"/>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reservoir</a:t>
            </a:r>
            <a:r>
              <a:rPr sz="1425" b="0" i="0">
                <a:solidFill>
                  <a:srgbClr val="000000"/>
                </a:solidFill>
                <a:latin typeface="Arial"/>
                <a:ea typeface="Arial"/>
              </a:rPr>
              <a:t xml:space="preserve"> transforms a time-varying input into a rich pattern of internal states that a simpler readout can use. Cai and colleagues mounted a human brain organoid on a high-density electrode array, using living neural activity as the physical reservoir in Brainoware.</a:t>
            </a:r>
            <a:endParaRPr lang="en-US"/>
          </a:p>
        </p:txBody>
      </p:sp>
      <p:sp>
        <p:nvSpPr>
          <p:cNvPr id="245" name="Shape 245"/>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brain organoid</a:t>
            </a:r>
            <a:r>
              <a:rPr sz="1425" b="0" i="0">
                <a:solidFill>
                  <a:srgbClr val="000000"/>
                </a:solidFill>
                <a:latin typeface="Arial"/>
                <a:ea typeface="Arial"/>
              </a:rPr>
              <a:t xml:space="preserve"> is a three-dimensional tissue aggregate developed from pluripotent cells through differentiation and self-organization. Immunostaining identified neurons, neural progenitor cells, and astrocytes in the preparation. Electrical stimulation entered the tissue through the array, and evoked activity supplied the output features.</a:t>
            </a:r>
            <a:endParaRPr lang="en-US"/>
          </a:p>
        </p:txBody>
      </p:sp>
      <p:sp>
        <p:nvSpPr>
          <p:cNvPr id="246" name="Shape 246"/>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electronic readout mapped these features onto a computational answer. Unlike the Pong paddle loop, this arrangement separated tissue responses from a trained classification or prediction function. The biological reservoir transformed input, while the readout supplied the task-specific mapping from measured neural activity to the desired output.</a:t>
            </a:r>
            <a:endParaRPr lang="en-US"/>
          </a:p>
        </p:txBody>
      </p:sp>
      <p:pic>
        <p:nvPicPr>
          <p:cNvPr id="136" name="Presenton Native Image 37" descr=""/>
          <p:cNvPicPr/>
          <p:nvPr/>
        </p:nvPicPr>
        <p:blipFill>
          <a:blip r:embed="rId2" cstate="none"/>
          <a:stretch>
            <a:fillRect/>
          </a:stretch>
        </p:blipFill>
        <p:spPr>
          <a:xfrm>
            <a:off x="6638925" y="1200150"/>
            <a:ext cx="4714875" cy="4429125"/>
          </a:xfrm>
          <a:prstGeom prst="rect">
            <a:avLst/>
          </a:prstGeom>
        </p:spPr>
      </p:pic>
      <p:sp>
        <p:nvSpPr>
          <p:cNvPr id="247" name="Shape 247"/>
          <p:cNvSpPr/>
          <p:nvPr/>
        </p:nvSpPr>
        <p:spPr>
          <a:xfrm>
            <a:off x="6572250" y="57150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Cai et al. (2023), Fig. 1B–C. Organoid-electrode arrangement and neuronal tissue markers.</a:t>
            </a:r>
            <a:endParaRPr lang="en-US"/>
          </a:p>
        </p:txBody>
      </p:sp>
      <p:sp>
        <p:nvSpPr>
          <p:cNvPr id="248" name="Shape 248"/>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Cai et al. (2023)</a:t>
            </a:r>
            <a:endParaRPr lang="en-US"/>
          </a:p>
        </p:txBody>
      </p:sp>
      <p:sp>
        <p:nvSpPr>
          <p:cNvPr id="249" name="Shape 249"/>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50" name="Shape 250"/>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Pulse parameters produce nonlinear responses</a:t>
            </a:r>
            <a:endParaRPr lang="en-US"/>
          </a:p>
        </p:txBody>
      </p:sp>
      <p:sp>
        <p:nvSpPr>
          <p:cNvPr id="251" name="Shape 251"/>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Nonlinearity</a:t>
            </a:r>
            <a:r>
              <a:rPr sz="1425" b="0" i="0">
                <a:solidFill>
                  <a:srgbClr val="000000"/>
                </a:solidFill>
                <a:latin typeface="Arial"/>
                <a:ea typeface="Arial"/>
              </a:rPr>
              <a:t xml:space="preserve"> means that the output is not simply proportional to the input. Cai and colleagues varied the voltage and duration of bipolar electrical pulses delivered to an organoid. With pulse durations of at least 200 µs, evoked firing varied sigmoidally with stimulus voltage.</a:t>
            </a:r>
            <a:endParaRPr lang="en-US"/>
          </a:p>
        </p:txBody>
      </p:sp>
      <p:sp>
        <p:nvSpPr>
          <p:cNvPr id="252" name="Shape 252"/>
          <p:cNvSpPr/>
          <p:nvPr/>
        </p:nvSpPr>
        <p:spPr>
          <a:xfrm>
            <a:off x="523875" y="25336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 sigmoid response rises slowly at low input, more strongly across an intermediate range, and then approaches a plateau. Shorter 100-µs pulses produced responses near the spontaneous baseline in the tested organoid. Input duration therefore affected whether voltage changes recruited substantial network activity.</a:t>
            </a:r>
            <a:endParaRPr lang="en-US"/>
          </a:p>
        </p:txBody>
      </p:sp>
      <p:sp>
        <p:nvSpPr>
          <p:cNvPr id="253" name="Shape 253"/>
          <p:cNvSpPr/>
          <p:nvPr/>
        </p:nvSpPr>
        <p:spPr>
          <a:xfrm>
            <a:off x="523875" y="3867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same preparation expressed fading responses after stimulation. Pulse voltage and duration altered both response strength and persistence. These properties allow a physical reservoir to transform inputs into nonlinear, history-dependent activity, giving the readout more than a direct copy of the applied electrical stimulus.</a:t>
            </a:r>
            <a:endParaRPr lang="en-US"/>
          </a:p>
        </p:txBody>
      </p:sp>
      <p:pic>
        <p:nvPicPr>
          <p:cNvPr id="137" name="Presenton Native Image 38" descr=""/>
          <p:cNvPicPr/>
          <p:nvPr/>
        </p:nvPicPr>
        <p:blipFill>
          <a:blip r:embed="rId2" cstate="none"/>
          <a:stretch>
            <a:fillRect/>
          </a:stretch>
        </p:blipFill>
        <p:spPr>
          <a:xfrm>
            <a:off x="6572250" y="1201769"/>
            <a:ext cx="4857750" cy="1644587"/>
          </a:xfrm>
          <a:prstGeom prst="rect">
            <a:avLst/>
          </a:prstGeom>
        </p:spPr>
      </p:pic>
      <p:sp>
        <p:nvSpPr>
          <p:cNvPr id="254" name="Shape 254"/>
          <p:cNvSpPr/>
          <p:nvPr/>
        </p:nvSpPr>
        <p:spPr>
          <a:xfrm>
            <a:off x="6572250" y="293370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Cai et al. (2023), Fig. 2B–C. Voltage dependence and fading of evoked responses.</a:t>
            </a:r>
            <a:endParaRPr lang="en-US"/>
          </a:p>
        </p:txBody>
      </p:sp>
      <p:sp>
        <p:nvSpPr>
          <p:cNvPr id="255" name="Shape 255"/>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Cai et al. (2023)</a:t>
            </a:r>
            <a:endParaRPr lang="en-US"/>
          </a:p>
        </p:txBody>
      </p:sp>
      <p:sp>
        <p:nvSpPr>
          <p:cNvPr id="256" name="Shape 256"/>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36</a:t>
            </a:r>
            <a:endParaRPr lang="en-US"/>
          </a:p>
        </p:txBody>
      </p:sp>
      <p:pic>
        <p:nvPicPr>
          <p:cNvPr id="257" name="Picture 256" descr="cai_video_2_poster.png"/>
          <p:cNvPicPr>
            <a:picLocks noChangeAspect="1"/>
          </p:cNvPicPr>
          <p:nvPr/>
        </p:nvPicPr>
        <p:blipFill>
          <a:blip r:embed="rId4"/>
          <a:stretch>
            <a:fillRect/>
          </a:stretch>
        </p:blipFill>
        <p:spPr>
          <a:xfrm>
            <a:off x="7790688" y="3328416"/>
            <a:ext cx="2423160" cy="2423160"/>
          </a:xfrm>
          <a:prstGeom prst="rect">
            <a:avLst/>
          </a:prstGeom>
        </p:spPr>
      </p:pic>
      <p:pic>
        <p:nvPicPr>
          <p:cNvPr id="258" name="Cai et al. (2023), Supplementary Video 2. Organoid calcium activit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790688" y="3328416"/>
            <a:ext cx="2423160" cy="2423160"/>
          </a:xfrm>
          <a:prstGeom prst="rect">
            <a:avLst/>
          </a:prstGeom>
        </p:spPr>
      </p:pic>
      <p:sp>
        <p:nvSpPr>
          <p:cNvPr id="259" name="Article recording credit"/>
          <p:cNvSpPr txBox="1"/>
          <p:nvPr/>
        </p:nvSpPr>
        <p:spPr>
          <a:xfrm>
            <a:off x="6574536" y="5888736"/>
            <a:ext cx="4873752" cy="320040"/>
          </a:xfrm>
          <a:prstGeom prst="rect">
            <a:avLst/>
          </a:prstGeom>
          <a:noFill/>
        </p:spPr>
        <p:txBody>
          <a:bodyPr wrap="square" tIns="0" bIns="0" lIns="0" rIns="0">
            <a:spAutoFit/>
          </a:bodyPr>
          <a:lstStyle/>
          <a:p>
            <a:r>
              <a:rPr sz="900">
                <a:solidFill>
                  <a:srgbClr val="000000"/>
                </a:solidFill>
                <a:latin typeface="Arial"/>
              </a:rPr>
              <a:t>Cai et al. (2023), Supplementary Video 2. Organoid calcium activity.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58"/>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57" name="Shape 257"/>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Fading activity retains a short input history</a:t>
            </a:r>
            <a:endParaRPr lang="en-US"/>
          </a:p>
        </p:txBody>
      </p:sp>
      <p:sp>
        <p:nvSpPr>
          <p:cNvPr id="258" name="Shape 258"/>
          <p:cNvSpPr/>
          <p:nvPr/>
        </p:nvSpPr>
        <p:spPr>
          <a:xfrm>
            <a:off x="523875" y="1200150"/>
            <a:ext cx="5591175" cy="9144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Fading memory</a:t>
            </a:r>
            <a:r>
              <a:rPr sz="1425" b="0" i="0">
                <a:solidFill>
                  <a:srgbClr val="000000"/>
                </a:solidFill>
                <a:latin typeface="Arial"/>
                <a:ea typeface="Arial"/>
              </a:rPr>
              <a:t xml:space="preserve"> is a temporary dependence of a system's present state on earlier inputs. Brainoware responses persisted after a pulse and decayed over time. The investigators compared activity before stimulation and at 100 and 300 ms after its end.</a:t>
            </a:r>
            <a:endParaRPr lang="en-US"/>
          </a:p>
        </p:txBody>
      </p:sp>
      <p:sp>
        <p:nvSpPr>
          <p:cNvPr id="259" name="Shape 259"/>
          <p:cNvSpPr/>
          <p:nvPr/>
        </p:nvSpPr>
        <p:spPr>
          <a:xfrm>
            <a:off x="523875" y="23050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Pulse trains with 50-ms intervals produced accumulating responses followed by relaxation. A subsequent pulse therefore entered a network whose activity still depended on earlier stimulation. The input sequence, rather than only the current pulse, influenced the resulting output.</a:t>
            </a:r>
            <a:endParaRPr lang="en-US"/>
          </a:p>
        </p:txBody>
      </p:sp>
      <p:sp>
        <p:nvSpPr>
          <p:cNvPr id="260" name="Shape 260"/>
          <p:cNvSpPr/>
          <p:nvPr/>
        </p:nvSpPr>
        <p:spPr>
          <a:xfrm>
            <a:off x="523875" y="36385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Complementary spatial stimulation patterns also produced distinct activity distributions across recording sites. Temporal persistence and spatial differentiation jointly supplied the reservoir with information about input history and input location. The readout could use this distributed activity to classify or predict temporally structured data encoded through the electrode interface.</a:t>
            </a:r>
            <a:endParaRPr lang="en-US"/>
          </a:p>
        </p:txBody>
      </p:sp>
      <p:pic>
        <p:nvPicPr>
          <p:cNvPr id="138" name="Presenton Native Image 39" descr=""/>
          <p:cNvPicPr/>
          <p:nvPr/>
        </p:nvPicPr>
        <p:blipFill>
          <a:blip r:embed="rId2" cstate="none"/>
          <a:stretch>
            <a:fillRect/>
          </a:stretch>
        </p:blipFill>
        <p:spPr>
          <a:xfrm>
            <a:off x="6572250" y="1202269"/>
            <a:ext cx="4857750" cy="1538812"/>
          </a:xfrm>
          <a:prstGeom prst="rect">
            <a:avLst/>
          </a:prstGeom>
        </p:spPr>
      </p:pic>
      <p:sp>
        <p:nvSpPr>
          <p:cNvPr id="261" name="Shape 261"/>
          <p:cNvSpPr/>
          <p:nvPr/>
        </p:nvSpPr>
        <p:spPr>
          <a:xfrm>
            <a:off x="6572250" y="282892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Cai et al. (2023), Fig. 2D–E. Accumulating responses and spatially distinct input patterns.</a:t>
            </a:r>
            <a:endParaRPr lang="en-US"/>
          </a:p>
        </p:txBody>
      </p:sp>
      <p:sp>
        <p:nvSpPr>
          <p:cNvPr id="262" name="Shape 262"/>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Cai et al. (2023)</a:t>
            </a:r>
            <a:endParaRPr lang="en-US"/>
          </a:p>
        </p:txBody>
      </p:sp>
      <p:sp>
        <p:nvSpPr>
          <p:cNvPr id="263" name="Shape 263"/>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37</a:t>
            </a:r>
            <a:endParaRPr lang="en-US"/>
          </a:p>
        </p:txBody>
      </p:sp>
      <p:pic>
        <p:nvPicPr>
          <p:cNvPr id="264" name="Picture 263" descr="cai_video_1_poster.png"/>
          <p:cNvPicPr>
            <a:picLocks noChangeAspect="1"/>
          </p:cNvPicPr>
          <p:nvPr/>
        </p:nvPicPr>
        <p:blipFill>
          <a:blip r:embed="rId4"/>
          <a:stretch>
            <a:fillRect/>
          </a:stretch>
        </p:blipFill>
        <p:spPr>
          <a:xfrm>
            <a:off x="7415783" y="3337560"/>
            <a:ext cx="3172968" cy="2423160"/>
          </a:xfrm>
          <a:prstGeom prst="rect">
            <a:avLst/>
          </a:prstGeom>
        </p:spPr>
      </p:pic>
      <p:pic>
        <p:nvPicPr>
          <p:cNvPr id="265" name="Cai et al. (2023), Supplementary Video 1. Organoid electrical activit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415783" y="3337560"/>
            <a:ext cx="3172968" cy="2423160"/>
          </a:xfrm>
          <a:prstGeom prst="rect">
            <a:avLst/>
          </a:prstGeom>
        </p:spPr>
      </p:pic>
      <p:sp>
        <p:nvSpPr>
          <p:cNvPr id="266" name="Article recording credit"/>
          <p:cNvSpPr txBox="1"/>
          <p:nvPr/>
        </p:nvSpPr>
        <p:spPr>
          <a:xfrm>
            <a:off x="6574536" y="5888736"/>
            <a:ext cx="4873752" cy="320040"/>
          </a:xfrm>
          <a:prstGeom prst="rect">
            <a:avLst/>
          </a:prstGeom>
          <a:noFill/>
        </p:spPr>
        <p:txBody>
          <a:bodyPr wrap="square" tIns="0" bIns="0" lIns="0" rIns="0">
            <a:spAutoFit/>
          </a:bodyPr>
          <a:lstStyle/>
          <a:p>
            <a:r>
              <a:rPr sz="900">
                <a:solidFill>
                  <a:srgbClr val="000000"/>
                </a:solidFill>
                <a:latin typeface="Arial"/>
              </a:rPr>
              <a:t>Cai et al. (2023), Supplementary Video 1. Organoid electrical activity.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65"/>
                </p:tgtEl>
              </p:cMediaNode>
            </p:vide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64" name="Shape 264"/>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Speech classification uses a trained readout</a:t>
            </a:r>
            <a:endParaRPr lang="en-US"/>
          </a:p>
        </p:txBody>
      </p:sp>
      <p:sp>
        <p:nvSpPr>
          <p:cNvPr id="265" name="Shape 265"/>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Brainoware classified speakers from isolated Japanese vowel recordings. The task used /a/ and /e/ utterances from eight male speakers, converted into spatiotemporal electrical stimulation. </a:t>
            </a:r>
            <a:r>
              <a:rPr sz="1425" b="1" i="0">
                <a:solidFill>
                  <a:srgbClr val="3F4A5A"/>
                </a:solidFill>
                <a:latin typeface="Arial"/>
                <a:ea typeface="Arial"/>
              </a:rPr>
              <a:t>Classification</a:t>
            </a:r>
            <a:r>
              <a:rPr sz="1425" b="0" i="0">
                <a:solidFill>
                  <a:srgbClr val="000000"/>
                </a:solidFill>
                <a:latin typeface="Arial"/>
                <a:ea typeface="Arial"/>
              </a:rPr>
              <a:t xml:space="preserve"> assigns an input to a category, here the identity of the speaker who produced the recording.</a:t>
            </a:r>
            <a:endParaRPr lang="en-US"/>
          </a:p>
        </p:txBody>
      </p:sp>
      <p:sp>
        <p:nvSpPr>
          <p:cNvPr id="266" name="Shape 266"/>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Evoked organoid activity entered a logistic-regression readout, an algorithm trained to map response features onto speaker labels. Training also repeatedly exposed the organoid to the encoded recordings. The experiment therefore included supervised readout fitting alongside repeated stimulation of an adaptive biological reservoir.</a:t>
            </a:r>
            <a:endParaRPr lang="en-US"/>
          </a:p>
        </p:txBody>
      </p:sp>
      <p:sp>
        <p:nvSpPr>
          <p:cNvPr id="267" name="Shape 267"/>
          <p:cNvSpPr/>
          <p:nvPr/>
        </p:nvSpPr>
        <p:spPr>
          <a:xfrm>
            <a:off x="523875" y="40957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Classification accuracy increased from about 51% before training to about 78% after four epochs over two days. An </a:t>
            </a:r>
            <a:r>
              <a:rPr sz="1425" b="1" i="0">
                <a:solidFill>
                  <a:srgbClr val="3F4A5A"/>
                </a:solidFill>
                <a:latin typeface="Arial"/>
                <a:ea typeface="Arial"/>
              </a:rPr>
              <a:t>epoch</a:t>
            </a:r>
            <a:r>
              <a:rPr sz="1425" b="0" i="0">
                <a:solidFill>
                  <a:srgbClr val="000000"/>
                </a:solidFill>
                <a:latin typeface="Arial"/>
                <a:ea typeface="Arial"/>
              </a:rPr>
              <a:t xml:space="preserve"> is one presentation of the training dataset. The behavioral analog is recognition of a category from structured input, implemented jointly by the tissue's response transformation and the electronically trained output mapping.</a:t>
            </a:r>
            <a:endParaRPr lang="en-US"/>
          </a:p>
        </p:txBody>
      </p:sp>
      <p:pic>
        <p:nvPicPr>
          <p:cNvPr id="139" name="Presenton Native Image 40" descr=""/>
          <p:cNvPicPr/>
          <p:nvPr/>
        </p:nvPicPr>
        <p:blipFill>
          <a:blip r:embed="rId2" cstate="none"/>
          <a:stretch>
            <a:fillRect/>
          </a:stretch>
        </p:blipFill>
        <p:spPr>
          <a:xfrm>
            <a:off x="6576870" y="1200150"/>
            <a:ext cx="4848510" cy="2200275"/>
          </a:xfrm>
          <a:prstGeom prst="rect">
            <a:avLst/>
          </a:prstGeom>
        </p:spPr>
      </p:pic>
      <p:sp>
        <p:nvSpPr>
          <p:cNvPr id="268" name="Shape 268"/>
          <p:cNvSpPr/>
          <p:nvPr/>
        </p:nvSpPr>
        <p:spPr>
          <a:xfrm>
            <a:off x="6572250" y="348615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Cai et al. (2023), Fig. 3C. Speaker classification before and after training.</a:t>
            </a:r>
            <a:endParaRPr lang="en-US"/>
          </a:p>
        </p:txBody>
      </p:sp>
      <p:pic>
        <p:nvPicPr>
          <p:cNvPr id="140" name="Presenton Native Image 41" descr=""/>
          <p:cNvPicPr/>
          <p:nvPr/>
        </p:nvPicPr>
        <p:blipFill>
          <a:blip r:embed="rId3" cstate="none"/>
          <a:stretch>
            <a:fillRect/>
          </a:stretch>
        </p:blipFill>
        <p:spPr>
          <a:xfrm>
            <a:off x="8162925" y="4124772"/>
            <a:ext cx="1676400" cy="1732655"/>
          </a:xfrm>
          <a:prstGeom prst="rect">
            <a:avLst/>
          </a:prstGeom>
        </p:spPr>
      </p:pic>
      <p:sp>
        <p:nvSpPr>
          <p:cNvPr id="269" name="Shape 269"/>
          <p:cNvSpPr/>
          <p:nvPr/>
        </p:nvSpPr>
        <p:spPr>
          <a:xfrm>
            <a:off x="6572250" y="5943600"/>
            <a:ext cx="487680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Cai et al. (2023), Fig. 3D. Classification accuracy across training epochs.</a:t>
            </a:r>
            <a:endParaRPr lang="en-US"/>
          </a:p>
        </p:txBody>
      </p:sp>
      <p:sp>
        <p:nvSpPr>
          <p:cNvPr id="270" name="Shape 270"/>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Cai et al. (2023)</a:t>
            </a:r>
            <a:endParaRPr lang="en-US"/>
          </a:p>
        </p:txBody>
      </p:sp>
      <p:sp>
        <p:nvSpPr>
          <p:cNvPr id="271" name="Shape 271"/>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72" name="Shape 272"/>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Training changes organoid activity relationships</a:t>
            </a:r>
            <a:endParaRPr lang="en-US"/>
          </a:p>
        </p:txBody>
      </p:sp>
      <p:sp>
        <p:nvSpPr>
          <p:cNvPr id="273" name="Shape 273"/>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Repeated presentation of the speech dataset changed inferred functional connectivity in the organoid. Cai and colleagues compared spontaneous activity before training with activity recorded during the training period, identifying relationships that strengthened, weakened, appeared, or were pruned.</a:t>
            </a:r>
            <a:endParaRPr lang="en-US"/>
          </a:p>
        </p:txBody>
      </p:sp>
      <p:sp>
        <p:nvSpPr>
          <p:cNvPr id="274" name="Shape 274"/>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analysis linked the improvement in classification to a changing biological reservoir. A fixed physical reservoir would leave its internal transformation unchanged while only the readout learned. Brainoware instead combined readout fitting with tissue whose recorded activity relationships evolved during repeated input.</a:t>
            </a:r>
            <a:endParaRPr lang="en-US"/>
          </a:p>
        </p:txBody>
      </p:sp>
      <p:sp>
        <p:nvSpPr>
          <p:cNvPr id="275" name="Shape 275"/>
          <p:cNvSpPr/>
          <p:nvPr/>
        </p:nvSpPr>
        <p:spPr>
          <a:xfrm>
            <a:off x="523875" y="4095750"/>
            <a:ext cx="5591175" cy="16002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Unsupervised reservoir adaptation</a:t>
            </a:r>
            <a:r>
              <a:rPr sz="1425" b="0" i="0">
                <a:solidFill>
                  <a:srgbClr val="000000"/>
                </a:solidFill>
                <a:latin typeface="Arial"/>
                <a:ea typeface="Arial"/>
              </a:rPr>
              <a:t xml:space="preserve"> refers to changes in the tissue without direct label-based adjustment of its individual connections. Speaker labels trained the electronic classifier, while repeated electrical input changed the organoid's response organization. Separating these processes explains how supervised output training and biological adaptation contributed different components of the complete computation.</a:t>
            </a:r>
            <a:endParaRPr lang="en-US"/>
          </a:p>
        </p:txBody>
      </p:sp>
      <p:pic>
        <p:nvPicPr>
          <p:cNvPr id="141" name="Presenton Native Image 42" descr=""/>
          <p:cNvPicPr/>
          <p:nvPr/>
        </p:nvPicPr>
        <p:blipFill>
          <a:blip r:embed="rId2" cstate="none"/>
          <a:stretch>
            <a:fillRect/>
          </a:stretch>
        </p:blipFill>
        <p:spPr>
          <a:xfrm>
            <a:off x="6858000" y="1200717"/>
            <a:ext cx="4276725" cy="4427992"/>
          </a:xfrm>
          <a:prstGeom prst="rect">
            <a:avLst/>
          </a:prstGeom>
        </p:spPr>
      </p:pic>
      <p:sp>
        <p:nvSpPr>
          <p:cNvPr id="276" name="Shape 276"/>
          <p:cNvSpPr/>
          <p:nvPr/>
        </p:nvSpPr>
        <p:spPr>
          <a:xfrm>
            <a:off x="6572250" y="57150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Cai et al. (2023), Fig. 3E. Functional-connectivity changes during repeated speech inputs.</a:t>
            </a:r>
            <a:endParaRPr lang="en-US"/>
          </a:p>
        </p:txBody>
      </p:sp>
      <p:sp>
        <p:nvSpPr>
          <p:cNvPr id="277" name="Shape 277"/>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Cai et al. (2023)</a:t>
            </a:r>
            <a:endParaRPr lang="en-US"/>
          </a:p>
        </p:txBody>
      </p:sp>
      <p:sp>
        <p:nvSpPr>
          <p:cNvPr id="278" name="Shape 278"/>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79" name="Shape 279"/>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Prediction combines tissue and readout</a:t>
            </a:r>
            <a:endParaRPr lang="en-US"/>
          </a:p>
        </p:txBody>
      </p:sp>
      <p:sp>
        <p:nvSpPr>
          <p:cNvPr id="280" name="Shape 280"/>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A </a:t>
            </a:r>
            <a:r>
              <a:rPr sz="1425" b="1" i="0">
                <a:solidFill>
                  <a:srgbClr val="3F4A5A"/>
                </a:solidFill>
                <a:latin typeface="Arial"/>
                <a:ea typeface="Arial"/>
              </a:rPr>
              <a:t>time-series prediction</a:t>
            </a:r>
            <a:r>
              <a:rPr sz="1425" b="0" i="0">
                <a:solidFill>
                  <a:srgbClr val="000000"/>
                </a:solidFill>
                <a:latin typeface="Arial"/>
                <a:ea typeface="Arial"/>
              </a:rPr>
              <a:t xml:space="preserve"> estimates a later value from earlier values. Cai and colleagues encoded a Hénon-map sequence, a mathematical system producing chaotic dynamics, into electrical inputs and trained a linear readout to predict the next value from organoid responses.</a:t>
            </a:r>
            <a:endParaRPr lang="en-US"/>
          </a:p>
        </p:txBody>
      </p:sp>
      <p:sp>
        <p:nvSpPr>
          <p:cNvPr id="281" name="Shape 281"/>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Prediction improved over four daily training epochs. Organoids exposed to K252a, which the study used to interfere with activity-dependent plasticity, showed much less improvement under the same training procedure. A blank condition without the organoid supplied another comparison for the contribution of the living reservoir.</a:t>
            </a:r>
            <a:endParaRPr lang="en-US"/>
          </a:p>
        </p:txBody>
      </p:sp>
      <p:sp>
        <p:nvSpPr>
          <p:cNvPr id="282" name="Shape 282"/>
          <p:cNvSpPr/>
          <p:nvPr/>
        </p:nvSpPr>
        <p:spPr>
          <a:xfrm>
            <a:off x="523875" y="40957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pharmacological result links adaptation to biological activity-dependent processes. The tissue transformed the encoded sequence, and the readout converted that transformation into a prediction. Better prediction therefore arose from the interaction between the adaptive reservoir and output mapping, a computational arrangement distinct from action-contingent feedback in Pong.</a:t>
            </a:r>
            <a:endParaRPr lang="en-US"/>
          </a:p>
        </p:txBody>
      </p:sp>
      <p:pic>
        <p:nvPicPr>
          <p:cNvPr id="142" name="Presenton Native Image 43" descr=""/>
          <p:cNvPicPr/>
          <p:nvPr/>
        </p:nvPicPr>
        <p:blipFill>
          <a:blip r:embed="rId2" cstate="none"/>
          <a:stretch>
            <a:fillRect/>
          </a:stretch>
        </p:blipFill>
        <p:spPr>
          <a:xfrm>
            <a:off x="6572250" y="1201338"/>
            <a:ext cx="4857750" cy="2817025"/>
          </a:xfrm>
          <a:prstGeom prst="rect">
            <a:avLst/>
          </a:prstGeom>
        </p:spPr>
      </p:pic>
      <p:sp>
        <p:nvSpPr>
          <p:cNvPr id="283" name="Shape 283"/>
          <p:cNvSpPr/>
          <p:nvPr/>
        </p:nvSpPr>
        <p:spPr>
          <a:xfrm>
            <a:off x="6572250" y="4105275"/>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Cai et al. (2023), Fig. 4D–E. Prediction improvement and plasticity-blocker comparison.</a:t>
            </a:r>
            <a:endParaRPr lang="en-US"/>
          </a:p>
        </p:txBody>
      </p:sp>
      <p:sp>
        <p:nvSpPr>
          <p:cNvPr id="284" name="Shape 284"/>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Cai et al. (2023)</a:t>
            </a:r>
            <a:endParaRPr lang="en-US"/>
          </a:p>
        </p:txBody>
      </p:sp>
      <p:sp>
        <p:nvSpPr>
          <p:cNvPr id="285" name="Shape 285"/>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86" name="Shape 286"/>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Sentience requires a definition of experience</a:t>
            </a:r>
            <a:endParaRPr lang="en-US"/>
          </a:p>
        </p:txBody>
      </p:sp>
      <p:sp>
        <p:nvSpPr>
          <p:cNvPr id="287" name="Shape 287"/>
          <p:cNvSpPr/>
          <p:nvPr/>
        </p:nvSpPr>
        <p:spPr>
          <a:xfrm>
            <a:off x="523875" y="1200150"/>
            <a:ext cx="10972800" cy="1295400"/>
          </a:xfrm>
          <a:prstGeom prst="rect">
            <a:avLst/>
          </a:prstGeom>
          <a:noFill/>
        </p:spPr>
        <p:txBody>
          <a:bodyPr anchor="t" wrap="square" tIns="0" bIns="0" lIns="0" rIns="0">
            <a:normAutofit/>
          </a:bodyPr>
          <a:lstStyle/>
          <a:p>
            <a:pPr algn="l">
              <a:lnSpc>
                <a:spcPts val="2550"/>
              </a:lnSpc>
              <a:buNone/>
            </a:pPr>
            <a:r>
              <a:rPr sz="1800" b="1" i="0">
                <a:solidFill>
                  <a:srgbClr val="3F4A5A"/>
                </a:solidFill>
                <a:latin typeface="Arial"/>
                <a:ea typeface="Arial"/>
              </a:rPr>
              <a:t>Sentience</a:t>
            </a:r>
            <a:r>
              <a:rPr sz="1800" b="0" i="0">
                <a:solidFill>
                  <a:srgbClr val="000000"/>
                </a:solidFill>
                <a:latin typeface="Arial"/>
                <a:ea typeface="Arial"/>
              </a:rPr>
              <a:t>, in welfare discussions, concerns the capacity for subjective experience, including experiences with positive or negative value. Kagan and colleagues used a narrower operational definition centered on responsiveness to sensory impressions. Milford, Shaw, and Starke examined the ethical consequences of this difference in terminology.</a:t>
            </a:r>
            <a:endParaRPr lang="en-US"/>
          </a:p>
        </p:txBody>
      </p:sp>
      <p:sp>
        <p:nvSpPr>
          <p:cNvPr id="288" name="Shape 288"/>
          <p:cNvSpPr/>
          <p:nvPr/>
        </p:nvSpPr>
        <p:spPr>
          <a:xfrm>
            <a:off x="523875" y="2686050"/>
            <a:ext cx="10972800" cy="1295400"/>
          </a:xfrm>
          <a:prstGeom prst="rect">
            <a:avLst/>
          </a:prstGeom>
          <a:noFill/>
        </p:spPr>
        <p:txBody>
          <a:bodyPr anchor="t" wrap="square" tIns="0" bIns="0" lIns="0" rIns="0">
            <a:normAutofit/>
          </a:bodyPr>
          <a:lstStyle/>
          <a:p>
            <a:pPr algn="l">
              <a:lnSpc>
                <a:spcPts val="2550"/>
              </a:lnSpc>
              <a:buNone/>
            </a:pPr>
            <a:r>
              <a:rPr sz="1800" b="0" i="0">
                <a:solidFill>
                  <a:srgbClr val="000000"/>
                </a:solidFill>
                <a:latin typeface="Arial"/>
                <a:ea typeface="Arial"/>
              </a:rPr>
              <a:t>A recorded change in gameplay establishes a change in task performance. A claim about experienced pleasure or suffering requires an account of how that performance relates to subjective states. The ethical analysis distinguishes successful adaptation from phenomenal consciousness, the presence of something it is like to undergo an experience.</a:t>
            </a:r>
            <a:endParaRPr lang="en-US"/>
          </a:p>
        </p:txBody>
      </p:sp>
      <p:sp>
        <p:nvSpPr>
          <p:cNvPr id="289" name="Shape 289"/>
          <p:cNvSpPr/>
          <p:nvPr/>
        </p:nvSpPr>
        <p:spPr>
          <a:xfrm>
            <a:off x="523875" y="4171950"/>
            <a:ext cx="10972800" cy="1295400"/>
          </a:xfrm>
          <a:prstGeom prst="rect">
            <a:avLst/>
          </a:prstGeom>
          <a:noFill/>
        </p:spPr>
        <p:txBody>
          <a:bodyPr anchor="t" wrap="square" tIns="0" bIns="0" lIns="0" rIns="0">
            <a:normAutofit/>
          </a:bodyPr>
          <a:lstStyle/>
          <a:p>
            <a:pPr algn="l">
              <a:lnSpc>
                <a:spcPts val="2550"/>
              </a:lnSpc>
              <a:buNone/>
            </a:pPr>
            <a:r>
              <a:rPr sz="1800" b="0" i="0">
                <a:solidFill>
                  <a:srgbClr val="000000"/>
                </a:solidFill>
                <a:latin typeface="Arial"/>
                <a:ea typeface="Arial"/>
              </a:rPr>
              <a:t>This distinction changes welfare conclusions. Performance measurements characterize the culture-interface system's behavior, while a morally relevant experience would supply a different reason for protection. Clear definitions connect the measurement being made to the claim being considered, preventing an operational use of sentience from silently becoming a claim of experienced suffering.</a:t>
            </a:r>
            <a:endParaRPr lang="en-US"/>
          </a:p>
        </p:txBody>
      </p:sp>
      <p:sp>
        <p:nvSpPr>
          <p:cNvPr id="290" name="Shape 290"/>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Milford et al. (2023); Kagan et al. (2022)</a:t>
            </a:r>
            <a:endParaRPr lang="en-US"/>
          </a:p>
        </p:txBody>
      </p:sp>
      <p:sp>
        <p:nvSpPr>
          <p:cNvPr id="291" name="Shape 291"/>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92" name="Shape 292"/>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Feedback and experienced valence differ</a:t>
            </a:r>
            <a:endParaRPr lang="en-US"/>
          </a:p>
        </p:txBody>
      </p:sp>
      <p:sp>
        <p:nvSpPr>
          <p:cNvPr id="293" name="Shape 293"/>
          <p:cNvSpPr/>
          <p:nvPr/>
        </p:nvSpPr>
        <p:spPr>
          <a:xfrm>
            <a:off x="523875" y="1200150"/>
            <a:ext cx="10972800" cy="1295400"/>
          </a:xfrm>
          <a:prstGeom prst="rect">
            <a:avLst/>
          </a:prstGeom>
          <a:noFill/>
        </p:spPr>
        <p:txBody>
          <a:bodyPr anchor="t" wrap="square" tIns="0" bIns="0" lIns="0" rIns="0">
            <a:normAutofit/>
          </a:bodyPr>
          <a:lstStyle/>
          <a:p>
            <a:pPr algn="l">
              <a:lnSpc>
                <a:spcPts val="2550"/>
              </a:lnSpc>
              <a:buNone/>
            </a:pPr>
            <a:r>
              <a:rPr sz="1800" b="1" i="0">
                <a:solidFill>
                  <a:srgbClr val="3F4A5A"/>
                </a:solidFill>
                <a:latin typeface="Arial"/>
                <a:ea typeface="Arial"/>
              </a:rPr>
              <a:t>Valence</a:t>
            </a:r>
            <a:r>
              <a:rPr sz="1800" b="0" i="0">
                <a:solidFill>
                  <a:srgbClr val="000000"/>
                </a:solidFill>
                <a:latin typeface="Arial"/>
                <a:ea typeface="Arial"/>
              </a:rPr>
              <a:t xml:space="preserve"> is the positive or negative quality of an experience. DishBrain's predictable and unpredictable feedback conditions were defined by electrical stimulation schedules and their consequences for gameplay. The experiment measured neural activity and task performance, rather than an experienced emotional value assigned to those schedules.</a:t>
            </a:r>
            <a:endParaRPr lang="en-US"/>
          </a:p>
        </p:txBody>
      </p:sp>
      <p:sp>
        <p:nvSpPr>
          <p:cNvPr id="294" name="Shape 294"/>
          <p:cNvSpPr/>
          <p:nvPr/>
        </p:nvSpPr>
        <p:spPr>
          <a:xfrm>
            <a:off x="523875" y="2686050"/>
            <a:ext cx="10972800" cy="1295400"/>
          </a:xfrm>
          <a:prstGeom prst="rect">
            <a:avLst/>
          </a:prstGeom>
          <a:noFill/>
        </p:spPr>
        <p:txBody>
          <a:bodyPr anchor="t" wrap="square" tIns="0" bIns="0" lIns="0" rIns="0">
            <a:normAutofit/>
          </a:bodyPr>
          <a:lstStyle/>
          <a:p>
            <a:pPr algn="l">
              <a:lnSpc>
                <a:spcPts val="2550"/>
              </a:lnSpc>
              <a:buNone/>
            </a:pPr>
            <a:r>
              <a:rPr sz="1800" b="0" i="0">
                <a:solidFill>
                  <a:srgbClr val="000000"/>
                </a:solidFill>
                <a:latin typeface="Arial"/>
                <a:ea typeface="Arial"/>
              </a:rPr>
              <a:t xml:space="preserve">Milford and colleagues discuss a hypothesis linking prediction error with negative phenomenal valence. A </a:t>
            </a:r>
            <a:r>
              <a:rPr sz="1800" b="1" i="0">
                <a:solidFill>
                  <a:srgbClr val="3F4A5A"/>
                </a:solidFill>
                <a:latin typeface="Arial"/>
                <a:ea typeface="Arial"/>
              </a:rPr>
              <a:t>prediction error</a:t>
            </a:r>
            <a:r>
              <a:rPr sz="1800" b="0" i="0">
                <a:solidFill>
                  <a:srgbClr val="000000"/>
                </a:solidFill>
                <a:latin typeface="Arial"/>
                <a:ea typeface="Arial"/>
              </a:rPr>
              <a:t xml:space="preserve"> is a mismatch between an expected input and the input received. Their ethical argument depends on additional assumptions connecting computational mismatch to experience in a sufficiently complex system.</a:t>
            </a:r>
            <a:endParaRPr lang="en-US"/>
          </a:p>
        </p:txBody>
      </p:sp>
      <p:sp>
        <p:nvSpPr>
          <p:cNvPr id="295" name="Shape 295"/>
          <p:cNvSpPr/>
          <p:nvPr/>
        </p:nvSpPr>
        <p:spPr>
          <a:xfrm>
            <a:off x="523875" y="4171950"/>
            <a:ext cx="10972800" cy="1295400"/>
          </a:xfrm>
          <a:prstGeom prst="rect">
            <a:avLst/>
          </a:prstGeom>
          <a:noFill/>
        </p:spPr>
        <p:txBody>
          <a:bodyPr anchor="t" wrap="square" tIns="0" bIns="0" lIns="0" rIns="0">
            <a:normAutofit/>
          </a:bodyPr>
          <a:lstStyle/>
          <a:p>
            <a:pPr algn="l">
              <a:lnSpc>
                <a:spcPts val="2550"/>
              </a:lnSpc>
              <a:buNone/>
            </a:pPr>
            <a:r>
              <a:rPr sz="1800" b="0" i="0">
                <a:solidFill>
                  <a:srgbClr val="000000"/>
                </a:solidFill>
                <a:latin typeface="Arial"/>
                <a:ea typeface="Arial"/>
              </a:rPr>
              <a:t>The welfare-relevant distinction is between a consequence that changes behavior and a consequence that is experienced negatively. The authors analyze possible conditions for artificial suffering, including subjective experience, a self-model, and negatively valued states. These are elements of their ethical framework, rather than physiological outcomes measured by the Pong experiment.</a:t>
            </a:r>
            <a:endParaRPr lang="en-US"/>
          </a:p>
        </p:txBody>
      </p:sp>
      <p:sp>
        <p:nvSpPr>
          <p:cNvPr id="296" name="Shape 296"/>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Milford et al. (2023); Kagan et al. (2022)</a:t>
            </a:r>
            <a:endParaRPr lang="en-US"/>
          </a:p>
        </p:txBody>
      </p:sp>
      <p:sp>
        <p:nvSpPr>
          <p:cNvPr id="297" name="Shape 297"/>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98" name="Shape 298"/>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Precaution informs choices under uncertainty</a:t>
            </a:r>
            <a:endParaRPr lang="en-US"/>
          </a:p>
        </p:txBody>
      </p:sp>
      <p:sp>
        <p:nvSpPr>
          <p:cNvPr id="299" name="Shape 299"/>
          <p:cNvSpPr/>
          <p:nvPr/>
        </p:nvSpPr>
        <p:spPr>
          <a:xfrm>
            <a:off x="523875" y="1200150"/>
            <a:ext cx="10972800" cy="1295400"/>
          </a:xfrm>
          <a:prstGeom prst="rect">
            <a:avLst/>
          </a:prstGeom>
          <a:noFill/>
        </p:spPr>
        <p:txBody>
          <a:bodyPr anchor="t" wrap="square" tIns="0" bIns="0" lIns="0" rIns="0">
            <a:normAutofit/>
          </a:bodyPr>
          <a:lstStyle/>
          <a:p>
            <a:pPr algn="l">
              <a:lnSpc>
                <a:spcPts val="2550"/>
              </a:lnSpc>
              <a:buNone/>
            </a:pPr>
            <a:r>
              <a:rPr sz="1800" b="0" i="0">
                <a:solidFill>
                  <a:srgbClr val="000000"/>
                </a:solidFill>
                <a:latin typeface="Arial"/>
                <a:ea typeface="Arial"/>
              </a:rPr>
              <a:t xml:space="preserve">The </a:t>
            </a:r>
            <a:r>
              <a:rPr sz="1800" b="1" i="0">
                <a:solidFill>
                  <a:srgbClr val="3F4A5A"/>
                </a:solidFill>
                <a:latin typeface="Arial"/>
                <a:ea typeface="Arial"/>
              </a:rPr>
              <a:t>precautionary principle</a:t>
            </a:r>
            <a:r>
              <a:rPr sz="1800" b="0" i="0">
                <a:solidFill>
                  <a:srgbClr val="000000"/>
                </a:solidFill>
                <a:latin typeface="Arial"/>
                <a:ea typeface="Arial"/>
              </a:rPr>
              <a:t xml:space="preserve"> supports protective action when an uncertain risk could have serious consequences. Milford and colleagues apply it to the possibility that increasingly complex synthetic neural systems could develop morally relevant experiences. Their proposal is an ethical position grounded in a particular account of consciousness.</a:t>
            </a:r>
            <a:endParaRPr lang="en-US"/>
          </a:p>
        </p:txBody>
      </p:sp>
      <p:sp>
        <p:nvSpPr>
          <p:cNvPr id="300" name="Shape 300"/>
          <p:cNvSpPr/>
          <p:nvPr/>
        </p:nvSpPr>
        <p:spPr>
          <a:xfrm>
            <a:off x="523875" y="2686050"/>
            <a:ext cx="10972800" cy="1295400"/>
          </a:xfrm>
          <a:prstGeom prst="rect">
            <a:avLst/>
          </a:prstGeom>
          <a:noFill/>
        </p:spPr>
        <p:txBody>
          <a:bodyPr anchor="t" wrap="square" tIns="0" bIns="0" lIns="0" rIns="0">
            <a:normAutofit/>
          </a:bodyPr>
          <a:lstStyle/>
          <a:p>
            <a:pPr algn="l">
              <a:lnSpc>
                <a:spcPts val="2550"/>
              </a:lnSpc>
              <a:buNone/>
            </a:pPr>
            <a:r>
              <a:rPr sz="1800" b="0" i="0">
                <a:solidFill>
                  <a:srgbClr val="000000"/>
                </a:solidFill>
                <a:latin typeface="Arial"/>
                <a:ea typeface="Arial"/>
              </a:rPr>
              <a:t>They recommend limits on the number and types of neurons used, the experimental applications, and research duration while criteria for experience and suffering are developed. They also call for combined philosophical and empirical work on definitions and measurements of consciousness and sentience.</a:t>
            </a:r>
            <a:endParaRPr lang="en-US"/>
          </a:p>
        </p:txBody>
      </p:sp>
      <p:sp>
        <p:nvSpPr>
          <p:cNvPr id="301" name="Shape 301"/>
          <p:cNvSpPr/>
          <p:nvPr/>
        </p:nvSpPr>
        <p:spPr>
          <a:xfrm>
            <a:off x="523875" y="4171950"/>
            <a:ext cx="10972800" cy="1295400"/>
          </a:xfrm>
          <a:prstGeom prst="rect">
            <a:avLst/>
          </a:prstGeom>
          <a:noFill/>
        </p:spPr>
        <p:txBody>
          <a:bodyPr anchor="t" wrap="square" tIns="0" bIns="0" lIns="0" rIns="0">
            <a:normAutofit/>
          </a:bodyPr>
          <a:lstStyle/>
          <a:p>
            <a:pPr algn="l">
              <a:lnSpc>
                <a:spcPts val="2550"/>
              </a:lnSpc>
              <a:buNone/>
            </a:pPr>
            <a:r>
              <a:rPr sz="1800" b="0" i="0">
                <a:solidFill>
                  <a:srgbClr val="000000"/>
                </a:solidFill>
                <a:latin typeface="Arial"/>
                <a:ea typeface="Arial"/>
              </a:rPr>
              <a:t>These recommendations concern how research should be governed under uncertainty. They differ from an experimentally established welfare threshold. The connection to neurobiology lies in which properties of a neural preparation are considered relevant to experience, how those properties are assessed, and how experimental design changes in response to the resulting ethical judgment.</a:t>
            </a:r>
            <a:endParaRPr lang="en-US"/>
          </a:p>
        </p:txBody>
      </p:sp>
      <p:sp>
        <p:nvSpPr>
          <p:cNvPr id="302" name="Shape 302"/>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Milford et al. (2023)</a:t>
            </a:r>
            <a:endParaRPr lang="en-US"/>
          </a:p>
        </p:txBody>
      </p:sp>
      <p:sp>
        <p:nvSpPr>
          <p:cNvPr id="303" name="Shape 303"/>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04" name="Shape 304"/>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Doom is a reported extension of embodiment</a:t>
            </a:r>
            <a:endParaRPr lang="en-US"/>
          </a:p>
        </p:txBody>
      </p:sp>
      <p:sp>
        <p:nvSpPr>
          <p:cNvPr id="305" name="Shape 305"/>
          <p:cNvSpPr/>
          <p:nvPr/>
        </p:nvSpPr>
        <p:spPr>
          <a:xfrm>
            <a:off x="523875" y="12001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 xml:space="preserve">Sellar and Rouleau's 2026 perspective describes virtual embodiment as one route for synthetic biological intelligence. </a:t>
            </a:r>
            <a:r>
              <a:rPr sz="1425" b="1" i="0">
                <a:solidFill>
                  <a:srgbClr val="3F4A5A"/>
                </a:solidFill>
                <a:latin typeface="Arial"/>
                <a:ea typeface="Arial"/>
              </a:rPr>
              <a:t>Embodiment</a:t>
            </a:r>
            <a:r>
              <a:rPr sz="1425" b="0" i="0">
                <a:solidFill>
                  <a:srgbClr val="000000"/>
                </a:solidFill>
                <a:latin typeface="Arial"/>
                <a:ea typeface="Arial"/>
              </a:rPr>
              <a:t xml:space="preserve"> here means a causal connection between a neural construct and an environment through input, action, and feedback. Their discussion mentions Doom as a later extension of game interaction.</a:t>
            </a:r>
            <a:endParaRPr lang="en-US"/>
          </a:p>
        </p:txBody>
      </p:sp>
      <p:sp>
        <p:nvSpPr>
          <p:cNvPr id="306" name="Shape 306"/>
          <p:cNvSpPr/>
          <p:nvPr/>
        </p:nvSpPr>
        <p:spPr>
          <a:xfrm>
            <a:off x="523875" y="27622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The cited experimental Pong work supplies documented encoding, decoding, feedback schedules, and performance comparisons. The perspective's Doom mention supplies no corresponding experimental protocol or measured learning trajectory. The available sources therefore support different levels of detail for the two games.</a:t>
            </a:r>
            <a:endParaRPr lang="en-US"/>
          </a:p>
        </p:txBody>
      </p:sp>
      <p:sp>
        <p:nvSpPr>
          <p:cNvPr id="307" name="Shape 307"/>
          <p:cNvSpPr/>
          <p:nvPr/>
        </p:nvSpPr>
        <p:spPr>
          <a:xfrm>
            <a:off x="523875" y="43243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 game connection and adaptive task performance are separate achievements. The former establishes that neural output can affect an environment; the latter requires measured improvement and appropriate controls. The distinction determines whether a claim concerns a functioning interface, a changing action policy, or a demonstrated learning effect under specified conditions.</a:t>
            </a:r>
            <a:endParaRPr lang="en-US"/>
          </a:p>
        </p:txBody>
      </p:sp>
      <p:pic>
        <p:nvPicPr>
          <p:cNvPr id="143" name="Presenton Native Image 44" descr=""/>
          <p:cNvPicPr/>
          <p:nvPr/>
        </p:nvPicPr>
        <p:blipFill>
          <a:blip r:embed="rId2" cstate="none"/>
          <a:stretch>
            <a:fillRect/>
          </a:stretch>
        </p:blipFill>
        <p:spPr>
          <a:xfrm>
            <a:off x="7573369" y="1200150"/>
            <a:ext cx="2845987" cy="4429125"/>
          </a:xfrm>
          <a:prstGeom prst="rect">
            <a:avLst/>
          </a:prstGeom>
        </p:spPr>
      </p:pic>
      <p:sp>
        <p:nvSpPr>
          <p:cNvPr id="308" name="Shape 308"/>
          <p:cNvSpPr/>
          <p:nvPr/>
        </p:nvSpPr>
        <p:spPr>
          <a:xfrm>
            <a:off x="6572250" y="57150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Sellar </a:t>
            </a:r>
            <a:r>
              <a:rPr sz="975" b="0" i="0">
                <a:solidFill>
                  <a:srgbClr val="000000"/>
                </a:solidFill>
                <a:latin typeface="Arial"/>
                <a:ea typeface="Arial"/>
              </a:rPr>
              <a:t>&amp;</a:t>
            </a:r>
            <a:r>
              <a:rPr sz="975" b="0" i="0">
                <a:solidFill>
                  <a:srgbClr val="000000"/>
                </a:solidFill>
                <a:latin typeface="Arial"/>
                <a:ea typeface="Arial"/>
              </a:rPr>
              <a:t xml:space="preserve"> Rouleau (2026), Fig. 1C. Published comparison of virtual and physical embodiments.</a:t>
            </a:r>
            <a:endParaRPr lang="en-US"/>
          </a:p>
        </p:txBody>
      </p:sp>
      <p:sp>
        <p:nvSpPr>
          <p:cNvPr id="309" name="Shape 309"/>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 xml:space="preserve">Sellar </a:t>
            </a:r>
            <a:r>
              <a:rPr sz="900" b="0" i="0">
                <a:solidFill>
                  <a:srgbClr val="000000"/>
                </a:solidFill>
                <a:latin typeface="Arial"/>
                <a:ea typeface="Arial"/>
              </a:rPr>
              <a:t>&amp;</a:t>
            </a:r>
            <a:r>
              <a:rPr sz="900" b="0" i="0">
                <a:solidFill>
                  <a:srgbClr val="000000"/>
                </a:solidFill>
                <a:latin typeface="Arial"/>
                <a:ea typeface="Arial"/>
              </a:rPr>
              <a:t xml:space="preserve"> Rouleau (2026); Kagan et al. (2022)</a:t>
            </a:r>
            <a:endParaRPr lang="en-US"/>
          </a:p>
        </p:txBody>
      </p:sp>
      <p:sp>
        <p:nvSpPr>
          <p:cNvPr id="310" name="Shape 310"/>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11" name="Shape 311"/>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The interface defines sensing and action</a:t>
            </a:r>
            <a:endParaRPr lang="en-US"/>
          </a:p>
        </p:txBody>
      </p:sp>
      <p:sp>
        <p:nvSpPr>
          <p:cNvPr id="312" name="Shape 312"/>
          <p:cNvSpPr/>
          <p:nvPr/>
        </p:nvSpPr>
        <p:spPr>
          <a:xfrm>
            <a:off x="523875" y="1200150"/>
            <a:ext cx="5591175" cy="1143000"/>
          </a:xfrm>
          <a:prstGeom prst="rect">
            <a:avLst/>
          </a:prstGeom>
          <a:noFill/>
        </p:spPr>
        <p:txBody>
          <a:bodyPr anchor="t" wrap="square" tIns="0" bIns="0" lIns="0" rIns="0">
            <a:normAutofit/>
          </a:bodyPr>
          <a:lstStyle/>
          <a:p>
            <a:pPr algn="l">
              <a:lnSpc>
                <a:spcPts val="1800"/>
              </a:lnSpc>
              <a:buNone/>
            </a:pPr>
            <a:r>
              <a:rPr sz="1425" b="1" i="0">
                <a:solidFill>
                  <a:srgbClr val="3F4A5A"/>
                </a:solidFill>
                <a:latin typeface="Arial"/>
                <a:ea typeface="Arial"/>
              </a:rPr>
              <a:t>Cybernetics</a:t>
            </a:r>
            <a:r>
              <a:rPr sz="1425" b="0" i="0">
                <a:solidFill>
                  <a:srgbClr val="000000"/>
                </a:solidFill>
                <a:latin typeface="Arial"/>
                <a:ea typeface="Arial"/>
              </a:rPr>
              <a:t xml:space="preserve"> studies control and communication in systems that link sensing, action, and feedback. Sellar and Rouleau describe controllers whose outputs alter the environment and thereby change subsequent input. The functional loop can include both living neural tissue and electronic components.</a:t>
            </a:r>
            <a:endParaRPr lang="en-US"/>
          </a:p>
        </p:txBody>
      </p:sp>
      <p:sp>
        <p:nvSpPr>
          <p:cNvPr id="313" name="Shape 313"/>
          <p:cNvSpPr/>
          <p:nvPr/>
        </p:nvSpPr>
        <p:spPr>
          <a:xfrm>
            <a:off x="523875" y="2533650"/>
            <a:ext cx="5591175" cy="13716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Pong supplied a small action space, upward or downward paddle movement, and electrically encoded ball information. Brainoware supplied classification and prediction readouts. These systems assigned different meanings to neural output because their interfaces implemented different computational tasks and different relationships between input and consequence.</a:t>
            </a:r>
            <a:endParaRPr lang="en-US"/>
          </a:p>
        </p:txBody>
      </p:sp>
      <p:sp>
        <p:nvSpPr>
          <p:cNvPr id="314" name="Shape 314"/>
          <p:cNvSpPr/>
          <p:nvPr/>
        </p:nvSpPr>
        <p:spPr>
          <a:xfrm>
            <a:off x="523875" y="4095750"/>
            <a:ext cx="5591175" cy="1600200"/>
          </a:xfrm>
          <a:prstGeom prst="rect">
            <a:avLst/>
          </a:prstGeom>
          <a:noFill/>
        </p:spPr>
        <p:txBody>
          <a:bodyPr anchor="t" wrap="square" tIns="0" bIns="0" lIns="0" rIns="0">
            <a:normAutofit/>
          </a:bodyPr>
          <a:lstStyle/>
          <a:p>
            <a:pPr algn="l">
              <a:lnSpc>
                <a:spcPts val="1800"/>
              </a:lnSpc>
              <a:buNone/>
            </a:pPr>
            <a:r>
              <a:rPr sz="1425" b="0" i="0">
                <a:solidFill>
                  <a:srgbClr val="000000"/>
                </a:solidFill>
                <a:latin typeface="Arial"/>
                <a:ea typeface="Arial"/>
              </a:rPr>
              <a:t>Adaptive behavior is consequently a property of the coupled arrangement. Encoding determines accessible information, decoding determines available output, and feedback determines the consequences returned to the network. Evaluating performance or welfare requires specifying those relationships alongside the neural preparation, because changing the interface changes what the same tissue can sense and control.</a:t>
            </a:r>
            <a:endParaRPr lang="en-US"/>
          </a:p>
        </p:txBody>
      </p:sp>
      <p:pic>
        <p:nvPicPr>
          <p:cNvPr id="144" name="Presenton Native Image 45" descr=""/>
          <p:cNvPicPr/>
          <p:nvPr/>
        </p:nvPicPr>
        <p:blipFill>
          <a:blip r:embed="rId2" cstate="none"/>
          <a:stretch>
            <a:fillRect/>
          </a:stretch>
        </p:blipFill>
        <p:spPr>
          <a:xfrm>
            <a:off x="6575915" y="1200150"/>
            <a:ext cx="4850419" cy="3057525"/>
          </a:xfrm>
          <a:prstGeom prst="rect">
            <a:avLst/>
          </a:prstGeom>
        </p:spPr>
      </p:pic>
      <p:sp>
        <p:nvSpPr>
          <p:cNvPr id="315" name="Shape 315"/>
          <p:cNvSpPr/>
          <p:nvPr/>
        </p:nvSpPr>
        <p:spPr>
          <a:xfrm>
            <a:off x="6572250" y="4343400"/>
            <a:ext cx="4876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Sellar </a:t>
            </a:r>
            <a:r>
              <a:rPr sz="975" b="0" i="0">
                <a:solidFill>
                  <a:srgbClr val="000000"/>
                </a:solidFill>
                <a:latin typeface="Arial"/>
                <a:ea typeface="Arial"/>
              </a:rPr>
              <a:t>&amp;</a:t>
            </a:r>
            <a:r>
              <a:rPr sz="975" b="0" i="0">
                <a:solidFill>
                  <a:srgbClr val="000000"/>
                </a:solidFill>
                <a:latin typeface="Arial"/>
                <a:ea typeface="Arial"/>
              </a:rPr>
              <a:t xml:space="preserve"> Rouleau (2026), Fig. 1A. Published sensor-controller-actuator feedback loop.</a:t>
            </a:r>
            <a:endParaRPr lang="en-US"/>
          </a:p>
        </p:txBody>
      </p:sp>
      <p:sp>
        <p:nvSpPr>
          <p:cNvPr id="316" name="Shape 316"/>
          <p:cNvSpPr/>
          <p:nvPr/>
        </p:nvSpPr>
        <p:spPr>
          <a:xfrm>
            <a:off x="523875" y="6457950"/>
            <a:ext cx="1087755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 xml:space="preserve">Sellar </a:t>
            </a:r>
            <a:r>
              <a:rPr sz="900" b="0" i="0">
                <a:solidFill>
                  <a:srgbClr val="000000"/>
                </a:solidFill>
                <a:latin typeface="Arial"/>
                <a:ea typeface="Arial"/>
              </a:rPr>
              <a:t>&amp;</a:t>
            </a:r>
            <a:r>
              <a:rPr sz="900" b="0" i="0">
                <a:solidFill>
                  <a:srgbClr val="000000"/>
                </a:solidFill>
                <a:latin typeface="Arial"/>
                <a:ea typeface="Arial"/>
              </a:rPr>
              <a:t xml:space="preserve"> Rouleau (2026); Kagan et al. (2022); Cai et al. (2023)</a:t>
            </a:r>
            <a:endParaRPr lang="en-US"/>
          </a:p>
        </p:txBody>
      </p:sp>
      <p:sp>
        <p:nvSpPr>
          <p:cNvPr id="317" name="Shape 317"/>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18" name="Shape 318"/>
          <p:cNvSpPr/>
          <p:nvPr/>
        </p:nvSpPr>
        <p:spPr>
          <a:xfrm>
            <a:off x="523875" y="361950"/>
            <a:ext cx="11163300" cy="361950"/>
          </a:xfrm>
          <a:prstGeom prst="rect">
            <a:avLst/>
          </a:prstGeom>
          <a:noFill/>
        </p:spPr>
        <p:txBody>
          <a:bodyPr anchor="t" wrap="square" tIns="0" bIns="0" lIns="0" rIns="0">
            <a:normAutofit/>
          </a:bodyPr>
          <a:lstStyle/>
          <a:p>
            <a:pPr algn="l">
              <a:lnSpc>
                <a:spcPts val="2850"/>
              </a:lnSpc>
              <a:buNone/>
            </a:pPr>
            <a:r>
              <a:rPr sz="2250" b="1" i="0">
                <a:solidFill>
                  <a:srgbClr val="3F4A5A"/>
                </a:solidFill>
                <a:latin typeface="Arial"/>
                <a:ea typeface="Arial"/>
              </a:rPr>
              <a:t>Key takeaways</a:t>
            </a:r>
            <a:endParaRPr lang="en-US"/>
          </a:p>
        </p:txBody>
      </p:sp>
      <p:sp>
        <p:nvSpPr>
          <p:cNvPr id="319" name="Shape 319"/>
          <p:cNvSpPr/>
          <p:nvPr/>
        </p:nvSpPr>
        <p:spPr>
          <a:xfrm>
            <a:off x="523875" y="1190625"/>
            <a:ext cx="10972800" cy="552450"/>
          </a:xfrm>
          <a:prstGeom prst="rect">
            <a:avLst/>
          </a:prstGeom>
          <a:noFill/>
        </p:spPr>
        <p:txBody>
          <a:bodyPr anchor="t" wrap="square" tIns="0" bIns="0" lIns="0" rIns="0">
            <a:normAutofit/>
          </a:bodyPr>
          <a:lstStyle/>
          <a:p>
            <a:pPr algn="l">
              <a:lnSpc>
                <a:spcPts val="2175"/>
              </a:lnSpc>
              <a:buNone/>
            </a:pPr>
            <a:r>
              <a:rPr sz="1575" b="1" i="0">
                <a:solidFill>
                  <a:srgbClr val="3F4A5A"/>
                </a:solidFill>
                <a:latin typeface="Arial"/>
                <a:ea typeface="Arial"/>
              </a:rPr>
              <a:t>Contingent feedback.</a:t>
            </a:r>
            <a:r>
              <a:rPr sz="1575" b="0" i="0">
                <a:solidFill>
                  <a:srgbClr val="000000"/>
                </a:solidFill>
                <a:latin typeface="Arial"/>
                <a:ea typeface="Arial"/>
              </a:rPr>
              <a:t xml:space="preserve"> Stopping stimulation after a selected response can increase that response, and Pong learning depends on how action changes subsequent input.</a:t>
            </a:r>
            <a:endParaRPr lang="en-US"/>
          </a:p>
        </p:txBody>
      </p:sp>
      <p:sp>
        <p:nvSpPr>
          <p:cNvPr id="320" name="Shape 320"/>
          <p:cNvSpPr/>
          <p:nvPr/>
        </p:nvSpPr>
        <p:spPr>
          <a:xfrm>
            <a:off x="523875" y="1990725"/>
            <a:ext cx="10972800" cy="552450"/>
          </a:xfrm>
          <a:prstGeom prst="rect">
            <a:avLst/>
          </a:prstGeom>
          <a:noFill/>
        </p:spPr>
        <p:txBody>
          <a:bodyPr anchor="t" wrap="square" tIns="0" bIns="0" lIns="0" rIns="0">
            <a:normAutofit/>
          </a:bodyPr>
          <a:lstStyle/>
          <a:p>
            <a:pPr algn="l">
              <a:lnSpc>
                <a:spcPts val="2175"/>
              </a:lnSpc>
              <a:buNone/>
            </a:pPr>
            <a:r>
              <a:rPr sz="1575" b="1" i="0">
                <a:solidFill>
                  <a:srgbClr val="3F4A5A"/>
                </a:solidFill>
                <a:latin typeface="Arial"/>
                <a:ea typeface="Arial"/>
              </a:rPr>
              <a:t>Sensory and action codes.</a:t>
            </a:r>
            <a:r>
              <a:rPr sz="1575" b="0" i="0">
                <a:solidFill>
                  <a:srgbClr val="000000"/>
                </a:solidFill>
                <a:latin typeface="Arial"/>
                <a:ea typeface="Arial"/>
              </a:rPr>
              <a:t xml:space="preserve"> Electrode location and pulse rate encode ball information; opposing output activity controls paddle movement through an electronic decoder.</a:t>
            </a:r>
            <a:endParaRPr lang="en-US"/>
          </a:p>
        </p:txBody>
      </p:sp>
      <p:sp>
        <p:nvSpPr>
          <p:cNvPr id="321" name="Shape 321"/>
          <p:cNvSpPr/>
          <p:nvPr/>
        </p:nvSpPr>
        <p:spPr>
          <a:xfrm>
            <a:off x="523875" y="2790825"/>
            <a:ext cx="10972800" cy="552450"/>
          </a:xfrm>
          <a:prstGeom prst="rect">
            <a:avLst/>
          </a:prstGeom>
          <a:noFill/>
        </p:spPr>
        <p:txBody>
          <a:bodyPr anchor="t" wrap="square" tIns="0" bIns="0" lIns="0" rIns="0">
            <a:normAutofit/>
          </a:bodyPr>
          <a:lstStyle/>
          <a:p>
            <a:pPr algn="l">
              <a:lnSpc>
                <a:spcPts val="2175"/>
              </a:lnSpc>
              <a:buNone/>
            </a:pPr>
            <a:r>
              <a:rPr sz="1575" b="1" i="0">
                <a:solidFill>
                  <a:srgbClr val="3F4A5A"/>
                </a:solidFill>
                <a:latin typeface="Arial"/>
                <a:ea typeface="Arial"/>
              </a:rPr>
              <a:t>Network state.</a:t>
            </a:r>
            <a:r>
              <a:rPr sz="1575" b="0" i="0">
                <a:solidFill>
                  <a:srgbClr val="000000"/>
                </a:solidFill>
                <a:latin typeface="Arial"/>
                <a:ea typeface="Arial"/>
              </a:rPr>
              <a:t xml:space="preserve"> Adaptive output involves population coordination, and high-dose carbamazepine improves gameplay in the tested hyperactive NGN2 preparation.</a:t>
            </a:r>
            <a:endParaRPr lang="en-US"/>
          </a:p>
        </p:txBody>
      </p:sp>
      <p:sp>
        <p:nvSpPr>
          <p:cNvPr id="322" name="Shape 322"/>
          <p:cNvSpPr/>
          <p:nvPr/>
        </p:nvSpPr>
        <p:spPr>
          <a:xfrm>
            <a:off x="523875" y="3590925"/>
            <a:ext cx="10972800" cy="552450"/>
          </a:xfrm>
          <a:prstGeom prst="rect">
            <a:avLst/>
          </a:prstGeom>
          <a:noFill/>
        </p:spPr>
        <p:txBody>
          <a:bodyPr anchor="t" wrap="square" tIns="0" bIns="0" lIns="0" rIns="0">
            <a:normAutofit/>
          </a:bodyPr>
          <a:lstStyle/>
          <a:p>
            <a:pPr algn="l">
              <a:lnSpc>
                <a:spcPts val="2175"/>
              </a:lnSpc>
              <a:buNone/>
            </a:pPr>
            <a:r>
              <a:rPr sz="1575" b="1" i="0">
                <a:solidFill>
                  <a:srgbClr val="3F4A5A"/>
                </a:solidFill>
                <a:latin typeface="Arial"/>
                <a:ea typeface="Arial"/>
              </a:rPr>
              <a:t>Reservoir computation.</a:t>
            </a:r>
            <a:r>
              <a:rPr sz="1575" b="0" i="0">
                <a:solidFill>
                  <a:srgbClr val="000000"/>
                </a:solidFill>
                <a:latin typeface="Arial"/>
                <a:ea typeface="Arial"/>
              </a:rPr>
              <a:t xml:space="preserve"> Brainoware combines nonlinear, fading neural responses with trained electronic readouts for speech classification and time-series prediction.</a:t>
            </a:r>
            <a:endParaRPr lang="en-US"/>
          </a:p>
        </p:txBody>
      </p:sp>
      <p:sp>
        <p:nvSpPr>
          <p:cNvPr id="323" name="Shape 323"/>
          <p:cNvSpPr/>
          <p:nvPr/>
        </p:nvSpPr>
        <p:spPr>
          <a:xfrm>
            <a:off x="523875" y="4391025"/>
            <a:ext cx="10972800" cy="552450"/>
          </a:xfrm>
          <a:prstGeom prst="rect">
            <a:avLst/>
          </a:prstGeom>
          <a:noFill/>
        </p:spPr>
        <p:txBody>
          <a:bodyPr anchor="t" wrap="square" tIns="0" bIns="0" lIns="0" rIns="0">
            <a:normAutofit/>
          </a:bodyPr>
          <a:lstStyle/>
          <a:p>
            <a:pPr algn="l">
              <a:lnSpc>
                <a:spcPts val="2175"/>
              </a:lnSpc>
              <a:buNone/>
            </a:pPr>
            <a:r>
              <a:rPr sz="1575" b="1" i="0">
                <a:solidFill>
                  <a:srgbClr val="3F4A5A"/>
                </a:solidFill>
                <a:latin typeface="Arial"/>
                <a:ea typeface="Arial"/>
              </a:rPr>
              <a:t>Comparative performance.</a:t>
            </a:r>
            <a:r>
              <a:rPr sz="1575" b="0" i="0">
                <a:solidFill>
                  <a:srgbClr val="000000"/>
                </a:solidFill>
                <a:latin typeface="Arial"/>
                <a:ea typeface="Arial"/>
              </a:rPr>
              <a:t xml:space="preserve"> Sample efficiency depends on the experience budget, input representation, action mapping, and algorithm used in the comparison.</a:t>
            </a:r>
            <a:endParaRPr lang="en-US"/>
          </a:p>
        </p:txBody>
      </p:sp>
      <p:sp>
        <p:nvSpPr>
          <p:cNvPr id="324" name="Shape 324"/>
          <p:cNvSpPr/>
          <p:nvPr/>
        </p:nvSpPr>
        <p:spPr>
          <a:xfrm>
            <a:off x="523875" y="5191125"/>
            <a:ext cx="10972800" cy="552450"/>
          </a:xfrm>
          <a:prstGeom prst="rect">
            <a:avLst/>
          </a:prstGeom>
          <a:noFill/>
        </p:spPr>
        <p:txBody>
          <a:bodyPr anchor="t" wrap="square" tIns="0" bIns="0" lIns="0" rIns="0">
            <a:normAutofit/>
          </a:bodyPr>
          <a:lstStyle/>
          <a:p>
            <a:pPr algn="l">
              <a:lnSpc>
                <a:spcPts val="2175"/>
              </a:lnSpc>
              <a:buNone/>
            </a:pPr>
            <a:r>
              <a:rPr sz="1575" b="1" i="0">
                <a:solidFill>
                  <a:srgbClr val="3F4A5A"/>
                </a:solidFill>
                <a:latin typeface="Arial"/>
                <a:ea typeface="Arial"/>
              </a:rPr>
              <a:t>Sentience and welfare.</a:t>
            </a:r>
            <a:r>
              <a:rPr sz="1575" b="0" i="0">
                <a:solidFill>
                  <a:srgbClr val="000000"/>
                </a:solidFill>
                <a:latin typeface="Arial"/>
                <a:ea typeface="Arial"/>
              </a:rPr>
              <a:t xml:space="preserve"> Adaptive performance and subjective experience require different evidence; welfare proposals state their assumptions about experience and suffering.</a:t>
            </a:r>
            <a:endParaRPr lang="en-US"/>
          </a:p>
        </p:txBody>
      </p:sp>
      <p:sp>
        <p:nvSpPr>
          <p:cNvPr id="325" name="Shape 325"/>
          <p:cNvSpPr/>
          <p:nvPr/>
        </p:nvSpPr>
        <p:spPr>
          <a:xfrm>
            <a:off x="523875" y="6457950"/>
            <a:ext cx="10925175"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Kagan et al. (2022); Cai et al. (2023); Watmuff et al. (2025); Milford et al. (2023)</a:t>
            </a:r>
            <a:endParaRPr lang="en-US"/>
          </a:p>
        </p:txBody>
      </p:sp>
      <p:sp>
        <p:nvSpPr>
          <p:cNvPr id="326" name="Shape 326"/>
          <p:cNvSpPr/>
          <p:nvPr/>
        </p:nvSpPr>
        <p:spPr>
          <a:xfrm>
            <a:off x="11430000" y="6457950"/>
            <a:ext cx="304800" cy="161925"/>
          </a:xfrm>
          <a:prstGeom prst="rect">
            <a:avLst/>
          </a:prstGeom>
          <a:noFill/>
        </p:spPr>
        <p:txBody>
          <a:bodyPr anchor="t" wrap="square" tIns="0" bIns="0" lIns="0" rIns="0">
            <a:normAutofit/>
          </a:bodyPr>
          <a:lstStyle/>
          <a:p>
            <a:pPr algn="l">
              <a:lnSpc>
                <a:spcPts val="1275"/>
              </a:lnSpc>
              <a:buNone/>
            </a:pPr>
            <a:r>
              <a:rPr sz="900" b="0" i="0">
                <a:solidFill>
                  <a:srgbClr val="000000"/>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Neuroethology_Lecture72_FA2026</dc:title>
  <dc:subject>Generated by Presenton export-core</dc:subject>
  <dc:creator>Presenton</dc:creator>
  <cp:lastModifiedBy>Presenton</cp:lastModifiedBy>
  <dcterms:created xsi:type="dcterms:W3CDTF">2026-10-10T10:33:32.063Z</dcterms:created>
  <dcterms:modified xsi:type="dcterms:W3CDTF">2026-10-10T10:33:32.063Z</dcterms:modified>
</cp:coreProperties>
</file>