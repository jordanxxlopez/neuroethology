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in Virtual and Interactive Environments I: Animals in virtual worlds, navigation, learning, and adaptive behavior across species</a:t>
            </a:r>
          </a:p>
          <a:p>
            <a:r>
              <a:t>Lecture 85. NEUR 411 · NEUROETHOLOGY · FALL 2026. Date TBD.</a:t>
            </a:r>
          </a:p>
          <a:p/>
          <a:p>
            <a:r>
              <a:t>Figure: Nityananda et al. (2016), Fig. 3(a). Praying mantis wearing eye filters during a virtual-prey experiment.</a:t>
            </a:r>
          </a:p>
          <a:p>
            <a:r>
              <a:t>Figure source: https://doi.org/10.1038/srep18718</a:t>
            </a:r>
          </a:p>
          <a:p/>
          <a:p>
            <a:r>
              <a:t>References:</a:t>
            </a:r>
          </a:p>
          <a:p>
            <a:r>
              <a:t>Nityananda V, Tarawneh G, Rosner R, Nicolas J, Crichton S, Read J (2016). Insect stereopsis demonstrated using a 3D insect cinema. Scientific reports 6:18718.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r>
              <a:t>• Stowers and colleagues built FreemoVR,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r>
              <a:t>• Flies circled both a real post and its virtual counterpart. Without a post, they also occupied the arena center. Zebrafish similarly avoided the space occupied by real or virtual posts, connecting controlled visual geometry to the animals’ trajectories.</a:t>
            </a:r>
          </a:p>
          <a:p>
            <a:r>
              <a:t>• The real-post, virtual-post, and no-post conditions separate responses to an object from baseline exploration. The same physical arena can contain different visual obstacles without handling the animal between conditions.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1(a–h). Free-moving arenas and responses to real and virtual posts.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Perspective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r>
              <a:t>• Camera-based computer vision,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r>
              <a:t>• 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a:p>
            <a:r>
              <a:t>• The computer does not move the physical post in the virtual condition. It changes the images on the arena walls and floor so that the post has the visual behavior of an object at a specified location.</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1(a–d). Perspective rendering and flight, mouse, and aquatic apparatus.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interacted with a photorealistic virtual fish whose motion was controlled by the experimenter. A virtual agent is a computer-controlled entity that changes its behavior according to specified rules. Its response to the real animal can be varied independently of its appearance.</a:t>
            </a:r>
          </a:p>
          <a:p>
            <a:r>
              <a:t>• 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r>
              <a:t>• 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a:p>
            <a:r>
              <a:t>• The interaction is bidirectional. The real fish responds to the agent, and the agent responds to the real fish. Holding appearance constant while altering the coupling rule tests a behavioral mechanism for social influence.</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5(i–l). Real–virtual fish trajectories and effects of social coupling.</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could enter visually marked portals,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r>
              <a:t>• One environment contained a swarm of game-like agents. These agents followed a flocking rule, a movement algorithm that coordinated their motion with nearby individuals, including the real fish. Fish occupancy and swimming speed changed in the swarm condition; animals spent longer there and swam more slowly.</a:t>
            </a:r>
          </a:p>
          <a:p>
            <a:r>
              <a:t>• 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a:p>
            <a:r>
              <a:t>• In the source experiment, one-hour sessions produced a portal-color preference and scene-dependent swimming, rather than evidence of learning the portal–outcome association. This distinction changes the interpretation of what counts as success in the virtual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5(a–h). Portal choices, scene occupancy, and swimming with a virtual swarm.</a:t>
            </a:r>
          </a:p>
          <a:p>
            <a:r>
              <a:t>Figure source: https://doi.org/10.1038/nmeth.4399</a:t>
            </a:r>
          </a:p>
          <a:p/>
          <a:p>
            <a:r>
              <a:t>Article-provided recording: Stowers et al. (2017), Supplementary Video 13. Zebrafish portals and virtual swarms.</a:t>
            </a:r>
          </a:p>
          <a:p>
            <a:r>
              <a:t>• Entering a portal changes the visual world while the animal remains in the same tank. Computer-controlled swarm agents couple their movements to the real fish.</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Heading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r>
              <a:t>• Two-photon calcium imaging measured fluorescence from GCaMP6f, a protein sensor whose brightness changes with intracellular calcium. The recorded neurons occupied wedges of the ellipsoid body, a ring-shaped structure in the central complex of the fly brain. A localized activity peak moved around this ring as the landmark rotated.</a:t>
            </a:r>
          </a:p>
          <a:p>
            <a:r>
              <a:t>• 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a:p>
            <a:r>
              <a:t>• The visual arena covered 270° around the fly, while the neural population occupied the full circular extent of the ellipsoid body. Calcium fluorescence provides a population activity measure, rather than a direct count of every action potential.</a:t>
            </a:r>
          </a:p>
          <a:p/>
          <a:p>
            <a:r>
              <a:t>References:</a:t>
            </a:r>
          </a:p>
          <a:p>
            <a:r>
              <a:t>Seelig JD, Jayaraman V (2015). Neural dynamics for landmark orientation and angular path integration. Nature 521:186-191. https://doi.org/10.1038/nature14446</a:t>
            </a:r>
          </a:p>
          <a:p/>
          <a:p>
            <a:r>
              <a:t>Figure: Seelig &amp; Jayaraman (2015), Fig. 1(a–e). Central-complex anatomy and the ellipsoid-body recording plane.</a:t>
            </a:r>
          </a:p>
          <a:p>
            <a:r>
              <a:t>Figure source: https://doi.org/10.1038/nature14446</a:t>
            </a:r>
          </a:p>
          <a:p/>
          <a:p>
            <a:r>
              <a:t>Article-provided recording: Seelig &amp; Jayaraman (2015), article-provided video: NIHMS680093-supplement-12.mp4. Fly heading activity.</a:t>
            </a:r>
          </a:p>
          <a:p>
            <a:r>
              <a:t>• The animal walks on a spherical treadmill while the closed-loop stripe changes position. Ellipsoid-body fluorescence and the population-vector direction accompany the measured stripe position. The published recording uses accelerated playback; the original timing is retained.</a:t>
            </a:r>
          </a:p>
          <a:p>
            <a:r>
              <a:t>Article DOI: https://doi.org/10.1038/nature14446</a:t>
            </a:r>
          </a:p>
          <a:p>
            <a:r>
              <a:t>Original media URL: https://pmc-oa-opendata.s3.amazonaws.com/PMC4704792.1/NIHMS680093-supplement-12.mp4</a:t>
            </a:r>
          </a:p>
          <a:p>
            <a:r>
              <a:t>Credit: Seelig JD, Jayaraman V (2015). Neural dynamics for landmark orientation and angular path integration. Nature 521:186-191. https://doi.org/10.1038/nature14446</a:t>
            </a:r>
          </a:p>
          <a:p>
            <a:r>
              <a:t>License: Nature academic research reuse conditions: http://www.nature.com/authors/editorial_policies/license.html#terms</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fly’s central complex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r>
              <a:t>• A retinotopic map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r>
              <a:t>• 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a:p>
            <a:r>
              <a:t>• The activity peak is a pattern across many wedge neurons. Its location carries the direction estimate, while visual features provide external anchors for that estimate.</a:t>
            </a:r>
          </a:p>
          <a:p/>
          <a:p>
            <a:r>
              <a:t>References:</a:t>
            </a:r>
          </a:p>
          <a:p>
            <a:r>
              <a:t>Seelig JD, Jayaraman V (2015). Neural dynamics for landmark orientation and angular path integration. Nature 521:186-191. https://doi.org/10.1038/nature14446</a:t>
            </a:r>
          </a:p>
          <a:p/>
          <a:p>
            <a:r>
              <a:t>Figure: Seelig &amp; Jayaraman (2015), Fig. 2(a–g). A single neural peak during movement through a complex scene.</a:t>
            </a:r>
          </a:p>
          <a:p>
            <a:r>
              <a:t>Figure source: https://doi.org/10.1038/nature14446</a:t>
            </a:r>
          </a:p>
          <a:p/>
          <a:p>
            <a:r>
              <a:t>Figure: Seelig &amp; Jayaraman (2015), Fig. 1(a–e). Central-complex structures and the ellipsoid-body recording plane.</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path integration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r>
              <a:t>• 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r>
              <a:t>• When flies stopped walking in darkness, a representation of the previous orientation could persist for more than 30 s. On renewed movement, activity could reappear at the expected position. A ring-attractor hypothesis proposes that recurrent interactions sustain a localized directional state and move it when turning-related input arrives.</a:t>
            </a:r>
          </a:p>
          <a:p>
            <a:r>
              <a:t>• The sustained heading representation outlasted the sensor’s calcium-decay timescale. Persistence in darkness and updating during movement are different operations carried by the same population.</a:t>
            </a:r>
          </a:p>
          <a:p/>
          <a:p>
            <a:r>
              <a:t>References:</a:t>
            </a:r>
          </a:p>
          <a:p>
            <a:r>
              <a:t>Seelig JD, Jayaraman V (2015). Neural dynamics for landmark orientation and angular path integration. Nature 521:186-191. https://doi.org/10.1038/nature14446</a:t>
            </a:r>
          </a:p>
          <a:p/>
          <a:p>
            <a:r>
              <a:t>Figure: Seelig &amp; Jayaraman (2015), Fig. 4(a–i). Heading activity during darkness and stationary periods.</a:t>
            </a:r>
          </a:p>
          <a:p>
            <a:r>
              <a:t>Figure source: https://doi.org/10.1038/nature14446</a:t>
            </a:r>
          </a:p>
          <a:p/>
          <a:p>
            <a:r>
              <a:t>Figure: Seelig &amp; Jayaraman (2015), Fig. 1(b–e). Ellipsoid-body anatomy and wedge-neuron organization.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Fisher and colleagues recorded membrane voltage from E–PG neurons, the fly compass neurons that form a circular heading representation. Brief visual bars flashed at randomized positions for 500 ms. Some positions produced hyperpolarization, a shift of membrane voltage toward more negative values that reduces neuronal excitability.</a:t>
            </a:r>
          </a:p>
          <a:p>
            <a:r>
              <a:t>• Ring neurons, also called R neurons, supply visual input to this network and release GABA,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r>
              <a:t>• 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a:p>
            <a:r>
              <a:t>• A receptive field is the set of stimulus positions that changes a neuron’s activity. Here the field was measured from voltage changes, including inhibitory responses, rather than only from increases in spike rate.</a:t>
            </a:r>
          </a:p>
          <a:p/>
          <a:p>
            <a:r>
              <a:t>References:</a:t>
            </a:r>
          </a:p>
          <a:p>
            <a:r>
              <a:t>Fisher YE, Lu J, D'Alessandro I, Wilson RI (2019). Sensorimotor experience remaps visual input to a heading-direction network. Nature 576:121-125. https://doi.org/10.1038/s41586-019-1772-4</a:t>
            </a:r>
          </a:p>
          <a:p/>
          <a:p>
            <a:r>
              <a:t>Figure: Fisher et al. (2019), Fig. 1(a–h). Compass and ring-neuron organization with position-selective voltage responses.</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r>
              <a:t>• The investigators also expressed Kir2.1,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r>
              <a:t>• 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a:p>
            <a:r>
              <a:t>• Chrimson makes the chosen R neurons more excitable when illuminated. Kir2.1 has the opposite experimental role, lowering excitability through added potassium conductance. Their opposite interventions identify the direction of influence on the recorded E–PG neuron.</a:t>
            </a:r>
          </a:p>
          <a:p/>
          <a:p>
            <a:r>
              <a:t>References:</a:t>
            </a:r>
          </a:p>
          <a:p>
            <a:r>
              <a:t>Fisher YE, Lu J, D'Alessandro I, Wilson RI (2019). Sensorimotor experience remaps visual input to a heading-direction network. Nature 576:121-125. https://doi.org/10.1038/s41586-019-1772-4</a:t>
            </a:r>
          </a:p>
          <a:p/>
          <a:p>
            <a:r>
              <a:t>Figure: Fisher et al. (2019), Fig. 3(a–c). R-neuron responses, optogenetic activation, and Kir2.1 suppression.</a:t>
            </a:r>
          </a:p>
          <a:p>
            <a:r>
              <a:t>Figure source: https://doi.org/10.1038/s41586-019-1772-4</a:t>
            </a:r>
          </a:p>
          <a:p/>
          <a:p>
            <a:r>
              <a:t>Figure: Fisher et al. (2019), Fig. 1(a–h). Anatomical organization of the visual-to-compass pathway.</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r>
              <a:t>• 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r>
              <a:t>• Whole-cell measurements also detected changes in visually evoked inhibition after altered sensorimotor experience. A synaptic-plasticity hypothesis proposes that coincident input and compass activity weaken selected inhibitory connections. Reweighting those connections would align the internal directional state with the animal’s experienced visual world.</a:t>
            </a:r>
          </a:p>
          <a:p>
            <a:r>
              <a:t>• Plasticity refers to a lasting change in neural influence or activity caused by experience. The paper proposes associative depression of inhibitory inputs as an explanation for the measured receptive-field and reference-frame changes.</a:t>
            </a:r>
          </a:p>
          <a:p/>
          <a:p>
            <a:r>
              <a:t>References:</a:t>
            </a:r>
          </a:p>
          <a:p>
            <a:r>
              <a:t>Fisher YE, Lu J, D'Alessandro I, Wilson RI (2019). Sensorimotor experience remaps visual input to a heading-direction network. Nature 576:121-125. https://doi.org/10.1038/s41586-019-1772-4</a:t>
            </a:r>
          </a:p>
          <a:p>
            <a:r>
              <a:t>Seelig JD, Jayaraman V (2015). Neural dynamics for landmark orientation and angular path integration. Nature 521:186-191. https://doi.org/10.1038/nature14446</a:t>
            </a:r>
          </a:p>
          <a:p/>
          <a:p>
            <a:r>
              <a:t>Figure: Fisher et al. (2019), Fig. 4(a–e). Persistent compass-offset changes following two-landmark experience.</a:t>
            </a:r>
          </a:p>
          <a:p>
            <a:r>
              <a:t>Figure source: https://doi.org/10.1038/s41586-019-1772-4</a:t>
            </a:r>
          </a:p>
          <a:p/>
          <a:p>
            <a:r>
              <a:t>Figure: Seelig &amp; Jayaraman (2015), Fig. 1(b–e). The circular anatomical substrate of the heading population.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r>
              <a:t>• Differential conditioning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r>
              <a:t>• 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a:p>
            <a:r>
              <a:t>• The rewarded cue is often called CS+, a conditioned stimulus predicting a positive outcome. CS− predicts the alternative outcome. Reward was delivered after the animal centered the cue, connecting visual selection to its consequence.</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1(A–C). A tethered bee and its closed-loop color-choice apparatus.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vision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r>
              <a:t>• 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r>
              <a:t>• 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a:p>
            <a:r>
              <a:t>• The comparison held color identity and initial stimulus size consistent, while changing movement freedom. Active sampling therefore belongs to the learning situation, rather than being a separate process that begins only after perception.</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1(A–F). Virtual walking apparatus and the real Y-maze with matched color cues.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Bees trained in virtual reality were subsequently released into a real Y-maze containing the same color cues. Transfer means expressing learned information in a context different from the training context. The test removed the tether and allowed movement down the maze arms toward the visual targets.</a:t>
            </a:r>
          </a:p>
          <a:p>
            <a:r>
              <a:t>• 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r>
              <a:t>• 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a:p>
            <a:r>
              <a:t>• The study distinguishes learning during training from the expression of learning at test. A bee may possess usable information even when its earlier response under restraint was unsuccessful.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4(A–B). Unrewarded choices after transfers between virtual reality and a maze.</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r>
              <a:t>• 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r>
              <a:t>• Context-dependent expression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a:p>
            <a:r>
              <a:t>• The authors discuss both movement-related visual sampling and the mechanical effects of tethering. Their results support an interaction between learned cue value and the sensorimotor conditions of retrieval.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1(D–F). The Y-maze and detachable arms used for unrestricted color choices.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r>
              <a:t>• The mushroom bodies are higher-order insect brain structures whose calyces receive sensory input. Immediate early genes are genes whose transcription can increase rapidly following neural activation. The investigators measured Egr1, Hr38, and kakusei RNA after learning, comparing successful and unsuccessful animals exposed to the same task.</a:t>
            </a:r>
          </a:p>
          <a:p>
            <a:r>
              <a:t>• Egr1, a gene encoding a transcription factor, was elevated in the mushroom-body calyces of successful learners. The calyces contain the input regions of Kenyon cells, the principal mushroom-body neurons. Learning-associated transcription was therefore concentrated in a sensory integration region rather than uniformly distributed throughout the sampled brain.</a:t>
            </a:r>
          </a:p>
          <a:p>
            <a:r>
              <a:t>• Brains were collected one hour after the retention test. RNA expression is a molecular correlate of the preceding experience, not a moment-by-moment recording of Kenyon-cell spiking.</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5(h–j). Egr1 expression in three sampled brain regions.</a:t>
            </a:r>
          </a:p>
          <a:p>
            <a:r>
              <a:t>Figure source: https://doi.org/10.1038/s42003-022-03075-8</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separately sampled the optic lobes,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r>
              <a:t>• 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r>
              <a:t>• 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a:p>
            <a:r>
              <a:t>• The experiment compared learner and non-learner expression within each sampled brain region. It did not directly compare expression magnitudes between different genes or between different regions.</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5(a–j). Brain-region anatomy and expression of three immediate early genes.</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Praying mantises strike with their forelegs when prey lies within reach. Stereopsis estimates depth from differences between the images reaching the two eyes. Nityananda and colleagues attached miniature blue and green filters to the eyes, allowing a monitor to present a different target position to each eye.</a:t>
            </a:r>
          </a:p>
          <a:p>
            <a:r>
              <a:t>• Binocular disparity is the difference in a target’s position between the two retinal images. Moving the two screen targets apart or together changed the depth specified by their disparity while leaving the physical monitor in the same place. A moving disc served as virtual prey.</a:t>
            </a:r>
          </a:p>
          <a:p>
            <a:r>
              <a:t>• 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a:p>
            <a:r>
              <a:t>• The filters are anaglyph glasses: each filter transmits one display color more strongly, directing the appropriate image primarily to its intended eye. The eye positions and monitor geometry determine the resulting virtual disparity.</a:t>
            </a:r>
          </a:p>
          <a:p/>
          <a:p>
            <a:r>
              <a:t>References:</a:t>
            </a:r>
          </a:p>
          <a:p>
            <a:r>
              <a:t>Nityananda V, Tarawneh G, Rosner R, Nicolas J, Crichton S, Read J (2016). Insect stereopsis demonstrated using a 3D insect cinema. Scientific reports 6:18718. https://doi.org/10.1038/srep18718</a:t>
            </a:r>
          </a:p>
          <a:p/>
          <a:p>
            <a:r>
              <a:t>Figure: Nityananda et al. (2016), Fig. 3(a–b). A mantis wearing eye filters and the virtual-prey apparatus.</a:t>
            </a:r>
          </a:p>
          <a:p>
            <a:r>
              <a:t>Figure source: https://doi.org/10.1038/srep18718</a:t>
            </a:r>
          </a:p>
          <a:p>
            <a:r>
              <a:t>Optional article recording, not embedded: Supplementary Video S4 returned DV decode errors and its conversion was truncated. Video S1 also returned source decode errors. Neither damaged conversion was used; original article figures remain. Original media URL: https://pmc-oa-opendata.s3.amazonaws.com/PMC4703989.1/srep18718-s5.avi Article DOI: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moving target could specify different distances by changing the separation of its left-eye and right-eye components. Crossed disparity corresponds to a target nearer than the monitor; zero disparity corresponds to its surface. Uncrossed disparity reverses the near-target relationship between the two eye images.</a:t>
            </a:r>
          </a:p>
          <a:p>
            <a:r>
              <a:t>• 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r>
              <a:t>• The study also recorded tensions,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a:p>
            <a:r>
              <a:t>• The original article recordings contain the mantis’s actual responses to the display. A physical screen can drive a motor action normally directed toward nearby three-dimensional prey.</a:t>
            </a:r>
          </a:p>
          <a:p/>
          <a:p>
            <a:r>
              <a:t>References:</a:t>
            </a:r>
          </a:p>
          <a:p>
            <a:r>
              <a:t>Nityananda V, Tarawneh G, Rosner R, Nicolas J, Crichton S, Read J (2016). Insect stereopsis demonstrated using a 3D insect cinema. Scientific reports 6:18718. https://doi.org/10.1038/srep18718</a:t>
            </a:r>
          </a:p>
          <a:p/>
          <a:p>
            <a:r>
              <a:t>Figure: Nityananda et al. (2016), Fig. 4(a–d). Prey-depth geometry and attack responses at three monitor distances.</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Crosstalk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r>
              <a:t>• Blue and green filters reduced this problem by separating the display’s spectral channels. The researchers measured light transmission and recorded electroretinograms, electrical responses of the compound eye to light. Physical measurements and eye responses characterized the signals available through each filter.</a:t>
            </a:r>
          </a:p>
          <a:p>
            <a:r>
              <a:t>• 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a:p>
            <a:r>
              <a:t>• The comparison concerns the separation of the two eye images. Color in this experiment functions as a delivery channel for stereoscopic stimuli, rather than as the behavioral feature the mantis is being trained to discriminate.</a:t>
            </a:r>
          </a:p>
          <a:p/>
          <a:p>
            <a:r>
              <a:t>References:</a:t>
            </a:r>
          </a:p>
          <a:p>
            <a:r>
              <a:t>Nityananda V, Tarawneh G, Rosner R, Nicolas J, Crichton S, Read J (2016). Insect stereopsis demonstrated using a 3D insect cinema. Scientific reports 6:18718. https://doi.org/10.1038/srep18718</a:t>
            </a:r>
          </a:p>
          <a:p/>
          <a:p>
            <a:r>
              <a:t>Figure: Nityananda et al. (2016), Fig. 2(a–c). Filter crosstalk measured optically, electrically, and behaviorally.</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Rosner and colleagues recorded individual mantis neurons while presenting targets separately to the two eyes. The optic lobes are the brain regions that process signals from the compound eyes. Intracellular recording measured neuronal responses while dye labeling identified each recorded cell’s anatomy.</a:t>
            </a:r>
          </a:p>
          <a:p>
            <a:r>
              <a:t>• 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r>
              <a:t>• 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a:p>
            <a:r>
              <a:t>• A commissure connects the two sides of the nervous system. The filled neurons’ anatomy and their binocular responses jointly identify routes through which information from the two eyes can interact.</a:t>
            </a:r>
          </a:p>
          <a:p/>
          <a:p>
            <a:r>
              <a:t>References:</a:t>
            </a:r>
          </a:p>
          <a:p>
            <a:r>
              <a:t>Rosner R, von Hadeln J, Tarawneh G, Read JCA (2019). A neuronal correlate of insect stereopsis. Nature communications 10:2845. https://doi.org/10.1038/s41467-019-10721-z</a:t>
            </a:r>
          </a:p>
          <a:p/>
          <a:p>
            <a:r>
              <a:t>Figure: Rosner et al. (2019), Fig. 3(a–l). Commissural-neuron anatomy and disparity-dependent responses.</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Eccentricity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r>
              <a:t>• The investigators also identified centrifugal neurons,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r>
              <a:t>• 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a:p>
            <a:r>
              <a:t>• The neuronal study identifies depth-related response properties and routes through the optic lobes. The mantis strike experiments separately connect the manipulated depth cue to the prey-catching action.</a:t>
            </a:r>
          </a:p>
          <a:p/>
          <a:p>
            <a:r>
              <a:t>References:</a:t>
            </a:r>
          </a:p>
          <a:p>
            <a:r>
              <a:t>Rosner R, von Hadeln J, Tarawneh G, Read JCA (2019). A neuronal correlate of insect stereopsis. Nature communications 10:2845. https://doi.org/10.1038/s41467-019-10721-z</a:t>
            </a:r>
          </a:p>
          <a:p/>
          <a:p>
            <a:r>
              <a:t>Figure: Rosner et al. (2019), Fig. 4(a–d). Feedback-neuron anatomy and binocular target-position tuning.</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r>
              <a:t>• The system covered about 65% of the complete visual field and allowed continuous rotation through 360° horizontally. A broad view preserved visual information across turns. Optic flow, the movement of visual features produced by self-motion, changed as the animal progressed among the virtual trees.</a:t>
            </a:r>
          </a:p>
          <a:p>
            <a:r>
              <a:t>• 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a:p>
            <a:r>
              <a:t>• The article-provided recording preserves the insect and display during exploration. The spherical projection surface presents a surrounding world while the tether prevents the animal from leaving the recording position.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1(b). A cockroach on the trackball within the projected forest.</a:t>
            </a:r>
          </a:p>
          <a:p>
            <a:r>
              <a:t>Figure source: https://doi.org/10.1038/srep00324</a:t>
            </a:r>
          </a:p>
          <a:p/>
          <a:p>
            <a:r>
              <a:t>Article-provided recording: Takalo et al. (2012), Supplementary Video S2. Cockroach virtual-forest exploration.</a:t>
            </a:r>
          </a:p>
          <a:p>
            <a:r>
              <a:t>• Walking rotates the trackball, and the projected forest updates from measured motion. The body stays tethered while the visual scene changes as a consequence of locomotor output.</a:t>
            </a:r>
          </a:p>
          <a:p>
            <a:r>
              <a:t>Article DOI: https://doi.org/10.1038/srep00324</a:t>
            </a:r>
          </a:p>
          <a:p>
            <a:r>
              <a:t>Original media URL: https://pmc-oa-opendata.s3.amazonaws.com/PMC3310229.1/srep00324-s2.mov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sensors measured rotation of the cockroach’s trackball. The computer converted that motion into translation and turning within the virtual forest. Closed-loop control means that the current movement measurement influences the next display update, permitting the animal to regulate its own progression through the scene.</a:t>
            </a:r>
          </a:p>
          <a:p>
            <a:r>
              <a:t>• 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r>
              <a:t>• A trajectory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a:p>
            <a:r>
              <a:t>• The trajectory is computed from recorded ball movement. It is a record of the animal’s actions in the virtual task, rather than an imposed path that the computer requires the animal to follow.</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6(a–f). Cockroach paths, movement time courses, and spatial occupancy.</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rhabdomeres, the light-sensitive parts of the receptors within the compound eye.</a:t>
            </a:r>
          </a:p>
          <a:p>
            <a:r>
              <a:t>• 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r>
              <a:t>• 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a:p>
            <a:r>
              <a:t>• The blowfly experiment recorded responses from Calliphora vicina. The fruit-fly receptor anatomy is a comparative dipteran example, rather than blowfly tissue from the recording experiment. Optical deep-pseudopupil images combine light from neighboring receptor structures, resolving their organized light-sensitive elements. The receptor measurements assess the projector’s temporal suitability for fast insect vision.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r>
              <a:t>Kemppainen J, Mansour N, Takalo J, Juusola M (2022). High-speed imaging of light-induced photoreceptor microsaccades in compound eyes. Communications biology 5:203. https://doi.org/10.1038/s42003-022-03142-0</a:t>
            </a:r>
          </a:p>
          <a:p/>
          <a:p>
            <a:r>
              <a:t>Figure: Takalo et al. (2012), Fig. 5(a–f). Blowfly receptor voltage with two projector generations.</a:t>
            </a:r>
          </a:p>
          <a:p>
            <a:r>
              <a:t>Figure source: https://doi.org/10.1038/srep00324</a:t>
            </a:r>
          </a:p>
          <a:p/>
          <a:p>
            <a:r>
              <a:t>Figure: Kemppainen et al. (2022), Fig. 4(a–b). Fruit-fly eyes and optical images of their photoreceptor rhabdomeres.</a:t>
            </a:r>
          </a:p>
          <a:p>
            <a:r>
              <a:t>Figure source: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r>
              <a:t>• 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r>
              <a:t>• 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a:p>
            <a:r>
              <a:t>• The unwanted white segment was a property of the projector rather than a commanded visual event. Its effect depended on the animal’s sensory dynamics, which makes display validation species-specific.</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4(a–b). Measured light fluctuations and their temporal-frequency content.</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Engert restrained larval zebrafish by the head while leaving the tail free to move. A moving grating beneath the fish elicited the optomotor response, swimming in the direction of visual motion. Tail movements were filmed and used to update the grating’s velocity during each swim bout.</a:t>
            </a:r>
          </a:p>
          <a:p>
            <a:r>
              <a:t>• A swim bout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r>
              <a:t>• 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a:p>
            <a:r>
              <a:t>• The source movie contains a ten-second trial together with the changing stimulus. The tail is physically mobile, unlike the completely paralyzed preparation used in the later brain-wide recording experiment.</a:t>
            </a:r>
          </a:p>
          <a:p/>
          <a:p>
            <a:r>
              <a:t>References:</a:t>
            </a:r>
          </a:p>
          <a:p>
            <a:r>
              <a:t>Portugues R, Engert F (2011). Adaptive locomotor behavior in larval zebrafish. Frontiers in systems neuroscience 5:72. https://doi.org/10.3389/fnsys.2011.00072</a:t>
            </a:r>
          </a:p>
          <a:p/>
          <a:p>
            <a:r>
              <a:t>Figure: Portugues &amp; Engert (2011), Fig. 1(A–C). A head-restrained larva and the tail-tracking preparation.</a:t>
            </a:r>
          </a:p>
          <a:p>
            <a:r>
              <a:t>Figure source: https://doi.org/10.3389/fnsys.2011.00072</a:t>
            </a:r>
          </a:p>
          <a:p/>
          <a:p>
            <a:r>
              <a:t>Article-provided recording: Portugues &amp; Engert (2011), Movie S1. Tail movements and closed-loop gratings.</a:t>
            </a:r>
          </a:p>
          <a:p>
            <a:r>
              <a:t>• A full approximately 10 s trial uses feedback gain 1. Tail oscillations accompany the visual grating whose movement is controlled by the measured swimming response. The stimulus depiction is not to scale, as specified by the original authors.</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H.264/yuv420p MP4 and AAC audio where present; original dimensions, scene, audio, and timing retained, with container/frame rounding below 0.06 s. No speed change or scientific edits.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r>
              <a:t>• 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r>
              <a:t>• 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a:p>
            <a:r>
              <a:t>• Bout duration and interbout interval are distinct control variables. Extending the active episode and reducing the subsequent pause both increase the amount of swimming over a trial, but through different parts of the motor pattern.</a:t>
            </a:r>
          </a:p>
          <a:p/>
          <a:p>
            <a:r>
              <a:t>References:</a:t>
            </a:r>
          </a:p>
          <a:p>
            <a:r>
              <a:t>Portugues R, Engert F (2011). Adaptive locomotor behavior in larval zebrafish. Frontiers in systems neuroscience 5:72. https://doi.org/10.3389/fnsys.2011.00072</a:t>
            </a:r>
          </a:p>
          <a:p/>
          <a:p>
            <a:r>
              <a:t>Figure: Portugues &amp; Engert (2011), Fig. 3(A–M). Tail activity and bout measures at high and low feedback gains.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r>
              <a:t>• After high-gain experience, bouts at gain 1 were shorter than after low-gain experience. The visual system and motor output therefore carried an influence of previous action consequences into the new condition. Adaptation is this experience-dependent adjustment of a movement pattern to changed feedback.</a:t>
            </a:r>
          </a:p>
          <a:p>
            <a:r>
              <a:t>• 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a:p>
            <a:r>
              <a:t>• The comparison uses the same current gain after different preceding gains. That design separates immediate response to the present display from a persisting effect of recent sensorimotor experience.</a:t>
            </a:r>
          </a:p>
          <a:p/>
          <a:p>
            <a:r>
              <a:t>References:</a:t>
            </a:r>
          </a:p>
          <a:p>
            <a:r>
              <a:t>Portugues R, Engert F (2011). Adaptive locomotor behavior in larval zebrafish. Frontiers in systems neuroscience 5:72. https://doi.org/10.3389/fnsys.2011.00072</a:t>
            </a:r>
          </a:p>
          <a:p/>
          <a:p>
            <a:r>
              <a:t>Figure: Portugues &amp; Engert (2011), Fig. 4(A–E). Motor-pattern changes across alternating feedback-gain conditions.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Fictive swimming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r>
              <a:t>• 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r>
              <a:t>• The researchers introduced periods of open-loop replay,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a:p>
            <a:r>
              <a:t>• The animal receives the visual consequences of its recorded motor commands despite paralysis. In replay, its present commands cease to influence the image sequence, changing both the behavioral context and the relationship between motor and visual signals.</a:t>
            </a:r>
          </a:p>
          <a:p/>
          <a:p>
            <a:r>
              <a:t>References:</a:t>
            </a:r>
          </a:p>
          <a:p>
            <a:r>
              <a:t>Ahrens MB, Li JM, Orger MB, Robson DN, Schier AF, Engert F, Portugues R (2012). Brain-wide neuronal dynamics during motor adaptation in zebrafish. Nature 485:471-477. https://doi.org/10.1038/nature11057</a:t>
            </a:r>
          </a:p>
          <a:p/>
          <a:p>
            <a:r>
              <a:t>Figure: Ahrens et al. (2012), Fig. 2(a–h). Cellular calcium imaging, fictive motor output, and functional brain maps.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feedback-gain changes, neuronal activity separated into transient and sustained response classes. Motor-related cells were more active during low-gain periods with stronger fictive swimming. Motor-off cells were more active during high-gain periods with weaker swimming, supplying a complementary relation to locomotor state.</a:t>
            </a:r>
          </a:p>
          <a:p>
            <a:r>
              <a:t>• Gain-decrease cells responded transiently after movement became less effective in the visual world. Gain-increase cells responded after the opposite change. Their signals were concentrated around the transition rather than remaining elevated throughout the new gain condition, distinguishing adaptation-associated events from the subsequent sustained state.</a:t>
            </a:r>
          </a:p>
          <a:p>
            <a:r>
              <a:t>• 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a:p>
            <a:r>
              <a:t>• The classification is based on when fluorescence rises relative to gain changes and motor output. Calling a response motor-related identifies that timing relationship; it does not by itself mean that the recorded cell is a motor neuron.</a:t>
            </a:r>
          </a:p>
          <a:p/>
          <a:p>
            <a:r>
              <a:t>References:</a:t>
            </a:r>
          </a:p>
          <a:p>
            <a:r>
              <a:t>Ahrens MB, Li JM, Orger MB, Robson DN, Schier AF, Engert F, Portugues R (2012). Brain-wide neuronal dynamics during motor adaptation in zebrafish. Nature 485:471-477. https://doi.org/10.1038/nature11057</a:t>
            </a:r>
          </a:p>
          <a:p/>
          <a:p>
            <a:r>
              <a:t>Figure: Ahrens et al. (2012), Fig. 4(a–l). Four neural response classes and their motor or visual relationships.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registered recorded neurons to a common larval brain, connecting response classes to anatomical location. Registration aligns measurements from different preparations into a shared coordinate system. Motor-related activity occurred across hindbrain regions, the cerebellum, and additional midbrain and forebrain sites.</a:t>
            </a:r>
          </a:p>
          <a:p>
            <a:r>
              <a:t>• The cerebellum is a brain region associated with motor regulation, while the inferior olive supplies signals to cerebellar circuitry. Both contained responses associated with adaptive locomotion. Gain-decrease activity included cerebellar locations, and gain-increase activity included a concentration in the inferior olive.</a:t>
            </a:r>
          </a:p>
          <a:p>
            <a:r>
              <a:t>• 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a:p>
            <a:r>
              <a:t>• The study’s maps preserve the original neuronal and neuropil positions. Multiple brain regions contained different response types, so the adaptive behavior was distributed across a circuit rather than localized to a single response class at one site.</a:t>
            </a:r>
          </a:p>
          <a:p/>
          <a:p>
            <a:r>
              <a:t>References:</a:t>
            </a:r>
          </a:p>
          <a:p>
            <a:r>
              <a:t>Ahrens MB, Li JM, Orger MB, Robson DN, Schier AF, Engert F, Portugues R (2012). Brain-wide neuronal dynamics during motor adaptation in zebrafish. Nature 485:471-477. https://doi.org/10.1038/nature11057</a:t>
            </a:r>
          </a:p>
          <a:p/>
          <a:p>
            <a:r>
              <a:t>Figure: Ahrens et al. (2012), Fig. 5(a–f). Anatomical locations of motor, gain-change, and motor-off responses.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Lesioning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r>
              <a:t>• 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r>
              <a:t>• The inferior olive connects into olivocerebellar circuitry,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a:p>
            <a:r>
              <a:t>• Retaining the visually elicited response after the lesion changes the conclusion: the inferior olive contributes to adjustment of movement effectiveness, rather than being required for all swimming in response to motion.</a:t>
            </a:r>
          </a:p>
          <a:p/>
          <a:p>
            <a:r>
              <a:t>References:</a:t>
            </a:r>
          </a:p>
          <a:p>
            <a:r>
              <a:t>Ahrens MB, Li JM, Orger MB, Robson DN, Schier AF, Engert F, Portugues R (2012). Brain-wide neuronal dynamics during motor adaptation in zebrafish. Nature 485:471-477. https://doi.org/10.1038/nature11057</a:t>
            </a:r>
          </a:p>
          <a:p/>
          <a:p>
            <a:r>
              <a:t>Figure: Ahrens et al. (2012), Fig. 6(a–c). Swim-bout power before and after inferior-olive or control lesions.</a:t>
            </a:r>
          </a:p>
          <a:p>
            <a:r>
              <a:t>Figure source: https://doi.org/10.1038/nature11057</a:t>
            </a:r>
          </a:p>
          <a:p/>
          <a:p>
            <a:r>
              <a:t>Figure: Ahrens et al. (2012), Fig. 5(a–f). Anatomical distribution of adaptive-control response classes.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r>
              <a:t>• Operant conditioning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r>
              <a:t>• 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a:p>
            <a:r>
              <a:t>• The mouse controls the virtual location through treadmill movement. The engine’s familiar game-rendering function is used as an experimental interface, while reward delivery connects the displayed location to a measurable behavioral consequence.</a:t>
            </a:r>
          </a:p>
          <a:p/>
          <a:p>
            <a:r>
              <a:t>References:</a:t>
            </a:r>
          </a:p>
          <a:p>
            <a:r>
              <a:t>Harvey CD, Collman F, Dombeck DA, Tank DW (2009). Intracellular dynamics of hippocampal place cells during virtual navigation. Nature 461:941-946. https://doi.org/10.1038/nature08499</a:t>
            </a:r>
          </a:p>
          <a:p/>
          <a:p>
            <a:r>
              <a:t>Figure: Harvey et al. (2009), Fig. 2(A–E). Virtual corridor, reward locations, and changes in trained navigation.</a:t>
            </a:r>
          </a:p>
          <a:p>
            <a:r>
              <a:t>Figure source: https://doi.org/10.1038/nature08499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fires preferentially when an animal occupies a particular region of an environment. Harvey and colleagues recorded extracellular action potentials from pyramidal neurons in hippocampal CA1, a subfield of the hippocampus. The mouse’s position along the virtual corridor was matched to the timing of each recorded spike.</a:t>
            </a:r>
          </a:p>
          <a:p>
            <a:r>
              <a:t>• Cells increased their firing within restricted place fields, the locations associated with elevated activity. Extracellularly recorded fields averaged about 41 cm in extent along the 180 cm corridor. Some cells had different activity for the two running directions, combining position with the direction of travel.</a:t>
            </a:r>
          </a:p>
          <a:p>
            <a:r>
              <a:t>• 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a:p>
            <a:r>
              <a:t>• The extracellular recording detects spikes outside the cell, whereas the later whole-cell recording measures membrane voltage directly. Both methods identify location-dependent activity, but only the latter measures the subthreshold changes preceding spiking.</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3(A–E). Position-dependent CA1 spiking and timing along the virtual corridor.</a:t>
            </a:r>
          </a:p>
          <a:p>
            <a:r>
              <a:t>Figure source: https://doi.org/10.1038/nature08499</a:t>
            </a:r>
          </a:p>
          <a:p/>
          <a:p>
            <a:r>
              <a:t>Figure: Dombeck et al. (2010), Fig. 1(f). Hippocampal imaging access and CA1 cell-body and dendritic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uses a glass pipette to measure membrane voltage from inside a neuron. Head restraint during virtual navigation supplied sufficient stability for this technique. It exposed subthreshold activity, voltage changes occurring below the level required to generate an action potential.</a:t>
            </a:r>
          </a:p>
          <a:p>
            <a:r>
              <a:t>• As a mouse approached a CA1 place field, baseline voltage rose in a ramp-like depolarization, a change toward less-negative membrane potential. Ramps could begin before strong firing appeared and, in individual traversals, reach approximately 10 mV. Average membrane voltage remained higher inside the field than outside it.</a:t>
            </a:r>
          </a:p>
          <a:p>
            <a:r>
              <a:t>• 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a:p>
            <a:r>
              <a:t>• A neuron’s membrane voltage determines how close it is to spike threshold, but the detailed spike pattern also depends on fluctuations around that baseline. The separate shapes of the ramp and firing-rate profiles preserve this distinction.</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4(A–E). Membrane-voltage ramps and firing during place-field traversal.</a:t>
            </a:r>
          </a:p>
          <a:p>
            <a:r>
              <a:t>Figure source: https://doi.org/10.1038/nature08499</a:t>
            </a:r>
          </a:p>
          <a:p/>
          <a:p>
            <a:r>
              <a:t>Figure: Dombeck et al. (2010), Fig. 1(f). CA1 cell-body and dendritic layers in a related virtual-navigation preparation.</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oscillations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r>
              <a:t>• Local field potential, or LFP, is an extracellular signal reflecting population electrical activity. Phase precession means that spikes occur progressively earlier within this reference rhythm as the animal crosses a field. Spikes advanced relative to LFP theta while remaining more consistently aligned with intracellular theta.</a:t>
            </a:r>
          </a:p>
          <a:p>
            <a:r>
              <a:t>• 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a:p>
            <a:r>
              <a:t>• The reference rhythm matters when describing phase. A spike can keep nearly the same phase relative to its intracellular oscillation while moving earlier relative to a separate extracellular oscillation whose timing differs.</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5(A–G). Intracellular theta, LFP timing, and phase relationships.</a:t>
            </a:r>
          </a:p>
          <a:p>
            <a:r>
              <a:t>Figure source: https://doi.org/10.1038/nature08499</a:t>
            </a:r>
          </a:p>
          <a:p/>
          <a:p>
            <a:r>
              <a:t>Figure: Dombeck et al. (2010), Fig. 1(f). Anatomical access to hippocampal CA1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r>
              <a:t>• Motion parallax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r>
              <a:t>• 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a:p>
            <a:r>
              <a:t>• The mouse’s position determines the rendered viewpoint in the virtual condition. Its own movement supplies the visual displacement needed for parallax-based depth information, making the avoidance assay a closed-loop perceptual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2(a–i). Real, static, and perspective-correct depth conditions with occupancy measures.</a:t>
            </a:r>
          </a:p>
          <a:p>
            <a:r>
              <a:t>Figure source: https://doi.org/10.1038/nmeth.4399</a:t>
            </a:r>
          </a:p>
          <a:p/>
          <a:p>
            <a:r>
              <a:t>Article-provided recording: Stowers et al. (2017), Supplementary Video 8. Mouse elevated-track depth assay.</a:t>
            </a:r>
          </a:p>
          <a:p>
            <a:r>
              <a:t>• A mouse walks around the elevated circular platform above checkerboard surfaces. The article compares real-world depth, a static projection, and perspective-correct virtual depth. Movement changes the animal’s viewpoint; perspective-correct rendering updates the displayed geometry according to that movement.</a:t>
            </a:r>
          </a:p>
          <a:p>
            <a:r>
              <a:t>Article DOI: https://doi.org/10.1038/nmeth.4399</a:t>
            </a:r>
          </a:p>
          <a:p>
            <a:r>
              <a:t>Original media URL: https://pmc-oa-opendata.s3.amazonaws.com/PMC6485657.1/NIHMS73580-supplement-Supplementary_Video_8.mp4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Original H.264 MP4 retained byte-for-byte.</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r>
              <a:t>• 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r>
              <a:t>• 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a:p>
            <a:r>
              <a:t>• The comparison makes a concrete distinction between free and tethered performance using the same kind of visual guidance. Restraint can change the behavioral role of head movements even when the stimulus remains controlled.</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3(a–h). Head-fixation effects during free flight and tethered visual control.</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r>
              <a:t>• Vestibular input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r>
              <a:t>• 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a:p>
            <a:r>
              <a:t>• Virtual translation and actual body rotation are distinct in this apparatus. The rat turns physically while remaining near the treadmill apex, so some self-motion signals accompany navigation even though the laboratory position changes little.</a:t>
            </a:r>
          </a:p>
          <a:p/>
          <a:p>
            <a:r>
              <a:t>References:</a:t>
            </a:r>
          </a:p>
          <a:p>
            <a:r>
              <a:t>Aronov D, Tank DW (2014). Engagement of neural circuits underlying 2D spatial navigation in a rodent virtual reality system. Neuron 84:442-456. https://doi.org/10.1016/j.neuron.2014.08.042</a:t>
            </a:r>
          </a:p>
          <a:p/>
          <a:p>
            <a:r>
              <a:t>Figure: Aronov &amp; Tank (2014), Fig. 1(A–G). Rotating rat harness, spherical treadmill, and panoramic virtual arena.</a:t>
            </a:r>
          </a:p>
          <a:p>
            <a:r>
              <a:t>Figure source: https://doi.org/10.1016/j.neuron.2014.08.042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hippocampal CA1 and CA3 neurons formed localized place fields during two-dimensional virtual navigation. A cell fired at a restricted location, while other simultaneously recorded cells preferred different locations. Population coding represents information through the combined activity of multiple neurons rather than relying on one neuron alone.</a:t>
            </a:r>
          </a:p>
          <a:p>
            <a:r>
              <a:t>• 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r>
              <a:t>• 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a:p>
            <a:r>
              <a:t>• A decoded trajectory is an estimate derived from neural firing, while the measured trajectory comes from treadmill motion. Their correspondence tests whether the population carries spatial information rather than simply recording that the animal is active.</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3(A–E). CA1 and CA3 place fields and population-based position estimates.</a:t>
            </a:r>
          </a:p>
          <a:p>
            <a:r>
              <a:t>Figure source: https://doi.org/10.1016/j.neuron.2014.08.042</a:t>
            </a:r>
          </a:p>
          <a:p/>
          <a:p>
            <a:r>
              <a:t>Figure: Dombeck et al. (2010), Fig. 1(f). Mouse hippocampal layers providing comparative CA1 anatomy.</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fire at multiple locations that form a repeating spatial arrangement. Aronov and Tank recorded these cells in the rat medial entorhinal cortex, or MEC, a cortical region involved in spatial representation. Two-dimensional virtual rate maps contained the multiple firing fields characteristic of grid activity.</a:t>
            </a:r>
          </a:p>
          <a:p>
            <a:r>
              <a:t>• The study also measured spatial autocorrelation,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r>
              <a:t>• 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a:p>
            <a:r>
              <a:t>• The mouse histology is explicitly comparative anatomy, not rat tissue from the Aronov experiment. Grid coding is distinguished from a single place field by the repeated pattern of preferred locations across the environment.</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4(A). Rat grid-cell paths, rate maps, and spatial autocorrelations.</a:t>
            </a:r>
          </a:p>
          <a:p>
            <a:r>
              <a:t>Figure source: https://doi.org/10.1016/j.neuron.2014.08.042</a:t>
            </a:r>
          </a:p>
          <a:p/>
          <a:p>
            <a:r>
              <a:t>Figure: Domnisoru et al. (2013), Supplementary Fig. 13(a–c). Mouse MEC layers and a labeled layer-2 grid cell.</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Border cells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r>
              <a:t>• The boundaries were visually specified while the rat remained on the same treadmill. Boundary-related activity therefore occurred without requiring a physical wall at each represented location. Head-direction cells, another recorded class, preferred particular facing directions; some neurons combined directional and spatial tuning.</a:t>
            </a:r>
          </a:p>
          <a:p>
            <a:r>
              <a:t>• 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a:p>
            <a:r>
              <a:t>• The arena’s visual boundary and the laboratory apparatus are different objects. A neuron tied to the virtual edge can change its firing with represented location even though the rat never physically approaches a corresponding laboratory wall.</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4(G–I). Rat border-cell rate maps and border-response measures.</a:t>
            </a:r>
          </a:p>
          <a:p>
            <a:r>
              <a:t>Figure source: https://doi.org/10.1016/j.neuron.2014.08.042</a:t>
            </a:r>
          </a:p>
          <a:p/>
          <a:p>
            <a:r>
              <a:t>Figure: Domnisoru et al. (2013), Supplementary Fig. 13(a–c). Comparative mouse MEC anatomy and cortical layers.</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Remapping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r>
              <a:t>• Between geometrically similar square worlds, many place fields retained related locations while their firing rates changed. Rate remapping changes the strength of activity without requiring a wholly new field location. Between square and circular worlds, larger changes in field arrangement produced global remapping, a reorganization of the spatial representation.</a:t>
            </a:r>
          </a:p>
          <a:p>
            <a:r>
              <a:t>• 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a:p>
            <a:r>
              <a:t>• The physical recording room stays the same while the displayed environment changes. This isolates visual context and geometry as influences on the spatial representation, while retaining the animal’s movement and recording conditions.</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7(A–G). Rate and global remapping across three virtual environments.</a:t>
            </a:r>
          </a:p>
          <a:p>
            <a:r>
              <a:t>Figure source: https://doi.org/10.1016/j.neuron.2014.08.042</a:t>
            </a:r>
          </a:p>
          <a:p/>
          <a:p>
            <a:r>
              <a:t>Figure: Dombeck et al. (2010), Fig. 1(f). Comparative hippocampal anatomy and imaging access.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r>
              <a:t>• 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r>
              <a:t>• 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a:p>
            <a:r>
              <a:t>• Comparisons across species are strongest when the controlled variable is identified precisely. The papers separately manipulate landmark position, reward association, movement freedom, feedback gain, or social coupling, linking each change to its own behavioral and neural measurements.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r>
              <a:t>Buatois A, Flumian C, Schultheiss P, Avarguès-Weber A, Giurfa M (2018). Transfer of Visual Learning Between a Virtual and a Real Environment in Honey Bees: The Role of Active Vision. Frontiers in behavioral neuroscience 12:139. https://doi.org/10.3389/fnbeh.2018.00139</a:t>
            </a:r>
          </a:p>
          <a:p>
            <a:r>
              <a:t>Seelig JD, Jayaraman V (2015). Neural dynamics for landmark orientation and angular path integration. Nature 521:186-191. https://doi.org/10.1038/nature14446</a:t>
            </a:r>
          </a:p>
          <a:p>
            <a:r>
              <a:t>Portugues R, Engert F (2011). Adaptive locomotor behavior in larval zebrafish. Frontiers in systems neuroscience 5:72. https://doi.org/10.3389/fnsys.2011.00072</a:t>
            </a:r>
          </a:p>
          <a:p>
            <a:r>
              <a:t>Aronov D, Tank DW (2014). Engagement of neural circuits underlying 2D spatial navigation in a rodent virtual reality system. Neuron 84:442-456. https://doi.org/10.1016/j.neuron.2014.08.042</a:t>
            </a:r>
          </a:p>
          <a:p/>
          <a:p>
            <a:r>
              <a:t>Figure: Stowers et al. (2017), Fig. 5(i–l). Following behavior during real–virtual fish interactions.</a:t>
            </a:r>
          </a:p>
          <a:p>
            <a:r>
              <a:t>Figure source: https://doi.org/10.1038/nmeth.4399</a:t>
            </a:r>
          </a:p>
          <a:p/>
          <a:p>
            <a:r>
              <a:t>Figure: Buatois et al. (2018), Fig. 4(A–B). Transfer of learned color choices between two environments.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Stowers JR, Hofbauer M, Bastien R, Griessner J, Higgins P, Farooqui S, Fischer RM, Nowikovsky K, Haubensak W, Couzin ID, Tessmar-Raible K, Straw AD (2017). Virtual reality for freely moving animals. Nature methods 14:995-1002. https://doi.org/10.1038/nmeth.4399</a:t>
            </a:r>
          </a:p>
          <a:p/>
          <a:p>
            <a:r>
              <a:t>Seelig JD, Jayaraman V (2015). Neural dynamics for landmark orientation and angular path integration. Nature 521:186-191. https://doi.org/10.1038/nature14446</a:t>
            </a:r>
          </a:p>
          <a:p/>
          <a:p>
            <a:r>
              <a:t>Fisher YE, Lu J, D'Alessandro I, Wilson RI (2019). Sensorimotor experience remaps visual input to a heading-direction network. Nature 576:121-125. https://doi.org/10.1038/s41586-019-1772-4</a:t>
            </a:r>
          </a:p>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Ahrens MB, Li JM, Orger MB, Robson DN, Schier AF, Engert F, Portugues R (2012). Brain-wide neuronal dynamics during motor adaptation in zebrafish. Nature 485:471-477. https://doi.org/10.1038/nature11057</a:t>
            </a:r>
          </a:p>
          <a:p/>
          <a:p>
            <a:r>
              <a:t>Portugues R, Engert F (2011). Adaptive locomotor behavior in larval zebrafish. Frontiers in systems neuroscience 5:72. https://doi.org/10.3389/fnsys.2011.00072</a:t>
            </a:r>
          </a:p>
          <a:p/>
          <a:p>
            <a:r>
              <a:t>Harvey CD, Collman F, Dombeck DA, Tank DW (2009). Intracellular dynamics of hippocampal place cells during virtual navigation. Nature 461:941-946. https://doi.org/10.1038/nature08499</a:t>
            </a:r>
          </a:p>
          <a:p/>
          <a:p>
            <a:r>
              <a:t>Aronov D, Tank DW (2014). Engagement of neural circuits underlying 2D spatial navigation in a rodent virtual reality system. Neuron 84:442-456. https://doi.org/10.1016/j.neuron.2014.08.042</a:t>
            </a:r>
          </a:p>
          <a:p/>
          <a:p>
            <a:r>
              <a:t>Nityananda V, Tarawneh G, Rosner R, Nicolas J, Crichton S, Read J (2016). Insect stereopsis demonstrated using a 3D insect cinema. Scientific reports 6:18718. https://doi.org/10.1038/srep18718</a:t>
            </a:r>
          </a:p>
          <a:p/>
          <a:p>
            <a:r>
              <a:t>Rosner R, von Hadeln J, Tarawneh G, Read JCA (2019). A neuronal correlate of insect stereopsis. Nature communications 10:2845. https://doi.org/10.1038/s41467-019-10721-z</a:t>
            </a:r>
          </a:p>
          <a:p/>
          <a:p>
            <a:r>
              <a:t>Takalo J, Piironen A, Honkanen A, Lempeä M, Aikio M, Tuukkanen T, Vähäsöyrinki M (2012). A fast and flexible panoramic virtual reality system for behavioural and electrophysiological experiments. Scientific reports 2:324. https://doi.org/10.1038/srep00324</a:t>
            </a:r>
          </a:p>
          <a:p/>
          <a:p>
            <a:r>
              <a:t>Dombeck DA, Harvey CD, Tian L, Looger LL, Tank DW (2010). Functional imaging of hippocampal place cells at cellular resolution during virtual navigation. Nature neuroscience 13:1433-1440. https://doi.org/10.1038/nn.2648</a:t>
            </a:r>
          </a:p>
          <a:p/>
          <a:p>
            <a:r>
              <a:t>Domnisoru C, Kinkhabwala AA, Tank DW (2013). Membrane potential dynamics of grid cells. Nature 495:199-204. https://doi.org/10.1038/nature11973</a:t>
            </a:r>
          </a:p>
          <a:p/>
          <a:p>
            <a:r>
              <a:t>Kemppainen J, Mansour N, Takalo J, Juusola M (2022). High-speed imaging of light-induced photoreceptor microsaccades in compound eyes. Communications biology 5:203.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49.png"/><Relationship Id="rId5" Type="http://schemas.microsoft.com/office/2007/relationships/media" Target="../media/media1.mp4"/><Relationship Id="rId6"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0.png"/><Relationship Id="rId5" Type="http://schemas.microsoft.com/office/2007/relationships/media" Target="../media/media2.mp4"/><Relationship Id="rId6" Type="http://schemas.openxmlformats.org/officeDocument/2006/relationships/video" Target="../media/media2.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51.png"/><Relationship Id="rId5" Type="http://schemas.microsoft.com/office/2007/relationships/media" Target="../media/media3.mp4"/><Relationship Id="rId6" Type="http://schemas.openxmlformats.org/officeDocument/2006/relationships/video" Target="../media/media3.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 Id="rId4" Type="http://schemas.openxmlformats.org/officeDocument/2006/relationships/image" Target="../media/image52.png"/><Relationship Id="rId5" Type="http://schemas.microsoft.com/office/2007/relationships/media" Target="../media/media4.mp4"/><Relationship Id="rId6" Type="http://schemas.openxmlformats.org/officeDocument/2006/relationships/video" Target="../media/media4.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 Id="rId4" Type="http://schemas.openxmlformats.org/officeDocument/2006/relationships/image" Target="../media/image53.png"/><Relationship Id="rId5" Type="http://schemas.microsoft.com/office/2007/relationships/media" Target="../media/media5.mp4"/><Relationship Id="rId6" Type="http://schemas.openxmlformats.org/officeDocument/2006/relationships/video" Target="../media/media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96C8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5EDF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5EDF3"/>
                </a:solidFill>
                <a:latin typeface="Arial"/>
              </a:rPr>
              <a:t>Lecture 85</a:t>
            </a:r>
          </a:p>
        </p:txBody>
      </p:sp>
      <p:sp>
        <p:nvSpPr>
          <p:cNvPr id="5" name="Lecture title"/>
          <p:cNvSpPr txBox="1"/>
          <p:nvPr/>
        </p:nvSpPr>
        <p:spPr>
          <a:xfrm>
            <a:off x="685800" y="2331720"/>
            <a:ext cx="4724247" cy="288036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Animals in Virtual and Interactive Environments I:</a:t>
            </a:r>
          </a:p>
          <a:p>
            <a:pPr algn="l">
              <a:lnSpc>
                <a:spcPct val="108000"/>
              </a:lnSpc>
              <a:spcAft>
                <a:spcPts val="0"/>
              </a:spcAft>
            </a:pPr>
            <a:r>
              <a:rPr sz="2700" b="1" i="0">
                <a:solidFill>
                  <a:srgbClr val="FFFFFF"/>
                </a:solidFill>
                <a:latin typeface="Arial"/>
              </a:rPr>
              <a:t>Animals in virtual worlds, navigation, learning, and adaptive behavior across species</a:t>
            </a:r>
          </a:p>
        </p:txBody>
      </p:sp>
      <p:sp>
        <p:nvSpPr>
          <p:cNvPr id="6" name="TextBox 5"/>
          <p:cNvSpPr txBox="1"/>
          <p:nvPr/>
        </p:nvSpPr>
        <p:spPr>
          <a:xfrm>
            <a:off x="685800" y="568025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5EDF3"/>
                </a:solidFill>
                <a:latin typeface="Arial"/>
              </a:rPr>
              <a:t>Date TBD</a:t>
            </a:r>
          </a:p>
        </p:txBody>
      </p:sp>
      <p:sp>
        <p:nvSpPr>
          <p:cNvPr id="7" name="TextBox 6"/>
          <p:cNvSpPr txBox="1"/>
          <p:nvPr/>
        </p:nvSpPr>
        <p:spPr>
          <a:xfrm>
            <a:off x="685800" y="636605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5EDF3"/>
                </a:solidFill>
                <a:latin typeface="Arial"/>
              </a:rPr>
              <a:t>Jordan Lopez, Ph.D.</a:t>
            </a:r>
          </a:p>
          <a:p>
            <a:pPr algn="l">
              <a:lnSpc>
                <a:spcPct val="108000"/>
              </a:lnSpc>
              <a:spcAft>
                <a:spcPts val="200"/>
              </a:spcAft>
            </a:pPr>
            <a:r>
              <a:rPr sz="1200" b="0" i="0">
                <a:solidFill>
                  <a:srgbClr val="E5EDF3"/>
                </a:solidFill>
                <a:latin typeface="Arial"/>
              </a:rPr>
              <a:t>Professor of Neurobiology &amp; Biomedical Engineering</a:t>
            </a:r>
          </a:p>
        </p:txBody>
      </p:sp>
      <p:pic>
        <p:nvPicPr>
          <p:cNvPr id="8" name="Picture 7" descr="mantis_animal.png"/>
          <p:cNvPicPr>
            <a:picLocks noChangeAspect="1"/>
          </p:cNvPicPr>
          <p:nvPr/>
        </p:nvPicPr>
        <p:blipFill>
          <a:blip r:embed="rId2"/>
          <a:stretch>
            <a:fillRect/>
          </a:stretch>
        </p:blipFill>
        <p:spPr>
          <a:xfrm>
            <a:off x="7206044" y="822960"/>
            <a:ext cx="3875453"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 Praying mantis wearing eye filters during a virtual-prey experiment.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Animal action changes the next visual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Virtual reality</a:t>
            </a:r>
            <a:r>
              <a:rPr sz="1500" b="0" i="0">
                <a:solidFill>
                  <a:srgbClr val="000000"/>
                </a:solidFill>
                <a:latin typeface="Arial"/>
              </a:rPr>
              <a:t>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pPr algn="l">
              <a:lnSpc>
                <a:spcPct val="108000"/>
              </a:lnSpc>
              <a:spcAft>
                <a:spcPts val="900"/>
              </a:spcAft>
            </a:pPr>
            <a:r>
              <a:rPr sz="1500" b="0" i="0">
                <a:solidFill>
                  <a:srgbClr val="000000"/>
                </a:solidFill>
                <a:latin typeface="Arial"/>
              </a:rPr>
              <a:t>Stowers and colleagues built </a:t>
            </a:r>
            <a:r>
              <a:rPr sz="1500" b="1" i="0">
                <a:solidFill>
                  <a:srgbClr val="365063"/>
                </a:solidFill>
                <a:latin typeface="Arial"/>
              </a:rPr>
              <a:t>FreemoVR</a:t>
            </a:r>
            <a:r>
              <a:rPr sz="1500" b="0" i="0">
                <a:solidFill>
                  <a:srgbClr val="000000"/>
                </a:solidFill>
                <a:latin typeface="Arial"/>
              </a:rPr>
              <a:t>,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pPr algn="l">
              <a:lnSpc>
                <a:spcPct val="108000"/>
              </a:lnSpc>
              <a:spcAft>
                <a:spcPts val="900"/>
              </a:spcAft>
            </a:pPr>
            <a:r>
              <a:rPr sz="1500" b="0" i="0">
                <a:solidFill>
                  <a:srgbClr val="000000"/>
                </a:solidFill>
                <a:latin typeface="Arial"/>
              </a:rPr>
              <a:t>Flies circled both a real post and its virtual counterpart. Without a post, they also occupied the arena center. Zebrafish similarly avoided the space occupied by real or virtual posts, connecting controlled visual geometry to the animals’ trajectories.</a:t>
            </a:r>
          </a:p>
        </p:txBody>
      </p:sp>
      <p:pic>
        <p:nvPicPr>
          <p:cNvPr id="4" name="Picture 3" descr="stowers_world.png"/>
          <p:cNvPicPr>
            <a:picLocks noChangeAspect="1"/>
          </p:cNvPicPr>
          <p:nvPr/>
        </p:nvPicPr>
        <p:blipFill>
          <a:blip r:embed="rId2"/>
          <a:stretch>
            <a:fillRect/>
          </a:stretch>
        </p:blipFill>
        <p:spPr>
          <a:xfrm>
            <a:off x="6412687" y="1280160"/>
            <a:ext cx="5212080" cy="3407371"/>
          </a:xfrm>
          <a:prstGeom prst="rect">
            <a:avLst/>
          </a:prstGeom>
        </p:spPr>
      </p:pic>
      <p:sp>
        <p:nvSpPr>
          <p:cNvPr id="5" name="Figure caption"/>
          <p:cNvSpPr txBox="1"/>
          <p:nvPr/>
        </p:nvSpPr>
        <p:spPr>
          <a:xfrm>
            <a:off x="6412687" y="477897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1(a–h). Free-moving arenas and responses to real and virtual posts.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Head tracking preserves the visual perspective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Perspective</a:t>
            </a:r>
            <a:r>
              <a:rPr sz="1500" b="0" i="0">
                <a:solidFill>
                  <a:srgbClr val="000000"/>
                </a:solidFill>
                <a:latin typeface="Arial"/>
              </a:rPr>
              <a:t>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pPr algn="l">
              <a:lnSpc>
                <a:spcPct val="108000"/>
              </a:lnSpc>
              <a:spcAft>
                <a:spcPts val="900"/>
              </a:spcAft>
            </a:pPr>
            <a:r>
              <a:rPr sz="1500" b="0" i="0">
                <a:solidFill>
                  <a:srgbClr val="000000"/>
                </a:solidFill>
                <a:latin typeface="Arial"/>
              </a:rPr>
              <a:t>Camera-based </a:t>
            </a:r>
            <a:r>
              <a:rPr sz="1500" b="1" i="0">
                <a:solidFill>
                  <a:srgbClr val="365063"/>
                </a:solidFill>
                <a:latin typeface="Arial"/>
              </a:rPr>
              <a:t>computer vision</a:t>
            </a:r>
            <a:r>
              <a:rPr sz="1500" b="0" i="0">
                <a:solidFill>
                  <a:srgbClr val="000000"/>
                </a:solidFill>
                <a:latin typeface="Arial"/>
              </a:rPr>
              <a:t>,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pPr algn="l">
              <a:lnSpc>
                <a:spcPct val="108000"/>
              </a:lnSpc>
              <a:spcAft>
                <a:spcPts val="900"/>
              </a:spcAft>
            </a:pPr>
            <a:r>
              <a:rPr sz="1500" b="0" i="0">
                <a:solidFill>
                  <a:srgbClr val="000000"/>
                </a:solidFill>
                <a:latin typeface="Arial"/>
              </a:rPr>
              <a:t>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p:txBody>
      </p:sp>
      <p:pic>
        <p:nvPicPr>
          <p:cNvPr id="4" name="Picture 3" descr="stowers_perspective.png"/>
          <p:cNvPicPr>
            <a:picLocks noChangeAspect="1"/>
          </p:cNvPicPr>
          <p:nvPr/>
        </p:nvPicPr>
        <p:blipFill>
          <a:blip r:embed="rId2"/>
          <a:stretch>
            <a:fillRect/>
          </a:stretch>
        </p:blipFill>
        <p:spPr>
          <a:xfrm>
            <a:off x="6412687" y="1280160"/>
            <a:ext cx="5212080" cy="1149065"/>
          </a:xfrm>
          <a:prstGeom prst="rect">
            <a:avLst/>
          </a:prstGeom>
        </p:spPr>
      </p:pic>
      <p:sp>
        <p:nvSpPr>
          <p:cNvPr id="5" name="Figure caption"/>
          <p:cNvSpPr txBox="1"/>
          <p:nvPr/>
        </p:nvSpPr>
        <p:spPr>
          <a:xfrm>
            <a:off x="6412687" y="252066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1(a–d). Perspective rendering and flight, mouse, and aquatic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partners alter zebrafish social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interacted with a photorealistic virtual fish whose motion was controlled by the experimenter. A </a:t>
            </a:r>
            <a:r>
              <a:rPr sz="1500" b="1" i="0">
                <a:solidFill>
                  <a:srgbClr val="365063"/>
                </a:solidFill>
                <a:latin typeface="Arial"/>
              </a:rPr>
              <a:t>virtual agent</a:t>
            </a:r>
            <a:r>
              <a:rPr sz="1500" b="0" i="0">
                <a:solidFill>
                  <a:srgbClr val="000000"/>
                </a:solidFill>
                <a:latin typeface="Arial"/>
              </a:rPr>
              <a:t> is a computer-controlled entity that changes its behavior according to specified rules. Its response to the real animal can be varied independently of its appearance.</a:t>
            </a:r>
          </a:p>
          <a:p>
            <a:pPr algn="l">
              <a:lnSpc>
                <a:spcPct val="108000"/>
              </a:lnSpc>
              <a:spcAft>
                <a:spcPts val="900"/>
              </a:spcAft>
            </a:pPr>
            <a:r>
              <a:rPr sz="1500" b="0" i="0">
                <a:solidFill>
                  <a:srgbClr val="000000"/>
                </a:solidFill>
                <a:latin typeface="Arial"/>
              </a:rPr>
              <a:t>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pPr algn="l">
              <a:lnSpc>
                <a:spcPct val="108000"/>
              </a:lnSpc>
              <a:spcAft>
                <a:spcPts val="900"/>
              </a:spcAft>
            </a:pPr>
            <a:r>
              <a:rPr sz="1500" b="0" i="0">
                <a:solidFill>
                  <a:srgbClr val="000000"/>
                </a:solidFill>
                <a:latin typeface="Arial"/>
              </a:rPr>
              <a:t>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p:txBody>
      </p:sp>
      <p:pic>
        <p:nvPicPr>
          <p:cNvPr id="4" name="Picture 3" descr="stowers_social.png"/>
          <p:cNvPicPr>
            <a:picLocks noChangeAspect="1"/>
          </p:cNvPicPr>
          <p:nvPr/>
        </p:nvPicPr>
        <p:blipFill>
          <a:blip r:embed="rId2"/>
          <a:stretch>
            <a:fillRect/>
          </a:stretch>
        </p:blipFill>
        <p:spPr>
          <a:xfrm>
            <a:off x="6412687" y="1280160"/>
            <a:ext cx="5212080" cy="3951193"/>
          </a:xfrm>
          <a:prstGeom prst="rect">
            <a:avLst/>
          </a:prstGeom>
        </p:spPr>
      </p:pic>
      <p:sp>
        <p:nvSpPr>
          <p:cNvPr id="5" name="Figure caption"/>
          <p:cNvSpPr txBox="1"/>
          <p:nvPr/>
        </p:nvSpPr>
        <p:spPr>
          <a:xfrm>
            <a:off x="6412687" y="532279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Real–virtual fish trajectories and effects of social coupling.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Portals change a fish’s world without moving its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could enter visually marked </a:t>
            </a:r>
            <a:r>
              <a:rPr sz="1500" b="1" i="0">
                <a:solidFill>
                  <a:srgbClr val="365063"/>
                </a:solidFill>
                <a:latin typeface="Arial"/>
              </a:rPr>
              <a:t>portals</a:t>
            </a:r>
            <a:r>
              <a:rPr sz="1500" b="0" i="0">
                <a:solidFill>
                  <a:srgbClr val="000000"/>
                </a:solidFill>
                <a:latin typeface="Arial"/>
              </a:rPr>
              <a:t>,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pPr algn="l">
              <a:lnSpc>
                <a:spcPct val="108000"/>
              </a:lnSpc>
              <a:spcAft>
                <a:spcPts val="900"/>
              </a:spcAft>
            </a:pPr>
            <a:r>
              <a:rPr sz="1500" b="0" i="0">
                <a:solidFill>
                  <a:srgbClr val="000000"/>
                </a:solidFill>
                <a:latin typeface="Arial"/>
              </a:rPr>
              <a:t>One environment contained a swarm of game-like agents. These agents followed a </a:t>
            </a:r>
            <a:r>
              <a:rPr sz="1500" b="1" i="0">
                <a:solidFill>
                  <a:srgbClr val="365063"/>
                </a:solidFill>
                <a:latin typeface="Arial"/>
              </a:rPr>
              <a:t>flocking rule</a:t>
            </a:r>
            <a:r>
              <a:rPr sz="1500" b="0" i="0">
                <a:solidFill>
                  <a:srgbClr val="000000"/>
                </a:solidFill>
                <a:latin typeface="Arial"/>
              </a:rPr>
              <a:t>, a movement algorithm that coordinated their motion with nearby individuals, including the real fish. Fish occupancy and swimming speed changed in the swarm condition; animals spent longer there and swam more slowly.</a:t>
            </a:r>
          </a:p>
          <a:p>
            <a:pPr algn="l">
              <a:lnSpc>
                <a:spcPct val="108000"/>
              </a:lnSpc>
              <a:spcAft>
                <a:spcPts val="900"/>
              </a:spcAft>
            </a:pPr>
            <a:r>
              <a:rPr sz="1500" b="0" i="0">
                <a:solidFill>
                  <a:srgbClr val="000000"/>
                </a:solidFill>
                <a:latin typeface="Arial"/>
              </a:rPr>
              <a:t>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p:txBody>
      </p:sp>
      <p:pic>
        <p:nvPicPr>
          <p:cNvPr id="4" name="Picture 3" descr="stowers_portals.png"/>
          <p:cNvPicPr>
            <a:picLocks noChangeAspect="1"/>
          </p:cNvPicPr>
          <p:nvPr/>
        </p:nvPicPr>
        <p:blipFill>
          <a:blip r:embed="rId2"/>
          <a:stretch>
            <a:fillRect/>
          </a:stretch>
        </p:blipFill>
        <p:spPr>
          <a:xfrm>
            <a:off x="6990414" y="1234440"/>
            <a:ext cx="405113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5(a–h). Portal choices, scene occupancy, and swimming with a virtual swarm.</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landmark anchors the fly’s heading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Heading</a:t>
            </a:r>
            <a:r>
              <a:rPr sz="1500" b="0" i="0">
                <a:solidFill>
                  <a:srgbClr val="000000"/>
                </a:solidFill>
                <a:latin typeface="Arial"/>
              </a:rPr>
              <a:t>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pPr algn="l">
              <a:lnSpc>
                <a:spcPct val="108000"/>
              </a:lnSpc>
              <a:spcAft>
                <a:spcPts val="900"/>
              </a:spcAft>
            </a:pPr>
            <a:r>
              <a:rPr sz="1500" b="1" i="0">
                <a:solidFill>
                  <a:srgbClr val="365063"/>
                </a:solidFill>
                <a:latin typeface="Arial"/>
              </a:rPr>
              <a:t>Two-photon calcium imaging</a:t>
            </a:r>
            <a:r>
              <a:rPr sz="1500" b="0" i="0">
                <a:solidFill>
                  <a:srgbClr val="000000"/>
                </a:solidFill>
                <a:latin typeface="Arial"/>
              </a:rPr>
              <a:t> measured fluorescence from GCaMP6f, a protein sensor whose brightness changes with intracellular calcium. The recorded neurons occupied wedges of the </a:t>
            </a:r>
            <a:r>
              <a:rPr sz="1500" b="1" i="0">
                <a:solidFill>
                  <a:srgbClr val="365063"/>
                </a:solidFill>
                <a:latin typeface="Arial"/>
              </a:rPr>
              <a:t>ellipsoid body</a:t>
            </a:r>
            <a:r>
              <a:rPr sz="1500" b="0" i="0">
                <a:solidFill>
                  <a:srgbClr val="000000"/>
                </a:solidFill>
                <a:latin typeface="Arial"/>
              </a:rPr>
              <a:t>, a ring-shaped structure in the central complex of the fly brain. A localized activity peak moved around this ring as the landmark rotated.</a:t>
            </a:r>
          </a:p>
          <a:p>
            <a:pPr algn="l">
              <a:lnSpc>
                <a:spcPct val="108000"/>
              </a:lnSpc>
              <a:spcAft>
                <a:spcPts val="900"/>
              </a:spcAft>
            </a:pPr>
            <a:r>
              <a:rPr sz="1500" b="0" i="0">
                <a:solidFill>
                  <a:srgbClr val="000000"/>
                </a:solidFill>
                <a:latin typeface="Arial"/>
              </a:rPr>
              <a:t>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p:txBody>
      </p:sp>
      <p:pic>
        <p:nvPicPr>
          <p:cNvPr id="4" name="Picture 3" descr="seelig_anatomy.png"/>
          <p:cNvPicPr>
            <a:picLocks noChangeAspect="1"/>
          </p:cNvPicPr>
          <p:nvPr/>
        </p:nvPicPr>
        <p:blipFill>
          <a:blip r:embed="rId2"/>
          <a:stretch>
            <a:fillRect/>
          </a:stretch>
        </p:blipFill>
        <p:spPr>
          <a:xfrm>
            <a:off x="6409944" y="1234440"/>
            <a:ext cx="5212080" cy="2058338"/>
          </a:xfrm>
          <a:prstGeom prst="rect">
            <a:avLst/>
          </a:prstGeom>
        </p:spPr>
      </p:pic>
      <p:sp>
        <p:nvSpPr>
          <p:cNvPr id="5" name="Figure caption"/>
          <p:cNvSpPr txBox="1"/>
          <p:nvPr/>
        </p:nvSpPr>
        <p:spPr>
          <a:xfrm>
            <a:off x="6412687" y="3356786"/>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 Fig. 1(a–e). Central-complex anatomy and the ellipsoid-body recording plane.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Unedited article-recording frame: Seelig &amp; Jayaraman (2015), article-provided video: NIHMS680093-supplement-12.mp4. Fly heading activity." descr="NIHMS680093-supplement-1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Seelig &amp; Jayaraman (2015), article-provided video: NIHMS680093-supplement-12.mp4. Fly heading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Seelig &amp; Jayaraman (2015), article-provided video: NIHMS680093-supplement-12.mp4. Fly heading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One activity peak represents a complex visual scene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fly’s </a:t>
            </a:r>
            <a:r>
              <a:rPr sz="1500" b="1" i="0">
                <a:solidFill>
                  <a:srgbClr val="365063"/>
                </a:solidFill>
                <a:latin typeface="Arial"/>
              </a:rPr>
              <a:t>central complex</a:t>
            </a:r>
            <a:r>
              <a:rPr sz="1500" b="0" i="0">
                <a:solidFill>
                  <a:srgbClr val="000000"/>
                </a:solidFill>
                <a:latin typeface="Arial"/>
              </a:rPr>
              <a:t>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pPr algn="l">
              <a:lnSpc>
                <a:spcPct val="108000"/>
              </a:lnSpc>
              <a:spcAft>
                <a:spcPts val="900"/>
              </a:spcAft>
            </a:pPr>
            <a:r>
              <a:rPr sz="1500" b="0" i="0">
                <a:solidFill>
                  <a:srgbClr val="000000"/>
                </a:solidFill>
                <a:latin typeface="Arial"/>
              </a:rPr>
              <a:t>A </a:t>
            </a:r>
            <a:r>
              <a:rPr sz="1500" b="1" i="0">
                <a:solidFill>
                  <a:srgbClr val="365063"/>
                </a:solidFill>
                <a:latin typeface="Arial"/>
              </a:rPr>
              <a:t>retinotopic map</a:t>
            </a:r>
            <a:r>
              <a:rPr sz="1500" b="0" i="0">
                <a:solidFill>
                  <a:srgbClr val="000000"/>
                </a:solidFill>
                <a:latin typeface="Arial"/>
              </a:rPr>
              <a:t>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pPr algn="l">
              <a:lnSpc>
                <a:spcPct val="108000"/>
              </a:lnSpc>
              <a:spcAft>
                <a:spcPts val="900"/>
              </a:spcAft>
            </a:pPr>
            <a:r>
              <a:rPr sz="1500" b="0" i="0">
                <a:solidFill>
                  <a:srgbClr val="000000"/>
                </a:solidFill>
                <a:latin typeface="Arial"/>
              </a:rPr>
              <a:t>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p:txBody>
      </p:sp>
      <p:pic>
        <p:nvPicPr>
          <p:cNvPr id="4" name="Picture 3" descr="seelig_scene.png"/>
          <p:cNvPicPr>
            <a:picLocks noChangeAspect="1"/>
          </p:cNvPicPr>
          <p:nvPr/>
        </p:nvPicPr>
        <p:blipFill>
          <a:blip r:embed="rId2"/>
          <a:stretch>
            <a:fillRect/>
          </a:stretch>
        </p:blipFill>
        <p:spPr>
          <a:xfrm>
            <a:off x="7266063" y="1280160"/>
            <a:ext cx="350532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2(a–g). A single neural peak during movement through a complex scene.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1(a–e). Central-complex structures and the ellipsoid-body recording plane.</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Self-motion updates orientation in darkness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Angular path integration</a:t>
            </a:r>
            <a:r>
              <a:rPr sz="1500" b="0" i="0">
                <a:solidFill>
                  <a:srgbClr val="000000"/>
                </a:solidFill>
                <a:latin typeface="Arial"/>
              </a:rPr>
              <a:t>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pPr algn="l">
              <a:lnSpc>
                <a:spcPct val="108000"/>
              </a:lnSpc>
              <a:spcAft>
                <a:spcPts val="900"/>
              </a:spcAft>
            </a:pPr>
            <a:r>
              <a:rPr sz="1500" b="0" i="0">
                <a:solidFill>
                  <a:srgbClr val="000000"/>
                </a:solidFill>
                <a:latin typeface="Arial"/>
              </a:rPr>
              <a:t>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pPr algn="l">
              <a:lnSpc>
                <a:spcPct val="108000"/>
              </a:lnSpc>
              <a:spcAft>
                <a:spcPts val="900"/>
              </a:spcAft>
            </a:pPr>
            <a:r>
              <a:rPr sz="1500" b="0" i="0">
                <a:solidFill>
                  <a:srgbClr val="000000"/>
                </a:solidFill>
                <a:latin typeface="Arial"/>
              </a:rPr>
              <a:t>When flies stopped walking in darkness, a representation of the previous orientation could persist for more than 30 s. On renewed movement, activity could reappear at the expected position. A </a:t>
            </a:r>
            <a:r>
              <a:rPr sz="1500" b="1" i="0">
                <a:solidFill>
                  <a:srgbClr val="365063"/>
                </a:solidFill>
                <a:latin typeface="Arial"/>
              </a:rPr>
              <a:t>ring-attractor hypothesis</a:t>
            </a:r>
            <a:r>
              <a:rPr sz="1500" b="0" i="0">
                <a:solidFill>
                  <a:srgbClr val="000000"/>
                </a:solidFill>
                <a:latin typeface="Arial"/>
              </a:rPr>
              <a:t> proposes that recurrent interactions sustain a localized directional state and move it when turning-related input arrives.</a:t>
            </a:r>
          </a:p>
        </p:txBody>
      </p:sp>
      <p:pic>
        <p:nvPicPr>
          <p:cNvPr id="4" name="Picture 3" descr="seelig_dark.png"/>
          <p:cNvPicPr>
            <a:picLocks noChangeAspect="1"/>
          </p:cNvPicPr>
          <p:nvPr/>
        </p:nvPicPr>
        <p:blipFill>
          <a:blip r:embed="rId2"/>
          <a:stretch>
            <a:fillRect/>
          </a:stretch>
        </p:blipFill>
        <p:spPr>
          <a:xfrm>
            <a:off x="7718315" y="1280160"/>
            <a:ext cx="260082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4(a–i). Heading activity during darkness and stationary periods.</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Ellipsoid-body anatomy and wedge-neuron organization.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Inhibitory input links visual cues to the fly compass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Fisher and colleagues recorded membrane voltage from </a:t>
            </a:r>
            <a:r>
              <a:rPr sz="1500" b="1" i="0">
                <a:solidFill>
                  <a:srgbClr val="365063"/>
                </a:solidFill>
                <a:latin typeface="Arial"/>
              </a:rPr>
              <a:t>E–PG neurons</a:t>
            </a:r>
            <a:r>
              <a:rPr sz="1500" b="0" i="0">
                <a:solidFill>
                  <a:srgbClr val="000000"/>
                </a:solidFill>
                <a:latin typeface="Arial"/>
              </a:rPr>
              <a:t>, the fly compass neurons that form a circular heading representation. Brief visual bars flashed at randomized positions for 500 ms. Some positions produced </a:t>
            </a:r>
            <a:r>
              <a:rPr sz="1500" b="1" i="0">
                <a:solidFill>
                  <a:srgbClr val="365063"/>
                </a:solidFill>
                <a:latin typeface="Arial"/>
              </a:rPr>
              <a:t>hyperpolarization</a:t>
            </a:r>
            <a:r>
              <a:rPr sz="1500" b="0" i="0">
                <a:solidFill>
                  <a:srgbClr val="000000"/>
                </a:solidFill>
                <a:latin typeface="Arial"/>
              </a:rPr>
              <a:t>, a shift of membrane voltage toward more negative values that reduces neuronal excitability.</a:t>
            </a:r>
          </a:p>
          <a:p>
            <a:pPr algn="l">
              <a:lnSpc>
                <a:spcPct val="108000"/>
              </a:lnSpc>
              <a:spcAft>
                <a:spcPts val="900"/>
              </a:spcAft>
            </a:pPr>
            <a:r>
              <a:rPr sz="1500" b="1" i="0">
                <a:solidFill>
                  <a:srgbClr val="365063"/>
                </a:solidFill>
                <a:latin typeface="Arial"/>
              </a:rPr>
              <a:t>Ring neurons</a:t>
            </a:r>
            <a:r>
              <a:rPr sz="1500" b="0" i="0">
                <a:solidFill>
                  <a:srgbClr val="000000"/>
                </a:solidFill>
                <a:latin typeface="Arial"/>
              </a:rPr>
              <a:t>, also called R neurons, supply visual input to this network and release </a:t>
            </a:r>
            <a:r>
              <a:rPr sz="1500" b="1" i="0">
                <a:solidFill>
                  <a:srgbClr val="365063"/>
                </a:solidFill>
                <a:latin typeface="Arial"/>
              </a:rPr>
              <a:t>GABA</a:t>
            </a:r>
            <a:r>
              <a:rPr sz="1500" b="0" i="0">
                <a:solidFill>
                  <a:srgbClr val="000000"/>
                </a:solidFill>
                <a:latin typeface="Arial"/>
              </a:rPr>
              <a:t>,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pPr algn="l">
              <a:lnSpc>
                <a:spcPct val="108000"/>
              </a:lnSpc>
              <a:spcAft>
                <a:spcPts val="900"/>
              </a:spcAft>
            </a:pPr>
            <a:r>
              <a:rPr sz="1500" b="0" i="0">
                <a:solidFill>
                  <a:srgbClr val="000000"/>
                </a:solidFill>
                <a:latin typeface="Arial"/>
              </a:rPr>
              <a:t>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p:txBody>
      </p:sp>
      <p:pic>
        <p:nvPicPr>
          <p:cNvPr id="4" name="Picture 3" descr="fisher_input.png"/>
          <p:cNvPicPr>
            <a:picLocks noChangeAspect="1"/>
          </p:cNvPicPr>
          <p:nvPr/>
        </p:nvPicPr>
        <p:blipFill>
          <a:blip r:embed="rId2"/>
          <a:stretch>
            <a:fillRect/>
          </a:stretch>
        </p:blipFill>
        <p:spPr>
          <a:xfrm>
            <a:off x="7502462" y="1280160"/>
            <a:ext cx="3032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Compass and ring-neuron organization with position-selective voltage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Channel manipulations identify the visual input pathway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Optogenetics</a:t>
            </a:r>
            <a:r>
              <a:rPr sz="1500" b="0" i="0">
                <a:solidFill>
                  <a:srgbClr val="000000"/>
                </a:solidFill>
                <a:latin typeface="Arial"/>
              </a:rPr>
              <a:t>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pPr algn="l">
              <a:lnSpc>
                <a:spcPct val="108000"/>
              </a:lnSpc>
              <a:spcAft>
                <a:spcPts val="900"/>
              </a:spcAft>
            </a:pPr>
            <a:r>
              <a:rPr sz="1500" b="0" i="0">
                <a:solidFill>
                  <a:srgbClr val="000000"/>
                </a:solidFill>
                <a:latin typeface="Arial"/>
              </a:rPr>
              <a:t>The investigators also expressed </a:t>
            </a:r>
            <a:r>
              <a:rPr sz="1500" b="1" i="0">
                <a:solidFill>
                  <a:srgbClr val="365063"/>
                </a:solidFill>
                <a:latin typeface="Arial"/>
              </a:rPr>
              <a:t>Kir2.1</a:t>
            </a:r>
            <a:r>
              <a:rPr sz="1500" b="0" i="0">
                <a:solidFill>
                  <a:srgbClr val="000000"/>
                </a:solidFill>
                <a:latin typeface="Arial"/>
              </a:rPr>
              <a:t>,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pPr algn="l">
              <a:lnSpc>
                <a:spcPct val="108000"/>
              </a:lnSpc>
              <a:spcAft>
                <a:spcPts val="900"/>
              </a:spcAft>
            </a:pPr>
            <a:r>
              <a:rPr sz="1500" b="0" i="0">
                <a:solidFill>
                  <a:srgbClr val="000000"/>
                </a:solidFill>
                <a:latin typeface="Arial"/>
              </a:rPr>
              <a:t>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p:txBody>
      </p:sp>
      <p:pic>
        <p:nvPicPr>
          <p:cNvPr id="4" name="Picture 3" descr="fisher_R.png"/>
          <p:cNvPicPr>
            <a:picLocks noChangeAspect="1"/>
          </p:cNvPicPr>
          <p:nvPr/>
        </p:nvPicPr>
        <p:blipFill>
          <a:blip r:embed="rId2"/>
          <a:stretch>
            <a:fillRect/>
          </a:stretch>
        </p:blipFill>
        <p:spPr>
          <a:xfrm>
            <a:off x="7753667" y="1280160"/>
            <a:ext cx="2530118"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3(a–c). R-neuron responses, optogenetic activation, and Kir2.1 suppression.</a:t>
            </a:r>
          </a:p>
        </p:txBody>
      </p:sp>
      <p:pic>
        <p:nvPicPr>
          <p:cNvPr id="6" name="Picture 5" descr="fisher_input.png"/>
          <p:cNvPicPr>
            <a:picLocks noChangeAspect="1"/>
          </p:cNvPicPr>
          <p:nvPr/>
        </p:nvPicPr>
        <p:blipFill>
          <a:blip r:embed="rId3"/>
          <a:stretch>
            <a:fillRect/>
          </a:stretch>
        </p:blipFill>
        <p:spPr>
          <a:xfrm>
            <a:off x="8502552" y="4297680"/>
            <a:ext cx="10323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Anatomical organization of the visual-to-compass pathway.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Experience recalibrates the visual-to-heading map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pPr algn="l">
              <a:lnSpc>
                <a:spcPct val="108000"/>
              </a:lnSpc>
              <a:spcAft>
                <a:spcPts val="840"/>
              </a:spcAft>
            </a:pPr>
            <a:r>
              <a:rPr sz="1400" b="0" i="0">
                <a:solidFill>
                  <a:srgbClr val="000000"/>
                </a:solidFill>
                <a:latin typeface="Arial"/>
              </a:rPr>
              <a:t>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pPr algn="l">
              <a:lnSpc>
                <a:spcPct val="108000"/>
              </a:lnSpc>
              <a:spcAft>
                <a:spcPts val="840"/>
              </a:spcAft>
            </a:pPr>
            <a:r>
              <a:rPr sz="1400" b="0" i="0">
                <a:solidFill>
                  <a:srgbClr val="000000"/>
                </a:solidFill>
                <a:latin typeface="Arial"/>
              </a:rPr>
              <a:t>Whole-cell measurements also detected changes in visually evoked inhibition after altered sensorimotor experience. A </a:t>
            </a:r>
            <a:r>
              <a:rPr sz="1400" b="1" i="0">
                <a:solidFill>
                  <a:srgbClr val="365063"/>
                </a:solidFill>
                <a:latin typeface="Arial"/>
              </a:rPr>
              <a:t>synaptic-plasticity hypothesis</a:t>
            </a:r>
            <a:r>
              <a:rPr sz="1400" b="0" i="0">
                <a:solidFill>
                  <a:srgbClr val="000000"/>
                </a:solidFill>
                <a:latin typeface="Arial"/>
              </a:rPr>
              <a:t> proposes that coincident input and compass activity weaken selected inhibitory connections. Reweighting those connections would align the internal directional state with the animal’s experienced visual world.</a:t>
            </a:r>
          </a:p>
        </p:txBody>
      </p:sp>
      <p:pic>
        <p:nvPicPr>
          <p:cNvPr id="4" name="Picture 3" descr="fisher_realign.png"/>
          <p:cNvPicPr>
            <a:picLocks noChangeAspect="1"/>
          </p:cNvPicPr>
          <p:nvPr/>
        </p:nvPicPr>
        <p:blipFill>
          <a:blip r:embed="rId2"/>
          <a:stretch>
            <a:fillRect/>
          </a:stretch>
        </p:blipFill>
        <p:spPr>
          <a:xfrm>
            <a:off x="8129839" y="1280160"/>
            <a:ext cx="1777775"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4(a–e). Persistent compass-offset changes following two-landmark experience.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The circular anatomical substrate of the heading population.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Walking bees choose rewarded virtual colors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pPr algn="l">
              <a:lnSpc>
                <a:spcPct val="108000"/>
              </a:lnSpc>
              <a:spcAft>
                <a:spcPts val="900"/>
              </a:spcAft>
            </a:pPr>
            <a:r>
              <a:rPr sz="1500" b="1" i="0">
                <a:solidFill>
                  <a:srgbClr val="365063"/>
                </a:solidFill>
                <a:latin typeface="Arial"/>
              </a:rPr>
              <a:t>Differential conditioning</a:t>
            </a:r>
            <a:r>
              <a:rPr sz="1500" b="0" i="0">
                <a:solidFill>
                  <a:srgbClr val="000000"/>
                </a:solidFill>
                <a:latin typeface="Arial"/>
              </a:rPr>
              <a:t>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pPr algn="l">
              <a:lnSpc>
                <a:spcPct val="108000"/>
              </a:lnSpc>
              <a:spcAft>
                <a:spcPts val="900"/>
              </a:spcAft>
            </a:pPr>
            <a:r>
              <a:rPr sz="1500" b="0" i="0">
                <a:solidFill>
                  <a:srgbClr val="000000"/>
                </a:solidFill>
                <a:latin typeface="Arial"/>
              </a:rPr>
              <a:t>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p:txBody>
      </p:sp>
      <p:pic>
        <p:nvPicPr>
          <p:cNvPr id="4" name="Picture 3" descr="buatois_tether.png"/>
          <p:cNvPicPr>
            <a:picLocks noChangeAspect="1"/>
          </p:cNvPicPr>
          <p:nvPr/>
        </p:nvPicPr>
        <p:blipFill>
          <a:blip r:embed="rId2"/>
          <a:stretch>
            <a:fillRect/>
          </a:stretch>
        </p:blipFill>
        <p:spPr>
          <a:xfrm>
            <a:off x="6412687" y="1280160"/>
            <a:ext cx="5212080" cy="2670287"/>
          </a:xfrm>
          <a:prstGeom prst="rect">
            <a:avLst/>
          </a:prstGeom>
        </p:spPr>
      </p:pic>
      <p:sp>
        <p:nvSpPr>
          <p:cNvPr id="5" name="Figure caption"/>
          <p:cNvSpPr txBox="1"/>
          <p:nvPr/>
        </p:nvSpPr>
        <p:spPr>
          <a:xfrm>
            <a:off x="6412687" y="40418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1(A–C). A tethered bee and its closed-loop color-choice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controls how bees sample visual targets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Active vision</a:t>
            </a:r>
            <a:r>
              <a:rPr sz="1500" b="0" i="0">
                <a:solidFill>
                  <a:srgbClr val="000000"/>
                </a:solidFill>
                <a:latin typeface="Arial"/>
              </a:rPr>
              <a:t>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pPr algn="l">
              <a:lnSpc>
                <a:spcPct val="108000"/>
              </a:lnSpc>
              <a:spcAft>
                <a:spcPts val="900"/>
              </a:spcAft>
            </a:pPr>
            <a:r>
              <a:rPr sz="1500" b="0" i="0">
                <a:solidFill>
                  <a:srgbClr val="000000"/>
                </a:solidFill>
                <a:latin typeface="Arial"/>
              </a:rPr>
              <a:t>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pPr algn="l">
              <a:lnSpc>
                <a:spcPct val="108000"/>
              </a:lnSpc>
              <a:spcAft>
                <a:spcPts val="900"/>
              </a:spcAft>
            </a:pPr>
            <a:r>
              <a:rPr sz="1500" b="0" i="0">
                <a:solidFill>
                  <a:srgbClr val="000000"/>
                </a:solidFill>
                <a:latin typeface="Arial"/>
              </a:rPr>
              <a:t>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p:txBody>
      </p:sp>
      <p:pic>
        <p:nvPicPr>
          <p:cNvPr id="4" name="Picture 3" descr="buatois_setup.png"/>
          <p:cNvPicPr>
            <a:picLocks noChangeAspect="1"/>
          </p:cNvPicPr>
          <p:nvPr/>
        </p:nvPicPr>
        <p:blipFill>
          <a:blip r:embed="rId2"/>
          <a:stretch>
            <a:fillRect/>
          </a:stretch>
        </p:blipFill>
        <p:spPr>
          <a:xfrm>
            <a:off x="6996106" y="1280160"/>
            <a:ext cx="40452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1(A–F). Virtual walking apparatus and the real Y-maze with matched color cues.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Color memory transfers from screens to a real maze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Bees trained in virtual reality were subsequently released into a real Y-maze containing the same color cues. </a:t>
            </a:r>
            <a:r>
              <a:rPr sz="1500" b="1" i="0">
                <a:solidFill>
                  <a:srgbClr val="365063"/>
                </a:solidFill>
                <a:latin typeface="Arial"/>
              </a:rPr>
              <a:t>Transfer</a:t>
            </a:r>
            <a:r>
              <a:rPr sz="1500" b="0" i="0">
                <a:solidFill>
                  <a:srgbClr val="000000"/>
                </a:solidFill>
                <a:latin typeface="Arial"/>
              </a:rPr>
              <a:t> means expressing learned information in a context different from the training context. The test removed the tether and allowed movement down the maze arms toward the visual targets.</a:t>
            </a:r>
          </a:p>
          <a:p>
            <a:pPr algn="l">
              <a:lnSpc>
                <a:spcPct val="108000"/>
              </a:lnSpc>
              <a:spcAft>
                <a:spcPts val="900"/>
              </a:spcAft>
            </a:pPr>
            <a:r>
              <a:rPr sz="1500" b="0" i="0">
                <a:solidFill>
                  <a:srgbClr val="000000"/>
                </a:solidFill>
                <a:latin typeface="Arial"/>
              </a:rPr>
              <a:t>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pPr algn="l">
              <a:lnSpc>
                <a:spcPct val="108000"/>
              </a:lnSpc>
              <a:spcAft>
                <a:spcPts val="900"/>
              </a:spcAft>
            </a:pPr>
            <a:r>
              <a:rPr sz="1500" b="0" i="0">
                <a:solidFill>
                  <a:srgbClr val="000000"/>
                </a:solidFill>
                <a:latin typeface="Arial"/>
              </a:rPr>
              <a:t>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p:txBody>
      </p:sp>
      <p:pic>
        <p:nvPicPr>
          <p:cNvPr id="4" name="Picture 3" descr="buatois_transfer.png"/>
          <p:cNvPicPr>
            <a:picLocks noChangeAspect="1"/>
          </p:cNvPicPr>
          <p:nvPr/>
        </p:nvPicPr>
        <p:blipFill>
          <a:blip r:embed="rId2"/>
          <a:stretch>
            <a:fillRect/>
          </a:stretch>
        </p:blipFill>
        <p:spPr>
          <a:xfrm>
            <a:off x="6412687" y="1280160"/>
            <a:ext cx="5212080" cy="2651591"/>
          </a:xfrm>
          <a:prstGeom prst="rect">
            <a:avLst/>
          </a:prstGeom>
        </p:spPr>
      </p:pic>
      <p:sp>
        <p:nvSpPr>
          <p:cNvPr id="5" name="Figure caption"/>
          <p:cNvSpPr txBox="1"/>
          <p:nvPr/>
        </p:nvSpPr>
        <p:spPr>
          <a:xfrm>
            <a:off x="6412687" y="40231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Unrewarded choices after transfers between virtual reality and a maze.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 direction of transfer changes learned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pPr algn="l">
              <a:lnSpc>
                <a:spcPct val="108000"/>
              </a:lnSpc>
              <a:spcAft>
                <a:spcPts val="900"/>
              </a:spcAft>
            </a:pPr>
            <a:r>
              <a:rPr sz="1500" b="0" i="0">
                <a:solidFill>
                  <a:srgbClr val="000000"/>
                </a:solidFill>
                <a:latin typeface="Arial"/>
              </a:rPr>
              <a:t>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pPr algn="l">
              <a:lnSpc>
                <a:spcPct val="108000"/>
              </a:lnSpc>
              <a:spcAft>
                <a:spcPts val="900"/>
              </a:spcAft>
            </a:pPr>
            <a:r>
              <a:rPr sz="1500" b="1" i="0">
                <a:solidFill>
                  <a:srgbClr val="365063"/>
                </a:solidFill>
                <a:latin typeface="Arial"/>
              </a:rPr>
              <a:t>Context-dependent expression</a:t>
            </a:r>
            <a:r>
              <a:rPr sz="1500" b="0" i="0">
                <a:solidFill>
                  <a:srgbClr val="000000"/>
                </a:solidFill>
                <a:latin typeface="Arial"/>
              </a:rPr>
              <a:t>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p:txBody>
      </p:sp>
      <p:pic>
        <p:nvPicPr>
          <p:cNvPr id="4" name="Picture 3" descr="buatois_maze.png"/>
          <p:cNvPicPr>
            <a:picLocks noChangeAspect="1"/>
          </p:cNvPicPr>
          <p:nvPr/>
        </p:nvPicPr>
        <p:blipFill>
          <a:blip r:embed="rId2"/>
          <a:stretch>
            <a:fillRect/>
          </a:stretch>
        </p:blipFill>
        <p:spPr>
          <a:xfrm>
            <a:off x="6412687" y="1280160"/>
            <a:ext cx="5212080" cy="2838937"/>
          </a:xfrm>
          <a:prstGeom prst="rect">
            <a:avLst/>
          </a:prstGeom>
        </p:spPr>
      </p:pic>
      <p:sp>
        <p:nvSpPr>
          <p:cNvPr id="5" name="Figure caption"/>
          <p:cNvSpPr txBox="1"/>
          <p:nvPr/>
        </p:nvSpPr>
        <p:spPr>
          <a:xfrm>
            <a:off x="6412687" y="42105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1(D–F). The Y-maze and detachable arms used for unrestricted color choices.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color learning recruits mushroom-body expression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mushroom bodies</a:t>
            </a:r>
            <a:r>
              <a:rPr sz="1400" b="0" i="0">
                <a:solidFill>
                  <a:srgbClr val="000000"/>
                </a:solidFill>
                <a:latin typeface="Arial"/>
              </a:rPr>
              <a:t> are higher-order insect brain structures whose calyces receive sensory input. </a:t>
            </a:r>
            <a:r>
              <a:rPr sz="1400" b="1" i="0">
                <a:solidFill>
                  <a:srgbClr val="365063"/>
                </a:solidFill>
                <a:latin typeface="Arial"/>
              </a:rPr>
              <a:t>Immediate early genes</a:t>
            </a:r>
            <a:r>
              <a:rPr sz="1400" b="0" i="0">
                <a:solidFill>
                  <a:srgbClr val="000000"/>
                </a:solidFill>
                <a:latin typeface="Arial"/>
              </a:rPr>
              <a:t> are genes whose transcription can increase rapidly following neural activation. The investigators measured Egr1, Hr38, and kakusei RNA after learning, comparing successful and unsuccessful animals exposed to the same task.</a:t>
            </a:r>
          </a:p>
          <a:p>
            <a:pPr algn="l">
              <a:lnSpc>
                <a:spcPct val="108000"/>
              </a:lnSpc>
              <a:spcAft>
                <a:spcPts val="840"/>
              </a:spcAft>
            </a:pPr>
            <a:r>
              <a:rPr sz="1400" b="1" i="0">
                <a:solidFill>
                  <a:srgbClr val="365063"/>
                </a:solidFill>
                <a:latin typeface="Arial"/>
              </a:rPr>
              <a:t>Egr1</a:t>
            </a:r>
            <a:r>
              <a:rPr sz="1400" b="0" i="0">
                <a:solidFill>
                  <a:srgbClr val="000000"/>
                </a:solidFill>
                <a:latin typeface="Arial"/>
              </a:rPr>
              <a:t>, a gene encoding a transcription factor, was elevated in the mushroom-body calyces of successful learners. The calyces contain the input regions of </a:t>
            </a:r>
            <a:r>
              <a:rPr sz="1400" b="1" i="0">
                <a:solidFill>
                  <a:srgbClr val="365063"/>
                </a:solidFill>
                <a:latin typeface="Arial"/>
              </a:rPr>
              <a:t>Kenyon cells</a:t>
            </a:r>
            <a:r>
              <a:rPr sz="1400" b="0" i="0">
                <a:solidFill>
                  <a:srgbClr val="000000"/>
                </a:solidFill>
                <a:latin typeface="Arial"/>
              </a:rPr>
              <a:t>, the principal mushroom-body neurons. Learning-associated transcription was therefore concentrated in a sensory integration region rather than uniformly distributed throughout the sampled brain.</a:t>
            </a:r>
          </a:p>
        </p:txBody>
      </p:sp>
      <p:pic>
        <p:nvPicPr>
          <p:cNvPr id="4" name="Picture 3" descr="geng_Egr1.png"/>
          <p:cNvPicPr>
            <a:picLocks noChangeAspect="1"/>
          </p:cNvPicPr>
          <p:nvPr/>
        </p:nvPicPr>
        <p:blipFill>
          <a:blip r:embed="rId2"/>
          <a:stretch>
            <a:fillRect/>
          </a:stretch>
        </p:blipFill>
        <p:spPr>
          <a:xfrm>
            <a:off x="6412687" y="1280160"/>
            <a:ext cx="5212080" cy="2384437"/>
          </a:xfrm>
          <a:prstGeom prst="rect">
            <a:avLst/>
          </a:prstGeom>
        </p:spPr>
      </p:pic>
      <p:sp>
        <p:nvSpPr>
          <p:cNvPr id="5" name="Figure caption"/>
          <p:cNvSpPr txBox="1"/>
          <p:nvPr/>
        </p:nvSpPr>
        <p:spPr>
          <a:xfrm>
            <a:off x="6412687" y="37560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5(h–j). Egr1 expression in three sampled brain regions.</a:t>
            </a:r>
          </a:p>
        </p:txBody>
      </p:sp>
      <p:pic>
        <p:nvPicPr>
          <p:cNvPr id="6" name="Picture 5" descr="geng_anatomy.png"/>
          <p:cNvPicPr>
            <a:picLocks noChangeAspect="1"/>
          </p:cNvPicPr>
          <p:nvPr/>
        </p:nvPicPr>
        <p:blipFill>
          <a:blip r:embed="rId3"/>
          <a:stretch>
            <a:fillRect/>
          </a:stretch>
        </p:blipFill>
        <p:spPr>
          <a:xfrm>
            <a:off x="7664252" y="4297680"/>
            <a:ext cx="27089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 Optic lobes, mushroom-body calyces, and central-brain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Brain-region sampling separates learning-related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separately sampled the </a:t>
            </a:r>
            <a:r>
              <a:rPr sz="1500" b="1" i="0">
                <a:solidFill>
                  <a:srgbClr val="365063"/>
                </a:solidFill>
                <a:latin typeface="Arial"/>
              </a:rPr>
              <a:t>optic lobes</a:t>
            </a:r>
            <a:r>
              <a:rPr sz="1500" b="0" i="0">
                <a:solidFill>
                  <a:srgbClr val="000000"/>
                </a:solidFill>
                <a:latin typeface="Arial"/>
              </a:rPr>
              <a:t>,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pPr algn="l">
              <a:lnSpc>
                <a:spcPct val="108000"/>
              </a:lnSpc>
              <a:spcAft>
                <a:spcPts val="900"/>
              </a:spcAft>
            </a:pPr>
            <a:r>
              <a:rPr sz="1500" b="0" i="0">
                <a:solidFill>
                  <a:srgbClr val="000000"/>
                </a:solidFill>
                <a:latin typeface="Arial"/>
              </a:rPr>
              <a:t>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pPr algn="l">
              <a:lnSpc>
                <a:spcPct val="108000"/>
              </a:lnSpc>
              <a:spcAft>
                <a:spcPts val="900"/>
              </a:spcAft>
            </a:pPr>
            <a:r>
              <a:rPr sz="1500" b="0" i="0">
                <a:solidFill>
                  <a:srgbClr val="000000"/>
                </a:solidFill>
                <a:latin typeface="Arial"/>
              </a:rPr>
              <a:t>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p:txBody>
      </p:sp>
      <p:pic>
        <p:nvPicPr>
          <p:cNvPr id="4" name="Picture 3" descr="geng_expression.png"/>
          <p:cNvPicPr>
            <a:picLocks noChangeAspect="1"/>
          </p:cNvPicPr>
          <p:nvPr/>
        </p:nvPicPr>
        <p:blipFill>
          <a:blip r:embed="rId2"/>
          <a:stretch>
            <a:fillRect/>
          </a:stretch>
        </p:blipFill>
        <p:spPr>
          <a:xfrm>
            <a:off x="7671862" y="1280160"/>
            <a:ext cx="26937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5(a–j). Brain-region anatomy and expression of three immediate early genes.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Separate eye images create a virtual prey distance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Praying mantises strike with their forelegs when prey lies within reach. </a:t>
            </a:r>
            <a:r>
              <a:rPr sz="1600" b="1" i="0">
                <a:solidFill>
                  <a:srgbClr val="365063"/>
                </a:solidFill>
                <a:latin typeface="Arial"/>
              </a:rPr>
              <a:t>Stereopsis</a:t>
            </a:r>
            <a:r>
              <a:rPr sz="1600" b="0" i="0">
                <a:solidFill>
                  <a:srgbClr val="000000"/>
                </a:solidFill>
                <a:latin typeface="Arial"/>
              </a:rPr>
              <a:t> estimates depth from differences between the images reaching the two eyes. Nityananda and colleagues attached miniature blue and green filters to the eyes, allowing a monitor to present a different target position to each eye.</a:t>
            </a:r>
          </a:p>
          <a:p>
            <a:pPr algn="l">
              <a:lnSpc>
                <a:spcPct val="108000"/>
              </a:lnSpc>
              <a:spcAft>
                <a:spcPts val="960"/>
              </a:spcAft>
            </a:pPr>
            <a:r>
              <a:rPr sz="1600" b="1" i="0">
                <a:solidFill>
                  <a:srgbClr val="365063"/>
                </a:solidFill>
                <a:latin typeface="Arial"/>
              </a:rPr>
              <a:t>Binocular disparity</a:t>
            </a:r>
            <a:r>
              <a:rPr sz="1600" b="0" i="0">
                <a:solidFill>
                  <a:srgbClr val="000000"/>
                </a:solidFill>
                <a:latin typeface="Arial"/>
              </a:rPr>
              <a:t> is the difference in a target’s position between the two retinal images. Moving the two screen targets apart or together changed the depth specified by their disparity while leaving the physical monitor in the same place. A moving disc served as virtual prey.</a:t>
            </a:r>
          </a:p>
          <a:p>
            <a:pPr algn="l">
              <a:lnSpc>
                <a:spcPct val="108000"/>
              </a:lnSpc>
              <a:spcAft>
                <a:spcPts val="960"/>
              </a:spcAft>
            </a:pPr>
            <a:r>
              <a:rPr sz="1600" b="0" i="0">
                <a:solidFill>
                  <a:srgbClr val="000000"/>
                </a:solidFill>
                <a:latin typeface="Arial"/>
              </a:rPr>
              <a:t>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p:txBody>
      </p:sp>
      <p:pic>
        <p:nvPicPr>
          <p:cNvPr id="4" name="Picture 3" descr="mantis_setup.png"/>
          <p:cNvPicPr>
            <a:picLocks noChangeAspect="1"/>
          </p:cNvPicPr>
          <p:nvPr/>
        </p:nvPicPr>
        <p:blipFill>
          <a:blip r:embed="rId2"/>
          <a:stretch>
            <a:fillRect/>
          </a:stretch>
        </p:blipFill>
        <p:spPr>
          <a:xfrm>
            <a:off x="6412687" y="1280160"/>
            <a:ext cx="5212080" cy="2689069"/>
          </a:xfrm>
          <a:prstGeom prst="rect">
            <a:avLst/>
          </a:prstGeom>
        </p:spPr>
      </p:pic>
      <p:sp>
        <p:nvSpPr>
          <p:cNvPr id="5" name="Figure caption"/>
          <p:cNvSpPr txBox="1"/>
          <p:nvPr/>
        </p:nvSpPr>
        <p:spPr>
          <a:xfrm>
            <a:off x="6412687" y="406066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3(a–b). A mantis wearing eye filters and the virtual-prey apparatus.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Binocular disparity gates a mantis’s strike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moving target could specify different distances by changing the separation of its left-eye and right-eye components. </a:t>
            </a:r>
            <a:r>
              <a:rPr sz="1500" b="1" i="0">
                <a:solidFill>
                  <a:srgbClr val="365063"/>
                </a:solidFill>
                <a:latin typeface="Arial"/>
              </a:rPr>
              <a:t>Crossed disparity</a:t>
            </a:r>
            <a:r>
              <a:rPr sz="1500" b="0" i="0">
                <a:solidFill>
                  <a:srgbClr val="000000"/>
                </a:solidFill>
                <a:latin typeface="Arial"/>
              </a:rPr>
              <a:t> corresponds to a target nearer than the monitor; zero disparity corresponds to its surface. Uncrossed disparity reverses the near-target relationship between the two eye images.</a:t>
            </a:r>
          </a:p>
          <a:p>
            <a:pPr algn="l">
              <a:lnSpc>
                <a:spcPct val="108000"/>
              </a:lnSpc>
              <a:spcAft>
                <a:spcPts val="900"/>
              </a:spcAft>
            </a:pPr>
            <a:r>
              <a:rPr sz="1500" b="0" i="0">
                <a:solidFill>
                  <a:srgbClr val="000000"/>
                </a:solidFill>
                <a:latin typeface="Arial"/>
              </a:rPr>
              <a:t>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pPr algn="l">
              <a:lnSpc>
                <a:spcPct val="108000"/>
              </a:lnSpc>
              <a:spcAft>
                <a:spcPts val="900"/>
              </a:spcAft>
            </a:pPr>
            <a:r>
              <a:rPr sz="1500" b="0" i="0">
                <a:solidFill>
                  <a:srgbClr val="000000"/>
                </a:solidFill>
                <a:latin typeface="Arial"/>
              </a:rPr>
              <a:t>The study also recorded </a:t>
            </a:r>
            <a:r>
              <a:rPr sz="1500" b="1" i="0">
                <a:solidFill>
                  <a:srgbClr val="365063"/>
                </a:solidFill>
                <a:latin typeface="Arial"/>
              </a:rPr>
              <a:t>tensions</a:t>
            </a:r>
            <a:r>
              <a:rPr sz="1500" b="0" i="0">
                <a:solidFill>
                  <a:srgbClr val="000000"/>
                </a:solidFill>
                <a:latin typeface="Arial"/>
              </a:rPr>
              <a:t>,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p:txBody>
      </p:sp>
      <p:pic>
        <p:nvPicPr>
          <p:cNvPr id="4" name="Picture 3" descr="mantis_disparity.png"/>
          <p:cNvPicPr>
            <a:picLocks noChangeAspect="1"/>
          </p:cNvPicPr>
          <p:nvPr/>
        </p:nvPicPr>
        <p:blipFill>
          <a:blip r:embed="rId2"/>
          <a:stretch>
            <a:fillRect/>
          </a:stretch>
        </p:blipFill>
        <p:spPr>
          <a:xfrm>
            <a:off x="6520548" y="1280160"/>
            <a:ext cx="49963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4(a–d). Prey-depth geometry and attack responses at three monitor distances.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Eye filters determine which depth signals reach the animal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Crosstalk</a:t>
            </a:r>
            <a:r>
              <a:rPr sz="1500" b="0" i="0">
                <a:solidFill>
                  <a:srgbClr val="000000"/>
                </a:solidFill>
                <a:latin typeface="Arial"/>
              </a:rPr>
              <a:t>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pPr algn="l">
              <a:lnSpc>
                <a:spcPct val="108000"/>
              </a:lnSpc>
              <a:spcAft>
                <a:spcPts val="900"/>
              </a:spcAft>
            </a:pPr>
            <a:r>
              <a:rPr sz="1500" b="0" i="0">
                <a:solidFill>
                  <a:srgbClr val="000000"/>
                </a:solidFill>
                <a:latin typeface="Arial"/>
              </a:rPr>
              <a:t>Blue and green filters reduced this problem by separating the display’s spectral channels. The researchers measured light transmission and recorded </a:t>
            </a:r>
            <a:r>
              <a:rPr sz="1500" b="1" i="0">
                <a:solidFill>
                  <a:srgbClr val="365063"/>
                </a:solidFill>
                <a:latin typeface="Arial"/>
              </a:rPr>
              <a:t>electroretinograms</a:t>
            </a:r>
            <a:r>
              <a:rPr sz="1500" b="0" i="0">
                <a:solidFill>
                  <a:srgbClr val="000000"/>
                </a:solidFill>
                <a:latin typeface="Arial"/>
              </a:rPr>
              <a:t>, electrical responses of the compound eye to light. Physical measurements and eye responses characterized the signals available through each filter.</a:t>
            </a:r>
          </a:p>
          <a:p>
            <a:pPr algn="l">
              <a:lnSpc>
                <a:spcPct val="108000"/>
              </a:lnSpc>
              <a:spcAft>
                <a:spcPts val="900"/>
              </a:spcAft>
            </a:pPr>
            <a:r>
              <a:rPr sz="1500" b="0" i="0">
                <a:solidFill>
                  <a:srgbClr val="000000"/>
                </a:solidFill>
                <a:latin typeface="Arial"/>
              </a:rPr>
              <a:t>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p:txBody>
      </p:sp>
      <p:pic>
        <p:nvPicPr>
          <p:cNvPr id="4" name="Picture 3" descr="mantis_crosstalk.png"/>
          <p:cNvPicPr>
            <a:picLocks noChangeAspect="1"/>
          </p:cNvPicPr>
          <p:nvPr/>
        </p:nvPicPr>
        <p:blipFill>
          <a:blip r:embed="rId2"/>
          <a:stretch>
            <a:fillRect/>
          </a:stretch>
        </p:blipFill>
        <p:spPr>
          <a:xfrm>
            <a:off x="7078144" y="1280160"/>
            <a:ext cx="388116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2(a–c). Filter crosstalk measured optically, electrically, and behaviorally.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Mantis optic-lobe neurons encode virtual prey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Rosner and colleagues recorded individual mantis neurons while presenting targets separately to the two eyes. The </a:t>
            </a:r>
            <a:r>
              <a:rPr sz="1500" b="1" i="0">
                <a:solidFill>
                  <a:srgbClr val="365063"/>
                </a:solidFill>
                <a:latin typeface="Arial"/>
              </a:rPr>
              <a:t>optic lobes</a:t>
            </a:r>
            <a:r>
              <a:rPr sz="1500" b="0" i="0">
                <a:solidFill>
                  <a:srgbClr val="000000"/>
                </a:solidFill>
                <a:latin typeface="Arial"/>
              </a:rPr>
              <a:t> are the brain regions that process signals from the compound eyes. Intracellular recording measured neuronal responses while dye labeling identified each recorded cell’s anatomy.</a:t>
            </a:r>
          </a:p>
          <a:p>
            <a:pPr algn="l">
              <a:lnSpc>
                <a:spcPct val="108000"/>
              </a:lnSpc>
              <a:spcAft>
                <a:spcPts val="900"/>
              </a:spcAft>
            </a:pPr>
            <a:r>
              <a:rPr sz="1500" b="0" i="0">
                <a:solidFill>
                  <a:srgbClr val="000000"/>
                </a:solidFill>
                <a:latin typeface="Arial"/>
              </a:rPr>
              <a:t>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pPr algn="l">
              <a:lnSpc>
                <a:spcPct val="108000"/>
              </a:lnSpc>
              <a:spcAft>
                <a:spcPts val="900"/>
              </a:spcAft>
            </a:pPr>
            <a:r>
              <a:rPr sz="1500" b="0" i="0">
                <a:solidFill>
                  <a:srgbClr val="000000"/>
                </a:solidFill>
                <a:latin typeface="Arial"/>
              </a:rPr>
              <a:t>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p:txBody>
      </p:sp>
      <p:pic>
        <p:nvPicPr>
          <p:cNvPr id="4" name="Picture 3" descr="rosner_neuron.png"/>
          <p:cNvPicPr>
            <a:picLocks noChangeAspect="1"/>
          </p:cNvPicPr>
          <p:nvPr/>
        </p:nvPicPr>
        <p:blipFill>
          <a:blip r:embed="rId2"/>
          <a:stretch>
            <a:fillRect/>
          </a:stretch>
        </p:blipFill>
        <p:spPr>
          <a:xfrm>
            <a:off x="6412687" y="1280160"/>
            <a:ext cx="5212080" cy="3974957"/>
          </a:xfrm>
          <a:prstGeom prst="rect">
            <a:avLst/>
          </a:prstGeom>
        </p:spPr>
      </p:pic>
      <p:sp>
        <p:nvSpPr>
          <p:cNvPr id="5" name="Figure caption"/>
          <p:cNvSpPr txBox="1"/>
          <p:nvPr/>
        </p:nvSpPr>
        <p:spPr>
          <a:xfrm>
            <a:off x="6412687" y="53465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3(a–l). Commissural-neuron anatomy and disparity-dependent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Depth tuning also specifies where prey can be caught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Eccentricity</a:t>
            </a:r>
            <a:r>
              <a:rPr sz="1500" b="0" i="0">
                <a:solidFill>
                  <a:srgbClr val="000000"/>
                </a:solidFill>
                <a:latin typeface="Arial"/>
              </a:rPr>
              <a:t>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pPr algn="l">
              <a:lnSpc>
                <a:spcPct val="108000"/>
              </a:lnSpc>
              <a:spcAft>
                <a:spcPts val="900"/>
              </a:spcAft>
            </a:pPr>
            <a:r>
              <a:rPr sz="1500" b="0" i="0">
                <a:solidFill>
                  <a:srgbClr val="000000"/>
                </a:solidFill>
                <a:latin typeface="Arial"/>
              </a:rPr>
              <a:t>The investigators also identified </a:t>
            </a:r>
            <a:r>
              <a:rPr sz="1500" b="1" i="0">
                <a:solidFill>
                  <a:srgbClr val="365063"/>
                </a:solidFill>
                <a:latin typeface="Arial"/>
              </a:rPr>
              <a:t>centrifugal neurons</a:t>
            </a:r>
            <a:r>
              <a:rPr sz="1500" b="0" i="0">
                <a:solidFill>
                  <a:srgbClr val="000000"/>
                </a:solidFill>
                <a:latin typeface="Arial"/>
              </a:rPr>
              <a:t>,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pPr algn="l">
              <a:lnSpc>
                <a:spcPct val="108000"/>
              </a:lnSpc>
              <a:spcAft>
                <a:spcPts val="900"/>
              </a:spcAft>
            </a:pPr>
            <a:r>
              <a:rPr sz="1500" b="0" i="0">
                <a:solidFill>
                  <a:srgbClr val="000000"/>
                </a:solidFill>
                <a:latin typeface="Arial"/>
              </a:rPr>
              <a:t>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p:txBody>
      </p:sp>
      <p:pic>
        <p:nvPicPr>
          <p:cNvPr id="4" name="Picture 3" descr="rosner_feedback.png"/>
          <p:cNvPicPr>
            <a:picLocks noChangeAspect="1"/>
          </p:cNvPicPr>
          <p:nvPr/>
        </p:nvPicPr>
        <p:blipFill>
          <a:blip r:embed="rId2"/>
          <a:stretch>
            <a:fillRect/>
          </a:stretch>
        </p:blipFill>
        <p:spPr>
          <a:xfrm>
            <a:off x="6412687" y="1280160"/>
            <a:ext cx="5212080" cy="3606950"/>
          </a:xfrm>
          <a:prstGeom prst="rect">
            <a:avLst/>
          </a:prstGeom>
        </p:spPr>
      </p:pic>
      <p:sp>
        <p:nvSpPr>
          <p:cNvPr id="5" name="Figure caption"/>
          <p:cNvSpPr txBox="1"/>
          <p:nvPr/>
        </p:nvSpPr>
        <p:spPr>
          <a:xfrm>
            <a:off x="6412687" y="49785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4(a–d). Feedback-neuron anatomy and binocular target-position tuning.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Cockroaches explore a projected virtual forest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pPr algn="l">
              <a:lnSpc>
                <a:spcPct val="108000"/>
              </a:lnSpc>
              <a:spcAft>
                <a:spcPts val="900"/>
              </a:spcAft>
            </a:pPr>
            <a:r>
              <a:rPr sz="1500" b="0" i="0">
                <a:solidFill>
                  <a:srgbClr val="000000"/>
                </a:solidFill>
                <a:latin typeface="Arial"/>
              </a:rPr>
              <a:t>The system covered about 65% of the complete visual field and allowed continuous rotation through 360° horizontally. A broad view preserved visual information across turns. </a:t>
            </a:r>
            <a:r>
              <a:rPr sz="1500" b="1" i="0">
                <a:solidFill>
                  <a:srgbClr val="365063"/>
                </a:solidFill>
                <a:latin typeface="Arial"/>
              </a:rPr>
              <a:t>Optic flow</a:t>
            </a:r>
            <a:r>
              <a:rPr sz="1500" b="0" i="0">
                <a:solidFill>
                  <a:srgbClr val="000000"/>
                </a:solidFill>
                <a:latin typeface="Arial"/>
              </a:rPr>
              <a:t>, the movement of visual features produced by self-motion, changed as the animal progressed among the virtual trees.</a:t>
            </a:r>
          </a:p>
          <a:p>
            <a:pPr algn="l">
              <a:lnSpc>
                <a:spcPct val="108000"/>
              </a:lnSpc>
              <a:spcAft>
                <a:spcPts val="900"/>
              </a:spcAft>
            </a:pPr>
            <a:r>
              <a:rPr sz="1500" b="0" i="0">
                <a:solidFill>
                  <a:srgbClr val="000000"/>
                </a:solidFill>
                <a:latin typeface="Arial"/>
              </a:rPr>
              <a:t>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p:txBody>
      </p:sp>
      <p:pic>
        <p:nvPicPr>
          <p:cNvPr id="4" name="Picture 3" descr="takalo_forest.png"/>
          <p:cNvPicPr>
            <a:picLocks noChangeAspect="1"/>
          </p:cNvPicPr>
          <p:nvPr/>
        </p:nvPicPr>
        <p:blipFill>
          <a:blip r:embed="rId2"/>
          <a:stretch>
            <a:fillRect/>
          </a:stretch>
        </p:blipFill>
        <p:spPr>
          <a:xfrm>
            <a:off x="7934270" y="1234440"/>
            <a:ext cx="2163426" cy="2285999"/>
          </a:xfrm>
          <a:prstGeom prst="rect">
            <a:avLst/>
          </a:prstGeom>
        </p:spPr>
      </p:pic>
      <p:sp>
        <p:nvSpPr>
          <p:cNvPr id="5" name="Figure caption"/>
          <p:cNvSpPr txBox="1"/>
          <p:nvPr/>
        </p:nvSpPr>
        <p:spPr>
          <a:xfrm>
            <a:off x="6412687" y="3584447"/>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1(b). A cockroach on the trackball within the projected forest.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akalo et al. (2012), Supplementary Video S2. Cockroach virtual-forest exploration." descr="srep00324-s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2. Cockroach virtual-forest explor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S2. Cockroach virtual-forest exploration.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Treadmill movement becomes a cockroach’s virtual path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Optical sensors measured rotation of the cockroach’s trackball. The computer converted that motion into translation and turning within the virtual forest. </a:t>
            </a:r>
            <a:r>
              <a:rPr sz="1500" b="1" i="0">
                <a:solidFill>
                  <a:srgbClr val="365063"/>
                </a:solidFill>
                <a:latin typeface="Arial"/>
              </a:rPr>
              <a:t>Closed-loop control</a:t>
            </a:r>
            <a:r>
              <a:rPr sz="1500" b="0" i="0">
                <a:solidFill>
                  <a:srgbClr val="000000"/>
                </a:solidFill>
                <a:latin typeface="Arial"/>
              </a:rPr>
              <a:t> means that the current movement measurement influences the next display update, permitting the animal to regulate its own progression through the scene.</a:t>
            </a:r>
          </a:p>
          <a:p>
            <a:pPr algn="l">
              <a:lnSpc>
                <a:spcPct val="108000"/>
              </a:lnSpc>
              <a:spcAft>
                <a:spcPts val="900"/>
              </a:spcAft>
            </a:pPr>
            <a:r>
              <a:rPr sz="1500" b="0" i="0">
                <a:solidFill>
                  <a:srgbClr val="000000"/>
                </a:solidFill>
                <a:latin typeface="Arial"/>
              </a:rPr>
              <a:t>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pPr algn="l">
              <a:lnSpc>
                <a:spcPct val="108000"/>
              </a:lnSpc>
              <a:spcAft>
                <a:spcPts val="900"/>
              </a:spcAft>
            </a:pPr>
            <a:r>
              <a:rPr sz="1500" b="0" i="0">
                <a:solidFill>
                  <a:srgbClr val="000000"/>
                </a:solidFill>
                <a:latin typeface="Arial"/>
              </a:rPr>
              <a:t>A </a:t>
            </a:r>
            <a:r>
              <a:rPr sz="1500" b="1" i="0">
                <a:solidFill>
                  <a:srgbClr val="365063"/>
                </a:solidFill>
                <a:latin typeface="Arial"/>
              </a:rPr>
              <a:t>trajectory</a:t>
            </a:r>
            <a:r>
              <a:rPr sz="1500" b="0" i="0">
                <a:solidFill>
                  <a:srgbClr val="000000"/>
                </a:solidFill>
                <a:latin typeface="Arial"/>
              </a:rPr>
              <a:t>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p:txBody>
      </p:sp>
      <p:pic>
        <p:nvPicPr>
          <p:cNvPr id="4" name="Picture 3" descr="takalo_tracking.png"/>
          <p:cNvPicPr>
            <a:picLocks noChangeAspect="1"/>
          </p:cNvPicPr>
          <p:nvPr/>
        </p:nvPicPr>
        <p:blipFill>
          <a:blip r:embed="rId2"/>
          <a:stretch>
            <a:fillRect/>
          </a:stretch>
        </p:blipFill>
        <p:spPr>
          <a:xfrm>
            <a:off x="7168716" y="1280160"/>
            <a:ext cx="370002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6(a–f). Cockroach paths, movement time courses, and spatial occupancy.</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Blowfly photoreceptors detect projector flicker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Photoreceptors</a:t>
            </a:r>
            <a:r>
              <a:rPr sz="1400" b="0" i="0">
                <a:solidFill>
                  <a:srgbClr val="000000"/>
                </a:solidFill>
                <a:latin typeface="Arial"/>
              </a:rPr>
              <a:t>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a:t>
            </a:r>
            <a:r>
              <a:rPr sz="1400" b="1" i="0">
                <a:solidFill>
                  <a:srgbClr val="365063"/>
                </a:solidFill>
                <a:latin typeface="Arial"/>
              </a:rPr>
              <a:t>rhabdomeres</a:t>
            </a:r>
            <a:r>
              <a:rPr sz="1400" b="0" i="0">
                <a:solidFill>
                  <a:srgbClr val="000000"/>
                </a:solidFill>
                <a:latin typeface="Arial"/>
              </a:rPr>
              <a:t>, the light-sensitive parts of the receptors within the compound eye.</a:t>
            </a:r>
          </a:p>
          <a:p>
            <a:pPr algn="l">
              <a:lnSpc>
                <a:spcPct val="108000"/>
              </a:lnSpc>
              <a:spcAft>
                <a:spcPts val="840"/>
              </a:spcAft>
            </a:pPr>
            <a:r>
              <a:rPr sz="1400" b="0" i="0">
                <a:solidFill>
                  <a:srgbClr val="000000"/>
                </a:solidFill>
                <a:latin typeface="Arial"/>
              </a:rPr>
              <a:t>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pPr algn="l">
              <a:lnSpc>
                <a:spcPct val="108000"/>
              </a:lnSpc>
              <a:spcAft>
                <a:spcPts val="840"/>
              </a:spcAft>
            </a:pPr>
            <a:r>
              <a:rPr sz="1400" b="0" i="0">
                <a:solidFill>
                  <a:srgbClr val="000000"/>
                </a:solidFill>
                <a:latin typeface="Arial"/>
              </a:rPr>
              <a:t>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p:txBody>
      </p:sp>
      <p:pic>
        <p:nvPicPr>
          <p:cNvPr id="4" name="Picture 3" descr="takalo_receptors.png"/>
          <p:cNvPicPr>
            <a:picLocks noChangeAspect="1"/>
          </p:cNvPicPr>
          <p:nvPr/>
        </p:nvPicPr>
        <p:blipFill>
          <a:blip r:embed="rId2"/>
          <a:stretch>
            <a:fillRect/>
          </a:stretch>
        </p:blipFill>
        <p:spPr>
          <a:xfrm>
            <a:off x="7640878" y="1280160"/>
            <a:ext cx="275569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5(a–f). Blowfly receptor voltage with two projector generations.</a:t>
            </a:r>
          </a:p>
        </p:txBody>
      </p:sp>
      <p:pic>
        <p:nvPicPr>
          <p:cNvPr id="6" name="Picture 5" descr="retina_anatomy.png"/>
          <p:cNvPicPr>
            <a:picLocks noChangeAspect="1"/>
          </p:cNvPicPr>
          <p:nvPr/>
        </p:nvPicPr>
        <p:blipFill>
          <a:blip r:embed="rId3"/>
          <a:stretch>
            <a:fillRect/>
          </a:stretch>
        </p:blipFill>
        <p:spPr>
          <a:xfrm>
            <a:off x="8455467" y="4297680"/>
            <a:ext cx="11265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Kemppainen et al. (2022), Fig. 4(a–b). Fruit-fly eyes and optical images of their photoreceptor rhabdomeres.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Kemppainen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virtual display must match the animal’s visual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Temporal resolution</a:t>
            </a:r>
            <a:r>
              <a:rPr sz="1400" b="0" i="0">
                <a:solidFill>
                  <a:srgbClr val="000000"/>
                </a:solidFill>
                <a:latin typeface="Arial"/>
              </a:rPr>
              <a:t>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pPr algn="l">
              <a:lnSpc>
                <a:spcPct val="108000"/>
              </a:lnSpc>
              <a:spcAft>
                <a:spcPts val="840"/>
              </a:spcAft>
            </a:pPr>
            <a:r>
              <a:rPr sz="1400" b="0" i="0">
                <a:solidFill>
                  <a:srgbClr val="000000"/>
                </a:solidFill>
                <a:latin typeface="Arial"/>
              </a:rPr>
              <a:t>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pPr algn="l">
              <a:lnSpc>
                <a:spcPct val="108000"/>
              </a:lnSpc>
              <a:spcAft>
                <a:spcPts val="840"/>
              </a:spcAft>
            </a:pPr>
            <a:r>
              <a:rPr sz="1400" b="0" i="0">
                <a:solidFill>
                  <a:srgbClr val="000000"/>
                </a:solidFill>
                <a:latin typeface="Arial"/>
              </a:rPr>
              <a:t>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p:txBody>
      </p:sp>
      <p:pic>
        <p:nvPicPr>
          <p:cNvPr id="4" name="Picture 3" descr="takalo_flicker.png"/>
          <p:cNvPicPr>
            <a:picLocks noChangeAspect="1"/>
          </p:cNvPicPr>
          <p:nvPr/>
        </p:nvPicPr>
        <p:blipFill>
          <a:blip r:embed="rId2"/>
          <a:stretch>
            <a:fillRect/>
          </a:stretch>
        </p:blipFill>
        <p:spPr>
          <a:xfrm>
            <a:off x="7502540" y="1280160"/>
            <a:ext cx="30323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4(a–b). Measured light fluctuations and their temporal-frequency content.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Zebrafish swimming controls a virtual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Engert restrained larval zebrafish by the head while leaving the tail free to move. A moving grating beneath the fish elicited the </a:t>
            </a:r>
            <a:r>
              <a:rPr sz="1600" b="1" i="0">
                <a:solidFill>
                  <a:srgbClr val="365063"/>
                </a:solidFill>
                <a:latin typeface="Arial"/>
              </a:rPr>
              <a:t>optomotor response</a:t>
            </a:r>
            <a:r>
              <a:rPr sz="1600" b="0" i="0">
                <a:solidFill>
                  <a:srgbClr val="000000"/>
                </a:solidFill>
                <a:latin typeface="Arial"/>
              </a:rPr>
              <a:t>, swimming in the direction of visual motion. Tail movements were filmed and used to update the grating’s velocity during each swim bout.</a:t>
            </a:r>
          </a:p>
          <a:p>
            <a:pPr algn="l">
              <a:lnSpc>
                <a:spcPct val="108000"/>
              </a:lnSpc>
              <a:spcAft>
                <a:spcPts val="960"/>
              </a:spcAft>
            </a:pPr>
            <a:r>
              <a:rPr sz="1600" b="0" i="0">
                <a:solidFill>
                  <a:srgbClr val="000000"/>
                </a:solidFill>
                <a:latin typeface="Arial"/>
              </a:rPr>
              <a:t>A </a:t>
            </a:r>
            <a:r>
              <a:rPr sz="1600" b="1" i="0">
                <a:solidFill>
                  <a:srgbClr val="365063"/>
                </a:solidFill>
                <a:latin typeface="Arial"/>
              </a:rPr>
              <a:t>swim bout</a:t>
            </a:r>
            <a:r>
              <a:rPr sz="1600" b="0" i="0">
                <a:solidFill>
                  <a:srgbClr val="000000"/>
                </a:solidFill>
                <a:latin typeface="Arial"/>
              </a:rPr>
              <a: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pPr algn="l">
              <a:lnSpc>
                <a:spcPct val="108000"/>
              </a:lnSpc>
              <a:spcAft>
                <a:spcPts val="960"/>
              </a:spcAft>
            </a:pPr>
            <a:r>
              <a:rPr sz="1600" b="0" i="0">
                <a:solidFill>
                  <a:srgbClr val="000000"/>
                </a:solidFill>
                <a:latin typeface="Arial"/>
              </a:rPr>
              <a:t>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p:txBody>
      </p:sp>
      <p:pic>
        <p:nvPicPr>
          <p:cNvPr id="4" name="Picture 3" descr="portugues_setup.png"/>
          <p:cNvPicPr>
            <a:picLocks noChangeAspect="1"/>
          </p:cNvPicPr>
          <p:nvPr/>
        </p:nvPicPr>
        <p:blipFill>
          <a:blip r:embed="rId2"/>
          <a:stretch>
            <a:fillRect/>
          </a:stretch>
        </p:blipFill>
        <p:spPr>
          <a:xfrm>
            <a:off x="6840174" y="1234440"/>
            <a:ext cx="4351618"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 Fig. 1(A–C). A head-restrained larva and the tail-tracking preparation.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Feedback gain changes the required swimming effort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Feedback gain</a:t>
            </a:r>
            <a:r>
              <a:rPr sz="1500" b="0" i="0">
                <a:solidFill>
                  <a:srgbClr val="000000"/>
                </a:solidFill>
                <a:latin typeface="Arial"/>
              </a:rPr>
              <a:t>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pPr algn="l">
              <a:lnSpc>
                <a:spcPct val="108000"/>
              </a:lnSpc>
              <a:spcAft>
                <a:spcPts val="900"/>
              </a:spcAft>
            </a:pPr>
            <a:r>
              <a:rPr sz="1500" b="0" i="0">
                <a:solidFill>
                  <a:srgbClr val="000000"/>
                </a:solidFill>
                <a:latin typeface="Arial"/>
              </a:rPr>
              <a:t>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pPr algn="l">
              <a:lnSpc>
                <a:spcPct val="108000"/>
              </a:lnSpc>
              <a:spcAft>
                <a:spcPts val="900"/>
              </a:spcAft>
            </a:pPr>
            <a:r>
              <a:rPr sz="1500" b="0" i="0">
                <a:solidFill>
                  <a:srgbClr val="000000"/>
                </a:solidFill>
                <a:latin typeface="Arial"/>
              </a:rPr>
              <a:t>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p:txBody>
      </p:sp>
      <p:pic>
        <p:nvPicPr>
          <p:cNvPr id="4" name="Picture 3" descr="portugues_gain.png"/>
          <p:cNvPicPr>
            <a:picLocks noChangeAspect="1"/>
          </p:cNvPicPr>
          <p:nvPr/>
        </p:nvPicPr>
        <p:blipFill>
          <a:blip r:embed="rId2"/>
          <a:stretch>
            <a:fillRect/>
          </a:stretch>
        </p:blipFill>
        <p:spPr>
          <a:xfrm>
            <a:off x="6626287" y="1280160"/>
            <a:ext cx="47848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3(A–M). Tail activity and bout measures at high and low feedback gains.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Past feedback changes the fish’s current motor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pPr algn="l">
              <a:lnSpc>
                <a:spcPct val="108000"/>
              </a:lnSpc>
              <a:spcAft>
                <a:spcPts val="900"/>
              </a:spcAft>
            </a:pPr>
            <a:r>
              <a:rPr sz="1500" b="0" i="0">
                <a:solidFill>
                  <a:srgbClr val="000000"/>
                </a:solidFill>
                <a:latin typeface="Arial"/>
              </a:rPr>
              <a:t>After high-gain experience, bouts at gain 1 were shorter than after low-gain experience. The visual system and motor output therefore carried an influence of previous action consequences into the new condition. </a:t>
            </a:r>
            <a:r>
              <a:rPr sz="1500" b="1" i="0">
                <a:solidFill>
                  <a:srgbClr val="365063"/>
                </a:solidFill>
                <a:latin typeface="Arial"/>
              </a:rPr>
              <a:t>Adaptation</a:t>
            </a:r>
            <a:r>
              <a:rPr sz="1500" b="0" i="0">
                <a:solidFill>
                  <a:srgbClr val="000000"/>
                </a:solidFill>
                <a:latin typeface="Arial"/>
              </a:rPr>
              <a:t> is this experience-dependent adjustment of a movement pattern to changed feedback.</a:t>
            </a:r>
          </a:p>
          <a:p>
            <a:pPr algn="l">
              <a:lnSpc>
                <a:spcPct val="108000"/>
              </a:lnSpc>
              <a:spcAft>
                <a:spcPts val="900"/>
              </a:spcAft>
            </a:pPr>
            <a:r>
              <a:rPr sz="1500" b="0" i="0">
                <a:solidFill>
                  <a:srgbClr val="000000"/>
                </a:solidFill>
                <a:latin typeface="Arial"/>
              </a:rPr>
              <a:t>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p:txBody>
      </p:sp>
      <p:pic>
        <p:nvPicPr>
          <p:cNvPr id="4" name="Picture 3" descr="portugues_history.png"/>
          <p:cNvPicPr>
            <a:picLocks noChangeAspect="1"/>
          </p:cNvPicPr>
          <p:nvPr/>
        </p:nvPicPr>
        <p:blipFill>
          <a:blip r:embed="rId2"/>
          <a:stretch>
            <a:fillRect/>
          </a:stretch>
        </p:blipFill>
        <p:spPr>
          <a:xfrm>
            <a:off x="7152629" y="1280160"/>
            <a:ext cx="37321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4(A–E). Motor-pattern changes across alternating feedback-gain conditions.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Fictive swimming permits brain-wide activity recording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Fictive swimming</a:t>
            </a:r>
            <a:r>
              <a:rPr sz="1400" b="0" i="0">
                <a:solidFill>
                  <a:srgbClr val="000000"/>
                </a:solidFill>
                <a:latin typeface="Arial"/>
              </a:rPr>
              <a:t>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pPr algn="l">
              <a:lnSpc>
                <a:spcPct val="108000"/>
              </a:lnSpc>
              <a:spcAft>
                <a:spcPts val="840"/>
              </a:spcAft>
            </a:pPr>
            <a:r>
              <a:rPr sz="1400" b="0" i="0">
                <a:solidFill>
                  <a:srgbClr val="000000"/>
                </a:solidFill>
                <a:latin typeface="Arial"/>
              </a:rPr>
              <a:t>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pPr algn="l">
              <a:lnSpc>
                <a:spcPct val="108000"/>
              </a:lnSpc>
              <a:spcAft>
                <a:spcPts val="840"/>
              </a:spcAft>
            </a:pPr>
            <a:r>
              <a:rPr sz="1400" b="0" i="0">
                <a:solidFill>
                  <a:srgbClr val="000000"/>
                </a:solidFill>
                <a:latin typeface="Arial"/>
              </a:rPr>
              <a:t>The researchers introduced periods of </a:t>
            </a:r>
            <a:r>
              <a:rPr sz="1400" b="1" i="0">
                <a:solidFill>
                  <a:srgbClr val="365063"/>
                </a:solidFill>
                <a:latin typeface="Arial"/>
              </a:rPr>
              <a:t>open-loop replay</a:t>
            </a:r>
            <a:r>
              <a:rPr sz="1400" b="0" i="0">
                <a:solidFill>
                  <a:srgbClr val="000000"/>
                </a:solidFill>
                <a:latin typeface="Arial"/>
              </a:rPr>
              <a:t>,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p:txBody>
      </p:sp>
      <p:pic>
        <p:nvPicPr>
          <p:cNvPr id="4" name="Picture 3" descr="ahrens_imaging.png"/>
          <p:cNvPicPr>
            <a:picLocks noChangeAspect="1"/>
          </p:cNvPicPr>
          <p:nvPr/>
        </p:nvPicPr>
        <p:blipFill>
          <a:blip r:embed="rId2"/>
          <a:stretch>
            <a:fillRect/>
          </a:stretch>
        </p:blipFill>
        <p:spPr>
          <a:xfrm>
            <a:off x="7105071" y="1280160"/>
            <a:ext cx="382731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2(a–h). Cellular calcium imaging, fictive motor output, and functional brain maps.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Four response classes accompany motor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feedback-gain changes, neuronal activity separated into transient and sustained response classes. </a:t>
            </a:r>
            <a:r>
              <a:rPr sz="1400" b="1" i="0">
                <a:solidFill>
                  <a:srgbClr val="365063"/>
                </a:solidFill>
                <a:latin typeface="Arial"/>
              </a:rPr>
              <a:t>Motor-related cells</a:t>
            </a:r>
            <a:r>
              <a:rPr sz="1400" b="0" i="0">
                <a:solidFill>
                  <a:srgbClr val="000000"/>
                </a:solidFill>
                <a:latin typeface="Arial"/>
              </a:rPr>
              <a:t> were more active during low-gain periods with stronger fictive swimming. </a:t>
            </a:r>
            <a:r>
              <a:rPr sz="1400" b="1" i="0">
                <a:solidFill>
                  <a:srgbClr val="365063"/>
                </a:solidFill>
                <a:latin typeface="Arial"/>
              </a:rPr>
              <a:t>Motor-off cells</a:t>
            </a:r>
            <a:r>
              <a:rPr sz="1400" b="0" i="0">
                <a:solidFill>
                  <a:srgbClr val="000000"/>
                </a:solidFill>
                <a:latin typeface="Arial"/>
              </a:rPr>
              <a:t> were more active during high-gain periods with weaker swimming, supplying a complementary relation to locomotor state.</a:t>
            </a:r>
          </a:p>
          <a:p>
            <a:pPr algn="l">
              <a:lnSpc>
                <a:spcPct val="108000"/>
              </a:lnSpc>
              <a:spcAft>
                <a:spcPts val="840"/>
              </a:spcAft>
            </a:pPr>
            <a:r>
              <a:rPr sz="1400" b="1" i="0">
                <a:solidFill>
                  <a:srgbClr val="365063"/>
                </a:solidFill>
                <a:latin typeface="Arial"/>
              </a:rPr>
              <a:t>Gain-decrease cells</a:t>
            </a:r>
            <a:r>
              <a:rPr sz="1400" b="0" i="0">
                <a:solidFill>
                  <a:srgbClr val="000000"/>
                </a:solidFill>
                <a:latin typeface="Arial"/>
              </a:rPr>
              <a:t> responded transiently after movement became less effective in the visual world. </a:t>
            </a:r>
            <a:r>
              <a:rPr sz="1400" b="1" i="0">
                <a:solidFill>
                  <a:srgbClr val="365063"/>
                </a:solidFill>
                <a:latin typeface="Arial"/>
              </a:rPr>
              <a:t>Gain-increase cells</a:t>
            </a:r>
            <a:r>
              <a:rPr sz="1400" b="0" i="0">
                <a:solidFill>
                  <a:srgbClr val="000000"/>
                </a:solidFill>
                <a:latin typeface="Arial"/>
              </a:rPr>
              <a:t> responded after the opposite change. Their signals were concentrated around the transition rather than remaining elevated throughout the new gain condition, distinguishing adaptation-associated events from the subsequent sustained state.</a:t>
            </a:r>
          </a:p>
          <a:p>
            <a:pPr algn="l">
              <a:lnSpc>
                <a:spcPct val="108000"/>
              </a:lnSpc>
              <a:spcAft>
                <a:spcPts val="840"/>
              </a:spcAft>
            </a:pPr>
            <a:r>
              <a:rPr sz="1400" b="0" i="0">
                <a:solidFill>
                  <a:srgbClr val="000000"/>
                </a:solidFill>
                <a:latin typeface="Arial"/>
              </a:rPr>
              <a:t>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p:txBody>
      </p:sp>
      <p:pic>
        <p:nvPicPr>
          <p:cNvPr id="4" name="Picture 3" descr="ahrens_classes.png"/>
          <p:cNvPicPr>
            <a:picLocks noChangeAspect="1"/>
          </p:cNvPicPr>
          <p:nvPr/>
        </p:nvPicPr>
        <p:blipFill>
          <a:blip r:embed="rId2"/>
          <a:stretch>
            <a:fillRect/>
          </a:stretch>
        </p:blipFill>
        <p:spPr>
          <a:xfrm>
            <a:off x="7071498" y="1280160"/>
            <a:ext cx="38944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4(a–l). Four neural response classes and their motor or visual relationships.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Response classes occupy distinct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researchers registered recorded neurons to a common larval brain, connecting response classes to anatomical location. </a:t>
            </a:r>
            <a:r>
              <a:rPr sz="1400" b="1" i="0">
                <a:solidFill>
                  <a:srgbClr val="365063"/>
                </a:solidFill>
                <a:latin typeface="Arial"/>
              </a:rPr>
              <a:t>Registration</a:t>
            </a:r>
            <a:r>
              <a:rPr sz="1400" b="0" i="0">
                <a:solidFill>
                  <a:srgbClr val="000000"/>
                </a:solidFill>
                <a:latin typeface="Arial"/>
              </a:rPr>
              <a:t> aligns measurements from different preparations into a shared coordinate system. Motor-related activity occurred across hindbrain regions, the cerebellum, and additional midbrain and forebrain sites.</a:t>
            </a:r>
          </a:p>
          <a:p>
            <a:pPr algn="l">
              <a:lnSpc>
                <a:spcPct val="108000"/>
              </a:lnSpc>
              <a:spcAft>
                <a:spcPts val="840"/>
              </a:spcAft>
            </a:pPr>
            <a:r>
              <a:rPr sz="1400" b="0" i="0">
                <a:solidFill>
                  <a:srgbClr val="000000"/>
                </a:solidFill>
                <a:latin typeface="Arial"/>
              </a:rPr>
              <a:t>The </a:t>
            </a:r>
            <a:r>
              <a:rPr sz="1400" b="1" i="0">
                <a:solidFill>
                  <a:srgbClr val="365063"/>
                </a:solidFill>
                <a:latin typeface="Arial"/>
              </a:rPr>
              <a:t>cerebellum</a:t>
            </a:r>
            <a:r>
              <a:rPr sz="1400" b="0" i="0">
                <a:solidFill>
                  <a:srgbClr val="000000"/>
                </a:solidFill>
                <a:latin typeface="Arial"/>
              </a:rPr>
              <a:t> is a brain region associated with motor regulation, while the </a:t>
            </a:r>
            <a:r>
              <a:rPr sz="1400" b="1" i="0">
                <a:solidFill>
                  <a:srgbClr val="365063"/>
                </a:solidFill>
                <a:latin typeface="Arial"/>
              </a:rPr>
              <a:t>inferior olive</a:t>
            </a:r>
            <a:r>
              <a:rPr sz="1400" b="0" i="0">
                <a:solidFill>
                  <a:srgbClr val="000000"/>
                </a:solidFill>
                <a:latin typeface="Arial"/>
              </a:rPr>
              <a:t> supplies signals to cerebellar circuitry. Both contained responses associated with adaptive locomotion. Gain-decrease activity included cerebellar locations, and gain-increase activity included a concentration in the inferior olive.</a:t>
            </a:r>
          </a:p>
          <a:p>
            <a:pPr algn="l">
              <a:lnSpc>
                <a:spcPct val="108000"/>
              </a:lnSpc>
              <a:spcAft>
                <a:spcPts val="840"/>
              </a:spcAft>
            </a:pPr>
            <a:r>
              <a:rPr sz="1400" b="0" i="0">
                <a:solidFill>
                  <a:srgbClr val="000000"/>
                </a:solidFill>
                <a:latin typeface="Arial"/>
              </a:rPr>
              <a:t>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p:txBody>
      </p:sp>
      <p:pic>
        <p:nvPicPr>
          <p:cNvPr id="4" name="Picture 3" descr="ahrens_maps.png"/>
          <p:cNvPicPr>
            <a:picLocks noChangeAspect="1"/>
          </p:cNvPicPr>
          <p:nvPr/>
        </p:nvPicPr>
        <p:blipFill>
          <a:blip r:embed="rId2"/>
          <a:stretch>
            <a:fillRect/>
          </a:stretch>
        </p:blipFill>
        <p:spPr>
          <a:xfrm>
            <a:off x="7282056" y="1280160"/>
            <a:ext cx="347334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locations of motor, gain-change, and motor-off responses.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Inferior-olive lesions impair gain-dependent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Lesioning</a:t>
            </a:r>
            <a:r>
              <a:rPr sz="1400" b="0" i="0">
                <a:solidFill>
                  <a:srgbClr val="000000"/>
                </a:solidFill>
                <a:latin typeface="Arial"/>
              </a:rPr>
              <a:t>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pPr algn="l">
              <a:lnSpc>
                <a:spcPct val="108000"/>
              </a:lnSpc>
              <a:spcAft>
                <a:spcPts val="840"/>
              </a:spcAft>
            </a:pPr>
            <a:r>
              <a:rPr sz="1400" b="0" i="0">
                <a:solidFill>
                  <a:srgbClr val="000000"/>
                </a:solidFill>
                <a:latin typeface="Arial"/>
              </a:rPr>
              <a:t>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pPr algn="l">
              <a:lnSpc>
                <a:spcPct val="108000"/>
              </a:lnSpc>
              <a:spcAft>
                <a:spcPts val="840"/>
              </a:spcAft>
            </a:pPr>
            <a:r>
              <a:rPr sz="1400" b="0" i="0">
                <a:solidFill>
                  <a:srgbClr val="000000"/>
                </a:solidFill>
                <a:latin typeface="Arial"/>
              </a:rPr>
              <a:t>The inferior olive connects into </a:t>
            </a:r>
            <a:r>
              <a:rPr sz="1400" b="1" i="0">
                <a:solidFill>
                  <a:srgbClr val="365063"/>
                </a:solidFill>
                <a:latin typeface="Arial"/>
              </a:rPr>
              <a:t>olivocerebellar circuitry</a:t>
            </a:r>
            <a:r>
              <a:rPr sz="1400" b="0" i="0">
                <a:solidFill>
                  <a:srgbClr val="000000"/>
                </a:solidFill>
                <a:latin typeface="Arial"/>
              </a:rPr>
              <a:t>,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p:txBody>
      </p:sp>
      <p:pic>
        <p:nvPicPr>
          <p:cNvPr id="4" name="Picture 3" descr="ahrens_lesion.png"/>
          <p:cNvPicPr>
            <a:picLocks noChangeAspect="1"/>
          </p:cNvPicPr>
          <p:nvPr/>
        </p:nvPicPr>
        <p:blipFill>
          <a:blip r:embed="rId2"/>
          <a:stretch>
            <a:fillRect/>
          </a:stretch>
        </p:blipFill>
        <p:spPr>
          <a:xfrm>
            <a:off x="6412687" y="1280160"/>
            <a:ext cx="5212080" cy="1611847"/>
          </a:xfrm>
          <a:prstGeom prst="rect">
            <a:avLst/>
          </a:prstGeom>
        </p:spPr>
      </p:pic>
      <p:sp>
        <p:nvSpPr>
          <p:cNvPr id="5" name="Figure caption"/>
          <p:cNvSpPr txBox="1"/>
          <p:nvPr/>
        </p:nvSpPr>
        <p:spPr>
          <a:xfrm>
            <a:off x="6412687" y="298344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Swim-bout power before and after inferior-olive or control lesions.</a:t>
            </a:r>
          </a:p>
        </p:txBody>
      </p:sp>
      <p:pic>
        <p:nvPicPr>
          <p:cNvPr id="6" name="Picture 5" descr="ahrens_maps.png"/>
          <p:cNvPicPr>
            <a:picLocks noChangeAspect="1"/>
          </p:cNvPicPr>
          <p:nvPr/>
        </p:nvPicPr>
        <p:blipFill>
          <a:blip r:embed="rId3"/>
          <a:stretch>
            <a:fillRect/>
          </a:stretch>
        </p:blipFill>
        <p:spPr>
          <a:xfrm>
            <a:off x="8427520" y="4297680"/>
            <a:ext cx="118241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distribution of adaptive-control response classes.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Mice navigate a corridor built with a game engine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pPr algn="l">
              <a:lnSpc>
                <a:spcPct val="108000"/>
              </a:lnSpc>
              <a:spcAft>
                <a:spcPts val="900"/>
              </a:spcAft>
            </a:pPr>
            <a:r>
              <a:rPr sz="1500" b="1" i="0">
                <a:solidFill>
                  <a:srgbClr val="365063"/>
                </a:solidFill>
                <a:latin typeface="Arial"/>
              </a:rPr>
              <a:t>Operant conditioning</a:t>
            </a:r>
            <a:r>
              <a:rPr sz="1500" b="0" i="0">
                <a:solidFill>
                  <a:srgbClr val="000000"/>
                </a:solidFill>
                <a:latin typeface="Arial"/>
              </a:rPr>
              <a:t>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pPr algn="l">
              <a:lnSpc>
                <a:spcPct val="108000"/>
              </a:lnSpc>
              <a:spcAft>
                <a:spcPts val="900"/>
              </a:spcAft>
            </a:pPr>
            <a:r>
              <a:rPr sz="1500" b="0" i="0">
                <a:solidFill>
                  <a:srgbClr val="000000"/>
                </a:solidFill>
                <a:latin typeface="Arial"/>
              </a:rPr>
              <a:t>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p:txBody>
      </p:sp>
      <p:pic>
        <p:nvPicPr>
          <p:cNvPr id="4" name="Picture 3" descr="harvey_track.png"/>
          <p:cNvPicPr>
            <a:picLocks noChangeAspect="1"/>
          </p:cNvPicPr>
          <p:nvPr/>
        </p:nvPicPr>
        <p:blipFill>
          <a:blip r:embed="rId2"/>
          <a:stretch>
            <a:fillRect/>
          </a:stretch>
        </p:blipFill>
        <p:spPr>
          <a:xfrm>
            <a:off x="7272299" y="1280160"/>
            <a:ext cx="349285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2(A–E). Virtual corridor, reward locations, and changes in trained navigation.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Place-cell firing increases at specific virtual locations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65063"/>
                </a:solidFill>
                <a:latin typeface="Arial"/>
              </a:rPr>
              <a:t>place cell</a:t>
            </a:r>
            <a:r>
              <a:rPr sz="1500" b="0" i="0">
                <a:solidFill>
                  <a:srgbClr val="000000"/>
                </a:solidFill>
                <a:latin typeface="Arial"/>
              </a:rPr>
              <a:t> fires preferentially when an animal occupies a particular region of an environment. Harvey and colleagues recorded extracellular action potentials from pyramidal neurons in hippocampal </a:t>
            </a:r>
            <a:r>
              <a:rPr sz="1500" b="1" i="0">
                <a:solidFill>
                  <a:srgbClr val="365063"/>
                </a:solidFill>
                <a:latin typeface="Arial"/>
              </a:rPr>
              <a:t>CA1</a:t>
            </a:r>
            <a:r>
              <a:rPr sz="1500" b="0" i="0">
                <a:solidFill>
                  <a:srgbClr val="000000"/>
                </a:solidFill>
                <a:latin typeface="Arial"/>
              </a:rPr>
              <a:t>, a subfield of the hippocampus. The mouse’s position along the virtual corridor was matched to the timing of each recorded spike.</a:t>
            </a:r>
          </a:p>
          <a:p>
            <a:pPr algn="l">
              <a:lnSpc>
                <a:spcPct val="108000"/>
              </a:lnSpc>
              <a:spcAft>
                <a:spcPts val="900"/>
              </a:spcAft>
            </a:pPr>
            <a:r>
              <a:rPr sz="1500" b="0" i="0">
                <a:solidFill>
                  <a:srgbClr val="000000"/>
                </a:solidFill>
                <a:latin typeface="Arial"/>
              </a:rPr>
              <a:t>Cells increased their firing within restricted </a:t>
            </a:r>
            <a:r>
              <a:rPr sz="1500" b="1" i="0">
                <a:solidFill>
                  <a:srgbClr val="365063"/>
                </a:solidFill>
                <a:latin typeface="Arial"/>
              </a:rPr>
              <a:t>place fields</a:t>
            </a:r>
            <a:r>
              <a:rPr sz="1500" b="0" i="0">
                <a:solidFill>
                  <a:srgbClr val="000000"/>
                </a:solidFill>
                <a:latin typeface="Arial"/>
              </a:rPr>
              <a:t>, the locations associated with elevated activity. Extracellularly recorded fields averaged about 41 cm in extent along the 180 cm corridor. Some cells had different activity for the two running directions, combining position with the direction of travel.</a:t>
            </a:r>
          </a:p>
          <a:p>
            <a:pPr algn="l">
              <a:lnSpc>
                <a:spcPct val="108000"/>
              </a:lnSpc>
              <a:spcAft>
                <a:spcPts val="900"/>
              </a:spcAft>
            </a:pPr>
            <a:r>
              <a:rPr sz="1500" b="0" i="0">
                <a:solidFill>
                  <a:srgbClr val="000000"/>
                </a:solidFill>
                <a:latin typeface="Arial"/>
              </a:rPr>
              <a:t>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p:txBody>
      </p:sp>
      <p:pic>
        <p:nvPicPr>
          <p:cNvPr id="4" name="Picture 3" descr="harvey_spatial.png"/>
          <p:cNvPicPr>
            <a:picLocks noChangeAspect="1"/>
          </p:cNvPicPr>
          <p:nvPr/>
        </p:nvPicPr>
        <p:blipFill>
          <a:blip r:embed="rId2"/>
          <a:stretch>
            <a:fillRect/>
          </a:stretch>
        </p:blipFill>
        <p:spPr>
          <a:xfrm>
            <a:off x="8050737" y="1280160"/>
            <a:ext cx="193597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3(A–E). Position-dependent CA1 spiking and timing along the virtual corridor.</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Hippocampal imaging access and CA1 cell-body and dendritic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Depolarization raises excitability inside a place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Whole-cell recording</a:t>
            </a:r>
            <a:r>
              <a:rPr sz="1500" b="0" i="0">
                <a:solidFill>
                  <a:srgbClr val="000000"/>
                </a:solidFill>
                <a:latin typeface="Arial"/>
              </a:rPr>
              <a:t> uses a glass pipette to measure membrane voltage from inside a neuron. Head restraint during virtual navigation supplied sufficient stability for this technique. It exposed </a:t>
            </a:r>
            <a:r>
              <a:rPr sz="1500" b="1" i="0">
                <a:solidFill>
                  <a:srgbClr val="365063"/>
                </a:solidFill>
                <a:latin typeface="Arial"/>
              </a:rPr>
              <a:t>subthreshold activity</a:t>
            </a:r>
            <a:r>
              <a:rPr sz="1500" b="0" i="0">
                <a:solidFill>
                  <a:srgbClr val="000000"/>
                </a:solidFill>
                <a:latin typeface="Arial"/>
              </a:rPr>
              <a:t>, voltage changes occurring below the level required to generate an action potential.</a:t>
            </a:r>
          </a:p>
          <a:p>
            <a:pPr algn="l">
              <a:lnSpc>
                <a:spcPct val="108000"/>
              </a:lnSpc>
              <a:spcAft>
                <a:spcPts val="900"/>
              </a:spcAft>
            </a:pPr>
            <a:r>
              <a:rPr sz="1500" b="0" i="0">
                <a:solidFill>
                  <a:srgbClr val="000000"/>
                </a:solidFill>
                <a:latin typeface="Arial"/>
              </a:rPr>
              <a:t>As a mouse approached a CA1 place field, baseline voltage rose in a ramp-like </a:t>
            </a:r>
            <a:r>
              <a:rPr sz="1500" b="1" i="0">
                <a:solidFill>
                  <a:srgbClr val="365063"/>
                </a:solidFill>
                <a:latin typeface="Arial"/>
              </a:rPr>
              <a:t>depolarization</a:t>
            </a:r>
            <a:r>
              <a:rPr sz="1500" b="0" i="0">
                <a:solidFill>
                  <a:srgbClr val="000000"/>
                </a:solidFill>
                <a:latin typeface="Arial"/>
              </a:rPr>
              <a:t>, a change toward less-negative membrane potential. Ramps could begin before strong firing appeared and, in individual traversals, reach approximately 10 mV. Average membrane voltage remained higher inside the field than outside it.</a:t>
            </a:r>
          </a:p>
          <a:p>
            <a:pPr algn="l">
              <a:lnSpc>
                <a:spcPct val="108000"/>
              </a:lnSpc>
              <a:spcAft>
                <a:spcPts val="900"/>
              </a:spcAft>
            </a:pPr>
            <a:r>
              <a:rPr sz="1500" b="0" i="0">
                <a:solidFill>
                  <a:srgbClr val="000000"/>
                </a:solidFill>
                <a:latin typeface="Arial"/>
              </a:rPr>
              <a:t>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p:txBody>
      </p:sp>
      <p:pic>
        <p:nvPicPr>
          <p:cNvPr id="4" name="Picture 3" descr="harvey_ramps.png"/>
          <p:cNvPicPr>
            <a:picLocks noChangeAspect="1"/>
          </p:cNvPicPr>
          <p:nvPr/>
        </p:nvPicPr>
        <p:blipFill>
          <a:blip r:embed="rId2"/>
          <a:stretch>
            <a:fillRect/>
          </a:stretch>
        </p:blipFill>
        <p:spPr>
          <a:xfrm>
            <a:off x="8180983" y="1280160"/>
            <a:ext cx="167548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4(A–E). Membrane-voltage ramps and firing during place-field traversal.</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CA1 cell-body and dendritic layers in a related virtual-navigation preparation.</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Theta timing adds a temporal code to virtual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65063"/>
                </a:solidFill>
                <a:latin typeface="Arial"/>
              </a:rPr>
              <a:t>Theta oscillations</a:t>
            </a:r>
            <a:r>
              <a:rPr sz="1400" b="0" i="0">
                <a:solidFill>
                  <a:srgbClr val="000000"/>
                </a:solidFill>
                <a:latin typeface="Arial"/>
              </a:rPr>
              <a:t>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pPr algn="l">
              <a:lnSpc>
                <a:spcPct val="108000"/>
              </a:lnSpc>
              <a:spcAft>
                <a:spcPts val="840"/>
              </a:spcAft>
            </a:pPr>
            <a:r>
              <a:rPr sz="1400" b="1" i="0">
                <a:solidFill>
                  <a:srgbClr val="365063"/>
                </a:solidFill>
                <a:latin typeface="Arial"/>
              </a:rPr>
              <a:t>Local field potential</a:t>
            </a:r>
            <a:r>
              <a:rPr sz="1400" b="0" i="0">
                <a:solidFill>
                  <a:srgbClr val="000000"/>
                </a:solidFill>
                <a:latin typeface="Arial"/>
              </a:rPr>
              <a:t>, or LFP, is an extracellular signal reflecting population electrical activity. </a:t>
            </a:r>
            <a:r>
              <a:rPr sz="1400" b="1" i="0">
                <a:solidFill>
                  <a:srgbClr val="365063"/>
                </a:solidFill>
                <a:latin typeface="Arial"/>
              </a:rPr>
              <a:t>Phase precession</a:t>
            </a:r>
            <a:r>
              <a:rPr sz="1400" b="0" i="0">
                <a:solidFill>
                  <a:srgbClr val="000000"/>
                </a:solidFill>
                <a:latin typeface="Arial"/>
              </a:rPr>
              <a:t> means that spikes occur progressively earlier within this reference rhythm as the animal crosses a field. Spikes advanced relative to LFP theta while remaining more consistently aligned with intracellular theta.</a:t>
            </a:r>
          </a:p>
          <a:p>
            <a:pPr algn="l">
              <a:lnSpc>
                <a:spcPct val="108000"/>
              </a:lnSpc>
              <a:spcAft>
                <a:spcPts val="840"/>
              </a:spcAft>
            </a:pPr>
            <a:r>
              <a:rPr sz="1400" b="0" i="0">
                <a:solidFill>
                  <a:srgbClr val="000000"/>
                </a:solidFill>
                <a:latin typeface="Arial"/>
              </a:rPr>
              <a:t>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p:txBody>
      </p:sp>
      <p:pic>
        <p:nvPicPr>
          <p:cNvPr id="4" name="Picture 3" descr="harvey_theta.png"/>
          <p:cNvPicPr>
            <a:picLocks noChangeAspect="1"/>
          </p:cNvPicPr>
          <p:nvPr/>
        </p:nvPicPr>
        <p:blipFill>
          <a:blip r:embed="rId2"/>
          <a:stretch>
            <a:fillRect/>
          </a:stretch>
        </p:blipFill>
        <p:spPr>
          <a:xfrm>
            <a:off x="6852111" y="1280160"/>
            <a:ext cx="433323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5(A–G). Intracellular theta, LFP timing, and phase relationships.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Anatomical access to hippocampal CA1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Freely moving mice avoid virtual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pPr algn="l">
              <a:lnSpc>
                <a:spcPct val="108000"/>
              </a:lnSpc>
              <a:spcAft>
                <a:spcPts val="900"/>
              </a:spcAft>
            </a:pPr>
            <a:r>
              <a:rPr sz="1500" b="1" i="0">
                <a:solidFill>
                  <a:srgbClr val="365063"/>
                </a:solidFill>
                <a:latin typeface="Arial"/>
              </a:rPr>
              <a:t>Motion parallax</a:t>
            </a:r>
            <a:r>
              <a:rPr sz="1500" b="0" i="0">
                <a:solidFill>
                  <a:srgbClr val="000000"/>
                </a:solidFill>
                <a:latin typeface="Arial"/>
              </a:rPr>
              <a:t>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pPr algn="l">
              <a:lnSpc>
                <a:spcPct val="108000"/>
              </a:lnSpc>
              <a:spcAft>
                <a:spcPts val="900"/>
              </a:spcAft>
            </a:pPr>
            <a:r>
              <a:rPr sz="1500" b="0" i="0">
                <a:solidFill>
                  <a:srgbClr val="000000"/>
                </a:solidFill>
                <a:latin typeface="Arial"/>
              </a:rPr>
              <a:t>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p:txBody>
      </p:sp>
      <p:pic>
        <p:nvPicPr>
          <p:cNvPr id="4" name="Picture 3" descr="stowers_mouse.png"/>
          <p:cNvPicPr>
            <a:picLocks noChangeAspect="1"/>
          </p:cNvPicPr>
          <p:nvPr/>
        </p:nvPicPr>
        <p:blipFill>
          <a:blip r:embed="rId2"/>
          <a:stretch>
            <a:fillRect/>
          </a:stretch>
        </p:blipFill>
        <p:spPr>
          <a:xfrm>
            <a:off x="7873739" y="1234440"/>
            <a:ext cx="228448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2(a–i). Real, static, and perspective-correct depth conditions with occupancy measures.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Stowers et al. (2017), Supplementary Video 8. Mouse elevated-track depth assay." descr="NIHMS73580-supplement-Supplementary_Video_8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towers et al. (2017), Supplementary Video 8. Mouse elevated-track depth assa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8. Mouse elevated-track depth assay.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Movement freedom changes sensory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pPr algn="l">
              <a:lnSpc>
                <a:spcPct val="108000"/>
              </a:lnSpc>
              <a:spcAft>
                <a:spcPts val="900"/>
              </a:spcAft>
            </a:pPr>
            <a:r>
              <a:rPr sz="1500" b="0" i="0">
                <a:solidFill>
                  <a:srgbClr val="000000"/>
                </a:solidFill>
                <a:latin typeface="Arial"/>
              </a:rPr>
              <a:t>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pPr algn="l">
              <a:lnSpc>
                <a:spcPct val="108000"/>
              </a:lnSpc>
              <a:spcAft>
                <a:spcPts val="900"/>
              </a:spcAft>
            </a:pPr>
            <a:r>
              <a:rPr sz="1500" b="0" i="0">
                <a:solidFill>
                  <a:srgbClr val="000000"/>
                </a:solidFill>
                <a:latin typeface="Arial"/>
              </a:rPr>
              <a:t>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p:txBody>
      </p:sp>
      <p:pic>
        <p:nvPicPr>
          <p:cNvPr id="4" name="Picture 3" descr="stowers_flight.png"/>
          <p:cNvPicPr>
            <a:picLocks noChangeAspect="1"/>
          </p:cNvPicPr>
          <p:nvPr/>
        </p:nvPicPr>
        <p:blipFill>
          <a:blip r:embed="rId2"/>
          <a:stretch>
            <a:fillRect/>
          </a:stretch>
        </p:blipFill>
        <p:spPr>
          <a:xfrm>
            <a:off x="6412687" y="1280160"/>
            <a:ext cx="5212080" cy="2488837"/>
          </a:xfrm>
          <a:prstGeom prst="rect">
            <a:avLst/>
          </a:prstGeom>
        </p:spPr>
      </p:pic>
      <p:sp>
        <p:nvSpPr>
          <p:cNvPr id="5" name="Figure caption"/>
          <p:cNvSpPr txBox="1"/>
          <p:nvPr/>
        </p:nvSpPr>
        <p:spPr>
          <a:xfrm>
            <a:off x="6412687" y="3860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3(a–h). Head-fixation effects during free flight and tethered visual control.</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Rats rotate and walk through two-dimensional worlds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pPr algn="l">
              <a:lnSpc>
                <a:spcPct val="108000"/>
              </a:lnSpc>
              <a:spcAft>
                <a:spcPts val="900"/>
              </a:spcAft>
            </a:pPr>
            <a:r>
              <a:rPr sz="1500" b="1" i="0">
                <a:solidFill>
                  <a:srgbClr val="365063"/>
                </a:solidFill>
                <a:latin typeface="Arial"/>
              </a:rPr>
              <a:t>Vestibular input</a:t>
            </a:r>
            <a:r>
              <a:rPr sz="1500" b="0" i="0">
                <a:solidFill>
                  <a:srgbClr val="000000"/>
                </a:solidFill>
                <a:latin typeface="Arial"/>
              </a:rPr>
              <a: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pPr algn="l">
              <a:lnSpc>
                <a:spcPct val="108000"/>
              </a:lnSpc>
              <a:spcAft>
                <a:spcPts val="900"/>
              </a:spcAft>
            </a:pPr>
            <a:r>
              <a:rPr sz="1500" b="0" i="0">
                <a:solidFill>
                  <a:srgbClr val="000000"/>
                </a:solidFill>
                <a:latin typeface="Arial"/>
              </a:rPr>
              <a:t>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p:txBody>
      </p:sp>
      <p:pic>
        <p:nvPicPr>
          <p:cNvPr id="4" name="Picture 3" descr="aronov_setup.png"/>
          <p:cNvPicPr>
            <a:picLocks noChangeAspect="1"/>
          </p:cNvPicPr>
          <p:nvPr/>
        </p:nvPicPr>
        <p:blipFill>
          <a:blip r:embed="rId2"/>
          <a:stretch>
            <a:fillRect/>
          </a:stretch>
        </p:blipFill>
        <p:spPr>
          <a:xfrm>
            <a:off x="6412687" y="1280160"/>
            <a:ext cx="5212080" cy="3738657"/>
          </a:xfrm>
          <a:prstGeom prst="rect">
            <a:avLst/>
          </a:prstGeom>
        </p:spPr>
      </p:pic>
      <p:sp>
        <p:nvSpPr>
          <p:cNvPr id="5" name="Figure caption"/>
          <p:cNvSpPr txBox="1"/>
          <p:nvPr/>
        </p:nvSpPr>
        <p:spPr>
          <a:xfrm>
            <a:off x="6412687" y="51102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1(A–G). Rotating rat harness, spherical treadmill, and panoramic virtual arena.</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 rat population represents position in virtual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Rat hippocampal CA1 and CA3 neurons formed localized place fields during two-dimensional virtual navigation. A cell fired at a restricted location, while other simultaneously recorded cells preferred different locations. </a:t>
            </a:r>
            <a:r>
              <a:rPr sz="1400" b="1" i="0">
                <a:solidFill>
                  <a:srgbClr val="365063"/>
                </a:solidFill>
                <a:latin typeface="Arial"/>
              </a:rPr>
              <a:t>Population coding</a:t>
            </a:r>
            <a:r>
              <a:rPr sz="1400" b="0" i="0">
                <a:solidFill>
                  <a:srgbClr val="000000"/>
                </a:solidFill>
                <a:latin typeface="Arial"/>
              </a:rPr>
              <a:t> represents information through the combined activity of multiple neurons rather than relying on one neuron alone.</a:t>
            </a:r>
          </a:p>
          <a:p>
            <a:pPr algn="l">
              <a:lnSpc>
                <a:spcPct val="108000"/>
              </a:lnSpc>
              <a:spcAft>
                <a:spcPts val="840"/>
              </a:spcAft>
            </a:pPr>
            <a:r>
              <a:rPr sz="1400" b="0" i="0">
                <a:solidFill>
                  <a:srgbClr val="000000"/>
                </a:solidFill>
                <a:latin typeface="Arial"/>
              </a:rPr>
              <a:t>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pPr algn="l">
              <a:lnSpc>
                <a:spcPct val="108000"/>
              </a:lnSpc>
              <a:spcAft>
                <a:spcPts val="840"/>
              </a:spcAft>
            </a:pPr>
            <a:r>
              <a:rPr sz="1400" b="0" i="0">
                <a:solidFill>
                  <a:srgbClr val="000000"/>
                </a:solidFill>
                <a:latin typeface="Arial"/>
              </a:rPr>
              <a:t>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p:txBody>
      </p:sp>
      <p:pic>
        <p:nvPicPr>
          <p:cNvPr id="4" name="Picture 3" descr="aronov_place.png"/>
          <p:cNvPicPr>
            <a:picLocks noChangeAspect="1"/>
          </p:cNvPicPr>
          <p:nvPr/>
        </p:nvPicPr>
        <p:blipFill>
          <a:blip r:embed="rId2"/>
          <a:stretch>
            <a:fillRect/>
          </a:stretch>
        </p:blipFill>
        <p:spPr>
          <a:xfrm>
            <a:off x="7935846" y="1280160"/>
            <a:ext cx="216576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3(A–E). CA1 and CA3 place fields and population-based position estimates.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Mouse hippocampal layers providing comparative CA1 anatomy.</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Grid cells organize repeated locations in a virtual arena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Grid cells</a:t>
            </a:r>
            <a:r>
              <a:rPr sz="1500" b="0" i="0">
                <a:solidFill>
                  <a:srgbClr val="000000"/>
                </a:solidFill>
                <a:latin typeface="Arial"/>
              </a:rPr>
              <a:t> fire at multiple locations that form a repeating spatial arrangement. Aronov and Tank recorded these cells in the rat </a:t>
            </a:r>
            <a:r>
              <a:rPr sz="1500" b="1" i="0">
                <a:solidFill>
                  <a:srgbClr val="365063"/>
                </a:solidFill>
                <a:latin typeface="Arial"/>
              </a:rPr>
              <a:t>medial entorhinal cortex</a:t>
            </a:r>
            <a:r>
              <a:rPr sz="1500" b="0" i="0">
                <a:solidFill>
                  <a:srgbClr val="000000"/>
                </a:solidFill>
                <a:latin typeface="Arial"/>
              </a:rPr>
              <a:t>, or MEC, a cortical region involved in spatial representation. Two-dimensional virtual rate maps contained the multiple firing fields characteristic of grid activity.</a:t>
            </a:r>
          </a:p>
          <a:p>
            <a:pPr algn="l">
              <a:lnSpc>
                <a:spcPct val="108000"/>
              </a:lnSpc>
              <a:spcAft>
                <a:spcPts val="900"/>
              </a:spcAft>
            </a:pPr>
            <a:r>
              <a:rPr sz="1500" b="0" i="0">
                <a:solidFill>
                  <a:srgbClr val="000000"/>
                </a:solidFill>
                <a:latin typeface="Arial"/>
              </a:rPr>
              <a:t>The study also measured </a:t>
            </a:r>
            <a:r>
              <a:rPr sz="1500" b="1" i="0">
                <a:solidFill>
                  <a:srgbClr val="365063"/>
                </a:solidFill>
                <a:latin typeface="Arial"/>
              </a:rPr>
              <a:t>spatial autocorrelation</a:t>
            </a:r>
            <a:r>
              <a:rPr sz="1500" b="0" i="0">
                <a:solidFill>
                  <a:srgbClr val="000000"/>
                </a:solidFill>
                <a:latin typeface="Arial"/>
              </a:rPr>
              <a:t>,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pPr algn="l">
              <a:lnSpc>
                <a:spcPct val="108000"/>
              </a:lnSpc>
              <a:spcAft>
                <a:spcPts val="900"/>
              </a:spcAft>
            </a:pPr>
            <a:r>
              <a:rPr sz="1500" b="0" i="0">
                <a:solidFill>
                  <a:srgbClr val="000000"/>
                </a:solidFill>
                <a:latin typeface="Arial"/>
              </a:rPr>
              <a:t>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p:txBody>
      </p:sp>
      <p:pic>
        <p:nvPicPr>
          <p:cNvPr id="4" name="Picture 3" descr="aronov_grid.png"/>
          <p:cNvPicPr>
            <a:picLocks noChangeAspect="1"/>
          </p:cNvPicPr>
          <p:nvPr/>
        </p:nvPicPr>
        <p:blipFill>
          <a:blip r:embed="rId2"/>
          <a:stretch>
            <a:fillRect/>
          </a:stretch>
        </p:blipFill>
        <p:spPr>
          <a:xfrm>
            <a:off x="6811419" y="1280160"/>
            <a:ext cx="441461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4(A). Rat grid-cell paths, rate maps, and spatial autocorrelations.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Mouse MEC layers and a labeled layer-2 grid cell.</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Virtual boundaries recruit border-related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Border cells</a:t>
            </a:r>
            <a:r>
              <a:rPr sz="1500" b="0" i="0">
                <a:solidFill>
                  <a:srgbClr val="000000"/>
                </a:solidFill>
                <a:latin typeface="Arial"/>
              </a:rPr>
              <a:t>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pPr algn="l">
              <a:lnSpc>
                <a:spcPct val="108000"/>
              </a:lnSpc>
              <a:spcAft>
                <a:spcPts val="900"/>
              </a:spcAft>
            </a:pPr>
            <a:r>
              <a:rPr sz="1500" b="0" i="0">
                <a:solidFill>
                  <a:srgbClr val="000000"/>
                </a:solidFill>
                <a:latin typeface="Arial"/>
              </a:rPr>
              <a:t>The boundaries were visually specified while the rat remained on the same treadmill. Boundary-related activity therefore occurred without requiring a physical wall at each represented location. </a:t>
            </a:r>
            <a:r>
              <a:rPr sz="1500" b="1" i="0">
                <a:solidFill>
                  <a:srgbClr val="365063"/>
                </a:solidFill>
                <a:latin typeface="Arial"/>
              </a:rPr>
              <a:t>Head-direction cells</a:t>
            </a:r>
            <a:r>
              <a:rPr sz="1500" b="0" i="0">
                <a:solidFill>
                  <a:srgbClr val="000000"/>
                </a:solidFill>
                <a:latin typeface="Arial"/>
              </a:rPr>
              <a:t>, another recorded class, preferred particular facing directions; some neurons combined directional and spatial tuning.</a:t>
            </a:r>
          </a:p>
          <a:p>
            <a:pPr algn="l">
              <a:lnSpc>
                <a:spcPct val="108000"/>
              </a:lnSpc>
              <a:spcAft>
                <a:spcPts val="900"/>
              </a:spcAft>
            </a:pPr>
            <a:r>
              <a:rPr sz="1500" b="0" i="0">
                <a:solidFill>
                  <a:srgbClr val="000000"/>
                </a:solidFill>
                <a:latin typeface="Arial"/>
              </a:rPr>
              <a:t>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p:txBody>
      </p:sp>
      <p:pic>
        <p:nvPicPr>
          <p:cNvPr id="4" name="Picture 3" descr="aronov_border.png"/>
          <p:cNvPicPr>
            <a:picLocks noChangeAspect="1"/>
          </p:cNvPicPr>
          <p:nvPr/>
        </p:nvPicPr>
        <p:blipFill>
          <a:blip r:embed="rId2"/>
          <a:stretch>
            <a:fillRect/>
          </a:stretch>
        </p:blipFill>
        <p:spPr>
          <a:xfrm>
            <a:off x="6412687" y="1280160"/>
            <a:ext cx="5212080" cy="1536448"/>
          </a:xfrm>
          <a:prstGeom prst="rect">
            <a:avLst/>
          </a:prstGeom>
        </p:spPr>
      </p:pic>
      <p:sp>
        <p:nvSpPr>
          <p:cNvPr id="5" name="Figure caption"/>
          <p:cNvSpPr txBox="1"/>
          <p:nvPr/>
        </p:nvSpPr>
        <p:spPr>
          <a:xfrm>
            <a:off x="6412687" y="2908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4(G–I). Rat border-cell rate maps and border-response measures.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Comparative mouse MEC anatomy and cortical layers.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Changing the virtual world remaps hippocampal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Remapping</a:t>
            </a:r>
            <a:r>
              <a:rPr sz="1500" b="0" i="0">
                <a:solidFill>
                  <a:srgbClr val="000000"/>
                </a:solidFill>
                <a:latin typeface="Arial"/>
              </a:rPr>
              <a:t>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pPr algn="l">
              <a:lnSpc>
                <a:spcPct val="108000"/>
              </a:lnSpc>
              <a:spcAft>
                <a:spcPts val="900"/>
              </a:spcAft>
            </a:pPr>
            <a:r>
              <a:rPr sz="1500" b="0" i="0">
                <a:solidFill>
                  <a:srgbClr val="000000"/>
                </a:solidFill>
                <a:latin typeface="Arial"/>
              </a:rPr>
              <a:t>Between geometrically similar square worlds, many place fields retained related locations while their firing rates changed. </a:t>
            </a:r>
            <a:r>
              <a:rPr sz="1500" b="1" i="0">
                <a:solidFill>
                  <a:srgbClr val="365063"/>
                </a:solidFill>
                <a:latin typeface="Arial"/>
              </a:rPr>
              <a:t>Rate remapping</a:t>
            </a:r>
            <a:r>
              <a:rPr sz="1500" b="0" i="0">
                <a:solidFill>
                  <a:srgbClr val="000000"/>
                </a:solidFill>
                <a:latin typeface="Arial"/>
              </a:rPr>
              <a:t> changes the strength of activity without requiring a wholly new field location. Between square and circular worlds, larger changes in field arrangement produced </a:t>
            </a:r>
            <a:r>
              <a:rPr sz="1500" b="1" i="0">
                <a:solidFill>
                  <a:srgbClr val="365063"/>
                </a:solidFill>
                <a:latin typeface="Arial"/>
              </a:rPr>
              <a:t>global remapping</a:t>
            </a:r>
            <a:r>
              <a:rPr sz="1500" b="0" i="0">
                <a:solidFill>
                  <a:srgbClr val="000000"/>
                </a:solidFill>
                <a:latin typeface="Arial"/>
              </a:rPr>
              <a:t>, a reorganization of the spatial representation.</a:t>
            </a:r>
          </a:p>
          <a:p>
            <a:pPr algn="l">
              <a:lnSpc>
                <a:spcPct val="108000"/>
              </a:lnSpc>
              <a:spcAft>
                <a:spcPts val="900"/>
              </a:spcAft>
            </a:pPr>
            <a:r>
              <a:rPr sz="1500" b="0" i="0">
                <a:solidFill>
                  <a:srgbClr val="000000"/>
                </a:solidFill>
                <a:latin typeface="Arial"/>
              </a:rPr>
              <a:t>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p:txBody>
      </p:sp>
      <p:pic>
        <p:nvPicPr>
          <p:cNvPr id="4" name="Picture 3" descr="aronov_remap.png"/>
          <p:cNvPicPr>
            <a:picLocks noChangeAspect="1"/>
          </p:cNvPicPr>
          <p:nvPr/>
        </p:nvPicPr>
        <p:blipFill>
          <a:blip r:embed="rId2"/>
          <a:stretch>
            <a:fillRect/>
          </a:stretch>
        </p:blipFill>
        <p:spPr>
          <a:xfrm>
            <a:off x="8318344" y="1280160"/>
            <a:ext cx="140076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7(A–G). Rate and global remapping across three virtual environments.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Comparative hippocampal anatomy and imaging access.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Adaptive behavior depends on action-linked feedback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pPr algn="l">
              <a:lnSpc>
                <a:spcPct val="108000"/>
              </a:lnSpc>
              <a:spcAft>
                <a:spcPts val="840"/>
              </a:spcAft>
            </a:pPr>
            <a:r>
              <a:rPr sz="1400" b="0" i="0">
                <a:solidFill>
                  <a:srgbClr val="000000"/>
                </a:solidFill>
                <a:latin typeface="Arial"/>
              </a:rPr>
              <a:t>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pPr algn="l">
              <a:lnSpc>
                <a:spcPct val="108000"/>
              </a:lnSpc>
              <a:spcAft>
                <a:spcPts val="840"/>
              </a:spcAft>
            </a:pPr>
            <a:r>
              <a:rPr sz="1400" b="0" i="0">
                <a:solidFill>
                  <a:srgbClr val="000000"/>
                </a:solidFill>
                <a:latin typeface="Arial"/>
              </a:rPr>
              <a:t>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p:txBody>
      </p:sp>
      <p:pic>
        <p:nvPicPr>
          <p:cNvPr id="4" name="Picture 3" descr="stowers_social.png"/>
          <p:cNvPicPr>
            <a:picLocks noChangeAspect="1"/>
          </p:cNvPicPr>
          <p:nvPr/>
        </p:nvPicPr>
        <p:blipFill>
          <a:blip r:embed="rId2"/>
          <a:stretch>
            <a:fillRect/>
          </a:stretch>
        </p:blipFill>
        <p:spPr>
          <a:xfrm>
            <a:off x="7390358" y="1280160"/>
            <a:ext cx="325673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Following behavior during real–virtual fish interactions.</a:t>
            </a:r>
          </a:p>
        </p:txBody>
      </p:sp>
      <p:pic>
        <p:nvPicPr>
          <p:cNvPr id="6" name="Picture 5" descr="buatois_transfer.png"/>
          <p:cNvPicPr>
            <a:picLocks noChangeAspect="1"/>
          </p:cNvPicPr>
          <p:nvPr/>
        </p:nvPicPr>
        <p:blipFill>
          <a:blip r:embed="rId3"/>
          <a:stretch>
            <a:fillRect/>
          </a:stretch>
        </p:blipFill>
        <p:spPr>
          <a:xfrm>
            <a:off x="7580820" y="4297680"/>
            <a:ext cx="287581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Transfer of learned color choices between two environments.</a:t>
            </a:r>
          </a:p>
        </p:txBody>
      </p:sp>
      <p:sp>
        <p:nvSpPr>
          <p:cNvPr id="8" name="Rectangle 7"/>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Buatois et al. (2018); Seelig &amp; Jayaraman (2015); Portugues &amp; Engert (2011); 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65063"/>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Closed-loop worlds.</a:t>
            </a:r>
            <a:r>
              <a:rPr sz="1600" b="0" i="0">
                <a:solidFill>
                  <a:srgbClr val="000000"/>
                </a:solidFill>
                <a:latin typeface="Arial"/>
              </a:rPr>
              <a:t> An animal’s measured action changes its next sensory input. Perspective, timing, and retained movement determine the feedback actually experienced.</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Fly orientation.</a:t>
            </a:r>
            <a:r>
              <a:rPr sz="1600" b="0" i="0">
                <a:solidFill>
                  <a:srgbClr val="000000"/>
                </a:solidFill>
                <a:latin typeface="Arial"/>
              </a:rPr>
              <a:t> Ellipsoid-body activity combines landmark anchoring with self-motion updates. Inhibitory visual inputs can change their mapping after altered sensorimotor experience.</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Bee learning and mantis depth.</a:t>
            </a:r>
            <a:r>
              <a:rPr sz="1500" b="0" i="0">
                <a:solidFill>
                  <a:srgbClr val="000000"/>
                </a:solidFill>
                <a:latin typeface="Arial"/>
              </a:rPr>
              <a:t> Color learning transfers according to movement context; Egr1 increases in learner mushroom-body calyces. Mantis attacks depend on binocularly specified prey distance.</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Species-specific visual input.</a:t>
            </a:r>
            <a:r>
              <a:rPr sz="1600" b="0" i="0">
                <a:solidFill>
                  <a:srgbClr val="000000"/>
                </a:solidFill>
                <a:latin typeface="Arial"/>
              </a:rPr>
              <a:t> Blowfly receptors detect 120 Hz display flicker. Cockroach exploration and receptor-level validation measure different aspects of a virtual apparatus.</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65063"/>
                </a:solidFill>
                <a:latin typeface="Arial"/>
              </a:rPr>
              <a:t>Zebrafish adaptation.</a:t>
            </a:r>
            <a:r>
              <a:rPr sz="1600" b="0" i="0">
                <a:solidFill>
                  <a:srgbClr val="000000"/>
                </a:solidFill>
                <a:latin typeface="Arial"/>
              </a:rPr>
              <a:t> Feedback gain changes swim-bout duration, pauses, and fictive output. Inferior-olive lesions impair recalibration while preserving visually elicited swimming.</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65063"/>
                </a:solidFill>
                <a:latin typeface="Arial"/>
              </a:rPr>
              <a:t>Rodent spatial codes.</a:t>
            </a:r>
            <a:r>
              <a:rPr sz="1500" b="0" i="0">
                <a:solidFill>
                  <a:srgbClr val="000000"/>
                </a:solidFill>
                <a:latin typeface="Arial"/>
              </a:rPr>
              <a:t> Virtual navigation engages place, grid, direction, and border responses. Membrane ramps and theta timing accompany place fields; changes in virtual context cause remapping.</a:t>
            </a:r>
          </a:p>
        </p:txBody>
      </p:sp>
      <p:sp>
        <p:nvSpPr>
          <p:cNvPr id="15" name="Rectangle 14"/>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Animals in Virtual and Interactive Environments I: Animals in virtual worlds, navigation, learning, and adaptive behavior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