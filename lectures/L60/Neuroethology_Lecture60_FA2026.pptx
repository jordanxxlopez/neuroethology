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Seahorses: brain organization, visual processing, sensorimeotor control of prey capture, courtship communication, and reproductive behavior</a:t>
            </a:r>
          </a:p>
          <a:p>
            <a:r>
              <a:t>Lecture 60. NEUR 411 · NEUROETHOLOGY · FALL 2026. Date TBD.</a:t>
            </a:r>
          </a:p>
          <a:p/>
          <a:p>
            <a:r>
              <a:t>Figure: Vaccani et al. (2019), Fig. 2H. Longsnout seahorse under natural white light.</a:t>
            </a:r>
          </a:p>
          <a:p>
            <a:r>
              <a:t>Figure source: https://doi.org/10.1371/journal.pone.0220561</a:t>
            </a:r>
          </a:p>
          <a:p/>
          <a:p>
            <a:r>
              <a:t>References:</a:t>
            </a:r>
          </a:p>
          <a:p>
            <a:r>
              <a:t>Amanda C. Vaccani, Natalie V. Freret-Meurer, Áthila A. Bertoncini, Luciano N. Santos (2019). Shining in the dark: First record of biofluorescence in the seahorse Hippocampus reidi. PLOS ONE 14: e0220561. https://doi.org/10.1371/journal.pone.0220561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Newborn lined seahorses, Hippocampus erectus, capture live Artemia, small crustaceans used as food, immediately after leaving the male. Their feeding behavior already combines visual search, target tracking, rapid head rotation, and ingestion. Feeding competence therefore begins before the feeding skeleton reaches its later degree of ossification.</a:t>
            </a:r>
          </a:p>
          <a:p>
            <a:r>
              <a:t>  – The study combined high-speed recordings with histology of the eyes, snout, and intestine rather than inferring feeding ability from body size alone.</a:t>
            </a:r>
          </a:p>
          <a:p>
            <a:r>
              <a:t>• Sun and colleagues recorded animals from 1 to 30 days after parturition, meaning birth. Newborns were about 9.2 mm tall and successfully captured prey in about 77% of feeding attempts under the study conditions.</a:t>
            </a:r>
          </a:p>
          <a:p>
            <a:r>
              <a:t>• Across development, body growth increased capture reach and food intake. Early independence depends on functional sensory and motor coordination together with continued maturation of the snout and digestive tract.</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1A–D. Searching, locking, capturing, and swallowing in a newborn.</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Pivot feeding brings the mouth toward prey by rotating the head upward, followed by suction into the tubular snout. In newborn lined seahorses, this behavior formed a sequence of searching, locking, capturing, and swallowing. Each action changes the relationship between the animal and its target.</a:t>
            </a:r>
          </a:p>
          <a:p>
            <a:r>
              <a:t>  – The hyoid apparatus is the skeletal assembly beneath the mouth that participates in expansion and recovery during suction feeding.</a:t>
            </a:r>
          </a:p>
          <a:p>
            <a:r>
              <a:t>• During searching, the eyes moved independently. During locking, the seahorse swam and turned to keep the prey ahead of its head. Capture began when the target entered the available capture distance, with head rotation and mouth opening taking less than 4 ms.</a:t>
            </a:r>
          </a:p>
          <a:p>
            <a:r>
              <a:t>• Swallowing restored the cranial and hyoid apparatus toward rest while ingested water and fragments exited through the gill opening. Fast acquisition and slower recovery are distinct components of the same feeding sequence.</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1A–D. Searching, locking, capturing, and swallowing in a newborn.</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eyes of juvenile lined seahorses moved independently during prey search. After prey entered the visual field, the animal changed its swimming and turning so that the target remained in front of the head. These observations separate broad searching movements from target-directed tracking.</a:t>
            </a:r>
          </a:p>
          <a:p>
            <a:r>
              <a:t>  – Sun and colleagues observed eye and body movements behaviorally; their recordings did not measure the activity of individual visual neurons.</a:t>
            </a:r>
          </a:p>
          <a:p>
            <a:r>
              <a:t>• The newborn eye already contained an organized retina, the neural tissue that receives light. Rod and cone photoreceptors were present, together with a pigmented outer region and recognizable internal layers. The sensory tissue was therefore developed when independent feeding began.</a:t>
            </a:r>
          </a:p>
          <a:p>
            <a:r>
              <a:t>• Target tracking and the final strike operated on different time scales. Swimming maintained alignment before the brief capture movement, which could then bring the small terminal mouth to a nearby crustacean.</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1A. A newborn searches for Artemia.</a:t>
            </a:r>
          </a:p>
          <a:p>
            <a:r>
              <a:t>Figure source: https://doi.org/10.1016/j.aquaculture.2021.736732</a:t>
            </a:r>
          </a:p>
          <a:p/>
          <a:p>
            <a:r>
              <a:t>Figure: Sun et al. (2021), Fig. 4A–B. Newborn eye and labeled retinal layers.</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Photoreceptors are retinal cells specialized to receive light. Histological sections of newborn lined seahorses contained both rods and cones between the pigment layer and the outer nuclear layer. The pigment layer and organized retinal tissue were already recognizable on the first day after birth.</a:t>
            </a:r>
          </a:p>
          <a:p>
            <a:r>
              <a:t>  – Visual acuity means the ability to distinguish fine spatial detail; this study used histology and feeding observations rather than a behavioral acuity threshold.</a:t>
            </a:r>
          </a:p>
          <a:p>
            <a:r>
              <a:t>• Sun and colleagues used 4 µm tissue sections stained with hematoxylin and eosin. Their labeled sections distinguish photoreceptor tissue, nuclear layers, the ganglion-cell region, lens, and other ocular structures. This preparation describes tissue organization rather than directly measuring visual resolution.</a:t>
            </a:r>
          </a:p>
          <a:p>
            <a:r>
              <a:t>• The same newborn animals performed successful visual prey capture. Retinal differentiation and feeding competence therefore coexist at release, while later growth enlarges an already organized eye.</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4A–B. Newborn eye and labeled retinal layers.</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From 3 to 30 days after birth, juvenile lined seahorse eyes increased in diameter as the animals grew. Sun and colleagues reported no major rearrangement of the retinal histology during this period. Growth enlarged the organ while preserving its recognizable internal organization.</a:t>
            </a:r>
          </a:p>
          <a:p>
            <a:r>
              <a:t>  – The histological comparison included newborns and animals at several postnatal ages, with the latest illustrated eye sections taken at 30 days.</a:t>
            </a:r>
          </a:p>
          <a:p>
            <a:r>
              <a:t>• The retina was therefore unlike a sensory system that acquires its basic tissue layers only after feeding begins. At birth, the animal already combined an organized eye with successful capture; later increases in capture performance occurred while the existing retinal architecture remained recognizable.</a:t>
            </a:r>
          </a:p>
          <a:p>
            <a:r>
              <a:t>• Feeding development involved several tissues at once. Eye enlargement accompanied snout growth, increasing attack distance, and maturation of the digestive tract, so behavioral improvement belonged to the developing animal as a whole.</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4C–F. Eye growth from 3 to 30 days after birth.</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brain of Hippocampus barbouri contains the telencephalon, forebrain tissue including the cerebral hemispheres; the diencephalon; the mesencephalon or midbrain; the metencephalon; and the myelencephalon. Senarat and colleagues identified these divisions in sagittal histological sections, which cut along the head-to-tail axis.</a:t>
            </a:r>
          </a:p>
          <a:p>
            <a:r>
              <a:t>  – Teleosts are the major group of ray-finned bony fishes; the named divisions describe anatomical regions rather than individual behavioral modules.</a:t>
            </a:r>
          </a:p>
          <a:p>
            <a:r>
              <a:t>• The diencephalon contains the hypothalamus, while the midbrain contains the optic tectum. The metencephalon includes the cerebellum, and the myelencephalon includes the medulla, which continues toward the spinal cord. The unusual external body shape therefore accompanies a recognizable teleost brain arrangement.</a:t>
            </a:r>
          </a:p>
          <a:p>
            <a:r>
              <a:t>• The study compared tissue organization from 1 to 35 days after birth. Early sections were compact, whereas later sections distinguished the regional and cellular features of these divisions.</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13. Sagittal brain histology with the five major divisions.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optic tectum, a midbrain region associated with visual orientation and multisensory processing in fishes, was the most prominent gross brain region in the examined Hippocampus barbouri. It lay between the anterior cerebral hemispheres and the posterior cerebellum.</a:t>
            </a:r>
          </a:p>
          <a:p>
            <a:r>
              <a:t>  – The dissection and histological preparations provide complementary views: external position and internal tissue organization.</a:t>
            </a:r>
          </a:p>
          <a:p>
            <a:r>
              <a:t>• Senarat and colleagues combined dissections, photographs, measurements, and stained tissue sections. In their 35-day animals, the tectum measured about 1,220 µm in length, compared with a cerebellar length of about 714 µm. These measurements describe regional anatomy in that developmental sample.</a:t>
            </a:r>
          </a:p>
          <a:p>
            <a:r>
              <a:t>• The authors proposed that the prominent tectum relates to visually guided feeding on mobile prey. This is an anatomical hypothesis connecting brain organization to behavior, rather than a recorded seahorse visual-neuron response.</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4. Gross brain anatomy with a prominent optic tectum.</a:t>
            </a:r>
          </a:p>
          <a:p>
            <a:r>
              <a:t>Figure source: https://doi.org/10.3897/zoologia.37.e53734</a:t>
            </a:r>
          </a:p>
          <a:p/>
          <a:p>
            <a:r>
              <a:t>Figure: Senarat et al. (2020), Fig. 13. Sagittal brain histology with the five major divisions.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Laminar organization means that neural tissue is arranged in layers with different cellular and fiber composition. Senarat and colleagues recognized five layers in the seahorse optic tectum: stratum marginale, stratum opticum, stratum album centrale, stratum griseum centrale, and stratum periventriculare.</a:t>
            </a:r>
          </a:p>
          <a:p>
            <a:r>
              <a:t>  – The layer names describe marginal, optic, central white, central gray, and periventricular tissue; no seahorse synaptic connection map was measured in this study.</a:t>
            </a:r>
          </a:p>
          <a:p>
            <a:r>
              <a:t>• These layers extend from the outer tectal surface toward the ventricular region. Their differences in neuronal density and fiber organization divide the tissue into distinct anatomical compartments. The published micrographs preserve this organization at a scale of tens of micrometers.</a:t>
            </a:r>
          </a:p>
          <a:p>
            <a:r>
              <a:t>• The five-layer pattern was clear by 35 days after birth. Earlier tissue was less differentiated, so the layered tectum emerged during postnatal brain development while the animal continued growing.</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20. Five histologically identified tectal layers.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Capillaries are small blood vessels supplying tissues. In Hippocampus barbouri, tectal capillaries became more apparent at 6 days after birth, and small vessels were conspicuous by 14 days. At 35 days, the tectum was highly vascularized and its five layers were distinguishable.</a:t>
            </a:r>
          </a:p>
          <a:p>
            <a:r>
              <a:t>  – The youngest brain sections were densely packed and lacked the clear substructures that were visible in later animals.</a:t>
            </a:r>
          </a:p>
          <a:p>
            <a:r>
              <a:t>• Senarat and colleagues followed these changes in stained sections. Vascular development occurred together with regional differentiation, linking the growth of neural tissue to the organization of its blood supply. The two features progressed within the same developmental sequence.</a:t>
            </a:r>
          </a:p>
          <a:p>
            <a:r>
              <a:t>• The authors hypothesized that increasing brain differentiation supports developing predatory ability. The age-dependent vascular and tissue changes provide an anatomical description of maturation, while prey-capture timing requires the separate behavioral evidence.</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44. Tectal capillaries at 6 days after birth.</a:t>
            </a:r>
          </a:p>
          <a:p>
            <a:r>
              <a:t>Figure source: https://doi.org/10.3897/zoologia.37.e53734</a:t>
            </a:r>
          </a:p>
          <a:p/>
          <a:p>
            <a:r>
              <a:t>Figure: Senarat et al. (2020), Fig. 50. Vascularized tectum with five layers at 35 days.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cerebellum lies behind the optic tectum in the seahorse brain. In 35-day Hippocampus barbouri, it contained an outer molecular layer, a Purkinje-cell layer, and an inner granular layer. This organization separates dendritic tissue from identifiable neuronal populations.</a:t>
            </a:r>
          </a:p>
          <a:p>
            <a:r>
              <a:t>  – The study documents cerebellar anatomy; it did not record cerebellar firing during eye movements or feeding.</a:t>
            </a:r>
          </a:p>
          <a:p>
            <a:r>
              <a:t>• The molecular layer contained many dendritic fibers. Dendrites are neuronal processes that receive synaptic input. Synapses are junctions through which neurons communicate. The middle layer contained conspicuous Purkinje cells, while the granular layer contained densely arranged smaller principal neurons. Senarat and colleagues identified these regions using light microscopy.</a:t>
            </a:r>
          </a:p>
          <a:p>
            <a:r>
              <a:t>• Cerebellar differentiation continued after birth rather than appearing fully mature in the youngest animals. Increasing prominence of Purkinje cells and their dendrites accompanied the emergence of the layered tissue organization.</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30. Cerebellum behind the optic tectum.</a:t>
            </a:r>
          </a:p>
          <a:p>
            <a:r>
              <a:t>Figure source: https://doi.org/10.3897/zoologia.37.e53734</a:t>
            </a:r>
          </a:p>
          <a:p/>
          <a:p>
            <a:r>
              <a:t>Figure: Senarat et al. (2020), Fig. 31. Molecular, Purkinje-cell, and granular cerebellar layers.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Purkinje cells are the large neurons occupying the middle layer of the cerebellar cortex. They were difficult to identify in the earliest Hippocampus barbouri sections, became apparent by 14 days after birth, and were prominent by 35 days.</a:t>
            </a:r>
          </a:p>
          <a:p>
            <a:r>
              <a:t>  – The 14-day and 35-day sections distinguish increasing cellular prominence within the same named cerebellar layers.</a:t>
            </a:r>
          </a:p>
          <a:p>
            <a:r>
              <a:t>• The later cells possessed dendrites extending into the molecular layer, where the study described abundant dendritic fibers. Development therefore involved the emergence of recognizable neuronal shape as well as separation of the three cerebellar layers.</a:t>
            </a:r>
          </a:p>
          <a:p>
            <a:r>
              <a:t>• This cellular sequence occurred while tectal layers and blood vessels also became more distinct. Different neural regions matured over overlapping postnatal intervals, producing a more differentiated brain rather than a single abrupt anatomical transition.</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48. Developing cerebellar Purkinje cells at 14 days.</a:t>
            </a:r>
          </a:p>
          <a:p>
            <a:r>
              <a:t>Figure source: https://doi.org/10.3897/zoologia.37.e53734</a:t>
            </a:r>
          </a:p>
          <a:p/>
          <a:p>
            <a:r>
              <a:t>Figure: Senarat et al. (2020), Fig. 51. Cerebellar Purkinje cells at 35 days.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Olfactory epithelium is sensory tissue associated with chemical detection. In Hippocampus barbouri, Senarat and colleagues identified olfactory tissue in the anterior snout, surrounding a cavity and containing ciliated sensory cells. The cilia were conspicuous in the higher-magnification sections.</a:t>
            </a:r>
          </a:p>
          <a:p>
            <a:r>
              <a:t>  – The published captions use olfactory-bulb terminology for some anterior tissue; the ciliated sensory epithelium is identified explicitly in the higher-magnification panel.</a:t>
            </a:r>
          </a:p>
          <a:p>
            <a:r>
              <a:t>• The olfactory tract connected the anterior olfactory region with the forebrain. A tract is a bundle of nerve fibers linking regions. Gross and histological preparations therefore located both the peripheral sensory tissue and its connection toward the cerebral hemispheres.</a:t>
            </a:r>
          </a:p>
          <a:p>
            <a:r>
              <a:t>• Vision dominates the published prey-tracking observations, but the seahorse head also contains a distinct chemical-sensory apparatus. These sensory structures occupy different anatomical locations and can contribute different kinds of information during interactions with the environment.</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14. Olfactory tissue in the snout.</a:t>
            </a:r>
          </a:p>
          <a:p>
            <a:r>
              <a:t>Figure source: https://doi.org/10.3897/zoologia.37.e53734</a:t>
            </a:r>
          </a:p>
          <a:p/>
          <a:p>
            <a:r>
              <a:t>Figure: Senarat et al. (2020), Fig. 15. Olfactory epithelium with ciliated sensory cells.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diencephalon lies beneath the midbrain and contains the epithalamus, thalamus, and hypothalamus. Senarat and colleagues distinguished these regions in stained Hippocampus barbouri sections. The hypothalamus was the dominant portion of this division in their anatomical description.</a:t>
            </a:r>
          </a:p>
          <a:p>
            <a:r>
              <a:t>  – The hypothalamic relationship with the pituitary supplies anatomical context for the later seahorse peptide-administration experiments.</a:t>
            </a:r>
          </a:p>
          <a:p>
            <a:r>
              <a:t>• The three diencephalic regions occupied distinct positions beneath the midbrain. The thalamus lay between the epithalamus and hypothalamus and contained neuronal cell bodies, supporting glial cells, and nerve fibers. Glial cells are non-neuronal cells that support neural tissue; they were recognizable alongside neurons in several brain regions.</a:t>
            </a:r>
          </a:p>
          <a:p>
            <a:r>
              <a:t>• The hypothalamus contained neurosecretory cell populations and was anatomically associated with the pituitary. This regional arrangement places hormone-related tissue within the same brain that contains the visual and motor-associated structures.</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21. Epithalamus, thalamus, and hypothalamus.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Neurosecretory cells are neural cells specialized to produce secreted signaling molecules. Senarat and colleagues described such cell populations in the seahorse hypothalamus, including periventricular and lateral tuberal regions. These locations differed from the layered optic tectum and cerebellum.</a:t>
            </a:r>
          </a:p>
          <a:p>
            <a:r>
              <a:t>  – The source uses an inconsistent spelling for the glandular pituitary region; adenohypophysis is the standard anatomical term.</a:t>
            </a:r>
          </a:p>
          <a:p>
            <a:r>
              <a:t>• The pituitary contained a neural region, the neurohypophysis, and a glandular region, the adenohypophysis. Histological sections distinguished their tissue organization, providing an anatomical basis for separating neural hormone-associated tissue from glandular endocrine tissue.</a:t>
            </a:r>
          </a:p>
          <a:p>
            <a:r>
              <a:t>• During development, pituitary glandular tissue became conspicuous by 14 days after birth. Neural, vascular, and endocrine-associated structures therefore differentiated over overlapping intervals, while later reproductive experiments examined how peptide signals altered pituitary gene expression.</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25. Periventricular hypothalamic cell population.</a:t>
            </a:r>
          </a:p>
          <a:p>
            <a:r>
              <a:t>Figure source: https://doi.org/10.3897/zoologia.37.e53734</a:t>
            </a:r>
          </a:p>
          <a:p/>
          <a:p>
            <a:r>
              <a:t>Figure: Senarat et al. (2020), Fig. 27. Neural and glandular regions of the pituitary.</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medulla oblongata is the posterior brain region that continues toward the spinal cord. In Hippocampus barbouri, the medulla contained neurons and glial cells, with the fourth ventricle bordering part of the tissue. Senarat and colleagues followed this continuity in sagittal sections.</a:t>
            </a:r>
          </a:p>
          <a:p>
            <a:r>
              <a:t>  – The micrographs identify the central canal and surrounding tissue directly; locomotor responses were not tested by lesions or neural recording.</a:t>
            </a:r>
          </a:p>
          <a:p>
            <a:r>
              <a:t>• The spinal cord extended through the vertebral column. Cross-sections contained central neural tissue and a central canal, the fluid-containing channel continuous with the brain ventricles. The canal boundary included ependymal cells, which line these internal fluid spaces.</a:t>
            </a:r>
          </a:p>
          <a:p>
            <a:r>
              <a:t>• The brain and spinal cord form a continuous central nervous system. Within spinal tissue, neurons and glial cells occupied the region surrounding the central canal, extending cellular organization along the brain-to-body axis.</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Senarat et al. (2020), Fig. 32. Sagittal brain section extending into the medulla.</a:t>
            </a:r>
          </a:p>
          <a:p>
            <a:r>
              <a:t>Figure source: https://doi.org/10.3897/zoologia.37.e53734</a:t>
            </a:r>
          </a:p>
          <a:p/>
          <a:p>
            <a:r>
              <a:t>Figure: Senarat et al. (2020), Fig. 35. Spinal cord cross-section and central canal.</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Newborn Hippocampus barbouri brains appeared compact, with relatively indistinct substructures, in Senarat and colleagues’ sections. By contrast, Sun and colleagues observed organized retinas and successful prey capture on the first day after birth in lined seahorses, Hippocampus erectus.</a:t>
            </a:r>
          </a:p>
          <a:p>
            <a:r>
              <a:t>  – The species difference changes the conclusion: the histological timetable should not be presented as a universal onset of seahorse feeding.</a:t>
            </a:r>
          </a:p>
          <a:p>
            <a:r>
              <a:t>• These findings concern different species and different measurements. Behavioral competence means successful performance of an action, whereas histological differentiation describes the visibility and organization of tissue features. A functional behavior can occur while anatomical maturation continues.</a:t>
            </a:r>
          </a:p>
          <a:p>
            <a:r>
              <a:t>• The brain study’s proposed onset of predatory development at 6–14 days is therefore a species-specific anatomical hypothesis. Direct newborn feeding observations establish early competence in the lined seahorse and identify continued development as improvement of an existing behavior.</a:t>
            </a:r>
          </a:p>
          <a:p/>
          <a:p>
            <a:r>
              <a:t>References:</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Senarat et al. (2020), Fig. 39. Compact brain organization at 1 day after birth.</a:t>
            </a:r>
          </a:p>
          <a:p>
            <a:r>
              <a:t>Figure source: https://doi.org/10.3897/zoologia.37.e53734</a:t>
            </a:r>
          </a:p>
          <a:p/>
          <a:p>
            <a:r>
              <a:t>Figure: Sun et al. (2021), Fig. 4A–B. Newborn eye and labeled retinal layers.</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Cartilage forms much of the early feeding skeleton in juvenile lined seahorses. Sun and colleagues stained cartilage blue and mineralized bone red, allowing the snout skeleton to be followed across postnatal ages. Jaw and associated elements were predominantly cartilaginous during the first three days.</a:t>
            </a:r>
          </a:p>
          <a:p>
            <a:r>
              <a:t>  – Ossification is the formation of bone, including mineralization of skeletal tissue; the stain distinguishes tissue condition rather than muscle activity.</a:t>
            </a:r>
          </a:p>
          <a:p>
            <a:r>
              <a:t>• The labeled elements include the maxilla and dentary of the jaws, and the hyoid and ceratohyal beneath them. Their coordinated movement participates in the expansion associated with suction feeding. Newborns performed successful strikes while these structures remained incompletely ossified.</a:t>
            </a:r>
          </a:p>
          <a:p>
            <a:r>
              <a:t>• By about 7 days, several snout elements displayed obvious mineralization. Feeding competence therefore preceded the later skeletal condition, while postnatal ossification changed the anatomical apparatus supporting repeated prey capture.</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3A–C. Snout skeleton at 2, 5, and 7 days after birth.</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Ossification progressively replaces or supplements the early cartilaginous condition with bone. In lined seahorses, jaw and associated snout elements were ossified by approximately 14 days after birth, while the later snout skeleton became fully mineralized by about 30 days.</a:t>
            </a:r>
          </a:p>
          <a:p>
            <a:r>
              <a:t>  – The abstract describes an approximately 10-day transition, while the detailed results place completion of jaw-element ossification at about 14 days.</a:t>
            </a:r>
          </a:p>
          <a:p>
            <a:r>
              <a:t>• Sun and colleagues observed a change in the developmental trajectory of feeding around 10–14 days. Capture success increased, snout expansion became less pronounced, and growth and food intake changed during the same interval. The histological and behavioral measurements therefore identify a shared developmental transition.</a:t>
            </a:r>
          </a:p>
          <a:p>
            <a:r>
              <a:t>• The mouth still captured prey through a brief coordinated strike. Maturation altered the dimensions and tissue properties of the feeding apparatus while preserving pivot feeding as the animal’s basic acquisition strategy.</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3D–F. Snout skeleton at 10, 14, and 24 days after birth.</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Attack distance was defined by Sun and colleagues as the maximum distance traveled by the snout tip during capture. In lined seahorses, this distance increased from about 1.14 mm on the first day after birth to 3.18 mm by day 30.</a:t>
            </a:r>
          </a:p>
          <a:p>
            <a:r>
              <a:t>  – The reported attack distance is snout-tip displacement; it should not be confused with the initial mouth-to-prey separation measured in the dwarf-seahorse hydrodynamic study.</a:t>
            </a:r>
          </a:p>
          <a:p>
            <a:r>
              <a:t>• Snout length increased from approximately 0.78 mm to 3.75 mm over the same interval. A longer feeding apparatus accompanied a larger capture reach, while body height increased from about 9.2 mm to 43.2 mm. Growth therefore changed the spatial scale of prey acquisition.</a:t>
            </a:r>
          </a:p>
          <a:p>
            <a:r>
              <a:t>• Capture success rose from about 77% in newborns to about 92% at day 30 under the study conditions. Increasing reach and success developed within an already functional visually guided feeding sequence.</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3A–F. Cartilage and bone during snout development.</a:t>
            </a:r>
          </a:p>
          <a:p>
            <a:r>
              <a:t>Figure source: https://doi.org/10.1016/j.aquaculture.2021.736732</a:t>
            </a:r>
          </a:p>
          <a:p/>
          <a:p>
            <a:r>
              <a:t>Figure: Sun et al. (2021), Fig. 1C. Rapid capture with the snout.</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Feeding caliber is the maximum snout width reached during suction feeding. Sun and colleagues compared this width with the resting snout width to describe expansion. Newborn lined seahorses expanded to about 216% of their resting width, whereas the value was about 106% by day 14.</a:t>
            </a:r>
          </a:p>
          <a:p>
            <a:r>
              <a:t>  – The early flexibility is an interpretation discussed by the authors, supported by the paired kinematic and skeletal-staining observations.</a:t>
            </a:r>
          </a:p>
          <a:p>
            <a:r>
              <a:t>• The increasingly mineralized skeleton accompanied a less expandable snout. At later ages, feeding caliber and resting width became similar, even though absolute snout dimensions and capture reach increased. Growth therefore changed both size and the proportional deformation during feeding.</a:t>
            </a:r>
          </a:p>
          <a:p>
            <a:r>
              <a:t>• The early flexible snout allowed newborns to take comparatively large prey. Later animals retained rapid suction feeding with a larger, more ossified apparatus and a smaller relative change in width.</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3A–C. Snout skeleton at 2, 5, and 7 days after birth.</a:t>
            </a:r>
          </a:p>
          <a:p>
            <a:r>
              <a:t>Figure source: https://doi.org/10.1016/j.aquaculture.2021.736732</a:t>
            </a:r>
          </a:p>
          <a:p/>
          <a:p>
            <a:r>
              <a:t>Figure: Sun et al. (2021), Fig. 3D–F. Snout skeleton at 10, 14, and 24 days after birth.</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Newborn lined seahorses had a short, relatively straight intestine with a thin mucosal layer. Mucosa is the inner tissue lining the digestive lumen. During the first postnatal days, folds and loops developed, increasing the complexity of the organ that receives captured food.</a:t>
            </a:r>
          </a:p>
          <a:p>
            <a:r>
              <a:t>  – The species lacks a typical stomach in the source description, so the intestinal tract bears much of the digestive role.</a:t>
            </a:r>
          </a:p>
          <a:p>
            <a:r>
              <a:t>• By about 10 days after birth, three intestinal loops were visible and the muscular wall was thicker. Sun and colleagues documented these changes with stained sections, alongside the increasing food intake measured in the feeding experiment.</a:t>
            </a:r>
          </a:p>
          <a:p>
            <a:r>
              <a:t>• Daily intake rose from about 1.2 mg per seahorse at birth to 46.3 mg by day 30. Relative intake decreased from about 43% of body mass per day in newborns to approximately 17–22% in later juveniles.</a:t>
            </a:r>
          </a:p>
          <a:p/>
          <a:p>
            <a:r>
              <a:t>References:</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5G–H. Intestinal loops and wall layers at 10 days after birth.</a:t>
            </a:r>
          </a:p>
          <a:p>
            <a:r>
              <a:t>Figure source: https://doi.org/10.1016/j.aquaculture.2021.736732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Dwarf seahorses, Hippocampus zosterae, capture copepods, small swimming crustaceans that detect disturbances in the surrounding water. Gemmell and colleagues studied approaches to Acartia tonsa using high-speed holography, a method that reconstructs positions and particle movement within a three-dimensional sample volume.</a:t>
            </a:r>
          </a:p>
          <a:p>
            <a:r>
              <a:t>  – The experiments used dwarf seahorses approximately 2.5 cm long and copepods with body lengths around 0.8–1.1 mm.</a:t>
            </a:r>
          </a:p>
          <a:p>
            <a:r>
              <a:t>• About 84% of approaches brought the copepod within roughly 1 mm without triggering escape. Once prey entered capture range, capture succeeded about 94% of the time. Successful feeding therefore combined an undetected approach with an exceptionally rapid final strike.</a:t>
            </a:r>
          </a:p>
          <a:p>
            <a:r>
              <a:t>• The approach and strike solve different problems. Slow positioning limits the warning available to the prey, while head rotation rapidly closes the remaining short distance.</a:t>
            </a:r>
          </a:p>
          <a:p/>
          <a:p>
            <a:r>
              <a:t>References:</a:t>
            </a:r>
          </a:p>
          <a:p>
            <a:r>
              <a:t>Brad J. Gemmell, Jian Sheng, Edward J. Buskey (2013). Morphology of seahorse head hydrodynamically aids in capture of evasive prey. Nature Communications 4: 2840. https://doi.org/10.1038/ncomms3840</a:t>
            </a:r>
          </a:p>
          <a:p/>
          <a:p>
            <a:r>
              <a:t>Figure: Gemmell et al. (2013), Fig. 2b. Successful feeding sequence recorded by holography.</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Approach speed differed between successful and failed dwarf-seahorse feeding attempts. Gemmell and colleagues measured successful approaches at about 8.4 mm/s and unsuccessful approaches at about 14.1 mm/s. These values describe the movement before the final pivot-feeding strike.</a:t>
            </a:r>
          </a:p>
          <a:p>
            <a:r>
              <a:t>  – The speed comparison concerns observed feeding outcomes; the flume measurements separately tested how imposed flow speed changed disturbance around preserved heads.</a:t>
            </a:r>
          </a:p>
          <a:p>
            <a:r>
              <a:t>• A moving head deforms the surrounding water. Hydrodynamic disturbance is the resulting change in water motion that a mechanosensitive prey animal can detect. Faster approaches increased the disturbance near the region where the copepod would eventually be captured.</a:t>
            </a:r>
          </a:p>
          <a:p>
            <a:r>
              <a:t>• The seahorse’s short-range strike therefore depended on careful preceding positioning. Rapid final acquisition was compatible with a slower approach, because minimizing the prey’s warning and minimizing the final capture time require different movement patterns.</a:t>
            </a:r>
          </a:p>
          <a:p/>
          <a:p>
            <a:r>
              <a:t>References:</a:t>
            </a:r>
          </a:p>
          <a:p>
            <a:r>
              <a:t>Brad J. Gemmell, Jian Sheng, Edward J. Buskey (2013). Morphology of seahorse head hydrodynamically aids in capture of evasive prey. Nature Communications 4: 2840. https://doi.org/10.1038/ncomms3840</a:t>
            </a:r>
          </a:p>
          <a:p/>
          <a:p>
            <a:r>
              <a:t>Figure: Gemmell et al. (2013), Fig. 1a. Approach speeds for successful and failed feeding attempts.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High-speed recordings at 2,000 frames/s resolved the final dwarf-seahorse strike. The mouth covered the remaining distance to the copepod in less than 1 ms. The source contrasts this interval with copepod escape-response latencies of approximately 2–4 ms reported in earlier work.</a:t>
            </a:r>
          </a:p>
          <a:p>
            <a:r>
              <a:t>  – The paper observed no strikes at initial prey distances exceeding 1.4 mm; the exceptional speed is a close-range advantage.</a:t>
            </a:r>
          </a:p>
          <a:p>
            <a:r>
              <a:t>• Response latency is the time between detection of a stimulus and the beginning of a response. A strike completed before that interval expires can acquire the prey before an effective escape movement develops. The advantage depends on beginning within the very short capture range.</a:t>
            </a:r>
          </a:p>
          <a:p>
            <a:r>
              <a:t>• Nearby copepods could respond to the disturbance produced by a completed strike. The captured target and surrounding animals therefore encountered different timing relationships between detection, escape, and the rapidly moving mouth.</a:t>
            </a:r>
          </a:p>
          <a:p/>
          <a:p>
            <a:r>
              <a:t>References:</a:t>
            </a:r>
          </a:p>
          <a:p>
            <a:r>
              <a:t>Brad J. Gemmell, Jian Sheng, Edward J. Buskey (2013). Morphology of seahorse head hydrodynamically aids in capture of evasive prey. Nature Communications 4: 2840. https://doi.org/10.1038/ncomms3840</a:t>
            </a:r>
          </a:p>
          <a:p/>
          <a:p>
            <a:r>
              <a:t>Figure: Gemmell et al. (2013), Fig. 2b. Successful feeding sequence recorded by holography.</a:t>
            </a:r>
          </a:p>
          <a:p>
            <a:r>
              <a:t>Figure source: https://doi.org/10.1038/ncomms3840</a:t>
            </a:r>
          </a:p>
          <a:p/>
          <a:p>
            <a:r>
              <a:t>Figure: Gemmell et al. (2013), Fig. 1b. Copepod response distances to approaches and strikes.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Particle tracking follows small suspended tracers to estimate local water movement. Gemmell and colleagues used live diatoms as tracers during dwarf-seahorse approaches and reconstructed their positions holographically. Water motion above the snout was lower than in adjacent regions.</a:t>
            </a:r>
          </a:p>
          <a:p>
            <a:r>
              <a:t>  – The quiet region occurred during both successful and failed approaches; disturbance magnitude and target position still affected the outcome.</a:t>
            </a:r>
          </a:p>
          <a:p>
            <a:r>
              <a:t>• Within the measured capture region, water velocities did not exceed about 0.8 mm/s, whereas neighboring regions reached about 4.1 mm/s. The prey could occupy a comparatively quiet zone even though the moving predator disturbed water elsewhere around its head.</a:t>
            </a:r>
          </a:p>
          <a:p>
            <a:r>
              <a:t>• This spatial pattern connects head form with prey detection. The mouth rotates toward the zone during capture, so the location with reduced warning also lies within the range reached by pivot feeding.</a:t>
            </a:r>
          </a:p>
          <a:p/>
          <a:p>
            <a:r>
              <a:t>References:</a:t>
            </a:r>
          </a:p>
          <a:p>
            <a:r>
              <a:t>Brad J. Gemmell, Jian Sheng, Edward J. Buskey (2013). Morphology of seahorse head hydrodynamically aids in capture of evasive prey. Nature Communications 4: 2840. https://doi.org/10.1038/ncomms3840</a:t>
            </a:r>
          </a:p>
          <a:p/>
          <a:p>
            <a:r>
              <a:t>Figure: Gemmell et al. (2013), Fig. 3c–d. Particle motions around successful and failed approaches.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Gemmell and colleagues placed preserved dwarf-seahorse heads in a flow chamber and measured water movement with particle image velocimetry, which estimates velocity from displacement of illuminated particles. Imposed flow represented the relative movement occurring during an approach.</a:t>
            </a:r>
          </a:p>
          <a:p>
            <a:r>
              <a:t>  – The preserved-head preparation isolates effects of geometry and posture without active swimming or a live prey animal changing position.</a:t>
            </a:r>
          </a:p>
          <a:p>
            <a:r>
              <a:t>• Deformation rate, measured in s⁻¹, describes how rapidly nearby water is strained. At 4 mm/s, almost none of the capture zone exceeded the approximately 0.5 s⁻¹ detection threshold discussed for Acartia tonsa. At 10 mm/s part of the zone exceeded it, and at 20 mm/s much more did.</a:t>
            </a:r>
          </a:p>
          <a:p>
            <a:r>
              <a:t>• The head’s geometry preserved a relatively quiet region, but the absolute disturbance increased with approach speed. The flow experiment therefore explains why a favorable head shape still benefits from a slow approach.</a:t>
            </a:r>
          </a:p>
          <a:p/>
          <a:p>
            <a:r>
              <a:t>References:</a:t>
            </a:r>
          </a:p>
          <a:p>
            <a:r>
              <a:t>Brad J. Gemmell, Jian Sheng, Edward J. Buskey (2013). Morphology of seahorse head hydrodynamically aids in capture of evasive prey. Nature Communications 4: 2840. https://doi.org/10.1038/ncomms3840</a:t>
            </a:r>
          </a:p>
          <a:p/>
          <a:p>
            <a:r>
              <a:t>Figure: Gemmell et al. (2013), Fig. 4a–c. Flow deformation at different approach speeds.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Posture determines which surfaces of the seahorse head meet the incoming water. Gemmell and colleagues varied head angle in a flow chamber while measuring deformation around preserved dwarf seahorses. The naturally observed posture produced the lowest disturbance within the capture region.</a:t>
            </a:r>
          </a:p>
          <a:p>
            <a:r>
              <a:t>  – The source separates approach posture from the large, rapid head rotation used during the capture phase.</a:t>
            </a:r>
          </a:p>
          <a:p>
            <a:r>
              <a:t>• Live approaches also maintained a consistent relationship between head and target. The angle from the top of the head through the snout tip toward the copepod averaged about 124°, and head rotation during the approach remained small.</a:t>
            </a:r>
          </a:p>
          <a:p>
            <a:r>
              <a:t>• Geometry and behavior therefore work together before the strike. The narrow snout creates a favorable flow distribution, and the animal maintains an orientation that places its target within the quiet portion of that distribution.</a:t>
            </a:r>
          </a:p>
          <a:p/>
          <a:p>
            <a:r>
              <a:t>References:</a:t>
            </a:r>
          </a:p>
          <a:p>
            <a:r>
              <a:t>Brad J. Gemmell, Jian Sheng, Edward J. Buskey (2013). Morphology of seahorse head hydrodynamically aids in capture of evasive prey. Nature Communications 4: 2840. https://doi.org/10.1038/ncomms3840</a:t>
            </a:r>
          </a:p>
          <a:p/>
          <a:p>
            <a:r>
              <a:t>Figure: Gemmell et al. (2013), Fig. 5a–c. Flow deformation around different seahorse head postures.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three-spined stickleback, Gasterosteus aculeatus, lacks the seahorse’s elongated tubular snout. Gemmell and colleagues used preserved sticklebacks as a morphological comparison in the same flow measurements. Their heads produced a relatively uniform bow wave with strong deformation directly ahead of the mouth.</a:t>
            </a:r>
          </a:p>
          <a:p>
            <a:r>
              <a:t>  – The comparison concerns hydrodynamic geometry, not a direct comparison of live stickleback and seahorse capture success.</a:t>
            </a:r>
          </a:p>
          <a:p>
            <a:r>
              <a:t>• A bow wave is the water disturbance generated in front of an advancing object. Changing stickleback head posture did little to reduce deformation at the short distances used for seahorse strikes. The comparison separates a general consequence of moving through water from the distinctive seahorse geometry.</a:t>
            </a:r>
          </a:p>
          <a:p>
            <a:r>
              <a:t>• Different feeding anatomies therefore create different sensory conditions for prey. The seahorse places its capture region within a low-disturbance zone, whereas the stickleback’s frontal region remains comparatively exposed to deformation.</a:t>
            </a:r>
          </a:p>
          <a:p/>
          <a:p>
            <a:r>
              <a:t>References:</a:t>
            </a:r>
          </a:p>
          <a:p>
            <a:r>
              <a:t>Brad J. Gemmell, Jian Sheng, Edward J. Buskey (2013). Morphology of seahorse head hydrodynamically aids in capture of evasive prey. Nature Communications 4: 2840. https://doi.org/10.1038/ncomms3840</a:t>
            </a:r>
          </a:p>
          <a:p/>
          <a:p>
            <a:r>
              <a:t>Figure: Gemmell et al. (2013), Fig. 6a–b. Flow deformation around a stickleback head.</a:t>
            </a:r>
          </a:p>
          <a:p>
            <a:r>
              <a:t>Figure source: https://doi.org/10.1038/ncomms3840</a:t>
            </a:r>
          </a:p>
          <a:p/>
          <a:p>
            <a:r>
              <a:t>Figure: Gemmell et al. (2013), Fig. 5a–c. Flow deformation around different seahorse head postures.</a:t>
            </a:r>
          </a:p>
          <a:p>
            <a:r>
              <a:t>Figure source: https://doi.org/10.1038/ncomms3840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Mederos and colleagues paired male and female lined seahorses for 5 days, then tested interactions with the familiar partner and an opposite-sex stranger. The animals occupied separate sections of a test tank, allowing their brightness changes to be analyzed during proximity to either individual.</a:t>
            </a:r>
          </a:p>
          <a:p>
            <a:r>
              <a:t>  – The article distinguishes social monogamy, meaning pair living, from an affective pair bond assessed through partner preference, separation distress, and social buffering.</a:t>
            </a:r>
          </a:p>
          <a:p>
            <a:r>
              <a:t>• Luminance describes brightness in a visual channel rather than hue, the kind of color perceived. The researchers calibrated video images and evaluated changes in abdominal luminance using a seahorse visual model. Partner interactions produced larger and more correlated changes than stranger interactions.</a:t>
            </a:r>
          </a:p>
          <a:p>
            <a:r>
              <a:t>• The measured social response was context-dependent brightening. Familiarity with a specific individual altered visual interaction even when both available animals were potential opposite-sex social partners.</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p>
            <a:r>
              <a:t>Figure: Mederos et al. (2022), Fig. 2. Partner and stranger interactions differ in luminance change.</a:t>
            </a:r>
          </a:p>
          <a:p>
            <a:r>
              <a:t>Figure source: https://doi.org/10.1111/gbb.12812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Males produced most of the luminance-change events observed during mutual partner proximity. In tests with a male as the focal animal, his abdominal luminance increased by about 20% during partner interactions, while his female partner increased by about 7%.</a:t>
            </a:r>
          </a:p>
          <a:p>
            <a:r>
              <a:t>  – The numerical values are percent changes from each animal’s baseline luminance, not the fraction of the body surface changing color.</a:t>
            </a:r>
          </a:p>
          <a:p>
            <a:r>
              <a:t>• The same focal males brightened by about 14% during interactions with stranger females. Females used as stranger stimulus animals changed far less. Sex-dependent signaling therefore involved both the identity of the receiver and differences between male and female responses.</a:t>
            </a:r>
          </a:p>
          <a:p>
            <a:r>
              <a:t>• When the female was focal, her familiar male partner showed a particularly large brightness response, averaging about 38%. The interaction is asymmetric: both animals can change luminance, but the male carries much of the observed visual display.</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p>
            <a:r>
              <a:t>Figure: Mederos et al. (2022), Fig. 2. Partner and stranger interactions differ in luminance change.</a:t>
            </a:r>
          </a:p>
          <a:p>
            <a:r>
              <a:t>Figure source: https://doi.org/10.1111/gbb.12812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synchrony occurs when interacting animals coordinate their actions in time. Mederos and colleagues recorded partner-associated luminance changes in lined seahorses, including occasions when a male’s brightening was followed by a female response after a short delay.</a:t>
            </a:r>
          </a:p>
          <a:p>
            <a:r>
              <a:t>  – The article treats color change as a candidate communication mechanism; it did not experimentally prevent a display to test its necessity for maintaining a pair.</a:t>
            </a:r>
          </a:p>
          <a:p>
            <a:r>
              <a:t>• The mean delay in those coordinated events was approximately 13 s. Most luminance changes were performed by the male alone, so coordinated brightening was one component of the interaction rather than the only display pattern. Partner identity also altered the magnitude of the response.</a:t>
            </a:r>
          </a:p>
          <a:p>
            <a:r>
              <a:t>• The authors hypothesized that abdominal brightening may contribute to communication between pair mates. The measured phenomenon combines temporal coordination with partner-associated brightness changes, linking a visible body response to the social context.</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p>
            <a:r>
              <a:t>Figure: Mederos et al. (2022), Fig. 2. Partner and stranger interactions differ in luminance change.</a:t>
            </a:r>
          </a:p>
          <a:p>
            <a:r>
              <a:t>Figure source: https://doi.org/10.1111/gbb.12812</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visual model estimates how an animal’s photoreceptors respond to reflected light. Mederos and colleagues used published sensitivities from Hippocampus subelongatus to analyze lined-seahorse displays. The source values included cone sensitivity peaks at 467, 522, 537, and 560 nm.</a:t>
            </a:r>
          </a:p>
          <a:p>
            <a:r>
              <a:t>  – The model assumes that lined-seahorse photoreceptor sensitivities resemble those of a related species from a similar shallow, vegetated habitat; this assumption governs the brightness estimate.</a:t>
            </a:r>
          </a:p>
          <a:p>
            <a:r>
              <a:t>• Spectral sensitivity describes response across light wavelengths. The model assigned the 537 nm channel to brightness and used calibrated images to estimate light captured by the different cone classes. This separates the receiver’s modeled luminance from a human judgment that a seahorse looks brighter.</a:t>
            </a:r>
          </a:p>
          <a:p>
            <a:r>
              <a:t>• Using sensitivities from another species is a model assumption, because equivalent measurements were unavailable for the lined seahorse. The resulting analysis specifically concerns brightness changes estimated under that assumption.</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Figure: Sun et al. (2021), Fig. 4A–B. Newborn eye and labeled retinal layers.</a:t>
            </a:r>
          </a:p>
          <a:p>
            <a:r>
              <a:t>Figure source: https://doi.org/10.1016/j.aquaculture.2021.736732</a:t>
            </a:r>
          </a:p>
          <a:p/>
          <a:p>
            <a:r>
              <a:t>Figure: Mederos et al. (2022), Fig. 2. Partner and stranger interactions differ in luminance change.</a:t>
            </a:r>
          </a:p>
          <a:p>
            <a:r>
              <a:t>Figure source: https://doi.org/10.1111/gbb.12812</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behavioral testing, Mederos and colleagues extracted RNA, the molecules carrying gene transcripts, from individual whole brains. RNA sequencing estimated the abundance of thousands of transcripts in paired males, paired females, and unpaired males. Whole-brain sampling combines contributions from multiple regions and cell types.</a:t>
            </a:r>
          </a:p>
          <a:p>
            <a:r>
              <a:t>  – The study used each brain separately rather than pooling brains, preserving individual expression profiles while sacrificing regional localization.</a:t>
            </a:r>
          </a:p>
          <a:p>
            <a:r>
              <a:t>• The exploratory profiles included metabolic, hormonal, and cilia-associated processes. Cilia are small cellular projections implicated in sensing and signaling. The authors proposed that pairing-related metabolic differences might accompany social activity, neural activity, preparation for pregnancy, or several of these processes.</a:t>
            </a:r>
          </a:p>
          <a:p>
            <a:r>
              <a:t>• Individual gene differences did not survive the study’s correction for testing many genes. These expression patterns are therefore exploratory candidates, while the behavioral observations directly describe the partner-associated luminance response.</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Mederos et al. (2022), Fig. 3. Exploratory expression profiles of paired and unpaired groups.</a:t>
            </a:r>
          </a:p>
          <a:p>
            <a:r>
              <a:t>Figure source: https://doi.org/10.1111/gbb.12812</a:t>
            </a:r>
          </a:p>
          <a:p/>
          <a:p>
            <a:r>
              <a:t>Figure: Senarat et al. (2020), Fig. 13. Sagittal brain histology with the five major divisions.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receptor is a protein that receives a signal and changes cellular activity. Mederos and colleagues examined transcripts for nonapeptide, dopamine, serotonin, and opioid receptor systems previously associated with social behavior in vertebrates. Their data describe RNA abundance rather than receptor activation.</a:t>
            </a:r>
          </a:p>
          <a:p>
            <a:r>
              <a:t>  – No ligand binding, receptor blockade, or neuronal firing experiment was included, so transcript associations should not be taught as demonstrated receptor control of seahorse pair formation.</a:t>
            </a:r>
          </a:p>
          <a:p>
            <a:r>
              <a:t>• Exploratory normalized profiles placed oxytocin-receptor transcripts relatively higher in paired females and serotonin-receptor Htr4 transcripts relatively higher in paired males. Nonapeptides are peptides of nine amino acids; fish isotocin is related to mammalian oxytocin. These comparisons identify candidate signaling systems for future seahorse experiments.</a:t>
            </a:r>
          </a:p>
          <a:p>
            <a:r>
              <a:t>• The social role of those receptors remains a hypothesis because the study did not manipulate them. The experimentally measured phenotype was partner-related brightening, which provides a behavior to test against specific receptor interventions.</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Mederos et al. (2022), Fig. 3. Exploratory expression profiles of paired and unpaired groups.</a:t>
            </a:r>
          </a:p>
          <a:p>
            <a:r>
              <a:t>Figure source: https://doi.org/10.1111/gbb.12812</a:t>
            </a:r>
          </a:p>
          <a:p/>
          <a:p>
            <a:r>
              <a:t>Figure: Senarat et al. (2020), Fig. 13. Sagittal brain histology with the five major divisions.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Orthologous genes are corresponding genes inherited from a shared ancestor. Mederos and colleagues compared ranked expression changes in seahorse whole brains with published prairie-vole brain datasets. The comparison searched for coordinated overlap rather than requiring identical changes in every individual gene.</a:t>
            </a:r>
          </a:p>
          <a:p>
            <a:r>
              <a:t>  – The vole datasets sampled medial preoptic and nucleus accumbens tissue, whereas the seahorse samples were whole brains; matching rankings therefore do not identify homologous seahorse neural circuits.</a:t>
            </a:r>
          </a:p>
          <a:p>
            <a:r>
              <a:t>• Shared expression themes included metabolic processes and reproductive hormone-associated genes. The authors found overlap between paired male seahorses and paired male voles, even though the sampled neural tissue differed between species. These similarities connect reproduction and social state at the level of gene-expression patterns.</a:t>
            </a:r>
          </a:p>
          <a:p>
            <a:r>
              <a:t>• The overlap supports a hypothesis of shared molecular components across distinct reproductive systems. Seahorse male pregnancy and mammalian pair-associated physiology remain different biological contexts in which related endocrine genes can participate.</a:t>
            </a:r>
          </a:p>
          <a:p/>
          <a:p>
            <a:r>
              <a:t>References:</a:t>
            </a:r>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Mederos et al. (2022), Fig. 4A,D,G. Overlap between seahorse and prairie-vole expression rankings.</a:t>
            </a:r>
          </a:p>
          <a:p>
            <a:r>
              <a:t>Figure source: https://doi.org/10.1111/gbb.12812</a:t>
            </a:r>
          </a:p>
          <a:p/>
          <a:p>
            <a:r>
              <a:t>Figure: Senarat et al. (2020), Fig. 13. Sagittal brain histology with the five major divisions.</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Kisspeptin is a peptide signal associated with reproductive regulation. Zhang and colleagues identified a kiss2 gene and its receptor gene, GPR54-2, in lined seahorses. Their tissue measurements found kiss2 transcripts in several locations, including brain and gonadal tissue.</a:t>
            </a:r>
          </a:p>
          <a:p>
            <a:r>
              <a:t>  – A ligand is a signaling molecule that binds a receptor; tissue transcript abundance identifies candidate sites of synthesis and response rather than directly measuring peptide release.</a:t>
            </a:r>
          </a:p>
          <a:p>
            <a:r>
              <a:t>• GPR54-2 transcripts were concentrated in the brain and close to the detection limit in peripheral tissues. Within the brain, both ligand and receptor transcripts were especially abundant in the hypothalamic region. The complementary distribution places a peptide-producing system and a potential responding system in reproductive neural tissue.</a:t>
            </a:r>
          </a:p>
          <a:p>
            <a:r>
              <a:t>• Female brains contained higher transcript levels than male brains in the reported comparison. Sex and reproductive state therefore influence the molecular organization of the same named kisspeptin signaling system.</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Zhang et al. (2018), Fig. 5. Kiss2 and GPR54-2 transcript distribution.</a:t>
            </a:r>
          </a:p>
          <a:p>
            <a:r>
              <a:t>Figure source: https://doi.org/10.3389/fnins.2018.00940</a:t>
            </a:r>
          </a:p>
          <a:p/>
          <a:p>
            <a:r>
              <a:t>Figure: Senarat et al. (2020), Fig. 25. Periventricular hypothalamic cell population.</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Puberty is the developmental transition toward reproductive competence. Zhang and colleagues followed male lined seahorses from immature animals at 3 months through early puberty at 4 months, advanced puberty at 5 months, and maturity at 6 months. Testis histology distinguished these developmental stages.</a:t>
            </a:r>
          </a:p>
          <a:p>
            <a:r>
              <a:t>  – The study aligned endocrine transcript measurements with gonadal histology rather than assigning developmental stage from chronological age alone.</a:t>
            </a:r>
          </a:p>
          <a:p>
            <a:r>
              <a:t>• Brain kiss2 transcript abundance was highest around early puberty, while testis kiss2 showed no comparable developmental change. The difference places the stage-associated molecular signal primarily in the brain within the tissues examined.</a:t>
            </a:r>
          </a:p>
          <a:p>
            <a:r>
              <a:t>• The gonads continued maturing as the animals aged. Brain transcript change and testicular differentiation therefore describe complementary parts of reproductive development, with the kisspeptin system positioned as a candidate regulator of the transition rather than merely a marker of adult body size.</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p>
            <a:r>
              <a:t>Figure: Zhang et al. (2018), Fig. 6A–B. Kiss2 expression and testis histology during sexual development.</a:t>
            </a:r>
          </a:p>
          <a:p>
            <a:r>
              <a:t>Figure source: https://doi.org/10.3389/fnins.2018.00940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colleagues compared male lined seahorses before pregnancy, during pregnancy, and after birth. Pregnancy in seahorses is the period of paternal incubation following egg transfer and fertilization. Brain and testis kiss2 transcripts decreased during that stage and returned toward preceding levels after birth.</a:t>
            </a:r>
          </a:p>
          <a:p>
            <a:r>
              <a:t>  – The measured stages were designated pre-pregnant, pregnant, and post-parturition; transcript changes should not be equated with measured peptide concentrations.</a:t>
            </a:r>
          </a:p>
          <a:p>
            <a:r>
              <a:t>• Brain GPR54-2 transcripts also decreased during pregnancy. Ligand and receptor expression therefore changed together across the reproductive cycle in the sampled tissues. The same peptide system associated with puberty was reorganized during an adult reproductive state.</a:t>
            </a:r>
          </a:p>
          <a:p>
            <a:r>
              <a:t>• The authors hypothesized that reduced reproductive signaling during pregnancy relates to the temporary reproductive cycle. The observed return after birth identifies molecular reversibility rather than a permanent loss of the kisspeptin system.</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Zhang et al. (2018), Fig. 7. Kiss2 and receptor expression across pregnancy stages.</a:t>
            </a:r>
          </a:p>
          <a:p>
            <a:r>
              <a:t>Figure source: https://doi.org/10.3389/fnins.2018.00940</a:t>
            </a:r>
          </a:p>
          <a:p/>
          <a:p>
            <a:r>
              <a:t>Figure: Senarat et al. (2020), Fig. 25. Periventricular hypothalamic cell population.</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Zhang and colleagues administered Kiss2-10, the mature ten-amino-acid peptide, to sexually mature male lined seahorses. They then measured brain and pituitary transcripts at 3 and 6 hours, comparing peptide-treated animals with saline-treated controls. This intervention tested physiological responsiveness to the identified signal.</a:t>
            </a:r>
          </a:p>
          <a:p>
            <a:r>
              <a:t>  – The unchanged upstream RNA measurements do not rule out changes in peptide release or existing receptor signaling; the experiment measured transcript abundance.</a:t>
            </a:r>
          </a:p>
          <a:p>
            <a:r>
              <a:t>• Pituitary FSHβ transcripts increased at 3 hours, and both FSHβ and LHβ increased at 6 hours. Gonadotropins are pituitary hormones regulating the gonads; FSH and LH are follicle-stimulating and luteinizing hormone. Their beta-subunit transcripts identify components of those hormones.</a:t>
            </a:r>
          </a:p>
          <a:p>
            <a:r>
              <a:t>• The measured salmon-type gonadotropin-releasing hormone, sGnRH, and GPR54-2 transcripts did not increase. Pituitary gene responses can therefore occur without a parallel increase in these particular upstream transcripts over the sampled interval.</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Zhang et al. (2018), Fig. 8. Endocrine transcript responses at 3 and 6 hours after Kiss2-10.</a:t>
            </a:r>
          </a:p>
          <a:p>
            <a:r>
              <a:t>Figure source: https://doi.org/10.3389/fnins.2018.00940</a:t>
            </a:r>
          </a:p>
          <a:p/>
          <a:p>
            <a:r>
              <a:t>Figure: Senarat et al. (2020), Fig. 27. Neural and glandular regions of the pituitary.</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Testosterone is a steroid hormone associated with reproductive physiology. Following Kiss2-10 administration, Zhang and colleagues collected blood from male lined seahorses at 3 and 6 hours and measured serum testosterone with an immunoassay. The saline-treated group provided the injection comparison.</a:t>
            </a:r>
          </a:p>
          <a:p>
            <a:r>
              <a:t>  – An immunoassay estimates hormone concentration using antibody-based detection; the paper measured serum testosterone rather than testosterone synthesis directly in the testis.</a:t>
            </a:r>
          </a:p>
          <a:p>
            <a:r>
              <a:t>• Testosterone was elevated at 6 hours after peptide treatment. The same experimental series found increased pituitary gonadotropin transcripts, connecting the administered peptide to changes at more than one level of reproductive physiology.</a:t>
            </a:r>
          </a:p>
          <a:p>
            <a:r>
              <a:t>• The observations support endocrine responsiveness of mature males to Kiss2-10. A circulating hormone response and a tissue transcript response are different measurements, and their coordinated changes connect the identified peptide system to the reproductive axis.</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p>
            <a:r>
              <a:t>Figure: Zhang et al. (2018), Fig. 9. Serum testosterone after Kiss2-10 administration.</a:t>
            </a:r>
          </a:p>
          <a:p>
            <a:r>
              <a:t>Figure source: https://doi.org/10.3389/fnins.2018.00940</a:t>
            </a:r>
          </a:p>
          <a:p/>
          <a:p>
            <a:r>
              <a:t>Figure: Zhang et al. (2018), Fig. 6B(a–d). Testis histology from immaturity to maturity.</a:t>
            </a:r>
          </a:p>
          <a:p>
            <a:r>
              <a:t>Figure source: https://doi.org/10.3389/fnins.2018.00940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Vasotocin and isotocin are nine-amino-acid peptide hormones related to mammalian vasopressin and oxytocin. Zhang and colleagues cloned their precursors in lined seahorses and used in situ hybridization, a method detecting selected RNA sequences within tissue, to locate cells expressing the genes.</a:t>
            </a:r>
          </a:p>
          <a:p>
            <a:r>
              <a:t>  – Antisense probes bind the target transcript; the corresponding sense probe provides a control for labeling unrelated to that specific RNA sequence.</a:t>
            </a:r>
          </a:p>
          <a:p>
            <a:r>
              <a:t>• Both transcript signals occurred in the preoptic area, hypothalamic tissue associated with reproductive regulation. Vasotocin labeling was concentrated centrally, whereas isotocin labeling was more peripheral within the examined area. The preparations localized signaling-molecule transcripts to identifiable neural tissue.</a:t>
            </a:r>
          </a:p>
          <a:p>
            <a:r>
              <a:t>• The study also used a sense-probe control to assess nonspecific labeling. Transcript localization and the later vasotocin intervention supply complementary anatomical and physiological evidence for a seahorse neuroendocrine system.</a:t>
            </a:r>
          </a:p>
          <a:p/>
          <a:p>
            <a:r>
              <a:t>References:</a:t>
            </a:r>
          </a:p>
          <a:p>
            <a:r>
              <a:t>Huixian Zhang, Yali Liu, Geng Qin, Qiang Lin (2022). Identification of neurohypophysial hormones and the role of VT in the parturition of pregnant seahorses (Hippocampus erectus). Frontiers in Endocrinology 13: 923234. https://doi.org/10.3389/fendo.2022.923234</a:t>
            </a:r>
          </a:p>
          <a:p/>
          <a:p>
            <a:r>
              <a:t>Figure: Zhang et al. (2022), Fig. 4B–C. Vasotocin transcripts in the preoptic area.</a:t>
            </a:r>
          </a:p>
          <a:p>
            <a:r>
              <a:t>Figure source: https://doi.org/10.3389/fendo.2022.923234</a:t>
            </a:r>
          </a:p>
          <a:p/>
          <a:p>
            <a:r>
              <a:t>Figure: Zhang et al. (2022), Fig. 4E–F. Isotocin transcripts in the preoptic area.</a:t>
            </a:r>
          </a:p>
          <a:p>
            <a:r>
              <a:t>Figure source: https://doi.org/10.3389/fendo.2022.923234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Parturition is the release of offspring at the end of pregnancy. Zhang and colleagues injected pregnant lined seahorse males with vasotocin at 50 or 500 ng/g body mass and compared them with saline-injected controls. Treated males performed repeated body-swinging movements associated with birth.</a:t>
            </a:r>
          </a:p>
          <a:p>
            <a:r>
              <a:t>  – The photographs compare normally released young with young released after the lower and higher vasotocin doses; the dose units are amount per body mass.</a:t>
            </a:r>
          </a:p>
          <a:p>
            <a:r>
              <a:t>• The released young were premature: they were shorter and retained larger yolk sacs than normally released animals. Yolk is stored embryonic nutrition, and persistence of a large yolk sac identifies incomplete development at the time of release.</a:t>
            </a:r>
          </a:p>
          <a:p>
            <a:r>
              <a:t>• The peptide intervention therefore affected the timing of a reproductive behavior, not simply a molecular marker. Male seahorse birth combines bodily movement with an endocrine state that can be experimentally shifted by vasotocin administration.</a:t>
            </a:r>
          </a:p>
          <a:p/>
          <a:p>
            <a:r>
              <a:t>References:</a:t>
            </a:r>
          </a:p>
          <a:p>
            <a:r>
              <a:t>Huixian Zhang, Yali Liu, Geng Qin, Qiang Lin (2022). Identification of neurohypophysial hormones and the role of VT in the parturition of pregnant seahorses (Hippocampus erectus). Frontiers in Endocrinology 13: 923234. https://doi.org/10.3389/fendo.2022.923234</a:t>
            </a:r>
          </a:p>
          <a:p/>
          <a:p>
            <a:r>
              <a:t>Figure: Zhang et al. (2022), Fig. 5B(a–c). Normally released and prematurely released young.</a:t>
            </a:r>
          </a:p>
          <a:p>
            <a:r>
              <a:t>Figure source: https://doi.org/10.3389/fendo.2022.923234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Six hours after vasotocin administration, pregnant lined seahorses had increased circulating estrogen, while testosterone remained similar to the control condition. Estrogen is a steroid hormone participating in reproductive regulation. Zhang and colleagues measured the circulating hormones separately from tissue transcripts.</a:t>
            </a:r>
          </a:p>
          <a:p>
            <a:r>
              <a:t>  – The paper measured transcript responses and serum steroids; a complete sequence of intervening cellular events was not recorded.</a:t>
            </a:r>
          </a:p>
          <a:p>
            <a:r>
              <a:t>• Pituitary FSHβ and LHβ transcripts increased, while prolactin transcripts decreased. Prolactin is a pituitary hormone discussed in the source in relation to incubation physiology. Vasotocin therefore shifted several components of the reproductive endocrine state alongside the observed birth behavior.</a:t>
            </a:r>
          </a:p>
          <a:p>
            <a:r>
              <a:t>• The authors proposed a reproductive-axis mechanism linking neuropeptide action, gonadotropin regulation, and estrogen-associated responses. The combined intervention and endocrine measurements identify a coordinated response rather than requiring every hormone to change in the same direction.</a:t>
            </a:r>
          </a:p>
          <a:p/>
          <a:p>
            <a:r>
              <a:t>References:</a:t>
            </a:r>
          </a:p>
          <a:p>
            <a:r>
              <a:t>Huixian Zhang, Yali Liu, Geng Qin, Qiang Lin (2022). Identification of neurohypophysial hormones and the role of VT in the parturition of pregnant seahorses (Hippocampus erectus). Frontiers in Endocrinology 13: 923234. https://doi.org/10.3389/fendo.2022.923234</a:t>
            </a:r>
          </a:p>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Figure: Zhang et al. (2022), Fig. 5A. Circulating estrogen and testosterone after vasotocin.</a:t>
            </a:r>
          </a:p>
          <a:p>
            <a:r>
              <a:t>Figure source: https://doi.org/10.3389/fendo.2022.923234</a:t>
            </a:r>
          </a:p>
          <a:p/>
          <a:p>
            <a:r>
              <a:t>Figure: Senarat et al. (2020), Fig. 27. Neural and glandular regions of the pituitary.</a:t>
            </a:r>
          </a:p>
          <a:p>
            <a:r>
              <a:t>Figure source: https://doi.org/10.3897/zoologia.37.e53734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seahorse reproduction includes transitions into pregnancy and into birth, with different peptide-associated responses. Zhang and colleagues found reduced Kiss2 and receptor transcripts during pregnancy, followed by recovery after parturition. A separate vasotocin experiment shifted pregnant males toward premature release.</a:t>
            </a:r>
          </a:p>
          <a:p>
            <a:r>
              <a:t>  – The two peptide studies should not be presented as a single proven linear pathway; they tested separate components of the male reproductive cycle.</a:t>
            </a:r>
          </a:p>
          <a:p>
            <a:r>
              <a:t>• Reproductive state therefore changes both the molecular background and the response to a supplied signal. Kiss2 measurements describe stage-associated regulation, whereas vasotocin administration directly changes the timing of bodily birth behavior. The experimental designs address different parts of the cycle.</a:t>
            </a:r>
          </a:p>
          <a:p>
            <a:r>
              <a:t>• The released offspring begin visually guided feeding while their own sensory, neural, and skeletal systems continue developing. Parental endocrine timing and offspring developmental readiness meet at birth, linking adult reproductive control to juvenile behavioral independence.</a:t>
            </a:r>
          </a:p>
          <a:p/>
          <a:p>
            <a:r>
              <a:t>References:</a:t>
            </a:r>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r>
              <a:t>Huixian Zhang, Yali Liu, Geng Qin, Qiang Lin (2022). Identification of neurohypophysial hormones and the role of VT in the parturition of pregnant seahorses (Hippocampus erectus). Frontiers in Endocrinology 13: 923234. https://doi.org/10.3389/fendo.2022.923234</a:t>
            </a:r>
          </a:p>
          <a:p/>
          <a:p>
            <a:r>
              <a:t>Figure: Zhang et al. (2018), Fig. 7. Kiss2 and receptor expression across pregnancy stages.</a:t>
            </a:r>
          </a:p>
          <a:p>
            <a:r>
              <a:t>Figure source: https://doi.org/10.3389/fnins.2018.00940</a:t>
            </a:r>
          </a:p>
          <a:p/>
          <a:p>
            <a:r>
              <a:t>Figure: Zhang et al. (2022), Fig. 5B(a–c). Normally released and prematurely released young.</a:t>
            </a:r>
          </a:p>
          <a:p>
            <a:r>
              <a:t>Figure source: https://doi.org/10.3389/fendo.2022.923234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Sinlapachai Senarat, Jes Kettratad, Gen Kaneko, Thatpon Kamnurdnin, Chanyut Sudtongkong (2020). The microanatomy of the central nervous system and brain of the Indo-Pacific seahorse, Hippocampus barbouri, during development. Zoologia 37: e53734, 1–11. https://doi.org/10.3897/zoologia.37.e53734</a:t>
            </a:r>
          </a:p>
          <a:p/>
          <a:p>
            <a:r>
              <a:t>Jinhui Sun, Bo Zhang, Shangduan Xie, Honghao Zhao, Yanjing Yang, Pei Cui, Xiaohan Yu, Sudong Xia, Qiang Lin, Geng Qin (2021). Kinematics of prey capture and histological development of related organs in juvenile seahorse. Aquaculture 541: 736732. https://doi.org/10.1016/j.aquaculture.2021.736732</a:t>
            </a:r>
          </a:p>
          <a:p/>
          <a:p>
            <a:r>
              <a:t>Brad J. Gemmell, Jian Sheng, Edward J. Buskey (2013). Morphology of seahorse head hydrodynamically aids in capture of evasive prey. Nature Communications 4: 2840. https://doi.org/10.1038/ncomms3840</a:t>
            </a:r>
          </a:p>
          <a:p/>
          <a:p>
            <a:r>
              <a:t>Sabrina L. Mederos, Rafael C. Duarte, Mira Mastoras, Megan Y. Dennis, Matthew L. Settles, Allison R. Lau, Alexandria Scott, Kacie Woodward, Colby Johnson, Adele M. H. Seelke, Karen L. Bales (2022). Effects of pairing on color change and central gene expression in lined seahorses. Genes, Brain and Behavior 21: e12812. https://doi.org/10.1111/gbb.12812</a:t>
            </a:r>
          </a:p>
          <a:p/>
          <a:p>
            <a:r>
              <a:t>Huixian Zhang, Bo Zhang, Geng Qin, Shuisheng Li, Qiang Lin (2018). The Roles of the Kisspeptin System in the Reproductive Physiology of the Lined Seahorse (Hippocampus erectus), an Ovoviviparous Fish With Male Pregnancy. Frontiers in Neuroscience 12: 940. https://doi.org/10.3389/fnins.2018.00940</a:t>
            </a:r>
          </a:p>
          <a:p/>
          <a:p>
            <a:r>
              <a:t>Huixian Zhang, Yali Liu, Geng Qin, Qiang Lin (2022). Identification of neurohypophysial hormones and the role of VT in the parturition of pregnant seahorses (Hippocampus erectus). Frontiers in Endocrinology 13: 923234. https://doi.org/10.3389/fendo.2022.923234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4.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0.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8.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18.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19.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19.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607D8A"/>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0E8EB"/>
                </a:solidFill>
                <a:latin typeface="Arial"/>
              </a:rPr>
              <a:t>NEUR 411 · NEUROETHOLOGY · FALL 2026</a:t>
            </a:r>
          </a:p>
        </p:txBody>
      </p:sp>
      <p:sp>
        <p:nvSpPr>
          <p:cNvPr id="4" name="TextBox 3"/>
          <p:cNvSpPr txBox="1"/>
          <p:nvPr/>
        </p:nvSpPr>
        <p:spPr>
          <a:xfrm>
            <a:off x="685800" y="150876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0E8EB"/>
                </a:solidFill>
                <a:latin typeface="Arial"/>
              </a:rPr>
              <a:t>Lecture 60</a:t>
            </a:r>
          </a:p>
        </p:txBody>
      </p:sp>
      <p:sp>
        <p:nvSpPr>
          <p:cNvPr id="5" name="Lecture title"/>
          <p:cNvSpPr txBox="1"/>
          <p:nvPr/>
        </p:nvSpPr>
        <p:spPr>
          <a:xfrm>
            <a:off x="685800" y="1965960"/>
            <a:ext cx="4724247" cy="292608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Seahorses:</a:t>
            </a:r>
          </a:p>
          <a:p>
            <a:pPr algn="l">
              <a:lnSpc>
                <a:spcPct val="108000"/>
              </a:lnSpc>
              <a:spcAft>
                <a:spcPts val="0"/>
              </a:spcAft>
            </a:pPr>
            <a:r>
              <a:rPr sz="2800" b="1" i="0">
                <a:solidFill>
                  <a:srgbClr val="FFFFFF"/>
                </a:solidFill>
                <a:latin typeface="Arial"/>
              </a:rPr>
              <a:t>brain organization, visual processing, sensorimeotor control of prey capture, courtship communication, and reproductive behavior</a:t>
            </a:r>
          </a:p>
        </p:txBody>
      </p:sp>
      <p:sp>
        <p:nvSpPr>
          <p:cNvPr id="6" name="TextBox 5"/>
          <p:cNvSpPr txBox="1"/>
          <p:nvPr/>
        </p:nvSpPr>
        <p:spPr>
          <a:xfrm>
            <a:off x="685800" y="5440680"/>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0E8EB"/>
                </a:solidFill>
                <a:latin typeface="Arial"/>
              </a:rPr>
              <a:t>Date TBD</a:t>
            </a:r>
          </a:p>
        </p:txBody>
      </p:sp>
      <p:sp>
        <p:nvSpPr>
          <p:cNvPr id="7" name="TextBox 6"/>
          <p:cNvSpPr txBox="1"/>
          <p:nvPr/>
        </p:nvSpPr>
        <p:spPr>
          <a:xfrm>
            <a:off x="685800" y="6080760"/>
            <a:ext cx="4724247" cy="594360"/>
          </a:xfrm>
          <a:prstGeom prst="rect">
            <a:avLst/>
          </a:prstGeom>
          <a:noFill/>
        </p:spPr>
        <p:txBody>
          <a:bodyPr wrap="square" lIns="0" rIns="0" tIns="0" bIns="0">
            <a:spAutoFit/>
          </a:bodyPr>
          <a:lstStyle/>
          <a:p>
            <a:pPr algn="l">
              <a:lnSpc>
                <a:spcPct val="108000"/>
              </a:lnSpc>
              <a:spcAft>
                <a:spcPts val="200"/>
              </a:spcAft>
            </a:pPr>
            <a:r>
              <a:rPr sz="1200" b="0" i="0">
                <a:solidFill>
                  <a:srgbClr val="E0E8EB"/>
                </a:solidFill>
                <a:latin typeface="Arial"/>
              </a:rPr>
              <a:t>Jordan Lopez, Ph.D.</a:t>
            </a:r>
          </a:p>
          <a:p>
            <a:pPr algn="l">
              <a:lnSpc>
                <a:spcPct val="108000"/>
              </a:lnSpc>
              <a:spcAft>
                <a:spcPts val="200"/>
              </a:spcAft>
            </a:pPr>
            <a:r>
              <a:rPr sz="1200" b="0" i="0">
                <a:solidFill>
                  <a:srgbClr val="E0E8EB"/>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4826867"/>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Vaccani et al. (2019), Fig. 2H. Longsnout seahorse under natural white light.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Newborn seahorses already capture live prey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Newborn lined seahorses, </a:t>
            </a:r>
            <a:r>
              <a:rPr sz="1600" b="0" i="1">
                <a:solidFill>
                  <a:srgbClr val="000000"/>
                </a:solidFill>
                <a:latin typeface="Arial"/>
              </a:rPr>
              <a:t>Hippocampus erectus</a:t>
            </a:r>
            <a:r>
              <a:rPr sz="1600" b="0" i="0">
                <a:solidFill>
                  <a:srgbClr val="000000"/>
                </a:solidFill>
                <a:latin typeface="Arial"/>
              </a:rPr>
              <a:t>, capture live </a:t>
            </a:r>
            <a:r>
              <a:rPr sz="1600" b="1" i="0">
                <a:solidFill>
                  <a:srgbClr val="3F525A"/>
                </a:solidFill>
                <a:latin typeface="Arial"/>
              </a:rPr>
              <a:t>Artemia</a:t>
            </a:r>
            <a:r>
              <a:rPr sz="1600" b="0" i="0">
                <a:solidFill>
                  <a:srgbClr val="000000"/>
                </a:solidFill>
                <a:latin typeface="Arial"/>
              </a:rPr>
              <a:t>, small crustaceans used as food, immediately after leaving the male. Their feeding behavior already combines visual search, target tracking, rapid head rotation, and ingestion. Feeding competence therefore begins before the feeding skeleton reaches its later degree of ossification.</a:t>
            </a:r>
          </a:p>
          <a:p>
            <a:pPr algn="l">
              <a:lnSpc>
                <a:spcPct val="108000"/>
              </a:lnSpc>
              <a:spcAft>
                <a:spcPts val="960"/>
              </a:spcAft>
            </a:pPr>
            <a:r>
              <a:rPr sz="1600" b="0" i="0">
                <a:solidFill>
                  <a:srgbClr val="000000"/>
                </a:solidFill>
                <a:latin typeface="Arial"/>
              </a:rPr>
              <a:t>Sun and colleagues recorded animals from 1 to 30 days after parturition, meaning birth. Newborns were about 9.2 mm tall and successfully captured prey in about 77% of feeding attempts under the study conditions.</a:t>
            </a:r>
          </a:p>
          <a:p>
            <a:pPr algn="l">
              <a:lnSpc>
                <a:spcPct val="108000"/>
              </a:lnSpc>
              <a:spcAft>
                <a:spcPts val="960"/>
              </a:spcAft>
            </a:pPr>
            <a:r>
              <a:rPr sz="1600" b="0" i="0">
                <a:solidFill>
                  <a:srgbClr val="000000"/>
                </a:solidFill>
                <a:latin typeface="Arial"/>
              </a:rPr>
              <a:t>Across development, body growth increased capture reach and food intake. Early independence depends on functional sensory and motor coordination together with continued maturation of the snout and digestive tract.</a:t>
            </a:r>
          </a:p>
        </p:txBody>
      </p:sp>
      <p:pic>
        <p:nvPicPr>
          <p:cNvPr id="4" name="Picture 3" descr="j1.png"/>
          <p:cNvPicPr>
            <a:picLocks noChangeAspect="1"/>
          </p:cNvPicPr>
          <p:nvPr/>
        </p:nvPicPr>
        <p:blipFill>
          <a:blip r:embed="rId2"/>
          <a:stretch>
            <a:fillRect/>
          </a:stretch>
        </p:blipFill>
        <p:spPr>
          <a:xfrm>
            <a:off x="6854211" y="1280160"/>
            <a:ext cx="442047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1A–D. Searching, locking, capturing, and swallowing in a newborn.</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Prey capture combines four coordinated actions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F525A"/>
                </a:solidFill>
                <a:latin typeface="Arial"/>
              </a:rPr>
              <a:t>Pivot feeding</a:t>
            </a:r>
            <a:r>
              <a:rPr sz="1700" b="0" i="0">
                <a:solidFill>
                  <a:srgbClr val="000000"/>
                </a:solidFill>
                <a:latin typeface="Arial"/>
              </a:rPr>
              <a:t> brings the mouth toward prey by rotating the head upward, followed by suction into the tubular snout. In newborn lined seahorses, this behavior formed a sequence of searching, locking, capturing, and swallowing. Each action changes the relationship between the animal and its target.</a:t>
            </a:r>
          </a:p>
          <a:p>
            <a:pPr algn="l">
              <a:lnSpc>
                <a:spcPct val="108000"/>
              </a:lnSpc>
              <a:spcAft>
                <a:spcPts val="1019"/>
              </a:spcAft>
            </a:pPr>
            <a:r>
              <a:rPr sz="1700" b="0" i="0">
                <a:solidFill>
                  <a:srgbClr val="000000"/>
                </a:solidFill>
                <a:latin typeface="Arial"/>
              </a:rPr>
              <a:t>During searching, the eyes moved independently. During locking, the seahorse swam and turned to keep the prey ahead of its head. Capture began when the target entered the available capture distance, with head rotation and mouth opening taking less than 4 ms.</a:t>
            </a:r>
          </a:p>
          <a:p>
            <a:pPr algn="l">
              <a:lnSpc>
                <a:spcPct val="108000"/>
              </a:lnSpc>
              <a:spcAft>
                <a:spcPts val="1019"/>
              </a:spcAft>
            </a:pPr>
            <a:r>
              <a:rPr sz="1700" b="0" i="0">
                <a:solidFill>
                  <a:srgbClr val="000000"/>
                </a:solidFill>
                <a:latin typeface="Arial"/>
              </a:rPr>
              <a:t>Swallowing restored the cranial and hyoid apparatus toward rest while ingested water and fragments exited through the gill opening. Fast acquisition and slower recovery are distinct components of the same feeding sequence.</a:t>
            </a:r>
          </a:p>
        </p:txBody>
      </p:sp>
      <p:pic>
        <p:nvPicPr>
          <p:cNvPr id="4" name="Picture 3" descr="j1.png"/>
          <p:cNvPicPr>
            <a:picLocks noChangeAspect="1"/>
          </p:cNvPicPr>
          <p:nvPr/>
        </p:nvPicPr>
        <p:blipFill>
          <a:blip r:embed="rId2"/>
          <a:stretch>
            <a:fillRect/>
          </a:stretch>
        </p:blipFill>
        <p:spPr>
          <a:xfrm>
            <a:off x="6854211" y="1280160"/>
            <a:ext cx="442047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1A–D. Searching, locking, capturing, and swallowing in a newborn.</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Independent eye movements precede target tracking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two eyes of juvenile lined seahorses moved independently during prey search. After prey entered the visual field, the animal changed its swimming and turning so that the target remained in front of the head. These observations separate broad searching movements from target-directed tracking.</a:t>
            </a:r>
          </a:p>
          <a:p>
            <a:pPr algn="l">
              <a:lnSpc>
                <a:spcPct val="108000"/>
              </a:lnSpc>
              <a:spcAft>
                <a:spcPts val="960"/>
              </a:spcAft>
            </a:pPr>
            <a:r>
              <a:rPr sz="1600" b="0" i="0">
                <a:solidFill>
                  <a:srgbClr val="000000"/>
                </a:solidFill>
                <a:latin typeface="Arial"/>
              </a:rPr>
              <a:t>The newborn eye already contained an organized retina, the neural tissue that receives light. Rod and cone photoreceptors were present, together with a pigmented outer region and recognizable internal layers. The sensory tissue was therefore developed when independent feeding began.</a:t>
            </a:r>
          </a:p>
          <a:p>
            <a:pPr algn="l">
              <a:lnSpc>
                <a:spcPct val="108000"/>
              </a:lnSpc>
              <a:spcAft>
                <a:spcPts val="960"/>
              </a:spcAft>
            </a:pPr>
            <a:r>
              <a:rPr sz="1600" b="0" i="0">
                <a:solidFill>
                  <a:srgbClr val="000000"/>
                </a:solidFill>
                <a:latin typeface="Arial"/>
              </a:rPr>
              <a:t>Target tracking and the final strike operated on different time scales. Swimming maintained alignment before the brief capture movement, which could then bring the small terminal mouth to a nearby crustacean.</a:t>
            </a:r>
          </a:p>
        </p:txBody>
      </p:sp>
      <p:pic>
        <p:nvPicPr>
          <p:cNvPr id="4" name="Picture 3" descr="j1a.png"/>
          <p:cNvPicPr>
            <a:picLocks noChangeAspect="1"/>
          </p:cNvPicPr>
          <p:nvPr/>
        </p:nvPicPr>
        <p:blipFill>
          <a:blip r:embed="rId2"/>
          <a:stretch>
            <a:fillRect/>
          </a:stretch>
        </p:blipFill>
        <p:spPr>
          <a:xfrm>
            <a:off x="7808238" y="1280160"/>
            <a:ext cx="2146658"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1A. A newborn searches for Artemia.</a:t>
            </a:r>
          </a:p>
        </p:txBody>
      </p:sp>
      <p:pic>
        <p:nvPicPr>
          <p:cNvPr id="6" name="Picture 5" descr="retina_ab.png"/>
          <p:cNvPicPr>
            <a:picLocks noChangeAspect="1"/>
          </p:cNvPicPr>
          <p:nvPr/>
        </p:nvPicPr>
        <p:blipFill>
          <a:blip r:embed="rId3"/>
          <a:stretch>
            <a:fillRect/>
          </a:stretch>
        </p:blipFill>
        <p:spPr>
          <a:xfrm>
            <a:off x="6138367" y="3886200"/>
            <a:ext cx="5486400" cy="1240076"/>
          </a:xfrm>
          <a:prstGeom prst="rect">
            <a:avLst/>
          </a:prstGeom>
        </p:spPr>
      </p:pic>
      <p:sp>
        <p:nvSpPr>
          <p:cNvPr id="7" name="Figure caption"/>
          <p:cNvSpPr txBox="1"/>
          <p:nvPr/>
        </p:nvSpPr>
        <p:spPr>
          <a:xfrm>
            <a:off x="6138367" y="51994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4A–B. Newborn eye and labeled retinal layers.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Photoreceptors are present at birth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Photoreceptors</a:t>
            </a:r>
            <a:r>
              <a:rPr sz="1600" b="0" i="0">
                <a:solidFill>
                  <a:srgbClr val="000000"/>
                </a:solidFill>
                <a:latin typeface="Arial"/>
              </a:rPr>
              <a:t> are retinal cells specialized to receive light. Histological sections of newborn lined seahorses contained both rods and cones between the pigment layer and the outer nuclear layer. The pigment layer and organized retinal tissue were already recognizable on the first day after birth.</a:t>
            </a:r>
          </a:p>
          <a:p>
            <a:pPr algn="l">
              <a:lnSpc>
                <a:spcPct val="108000"/>
              </a:lnSpc>
              <a:spcAft>
                <a:spcPts val="960"/>
              </a:spcAft>
            </a:pPr>
            <a:r>
              <a:rPr sz="1600" b="0" i="0">
                <a:solidFill>
                  <a:srgbClr val="000000"/>
                </a:solidFill>
                <a:latin typeface="Arial"/>
              </a:rPr>
              <a:t>Sun and colleagues used 4 µm tissue sections stained with hematoxylin and eosin. Their labeled sections distinguish photoreceptor tissue, nuclear layers, the ganglion-cell region, lens, and other ocular structures. This preparation describes tissue organization rather than directly measuring visual resolution.</a:t>
            </a:r>
          </a:p>
          <a:p>
            <a:pPr algn="l">
              <a:lnSpc>
                <a:spcPct val="108000"/>
              </a:lnSpc>
              <a:spcAft>
                <a:spcPts val="960"/>
              </a:spcAft>
            </a:pPr>
            <a:r>
              <a:rPr sz="1600" b="0" i="0">
                <a:solidFill>
                  <a:srgbClr val="000000"/>
                </a:solidFill>
                <a:latin typeface="Arial"/>
              </a:rPr>
              <a:t>The same newborn animals performed successful visual prey capture. Retinal differentiation and feeding competence therefore coexist at release, while later growth enlarges an already organized eye.</a:t>
            </a:r>
          </a:p>
        </p:txBody>
      </p:sp>
      <p:pic>
        <p:nvPicPr>
          <p:cNvPr id="4" name="Picture 3" descr="retina_ab.png"/>
          <p:cNvPicPr>
            <a:picLocks noChangeAspect="1"/>
          </p:cNvPicPr>
          <p:nvPr/>
        </p:nvPicPr>
        <p:blipFill>
          <a:blip r:embed="rId2"/>
          <a:stretch>
            <a:fillRect/>
          </a:stretch>
        </p:blipFill>
        <p:spPr>
          <a:xfrm>
            <a:off x="6504127" y="1280160"/>
            <a:ext cx="5120640" cy="1157404"/>
          </a:xfrm>
          <a:prstGeom prst="rect">
            <a:avLst/>
          </a:prstGeom>
        </p:spPr>
      </p:pic>
      <p:sp>
        <p:nvSpPr>
          <p:cNvPr id="5" name="Figure caption"/>
          <p:cNvSpPr txBox="1"/>
          <p:nvPr/>
        </p:nvSpPr>
        <p:spPr>
          <a:xfrm>
            <a:off x="6504127" y="252900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4A–B. Newborn eye and labeled retinal layers.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Eye growth preserves the early retinal organization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From 3 to 30 days after birth, juvenile lined seahorse eyes increased in diameter as the animals grew. Sun and colleagues reported no major rearrangement of the retinal histology during this period. Growth enlarged the organ while preserving its recognizable internal organization.</a:t>
            </a:r>
          </a:p>
          <a:p>
            <a:pPr algn="l">
              <a:lnSpc>
                <a:spcPct val="108000"/>
              </a:lnSpc>
              <a:spcAft>
                <a:spcPts val="960"/>
              </a:spcAft>
            </a:pPr>
            <a:r>
              <a:rPr sz="1600" b="0" i="0">
                <a:solidFill>
                  <a:srgbClr val="000000"/>
                </a:solidFill>
                <a:latin typeface="Arial"/>
              </a:rPr>
              <a:t>The retina was therefore unlike a sensory system that acquires its basic tissue layers only after feeding begins. At birth, the animal already combined an organized eye with successful capture; later increases in capture performance occurred while the existing retinal architecture remained recognizable.</a:t>
            </a:r>
          </a:p>
          <a:p>
            <a:pPr algn="l">
              <a:lnSpc>
                <a:spcPct val="108000"/>
              </a:lnSpc>
              <a:spcAft>
                <a:spcPts val="960"/>
              </a:spcAft>
            </a:pPr>
            <a:r>
              <a:rPr sz="1600" b="0" i="0">
                <a:solidFill>
                  <a:srgbClr val="000000"/>
                </a:solidFill>
                <a:latin typeface="Arial"/>
              </a:rPr>
              <a:t>Feeding development involved several tissues at once. Eye enlargement accompanied snout growth, increasing attack distance, and maturation of the digestive tract, so behavioral improvement belonged to the developing animal as a whole.</a:t>
            </a:r>
          </a:p>
        </p:txBody>
      </p:sp>
      <p:pic>
        <p:nvPicPr>
          <p:cNvPr id="4" name="Picture 3" descr="retina_cf.png"/>
          <p:cNvPicPr>
            <a:picLocks noChangeAspect="1"/>
          </p:cNvPicPr>
          <p:nvPr/>
        </p:nvPicPr>
        <p:blipFill>
          <a:blip r:embed="rId2"/>
          <a:stretch>
            <a:fillRect/>
          </a:stretch>
        </p:blipFill>
        <p:spPr>
          <a:xfrm>
            <a:off x="6504127" y="1280160"/>
            <a:ext cx="5120640" cy="1167865"/>
          </a:xfrm>
          <a:prstGeom prst="rect">
            <a:avLst/>
          </a:prstGeom>
        </p:spPr>
      </p:pic>
      <p:sp>
        <p:nvSpPr>
          <p:cNvPr id="5" name="Figure caption"/>
          <p:cNvSpPr txBox="1"/>
          <p:nvPr/>
        </p:nvSpPr>
        <p:spPr>
          <a:xfrm>
            <a:off x="6504127" y="25394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4C–F. Eye growth from 3 to 30 days after birth.</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seahorse brain retains five major divisions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brain of </a:t>
            </a:r>
            <a:r>
              <a:rPr sz="1600" b="0" i="1">
                <a:solidFill>
                  <a:srgbClr val="000000"/>
                </a:solidFill>
                <a:latin typeface="Arial"/>
              </a:rPr>
              <a:t>Hippocampus barbouri</a:t>
            </a:r>
            <a:r>
              <a:rPr sz="1600" b="0" i="0">
                <a:solidFill>
                  <a:srgbClr val="000000"/>
                </a:solidFill>
                <a:latin typeface="Arial"/>
              </a:rPr>
              <a:t> contains the </a:t>
            </a:r>
            <a:r>
              <a:rPr sz="1600" b="1" i="0">
                <a:solidFill>
                  <a:srgbClr val="3F525A"/>
                </a:solidFill>
                <a:latin typeface="Arial"/>
              </a:rPr>
              <a:t>telencephalon</a:t>
            </a:r>
            <a:r>
              <a:rPr sz="1600" b="0" i="0">
                <a:solidFill>
                  <a:srgbClr val="000000"/>
                </a:solidFill>
                <a:latin typeface="Arial"/>
              </a:rPr>
              <a:t>, forebrain tissue including the cerebral hemispheres; the diencephalon; the mesencephalon or midbrain; the metencephalon; and the myelencephalon. Senarat and colleagues identified these divisions in sagittal histological sections, which cut along the head-to-tail axis.</a:t>
            </a:r>
          </a:p>
          <a:p>
            <a:pPr algn="l">
              <a:lnSpc>
                <a:spcPct val="108000"/>
              </a:lnSpc>
              <a:spcAft>
                <a:spcPts val="960"/>
              </a:spcAft>
            </a:pPr>
            <a:r>
              <a:rPr sz="1600" b="0" i="0">
                <a:solidFill>
                  <a:srgbClr val="000000"/>
                </a:solidFill>
                <a:latin typeface="Arial"/>
              </a:rPr>
              <a:t>The diencephalon contains the hypothalamus, while the midbrain contains the optic tectum. The metencephalon includes the cerebellum, and the myelencephalon includes the medulla, which continues toward the spinal cord. The unusual external body shape therefore accompanies a recognizable teleost brain arrangement.</a:t>
            </a:r>
          </a:p>
          <a:p>
            <a:pPr algn="l">
              <a:lnSpc>
                <a:spcPct val="108000"/>
              </a:lnSpc>
              <a:spcAft>
                <a:spcPts val="960"/>
              </a:spcAft>
            </a:pPr>
            <a:r>
              <a:rPr sz="1600" b="0" i="0">
                <a:solidFill>
                  <a:srgbClr val="000000"/>
                </a:solidFill>
                <a:latin typeface="Arial"/>
              </a:rPr>
              <a:t>The study compared tissue organization from 1 to 35 days after birth. Early sections were compact, whereas later sections distinguished the regional and cellular features of these divisions.</a:t>
            </a:r>
          </a:p>
        </p:txBody>
      </p:sp>
      <p:pic>
        <p:nvPicPr>
          <p:cNvPr id="4" name="Picture 3" descr="b13.png"/>
          <p:cNvPicPr>
            <a:picLocks noChangeAspect="1"/>
          </p:cNvPicPr>
          <p:nvPr/>
        </p:nvPicPr>
        <p:blipFill>
          <a:blip r:embed="rId2"/>
          <a:stretch>
            <a:fillRect/>
          </a:stretch>
        </p:blipFill>
        <p:spPr>
          <a:xfrm>
            <a:off x="6504127" y="1280160"/>
            <a:ext cx="5120640" cy="2284378"/>
          </a:xfrm>
          <a:prstGeom prst="rect">
            <a:avLst/>
          </a:prstGeom>
        </p:spPr>
      </p:pic>
      <p:sp>
        <p:nvSpPr>
          <p:cNvPr id="5" name="Figure caption"/>
          <p:cNvSpPr txBox="1"/>
          <p:nvPr/>
        </p:nvSpPr>
        <p:spPr>
          <a:xfrm>
            <a:off x="6504127" y="36559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13. Sagittal brain histology with the five major divisions.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optic tectum is a prominent brain region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525A"/>
                </a:solidFill>
                <a:latin typeface="Arial"/>
              </a:rPr>
              <a:t>optic tectum</a:t>
            </a:r>
            <a:r>
              <a:rPr sz="1600" b="0" i="0">
                <a:solidFill>
                  <a:srgbClr val="000000"/>
                </a:solidFill>
                <a:latin typeface="Arial"/>
              </a:rPr>
              <a:t>, a midbrain region associated with visual orientation and multisensory processing in fishes, was the most prominent gross brain region in the examined </a:t>
            </a:r>
            <a:r>
              <a:rPr sz="1600" b="0" i="1">
                <a:solidFill>
                  <a:srgbClr val="000000"/>
                </a:solidFill>
                <a:latin typeface="Arial"/>
              </a:rPr>
              <a:t>Hippocampus barbouri</a:t>
            </a:r>
            <a:r>
              <a:rPr sz="1600" b="0" i="0">
                <a:solidFill>
                  <a:srgbClr val="000000"/>
                </a:solidFill>
                <a:latin typeface="Arial"/>
              </a:rPr>
              <a:t>. It lay between the anterior cerebral hemispheres and the posterior cerebellum.</a:t>
            </a:r>
          </a:p>
          <a:p>
            <a:pPr algn="l">
              <a:lnSpc>
                <a:spcPct val="108000"/>
              </a:lnSpc>
              <a:spcAft>
                <a:spcPts val="960"/>
              </a:spcAft>
            </a:pPr>
            <a:r>
              <a:rPr sz="1600" b="0" i="0">
                <a:solidFill>
                  <a:srgbClr val="000000"/>
                </a:solidFill>
                <a:latin typeface="Arial"/>
              </a:rPr>
              <a:t>Senarat and colleagues combined dissections, photographs, measurements, and stained tissue sections. In their 35-day animals, the tectum measured about 1,220 µm in length, compared with a cerebellar length of about 714 µm. These measurements describe regional anatomy in that developmental sample.</a:t>
            </a:r>
          </a:p>
          <a:p>
            <a:pPr algn="l">
              <a:lnSpc>
                <a:spcPct val="108000"/>
              </a:lnSpc>
              <a:spcAft>
                <a:spcPts val="960"/>
              </a:spcAft>
            </a:pPr>
            <a:r>
              <a:rPr sz="1600" b="0" i="0">
                <a:solidFill>
                  <a:srgbClr val="000000"/>
                </a:solidFill>
                <a:latin typeface="Arial"/>
              </a:rPr>
              <a:t>The authors proposed that the prominent tectum relates to visually guided feeding on mobile prey. This is an anatomical hypothesis connecting brain organization to behavior, rather than a recorded seahorse visual-neuron response.</a:t>
            </a:r>
          </a:p>
        </p:txBody>
      </p:sp>
      <p:pic>
        <p:nvPicPr>
          <p:cNvPr id="4" name="Picture 3" descr="b7.png"/>
          <p:cNvPicPr>
            <a:picLocks noChangeAspect="1"/>
          </p:cNvPicPr>
          <p:nvPr/>
        </p:nvPicPr>
        <p:blipFill>
          <a:blip r:embed="rId2"/>
          <a:stretch>
            <a:fillRect/>
          </a:stretch>
        </p:blipFill>
        <p:spPr>
          <a:xfrm>
            <a:off x="6878499" y="1280160"/>
            <a:ext cx="4006134"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4. Gross brain anatomy with a prominent optic tectum.</a:t>
            </a:r>
          </a:p>
        </p:txBody>
      </p:sp>
      <p:pic>
        <p:nvPicPr>
          <p:cNvPr id="6" name="Picture 5" descr="b13.png"/>
          <p:cNvPicPr>
            <a:picLocks noChangeAspect="1"/>
          </p:cNvPicPr>
          <p:nvPr/>
        </p:nvPicPr>
        <p:blipFill>
          <a:blip r:embed="rId3"/>
          <a:stretch>
            <a:fillRect/>
          </a:stretch>
        </p:blipFill>
        <p:spPr>
          <a:xfrm>
            <a:off x="6780614" y="3886200"/>
            <a:ext cx="420190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13. Sagittal brain histology with the five major divisions.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tectum contains five histological layers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F525A"/>
                </a:solidFill>
                <a:latin typeface="Arial"/>
              </a:rPr>
              <a:t>Laminar organization</a:t>
            </a:r>
            <a:r>
              <a:rPr sz="1700" b="0" i="0">
                <a:solidFill>
                  <a:srgbClr val="000000"/>
                </a:solidFill>
                <a:latin typeface="Arial"/>
              </a:rPr>
              <a:t> means that neural tissue is arranged in layers with different cellular and fiber composition. Senarat and colleagues recognized five layers in the seahorse optic tectum: stratum marginale, stratum opticum, stratum album centrale, stratum griseum centrale, and stratum periventriculare.</a:t>
            </a:r>
          </a:p>
          <a:p>
            <a:pPr algn="l">
              <a:lnSpc>
                <a:spcPct val="108000"/>
              </a:lnSpc>
              <a:spcAft>
                <a:spcPts val="1019"/>
              </a:spcAft>
            </a:pPr>
            <a:r>
              <a:rPr sz="1700" b="0" i="0">
                <a:solidFill>
                  <a:srgbClr val="000000"/>
                </a:solidFill>
                <a:latin typeface="Arial"/>
              </a:rPr>
              <a:t>These layers extend from the outer tectal surface toward the ventricular region. Their differences in neuronal density and fiber organization divide the tissue into distinct anatomical compartments. The published micrographs preserve this organization at a scale of tens of micrometers.</a:t>
            </a:r>
          </a:p>
          <a:p>
            <a:pPr algn="l">
              <a:lnSpc>
                <a:spcPct val="108000"/>
              </a:lnSpc>
              <a:spcAft>
                <a:spcPts val="1019"/>
              </a:spcAft>
            </a:pPr>
            <a:r>
              <a:rPr sz="1700" b="0" i="0">
                <a:solidFill>
                  <a:srgbClr val="000000"/>
                </a:solidFill>
                <a:latin typeface="Arial"/>
              </a:rPr>
              <a:t>The five-layer pattern was clear by 35 days after birth. Earlier tissue was less differentiated, so the layered tectum emerged during postnatal brain development while the animal continued growing.</a:t>
            </a:r>
          </a:p>
        </p:txBody>
      </p:sp>
      <p:pic>
        <p:nvPicPr>
          <p:cNvPr id="4" name="Picture 3" descr="b20.png"/>
          <p:cNvPicPr>
            <a:picLocks noChangeAspect="1"/>
          </p:cNvPicPr>
          <p:nvPr/>
        </p:nvPicPr>
        <p:blipFill>
          <a:blip r:embed="rId2"/>
          <a:stretch>
            <a:fillRect/>
          </a:stretch>
        </p:blipFill>
        <p:spPr>
          <a:xfrm>
            <a:off x="6504127" y="1280160"/>
            <a:ext cx="5120640" cy="3840480"/>
          </a:xfrm>
          <a:prstGeom prst="rect">
            <a:avLst/>
          </a:prstGeom>
        </p:spPr>
      </p:pic>
      <p:sp>
        <p:nvSpPr>
          <p:cNvPr id="5" name="Figure caption"/>
          <p:cNvSpPr txBox="1"/>
          <p:nvPr/>
        </p:nvSpPr>
        <p:spPr>
          <a:xfrm>
            <a:off x="6504127" y="52120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20. Five histologically identified tectal layers.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Tectal vascularization increases during development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Capillaries</a:t>
            </a:r>
            <a:r>
              <a:rPr sz="1600" b="0" i="0">
                <a:solidFill>
                  <a:srgbClr val="000000"/>
                </a:solidFill>
                <a:latin typeface="Arial"/>
              </a:rPr>
              <a:t> are small blood vessels supplying tissues. In </a:t>
            </a:r>
            <a:r>
              <a:rPr sz="1600" b="0" i="1">
                <a:solidFill>
                  <a:srgbClr val="000000"/>
                </a:solidFill>
                <a:latin typeface="Arial"/>
              </a:rPr>
              <a:t>Hippocampus barbouri</a:t>
            </a:r>
            <a:r>
              <a:rPr sz="1600" b="0" i="0">
                <a:solidFill>
                  <a:srgbClr val="000000"/>
                </a:solidFill>
                <a:latin typeface="Arial"/>
              </a:rPr>
              <a:t>, tectal capillaries became more apparent at 6 days after birth, and small vessels were conspicuous by 14 days. At 35 days, the tectum was highly vascularized and its five layers were distinguishable.</a:t>
            </a:r>
          </a:p>
          <a:p>
            <a:pPr algn="l">
              <a:lnSpc>
                <a:spcPct val="108000"/>
              </a:lnSpc>
              <a:spcAft>
                <a:spcPts val="960"/>
              </a:spcAft>
            </a:pPr>
            <a:r>
              <a:rPr sz="1600" b="0" i="0">
                <a:solidFill>
                  <a:srgbClr val="000000"/>
                </a:solidFill>
                <a:latin typeface="Arial"/>
              </a:rPr>
              <a:t>Senarat and colleagues followed these changes in stained sections. Vascular development occurred together with regional differentiation, linking the growth of neural tissue to the organization of its blood supply. The two features progressed within the same developmental sequence.</a:t>
            </a:r>
          </a:p>
          <a:p>
            <a:pPr algn="l">
              <a:lnSpc>
                <a:spcPct val="108000"/>
              </a:lnSpc>
              <a:spcAft>
                <a:spcPts val="960"/>
              </a:spcAft>
            </a:pPr>
            <a:r>
              <a:rPr sz="1600" b="0" i="0">
                <a:solidFill>
                  <a:srgbClr val="000000"/>
                </a:solidFill>
                <a:latin typeface="Arial"/>
              </a:rPr>
              <a:t>The authors hypothesized that increasing brain differentiation supports developing predatory ability. The age-dependent vascular and tissue changes provide an anatomical description of maturation, while prey-capture timing requires the separate behavioral evidence.</a:t>
            </a:r>
          </a:p>
        </p:txBody>
      </p:sp>
      <p:pic>
        <p:nvPicPr>
          <p:cNvPr id="4" name="Picture 3" descr="b44.png"/>
          <p:cNvPicPr>
            <a:picLocks noChangeAspect="1"/>
          </p:cNvPicPr>
          <p:nvPr/>
        </p:nvPicPr>
        <p:blipFill>
          <a:blip r:embed="rId2"/>
          <a:stretch>
            <a:fillRect/>
          </a:stretch>
        </p:blipFill>
        <p:spPr>
          <a:xfrm>
            <a:off x="8065226" y="1280160"/>
            <a:ext cx="163268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44. Tectal capillaries at 6 days after birth.</a:t>
            </a:r>
          </a:p>
        </p:txBody>
      </p:sp>
      <p:pic>
        <p:nvPicPr>
          <p:cNvPr id="6" name="Picture 5" descr="b50.png"/>
          <p:cNvPicPr>
            <a:picLocks noChangeAspect="1"/>
          </p:cNvPicPr>
          <p:nvPr/>
        </p:nvPicPr>
        <p:blipFill>
          <a:blip r:embed="rId3"/>
          <a:stretch>
            <a:fillRect/>
          </a:stretch>
        </p:blipFill>
        <p:spPr>
          <a:xfrm>
            <a:off x="7502249" y="3886200"/>
            <a:ext cx="2758636"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50. Vascularized tectum with five layers at 35 days.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cerebellum has three distinct cellular layers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525A"/>
                </a:solidFill>
                <a:latin typeface="Arial"/>
              </a:rPr>
              <a:t>cerebellum</a:t>
            </a:r>
            <a:r>
              <a:rPr sz="1600" b="0" i="0">
                <a:solidFill>
                  <a:srgbClr val="000000"/>
                </a:solidFill>
                <a:latin typeface="Arial"/>
              </a:rPr>
              <a:t> lies behind the optic tectum in the seahorse brain. In 35-day </a:t>
            </a:r>
            <a:r>
              <a:rPr sz="1600" b="0" i="1">
                <a:solidFill>
                  <a:srgbClr val="000000"/>
                </a:solidFill>
                <a:latin typeface="Arial"/>
              </a:rPr>
              <a:t>Hippocampus barbouri</a:t>
            </a:r>
            <a:r>
              <a:rPr sz="1600" b="0" i="0">
                <a:solidFill>
                  <a:srgbClr val="000000"/>
                </a:solidFill>
                <a:latin typeface="Arial"/>
              </a:rPr>
              <a:t>, it contained an outer molecular layer, a Purkinje-cell layer, and an inner granular layer. This organization separates dendritic tissue from identifiable neuronal populations.</a:t>
            </a:r>
          </a:p>
          <a:p>
            <a:pPr algn="l">
              <a:lnSpc>
                <a:spcPct val="108000"/>
              </a:lnSpc>
              <a:spcAft>
                <a:spcPts val="960"/>
              </a:spcAft>
            </a:pPr>
            <a:r>
              <a:rPr sz="1600" b="0" i="0">
                <a:solidFill>
                  <a:srgbClr val="000000"/>
                </a:solidFill>
                <a:latin typeface="Arial"/>
              </a:rPr>
              <a:t>The molecular layer contained many dendritic fibers. </a:t>
            </a:r>
            <a:r>
              <a:rPr sz="1600" b="1" i="0">
                <a:solidFill>
                  <a:srgbClr val="3F525A"/>
                </a:solidFill>
                <a:latin typeface="Arial"/>
              </a:rPr>
              <a:t>Dendrites</a:t>
            </a:r>
            <a:r>
              <a:rPr sz="1600" b="0" i="0">
                <a:solidFill>
                  <a:srgbClr val="000000"/>
                </a:solidFill>
                <a:latin typeface="Arial"/>
              </a:rPr>
              <a:t> are neuronal processes that receive synaptic input. Synapses are junctions through which neurons communicate. The middle layer contained conspicuous Purkinje cells, while the granular layer contained densely arranged smaller principal neurons. Senarat and colleagues identified these regions using light microscopy.</a:t>
            </a:r>
          </a:p>
          <a:p>
            <a:pPr algn="l">
              <a:lnSpc>
                <a:spcPct val="108000"/>
              </a:lnSpc>
              <a:spcAft>
                <a:spcPts val="960"/>
              </a:spcAft>
            </a:pPr>
            <a:r>
              <a:rPr sz="1600" b="0" i="0">
                <a:solidFill>
                  <a:srgbClr val="000000"/>
                </a:solidFill>
                <a:latin typeface="Arial"/>
              </a:rPr>
              <a:t>Cerebellar differentiation continued after birth rather than appearing fully mature in the youngest animals. Increasing prominence of Purkinje cells and their dendrites accompanied the emergence of the layered tissue organization.</a:t>
            </a:r>
          </a:p>
        </p:txBody>
      </p:sp>
      <p:pic>
        <p:nvPicPr>
          <p:cNvPr id="4" name="Picture 3" descr="b30.png"/>
          <p:cNvPicPr>
            <a:picLocks noChangeAspect="1"/>
          </p:cNvPicPr>
          <p:nvPr/>
        </p:nvPicPr>
        <p:blipFill>
          <a:blip r:embed="rId2"/>
          <a:stretch>
            <a:fillRect/>
          </a:stretch>
        </p:blipFill>
        <p:spPr>
          <a:xfrm>
            <a:off x="7520406" y="1280160"/>
            <a:ext cx="272232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30. Cerebellum behind the optic tectum.</a:t>
            </a:r>
          </a:p>
        </p:txBody>
      </p:sp>
      <p:pic>
        <p:nvPicPr>
          <p:cNvPr id="6" name="Picture 5" descr="b31.png"/>
          <p:cNvPicPr>
            <a:picLocks noChangeAspect="1"/>
          </p:cNvPicPr>
          <p:nvPr/>
        </p:nvPicPr>
        <p:blipFill>
          <a:blip r:embed="rId3"/>
          <a:stretch>
            <a:fillRect/>
          </a:stretch>
        </p:blipFill>
        <p:spPr>
          <a:xfrm>
            <a:off x="8133606" y="3886200"/>
            <a:ext cx="149592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31. Molecular, Purkinje-cell, and granular cerebellar layers.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Purkinje cells become conspicuous after birth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Purkinje cells</a:t>
            </a:r>
            <a:r>
              <a:rPr sz="1600" b="0" i="0">
                <a:solidFill>
                  <a:srgbClr val="000000"/>
                </a:solidFill>
                <a:latin typeface="Arial"/>
              </a:rPr>
              <a:t> are the large neurons occupying the middle layer of the cerebellar cortex. They were difficult to identify in the earliest </a:t>
            </a:r>
            <a:r>
              <a:rPr sz="1600" b="0" i="1">
                <a:solidFill>
                  <a:srgbClr val="000000"/>
                </a:solidFill>
                <a:latin typeface="Arial"/>
              </a:rPr>
              <a:t>Hippocampus barbouri</a:t>
            </a:r>
            <a:r>
              <a:rPr sz="1600" b="0" i="0">
                <a:solidFill>
                  <a:srgbClr val="000000"/>
                </a:solidFill>
                <a:latin typeface="Arial"/>
              </a:rPr>
              <a:t> sections, became apparent by 14 days after birth, and were prominent by 35 days.</a:t>
            </a:r>
          </a:p>
          <a:p>
            <a:pPr algn="l">
              <a:lnSpc>
                <a:spcPct val="108000"/>
              </a:lnSpc>
              <a:spcAft>
                <a:spcPts val="960"/>
              </a:spcAft>
            </a:pPr>
            <a:r>
              <a:rPr sz="1600" b="0" i="0">
                <a:solidFill>
                  <a:srgbClr val="000000"/>
                </a:solidFill>
                <a:latin typeface="Arial"/>
              </a:rPr>
              <a:t>The later cells possessed dendrites extending into the molecular layer, where the study described abundant dendritic fibers. Development therefore involved the emergence of recognizable neuronal shape as well as separation of the three cerebellar layers.</a:t>
            </a:r>
          </a:p>
          <a:p>
            <a:pPr algn="l">
              <a:lnSpc>
                <a:spcPct val="108000"/>
              </a:lnSpc>
              <a:spcAft>
                <a:spcPts val="960"/>
              </a:spcAft>
            </a:pPr>
            <a:r>
              <a:rPr sz="1600" b="0" i="0">
                <a:solidFill>
                  <a:srgbClr val="000000"/>
                </a:solidFill>
                <a:latin typeface="Arial"/>
              </a:rPr>
              <a:t>This cellular sequence occurred while tectal layers and blood vessels also became more distinct. Different neural regions matured over overlapping postnatal intervals, producing a more differentiated brain rather than a single abrupt anatomical transition.</a:t>
            </a:r>
          </a:p>
        </p:txBody>
      </p:sp>
      <p:pic>
        <p:nvPicPr>
          <p:cNvPr id="4" name="Picture 3" descr="b48.png"/>
          <p:cNvPicPr>
            <a:picLocks noChangeAspect="1"/>
          </p:cNvPicPr>
          <p:nvPr/>
        </p:nvPicPr>
        <p:blipFill>
          <a:blip r:embed="rId2"/>
          <a:stretch>
            <a:fillRect/>
          </a:stretch>
        </p:blipFill>
        <p:spPr>
          <a:xfrm>
            <a:off x="7401584" y="1280160"/>
            <a:ext cx="2959965"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48. Developing cerebellar Purkinje cells at 14 days.</a:t>
            </a:r>
          </a:p>
        </p:txBody>
      </p:sp>
      <p:pic>
        <p:nvPicPr>
          <p:cNvPr id="6" name="Picture 5" descr="b51.png"/>
          <p:cNvPicPr>
            <a:picLocks noChangeAspect="1"/>
          </p:cNvPicPr>
          <p:nvPr/>
        </p:nvPicPr>
        <p:blipFill>
          <a:blip r:embed="rId3"/>
          <a:stretch>
            <a:fillRect/>
          </a:stretch>
        </p:blipFill>
        <p:spPr>
          <a:xfrm>
            <a:off x="7738979" y="3886200"/>
            <a:ext cx="228517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51. Cerebellar Purkinje cells at 35 days.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Olfactory tissue occupies the anterior snout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Olfactory epithelium</a:t>
            </a:r>
            <a:r>
              <a:rPr sz="1600" b="0" i="0">
                <a:solidFill>
                  <a:srgbClr val="000000"/>
                </a:solidFill>
                <a:latin typeface="Arial"/>
              </a:rPr>
              <a:t> is sensory tissue associated with chemical detection. In </a:t>
            </a:r>
            <a:r>
              <a:rPr sz="1600" b="0" i="1">
                <a:solidFill>
                  <a:srgbClr val="000000"/>
                </a:solidFill>
                <a:latin typeface="Arial"/>
              </a:rPr>
              <a:t>Hippocampus barbouri</a:t>
            </a:r>
            <a:r>
              <a:rPr sz="1600" b="0" i="0">
                <a:solidFill>
                  <a:srgbClr val="000000"/>
                </a:solidFill>
                <a:latin typeface="Arial"/>
              </a:rPr>
              <a:t>, Senarat and colleagues identified olfactory tissue in the anterior snout, surrounding a cavity and containing ciliated sensory cells. The cilia were conspicuous in the higher-magnification sections.</a:t>
            </a:r>
          </a:p>
          <a:p>
            <a:pPr algn="l">
              <a:lnSpc>
                <a:spcPct val="108000"/>
              </a:lnSpc>
              <a:spcAft>
                <a:spcPts val="960"/>
              </a:spcAft>
            </a:pPr>
            <a:r>
              <a:rPr sz="1600" b="0" i="0">
                <a:solidFill>
                  <a:srgbClr val="000000"/>
                </a:solidFill>
                <a:latin typeface="Arial"/>
              </a:rPr>
              <a:t>The olfactory tract connected the anterior olfactory region with the forebrain. A </a:t>
            </a:r>
            <a:r>
              <a:rPr sz="1600" b="1" i="0">
                <a:solidFill>
                  <a:srgbClr val="3F525A"/>
                </a:solidFill>
                <a:latin typeface="Arial"/>
              </a:rPr>
              <a:t>tract</a:t>
            </a:r>
            <a:r>
              <a:rPr sz="1600" b="0" i="0">
                <a:solidFill>
                  <a:srgbClr val="000000"/>
                </a:solidFill>
                <a:latin typeface="Arial"/>
              </a:rPr>
              <a:t> is a bundle of nerve fibers linking regions. Gross and histological preparations therefore located both the peripheral sensory tissue and its connection toward the cerebral hemispheres.</a:t>
            </a:r>
          </a:p>
          <a:p>
            <a:pPr algn="l">
              <a:lnSpc>
                <a:spcPct val="108000"/>
              </a:lnSpc>
              <a:spcAft>
                <a:spcPts val="960"/>
              </a:spcAft>
            </a:pPr>
            <a:r>
              <a:rPr sz="1600" b="0" i="0">
                <a:solidFill>
                  <a:srgbClr val="000000"/>
                </a:solidFill>
                <a:latin typeface="Arial"/>
              </a:rPr>
              <a:t>Vision dominates the published prey-tracking observations, but the seahorse head also contains a distinct chemical-sensory apparatus. These sensory structures occupy different anatomical locations and can contribute different kinds of information during interactions with the environment.</a:t>
            </a:r>
          </a:p>
        </p:txBody>
      </p:sp>
      <p:pic>
        <p:nvPicPr>
          <p:cNvPr id="4" name="Picture 3" descr="b14.png"/>
          <p:cNvPicPr>
            <a:picLocks noChangeAspect="1"/>
          </p:cNvPicPr>
          <p:nvPr/>
        </p:nvPicPr>
        <p:blipFill>
          <a:blip r:embed="rId2"/>
          <a:stretch>
            <a:fillRect/>
          </a:stretch>
        </p:blipFill>
        <p:spPr>
          <a:xfrm>
            <a:off x="8015449" y="1280160"/>
            <a:ext cx="173223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14. Olfactory tissue in the snout.</a:t>
            </a:r>
          </a:p>
        </p:txBody>
      </p:sp>
      <p:pic>
        <p:nvPicPr>
          <p:cNvPr id="6" name="Picture 5" descr="b15.png"/>
          <p:cNvPicPr>
            <a:picLocks noChangeAspect="1"/>
          </p:cNvPicPr>
          <p:nvPr/>
        </p:nvPicPr>
        <p:blipFill>
          <a:blip r:embed="rId3"/>
          <a:stretch>
            <a:fillRect/>
          </a:stretch>
        </p:blipFill>
        <p:spPr>
          <a:xfrm>
            <a:off x="7696525" y="3886200"/>
            <a:ext cx="237008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15. Olfactory epithelium with ciliated sensory cells.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diencephalon includes endocrine-associated tissue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525A"/>
                </a:solidFill>
                <a:latin typeface="Arial"/>
              </a:rPr>
              <a:t>diencephalon</a:t>
            </a:r>
            <a:r>
              <a:rPr sz="1600" b="0" i="0">
                <a:solidFill>
                  <a:srgbClr val="000000"/>
                </a:solidFill>
                <a:latin typeface="Arial"/>
              </a:rPr>
              <a:t> lies beneath the midbrain and contains the epithalamus, thalamus, and hypothalamus. Senarat and colleagues distinguished these regions in stained </a:t>
            </a:r>
            <a:r>
              <a:rPr sz="1600" b="0" i="1">
                <a:solidFill>
                  <a:srgbClr val="000000"/>
                </a:solidFill>
                <a:latin typeface="Arial"/>
              </a:rPr>
              <a:t>Hippocampus barbouri</a:t>
            </a:r>
            <a:r>
              <a:rPr sz="1600" b="0" i="0">
                <a:solidFill>
                  <a:srgbClr val="000000"/>
                </a:solidFill>
                <a:latin typeface="Arial"/>
              </a:rPr>
              <a:t> sections. The hypothalamus was the dominant portion of this division in their anatomical description.</a:t>
            </a:r>
          </a:p>
          <a:p>
            <a:pPr algn="l">
              <a:lnSpc>
                <a:spcPct val="108000"/>
              </a:lnSpc>
              <a:spcAft>
                <a:spcPts val="960"/>
              </a:spcAft>
            </a:pPr>
            <a:r>
              <a:rPr sz="1600" b="0" i="0">
                <a:solidFill>
                  <a:srgbClr val="000000"/>
                </a:solidFill>
                <a:latin typeface="Arial"/>
              </a:rPr>
              <a:t>The three diencephalic regions occupied distinct positions beneath the midbrain. The thalamus lay between the epithalamus and hypothalamus and contained neuronal cell bodies, supporting glial cells, and nerve fibers. </a:t>
            </a:r>
            <a:r>
              <a:rPr sz="1600" b="1" i="0">
                <a:solidFill>
                  <a:srgbClr val="3F525A"/>
                </a:solidFill>
                <a:latin typeface="Arial"/>
              </a:rPr>
              <a:t>Glial cells</a:t>
            </a:r>
            <a:r>
              <a:rPr sz="1600" b="0" i="0">
                <a:solidFill>
                  <a:srgbClr val="000000"/>
                </a:solidFill>
                <a:latin typeface="Arial"/>
              </a:rPr>
              <a:t> are non-neuronal cells that support neural tissue; they were recognizable alongside neurons in several brain regions.</a:t>
            </a:r>
          </a:p>
          <a:p>
            <a:pPr algn="l">
              <a:lnSpc>
                <a:spcPct val="108000"/>
              </a:lnSpc>
              <a:spcAft>
                <a:spcPts val="960"/>
              </a:spcAft>
            </a:pPr>
            <a:r>
              <a:rPr sz="1600" b="0" i="0">
                <a:solidFill>
                  <a:srgbClr val="000000"/>
                </a:solidFill>
                <a:latin typeface="Arial"/>
              </a:rPr>
              <a:t>The hypothalamus contained neurosecretory cell populations and was anatomically associated with the pituitary. This regional arrangement places hormone-related tissue within the same brain that contains the visual and motor-associated structures.</a:t>
            </a:r>
          </a:p>
        </p:txBody>
      </p:sp>
      <p:pic>
        <p:nvPicPr>
          <p:cNvPr id="4" name="Picture 3" descr="b21.png"/>
          <p:cNvPicPr>
            <a:picLocks noChangeAspect="1"/>
          </p:cNvPicPr>
          <p:nvPr/>
        </p:nvPicPr>
        <p:blipFill>
          <a:blip r:embed="rId2"/>
          <a:stretch>
            <a:fillRect/>
          </a:stretch>
        </p:blipFill>
        <p:spPr>
          <a:xfrm>
            <a:off x="6504127" y="1280160"/>
            <a:ext cx="5120640" cy="3838398"/>
          </a:xfrm>
          <a:prstGeom prst="rect">
            <a:avLst/>
          </a:prstGeom>
        </p:spPr>
      </p:pic>
      <p:sp>
        <p:nvSpPr>
          <p:cNvPr id="5" name="Figure caption"/>
          <p:cNvSpPr txBox="1"/>
          <p:nvPr/>
        </p:nvSpPr>
        <p:spPr>
          <a:xfrm>
            <a:off x="6504127" y="520999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21. Epithalamus, thalamus, and hypothalamus.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Hypothalamic and pituitary tissues are differentiated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F525A"/>
                </a:solidFill>
                <a:latin typeface="Arial"/>
              </a:rPr>
              <a:t>Neurosecretory cells</a:t>
            </a:r>
            <a:r>
              <a:rPr sz="1500" b="0" i="0">
                <a:solidFill>
                  <a:srgbClr val="000000"/>
                </a:solidFill>
                <a:latin typeface="Arial"/>
              </a:rPr>
              <a:t> are neural cells specialized to produce secreted signaling molecules. Senarat and colleagues described such cell populations in the seahorse hypothalamus, including periventricular and lateral tuberal regions. These locations differed from the layered optic tectum and cerebellum.</a:t>
            </a:r>
          </a:p>
          <a:p>
            <a:pPr algn="l">
              <a:lnSpc>
                <a:spcPct val="108000"/>
              </a:lnSpc>
              <a:spcAft>
                <a:spcPts val="900"/>
              </a:spcAft>
            </a:pPr>
            <a:r>
              <a:rPr sz="1500" b="0" i="0">
                <a:solidFill>
                  <a:srgbClr val="000000"/>
                </a:solidFill>
                <a:latin typeface="Arial"/>
              </a:rPr>
              <a:t>The pituitary contained a neural region, the </a:t>
            </a:r>
            <a:r>
              <a:rPr sz="1500" b="1" i="0">
                <a:solidFill>
                  <a:srgbClr val="3F525A"/>
                </a:solidFill>
                <a:latin typeface="Arial"/>
              </a:rPr>
              <a:t>neurohypophysis</a:t>
            </a:r>
            <a:r>
              <a:rPr sz="1500" b="0" i="0">
                <a:solidFill>
                  <a:srgbClr val="000000"/>
                </a:solidFill>
                <a:latin typeface="Arial"/>
              </a:rPr>
              <a:t>, and a glandular region, the adenohypophysis. Histological sections distinguished their tissue organization, providing an anatomical basis for separating neural hormone-associated tissue from glandular endocrine tissue.</a:t>
            </a:r>
          </a:p>
          <a:p>
            <a:pPr algn="l">
              <a:lnSpc>
                <a:spcPct val="108000"/>
              </a:lnSpc>
              <a:spcAft>
                <a:spcPts val="900"/>
              </a:spcAft>
            </a:pPr>
            <a:r>
              <a:rPr sz="1500" b="0" i="0">
                <a:solidFill>
                  <a:srgbClr val="000000"/>
                </a:solidFill>
                <a:latin typeface="Arial"/>
              </a:rPr>
              <a:t>During development, pituitary glandular tissue became conspicuous by 14 days after birth. Neural, vascular, and endocrine-associated structures therefore differentiated over overlapping intervals, while later reproductive experiments examined how peptide signals altered pituitary gene expression.</a:t>
            </a:r>
          </a:p>
        </p:txBody>
      </p:sp>
      <p:pic>
        <p:nvPicPr>
          <p:cNvPr id="4" name="Picture 3" descr="b25.png"/>
          <p:cNvPicPr>
            <a:picLocks noChangeAspect="1"/>
          </p:cNvPicPr>
          <p:nvPr/>
        </p:nvPicPr>
        <p:blipFill>
          <a:blip r:embed="rId2"/>
          <a:stretch>
            <a:fillRect/>
          </a:stretch>
        </p:blipFill>
        <p:spPr>
          <a:xfrm>
            <a:off x="8123142" y="1280160"/>
            <a:ext cx="1516849"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25. Periventricular hypothalamic cell population.</a:t>
            </a:r>
          </a:p>
        </p:txBody>
      </p:sp>
      <p:pic>
        <p:nvPicPr>
          <p:cNvPr id="6" name="Picture 5" descr="b27.png"/>
          <p:cNvPicPr>
            <a:picLocks noChangeAspect="1"/>
          </p:cNvPicPr>
          <p:nvPr/>
        </p:nvPicPr>
        <p:blipFill>
          <a:blip r:embed="rId3"/>
          <a:stretch>
            <a:fillRect/>
          </a:stretch>
        </p:blipFill>
        <p:spPr>
          <a:xfrm>
            <a:off x="7751273" y="3886200"/>
            <a:ext cx="226058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27. Neural and glandular regions of the pituitary.</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hindbrain continues into the spinal cord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F525A"/>
                </a:solidFill>
                <a:latin typeface="Arial"/>
              </a:rPr>
              <a:t>medulla oblongata</a:t>
            </a:r>
            <a:r>
              <a:rPr sz="1600" b="0" i="0">
                <a:solidFill>
                  <a:srgbClr val="000000"/>
                </a:solidFill>
                <a:latin typeface="Arial"/>
              </a:rPr>
              <a:t> is the posterior brain region that continues toward the spinal cord. In </a:t>
            </a:r>
            <a:r>
              <a:rPr sz="1600" b="0" i="1">
                <a:solidFill>
                  <a:srgbClr val="000000"/>
                </a:solidFill>
                <a:latin typeface="Arial"/>
              </a:rPr>
              <a:t>Hippocampus barbouri</a:t>
            </a:r>
            <a:r>
              <a:rPr sz="1600" b="0" i="0">
                <a:solidFill>
                  <a:srgbClr val="000000"/>
                </a:solidFill>
                <a:latin typeface="Arial"/>
              </a:rPr>
              <a:t>, the medulla contained neurons and glial cells, with the fourth ventricle bordering part of the tissue. Senarat and colleagues followed this continuity in sagittal sections.</a:t>
            </a:r>
          </a:p>
          <a:p>
            <a:pPr algn="l">
              <a:lnSpc>
                <a:spcPct val="108000"/>
              </a:lnSpc>
              <a:spcAft>
                <a:spcPts val="960"/>
              </a:spcAft>
            </a:pPr>
            <a:r>
              <a:rPr sz="1600" b="0" i="0">
                <a:solidFill>
                  <a:srgbClr val="000000"/>
                </a:solidFill>
                <a:latin typeface="Arial"/>
              </a:rPr>
              <a:t>The spinal cord extended through the vertebral column. Cross-sections contained central neural tissue and a central canal, the fluid-containing channel continuous with the brain ventricles. The canal boundary included ependymal cells, which line these internal fluid spaces.</a:t>
            </a:r>
          </a:p>
          <a:p>
            <a:pPr algn="l">
              <a:lnSpc>
                <a:spcPct val="108000"/>
              </a:lnSpc>
              <a:spcAft>
                <a:spcPts val="960"/>
              </a:spcAft>
            </a:pPr>
            <a:r>
              <a:rPr sz="1600" b="0" i="0">
                <a:solidFill>
                  <a:srgbClr val="000000"/>
                </a:solidFill>
                <a:latin typeface="Arial"/>
              </a:rPr>
              <a:t>The brain and spinal cord form a continuous central nervous system. Within spinal tissue, neurons and glial cells occupied the region surrounding the central canal, extending cellular organization along the brain-to-body axis.</a:t>
            </a:r>
          </a:p>
        </p:txBody>
      </p:sp>
      <p:pic>
        <p:nvPicPr>
          <p:cNvPr id="4" name="Picture 3" descr="b32.png"/>
          <p:cNvPicPr>
            <a:picLocks noChangeAspect="1"/>
          </p:cNvPicPr>
          <p:nvPr/>
        </p:nvPicPr>
        <p:blipFill>
          <a:blip r:embed="rId2"/>
          <a:stretch>
            <a:fillRect/>
          </a:stretch>
        </p:blipFill>
        <p:spPr>
          <a:xfrm>
            <a:off x="8525029" y="1280160"/>
            <a:ext cx="71307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32. Sagittal brain section extending into the medulla.</a:t>
            </a:r>
          </a:p>
        </p:txBody>
      </p:sp>
      <p:pic>
        <p:nvPicPr>
          <p:cNvPr id="6" name="Picture 5" descr="b35.png"/>
          <p:cNvPicPr>
            <a:picLocks noChangeAspect="1"/>
          </p:cNvPicPr>
          <p:nvPr/>
        </p:nvPicPr>
        <p:blipFill>
          <a:blip r:embed="rId3"/>
          <a:stretch>
            <a:fillRect/>
          </a:stretch>
        </p:blipFill>
        <p:spPr>
          <a:xfrm>
            <a:off x="7623127" y="3886200"/>
            <a:ext cx="251687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35. Spinal cord cross-section and central canal.</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Neural maturation and feeding competence differ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Newborn </a:t>
            </a:r>
            <a:r>
              <a:rPr sz="1500" b="0" i="1">
                <a:solidFill>
                  <a:srgbClr val="000000"/>
                </a:solidFill>
                <a:latin typeface="Arial"/>
              </a:rPr>
              <a:t>Hippocampus barbouri</a:t>
            </a:r>
            <a:r>
              <a:rPr sz="1500" b="0" i="0">
                <a:solidFill>
                  <a:srgbClr val="000000"/>
                </a:solidFill>
                <a:latin typeface="Arial"/>
              </a:rPr>
              <a:t> brains appeared compact, with relatively indistinct substructures, in Senarat and colleagues’ sections. By contrast, Sun and colleagues observed organized retinas and successful prey capture on the first day after birth in lined seahorses, </a:t>
            </a:r>
            <a:r>
              <a:rPr sz="1500" b="0" i="1">
                <a:solidFill>
                  <a:srgbClr val="000000"/>
                </a:solidFill>
                <a:latin typeface="Arial"/>
              </a:rPr>
              <a:t>Hippocampus erectus</a:t>
            </a:r>
            <a:r>
              <a:rPr sz="1500" b="0" i="0">
                <a:solidFill>
                  <a:srgbClr val="000000"/>
                </a:solidFill>
                <a:latin typeface="Arial"/>
              </a:rPr>
              <a:t>.</a:t>
            </a:r>
          </a:p>
          <a:p>
            <a:pPr algn="l">
              <a:lnSpc>
                <a:spcPct val="108000"/>
              </a:lnSpc>
              <a:spcAft>
                <a:spcPts val="900"/>
              </a:spcAft>
            </a:pPr>
            <a:r>
              <a:rPr sz="1500" b="0" i="0">
                <a:solidFill>
                  <a:srgbClr val="000000"/>
                </a:solidFill>
                <a:latin typeface="Arial"/>
              </a:rPr>
              <a:t>These findings concern different species and different measurements. </a:t>
            </a:r>
            <a:r>
              <a:rPr sz="1500" b="1" i="0">
                <a:solidFill>
                  <a:srgbClr val="3F525A"/>
                </a:solidFill>
                <a:latin typeface="Arial"/>
              </a:rPr>
              <a:t>Behavioral competence</a:t>
            </a:r>
            <a:r>
              <a:rPr sz="1500" b="0" i="0">
                <a:solidFill>
                  <a:srgbClr val="000000"/>
                </a:solidFill>
                <a:latin typeface="Arial"/>
              </a:rPr>
              <a:t> means successful performance of an action, whereas histological differentiation describes the visibility and organization of tissue features. A functional behavior can occur while anatomical maturation continues.</a:t>
            </a:r>
          </a:p>
          <a:p>
            <a:pPr algn="l">
              <a:lnSpc>
                <a:spcPct val="108000"/>
              </a:lnSpc>
              <a:spcAft>
                <a:spcPts val="900"/>
              </a:spcAft>
            </a:pPr>
            <a:r>
              <a:rPr sz="1500" b="0" i="0">
                <a:solidFill>
                  <a:srgbClr val="000000"/>
                </a:solidFill>
                <a:latin typeface="Arial"/>
              </a:rPr>
              <a:t>The brain study’s proposed onset of predatory development at 6–14 days is therefore a species-specific anatomical hypothesis. Direct newborn feeding observations establish early competence in the lined seahorse and identify continued development as improvement of an existing behavior.</a:t>
            </a:r>
          </a:p>
        </p:txBody>
      </p:sp>
      <p:pic>
        <p:nvPicPr>
          <p:cNvPr id="4" name="Picture 3" descr="b39.png"/>
          <p:cNvPicPr>
            <a:picLocks noChangeAspect="1"/>
          </p:cNvPicPr>
          <p:nvPr/>
        </p:nvPicPr>
        <p:blipFill>
          <a:blip r:embed="rId2"/>
          <a:stretch>
            <a:fillRect/>
          </a:stretch>
        </p:blipFill>
        <p:spPr>
          <a:xfrm>
            <a:off x="8065226" y="1280160"/>
            <a:ext cx="1632682"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39. Compact brain organization at 1 day after birth.</a:t>
            </a:r>
          </a:p>
        </p:txBody>
      </p:sp>
      <p:pic>
        <p:nvPicPr>
          <p:cNvPr id="6" name="Picture 5" descr="retina_ab.png"/>
          <p:cNvPicPr>
            <a:picLocks noChangeAspect="1"/>
          </p:cNvPicPr>
          <p:nvPr/>
        </p:nvPicPr>
        <p:blipFill>
          <a:blip r:embed="rId3"/>
          <a:stretch>
            <a:fillRect/>
          </a:stretch>
        </p:blipFill>
        <p:spPr>
          <a:xfrm>
            <a:off x="6138367" y="3886200"/>
            <a:ext cx="5486400" cy="1240076"/>
          </a:xfrm>
          <a:prstGeom prst="rect">
            <a:avLst/>
          </a:prstGeom>
        </p:spPr>
      </p:pic>
      <p:sp>
        <p:nvSpPr>
          <p:cNvPr id="7" name="Figure caption"/>
          <p:cNvSpPr txBox="1"/>
          <p:nvPr/>
        </p:nvSpPr>
        <p:spPr>
          <a:xfrm>
            <a:off x="6138367" y="51994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4A–B. Newborn eye and labeled retinal layers.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 Sun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newborn feeding skeleton is largely cartilaginous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Cartilage</a:t>
            </a:r>
            <a:r>
              <a:rPr sz="1600" b="0" i="0">
                <a:solidFill>
                  <a:srgbClr val="000000"/>
                </a:solidFill>
                <a:latin typeface="Arial"/>
              </a:rPr>
              <a:t> forms much of the early feeding skeleton in juvenile lined seahorses. Sun and colleagues stained cartilage blue and mineralized bone red, allowing the snout skeleton to be followed across postnatal ages. Jaw and associated elements were predominantly cartilaginous during the first three days.</a:t>
            </a:r>
          </a:p>
          <a:p>
            <a:pPr algn="l">
              <a:lnSpc>
                <a:spcPct val="108000"/>
              </a:lnSpc>
              <a:spcAft>
                <a:spcPts val="960"/>
              </a:spcAft>
            </a:pPr>
            <a:r>
              <a:rPr sz="1600" b="0" i="0">
                <a:solidFill>
                  <a:srgbClr val="000000"/>
                </a:solidFill>
                <a:latin typeface="Arial"/>
              </a:rPr>
              <a:t>The labeled elements include the maxilla and dentary of the jaws, and the hyoid and ceratohyal beneath them. Their coordinated movement participates in the expansion associated with suction feeding. Newborns performed successful strikes while these structures remained incompletely ossified.</a:t>
            </a:r>
          </a:p>
          <a:p>
            <a:pPr algn="l">
              <a:lnSpc>
                <a:spcPct val="108000"/>
              </a:lnSpc>
              <a:spcAft>
                <a:spcPts val="960"/>
              </a:spcAft>
            </a:pPr>
            <a:r>
              <a:rPr sz="1600" b="0" i="0">
                <a:solidFill>
                  <a:srgbClr val="000000"/>
                </a:solidFill>
                <a:latin typeface="Arial"/>
              </a:rPr>
              <a:t>By about 7 days, several snout elements displayed obvious mineralization. Feeding competence therefore preceded the later skeletal condition, while postnatal ossification changed the anatomical apparatus supporting repeated prey capture.</a:t>
            </a:r>
          </a:p>
        </p:txBody>
      </p:sp>
      <p:pic>
        <p:nvPicPr>
          <p:cNvPr id="4" name="Picture 3" descr="snout_abc.png"/>
          <p:cNvPicPr>
            <a:picLocks noChangeAspect="1"/>
          </p:cNvPicPr>
          <p:nvPr/>
        </p:nvPicPr>
        <p:blipFill>
          <a:blip r:embed="rId2"/>
          <a:stretch>
            <a:fillRect/>
          </a:stretch>
        </p:blipFill>
        <p:spPr>
          <a:xfrm>
            <a:off x="6504127" y="1280160"/>
            <a:ext cx="5120640" cy="1382689"/>
          </a:xfrm>
          <a:prstGeom prst="rect">
            <a:avLst/>
          </a:prstGeom>
        </p:spPr>
      </p:pic>
      <p:sp>
        <p:nvSpPr>
          <p:cNvPr id="5" name="Figure caption"/>
          <p:cNvSpPr txBox="1"/>
          <p:nvPr/>
        </p:nvSpPr>
        <p:spPr>
          <a:xfrm>
            <a:off x="6504127" y="27542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3A–C. Snout skeleton at 2, 5, and 7 days after birth.</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Snout ossification accompanies improved capture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Ossification</a:t>
            </a:r>
            <a:r>
              <a:rPr sz="1600" b="0" i="0">
                <a:solidFill>
                  <a:srgbClr val="000000"/>
                </a:solidFill>
                <a:latin typeface="Arial"/>
              </a:rPr>
              <a:t> progressively replaces or supplements the early cartilaginous condition with bone. In lined seahorses, jaw and associated snout elements were ossified by approximately 14 days after birth, while the later snout skeleton became fully mineralized by about 30 days.</a:t>
            </a:r>
          </a:p>
          <a:p>
            <a:pPr algn="l">
              <a:lnSpc>
                <a:spcPct val="108000"/>
              </a:lnSpc>
              <a:spcAft>
                <a:spcPts val="960"/>
              </a:spcAft>
            </a:pPr>
            <a:r>
              <a:rPr sz="1600" b="0" i="0">
                <a:solidFill>
                  <a:srgbClr val="000000"/>
                </a:solidFill>
                <a:latin typeface="Arial"/>
              </a:rPr>
              <a:t>Sun and colleagues observed a change in the developmental trajectory of feeding around 10–14 days. Capture success increased, snout expansion became less pronounced, and growth and food intake changed during the same interval. The histological and behavioral measurements therefore identify a shared developmental transition.</a:t>
            </a:r>
          </a:p>
          <a:p>
            <a:pPr algn="l">
              <a:lnSpc>
                <a:spcPct val="108000"/>
              </a:lnSpc>
              <a:spcAft>
                <a:spcPts val="960"/>
              </a:spcAft>
            </a:pPr>
            <a:r>
              <a:rPr sz="1600" b="0" i="0">
                <a:solidFill>
                  <a:srgbClr val="000000"/>
                </a:solidFill>
                <a:latin typeface="Arial"/>
              </a:rPr>
              <a:t>The mouth still captured prey through a brief coordinated strike. Maturation altered the dimensions and tissue properties of the feeding apparatus while preserving pivot feeding as the animal’s basic acquisition strategy.</a:t>
            </a:r>
          </a:p>
        </p:txBody>
      </p:sp>
      <p:pic>
        <p:nvPicPr>
          <p:cNvPr id="4" name="Picture 3" descr="snout_def.png"/>
          <p:cNvPicPr>
            <a:picLocks noChangeAspect="1"/>
          </p:cNvPicPr>
          <p:nvPr/>
        </p:nvPicPr>
        <p:blipFill>
          <a:blip r:embed="rId2"/>
          <a:stretch>
            <a:fillRect/>
          </a:stretch>
        </p:blipFill>
        <p:spPr>
          <a:xfrm>
            <a:off x="6504127" y="1280160"/>
            <a:ext cx="5120640" cy="1386595"/>
          </a:xfrm>
          <a:prstGeom prst="rect">
            <a:avLst/>
          </a:prstGeom>
        </p:spPr>
      </p:pic>
      <p:sp>
        <p:nvSpPr>
          <p:cNvPr id="5" name="Figure caption"/>
          <p:cNvSpPr txBox="1"/>
          <p:nvPr/>
        </p:nvSpPr>
        <p:spPr>
          <a:xfrm>
            <a:off x="6504127" y="27581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3D–F. Snout skeleton at 10, 14, and 24 days after birth.</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Growth extends the reach of a feeding strike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1" i="0">
                <a:solidFill>
                  <a:srgbClr val="3F525A"/>
                </a:solidFill>
                <a:latin typeface="Arial"/>
              </a:rPr>
              <a:t>Attack distance</a:t>
            </a:r>
            <a:r>
              <a:rPr sz="1700" b="0" i="0">
                <a:solidFill>
                  <a:srgbClr val="000000"/>
                </a:solidFill>
                <a:latin typeface="Arial"/>
              </a:rPr>
              <a:t> was defined by Sun and colleagues as the maximum distance traveled by the snout tip during capture. In lined seahorses, this distance increased from about 1.14 mm on the first day after birth to 3.18 mm by day 30.</a:t>
            </a:r>
          </a:p>
          <a:p>
            <a:pPr algn="l">
              <a:lnSpc>
                <a:spcPct val="108000"/>
              </a:lnSpc>
              <a:spcAft>
                <a:spcPts val="1019"/>
              </a:spcAft>
            </a:pPr>
            <a:r>
              <a:rPr sz="1700" b="0" i="0">
                <a:solidFill>
                  <a:srgbClr val="000000"/>
                </a:solidFill>
                <a:latin typeface="Arial"/>
              </a:rPr>
              <a:t>Snout length increased from approximately 0.78 mm to 3.75 mm over the same interval. A longer feeding apparatus accompanied a larger capture reach, while body height increased from about 9.2 mm to 43.2 mm. Growth therefore changed the spatial scale of prey acquisition.</a:t>
            </a:r>
          </a:p>
          <a:p>
            <a:pPr algn="l">
              <a:lnSpc>
                <a:spcPct val="108000"/>
              </a:lnSpc>
              <a:spcAft>
                <a:spcPts val="1019"/>
              </a:spcAft>
            </a:pPr>
            <a:r>
              <a:rPr sz="1700" b="0" i="0">
                <a:solidFill>
                  <a:srgbClr val="000000"/>
                </a:solidFill>
                <a:latin typeface="Arial"/>
              </a:rPr>
              <a:t>Capture success rose from about 77% in newborns to about 92% at day 30 under the study conditions. Increasing reach and success developed within an already functional visually guided feeding sequence.</a:t>
            </a:r>
          </a:p>
        </p:txBody>
      </p:sp>
      <p:pic>
        <p:nvPicPr>
          <p:cNvPr id="4" name="Picture 3" descr="snout.png"/>
          <p:cNvPicPr>
            <a:picLocks noChangeAspect="1"/>
          </p:cNvPicPr>
          <p:nvPr/>
        </p:nvPicPr>
        <p:blipFill>
          <a:blip r:embed="rId2"/>
          <a:stretch>
            <a:fillRect/>
          </a:stretch>
        </p:blipFill>
        <p:spPr>
          <a:xfrm>
            <a:off x="6979415" y="1280160"/>
            <a:ext cx="3804303"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3A–F. Cartilage and bone during snout development.</a:t>
            </a:r>
          </a:p>
        </p:txBody>
      </p:sp>
      <p:pic>
        <p:nvPicPr>
          <p:cNvPr id="6" name="Picture 5" descr="j1c.png"/>
          <p:cNvPicPr>
            <a:picLocks noChangeAspect="1"/>
          </p:cNvPicPr>
          <p:nvPr/>
        </p:nvPicPr>
        <p:blipFill>
          <a:blip r:embed="rId3"/>
          <a:stretch>
            <a:fillRect/>
          </a:stretch>
        </p:blipFill>
        <p:spPr>
          <a:xfrm>
            <a:off x="7914007" y="3886200"/>
            <a:ext cx="193511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1C. Rapid capture with the snout.</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Snout expansion declines as the skeleton matures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Feeding caliber</a:t>
            </a:r>
            <a:r>
              <a:rPr sz="1600" b="0" i="0">
                <a:solidFill>
                  <a:srgbClr val="000000"/>
                </a:solidFill>
                <a:latin typeface="Arial"/>
              </a:rPr>
              <a:t> is the maximum snout width reached during suction feeding. Sun and colleagues compared this width with the resting snout width to describe expansion. Newborn lined seahorses expanded to about 216% of their resting width, whereas the value was about 106% by day 14.</a:t>
            </a:r>
          </a:p>
          <a:p>
            <a:pPr algn="l">
              <a:lnSpc>
                <a:spcPct val="108000"/>
              </a:lnSpc>
              <a:spcAft>
                <a:spcPts val="960"/>
              </a:spcAft>
            </a:pPr>
            <a:r>
              <a:rPr sz="1600" b="0" i="0">
                <a:solidFill>
                  <a:srgbClr val="000000"/>
                </a:solidFill>
                <a:latin typeface="Arial"/>
              </a:rPr>
              <a:t>The increasingly mineralized skeleton accompanied a less expandable snout. At later ages, feeding caliber and resting width became similar, even though absolute snout dimensions and capture reach increased. Growth therefore changed both size and the proportional deformation during feeding.</a:t>
            </a:r>
          </a:p>
          <a:p>
            <a:pPr algn="l">
              <a:lnSpc>
                <a:spcPct val="108000"/>
              </a:lnSpc>
              <a:spcAft>
                <a:spcPts val="960"/>
              </a:spcAft>
            </a:pPr>
            <a:r>
              <a:rPr sz="1600" b="0" i="0">
                <a:solidFill>
                  <a:srgbClr val="000000"/>
                </a:solidFill>
                <a:latin typeface="Arial"/>
              </a:rPr>
              <a:t>The early flexible snout allowed newborns to take comparatively large prey. Later animals retained rapid suction feeding with a larger, more ossified apparatus and a smaller relative change in width.</a:t>
            </a:r>
          </a:p>
        </p:txBody>
      </p:sp>
      <p:pic>
        <p:nvPicPr>
          <p:cNvPr id="4" name="Picture 3" descr="snout_abc.png"/>
          <p:cNvPicPr>
            <a:picLocks noChangeAspect="1"/>
          </p:cNvPicPr>
          <p:nvPr/>
        </p:nvPicPr>
        <p:blipFill>
          <a:blip r:embed="rId2"/>
          <a:stretch>
            <a:fillRect/>
          </a:stretch>
        </p:blipFill>
        <p:spPr>
          <a:xfrm>
            <a:off x="6138367" y="1280160"/>
            <a:ext cx="5486400" cy="1481453"/>
          </a:xfrm>
          <a:prstGeom prst="rect">
            <a:avLst/>
          </a:prstGeom>
        </p:spPr>
      </p:pic>
      <p:sp>
        <p:nvSpPr>
          <p:cNvPr id="5" name="Figure caption"/>
          <p:cNvSpPr txBox="1"/>
          <p:nvPr/>
        </p:nvSpPr>
        <p:spPr>
          <a:xfrm>
            <a:off x="6138367" y="285305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3A–C. Snout skeleton at 2, 5, and 7 days after birth.</a:t>
            </a:r>
          </a:p>
        </p:txBody>
      </p:sp>
      <p:pic>
        <p:nvPicPr>
          <p:cNvPr id="6" name="Picture 5" descr="snout_def.png"/>
          <p:cNvPicPr>
            <a:picLocks noChangeAspect="1"/>
          </p:cNvPicPr>
          <p:nvPr/>
        </p:nvPicPr>
        <p:blipFill>
          <a:blip r:embed="rId3"/>
          <a:stretch>
            <a:fillRect/>
          </a:stretch>
        </p:blipFill>
        <p:spPr>
          <a:xfrm>
            <a:off x="6138367" y="3886200"/>
            <a:ext cx="5486400" cy="1485638"/>
          </a:xfrm>
          <a:prstGeom prst="rect">
            <a:avLst/>
          </a:prstGeom>
        </p:spPr>
      </p:pic>
      <p:sp>
        <p:nvSpPr>
          <p:cNvPr id="7" name="Figure caption"/>
          <p:cNvSpPr txBox="1"/>
          <p:nvPr/>
        </p:nvSpPr>
        <p:spPr>
          <a:xfrm>
            <a:off x="6138367" y="544499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3D–F. Snout skeleton at 10, 14, and 24 days after birth.</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intestine matures while daily intake rises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Newborn lined seahorses had a short, relatively straight intestine with a thin mucosal layer. </a:t>
            </a:r>
            <a:r>
              <a:rPr sz="1700" b="1" i="0">
                <a:solidFill>
                  <a:srgbClr val="3F525A"/>
                </a:solidFill>
                <a:latin typeface="Arial"/>
              </a:rPr>
              <a:t>Mucosa</a:t>
            </a:r>
            <a:r>
              <a:rPr sz="1700" b="0" i="0">
                <a:solidFill>
                  <a:srgbClr val="000000"/>
                </a:solidFill>
                <a:latin typeface="Arial"/>
              </a:rPr>
              <a:t> is the inner tissue lining the digestive lumen. During the first postnatal days, folds and loops developed, increasing the complexity of the organ that receives captured food.</a:t>
            </a:r>
          </a:p>
          <a:p>
            <a:pPr algn="l">
              <a:lnSpc>
                <a:spcPct val="108000"/>
              </a:lnSpc>
              <a:spcAft>
                <a:spcPts val="1019"/>
              </a:spcAft>
            </a:pPr>
            <a:r>
              <a:rPr sz="1700" b="0" i="0">
                <a:solidFill>
                  <a:srgbClr val="000000"/>
                </a:solidFill>
                <a:latin typeface="Arial"/>
              </a:rPr>
              <a:t>By about 10 days after birth, three intestinal loops were visible and the muscular wall was thicker. Sun and colleagues documented these changes with stained sections, alongside the increasing food intake measured in the feeding experiment.</a:t>
            </a:r>
          </a:p>
          <a:p>
            <a:pPr algn="l">
              <a:lnSpc>
                <a:spcPct val="108000"/>
              </a:lnSpc>
              <a:spcAft>
                <a:spcPts val="1019"/>
              </a:spcAft>
            </a:pPr>
            <a:r>
              <a:rPr sz="1700" b="0" i="0">
                <a:solidFill>
                  <a:srgbClr val="000000"/>
                </a:solidFill>
                <a:latin typeface="Arial"/>
              </a:rPr>
              <a:t>Daily intake rose from about 1.2 mg per seahorse at birth to 46.3 mg by day 30. Relative intake decreased from about 43% of body mass per day in newborns to approximately 17–22% in later juveniles.</a:t>
            </a:r>
          </a:p>
        </p:txBody>
      </p:sp>
      <p:pic>
        <p:nvPicPr>
          <p:cNvPr id="4" name="Picture 3" descr="gut_gh.png"/>
          <p:cNvPicPr>
            <a:picLocks noChangeAspect="1"/>
          </p:cNvPicPr>
          <p:nvPr/>
        </p:nvPicPr>
        <p:blipFill>
          <a:blip r:embed="rId2"/>
          <a:stretch>
            <a:fillRect/>
          </a:stretch>
        </p:blipFill>
        <p:spPr>
          <a:xfrm>
            <a:off x="6504127" y="1280160"/>
            <a:ext cx="5120640" cy="3253489"/>
          </a:xfrm>
          <a:prstGeom prst="rect">
            <a:avLst/>
          </a:prstGeom>
        </p:spPr>
      </p:pic>
      <p:sp>
        <p:nvSpPr>
          <p:cNvPr id="5" name="Figure caption"/>
          <p:cNvSpPr txBox="1"/>
          <p:nvPr/>
        </p:nvSpPr>
        <p:spPr>
          <a:xfrm>
            <a:off x="6504127" y="46250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5G–H. Intestinal loops and wall layers at 10 days after birth.</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Sun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A slow predator can approach evasive copepods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Dwarf seahorses, </a:t>
            </a:r>
            <a:r>
              <a:rPr sz="1700" b="0" i="1">
                <a:solidFill>
                  <a:srgbClr val="000000"/>
                </a:solidFill>
                <a:latin typeface="Arial"/>
              </a:rPr>
              <a:t>Hippocampus zosterae</a:t>
            </a:r>
            <a:r>
              <a:rPr sz="1700" b="0" i="0">
                <a:solidFill>
                  <a:srgbClr val="000000"/>
                </a:solidFill>
                <a:latin typeface="Arial"/>
              </a:rPr>
              <a:t>, capture </a:t>
            </a:r>
            <a:r>
              <a:rPr sz="1700" b="1" i="0">
                <a:solidFill>
                  <a:srgbClr val="3F525A"/>
                </a:solidFill>
                <a:latin typeface="Arial"/>
              </a:rPr>
              <a:t>copepods</a:t>
            </a:r>
            <a:r>
              <a:rPr sz="1700" b="0" i="0">
                <a:solidFill>
                  <a:srgbClr val="000000"/>
                </a:solidFill>
                <a:latin typeface="Arial"/>
              </a:rPr>
              <a:t>, small swimming crustaceans that detect disturbances in the surrounding water. Gemmell and colleagues studied approaches to </a:t>
            </a:r>
            <a:r>
              <a:rPr sz="1700" b="0" i="1">
                <a:solidFill>
                  <a:srgbClr val="000000"/>
                </a:solidFill>
                <a:latin typeface="Arial"/>
              </a:rPr>
              <a:t>Acartia tonsa</a:t>
            </a:r>
            <a:r>
              <a:rPr sz="1700" b="0" i="0">
                <a:solidFill>
                  <a:srgbClr val="000000"/>
                </a:solidFill>
                <a:latin typeface="Arial"/>
              </a:rPr>
              <a:t> using high-speed holography, a method that reconstructs positions and particle movement within a three-dimensional sample volume.</a:t>
            </a:r>
          </a:p>
          <a:p>
            <a:pPr algn="l">
              <a:lnSpc>
                <a:spcPct val="108000"/>
              </a:lnSpc>
              <a:spcAft>
                <a:spcPts val="1019"/>
              </a:spcAft>
            </a:pPr>
            <a:r>
              <a:rPr sz="1700" b="0" i="0">
                <a:solidFill>
                  <a:srgbClr val="000000"/>
                </a:solidFill>
                <a:latin typeface="Arial"/>
              </a:rPr>
              <a:t>About 84% of approaches brought the copepod within roughly 1 mm without triggering escape. Once prey entered capture range, capture succeeded about 94% of the time. Successful feeding therefore combined an undetected approach with an exceptionally rapid final strike.</a:t>
            </a:r>
          </a:p>
          <a:p>
            <a:pPr algn="l">
              <a:lnSpc>
                <a:spcPct val="108000"/>
              </a:lnSpc>
              <a:spcAft>
                <a:spcPts val="1019"/>
              </a:spcAft>
            </a:pPr>
            <a:r>
              <a:rPr sz="1700" b="0" i="0">
                <a:solidFill>
                  <a:srgbClr val="000000"/>
                </a:solidFill>
                <a:latin typeface="Arial"/>
              </a:rPr>
              <a:t>The approach and strike solve different problems. Slow positioning limits the warning available to the prey, while head rotation rapidly closes the remaining short distance.</a:t>
            </a:r>
          </a:p>
        </p:txBody>
      </p:sp>
      <p:pic>
        <p:nvPicPr>
          <p:cNvPr id="4" name="Picture 3" descr="f2b.png"/>
          <p:cNvPicPr>
            <a:picLocks noChangeAspect="1"/>
          </p:cNvPicPr>
          <p:nvPr/>
        </p:nvPicPr>
        <p:blipFill>
          <a:blip r:embed="rId2"/>
          <a:stretch>
            <a:fillRect/>
          </a:stretch>
        </p:blipFill>
        <p:spPr>
          <a:xfrm>
            <a:off x="6504127" y="1280160"/>
            <a:ext cx="5120640" cy="2459965"/>
          </a:xfrm>
          <a:prstGeom prst="rect">
            <a:avLst/>
          </a:prstGeom>
        </p:spPr>
      </p:pic>
      <p:sp>
        <p:nvSpPr>
          <p:cNvPr id="5" name="Figure caption"/>
          <p:cNvSpPr txBox="1"/>
          <p:nvPr/>
        </p:nvSpPr>
        <p:spPr>
          <a:xfrm>
            <a:off x="6504127" y="383156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2b. Successful feeding sequence recorded by holography.</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Successful approaches were slower than failed ones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Approach speed differed between successful and failed dwarf-seahorse feeding attempts. Gemmell and colleagues measured successful approaches at about 8.4 mm/s and unsuccessful approaches at about 14.1 mm/s. These values describe the movement before the final pivot-feeding strike.</a:t>
            </a:r>
          </a:p>
          <a:p>
            <a:pPr algn="l">
              <a:lnSpc>
                <a:spcPct val="108000"/>
              </a:lnSpc>
              <a:spcAft>
                <a:spcPts val="960"/>
              </a:spcAft>
            </a:pPr>
            <a:r>
              <a:rPr sz="1600" b="0" i="0">
                <a:solidFill>
                  <a:srgbClr val="000000"/>
                </a:solidFill>
                <a:latin typeface="Arial"/>
              </a:rPr>
              <a:t>A moving head deforms the surrounding water. </a:t>
            </a:r>
            <a:r>
              <a:rPr sz="1600" b="1" i="0">
                <a:solidFill>
                  <a:srgbClr val="3F525A"/>
                </a:solidFill>
                <a:latin typeface="Arial"/>
              </a:rPr>
              <a:t>Hydrodynamic disturbance</a:t>
            </a:r>
            <a:r>
              <a:rPr sz="1600" b="0" i="0">
                <a:solidFill>
                  <a:srgbClr val="000000"/>
                </a:solidFill>
                <a:latin typeface="Arial"/>
              </a:rPr>
              <a:t> is the resulting change in water motion that a mechanosensitive prey animal can detect. Faster approaches increased the disturbance near the region where the copepod would eventually be captured.</a:t>
            </a:r>
          </a:p>
          <a:p>
            <a:pPr algn="l">
              <a:lnSpc>
                <a:spcPct val="108000"/>
              </a:lnSpc>
              <a:spcAft>
                <a:spcPts val="960"/>
              </a:spcAft>
            </a:pPr>
            <a:r>
              <a:rPr sz="1600" b="0" i="0">
                <a:solidFill>
                  <a:srgbClr val="000000"/>
                </a:solidFill>
                <a:latin typeface="Arial"/>
              </a:rPr>
              <a:t>The seahorse’s short-range strike therefore depended on careful preceding positioning. Rapid final acquisition was compatible with a slower approach, because minimizing the prey’s warning and minimizing the final capture time require different movement patterns.</a:t>
            </a:r>
          </a:p>
        </p:txBody>
      </p:sp>
      <p:pic>
        <p:nvPicPr>
          <p:cNvPr id="4" name="Picture 3" descr="f1a.png"/>
          <p:cNvPicPr>
            <a:picLocks noChangeAspect="1"/>
          </p:cNvPicPr>
          <p:nvPr/>
        </p:nvPicPr>
        <p:blipFill>
          <a:blip r:embed="rId2"/>
          <a:stretch>
            <a:fillRect/>
          </a:stretch>
        </p:blipFill>
        <p:spPr>
          <a:xfrm>
            <a:off x="7290950" y="1280160"/>
            <a:ext cx="35469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1a. Approach speeds for successful and failed feeding attempts.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The final strike outruns a copepod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High-speed recordings at 2,000 frames/s resolved the final dwarf-seahorse strike. The mouth covered the remaining distance to the copepod in less than 1 ms. The source contrasts this interval with copepod escape-response latencies of approximately 2–4 ms reported in earlier work.</a:t>
            </a:r>
          </a:p>
          <a:p>
            <a:pPr algn="l">
              <a:lnSpc>
                <a:spcPct val="108000"/>
              </a:lnSpc>
              <a:spcAft>
                <a:spcPts val="960"/>
              </a:spcAft>
            </a:pPr>
            <a:r>
              <a:rPr sz="1600" b="1" i="0">
                <a:solidFill>
                  <a:srgbClr val="3F525A"/>
                </a:solidFill>
                <a:latin typeface="Arial"/>
              </a:rPr>
              <a:t>Response latency</a:t>
            </a:r>
            <a:r>
              <a:rPr sz="1600" b="0" i="0">
                <a:solidFill>
                  <a:srgbClr val="000000"/>
                </a:solidFill>
                <a:latin typeface="Arial"/>
              </a:rPr>
              <a:t> is the time between detection of a stimulus and the beginning of a response. A strike completed before that interval expires can acquire the prey before an effective escape movement develops. The advantage depends on beginning within the very short capture range.</a:t>
            </a:r>
          </a:p>
          <a:p>
            <a:pPr algn="l">
              <a:lnSpc>
                <a:spcPct val="108000"/>
              </a:lnSpc>
              <a:spcAft>
                <a:spcPts val="960"/>
              </a:spcAft>
            </a:pPr>
            <a:r>
              <a:rPr sz="1600" b="0" i="0">
                <a:solidFill>
                  <a:srgbClr val="000000"/>
                </a:solidFill>
                <a:latin typeface="Arial"/>
              </a:rPr>
              <a:t>Nearby copepods could respond to the disturbance produced by a completed strike. The captured target and surrounding animals therefore encountered different timing relationships between detection, escape, and the rapidly moving mouth.</a:t>
            </a:r>
          </a:p>
        </p:txBody>
      </p:sp>
      <p:pic>
        <p:nvPicPr>
          <p:cNvPr id="4" name="Picture 3" descr="f2b.png"/>
          <p:cNvPicPr>
            <a:picLocks noChangeAspect="1"/>
          </p:cNvPicPr>
          <p:nvPr/>
        </p:nvPicPr>
        <p:blipFill>
          <a:blip r:embed="rId2"/>
          <a:stretch>
            <a:fillRect/>
          </a:stretch>
        </p:blipFill>
        <p:spPr>
          <a:xfrm>
            <a:off x="6740235" y="1280160"/>
            <a:ext cx="4282663"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2b. Successful feeding sequence recorded by holography.</a:t>
            </a:r>
          </a:p>
        </p:txBody>
      </p:sp>
      <p:pic>
        <p:nvPicPr>
          <p:cNvPr id="6" name="Picture 5" descr="f1b.png"/>
          <p:cNvPicPr>
            <a:picLocks noChangeAspect="1"/>
          </p:cNvPicPr>
          <p:nvPr/>
        </p:nvPicPr>
        <p:blipFill>
          <a:blip r:embed="rId3"/>
          <a:stretch>
            <a:fillRect/>
          </a:stretch>
        </p:blipFill>
        <p:spPr>
          <a:xfrm>
            <a:off x="8156671" y="3886200"/>
            <a:ext cx="1449792"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1b. Copepod response distances to approaches and strikes.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A quiet water region lies above the snout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F525A"/>
                </a:solidFill>
                <a:latin typeface="Arial"/>
              </a:rPr>
              <a:t>Particle tracking</a:t>
            </a:r>
            <a:r>
              <a:rPr sz="1700" b="0" i="0">
                <a:solidFill>
                  <a:srgbClr val="000000"/>
                </a:solidFill>
                <a:latin typeface="Arial"/>
              </a:rPr>
              <a:t> follows small suspended tracers to estimate local water movement. Gemmell and colleagues used live diatoms as tracers during dwarf-seahorse approaches and reconstructed their positions holographically. Water motion above the snout was lower than in adjacent regions.</a:t>
            </a:r>
          </a:p>
          <a:p>
            <a:pPr algn="l">
              <a:lnSpc>
                <a:spcPct val="108000"/>
              </a:lnSpc>
              <a:spcAft>
                <a:spcPts val="1019"/>
              </a:spcAft>
            </a:pPr>
            <a:r>
              <a:rPr sz="1700" b="0" i="0">
                <a:solidFill>
                  <a:srgbClr val="000000"/>
                </a:solidFill>
                <a:latin typeface="Arial"/>
              </a:rPr>
              <a:t>Within the measured capture region, water velocities did not exceed about 0.8 mm/s, whereas neighboring regions reached about 4.1 mm/s. The prey could occupy a comparatively quiet zone even though the moving predator disturbed water elsewhere around its head.</a:t>
            </a:r>
          </a:p>
          <a:p>
            <a:pPr algn="l">
              <a:lnSpc>
                <a:spcPct val="108000"/>
              </a:lnSpc>
              <a:spcAft>
                <a:spcPts val="1019"/>
              </a:spcAft>
            </a:pPr>
            <a:r>
              <a:rPr sz="1700" b="0" i="0">
                <a:solidFill>
                  <a:srgbClr val="000000"/>
                </a:solidFill>
                <a:latin typeface="Arial"/>
              </a:rPr>
              <a:t>This spatial pattern connects head form with prey detection. The mouth rotates toward the zone during capture, so the location with reduced warning also lies within the range reached by pivot feeding.</a:t>
            </a:r>
          </a:p>
        </p:txBody>
      </p:sp>
      <p:pic>
        <p:nvPicPr>
          <p:cNvPr id="4" name="Picture 3" descr="f3cd.png"/>
          <p:cNvPicPr>
            <a:picLocks noChangeAspect="1"/>
          </p:cNvPicPr>
          <p:nvPr/>
        </p:nvPicPr>
        <p:blipFill>
          <a:blip r:embed="rId2"/>
          <a:stretch>
            <a:fillRect/>
          </a:stretch>
        </p:blipFill>
        <p:spPr>
          <a:xfrm>
            <a:off x="6504127" y="1280160"/>
            <a:ext cx="5120640" cy="2537662"/>
          </a:xfrm>
          <a:prstGeom prst="rect">
            <a:avLst/>
          </a:prstGeom>
        </p:spPr>
      </p:pic>
      <p:sp>
        <p:nvSpPr>
          <p:cNvPr id="5" name="Figure caption"/>
          <p:cNvSpPr txBox="1"/>
          <p:nvPr/>
        </p:nvSpPr>
        <p:spPr>
          <a:xfrm>
            <a:off x="6504127" y="39092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3c–d. Particle motions around successful and failed approaches.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Increasing flow erodes the quiet capture zone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Gemmell and colleagues placed preserved dwarf-seahorse heads in a flow chamber and measured water movement with </a:t>
            </a:r>
            <a:r>
              <a:rPr sz="1700" b="1" i="0">
                <a:solidFill>
                  <a:srgbClr val="3F525A"/>
                </a:solidFill>
                <a:latin typeface="Arial"/>
              </a:rPr>
              <a:t>particle image velocimetry</a:t>
            </a:r>
            <a:r>
              <a:rPr sz="1700" b="0" i="0">
                <a:solidFill>
                  <a:srgbClr val="000000"/>
                </a:solidFill>
                <a:latin typeface="Arial"/>
              </a:rPr>
              <a:t>, which estimates velocity from displacement of illuminated particles. Imposed flow represented the relative movement occurring during an approach.</a:t>
            </a:r>
          </a:p>
          <a:p>
            <a:pPr algn="l">
              <a:lnSpc>
                <a:spcPct val="108000"/>
              </a:lnSpc>
              <a:spcAft>
                <a:spcPts val="1019"/>
              </a:spcAft>
            </a:pPr>
            <a:r>
              <a:rPr sz="1700" b="1" i="0">
                <a:solidFill>
                  <a:srgbClr val="3F525A"/>
                </a:solidFill>
                <a:latin typeface="Arial"/>
              </a:rPr>
              <a:t>Deformation rate</a:t>
            </a:r>
            <a:r>
              <a:rPr sz="1700" b="0" i="0">
                <a:solidFill>
                  <a:srgbClr val="000000"/>
                </a:solidFill>
                <a:latin typeface="Arial"/>
              </a:rPr>
              <a:t>, measured in s⁻¹, describes how rapidly nearby water is strained. At 4 mm/s, almost none of the capture zone exceeded the approximately 0.5 s⁻¹ detection threshold discussed for </a:t>
            </a:r>
            <a:r>
              <a:rPr sz="1700" b="0" i="1">
                <a:solidFill>
                  <a:srgbClr val="000000"/>
                </a:solidFill>
                <a:latin typeface="Arial"/>
              </a:rPr>
              <a:t>Acartia tonsa</a:t>
            </a:r>
            <a:r>
              <a:rPr sz="1700" b="0" i="0">
                <a:solidFill>
                  <a:srgbClr val="000000"/>
                </a:solidFill>
                <a:latin typeface="Arial"/>
              </a:rPr>
              <a:t>. At 10 mm/s part of the zone exceeded it, and at 20 mm/s much more did.</a:t>
            </a:r>
          </a:p>
          <a:p>
            <a:pPr algn="l">
              <a:lnSpc>
                <a:spcPct val="108000"/>
              </a:lnSpc>
              <a:spcAft>
                <a:spcPts val="1019"/>
              </a:spcAft>
            </a:pPr>
            <a:r>
              <a:rPr sz="1700" b="0" i="0">
                <a:solidFill>
                  <a:srgbClr val="000000"/>
                </a:solidFill>
                <a:latin typeface="Arial"/>
              </a:rPr>
              <a:t>The head’s geometry preserved a relatively quiet region, but the absolute disturbance increased with approach speed. The flow experiment therefore explains why a favorable head shape still benefits from a slow approach.</a:t>
            </a:r>
          </a:p>
        </p:txBody>
      </p:sp>
      <p:pic>
        <p:nvPicPr>
          <p:cNvPr id="4" name="Picture 3" descr="f4.png"/>
          <p:cNvPicPr>
            <a:picLocks noChangeAspect="1"/>
          </p:cNvPicPr>
          <p:nvPr/>
        </p:nvPicPr>
        <p:blipFill>
          <a:blip r:embed="rId2"/>
          <a:stretch>
            <a:fillRect/>
          </a:stretch>
        </p:blipFill>
        <p:spPr>
          <a:xfrm>
            <a:off x="6504127" y="1280160"/>
            <a:ext cx="5120640" cy="2268964"/>
          </a:xfrm>
          <a:prstGeom prst="rect">
            <a:avLst/>
          </a:prstGeom>
        </p:spPr>
      </p:pic>
      <p:sp>
        <p:nvSpPr>
          <p:cNvPr id="5" name="Figure caption"/>
          <p:cNvSpPr txBox="1"/>
          <p:nvPr/>
        </p:nvSpPr>
        <p:spPr>
          <a:xfrm>
            <a:off x="6504127" y="364056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4a–c. Flow deformation at different approach speeds.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Head posture changes the disturbance reaching prey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3F525A"/>
                </a:solidFill>
                <a:latin typeface="Arial"/>
              </a:rPr>
              <a:t>Posture</a:t>
            </a:r>
            <a:r>
              <a:rPr sz="1700" b="0" i="0">
                <a:solidFill>
                  <a:srgbClr val="000000"/>
                </a:solidFill>
                <a:latin typeface="Arial"/>
              </a:rPr>
              <a:t> determines which surfaces of the seahorse head meet the incoming water. Gemmell and colleagues varied head angle in a flow chamber while measuring deformation around preserved dwarf seahorses. The naturally observed posture produced the lowest disturbance within the capture region.</a:t>
            </a:r>
          </a:p>
          <a:p>
            <a:pPr algn="l">
              <a:lnSpc>
                <a:spcPct val="108000"/>
              </a:lnSpc>
              <a:spcAft>
                <a:spcPts val="1019"/>
              </a:spcAft>
            </a:pPr>
            <a:r>
              <a:rPr sz="1700" b="0" i="0">
                <a:solidFill>
                  <a:srgbClr val="000000"/>
                </a:solidFill>
                <a:latin typeface="Arial"/>
              </a:rPr>
              <a:t>Live approaches also maintained a consistent relationship between head and target. The angle from the top of the head through the snout tip toward the copepod averaged about 124°, and head rotation during the approach remained small.</a:t>
            </a:r>
          </a:p>
          <a:p>
            <a:pPr algn="l">
              <a:lnSpc>
                <a:spcPct val="108000"/>
              </a:lnSpc>
              <a:spcAft>
                <a:spcPts val="1019"/>
              </a:spcAft>
            </a:pPr>
            <a:r>
              <a:rPr sz="1700" b="0" i="0">
                <a:solidFill>
                  <a:srgbClr val="000000"/>
                </a:solidFill>
                <a:latin typeface="Arial"/>
              </a:rPr>
              <a:t>Geometry and behavior therefore work together before the strike. The narrow snout creates a favorable flow distribution, and the animal maintains an orientation that places its target within the quiet portion of that distribution.</a:t>
            </a:r>
          </a:p>
        </p:txBody>
      </p:sp>
      <p:pic>
        <p:nvPicPr>
          <p:cNvPr id="4" name="Picture 3" descr="f5.png"/>
          <p:cNvPicPr>
            <a:picLocks noChangeAspect="1"/>
          </p:cNvPicPr>
          <p:nvPr/>
        </p:nvPicPr>
        <p:blipFill>
          <a:blip r:embed="rId2"/>
          <a:stretch>
            <a:fillRect/>
          </a:stretch>
        </p:blipFill>
        <p:spPr>
          <a:xfrm>
            <a:off x="6504127" y="1280160"/>
            <a:ext cx="5120640" cy="2125451"/>
          </a:xfrm>
          <a:prstGeom prst="rect">
            <a:avLst/>
          </a:prstGeom>
        </p:spPr>
      </p:pic>
      <p:sp>
        <p:nvSpPr>
          <p:cNvPr id="5" name="Figure caption"/>
          <p:cNvSpPr txBox="1"/>
          <p:nvPr/>
        </p:nvSpPr>
        <p:spPr>
          <a:xfrm>
            <a:off x="6504127" y="34970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5a–c. Flow deformation around different seahorse head postures.</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A stickleback head produces a different flow field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three-spined stickleback, </a:t>
            </a:r>
            <a:r>
              <a:rPr sz="1600" b="0" i="1">
                <a:solidFill>
                  <a:srgbClr val="000000"/>
                </a:solidFill>
                <a:latin typeface="Arial"/>
              </a:rPr>
              <a:t>Gasterosteus aculeatus</a:t>
            </a:r>
            <a:r>
              <a:rPr sz="1600" b="0" i="0">
                <a:solidFill>
                  <a:srgbClr val="000000"/>
                </a:solidFill>
                <a:latin typeface="Arial"/>
              </a:rPr>
              <a:t>, lacks the seahorse’s elongated tubular snout. Gemmell and colleagues used preserved sticklebacks as a morphological comparison in the same flow measurements. Their heads produced a relatively uniform bow wave with strong deformation directly ahead of the mouth.</a:t>
            </a:r>
          </a:p>
          <a:p>
            <a:pPr algn="l">
              <a:lnSpc>
                <a:spcPct val="108000"/>
              </a:lnSpc>
              <a:spcAft>
                <a:spcPts val="960"/>
              </a:spcAft>
            </a:pPr>
            <a:r>
              <a:rPr sz="1600" b="0" i="0">
                <a:solidFill>
                  <a:srgbClr val="000000"/>
                </a:solidFill>
                <a:latin typeface="Arial"/>
              </a:rPr>
              <a:t>A </a:t>
            </a:r>
            <a:r>
              <a:rPr sz="1600" b="1" i="0">
                <a:solidFill>
                  <a:srgbClr val="3F525A"/>
                </a:solidFill>
                <a:latin typeface="Arial"/>
              </a:rPr>
              <a:t>bow wave</a:t>
            </a:r>
            <a:r>
              <a:rPr sz="1600" b="0" i="0">
                <a:solidFill>
                  <a:srgbClr val="000000"/>
                </a:solidFill>
                <a:latin typeface="Arial"/>
              </a:rPr>
              <a:t> is the water disturbance generated in front of an advancing object. Changing stickleback head posture did little to reduce deformation at the short distances used for seahorse strikes. The comparison separates a general consequence of moving through water from the distinctive seahorse geometry.</a:t>
            </a:r>
          </a:p>
          <a:p>
            <a:pPr algn="l">
              <a:lnSpc>
                <a:spcPct val="108000"/>
              </a:lnSpc>
              <a:spcAft>
                <a:spcPts val="960"/>
              </a:spcAft>
            </a:pPr>
            <a:r>
              <a:rPr sz="1600" b="0" i="0">
                <a:solidFill>
                  <a:srgbClr val="000000"/>
                </a:solidFill>
                <a:latin typeface="Arial"/>
              </a:rPr>
              <a:t>Different feeding anatomies therefore create different sensory conditions for prey. The seahorse places its capture region within a low-disturbance zone, whereas the stickleback’s frontal region remains comparatively exposed to deformation.</a:t>
            </a:r>
          </a:p>
        </p:txBody>
      </p:sp>
      <p:pic>
        <p:nvPicPr>
          <p:cNvPr id="4" name="Picture 3" descr="f6.png"/>
          <p:cNvPicPr>
            <a:picLocks noChangeAspect="1"/>
          </p:cNvPicPr>
          <p:nvPr/>
        </p:nvPicPr>
        <p:blipFill>
          <a:blip r:embed="rId2"/>
          <a:stretch>
            <a:fillRect/>
          </a:stretch>
        </p:blipFill>
        <p:spPr>
          <a:xfrm>
            <a:off x="7074717" y="1280160"/>
            <a:ext cx="361370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6a–b. Flow deformation around a stickleback head.</a:t>
            </a:r>
          </a:p>
        </p:txBody>
      </p:sp>
      <p:pic>
        <p:nvPicPr>
          <p:cNvPr id="6" name="Picture 5" descr="f5.png"/>
          <p:cNvPicPr>
            <a:picLocks noChangeAspect="1"/>
          </p:cNvPicPr>
          <p:nvPr/>
        </p:nvPicPr>
        <p:blipFill>
          <a:blip r:embed="rId3"/>
          <a:stretch>
            <a:fillRect/>
          </a:stretch>
        </p:blipFill>
        <p:spPr>
          <a:xfrm>
            <a:off x="6623519" y="3886200"/>
            <a:ext cx="451609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Gemmell et al. (2013), Fig. 5a–c. Flow deformation around different seahorse head postures.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Gemmell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Pairing changes the context of visual interaction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Mederos and colleagues paired male and female lined seahorses for 5 days, then tested interactions with the familiar partner and an opposite-sex stranger. The animals occupied separate sections of a test tank, allowing their brightness changes to be analyzed during proximity to either individual.</a:t>
            </a:r>
          </a:p>
          <a:p>
            <a:pPr algn="l">
              <a:lnSpc>
                <a:spcPct val="108000"/>
              </a:lnSpc>
              <a:spcAft>
                <a:spcPts val="960"/>
              </a:spcAft>
            </a:pPr>
            <a:r>
              <a:rPr sz="1600" b="1" i="0">
                <a:solidFill>
                  <a:srgbClr val="3F525A"/>
                </a:solidFill>
                <a:latin typeface="Arial"/>
              </a:rPr>
              <a:t>Luminance</a:t>
            </a:r>
            <a:r>
              <a:rPr sz="1600" b="0" i="0">
                <a:solidFill>
                  <a:srgbClr val="000000"/>
                </a:solidFill>
                <a:latin typeface="Arial"/>
              </a:rPr>
              <a:t> describes brightness in a visual channel rather than hue, the kind of color perceived. The researchers calibrated video images and evaluated changes in abdominal luminance using a seahorse visual model. Partner interactions produced larger and more correlated changes than stranger interactions.</a:t>
            </a:r>
          </a:p>
          <a:p>
            <a:pPr algn="l">
              <a:lnSpc>
                <a:spcPct val="108000"/>
              </a:lnSpc>
              <a:spcAft>
                <a:spcPts val="960"/>
              </a:spcAft>
            </a:pPr>
            <a:r>
              <a:rPr sz="1600" b="0" i="0">
                <a:solidFill>
                  <a:srgbClr val="000000"/>
                </a:solidFill>
                <a:latin typeface="Arial"/>
              </a:rPr>
              <a:t>The measured social response was context-dependent brightening. Familiarity with a specific individual altered visual interaction even when both available animals were potential opposite-sex social partners.</a:t>
            </a:r>
          </a:p>
        </p:txBody>
      </p:sp>
      <p:pic>
        <p:nvPicPr>
          <p:cNvPr id="4" name="Picture 3" descr="m2.png"/>
          <p:cNvPicPr>
            <a:picLocks noChangeAspect="1"/>
          </p:cNvPicPr>
          <p:nvPr/>
        </p:nvPicPr>
        <p:blipFill>
          <a:blip r:embed="rId2"/>
          <a:stretch>
            <a:fillRect/>
          </a:stretch>
        </p:blipFill>
        <p:spPr>
          <a:xfrm>
            <a:off x="6739678" y="1280160"/>
            <a:ext cx="46495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2. Partner and stranger interactions differ in luminance change.</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Male brightening exceeds the female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Males produced most of the luminance-change events observed during mutual partner proximity. In tests with a male as the focal animal, his abdominal luminance increased by about 20% during partner interactions, while his female partner increased by about 7%.</a:t>
            </a:r>
          </a:p>
          <a:p>
            <a:pPr algn="l">
              <a:lnSpc>
                <a:spcPct val="108000"/>
              </a:lnSpc>
              <a:spcAft>
                <a:spcPts val="960"/>
              </a:spcAft>
            </a:pPr>
            <a:r>
              <a:rPr sz="1600" b="0" i="0">
                <a:solidFill>
                  <a:srgbClr val="000000"/>
                </a:solidFill>
                <a:latin typeface="Arial"/>
              </a:rPr>
              <a:t>The same focal males brightened by about 14% during interactions with stranger females. Females used as stranger stimulus animals changed far less. </a:t>
            </a:r>
            <a:r>
              <a:rPr sz="1600" b="1" i="0">
                <a:solidFill>
                  <a:srgbClr val="3F525A"/>
                </a:solidFill>
                <a:latin typeface="Arial"/>
              </a:rPr>
              <a:t>Sex-dependent signaling</a:t>
            </a:r>
            <a:r>
              <a:rPr sz="1600" b="0" i="0">
                <a:solidFill>
                  <a:srgbClr val="000000"/>
                </a:solidFill>
                <a:latin typeface="Arial"/>
              </a:rPr>
              <a:t> therefore involved both the identity of the receiver and differences between male and female responses.</a:t>
            </a:r>
          </a:p>
          <a:p>
            <a:pPr algn="l">
              <a:lnSpc>
                <a:spcPct val="108000"/>
              </a:lnSpc>
              <a:spcAft>
                <a:spcPts val="960"/>
              </a:spcAft>
            </a:pPr>
            <a:r>
              <a:rPr sz="1600" b="0" i="0">
                <a:solidFill>
                  <a:srgbClr val="000000"/>
                </a:solidFill>
                <a:latin typeface="Arial"/>
              </a:rPr>
              <a:t>When the female was focal, her familiar male partner showed a particularly large brightness response, averaging about 38%. The interaction is asymmetric: both animals can change luminance, but the male carries much of the observed visual display.</a:t>
            </a:r>
          </a:p>
        </p:txBody>
      </p:sp>
      <p:pic>
        <p:nvPicPr>
          <p:cNvPr id="4" name="Picture 3" descr="m2.png"/>
          <p:cNvPicPr>
            <a:picLocks noChangeAspect="1"/>
          </p:cNvPicPr>
          <p:nvPr/>
        </p:nvPicPr>
        <p:blipFill>
          <a:blip r:embed="rId2"/>
          <a:stretch>
            <a:fillRect/>
          </a:stretch>
        </p:blipFill>
        <p:spPr>
          <a:xfrm>
            <a:off x="6739678" y="1280160"/>
            <a:ext cx="46495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2. Partner and stranger interactions differ in luminance change.</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Partner luminance changes can be coordinated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Behavioral synchrony</a:t>
            </a:r>
            <a:r>
              <a:rPr sz="1600" b="0" i="0">
                <a:solidFill>
                  <a:srgbClr val="000000"/>
                </a:solidFill>
                <a:latin typeface="Arial"/>
              </a:rPr>
              <a:t> occurs when interacting animals coordinate their actions in time. Mederos and colleagues recorded partner-associated luminance changes in lined seahorses, including occasions when a male’s brightening was followed by a female response after a short delay.</a:t>
            </a:r>
          </a:p>
          <a:p>
            <a:pPr algn="l">
              <a:lnSpc>
                <a:spcPct val="108000"/>
              </a:lnSpc>
              <a:spcAft>
                <a:spcPts val="960"/>
              </a:spcAft>
            </a:pPr>
            <a:r>
              <a:rPr sz="1600" b="0" i="0">
                <a:solidFill>
                  <a:srgbClr val="000000"/>
                </a:solidFill>
                <a:latin typeface="Arial"/>
              </a:rPr>
              <a:t>The mean delay in those coordinated events was approximately 13 s. Most luminance changes were performed by the male alone, so coordinated brightening was one component of the interaction rather than the only display pattern. Partner identity also altered the magnitude of the response.</a:t>
            </a:r>
          </a:p>
          <a:p>
            <a:pPr algn="l">
              <a:lnSpc>
                <a:spcPct val="108000"/>
              </a:lnSpc>
              <a:spcAft>
                <a:spcPts val="960"/>
              </a:spcAft>
            </a:pPr>
            <a:r>
              <a:rPr sz="1600" b="0" i="0">
                <a:solidFill>
                  <a:srgbClr val="000000"/>
                </a:solidFill>
                <a:latin typeface="Arial"/>
              </a:rPr>
              <a:t>The authors hypothesized that abdominal brightening may contribute to communication between pair mates. The measured phenomenon combines temporal coordination with partner-associated brightness changes, linking a visible body response to the social context.</a:t>
            </a:r>
          </a:p>
        </p:txBody>
      </p:sp>
      <p:pic>
        <p:nvPicPr>
          <p:cNvPr id="4" name="Picture 3" descr="m2.png"/>
          <p:cNvPicPr>
            <a:picLocks noChangeAspect="1"/>
          </p:cNvPicPr>
          <p:nvPr/>
        </p:nvPicPr>
        <p:blipFill>
          <a:blip r:embed="rId2"/>
          <a:stretch>
            <a:fillRect/>
          </a:stretch>
        </p:blipFill>
        <p:spPr>
          <a:xfrm>
            <a:off x="6739678" y="1280160"/>
            <a:ext cx="464953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2. Partner and stranger interactions differ in luminance change.</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Visual modeling uses the receiver’s cone sensitivities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F525A"/>
                </a:solidFill>
                <a:latin typeface="Arial"/>
              </a:rPr>
              <a:t>visual model</a:t>
            </a:r>
            <a:r>
              <a:rPr sz="1600" b="0" i="0">
                <a:solidFill>
                  <a:srgbClr val="000000"/>
                </a:solidFill>
                <a:latin typeface="Arial"/>
              </a:rPr>
              <a:t> estimates how an animal’s photoreceptors respond to reflected light. Mederos and colleagues used published sensitivities from </a:t>
            </a:r>
            <a:r>
              <a:rPr sz="1600" b="0" i="1">
                <a:solidFill>
                  <a:srgbClr val="000000"/>
                </a:solidFill>
                <a:latin typeface="Arial"/>
              </a:rPr>
              <a:t>Hippocampus subelongatus</a:t>
            </a:r>
            <a:r>
              <a:rPr sz="1600" b="0" i="0">
                <a:solidFill>
                  <a:srgbClr val="000000"/>
                </a:solidFill>
                <a:latin typeface="Arial"/>
              </a:rPr>
              <a:t> to analyze lined-seahorse displays. The source values included cone sensitivity peaks at 467, 522, 537, and 560 nm.</a:t>
            </a:r>
          </a:p>
          <a:p>
            <a:pPr algn="l">
              <a:lnSpc>
                <a:spcPct val="108000"/>
              </a:lnSpc>
              <a:spcAft>
                <a:spcPts val="960"/>
              </a:spcAft>
            </a:pPr>
            <a:r>
              <a:rPr sz="1600" b="1" i="0">
                <a:solidFill>
                  <a:srgbClr val="3F525A"/>
                </a:solidFill>
                <a:latin typeface="Arial"/>
              </a:rPr>
              <a:t>Spectral sensitivity</a:t>
            </a:r>
            <a:r>
              <a:rPr sz="1600" b="0" i="0">
                <a:solidFill>
                  <a:srgbClr val="000000"/>
                </a:solidFill>
                <a:latin typeface="Arial"/>
              </a:rPr>
              <a:t> describes response across light wavelengths. The model assigned the 537 nm channel to brightness and used calibrated images to estimate light captured by the different cone classes. This separates the receiver’s modeled luminance from a human judgment that a seahorse looks brighter.</a:t>
            </a:r>
          </a:p>
          <a:p>
            <a:pPr algn="l">
              <a:lnSpc>
                <a:spcPct val="108000"/>
              </a:lnSpc>
              <a:spcAft>
                <a:spcPts val="960"/>
              </a:spcAft>
            </a:pPr>
            <a:r>
              <a:rPr sz="1600" b="0" i="0">
                <a:solidFill>
                  <a:srgbClr val="000000"/>
                </a:solidFill>
                <a:latin typeface="Arial"/>
              </a:rPr>
              <a:t>Using sensitivities from another species is a model assumption, because equivalent measurements were unavailable for the lined seahorse. The resulting analysis specifically concerns brightness changes estimated under that assumption.</a:t>
            </a:r>
          </a:p>
        </p:txBody>
      </p:sp>
      <p:pic>
        <p:nvPicPr>
          <p:cNvPr id="4" name="Picture 3" descr="retina_ab.png"/>
          <p:cNvPicPr>
            <a:picLocks noChangeAspect="1"/>
          </p:cNvPicPr>
          <p:nvPr/>
        </p:nvPicPr>
        <p:blipFill>
          <a:blip r:embed="rId2"/>
          <a:stretch>
            <a:fillRect/>
          </a:stretch>
        </p:blipFill>
        <p:spPr>
          <a:xfrm>
            <a:off x="6138367" y="1280160"/>
            <a:ext cx="5486400" cy="1240076"/>
          </a:xfrm>
          <a:prstGeom prst="rect">
            <a:avLst/>
          </a:prstGeom>
        </p:spPr>
      </p:pic>
      <p:sp>
        <p:nvSpPr>
          <p:cNvPr id="5" name="Figure caption"/>
          <p:cNvSpPr txBox="1"/>
          <p:nvPr/>
        </p:nvSpPr>
        <p:spPr>
          <a:xfrm>
            <a:off x="6138367" y="26116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Sun et al. (2021), Fig. 4A–B. Newborn eye and labeled retinal layers.</a:t>
            </a:r>
          </a:p>
        </p:txBody>
      </p:sp>
      <p:pic>
        <p:nvPicPr>
          <p:cNvPr id="6" name="Picture 5" descr="m2.png"/>
          <p:cNvPicPr>
            <a:picLocks noChangeAspect="1"/>
          </p:cNvPicPr>
          <p:nvPr/>
        </p:nvPicPr>
        <p:blipFill>
          <a:blip r:embed="rId3"/>
          <a:stretch>
            <a:fillRect/>
          </a:stretch>
        </p:blipFill>
        <p:spPr>
          <a:xfrm>
            <a:off x="7867572" y="3886200"/>
            <a:ext cx="2027989"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2. Partner and stranger interactions differ in luminance change.</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 Sun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Pairing studies sampled whole-brain gene expression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behavioral testing, Mederos and colleagues extracted </a:t>
            </a:r>
            <a:r>
              <a:rPr sz="1500" b="1" i="0">
                <a:solidFill>
                  <a:srgbClr val="3F525A"/>
                </a:solidFill>
                <a:latin typeface="Arial"/>
              </a:rPr>
              <a:t>RNA</a:t>
            </a:r>
            <a:r>
              <a:rPr sz="1500" b="0" i="0">
                <a:solidFill>
                  <a:srgbClr val="000000"/>
                </a:solidFill>
                <a:latin typeface="Arial"/>
              </a:rPr>
              <a:t>, the molecules carrying gene transcripts, from individual whole brains. RNA sequencing estimated the abundance of thousands of transcripts in paired males, paired females, and unpaired males. Whole-brain sampling combines contributions from multiple regions and cell types.</a:t>
            </a:r>
          </a:p>
          <a:p>
            <a:pPr algn="l">
              <a:lnSpc>
                <a:spcPct val="108000"/>
              </a:lnSpc>
              <a:spcAft>
                <a:spcPts val="900"/>
              </a:spcAft>
            </a:pPr>
            <a:r>
              <a:rPr sz="1500" b="0" i="0">
                <a:solidFill>
                  <a:srgbClr val="000000"/>
                </a:solidFill>
                <a:latin typeface="Arial"/>
              </a:rPr>
              <a:t>The exploratory profiles included metabolic, hormonal, and cilia-associated processes. </a:t>
            </a:r>
            <a:r>
              <a:rPr sz="1500" b="1" i="0">
                <a:solidFill>
                  <a:srgbClr val="3F525A"/>
                </a:solidFill>
                <a:latin typeface="Arial"/>
              </a:rPr>
              <a:t>Cilia</a:t>
            </a:r>
            <a:r>
              <a:rPr sz="1500" b="0" i="0">
                <a:solidFill>
                  <a:srgbClr val="000000"/>
                </a:solidFill>
                <a:latin typeface="Arial"/>
              </a:rPr>
              <a:t> are small cellular projections implicated in sensing and signaling. The authors proposed that pairing-related metabolic differences might accompany social activity, neural activity, preparation for pregnancy, or several of these processes.</a:t>
            </a:r>
          </a:p>
          <a:p>
            <a:pPr algn="l">
              <a:lnSpc>
                <a:spcPct val="108000"/>
              </a:lnSpc>
              <a:spcAft>
                <a:spcPts val="900"/>
              </a:spcAft>
            </a:pPr>
            <a:r>
              <a:rPr sz="1500" b="0" i="0">
                <a:solidFill>
                  <a:srgbClr val="000000"/>
                </a:solidFill>
                <a:latin typeface="Arial"/>
              </a:rPr>
              <a:t>Individual gene differences did not survive the study’s correction for testing many genes. These expression patterns are therefore exploratory candidates, while the behavioral observations directly describe the partner-associated luminance response.</a:t>
            </a:r>
          </a:p>
        </p:txBody>
      </p:sp>
      <p:pic>
        <p:nvPicPr>
          <p:cNvPr id="4" name="Picture 3" descr="m3.png"/>
          <p:cNvPicPr>
            <a:picLocks noChangeAspect="1"/>
          </p:cNvPicPr>
          <p:nvPr/>
        </p:nvPicPr>
        <p:blipFill>
          <a:blip r:embed="rId2"/>
          <a:stretch>
            <a:fillRect/>
          </a:stretch>
        </p:blipFill>
        <p:spPr>
          <a:xfrm>
            <a:off x="7540099" y="1280160"/>
            <a:ext cx="268293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3. Exploratory expression profiles of paired and unpaired groups.</a:t>
            </a:r>
          </a:p>
        </p:txBody>
      </p:sp>
      <p:pic>
        <p:nvPicPr>
          <p:cNvPr id="6" name="Picture 5" descr="b13.png"/>
          <p:cNvPicPr>
            <a:picLocks noChangeAspect="1"/>
          </p:cNvPicPr>
          <p:nvPr/>
        </p:nvPicPr>
        <p:blipFill>
          <a:blip r:embed="rId3"/>
          <a:stretch>
            <a:fillRect/>
          </a:stretch>
        </p:blipFill>
        <p:spPr>
          <a:xfrm>
            <a:off x="6780614" y="3886200"/>
            <a:ext cx="420190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13. Sagittal brain histology with the five major divisions.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Receptor transcripts suggest candidate social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3F525A"/>
                </a:solidFill>
                <a:latin typeface="Arial"/>
              </a:rPr>
              <a:t>receptor</a:t>
            </a:r>
            <a:r>
              <a:rPr sz="1500" b="0" i="0">
                <a:solidFill>
                  <a:srgbClr val="000000"/>
                </a:solidFill>
                <a:latin typeface="Arial"/>
              </a:rPr>
              <a:t> is a protein that receives a signal and changes cellular activity. Mederos and colleagues examined transcripts for nonapeptide, dopamine, serotonin, and opioid receptor systems previously associated with social behavior in vertebrates. Their data describe RNA abundance rather than receptor activation.</a:t>
            </a:r>
          </a:p>
          <a:p>
            <a:pPr algn="l">
              <a:lnSpc>
                <a:spcPct val="108000"/>
              </a:lnSpc>
              <a:spcAft>
                <a:spcPts val="900"/>
              </a:spcAft>
            </a:pPr>
            <a:r>
              <a:rPr sz="1500" b="0" i="0">
                <a:solidFill>
                  <a:srgbClr val="000000"/>
                </a:solidFill>
                <a:latin typeface="Arial"/>
              </a:rPr>
              <a:t>Exploratory normalized profiles placed oxytocin-receptor transcripts relatively higher in paired females and serotonin-receptor Htr4 transcripts relatively higher in paired males. </a:t>
            </a:r>
            <a:r>
              <a:rPr sz="1500" b="1" i="0">
                <a:solidFill>
                  <a:srgbClr val="3F525A"/>
                </a:solidFill>
                <a:latin typeface="Arial"/>
              </a:rPr>
              <a:t>Nonapeptides</a:t>
            </a:r>
            <a:r>
              <a:rPr sz="1500" b="0" i="0">
                <a:solidFill>
                  <a:srgbClr val="000000"/>
                </a:solidFill>
                <a:latin typeface="Arial"/>
              </a:rPr>
              <a:t> are peptides of nine amino acids; fish isotocin is related to mammalian oxytocin. These comparisons identify candidate signaling systems for future seahorse experiments.</a:t>
            </a:r>
          </a:p>
          <a:p>
            <a:pPr algn="l">
              <a:lnSpc>
                <a:spcPct val="108000"/>
              </a:lnSpc>
              <a:spcAft>
                <a:spcPts val="900"/>
              </a:spcAft>
            </a:pPr>
            <a:r>
              <a:rPr sz="1500" b="0" i="0">
                <a:solidFill>
                  <a:srgbClr val="000000"/>
                </a:solidFill>
                <a:latin typeface="Arial"/>
              </a:rPr>
              <a:t>The social role of those receptors remains a hypothesis because the study did not manipulate them. The experimentally measured phenotype was partner-related brightening, which provides a behavior to test against specific receptor interventions.</a:t>
            </a:r>
          </a:p>
        </p:txBody>
      </p:sp>
      <p:pic>
        <p:nvPicPr>
          <p:cNvPr id="4" name="Picture 3" descr="m3.png"/>
          <p:cNvPicPr>
            <a:picLocks noChangeAspect="1"/>
          </p:cNvPicPr>
          <p:nvPr/>
        </p:nvPicPr>
        <p:blipFill>
          <a:blip r:embed="rId2"/>
          <a:stretch>
            <a:fillRect/>
          </a:stretch>
        </p:blipFill>
        <p:spPr>
          <a:xfrm>
            <a:off x="7540099" y="1280160"/>
            <a:ext cx="268293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3. Exploratory expression profiles of paired and unpaired groups.</a:t>
            </a:r>
          </a:p>
        </p:txBody>
      </p:sp>
      <p:pic>
        <p:nvPicPr>
          <p:cNvPr id="6" name="Picture 5" descr="b13.png"/>
          <p:cNvPicPr>
            <a:picLocks noChangeAspect="1"/>
          </p:cNvPicPr>
          <p:nvPr/>
        </p:nvPicPr>
        <p:blipFill>
          <a:blip r:embed="rId3"/>
          <a:stretch>
            <a:fillRect/>
          </a:stretch>
        </p:blipFill>
        <p:spPr>
          <a:xfrm>
            <a:off x="6780614" y="3886200"/>
            <a:ext cx="420190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13. Sagittal brain histology with the five major divisions.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Cross-species gene rankings share endocrine themes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3F525A"/>
                </a:solidFill>
                <a:latin typeface="Arial"/>
              </a:rPr>
              <a:t>Orthologous genes</a:t>
            </a:r>
            <a:r>
              <a:rPr sz="1500" b="0" i="0">
                <a:solidFill>
                  <a:srgbClr val="000000"/>
                </a:solidFill>
                <a:latin typeface="Arial"/>
              </a:rPr>
              <a:t> are corresponding genes inherited from a shared ancestor. Mederos and colleagues compared ranked expression changes in seahorse whole brains with published prairie-vole brain datasets. The comparison searched for coordinated overlap rather than requiring identical changes in every individual gene.</a:t>
            </a:r>
          </a:p>
          <a:p>
            <a:pPr algn="l">
              <a:lnSpc>
                <a:spcPct val="108000"/>
              </a:lnSpc>
              <a:spcAft>
                <a:spcPts val="900"/>
              </a:spcAft>
            </a:pPr>
            <a:r>
              <a:rPr sz="1500" b="0" i="0">
                <a:solidFill>
                  <a:srgbClr val="000000"/>
                </a:solidFill>
                <a:latin typeface="Arial"/>
              </a:rPr>
              <a:t>Shared expression themes included metabolic processes and reproductive hormone-associated genes. The authors found overlap between paired male seahorses and paired male voles, even though the sampled neural tissue differed between species. These similarities connect reproduction and social state at the level of gene-expression patterns.</a:t>
            </a:r>
          </a:p>
          <a:p>
            <a:pPr algn="l">
              <a:lnSpc>
                <a:spcPct val="108000"/>
              </a:lnSpc>
              <a:spcAft>
                <a:spcPts val="900"/>
              </a:spcAft>
            </a:pPr>
            <a:r>
              <a:rPr sz="1500" b="0" i="0">
                <a:solidFill>
                  <a:srgbClr val="000000"/>
                </a:solidFill>
                <a:latin typeface="Arial"/>
              </a:rPr>
              <a:t>The overlap supports a hypothesis of shared molecular components across distinct reproductive systems. Seahorse male pregnancy and mammalian pair-associated physiology remain different biological contexts in which related endocrine genes can participate.</a:t>
            </a:r>
          </a:p>
        </p:txBody>
      </p:sp>
      <p:pic>
        <p:nvPicPr>
          <p:cNvPr id="4" name="Picture 3" descr="m4.png"/>
          <p:cNvPicPr>
            <a:picLocks noChangeAspect="1"/>
          </p:cNvPicPr>
          <p:nvPr/>
        </p:nvPicPr>
        <p:blipFill>
          <a:blip r:embed="rId2"/>
          <a:stretch>
            <a:fillRect/>
          </a:stretch>
        </p:blipFill>
        <p:spPr>
          <a:xfrm>
            <a:off x="6138367" y="1280160"/>
            <a:ext cx="5486400" cy="1767430"/>
          </a:xfrm>
          <a:prstGeom prst="rect">
            <a:avLst/>
          </a:prstGeom>
        </p:spPr>
      </p:pic>
      <p:sp>
        <p:nvSpPr>
          <p:cNvPr id="5" name="Figure caption"/>
          <p:cNvSpPr txBox="1"/>
          <p:nvPr/>
        </p:nvSpPr>
        <p:spPr>
          <a:xfrm>
            <a:off x="6138367" y="313903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Mederos et al. (2022), Fig. 4A,D,G. Overlap between seahorse and prairie-vole expression rankings.</a:t>
            </a:r>
          </a:p>
        </p:txBody>
      </p:sp>
      <p:pic>
        <p:nvPicPr>
          <p:cNvPr id="6" name="Picture 5" descr="b13.png"/>
          <p:cNvPicPr>
            <a:picLocks noChangeAspect="1"/>
          </p:cNvPicPr>
          <p:nvPr/>
        </p:nvPicPr>
        <p:blipFill>
          <a:blip r:embed="rId3"/>
          <a:stretch>
            <a:fillRect/>
          </a:stretch>
        </p:blipFill>
        <p:spPr>
          <a:xfrm>
            <a:off x="6780614" y="3886200"/>
            <a:ext cx="4201905"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13. Sagittal brain histology with the five major divisions.</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Mederos et al. (2022);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Kisspeptin signaling is concentrated in the brain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Kisspeptin</a:t>
            </a:r>
            <a:r>
              <a:rPr sz="1600" b="0" i="0">
                <a:solidFill>
                  <a:srgbClr val="000000"/>
                </a:solidFill>
                <a:latin typeface="Arial"/>
              </a:rPr>
              <a:t> is a peptide signal associated with reproductive regulation. Zhang and colleagues identified a kiss2 gene and its receptor gene, GPR54-2, in lined seahorses. Their tissue measurements found kiss2 transcripts in several locations, including brain and gonadal tissue.</a:t>
            </a:r>
          </a:p>
          <a:p>
            <a:pPr algn="l">
              <a:lnSpc>
                <a:spcPct val="108000"/>
              </a:lnSpc>
              <a:spcAft>
                <a:spcPts val="960"/>
              </a:spcAft>
            </a:pPr>
            <a:r>
              <a:rPr sz="1600" b="0" i="0">
                <a:solidFill>
                  <a:srgbClr val="000000"/>
                </a:solidFill>
                <a:latin typeface="Arial"/>
              </a:rPr>
              <a:t>GPR54-2 transcripts were concentrated in the brain and close to the detection limit in peripheral tissues. Within the brain, both ligand and receptor transcripts were especially abundant in the hypothalamic region. The complementary distribution places a peptide-producing system and a potential responding system in reproductive neural tissue.</a:t>
            </a:r>
          </a:p>
          <a:p>
            <a:pPr algn="l">
              <a:lnSpc>
                <a:spcPct val="108000"/>
              </a:lnSpc>
              <a:spcAft>
                <a:spcPts val="960"/>
              </a:spcAft>
            </a:pPr>
            <a:r>
              <a:rPr sz="1600" b="0" i="0">
                <a:solidFill>
                  <a:srgbClr val="000000"/>
                </a:solidFill>
                <a:latin typeface="Arial"/>
              </a:rPr>
              <a:t>Female brains contained higher transcript levels than male brains in the reported comparison. Sex and reproductive state therefore influence the molecular organization of the same named kisspeptin signaling system.</a:t>
            </a:r>
          </a:p>
        </p:txBody>
      </p:sp>
      <p:pic>
        <p:nvPicPr>
          <p:cNvPr id="4" name="Picture 3" descr="k5.png"/>
          <p:cNvPicPr>
            <a:picLocks noChangeAspect="1"/>
          </p:cNvPicPr>
          <p:nvPr/>
        </p:nvPicPr>
        <p:blipFill>
          <a:blip r:embed="rId2"/>
          <a:stretch>
            <a:fillRect/>
          </a:stretch>
        </p:blipFill>
        <p:spPr>
          <a:xfrm>
            <a:off x="7677038" y="1280160"/>
            <a:ext cx="2409057"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5. Kiss2 and GPR54-2 transcript distribution.</a:t>
            </a:r>
          </a:p>
        </p:txBody>
      </p:sp>
      <p:pic>
        <p:nvPicPr>
          <p:cNvPr id="6" name="Picture 5" descr="b25.png"/>
          <p:cNvPicPr>
            <a:picLocks noChangeAspect="1"/>
          </p:cNvPicPr>
          <p:nvPr/>
        </p:nvPicPr>
        <p:blipFill>
          <a:blip r:embed="rId3"/>
          <a:stretch>
            <a:fillRect/>
          </a:stretch>
        </p:blipFill>
        <p:spPr>
          <a:xfrm>
            <a:off x="8190557" y="3886200"/>
            <a:ext cx="138201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25. Periventricular hypothalamic cell population.</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Brain Kiss2 rises near the onset of puberty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Puberty</a:t>
            </a:r>
            <a:r>
              <a:rPr sz="1600" b="0" i="0">
                <a:solidFill>
                  <a:srgbClr val="000000"/>
                </a:solidFill>
                <a:latin typeface="Arial"/>
              </a:rPr>
              <a:t> is the developmental transition toward reproductive competence. Zhang and colleagues followed male lined seahorses from immature animals at 3 months through early puberty at 4 months, advanced puberty at 5 months, and maturity at 6 months. Testis histology distinguished these developmental stages.</a:t>
            </a:r>
          </a:p>
          <a:p>
            <a:pPr algn="l">
              <a:lnSpc>
                <a:spcPct val="108000"/>
              </a:lnSpc>
              <a:spcAft>
                <a:spcPts val="960"/>
              </a:spcAft>
            </a:pPr>
            <a:r>
              <a:rPr sz="1600" b="0" i="0">
                <a:solidFill>
                  <a:srgbClr val="000000"/>
                </a:solidFill>
                <a:latin typeface="Arial"/>
              </a:rPr>
              <a:t>Brain kiss2 transcript abundance was highest around early puberty, while testis kiss2 showed no comparable developmental change. The difference places the stage-associated molecular signal primarily in the brain within the tissues examined.</a:t>
            </a:r>
          </a:p>
          <a:p>
            <a:pPr algn="l">
              <a:lnSpc>
                <a:spcPct val="108000"/>
              </a:lnSpc>
              <a:spcAft>
                <a:spcPts val="960"/>
              </a:spcAft>
            </a:pPr>
            <a:r>
              <a:rPr sz="1600" b="0" i="0">
                <a:solidFill>
                  <a:srgbClr val="000000"/>
                </a:solidFill>
                <a:latin typeface="Arial"/>
              </a:rPr>
              <a:t>The gonads continued maturing as the animals aged. Brain transcript change and testicular differentiation therefore describe complementary parts of reproductive development, with the kisspeptin system positioned as a candidate regulator of the transition rather than merely a marker of adult body size.</a:t>
            </a:r>
          </a:p>
        </p:txBody>
      </p:sp>
      <p:pic>
        <p:nvPicPr>
          <p:cNvPr id="4" name="Picture 3" descr="k6a.png"/>
          <p:cNvPicPr>
            <a:picLocks noChangeAspect="1"/>
          </p:cNvPicPr>
          <p:nvPr/>
        </p:nvPicPr>
        <p:blipFill>
          <a:blip r:embed="rId2"/>
          <a:stretch>
            <a:fillRect/>
          </a:stretch>
        </p:blipFill>
        <p:spPr>
          <a:xfrm>
            <a:off x="7783376" y="1280160"/>
            <a:ext cx="256214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6A–B. Kiss2 expression and testis histology during sexual development.</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Pregnancy reduces Kiss2-associated transcripts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Zhang and colleagues compared male lined seahorses before pregnancy, during pregnancy, and after birth. </a:t>
            </a:r>
            <a:r>
              <a:rPr sz="1600" b="1" i="0">
                <a:solidFill>
                  <a:srgbClr val="3F525A"/>
                </a:solidFill>
                <a:latin typeface="Arial"/>
              </a:rPr>
              <a:t>Pregnancy</a:t>
            </a:r>
            <a:r>
              <a:rPr sz="1600" b="0" i="0">
                <a:solidFill>
                  <a:srgbClr val="000000"/>
                </a:solidFill>
                <a:latin typeface="Arial"/>
              </a:rPr>
              <a:t> in seahorses is the period of paternal incubation following egg transfer and fertilization. Brain and testis kiss2 transcripts decreased during that stage and returned toward preceding levels after birth.</a:t>
            </a:r>
          </a:p>
          <a:p>
            <a:pPr algn="l">
              <a:lnSpc>
                <a:spcPct val="108000"/>
              </a:lnSpc>
              <a:spcAft>
                <a:spcPts val="960"/>
              </a:spcAft>
            </a:pPr>
            <a:r>
              <a:rPr sz="1600" b="0" i="0">
                <a:solidFill>
                  <a:srgbClr val="000000"/>
                </a:solidFill>
                <a:latin typeface="Arial"/>
              </a:rPr>
              <a:t>Brain GPR54-2 transcripts also decreased during pregnancy. Ligand and receptor expression therefore changed together across the reproductive cycle in the sampled tissues. The same peptide system associated with puberty was reorganized during an adult reproductive state.</a:t>
            </a:r>
          </a:p>
          <a:p>
            <a:pPr algn="l">
              <a:lnSpc>
                <a:spcPct val="108000"/>
              </a:lnSpc>
              <a:spcAft>
                <a:spcPts val="960"/>
              </a:spcAft>
            </a:pPr>
            <a:r>
              <a:rPr sz="1600" b="0" i="0">
                <a:solidFill>
                  <a:srgbClr val="000000"/>
                </a:solidFill>
                <a:latin typeface="Arial"/>
              </a:rPr>
              <a:t>The authors hypothesized that reduced reproductive signaling during pregnancy relates to the temporary reproductive cycle. The observed return after birth identifies molecular reversibility rather than a permanent loss of the kisspeptin system.</a:t>
            </a:r>
          </a:p>
        </p:txBody>
      </p:sp>
      <p:pic>
        <p:nvPicPr>
          <p:cNvPr id="4" name="Picture 3" descr="k7.png"/>
          <p:cNvPicPr>
            <a:picLocks noChangeAspect="1"/>
          </p:cNvPicPr>
          <p:nvPr/>
        </p:nvPicPr>
        <p:blipFill>
          <a:blip r:embed="rId2"/>
          <a:stretch>
            <a:fillRect/>
          </a:stretch>
        </p:blipFill>
        <p:spPr>
          <a:xfrm>
            <a:off x="6419336" y="1280160"/>
            <a:ext cx="4924461"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7. Kiss2 and receptor expression across pregnancy stages.</a:t>
            </a:r>
          </a:p>
        </p:txBody>
      </p:sp>
      <p:pic>
        <p:nvPicPr>
          <p:cNvPr id="6" name="Picture 5" descr="b25.png"/>
          <p:cNvPicPr>
            <a:picLocks noChangeAspect="1"/>
          </p:cNvPicPr>
          <p:nvPr/>
        </p:nvPicPr>
        <p:blipFill>
          <a:blip r:embed="rId3"/>
          <a:stretch>
            <a:fillRect/>
          </a:stretch>
        </p:blipFill>
        <p:spPr>
          <a:xfrm>
            <a:off x="8190557" y="3886200"/>
            <a:ext cx="138201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25. Periventricular hypothalamic cell population.</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Kiss2 administration changes pituitary gene expression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Zhang and colleagues administered </a:t>
            </a:r>
            <a:r>
              <a:rPr sz="1600" b="1" i="0">
                <a:solidFill>
                  <a:srgbClr val="3F525A"/>
                </a:solidFill>
                <a:latin typeface="Arial"/>
              </a:rPr>
              <a:t>Kiss2-10</a:t>
            </a:r>
            <a:r>
              <a:rPr sz="1600" b="0" i="0">
                <a:solidFill>
                  <a:srgbClr val="000000"/>
                </a:solidFill>
                <a:latin typeface="Arial"/>
              </a:rPr>
              <a:t>, the mature ten-amino-acid peptide, to sexually mature male lined seahorses. They then measured brain and pituitary transcripts at 3 and 6 hours, comparing peptide-treated animals with saline-treated controls. This intervention tested physiological responsiveness to the identified signal.</a:t>
            </a:r>
          </a:p>
          <a:p>
            <a:pPr algn="l">
              <a:lnSpc>
                <a:spcPct val="108000"/>
              </a:lnSpc>
              <a:spcAft>
                <a:spcPts val="960"/>
              </a:spcAft>
            </a:pPr>
            <a:r>
              <a:rPr sz="1600" b="0" i="0">
                <a:solidFill>
                  <a:srgbClr val="000000"/>
                </a:solidFill>
                <a:latin typeface="Arial"/>
              </a:rPr>
              <a:t>Pituitary FSHβ transcripts increased at 3 hours, and both FSHβ and LHβ increased at 6 hours. </a:t>
            </a:r>
            <a:r>
              <a:rPr sz="1600" b="1" i="0">
                <a:solidFill>
                  <a:srgbClr val="3F525A"/>
                </a:solidFill>
                <a:latin typeface="Arial"/>
              </a:rPr>
              <a:t>Gonadotropins</a:t>
            </a:r>
            <a:r>
              <a:rPr sz="1600" b="0" i="0">
                <a:solidFill>
                  <a:srgbClr val="000000"/>
                </a:solidFill>
                <a:latin typeface="Arial"/>
              </a:rPr>
              <a:t> are pituitary hormones regulating the gonads; FSH and LH are follicle-stimulating and luteinizing hormone. Their beta-subunit transcripts identify components of those hormones.</a:t>
            </a:r>
          </a:p>
          <a:p>
            <a:pPr algn="l">
              <a:lnSpc>
                <a:spcPct val="108000"/>
              </a:lnSpc>
              <a:spcAft>
                <a:spcPts val="960"/>
              </a:spcAft>
            </a:pPr>
            <a:r>
              <a:rPr sz="1600" b="0" i="0">
                <a:solidFill>
                  <a:srgbClr val="000000"/>
                </a:solidFill>
                <a:latin typeface="Arial"/>
              </a:rPr>
              <a:t>The measured salmon-type gonadotropin-releasing hormone, sGnRH, and GPR54-2 transcripts did not increase. Pituitary gene responses can therefore occur without a parallel increase in these particular upstream transcripts over the sampled interval.</a:t>
            </a:r>
          </a:p>
        </p:txBody>
      </p:sp>
      <p:pic>
        <p:nvPicPr>
          <p:cNvPr id="4" name="Picture 3" descr="k8.png"/>
          <p:cNvPicPr>
            <a:picLocks noChangeAspect="1"/>
          </p:cNvPicPr>
          <p:nvPr/>
        </p:nvPicPr>
        <p:blipFill>
          <a:blip r:embed="rId2"/>
          <a:stretch>
            <a:fillRect/>
          </a:stretch>
        </p:blipFill>
        <p:spPr>
          <a:xfrm>
            <a:off x="7642499" y="1280160"/>
            <a:ext cx="2478136"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8. Endocrine transcript responses at 3 and 6 hours after Kiss2-10.</a:t>
            </a:r>
          </a:p>
        </p:txBody>
      </p:sp>
      <p:pic>
        <p:nvPicPr>
          <p:cNvPr id="6" name="Picture 5" descr="b27.png"/>
          <p:cNvPicPr>
            <a:picLocks noChangeAspect="1"/>
          </p:cNvPicPr>
          <p:nvPr/>
        </p:nvPicPr>
        <p:blipFill>
          <a:blip r:embed="rId3"/>
          <a:stretch>
            <a:fillRect/>
          </a:stretch>
        </p:blipFill>
        <p:spPr>
          <a:xfrm>
            <a:off x="7751273" y="3886200"/>
            <a:ext cx="226058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27. Neural and glandular regions of the pituitary.</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Kiss2 administration raises circulating testosterone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Testosterone</a:t>
            </a:r>
            <a:r>
              <a:rPr sz="1600" b="0" i="0">
                <a:solidFill>
                  <a:srgbClr val="000000"/>
                </a:solidFill>
                <a:latin typeface="Arial"/>
              </a:rPr>
              <a:t> is a steroid hormone associated with reproductive physiology. Following Kiss2-10 administration, Zhang and colleagues collected blood from male lined seahorses at 3 and 6 hours and measured serum testosterone with an immunoassay. The saline-treated group provided the injection comparison.</a:t>
            </a:r>
          </a:p>
          <a:p>
            <a:pPr algn="l">
              <a:lnSpc>
                <a:spcPct val="108000"/>
              </a:lnSpc>
              <a:spcAft>
                <a:spcPts val="960"/>
              </a:spcAft>
            </a:pPr>
            <a:r>
              <a:rPr sz="1600" b="0" i="0">
                <a:solidFill>
                  <a:srgbClr val="000000"/>
                </a:solidFill>
                <a:latin typeface="Arial"/>
              </a:rPr>
              <a:t>Testosterone was elevated at 6 hours after peptide treatment. The same experimental series found increased pituitary gonadotropin transcripts, connecting the administered peptide to changes at more than one level of reproductive physiology.</a:t>
            </a:r>
          </a:p>
          <a:p>
            <a:pPr algn="l">
              <a:lnSpc>
                <a:spcPct val="108000"/>
              </a:lnSpc>
              <a:spcAft>
                <a:spcPts val="960"/>
              </a:spcAft>
            </a:pPr>
            <a:r>
              <a:rPr sz="1600" b="0" i="0">
                <a:solidFill>
                  <a:srgbClr val="000000"/>
                </a:solidFill>
                <a:latin typeface="Arial"/>
              </a:rPr>
              <a:t>The observations support endocrine responsiveness of mature males to Kiss2-10. A circulating hormone response and a tissue transcript response are different measurements, and their coordinated changes connect the identified peptide system to the reproductive axis.</a:t>
            </a:r>
          </a:p>
        </p:txBody>
      </p:sp>
      <p:pic>
        <p:nvPicPr>
          <p:cNvPr id="4" name="Picture 3" descr="k9.png"/>
          <p:cNvPicPr>
            <a:picLocks noChangeAspect="1"/>
          </p:cNvPicPr>
          <p:nvPr/>
        </p:nvPicPr>
        <p:blipFill>
          <a:blip r:embed="rId2"/>
          <a:stretch>
            <a:fillRect/>
          </a:stretch>
        </p:blipFill>
        <p:spPr>
          <a:xfrm>
            <a:off x="7645967" y="1280160"/>
            <a:ext cx="2471200"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9. Serum testosterone after Kiss2-10 administration.</a:t>
            </a:r>
          </a:p>
        </p:txBody>
      </p:sp>
      <p:pic>
        <p:nvPicPr>
          <p:cNvPr id="6" name="Picture 5" descr="k6b.png"/>
          <p:cNvPicPr>
            <a:picLocks noChangeAspect="1"/>
          </p:cNvPicPr>
          <p:nvPr/>
        </p:nvPicPr>
        <p:blipFill>
          <a:blip r:embed="rId3"/>
          <a:stretch>
            <a:fillRect/>
          </a:stretch>
        </p:blipFill>
        <p:spPr>
          <a:xfrm>
            <a:off x="7838962" y="3886200"/>
            <a:ext cx="2085209"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6B(a–d). Testis histology from immaturity to maturity.</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Vasotocin and isotocin occupy preoptic tissue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Vasotocin</a:t>
            </a:r>
            <a:r>
              <a:rPr sz="1600" b="0" i="0">
                <a:solidFill>
                  <a:srgbClr val="000000"/>
                </a:solidFill>
                <a:latin typeface="Arial"/>
              </a:rPr>
              <a:t> and </a:t>
            </a:r>
            <a:r>
              <a:rPr sz="1600" b="1" i="0">
                <a:solidFill>
                  <a:srgbClr val="3F525A"/>
                </a:solidFill>
                <a:latin typeface="Arial"/>
              </a:rPr>
              <a:t>isotocin</a:t>
            </a:r>
            <a:r>
              <a:rPr sz="1600" b="0" i="0">
                <a:solidFill>
                  <a:srgbClr val="000000"/>
                </a:solidFill>
                <a:latin typeface="Arial"/>
              </a:rPr>
              <a:t> are nine-amino-acid peptide hormones related to mammalian vasopressin and oxytocin. Zhang and colleagues cloned their precursors in lined seahorses and used in situ hybridization, a method detecting selected RNA sequences within tissue, to locate cells expressing the genes.</a:t>
            </a:r>
          </a:p>
          <a:p>
            <a:pPr algn="l">
              <a:lnSpc>
                <a:spcPct val="108000"/>
              </a:lnSpc>
              <a:spcAft>
                <a:spcPts val="960"/>
              </a:spcAft>
            </a:pPr>
            <a:r>
              <a:rPr sz="1600" b="0" i="0">
                <a:solidFill>
                  <a:srgbClr val="000000"/>
                </a:solidFill>
                <a:latin typeface="Arial"/>
              </a:rPr>
              <a:t>Both transcript signals occurred in the </a:t>
            </a:r>
            <a:r>
              <a:rPr sz="1600" b="1" i="0">
                <a:solidFill>
                  <a:srgbClr val="3F525A"/>
                </a:solidFill>
                <a:latin typeface="Arial"/>
              </a:rPr>
              <a:t>preoptic area</a:t>
            </a:r>
            <a:r>
              <a:rPr sz="1600" b="0" i="0">
                <a:solidFill>
                  <a:srgbClr val="000000"/>
                </a:solidFill>
                <a:latin typeface="Arial"/>
              </a:rPr>
              <a:t>, hypothalamic tissue associated with reproductive regulation. Vasotocin labeling was concentrated centrally, whereas isotocin labeling was more peripheral within the examined area. The preparations localized signaling-molecule transcripts to identifiable neural tissue.</a:t>
            </a:r>
          </a:p>
          <a:p>
            <a:pPr algn="l">
              <a:lnSpc>
                <a:spcPct val="108000"/>
              </a:lnSpc>
              <a:spcAft>
                <a:spcPts val="960"/>
              </a:spcAft>
            </a:pPr>
            <a:r>
              <a:rPr sz="1600" b="0" i="0">
                <a:solidFill>
                  <a:srgbClr val="000000"/>
                </a:solidFill>
                <a:latin typeface="Arial"/>
              </a:rPr>
              <a:t>The study also used a sense-probe control to assess nonspecific labeling. Transcript localization and the later vasotocin intervention supply complementary anatomical and physiological evidence for a seahorse neuroendocrine system.</a:t>
            </a:r>
          </a:p>
        </p:txBody>
      </p:sp>
      <p:pic>
        <p:nvPicPr>
          <p:cNvPr id="4" name="Picture 3" descr="v4bc.png"/>
          <p:cNvPicPr>
            <a:picLocks noChangeAspect="1"/>
          </p:cNvPicPr>
          <p:nvPr/>
        </p:nvPicPr>
        <p:blipFill>
          <a:blip r:embed="rId2"/>
          <a:stretch>
            <a:fillRect/>
          </a:stretch>
        </p:blipFill>
        <p:spPr>
          <a:xfrm>
            <a:off x="6944738" y="1280160"/>
            <a:ext cx="3873658"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(2022), Fig. 4B–C. Vasotocin transcripts in the preoptic area.</a:t>
            </a:r>
          </a:p>
        </p:txBody>
      </p:sp>
      <p:pic>
        <p:nvPicPr>
          <p:cNvPr id="6" name="Picture 5" descr="v4ef.png"/>
          <p:cNvPicPr>
            <a:picLocks noChangeAspect="1"/>
          </p:cNvPicPr>
          <p:nvPr/>
        </p:nvPicPr>
        <p:blipFill>
          <a:blip r:embed="rId3"/>
          <a:stretch>
            <a:fillRect/>
          </a:stretch>
        </p:blipFill>
        <p:spPr>
          <a:xfrm>
            <a:off x="7112488" y="3886200"/>
            <a:ext cx="3538156"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(2022), Fig. 4E–F. Isotocin transcripts in the preoptic area.</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Vasotocin triggers premature release of young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Parturition</a:t>
            </a:r>
            <a:r>
              <a:rPr sz="1600" b="0" i="0">
                <a:solidFill>
                  <a:srgbClr val="000000"/>
                </a:solidFill>
                <a:latin typeface="Arial"/>
              </a:rPr>
              <a:t> is the release of offspring at the end of pregnancy. Zhang and colleagues injected pregnant lined seahorse males with vasotocin at 50 or 500 ng/g body mass and compared them with saline-injected controls. Treated males performed repeated body-swinging movements associated with birth.</a:t>
            </a:r>
          </a:p>
          <a:p>
            <a:pPr algn="l">
              <a:lnSpc>
                <a:spcPct val="108000"/>
              </a:lnSpc>
              <a:spcAft>
                <a:spcPts val="960"/>
              </a:spcAft>
            </a:pPr>
            <a:r>
              <a:rPr sz="1600" b="0" i="0">
                <a:solidFill>
                  <a:srgbClr val="000000"/>
                </a:solidFill>
                <a:latin typeface="Arial"/>
              </a:rPr>
              <a:t>The released young were premature: they were shorter and retained larger yolk sacs than normally released animals. </a:t>
            </a:r>
            <a:r>
              <a:rPr sz="1600" b="1" i="0">
                <a:solidFill>
                  <a:srgbClr val="3F525A"/>
                </a:solidFill>
                <a:latin typeface="Arial"/>
              </a:rPr>
              <a:t>Yolk</a:t>
            </a:r>
            <a:r>
              <a:rPr sz="1600" b="0" i="0">
                <a:solidFill>
                  <a:srgbClr val="000000"/>
                </a:solidFill>
                <a:latin typeface="Arial"/>
              </a:rPr>
              <a:t> is stored embryonic nutrition, and persistence of a large yolk sac identifies incomplete development at the time of release.</a:t>
            </a:r>
          </a:p>
          <a:p>
            <a:pPr algn="l">
              <a:lnSpc>
                <a:spcPct val="108000"/>
              </a:lnSpc>
              <a:spcAft>
                <a:spcPts val="960"/>
              </a:spcAft>
            </a:pPr>
            <a:r>
              <a:rPr sz="1600" b="0" i="0">
                <a:solidFill>
                  <a:srgbClr val="000000"/>
                </a:solidFill>
                <a:latin typeface="Arial"/>
              </a:rPr>
              <a:t>The peptide intervention therefore affected the timing of a reproductive behavior, not simply a molecular marker. Male seahorse birth combines bodily movement with an endocrine state that can be experimentally shifted by vasotocin administration.</a:t>
            </a:r>
          </a:p>
        </p:txBody>
      </p:sp>
      <p:pic>
        <p:nvPicPr>
          <p:cNvPr id="4" name="Picture 3" descr="v5b.png"/>
          <p:cNvPicPr>
            <a:picLocks noChangeAspect="1"/>
          </p:cNvPicPr>
          <p:nvPr/>
        </p:nvPicPr>
        <p:blipFill>
          <a:blip r:embed="rId2"/>
          <a:stretch>
            <a:fillRect/>
          </a:stretch>
        </p:blipFill>
        <p:spPr>
          <a:xfrm>
            <a:off x="6504127" y="1280160"/>
            <a:ext cx="5120640" cy="1914167"/>
          </a:xfrm>
          <a:prstGeom prst="rect">
            <a:avLst/>
          </a:prstGeom>
        </p:spPr>
      </p:pic>
      <p:sp>
        <p:nvSpPr>
          <p:cNvPr id="5" name="Figure caption"/>
          <p:cNvSpPr txBox="1"/>
          <p:nvPr/>
        </p:nvSpPr>
        <p:spPr>
          <a:xfrm>
            <a:off x="6504127" y="328576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(2022), Fig. 5B(a–c). Normally released and prematurely released young.</a:t>
            </a:r>
          </a:p>
        </p:txBody>
      </p:sp>
      <p:sp>
        <p:nvSpPr>
          <p:cNvPr id="6" name="Rectangle 5"/>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Vasotocin changes reproductive endocrine state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Six hours after vasotocin administration, pregnant lined seahorses had increased circulating estrogen, while testosterone remained similar to the control condition. </a:t>
            </a:r>
            <a:r>
              <a:rPr sz="1500" b="1" i="0">
                <a:solidFill>
                  <a:srgbClr val="3F525A"/>
                </a:solidFill>
                <a:latin typeface="Arial"/>
              </a:rPr>
              <a:t>Estrogen</a:t>
            </a:r>
            <a:r>
              <a:rPr sz="1500" b="0" i="0">
                <a:solidFill>
                  <a:srgbClr val="000000"/>
                </a:solidFill>
                <a:latin typeface="Arial"/>
              </a:rPr>
              <a:t> is a steroid hormone participating in reproductive regulation. Zhang and colleagues measured the circulating hormones separately from tissue transcripts.</a:t>
            </a:r>
          </a:p>
          <a:p>
            <a:pPr algn="l">
              <a:lnSpc>
                <a:spcPct val="108000"/>
              </a:lnSpc>
              <a:spcAft>
                <a:spcPts val="900"/>
              </a:spcAft>
            </a:pPr>
            <a:r>
              <a:rPr sz="1500" b="0" i="0">
                <a:solidFill>
                  <a:srgbClr val="000000"/>
                </a:solidFill>
                <a:latin typeface="Arial"/>
              </a:rPr>
              <a:t>Pituitary FSHβ and LHβ transcripts increased, while prolactin transcripts decreased. </a:t>
            </a:r>
            <a:r>
              <a:rPr sz="1500" b="1" i="0">
                <a:solidFill>
                  <a:srgbClr val="3F525A"/>
                </a:solidFill>
                <a:latin typeface="Arial"/>
              </a:rPr>
              <a:t>Prolactin</a:t>
            </a:r>
            <a:r>
              <a:rPr sz="1500" b="0" i="0">
                <a:solidFill>
                  <a:srgbClr val="000000"/>
                </a:solidFill>
                <a:latin typeface="Arial"/>
              </a:rPr>
              <a:t> is a pituitary hormone discussed in the source in relation to incubation physiology. Vasotocin therefore shifted several components of the reproductive endocrine state alongside the observed birth behavior.</a:t>
            </a:r>
          </a:p>
          <a:p>
            <a:pPr algn="l">
              <a:lnSpc>
                <a:spcPct val="108000"/>
              </a:lnSpc>
              <a:spcAft>
                <a:spcPts val="900"/>
              </a:spcAft>
            </a:pPr>
            <a:r>
              <a:rPr sz="1500" b="0" i="0">
                <a:solidFill>
                  <a:srgbClr val="000000"/>
                </a:solidFill>
                <a:latin typeface="Arial"/>
              </a:rPr>
              <a:t>The authors proposed a reproductive-axis mechanism linking neuropeptide action, gonadotropin regulation, and estrogen-associated responses. The combined intervention and endocrine measurements identify a coordinated response rather than requiring every hormone to change in the same direction.</a:t>
            </a:r>
          </a:p>
        </p:txBody>
      </p:sp>
      <p:pic>
        <p:nvPicPr>
          <p:cNvPr id="4" name="Picture 3" descr="v5a.png"/>
          <p:cNvPicPr>
            <a:picLocks noChangeAspect="1"/>
          </p:cNvPicPr>
          <p:nvPr/>
        </p:nvPicPr>
        <p:blipFill>
          <a:blip r:embed="rId2"/>
          <a:stretch>
            <a:fillRect/>
          </a:stretch>
        </p:blipFill>
        <p:spPr>
          <a:xfrm>
            <a:off x="6138367" y="1280160"/>
            <a:ext cx="5486400" cy="1897117"/>
          </a:xfrm>
          <a:prstGeom prst="rect">
            <a:avLst/>
          </a:prstGeom>
        </p:spPr>
      </p:pic>
      <p:sp>
        <p:nvSpPr>
          <p:cNvPr id="5" name="Figure caption"/>
          <p:cNvSpPr txBox="1"/>
          <p:nvPr/>
        </p:nvSpPr>
        <p:spPr>
          <a:xfrm>
            <a:off x="6138367" y="326871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(2022), Fig. 5A. Circulating estrogen and testosterone after vasotocin.</a:t>
            </a:r>
          </a:p>
        </p:txBody>
      </p:sp>
      <p:pic>
        <p:nvPicPr>
          <p:cNvPr id="6" name="Picture 5" descr="b27.png"/>
          <p:cNvPicPr>
            <a:picLocks noChangeAspect="1"/>
          </p:cNvPicPr>
          <p:nvPr/>
        </p:nvPicPr>
        <p:blipFill>
          <a:blip r:embed="rId3"/>
          <a:stretch>
            <a:fillRect/>
          </a:stretch>
        </p:blipFill>
        <p:spPr>
          <a:xfrm>
            <a:off x="7751273" y="3886200"/>
            <a:ext cx="2260587"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Senarat et al. (2020), Fig. 27. Neural and glandular regions of the pituitary.</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(2022); Senarat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Pregnancy and birth involve distinct peptide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Male seahorse reproduction includes transitions into pregnancy and into birth, with different peptide-associated responses. Zhang and colleagues found reduced Kiss2 and receptor transcripts during pregnancy, followed by recovery after parturition. A separate vasotocin experiment shifted pregnant males toward premature release.</a:t>
            </a:r>
          </a:p>
          <a:p>
            <a:pPr algn="l">
              <a:lnSpc>
                <a:spcPct val="108000"/>
              </a:lnSpc>
              <a:spcAft>
                <a:spcPts val="900"/>
              </a:spcAft>
            </a:pPr>
            <a:r>
              <a:rPr sz="1500" b="1" i="0">
                <a:solidFill>
                  <a:srgbClr val="3F525A"/>
                </a:solidFill>
                <a:latin typeface="Arial"/>
              </a:rPr>
              <a:t>Reproductive state</a:t>
            </a:r>
            <a:r>
              <a:rPr sz="1500" b="0" i="0">
                <a:solidFill>
                  <a:srgbClr val="000000"/>
                </a:solidFill>
                <a:latin typeface="Arial"/>
              </a:rPr>
              <a:t> therefore changes both the molecular background and the response to a supplied signal. Kiss2 measurements describe stage-associated regulation, whereas vasotocin administration directly changes the timing of bodily birth behavior. The experimental designs address different parts of the cycle.</a:t>
            </a:r>
          </a:p>
          <a:p>
            <a:pPr algn="l">
              <a:lnSpc>
                <a:spcPct val="108000"/>
              </a:lnSpc>
              <a:spcAft>
                <a:spcPts val="900"/>
              </a:spcAft>
            </a:pPr>
            <a:r>
              <a:rPr sz="1500" b="0" i="0">
                <a:solidFill>
                  <a:srgbClr val="000000"/>
                </a:solidFill>
                <a:latin typeface="Arial"/>
              </a:rPr>
              <a:t>The released offspring begin visually guided feeding while their own sensory, neural, and skeletal systems continue developing. Parental endocrine timing and offspring developmental readiness meet at birth, linking adult reproductive control to juvenile behavioral independence.</a:t>
            </a:r>
          </a:p>
        </p:txBody>
      </p:sp>
      <p:pic>
        <p:nvPicPr>
          <p:cNvPr id="4" name="Picture 3" descr="k7.png"/>
          <p:cNvPicPr>
            <a:picLocks noChangeAspect="1"/>
          </p:cNvPicPr>
          <p:nvPr/>
        </p:nvPicPr>
        <p:blipFill>
          <a:blip r:embed="rId2"/>
          <a:stretch>
            <a:fillRect/>
          </a:stretch>
        </p:blipFill>
        <p:spPr>
          <a:xfrm>
            <a:off x="6419336" y="1280160"/>
            <a:ext cx="4924461" cy="2057400"/>
          </a:xfrm>
          <a:prstGeom prst="rect">
            <a:avLst/>
          </a:prstGeom>
        </p:spPr>
      </p:pic>
      <p:sp>
        <p:nvSpPr>
          <p:cNvPr id="5" name="Figure caption"/>
          <p:cNvSpPr txBox="1"/>
          <p:nvPr/>
        </p:nvSpPr>
        <p:spPr>
          <a:xfrm>
            <a:off x="6138367" y="34290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(2018), Fig. 7. Kiss2 and receptor expression across pregnancy stages.</a:t>
            </a:r>
          </a:p>
        </p:txBody>
      </p:sp>
      <p:pic>
        <p:nvPicPr>
          <p:cNvPr id="6" name="Picture 5" descr="v5b.png"/>
          <p:cNvPicPr>
            <a:picLocks noChangeAspect="1"/>
          </p:cNvPicPr>
          <p:nvPr/>
        </p:nvPicPr>
        <p:blipFill>
          <a:blip r:embed="rId3"/>
          <a:stretch>
            <a:fillRect/>
          </a:stretch>
        </p:blipFill>
        <p:spPr>
          <a:xfrm>
            <a:off x="6374277" y="3886200"/>
            <a:ext cx="5014578" cy="18745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Zhang et al. (2022), Fig. 5B(a–c). Normally released and prematurely released young.</a:t>
            </a:r>
          </a:p>
        </p:txBody>
      </p:sp>
      <p:sp>
        <p:nvSpPr>
          <p:cNvPr id="8" name="Rectangle 7"/>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Zhang et al. (2018); Zhang et al. (2022)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F525A"/>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Early sensory competence</a:t>
            </a:r>
            <a:r>
              <a:rPr sz="1600" b="0" i="0">
                <a:solidFill>
                  <a:srgbClr val="000000"/>
                </a:solidFill>
                <a:latin typeface="Arial"/>
              </a:rPr>
              <a:t> Newborn lined seahorses capture live prey while retinal organization is already recognizable and snout ossification continues.</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Layered neural organization</a:t>
            </a:r>
            <a:r>
              <a:rPr sz="1600" b="0" i="0">
                <a:solidFill>
                  <a:srgbClr val="000000"/>
                </a:solidFill>
                <a:latin typeface="Arial"/>
              </a:rPr>
              <a:t> The prominent optic tectum and three-layered cerebellum differentiate during postnatal development.</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Approach and strike</a:t>
            </a:r>
            <a:r>
              <a:rPr sz="1600" b="0" i="0">
                <a:solidFill>
                  <a:srgbClr val="000000"/>
                </a:solidFill>
                <a:latin typeface="Arial"/>
              </a:rPr>
              <a:t> A slow approach and quiet water region limit prey warning; a close-range pivot strike can reach prey in less than 1 ms.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Partner-associated brightening</a:t>
            </a:r>
            <a:r>
              <a:rPr sz="1600" b="0" i="0">
                <a:solidFill>
                  <a:srgbClr val="000000"/>
                </a:solidFill>
                <a:latin typeface="Arial"/>
              </a:rPr>
              <a:t> Lined seahorses change abdominal luminance more strongly during familiar partner interactions, with most display events performed by males.</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Kisspeptin endocrine responsiveness</a:t>
            </a:r>
            <a:r>
              <a:rPr sz="1600" b="0" i="0">
                <a:solidFill>
                  <a:srgbClr val="000000"/>
                </a:solidFill>
                <a:latin typeface="Arial"/>
              </a:rPr>
              <a:t> Kiss2-10 administration increases pituitary gonadotropin transcripts and later circulating testosterone in mature males.</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F525A"/>
                </a:solidFill>
                <a:latin typeface="Arial"/>
              </a:rPr>
              <a:t>Neuroendocrine birth timing</a:t>
            </a:r>
            <a:r>
              <a:rPr sz="1600" b="0" i="0">
                <a:solidFill>
                  <a:srgbClr val="000000"/>
                </a:solidFill>
                <a:latin typeface="Arial"/>
              </a:rPr>
              <a:t> Vasotocin administration induces premature offspring release and changes estrogen and pituitary transcript responses in pregnant males.</a:t>
            </a:r>
          </a:p>
        </p:txBody>
      </p:sp>
      <p:sp>
        <p:nvSpPr>
          <p:cNvPr id="15" name="Rectangle 14"/>
          <p:cNvSpPr/>
          <p:nvPr/>
        </p:nvSpPr>
        <p:spPr>
          <a:xfrm>
            <a:off x="566928" y="6382512"/>
            <a:ext cx="11057839" cy="9144"/>
          </a:xfrm>
          <a:prstGeom prst="rect">
            <a:avLst/>
          </a:prstGeom>
          <a:solidFill>
            <a:srgbClr val="CFD9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Senarat et al. (2020); Sun et al. (2021); Gemmell et al. (2013); Mederos et al. (2022); Zhang et al. (2018); Zhang et al. (2022)</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Seahorses: brain organization, visual processing, sensorimeotor control of prey capture, courtship communication, and reproductive behavior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