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Fear in dogs and cats: threat recognition, defensive behavior, and underlying neural circuits
Date TBD
Somppi et al. (2016), Fig. 1 (dog rows). Dog facial stimuli and the published gaze distributions. Credit: Published article figure; License: Source article; https://doi.org/10.1371/journal.pone.0143047
References:
Somppi S, Törnqvist H, Kujala MV, Hänninen L, Krause CM, Vainio O (2016). Dogs Evaluate Threatening Facial Expressions by Their Biological Validity – Evidence from Gazing Patterns. PLOS ONE 11(1): e0143047. https://doi.org/10.1371/journal.pone.0143047</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**Threat recognition** is discrimination of cues associated with possible harm. Somppi and colleagues measured dogs’ spontaneous gaze toward photographs of dog and human faces bearing threatening, pleasant, or neutral expressions. Each photograph appeared for 1500 ms.
• The inner face comprises the eyes, midface, and mouth; looking time describes visual sampling rather than the animal’s entire defensive response.
• Dogs devoted more viewing time to the inner faces of threatening dogs than to pleasant or neutral dog faces. Their response to threatening human faces differed: initial fixations were less likely to land within the inner face than for pleasant or neutral humans.
• The experiment controlled presentation duration and compared expressions within each depicted species. The result establishes expression-dependent visual attention, rather than a direct measurement of fear, attack probability, or subjective emotional experience.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2A,B. Expression-dependent fixation scores and first fixations. https://doi.org/10.1371/journal.pone.0143047
Somppi et al. (2016), Fig. 1 (dog rows). Dog facial stimuli and the published gaze distributions. https://doi.org/10.1371/journal.pone.0143047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Dogs watched facial photographs while resting their heads voluntarily on a chin support. An infrared **eye tracker**, an instrument estimating gaze position, recorded where each dog looked without requiring a trained choice between emotional categories.</a:t>
            </a:r>
          </a:p>
          <a:p>
            <a:r>
              <a:t>• Training accustomed dogs to the apparatus; it did not train an emotional classification response to the test photographs.</a:t>
            </a:r>
          </a:p>
          <a:p/>
          <a:p>
            <a:r>
              <a:t>• Images appeared for 1500 ms, separated by 500 ms intervals. Stimulus order and block length were randomized, while owners and experimenters waited behind an opaque barrier. These procedures reduced predictable sequences and immediate social guidance during viewing.</a:t>
            </a:r>
          </a:p>
          <a:p/>
          <a:p>
            <a:r>
              <a:t>• 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Figure sources:</a:t>
            </a:r>
          </a:p>
          <a:p>
            <a:r>
              <a:t>Somppi et al. (2016), Fig. 1 (dog rows). Dog facial stimuli and the published gaze distributions. https://doi.org/10.1371/journal.pone.0143047</a:t>
            </a:r>
          </a:p>
          <a:p/>
          <a:p>
            <a:r>
              <a:t>Article-provided recording:</a:t>
            </a:r>
          </a:p>
          <a:p>
            <a:r>
              <a:t>Article video: Somppi et al. (2016), S1 Movie. Click figure to play.</a:t>
            </a:r>
          </a:p>
          <a:p>
            <a:r>
              <a:t>Original measurement session: the trained dog rests in position while a contact-free eye tracker records its gaze.</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Article DOI: https://doi.org/10.1371/journal.pone.0143047</a:t>
            </a:r>
          </a:p>
          <a:p>
            <a:r>
              <a:t>Original media URL: https://journals.plos.org/plosone/article/file?type=supplementary&amp;id=10.1371/journal.pone.0143047.s003</a:t>
            </a:r>
          </a:p>
          <a:p>
            <a:r>
              <a:t>Credit: Somppi et al.; original PLOS supplementary movie</a:t>
            </a:r>
          </a:p>
          <a:p>
            <a:r>
              <a:t>License: CC BY, https://creativecommons.org/licenses/by/4.0/</a:t>
            </a:r>
          </a:p>
          <a:p>
            <a:r>
              <a:t>Conversion: Original MP4 copied intact; no scene, timing, or audio edits.</a:t>
            </a:r>
          </a:p>
          <a:p>
            <a:r>
              <a:t>Click the figure during Slide Show for full-screen playback. The intact original article figure remains as the poster and underneath as a static fallback. PowerPoint GUI playback was unavailable for testing.</a:t>
            </a:r>
          </a:p>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**fixation** is a period during which gaze remains within a restricted area. Facial regions were classified as eyes, midface, and mouth, allowing Somppi and colleagues to compare visual sampling of different components of an expression.
• Entry time is the interval from image onset to the first fixation in a defined region; it is distinct from the duration spent looking there.
• Across dog and human faces, dogs looked longer at eyes than at mouths. Average entry times were about 503 ms for eyes, 501 ms for midface, and 584 ms for mouths. Thus, exposed teeth were not the only visual information sampled during threatening expressions.
• Fixation scores accounted for facial-region size and total face-viewing time. The comparison supports structured sampling of facial information. It does not identify the neural detector for threat or establish that a single facial feature determines a defensive reaction.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3. Fixation scores for eyes, midface, and mouth. https://doi.org/10.1371/journal.pone.0143047
Somppi et al. (2016), Fig. 1 (dog rows). Dog facial stimuli and the published gaze distributions. https://doi.org/10.1371/journal.pone.0143047</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**Initial orienting** describes where attention is directed at the beginning of stimulus inspection. The probability of a first fixation landing on the inner face was lower for threatening human expressions than for pleasant or neutral human expressions.
• The comparison separates an early orienting measure from sustained fixation; these measures need not vary in parallel.
• The same dogs viewed conspecific faces, meaning faces of their own species. Threatening dog faces received more inner-face viewing than other dog expressions. Consequently, the visual response depended jointly on expression and the species producing the signal.
• 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2A,B. Expression-dependent fixation scores and first fixations. https://doi.org/10.1371/journal.pone.0143047
Somppi et al. (2016), Fig. 4. Original first-fixation targets and scanning paths; circle key is 500 ms. https://doi.org/10.1371/journal.pone.0143047</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**gaze heat map** represents the distribution of recorded fixations across a stimulus. The published maps from Somppi and colleagues place dogs’ gaze on eyes, muzzle, and mouth during presentations lasting 1500 ms.
• The colors are the authors’ original fixation distributions, not a reconstructed brain map or an added interpretation of the dog’s emotional state.
• The analysis compared threatening, pleasant, and neutral faces of both humans and dogs. It normalized looking duration for facial-region size, reducing the possibility that a larger mouth or eye region automatically receives a larger score simply because it occupies more space.
• 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1. Dog and human facial stimuli with published gaze distributions. https://doi.org/10.1371/journal.pone.0143047</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Dogs’ first fixations and subsequent scanning paths sampled multiple parts of a face. Somppi and colleagues recorded these paths during 1500 ms presentations, with fixation duration and entry time providing different descriptions of visual attention.</a:t>
            </a:r>
          </a:p>
          <a:p>
            <a:r>
              <a:t>• Long looking can reflect vigilance, whereas reduced looking can reflect disengagement; this experiment does not assign either interpretation solely from fixation duration.</a:t>
            </a:r>
          </a:p>
          <a:p/>
          <a:p>
            <a:r>
              <a:t>• 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p>
          <a:p/>
          <a:p>
            <a:r>
              <a:t>• 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Figure sources:</a:t>
            </a:r>
          </a:p>
          <a:p>
            <a:r>
              <a:t>Somppi et al. (2016), Fig. 4. Original first-fixation targets and scanning paths; circle key is 500 ms. https://doi.org/10.1371/journal.pone.0143047</a:t>
            </a:r>
          </a:p>
          <a:p/>
          <a:p>
            <a:r>
              <a:t>Article-provided recording:</a:t>
            </a:r>
          </a:p>
          <a:p>
            <a:r>
              <a:t>Article video: Somppi et al. (2016), S2 Movie. Click figure to play.</a:t>
            </a:r>
          </a:p>
          <a:p>
            <a:r>
              <a:t>Original stimulus block with author-supplied scanning paths. The displayed facial photographs are stimuli; the colored traces indicate measured gaze sampling.</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Article DOI: https://doi.org/10.1371/journal.pone.0143047</a:t>
            </a:r>
          </a:p>
          <a:p>
            <a:r>
              <a:t>Original media URL: https://journals.plos.org/plosone/article/file?type=supplementary&amp;id=10.1371/journal.pone.0143047.s004</a:t>
            </a:r>
          </a:p>
          <a:p>
            <a:r>
              <a:t>Credit: Somppi et al.; original PLOS supplementary movie</a:t>
            </a:r>
          </a:p>
          <a:p>
            <a:r>
              <a:t>License: CC BY, https://creativecommons.org/licenses/by/4.0/</a:t>
            </a:r>
          </a:p>
          <a:p>
            <a:r>
              <a:t>Conversion: Original MP4 copied intact; no scene, timing, or audio edits.</a:t>
            </a:r>
          </a:p>
          <a:p>
            <a:r>
              <a:t>Click the figure during Slide Show for full-screen playback. The intact original article figure remains as the poster and underneath as a static fallback. PowerPoint GUI playback was unavailable for testing.</a:t>
            </a:r>
          </a:p>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**Cross-modal recognition** is matching information carried by different senses. Quaranta and colleagues presented cats with two facial expressions of the same individual while playing a vocalization matching only one expression. A presentation lasted 5 s.
• The face matching the hiss competes with a different expression of the same cat, limiting a simple explanation based on individual identity alone.
• Cats looked longer at the congruent face when hearing a conspecific hiss. They also matched human anger and happiness vocalizations to the corresponding human expressions. **Congruent** means that the expression and sound belonged to the same emotional condition.
• Neutral Brownian sound provided a control without the emotional vocal cue. Preferential matching supports integration of visual and auditory social information. It does not prove that cats experience the displayed emotion or identify the neurons performing this integration.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(cat rows). Hiss and purr faces with corresponding waveforms and sonograms. https://doi.org/10.3390/ani10071107</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cat recognition study used hissing and purring recorded during different social conditions. Hiss recordings came from a threatening encounter involving an approaching dog; purr recordings came from relaxed interactions with owners.
• A sonogram depicts how acoustic frequency content varies through time; frequency is measured in kilohertz and elapsed time in seconds in the source figure.
• Recordings were adjusted to 69 dB at the tested cat’s position. Facial photographs were converted to grayscale in the published experiment. These controls reduced sound-intensity and image-color differences as explanations for matching an expression to a vocalization.
• 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
References:
Quaranta A, d’Ingeo S, Amoruso R, Siniscalchi M (2020). Emotion Recognition in Cats. Animals 10(7): 1107. https://doi.org/10.3390/ani10071107
Figure sources:
Quaranta et al. (2020), Fig. 1 (cat rows). Hiss and purr faces with corresponding waveforms and sonograms. https://doi.org/10.3390/ani10071107</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Quaranta and colleagues scored cats’ behavior during audiovisual presentations of human anger, human happiness, cat hissing, and cat purring. **Stress-related behavior** was operationalized as the observed frequency of specified behavioral signs, rather than inferred directly from facial matching.</a:t>
            </a:r>
          </a:p>
          <a:p>
            <a:r>
              <a:t>• Operationalization states exactly what was counted; it does not make the observed score identical to an unobserved subjective feeling.</a:t>
            </a:r>
          </a:p>
          <a:p/>
          <a:p>
            <a:r>
              <a:t>• Cats expressed more stress-related behavior during human anger and cat hiss presentations than during human happiness or cat purr presentations. Sounds were standardized to 69 dB, and the same 5 s presentation procedure was used across conditions.</a:t>
            </a:r>
          </a:p>
          <a:p/>
          <a:p>
            <a:r>
              <a:t>• The behavioral score complements the gaze measure by assessing the recipient’s response. It does not measure circulating stress hormones or record brain activity. A threatening communication signal can alter behavior even when the recipient does not attack the sender.</a:t>
            </a:r>
          </a:p>
          <a:p>
            <a:r>
              <a:t>References:</a:t>
            </a:r>
          </a:p>
          <a:p>
            <a:r>
              <a:t>Quaranta A, d’Ingeo S, Amoruso R, Siniscalchi M (2020). Emotion Recognition in Cats. Animals 10(7): 1107. https://doi.org/10.3390/ani10071107</a:t>
            </a:r>
          </a:p>
          <a:p>
            <a:r>
              <a:t>Figure sources:</a:t>
            </a:r>
          </a:p>
          <a:p>
            <a:r>
              <a:t>Quaranta et al. (2020), Fig. 4. Stress-related behavior during emotional stimulus presentations. https://doi.org/10.3390/ani10071107</a:t>
            </a:r>
          </a:p>
          <a:p>
            <a:r>
              <a:t>Quaranta et al. (2020), Fig. 1 (human rows). Happiness and anger stimuli with corresponding vocalizations. https://doi.org/10.3390/ani10071107</a:t>
            </a:r>
          </a:p>
          <a:p/>
          <a:p>
            <a:r>
              <a:t>Article-provided recording:</a:t>
            </a:r>
          </a:p>
          <a:p>
            <a:r>
              <a:t>Cat communication comparison: Humphrey et al. (2020), Supplementary Information 3 video. Click upper figure to play.</a:t>
            </a:r>
          </a:p>
          <a:p>
            <a:r>
              <a:t>Publisher-supplied human–cat slow-blink demonstration provides a nonthreatening communication comparison. It is not footage of the Quaranta anger/hissing/purring experiment described in the original slide. Slow blinking is the repeated narrowing and closing of the eyes. The primary study compared cat eye responses and approach behavior after human slow blinking with control conditions.</a:t>
            </a:r>
          </a:p>
          <a:p>
            <a:r>
              <a:t>References:</a:t>
            </a:r>
          </a:p>
          <a:p>
            <a:r>
              <a:t>Humphrey T, Proops L, Forman J, Spooner R, McComb K (2020). The role of cat eye narrowing movements in cat–human communication. Scientific Reports 10:16503. https://doi.org/10.1038/s41598-020-73426-0</a:t>
            </a:r>
          </a:p>
          <a:p>
            <a:r>
              <a:t>Article DOI: https://doi.org/10.1038/s41598-020-73426-0</a:t>
            </a:r>
          </a:p>
          <a:p>
            <a:r>
              <a:t>Original media URL: https://www.nature.com/articles/s41598-020-73426-0#MOESM3</a:t>
            </a:r>
          </a:p>
          <a:p>
            <a:r>
              <a:t>Credit: Humphrey, Proops, Forman, Spooner and McComb; original Springer Nature supplementary video</a:t>
            </a:r>
          </a:p>
          <a:p>
            <a:r>
              <a:t>License: CC BY 4.0, https://creativecommons.org/licenses/by/4.0/</a:t>
            </a:r>
          </a:p>
          <a:p>
            <a:r>
              <a:t>Conversion: Publisher HLS video remuxed to MP4 at 1280×720. Full sequence and audio retained; no scene or timing edits.</a:t>
            </a:r>
          </a:p>
          <a:p>
            <a:r>
              <a:t>Click the figure during Slide Show for full-screen playback. The intact original article figure remains as the poster and underneath as a static fallback. PowerPoint GUI playback was unavailable for testing.</a:t>
            </a:r>
          </a:p>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p>
          <a:p>
            <a:r>
              <a:t>• A null matching result concerns the experimental contrast, not the animal’s general ability to hear or interpret the vocalization.</a:t>
            </a:r>
          </a:p>
          <a:p/>
          <a:p>
            <a:r>
              <a:t>• The **congruence index** describes relative looking toward the matching face. A value of 1 indicates exclusive matching-face looking, a value of −1 indicates exclusive nonmatching-face looking, and zero indicates balanced looking.</a:t>
            </a:r>
          </a:p>
          <a:p/>
          <a:p>
            <a:r>
              <a:t>• Presentations lasted 5 s and compared expressions of the same individual. The absence of reliable purr matching may reflect the tested cues, task, or their salience. It does not establish that cats cannot perceive purring or recognize relaxed social contexts.</a:t>
            </a:r>
          </a:p>
          <a:p>
            <a:r>
              <a:t>References:</a:t>
            </a:r>
          </a:p>
          <a:p>
            <a:r>
              <a:t>Quaranta A, d’Ingeo S, Amoruso R, Siniscalchi M (2020). Emotion Recognition in Cats. Animals 10(7): 1107. https://doi.org/10.3390/ani10071107</a:t>
            </a:r>
          </a:p>
          <a:p>
            <a:r>
              <a:t>Figure sources:</a:t>
            </a:r>
          </a:p>
          <a:p>
            <a:r>
              <a:t>Quaranta et al. (2020), Fig. 3. Congruence scores for matching facial and vocal emotional cues. https://doi.org/10.3390/ani10071107</a:t>
            </a:r>
          </a:p>
          <a:p>
            <a:r>
              <a:t>Quaranta et al. (2020), Fig. 1 (cat rows). Hiss and purr faces with corresponding waveforms and sonograms. https://doi.org/10.3390/ani10071107</a:t>
            </a:r>
          </a:p>
          <a:p/>
          <a:p>
            <a:r>
              <a:t>Article-provided recording:</a:t>
            </a:r>
          </a:p>
          <a:p>
            <a:r>
              <a:t>Cat communication comparison: Humphrey et al. (2020), Supplementary Information 2 video. Click upper figure to play.</a:t>
            </a:r>
          </a:p>
          <a:p>
            <a:r>
              <a:t>Publisher-supplied human–cat slow-blink demonstration provides a nonthreatening communication comparison. It is not footage of the Quaranta anger/hissing/purring experiment described in the original slide. Slow blinking is the repeated narrowing and closing of the eyes. The primary study compared cat eye responses and approach behavior after human slow blinking with control conditions.</a:t>
            </a:r>
          </a:p>
          <a:p>
            <a:r>
              <a:t>References:</a:t>
            </a:r>
          </a:p>
          <a:p>
            <a:r>
              <a:t>Humphrey T, Proops L, Forman J, Spooner R, McComb K (2020). The role of cat eye narrowing movements in cat–human communication. Scientific Reports 10:16503. https://doi.org/10.1038/s41598-020-73426-0</a:t>
            </a:r>
          </a:p>
          <a:p>
            <a:r>
              <a:t>Article DOI: https://doi.org/10.1038/s41598-020-73426-0</a:t>
            </a:r>
          </a:p>
          <a:p>
            <a:r>
              <a:t>Original media URL: https://www.nature.com/articles/s41598-020-73426-0#MOESM2</a:t>
            </a:r>
          </a:p>
          <a:p>
            <a:r>
              <a:t>Credit: Humphrey, Proops, Forman, Spooner and McComb; original Springer Nature supplementary video</a:t>
            </a:r>
          </a:p>
          <a:p>
            <a:r>
              <a:t>License: CC BY 4.0, https://creativecommons.org/licenses/by/4.0/</a:t>
            </a:r>
          </a:p>
          <a:p>
            <a:r>
              <a:t>Conversion: Publisher HLS video remuxed to MP4 at 1280×720. Full sequence and audio retained; no scene or timing edits.</a:t>
            </a:r>
          </a:p>
          <a:p>
            <a:r>
              <a:t>Click the figure during Slide Show for full-screen playback. The intact original article figure remains as the poster and underneath as a static fallback. PowerPoint GUI playback was unavailable for testing.</a:t>
            </a:r>
          </a:p>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cat recognition experiment paired emotional faces with a neutral Brownian sound as a control condition. **Brownian sound** is a nonvocal noise stimulus; here it supplied auditory stimulation without a human or cat emotional vocalization.
• The design controls for a baseline picture preference while preserving an auditory event in the control condition.
• 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
• The neutral condition weakens an explanation based solely on a fixed preference for one facial photograph. Because no sensory pathway was disrupted, the experiment establishes behavioral audiovisual matching rather than causal dependence on a specific brain region or receptor.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(human rows). Happiness and anger stimuli with corresponding vocalizations. https://doi.org/10.3390/ani10071107</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**Fear**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p>
          <a:p>
            <a:r>
              <a:t>• An owner questionnaire samples recurring behavior in the home environment; it does not expose each dog to an identical calibrated threat.</a:t>
            </a:r>
          </a:p>
          <a:p/>
          <a:p>
            <a:r>
              <a:t>• Highly noise-sensitive behavior was reported in 32% of the surveyed dogs, and fear in 29%. Fireworks were the most commonly reported noise trigger. Fear of other dogs was the most common social-fear subtrait in this sample.</a:t>
            </a:r>
          </a:p>
          <a:p/>
          <a:p>
            <a:r>
              <a:t>• 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r>
              <a:t>Figure sources:</a:t>
            </a:r>
          </a:p>
          <a:p>
            <a:r>
              <a:t>Salonen et al. (2020), Fig. 1a,b. Reported prevalence of canine anxiety traits and subtraits. https://doi.org/10.1038/s41598-020-59837-z</a:t>
            </a:r>
          </a:p>
          <a:p/>
          <a:p>
            <a:r>
              <a:t>Article-provided recording:</a:t>
            </a:r>
          </a:p>
          <a:p>
            <a:r>
              <a:t>Dog behavior comparison: Wan et al. (2012), Video S2. Click figure to play.</a:t>
            </a:r>
          </a:p>
          <a:p>
            <a:r>
              <a:t>Related primary-study stimulus Video#12, categorized as fearful by expert consensus. Use to examine observable posture and facial behavior; this is not a recording from the Salonen questionnaire study on this slide.</a:t>
            </a:r>
          </a:p>
          <a:p>
            <a:r>
              <a:t>References:</a:t>
            </a:r>
          </a:p>
          <a:p>
            <a:r>
              <a:t>Wan M, Bolger N, Champagne FA (2012). Human Perception of Fear in Dogs Varies According to Experience with Dogs. PLOS ONE 7(12): e51775. https://doi.org/10.1371/journal.pone.0051775</a:t>
            </a:r>
          </a:p>
          <a:p>
            <a:r>
              <a:t>Article DOI: https://doi.org/10.1371/journal.pone.0051775</a:t>
            </a:r>
          </a:p>
          <a:p>
            <a:r>
              <a:t>Original media URL: https://journals.plos.org/plosone/article/file?type=supplementary&amp;id=10.1371/journal.pone.0051775.s004</a:t>
            </a:r>
          </a:p>
          <a:p>
            <a:r>
              <a:t>Credit: Wan, Bolger and Champagne; article-supplied stimulus, sourced by the study from videographers and dog behavior professionals</a:t>
            </a:r>
          </a:p>
          <a:p>
            <a:r>
              <a:t>License: CC BY, https://creativecommons.org/licenses/by/4.0/</a:t>
            </a:r>
          </a:p>
          <a:p>
            <a:r>
              <a:t>Conversion: Converted MPEG-4 Part 2 video to H.264 and AAC for PowerPoint compatibility. Full sequence retained, no scene or timing edits; non-playable auxiliary data tracks omitted.</a:t>
            </a:r>
          </a:p>
          <a:p>
            <a:r>
              <a:t>Click the figure during Slide Show for full-screen playback. The intact original article figure remains as the poster and underneath as a static fallback. PowerPoint GUI playback was unavailable for testing.</a:t>
            </a:r>
          </a:p>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**Comorbidity** is the occurrence of more than one classified condition in the same individual. In Salonen and colleagues’ owner-reported survey, dogs classified as aggressive were 3.2 times more often classified as fearful than dogs without that aggression classification.</a:t>
            </a:r>
          </a:p>
          <a:p>
            <a:r>
              <a:t>• A relative risk compares the frequency of a trait between groups; it is not a direct measurement of a synaptic interaction.</a:t>
            </a:r>
          </a:p>
          <a:p/>
          <a:p>
            <a:r>
              <a:t>• The study separately scored fear and aggression, rather than defining aggression as proof of fear. Fear also overlapped with noise sensitivity and separation-related behavior. These associations connect several behavioral dimensions while preserving their separate definitions.</a:t>
            </a:r>
          </a:p>
          <a:p/>
          <a:p>
            <a:r>
              <a:t>• 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r>
              <a:t>Figure sources:</a:t>
            </a:r>
          </a:p>
          <a:p>
            <a:r>
              <a:t>Salonen et al. (2020), Fig. 2b. Relative risks of co-occurring reported traits. https://doi.org/10.1038/s41598-020-59837-z</a:t>
            </a:r>
          </a:p>
          <a:p/>
          <a:p>
            <a:r>
              <a:t>Article-provided recording:</a:t>
            </a:r>
          </a:p>
          <a:p>
            <a:r>
              <a:t>Dog behavior comparison: Wan et al. (2012), Video S1. Click figure to play.</a:t>
            </a:r>
          </a:p>
          <a:p>
            <a:r>
              <a:t>Related primary-study stimulus Video#9, categorized as happy by expert consensus, provides a contrast with the fearful clip on slide 13. This is not a recording of aggression or a direct measurement of neural activity.</a:t>
            </a:r>
          </a:p>
          <a:p>
            <a:r>
              <a:t>References:</a:t>
            </a:r>
          </a:p>
          <a:p>
            <a:r>
              <a:t>Wan M, Bolger N, Champagne FA (2012). Human Perception of Fear in Dogs Varies According to Experience with Dogs. PLOS ONE 7(12): e51775. https://doi.org/10.1371/journal.pone.0051775</a:t>
            </a:r>
          </a:p>
          <a:p>
            <a:r>
              <a:t>Article DOI: https://doi.org/10.1371/journal.pone.0051775</a:t>
            </a:r>
          </a:p>
          <a:p>
            <a:r>
              <a:t>Original media URL: https://journals.plos.org/plosone/article/file?type=supplementary&amp;id=10.1371/journal.pone.0051775.s003</a:t>
            </a:r>
          </a:p>
          <a:p>
            <a:r>
              <a:t>Credit: Wan, Bolger and Champagne; article-supplied stimulus, sourced by the study from videographers and dog behavior professionals</a:t>
            </a:r>
          </a:p>
          <a:p>
            <a:r>
              <a:t>License: CC BY, https://creativecommons.org/licenses/by/4.0/</a:t>
            </a:r>
          </a:p>
          <a:p>
            <a:r>
              <a:t>Conversion: Converted MPEG-4 Part 2 video to H.264 and AAC for PowerPoint compatibility. Full sequence retained, no scene or timing edits; non-playable auxiliary data tracks omitted.</a:t>
            </a:r>
          </a:p>
          <a:p>
            <a:r>
              <a:t>Click the figure during Slide Show for full-screen playback. The intact original article figure remains as the poster and underneath as a static fallback. PowerPoint GUI playback was unavailable for testing.</a:t>
            </a:r>
          </a:p>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Salonen and colleagues compared reported anxiety-related traits across ages and sexes. Noise sensitivity, particularly fear of thunder, increased with age in their survey, while female dogs were more often classified as fearful and male dogs more often classified as aggressive.
• An age association within a survey is distinct from repeatedly following the same animal as its behavior changes over time.
• The dogs ranged from young puppies to older adults, extending the observations across much of the canine lifespan. The questionnaire distinguished fear of other dogs, strangers, and novel situations from aggression toward people and other behavioral categories.
• 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
References:
Salonen M, Sulkama S, Mikkola S, Puurunen J, Hakanen E, Tiira K, Araujo C, Lohi H (2020). Prevalence, comorbidity, and breed differences in canine anxiety in 13,700 Finnish pet dogs. Scientific Reports 10(1): 2962. https://doi.org/10.1038/s41598-020-59837-z
Figure sources:
Salonen et al. (2020), Fig. 3a–d. Age and sex distributions of reported behavioral traits. https://doi.org/10.1038/s41598-020-59837-z</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**Defensive rage** is the historical name for a coordinated feline defensive response elicited experimentally, including hissing, ear retraction, piloerection, back arching, and strikes with the paws. **Piloerection** means raising the hairs rather than a separate act of attack.
• The hypothalamus lies in the forebrain, whereas the PAG lies in the midbrain; their interaction links distributed structures rather than one compact fear center.
• Lu and colleagues elicited the response from the medial hypothalamus and the dorsal **periaqueductal gray**, or PAG, the midbrain gray matter surrounding the cerebral aqueduct. They measured the time from stimulation onset to hissing, with stimulation limited to 15 s.
• 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1A,B. PAG and medial hypothalamic stimulation sites.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stimulated a PAG site that elicited hissing and paired it with medial hypothalamic stimulation below the level required to elicit behavior by itself. **Facilitation** means that the combined input made the PAG-elicited response occur sooner.
• A subthreshold input need not produce visible behavior alone to alter the response to activity elsewhere in the circuit.
• 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
• This procedure establishes a functional interaction between the selected sites. Electrical current can excite several elements, including passing fibers, so the result alone does not identify a monosynaptic connection or the transmitter responsible for facilitation.
References:
Lu CL, Shaikh MB, Siegel A (1992). Role of NMDA receptors in hypothalamic facilitation of feline defensive rage elicited from the midbrain periaqueductal gray. Brain Research 581(1): 123-132. https://doi.org/10.1016/0006-8993(92)90351-9
Figure sources:
Lu et al. (1992), Fig. 2. Kynurenic acid reverses hypothalamic facilitation of the PAG response. https://doi.org/10.1016/0006-8993(92)90351-9
Lu et al. (1992), Fig. 1A,B. PAG and medial hypothalamic stimulation sites. https://doi.org/10.1016/0006-8993(92)90351-9</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**Excitatory amino acids** are amino-acid neurotransmitters capable of increasing neuronal excitation. Lu and colleagues injected kynurenic acid, an antagonist blocking several excitatory amino-acid receptor classes, into the PAG site used for eliciting defensive rage.
• An antagonist interferes with receptor activation; local delivery narrows the tested site but does not restrict the intervention to a genetically defined cell population.
• A 2.0 nmol injection reversed medial hypothalamic facilitation. At 15 min, dual-stimulation hissing latency rose above the PAG-only reference instead of remaining shorter. Lower doses produced smaller or shorter-lasting effects, and the response recovered over time.
• 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
References:
Lu CL, Shaikh MB, Siegel A (1992). Role of NMDA receptors in hypothalamic facilitation of feline defensive rage elicited from the midbrain periaqueductal gray. Brain Research 581(1): 123-132. https://doi.org/10.1016/0006-8993(92)90351-9
Figure sources:
Lu et al. (1992), Fig. 2. Kynurenic acid reverses hypothalamic facilitation of the PAG response. https://doi.org/10.1016/0006-8993(92)90351-9
Lu et al. (1992), Fig. 1A,B. PAG and medial hypothalamic stimulation sites. https://doi.org/10.1016/0006-8993(92)90351-9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 receptors** are excitatory amino-acid receptors named for the agonist N-methyl-D-aspartate. An **agonist** activates a receptor, whereas an antagonist reduces its activation. Lu and colleagues tested the selective NMDA antagonist AP7 inside the PAG.
• NMDA receptors link transmitter binding to excitatory ion-channel signaling; the behavioral intervention tests receptor participation rather than the detailed current through the channel.
• A 2 nmol AP7 injection changed dual-stimulation latency from about 17% below the PAG-only reference to about 42% above it during the early post-injection period. The effect weakened with recovery; 0.1 nmol AP7 did not produce a comparable blockade.
• 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
References:
Lu CL, Shaikh MB, Siegel A (1992). Role of NMDA receptors in hypothalamic facilitation of feline defensive rage elicited from the midbrain periaqueductal gray. Brain Research 581(1): 123-132. https://doi.org/10.1016/0006-8993(92)90351-9
Figure sources:
Lu et al. (1992), Fig. 3. AP7 dose and recovery time compared with CNQX. https://doi.org/10.1016/0006-8993(92)90351-9
Lu et al. (1992), Fig. 1A,B. PAG and medial hypothalamic stimulation sites. https://doi.org/10.1016/0006-8993(92)90351-9</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
• The colored anatomical tissue is the published PAG section from Bhatt and colleagues; it locates the region rather than measuring the NMDA experiment’s neuronal activity.
• A 1.0 nmol NMDA injection shortened hissing latency by about 48% during the first 5–15 min. A 0.5 nmol dose produced a smaller, approximately 27% reduction. Latencies returned toward baseline within the subsequent observation periods.
• 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4. NMDA microinjection decreases hissing latency.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compared NMDA blockade with other receptor interventions at the same PAG sites. CNQX, which blocks non-NMDA excitatory amino-acid receptors, produced only small changes at 4 nmol. Atropine, a muscarinic acetylcholine receptor antagonist, had little effect at 4.4 nmol.
• Receptor-class controls address pharmacological specificity, but they do not establish that every possible alternative transmitter has been excluded.
• These local injections were compared with the larger reversal produced by AP7. The contrast narrows the explanation for medial hypothalamic facilitation toward NMDA receptor participation rather than indiscriminate disruption by fluid delivery or any receptor antagonist.
• A negative result is limited to the dose, site, and response tested. It does not exclude non-NMDA or muscarinic signaling elsewhere in the brain, during sensory recognition, or under natural threat conditions. The intervention addresses one experimentally activated circuit link.
References:
Lu CL, Shaikh MB, Siegel A (1992). Role of NMDA receptors in hypothalamic facilitation of feline defensive rage elicited from the midbrain periaqueductal gray. Brain Research 581(1): 123-132. https://doi.org/10.1016/0006-8993(92)90351-9
Figure sources:
Lu et al. (1992), Fig. 3. AP7 dose and recovery time compared with CNQX. https://doi.org/10.1016/0006-8993(92)90351-9
Lu et al. (1992), Fig. 1A,B. PAG and medial hypothalamic stimulation sites. https://doi.org/10.1016/0006-8993(92)90351-9</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**Retrograde tracing** labels neurons by transporting a marker from their axonal terminal region back to their cell bodies. Lu and colleagues injected Fluoro-Gold into behaviorally identified PAG sites and examined hypothalamic labeling after 5–6 days.
• Perifornical means near the fornix; labeling location specifies where candidate projecting neurons occur without claiming a uniform function for every cell in that region.
• 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
• 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
References:
Lu CL, Shaikh MB, Siegel A (1992). Role of NMDA receptors in hypothalamic facilitation of feline defensive rage elicited from the midbrain periaqueductal gray. Brain Research 581(1): 123-132. https://doi.org/10.1016/0006-8993(92)90351-9
Figure sources:
Lu et al. (1992), Fig. 5A,B. PAG tracer sites and hypothalamic amino-acid labeling. https://doi.org/10.1016/0006-8993(92)90351-9
Lu et al. (1992), Fig. 6D–F. Retrogradely labeled hypothalamic cells and double-labeled neuron. https://doi.org/10.1016/0006-8993(92)90351-9</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Lu study detected aspartate-positive fibers and preterminal profiles in the dorsal PAG. **Preterminal** refers to an axonal segment approaching a terminal region. Aspartate-positive cells and retrogradely labeled cells also occurred in the medial hypothalamus.
• A scale bar indicates the physical extent represented in tissue; antibody labeling detects molecular presence rather than electrical signaling during behavior.
• A neuron could carry both Fluoro-Gold from the PAG projection target and amino-acid immunoreactivity. The published tissue panels preserve 100 μm and 25 μm scale bars, distinguishing regional localization from individual cellular labeling.
• 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6A–C. PAG tracer site, aspartate-positive fibers, and hypothalamic cells.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paired stimulation of a medial hypothalamic defensive site with stimulation of the lateral hypothalamus. **Inhibition** here means a reduction in expression of the elicited defensive response, operationalized as a longer latency to hissing.
• Medial and lateral describe positions relative to the brain’s midline; they distinguish the stimulated territories rather than two names for the same site.
• With medial stimulation alone, mean latency was 7.21 s; during dual medial and lateral stimulation it was 12.28 s. These differences persisted during the saline-control observation period, rather than appearing only after a drug injection.
• 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2. Single and dual stimulation differ in hiss latency. https://doi.org/10.1016/s0006-8993(97)01357-7
Cheu &amp; Siegel (1998), Fig. 1. Medial defensive sites and lateral suppressive sites. https://doi.org/10.1016/s0006-8993(97)01357-7</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Cheu and Siegel injected bicuculline, a GABA-A receptor antagonist, into the medial hypothalamic site while testing lateral hypothalamic suppression of defensive rage.
• GABA-A receptors are ion-channel receptors whose activation generally reduces neuronal excitation; the experiment tests their behavioral contribution without recording chloride currents.
• At 60 pmol, bicuculline reduced the suppressive effect from about 73% before injection to about 15% in the early observation period. The suppression returned toward baseline by 180–200 min. A 10 pmol dose and saline did not produce the same blockade.
• 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3. Bicuculline blocks lateral hypothalamic suppression.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activated medial hypothalamic GABA-A receptors with **muscimol**, a receptor agonist, instead of stimulating the lateral inhibitory site. The question was whether local receptor activation could suppress defensive output from the target region.
• The source plot reports a change in current threshold in microamperes; a higher threshold means the same stimulation becomes less effective at eliciting the defensive response.
• A 30 pmol muscimol injection increased the stimulation-current threshold by about 155 μA early after delivery. **Threshold** means the electrical current required to elicit the response. Lower doses lacked the same pronounced effect, and the increase weakened over time.
• 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5. Muscimol increases the current threshold for defensive rage.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pretreated the medial hypothalamic site with bicuculline before injecting muscimol. **Pretreatment** means applying one intervention before another to test whether the second effect depends on the blocked receptor class.
• The two drugs act in opposing directions at the same receptor class; their interaction provides a receptor-level control on the behavioral interpretation.
• A 60 pmol bicuculline pretreatment opposed suppression caused by 30 pmol muscimol. The early stimulation-threshold increase was reduced by about 143 μA relative to the muscimol-plus-saline condition. A lower bicuculline dose produced a smaller reversal.
• 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6. Bicuculline pretreatment blocks muscimol suppression.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GABA-A and **GABA-B** are different receptor classes. GABA-A receptors directly gate ion-channel signaling, whereas GABA-B receptors act through intracellular signaling proteins. Cheu and Siegel compared a GABA-B agonist with the GABA-A agonist used in their medial hypothalamic experiments.
• The preparation measures a behavioral consequence of receptor activation, not the number of receptors present or their affinity for the two drugs.
• Baclofen at 120 pmol did not alter the latency or current threshold for defensive rage from the tested site. This dose was four times the highest muscimol dose used in the study, which had increased the response threshold.
• The contrast supports receptor-class selectivity under these experimental conditions. Equal amounts of different drugs do not imply equal receptor occupancy, so the finding does not prove that GABA-B receptors are absent or irrelevant throughout feline defensive circuitry.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7. Baclofen leaves hissing latency unchanged.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Local injection narrows a pharmacological intervention to a region, but diffusion can complicate localization. Cheu and Siegel tested whether muscimol’s suppressive effect extended from the medial hypothalamus into adjoining lateral hypothalamic tissue.
• An injection-site control tests whether a drug has the same consequence nearby; it does not equate pharmacological silencing with electrical stimulation of a region.
• A 60 pmol muscimol injection into the lateral hypothalamus did not change the latency or threshold for defense elicited from the medial site. This dose was twice the medial dose producing pronounced suppression. Tracer injections were also checked for their anatomical extent.
• 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8. Lateral hypothalamic muscimol leaves latency unchanged.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injected Fluoro-Gold into the medial hypothalamic defensive territory and then examined retrograde labeling in the lateral hypothalamus. They combined tracing with antibody detection of GABA to identify candidate inhibitory projection neurons.
• The paired tissue views compare labeling in the same cellular territory; projection labeling and transmitter immunoreactivity answer different questions about the candidate neurons.
• 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
• 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11A–F. GABA and tracer labeling in lateral hypothalamic neurons.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**Tonic inhibition** is continuously maintained inhibitory influence, while episodic inhibition appears when a particular input is engaged. Cheu and Siegel tested bicuculline during medial hypothalamic stimulation alone, without concurrent lateral hypothalamic stimulation.
• Failure to change baseline behavior differs from failure to block an experimentally recruited input; the same receptor can matter strongly only under the second condition.
• A 60 pmol injection left baseline hissing latency essentially unchanged: about 6.62 s before injection and 6.65 s in the early post-injection period. The same intervention blocked suppression when the lateral input was activated during dual stimulation.
• 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4. Bicuculline does not change single-stimulation latency.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**cytokine** is a signaling protein involved in immune and cellular communication. Bhatt and colleagues injected interleukin-1β, or IL-1β, into PAG sites while eliciting defensive hissing through the experimentally identified hypothalamic–PAG circuit.
• The direction and duration of the behavioral change are measured directly; the endogenous source and release pattern of the cytokine remain separate questions.
• A 5 ng injection produced maximal facilitation at about 60 min, corresponding to roughly a 42% reduction in hissing latency. The effect declined over subsequent observations but remained detectable at 180 min. Saline and the lowest tested dose lacked comparable facilitation.
• 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
References:
Bhatt S, Bhatt R, Zalcman SS, Siegel A (2008). Role of IL-1β and 5-HT2 receptors in midbrain periaqueductal gray (PAG) in potentiating defensive rage behavior in cat. Brain, Behavior, and Immunity 22(2): 224-233. https://doi.org/10.1016/j.bbi.2007.07.011
Figure sources:
Bhatt et al. (2008), Fig. 3. PAG IL-1β dose and time dependence of hissing facilitation. https://doi.org/10.1016/j.bbi.2007.07.011
Bhatt et al. (2008), Fig. 6A–E. Original PAG receptor labeling and antibody validation. https://doi.org/10.1016/j.bbi.2007.07.011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pretreated a PAG defensive site with an antibody against the type-I IL-1 receptor before injecting IL-1β. A **receptor antibody** can interfere with the interaction between a signaling molecule and its receptor.
• Receptor dependence concerns the cytokine-evoked modulation; the baseline defensive response and the additional facilitation are distinct outcomes.
• Pretreatment 5 min before cytokine delivery blocked the facilitatory reduction in hissing latency. The receptor antibody alone did not appreciably change the baseline response. Thus, preventing the cytokine effect did not require eliminating electrically elicited hissing altogether.
• 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
References:
Bhatt S, Bhatt R, Zalcman SS, Siegel A (2008). Role of IL-1β and 5-HT2 receptors in midbrain periaqueductal gray (PAG) in potentiating defensive rage behavior in cat. Brain, Behavior, and Immunity 22(2): 224-233. https://doi.org/10.1016/j.bbi.2007.07.011
Figure sources:
Bhatt et al. (2008), Fig. 4a. IL-1 receptor antibody blocks cytokine facilitation. https://doi.org/10.1016/j.bbi.2007.07.011
Bhatt et al. (2008), Fig. 6A–E. Original PAG receptor labeling and antibody validation. https://doi.org/10.1016/j.bbi.2007.07.011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**isotype control** is an antibody of a comparable class that does not target the experimental receptor. Bhatt and colleagues used IgG2a to test whether antibody delivery alone nonspecifically prevented IL-1β from facilitating defensive rage.
• A molecule can have effects because it is an antibody preparation or because it binds a particular target; the control distinguishes these possibilities experimentally.
• The control antibody did not block facilitation after 5 ng IL-1β, and it did not appreciably alter baseline hissing when administered alone. The same 30–180 min observation windows were used to follow the cytokine effect across the treatment conditions.
• 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
References:
Bhatt S, Bhatt R, Zalcman SS, Siegel A (2008). Role of IL-1β and 5-HT2 receptors in midbrain periaqueductal gray (PAG) in potentiating defensive rage behavior in cat. Brain, Behavior, and Immunity 22(2): 224-233. https://doi.org/10.1016/j.bbi.2007.07.011
Figure sources:
Bhatt et al. (2008), Fig. 4b. Isotype antibody does not block cytokine facilitation. https://doi.org/10.1016/j.bbi.2007.07.011
Bhatt et al. (2008), Fig. 6A–E. Original PAG receptor labeling and antibody validation. https://doi.org/10.1016/j.bbi.2007.07.011</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**Serotonin**, also called 5-HT, is a neuromodulator with multiple receptor classes. Bhatt and colleagues pretreated the PAG site with LY53857, a 5-HT2 receptor antagonist, before administering IL-1β during defensive-hissing experiments.
• The authors’ receptor staining and antagonist experiment are complementary; receptor presence alone would not establish its contribution to the behavioral modulation.
• The antagonist prevented the latency reduction normally produced by 5 ng IL-1β. Antagonist delivery alone did not appreciably alter baseline hissing. The comparison supports serotonin-receptor participation in the cytokine-dependent increase in circuit responsiveness.
• The tissue study labeled 5-HT2C receptors, but the behavioral pharmacology does not isolate every receptor subtype or the precise cellular interaction. A **neuromodulator** changes how a circuit responds to other inputs; the experiment supports such an interaction without directly measuring serotonin release, intracellular signaling, or the activity of identified PAG neurons.
References:
Bhatt S, Bhatt R, Zalcman SS, Siegel A (2008). Role of IL-1β and 5-HT2 receptors in midbrain periaqueductal gray (PAG) in potentiating defensive rage behavior in cat. Brain, Behavior, and Immunity 22(2): 224-233. https://doi.org/10.1016/j.bbi.2007.07.011
Figure sources:
Bhatt et al. (2008), Fig. 5a. Serotonin receptor blockade prevents IL-1β facilitation. https://doi.org/10.1016/j.bbi.2007.07.011
Bhatt et al. (2008), Fig. 6A–E. Original PAG receptor labeling and antibody validation. https://doi.org/10.1016/j.bbi.2007.07.011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compared 5-HT2 blockade with blockade of NK-1 and CCKb receptors at the PAG site. **NK-1** is a receptor for substance P, and **CCKb** is a cholecystokinin receptor; both were candidate modulatory receptor classes in this preparation.
• A receptor may be capable of influencing the behavior yet unnecessary for the effect of one specific modulator; these are different causal claims.
• GR82334 and CR2945 did not prevent the facilitation caused by 5 ng IL-1β during the tested observation period. These compounds also lacked an appreciable effect on baseline hissing when administered alone, unlike the selective loss of cytokine facilitation after 5-HT2 blockade.
• The comparison narrows the candidate receptor interaction rather than proving that the other signaling systems never influence defense. Their contribution could depend on other inputs or conditions. The result concerns IL-1β-mediated facilitation at the tested PAG sites and doses.
References:
Bhatt S, Bhatt R, Zalcman SS, Siegel A (2008). Role of IL-1β and 5-HT2 receptors in midbrain periaqueductal gray (PAG) in potentiating defensive rage behavior in cat. Brain, Behavior, and Immunity 22(2): 224-233. https://doi.org/10.1016/j.bbi.2007.07.011
Figure sources:
Bhatt et al. (2008), Fig. 5b,c. NK-1 and CCKb blockade leave cytokine facilitation intact. https://doi.org/10.1016/j.bbi.2007.07.011
Bhatt et al. (2008), Fig. 6A,D. PAG tissue surrounding the aqueduct and receptor labeling; 100 μm bar. https://doi.org/10.1016/j.bbi.2007.07.011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used **immunocytochemistry**, antibody-based molecular labeling, to examine IL-1 and serotonin receptors in PAG tissue. IL-1 receptor labeling was stronger in dorsal PAG than in ventral PAG, while 5-HT2C labeling was distributed through the examined PAG region.
• A kilodalton is a unit of molecular mass; the blot supports antibody recognition of proteins near expected masses without measuring signaling during a defensive episode.
• The published fluorescence panels preserve the original green and red labels and a 100 μm scale bar. Western blotting, which separates proteins before antibody detection, identified bands near 88 kDa for IL-1R1 and 47 kDa for 5-HT2C.
• 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
References:
Bhatt S, Bhatt R, Zalcman SS, Siegel A (2008). Role of IL-1β and 5-HT2 receptors in midbrain periaqueductal gray (PAG) in potentiating defensive rage behavior in cat. Brain, Behavior, and Immunity 22(2): 224-233. https://doi.org/10.1016/j.bbi.2007.07.011
Figure sources:
Bhatt et al. (2008), Fig. 6A–E. Original PAG receptor labeling and antibody validation. https://doi.org/10.1016/j.bbi.2007.07.011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**Lipopolysaccharide**, or LPS, is a bacterial cell-wall component used experimentally to provoke an immune response. Bhatt and colleagues administered peripheral LPS at 50 μg/kg and measured PAG-elicited defensive hissing over subsequent hours.
• The source reports temperature in degrees Fahrenheit; the temporal comparison concerns when defensive suppression and the largest temperature increase appeared.
• Hissing latency increased beginning about 60 min after injection. Body temperature rose more strongly later, reaching about 105 °F at 120 min. Local medial hypothalamic delivery of 5 ng LPS did not reproduce the peripheral effect.
• 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
References:
Bhatt S, Bhatt RS, Zalcman SS, Siegel A (2009). Peripheral and central mediators of lipopolysaccharide induced suppression of defensive rage behavior in the cat. Neuroscience 163(4): 1002-1011. https://doi.org/10.1016/j.neuroscience.2009.07.050
Figure sources:
Bhatt et al. (2009), Fig. 2A–C. Peripheral LPS, fever, and local LPS have different effects.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**Tumor necrosis factor**, or TNF, is a cytokine involved in immune signaling. Bhatt and colleagues tested whether peripheral cytokine neutralization could prevent the change in PAG-elicited defensive hissing following LPS challenge.
• Neutralizing a peripheral mediator and blocking a central receptor intervene at different points; the behavioral effects should not be assigned to one undifferentiated immune pathway.
• An anti-TNF antibody given 5 min before LPS blocked both the increase in hissing latency and the temperature rise. In contrast, the tested anti-IL-1 intervention did not prevent either effect. Antibody-alone conditions provided baseline comparisons over the same observation schedule.
• 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
References:
Bhatt S, Bhatt RS, Zalcman SS, Siegel A (2009). Peripheral and central mediators of lipopolysaccharide induced suppression of defensive rage behavior in the cat. Neuroscience 163(4): 1002-1011. https://doi.org/10.1016/j.neuroscience.2009.07.050
Bhatt S, Bhatt R, Zalcman SS, Siegel A (2008). Role of IL-1β and 5-HT2 receptors in midbrain periaqueductal gray (PAG) in potentiating defensive rage behavior in cat. Brain, Behavior, and Immunity 22(2): 224-233. https://doi.org/10.1016/j.bbi.2007.07.011
Figure sources:
Bhatt et al. (2009), Fig. 3A–D. Peripheral TNF neutralization blocks LPS effects. https://doi.org/10.1016/j.neuroscience.2009.07.050
Bhatt et al. (2008), Fig. 6A,D. PAG tissue surrounding the aqueduct and receptor labeling; 100 μm bar. https://doi.org/10.1016/j.bbi.2007.07.011</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**Prostaglandin E2**, or PGE2, is a lipid signaling molecule associated with inflammatory responses. Bhatt and colleagues injected the antagonist SC19220 into medial hypothalamic defensive sites before administering peripheral LPS.
• The source’s methods, results, and discussion do not consistently name the same EP subtype; assigning one subtype as an established mechanism would exceed the evidence.
• The pretreatment opposed the LPS-induced increase in hissing latency for about 180 min, with weakening blockade later. Local anti-TNF treatment did not produce the same protection, despite the effectiveness of peripheral TNF neutralization in a separate experiment.
• 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
References:
Bhatt S, Bhatt RS, Zalcman SS, Siegel A (2009). Peripheral and central mediators of lipopolysaccharide induced suppression of defensive rage behavior in the cat. Neuroscience 163(4): 1002-1011. https://doi.org/10.1016/j.neuroscience.2009.07.050
Figure sources:
Bhatt et al. (2009), Fig. 4B. Hypothalamic prostaglandin blockade opposes LPS suppression.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**5-HT1A** is a serotonin receptor class distinct from the 5-HT2 receptors implicated in local PAG cytokine facilitation. Bhatt and colleagues injected the 5-HT1A antagonist p-MPPI into medial hypothalamic defensive sites before peripheral LPS challenge.
• Site, receptor class, and biological state all differ between the two experiments; the opposite behavioral directions do not contradict each other.
• A 12 nmol injection in 0.5 μl prevented the prolonged increase in hissing latency produced by LPS. Antagonist-alone treatment did not appreciably alter the baseline response. This contrasts with 5-HT2-dependent facilitation after direct IL-1β administration in the PAG.
• 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
References:
Bhatt S, Bhatt RS, Zalcman SS, Siegel A (2009). Peripheral and central mediators of lipopolysaccharide induced suppression of defensive rage behavior in the cat. Neuroscience 163(4): 1002-1011. https://doi.org/10.1016/j.neuroscience.2009.07.050
Figure sources:
Bhatt et al. (2009), Fig. 4C. Hypothalamic serotonin blockade opposes LPS suppression.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compared LPS effects on defensive hissing with effects on head turning elicited by midbrain stimulation. **Motor control** here means a comparison response used to test whether the animal simply lost the capacity to move or respond to stimulation.
• One spared motor behavior cannot establish that every other behavior is unaffected; it supplies a specific control against a general loss of movement.
• Across the 300 min observation period, LPS prolonged defensive-response latency but did not appreciably change head-turning latency. The tested motor response therefore remained available while defensive output was suppressed under the same immune challenge.
• 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
References:
Bhatt S, Bhatt RS, Zalcman SS, Siegel A (2009). Peripheral and central mediators of lipopolysaccharide induced suppression of defensive rage behavior in the cat. Neuroscience 163(4): 1002-1011. https://doi.org/10.1016/j.neuroscience.2009.07.050
Bhatt S, Bhatt R, Zalcman SS, Siegel A (2008). Role of IL-1β and 5-HT2 receptors in midbrain periaqueductal gray (PAG) in potentiating defensive rage behavior in cat. Brain, Behavior, and Immunity 22(2): 224-233. https://doi.org/10.1016/j.bbi.2007.07.011
Figure sources:
Bhatt et al. (2009), Fig. 5. LPS suppresses hissing but spares elicited head turning. https://doi.org/10.1016/j.neuroscience.2009.07.050
Bhatt et al. (2008), Fig. 6A,D. PAG tissue surrounding the aqueduct and receptor labeling; 100 μm bar. https://doi.org/10.1016/j.bbi.2007.07.011</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**Concealment** allows an animal to remain visually sheltered from its surroundings. Van der Leij and colleagues randomly assigned shelter cats to quarantine cages with or without cardboard hiding boxes measuring 44 × 31 × 26 cm.
• Random assignment tests the effect of providing a box; it is stronger causal evidence for that environmental intervention than an association between hiding and stress alone.
• 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
• 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1. Individual Cat-Stress-Score trajectories with and without hiding boxes. https://doi.org/10.1371/journal.pone.0223492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shelter study used the **Cat-Stress-Score**, a standardized assessment of posture and behavior. Cats were video-recorded for 20 min on observation days, with repeated samples contributing to each daily score during the 12-day quarantine period.
• Repeated observations distinguish a change through time from a single calm-looking moment; the scoring procedure still depends on which behaviors remain observable.
• The hiding-box group had lower stress scores after the first observation day and reached stability sooner. Scoring retained each animal’s trajectory, rather than assuming identical recovery for every cat. Individual differences persisted within both housing conditions.
• 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1. Individual Cat-Stress-Score trajectories with and without hiding boxes. https://doi.org/10.1371/journal.pone.0223492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Van der Leij and colleagues measured body weight at intake and during quarantine as an outcome separate from the behavioral stress score. A hiding box accelerated behavioral recovery, but it did not reliably prevent weight loss over the 12-day study.
• Behavior and physical condition are distinct outcomes; an intervention can improve one while leaving another unresolved.
• Control cats lost about 7.7% of initial body weight, while cats with boxes lost about 6.3%. The difference between housing groups was not reliably established. Food was provided under a standardized regime, but individual daily food intake was not monitored.
• 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2. Individual body-weight changes during shelter quarantine. https://doi.org/10.1371/journal.pone.0223492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Recognition differs from defensive expression. Gaze and audiovisual matching establish cue discrimination; stimulation and intervention test recruitment of behavioral output.
Social threat depends on context. Dogs sample threatening dog and human faces differently, and cats match hissing and human emotional signals across vision and hearing.
Excitatory input facilitates feline defense. Medial hypothalamic facilitation of PAG-elicited hissing depends on local NMDA receptor signaling in the tested preparation.
Inhibition is site and receptor dependent. Lateral hypothalamic suppression involves medial hypothalamic GABA-A receptors; activating these receptors raises the defensive-response threshold.
Immune state changes circuit responsiveness. Local PAG IL-1β can facilitate defense through serotonin-sensitive signaling, whereas peripheral LPS can suppress the evoked response.
Inference must match the measurement. Cat circuit experiments do not establish canine mechanisms. Concealment improves observed cat stress without guaranteeing recovery of body weight.
References:
Somppi S, Törnqvist H, Kujala MV, Hänninen L, Krause CM, Vainio O (2016). Dogs Evaluate Threatening Facial Expressions by Their Biological Validity – Evidence from Gazing Patterns. PLOS ONE 11(1): e0143047. https://doi.org/10.1371/journal.pone.0143047
Quaranta A, d’Ingeo S, Amoruso R, Siniscalchi M (2020). Emotion Recognition in Cats. Animals 10(7): 1107. https://doi.org/10.3390/ani10071107
Salonen M, Sulkama S, Mikkola S, Puurunen J, Hakanen E, Tiira K, Araujo C, Lohi H (2020). Prevalence, comorbidity, and breed differences in canine anxiety in 13,700 Finnish pet dogs. Scientific Reports 10(1): 2962. https://doi.org/10.1038/s41598-020-59837-z
van der Leij WJR, Selman LDAM, Vernooij JCM, Vinke CM (2019). The effect of a hiding box on stress levels and body weight in Dutch shelter cats; a randomized controlled trial. PLOS ONE 14(10): e0223492. https://doi.org/10.1371/journal.pone.0223492
Lu CL, Shaikh MB, Siegel A (1992). Role of NMDA receptors in hypothalamic facilitation of feline defensive rage elicited from the midbrain periaqueductal gray. Brain Research 581(1): 123-132. https://doi.org/10.1016/0006-8993(92)90351-9
Cheu JW, Siegel A (1998). GABA receptor mediated suppression of defensive rage behavior elicited from the medial hypothalamus of the cat: role of the lateral hypothalamus. Brain Research 783(2): 293-304. https://doi.org/10.1016/s0006-8993(97)01357-7
Bhatt S, Bhatt R, Zalcman SS, Siegel A (2008). Role of IL-1β and 5-HT2 receptors in midbrain periaqueductal gray (PAG) in potentiating defensive rage behavior in cat. Brain, Behavior, and Immunity 22(2): 224-233. https://doi.org/10.1016/j.bbi.2007.07.011
Bhatt S, Bhatt RS, Zalcman SS, Siegel A (2009). Peripheral and central mediators of lipopolysaccharide induced suppression of defensive rage behavior in the cat. Neuroscience 163(4): 1002-1011. https://doi.org/10.1016/j.neuroscience.2009.07.050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image" Target="../media/Presenton_Native_Image_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3.xml"/><Relationship Id="rId4" Type="http://schemas.microsoft.com/office/2007/relationships/media" Target="../media/media1.mp4"/><Relationship Id="rId5" Type="http://schemas.openxmlformats.org/officeDocument/2006/relationships/video" Target="../media/media1.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image" Target="../media/Presenton_Native_Image_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7.xml"/><Relationship Id="rId4" Type="http://schemas.microsoft.com/office/2007/relationships/media" Target="../media/media2.mp4"/><Relationship Id="rId5" Type="http://schemas.openxmlformats.org/officeDocument/2006/relationships/video" Target="../media/media2.mp4"/></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5.png"/><Relationship Id="rId4" Type="http://schemas.openxmlformats.org/officeDocument/2006/relationships/notesSlide" Target="../notesSlides/notesSlide10.xml"/><Relationship Id="rId5" Type="http://schemas.microsoft.com/office/2007/relationships/media" Target="../media/media5.mp4"/><Relationship Id="rId6" Type="http://schemas.openxmlformats.org/officeDocument/2006/relationships/video" Target="../media/media5.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2.png"/><Relationship Id="rId4" Type="http://schemas.openxmlformats.org/officeDocument/2006/relationships/notesSlide" Target="../notesSlides/notesSlide11.xml"/><Relationship Id="rId5" Type="http://schemas.microsoft.com/office/2007/relationships/media" Target="../media/media6.mp4"/><Relationship Id="rId6" Type="http://schemas.openxmlformats.org/officeDocument/2006/relationships/video" Target="../media/media6.mp4"/></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3.xml"/><Relationship Id="rId4" Type="http://schemas.microsoft.com/office/2007/relationships/media" Target="../media/media3.mp4"/><Relationship Id="rId5" Type="http://schemas.openxmlformats.org/officeDocument/2006/relationships/video" Target="../media/media3.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4.xml"/><Relationship Id="rId4" Type="http://schemas.microsoft.com/office/2007/relationships/media" Target="../media/media4.mp4"/><Relationship Id="rId5" Type="http://schemas.openxmlformats.org/officeDocument/2006/relationships/video" Target="../media/media4.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37.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image" Target="../media/Presenton_Native_Image_4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1.png"/><Relationship Id="rId3" Type="http://schemas.openxmlformats.org/officeDocument/2006/relationships/image" Target="../media/Presenton_Native_Image_4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5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5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5.png"/><Relationship Id="rId3" Type="http://schemas.openxmlformats.org/officeDocument/2006/relationships/image" Target="../media/Presenton_Native_Image_5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5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5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6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6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6.png"/><Relationship Id="rId3" Type="http://schemas.openxmlformats.org/officeDocument/2006/relationships/image" Target="../media/Presenton_Native_Image_6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6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7.png"/><Relationship Id="rId3" Type="http://schemas.openxmlformats.org/officeDocument/2006/relationships/image" Target="../media/Presenton_Native_Image_7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7.png"/><Relationship Id="rId3" Type="http://schemas.openxmlformats.org/officeDocument/2006/relationships/image" Target="../media/Presenton_Native_Image_7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7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hape 2"/>
          <p:cNvSpPr/>
          <p:nvPr/>
        </p:nvSpPr>
        <p:spPr>
          <a:xfrm>
            <a:off x="0" y="0"/>
            <a:ext cx="5905500" cy="6858000"/>
          </a:xfrm>
          <a:prstGeom prst="rect">
            <a:avLst/>
          </a:prstGeom>
          <a:solidFill>
            <a:srgbClr val="6A7A86"/>
          </a:solidFill>
        </p:spPr>
        <p:txBody>
          <a:bodyPr/>
          <a:lstStyle/>
          <a:p/>
        </p:txBody>
      </p:sp>
      <p:sp>
        <p:nvSpPr>
          <p:cNvPr id="3" name="Shape 3"/>
          <p:cNvSpPr/>
          <p:nvPr/>
        </p:nvSpPr>
        <p:spPr>
          <a:xfrm>
            <a:off x="571500" y="571500"/>
            <a:ext cx="4781550" cy="228600"/>
          </a:xfrm>
          <a:prstGeom prst="rect">
            <a:avLst/>
          </a:prstGeom>
          <a:noFill/>
        </p:spPr>
        <p:txBody>
          <a:bodyPr anchor="t" wrap="square" tIns="0" bIns="0" lIns="0" rIns="0">
            <a:normAutofit/>
          </a:bodyPr>
          <a:lstStyle/>
          <a:p>
            <a:pPr algn="l">
              <a:lnSpc>
                <a:spcPts val="1800"/>
              </a:lnSpc>
              <a:buNone/>
            </a:pPr>
            <a:r>
              <a:rPr sz="1200" b="0" i="0">
                <a:solidFill>
                  <a:srgbClr val="FFFFFF"/>
                </a:solidFill>
                <a:latin typeface="Arial"/>
                <a:ea typeface="Arial"/>
              </a:rPr>
              <a:t>NEUR 411 · NEUROETHOLOGY · FALL 2026</a:t>
            </a:r>
            <a:endParaRPr lang="en-US"/>
          </a:p>
        </p:txBody>
      </p:sp>
      <p:sp>
        <p:nvSpPr>
          <p:cNvPr id="4" name="Shape 4"/>
          <p:cNvSpPr/>
          <p:nvPr/>
        </p:nvSpPr>
        <p:spPr>
          <a:xfrm>
            <a:off x="571500" y="1228725"/>
            <a:ext cx="4781550" cy="342900"/>
          </a:xfrm>
          <a:prstGeom prst="rect">
            <a:avLst/>
          </a:prstGeom>
          <a:noFill/>
        </p:spPr>
        <p:txBody>
          <a:bodyPr anchor="t" wrap="square" tIns="0" bIns="0" lIns="0" rIns="0">
            <a:normAutofit/>
          </a:bodyPr>
          <a:lstStyle/>
          <a:p>
            <a:pPr algn="l">
              <a:lnSpc>
                <a:spcPts val="2700"/>
              </a:lnSpc>
              <a:buNone/>
            </a:pPr>
            <a:r>
              <a:rPr sz="1800" b="0" i="0">
                <a:solidFill>
                  <a:srgbClr val="FFFFFF"/>
                </a:solidFill>
                <a:latin typeface="Arial"/>
                <a:ea typeface="Arial"/>
              </a:rPr>
              <a:t>Lecture 54</a:t>
            </a:r>
            <a:endParaRPr lang="en-US"/>
          </a:p>
        </p:txBody>
      </p:sp>
      <p:sp>
        <p:nvSpPr>
          <p:cNvPr id="5" name="Shape 5"/>
          <p:cNvSpPr/>
          <p:nvPr/>
        </p:nvSpPr>
        <p:spPr>
          <a:xfrm>
            <a:off x="571500" y="1809750"/>
            <a:ext cx="4781550" cy="1562100"/>
          </a:xfrm>
          <a:prstGeom prst="rect">
            <a:avLst/>
          </a:prstGeom>
          <a:noFill/>
        </p:spPr>
        <p:txBody>
          <a:bodyPr anchor="t" wrap="square" tIns="0" bIns="0" lIns="0" rIns="0">
            <a:normAutofit/>
          </a:bodyPr>
          <a:lstStyle/>
          <a:p>
            <a:pPr algn="l">
              <a:lnSpc>
                <a:spcPts val="3075"/>
              </a:lnSpc>
              <a:buNone/>
            </a:pPr>
            <a:r>
              <a:rPr sz="2550" b="1" i="0">
                <a:solidFill>
                  <a:srgbClr val="FFFFFF"/>
                </a:solidFill>
                <a:latin typeface="Arial"/>
                <a:ea typeface="Arial"/>
              </a:rPr>
              <a:t>Fear in dogs and cats: threat recognition, defensive behavior, and underlying neural circuits</a:t>
            </a:r>
            <a:endParaRPr lang="en-US"/>
          </a:p>
        </p:txBody>
      </p:sp>
      <p:sp>
        <p:nvSpPr>
          <p:cNvPr id="6" name="Shape 6"/>
          <p:cNvSpPr/>
          <p:nvPr/>
        </p:nvSpPr>
        <p:spPr>
          <a:xfrm>
            <a:off x="571500" y="3705225"/>
            <a:ext cx="4781550" cy="314325"/>
          </a:xfrm>
          <a:prstGeom prst="rect">
            <a:avLst/>
          </a:prstGeom>
          <a:noFill/>
        </p:spPr>
        <p:txBody>
          <a:bodyPr anchor="t" wrap="square" tIns="0" bIns="0" lIns="0" rIns="0">
            <a:normAutofit/>
          </a:bodyPr>
          <a:lstStyle/>
          <a:p>
            <a:pPr algn="l">
              <a:lnSpc>
                <a:spcPts val="2475"/>
              </a:lnSpc>
              <a:buNone/>
            </a:pPr>
            <a:r>
              <a:rPr sz="1650" b="0" i="0">
                <a:solidFill>
                  <a:srgbClr val="FFFFFF"/>
                </a:solidFill>
                <a:latin typeface="Arial"/>
                <a:ea typeface="Arial"/>
              </a:rPr>
              <a:t>Date TBD</a:t>
            </a:r>
            <a:endParaRPr lang="en-US"/>
          </a:p>
        </p:txBody>
      </p:sp>
      <p:pic>
        <p:nvPicPr>
          <p:cNvPr id="100" name="Presenton Native Image 1" descr=""/>
          <p:cNvPicPr/>
          <p:nvPr/>
        </p:nvPicPr>
        <p:blipFill>
          <a:blip r:embed="rId2" cstate="none"/>
          <a:stretch>
            <a:fillRect/>
          </a:stretch>
        </p:blipFill>
        <p:spPr>
          <a:xfrm>
            <a:off x="7658279" y="1428750"/>
            <a:ext cx="2685693" cy="3619500"/>
          </a:xfrm>
          <a:prstGeom prst="rect">
            <a:avLst/>
          </a:prstGeom>
        </p:spPr>
      </p:pic>
      <p:sp>
        <p:nvSpPr>
          <p:cNvPr id="7" name="Shape 7"/>
          <p:cNvSpPr/>
          <p:nvPr/>
        </p:nvSpPr>
        <p:spPr>
          <a:xfrm>
            <a:off x="6381750" y="5143500"/>
            <a:ext cx="525780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 name="Shape 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Dogs allocate gaze according to the source of threat</a:t>
            </a:r>
            <a:endParaRPr lang="en-US"/>
          </a:p>
        </p:txBody>
      </p:sp>
      <p:sp>
        <p:nvSpPr>
          <p:cNvPr id="9" name="Shape 9"/>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Threat recognition</a:t>
            </a:r>
            <a:r>
              <a:rPr sz="1500" b="0" i="0">
                <a:solidFill>
                  <a:srgbClr val="000000"/>
                </a:solidFill>
                <a:latin typeface="Arial"/>
                <a:ea typeface="Arial"/>
              </a:rPr>
              <a:t xml:space="preserve"> is discrimination of cues associated with possible harm. Somppi and colleagues measured dogs’ spontaneous gaze toward photographs of dog and human faces bearing threatening, pleasant, or neutral expressions. Each photograph appeared for 1500 ms.</a:t>
            </a:r>
            <a:endParaRPr lang="en-US"/>
          </a:p>
        </p:txBody>
      </p:sp>
      <p:sp>
        <p:nvSpPr>
          <p:cNvPr id="10" name="Shape 10"/>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Dogs devoted more viewing time to the inner faces of threatening dogs than to pleasant or neutral dog faces. Their response to threatening human faces differed: initial fixations were less likely to land within the inner face than for pleasant or neutral humans.</a:t>
            </a:r>
            <a:endParaRPr lang="en-US"/>
          </a:p>
        </p:txBody>
      </p:sp>
      <p:sp>
        <p:nvSpPr>
          <p:cNvPr id="11" name="Shape 11"/>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experiment controlled presentation duration and compared expressions within each depicted species. The result establishes expression-dependent visual attention, rather than a direct measurement of fear, attack probability, or subjective emotional experience.</a:t>
            </a:r>
            <a:endParaRPr lang="en-US"/>
          </a:p>
        </p:txBody>
      </p:sp>
      <p:pic>
        <p:nvPicPr>
          <p:cNvPr id="101" name="Presenton Native Image 2" descr=""/>
          <p:cNvPicPr/>
          <p:nvPr/>
        </p:nvPicPr>
        <p:blipFill>
          <a:blip r:embed="rId3" cstate="none"/>
          <a:stretch>
            <a:fillRect/>
          </a:stretch>
        </p:blipFill>
        <p:spPr>
          <a:xfrm>
            <a:off x="6620744" y="1190625"/>
            <a:ext cx="4655987" cy="2476500"/>
          </a:xfrm>
          <a:prstGeom prst="rect">
            <a:avLst/>
          </a:prstGeom>
        </p:spPr>
      </p:pic>
      <p:sp>
        <p:nvSpPr>
          <p:cNvPr id="12" name="Shape 1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2A,B. Expression-dependent fixation scores and first fixations.</a:t>
            </a:r>
            <a:endParaRPr lang="en-US"/>
          </a:p>
        </p:txBody>
      </p:sp>
      <p:pic>
        <p:nvPicPr>
          <p:cNvPr id="102" name="Presenton Native Image 3" descr=""/>
          <p:cNvPicPr/>
          <p:nvPr/>
        </p:nvPicPr>
        <p:blipFill>
          <a:blip r:embed="rId2" cstate="none"/>
          <a:stretch>
            <a:fillRect/>
          </a:stretch>
        </p:blipFill>
        <p:spPr>
          <a:xfrm>
            <a:off x="8441098" y="4476750"/>
            <a:ext cx="1024804" cy="1381125"/>
          </a:xfrm>
          <a:prstGeom prst="rect">
            <a:avLst/>
          </a:prstGeom>
        </p:spPr>
      </p:pic>
      <p:sp>
        <p:nvSpPr>
          <p:cNvPr id="13" name="Shape 1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14" name="Shape 1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15" name="Shape 15"/>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 name="Shape 1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Brief presentations isolate spontaneous visual sampling</a:t>
            </a:r>
            <a:endParaRPr lang="en-US"/>
          </a:p>
        </p:txBody>
      </p:sp>
      <p:sp>
        <p:nvSpPr>
          <p:cNvPr id="17" name="Shape 1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Dogs watched facial photographs while resting their heads voluntarily on a chin support. An infrared </a:t>
            </a:r>
            <a:r>
              <a:rPr sz="1500" b="1" i="0">
                <a:solidFill>
                  <a:srgbClr val="444E55"/>
                </a:solidFill>
                <a:latin typeface="Arial"/>
                <a:ea typeface="Arial"/>
              </a:rPr>
              <a:t>eye tracker</a:t>
            </a:r>
            <a:r>
              <a:rPr sz="1500" b="0" i="0">
                <a:solidFill>
                  <a:srgbClr val="000000"/>
                </a:solidFill>
                <a:latin typeface="Arial"/>
                <a:ea typeface="Arial"/>
              </a:rPr>
              <a:t>, an instrument estimating gaze position, recorded where each dog looked without requiring a trained choice between emotional categories.</a:t>
            </a:r>
            <a:endParaRPr lang="en-US"/>
          </a:p>
        </p:txBody>
      </p:sp>
      <p:sp>
        <p:nvSpPr>
          <p:cNvPr id="18" name="Shape 1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Images appeared for 1500 ms, separated by 500 ms intervals. Stimulus order and block length were randomized, while owners and experimenters waited behind an opaque barrier. These procedures reduced predictable sequences and immediate social guidance during viewing.</a:t>
            </a:r>
            <a:endParaRPr lang="en-US"/>
          </a:p>
        </p:txBody>
      </p:sp>
      <p:sp>
        <p:nvSpPr>
          <p:cNvPr id="19" name="Shape 19"/>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endParaRPr lang="en-US"/>
          </a:p>
        </p:txBody>
      </p:sp>
      <p:pic>
        <p:nvPicPr>
          <p:cNvPr id="103" name="Presenton Native Image 4" descr=""/>
          <p:cNvPicPr/>
          <p:nvPr/>
        </p:nvPicPr>
        <p:blipFill>
          <a:blip r:embed="rId2" cstate="none"/>
          <a:stretch>
            <a:fillRect/>
          </a:stretch>
        </p:blipFill>
        <p:spPr>
          <a:xfrm>
            <a:off x="7324725" y="1192698"/>
            <a:ext cx="3248025" cy="4377353"/>
          </a:xfrm>
          <a:prstGeom prst="rect">
            <a:avLst/>
          </a:prstGeom>
        </p:spPr>
      </p:pic>
      <p:sp>
        <p:nvSpPr>
          <p:cNvPr id="20" name="Shape 20"/>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21" name="Shape 2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22" name="Shape 22"/>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a:t>
            </a:r>
            <a:endParaRPr lang="en-US"/>
          </a:p>
        </p:txBody>
      </p:sp>
      <p:pic>
        <p:nvPicPr>
          <p:cNvPr id="104" name="Somppi2016_S1.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2"/>
          <a:stretch>
            <a:fillRect/>
          </a:stretch>
        </p:blipFill>
        <p:spPr>
          <a:xfrm>
            <a:off x="7324725" y="1192698"/>
            <a:ext cx="3248025" cy="4377353"/>
          </a:xfrm>
          <a:prstGeom prst="rect">
            <a:avLst/>
          </a:prstGeom>
        </p:spPr>
      </p:pic>
      <p:sp>
        <p:nvSpPr>
          <p:cNvPr id="105" name="TextBox 104"/>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Article video: Somppi et al. (2016), S1 Movie.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04"/>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 name="Shape 2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Dogs prioritize eyes over exposed teeth</a:t>
            </a:r>
            <a:endParaRPr lang="en-US"/>
          </a:p>
        </p:txBody>
      </p:sp>
      <p:sp>
        <p:nvSpPr>
          <p:cNvPr id="24" name="Shape 2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fixation</a:t>
            </a:r>
            <a:r>
              <a:rPr sz="1500" b="0" i="0">
                <a:solidFill>
                  <a:srgbClr val="000000"/>
                </a:solidFill>
                <a:latin typeface="Arial"/>
                <a:ea typeface="Arial"/>
              </a:rPr>
              <a:t xml:space="preserve"> is a period during which gaze remains within a restricted area. Facial regions were classified as eyes, midface, and mouth, allowing Somppi and colleagues to compare visual sampling of different components of an expression.</a:t>
            </a:r>
            <a:endParaRPr lang="en-US"/>
          </a:p>
        </p:txBody>
      </p:sp>
      <p:sp>
        <p:nvSpPr>
          <p:cNvPr id="25" name="Shape 2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Across dog and human faces, dogs looked longer at eyes than at mouths. Average entry times were about 503 ms for eyes, 501 ms for midface, and 584 ms for mouths. Thus, exposed teeth were not the only visual information sampled during threatening expressions.</a:t>
            </a:r>
            <a:endParaRPr lang="en-US"/>
          </a:p>
        </p:txBody>
      </p:sp>
      <p:sp>
        <p:nvSpPr>
          <p:cNvPr id="26" name="Shape 2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Fixation scores accounted for facial-region size and total face-viewing time. The comparison supports structured sampling of facial information. It does not identify the neural detector for threat or establish that a single facial feature determines a defensive reaction.</a:t>
            </a:r>
            <a:endParaRPr lang="en-US"/>
          </a:p>
        </p:txBody>
      </p:sp>
      <p:pic>
        <p:nvPicPr>
          <p:cNvPr id="104" name="Presenton Native Image 5" descr=""/>
          <p:cNvPicPr/>
          <p:nvPr/>
        </p:nvPicPr>
        <p:blipFill>
          <a:blip r:embed="rId3" cstate="none"/>
          <a:stretch>
            <a:fillRect/>
          </a:stretch>
        </p:blipFill>
        <p:spPr>
          <a:xfrm>
            <a:off x="6620744" y="1190625"/>
            <a:ext cx="4655987" cy="2476500"/>
          </a:xfrm>
          <a:prstGeom prst="rect">
            <a:avLst/>
          </a:prstGeom>
        </p:spPr>
      </p:pic>
      <p:sp>
        <p:nvSpPr>
          <p:cNvPr id="27" name="Shape 2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3. Fixation scores for eyes, midface, and mouth.</a:t>
            </a:r>
            <a:endParaRPr lang="en-US"/>
          </a:p>
        </p:txBody>
      </p:sp>
      <p:pic>
        <p:nvPicPr>
          <p:cNvPr id="105" name="Presenton Native Image 6" descr=""/>
          <p:cNvPicPr/>
          <p:nvPr/>
        </p:nvPicPr>
        <p:blipFill>
          <a:blip r:embed="rId2" cstate="none"/>
          <a:stretch>
            <a:fillRect/>
          </a:stretch>
        </p:blipFill>
        <p:spPr>
          <a:xfrm>
            <a:off x="8441098" y="4476750"/>
            <a:ext cx="1024804" cy="1381125"/>
          </a:xfrm>
          <a:prstGeom prst="rect">
            <a:avLst/>
          </a:prstGeom>
        </p:spPr>
      </p:pic>
      <p:sp>
        <p:nvSpPr>
          <p:cNvPr id="28" name="Shape 2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29" name="Shape 2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30" name="Shape 30"/>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 name="Shape 3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Threatening human faces alter initial orienting</a:t>
            </a:r>
            <a:endParaRPr lang="en-US"/>
          </a:p>
        </p:txBody>
      </p:sp>
      <p:sp>
        <p:nvSpPr>
          <p:cNvPr id="32" name="Shape 3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Initial orienting</a:t>
            </a:r>
            <a:r>
              <a:rPr sz="1500" b="0" i="0">
                <a:solidFill>
                  <a:srgbClr val="000000"/>
                </a:solidFill>
                <a:latin typeface="Arial"/>
                <a:ea typeface="Arial"/>
              </a:rPr>
              <a:t xml:space="preserve"> describes where attention is directed at the beginning of stimulus inspection. The probability of a first fixation landing on the inner face was lower for threatening human expressions than for pleasant or neutral human expressions.</a:t>
            </a:r>
            <a:endParaRPr lang="en-US"/>
          </a:p>
        </p:txBody>
      </p:sp>
      <p:sp>
        <p:nvSpPr>
          <p:cNvPr id="33" name="Shape 3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same dogs viewed conspecific faces, meaning faces of their own species. Threatening dog faces received more inner-face viewing than other dog expressions. Consequently, the visual response depended jointly on expression and the species producing the signal.</a:t>
            </a:r>
            <a:endParaRPr lang="en-US"/>
          </a:p>
        </p:txBody>
      </p:sp>
      <p:sp>
        <p:nvSpPr>
          <p:cNvPr id="34" name="Shape 34"/>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a:t>
            </a:r>
            <a:endParaRPr lang="en-US"/>
          </a:p>
        </p:txBody>
      </p:sp>
      <p:pic>
        <p:nvPicPr>
          <p:cNvPr id="106" name="Presenton Native Image 7" descr=""/>
          <p:cNvPicPr/>
          <p:nvPr/>
        </p:nvPicPr>
        <p:blipFill>
          <a:blip r:embed="rId2" cstate="none"/>
          <a:stretch>
            <a:fillRect/>
          </a:stretch>
        </p:blipFill>
        <p:spPr>
          <a:xfrm>
            <a:off x="6620744" y="1190625"/>
            <a:ext cx="4655987" cy="2476500"/>
          </a:xfrm>
          <a:prstGeom prst="rect">
            <a:avLst/>
          </a:prstGeom>
        </p:spPr>
      </p:pic>
      <p:sp>
        <p:nvSpPr>
          <p:cNvPr id="35" name="Shape 35"/>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2A,B. Expression-dependent fixation scores and first fixations.</a:t>
            </a:r>
            <a:endParaRPr lang="en-US"/>
          </a:p>
        </p:txBody>
      </p:sp>
      <p:pic>
        <p:nvPicPr>
          <p:cNvPr id="107" name="Presenton Native Image 8" descr=""/>
          <p:cNvPicPr/>
          <p:nvPr/>
        </p:nvPicPr>
        <p:blipFill>
          <a:blip r:embed="rId3" cstate="none"/>
          <a:stretch>
            <a:fillRect/>
          </a:stretch>
        </p:blipFill>
        <p:spPr>
          <a:xfrm>
            <a:off x="7791458" y="4476750"/>
            <a:ext cx="2314560" cy="1381125"/>
          </a:xfrm>
          <a:prstGeom prst="rect">
            <a:avLst/>
          </a:prstGeom>
        </p:spPr>
      </p:pic>
      <p:sp>
        <p:nvSpPr>
          <p:cNvPr id="36" name="Shape 3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4. Original first-fixation targets and scanning paths; circle key is 500 ms.</a:t>
            </a:r>
            <a:endParaRPr lang="en-US"/>
          </a:p>
        </p:txBody>
      </p:sp>
      <p:sp>
        <p:nvSpPr>
          <p:cNvPr id="37" name="Shape 3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38" name="Shape 38"/>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9" name="Shape 3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Gaze heat maps locate attention without measuring fear</a:t>
            </a:r>
            <a:endParaRPr lang="en-US"/>
          </a:p>
        </p:txBody>
      </p:sp>
      <p:sp>
        <p:nvSpPr>
          <p:cNvPr id="40" name="Shape 40"/>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gaze heat map</a:t>
            </a:r>
            <a:r>
              <a:rPr sz="1500" b="0" i="0">
                <a:solidFill>
                  <a:srgbClr val="000000"/>
                </a:solidFill>
                <a:latin typeface="Arial"/>
                <a:ea typeface="Arial"/>
              </a:rPr>
              <a:t xml:space="preserve"> represents the distribution of recorded fixations across a stimulus. The published maps from Somppi and colleagues place dogs’ gaze on eyes, muzzle, and mouth during presentations lasting 1500 ms.</a:t>
            </a:r>
            <a:endParaRPr lang="en-US"/>
          </a:p>
        </p:txBody>
      </p:sp>
      <p:sp>
        <p:nvSpPr>
          <p:cNvPr id="41" name="Shape 41"/>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analysis compared threatening, pleasant, and neutral faces of both humans and dogs. It normalized looking duration for facial-region size, reducing the possibility that a larger mouth or eye region automatically receives a larger score simply because it occupies more space.</a:t>
            </a:r>
            <a:endParaRPr lang="en-US"/>
          </a:p>
        </p:txBody>
      </p:sp>
      <p:sp>
        <p:nvSpPr>
          <p:cNvPr id="42" name="Shape 42"/>
          <p:cNvSpPr/>
          <p:nvPr/>
        </p:nvSpPr>
        <p:spPr>
          <a:xfrm>
            <a:off x="571500" y="3724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a:t>
            </a:r>
            <a:endParaRPr lang="en-US"/>
          </a:p>
        </p:txBody>
      </p:sp>
      <p:pic>
        <p:nvPicPr>
          <p:cNvPr id="108" name="Presenton Native Image 9" descr=""/>
          <p:cNvPicPr/>
          <p:nvPr/>
        </p:nvPicPr>
        <p:blipFill>
          <a:blip r:embed="rId2" cstate="none"/>
          <a:stretch>
            <a:fillRect/>
          </a:stretch>
        </p:blipFill>
        <p:spPr>
          <a:xfrm>
            <a:off x="8115300" y="1194376"/>
            <a:ext cx="1666875" cy="4373999"/>
          </a:xfrm>
          <a:prstGeom prst="rect">
            <a:avLst/>
          </a:prstGeom>
        </p:spPr>
      </p:pic>
      <p:sp>
        <p:nvSpPr>
          <p:cNvPr id="43" name="Shape 43"/>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and human facial stimuli with published gaze distributions.</a:t>
            </a:r>
            <a:endParaRPr lang="en-US"/>
          </a:p>
        </p:txBody>
      </p:sp>
      <p:sp>
        <p:nvSpPr>
          <p:cNvPr id="44" name="Shape 4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45" name="Shape 45"/>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6" name="Shape 4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Facial scanning reflects several competing cues</a:t>
            </a:r>
            <a:endParaRPr lang="en-US"/>
          </a:p>
        </p:txBody>
      </p:sp>
      <p:sp>
        <p:nvSpPr>
          <p:cNvPr id="47" name="Shape 4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Dogs’ first fixations and subsequent scanning paths sampled multiple parts of a face. Somppi and colleagues recorded these paths during 1500 ms presentations, with fixation duration and entry time providing different descriptions of visual attention.</a:t>
            </a:r>
            <a:endParaRPr lang="en-US"/>
          </a:p>
        </p:txBody>
      </p:sp>
      <p:sp>
        <p:nvSpPr>
          <p:cNvPr id="48" name="Shape 4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endParaRPr lang="en-US"/>
          </a:p>
        </p:txBody>
      </p:sp>
      <p:sp>
        <p:nvSpPr>
          <p:cNvPr id="49" name="Shape 49"/>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endParaRPr lang="en-US"/>
          </a:p>
        </p:txBody>
      </p:sp>
      <p:pic>
        <p:nvPicPr>
          <p:cNvPr id="109" name="Presenton Native Image 10" descr=""/>
          <p:cNvPicPr/>
          <p:nvPr/>
        </p:nvPicPr>
        <p:blipFill>
          <a:blip r:embed="rId2" cstate="none"/>
          <a:stretch>
            <a:fillRect/>
          </a:stretch>
        </p:blipFill>
        <p:spPr>
          <a:xfrm>
            <a:off x="6479316" y="1190625"/>
            <a:ext cx="4948369" cy="2952750"/>
          </a:xfrm>
          <a:prstGeom prst="rect">
            <a:avLst/>
          </a:prstGeom>
        </p:spPr>
      </p:pic>
      <p:sp>
        <p:nvSpPr>
          <p:cNvPr id="50" name="Shape 50"/>
          <p:cNvSpPr/>
          <p:nvPr/>
        </p:nvSpPr>
        <p:spPr>
          <a:xfrm>
            <a:off x="6477000" y="42386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4. Original first-fixation targets and scanning paths; circle key is 500 ms.</a:t>
            </a:r>
            <a:endParaRPr lang="en-US"/>
          </a:p>
        </p:txBody>
      </p:sp>
      <p:sp>
        <p:nvSpPr>
          <p:cNvPr id="51" name="Shape 5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52" name="Shape 52"/>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7</a:t>
            </a:r>
            <a:endParaRPr lang="en-US"/>
          </a:p>
        </p:txBody>
      </p:sp>
      <p:pic>
        <p:nvPicPr>
          <p:cNvPr id="110" name="Somppi2016_S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2"/>
          <a:stretch>
            <a:fillRect/>
          </a:stretch>
        </p:blipFill>
        <p:spPr>
          <a:xfrm>
            <a:off x="6479316" y="1190625"/>
            <a:ext cx="4948369" cy="2952750"/>
          </a:xfrm>
          <a:prstGeom prst="rect">
            <a:avLst/>
          </a:prstGeom>
        </p:spPr>
      </p:pic>
      <p:sp>
        <p:nvSpPr>
          <p:cNvPr id="111" name="TextBox 110"/>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Article video: Somppi et al. (2016), S2 Movie.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0"/>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3" name="Shape 5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Cats match hissing sounds to threatening faces</a:t>
            </a:r>
            <a:endParaRPr lang="en-US"/>
          </a:p>
        </p:txBody>
      </p:sp>
      <p:sp>
        <p:nvSpPr>
          <p:cNvPr id="54" name="Shape 5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Cross-modal recognition</a:t>
            </a:r>
            <a:r>
              <a:rPr sz="1500" b="0" i="0">
                <a:solidFill>
                  <a:srgbClr val="000000"/>
                </a:solidFill>
                <a:latin typeface="Arial"/>
                <a:ea typeface="Arial"/>
              </a:rPr>
              <a:t xml:space="preserve"> is matching information carried by different senses. Quaranta and colleagues presented cats with two facial expressions of the same individual while playing a vocalization matching only one expression. A presentation lasted 5 s.</a:t>
            </a:r>
            <a:endParaRPr lang="en-US"/>
          </a:p>
        </p:txBody>
      </p:sp>
      <p:sp>
        <p:nvSpPr>
          <p:cNvPr id="55" name="Shape 5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Cats looked longer at the congruent face when hearing a conspecific hiss. They also matched human anger and happiness vocalizations to the corresponding human expressions. </a:t>
            </a:r>
            <a:r>
              <a:rPr sz="1500" b="1" i="0">
                <a:solidFill>
                  <a:srgbClr val="444E55"/>
                </a:solidFill>
                <a:latin typeface="Arial"/>
                <a:ea typeface="Arial"/>
              </a:rPr>
              <a:t>Congruent</a:t>
            </a:r>
            <a:r>
              <a:rPr sz="1500" b="0" i="0">
                <a:solidFill>
                  <a:srgbClr val="000000"/>
                </a:solidFill>
                <a:latin typeface="Arial"/>
                <a:ea typeface="Arial"/>
              </a:rPr>
              <a:t xml:space="preserve"> means that the expression and sound belonged to the same emotional condition.</a:t>
            </a:r>
            <a:endParaRPr lang="en-US"/>
          </a:p>
        </p:txBody>
      </p:sp>
      <p:sp>
        <p:nvSpPr>
          <p:cNvPr id="56" name="Shape 5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Neutral Brownian sound provided a control without the emotional vocal cue. Preferential matching supports integration of visual and auditory social information. It does not prove that cats experience the displayed emotion or identify the neurons performing this integration.</a:t>
            </a:r>
            <a:endParaRPr lang="en-US"/>
          </a:p>
        </p:txBody>
      </p:sp>
      <p:pic>
        <p:nvPicPr>
          <p:cNvPr id="110" name="Presenton Native Image 11" descr=""/>
          <p:cNvPicPr/>
          <p:nvPr/>
        </p:nvPicPr>
        <p:blipFill>
          <a:blip r:embed="rId2" cstate="none"/>
          <a:stretch>
            <a:fillRect/>
          </a:stretch>
        </p:blipFill>
        <p:spPr>
          <a:xfrm>
            <a:off x="7155043" y="1190625"/>
            <a:ext cx="3596913" cy="2476500"/>
          </a:xfrm>
          <a:prstGeom prst="rect">
            <a:avLst/>
          </a:prstGeom>
        </p:spPr>
      </p:pic>
      <p:sp>
        <p:nvSpPr>
          <p:cNvPr id="57" name="Shape 57"/>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1" name="Presenton Native Image 12" descr=""/>
          <p:cNvPicPr/>
          <p:nvPr/>
        </p:nvPicPr>
        <p:blipFill>
          <a:blip r:embed="rId3" cstate="none"/>
          <a:stretch>
            <a:fillRect/>
          </a:stretch>
        </p:blipFill>
        <p:spPr>
          <a:xfrm>
            <a:off x="7858125" y="4477179"/>
            <a:ext cx="2190750" cy="1380267"/>
          </a:xfrm>
          <a:prstGeom prst="rect">
            <a:avLst/>
          </a:prstGeom>
        </p:spPr>
      </p:pic>
      <p:sp>
        <p:nvSpPr>
          <p:cNvPr id="58" name="Shape 5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59" name="Shape 5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60" name="Shape 60"/>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 name="Shape 6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Matched sound intensity controls one source of arousal</a:t>
            </a:r>
            <a:endParaRPr lang="en-US"/>
          </a:p>
        </p:txBody>
      </p:sp>
      <p:sp>
        <p:nvSpPr>
          <p:cNvPr id="62" name="Shape 62"/>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cat recognition study used hissing and purring recorded during different social conditions. Hiss recordings came from a threatening encounter involving an approaching dog; purr recordings came from relaxed interactions with owners.</a:t>
            </a:r>
            <a:endParaRPr lang="en-US"/>
          </a:p>
        </p:txBody>
      </p:sp>
      <p:sp>
        <p:nvSpPr>
          <p:cNvPr id="63" name="Shape 63"/>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Recordings were adjusted to 69 dB at the tested cat’s position. Facial photographs were converted to grayscale in the published experiment. These controls reduced sound-intensity and image-color differences as explanations for matching an expression to a vocalization.</a:t>
            </a:r>
            <a:endParaRPr lang="en-US"/>
          </a:p>
        </p:txBody>
      </p:sp>
      <p:sp>
        <p:nvSpPr>
          <p:cNvPr id="64" name="Shape 64"/>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a:t>
            </a:r>
            <a:endParaRPr lang="en-US"/>
          </a:p>
        </p:txBody>
      </p:sp>
      <p:pic>
        <p:nvPicPr>
          <p:cNvPr id="112" name="Presenton Native Image 13" descr=""/>
          <p:cNvPicPr/>
          <p:nvPr/>
        </p:nvPicPr>
        <p:blipFill>
          <a:blip r:embed="rId2" cstate="none"/>
          <a:stretch>
            <a:fillRect/>
          </a:stretch>
        </p:blipFill>
        <p:spPr>
          <a:xfrm>
            <a:off x="6477000" y="1192424"/>
            <a:ext cx="4953000" cy="3120603"/>
          </a:xfrm>
          <a:prstGeom prst="rect">
            <a:avLst/>
          </a:prstGeom>
        </p:spPr>
      </p:pic>
      <p:sp>
        <p:nvSpPr>
          <p:cNvPr id="65" name="Shape 65"/>
          <p:cNvSpPr/>
          <p:nvPr/>
        </p:nvSpPr>
        <p:spPr>
          <a:xfrm>
            <a:off x="6477000" y="44100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66" name="Shape 6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67" name="Shape 67"/>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 name="Shape 6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Human anger increases cats’ stress-related behavior</a:t>
            </a:r>
            <a:endParaRPr lang="en-US"/>
          </a:p>
        </p:txBody>
      </p:sp>
      <p:sp>
        <p:nvSpPr>
          <p:cNvPr id="69" name="Shape 69"/>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Quaranta and colleagues scored cats’ behavior during audiovisual presentations of human anger, human happiness, cat hissing, and cat purring. </a:t>
            </a:r>
            <a:r>
              <a:rPr sz="1500" b="1" i="0">
                <a:solidFill>
                  <a:srgbClr val="444E55"/>
                </a:solidFill>
                <a:latin typeface="Arial"/>
                <a:ea typeface="Arial"/>
              </a:rPr>
              <a:t>Stress-related behavior</a:t>
            </a:r>
            <a:r>
              <a:rPr sz="1500" b="0" i="0">
                <a:solidFill>
                  <a:srgbClr val="000000"/>
                </a:solidFill>
                <a:latin typeface="Arial"/>
                <a:ea typeface="Arial"/>
              </a:rPr>
              <a:t xml:space="preserve"> was operationalized as the observed frequency of specified behavioral signs, rather than inferred directly from facial matching.</a:t>
            </a:r>
            <a:endParaRPr lang="en-US"/>
          </a:p>
        </p:txBody>
      </p:sp>
      <p:sp>
        <p:nvSpPr>
          <p:cNvPr id="70" name="Shape 70"/>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expressed more stress-related behavior during human anger and cat hiss presentations than during human happiness or cat purr presentations. Sounds were standardized to 69 dB, and the same 5 s presentation procedure was used across conditions.</a:t>
            </a:r>
            <a:endParaRPr lang="en-US"/>
          </a:p>
        </p:txBody>
      </p:sp>
      <p:sp>
        <p:nvSpPr>
          <p:cNvPr id="71" name="Shape 71"/>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behavioral score complements the gaze measure by assessing the recipient’s response. It does not measure circulating stress hormones or record brain activity. A threatening communication signal can alter behavior even when the recipient does not attack the sender.</a:t>
            </a:r>
            <a:endParaRPr lang="en-US"/>
          </a:p>
        </p:txBody>
      </p:sp>
      <p:pic>
        <p:nvPicPr>
          <p:cNvPr id="113" name="Presenton Native Image 14" descr=""/>
          <p:cNvPicPr/>
          <p:nvPr/>
        </p:nvPicPr>
        <p:blipFill>
          <a:blip r:embed="rId2" cstate="none"/>
          <a:stretch>
            <a:fillRect/>
          </a:stretch>
        </p:blipFill>
        <p:spPr>
          <a:xfrm>
            <a:off x="7000875" y="1190656"/>
            <a:ext cx="3895725" cy="2476437"/>
          </a:xfrm>
          <a:prstGeom prst="rect">
            <a:avLst/>
          </a:prstGeom>
        </p:spPr>
      </p:pic>
      <p:sp>
        <p:nvSpPr>
          <p:cNvPr id="72" name="Shape 7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4. Stress-related behavior during emotional stimulus presentations.</a:t>
            </a:r>
            <a:endParaRPr lang="en-US"/>
          </a:p>
        </p:txBody>
      </p:sp>
      <p:pic>
        <p:nvPicPr>
          <p:cNvPr id="114" name="Presenton Native Image 15" descr=""/>
          <p:cNvPicPr/>
          <p:nvPr/>
        </p:nvPicPr>
        <p:blipFill>
          <a:blip r:embed="rId3" cstate="none"/>
          <a:stretch>
            <a:fillRect/>
          </a:stretch>
        </p:blipFill>
        <p:spPr>
          <a:xfrm>
            <a:off x="7812324" y="4476750"/>
            <a:ext cx="2282352" cy="1381125"/>
          </a:xfrm>
          <a:prstGeom prst="rect">
            <a:avLst/>
          </a:prstGeom>
        </p:spPr>
      </p:pic>
      <p:sp>
        <p:nvSpPr>
          <p:cNvPr id="73" name="Shape 7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(human rows). Happiness and anger stimuli with corresponding vocalizations.</a:t>
            </a:r>
            <a:endParaRPr lang="en-US"/>
          </a:p>
        </p:txBody>
      </p:sp>
      <p:sp>
        <p:nvSpPr>
          <p:cNvPr id="74" name="Shape 7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75" name="Shape 7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10</a:t>
            </a:r>
            <a:endParaRPr lang="en-US"/>
          </a:p>
        </p:txBody>
      </p:sp>
      <p:pic>
        <p:nvPicPr>
          <p:cNvPr id="115" name="Humphrey2020_SI3.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2"/>
          <a:stretch>
            <a:fillRect/>
          </a:stretch>
        </p:blipFill>
        <p:spPr>
          <a:xfrm>
            <a:off x="7000875" y="1190656"/>
            <a:ext cx="3895725" cy="2476437"/>
          </a:xfrm>
          <a:prstGeom prst="rect">
            <a:avLst/>
          </a:prstGeom>
        </p:spPr>
      </p:pic>
      <p:sp>
        <p:nvSpPr>
          <p:cNvPr id="116" name="TextBox 115"/>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Cat communication comparison: Humphrey et al. (2020), Supplementary Information 3 video. Click upper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5"/>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 name="Shape 7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Purring does not produce the same matching result</a:t>
            </a:r>
            <a:endParaRPr lang="en-US"/>
          </a:p>
        </p:txBody>
      </p:sp>
      <p:sp>
        <p:nvSpPr>
          <p:cNvPr id="77" name="Shape 77"/>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endParaRPr lang="en-US"/>
          </a:p>
        </p:txBody>
      </p:sp>
      <p:sp>
        <p:nvSpPr>
          <p:cNvPr id="78" name="Shape 78"/>
          <p:cNvSpPr/>
          <p:nvPr/>
        </p:nvSpPr>
        <p:spPr>
          <a:xfrm>
            <a:off x="571500" y="28289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a:t>
            </a:r>
            <a:r>
              <a:rPr sz="1500" b="1" i="0">
                <a:solidFill>
                  <a:srgbClr val="444E55"/>
                </a:solidFill>
                <a:latin typeface="Arial"/>
                <a:ea typeface="Arial"/>
              </a:rPr>
              <a:t>congruence index</a:t>
            </a:r>
            <a:r>
              <a:rPr sz="1500" b="0" i="0">
                <a:solidFill>
                  <a:srgbClr val="000000"/>
                </a:solidFill>
                <a:latin typeface="Arial"/>
                <a:ea typeface="Arial"/>
              </a:rPr>
              <a:t xml:space="preserve"> describes relative looking toward the matching face. A value of 1 indicates exclusive matching-face looking, a value of −1 indicates exclusive nonmatching-face looking, and zero indicates balanced looking.</a:t>
            </a:r>
            <a:endParaRPr lang="en-US"/>
          </a:p>
        </p:txBody>
      </p:sp>
      <p:sp>
        <p:nvSpPr>
          <p:cNvPr id="79" name="Shape 79"/>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Presentations lasted 5 s and compared expressions of the same individual. The absence of reliable purr matching may reflect the tested cues, task, or their salience. It does not establish that cats cannot perceive purring or recognize relaxed social contexts.</a:t>
            </a:r>
            <a:endParaRPr lang="en-US"/>
          </a:p>
        </p:txBody>
      </p:sp>
      <p:pic>
        <p:nvPicPr>
          <p:cNvPr id="115" name="Presenton Native Image 16" descr=""/>
          <p:cNvPicPr/>
          <p:nvPr/>
        </p:nvPicPr>
        <p:blipFill>
          <a:blip r:embed="rId2" cstate="none"/>
          <a:stretch>
            <a:fillRect/>
          </a:stretch>
        </p:blipFill>
        <p:spPr>
          <a:xfrm>
            <a:off x="7155043" y="1190625"/>
            <a:ext cx="3596913" cy="2476500"/>
          </a:xfrm>
          <a:prstGeom prst="rect">
            <a:avLst/>
          </a:prstGeom>
        </p:spPr>
      </p:pic>
      <p:sp>
        <p:nvSpPr>
          <p:cNvPr id="80" name="Shape 80"/>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6" name="Presenton Native Image 17" descr=""/>
          <p:cNvPicPr/>
          <p:nvPr/>
        </p:nvPicPr>
        <p:blipFill>
          <a:blip r:embed="rId3" cstate="none"/>
          <a:stretch>
            <a:fillRect/>
          </a:stretch>
        </p:blipFill>
        <p:spPr>
          <a:xfrm>
            <a:off x="7858125" y="4477179"/>
            <a:ext cx="2190750" cy="1380267"/>
          </a:xfrm>
          <a:prstGeom prst="rect">
            <a:avLst/>
          </a:prstGeom>
        </p:spPr>
      </p:pic>
      <p:sp>
        <p:nvSpPr>
          <p:cNvPr id="81" name="Shape 81"/>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82" name="Shape 82"/>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83" name="Shape 83"/>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11</a:t>
            </a:r>
            <a:endParaRPr lang="en-US"/>
          </a:p>
        </p:txBody>
      </p:sp>
      <p:pic>
        <p:nvPicPr>
          <p:cNvPr id="117" name="Humphrey2020_SI2.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2"/>
          <a:stretch>
            <a:fillRect/>
          </a:stretch>
        </p:blipFill>
        <p:spPr>
          <a:xfrm>
            <a:off x="7155043" y="1190625"/>
            <a:ext cx="3596913" cy="2476500"/>
          </a:xfrm>
          <a:prstGeom prst="rect">
            <a:avLst/>
          </a:prstGeom>
        </p:spPr>
      </p:pic>
      <p:sp>
        <p:nvSpPr>
          <p:cNvPr id="118" name="TextBox 117"/>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Cat communication comparison: Humphrey et al. (2020), Supplementary Information 2 video. Click upper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7"/>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 name="Shape 84"/>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Matching is tested against a neutral auditory control</a:t>
            </a:r>
            <a:endParaRPr lang="en-US"/>
          </a:p>
        </p:txBody>
      </p:sp>
      <p:sp>
        <p:nvSpPr>
          <p:cNvPr id="85" name="Shape 85"/>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cat recognition experiment paired emotional faces with a neutral Brownian sound as a control condition. </a:t>
            </a:r>
            <a:r>
              <a:rPr sz="1500" b="1" i="0">
                <a:solidFill>
                  <a:srgbClr val="444E55"/>
                </a:solidFill>
                <a:latin typeface="Arial"/>
                <a:ea typeface="Arial"/>
              </a:rPr>
              <a:t>Brownian sound</a:t>
            </a:r>
            <a:r>
              <a:rPr sz="1500" b="0" i="0">
                <a:solidFill>
                  <a:srgbClr val="000000"/>
                </a:solidFill>
                <a:latin typeface="Arial"/>
                <a:ea typeface="Arial"/>
              </a:rPr>
              <a:t xml:space="preserve"> is a nonvocal noise stimulus; here it supplied auditory stimulation without a human or cat emotional vocalization.</a:t>
            </a:r>
            <a:endParaRPr lang="en-US"/>
          </a:p>
        </p:txBody>
      </p:sp>
      <p:sp>
        <p:nvSpPr>
          <p:cNvPr id="86" name="Shape 86"/>
          <p:cNvSpPr/>
          <p:nvPr/>
        </p:nvSpPr>
        <p:spPr>
          <a:xfrm>
            <a:off x="571500" y="2333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a:t>
            </a:r>
            <a:endParaRPr lang="en-US"/>
          </a:p>
        </p:txBody>
      </p:sp>
      <p:sp>
        <p:nvSpPr>
          <p:cNvPr id="87" name="Shape 87"/>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neutral condition weakens an explanation based solely on a fixed preference for one facial photograph. Because no sensory pathway was disrupted, the experiment establishes behavioral audiovisual matching rather than causal dependence on a specific brain region or receptor.</a:t>
            </a:r>
            <a:endParaRPr lang="en-US"/>
          </a:p>
        </p:txBody>
      </p:sp>
      <p:pic>
        <p:nvPicPr>
          <p:cNvPr id="117" name="Presenton Native Image 18" descr=""/>
          <p:cNvPicPr/>
          <p:nvPr/>
        </p:nvPicPr>
        <p:blipFill>
          <a:blip r:embed="rId2" cstate="none"/>
          <a:stretch>
            <a:fillRect/>
          </a:stretch>
        </p:blipFill>
        <p:spPr>
          <a:xfrm>
            <a:off x="7155043" y="1190625"/>
            <a:ext cx="3596913" cy="2476500"/>
          </a:xfrm>
          <a:prstGeom prst="rect">
            <a:avLst/>
          </a:prstGeom>
        </p:spPr>
      </p:pic>
      <p:sp>
        <p:nvSpPr>
          <p:cNvPr id="88" name="Shape 88"/>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8" name="Presenton Native Image 19" descr=""/>
          <p:cNvPicPr/>
          <p:nvPr/>
        </p:nvPicPr>
        <p:blipFill>
          <a:blip r:embed="rId3" cstate="none"/>
          <a:stretch>
            <a:fillRect/>
          </a:stretch>
        </p:blipFill>
        <p:spPr>
          <a:xfrm>
            <a:off x="7812324" y="4476750"/>
            <a:ext cx="2282352" cy="1381125"/>
          </a:xfrm>
          <a:prstGeom prst="rect">
            <a:avLst/>
          </a:prstGeom>
        </p:spPr>
      </p:pic>
      <p:sp>
        <p:nvSpPr>
          <p:cNvPr id="89" name="Shape 89"/>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(human rows). Happiness and anger stimuli with corresponding vocalizations.</a:t>
            </a:r>
            <a:endParaRPr lang="en-US"/>
          </a:p>
        </p:txBody>
      </p:sp>
      <p:sp>
        <p:nvSpPr>
          <p:cNvPr id="90" name="Shape 9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91" name="Shape 9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 name="Shape 9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Canine fears vary with the provoking stimulus</a:t>
            </a:r>
            <a:endParaRPr lang="en-US"/>
          </a:p>
        </p:txBody>
      </p:sp>
      <p:sp>
        <p:nvSpPr>
          <p:cNvPr id="93" name="Shape 9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Fear</a:t>
            </a:r>
            <a:r>
              <a:rPr sz="1500" b="0" i="0">
                <a:solidFill>
                  <a:srgbClr val="000000"/>
                </a:solidFill>
                <a:latin typeface="Arial"/>
                <a:ea typeface="Arial"/>
              </a:rPr>
              <a:t xml:space="preserve">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endParaRPr lang="en-US"/>
          </a:p>
        </p:txBody>
      </p:sp>
      <p:sp>
        <p:nvSpPr>
          <p:cNvPr id="94" name="Shape 94"/>
          <p:cNvSpPr/>
          <p:nvPr/>
        </p:nvSpPr>
        <p:spPr>
          <a:xfrm>
            <a:off x="571500" y="258127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Highly noise-sensitive behavior was reported in 32% of the surveyed dogs, and fear in 29%. Fireworks were the most commonly reported noise trigger. Fear of other dogs was the most common social-fear subtrait in this sample.</a:t>
            </a:r>
            <a:endParaRPr lang="en-US"/>
          </a:p>
        </p:txBody>
      </p:sp>
      <p:sp>
        <p:nvSpPr>
          <p:cNvPr id="95" name="Shape 95"/>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endParaRPr lang="en-US"/>
          </a:p>
        </p:txBody>
      </p:sp>
      <p:pic>
        <p:nvPicPr>
          <p:cNvPr id="119" name="Presenton Native Image 20" descr=""/>
          <p:cNvPicPr/>
          <p:nvPr/>
        </p:nvPicPr>
        <p:blipFill>
          <a:blip r:embed="rId2" cstate="none"/>
          <a:stretch>
            <a:fillRect/>
          </a:stretch>
        </p:blipFill>
        <p:spPr>
          <a:xfrm>
            <a:off x="7467600" y="1193013"/>
            <a:ext cx="2971800" cy="4376725"/>
          </a:xfrm>
          <a:prstGeom prst="rect">
            <a:avLst/>
          </a:prstGeom>
        </p:spPr>
      </p:pic>
      <p:sp>
        <p:nvSpPr>
          <p:cNvPr id="96" name="Shape 96"/>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1a,b. Reported prevalence of canine anxiety traits and subtraits.</a:t>
            </a:r>
            <a:endParaRPr lang="en-US"/>
          </a:p>
        </p:txBody>
      </p:sp>
      <p:sp>
        <p:nvSpPr>
          <p:cNvPr id="97" name="Shape 9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98" name="Shape 9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13</a:t>
            </a:r>
            <a:endParaRPr lang="en-US"/>
          </a:p>
        </p:txBody>
      </p:sp>
      <p:pic>
        <p:nvPicPr>
          <p:cNvPr id="120" name="Wan2012_S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2"/>
          <a:stretch>
            <a:fillRect/>
          </a:stretch>
        </p:blipFill>
        <p:spPr>
          <a:xfrm>
            <a:off x="7467600" y="1193013"/>
            <a:ext cx="2971800" cy="4376725"/>
          </a:xfrm>
          <a:prstGeom prst="rect">
            <a:avLst/>
          </a:prstGeom>
        </p:spPr>
      </p:pic>
      <p:sp>
        <p:nvSpPr>
          <p:cNvPr id="121" name="TextBox 120"/>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Dog behavior comparison: Wan et al. (2012), Video S2.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2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 name="Shape 9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Fear and aggression overlap without being identical</a:t>
            </a:r>
            <a:endParaRPr lang="en-US"/>
          </a:p>
        </p:txBody>
      </p:sp>
      <p:sp>
        <p:nvSpPr>
          <p:cNvPr id="100" name="Shape 10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Comorbidity</a:t>
            </a:r>
            <a:r>
              <a:rPr sz="1500" b="0" i="0">
                <a:solidFill>
                  <a:srgbClr val="000000"/>
                </a:solidFill>
                <a:latin typeface="Arial"/>
                <a:ea typeface="Arial"/>
              </a:rPr>
              <a:t xml:space="preserve"> is the occurrence of more than one classified condition in the same individual. In Salonen and colleagues’ owner-reported survey, dogs classified as aggressive were 3.2 times more often classified as fearful than dogs without that aggression classification.</a:t>
            </a:r>
            <a:endParaRPr lang="en-US"/>
          </a:p>
        </p:txBody>
      </p:sp>
      <p:sp>
        <p:nvSpPr>
          <p:cNvPr id="101" name="Shape 10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study separately scored fear and aggression, rather than defining aggression as proof of fear. Fear also overlapped with noise sensitivity and separation-related behavior. These associations connect several behavioral dimensions while preserving their separate definitions.</a:t>
            </a:r>
            <a:endParaRPr lang="en-US"/>
          </a:p>
        </p:txBody>
      </p:sp>
      <p:sp>
        <p:nvSpPr>
          <p:cNvPr id="102" name="Shape 102"/>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endParaRPr lang="en-US"/>
          </a:p>
        </p:txBody>
      </p:sp>
      <p:pic>
        <p:nvPicPr>
          <p:cNvPr id="120" name="Presenton Native Image 21" descr=""/>
          <p:cNvPicPr/>
          <p:nvPr/>
        </p:nvPicPr>
        <p:blipFill>
          <a:blip r:embed="rId2" cstate="none"/>
          <a:stretch>
            <a:fillRect/>
          </a:stretch>
        </p:blipFill>
        <p:spPr>
          <a:xfrm>
            <a:off x="6524767" y="1190625"/>
            <a:ext cx="4857467" cy="4381500"/>
          </a:xfrm>
          <a:prstGeom prst="rect">
            <a:avLst/>
          </a:prstGeom>
        </p:spPr>
      </p:pic>
      <p:sp>
        <p:nvSpPr>
          <p:cNvPr id="103" name="Shape 103"/>
          <p:cNvSpPr/>
          <p:nvPr/>
        </p:nvSpPr>
        <p:spPr>
          <a:xfrm>
            <a:off x="6477000" y="5667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2b. Relative risks of co-occurring reported traits.</a:t>
            </a:r>
            <a:endParaRPr lang="en-US"/>
          </a:p>
        </p:txBody>
      </p:sp>
      <p:sp>
        <p:nvSpPr>
          <p:cNvPr id="104" name="Shape 10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105" name="Shape 10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14</a:t>
            </a:r>
            <a:endParaRPr lang="en-US"/>
          </a:p>
        </p:txBody>
      </p:sp>
      <p:pic>
        <p:nvPicPr>
          <p:cNvPr id="121" name="Wan2012_S1.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2"/>
          <a:stretch>
            <a:fillRect/>
          </a:stretch>
        </p:blipFill>
        <p:spPr>
          <a:xfrm>
            <a:off x="6524767" y="1190625"/>
            <a:ext cx="4857467" cy="4381500"/>
          </a:xfrm>
          <a:prstGeom prst="rect">
            <a:avLst/>
          </a:prstGeom>
        </p:spPr>
      </p:pic>
      <p:sp>
        <p:nvSpPr>
          <p:cNvPr id="122" name="TextBox 121"/>
          <p:cNvSpPr txBox="1"/>
          <p:nvPr/>
        </p:nvSpPr>
        <p:spPr>
          <a:xfrm>
            <a:off x="566928" y="969264"/>
            <a:ext cx="11055096" cy="173736"/>
          </a:xfrm>
          <a:prstGeom prst="rect">
            <a:avLst/>
          </a:prstGeom>
          <a:noFill/>
        </p:spPr>
        <p:txBody>
          <a:bodyPr wrap="none" lIns="0" rIns="0" tIns="0" bIns="0">
            <a:spAutoFit/>
          </a:bodyPr>
          <a:lstStyle/>
          <a:p>
            <a:pPr>
              <a:defRPr sz="800">
                <a:solidFill>
                  <a:srgbClr val="000000"/>
                </a:solidFill>
                <a:latin typeface="Arial"/>
              </a:defRPr>
            </a:pPr>
            <a:r>
              <a:t>Dog behavior comparison: Wan et al. (2012), Video S1. Click figure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21"/>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6" name="Shape 10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Age and sex associations do not identify mechanisms</a:t>
            </a:r>
            <a:endParaRPr lang="en-US"/>
          </a:p>
        </p:txBody>
      </p:sp>
      <p:sp>
        <p:nvSpPr>
          <p:cNvPr id="107" name="Shape 10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Salonen and colleagues compared reported anxiety-related traits across ages and sexes. Noise sensitivity, particularly fear of thunder, increased with age in their survey, while female dogs were more often classified as fearful and male dogs more often classified as aggressive.</a:t>
            </a:r>
            <a:endParaRPr lang="en-US"/>
          </a:p>
        </p:txBody>
      </p:sp>
      <p:sp>
        <p:nvSpPr>
          <p:cNvPr id="108" name="Shape 10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dogs ranged from young puppies to older adults, extending the observations across much of the canine lifespan. The questionnaire distinguished fear of other dogs, strangers, and novel situations from aggression toward people and other behavioral categories.</a:t>
            </a:r>
            <a:endParaRPr lang="en-US"/>
          </a:p>
        </p:txBody>
      </p:sp>
      <p:sp>
        <p:nvSpPr>
          <p:cNvPr id="109" name="Shape 109"/>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a:t>
            </a:r>
            <a:endParaRPr lang="en-US"/>
          </a:p>
        </p:txBody>
      </p:sp>
      <p:pic>
        <p:nvPicPr>
          <p:cNvPr id="121" name="Presenton Native Image 22" descr=""/>
          <p:cNvPicPr/>
          <p:nvPr/>
        </p:nvPicPr>
        <p:blipFill>
          <a:blip r:embed="rId2" cstate="none"/>
          <a:stretch>
            <a:fillRect/>
          </a:stretch>
        </p:blipFill>
        <p:spPr>
          <a:xfrm>
            <a:off x="6610350" y="1192489"/>
            <a:ext cx="4686300" cy="4377771"/>
          </a:xfrm>
          <a:prstGeom prst="rect">
            <a:avLst/>
          </a:prstGeom>
        </p:spPr>
      </p:pic>
      <p:sp>
        <p:nvSpPr>
          <p:cNvPr id="110" name="Shape 110"/>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3a–d. Age and sex distributions of reported behavioral traits.</a:t>
            </a:r>
            <a:endParaRPr lang="en-US"/>
          </a:p>
        </p:txBody>
      </p:sp>
      <p:sp>
        <p:nvSpPr>
          <p:cNvPr id="111" name="Shape 11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112" name="Shape 11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13" name="Shape 11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Cat defensive rage recruits coordinated responses</a:t>
            </a:r>
            <a:endParaRPr lang="en-US"/>
          </a:p>
        </p:txBody>
      </p:sp>
      <p:sp>
        <p:nvSpPr>
          <p:cNvPr id="114" name="Shape 11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Defensive rage</a:t>
            </a:r>
            <a:r>
              <a:rPr sz="1500" b="0" i="0">
                <a:solidFill>
                  <a:srgbClr val="000000"/>
                </a:solidFill>
                <a:latin typeface="Arial"/>
                <a:ea typeface="Arial"/>
              </a:rPr>
              <a:t xml:space="preserve"> is the historical name for a coordinated feline defensive response elicited experimentally, including hissing, ear retraction, piloerection, back arching, and strikes with the paws. </a:t>
            </a:r>
            <a:r>
              <a:rPr sz="1500" b="1" i="0">
                <a:solidFill>
                  <a:srgbClr val="444E55"/>
                </a:solidFill>
                <a:latin typeface="Arial"/>
                <a:ea typeface="Arial"/>
              </a:rPr>
              <a:t>Piloerection</a:t>
            </a:r>
            <a:r>
              <a:rPr sz="1500" b="0" i="0">
                <a:solidFill>
                  <a:srgbClr val="000000"/>
                </a:solidFill>
                <a:latin typeface="Arial"/>
                <a:ea typeface="Arial"/>
              </a:rPr>
              <a:t xml:space="preserve"> means raising the hairs rather than a separate act of attack.</a:t>
            </a:r>
            <a:endParaRPr lang="en-US"/>
          </a:p>
        </p:txBody>
      </p:sp>
      <p:sp>
        <p:nvSpPr>
          <p:cNvPr id="115" name="Shape 11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Lu and colleagues elicited the response from the medial hypothalamus and the dorsal </a:t>
            </a:r>
            <a:r>
              <a:rPr sz="1500" b="1" i="0">
                <a:solidFill>
                  <a:srgbClr val="444E55"/>
                </a:solidFill>
                <a:latin typeface="Arial"/>
                <a:ea typeface="Arial"/>
              </a:rPr>
              <a:t>periaqueductal gray</a:t>
            </a:r>
            <a:r>
              <a:rPr sz="1500" b="0" i="0">
                <a:solidFill>
                  <a:srgbClr val="000000"/>
                </a:solidFill>
                <a:latin typeface="Arial"/>
                <a:ea typeface="Arial"/>
              </a:rPr>
              <a:t>, or PAG, the midbrain gray matter surrounding the cerebral aqueduct. They measured the time from stimulation onset to hissing, with stimulation limited to 15 s.</a:t>
            </a:r>
            <a:endParaRPr lang="en-US"/>
          </a:p>
        </p:txBody>
      </p:sp>
      <p:sp>
        <p:nvSpPr>
          <p:cNvPr id="116" name="Shape 116"/>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a:t>
            </a:r>
            <a:endParaRPr lang="en-US"/>
          </a:p>
        </p:txBody>
      </p:sp>
      <p:pic>
        <p:nvPicPr>
          <p:cNvPr id="122" name="Presenton Native Image 23" descr=""/>
          <p:cNvPicPr/>
          <p:nvPr/>
        </p:nvPicPr>
        <p:blipFill>
          <a:blip r:embed="rId2" cstate="none"/>
          <a:stretch>
            <a:fillRect/>
          </a:stretch>
        </p:blipFill>
        <p:spPr>
          <a:xfrm>
            <a:off x="8249524" y="1190625"/>
            <a:ext cx="1398426" cy="2476500"/>
          </a:xfrm>
          <a:prstGeom prst="rect">
            <a:avLst/>
          </a:prstGeom>
        </p:spPr>
      </p:pic>
      <p:sp>
        <p:nvSpPr>
          <p:cNvPr id="117" name="Shape 11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pic>
        <p:nvPicPr>
          <p:cNvPr id="123" name="Presenton Native Image 24" descr=""/>
          <p:cNvPicPr/>
          <p:nvPr/>
        </p:nvPicPr>
        <p:blipFill>
          <a:blip r:embed="rId3" cstate="none"/>
          <a:stretch>
            <a:fillRect/>
          </a:stretch>
        </p:blipFill>
        <p:spPr>
          <a:xfrm>
            <a:off x="8584019" y="4476750"/>
            <a:ext cx="729438" cy="1381125"/>
          </a:xfrm>
          <a:prstGeom prst="rect">
            <a:avLst/>
          </a:prstGeom>
        </p:spPr>
      </p:pic>
      <p:sp>
        <p:nvSpPr>
          <p:cNvPr id="118" name="Shape 11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19" name="Shape 11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20" name="Shape 12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21" name="Shape 12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Two-site stimulation tests descending facilitation</a:t>
            </a:r>
            <a:endParaRPr lang="en-US"/>
          </a:p>
        </p:txBody>
      </p:sp>
      <p:sp>
        <p:nvSpPr>
          <p:cNvPr id="122" name="Shape 12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Lu and colleagues stimulated a PAG site that elicited hissing and paired it with medial hypothalamic stimulation below the level required to elicit behavior by itself. </a:t>
            </a:r>
            <a:r>
              <a:rPr sz="1500" b="1" i="0">
                <a:solidFill>
                  <a:srgbClr val="444E55"/>
                </a:solidFill>
                <a:latin typeface="Arial"/>
                <a:ea typeface="Arial"/>
              </a:rPr>
              <a:t>Facilitation</a:t>
            </a:r>
            <a:r>
              <a:rPr sz="1500" b="0" i="0">
                <a:solidFill>
                  <a:srgbClr val="000000"/>
                </a:solidFill>
                <a:latin typeface="Arial"/>
                <a:ea typeface="Arial"/>
              </a:rPr>
              <a:t xml:space="preserve"> means that the combined input made the PAG-elicited response occur sooner.</a:t>
            </a:r>
            <a:endParaRPr lang="en-US"/>
          </a:p>
        </p:txBody>
      </p:sp>
      <p:sp>
        <p:nvSpPr>
          <p:cNvPr id="123" name="Shape 123"/>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a:t>
            </a:r>
            <a:endParaRPr lang="en-US"/>
          </a:p>
        </p:txBody>
      </p:sp>
      <p:sp>
        <p:nvSpPr>
          <p:cNvPr id="124" name="Shape 124"/>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procedure establishes a functional interaction between the selected sites. Electrical current can excite several elements, including passing fibers, so the result alone does not identify a monosynaptic connection or the transmitter responsible for facilitation.</a:t>
            </a:r>
            <a:endParaRPr lang="en-US"/>
          </a:p>
        </p:txBody>
      </p:sp>
      <p:pic>
        <p:nvPicPr>
          <p:cNvPr id="124" name="Presenton Native Image 25" descr=""/>
          <p:cNvPicPr/>
          <p:nvPr/>
        </p:nvPicPr>
        <p:blipFill>
          <a:blip r:embed="rId3" cstate="none"/>
          <a:stretch>
            <a:fillRect/>
          </a:stretch>
        </p:blipFill>
        <p:spPr>
          <a:xfrm>
            <a:off x="7231759" y="1190625"/>
            <a:ext cx="3433957" cy="2476500"/>
          </a:xfrm>
          <a:prstGeom prst="rect">
            <a:avLst/>
          </a:prstGeom>
        </p:spPr>
      </p:pic>
      <p:sp>
        <p:nvSpPr>
          <p:cNvPr id="125" name="Shape 125"/>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2. Kynurenic acid reverses hypothalamic facilitation of the PAG response.</a:t>
            </a:r>
            <a:endParaRPr lang="en-US"/>
          </a:p>
        </p:txBody>
      </p:sp>
      <p:pic>
        <p:nvPicPr>
          <p:cNvPr id="125" name="Presenton Native Image 26" descr=""/>
          <p:cNvPicPr/>
          <p:nvPr/>
        </p:nvPicPr>
        <p:blipFill>
          <a:blip r:embed="rId2" cstate="none"/>
          <a:stretch>
            <a:fillRect/>
          </a:stretch>
        </p:blipFill>
        <p:spPr>
          <a:xfrm>
            <a:off x="8563554" y="4476750"/>
            <a:ext cx="779892" cy="1381125"/>
          </a:xfrm>
          <a:prstGeom prst="rect">
            <a:avLst/>
          </a:prstGeom>
        </p:spPr>
      </p:pic>
      <p:sp>
        <p:nvSpPr>
          <p:cNvPr id="126" name="Shape 126"/>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27" name="Shape 12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28" name="Shape 12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29" name="Shape 12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PAG amino-acid blockade removes facilitation</a:t>
            </a:r>
            <a:endParaRPr lang="en-US"/>
          </a:p>
        </p:txBody>
      </p:sp>
      <p:sp>
        <p:nvSpPr>
          <p:cNvPr id="130" name="Shape 13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Excitatory amino acids</a:t>
            </a:r>
            <a:r>
              <a:rPr sz="1500" b="0" i="0">
                <a:solidFill>
                  <a:srgbClr val="000000"/>
                </a:solidFill>
                <a:latin typeface="Arial"/>
                <a:ea typeface="Arial"/>
              </a:rPr>
              <a:t xml:space="preserve"> are amino-acid neurotransmitters capable of increasing neuronal excitation. Lu and colleagues injected kynurenic acid, an antagonist blocking several excitatory amino-acid receptor classes, into the PAG site used for eliciting defensive rage.</a:t>
            </a:r>
            <a:endParaRPr lang="en-US"/>
          </a:p>
        </p:txBody>
      </p:sp>
      <p:sp>
        <p:nvSpPr>
          <p:cNvPr id="131" name="Shape 13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2.0 nmol injection reversed medial hypothalamic facilitation. At 15 min, dual-stimulation hissing latency rose above the PAG-only reference instead of remaining shorter. Lower doses produced smaller or shorter-lasting effects, and the response recovered over time.</a:t>
            </a:r>
            <a:endParaRPr lang="en-US"/>
          </a:p>
        </p:txBody>
      </p:sp>
      <p:sp>
        <p:nvSpPr>
          <p:cNvPr id="132" name="Shape 132"/>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a:t>
            </a:r>
            <a:endParaRPr lang="en-US"/>
          </a:p>
        </p:txBody>
      </p:sp>
      <p:pic>
        <p:nvPicPr>
          <p:cNvPr id="126" name="Presenton Native Image 27" descr=""/>
          <p:cNvPicPr/>
          <p:nvPr/>
        </p:nvPicPr>
        <p:blipFill>
          <a:blip r:embed="rId3" cstate="none"/>
          <a:stretch>
            <a:fillRect/>
          </a:stretch>
        </p:blipFill>
        <p:spPr>
          <a:xfrm>
            <a:off x="7231759" y="1190625"/>
            <a:ext cx="3433957" cy="2476500"/>
          </a:xfrm>
          <a:prstGeom prst="rect">
            <a:avLst/>
          </a:prstGeom>
        </p:spPr>
      </p:pic>
      <p:sp>
        <p:nvSpPr>
          <p:cNvPr id="133" name="Shape 133"/>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2. Kynurenic acid reverses hypothalamic facilitation of the PAG response.</a:t>
            </a:r>
            <a:endParaRPr lang="en-US"/>
          </a:p>
        </p:txBody>
      </p:sp>
      <p:pic>
        <p:nvPicPr>
          <p:cNvPr id="127" name="Presenton Native Image 28" descr=""/>
          <p:cNvPicPr/>
          <p:nvPr/>
        </p:nvPicPr>
        <p:blipFill>
          <a:blip r:embed="rId2" cstate="none"/>
          <a:stretch>
            <a:fillRect/>
          </a:stretch>
        </p:blipFill>
        <p:spPr>
          <a:xfrm>
            <a:off x="8563554" y="4476750"/>
            <a:ext cx="779892" cy="1381125"/>
          </a:xfrm>
          <a:prstGeom prst="rect">
            <a:avLst/>
          </a:prstGeom>
        </p:spPr>
      </p:pic>
      <p:sp>
        <p:nvSpPr>
          <p:cNvPr id="134" name="Shape 134"/>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35" name="Shape 13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36" name="Shape 13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37" name="Shape 13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Selective NMDA blockade reverses hypothalamic gain</a:t>
            </a:r>
            <a:endParaRPr lang="en-US"/>
          </a:p>
        </p:txBody>
      </p:sp>
      <p:sp>
        <p:nvSpPr>
          <p:cNvPr id="138" name="Shape 13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NMDA receptors</a:t>
            </a:r>
            <a:r>
              <a:rPr sz="1500" b="0" i="0">
                <a:solidFill>
                  <a:srgbClr val="000000"/>
                </a:solidFill>
                <a:latin typeface="Arial"/>
                <a:ea typeface="Arial"/>
              </a:rPr>
              <a:t xml:space="preserve"> are excitatory amino-acid receptors named for the agonist N-methyl-D-aspartate. An </a:t>
            </a:r>
            <a:r>
              <a:rPr sz="1500" b="1" i="0">
                <a:solidFill>
                  <a:srgbClr val="444E55"/>
                </a:solidFill>
                <a:latin typeface="Arial"/>
                <a:ea typeface="Arial"/>
              </a:rPr>
              <a:t>agonist</a:t>
            </a:r>
            <a:r>
              <a:rPr sz="1500" b="0" i="0">
                <a:solidFill>
                  <a:srgbClr val="000000"/>
                </a:solidFill>
                <a:latin typeface="Arial"/>
                <a:ea typeface="Arial"/>
              </a:rPr>
              <a:t xml:space="preserve"> activates a receptor, whereas an antagonist reduces its activation. Lu and colleagues tested the selective NMDA antagonist AP7 inside the PAG.</a:t>
            </a:r>
            <a:endParaRPr lang="en-US"/>
          </a:p>
        </p:txBody>
      </p:sp>
      <p:sp>
        <p:nvSpPr>
          <p:cNvPr id="139" name="Shape 13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2 nmol AP7 injection changed dual-stimulation latency from about 17% below the PAG-only reference to about 42% above it during the early post-injection period. The effect weakened with recovery; 0.1 nmol AP7 did not produce a comparable blockade.</a:t>
            </a:r>
            <a:endParaRPr lang="en-US"/>
          </a:p>
        </p:txBody>
      </p:sp>
      <p:sp>
        <p:nvSpPr>
          <p:cNvPr id="140" name="Shape 140"/>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a:t>
            </a:r>
            <a:endParaRPr lang="en-US"/>
          </a:p>
        </p:txBody>
      </p:sp>
      <p:pic>
        <p:nvPicPr>
          <p:cNvPr id="128" name="Presenton Native Image 29" descr=""/>
          <p:cNvPicPr/>
          <p:nvPr/>
        </p:nvPicPr>
        <p:blipFill>
          <a:blip r:embed="rId3" cstate="none"/>
          <a:stretch>
            <a:fillRect/>
          </a:stretch>
        </p:blipFill>
        <p:spPr>
          <a:xfrm>
            <a:off x="7125758" y="1190625"/>
            <a:ext cx="3645958" cy="2476500"/>
          </a:xfrm>
          <a:prstGeom prst="rect">
            <a:avLst/>
          </a:prstGeom>
        </p:spPr>
      </p:pic>
      <p:sp>
        <p:nvSpPr>
          <p:cNvPr id="141" name="Shape 14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3. AP7 dose and recovery time compared with CNQX.</a:t>
            </a:r>
            <a:endParaRPr lang="en-US"/>
          </a:p>
        </p:txBody>
      </p:sp>
      <p:pic>
        <p:nvPicPr>
          <p:cNvPr id="129" name="Presenton Native Image 30" descr=""/>
          <p:cNvPicPr/>
          <p:nvPr/>
        </p:nvPicPr>
        <p:blipFill>
          <a:blip r:embed="rId2" cstate="none"/>
          <a:stretch>
            <a:fillRect/>
          </a:stretch>
        </p:blipFill>
        <p:spPr>
          <a:xfrm>
            <a:off x="8563554" y="4476750"/>
            <a:ext cx="779892" cy="1381125"/>
          </a:xfrm>
          <a:prstGeom prst="rect">
            <a:avLst/>
          </a:prstGeom>
        </p:spPr>
      </p:pic>
      <p:sp>
        <p:nvSpPr>
          <p:cNvPr id="142" name="Shape 14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43" name="Shape 14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44" name="Shape 14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45" name="Shape 14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Local NMDA activation makes hissing occur sooner</a:t>
            </a:r>
            <a:endParaRPr lang="en-US"/>
          </a:p>
        </p:txBody>
      </p:sp>
      <p:sp>
        <p:nvSpPr>
          <p:cNvPr id="146" name="Shape 146"/>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a:t>
            </a:r>
            <a:endParaRPr lang="en-US"/>
          </a:p>
        </p:txBody>
      </p:sp>
      <p:sp>
        <p:nvSpPr>
          <p:cNvPr id="147" name="Shape 147"/>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1.0 nmol NMDA injection shortened hissing latency by about 48% during the first 5–15 min. A 0.5 nmol dose produced a smaller, approximately 27% reduction. Latencies returned toward baseline within the subsequent observation periods.</a:t>
            </a:r>
            <a:endParaRPr lang="en-US"/>
          </a:p>
        </p:txBody>
      </p:sp>
      <p:sp>
        <p:nvSpPr>
          <p:cNvPr id="148" name="Shape 148"/>
          <p:cNvSpPr/>
          <p:nvPr/>
        </p:nvSpPr>
        <p:spPr>
          <a:xfrm>
            <a:off x="571500" y="42195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a:t>
            </a:r>
            <a:endParaRPr lang="en-US"/>
          </a:p>
        </p:txBody>
      </p:sp>
      <p:pic>
        <p:nvPicPr>
          <p:cNvPr id="130" name="Presenton Native Image 31" descr=""/>
          <p:cNvPicPr/>
          <p:nvPr/>
        </p:nvPicPr>
        <p:blipFill>
          <a:blip r:embed="rId3" cstate="none"/>
          <a:stretch>
            <a:fillRect/>
          </a:stretch>
        </p:blipFill>
        <p:spPr>
          <a:xfrm>
            <a:off x="7134225" y="1191707"/>
            <a:ext cx="3629025" cy="2474335"/>
          </a:xfrm>
          <a:prstGeom prst="rect">
            <a:avLst/>
          </a:prstGeom>
        </p:spPr>
      </p:pic>
      <p:sp>
        <p:nvSpPr>
          <p:cNvPr id="149" name="Shape 14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4. NMDA microinjection decreases hissing latency.</a:t>
            </a:r>
            <a:endParaRPr lang="en-US"/>
          </a:p>
        </p:txBody>
      </p:sp>
      <p:pic>
        <p:nvPicPr>
          <p:cNvPr id="131" name="Presenton Native Image 32" descr=""/>
          <p:cNvPicPr/>
          <p:nvPr/>
        </p:nvPicPr>
        <p:blipFill>
          <a:blip r:embed="rId2" cstate="none"/>
          <a:stretch>
            <a:fillRect/>
          </a:stretch>
        </p:blipFill>
        <p:spPr>
          <a:xfrm>
            <a:off x="8584019" y="4476750"/>
            <a:ext cx="729438" cy="1381125"/>
          </a:xfrm>
          <a:prstGeom prst="rect">
            <a:avLst/>
          </a:prstGeom>
        </p:spPr>
      </p:pic>
      <p:sp>
        <p:nvSpPr>
          <p:cNvPr id="150" name="Shape 15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51" name="Shape 15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52" name="Shape 15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53" name="Shape 15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Receptor controls narrow the excitatory explanation</a:t>
            </a:r>
            <a:endParaRPr lang="en-US"/>
          </a:p>
        </p:txBody>
      </p:sp>
      <p:sp>
        <p:nvSpPr>
          <p:cNvPr id="154" name="Shape 154"/>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Lu and colleagues compared NMDA blockade with other receptor interventions at the same PAG sites. CNQX, which blocks non-NMDA excitatory amino-acid receptors, produced only small changes at 4 nmol. Atropine, a muscarinic acetylcholine receptor antagonist, had little effect at 4.4 nmol.</a:t>
            </a:r>
            <a:endParaRPr lang="en-US"/>
          </a:p>
        </p:txBody>
      </p:sp>
      <p:sp>
        <p:nvSpPr>
          <p:cNvPr id="155" name="Shape 155"/>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local injections were compared with the larger reversal produced by AP7. The contrast narrows the explanation for medial hypothalamic facilitation toward NMDA receptor participation rather than indiscriminate disruption by fluid delivery or any receptor antagonist.</a:t>
            </a:r>
            <a:endParaRPr lang="en-US"/>
          </a:p>
        </p:txBody>
      </p:sp>
      <p:sp>
        <p:nvSpPr>
          <p:cNvPr id="156" name="Shape 156"/>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negative result is limited to the dose, site, and response tested. It does not exclude non-NMDA or muscarinic signaling elsewhere in the brain, during sensory recognition, or under natural threat conditions. The intervention addresses one experimentally activated circuit link.</a:t>
            </a:r>
            <a:endParaRPr lang="en-US"/>
          </a:p>
        </p:txBody>
      </p:sp>
      <p:pic>
        <p:nvPicPr>
          <p:cNvPr id="132" name="Presenton Native Image 33" descr=""/>
          <p:cNvPicPr/>
          <p:nvPr/>
        </p:nvPicPr>
        <p:blipFill>
          <a:blip r:embed="rId3" cstate="none"/>
          <a:stretch>
            <a:fillRect/>
          </a:stretch>
        </p:blipFill>
        <p:spPr>
          <a:xfrm>
            <a:off x="7125758" y="1190625"/>
            <a:ext cx="3645958" cy="2476500"/>
          </a:xfrm>
          <a:prstGeom prst="rect">
            <a:avLst/>
          </a:prstGeom>
        </p:spPr>
      </p:pic>
      <p:sp>
        <p:nvSpPr>
          <p:cNvPr id="157" name="Shape 15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3. AP7 dose and recovery time compared with CNQX.</a:t>
            </a:r>
            <a:endParaRPr lang="en-US"/>
          </a:p>
        </p:txBody>
      </p:sp>
      <p:pic>
        <p:nvPicPr>
          <p:cNvPr id="133" name="Presenton Native Image 34" descr=""/>
          <p:cNvPicPr/>
          <p:nvPr/>
        </p:nvPicPr>
        <p:blipFill>
          <a:blip r:embed="rId2" cstate="none"/>
          <a:stretch>
            <a:fillRect/>
          </a:stretch>
        </p:blipFill>
        <p:spPr>
          <a:xfrm>
            <a:off x="8563554" y="4476750"/>
            <a:ext cx="779892" cy="1381125"/>
          </a:xfrm>
          <a:prstGeom prst="rect">
            <a:avLst/>
          </a:prstGeom>
        </p:spPr>
      </p:pic>
      <p:sp>
        <p:nvSpPr>
          <p:cNvPr id="158" name="Shape 158"/>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59" name="Shape 15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60" name="Shape 16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1" name="Shape 16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Tracing identifies hypothalamic neurons reaching the PAG</a:t>
            </a:r>
            <a:endParaRPr lang="en-US"/>
          </a:p>
        </p:txBody>
      </p:sp>
      <p:sp>
        <p:nvSpPr>
          <p:cNvPr id="162" name="Shape 16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Retrograde tracing</a:t>
            </a:r>
            <a:r>
              <a:rPr sz="1500" b="0" i="0">
                <a:solidFill>
                  <a:srgbClr val="000000"/>
                </a:solidFill>
                <a:latin typeface="Arial"/>
                <a:ea typeface="Arial"/>
              </a:rPr>
              <a:t xml:space="preserve"> labels neurons by transporting a marker from their axonal terminal region back to their cell bodies. Lu and colleagues injected Fluoro-Gold into behaviorally identified PAG sites and examined hypothalamic labeling after 5–6 days.</a:t>
            </a:r>
            <a:endParaRPr lang="en-US"/>
          </a:p>
        </p:txBody>
      </p:sp>
      <p:sp>
        <p:nvSpPr>
          <p:cNvPr id="163" name="Shape 163"/>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a:t>
            </a:r>
            <a:endParaRPr lang="en-US"/>
          </a:p>
        </p:txBody>
      </p:sp>
      <p:sp>
        <p:nvSpPr>
          <p:cNvPr id="164" name="Shape 164"/>
          <p:cNvSpPr/>
          <p:nvPr/>
        </p:nvSpPr>
        <p:spPr>
          <a:xfrm>
            <a:off x="571500" y="42195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a:t>
            </a:r>
            <a:endParaRPr lang="en-US"/>
          </a:p>
        </p:txBody>
      </p:sp>
      <p:pic>
        <p:nvPicPr>
          <p:cNvPr id="134" name="Presenton Native Image 35" descr=""/>
          <p:cNvPicPr/>
          <p:nvPr/>
        </p:nvPicPr>
        <p:blipFill>
          <a:blip r:embed="rId2" cstate="none"/>
          <a:stretch>
            <a:fillRect/>
          </a:stretch>
        </p:blipFill>
        <p:spPr>
          <a:xfrm>
            <a:off x="8372499" y="1190625"/>
            <a:ext cx="1152477" cy="2476500"/>
          </a:xfrm>
          <a:prstGeom prst="rect">
            <a:avLst/>
          </a:prstGeom>
        </p:spPr>
      </p:pic>
      <p:sp>
        <p:nvSpPr>
          <p:cNvPr id="165" name="Shape 16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5A,B. PAG tracer sites and hypothalamic amino-acid labeling.</a:t>
            </a:r>
            <a:endParaRPr lang="en-US"/>
          </a:p>
        </p:txBody>
      </p:sp>
      <p:pic>
        <p:nvPicPr>
          <p:cNvPr id="135" name="Presenton Native Image 36" descr=""/>
          <p:cNvPicPr/>
          <p:nvPr/>
        </p:nvPicPr>
        <p:blipFill>
          <a:blip r:embed="rId3" cstate="none"/>
          <a:stretch>
            <a:fillRect/>
          </a:stretch>
        </p:blipFill>
        <p:spPr>
          <a:xfrm>
            <a:off x="7087428" y="4476750"/>
            <a:ext cx="3722619" cy="1381125"/>
          </a:xfrm>
          <a:prstGeom prst="rect">
            <a:avLst/>
          </a:prstGeom>
        </p:spPr>
      </p:pic>
      <p:sp>
        <p:nvSpPr>
          <p:cNvPr id="166" name="Shape 16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6D–F. Retrogradely labeled hypothalamic cells and double-labeled neuron.</a:t>
            </a:r>
            <a:endParaRPr lang="en-US"/>
          </a:p>
        </p:txBody>
      </p:sp>
      <p:sp>
        <p:nvSpPr>
          <p:cNvPr id="167" name="Shape 16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68" name="Shape 16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9" name="Shape 16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Amino-acid labeling supports a candidate synaptic link</a:t>
            </a:r>
            <a:endParaRPr lang="en-US"/>
          </a:p>
        </p:txBody>
      </p:sp>
      <p:sp>
        <p:nvSpPr>
          <p:cNvPr id="170" name="Shape 17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Lu study detected aspartate-positive fibers and preterminal profiles in the dorsal PAG. </a:t>
            </a:r>
            <a:r>
              <a:rPr sz="1500" b="1" i="0">
                <a:solidFill>
                  <a:srgbClr val="444E55"/>
                </a:solidFill>
                <a:latin typeface="Arial"/>
                <a:ea typeface="Arial"/>
              </a:rPr>
              <a:t>Preterminal</a:t>
            </a:r>
            <a:r>
              <a:rPr sz="1500" b="0" i="0">
                <a:solidFill>
                  <a:srgbClr val="000000"/>
                </a:solidFill>
                <a:latin typeface="Arial"/>
                <a:ea typeface="Arial"/>
              </a:rPr>
              <a:t xml:space="preserve"> refers to an axonal segment approaching a terminal region. Aspartate-positive cells and retrogradely labeled cells also occurred in the medial hypothalamus.</a:t>
            </a:r>
            <a:endParaRPr lang="en-US"/>
          </a:p>
        </p:txBody>
      </p:sp>
      <p:sp>
        <p:nvSpPr>
          <p:cNvPr id="171" name="Shape 17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neuron could carry both Fluoro-Gold from the PAG projection target and amino-acid immunoreactivity. The published tissue panels preserve 100 μm and 25 μm scale bars, distinguishing regional localization from individual cellular labeling.</a:t>
            </a:r>
            <a:endParaRPr lang="en-US"/>
          </a:p>
        </p:txBody>
      </p:sp>
      <p:sp>
        <p:nvSpPr>
          <p:cNvPr id="172" name="Shape 172"/>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a:t>
            </a:r>
            <a:endParaRPr lang="en-US"/>
          </a:p>
        </p:txBody>
      </p:sp>
      <p:pic>
        <p:nvPicPr>
          <p:cNvPr id="136" name="Presenton Native Image 37" descr=""/>
          <p:cNvPicPr/>
          <p:nvPr/>
        </p:nvPicPr>
        <p:blipFill>
          <a:blip r:embed="rId3" cstate="none"/>
          <a:stretch>
            <a:fillRect/>
          </a:stretch>
        </p:blipFill>
        <p:spPr>
          <a:xfrm>
            <a:off x="7562850" y="1192169"/>
            <a:ext cx="2771775" cy="2473412"/>
          </a:xfrm>
          <a:prstGeom prst="rect">
            <a:avLst/>
          </a:prstGeom>
        </p:spPr>
      </p:pic>
      <p:sp>
        <p:nvSpPr>
          <p:cNvPr id="173" name="Shape 173"/>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6A–C. PAG tracer site, aspartate-positive fibers, and hypothalamic cells.</a:t>
            </a:r>
            <a:endParaRPr lang="en-US"/>
          </a:p>
        </p:txBody>
      </p:sp>
      <p:pic>
        <p:nvPicPr>
          <p:cNvPr id="137" name="Presenton Native Image 38" descr=""/>
          <p:cNvPicPr/>
          <p:nvPr/>
        </p:nvPicPr>
        <p:blipFill>
          <a:blip r:embed="rId2" cstate="none"/>
          <a:stretch>
            <a:fillRect/>
          </a:stretch>
        </p:blipFill>
        <p:spPr>
          <a:xfrm>
            <a:off x="8584019" y="4476750"/>
            <a:ext cx="729438" cy="1381125"/>
          </a:xfrm>
          <a:prstGeom prst="rect">
            <a:avLst/>
          </a:prstGeom>
        </p:spPr>
      </p:pic>
      <p:sp>
        <p:nvSpPr>
          <p:cNvPr id="174" name="Shape 174"/>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75" name="Shape 17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76" name="Shape 17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77" name="Shape 17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Lateral hypothalamic input can inhibit defense</a:t>
            </a:r>
            <a:endParaRPr lang="en-US"/>
          </a:p>
        </p:txBody>
      </p:sp>
      <p:sp>
        <p:nvSpPr>
          <p:cNvPr id="178" name="Shape 17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paired stimulation of a medial hypothalamic defensive site with stimulation of the lateral hypothalamus. </a:t>
            </a:r>
            <a:r>
              <a:rPr sz="1500" b="1" i="0">
                <a:solidFill>
                  <a:srgbClr val="444E55"/>
                </a:solidFill>
                <a:latin typeface="Arial"/>
                <a:ea typeface="Arial"/>
              </a:rPr>
              <a:t>Inhibition</a:t>
            </a:r>
            <a:r>
              <a:rPr sz="1500" b="0" i="0">
                <a:solidFill>
                  <a:srgbClr val="000000"/>
                </a:solidFill>
                <a:latin typeface="Arial"/>
                <a:ea typeface="Arial"/>
              </a:rPr>
              <a:t xml:space="preserve"> here means a reduction in expression of the elicited defensive response, operationalized as a longer latency to hissing.</a:t>
            </a:r>
            <a:endParaRPr lang="en-US"/>
          </a:p>
        </p:txBody>
      </p:sp>
      <p:sp>
        <p:nvSpPr>
          <p:cNvPr id="179" name="Shape 17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With medial stimulation alone, mean latency was 7.21 s; during dual medial and lateral stimulation it was 12.28 s. These differences persisted during the saline-control observation period, rather than appearing only after a drug injection.</a:t>
            </a:r>
            <a:endParaRPr lang="en-US"/>
          </a:p>
        </p:txBody>
      </p:sp>
      <p:sp>
        <p:nvSpPr>
          <p:cNvPr id="180" name="Shape 180"/>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a:t>
            </a:r>
            <a:endParaRPr lang="en-US"/>
          </a:p>
        </p:txBody>
      </p:sp>
      <p:pic>
        <p:nvPicPr>
          <p:cNvPr id="138" name="Presenton Native Image 39" descr=""/>
          <p:cNvPicPr/>
          <p:nvPr/>
        </p:nvPicPr>
        <p:blipFill>
          <a:blip r:embed="rId2" cstate="none"/>
          <a:stretch>
            <a:fillRect/>
          </a:stretch>
        </p:blipFill>
        <p:spPr>
          <a:xfrm>
            <a:off x="7069908" y="1190625"/>
            <a:ext cx="3757660" cy="2476500"/>
          </a:xfrm>
          <a:prstGeom prst="rect">
            <a:avLst/>
          </a:prstGeom>
        </p:spPr>
      </p:pic>
      <p:sp>
        <p:nvSpPr>
          <p:cNvPr id="181" name="Shape 18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2. Single and dual stimulation differ in hiss latency.</a:t>
            </a:r>
            <a:endParaRPr lang="en-US"/>
          </a:p>
        </p:txBody>
      </p:sp>
      <p:pic>
        <p:nvPicPr>
          <p:cNvPr id="139" name="Presenton Native Image 40" descr=""/>
          <p:cNvPicPr/>
          <p:nvPr/>
        </p:nvPicPr>
        <p:blipFill>
          <a:blip r:embed="rId3" cstate="none"/>
          <a:stretch>
            <a:fillRect/>
          </a:stretch>
        </p:blipFill>
        <p:spPr>
          <a:xfrm>
            <a:off x="8382000" y="4477598"/>
            <a:ext cx="1143000" cy="1379429"/>
          </a:xfrm>
          <a:prstGeom prst="rect">
            <a:avLst/>
          </a:prstGeom>
        </p:spPr>
      </p:pic>
      <p:sp>
        <p:nvSpPr>
          <p:cNvPr id="182" name="Shape 18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1. Medial defensive sites and lateral suppressive sites.</a:t>
            </a:r>
            <a:endParaRPr lang="en-US"/>
          </a:p>
        </p:txBody>
      </p:sp>
      <p:sp>
        <p:nvSpPr>
          <p:cNvPr id="183" name="Shape 18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184" name="Shape 18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85" name="Shape 18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GABA blockade weakens lateral suppression</a:t>
            </a:r>
            <a:endParaRPr lang="en-US"/>
          </a:p>
        </p:txBody>
      </p:sp>
      <p:sp>
        <p:nvSpPr>
          <p:cNvPr id="186" name="Shape 18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GABA</a:t>
            </a:r>
            <a:r>
              <a:rPr sz="1500" b="0" i="0">
                <a:solidFill>
                  <a:srgbClr val="000000"/>
                </a:solidFill>
                <a:latin typeface="Arial"/>
                <a:ea typeface="Arial"/>
              </a:rPr>
              <a:t>, gamma-aminobutyric acid, is an inhibitory neurotransmitter. Cheu and Siegel injected bicuculline, a GABA-A receptor antagonist, into the medial hypothalamic site while testing lateral hypothalamic suppression of defensive rage.</a:t>
            </a:r>
            <a:endParaRPr lang="en-US"/>
          </a:p>
        </p:txBody>
      </p:sp>
      <p:sp>
        <p:nvSpPr>
          <p:cNvPr id="187" name="Shape 18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At 60 pmol, bicuculline reduced the suppressive effect from about 73% before injection to about 15% in the early observation period. The suppression returned toward baseline by 180–200 min. A 10 pmol dose and saline did not produce the same blockade.</a:t>
            </a:r>
            <a:endParaRPr lang="en-US"/>
          </a:p>
        </p:txBody>
      </p:sp>
      <p:sp>
        <p:nvSpPr>
          <p:cNvPr id="188" name="Shape 188"/>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a:t>
            </a:r>
            <a:endParaRPr lang="en-US"/>
          </a:p>
        </p:txBody>
      </p:sp>
      <p:pic>
        <p:nvPicPr>
          <p:cNvPr id="140" name="Presenton Native Image 41" descr=""/>
          <p:cNvPicPr/>
          <p:nvPr/>
        </p:nvPicPr>
        <p:blipFill>
          <a:blip r:embed="rId2" cstate="none"/>
          <a:stretch>
            <a:fillRect/>
          </a:stretch>
        </p:blipFill>
        <p:spPr>
          <a:xfrm>
            <a:off x="7143750" y="1190956"/>
            <a:ext cx="3619500" cy="2475839"/>
          </a:xfrm>
          <a:prstGeom prst="rect">
            <a:avLst/>
          </a:prstGeom>
        </p:spPr>
      </p:pic>
      <p:sp>
        <p:nvSpPr>
          <p:cNvPr id="189" name="Shape 18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3. Bicuculline blocks lateral hypothalamic suppression.</a:t>
            </a:r>
            <a:endParaRPr lang="en-US"/>
          </a:p>
        </p:txBody>
      </p:sp>
      <p:pic>
        <p:nvPicPr>
          <p:cNvPr id="141" name="Presenton Native Image 42" descr=""/>
          <p:cNvPicPr/>
          <p:nvPr/>
        </p:nvPicPr>
        <p:blipFill>
          <a:blip r:embed="rId3" cstate="none"/>
          <a:stretch>
            <a:fillRect/>
          </a:stretch>
        </p:blipFill>
        <p:spPr>
          <a:xfrm>
            <a:off x="7507770" y="4476750"/>
            <a:ext cx="2881935" cy="1381125"/>
          </a:xfrm>
          <a:prstGeom prst="rect">
            <a:avLst/>
          </a:prstGeom>
        </p:spPr>
      </p:pic>
      <p:sp>
        <p:nvSpPr>
          <p:cNvPr id="190" name="Shape 19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191" name="Shape 19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192" name="Shape 19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93" name="Shape 19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Muscimol increases the threshold for defensive output</a:t>
            </a:r>
            <a:endParaRPr lang="en-US"/>
          </a:p>
        </p:txBody>
      </p:sp>
      <p:sp>
        <p:nvSpPr>
          <p:cNvPr id="194" name="Shape 19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activated medial hypothalamic GABA-A receptors with </a:t>
            </a:r>
            <a:r>
              <a:rPr sz="1500" b="1" i="0">
                <a:solidFill>
                  <a:srgbClr val="444E55"/>
                </a:solidFill>
                <a:latin typeface="Arial"/>
                <a:ea typeface="Arial"/>
              </a:rPr>
              <a:t>muscimol</a:t>
            </a:r>
            <a:r>
              <a:rPr sz="1500" b="0" i="0">
                <a:solidFill>
                  <a:srgbClr val="000000"/>
                </a:solidFill>
                <a:latin typeface="Arial"/>
                <a:ea typeface="Arial"/>
              </a:rPr>
              <a:t>, a receptor agonist, instead of stimulating the lateral inhibitory site. The question was whether local receptor activation could suppress defensive output from the target region.</a:t>
            </a:r>
            <a:endParaRPr lang="en-US"/>
          </a:p>
        </p:txBody>
      </p:sp>
      <p:sp>
        <p:nvSpPr>
          <p:cNvPr id="195" name="Shape 19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30 pmol muscimol injection increased the stimulation-current threshold by about 155 μA early after delivery. </a:t>
            </a:r>
            <a:r>
              <a:rPr sz="1500" b="1" i="0">
                <a:solidFill>
                  <a:srgbClr val="444E55"/>
                </a:solidFill>
                <a:latin typeface="Arial"/>
                <a:ea typeface="Arial"/>
              </a:rPr>
              <a:t>Threshold</a:t>
            </a:r>
            <a:r>
              <a:rPr sz="1500" b="0" i="0">
                <a:solidFill>
                  <a:srgbClr val="000000"/>
                </a:solidFill>
                <a:latin typeface="Arial"/>
                <a:ea typeface="Arial"/>
              </a:rPr>
              <a:t xml:space="preserve"> means the electrical current required to elicit the response. Lower doses lacked the same pronounced effect, and the increase weakened over time.</a:t>
            </a:r>
            <a:endParaRPr lang="en-US"/>
          </a:p>
        </p:txBody>
      </p:sp>
      <p:sp>
        <p:nvSpPr>
          <p:cNvPr id="196" name="Shape 196"/>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a:t>
            </a:r>
            <a:endParaRPr lang="en-US"/>
          </a:p>
        </p:txBody>
      </p:sp>
      <p:pic>
        <p:nvPicPr>
          <p:cNvPr id="142" name="Presenton Native Image 43" descr=""/>
          <p:cNvPicPr/>
          <p:nvPr/>
        </p:nvPicPr>
        <p:blipFill>
          <a:blip r:embed="rId3" cstate="none"/>
          <a:stretch>
            <a:fillRect/>
          </a:stretch>
        </p:blipFill>
        <p:spPr>
          <a:xfrm>
            <a:off x="7048500" y="1190795"/>
            <a:ext cx="3800475" cy="2476160"/>
          </a:xfrm>
          <a:prstGeom prst="rect">
            <a:avLst/>
          </a:prstGeom>
        </p:spPr>
      </p:pic>
      <p:sp>
        <p:nvSpPr>
          <p:cNvPr id="197" name="Shape 197"/>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5. Muscimol increases the current threshold for defensive rage.</a:t>
            </a:r>
            <a:endParaRPr lang="en-US"/>
          </a:p>
        </p:txBody>
      </p:sp>
      <p:pic>
        <p:nvPicPr>
          <p:cNvPr id="143" name="Presenton Native Image 44" descr=""/>
          <p:cNvPicPr/>
          <p:nvPr/>
        </p:nvPicPr>
        <p:blipFill>
          <a:blip r:embed="rId2" cstate="none"/>
          <a:stretch>
            <a:fillRect/>
          </a:stretch>
        </p:blipFill>
        <p:spPr>
          <a:xfrm>
            <a:off x="7507770" y="4476750"/>
            <a:ext cx="2881935" cy="1381125"/>
          </a:xfrm>
          <a:prstGeom prst="rect">
            <a:avLst/>
          </a:prstGeom>
        </p:spPr>
      </p:pic>
      <p:sp>
        <p:nvSpPr>
          <p:cNvPr id="198" name="Shape 19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199" name="Shape 19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00" name="Shape 20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1" name="Shape 20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An antagonist reverses the agonist’s suppressive effect</a:t>
            </a:r>
            <a:endParaRPr lang="en-US"/>
          </a:p>
        </p:txBody>
      </p:sp>
      <p:sp>
        <p:nvSpPr>
          <p:cNvPr id="202" name="Shape 20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pretreated the medial hypothalamic site with bicuculline before injecting muscimol. </a:t>
            </a:r>
            <a:r>
              <a:rPr sz="1500" b="1" i="0">
                <a:solidFill>
                  <a:srgbClr val="444E55"/>
                </a:solidFill>
                <a:latin typeface="Arial"/>
                <a:ea typeface="Arial"/>
              </a:rPr>
              <a:t>Pretreatment</a:t>
            </a:r>
            <a:r>
              <a:rPr sz="1500" b="0" i="0">
                <a:solidFill>
                  <a:srgbClr val="000000"/>
                </a:solidFill>
                <a:latin typeface="Arial"/>
                <a:ea typeface="Arial"/>
              </a:rPr>
              <a:t xml:space="preserve"> means applying one intervention before another to test whether the second effect depends on the blocked receptor class.</a:t>
            </a:r>
            <a:endParaRPr lang="en-US"/>
          </a:p>
        </p:txBody>
      </p:sp>
      <p:sp>
        <p:nvSpPr>
          <p:cNvPr id="203" name="Shape 20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bicuculline pretreatment opposed suppression caused by 30 pmol muscimol. The early stimulation-threshold increase was reduced by about 143 μA relative to the muscimol-plus-saline condition. A lower bicuculline dose produced a smaller reversal.</a:t>
            </a:r>
            <a:endParaRPr lang="en-US"/>
          </a:p>
        </p:txBody>
      </p:sp>
      <p:sp>
        <p:nvSpPr>
          <p:cNvPr id="204" name="Shape 204"/>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a:t>
            </a:r>
            <a:endParaRPr lang="en-US"/>
          </a:p>
        </p:txBody>
      </p:sp>
      <p:pic>
        <p:nvPicPr>
          <p:cNvPr id="144" name="Presenton Native Image 45" descr=""/>
          <p:cNvPicPr/>
          <p:nvPr/>
        </p:nvPicPr>
        <p:blipFill>
          <a:blip r:embed="rId3" cstate="none"/>
          <a:stretch>
            <a:fillRect/>
          </a:stretch>
        </p:blipFill>
        <p:spPr>
          <a:xfrm>
            <a:off x="7115175" y="1190883"/>
            <a:ext cx="3676650" cy="2475984"/>
          </a:xfrm>
          <a:prstGeom prst="rect">
            <a:avLst/>
          </a:prstGeom>
        </p:spPr>
      </p:pic>
      <p:sp>
        <p:nvSpPr>
          <p:cNvPr id="205" name="Shape 20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6. Bicuculline pretreatment blocks muscimol suppression.</a:t>
            </a:r>
            <a:endParaRPr lang="en-US"/>
          </a:p>
        </p:txBody>
      </p:sp>
      <p:pic>
        <p:nvPicPr>
          <p:cNvPr id="145" name="Presenton Native Image 46" descr=""/>
          <p:cNvPicPr/>
          <p:nvPr/>
        </p:nvPicPr>
        <p:blipFill>
          <a:blip r:embed="rId2" cstate="none"/>
          <a:stretch>
            <a:fillRect/>
          </a:stretch>
        </p:blipFill>
        <p:spPr>
          <a:xfrm>
            <a:off x="7507770" y="4476750"/>
            <a:ext cx="2881935" cy="1381125"/>
          </a:xfrm>
          <a:prstGeom prst="rect">
            <a:avLst/>
          </a:prstGeom>
        </p:spPr>
      </p:pic>
      <p:sp>
        <p:nvSpPr>
          <p:cNvPr id="206" name="Shape 20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07" name="Shape 20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08" name="Shape 20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9" name="Shape 20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GABA receptor classes produce different outcomes</a:t>
            </a:r>
            <a:endParaRPr lang="en-US"/>
          </a:p>
        </p:txBody>
      </p:sp>
      <p:sp>
        <p:nvSpPr>
          <p:cNvPr id="210" name="Shape 210"/>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GABA-A and </a:t>
            </a:r>
            <a:r>
              <a:rPr sz="1500" b="1" i="0">
                <a:solidFill>
                  <a:srgbClr val="444E55"/>
                </a:solidFill>
                <a:latin typeface="Arial"/>
                <a:ea typeface="Arial"/>
              </a:rPr>
              <a:t>GABA-B</a:t>
            </a:r>
            <a:r>
              <a:rPr sz="1500" b="0" i="0">
                <a:solidFill>
                  <a:srgbClr val="000000"/>
                </a:solidFill>
                <a:latin typeface="Arial"/>
                <a:ea typeface="Arial"/>
              </a:rPr>
              <a:t xml:space="preserve"> are different receptor classes. GABA-A receptors directly gate ion-channel signaling, whereas GABA-B receptors act through intracellular signaling proteins. Cheu and Siegel compared a GABA-B agonist with the GABA-A agonist used in their medial hypothalamic experiments.</a:t>
            </a:r>
            <a:endParaRPr lang="en-US"/>
          </a:p>
        </p:txBody>
      </p:sp>
      <p:sp>
        <p:nvSpPr>
          <p:cNvPr id="211" name="Shape 211"/>
          <p:cNvSpPr/>
          <p:nvPr/>
        </p:nvSpPr>
        <p:spPr>
          <a:xfrm>
            <a:off x="571500" y="28289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Baclofen at 120 pmol did not alter the latency or current threshold for defensive rage from the tested site. This dose was four times the highest muscimol dose used in the study, which had increased the response threshold.</a:t>
            </a:r>
            <a:endParaRPr lang="en-US"/>
          </a:p>
        </p:txBody>
      </p:sp>
      <p:sp>
        <p:nvSpPr>
          <p:cNvPr id="212" name="Shape 212"/>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supports receptor-class selectivity under these experimental conditions. Equal amounts of different drugs do not imply equal receptor occupancy, so the finding does not prove that GABA-B receptors are absent or irrelevant throughout feline defensive circuitry.</a:t>
            </a:r>
            <a:endParaRPr lang="en-US"/>
          </a:p>
        </p:txBody>
      </p:sp>
      <p:pic>
        <p:nvPicPr>
          <p:cNvPr id="146" name="Presenton Native Image 47" descr=""/>
          <p:cNvPicPr/>
          <p:nvPr/>
        </p:nvPicPr>
        <p:blipFill>
          <a:blip r:embed="rId3" cstate="none"/>
          <a:stretch>
            <a:fillRect/>
          </a:stretch>
        </p:blipFill>
        <p:spPr>
          <a:xfrm>
            <a:off x="7221836" y="1190625"/>
            <a:ext cx="3463329" cy="2476500"/>
          </a:xfrm>
          <a:prstGeom prst="rect">
            <a:avLst/>
          </a:prstGeom>
        </p:spPr>
      </p:pic>
      <p:sp>
        <p:nvSpPr>
          <p:cNvPr id="213" name="Shape 213"/>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7. Baclofen leaves hissing latency unchanged.</a:t>
            </a:r>
            <a:endParaRPr lang="en-US"/>
          </a:p>
        </p:txBody>
      </p:sp>
      <p:pic>
        <p:nvPicPr>
          <p:cNvPr id="147" name="Presenton Native Image 48" descr=""/>
          <p:cNvPicPr/>
          <p:nvPr/>
        </p:nvPicPr>
        <p:blipFill>
          <a:blip r:embed="rId2" cstate="none"/>
          <a:stretch>
            <a:fillRect/>
          </a:stretch>
        </p:blipFill>
        <p:spPr>
          <a:xfrm>
            <a:off x="7507770" y="4476750"/>
            <a:ext cx="2881935" cy="1381125"/>
          </a:xfrm>
          <a:prstGeom prst="rect">
            <a:avLst/>
          </a:prstGeom>
        </p:spPr>
      </p:pic>
      <p:sp>
        <p:nvSpPr>
          <p:cNvPr id="214" name="Shape 214"/>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15" name="Shape 21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16" name="Shape 21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17" name="Shape 21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The suppressive drug effect depends on injection site</a:t>
            </a:r>
            <a:endParaRPr lang="en-US"/>
          </a:p>
        </p:txBody>
      </p:sp>
      <p:sp>
        <p:nvSpPr>
          <p:cNvPr id="218" name="Shape 21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Local injection narrows a pharmacological intervention to a region, but diffusion can complicate localization. Cheu and Siegel tested whether muscimol’s suppressive effect extended from the medial hypothalamus into adjoining lateral hypothalamic tissue.</a:t>
            </a:r>
            <a:endParaRPr lang="en-US"/>
          </a:p>
        </p:txBody>
      </p:sp>
      <p:sp>
        <p:nvSpPr>
          <p:cNvPr id="219" name="Shape 21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muscimol injection into the lateral hypothalamus did not change the latency or threshold for defense elicited from the medial site. This dose was twice the medial dose producing pronounced suppression. Tracer injections were also checked for their anatomical extent.</a:t>
            </a:r>
            <a:endParaRPr lang="en-US"/>
          </a:p>
        </p:txBody>
      </p:sp>
      <p:sp>
        <p:nvSpPr>
          <p:cNvPr id="220" name="Shape 220"/>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a:t>
            </a:r>
            <a:endParaRPr lang="en-US"/>
          </a:p>
        </p:txBody>
      </p:sp>
      <p:pic>
        <p:nvPicPr>
          <p:cNvPr id="148" name="Presenton Native Image 49" descr=""/>
          <p:cNvPicPr/>
          <p:nvPr/>
        </p:nvPicPr>
        <p:blipFill>
          <a:blip r:embed="rId3" cstate="none"/>
          <a:stretch>
            <a:fillRect/>
          </a:stretch>
        </p:blipFill>
        <p:spPr>
          <a:xfrm>
            <a:off x="6791325" y="1191488"/>
            <a:ext cx="4314825" cy="2474773"/>
          </a:xfrm>
          <a:prstGeom prst="rect">
            <a:avLst/>
          </a:prstGeom>
        </p:spPr>
      </p:pic>
      <p:sp>
        <p:nvSpPr>
          <p:cNvPr id="221" name="Shape 221"/>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8. Lateral hypothalamic muscimol leaves latency unchanged.</a:t>
            </a:r>
            <a:endParaRPr lang="en-US"/>
          </a:p>
        </p:txBody>
      </p:sp>
      <p:pic>
        <p:nvPicPr>
          <p:cNvPr id="149" name="Presenton Native Image 50" descr=""/>
          <p:cNvPicPr/>
          <p:nvPr/>
        </p:nvPicPr>
        <p:blipFill>
          <a:blip r:embed="rId2" cstate="none"/>
          <a:stretch>
            <a:fillRect/>
          </a:stretch>
        </p:blipFill>
        <p:spPr>
          <a:xfrm>
            <a:off x="7507770" y="4476750"/>
            <a:ext cx="2881935" cy="1381125"/>
          </a:xfrm>
          <a:prstGeom prst="rect">
            <a:avLst/>
          </a:prstGeom>
        </p:spPr>
      </p:pic>
      <p:sp>
        <p:nvSpPr>
          <p:cNvPr id="222" name="Shape 222"/>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23" name="Shape 22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24" name="Shape 22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25" name="Shape 22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Lateral GABA-positive neurons project medially</a:t>
            </a:r>
            <a:endParaRPr lang="en-US"/>
          </a:p>
        </p:txBody>
      </p:sp>
      <p:sp>
        <p:nvSpPr>
          <p:cNvPr id="226" name="Shape 22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Cheu and Siegel injected Fluoro-Gold into the medial hypothalamic defensive territory and then examined retrograde labeling in the lateral hypothalamus. They combined tracing with antibody detection of GABA to identify candidate inhibitory projection neurons.</a:t>
            </a:r>
            <a:endParaRPr lang="en-US"/>
          </a:p>
        </p:txBody>
      </p:sp>
      <p:sp>
        <p:nvSpPr>
          <p:cNvPr id="227" name="Shape 227"/>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a:t>
            </a:r>
            <a:endParaRPr lang="en-US"/>
          </a:p>
        </p:txBody>
      </p:sp>
      <p:sp>
        <p:nvSpPr>
          <p:cNvPr id="228" name="Shape 228"/>
          <p:cNvSpPr/>
          <p:nvPr/>
        </p:nvSpPr>
        <p:spPr>
          <a:xfrm>
            <a:off x="571500" y="42195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a:t>
            </a:r>
            <a:endParaRPr lang="en-US"/>
          </a:p>
        </p:txBody>
      </p:sp>
      <p:pic>
        <p:nvPicPr>
          <p:cNvPr id="150" name="Presenton Native Image 51" descr=""/>
          <p:cNvPicPr/>
          <p:nvPr/>
        </p:nvPicPr>
        <p:blipFill>
          <a:blip r:embed="rId3" cstate="none"/>
          <a:stretch>
            <a:fillRect/>
          </a:stretch>
        </p:blipFill>
        <p:spPr>
          <a:xfrm>
            <a:off x="8143875" y="1191041"/>
            <a:ext cx="1609725" cy="2475667"/>
          </a:xfrm>
          <a:prstGeom prst="rect">
            <a:avLst/>
          </a:prstGeom>
        </p:spPr>
      </p:pic>
      <p:sp>
        <p:nvSpPr>
          <p:cNvPr id="229" name="Shape 229"/>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11A–F. GABA and tracer labeling in lateral hypothalamic neurons.</a:t>
            </a:r>
            <a:endParaRPr lang="en-US"/>
          </a:p>
        </p:txBody>
      </p:sp>
      <p:pic>
        <p:nvPicPr>
          <p:cNvPr id="151" name="Presenton Native Image 52" descr=""/>
          <p:cNvPicPr/>
          <p:nvPr/>
        </p:nvPicPr>
        <p:blipFill>
          <a:blip r:embed="rId2" cstate="none"/>
          <a:stretch>
            <a:fillRect/>
          </a:stretch>
        </p:blipFill>
        <p:spPr>
          <a:xfrm>
            <a:off x="7507770" y="4476750"/>
            <a:ext cx="2881935" cy="1381125"/>
          </a:xfrm>
          <a:prstGeom prst="rect">
            <a:avLst/>
          </a:prstGeom>
        </p:spPr>
      </p:pic>
      <p:sp>
        <p:nvSpPr>
          <p:cNvPr id="230" name="Shape 23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31" name="Shape 23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32" name="Shape 23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3" name="Shape 23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Baseline defense need not depend on tonic inhibition</a:t>
            </a:r>
            <a:endParaRPr lang="en-US"/>
          </a:p>
        </p:txBody>
      </p:sp>
      <p:sp>
        <p:nvSpPr>
          <p:cNvPr id="234" name="Shape 23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Tonic inhibition</a:t>
            </a:r>
            <a:r>
              <a:rPr sz="1500" b="0" i="0">
                <a:solidFill>
                  <a:srgbClr val="000000"/>
                </a:solidFill>
                <a:latin typeface="Arial"/>
                <a:ea typeface="Arial"/>
              </a:rPr>
              <a:t xml:space="preserve"> is continuously maintained inhibitory influence, while episodic inhibition appears when a particular input is engaged. Cheu and Siegel tested bicuculline during medial hypothalamic stimulation alone, without concurrent lateral hypothalamic stimulation.</a:t>
            </a:r>
            <a:endParaRPr lang="en-US"/>
          </a:p>
        </p:txBody>
      </p:sp>
      <p:sp>
        <p:nvSpPr>
          <p:cNvPr id="235" name="Shape 23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injection left baseline hissing latency essentially unchanged: about 6.62 s before injection and 6.65 s in the early post-injection period. The same intervention blocked suppression when the lateral input was activated during dual stimulation.</a:t>
            </a:r>
            <a:endParaRPr lang="en-US"/>
          </a:p>
        </p:txBody>
      </p:sp>
      <p:sp>
        <p:nvSpPr>
          <p:cNvPr id="236" name="Shape 236"/>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a:t>
            </a:r>
            <a:endParaRPr lang="en-US"/>
          </a:p>
        </p:txBody>
      </p:sp>
      <p:pic>
        <p:nvPicPr>
          <p:cNvPr id="152" name="Presenton Native Image 53" descr=""/>
          <p:cNvPicPr/>
          <p:nvPr/>
        </p:nvPicPr>
        <p:blipFill>
          <a:blip r:embed="rId3" cstate="none"/>
          <a:stretch>
            <a:fillRect/>
          </a:stretch>
        </p:blipFill>
        <p:spPr>
          <a:xfrm>
            <a:off x="7136328" y="1190625"/>
            <a:ext cx="3634344" cy="2476500"/>
          </a:xfrm>
          <a:prstGeom prst="rect">
            <a:avLst/>
          </a:prstGeom>
        </p:spPr>
      </p:pic>
      <p:sp>
        <p:nvSpPr>
          <p:cNvPr id="237" name="Shape 23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4. Bicuculline does not change single-stimulation latency.</a:t>
            </a:r>
            <a:endParaRPr lang="en-US"/>
          </a:p>
        </p:txBody>
      </p:sp>
      <p:pic>
        <p:nvPicPr>
          <p:cNvPr id="153" name="Presenton Native Image 54" descr=""/>
          <p:cNvPicPr/>
          <p:nvPr/>
        </p:nvPicPr>
        <p:blipFill>
          <a:blip r:embed="rId2" cstate="none"/>
          <a:stretch>
            <a:fillRect/>
          </a:stretch>
        </p:blipFill>
        <p:spPr>
          <a:xfrm>
            <a:off x="7507770" y="4476750"/>
            <a:ext cx="2881935" cy="1381125"/>
          </a:xfrm>
          <a:prstGeom prst="rect">
            <a:avLst/>
          </a:prstGeom>
        </p:spPr>
      </p:pic>
      <p:sp>
        <p:nvSpPr>
          <p:cNvPr id="238" name="Shape 23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39" name="Shape 23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40" name="Shape 24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1" name="Shape 24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 cytokine can increase defensive circuit responsiveness</a:t>
            </a:r>
            <a:endParaRPr lang="en-US"/>
          </a:p>
        </p:txBody>
      </p:sp>
      <p:sp>
        <p:nvSpPr>
          <p:cNvPr id="242" name="Shape 24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cytokine</a:t>
            </a:r>
            <a:r>
              <a:rPr sz="1500" b="0" i="0">
                <a:solidFill>
                  <a:srgbClr val="000000"/>
                </a:solidFill>
                <a:latin typeface="Arial"/>
                <a:ea typeface="Arial"/>
              </a:rPr>
              <a:t xml:space="preserve"> is a signaling protein involved in immune and cellular communication. Bhatt and colleagues injected interleukin-1β, or IL-1β, into PAG sites while eliciting defensive hissing through the experimentally identified hypothalamic–PAG circuit.</a:t>
            </a:r>
            <a:endParaRPr lang="en-US"/>
          </a:p>
        </p:txBody>
      </p:sp>
      <p:sp>
        <p:nvSpPr>
          <p:cNvPr id="243" name="Shape 24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5 ng injection produced maximal facilitation at about 60 min, corresponding to roughly a 42% reduction in hissing latency. The effect declined over subsequent observations but remained detectable at 180 min. Saline and the lowest tested dose lacked comparable facilitation.</a:t>
            </a:r>
            <a:endParaRPr lang="en-US"/>
          </a:p>
        </p:txBody>
      </p:sp>
      <p:sp>
        <p:nvSpPr>
          <p:cNvPr id="244" name="Shape 244"/>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a:t>
            </a:r>
            <a:endParaRPr lang="en-US"/>
          </a:p>
        </p:txBody>
      </p:sp>
      <p:pic>
        <p:nvPicPr>
          <p:cNvPr id="154" name="Presenton Native Image 55" descr=""/>
          <p:cNvPicPr/>
          <p:nvPr/>
        </p:nvPicPr>
        <p:blipFill>
          <a:blip r:embed="rId2" cstate="none"/>
          <a:stretch>
            <a:fillRect/>
          </a:stretch>
        </p:blipFill>
        <p:spPr>
          <a:xfrm>
            <a:off x="7174238" y="1190625"/>
            <a:ext cx="3549000" cy="2476500"/>
          </a:xfrm>
          <a:prstGeom prst="rect">
            <a:avLst/>
          </a:prstGeom>
        </p:spPr>
      </p:pic>
      <p:sp>
        <p:nvSpPr>
          <p:cNvPr id="245" name="Shape 24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3. PAG IL-1β dose and time dependence of hissing facilitation.</a:t>
            </a:r>
            <a:endParaRPr lang="en-US"/>
          </a:p>
        </p:txBody>
      </p:sp>
      <p:pic>
        <p:nvPicPr>
          <p:cNvPr id="155" name="Presenton Native Image 56" descr=""/>
          <p:cNvPicPr/>
          <p:nvPr/>
        </p:nvPicPr>
        <p:blipFill>
          <a:blip r:embed="rId3" cstate="none"/>
          <a:stretch>
            <a:fillRect/>
          </a:stretch>
        </p:blipFill>
        <p:spPr>
          <a:xfrm>
            <a:off x="8211525" y="4476750"/>
            <a:ext cx="1474425" cy="1381125"/>
          </a:xfrm>
          <a:prstGeom prst="rect">
            <a:avLst/>
          </a:prstGeom>
        </p:spPr>
      </p:pic>
      <p:sp>
        <p:nvSpPr>
          <p:cNvPr id="246" name="Shape 246"/>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47" name="Shape 24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48" name="Shape 24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9" name="Shape 24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IL-1 receptor blockade prevents cytokine facilitation</a:t>
            </a:r>
            <a:endParaRPr lang="en-US"/>
          </a:p>
        </p:txBody>
      </p:sp>
      <p:sp>
        <p:nvSpPr>
          <p:cNvPr id="250" name="Shape 250"/>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pretreated a PAG defensive site with an antibody against the type-I IL-1 receptor before injecting IL-1β. A </a:t>
            </a:r>
            <a:r>
              <a:rPr sz="1500" b="1" i="0">
                <a:solidFill>
                  <a:srgbClr val="444E55"/>
                </a:solidFill>
                <a:latin typeface="Arial"/>
                <a:ea typeface="Arial"/>
              </a:rPr>
              <a:t>receptor antibody</a:t>
            </a:r>
            <a:r>
              <a:rPr sz="1500" b="0" i="0">
                <a:solidFill>
                  <a:srgbClr val="000000"/>
                </a:solidFill>
                <a:latin typeface="Arial"/>
                <a:ea typeface="Arial"/>
              </a:rPr>
              <a:t xml:space="preserve"> can interfere with the interaction between a signaling molecule and its receptor.</a:t>
            </a:r>
            <a:endParaRPr lang="en-US"/>
          </a:p>
        </p:txBody>
      </p:sp>
      <p:sp>
        <p:nvSpPr>
          <p:cNvPr id="251" name="Shape 251"/>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Pretreatment 5 min before cytokine delivery blocked the facilitatory reduction in hissing latency. The receptor antibody alone did not appreciably change the baseline response. Thus, preventing the cytokine effect did not require eliminating electrically elicited hissing altogether.</a:t>
            </a:r>
            <a:endParaRPr lang="en-US"/>
          </a:p>
        </p:txBody>
      </p:sp>
      <p:sp>
        <p:nvSpPr>
          <p:cNvPr id="252" name="Shape 252"/>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a:t>
            </a:r>
            <a:endParaRPr lang="en-US"/>
          </a:p>
        </p:txBody>
      </p:sp>
      <p:pic>
        <p:nvPicPr>
          <p:cNvPr id="156" name="Presenton Native Image 57" descr=""/>
          <p:cNvPicPr/>
          <p:nvPr/>
        </p:nvPicPr>
        <p:blipFill>
          <a:blip r:embed="rId3" cstate="none"/>
          <a:stretch>
            <a:fillRect/>
          </a:stretch>
        </p:blipFill>
        <p:spPr>
          <a:xfrm>
            <a:off x="6819900" y="1191841"/>
            <a:ext cx="4267200" cy="2474068"/>
          </a:xfrm>
          <a:prstGeom prst="rect">
            <a:avLst/>
          </a:prstGeom>
        </p:spPr>
      </p:pic>
      <p:sp>
        <p:nvSpPr>
          <p:cNvPr id="253" name="Shape 253"/>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4a. IL-1 receptor antibody blocks cytokine facilitation.</a:t>
            </a:r>
            <a:endParaRPr lang="en-US"/>
          </a:p>
        </p:txBody>
      </p:sp>
      <p:pic>
        <p:nvPicPr>
          <p:cNvPr id="157" name="Presenton Native Image 58" descr=""/>
          <p:cNvPicPr/>
          <p:nvPr/>
        </p:nvPicPr>
        <p:blipFill>
          <a:blip r:embed="rId2" cstate="none"/>
          <a:stretch>
            <a:fillRect/>
          </a:stretch>
        </p:blipFill>
        <p:spPr>
          <a:xfrm>
            <a:off x="8211525" y="4476750"/>
            <a:ext cx="1474425" cy="1381125"/>
          </a:xfrm>
          <a:prstGeom prst="rect">
            <a:avLst/>
          </a:prstGeom>
        </p:spPr>
      </p:pic>
      <p:sp>
        <p:nvSpPr>
          <p:cNvPr id="254" name="Shape 254"/>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55" name="Shape 25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56" name="Shape 25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57" name="Shape 25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An isotype control tests nonspecific antibody effects</a:t>
            </a:r>
            <a:endParaRPr lang="en-US"/>
          </a:p>
        </p:txBody>
      </p:sp>
      <p:sp>
        <p:nvSpPr>
          <p:cNvPr id="258" name="Shape 25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An </a:t>
            </a:r>
            <a:r>
              <a:rPr sz="1500" b="1" i="0">
                <a:solidFill>
                  <a:srgbClr val="444E55"/>
                </a:solidFill>
                <a:latin typeface="Arial"/>
                <a:ea typeface="Arial"/>
              </a:rPr>
              <a:t>isotype control</a:t>
            </a:r>
            <a:r>
              <a:rPr sz="1500" b="0" i="0">
                <a:solidFill>
                  <a:srgbClr val="000000"/>
                </a:solidFill>
                <a:latin typeface="Arial"/>
                <a:ea typeface="Arial"/>
              </a:rPr>
              <a:t xml:space="preserve"> is an antibody of a comparable class that does not target the experimental receptor. Bhatt and colleagues used IgG2a to test whether antibody delivery alone nonspecifically prevented IL-1β from facilitating defensive rage.</a:t>
            </a:r>
            <a:endParaRPr lang="en-US"/>
          </a:p>
        </p:txBody>
      </p:sp>
      <p:sp>
        <p:nvSpPr>
          <p:cNvPr id="259" name="Shape 25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control antibody did not block facilitation after 5 ng IL-1β, and it did not appreciably alter baseline hissing when administered alone. The same 30–180 min observation windows were used to follow the cytokine effect across the treatment conditions.</a:t>
            </a:r>
            <a:endParaRPr lang="en-US"/>
          </a:p>
        </p:txBody>
      </p:sp>
      <p:sp>
        <p:nvSpPr>
          <p:cNvPr id="260" name="Shape 260"/>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a:t>
            </a:r>
            <a:endParaRPr lang="en-US"/>
          </a:p>
        </p:txBody>
      </p:sp>
      <p:pic>
        <p:nvPicPr>
          <p:cNvPr id="158" name="Presenton Native Image 59" descr=""/>
          <p:cNvPicPr/>
          <p:nvPr/>
        </p:nvPicPr>
        <p:blipFill>
          <a:blip r:embed="rId3" cstate="none"/>
          <a:stretch>
            <a:fillRect/>
          </a:stretch>
        </p:blipFill>
        <p:spPr>
          <a:xfrm>
            <a:off x="7001821" y="1190625"/>
            <a:ext cx="3903358" cy="2476500"/>
          </a:xfrm>
          <a:prstGeom prst="rect">
            <a:avLst/>
          </a:prstGeom>
        </p:spPr>
      </p:pic>
      <p:sp>
        <p:nvSpPr>
          <p:cNvPr id="261" name="Shape 26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4b. Isotype antibody does not block cytokine facilitation.</a:t>
            </a:r>
            <a:endParaRPr lang="en-US"/>
          </a:p>
        </p:txBody>
      </p:sp>
      <p:pic>
        <p:nvPicPr>
          <p:cNvPr id="159" name="Presenton Native Image 60" descr=""/>
          <p:cNvPicPr/>
          <p:nvPr/>
        </p:nvPicPr>
        <p:blipFill>
          <a:blip r:embed="rId2" cstate="none"/>
          <a:stretch>
            <a:fillRect/>
          </a:stretch>
        </p:blipFill>
        <p:spPr>
          <a:xfrm>
            <a:off x="8211525" y="4476750"/>
            <a:ext cx="1474425" cy="1381125"/>
          </a:xfrm>
          <a:prstGeom prst="rect">
            <a:avLst/>
          </a:prstGeom>
        </p:spPr>
      </p:pic>
      <p:sp>
        <p:nvSpPr>
          <p:cNvPr id="262" name="Shape 26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63" name="Shape 26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64" name="Shape 26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65" name="Shape 26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Serotonin receptor blockade prevents IL-1 facilitation</a:t>
            </a:r>
            <a:endParaRPr lang="en-US"/>
          </a:p>
        </p:txBody>
      </p:sp>
      <p:sp>
        <p:nvSpPr>
          <p:cNvPr id="266" name="Shape 26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Serotonin</a:t>
            </a:r>
            <a:r>
              <a:rPr sz="1500" b="0" i="0">
                <a:solidFill>
                  <a:srgbClr val="000000"/>
                </a:solidFill>
                <a:latin typeface="Arial"/>
                <a:ea typeface="Arial"/>
              </a:rPr>
              <a:t>, also called 5-HT, is a neuromodulator with multiple receptor classes. Bhatt and colleagues pretreated the PAG site with LY53857, a 5-HT2 receptor antagonist, before administering IL-1β during defensive-hissing experiments.</a:t>
            </a:r>
            <a:endParaRPr lang="en-US"/>
          </a:p>
        </p:txBody>
      </p:sp>
      <p:sp>
        <p:nvSpPr>
          <p:cNvPr id="267" name="Shape 26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antagonist prevented the latency reduction normally produced by 5 ng IL-1β. Antagonist delivery alone did not appreciably alter baseline hissing. The comparison supports serotonin-receptor participation in the cytokine-dependent increase in circuit responsiveness.</a:t>
            </a:r>
            <a:endParaRPr lang="en-US"/>
          </a:p>
        </p:txBody>
      </p:sp>
      <p:sp>
        <p:nvSpPr>
          <p:cNvPr id="268" name="Shape 268"/>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tissue study labeled 5-HT2C receptors, but the behavioral pharmacology does not isolate every receptor subtype or the precise cellular interaction. A </a:t>
            </a:r>
            <a:r>
              <a:rPr sz="1500" b="1" i="0">
                <a:solidFill>
                  <a:srgbClr val="444E55"/>
                </a:solidFill>
                <a:latin typeface="Arial"/>
                <a:ea typeface="Arial"/>
              </a:rPr>
              <a:t>neuromodulator</a:t>
            </a:r>
            <a:r>
              <a:rPr sz="1500" b="0" i="0">
                <a:solidFill>
                  <a:srgbClr val="000000"/>
                </a:solidFill>
                <a:latin typeface="Arial"/>
                <a:ea typeface="Arial"/>
              </a:rPr>
              <a:t xml:space="preserve"> changes how a circuit responds to other inputs; the experiment supports such an interaction without directly measuring serotonin release, intracellular signaling, or the activity of identified PAG neurons.</a:t>
            </a:r>
            <a:endParaRPr lang="en-US"/>
          </a:p>
        </p:txBody>
      </p:sp>
      <p:pic>
        <p:nvPicPr>
          <p:cNvPr id="160" name="Presenton Native Image 61" descr=""/>
          <p:cNvPicPr/>
          <p:nvPr/>
        </p:nvPicPr>
        <p:blipFill>
          <a:blip r:embed="rId3" cstate="none"/>
          <a:stretch>
            <a:fillRect/>
          </a:stretch>
        </p:blipFill>
        <p:spPr>
          <a:xfrm>
            <a:off x="7260333" y="1190625"/>
            <a:ext cx="3386334" cy="2476500"/>
          </a:xfrm>
          <a:prstGeom prst="rect">
            <a:avLst/>
          </a:prstGeom>
        </p:spPr>
      </p:pic>
      <p:sp>
        <p:nvSpPr>
          <p:cNvPr id="269" name="Shape 26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5a. Serotonin receptor blockade prevents IL-1β facilitation.</a:t>
            </a:r>
            <a:endParaRPr lang="en-US"/>
          </a:p>
        </p:txBody>
      </p:sp>
      <p:pic>
        <p:nvPicPr>
          <p:cNvPr id="161" name="Presenton Native Image 62" descr=""/>
          <p:cNvPicPr/>
          <p:nvPr/>
        </p:nvPicPr>
        <p:blipFill>
          <a:blip r:embed="rId2" cstate="none"/>
          <a:stretch>
            <a:fillRect/>
          </a:stretch>
        </p:blipFill>
        <p:spPr>
          <a:xfrm>
            <a:off x="8211525" y="4476750"/>
            <a:ext cx="1474425" cy="1381125"/>
          </a:xfrm>
          <a:prstGeom prst="rect">
            <a:avLst/>
          </a:prstGeom>
        </p:spPr>
      </p:pic>
      <p:sp>
        <p:nvSpPr>
          <p:cNvPr id="270" name="Shape 270"/>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71" name="Shape 27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72" name="Shape 27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73" name="Shape 27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Other facilitatory receptor blockers do not match 5-HT2</a:t>
            </a:r>
            <a:endParaRPr lang="en-US"/>
          </a:p>
        </p:txBody>
      </p:sp>
      <p:sp>
        <p:nvSpPr>
          <p:cNvPr id="274" name="Shape 27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compared 5-HT2 blockade with blockade of NK-1 and CCKb receptors at the PAG site. </a:t>
            </a:r>
            <a:r>
              <a:rPr sz="1500" b="1" i="0">
                <a:solidFill>
                  <a:srgbClr val="444E55"/>
                </a:solidFill>
                <a:latin typeface="Arial"/>
                <a:ea typeface="Arial"/>
              </a:rPr>
              <a:t>NK-1</a:t>
            </a:r>
            <a:r>
              <a:rPr sz="1500" b="0" i="0">
                <a:solidFill>
                  <a:srgbClr val="000000"/>
                </a:solidFill>
                <a:latin typeface="Arial"/>
                <a:ea typeface="Arial"/>
              </a:rPr>
              <a:t xml:space="preserve"> is a receptor for substance P, and </a:t>
            </a:r>
            <a:r>
              <a:rPr sz="1500" b="1" i="0">
                <a:solidFill>
                  <a:srgbClr val="444E55"/>
                </a:solidFill>
                <a:latin typeface="Arial"/>
                <a:ea typeface="Arial"/>
              </a:rPr>
              <a:t>CCKb</a:t>
            </a:r>
            <a:r>
              <a:rPr sz="1500" b="0" i="0">
                <a:solidFill>
                  <a:srgbClr val="000000"/>
                </a:solidFill>
                <a:latin typeface="Arial"/>
                <a:ea typeface="Arial"/>
              </a:rPr>
              <a:t xml:space="preserve"> is a cholecystokinin receptor; both were candidate modulatory receptor classes in this preparation.</a:t>
            </a:r>
            <a:endParaRPr lang="en-US"/>
          </a:p>
        </p:txBody>
      </p:sp>
      <p:sp>
        <p:nvSpPr>
          <p:cNvPr id="275" name="Shape 27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GR82334 and CR2945 did not prevent the facilitation caused by 5 ng IL-1β during the tested observation period. These compounds also lacked an appreciable effect on baseline hissing when administered alone, unlike the selective loss of cytokine facilitation after 5-HT2 blockade.</a:t>
            </a:r>
            <a:endParaRPr lang="en-US"/>
          </a:p>
        </p:txBody>
      </p:sp>
      <p:sp>
        <p:nvSpPr>
          <p:cNvPr id="276" name="Shape 27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comparison narrows the candidate receptor interaction rather than proving that the other signaling systems never influence defense. Their contribution could depend on other inputs or conditions. The result concerns IL-1β-mediated facilitation at the tested PAG sites and doses.</a:t>
            </a:r>
            <a:endParaRPr lang="en-US"/>
          </a:p>
        </p:txBody>
      </p:sp>
      <p:pic>
        <p:nvPicPr>
          <p:cNvPr id="162" name="Presenton Native Image 63" descr=""/>
          <p:cNvPicPr/>
          <p:nvPr/>
        </p:nvPicPr>
        <p:blipFill>
          <a:blip r:embed="rId3" cstate="none"/>
          <a:stretch>
            <a:fillRect/>
          </a:stretch>
        </p:blipFill>
        <p:spPr>
          <a:xfrm>
            <a:off x="8001240" y="1190625"/>
            <a:ext cx="1894994" cy="2476500"/>
          </a:xfrm>
          <a:prstGeom prst="rect">
            <a:avLst/>
          </a:prstGeom>
        </p:spPr>
      </p:pic>
      <p:sp>
        <p:nvSpPr>
          <p:cNvPr id="277" name="Shape 27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5b,c. NK-1 and CCKb blockade leave cytokine facilitation intact.</a:t>
            </a:r>
            <a:endParaRPr lang="en-US"/>
          </a:p>
        </p:txBody>
      </p:sp>
      <p:pic>
        <p:nvPicPr>
          <p:cNvPr id="163" name="Presenton Native Image 64" descr=""/>
          <p:cNvPicPr/>
          <p:nvPr/>
        </p:nvPicPr>
        <p:blipFill>
          <a:blip r:embed="rId2" cstate="none"/>
          <a:stretch>
            <a:fillRect/>
          </a:stretch>
        </p:blipFill>
        <p:spPr>
          <a:xfrm>
            <a:off x="8584019" y="4476750"/>
            <a:ext cx="729438" cy="1381125"/>
          </a:xfrm>
          <a:prstGeom prst="rect">
            <a:avLst/>
          </a:prstGeom>
        </p:spPr>
      </p:pic>
      <p:sp>
        <p:nvSpPr>
          <p:cNvPr id="278" name="Shape 27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279" name="Shape 27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80" name="Shape 28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1" name="Shape 28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Receptor staining localizes candidates within the PAG</a:t>
            </a:r>
            <a:endParaRPr lang="en-US"/>
          </a:p>
        </p:txBody>
      </p:sp>
      <p:sp>
        <p:nvSpPr>
          <p:cNvPr id="282" name="Shape 28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used </a:t>
            </a:r>
            <a:r>
              <a:rPr sz="1500" b="1" i="0">
                <a:solidFill>
                  <a:srgbClr val="444E55"/>
                </a:solidFill>
                <a:latin typeface="Arial"/>
                <a:ea typeface="Arial"/>
              </a:rPr>
              <a:t>immunocytochemistry</a:t>
            </a:r>
            <a:r>
              <a:rPr sz="1500" b="0" i="0">
                <a:solidFill>
                  <a:srgbClr val="000000"/>
                </a:solidFill>
                <a:latin typeface="Arial"/>
                <a:ea typeface="Arial"/>
              </a:rPr>
              <a:t>, antibody-based molecular labeling, to examine IL-1 and serotonin receptors in PAG tissue. IL-1 receptor labeling was stronger in dorsal PAG than in ventral PAG, while 5-HT2C labeling was distributed through the examined PAG region.</a:t>
            </a:r>
            <a:endParaRPr lang="en-US"/>
          </a:p>
        </p:txBody>
      </p:sp>
      <p:sp>
        <p:nvSpPr>
          <p:cNvPr id="283" name="Shape 28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published fluorescence panels preserve the original green and red labels and a 100 μm scale bar. Western blotting, which separates proteins before antibody detection, identified bands near 88 kDa for IL-1R1 and 47 kDa for 5-HT2C.</a:t>
            </a:r>
            <a:endParaRPr lang="en-US"/>
          </a:p>
        </p:txBody>
      </p:sp>
      <p:sp>
        <p:nvSpPr>
          <p:cNvPr id="284" name="Shape 284"/>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a:t>
            </a:r>
            <a:endParaRPr lang="en-US"/>
          </a:p>
        </p:txBody>
      </p:sp>
      <p:pic>
        <p:nvPicPr>
          <p:cNvPr id="164" name="Presenton Native Image 65" descr=""/>
          <p:cNvPicPr/>
          <p:nvPr/>
        </p:nvPicPr>
        <p:blipFill>
          <a:blip r:embed="rId2" cstate="none"/>
          <a:stretch>
            <a:fillRect/>
          </a:stretch>
        </p:blipFill>
        <p:spPr>
          <a:xfrm>
            <a:off x="6610350" y="1190958"/>
            <a:ext cx="4676775" cy="4380833"/>
          </a:xfrm>
          <a:prstGeom prst="rect">
            <a:avLst/>
          </a:prstGeom>
        </p:spPr>
      </p:pic>
      <p:sp>
        <p:nvSpPr>
          <p:cNvPr id="285" name="Shape 285"/>
          <p:cNvSpPr/>
          <p:nvPr/>
        </p:nvSpPr>
        <p:spPr>
          <a:xfrm>
            <a:off x="6477000" y="5667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86" name="Shape 28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87" name="Shape 28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8" name="Shape 28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Peripheral immune challenge can suppress hissing</a:t>
            </a:r>
            <a:endParaRPr lang="en-US"/>
          </a:p>
        </p:txBody>
      </p:sp>
      <p:sp>
        <p:nvSpPr>
          <p:cNvPr id="289" name="Shape 289"/>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Lipopolysaccharide</a:t>
            </a:r>
            <a:r>
              <a:rPr sz="1500" b="0" i="0">
                <a:solidFill>
                  <a:srgbClr val="000000"/>
                </a:solidFill>
                <a:latin typeface="Arial"/>
                <a:ea typeface="Arial"/>
              </a:rPr>
              <a:t>, or LPS, is a bacterial cell-wall component used experimentally to provoke an immune response. Bhatt and colleagues administered peripheral LPS at 50 μg/kg and measured PAG-elicited defensive hissing over subsequent hours.</a:t>
            </a:r>
            <a:endParaRPr lang="en-US"/>
          </a:p>
        </p:txBody>
      </p:sp>
      <p:sp>
        <p:nvSpPr>
          <p:cNvPr id="290" name="Shape 290"/>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Hissing latency increased beginning about 60 min after injection. Body temperature rose more strongly later, reaching about 105 °F at 120 min. Local medial hypothalamic delivery of 5 ng LPS did not reproduce the peripheral effect.</a:t>
            </a:r>
            <a:endParaRPr lang="en-US"/>
          </a:p>
        </p:txBody>
      </p:sp>
      <p:sp>
        <p:nvSpPr>
          <p:cNvPr id="291" name="Shape 291"/>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a:t>
            </a:r>
            <a:endParaRPr lang="en-US"/>
          </a:p>
        </p:txBody>
      </p:sp>
      <p:pic>
        <p:nvPicPr>
          <p:cNvPr id="165" name="Presenton Native Image 66" descr=""/>
          <p:cNvPicPr/>
          <p:nvPr/>
        </p:nvPicPr>
        <p:blipFill>
          <a:blip r:embed="rId2" cstate="none"/>
          <a:stretch>
            <a:fillRect/>
          </a:stretch>
        </p:blipFill>
        <p:spPr>
          <a:xfrm>
            <a:off x="8050477" y="1190625"/>
            <a:ext cx="1796521" cy="2476500"/>
          </a:xfrm>
          <a:prstGeom prst="rect">
            <a:avLst/>
          </a:prstGeom>
        </p:spPr>
      </p:pic>
      <p:sp>
        <p:nvSpPr>
          <p:cNvPr id="292" name="Shape 29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2A–C. Peripheral LPS, fever, and local LPS have different effects.</a:t>
            </a:r>
            <a:endParaRPr lang="en-US"/>
          </a:p>
        </p:txBody>
      </p:sp>
      <p:pic>
        <p:nvPicPr>
          <p:cNvPr id="166" name="Presenton Native Image 67" descr=""/>
          <p:cNvPicPr/>
          <p:nvPr/>
        </p:nvPicPr>
        <p:blipFill>
          <a:blip r:embed="rId3" cstate="none"/>
          <a:stretch>
            <a:fillRect/>
          </a:stretch>
        </p:blipFill>
        <p:spPr>
          <a:xfrm>
            <a:off x="7593552" y="4476750"/>
            <a:ext cx="2719896" cy="1381125"/>
          </a:xfrm>
          <a:prstGeom prst="rect">
            <a:avLst/>
          </a:prstGeom>
        </p:spPr>
      </p:pic>
      <p:sp>
        <p:nvSpPr>
          <p:cNvPr id="293" name="Shape 29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294" name="Shape 29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295" name="Shape 29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96" name="Shape 29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Peripheral TNF neutralization blocks LPS effects</a:t>
            </a:r>
            <a:endParaRPr lang="en-US"/>
          </a:p>
        </p:txBody>
      </p:sp>
      <p:sp>
        <p:nvSpPr>
          <p:cNvPr id="297" name="Shape 297"/>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Tumor necrosis factor</a:t>
            </a:r>
            <a:r>
              <a:rPr sz="1500" b="0" i="0">
                <a:solidFill>
                  <a:srgbClr val="000000"/>
                </a:solidFill>
                <a:latin typeface="Arial"/>
                <a:ea typeface="Arial"/>
              </a:rPr>
              <a:t>, or TNF, is a cytokine involved in immune signaling. Bhatt and colleagues tested whether peripheral cytokine neutralization could prevent the change in PAG-elicited defensive hissing following LPS challenge.</a:t>
            </a:r>
            <a:endParaRPr lang="en-US"/>
          </a:p>
        </p:txBody>
      </p:sp>
      <p:sp>
        <p:nvSpPr>
          <p:cNvPr id="298" name="Shape 298"/>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An anti-TNF antibody given 5 min before LPS blocked both the increase in hissing latency and the temperature rise. In contrast, the tested anti-IL-1 intervention did not prevent either effect. Antibody-alone conditions provided baseline comparisons over the same observation schedule.</a:t>
            </a:r>
            <a:endParaRPr lang="en-US"/>
          </a:p>
        </p:txBody>
      </p:sp>
      <p:sp>
        <p:nvSpPr>
          <p:cNvPr id="299" name="Shape 299"/>
          <p:cNvSpPr/>
          <p:nvPr/>
        </p:nvSpPr>
        <p:spPr>
          <a:xfrm>
            <a:off x="571500" y="3724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a:t>
            </a:r>
            <a:endParaRPr lang="en-US"/>
          </a:p>
        </p:txBody>
      </p:sp>
      <p:pic>
        <p:nvPicPr>
          <p:cNvPr id="167" name="Presenton Native Image 68" descr=""/>
          <p:cNvPicPr/>
          <p:nvPr/>
        </p:nvPicPr>
        <p:blipFill>
          <a:blip r:embed="rId3" cstate="none"/>
          <a:stretch>
            <a:fillRect/>
          </a:stretch>
        </p:blipFill>
        <p:spPr>
          <a:xfrm>
            <a:off x="8181975" y="1191675"/>
            <a:ext cx="1543050" cy="2474399"/>
          </a:xfrm>
          <a:prstGeom prst="rect">
            <a:avLst/>
          </a:prstGeom>
        </p:spPr>
      </p:pic>
      <p:sp>
        <p:nvSpPr>
          <p:cNvPr id="300" name="Shape 300"/>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3A–D. Peripheral TNF neutralization blocks LPS effects.</a:t>
            </a:r>
            <a:endParaRPr lang="en-US"/>
          </a:p>
        </p:txBody>
      </p:sp>
      <p:pic>
        <p:nvPicPr>
          <p:cNvPr id="168" name="Presenton Native Image 69" descr=""/>
          <p:cNvPicPr/>
          <p:nvPr/>
        </p:nvPicPr>
        <p:blipFill>
          <a:blip r:embed="rId2" cstate="none"/>
          <a:stretch>
            <a:fillRect/>
          </a:stretch>
        </p:blipFill>
        <p:spPr>
          <a:xfrm>
            <a:off x="8584019" y="4476750"/>
            <a:ext cx="729438" cy="1381125"/>
          </a:xfrm>
          <a:prstGeom prst="rect">
            <a:avLst/>
          </a:prstGeom>
        </p:spPr>
      </p:pic>
      <p:sp>
        <p:nvSpPr>
          <p:cNvPr id="301" name="Shape 301"/>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302" name="Shape 302"/>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 Bhatt et al. (2008)</a:t>
            </a:r>
            <a:endParaRPr lang="en-US"/>
          </a:p>
        </p:txBody>
      </p:sp>
      <p:sp>
        <p:nvSpPr>
          <p:cNvPr id="303" name="Shape 303"/>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4" name="Shape 304"/>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Prostaglandin blockade opposes immune suppression</a:t>
            </a:r>
            <a:endParaRPr lang="en-US"/>
          </a:p>
        </p:txBody>
      </p:sp>
      <p:sp>
        <p:nvSpPr>
          <p:cNvPr id="305" name="Shape 305"/>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Prostaglandin E2</a:t>
            </a:r>
            <a:r>
              <a:rPr sz="1500" b="0" i="0">
                <a:solidFill>
                  <a:srgbClr val="000000"/>
                </a:solidFill>
                <a:latin typeface="Arial"/>
                <a:ea typeface="Arial"/>
              </a:rPr>
              <a:t>, or PGE2, is a lipid signaling molecule associated with inflammatory responses. Bhatt and colleagues injected the antagonist SC19220 into medial hypothalamic defensive sites before administering peripheral LPS.</a:t>
            </a:r>
            <a:endParaRPr lang="en-US"/>
          </a:p>
        </p:txBody>
      </p:sp>
      <p:sp>
        <p:nvSpPr>
          <p:cNvPr id="306" name="Shape 306"/>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pretreatment opposed the LPS-induced increase in hissing latency for about 180 min, with weakening blockade later. Local anti-TNF treatment did not produce the same protection, despite the effectiveness of peripheral TNF neutralization in a separate experiment.</a:t>
            </a:r>
            <a:endParaRPr lang="en-US"/>
          </a:p>
        </p:txBody>
      </p:sp>
      <p:sp>
        <p:nvSpPr>
          <p:cNvPr id="307" name="Shape 307"/>
          <p:cNvSpPr/>
          <p:nvPr/>
        </p:nvSpPr>
        <p:spPr>
          <a:xfrm>
            <a:off x="571500" y="3971925"/>
            <a:ext cx="5448300" cy="19812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a:t>
            </a:r>
            <a:endParaRPr lang="en-US"/>
          </a:p>
        </p:txBody>
      </p:sp>
      <p:pic>
        <p:nvPicPr>
          <p:cNvPr id="169" name="Presenton Native Image 70" descr=""/>
          <p:cNvPicPr/>
          <p:nvPr/>
        </p:nvPicPr>
        <p:blipFill>
          <a:blip r:embed="rId3" cstate="none"/>
          <a:stretch>
            <a:fillRect/>
          </a:stretch>
        </p:blipFill>
        <p:spPr>
          <a:xfrm>
            <a:off x="6535022" y="1190625"/>
            <a:ext cx="4827431" cy="2476500"/>
          </a:xfrm>
          <a:prstGeom prst="rect">
            <a:avLst/>
          </a:prstGeom>
        </p:spPr>
      </p:pic>
      <p:sp>
        <p:nvSpPr>
          <p:cNvPr id="308" name="Shape 308"/>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4B. Hypothalamic prostaglandin blockade opposes LPS suppression.</a:t>
            </a:r>
            <a:endParaRPr lang="en-US"/>
          </a:p>
        </p:txBody>
      </p:sp>
      <p:pic>
        <p:nvPicPr>
          <p:cNvPr id="170" name="Presenton Native Image 71" descr=""/>
          <p:cNvPicPr/>
          <p:nvPr/>
        </p:nvPicPr>
        <p:blipFill>
          <a:blip r:embed="rId2" cstate="none"/>
          <a:stretch>
            <a:fillRect/>
          </a:stretch>
        </p:blipFill>
        <p:spPr>
          <a:xfrm>
            <a:off x="7593552" y="4476750"/>
            <a:ext cx="2719896" cy="1381125"/>
          </a:xfrm>
          <a:prstGeom prst="rect">
            <a:avLst/>
          </a:prstGeom>
        </p:spPr>
      </p:pic>
      <p:sp>
        <p:nvSpPr>
          <p:cNvPr id="309" name="Shape 309"/>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310" name="Shape 31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311" name="Shape 31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2" name="Shape 31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Hypothalamic 5-HT1A blockade opposes the LPS effect</a:t>
            </a:r>
            <a:endParaRPr lang="en-US"/>
          </a:p>
        </p:txBody>
      </p:sp>
      <p:sp>
        <p:nvSpPr>
          <p:cNvPr id="313" name="Shape 31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5-HT1A</a:t>
            </a:r>
            <a:r>
              <a:rPr sz="1500" b="0" i="0">
                <a:solidFill>
                  <a:srgbClr val="000000"/>
                </a:solidFill>
                <a:latin typeface="Arial"/>
                <a:ea typeface="Arial"/>
              </a:rPr>
              <a:t xml:space="preserve"> is a serotonin receptor class distinct from the 5-HT2 receptors implicated in local PAG cytokine facilitation. Bhatt and colleagues injected the 5-HT1A antagonist p-MPPI into medial hypothalamic defensive sites before peripheral LPS challenge.</a:t>
            </a:r>
            <a:endParaRPr lang="en-US"/>
          </a:p>
        </p:txBody>
      </p:sp>
      <p:sp>
        <p:nvSpPr>
          <p:cNvPr id="314" name="Shape 314"/>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12 nmol injection in 0.5 μl prevented the prolonged increase in hissing latency produced by LPS. Antagonist-alone treatment did not appreciably alter the baseline response. This contrasts with 5-HT2-dependent facilitation after direct IL-1β administration in the PAG.</a:t>
            </a:r>
            <a:endParaRPr lang="en-US"/>
          </a:p>
        </p:txBody>
      </p:sp>
      <p:sp>
        <p:nvSpPr>
          <p:cNvPr id="315" name="Shape 315"/>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a:t>
            </a:r>
            <a:endParaRPr lang="en-US"/>
          </a:p>
        </p:txBody>
      </p:sp>
      <p:pic>
        <p:nvPicPr>
          <p:cNvPr id="171" name="Presenton Native Image 72" descr=""/>
          <p:cNvPicPr/>
          <p:nvPr/>
        </p:nvPicPr>
        <p:blipFill>
          <a:blip r:embed="rId3" cstate="none"/>
          <a:stretch>
            <a:fillRect/>
          </a:stretch>
        </p:blipFill>
        <p:spPr>
          <a:xfrm>
            <a:off x="6753225" y="1191520"/>
            <a:ext cx="4391025" cy="2474711"/>
          </a:xfrm>
          <a:prstGeom prst="rect">
            <a:avLst/>
          </a:prstGeom>
        </p:spPr>
      </p:pic>
      <p:sp>
        <p:nvSpPr>
          <p:cNvPr id="316" name="Shape 316"/>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4C. Hypothalamic serotonin blockade opposes LPS suppression.</a:t>
            </a:r>
            <a:endParaRPr lang="en-US"/>
          </a:p>
        </p:txBody>
      </p:sp>
      <p:pic>
        <p:nvPicPr>
          <p:cNvPr id="172" name="Presenton Native Image 73" descr=""/>
          <p:cNvPicPr/>
          <p:nvPr/>
        </p:nvPicPr>
        <p:blipFill>
          <a:blip r:embed="rId2" cstate="none"/>
          <a:stretch>
            <a:fillRect/>
          </a:stretch>
        </p:blipFill>
        <p:spPr>
          <a:xfrm>
            <a:off x="7593552" y="4476750"/>
            <a:ext cx="2719896" cy="1381125"/>
          </a:xfrm>
          <a:prstGeom prst="rect">
            <a:avLst/>
          </a:prstGeom>
        </p:spPr>
      </p:pic>
      <p:sp>
        <p:nvSpPr>
          <p:cNvPr id="317" name="Shape 317"/>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318" name="Shape 318"/>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319" name="Shape 319"/>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0" name="Shape 320"/>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Preserved head turning limits motor explanations</a:t>
            </a:r>
            <a:endParaRPr lang="en-US"/>
          </a:p>
        </p:txBody>
      </p:sp>
      <p:sp>
        <p:nvSpPr>
          <p:cNvPr id="321" name="Shape 321"/>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compared LPS effects on defensive hissing with effects on head turning elicited by midbrain stimulation. </a:t>
            </a:r>
            <a:r>
              <a:rPr sz="1500" b="1" i="0">
                <a:solidFill>
                  <a:srgbClr val="444E55"/>
                </a:solidFill>
                <a:latin typeface="Arial"/>
                <a:ea typeface="Arial"/>
              </a:rPr>
              <a:t>Motor control</a:t>
            </a:r>
            <a:r>
              <a:rPr sz="1500" b="0" i="0">
                <a:solidFill>
                  <a:srgbClr val="000000"/>
                </a:solidFill>
                <a:latin typeface="Arial"/>
                <a:ea typeface="Arial"/>
              </a:rPr>
              <a:t xml:space="preserve"> here means a comparison response used to test whether the animal simply lost the capacity to move or respond to stimulation.</a:t>
            </a:r>
            <a:endParaRPr lang="en-US"/>
          </a:p>
        </p:txBody>
      </p:sp>
      <p:sp>
        <p:nvSpPr>
          <p:cNvPr id="322" name="Shape 322"/>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Across the 300 min observation period, LPS prolonged defensive-response latency but did not appreciably change head-turning latency. The tested motor response therefore remained available while defensive output was suppressed under the same immune challenge.</a:t>
            </a:r>
            <a:endParaRPr lang="en-US"/>
          </a:p>
        </p:txBody>
      </p:sp>
      <p:sp>
        <p:nvSpPr>
          <p:cNvPr id="323" name="Shape 323"/>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a:t>
            </a:r>
            <a:endParaRPr lang="en-US"/>
          </a:p>
        </p:txBody>
      </p:sp>
      <p:pic>
        <p:nvPicPr>
          <p:cNvPr id="173" name="Presenton Native Image 74" descr=""/>
          <p:cNvPicPr/>
          <p:nvPr/>
        </p:nvPicPr>
        <p:blipFill>
          <a:blip r:embed="rId3" cstate="none"/>
          <a:stretch>
            <a:fillRect/>
          </a:stretch>
        </p:blipFill>
        <p:spPr>
          <a:xfrm>
            <a:off x="7162800" y="1191660"/>
            <a:ext cx="3571875" cy="2474429"/>
          </a:xfrm>
          <a:prstGeom prst="rect">
            <a:avLst/>
          </a:prstGeom>
        </p:spPr>
      </p:pic>
      <p:sp>
        <p:nvSpPr>
          <p:cNvPr id="324" name="Shape 324"/>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5. LPS suppresses hissing but spares elicited head turning.</a:t>
            </a:r>
            <a:endParaRPr lang="en-US"/>
          </a:p>
        </p:txBody>
      </p:sp>
      <p:pic>
        <p:nvPicPr>
          <p:cNvPr id="174" name="Presenton Native Image 75" descr=""/>
          <p:cNvPicPr/>
          <p:nvPr/>
        </p:nvPicPr>
        <p:blipFill>
          <a:blip r:embed="rId2" cstate="none"/>
          <a:stretch>
            <a:fillRect/>
          </a:stretch>
        </p:blipFill>
        <p:spPr>
          <a:xfrm>
            <a:off x="8584019" y="4476750"/>
            <a:ext cx="729438" cy="1381125"/>
          </a:xfrm>
          <a:prstGeom prst="rect">
            <a:avLst/>
          </a:prstGeom>
        </p:spPr>
      </p:pic>
      <p:sp>
        <p:nvSpPr>
          <p:cNvPr id="325" name="Shape 325"/>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326" name="Shape 32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 Bhatt et al. (2008)</a:t>
            </a:r>
            <a:endParaRPr lang="en-US"/>
          </a:p>
        </p:txBody>
      </p:sp>
      <p:sp>
        <p:nvSpPr>
          <p:cNvPr id="327" name="Shape 32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8" name="Shape 32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Access to concealment accelerates behavioral recovery</a:t>
            </a:r>
            <a:endParaRPr lang="en-US"/>
          </a:p>
        </p:txBody>
      </p:sp>
      <p:sp>
        <p:nvSpPr>
          <p:cNvPr id="329" name="Shape 329"/>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Concealment</a:t>
            </a:r>
            <a:r>
              <a:rPr sz="1500" b="0" i="0">
                <a:solidFill>
                  <a:srgbClr val="000000"/>
                </a:solidFill>
                <a:latin typeface="Arial"/>
                <a:ea typeface="Arial"/>
              </a:rPr>
              <a:t xml:space="preserve"> allows an animal to remain visually sheltered from its surroundings. Van der Leij and colleagues randomly assigned shelter cats to quarantine cages with or without cardboard hiding boxes measuring 44 × 31 × 26 cm.</a:t>
            </a:r>
            <a:endParaRPr lang="en-US"/>
          </a:p>
        </p:txBody>
      </p:sp>
      <p:sp>
        <p:nvSpPr>
          <p:cNvPr id="330" name="Shape 330"/>
          <p:cNvSpPr/>
          <p:nvPr/>
        </p:nvSpPr>
        <p:spPr>
          <a:xfrm>
            <a:off x="571500" y="2333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a:t>
            </a:r>
            <a:endParaRPr lang="en-US"/>
          </a:p>
        </p:txBody>
      </p:sp>
      <p:sp>
        <p:nvSpPr>
          <p:cNvPr id="331" name="Shape 331"/>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a:t>
            </a:r>
            <a:endParaRPr lang="en-US"/>
          </a:p>
        </p:txBody>
      </p:sp>
      <p:pic>
        <p:nvPicPr>
          <p:cNvPr id="175" name="Presenton Native Image 76" descr=""/>
          <p:cNvPicPr/>
          <p:nvPr/>
        </p:nvPicPr>
        <p:blipFill>
          <a:blip r:embed="rId2" cstate="none"/>
          <a:stretch>
            <a:fillRect/>
          </a:stretch>
        </p:blipFill>
        <p:spPr>
          <a:xfrm>
            <a:off x="6480122" y="1190625"/>
            <a:ext cx="4946757" cy="3371850"/>
          </a:xfrm>
          <a:prstGeom prst="rect">
            <a:avLst/>
          </a:prstGeom>
        </p:spPr>
      </p:pic>
      <p:sp>
        <p:nvSpPr>
          <p:cNvPr id="332" name="Shape 332"/>
          <p:cNvSpPr/>
          <p:nvPr/>
        </p:nvSpPr>
        <p:spPr>
          <a:xfrm>
            <a:off x="6477000" y="46577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1. Individual Cat-Stress-Score trajectories with and without hiding boxes.</a:t>
            </a:r>
            <a:endParaRPr lang="en-US"/>
          </a:p>
        </p:txBody>
      </p:sp>
      <p:sp>
        <p:nvSpPr>
          <p:cNvPr id="333" name="Shape 33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34" name="Shape 33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35" name="Shape 33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Behavioral stress scores change over several days</a:t>
            </a:r>
            <a:endParaRPr lang="en-US"/>
          </a:p>
        </p:txBody>
      </p:sp>
      <p:sp>
        <p:nvSpPr>
          <p:cNvPr id="336" name="Shape 33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shelter study used the </a:t>
            </a:r>
            <a:r>
              <a:rPr sz="1500" b="1" i="0">
                <a:solidFill>
                  <a:srgbClr val="444E55"/>
                </a:solidFill>
                <a:latin typeface="Arial"/>
                <a:ea typeface="Arial"/>
              </a:rPr>
              <a:t>Cat-Stress-Score</a:t>
            </a:r>
            <a:r>
              <a:rPr sz="1500" b="0" i="0">
                <a:solidFill>
                  <a:srgbClr val="000000"/>
                </a:solidFill>
                <a:latin typeface="Arial"/>
                <a:ea typeface="Arial"/>
              </a:rPr>
              <a:t>, a standardized assessment of posture and behavior. Cats were video-recorded for 20 min on observation days, with repeated samples contributing to each daily score during the 12-day quarantine period.</a:t>
            </a:r>
            <a:endParaRPr lang="en-US"/>
          </a:p>
        </p:txBody>
      </p:sp>
      <p:sp>
        <p:nvSpPr>
          <p:cNvPr id="337" name="Shape 33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hiding-box group had lower stress scores after the first observation day and reached stability sooner. Scoring retained each animal’s trajectory, rather than assuming identical recovery for every cat. Individual differences persisted within both housing conditions.</a:t>
            </a:r>
            <a:endParaRPr lang="en-US"/>
          </a:p>
        </p:txBody>
      </p:sp>
      <p:sp>
        <p:nvSpPr>
          <p:cNvPr id="338" name="Shape 338"/>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a:t>
            </a:r>
            <a:endParaRPr lang="en-US"/>
          </a:p>
        </p:txBody>
      </p:sp>
      <p:pic>
        <p:nvPicPr>
          <p:cNvPr id="176" name="Presenton Native Image 77" descr=""/>
          <p:cNvPicPr/>
          <p:nvPr/>
        </p:nvPicPr>
        <p:blipFill>
          <a:blip r:embed="rId2" cstate="none"/>
          <a:stretch>
            <a:fillRect/>
          </a:stretch>
        </p:blipFill>
        <p:spPr>
          <a:xfrm>
            <a:off x="6480122" y="1190625"/>
            <a:ext cx="4946757" cy="3371850"/>
          </a:xfrm>
          <a:prstGeom prst="rect">
            <a:avLst/>
          </a:prstGeom>
        </p:spPr>
      </p:pic>
      <p:sp>
        <p:nvSpPr>
          <p:cNvPr id="339" name="Shape 339"/>
          <p:cNvSpPr/>
          <p:nvPr/>
        </p:nvSpPr>
        <p:spPr>
          <a:xfrm>
            <a:off x="6477000" y="46577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1. Individual Cat-Stress-Score trajectories with and without hiding boxes.</a:t>
            </a:r>
            <a:endParaRPr lang="en-US"/>
          </a:p>
        </p:txBody>
      </p:sp>
      <p:sp>
        <p:nvSpPr>
          <p:cNvPr id="340" name="Shape 34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41" name="Shape 34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2" name="Shape 34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Calmer behavior does not guarantee physical recovery</a:t>
            </a:r>
            <a:endParaRPr lang="en-US"/>
          </a:p>
        </p:txBody>
      </p:sp>
      <p:sp>
        <p:nvSpPr>
          <p:cNvPr id="343" name="Shape 34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Van der Leij and colleagues measured body weight at intake and during quarantine as an outcome separate from the behavioral stress score. A hiding box accelerated behavioral recovery, but it did not reliably prevent weight loss over the 12-day study.</a:t>
            </a:r>
            <a:endParaRPr lang="en-US"/>
          </a:p>
        </p:txBody>
      </p:sp>
      <p:sp>
        <p:nvSpPr>
          <p:cNvPr id="344" name="Shape 344"/>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Control cats lost about 7.7% of initial body weight, while cats with boxes lost about 6.3%. The difference between housing groups was not reliably established. Food was provided under a standardized regime, but individual daily food intake was not monitored.</a:t>
            </a:r>
            <a:endParaRPr lang="en-US"/>
          </a:p>
        </p:txBody>
      </p:sp>
      <p:sp>
        <p:nvSpPr>
          <p:cNvPr id="345" name="Shape 345"/>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a:t>
            </a:r>
            <a:endParaRPr lang="en-US"/>
          </a:p>
        </p:txBody>
      </p:sp>
      <p:pic>
        <p:nvPicPr>
          <p:cNvPr id="177" name="Presenton Native Image 78" descr=""/>
          <p:cNvPicPr/>
          <p:nvPr/>
        </p:nvPicPr>
        <p:blipFill>
          <a:blip r:embed="rId2" cstate="none"/>
          <a:stretch>
            <a:fillRect/>
          </a:stretch>
        </p:blipFill>
        <p:spPr>
          <a:xfrm>
            <a:off x="6478814" y="1190625"/>
            <a:ext cx="4949373" cy="3228975"/>
          </a:xfrm>
          <a:prstGeom prst="rect">
            <a:avLst/>
          </a:prstGeom>
        </p:spPr>
      </p:pic>
      <p:sp>
        <p:nvSpPr>
          <p:cNvPr id="346" name="Shape 346"/>
          <p:cNvSpPr/>
          <p:nvPr/>
        </p:nvSpPr>
        <p:spPr>
          <a:xfrm>
            <a:off x="6477000" y="4514850"/>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2. Individual body-weight changes during shelter quarantine.</a:t>
            </a:r>
            <a:endParaRPr lang="en-US"/>
          </a:p>
        </p:txBody>
      </p:sp>
      <p:sp>
        <p:nvSpPr>
          <p:cNvPr id="347" name="Shape 34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48" name="Shape 34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9" name="Shape 349"/>
          <p:cNvSpPr/>
          <p:nvPr/>
        </p:nvSpPr>
        <p:spPr>
          <a:xfrm>
            <a:off x="571500" y="342900"/>
            <a:ext cx="2571304" cy="514350"/>
          </a:xfrm>
          <a:prstGeom prst="rect">
            <a:avLst/>
          </a:prstGeom>
          <a:noFill/>
        </p:spPr>
        <p:txBody>
          <a:bodyPr anchor="t" wrap="square" tIns="0" bIns="0" lIns="0" rIns="0">
            <a:normAutofit/>
          </a:bodyPr>
          <a:lstStyle/>
          <a:p>
            <a:pPr algn="l">
              <a:lnSpc>
                <a:spcPts val="4050"/>
              </a:lnSpc>
              <a:buNone/>
            </a:pPr>
            <a:r>
              <a:rPr sz="2700" b="1" i="0">
                <a:solidFill>
                  <a:srgbClr val="444E55"/>
                </a:solidFill>
                <a:latin typeface="Arial"/>
                <a:ea typeface="Arial"/>
              </a:rPr>
              <a:t>Key takeaways</a:t>
            </a:r>
            <a:endParaRPr lang="en-US"/>
          </a:p>
        </p:txBody>
      </p:sp>
      <p:sp>
        <p:nvSpPr>
          <p:cNvPr id="350" name="Shape 350"/>
          <p:cNvSpPr/>
          <p:nvPr/>
        </p:nvSpPr>
        <p:spPr>
          <a:xfrm>
            <a:off x="571500" y="119062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Recognition differs from defensive expression.</a:t>
            </a:r>
            <a:r>
              <a:rPr sz="1500" b="0" i="0">
                <a:solidFill>
                  <a:srgbClr val="000000"/>
                </a:solidFill>
                <a:latin typeface="Arial"/>
                <a:ea typeface="Arial"/>
              </a:rPr>
              <a:t xml:space="preserve"> Gaze and audiovisual matching establish cue discrimination; stimulation and intervention test recruitment of behavioral output.</a:t>
            </a:r>
            <a:endParaRPr lang="en-US"/>
          </a:p>
        </p:txBody>
      </p:sp>
      <p:sp>
        <p:nvSpPr>
          <p:cNvPr id="351" name="Shape 351"/>
          <p:cNvSpPr/>
          <p:nvPr/>
        </p:nvSpPr>
        <p:spPr>
          <a:xfrm>
            <a:off x="6286500" y="119062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Social threat depends on context.</a:t>
            </a:r>
            <a:r>
              <a:rPr sz="1500" b="0" i="0">
                <a:solidFill>
                  <a:srgbClr val="000000"/>
                </a:solidFill>
                <a:latin typeface="Arial"/>
                <a:ea typeface="Arial"/>
              </a:rPr>
              <a:t xml:space="preserve"> Dogs sample threatening dog and human faces differently, and cats match hissing and human emotional signals across vision and hearing.</a:t>
            </a:r>
            <a:endParaRPr lang="en-US"/>
          </a:p>
        </p:txBody>
      </p:sp>
      <p:sp>
        <p:nvSpPr>
          <p:cNvPr id="352" name="Shape 352"/>
          <p:cNvSpPr/>
          <p:nvPr/>
        </p:nvSpPr>
        <p:spPr>
          <a:xfrm>
            <a:off x="571500" y="2857500"/>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Excitatory input facilitates feline defense.</a:t>
            </a:r>
            <a:r>
              <a:rPr sz="1500" b="0" i="0">
                <a:solidFill>
                  <a:srgbClr val="000000"/>
                </a:solidFill>
                <a:latin typeface="Arial"/>
                <a:ea typeface="Arial"/>
              </a:rPr>
              <a:t xml:space="preserve"> Medial hypothalamic facilitation of PAG-elicited hissing depends on local NMDA receptor signaling in the tested preparation.</a:t>
            </a:r>
            <a:endParaRPr lang="en-US"/>
          </a:p>
        </p:txBody>
      </p:sp>
      <p:sp>
        <p:nvSpPr>
          <p:cNvPr id="353" name="Shape 353"/>
          <p:cNvSpPr/>
          <p:nvPr/>
        </p:nvSpPr>
        <p:spPr>
          <a:xfrm>
            <a:off x="6286500" y="2857500"/>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Inhibition is site and receptor dependent.</a:t>
            </a:r>
            <a:r>
              <a:rPr sz="1500" b="0" i="0">
                <a:solidFill>
                  <a:srgbClr val="000000"/>
                </a:solidFill>
                <a:latin typeface="Arial"/>
                <a:ea typeface="Arial"/>
              </a:rPr>
              <a:t xml:space="preserve"> Lateral hypothalamic suppression involves medial hypothalamic GABA-A receptors; activating these receptors raises the defensive-response threshold.</a:t>
            </a:r>
            <a:endParaRPr lang="en-US"/>
          </a:p>
        </p:txBody>
      </p:sp>
      <p:sp>
        <p:nvSpPr>
          <p:cNvPr id="354" name="Shape 354"/>
          <p:cNvSpPr/>
          <p:nvPr/>
        </p:nvSpPr>
        <p:spPr>
          <a:xfrm>
            <a:off x="571500" y="452437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Immune state changes circuit responsiveness.</a:t>
            </a:r>
            <a:r>
              <a:rPr sz="1500" b="0" i="0">
                <a:solidFill>
                  <a:srgbClr val="000000"/>
                </a:solidFill>
                <a:latin typeface="Arial"/>
                <a:ea typeface="Arial"/>
              </a:rPr>
              <a:t xml:space="preserve"> Local PAG IL-1β can facilitate defense through serotonin-sensitive signaling, whereas peripheral LPS can suppress the evoked response.</a:t>
            </a:r>
            <a:endParaRPr lang="en-US"/>
          </a:p>
        </p:txBody>
      </p:sp>
      <p:sp>
        <p:nvSpPr>
          <p:cNvPr id="355" name="Shape 355"/>
          <p:cNvSpPr/>
          <p:nvPr/>
        </p:nvSpPr>
        <p:spPr>
          <a:xfrm>
            <a:off x="6286500" y="452437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Inference must match the measurement.</a:t>
            </a:r>
            <a:r>
              <a:rPr sz="1500" b="0" i="0">
                <a:solidFill>
                  <a:srgbClr val="000000"/>
                </a:solidFill>
                <a:latin typeface="Arial"/>
                <a:ea typeface="Arial"/>
              </a:rPr>
              <a:t xml:space="preserve"> Cat circuit experiments do not establish canine mechanisms. Concealment improves observed cat stress without guaranteeing recovery of body weight.</a:t>
            </a:r>
            <a:endParaRPr lang="en-US"/>
          </a:p>
        </p:txBody>
      </p:sp>
      <p:sp>
        <p:nvSpPr>
          <p:cNvPr id="356" name="Shape 356"/>
          <p:cNvSpPr/>
          <p:nvPr/>
        </p:nvSpPr>
        <p:spPr>
          <a:xfrm>
            <a:off x="571500" y="6448425"/>
            <a:ext cx="10496550" cy="157163"/>
          </a:xfrm>
          <a:prstGeom prst="rect">
            <a:avLst/>
          </a:prstGeom>
          <a:noFill/>
        </p:spPr>
        <p:txBody>
          <a:bodyPr anchor="t" wrap="square" tIns="0" bIns="0" lIns="0" rIns="0">
            <a:normAutofit/>
          </a:bodyPr>
          <a:lstStyle/>
          <a:p>
            <a:pPr algn="l">
              <a:lnSpc>
                <a:spcPts val="1238"/>
              </a:lnSpc>
              <a:buNone/>
            </a:pPr>
            <a:r>
              <a:rPr sz="825" b="0" i="0">
                <a:solidFill>
                  <a:srgbClr val="000000"/>
                </a:solidFill>
                <a:latin typeface="Arial"/>
                <a:ea typeface="Arial"/>
              </a:rPr>
              <a:t xml:space="preserve">Somppi et al. (2016); Quaranta et al. (2020); Lu et al. (1992); Cheu </a:t>
            </a:r>
            <a:r>
              <a:rPr sz="825" b="0" i="0">
                <a:solidFill>
                  <a:srgbClr val="000000"/>
                </a:solidFill>
                <a:latin typeface="Arial"/>
                <a:ea typeface="Arial"/>
              </a:rPr>
              <a:t>&amp;</a:t>
            </a:r>
            <a:r>
              <a:rPr sz="825" b="0" i="0">
                <a:solidFill>
                  <a:srgbClr val="000000"/>
                </a:solidFill>
                <a:latin typeface="Arial"/>
                <a:ea typeface="Arial"/>
              </a:rPr>
              <a:t xml:space="preserve"> Siegel (1998); Bhatt et al. (2008, 2009); van der Leij et al. (2019)</a:t>
            </a:r>
            <a:endParaRPr lang="en-US"/>
          </a:p>
        </p:txBody>
      </p:sp>
      <p:sp>
        <p:nvSpPr>
          <p:cNvPr id="357" name="Shape 35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46</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Fear in dogs and cats: threat recognition, defensive behavior, and underlying neural circuits</dc:title>
  <dc:subject>Generated by Presenton export-core</dc:subject>
  <dc:creator>Presenton</dc:creator>
  <cp:lastModifiedBy>Presenton</cp:lastModifiedBy>
  <dcterms:created xsi:type="dcterms:W3CDTF">2026-10-09T22:43:17.117Z</dcterms:created>
  <dcterms:modified xsi:type="dcterms:W3CDTF">2026-10-09T22:43:17.117Z</dcterms:modified>
</cp:coreProperties>
</file>