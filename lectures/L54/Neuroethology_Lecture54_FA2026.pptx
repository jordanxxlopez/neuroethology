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Fear in dogs and cats: threat recognition, defensive behavior, and underlying neural circuits
Date TBD
Somppi et al. (2016), Fig. 1 (dog rows). Dog facial stimuli and the published gaze distributions. Credit: Published article figure; License: Source article; https://doi.org/10.1371/journal.pone.0143047
References:
Somppi S, Törnqvist H, Kujala MV, Hänninen L, Krause CM, Vainio O (2016). Dogs Evaluate Threatening Facial Expressions by Their Biological Validity – Evidence from Gazing Patterns. PLOS ONE 11(1): e0143047. https://doi.org/10.1371/journal.pone.0143047</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**Threat recognition** is discrimination of cues associated with possible harm. Somppi and colleagues measured dogs’ spontaneous gaze toward photographs of dog and human faces bearing threatening, pleasant, or neutral expressions. Each photograph appeared for 1500 ms.
• The inner face comprises the eyes, midface, and mouth; looking time describes visual sampling rather than the animal’s entire defensive response.
• Dogs devoted more viewing time to the inner faces of threatening dogs than to pleasant or neutral dog faces. Their response to threatening human faces differed: initial fixations were less likely to land within the inner face than for pleasant or neutral humans.
• The experiment controlled presentation duration and compared expressions within each depicted species. The result establishes expression-dependent visual attention, rather than a direct measurement of fear, attack probability, or subjective emotional experience.
References:
Somppi S, Törnqvist H, Kujala MV, Hänninen L, Krause CM, Vainio O (2016). Dogs Evaluate Threatening Facial Expressions by Their Biological Validity – Evidence from Gazing Patterns. PLOS ONE 11(1): e0143047. https://doi.org/10.1371/journal.pone.0143047
Figure sources:
Somppi et al. (2016), Fig. 2A,B. Expression-dependent fixation scores and first fixations. https://doi.org/10.1371/journal.pone.0143047
Somppi et al. (2016), Fig. 1 (dog rows). Dog facial stimuli and the published gaze distributions. https://doi.org/10.1371/journal.pone.0143047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Dogs watched facial photographs while resting their heads voluntarily on a chin support. An infrared **eye tracker**, an instrument estimating gaze position, recorded where each dog looked without requiring a trained choice between emotional categories.</a:t>
            </a:r>
          </a:p>
          <a:p>
            <a:r>
              <a:t>• Training accustomed dogs to the apparatus; it did not train an emotional classification response to the test photographs.</a:t>
            </a:r>
          </a:p>
          <a:p/>
          <a:p>
            <a:r>
              <a:t>• Images appeared for 1500 ms, separated by 500 ms intervals. Stimulus order and block length were randomized, while owners and experimenters waited behind an opaque barrier. These procedures reduced predictable sequences and immediate social guidance during viewing.</a:t>
            </a:r>
          </a:p>
          <a:p/>
          <a:p>
            <a:r>
              <a:t>• Calibration related measured eye position to known screen locations. The measured outcome was spontaneous fixation allocation, not successful completion of a rewarded emotion-labeling task. Because the stimuli were still photographs, the study did not test moving bodies, approaching animals, or the coordination of escape with gaze.</a:t>
            </a:r>
          </a:p>
          <a:p>
            <a:r>
              <a:t>References:</a:t>
            </a:r>
          </a:p>
          <a:p>
            <a:r>
              <a:t>Somppi S, Törnqvist H, Kujala MV, Hänninen L, Krause CM, Vainio O (2016). Dogs Evaluate Threatening Facial Expressions by Their Biological Validity – Evidence from Gazing Patterns. PLOS ONE 11(1): e0143047. https://doi.org/10.1371/journal.pone.0143047</a:t>
            </a:r>
          </a:p>
          <a:p>
            <a:r>
              <a:t>Figure sources:</a:t>
            </a:r>
          </a:p>
          <a:p>
            <a:r>
              <a:t>Somppi et al. (2016), Fig. 1 (dog rows). Dog facial stimuli and the published gaze distributions. https://doi.org/10.1371/journal.pone.0143047</a:t>
            </a:r>
          </a:p>
          <a:p/>
          <a:p>
            <a:r>
              <a:t>Source-provided recording:</a:t>
            </a:r>
          </a:p>
          <a:p>
            <a:r>
              <a:t>Article video: Somppi et al. (2016), S1 Movie. Click video to play.</a:t>
            </a:r>
          </a:p>
          <a:p>
            <a:r>
              <a:t>Original measurement session: the trained dog rests in position while a contact-free eye tracker records its gaze.</a:t>
            </a:r>
          </a:p>
          <a:p>
            <a:r>
              <a:t>References:</a:t>
            </a:r>
          </a:p>
          <a:p>
            <a:r>
              <a:t>Somppi S, Törnqvist H, Kujala MV, Hänninen L, Krause CM, Vainio O (2016). Dogs Evaluate Threatening Facial Expressions by Their Biological Validity – Evidence from Gazing Patterns. PLOS ONE 11(1): e0143047. https://doi.org/10.1371/journal.pone.0143047</a:t>
            </a:r>
          </a:p>
          <a:p>
            <a:r>
              <a:t>Article DOI: https://doi.org/10.1371/journal.pone.0143047</a:t>
            </a:r>
          </a:p>
          <a:p>
            <a:r>
              <a:t>Original media URL: https://journals.plos.org/plosone/article/file?type=supplementary&amp;id=10.1371/journal.pone.0143047.s003</a:t>
            </a:r>
          </a:p>
          <a:p>
            <a:r>
              <a:t>Credit: Somppi et al.; original PLOS supplementary movie</a:t>
            </a:r>
          </a:p>
          <a:p>
            <a:r>
              <a:t>License: CC BY, https://creativecommons.org/licenses/by/4.0/</a:t>
            </a:r>
          </a:p>
          <a:p>
            <a:r>
              <a:t>Conversion: Original MP4 copied intact; no scene, timing, or audio edits.</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**fixation** is a period during which gaze remains within a restricted area. Facial regions were classified as eyes, midface, and mouth, allowing Somppi and colleagues to compare visual sampling of different components of an expression.
• Entry time is the interval from image onset to the first fixation in a defined region; it is distinct from the duration spent looking there.
• Across dog and human faces, dogs looked longer at eyes than at mouths. Average entry times were about 503 ms for eyes, 501 ms for midface, and 584 ms for mouths. Thus, exposed teeth were not the only visual information sampled during threatening expressions.
• Fixation scores accounted for facial-region size and total face-viewing time. The comparison supports structured sampling of facial information. It does not identify the neural detector for threat or establish that a single facial feature determines a defensive reaction.
References:
Somppi S, Törnqvist H, Kujala MV, Hänninen L, Krause CM, Vainio O (2016). Dogs Evaluate Threatening Facial Expressions by Their Biological Validity – Evidence from Gazing Patterns. PLOS ONE 11(1): e0143047. https://doi.org/10.1371/journal.pone.0143047
Figure sources:
Somppi et al. (2016), Fig. 3. Fixation scores for eyes, midface, and mouth. https://doi.org/10.1371/journal.pone.0143047
Somppi et al. (2016), Fig. 1 (dog rows). Dog facial stimuli and the published gaze distributions. https://doi.org/10.1371/journal.pone.0143047</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**Initial orienting** describes where attention is directed at the beginning of stimulus inspection. The probability of a first fixation landing on the inner face was lower for threatening human expressions than for pleasant or neutral human expressions.
• The comparison separates an early orienting measure from sustained fixation; these measures need not vary in parallel.
• The same dogs viewed conspecific faces, meaning faces of their own species. Threatening dog faces received more inner-face viewing than other dog expressions. Consequently, the visual response depended jointly on expression and the species producing the signal.
• The first-fixation analysis adjusted for the relative size of the target region. Reduced initial gaze toward human threat is compatible with avoidance, but gaze alone cannot establish the animal’s motivation. No neural recording or circuit intervention accompanied these 1500 ms presentations.
References:
Somppi S, Törnqvist H, Kujala MV, Hänninen L, Krause CM, Vainio O (2016). Dogs Evaluate Threatening Facial Expressions by Their Biological Validity – Evidence from Gazing Patterns. PLOS ONE 11(1): e0143047. https://doi.org/10.1371/journal.pone.0143047
Figure sources:
Somppi et al. (2016), Fig. 2A,B. Expression-dependent fixation scores and first fixations. https://doi.org/10.1371/journal.pone.0143047
Somppi et al. (2016), Fig. 4. Original first-fixation targets and scanning paths; circle key is 500 ms. https://doi.org/10.1371/journal.pone.0143047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**gaze heat map** represents the distribution of recorded fixations across a stimulus. The published maps from Somppi and colleagues place dogs’ gaze on eyes, muzzle, and mouth during presentations lasting 1500 ms.
• The colors are the authors’ original fixation distributions, not a reconstructed brain map or an added interpretation of the dog’s emotional state.
• The analysis compared threatening, pleasant, and neutral faces of both humans and dogs. It normalized looking duration for facial-region size, reducing the possibility that a larger mouth or eye region automatically receives a larger score simply because it occupies more space.
• These maps describe visual attention rather than neuronal activation. They cannot locate an amygdala response or distinguish arousal from avoidance without additional measurements. Expression-dependent gaze is evidence that the visual system discriminates social cues; the downstream defensive state remains a separate experimental question.
References:
Somppi S, Törnqvist H, Kujala MV, Hänninen L, Krause CM, Vainio O (2016). Dogs Evaluate Threatening Facial Expressions by Their Biological Validity – Evidence from Gazing Patterns. PLOS ONE 11(1): e0143047. https://doi.org/10.1371/journal.pone.0143047
Figure sources:
Somppi et al. (2016), Fig. 1. Dog and human facial stimuli with published gaze distributions. https://doi.org/10.1371/journal.pone.0143047</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Dogs’ first fixations and subsequent scanning paths sampled multiple parts of a face. Somppi and colleagues recorded these paths during 1500 ms presentations, with fixation duration and entry time providing different descriptions of visual attention.</a:t>
            </a:r>
          </a:p>
          <a:p>
            <a:r>
              <a:t>• Long looking can reflect vigilance, whereas reduced looking can reflect disengagement; this experiment does not assign either interpretation solely from fixation duration.</a:t>
            </a:r>
          </a:p>
          <a:p/>
          <a:p>
            <a:r>
              <a:t>• Threatening dog faces received greater sustained sampling than pleasant or neutral dog faces, while threatening human faces were less likely to receive an initial inner-face fixation. The distinction prevents a simple rule that every threatening expression should produce longer looking.</a:t>
            </a:r>
          </a:p>
          <a:p/>
          <a:p>
            <a:r>
              <a:t>• The authors compared expressions within species and considered image properties when analyzing gaze. Nonetheless, a photograph does not provide the motion, distance, vocalization, or opportunity to withdraw present in a real encounter. Visual discrimination and defensive behavior therefore require different measured outcomes.</a:t>
            </a:r>
          </a:p>
          <a:p>
            <a:r>
              <a:t>References:</a:t>
            </a:r>
          </a:p>
          <a:p>
            <a:r>
              <a:t>Somppi S, Törnqvist H, Kujala MV, Hänninen L, Krause CM, Vainio O (2016). Dogs Evaluate Threatening Facial Expressions by Their Biological Validity – Evidence from Gazing Patterns. PLOS ONE 11(1): e0143047. https://doi.org/10.1371/journal.pone.0143047</a:t>
            </a:r>
          </a:p>
          <a:p>
            <a:r>
              <a:t>Figure sources:</a:t>
            </a:r>
          </a:p>
          <a:p>
            <a:r>
              <a:t>Somppi et al. (2016), Fig. 4. Original first-fixation targets and scanning paths; circle key is 500 ms. https://doi.org/10.1371/journal.pone.0143047</a:t>
            </a:r>
          </a:p>
          <a:p/>
          <a:p>
            <a:r>
              <a:t>Source-provided recording:</a:t>
            </a:r>
          </a:p>
          <a:p>
            <a:r>
              <a:t>Article video: Somppi et al. (2016), S2 Movie. Click video to play.</a:t>
            </a:r>
          </a:p>
          <a:p>
            <a:r>
              <a:t>Original stimulus block with author-supplied scanning paths. The displayed facial photographs are stimuli; the colored traces indicate measured gaze sampling.</a:t>
            </a:r>
          </a:p>
          <a:p>
            <a:r>
              <a:t>References:</a:t>
            </a:r>
          </a:p>
          <a:p>
            <a:r>
              <a:t>Somppi S, Törnqvist H, Kujala MV, Hänninen L, Krause CM, Vainio O (2016). Dogs Evaluate Threatening Facial Expressions by Their Biological Validity – Evidence from Gazing Patterns. PLOS ONE 11(1): e0143047. https://doi.org/10.1371/journal.pone.0143047</a:t>
            </a:r>
          </a:p>
          <a:p>
            <a:r>
              <a:t>Article DOI: https://doi.org/10.1371/journal.pone.0143047</a:t>
            </a:r>
          </a:p>
          <a:p>
            <a:r>
              <a:t>Original media URL: https://journals.plos.org/plosone/article/file?type=supplementary&amp;id=10.1371/journal.pone.0143047.s004</a:t>
            </a:r>
          </a:p>
          <a:p>
            <a:r>
              <a:t>Credit: Somppi et al.; original PLOS supplementary movie</a:t>
            </a:r>
          </a:p>
          <a:p>
            <a:r>
              <a:t>License: CC BY, https://creativecommons.org/licenses/by/4.0/</a:t>
            </a:r>
          </a:p>
          <a:p>
            <a:r>
              <a:t>Conversion: Original MP4 copied intact; no scene, timing, or audio edits.</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**Cross-modal recognition** is matching information carried by different senses. Quaranta and colleagues presented cats with two facial expressions of the same individual while playing a vocalization matching only one expression. A presentation lasted 5 s.</a:t>
            </a:r>
          </a:p>
          <a:p>
            <a:r>
              <a:t>• The face matching the hiss competes with a different expression of the same cat, limiting a simple explanation based on individual identity alone.</a:t>
            </a:r>
          </a:p>
          <a:p/>
          <a:p>
            <a:r>
              <a:t>• Cats looked longer at the congruent face when hearing a conspecific hiss. They also matched human anger and happiness vocalizations to the corresponding human expressions. **Congruent** means that the expression and sound belonged to the same emotional condition.</a:t>
            </a:r>
          </a:p>
          <a:p/>
          <a:p>
            <a:r>
              <a:t>• Neutral Brownian sound provided a control without the emotional vocal cue. Preferential matching supports integration of visual and auditory social information. It does not prove that cats experience the displayed emotion or identify the neurons performing this integration.</a:t>
            </a:r>
          </a:p>
          <a:p>
            <a:r>
              <a:t>References:</a:t>
            </a:r>
          </a:p>
          <a:p>
            <a:r>
              <a:t>Quaranta A, d’Ingeo S, Amoruso R, Siniscalchi M (2020). Emotion Recognition in Cats. Animals 10(7): 1107. https://doi.org/10.3390/ani10071107</a:t>
            </a:r>
          </a:p>
          <a:p>
            <a:r>
              <a:t>Figure sources:</a:t>
            </a:r>
          </a:p>
          <a:p>
            <a:r>
              <a:t>Quaranta et al. (2020), Fig. 3. Congruence scores for matching facial and vocal emotional cues. https://doi.org/10.3390/ani10071107</a:t>
            </a:r>
          </a:p>
          <a:p>
            <a:r>
              <a:t>Quaranta et al. (2020), Fig. 1 (cat rows). Hiss and purr faces with corresponding waveforms and sonograms. https://doi.org/10.3390/ani10071107</a:t>
            </a:r>
          </a:p>
          <a:p/>
          <a:p>
            <a:r>
              <a:t>Source-provided recording:</a:t>
            </a:r>
          </a:p>
          <a:p>
            <a:r>
              <a:t>Historical research: Masserman (1943), cat responding to a dog (silent). Click video to play.</a:t>
            </a:r>
          </a:p>
          <a:p>
            <a:r>
              <a:t>Related historical research footage, not the Quaranta et al. (2020) stimulus or subjects. Original intertitle explicitly identifies this as a cat with extensive hypothalamic lesions responding to dogs. Observe defensive posture and orientation in that experimental context. Silent original: no recorded hiss audio.</a:t>
            </a:r>
          </a:p>
          <a:p>
            <a:r>
              <a:t>References:</a:t>
            </a:r>
          </a:p>
          <a:p>
            <a:r>
              <a:t>Masserman JH (1943). Role of the hypothalamus in emotion and behavior [research film]. Penn State University, Psychological Cinema Register. Internet Archive educational film collection, OCLC 317041476; LCCN fia55001264.</a:t>
            </a:r>
          </a:p>
          <a:p>
            <a:r>
              <a:t>Research-film catalogue: https://archive.org/details/roleofthehypothalamusinemotionandbehavior</a:t>
            </a:r>
          </a:p>
          <a:p>
            <a:r>
              <a:t>Original media URL: https://archive.org/download/roleofthehypothalamusinemotionandbehavior/roleofthehypothalamusinemotionandbehavior.mp4</a:t>
            </a:r>
          </a:p>
          <a:p>
            <a:r>
              <a:t>Credit: Jules H. Masserman; Penn State University Psychological Cinema Register; digitized by Internet Archive.</a:t>
            </a:r>
          </a:p>
          <a:p>
            <a:r>
              <a:t>License: No explicit reuse license stated in archive metadata. Credited excerpt supplied for educational study; no claim of public-domain status.</a:t>
            </a:r>
          </a:p>
          <a:p>
            <a:r>
              <a:t>Conversion: Unaltered chronological excerpt from 465 to 488 seconds of the publicly downloadable archival film. Encoded H.264, native dimensions, frame rate and proportions retained. Original is silent; no added sound, color, overlays or speed changes.</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cat recognition study used hissing and purring recorded during different social conditions. Hiss recordings came from a threatening encounter involving an approaching dog; purr recordings came from relaxed interactions with owners.
• A sonogram depicts how acoustic frequency content varies through time; frequency is measured in kilohertz and elapsed time in seconds in the source figure.
• Recordings were adjusted to 69 dB at the tested cat’s position. Facial photographs were converted to grayscale in the published experiment. These controls reduced sound-intensity and image-color differences as explanations for matching an expression to a vocalization.
• Each audiovisual presentation lasted 5 s, allowing spontaneous gaze to either face. The published waveform and sonogram preserve time and frequency information from the actual stimuli. Matching cannot be reduced to loudness alone, but acoustic and facial features still differ between emotional conditions and contribute to their discrimination.
References:
Quaranta A, d’Ingeo S, Amoruso R, Siniscalchi M (2020). Emotion Recognition in Cats. Animals 10(7): 1107. https://doi.org/10.3390/ani10071107
Figure sources:
Quaranta et al. (2020), Fig. 1 (cat rows). Hiss and purr faces with corresponding waveforms and sonograms. https://doi.org/10.3390/ani10071107</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Quaranta and colleagues scored cats’ behavior during audiovisual presentations of human anger, human happiness, cat hissing, and cat purring. **Stress-related behavior** was operationalized as the observed frequency of specified behavioral signs, rather than inferred directly from facial matching.</a:t>
            </a:r>
          </a:p>
          <a:p>
            <a:r>
              <a:t>• Operationalization states exactly what was counted; it does not make the observed score identical to an unobserved subjective feeling.</a:t>
            </a:r>
          </a:p>
          <a:p/>
          <a:p>
            <a:r>
              <a:t>• Cats expressed more stress-related behavior during human anger and cat hiss presentations than during human happiness or cat purr presentations. Sounds were standardized to 69 dB, and the same 5 s presentation procedure was used across conditions.</a:t>
            </a:r>
          </a:p>
          <a:p/>
          <a:p>
            <a:r>
              <a:t>• The behavioral score complements the gaze measure by assessing the recipient’s response. It does not measure circulating stress hormones or record brain activity. A threatening communication signal can alter behavior even when the recipient does not attack the sender.</a:t>
            </a:r>
          </a:p>
          <a:p>
            <a:r>
              <a:t>References:</a:t>
            </a:r>
          </a:p>
          <a:p>
            <a:r>
              <a:t>Quaranta A, d’Ingeo S, Amoruso R, Siniscalchi M (2020). Emotion Recognition in Cats. Animals 10(7): 1107. https://doi.org/10.3390/ani10071107</a:t>
            </a:r>
          </a:p>
          <a:p>
            <a:r>
              <a:t>Figure sources:</a:t>
            </a:r>
          </a:p>
          <a:p>
            <a:r>
              <a:t>Quaranta et al. (2020), Fig. 4. Stress-related behavior during emotional stimulus presentations. https://doi.org/10.3390/ani10071107</a:t>
            </a:r>
          </a:p>
          <a:p>
            <a:r>
              <a:t>Quaranta et al. (2020), Fig. 1 (human rows). Happiness and anger stimuli with corresponding vocalizations. https://doi.org/10.3390/ani10071107</a:t>
            </a:r>
          </a:p>
          <a:p/>
          <a:p>
            <a:r>
              <a:t>Source-provided recording:</a:t>
            </a:r>
          </a:p>
          <a:p>
            <a:r>
              <a:t>Cat communication comparison: Humphrey et al. (2020), Supplementary Information 3 video. Click video to play.</a:t>
            </a:r>
          </a:p>
          <a:p>
            <a:r>
              <a:t>Publisher-supplied human–cat slow-blink demonstration provides a nonthreatening communication comparison. It is not footage of the Quaranta anger/hissing/purring experiment described in the original slide. Slow blinking is the repeated narrowing and closing of the eyes. The primary study compared cat eye responses and approach behavior after human slow blinking with control conditions.</a:t>
            </a:r>
          </a:p>
          <a:p>
            <a:r>
              <a:t>References:</a:t>
            </a:r>
          </a:p>
          <a:p>
            <a:r>
              <a:t>Humphrey T, Proops L, Forman J, Spooner R, McComb K (2020). The role of cat eye narrowing movements in cat–human communication. Scientific Reports 10:16503. https://doi.org/10.1038/s41598-020-73426-0</a:t>
            </a:r>
          </a:p>
          <a:p>
            <a:r>
              <a:t>Article DOI: https://doi.org/10.1038/s41598-020-73426-0</a:t>
            </a:r>
          </a:p>
          <a:p>
            <a:r>
              <a:t>Original media URL: https://www.nature.com/articles/s41598-020-73426-0#MOESM3</a:t>
            </a:r>
          </a:p>
          <a:p>
            <a:r>
              <a:t>Credit: Humphrey, Proops, Forman, Spooner and McComb; original Springer Nature supplementary video</a:t>
            </a:r>
          </a:p>
          <a:p>
            <a:r>
              <a:t>License: CC BY 4.0, https://creativecommons.org/licenses/by/4.0/</a:t>
            </a:r>
          </a:p>
          <a:p>
            <a:r>
              <a:t>Conversion: Publisher HLS video remuxed to MP4 at 1280×720. Full sequence and audio retained; no scene or timing edits.</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Cats did not display reliable preferential matching for the purr condition in the Quaranta study, although they matched cat hissing and both tested human emotional conditions. This asymmetry limits a claim that every affective vocalization is linked equally strongly to a distinctive facial expression.</a:t>
            </a:r>
          </a:p>
          <a:p>
            <a:r>
              <a:t>• A null matching result concerns the experimental contrast, not the animal’s general ability to hear or interpret the vocalization.</a:t>
            </a:r>
          </a:p>
          <a:p/>
          <a:p>
            <a:r>
              <a:t>• The **congruence index** describes relative looking toward the matching face. A value of 1 indicates exclusive matching-face looking, a value of −1 indicates exclusive nonmatching-face looking, and zero indicates balanced looking.</a:t>
            </a:r>
          </a:p>
          <a:p/>
          <a:p>
            <a:r>
              <a:t>• Presentations lasted 5 s and compared expressions of the same individual. The absence of reliable purr matching may reflect the tested cues, task, or their salience. It does not establish that cats cannot perceive purring or recognize relaxed social contexts.</a:t>
            </a:r>
          </a:p>
          <a:p>
            <a:r>
              <a:t>References:</a:t>
            </a:r>
          </a:p>
          <a:p>
            <a:r>
              <a:t>Quaranta A, d’Ingeo S, Amoruso R, Siniscalchi M (2020). Emotion Recognition in Cats. Animals 10(7): 1107. https://doi.org/10.3390/ani10071107</a:t>
            </a:r>
          </a:p>
          <a:p>
            <a:r>
              <a:t>Figure sources:</a:t>
            </a:r>
          </a:p>
          <a:p>
            <a:r>
              <a:t>Quaranta et al. (2020), Fig. 3. Congruence scores for matching facial and vocal emotional cues. https://doi.org/10.3390/ani10071107</a:t>
            </a:r>
          </a:p>
          <a:p>
            <a:r>
              <a:t>Quaranta et al. (2020), Fig. 1 (cat rows). Hiss and purr faces with corresponding waveforms and sonograms. https://doi.org/10.3390/ani10071107</a:t>
            </a:r>
          </a:p>
          <a:p/>
          <a:p>
            <a:r>
              <a:t>Source-provided recording:</a:t>
            </a:r>
          </a:p>
          <a:p>
            <a:r>
              <a:t>Cat communication comparison: Humphrey et al. (2020), Supplementary Information 2 video. Click video to play.</a:t>
            </a:r>
          </a:p>
          <a:p>
            <a:r>
              <a:t>Publisher-supplied human–cat slow-blink demonstration provides a nonthreatening communication comparison. It is not footage of the Quaranta anger/hissing/purring experiment described in the original slide. Slow blinking is the repeated narrowing and closing of the eyes. The primary study compared cat eye responses and approach behavior after human slow blinking with control conditions.</a:t>
            </a:r>
          </a:p>
          <a:p>
            <a:r>
              <a:t>References:</a:t>
            </a:r>
          </a:p>
          <a:p>
            <a:r>
              <a:t>Humphrey T, Proops L, Forman J, Spooner R, McComb K (2020). The role of cat eye narrowing movements in cat–human communication. Scientific Reports 10:16503. https://doi.org/10.1038/s41598-020-73426-0</a:t>
            </a:r>
          </a:p>
          <a:p>
            <a:r>
              <a:t>Article DOI: https://doi.org/10.1038/s41598-020-73426-0</a:t>
            </a:r>
          </a:p>
          <a:p>
            <a:r>
              <a:t>Original media URL: https://www.nature.com/articles/s41598-020-73426-0#MOESM2</a:t>
            </a:r>
          </a:p>
          <a:p>
            <a:r>
              <a:t>Credit: Humphrey, Proops, Forman, Spooner and McComb; original Springer Nature supplementary video</a:t>
            </a:r>
          </a:p>
          <a:p>
            <a:r>
              <a:t>License: CC BY 4.0, https://creativecommons.org/licenses/by/4.0/</a:t>
            </a:r>
          </a:p>
          <a:p>
            <a:r>
              <a:t>Conversion: Publisher HLS video remuxed to MP4 at 1280×720. Full sequence and audio retained; no scene or timing edits.</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cat recognition experiment paired emotional faces with a neutral Brownian sound as a control condition. **Brownian sound** is a nonvocal noise stimulus; here it supplied auditory stimulation without a human or cat emotional vocalization.
• The design controls for a baseline picture preference while preserving an auditory event in the control condition.
• Cats did not reliably prefer either emotional face in these control presentations. In contrast, human anger and happiness vocalizations supported preferential looking toward the matching expression during 5 s trials. Owners were instructed to avoid interacting with their cats during the presentations.
• The neutral condition weakens an explanation based solely on a fixed preference for one facial photograph. Because no sensory pathway was disrupted, the experiment establishes behavioral audiovisual matching rather than causal dependence on a specific brain region or receptor.
References:
Quaranta A, d’Ingeo S, Amoruso R, Siniscalchi M (2020). Emotion Recognition in Cats. Animals 10(7): 1107. https://doi.org/10.3390/ani10071107
Figure sources:
Quaranta et al. (2020), Fig. 3. Congruence scores for matching facial and vocal emotional cues. https://doi.org/10.3390/ani10071107
Quaranta et al. (2020), Fig. 1 (human rows). Happiness and anger stimuli with corresponding vocalizations. https://doi.org/10.3390/ani10071107</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**Fear** refers to a defensive response associated with a threat, while anxiety-related traits describe broader recurring patterns of apprehensive behavior. Salonen and colleagues used owner reports to assess noise sensitivity, social fear, surface-related fear, and several other behavioral traits.</a:t>
            </a:r>
          </a:p>
          <a:p>
            <a:r>
              <a:t>• An owner questionnaire samples recurring behavior in the home environment; it does not expose each dog to an identical calibrated threat.</a:t>
            </a:r>
          </a:p>
          <a:p/>
          <a:p>
            <a:r>
              <a:t>• Highly noise-sensitive behavior was reported in 32% of the surveyed dogs, and fear in 29%. Fireworks were the most commonly reported noise trigger. Fear of other dogs was the most common social-fear subtrait in this sample.</a:t>
            </a:r>
          </a:p>
          <a:p/>
          <a:p>
            <a:r>
              <a:t>• These percentages describe the recruited survey population and the study’s operational thresholds. They do not establish population-wide prevalence or identify a neurotransmitter deficiency. Distinguishing triggers preserves information about sensory context that would be lost by treating all fearful behavior as one uniform phenotype.</a:t>
            </a:r>
          </a:p>
          <a:p>
            <a:r>
              <a:t>References:</a:t>
            </a:r>
          </a:p>
          <a:p>
            <a:r>
              <a:t>Salonen M, Sulkama S, Mikkola S, Puurunen J, Hakanen E, Tiira K, Araujo C, Lohi H (2020). Prevalence, comorbidity, and breed differences in canine anxiety in 13,700 Finnish pet dogs. Scientific Reports 10(1): 2962. https://doi.org/10.1038/s41598-020-59837-z</a:t>
            </a:r>
          </a:p>
          <a:p>
            <a:r>
              <a:t>Figure sources:</a:t>
            </a:r>
          </a:p>
          <a:p>
            <a:r>
              <a:t>Salonen et al. (2020), Fig. 1a,b. Reported prevalence of canine anxiety traits and subtraits. https://doi.org/10.1038/s41598-020-59837-z</a:t>
            </a:r>
          </a:p>
          <a:p/>
          <a:p>
            <a:r>
              <a:t>Source-provided recording:</a:t>
            </a:r>
          </a:p>
          <a:p>
            <a:r>
              <a:t>Dog behavior comparison: Wan et al. (2012), Video S2. Click video to play.</a:t>
            </a:r>
          </a:p>
          <a:p>
            <a:r>
              <a:t>Related primary-study stimulus Video#12, categorized as fearful by expert consensus. Use to examine observable posture and facial behavior; this is not a recording from the Salonen questionnaire study on this slide.</a:t>
            </a:r>
          </a:p>
          <a:p>
            <a:r>
              <a:t>References:</a:t>
            </a:r>
          </a:p>
          <a:p>
            <a:r>
              <a:t>Wan M, Bolger N, Champagne FA (2012). Human Perception of Fear in Dogs Varies According to Experience with Dogs. PLOS ONE 7(12): e51775. https://doi.org/10.1371/journal.pone.0051775</a:t>
            </a:r>
          </a:p>
          <a:p>
            <a:r>
              <a:t>Article DOI: https://doi.org/10.1371/journal.pone.0051775</a:t>
            </a:r>
          </a:p>
          <a:p>
            <a:r>
              <a:t>Original media URL: https://journals.plos.org/plosone/article/file?type=supplementary&amp;id=10.1371/journal.pone.0051775.s004</a:t>
            </a:r>
          </a:p>
          <a:p>
            <a:r>
              <a:t>Credit: Wan, Bolger and Champagne; article-supplied stimulus, sourced by the study from videographers and dog behavior professionals</a:t>
            </a:r>
          </a:p>
          <a:p>
            <a:r>
              <a:t>License: CC BY, https://creativecommons.org/licenses/by/4.0/</a:t>
            </a:r>
          </a:p>
          <a:p>
            <a:r>
              <a:t>Conversion: Converted MPEG-4 Part 2 video to H.264 and AAC for PowerPoint compatibility. Full sequence retained, no scene or timing edits; non-playable auxiliary data tracks omitted.</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**Comorbidity** is the occurrence of more than one classified condition in the same individual. In Salonen and colleagues’ owner-reported survey, dogs classified as aggressive were 3.2 times more often classified as fearful than dogs without that aggression classification.</a:t>
            </a:r>
          </a:p>
          <a:p>
            <a:r>
              <a:t>• A relative risk compares the frequency of a trait between groups; it is not a direct measurement of a synaptic interaction.</a:t>
            </a:r>
          </a:p>
          <a:p/>
          <a:p>
            <a:r>
              <a:t>• The study separately scored fear and aggression, rather than defining aggression as proof of fear. Fear also overlapped with noise sensitivity and separation-related behavior. These associations connect several behavioral dimensions while preserving their separate definitions.</a:t>
            </a:r>
          </a:p>
          <a:p/>
          <a:p>
            <a:r>
              <a:t>• A cross-sectional survey measures co-occurrence at the time of reporting. It cannot establish that fear caused aggression, that aggression caused fear, or that both depend on the same neural mechanism. Shared environments, inherited predispositions, and reporting patterns remain possible contributors to the association.</a:t>
            </a:r>
          </a:p>
          <a:p>
            <a:r>
              <a:t>References:</a:t>
            </a:r>
          </a:p>
          <a:p>
            <a:r>
              <a:t>Salonen M, Sulkama S, Mikkola S, Puurunen J, Hakanen E, Tiira K, Araujo C, Lohi H (2020). Prevalence, comorbidity, and breed differences in canine anxiety in 13,700 Finnish pet dogs. Scientific Reports 10(1): 2962. https://doi.org/10.1038/s41598-020-59837-z</a:t>
            </a:r>
          </a:p>
          <a:p>
            <a:r>
              <a:t>Figure sources:</a:t>
            </a:r>
          </a:p>
          <a:p>
            <a:r>
              <a:t>Salonen et al. (2020), Fig. 2b. Relative risks of co-occurring reported traits. https://doi.org/10.1038/s41598-020-59837-z</a:t>
            </a:r>
          </a:p>
          <a:p/>
          <a:p>
            <a:r>
              <a:t>Source-provided recording:</a:t>
            </a:r>
          </a:p>
          <a:p>
            <a:r>
              <a:t>Dog behavior comparison: Wan et al. (2012), Video S1. Click video to play.</a:t>
            </a:r>
          </a:p>
          <a:p>
            <a:r>
              <a:t>Related primary-study stimulus Video#9, categorized as happy by expert consensus, provides a contrast with the fearful clip on slide 13. This is not a recording of aggression or a direct measurement of neural activity.</a:t>
            </a:r>
          </a:p>
          <a:p>
            <a:r>
              <a:t>References:</a:t>
            </a:r>
          </a:p>
          <a:p>
            <a:r>
              <a:t>Wan M, Bolger N, Champagne FA (2012). Human Perception of Fear in Dogs Varies According to Experience with Dogs. PLOS ONE 7(12): e51775. https://doi.org/10.1371/journal.pone.0051775</a:t>
            </a:r>
          </a:p>
          <a:p>
            <a:r>
              <a:t>Article DOI: https://doi.org/10.1371/journal.pone.0051775</a:t>
            </a:r>
          </a:p>
          <a:p>
            <a:r>
              <a:t>Original media URL: https://journals.plos.org/plosone/article/file?type=supplementary&amp;id=10.1371/journal.pone.0051775.s003</a:t>
            </a:r>
          </a:p>
          <a:p>
            <a:r>
              <a:t>Credit: Wan, Bolger and Champagne; article-supplied stimulus, sourced by the study from videographers and dog behavior professionals</a:t>
            </a:r>
          </a:p>
          <a:p>
            <a:r>
              <a:t>License: CC BY, https://creativecommons.org/licenses/by/4.0/</a:t>
            </a:r>
          </a:p>
          <a:p>
            <a:r>
              <a:t>Conversion: Converted MPEG-4 Part 2 video to H.264 and AAC for PowerPoint compatibility. Full sequence retained, no scene or timing edits; non-playable auxiliary data tracks omitted.</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Salonen and colleagues compared reported anxiety-related traits across ages and sexes. Noise sensitivity, particularly fear of thunder, increased with age in their survey, while female dogs were more often classified as fearful and male dogs more often classified as aggressive.
• An age association within a survey is distinct from repeatedly following the same animal as its behavior changes over time.
• The dogs ranged from young puppies to older adults, extending the observations across much of the canine lifespan. The questionnaire distinguished fear of other dogs, strangers, and novel situations from aggression toward people and other behavioral categories.
• These associations describe variation rather than an experimental effect of aging or sex hormones. Cohort differences, prior experiences, health, and owner interpretation were not eliminated by assigning dogs randomly to these characteristics. The survey provides behavioral context, but receptor-level explanations require a different experimental design.
References:
Salonen M, Sulkama S, Mikkola S, Puurunen J, Hakanen E, Tiira K, Araujo C, Lohi H (2020). Prevalence, comorbidity, and breed differences in canine anxiety in 13,700 Finnish pet dogs. Scientific Reports 10(1): 2962. https://doi.org/10.1038/s41598-020-59837-z
Figure sources:
Salonen et al. (2020), Fig. 3a–d. Age and sex distributions of reported behavioral traits. https://doi.org/10.1038/s41598-020-59837-z</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t>• **Defensive rage** is the historical name for a coordinated feline defensive response elicited experimentally, including hissing, ear retraction, piloerection, back arching, and strikes with the paws. **Piloerection** means raising the hairs rather than a separate act of attack.</a:t>
            </a:r>
          </a:p>
          <a:p>
            <a:r>
              <a:t>• The hypothalamus lies in the forebrain, whereas the PAG lies in the midbrain; their interaction links distributed structures rather than one compact fear center.</a:t>
            </a:r>
          </a:p>
          <a:p/>
          <a:p>
            <a:r>
              <a:t>• Lu and colleagues elicited the response from the medial hypothalamus and the dorsal **periaqueductal gray**, or PAG, the midbrain gray matter surrounding the cerebral aqueduct. They measured the time from stimulation onset to hissing, with stimulation limited to 15 s.</a:t>
            </a:r>
          </a:p>
          <a:p/>
          <a:p>
            <a:r>
              <a:t>• Electrical stimulation tests whether activity at a site can recruit a behavioral pattern. It does not reproduce recognition of a particular natural threat or measure subjective fear. The elicited response includes vocal, postural, and autonomic components rather than a single isolated movement.</a:t>
            </a:r>
          </a:p>
          <a:p>
            <a:r>
              <a:t>References:</a:t>
            </a:r>
          </a:p>
          <a:p>
            <a:r>
              <a:t>Lu CL, Shaikh MB, Siegel A (1992). Role of NMDA receptors in hypothalamic facilitation of feline defensive rage elicited from the midbrain periaqueductal gray. Brain Research 581(1): 123-132. https://doi.org/10.1016/0006-8993(92)90351-9</a:t>
            </a:r>
          </a:p>
          <a:p>
            <a:r>
              <a:t>Bhatt S, Bhatt R, Zalcman SS, Siegel A (2008). Role of IL-1β and 5-HT2 receptors in midbrain periaqueductal gray (PAG) in potentiating defensive rage behavior in cat. Brain, Behavior, and Immunity 22(2): 224-233. https://doi.org/10.1016/j.bbi.2007.07.011</a:t>
            </a:r>
          </a:p>
          <a:p>
            <a:r>
              <a:t>Figure sources:</a:t>
            </a:r>
          </a:p>
          <a:p>
            <a:r>
              <a:t>Lu et al. (1992), Fig. 1A,B. PAG and medial hypothalamic stimulation sites. https://doi.org/10.1016/0006-8993(92)90351-9</a:t>
            </a:r>
          </a:p>
          <a:p>
            <a:r>
              <a:t>Bhatt et al. (2008), Fig. 6A,D. PAG tissue surrounding the aqueduct and receptor labeling; 100 μm bar. https://doi.org/10.1016/j.bbi.2007.07.011</a:t>
            </a:r>
          </a:p>
          <a:p/>
          <a:p>
            <a:r>
              <a:t>Source-provided recording:</a:t>
            </a:r>
          </a:p>
          <a:p>
            <a:r>
              <a:t>Historical research: Masserman (1943), induced defensive response (silent). Click video to play.</a:t>
            </a:r>
          </a:p>
          <a:p>
            <a:r>
              <a:t>Historical hypothalamic stimulation experiment, not a recording from Lu et al. (1992) or Bhatt et al. (2008). Original intertitle calls the response pseudo-affective or sham rage. Observe posture and coordinated motor responses; this does not measure subjective fear. Silent original: no recorded hiss audio.</a:t>
            </a:r>
          </a:p>
          <a:p>
            <a:r>
              <a:t>References:</a:t>
            </a:r>
          </a:p>
          <a:p>
            <a:r>
              <a:t>Masserman JH (1943). Role of the hypothalamus in emotion and behavior [research film]. Penn State University, Psychological Cinema Register. Internet Archive educational film collection, OCLC 317041476; LCCN fia55001264.</a:t>
            </a:r>
          </a:p>
          <a:p>
            <a:r>
              <a:t>Research-film catalogue: https://archive.org/details/roleofthehypothalamusinemotionandbehavior</a:t>
            </a:r>
          </a:p>
          <a:p>
            <a:r>
              <a:t>Original media URL: https://archive.org/download/roleofthehypothalamusinemotionandbehavior/roleofthehypothalamusinemotionandbehavior.mp4</a:t>
            </a:r>
          </a:p>
          <a:p>
            <a:r>
              <a:t>Credit: Jules H. Masserman; Penn State University Psychological Cinema Register; digitized by Internet Archive.</a:t>
            </a:r>
          </a:p>
          <a:p>
            <a:r>
              <a:t>License: No explicit reuse license stated in archive metadata. Credited excerpt supplied for educational study; no claim of public-domain status.</a:t>
            </a:r>
          </a:p>
          <a:p>
            <a:r>
              <a:t>Conversion: Unaltered chronological excerpt from 0 to 49 seconds of the publicly downloadable archival film. Encoded H.264, native dimensions, frame rate and proportions retained. Original is silent; no added sound, color, overlays or speed changes.</a:t>
            </a:r>
          </a:p>
          <a:p>
            <a:r>
              <a:t>Click the separate video during Slide Show for full-screen playback. Its poster is an unedited frame from the recording. Original article figures remain separately visible. PowerPoint GUI playback was unavailable for testing. Google Slides imports may omit embedded media: upload the supplied MP4s to Drive and insert them as Google Slides videos.</a:t>
            </a:r>
          </a:p>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Lu and colleagues stimulated a PAG site that elicited hissing and paired it with medial hypothalamic stimulation below the level required to elicit behavior by itself. **Facilitation** means that the combined input made the PAG-elicited response occur sooner.
• A subthreshold input need not produce visible behavior alone to alter the response to activity elsewhere in the circuit.
• At matched PAG stimulation parameters, concurrent hypothalamic stimulation shortened hissing latency. Before the highest kynurenic-acid dose, the dual-stimulation response was about 37% faster than the PAG-only response. Alternating single and dual trials provided a comparison within the same preparation.
• This procedure establishes a functional interaction between the selected sites. Electrical current can excite several elements, including passing fibers, so the result alone does not identify a monosynaptic connection or the transmitter responsible for facilitation.
References:
Lu CL, Shaikh MB, Siegel A (1992). Role of NMDA receptors in hypothalamic facilitation of feline defensive rage elicited from the midbrain periaqueductal gray. Brain Research 581(1): 123-132. https://doi.org/10.1016/0006-8993(92)90351-9
Figure sources:
Lu et al. (1992), Fig. 2. Kynurenic acid reverses hypothalamic facilitation of the PAG response. https://doi.org/10.1016/0006-8993(92)90351-9
Lu et al. (1992), Fig. 1A,B. PAG and medial hypothalamic stimulation sites. https://doi.org/10.1016/0006-8993(92)90351-9</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**Excitatory amino acids** are amino-acid neurotransmitters capable of increasing neuronal excitation. Lu and colleagues injected kynurenic acid, an antagonist blocking several excitatory amino-acid receptor classes, into the PAG site used for eliciting defensive rage.
• An antagonist interferes with receptor activation; local delivery narrows the tested site but does not restrict the intervention to a genetically defined cell population.
• A 2.0 nmol injection reversed medial hypothalamic facilitation. At 15 min, dual-stimulation hissing latency rose above the PAG-only reference instead of remaining shorter. Lower doses produced smaller or shorter-lasting effects, and the response recovered over time.
• The drug was delivered locally while electrical stimulation parameters remained unchanged. This supports excitatory amino-acid receptor participation at the PAG target region. Because kynurenic acid is not selective for one receptor class, this experiment cannot by itself assign the effect specifically to NMDA receptors.
References:
Lu CL, Shaikh MB, Siegel A (1992). Role of NMDA receptors in hypothalamic facilitation of feline defensive rage elicited from the midbrain periaqueductal gray. Brain Research 581(1): 123-132. https://doi.org/10.1016/0006-8993(92)90351-9
Figure sources:
Lu et al. (1992), Fig. 2. Kynurenic acid reverses hypothalamic facilitation of the PAG response. https://doi.org/10.1016/0006-8993(92)90351-9
Lu et al. (1992), Fig. 1A,B. PAG and medial hypothalamic stimulation sites. https://doi.org/10.1016/0006-8993(92)90351-9</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**NMDA receptors** are excitatory amino-acid receptors named for the agonist N-methyl-D-aspartate. An **agonist** activates a receptor, whereas an antagonist reduces its activation. Lu and colleagues tested the selective NMDA antagonist AP7 inside the PAG.
• NMDA receptors link transmitter binding to excitatory ion-channel signaling; the behavioral intervention tests receptor participation rather than the detailed current through the channel.
• A 2 nmol AP7 injection changed dual-stimulation latency from about 17% below the PAG-only reference to about 42% above it during the early post-injection period. The effect weakened with recovery; 0.1 nmol AP7 did not produce a comparable blockade.
• The combination of receptor selectivity, dose dependence, and recovery supports NMDA participation in hypothalamic facilitation. Hissing latency is the measured output. The study did not record membrane current or identify which PAG neurons express the behaviorally relevant receptors.
References:
Lu CL, Shaikh MB, Siegel A (1992). Role of NMDA receptors in hypothalamic facilitation of feline defensive rage elicited from the midbrain periaqueductal gray. Brain Research 581(1): 123-132. https://doi.org/10.1016/0006-8993(92)90351-9
Figure sources:
Lu et al. (1992), Fig. 3. AP7 dose and recovery time compared with CNQX. https://doi.org/10.1016/0006-8993(92)90351-9
Lu et al. (1992), Fig. 1A,B. PAG and medial hypothalamic stimulation sites. https://doi.org/10.1016/0006-8993(92)90351-9</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Lu and colleagues directly injected NMDA into PAG defensive sites without concurrent stimulation of the hypothalamus. This tested whether local receptor activation could reproduce the facilitation associated with the upstream input while the PAG stimulation procedure remained in place.
• The colored anatomical tissue is the published PAG section from Bhatt and colleagues; it locates the region rather than measuring the NMDA experiment’s neuronal activity.
• A 1.0 nmol NMDA injection shortened hissing latency by about 48% during the first 5–15 min. A 0.5 nmol dose produced a smaller, approximately 27% reduction. Latencies returned toward baseline within the subsequent observation periods.
• Local activation therefore supplied a facilitatory influence on an electrically elicited response. It did not establish that NMDA alone generates a complete natural defensive episode. The transient dose-dependent result supports modulation of PAG excitability rather than permanent alteration of the circuit.
References:
Lu CL, Shaikh MB, Siegel A (1992). Role of NMDA receptors in hypothalamic facilitation of feline defensive rage elicited from the midbrain periaqueductal gray. Brain Research 581(1): 123-132. https://doi.org/10.1016/0006-8993(92)90351-9
Bhatt S, Bhatt R, Zalcman SS, Siegel A (2008). Role of IL-1β and 5-HT2 receptors in midbrain periaqueductal gray (PAG) in potentiating defensive rage behavior in cat. Brain, Behavior, and Immunity 22(2): 224-233. https://doi.org/10.1016/j.bbi.2007.07.011
Figure sources:
Lu et al. (1992), Fig. 4. NMDA microinjection decreases hissing latency. https://doi.org/10.1016/0006-8993(92)90351-9
Bhatt et al. (2008), Fig. 6A,D. PAG tissue surrounding the aqueduct and receptor labeling; 100 μm bar. https://doi.org/10.1016/j.bbi.2007.07.011</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Lu and colleagues compared NMDA blockade with other receptor interventions at the same PAG sites. CNQX, which blocks non-NMDA excitatory amino-acid receptors, produced only small changes at 4 nmol. Atropine, a muscarinic acetylcholine receptor antagonist, had little effect at 4.4 nmol.
• Receptor-class controls address pharmacological specificity, but they do not establish that every possible alternative transmitter has been excluded.
• These local injections were compared with the larger reversal produced by AP7. The contrast narrows the explanation for medial hypothalamic facilitation toward NMDA receptor participation rather than indiscriminate disruption by fluid delivery or any receptor antagonist.
• A negative result is limited to the dose, site, and response tested. It does not exclude non-NMDA or muscarinic signaling elsewhere in the brain, during sensory recognition, or under natural threat conditions. The intervention addresses one experimentally activated circuit link.
References:
Lu CL, Shaikh MB, Siegel A (1992). Role of NMDA receptors in hypothalamic facilitation of feline defensive rage elicited from the midbrain periaqueductal gray. Brain Research 581(1): 123-132. https://doi.org/10.1016/0006-8993(92)90351-9
Figure sources:
Lu et al. (1992), Fig. 3. AP7 dose and recovery time compared with CNQX. https://doi.org/10.1016/0006-8993(92)90351-9
Lu et al. (1992), Fig. 1A,B. PAG and medial hypothalamic stimulation sites. https://doi.org/10.1016/0006-8993(92)90351-9</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**Retrograde tracing** labels neurons by transporting a marker from their axonal terminal region back to their cell bodies. Lu and colleagues injected Fluoro-Gold into behaviorally identified PAG sites and examined hypothalamic labeling after 5–6 days.
• Perifornical means near the fornix; labeling location specifies where candidate projecting neurons occur without claiming a uniform function for every cell in that region.
• Labeled neurons extended through the medial hypothalamus, with concentrations in dorsomedial and perifornical regions. Immunocytochemistry, the use of antibodies to detect tissue components, identified aspartate- or glutamate-positive cells, including cells also carrying the retrograde marker.
• Double labeling supports an anatomical projection containing excitatory amino-acid-associated neurons. It does not directly measure transmitter release during hissing or verify that every labeled cell participates in defense. Projection anatomy and the receptor-blockade results supply different kinds of evidence for the same proposed pathway.
References:
Lu CL, Shaikh MB, Siegel A (1992). Role of NMDA receptors in hypothalamic facilitation of feline defensive rage elicited from the midbrain periaqueductal gray. Brain Research 581(1): 123-132. https://doi.org/10.1016/0006-8993(92)90351-9
Figure sources:
Lu et al. (1992), Fig. 5A,B. PAG tracer sites and hypothalamic amino-acid labeling. https://doi.org/10.1016/0006-8993(92)90351-9
Lu et al. (1992), Fig. 6D–F. Retrogradely labeled hypothalamic cells and double-labeled neuron. https://doi.org/10.1016/0006-8993(92)90351-9</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Lu study detected aspartate-positive fibers and preterminal profiles in the dorsal PAG. **Preterminal** refers to an axonal segment approaching a terminal region. Aspartate-positive cells and retrogradely labeled cells also occurred in the medial hypothalamus.
• A scale bar indicates the physical extent represented in tissue; antibody labeling detects molecular presence rather than electrical signaling during behavior.
• A neuron could carry both Fluoro-Gold from the PAG projection target and amino-acid immunoreactivity. The published tissue panels preserve 100 μm and 25 μm scale bars, distinguishing regional localization from individual cellular labeling.
• These observations are compatible with an excitatory descending connection acting through PAG NMDA receptors. Amino-acid immunoreactivity alone does not prove synaptic release, and the study did not record identified synapses. The stronger interpretation depends on agreement between anatomical labeling and local pharmacological manipulation of hissing latency.
References:
Lu CL, Shaikh MB, Siegel A (1992). Role of NMDA receptors in hypothalamic facilitation of feline defensive rage elicited from the midbrain periaqueductal gray. Brain Research 581(1): 123-132. https://doi.org/10.1016/0006-8993(92)90351-9
Bhatt S, Bhatt R, Zalcman SS, Siegel A (2008). Role of IL-1β and 5-HT2 receptors in midbrain periaqueductal gray (PAG) in potentiating defensive rage behavior in cat. Brain, Behavior, and Immunity 22(2): 224-233. https://doi.org/10.1016/j.bbi.2007.07.011
Figure sources:
Lu et al. (1992), Fig. 6A–C. PAG tracer site, aspartate-positive fibers, and hypothalamic cells. https://doi.org/10.1016/0006-8993(92)90351-9
Bhatt et al. (2008), Fig. 6A,D. PAG tissue surrounding the aqueduct and receptor labeling; 100 μm bar. https://doi.org/10.1016/j.bbi.2007.07.011</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Cheu and Siegel paired stimulation of a medial hypothalamic defensive site with stimulation of the lateral hypothalamus. **Inhibition** here means a reduction in expression of the elicited defensive response, operationalized as a longer latency to hissing.
• Medial and lateral describe positions relative to the brain’s midline; they distinguish the stimulated territories rather than two names for the same site.
• With medial stimulation alone, mean latency was 7.21 s; during dual medial and lateral stimulation it was 12.28 s. These differences persisted during the saline-control observation period, rather than appearing only after a drug injection.
• The result contrasts with the facilitatory medial-hypothalamic–PAG relationship. A region can influence defense by suppressing another site’s output, not only by driving a response directly. Electrical interaction establishes functional suppression but does not, by itself, identify the inhibitory transmitter or the contributing cells.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2. Single and dual stimulation differ in hiss latency. https://doi.org/10.1016/s0006-8993(97)01357-7
Cheu &amp; Siegel (1998), Fig. 1. Medial defensive sites and lateral suppressive sites. https://doi.org/10.1016/s0006-8993(97)01357-7</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**GABA**, gamma-aminobutyric acid, is an inhibitory neurotransmitter. Cheu and Siegel injected bicuculline, a GABA-A receptor antagonist, into the medial hypothalamic site while testing lateral hypothalamic suppression of defensive rage.
• GABA-A receptors are ion-channel receptors whose activation generally reduces neuronal excitation; the experiment tests their behavioral contribution without recording chloride currents.
• At 60 pmol, bicuculline reduced the suppressive effect from about 73% before injection to about 15% in the early observation period. The suppression returned toward baseline by 180–200 min. A 10 pmol dose and saline did not produce the same blockade.
• This local, reversible effect supports a GABA-A-dependent component of the inhibitory influence reaching the medial hypothalamus. It does not establish the pattern of GABA release during spontaneous fear. The study measured behavior after circuit stimulation rather than identified-cell firing in a natural encounter.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3. Bicuculline blocks lateral hypothalamic suppression. https://doi.org/10.1016/s0006-8993(97)01357-7
Cheu &amp; Siegel (1998), Fig. 9. Original medial hypothalamic tracer injection histology and localization. https://doi.org/10.1016/s0006-8993(97)01357-7</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Cheu and Siegel activated medial hypothalamic GABA-A receptors with **muscimol**, a receptor agonist, instead of stimulating the lateral inhibitory site. The question was whether local receptor activation could suppress defensive output from the target region.
• The source plot reports a change in current threshold in microamperes; a higher threshold means the same stimulation becomes less effective at eliciting the defensive response.
• A 30 pmol muscimol injection increased the stimulation-current threshold by about 155 μA early after delivery. **Threshold** means the electrical current required to elicit the response. Lower doses lacked the same pronounced effect, and the increase weakened over time.
• The threshold measurement differs from hissing latency at a fixed current. A stronger input was required to recruit behavior after local inhibition. This supports receptor-dependent suppression, but it does not establish a clinical treatment for fearful cats or determine how natural threat recognition recruits the circuit.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5. Muscimol increases the current threshold for defensive rage. https://doi.org/10.1016/s0006-8993(97)01357-7
Cheu &amp; Siegel (1998), Fig. 9. Original medial hypothalamic tracer injection histology and localization. https://doi.org/10.1016/s0006-8993(97)01357-7</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Cheu and Siegel pretreated the medial hypothalamic site with bicuculline before injecting muscimol. **Pretreatment** means applying one intervention before another to test whether the second effect depends on the blocked receptor class.
• The two drugs act in opposing directions at the same receptor class; their interaction provides a receptor-level control on the behavioral interpretation.
• A 60 pmol bicuculline pretreatment opposed suppression caused by 30 pmol muscimol. The early stimulation-threshold increase was reduced by about 143 μA relative to the muscimol-plus-saline condition. A lower bicuculline dose produced a smaller reversal.
• The agonist–antagonist comparison supports GABA-A receptor participation more specifically than an agonist effect alone. It reduces the likelihood that the response reflects only injected volume or an unrelated muscimol action. It does not determine which individual cells were inhibited within the injection territory.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6. Bicuculline pretreatment blocks muscimol suppression. https://doi.org/10.1016/s0006-8993(97)01357-7
Cheu &amp; Siegel (1998), Fig. 9. Original medial hypothalamic tracer injection histology and localization. https://doi.org/10.1016/s0006-8993(97)01357-7</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GABA-A and **GABA-B** are different receptor classes. GABA-A receptors directly gate ion-channel signaling, whereas GABA-B receptors act through intracellular signaling proteins. Cheu and Siegel compared a GABA-B agonist with the GABA-A agonist used in their medial hypothalamic experiments.
• The preparation measures a behavioral consequence of receptor activation, not the number of receptors present or their affinity for the two drugs.
• Baclofen at 120 pmol did not alter the latency or current threshold for defensive rage from the tested site. This dose was four times the highest muscimol dose used in the study, which had increased the response threshold.
• The contrast supports receptor-class selectivity under these experimental conditions. Equal amounts of different drugs do not imply equal receptor occupancy, so the finding does not prove that GABA-B receptors are absent or irrelevant throughout feline defensive circuitry.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7. Baclofen leaves hissing latency unchanged. https://doi.org/10.1016/s0006-8993(97)01357-7
Cheu &amp; Siegel (1998), Fig. 9. Original medial hypothalamic tracer injection histology and localization. https://doi.org/10.1016/s0006-8993(97)01357-7</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Local injection narrows a pharmacological intervention to a region, but diffusion can complicate localization. Cheu and Siegel tested whether muscimol’s suppressive effect extended from the medial hypothalamus into adjoining lateral hypothalamic tissue.
• An injection-site control tests whether a drug has the same consequence nearby; it does not equate pharmacological silencing with electrical stimulation of a region.
• A 60 pmol muscimol injection into the lateral hypothalamus did not change the latency or threshold for defense elicited from the medial site. This dose was twice the medial dose producing pronounced suppression. Tracer injections were also checked for their anatomical extent.
• The neighboring-site comparison supports regional specificity of the suppressive effect. It does not prove that all drug remained within one microscopic nucleus or that the lateral hypothalamus lacks a role in defense. Its electrical stimulation had already supplied a distinct inhibitory influence on the medial response.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8. Lateral hypothalamic muscimol leaves latency unchanged. https://doi.org/10.1016/s0006-8993(97)01357-7
Cheu &amp; Siegel (1998), Fig. 9. Original medial hypothalamic tracer injection histology and localization. https://doi.org/10.1016/s0006-8993(97)01357-7</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Cheu and Siegel injected Fluoro-Gold into the medial hypothalamic defensive territory and then examined retrograde labeling in the lateral hypothalamus. They combined tracing with antibody detection of GABA to identify candidate inhibitory projection neurons.
• The paired tissue views compare labeling in the same cellular territory; projection labeling and transmitter immunoreactivity answer different questions about the candidate neurons.
• Some lateral neurons contained both the tracer and GABA immunoreactivity. The injection focus was approximately 0.5–0.7 mm in diameter and did not visibly extend into the lateral hypothalamus. This localization reduced the possibility that lateral labeling simply reflected contamination by the injection itself.
• The anatomical result supports a lateral-to-medial GABA-associated projection. Double labeling does not measure release at a functioning synapse. Together with bicuculline blockade and muscimol suppression, it supports a candidate inhibitory pathway while leaving its activity during naturally occurring threats unresolved.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11A–F. GABA and tracer labeling in lateral hypothalamic neurons. https://doi.org/10.1016/s0006-8993(97)01357-7
Cheu &amp; Siegel (1998), Fig. 9. Original medial hypothalamic tracer injection histology and localization. https://doi.org/10.1016/s0006-8993(97)01357-7</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**Tonic inhibition** is continuously maintained inhibitory influence, while episodic inhibition appears when a particular input is engaged. Cheu and Siegel tested bicuculline during medial hypothalamic stimulation alone, without concurrent lateral hypothalamic stimulation.
• Failure to change baseline behavior differs from failure to block an experimentally recruited input; the same receptor can matter strongly only under the second condition.
• A 60 pmol injection left baseline hissing latency essentially unchanged: about 6.62 s before injection and 6.65 s in the early post-injection period. The same intervention blocked suppression when the lateral input was activated during dual stimulation.
• The contrast is consistent with an inhibitory influence recruited by the lateral stimulation rather than strong continuous inhibition in this preparation. It does not exclude spontaneous GABA signaling or establish its temporal pattern in behaving animals outside the stimulation experiment. The conclusion concerns the tested conditions and the measured response.
References:
Cheu JW, Siegel A (1998). GABA receptor mediated suppression of defensive rage behavior elicited from the medial hypothalamus of the cat: role of the lateral hypothalamus. Brain Research 783(2): 293-304. https://doi.org/10.1016/s0006-8993(97)01357-7
Figure sources:
Cheu &amp; Siegel (1998), Fig. 4. Bicuculline does not change single-stimulation latency. https://doi.org/10.1016/s0006-8993(97)01357-7
Cheu &amp; Siegel (1998), Fig. 9. Original medial hypothalamic tracer injection histology and localization. https://doi.org/10.1016/s0006-8993(97)01357-7</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 **cytokine** is a signaling protein involved in immune and cellular communication. Bhatt and colleagues injected interleukin-1β, or IL-1β, into PAG sites while eliciting defensive hissing through the experimentally identified hypothalamic–PAG circuit.
• The direction and duration of the behavioral change are measured directly; the endogenous source and release pattern of the cytokine remain separate questions.
• A 5 ng injection produced maximal facilitation at about 60 min, corresponding to roughly a 42% reduction in hissing latency. The effect declined over subsequent observations but remained detectable at 180 min. Saline and the lowest tested dose lacked comparable facilitation.
• The result establishes that local cytokine delivery can modulate a defensive response. It does not establish that infection invariably increases aggression or that the administered amount equals endogenous release during natural fear. The intervention tests one molecule at one identified circuit site.
References:
Bhatt S, Bhatt R, Zalcman SS, Siegel A (2008). Role of IL-1β and 5-HT2 receptors in midbrain periaqueductal gray (PAG) in potentiating defensive rage behavior in cat. Brain, Behavior, and Immunity 22(2): 224-233. https://doi.org/10.1016/j.bbi.2007.07.011
Figure sources:
Bhatt et al. (2008), Fig. 3. PAG IL-1β dose and time dependence of hissing facilitation. https://doi.org/10.1016/j.bbi.2007.07.011
Bhatt et al. (2008), Fig. 6A–E. Original PAG receptor labeling and antibody validation. https://doi.org/10.1016/j.bbi.2007.07.011</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Bhatt and colleagues pretreated a PAG defensive site with an antibody against the type-I IL-1 receptor before injecting IL-1β. A **receptor antibody** can interfere with the interaction between a signaling molecule and its receptor.
• Receptor dependence concerns the cytokine-evoked modulation; the baseline defensive response and the additional facilitation are distinct outcomes.
• Pretreatment 5 min before cytokine delivery blocked the facilitatory reduction in hissing latency. The receptor antibody alone did not appreciably change the baseline response. Thus, preventing the cytokine effect did not require eliminating electrically elicited hissing altogether.
• The comparison supports involvement of the targeted IL-1 receptor in the administered cytokine’s action. It does not identify whether the behavioral effect arises directly in the recorded defensive neurons, indirectly through neighboring cells, or through a specific intracellular cascade. No identified-neuron recording was performed in this experiment.
References:
Bhatt S, Bhatt R, Zalcman SS, Siegel A (2008). Role of IL-1β and 5-HT2 receptors in midbrain periaqueductal gray (PAG) in potentiating defensive rage behavior in cat. Brain, Behavior, and Immunity 22(2): 224-233. https://doi.org/10.1016/j.bbi.2007.07.011
Figure sources:
Bhatt et al. (2008), Fig. 4a. IL-1 receptor antibody blocks cytokine facilitation. https://doi.org/10.1016/j.bbi.2007.07.011
Bhatt et al. (2008), Fig. 6A–E. Original PAG receptor labeling and antibody validation. https://doi.org/10.1016/j.bbi.2007.07.011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An **isotype control** is an antibody of a comparable class that does not target the experimental receptor. Bhatt and colleagues used IgG2a to test whether antibody delivery alone nonspecifically prevented IL-1β from facilitating defensive rage.
• A molecule can have effects because it is an antibody preparation or because it binds a particular target; the control distinguishes these possibilities experimentally.
• The control antibody did not block facilitation after 5 ng IL-1β, and it did not appreciably alter baseline hissing when administered alone. The same 30–180 min observation windows were used to follow the cytokine effect across the treatment conditions.
• This result strengthens the receptor-specific interpretation of the blocking antibody experiment. It does not establish absolute specificity for every molecular interaction, nor does it replace a direct measurement of receptor signaling. A comparison between targeting and control antibodies addresses a different confound from comparing cytokine with saline.
References:
Bhatt S, Bhatt R, Zalcman SS, Siegel A (2008). Role of IL-1β and 5-HT2 receptors in midbrain periaqueductal gray (PAG) in potentiating defensive rage behavior in cat. Brain, Behavior, and Immunity 22(2): 224-233. https://doi.org/10.1016/j.bbi.2007.07.011
Figure sources:
Bhatt et al. (2008), Fig. 4b. Isotype antibody does not block cytokine facilitation. https://doi.org/10.1016/j.bbi.2007.07.011
Bhatt et al. (2008), Fig. 6A–E. Original PAG receptor labeling and antibody validation. https://doi.org/10.1016/j.bbi.2007.07.011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**Serotonin**, also called 5-HT, is a neuromodulator with multiple receptor classes. Bhatt and colleagues pretreated the PAG site with LY53857, a 5-HT2 receptor antagonist, before administering IL-1β during defensive-hissing experiments.
• The authors’ receptor staining and antagonist experiment are complementary; receptor presence alone would not establish its contribution to the behavioral modulation.
• The antagonist prevented the latency reduction normally produced by 5 ng IL-1β. Antagonist delivery alone did not appreciably alter baseline hissing. The comparison supports serotonin-receptor participation in the cytokine-dependent increase in circuit responsiveness.
• The tissue study labeled 5-HT2C receptors, but the behavioral pharmacology does not isolate every receptor subtype or the precise cellular interaction. A **neuromodulator** changes how a circuit responds to other inputs; the experiment supports such an interaction without directly measuring serotonin release, intracellular signaling, or the activity of identified PAG neurons.
References:
Bhatt S, Bhatt R, Zalcman SS, Siegel A (2008). Role of IL-1β and 5-HT2 receptors in midbrain periaqueductal gray (PAG) in potentiating defensive rage behavior in cat. Brain, Behavior, and Immunity 22(2): 224-233. https://doi.org/10.1016/j.bbi.2007.07.011
Figure sources:
Bhatt et al. (2008), Fig. 5a. Serotonin receptor blockade prevents IL-1β facilitation. https://doi.org/10.1016/j.bbi.2007.07.011
Bhatt et al. (2008), Fig. 6A–E. Original PAG receptor labeling and antibody validation. https://doi.org/10.1016/j.bbi.2007.07.011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Bhatt and colleagues compared 5-HT2 blockade with blockade of NK-1 and CCKb receptors at the PAG site. **NK-1** is a receptor for substance P, and **CCKb** is a cholecystokinin receptor; both were candidate modulatory receptor classes in this preparation.
• A receptor may be capable of influencing the behavior yet unnecessary for the effect of one specific modulator; these are different causal claims.
• GR82334 and CR2945 did not prevent the facilitation caused by 5 ng IL-1β during the tested observation period. These compounds also lacked an appreciable effect on baseline hissing when administered alone, unlike the selective loss of cytokine facilitation after 5-HT2 blockade.
• The comparison narrows the candidate receptor interaction rather than proving that the other signaling systems never influence defense. Their contribution could depend on other inputs or conditions. The result concerns IL-1β-mediated facilitation at the tested PAG sites and doses.
References:
Bhatt S, Bhatt R, Zalcman SS, Siegel A (2008). Role of IL-1β and 5-HT2 receptors in midbrain periaqueductal gray (PAG) in potentiating defensive rage behavior in cat. Brain, Behavior, and Immunity 22(2): 224-233. https://doi.org/10.1016/j.bbi.2007.07.011
Figure sources:
Bhatt et al. (2008), Fig. 5b,c. NK-1 and CCKb blockade leave cytokine facilitation intact. https://doi.org/10.1016/j.bbi.2007.07.011
Bhatt et al. (2008), Fig. 6A,D. PAG tissue surrounding the aqueduct and receptor labeling; 100 μm bar. https://doi.org/10.1016/j.bbi.2007.07.011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Bhatt and colleagues used **immunocytochemistry**, antibody-based molecular labeling, to examine IL-1 and serotonin receptors in PAG tissue. IL-1 receptor labeling was stronger in dorsal PAG than in ventral PAG, while 5-HT2C labeling was distributed through the examined PAG region.
• A kilodalton is a unit of molecular mass; the blot supports antibody recognition of proteins near expected masses without measuring signaling during a defensive episode.
• The published fluorescence panels preserve the original green and red labels and a 100 μm scale bar. Western blotting, which separates proteins before antibody detection, identified bands near 88 kDa for IL-1R1 and 47 kDa for 5-HT2C.
• Anatomical presence is compatible with the pharmacological effects on hissing latency. It does not establish that the two receptors occur on the same behaviorally active cell or that one directly controls the other. Colocalization and functional coupling require additional cell-specific evidence.
References:
Bhatt S, Bhatt R, Zalcman SS, Siegel A (2008). Role of IL-1β and 5-HT2 receptors in midbrain periaqueductal gray (PAG) in potentiating defensive rage behavior in cat. Brain, Behavior, and Immunity 22(2): 224-233. https://doi.org/10.1016/j.bbi.2007.07.011
Figure sources:
Bhatt et al. (2008), Fig. 6A–E. Original PAG receptor labeling and antibody validation. https://doi.org/10.1016/j.bbi.2007.07.011</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**Lipopolysaccharide**, or LPS, is a bacterial cell-wall component used experimentally to provoke an immune response. Bhatt and colleagues administered peripheral LPS at 50 μg/kg and measured PAG-elicited defensive hissing over subsequent hours.
• The source reports temperature in degrees Fahrenheit; the temporal comparison concerns when defensive suppression and the largest temperature increase appeared.
• Hissing latency increased beginning about 60 min after injection. Body temperature rose more strongly later, reaching about 105 °F at 120 min. Local medial hypothalamic delivery of 5 ng LPS did not reproduce the peripheral effect.
• The contrast supports an indirect influence of peripheral immune activation rather than the same effect of local LPS delivery at the tested site. The timing weakens a simple explanation based only on peak fever, but it does not establish an absence of all sickness-related changes or subjective discomfort.
References:
Bhatt S, Bhatt RS, Zalcman SS, Siegel A (2009). Peripheral and central mediators of lipopolysaccharide induced suppression of defensive rage behavior in the cat. Neuroscience 163(4): 1002-1011. https://doi.org/10.1016/j.neuroscience.2009.07.050
Figure sources:
Bhatt et al. (2009), Fig. 2A–C. Peripheral LPS, fever, and local LPS have different effects. https://doi.org/10.1016/j.neuroscience.2009.07.050
Bhatt et al. (2009), Fig. 1A,B. PAG and hypothalamic sites with original anatomical sections. https://doi.org/10.1016/j.neuroscience.2009.07.050</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**Tumor necrosis factor**, or TNF, is a cytokine involved in immune signaling. Bhatt and colleagues tested whether peripheral cytokine neutralization could prevent the change in PAG-elicited defensive hissing following LPS challenge.
• Neutralizing a peripheral mediator and blocking a central receptor intervene at different points; the behavioral effects should not be assigned to one undifferentiated immune pathway.
• An anti-TNF antibody given 5 min before LPS blocked both the increase in hissing latency and the temperature rise. In contrast, the tested anti-IL-1 intervention did not prevent either effect. Antibody-alone conditions provided baseline comparisons over the same observation schedule.
• The result supports a peripheral TNF-dependent component of the LPS effect. It does not establish the entire route by which peripheral signaling reaches the brain or identify all participating cells. Cytokine actions differ with administration site and biological context; local PAG IL-1β facilitation is not equivalent to systemic immune challenge.
References:
Bhatt S, Bhatt RS, Zalcman SS, Siegel A (2009). Peripheral and central mediators of lipopolysaccharide induced suppression of defensive rage behavior in the cat. Neuroscience 163(4): 1002-1011. https://doi.org/10.1016/j.neuroscience.2009.07.050
Bhatt S, Bhatt R, Zalcman SS, Siegel A (2008). Role of IL-1β and 5-HT2 receptors in midbrain periaqueductal gray (PAG) in potentiating defensive rage behavior in cat. Brain, Behavior, and Immunity 22(2): 224-233. https://doi.org/10.1016/j.bbi.2007.07.011
Figure sources:
Bhatt et al. (2009), Fig. 3A–D. Peripheral TNF neutralization blocks LPS effects. https://doi.org/10.1016/j.neuroscience.2009.07.050
Bhatt et al. (2008), Fig. 6A,D. PAG tissue surrounding the aqueduct and receptor labeling; 100 μm bar. https://doi.org/10.1016/j.bbi.2007.07.011</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**Prostaglandin E2**, or PGE2, is a lipid signaling molecule associated with inflammatory responses. Bhatt and colleagues injected the antagonist SC19220 into medial hypothalamic defensive sites before administering peripheral LPS.
• The source’s methods, results, and discussion do not consistently name the same EP subtype; assigning one subtype as an established mechanism would exceed the evidence.
• The pretreatment opposed the LPS-induced increase in hissing latency for about 180 min, with weakening blockade later. Local anti-TNF treatment did not produce the same protection, despite the effectiveness of peripheral TNF neutralization in a separate experiment.
• These interventions support different peripheral and central steps in immune-dependent defensive modulation. The article uses inconsistent prostaglandin-receptor subtype terminology, so the subtype assignment remains uncertain. The data support involvement of prostaglandin-sensitive signaling under the tested conditions, without resolving a complete molecular pathway from immune activation to neuronal inhibition.
References:
Bhatt S, Bhatt RS, Zalcman SS, Siegel A (2009). Peripheral and central mediators of lipopolysaccharide induced suppression of defensive rage behavior in the cat. Neuroscience 163(4): 1002-1011. https://doi.org/10.1016/j.neuroscience.2009.07.050
Figure sources:
Bhatt et al. (2009), Fig. 4B. Hypothalamic prostaglandin blockade opposes LPS suppression. https://doi.org/10.1016/j.neuroscience.2009.07.050
Bhatt et al. (2009), Fig. 1A,B. PAG and hypothalamic sites with original anatomical sections. https://doi.org/10.1016/j.neuroscience.2009.07.050</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**5-HT1A** is a serotonin receptor class distinct from the 5-HT2 receptors implicated in local PAG cytokine facilitation. Bhatt and colleagues injected the 5-HT1A antagonist p-MPPI into medial hypothalamic defensive sites before peripheral LPS challenge.
• Site, receptor class, and biological state all differ between the two experiments; the opposite behavioral directions do not contradict each other.
• A 12 nmol injection in 0.5 μl prevented the prolonged increase in hissing latency produced by LPS. Antagonist-alone treatment did not appreciably alter the baseline response. This contrasts with 5-HT2-dependent facilitation after direct IL-1β administration in the PAG.
• The findings support context-dependent serotonin modulation at different sites and receptor classes. They do not establish that serotonin uniformly promotes or uniformly suppresses fear. The LPS experiment measured an evoked defensive response without recording receptor-bearing neurons or the serotonin concentration reaching them.
References:
Bhatt S, Bhatt RS, Zalcman SS, Siegel A (2009). Peripheral and central mediators of lipopolysaccharide induced suppression of defensive rage behavior in the cat. Neuroscience 163(4): 1002-1011. https://doi.org/10.1016/j.neuroscience.2009.07.050
Figure sources:
Bhatt et al. (2009), Fig. 4C. Hypothalamic serotonin blockade opposes LPS suppression. https://doi.org/10.1016/j.neuroscience.2009.07.050
Bhatt et al. (2009), Fig. 1A,B. PAG and hypothalamic sites with original anatomical sections. https://doi.org/10.1016/j.neuroscience.2009.07.050</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Bhatt and colleagues compared LPS effects on defensive hissing with effects on head turning elicited by midbrain stimulation. **Motor control** here means a comparison response used to test whether the animal simply lost the capacity to move or respond to stimulation.
• One spared motor behavior cannot establish that every other behavior is unaffected; it supplies a specific control against a general loss of movement.
• Across the 300 min observation period, LPS prolonged defensive-response latency but did not appreciably change head-turning latency. The tested motor response therefore remained available while defensive output was suppressed under the same immune challenge.
• This comparison weakens a nonspecific paralysis or broad motor-failure explanation. It does not exclude changes in motivation, other movements, sensory processing, or sickness state. A preserved comparison behavior narrows interpretation of the affected response without proving that the manipulation acts exclusively on a single defensive circuit.
References:
Bhatt S, Bhatt RS, Zalcman SS, Siegel A (2009). Peripheral and central mediators of lipopolysaccharide induced suppression of defensive rage behavior in the cat. Neuroscience 163(4): 1002-1011. https://doi.org/10.1016/j.neuroscience.2009.07.050
Bhatt S, Bhatt R, Zalcman SS, Siegel A (2008). Role of IL-1β and 5-HT2 receptors in midbrain periaqueductal gray (PAG) in potentiating defensive rage behavior in cat. Brain, Behavior, and Immunity 22(2): 224-233. https://doi.org/10.1016/j.bbi.2007.07.011
Figure sources:
Bhatt et al. (2009), Fig. 5. LPS suppresses hissing but spares elicited head turning. https://doi.org/10.1016/j.neuroscience.2009.07.050
Bhatt et al. (2008), Fig. 6A,D. PAG tissue surrounding the aqueduct and receptor labeling; 100 μm bar. https://doi.org/10.1016/j.bbi.2007.07.011</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**Concealment** allows an animal to remain visually sheltered from its surroundings. Van der Leij and colleagues randomly assigned shelter cats to quarantine cages with or without cardboard hiding boxes measuring 44 × 31 × 26 cm.
• Random assignment tests the effect of providing a box; it is stronger causal evidence for that environmental intervention than an association between hiding and stress alone.
• Cats with boxes reached a relatively stable behavioral stress score by Day 2, compared with Day 9 in the control group. Both groups experienced the shelter quarantine environment and comparable daily care, allowing the available hiding space to be tested as an environmental intervention.
• The result supports faster recovery of observable stress-related behavior when concealment is available. It does not identify the neural mechanism or establish that the cats experienced no fear. Environmental changes can alter defensive expression without requiring pharmacological manipulation of a receptor.
References:
van der Leij WJR, Selman LDAM, Vernooij JCM, Vinke CM (2019). The effect of a hiding box on stress levels and body weight in Dutch shelter cats; a randomized controlled trial. PLOS ONE 14(10): e0223492. https://doi.org/10.1371/journal.pone.0223492
Figure sources:
van der Leij et al. (2019), Fig. 1. Individual Cat-Stress-Score trajectories with and without hiding boxes. https://doi.org/10.1371/journal.pone.0223492</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The shelter study used the **Cat-Stress-Score**, a standardized assessment of posture and behavior. Cats were video-recorded for 20 min on observation days, with repeated samples contributing to each daily score during the 12-day quarantine period.
• Repeated observations distinguish a change through time from a single calm-looking moment; the scoring procedure still depends on which behaviors remain observable.
• The hiding-box group had lower stress scores after the first observation day and reached stability sooner. Scoring retained each animal’s trajectory, rather than assuming identical recovery for every cat. Individual differences persisted within both housing conditions.
• A behavioral score operationalizes visible responses; it is not a direct assay of a stress hormone or neuronal activity. Concealment also changes observation conditions, and some features can become harder to see. The reported benefit therefore concerns the measured behavioral adaptation under the study’s housing and scoring procedures.
References:
van der Leij WJR, Selman LDAM, Vernooij JCM, Vinke CM (2019). The effect of a hiding box on stress levels and body weight in Dutch shelter cats; a randomized controlled trial. PLOS ONE 14(10): e0223492. https://doi.org/10.1371/journal.pone.0223492
Figure sources:
van der Leij et al. (2019), Fig. 1. Individual Cat-Stress-Score trajectories with and without hiding boxes. https://doi.org/10.1371/journal.pone.0223492</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 Van der Leij and colleagues measured body weight at intake and during quarantine as an outcome separate from the behavioral stress score. A hiding box accelerated behavioral recovery, but it did not reliably prevent weight loss over the 12-day study.
• Behavior and physical condition are distinct outcomes; an intervention can improve one while leaving another unresolved.
• Control cats lost about 7.7% of initial body weight, while cats with boxes lost about 6.3%. The difference between housing groups was not reliably established. Food was provided under a standardized regime, but individual daily food intake was not monitored.
• The divergence limits an inference that calmer behavior means every aspect of welfare has recovered. Body weight can reflect feeding and health as well as stress. Neither weight change nor posture alone identifies a specific neural circuit or establishes the animal’s complete internal state.
References:
van der Leij WJR, Selman LDAM, Vernooij JCM, Vinke CM (2019). The effect of a hiding box on stress levels and body weight in Dutch shelter cats; a randomized controlled trial. PLOS ONE 14(10): e0223492. https://doi.org/10.1371/journal.pone.0223492
Figure sources:
van der Leij et al. (2019), Fig. 2. Individual body-weight changes during shelter quarantine. https://doi.org/10.1371/journal.pone.0223492</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Recognition differs from defensive expression. Gaze and audiovisual matching establish cue discrimination; stimulation and intervention test recruitment of behavioral output.
Social threat depends on context. Dogs sample threatening dog and human faces differently, and cats match hissing and human emotional signals across vision and hearing.
Excitatory input facilitates feline defense. Medial hypothalamic facilitation of PAG-elicited hissing depends on local NMDA receptor signaling in the tested preparation.
Inhibition is site and receptor dependent. Lateral hypothalamic suppression involves medial hypothalamic GABA-A receptors; activating these receptors raises the defensive-response threshold.
Immune state changes circuit responsiveness. Local PAG IL-1β can facilitate defense through serotonin-sensitive signaling, whereas peripheral LPS can suppress the evoked response.
Inference must match the measurement. Cat circuit experiments do not establish canine mechanisms. Concealment improves observed cat stress without guaranteeing recovery of body weight.
References:
Somppi S, Törnqvist H, Kujala MV, Hänninen L, Krause CM, Vainio O (2016). Dogs Evaluate Threatening Facial Expressions by Their Biological Validity – Evidence from Gazing Patterns. PLOS ONE 11(1): e0143047. https://doi.org/10.1371/journal.pone.0143047
Quaranta A, d’Ingeo S, Amoruso R, Siniscalchi M (2020). Emotion Recognition in Cats. Animals 10(7): 1107. https://doi.org/10.3390/ani10071107
Salonen M, Sulkama S, Mikkola S, Puurunen J, Hakanen E, Tiira K, Araujo C, Lohi H (2020). Prevalence, comorbidity, and breed differences in canine anxiety in 13,700 Finnish pet dogs. Scientific Reports 10(1): 2962. https://doi.org/10.1038/s41598-020-59837-z
van der Leij WJR, Selman LDAM, Vernooij JCM, Vinke CM (2019). The effect of a hiding box on stress levels and body weight in Dutch shelter cats; a randomized controlled trial. PLOS ONE 14(10): e0223492. https://doi.org/10.1371/journal.pone.0223492
Lu CL, Shaikh MB, Siegel A (1992). Role of NMDA receptors in hypothalamic facilitation of feline defensive rage elicited from the midbrain periaqueductal gray. Brain Research 581(1): 123-132. https://doi.org/10.1016/0006-8993(92)90351-9
Cheu JW, Siegel A (1998). GABA receptor mediated suppression of defensive rage behavior elicited from the medial hypothalamus of the cat: role of the lateral hypothalamus. Brain Research 783(2): 293-304. https://doi.org/10.1016/s0006-8993(97)01357-7
Bhatt S, Bhatt R, Zalcman SS, Siegel A (2008). Role of IL-1β and 5-HT2 receptors in midbrain periaqueductal gray (PAG) in potentiating defensive rage behavior in cat. Brain, Behavior, and Immunity 22(2): 224-233. https://doi.org/10.1016/j.bbi.2007.07.011
Bhatt S, Bhatt RS, Zalcman SS, Siegel A (2009). Peripheral and central mediators of lipopolysaccharide induced suppression of defensive rage behavior in the cat. Neuroscience 163(4): 1002-1011. https://doi.org/10.1016/j.neuroscience.2009.07.050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image" Target="../media/Presenton_Native_Image_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3.xml"/><Relationship Id="rId4" Type="http://schemas.openxmlformats.org/officeDocument/2006/relationships/image" Target="../media/image1.jpg"/><Relationship Id="rId5" Type="http://schemas.microsoft.com/office/2007/relationships/media" Target="../media/media1.mp4"/><Relationship Id="rId6" Type="http://schemas.openxmlformats.org/officeDocument/2006/relationships/video" Target="../media/media1.mp4"/></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image" Target="../media/Presenton_Native_Image_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7.xml"/><Relationship Id="rId4" Type="http://schemas.openxmlformats.org/officeDocument/2006/relationships/image" Target="../media/image2.jpg"/><Relationship Id="rId5" Type="http://schemas.microsoft.com/office/2007/relationships/media" Target="../media/media2.mp4"/><Relationship Id="rId6" Type="http://schemas.openxmlformats.org/officeDocument/2006/relationships/video" Target="../media/media2.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12.png"/><Relationship Id="rId4" Type="http://schemas.openxmlformats.org/officeDocument/2006/relationships/notesSlide" Target="../notesSlides/notesSlide8.xml"/><Relationship Id="rId5" Type="http://schemas.openxmlformats.org/officeDocument/2006/relationships/image" Target="../media/image8.jpg"/><Relationship Id="rId6" Type="http://schemas.microsoft.com/office/2007/relationships/media" Target="../media/media8.mp4"/><Relationship Id="rId7" Type="http://schemas.openxmlformats.org/officeDocument/2006/relationships/video" Target="../media/media8.mp4"/></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image" Target="../media/Presenton_Native_Image_15.png"/><Relationship Id="rId4" Type="http://schemas.openxmlformats.org/officeDocument/2006/relationships/notesSlide" Target="../notesSlides/notesSlide10.xml"/><Relationship Id="rId5" Type="http://schemas.openxmlformats.org/officeDocument/2006/relationships/image" Target="../media/image5.jpg"/><Relationship Id="rId6" Type="http://schemas.microsoft.com/office/2007/relationships/media" Target="../media/media5.mp4"/><Relationship Id="rId7" Type="http://schemas.openxmlformats.org/officeDocument/2006/relationships/video" Target="../media/media5.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12.png"/><Relationship Id="rId4" Type="http://schemas.openxmlformats.org/officeDocument/2006/relationships/notesSlide" Target="../notesSlides/notesSlide11.xml"/><Relationship Id="rId5" Type="http://schemas.openxmlformats.org/officeDocument/2006/relationships/image" Target="../media/image6.jpg"/><Relationship Id="rId6" Type="http://schemas.microsoft.com/office/2007/relationships/media" Target="../media/media6.mp4"/><Relationship Id="rId7" Type="http://schemas.openxmlformats.org/officeDocument/2006/relationships/video" Target="../media/media6.mp4"/></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1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13.xml"/><Relationship Id="rId4" Type="http://schemas.openxmlformats.org/officeDocument/2006/relationships/image" Target="../media/image3.jpg"/><Relationship Id="rId5" Type="http://schemas.microsoft.com/office/2007/relationships/media" Target="../media/media3.mp4"/><Relationship Id="rId6" Type="http://schemas.openxmlformats.org/officeDocument/2006/relationships/video" Target="../media/media3.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14.xml"/><Relationship Id="rId4" Type="http://schemas.openxmlformats.org/officeDocument/2006/relationships/image" Target="../media/image4.jpg"/><Relationship Id="rId5" Type="http://schemas.microsoft.com/office/2007/relationships/media" Target="../media/media4.mp4"/><Relationship Id="rId6" Type="http://schemas.openxmlformats.org/officeDocument/2006/relationships/video" Target="../media/media4.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24.png"/><Relationship Id="rId4" Type="http://schemas.openxmlformats.org/officeDocument/2006/relationships/notesSlide" Target="../notesSlides/notesSlide16.xml"/><Relationship Id="rId5" Type="http://schemas.openxmlformats.org/officeDocument/2006/relationships/image" Target="../media/image7.jpg"/><Relationship Id="rId6" Type="http://schemas.microsoft.com/office/2007/relationships/media" Target="../media/media7.mp4"/><Relationship Id="rId7" Type="http://schemas.openxmlformats.org/officeDocument/2006/relationships/video" Target="../media/media7.mp4"/></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2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2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2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image" Target="../media/Presenton_Native_Image_3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image" Target="../media/Presenton_Native_Image_2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image" Target="../media/Presenton_Native_Image_36.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image" Target="../media/Presenton_Native_Image_37.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9.png"/><Relationship Id="rId3" Type="http://schemas.openxmlformats.org/officeDocument/2006/relationships/image" Target="../media/Presenton_Native_Image_4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1.png"/><Relationship Id="rId3" Type="http://schemas.openxmlformats.org/officeDocument/2006/relationships/image" Target="../media/Presenton_Native_Image_4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image" Target="../media/Presenton_Native_Image_4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image" Target="../media/Presenton_Native_Image_4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image" Target="../media/Presenton_Native_Image_4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image" Target="../media/Presenton_Native_Image_4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image" Target="../media/Presenton_Native_Image_5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2.png"/><Relationship Id="rId3" Type="http://schemas.openxmlformats.org/officeDocument/2006/relationships/image" Target="../media/Presenton_Native_Image_5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5.png"/><Relationship Id="rId3" Type="http://schemas.openxmlformats.org/officeDocument/2006/relationships/image" Target="../media/Presenton_Native_Image_5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6.png"/><Relationship Id="rId3" Type="http://schemas.openxmlformats.org/officeDocument/2006/relationships/image" Target="../media/Presenton_Native_Image_5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6.png"/><Relationship Id="rId3" Type="http://schemas.openxmlformats.org/officeDocument/2006/relationships/image" Target="../media/Presenton_Native_Image_59.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6.png"/><Relationship Id="rId3" Type="http://schemas.openxmlformats.org/officeDocument/2006/relationships/image" Target="../media/Presenton_Native_Image_6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image" Target="../media/Presenton_Native_Image_6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6.png"/><Relationship Id="rId3" Type="http://schemas.openxmlformats.org/officeDocument/2006/relationships/image" Target="../media/Presenton_Native_Image_67.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image" Target="../media/Presenton_Native_Image_6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7.png"/><Relationship Id="rId3" Type="http://schemas.openxmlformats.org/officeDocument/2006/relationships/image" Target="../media/Presenton_Native_Image_70.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7.png"/><Relationship Id="rId3" Type="http://schemas.openxmlformats.org/officeDocument/2006/relationships/image" Target="../media/Presenton_Native_Image_7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image" Target="../media/Presenton_Native_Image_74.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6.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nvSpPr>
        <p:spPr>
          <a:xfrm>
            <a:off x="0" y="0"/>
            <a:ext cx="5905500" cy="6858000"/>
          </a:xfrm>
          <a:prstGeom prst="rect">
            <a:avLst/>
          </a:prstGeom>
          <a:solidFill>
            <a:srgbClr val="6A7A86"/>
          </a:solidFill>
        </p:spPr>
        <p:txBody>
          <a:bodyPr/>
          <a:lstStyle/>
          <a:p/>
        </p:txBody>
      </p:sp>
      <p:sp>
        <p:nvSpPr>
          <p:cNvPr id="3" name="Shape 3"/>
          <p:cNvSpPr/>
          <p:nvPr/>
        </p:nvSpPr>
        <p:spPr>
          <a:xfrm>
            <a:off x="571500" y="571500"/>
            <a:ext cx="4781550" cy="228600"/>
          </a:xfrm>
          <a:prstGeom prst="rect">
            <a:avLst/>
          </a:prstGeom>
          <a:noFill/>
        </p:spPr>
        <p:txBody>
          <a:bodyPr anchor="t" wrap="square" tIns="0" bIns="0" lIns="0" rIns="0">
            <a:normAutofit/>
          </a:bodyPr>
          <a:lstStyle/>
          <a:p>
            <a:pPr algn="l">
              <a:lnSpc>
                <a:spcPts val="1800"/>
              </a:lnSpc>
              <a:buNone/>
            </a:pPr>
            <a:r>
              <a:rPr sz="1200" b="0" i="0">
                <a:solidFill>
                  <a:srgbClr val="FFFFFF"/>
                </a:solidFill>
                <a:latin typeface="Arial"/>
                <a:ea typeface="Arial"/>
              </a:rPr>
              <a:t>NEUR 411 · NEUROETHOLOGY · FALL 2026</a:t>
            </a:r>
            <a:endParaRPr lang="en-US"/>
          </a:p>
        </p:txBody>
      </p:sp>
      <p:sp>
        <p:nvSpPr>
          <p:cNvPr id="4" name="Shape 4"/>
          <p:cNvSpPr/>
          <p:nvPr/>
        </p:nvSpPr>
        <p:spPr>
          <a:xfrm>
            <a:off x="571500" y="1228725"/>
            <a:ext cx="4781550" cy="342900"/>
          </a:xfrm>
          <a:prstGeom prst="rect">
            <a:avLst/>
          </a:prstGeom>
          <a:noFill/>
        </p:spPr>
        <p:txBody>
          <a:bodyPr anchor="t" wrap="square" tIns="0" bIns="0" lIns="0" rIns="0">
            <a:normAutofit/>
          </a:bodyPr>
          <a:lstStyle/>
          <a:p>
            <a:pPr algn="l">
              <a:lnSpc>
                <a:spcPts val="2700"/>
              </a:lnSpc>
              <a:buNone/>
            </a:pPr>
            <a:r>
              <a:rPr sz="1800" b="0" i="0">
                <a:solidFill>
                  <a:srgbClr val="FFFFFF"/>
                </a:solidFill>
                <a:latin typeface="Arial"/>
                <a:ea typeface="Arial"/>
              </a:rPr>
              <a:t>Lecture 54</a:t>
            </a:r>
            <a:endParaRPr lang="en-US"/>
          </a:p>
        </p:txBody>
      </p:sp>
      <p:sp>
        <p:nvSpPr>
          <p:cNvPr id="5" name="Shape 5"/>
          <p:cNvSpPr/>
          <p:nvPr/>
        </p:nvSpPr>
        <p:spPr>
          <a:xfrm>
            <a:off x="571500" y="1809750"/>
            <a:ext cx="4781550" cy="1562100"/>
          </a:xfrm>
          <a:prstGeom prst="rect">
            <a:avLst/>
          </a:prstGeom>
          <a:noFill/>
        </p:spPr>
        <p:txBody>
          <a:bodyPr anchor="t" wrap="square" tIns="0" bIns="0" lIns="0" rIns="0">
            <a:normAutofit/>
          </a:bodyPr>
          <a:lstStyle/>
          <a:p>
            <a:pPr algn="l">
              <a:lnSpc>
                <a:spcPts val="3075"/>
              </a:lnSpc>
              <a:buNone/>
            </a:pPr>
            <a:r>
              <a:rPr sz="2550" b="1" i="0">
                <a:solidFill>
                  <a:srgbClr val="FFFFFF"/>
                </a:solidFill>
                <a:latin typeface="Arial"/>
                <a:ea typeface="Arial"/>
              </a:rPr>
              <a:t>Fear in dogs and cats: threat recognition, defensive behavior, and underlying neural circuits</a:t>
            </a:r>
            <a:endParaRPr lang="en-US"/>
          </a:p>
        </p:txBody>
      </p:sp>
      <p:sp>
        <p:nvSpPr>
          <p:cNvPr id="6" name="Shape 6"/>
          <p:cNvSpPr/>
          <p:nvPr/>
        </p:nvSpPr>
        <p:spPr>
          <a:xfrm>
            <a:off x="571500" y="3705225"/>
            <a:ext cx="4781550" cy="314325"/>
          </a:xfrm>
          <a:prstGeom prst="rect">
            <a:avLst/>
          </a:prstGeom>
          <a:noFill/>
        </p:spPr>
        <p:txBody>
          <a:bodyPr anchor="t" wrap="square" tIns="0" bIns="0" lIns="0" rIns="0">
            <a:normAutofit/>
          </a:bodyPr>
          <a:lstStyle/>
          <a:p>
            <a:pPr algn="l">
              <a:lnSpc>
                <a:spcPts val="2475"/>
              </a:lnSpc>
              <a:buNone/>
            </a:pPr>
            <a:r>
              <a:rPr sz="1650" b="0" i="0">
                <a:solidFill>
                  <a:srgbClr val="FFFFFF"/>
                </a:solidFill>
                <a:latin typeface="Arial"/>
                <a:ea typeface="Arial"/>
              </a:rPr>
              <a:t>Date TBD</a:t>
            </a:r>
            <a:endParaRPr lang="en-US"/>
          </a:p>
        </p:txBody>
      </p:sp>
      <p:pic>
        <p:nvPicPr>
          <p:cNvPr id="100" name="Presenton Native Image 1" descr=""/>
          <p:cNvPicPr/>
          <p:nvPr/>
        </p:nvPicPr>
        <p:blipFill>
          <a:blip r:embed="rId2" cstate="none"/>
          <a:stretch>
            <a:fillRect/>
          </a:stretch>
        </p:blipFill>
        <p:spPr>
          <a:xfrm>
            <a:off x="7658279" y="1428750"/>
            <a:ext cx="2685693" cy="3619500"/>
          </a:xfrm>
          <a:prstGeom prst="rect">
            <a:avLst/>
          </a:prstGeom>
        </p:spPr>
      </p:pic>
      <p:sp>
        <p:nvSpPr>
          <p:cNvPr id="7" name="Shape 7"/>
          <p:cNvSpPr/>
          <p:nvPr/>
        </p:nvSpPr>
        <p:spPr>
          <a:xfrm>
            <a:off x="6381750" y="5143500"/>
            <a:ext cx="525780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1 (dog rows). Dog facial stimuli and the published gaze distributions.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 name="Shape 8"/>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Dogs allocate gaze according to the source of threat</a:t>
            </a:r>
            <a:endParaRPr lang="en-US"/>
          </a:p>
        </p:txBody>
      </p:sp>
      <p:sp>
        <p:nvSpPr>
          <p:cNvPr id="9" name="Shape 9"/>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Threat recognition</a:t>
            </a:r>
            <a:r>
              <a:rPr sz="1500" b="0" i="0">
                <a:solidFill>
                  <a:srgbClr val="000000"/>
                </a:solidFill>
                <a:latin typeface="Arial"/>
                <a:ea typeface="Arial"/>
              </a:rPr>
              <a:t xml:space="preserve"> is discrimination of cues associated with possible harm. Somppi and colleagues measured dogs’ spontaneous gaze toward photographs of dog and human faces bearing threatening, pleasant, or neutral expressions. Each photograph appeared for 1500 ms.</a:t>
            </a:r>
            <a:endParaRPr lang="en-US"/>
          </a:p>
        </p:txBody>
      </p:sp>
      <p:sp>
        <p:nvSpPr>
          <p:cNvPr id="10" name="Shape 10"/>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Dogs devoted more viewing time to the inner faces of threatening dogs than to pleasant or neutral dog faces. Their response to threatening human faces differed: initial fixations were less likely to land within the inner face than for pleasant or neutral humans.</a:t>
            </a:r>
            <a:endParaRPr lang="en-US"/>
          </a:p>
        </p:txBody>
      </p:sp>
      <p:sp>
        <p:nvSpPr>
          <p:cNvPr id="11" name="Shape 11"/>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experiment controlled presentation duration and compared expressions within each depicted species. The result establishes expression-dependent visual attention, rather than a direct measurement of fear, attack probability, or subjective emotional experience.</a:t>
            </a:r>
            <a:endParaRPr lang="en-US"/>
          </a:p>
        </p:txBody>
      </p:sp>
      <p:pic>
        <p:nvPicPr>
          <p:cNvPr id="101" name="Presenton Native Image 2" descr=""/>
          <p:cNvPicPr/>
          <p:nvPr/>
        </p:nvPicPr>
        <p:blipFill>
          <a:blip r:embed="rId3" cstate="none"/>
          <a:stretch>
            <a:fillRect/>
          </a:stretch>
        </p:blipFill>
        <p:spPr>
          <a:xfrm>
            <a:off x="6620744" y="1190625"/>
            <a:ext cx="4655987" cy="2476500"/>
          </a:xfrm>
          <a:prstGeom prst="rect">
            <a:avLst/>
          </a:prstGeom>
        </p:spPr>
      </p:pic>
      <p:sp>
        <p:nvSpPr>
          <p:cNvPr id="12" name="Shape 12"/>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2A,B. Expression-dependent fixation scores and first fixations.</a:t>
            </a:r>
            <a:endParaRPr lang="en-US"/>
          </a:p>
        </p:txBody>
      </p:sp>
      <p:pic>
        <p:nvPicPr>
          <p:cNvPr id="102" name="Presenton Native Image 3" descr=""/>
          <p:cNvPicPr/>
          <p:nvPr/>
        </p:nvPicPr>
        <p:blipFill>
          <a:blip r:embed="rId2" cstate="none"/>
          <a:stretch>
            <a:fillRect/>
          </a:stretch>
        </p:blipFill>
        <p:spPr>
          <a:xfrm>
            <a:off x="8441098" y="4476750"/>
            <a:ext cx="1024804" cy="1381125"/>
          </a:xfrm>
          <a:prstGeom prst="rect">
            <a:avLst/>
          </a:prstGeom>
        </p:spPr>
      </p:pic>
      <p:sp>
        <p:nvSpPr>
          <p:cNvPr id="13" name="Shape 13"/>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1 (dog rows). Dog facial stimuli and the published gaze distributions.</a:t>
            </a:r>
            <a:endParaRPr lang="en-US"/>
          </a:p>
        </p:txBody>
      </p:sp>
      <p:sp>
        <p:nvSpPr>
          <p:cNvPr id="14" name="Shape 14"/>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Somppi et al. (2016)</a:t>
            </a:r>
            <a:endParaRPr lang="en-US"/>
          </a:p>
        </p:txBody>
      </p:sp>
      <p:sp>
        <p:nvSpPr>
          <p:cNvPr id="15" name="Shape 15"/>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 name="Shape 16"/>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Brief presentations isolate spontaneous visual sampling</a:t>
            </a:r>
            <a:endParaRPr lang="en-US"/>
          </a:p>
        </p:txBody>
      </p:sp>
      <p:sp>
        <p:nvSpPr>
          <p:cNvPr id="17" name="Shape 17"/>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Dogs watched facial photographs while resting their heads voluntarily on a chin support. An infrared </a:t>
            </a:r>
            <a:r>
              <a:rPr sz="1500" b="1" i="0">
                <a:solidFill>
                  <a:srgbClr val="444E55"/>
                </a:solidFill>
                <a:latin typeface="Arial"/>
                <a:ea typeface="Arial"/>
              </a:rPr>
              <a:t>eye tracker</a:t>
            </a:r>
            <a:r>
              <a:rPr sz="1500" b="0" i="0">
                <a:solidFill>
                  <a:srgbClr val="000000"/>
                </a:solidFill>
                <a:latin typeface="Arial"/>
                <a:ea typeface="Arial"/>
              </a:rPr>
              <a:t>, an instrument estimating gaze position, recorded where each dog looked without requiring a trained choice between emotional categories.</a:t>
            </a:r>
            <a:endParaRPr lang="en-US"/>
          </a:p>
        </p:txBody>
      </p:sp>
      <p:sp>
        <p:nvSpPr>
          <p:cNvPr id="18" name="Shape 18"/>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Images appeared for 1500 ms, separated by 500 ms intervals. Stimulus order and block length were randomized, while owners and experimenters waited behind an opaque barrier. These procedures reduced predictable sequences and immediate social guidance during viewing.</a:t>
            </a:r>
            <a:endParaRPr lang="en-US"/>
          </a:p>
        </p:txBody>
      </p:sp>
      <p:sp>
        <p:nvSpPr>
          <p:cNvPr id="19" name="Shape 19"/>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Calibration related measured eye position to known screen locations. The measured outcome was spontaneous fixation allocation, not successful completion of a rewarded emotion-labeling task. Because the stimuli were still photographs, the study did not test moving bodies, approaching animals, or the coordination of escape with gaze.</a:t>
            </a:r>
            <a:endParaRPr lang="en-US"/>
          </a:p>
        </p:txBody>
      </p:sp>
      <p:pic>
        <p:nvPicPr>
          <p:cNvPr id="103" name="Presenton Native Image 4" descr=""/>
          <p:cNvPicPr/>
          <p:nvPr/>
        </p:nvPicPr>
        <p:blipFill>
          <a:blip r:embed="rId2" cstate="none"/>
          <a:stretch>
            <a:fillRect/>
          </a:stretch>
        </p:blipFill>
        <p:spPr>
          <a:xfrm>
            <a:off x="7909459" y="1188720"/>
            <a:ext cx="2103321" cy="2834640"/>
          </a:xfrm>
          <a:prstGeom prst="rect">
            <a:avLst/>
          </a:prstGeom>
        </p:spPr>
      </p:pic>
      <p:sp>
        <p:nvSpPr>
          <p:cNvPr id="20" name="Shape 20"/>
          <p:cNvSpPr/>
          <p:nvPr/>
        </p:nvSpPr>
        <p:spPr>
          <a:xfrm>
            <a:off x="6473952" y="4096512"/>
            <a:ext cx="4974336" cy="384048"/>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1 (dog rows). Dog facial stimuli and the published gaze distributions.</a:t>
            </a:r>
            <a:endParaRPr lang="en-US"/>
          </a:p>
        </p:txBody>
      </p:sp>
      <p:sp>
        <p:nvSpPr>
          <p:cNvPr id="21" name="Shape 21"/>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Somppi et al. (2016)</a:t>
            </a:r>
            <a:endParaRPr lang="en-US"/>
          </a:p>
        </p:txBody>
      </p:sp>
      <p:sp>
        <p:nvSpPr>
          <p:cNvPr id="22" name="Shape 22"/>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a:t>
            </a:r>
            <a:endParaRPr lang="en-US"/>
          </a:p>
        </p:txBody>
      </p:sp>
      <p:pic>
        <p:nvPicPr>
          <p:cNvPr id="104" name="Picture 103" descr="Somppi2016_S1_poster.jpg"/>
          <p:cNvPicPr>
            <a:picLocks noChangeAspect="1"/>
          </p:cNvPicPr>
          <p:nvPr/>
        </p:nvPicPr>
        <p:blipFill>
          <a:blip r:embed="rId4"/>
          <a:stretch>
            <a:fillRect/>
          </a:stretch>
        </p:blipFill>
        <p:spPr>
          <a:xfrm>
            <a:off x="7635220" y="4590288"/>
            <a:ext cx="2651798" cy="1490472"/>
          </a:xfrm>
          <a:prstGeom prst="rect">
            <a:avLst/>
          </a:prstGeom>
        </p:spPr>
      </p:pic>
      <p:pic>
        <p:nvPicPr>
          <p:cNvPr id="105" name="Somppi2016_S1.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35220" y="4590288"/>
            <a:ext cx="2651798" cy="1490472"/>
          </a:xfrm>
          <a:prstGeom prst="rect">
            <a:avLst/>
          </a:prstGeom>
        </p:spPr>
      </p:pic>
      <p:sp>
        <p:nvSpPr>
          <p:cNvPr id="106" name="TextBox 105"/>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Article video: Somppi et al. (2016), S1 Movie.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0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3" name="Shape 23"/>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Dogs prioritize eyes over exposed teeth</a:t>
            </a:r>
            <a:endParaRPr lang="en-US"/>
          </a:p>
        </p:txBody>
      </p:sp>
      <p:sp>
        <p:nvSpPr>
          <p:cNvPr id="24" name="Shape 24"/>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A </a:t>
            </a:r>
            <a:r>
              <a:rPr sz="1500" b="1" i="0">
                <a:solidFill>
                  <a:srgbClr val="444E55"/>
                </a:solidFill>
                <a:latin typeface="Arial"/>
                <a:ea typeface="Arial"/>
              </a:rPr>
              <a:t>fixation</a:t>
            </a:r>
            <a:r>
              <a:rPr sz="1500" b="0" i="0">
                <a:solidFill>
                  <a:srgbClr val="000000"/>
                </a:solidFill>
                <a:latin typeface="Arial"/>
                <a:ea typeface="Arial"/>
              </a:rPr>
              <a:t xml:space="preserve"> is a period during which gaze remains within a restricted area. Facial regions were classified as eyes, midface, and mouth, allowing Somppi and colleagues to compare visual sampling of different components of an expression.</a:t>
            </a:r>
            <a:endParaRPr lang="en-US"/>
          </a:p>
        </p:txBody>
      </p:sp>
      <p:sp>
        <p:nvSpPr>
          <p:cNvPr id="25" name="Shape 25"/>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Across dog and human faces, dogs looked longer at eyes than at mouths. Average entry times were about 503 ms for eyes, 501 ms for midface, and 584 ms for mouths. Thus, exposed teeth were not the only visual information sampled during threatening expressions.</a:t>
            </a:r>
            <a:endParaRPr lang="en-US"/>
          </a:p>
        </p:txBody>
      </p:sp>
      <p:sp>
        <p:nvSpPr>
          <p:cNvPr id="26" name="Shape 26"/>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Fixation scores accounted for facial-region size and total face-viewing time. The comparison supports structured sampling of facial information. It does not identify the neural detector for threat or establish that a single facial feature determines a defensive reaction.</a:t>
            </a:r>
            <a:endParaRPr lang="en-US"/>
          </a:p>
        </p:txBody>
      </p:sp>
      <p:pic>
        <p:nvPicPr>
          <p:cNvPr id="104" name="Presenton Native Image 5" descr=""/>
          <p:cNvPicPr/>
          <p:nvPr/>
        </p:nvPicPr>
        <p:blipFill>
          <a:blip r:embed="rId3" cstate="none"/>
          <a:stretch>
            <a:fillRect/>
          </a:stretch>
        </p:blipFill>
        <p:spPr>
          <a:xfrm>
            <a:off x="6620744" y="1190625"/>
            <a:ext cx="4655987" cy="2476500"/>
          </a:xfrm>
          <a:prstGeom prst="rect">
            <a:avLst/>
          </a:prstGeom>
        </p:spPr>
      </p:pic>
      <p:sp>
        <p:nvSpPr>
          <p:cNvPr id="27" name="Shape 27"/>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3. Fixation scores for eyes, midface, and mouth.</a:t>
            </a:r>
            <a:endParaRPr lang="en-US"/>
          </a:p>
        </p:txBody>
      </p:sp>
      <p:pic>
        <p:nvPicPr>
          <p:cNvPr id="105" name="Presenton Native Image 6" descr=""/>
          <p:cNvPicPr/>
          <p:nvPr/>
        </p:nvPicPr>
        <p:blipFill>
          <a:blip r:embed="rId2" cstate="none"/>
          <a:stretch>
            <a:fillRect/>
          </a:stretch>
        </p:blipFill>
        <p:spPr>
          <a:xfrm>
            <a:off x="8441098" y="4476750"/>
            <a:ext cx="1024804" cy="1381125"/>
          </a:xfrm>
          <a:prstGeom prst="rect">
            <a:avLst/>
          </a:prstGeom>
        </p:spPr>
      </p:pic>
      <p:sp>
        <p:nvSpPr>
          <p:cNvPr id="28" name="Shape 28"/>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1 (dog rows). Dog facial stimuli and the published gaze distributions.</a:t>
            </a:r>
            <a:endParaRPr lang="en-US"/>
          </a:p>
        </p:txBody>
      </p:sp>
      <p:sp>
        <p:nvSpPr>
          <p:cNvPr id="29" name="Shape 29"/>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Somppi et al. (2016)</a:t>
            </a:r>
            <a:endParaRPr lang="en-US"/>
          </a:p>
        </p:txBody>
      </p:sp>
      <p:sp>
        <p:nvSpPr>
          <p:cNvPr id="30" name="Shape 30"/>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 name="Shape 31"/>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Threatening human faces alter initial orienting</a:t>
            </a:r>
            <a:endParaRPr lang="en-US"/>
          </a:p>
        </p:txBody>
      </p:sp>
      <p:sp>
        <p:nvSpPr>
          <p:cNvPr id="32" name="Shape 32"/>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Initial orienting</a:t>
            </a:r>
            <a:r>
              <a:rPr sz="1500" b="0" i="0">
                <a:solidFill>
                  <a:srgbClr val="000000"/>
                </a:solidFill>
                <a:latin typeface="Arial"/>
                <a:ea typeface="Arial"/>
              </a:rPr>
              <a:t xml:space="preserve"> describes where attention is directed at the beginning of stimulus inspection. The probability of a first fixation landing on the inner face was lower for threatening human expressions than for pleasant or neutral human expressions.</a:t>
            </a:r>
            <a:endParaRPr lang="en-US"/>
          </a:p>
        </p:txBody>
      </p:sp>
      <p:sp>
        <p:nvSpPr>
          <p:cNvPr id="33" name="Shape 33"/>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same dogs viewed conspecific faces, meaning faces of their own species. Threatening dog faces received more inner-face viewing than other dog expressions. Consequently, the visual response depended jointly on expression and the species producing the signal.</a:t>
            </a:r>
            <a:endParaRPr lang="en-US"/>
          </a:p>
        </p:txBody>
      </p:sp>
      <p:sp>
        <p:nvSpPr>
          <p:cNvPr id="34" name="Shape 34"/>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first-fixation analysis adjusted for the relative size of the target region. Reduced initial gaze toward human threat is compatible with avoidance, but gaze alone cannot establish the animal’s motivation. No neural recording or circuit intervention accompanied these 1500 ms presentations.</a:t>
            </a:r>
            <a:endParaRPr lang="en-US"/>
          </a:p>
        </p:txBody>
      </p:sp>
      <p:pic>
        <p:nvPicPr>
          <p:cNvPr id="106" name="Presenton Native Image 7" descr=""/>
          <p:cNvPicPr/>
          <p:nvPr/>
        </p:nvPicPr>
        <p:blipFill>
          <a:blip r:embed="rId2" cstate="none"/>
          <a:stretch>
            <a:fillRect/>
          </a:stretch>
        </p:blipFill>
        <p:spPr>
          <a:xfrm>
            <a:off x="6620744" y="1190625"/>
            <a:ext cx="4655987" cy="2476500"/>
          </a:xfrm>
          <a:prstGeom prst="rect">
            <a:avLst/>
          </a:prstGeom>
        </p:spPr>
      </p:pic>
      <p:sp>
        <p:nvSpPr>
          <p:cNvPr id="35" name="Shape 35"/>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2A,B. Expression-dependent fixation scores and first fixations.</a:t>
            </a:r>
            <a:endParaRPr lang="en-US"/>
          </a:p>
        </p:txBody>
      </p:sp>
      <p:pic>
        <p:nvPicPr>
          <p:cNvPr id="107" name="Presenton Native Image 8" descr=""/>
          <p:cNvPicPr/>
          <p:nvPr/>
        </p:nvPicPr>
        <p:blipFill>
          <a:blip r:embed="rId3" cstate="none"/>
          <a:stretch>
            <a:fillRect/>
          </a:stretch>
        </p:blipFill>
        <p:spPr>
          <a:xfrm>
            <a:off x="7791458" y="4476750"/>
            <a:ext cx="2314560" cy="1381125"/>
          </a:xfrm>
          <a:prstGeom prst="rect">
            <a:avLst/>
          </a:prstGeom>
        </p:spPr>
      </p:pic>
      <p:sp>
        <p:nvSpPr>
          <p:cNvPr id="36" name="Shape 36"/>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4. Original first-fixation targets and scanning paths; circle key is 500 ms.</a:t>
            </a:r>
            <a:endParaRPr lang="en-US"/>
          </a:p>
        </p:txBody>
      </p:sp>
      <p:sp>
        <p:nvSpPr>
          <p:cNvPr id="37" name="Shape 37"/>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Somppi et al. (2016)</a:t>
            </a:r>
            <a:endParaRPr lang="en-US"/>
          </a:p>
        </p:txBody>
      </p:sp>
      <p:sp>
        <p:nvSpPr>
          <p:cNvPr id="38" name="Shape 38"/>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9" name="Shape 39"/>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Gaze heat maps locate attention without measuring fear</a:t>
            </a:r>
            <a:endParaRPr lang="en-US"/>
          </a:p>
        </p:txBody>
      </p:sp>
      <p:sp>
        <p:nvSpPr>
          <p:cNvPr id="40" name="Shape 40"/>
          <p:cNvSpPr/>
          <p:nvPr/>
        </p:nvSpPr>
        <p:spPr>
          <a:xfrm>
            <a:off x="571500" y="1190625"/>
            <a:ext cx="5448300" cy="9906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A </a:t>
            </a:r>
            <a:r>
              <a:rPr sz="1500" b="1" i="0">
                <a:solidFill>
                  <a:srgbClr val="444E55"/>
                </a:solidFill>
                <a:latin typeface="Arial"/>
                <a:ea typeface="Arial"/>
              </a:rPr>
              <a:t>gaze heat map</a:t>
            </a:r>
            <a:r>
              <a:rPr sz="1500" b="0" i="0">
                <a:solidFill>
                  <a:srgbClr val="000000"/>
                </a:solidFill>
                <a:latin typeface="Arial"/>
                <a:ea typeface="Arial"/>
              </a:rPr>
              <a:t xml:space="preserve"> represents the distribution of recorded fixations across a stimulus. The published maps from Somppi and colleagues place dogs’ gaze on eyes, muzzle, and mouth during presentations lasting 1500 ms.</a:t>
            </a:r>
            <a:endParaRPr lang="en-US"/>
          </a:p>
        </p:txBody>
      </p:sp>
      <p:sp>
        <p:nvSpPr>
          <p:cNvPr id="41" name="Shape 41"/>
          <p:cNvSpPr/>
          <p:nvPr/>
        </p:nvSpPr>
        <p:spPr>
          <a:xfrm>
            <a:off x="571500" y="2333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analysis compared threatening, pleasant, and neutral faces of both humans and dogs. It normalized looking duration for facial-region size, reducing the possibility that a larger mouth or eye region automatically receives a larger score simply because it occupies more space.</a:t>
            </a:r>
            <a:endParaRPr lang="en-US"/>
          </a:p>
        </p:txBody>
      </p:sp>
      <p:sp>
        <p:nvSpPr>
          <p:cNvPr id="42" name="Shape 42"/>
          <p:cNvSpPr/>
          <p:nvPr/>
        </p:nvSpPr>
        <p:spPr>
          <a:xfrm>
            <a:off x="571500" y="372427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These maps describe visual attention rather than neuronal activation. They cannot locate an amygdala response or distinguish arousal from avoidance without additional measurements. Expression-dependent gaze is evidence that the visual system discriminates social cues; the downstream defensive state remains a separate experimental question.</a:t>
            </a:r>
            <a:endParaRPr lang="en-US"/>
          </a:p>
        </p:txBody>
      </p:sp>
      <p:pic>
        <p:nvPicPr>
          <p:cNvPr id="108" name="Presenton Native Image 9" descr=""/>
          <p:cNvPicPr/>
          <p:nvPr/>
        </p:nvPicPr>
        <p:blipFill>
          <a:blip r:embed="rId2" cstate="none"/>
          <a:stretch>
            <a:fillRect/>
          </a:stretch>
        </p:blipFill>
        <p:spPr>
          <a:xfrm>
            <a:off x="8115300" y="1194376"/>
            <a:ext cx="1666875" cy="4373999"/>
          </a:xfrm>
          <a:prstGeom prst="rect">
            <a:avLst/>
          </a:prstGeom>
        </p:spPr>
      </p:pic>
      <p:sp>
        <p:nvSpPr>
          <p:cNvPr id="43" name="Shape 43"/>
          <p:cNvSpPr/>
          <p:nvPr/>
        </p:nvSpPr>
        <p:spPr>
          <a:xfrm>
            <a:off x="6477000" y="5667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1. Dog and human facial stimuli with published gaze distributions.</a:t>
            </a:r>
            <a:endParaRPr lang="en-US"/>
          </a:p>
        </p:txBody>
      </p:sp>
      <p:sp>
        <p:nvSpPr>
          <p:cNvPr id="44" name="Shape 44"/>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Somppi et al. (2016)</a:t>
            </a:r>
            <a:endParaRPr lang="en-US"/>
          </a:p>
        </p:txBody>
      </p:sp>
      <p:sp>
        <p:nvSpPr>
          <p:cNvPr id="45" name="Shape 45"/>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6" name="Shape 46"/>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Facial scanning reflects several competing cues</a:t>
            </a:r>
            <a:endParaRPr lang="en-US"/>
          </a:p>
        </p:txBody>
      </p:sp>
      <p:sp>
        <p:nvSpPr>
          <p:cNvPr id="47" name="Shape 47"/>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Dogs’ first fixations and subsequent scanning paths sampled multiple parts of a face. Somppi and colleagues recorded these paths during 1500 ms presentations, with fixation duration and entry time providing different descriptions of visual attention.</a:t>
            </a:r>
            <a:endParaRPr lang="en-US"/>
          </a:p>
        </p:txBody>
      </p:sp>
      <p:sp>
        <p:nvSpPr>
          <p:cNvPr id="48" name="Shape 48"/>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Threatening dog faces received greater sustained sampling than pleasant or neutral dog faces, while threatening human faces were less likely to receive an initial inner-face fixation. The distinction prevents a simple rule that every threatening expression should produce longer looking.</a:t>
            </a:r>
            <a:endParaRPr lang="en-US"/>
          </a:p>
        </p:txBody>
      </p:sp>
      <p:sp>
        <p:nvSpPr>
          <p:cNvPr id="49" name="Shape 49"/>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authors compared expressions within species and considered image properties when analyzing gaze. Nonetheless, a photograph does not provide the motion, distance, vocalization, or opportunity to withdraw present in a real encounter. Visual discrimination and defensive behavior therefore require different measured outcomes.</a:t>
            </a:r>
            <a:endParaRPr lang="en-US"/>
          </a:p>
        </p:txBody>
      </p:sp>
      <p:pic>
        <p:nvPicPr>
          <p:cNvPr id="109" name="Presenton Native Image 10" descr=""/>
          <p:cNvPicPr/>
          <p:nvPr/>
        </p:nvPicPr>
        <p:blipFill>
          <a:blip r:embed="rId2" cstate="none"/>
          <a:stretch>
            <a:fillRect/>
          </a:stretch>
        </p:blipFill>
        <p:spPr>
          <a:xfrm>
            <a:off x="6585902" y="1188720"/>
            <a:ext cx="4750434" cy="2834640"/>
          </a:xfrm>
          <a:prstGeom prst="rect">
            <a:avLst/>
          </a:prstGeom>
        </p:spPr>
      </p:pic>
      <p:sp>
        <p:nvSpPr>
          <p:cNvPr id="50" name="Shape 50"/>
          <p:cNvSpPr/>
          <p:nvPr/>
        </p:nvSpPr>
        <p:spPr>
          <a:xfrm>
            <a:off x="6473952" y="4096512"/>
            <a:ext cx="4974336" cy="384048"/>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Somppi et al. (2016), Fig. 4. Original first-fixation targets and scanning paths; circle key is 500 ms.</a:t>
            </a:r>
            <a:endParaRPr lang="en-US"/>
          </a:p>
        </p:txBody>
      </p:sp>
      <p:sp>
        <p:nvSpPr>
          <p:cNvPr id="51" name="Shape 51"/>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Somppi et al. (2016)</a:t>
            </a:r>
            <a:endParaRPr lang="en-US"/>
          </a:p>
        </p:txBody>
      </p:sp>
      <p:sp>
        <p:nvSpPr>
          <p:cNvPr id="52" name="Shape 52"/>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7</a:t>
            </a:r>
            <a:endParaRPr lang="en-US"/>
          </a:p>
        </p:txBody>
      </p:sp>
      <p:pic>
        <p:nvPicPr>
          <p:cNvPr id="110" name="Picture 109" descr="Somppi2016_S2_poster.jpg"/>
          <p:cNvPicPr>
            <a:picLocks noChangeAspect="1"/>
          </p:cNvPicPr>
          <p:nvPr/>
        </p:nvPicPr>
        <p:blipFill>
          <a:blip r:embed="rId4"/>
          <a:stretch>
            <a:fillRect/>
          </a:stretch>
        </p:blipFill>
        <p:spPr>
          <a:xfrm>
            <a:off x="7635220" y="4590288"/>
            <a:ext cx="2651798" cy="1490472"/>
          </a:xfrm>
          <a:prstGeom prst="rect">
            <a:avLst/>
          </a:prstGeom>
        </p:spPr>
      </p:pic>
      <p:pic>
        <p:nvPicPr>
          <p:cNvPr id="111" name="Somppi2016_S2.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635220" y="4590288"/>
            <a:ext cx="2651798" cy="1490472"/>
          </a:xfrm>
          <a:prstGeom prst="rect">
            <a:avLst/>
          </a:prstGeom>
        </p:spPr>
      </p:pic>
      <p:sp>
        <p:nvSpPr>
          <p:cNvPr id="112" name="TextBox 111"/>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Article video: Somppi et al. (2016), S2 Movie.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1"/>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3" name="Shape 53"/>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Cats match hissing sounds to threatening faces</a:t>
            </a:r>
            <a:endParaRPr lang="en-US"/>
          </a:p>
        </p:txBody>
      </p:sp>
      <p:sp>
        <p:nvSpPr>
          <p:cNvPr id="54" name="Shape 54"/>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Cross-modal recognition</a:t>
            </a:r>
            <a:r>
              <a:rPr sz="1500" b="0" i="0">
                <a:solidFill>
                  <a:srgbClr val="000000"/>
                </a:solidFill>
                <a:latin typeface="Arial"/>
                <a:ea typeface="Arial"/>
              </a:rPr>
              <a:t xml:space="preserve"> is matching information carried by different senses. Quaranta and colleagues presented cats with two facial expressions of the same individual while playing a vocalization matching only one expression. A presentation lasted 5 s.</a:t>
            </a:r>
            <a:endParaRPr lang="en-US"/>
          </a:p>
        </p:txBody>
      </p:sp>
      <p:sp>
        <p:nvSpPr>
          <p:cNvPr id="55" name="Shape 55"/>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Cats looked longer at the congruent face when hearing a conspecific hiss. They also matched human anger and happiness vocalizations to the corresponding human expressions. </a:t>
            </a:r>
            <a:r>
              <a:rPr sz="1500" b="1" i="0">
                <a:solidFill>
                  <a:srgbClr val="444E55"/>
                </a:solidFill>
                <a:latin typeface="Arial"/>
                <a:ea typeface="Arial"/>
              </a:rPr>
              <a:t>Congruent</a:t>
            </a:r>
            <a:r>
              <a:rPr sz="1500" b="0" i="0">
                <a:solidFill>
                  <a:srgbClr val="000000"/>
                </a:solidFill>
                <a:latin typeface="Arial"/>
                <a:ea typeface="Arial"/>
              </a:rPr>
              <a:t xml:space="preserve"> means that the expression and sound belonged to the same emotional condition.</a:t>
            </a:r>
            <a:endParaRPr lang="en-US"/>
          </a:p>
        </p:txBody>
      </p:sp>
      <p:sp>
        <p:nvSpPr>
          <p:cNvPr id="56" name="Shape 56"/>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Neutral Brownian sound provided a control without the emotional vocal cue. Preferential matching supports integration of visual and auditory social information. It does not prove that cats experience the displayed emotion or identify the neurons performing this integration.</a:t>
            </a:r>
            <a:endParaRPr lang="en-US"/>
          </a:p>
        </p:txBody>
      </p:sp>
      <p:pic>
        <p:nvPicPr>
          <p:cNvPr id="110" name="Presenton Native Image 11" descr=""/>
          <p:cNvPicPr/>
          <p:nvPr/>
        </p:nvPicPr>
        <p:blipFill>
          <a:blip r:embed="rId2" cstate="none"/>
          <a:stretch>
            <a:fillRect/>
          </a:stretch>
        </p:blipFill>
        <p:spPr>
          <a:xfrm>
            <a:off x="6473952" y="1207111"/>
            <a:ext cx="3200400" cy="2203497"/>
          </a:xfrm>
          <a:prstGeom prst="rect">
            <a:avLst/>
          </a:prstGeom>
        </p:spPr>
      </p:pic>
      <p:sp>
        <p:nvSpPr>
          <p:cNvPr id="57" name="Shape 57"/>
          <p:cNvSpPr/>
          <p:nvPr/>
        </p:nvSpPr>
        <p:spPr>
          <a:xfrm>
            <a:off x="6473952" y="3520440"/>
            <a:ext cx="320040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Quaranta et al. (2020), Fig. 3. Congruence scores for matching facial and vocal emotional cues.</a:t>
            </a:r>
            <a:endParaRPr lang="en-US"/>
          </a:p>
        </p:txBody>
      </p:sp>
      <p:pic>
        <p:nvPicPr>
          <p:cNvPr id="111" name="Presenton Native Image 12" descr=""/>
          <p:cNvPicPr/>
          <p:nvPr/>
        </p:nvPicPr>
        <p:blipFill>
          <a:blip r:embed="rId3" cstate="none"/>
          <a:stretch>
            <a:fillRect/>
          </a:stretch>
        </p:blipFill>
        <p:spPr>
          <a:xfrm>
            <a:off x="9893808" y="1819165"/>
            <a:ext cx="1554480" cy="979389"/>
          </a:xfrm>
          <a:prstGeom prst="rect">
            <a:avLst/>
          </a:prstGeom>
        </p:spPr>
      </p:pic>
      <p:sp>
        <p:nvSpPr>
          <p:cNvPr id="58" name="Shape 58"/>
          <p:cNvSpPr/>
          <p:nvPr/>
        </p:nvSpPr>
        <p:spPr>
          <a:xfrm>
            <a:off x="9893808" y="3520440"/>
            <a:ext cx="155448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Quaranta et al. (2020), Fig. 1 (cat rows). Hiss and purr faces with corresponding waveforms and sonograms.</a:t>
            </a:r>
            <a:endParaRPr lang="en-US"/>
          </a:p>
        </p:txBody>
      </p:sp>
      <p:sp>
        <p:nvSpPr>
          <p:cNvPr id="59" name="Shape 59"/>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Quaranta et al. (2020)</a:t>
            </a:r>
            <a:endParaRPr lang="en-US"/>
          </a:p>
        </p:txBody>
      </p:sp>
      <p:sp>
        <p:nvSpPr>
          <p:cNvPr id="60" name="Shape 60"/>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8</a:t>
            </a:r>
            <a:endParaRPr lang="en-US"/>
          </a:p>
        </p:txBody>
      </p:sp>
      <p:pic>
        <p:nvPicPr>
          <p:cNvPr id="112" name="Picture 111" descr="Masserman1943_CatDog_poster.jpg"/>
          <p:cNvPicPr>
            <a:picLocks noChangeAspect="1"/>
          </p:cNvPicPr>
          <p:nvPr/>
        </p:nvPicPr>
        <p:blipFill>
          <a:blip r:embed="rId5"/>
          <a:stretch>
            <a:fillRect/>
          </a:stretch>
        </p:blipFill>
        <p:spPr>
          <a:xfrm>
            <a:off x="7441184" y="4370832"/>
            <a:ext cx="3039872" cy="1709928"/>
          </a:xfrm>
          <a:prstGeom prst="rect">
            <a:avLst/>
          </a:prstGeom>
        </p:spPr>
      </p:pic>
      <p:pic>
        <p:nvPicPr>
          <p:cNvPr id="113" name="Masserman1943_CatDog.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441184" y="4370832"/>
            <a:ext cx="3039872" cy="1709928"/>
          </a:xfrm>
          <a:prstGeom prst="rect">
            <a:avLst/>
          </a:prstGeom>
        </p:spPr>
      </p:pic>
      <p:sp>
        <p:nvSpPr>
          <p:cNvPr id="114" name="TextBox 113"/>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Historical research: Masserman (1943), cat responding to a dog (silent).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 name="Shape 61"/>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Matched sound intensity controls one source of arousal</a:t>
            </a:r>
            <a:endParaRPr lang="en-US"/>
          </a:p>
        </p:txBody>
      </p:sp>
      <p:sp>
        <p:nvSpPr>
          <p:cNvPr id="62" name="Shape 62"/>
          <p:cNvSpPr/>
          <p:nvPr/>
        </p:nvSpPr>
        <p:spPr>
          <a:xfrm>
            <a:off x="571500" y="1190625"/>
            <a:ext cx="5448300" cy="9906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cat recognition study used hissing and purring recorded during different social conditions. Hiss recordings came from a threatening encounter involving an approaching dog; purr recordings came from relaxed interactions with owners.</a:t>
            </a:r>
            <a:endParaRPr lang="en-US"/>
          </a:p>
        </p:txBody>
      </p:sp>
      <p:sp>
        <p:nvSpPr>
          <p:cNvPr id="63" name="Shape 63"/>
          <p:cNvSpPr/>
          <p:nvPr/>
        </p:nvSpPr>
        <p:spPr>
          <a:xfrm>
            <a:off x="571500" y="2333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Recordings were adjusted to 69 dB at the tested cat’s position. Facial photographs were converted to grayscale in the published experiment. These controls reduced sound-intensity and image-color differences as explanations for matching an expression to a vocalization.</a:t>
            </a:r>
            <a:endParaRPr lang="en-US"/>
          </a:p>
        </p:txBody>
      </p:sp>
      <p:sp>
        <p:nvSpPr>
          <p:cNvPr id="64" name="Shape 64"/>
          <p:cNvSpPr/>
          <p:nvPr/>
        </p:nvSpPr>
        <p:spPr>
          <a:xfrm>
            <a:off x="571500" y="372427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Each audiovisual presentation lasted 5 s, allowing spontaneous gaze to either face. The published waveform and sonogram preserve time and frequency information from the actual stimuli. Matching cannot be reduced to loudness alone, but acoustic and facial features still differ between emotional conditions and contribute to their discrimination.</a:t>
            </a:r>
            <a:endParaRPr lang="en-US"/>
          </a:p>
        </p:txBody>
      </p:sp>
      <p:pic>
        <p:nvPicPr>
          <p:cNvPr id="112" name="Presenton Native Image 13" descr=""/>
          <p:cNvPicPr/>
          <p:nvPr/>
        </p:nvPicPr>
        <p:blipFill>
          <a:blip r:embed="rId2" cstate="none"/>
          <a:stretch>
            <a:fillRect/>
          </a:stretch>
        </p:blipFill>
        <p:spPr>
          <a:xfrm>
            <a:off x="6477000" y="1192424"/>
            <a:ext cx="4953000" cy="3120603"/>
          </a:xfrm>
          <a:prstGeom prst="rect">
            <a:avLst/>
          </a:prstGeom>
        </p:spPr>
      </p:pic>
      <p:sp>
        <p:nvSpPr>
          <p:cNvPr id="65" name="Shape 65"/>
          <p:cNvSpPr/>
          <p:nvPr/>
        </p:nvSpPr>
        <p:spPr>
          <a:xfrm>
            <a:off x="6477000" y="44100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Quaranta et al. (2020), Fig. 1 (cat rows). Hiss and purr faces with corresponding waveforms and sonograms.</a:t>
            </a:r>
            <a:endParaRPr lang="en-US"/>
          </a:p>
        </p:txBody>
      </p:sp>
      <p:sp>
        <p:nvSpPr>
          <p:cNvPr id="66" name="Shape 66"/>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Quaranta et al. (2020)</a:t>
            </a:r>
            <a:endParaRPr lang="en-US"/>
          </a:p>
        </p:txBody>
      </p:sp>
      <p:sp>
        <p:nvSpPr>
          <p:cNvPr id="67" name="Shape 67"/>
          <p:cNvSpPr/>
          <p:nvPr/>
        </p:nvSpPr>
        <p:spPr>
          <a:xfrm>
            <a:off x="11544151" y="6448425"/>
            <a:ext cx="95399"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 name="Shape 68"/>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Human anger increases cats’ stress-related behavior</a:t>
            </a:r>
            <a:endParaRPr lang="en-US"/>
          </a:p>
        </p:txBody>
      </p:sp>
      <p:sp>
        <p:nvSpPr>
          <p:cNvPr id="69" name="Shape 69"/>
          <p:cNvSpPr/>
          <p:nvPr/>
        </p:nvSpPr>
        <p:spPr>
          <a:xfrm>
            <a:off x="571500" y="11906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Quaranta and colleagues scored cats’ behavior during audiovisual presentations of human anger, human happiness, cat hissing, and cat purring. </a:t>
            </a:r>
            <a:r>
              <a:rPr sz="1500" b="1" i="0">
                <a:solidFill>
                  <a:srgbClr val="444E55"/>
                </a:solidFill>
                <a:latin typeface="Arial"/>
                <a:ea typeface="Arial"/>
              </a:rPr>
              <a:t>Stress-related behavior</a:t>
            </a:r>
            <a:r>
              <a:rPr sz="1500" b="0" i="0">
                <a:solidFill>
                  <a:srgbClr val="000000"/>
                </a:solidFill>
                <a:latin typeface="Arial"/>
                <a:ea typeface="Arial"/>
              </a:rPr>
              <a:t xml:space="preserve"> was operationalized as the observed frequency of specified behavioral signs, rather than inferred directly from facial matching.</a:t>
            </a:r>
            <a:endParaRPr lang="en-US"/>
          </a:p>
        </p:txBody>
      </p:sp>
      <p:sp>
        <p:nvSpPr>
          <p:cNvPr id="70" name="Shape 70"/>
          <p:cNvSpPr/>
          <p:nvPr/>
        </p:nvSpPr>
        <p:spPr>
          <a:xfrm>
            <a:off x="571500" y="2828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Cats expressed more stress-related behavior during human anger and cat hiss presentations than during human happiness or cat purr presentations. Sounds were standardized to 69 dB, and the same 5 s presentation procedure was used across conditions.</a:t>
            </a:r>
            <a:endParaRPr lang="en-US"/>
          </a:p>
        </p:txBody>
      </p:sp>
      <p:sp>
        <p:nvSpPr>
          <p:cNvPr id="71" name="Shape 71"/>
          <p:cNvSpPr/>
          <p:nvPr/>
        </p:nvSpPr>
        <p:spPr>
          <a:xfrm>
            <a:off x="571500" y="42195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behavioral score complements the gaze measure by assessing the recipient’s response. It does not measure circulating stress hormones or record brain activity. A threatening communication signal can alter behavior even when the recipient does not attack the sender.</a:t>
            </a:r>
            <a:endParaRPr lang="en-US"/>
          </a:p>
        </p:txBody>
      </p:sp>
      <p:pic>
        <p:nvPicPr>
          <p:cNvPr id="113" name="Presenton Native Image 14" descr=""/>
          <p:cNvPicPr/>
          <p:nvPr/>
        </p:nvPicPr>
        <p:blipFill>
          <a:blip r:embed="rId2" cstate="none"/>
          <a:stretch>
            <a:fillRect/>
          </a:stretch>
        </p:blipFill>
        <p:spPr>
          <a:xfrm>
            <a:off x="6473952" y="1291643"/>
            <a:ext cx="3200400" cy="2034432"/>
          </a:xfrm>
          <a:prstGeom prst="rect">
            <a:avLst/>
          </a:prstGeom>
        </p:spPr>
      </p:pic>
      <p:sp>
        <p:nvSpPr>
          <p:cNvPr id="72" name="Shape 72"/>
          <p:cNvSpPr/>
          <p:nvPr/>
        </p:nvSpPr>
        <p:spPr>
          <a:xfrm>
            <a:off x="6473952" y="3520440"/>
            <a:ext cx="320040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Quaranta et al. (2020), Fig. 4. Stress-related behavior during emotional stimulus presentations.</a:t>
            </a:r>
            <a:endParaRPr lang="en-US"/>
          </a:p>
        </p:txBody>
      </p:sp>
      <p:pic>
        <p:nvPicPr>
          <p:cNvPr id="114" name="Presenton Native Image 15" descr=""/>
          <p:cNvPicPr/>
          <p:nvPr/>
        </p:nvPicPr>
        <p:blipFill>
          <a:blip r:embed="rId3" cstate="none"/>
          <a:stretch>
            <a:fillRect/>
          </a:stretch>
        </p:blipFill>
        <p:spPr>
          <a:xfrm>
            <a:off x="9893808" y="1838526"/>
            <a:ext cx="1554480" cy="940666"/>
          </a:xfrm>
          <a:prstGeom prst="rect">
            <a:avLst/>
          </a:prstGeom>
        </p:spPr>
      </p:pic>
      <p:sp>
        <p:nvSpPr>
          <p:cNvPr id="73" name="Shape 73"/>
          <p:cNvSpPr/>
          <p:nvPr/>
        </p:nvSpPr>
        <p:spPr>
          <a:xfrm>
            <a:off x="9893808" y="3520440"/>
            <a:ext cx="155448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Quaranta et al. (2020), Fig. 1 (human rows). Happiness and anger stimuli with corresponding vocalizations.</a:t>
            </a:r>
            <a:endParaRPr lang="en-US"/>
          </a:p>
        </p:txBody>
      </p:sp>
      <p:sp>
        <p:nvSpPr>
          <p:cNvPr id="74" name="Shape 74"/>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Quaranta et al. (2020)</a:t>
            </a:r>
            <a:endParaRPr lang="en-US"/>
          </a:p>
        </p:txBody>
      </p:sp>
      <p:sp>
        <p:nvSpPr>
          <p:cNvPr id="75" name="Shape 75"/>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10</a:t>
            </a:r>
            <a:endParaRPr lang="en-US"/>
          </a:p>
        </p:txBody>
      </p:sp>
      <p:pic>
        <p:nvPicPr>
          <p:cNvPr id="115" name="Picture 114" descr="Humphrey2020_SI3_poster.jpg"/>
          <p:cNvPicPr>
            <a:picLocks noChangeAspect="1"/>
          </p:cNvPicPr>
          <p:nvPr/>
        </p:nvPicPr>
        <p:blipFill>
          <a:blip r:embed="rId5"/>
          <a:stretch>
            <a:fillRect/>
          </a:stretch>
        </p:blipFill>
        <p:spPr>
          <a:xfrm>
            <a:off x="7441184" y="4370832"/>
            <a:ext cx="3039872" cy="1709928"/>
          </a:xfrm>
          <a:prstGeom prst="rect">
            <a:avLst/>
          </a:prstGeom>
        </p:spPr>
      </p:pic>
      <p:pic>
        <p:nvPicPr>
          <p:cNvPr id="116" name="Humphrey2020_SI3.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441184" y="4370832"/>
            <a:ext cx="3039872" cy="1709928"/>
          </a:xfrm>
          <a:prstGeom prst="rect">
            <a:avLst/>
          </a:prstGeom>
        </p:spPr>
      </p:pic>
      <p:sp>
        <p:nvSpPr>
          <p:cNvPr id="117" name="TextBox 116"/>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Cat communication comparison: Humphrey et al. (2020), Supplementary Information 3 video.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6"/>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 name="Shape 76"/>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Purring does not produce the same matching result</a:t>
            </a:r>
            <a:endParaRPr lang="en-US"/>
          </a:p>
        </p:txBody>
      </p:sp>
      <p:sp>
        <p:nvSpPr>
          <p:cNvPr id="77" name="Shape 77"/>
          <p:cNvSpPr/>
          <p:nvPr/>
        </p:nvSpPr>
        <p:spPr>
          <a:xfrm>
            <a:off x="571500" y="11906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Cats did not display reliable preferential matching for the purr condition in the Quaranta study, although they matched cat hissing and both tested human emotional conditions. This asymmetry limits a claim that every affective vocalization is linked equally strongly to a distinctive facial expression.</a:t>
            </a:r>
            <a:endParaRPr lang="en-US"/>
          </a:p>
        </p:txBody>
      </p:sp>
      <p:sp>
        <p:nvSpPr>
          <p:cNvPr id="78" name="Shape 78"/>
          <p:cNvSpPr/>
          <p:nvPr/>
        </p:nvSpPr>
        <p:spPr>
          <a:xfrm>
            <a:off x="571500" y="2828925"/>
            <a:ext cx="5448300" cy="9906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The </a:t>
            </a:r>
            <a:r>
              <a:rPr sz="1500" b="1" i="0">
                <a:solidFill>
                  <a:srgbClr val="444E55"/>
                </a:solidFill>
                <a:latin typeface="Arial"/>
                <a:ea typeface="Arial"/>
              </a:rPr>
              <a:t>congruence index</a:t>
            </a:r>
            <a:r>
              <a:rPr sz="1500" b="0" i="0">
                <a:solidFill>
                  <a:srgbClr val="000000"/>
                </a:solidFill>
                <a:latin typeface="Arial"/>
                <a:ea typeface="Arial"/>
              </a:rPr>
              <a:t xml:space="preserve"> describes relative looking toward the matching face. A value of 1 indicates exclusive matching-face looking, a value of −1 indicates exclusive nonmatching-face looking, and zero indicates balanced looking.</a:t>
            </a:r>
            <a:endParaRPr lang="en-US"/>
          </a:p>
        </p:txBody>
      </p:sp>
      <p:sp>
        <p:nvSpPr>
          <p:cNvPr id="79" name="Shape 79"/>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Presentations lasted 5 s and compared expressions of the same individual. The absence of reliable purr matching may reflect the tested cues, task, or their salience. It does not establish that cats cannot perceive purring or recognize relaxed social contexts.</a:t>
            </a:r>
            <a:endParaRPr lang="en-US"/>
          </a:p>
        </p:txBody>
      </p:sp>
      <p:pic>
        <p:nvPicPr>
          <p:cNvPr id="115" name="Presenton Native Image 16" descr=""/>
          <p:cNvPicPr/>
          <p:nvPr/>
        </p:nvPicPr>
        <p:blipFill>
          <a:blip r:embed="rId2" cstate="none"/>
          <a:stretch>
            <a:fillRect/>
          </a:stretch>
        </p:blipFill>
        <p:spPr>
          <a:xfrm>
            <a:off x="6473952" y="1207111"/>
            <a:ext cx="3200400" cy="2203497"/>
          </a:xfrm>
          <a:prstGeom prst="rect">
            <a:avLst/>
          </a:prstGeom>
        </p:spPr>
      </p:pic>
      <p:sp>
        <p:nvSpPr>
          <p:cNvPr id="80" name="Shape 80"/>
          <p:cNvSpPr/>
          <p:nvPr/>
        </p:nvSpPr>
        <p:spPr>
          <a:xfrm>
            <a:off x="6473952" y="3520440"/>
            <a:ext cx="320040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Quaranta et al. (2020), Fig. 3. Congruence scores for matching facial and vocal emotional cues.</a:t>
            </a:r>
            <a:endParaRPr lang="en-US"/>
          </a:p>
        </p:txBody>
      </p:sp>
      <p:pic>
        <p:nvPicPr>
          <p:cNvPr id="116" name="Presenton Native Image 17" descr=""/>
          <p:cNvPicPr/>
          <p:nvPr/>
        </p:nvPicPr>
        <p:blipFill>
          <a:blip r:embed="rId3" cstate="none"/>
          <a:stretch>
            <a:fillRect/>
          </a:stretch>
        </p:blipFill>
        <p:spPr>
          <a:xfrm>
            <a:off x="9893808" y="1819165"/>
            <a:ext cx="1554480" cy="979389"/>
          </a:xfrm>
          <a:prstGeom prst="rect">
            <a:avLst/>
          </a:prstGeom>
        </p:spPr>
      </p:pic>
      <p:sp>
        <p:nvSpPr>
          <p:cNvPr id="81" name="Shape 81"/>
          <p:cNvSpPr/>
          <p:nvPr/>
        </p:nvSpPr>
        <p:spPr>
          <a:xfrm>
            <a:off x="9893808" y="3520440"/>
            <a:ext cx="155448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Quaranta et al. (2020), Fig. 1 (cat rows). Hiss and purr faces with corresponding waveforms and sonograms.</a:t>
            </a:r>
            <a:endParaRPr lang="en-US"/>
          </a:p>
        </p:txBody>
      </p:sp>
      <p:sp>
        <p:nvSpPr>
          <p:cNvPr id="82" name="Shape 82"/>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Quaranta et al. (2020)</a:t>
            </a:r>
            <a:endParaRPr lang="en-US"/>
          </a:p>
        </p:txBody>
      </p:sp>
      <p:sp>
        <p:nvSpPr>
          <p:cNvPr id="83" name="Shape 83"/>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11</a:t>
            </a:r>
            <a:endParaRPr lang="en-US"/>
          </a:p>
        </p:txBody>
      </p:sp>
      <p:pic>
        <p:nvPicPr>
          <p:cNvPr id="117" name="Picture 116" descr="Humphrey2020_SI2_poster.jpg"/>
          <p:cNvPicPr>
            <a:picLocks noChangeAspect="1"/>
          </p:cNvPicPr>
          <p:nvPr/>
        </p:nvPicPr>
        <p:blipFill>
          <a:blip r:embed="rId5"/>
          <a:stretch>
            <a:fillRect/>
          </a:stretch>
        </p:blipFill>
        <p:spPr>
          <a:xfrm>
            <a:off x="7441184" y="4370832"/>
            <a:ext cx="3039872" cy="1709928"/>
          </a:xfrm>
          <a:prstGeom prst="rect">
            <a:avLst/>
          </a:prstGeom>
        </p:spPr>
      </p:pic>
      <p:pic>
        <p:nvPicPr>
          <p:cNvPr id="118" name="Humphrey2020_SI2.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441184" y="4370832"/>
            <a:ext cx="3039872" cy="1709928"/>
          </a:xfrm>
          <a:prstGeom prst="rect">
            <a:avLst/>
          </a:prstGeom>
        </p:spPr>
      </p:pic>
      <p:sp>
        <p:nvSpPr>
          <p:cNvPr id="119" name="TextBox 118"/>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Cat communication comparison: Humphrey et al. (2020), Supplementary Information 2 video.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18"/>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 name="Shape 84"/>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Matching is tested against a neutral auditory control</a:t>
            </a:r>
            <a:endParaRPr lang="en-US"/>
          </a:p>
        </p:txBody>
      </p:sp>
      <p:sp>
        <p:nvSpPr>
          <p:cNvPr id="85" name="Shape 85"/>
          <p:cNvSpPr/>
          <p:nvPr/>
        </p:nvSpPr>
        <p:spPr>
          <a:xfrm>
            <a:off x="571500" y="1190625"/>
            <a:ext cx="5448300" cy="9906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The cat recognition experiment paired emotional faces with a neutral Brownian sound as a control condition. </a:t>
            </a:r>
            <a:r>
              <a:rPr sz="1500" b="1" i="0">
                <a:solidFill>
                  <a:srgbClr val="444E55"/>
                </a:solidFill>
                <a:latin typeface="Arial"/>
                <a:ea typeface="Arial"/>
              </a:rPr>
              <a:t>Brownian sound</a:t>
            </a:r>
            <a:r>
              <a:rPr sz="1500" b="0" i="0">
                <a:solidFill>
                  <a:srgbClr val="000000"/>
                </a:solidFill>
                <a:latin typeface="Arial"/>
                <a:ea typeface="Arial"/>
              </a:rPr>
              <a:t xml:space="preserve"> is a nonvocal noise stimulus; here it supplied auditory stimulation without a human or cat emotional vocalization.</a:t>
            </a:r>
            <a:endParaRPr lang="en-US"/>
          </a:p>
        </p:txBody>
      </p:sp>
      <p:sp>
        <p:nvSpPr>
          <p:cNvPr id="86" name="Shape 86"/>
          <p:cNvSpPr/>
          <p:nvPr/>
        </p:nvSpPr>
        <p:spPr>
          <a:xfrm>
            <a:off x="571500" y="23336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Cats did not reliably prefer either emotional face in these control presentations. In contrast, human anger and happiness vocalizations supported preferential looking toward the matching expression during 5 s trials. Owners were instructed to avoid interacting with their cats during the presentations.</a:t>
            </a:r>
            <a:endParaRPr lang="en-US"/>
          </a:p>
        </p:txBody>
      </p:sp>
      <p:sp>
        <p:nvSpPr>
          <p:cNvPr id="87" name="Shape 87"/>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neutral condition weakens an explanation based solely on a fixed preference for one facial photograph. Because no sensory pathway was disrupted, the experiment establishes behavioral audiovisual matching rather than causal dependence on a specific brain region or receptor.</a:t>
            </a:r>
            <a:endParaRPr lang="en-US"/>
          </a:p>
        </p:txBody>
      </p:sp>
      <p:pic>
        <p:nvPicPr>
          <p:cNvPr id="117" name="Presenton Native Image 18" descr=""/>
          <p:cNvPicPr/>
          <p:nvPr/>
        </p:nvPicPr>
        <p:blipFill>
          <a:blip r:embed="rId2" cstate="none"/>
          <a:stretch>
            <a:fillRect/>
          </a:stretch>
        </p:blipFill>
        <p:spPr>
          <a:xfrm>
            <a:off x="7155043" y="1190625"/>
            <a:ext cx="3596913" cy="2476500"/>
          </a:xfrm>
          <a:prstGeom prst="rect">
            <a:avLst/>
          </a:prstGeom>
        </p:spPr>
      </p:pic>
      <p:sp>
        <p:nvSpPr>
          <p:cNvPr id="88" name="Shape 88"/>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Quaranta et al. (2020), Fig. 3. Congruence scores for matching facial and vocal emotional cues.</a:t>
            </a:r>
            <a:endParaRPr lang="en-US"/>
          </a:p>
        </p:txBody>
      </p:sp>
      <p:pic>
        <p:nvPicPr>
          <p:cNvPr id="118" name="Presenton Native Image 19" descr=""/>
          <p:cNvPicPr/>
          <p:nvPr/>
        </p:nvPicPr>
        <p:blipFill>
          <a:blip r:embed="rId3" cstate="none"/>
          <a:stretch>
            <a:fillRect/>
          </a:stretch>
        </p:blipFill>
        <p:spPr>
          <a:xfrm>
            <a:off x="7812324" y="4476750"/>
            <a:ext cx="2282352" cy="1381125"/>
          </a:xfrm>
          <a:prstGeom prst="rect">
            <a:avLst/>
          </a:prstGeom>
        </p:spPr>
      </p:pic>
      <p:sp>
        <p:nvSpPr>
          <p:cNvPr id="89" name="Shape 89"/>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Quaranta et al. (2020), Fig. 1 (human rows). Happiness and anger stimuli with corresponding vocalizations.</a:t>
            </a:r>
            <a:endParaRPr lang="en-US"/>
          </a:p>
        </p:txBody>
      </p:sp>
      <p:sp>
        <p:nvSpPr>
          <p:cNvPr id="90" name="Shape 90"/>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Quaranta et al. (2020)</a:t>
            </a:r>
            <a:endParaRPr lang="en-US"/>
          </a:p>
        </p:txBody>
      </p:sp>
      <p:sp>
        <p:nvSpPr>
          <p:cNvPr id="91" name="Shape 91"/>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 name="Shape 92"/>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Canine fears vary with the provoking stimulus</a:t>
            </a:r>
            <a:endParaRPr lang="en-US"/>
          </a:p>
        </p:txBody>
      </p:sp>
      <p:sp>
        <p:nvSpPr>
          <p:cNvPr id="93" name="Shape 93"/>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Fear</a:t>
            </a:r>
            <a:r>
              <a:rPr sz="1500" b="0" i="0">
                <a:solidFill>
                  <a:srgbClr val="000000"/>
                </a:solidFill>
                <a:latin typeface="Arial"/>
                <a:ea typeface="Arial"/>
              </a:rPr>
              <a:t xml:space="preserve"> refers to a defensive response associated with a threat, while anxiety-related traits describe broader recurring patterns of apprehensive behavior. Salonen and colleagues used owner reports to assess noise sensitivity, social fear, surface-related fear, and several other behavioral traits.</a:t>
            </a:r>
            <a:endParaRPr lang="en-US"/>
          </a:p>
        </p:txBody>
      </p:sp>
      <p:sp>
        <p:nvSpPr>
          <p:cNvPr id="94" name="Shape 94"/>
          <p:cNvSpPr/>
          <p:nvPr/>
        </p:nvSpPr>
        <p:spPr>
          <a:xfrm>
            <a:off x="571500" y="2581275"/>
            <a:ext cx="5448300" cy="9906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Highly noise-sensitive behavior was reported in 32% of the surveyed dogs, and fear in 29%. Fireworks were the most commonly reported noise trigger. Fear of other dogs was the most common social-fear subtrait in this sample.</a:t>
            </a:r>
            <a:endParaRPr lang="en-US"/>
          </a:p>
        </p:txBody>
      </p:sp>
      <p:sp>
        <p:nvSpPr>
          <p:cNvPr id="95" name="Shape 95"/>
          <p:cNvSpPr/>
          <p:nvPr/>
        </p:nvSpPr>
        <p:spPr>
          <a:xfrm>
            <a:off x="571500" y="372427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These percentages describe the recruited survey population and the study’s operational thresholds. They do not establish population-wide prevalence or identify a neurotransmitter deficiency. Distinguishing triggers preserves information about sensory context that would be lost by treating all fearful behavior as one uniform phenotype.</a:t>
            </a:r>
            <a:endParaRPr lang="en-US"/>
          </a:p>
        </p:txBody>
      </p:sp>
      <p:pic>
        <p:nvPicPr>
          <p:cNvPr id="119" name="Presenton Native Image 20" descr=""/>
          <p:cNvPicPr/>
          <p:nvPr/>
        </p:nvPicPr>
        <p:blipFill>
          <a:blip r:embed="rId2" cstate="none"/>
          <a:stretch>
            <a:fillRect/>
          </a:stretch>
        </p:blipFill>
        <p:spPr>
          <a:xfrm>
            <a:off x="7998758" y="1188720"/>
            <a:ext cx="1924722" cy="2834640"/>
          </a:xfrm>
          <a:prstGeom prst="rect">
            <a:avLst/>
          </a:prstGeom>
        </p:spPr>
      </p:pic>
      <p:sp>
        <p:nvSpPr>
          <p:cNvPr id="96" name="Shape 96"/>
          <p:cNvSpPr/>
          <p:nvPr/>
        </p:nvSpPr>
        <p:spPr>
          <a:xfrm>
            <a:off x="6473952" y="4096512"/>
            <a:ext cx="4974336" cy="384048"/>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Salonen et al. (2020), Fig. 1a,b. Reported prevalence of canine anxiety traits and subtraits.</a:t>
            </a:r>
            <a:endParaRPr lang="en-US"/>
          </a:p>
        </p:txBody>
      </p:sp>
      <p:sp>
        <p:nvSpPr>
          <p:cNvPr id="97" name="Shape 97"/>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Salonen et al. (2020)</a:t>
            </a:r>
            <a:endParaRPr lang="en-US"/>
          </a:p>
        </p:txBody>
      </p:sp>
      <p:sp>
        <p:nvSpPr>
          <p:cNvPr id="98" name="Shape 98"/>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13</a:t>
            </a:r>
            <a:endParaRPr lang="en-US"/>
          </a:p>
        </p:txBody>
      </p:sp>
      <p:pic>
        <p:nvPicPr>
          <p:cNvPr id="120" name="Picture 119" descr="Wan2012_S2_poster.jpg"/>
          <p:cNvPicPr>
            <a:picLocks noChangeAspect="1"/>
          </p:cNvPicPr>
          <p:nvPr/>
        </p:nvPicPr>
        <p:blipFill>
          <a:blip r:embed="rId4"/>
          <a:stretch>
            <a:fillRect/>
          </a:stretch>
        </p:blipFill>
        <p:spPr>
          <a:xfrm>
            <a:off x="7967472" y="4590288"/>
            <a:ext cx="1987295" cy="1490472"/>
          </a:xfrm>
          <a:prstGeom prst="rect">
            <a:avLst/>
          </a:prstGeom>
        </p:spPr>
      </p:pic>
      <p:pic>
        <p:nvPicPr>
          <p:cNvPr id="121" name="Wan2012_S2.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67472" y="4590288"/>
            <a:ext cx="1987295" cy="1490472"/>
          </a:xfrm>
          <a:prstGeom prst="rect">
            <a:avLst/>
          </a:prstGeom>
        </p:spPr>
      </p:pic>
      <p:sp>
        <p:nvSpPr>
          <p:cNvPr id="122" name="TextBox 121"/>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Dog behavior comparison: Wan et al. (2012), Video S2.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1"/>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9" name="Shape 99"/>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Fear and aggression overlap without being identical</a:t>
            </a:r>
            <a:endParaRPr lang="en-US"/>
          </a:p>
        </p:txBody>
      </p:sp>
      <p:sp>
        <p:nvSpPr>
          <p:cNvPr id="100" name="Shape 100"/>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Comorbidity</a:t>
            </a:r>
            <a:r>
              <a:rPr sz="1500" b="0" i="0">
                <a:solidFill>
                  <a:srgbClr val="000000"/>
                </a:solidFill>
                <a:latin typeface="Arial"/>
                <a:ea typeface="Arial"/>
              </a:rPr>
              <a:t xml:space="preserve"> is the occurrence of more than one classified condition in the same individual. In Salonen and colleagues’ owner-reported survey, dogs classified as aggressive were 3.2 times more often classified as fearful than dogs without that aggression classification.</a:t>
            </a:r>
            <a:endParaRPr lang="en-US"/>
          </a:p>
        </p:txBody>
      </p:sp>
      <p:sp>
        <p:nvSpPr>
          <p:cNvPr id="101" name="Shape 101"/>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study separately scored fear and aggression, rather than defining aggression as proof of fear. Fear also overlapped with noise sensitivity and separation-related behavior. These associations connect several behavioral dimensions while preserving their separate definitions.</a:t>
            </a:r>
            <a:endParaRPr lang="en-US"/>
          </a:p>
        </p:txBody>
      </p:sp>
      <p:sp>
        <p:nvSpPr>
          <p:cNvPr id="102" name="Shape 102"/>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cross-sectional survey measures co-occurrence at the time of reporting. It cannot establish that fear caused aggression, that aggression caused fear, or that both depend on the same neural mechanism. Shared environments, inherited predispositions, and reporting patterns remain possible contributors to the association.</a:t>
            </a:r>
            <a:endParaRPr lang="en-US"/>
          </a:p>
        </p:txBody>
      </p:sp>
      <p:pic>
        <p:nvPicPr>
          <p:cNvPr id="120" name="Presenton Native Image 21" descr=""/>
          <p:cNvPicPr/>
          <p:nvPr/>
        </p:nvPicPr>
        <p:blipFill>
          <a:blip r:embed="rId2" cstate="none"/>
          <a:stretch>
            <a:fillRect/>
          </a:stretch>
        </p:blipFill>
        <p:spPr>
          <a:xfrm>
            <a:off x="7389835" y="1188720"/>
            <a:ext cx="3142569" cy="2834640"/>
          </a:xfrm>
          <a:prstGeom prst="rect">
            <a:avLst/>
          </a:prstGeom>
        </p:spPr>
      </p:pic>
      <p:sp>
        <p:nvSpPr>
          <p:cNvPr id="103" name="Shape 103"/>
          <p:cNvSpPr/>
          <p:nvPr/>
        </p:nvSpPr>
        <p:spPr>
          <a:xfrm>
            <a:off x="6473952" y="4096512"/>
            <a:ext cx="4974336" cy="384048"/>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Salonen et al. (2020), Fig. 2b. Relative risks of co-occurring reported traits.</a:t>
            </a:r>
            <a:endParaRPr lang="en-US"/>
          </a:p>
        </p:txBody>
      </p:sp>
      <p:sp>
        <p:nvSpPr>
          <p:cNvPr id="104" name="Shape 104"/>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Salonen et al. (2020)</a:t>
            </a:r>
            <a:endParaRPr lang="en-US"/>
          </a:p>
        </p:txBody>
      </p:sp>
      <p:sp>
        <p:nvSpPr>
          <p:cNvPr id="105" name="Shape 105"/>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14</a:t>
            </a:r>
            <a:endParaRPr lang="en-US"/>
          </a:p>
        </p:txBody>
      </p:sp>
      <p:pic>
        <p:nvPicPr>
          <p:cNvPr id="121" name="Picture 120" descr="Wan2012_S1_poster.jpg"/>
          <p:cNvPicPr>
            <a:picLocks noChangeAspect="1"/>
          </p:cNvPicPr>
          <p:nvPr/>
        </p:nvPicPr>
        <p:blipFill>
          <a:blip r:embed="rId4"/>
          <a:stretch>
            <a:fillRect/>
          </a:stretch>
        </p:blipFill>
        <p:spPr>
          <a:xfrm>
            <a:off x="7967472" y="4590288"/>
            <a:ext cx="1987295" cy="1490472"/>
          </a:xfrm>
          <a:prstGeom prst="rect">
            <a:avLst/>
          </a:prstGeom>
        </p:spPr>
      </p:pic>
      <p:pic>
        <p:nvPicPr>
          <p:cNvPr id="122" name="Wan2012_S1.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967472" y="4590288"/>
            <a:ext cx="1987295" cy="1490472"/>
          </a:xfrm>
          <a:prstGeom prst="rect">
            <a:avLst/>
          </a:prstGeom>
        </p:spPr>
      </p:pic>
      <p:sp>
        <p:nvSpPr>
          <p:cNvPr id="123" name="TextBox 122"/>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Dog behavior comparison: Wan et al. (2012), Video S1.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2"/>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6" name="Shape 106"/>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Age and sex associations do not identify mechanisms</a:t>
            </a:r>
            <a:endParaRPr lang="en-US"/>
          </a:p>
        </p:txBody>
      </p:sp>
      <p:sp>
        <p:nvSpPr>
          <p:cNvPr id="107" name="Shape 107"/>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Salonen and colleagues compared reported anxiety-related traits across ages and sexes. Noise sensitivity, particularly fear of thunder, increased with age in their survey, while female dogs were more often classified as fearful and male dogs more often classified as aggressive.</a:t>
            </a:r>
            <a:endParaRPr lang="en-US"/>
          </a:p>
        </p:txBody>
      </p:sp>
      <p:sp>
        <p:nvSpPr>
          <p:cNvPr id="108" name="Shape 108"/>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dogs ranged from young puppies to older adults, extending the observations across much of the canine lifespan. The questionnaire distinguished fear of other dogs, strangers, and novel situations from aggression toward people and other behavioral categories.</a:t>
            </a:r>
            <a:endParaRPr lang="en-US"/>
          </a:p>
        </p:txBody>
      </p:sp>
      <p:sp>
        <p:nvSpPr>
          <p:cNvPr id="109" name="Shape 109"/>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These associations describe variation rather than an experimental effect of aging or sex hormones. Cohort differences, prior experiences, health, and owner interpretation were not eliminated by assigning dogs randomly to these characteristics. The survey provides behavioral context, but receptor-level explanations require a different experimental design.</a:t>
            </a:r>
            <a:endParaRPr lang="en-US"/>
          </a:p>
        </p:txBody>
      </p:sp>
      <p:pic>
        <p:nvPicPr>
          <p:cNvPr id="121" name="Presenton Native Image 22" descr=""/>
          <p:cNvPicPr/>
          <p:nvPr/>
        </p:nvPicPr>
        <p:blipFill>
          <a:blip r:embed="rId2" cstate="none"/>
          <a:stretch>
            <a:fillRect/>
          </a:stretch>
        </p:blipFill>
        <p:spPr>
          <a:xfrm>
            <a:off x="6610350" y="1192489"/>
            <a:ext cx="4686300" cy="4377771"/>
          </a:xfrm>
          <a:prstGeom prst="rect">
            <a:avLst/>
          </a:prstGeom>
        </p:spPr>
      </p:pic>
      <p:sp>
        <p:nvSpPr>
          <p:cNvPr id="110" name="Shape 110"/>
          <p:cNvSpPr/>
          <p:nvPr/>
        </p:nvSpPr>
        <p:spPr>
          <a:xfrm>
            <a:off x="6477000" y="5667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Salonen et al. (2020), Fig. 3a–d. Age and sex distributions of reported behavioral traits.</a:t>
            </a:r>
            <a:endParaRPr lang="en-US"/>
          </a:p>
        </p:txBody>
      </p:sp>
      <p:sp>
        <p:nvSpPr>
          <p:cNvPr id="111" name="Shape 111"/>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Salonen et al. (2020)</a:t>
            </a:r>
            <a:endParaRPr lang="en-US"/>
          </a:p>
        </p:txBody>
      </p:sp>
      <p:sp>
        <p:nvSpPr>
          <p:cNvPr id="112" name="Shape 112"/>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13" name="Shape 113"/>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Cat defensive rage recruits coordinated responses</a:t>
            </a:r>
            <a:endParaRPr lang="en-US"/>
          </a:p>
        </p:txBody>
      </p:sp>
      <p:sp>
        <p:nvSpPr>
          <p:cNvPr id="114" name="Shape 114"/>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Defensive rage</a:t>
            </a:r>
            <a:r>
              <a:rPr sz="1500" b="0" i="0">
                <a:solidFill>
                  <a:srgbClr val="000000"/>
                </a:solidFill>
                <a:latin typeface="Arial"/>
                <a:ea typeface="Arial"/>
              </a:rPr>
              <a:t xml:space="preserve"> is the historical name for a coordinated feline defensive response elicited experimentally, including hissing, ear retraction, piloerection, back arching, and strikes with the paws. </a:t>
            </a:r>
            <a:r>
              <a:rPr sz="1500" b="1" i="0">
                <a:solidFill>
                  <a:srgbClr val="444E55"/>
                </a:solidFill>
                <a:latin typeface="Arial"/>
                <a:ea typeface="Arial"/>
              </a:rPr>
              <a:t>Piloerection</a:t>
            </a:r>
            <a:r>
              <a:rPr sz="1500" b="0" i="0">
                <a:solidFill>
                  <a:srgbClr val="000000"/>
                </a:solidFill>
                <a:latin typeface="Arial"/>
                <a:ea typeface="Arial"/>
              </a:rPr>
              <a:t xml:space="preserve"> means raising the hairs rather than a separate act of attack.</a:t>
            </a:r>
            <a:endParaRPr lang="en-US"/>
          </a:p>
        </p:txBody>
      </p:sp>
      <p:sp>
        <p:nvSpPr>
          <p:cNvPr id="115" name="Shape 115"/>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Lu and colleagues elicited the response from the medial hypothalamus and the dorsal </a:t>
            </a:r>
            <a:r>
              <a:rPr sz="1500" b="1" i="0">
                <a:solidFill>
                  <a:srgbClr val="444E55"/>
                </a:solidFill>
                <a:latin typeface="Arial"/>
                <a:ea typeface="Arial"/>
              </a:rPr>
              <a:t>periaqueductal gray</a:t>
            </a:r>
            <a:r>
              <a:rPr sz="1500" b="0" i="0">
                <a:solidFill>
                  <a:srgbClr val="000000"/>
                </a:solidFill>
                <a:latin typeface="Arial"/>
                <a:ea typeface="Arial"/>
              </a:rPr>
              <a:t>, or PAG, the midbrain gray matter surrounding the cerebral aqueduct. They measured the time from stimulation onset to hissing, with stimulation limited to 15 s.</a:t>
            </a:r>
            <a:endParaRPr lang="en-US"/>
          </a:p>
        </p:txBody>
      </p:sp>
      <p:sp>
        <p:nvSpPr>
          <p:cNvPr id="116" name="Shape 116"/>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Electrical stimulation tests whether activity at a site can recruit a behavioral pattern. It does not reproduce recognition of a particular natural threat or measure subjective fear. The elicited response includes vocal, postural, and autonomic components rather than a single isolated movement.</a:t>
            </a:r>
            <a:endParaRPr lang="en-US"/>
          </a:p>
        </p:txBody>
      </p:sp>
      <p:pic>
        <p:nvPicPr>
          <p:cNvPr id="122" name="Presenton Native Image 23" descr=""/>
          <p:cNvPicPr/>
          <p:nvPr/>
        </p:nvPicPr>
        <p:blipFill>
          <a:blip r:embed="rId2" cstate="none"/>
          <a:stretch>
            <a:fillRect/>
          </a:stretch>
        </p:blipFill>
        <p:spPr>
          <a:xfrm>
            <a:off x="7441633" y="1188720"/>
            <a:ext cx="1265037" cy="2240280"/>
          </a:xfrm>
          <a:prstGeom prst="rect">
            <a:avLst/>
          </a:prstGeom>
        </p:spPr>
      </p:pic>
      <p:sp>
        <p:nvSpPr>
          <p:cNvPr id="117" name="Shape 117"/>
          <p:cNvSpPr/>
          <p:nvPr/>
        </p:nvSpPr>
        <p:spPr>
          <a:xfrm>
            <a:off x="6473952" y="3520440"/>
            <a:ext cx="320040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Lu et al. (1992), Fig. 1A,B. PAG and medial hypothalamic stimulation sites.</a:t>
            </a:r>
            <a:endParaRPr lang="en-US"/>
          </a:p>
        </p:txBody>
      </p:sp>
      <p:pic>
        <p:nvPicPr>
          <p:cNvPr id="123" name="Presenton Native Image 24" descr=""/>
          <p:cNvPicPr/>
          <p:nvPr/>
        </p:nvPicPr>
        <p:blipFill>
          <a:blip r:embed="rId3" cstate="none"/>
          <a:stretch>
            <a:fillRect/>
          </a:stretch>
        </p:blipFill>
        <p:spPr>
          <a:xfrm>
            <a:off x="10079448" y="1188720"/>
            <a:ext cx="1183198" cy="2240280"/>
          </a:xfrm>
          <a:prstGeom prst="rect">
            <a:avLst/>
          </a:prstGeom>
        </p:spPr>
      </p:pic>
      <p:sp>
        <p:nvSpPr>
          <p:cNvPr id="118" name="Shape 118"/>
          <p:cNvSpPr/>
          <p:nvPr/>
        </p:nvSpPr>
        <p:spPr>
          <a:xfrm>
            <a:off x="9893808" y="3520440"/>
            <a:ext cx="1554480" cy="658368"/>
          </a:xfrm>
          <a:prstGeom prst="rect">
            <a:avLst/>
          </a:prstGeom>
          <a:noFill/>
        </p:spPr>
        <p:txBody>
          <a:bodyPr anchor="t" wrap="square" tIns="0" bIns="0" lIns="0" rIns="0">
            <a:normAutofit/>
          </a:bodyPr>
          <a:lstStyle/>
          <a:p>
            <a:pPr algn="l">
              <a:lnSpc>
                <a:spcPts val="1275"/>
              </a:lnSpc>
              <a:buNone/>
            </a:pPr>
            <a:r>
              <a:rPr sz="850" b="0" i="0">
                <a:solidFill>
                  <a:srgbClr val="000000"/>
                </a:solidFill>
                <a:latin typeface="Arial"/>
                <a:ea typeface="Arial"/>
              </a:rPr>
              <a:t>Bhatt et al. (2008), Fig. 6A,D. PAG tissue surrounding the aqueduct and receptor labeling; 100 μm bar.</a:t>
            </a:r>
            <a:endParaRPr lang="en-US"/>
          </a:p>
        </p:txBody>
      </p:sp>
      <p:sp>
        <p:nvSpPr>
          <p:cNvPr id="119" name="Shape 119"/>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 Bhatt et al. (2008)</a:t>
            </a:r>
            <a:endParaRPr lang="en-US"/>
          </a:p>
        </p:txBody>
      </p:sp>
      <p:sp>
        <p:nvSpPr>
          <p:cNvPr id="120" name="Shape 120"/>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16</a:t>
            </a:r>
            <a:endParaRPr lang="en-US"/>
          </a:p>
        </p:txBody>
      </p:sp>
      <p:pic>
        <p:nvPicPr>
          <p:cNvPr id="124" name="Picture 123" descr="Masserman1943_DefensiveResponse_poster.jpg"/>
          <p:cNvPicPr>
            <a:picLocks noChangeAspect="1"/>
          </p:cNvPicPr>
          <p:nvPr/>
        </p:nvPicPr>
        <p:blipFill>
          <a:blip r:embed="rId5"/>
          <a:stretch>
            <a:fillRect/>
          </a:stretch>
        </p:blipFill>
        <p:spPr>
          <a:xfrm>
            <a:off x="7441184" y="4370832"/>
            <a:ext cx="3039872" cy="1709928"/>
          </a:xfrm>
          <a:prstGeom prst="rect">
            <a:avLst/>
          </a:prstGeom>
        </p:spPr>
      </p:pic>
      <p:pic>
        <p:nvPicPr>
          <p:cNvPr id="125" name="Masserman1943_DefensiveResponse.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441184" y="4370832"/>
            <a:ext cx="3039872" cy="1709928"/>
          </a:xfrm>
          <a:prstGeom prst="rect">
            <a:avLst/>
          </a:prstGeom>
        </p:spPr>
      </p:pic>
      <p:sp>
        <p:nvSpPr>
          <p:cNvPr id="126" name="TextBox 125"/>
          <p:cNvSpPr txBox="1"/>
          <p:nvPr/>
        </p:nvSpPr>
        <p:spPr>
          <a:xfrm>
            <a:off x="6473952" y="6144768"/>
            <a:ext cx="4974336" cy="246888"/>
          </a:xfrm>
          <a:prstGeom prst="rect">
            <a:avLst/>
          </a:prstGeom>
          <a:noFill/>
        </p:spPr>
        <p:txBody>
          <a:bodyPr wrap="none" lIns="0" rIns="0" tIns="0" bIns="0">
            <a:spAutoFit/>
          </a:bodyPr>
          <a:lstStyle/>
          <a:p>
            <a:pPr>
              <a:defRPr sz="800">
                <a:solidFill>
                  <a:srgbClr val="000000"/>
                </a:solidFill>
                <a:latin typeface="Arial"/>
              </a:defRPr>
            </a:pPr>
            <a:r>
              <a:t>Historical research: Masserman (1943), induced defensive response (silent). Click video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125"/>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1" name="Shape 121"/>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Two-site stimulation tests descending facilitation</a:t>
            </a:r>
            <a:endParaRPr lang="en-US"/>
          </a:p>
        </p:txBody>
      </p:sp>
      <p:sp>
        <p:nvSpPr>
          <p:cNvPr id="122" name="Shape 122"/>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Lu and colleagues stimulated a PAG site that elicited hissing and paired it with medial hypothalamic stimulation below the level required to elicit behavior by itself. </a:t>
            </a:r>
            <a:r>
              <a:rPr sz="1500" b="1" i="0">
                <a:solidFill>
                  <a:srgbClr val="444E55"/>
                </a:solidFill>
                <a:latin typeface="Arial"/>
                <a:ea typeface="Arial"/>
              </a:rPr>
              <a:t>Facilitation</a:t>
            </a:r>
            <a:r>
              <a:rPr sz="1500" b="0" i="0">
                <a:solidFill>
                  <a:srgbClr val="000000"/>
                </a:solidFill>
                <a:latin typeface="Arial"/>
                <a:ea typeface="Arial"/>
              </a:rPr>
              <a:t xml:space="preserve"> means that the combined input made the PAG-elicited response occur sooner.</a:t>
            </a:r>
            <a:endParaRPr lang="en-US"/>
          </a:p>
        </p:txBody>
      </p:sp>
      <p:sp>
        <p:nvSpPr>
          <p:cNvPr id="123" name="Shape 123"/>
          <p:cNvSpPr/>
          <p:nvPr/>
        </p:nvSpPr>
        <p:spPr>
          <a:xfrm>
            <a:off x="571500" y="258127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At matched PAG stimulation parameters, concurrent hypothalamic stimulation shortened hissing latency. Before the highest kynurenic-acid dose, the dual-stimulation response was about 37% faster than the PAG-only response. Alternating single and dual trials provided a comparison within the same preparation.</a:t>
            </a:r>
            <a:endParaRPr lang="en-US"/>
          </a:p>
        </p:txBody>
      </p:sp>
      <p:sp>
        <p:nvSpPr>
          <p:cNvPr id="124" name="Shape 124"/>
          <p:cNvSpPr/>
          <p:nvPr/>
        </p:nvSpPr>
        <p:spPr>
          <a:xfrm>
            <a:off x="571500" y="42195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This procedure establishes a functional interaction between the selected sites. Electrical current can excite several elements, including passing fibers, so the result alone does not identify a monosynaptic connection or the transmitter responsible for facilitation.</a:t>
            </a:r>
            <a:endParaRPr lang="en-US"/>
          </a:p>
        </p:txBody>
      </p:sp>
      <p:pic>
        <p:nvPicPr>
          <p:cNvPr id="124" name="Presenton Native Image 25" descr=""/>
          <p:cNvPicPr/>
          <p:nvPr/>
        </p:nvPicPr>
        <p:blipFill>
          <a:blip r:embed="rId3" cstate="none"/>
          <a:stretch>
            <a:fillRect/>
          </a:stretch>
        </p:blipFill>
        <p:spPr>
          <a:xfrm>
            <a:off x="7231759" y="1190625"/>
            <a:ext cx="3433957" cy="2476500"/>
          </a:xfrm>
          <a:prstGeom prst="rect">
            <a:avLst/>
          </a:prstGeom>
        </p:spPr>
      </p:pic>
      <p:sp>
        <p:nvSpPr>
          <p:cNvPr id="125" name="Shape 125"/>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2. Kynurenic acid reverses hypothalamic facilitation of the PAG response.</a:t>
            </a:r>
            <a:endParaRPr lang="en-US"/>
          </a:p>
        </p:txBody>
      </p:sp>
      <p:pic>
        <p:nvPicPr>
          <p:cNvPr id="125" name="Presenton Native Image 26" descr=""/>
          <p:cNvPicPr/>
          <p:nvPr/>
        </p:nvPicPr>
        <p:blipFill>
          <a:blip r:embed="rId2" cstate="none"/>
          <a:stretch>
            <a:fillRect/>
          </a:stretch>
        </p:blipFill>
        <p:spPr>
          <a:xfrm>
            <a:off x="8563554" y="4476750"/>
            <a:ext cx="779892" cy="1381125"/>
          </a:xfrm>
          <a:prstGeom prst="rect">
            <a:avLst/>
          </a:prstGeom>
        </p:spPr>
      </p:pic>
      <p:sp>
        <p:nvSpPr>
          <p:cNvPr id="126" name="Shape 126"/>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1A,B. PAG and medial hypothalamic stimulation sites.</a:t>
            </a:r>
            <a:endParaRPr lang="en-US"/>
          </a:p>
        </p:txBody>
      </p:sp>
      <p:sp>
        <p:nvSpPr>
          <p:cNvPr id="127" name="Shape 127"/>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a:t>
            </a:r>
            <a:endParaRPr lang="en-US"/>
          </a:p>
        </p:txBody>
      </p:sp>
      <p:sp>
        <p:nvSpPr>
          <p:cNvPr id="128" name="Shape 128"/>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9" name="Shape 129"/>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PAG amino-acid blockade removes facilitation</a:t>
            </a:r>
            <a:endParaRPr lang="en-US"/>
          </a:p>
        </p:txBody>
      </p:sp>
      <p:sp>
        <p:nvSpPr>
          <p:cNvPr id="130" name="Shape 130"/>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Excitatory amino acids</a:t>
            </a:r>
            <a:r>
              <a:rPr sz="1500" b="0" i="0">
                <a:solidFill>
                  <a:srgbClr val="000000"/>
                </a:solidFill>
                <a:latin typeface="Arial"/>
                <a:ea typeface="Arial"/>
              </a:rPr>
              <a:t xml:space="preserve"> are amino-acid neurotransmitters capable of increasing neuronal excitation. Lu and colleagues injected kynurenic acid, an antagonist blocking several excitatory amino-acid receptor classes, into the PAG site used for eliciting defensive rage.</a:t>
            </a:r>
            <a:endParaRPr lang="en-US"/>
          </a:p>
        </p:txBody>
      </p:sp>
      <p:sp>
        <p:nvSpPr>
          <p:cNvPr id="131" name="Shape 131"/>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2.0 nmol injection reversed medial hypothalamic facilitation. At 15 min, dual-stimulation hissing latency rose above the PAG-only reference instead of remaining shorter. Lower doses produced smaller or shorter-lasting effects, and the response recovered over time.</a:t>
            </a:r>
            <a:endParaRPr lang="en-US"/>
          </a:p>
        </p:txBody>
      </p:sp>
      <p:sp>
        <p:nvSpPr>
          <p:cNvPr id="132" name="Shape 132"/>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drug was delivered locally while electrical stimulation parameters remained unchanged. This supports excitatory amino-acid receptor participation at the PAG target region. Because kynurenic acid is not selective for one receptor class, this experiment cannot by itself assign the effect specifically to NMDA receptors.</a:t>
            </a:r>
            <a:endParaRPr lang="en-US"/>
          </a:p>
        </p:txBody>
      </p:sp>
      <p:pic>
        <p:nvPicPr>
          <p:cNvPr id="126" name="Presenton Native Image 27" descr=""/>
          <p:cNvPicPr/>
          <p:nvPr/>
        </p:nvPicPr>
        <p:blipFill>
          <a:blip r:embed="rId3" cstate="none"/>
          <a:stretch>
            <a:fillRect/>
          </a:stretch>
        </p:blipFill>
        <p:spPr>
          <a:xfrm>
            <a:off x="7231759" y="1190625"/>
            <a:ext cx="3433957" cy="2476500"/>
          </a:xfrm>
          <a:prstGeom prst="rect">
            <a:avLst/>
          </a:prstGeom>
        </p:spPr>
      </p:pic>
      <p:sp>
        <p:nvSpPr>
          <p:cNvPr id="133" name="Shape 133"/>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2. Kynurenic acid reverses hypothalamic facilitation of the PAG response.</a:t>
            </a:r>
            <a:endParaRPr lang="en-US"/>
          </a:p>
        </p:txBody>
      </p:sp>
      <p:pic>
        <p:nvPicPr>
          <p:cNvPr id="127" name="Presenton Native Image 28" descr=""/>
          <p:cNvPicPr/>
          <p:nvPr/>
        </p:nvPicPr>
        <p:blipFill>
          <a:blip r:embed="rId2" cstate="none"/>
          <a:stretch>
            <a:fillRect/>
          </a:stretch>
        </p:blipFill>
        <p:spPr>
          <a:xfrm>
            <a:off x="8563554" y="4476750"/>
            <a:ext cx="779892" cy="1381125"/>
          </a:xfrm>
          <a:prstGeom prst="rect">
            <a:avLst/>
          </a:prstGeom>
        </p:spPr>
      </p:pic>
      <p:sp>
        <p:nvSpPr>
          <p:cNvPr id="134" name="Shape 134"/>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1A,B. PAG and medial hypothalamic stimulation sites.</a:t>
            </a:r>
            <a:endParaRPr lang="en-US"/>
          </a:p>
        </p:txBody>
      </p:sp>
      <p:sp>
        <p:nvSpPr>
          <p:cNvPr id="135" name="Shape 135"/>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a:t>
            </a:r>
            <a:endParaRPr lang="en-US"/>
          </a:p>
        </p:txBody>
      </p:sp>
      <p:sp>
        <p:nvSpPr>
          <p:cNvPr id="136" name="Shape 136"/>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7" name="Shape 137"/>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Selective NMDA blockade reverses hypothalamic gain</a:t>
            </a:r>
            <a:endParaRPr lang="en-US"/>
          </a:p>
        </p:txBody>
      </p:sp>
      <p:sp>
        <p:nvSpPr>
          <p:cNvPr id="138" name="Shape 138"/>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NMDA receptors</a:t>
            </a:r>
            <a:r>
              <a:rPr sz="1500" b="0" i="0">
                <a:solidFill>
                  <a:srgbClr val="000000"/>
                </a:solidFill>
                <a:latin typeface="Arial"/>
                <a:ea typeface="Arial"/>
              </a:rPr>
              <a:t xml:space="preserve"> are excitatory amino-acid receptors named for the agonist N-methyl-D-aspartate. An </a:t>
            </a:r>
            <a:r>
              <a:rPr sz="1500" b="1" i="0">
                <a:solidFill>
                  <a:srgbClr val="444E55"/>
                </a:solidFill>
                <a:latin typeface="Arial"/>
                <a:ea typeface="Arial"/>
              </a:rPr>
              <a:t>agonist</a:t>
            </a:r>
            <a:r>
              <a:rPr sz="1500" b="0" i="0">
                <a:solidFill>
                  <a:srgbClr val="000000"/>
                </a:solidFill>
                <a:latin typeface="Arial"/>
                <a:ea typeface="Arial"/>
              </a:rPr>
              <a:t xml:space="preserve"> activates a receptor, whereas an antagonist reduces its activation. Lu and colleagues tested the selective NMDA antagonist AP7 inside the PAG.</a:t>
            </a:r>
            <a:endParaRPr lang="en-US"/>
          </a:p>
        </p:txBody>
      </p:sp>
      <p:sp>
        <p:nvSpPr>
          <p:cNvPr id="139" name="Shape 139"/>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2 nmol AP7 injection changed dual-stimulation latency from about 17% below the PAG-only reference to about 42% above it during the early post-injection period. The effect weakened with recovery; 0.1 nmol AP7 did not produce a comparable blockade.</a:t>
            </a:r>
            <a:endParaRPr lang="en-US"/>
          </a:p>
        </p:txBody>
      </p:sp>
      <p:sp>
        <p:nvSpPr>
          <p:cNvPr id="140" name="Shape 140"/>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combination of receptor selectivity, dose dependence, and recovery supports NMDA participation in hypothalamic facilitation. Hissing latency is the measured output. The study did not record membrane current or identify which PAG neurons express the behaviorally relevant receptors.</a:t>
            </a:r>
            <a:endParaRPr lang="en-US"/>
          </a:p>
        </p:txBody>
      </p:sp>
      <p:pic>
        <p:nvPicPr>
          <p:cNvPr id="128" name="Presenton Native Image 29" descr=""/>
          <p:cNvPicPr/>
          <p:nvPr/>
        </p:nvPicPr>
        <p:blipFill>
          <a:blip r:embed="rId3" cstate="none"/>
          <a:stretch>
            <a:fillRect/>
          </a:stretch>
        </p:blipFill>
        <p:spPr>
          <a:xfrm>
            <a:off x="7125758" y="1190625"/>
            <a:ext cx="3645958" cy="2476500"/>
          </a:xfrm>
          <a:prstGeom prst="rect">
            <a:avLst/>
          </a:prstGeom>
        </p:spPr>
      </p:pic>
      <p:sp>
        <p:nvSpPr>
          <p:cNvPr id="141" name="Shape 141"/>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3. AP7 dose and recovery time compared with CNQX.</a:t>
            </a:r>
            <a:endParaRPr lang="en-US"/>
          </a:p>
        </p:txBody>
      </p:sp>
      <p:pic>
        <p:nvPicPr>
          <p:cNvPr id="129" name="Presenton Native Image 30" descr=""/>
          <p:cNvPicPr/>
          <p:nvPr/>
        </p:nvPicPr>
        <p:blipFill>
          <a:blip r:embed="rId2" cstate="none"/>
          <a:stretch>
            <a:fillRect/>
          </a:stretch>
        </p:blipFill>
        <p:spPr>
          <a:xfrm>
            <a:off x="8563554" y="4476750"/>
            <a:ext cx="779892" cy="1381125"/>
          </a:xfrm>
          <a:prstGeom prst="rect">
            <a:avLst/>
          </a:prstGeom>
        </p:spPr>
      </p:pic>
      <p:sp>
        <p:nvSpPr>
          <p:cNvPr id="142" name="Shape 142"/>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1A,B. PAG and medial hypothalamic stimulation sites.</a:t>
            </a:r>
            <a:endParaRPr lang="en-US"/>
          </a:p>
        </p:txBody>
      </p:sp>
      <p:sp>
        <p:nvSpPr>
          <p:cNvPr id="143" name="Shape 143"/>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a:t>
            </a:r>
            <a:endParaRPr lang="en-US"/>
          </a:p>
        </p:txBody>
      </p:sp>
      <p:sp>
        <p:nvSpPr>
          <p:cNvPr id="144" name="Shape 144"/>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5" name="Shape 145"/>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Local NMDA activation makes hissing occur sooner</a:t>
            </a:r>
            <a:endParaRPr lang="en-US"/>
          </a:p>
        </p:txBody>
      </p:sp>
      <p:sp>
        <p:nvSpPr>
          <p:cNvPr id="146" name="Shape 146"/>
          <p:cNvSpPr/>
          <p:nvPr/>
        </p:nvSpPr>
        <p:spPr>
          <a:xfrm>
            <a:off x="571500" y="11906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Lu and colleagues directly injected NMDA into PAG defensive sites without concurrent stimulation of the hypothalamus. This tested whether local receptor activation could reproduce the facilitation associated with the upstream input while the PAG stimulation procedure remained in place.</a:t>
            </a:r>
            <a:endParaRPr lang="en-US"/>
          </a:p>
        </p:txBody>
      </p:sp>
      <p:sp>
        <p:nvSpPr>
          <p:cNvPr id="147" name="Shape 147"/>
          <p:cNvSpPr/>
          <p:nvPr/>
        </p:nvSpPr>
        <p:spPr>
          <a:xfrm>
            <a:off x="571500" y="2828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1.0 nmol NMDA injection shortened hissing latency by about 48% during the first 5–15 min. A 0.5 nmol dose produced a smaller, approximately 27% reduction. Latencies returned toward baseline within the subsequent observation periods.</a:t>
            </a:r>
            <a:endParaRPr lang="en-US"/>
          </a:p>
        </p:txBody>
      </p:sp>
      <p:sp>
        <p:nvSpPr>
          <p:cNvPr id="148" name="Shape 148"/>
          <p:cNvSpPr/>
          <p:nvPr/>
        </p:nvSpPr>
        <p:spPr>
          <a:xfrm>
            <a:off x="571500" y="421957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Local activation therefore supplied a facilitatory influence on an electrically elicited response. It did not establish that NMDA alone generates a complete natural defensive episode. The transient dose-dependent result supports modulation of PAG excitability rather than permanent alteration of the circuit.</a:t>
            </a:r>
            <a:endParaRPr lang="en-US"/>
          </a:p>
        </p:txBody>
      </p:sp>
      <p:pic>
        <p:nvPicPr>
          <p:cNvPr id="130" name="Presenton Native Image 31" descr=""/>
          <p:cNvPicPr/>
          <p:nvPr/>
        </p:nvPicPr>
        <p:blipFill>
          <a:blip r:embed="rId3" cstate="none"/>
          <a:stretch>
            <a:fillRect/>
          </a:stretch>
        </p:blipFill>
        <p:spPr>
          <a:xfrm>
            <a:off x="7134225" y="1191707"/>
            <a:ext cx="3629025" cy="2474335"/>
          </a:xfrm>
          <a:prstGeom prst="rect">
            <a:avLst/>
          </a:prstGeom>
        </p:spPr>
      </p:pic>
      <p:sp>
        <p:nvSpPr>
          <p:cNvPr id="149" name="Shape 149"/>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4. NMDA microinjection decreases hissing latency.</a:t>
            </a:r>
            <a:endParaRPr lang="en-US"/>
          </a:p>
        </p:txBody>
      </p:sp>
      <p:pic>
        <p:nvPicPr>
          <p:cNvPr id="131" name="Presenton Native Image 32" descr=""/>
          <p:cNvPicPr/>
          <p:nvPr/>
        </p:nvPicPr>
        <p:blipFill>
          <a:blip r:embed="rId2" cstate="none"/>
          <a:stretch>
            <a:fillRect/>
          </a:stretch>
        </p:blipFill>
        <p:spPr>
          <a:xfrm>
            <a:off x="8584019" y="4476750"/>
            <a:ext cx="729438" cy="1381125"/>
          </a:xfrm>
          <a:prstGeom prst="rect">
            <a:avLst/>
          </a:prstGeom>
        </p:spPr>
      </p:pic>
      <p:sp>
        <p:nvSpPr>
          <p:cNvPr id="150" name="Shape 150"/>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6A,D. PAG tissue surrounding the aqueduct and receptor labeling; 100 μm bar.</a:t>
            </a:r>
            <a:endParaRPr lang="en-US"/>
          </a:p>
        </p:txBody>
      </p:sp>
      <p:sp>
        <p:nvSpPr>
          <p:cNvPr id="151" name="Shape 151"/>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 Bhatt et al. (2008)</a:t>
            </a:r>
            <a:endParaRPr lang="en-US"/>
          </a:p>
        </p:txBody>
      </p:sp>
      <p:sp>
        <p:nvSpPr>
          <p:cNvPr id="152" name="Shape 152"/>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3" name="Shape 153"/>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Receptor controls narrow the excitatory explanation</a:t>
            </a:r>
            <a:endParaRPr lang="en-US"/>
          </a:p>
        </p:txBody>
      </p:sp>
      <p:sp>
        <p:nvSpPr>
          <p:cNvPr id="154" name="Shape 154"/>
          <p:cNvSpPr/>
          <p:nvPr/>
        </p:nvSpPr>
        <p:spPr>
          <a:xfrm>
            <a:off x="571500" y="11906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Lu and colleagues compared NMDA blockade with other receptor interventions at the same PAG sites. CNQX, which blocks non-NMDA excitatory amino-acid receptors, produced only small changes at 4 nmol. Atropine, a muscarinic acetylcholine receptor antagonist, had little effect at 4.4 nmol.</a:t>
            </a:r>
            <a:endParaRPr lang="en-US"/>
          </a:p>
        </p:txBody>
      </p:sp>
      <p:sp>
        <p:nvSpPr>
          <p:cNvPr id="155" name="Shape 155"/>
          <p:cNvSpPr/>
          <p:nvPr/>
        </p:nvSpPr>
        <p:spPr>
          <a:xfrm>
            <a:off x="571500" y="2828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These local injections were compared with the larger reversal produced by AP7. The contrast narrows the explanation for medial hypothalamic facilitation toward NMDA receptor participation rather than indiscriminate disruption by fluid delivery or any receptor antagonist.</a:t>
            </a:r>
            <a:endParaRPr lang="en-US"/>
          </a:p>
        </p:txBody>
      </p:sp>
      <p:sp>
        <p:nvSpPr>
          <p:cNvPr id="156" name="Shape 156"/>
          <p:cNvSpPr/>
          <p:nvPr/>
        </p:nvSpPr>
        <p:spPr>
          <a:xfrm>
            <a:off x="571500" y="42195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negative result is limited to the dose, site, and response tested. It does not exclude non-NMDA or muscarinic signaling elsewhere in the brain, during sensory recognition, or under natural threat conditions. The intervention addresses one experimentally activated circuit link.</a:t>
            </a:r>
            <a:endParaRPr lang="en-US"/>
          </a:p>
        </p:txBody>
      </p:sp>
      <p:pic>
        <p:nvPicPr>
          <p:cNvPr id="132" name="Presenton Native Image 33" descr=""/>
          <p:cNvPicPr/>
          <p:nvPr/>
        </p:nvPicPr>
        <p:blipFill>
          <a:blip r:embed="rId3" cstate="none"/>
          <a:stretch>
            <a:fillRect/>
          </a:stretch>
        </p:blipFill>
        <p:spPr>
          <a:xfrm>
            <a:off x="7125758" y="1190625"/>
            <a:ext cx="3645958" cy="2476500"/>
          </a:xfrm>
          <a:prstGeom prst="rect">
            <a:avLst/>
          </a:prstGeom>
        </p:spPr>
      </p:pic>
      <p:sp>
        <p:nvSpPr>
          <p:cNvPr id="157" name="Shape 157"/>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3. AP7 dose and recovery time compared with CNQX.</a:t>
            </a:r>
            <a:endParaRPr lang="en-US"/>
          </a:p>
        </p:txBody>
      </p:sp>
      <p:pic>
        <p:nvPicPr>
          <p:cNvPr id="133" name="Presenton Native Image 34" descr=""/>
          <p:cNvPicPr/>
          <p:nvPr/>
        </p:nvPicPr>
        <p:blipFill>
          <a:blip r:embed="rId2" cstate="none"/>
          <a:stretch>
            <a:fillRect/>
          </a:stretch>
        </p:blipFill>
        <p:spPr>
          <a:xfrm>
            <a:off x="8563554" y="4476750"/>
            <a:ext cx="779892" cy="1381125"/>
          </a:xfrm>
          <a:prstGeom prst="rect">
            <a:avLst/>
          </a:prstGeom>
        </p:spPr>
      </p:pic>
      <p:sp>
        <p:nvSpPr>
          <p:cNvPr id="158" name="Shape 158"/>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1A,B. PAG and medial hypothalamic stimulation sites.</a:t>
            </a:r>
            <a:endParaRPr lang="en-US"/>
          </a:p>
        </p:txBody>
      </p:sp>
      <p:sp>
        <p:nvSpPr>
          <p:cNvPr id="159" name="Shape 159"/>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a:t>
            </a:r>
            <a:endParaRPr lang="en-US"/>
          </a:p>
        </p:txBody>
      </p:sp>
      <p:sp>
        <p:nvSpPr>
          <p:cNvPr id="160" name="Shape 160"/>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1" name="Shape 161"/>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Tracing identifies hypothalamic neurons reaching the PAG</a:t>
            </a:r>
            <a:endParaRPr lang="en-US"/>
          </a:p>
        </p:txBody>
      </p:sp>
      <p:sp>
        <p:nvSpPr>
          <p:cNvPr id="162" name="Shape 162"/>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Retrograde tracing</a:t>
            </a:r>
            <a:r>
              <a:rPr sz="1500" b="0" i="0">
                <a:solidFill>
                  <a:srgbClr val="000000"/>
                </a:solidFill>
                <a:latin typeface="Arial"/>
                <a:ea typeface="Arial"/>
              </a:rPr>
              <a:t xml:space="preserve"> labels neurons by transporting a marker from their axonal terminal region back to their cell bodies. Lu and colleagues injected Fluoro-Gold into behaviorally identified PAG sites and examined hypothalamic labeling after 5–6 days.</a:t>
            </a:r>
            <a:endParaRPr lang="en-US"/>
          </a:p>
        </p:txBody>
      </p:sp>
      <p:sp>
        <p:nvSpPr>
          <p:cNvPr id="163" name="Shape 163"/>
          <p:cNvSpPr/>
          <p:nvPr/>
        </p:nvSpPr>
        <p:spPr>
          <a:xfrm>
            <a:off x="571500" y="258127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Labeled neurons extended through the medial hypothalamus, with concentrations in dorsomedial and perifornical regions. Immunocytochemistry, the use of antibodies to detect tissue components, identified aspartate- or glutamate-positive cells, including cells also carrying the retrograde marker.</a:t>
            </a:r>
            <a:endParaRPr lang="en-US"/>
          </a:p>
        </p:txBody>
      </p:sp>
      <p:sp>
        <p:nvSpPr>
          <p:cNvPr id="164" name="Shape 164"/>
          <p:cNvSpPr/>
          <p:nvPr/>
        </p:nvSpPr>
        <p:spPr>
          <a:xfrm>
            <a:off x="571500" y="421957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Double labeling supports an anatomical projection containing excitatory amino-acid-associated neurons. It does not directly measure transmitter release during hissing or verify that every labeled cell participates in defense. Projection anatomy and the receptor-blockade results supply different kinds of evidence for the same proposed pathway.</a:t>
            </a:r>
            <a:endParaRPr lang="en-US"/>
          </a:p>
        </p:txBody>
      </p:sp>
      <p:pic>
        <p:nvPicPr>
          <p:cNvPr id="134" name="Presenton Native Image 35" descr=""/>
          <p:cNvPicPr/>
          <p:nvPr/>
        </p:nvPicPr>
        <p:blipFill>
          <a:blip r:embed="rId2" cstate="none"/>
          <a:stretch>
            <a:fillRect/>
          </a:stretch>
        </p:blipFill>
        <p:spPr>
          <a:xfrm>
            <a:off x="8372499" y="1190625"/>
            <a:ext cx="1152477" cy="2476500"/>
          </a:xfrm>
          <a:prstGeom prst="rect">
            <a:avLst/>
          </a:prstGeom>
        </p:spPr>
      </p:pic>
      <p:sp>
        <p:nvSpPr>
          <p:cNvPr id="165" name="Shape 165"/>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5A,B. PAG tracer sites and hypothalamic amino-acid labeling.</a:t>
            </a:r>
            <a:endParaRPr lang="en-US"/>
          </a:p>
        </p:txBody>
      </p:sp>
      <p:pic>
        <p:nvPicPr>
          <p:cNvPr id="135" name="Presenton Native Image 36" descr=""/>
          <p:cNvPicPr/>
          <p:nvPr/>
        </p:nvPicPr>
        <p:blipFill>
          <a:blip r:embed="rId3" cstate="none"/>
          <a:stretch>
            <a:fillRect/>
          </a:stretch>
        </p:blipFill>
        <p:spPr>
          <a:xfrm>
            <a:off x="7087428" y="4476750"/>
            <a:ext cx="3722619" cy="1381125"/>
          </a:xfrm>
          <a:prstGeom prst="rect">
            <a:avLst/>
          </a:prstGeom>
        </p:spPr>
      </p:pic>
      <p:sp>
        <p:nvSpPr>
          <p:cNvPr id="166" name="Shape 166"/>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6D–F. Retrogradely labeled hypothalamic cells and double-labeled neuron.</a:t>
            </a:r>
            <a:endParaRPr lang="en-US"/>
          </a:p>
        </p:txBody>
      </p:sp>
      <p:sp>
        <p:nvSpPr>
          <p:cNvPr id="167" name="Shape 167"/>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a:t>
            </a:r>
            <a:endParaRPr lang="en-US"/>
          </a:p>
        </p:txBody>
      </p:sp>
      <p:sp>
        <p:nvSpPr>
          <p:cNvPr id="168" name="Shape 168"/>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9" name="Shape 169"/>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Amino-acid labeling supports a candidate synaptic link</a:t>
            </a:r>
            <a:endParaRPr lang="en-US"/>
          </a:p>
        </p:txBody>
      </p:sp>
      <p:sp>
        <p:nvSpPr>
          <p:cNvPr id="170" name="Shape 170"/>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The Lu study detected aspartate-positive fibers and preterminal profiles in the dorsal PAG. </a:t>
            </a:r>
            <a:r>
              <a:rPr sz="1500" b="1" i="0">
                <a:solidFill>
                  <a:srgbClr val="444E55"/>
                </a:solidFill>
                <a:latin typeface="Arial"/>
                <a:ea typeface="Arial"/>
              </a:rPr>
              <a:t>Preterminal</a:t>
            </a:r>
            <a:r>
              <a:rPr sz="1500" b="0" i="0">
                <a:solidFill>
                  <a:srgbClr val="000000"/>
                </a:solidFill>
                <a:latin typeface="Arial"/>
                <a:ea typeface="Arial"/>
              </a:rPr>
              <a:t xml:space="preserve"> refers to an axonal segment approaching a terminal region. Aspartate-positive cells and retrogradely labeled cells also occurred in the medial hypothalamus.</a:t>
            </a:r>
            <a:endParaRPr lang="en-US"/>
          </a:p>
        </p:txBody>
      </p:sp>
      <p:sp>
        <p:nvSpPr>
          <p:cNvPr id="171" name="Shape 171"/>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neuron could carry both Fluoro-Gold from the PAG projection target and amino-acid immunoreactivity. The published tissue panels preserve 100 μm and 25 μm scale bars, distinguishing regional localization from individual cellular labeling.</a:t>
            </a:r>
            <a:endParaRPr lang="en-US"/>
          </a:p>
        </p:txBody>
      </p:sp>
      <p:sp>
        <p:nvSpPr>
          <p:cNvPr id="172" name="Shape 172"/>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These observations are compatible with an excitatory descending connection acting through PAG NMDA receptors. Amino-acid immunoreactivity alone does not prove synaptic release, and the study did not record identified synapses. The stronger interpretation depends on agreement between anatomical labeling and local pharmacological manipulation of hissing latency.</a:t>
            </a:r>
            <a:endParaRPr lang="en-US"/>
          </a:p>
        </p:txBody>
      </p:sp>
      <p:pic>
        <p:nvPicPr>
          <p:cNvPr id="136" name="Presenton Native Image 37" descr=""/>
          <p:cNvPicPr/>
          <p:nvPr/>
        </p:nvPicPr>
        <p:blipFill>
          <a:blip r:embed="rId3" cstate="none"/>
          <a:stretch>
            <a:fillRect/>
          </a:stretch>
        </p:blipFill>
        <p:spPr>
          <a:xfrm>
            <a:off x="7562850" y="1192169"/>
            <a:ext cx="2771775" cy="2473412"/>
          </a:xfrm>
          <a:prstGeom prst="rect">
            <a:avLst/>
          </a:prstGeom>
        </p:spPr>
      </p:pic>
      <p:sp>
        <p:nvSpPr>
          <p:cNvPr id="173" name="Shape 173"/>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Lu et al. (1992), Fig. 6A–C. PAG tracer site, aspartate-positive fibers, and hypothalamic cells.</a:t>
            </a:r>
            <a:endParaRPr lang="en-US"/>
          </a:p>
        </p:txBody>
      </p:sp>
      <p:pic>
        <p:nvPicPr>
          <p:cNvPr id="137" name="Presenton Native Image 38" descr=""/>
          <p:cNvPicPr/>
          <p:nvPr/>
        </p:nvPicPr>
        <p:blipFill>
          <a:blip r:embed="rId2" cstate="none"/>
          <a:stretch>
            <a:fillRect/>
          </a:stretch>
        </p:blipFill>
        <p:spPr>
          <a:xfrm>
            <a:off x="8584019" y="4476750"/>
            <a:ext cx="729438" cy="1381125"/>
          </a:xfrm>
          <a:prstGeom prst="rect">
            <a:avLst/>
          </a:prstGeom>
        </p:spPr>
      </p:pic>
      <p:sp>
        <p:nvSpPr>
          <p:cNvPr id="174" name="Shape 174"/>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6A,D. PAG tissue surrounding the aqueduct and receptor labeling; 100 μm bar.</a:t>
            </a:r>
            <a:endParaRPr lang="en-US"/>
          </a:p>
        </p:txBody>
      </p:sp>
      <p:sp>
        <p:nvSpPr>
          <p:cNvPr id="175" name="Shape 175"/>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Lu et al. (1992); Bhatt et al. (2008)</a:t>
            </a:r>
            <a:endParaRPr lang="en-US"/>
          </a:p>
        </p:txBody>
      </p:sp>
      <p:sp>
        <p:nvSpPr>
          <p:cNvPr id="176" name="Shape 176"/>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77" name="Shape 177"/>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Lateral hypothalamic input can inhibit defense</a:t>
            </a:r>
            <a:endParaRPr lang="en-US"/>
          </a:p>
        </p:txBody>
      </p:sp>
      <p:sp>
        <p:nvSpPr>
          <p:cNvPr id="178" name="Shape 178"/>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Cheu and Siegel paired stimulation of a medial hypothalamic defensive site with stimulation of the lateral hypothalamus. </a:t>
            </a:r>
            <a:r>
              <a:rPr sz="1500" b="1" i="0">
                <a:solidFill>
                  <a:srgbClr val="444E55"/>
                </a:solidFill>
                <a:latin typeface="Arial"/>
                <a:ea typeface="Arial"/>
              </a:rPr>
              <a:t>Inhibition</a:t>
            </a:r>
            <a:r>
              <a:rPr sz="1500" b="0" i="0">
                <a:solidFill>
                  <a:srgbClr val="000000"/>
                </a:solidFill>
                <a:latin typeface="Arial"/>
                <a:ea typeface="Arial"/>
              </a:rPr>
              <a:t xml:space="preserve"> here means a reduction in expression of the elicited defensive response, operationalized as a longer latency to hissing.</a:t>
            </a:r>
            <a:endParaRPr lang="en-US"/>
          </a:p>
        </p:txBody>
      </p:sp>
      <p:sp>
        <p:nvSpPr>
          <p:cNvPr id="179" name="Shape 179"/>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With medial stimulation alone, mean latency was 7.21 s; during dual medial and lateral stimulation it was 12.28 s. These differences persisted during the saline-control observation period, rather than appearing only after a drug injection.</a:t>
            </a:r>
            <a:endParaRPr lang="en-US"/>
          </a:p>
        </p:txBody>
      </p:sp>
      <p:sp>
        <p:nvSpPr>
          <p:cNvPr id="180" name="Shape 180"/>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result contrasts with the facilitatory medial-hypothalamic–PAG relationship. A region can influence defense by suppressing another site’s output, not only by driving a response directly. Electrical interaction establishes functional suppression but does not, by itself, identify the inhibitory transmitter or the contributing cells.</a:t>
            </a:r>
            <a:endParaRPr lang="en-US"/>
          </a:p>
        </p:txBody>
      </p:sp>
      <p:pic>
        <p:nvPicPr>
          <p:cNvPr id="138" name="Presenton Native Image 39" descr=""/>
          <p:cNvPicPr/>
          <p:nvPr/>
        </p:nvPicPr>
        <p:blipFill>
          <a:blip r:embed="rId2" cstate="none"/>
          <a:stretch>
            <a:fillRect/>
          </a:stretch>
        </p:blipFill>
        <p:spPr>
          <a:xfrm>
            <a:off x="7069908" y="1190625"/>
            <a:ext cx="3757660" cy="2476500"/>
          </a:xfrm>
          <a:prstGeom prst="rect">
            <a:avLst/>
          </a:prstGeom>
        </p:spPr>
      </p:pic>
      <p:sp>
        <p:nvSpPr>
          <p:cNvPr id="181" name="Shape 181"/>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2. Single and dual stimulation differ in hiss latency.</a:t>
            </a:r>
            <a:endParaRPr lang="en-US"/>
          </a:p>
        </p:txBody>
      </p:sp>
      <p:pic>
        <p:nvPicPr>
          <p:cNvPr id="139" name="Presenton Native Image 40" descr=""/>
          <p:cNvPicPr/>
          <p:nvPr/>
        </p:nvPicPr>
        <p:blipFill>
          <a:blip r:embed="rId3" cstate="none"/>
          <a:stretch>
            <a:fillRect/>
          </a:stretch>
        </p:blipFill>
        <p:spPr>
          <a:xfrm>
            <a:off x="8382000" y="4477598"/>
            <a:ext cx="1143000" cy="1379429"/>
          </a:xfrm>
          <a:prstGeom prst="rect">
            <a:avLst/>
          </a:prstGeom>
        </p:spPr>
      </p:pic>
      <p:sp>
        <p:nvSpPr>
          <p:cNvPr id="182" name="Shape 182"/>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1. Medial defensive sites and lateral suppressive sites.</a:t>
            </a:r>
            <a:endParaRPr lang="en-US"/>
          </a:p>
        </p:txBody>
      </p:sp>
      <p:sp>
        <p:nvSpPr>
          <p:cNvPr id="183" name="Shape 183"/>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184" name="Shape 184"/>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85" name="Shape 185"/>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GABA blockade weakens lateral suppression</a:t>
            </a:r>
            <a:endParaRPr lang="en-US"/>
          </a:p>
        </p:txBody>
      </p:sp>
      <p:sp>
        <p:nvSpPr>
          <p:cNvPr id="186" name="Shape 186"/>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GABA</a:t>
            </a:r>
            <a:r>
              <a:rPr sz="1500" b="0" i="0">
                <a:solidFill>
                  <a:srgbClr val="000000"/>
                </a:solidFill>
                <a:latin typeface="Arial"/>
                <a:ea typeface="Arial"/>
              </a:rPr>
              <a:t>, gamma-aminobutyric acid, is an inhibitory neurotransmitter. Cheu and Siegel injected bicuculline, a GABA-A receptor antagonist, into the medial hypothalamic site while testing lateral hypothalamic suppression of defensive rage.</a:t>
            </a:r>
            <a:endParaRPr lang="en-US"/>
          </a:p>
        </p:txBody>
      </p:sp>
      <p:sp>
        <p:nvSpPr>
          <p:cNvPr id="187" name="Shape 187"/>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At 60 pmol, bicuculline reduced the suppressive effect from about 73% before injection to about 15% in the early observation period. The suppression returned toward baseline by 180–200 min. A 10 pmol dose and saline did not produce the same blockade.</a:t>
            </a:r>
            <a:endParaRPr lang="en-US"/>
          </a:p>
        </p:txBody>
      </p:sp>
      <p:sp>
        <p:nvSpPr>
          <p:cNvPr id="188" name="Shape 188"/>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This local, reversible effect supports a GABA-A-dependent component of the inhibitory influence reaching the medial hypothalamus. It does not establish the pattern of GABA release during spontaneous fear. The study measured behavior after circuit stimulation rather than identified-cell firing in a natural encounter.</a:t>
            </a:r>
            <a:endParaRPr lang="en-US"/>
          </a:p>
        </p:txBody>
      </p:sp>
      <p:pic>
        <p:nvPicPr>
          <p:cNvPr id="140" name="Presenton Native Image 41" descr=""/>
          <p:cNvPicPr/>
          <p:nvPr/>
        </p:nvPicPr>
        <p:blipFill>
          <a:blip r:embed="rId2" cstate="none"/>
          <a:stretch>
            <a:fillRect/>
          </a:stretch>
        </p:blipFill>
        <p:spPr>
          <a:xfrm>
            <a:off x="7143750" y="1190956"/>
            <a:ext cx="3619500" cy="2475839"/>
          </a:xfrm>
          <a:prstGeom prst="rect">
            <a:avLst/>
          </a:prstGeom>
        </p:spPr>
      </p:pic>
      <p:sp>
        <p:nvSpPr>
          <p:cNvPr id="189" name="Shape 189"/>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3. Bicuculline blocks lateral hypothalamic suppression.</a:t>
            </a:r>
            <a:endParaRPr lang="en-US"/>
          </a:p>
        </p:txBody>
      </p:sp>
      <p:pic>
        <p:nvPicPr>
          <p:cNvPr id="141" name="Presenton Native Image 42" descr=""/>
          <p:cNvPicPr/>
          <p:nvPr/>
        </p:nvPicPr>
        <p:blipFill>
          <a:blip r:embed="rId3" cstate="none"/>
          <a:stretch>
            <a:fillRect/>
          </a:stretch>
        </p:blipFill>
        <p:spPr>
          <a:xfrm>
            <a:off x="7507770" y="4476750"/>
            <a:ext cx="2881935" cy="1381125"/>
          </a:xfrm>
          <a:prstGeom prst="rect">
            <a:avLst/>
          </a:prstGeom>
        </p:spPr>
      </p:pic>
      <p:sp>
        <p:nvSpPr>
          <p:cNvPr id="190" name="Shape 190"/>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9. Original medial hypothalamic tracer injection histology and localization.</a:t>
            </a:r>
            <a:endParaRPr lang="en-US"/>
          </a:p>
        </p:txBody>
      </p:sp>
      <p:sp>
        <p:nvSpPr>
          <p:cNvPr id="191" name="Shape 191"/>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192" name="Shape 192"/>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93" name="Shape 193"/>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Muscimol increases the threshold for defensive output</a:t>
            </a:r>
            <a:endParaRPr lang="en-US"/>
          </a:p>
        </p:txBody>
      </p:sp>
      <p:sp>
        <p:nvSpPr>
          <p:cNvPr id="194" name="Shape 194"/>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Cheu and Siegel activated medial hypothalamic GABA-A receptors with </a:t>
            </a:r>
            <a:r>
              <a:rPr sz="1500" b="1" i="0">
                <a:solidFill>
                  <a:srgbClr val="444E55"/>
                </a:solidFill>
                <a:latin typeface="Arial"/>
                <a:ea typeface="Arial"/>
              </a:rPr>
              <a:t>muscimol</a:t>
            </a:r>
            <a:r>
              <a:rPr sz="1500" b="0" i="0">
                <a:solidFill>
                  <a:srgbClr val="000000"/>
                </a:solidFill>
                <a:latin typeface="Arial"/>
                <a:ea typeface="Arial"/>
              </a:rPr>
              <a:t>, a receptor agonist, instead of stimulating the lateral inhibitory site. The question was whether local receptor activation could suppress defensive output from the target region.</a:t>
            </a:r>
            <a:endParaRPr lang="en-US"/>
          </a:p>
        </p:txBody>
      </p:sp>
      <p:sp>
        <p:nvSpPr>
          <p:cNvPr id="195" name="Shape 195"/>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A 30 pmol muscimol injection increased the stimulation-current threshold by about 155 μA early after delivery. </a:t>
            </a:r>
            <a:r>
              <a:rPr sz="1500" b="1" i="0">
                <a:solidFill>
                  <a:srgbClr val="444E55"/>
                </a:solidFill>
                <a:latin typeface="Arial"/>
                <a:ea typeface="Arial"/>
              </a:rPr>
              <a:t>Threshold</a:t>
            </a:r>
            <a:r>
              <a:rPr sz="1500" b="0" i="0">
                <a:solidFill>
                  <a:srgbClr val="000000"/>
                </a:solidFill>
                <a:latin typeface="Arial"/>
                <a:ea typeface="Arial"/>
              </a:rPr>
              <a:t xml:space="preserve"> means the electrical current required to elicit the response. Lower doses lacked the same pronounced effect, and the increase weakened over time.</a:t>
            </a:r>
            <a:endParaRPr lang="en-US"/>
          </a:p>
        </p:txBody>
      </p:sp>
      <p:sp>
        <p:nvSpPr>
          <p:cNvPr id="196" name="Shape 196"/>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threshold measurement differs from hissing latency at a fixed current. A stronger input was required to recruit behavior after local inhibition. This supports receptor-dependent suppression, but it does not establish a clinical treatment for fearful cats or determine how natural threat recognition recruits the circuit.</a:t>
            </a:r>
            <a:endParaRPr lang="en-US"/>
          </a:p>
        </p:txBody>
      </p:sp>
      <p:pic>
        <p:nvPicPr>
          <p:cNvPr id="142" name="Presenton Native Image 43" descr=""/>
          <p:cNvPicPr/>
          <p:nvPr/>
        </p:nvPicPr>
        <p:blipFill>
          <a:blip r:embed="rId3" cstate="none"/>
          <a:stretch>
            <a:fillRect/>
          </a:stretch>
        </p:blipFill>
        <p:spPr>
          <a:xfrm>
            <a:off x="7048500" y="1190795"/>
            <a:ext cx="3800475" cy="2476160"/>
          </a:xfrm>
          <a:prstGeom prst="rect">
            <a:avLst/>
          </a:prstGeom>
        </p:spPr>
      </p:pic>
      <p:sp>
        <p:nvSpPr>
          <p:cNvPr id="197" name="Shape 197"/>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5. Muscimol increases the current threshold for defensive rage.</a:t>
            </a:r>
            <a:endParaRPr lang="en-US"/>
          </a:p>
        </p:txBody>
      </p:sp>
      <p:pic>
        <p:nvPicPr>
          <p:cNvPr id="143" name="Presenton Native Image 44" descr=""/>
          <p:cNvPicPr/>
          <p:nvPr/>
        </p:nvPicPr>
        <p:blipFill>
          <a:blip r:embed="rId2" cstate="none"/>
          <a:stretch>
            <a:fillRect/>
          </a:stretch>
        </p:blipFill>
        <p:spPr>
          <a:xfrm>
            <a:off x="7507770" y="4476750"/>
            <a:ext cx="2881935" cy="1381125"/>
          </a:xfrm>
          <a:prstGeom prst="rect">
            <a:avLst/>
          </a:prstGeom>
        </p:spPr>
      </p:pic>
      <p:sp>
        <p:nvSpPr>
          <p:cNvPr id="198" name="Shape 198"/>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9. Original medial hypothalamic tracer injection histology and localization.</a:t>
            </a:r>
            <a:endParaRPr lang="en-US"/>
          </a:p>
        </p:txBody>
      </p:sp>
      <p:sp>
        <p:nvSpPr>
          <p:cNvPr id="199" name="Shape 199"/>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200" name="Shape 200"/>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1" name="Shape 201"/>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An antagonist reverses the agonist’s suppressive effect</a:t>
            </a:r>
            <a:endParaRPr lang="en-US"/>
          </a:p>
        </p:txBody>
      </p:sp>
      <p:sp>
        <p:nvSpPr>
          <p:cNvPr id="202" name="Shape 202"/>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Cheu and Siegel pretreated the medial hypothalamic site with bicuculline before injecting muscimol. </a:t>
            </a:r>
            <a:r>
              <a:rPr sz="1500" b="1" i="0">
                <a:solidFill>
                  <a:srgbClr val="444E55"/>
                </a:solidFill>
                <a:latin typeface="Arial"/>
                <a:ea typeface="Arial"/>
              </a:rPr>
              <a:t>Pretreatment</a:t>
            </a:r>
            <a:r>
              <a:rPr sz="1500" b="0" i="0">
                <a:solidFill>
                  <a:srgbClr val="000000"/>
                </a:solidFill>
                <a:latin typeface="Arial"/>
                <a:ea typeface="Arial"/>
              </a:rPr>
              <a:t xml:space="preserve"> means applying one intervention before another to test whether the second effect depends on the blocked receptor class.</a:t>
            </a:r>
            <a:endParaRPr lang="en-US"/>
          </a:p>
        </p:txBody>
      </p:sp>
      <p:sp>
        <p:nvSpPr>
          <p:cNvPr id="203" name="Shape 203"/>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60 pmol bicuculline pretreatment opposed suppression caused by 30 pmol muscimol. The early stimulation-threshold increase was reduced by about 143 μA relative to the muscimol-plus-saline condition. A lower bicuculline dose produced a smaller reversal.</a:t>
            </a:r>
            <a:endParaRPr lang="en-US"/>
          </a:p>
        </p:txBody>
      </p:sp>
      <p:sp>
        <p:nvSpPr>
          <p:cNvPr id="204" name="Shape 204"/>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agonist–antagonist comparison supports GABA-A receptor participation more specifically than an agonist effect alone. It reduces the likelihood that the response reflects only injected volume or an unrelated muscimol action. It does not determine which individual cells were inhibited within the injection territory.</a:t>
            </a:r>
            <a:endParaRPr lang="en-US"/>
          </a:p>
        </p:txBody>
      </p:sp>
      <p:pic>
        <p:nvPicPr>
          <p:cNvPr id="144" name="Presenton Native Image 45" descr=""/>
          <p:cNvPicPr/>
          <p:nvPr/>
        </p:nvPicPr>
        <p:blipFill>
          <a:blip r:embed="rId3" cstate="none"/>
          <a:stretch>
            <a:fillRect/>
          </a:stretch>
        </p:blipFill>
        <p:spPr>
          <a:xfrm>
            <a:off x="7115175" y="1190883"/>
            <a:ext cx="3676650" cy="2475984"/>
          </a:xfrm>
          <a:prstGeom prst="rect">
            <a:avLst/>
          </a:prstGeom>
        </p:spPr>
      </p:pic>
      <p:sp>
        <p:nvSpPr>
          <p:cNvPr id="205" name="Shape 205"/>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6. Bicuculline pretreatment blocks muscimol suppression.</a:t>
            </a:r>
            <a:endParaRPr lang="en-US"/>
          </a:p>
        </p:txBody>
      </p:sp>
      <p:pic>
        <p:nvPicPr>
          <p:cNvPr id="145" name="Presenton Native Image 46" descr=""/>
          <p:cNvPicPr/>
          <p:nvPr/>
        </p:nvPicPr>
        <p:blipFill>
          <a:blip r:embed="rId2" cstate="none"/>
          <a:stretch>
            <a:fillRect/>
          </a:stretch>
        </p:blipFill>
        <p:spPr>
          <a:xfrm>
            <a:off x="7507770" y="4476750"/>
            <a:ext cx="2881935" cy="1381125"/>
          </a:xfrm>
          <a:prstGeom prst="rect">
            <a:avLst/>
          </a:prstGeom>
        </p:spPr>
      </p:pic>
      <p:sp>
        <p:nvSpPr>
          <p:cNvPr id="206" name="Shape 206"/>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9. Original medial hypothalamic tracer injection histology and localization.</a:t>
            </a:r>
            <a:endParaRPr lang="en-US"/>
          </a:p>
        </p:txBody>
      </p:sp>
      <p:sp>
        <p:nvSpPr>
          <p:cNvPr id="207" name="Shape 207"/>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208" name="Shape 208"/>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9" name="Shape 209"/>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GABA receptor classes produce different outcomes</a:t>
            </a:r>
            <a:endParaRPr lang="en-US"/>
          </a:p>
        </p:txBody>
      </p:sp>
      <p:sp>
        <p:nvSpPr>
          <p:cNvPr id="210" name="Shape 210"/>
          <p:cNvSpPr/>
          <p:nvPr/>
        </p:nvSpPr>
        <p:spPr>
          <a:xfrm>
            <a:off x="571500" y="11906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GABA-A and </a:t>
            </a:r>
            <a:r>
              <a:rPr sz="1500" b="1" i="0">
                <a:solidFill>
                  <a:srgbClr val="444E55"/>
                </a:solidFill>
                <a:latin typeface="Arial"/>
                <a:ea typeface="Arial"/>
              </a:rPr>
              <a:t>GABA-B</a:t>
            </a:r>
            <a:r>
              <a:rPr sz="1500" b="0" i="0">
                <a:solidFill>
                  <a:srgbClr val="000000"/>
                </a:solidFill>
                <a:latin typeface="Arial"/>
                <a:ea typeface="Arial"/>
              </a:rPr>
              <a:t xml:space="preserve"> are different receptor classes. GABA-A receptors directly gate ion-channel signaling, whereas GABA-B receptors act through intracellular signaling proteins. Cheu and Siegel compared a GABA-B agonist with the GABA-A agonist used in their medial hypothalamic experiments.</a:t>
            </a:r>
            <a:endParaRPr lang="en-US"/>
          </a:p>
        </p:txBody>
      </p:sp>
      <p:sp>
        <p:nvSpPr>
          <p:cNvPr id="211" name="Shape 211"/>
          <p:cNvSpPr/>
          <p:nvPr/>
        </p:nvSpPr>
        <p:spPr>
          <a:xfrm>
            <a:off x="571500" y="2828925"/>
            <a:ext cx="5448300" cy="9906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Baclofen at 120 pmol did not alter the latency or current threshold for defensive rage from the tested site. This dose was four times the highest muscimol dose used in the study, which had increased the response threshold.</a:t>
            </a:r>
            <a:endParaRPr lang="en-US"/>
          </a:p>
        </p:txBody>
      </p:sp>
      <p:sp>
        <p:nvSpPr>
          <p:cNvPr id="212" name="Shape 212"/>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contrast supports receptor-class selectivity under these experimental conditions. Equal amounts of different drugs do not imply equal receptor occupancy, so the finding does not prove that GABA-B receptors are absent or irrelevant throughout feline defensive circuitry.</a:t>
            </a:r>
            <a:endParaRPr lang="en-US"/>
          </a:p>
        </p:txBody>
      </p:sp>
      <p:pic>
        <p:nvPicPr>
          <p:cNvPr id="146" name="Presenton Native Image 47" descr=""/>
          <p:cNvPicPr/>
          <p:nvPr/>
        </p:nvPicPr>
        <p:blipFill>
          <a:blip r:embed="rId3" cstate="none"/>
          <a:stretch>
            <a:fillRect/>
          </a:stretch>
        </p:blipFill>
        <p:spPr>
          <a:xfrm>
            <a:off x="7221836" y="1190625"/>
            <a:ext cx="3463329" cy="2476500"/>
          </a:xfrm>
          <a:prstGeom prst="rect">
            <a:avLst/>
          </a:prstGeom>
        </p:spPr>
      </p:pic>
      <p:sp>
        <p:nvSpPr>
          <p:cNvPr id="213" name="Shape 213"/>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7. Baclofen leaves hissing latency unchanged.</a:t>
            </a:r>
            <a:endParaRPr lang="en-US"/>
          </a:p>
        </p:txBody>
      </p:sp>
      <p:pic>
        <p:nvPicPr>
          <p:cNvPr id="147" name="Presenton Native Image 48" descr=""/>
          <p:cNvPicPr/>
          <p:nvPr/>
        </p:nvPicPr>
        <p:blipFill>
          <a:blip r:embed="rId2" cstate="none"/>
          <a:stretch>
            <a:fillRect/>
          </a:stretch>
        </p:blipFill>
        <p:spPr>
          <a:xfrm>
            <a:off x="7507770" y="4476750"/>
            <a:ext cx="2881935" cy="1381125"/>
          </a:xfrm>
          <a:prstGeom prst="rect">
            <a:avLst/>
          </a:prstGeom>
        </p:spPr>
      </p:pic>
      <p:sp>
        <p:nvSpPr>
          <p:cNvPr id="214" name="Shape 214"/>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9. Original medial hypothalamic tracer injection histology and localization.</a:t>
            </a:r>
            <a:endParaRPr lang="en-US"/>
          </a:p>
        </p:txBody>
      </p:sp>
      <p:sp>
        <p:nvSpPr>
          <p:cNvPr id="215" name="Shape 215"/>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216" name="Shape 216"/>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17" name="Shape 217"/>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The suppressive drug effect depends on injection site</a:t>
            </a:r>
            <a:endParaRPr lang="en-US"/>
          </a:p>
        </p:txBody>
      </p:sp>
      <p:sp>
        <p:nvSpPr>
          <p:cNvPr id="218" name="Shape 218"/>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Local injection narrows a pharmacological intervention to a region, but diffusion can complicate localization. Cheu and Siegel tested whether muscimol’s suppressive effect extended from the medial hypothalamus into adjoining lateral hypothalamic tissue.</a:t>
            </a:r>
            <a:endParaRPr lang="en-US"/>
          </a:p>
        </p:txBody>
      </p:sp>
      <p:sp>
        <p:nvSpPr>
          <p:cNvPr id="219" name="Shape 219"/>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60 pmol muscimol injection into the lateral hypothalamus did not change the latency or threshold for defense elicited from the medial site. This dose was twice the medial dose producing pronounced suppression. Tracer injections were also checked for their anatomical extent.</a:t>
            </a:r>
            <a:endParaRPr lang="en-US"/>
          </a:p>
        </p:txBody>
      </p:sp>
      <p:sp>
        <p:nvSpPr>
          <p:cNvPr id="220" name="Shape 220"/>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neighboring-site comparison supports regional specificity of the suppressive effect. It does not prove that all drug remained within one microscopic nucleus or that the lateral hypothalamus lacks a role in defense. Its electrical stimulation had already supplied a distinct inhibitory influence on the medial response.</a:t>
            </a:r>
            <a:endParaRPr lang="en-US"/>
          </a:p>
        </p:txBody>
      </p:sp>
      <p:pic>
        <p:nvPicPr>
          <p:cNvPr id="148" name="Presenton Native Image 49" descr=""/>
          <p:cNvPicPr/>
          <p:nvPr/>
        </p:nvPicPr>
        <p:blipFill>
          <a:blip r:embed="rId3" cstate="none"/>
          <a:stretch>
            <a:fillRect/>
          </a:stretch>
        </p:blipFill>
        <p:spPr>
          <a:xfrm>
            <a:off x="6791325" y="1191488"/>
            <a:ext cx="4314825" cy="2474773"/>
          </a:xfrm>
          <a:prstGeom prst="rect">
            <a:avLst/>
          </a:prstGeom>
        </p:spPr>
      </p:pic>
      <p:sp>
        <p:nvSpPr>
          <p:cNvPr id="221" name="Shape 221"/>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8. Lateral hypothalamic muscimol leaves latency unchanged.</a:t>
            </a:r>
            <a:endParaRPr lang="en-US"/>
          </a:p>
        </p:txBody>
      </p:sp>
      <p:pic>
        <p:nvPicPr>
          <p:cNvPr id="149" name="Presenton Native Image 50" descr=""/>
          <p:cNvPicPr/>
          <p:nvPr/>
        </p:nvPicPr>
        <p:blipFill>
          <a:blip r:embed="rId2" cstate="none"/>
          <a:stretch>
            <a:fillRect/>
          </a:stretch>
        </p:blipFill>
        <p:spPr>
          <a:xfrm>
            <a:off x="7507770" y="4476750"/>
            <a:ext cx="2881935" cy="1381125"/>
          </a:xfrm>
          <a:prstGeom prst="rect">
            <a:avLst/>
          </a:prstGeom>
        </p:spPr>
      </p:pic>
      <p:sp>
        <p:nvSpPr>
          <p:cNvPr id="222" name="Shape 222"/>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9. Original medial hypothalamic tracer injection histology and localization.</a:t>
            </a:r>
            <a:endParaRPr lang="en-US"/>
          </a:p>
        </p:txBody>
      </p:sp>
      <p:sp>
        <p:nvSpPr>
          <p:cNvPr id="223" name="Shape 223"/>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224" name="Shape 224"/>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25" name="Shape 225"/>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Lateral GABA-positive neurons project medially</a:t>
            </a:r>
            <a:endParaRPr lang="en-US"/>
          </a:p>
        </p:txBody>
      </p:sp>
      <p:sp>
        <p:nvSpPr>
          <p:cNvPr id="226" name="Shape 226"/>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Cheu and Siegel injected Fluoro-Gold into the medial hypothalamic defensive territory and then examined retrograde labeling in the lateral hypothalamus. They combined tracing with antibody detection of GABA to identify candidate inhibitory projection neurons.</a:t>
            </a:r>
            <a:endParaRPr lang="en-US"/>
          </a:p>
        </p:txBody>
      </p:sp>
      <p:sp>
        <p:nvSpPr>
          <p:cNvPr id="227" name="Shape 227"/>
          <p:cNvSpPr/>
          <p:nvPr/>
        </p:nvSpPr>
        <p:spPr>
          <a:xfrm>
            <a:off x="571500" y="258127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Some lateral neurons contained both the tracer and GABA immunoreactivity. The injection focus was approximately 0.5–0.7 mm in diameter and did not visibly extend into the lateral hypothalamus. This localization reduced the possibility that lateral labeling simply reflected contamination by the injection itself.</a:t>
            </a:r>
            <a:endParaRPr lang="en-US"/>
          </a:p>
        </p:txBody>
      </p:sp>
      <p:sp>
        <p:nvSpPr>
          <p:cNvPr id="228" name="Shape 228"/>
          <p:cNvSpPr/>
          <p:nvPr/>
        </p:nvSpPr>
        <p:spPr>
          <a:xfrm>
            <a:off x="571500" y="421957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anatomical result supports a lateral-to-medial GABA-associated projection. Double labeling does not measure release at a functioning synapse. Together with bicuculline blockade and muscimol suppression, it supports a candidate inhibitory pathway while leaving its activity during naturally occurring threats unresolved.</a:t>
            </a:r>
            <a:endParaRPr lang="en-US"/>
          </a:p>
        </p:txBody>
      </p:sp>
      <p:pic>
        <p:nvPicPr>
          <p:cNvPr id="150" name="Presenton Native Image 51" descr=""/>
          <p:cNvPicPr/>
          <p:nvPr/>
        </p:nvPicPr>
        <p:blipFill>
          <a:blip r:embed="rId3" cstate="none"/>
          <a:stretch>
            <a:fillRect/>
          </a:stretch>
        </p:blipFill>
        <p:spPr>
          <a:xfrm>
            <a:off x="8143875" y="1191041"/>
            <a:ext cx="1609725" cy="2475667"/>
          </a:xfrm>
          <a:prstGeom prst="rect">
            <a:avLst/>
          </a:prstGeom>
        </p:spPr>
      </p:pic>
      <p:sp>
        <p:nvSpPr>
          <p:cNvPr id="229" name="Shape 229"/>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11A–F. GABA and tracer labeling in lateral hypothalamic neurons.</a:t>
            </a:r>
            <a:endParaRPr lang="en-US"/>
          </a:p>
        </p:txBody>
      </p:sp>
      <p:pic>
        <p:nvPicPr>
          <p:cNvPr id="151" name="Presenton Native Image 52" descr=""/>
          <p:cNvPicPr/>
          <p:nvPr/>
        </p:nvPicPr>
        <p:blipFill>
          <a:blip r:embed="rId2" cstate="none"/>
          <a:stretch>
            <a:fillRect/>
          </a:stretch>
        </p:blipFill>
        <p:spPr>
          <a:xfrm>
            <a:off x="7507770" y="4476750"/>
            <a:ext cx="2881935" cy="1381125"/>
          </a:xfrm>
          <a:prstGeom prst="rect">
            <a:avLst/>
          </a:prstGeom>
        </p:spPr>
      </p:pic>
      <p:sp>
        <p:nvSpPr>
          <p:cNvPr id="230" name="Shape 230"/>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9. Original medial hypothalamic tracer injection histology and localization.</a:t>
            </a:r>
            <a:endParaRPr lang="en-US"/>
          </a:p>
        </p:txBody>
      </p:sp>
      <p:sp>
        <p:nvSpPr>
          <p:cNvPr id="231" name="Shape 231"/>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232" name="Shape 232"/>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33" name="Shape 233"/>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Baseline defense need not depend on tonic inhibition</a:t>
            </a:r>
            <a:endParaRPr lang="en-US"/>
          </a:p>
        </p:txBody>
      </p:sp>
      <p:sp>
        <p:nvSpPr>
          <p:cNvPr id="234" name="Shape 234"/>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Tonic inhibition</a:t>
            </a:r>
            <a:r>
              <a:rPr sz="1500" b="0" i="0">
                <a:solidFill>
                  <a:srgbClr val="000000"/>
                </a:solidFill>
                <a:latin typeface="Arial"/>
                <a:ea typeface="Arial"/>
              </a:rPr>
              <a:t xml:space="preserve"> is continuously maintained inhibitory influence, while episodic inhibition appears when a particular input is engaged. Cheu and Siegel tested bicuculline during medial hypothalamic stimulation alone, without concurrent lateral hypothalamic stimulation.</a:t>
            </a:r>
            <a:endParaRPr lang="en-US"/>
          </a:p>
        </p:txBody>
      </p:sp>
      <p:sp>
        <p:nvSpPr>
          <p:cNvPr id="235" name="Shape 235"/>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60 pmol injection left baseline hissing latency essentially unchanged: about 6.62 s before injection and 6.65 s in the early post-injection period. The same intervention blocked suppression when the lateral input was activated during dual stimulation.</a:t>
            </a:r>
            <a:endParaRPr lang="en-US"/>
          </a:p>
        </p:txBody>
      </p:sp>
      <p:sp>
        <p:nvSpPr>
          <p:cNvPr id="236" name="Shape 236"/>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contrast is consistent with an inhibitory influence recruited by the lateral stimulation rather than strong continuous inhibition in this preparation. It does not exclude spontaneous GABA signaling or establish its temporal pattern in behaving animals outside the stimulation experiment. The conclusion concerns the tested conditions and the measured response.</a:t>
            </a:r>
            <a:endParaRPr lang="en-US"/>
          </a:p>
        </p:txBody>
      </p:sp>
      <p:pic>
        <p:nvPicPr>
          <p:cNvPr id="152" name="Presenton Native Image 53" descr=""/>
          <p:cNvPicPr/>
          <p:nvPr/>
        </p:nvPicPr>
        <p:blipFill>
          <a:blip r:embed="rId3" cstate="none"/>
          <a:stretch>
            <a:fillRect/>
          </a:stretch>
        </p:blipFill>
        <p:spPr>
          <a:xfrm>
            <a:off x="7136328" y="1190625"/>
            <a:ext cx="3634344" cy="2476500"/>
          </a:xfrm>
          <a:prstGeom prst="rect">
            <a:avLst/>
          </a:prstGeom>
        </p:spPr>
      </p:pic>
      <p:sp>
        <p:nvSpPr>
          <p:cNvPr id="237" name="Shape 237"/>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4. Bicuculline does not change single-stimulation latency.</a:t>
            </a:r>
            <a:endParaRPr lang="en-US"/>
          </a:p>
        </p:txBody>
      </p:sp>
      <p:pic>
        <p:nvPicPr>
          <p:cNvPr id="153" name="Presenton Native Image 54" descr=""/>
          <p:cNvPicPr/>
          <p:nvPr/>
        </p:nvPicPr>
        <p:blipFill>
          <a:blip r:embed="rId2" cstate="none"/>
          <a:stretch>
            <a:fillRect/>
          </a:stretch>
        </p:blipFill>
        <p:spPr>
          <a:xfrm>
            <a:off x="7507770" y="4476750"/>
            <a:ext cx="2881935" cy="1381125"/>
          </a:xfrm>
          <a:prstGeom prst="rect">
            <a:avLst/>
          </a:prstGeom>
        </p:spPr>
      </p:pic>
      <p:sp>
        <p:nvSpPr>
          <p:cNvPr id="238" name="Shape 238"/>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 xml:space="preserve">Cheu </a:t>
            </a:r>
            <a:r>
              <a:rPr sz="975" b="0" i="0">
                <a:solidFill>
                  <a:srgbClr val="000000"/>
                </a:solidFill>
                <a:latin typeface="Arial"/>
                <a:ea typeface="Arial"/>
              </a:rPr>
              <a:t>&amp;</a:t>
            </a:r>
            <a:r>
              <a:rPr sz="975" b="0" i="0">
                <a:solidFill>
                  <a:srgbClr val="000000"/>
                </a:solidFill>
                <a:latin typeface="Arial"/>
                <a:ea typeface="Arial"/>
              </a:rPr>
              <a:t xml:space="preserve"> Siegel (1998), Fig. 9. Original medial hypothalamic tracer injection histology and localization.</a:t>
            </a:r>
            <a:endParaRPr lang="en-US"/>
          </a:p>
        </p:txBody>
      </p:sp>
      <p:sp>
        <p:nvSpPr>
          <p:cNvPr id="239" name="Shape 239"/>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 xml:space="preserve">Cheu </a:t>
            </a:r>
            <a:r>
              <a:rPr sz="1050" b="0" i="0">
                <a:solidFill>
                  <a:srgbClr val="000000"/>
                </a:solidFill>
                <a:latin typeface="Arial"/>
                <a:ea typeface="Arial"/>
              </a:rPr>
              <a:t>&amp;</a:t>
            </a:r>
            <a:r>
              <a:rPr sz="1050" b="0" i="0">
                <a:solidFill>
                  <a:srgbClr val="000000"/>
                </a:solidFill>
                <a:latin typeface="Arial"/>
                <a:ea typeface="Arial"/>
              </a:rPr>
              <a:t xml:space="preserve"> Siegel (1998)</a:t>
            </a:r>
            <a:endParaRPr lang="en-US"/>
          </a:p>
        </p:txBody>
      </p:sp>
      <p:sp>
        <p:nvSpPr>
          <p:cNvPr id="240" name="Shape 240"/>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1" name="Shape 241"/>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A cytokine can increase defensive circuit responsiveness</a:t>
            </a:r>
            <a:endParaRPr lang="en-US"/>
          </a:p>
        </p:txBody>
      </p:sp>
      <p:sp>
        <p:nvSpPr>
          <p:cNvPr id="242" name="Shape 242"/>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A </a:t>
            </a:r>
            <a:r>
              <a:rPr sz="1500" b="1" i="0">
                <a:solidFill>
                  <a:srgbClr val="444E55"/>
                </a:solidFill>
                <a:latin typeface="Arial"/>
                <a:ea typeface="Arial"/>
              </a:rPr>
              <a:t>cytokine</a:t>
            </a:r>
            <a:r>
              <a:rPr sz="1500" b="0" i="0">
                <a:solidFill>
                  <a:srgbClr val="000000"/>
                </a:solidFill>
                <a:latin typeface="Arial"/>
                <a:ea typeface="Arial"/>
              </a:rPr>
              <a:t xml:space="preserve"> is a signaling protein involved in immune and cellular communication. Bhatt and colleagues injected interleukin-1β, or IL-1β, into PAG sites while eliciting defensive hissing through the experimentally identified hypothalamic–PAG circuit.</a:t>
            </a:r>
            <a:endParaRPr lang="en-US"/>
          </a:p>
        </p:txBody>
      </p:sp>
      <p:sp>
        <p:nvSpPr>
          <p:cNvPr id="243" name="Shape 243"/>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5 ng injection produced maximal facilitation at about 60 min, corresponding to roughly a 42% reduction in hissing latency. The effect declined over subsequent observations but remained detectable at 180 min. Saline and the lowest tested dose lacked comparable facilitation.</a:t>
            </a:r>
            <a:endParaRPr lang="en-US"/>
          </a:p>
        </p:txBody>
      </p:sp>
      <p:sp>
        <p:nvSpPr>
          <p:cNvPr id="244" name="Shape 244"/>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result establishes that local cytokine delivery can modulate a defensive response. It does not establish that infection invariably increases aggression or that the administered amount equals endogenous release during natural fear. The intervention tests one molecule at one identified circuit site.</a:t>
            </a:r>
            <a:endParaRPr lang="en-US"/>
          </a:p>
        </p:txBody>
      </p:sp>
      <p:pic>
        <p:nvPicPr>
          <p:cNvPr id="154" name="Presenton Native Image 55" descr=""/>
          <p:cNvPicPr/>
          <p:nvPr/>
        </p:nvPicPr>
        <p:blipFill>
          <a:blip r:embed="rId2" cstate="none"/>
          <a:stretch>
            <a:fillRect/>
          </a:stretch>
        </p:blipFill>
        <p:spPr>
          <a:xfrm>
            <a:off x="7174238" y="1190625"/>
            <a:ext cx="3549000" cy="2476500"/>
          </a:xfrm>
          <a:prstGeom prst="rect">
            <a:avLst/>
          </a:prstGeom>
        </p:spPr>
      </p:pic>
      <p:sp>
        <p:nvSpPr>
          <p:cNvPr id="245" name="Shape 245"/>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3. PAG IL-1β dose and time dependence of hissing facilitation.</a:t>
            </a:r>
            <a:endParaRPr lang="en-US"/>
          </a:p>
        </p:txBody>
      </p:sp>
      <p:pic>
        <p:nvPicPr>
          <p:cNvPr id="155" name="Presenton Native Image 56" descr=""/>
          <p:cNvPicPr/>
          <p:nvPr/>
        </p:nvPicPr>
        <p:blipFill>
          <a:blip r:embed="rId3" cstate="none"/>
          <a:stretch>
            <a:fillRect/>
          </a:stretch>
        </p:blipFill>
        <p:spPr>
          <a:xfrm>
            <a:off x="8211525" y="4476750"/>
            <a:ext cx="1474425" cy="1381125"/>
          </a:xfrm>
          <a:prstGeom prst="rect">
            <a:avLst/>
          </a:prstGeom>
        </p:spPr>
      </p:pic>
      <p:sp>
        <p:nvSpPr>
          <p:cNvPr id="246" name="Shape 246"/>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6A–E. Original PAG receptor labeling and antibody validation.</a:t>
            </a:r>
            <a:endParaRPr lang="en-US"/>
          </a:p>
        </p:txBody>
      </p:sp>
      <p:sp>
        <p:nvSpPr>
          <p:cNvPr id="247" name="Shape 247"/>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(2008)</a:t>
            </a:r>
            <a:endParaRPr lang="en-US"/>
          </a:p>
        </p:txBody>
      </p:sp>
      <p:sp>
        <p:nvSpPr>
          <p:cNvPr id="248" name="Shape 248"/>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9" name="Shape 249"/>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IL-1 receptor blockade prevents cytokine facilitation</a:t>
            </a:r>
            <a:endParaRPr lang="en-US"/>
          </a:p>
        </p:txBody>
      </p:sp>
      <p:sp>
        <p:nvSpPr>
          <p:cNvPr id="250" name="Shape 250"/>
          <p:cNvSpPr/>
          <p:nvPr/>
        </p:nvSpPr>
        <p:spPr>
          <a:xfrm>
            <a:off x="571500" y="1190625"/>
            <a:ext cx="5448300" cy="9906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Bhatt and colleagues pretreated a PAG defensive site with an antibody against the type-I IL-1 receptor before injecting IL-1β. A </a:t>
            </a:r>
            <a:r>
              <a:rPr sz="1500" b="1" i="0">
                <a:solidFill>
                  <a:srgbClr val="444E55"/>
                </a:solidFill>
                <a:latin typeface="Arial"/>
                <a:ea typeface="Arial"/>
              </a:rPr>
              <a:t>receptor antibody</a:t>
            </a:r>
            <a:r>
              <a:rPr sz="1500" b="0" i="0">
                <a:solidFill>
                  <a:srgbClr val="000000"/>
                </a:solidFill>
                <a:latin typeface="Arial"/>
                <a:ea typeface="Arial"/>
              </a:rPr>
              <a:t xml:space="preserve"> can interfere with the interaction between a signaling molecule and its receptor.</a:t>
            </a:r>
            <a:endParaRPr lang="en-US"/>
          </a:p>
        </p:txBody>
      </p:sp>
      <p:sp>
        <p:nvSpPr>
          <p:cNvPr id="251" name="Shape 251"/>
          <p:cNvSpPr/>
          <p:nvPr/>
        </p:nvSpPr>
        <p:spPr>
          <a:xfrm>
            <a:off x="571500" y="2333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Pretreatment 5 min before cytokine delivery blocked the facilitatory reduction in hissing latency. The receptor antibody alone did not appreciably change the baseline response. Thus, preventing the cytokine effect did not require eliminating electrically elicited hissing altogether.</a:t>
            </a:r>
            <a:endParaRPr lang="en-US"/>
          </a:p>
        </p:txBody>
      </p:sp>
      <p:sp>
        <p:nvSpPr>
          <p:cNvPr id="252" name="Shape 252"/>
          <p:cNvSpPr/>
          <p:nvPr/>
        </p:nvSpPr>
        <p:spPr>
          <a:xfrm>
            <a:off x="571500" y="372427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comparison supports involvement of the targeted IL-1 receptor in the administered cytokine’s action. It does not identify whether the behavioral effect arises directly in the recorded defensive neurons, indirectly through neighboring cells, or through a specific intracellular cascade. No identified-neuron recording was performed in this experiment.</a:t>
            </a:r>
            <a:endParaRPr lang="en-US"/>
          </a:p>
        </p:txBody>
      </p:sp>
      <p:pic>
        <p:nvPicPr>
          <p:cNvPr id="156" name="Presenton Native Image 57" descr=""/>
          <p:cNvPicPr/>
          <p:nvPr/>
        </p:nvPicPr>
        <p:blipFill>
          <a:blip r:embed="rId3" cstate="none"/>
          <a:stretch>
            <a:fillRect/>
          </a:stretch>
        </p:blipFill>
        <p:spPr>
          <a:xfrm>
            <a:off x="6819900" y="1191841"/>
            <a:ext cx="4267200" cy="2474068"/>
          </a:xfrm>
          <a:prstGeom prst="rect">
            <a:avLst/>
          </a:prstGeom>
        </p:spPr>
      </p:pic>
      <p:sp>
        <p:nvSpPr>
          <p:cNvPr id="253" name="Shape 253"/>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4a. IL-1 receptor antibody blocks cytokine facilitation.</a:t>
            </a:r>
            <a:endParaRPr lang="en-US"/>
          </a:p>
        </p:txBody>
      </p:sp>
      <p:pic>
        <p:nvPicPr>
          <p:cNvPr id="157" name="Presenton Native Image 58" descr=""/>
          <p:cNvPicPr/>
          <p:nvPr/>
        </p:nvPicPr>
        <p:blipFill>
          <a:blip r:embed="rId2" cstate="none"/>
          <a:stretch>
            <a:fillRect/>
          </a:stretch>
        </p:blipFill>
        <p:spPr>
          <a:xfrm>
            <a:off x="8211525" y="4476750"/>
            <a:ext cx="1474425" cy="1381125"/>
          </a:xfrm>
          <a:prstGeom prst="rect">
            <a:avLst/>
          </a:prstGeom>
        </p:spPr>
      </p:pic>
      <p:sp>
        <p:nvSpPr>
          <p:cNvPr id="254" name="Shape 254"/>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6A–E. Original PAG receptor labeling and antibody validation.</a:t>
            </a:r>
            <a:endParaRPr lang="en-US"/>
          </a:p>
        </p:txBody>
      </p:sp>
      <p:sp>
        <p:nvSpPr>
          <p:cNvPr id="255" name="Shape 255"/>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(2008)</a:t>
            </a:r>
            <a:endParaRPr lang="en-US"/>
          </a:p>
        </p:txBody>
      </p:sp>
      <p:sp>
        <p:nvSpPr>
          <p:cNvPr id="256" name="Shape 256"/>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57" name="Shape 257"/>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An isotype control tests nonspecific antibody effects</a:t>
            </a:r>
            <a:endParaRPr lang="en-US"/>
          </a:p>
        </p:txBody>
      </p:sp>
      <p:sp>
        <p:nvSpPr>
          <p:cNvPr id="258" name="Shape 258"/>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An </a:t>
            </a:r>
            <a:r>
              <a:rPr sz="1500" b="1" i="0">
                <a:solidFill>
                  <a:srgbClr val="444E55"/>
                </a:solidFill>
                <a:latin typeface="Arial"/>
                <a:ea typeface="Arial"/>
              </a:rPr>
              <a:t>isotype control</a:t>
            </a:r>
            <a:r>
              <a:rPr sz="1500" b="0" i="0">
                <a:solidFill>
                  <a:srgbClr val="000000"/>
                </a:solidFill>
                <a:latin typeface="Arial"/>
                <a:ea typeface="Arial"/>
              </a:rPr>
              <a:t xml:space="preserve"> is an antibody of a comparable class that does not target the experimental receptor. Bhatt and colleagues used IgG2a to test whether antibody delivery alone nonspecifically prevented IL-1β from facilitating defensive rage.</a:t>
            </a:r>
            <a:endParaRPr lang="en-US"/>
          </a:p>
        </p:txBody>
      </p:sp>
      <p:sp>
        <p:nvSpPr>
          <p:cNvPr id="259" name="Shape 259"/>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control antibody did not block facilitation after 5 ng IL-1β, and it did not appreciably alter baseline hissing when administered alone. The same 30–180 min observation windows were used to follow the cytokine effect across the treatment conditions.</a:t>
            </a:r>
            <a:endParaRPr lang="en-US"/>
          </a:p>
        </p:txBody>
      </p:sp>
      <p:sp>
        <p:nvSpPr>
          <p:cNvPr id="260" name="Shape 260"/>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This result strengthens the receptor-specific interpretation of the blocking antibody experiment. It does not establish absolute specificity for every molecular interaction, nor does it replace a direct measurement of receptor signaling. A comparison between targeting and control antibodies addresses a different confound from comparing cytokine with saline.</a:t>
            </a:r>
            <a:endParaRPr lang="en-US"/>
          </a:p>
        </p:txBody>
      </p:sp>
      <p:pic>
        <p:nvPicPr>
          <p:cNvPr id="158" name="Presenton Native Image 59" descr=""/>
          <p:cNvPicPr/>
          <p:nvPr/>
        </p:nvPicPr>
        <p:blipFill>
          <a:blip r:embed="rId3" cstate="none"/>
          <a:stretch>
            <a:fillRect/>
          </a:stretch>
        </p:blipFill>
        <p:spPr>
          <a:xfrm>
            <a:off x="7001821" y="1190625"/>
            <a:ext cx="3903358" cy="2476500"/>
          </a:xfrm>
          <a:prstGeom prst="rect">
            <a:avLst/>
          </a:prstGeom>
        </p:spPr>
      </p:pic>
      <p:sp>
        <p:nvSpPr>
          <p:cNvPr id="261" name="Shape 261"/>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4b. Isotype antibody does not block cytokine facilitation.</a:t>
            </a:r>
            <a:endParaRPr lang="en-US"/>
          </a:p>
        </p:txBody>
      </p:sp>
      <p:pic>
        <p:nvPicPr>
          <p:cNvPr id="159" name="Presenton Native Image 60" descr=""/>
          <p:cNvPicPr/>
          <p:nvPr/>
        </p:nvPicPr>
        <p:blipFill>
          <a:blip r:embed="rId2" cstate="none"/>
          <a:stretch>
            <a:fillRect/>
          </a:stretch>
        </p:blipFill>
        <p:spPr>
          <a:xfrm>
            <a:off x="8211525" y="4476750"/>
            <a:ext cx="1474425" cy="1381125"/>
          </a:xfrm>
          <a:prstGeom prst="rect">
            <a:avLst/>
          </a:prstGeom>
        </p:spPr>
      </p:pic>
      <p:sp>
        <p:nvSpPr>
          <p:cNvPr id="262" name="Shape 262"/>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6A–E. Original PAG receptor labeling and antibody validation.</a:t>
            </a:r>
            <a:endParaRPr lang="en-US"/>
          </a:p>
        </p:txBody>
      </p:sp>
      <p:sp>
        <p:nvSpPr>
          <p:cNvPr id="263" name="Shape 263"/>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(2008)</a:t>
            </a:r>
            <a:endParaRPr lang="en-US"/>
          </a:p>
        </p:txBody>
      </p:sp>
      <p:sp>
        <p:nvSpPr>
          <p:cNvPr id="264" name="Shape 264"/>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65" name="Shape 265"/>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Serotonin receptor blockade prevents IL-1 facilitation</a:t>
            </a:r>
            <a:endParaRPr lang="en-US"/>
          </a:p>
        </p:txBody>
      </p:sp>
      <p:sp>
        <p:nvSpPr>
          <p:cNvPr id="266" name="Shape 266"/>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Serotonin</a:t>
            </a:r>
            <a:r>
              <a:rPr sz="1500" b="0" i="0">
                <a:solidFill>
                  <a:srgbClr val="000000"/>
                </a:solidFill>
                <a:latin typeface="Arial"/>
                <a:ea typeface="Arial"/>
              </a:rPr>
              <a:t>, also called 5-HT, is a neuromodulator with multiple receptor classes. Bhatt and colleagues pretreated the PAG site with LY53857, a 5-HT2 receptor antagonist, before administering IL-1β during defensive-hissing experiments.</a:t>
            </a:r>
            <a:endParaRPr lang="en-US"/>
          </a:p>
        </p:txBody>
      </p:sp>
      <p:sp>
        <p:nvSpPr>
          <p:cNvPr id="267" name="Shape 267"/>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antagonist prevented the latency reduction normally produced by 5 ng IL-1β. Antagonist delivery alone did not appreciably alter baseline hissing. The comparison supports serotonin-receptor participation in the cytokine-dependent increase in circuit responsiveness.</a:t>
            </a:r>
            <a:endParaRPr lang="en-US"/>
          </a:p>
        </p:txBody>
      </p:sp>
      <p:sp>
        <p:nvSpPr>
          <p:cNvPr id="268" name="Shape 268"/>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The tissue study labeled 5-HT2C receptors, but the behavioral pharmacology does not isolate every receptor subtype or the precise cellular interaction. A </a:t>
            </a:r>
            <a:r>
              <a:rPr sz="1500" b="1" i="0">
                <a:solidFill>
                  <a:srgbClr val="444E55"/>
                </a:solidFill>
                <a:latin typeface="Arial"/>
                <a:ea typeface="Arial"/>
              </a:rPr>
              <a:t>neuromodulator</a:t>
            </a:r>
            <a:r>
              <a:rPr sz="1500" b="0" i="0">
                <a:solidFill>
                  <a:srgbClr val="000000"/>
                </a:solidFill>
                <a:latin typeface="Arial"/>
                <a:ea typeface="Arial"/>
              </a:rPr>
              <a:t xml:space="preserve"> changes how a circuit responds to other inputs; the experiment supports such an interaction without directly measuring serotonin release, intracellular signaling, or the activity of identified PAG neurons.</a:t>
            </a:r>
            <a:endParaRPr lang="en-US"/>
          </a:p>
        </p:txBody>
      </p:sp>
      <p:pic>
        <p:nvPicPr>
          <p:cNvPr id="160" name="Presenton Native Image 61" descr=""/>
          <p:cNvPicPr/>
          <p:nvPr/>
        </p:nvPicPr>
        <p:blipFill>
          <a:blip r:embed="rId3" cstate="none"/>
          <a:stretch>
            <a:fillRect/>
          </a:stretch>
        </p:blipFill>
        <p:spPr>
          <a:xfrm>
            <a:off x="7260333" y="1190625"/>
            <a:ext cx="3386334" cy="2476500"/>
          </a:xfrm>
          <a:prstGeom prst="rect">
            <a:avLst/>
          </a:prstGeom>
        </p:spPr>
      </p:pic>
      <p:sp>
        <p:nvSpPr>
          <p:cNvPr id="269" name="Shape 269"/>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5a. Serotonin receptor blockade prevents IL-1β facilitation.</a:t>
            </a:r>
            <a:endParaRPr lang="en-US"/>
          </a:p>
        </p:txBody>
      </p:sp>
      <p:pic>
        <p:nvPicPr>
          <p:cNvPr id="161" name="Presenton Native Image 62" descr=""/>
          <p:cNvPicPr/>
          <p:nvPr/>
        </p:nvPicPr>
        <p:blipFill>
          <a:blip r:embed="rId2" cstate="none"/>
          <a:stretch>
            <a:fillRect/>
          </a:stretch>
        </p:blipFill>
        <p:spPr>
          <a:xfrm>
            <a:off x="8211525" y="4476750"/>
            <a:ext cx="1474425" cy="1381125"/>
          </a:xfrm>
          <a:prstGeom prst="rect">
            <a:avLst/>
          </a:prstGeom>
        </p:spPr>
      </p:pic>
      <p:sp>
        <p:nvSpPr>
          <p:cNvPr id="270" name="Shape 270"/>
          <p:cNvSpPr/>
          <p:nvPr/>
        </p:nvSpPr>
        <p:spPr>
          <a:xfrm>
            <a:off x="6477000" y="595312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6A–E. Original PAG receptor labeling and antibody validation.</a:t>
            </a:r>
            <a:endParaRPr lang="en-US"/>
          </a:p>
        </p:txBody>
      </p:sp>
      <p:sp>
        <p:nvSpPr>
          <p:cNvPr id="271" name="Shape 271"/>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(2008)</a:t>
            </a:r>
            <a:endParaRPr lang="en-US"/>
          </a:p>
        </p:txBody>
      </p:sp>
      <p:sp>
        <p:nvSpPr>
          <p:cNvPr id="272" name="Shape 272"/>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73" name="Shape 273"/>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Other facilitatory receptor blockers do not match 5-HT2</a:t>
            </a:r>
            <a:endParaRPr lang="en-US"/>
          </a:p>
        </p:txBody>
      </p:sp>
      <p:sp>
        <p:nvSpPr>
          <p:cNvPr id="274" name="Shape 274"/>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Bhatt and colleagues compared 5-HT2 blockade with blockade of NK-1 and CCKb receptors at the PAG site. </a:t>
            </a:r>
            <a:r>
              <a:rPr sz="1500" b="1" i="0">
                <a:solidFill>
                  <a:srgbClr val="444E55"/>
                </a:solidFill>
                <a:latin typeface="Arial"/>
                <a:ea typeface="Arial"/>
              </a:rPr>
              <a:t>NK-1</a:t>
            </a:r>
            <a:r>
              <a:rPr sz="1500" b="0" i="0">
                <a:solidFill>
                  <a:srgbClr val="000000"/>
                </a:solidFill>
                <a:latin typeface="Arial"/>
                <a:ea typeface="Arial"/>
              </a:rPr>
              <a:t xml:space="preserve"> is a receptor for substance P, and </a:t>
            </a:r>
            <a:r>
              <a:rPr sz="1500" b="1" i="0">
                <a:solidFill>
                  <a:srgbClr val="444E55"/>
                </a:solidFill>
                <a:latin typeface="Arial"/>
                <a:ea typeface="Arial"/>
              </a:rPr>
              <a:t>CCKb</a:t>
            </a:r>
            <a:r>
              <a:rPr sz="1500" b="0" i="0">
                <a:solidFill>
                  <a:srgbClr val="000000"/>
                </a:solidFill>
                <a:latin typeface="Arial"/>
                <a:ea typeface="Arial"/>
              </a:rPr>
              <a:t xml:space="preserve"> is a cholecystokinin receptor; both were candidate modulatory receptor classes in this preparation.</a:t>
            </a:r>
            <a:endParaRPr lang="en-US"/>
          </a:p>
        </p:txBody>
      </p:sp>
      <p:sp>
        <p:nvSpPr>
          <p:cNvPr id="275" name="Shape 275"/>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GR82334 and CR2945 did not prevent the facilitation caused by 5 ng IL-1β during the tested observation period. These compounds also lacked an appreciable effect on baseline hissing when administered alone, unlike the selective loss of cytokine facilitation after 5-HT2 blockade.</a:t>
            </a:r>
            <a:endParaRPr lang="en-US"/>
          </a:p>
        </p:txBody>
      </p:sp>
      <p:sp>
        <p:nvSpPr>
          <p:cNvPr id="276" name="Shape 276"/>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comparison narrows the candidate receptor interaction rather than proving that the other signaling systems never influence defense. Their contribution could depend on other inputs or conditions. The result concerns IL-1β-mediated facilitation at the tested PAG sites and doses.</a:t>
            </a:r>
            <a:endParaRPr lang="en-US"/>
          </a:p>
        </p:txBody>
      </p:sp>
      <p:pic>
        <p:nvPicPr>
          <p:cNvPr id="162" name="Presenton Native Image 63" descr=""/>
          <p:cNvPicPr/>
          <p:nvPr/>
        </p:nvPicPr>
        <p:blipFill>
          <a:blip r:embed="rId3" cstate="none"/>
          <a:stretch>
            <a:fillRect/>
          </a:stretch>
        </p:blipFill>
        <p:spPr>
          <a:xfrm>
            <a:off x="8001240" y="1190625"/>
            <a:ext cx="1894994" cy="2476500"/>
          </a:xfrm>
          <a:prstGeom prst="rect">
            <a:avLst/>
          </a:prstGeom>
        </p:spPr>
      </p:pic>
      <p:sp>
        <p:nvSpPr>
          <p:cNvPr id="277" name="Shape 277"/>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5b,c. NK-1 and CCKb blockade leave cytokine facilitation intact.</a:t>
            </a:r>
            <a:endParaRPr lang="en-US"/>
          </a:p>
        </p:txBody>
      </p:sp>
      <p:pic>
        <p:nvPicPr>
          <p:cNvPr id="163" name="Presenton Native Image 64" descr=""/>
          <p:cNvPicPr/>
          <p:nvPr/>
        </p:nvPicPr>
        <p:blipFill>
          <a:blip r:embed="rId2" cstate="none"/>
          <a:stretch>
            <a:fillRect/>
          </a:stretch>
        </p:blipFill>
        <p:spPr>
          <a:xfrm>
            <a:off x="8584019" y="4476750"/>
            <a:ext cx="729438" cy="1381125"/>
          </a:xfrm>
          <a:prstGeom prst="rect">
            <a:avLst/>
          </a:prstGeom>
        </p:spPr>
      </p:pic>
      <p:sp>
        <p:nvSpPr>
          <p:cNvPr id="278" name="Shape 278"/>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6A,D. PAG tissue surrounding the aqueduct and receptor labeling; 100 μm bar.</a:t>
            </a:r>
            <a:endParaRPr lang="en-US"/>
          </a:p>
        </p:txBody>
      </p:sp>
      <p:sp>
        <p:nvSpPr>
          <p:cNvPr id="279" name="Shape 279"/>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(2008)</a:t>
            </a:r>
            <a:endParaRPr lang="en-US"/>
          </a:p>
        </p:txBody>
      </p:sp>
      <p:sp>
        <p:nvSpPr>
          <p:cNvPr id="280" name="Shape 280"/>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1" name="Shape 281"/>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Receptor staining localizes candidates within the PAG</a:t>
            </a:r>
            <a:endParaRPr lang="en-US"/>
          </a:p>
        </p:txBody>
      </p:sp>
      <p:sp>
        <p:nvSpPr>
          <p:cNvPr id="282" name="Shape 282"/>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Bhatt and colleagues used </a:t>
            </a:r>
            <a:r>
              <a:rPr sz="1500" b="1" i="0">
                <a:solidFill>
                  <a:srgbClr val="444E55"/>
                </a:solidFill>
                <a:latin typeface="Arial"/>
                <a:ea typeface="Arial"/>
              </a:rPr>
              <a:t>immunocytochemistry</a:t>
            </a:r>
            <a:r>
              <a:rPr sz="1500" b="0" i="0">
                <a:solidFill>
                  <a:srgbClr val="000000"/>
                </a:solidFill>
                <a:latin typeface="Arial"/>
                <a:ea typeface="Arial"/>
              </a:rPr>
              <a:t>, antibody-based molecular labeling, to examine IL-1 and serotonin receptors in PAG tissue. IL-1 receptor labeling was stronger in dorsal PAG than in ventral PAG, while 5-HT2C labeling was distributed through the examined PAG region.</a:t>
            </a:r>
            <a:endParaRPr lang="en-US"/>
          </a:p>
        </p:txBody>
      </p:sp>
      <p:sp>
        <p:nvSpPr>
          <p:cNvPr id="283" name="Shape 283"/>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published fluorescence panels preserve the original green and red labels and a 100 μm scale bar. Western blotting, which separates proteins before antibody detection, identified bands near 88 kDa for IL-1R1 and 47 kDa for 5-HT2C.</a:t>
            </a:r>
            <a:endParaRPr lang="en-US"/>
          </a:p>
        </p:txBody>
      </p:sp>
      <p:sp>
        <p:nvSpPr>
          <p:cNvPr id="284" name="Shape 284"/>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Anatomical presence is compatible with the pharmacological effects on hissing latency. It does not establish that the two receptors occur on the same behaviorally active cell or that one directly controls the other. Colocalization and functional coupling require additional cell-specific evidence.</a:t>
            </a:r>
            <a:endParaRPr lang="en-US"/>
          </a:p>
        </p:txBody>
      </p:sp>
      <p:pic>
        <p:nvPicPr>
          <p:cNvPr id="164" name="Presenton Native Image 65" descr=""/>
          <p:cNvPicPr/>
          <p:nvPr/>
        </p:nvPicPr>
        <p:blipFill>
          <a:blip r:embed="rId2" cstate="none"/>
          <a:stretch>
            <a:fillRect/>
          </a:stretch>
        </p:blipFill>
        <p:spPr>
          <a:xfrm>
            <a:off x="6610350" y="1190958"/>
            <a:ext cx="4676775" cy="4380833"/>
          </a:xfrm>
          <a:prstGeom prst="rect">
            <a:avLst/>
          </a:prstGeom>
        </p:spPr>
      </p:pic>
      <p:sp>
        <p:nvSpPr>
          <p:cNvPr id="285" name="Shape 285"/>
          <p:cNvSpPr/>
          <p:nvPr/>
        </p:nvSpPr>
        <p:spPr>
          <a:xfrm>
            <a:off x="6477000" y="5667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6A–E. Original PAG receptor labeling and antibody validation.</a:t>
            </a:r>
            <a:endParaRPr lang="en-US"/>
          </a:p>
        </p:txBody>
      </p:sp>
      <p:sp>
        <p:nvSpPr>
          <p:cNvPr id="286" name="Shape 286"/>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(2008)</a:t>
            </a:r>
            <a:endParaRPr lang="en-US"/>
          </a:p>
        </p:txBody>
      </p:sp>
      <p:sp>
        <p:nvSpPr>
          <p:cNvPr id="287" name="Shape 287"/>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8" name="Shape 288"/>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Peripheral immune challenge can suppress hissing</a:t>
            </a:r>
            <a:endParaRPr lang="en-US"/>
          </a:p>
        </p:txBody>
      </p:sp>
      <p:sp>
        <p:nvSpPr>
          <p:cNvPr id="289" name="Shape 289"/>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Lipopolysaccharide</a:t>
            </a:r>
            <a:r>
              <a:rPr sz="1500" b="0" i="0">
                <a:solidFill>
                  <a:srgbClr val="000000"/>
                </a:solidFill>
                <a:latin typeface="Arial"/>
                <a:ea typeface="Arial"/>
              </a:rPr>
              <a:t>, or LPS, is a bacterial cell-wall component used experimentally to provoke an immune response. Bhatt and colleagues administered peripheral LPS at 50 μg/kg and measured PAG-elicited defensive hissing over subsequent hours.</a:t>
            </a:r>
            <a:endParaRPr lang="en-US"/>
          </a:p>
        </p:txBody>
      </p:sp>
      <p:sp>
        <p:nvSpPr>
          <p:cNvPr id="290" name="Shape 290"/>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Hissing latency increased beginning about 60 min after injection. Body temperature rose more strongly later, reaching about 105 °F at 120 min. Local medial hypothalamic delivery of 5 ng LPS did not reproduce the peripheral effect.</a:t>
            </a:r>
            <a:endParaRPr lang="en-US"/>
          </a:p>
        </p:txBody>
      </p:sp>
      <p:sp>
        <p:nvSpPr>
          <p:cNvPr id="291" name="Shape 291"/>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contrast supports an indirect influence of peripheral immune activation rather than the same effect of local LPS delivery at the tested site. The timing weakens a simple explanation based only on peak fever, but it does not establish an absence of all sickness-related changes or subjective discomfort.</a:t>
            </a:r>
            <a:endParaRPr lang="en-US"/>
          </a:p>
        </p:txBody>
      </p:sp>
      <p:pic>
        <p:nvPicPr>
          <p:cNvPr id="165" name="Presenton Native Image 66" descr=""/>
          <p:cNvPicPr/>
          <p:nvPr/>
        </p:nvPicPr>
        <p:blipFill>
          <a:blip r:embed="rId2" cstate="none"/>
          <a:stretch>
            <a:fillRect/>
          </a:stretch>
        </p:blipFill>
        <p:spPr>
          <a:xfrm>
            <a:off x="8050477" y="1190625"/>
            <a:ext cx="1796521" cy="2476500"/>
          </a:xfrm>
          <a:prstGeom prst="rect">
            <a:avLst/>
          </a:prstGeom>
        </p:spPr>
      </p:pic>
      <p:sp>
        <p:nvSpPr>
          <p:cNvPr id="292" name="Shape 292"/>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2A–C. Peripheral LPS, fever, and local LPS have different effects.</a:t>
            </a:r>
            <a:endParaRPr lang="en-US"/>
          </a:p>
        </p:txBody>
      </p:sp>
      <p:pic>
        <p:nvPicPr>
          <p:cNvPr id="166" name="Presenton Native Image 67" descr=""/>
          <p:cNvPicPr/>
          <p:nvPr/>
        </p:nvPicPr>
        <p:blipFill>
          <a:blip r:embed="rId3" cstate="none"/>
          <a:stretch>
            <a:fillRect/>
          </a:stretch>
        </p:blipFill>
        <p:spPr>
          <a:xfrm>
            <a:off x="7593552" y="4476750"/>
            <a:ext cx="2719896" cy="1381125"/>
          </a:xfrm>
          <a:prstGeom prst="rect">
            <a:avLst/>
          </a:prstGeom>
        </p:spPr>
      </p:pic>
      <p:sp>
        <p:nvSpPr>
          <p:cNvPr id="293" name="Shape 293"/>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1A,B. PAG and hypothalamic sites with original anatomical sections.</a:t>
            </a:r>
            <a:endParaRPr lang="en-US"/>
          </a:p>
        </p:txBody>
      </p:sp>
      <p:sp>
        <p:nvSpPr>
          <p:cNvPr id="294" name="Shape 294"/>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(2009)</a:t>
            </a:r>
            <a:endParaRPr lang="en-US"/>
          </a:p>
        </p:txBody>
      </p:sp>
      <p:sp>
        <p:nvSpPr>
          <p:cNvPr id="295" name="Shape 295"/>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96" name="Shape 296"/>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Peripheral TNF neutralization blocks LPS effects</a:t>
            </a:r>
            <a:endParaRPr lang="en-US"/>
          </a:p>
        </p:txBody>
      </p:sp>
      <p:sp>
        <p:nvSpPr>
          <p:cNvPr id="297" name="Shape 297"/>
          <p:cNvSpPr/>
          <p:nvPr/>
        </p:nvSpPr>
        <p:spPr>
          <a:xfrm>
            <a:off x="571500" y="1190625"/>
            <a:ext cx="5448300" cy="99060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Tumor necrosis factor</a:t>
            </a:r>
            <a:r>
              <a:rPr sz="1500" b="0" i="0">
                <a:solidFill>
                  <a:srgbClr val="000000"/>
                </a:solidFill>
                <a:latin typeface="Arial"/>
                <a:ea typeface="Arial"/>
              </a:rPr>
              <a:t>, or TNF, is a cytokine involved in immune signaling. Bhatt and colleagues tested whether peripheral cytokine neutralization could prevent the change in PAG-elicited defensive hissing following LPS challenge.</a:t>
            </a:r>
            <a:endParaRPr lang="en-US"/>
          </a:p>
        </p:txBody>
      </p:sp>
      <p:sp>
        <p:nvSpPr>
          <p:cNvPr id="298" name="Shape 298"/>
          <p:cNvSpPr/>
          <p:nvPr/>
        </p:nvSpPr>
        <p:spPr>
          <a:xfrm>
            <a:off x="571500" y="2333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An anti-TNF antibody given 5 min before LPS blocked both the increase in hissing latency and the temperature rise. In contrast, the tested anti-IL-1 intervention did not prevent either effect. Antibody-alone conditions provided baseline comparisons over the same observation schedule.</a:t>
            </a:r>
            <a:endParaRPr lang="en-US"/>
          </a:p>
        </p:txBody>
      </p:sp>
      <p:sp>
        <p:nvSpPr>
          <p:cNvPr id="299" name="Shape 299"/>
          <p:cNvSpPr/>
          <p:nvPr/>
        </p:nvSpPr>
        <p:spPr>
          <a:xfrm>
            <a:off x="571500" y="372427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result supports a peripheral TNF-dependent component of the LPS effect. It does not establish the entire route by which peripheral signaling reaches the brain or identify all participating cells. Cytokine actions differ with administration site and biological context; local PAG IL-1β facilitation is not equivalent to systemic immune challenge.</a:t>
            </a:r>
            <a:endParaRPr lang="en-US"/>
          </a:p>
        </p:txBody>
      </p:sp>
      <p:pic>
        <p:nvPicPr>
          <p:cNvPr id="167" name="Presenton Native Image 68" descr=""/>
          <p:cNvPicPr/>
          <p:nvPr/>
        </p:nvPicPr>
        <p:blipFill>
          <a:blip r:embed="rId3" cstate="none"/>
          <a:stretch>
            <a:fillRect/>
          </a:stretch>
        </p:blipFill>
        <p:spPr>
          <a:xfrm>
            <a:off x="8181975" y="1191675"/>
            <a:ext cx="1543050" cy="2474399"/>
          </a:xfrm>
          <a:prstGeom prst="rect">
            <a:avLst/>
          </a:prstGeom>
        </p:spPr>
      </p:pic>
      <p:sp>
        <p:nvSpPr>
          <p:cNvPr id="300" name="Shape 300"/>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3A–D. Peripheral TNF neutralization blocks LPS effects.</a:t>
            </a:r>
            <a:endParaRPr lang="en-US"/>
          </a:p>
        </p:txBody>
      </p:sp>
      <p:pic>
        <p:nvPicPr>
          <p:cNvPr id="168" name="Presenton Native Image 69" descr=""/>
          <p:cNvPicPr/>
          <p:nvPr/>
        </p:nvPicPr>
        <p:blipFill>
          <a:blip r:embed="rId2" cstate="none"/>
          <a:stretch>
            <a:fillRect/>
          </a:stretch>
        </p:blipFill>
        <p:spPr>
          <a:xfrm>
            <a:off x="8584019" y="4476750"/>
            <a:ext cx="729438" cy="1381125"/>
          </a:xfrm>
          <a:prstGeom prst="rect">
            <a:avLst/>
          </a:prstGeom>
        </p:spPr>
      </p:pic>
      <p:sp>
        <p:nvSpPr>
          <p:cNvPr id="301" name="Shape 301"/>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6A,D. PAG tissue surrounding the aqueduct and receptor labeling; 100 μm bar.</a:t>
            </a:r>
            <a:endParaRPr lang="en-US"/>
          </a:p>
        </p:txBody>
      </p:sp>
      <p:sp>
        <p:nvSpPr>
          <p:cNvPr id="302" name="Shape 302"/>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(2009); Bhatt et al. (2008)</a:t>
            </a:r>
            <a:endParaRPr lang="en-US"/>
          </a:p>
        </p:txBody>
      </p:sp>
      <p:sp>
        <p:nvSpPr>
          <p:cNvPr id="303" name="Shape 303"/>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4" name="Shape 304"/>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Prostaglandin blockade opposes immune suppression</a:t>
            </a:r>
            <a:endParaRPr lang="en-US"/>
          </a:p>
        </p:txBody>
      </p:sp>
      <p:sp>
        <p:nvSpPr>
          <p:cNvPr id="305" name="Shape 305"/>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Prostaglandin E2</a:t>
            </a:r>
            <a:r>
              <a:rPr sz="1500" b="0" i="0">
                <a:solidFill>
                  <a:srgbClr val="000000"/>
                </a:solidFill>
                <a:latin typeface="Arial"/>
                <a:ea typeface="Arial"/>
              </a:rPr>
              <a:t>, or PGE2, is a lipid signaling molecule associated with inflammatory responses. Bhatt and colleagues injected the antagonist SC19220 into medial hypothalamic defensive sites before administering peripheral LPS.</a:t>
            </a:r>
            <a:endParaRPr lang="en-US"/>
          </a:p>
        </p:txBody>
      </p:sp>
      <p:sp>
        <p:nvSpPr>
          <p:cNvPr id="306" name="Shape 306"/>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pretreatment opposed the LPS-induced increase in hissing latency for about 180 min, with weakening blockade later. Local anti-TNF treatment did not produce the same protection, despite the effectiveness of peripheral TNF neutralization in a separate experiment.</a:t>
            </a:r>
            <a:endParaRPr lang="en-US"/>
          </a:p>
        </p:txBody>
      </p:sp>
      <p:sp>
        <p:nvSpPr>
          <p:cNvPr id="307" name="Shape 307"/>
          <p:cNvSpPr/>
          <p:nvPr/>
        </p:nvSpPr>
        <p:spPr>
          <a:xfrm>
            <a:off x="571500" y="3971925"/>
            <a:ext cx="5448300" cy="19812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These interventions support different peripheral and central steps in immune-dependent defensive modulation. The article uses inconsistent prostaglandin-receptor subtype terminology, so the subtype assignment remains uncertain. The data support involvement of prostaglandin-sensitive signaling under the tested conditions, without resolving a complete molecular pathway from immune activation to neuronal inhibition.</a:t>
            </a:r>
            <a:endParaRPr lang="en-US"/>
          </a:p>
        </p:txBody>
      </p:sp>
      <p:pic>
        <p:nvPicPr>
          <p:cNvPr id="169" name="Presenton Native Image 70" descr=""/>
          <p:cNvPicPr/>
          <p:nvPr/>
        </p:nvPicPr>
        <p:blipFill>
          <a:blip r:embed="rId3" cstate="none"/>
          <a:stretch>
            <a:fillRect/>
          </a:stretch>
        </p:blipFill>
        <p:spPr>
          <a:xfrm>
            <a:off x="6535022" y="1190625"/>
            <a:ext cx="4827431" cy="2476500"/>
          </a:xfrm>
          <a:prstGeom prst="rect">
            <a:avLst/>
          </a:prstGeom>
        </p:spPr>
      </p:pic>
      <p:sp>
        <p:nvSpPr>
          <p:cNvPr id="308" name="Shape 308"/>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4B. Hypothalamic prostaglandin blockade opposes LPS suppression.</a:t>
            </a:r>
            <a:endParaRPr lang="en-US"/>
          </a:p>
        </p:txBody>
      </p:sp>
      <p:pic>
        <p:nvPicPr>
          <p:cNvPr id="170" name="Presenton Native Image 71" descr=""/>
          <p:cNvPicPr/>
          <p:nvPr/>
        </p:nvPicPr>
        <p:blipFill>
          <a:blip r:embed="rId2" cstate="none"/>
          <a:stretch>
            <a:fillRect/>
          </a:stretch>
        </p:blipFill>
        <p:spPr>
          <a:xfrm>
            <a:off x="7593552" y="4476750"/>
            <a:ext cx="2719896" cy="1381125"/>
          </a:xfrm>
          <a:prstGeom prst="rect">
            <a:avLst/>
          </a:prstGeom>
        </p:spPr>
      </p:pic>
      <p:sp>
        <p:nvSpPr>
          <p:cNvPr id="309" name="Shape 309"/>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1A,B. PAG and hypothalamic sites with original anatomical sections.</a:t>
            </a:r>
            <a:endParaRPr lang="en-US"/>
          </a:p>
        </p:txBody>
      </p:sp>
      <p:sp>
        <p:nvSpPr>
          <p:cNvPr id="310" name="Shape 310"/>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(2009)</a:t>
            </a:r>
            <a:endParaRPr lang="en-US"/>
          </a:p>
        </p:txBody>
      </p:sp>
      <p:sp>
        <p:nvSpPr>
          <p:cNvPr id="311" name="Shape 311"/>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2" name="Shape 312"/>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Hypothalamic 5-HT1A blockade opposes the LPS effect</a:t>
            </a:r>
            <a:endParaRPr lang="en-US"/>
          </a:p>
        </p:txBody>
      </p:sp>
      <p:sp>
        <p:nvSpPr>
          <p:cNvPr id="313" name="Shape 313"/>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5-HT1A</a:t>
            </a:r>
            <a:r>
              <a:rPr sz="1500" b="0" i="0">
                <a:solidFill>
                  <a:srgbClr val="000000"/>
                </a:solidFill>
                <a:latin typeface="Arial"/>
                <a:ea typeface="Arial"/>
              </a:rPr>
              <a:t xml:space="preserve"> is a serotonin receptor class distinct from the 5-HT2 receptors implicated in local PAG cytokine facilitation. Bhatt and colleagues injected the 5-HT1A antagonist p-MPPI into medial hypothalamic defensive sites before peripheral LPS challenge.</a:t>
            </a:r>
            <a:endParaRPr lang="en-US"/>
          </a:p>
        </p:txBody>
      </p:sp>
      <p:sp>
        <p:nvSpPr>
          <p:cNvPr id="314" name="Shape 314"/>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12 nmol injection in 0.5 μl prevented the prolonged increase in hissing latency produced by LPS. Antagonist-alone treatment did not appreciably alter the baseline response. This contrasts with 5-HT2-dependent facilitation after direct IL-1β administration in the PAG.</a:t>
            </a:r>
            <a:endParaRPr lang="en-US"/>
          </a:p>
        </p:txBody>
      </p:sp>
      <p:sp>
        <p:nvSpPr>
          <p:cNvPr id="315" name="Shape 315"/>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findings support context-dependent serotonin modulation at different sites and receptor classes. They do not establish that serotonin uniformly promotes or uniformly suppresses fear. The LPS experiment measured an evoked defensive response without recording receptor-bearing neurons or the serotonin concentration reaching them.</a:t>
            </a:r>
            <a:endParaRPr lang="en-US"/>
          </a:p>
        </p:txBody>
      </p:sp>
      <p:pic>
        <p:nvPicPr>
          <p:cNvPr id="171" name="Presenton Native Image 72" descr=""/>
          <p:cNvPicPr/>
          <p:nvPr/>
        </p:nvPicPr>
        <p:blipFill>
          <a:blip r:embed="rId3" cstate="none"/>
          <a:stretch>
            <a:fillRect/>
          </a:stretch>
        </p:blipFill>
        <p:spPr>
          <a:xfrm>
            <a:off x="6753225" y="1191520"/>
            <a:ext cx="4391025" cy="2474711"/>
          </a:xfrm>
          <a:prstGeom prst="rect">
            <a:avLst/>
          </a:prstGeom>
        </p:spPr>
      </p:pic>
      <p:sp>
        <p:nvSpPr>
          <p:cNvPr id="316" name="Shape 316"/>
          <p:cNvSpPr/>
          <p:nvPr/>
        </p:nvSpPr>
        <p:spPr>
          <a:xfrm>
            <a:off x="6477000" y="376237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4C. Hypothalamic serotonin blockade opposes LPS suppression.</a:t>
            </a:r>
            <a:endParaRPr lang="en-US"/>
          </a:p>
        </p:txBody>
      </p:sp>
      <p:pic>
        <p:nvPicPr>
          <p:cNvPr id="172" name="Presenton Native Image 73" descr=""/>
          <p:cNvPicPr/>
          <p:nvPr/>
        </p:nvPicPr>
        <p:blipFill>
          <a:blip r:embed="rId2" cstate="none"/>
          <a:stretch>
            <a:fillRect/>
          </a:stretch>
        </p:blipFill>
        <p:spPr>
          <a:xfrm>
            <a:off x="7593552" y="4476750"/>
            <a:ext cx="2719896" cy="1381125"/>
          </a:xfrm>
          <a:prstGeom prst="rect">
            <a:avLst/>
          </a:prstGeom>
        </p:spPr>
      </p:pic>
      <p:sp>
        <p:nvSpPr>
          <p:cNvPr id="317" name="Shape 317"/>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1A,B. PAG and hypothalamic sites with original anatomical sections.</a:t>
            </a:r>
            <a:endParaRPr lang="en-US"/>
          </a:p>
        </p:txBody>
      </p:sp>
      <p:sp>
        <p:nvSpPr>
          <p:cNvPr id="318" name="Shape 318"/>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(2009)</a:t>
            </a:r>
            <a:endParaRPr lang="en-US"/>
          </a:p>
        </p:txBody>
      </p:sp>
      <p:sp>
        <p:nvSpPr>
          <p:cNvPr id="319" name="Shape 319"/>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0" name="Shape 320"/>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Preserved head turning limits motor explanations</a:t>
            </a:r>
            <a:endParaRPr lang="en-US"/>
          </a:p>
        </p:txBody>
      </p:sp>
      <p:sp>
        <p:nvSpPr>
          <p:cNvPr id="321" name="Shape 321"/>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Bhatt and colleagues compared LPS effects on defensive hissing with effects on head turning elicited by midbrain stimulation. </a:t>
            </a:r>
            <a:r>
              <a:rPr sz="1500" b="1" i="0">
                <a:solidFill>
                  <a:srgbClr val="444E55"/>
                </a:solidFill>
                <a:latin typeface="Arial"/>
                <a:ea typeface="Arial"/>
              </a:rPr>
              <a:t>Motor control</a:t>
            </a:r>
            <a:r>
              <a:rPr sz="1500" b="0" i="0">
                <a:solidFill>
                  <a:srgbClr val="000000"/>
                </a:solidFill>
                <a:latin typeface="Arial"/>
                <a:ea typeface="Arial"/>
              </a:rPr>
              <a:t xml:space="preserve"> here means a comparison response used to test whether the animal simply lost the capacity to move or respond to stimulation.</a:t>
            </a:r>
            <a:endParaRPr lang="en-US"/>
          </a:p>
        </p:txBody>
      </p:sp>
      <p:sp>
        <p:nvSpPr>
          <p:cNvPr id="322" name="Shape 322"/>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Across the 300 min observation period, LPS prolonged defensive-response latency but did not appreciably change head-turning latency. The tested motor response therefore remained available while defensive output was suppressed under the same immune challenge.</a:t>
            </a:r>
            <a:endParaRPr lang="en-US"/>
          </a:p>
        </p:txBody>
      </p:sp>
      <p:sp>
        <p:nvSpPr>
          <p:cNvPr id="323" name="Shape 323"/>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This comparison weakens a nonspecific paralysis or broad motor-failure explanation. It does not exclude changes in motivation, other movements, sensory processing, or sickness state. A preserved comparison behavior narrows interpretation of the affected response without proving that the manipulation acts exclusively on a single defensive circuit.</a:t>
            </a:r>
            <a:endParaRPr lang="en-US"/>
          </a:p>
        </p:txBody>
      </p:sp>
      <p:pic>
        <p:nvPicPr>
          <p:cNvPr id="173" name="Presenton Native Image 74" descr=""/>
          <p:cNvPicPr/>
          <p:nvPr/>
        </p:nvPicPr>
        <p:blipFill>
          <a:blip r:embed="rId3" cstate="none"/>
          <a:stretch>
            <a:fillRect/>
          </a:stretch>
        </p:blipFill>
        <p:spPr>
          <a:xfrm>
            <a:off x="7162800" y="1191660"/>
            <a:ext cx="3571875" cy="2474429"/>
          </a:xfrm>
          <a:prstGeom prst="rect">
            <a:avLst/>
          </a:prstGeom>
        </p:spPr>
      </p:pic>
      <p:sp>
        <p:nvSpPr>
          <p:cNvPr id="324" name="Shape 324"/>
          <p:cNvSpPr/>
          <p:nvPr/>
        </p:nvSpPr>
        <p:spPr>
          <a:xfrm>
            <a:off x="6477000" y="3762375"/>
            <a:ext cx="4972050" cy="161925"/>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(2009), Fig. 5. LPS suppresses hissing but spares elicited head turning.</a:t>
            </a:r>
            <a:endParaRPr lang="en-US"/>
          </a:p>
        </p:txBody>
      </p:sp>
      <p:pic>
        <p:nvPicPr>
          <p:cNvPr id="174" name="Presenton Native Image 75" descr=""/>
          <p:cNvPicPr/>
          <p:nvPr/>
        </p:nvPicPr>
        <p:blipFill>
          <a:blip r:embed="rId2" cstate="none"/>
          <a:stretch>
            <a:fillRect/>
          </a:stretch>
        </p:blipFill>
        <p:spPr>
          <a:xfrm>
            <a:off x="8584019" y="4476750"/>
            <a:ext cx="729438" cy="1381125"/>
          </a:xfrm>
          <a:prstGeom prst="rect">
            <a:avLst/>
          </a:prstGeom>
        </p:spPr>
      </p:pic>
      <p:sp>
        <p:nvSpPr>
          <p:cNvPr id="325" name="Shape 325"/>
          <p:cNvSpPr/>
          <p:nvPr/>
        </p:nvSpPr>
        <p:spPr>
          <a:xfrm>
            <a:off x="6477000" y="59531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Bhatt et al. (2008), Fig. 6A,D. PAG tissue surrounding the aqueduct and receptor labeling; 100 μm bar.</a:t>
            </a:r>
            <a:endParaRPr lang="en-US"/>
          </a:p>
        </p:txBody>
      </p:sp>
      <p:sp>
        <p:nvSpPr>
          <p:cNvPr id="326" name="Shape 326"/>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Bhatt et al. (2009); Bhatt et al. (2008)</a:t>
            </a:r>
            <a:endParaRPr lang="en-US"/>
          </a:p>
        </p:txBody>
      </p:sp>
      <p:sp>
        <p:nvSpPr>
          <p:cNvPr id="327" name="Shape 327"/>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8" name="Shape 328"/>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Access to concealment accelerates behavioral recovery</a:t>
            </a:r>
            <a:endParaRPr lang="en-US"/>
          </a:p>
        </p:txBody>
      </p:sp>
      <p:sp>
        <p:nvSpPr>
          <p:cNvPr id="329" name="Shape 329"/>
          <p:cNvSpPr/>
          <p:nvPr/>
        </p:nvSpPr>
        <p:spPr>
          <a:xfrm>
            <a:off x="571500" y="1190625"/>
            <a:ext cx="5448300" cy="990600"/>
          </a:xfrm>
          <a:prstGeom prst="rect">
            <a:avLst/>
          </a:prstGeom>
          <a:noFill/>
        </p:spPr>
        <p:txBody>
          <a:bodyPr anchor="t" wrap="square" tIns="0" bIns="0" lIns="0" rIns="0">
            <a:normAutofit/>
          </a:bodyPr>
          <a:lstStyle/>
          <a:p>
            <a:pPr algn="l">
              <a:lnSpc>
                <a:spcPts val="1950"/>
              </a:lnSpc>
              <a:buNone/>
            </a:pPr>
            <a:r>
              <a:rPr sz="1500" b="1" i="0">
                <a:solidFill>
                  <a:srgbClr val="444E55"/>
                </a:solidFill>
                <a:latin typeface="Arial"/>
                <a:ea typeface="Arial"/>
              </a:rPr>
              <a:t>Concealment</a:t>
            </a:r>
            <a:r>
              <a:rPr sz="1500" b="0" i="0">
                <a:solidFill>
                  <a:srgbClr val="000000"/>
                </a:solidFill>
                <a:latin typeface="Arial"/>
                <a:ea typeface="Arial"/>
              </a:rPr>
              <a:t xml:space="preserve"> allows an animal to remain visually sheltered from its surroundings. Van der Leij and colleagues randomly assigned shelter cats to quarantine cages with or without cardboard hiding boxes measuring 44 × 31 × 26 cm.</a:t>
            </a:r>
            <a:endParaRPr lang="en-US"/>
          </a:p>
        </p:txBody>
      </p:sp>
      <p:sp>
        <p:nvSpPr>
          <p:cNvPr id="330" name="Shape 330"/>
          <p:cNvSpPr/>
          <p:nvPr/>
        </p:nvSpPr>
        <p:spPr>
          <a:xfrm>
            <a:off x="571500" y="23336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Cats with boxes reached a relatively stable behavioral stress score by Day 2, compared with Day 9 in the control group. Both groups experienced the shelter quarantine environment and comparable daily care, allowing the available hiding space to be tested as an environmental intervention.</a:t>
            </a:r>
            <a:endParaRPr lang="en-US"/>
          </a:p>
        </p:txBody>
      </p:sp>
      <p:sp>
        <p:nvSpPr>
          <p:cNvPr id="331" name="Shape 331"/>
          <p:cNvSpPr/>
          <p:nvPr/>
        </p:nvSpPr>
        <p:spPr>
          <a:xfrm>
            <a:off x="571500" y="3971925"/>
            <a:ext cx="5448300" cy="148590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result supports faster recovery of observable stress-related behavior when concealment is available. It does not identify the neural mechanism or establish that the cats experienced no fear. Environmental changes can alter defensive expression without requiring pharmacological manipulation of a receptor.</a:t>
            </a:r>
            <a:endParaRPr lang="en-US"/>
          </a:p>
        </p:txBody>
      </p:sp>
      <p:pic>
        <p:nvPicPr>
          <p:cNvPr id="175" name="Presenton Native Image 76" descr=""/>
          <p:cNvPicPr/>
          <p:nvPr/>
        </p:nvPicPr>
        <p:blipFill>
          <a:blip r:embed="rId2" cstate="none"/>
          <a:stretch>
            <a:fillRect/>
          </a:stretch>
        </p:blipFill>
        <p:spPr>
          <a:xfrm>
            <a:off x="6480122" y="1190625"/>
            <a:ext cx="4946757" cy="3371850"/>
          </a:xfrm>
          <a:prstGeom prst="rect">
            <a:avLst/>
          </a:prstGeom>
        </p:spPr>
      </p:pic>
      <p:sp>
        <p:nvSpPr>
          <p:cNvPr id="332" name="Shape 332"/>
          <p:cNvSpPr/>
          <p:nvPr/>
        </p:nvSpPr>
        <p:spPr>
          <a:xfrm>
            <a:off x="6477000" y="46577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van der Leij et al. (2019), Fig. 1. Individual Cat-Stress-Score trajectories with and without hiding boxes.</a:t>
            </a:r>
            <a:endParaRPr lang="en-US"/>
          </a:p>
        </p:txBody>
      </p:sp>
      <p:sp>
        <p:nvSpPr>
          <p:cNvPr id="333" name="Shape 333"/>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van der Leij et al. (2019)</a:t>
            </a:r>
            <a:endParaRPr lang="en-US"/>
          </a:p>
        </p:txBody>
      </p:sp>
      <p:sp>
        <p:nvSpPr>
          <p:cNvPr id="334" name="Shape 334"/>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35" name="Shape 335"/>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Behavioral stress scores change over several days</a:t>
            </a:r>
            <a:endParaRPr lang="en-US"/>
          </a:p>
        </p:txBody>
      </p:sp>
      <p:sp>
        <p:nvSpPr>
          <p:cNvPr id="336" name="Shape 336"/>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 xml:space="preserve">The shelter study used the </a:t>
            </a:r>
            <a:r>
              <a:rPr sz="1500" b="1" i="0">
                <a:solidFill>
                  <a:srgbClr val="444E55"/>
                </a:solidFill>
                <a:latin typeface="Arial"/>
                <a:ea typeface="Arial"/>
              </a:rPr>
              <a:t>Cat-Stress-Score</a:t>
            </a:r>
            <a:r>
              <a:rPr sz="1500" b="0" i="0">
                <a:solidFill>
                  <a:srgbClr val="000000"/>
                </a:solidFill>
                <a:latin typeface="Arial"/>
                <a:ea typeface="Arial"/>
              </a:rPr>
              <a:t>, a standardized assessment of posture and behavior. Cats were video-recorded for 20 min on observation days, with repeated samples contributing to each daily score during the 12-day quarantine period.</a:t>
            </a:r>
            <a:endParaRPr lang="en-US"/>
          </a:p>
        </p:txBody>
      </p:sp>
      <p:sp>
        <p:nvSpPr>
          <p:cNvPr id="337" name="Shape 337"/>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hiding-box group had lower stress scores after the first observation day and reached stability sooner. Scoring retained each animal’s trajectory, rather than assuming identical recovery for every cat. Individual differences persisted within both housing conditions.</a:t>
            </a:r>
            <a:endParaRPr lang="en-US"/>
          </a:p>
        </p:txBody>
      </p:sp>
      <p:sp>
        <p:nvSpPr>
          <p:cNvPr id="338" name="Shape 338"/>
          <p:cNvSpPr/>
          <p:nvPr/>
        </p:nvSpPr>
        <p:spPr>
          <a:xfrm>
            <a:off x="571500" y="3971925"/>
            <a:ext cx="5448300" cy="17335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A behavioral score operationalizes visible responses; it is not a direct assay of a stress hormone or neuronal activity. Concealment also changes observation conditions, and some features can become harder to see. The reported benefit therefore concerns the measured behavioral adaptation under the study’s housing and scoring procedures.</a:t>
            </a:r>
            <a:endParaRPr lang="en-US"/>
          </a:p>
        </p:txBody>
      </p:sp>
      <p:pic>
        <p:nvPicPr>
          <p:cNvPr id="176" name="Presenton Native Image 77" descr=""/>
          <p:cNvPicPr/>
          <p:nvPr/>
        </p:nvPicPr>
        <p:blipFill>
          <a:blip r:embed="rId2" cstate="none"/>
          <a:stretch>
            <a:fillRect/>
          </a:stretch>
        </p:blipFill>
        <p:spPr>
          <a:xfrm>
            <a:off x="6480122" y="1190625"/>
            <a:ext cx="4946757" cy="3371850"/>
          </a:xfrm>
          <a:prstGeom prst="rect">
            <a:avLst/>
          </a:prstGeom>
        </p:spPr>
      </p:pic>
      <p:sp>
        <p:nvSpPr>
          <p:cNvPr id="339" name="Shape 339"/>
          <p:cNvSpPr/>
          <p:nvPr/>
        </p:nvSpPr>
        <p:spPr>
          <a:xfrm>
            <a:off x="6477000" y="4657725"/>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van der Leij et al. (2019), Fig. 1. Individual Cat-Stress-Score trajectories with and without hiding boxes.</a:t>
            </a:r>
            <a:endParaRPr lang="en-US"/>
          </a:p>
        </p:txBody>
      </p:sp>
      <p:sp>
        <p:nvSpPr>
          <p:cNvPr id="340" name="Shape 340"/>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van der Leij et al. (2019)</a:t>
            </a:r>
            <a:endParaRPr lang="en-US"/>
          </a:p>
        </p:txBody>
      </p:sp>
      <p:sp>
        <p:nvSpPr>
          <p:cNvPr id="341" name="Shape 341"/>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42" name="Shape 342"/>
          <p:cNvSpPr/>
          <p:nvPr/>
        </p:nvSpPr>
        <p:spPr>
          <a:xfrm>
            <a:off x="571500" y="342900"/>
            <a:ext cx="11068050" cy="342900"/>
          </a:xfrm>
          <a:prstGeom prst="rect">
            <a:avLst/>
          </a:prstGeom>
          <a:noFill/>
        </p:spPr>
        <p:txBody>
          <a:bodyPr anchor="t" wrap="square" tIns="0" bIns="0" lIns="0" rIns="0">
            <a:normAutofit/>
          </a:bodyPr>
          <a:lstStyle/>
          <a:p>
            <a:pPr algn="l">
              <a:lnSpc>
                <a:spcPts val="2700"/>
              </a:lnSpc>
              <a:buNone/>
            </a:pPr>
            <a:r>
              <a:rPr sz="2250" b="1" i="0">
                <a:solidFill>
                  <a:srgbClr val="444E55"/>
                </a:solidFill>
                <a:latin typeface="Arial"/>
                <a:ea typeface="Arial"/>
              </a:rPr>
              <a:t>Calmer behavior does not guarantee physical recovery</a:t>
            </a:r>
            <a:endParaRPr lang="en-US"/>
          </a:p>
        </p:txBody>
      </p:sp>
      <p:sp>
        <p:nvSpPr>
          <p:cNvPr id="343" name="Shape 343"/>
          <p:cNvSpPr/>
          <p:nvPr/>
        </p:nvSpPr>
        <p:spPr>
          <a:xfrm>
            <a:off x="571500" y="11906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Van der Leij and colleagues measured body weight at intake and during quarantine as an outcome separate from the behavioral stress score. A hiding box accelerated behavioral recovery, but it did not reliably prevent weight loss over the 12-day study.</a:t>
            </a:r>
            <a:endParaRPr lang="en-US"/>
          </a:p>
        </p:txBody>
      </p:sp>
      <p:sp>
        <p:nvSpPr>
          <p:cNvPr id="344" name="Shape 344"/>
          <p:cNvSpPr/>
          <p:nvPr/>
        </p:nvSpPr>
        <p:spPr>
          <a:xfrm>
            <a:off x="571500" y="258127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Control cats lost about 7.7% of initial body weight, while cats with boxes lost about 6.3%. The difference between housing groups was not reliably established. Food was provided under a standardized regime, but individual daily food intake was not monitored.</a:t>
            </a:r>
            <a:endParaRPr lang="en-US"/>
          </a:p>
        </p:txBody>
      </p:sp>
      <p:sp>
        <p:nvSpPr>
          <p:cNvPr id="345" name="Shape 345"/>
          <p:cNvSpPr/>
          <p:nvPr/>
        </p:nvSpPr>
        <p:spPr>
          <a:xfrm>
            <a:off x="571500" y="3971925"/>
            <a:ext cx="5448300" cy="1238250"/>
          </a:xfrm>
          <a:prstGeom prst="rect">
            <a:avLst/>
          </a:prstGeom>
          <a:noFill/>
        </p:spPr>
        <p:txBody>
          <a:bodyPr anchor="t" wrap="square" tIns="0" bIns="0" lIns="0" rIns="0">
            <a:normAutofit/>
          </a:bodyPr>
          <a:lstStyle/>
          <a:p>
            <a:pPr algn="l">
              <a:lnSpc>
                <a:spcPts val="1950"/>
              </a:lnSpc>
              <a:buNone/>
            </a:pPr>
            <a:r>
              <a:rPr sz="1500" b="0" i="0">
                <a:solidFill>
                  <a:srgbClr val="000000"/>
                </a:solidFill>
                <a:latin typeface="Arial"/>
                <a:ea typeface="Arial"/>
              </a:rPr>
              <a:t>The divergence limits an inference that calmer behavior means every aspect of welfare has recovered. Body weight can reflect feeding and health as well as stress. Neither weight change nor posture alone identifies a specific neural circuit or establishes the animal’s complete internal state.</a:t>
            </a:r>
            <a:endParaRPr lang="en-US"/>
          </a:p>
        </p:txBody>
      </p:sp>
      <p:pic>
        <p:nvPicPr>
          <p:cNvPr id="177" name="Presenton Native Image 78" descr=""/>
          <p:cNvPicPr/>
          <p:nvPr/>
        </p:nvPicPr>
        <p:blipFill>
          <a:blip r:embed="rId2" cstate="none"/>
          <a:stretch>
            <a:fillRect/>
          </a:stretch>
        </p:blipFill>
        <p:spPr>
          <a:xfrm>
            <a:off x="6478814" y="1190625"/>
            <a:ext cx="4949373" cy="3228975"/>
          </a:xfrm>
          <a:prstGeom prst="rect">
            <a:avLst/>
          </a:prstGeom>
        </p:spPr>
      </p:pic>
      <p:sp>
        <p:nvSpPr>
          <p:cNvPr id="346" name="Shape 346"/>
          <p:cNvSpPr/>
          <p:nvPr/>
        </p:nvSpPr>
        <p:spPr>
          <a:xfrm>
            <a:off x="6477000" y="4514850"/>
            <a:ext cx="4972050" cy="323850"/>
          </a:xfrm>
          <a:prstGeom prst="rect">
            <a:avLst/>
          </a:prstGeom>
          <a:noFill/>
        </p:spPr>
        <p:txBody>
          <a:bodyPr anchor="t" wrap="square" tIns="0" bIns="0" lIns="0" rIns="0">
            <a:normAutofit/>
          </a:bodyPr>
          <a:lstStyle/>
          <a:p>
            <a:pPr algn="l">
              <a:lnSpc>
                <a:spcPts val="1275"/>
              </a:lnSpc>
              <a:buNone/>
            </a:pPr>
            <a:r>
              <a:rPr sz="975" b="0" i="0">
                <a:solidFill>
                  <a:srgbClr val="000000"/>
                </a:solidFill>
                <a:latin typeface="Arial"/>
                <a:ea typeface="Arial"/>
              </a:rPr>
              <a:t>van der Leij et al. (2019), Fig. 2. Individual body-weight changes during shelter quarantine.</a:t>
            </a:r>
            <a:endParaRPr lang="en-US"/>
          </a:p>
        </p:txBody>
      </p:sp>
      <p:sp>
        <p:nvSpPr>
          <p:cNvPr id="347" name="Shape 347"/>
          <p:cNvSpPr/>
          <p:nvPr/>
        </p:nvSpPr>
        <p:spPr>
          <a:xfrm>
            <a:off x="571500" y="6448425"/>
            <a:ext cx="10496550"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van der Leij et al. (2019)</a:t>
            </a:r>
            <a:endParaRPr lang="en-US"/>
          </a:p>
        </p:txBody>
      </p:sp>
      <p:sp>
        <p:nvSpPr>
          <p:cNvPr id="348" name="Shape 348"/>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49" name="Shape 349"/>
          <p:cNvSpPr/>
          <p:nvPr/>
        </p:nvSpPr>
        <p:spPr>
          <a:xfrm>
            <a:off x="571500" y="342900"/>
            <a:ext cx="2571304" cy="514350"/>
          </a:xfrm>
          <a:prstGeom prst="rect">
            <a:avLst/>
          </a:prstGeom>
          <a:noFill/>
        </p:spPr>
        <p:txBody>
          <a:bodyPr anchor="t" wrap="square" tIns="0" bIns="0" lIns="0" rIns="0">
            <a:normAutofit/>
          </a:bodyPr>
          <a:lstStyle/>
          <a:p>
            <a:pPr algn="l">
              <a:lnSpc>
                <a:spcPts val="4050"/>
              </a:lnSpc>
              <a:buNone/>
            </a:pPr>
            <a:r>
              <a:rPr sz="2700" b="1" i="0">
                <a:solidFill>
                  <a:srgbClr val="444E55"/>
                </a:solidFill>
                <a:latin typeface="Arial"/>
                <a:ea typeface="Arial"/>
              </a:rPr>
              <a:t>Key takeaways</a:t>
            </a:r>
            <a:endParaRPr lang="en-US"/>
          </a:p>
        </p:txBody>
      </p:sp>
      <p:sp>
        <p:nvSpPr>
          <p:cNvPr id="350" name="Shape 350"/>
          <p:cNvSpPr/>
          <p:nvPr/>
        </p:nvSpPr>
        <p:spPr>
          <a:xfrm>
            <a:off x="571500" y="1190625"/>
            <a:ext cx="5353050" cy="1428750"/>
          </a:xfrm>
          <a:prstGeom prst="rect">
            <a:avLst/>
          </a:prstGeom>
          <a:solidFill>
            <a:srgbClr val="F4F5F6"/>
          </a:solidFill>
        </p:spPr>
        <p:txBody>
          <a:bodyPr anchor="t" wrap="square" tIns="190500" bIns="190500" lIns="190500" rIns="190500">
            <a:normAutofit/>
          </a:bodyPr>
          <a:lstStyle/>
          <a:p>
            <a:pPr algn="l">
              <a:lnSpc>
                <a:spcPts val="1950"/>
              </a:lnSpc>
              <a:buNone/>
            </a:pPr>
            <a:r>
              <a:rPr sz="1500" b="1" i="0">
                <a:solidFill>
                  <a:srgbClr val="444E55"/>
                </a:solidFill>
                <a:latin typeface="Arial"/>
                <a:ea typeface="Arial"/>
              </a:rPr>
              <a:t>Recognition differs from defensive expression.</a:t>
            </a:r>
            <a:r>
              <a:rPr sz="1500" b="0" i="0">
                <a:solidFill>
                  <a:srgbClr val="000000"/>
                </a:solidFill>
                <a:latin typeface="Arial"/>
                <a:ea typeface="Arial"/>
              </a:rPr>
              <a:t xml:space="preserve"> Gaze and audiovisual matching establish cue discrimination; stimulation and intervention test recruitment of behavioral output.</a:t>
            </a:r>
            <a:endParaRPr lang="en-US"/>
          </a:p>
        </p:txBody>
      </p:sp>
      <p:sp>
        <p:nvSpPr>
          <p:cNvPr id="351" name="Shape 351"/>
          <p:cNvSpPr/>
          <p:nvPr/>
        </p:nvSpPr>
        <p:spPr>
          <a:xfrm>
            <a:off x="6286500" y="1190625"/>
            <a:ext cx="5353050" cy="1428750"/>
          </a:xfrm>
          <a:prstGeom prst="rect">
            <a:avLst/>
          </a:prstGeom>
          <a:solidFill>
            <a:srgbClr val="F4F5F6"/>
          </a:solidFill>
        </p:spPr>
        <p:txBody>
          <a:bodyPr anchor="t" wrap="square" tIns="190500" bIns="190500" lIns="190500" rIns="190500">
            <a:normAutofit/>
          </a:bodyPr>
          <a:lstStyle/>
          <a:p>
            <a:pPr algn="l">
              <a:lnSpc>
                <a:spcPts val="1950"/>
              </a:lnSpc>
              <a:buNone/>
            </a:pPr>
            <a:r>
              <a:rPr sz="1500" b="1" i="0">
                <a:solidFill>
                  <a:srgbClr val="444E55"/>
                </a:solidFill>
                <a:latin typeface="Arial"/>
                <a:ea typeface="Arial"/>
              </a:rPr>
              <a:t>Social threat depends on context.</a:t>
            </a:r>
            <a:r>
              <a:rPr sz="1500" b="0" i="0">
                <a:solidFill>
                  <a:srgbClr val="000000"/>
                </a:solidFill>
                <a:latin typeface="Arial"/>
                <a:ea typeface="Arial"/>
              </a:rPr>
              <a:t xml:space="preserve"> Dogs sample threatening dog and human faces differently, and cats match hissing and human emotional signals across vision and hearing.</a:t>
            </a:r>
            <a:endParaRPr lang="en-US"/>
          </a:p>
        </p:txBody>
      </p:sp>
      <p:sp>
        <p:nvSpPr>
          <p:cNvPr id="352" name="Shape 352"/>
          <p:cNvSpPr/>
          <p:nvPr/>
        </p:nvSpPr>
        <p:spPr>
          <a:xfrm>
            <a:off x="571500" y="2857500"/>
            <a:ext cx="5353050" cy="1428750"/>
          </a:xfrm>
          <a:prstGeom prst="rect">
            <a:avLst/>
          </a:prstGeom>
          <a:solidFill>
            <a:srgbClr val="F4F5F6"/>
          </a:solidFill>
        </p:spPr>
        <p:txBody>
          <a:bodyPr anchor="t" wrap="square" tIns="190500" bIns="190500" lIns="190500" rIns="190500">
            <a:normAutofit/>
          </a:bodyPr>
          <a:lstStyle/>
          <a:p>
            <a:pPr algn="l">
              <a:lnSpc>
                <a:spcPts val="1950"/>
              </a:lnSpc>
              <a:buNone/>
            </a:pPr>
            <a:r>
              <a:rPr sz="1500" b="1" i="0">
                <a:solidFill>
                  <a:srgbClr val="444E55"/>
                </a:solidFill>
                <a:latin typeface="Arial"/>
                <a:ea typeface="Arial"/>
              </a:rPr>
              <a:t>Excitatory input facilitates feline defense.</a:t>
            </a:r>
            <a:r>
              <a:rPr sz="1500" b="0" i="0">
                <a:solidFill>
                  <a:srgbClr val="000000"/>
                </a:solidFill>
                <a:latin typeface="Arial"/>
                <a:ea typeface="Arial"/>
              </a:rPr>
              <a:t xml:space="preserve"> Medial hypothalamic facilitation of PAG-elicited hissing depends on local NMDA receptor signaling in the tested preparation.</a:t>
            </a:r>
            <a:endParaRPr lang="en-US"/>
          </a:p>
        </p:txBody>
      </p:sp>
      <p:sp>
        <p:nvSpPr>
          <p:cNvPr id="353" name="Shape 353"/>
          <p:cNvSpPr/>
          <p:nvPr/>
        </p:nvSpPr>
        <p:spPr>
          <a:xfrm>
            <a:off x="6286500" y="2857500"/>
            <a:ext cx="5353050" cy="1428750"/>
          </a:xfrm>
          <a:prstGeom prst="rect">
            <a:avLst/>
          </a:prstGeom>
          <a:solidFill>
            <a:srgbClr val="F4F5F6"/>
          </a:solidFill>
        </p:spPr>
        <p:txBody>
          <a:bodyPr anchor="t" wrap="square" tIns="190500" bIns="190500" lIns="190500" rIns="190500">
            <a:normAutofit/>
          </a:bodyPr>
          <a:lstStyle/>
          <a:p>
            <a:pPr algn="l">
              <a:lnSpc>
                <a:spcPts val="1950"/>
              </a:lnSpc>
              <a:buNone/>
            </a:pPr>
            <a:r>
              <a:rPr sz="1500" b="1" i="0">
                <a:solidFill>
                  <a:srgbClr val="444E55"/>
                </a:solidFill>
                <a:latin typeface="Arial"/>
                <a:ea typeface="Arial"/>
              </a:rPr>
              <a:t>Inhibition is site and receptor dependent.</a:t>
            </a:r>
            <a:r>
              <a:rPr sz="1500" b="0" i="0">
                <a:solidFill>
                  <a:srgbClr val="000000"/>
                </a:solidFill>
                <a:latin typeface="Arial"/>
                <a:ea typeface="Arial"/>
              </a:rPr>
              <a:t xml:space="preserve"> Lateral hypothalamic suppression involves medial hypothalamic GABA-A receptors; activating these receptors raises the defensive-response threshold.</a:t>
            </a:r>
            <a:endParaRPr lang="en-US"/>
          </a:p>
        </p:txBody>
      </p:sp>
      <p:sp>
        <p:nvSpPr>
          <p:cNvPr id="354" name="Shape 354"/>
          <p:cNvSpPr/>
          <p:nvPr/>
        </p:nvSpPr>
        <p:spPr>
          <a:xfrm>
            <a:off x="571500" y="4524375"/>
            <a:ext cx="5353050" cy="1428750"/>
          </a:xfrm>
          <a:prstGeom prst="rect">
            <a:avLst/>
          </a:prstGeom>
          <a:solidFill>
            <a:srgbClr val="F4F5F6"/>
          </a:solidFill>
        </p:spPr>
        <p:txBody>
          <a:bodyPr anchor="t" wrap="square" tIns="190500" bIns="190500" lIns="190500" rIns="190500">
            <a:normAutofit/>
          </a:bodyPr>
          <a:lstStyle/>
          <a:p>
            <a:pPr algn="l">
              <a:lnSpc>
                <a:spcPts val="1950"/>
              </a:lnSpc>
              <a:buNone/>
            </a:pPr>
            <a:r>
              <a:rPr sz="1500" b="1" i="0">
                <a:solidFill>
                  <a:srgbClr val="444E55"/>
                </a:solidFill>
                <a:latin typeface="Arial"/>
                <a:ea typeface="Arial"/>
              </a:rPr>
              <a:t>Immune state changes circuit responsiveness.</a:t>
            </a:r>
            <a:r>
              <a:rPr sz="1500" b="0" i="0">
                <a:solidFill>
                  <a:srgbClr val="000000"/>
                </a:solidFill>
                <a:latin typeface="Arial"/>
                <a:ea typeface="Arial"/>
              </a:rPr>
              <a:t xml:space="preserve"> Local PAG IL-1β can facilitate defense through serotonin-sensitive signaling, whereas peripheral LPS can suppress the evoked response.</a:t>
            </a:r>
            <a:endParaRPr lang="en-US"/>
          </a:p>
        </p:txBody>
      </p:sp>
      <p:sp>
        <p:nvSpPr>
          <p:cNvPr id="355" name="Shape 355"/>
          <p:cNvSpPr/>
          <p:nvPr/>
        </p:nvSpPr>
        <p:spPr>
          <a:xfrm>
            <a:off x="6286500" y="4524375"/>
            <a:ext cx="5353050" cy="1428750"/>
          </a:xfrm>
          <a:prstGeom prst="rect">
            <a:avLst/>
          </a:prstGeom>
          <a:solidFill>
            <a:srgbClr val="F4F5F6"/>
          </a:solidFill>
        </p:spPr>
        <p:txBody>
          <a:bodyPr anchor="t" wrap="square" tIns="190500" bIns="190500" lIns="190500" rIns="190500">
            <a:normAutofit/>
          </a:bodyPr>
          <a:lstStyle/>
          <a:p>
            <a:pPr algn="l">
              <a:lnSpc>
                <a:spcPts val="1950"/>
              </a:lnSpc>
              <a:buNone/>
            </a:pPr>
            <a:r>
              <a:rPr sz="1500" b="1" i="0">
                <a:solidFill>
                  <a:srgbClr val="444E55"/>
                </a:solidFill>
                <a:latin typeface="Arial"/>
                <a:ea typeface="Arial"/>
              </a:rPr>
              <a:t>Inference must match the measurement.</a:t>
            </a:r>
            <a:r>
              <a:rPr sz="1500" b="0" i="0">
                <a:solidFill>
                  <a:srgbClr val="000000"/>
                </a:solidFill>
                <a:latin typeface="Arial"/>
                <a:ea typeface="Arial"/>
              </a:rPr>
              <a:t xml:space="preserve"> Cat circuit experiments do not establish canine mechanisms. Concealment improves observed cat stress without guaranteeing recovery of body weight.</a:t>
            </a:r>
            <a:endParaRPr lang="en-US"/>
          </a:p>
        </p:txBody>
      </p:sp>
      <p:sp>
        <p:nvSpPr>
          <p:cNvPr id="356" name="Shape 356"/>
          <p:cNvSpPr/>
          <p:nvPr/>
        </p:nvSpPr>
        <p:spPr>
          <a:xfrm>
            <a:off x="571500" y="6448425"/>
            <a:ext cx="10496550" cy="157163"/>
          </a:xfrm>
          <a:prstGeom prst="rect">
            <a:avLst/>
          </a:prstGeom>
          <a:noFill/>
        </p:spPr>
        <p:txBody>
          <a:bodyPr anchor="t" wrap="square" tIns="0" bIns="0" lIns="0" rIns="0">
            <a:normAutofit/>
          </a:bodyPr>
          <a:lstStyle/>
          <a:p>
            <a:pPr algn="l">
              <a:lnSpc>
                <a:spcPts val="1238"/>
              </a:lnSpc>
              <a:buNone/>
            </a:pPr>
            <a:r>
              <a:rPr sz="825" b="0" i="0">
                <a:solidFill>
                  <a:srgbClr val="000000"/>
                </a:solidFill>
                <a:latin typeface="Arial"/>
                <a:ea typeface="Arial"/>
              </a:rPr>
              <a:t xml:space="preserve">Somppi et al. (2016); Quaranta et al. (2020); Lu et al. (1992); Cheu </a:t>
            </a:r>
            <a:r>
              <a:rPr sz="825" b="0" i="0">
                <a:solidFill>
                  <a:srgbClr val="000000"/>
                </a:solidFill>
                <a:latin typeface="Arial"/>
                <a:ea typeface="Arial"/>
              </a:rPr>
              <a:t>&amp;</a:t>
            </a:r>
            <a:r>
              <a:rPr sz="825" b="0" i="0">
                <a:solidFill>
                  <a:srgbClr val="000000"/>
                </a:solidFill>
                <a:latin typeface="Arial"/>
                <a:ea typeface="Arial"/>
              </a:rPr>
              <a:t xml:space="preserve"> Siegel (1998); Bhatt et al. (2008, 2009); van der Leij et al. (2019)</a:t>
            </a:r>
            <a:endParaRPr lang="en-US"/>
          </a:p>
        </p:txBody>
      </p:sp>
      <p:sp>
        <p:nvSpPr>
          <p:cNvPr id="357" name="Shape 357"/>
          <p:cNvSpPr/>
          <p:nvPr/>
        </p:nvSpPr>
        <p:spPr>
          <a:xfrm>
            <a:off x="11467802" y="6448425"/>
            <a:ext cx="171748" cy="200025"/>
          </a:xfrm>
          <a:prstGeom prst="rect">
            <a:avLst/>
          </a:prstGeom>
          <a:noFill/>
        </p:spPr>
        <p:txBody>
          <a:bodyPr anchor="t" wrap="square" tIns="0" bIns="0" lIns="0" rIns="0">
            <a:normAutofit/>
          </a:bodyPr>
          <a:lstStyle/>
          <a:p>
            <a:pPr algn="l">
              <a:lnSpc>
                <a:spcPts val="1575"/>
              </a:lnSpc>
              <a:buNone/>
            </a:pPr>
            <a:r>
              <a:rPr sz="1050" b="0" i="0">
                <a:solidFill>
                  <a:srgbClr val="000000"/>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Fear in dogs and cats: threat recognition, defensive behavior, and underlying neural circuits</dc:title>
  <dc:subject>Generated by Presenton export-core</dc:subject>
  <dc:creator>Presenton</dc:creator>
  <cp:lastModifiedBy>Presenton</cp:lastModifiedBy>
  <dcterms:created xsi:type="dcterms:W3CDTF">2026-10-09T22:43:17.117Z</dcterms:created>
  <dcterms:modified xsi:type="dcterms:W3CDTF">2026-10-09T22:43:17.117Z</dcterms:modified>
</cp:coreProperties>
</file>