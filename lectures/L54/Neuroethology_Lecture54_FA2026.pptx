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Fear in dogs and cats: threat recognition, defensive behavior, and underlying neural circuits</a:t>
            </a:r>
          </a:p>
          <a:p>
            <a:r>
              <a:t>Lecture 54. NEUR 411 · NEUROETHOLOGY · FALL 2026. Date TBD.</a:t>
            </a:r>
          </a:p>
          <a:p/>
          <a:p>
            <a:r>
              <a:t>Figure: Somppi et al. (2016), Fig. 1 (dog rows). Dog facial stimuli and the published gaze distributions.</a:t>
            </a:r>
          </a:p>
          <a:p>
            <a:r>
              <a:t>Figure source: https://doi.org/10.1371/journal.pone.0143047</a:t>
            </a:r>
          </a:p>
          <a:p/>
          <a:p>
            <a:r>
              <a:t>References:</a:t>
            </a:r>
          </a:p>
          <a:p>
            <a:r>
              <a:t>Somppi S, Törnqvist H, Kujala MV, Hänninen L, Krause CM, Vainio O (2016). Dogs Evaluate Threatening Facial Expressions by Their Biological Validity – Evidence from Gazing Patterns. PLOS ONE 11(1): e0143047. https://doi.org/10.1371/journal.pone.0143047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**Threat recognition** is discrimination of cues associated with possible harm. Somppi and colleagues measured dogs’ spontaneous gaze toward photographs of dog and human faces bearing threatening, pleasant, or neutral expressions. Each photograph appeared for 1500 ms.</a:t>
            </a:r>
          </a:p>
          <a:p>
            <a:r>
              <a:t>  – The inner face comprises the eyes, midface, and mouth; looking time describes visual sampling rather than the animal’s entire defensive response.</a:t>
            </a:r>
          </a:p>
          <a:p>
            <a:r>
              <a:t>• Dogs devoted more viewing time to the inner faces of threatening dogs than to pleasant or neutral dog faces. Their response to threatening human faces differed: initial fixations were less likely to land within the inner face than for pleasant or neutral humans.</a:t>
            </a:r>
          </a:p>
          <a:p>
            <a:r>
              <a:t>• The experiment controlled presentation duration and compared expressions within each depicted species. The result establishes expression-dependent visual attention, rather than a direct measurement of fear, attack probability, or subjective emotional experience.</a:t>
            </a:r>
          </a:p>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p>
            <a:r>
              <a:t>Figure: Somppi et al. (2016), Fig. 2A,B. Expression-dependent fixation scores and first fixations.</a:t>
            </a:r>
          </a:p>
          <a:p>
            <a:r>
              <a:t>Figure source: https://doi.org/10.1371/journal.pone.0143047</a:t>
            </a:r>
          </a:p>
          <a:p/>
          <a:p>
            <a:r>
              <a:t>Figure: Somppi et al. (2016), Fig. 1 (dog rows). Dog facial stimuli and the published gaze distributions.</a:t>
            </a:r>
          </a:p>
          <a:p>
            <a:r>
              <a:t>Figure source: https://doi.org/10.1371/journal.pone.0143047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Dogs watched facial photographs while resting their heads voluntarily on a chin support. An infrared **eye tracker**, an instrument estimating gaze position, recorded where each dog looked without requiring a trained choice between emotional categories.</a:t>
            </a:r>
          </a:p>
          <a:p>
            <a:r>
              <a:t>  – Training accustomed dogs to the apparatus; it did not train an emotional classification response to the test photographs.</a:t>
            </a:r>
          </a:p>
          <a:p>
            <a:r>
              <a:t>• Images appeared for 1500 ms, separated by 500 ms intervals. Stimulus order and block length were randomized, while owners and experimenters waited behind an opaque barrier. These procedures reduced predictable sequences and immediate social guidance during viewing.</a:t>
            </a:r>
          </a:p>
          <a:p>
            <a:r>
              <a:t>• Calibration related measured eye position to known screen locations. The measured outcome was spontaneous fixation allocation, not successful completion of a rewarded emotion-labeling task. Because the stimuli were still photographs, the study did not test moving bodies, approaching animals, or the coordination of escape with gaze.</a:t>
            </a:r>
          </a:p>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p>
            <a:r>
              <a:t>Figure: Somppi et al. (2016), Fig. 1 (dog rows). Dog facial stimuli and the published gaze distributions.</a:t>
            </a:r>
          </a:p>
          <a:p>
            <a:r>
              <a:t>Figure source: https://doi.org/10.1371/journal.pone.0143047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**fixation** is a period during which gaze remains within a restricted area. Facial regions were classified as eyes, midface, and mouth, allowing Somppi and colleagues to compare visual sampling of different components of an expression.</a:t>
            </a:r>
          </a:p>
          <a:p>
            <a:r>
              <a:t>  – Entry time is the interval from image onset to the first fixation in a defined region; it is distinct from the duration spent looking there.</a:t>
            </a:r>
          </a:p>
          <a:p>
            <a:r>
              <a:t>• Across dog and human faces, dogs looked longer at eyes than at mouths. Average entry times were about 503 ms for eyes, 501 ms for midface, and 584 ms for mouths. Thus, exposed teeth were not the only visual information sampled during threatening expressions.</a:t>
            </a:r>
          </a:p>
          <a:p>
            <a:r>
              <a:t>• Fixation scores accounted for facial-region size and total face-viewing time. The comparison supports structured sampling of facial information. It does not identify the neural detector for threat or establish that a single facial feature determines a defensive reaction.</a:t>
            </a:r>
          </a:p>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p>
            <a:r>
              <a:t>Figure: Somppi et al. (2016), Fig. 3. Fixation scores for eyes, midface, and mouth.</a:t>
            </a:r>
          </a:p>
          <a:p>
            <a:r>
              <a:t>Figure source: https://doi.org/10.1371/journal.pone.0143047</a:t>
            </a:r>
          </a:p>
          <a:p/>
          <a:p>
            <a:r>
              <a:t>Figure: Somppi et al. (2016), Fig. 1 (dog rows). Dog facial stimuli and the published gaze distributions.</a:t>
            </a:r>
          </a:p>
          <a:p>
            <a:r>
              <a:t>Figure source: https://doi.org/10.1371/journal.pone.0143047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**Initial orienting** describes where attention is directed at the beginning of stimulus inspection. The probability of a first fixation landing on the inner face was lower for threatening human expressions than for pleasant or neutral human expressions.</a:t>
            </a:r>
          </a:p>
          <a:p>
            <a:r>
              <a:t>  – The comparison separates an early orienting measure from sustained fixation; these measures need not vary in parallel.</a:t>
            </a:r>
          </a:p>
          <a:p>
            <a:r>
              <a:t>• The same dogs viewed conspecific faces, meaning faces of their own species. Threatening dog faces received more inner-face viewing than other dog expressions. Consequently, the visual response depended jointly on expression and the species producing the signal.</a:t>
            </a:r>
          </a:p>
          <a:p>
            <a:r>
              <a:t>• The first-fixation analysis adjusted for the relative size of the target region. Reduced initial gaze toward human threat is compatible with avoidance, but gaze alone cannot establish the animal’s motivation. No neural recording or circuit intervention accompanied these 1500 ms presentations.</a:t>
            </a:r>
          </a:p>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p>
            <a:r>
              <a:t>Figure: Somppi et al. (2016), Fig. 2A,B. Expression-dependent fixation scores and first fixations.</a:t>
            </a:r>
          </a:p>
          <a:p>
            <a:r>
              <a:t>Figure source: https://doi.org/10.1371/journal.pone.0143047</a:t>
            </a:r>
          </a:p>
          <a:p/>
          <a:p>
            <a:r>
              <a:t>Figure: Somppi et al. (2016), Fig. 4. Original first-fixation targets and scanning paths; circle key is 500 ms.</a:t>
            </a:r>
          </a:p>
          <a:p>
            <a:r>
              <a:t>Figure source: https://doi.org/10.1371/journal.pone.0143047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**gaze heat map** represents the distribution of recorded fixations across a stimulus. The published maps from Somppi and colleagues place dogs’ gaze on eyes, muzzle, and mouth during presentations lasting 1500 ms.</a:t>
            </a:r>
          </a:p>
          <a:p>
            <a:r>
              <a:t>  – The colors are the authors’ original fixation distributions, not a reconstructed brain map or an added interpretation of the dog’s emotional state.</a:t>
            </a:r>
          </a:p>
          <a:p>
            <a:r>
              <a:t>• The analysis compared threatening, pleasant, and neutral faces of both humans and dogs. It normalized looking duration for facial-region size, reducing the possibility that a larger mouth or eye region automatically receives a larger score simply because it occupies more space.</a:t>
            </a:r>
          </a:p>
          <a:p>
            <a:r>
              <a:t>• These maps describe visual attention rather than neuronal activation. They cannot locate an amygdala response or distinguish arousal from avoidance without additional measurements. Expression-dependent gaze is evidence that the visual system discriminates social cues; the downstream defensive state remains a separate experimental question.</a:t>
            </a:r>
          </a:p>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p>
            <a:r>
              <a:t>Figure: Somppi et al. (2016), Fig. 1. Dog and human facial stimuli with published gaze distributions.</a:t>
            </a:r>
          </a:p>
          <a:p>
            <a:r>
              <a:t>Figure source: https://doi.org/10.1371/journal.pone.0143047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Dogs’ first fixations and subsequent scanning paths sampled multiple parts of a face. Somppi and colleagues recorded these paths during 1500 ms presentations, with fixation duration and entry time providing different descriptions of visual attention.</a:t>
            </a:r>
          </a:p>
          <a:p>
            <a:r>
              <a:t>  – Long looking can reflect vigilance, whereas reduced looking can reflect disengagement; this experiment does not assign either interpretation solely from fixation duration.</a:t>
            </a:r>
          </a:p>
          <a:p>
            <a:r>
              <a:t>• Threatening dog faces received greater sustained sampling than pleasant or neutral dog faces, while threatening human faces were less likely to receive an initial inner-face fixation. The distinction prevents a simple rule that every threatening expression should produce longer looking.</a:t>
            </a:r>
          </a:p>
          <a:p>
            <a:r>
              <a:t>• The authors compared expressions within species and considered image properties when analyzing gaze. Nonetheless, a photograph does not provide the motion, distance, vocalization, or opportunity to withdraw present in a real encounter. Visual discrimination and defensive behavior therefore require different measured outcomes.</a:t>
            </a:r>
          </a:p>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p>
            <a:r>
              <a:t>Figure: Somppi et al. (2016), Fig. 4. Original first-fixation targets and scanning paths; circle key is 500 ms.</a:t>
            </a:r>
          </a:p>
          <a:p>
            <a:r>
              <a:t>Figure source: https://doi.org/10.1371/journal.pone.0143047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**Cross-modal recognition** is matching information carried by different senses. Quaranta and colleagues presented cats with two facial expressions of the same individual while playing a vocalization matching only one expression. A presentation lasted 5 s.</a:t>
            </a:r>
          </a:p>
          <a:p>
            <a:r>
              <a:t>  – The face matching the hiss competes with a different expression of the same cat, limiting a simple explanation based on individual identity alone.</a:t>
            </a:r>
          </a:p>
          <a:p>
            <a:r>
              <a:t>• Cats looked longer at the congruent face when hearing a conspecific hiss. They also matched human anger and happiness vocalizations to the corresponding human expressions. **Congruent** means that the expression and sound belonged to the same emotional condition.</a:t>
            </a:r>
          </a:p>
          <a:p>
            <a:r>
              <a:t>• Neutral Brownian sound provided a control without the emotional vocal cue. Preferential matching supports integration of visual and auditory social information. It does not prove that cats experience the displayed emotion or identify the neurons performing this integration.</a:t>
            </a:r>
          </a:p>
          <a:p/>
          <a:p>
            <a:r>
              <a:t>References:</a:t>
            </a:r>
          </a:p>
          <a:p>
            <a:r>
              <a:t>Quaranta A, d’Ingeo S, Amoruso R, Siniscalchi M (2020). Emotion Recognition in Cats. Animals 10(7): 1107. https://doi.org/10.3390/ani10071107</a:t>
            </a:r>
          </a:p>
          <a:p/>
          <a:p>
            <a:r>
              <a:t>Figure: Quaranta et al. (2020), Fig. 3. Congruence scores for matching facial and vocal emotional cues.</a:t>
            </a:r>
          </a:p>
          <a:p>
            <a:r>
              <a:t>Figure source: https://doi.org/10.3390/ani10071107</a:t>
            </a:r>
          </a:p>
          <a:p/>
          <a:p>
            <a:r>
              <a:t>Figure: Quaranta et al. (2020), Fig. 1 (cat rows). Hiss and purr faces with corresponding waveforms and sonograms.</a:t>
            </a:r>
          </a:p>
          <a:p>
            <a:r>
              <a:t>Figure source: https://doi.org/10.3390/ani10071107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cat recognition study used hissing and purring recorded during different social conditions. Hiss recordings came from a threatening encounter involving an approaching dog; purr recordings came from relaxed interactions with owners.</a:t>
            </a:r>
          </a:p>
          <a:p>
            <a:r>
              <a:t>  – A sonogram depicts how acoustic frequency content varies through time; frequency is measured in kilohertz and elapsed time in seconds in the source figure.</a:t>
            </a:r>
          </a:p>
          <a:p>
            <a:r>
              <a:t>• Recordings were adjusted to 69 dB at the tested cat’s position. Facial photographs were converted to grayscale in the published experiment. These controls reduced sound-intensity and image-color differences as explanations for matching an expression to a vocalization.</a:t>
            </a:r>
          </a:p>
          <a:p>
            <a:r>
              <a:t>• Each audiovisual presentation lasted 5 s, allowing spontaneous gaze to either face. The published waveform and sonogram preserve time and frequency information from the actual stimuli. Matching cannot be reduced to loudness alone, but acoustic and facial features still differ between emotional conditions and contribute to their discrimination.</a:t>
            </a:r>
          </a:p>
          <a:p/>
          <a:p>
            <a:r>
              <a:t>References:</a:t>
            </a:r>
          </a:p>
          <a:p>
            <a:r>
              <a:t>Quaranta A, d’Ingeo S, Amoruso R, Siniscalchi M (2020). Emotion Recognition in Cats. Animals 10(7): 1107. https://doi.org/10.3390/ani10071107</a:t>
            </a:r>
          </a:p>
          <a:p/>
          <a:p>
            <a:r>
              <a:t>Figure: Quaranta et al. (2020), Fig. 1 (cat rows). Hiss and purr faces with corresponding waveforms and sonograms.</a:t>
            </a:r>
          </a:p>
          <a:p>
            <a:r>
              <a:t>Figure source: https://doi.org/10.3390/ani10071107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Quaranta and colleagues scored cats’ behavior during audiovisual presentations of human anger, human happiness, cat hissing, and cat purring. **Stress-related behavior** was operationalized as the observed frequency of specified behavioral signs, rather than inferred directly from facial matching.</a:t>
            </a:r>
          </a:p>
          <a:p>
            <a:r>
              <a:t>  – Operationalization states exactly what was counted; it does not make the observed score identical to an unobserved subjective feeling.</a:t>
            </a:r>
          </a:p>
          <a:p>
            <a:r>
              <a:t>• Cats expressed more stress-related behavior during human anger and cat hiss presentations than during human happiness or cat purr presentations. Sounds were standardized to 69 dB, and the same 5 s presentation procedure was used across conditions.</a:t>
            </a:r>
          </a:p>
          <a:p>
            <a:r>
              <a:t>• The behavioral score complements the gaze measure by assessing the recipient’s response. It does not measure circulating stress hormones or record brain activity. A threatening communication signal can alter behavior even when the recipient does not attack the sender.</a:t>
            </a:r>
          </a:p>
          <a:p/>
          <a:p>
            <a:r>
              <a:t>References:</a:t>
            </a:r>
          </a:p>
          <a:p>
            <a:r>
              <a:t>Quaranta A, d’Ingeo S, Amoruso R, Siniscalchi M (2020). Emotion Recognition in Cats. Animals 10(7): 1107. https://doi.org/10.3390/ani10071107</a:t>
            </a:r>
          </a:p>
          <a:p/>
          <a:p>
            <a:r>
              <a:t>Figure: Quaranta et al. (2020), Fig. 4. Stress-related behavior during emotional stimulus presentations.</a:t>
            </a:r>
          </a:p>
          <a:p>
            <a:r>
              <a:t>Figure source: https://doi.org/10.3390/ani10071107</a:t>
            </a:r>
          </a:p>
          <a:p/>
          <a:p>
            <a:r>
              <a:t>Figure: Quaranta et al. (2020), Fig. 1 (human rows). Happiness and anger stimuli with corresponding vocalizations.</a:t>
            </a:r>
          </a:p>
          <a:p>
            <a:r>
              <a:t>Figure source: https://doi.org/10.3390/ani10071107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Cats did not display reliable preferential matching for the purr condition in the Quaranta study, although they matched cat hissing and both tested human emotional conditions. This asymmetry limits a claim that every affective vocalization is linked equally strongly to a distinctive facial expression.</a:t>
            </a:r>
          </a:p>
          <a:p>
            <a:r>
              <a:t>  – A null matching result concerns the experimental contrast, not the animal’s general ability to hear or interpret the vocalization.</a:t>
            </a:r>
          </a:p>
          <a:p>
            <a:r>
              <a:t>• The **congruence index** describes relative looking toward the matching face. A value of 1 indicates exclusive matching-face looking, a value of −1 indicates exclusive nonmatching-face looking, and zero indicates balanced looking.</a:t>
            </a:r>
          </a:p>
          <a:p>
            <a:r>
              <a:t>• Presentations lasted 5 s and compared expressions of the same individual. The absence of reliable purr matching may reflect the tested cues, task, or their salience. It does not establish that cats cannot perceive purring or recognize relaxed social contexts.</a:t>
            </a:r>
          </a:p>
          <a:p/>
          <a:p>
            <a:r>
              <a:t>References:</a:t>
            </a:r>
          </a:p>
          <a:p>
            <a:r>
              <a:t>Quaranta A, d’Ingeo S, Amoruso R, Siniscalchi M (2020). Emotion Recognition in Cats. Animals 10(7): 1107. https://doi.org/10.3390/ani10071107</a:t>
            </a:r>
          </a:p>
          <a:p/>
          <a:p>
            <a:r>
              <a:t>Figure: Quaranta et al. (2020), Fig. 3. Congruence scores for matching facial and vocal emotional cues.</a:t>
            </a:r>
          </a:p>
          <a:p>
            <a:r>
              <a:t>Figure source: https://doi.org/10.3390/ani10071107</a:t>
            </a:r>
          </a:p>
          <a:p/>
          <a:p>
            <a:r>
              <a:t>Figure: Quaranta et al. (2020), Fig. 1 (cat rows). Hiss and purr faces with corresponding waveforms and sonograms.</a:t>
            </a:r>
          </a:p>
          <a:p>
            <a:r>
              <a:t>Figure source: https://doi.org/10.3390/ani10071107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cat recognition experiment paired emotional faces with a neutral Brownian sound as a control condition. **Brownian sound** is a nonvocal noise stimulus; here it supplied auditory stimulation without a human or cat emotional vocalization.</a:t>
            </a:r>
          </a:p>
          <a:p>
            <a:r>
              <a:t>  – The design controls for a baseline picture preference while preserving an auditory event in the control condition.</a:t>
            </a:r>
          </a:p>
          <a:p>
            <a:r>
              <a:t>• Cats did not reliably prefer either emotional face in these control presentations. In contrast, human anger and happiness vocalizations supported preferential looking toward the matching expression during 5 s trials. Owners were instructed to avoid interacting with their cats during the presentations.</a:t>
            </a:r>
          </a:p>
          <a:p>
            <a:r>
              <a:t>• The neutral condition weakens an explanation based solely on a fixed preference for one facial photograph. Because no sensory pathway was disrupted, the experiment establishes behavioral audiovisual matching rather than causal dependence on a specific brain region or receptor.</a:t>
            </a:r>
          </a:p>
          <a:p/>
          <a:p>
            <a:r>
              <a:t>References:</a:t>
            </a:r>
          </a:p>
          <a:p>
            <a:r>
              <a:t>Quaranta A, d’Ingeo S, Amoruso R, Siniscalchi M (2020). Emotion Recognition in Cats. Animals 10(7): 1107. https://doi.org/10.3390/ani10071107</a:t>
            </a:r>
          </a:p>
          <a:p/>
          <a:p>
            <a:r>
              <a:t>Figure: Quaranta et al. (2020), Fig. 3. Congruence scores for matching facial and vocal emotional cues.</a:t>
            </a:r>
          </a:p>
          <a:p>
            <a:r>
              <a:t>Figure source: https://doi.org/10.3390/ani10071107</a:t>
            </a:r>
          </a:p>
          <a:p/>
          <a:p>
            <a:r>
              <a:t>Figure: Quaranta et al. (2020), Fig. 1 (human rows). Happiness and anger stimuli with corresponding vocalizations.</a:t>
            </a:r>
          </a:p>
          <a:p>
            <a:r>
              <a:t>Figure source: https://doi.org/10.3390/ani10071107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**Fear** refers to a defensive response associated with a threat, while anxiety-related traits describe broader recurring patterns of apprehensive behavior. Salonen and colleagues used owner reports to assess noise sensitivity, social fear, surface-related fear, and several other behavioral traits.</a:t>
            </a:r>
          </a:p>
          <a:p>
            <a:r>
              <a:t>  – An owner questionnaire samples recurring behavior in the home environment; it does not expose each dog to an identical calibrated threat.</a:t>
            </a:r>
          </a:p>
          <a:p>
            <a:r>
              <a:t>• Highly noise-sensitive behavior was reported in 32% of the surveyed dogs, and fear in 29%. Fireworks were the most commonly reported noise trigger. Fear of other dogs was the most common social-fear subtrait in this sample.</a:t>
            </a:r>
          </a:p>
          <a:p>
            <a:r>
              <a:t>• These percentages describe the recruited survey population and the study’s operational thresholds. They do not establish population-wide prevalence or identify a neurotransmitter deficiency. Distinguishing triggers preserves information about sensory context that would be lost by treating all fearful behavior as one uniform phenotype.</a:t>
            </a:r>
          </a:p>
          <a:p/>
          <a:p>
            <a:r>
              <a:t>References:</a:t>
            </a:r>
          </a:p>
          <a:p>
            <a:r>
              <a:t>Salonen M, Sulkama S, Mikkola S, Puurunen J, Hakanen E, Tiira K, Araujo C, Lohi H (2020). Prevalence, comorbidity, and breed differences in canine anxiety in 13,700 Finnish pet dogs. Scientific Reports 10(1): 2962. https://doi.org/10.1038/s41598-020-59837-z</a:t>
            </a:r>
          </a:p>
          <a:p/>
          <a:p>
            <a:r>
              <a:t>Figure: Salonen et al. (2020), Fig. 1a,b. Reported prevalence of canine anxiety traits and subtraits.</a:t>
            </a:r>
          </a:p>
          <a:p>
            <a:r>
              <a:t>Figure source: https://doi.org/10.1038/s41598-020-59837-z</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**Comorbidity** is the occurrence of more than one classified condition in the same individual. In Salonen and colleagues’ owner-reported survey, dogs classified as aggressive were 3.2 times more often classified as fearful than dogs without that aggression classification.</a:t>
            </a:r>
          </a:p>
          <a:p>
            <a:r>
              <a:t>  – A relative risk compares the frequency of a trait between groups; it is not a direct measurement of a synaptic interaction.</a:t>
            </a:r>
          </a:p>
          <a:p>
            <a:r>
              <a:t>• The study separately scored fear and aggression, rather than defining aggression as proof of fear. Fear also overlapped with noise sensitivity and separation-related behavior. These associations connect several behavioral dimensions while preserving their separate definitions.</a:t>
            </a:r>
          </a:p>
          <a:p>
            <a:r>
              <a:t>• A cross-sectional survey measures co-occurrence at the time of reporting. It cannot establish that fear caused aggression, that aggression caused fear, or that both depend on the same neural mechanism. Shared environments, inherited predispositions, and reporting patterns remain possible contributors to the association.</a:t>
            </a:r>
          </a:p>
          <a:p/>
          <a:p>
            <a:r>
              <a:t>References:</a:t>
            </a:r>
          </a:p>
          <a:p>
            <a:r>
              <a:t>Salonen M, Sulkama S, Mikkola S, Puurunen J, Hakanen E, Tiira K, Araujo C, Lohi H (2020). Prevalence, comorbidity, and breed differences in canine anxiety in 13,700 Finnish pet dogs. Scientific Reports 10(1): 2962. https://doi.org/10.1038/s41598-020-59837-z</a:t>
            </a:r>
          </a:p>
          <a:p/>
          <a:p>
            <a:r>
              <a:t>Figure: Salonen et al. (2020), Fig. 2b. Relative risks of co-occurring reported traits.</a:t>
            </a:r>
          </a:p>
          <a:p>
            <a:r>
              <a:t>Figure source: https://doi.org/10.1038/s41598-020-59837-z</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Salonen and colleagues compared reported anxiety-related traits across ages and sexes. Noise sensitivity, particularly fear of thunder, increased with age in their survey, while female dogs were more often classified as fearful and male dogs more often classified as aggressive.</a:t>
            </a:r>
          </a:p>
          <a:p>
            <a:r>
              <a:t>  – An age association within a survey is distinct from repeatedly following the same animal as its behavior changes over time.</a:t>
            </a:r>
          </a:p>
          <a:p>
            <a:r>
              <a:t>• The dogs ranged from young puppies to older adults, extending the observations across much of the canine lifespan. The questionnaire distinguished fear of other dogs, strangers, and novel situations from aggression toward people and other behavioral categories.</a:t>
            </a:r>
          </a:p>
          <a:p>
            <a:r>
              <a:t>• These associations describe variation rather than an experimental effect of aging or sex hormones. Cohort differences, prior experiences, health, and owner interpretation were not eliminated by assigning dogs randomly to these characteristics. The survey provides behavioral context, but receptor-level explanations require a different experimental design.</a:t>
            </a:r>
          </a:p>
          <a:p/>
          <a:p>
            <a:r>
              <a:t>References:</a:t>
            </a:r>
          </a:p>
          <a:p>
            <a:r>
              <a:t>Salonen M, Sulkama S, Mikkola S, Puurunen J, Hakanen E, Tiira K, Araujo C, Lohi H (2020). Prevalence, comorbidity, and breed differences in canine anxiety in 13,700 Finnish pet dogs. Scientific Reports 10(1): 2962. https://doi.org/10.1038/s41598-020-59837-z</a:t>
            </a:r>
          </a:p>
          <a:p/>
          <a:p>
            <a:r>
              <a:t>Figure: Salonen et al. (2020), Fig. 3a–d. Age and sex distributions of reported behavioral traits.</a:t>
            </a:r>
          </a:p>
          <a:p>
            <a:r>
              <a:t>Figure source: https://doi.org/10.1038/s41598-020-59837-z</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**Defensive rage** is the historical name for a coordinated feline defensive response elicited experimentally, including hissing, ear retraction, piloerection, back arching, and strikes with the paws. **Piloerection** means raising the hairs rather than a separate act of attack.</a:t>
            </a:r>
          </a:p>
          <a:p>
            <a:r>
              <a:t>  – The hypothalamus lies in the forebrain, whereas the PAG lies in the midbrain; their interaction links distributed structures rather than one compact fear center.</a:t>
            </a:r>
          </a:p>
          <a:p>
            <a:r>
              <a:t>• Lu and colleagues elicited the response from the medial hypothalamus and the dorsal **periaqueductal gray**, or PAG, the midbrain gray matter surrounding the cerebral aqueduct. They measured the time from stimulation onset to hissing, with stimulation limited to 15 s.</a:t>
            </a:r>
          </a:p>
          <a:p>
            <a:r>
              <a:t>• Electrical stimulation tests whether activity at a site can recruit a behavioral pattern. It does not reproduce recognition of a particular natural threat or measure subjective fear. The elicited response includes vocal, postural, and autonomic components rather than a single isolated movement.</a:t>
            </a:r>
          </a:p>
          <a:p/>
          <a:p>
            <a:r>
              <a:t>References:</a:t>
            </a:r>
          </a:p>
          <a:p>
            <a:r>
              <a:t>Lu CL, Shaikh MB, Siegel A (1992). Role of NMDA receptors in hypothalamic facilitation of feline defensive rage elicited from the midbrain periaqueductal gray. Brain Research 581(1): 123-132. https://doi.org/10.1016/0006-8993(92)90351-9</a:t>
            </a:r>
          </a:p>
          <a:p>
            <a:r>
              <a:t>Bhatt S, Bhatt R, Zalcman SS, Siegel A (2008). Role of IL-1β and 5-HT2 receptors in midbrain periaqueductal gray (PAG) in potentiating defensive rage behavior in cat. Brain, Behavior, and Immunity 22(2): 224-233. https://doi.org/10.1016/j.bbi.2007.07.011</a:t>
            </a:r>
          </a:p>
          <a:p/>
          <a:p>
            <a:r>
              <a:t>Figure: Lu et al. (1992), Fig. 1A,B. PAG and medial hypothalamic stimulation sites.</a:t>
            </a:r>
          </a:p>
          <a:p>
            <a:r>
              <a:t>Figure source: https://doi.org/10.1016/0006-8993(92)90351-9</a:t>
            </a:r>
          </a:p>
          <a:p/>
          <a:p>
            <a:r>
              <a:t>Figure: Bhatt et al. (2008), Fig. 6A,D. PAG tissue surrounding the aqueduct and receptor labeling; 100 μm bar.</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Lu and colleagues stimulated a PAG site that elicited hissing and paired it with medial hypothalamic stimulation below the level required to elicit behavior by itself. **Facilitation** means that the combined input made the PAG-elicited response occur sooner.</a:t>
            </a:r>
          </a:p>
          <a:p>
            <a:r>
              <a:t>  – A subthreshold input need not produce visible behavior alone to alter the response to activity elsewhere in the circuit.</a:t>
            </a:r>
          </a:p>
          <a:p>
            <a:r>
              <a:t>• At matched PAG stimulation parameters, concurrent hypothalamic stimulation shortened hissing latency. Before the highest kynurenic-acid dose, the dual-stimulation response was about 37% faster than the PAG-only response. Alternating single and dual trials provided a comparison within the same preparation.</a:t>
            </a:r>
          </a:p>
          <a:p>
            <a:r>
              <a:t>• This procedure establishes a functional interaction between the selected sites. Electrical current can excite several elements, including passing fibers, so the result alone does not identify a monosynaptic connection or the transmitter responsible for facilitation.</a:t>
            </a:r>
          </a:p>
          <a:p/>
          <a:p>
            <a:r>
              <a:t>References:</a:t>
            </a:r>
          </a:p>
          <a:p>
            <a:r>
              <a:t>Lu CL, Shaikh MB, Siegel A (1992). Role of NMDA receptors in hypothalamic facilitation of feline defensive rage elicited from the midbrain periaqueductal gray. Brain Research 581(1): 123-132. https://doi.org/10.1016/0006-8993(92)90351-9</a:t>
            </a:r>
          </a:p>
          <a:p/>
          <a:p>
            <a:r>
              <a:t>Figure: Lu et al. (1992), Fig. 2. Kynurenic acid reverses hypothalamic facilitation of the PAG response.</a:t>
            </a:r>
          </a:p>
          <a:p>
            <a:r>
              <a:t>Figure source: https://doi.org/10.1016/0006-8993(92)90351-9</a:t>
            </a:r>
          </a:p>
          <a:p/>
          <a:p>
            <a:r>
              <a:t>Figure: Lu et al. (1992), Fig. 1A,B. PAG and medial hypothalamic stimulation sites.</a:t>
            </a:r>
          </a:p>
          <a:p>
            <a:r>
              <a:t>Figure source: https://doi.org/10.1016/0006-8993(92)90351-9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**Excitatory amino acids** are amino-acid neurotransmitters capable of increasing neuronal excitation. Lu and colleagues injected kynurenic acid, an antagonist blocking several excitatory amino-acid receptor classes, into the PAG site used for eliciting defensive rage.</a:t>
            </a:r>
          </a:p>
          <a:p>
            <a:r>
              <a:t>  – An antagonist interferes with receptor activation; local delivery narrows the tested site but does not restrict the intervention to a genetically defined cell population.</a:t>
            </a:r>
          </a:p>
          <a:p>
            <a:r>
              <a:t>• A 2.0 nmol injection reversed medial hypothalamic facilitation. At 15 min, dual-stimulation hissing latency rose above the PAG-only reference instead of remaining shorter. Lower doses produced smaller or shorter-lasting effects, and the response recovered over time.</a:t>
            </a:r>
          </a:p>
          <a:p>
            <a:r>
              <a:t>• The drug was delivered locally while electrical stimulation parameters remained unchanged. This supports excitatory amino-acid receptor participation at the PAG target region. Because kynurenic acid is not selective for one receptor class, this experiment cannot by itself assign the effect specifically to NMDA receptors.</a:t>
            </a:r>
          </a:p>
          <a:p/>
          <a:p>
            <a:r>
              <a:t>References:</a:t>
            </a:r>
          </a:p>
          <a:p>
            <a:r>
              <a:t>Lu CL, Shaikh MB, Siegel A (1992). Role of NMDA receptors in hypothalamic facilitation of feline defensive rage elicited from the midbrain periaqueductal gray. Brain Research 581(1): 123-132. https://doi.org/10.1016/0006-8993(92)90351-9</a:t>
            </a:r>
          </a:p>
          <a:p/>
          <a:p>
            <a:r>
              <a:t>Figure: Lu et al. (1992), Fig. 2. Kynurenic acid reverses hypothalamic facilitation of the PAG response.</a:t>
            </a:r>
          </a:p>
          <a:p>
            <a:r>
              <a:t>Figure source: https://doi.org/10.1016/0006-8993(92)90351-9</a:t>
            </a:r>
          </a:p>
          <a:p/>
          <a:p>
            <a:r>
              <a:t>Figure: Lu et al. (1992), Fig. 1A,B. PAG and medial hypothalamic stimulation sites.</a:t>
            </a:r>
          </a:p>
          <a:p>
            <a:r>
              <a:t>Figure source: https://doi.org/10.1016/0006-8993(92)90351-9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**NMDA receptors** are excitatory amino-acid receptors named for the agonist N-methyl-D-aspartate. An **agonist** activates a receptor, whereas an antagonist reduces its activation. Lu and colleagues tested the selective NMDA antagonist AP7 inside the PAG.</a:t>
            </a:r>
          </a:p>
          <a:p>
            <a:r>
              <a:t>  – NMDA receptors link transmitter binding to excitatory ion-channel signaling; the behavioral intervention tests receptor participation rather than the detailed current through the channel.</a:t>
            </a:r>
          </a:p>
          <a:p>
            <a:r>
              <a:t>• A 2 nmol AP7 injection changed dual-stimulation latency from about 17% below the PAG-only reference to about 42% above it during the early post-injection period. The effect weakened with recovery; 0.1 nmol AP7 did not produce a comparable blockade.</a:t>
            </a:r>
          </a:p>
          <a:p>
            <a:r>
              <a:t>• The combination of receptor selectivity, dose dependence, and recovery supports NMDA participation in hypothalamic facilitation. Hissing latency is the measured output. The study did not record membrane current or identify which PAG neurons express the behaviorally relevant receptors.</a:t>
            </a:r>
          </a:p>
          <a:p/>
          <a:p>
            <a:r>
              <a:t>References:</a:t>
            </a:r>
          </a:p>
          <a:p>
            <a:r>
              <a:t>Lu CL, Shaikh MB, Siegel A (1992). Role of NMDA receptors in hypothalamic facilitation of feline defensive rage elicited from the midbrain periaqueductal gray. Brain Research 581(1): 123-132. https://doi.org/10.1016/0006-8993(92)90351-9</a:t>
            </a:r>
          </a:p>
          <a:p/>
          <a:p>
            <a:r>
              <a:t>Figure: Lu et al. (1992), Fig. 3. AP7 dose and recovery time compared with CNQX.</a:t>
            </a:r>
          </a:p>
          <a:p>
            <a:r>
              <a:t>Figure source: https://doi.org/10.1016/0006-8993(92)90351-9</a:t>
            </a:r>
          </a:p>
          <a:p/>
          <a:p>
            <a:r>
              <a:t>Figure: Lu et al. (1992), Fig. 1A,B. PAG and medial hypothalamic stimulation sites.</a:t>
            </a:r>
          </a:p>
          <a:p>
            <a:r>
              <a:t>Figure source: https://doi.org/10.1016/0006-8993(92)90351-9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Lu and colleagues directly injected NMDA into PAG defensive sites without concurrent stimulation of the hypothalamus. This tested whether local receptor activation could reproduce the facilitation associated with the upstream input while the PAG stimulation procedure remained in place.</a:t>
            </a:r>
          </a:p>
          <a:p>
            <a:r>
              <a:t>  – The colored anatomical tissue is the published PAG section from Bhatt and colleagues; it locates the region rather than measuring the NMDA experiment’s neuronal activity.</a:t>
            </a:r>
          </a:p>
          <a:p>
            <a:r>
              <a:t>• A 1.0 nmol NMDA injection shortened hissing latency by about 48% during the first 5–15 min. A 0.5 nmol dose produced a smaller, approximately 27% reduction. Latencies returned toward baseline within the subsequent observation periods.</a:t>
            </a:r>
          </a:p>
          <a:p>
            <a:r>
              <a:t>• Local activation therefore supplied a facilitatory influence on an electrically elicited response. It did not establish that NMDA alone generates a complete natural defensive episode. The transient dose-dependent result supports modulation of PAG excitability rather than permanent alteration of the circuit.</a:t>
            </a:r>
          </a:p>
          <a:p/>
          <a:p>
            <a:r>
              <a:t>References:</a:t>
            </a:r>
          </a:p>
          <a:p>
            <a:r>
              <a:t>Lu CL, Shaikh MB, Siegel A (1992). Role of NMDA receptors in hypothalamic facilitation of feline defensive rage elicited from the midbrain periaqueductal gray. Brain Research 581(1): 123-132. https://doi.org/10.1016/0006-8993(92)90351-9</a:t>
            </a:r>
          </a:p>
          <a:p>
            <a:r>
              <a:t>Bhatt S, Bhatt R, Zalcman SS, Siegel A (2008). Role of IL-1β and 5-HT2 receptors in midbrain periaqueductal gray (PAG) in potentiating defensive rage behavior in cat. Brain, Behavior, and Immunity 22(2): 224-233. https://doi.org/10.1016/j.bbi.2007.07.011</a:t>
            </a:r>
          </a:p>
          <a:p/>
          <a:p>
            <a:r>
              <a:t>Figure: Lu et al. (1992), Fig. 4. NMDA microinjection decreases hissing latency.</a:t>
            </a:r>
          </a:p>
          <a:p>
            <a:r>
              <a:t>Figure source: https://doi.org/10.1016/0006-8993(92)90351-9</a:t>
            </a:r>
          </a:p>
          <a:p/>
          <a:p>
            <a:r>
              <a:t>Figure: Bhatt et al. (2008), Fig. 6A,D. PAG tissue surrounding the aqueduct and receptor labeling; 100 μm bar.</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Lu and colleagues compared NMDA blockade with other receptor interventions at the same PAG sites. CNQX, which blocks non-NMDA excitatory amino-acid receptors, produced only small changes at 4 nmol. Atropine, a muscarinic acetylcholine receptor antagonist, had little effect at 4.4 nmol.</a:t>
            </a:r>
          </a:p>
          <a:p>
            <a:r>
              <a:t>  – Receptor-class controls address pharmacological specificity, but they do not establish that every possible alternative transmitter has been excluded.</a:t>
            </a:r>
          </a:p>
          <a:p>
            <a:r>
              <a:t>• These local injections were compared with the larger reversal produced by AP7. The contrast narrows the explanation for medial hypothalamic facilitation toward NMDA receptor participation rather than indiscriminate disruption by fluid delivery or any receptor antagonist.</a:t>
            </a:r>
          </a:p>
          <a:p>
            <a:r>
              <a:t>• A negative result is limited to the dose, site, and response tested. It does not exclude non-NMDA or muscarinic signaling elsewhere in the brain, during sensory recognition, or under natural threat conditions. The intervention addresses one experimentally activated circuit link.</a:t>
            </a:r>
          </a:p>
          <a:p/>
          <a:p>
            <a:r>
              <a:t>References:</a:t>
            </a:r>
          </a:p>
          <a:p>
            <a:r>
              <a:t>Lu CL, Shaikh MB, Siegel A (1992). Role of NMDA receptors in hypothalamic facilitation of feline defensive rage elicited from the midbrain periaqueductal gray. Brain Research 581(1): 123-132. https://doi.org/10.1016/0006-8993(92)90351-9</a:t>
            </a:r>
          </a:p>
          <a:p/>
          <a:p>
            <a:r>
              <a:t>Figure: Lu et al. (1992), Fig. 3. AP7 dose and recovery time compared with CNQX.</a:t>
            </a:r>
          </a:p>
          <a:p>
            <a:r>
              <a:t>Figure source: https://doi.org/10.1016/0006-8993(92)90351-9</a:t>
            </a:r>
          </a:p>
          <a:p/>
          <a:p>
            <a:r>
              <a:t>Figure: Lu et al. (1992), Fig. 1A,B. PAG and medial hypothalamic stimulation sites.</a:t>
            </a:r>
          </a:p>
          <a:p>
            <a:r>
              <a:t>Figure source: https://doi.org/10.1016/0006-8993(92)90351-9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**Retrograde tracing** labels neurons by transporting a marker from their axonal terminal region back to their cell bodies. Lu and colleagues injected Fluoro-Gold into behaviorally identified PAG sites and examined hypothalamic labeling after 5–6 days.</a:t>
            </a:r>
          </a:p>
          <a:p>
            <a:r>
              <a:t>  – Perifornical means near the fornix; labeling location specifies where candidate projecting neurons occur without claiming a uniform function for every cell in that region.</a:t>
            </a:r>
          </a:p>
          <a:p>
            <a:r>
              <a:t>• Labeled neurons extended through the medial hypothalamus, with concentrations in dorsomedial and perifornical regions. Immunocytochemistry, the use of antibodies to detect tissue components, identified aspartate- or glutamate-positive cells, including cells also carrying the retrograde marker.</a:t>
            </a:r>
          </a:p>
          <a:p>
            <a:r>
              <a:t>• Double labeling supports an anatomical projection containing excitatory amino-acid-associated neurons. It does not directly measure transmitter release during hissing or verify that every labeled cell participates in defense. Projection anatomy and the receptor-blockade results supply different kinds of evidence for the same proposed pathway.</a:t>
            </a:r>
          </a:p>
          <a:p/>
          <a:p>
            <a:r>
              <a:t>References:</a:t>
            </a:r>
          </a:p>
          <a:p>
            <a:r>
              <a:t>Lu CL, Shaikh MB, Siegel A (1992). Role of NMDA receptors in hypothalamic facilitation of feline defensive rage elicited from the midbrain periaqueductal gray. Brain Research 581(1): 123-132. https://doi.org/10.1016/0006-8993(92)90351-9</a:t>
            </a:r>
          </a:p>
          <a:p/>
          <a:p>
            <a:r>
              <a:t>Figure: Lu et al. (1992), Fig. 5A,B. PAG tracer sites and hypothalamic amino-acid labeling.</a:t>
            </a:r>
          </a:p>
          <a:p>
            <a:r>
              <a:t>Figure source: https://doi.org/10.1016/0006-8993(92)90351-9</a:t>
            </a:r>
          </a:p>
          <a:p/>
          <a:p>
            <a:r>
              <a:t>Figure: Lu et al. (1992), Fig. 6D–F. Retrogradely labeled hypothalamic cells and double-labeled neuron.</a:t>
            </a:r>
          </a:p>
          <a:p>
            <a:r>
              <a:t>Figure source: https://doi.org/10.1016/0006-8993(92)90351-9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Lu study detected aspartate-positive fibers and preterminal profiles in the dorsal PAG. **Preterminal** refers to an axonal segment approaching a terminal region. Aspartate-positive cells and retrogradely labeled cells also occurred in the medial hypothalamus.</a:t>
            </a:r>
          </a:p>
          <a:p>
            <a:r>
              <a:t>  – A scale bar indicates the physical extent represented in tissue; antibody labeling detects molecular presence rather than electrical signaling during behavior.</a:t>
            </a:r>
          </a:p>
          <a:p>
            <a:r>
              <a:t>• A neuron could carry both Fluoro-Gold from the PAG projection target and amino-acid immunoreactivity. The published tissue panels preserve 100 μm and 25 μm scale bars, distinguishing regional localization from individual cellular labeling.</a:t>
            </a:r>
          </a:p>
          <a:p>
            <a:r>
              <a:t>• These observations are compatible with an excitatory descending connection acting through PAG NMDA receptors. Amino-acid immunoreactivity alone does not prove synaptic release, and the study did not record identified synapses. The stronger interpretation depends on agreement between anatomical labeling and local pharmacological manipulation of hissing latency.</a:t>
            </a:r>
          </a:p>
          <a:p/>
          <a:p>
            <a:r>
              <a:t>References:</a:t>
            </a:r>
          </a:p>
          <a:p>
            <a:r>
              <a:t>Lu CL, Shaikh MB, Siegel A (1992). Role of NMDA receptors in hypothalamic facilitation of feline defensive rage elicited from the midbrain periaqueductal gray. Brain Research 581(1): 123-132. https://doi.org/10.1016/0006-8993(92)90351-9</a:t>
            </a:r>
          </a:p>
          <a:p>
            <a:r>
              <a:t>Bhatt S, Bhatt R, Zalcman SS, Siegel A (2008). Role of IL-1β and 5-HT2 receptors in midbrain periaqueductal gray (PAG) in potentiating defensive rage behavior in cat. Brain, Behavior, and Immunity 22(2): 224-233. https://doi.org/10.1016/j.bbi.2007.07.011</a:t>
            </a:r>
          </a:p>
          <a:p/>
          <a:p>
            <a:r>
              <a:t>Figure: Lu et al. (1992), Fig. 6A–C. PAG tracer site, aspartate-positive fibers, and hypothalamic cells.</a:t>
            </a:r>
          </a:p>
          <a:p>
            <a:r>
              <a:t>Figure source: https://doi.org/10.1016/0006-8993(92)90351-9</a:t>
            </a:r>
          </a:p>
          <a:p/>
          <a:p>
            <a:r>
              <a:t>Figure: Bhatt et al. (2008), Fig. 6A,D. PAG tissue surrounding the aqueduct and receptor labeling; 100 μm bar.</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Cheu and Siegel paired stimulation of a medial hypothalamic defensive site with stimulation of the lateral hypothalamus. **Inhibition** here means a reduction in expression of the elicited defensive response, operationalized as a longer latency to hissing.</a:t>
            </a:r>
          </a:p>
          <a:p>
            <a:r>
              <a:t>  – Medial and lateral describe positions relative to the brain’s midline; they distinguish the stimulated territories rather than two names for the same site.</a:t>
            </a:r>
          </a:p>
          <a:p>
            <a:r>
              <a:t>• With medial stimulation alone, mean latency was 7.21 s; during dual medial and lateral stimulation it was 12.28 s. These differences persisted during the saline-control observation period, rather than appearing only after a drug injection.</a:t>
            </a:r>
          </a:p>
          <a:p>
            <a:r>
              <a:t>• The result contrasts with the facilitatory medial-hypothalamic–PAG relationship. A region can influence defense by suppressing another site’s output, not only by driving a response directly. Electrical interaction establishes functional suppression but does not, by itself, identify the inhibitory transmitter or the contributing cells.</a:t>
            </a:r>
          </a:p>
          <a:p/>
          <a:p>
            <a:r>
              <a:t>References:</a:t>
            </a:r>
          </a:p>
          <a:p>
            <a:r>
              <a:t>Cheu JW, Siegel A (1998). GABA receptor mediated suppression of defensive rage behavior elicited from the medial hypothalamus of the cat: role of the lateral hypothalamus. Brain Research 783(2): 293-304. https://doi.org/10.1016/s0006-8993(97)01357-7</a:t>
            </a:r>
          </a:p>
          <a:p/>
          <a:p>
            <a:r>
              <a:t>Figure: Cheu &amp; Siegel (1998), Fig. 2. Single and dual stimulation differ in hiss latency.</a:t>
            </a:r>
          </a:p>
          <a:p>
            <a:r>
              <a:t>Figure source: https://doi.org/10.1016/s0006-8993(97)01357-7</a:t>
            </a:r>
          </a:p>
          <a:p/>
          <a:p>
            <a:r>
              <a:t>Figure: Cheu &amp; Siegel (1998), Fig. 1. Medial defensive sites and lateral suppressive sites.</a:t>
            </a:r>
          </a:p>
          <a:p>
            <a:r>
              <a:t>Figure source: https://doi.org/10.1016/s0006-8993(97)01357-7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gamma-aminobutyric acid, is an inhibitory neurotransmitter. Cheu and Siegel injected bicuculline, a GABA-A receptor antagonist, into the medial hypothalamic site while testing lateral hypothalamic suppression of defensive rage.</a:t>
            </a:r>
          </a:p>
          <a:p>
            <a:r>
              <a:t>  – GABA-A receptors are ion-channel receptors whose activation generally reduces neuronal excitation; the experiment tests their behavioral contribution without recording chloride currents.</a:t>
            </a:r>
          </a:p>
          <a:p>
            <a:r>
              <a:t>• At 60 pmol, bicuculline reduced the suppressive effect from about 73% before injection to about 15% in the early observation period. The suppression returned toward baseline by 180–200 min. A 10 pmol dose and saline did not produce the same blockade.</a:t>
            </a:r>
          </a:p>
          <a:p>
            <a:r>
              <a:t>• This local, reversible effect supports a GABA-A-dependent component of the inhibitory influence reaching the medial hypothalamus. It does not establish the pattern of GABA release during spontaneous fear. The study measured behavior after circuit stimulation rather than identified-cell firing in a natural encounter.</a:t>
            </a:r>
          </a:p>
          <a:p/>
          <a:p>
            <a:r>
              <a:t>References:</a:t>
            </a:r>
          </a:p>
          <a:p>
            <a:r>
              <a:t>Cheu JW, Siegel A (1998). GABA receptor mediated suppression of defensive rage behavior elicited from the medial hypothalamus of the cat: role of the lateral hypothalamus. Brain Research 783(2): 293-304. https://doi.org/10.1016/s0006-8993(97)01357-7</a:t>
            </a:r>
          </a:p>
          <a:p/>
          <a:p>
            <a:r>
              <a:t>Figure: Cheu &amp; Siegel (1998), Fig. 3. Bicuculline blocks lateral hypothalamic suppression.</a:t>
            </a:r>
          </a:p>
          <a:p>
            <a:r>
              <a:t>Figure source: https://doi.org/10.1016/s0006-8993(97)01357-7</a:t>
            </a:r>
          </a:p>
          <a:p/>
          <a:p>
            <a:r>
              <a:t>Figure: Cheu &amp; Siegel (1998), Fig. 9. Original medial hypothalamic tracer injection histology and localization.</a:t>
            </a:r>
          </a:p>
          <a:p>
            <a:r>
              <a:t>Figure source: https://doi.org/10.1016/s0006-8993(97)01357-7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Cheu and Siegel activated medial hypothalamic GABA-A receptors with **muscimol**, a receptor agonist, instead of stimulating the lateral inhibitory site. The question was whether local receptor activation could suppress defensive output from the target region.</a:t>
            </a:r>
          </a:p>
          <a:p>
            <a:r>
              <a:t>  – The source plot reports a change in current threshold in microamperes; a higher threshold means the same stimulation becomes less effective at eliciting the defensive response.</a:t>
            </a:r>
          </a:p>
          <a:p>
            <a:r>
              <a:t>• A 30 pmol muscimol injection increased the stimulation-current threshold by about 155 μA early after delivery. **Threshold** means the electrical current required to elicit the response. Lower doses lacked the same pronounced effect, and the increase weakened over time.</a:t>
            </a:r>
          </a:p>
          <a:p>
            <a:r>
              <a:t>• The threshold measurement differs from hissing latency at a fixed current. A stronger input was required to recruit behavior after local inhibition. This supports receptor-dependent suppression, but it does not establish a clinical treatment for fearful cats or determine how natural threat recognition recruits the circuit.</a:t>
            </a:r>
          </a:p>
          <a:p/>
          <a:p>
            <a:r>
              <a:t>References:</a:t>
            </a:r>
          </a:p>
          <a:p>
            <a:r>
              <a:t>Cheu JW, Siegel A (1998). GABA receptor mediated suppression of defensive rage behavior elicited from the medial hypothalamus of the cat: role of the lateral hypothalamus. Brain Research 783(2): 293-304. https://doi.org/10.1016/s0006-8993(97)01357-7</a:t>
            </a:r>
          </a:p>
          <a:p/>
          <a:p>
            <a:r>
              <a:t>Figure: Cheu &amp; Siegel (1998), Fig. 5. Muscimol increases the current threshold for defensive rage.</a:t>
            </a:r>
          </a:p>
          <a:p>
            <a:r>
              <a:t>Figure source: https://doi.org/10.1016/s0006-8993(97)01357-7</a:t>
            </a:r>
          </a:p>
          <a:p/>
          <a:p>
            <a:r>
              <a:t>Figure: Cheu &amp; Siegel (1998), Fig. 9. Original medial hypothalamic tracer injection histology and localization.</a:t>
            </a:r>
          </a:p>
          <a:p>
            <a:r>
              <a:t>Figure source: https://doi.org/10.1016/s0006-8993(97)01357-7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Cheu and Siegel pretreated the medial hypothalamic site with bicuculline before injecting muscimol. **Pretreatment** means applying one intervention before another to test whether the second effect depends on the blocked receptor class.</a:t>
            </a:r>
          </a:p>
          <a:p>
            <a:r>
              <a:t>  – The two drugs act in opposing directions at the same receptor class; their interaction provides a receptor-level control on the behavioral interpretation.</a:t>
            </a:r>
          </a:p>
          <a:p>
            <a:r>
              <a:t>• A 60 pmol bicuculline pretreatment opposed suppression caused by 30 pmol muscimol. The early stimulation-threshold increase was reduced by about 143 μA relative to the muscimol-plus-saline condition. A lower bicuculline dose produced a smaller reversal.</a:t>
            </a:r>
          </a:p>
          <a:p>
            <a:r>
              <a:t>• The agonist–antagonist comparison supports GABA-A receptor participation more specifically than an agonist effect alone. It reduces the likelihood that the response reflects only injected volume or an unrelated muscimol action. It does not determine which individual cells were inhibited within the injection territory.</a:t>
            </a:r>
          </a:p>
          <a:p/>
          <a:p>
            <a:r>
              <a:t>References:</a:t>
            </a:r>
          </a:p>
          <a:p>
            <a:r>
              <a:t>Cheu JW, Siegel A (1998). GABA receptor mediated suppression of defensive rage behavior elicited from the medial hypothalamus of the cat: role of the lateral hypothalamus. Brain Research 783(2): 293-304. https://doi.org/10.1016/s0006-8993(97)01357-7</a:t>
            </a:r>
          </a:p>
          <a:p/>
          <a:p>
            <a:r>
              <a:t>Figure: Cheu &amp; Siegel (1998), Fig. 6. Bicuculline pretreatment blocks muscimol suppression.</a:t>
            </a:r>
          </a:p>
          <a:p>
            <a:r>
              <a:t>Figure source: https://doi.org/10.1016/s0006-8993(97)01357-7</a:t>
            </a:r>
          </a:p>
          <a:p/>
          <a:p>
            <a:r>
              <a:t>Figure: Cheu &amp; Siegel (1998), Fig. 9. Original medial hypothalamic tracer injection histology and localization.</a:t>
            </a:r>
          </a:p>
          <a:p>
            <a:r>
              <a:t>Figure source: https://doi.org/10.1016/s0006-8993(97)01357-7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GABA-A and **GABA-B** are different receptor classes. GABA-A receptors directly gate ion-channel signaling, whereas GABA-B receptors act through intracellular signaling proteins. Cheu and Siegel compared a GABA-B agonist with the GABA-A agonist used in their medial hypothalamic experiments.</a:t>
            </a:r>
          </a:p>
          <a:p>
            <a:r>
              <a:t>  – The preparation measures a behavioral consequence of receptor activation, not the number of receptors present or their affinity for the two drugs.</a:t>
            </a:r>
          </a:p>
          <a:p>
            <a:r>
              <a:t>• Baclofen at 120 pmol did not alter the latency or current threshold for defensive rage from the tested site. This dose was four times the highest muscimol dose used in the study, which had increased the response threshold.</a:t>
            </a:r>
          </a:p>
          <a:p>
            <a:r>
              <a:t>• The contrast supports receptor-class selectivity under these experimental conditions. Equal amounts of different drugs do not imply equal receptor occupancy, so the finding does not prove that GABA-B receptors are absent or irrelevant throughout feline defensive circuitry.</a:t>
            </a:r>
          </a:p>
          <a:p/>
          <a:p>
            <a:r>
              <a:t>References:</a:t>
            </a:r>
          </a:p>
          <a:p>
            <a:r>
              <a:t>Cheu JW, Siegel A (1998). GABA receptor mediated suppression of defensive rage behavior elicited from the medial hypothalamus of the cat: role of the lateral hypothalamus. Brain Research 783(2): 293-304. https://doi.org/10.1016/s0006-8993(97)01357-7</a:t>
            </a:r>
          </a:p>
          <a:p/>
          <a:p>
            <a:r>
              <a:t>Figure: Cheu &amp; Siegel (1998), Fig. 7. Baclofen leaves hissing latency unchanged.</a:t>
            </a:r>
          </a:p>
          <a:p>
            <a:r>
              <a:t>Figure source: https://doi.org/10.1016/s0006-8993(97)01357-7</a:t>
            </a:r>
          </a:p>
          <a:p/>
          <a:p>
            <a:r>
              <a:t>Figure: Cheu &amp; Siegel (1998), Fig. 9. Original medial hypothalamic tracer injection histology and localization.</a:t>
            </a:r>
          </a:p>
          <a:p>
            <a:r>
              <a:t>Figure source: https://doi.org/10.1016/s0006-8993(97)01357-7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Local injection narrows a pharmacological intervention to a region, but diffusion can complicate localization. Cheu and Siegel tested whether muscimol’s suppressive effect extended from the medial hypothalamus into adjoining lateral hypothalamic tissue.</a:t>
            </a:r>
          </a:p>
          <a:p>
            <a:r>
              <a:t>  – An injection-site control tests whether a drug has the same consequence nearby; it does not equate pharmacological silencing with electrical stimulation of a region.</a:t>
            </a:r>
          </a:p>
          <a:p>
            <a:r>
              <a:t>• A 60 pmol muscimol injection into the lateral hypothalamus did not change the latency or threshold for defense elicited from the medial site. This dose was twice the medial dose producing pronounced suppression. Tracer injections were also checked for their anatomical extent.</a:t>
            </a:r>
          </a:p>
          <a:p>
            <a:r>
              <a:t>• The neighboring-site comparison supports regional specificity of the suppressive effect. It does not prove that all drug remained within one microscopic nucleus or that the lateral hypothalamus lacks a role in defense. Its electrical stimulation had already supplied a distinct inhibitory influence on the medial response.</a:t>
            </a:r>
          </a:p>
          <a:p/>
          <a:p>
            <a:r>
              <a:t>References:</a:t>
            </a:r>
          </a:p>
          <a:p>
            <a:r>
              <a:t>Cheu JW, Siegel A (1998). GABA receptor mediated suppression of defensive rage behavior elicited from the medial hypothalamus of the cat: role of the lateral hypothalamus. Brain Research 783(2): 293-304. https://doi.org/10.1016/s0006-8993(97)01357-7</a:t>
            </a:r>
          </a:p>
          <a:p/>
          <a:p>
            <a:r>
              <a:t>Figure: Cheu &amp; Siegel (1998), Fig. 8. Lateral hypothalamic muscimol leaves latency unchanged.</a:t>
            </a:r>
          </a:p>
          <a:p>
            <a:r>
              <a:t>Figure source: https://doi.org/10.1016/s0006-8993(97)01357-7</a:t>
            </a:r>
          </a:p>
          <a:p/>
          <a:p>
            <a:r>
              <a:t>Figure: Cheu &amp; Siegel (1998), Fig. 9. Original medial hypothalamic tracer injection histology and localization.</a:t>
            </a:r>
          </a:p>
          <a:p>
            <a:r>
              <a:t>Figure source: https://doi.org/10.1016/s0006-8993(97)01357-7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Cheu and Siegel injected Fluoro-Gold into the medial hypothalamic defensive territory and then examined retrograde labeling in the lateral hypothalamus. They combined tracing with antibody detection of GABA to identify candidate inhibitory projection neurons.</a:t>
            </a:r>
          </a:p>
          <a:p>
            <a:r>
              <a:t>  – The paired tissue views compare labeling in the same cellular territory; projection labeling and transmitter immunoreactivity answer different questions about the candidate neurons.</a:t>
            </a:r>
          </a:p>
          <a:p>
            <a:r>
              <a:t>• Some lateral neurons contained both the tracer and GABA immunoreactivity. The injection focus was approximately 0.5–0.7 mm in diameter and did not visibly extend into the lateral hypothalamus. This localization reduced the possibility that lateral labeling simply reflected contamination by the injection itself.</a:t>
            </a:r>
          </a:p>
          <a:p>
            <a:r>
              <a:t>• The anatomical result supports a lateral-to-medial GABA-associated projection. Double labeling does not measure release at a functioning synapse. Together with bicuculline blockade and muscimol suppression, it supports a candidate inhibitory pathway while leaving its activity during naturally occurring threats unresolved.</a:t>
            </a:r>
          </a:p>
          <a:p/>
          <a:p>
            <a:r>
              <a:t>References:</a:t>
            </a:r>
          </a:p>
          <a:p>
            <a:r>
              <a:t>Cheu JW, Siegel A (1998). GABA receptor mediated suppression of defensive rage behavior elicited from the medial hypothalamus of the cat: role of the lateral hypothalamus. Brain Research 783(2): 293-304. https://doi.org/10.1016/s0006-8993(97)01357-7</a:t>
            </a:r>
          </a:p>
          <a:p/>
          <a:p>
            <a:r>
              <a:t>Figure: Cheu &amp; Siegel (1998), Fig. 11A–F. GABA and tracer labeling in lateral hypothalamic neurons.</a:t>
            </a:r>
          </a:p>
          <a:p>
            <a:r>
              <a:t>Figure source: https://doi.org/10.1016/s0006-8993(97)01357-7</a:t>
            </a:r>
          </a:p>
          <a:p/>
          <a:p>
            <a:r>
              <a:t>Figure: Cheu &amp; Siegel (1998), Fig. 9. Original medial hypothalamic tracer injection histology and localization.</a:t>
            </a:r>
          </a:p>
          <a:p>
            <a:r>
              <a:t>Figure source: https://doi.org/10.1016/s0006-8993(97)01357-7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**Tonic inhibition** is continuously maintained inhibitory influence, while episodic inhibition appears when a particular input is engaged. Cheu and Siegel tested bicuculline during medial hypothalamic stimulation alone, without concurrent lateral hypothalamic stimulation.</a:t>
            </a:r>
          </a:p>
          <a:p>
            <a:r>
              <a:t>  – Failure to change baseline behavior differs from failure to block an experimentally recruited input; the same receptor can matter strongly only under the second condition.</a:t>
            </a:r>
          </a:p>
          <a:p>
            <a:r>
              <a:t>• A 60 pmol injection left baseline hissing latency essentially unchanged: about 6.62 s before injection and 6.65 s in the early post-injection period. The same intervention blocked suppression when the lateral input was activated during dual stimulation.</a:t>
            </a:r>
          </a:p>
          <a:p>
            <a:r>
              <a:t>• The contrast is consistent with an inhibitory influence recruited by the lateral stimulation rather than strong continuous inhibition in this preparation. It does not exclude spontaneous GABA signaling or establish its temporal pattern in behaving animals outside the stimulation experiment. The conclusion concerns the tested conditions and the measured response.</a:t>
            </a:r>
          </a:p>
          <a:p/>
          <a:p>
            <a:r>
              <a:t>References:</a:t>
            </a:r>
          </a:p>
          <a:p>
            <a:r>
              <a:t>Cheu JW, Siegel A (1998). GABA receptor mediated suppression of defensive rage behavior elicited from the medial hypothalamus of the cat: role of the lateral hypothalamus. Brain Research 783(2): 293-304. https://doi.org/10.1016/s0006-8993(97)01357-7</a:t>
            </a:r>
          </a:p>
          <a:p/>
          <a:p>
            <a:r>
              <a:t>Figure: Cheu &amp; Siegel (1998), Fig. 4. Bicuculline does not change single-stimulation latency.</a:t>
            </a:r>
          </a:p>
          <a:p>
            <a:r>
              <a:t>Figure source: https://doi.org/10.1016/s0006-8993(97)01357-7</a:t>
            </a:r>
          </a:p>
          <a:p/>
          <a:p>
            <a:r>
              <a:t>Figure: Cheu &amp; Siegel (1998), Fig. 9. Original medial hypothalamic tracer injection histology and localization.</a:t>
            </a:r>
          </a:p>
          <a:p>
            <a:r>
              <a:t>Figure source: https://doi.org/10.1016/s0006-8993(97)01357-7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**cytokine** is a signaling protein involved in immune and cellular communication. Bhatt and colleagues injected interleukin-1β, or IL-1β, into PAG sites while eliciting defensive hissing through the experimentally identified hypothalamic–PAG circuit.</a:t>
            </a:r>
          </a:p>
          <a:p>
            <a:r>
              <a:t>  – The direction and duration of the behavioral change are measured directly; the endogenous source and release pattern of the cytokine remain separate questions.</a:t>
            </a:r>
          </a:p>
          <a:p>
            <a:r>
              <a:t>• A 5 ng injection produced maximal facilitation at about 60 min, corresponding to roughly a 42% reduction in hissing latency. The effect declined over subsequent observations but remained detectable at 180 min. Saline and the lowest tested dose lacked comparable facilitation.</a:t>
            </a:r>
          </a:p>
          <a:p>
            <a:r>
              <a:t>• The result establishes that local cytokine delivery can modulate a defensive response. It does not establish that infection invariably increases aggression or that the administered amount equals endogenous release during natural fear. The intervention tests one molecule at one identified circuit site.</a:t>
            </a:r>
          </a:p>
          <a:p/>
          <a:p>
            <a:r>
              <a:t>References:</a:t>
            </a:r>
          </a:p>
          <a:p>
            <a:r>
              <a:t>Bhatt S, Bhatt R, Zalcman SS, Siegel A (2008). Role of IL-1β and 5-HT2 receptors in midbrain periaqueductal gray (PAG) in potentiating defensive rage behavior in cat. Brain, Behavior, and Immunity 22(2): 224-233. https://doi.org/10.1016/j.bbi.2007.07.011</a:t>
            </a:r>
          </a:p>
          <a:p/>
          <a:p>
            <a:r>
              <a:t>Figure: Bhatt et al. (2008), Fig. 3. PAG IL-1β dose and time dependence of hissing facilitation.</a:t>
            </a:r>
          </a:p>
          <a:p>
            <a:r>
              <a:t>Figure source: https://doi.org/10.1016/j.bbi.2007.07.011</a:t>
            </a:r>
          </a:p>
          <a:p/>
          <a:p>
            <a:r>
              <a:t>Figure: Bhatt et al. (2008), Fig. 6A–E. Original PAG receptor labeling and antibody validation.</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Bhatt and colleagues pretreated a PAG defensive site with an antibody against the type-I IL-1 receptor before injecting IL-1β. A **receptor antibody** can interfere with the interaction between a signaling molecule and its receptor.</a:t>
            </a:r>
          </a:p>
          <a:p>
            <a:r>
              <a:t>  – Receptor dependence concerns the cytokine-evoked modulation; the baseline defensive response and the additional facilitation are distinct outcomes.</a:t>
            </a:r>
          </a:p>
          <a:p>
            <a:r>
              <a:t>• Pretreatment 5 min before cytokine delivery blocked the facilitatory reduction in hissing latency. The receptor antibody alone did not appreciably change the baseline response. Thus, preventing the cytokine effect did not require eliminating electrically elicited hissing altogether.</a:t>
            </a:r>
          </a:p>
          <a:p>
            <a:r>
              <a:t>• The comparison supports involvement of the targeted IL-1 receptor in the administered cytokine’s action. It does not identify whether the behavioral effect arises directly in the recorded defensive neurons, indirectly through neighboring cells, or through a specific intracellular cascade. No identified-neuron recording was performed in this experiment.</a:t>
            </a:r>
          </a:p>
          <a:p/>
          <a:p>
            <a:r>
              <a:t>References:</a:t>
            </a:r>
          </a:p>
          <a:p>
            <a:r>
              <a:t>Bhatt S, Bhatt R, Zalcman SS, Siegel A (2008). Role of IL-1β and 5-HT2 receptors in midbrain periaqueductal gray (PAG) in potentiating defensive rage behavior in cat. Brain, Behavior, and Immunity 22(2): 224-233. https://doi.org/10.1016/j.bbi.2007.07.011</a:t>
            </a:r>
          </a:p>
          <a:p/>
          <a:p>
            <a:r>
              <a:t>Figure: Bhatt et al. (2008), Fig. 4a. IL-1 receptor antibody blocks cytokine facilitation.</a:t>
            </a:r>
          </a:p>
          <a:p>
            <a:r>
              <a:t>Figure source: https://doi.org/10.1016/j.bbi.2007.07.011</a:t>
            </a:r>
          </a:p>
          <a:p/>
          <a:p>
            <a:r>
              <a:t>Figure: Bhatt et al. (2008), Fig. 6A–E. Original PAG receptor labeling and antibody validation.</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**isotype control** is an antibody of a comparable class that does not target the experimental receptor. Bhatt and colleagues used IgG2a to test whether antibody delivery alone nonspecifically prevented IL-1β from facilitating defensive rage.</a:t>
            </a:r>
          </a:p>
          <a:p>
            <a:r>
              <a:t>  – A molecule can have effects because it is an antibody preparation or because it binds a particular target; the control distinguishes these possibilities experimentally.</a:t>
            </a:r>
          </a:p>
          <a:p>
            <a:r>
              <a:t>• The control antibody did not block facilitation after 5 ng IL-1β, and it did not appreciably alter baseline hissing when administered alone. The same 30–180 min observation windows were used to follow the cytokine effect across the treatment conditions.</a:t>
            </a:r>
          </a:p>
          <a:p>
            <a:r>
              <a:t>• This result strengthens the receptor-specific interpretation of the blocking antibody experiment. It does not establish absolute specificity for every molecular interaction, nor does it replace a direct measurement of receptor signaling. A comparison between targeting and control antibodies addresses a different confound from comparing cytokine with saline.</a:t>
            </a:r>
          </a:p>
          <a:p/>
          <a:p>
            <a:r>
              <a:t>References:</a:t>
            </a:r>
          </a:p>
          <a:p>
            <a:r>
              <a:t>Bhatt S, Bhatt R, Zalcman SS, Siegel A (2008). Role of IL-1β and 5-HT2 receptors in midbrain periaqueductal gray (PAG) in potentiating defensive rage behavior in cat. Brain, Behavior, and Immunity 22(2): 224-233. https://doi.org/10.1016/j.bbi.2007.07.011</a:t>
            </a:r>
          </a:p>
          <a:p/>
          <a:p>
            <a:r>
              <a:t>Figure: Bhatt et al. (2008), Fig. 4b. Isotype antibody does not block cytokine facilitation.</a:t>
            </a:r>
          </a:p>
          <a:p>
            <a:r>
              <a:t>Figure source: https://doi.org/10.1016/j.bbi.2007.07.011</a:t>
            </a:r>
          </a:p>
          <a:p/>
          <a:p>
            <a:r>
              <a:t>Figure: Bhatt et al. (2008), Fig. 6A–E. Original PAG receptor labeling and antibody validation.</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**Serotonin**, also called 5-HT, is a neuromodulator with multiple receptor classes. Bhatt and colleagues pretreated the PAG site with LY53857, a 5-HT2 receptor antagonist, before administering IL-1β during defensive-hissing experiments.</a:t>
            </a:r>
          </a:p>
          <a:p>
            <a:r>
              <a:t>  – The authors’ receptor staining and antagonist experiment are complementary; receptor presence alone would not establish its contribution to the behavioral modulation.</a:t>
            </a:r>
          </a:p>
          <a:p>
            <a:r>
              <a:t>• The antagonist prevented the latency reduction normally produced by 5 ng IL-1β. Antagonist delivery alone did not appreciably alter baseline hissing. The comparison supports serotonin-receptor participation in the cytokine-dependent increase in circuit responsiveness.</a:t>
            </a:r>
          </a:p>
          <a:p>
            <a:r>
              <a:t>• The tissue study labeled 5-HT2C receptors, but the behavioral pharmacology does not isolate every receptor subtype or the precise cellular interaction. A **neuromodulator** changes how a circuit responds to other inputs; the experiment supports such an interaction without directly measuring serotonin release, intracellular signaling, or the activity of identified PAG neurons.</a:t>
            </a:r>
          </a:p>
          <a:p/>
          <a:p>
            <a:r>
              <a:t>References:</a:t>
            </a:r>
          </a:p>
          <a:p>
            <a:r>
              <a:t>Bhatt S, Bhatt R, Zalcman SS, Siegel A (2008). Role of IL-1β and 5-HT2 receptors in midbrain periaqueductal gray (PAG) in potentiating defensive rage behavior in cat. Brain, Behavior, and Immunity 22(2): 224-233. https://doi.org/10.1016/j.bbi.2007.07.011</a:t>
            </a:r>
          </a:p>
          <a:p/>
          <a:p>
            <a:r>
              <a:t>Figure: Bhatt et al. (2008), Fig. 5a. Serotonin receptor blockade prevents IL-1β facilitation.</a:t>
            </a:r>
          </a:p>
          <a:p>
            <a:r>
              <a:t>Figure source: https://doi.org/10.1016/j.bbi.2007.07.011</a:t>
            </a:r>
          </a:p>
          <a:p/>
          <a:p>
            <a:r>
              <a:t>Figure: Bhatt et al. (2008), Fig. 6A–E. Original PAG receptor labeling and antibody validation.</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Bhatt and colleagues compared 5-HT2 blockade with blockade of NK-1 and CCKb receptors at the PAG site. **NK-1** is a receptor for substance P, and **CCKb** is a cholecystokinin receptor; both were candidate modulatory receptor classes in this preparation.</a:t>
            </a:r>
          </a:p>
          <a:p>
            <a:r>
              <a:t>  – A receptor may be capable of influencing the behavior yet unnecessary for the effect of one specific modulator; these are different causal claims.</a:t>
            </a:r>
          </a:p>
          <a:p>
            <a:r>
              <a:t>• GR82334 and CR2945 did not prevent the facilitation caused by 5 ng IL-1β during the tested observation period. These compounds also lacked an appreciable effect on baseline hissing when administered alone, unlike the selective loss of cytokine facilitation after 5-HT2 blockade.</a:t>
            </a:r>
          </a:p>
          <a:p>
            <a:r>
              <a:t>• The comparison narrows the candidate receptor interaction rather than proving that the other signaling systems never influence defense. Their contribution could depend on other inputs or conditions. The result concerns IL-1β-mediated facilitation at the tested PAG sites and doses.</a:t>
            </a:r>
          </a:p>
          <a:p/>
          <a:p>
            <a:r>
              <a:t>References:</a:t>
            </a:r>
          </a:p>
          <a:p>
            <a:r>
              <a:t>Bhatt S, Bhatt R, Zalcman SS, Siegel A (2008). Role of IL-1β and 5-HT2 receptors in midbrain periaqueductal gray (PAG) in potentiating defensive rage behavior in cat. Brain, Behavior, and Immunity 22(2): 224-233. https://doi.org/10.1016/j.bbi.2007.07.011</a:t>
            </a:r>
          </a:p>
          <a:p/>
          <a:p>
            <a:r>
              <a:t>Figure: Bhatt et al. (2008), Fig. 5b,c. NK-1 and CCKb blockade leave cytokine facilitation intact.</a:t>
            </a:r>
          </a:p>
          <a:p>
            <a:r>
              <a:t>Figure source: https://doi.org/10.1016/j.bbi.2007.07.011</a:t>
            </a:r>
          </a:p>
          <a:p/>
          <a:p>
            <a:r>
              <a:t>Figure: Bhatt et al. (2008), Fig. 6A,D. PAG tissue surrounding the aqueduct and receptor labeling; 100 μm bar.</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Bhatt and colleagues used **immunocytochemistry**, antibody-based molecular labeling, to examine IL-1 and serotonin receptors in PAG tissue. IL-1 receptor labeling was stronger in dorsal PAG than in ventral PAG, while 5-HT2C labeling was distributed through the examined PAG region.</a:t>
            </a:r>
          </a:p>
          <a:p>
            <a:r>
              <a:t>  – A kilodalton is a unit of molecular mass; the blot supports antibody recognition of proteins near expected masses without measuring signaling during a defensive episode.</a:t>
            </a:r>
          </a:p>
          <a:p>
            <a:r>
              <a:t>• The published fluorescence panels preserve the original green and red labels and a 100 μm scale bar. Western blotting, which separates proteins before antibody detection, identified bands near 88 kDa for IL-1R1 and 47 kDa for 5-HT2C.</a:t>
            </a:r>
          </a:p>
          <a:p>
            <a:r>
              <a:t>• Anatomical presence is compatible with the pharmacological effects on hissing latency. It does not establish that the two receptors occur on the same behaviorally active cell or that one directly controls the other. Colocalization and functional coupling require additional cell-specific evidence.</a:t>
            </a:r>
          </a:p>
          <a:p/>
          <a:p>
            <a:r>
              <a:t>References:</a:t>
            </a:r>
          </a:p>
          <a:p>
            <a:r>
              <a:t>Bhatt S, Bhatt R, Zalcman SS, Siegel A (2008). Role of IL-1β and 5-HT2 receptors in midbrain periaqueductal gray (PAG) in potentiating defensive rage behavior in cat. Brain, Behavior, and Immunity 22(2): 224-233. https://doi.org/10.1016/j.bbi.2007.07.011</a:t>
            </a:r>
          </a:p>
          <a:p/>
          <a:p>
            <a:r>
              <a:t>Figure: Bhatt et al. (2008), Fig. 6A–E. Original PAG receptor labeling and antibody validation.</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**Lipopolysaccharide**, or LPS, is a bacterial cell-wall component used experimentally to provoke an immune response. Bhatt and colleagues administered peripheral LPS at 50 μg/kg and measured PAG-elicited defensive hissing over subsequent hours.</a:t>
            </a:r>
          </a:p>
          <a:p>
            <a:r>
              <a:t>  – The source reports temperature in degrees Fahrenheit; the temporal comparison concerns when defensive suppression and the largest temperature increase appeared.</a:t>
            </a:r>
          </a:p>
          <a:p>
            <a:r>
              <a:t>• Hissing latency increased beginning about 60 min after injection. Body temperature rose more strongly later, reaching about 105 °F at 120 min. Local medial hypothalamic delivery of 5 ng LPS did not reproduce the peripheral effect.</a:t>
            </a:r>
          </a:p>
          <a:p>
            <a:r>
              <a:t>• The contrast supports an indirect influence of peripheral immune activation rather than the same effect of local LPS delivery at the tested site. The timing weakens a simple explanation based only on peak fever, but it does not establish an absence of all sickness-related changes or subjective discomfort.</a:t>
            </a:r>
          </a:p>
          <a:p/>
          <a:p>
            <a:r>
              <a:t>References:</a:t>
            </a:r>
          </a:p>
          <a:p>
            <a:r>
              <a:t>Bhatt S, Bhatt RS, Zalcman SS, Siegel A (2009). Peripheral and central mediators of lipopolysaccharide induced suppression of defensive rage behavior in the cat. Neuroscience 163(4): 1002-1011. https://doi.org/10.1016/j.neuroscience.2009.07.050</a:t>
            </a:r>
          </a:p>
          <a:p/>
          <a:p>
            <a:r>
              <a:t>Figure: Bhatt et al. (2009), Fig. 2A–C. Peripheral LPS, fever, and local LPS have different effects.</a:t>
            </a:r>
          </a:p>
          <a:p>
            <a:r>
              <a:t>Figure source: https://doi.org/10.1016/j.neuroscience.2009.07.050</a:t>
            </a:r>
          </a:p>
          <a:p/>
          <a:p>
            <a:r>
              <a:t>Figure: Bhatt et al. (2009), Fig. 1A,B. PAG and hypothalamic sites with original anatomical sections.</a:t>
            </a:r>
          </a:p>
          <a:p>
            <a:r>
              <a:t>Figure source: https://doi.org/10.1016/j.neuroscience.2009.07.050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**Tumor necrosis factor**, or TNF, is a cytokine involved in immune signaling. Bhatt and colleagues tested whether peripheral cytokine neutralization could prevent the change in PAG-elicited defensive hissing following LPS challenge.</a:t>
            </a:r>
          </a:p>
          <a:p>
            <a:r>
              <a:t>  – Neutralizing a peripheral mediator and blocking a central receptor intervene at different points; the behavioral effects should not be assigned to one undifferentiated immune pathway.</a:t>
            </a:r>
          </a:p>
          <a:p>
            <a:r>
              <a:t>• An anti-TNF antibody given 5 min before LPS blocked both the increase in hissing latency and the temperature rise. In contrast, the tested anti-IL-1 intervention did not prevent either effect. Antibody-alone conditions provided baseline comparisons over the same observation schedule.</a:t>
            </a:r>
          </a:p>
          <a:p>
            <a:r>
              <a:t>• The result supports a peripheral TNF-dependent component of the LPS effect. It does not establish the entire route by which peripheral signaling reaches the brain or identify all participating cells. Cytokine actions differ with administration site and biological context; local PAG IL-1β facilitation is not equivalent to systemic immune challenge.</a:t>
            </a:r>
          </a:p>
          <a:p/>
          <a:p>
            <a:r>
              <a:t>References:</a:t>
            </a:r>
          </a:p>
          <a:p>
            <a:r>
              <a:t>Bhatt S, Bhatt RS, Zalcman SS, Siegel A (2009). Peripheral and central mediators of lipopolysaccharide induced suppression of defensive rage behavior in the cat. Neuroscience 163(4): 1002-1011. https://doi.org/10.1016/j.neuroscience.2009.07.050</a:t>
            </a:r>
          </a:p>
          <a:p>
            <a:r>
              <a:t>Bhatt S, Bhatt R, Zalcman SS, Siegel A (2008). Role of IL-1β and 5-HT2 receptors in midbrain periaqueductal gray (PAG) in potentiating defensive rage behavior in cat. Brain, Behavior, and Immunity 22(2): 224-233. https://doi.org/10.1016/j.bbi.2007.07.011</a:t>
            </a:r>
          </a:p>
          <a:p/>
          <a:p>
            <a:r>
              <a:t>Figure: Bhatt et al. (2009), Fig. 3A–D. Peripheral TNF neutralization blocks LPS effects.</a:t>
            </a:r>
          </a:p>
          <a:p>
            <a:r>
              <a:t>Figure source: https://doi.org/10.1016/j.neuroscience.2009.07.050</a:t>
            </a:r>
          </a:p>
          <a:p/>
          <a:p>
            <a:r>
              <a:t>Figure: Bhatt et al. (2008), Fig. 6A,D. PAG tissue surrounding the aqueduct and receptor labeling; 100 μm bar.</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**Prostaglandin E2**, or PGE2, is a lipid signaling molecule associated with inflammatory responses. Bhatt and colleagues injected the antagonist SC19220 into medial hypothalamic defensive sites before administering peripheral LPS.</a:t>
            </a:r>
          </a:p>
          <a:p>
            <a:r>
              <a:t>  – The source’s methods, results, and discussion do not consistently name the same EP subtype; assigning one subtype as an established mechanism would exceed the evidence.</a:t>
            </a:r>
          </a:p>
          <a:p>
            <a:r>
              <a:t>• The pretreatment opposed the LPS-induced increase in hissing latency for about 180 min, with weakening blockade later. Local anti-TNF treatment did not produce the same protection, despite the effectiveness of peripheral TNF neutralization in a separate experiment.</a:t>
            </a:r>
          </a:p>
          <a:p>
            <a:r>
              <a:t>• These interventions support different peripheral and central steps in immune-dependent defensive modulation. The article uses inconsistent prostaglandin-receptor subtype terminology, so the subtype assignment remains uncertain. The data support involvement of prostaglandin-sensitive signaling under the tested conditions, without resolving a complete molecular pathway from immune activation to neuronal inhibition.</a:t>
            </a:r>
          </a:p>
          <a:p/>
          <a:p>
            <a:r>
              <a:t>References:</a:t>
            </a:r>
          </a:p>
          <a:p>
            <a:r>
              <a:t>Bhatt S, Bhatt RS, Zalcman SS, Siegel A (2009). Peripheral and central mediators of lipopolysaccharide induced suppression of defensive rage behavior in the cat. Neuroscience 163(4): 1002-1011. https://doi.org/10.1016/j.neuroscience.2009.07.050</a:t>
            </a:r>
          </a:p>
          <a:p/>
          <a:p>
            <a:r>
              <a:t>Figure: Bhatt et al. (2009), Fig. 4B. Hypothalamic prostaglandin blockade opposes LPS suppression.</a:t>
            </a:r>
          </a:p>
          <a:p>
            <a:r>
              <a:t>Figure source: https://doi.org/10.1016/j.neuroscience.2009.07.050</a:t>
            </a:r>
          </a:p>
          <a:p/>
          <a:p>
            <a:r>
              <a:t>Figure: Bhatt et al. (2009), Fig. 1A,B. PAG and hypothalamic sites with original anatomical sections.</a:t>
            </a:r>
          </a:p>
          <a:p>
            <a:r>
              <a:t>Figure source: https://doi.org/10.1016/j.neuroscience.2009.07.050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**5-HT1A** is a serotonin receptor class distinct from the 5-HT2 receptors implicated in local PAG cytokine facilitation. Bhatt and colleagues injected the 5-HT1A antagonist p-MPPI into medial hypothalamic defensive sites before peripheral LPS challenge.</a:t>
            </a:r>
          </a:p>
          <a:p>
            <a:r>
              <a:t>  – Site, receptor class, and biological state all differ between the two experiments; the opposite behavioral directions do not contradict each other.</a:t>
            </a:r>
          </a:p>
          <a:p>
            <a:r>
              <a:t>• A 12 nmol injection in 0.5 μl prevented the prolonged increase in hissing latency produced by LPS. Antagonist-alone treatment did not appreciably alter the baseline response. This contrasts with 5-HT2-dependent facilitation after direct IL-1β administration in the PAG.</a:t>
            </a:r>
          </a:p>
          <a:p>
            <a:r>
              <a:t>• The findings support context-dependent serotonin modulation at different sites and receptor classes. They do not establish that serotonin uniformly promotes or uniformly suppresses fear. The LPS experiment measured an evoked defensive response without recording receptor-bearing neurons or the serotonin concentration reaching them.</a:t>
            </a:r>
          </a:p>
          <a:p/>
          <a:p>
            <a:r>
              <a:t>References:</a:t>
            </a:r>
          </a:p>
          <a:p>
            <a:r>
              <a:t>Bhatt S, Bhatt RS, Zalcman SS, Siegel A (2009). Peripheral and central mediators of lipopolysaccharide induced suppression of defensive rage behavior in the cat. Neuroscience 163(4): 1002-1011. https://doi.org/10.1016/j.neuroscience.2009.07.050</a:t>
            </a:r>
          </a:p>
          <a:p/>
          <a:p>
            <a:r>
              <a:t>Figure: Bhatt et al. (2009), Fig. 4C. Hypothalamic serotonin blockade opposes LPS suppression.</a:t>
            </a:r>
          </a:p>
          <a:p>
            <a:r>
              <a:t>Figure source: https://doi.org/10.1016/j.neuroscience.2009.07.050</a:t>
            </a:r>
          </a:p>
          <a:p/>
          <a:p>
            <a:r>
              <a:t>Figure: Bhatt et al. (2009), Fig. 1A,B. PAG and hypothalamic sites with original anatomical sections.</a:t>
            </a:r>
          </a:p>
          <a:p>
            <a:r>
              <a:t>Figure source: https://doi.org/10.1016/j.neuroscience.2009.07.050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Bhatt and colleagues compared LPS effects on defensive hissing with effects on head turning elicited by midbrain stimulation. **Motor control** here means a comparison response used to test whether the animal simply lost the capacity to move or respond to stimulation.</a:t>
            </a:r>
          </a:p>
          <a:p>
            <a:r>
              <a:t>  – One spared motor behavior cannot establish that every other behavior is unaffected; it supplies a specific control against a general loss of movement.</a:t>
            </a:r>
          </a:p>
          <a:p>
            <a:r>
              <a:t>• Across the 300 min observation period, LPS prolonged defensive-response latency but did not appreciably change head-turning latency. The tested motor response therefore remained available while defensive output was suppressed under the same immune challenge.</a:t>
            </a:r>
          </a:p>
          <a:p>
            <a:r>
              <a:t>• This comparison weakens a nonspecific paralysis or broad motor-failure explanation. It does not exclude changes in motivation, other movements, sensory processing, or sickness state. A preserved comparison behavior narrows interpretation of the affected response without proving that the manipulation acts exclusively on a single defensive circuit.</a:t>
            </a:r>
          </a:p>
          <a:p/>
          <a:p>
            <a:r>
              <a:t>References:</a:t>
            </a:r>
          </a:p>
          <a:p>
            <a:r>
              <a:t>Bhatt S, Bhatt RS, Zalcman SS, Siegel A (2009). Peripheral and central mediators of lipopolysaccharide induced suppression of defensive rage behavior in the cat. Neuroscience 163(4): 1002-1011. https://doi.org/10.1016/j.neuroscience.2009.07.050</a:t>
            </a:r>
          </a:p>
          <a:p>
            <a:r>
              <a:t>Bhatt S, Bhatt R, Zalcman SS, Siegel A (2008). Role of IL-1β and 5-HT2 receptors in midbrain periaqueductal gray (PAG) in potentiating defensive rage behavior in cat. Brain, Behavior, and Immunity 22(2): 224-233. https://doi.org/10.1016/j.bbi.2007.07.011</a:t>
            </a:r>
          </a:p>
          <a:p/>
          <a:p>
            <a:r>
              <a:t>Figure: Bhatt et al. (2009), Fig. 5. LPS suppresses hissing but spares elicited head turning.</a:t>
            </a:r>
          </a:p>
          <a:p>
            <a:r>
              <a:t>Figure source: https://doi.org/10.1016/j.neuroscience.2009.07.050</a:t>
            </a:r>
          </a:p>
          <a:p/>
          <a:p>
            <a:r>
              <a:t>Figure: Bhatt et al. (2008), Fig. 6A,D. PAG tissue surrounding the aqueduct and receptor labeling; 100 μm bar.</a:t>
            </a:r>
          </a:p>
          <a:p>
            <a:r>
              <a:t>Figure source: https://doi.org/10.1016/j.bbi.2007.07.011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**Concealment** allows an animal to remain visually sheltered from its surroundings. Van der Leij and colleagues randomly assigned shelter cats to quarantine cages with or without cardboard hiding boxes measuring 44 × 31 × 26 cm.</a:t>
            </a:r>
          </a:p>
          <a:p>
            <a:r>
              <a:t>  – Random assignment tests the effect of providing a box; it is stronger causal evidence for that environmental intervention than an association between hiding and stress alone.</a:t>
            </a:r>
          </a:p>
          <a:p>
            <a:r>
              <a:t>• Cats with boxes reached a relatively stable behavioral stress score by Day 2, compared with Day 9 in the control group. Both groups experienced the shelter quarantine environment and comparable daily care, allowing the available hiding space to be tested as an environmental intervention.</a:t>
            </a:r>
          </a:p>
          <a:p>
            <a:r>
              <a:t>• The result supports faster recovery of observable stress-related behavior when concealment is available. It does not identify the neural mechanism or establish that the cats experienced no fear. Environmental changes can alter defensive expression without requiring pharmacological manipulation of a receptor.</a:t>
            </a:r>
          </a:p>
          <a:p/>
          <a:p>
            <a:r>
              <a:t>References:</a:t>
            </a:r>
          </a:p>
          <a:p>
            <a:r>
              <a:t>van der Leij WJR, Selman LDAM, Vernooij JCM, Vinke CM (2019). The effect of a hiding box on stress levels and body weight in Dutch shelter cats; a randomized controlled trial. PLOS ONE 14(10): e0223492. https://doi.org/10.1371/journal.pone.0223492</a:t>
            </a:r>
          </a:p>
          <a:p/>
          <a:p>
            <a:r>
              <a:t>Figure: van der Leij et al. (2019), Fig. 1. Individual Cat-Stress-Score trajectories with and without hiding boxes.</a:t>
            </a:r>
          </a:p>
          <a:p>
            <a:r>
              <a:t>Figure source: https://doi.org/10.1371/journal.pone.0223492</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shelter study used the **Cat-Stress-Score**, a standardized assessment of posture and behavior. Cats were video-recorded for 20 min on observation days, with repeated samples contributing to each daily score during the 12-day quarantine period.</a:t>
            </a:r>
          </a:p>
          <a:p>
            <a:r>
              <a:t>  – Repeated observations distinguish a change through time from a single calm-looking moment; the scoring procedure still depends on which behaviors remain observable.</a:t>
            </a:r>
          </a:p>
          <a:p>
            <a:r>
              <a:t>• The hiding-box group had lower stress scores after the first observation day and reached stability sooner. Scoring retained each animal’s trajectory, rather than assuming identical recovery for every cat. Individual differences persisted within both housing conditions.</a:t>
            </a:r>
          </a:p>
          <a:p>
            <a:r>
              <a:t>• A behavioral score operationalizes visible responses; it is not a direct assay of a stress hormone or neuronal activity. Concealment also changes observation conditions, and some features can become harder to see. The reported benefit therefore concerns the measured behavioral adaptation under the study’s housing and scoring procedures.</a:t>
            </a:r>
          </a:p>
          <a:p/>
          <a:p>
            <a:r>
              <a:t>References:</a:t>
            </a:r>
          </a:p>
          <a:p>
            <a:r>
              <a:t>van der Leij WJR, Selman LDAM, Vernooij JCM, Vinke CM (2019). The effect of a hiding box on stress levels and body weight in Dutch shelter cats; a randomized controlled trial. PLOS ONE 14(10): e0223492. https://doi.org/10.1371/journal.pone.0223492</a:t>
            </a:r>
          </a:p>
          <a:p/>
          <a:p>
            <a:r>
              <a:t>Figure: van der Leij et al. (2019), Fig. 1. Individual Cat-Stress-Score trajectories with and without hiding boxes.</a:t>
            </a:r>
          </a:p>
          <a:p>
            <a:r>
              <a:t>Figure source: https://doi.org/10.1371/journal.pone.0223492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Van der Leij and colleagues measured body weight at intake and during quarantine as an outcome separate from the behavioral stress score. A hiding box accelerated behavioral recovery, but it did not reliably prevent weight loss over the 12-day study.</a:t>
            </a:r>
          </a:p>
          <a:p>
            <a:r>
              <a:t>  – Behavior and physical condition are distinct outcomes; an intervention can improve one while leaving another unresolved.</a:t>
            </a:r>
          </a:p>
          <a:p>
            <a:r>
              <a:t>• Control cats lost about 7.7% of initial body weight, while cats with boxes lost about 6.3%. The difference between housing groups was not reliably established. Food was provided under a standardized regime, but individual daily food intake was not monitored.</a:t>
            </a:r>
          </a:p>
          <a:p>
            <a:r>
              <a:t>• The divergence limits an inference that calmer behavior means every aspect of welfare has recovered. Body weight can reflect feeding and health as well as stress. Neither weight change nor posture alone identifies a specific neural circuit or establishes the animal’s complete internal state.</a:t>
            </a:r>
          </a:p>
          <a:p/>
          <a:p>
            <a:r>
              <a:t>References:</a:t>
            </a:r>
          </a:p>
          <a:p>
            <a:r>
              <a:t>van der Leij WJR, Selman LDAM, Vernooij JCM, Vinke CM (2019). The effect of a hiding box on stress levels and body weight in Dutch shelter cats; a randomized controlled trial. PLOS ONE 14(10): e0223492. https://doi.org/10.1371/journal.pone.0223492</a:t>
            </a:r>
          </a:p>
          <a:p/>
          <a:p>
            <a:r>
              <a:t>Figure: van der Leij et al. (2019), Fig. 2. Individual body-weight changes during shelter quarantine.</a:t>
            </a:r>
          </a:p>
          <a:p>
            <a:r>
              <a:t>Figure source: https://doi.org/10.1371/journal.pone.0223492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Somppi S, Törnqvist H, Kujala MV, Hänninen L, Krause CM, Vainio O (2016). Dogs Evaluate Threatening Facial Expressions by Their Biological Validity – Evidence from Gazing Patterns. PLOS ONE 11(1): e0143047. https://doi.org/10.1371/journal.pone.0143047</a:t>
            </a:r>
          </a:p>
          <a:p/>
          <a:p>
            <a:r>
              <a:t>Quaranta A, d’Ingeo S, Amoruso R, Siniscalchi M (2020). Emotion Recognition in Cats. Animals 10(7): 1107. https://doi.org/10.3390/ani10071107</a:t>
            </a:r>
          </a:p>
          <a:p/>
          <a:p>
            <a:r>
              <a:t>Salonen M, Sulkama S, Mikkola S, Puurunen J, Hakanen E, Tiira K, Araujo C, Lohi H (2020). Prevalence, comorbidity, and breed differences in canine anxiety in 13,700 Finnish pet dogs. Scientific Reports 10(1): 2962. https://doi.org/10.1038/s41598-020-59837-z</a:t>
            </a:r>
          </a:p>
          <a:p/>
          <a:p>
            <a:r>
              <a:t>van der Leij WJR, Selman LDAM, Vernooij JCM, Vinke CM (2019). The effect of a hiding box on stress levels and body weight in Dutch shelter cats; a randomized controlled trial. PLOS ONE 14(10): e0223492. https://doi.org/10.1371/journal.pone.0223492</a:t>
            </a:r>
          </a:p>
          <a:p/>
          <a:p>
            <a:r>
              <a:t>Lu CL, Shaikh MB, Siegel A (1992). Role of NMDA receptors in hypothalamic facilitation of feline defensive rage elicited from the midbrain periaqueductal gray. Brain Research 581(1): 123-132. https://doi.org/10.1016/0006-8993(92)90351-9</a:t>
            </a:r>
          </a:p>
          <a:p/>
          <a:p>
            <a:r>
              <a:t>Cheu JW, Siegel A (1998). GABA receptor mediated suppression of defensive rage behavior elicited from the medial hypothalamus of the cat: role of the lateral hypothalamus. Brain Research 783(2): 293-304. https://doi.org/10.1016/s0006-8993(97)01357-7</a:t>
            </a:r>
          </a:p>
          <a:p/>
          <a:p>
            <a:r>
              <a:t>Bhatt S, Bhatt R, Zalcman SS, Siegel A (2008). Role of IL-1β and 5-HT2 receptors in midbrain periaqueductal gray (PAG) in potentiating defensive rage behavior in cat. Brain, Behavior, and Immunity 22(2): 224-233. https://doi.org/10.1016/j.bbi.2007.07.011</a:t>
            </a:r>
          </a:p>
          <a:p/>
          <a:p>
            <a:r>
              <a:t>Bhatt S, Bhatt RS, Zalcman SS, Siegel A (2009). Peripheral and central mediators of lipopolysaccharide induced suppression of defensive rage behavior in the cat. Neuroscience 163(4): 1002-1011. https://doi.org/10.1016/j.neuroscience.2009.07.050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4.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4.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4.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4.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4.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4.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3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3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6A7A86"/>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FFFFFF"/>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FFFFFF"/>
                </a:solidFill>
                <a:latin typeface="Arial"/>
              </a:rPr>
              <a:t>Lecture 54</a:t>
            </a:r>
          </a:p>
        </p:txBody>
      </p:sp>
      <p:sp>
        <p:nvSpPr>
          <p:cNvPr id="5" name="Lecture title"/>
          <p:cNvSpPr txBox="1"/>
          <p:nvPr/>
        </p:nvSpPr>
        <p:spPr>
          <a:xfrm>
            <a:off x="685800" y="2331720"/>
            <a:ext cx="4724247" cy="2194560"/>
          </a:xfrm>
          <a:prstGeom prst="rect">
            <a:avLst/>
          </a:prstGeom>
          <a:noFill/>
        </p:spPr>
        <p:txBody>
          <a:bodyPr wrap="square" lIns="0" rIns="0" tIns="0" bIns="0">
            <a:spAutoFit/>
          </a:bodyPr>
          <a:lstStyle/>
          <a:p>
            <a:pPr algn="l">
              <a:lnSpc>
                <a:spcPct val="108000"/>
              </a:lnSpc>
              <a:spcAft>
                <a:spcPts val="0"/>
              </a:spcAft>
            </a:pPr>
            <a:r>
              <a:rPr sz="2800" b="1" i="0">
                <a:solidFill>
                  <a:srgbClr val="FFFFFF"/>
                </a:solidFill>
                <a:latin typeface="Arial"/>
              </a:rPr>
              <a:t>Fear in dogs and cats:</a:t>
            </a:r>
          </a:p>
          <a:p>
            <a:pPr algn="l">
              <a:lnSpc>
                <a:spcPct val="108000"/>
              </a:lnSpc>
              <a:spcAft>
                <a:spcPts val="0"/>
              </a:spcAft>
            </a:pPr>
            <a:r>
              <a:rPr sz="2800" b="1" i="0">
                <a:solidFill>
                  <a:srgbClr val="FFFFFF"/>
                </a:solidFill>
                <a:latin typeface="Arial"/>
              </a:rPr>
              <a:t>threat recognition, defensive behavior, and underlying neural circuits</a:t>
            </a:r>
          </a:p>
        </p:txBody>
      </p:sp>
      <p:sp>
        <p:nvSpPr>
          <p:cNvPr id="6" name="TextBox 5"/>
          <p:cNvSpPr txBox="1"/>
          <p:nvPr/>
        </p:nvSpPr>
        <p:spPr>
          <a:xfrm>
            <a:off x="685800" y="4827320"/>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FFFFFF"/>
                </a:solidFill>
                <a:latin typeface="Arial"/>
              </a:rPr>
              <a:t>Date TBD</a:t>
            </a:r>
          </a:p>
        </p:txBody>
      </p:sp>
      <p:sp>
        <p:nvSpPr>
          <p:cNvPr id="7" name="TextBox 6"/>
          <p:cNvSpPr txBox="1"/>
          <p:nvPr/>
        </p:nvSpPr>
        <p:spPr>
          <a:xfrm>
            <a:off x="685800" y="551312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FFFFFF"/>
                </a:solidFill>
                <a:latin typeface="Arial"/>
              </a:rPr>
              <a:t>Jordan Lopez, Ph.D.</a:t>
            </a:r>
          </a:p>
          <a:p>
            <a:pPr algn="l">
              <a:lnSpc>
                <a:spcPct val="108000"/>
              </a:lnSpc>
              <a:spcAft>
                <a:spcPts val="200"/>
              </a:spcAft>
            </a:pPr>
            <a:r>
              <a:rPr sz="1200" b="0" i="0">
                <a:solidFill>
                  <a:srgbClr val="FFFFFF"/>
                </a:solidFill>
                <a:latin typeface="Arial"/>
              </a:rPr>
              <a:t>Professor of Neurobiology &amp; Biomedical Engineering</a:t>
            </a:r>
          </a:p>
        </p:txBody>
      </p:sp>
      <p:pic>
        <p:nvPicPr>
          <p:cNvPr id="8" name="Picture 7" descr="d1dog.png"/>
          <p:cNvPicPr>
            <a:picLocks noChangeAspect="1"/>
          </p:cNvPicPr>
          <p:nvPr/>
        </p:nvPicPr>
        <p:blipFill>
          <a:blip r:embed="rId2"/>
          <a:stretch>
            <a:fillRect/>
          </a:stretch>
        </p:blipFill>
        <p:spPr>
          <a:xfrm>
            <a:off x="7311846" y="822960"/>
            <a:ext cx="366385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1 (dog rows). Dog facial stimuli and the published gaze distributions.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Dogs allocate gaze according to the source of threat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Threat recognition</a:t>
            </a:r>
            <a:r>
              <a:rPr sz="1600" b="0" i="0">
                <a:solidFill>
                  <a:srgbClr val="000000"/>
                </a:solidFill>
                <a:latin typeface="Arial"/>
              </a:rPr>
              <a:t> is discrimination of cues associated with possible harm. Somppi and colleagues measured dogs’ spontaneous gaze toward photographs of dog and human faces bearing threatening, pleasant, or neutral expressions. Each photograph appeared for 1500 ms.</a:t>
            </a:r>
          </a:p>
          <a:p>
            <a:pPr algn="l">
              <a:lnSpc>
                <a:spcPct val="108000"/>
              </a:lnSpc>
              <a:spcAft>
                <a:spcPts val="960"/>
              </a:spcAft>
            </a:pPr>
            <a:r>
              <a:rPr sz="1600" b="0" i="0">
                <a:solidFill>
                  <a:srgbClr val="000000"/>
                </a:solidFill>
                <a:latin typeface="Arial"/>
              </a:rPr>
              <a:t>Dogs devoted more viewing time to the inner faces of threatening dogs than to pleasant or neutral dog faces. Their response to threatening human faces differed: initial fixations were less likely to land within the inner face than for pleasant or neutral humans.</a:t>
            </a:r>
          </a:p>
          <a:p>
            <a:pPr algn="l">
              <a:lnSpc>
                <a:spcPct val="108000"/>
              </a:lnSpc>
              <a:spcAft>
                <a:spcPts val="960"/>
              </a:spcAft>
            </a:pPr>
            <a:r>
              <a:rPr sz="1600" b="0" i="0">
                <a:solidFill>
                  <a:srgbClr val="000000"/>
                </a:solidFill>
                <a:latin typeface="Arial"/>
              </a:rPr>
              <a:t>The experiment controlled presentation duration and compared expressions within each depicted species. The result establishes expression-dependent visual attention, rather than a direct measurement of fear, attack probability, or subjective emotional experience.</a:t>
            </a:r>
          </a:p>
        </p:txBody>
      </p:sp>
      <p:pic>
        <p:nvPicPr>
          <p:cNvPr id="4" name="Picture 3" descr="d2.png"/>
          <p:cNvPicPr>
            <a:picLocks noChangeAspect="1"/>
          </p:cNvPicPr>
          <p:nvPr/>
        </p:nvPicPr>
        <p:blipFill>
          <a:blip r:embed="rId2"/>
          <a:stretch>
            <a:fillRect/>
          </a:stretch>
        </p:blipFill>
        <p:spPr>
          <a:xfrm>
            <a:off x="6743616" y="1280160"/>
            <a:ext cx="4641661"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2A,B. Expression-dependent fixation scores and first fixations.</a:t>
            </a:r>
          </a:p>
        </p:txBody>
      </p:sp>
      <p:pic>
        <p:nvPicPr>
          <p:cNvPr id="6" name="Picture 5" descr="d1dog.png"/>
          <p:cNvPicPr>
            <a:picLocks noChangeAspect="1"/>
          </p:cNvPicPr>
          <p:nvPr/>
        </p:nvPicPr>
        <p:blipFill>
          <a:blip r:embed="rId3"/>
          <a:stretch>
            <a:fillRect/>
          </a:stretch>
        </p:blipFill>
        <p:spPr>
          <a:xfrm>
            <a:off x="8521654" y="4297680"/>
            <a:ext cx="1085585"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1 (dog rows). Dog facial stimuli and the published gaze distributions.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Somppi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Brief presentations isolate spontaneous visual sampling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Dogs watched facial photographs while resting their heads voluntarily on a chin support. An infrared </a:t>
            </a:r>
            <a:r>
              <a:rPr sz="1600" b="1" i="0">
                <a:solidFill>
                  <a:srgbClr val="444E55"/>
                </a:solidFill>
                <a:latin typeface="Arial"/>
              </a:rPr>
              <a:t>eye tracker</a:t>
            </a:r>
            <a:r>
              <a:rPr sz="1600" b="0" i="0">
                <a:solidFill>
                  <a:srgbClr val="000000"/>
                </a:solidFill>
                <a:latin typeface="Arial"/>
              </a:rPr>
              <a:t>, an instrument estimating gaze position, recorded where each dog looked without requiring a trained choice between emotional categories.</a:t>
            </a:r>
          </a:p>
          <a:p>
            <a:pPr algn="l">
              <a:lnSpc>
                <a:spcPct val="108000"/>
              </a:lnSpc>
              <a:spcAft>
                <a:spcPts val="960"/>
              </a:spcAft>
            </a:pPr>
            <a:r>
              <a:rPr sz="1600" b="0" i="0">
                <a:solidFill>
                  <a:srgbClr val="000000"/>
                </a:solidFill>
                <a:latin typeface="Arial"/>
              </a:rPr>
              <a:t>Images appeared for 1500 ms, separated by 500 ms intervals. Stimulus order and block length were randomized, while owners and experimenters waited behind an opaque barrier. These procedures reduced predictable sequences and immediate social guidance during viewing.</a:t>
            </a:r>
          </a:p>
          <a:p>
            <a:pPr algn="l">
              <a:lnSpc>
                <a:spcPct val="108000"/>
              </a:lnSpc>
              <a:spcAft>
                <a:spcPts val="960"/>
              </a:spcAft>
            </a:pPr>
            <a:r>
              <a:rPr sz="1600" b="0" i="0">
                <a:solidFill>
                  <a:srgbClr val="000000"/>
                </a:solidFill>
                <a:latin typeface="Arial"/>
              </a:rPr>
              <a:t>Calibration related measured eye position to known screen locations. The measured outcome was spontaneous fixation allocation, not successful completion of a rewarded emotion-labeling task. Because the stimuli were still photographs, the study did not test moving bodies, approaching animals, or the coordination of escape with gaze.</a:t>
            </a:r>
          </a:p>
        </p:txBody>
      </p:sp>
      <p:pic>
        <p:nvPicPr>
          <p:cNvPr id="4" name="Picture 3" descr="d1dog.png"/>
          <p:cNvPicPr>
            <a:picLocks noChangeAspect="1"/>
          </p:cNvPicPr>
          <p:nvPr/>
        </p:nvPicPr>
        <p:blipFill>
          <a:blip r:embed="rId2"/>
          <a:stretch>
            <a:fillRect/>
          </a:stretch>
        </p:blipFill>
        <p:spPr>
          <a:xfrm>
            <a:off x="7469993" y="1280160"/>
            <a:ext cx="318890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1 (dog rows). Dog facial stimuli and the published gaze distributions.</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Somppi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Dogs prioritize eyes over exposed teeth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444E55"/>
                </a:solidFill>
                <a:latin typeface="Arial"/>
              </a:rPr>
              <a:t>fixation</a:t>
            </a:r>
            <a:r>
              <a:rPr sz="1700" b="0" i="0">
                <a:solidFill>
                  <a:srgbClr val="000000"/>
                </a:solidFill>
                <a:latin typeface="Arial"/>
              </a:rPr>
              <a:t> is a period during which gaze remains within a restricted area. Facial regions were classified as eyes, midface, and mouth, allowing Somppi and colleagues to compare visual sampling of different components of an expression.</a:t>
            </a:r>
          </a:p>
          <a:p>
            <a:pPr algn="l">
              <a:lnSpc>
                <a:spcPct val="108000"/>
              </a:lnSpc>
              <a:spcAft>
                <a:spcPts val="1019"/>
              </a:spcAft>
            </a:pPr>
            <a:r>
              <a:rPr sz="1700" b="0" i="0">
                <a:solidFill>
                  <a:srgbClr val="000000"/>
                </a:solidFill>
                <a:latin typeface="Arial"/>
              </a:rPr>
              <a:t>Across dog and human faces, dogs looked longer at eyes than at mouths. Average entry times were about 503 ms for eyes, 501 ms for midface, and 584 ms for mouths. Thus, exposed teeth were not the only visual information sampled during threatening expressions.</a:t>
            </a:r>
          </a:p>
          <a:p>
            <a:pPr algn="l">
              <a:lnSpc>
                <a:spcPct val="108000"/>
              </a:lnSpc>
              <a:spcAft>
                <a:spcPts val="1019"/>
              </a:spcAft>
            </a:pPr>
            <a:r>
              <a:rPr sz="1700" b="0" i="0">
                <a:solidFill>
                  <a:srgbClr val="000000"/>
                </a:solidFill>
                <a:latin typeface="Arial"/>
              </a:rPr>
              <a:t>Fixation scores accounted for facial-region size and total face-viewing time. The comparison supports structured sampling of facial information. It does not identify the neural detector for threat or establish that a single facial feature determines a defensive reaction.</a:t>
            </a:r>
          </a:p>
        </p:txBody>
      </p:sp>
      <p:pic>
        <p:nvPicPr>
          <p:cNvPr id="4" name="Picture 3" descr="d3.png"/>
          <p:cNvPicPr>
            <a:picLocks noChangeAspect="1"/>
          </p:cNvPicPr>
          <p:nvPr/>
        </p:nvPicPr>
        <p:blipFill>
          <a:blip r:embed="rId2"/>
          <a:stretch>
            <a:fillRect/>
          </a:stretch>
        </p:blipFill>
        <p:spPr>
          <a:xfrm>
            <a:off x="6743616" y="1280160"/>
            <a:ext cx="4641661"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3. Fixation scores for eyes, midface, and mouth.</a:t>
            </a:r>
          </a:p>
        </p:txBody>
      </p:sp>
      <p:pic>
        <p:nvPicPr>
          <p:cNvPr id="6" name="Picture 5" descr="d1dog.png"/>
          <p:cNvPicPr>
            <a:picLocks noChangeAspect="1"/>
          </p:cNvPicPr>
          <p:nvPr/>
        </p:nvPicPr>
        <p:blipFill>
          <a:blip r:embed="rId3"/>
          <a:stretch>
            <a:fillRect/>
          </a:stretch>
        </p:blipFill>
        <p:spPr>
          <a:xfrm>
            <a:off x="8521654" y="4297680"/>
            <a:ext cx="1085585"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1 (dog rows). Dog facial stimuli and the published gaze distributions.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Somppi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Threatening human faces alter initial orienting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Initial orienting</a:t>
            </a:r>
            <a:r>
              <a:rPr sz="1600" b="0" i="0">
                <a:solidFill>
                  <a:srgbClr val="000000"/>
                </a:solidFill>
                <a:latin typeface="Arial"/>
              </a:rPr>
              <a:t> describes where attention is directed at the beginning of stimulus inspection. The probability of a first fixation landing on the inner face was lower for threatening human expressions than for pleasant or neutral human expressions.</a:t>
            </a:r>
          </a:p>
          <a:p>
            <a:pPr algn="l">
              <a:lnSpc>
                <a:spcPct val="108000"/>
              </a:lnSpc>
              <a:spcAft>
                <a:spcPts val="960"/>
              </a:spcAft>
            </a:pPr>
            <a:r>
              <a:rPr sz="1600" b="0" i="0">
                <a:solidFill>
                  <a:srgbClr val="000000"/>
                </a:solidFill>
                <a:latin typeface="Arial"/>
              </a:rPr>
              <a:t>The same dogs viewed conspecific faces, meaning faces of their own species. Threatening dog faces received more inner-face viewing than other dog expressions. Consequently, the visual response depended jointly on expression and the species producing the signal.</a:t>
            </a:r>
          </a:p>
          <a:p>
            <a:pPr algn="l">
              <a:lnSpc>
                <a:spcPct val="108000"/>
              </a:lnSpc>
              <a:spcAft>
                <a:spcPts val="960"/>
              </a:spcAft>
            </a:pPr>
            <a:r>
              <a:rPr sz="1600" b="0" i="0">
                <a:solidFill>
                  <a:srgbClr val="000000"/>
                </a:solidFill>
                <a:latin typeface="Arial"/>
              </a:rPr>
              <a:t>The first-fixation analysis adjusted for the relative size of the target region. Reduced initial gaze toward human threat is compatible with avoidance, but gaze alone cannot establish the animal’s motivation. No neural recording or circuit intervention accompanied these 1500 ms presentations.</a:t>
            </a:r>
          </a:p>
        </p:txBody>
      </p:sp>
      <p:pic>
        <p:nvPicPr>
          <p:cNvPr id="4" name="Picture 3" descr="d2.png"/>
          <p:cNvPicPr>
            <a:picLocks noChangeAspect="1"/>
          </p:cNvPicPr>
          <p:nvPr/>
        </p:nvPicPr>
        <p:blipFill>
          <a:blip r:embed="rId2"/>
          <a:stretch>
            <a:fillRect/>
          </a:stretch>
        </p:blipFill>
        <p:spPr>
          <a:xfrm>
            <a:off x="6743616" y="1280160"/>
            <a:ext cx="4641661"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2A,B. Expression-dependent fixation scores and first fixations.</a:t>
            </a:r>
          </a:p>
        </p:txBody>
      </p:sp>
      <p:pic>
        <p:nvPicPr>
          <p:cNvPr id="6" name="Picture 5" descr="d4.png"/>
          <p:cNvPicPr>
            <a:picLocks noChangeAspect="1"/>
          </p:cNvPicPr>
          <p:nvPr/>
        </p:nvPicPr>
        <p:blipFill>
          <a:blip r:embed="rId3"/>
          <a:stretch>
            <a:fillRect/>
          </a:stretch>
        </p:blipFill>
        <p:spPr>
          <a:xfrm>
            <a:off x="7838528" y="4297680"/>
            <a:ext cx="2451836"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4. Original first-fixation targets and scanning paths; circle key is 500 ms.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Somppi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Gaze heat maps locate attention without measuring fear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44E55"/>
                </a:solidFill>
                <a:latin typeface="Arial"/>
              </a:rPr>
              <a:t>gaze heat map</a:t>
            </a:r>
            <a:r>
              <a:rPr sz="1600" b="0" i="0">
                <a:solidFill>
                  <a:srgbClr val="000000"/>
                </a:solidFill>
                <a:latin typeface="Arial"/>
              </a:rPr>
              <a:t> represents the distribution of recorded fixations across a stimulus. The published maps from Somppi and colleagues place dogs’ gaze on eyes, muzzle, and mouth during presentations lasting 1500 ms.</a:t>
            </a:r>
          </a:p>
          <a:p>
            <a:pPr algn="l">
              <a:lnSpc>
                <a:spcPct val="108000"/>
              </a:lnSpc>
              <a:spcAft>
                <a:spcPts val="960"/>
              </a:spcAft>
            </a:pPr>
            <a:r>
              <a:rPr sz="1600" b="0" i="0">
                <a:solidFill>
                  <a:srgbClr val="000000"/>
                </a:solidFill>
                <a:latin typeface="Arial"/>
              </a:rPr>
              <a:t>The analysis compared threatening, pleasant, and neutral faces of both humans and dogs. It normalized looking duration for facial-region size, reducing the possibility that a larger mouth or eye region automatically receives a larger score simply because it occupies more space.</a:t>
            </a:r>
          </a:p>
          <a:p>
            <a:pPr algn="l">
              <a:lnSpc>
                <a:spcPct val="108000"/>
              </a:lnSpc>
              <a:spcAft>
                <a:spcPts val="960"/>
              </a:spcAft>
            </a:pPr>
            <a:r>
              <a:rPr sz="1600" b="0" i="0">
                <a:solidFill>
                  <a:srgbClr val="000000"/>
                </a:solidFill>
                <a:latin typeface="Arial"/>
              </a:rPr>
              <a:t>These maps describe visual attention rather than neuronal activation. They cannot locate an amygdala response or distinguish arousal from avoidance without additional measurements. Expression-dependent gaze is evidence that the visual system discriminates social cues; the downstream defensive state remains a separate experimental question.</a:t>
            </a:r>
          </a:p>
        </p:txBody>
      </p:sp>
      <p:pic>
        <p:nvPicPr>
          <p:cNvPr id="4" name="Picture 3" descr="d1.png"/>
          <p:cNvPicPr>
            <a:picLocks noChangeAspect="1"/>
          </p:cNvPicPr>
          <p:nvPr/>
        </p:nvPicPr>
        <p:blipFill>
          <a:blip r:embed="rId2"/>
          <a:stretch>
            <a:fillRect/>
          </a:stretch>
        </p:blipFill>
        <p:spPr>
          <a:xfrm>
            <a:off x="8245551" y="1280160"/>
            <a:ext cx="163779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1. Dog and human facial stimuli with published gaze distributions.</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Somppi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Facial scanning reflects several competing cues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Dogs’ first fixations and subsequent scanning paths sampled multiple parts of a face. Somppi and colleagues recorded these paths during 1500 ms presentations, with fixation duration and entry time providing different descriptions of visual attention.</a:t>
            </a:r>
          </a:p>
          <a:p>
            <a:pPr algn="l">
              <a:lnSpc>
                <a:spcPct val="108000"/>
              </a:lnSpc>
              <a:spcAft>
                <a:spcPts val="960"/>
              </a:spcAft>
            </a:pPr>
            <a:r>
              <a:rPr sz="1600" b="0" i="0">
                <a:solidFill>
                  <a:srgbClr val="000000"/>
                </a:solidFill>
                <a:latin typeface="Arial"/>
              </a:rPr>
              <a:t>Threatening dog faces received greater sustained sampling than pleasant or neutral dog faces, while threatening human faces were less likely to receive an initial inner-face fixation. The distinction prevents a simple rule that every threatening expression should produce longer looking.</a:t>
            </a:r>
          </a:p>
          <a:p>
            <a:pPr algn="l">
              <a:lnSpc>
                <a:spcPct val="108000"/>
              </a:lnSpc>
              <a:spcAft>
                <a:spcPts val="960"/>
              </a:spcAft>
            </a:pPr>
            <a:r>
              <a:rPr sz="1600" b="0" i="0">
                <a:solidFill>
                  <a:srgbClr val="000000"/>
                </a:solidFill>
                <a:latin typeface="Arial"/>
              </a:rPr>
              <a:t>The authors compared expressions within species and considered image properties when analyzing gaze. Nonetheless, a photograph does not provide the motion, distance, vocalization, or opportunity to withdraw present in a real encounter. Visual discrimination and defensive behavior therefore require different measured outcomes.</a:t>
            </a:r>
          </a:p>
        </p:txBody>
      </p:sp>
      <p:pic>
        <p:nvPicPr>
          <p:cNvPr id="4" name="Picture 3" descr="d4.png"/>
          <p:cNvPicPr>
            <a:picLocks noChangeAspect="1"/>
          </p:cNvPicPr>
          <p:nvPr/>
        </p:nvPicPr>
        <p:blipFill>
          <a:blip r:embed="rId2"/>
          <a:stretch>
            <a:fillRect/>
          </a:stretch>
        </p:blipFill>
        <p:spPr>
          <a:xfrm>
            <a:off x="6504127" y="1280160"/>
            <a:ext cx="5120640" cy="3055546"/>
          </a:xfrm>
          <a:prstGeom prst="rect">
            <a:avLst/>
          </a:prstGeom>
        </p:spPr>
      </p:pic>
      <p:sp>
        <p:nvSpPr>
          <p:cNvPr id="5" name="Figure caption"/>
          <p:cNvSpPr txBox="1"/>
          <p:nvPr/>
        </p:nvSpPr>
        <p:spPr>
          <a:xfrm>
            <a:off x="6504127" y="442714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Somppi et al. (2016), Fig. 4. Original first-fixation targets and scanning paths; circle key is 500 ms.</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Somppi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Cats match hissing sounds to threatening faces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Cross-modal recognition</a:t>
            </a:r>
            <a:r>
              <a:rPr sz="1600" b="0" i="0">
                <a:solidFill>
                  <a:srgbClr val="000000"/>
                </a:solidFill>
                <a:latin typeface="Arial"/>
              </a:rPr>
              <a:t> is matching information carried by different senses. Quaranta and colleagues presented cats with two facial expressions of the same individual while playing a vocalization matching only one expression. A presentation lasted 5 s.</a:t>
            </a:r>
          </a:p>
          <a:p>
            <a:pPr algn="l">
              <a:lnSpc>
                <a:spcPct val="108000"/>
              </a:lnSpc>
              <a:spcAft>
                <a:spcPts val="960"/>
              </a:spcAft>
            </a:pPr>
            <a:r>
              <a:rPr sz="1600" b="0" i="0">
                <a:solidFill>
                  <a:srgbClr val="000000"/>
                </a:solidFill>
                <a:latin typeface="Arial"/>
              </a:rPr>
              <a:t>Cats looked longer at the congruent face when hearing a conspecific hiss. They also matched human anger and happiness vocalizations to the corresponding human expressions. </a:t>
            </a:r>
            <a:r>
              <a:rPr sz="1600" b="1" i="0">
                <a:solidFill>
                  <a:srgbClr val="444E55"/>
                </a:solidFill>
                <a:latin typeface="Arial"/>
              </a:rPr>
              <a:t>Congruent</a:t>
            </a:r>
            <a:r>
              <a:rPr sz="1600" b="0" i="0">
                <a:solidFill>
                  <a:srgbClr val="000000"/>
                </a:solidFill>
                <a:latin typeface="Arial"/>
              </a:rPr>
              <a:t> means that the expression and sound belonged to the same emotional condition.</a:t>
            </a:r>
          </a:p>
          <a:p>
            <a:pPr algn="l">
              <a:lnSpc>
                <a:spcPct val="108000"/>
              </a:lnSpc>
              <a:spcAft>
                <a:spcPts val="960"/>
              </a:spcAft>
            </a:pPr>
            <a:r>
              <a:rPr sz="1600" b="0" i="0">
                <a:solidFill>
                  <a:srgbClr val="000000"/>
                </a:solidFill>
                <a:latin typeface="Arial"/>
              </a:rPr>
              <a:t>Neutral Brownian sound provided a control without the emotional vocal cue. Preferential matching supports integration of visual and auditory social information. It does not prove that cats experience the displayed emotion or identify the neurons performing this integration.</a:t>
            </a:r>
          </a:p>
        </p:txBody>
      </p:sp>
      <p:pic>
        <p:nvPicPr>
          <p:cNvPr id="4" name="Picture 3" descr="c3.png"/>
          <p:cNvPicPr>
            <a:picLocks noChangeAspect="1"/>
          </p:cNvPicPr>
          <p:nvPr/>
        </p:nvPicPr>
        <p:blipFill>
          <a:blip r:embed="rId2"/>
          <a:stretch>
            <a:fillRect/>
          </a:stretch>
        </p:blipFill>
        <p:spPr>
          <a:xfrm>
            <a:off x="7271524" y="1280160"/>
            <a:ext cx="3585845"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Quaranta et al. (2020), Fig. 3. Congruence scores for matching facial and vocal emotional cues.</a:t>
            </a:r>
          </a:p>
        </p:txBody>
      </p:sp>
      <p:pic>
        <p:nvPicPr>
          <p:cNvPr id="6" name="Picture 5" descr="c1cat.png"/>
          <p:cNvPicPr>
            <a:picLocks noChangeAspect="1"/>
          </p:cNvPicPr>
          <p:nvPr/>
        </p:nvPicPr>
        <p:blipFill>
          <a:blip r:embed="rId3"/>
          <a:stretch>
            <a:fillRect/>
          </a:stretch>
        </p:blipFill>
        <p:spPr>
          <a:xfrm>
            <a:off x="7903383" y="4297680"/>
            <a:ext cx="2322127"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Quaranta et al. (2020), Fig. 1 (cat rows). Hiss and purr faces with corresponding waveforms and sonograms.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Quaranta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Matched sound intensity controls one source of arousal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cat recognition study used hissing and purring recorded during different social conditions. Hiss recordings came from a threatening encounter involving an approaching dog; purr recordings came from relaxed interactions with owners.</a:t>
            </a:r>
          </a:p>
          <a:p>
            <a:pPr algn="l">
              <a:lnSpc>
                <a:spcPct val="108000"/>
              </a:lnSpc>
              <a:spcAft>
                <a:spcPts val="960"/>
              </a:spcAft>
            </a:pPr>
            <a:r>
              <a:rPr sz="1600" b="0" i="0">
                <a:solidFill>
                  <a:srgbClr val="000000"/>
                </a:solidFill>
                <a:latin typeface="Arial"/>
              </a:rPr>
              <a:t>Recordings were adjusted to 69 dB at the tested cat’s position. Facial photographs were converted to grayscale in the published experiment. These controls reduced sound-intensity and image-color differences as explanations for matching an expression to a vocalization.</a:t>
            </a:r>
          </a:p>
          <a:p>
            <a:pPr algn="l">
              <a:lnSpc>
                <a:spcPct val="108000"/>
              </a:lnSpc>
              <a:spcAft>
                <a:spcPts val="960"/>
              </a:spcAft>
            </a:pPr>
            <a:r>
              <a:rPr sz="1600" b="0" i="0">
                <a:solidFill>
                  <a:srgbClr val="000000"/>
                </a:solidFill>
                <a:latin typeface="Arial"/>
              </a:rPr>
              <a:t>Each audiovisual presentation lasted 5 s, allowing spontaneous gaze to either face. The published waveform and sonogram preserve time and frequency information from the actual stimuli. Matching cannot be reduced to loudness alone, but acoustic and facial features still differ between emotional conditions and contribute to their discrimination.</a:t>
            </a:r>
          </a:p>
        </p:txBody>
      </p:sp>
      <p:pic>
        <p:nvPicPr>
          <p:cNvPr id="4" name="Picture 3" descr="c1cat.png"/>
          <p:cNvPicPr>
            <a:picLocks noChangeAspect="1"/>
          </p:cNvPicPr>
          <p:nvPr/>
        </p:nvPicPr>
        <p:blipFill>
          <a:blip r:embed="rId2"/>
          <a:stretch>
            <a:fillRect/>
          </a:stretch>
        </p:blipFill>
        <p:spPr>
          <a:xfrm>
            <a:off x="6504127" y="1280160"/>
            <a:ext cx="5120640" cy="3226222"/>
          </a:xfrm>
          <a:prstGeom prst="rect">
            <a:avLst/>
          </a:prstGeom>
        </p:spPr>
      </p:pic>
      <p:sp>
        <p:nvSpPr>
          <p:cNvPr id="5" name="Figure caption"/>
          <p:cNvSpPr txBox="1"/>
          <p:nvPr/>
        </p:nvSpPr>
        <p:spPr>
          <a:xfrm>
            <a:off x="6504127" y="459782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Quaranta et al. (2020), Fig. 1 (cat rows). Hiss and purr faces with corresponding waveforms and sonograms.</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Quaranta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Human anger increases cats’ stress-related behavior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Quaranta and colleagues scored cats’ behavior during audiovisual presentations of human anger, human happiness, cat hissing, and cat purring. </a:t>
            </a:r>
            <a:r>
              <a:rPr sz="1700" b="1" i="0">
                <a:solidFill>
                  <a:srgbClr val="444E55"/>
                </a:solidFill>
                <a:latin typeface="Arial"/>
              </a:rPr>
              <a:t>Stress-related behavior</a:t>
            </a:r>
            <a:r>
              <a:rPr sz="1700" b="0" i="0">
                <a:solidFill>
                  <a:srgbClr val="000000"/>
                </a:solidFill>
                <a:latin typeface="Arial"/>
              </a:rPr>
              <a:t> was operationalized as the observed frequency of specified behavioral signs, rather than inferred directly from facial matching.</a:t>
            </a:r>
          </a:p>
          <a:p>
            <a:pPr algn="l">
              <a:lnSpc>
                <a:spcPct val="108000"/>
              </a:lnSpc>
              <a:spcAft>
                <a:spcPts val="1019"/>
              </a:spcAft>
            </a:pPr>
            <a:r>
              <a:rPr sz="1700" b="0" i="0">
                <a:solidFill>
                  <a:srgbClr val="000000"/>
                </a:solidFill>
                <a:latin typeface="Arial"/>
              </a:rPr>
              <a:t>Cats expressed more stress-related behavior during human anger and cat hiss presentations than during human happiness or cat purr presentations. Sounds were standardized to 69 dB, and the same 5 s presentation procedure was used across conditions.</a:t>
            </a:r>
          </a:p>
          <a:p>
            <a:pPr algn="l">
              <a:lnSpc>
                <a:spcPct val="108000"/>
              </a:lnSpc>
              <a:spcAft>
                <a:spcPts val="1019"/>
              </a:spcAft>
            </a:pPr>
            <a:r>
              <a:rPr sz="1700" b="0" i="0">
                <a:solidFill>
                  <a:srgbClr val="000000"/>
                </a:solidFill>
                <a:latin typeface="Arial"/>
              </a:rPr>
              <a:t>The behavioral score complements the gaze measure by assessing the recipient’s response. It does not measure circulating stress hormones or record brain activity. A threatening communication signal can alter behavior even when the recipient does not attack the sender.</a:t>
            </a:r>
          </a:p>
        </p:txBody>
      </p:sp>
      <p:pic>
        <p:nvPicPr>
          <p:cNvPr id="4" name="Picture 3" descr="c4.png"/>
          <p:cNvPicPr>
            <a:picLocks noChangeAspect="1"/>
          </p:cNvPicPr>
          <p:nvPr/>
        </p:nvPicPr>
        <p:blipFill>
          <a:blip r:embed="rId2"/>
          <a:stretch>
            <a:fillRect/>
          </a:stretch>
        </p:blipFill>
        <p:spPr>
          <a:xfrm>
            <a:off x="7122529" y="1280160"/>
            <a:ext cx="3883836"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Quaranta et al. (2020), Fig. 4. Stress-related behavior during emotional stimulus presentations.</a:t>
            </a:r>
          </a:p>
        </p:txBody>
      </p:sp>
      <p:pic>
        <p:nvPicPr>
          <p:cNvPr id="6" name="Picture 5" descr="c1human.png"/>
          <p:cNvPicPr>
            <a:picLocks noChangeAspect="1"/>
          </p:cNvPicPr>
          <p:nvPr/>
        </p:nvPicPr>
        <p:blipFill>
          <a:blip r:embed="rId3"/>
          <a:stretch>
            <a:fillRect/>
          </a:stretch>
        </p:blipFill>
        <p:spPr>
          <a:xfrm>
            <a:off x="7855587" y="4297680"/>
            <a:ext cx="2417718"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Quaranta et al. (2020), Fig. 1 (human rows). Happiness and anger stimuli with corresponding vocalizations.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Quaranta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Purring does not produce the same matching result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Cats did not display reliable preferential matching for the purr condition in the Quaranta study, although they matched cat hissing and both tested human emotional conditions. This asymmetry limits a claim that every affective vocalization is linked equally strongly to a distinctive facial expression.</a:t>
            </a:r>
          </a:p>
          <a:p>
            <a:pPr algn="l">
              <a:lnSpc>
                <a:spcPct val="108000"/>
              </a:lnSpc>
              <a:spcAft>
                <a:spcPts val="960"/>
              </a:spcAft>
            </a:pPr>
            <a:r>
              <a:rPr sz="1600" b="0" i="0">
                <a:solidFill>
                  <a:srgbClr val="000000"/>
                </a:solidFill>
                <a:latin typeface="Arial"/>
              </a:rPr>
              <a:t>The </a:t>
            </a:r>
            <a:r>
              <a:rPr sz="1600" b="1" i="0">
                <a:solidFill>
                  <a:srgbClr val="444E55"/>
                </a:solidFill>
                <a:latin typeface="Arial"/>
              </a:rPr>
              <a:t>congruence index</a:t>
            </a:r>
            <a:r>
              <a:rPr sz="1600" b="0" i="0">
                <a:solidFill>
                  <a:srgbClr val="000000"/>
                </a:solidFill>
                <a:latin typeface="Arial"/>
              </a:rPr>
              <a:t> describes relative looking toward the matching face. A value of 1 indicates exclusive matching-face looking, a value of −1 indicates exclusive nonmatching-face looking, and zero indicates balanced looking.</a:t>
            </a:r>
          </a:p>
          <a:p>
            <a:pPr algn="l">
              <a:lnSpc>
                <a:spcPct val="108000"/>
              </a:lnSpc>
              <a:spcAft>
                <a:spcPts val="960"/>
              </a:spcAft>
            </a:pPr>
            <a:r>
              <a:rPr sz="1600" b="0" i="0">
                <a:solidFill>
                  <a:srgbClr val="000000"/>
                </a:solidFill>
                <a:latin typeface="Arial"/>
              </a:rPr>
              <a:t>Presentations lasted 5 s and compared expressions of the same individual. The absence of reliable purr matching may reflect the tested cues, task, or their salience. It does not establish that cats cannot perceive purring or recognize relaxed social contexts.</a:t>
            </a:r>
          </a:p>
        </p:txBody>
      </p:sp>
      <p:pic>
        <p:nvPicPr>
          <p:cNvPr id="4" name="Picture 3" descr="c3.png"/>
          <p:cNvPicPr>
            <a:picLocks noChangeAspect="1"/>
          </p:cNvPicPr>
          <p:nvPr/>
        </p:nvPicPr>
        <p:blipFill>
          <a:blip r:embed="rId2"/>
          <a:stretch>
            <a:fillRect/>
          </a:stretch>
        </p:blipFill>
        <p:spPr>
          <a:xfrm>
            <a:off x="7271524" y="1280160"/>
            <a:ext cx="3585845"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Quaranta et al. (2020), Fig. 3. Congruence scores for matching facial and vocal emotional cues.</a:t>
            </a:r>
          </a:p>
        </p:txBody>
      </p:sp>
      <p:pic>
        <p:nvPicPr>
          <p:cNvPr id="6" name="Picture 5" descr="c1cat.png"/>
          <p:cNvPicPr>
            <a:picLocks noChangeAspect="1"/>
          </p:cNvPicPr>
          <p:nvPr/>
        </p:nvPicPr>
        <p:blipFill>
          <a:blip r:embed="rId3"/>
          <a:stretch>
            <a:fillRect/>
          </a:stretch>
        </p:blipFill>
        <p:spPr>
          <a:xfrm>
            <a:off x="7903383" y="4297680"/>
            <a:ext cx="2322127"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Quaranta et al. (2020), Fig. 1 (cat rows). Hiss and purr faces with corresponding waveforms and sonograms.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Quaranta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Matching is tested against a neutral auditory control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cat recognition experiment paired emotional faces with a neutral Brownian sound as a control condition. </a:t>
            </a:r>
            <a:r>
              <a:rPr sz="1600" b="1" i="0">
                <a:solidFill>
                  <a:srgbClr val="444E55"/>
                </a:solidFill>
                <a:latin typeface="Arial"/>
              </a:rPr>
              <a:t>Brownian sound</a:t>
            </a:r>
            <a:r>
              <a:rPr sz="1600" b="0" i="0">
                <a:solidFill>
                  <a:srgbClr val="000000"/>
                </a:solidFill>
                <a:latin typeface="Arial"/>
              </a:rPr>
              <a:t> is a nonvocal noise stimulus; here it supplied auditory stimulation without a human or cat emotional vocalization.</a:t>
            </a:r>
          </a:p>
          <a:p>
            <a:pPr algn="l">
              <a:lnSpc>
                <a:spcPct val="108000"/>
              </a:lnSpc>
              <a:spcAft>
                <a:spcPts val="960"/>
              </a:spcAft>
            </a:pPr>
            <a:r>
              <a:rPr sz="1600" b="0" i="0">
                <a:solidFill>
                  <a:srgbClr val="000000"/>
                </a:solidFill>
                <a:latin typeface="Arial"/>
              </a:rPr>
              <a:t>Cats did not reliably prefer either emotional face in these control presentations. In contrast, human anger and happiness vocalizations supported preferential looking toward the matching expression during 5 s trials. Owners were instructed to avoid interacting with their cats during the presentations.</a:t>
            </a:r>
          </a:p>
          <a:p>
            <a:pPr algn="l">
              <a:lnSpc>
                <a:spcPct val="108000"/>
              </a:lnSpc>
              <a:spcAft>
                <a:spcPts val="960"/>
              </a:spcAft>
            </a:pPr>
            <a:r>
              <a:rPr sz="1600" b="0" i="0">
                <a:solidFill>
                  <a:srgbClr val="000000"/>
                </a:solidFill>
                <a:latin typeface="Arial"/>
              </a:rPr>
              <a:t>The neutral condition weakens an explanation based solely on a fixed preference for one facial photograph. Because no sensory pathway was disrupted, the experiment establishes behavioral audiovisual matching rather than causal dependence on a specific brain region or receptor.</a:t>
            </a:r>
          </a:p>
        </p:txBody>
      </p:sp>
      <p:pic>
        <p:nvPicPr>
          <p:cNvPr id="4" name="Picture 3" descr="c3.png"/>
          <p:cNvPicPr>
            <a:picLocks noChangeAspect="1"/>
          </p:cNvPicPr>
          <p:nvPr/>
        </p:nvPicPr>
        <p:blipFill>
          <a:blip r:embed="rId2"/>
          <a:stretch>
            <a:fillRect/>
          </a:stretch>
        </p:blipFill>
        <p:spPr>
          <a:xfrm>
            <a:off x="7271524" y="1280160"/>
            <a:ext cx="3585845"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Quaranta et al. (2020), Fig. 3. Congruence scores for matching facial and vocal emotional cues.</a:t>
            </a:r>
          </a:p>
        </p:txBody>
      </p:sp>
      <p:pic>
        <p:nvPicPr>
          <p:cNvPr id="6" name="Picture 5" descr="c1human.png"/>
          <p:cNvPicPr>
            <a:picLocks noChangeAspect="1"/>
          </p:cNvPicPr>
          <p:nvPr/>
        </p:nvPicPr>
        <p:blipFill>
          <a:blip r:embed="rId3"/>
          <a:stretch>
            <a:fillRect/>
          </a:stretch>
        </p:blipFill>
        <p:spPr>
          <a:xfrm>
            <a:off x="7855587" y="4297680"/>
            <a:ext cx="2417718"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Quaranta et al. (2020), Fig. 1 (human rows). Happiness and anger stimuli with corresponding vocalizations.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Quaranta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Canine fears vary with the provoking stimulus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Fear</a:t>
            </a:r>
            <a:r>
              <a:rPr sz="1600" b="0" i="0">
                <a:solidFill>
                  <a:srgbClr val="000000"/>
                </a:solidFill>
                <a:latin typeface="Arial"/>
              </a:rPr>
              <a:t> refers to a defensive response associated with a threat, while anxiety-related traits describe broader recurring patterns of apprehensive behavior. Salonen and colleagues used owner reports to assess noise sensitivity, social fear, surface-related fear, and several other behavioral traits.</a:t>
            </a:r>
          </a:p>
          <a:p>
            <a:pPr algn="l">
              <a:lnSpc>
                <a:spcPct val="108000"/>
              </a:lnSpc>
              <a:spcAft>
                <a:spcPts val="960"/>
              </a:spcAft>
            </a:pPr>
            <a:r>
              <a:rPr sz="1600" b="0" i="0">
                <a:solidFill>
                  <a:srgbClr val="000000"/>
                </a:solidFill>
                <a:latin typeface="Arial"/>
              </a:rPr>
              <a:t>Highly noise-sensitive behavior was reported in 32% of the surveyed dogs, and fear in 29%. Fireworks were the most commonly reported noise trigger. Fear of other dogs was the most common social-fear subtrait in this sample.</a:t>
            </a:r>
          </a:p>
          <a:p>
            <a:pPr algn="l">
              <a:lnSpc>
                <a:spcPct val="108000"/>
              </a:lnSpc>
              <a:spcAft>
                <a:spcPts val="960"/>
              </a:spcAft>
            </a:pPr>
            <a:r>
              <a:rPr sz="1600" b="0" i="0">
                <a:solidFill>
                  <a:srgbClr val="000000"/>
                </a:solidFill>
                <a:latin typeface="Arial"/>
              </a:rPr>
              <a:t>These percentages describe the recruited survey population and the study’s operational thresholds. They do not establish population-wide prevalence or identify a neurotransmitter deficiency. Distinguishing triggers preserves information about sensory context that would be lost by treating all fearful behavior as one uniform phenotype.</a:t>
            </a:r>
          </a:p>
        </p:txBody>
      </p:sp>
      <p:pic>
        <p:nvPicPr>
          <p:cNvPr id="4" name="Picture 3" descr="p1.png"/>
          <p:cNvPicPr>
            <a:picLocks noChangeAspect="1"/>
          </p:cNvPicPr>
          <p:nvPr/>
        </p:nvPicPr>
        <p:blipFill>
          <a:blip r:embed="rId2"/>
          <a:stretch>
            <a:fillRect/>
          </a:stretch>
        </p:blipFill>
        <p:spPr>
          <a:xfrm>
            <a:off x="7605382" y="1280160"/>
            <a:ext cx="291812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Salonen et al. (2020), Fig. 1a,b. Reported prevalence of canine anxiety traits and subtraits.</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Salonen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Fear and aggression overlap without being identical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Comorbidity</a:t>
            </a:r>
            <a:r>
              <a:rPr sz="1600" b="0" i="0">
                <a:solidFill>
                  <a:srgbClr val="000000"/>
                </a:solidFill>
                <a:latin typeface="Arial"/>
              </a:rPr>
              <a:t> is the occurrence of more than one classified condition in the same individual. In Salonen and colleagues’ owner-reported survey, dogs classified as aggressive were 3.2 times more often classified as fearful than dogs without that aggression classification.</a:t>
            </a:r>
          </a:p>
          <a:p>
            <a:pPr algn="l">
              <a:lnSpc>
                <a:spcPct val="108000"/>
              </a:lnSpc>
              <a:spcAft>
                <a:spcPts val="960"/>
              </a:spcAft>
            </a:pPr>
            <a:r>
              <a:rPr sz="1600" b="0" i="0">
                <a:solidFill>
                  <a:srgbClr val="000000"/>
                </a:solidFill>
                <a:latin typeface="Arial"/>
              </a:rPr>
              <a:t>The study separately scored fear and aggression, rather than defining aggression as proof of fear. Fear also overlapped with noise sensitivity and separation-related behavior. These associations connect several behavioral dimensions while preserving their separate definitions.</a:t>
            </a:r>
          </a:p>
          <a:p>
            <a:pPr algn="l">
              <a:lnSpc>
                <a:spcPct val="108000"/>
              </a:lnSpc>
              <a:spcAft>
                <a:spcPts val="960"/>
              </a:spcAft>
            </a:pPr>
            <a:r>
              <a:rPr sz="1600" b="0" i="0">
                <a:solidFill>
                  <a:srgbClr val="000000"/>
                </a:solidFill>
                <a:latin typeface="Arial"/>
              </a:rPr>
              <a:t>A cross-sectional survey measures co-occurrence at the time of reporting. It cannot establish that fear caused aggression, that aggression caused fear, or that both depend on the same neural mechanism. Shared environments, inherited predispositions, and reporting patterns remain possible contributors to the association.</a:t>
            </a:r>
          </a:p>
        </p:txBody>
      </p:sp>
      <p:pic>
        <p:nvPicPr>
          <p:cNvPr id="4" name="Picture 3" descr="p2b.png"/>
          <p:cNvPicPr>
            <a:picLocks noChangeAspect="1"/>
          </p:cNvPicPr>
          <p:nvPr/>
        </p:nvPicPr>
        <p:blipFill>
          <a:blip r:embed="rId2"/>
          <a:stretch>
            <a:fillRect/>
          </a:stretch>
        </p:blipFill>
        <p:spPr>
          <a:xfrm>
            <a:off x="6682176" y="1280160"/>
            <a:ext cx="476454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Salonen et al. (2020), Fig. 2b. Relative risks of co-occurring reported traits.</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Salonen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Age and sex associations do not identify mechanisms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Salonen and colleagues compared reported anxiety-related traits across ages and sexes. Noise sensitivity, particularly fear of thunder, increased with age in their survey, while female dogs were more often classified as fearful and male dogs more often classified as aggressive.</a:t>
            </a:r>
          </a:p>
          <a:p>
            <a:pPr algn="l">
              <a:lnSpc>
                <a:spcPct val="108000"/>
              </a:lnSpc>
              <a:spcAft>
                <a:spcPts val="960"/>
              </a:spcAft>
            </a:pPr>
            <a:r>
              <a:rPr sz="1600" b="0" i="0">
                <a:solidFill>
                  <a:srgbClr val="000000"/>
                </a:solidFill>
                <a:latin typeface="Arial"/>
              </a:rPr>
              <a:t>The dogs ranged from young puppies to older adults, extending the observations across much of the canine lifespan. The questionnaire distinguished fear of other dogs, strangers, and novel situations from aggression toward people and other behavioral categories.</a:t>
            </a:r>
          </a:p>
          <a:p>
            <a:pPr algn="l">
              <a:lnSpc>
                <a:spcPct val="108000"/>
              </a:lnSpc>
              <a:spcAft>
                <a:spcPts val="960"/>
              </a:spcAft>
            </a:pPr>
            <a:r>
              <a:rPr sz="1600" b="0" i="0">
                <a:solidFill>
                  <a:srgbClr val="000000"/>
                </a:solidFill>
                <a:latin typeface="Arial"/>
              </a:rPr>
              <a:t>These associations describe variation rather than an experimental effect of aging or sex hormones. Cohort differences, prior experiences, health, and owner interpretation were not eliminated by assigning dogs randomly to these characteristics. The survey provides behavioral context, but receptor-level explanations require a different experimental design.</a:t>
            </a:r>
          </a:p>
        </p:txBody>
      </p:sp>
      <p:pic>
        <p:nvPicPr>
          <p:cNvPr id="4" name="Picture 3" descr="p3.png"/>
          <p:cNvPicPr>
            <a:picLocks noChangeAspect="1"/>
          </p:cNvPicPr>
          <p:nvPr/>
        </p:nvPicPr>
        <p:blipFill>
          <a:blip r:embed="rId2"/>
          <a:stretch>
            <a:fillRect/>
          </a:stretch>
        </p:blipFill>
        <p:spPr>
          <a:xfrm>
            <a:off x="6764165" y="1280160"/>
            <a:ext cx="460056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Salonen et al. (2020), Fig. 3a–d. Age and sex distributions of reported behavioral traits.</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Salonen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Cat defensive rage recruits coordinated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Defensive rage</a:t>
            </a:r>
            <a:r>
              <a:rPr sz="1600" b="0" i="0">
                <a:solidFill>
                  <a:srgbClr val="000000"/>
                </a:solidFill>
                <a:latin typeface="Arial"/>
              </a:rPr>
              <a:t> is the historical name for a coordinated feline defensive response elicited experimentally, including hissing, ear retraction, piloerection, back arching, and strikes with the paws. </a:t>
            </a:r>
            <a:r>
              <a:rPr sz="1600" b="1" i="0">
                <a:solidFill>
                  <a:srgbClr val="444E55"/>
                </a:solidFill>
                <a:latin typeface="Arial"/>
              </a:rPr>
              <a:t>Piloerection</a:t>
            </a:r>
            <a:r>
              <a:rPr sz="1600" b="0" i="0">
                <a:solidFill>
                  <a:srgbClr val="000000"/>
                </a:solidFill>
                <a:latin typeface="Arial"/>
              </a:rPr>
              <a:t> means raising the hairs rather than a separate act of attack.</a:t>
            </a:r>
          </a:p>
          <a:p>
            <a:pPr algn="l">
              <a:lnSpc>
                <a:spcPct val="108000"/>
              </a:lnSpc>
              <a:spcAft>
                <a:spcPts val="960"/>
              </a:spcAft>
            </a:pPr>
            <a:r>
              <a:rPr sz="1600" b="0" i="0">
                <a:solidFill>
                  <a:srgbClr val="000000"/>
                </a:solidFill>
                <a:latin typeface="Arial"/>
              </a:rPr>
              <a:t>Lu and colleagues elicited the response from the medial hypothalamus and the dorsal </a:t>
            </a:r>
            <a:r>
              <a:rPr sz="1600" b="1" i="0">
                <a:solidFill>
                  <a:srgbClr val="444E55"/>
                </a:solidFill>
                <a:latin typeface="Arial"/>
              </a:rPr>
              <a:t>periaqueductal gray</a:t>
            </a:r>
            <a:r>
              <a:rPr sz="1600" b="0" i="0">
                <a:solidFill>
                  <a:srgbClr val="000000"/>
                </a:solidFill>
                <a:latin typeface="Arial"/>
              </a:rPr>
              <a:t>, or PAG, the midbrain gray matter surrounding the cerebral aqueduct. They measured the time from stimulation onset to hissing, with stimulation limited to 15 s.</a:t>
            </a:r>
          </a:p>
          <a:p>
            <a:pPr algn="l">
              <a:lnSpc>
                <a:spcPct val="108000"/>
              </a:lnSpc>
              <a:spcAft>
                <a:spcPts val="960"/>
              </a:spcAft>
            </a:pPr>
            <a:r>
              <a:rPr sz="1600" b="0" i="0">
                <a:solidFill>
                  <a:srgbClr val="000000"/>
                </a:solidFill>
                <a:latin typeface="Arial"/>
              </a:rPr>
              <a:t>Electrical stimulation tests whether activity at a site can recruit a behavioral pattern. It does not reproduce recognition of a particular natural threat or measure subjective fear. The elicited response includes vocal, postural, and autonomic components rather than a single isolated movement.</a:t>
            </a:r>
          </a:p>
        </p:txBody>
      </p:sp>
      <p:pic>
        <p:nvPicPr>
          <p:cNvPr id="4" name="Picture 3" descr="n1.png"/>
          <p:cNvPicPr>
            <a:picLocks noChangeAspect="1"/>
          </p:cNvPicPr>
          <p:nvPr/>
        </p:nvPicPr>
        <p:blipFill>
          <a:blip r:embed="rId2"/>
          <a:stretch>
            <a:fillRect/>
          </a:stretch>
        </p:blipFill>
        <p:spPr>
          <a:xfrm>
            <a:off x="8367385" y="1280160"/>
            <a:ext cx="1394123"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1A,B. PAG and medial hypothalamic stimulation sites.</a:t>
            </a:r>
          </a:p>
        </p:txBody>
      </p:sp>
      <p:pic>
        <p:nvPicPr>
          <p:cNvPr id="6" name="Picture 5" descr="s6a.png"/>
          <p:cNvPicPr>
            <a:picLocks noChangeAspect="1"/>
          </p:cNvPicPr>
          <p:nvPr/>
        </p:nvPicPr>
        <p:blipFill>
          <a:blip r:embed="rId3"/>
          <a:stretch>
            <a:fillRect/>
          </a:stretch>
        </p:blipFill>
        <p:spPr>
          <a:xfrm>
            <a:off x="8678096" y="4297680"/>
            <a:ext cx="772700"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6A,D. PAG tissue surrounding the aqueduct and receptor labeling; 100 μm bar.</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Lu et al. (1992); 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Two-site stimulation tests descending facilitation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Lu and colleagues stimulated a PAG site that elicited hissing and paired it with medial hypothalamic stimulation below the level required to elicit behavior by itself. </a:t>
            </a:r>
            <a:r>
              <a:rPr sz="1600" b="1" i="0">
                <a:solidFill>
                  <a:srgbClr val="444E55"/>
                </a:solidFill>
                <a:latin typeface="Arial"/>
              </a:rPr>
              <a:t>Facilitation</a:t>
            </a:r>
            <a:r>
              <a:rPr sz="1600" b="0" i="0">
                <a:solidFill>
                  <a:srgbClr val="000000"/>
                </a:solidFill>
                <a:latin typeface="Arial"/>
              </a:rPr>
              <a:t> means that the combined input made the PAG-elicited response occur sooner.</a:t>
            </a:r>
          </a:p>
          <a:p>
            <a:pPr algn="l">
              <a:lnSpc>
                <a:spcPct val="108000"/>
              </a:lnSpc>
              <a:spcAft>
                <a:spcPts val="960"/>
              </a:spcAft>
            </a:pPr>
            <a:r>
              <a:rPr sz="1600" b="0" i="0">
                <a:solidFill>
                  <a:srgbClr val="000000"/>
                </a:solidFill>
                <a:latin typeface="Arial"/>
              </a:rPr>
              <a:t>At matched PAG stimulation parameters, concurrent hypothalamic stimulation shortened hissing latency. Before the highest kynurenic-acid dose, the dual-stimulation response was about 37% faster than the PAG-only response. Alternating single and dual trials provided a comparison within the same preparation.</a:t>
            </a:r>
          </a:p>
          <a:p>
            <a:pPr algn="l">
              <a:lnSpc>
                <a:spcPct val="108000"/>
              </a:lnSpc>
              <a:spcAft>
                <a:spcPts val="960"/>
              </a:spcAft>
            </a:pPr>
            <a:r>
              <a:rPr sz="1600" b="0" i="0">
                <a:solidFill>
                  <a:srgbClr val="000000"/>
                </a:solidFill>
                <a:latin typeface="Arial"/>
              </a:rPr>
              <a:t>This procedure establishes a functional interaction between the selected sites. Electrical current can excite several elements, including passing fibers, so the result alone does not identify a monosynaptic connection or the transmitter responsible for facilitation.</a:t>
            </a:r>
          </a:p>
        </p:txBody>
      </p:sp>
      <p:pic>
        <p:nvPicPr>
          <p:cNvPr id="4" name="Picture 3" descr="n2.png"/>
          <p:cNvPicPr>
            <a:picLocks noChangeAspect="1"/>
          </p:cNvPicPr>
          <p:nvPr/>
        </p:nvPicPr>
        <p:blipFill>
          <a:blip r:embed="rId2"/>
          <a:stretch>
            <a:fillRect/>
          </a:stretch>
        </p:blipFill>
        <p:spPr>
          <a:xfrm>
            <a:off x="7352751" y="1280160"/>
            <a:ext cx="3423391"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2. Kynurenic acid reverses hypothalamic facilitation of the PAG response.</a:t>
            </a:r>
          </a:p>
        </p:txBody>
      </p:sp>
      <p:pic>
        <p:nvPicPr>
          <p:cNvPr id="6" name="Picture 5" descr="n1.png"/>
          <p:cNvPicPr>
            <a:picLocks noChangeAspect="1"/>
          </p:cNvPicPr>
          <p:nvPr/>
        </p:nvPicPr>
        <p:blipFill>
          <a:blip r:embed="rId3"/>
          <a:stretch>
            <a:fillRect/>
          </a:stretch>
        </p:blipFill>
        <p:spPr>
          <a:xfrm>
            <a:off x="8651373" y="4297680"/>
            <a:ext cx="826147"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1A,B. PAG and medial hypothalamic stimulation sites.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Lu et al. (1992)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PAG amino-acid blockade removes facilitation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Excitatory amino acids</a:t>
            </a:r>
            <a:r>
              <a:rPr sz="1600" b="0" i="0">
                <a:solidFill>
                  <a:srgbClr val="000000"/>
                </a:solidFill>
                <a:latin typeface="Arial"/>
              </a:rPr>
              <a:t> are amino-acid neurotransmitters capable of increasing neuronal excitation. Lu and colleagues injected kynurenic acid, an antagonist blocking several excitatory amino-acid receptor classes, into the PAG site used for eliciting defensive rage.</a:t>
            </a:r>
          </a:p>
          <a:p>
            <a:pPr algn="l">
              <a:lnSpc>
                <a:spcPct val="108000"/>
              </a:lnSpc>
              <a:spcAft>
                <a:spcPts val="960"/>
              </a:spcAft>
            </a:pPr>
            <a:r>
              <a:rPr sz="1600" b="0" i="0">
                <a:solidFill>
                  <a:srgbClr val="000000"/>
                </a:solidFill>
                <a:latin typeface="Arial"/>
              </a:rPr>
              <a:t>A 2.0 nmol injection reversed medial hypothalamic facilitation. At 15 min, dual-stimulation hissing latency rose above the PAG-only reference instead of remaining shorter. Lower doses produced smaller or shorter-lasting effects, and the response recovered over time.</a:t>
            </a:r>
          </a:p>
          <a:p>
            <a:pPr algn="l">
              <a:lnSpc>
                <a:spcPct val="108000"/>
              </a:lnSpc>
              <a:spcAft>
                <a:spcPts val="960"/>
              </a:spcAft>
            </a:pPr>
            <a:r>
              <a:rPr sz="1600" b="0" i="0">
                <a:solidFill>
                  <a:srgbClr val="000000"/>
                </a:solidFill>
                <a:latin typeface="Arial"/>
              </a:rPr>
              <a:t>The drug was delivered locally while electrical stimulation parameters remained unchanged. This supports excitatory amino-acid receptor participation at the PAG target region. Because kynurenic acid is not selective for one receptor class, this experiment cannot by itself assign the effect specifically to NMDA receptors.</a:t>
            </a:r>
          </a:p>
        </p:txBody>
      </p:sp>
      <p:pic>
        <p:nvPicPr>
          <p:cNvPr id="4" name="Picture 3" descr="n2.png"/>
          <p:cNvPicPr>
            <a:picLocks noChangeAspect="1"/>
          </p:cNvPicPr>
          <p:nvPr/>
        </p:nvPicPr>
        <p:blipFill>
          <a:blip r:embed="rId2"/>
          <a:stretch>
            <a:fillRect/>
          </a:stretch>
        </p:blipFill>
        <p:spPr>
          <a:xfrm>
            <a:off x="7352751" y="1280160"/>
            <a:ext cx="3423391"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2. Kynurenic acid reverses hypothalamic facilitation of the PAG response.</a:t>
            </a:r>
          </a:p>
        </p:txBody>
      </p:sp>
      <p:pic>
        <p:nvPicPr>
          <p:cNvPr id="6" name="Picture 5" descr="n1.png"/>
          <p:cNvPicPr>
            <a:picLocks noChangeAspect="1"/>
          </p:cNvPicPr>
          <p:nvPr/>
        </p:nvPicPr>
        <p:blipFill>
          <a:blip r:embed="rId3"/>
          <a:stretch>
            <a:fillRect/>
          </a:stretch>
        </p:blipFill>
        <p:spPr>
          <a:xfrm>
            <a:off x="8651373" y="4297680"/>
            <a:ext cx="826147"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1A,B. PAG and medial hypothalamic stimulation sites.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Lu et al. (1992)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Selective NMDA blockade reverses hypothalamic gain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NMDA receptors</a:t>
            </a:r>
            <a:r>
              <a:rPr sz="1600" b="0" i="0">
                <a:solidFill>
                  <a:srgbClr val="000000"/>
                </a:solidFill>
                <a:latin typeface="Arial"/>
              </a:rPr>
              <a:t> are excitatory amino-acid receptors named for the agonist N-methyl-D-aspartate. An </a:t>
            </a:r>
            <a:r>
              <a:rPr sz="1600" b="1" i="0">
                <a:solidFill>
                  <a:srgbClr val="444E55"/>
                </a:solidFill>
                <a:latin typeface="Arial"/>
              </a:rPr>
              <a:t>agonist</a:t>
            </a:r>
            <a:r>
              <a:rPr sz="1600" b="0" i="0">
                <a:solidFill>
                  <a:srgbClr val="000000"/>
                </a:solidFill>
                <a:latin typeface="Arial"/>
              </a:rPr>
              <a:t> activates a receptor, whereas an antagonist reduces its activation. Lu and colleagues tested the selective NMDA antagonist AP7 inside the PAG.</a:t>
            </a:r>
          </a:p>
          <a:p>
            <a:pPr algn="l">
              <a:lnSpc>
                <a:spcPct val="108000"/>
              </a:lnSpc>
              <a:spcAft>
                <a:spcPts val="960"/>
              </a:spcAft>
            </a:pPr>
            <a:r>
              <a:rPr sz="1600" b="0" i="0">
                <a:solidFill>
                  <a:srgbClr val="000000"/>
                </a:solidFill>
                <a:latin typeface="Arial"/>
              </a:rPr>
              <a:t>A 2 nmol AP7 injection changed dual-stimulation latency from about 17% below the PAG-only reference to about 42% above it during the early post-injection period. The effect weakened with recovery; 0.1 nmol AP7 did not produce a comparable blockade.</a:t>
            </a:r>
          </a:p>
          <a:p>
            <a:pPr algn="l">
              <a:lnSpc>
                <a:spcPct val="108000"/>
              </a:lnSpc>
              <a:spcAft>
                <a:spcPts val="960"/>
              </a:spcAft>
            </a:pPr>
            <a:r>
              <a:rPr sz="1600" b="0" i="0">
                <a:solidFill>
                  <a:srgbClr val="000000"/>
                </a:solidFill>
                <a:latin typeface="Arial"/>
              </a:rPr>
              <a:t>The combination of receptor selectivity, dose dependence, and recovery supports NMDA participation in hypothalamic facilitation. Hissing latency is the measured output. The study did not record membrane current or identify which PAG neurons express the behaviorally relevant receptors.</a:t>
            </a:r>
          </a:p>
        </p:txBody>
      </p:sp>
      <p:pic>
        <p:nvPicPr>
          <p:cNvPr id="4" name="Picture 3" descr="n3.png"/>
          <p:cNvPicPr>
            <a:picLocks noChangeAspect="1"/>
          </p:cNvPicPr>
          <p:nvPr/>
        </p:nvPicPr>
        <p:blipFill>
          <a:blip r:embed="rId2"/>
          <a:stretch>
            <a:fillRect/>
          </a:stretch>
        </p:blipFill>
        <p:spPr>
          <a:xfrm>
            <a:off x="7247077" y="1280160"/>
            <a:ext cx="3634740"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3. AP7 dose and recovery time compared with CNQX.</a:t>
            </a:r>
          </a:p>
        </p:txBody>
      </p:sp>
      <p:pic>
        <p:nvPicPr>
          <p:cNvPr id="6" name="Picture 5" descr="n1.png"/>
          <p:cNvPicPr>
            <a:picLocks noChangeAspect="1"/>
          </p:cNvPicPr>
          <p:nvPr/>
        </p:nvPicPr>
        <p:blipFill>
          <a:blip r:embed="rId3"/>
          <a:stretch>
            <a:fillRect/>
          </a:stretch>
        </p:blipFill>
        <p:spPr>
          <a:xfrm>
            <a:off x="8651373" y="4297680"/>
            <a:ext cx="826147"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1A,B. PAG and medial hypothalamic stimulation sites.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Lu et al. (1992)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Local NMDA activation makes hissing occur sooner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Lu and colleagues directly injected NMDA into PAG defensive sites without concurrent stimulation of the hypothalamus. This tested whether local receptor activation could reproduce the facilitation associated with the upstream input while the PAG stimulation procedure remained in place.</a:t>
            </a:r>
          </a:p>
          <a:p>
            <a:pPr algn="l">
              <a:lnSpc>
                <a:spcPct val="108000"/>
              </a:lnSpc>
              <a:spcAft>
                <a:spcPts val="960"/>
              </a:spcAft>
            </a:pPr>
            <a:r>
              <a:rPr sz="1600" b="0" i="0">
                <a:solidFill>
                  <a:srgbClr val="000000"/>
                </a:solidFill>
                <a:latin typeface="Arial"/>
              </a:rPr>
              <a:t>A 1.0 nmol NMDA injection shortened hissing latency by about 48% during the first 5–15 min. A 0.5 nmol dose produced a smaller, approximately 27% reduction. Latencies returned toward baseline within the subsequent observation periods.</a:t>
            </a:r>
          </a:p>
          <a:p>
            <a:pPr algn="l">
              <a:lnSpc>
                <a:spcPct val="108000"/>
              </a:lnSpc>
              <a:spcAft>
                <a:spcPts val="960"/>
              </a:spcAft>
            </a:pPr>
            <a:r>
              <a:rPr sz="1600" b="0" i="0">
                <a:solidFill>
                  <a:srgbClr val="000000"/>
                </a:solidFill>
                <a:latin typeface="Arial"/>
              </a:rPr>
              <a:t>Local activation therefore supplied a facilitatory influence on an electrically elicited response. It did not establish that NMDA alone generates a complete natural defensive episode. The transient dose-dependent result supports modulation of PAG excitability rather than permanent alteration of the circuit.</a:t>
            </a:r>
          </a:p>
        </p:txBody>
      </p:sp>
      <p:pic>
        <p:nvPicPr>
          <p:cNvPr id="4" name="Picture 3" descr="n4.png"/>
          <p:cNvPicPr>
            <a:picLocks noChangeAspect="1"/>
          </p:cNvPicPr>
          <p:nvPr/>
        </p:nvPicPr>
        <p:blipFill>
          <a:blip r:embed="rId2"/>
          <a:stretch>
            <a:fillRect/>
          </a:stretch>
        </p:blipFill>
        <p:spPr>
          <a:xfrm>
            <a:off x="7253935" y="1280160"/>
            <a:ext cx="3621024"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4. NMDA microinjection decreases hissing latency.</a:t>
            </a:r>
          </a:p>
        </p:txBody>
      </p:sp>
      <p:pic>
        <p:nvPicPr>
          <p:cNvPr id="6" name="Picture 5" descr="s6a.png"/>
          <p:cNvPicPr>
            <a:picLocks noChangeAspect="1"/>
          </p:cNvPicPr>
          <p:nvPr/>
        </p:nvPicPr>
        <p:blipFill>
          <a:blip r:embed="rId3"/>
          <a:stretch>
            <a:fillRect/>
          </a:stretch>
        </p:blipFill>
        <p:spPr>
          <a:xfrm>
            <a:off x="8678096" y="4297680"/>
            <a:ext cx="772700"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6A,D. PAG tissue surrounding the aqueduct and receptor labeling; 100 μm bar.</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Lu et al. (1992); 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Receptor controls narrow the excitatory explanation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Lu and colleagues compared NMDA blockade with other receptor interventions at the same PAG sites. CNQX, which blocks non-NMDA excitatory amino-acid receptors, produced only small changes at 4 nmol. Atropine, a muscarinic acetylcholine receptor antagonist, had little effect at 4.4 nmol.</a:t>
            </a:r>
          </a:p>
          <a:p>
            <a:pPr algn="l">
              <a:lnSpc>
                <a:spcPct val="108000"/>
              </a:lnSpc>
              <a:spcAft>
                <a:spcPts val="960"/>
              </a:spcAft>
            </a:pPr>
            <a:r>
              <a:rPr sz="1600" b="0" i="0">
                <a:solidFill>
                  <a:srgbClr val="000000"/>
                </a:solidFill>
                <a:latin typeface="Arial"/>
              </a:rPr>
              <a:t>These local injections were compared with the larger reversal produced by AP7. The contrast narrows the explanation for medial hypothalamic facilitation toward NMDA receptor participation rather than indiscriminate disruption by fluid delivery or any receptor antagonist.</a:t>
            </a:r>
          </a:p>
          <a:p>
            <a:pPr algn="l">
              <a:lnSpc>
                <a:spcPct val="108000"/>
              </a:lnSpc>
              <a:spcAft>
                <a:spcPts val="960"/>
              </a:spcAft>
            </a:pPr>
            <a:r>
              <a:rPr sz="1600" b="0" i="0">
                <a:solidFill>
                  <a:srgbClr val="000000"/>
                </a:solidFill>
                <a:latin typeface="Arial"/>
              </a:rPr>
              <a:t>A negative result is limited to the dose, site, and response tested. It does not exclude non-NMDA or muscarinic signaling elsewhere in the brain, during sensory recognition, or under natural threat conditions. The intervention addresses one experimentally activated circuit link.</a:t>
            </a:r>
          </a:p>
        </p:txBody>
      </p:sp>
      <p:pic>
        <p:nvPicPr>
          <p:cNvPr id="4" name="Picture 3" descr="n3.png"/>
          <p:cNvPicPr>
            <a:picLocks noChangeAspect="1"/>
          </p:cNvPicPr>
          <p:nvPr/>
        </p:nvPicPr>
        <p:blipFill>
          <a:blip r:embed="rId2"/>
          <a:stretch>
            <a:fillRect/>
          </a:stretch>
        </p:blipFill>
        <p:spPr>
          <a:xfrm>
            <a:off x="7247077" y="1280160"/>
            <a:ext cx="3634740"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3. AP7 dose and recovery time compared with CNQX.</a:t>
            </a:r>
          </a:p>
        </p:txBody>
      </p:sp>
      <p:pic>
        <p:nvPicPr>
          <p:cNvPr id="6" name="Picture 5" descr="n1.png"/>
          <p:cNvPicPr>
            <a:picLocks noChangeAspect="1"/>
          </p:cNvPicPr>
          <p:nvPr/>
        </p:nvPicPr>
        <p:blipFill>
          <a:blip r:embed="rId3"/>
          <a:stretch>
            <a:fillRect/>
          </a:stretch>
        </p:blipFill>
        <p:spPr>
          <a:xfrm>
            <a:off x="8651373" y="4297680"/>
            <a:ext cx="826147"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1A,B. PAG and medial hypothalamic stimulation sites.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Lu et al. (1992)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Tracing identifies hypothalamic neurons reaching the PAG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Retrograde tracing</a:t>
            </a:r>
            <a:r>
              <a:rPr sz="1600" b="0" i="0">
                <a:solidFill>
                  <a:srgbClr val="000000"/>
                </a:solidFill>
                <a:latin typeface="Arial"/>
              </a:rPr>
              <a:t> labels neurons by transporting a marker from their axonal terminal region back to their cell bodies. Lu and colleagues injected Fluoro-Gold into behaviorally identified PAG sites and examined hypothalamic labeling after 5–6 days.</a:t>
            </a:r>
          </a:p>
          <a:p>
            <a:pPr algn="l">
              <a:lnSpc>
                <a:spcPct val="108000"/>
              </a:lnSpc>
              <a:spcAft>
                <a:spcPts val="960"/>
              </a:spcAft>
            </a:pPr>
            <a:r>
              <a:rPr sz="1600" b="0" i="0">
                <a:solidFill>
                  <a:srgbClr val="000000"/>
                </a:solidFill>
                <a:latin typeface="Arial"/>
              </a:rPr>
              <a:t>Labeled neurons extended through the medial hypothalamus, with concentrations in dorsomedial and perifornical regions. Immunocytochemistry, the use of antibodies to detect tissue components, identified aspartate- or glutamate-positive cells, including cells also carrying the retrograde marker.</a:t>
            </a:r>
          </a:p>
          <a:p>
            <a:pPr algn="l">
              <a:lnSpc>
                <a:spcPct val="108000"/>
              </a:lnSpc>
              <a:spcAft>
                <a:spcPts val="960"/>
              </a:spcAft>
            </a:pPr>
            <a:r>
              <a:rPr sz="1600" b="0" i="0">
                <a:solidFill>
                  <a:srgbClr val="000000"/>
                </a:solidFill>
                <a:latin typeface="Arial"/>
              </a:rPr>
              <a:t>Double labeling supports an anatomical projection containing excitatory amino-acid-associated neurons. It does not directly measure transmitter release during hissing or verify that every labeled cell participates in defense. Projection anatomy and the receptor-blockade results supply different kinds of evidence for the same proposed pathway.</a:t>
            </a:r>
          </a:p>
        </p:txBody>
      </p:sp>
      <p:pic>
        <p:nvPicPr>
          <p:cNvPr id="4" name="Picture 3" descr="n5.png"/>
          <p:cNvPicPr>
            <a:picLocks noChangeAspect="1"/>
          </p:cNvPicPr>
          <p:nvPr/>
        </p:nvPicPr>
        <p:blipFill>
          <a:blip r:embed="rId2"/>
          <a:stretch>
            <a:fillRect/>
          </a:stretch>
        </p:blipFill>
        <p:spPr>
          <a:xfrm>
            <a:off x="8489981" y="1280160"/>
            <a:ext cx="1148930"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5A,B. PAG tracer sites and hypothalamic amino-acid labeling.</a:t>
            </a:r>
          </a:p>
        </p:txBody>
      </p:sp>
      <p:pic>
        <p:nvPicPr>
          <p:cNvPr id="6" name="Picture 5" descr="n6def.png"/>
          <p:cNvPicPr>
            <a:picLocks noChangeAspect="1"/>
          </p:cNvPicPr>
          <p:nvPr/>
        </p:nvPicPr>
        <p:blipFill>
          <a:blip r:embed="rId3"/>
          <a:stretch>
            <a:fillRect/>
          </a:stretch>
        </p:blipFill>
        <p:spPr>
          <a:xfrm>
            <a:off x="7092742" y="4297680"/>
            <a:ext cx="3943409"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6D–F. Retrogradely labeled hypothalamic cells and double-labeled neuron.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Lu et al. (1992)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Amino-acid labeling supports a candidate synaptic link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Lu study detected aspartate-positive fibers and preterminal profiles in the dorsal PAG. </a:t>
            </a:r>
            <a:r>
              <a:rPr sz="1600" b="1" i="0">
                <a:solidFill>
                  <a:srgbClr val="444E55"/>
                </a:solidFill>
                <a:latin typeface="Arial"/>
              </a:rPr>
              <a:t>Preterminal</a:t>
            </a:r>
            <a:r>
              <a:rPr sz="1600" b="0" i="0">
                <a:solidFill>
                  <a:srgbClr val="000000"/>
                </a:solidFill>
                <a:latin typeface="Arial"/>
              </a:rPr>
              <a:t> refers to an axonal segment approaching a terminal region. Aspartate-positive cells and retrogradely labeled cells also occurred in the medial hypothalamus.</a:t>
            </a:r>
          </a:p>
          <a:p>
            <a:pPr algn="l">
              <a:lnSpc>
                <a:spcPct val="108000"/>
              </a:lnSpc>
              <a:spcAft>
                <a:spcPts val="960"/>
              </a:spcAft>
            </a:pPr>
            <a:r>
              <a:rPr sz="1600" b="0" i="0">
                <a:solidFill>
                  <a:srgbClr val="000000"/>
                </a:solidFill>
                <a:latin typeface="Arial"/>
              </a:rPr>
              <a:t>A neuron could carry both Fluoro-Gold from the PAG projection target and amino-acid immunoreactivity. The published tissue panels preserve 100 μm and 25 μm scale bars, distinguishing regional localization from individual cellular labeling.</a:t>
            </a:r>
          </a:p>
          <a:p>
            <a:pPr algn="l">
              <a:lnSpc>
                <a:spcPct val="108000"/>
              </a:lnSpc>
              <a:spcAft>
                <a:spcPts val="960"/>
              </a:spcAft>
            </a:pPr>
            <a:r>
              <a:rPr sz="1600" b="0" i="0">
                <a:solidFill>
                  <a:srgbClr val="000000"/>
                </a:solidFill>
                <a:latin typeface="Arial"/>
              </a:rPr>
              <a:t>These observations are compatible with an excitatory descending connection acting through PAG NMDA receptors. Amino-acid immunoreactivity alone does not prove synaptic release, and the study did not record identified synapses. The stronger interpretation depends on agreement between anatomical labeling and local pharmacological manipulation of hissing latency.</a:t>
            </a:r>
          </a:p>
        </p:txBody>
      </p:sp>
      <p:pic>
        <p:nvPicPr>
          <p:cNvPr id="4" name="Picture 3" descr="n6ab.png"/>
          <p:cNvPicPr>
            <a:picLocks noChangeAspect="1"/>
          </p:cNvPicPr>
          <p:nvPr/>
        </p:nvPicPr>
        <p:blipFill>
          <a:blip r:embed="rId2"/>
          <a:stretch>
            <a:fillRect/>
          </a:stretch>
        </p:blipFill>
        <p:spPr>
          <a:xfrm>
            <a:off x="7681099" y="1280160"/>
            <a:ext cx="2766696"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Lu et al. (1992), Fig. 6A–C. PAG tracer site, aspartate-positive fibers, and hypothalamic cells.</a:t>
            </a:r>
          </a:p>
        </p:txBody>
      </p:sp>
      <p:pic>
        <p:nvPicPr>
          <p:cNvPr id="6" name="Picture 5" descr="s6a.png"/>
          <p:cNvPicPr>
            <a:picLocks noChangeAspect="1"/>
          </p:cNvPicPr>
          <p:nvPr/>
        </p:nvPicPr>
        <p:blipFill>
          <a:blip r:embed="rId3"/>
          <a:stretch>
            <a:fillRect/>
          </a:stretch>
        </p:blipFill>
        <p:spPr>
          <a:xfrm>
            <a:off x="8678096" y="4297680"/>
            <a:ext cx="772700"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6A,D. PAG tissue surrounding the aqueduct and receptor labeling; 100 μm bar.</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Lu et al. (1992); 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Lateral hypothalamic input can inhibit defense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Cheu and Siegel paired stimulation of a medial hypothalamic defensive site with stimulation of the lateral hypothalamus. </a:t>
            </a:r>
            <a:r>
              <a:rPr sz="1600" b="1" i="0">
                <a:solidFill>
                  <a:srgbClr val="444E55"/>
                </a:solidFill>
                <a:latin typeface="Arial"/>
              </a:rPr>
              <a:t>Inhibition</a:t>
            </a:r>
            <a:r>
              <a:rPr sz="1600" b="0" i="0">
                <a:solidFill>
                  <a:srgbClr val="000000"/>
                </a:solidFill>
                <a:latin typeface="Arial"/>
              </a:rPr>
              <a:t> here means a reduction in expression of the elicited defensive response, operationalized as a longer latency to hissing.</a:t>
            </a:r>
          </a:p>
          <a:p>
            <a:pPr algn="l">
              <a:lnSpc>
                <a:spcPct val="108000"/>
              </a:lnSpc>
              <a:spcAft>
                <a:spcPts val="960"/>
              </a:spcAft>
            </a:pPr>
            <a:r>
              <a:rPr sz="1600" b="0" i="0">
                <a:solidFill>
                  <a:srgbClr val="000000"/>
                </a:solidFill>
                <a:latin typeface="Arial"/>
              </a:rPr>
              <a:t>With medial stimulation alone, mean latency was 7.21 s; during dual medial and lateral stimulation it was 12.28 s. These differences persisted during the saline-control observation period, rather than appearing only after a drug injection.</a:t>
            </a:r>
          </a:p>
          <a:p>
            <a:pPr algn="l">
              <a:lnSpc>
                <a:spcPct val="108000"/>
              </a:lnSpc>
              <a:spcAft>
                <a:spcPts val="960"/>
              </a:spcAft>
            </a:pPr>
            <a:r>
              <a:rPr sz="1600" b="0" i="0">
                <a:solidFill>
                  <a:srgbClr val="000000"/>
                </a:solidFill>
                <a:latin typeface="Arial"/>
              </a:rPr>
              <a:t>The result contrasts with the facilitatory medial-hypothalamic–PAG relationship. A region can influence defense by suppressing another site’s output, not only by driving a response directly. Electrical interaction establishes functional suppression but does not, by itself, identify the inhibitory transmitter or the contributing cells.</a:t>
            </a:r>
          </a:p>
        </p:txBody>
      </p:sp>
      <p:pic>
        <p:nvPicPr>
          <p:cNvPr id="4" name="Picture 3" descr="g2.png"/>
          <p:cNvPicPr>
            <a:picLocks noChangeAspect="1"/>
          </p:cNvPicPr>
          <p:nvPr/>
        </p:nvPicPr>
        <p:blipFill>
          <a:blip r:embed="rId2"/>
          <a:stretch>
            <a:fillRect/>
          </a:stretch>
        </p:blipFill>
        <p:spPr>
          <a:xfrm>
            <a:off x="7191398" y="1280160"/>
            <a:ext cx="3746097"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2. Single and dual stimulation differ in hiss latency.</a:t>
            </a:r>
          </a:p>
        </p:txBody>
      </p:sp>
      <p:pic>
        <p:nvPicPr>
          <p:cNvPr id="6" name="Picture 5" descr="g1.png"/>
          <p:cNvPicPr>
            <a:picLocks noChangeAspect="1"/>
          </p:cNvPicPr>
          <p:nvPr/>
        </p:nvPicPr>
        <p:blipFill>
          <a:blip r:embed="rId3"/>
          <a:stretch>
            <a:fillRect/>
          </a:stretch>
        </p:blipFill>
        <p:spPr>
          <a:xfrm>
            <a:off x="8458306" y="4297680"/>
            <a:ext cx="1212280"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1. Medial defensive sites and lateral suppressive sites.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Cheu &amp; Siegel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GABA blockade weakens lateral suppression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444E55"/>
                </a:solidFill>
                <a:latin typeface="Arial"/>
              </a:rPr>
              <a:t>GABA</a:t>
            </a:r>
            <a:r>
              <a:rPr sz="1700" b="0" i="0">
                <a:solidFill>
                  <a:srgbClr val="000000"/>
                </a:solidFill>
                <a:latin typeface="Arial"/>
              </a:rPr>
              <a:t>, gamma-aminobutyric acid, is an inhibitory neurotransmitter. Cheu and Siegel injected bicuculline, a GABA-A receptor antagonist, into the medial hypothalamic site while testing lateral hypothalamic suppression of defensive rage.</a:t>
            </a:r>
          </a:p>
          <a:p>
            <a:pPr algn="l">
              <a:lnSpc>
                <a:spcPct val="108000"/>
              </a:lnSpc>
              <a:spcAft>
                <a:spcPts val="1019"/>
              </a:spcAft>
            </a:pPr>
            <a:r>
              <a:rPr sz="1700" b="0" i="0">
                <a:solidFill>
                  <a:srgbClr val="000000"/>
                </a:solidFill>
                <a:latin typeface="Arial"/>
              </a:rPr>
              <a:t>At 60 pmol, bicuculline reduced the suppressive effect from about 73% before injection to about 15% in the early observation period. The suppression returned toward baseline by 180–200 min. A 10 pmol dose and saline did not produce the same blockade.</a:t>
            </a:r>
          </a:p>
          <a:p>
            <a:pPr algn="l">
              <a:lnSpc>
                <a:spcPct val="108000"/>
              </a:lnSpc>
              <a:spcAft>
                <a:spcPts val="1019"/>
              </a:spcAft>
            </a:pPr>
            <a:r>
              <a:rPr sz="1700" b="0" i="0">
                <a:solidFill>
                  <a:srgbClr val="000000"/>
                </a:solidFill>
                <a:latin typeface="Arial"/>
              </a:rPr>
              <a:t>This local, reversible effect supports a GABA-A-dependent component of the inhibitory influence reaching the medial hypothalamus. It does not establish the pattern of GABA release during spontaneous fear. The study measured behavior after circuit stimulation rather than identified-cell firing in a natural encounter.</a:t>
            </a:r>
          </a:p>
        </p:txBody>
      </p:sp>
      <p:pic>
        <p:nvPicPr>
          <p:cNvPr id="4" name="Picture 3" descr="g3.png"/>
          <p:cNvPicPr>
            <a:picLocks noChangeAspect="1"/>
          </p:cNvPicPr>
          <p:nvPr/>
        </p:nvPicPr>
        <p:blipFill>
          <a:blip r:embed="rId2"/>
          <a:stretch>
            <a:fillRect/>
          </a:stretch>
        </p:blipFill>
        <p:spPr>
          <a:xfrm>
            <a:off x="7259783" y="1280160"/>
            <a:ext cx="3609327"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3. Bicuculline blocks lateral hypothalamic suppression.</a:t>
            </a:r>
          </a:p>
        </p:txBody>
      </p:sp>
      <p:pic>
        <p:nvPicPr>
          <p:cNvPr id="6" name="Picture 5" descr="g9.png"/>
          <p:cNvPicPr>
            <a:picLocks noChangeAspect="1"/>
          </p:cNvPicPr>
          <p:nvPr/>
        </p:nvPicPr>
        <p:blipFill>
          <a:blip r:embed="rId3"/>
          <a:stretch>
            <a:fillRect/>
          </a:stretch>
        </p:blipFill>
        <p:spPr>
          <a:xfrm>
            <a:off x="7538015" y="4297680"/>
            <a:ext cx="305286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9. Original medial hypothalamic tracer injection histology and localization.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Cheu &amp; Siegel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Muscimol increases the threshold for defensive output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Cheu and Siegel activated medial hypothalamic GABA-A receptors with </a:t>
            </a:r>
            <a:r>
              <a:rPr sz="1600" b="1" i="0">
                <a:solidFill>
                  <a:srgbClr val="444E55"/>
                </a:solidFill>
                <a:latin typeface="Arial"/>
              </a:rPr>
              <a:t>muscimol</a:t>
            </a:r>
            <a:r>
              <a:rPr sz="1600" b="0" i="0">
                <a:solidFill>
                  <a:srgbClr val="000000"/>
                </a:solidFill>
                <a:latin typeface="Arial"/>
              </a:rPr>
              <a:t>, a receptor agonist, instead of stimulating the lateral inhibitory site. The question was whether local receptor activation could suppress defensive output from the target region.</a:t>
            </a:r>
          </a:p>
          <a:p>
            <a:pPr algn="l">
              <a:lnSpc>
                <a:spcPct val="108000"/>
              </a:lnSpc>
              <a:spcAft>
                <a:spcPts val="960"/>
              </a:spcAft>
            </a:pPr>
            <a:r>
              <a:rPr sz="1600" b="0" i="0">
                <a:solidFill>
                  <a:srgbClr val="000000"/>
                </a:solidFill>
                <a:latin typeface="Arial"/>
              </a:rPr>
              <a:t>A 30 pmol muscimol injection increased the stimulation-current threshold by about 155 μA early after delivery. </a:t>
            </a:r>
            <a:r>
              <a:rPr sz="1600" b="1" i="0">
                <a:solidFill>
                  <a:srgbClr val="444E55"/>
                </a:solidFill>
                <a:latin typeface="Arial"/>
              </a:rPr>
              <a:t>Threshold</a:t>
            </a:r>
            <a:r>
              <a:rPr sz="1600" b="0" i="0">
                <a:solidFill>
                  <a:srgbClr val="000000"/>
                </a:solidFill>
                <a:latin typeface="Arial"/>
              </a:rPr>
              <a:t> means the electrical current required to elicit the response. Lower doses lacked the same pronounced effect, and the increase weakened over time.</a:t>
            </a:r>
          </a:p>
          <a:p>
            <a:pPr algn="l">
              <a:lnSpc>
                <a:spcPct val="108000"/>
              </a:lnSpc>
              <a:spcAft>
                <a:spcPts val="960"/>
              </a:spcAft>
            </a:pPr>
            <a:r>
              <a:rPr sz="1600" b="0" i="0">
                <a:solidFill>
                  <a:srgbClr val="000000"/>
                </a:solidFill>
                <a:latin typeface="Arial"/>
              </a:rPr>
              <a:t>The threshold measurement differs from hissing latency at a fixed current. A stronger input was required to recruit behavior after local inhibition. This supports receptor-dependent suppression, but it does not establish a clinical treatment for fearful cats or determine how natural threat recognition recruits the circuit.</a:t>
            </a:r>
          </a:p>
        </p:txBody>
      </p:sp>
      <p:pic>
        <p:nvPicPr>
          <p:cNvPr id="4" name="Picture 3" descr="g5.png"/>
          <p:cNvPicPr>
            <a:picLocks noChangeAspect="1"/>
          </p:cNvPicPr>
          <p:nvPr/>
        </p:nvPicPr>
        <p:blipFill>
          <a:blip r:embed="rId2"/>
          <a:stretch>
            <a:fillRect/>
          </a:stretch>
        </p:blipFill>
        <p:spPr>
          <a:xfrm>
            <a:off x="7169796" y="1280160"/>
            <a:ext cx="3789300"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5. Muscimol increases the current threshold for defensive rage.</a:t>
            </a:r>
          </a:p>
        </p:txBody>
      </p:sp>
      <p:pic>
        <p:nvPicPr>
          <p:cNvPr id="6" name="Picture 5" descr="g9.png"/>
          <p:cNvPicPr>
            <a:picLocks noChangeAspect="1"/>
          </p:cNvPicPr>
          <p:nvPr/>
        </p:nvPicPr>
        <p:blipFill>
          <a:blip r:embed="rId3"/>
          <a:stretch>
            <a:fillRect/>
          </a:stretch>
        </p:blipFill>
        <p:spPr>
          <a:xfrm>
            <a:off x="7538015" y="4297680"/>
            <a:ext cx="305286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9. Original medial hypothalamic tracer injection histology and localization.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Cheu &amp; Siegel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An antagonist reverses the agonist’s suppressive effect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Cheu and Siegel pretreated the medial hypothalamic site with bicuculline before injecting muscimol. </a:t>
            </a:r>
            <a:r>
              <a:rPr sz="1600" b="1" i="0">
                <a:solidFill>
                  <a:srgbClr val="444E55"/>
                </a:solidFill>
                <a:latin typeface="Arial"/>
              </a:rPr>
              <a:t>Pretreatment</a:t>
            </a:r>
            <a:r>
              <a:rPr sz="1600" b="0" i="0">
                <a:solidFill>
                  <a:srgbClr val="000000"/>
                </a:solidFill>
                <a:latin typeface="Arial"/>
              </a:rPr>
              <a:t> means applying one intervention before another to test whether the second effect depends on the blocked receptor class.</a:t>
            </a:r>
          </a:p>
          <a:p>
            <a:pPr algn="l">
              <a:lnSpc>
                <a:spcPct val="108000"/>
              </a:lnSpc>
              <a:spcAft>
                <a:spcPts val="960"/>
              </a:spcAft>
            </a:pPr>
            <a:r>
              <a:rPr sz="1600" b="0" i="0">
                <a:solidFill>
                  <a:srgbClr val="000000"/>
                </a:solidFill>
                <a:latin typeface="Arial"/>
              </a:rPr>
              <a:t>A 60 pmol bicuculline pretreatment opposed suppression caused by 30 pmol muscimol. The early stimulation-threshold increase was reduced by about 143 μA relative to the muscimol-plus-saline condition. A lower bicuculline dose produced a smaller reversal.</a:t>
            </a:r>
          </a:p>
          <a:p>
            <a:pPr algn="l">
              <a:lnSpc>
                <a:spcPct val="108000"/>
              </a:lnSpc>
              <a:spcAft>
                <a:spcPts val="960"/>
              </a:spcAft>
            </a:pPr>
            <a:r>
              <a:rPr sz="1600" b="0" i="0">
                <a:solidFill>
                  <a:srgbClr val="000000"/>
                </a:solidFill>
                <a:latin typeface="Arial"/>
              </a:rPr>
              <a:t>The agonist–antagonist comparison supports GABA-A receptor participation more specifically than an agonist effect alone. It reduces the likelihood that the response reflects only injected volume or an unrelated muscimol action. It does not determine which individual cells were inhibited within the injection territory.</a:t>
            </a:r>
          </a:p>
        </p:txBody>
      </p:sp>
      <p:pic>
        <p:nvPicPr>
          <p:cNvPr id="4" name="Picture 3" descr="g6.png"/>
          <p:cNvPicPr>
            <a:picLocks noChangeAspect="1"/>
          </p:cNvPicPr>
          <p:nvPr/>
        </p:nvPicPr>
        <p:blipFill>
          <a:blip r:embed="rId2"/>
          <a:stretch>
            <a:fillRect/>
          </a:stretch>
        </p:blipFill>
        <p:spPr>
          <a:xfrm>
            <a:off x="7231396" y="1280160"/>
            <a:ext cx="3666100"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6. Bicuculline pretreatment blocks muscimol suppression.</a:t>
            </a:r>
          </a:p>
        </p:txBody>
      </p:sp>
      <p:pic>
        <p:nvPicPr>
          <p:cNvPr id="6" name="Picture 5" descr="g9.png"/>
          <p:cNvPicPr>
            <a:picLocks noChangeAspect="1"/>
          </p:cNvPicPr>
          <p:nvPr/>
        </p:nvPicPr>
        <p:blipFill>
          <a:blip r:embed="rId3"/>
          <a:stretch>
            <a:fillRect/>
          </a:stretch>
        </p:blipFill>
        <p:spPr>
          <a:xfrm>
            <a:off x="7538015" y="4297680"/>
            <a:ext cx="305286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9. Original medial hypothalamic tracer injection histology and localization.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Cheu &amp; Siegel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GABA receptor classes produce different outcomes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GABA-A and </a:t>
            </a:r>
            <a:r>
              <a:rPr sz="1700" b="1" i="0">
                <a:solidFill>
                  <a:srgbClr val="444E55"/>
                </a:solidFill>
                <a:latin typeface="Arial"/>
              </a:rPr>
              <a:t>GABA-B</a:t>
            </a:r>
            <a:r>
              <a:rPr sz="1700" b="0" i="0">
                <a:solidFill>
                  <a:srgbClr val="000000"/>
                </a:solidFill>
                <a:latin typeface="Arial"/>
              </a:rPr>
              <a:t> are different receptor classes. GABA-A receptors directly gate ion-channel signaling, whereas GABA-B receptors act through intracellular signaling proteins. Cheu and Siegel compared a GABA-B agonist with the GABA-A agonist used in their medial hypothalamic experiments.</a:t>
            </a:r>
          </a:p>
          <a:p>
            <a:pPr algn="l">
              <a:lnSpc>
                <a:spcPct val="108000"/>
              </a:lnSpc>
              <a:spcAft>
                <a:spcPts val="1019"/>
              </a:spcAft>
            </a:pPr>
            <a:r>
              <a:rPr sz="1700" b="0" i="0">
                <a:solidFill>
                  <a:srgbClr val="000000"/>
                </a:solidFill>
                <a:latin typeface="Arial"/>
              </a:rPr>
              <a:t>Baclofen at 120 pmol did not alter the latency or current threshold for defensive rage from the tested site. This dose was four times the highest muscimol dose used in the study, which had increased the response threshold.</a:t>
            </a:r>
          </a:p>
          <a:p>
            <a:pPr algn="l">
              <a:lnSpc>
                <a:spcPct val="108000"/>
              </a:lnSpc>
              <a:spcAft>
                <a:spcPts val="1019"/>
              </a:spcAft>
            </a:pPr>
            <a:r>
              <a:rPr sz="1700" b="0" i="0">
                <a:solidFill>
                  <a:srgbClr val="000000"/>
                </a:solidFill>
                <a:latin typeface="Arial"/>
              </a:rPr>
              <a:t>The contrast supports receptor-class selectivity under these experimental conditions. Equal amounts of different drugs do not imply equal receptor occupancy, so the finding does not prove that GABA-B receptors are absent or irrelevant throughout feline defensive circuitry.</a:t>
            </a:r>
          </a:p>
        </p:txBody>
      </p:sp>
      <p:pic>
        <p:nvPicPr>
          <p:cNvPr id="4" name="Picture 3" descr="g7.png"/>
          <p:cNvPicPr>
            <a:picLocks noChangeAspect="1"/>
          </p:cNvPicPr>
          <p:nvPr/>
        </p:nvPicPr>
        <p:blipFill>
          <a:blip r:embed="rId2"/>
          <a:stretch>
            <a:fillRect/>
          </a:stretch>
        </p:blipFill>
        <p:spPr>
          <a:xfrm>
            <a:off x="7338111" y="1280160"/>
            <a:ext cx="3452672"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7. Baclofen leaves hissing latency unchanged.</a:t>
            </a:r>
          </a:p>
        </p:txBody>
      </p:sp>
      <p:pic>
        <p:nvPicPr>
          <p:cNvPr id="6" name="Picture 5" descr="g9.png"/>
          <p:cNvPicPr>
            <a:picLocks noChangeAspect="1"/>
          </p:cNvPicPr>
          <p:nvPr/>
        </p:nvPicPr>
        <p:blipFill>
          <a:blip r:embed="rId3"/>
          <a:stretch>
            <a:fillRect/>
          </a:stretch>
        </p:blipFill>
        <p:spPr>
          <a:xfrm>
            <a:off x="7538015" y="4297680"/>
            <a:ext cx="305286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9. Original medial hypothalamic tracer injection histology and localization.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Cheu &amp; Siegel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The suppressive drug effect depends on injection site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Local injection narrows a pharmacological intervention to a region, but diffusion can complicate localization. Cheu and Siegel tested whether muscimol’s suppressive effect extended from the medial hypothalamus into adjoining lateral hypothalamic tissue.</a:t>
            </a:r>
          </a:p>
          <a:p>
            <a:pPr algn="l">
              <a:lnSpc>
                <a:spcPct val="108000"/>
              </a:lnSpc>
              <a:spcAft>
                <a:spcPts val="960"/>
              </a:spcAft>
            </a:pPr>
            <a:r>
              <a:rPr sz="1600" b="0" i="0">
                <a:solidFill>
                  <a:srgbClr val="000000"/>
                </a:solidFill>
                <a:latin typeface="Arial"/>
              </a:rPr>
              <a:t>A 60 pmol muscimol injection into the lateral hypothalamus did not change the latency or threshold for defense elicited from the medial site. This dose was twice the medial dose producing pronounced suppression. Tracer injections were also checked for their anatomical extent.</a:t>
            </a:r>
          </a:p>
          <a:p>
            <a:pPr algn="l">
              <a:lnSpc>
                <a:spcPct val="108000"/>
              </a:lnSpc>
              <a:spcAft>
                <a:spcPts val="960"/>
              </a:spcAft>
            </a:pPr>
            <a:r>
              <a:rPr sz="1600" b="0" i="0">
                <a:solidFill>
                  <a:srgbClr val="000000"/>
                </a:solidFill>
                <a:latin typeface="Arial"/>
              </a:rPr>
              <a:t>The neighboring-site comparison supports regional specificity of the suppressive effect. It does not prove that all drug remained within one microscopic nucleus or that the lateral hypothalamus lacks a role in defense. Its electrical stimulation had already supplied a distinct inhibitory influence on the medial response.</a:t>
            </a:r>
          </a:p>
        </p:txBody>
      </p:sp>
      <p:pic>
        <p:nvPicPr>
          <p:cNvPr id="4" name="Picture 3" descr="g8.png"/>
          <p:cNvPicPr>
            <a:picLocks noChangeAspect="1"/>
          </p:cNvPicPr>
          <p:nvPr/>
        </p:nvPicPr>
        <p:blipFill>
          <a:blip r:embed="rId2"/>
          <a:stretch>
            <a:fillRect/>
          </a:stretch>
        </p:blipFill>
        <p:spPr>
          <a:xfrm>
            <a:off x="6912172" y="1280160"/>
            <a:ext cx="4304549"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8. Lateral hypothalamic muscimol leaves latency unchanged.</a:t>
            </a:r>
          </a:p>
        </p:txBody>
      </p:sp>
      <p:pic>
        <p:nvPicPr>
          <p:cNvPr id="6" name="Picture 5" descr="g9.png"/>
          <p:cNvPicPr>
            <a:picLocks noChangeAspect="1"/>
          </p:cNvPicPr>
          <p:nvPr/>
        </p:nvPicPr>
        <p:blipFill>
          <a:blip r:embed="rId3"/>
          <a:stretch>
            <a:fillRect/>
          </a:stretch>
        </p:blipFill>
        <p:spPr>
          <a:xfrm>
            <a:off x="7538015" y="4297680"/>
            <a:ext cx="305286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9. Original medial hypothalamic tracer injection histology and localization.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Cheu &amp; Siegel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Lateral GABA-positive neurons project medially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Cheu and Siegel injected Fluoro-Gold into the medial hypothalamic defensive territory and then examined retrograde labeling in the lateral hypothalamus. They combined tracing with antibody detection of GABA to identify candidate inhibitory projection neurons.</a:t>
            </a:r>
          </a:p>
          <a:p>
            <a:pPr algn="l">
              <a:lnSpc>
                <a:spcPct val="108000"/>
              </a:lnSpc>
              <a:spcAft>
                <a:spcPts val="960"/>
              </a:spcAft>
            </a:pPr>
            <a:r>
              <a:rPr sz="1600" b="0" i="0">
                <a:solidFill>
                  <a:srgbClr val="000000"/>
                </a:solidFill>
                <a:latin typeface="Arial"/>
              </a:rPr>
              <a:t>Some lateral neurons contained both the tracer and GABA immunoreactivity. The injection focus was approximately 0.5–0.7 mm in diameter and did not visibly extend into the lateral hypothalamus. This localization reduced the possibility that lateral labeling simply reflected contamination by the injection itself.</a:t>
            </a:r>
          </a:p>
          <a:p>
            <a:pPr algn="l">
              <a:lnSpc>
                <a:spcPct val="108000"/>
              </a:lnSpc>
              <a:spcAft>
                <a:spcPts val="960"/>
              </a:spcAft>
            </a:pPr>
            <a:r>
              <a:rPr sz="1600" b="0" i="0">
                <a:solidFill>
                  <a:srgbClr val="000000"/>
                </a:solidFill>
                <a:latin typeface="Arial"/>
              </a:rPr>
              <a:t>The anatomical result supports a lateral-to-medial GABA-associated projection. Double labeling does not measure release at a functioning synapse. Together with bicuculline blockade and muscimol suppression, it supports a candidate inhibitory pathway while leaving its activity during naturally occurring threats unresolved.</a:t>
            </a:r>
          </a:p>
        </p:txBody>
      </p:sp>
      <p:pic>
        <p:nvPicPr>
          <p:cNvPr id="4" name="Picture 3" descr="g11.png"/>
          <p:cNvPicPr>
            <a:picLocks noChangeAspect="1"/>
          </p:cNvPicPr>
          <p:nvPr/>
        </p:nvPicPr>
        <p:blipFill>
          <a:blip r:embed="rId2"/>
          <a:stretch>
            <a:fillRect/>
          </a:stretch>
        </p:blipFill>
        <p:spPr>
          <a:xfrm>
            <a:off x="8261791" y="1280160"/>
            <a:ext cx="1605311"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11A–F. GABA and tracer labeling in lateral hypothalamic neurons.</a:t>
            </a:r>
          </a:p>
        </p:txBody>
      </p:sp>
      <p:pic>
        <p:nvPicPr>
          <p:cNvPr id="6" name="Picture 5" descr="g9.png"/>
          <p:cNvPicPr>
            <a:picLocks noChangeAspect="1"/>
          </p:cNvPicPr>
          <p:nvPr/>
        </p:nvPicPr>
        <p:blipFill>
          <a:blip r:embed="rId3"/>
          <a:stretch>
            <a:fillRect/>
          </a:stretch>
        </p:blipFill>
        <p:spPr>
          <a:xfrm>
            <a:off x="7538015" y="4297680"/>
            <a:ext cx="305286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9. Original medial hypothalamic tracer injection histology and localization.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Cheu &amp; Siegel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Baseline defense need not depend on tonic inhibition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Tonic inhibition</a:t>
            </a:r>
            <a:r>
              <a:rPr sz="1600" b="0" i="0">
                <a:solidFill>
                  <a:srgbClr val="000000"/>
                </a:solidFill>
                <a:latin typeface="Arial"/>
              </a:rPr>
              <a:t> is continuously maintained inhibitory influence, while episodic inhibition appears when a particular input is engaged. Cheu and Siegel tested bicuculline during medial hypothalamic stimulation alone, without concurrent lateral hypothalamic stimulation.</a:t>
            </a:r>
          </a:p>
          <a:p>
            <a:pPr algn="l">
              <a:lnSpc>
                <a:spcPct val="108000"/>
              </a:lnSpc>
              <a:spcAft>
                <a:spcPts val="960"/>
              </a:spcAft>
            </a:pPr>
            <a:r>
              <a:rPr sz="1600" b="0" i="0">
                <a:solidFill>
                  <a:srgbClr val="000000"/>
                </a:solidFill>
                <a:latin typeface="Arial"/>
              </a:rPr>
              <a:t>A 60 pmol injection left baseline hissing latency essentially unchanged: about 6.62 s before injection and 6.65 s in the early post-injection period. The same intervention blocked suppression when the lateral input was activated during dual stimulation.</a:t>
            </a:r>
          </a:p>
          <a:p>
            <a:pPr algn="l">
              <a:lnSpc>
                <a:spcPct val="108000"/>
              </a:lnSpc>
              <a:spcAft>
                <a:spcPts val="960"/>
              </a:spcAft>
            </a:pPr>
            <a:r>
              <a:rPr sz="1600" b="0" i="0">
                <a:solidFill>
                  <a:srgbClr val="000000"/>
                </a:solidFill>
                <a:latin typeface="Arial"/>
              </a:rPr>
              <a:t>The contrast is consistent with an inhibitory influence recruited by the lateral stimulation rather than strong continuous inhibition in this preparation. It does not exclude spontaneous GABA signaling or establish its temporal pattern in behaving animals outside the stimulation experiment. The conclusion concerns the tested conditions and the measured response.</a:t>
            </a:r>
          </a:p>
        </p:txBody>
      </p:sp>
      <p:pic>
        <p:nvPicPr>
          <p:cNvPr id="4" name="Picture 3" descr="g4.png"/>
          <p:cNvPicPr>
            <a:picLocks noChangeAspect="1"/>
          </p:cNvPicPr>
          <p:nvPr/>
        </p:nvPicPr>
        <p:blipFill>
          <a:blip r:embed="rId2"/>
          <a:stretch>
            <a:fillRect/>
          </a:stretch>
        </p:blipFill>
        <p:spPr>
          <a:xfrm>
            <a:off x="7252866" y="1280160"/>
            <a:ext cx="3623161"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4. Bicuculline does not change single-stimulation latency.</a:t>
            </a:r>
          </a:p>
        </p:txBody>
      </p:sp>
      <p:pic>
        <p:nvPicPr>
          <p:cNvPr id="6" name="Picture 5" descr="g9.png"/>
          <p:cNvPicPr>
            <a:picLocks noChangeAspect="1"/>
          </p:cNvPicPr>
          <p:nvPr/>
        </p:nvPicPr>
        <p:blipFill>
          <a:blip r:embed="rId3"/>
          <a:stretch>
            <a:fillRect/>
          </a:stretch>
        </p:blipFill>
        <p:spPr>
          <a:xfrm>
            <a:off x="7538015" y="4297680"/>
            <a:ext cx="305286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Cheu &amp; Siegel (1998), Fig. 9. Original medial hypothalamic tracer injection histology and localization.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Cheu &amp; Siegel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A cytokine can increase defensive circuit responsiveness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44E55"/>
                </a:solidFill>
                <a:latin typeface="Arial"/>
              </a:rPr>
              <a:t>cytokine</a:t>
            </a:r>
            <a:r>
              <a:rPr sz="1600" b="0" i="0">
                <a:solidFill>
                  <a:srgbClr val="000000"/>
                </a:solidFill>
                <a:latin typeface="Arial"/>
              </a:rPr>
              <a:t> is a signaling protein involved in immune and cellular communication. Bhatt and colleagues injected interleukin-1β, or IL-1β, into PAG sites while eliciting defensive hissing through the experimentally identified hypothalamic–PAG circuit.</a:t>
            </a:r>
          </a:p>
          <a:p>
            <a:pPr algn="l">
              <a:lnSpc>
                <a:spcPct val="108000"/>
              </a:lnSpc>
              <a:spcAft>
                <a:spcPts val="960"/>
              </a:spcAft>
            </a:pPr>
            <a:r>
              <a:rPr sz="1600" b="0" i="0">
                <a:solidFill>
                  <a:srgbClr val="000000"/>
                </a:solidFill>
                <a:latin typeface="Arial"/>
              </a:rPr>
              <a:t>A 5 ng injection produced maximal facilitation at about 60 min, corresponding to roughly a 42% reduction in hissing latency. The effect declined over subsequent observations but remained detectable at 180 min. Saline and the lowest tested dose lacked comparable facilitation.</a:t>
            </a:r>
          </a:p>
          <a:p>
            <a:pPr algn="l">
              <a:lnSpc>
                <a:spcPct val="108000"/>
              </a:lnSpc>
              <a:spcAft>
                <a:spcPts val="960"/>
              </a:spcAft>
            </a:pPr>
            <a:r>
              <a:rPr sz="1600" b="0" i="0">
                <a:solidFill>
                  <a:srgbClr val="000000"/>
                </a:solidFill>
                <a:latin typeface="Arial"/>
              </a:rPr>
              <a:t>The result establishes that local cytokine delivery can modulate a defensive response. It does not establish that infection invariably increases aggression or that the administered amount equals endogenous release during natural fear. The intervention tests one molecule at one identified circuit site.</a:t>
            </a:r>
          </a:p>
        </p:txBody>
      </p:sp>
      <p:pic>
        <p:nvPicPr>
          <p:cNvPr id="4" name="Picture 3" descr="s3.png"/>
          <p:cNvPicPr>
            <a:picLocks noChangeAspect="1"/>
          </p:cNvPicPr>
          <p:nvPr/>
        </p:nvPicPr>
        <p:blipFill>
          <a:blip r:embed="rId2"/>
          <a:stretch>
            <a:fillRect/>
          </a:stretch>
        </p:blipFill>
        <p:spPr>
          <a:xfrm>
            <a:off x="7295407" y="1280160"/>
            <a:ext cx="3538080"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3. PAG IL-1β dose and time dependence of hissing facilitation.</a:t>
            </a:r>
          </a:p>
        </p:txBody>
      </p:sp>
      <p:pic>
        <p:nvPicPr>
          <p:cNvPr id="6" name="Picture 5" descr="s6.png"/>
          <p:cNvPicPr>
            <a:picLocks noChangeAspect="1"/>
          </p:cNvPicPr>
          <p:nvPr/>
        </p:nvPicPr>
        <p:blipFill>
          <a:blip r:embed="rId3"/>
          <a:stretch>
            <a:fillRect/>
          </a:stretch>
        </p:blipFill>
        <p:spPr>
          <a:xfrm>
            <a:off x="8283510" y="4297680"/>
            <a:ext cx="156187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6A–E. Original PAG receptor labeling and antibody validation.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IL-1 receptor blockade prevents cytokine facilitation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Bhatt and colleagues pretreated a PAG defensive site with an antibody against the type-I IL-1 receptor before injecting IL-1β. A </a:t>
            </a:r>
            <a:r>
              <a:rPr sz="1600" b="1" i="0">
                <a:solidFill>
                  <a:srgbClr val="444E55"/>
                </a:solidFill>
                <a:latin typeface="Arial"/>
              </a:rPr>
              <a:t>receptor antibody</a:t>
            </a:r>
            <a:r>
              <a:rPr sz="1600" b="0" i="0">
                <a:solidFill>
                  <a:srgbClr val="000000"/>
                </a:solidFill>
                <a:latin typeface="Arial"/>
              </a:rPr>
              <a:t> can interfere with the interaction between a signaling molecule and its receptor.</a:t>
            </a:r>
          </a:p>
          <a:p>
            <a:pPr algn="l">
              <a:lnSpc>
                <a:spcPct val="108000"/>
              </a:lnSpc>
              <a:spcAft>
                <a:spcPts val="960"/>
              </a:spcAft>
            </a:pPr>
            <a:r>
              <a:rPr sz="1600" b="0" i="0">
                <a:solidFill>
                  <a:srgbClr val="000000"/>
                </a:solidFill>
                <a:latin typeface="Arial"/>
              </a:rPr>
              <a:t>Pretreatment 5 min before cytokine delivery blocked the facilitatory reduction in hissing latency. The receptor antibody alone did not appreciably change the baseline response. Thus, preventing the cytokine effect did not require eliminating electrically elicited hissing altogether.</a:t>
            </a:r>
          </a:p>
          <a:p>
            <a:pPr algn="l">
              <a:lnSpc>
                <a:spcPct val="108000"/>
              </a:lnSpc>
              <a:spcAft>
                <a:spcPts val="960"/>
              </a:spcAft>
            </a:pPr>
            <a:r>
              <a:rPr sz="1600" b="0" i="0">
                <a:solidFill>
                  <a:srgbClr val="000000"/>
                </a:solidFill>
                <a:latin typeface="Arial"/>
              </a:rPr>
              <a:t>The comparison supports involvement of the targeted IL-1 receptor in the administered cytokine’s action. It does not identify whether the behavioral effect arises directly in the recorded defensive neurons, indirectly through neighboring cells, or through a specific intracellular cascade. No identified-neuron recording was performed in this experiment.</a:t>
            </a:r>
          </a:p>
        </p:txBody>
      </p:sp>
      <p:pic>
        <p:nvPicPr>
          <p:cNvPr id="4" name="Picture 3" descr="s4a.png"/>
          <p:cNvPicPr>
            <a:picLocks noChangeAspect="1"/>
          </p:cNvPicPr>
          <p:nvPr/>
        </p:nvPicPr>
        <p:blipFill>
          <a:blip r:embed="rId2"/>
          <a:stretch>
            <a:fillRect/>
          </a:stretch>
        </p:blipFill>
        <p:spPr>
          <a:xfrm>
            <a:off x="6935321" y="1280160"/>
            <a:ext cx="4258251"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4a. IL-1 receptor antibody blocks cytokine facilitation.</a:t>
            </a:r>
          </a:p>
        </p:txBody>
      </p:sp>
      <p:pic>
        <p:nvPicPr>
          <p:cNvPr id="6" name="Picture 5" descr="s6.png"/>
          <p:cNvPicPr>
            <a:picLocks noChangeAspect="1"/>
          </p:cNvPicPr>
          <p:nvPr/>
        </p:nvPicPr>
        <p:blipFill>
          <a:blip r:embed="rId3"/>
          <a:stretch>
            <a:fillRect/>
          </a:stretch>
        </p:blipFill>
        <p:spPr>
          <a:xfrm>
            <a:off x="8283510" y="4297680"/>
            <a:ext cx="156187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6A–E. Original PAG receptor labeling and antibody validation.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An isotype control tests nonspecific antibody effects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444E55"/>
                </a:solidFill>
                <a:latin typeface="Arial"/>
              </a:rPr>
              <a:t>isotype control</a:t>
            </a:r>
            <a:r>
              <a:rPr sz="1600" b="0" i="0">
                <a:solidFill>
                  <a:srgbClr val="000000"/>
                </a:solidFill>
                <a:latin typeface="Arial"/>
              </a:rPr>
              <a:t> is an antibody of a comparable class that does not target the experimental receptor. Bhatt and colleagues used IgG2a to test whether antibody delivery alone nonspecifically prevented IL-1β from facilitating defensive rage.</a:t>
            </a:r>
          </a:p>
          <a:p>
            <a:pPr algn="l">
              <a:lnSpc>
                <a:spcPct val="108000"/>
              </a:lnSpc>
              <a:spcAft>
                <a:spcPts val="960"/>
              </a:spcAft>
            </a:pPr>
            <a:r>
              <a:rPr sz="1600" b="0" i="0">
                <a:solidFill>
                  <a:srgbClr val="000000"/>
                </a:solidFill>
                <a:latin typeface="Arial"/>
              </a:rPr>
              <a:t>The control antibody did not block facilitation after 5 ng IL-1β, and it did not appreciably alter baseline hissing when administered alone. The same 30–180 min observation windows were used to follow the cytokine effect across the treatment conditions.</a:t>
            </a:r>
          </a:p>
          <a:p>
            <a:pPr algn="l">
              <a:lnSpc>
                <a:spcPct val="108000"/>
              </a:lnSpc>
              <a:spcAft>
                <a:spcPts val="960"/>
              </a:spcAft>
            </a:pPr>
            <a:r>
              <a:rPr sz="1600" b="0" i="0">
                <a:solidFill>
                  <a:srgbClr val="000000"/>
                </a:solidFill>
                <a:latin typeface="Arial"/>
              </a:rPr>
              <a:t>This result strengthens the receptor-specific interpretation of the blocking antibody experiment. It does not establish absolute specificity for every molecular interaction, nor does it replace a direct measurement of receptor signaling. A comparison between targeting and control antibodies addresses a different confound from comparing cytokine with saline.</a:t>
            </a:r>
          </a:p>
        </p:txBody>
      </p:sp>
      <p:pic>
        <p:nvPicPr>
          <p:cNvPr id="4" name="Picture 3" descr="s4b.png"/>
          <p:cNvPicPr>
            <a:picLocks noChangeAspect="1"/>
          </p:cNvPicPr>
          <p:nvPr/>
        </p:nvPicPr>
        <p:blipFill>
          <a:blip r:embed="rId2"/>
          <a:stretch>
            <a:fillRect/>
          </a:stretch>
        </p:blipFill>
        <p:spPr>
          <a:xfrm>
            <a:off x="7118773" y="1280160"/>
            <a:ext cx="3891347"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4b. Isotype antibody does not block cytokine facilitation.</a:t>
            </a:r>
          </a:p>
        </p:txBody>
      </p:sp>
      <p:pic>
        <p:nvPicPr>
          <p:cNvPr id="6" name="Picture 5" descr="s6.png"/>
          <p:cNvPicPr>
            <a:picLocks noChangeAspect="1"/>
          </p:cNvPicPr>
          <p:nvPr/>
        </p:nvPicPr>
        <p:blipFill>
          <a:blip r:embed="rId3"/>
          <a:stretch>
            <a:fillRect/>
          </a:stretch>
        </p:blipFill>
        <p:spPr>
          <a:xfrm>
            <a:off x="8283510" y="4297680"/>
            <a:ext cx="156187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6A–E. Original PAG receptor labeling and antibody validation.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Serotonin receptor blockade prevents IL-1 facilitation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Serotonin</a:t>
            </a:r>
            <a:r>
              <a:rPr sz="1600" b="0" i="0">
                <a:solidFill>
                  <a:srgbClr val="000000"/>
                </a:solidFill>
                <a:latin typeface="Arial"/>
              </a:rPr>
              <a:t>, also called 5-HT, is a neuromodulator with multiple receptor classes. Bhatt and colleagues pretreated the PAG site with LY53857, a 5-HT2 receptor antagonist, before administering IL-1β during defensive-hissing experiments.</a:t>
            </a:r>
          </a:p>
          <a:p>
            <a:pPr algn="l">
              <a:lnSpc>
                <a:spcPct val="108000"/>
              </a:lnSpc>
              <a:spcAft>
                <a:spcPts val="960"/>
              </a:spcAft>
            </a:pPr>
            <a:r>
              <a:rPr sz="1600" b="0" i="0">
                <a:solidFill>
                  <a:srgbClr val="000000"/>
                </a:solidFill>
                <a:latin typeface="Arial"/>
              </a:rPr>
              <a:t>The antagonist prevented the latency reduction normally produced by 5 ng IL-1β. Antagonist delivery alone did not appreciably alter baseline hissing. The comparison supports serotonin-receptor participation in the cytokine-dependent increase in circuit responsiveness.</a:t>
            </a:r>
          </a:p>
          <a:p>
            <a:pPr algn="l">
              <a:lnSpc>
                <a:spcPct val="108000"/>
              </a:lnSpc>
              <a:spcAft>
                <a:spcPts val="960"/>
              </a:spcAft>
            </a:pPr>
            <a:r>
              <a:rPr sz="1600" b="0" i="0">
                <a:solidFill>
                  <a:srgbClr val="000000"/>
                </a:solidFill>
                <a:latin typeface="Arial"/>
              </a:rPr>
              <a:t>The tissue study labeled 5-HT2C receptors, but the behavioral pharmacology does not isolate every receptor subtype or the precise cellular interaction. A </a:t>
            </a:r>
            <a:r>
              <a:rPr sz="1600" b="1" i="0">
                <a:solidFill>
                  <a:srgbClr val="444E55"/>
                </a:solidFill>
                <a:latin typeface="Arial"/>
              </a:rPr>
              <a:t>neuromodulator</a:t>
            </a:r>
            <a:r>
              <a:rPr sz="1600" b="0" i="0">
                <a:solidFill>
                  <a:srgbClr val="000000"/>
                </a:solidFill>
                <a:latin typeface="Arial"/>
              </a:rPr>
              <a:t> changes how a circuit responds to other inputs; the experiment supports such an interaction without directly measuring serotonin release, intracellular signaling, or the activity of identified PAG neurons.</a:t>
            </a:r>
          </a:p>
        </p:txBody>
      </p:sp>
      <p:pic>
        <p:nvPicPr>
          <p:cNvPr id="4" name="Picture 3" descr="s5a.png"/>
          <p:cNvPicPr>
            <a:picLocks noChangeAspect="1"/>
          </p:cNvPicPr>
          <p:nvPr/>
        </p:nvPicPr>
        <p:blipFill>
          <a:blip r:embed="rId2"/>
          <a:stretch>
            <a:fillRect/>
          </a:stretch>
        </p:blipFill>
        <p:spPr>
          <a:xfrm>
            <a:off x="7376489" y="1280160"/>
            <a:ext cx="3375914"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5a. Serotonin receptor blockade prevents IL-1β facilitation.</a:t>
            </a:r>
          </a:p>
        </p:txBody>
      </p:sp>
      <p:pic>
        <p:nvPicPr>
          <p:cNvPr id="6" name="Picture 5" descr="s6.png"/>
          <p:cNvPicPr>
            <a:picLocks noChangeAspect="1"/>
          </p:cNvPicPr>
          <p:nvPr/>
        </p:nvPicPr>
        <p:blipFill>
          <a:blip r:embed="rId3"/>
          <a:stretch>
            <a:fillRect/>
          </a:stretch>
        </p:blipFill>
        <p:spPr>
          <a:xfrm>
            <a:off x="8283510" y="4297680"/>
            <a:ext cx="156187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6A–E. Original PAG receptor labeling and antibody validation.</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Other facilitatory receptor blockers do not match 5-HT2</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Bhatt and colleagues compared 5-HT2 blockade with blockade of NK-1 and CCKb receptors at the PAG site. </a:t>
            </a:r>
            <a:r>
              <a:rPr sz="1700" b="1" i="0">
                <a:solidFill>
                  <a:srgbClr val="444E55"/>
                </a:solidFill>
                <a:latin typeface="Arial"/>
              </a:rPr>
              <a:t>NK-1</a:t>
            </a:r>
            <a:r>
              <a:rPr sz="1700" b="0" i="0">
                <a:solidFill>
                  <a:srgbClr val="000000"/>
                </a:solidFill>
                <a:latin typeface="Arial"/>
              </a:rPr>
              <a:t> is a receptor for substance P, and </a:t>
            </a:r>
            <a:r>
              <a:rPr sz="1700" b="1" i="0">
                <a:solidFill>
                  <a:srgbClr val="444E55"/>
                </a:solidFill>
                <a:latin typeface="Arial"/>
              </a:rPr>
              <a:t>CCKb</a:t>
            </a:r>
            <a:r>
              <a:rPr sz="1700" b="0" i="0">
                <a:solidFill>
                  <a:srgbClr val="000000"/>
                </a:solidFill>
                <a:latin typeface="Arial"/>
              </a:rPr>
              <a:t> is a cholecystokinin receptor; both were candidate modulatory receptor classes in this preparation.</a:t>
            </a:r>
          </a:p>
          <a:p>
            <a:pPr algn="l">
              <a:lnSpc>
                <a:spcPct val="108000"/>
              </a:lnSpc>
              <a:spcAft>
                <a:spcPts val="1019"/>
              </a:spcAft>
            </a:pPr>
            <a:r>
              <a:rPr sz="1700" b="0" i="0">
                <a:solidFill>
                  <a:srgbClr val="000000"/>
                </a:solidFill>
                <a:latin typeface="Arial"/>
              </a:rPr>
              <a:t>GR82334 and CR2945 did not prevent the facilitation caused by 5 ng IL-1β during the tested observation period. These compounds also lacked an appreciable effect on baseline hissing when administered alone, unlike the selective loss of cytokine facilitation after 5-HT2 blockade.</a:t>
            </a:r>
          </a:p>
          <a:p>
            <a:pPr algn="l">
              <a:lnSpc>
                <a:spcPct val="108000"/>
              </a:lnSpc>
              <a:spcAft>
                <a:spcPts val="1019"/>
              </a:spcAft>
            </a:pPr>
            <a:r>
              <a:rPr sz="1700" b="0" i="0">
                <a:solidFill>
                  <a:srgbClr val="000000"/>
                </a:solidFill>
                <a:latin typeface="Arial"/>
              </a:rPr>
              <a:t>The comparison narrows the candidate receptor interaction rather than proving that the other signaling systems never influence defense. Their contribution could depend on other inputs or conditions. The result concerns IL-1β-mediated facilitation at the tested PAG sites and doses.</a:t>
            </a:r>
          </a:p>
        </p:txBody>
      </p:sp>
      <p:pic>
        <p:nvPicPr>
          <p:cNvPr id="4" name="Picture 3" descr="s5bc.png"/>
          <p:cNvPicPr>
            <a:picLocks noChangeAspect="1"/>
          </p:cNvPicPr>
          <p:nvPr/>
        </p:nvPicPr>
        <p:blipFill>
          <a:blip r:embed="rId2"/>
          <a:stretch>
            <a:fillRect/>
          </a:stretch>
        </p:blipFill>
        <p:spPr>
          <a:xfrm>
            <a:off x="8119865" y="1280160"/>
            <a:ext cx="1889163"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5b,c. NK-1 and CCKb blockade leave cytokine facilitation intact.</a:t>
            </a:r>
          </a:p>
        </p:txBody>
      </p:sp>
      <p:pic>
        <p:nvPicPr>
          <p:cNvPr id="6" name="Picture 5" descr="s6a.png"/>
          <p:cNvPicPr>
            <a:picLocks noChangeAspect="1"/>
          </p:cNvPicPr>
          <p:nvPr/>
        </p:nvPicPr>
        <p:blipFill>
          <a:blip r:embed="rId3"/>
          <a:stretch>
            <a:fillRect/>
          </a:stretch>
        </p:blipFill>
        <p:spPr>
          <a:xfrm>
            <a:off x="8678096" y="4297680"/>
            <a:ext cx="772700"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6A,D. PAG tissue surrounding the aqueduct and receptor labeling; 100 μm bar.</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Receptor staining localizes candidates within the PAG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Bhatt and colleagues used </a:t>
            </a:r>
            <a:r>
              <a:rPr sz="1700" b="1" i="0">
                <a:solidFill>
                  <a:srgbClr val="444E55"/>
                </a:solidFill>
                <a:latin typeface="Arial"/>
              </a:rPr>
              <a:t>immunocytochemistry</a:t>
            </a:r>
            <a:r>
              <a:rPr sz="1700" b="0" i="0">
                <a:solidFill>
                  <a:srgbClr val="000000"/>
                </a:solidFill>
                <a:latin typeface="Arial"/>
              </a:rPr>
              <a:t>, antibody-based molecular labeling, to examine IL-1 and serotonin receptors in PAG tissue. IL-1 receptor labeling was stronger in dorsal PAG than in ventral PAG, while 5-HT2C labeling was distributed through the examined PAG region.</a:t>
            </a:r>
          </a:p>
          <a:p>
            <a:pPr algn="l">
              <a:lnSpc>
                <a:spcPct val="108000"/>
              </a:lnSpc>
              <a:spcAft>
                <a:spcPts val="1019"/>
              </a:spcAft>
            </a:pPr>
            <a:r>
              <a:rPr sz="1700" b="0" i="0">
                <a:solidFill>
                  <a:srgbClr val="000000"/>
                </a:solidFill>
                <a:latin typeface="Arial"/>
              </a:rPr>
              <a:t>The published fluorescence panels preserve the original green and red labels and a 100 μm scale bar. Western blotting, which separates proteins before antibody detection, identified bands near 88 kDa for IL-1R1 and 47 kDa for 5-HT2C.</a:t>
            </a:r>
          </a:p>
          <a:p>
            <a:pPr algn="l">
              <a:lnSpc>
                <a:spcPct val="108000"/>
              </a:lnSpc>
              <a:spcAft>
                <a:spcPts val="1019"/>
              </a:spcAft>
            </a:pPr>
            <a:r>
              <a:rPr sz="1700" b="0" i="0">
                <a:solidFill>
                  <a:srgbClr val="000000"/>
                </a:solidFill>
                <a:latin typeface="Arial"/>
              </a:rPr>
              <a:t>Anatomical presence is compatible with the pharmacological effects on hissing latency. It does not establish that the two receptors occur on the same behaviorally active cell or that one directly controls the other. Colocalization and functional coupling require additional cell-specific evidence.</a:t>
            </a:r>
          </a:p>
        </p:txBody>
      </p:sp>
      <p:pic>
        <p:nvPicPr>
          <p:cNvPr id="4" name="Picture 3" descr="s6.png"/>
          <p:cNvPicPr>
            <a:picLocks noChangeAspect="1"/>
          </p:cNvPicPr>
          <p:nvPr/>
        </p:nvPicPr>
        <p:blipFill>
          <a:blip r:embed="rId2"/>
          <a:stretch>
            <a:fillRect/>
          </a:stretch>
        </p:blipFill>
        <p:spPr>
          <a:xfrm>
            <a:off x="6770445" y="1280160"/>
            <a:ext cx="458800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6A–E. Original PAG receptor labeling and antibody validation.</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Peripheral immune challenge can suppress hissing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Lipopolysaccharide</a:t>
            </a:r>
            <a:r>
              <a:rPr sz="1600" b="0" i="0">
                <a:solidFill>
                  <a:srgbClr val="000000"/>
                </a:solidFill>
                <a:latin typeface="Arial"/>
              </a:rPr>
              <a:t>, or LPS, is a bacterial cell-wall component used experimentally to provoke an immune response. Bhatt and colleagues administered peripheral LPS at 50 μg/kg and measured PAG-elicited defensive hissing over subsequent hours.</a:t>
            </a:r>
          </a:p>
          <a:p>
            <a:pPr algn="l">
              <a:lnSpc>
                <a:spcPct val="108000"/>
              </a:lnSpc>
              <a:spcAft>
                <a:spcPts val="960"/>
              </a:spcAft>
            </a:pPr>
            <a:r>
              <a:rPr sz="1600" b="0" i="0">
                <a:solidFill>
                  <a:srgbClr val="000000"/>
                </a:solidFill>
                <a:latin typeface="Arial"/>
              </a:rPr>
              <a:t>Hissing latency increased beginning about 60 min after injection. Body temperature rose more strongly later, reaching about 105 °F at 120 min. Local medial hypothalamic delivery of 5 ng LPS did not reproduce the peripheral effect.</a:t>
            </a:r>
          </a:p>
          <a:p>
            <a:pPr algn="l">
              <a:lnSpc>
                <a:spcPct val="108000"/>
              </a:lnSpc>
              <a:spcAft>
                <a:spcPts val="960"/>
              </a:spcAft>
            </a:pPr>
            <a:r>
              <a:rPr sz="1600" b="0" i="0">
                <a:solidFill>
                  <a:srgbClr val="000000"/>
                </a:solidFill>
                <a:latin typeface="Arial"/>
              </a:rPr>
              <a:t>The contrast supports an indirect influence of peripheral immune activation rather than the same effect of local LPS delivery at the tested site. The timing weakens a simple explanation based only on peak fever, but it does not establish an absence of all sickness-related changes or subjective discomfort.</a:t>
            </a:r>
          </a:p>
        </p:txBody>
      </p:sp>
      <p:pic>
        <p:nvPicPr>
          <p:cNvPr id="4" name="Picture 3" descr="i2.png"/>
          <p:cNvPicPr>
            <a:picLocks noChangeAspect="1"/>
          </p:cNvPicPr>
          <p:nvPr/>
        </p:nvPicPr>
        <p:blipFill>
          <a:blip r:embed="rId2"/>
          <a:stretch>
            <a:fillRect/>
          </a:stretch>
        </p:blipFill>
        <p:spPr>
          <a:xfrm>
            <a:off x="8168950" y="1280160"/>
            <a:ext cx="1790993"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(2009), Fig. 2A–C. Peripheral LPS, fever, and local LPS have different effects.</a:t>
            </a:r>
          </a:p>
        </p:txBody>
      </p:sp>
      <p:pic>
        <p:nvPicPr>
          <p:cNvPr id="6" name="Picture 5" descr="i1.png"/>
          <p:cNvPicPr>
            <a:picLocks noChangeAspect="1"/>
          </p:cNvPicPr>
          <p:nvPr/>
        </p:nvPicPr>
        <p:blipFill>
          <a:blip r:embed="rId3"/>
          <a:stretch>
            <a:fillRect/>
          </a:stretch>
        </p:blipFill>
        <p:spPr>
          <a:xfrm>
            <a:off x="7623840" y="4297680"/>
            <a:ext cx="288121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(2009), Fig. 1A,B. PAG and hypothalamic sites with original anatomical sections.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Peripheral TNF neutralization blocks LPS effects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Tumor necrosis factor</a:t>
            </a:r>
            <a:r>
              <a:rPr sz="1600" b="0" i="0">
                <a:solidFill>
                  <a:srgbClr val="000000"/>
                </a:solidFill>
                <a:latin typeface="Arial"/>
              </a:rPr>
              <a:t>, or TNF, is a cytokine involved in immune signaling. Bhatt and colleagues tested whether peripheral cytokine neutralization could prevent the change in PAG-elicited defensive hissing following LPS challenge.</a:t>
            </a:r>
          </a:p>
          <a:p>
            <a:pPr algn="l">
              <a:lnSpc>
                <a:spcPct val="108000"/>
              </a:lnSpc>
              <a:spcAft>
                <a:spcPts val="960"/>
              </a:spcAft>
            </a:pPr>
            <a:r>
              <a:rPr sz="1600" b="0" i="0">
                <a:solidFill>
                  <a:srgbClr val="000000"/>
                </a:solidFill>
                <a:latin typeface="Arial"/>
              </a:rPr>
              <a:t>An anti-TNF antibody given 5 min before LPS blocked both the increase in hissing latency and the temperature rise. In contrast, the tested anti-IL-1 intervention did not prevent either effect. Antibody-alone conditions provided baseline comparisons over the same observation schedule.</a:t>
            </a:r>
          </a:p>
          <a:p>
            <a:pPr algn="l">
              <a:lnSpc>
                <a:spcPct val="108000"/>
              </a:lnSpc>
              <a:spcAft>
                <a:spcPts val="960"/>
              </a:spcAft>
            </a:pPr>
            <a:r>
              <a:rPr sz="1600" b="0" i="0">
                <a:solidFill>
                  <a:srgbClr val="000000"/>
                </a:solidFill>
                <a:latin typeface="Arial"/>
              </a:rPr>
              <a:t>The result supports a peripheral TNF-dependent component of the LPS effect. It does not establish the entire route by which peripheral signaling reaches the brain or identify all participating cells. Cytokine actions differ with administration site and biological context; local PAG IL-1β facilitation is not equivalent to systemic immune challenge.</a:t>
            </a:r>
          </a:p>
        </p:txBody>
      </p:sp>
      <p:pic>
        <p:nvPicPr>
          <p:cNvPr id="4" name="Picture 3" descr="i3.png"/>
          <p:cNvPicPr>
            <a:picLocks noChangeAspect="1"/>
          </p:cNvPicPr>
          <p:nvPr/>
        </p:nvPicPr>
        <p:blipFill>
          <a:blip r:embed="rId2"/>
          <a:stretch>
            <a:fillRect/>
          </a:stretch>
        </p:blipFill>
        <p:spPr>
          <a:xfrm>
            <a:off x="8294643" y="1280160"/>
            <a:ext cx="1539608"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(2009), Fig. 3A–D. Peripheral TNF neutralization blocks LPS effects.</a:t>
            </a:r>
          </a:p>
        </p:txBody>
      </p:sp>
      <p:pic>
        <p:nvPicPr>
          <p:cNvPr id="6" name="Picture 5" descr="s6a.png"/>
          <p:cNvPicPr>
            <a:picLocks noChangeAspect="1"/>
          </p:cNvPicPr>
          <p:nvPr/>
        </p:nvPicPr>
        <p:blipFill>
          <a:blip r:embed="rId3"/>
          <a:stretch>
            <a:fillRect/>
          </a:stretch>
        </p:blipFill>
        <p:spPr>
          <a:xfrm>
            <a:off x="8678096" y="4297680"/>
            <a:ext cx="772700"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6A,D. PAG tissue surrounding the aqueduct and receptor labeling; 100 μm bar.</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(2009); 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Prostaglandin blockade opposes immune suppression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44E55"/>
                </a:solidFill>
                <a:latin typeface="Arial"/>
              </a:rPr>
              <a:t>Prostaglandin E2</a:t>
            </a:r>
            <a:r>
              <a:rPr sz="1500" b="0" i="0">
                <a:solidFill>
                  <a:srgbClr val="000000"/>
                </a:solidFill>
                <a:latin typeface="Arial"/>
              </a:rPr>
              <a:t>, or PGE2, is a lipid signaling molecule associated with inflammatory responses. Bhatt and colleagues injected the antagonist SC19220 into medial hypothalamic defensive sites before administering peripheral LPS.</a:t>
            </a:r>
          </a:p>
          <a:p>
            <a:pPr algn="l">
              <a:lnSpc>
                <a:spcPct val="108000"/>
              </a:lnSpc>
              <a:spcAft>
                <a:spcPts val="900"/>
              </a:spcAft>
            </a:pPr>
            <a:r>
              <a:rPr sz="1500" b="0" i="0">
                <a:solidFill>
                  <a:srgbClr val="000000"/>
                </a:solidFill>
                <a:latin typeface="Arial"/>
              </a:rPr>
              <a:t>The pretreatment opposed the LPS-induced increase in hissing latency for about 180 min, with weakening blockade later. Local anti-TNF treatment did not produce the same protection, despite the effectiveness of peripheral TNF neutralization in a separate experiment.</a:t>
            </a:r>
          </a:p>
          <a:p>
            <a:pPr algn="l">
              <a:lnSpc>
                <a:spcPct val="108000"/>
              </a:lnSpc>
              <a:spcAft>
                <a:spcPts val="900"/>
              </a:spcAft>
            </a:pPr>
            <a:r>
              <a:rPr sz="1500" b="0" i="0">
                <a:solidFill>
                  <a:srgbClr val="000000"/>
                </a:solidFill>
                <a:latin typeface="Arial"/>
              </a:rPr>
              <a:t>These interventions support different peripheral and central steps in immune-dependent defensive modulation. The article uses inconsistent prostaglandin-receptor subtype terminology, so the subtype assignment remains uncertain. The data support involvement of prostaglandin-sensitive signaling under the tested conditions, without resolving a complete molecular pathway from immune activation to neuronal inhibition.</a:t>
            </a:r>
          </a:p>
        </p:txBody>
      </p:sp>
      <p:pic>
        <p:nvPicPr>
          <p:cNvPr id="4" name="Picture 3" descr="i4b.png"/>
          <p:cNvPicPr>
            <a:picLocks noChangeAspect="1"/>
          </p:cNvPicPr>
          <p:nvPr/>
        </p:nvPicPr>
        <p:blipFill>
          <a:blip r:embed="rId2"/>
          <a:stretch>
            <a:fillRect/>
          </a:stretch>
        </p:blipFill>
        <p:spPr>
          <a:xfrm>
            <a:off x="6658158" y="1280160"/>
            <a:ext cx="4812577"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(2009), Fig. 4B. Hypothalamic prostaglandin blockade opposes LPS suppression.</a:t>
            </a:r>
          </a:p>
        </p:txBody>
      </p:sp>
      <p:pic>
        <p:nvPicPr>
          <p:cNvPr id="6" name="Picture 5" descr="i1.png"/>
          <p:cNvPicPr>
            <a:picLocks noChangeAspect="1"/>
          </p:cNvPicPr>
          <p:nvPr/>
        </p:nvPicPr>
        <p:blipFill>
          <a:blip r:embed="rId3"/>
          <a:stretch>
            <a:fillRect/>
          </a:stretch>
        </p:blipFill>
        <p:spPr>
          <a:xfrm>
            <a:off x="7623840" y="4297680"/>
            <a:ext cx="288121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(2009), Fig. 1A,B. PAG and hypothalamic sites with original anatomical sections.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Hypothalamic 5-HT1A blockade opposes the LPS effect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5-HT1A</a:t>
            </a:r>
            <a:r>
              <a:rPr sz="1600" b="0" i="0">
                <a:solidFill>
                  <a:srgbClr val="000000"/>
                </a:solidFill>
                <a:latin typeface="Arial"/>
              </a:rPr>
              <a:t> is a serotonin receptor class distinct from the 5-HT2 receptors implicated in local PAG cytokine facilitation. Bhatt and colleagues injected the 5-HT1A antagonist p-MPPI into medial hypothalamic defensive sites before peripheral LPS challenge.</a:t>
            </a:r>
          </a:p>
          <a:p>
            <a:pPr algn="l">
              <a:lnSpc>
                <a:spcPct val="108000"/>
              </a:lnSpc>
              <a:spcAft>
                <a:spcPts val="960"/>
              </a:spcAft>
            </a:pPr>
            <a:r>
              <a:rPr sz="1600" b="0" i="0">
                <a:solidFill>
                  <a:srgbClr val="000000"/>
                </a:solidFill>
                <a:latin typeface="Arial"/>
              </a:rPr>
              <a:t>A 12 nmol injection in 0.5 μl prevented the prolonged increase in hissing latency produced by LPS. Antagonist-alone treatment did not appreciably alter the baseline response. This contrasts with 5-HT2-dependent facilitation after direct IL-1β administration in the PAG.</a:t>
            </a:r>
          </a:p>
          <a:p>
            <a:pPr algn="l">
              <a:lnSpc>
                <a:spcPct val="108000"/>
              </a:lnSpc>
              <a:spcAft>
                <a:spcPts val="960"/>
              </a:spcAft>
            </a:pPr>
            <a:r>
              <a:rPr sz="1600" b="0" i="0">
                <a:solidFill>
                  <a:srgbClr val="000000"/>
                </a:solidFill>
                <a:latin typeface="Arial"/>
              </a:rPr>
              <a:t>The findings support context-dependent serotonin modulation at different sites and receptor classes. They do not establish that serotonin uniformly promotes or uniformly suppresses fear. The LPS experiment measured an evoked defensive response without recording receptor-bearing neurons or the serotonin concentration reaching them.</a:t>
            </a:r>
          </a:p>
        </p:txBody>
      </p:sp>
      <p:pic>
        <p:nvPicPr>
          <p:cNvPr id="4" name="Picture 3" descr="i4c_full.png"/>
          <p:cNvPicPr>
            <a:picLocks noChangeAspect="1"/>
          </p:cNvPicPr>
          <p:nvPr/>
        </p:nvPicPr>
        <p:blipFill>
          <a:blip r:embed="rId2"/>
          <a:stretch>
            <a:fillRect/>
          </a:stretch>
        </p:blipFill>
        <p:spPr>
          <a:xfrm>
            <a:off x="6874107" y="1280160"/>
            <a:ext cx="4380679"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(2009), Fig. 4C. Hypothalamic serotonin blockade opposes LPS suppression.</a:t>
            </a:r>
          </a:p>
        </p:txBody>
      </p:sp>
      <p:pic>
        <p:nvPicPr>
          <p:cNvPr id="6" name="Picture 5" descr="i1.png"/>
          <p:cNvPicPr>
            <a:picLocks noChangeAspect="1"/>
          </p:cNvPicPr>
          <p:nvPr/>
        </p:nvPicPr>
        <p:blipFill>
          <a:blip r:embed="rId3"/>
          <a:stretch>
            <a:fillRect/>
          </a:stretch>
        </p:blipFill>
        <p:spPr>
          <a:xfrm>
            <a:off x="7623840" y="4297680"/>
            <a:ext cx="2881213"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(2009), Fig. 1A,B. PAG and hypothalamic sites with original anatomical sections.</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Preserved head turning limits motor explanations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Bhatt and colleagues compared LPS effects on defensive hissing with effects on head turning elicited by midbrain stimulation. </a:t>
            </a:r>
            <a:r>
              <a:rPr sz="1600" b="1" i="0">
                <a:solidFill>
                  <a:srgbClr val="444E55"/>
                </a:solidFill>
                <a:latin typeface="Arial"/>
              </a:rPr>
              <a:t>Motor control</a:t>
            </a:r>
            <a:r>
              <a:rPr sz="1600" b="0" i="0">
                <a:solidFill>
                  <a:srgbClr val="000000"/>
                </a:solidFill>
                <a:latin typeface="Arial"/>
              </a:rPr>
              <a:t> here means a comparison response used to test whether the animal simply lost the capacity to move or respond to stimulation.</a:t>
            </a:r>
          </a:p>
          <a:p>
            <a:pPr algn="l">
              <a:lnSpc>
                <a:spcPct val="108000"/>
              </a:lnSpc>
              <a:spcAft>
                <a:spcPts val="960"/>
              </a:spcAft>
            </a:pPr>
            <a:r>
              <a:rPr sz="1600" b="0" i="0">
                <a:solidFill>
                  <a:srgbClr val="000000"/>
                </a:solidFill>
                <a:latin typeface="Arial"/>
              </a:rPr>
              <a:t>Across the 300 min observation period, LPS prolonged defensive-response latency but did not appreciably change head-turning latency. The tested motor response therefore remained available while defensive output was suppressed under the same immune challenge.</a:t>
            </a:r>
          </a:p>
          <a:p>
            <a:pPr algn="l">
              <a:lnSpc>
                <a:spcPct val="108000"/>
              </a:lnSpc>
              <a:spcAft>
                <a:spcPts val="960"/>
              </a:spcAft>
            </a:pPr>
            <a:r>
              <a:rPr sz="1600" b="0" i="0">
                <a:solidFill>
                  <a:srgbClr val="000000"/>
                </a:solidFill>
                <a:latin typeface="Arial"/>
              </a:rPr>
              <a:t>This comparison weakens a nonspecific paralysis or broad motor-failure explanation. It does not exclude changes in motivation, other movements, sensory processing, or sickness state. A preserved comparison behavior narrows interpretation of the affected response without proving that the manipulation acts exclusively on a single defensive circuit.</a:t>
            </a:r>
          </a:p>
        </p:txBody>
      </p:sp>
      <p:pic>
        <p:nvPicPr>
          <p:cNvPr id="4" name="Picture 3" descr="i5.png"/>
          <p:cNvPicPr>
            <a:picLocks noChangeAspect="1"/>
          </p:cNvPicPr>
          <p:nvPr/>
        </p:nvPicPr>
        <p:blipFill>
          <a:blip r:embed="rId2"/>
          <a:stretch>
            <a:fillRect/>
          </a:stretch>
        </p:blipFill>
        <p:spPr>
          <a:xfrm>
            <a:off x="7282514" y="1280160"/>
            <a:ext cx="3563864" cy="2468880"/>
          </a:xfrm>
          <a:prstGeom prst="rect">
            <a:avLst/>
          </a:prstGeom>
        </p:spPr>
      </p:pic>
      <p:sp>
        <p:nvSpPr>
          <p:cNvPr id="5" name="Figure caption"/>
          <p:cNvSpPr txBox="1"/>
          <p:nvPr/>
        </p:nvSpPr>
        <p:spPr>
          <a:xfrm>
            <a:off x="6504127" y="38404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(2009), Fig. 5. LPS suppresses hissing but spares elicited head turning.</a:t>
            </a:r>
          </a:p>
        </p:txBody>
      </p:sp>
      <p:pic>
        <p:nvPicPr>
          <p:cNvPr id="6" name="Picture 5" descr="s6a.png"/>
          <p:cNvPicPr>
            <a:picLocks noChangeAspect="1"/>
          </p:cNvPicPr>
          <p:nvPr/>
        </p:nvPicPr>
        <p:blipFill>
          <a:blip r:embed="rId3"/>
          <a:stretch>
            <a:fillRect/>
          </a:stretch>
        </p:blipFill>
        <p:spPr>
          <a:xfrm>
            <a:off x="8678096" y="4297680"/>
            <a:ext cx="772700" cy="146303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Bhatt et al. (2008), Fig. 6A,D. PAG tissue surrounding the aqueduct and receptor labeling; 100 μm bar.</a:t>
            </a:r>
          </a:p>
        </p:txBody>
      </p:sp>
      <p:sp>
        <p:nvSpPr>
          <p:cNvPr id="8" name="Rectangle 7"/>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Bhatt et al. (2009); Bhatt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Access to concealment accelerates behavioral recovery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Concealment</a:t>
            </a:r>
            <a:r>
              <a:rPr sz="1600" b="0" i="0">
                <a:solidFill>
                  <a:srgbClr val="000000"/>
                </a:solidFill>
                <a:latin typeface="Arial"/>
              </a:rPr>
              <a:t> allows an animal to remain visually sheltered from its surroundings. Van der Leij and colleagues randomly assigned shelter cats to quarantine cages with or without cardboard hiding boxes measuring 44 × 31 × 26 cm.</a:t>
            </a:r>
          </a:p>
          <a:p>
            <a:pPr algn="l">
              <a:lnSpc>
                <a:spcPct val="108000"/>
              </a:lnSpc>
              <a:spcAft>
                <a:spcPts val="960"/>
              </a:spcAft>
            </a:pPr>
            <a:r>
              <a:rPr sz="1600" b="0" i="0">
                <a:solidFill>
                  <a:srgbClr val="000000"/>
                </a:solidFill>
                <a:latin typeface="Arial"/>
              </a:rPr>
              <a:t>Cats with boxes reached a relatively stable behavioral stress score by Day 2, compared with Day 9 in the control group. Both groups experienced the shelter quarantine environment and comparable daily care, allowing the available hiding space to be tested as an environmental intervention.</a:t>
            </a:r>
          </a:p>
          <a:p>
            <a:pPr algn="l">
              <a:lnSpc>
                <a:spcPct val="108000"/>
              </a:lnSpc>
              <a:spcAft>
                <a:spcPts val="960"/>
              </a:spcAft>
            </a:pPr>
            <a:r>
              <a:rPr sz="1600" b="0" i="0">
                <a:solidFill>
                  <a:srgbClr val="000000"/>
                </a:solidFill>
                <a:latin typeface="Arial"/>
              </a:rPr>
              <a:t>The result supports faster recovery of observable stress-related behavior when concealment is available. It does not identify the neural mechanism or establish that the cats experienced no fear. Environmental changes can alter defensive expression without requiring pharmacological manipulation of a receptor.</a:t>
            </a:r>
          </a:p>
        </p:txBody>
      </p:sp>
      <p:pic>
        <p:nvPicPr>
          <p:cNvPr id="4" name="Picture 3" descr="h1.png"/>
          <p:cNvPicPr>
            <a:picLocks noChangeAspect="1"/>
          </p:cNvPicPr>
          <p:nvPr/>
        </p:nvPicPr>
        <p:blipFill>
          <a:blip r:embed="rId2"/>
          <a:stretch>
            <a:fillRect/>
          </a:stretch>
        </p:blipFill>
        <p:spPr>
          <a:xfrm>
            <a:off x="6504127" y="1280160"/>
            <a:ext cx="5120640" cy="3490373"/>
          </a:xfrm>
          <a:prstGeom prst="rect">
            <a:avLst/>
          </a:prstGeom>
        </p:spPr>
      </p:pic>
      <p:sp>
        <p:nvSpPr>
          <p:cNvPr id="5" name="Figure caption"/>
          <p:cNvSpPr txBox="1"/>
          <p:nvPr/>
        </p:nvSpPr>
        <p:spPr>
          <a:xfrm>
            <a:off x="6504127" y="486197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van der Leij et al. (2019), Fig. 1. Individual Cat-Stress-Score trajectories with and without hiding boxes.</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van der Leij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Behavioral stress scores change over several days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shelter study used the </a:t>
            </a:r>
            <a:r>
              <a:rPr sz="1600" b="1" i="0">
                <a:solidFill>
                  <a:srgbClr val="444E55"/>
                </a:solidFill>
                <a:latin typeface="Arial"/>
              </a:rPr>
              <a:t>Cat-Stress-Score</a:t>
            </a:r>
            <a:r>
              <a:rPr sz="1600" b="0" i="0">
                <a:solidFill>
                  <a:srgbClr val="000000"/>
                </a:solidFill>
                <a:latin typeface="Arial"/>
              </a:rPr>
              <a:t>, a standardized assessment of posture and behavior. Cats were video-recorded for 20 min on observation days, with repeated samples contributing to each daily score during the 12-day quarantine period.</a:t>
            </a:r>
          </a:p>
          <a:p>
            <a:pPr algn="l">
              <a:lnSpc>
                <a:spcPct val="108000"/>
              </a:lnSpc>
              <a:spcAft>
                <a:spcPts val="960"/>
              </a:spcAft>
            </a:pPr>
            <a:r>
              <a:rPr sz="1600" b="0" i="0">
                <a:solidFill>
                  <a:srgbClr val="000000"/>
                </a:solidFill>
                <a:latin typeface="Arial"/>
              </a:rPr>
              <a:t>The hiding-box group had lower stress scores after the first observation day and reached stability sooner. Scoring retained each animal’s trajectory, rather than assuming identical recovery for every cat. Individual differences persisted within both housing conditions.</a:t>
            </a:r>
          </a:p>
          <a:p>
            <a:pPr algn="l">
              <a:lnSpc>
                <a:spcPct val="108000"/>
              </a:lnSpc>
              <a:spcAft>
                <a:spcPts val="960"/>
              </a:spcAft>
            </a:pPr>
            <a:r>
              <a:rPr sz="1600" b="0" i="0">
                <a:solidFill>
                  <a:srgbClr val="000000"/>
                </a:solidFill>
                <a:latin typeface="Arial"/>
              </a:rPr>
              <a:t>A behavioral score operationalizes visible responses; it is not a direct assay of a stress hormone or neuronal activity. Concealment also changes observation conditions, and some features can become harder to see. The reported benefit therefore concerns the measured behavioral adaptation under the study’s housing and scoring procedures.</a:t>
            </a:r>
          </a:p>
        </p:txBody>
      </p:sp>
      <p:pic>
        <p:nvPicPr>
          <p:cNvPr id="4" name="Picture 3" descr="h1.png"/>
          <p:cNvPicPr>
            <a:picLocks noChangeAspect="1"/>
          </p:cNvPicPr>
          <p:nvPr/>
        </p:nvPicPr>
        <p:blipFill>
          <a:blip r:embed="rId2"/>
          <a:stretch>
            <a:fillRect/>
          </a:stretch>
        </p:blipFill>
        <p:spPr>
          <a:xfrm>
            <a:off x="6504127" y="1280160"/>
            <a:ext cx="5120640" cy="3490373"/>
          </a:xfrm>
          <a:prstGeom prst="rect">
            <a:avLst/>
          </a:prstGeom>
        </p:spPr>
      </p:pic>
      <p:sp>
        <p:nvSpPr>
          <p:cNvPr id="5" name="Figure caption"/>
          <p:cNvSpPr txBox="1"/>
          <p:nvPr/>
        </p:nvSpPr>
        <p:spPr>
          <a:xfrm>
            <a:off x="6504127" y="486197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van der Leij et al. (2019), Fig. 1. Individual Cat-Stress-Score trajectories with and without hiding boxes.</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van der Leij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Calmer behavior does not guarantee physical recovery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Van der Leij and colleagues measured body weight at intake and during quarantine as an outcome separate from the behavioral stress score. A hiding box accelerated behavioral recovery, but it did not reliably prevent weight loss over the 12-day study.</a:t>
            </a:r>
          </a:p>
          <a:p>
            <a:pPr algn="l">
              <a:lnSpc>
                <a:spcPct val="108000"/>
              </a:lnSpc>
              <a:spcAft>
                <a:spcPts val="960"/>
              </a:spcAft>
            </a:pPr>
            <a:r>
              <a:rPr sz="1600" b="0" i="0">
                <a:solidFill>
                  <a:srgbClr val="000000"/>
                </a:solidFill>
                <a:latin typeface="Arial"/>
              </a:rPr>
              <a:t>Control cats lost about 7.7% of initial body weight, while cats with boxes lost about 6.3%. The difference between housing groups was not reliably established. Food was provided under a standardized regime, but individual daily food intake was not monitored.</a:t>
            </a:r>
          </a:p>
          <a:p>
            <a:pPr algn="l">
              <a:lnSpc>
                <a:spcPct val="108000"/>
              </a:lnSpc>
              <a:spcAft>
                <a:spcPts val="960"/>
              </a:spcAft>
            </a:pPr>
            <a:r>
              <a:rPr sz="1600" b="0" i="0">
                <a:solidFill>
                  <a:srgbClr val="000000"/>
                </a:solidFill>
                <a:latin typeface="Arial"/>
              </a:rPr>
              <a:t>The divergence limits an inference that calmer behavior means every aspect of welfare has recovered. Body weight can reflect feeding and health as well as stress. Neither weight change nor posture alone identifies a specific neural circuit or establishes the animal’s complete internal state.</a:t>
            </a:r>
          </a:p>
        </p:txBody>
      </p:sp>
      <p:pic>
        <p:nvPicPr>
          <p:cNvPr id="4" name="Picture 3" descr="h2.png"/>
          <p:cNvPicPr>
            <a:picLocks noChangeAspect="1"/>
          </p:cNvPicPr>
          <p:nvPr/>
        </p:nvPicPr>
        <p:blipFill>
          <a:blip r:embed="rId2"/>
          <a:stretch>
            <a:fillRect/>
          </a:stretch>
        </p:blipFill>
        <p:spPr>
          <a:xfrm>
            <a:off x="6504127" y="1280160"/>
            <a:ext cx="5120640" cy="3340709"/>
          </a:xfrm>
          <a:prstGeom prst="rect">
            <a:avLst/>
          </a:prstGeom>
        </p:spPr>
      </p:pic>
      <p:sp>
        <p:nvSpPr>
          <p:cNvPr id="5" name="Figure caption"/>
          <p:cNvSpPr txBox="1"/>
          <p:nvPr/>
        </p:nvSpPr>
        <p:spPr>
          <a:xfrm>
            <a:off x="6504127" y="471230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van der Leij et al. (2019), Fig. 2. Individual body-weight changes during shelter quarantine.</a:t>
            </a:r>
          </a:p>
        </p:txBody>
      </p:sp>
      <p:sp>
        <p:nvSpPr>
          <p:cNvPr id="6" name="Rectangle 5"/>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van der Leij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E55"/>
                </a:solidFill>
                <a:latin typeface="Arial"/>
              </a:rPr>
              <a:t>Key takeaways</a:t>
            </a:r>
          </a:p>
        </p:txBody>
      </p:sp>
      <p:sp>
        <p:nvSpPr>
          <p:cNvPr id="3" name="Rectangle 2"/>
          <p:cNvSpPr/>
          <p:nvPr/>
        </p:nvSpPr>
        <p:spPr>
          <a:xfrm>
            <a:off x="566928" y="1234440"/>
            <a:ext cx="5391759" cy="1478279"/>
          </a:xfrm>
          <a:prstGeom prst="rect">
            <a:avLst/>
          </a:prstGeom>
          <a:solidFill>
            <a:srgbClr val="F4F5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Recognition differs from defensive expression.</a:t>
            </a:r>
            <a:r>
              <a:rPr sz="1600" b="0" i="0">
                <a:solidFill>
                  <a:srgbClr val="000000"/>
                </a:solidFill>
                <a:latin typeface="Arial"/>
              </a:rPr>
              <a:t> Gaze and audiovisual matching establish cue discrimination; stimulation and intervention test recruitment of behavioral output.</a:t>
            </a:r>
          </a:p>
        </p:txBody>
      </p:sp>
      <p:sp>
        <p:nvSpPr>
          <p:cNvPr id="5" name="Rectangle 4"/>
          <p:cNvSpPr/>
          <p:nvPr/>
        </p:nvSpPr>
        <p:spPr>
          <a:xfrm>
            <a:off x="6233007" y="1234440"/>
            <a:ext cx="5391759" cy="1478279"/>
          </a:xfrm>
          <a:prstGeom prst="rect">
            <a:avLst/>
          </a:prstGeom>
          <a:solidFill>
            <a:srgbClr val="F4F5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Social threat depends on context.</a:t>
            </a:r>
            <a:r>
              <a:rPr sz="1600" b="0" i="0">
                <a:solidFill>
                  <a:srgbClr val="000000"/>
                </a:solidFill>
                <a:latin typeface="Arial"/>
              </a:rPr>
              <a:t> Dogs sample threatening dog and human faces differently, and cats match hissing and human emotional signals across vision and hearing.</a:t>
            </a:r>
          </a:p>
        </p:txBody>
      </p:sp>
      <p:sp>
        <p:nvSpPr>
          <p:cNvPr id="7" name="Rectangle 6"/>
          <p:cNvSpPr/>
          <p:nvPr/>
        </p:nvSpPr>
        <p:spPr>
          <a:xfrm>
            <a:off x="566928" y="2987040"/>
            <a:ext cx="5391759" cy="1478279"/>
          </a:xfrm>
          <a:prstGeom prst="rect">
            <a:avLst/>
          </a:prstGeom>
          <a:solidFill>
            <a:srgbClr val="F4F5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Excitatory input facilitates feline defense.</a:t>
            </a:r>
            <a:r>
              <a:rPr sz="1600" b="0" i="0">
                <a:solidFill>
                  <a:srgbClr val="000000"/>
                </a:solidFill>
                <a:latin typeface="Arial"/>
              </a:rPr>
              <a:t> Medial hypothalamic facilitation of PAG-elicited hissing depends on local NMDA receptor signaling in the tested preparation.</a:t>
            </a:r>
          </a:p>
        </p:txBody>
      </p:sp>
      <p:sp>
        <p:nvSpPr>
          <p:cNvPr id="9" name="Rectangle 8"/>
          <p:cNvSpPr/>
          <p:nvPr/>
        </p:nvSpPr>
        <p:spPr>
          <a:xfrm>
            <a:off x="6233007" y="2987040"/>
            <a:ext cx="5391759" cy="1478279"/>
          </a:xfrm>
          <a:prstGeom prst="rect">
            <a:avLst/>
          </a:prstGeom>
          <a:solidFill>
            <a:srgbClr val="F4F5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E55"/>
                </a:solidFill>
                <a:latin typeface="Arial"/>
              </a:rPr>
              <a:t>Inhibition is site and receptor dependent.</a:t>
            </a:r>
            <a:r>
              <a:rPr sz="1500" b="0" i="0">
                <a:solidFill>
                  <a:srgbClr val="000000"/>
                </a:solidFill>
                <a:latin typeface="Arial"/>
              </a:rPr>
              <a:t> Lateral hypothalamic suppression involves medial hypothalamic GABA-A receptors; activating these receptors raises the defensive-response threshold.</a:t>
            </a:r>
          </a:p>
        </p:txBody>
      </p:sp>
      <p:sp>
        <p:nvSpPr>
          <p:cNvPr id="11" name="Rectangle 10"/>
          <p:cNvSpPr/>
          <p:nvPr/>
        </p:nvSpPr>
        <p:spPr>
          <a:xfrm>
            <a:off x="566928" y="4739640"/>
            <a:ext cx="5391759" cy="1478279"/>
          </a:xfrm>
          <a:prstGeom prst="rect">
            <a:avLst/>
          </a:prstGeom>
          <a:solidFill>
            <a:srgbClr val="F4F5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Immune state changes circuit responsiveness.</a:t>
            </a:r>
            <a:r>
              <a:rPr sz="1600" b="0" i="0">
                <a:solidFill>
                  <a:srgbClr val="000000"/>
                </a:solidFill>
                <a:latin typeface="Arial"/>
              </a:rPr>
              <a:t> Local PAG IL-1β can facilitate defense through serotonin-sensitive signaling, whereas peripheral LPS can suppress the evoked response.</a:t>
            </a:r>
          </a:p>
        </p:txBody>
      </p:sp>
      <p:sp>
        <p:nvSpPr>
          <p:cNvPr id="13" name="Rectangle 12"/>
          <p:cNvSpPr/>
          <p:nvPr/>
        </p:nvSpPr>
        <p:spPr>
          <a:xfrm>
            <a:off x="6233007" y="4739640"/>
            <a:ext cx="5391759" cy="1478279"/>
          </a:xfrm>
          <a:prstGeom prst="rect">
            <a:avLst/>
          </a:prstGeom>
          <a:solidFill>
            <a:srgbClr val="F4F5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E55"/>
                </a:solidFill>
                <a:latin typeface="Arial"/>
              </a:rPr>
              <a:t>Inference must match the measurement.</a:t>
            </a:r>
            <a:r>
              <a:rPr sz="1600" b="0" i="0">
                <a:solidFill>
                  <a:srgbClr val="000000"/>
                </a:solidFill>
                <a:latin typeface="Arial"/>
              </a:rPr>
              <a:t> Cat circuit experiments do not establish canine mechanisms. Concealment improves observed cat stress without guaranteeing recovery of body weight.</a:t>
            </a:r>
          </a:p>
        </p:txBody>
      </p:sp>
      <p:sp>
        <p:nvSpPr>
          <p:cNvPr id="15" name="Rectangle 14"/>
          <p:cNvSpPr/>
          <p:nvPr/>
        </p:nvSpPr>
        <p:spPr>
          <a:xfrm>
            <a:off x="566928" y="6382512"/>
            <a:ext cx="11057839" cy="9144"/>
          </a:xfrm>
          <a:prstGeom prst="rect">
            <a:avLst/>
          </a:prstGeom>
          <a:solidFill>
            <a:srgbClr val="D1D7DB"/>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Somppi et al. (2016); Quaranta et al. (2020); Lu et al. (1992); Cheu &amp; Siegel (1998); Bhatt et al. (2008, 2009); van der Leij et al. (2019)</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Fear in dogs and cats: threat recognition, defensive behavior, and underlying neural circuits</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