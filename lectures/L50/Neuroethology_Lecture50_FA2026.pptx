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Prairie voles I: partner preference, social attachment, and oxytocin–dopamine interactions during pair-bond formation</a:t>
            </a:r>
          </a:p>
          <a:p>
            <a:r>
              <a:t>Lecture 50. NEUR 411 · NEUROETHOLOGY · FALL 2026. Date TBD.</a:t>
            </a:r>
          </a:p>
          <a:p/>
          <a:p>
            <a:r>
              <a:t>Image: Photo: Prairie vole (Microtus ochrogaster). Credit: Nastacia Goodwin. License: CC BY-SA 4.0. Source: https://commons.wikimedia.org/wiki/File:Prairie_Vole_Nastacia_Goodwin_CC_BY-SA.png</a:t>
            </a:r>
          </a:p>
          <a:p/>
          <a:p>
            <a:r>
              <a:t>References:</a:t>
            </a:r>
          </a:p>
          <a:p>
            <a:r>
              <a:t>Kristen M. Berendzen, Ruchira Sharma, Maricruz Alvarado Mandujano, Yichao Wei, Forrest D. Rogers, Trenton C. Simmons, Adele M.H. Seelke, Jessica M. Bond, Rose Larios, Nastacia L. Goodwin, Michael Sherman, Srinivas Parthasarthy, Isidero Espineda, Joseph R. Knoedler, Annaliese Beery, Karen L. Bales, Nirao M. Shah, Devanand S. Manoli (2023). Oxytocin receptor is not required for social attachment in prairie voles. Neuron 111: 787-796.e4. https://doi.org/10.1016/j.neuron.2022.12.011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partner preference is greater affiliative contact with a familiar mating partner than with an unfamiliar animal. Prairie voles, Microtus ochrogaster, are studied because adults can form enduring selective attachments after living with a mate.</a:t>
            </a:r>
          </a:p>
          <a:p>
            <a:r>
              <a:t>  – Selective contact must be compared with contact toward another available animal; total social contact alone does not identify a partner preference.</a:t>
            </a:r>
          </a:p>
          <a:p>
            <a:r>
              <a:t>• The laboratory assay gives the test animal access to its partner and an opposite-sex stranger. Researchers measure huddling, sustained side-by-side body contact, rather than assuming that entering a social chamber establishes an attachment.</a:t>
            </a:r>
          </a:p>
          <a:p>
            <a:r>
              <a:t>• Berendzen and colleagues measured preference after seven days of cohabitation using two apparatus designs. Preference provides an operational measure of selectivity, but one test does not establish every feature of a lifelong pair bond, mating exclusivity, or the animal’s subjective experience.</a:t>
            </a:r>
          </a:p>
          <a:p/>
          <a:p>
            <a:r>
              <a:t>References:</a:t>
            </a:r>
          </a:p>
          <a:p>
            <a:r>
              <a:t>Kristen M. Berendzen, Ruchira Sharma, Maricruz Alvarado Mandujano, Yichao Wei, Forrest D. Rogers, Trenton C. Simmons, Adele M.H. Seelke, Jessica M. Bond, Rose Larios, Nastacia L. Goodwin, Michael Sherman, Srinivas Parthasarthy, Isidero Espineda, Joseph R. Knoedler, Annaliese Beery, Karen L. Bales, Nirao M. Shah, Devanand S. Manoli (2023). Oxytocin receptor is not required for social attachment in prairie voles. Neuron 111: 787-796.e4. https://doi.org/10.1016/j.neuron.2022.12.011</a:t>
            </a:r>
          </a:p>
          <a:p/>
          <a:p>
            <a:r>
              <a:t>Figure: Berendzen (2023), Fig. 3(A–H). Partner preference and attacks in receptor-null animals</a:t>
            </a:r>
          </a:p>
          <a:p>
            <a:r>
              <a:t>Figure source: https://doi.org/10.1016/j.neuron.2022.12.011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partner is the individual previously housed with the subject, while the stranger is a previously unfamiliar potential mate. Both are present during the preference test, allowing selective affiliation to be separated from a general willingness to approach others.</a:t>
            </a:r>
          </a:p>
          <a:p>
            <a:r>
              <a:t>• Berendzen and colleagues used a branched apparatus and a linear apparatus with two partitions. Subjects could move between the stimulus animals, and investigators recorded time spent huddling with each rather than measuring only spatial proximity.</a:t>
            </a:r>
          </a:p>
          <a:p>
            <a:r>
              <a:t>• A consistent preference across different apparatus arrangements reduces dependence on one particular arena geometry. The assay still combines recognition, motivation, locomotion, and contact behavior, so changes in preference require additional controls before they can be assigned to one sensory or neural process.</a:t>
            </a:r>
          </a:p>
          <a:p/>
          <a:p>
            <a:r>
              <a:t>References:</a:t>
            </a:r>
          </a:p>
          <a:p>
            <a:r>
              <a:t>Kristen M. Berendzen, Ruchira Sharma, Maricruz Alvarado Mandujano, Yichao Wei, Forrest D. Rogers, Trenton C. Simmons, Adele M.H. Seelke, Jessica M. Bond, Rose Larios, Nastacia L. Goodwin, Michael Sherman, Srinivas Parthasarthy, Isidero Espineda, Joseph R. Knoedler, Annaliese Beery, Karen L. Bales, Nirao M. Shah, Devanand S. Manoli (2023). Oxytocin receptor is not required for social attachment in prairie voles. Neuron 111: 787-796.e4. https://doi.org/10.1016/j.neuron.2022.12.011</a:t>
            </a:r>
          </a:p>
          <a:p/>
          <a:p>
            <a:r>
              <a:t>Figure: Berendzen (2023), Fig. 3(A–H). Partner preference and attacks in receptor-null animals</a:t>
            </a:r>
          </a:p>
          <a:p>
            <a:r>
              <a:t>Figure source: https://doi.org/10.1016/j.neuron.2022.12.011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Cohabitation means living together during a defined exposure period. Liu and Wang paired sexually naïve female prairie voles with males for six hours without mating, then measured partner and stranger contact during a three-hour preference test.</a:t>
            </a:r>
          </a:p>
          <a:p>
            <a:r>
              <a:t>• Control females did not acquire a clear partner preference under this short nonmating condition. Pharmacological treatments could therefore be tested for their ability to enable a selective preference when the usual control exposure was insufficient.</a:t>
            </a:r>
          </a:p>
          <a:p>
            <a:r>
              <a:t>• This design asks whether a manipulation facilitates preference formation, rather than whether it erases an established long-term bond. Its six-hour exposure must not be treated as equivalent to the seven-day pairing used in the later genetic study, because time and sociosexual experience differ.</a:t>
            </a:r>
          </a:p>
          <a:p/>
          <a:p>
            <a:r>
              <a:t>References:</a:t>
            </a:r>
          </a:p>
          <a:p>
            <a:r>
              <a:t>Y Liu, Z.X Wang (2003). Nucleus accumbens oxytocin and dopamine interact to regulate pair bond formation in female prairie voles. Neuroscience 121: 537-544. https://doi.org/10.1016/s0306-4522(03)00555-4</a:t>
            </a:r>
          </a:p>
          <a:p/>
          <a:p>
            <a:r>
              <a:t>Figure: Liu &amp; Wang (2003), Fig. 1. D2-type agonist preference and receptor-blockade conditions</a:t>
            </a:r>
          </a:p>
          <a:p>
            <a:r>
              <a:t>Figure source: https://doi.org/10.1016/s0306-4522(03)00555-4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meadow vole, Microtus pennsylvanicus, provides a closely related species comparison. Loth and colleagues used the same general partner-versus-stranger framework to compare social behavior and accumbens receptor expression across prairie and meadow voles.</a:t>
            </a:r>
          </a:p>
          <a:p>
            <a:r>
              <a:t>• Paired prairie voles spent more time huddling with their partner than with a novel animal. Meadow voles in the tested conditions did not display the same selective partner preference, despite having opportunities for social contact.</a:t>
            </a:r>
          </a:p>
          <a:p>
            <a:r>
              <a:t>• The comparison concerns the measured pattern of selective affiliation, not an absence of social behavior in meadow voles. Species differences in receptor transcripts are correlates of this behavioral contrast; a molecular difference cannot alone establish which cells cause the species difference or whether every wild individual follows the laboratory pattern.</a:t>
            </a:r>
          </a:p>
          <a:p/>
          <a:p>
            <a:r>
              <a:t>References:</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Loth (2025), Fig. 3(A–I). Pairing, partner preference, and receptor co-expression</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test animal may spend considerable time in social chambers without preferentially contacting one individual. Loth and colleagues therefore measured social-chamber occupancy separately from huddling with the partner and stranger.</a:t>
            </a:r>
          </a:p>
          <a:p>
            <a:r>
              <a:t>• Prairie voles showed partner-selective huddling, whereas differences in social-chamber time also depended on sex and species. The two measurements capture related but distinct aspects of behavior: social approach and selective affiliative contact.</a:t>
            </a:r>
          </a:p>
          <a:p>
            <a:r>
              <a:t>• This distinction prevents an increase in general approach from being mislabeled as stronger attachment. Drug and circuit studies likewise need movement or exposure controls, because a subject that explores less, encounters one stimulus more often, or changes its overall activity may produce altered contact time without a selective change in bonding.</a:t>
            </a:r>
          </a:p>
          <a:p/>
          <a:p>
            <a:r>
              <a:t>References:</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Loth (2025), Fig. 3(A–I). Pairing, partner preference, and receptor co-expression</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nucleus accumbens is a forebrain region implicated in reward-related learning and social affiliation. Liu and Wang targeted it with bilateral microinjections to test whether oxytocin and dopamine effects could be localized rather than attributed to the entire brain.</a:t>
            </a:r>
          </a:p>
          <a:p>
            <a:r>
              <a:t>• They injected 200 nanoliters per side and verified placement in histological sections after behavioral testing. Most successful injection sites were in the accumbens shell, a subdivision distinguished from the adjacent core in the published anatomical reference.</a:t>
            </a:r>
          </a:p>
          <a:p>
            <a:r>
              <a:t>• Regional targeting narrows the anatomical interpretation, but an injection still reaches a tissue volume containing multiple cell types and connections. It does not identify a single receptor-bearing neuron or prove that the compound remains confined to every boundary of the intended region.</a:t>
            </a:r>
          </a:p>
          <a:p/>
          <a:p>
            <a:r>
              <a:t>References:</a:t>
            </a:r>
          </a:p>
          <a:p>
            <a:r>
              <a:t>Y Liu, Z.X Wang (2003). Nucleus accumbens oxytocin and dopamine interact to regulate pair bond formation in female prairie voles. Neuroscience 121: 537-544. https://doi.org/10.1016/s0306-4522(03)00555-4</a:t>
            </a:r>
          </a:p>
          <a:p/>
          <a:p>
            <a:r>
              <a:t>Figure: Liu &amp; Wang (2003), Fig. 3. Accumbens injection sites and the published anatomical reference</a:t>
            </a:r>
          </a:p>
          <a:p>
            <a:r>
              <a:t>Figure source: https://doi.org/10.1016/s0306-4522(03)00555-4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Dopamine is a neurotransmitter involved in modulation of neural activity. Aragona and colleagues examined male vole accumbens tissue using staining for tyrosine hydroxylase and the dopamine transporter, proteins associated with dopamine synthesis and handling.</a:t>
            </a:r>
          </a:p>
          <a:p>
            <a:r>
              <a:t>• The dopamine transporter participates in uptake of extracellular dopamine, while tyrosine hydroxylase contributes to catecholamine synthesis. Staining was especially prominent in rostral accumbens regions, providing anatomical evidence for a dopamine-associated neural substrate at the behavioral injection sites.</a:t>
            </a:r>
          </a:p>
          <a:p>
            <a:r>
              <a:t>• Protein staining establishes the distribution of labeled tissue, not the moment-to-moment release of dopamine during mating. Tyrosine hydroxylase is not exclusively a dopamine marker, so the complementary transporter staining strengthens the interpretation without turning the images into a direct measurement of transmitter release.</a:t>
            </a:r>
          </a:p>
          <a:p/>
          <a:p>
            <a:r>
              <a:t>References:</a:t>
            </a:r>
          </a:p>
          <a:p>
            <a:r>
              <a:t>Brandon J. Aragona, Yan Liu, J. Thomas Curtis, Friedrich K. Stephan, Zuoxin Wang (2003). A Critical Role for Nucleus Accumbens Dopamine in Partner-Preference Formation in Male Prairie Voles. The Journal of Neuroscience 23: 3483-3490. https://doi.org/10.1523/jneurosci.23-08-03483.2003</a:t>
            </a:r>
          </a:p>
          <a:p/>
          <a:p>
            <a:r>
              <a:t>Figure: Aragona (2003), Fig. 2(A–D). Dopamine-related staining in male vole accumbens</a:t>
            </a:r>
          </a:p>
          <a:p>
            <a:r>
              <a:t>Figure source: https://doi.org/10.1523/jneurosci.23-08-03483.2003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transcript is an RNA copy produced from a gene. Loth and colleagues used multiplex fluorescent in situ hybridization to detect oxytocin-receptor transcripts, Oxtr, alongside dopamine-receptor transcripts, Drd1 and Drd2, in accumbens tissue.</a:t>
            </a:r>
          </a:p>
          <a:p>
            <a:r>
              <a:t>• The method labels different transcript targets in separate fluorescent channels while DAPI identifies nuclei. The published preparation includes low-magnification tissue views and higher-magnification views with scale bars of 200 and 50 micrometers, respectively.</a:t>
            </a:r>
          </a:p>
          <a:p>
            <a:r>
              <a:t>• Detection within a cell supports possible receptor co-expression, but RNA is not a direct assay of membrane receptor protein or receptor activity. The anatomical overlap supplies a candidate cellular basis for interactions; it does not establish that oxytocin and dopamine signals were simultaneously active during a particular social encounter.</a:t>
            </a:r>
          </a:p>
          <a:p/>
          <a:p>
            <a:r>
              <a:t>References:</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Loth (2025), Fig. 1(A–F). Accumbens receptor transcripts and species comparisons</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accumbens contains a core and medial and lateral shell subdivisions. Loth and colleagues quantified receptor-transcript-positive cells separately in these regions rather than treating the entire accumbens as one homogeneous population.</a:t>
            </a:r>
          </a:p>
          <a:p>
            <a:r>
              <a:t>• Prairie voles had more Oxtr-positive cells than meadow voles across all three subdivisions. Meadow voles had more Drd2-positive cells, while the proportion of Drd1-positive cells did not differ consistently between the species.</a:t>
            </a:r>
          </a:p>
          <a:p>
            <a:r>
              <a:t>• A regional population difference can reflect the number of expressing cells rather than a uniform change in every neuron. These maps therefore refine earlier tissue-level receptor comparisons, but they cannot assign a behavioral function to a subdivision without an intervention that tests the relevant cells or connections.</a:t>
            </a:r>
          </a:p>
          <a:p/>
          <a:p>
            <a:r>
              <a:t>References:</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Loth (2025), Fig. 1(A–F). Accumbens receptor transcripts and species comparisons</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Co-expression means that a cell contains more than one measured transcript. Loth and colleagues classified accumbens cells into mutually exclusive combinations of Oxtr, Drd1, and Drd2, including cells expressing both dopamine-receptor transcripts.</a:t>
            </a:r>
          </a:p>
          <a:p>
            <a:r>
              <a:t>• Oxtr occurred in Drd1-positive, Drd2-positive, and Drd1-plus-Drd2 populations. Prairie voles showed enrichment of several Oxtr co-expressing combinations, particularly in the lateral shell, rather than restricting oxytocin-receptor transcripts to one dopamine-receptor class.</a:t>
            </a:r>
          </a:p>
          <a:p>
            <a:r>
              <a:t>• The result prevents a tissue-level D1-versus-D2 distinction from being interpreted as two completely separate cellular pathways. Transcript combinations identify candidate signal-convergence sites, but they do not measure how receptor activation changes membrane potential or establish which combination is responsible for forming a partner preference.</a:t>
            </a:r>
          </a:p>
          <a:p/>
          <a:p>
            <a:r>
              <a:t>References:</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Loth (2025), Fig. 2(A–C). Receptor co-expression classes across accumbens regions</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antagonist interferes with receptor activation. Aragona and colleagues administered the dopamine antagonist haloperidol to male prairie voles before a 24-hour mating and cohabitation period, then measured selective contact in a preference test.</a:t>
            </a:r>
          </a:p>
          <a:p>
            <a:r>
              <a:t>• Control males developed greater contact with their partner than with the stranger. Haloperidol-treated males did not show the same preference, although the investigators did not find corresponding disruption of mating or general locomotor activity in the tested conditions.</a:t>
            </a:r>
          </a:p>
          <a:p>
            <a:r>
              <a:t>• The intervention supports dopamine-receptor involvement in preference formation during this exposure window. Because the drug was administered before pairing and was not restricted to one molecular receptor subtype, the result does not isolate recognition, reinforcement, or later preference expression as the only affected process.</a:t>
            </a:r>
          </a:p>
          <a:p/>
          <a:p>
            <a:r>
              <a:t>References:</a:t>
            </a:r>
          </a:p>
          <a:p>
            <a:r>
              <a:t>Brandon J. Aragona, Yan Liu, J. Thomas Curtis, Friedrich K. Stephan, Zuoxin Wang (2003). A Critical Role for Nucleus Accumbens Dopamine in Partner-Preference Formation in Male Prairie Voles. The Journal of Neuroscience 23: 3483-3490. https://doi.org/10.1523/jneurosci.23-08-03483.2003</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Aragona (2003), Fig. 1(A–B). Male partner preference after dopamine drug treatments</a:t>
            </a:r>
          </a:p>
          <a:p>
            <a:r>
              <a:t>Figure source: https://doi.org/10.1523/jneurosci.23-08-03483.2003</a:t>
            </a:r>
          </a:p>
          <a:p/>
          <a:p>
            <a:r>
              <a:t>Figure: Loth (2025), Fig. 1(A). Prairie vole accumbens receptor-transcript fluorescence</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agonist activates a receptor-associated response. Aragona and colleagues administered apomorphine, a dopamine agonist, to male prairie voles before six hours of cohabitation in which mating did not occur.</a:t>
            </a:r>
          </a:p>
          <a:p>
            <a:r>
              <a:t>• A low dose promoted selective contact with the familiar partner, whereas the tested higher dose did not produce the same preference. The behavioral effect therefore depended on dose rather than increasing monotonically with stronger drug exposure.</a:t>
            </a:r>
          </a:p>
          <a:p>
            <a:r>
              <a:t>• Facilitation under a normally insufficient exposure supports a role for dopamine signaling in acquiring selective affiliation. It does not establish that any dopamine increase creates a bond, nor does a nonselective agonist identify the exact receptor subtype or endogenous pattern of neural activity that normally carries the effect.</a:t>
            </a:r>
          </a:p>
          <a:p/>
          <a:p>
            <a:r>
              <a:t>References:</a:t>
            </a:r>
          </a:p>
          <a:p>
            <a:r>
              <a:t>Brandon J. Aragona, Yan Liu, J. Thomas Curtis, Friedrich K. Stephan, Zuoxin Wang (2003). A Critical Role for Nucleus Accumbens Dopamine in Partner-Preference Formation in Male Prairie Voles. The Journal of Neuroscience 23: 3483-3490. https://doi.org/10.1523/jneurosci.23-08-03483.2003</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Aragona (2003), Fig. 1(A–B). Male partner preference after dopamine drug treatments</a:t>
            </a:r>
          </a:p>
          <a:p>
            <a:r>
              <a:t>Figure source: https://doi.org/10.1523/jneurosci.23-08-03483.2003</a:t>
            </a:r>
          </a:p>
          <a:p/>
          <a:p>
            <a:r>
              <a:t>Figure: Loth (2025), Fig. 1(A). Prairie vole accumbens receptor-transcript fluorescence</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Dopamine turnover describes metabolism of dopamine and can be estimated from the relationship between dopamine and its metabolites in tissue. Aragona and colleagues compared accumbens samples from control, nonmated, and mated male voles.</a:t>
            </a:r>
          </a:p>
          <a:p>
            <a:r>
              <a:t>• The reported accumbens turnover estimate was approximately 33 percent higher after mating, but the study did not establish that difference as a reliable group effect. The authors treated it as suggestive of altered dopamine activity rather than a definitive release measurement.</a:t>
            </a:r>
          </a:p>
          <a:p>
            <a:r>
              <a:t>• A tissue sample integrates chemical content over a region and sampling interval. It cannot reveal the timing of an individual dopamine transient, identify the active terminal, or distinguish every process affecting synthesis, release, uptake, and metabolism; the behavioral receptor manipulations provide a different kind of evidence.</a:t>
            </a:r>
          </a:p>
          <a:p/>
          <a:p>
            <a:r>
              <a:t>References:</a:t>
            </a:r>
          </a:p>
          <a:p>
            <a:r>
              <a:t>Brandon J. Aragona, Yan Liu, J. Thomas Curtis, Friedrich K. Stephan, Zuoxin Wang (2003). A Critical Role for Nucleus Accumbens Dopamine in Partner-Preference Formation in Male Prairie Voles. The Journal of Neuroscience 23: 3483-3490. https://doi.org/10.1523/jneurosci.23-08-03483.2003</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Aragona (2003), Fig. 3(A–C). Sampled regions and dopamine metabolite measurements</a:t>
            </a:r>
          </a:p>
          <a:p>
            <a:r>
              <a:t>Figure source: https://doi.org/10.1523/jneurosci.23-08-03483.2003</a:t>
            </a:r>
          </a:p>
          <a:p/>
          <a:p>
            <a:r>
              <a:t>Figure: Loth (2025), Fig. 1(A). Prairie vole accumbens receptor-transcript fluorescence</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Aragona and colleagues injected haloperidol directly into the male nucleus accumbens before mating-associated cohabitation. The local treatment used four nanograms per side, allowing receptor blockade to be assessed at a specific forebrain target.</a:t>
            </a:r>
          </a:p>
          <a:p>
            <a:r>
              <a:t>• Vehicle-treated males developed a partner preference, whereas males receiving the local antagonist did not. Measures of mating and movement did not account for the loss of selective contact under the tested conditions.</a:t>
            </a:r>
          </a:p>
          <a:p>
            <a:r>
              <a:t>• This result localizes an important component of the systemic drug effect to accumbens tissue. It remains a regional pharmacological intervention: drug diffusion and the presence of multiple dopamine-receptor classes prevent the experiment from identifying one neuron type or proving that only one accumbens subdivision contributes to formation.</a:t>
            </a:r>
          </a:p>
          <a:p/>
          <a:p>
            <a:r>
              <a:t>References:</a:t>
            </a:r>
          </a:p>
          <a:p>
            <a:r>
              <a:t>Brandon J. Aragona, Yan Liu, J. Thomas Curtis, Friedrich K. Stephan, Zuoxin Wang (2003). A Critical Role for Nucleus Accumbens Dopamine in Partner-Preference Formation in Male Prairie Voles. The Journal of Neuroscience 23: 3483-3490. https://doi.org/10.1523/jneurosci.23-08-03483.2003</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Aragona (2003), Fig. 4(A–B). Local dopamine antagonism and agonism</a:t>
            </a:r>
          </a:p>
          <a:p>
            <a:r>
              <a:t>Figure source: https://doi.org/10.1523/jneurosci.23-08-03483.2003</a:t>
            </a:r>
          </a:p>
          <a:p/>
          <a:p>
            <a:r>
              <a:t>Figure: Loth (2025), Fig. 1(A). Prairie vole accumbens receptor-transcript fluorescence</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Aragona and colleagues injected apomorphine into the male accumbens before six hours of nonmating cohabitation. A dose of 0.04 nanograms per side facilitated partner preference, whereas four nanograms did not produce the same effect.</a:t>
            </a:r>
          </a:p>
          <a:p>
            <a:r>
              <a:t>• The low accumbens dose also failed to facilitate preference when delivered into the caudate putamen, a neighboring dopamine-associated striatal region. Regional placement therefore mattered in addition to the amount of agonist delivered.</a:t>
            </a:r>
          </a:p>
          <a:p>
            <a:r>
              <a:t>• The comparison supports anatomical specificity rather than a general motor or whole-brain dopamine explanation. It does not establish a universal optimal dopamine level, because an injected agonist differs from endogenous transmitter release and may recruit receptor populations differently as dose and tissue distribution change.</a:t>
            </a:r>
          </a:p>
          <a:p/>
          <a:p>
            <a:r>
              <a:t>References:</a:t>
            </a:r>
          </a:p>
          <a:p>
            <a:r>
              <a:t>Brandon J. Aragona, Yan Liu, J. Thomas Curtis, Friedrich K. Stephan, Zuoxin Wang (2003). A Critical Role for Nucleus Accumbens Dopamine in Partner-Preference Formation in Male Prairie Voles. The Journal of Neuroscience 23: 3483-3490. https://doi.org/10.1523/jneurosci.23-08-03483.2003</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Aragona (2003), Fig. 4(A–B). Local dopamine antagonism and agonism</a:t>
            </a:r>
          </a:p>
          <a:p>
            <a:r>
              <a:t>Figure source: https://doi.org/10.1523/jneurosci.23-08-03483.2003</a:t>
            </a:r>
          </a:p>
          <a:p/>
          <a:p>
            <a:r>
              <a:t>Figure: Loth (2025), Fig. 1(A). Prairie vole accumbens receptor-transcript fluorescence</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Liu and Wang tested the D2-type agonist quinpirole in female prairie voles. They administered five micrograms systemically before six hours of cohabitation without mating, followed by a three-hour partner preference test.</a:t>
            </a:r>
          </a:p>
          <a:p>
            <a:r>
              <a:t>• Control females divided contact more evenly between partner and stranger, whereas quinpirole-treated females preferentially contacted the familiar male. Co-administration of the D2-type antagonist eticlopride prevented the agonist-induced preference.</a:t>
            </a:r>
          </a:p>
          <a:p>
            <a:r>
              <a:t>• The receptor-family comparison supports D2-type involvement in facilitation under this short exposure condition. D2-type pharmacology includes related receptor subtypes, so the experiment must not be treated as a molecularly exclusive test of Drd2 protein or a measurement of how a single identified accumbens neuron responds during social contact.</a:t>
            </a:r>
          </a:p>
          <a:p/>
          <a:p>
            <a:r>
              <a:t>References:</a:t>
            </a:r>
          </a:p>
          <a:p>
            <a:r>
              <a:t>Y Liu, Z.X Wang (2003). Nucleus accumbens oxytocin and dopamine interact to regulate pair bond formation in female prairie voles. Neuroscience 121: 537-544. https://doi.org/10.1016/s0306-4522(03)00555-4</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Liu &amp; Wang (2003), Fig. 1. D2-type agonist preference and receptor-blockade conditions</a:t>
            </a:r>
          </a:p>
          <a:p>
            <a:r>
              <a:t>Figure source: https://doi.org/10.1016/s0306-4522(03)00555-4</a:t>
            </a:r>
          </a:p>
          <a:p/>
          <a:p>
            <a:r>
              <a:t>Figure: Loth (2025), Fig. 1(A). Prairie vole accumbens receptor-transcript fluorescence</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Oxytocin is a neuropeptide, a signaling molecule composed of a short amino-acid chain. Liu and Wang combined systemic quinpirole with central delivery of an oxytocin-receptor antagonist to test whether dopamine-induced preference depended on another signaling system.</a:t>
            </a:r>
          </a:p>
          <a:p>
            <a:r>
              <a:t>• Quinpirole alone facilitated preference after six hours without mating. Adding the oxytocin antagonist prevented that preference, even though cage-entry frequency did not differ in a way that explained the selective-contact result.</a:t>
            </a:r>
          </a:p>
          <a:p>
            <a:r>
              <a:t>• The experiment establishes a pharmacological dependence between the two systems within the tested time window. It does not show that dopamine physically binds an oxytocin receptor, identify the location of the interaction, or establish whether the receptor signals converge within one cell rather than across a connected network.</a:t>
            </a:r>
          </a:p>
          <a:p/>
          <a:p>
            <a:r>
              <a:t>References:</a:t>
            </a:r>
          </a:p>
          <a:p>
            <a:r>
              <a:t>Y Liu, Z.X Wang (2003). Nucleus accumbens oxytocin and dopamine interact to regulate pair bond formation in female prairie voles. Neuroscience 121: 537-544. https://doi.org/10.1016/s0306-4522(03)00555-4</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Liu &amp; Wang (2003), Fig. 1. D2-type agonist preference and receptor-blockade conditions</a:t>
            </a:r>
          </a:p>
          <a:p>
            <a:r>
              <a:t>Figure source: https://doi.org/10.1016/s0306-4522(03)00555-4</a:t>
            </a:r>
          </a:p>
          <a:p/>
          <a:p>
            <a:r>
              <a:t>Figure: Loth (2025), Fig. 1(A). Prairie vole accumbens receptor-transcript fluorescence</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Liu and Wang infused oxytocin into the lateral ventricle with an osmotic minipump. The solution contained one nanogram per microliter and flowed at 0.5 microliters per hour, providing sustained central exposure rather than a brief regional injection.</a:t>
            </a:r>
          </a:p>
          <a:p>
            <a:r>
              <a:t>• After six hours of cohabitation without mating, oxytocin-treated females spent more side-by-side contact time with the familiar partner than with the stranger. Vehicle-infused controls did not develop the same selective preference under that exposure.</a:t>
            </a:r>
          </a:p>
          <a:p>
            <a:r>
              <a:t>• The result supports central oxytocin-sensitive facilitation of partner preference, but ventricular infusion cannot assign the effect to a specific nucleus. Its anatomical interpretation therefore differs from the later accumbens microinjections, and its concentration must not be read as a direct measurement of natural oxytocin release.</a:t>
            </a:r>
          </a:p>
          <a:p/>
          <a:p>
            <a:r>
              <a:t>References:</a:t>
            </a:r>
          </a:p>
          <a:p>
            <a:r>
              <a:t>Y Liu, Z.X Wang (2003). Nucleus accumbens oxytocin and dopamine interact to regulate pair bond formation in female prairie voles. Neuroscience 121: 537-544. https://doi.org/10.1016/s0306-4522(03)00555-4</a:t>
            </a:r>
          </a:p>
          <a:p/>
          <a:p>
            <a:r>
              <a:t>Figure: Liu &amp; Wang (2003), Fig. 2. Oxytocin infusion and antagonist treatments</a:t>
            </a:r>
          </a:p>
          <a:p>
            <a:r>
              <a:t>Figure source: https://doi.org/10.1016/s0306-4522(03)00555-4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Liu and Wang combined central oxytocin infusion with the D2-type antagonist eticlopride. This tested the reverse dependency from the earlier experiment: whether oxytocin-induced preference still emerged when D2-type signaling was blocked.</a:t>
            </a:r>
          </a:p>
          <a:p>
            <a:r>
              <a:t>• Oxytocin alone facilitated selective contact after six hours of nonmating cohabitation. Co-infusion of eticlopride at ten nanograms per microliter prevented that preference, as did co-infusion of the oxytocin-receptor antagonist.</a:t>
            </a:r>
          </a:p>
          <a:p>
            <a:r>
              <a:t>• Reciprocal blockade supports interaction rather than two completely independent routes to the same behavior. It still does not establish the ordering of intracellular events, prove that both receptors are on one neuron, or demonstrate that lifelong elimination of a receptor must have the same effect as acute antagonist exposure.</a:t>
            </a:r>
          </a:p>
          <a:p/>
          <a:p>
            <a:r>
              <a:t>References:</a:t>
            </a:r>
          </a:p>
          <a:p>
            <a:r>
              <a:t>Y Liu, Z.X Wang (2003). Nucleus accumbens oxytocin and dopamine interact to regulate pair bond formation in female prairie voles. Neuroscience 121: 537-544. https://doi.org/10.1016/s0306-4522(03)00555-4</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Liu &amp; Wang (2003), Fig. 2. Oxytocin infusion and antagonist treatments</a:t>
            </a:r>
          </a:p>
          <a:p>
            <a:r>
              <a:t>Figure source: https://doi.org/10.1016/s0306-4522(03)00555-4</a:t>
            </a:r>
          </a:p>
          <a:p/>
          <a:p>
            <a:r>
              <a:t>Figure: Loth (2025), Fig. 1(A). Prairie vole accumbens receptor-transcript fluorescence</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Liu and Wang localized the interaction with bilateral accumbens microinjections. Histological verification placed most injection sites within the shell, alongside an anatomical reference distinguishing shell, core, and the neighboring caudate putamen.</a:t>
            </a:r>
          </a:p>
          <a:p>
            <a:r>
              <a:t>• Each side received 200 nanoliters, and placement was checked after behavior rather than assumed from the planned stereotaxic coordinates. Animals with misplaced cannulae were excluded from the regional analysis.</a:t>
            </a:r>
          </a:p>
          <a:p>
            <a:r>
              <a:t>• Verification connects a behavioral intervention to the tissue actually reached by the injection. It does not provide a microscopic map of drug concentration, exclude every contribution from adjacent tissue, or establish that the shell contains one uniform population of oxytocin- and dopamine-responsive cells; newer transcript maps reveal substantial cellular diversity.</a:t>
            </a:r>
          </a:p>
          <a:p/>
          <a:p>
            <a:r>
              <a:t>References:</a:t>
            </a:r>
          </a:p>
          <a:p>
            <a:r>
              <a:t>Y Liu, Z.X Wang (2003). Nucleus accumbens oxytocin and dopamine interact to regulate pair bond formation in female prairie voles. Neuroscience 121: 537-544. https://doi.org/10.1016/s0306-4522(03)00555-4</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Liu &amp; Wang (2003), Fig. 3. Accumbens injection sites and the published anatomical reference</a:t>
            </a:r>
          </a:p>
          <a:p>
            <a:r>
              <a:t>Figure source: https://doi.org/10.1016/s0306-4522(03)00555-4</a:t>
            </a:r>
          </a:p>
          <a:p/>
          <a:p>
            <a:r>
              <a:t>Figure: Loth (2025), Fig. 1(A). Prairie vole accumbens receptor-transcript fluorescence</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Liu and Wang injected quinpirole directly into female accumbens tissue before six hours of nonmating cohabitation. Doses of 0.001 and 0.01 nanograms per side did not produce a clear partner preference.</a:t>
            </a:r>
          </a:p>
          <a:p>
            <a:r>
              <a:t>• Higher doses of 0.1 and one nanogram per side facilitated selective contact with the familiar male. This dose comparison connected local D2-type agonism with a behavioral effect at concentrations ineffective in the lower-dose conditions.</a:t>
            </a:r>
          </a:p>
          <a:p>
            <a:r>
              <a:t>• The result supports regional pharmacological facilitation and a dependence on treatment strength. It does not measure endogenous dopamine concentration, define a natural physiological threshold, or demonstrate that progressively increasing D2-type activation will continually strengthen an established bond beyond the tested range.</a:t>
            </a:r>
          </a:p>
          <a:p/>
          <a:p>
            <a:r>
              <a:t>References:</a:t>
            </a:r>
          </a:p>
          <a:p>
            <a:r>
              <a:t>Y Liu, Z.X Wang (2003). Nucleus accumbens oxytocin and dopamine interact to regulate pair bond formation in female prairie voles. Neuroscience 121: 537-544. https://doi.org/10.1016/s0306-4522(03)00555-4</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Liu &amp; Wang (2003), Fig. 4. Local quinpirole dose responses and receptor blockade</a:t>
            </a:r>
          </a:p>
          <a:p>
            <a:r>
              <a:t>Figure source: https://doi.org/10.1016/s0306-4522(03)00555-4</a:t>
            </a:r>
          </a:p>
          <a:p/>
          <a:p>
            <a:r>
              <a:t>Figure: Loth (2025), Fig. 1(A). Prairie vole accumbens receptor-transcript fluorescence</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Liu and Wang combined one nanogram of accumbens quinpirole with ten nanograms of oxytocin-receptor antagonist per side. The combination tested whether the earlier central-blockade interaction could be reproduced within the regional injection target.</a:t>
            </a:r>
          </a:p>
          <a:p>
            <a:r>
              <a:t>• Quinpirole alone facilitated partner preference, whereas concurrent local oxytocin-receptor blockade prevented it. Local eticlopride also prevented the quinpirole-induced preference, providing a receptor-family control for the agonist effect.</a:t>
            </a:r>
          </a:p>
          <a:p>
            <a:r>
              <a:t>• The interaction therefore has an important accumbens component under these experimental conditions. Neither antagonist result identifies a molecular receptor complex or a single convergence neuron; local tissue contains interconnected populations, and receptor dependence can arise through network interactions as well as co-expression within one cell.</a:t>
            </a:r>
          </a:p>
          <a:p/>
          <a:p>
            <a:r>
              <a:t>References:</a:t>
            </a:r>
          </a:p>
          <a:p>
            <a:r>
              <a:t>Y Liu, Z.X Wang (2003). Nucleus accumbens oxytocin and dopamine interact to regulate pair bond formation in female prairie voles. Neuroscience 121: 537-544. https://doi.org/10.1016/s0306-4522(03)00555-4</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Liu &amp; Wang (2003), Fig. 4. Local quinpirole dose responses and receptor blockade</a:t>
            </a:r>
          </a:p>
          <a:p>
            <a:r>
              <a:t>Figure source: https://doi.org/10.1016/s0306-4522(03)00555-4</a:t>
            </a:r>
          </a:p>
          <a:p/>
          <a:p>
            <a:r>
              <a:t>Figure: Loth (2025), Fig. 1(A). Prairie vole accumbens receptor-transcript fluorescence</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Liu and Wang delivered one nanogram of quinpirole into the caudate putamen as a regional comparison. This structure is adjacent to the accumbens and contains dopamine-related signaling systems, but it is not the same injection target.</a:t>
            </a:r>
          </a:p>
          <a:p>
            <a:r>
              <a:t>• The caudate-putamen treatment did not facilitate partner preference after six hours of nonmating cohabitation. The corresponding accumbens dose did, supporting a difference between the regions rather than a response to any nearby striatal agonist injection.</a:t>
            </a:r>
          </a:p>
          <a:p>
            <a:r>
              <a:t>• A negative site control narrows the anatomical claim but does not prove that the comparison region has no role in social behavior. It establishes failure of this specific treatment, dose, and exposure schedule to reproduce the measured preference, rather than absence of every possible contribution to affiliation.</a:t>
            </a:r>
          </a:p>
          <a:p/>
          <a:p>
            <a:r>
              <a:t>References:</a:t>
            </a:r>
          </a:p>
          <a:p>
            <a:r>
              <a:t>Y Liu, Z.X Wang (2003). Nucleus accumbens oxytocin and dopamine interact to regulate pair bond formation in female prairie voles. Neuroscience 121: 537-544. https://doi.org/10.1016/s0306-4522(03)00555-4</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Liu &amp; Wang (2003), Fig. 4. Local quinpirole dose responses and receptor blockade</a:t>
            </a:r>
          </a:p>
          <a:p>
            <a:r>
              <a:t>Figure source: https://doi.org/10.1016/s0306-4522(03)00555-4</a:t>
            </a:r>
          </a:p>
          <a:p/>
          <a:p>
            <a:r>
              <a:t>Figure: Loth (2025), Fig. 1(A). Prairie vole accumbens receptor-transcript fluorescence</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Liu and Wang injected oxytocin directly into the female accumbens before six hours of nonmating cohabitation. One nanogram per side facilitated partner preference, whereas 0.1 and ten nanograms did not produce the same selective-contact result.</a:t>
            </a:r>
          </a:p>
          <a:p>
            <a:r>
              <a:t>• The effective intermediate dose prevents the experiment from being interpreted as a simple relationship in which more oxytocin always produces more attachment. Vehicle controls also failed to develop preference under the short nonmating exposure.</a:t>
            </a:r>
          </a:p>
          <a:p>
            <a:r>
              <a:t>• The dose response establishes sensitivity to treatment amount without identifying the reason that the higher dose was ineffective. Different receptor recruitment, spatial spread, or network effects remain possible explanations, but this experiment did not measure those mechanisms and cannot justify selecting one as the established cause.</a:t>
            </a:r>
          </a:p>
          <a:p/>
          <a:p>
            <a:r>
              <a:t>References:</a:t>
            </a:r>
          </a:p>
          <a:p>
            <a:r>
              <a:t>Y Liu, Z.X Wang (2003). Nucleus accumbens oxytocin and dopamine interact to regulate pair bond formation in female prairie voles. Neuroscience 121: 537-544. https://doi.org/10.1016/s0306-4522(03)00555-4</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Liu &amp; Wang (2003), Fig. 5. Local oxytocin dose responses and receptor-selective blockade</a:t>
            </a:r>
          </a:p>
          <a:p>
            <a:r>
              <a:t>Figure source: https://doi.org/10.1016/s0306-4522(03)00555-4</a:t>
            </a:r>
          </a:p>
          <a:p/>
          <a:p>
            <a:r>
              <a:t>Figure: Loth (2025), Fig. 1(A). Prairie vole accumbens receptor-transcript fluorescence</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Liu and Wang combined the effective one-nanogram accumbens oxytocin dose with receptor-directed antagonists. They compared D2-type blockade with eticlopride against D1-type blockade with SCH 23390, each at ten nanograms per side.</a:t>
            </a:r>
          </a:p>
          <a:p>
            <a:r>
              <a:t>• Eticlopride prevented oxytocin-induced preference, whereas SCH 23390 did not prevent selective partner contact under these conditions. Oxytocin-receptor blockade also prevented the effect, establishing a receptor-selective pattern within the same behavioral preparation.</a:t>
            </a:r>
          </a:p>
          <a:p>
            <a:r>
              <a:t>• The contrast supports a D2-type contribution to this form of oxytocin facilitation. It does not establish that D1-type receptors are irrelevant to every phase of bonding, nor does it make drug-family specificity equivalent to deletion of one gene or identification of a single receptor-bearing cell.</a:t>
            </a:r>
          </a:p>
          <a:p/>
          <a:p>
            <a:r>
              <a:t>References:</a:t>
            </a:r>
          </a:p>
          <a:p>
            <a:r>
              <a:t>Y Liu, Z.X Wang (2003). Nucleus accumbens oxytocin and dopamine interact to regulate pair bond formation in female prairie voles. Neuroscience 121: 537-544. https://doi.org/10.1016/s0306-4522(03)00555-4</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Liu &amp; Wang (2003), Fig. 5. Local oxytocin dose responses and receptor-selective blockade</a:t>
            </a:r>
          </a:p>
          <a:p>
            <a:r>
              <a:t>Figure source: https://doi.org/10.1016/s0306-4522(03)00555-4</a:t>
            </a:r>
          </a:p>
          <a:p/>
          <a:p>
            <a:r>
              <a:t>Figure: Loth (2025), Fig. 1(A). Prairie vole accumbens receptor-transcript fluorescence</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Liu and Wang administered one nanogram of oxytocin into the cingulate cortex as a regional control. This comparison region contains oxytocin receptors but differs from the accumbens target used for the effective treatment.</a:t>
            </a:r>
          </a:p>
          <a:p>
            <a:r>
              <a:t>• Cingulate administration did not facilitate partner preference after six hours without mating. The corresponding accumbens treatment did, providing evidence that the presence of oxytocin receptors alone is insufficient to predict the behavioral outcome of an injection.</a:t>
            </a:r>
          </a:p>
          <a:p>
            <a:r>
              <a:t>• The comparison supports anatomical organization of the oxytocin-sensitive effect. It does not eliminate the cortex from the broader attachment network: a particular local oxytocin injection can fail while cortical projections still participate in social learning or modulation of accumbens activity under different experimental conditions.</a:t>
            </a:r>
          </a:p>
          <a:p/>
          <a:p>
            <a:r>
              <a:t>References:</a:t>
            </a:r>
          </a:p>
          <a:p>
            <a:r>
              <a:t>Y Liu, Z.X Wang (2003). Nucleus accumbens oxytocin and dopamine interact to regulate pair bond formation in female prairie voles. Neuroscience 121: 537-544. https://doi.org/10.1016/s0306-4522(03)00555-4</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Liu &amp; Wang (2003), Fig. 5. Local oxytocin dose responses and receptor-selective blockade</a:t>
            </a:r>
          </a:p>
          <a:p>
            <a:r>
              <a:t>Figure source: https://doi.org/10.1016/s0306-4522(03)00555-4</a:t>
            </a:r>
          </a:p>
          <a:p/>
          <a:p>
            <a:r>
              <a:t>Figure: Loth (2025), Fig. 1(A). Prairie vole accumbens receptor-transcript fluorescence</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preference score can change if a drug reduces exploration or prevents the subject from reaching one stimulus. Liu and Wang therefore measured cage-entry frequency during the three-hour partner preference test alongside side-by-side contact.</a:t>
            </a:r>
          </a:p>
          <a:p>
            <a:r>
              <a:t>• They did not find treatment-related entry-frequency differences that explained the partner-preference outcomes. Video review also confirmed the absence of mating during the six-hour exposure used for pharmacologically facilitated preference formation.</a:t>
            </a:r>
          </a:p>
          <a:p>
            <a:r>
              <a:t>• These controls separate the measured preference from coarse changes in locomotion or accidental mating exposure. They do not establish that every sensory, motivational, or motor variable was identical across groups; the justified conclusion is that the recorded movement and mating measures did not account for the observed selectivity.</a:t>
            </a:r>
          </a:p>
          <a:p/>
          <a:p>
            <a:r>
              <a:t>References:</a:t>
            </a:r>
          </a:p>
          <a:p>
            <a:r>
              <a:t>Y Liu, Z.X Wang (2003). Nucleus accumbens oxytocin and dopamine interact to regulate pair bond formation in female prairie voles. Neuroscience 121: 537-544. https://doi.org/10.1016/s0306-4522(03)00555-4</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Liu &amp; Wang (2003), Fig. 4. Local quinpirole dose responses and receptor blockade</a:t>
            </a:r>
          </a:p>
          <a:p>
            <a:r>
              <a:t>Figure source: https://doi.org/10.1016/s0306-4522(03)00555-4</a:t>
            </a:r>
          </a:p>
          <a:p/>
          <a:p>
            <a:r>
              <a:t>Figure: Loth (2025), Fig. 1(A). Prairie vole accumbens receptor-transcript fluorescence</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female pharmacology experiments establish reciprocal dependence: oxytocin antagonism prevents D2-type agonist facilitation, and D2-type antagonism prevents oxytocin facilitation. Local accumbens treatments reproduce both directions of that interaction.</a:t>
            </a:r>
          </a:p>
          <a:p>
            <a:r>
              <a:t>• Newer cellular maps locate Oxtr transcripts in several dopamine-receptor classes, including cells containing both Drd1 and Drd2. This anatomy supplies possible convergence sites without proving that those cells mediated the earlier pharmacological results.</a:t>
            </a:r>
          </a:p>
          <a:p>
            <a:r>
              <a:t>• The established finding is an interaction between receptor-sensitive processes during short-term preference formation. A particular intracellular pathway, receptor complex, or synaptic sequence remains untested by these experiments, and the later genetic findings require the necessity claim to remain tied to the acute treatment conditions.</a:t>
            </a:r>
          </a:p>
          <a:p/>
          <a:p>
            <a:r>
              <a:t>References:</a:t>
            </a:r>
          </a:p>
          <a:p>
            <a:r>
              <a:t>Y Liu, Z.X Wang (2003). Nucleus accumbens oxytocin and dopamine interact to regulate pair bond formation in female prairie voles. Neuroscience 121: 537-544. https://doi.org/10.1016/s0306-4522(03)00555-4</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Liu &amp; Wang (2003), Fig. 5. Local oxytocin dose responses and receptor-selective blockade</a:t>
            </a:r>
          </a:p>
          <a:p>
            <a:r>
              <a:t>Figure source: https://doi.org/10.1016/s0306-4522(03)00555-4</a:t>
            </a:r>
          </a:p>
          <a:p/>
          <a:p>
            <a:r>
              <a:t>Figure: Loth (2025), Fig. 1(A). Prairie vole accumbens receptor-transcript fluorescence</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Local field potentials are extracellular voltage signals reflecting activity in nearby neural populations. Amadei and colleagues recorded simultaneously from medial prefrontal cortex and nucleus accumbens while female prairie voles interacted with a male during six hours of cohabitation.</a:t>
            </a:r>
          </a:p>
          <a:p>
            <a:r>
              <a:t>• Video scoring identified mating, huddling, and self-grooming. Histological placement divided recordings into accumbens hits and nearby non-hits, allowing behavioral associations to be compared with an anatomical control rather than assuming every electrode sampled the intended circuit.</a:t>
            </a:r>
          </a:p>
          <a:p>
            <a:r>
              <a:t>• Huddling latency varied across females, providing a quantitative measure of how quickly sustained affiliation emerged. Field recordings describe coordinated population activity; they do not identify which individual neurons released oxytocin or dopamine, and the observed signal cannot be assigned to one receptor class.</a:t>
            </a:r>
          </a:p>
          <a:p/>
          <a:p>
            <a:r>
              <a:t>References:</a:t>
            </a:r>
          </a:p>
          <a:p>
            <a:r>
              <a:t>Elizabeth A. Amadei, Zachary V. Johnson, Yong Jun Kwon, Aaron C. Shpiner, Varun Saravanan, Wittney D. Mays, Steven J. Ryan, Hasse Walum, Donald G. Rainnie, Larry J. Young, Robert C. Liu (2017). Dynamic corticostriatal activity biases social bonding in monogamous female prairie voles. Nature 546: 297-301. https://doi.org/10.1038/nature22381</a:t>
            </a:r>
          </a:p>
          <a:p/>
          <a:p>
            <a:r>
              <a:t>Figure: Amadei (2017), Fig. 1(a–g). Affiliation trajectories and behavior-dependent coherence</a:t>
            </a:r>
          </a:p>
          <a:p>
            <a:r>
              <a:t>Figure source: https://doi.org/10.1038/nature22381</a:t>
            </a:r>
          </a:p>
          <a:p/>
          <a:p>
            <a:r>
              <a:t>Figure: Amadei (2017), Fig. 4(a–b). Prefrontal expression and accumbens projection terminals</a:t>
            </a:r>
          </a:p>
          <a:p>
            <a:r>
              <a:t>Figure source: https://doi.org/10.1038/nature22381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Coherence measures how consistently two signals maintain a frequency-specific relationship. During mating, prefrontal and accumbens field potentials displayed greater low-frequency coherence near five hertz than during huddling or self-grooming in the recorded females.</a:t>
            </a:r>
          </a:p>
          <a:p>
            <a:r>
              <a:t>• Self-grooming supplied a behavior with movement but without the same social interaction. Nevertheless, mating-related coherence was also observed in recordings outside the targeted accumbens region, making anatomical comparison essential to interpreting the effect.</a:t>
            </a:r>
          </a:p>
          <a:p>
            <a:r>
              <a:t>• The measured change establishes behavior-dependent coordination, but coherence alone does not distinguish direct communication from common inputs. Its occurrence at non-hit sites limits its specificity as a bonding mechanism; a more selective relationship between circuit activity and subsequent affiliation was sought through cross-frequency analysis.</a:t>
            </a:r>
          </a:p>
          <a:p/>
          <a:p>
            <a:r>
              <a:t>References:</a:t>
            </a:r>
          </a:p>
          <a:p>
            <a:r>
              <a:t>Elizabeth A. Amadei, Zachary V. Johnson, Yong Jun Kwon, Aaron C. Shpiner, Varun Saravanan, Wittney D. Mays, Steven J. Ryan, Hasse Walum, Donald G. Rainnie, Larry J. Young, Robert C. Liu (2017). Dynamic corticostriatal activity biases social bonding in monogamous female prairie voles. Nature 546: 297-301. https://doi.org/10.1038/nature22381</a:t>
            </a:r>
          </a:p>
          <a:p/>
          <a:p>
            <a:r>
              <a:t>Figure: Amadei (2017), Fig. 1(a–g). Affiliation trajectories and behavior-dependent coherence</a:t>
            </a:r>
          </a:p>
          <a:p>
            <a:r>
              <a:t>Figure source: https://doi.org/10.1038/nature22381</a:t>
            </a:r>
          </a:p>
          <a:p/>
          <a:p>
            <a:r>
              <a:t>Figure: Amadei (2017), Fig. 4(a–b). Prefrontal expression and accumbens projection terminals</a:t>
            </a:r>
          </a:p>
          <a:p>
            <a:r>
              <a:t>Figure source: https://doi.org/10.1038/nature22381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Phase–amplitude coupling describes a relationship between the phase of a slower oscillation and the amplitude of a faster signal. Amadei and colleagues examined whether prefrontal oscillatory phase organized accumbens gamma activity during social interaction.</a:t>
            </a:r>
          </a:p>
          <a:p>
            <a:r>
              <a:t>• The principal relationship involved approximately five to six hertz prefrontal phase and eighty to eighty-four hertz accumbens amplitude. A net-modulation measure compared coupling in this direction with the reverse relationship between accumbens phase and prefrontal amplitude.</a:t>
            </a:r>
          </a:p>
          <a:p>
            <a:r>
              <a:t>• Targeted recordings showed behavioral modulation that was less evident at non-hit sites. The direction of this statistical relationship suggests functional organization, but it does not demonstrate a monosynaptic connection, establish which transmitter carries the signal, or exclude a third region coordinating both recorded populations.</a:t>
            </a:r>
          </a:p>
          <a:p/>
          <a:p>
            <a:r>
              <a:t>References:</a:t>
            </a:r>
          </a:p>
          <a:p>
            <a:r>
              <a:t>Elizabeth A. Amadei, Zachary V. Johnson, Yong Jun Kwon, Aaron C. Shpiner, Varun Saravanan, Wittney D. Mays, Steven J. Ryan, Hasse Walum, Donald G. Rainnie, Larry J. Young, Robert C. Liu (2017). Dynamic corticostriatal activity biases social bonding in monogamous female prairie voles. Nature 546: 297-301. https://doi.org/10.1038/nature22381</a:t>
            </a:r>
          </a:p>
          <a:p/>
          <a:p>
            <a:r>
              <a:t>Figure: Amadei (2017), Fig. 2(a–i). Cross-frequency coupling during social interactions</a:t>
            </a:r>
          </a:p>
          <a:p>
            <a:r>
              <a:t>Figure source: https://doi.org/10.1038/nature22381</a:t>
            </a:r>
          </a:p>
          <a:p/>
          <a:p>
            <a:r>
              <a:t>Figure: Amadei (2017), Fig. 4(a–b). Prefrontal expression and accumbens projection terminals</a:t>
            </a:r>
          </a:p>
          <a:p>
            <a:r>
              <a:t>Figure source: https://doi.org/10.1038/nature22381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Amadei and colleagues related each female’s net-modulation measure to the time at which sustained huddling emerged. Stronger average coupling during nonhuddling periods was associated with a shorter subsequent huddling latency within the six-hour recording session.</a:t>
            </a:r>
          </a:p>
          <a:p>
            <a:r>
              <a:t>• The relationship was evaluated across the full recording and the first sixty minutes, with baseline and non-hit recordings supplying comparisons. Coupling measured during huddling itself did not provide the same predictive relationship as activity measured outside the affiliative behavior.</a:t>
            </a:r>
          </a:p>
          <a:p>
            <a:r>
              <a:t>• This temporal association helps separate a candidate antecedent signal from activity that merely accompanies body contact. It remains correlational: females could differ in motivation, prior experience, or another unmeasured circuit property that influences both coupling and how rapidly they begin to huddle.</a:t>
            </a:r>
          </a:p>
          <a:p/>
          <a:p>
            <a:r>
              <a:t>References:</a:t>
            </a:r>
          </a:p>
          <a:p>
            <a:r>
              <a:t>Elizabeth A. Amadei, Zachary V. Johnson, Yong Jun Kwon, Aaron C. Shpiner, Varun Saravanan, Wittney D. Mays, Steven J. Ryan, Hasse Walum, Donald G. Rainnie, Larry J. Young, Robert C. Liu (2017). Dynamic corticostriatal activity biases social bonding in monogamous female prairie voles. Nature 546: 297-301. https://doi.org/10.1038/nature22381</a:t>
            </a:r>
          </a:p>
          <a:p/>
          <a:p>
            <a:r>
              <a:t>Figure: Amadei (2017), Fig. 3(a–o). Coupling changes and subsequent huddling latency</a:t>
            </a:r>
          </a:p>
          <a:p>
            <a:r>
              <a:t>Figure source: https://doi.org/10.1038/nature22381</a:t>
            </a:r>
          </a:p>
          <a:p/>
          <a:p>
            <a:r>
              <a:t>Figure: Amadei (2017), Fig. 4(a–b). Prefrontal expression and accumbens projection terminals</a:t>
            </a:r>
          </a:p>
          <a:p>
            <a:r>
              <a:t>Figure source: https://doi.org/10.1038/nature22381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Within-session analysis asked whether coupling changed around mating and whether that change predicted subsequent affiliation. Net modulation was estimated in one-minute moving windows advanced in steps of one tenth of a minute during the recorded social encounters.</a:t>
            </a:r>
          </a:p>
          <a:p>
            <a:r>
              <a:t>• Changes after mating, including the approximately two-minute interval after the event, were related to later huddling latency after accounting for baseline coupling. Comparable self-grooming events and non-hit recordings did not show the same pattern, supplying behavioral and anatomical comparisons.</a:t>
            </a:r>
          </a:p>
          <a:p>
            <a:r>
              <a:t>• The result links a defined sociosexual event to a later behavioral transition rather than only comparing session averages. It does not establish that mating necessarily produces attachment through this signal, nor that the coupling change is required; an experimental manipulation is needed to address causal sufficiency.</a:t>
            </a:r>
          </a:p>
          <a:p/>
          <a:p>
            <a:r>
              <a:t>References:</a:t>
            </a:r>
          </a:p>
          <a:p>
            <a:r>
              <a:t>Elizabeth A. Amadei, Zachary V. Johnson, Yong Jun Kwon, Aaron C. Shpiner, Varun Saravanan, Wittney D. Mays, Steven J. Ryan, Hasse Walum, Donald G. Rainnie, Larry J. Young, Robert C. Liu (2017). Dynamic corticostriatal activity biases social bonding in monogamous female prairie voles. Nature 546: 297-301. https://doi.org/10.1038/nature22381</a:t>
            </a:r>
          </a:p>
          <a:p/>
          <a:p>
            <a:r>
              <a:t>Figure: Amadei (2017), Fig. 3(a–o). Coupling changes and subsequent huddling latency</a:t>
            </a:r>
          </a:p>
          <a:p>
            <a:r>
              <a:t>Figure source: https://doi.org/10.1038/nature22381</a:t>
            </a:r>
          </a:p>
          <a:p/>
          <a:p>
            <a:r>
              <a:t>Figure: Amadei (2017), Fig. 4(a–b). Prefrontal expression and accumbens projection terminals</a:t>
            </a:r>
          </a:p>
          <a:p>
            <a:r>
              <a:t>Figure source: https://doi.org/10.1038/nature22381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Optogenetics uses a light-sensitive protein to influence neural activity. Amadei and colleagues expressed channelrhodopsin-2 in prefrontal neurons and illuminated their projection terminals in accumbens, linking a specified pathway to a controllable experimental input.</a:t>
            </a:r>
          </a:p>
          <a:p>
            <a:r>
              <a:t>• Channelrhodopsin-2 is a light-gated ion channel: illumination opens the channel, depolarizes expressing membranes, and can drive terminal transmitter release. In brain slices, five-hertz light pulses evoked inward excitatory postsynaptic currents, measured in picoamperes.</a:t>
            </a:r>
          </a:p>
          <a:p>
            <a:r>
              <a:t>• DNQX, an antagonist of AMPA-type glutamate receptors, suppressed these currents. AMPA receptors are glutamate-gated cation channels that support excitatory transmission. This control supports an excitatory glutamatergic projection, while the slice response alone does not show that its natural activity produces a partner preference in an intact animal.</a:t>
            </a:r>
          </a:p>
          <a:p/>
          <a:p>
            <a:r>
              <a:t>References:</a:t>
            </a:r>
          </a:p>
          <a:p>
            <a:r>
              <a:t>Elizabeth A. Amadei, Zachary V. Johnson, Yong Jun Kwon, Aaron C. Shpiner, Varun Saravanan, Wittney D. Mays, Steven J. Ryan, Hasse Walum, Donald G. Rainnie, Larry J. Young, Robert C. Liu (2017). Dynamic corticostriatal activity biases social bonding in monogamous female prairie voles. Nature 546: 297-301. https://doi.org/10.1038/nature22381</a:t>
            </a:r>
          </a:p>
          <a:p/>
          <a:p>
            <a:r>
              <a:t>Figure: Amadei (2017), Fig. 4(c). Light-evoked excitatory current and AMPA blockade</a:t>
            </a:r>
          </a:p>
          <a:p>
            <a:r>
              <a:t>Figure source: https://doi.org/10.1038/nature22381</a:t>
            </a:r>
          </a:p>
          <a:p/>
          <a:p>
            <a:r>
              <a:t>Figure: Amadei (2017), Fig. 4(a–b). Prefrontal expression and accumbens projection terminals</a:t>
            </a:r>
          </a:p>
          <a:p>
            <a:r>
              <a:t>Figure source: https://doi.org/10.1038/nature22381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 test behavioral sufficiency, females encountered a caged male during approximately two and a half to three hours of exposure. The barrier prevented mating while permitting social interaction, separating stimulation-assisted preference from the usual mating-associated experience.</a:t>
            </a:r>
          </a:p>
          <a:p>
            <a:r>
              <a:t>• Five- or six-hertz trains of five-millisecond light pulses were delivered when the female entered the social zone. Stimulation was available for up to one hour from the first social-zone entry, making pathway activation contingent on contact with the particular male.</a:t>
            </a:r>
          </a:p>
          <a:p>
            <a:r>
              <a:t>• Control females expressed EYFP, a fluorescent reporter without the light-gated channel, and received the corresponding illumination procedure. Comparable stimulation durations and zone occupancy reduce exposure-based explanations. The manipulation still combines neural activation with social experience, so it cannot be interpreted as attachment induced in the absence of a partner.</a:t>
            </a:r>
          </a:p>
          <a:p/>
          <a:p>
            <a:r>
              <a:t>References:</a:t>
            </a:r>
          </a:p>
          <a:p>
            <a:r>
              <a:t>Elizabeth A. Amadei, Zachary V. Johnson, Yong Jun Kwon, Aaron C. Shpiner, Varun Saravanan, Wittney D. Mays, Steven J. Ryan, Hasse Walum, Donald G. Rainnie, Larry J. Young, Robert C. Liu (2017). Dynamic corticostriatal activity biases social bonding in monogamous female prairie voles. Nature 546: 297-301. https://doi.org/10.1038/nature22381</a:t>
            </a:r>
          </a:p>
          <a:p/>
          <a:p>
            <a:r>
              <a:t>Figure: Amadei (2017), Fig. 4(d–e). Stimulation controls and partner preference</a:t>
            </a:r>
          </a:p>
          <a:p>
            <a:r>
              <a:t>Figure source: https://doi.org/10.1038/nature22381</a:t>
            </a:r>
          </a:p>
          <a:p/>
          <a:p>
            <a:r>
              <a:t>Figure: Amadei (2017), Fig. 4(a–b). Prefrontal expression and accumbens projection terminals</a:t>
            </a:r>
          </a:p>
          <a:p>
            <a:r>
              <a:t>Figure source: https://doi.org/10.1038/nature22381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following day, females were tested for three hours with the previously encountered male and a stranger. Channelrhodopsin-expressing subjects showed greater partner-directed affiliation than the fluorescent-reporter controls after the socially contingent stimulation procedure.</a:t>
            </a:r>
          </a:p>
          <a:p>
            <a:r>
              <a:t>• The published data show partner-over-stranger huddling in eighty-three percent of the stimulated group and thirty-six percent of controls. These percentages describe the tested samples; the group comparison and the individual paired contact measurements are presented in the original figure.</a:t>
            </a:r>
          </a:p>
          <a:p>
            <a:r>
              <a:t>• The experiment supports sufficiency of this patterned pathway activation to bias preference under the specified social conditions. It does not establish necessity, prove that natural coupling is generated by the same imposed pattern, or identify an obligatory oxytocin–dopamine mechanism for the behavioral effect.</a:t>
            </a:r>
          </a:p>
          <a:p/>
          <a:p>
            <a:r>
              <a:t>References:</a:t>
            </a:r>
          </a:p>
          <a:p>
            <a:r>
              <a:t>Elizabeth A. Amadei, Zachary V. Johnson, Yong Jun Kwon, Aaron C. Shpiner, Varun Saravanan, Wittney D. Mays, Steven J. Ryan, Hasse Walum, Donald G. Rainnie, Larry J. Young, Robert C. Liu (2017). Dynamic corticostriatal activity biases social bonding in monogamous female prairie voles. Nature 546: 297-301. https://doi.org/10.1038/nature22381</a:t>
            </a:r>
          </a:p>
          <a:p/>
          <a:p>
            <a:r>
              <a:t>Figure: Amadei (2017), Fig. 4(d–e). Stimulation controls and partner preference</a:t>
            </a:r>
          </a:p>
          <a:p>
            <a:r>
              <a:t>Figure source: https://doi.org/10.1038/nature22381</a:t>
            </a:r>
          </a:p>
          <a:p/>
          <a:p>
            <a:r>
              <a:t>Figure: Amadei (2017), Fig. 4(a–b). Prefrontal expression and accumbens projection terminals</a:t>
            </a:r>
          </a:p>
          <a:p>
            <a:r>
              <a:t>Figure source: https://doi.org/10.1038/nature22381</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Loth and colleagues compared sexually naïve and paired voles using the same multiplex transcript-labeling strategy. Behavioral testing established partner preference in paired prairie voles before tissue analyses examined accumbens core and shell subdivisions.</a:t>
            </a:r>
          </a:p>
          <a:p>
            <a:r>
              <a:t>• Cell classes were defined by the presence or absence of Drd1, Drd2, and Oxtr transcripts. Across the tested groups, pairing did not produce a broad redistribution of the receptor-positive classes, despite the behavioral difference between naïve and paired animals.</a:t>
            </a:r>
          </a:p>
          <a:p>
            <a:r>
              <a:t>• An unchanged proportion of labeled cells does not mean that receptor signaling or synaptic physiology was unchanged. Cell counts, transcript abundance within each cell, membrane receptor protein, and transmitter release are different measurements. This result constrains claims about wholesale changes in cell-class composition rather than excluding experience-dependent molecular plasticity.</a:t>
            </a:r>
          </a:p>
          <a:p/>
          <a:p>
            <a:r>
              <a:t>References:</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Loth (2025), Fig. 4(A–C). Cell-class proportions before and after pairing</a:t>
            </a:r>
          </a:p>
          <a:p>
            <a:r>
              <a:t>Figure source: https://doi.org/10.1038/s41598-025-06367-1</a:t>
            </a:r>
          </a:p>
          <a:p/>
          <a:p>
            <a:r>
              <a:t>Figure: Loth (2025), Fig. 1(A). Prairie vole accumbens receptor-transcript fluorescence</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Cells containing both Drd1 and Drd2 transcripts are described as double-positive dopamine-receptor cells. Loth and colleagues quantified Oxtr labeling within these classes rather than assuming dopamine receptor populations were mutually exclusive.</a:t>
            </a:r>
          </a:p>
          <a:p>
            <a:r>
              <a:t>• An RNA punctum is a localized fluorescent signal associated with a detected transcript target. Oxtr puncta were enriched in double-positive cells in both naïve and paired prairie voles, supplying a cellular candidate for interaction between oxytocin-sensitive and dopamine-sensitive processes.</a:t>
            </a:r>
          </a:p>
          <a:p>
            <a:r>
              <a:t>• The fluorescence preserves the published channel colors and spatial scale. Transcript co-labeling does not measure receptor binding, prove simultaneous activation, or establish a receptor complex. Connecting this candidate population to attachment would require a manipulation that isolates the cells and tests behavior while controlling general activity and social exposure.</a:t>
            </a:r>
          </a:p>
          <a:p/>
          <a:p>
            <a:r>
              <a:t>References:</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Loth (2025), Fig. 3(D). Transcript co-labeling in naïve and paired prairie voles</a:t>
            </a:r>
          </a:p>
          <a:p>
            <a:r>
              <a:t>Figure source: https://doi.org/10.1038/s41598-025-06367-1</a:t>
            </a:r>
          </a:p>
          <a:p/>
          <a:p>
            <a:r>
              <a:t>Figure: Loth (2025), Fig. 1(A). Prairie vole accumbens receptor-transcript fluorescence</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Single-nucleus RNA sequencing samples RNA from isolated nuclei and groups cells according to expression profiles. Loth and colleagues compared receptor expression across molecularly identified accumbens cell classes rather than relying only on region-level averages.</a:t>
            </a:r>
          </a:p>
          <a:p>
            <a:r>
              <a:t>• The analysis distinguished fifteen primary cell types, including medium spiny neurons and interneuron populations. A medium spiny neuron is a principal striatal projection neuron; the molecular classes provide a finer map of candidate receptor-bearing populations within accumbens tissue.</a:t>
            </a:r>
          </a:p>
          <a:p>
            <a:r>
              <a:t>• Receptor transcripts were distributed across multiple classes, preventing a simple identification of one universal oxytocin-responsive bonding cell. Molecular clustering is an anatomical and descriptive tool. It does not establish which population is recruited during mating, which cells receive a particular social signal, or which class is necessary for partner preference.</a:t>
            </a:r>
          </a:p>
          <a:p/>
          <a:p>
            <a:r>
              <a:t>References:</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Loth (2025), Fig. 5(A–D). Receptor transcripts across molecular cell classes</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same receptor can appear rare or common depending on the measurement method. Loth and colleagues found Oxtr labeling in approximately thirty-four to thirty-eight percent of cells by fluorescent in situ hybridization, but in approximately one percent by single-nucleus sequencing.</a:t>
            </a:r>
          </a:p>
          <a:p>
            <a:r>
              <a:t>• Dropout is failure to detect a transcript that is present, especially when its abundance is low. Drd1 and Drd2 transcript levels were approximately ten to twenty times higher than several less abundant receptor targets, making detection sensitivity a substantial interpretive issue.</a:t>
            </a:r>
          </a:p>
          <a:p>
            <a:r>
              <a:t>• The discrepancy does not establish that the tissue contains two incompatible biological populations. It emphasizes that a sequencing-negative nucleus need not lack the receptor gene’s expression. Neither RNA method directly establishes membrane receptor abundance, and a negative transcript measurement must not be treated as proof that a cell cannot respond to oxytocin.</a:t>
            </a:r>
          </a:p>
          <a:p/>
          <a:p>
            <a:r>
              <a:t>References:</a:t>
            </a:r>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a:p/>
          <a:p>
            <a:r>
              <a:t>Figure: Loth (2025), Fig. 5(A–D). Receptor transcripts across molecular cell classes</a:t>
            </a:r>
          </a:p>
          <a:p>
            <a:r>
              <a:t>Figure source: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Berendzen and colleagues used CRISPR-based gene editing to disrupt Oxtr in prairie voles. CRISPR employs a guide RNA and a DNA-cutting enzyme to target a genomic sequence; repair can create mutations that prevent production of a functional receptor.</a:t>
            </a:r>
          </a:p>
          <a:p>
            <a:r>
              <a:t>• Three independently generated lines carried different disruptive alleles, including a one-base insertion and a larger deletion. Outcrossing to wild-type animals and comparing independent lines reduced dependence on a single founder mutation or one shared unintended genetic change.</a:t>
            </a:r>
          </a:p>
          <a:p>
            <a:r>
              <a:t>• A null allele is an allele that lacks normal gene function. The genetic approach asks whether animals developing without functional oxytocin receptors can form a measured partner preference. Its lifelong perturbation differs from administering a receptor antagonist to an otherwise developed adult during a short social exposure.</a:t>
            </a:r>
          </a:p>
          <a:p/>
          <a:p>
            <a:r>
              <a:t>References:</a:t>
            </a:r>
          </a:p>
          <a:p>
            <a:r>
              <a:t>Kristen M. Berendzen, Ruchira Sharma, Maricruz Alvarado Mandujano, Yichao Wei, Forrest D. Rogers, Trenton C. Simmons, Adele M.H. Seelke, Jessica M. Bond, Rose Larios, Nastacia L. Goodwin, Michael Sherman, Srinivas Parthasarthy, Isidero Espineda, Joseph R. Knoedler, Annaliese Beery, Karen L. Bales, Nirao M. Shah, Devanand S. Manoli (2023). Oxytocin receptor is not required for social attachment in prairie voles. Neuron 111: 787-796.e4. https://doi.org/10.1016/j.neuron.2022.12.011</a:t>
            </a:r>
          </a:p>
          <a:p/>
          <a:p>
            <a:r>
              <a:t>Figure: Berendzen (2023), Fig. 1(A–C). Published CRISPR preparation and receptor-null alleles</a:t>
            </a:r>
          </a:p>
          <a:p>
            <a:r>
              <a:t>Figure source: https://doi.org/10.1016/j.neuron.2022.12.011</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radioligand is a radioactively labeled molecule used to measure binding sites in tissue. Berendzen and colleagues used iodine-125-labeled OVTA to examine oxytocin-receptor binding in wild-type and receptor-null vole brains.</a:t>
            </a:r>
          </a:p>
          <a:p>
            <a:r>
              <a:t>• Null animals lacked the detectable binding seen in wild-type prefrontal cortex, accumbens, and central amygdala across the independent lines and both sexes. Adjacent acetylcholinesterase-stained sections supplied an anatomical comparison, while the original plots report binding density in arbitrary units.</a:t>
            </a:r>
          </a:p>
          <a:p>
            <a:r>
              <a:t>• This validation makes preserved behavior more informative than an unverified gene-editing claim. It supports loss of detectable receptor binding under the assay conditions, rather than measuring every possible downstream adaptation. The comparison also illustrates why RNA co-labeling and ligand binding answer different questions about receptor-bearing tissue.</a:t>
            </a:r>
          </a:p>
          <a:p/>
          <a:p>
            <a:r>
              <a:t>References:</a:t>
            </a:r>
          </a:p>
          <a:p>
            <a:r>
              <a:t>Kristen M. Berendzen, Ruchira Sharma, Maricruz Alvarado Mandujano, Yichao Wei, Forrest D. Rogers, Trenton C. Simmons, Adele M.H. Seelke, Jessica M. Bond, Rose Larios, Nastacia L. Goodwin, Michael Sherman, Srinivas Parthasarthy, Isidero Espineda, Joseph R. Knoedler, Annaliese Beery, Karen L. Bales, Nirao M. Shah, Devanand S. Manoli (2023). Oxytocin receptor is not required for social attachment in prairie voles. Neuron 111: 787-796.e4. https://doi.org/10.1016/j.neuron.2022.12.011</a:t>
            </a:r>
          </a:p>
          <a:p/>
          <a:p>
            <a:r>
              <a:t>Figure: Berendzen (2023), Fig. 2(A–E). Receptor-binding validation and anatomical controls</a:t>
            </a:r>
          </a:p>
          <a:p>
            <a:r>
              <a:t>Figure source: https://doi.org/10.1016/j.neuron.2022.12.011</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seven days of cohabitation, male and female receptor-null prairie voles showed selective huddling with their partner. Berendzen and colleagues tested independent mutant lines in both branched and linear preference apparatuses.</a:t>
            </a:r>
          </a:p>
          <a:p>
            <a:r>
              <a:t>• The partner-versus-stranger comparison was retained, and the published individual data show the selective affiliation rather than only total contact time. Aggressive behavior was also measured; preservation of huddling preference should not be interpreted as proof that every social response was identical in mutants and controls.</a:t>
            </a:r>
          </a:p>
          <a:p>
            <a:r>
              <a:t>• The result demonstrates that detectable oxytocin-receptor function is not universally required for this preference outcome under seven-day pairing conditions. It does not establish that oxytocin has no influence in typical animals, that preference forms at the same rate, or that acute receptor blockade during six-hour exposure must have no effect.</a:t>
            </a:r>
          </a:p>
          <a:p/>
          <a:p>
            <a:r>
              <a:t>References:</a:t>
            </a:r>
          </a:p>
          <a:p>
            <a:r>
              <a:t>Kristen M. Berendzen, Ruchira Sharma, Maricruz Alvarado Mandujano, Yichao Wei, Forrest D. Rogers, Trenton C. Simmons, Adele M.H. Seelke, Jessica M. Bond, Rose Larios, Nastacia L. Goodwin, Michael Sherman, Srinivas Parthasarthy, Isidero Espineda, Joseph R. Knoedler, Annaliese Beery, Karen L. Bales, Nirao M. Shah, Devanand S. Manoli (2023). Oxytocin receptor is not required for social attachment in prairie voles. Neuron 111: 787-796.e4. https://doi.org/10.1016/j.neuron.2022.12.011</a:t>
            </a:r>
          </a:p>
          <a:p/>
          <a:p>
            <a:r>
              <a:t>Figure: Berendzen (2023), Fig. 3(A–H). Partner preference and attacks in receptor-null animals</a:t>
            </a:r>
          </a:p>
          <a:p>
            <a:r>
              <a:t>Figure source: https://doi.org/10.1016/j.neuron.2022.12.011</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acute female pharmacology experiments used six-hour nonmating exposure, while the receptor-null study used seven-day cohabitation. One interfered with receptor-sensitive processes during a defined adult interval; the other tested animals that developed without normal receptor function.</a:t>
            </a:r>
          </a:p>
          <a:p>
            <a:r>
              <a:t>• Developmental compensation, alternative signaling routes, different exposure durations, and pharmacological specificity are possible explanations for the contrasting outcomes. The genetic study does not establish which explanation resolves the discrepancy, and the earlier antagonist experiments do not exclude adaptation across development.</a:t>
            </a:r>
          </a:p>
          <a:p>
            <a:r>
              <a:t>• The defensible account is therefore conditional: accumbens oxytocin-sensitive and D2-type-sensitive processes interact in the short-exposure pharmacological paradigm, while receptor-null voles can express preference after longer pairing. A complete mechanism must explain both findings rather than treating one experimental design as a universal definition of attachment.</a:t>
            </a:r>
          </a:p>
          <a:p/>
          <a:p>
            <a:r>
              <a:t>References:</a:t>
            </a:r>
          </a:p>
          <a:p>
            <a:r>
              <a:t>Kristen M. Berendzen, Ruchira Sharma, Maricruz Alvarado Mandujano, Yichao Wei, Forrest D. Rogers, Trenton C. Simmons, Adele M.H. Seelke, Jessica M. Bond, Rose Larios, Nastacia L. Goodwin, Michael Sherman, Srinivas Parthasarthy, Isidero Espineda, Joseph R. Knoedler, Annaliese Beery, Karen L. Bales, Nirao M. Shah, Devanand S. Manoli (2023). Oxytocin receptor is not required for social attachment in prairie voles. Neuron 111: 787-796.e4. https://doi.org/10.1016/j.neuron.2022.12.011</a:t>
            </a:r>
          </a:p>
          <a:p/>
          <a:p>
            <a:r>
              <a:t>Figure: Berendzen (2023), Fig. 3(A–H). Partner preference and attacks in receptor-null animals</a:t>
            </a:r>
          </a:p>
          <a:p>
            <a:r>
              <a:t>Figure source: https://doi.org/10.1016/j.neuron.2022.12.011</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Liu, Z.X Wang (2003). Nucleus accumbens oxytocin and dopamine interact to regulate pair bond formation in female prairie voles. Neuroscience 121: 537-544. https://doi.org/10.1016/s0306-4522(03)00555-4</a:t>
            </a:r>
          </a:p>
          <a:p/>
          <a:p>
            <a:r>
              <a:t>Brandon J. Aragona, Yan Liu, J. Thomas Curtis, Friedrich K. Stephan, Zuoxin Wang (2003). A Critical Role for Nucleus Accumbens Dopamine in Partner-Preference Formation in Male Prairie Voles. The Journal of Neuroscience 23: 3483-3490. https://doi.org/10.1523/jneurosci.23-08-03483.2003</a:t>
            </a:r>
          </a:p>
          <a:p/>
          <a:p>
            <a:r>
              <a:t>Elizabeth A. Amadei, Zachary V. Johnson, Yong Jun Kwon, Aaron C. Shpiner, Varun Saravanan, Wittney D. Mays, Steven J. Ryan, Hasse Walum, Donald G. Rainnie, Larry J. Young, Robert C. Liu (2017). Dynamic corticostriatal activity biases social bonding in monogamous female prairie voles. Nature 546: 297-301. https://doi.org/10.1038/nature22381</a:t>
            </a:r>
          </a:p>
          <a:p/>
          <a:p>
            <a:r>
              <a:t>Kristen M. Berendzen, Ruchira Sharma, Maricruz Alvarado Mandujano, Yichao Wei, Forrest D. Rogers, Trenton C. Simmons, Adele M.H. Seelke, Jessica M. Bond, Rose Larios, Nastacia L. Goodwin, Michael Sherman, Srinivas Parthasarthy, Isidero Espineda, Joseph R. Knoedler, Annaliese Beery, Karen L. Bales, Nirao M. Shah, Devanand S. Manoli (2023). Oxytocin receptor is not required for social attachment in prairie voles. Neuron 111: 787-796.e4. https://doi.org/10.1016/j.neuron.2022.12.011</a:t>
            </a:r>
          </a:p>
          <a:p/>
          <a:p>
            <a:r>
              <a:t>Meredith K. Loth, Julia C. Schmidt, Cassandra A. Gonzalez, Liza E. Brusman, Julie M. Sadino, Kelly E. Winther, David S. W. Protter, Zoe R. Donaldson (2025). Mapping the cellular basis of species differences in oxytocin and dopamine receptor expression in the vole nucleus accumbens. Scientific Reports 15: 26908. https://doi.org/10.1038/s41598-025-06367-1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0.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0.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0.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0.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0.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0.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0.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0.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0.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0.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7.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7.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7.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7.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7.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7.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0.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0.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3E6578"/>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0EBEF"/>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0EBEF"/>
                </a:solidFill>
                <a:latin typeface="Arial"/>
              </a:rPr>
              <a:t>Lecture 50</a:t>
            </a:r>
          </a:p>
        </p:txBody>
      </p:sp>
      <p:sp>
        <p:nvSpPr>
          <p:cNvPr id="5" name="Lecture title"/>
          <p:cNvSpPr txBox="1"/>
          <p:nvPr/>
        </p:nvSpPr>
        <p:spPr>
          <a:xfrm>
            <a:off x="685800" y="2331720"/>
            <a:ext cx="4724247" cy="2926080"/>
          </a:xfrm>
          <a:prstGeom prst="rect">
            <a:avLst/>
          </a:prstGeom>
          <a:noFill/>
        </p:spPr>
        <p:txBody>
          <a:bodyPr wrap="square" lIns="0" rIns="0" tIns="0" bIns="0">
            <a:spAutoFit/>
          </a:bodyPr>
          <a:lstStyle/>
          <a:p>
            <a:pPr algn="l">
              <a:lnSpc>
                <a:spcPct val="108000"/>
              </a:lnSpc>
              <a:spcAft>
                <a:spcPts val="0"/>
              </a:spcAft>
            </a:pPr>
            <a:r>
              <a:rPr sz="2900" b="1" i="0">
                <a:solidFill>
                  <a:srgbClr val="FFFFFF"/>
                </a:solidFill>
                <a:latin typeface="Arial"/>
              </a:rPr>
              <a:t>Prairie voles I:</a:t>
            </a:r>
          </a:p>
          <a:p>
            <a:pPr algn="l">
              <a:lnSpc>
                <a:spcPct val="108000"/>
              </a:lnSpc>
              <a:spcAft>
                <a:spcPts val="0"/>
              </a:spcAft>
            </a:pPr>
            <a:r>
              <a:rPr sz="2900" b="1" i="0">
                <a:solidFill>
                  <a:srgbClr val="FFFFFF"/>
                </a:solidFill>
                <a:latin typeface="Arial"/>
              </a:rPr>
              <a:t>partner preference, social attachment, and oxytocin–dopamine interactions during pair-bond formation</a:t>
            </a:r>
          </a:p>
        </p:txBody>
      </p:sp>
      <p:sp>
        <p:nvSpPr>
          <p:cNvPr id="6" name="TextBox 5"/>
          <p:cNvSpPr txBox="1"/>
          <p:nvPr/>
        </p:nvSpPr>
        <p:spPr>
          <a:xfrm>
            <a:off x="685800" y="5904585"/>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0EBEF"/>
                </a:solidFill>
                <a:latin typeface="Arial"/>
              </a:rPr>
              <a:t>Date TBD</a:t>
            </a:r>
          </a:p>
        </p:txBody>
      </p:sp>
      <p:sp>
        <p:nvSpPr>
          <p:cNvPr id="7" name="TextBox 6"/>
          <p:cNvSpPr txBox="1"/>
          <p:nvPr/>
        </p:nvSpPr>
        <p:spPr>
          <a:xfrm>
            <a:off x="685800" y="6590385"/>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0EBEF"/>
                </a:solidFill>
                <a:latin typeface="Arial"/>
              </a:rPr>
              <a:t>Jordan Lopez, Ph.D.</a:t>
            </a:r>
          </a:p>
          <a:p>
            <a:pPr algn="l">
              <a:lnSpc>
                <a:spcPct val="108000"/>
              </a:lnSpc>
              <a:spcAft>
                <a:spcPts val="200"/>
              </a:spcAft>
            </a:pPr>
            <a:r>
              <a:rPr sz="1200" b="0" i="0">
                <a:solidFill>
                  <a:srgbClr val="E0EBEF"/>
                </a:solidFill>
                <a:latin typeface="Arial"/>
              </a:rPr>
              <a:t>Professor of Neurobiology &amp; Biomedical Engineering</a:t>
            </a:r>
          </a:p>
        </p:txBody>
      </p:sp>
      <p:pic>
        <p:nvPicPr>
          <p:cNvPr id="8" name="Picture 7" descr="prairie_vole.png"/>
          <p:cNvPicPr>
            <a:picLocks noChangeAspect="1"/>
          </p:cNvPicPr>
          <p:nvPr/>
        </p:nvPicPr>
        <p:blipFill>
          <a:blip r:embed="rId2"/>
          <a:stretch>
            <a:fillRect/>
          </a:stretch>
        </p:blipFill>
        <p:spPr>
          <a:xfrm>
            <a:off x="6553047" y="822960"/>
            <a:ext cx="5181447" cy="3886085"/>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Prairie vole (Microtus ochrogaster).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Partner preference measures selective social contact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25160"/>
                </a:solidFill>
                <a:latin typeface="Arial"/>
              </a:rPr>
              <a:t>partner preference</a:t>
            </a:r>
            <a:r>
              <a:rPr sz="1600" b="0" i="0">
                <a:solidFill>
                  <a:srgbClr val="000000"/>
                </a:solidFill>
                <a:latin typeface="Arial"/>
              </a:rPr>
              <a:t> is greater affiliative contact with a familiar mating partner than with an unfamiliar animal. Prairie voles, </a:t>
            </a:r>
            <a:r>
              <a:rPr sz="1600" b="0" i="1">
                <a:solidFill>
                  <a:srgbClr val="000000"/>
                </a:solidFill>
                <a:latin typeface="Arial"/>
              </a:rPr>
              <a:t>Microtus ochrogaster</a:t>
            </a:r>
            <a:r>
              <a:rPr sz="1600" b="0" i="0">
                <a:solidFill>
                  <a:srgbClr val="000000"/>
                </a:solidFill>
                <a:latin typeface="Arial"/>
              </a:rPr>
              <a:t>, are studied because adults can form enduring selective attachments after living with a mate.</a:t>
            </a:r>
          </a:p>
          <a:p>
            <a:pPr algn="l">
              <a:lnSpc>
                <a:spcPct val="108000"/>
              </a:lnSpc>
              <a:spcAft>
                <a:spcPts val="960"/>
              </a:spcAft>
            </a:pPr>
            <a:r>
              <a:rPr sz="1600" b="0" i="0">
                <a:solidFill>
                  <a:srgbClr val="000000"/>
                </a:solidFill>
                <a:latin typeface="Arial"/>
              </a:rPr>
              <a:t>The laboratory assay gives the test animal access to its partner and an opposite-sex stranger. Researchers measure </a:t>
            </a:r>
            <a:r>
              <a:rPr sz="1600" b="1" i="0">
                <a:solidFill>
                  <a:srgbClr val="325160"/>
                </a:solidFill>
                <a:latin typeface="Arial"/>
              </a:rPr>
              <a:t>huddling</a:t>
            </a:r>
            <a:r>
              <a:rPr sz="1600" b="0" i="0">
                <a:solidFill>
                  <a:srgbClr val="000000"/>
                </a:solidFill>
                <a:latin typeface="Arial"/>
              </a:rPr>
              <a:t>, sustained side-by-side body contact, rather than assuming that entering a social chamber establishes an attachment.</a:t>
            </a:r>
          </a:p>
          <a:p>
            <a:pPr algn="l">
              <a:lnSpc>
                <a:spcPct val="108000"/>
              </a:lnSpc>
              <a:spcAft>
                <a:spcPts val="960"/>
              </a:spcAft>
            </a:pPr>
            <a:r>
              <a:rPr sz="1600" b="0" i="0">
                <a:solidFill>
                  <a:srgbClr val="000000"/>
                </a:solidFill>
                <a:latin typeface="Arial"/>
              </a:rPr>
              <a:t>Berendzen and colleagues measured preference after seven days of cohabitation using two apparatus designs. Preference provides an operational measure of selectivity, but one test does not establish every feature of a lifelong pair bond, mating exclusivity, or the animal’s subjective experience.</a:t>
            </a:r>
          </a:p>
        </p:txBody>
      </p:sp>
      <p:pic>
        <p:nvPicPr>
          <p:cNvPr id="4" name="Picture 3" descr="b3.png"/>
          <p:cNvPicPr>
            <a:picLocks noChangeAspect="1"/>
          </p:cNvPicPr>
          <p:nvPr/>
        </p:nvPicPr>
        <p:blipFill>
          <a:blip r:embed="rId2"/>
          <a:stretch>
            <a:fillRect/>
          </a:stretch>
        </p:blipFill>
        <p:spPr>
          <a:xfrm>
            <a:off x="6504127" y="1280160"/>
            <a:ext cx="5120640" cy="3920754"/>
          </a:xfrm>
          <a:prstGeom prst="rect">
            <a:avLst/>
          </a:prstGeom>
        </p:spPr>
      </p:pic>
      <p:sp>
        <p:nvSpPr>
          <p:cNvPr id="5" name="Figure caption"/>
          <p:cNvSpPr txBox="1"/>
          <p:nvPr/>
        </p:nvSpPr>
        <p:spPr>
          <a:xfrm>
            <a:off x="6504127" y="529235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Berendzen (2023), Fig. 3(A–H). Partner preference and attacks in receptor-null animals</a:t>
            </a:r>
          </a:p>
        </p:txBody>
      </p:sp>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Berendzen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The familiar partner is compared with a stranger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25160"/>
                </a:solidFill>
                <a:latin typeface="Arial"/>
              </a:rPr>
              <a:t>partner</a:t>
            </a:r>
            <a:r>
              <a:rPr sz="1600" b="0" i="0">
                <a:solidFill>
                  <a:srgbClr val="000000"/>
                </a:solidFill>
                <a:latin typeface="Arial"/>
              </a:rPr>
              <a:t> is the individual previously housed with the subject, while the </a:t>
            </a:r>
            <a:r>
              <a:rPr sz="1600" b="1" i="0">
                <a:solidFill>
                  <a:srgbClr val="325160"/>
                </a:solidFill>
                <a:latin typeface="Arial"/>
              </a:rPr>
              <a:t>stranger</a:t>
            </a:r>
            <a:r>
              <a:rPr sz="1600" b="0" i="0">
                <a:solidFill>
                  <a:srgbClr val="000000"/>
                </a:solidFill>
                <a:latin typeface="Arial"/>
              </a:rPr>
              <a:t> is a previously unfamiliar potential mate. Both are present during the preference test, allowing selective affiliation to be separated from a general willingness to approach others.</a:t>
            </a:r>
          </a:p>
          <a:p>
            <a:pPr algn="l">
              <a:lnSpc>
                <a:spcPct val="108000"/>
              </a:lnSpc>
              <a:spcAft>
                <a:spcPts val="960"/>
              </a:spcAft>
            </a:pPr>
            <a:r>
              <a:rPr sz="1600" b="0" i="0">
                <a:solidFill>
                  <a:srgbClr val="000000"/>
                </a:solidFill>
                <a:latin typeface="Arial"/>
              </a:rPr>
              <a:t>Berendzen and colleagues used a branched apparatus and a linear apparatus with two partitions. Subjects could move between the stimulus animals, and investigators recorded time spent huddling with each rather than measuring only spatial proximity.</a:t>
            </a:r>
          </a:p>
          <a:p>
            <a:pPr algn="l">
              <a:lnSpc>
                <a:spcPct val="108000"/>
              </a:lnSpc>
              <a:spcAft>
                <a:spcPts val="960"/>
              </a:spcAft>
            </a:pPr>
            <a:r>
              <a:rPr sz="1600" b="0" i="0">
                <a:solidFill>
                  <a:srgbClr val="000000"/>
                </a:solidFill>
                <a:latin typeface="Arial"/>
              </a:rPr>
              <a:t>A consistent preference across different apparatus arrangements reduces dependence on one particular arena geometry. The assay still combines recognition, motivation, locomotion, and contact behavior, so changes in preference require additional controls before they can be assigned to one sensory or neural process.</a:t>
            </a:r>
          </a:p>
        </p:txBody>
      </p:sp>
      <p:pic>
        <p:nvPicPr>
          <p:cNvPr id="4" name="Picture 3" descr="b3.png"/>
          <p:cNvPicPr>
            <a:picLocks noChangeAspect="1"/>
          </p:cNvPicPr>
          <p:nvPr/>
        </p:nvPicPr>
        <p:blipFill>
          <a:blip r:embed="rId2"/>
          <a:stretch>
            <a:fillRect/>
          </a:stretch>
        </p:blipFill>
        <p:spPr>
          <a:xfrm>
            <a:off x="6504127" y="1280160"/>
            <a:ext cx="5120640" cy="3920754"/>
          </a:xfrm>
          <a:prstGeom prst="rect">
            <a:avLst/>
          </a:prstGeom>
        </p:spPr>
      </p:pic>
      <p:sp>
        <p:nvSpPr>
          <p:cNvPr id="5" name="Figure caption"/>
          <p:cNvSpPr txBox="1"/>
          <p:nvPr/>
        </p:nvSpPr>
        <p:spPr>
          <a:xfrm>
            <a:off x="6504127" y="529235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Berendzen (2023), Fig. 3(A–H). Partner preference and attacks in receptor-null animals</a:t>
            </a:r>
          </a:p>
        </p:txBody>
      </p:sp>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Berendzen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Cohabitation duration changes the experimental question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325160"/>
                </a:solidFill>
                <a:latin typeface="Arial"/>
              </a:rPr>
              <a:t>Cohabitation</a:t>
            </a:r>
            <a:r>
              <a:rPr sz="1700" b="0" i="0">
                <a:solidFill>
                  <a:srgbClr val="000000"/>
                </a:solidFill>
                <a:latin typeface="Arial"/>
              </a:rPr>
              <a:t> means living together during a defined exposure period. Liu and Wang paired sexually naïve female prairie voles with males for six hours without mating, then measured partner and stranger contact during a three-hour preference test.</a:t>
            </a:r>
          </a:p>
          <a:p>
            <a:pPr algn="l">
              <a:lnSpc>
                <a:spcPct val="108000"/>
              </a:lnSpc>
              <a:spcAft>
                <a:spcPts val="1019"/>
              </a:spcAft>
            </a:pPr>
            <a:r>
              <a:rPr sz="1700" b="0" i="0">
                <a:solidFill>
                  <a:srgbClr val="000000"/>
                </a:solidFill>
                <a:latin typeface="Arial"/>
              </a:rPr>
              <a:t>Control females did not acquire a clear partner preference under this short nonmating condition. Pharmacological treatments could therefore be tested for their ability to enable a selective preference when the usual control exposure was insufficient.</a:t>
            </a:r>
          </a:p>
          <a:p>
            <a:pPr algn="l">
              <a:lnSpc>
                <a:spcPct val="108000"/>
              </a:lnSpc>
              <a:spcAft>
                <a:spcPts val="1019"/>
              </a:spcAft>
            </a:pPr>
            <a:r>
              <a:rPr sz="1700" b="0" i="0">
                <a:solidFill>
                  <a:srgbClr val="000000"/>
                </a:solidFill>
                <a:latin typeface="Arial"/>
              </a:rPr>
              <a:t>This design asks whether a manipulation facilitates preference formation, rather than whether it erases an established long-term bond. Its six-hour exposure must not be treated as equivalent to the seven-day pairing used in the later genetic study, because time and sociosexual experience differ.</a:t>
            </a:r>
          </a:p>
        </p:txBody>
      </p:sp>
      <p:pic>
        <p:nvPicPr>
          <p:cNvPr id="4" name="Picture 3" descr="l1.png"/>
          <p:cNvPicPr>
            <a:picLocks noChangeAspect="1"/>
          </p:cNvPicPr>
          <p:nvPr/>
        </p:nvPicPr>
        <p:blipFill>
          <a:blip r:embed="rId2"/>
          <a:stretch>
            <a:fillRect/>
          </a:stretch>
        </p:blipFill>
        <p:spPr>
          <a:xfrm>
            <a:off x="6661284" y="1280160"/>
            <a:ext cx="480632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&amp; Wang (2003), Fig. 1. D2-type agonist preference and receptor-blockade conditions</a:t>
            </a:r>
          </a:p>
        </p:txBody>
      </p:sp>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&amp; Wang (2003)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Prairie and meadow voles differ in selective affiliation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meadow vole, </a:t>
            </a:r>
            <a:r>
              <a:rPr sz="1600" b="0" i="1">
                <a:solidFill>
                  <a:srgbClr val="000000"/>
                </a:solidFill>
                <a:latin typeface="Arial"/>
              </a:rPr>
              <a:t>Microtus pennsylvanicus</a:t>
            </a:r>
            <a:r>
              <a:rPr sz="1600" b="0" i="0">
                <a:solidFill>
                  <a:srgbClr val="000000"/>
                </a:solidFill>
                <a:latin typeface="Arial"/>
              </a:rPr>
              <a:t>, provides a closely related species comparison. Loth and colleagues used the same general partner-versus-stranger framework to compare social behavior and accumbens receptor expression across prairie and meadow voles.</a:t>
            </a:r>
          </a:p>
          <a:p>
            <a:pPr algn="l">
              <a:lnSpc>
                <a:spcPct val="108000"/>
              </a:lnSpc>
              <a:spcAft>
                <a:spcPts val="960"/>
              </a:spcAft>
            </a:pPr>
            <a:r>
              <a:rPr sz="1600" b="0" i="0">
                <a:solidFill>
                  <a:srgbClr val="000000"/>
                </a:solidFill>
                <a:latin typeface="Arial"/>
              </a:rPr>
              <a:t>Paired prairie voles spent more time huddling with their partner than with a novel animal. Meadow voles in the tested conditions did not display the same selective partner preference, despite having opportunities for social contact.</a:t>
            </a:r>
          </a:p>
          <a:p>
            <a:pPr algn="l">
              <a:lnSpc>
                <a:spcPct val="108000"/>
              </a:lnSpc>
              <a:spcAft>
                <a:spcPts val="960"/>
              </a:spcAft>
            </a:pPr>
            <a:r>
              <a:rPr sz="1600" b="0" i="0">
                <a:solidFill>
                  <a:srgbClr val="000000"/>
                </a:solidFill>
                <a:latin typeface="Arial"/>
              </a:rPr>
              <a:t>The comparison concerns the measured pattern of selective affiliation, not an absence of social behavior in meadow voles. Species differences in receptor transcripts are correlates of this behavioral contrast; a molecular difference cannot alone establish which cells cause the species difference or whether every wild individual follows the laboratory pattern.</a:t>
            </a:r>
          </a:p>
        </p:txBody>
      </p:sp>
      <p:pic>
        <p:nvPicPr>
          <p:cNvPr id="4" name="Picture 3" descr="r3.png"/>
          <p:cNvPicPr>
            <a:picLocks noChangeAspect="1"/>
          </p:cNvPicPr>
          <p:nvPr/>
        </p:nvPicPr>
        <p:blipFill>
          <a:blip r:embed="rId2"/>
          <a:stretch>
            <a:fillRect/>
          </a:stretch>
        </p:blipFill>
        <p:spPr>
          <a:xfrm>
            <a:off x="7426288" y="1280160"/>
            <a:ext cx="327631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3(A–I). Pairing, partner preference, and receptor co-expression</a:t>
            </a:r>
          </a:p>
        </p:txBody>
      </p:sp>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Loth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Preference is not simply increased social activity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test animal may spend considerable time in social chambers without preferentially contacting one individual. Loth and colleagues therefore measured social-chamber occupancy separately from huddling with the partner and stranger.</a:t>
            </a:r>
          </a:p>
          <a:p>
            <a:pPr algn="l">
              <a:lnSpc>
                <a:spcPct val="108000"/>
              </a:lnSpc>
              <a:spcAft>
                <a:spcPts val="960"/>
              </a:spcAft>
            </a:pPr>
            <a:r>
              <a:rPr sz="1600" b="0" i="0">
                <a:solidFill>
                  <a:srgbClr val="000000"/>
                </a:solidFill>
                <a:latin typeface="Arial"/>
              </a:rPr>
              <a:t>Prairie voles showed partner-selective huddling, whereas differences in social-chamber time also depended on sex and species. The two measurements capture related but distinct aspects of behavior: social approach and selective affiliative contact.</a:t>
            </a:r>
          </a:p>
          <a:p>
            <a:pPr algn="l">
              <a:lnSpc>
                <a:spcPct val="108000"/>
              </a:lnSpc>
              <a:spcAft>
                <a:spcPts val="960"/>
              </a:spcAft>
            </a:pPr>
            <a:r>
              <a:rPr sz="1600" b="0" i="0">
                <a:solidFill>
                  <a:srgbClr val="000000"/>
                </a:solidFill>
                <a:latin typeface="Arial"/>
              </a:rPr>
              <a:t>This distinction prevents an increase in general approach from being mislabeled as stronger attachment. Drug and circuit studies likewise need movement or exposure controls, because a subject that explores less, encounters one stimulus more often, or changes its overall activity may produce altered contact time without a selective change in bonding.</a:t>
            </a:r>
          </a:p>
        </p:txBody>
      </p:sp>
      <p:pic>
        <p:nvPicPr>
          <p:cNvPr id="4" name="Picture 3" descr="r3.png"/>
          <p:cNvPicPr>
            <a:picLocks noChangeAspect="1"/>
          </p:cNvPicPr>
          <p:nvPr/>
        </p:nvPicPr>
        <p:blipFill>
          <a:blip r:embed="rId2"/>
          <a:stretch>
            <a:fillRect/>
          </a:stretch>
        </p:blipFill>
        <p:spPr>
          <a:xfrm>
            <a:off x="7426288" y="1280160"/>
            <a:ext cx="327631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3(A–I). Pairing, partner preference, and receptor co-expression</a:t>
            </a:r>
          </a:p>
        </p:txBody>
      </p:sp>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Loth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The accumbens is a localized target within the forebrain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25160"/>
                </a:solidFill>
                <a:latin typeface="Arial"/>
              </a:rPr>
              <a:t>nucleus accumbens</a:t>
            </a:r>
            <a:r>
              <a:rPr sz="1600" b="0" i="0">
                <a:solidFill>
                  <a:srgbClr val="000000"/>
                </a:solidFill>
                <a:latin typeface="Arial"/>
              </a:rPr>
              <a:t> is a forebrain region implicated in reward-related learning and social affiliation. Liu and Wang targeted it with bilateral microinjections to test whether oxytocin and dopamine effects could be localized rather than attributed to the entire brain.</a:t>
            </a:r>
          </a:p>
          <a:p>
            <a:pPr algn="l">
              <a:lnSpc>
                <a:spcPct val="108000"/>
              </a:lnSpc>
              <a:spcAft>
                <a:spcPts val="960"/>
              </a:spcAft>
            </a:pPr>
            <a:r>
              <a:rPr sz="1600" b="0" i="0">
                <a:solidFill>
                  <a:srgbClr val="000000"/>
                </a:solidFill>
                <a:latin typeface="Arial"/>
              </a:rPr>
              <a:t>They injected 200 nanoliters per side and verified placement in histological sections after behavioral testing. Most successful injection sites were in the accumbens shell, a subdivision distinguished from the adjacent core in the published anatomical reference.</a:t>
            </a:r>
          </a:p>
          <a:p>
            <a:pPr algn="l">
              <a:lnSpc>
                <a:spcPct val="108000"/>
              </a:lnSpc>
              <a:spcAft>
                <a:spcPts val="960"/>
              </a:spcAft>
            </a:pPr>
            <a:r>
              <a:rPr sz="1600" b="0" i="0">
                <a:solidFill>
                  <a:srgbClr val="000000"/>
                </a:solidFill>
                <a:latin typeface="Arial"/>
              </a:rPr>
              <a:t>Regional targeting narrows the anatomical interpretation, but an injection still reaches a tissue volume containing multiple cell types and connections. It does not identify a single receptor-bearing neuron or prove that the compound remains confined to every boundary of the intended region.</a:t>
            </a:r>
          </a:p>
        </p:txBody>
      </p:sp>
      <p:pic>
        <p:nvPicPr>
          <p:cNvPr id="4" name="Picture 3" descr="l3.png"/>
          <p:cNvPicPr>
            <a:picLocks noChangeAspect="1"/>
          </p:cNvPicPr>
          <p:nvPr/>
        </p:nvPicPr>
        <p:blipFill>
          <a:blip r:embed="rId2"/>
          <a:stretch>
            <a:fillRect/>
          </a:stretch>
        </p:blipFill>
        <p:spPr>
          <a:xfrm>
            <a:off x="6504127" y="1280160"/>
            <a:ext cx="5120640" cy="3639524"/>
          </a:xfrm>
          <a:prstGeom prst="rect">
            <a:avLst/>
          </a:prstGeom>
        </p:spPr>
      </p:pic>
      <p:sp>
        <p:nvSpPr>
          <p:cNvPr id="5" name="Figure caption"/>
          <p:cNvSpPr txBox="1"/>
          <p:nvPr/>
        </p:nvSpPr>
        <p:spPr>
          <a:xfrm>
            <a:off x="6504127" y="501112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&amp; Wang (2003), Fig. 3. Accumbens injection sites and the published anatomical reference</a:t>
            </a:r>
          </a:p>
        </p:txBody>
      </p:sp>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&amp; Wang (2003)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Dopamine-related proteins label accumbens innervation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25160"/>
                </a:solidFill>
                <a:latin typeface="Arial"/>
              </a:rPr>
              <a:t>Dopamine</a:t>
            </a:r>
            <a:r>
              <a:rPr sz="1600" b="0" i="0">
                <a:solidFill>
                  <a:srgbClr val="000000"/>
                </a:solidFill>
                <a:latin typeface="Arial"/>
              </a:rPr>
              <a:t> is a neurotransmitter involved in modulation of neural activity. Aragona and colleagues examined male vole accumbens tissue using staining for tyrosine hydroxylase and the dopamine transporter, proteins associated with dopamine synthesis and handling.</a:t>
            </a:r>
          </a:p>
          <a:p>
            <a:pPr algn="l">
              <a:lnSpc>
                <a:spcPct val="108000"/>
              </a:lnSpc>
              <a:spcAft>
                <a:spcPts val="960"/>
              </a:spcAft>
            </a:pPr>
            <a:r>
              <a:rPr sz="1600" b="0" i="0">
                <a:solidFill>
                  <a:srgbClr val="000000"/>
                </a:solidFill>
                <a:latin typeface="Arial"/>
              </a:rPr>
              <a:t>The </a:t>
            </a:r>
            <a:r>
              <a:rPr sz="1600" b="1" i="0">
                <a:solidFill>
                  <a:srgbClr val="325160"/>
                </a:solidFill>
                <a:latin typeface="Arial"/>
              </a:rPr>
              <a:t>dopamine transporter</a:t>
            </a:r>
            <a:r>
              <a:rPr sz="1600" b="0" i="0">
                <a:solidFill>
                  <a:srgbClr val="000000"/>
                </a:solidFill>
                <a:latin typeface="Arial"/>
              </a:rPr>
              <a:t> participates in uptake of extracellular dopamine, while </a:t>
            </a:r>
            <a:r>
              <a:rPr sz="1600" b="1" i="0">
                <a:solidFill>
                  <a:srgbClr val="325160"/>
                </a:solidFill>
                <a:latin typeface="Arial"/>
              </a:rPr>
              <a:t>tyrosine hydroxylase</a:t>
            </a:r>
            <a:r>
              <a:rPr sz="1600" b="0" i="0">
                <a:solidFill>
                  <a:srgbClr val="000000"/>
                </a:solidFill>
                <a:latin typeface="Arial"/>
              </a:rPr>
              <a:t> contributes to catecholamine synthesis. Staining was especially prominent in rostral accumbens regions, providing anatomical evidence for a dopamine-associated neural substrate at the behavioral injection sites.</a:t>
            </a:r>
          </a:p>
          <a:p>
            <a:pPr algn="l">
              <a:lnSpc>
                <a:spcPct val="108000"/>
              </a:lnSpc>
              <a:spcAft>
                <a:spcPts val="960"/>
              </a:spcAft>
            </a:pPr>
            <a:r>
              <a:rPr sz="1600" b="0" i="0">
                <a:solidFill>
                  <a:srgbClr val="000000"/>
                </a:solidFill>
                <a:latin typeface="Arial"/>
              </a:rPr>
              <a:t>Protein staining establishes the distribution of labeled tissue, not the moment-to-moment release of dopamine during mating. Tyrosine hydroxylase is not exclusively a dopamine marker, so the complementary transporter staining strengthens the interpretation without turning the images into a direct measurement of transmitter release.</a:t>
            </a:r>
          </a:p>
        </p:txBody>
      </p:sp>
      <p:pic>
        <p:nvPicPr>
          <p:cNvPr id="4" name="Picture 3" descr="a2.png"/>
          <p:cNvPicPr>
            <a:picLocks noChangeAspect="1"/>
          </p:cNvPicPr>
          <p:nvPr/>
        </p:nvPicPr>
        <p:blipFill>
          <a:blip r:embed="rId2"/>
          <a:stretch>
            <a:fillRect/>
          </a:stretch>
        </p:blipFill>
        <p:spPr>
          <a:xfrm>
            <a:off x="6923871" y="1280160"/>
            <a:ext cx="428115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(2003), Fig. 2(A–D). Dopamine-related staining in male vole accumbens</a:t>
            </a:r>
          </a:p>
        </p:txBody>
      </p:sp>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Aragona et al. (2003)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Accumbens receptor transcripts can share a cell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25160"/>
                </a:solidFill>
                <a:latin typeface="Arial"/>
              </a:rPr>
              <a:t>transcript</a:t>
            </a:r>
            <a:r>
              <a:rPr sz="1600" b="0" i="0">
                <a:solidFill>
                  <a:srgbClr val="000000"/>
                </a:solidFill>
                <a:latin typeface="Arial"/>
              </a:rPr>
              <a:t> is an RNA copy produced from a gene. Loth and colleagues used multiplex fluorescent in situ hybridization to detect oxytocin-receptor transcripts, Oxtr, alongside dopamine-receptor transcripts, Drd1 and Drd2, in accumbens tissue.</a:t>
            </a:r>
          </a:p>
          <a:p>
            <a:pPr algn="l">
              <a:lnSpc>
                <a:spcPct val="108000"/>
              </a:lnSpc>
              <a:spcAft>
                <a:spcPts val="960"/>
              </a:spcAft>
            </a:pPr>
            <a:r>
              <a:rPr sz="1600" b="0" i="0">
                <a:solidFill>
                  <a:srgbClr val="000000"/>
                </a:solidFill>
                <a:latin typeface="Arial"/>
              </a:rPr>
              <a:t>The method labels different transcript targets in separate fluorescent channels while DAPI identifies nuclei. The published preparation includes low-magnification tissue views and higher-magnification views with scale bars of 200 and 50 micrometers, respectively.</a:t>
            </a:r>
          </a:p>
          <a:p>
            <a:pPr algn="l">
              <a:lnSpc>
                <a:spcPct val="108000"/>
              </a:lnSpc>
              <a:spcAft>
                <a:spcPts val="960"/>
              </a:spcAft>
            </a:pPr>
            <a:r>
              <a:rPr sz="1600" b="0" i="0">
                <a:solidFill>
                  <a:srgbClr val="000000"/>
                </a:solidFill>
                <a:latin typeface="Arial"/>
              </a:rPr>
              <a:t>Detection within a cell supports possible receptor co-expression, but RNA is not a direct assay of membrane receptor protein or receptor activity. The anatomical overlap supplies a candidate cellular basis for interactions; it does not establish that oxytocin and dopamine signals were simultaneously active during a particular social encounter.</a:t>
            </a:r>
          </a:p>
        </p:txBody>
      </p:sp>
      <p:pic>
        <p:nvPicPr>
          <p:cNvPr id="4" name="Picture 3" descr="r1.png"/>
          <p:cNvPicPr>
            <a:picLocks noChangeAspect="1"/>
          </p:cNvPicPr>
          <p:nvPr/>
        </p:nvPicPr>
        <p:blipFill>
          <a:blip r:embed="rId2"/>
          <a:stretch>
            <a:fillRect/>
          </a:stretch>
        </p:blipFill>
        <p:spPr>
          <a:xfrm>
            <a:off x="7434019" y="1280160"/>
            <a:ext cx="326085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1(A–F). Accumbens receptor transcripts and species comparisons</a:t>
            </a:r>
          </a:p>
        </p:txBody>
      </p:sp>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Loth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Receptor expression varies across accumbens subdivisions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The accumbens contains a core and medial and lateral shell subdivisions. Loth and colleagues quantified receptor-transcript-positive cells separately in these regions rather than treating the entire accumbens as one homogeneous population.</a:t>
            </a:r>
          </a:p>
          <a:p>
            <a:pPr algn="l">
              <a:lnSpc>
                <a:spcPct val="108000"/>
              </a:lnSpc>
              <a:spcAft>
                <a:spcPts val="1019"/>
              </a:spcAft>
            </a:pPr>
            <a:r>
              <a:rPr sz="1700" b="0" i="0">
                <a:solidFill>
                  <a:srgbClr val="000000"/>
                </a:solidFill>
                <a:latin typeface="Arial"/>
              </a:rPr>
              <a:t>Prairie voles had more Oxtr-positive cells than meadow voles across all three subdivisions. Meadow voles had more Drd2-positive cells, while the proportion of Drd1-positive cells did not differ consistently between the species.</a:t>
            </a:r>
          </a:p>
          <a:p>
            <a:pPr algn="l">
              <a:lnSpc>
                <a:spcPct val="108000"/>
              </a:lnSpc>
              <a:spcAft>
                <a:spcPts val="1019"/>
              </a:spcAft>
            </a:pPr>
            <a:r>
              <a:rPr sz="1700" b="0" i="0">
                <a:solidFill>
                  <a:srgbClr val="000000"/>
                </a:solidFill>
                <a:latin typeface="Arial"/>
              </a:rPr>
              <a:t>A regional population difference can reflect the number of expressing cells rather than a uniform change in every neuron. These maps therefore refine earlier tissue-level receptor comparisons, but they cannot assign a behavioral function to a subdivision without an intervention that tests the relevant cells or connections.</a:t>
            </a:r>
          </a:p>
        </p:txBody>
      </p:sp>
      <p:pic>
        <p:nvPicPr>
          <p:cNvPr id="4" name="Picture 3" descr="r1.png"/>
          <p:cNvPicPr>
            <a:picLocks noChangeAspect="1"/>
          </p:cNvPicPr>
          <p:nvPr/>
        </p:nvPicPr>
        <p:blipFill>
          <a:blip r:embed="rId2"/>
          <a:stretch>
            <a:fillRect/>
          </a:stretch>
        </p:blipFill>
        <p:spPr>
          <a:xfrm>
            <a:off x="7434019" y="1280160"/>
            <a:ext cx="326085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1(A–F). Accumbens receptor transcripts and species comparisons</a:t>
            </a:r>
          </a:p>
        </p:txBody>
      </p:sp>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Loth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Co-expression prevents a simple D1-versus-D2 dichotomy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25160"/>
                </a:solidFill>
                <a:latin typeface="Arial"/>
              </a:rPr>
              <a:t>Co-expression</a:t>
            </a:r>
            <a:r>
              <a:rPr sz="1600" b="0" i="0">
                <a:solidFill>
                  <a:srgbClr val="000000"/>
                </a:solidFill>
                <a:latin typeface="Arial"/>
              </a:rPr>
              <a:t> means that a cell contains more than one measured transcript. Loth and colleagues classified accumbens cells into mutually exclusive combinations of Oxtr, Drd1, and Drd2, including cells expressing both dopamine-receptor transcripts.</a:t>
            </a:r>
          </a:p>
          <a:p>
            <a:pPr algn="l">
              <a:lnSpc>
                <a:spcPct val="108000"/>
              </a:lnSpc>
              <a:spcAft>
                <a:spcPts val="960"/>
              </a:spcAft>
            </a:pPr>
            <a:r>
              <a:rPr sz="1600" b="0" i="0">
                <a:solidFill>
                  <a:srgbClr val="000000"/>
                </a:solidFill>
                <a:latin typeface="Arial"/>
              </a:rPr>
              <a:t>Oxtr occurred in Drd1-positive, Drd2-positive, and Drd1-plus-Drd2 populations. Prairie voles showed enrichment of several Oxtr co-expressing combinations, particularly in the lateral shell, rather than restricting oxytocin-receptor transcripts to one dopamine-receptor class.</a:t>
            </a:r>
          </a:p>
          <a:p>
            <a:pPr algn="l">
              <a:lnSpc>
                <a:spcPct val="108000"/>
              </a:lnSpc>
              <a:spcAft>
                <a:spcPts val="960"/>
              </a:spcAft>
            </a:pPr>
            <a:r>
              <a:rPr sz="1600" b="0" i="0">
                <a:solidFill>
                  <a:srgbClr val="000000"/>
                </a:solidFill>
                <a:latin typeface="Arial"/>
              </a:rPr>
              <a:t>The result prevents a tissue-level D1-versus-D2 distinction from being interpreted as two completely separate cellular pathways. Transcript combinations identify candidate signal-convergence sites, but they do not measure how receptor activation changes membrane potential or establish which combination is responsible for forming a partner preference.</a:t>
            </a:r>
          </a:p>
        </p:txBody>
      </p:sp>
      <p:pic>
        <p:nvPicPr>
          <p:cNvPr id="4" name="Picture 3" descr="r2.png"/>
          <p:cNvPicPr>
            <a:picLocks noChangeAspect="1"/>
          </p:cNvPicPr>
          <p:nvPr/>
        </p:nvPicPr>
        <p:blipFill>
          <a:blip r:embed="rId2"/>
          <a:stretch>
            <a:fillRect/>
          </a:stretch>
        </p:blipFill>
        <p:spPr>
          <a:xfrm>
            <a:off x="7031165" y="1280160"/>
            <a:ext cx="406656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2(A–C). Receptor co-expression classes across accumbens regions</a:t>
            </a:r>
          </a:p>
        </p:txBody>
      </p:sp>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Loth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Dopamine blockade prevents male partner preference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325160"/>
                </a:solidFill>
                <a:latin typeface="Arial"/>
              </a:rPr>
              <a:t>antagonist</a:t>
            </a:r>
            <a:r>
              <a:rPr sz="1600" b="0" i="0">
                <a:solidFill>
                  <a:srgbClr val="000000"/>
                </a:solidFill>
                <a:latin typeface="Arial"/>
              </a:rPr>
              <a:t> interferes with receptor activation. Aragona and colleagues administered the dopamine antagonist haloperidol to male prairie voles before a 24-hour mating and cohabitation period, then measured selective contact in a preference test.</a:t>
            </a:r>
          </a:p>
          <a:p>
            <a:pPr algn="l">
              <a:lnSpc>
                <a:spcPct val="108000"/>
              </a:lnSpc>
              <a:spcAft>
                <a:spcPts val="960"/>
              </a:spcAft>
            </a:pPr>
            <a:r>
              <a:rPr sz="1600" b="0" i="0">
                <a:solidFill>
                  <a:srgbClr val="000000"/>
                </a:solidFill>
                <a:latin typeface="Arial"/>
              </a:rPr>
              <a:t>Control males developed greater contact with their partner than with the stranger. Haloperidol-treated males did not show the same preference, although the investigators did not find corresponding disruption of mating or general locomotor activity in the tested conditions.</a:t>
            </a:r>
          </a:p>
          <a:p>
            <a:pPr algn="l">
              <a:lnSpc>
                <a:spcPct val="108000"/>
              </a:lnSpc>
              <a:spcAft>
                <a:spcPts val="960"/>
              </a:spcAft>
            </a:pPr>
            <a:r>
              <a:rPr sz="1600" b="0" i="0">
                <a:solidFill>
                  <a:srgbClr val="000000"/>
                </a:solidFill>
                <a:latin typeface="Arial"/>
              </a:rPr>
              <a:t>The intervention supports dopamine-receptor involvement in preference formation during this exposure window. Because the drug was administered before pairing and was not restricted to one molecular receptor subtype, the result does not isolate recognition, reinforcement, or later preference expression as the only affected process.</a:t>
            </a:r>
          </a:p>
        </p:txBody>
      </p:sp>
      <p:pic>
        <p:nvPicPr>
          <p:cNvPr id="4" name="Picture 3" descr="a1.png"/>
          <p:cNvPicPr>
            <a:picLocks noChangeAspect="1"/>
          </p:cNvPicPr>
          <p:nvPr/>
        </p:nvPicPr>
        <p:blipFill>
          <a:blip r:embed="rId2"/>
          <a:stretch>
            <a:fillRect/>
          </a:stretch>
        </p:blipFill>
        <p:spPr>
          <a:xfrm>
            <a:off x="6138367" y="1280160"/>
            <a:ext cx="5486400" cy="2161847"/>
          </a:xfrm>
          <a:prstGeom prst="rect">
            <a:avLst/>
          </a:prstGeom>
        </p:spPr>
      </p:pic>
      <p:sp>
        <p:nvSpPr>
          <p:cNvPr id="5" name="Figure caption"/>
          <p:cNvSpPr txBox="1"/>
          <p:nvPr/>
        </p:nvSpPr>
        <p:spPr>
          <a:xfrm>
            <a:off x="6138367" y="3533447"/>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(2003), Fig. 1(A–B). Male partner preference after dopamine drug treatments</a:t>
            </a:r>
          </a:p>
        </p:txBody>
      </p:sp>
      <p:pic>
        <p:nvPicPr>
          <p:cNvPr id="6" name="Picture 5" descr="r1a.png"/>
          <p:cNvPicPr>
            <a:picLocks noChangeAspect="1"/>
          </p:cNvPicPr>
          <p:nvPr/>
        </p:nvPicPr>
        <p:blipFill>
          <a:blip r:embed="rId3"/>
          <a:stretch>
            <a:fillRect/>
          </a:stretch>
        </p:blipFill>
        <p:spPr>
          <a:xfrm>
            <a:off x="7376602" y="4297680"/>
            <a:ext cx="300993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1(A). Prairie vole accumbens receptor-transcript fluorescence</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Aragona et al. (2003)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Dopamine agonism can facilitate preference without mating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325160"/>
                </a:solidFill>
                <a:latin typeface="Arial"/>
              </a:rPr>
              <a:t>agonist</a:t>
            </a:r>
            <a:r>
              <a:rPr sz="1600" b="0" i="0">
                <a:solidFill>
                  <a:srgbClr val="000000"/>
                </a:solidFill>
                <a:latin typeface="Arial"/>
              </a:rPr>
              <a:t> activates a receptor-associated response. Aragona and colleagues administered apomorphine, a dopamine agonist, to male prairie voles before six hours of cohabitation in which mating did not occur.</a:t>
            </a:r>
          </a:p>
          <a:p>
            <a:pPr algn="l">
              <a:lnSpc>
                <a:spcPct val="108000"/>
              </a:lnSpc>
              <a:spcAft>
                <a:spcPts val="960"/>
              </a:spcAft>
            </a:pPr>
            <a:r>
              <a:rPr sz="1600" b="0" i="0">
                <a:solidFill>
                  <a:srgbClr val="000000"/>
                </a:solidFill>
                <a:latin typeface="Arial"/>
              </a:rPr>
              <a:t>A low dose promoted selective contact with the familiar partner, whereas the tested higher dose did not produce the same preference. The behavioral effect therefore depended on dose rather than increasing monotonically with stronger drug exposure.</a:t>
            </a:r>
          </a:p>
          <a:p>
            <a:pPr algn="l">
              <a:lnSpc>
                <a:spcPct val="108000"/>
              </a:lnSpc>
              <a:spcAft>
                <a:spcPts val="960"/>
              </a:spcAft>
            </a:pPr>
            <a:r>
              <a:rPr sz="1600" b="0" i="0">
                <a:solidFill>
                  <a:srgbClr val="000000"/>
                </a:solidFill>
                <a:latin typeface="Arial"/>
              </a:rPr>
              <a:t>Facilitation under a normally insufficient exposure supports a role for dopamine signaling in acquiring selective affiliation. It does not establish that any dopamine increase creates a bond, nor does a nonselective agonist identify the exact receptor subtype or endogenous pattern of neural activity that normally carries the effect.</a:t>
            </a:r>
          </a:p>
        </p:txBody>
      </p:sp>
      <p:pic>
        <p:nvPicPr>
          <p:cNvPr id="4" name="Picture 3" descr="a1.png"/>
          <p:cNvPicPr>
            <a:picLocks noChangeAspect="1"/>
          </p:cNvPicPr>
          <p:nvPr/>
        </p:nvPicPr>
        <p:blipFill>
          <a:blip r:embed="rId2"/>
          <a:stretch>
            <a:fillRect/>
          </a:stretch>
        </p:blipFill>
        <p:spPr>
          <a:xfrm>
            <a:off x="6138367" y="1280160"/>
            <a:ext cx="5486400" cy="2161847"/>
          </a:xfrm>
          <a:prstGeom prst="rect">
            <a:avLst/>
          </a:prstGeom>
        </p:spPr>
      </p:pic>
      <p:sp>
        <p:nvSpPr>
          <p:cNvPr id="5" name="Figure caption"/>
          <p:cNvSpPr txBox="1"/>
          <p:nvPr/>
        </p:nvSpPr>
        <p:spPr>
          <a:xfrm>
            <a:off x="6138367" y="3533447"/>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(2003), Fig. 1(A–B). Male partner preference after dopamine drug treatments</a:t>
            </a:r>
          </a:p>
        </p:txBody>
      </p:sp>
      <p:pic>
        <p:nvPicPr>
          <p:cNvPr id="6" name="Picture 5" descr="r1a.png"/>
          <p:cNvPicPr>
            <a:picLocks noChangeAspect="1"/>
          </p:cNvPicPr>
          <p:nvPr/>
        </p:nvPicPr>
        <p:blipFill>
          <a:blip r:embed="rId3"/>
          <a:stretch>
            <a:fillRect/>
          </a:stretch>
        </p:blipFill>
        <p:spPr>
          <a:xfrm>
            <a:off x="7376602" y="4297680"/>
            <a:ext cx="300993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1(A). Prairie vole accumbens receptor-transcript fluorescence</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Aragona et al. (2003)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Mating-related dopamine turnover is an indirect measure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25160"/>
                </a:solidFill>
                <a:latin typeface="Arial"/>
              </a:rPr>
              <a:t>Dopamine turnover</a:t>
            </a:r>
            <a:r>
              <a:rPr sz="1600" b="0" i="0">
                <a:solidFill>
                  <a:srgbClr val="000000"/>
                </a:solidFill>
                <a:latin typeface="Arial"/>
              </a:rPr>
              <a:t> describes metabolism of dopamine and can be estimated from the relationship between dopamine and its metabolites in tissue. Aragona and colleagues compared accumbens samples from control, nonmated, and mated male voles.</a:t>
            </a:r>
          </a:p>
          <a:p>
            <a:pPr algn="l">
              <a:lnSpc>
                <a:spcPct val="108000"/>
              </a:lnSpc>
              <a:spcAft>
                <a:spcPts val="960"/>
              </a:spcAft>
            </a:pPr>
            <a:r>
              <a:rPr sz="1600" b="0" i="0">
                <a:solidFill>
                  <a:srgbClr val="000000"/>
                </a:solidFill>
                <a:latin typeface="Arial"/>
              </a:rPr>
              <a:t>The reported accumbens turnover estimate was approximately 33 percent higher after mating, but the study did not establish that difference as a reliable group effect. The authors treated it as suggestive of altered dopamine activity rather than a definitive release measurement.</a:t>
            </a:r>
          </a:p>
          <a:p>
            <a:pPr algn="l">
              <a:lnSpc>
                <a:spcPct val="108000"/>
              </a:lnSpc>
              <a:spcAft>
                <a:spcPts val="960"/>
              </a:spcAft>
            </a:pPr>
            <a:r>
              <a:rPr sz="1600" b="0" i="0">
                <a:solidFill>
                  <a:srgbClr val="000000"/>
                </a:solidFill>
                <a:latin typeface="Arial"/>
              </a:rPr>
              <a:t>A tissue sample integrates chemical content over a region and sampling interval. It cannot reveal the timing of an individual dopamine transient, identify the active terminal, or distinguish every process affecting synthesis, release, uptake, and metabolism; the behavioral receptor manipulations provide a different kind of evidence.</a:t>
            </a:r>
          </a:p>
        </p:txBody>
      </p:sp>
      <p:pic>
        <p:nvPicPr>
          <p:cNvPr id="4" name="Picture 3" descr="a3.png"/>
          <p:cNvPicPr>
            <a:picLocks noChangeAspect="1"/>
          </p:cNvPicPr>
          <p:nvPr/>
        </p:nvPicPr>
        <p:blipFill>
          <a:blip r:embed="rId2"/>
          <a:stretch>
            <a:fillRect/>
          </a:stretch>
        </p:blipFill>
        <p:spPr>
          <a:xfrm>
            <a:off x="7352224" y="1280160"/>
            <a:ext cx="3058684"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(2003), Fig. 3(A–C). Sampled regions and dopamine metabolite measurements</a:t>
            </a:r>
          </a:p>
        </p:txBody>
      </p:sp>
      <p:pic>
        <p:nvPicPr>
          <p:cNvPr id="6" name="Picture 5" descr="r1a.png"/>
          <p:cNvPicPr>
            <a:picLocks noChangeAspect="1"/>
          </p:cNvPicPr>
          <p:nvPr/>
        </p:nvPicPr>
        <p:blipFill>
          <a:blip r:embed="rId3"/>
          <a:stretch>
            <a:fillRect/>
          </a:stretch>
        </p:blipFill>
        <p:spPr>
          <a:xfrm>
            <a:off x="7376602" y="4297680"/>
            <a:ext cx="300993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1(A). Prairie vole accumbens receptor-transcript fluorescence</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Aragona et al. (2003)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Local dopamine blockade narrows the anatomical claim</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Aragona and colleagues injected haloperidol directly into the male nucleus accumbens before mating-associated cohabitation. The local treatment used four nanograms per side, allowing receptor blockade to be assessed at a specific forebrain target.</a:t>
            </a:r>
          </a:p>
          <a:p>
            <a:pPr algn="l">
              <a:lnSpc>
                <a:spcPct val="108000"/>
              </a:lnSpc>
              <a:spcAft>
                <a:spcPts val="960"/>
              </a:spcAft>
            </a:pPr>
            <a:r>
              <a:rPr sz="1600" b="0" i="0">
                <a:solidFill>
                  <a:srgbClr val="000000"/>
                </a:solidFill>
                <a:latin typeface="Arial"/>
              </a:rPr>
              <a:t>Vehicle-treated males developed a partner preference, whereas males receiving the local antagonist did not. Measures of mating and movement did not account for the loss of selective contact under the tested conditions.</a:t>
            </a:r>
          </a:p>
          <a:p>
            <a:pPr algn="l">
              <a:lnSpc>
                <a:spcPct val="108000"/>
              </a:lnSpc>
              <a:spcAft>
                <a:spcPts val="960"/>
              </a:spcAft>
            </a:pPr>
            <a:r>
              <a:rPr sz="1600" b="0" i="0">
                <a:solidFill>
                  <a:srgbClr val="000000"/>
                </a:solidFill>
                <a:latin typeface="Arial"/>
              </a:rPr>
              <a:t>This result localizes an important component of the systemic drug effect to accumbens tissue. It remains a regional pharmacological intervention: drug diffusion and the presence of multiple dopamine-receptor classes prevent the experiment from identifying one neuron type or proving that only one accumbens subdivision contributes to formation.</a:t>
            </a:r>
          </a:p>
        </p:txBody>
      </p:sp>
      <p:pic>
        <p:nvPicPr>
          <p:cNvPr id="4" name="Picture 3" descr="a4.png"/>
          <p:cNvPicPr>
            <a:picLocks noChangeAspect="1"/>
          </p:cNvPicPr>
          <p:nvPr/>
        </p:nvPicPr>
        <p:blipFill>
          <a:blip r:embed="rId2"/>
          <a:stretch>
            <a:fillRect/>
          </a:stretch>
        </p:blipFill>
        <p:spPr>
          <a:xfrm>
            <a:off x="6274229" y="1280160"/>
            <a:ext cx="5214674"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(2003), Fig. 4(A–B). Local dopamine antagonism and agonism</a:t>
            </a:r>
          </a:p>
        </p:txBody>
      </p:sp>
      <p:pic>
        <p:nvPicPr>
          <p:cNvPr id="6" name="Picture 5" descr="r1a.png"/>
          <p:cNvPicPr>
            <a:picLocks noChangeAspect="1"/>
          </p:cNvPicPr>
          <p:nvPr/>
        </p:nvPicPr>
        <p:blipFill>
          <a:blip r:embed="rId3"/>
          <a:stretch>
            <a:fillRect/>
          </a:stretch>
        </p:blipFill>
        <p:spPr>
          <a:xfrm>
            <a:off x="7376602" y="4297680"/>
            <a:ext cx="300993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1(A). Prairie vole accumbens receptor-transcript fluorescence</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Aragona et al. (2003)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Local agonist facilitation depends on dose and site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Aragona and colleagues injected apomorphine into the male accumbens before six hours of nonmating cohabitation. A dose of 0.04 nanograms per side facilitated partner preference, whereas four nanograms did not produce the same effect.</a:t>
            </a:r>
          </a:p>
          <a:p>
            <a:pPr algn="l">
              <a:lnSpc>
                <a:spcPct val="108000"/>
              </a:lnSpc>
              <a:spcAft>
                <a:spcPts val="960"/>
              </a:spcAft>
            </a:pPr>
            <a:r>
              <a:rPr sz="1600" b="0" i="0">
                <a:solidFill>
                  <a:srgbClr val="000000"/>
                </a:solidFill>
                <a:latin typeface="Arial"/>
              </a:rPr>
              <a:t>The low accumbens dose also failed to facilitate preference when delivered into the caudate putamen, a neighboring dopamine-associated striatal region. Regional placement therefore mattered in addition to the amount of agonist delivered.</a:t>
            </a:r>
          </a:p>
          <a:p>
            <a:pPr algn="l">
              <a:lnSpc>
                <a:spcPct val="108000"/>
              </a:lnSpc>
              <a:spcAft>
                <a:spcPts val="960"/>
              </a:spcAft>
            </a:pPr>
            <a:r>
              <a:rPr sz="1600" b="0" i="0">
                <a:solidFill>
                  <a:srgbClr val="000000"/>
                </a:solidFill>
                <a:latin typeface="Arial"/>
              </a:rPr>
              <a:t>The comparison supports anatomical specificity rather than a general motor or whole-brain dopamine explanation. It does not establish a universal optimal dopamine level, because an injected agonist differs from endogenous transmitter release and may recruit receptor populations differently as dose and tissue distribution change.</a:t>
            </a:r>
          </a:p>
        </p:txBody>
      </p:sp>
      <p:pic>
        <p:nvPicPr>
          <p:cNvPr id="4" name="Picture 3" descr="a4.png"/>
          <p:cNvPicPr>
            <a:picLocks noChangeAspect="1"/>
          </p:cNvPicPr>
          <p:nvPr/>
        </p:nvPicPr>
        <p:blipFill>
          <a:blip r:embed="rId2"/>
          <a:stretch>
            <a:fillRect/>
          </a:stretch>
        </p:blipFill>
        <p:spPr>
          <a:xfrm>
            <a:off x="6274229" y="1280160"/>
            <a:ext cx="5214674"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(2003), Fig. 4(A–B). Local dopamine antagonism and agonism</a:t>
            </a:r>
          </a:p>
        </p:txBody>
      </p:sp>
      <p:pic>
        <p:nvPicPr>
          <p:cNvPr id="6" name="Picture 5" descr="r1a.png"/>
          <p:cNvPicPr>
            <a:picLocks noChangeAspect="1"/>
          </p:cNvPicPr>
          <p:nvPr/>
        </p:nvPicPr>
        <p:blipFill>
          <a:blip r:embed="rId3"/>
          <a:stretch>
            <a:fillRect/>
          </a:stretch>
        </p:blipFill>
        <p:spPr>
          <a:xfrm>
            <a:off x="7376602" y="4297680"/>
            <a:ext cx="300993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1(A). Prairie vole accumbens receptor-transcript fluorescence</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Aragona et al. (2003)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D2-type activation facilitates female partner preference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Liu and Wang tested the D2-type agonist </a:t>
            </a:r>
            <a:r>
              <a:rPr sz="1600" b="1" i="0">
                <a:solidFill>
                  <a:srgbClr val="325160"/>
                </a:solidFill>
                <a:latin typeface="Arial"/>
              </a:rPr>
              <a:t>quinpirole</a:t>
            </a:r>
            <a:r>
              <a:rPr sz="1600" b="0" i="0">
                <a:solidFill>
                  <a:srgbClr val="000000"/>
                </a:solidFill>
                <a:latin typeface="Arial"/>
              </a:rPr>
              <a:t> in female prairie voles. They administered five micrograms systemically before six hours of cohabitation without mating, followed by a three-hour partner preference test.</a:t>
            </a:r>
          </a:p>
          <a:p>
            <a:pPr algn="l">
              <a:lnSpc>
                <a:spcPct val="108000"/>
              </a:lnSpc>
              <a:spcAft>
                <a:spcPts val="960"/>
              </a:spcAft>
            </a:pPr>
            <a:r>
              <a:rPr sz="1600" b="0" i="0">
                <a:solidFill>
                  <a:srgbClr val="000000"/>
                </a:solidFill>
                <a:latin typeface="Arial"/>
              </a:rPr>
              <a:t>Control females divided contact more evenly between partner and stranger, whereas quinpirole-treated females preferentially contacted the familiar male. Co-administration of the D2-type antagonist eticlopride prevented the agonist-induced preference.</a:t>
            </a:r>
          </a:p>
          <a:p>
            <a:pPr algn="l">
              <a:lnSpc>
                <a:spcPct val="108000"/>
              </a:lnSpc>
              <a:spcAft>
                <a:spcPts val="960"/>
              </a:spcAft>
            </a:pPr>
            <a:r>
              <a:rPr sz="1600" b="0" i="0">
                <a:solidFill>
                  <a:srgbClr val="000000"/>
                </a:solidFill>
                <a:latin typeface="Arial"/>
              </a:rPr>
              <a:t>The receptor-family comparison supports D2-type involvement in facilitation under this short exposure condition. D2-type pharmacology includes related receptor subtypes, so the experiment must not be treated as a molecularly exclusive test of Drd2 protein or a measurement of how a single identified accumbens neuron responds during social contact.</a:t>
            </a:r>
          </a:p>
        </p:txBody>
      </p:sp>
      <p:pic>
        <p:nvPicPr>
          <p:cNvPr id="4" name="Picture 3" descr="l1.png"/>
          <p:cNvPicPr>
            <a:picLocks noChangeAspect="1"/>
          </p:cNvPicPr>
          <p:nvPr/>
        </p:nvPicPr>
        <p:blipFill>
          <a:blip r:embed="rId2"/>
          <a:stretch>
            <a:fillRect/>
          </a:stretch>
        </p:blipFill>
        <p:spPr>
          <a:xfrm>
            <a:off x="7501027" y="1280160"/>
            <a:ext cx="276108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&amp; Wang (2003), Fig. 1. D2-type agonist preference and receptor-blockade conditions</a:t>
            </a:r>
          </a:p>
        </p:txBody>
      </p:sp>
      <p:pic>
        <p:nvPicPr>
          <p:cNvPr id="6" name="Picture 5" descr="r1a.png"/>
          <p:cNvPicPr>
            <a:picLocks noChangeAspect="1"/>
          </p:cNvPicPr>
          <p:nvPr/>
        </p:nvPicPr>
        <p:blipFill>
          <a:blip r:embed="rId3"/>
          <a:stretch>
            <a:fillRect/>
          </a:stretch>
        </p:blipFill>
        <p:spPr>
          <a:xfrm>
            <a:off x="7376602" y="4297680"/>
            <a:ext cx="300993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1(A). Prairie vole accumbens receptor-transcript fluorescence</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&amp; Wang (2003)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Oxytocin blockade interrupts dopamine-induced preference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25160"/>
                </a:solidFill>
                <a:latin typeface="Arial"/>
              </a:rPr>
              <a:t>Oxytocin</a:t>
            </a:r>
            <a:r>
              <a:rPr sz="1600" b="0" i="0">
                <a:solidFill>
                  <a:srgbClr val="000000"/>
                </a:solidFill>
                <a:latin typeface="Arial"/>
              </a:rPr>
              <a:t> is a neuropeptide, a signaling molecule composed of a short amino-acid chain. Liu and Wang combined systemic quinpirole with central delivery of an oxytocin-receptor antagonist to test whether dopamine-induced preference depended on another signaling system.</a:t>
            </a:r>
          </a:p>
          <a:p>
            <a:pPr algn="l">
              <a:lnSpc>
                <a:spcPct val="108000"/>
              </a:lnSpc>
              <a:spcAft>
                <a:spcPts val="960"/>
              </a:spcAft>
            </a:pPr>
            <a:r>
              <a:rPr sz="1600" b="0" i="0">
                <a:solidFill>
                  <a:srgbClr val="000000"/>
                </a:solidFill>
                <a:latin typeface="Arial"/>
              </a:rPr>
              <a:t>Quinpirole alone facilitated preference after six hours without mating. Adding the oxytocin antagonist prevented that preference, even though cage-entry frequency did not differ in a way that explained the selective-contact result.</a:t>
            </a:r>
          </a:p>
          <a:p>
            <a:pPr algn="l">
              <a:lnSpc>
                <a:spcPct val="108000"/>
              </a:lnSpc>
              <a:spcAft>
                <a:spcPts val="960"/>
              </a:spcAft>
            </a:pPr>
            <a:r>
              <a:rPr sz="1600" b="0" i="0">
                <a:solidFill>
                  <a:srgbClr val="000000"/>
                </a:solidFill>
                <a:latin typeface="Arial"/>
              </a:rPr>
              <a:t>The experiment establishes a pharmacological dependence between the two systems within the tested time window. It does not show that dopamine physically binds an oxytocin receptor, identify the location of the interaction, or establish whether the receptor signals converge within one cell rather than across a connected network.</a:t>
            </a:r>
          </a:p>
        </p:txBody>
      </p:sp>
      <p:pic>
        <p:nvPicPr>
          <p:cNvPr id="4" name="Picture 3" descr="l1.png"/>
          <p:cNvPicPr>
            <a:picLocks noChangeAspect="1"/>
          </p:cNvPicPr>
          <p:nvPr/>
        </p:nvPicPr>
        <p:blipFill>
          <a:blip r:embed="rId2"/>
          <a:stretch>
            <a:fillRect/>
          </a:stretch>
        </p:blipFill>
        <p:spPr>
          <a:xfrm>
            <a:off x="7501027" y="1280160"/>
            <a:ext cx="276108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&amp; Wang (2003), Fig. 1. D2-type agonist preference and receptor-blockade conditions</a:t>
            </a:r>
          </a:p>
        </p:txBody>
      </p:sp>
      <p:pic>
        <p:nvPicPr>
          <p:cNvPr id="6" name="Picture 5" descr="r1a.png"/>
          <p:cNvPicPr>
            <a:picLocks noChangeAspect="1"/>
          </p:cNvPicPr>
          <p:nvPr/>
        </p:nvPicPr>
        <p:blipFill>
          <a:blip r:embed="rId3"/>
          <a:stretch>
            <a:fillRect/>
          </a:stretch>
        </p:blipFill>
        <p:spPr>
          <a:xfrm>
            <a:off x="7376602" y="4297680"/>
            <a:ext cx="300993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1(A). Prairie vole accumbens receptor-transcript fluorescence</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&amp; Wang (2003)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Central oxytocin infusion facilitates female preference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Liu and Wang infused oxytocin into the lateral ventricle with an osmotic minipump. The solution contained one nanogram per microliter and flowed at 0.5 microliters per hour, providing sustained central exposure rather than a brief regional injection.</a:t>
            </a:r>
          </a:p>
          <a:p>
            <a:pPr algn="l">
              <a:lnSpc>
                <a:spcPct val="108000"/>
              </a:lnSpc>
              <a:spcAft>
                <a:spcPts val="960"/>
              </a:spcAft>
            </a:pPr>
            <a:r>
              <a:rPr sz="1600" b="0" i="0">
                <a:solidFill>
                  <a:srgbClr val="000000"/>
                </a:solidFill>
                <a:latin typeface="Arial"/>
              </a:rPr>
              <a:t>After six hours of cohabitation without mating, oxytocin-treated females spent more side-by-side contact time with the familiar partner than with the stranger. Vehicle-infused controls did not develop the same selective preference under that exposure.</a:t>
            </a:r>
          </a:p>
          <a:p>
            <a:pPr algn="l">
              <a:lnSpc>
                <a:spcPct val="108000"/>
              </a:lnSpc>
              <a:spcAft>
                <a:spcPts val="960"/>
              </a:spcAft>
            </a:pPr>
            <a:r>
              <a:rPr sz="1600" b="0" i="0">
                <a:solidFill>
                  <a:srgbClr val="000000"/>
                </a:solidFill>
                <a:latin typeface="Arial"/>
              </a:rPr>
              <a:t>The result supports central oxytocin-sensitive facilitation of partner preference, but ventricular infusion cannot assign the effect to a specific nucleus. Its anatomical interpretation therefore differs from the later accumbens microinjections, and its concentration must not be read as a direct measurement of natural oxytocin release.</a:t>
            </a:r>
          </a:p>
        </p:txBody>
      </p:sp>
      <p:pic>
        <p:nvPicPr>
          <p:cNvPr id="4" name="Picture 3" descr="l2.png"/>
          <p:cNvPicPr>
            <a:picLocks noChangeAspect="1"/>
          </p:cNvPicPr>
          <p:nvPr/>
        </p:nvPicPr>
        <p:blipFill>
          <a:blip r:embed="rId2"/>
          <a:stretch>
            <a:fillRect/>
          </a:stretch>
        </p:blipFill>
        <p:spPr>
          <a:xfrm>
            <a:off x="6622250" y="1280160"/>
            <a:ext cx="488439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&amp; Wang (2003), Fig. 2. Oxytocin infusion and antagonist treatments</a:t>
            </a:r>
          </a:p>
        </p:txBody>
      </p:sp>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&amp; Wang (2003)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D2-type blockade prevents oxytocin-induced preference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Liu and Wang combined central oxytocin infusion with the D2-type antagonist eticlopride. This tested the reverse dependency from the earlier experiment: whether oxytocin-induced preference still emerged when D2-type signaling was blocked.</a:t>
            </a:r>
          </a:p>
          <a:p>
            <a:pPr algn="l">
              <a:lnSpc>
                <a:spcPct val="108000"/>
              </a:lnSpc>
              <a:spcAft>
                <a:spcPts val="960"/>
              </a:spcAft>
            </a:pPr>
            <a:r>
              <a:rPr sz="1600" b="0" i="0">
                <a:solidFill>
                  <a:srgbClr val="000000"/>
                </a:solidFill>
                <a:latin typeface="Arial"/>
              </a:rPr>
              <a:t>Oxytocin alone facilitated selective contact after six hours of nonmating cohabitation. Co-infusion of eticlopride at ten nanograms per microliter prevented that preference, as did co-infusion of the oxytocin-receptor antagonist.</a:t>
            </a:r>
          </a:p>
          <a:p>
            <a:pPr algn="l">
              <a:lnSpc>
                <a:spcPct val="108000"/>
              </a:lnSpc>
              <a:spcAft>
                <a:spcPts val="960"/>
              </a:spcAft>
            </a:pPr>
            <a:r>
              <a:rPr sz="1600" b="0" i="0">
                <a:solidFill>
                  <a:srgbClr val="000000"/>
                </a:solidFill>
                <a:latin typeface="Arial"/>
              </a:rPr>
              <a:t>Reciprocal blockade supports interaction rather than two completely independent routes to the same behavior. It still does not establish the ordering of intracellular events, prove that both receptors are on one neuron, or demonstrate that lifelong elimination of a receptor must have the same effect as acute antagonist exposure.</a:t>
            </a:r>
          </a:p>
        </p:txBody>
      </p:sp>
      <p:pic>
        <p:nvPicPr>
          <p:cNvPr id="4" name="Picture 3" descr="l2.png"/>
          <p:cNvPicPr>
            <a:picLocks noChangeAspect="1"/>
          </p:cNvPicPr>
          <p:nvPr/>
        </p:nvPicPr>
        <p:blipFill>
          <a:blip r:embed="rId2"/>
          <a:stretch>
            <a:fillRect/>
          </a:stretch>
        </p:blipFill>
        <p:spPr>
          <a:xfrm>
            <a:off x="7478602" y="1280160"/>
            <a:ext cx="2805928"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&amp; Wang (2003), Fig. 2. Oxytocin infusion and antagonist treatments</a:t>
            </a:r>
          </a:p>
        </p:txBody>
      </p:sp>
      <p:pic>
        <p:nvPicPr>
          <p:cNvPr id="6" name="Picture 5" descr="r1a.png"/>
          <p:cNvPicPr>
            <a:picLocks noChangeAspect="1"/>
          </p:cNvPicPr>
          <p:nvPr/>
        </p:nvPicPr>
        <p:blipFill>
          <a:blip r:embed="rId3"/>
          <a:stretch>
            <a:fillRect/>
          </a:stretch>
        </p:blipFill>
        <p:spPr>
          <a:xfrm>
            <a:off x="7376602" y="4297680"/>
            <a:ext cx="300993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1(A). Prairie vole accumbens receptor-transcript fluorescence</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&amp; Wang (2003)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Histology places the interaction near accumbens shell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Liu and Wang localized the interaction with bilateral accumbens microinjections. Histological verification placed most injection sites within the shell, alongside an anatomical reference distinguishing shell, core, and the neighboring caudate putamen.</a:t>
            </a:r>
          </a:p>
          <a:p>
            <a:pPr algn="l">
              <a:lnSpc>
                <a:spcPct val="108000"/>
              </a:lnSpc>
              <a:spcAft>
                <a:spcPts val="960"/>
              </a:spcAft>
            </a:pPr>
            <a:r>
              <a:rPr sz="1600" b="0" i="0">
                <a:solidFill>
                  <a:srgbClr val="000000"/>
                </a:solidFill>
                <a:latin typeface="Arial"/>
              </a:rPr>
              <a:t>Each side received 200 nanoliters, and placement was checked after behavior rather than assumed from the planned stereotaxic coordinates. Animals with misplaced cannulae were excluded from the regional analysis.</a:t>
            </a:r>
          </a:p>
          <a:p>
            <a:pPr algn="l">
              <a:lnSpc>
                <a:spcPct val="108000"/>
              </a:lnSpc>
              <a:spcAft>
                <a:spcPts val="960"/>
              </a:spcAft>
            </a:pPr>
            <a:r>
              <a:rPr sz="1600" b="0" i="0">
                <a:solidFill>
                  <a:srgbClr val="000000"/>
                </a:solidFill>
                <a:latin typeface="Arial"/>
              </a:rPr>
              <a:t>Verification connects a behavioral intervention to the tissue actually reached by the injection. It does not provide a microscopic map of drug concentration, exclude every contribution from adjacent tissue, or establish that the shell contains one uniform population of oxytocin- and dopamine-responsive cells; newer transcript maps reveal substantial cellular diversity.</a:t>
            </a:r>
          </a:p>
        </p:txBody>
      </p:sp>
      <p:pic>
        <p:nvPicPr>
          <p:cNvPr id="4" name="Picture 3" descr="l3.png"/>
          <p:cNvPicPr>
            <a:picLocks noChangeAspect="1"/>
          </p:cNvPicPr>
          <p:nvPr/>
        </p:nvPicPr>
        <p:blipFill>
          <a:blip r:embed="rId2"/>
          <a:stretch>
            <a:fillRect/>
          </a:stretch>
        </p:blipFill>
        <p:spPr>
          <a:xfrm>
            <a:off x="7144768" y="1280160"/>
            <a:ext cx="3473598"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&amp; Wang (2003), Fig. 3. Accumbens injection sites and the published anatomical reference</a:t>
            </a:r>
          </a:p>
        </p:txBody>
      </p:sp>
      <p:pic>
        <p:nvPicPr>
          <p:cNvPr id="6" name="Picture 5" descr="r1a.png"/>
          <p:cNvPicPr>
            <a:picLocks noChangeAspect="1"/>
          </p:cNvPicPr>
          <p:nvPr/>
        </p:nvPicPr>
        <p:blipFill>
          <a:blip r:embed="rId3"/>
          <a:stretch>
            <a:fillRect/>
          </a:stretch>
        </p:blipFill>
        <p:spPr>
          <a:xfrm>
            <a:off x="7376602" y="4297680"/>
            <a:ext cx="300993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1(A). Prairie vole accumbens receptor-transcript fluorescence</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&amp; Wang (2003)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Accumbens quinpirole has a threshold-dependent effect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Liu and Wang injected quinpirole directly into female accumbens tissue before six hours of nonmating cohabitation. Doses of 0.001 and 0.01 nanograms per side did not produce a clear partner preference.</a:t>
            </a:r>
          </a:p>
          <a:p>
            <a:pPr algn="l">
              <a:lnSpc>
                <a:spcPct val="108000"/>
              </a:lnSpc>
              <a:spcAft>
                <a:spcPts val="960"/>
              </a:spcAft>
            </a:pPr>
            <a:r>
              <a:rPr sz="1600" b="0" i="0">
                <a:solidFill>
                  <a:srgbClr val="000000"/>
                </a:solidFill>
                <a:latin typeface="Arial"/>
              </a:rPr>
              <a:t>Higher doses of 0.1 and one nanogram per side facilitated selective contact with the familiar male. This dose comparison connected local D2-type agonism with a behavioral effect at concentrations ineffective in the lower-dose conditions.</a:t>
            </a:r>
          </a:p>
          <a:p>
            <a:pPr algn="l">
              <a:lnSpc>
                <a:spcPct val="108000"/>
              </a:lnSpc>
              <a:spcAft>
                <a:spcPts val="960"/>
              </a:spcAft>
            </a:pPr>
            <a:r>
              <a:rPr sz="1600" b="0" i="0">
                <a:solidFill>
                  <a:srgbClr val="000000"/>
                </a:solidFill>
                <a:latin typeface="Arial"/>
              </a:rPr>
              <a:t>The result supports regional pharmacological facilitation and a dependence on treatment strength. It does not measure endogenous dopamine concentration, define a natural physiological threshold, or demonstrate that progressively increasing D2-type activation will continually strengthen an established bond beyond the tested range.</a:t>
            </a:r>
          </a:p>
        </p:txBody>
      </p:sp>
      <p:pic>
        <p:nvPicPr>
          <p:cNvPr id="4" name="Picture 3" descr="l4.png"/>
          <p:cNvPicPr>
            <a:picLocks noChangeAspect="1"/>
          </p:cNvPicPr>
          <p:nvPr/>
        </p:nvPicPr>
        <p:blipFill>
          <a:blip r:embed="rId2"/>
          <a:stretch>
            <a:fillRect/>
          </a:stretch>
        </p:blipFill>
        <p:spPr>
          <a:xfrm>
            <a:off x="7029907" y="1280160"/>
            <a:ext cx="370332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&amp; Wang (2003), Fig. 4. Local quinpirole dose responses and receptor blockade</a:t>
            </a:r>
          </a:p>
        </p:txBody>
      </p:sp>
      <p:pic>
        <p:nvPicPr>
          <p:cNvPr id="6" name="Picture 5" descr="r1a.png"/>
          <p:cNvPicPr>
            <a:picLocks noChangeAspect="1"/>
          </p:cNvPicPr>
          <p:nvPr/>
        </p:nvPicPr>
        <p:blipFill>
          <a:blip r:embed="rId3"/>
          <a:stretch>
            <a:fillRect/>
          </a:stretch>
        </p:blipFill>
        <p:spPr>
          <a:xfrm>
            <a:off x="7376602" y="4297680"/>
            <a:ext cx="300993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1(A). Prairie vole accumbens receptor-transcript fluorescence</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&amp; Wang (2003)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Local oxytocin blockade prevents quinpirole facilitation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Liu and Wang combined one nanogram of accumbens quinpirole with ten nanograms of oxytocin-receptor antagonist per side. The combination tested whether the earlier central-blockade interaction could be reproduced within the regional injection target.</a:t>
            </a:r>
          </a:p>
          <a:p>
            <a:pPr algn="l">
              <a:lnSpc>
                <a:spcPct val="108000"/>
              </a:lnSpc>
              <a:spcAft>
                <a:spcPts val="960"/>
              </a:spcAft>
            </a:pPr>
            <a:r>
              <a:rPr sz="1600" b="0" i="0">
                <a:solidFill>
                  <a:srgbClr val="000000"/>
                </a:solidFill>
                <a:latin typeface="Arial"/>
              </a:rPr>
              <a:t>Quinpirole alone facilitated partner preference, whereas concurrent local oxytocin-receptor blockade prevented it. Local eticlopride also prevented the quinpirole-induced preference, providing a receptor-family control for the agonist effect.</a:t>
            </a:r>
          </a:p>
          <a:p>
            <a:pPr algn="l">
              <a:lnSpc>
                <a:spcPct val="108000"/>
              </a:lnSpc>
              <a:spcAft>
                <a:spcPts val="960"/>
              </a:spcAft>
            </a:pPr>
            <a:r>
              <a:rPr sz="1600" b="0" i="0">
                <a:solidFill>
                  <a:srgbClr val="000000"/>
                </a:solidFill>
                <a:latin typeface="Arial"/>
              </a:rPr>
              <a:t>The interaction therefore has an important accumbens component under these experimental conditions. Neither antagonist result identifies a molecular receptor complex or a single convergence neuron; local tissue contains interconnected populations, and receptor dependence can arise through network interactions as well as co-expression within one cell.</a:t>
            </a:r>
          </a:p>
        </p:txBody>
      </p:sp>
      <p:pic>
        <p:nvPicPr>
          <p:cNvPr id="4" name="Picture 3" descr="l4.png"/>
          <p:cNvPicPr>
            <a:picLocks noChangeAspect="1"/>
          </p:cNvPicPr>
          <p:nvPr/>
        </p:nvPicPr>
        <p:blipFill>
          <a:blip r:embed="rId2"/>
          <a:stretch>
            <a:fillRect/>
          </a:stretch>
        </p:blipFill>
        <p:spPr>
          <a:xfrm>
            <a:off x="7029907" y="1280160"/>
            <a:ext cx="370332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&amp; Wang (2003), Fig. 4. Local quinpirole dose responses and receptor blockade</a:t>
            </a:r>
          </a:p>
        </p:txBody>
      </p:sp>
      <p:pic>
        <p:nvPicPr>
          <p:cNvPr id="6" name="Picture 5" descr="r1a.png"/>
          <p:cNvPicPr>
            <a:picLocks noChangeAspect="1"/>
          </p:cNvPicPr>
          <p:nvPr/>
        </p:nvPicPr>
        <p:blipFill>
          <a:blip r:embed="rId3"/>
          <a:stretch>
            <a:fillRect/>
          </a:stretch>
        </p:blipFill>
        <p:spPr>
          <a:xfrm>
            <a:off x="7376602" y="4297680"/>
            <a:ext cx="300993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1(A). Prairie vole accumbens receptor-transcript fluorescence</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&amp; Wang (2003)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A neighboring dopamine-rich region does not substitute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Liu and Wang delivered one nanogram of quinpirole into the caudate putamen as a regional comparison. This structure is adjacent to the accumbens and contains dopamine-related signaling systems, but it is not the same injection target.</a:t>
            </a:r>
          </a:p>
          <a:p>
            <a:pPr algn="l">
              <a:lnSpc>
                <a:spcPct val="108000"/>
              </a:lnSpc>
              <a:spcAft>
                <a:spcPts val="960"/>
              </a:spcAft>
            </a:pPr>
            <a:r>
              <a:rPr sz="1600" b="0" i="0">
                <a:solidFill>
                  <a:srgbClr val="000000"/>
                </a:solidFill>
                <a:latin typeface="Arial"/>
              </a:rPr>
              <a:t>The caudate-putamen treatment did not facilitate partner preference after six hours of nonmating cohabitation. The corresponding accumbens dose did, supporting a difference between the regions rather than a response to any nearby striatal agonist injection.</a:t>
            </a:r>
          </a:p>
          <a:p>
            <a:pPr algn="l">
              <a:lnSpc>
                <a:spcPct val="108000"/>
              </a:lnSpc>
              <a:spcAft>
                <a:spcPts val="960"/>
              </a:spcAft>
            </a:pPr>
            <a:r>
              <a:rPr sz="1600" b="0" i="0">
                <a:solidFill>
                  <a:srgbClr val="000000"/>
                </a:solidFill>
                <a:latin typeface="Arial"/>
              </a:rPr>
              <a:t>A negative site control narrows the anatomical claim but does not prove that the comparison region has no role in social behavior. It establishes failure of this specific treatment, dose, and exposure schedule to reproduce the measured preference, rather than absence of every possible contribution to affiliation.</a:t>
            </a:r>
          </a:p>
        </p:txBody>
      </p:sp>
      <p:pic>
        <p:nvPicPr>
          <p:cNvPr id="4" name="Picture 3" descr="l4.png"/>
          <p:cNvPicPr>
            <a:picLocks noChangeAspect="1"/>
          </p:cNvPicPr>
          <p:nvPr/>
        </p:nvPicPr>
        <p:blipFill>
          <a:blip r:embed="rId2"/>
          <a:stretch>
            <a:fillRect/>
          </a:stretch>
        </p:blipFill>
        <p:spPr>
          <a:xfrm>
            <a:off x="7029907" y="1280160"/>
            <a:ext cx="370332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&amp; Wang (2003), Fig. 4. Local quinpirole dose responses and receptor blockade</a:t>
            </a:r>
          </a:p>
        </p:txBody>
      </p:sp>
      <p:pic>
        <p:nvPicPr>
          <p:cNvPr id="6" name="Picture 5" descr="r1a.png"/>
          <p:cNvPicPr>
            <a:picLocks noChangeAspect="1"/>
          </p:cNvPicPr>
          <p:nvPr/>
        </p:nvPicPr>
        <p:blipFill>
          <a:blip r:embed="rId3"/>
          <a:stretch>
            <a:fillRect/>
          </a:stretch>
        </p:blipFill>
        <p:spPr>
          <a:xfrm>
            <a:off x="7376602" y="4297680"/>
            <a:ext cx="300993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1(A). Prairie vole accumbens receptor-transcript fluorescence</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&amp; Wang (2003)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Local oxytocin facilitation is not monotonic with dose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Liu and Wang injected oxytocin directly into the female accumbens before six hours of nonmating cohabitation. One nanogram per side facilitated partner preference, whereas 0.1 and ten nanograms did not produce the same selective-contact result.</a:t>
            </a:r>
          </a:p>
          <a:p>
            <a:pPr algn="l">
              <a:lnSpc>
                <a:spcPct val="108000"/>
              </a:lnSpc>
              <a:spcAft>
                <a:spcPts val="960"/>
              </a:spcAft>
            </a:pPr>
            <a:r>
              <a:rPr sz="1600" b="0" i="0">
                <a:solidFill>
                  <a:srgbClr val="000000"/>
                </a:solidFill>
                <a:latin typeface="Arial"/>
              </a:rPr>
              <a:t>The effective intermediate dose prevents the experiment from being interpreted as a simple relationship in which more oxytocin always produces more attachment. Vehicle controls also failed to develop preference under the short nonmating exposure.</a:t>
            </a:r>
          </a:p>
          <a:p>
            <a:pPr algn="l">
              <a:lnSpc>
                <a:spcPct val="108000"/>
              </a:lnSpc>
              <a:spcAft>
                <a:spcPts val="960"/>
              </a:spcAft>
            </a:pPr>
            <a:r>
              <a:rPr sz="1600" b="0" i="0">
                <a:solidFill>
                  <a:srgbClr val="000000"/>
                </a:solidFill>
                <a:latin typeface="Arial"/>
              </a:rPr>
              <a:t>The dose response establishes sensitivity to treatment amount without identifying the reason that the higher dose was ineffective. Different receptor recruitment, spatial spread, or network effects remain possible explanations, but this experiment did not measure those mechanisms and cannot justify selecting one as the established cause.</a:t>
            </a:r>
          </a:p>
        </p:txBody>
      </p:sp>
      <p:pic>
        <p:nvPicPr>
          <p:cNvPr id="4" name="Picture 3" descr="l5.png"/>
          <p:cNvPicPr>
            <a:picLocks noChangeAspect="1"/>
          </p:cNvPicPr>
          <p:nvPr/>
        </p:nvPicPr>
        <p:blipFill>
          <a:blip r:embed="rId2"/>
          <a:stretch>
            <a:fillRect/>
          </a:stretch>
        </p:blipFill>
        <p:spPr>
          <a:xfrm>
            <a:off x="6955490" y="1280160"/>
            <a:ext cx="3852153"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&amp; Wang (2003), Fig. 5. Local oxytocin dose responses and receptor-selective blockade</a:t>
            </a:r>
          </a:p>
        </p:txBody>
      </p:sp>
      <p:pic>
        <p:nvPicPr>
          <p:cNvPr id="6" name="Picture 5" descr="r1a.png"/>
          <p:cNvPicPr>
            <a:picLocks noChangeAspect="1"/>
          </p:cNvPicPr>
          <p:nvPr/>
        </p:nvPicPr>
        <p:blipFill>
          <a:blip r:embed="rId3"/>
          <a:stretch>
            <a:fillRect/>
          </a:stretch>
        </p:blipFill>
        <p:spPr>
          <a:xfrm>
            <a:off x="7376602" y="4297680"/>
            <a:ext cx="300993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1(A). Prairie vole accumbens receptor-transcript fluorescence</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&amp; Wang (2003)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D2-type and D1-type blockade have different outcomes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Liu and Wang combined the effective one-nanogram accumbens oxytocin dose with receptor-directed antagonists. They compared D2-type blockade with eticlopride against D1-type blockade with SCH 23390, each at ten nanograms per side.</a:t>
            </a:r>
          </a:p>
          <a:p>
            <a:pPr algn="l">
              <a:lnSpc>
                <a:spcPct val="108000"/>
              </a:lnSpc>
              <a:spcAft>
                <a:spcPts val="960"/>
              </a:spcAft>
            </a:pPr>
            <a:r>
              <a:rPr sz="1600" b="0" i="0">
                <a:solidFill>
                  <a:srgbClr val="000000"/>
                </a:solidFill>
                <a:latin typeface="Arial"/>
              </a:rPr>
              <a:t>Eticlopride prevented oxytocin-induced preference, whereas SCH 23390 did not prevent selective partner contact under these conditions. Oxytocin-receptor blockade also prevented the effect, establishing a receptor-selective pattern within the same behavioral preparation.</a:t>
            </a:r>
          </a:p>
          <a:p>
            <a:pPr algn="l">
              <a:lnSpc>
                <a:spcPct val="108000"/>
              </a:lnSpc>
              <a:spcAft>
                <a:spcPts val="960"/>
              </a:spcAft>
            </a:pPr>
            <a:r>
              <a:rPr sz="1600" b="0" i="0">
                <a:solidFill>
                  <a:srgbClr val="000000"/>
                </a:solidFill>
                <a:latin typeface="Arial"/>
              </a:rPr>
              <a:t>The contrast supports a D2-type contribution to this form of oxytocin facilitation. It does not establish that D1-type receptors are irrelevant to every phase of bonding, nor does it make drug-family specificity equivalent to deletion of one gene or identification of a single receptor-bearing cell.</a:t>
            </a:r>
          </a:p>
        </p:txBody>
      </p:sp>
      <p:pic>
        <p:nvPicPr>
          <p:cNvPr id="4" name="Picture 3" descr="l5.png"/>
          <p:cNvPicPr>
            <a:picLocks noChangeAspect="1"/>
          </p:cNvPicPr>
          <p:nvPr/>
        </p:nvPicPr>
        <p:blipFill>
          <a:blip r:embed="rId2"/>
          <a:stretch>
            <a:fillRect/>
          </a:stretch>
        </p:blipFill>
        <p:spPr>
          <a:xfrm>
            <a:off x="6955490" y="1280160"/>
            <a:ext cx="3852153"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&amp; Wang (2003), Fig. 5. Local oxytocin dose responses and receptor-selective blockade</a:t>
            </a:r>
          </a:p>
        </p:txBody>
      </p:sp>
      <p:pic>
        <p:nvPicPr>
          <p:cNvPr id="6" name="Picture 5" descr="r1a.png"/>
          <p:cNvPicPr>
            <a:picLocks noChangeAspect="1"/>
          </p:cNvPicPr>
          <p:nvPr/>
        </p:nvPicPr>
        <p:blipFill>
          <a:blip r:embed="rId3"/>
          <a:stretch>
            <a:fillRect/>
          </a:stretch>
        </p:blipFill>
        <p:spPr>
          <a:xfrm>
            <a:off x="7376602" y="4297680"/>
            <a:ext cx="300993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1(A). Prairie vole accumbens receptor-transcript fluorescence</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&amp; Wang (2003)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A second site control constrains oxytocin localization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Liu and Wang administered one nanogram of oxytocin into the cingulate cortex as a regional control. This comparison region contains oxytocin receptors but differs from the accumbens target used for the effective treatment.</a:t>
            </a:r>
          </a:p>
          <a:p>
            <a:pPr algn="l">
              <a:lnSpc>
                <a:spcPct val="108000"/>
              </a:lnSpc>
              <a:spcAft>
                <a:spcPts val="960"/>
              </a:spcAft>
            </a:pPr>
            <a:r>
              <a:rPr sz="1600" b="0" i="0">
                <a:solidFill>
                  <a:srgbClr val="000000"/>
                </a:solidFill>
                <a:latin typeface="Arial"/>
              </a:rPr>
              <a:t>Cingulate administration did not facilitate partner preference after six hours without mating. The corresponding accumbens treatment did, providing evidence that the presence of oxytocin receptors alone is insufficient to predict the behavioral outcome of an injection.</a:t>
            </a:r>
          </a:p>
          <a:p>
            <a:pPr algn="l">
              <a:lnSpc>
                <a:spcPct val="108000"/>
              </a:lnSpc>
              <a:spcAft>
                <a:spcPts val="960"/>
              </a:spcAft>
            </a:pPr>
            <a:r>
              <a:rPr sz="1600" b="0" i="0">
                <a:solidFill>
                  <a:srgbClr val="000000"/>
                </a:solidFill>
                <a:latin typeface="Arial"/>
              </a:rPr>
              <a:t>The comparison supports anatomical organization of the oxytocin-sensitive effect. It does not eliminate the cortex from the broader attachment network: a particular local oxytocin injection can fail while cortical projections still participate in social learning or modulation of accumbens activity under different experimental conditions.</a:t>
            </a:r>
          </a:p>
        </p:txBody>
      </p:sp>
      <p:pic>
        <p:nvPicPr>
          <p:cNvPr id="4" name="Picture 3" descr="l5.png"/>
          <p:cNvPicPr>
            <a:picLocks noChangeAspect="1"/>
          </p:cNvPicPr>
          <p:nvPr/>
        </p:nvPicPr>
        <p:blipFill>
          <a:blip r:embed="rId2"/>
          <a:stretch>
            <a:fillRect/>
          </a:stretch>
        </p:blipFill>
        <p:spPr>
          <a:xfrm>
            <a:off x="6955490" y="1280160"/>
            <a:ext cx="3852153"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&amp; Wang (2003), Fig. 5. Local oxytocin dose responses and receptor-selective blockade</a:t>
            </a:r>
          </a:p>
        </p:txBody>
      </p:sp>
      <p:pic>
        <p:nvPicPr>
          <p:cNvPr id="6" name="Picture 5" descr="r1a.png"/>
          <p:cNvPicPr>
            <a:picLocks noChangeAspect="1"/>
          </p:cNvPicPr>
          <p:nvPr/>
        </p:nvPicPr>
        <p:blipFill>
          <a:blip r:embed="rId3"/>
          <a:stretch>
            <a:fillRect/>
          </a:stretch>
        </p:blipFill>
        <p:spPr>
          <a:xfrm>
            <a:off x="7376602" y="4297680"/>
            <a:ext cx="300993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1(A). Prairie vole accumbens receptor-transcript fluorescence</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&amp; Wang (2003)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Movement controls constrain the drug interpretation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preference score can change if a drug reduces exploration or prevents the subject from reaching one stimulus. Liu and Wang therefore measured cage-entry frequency during the three-hour partner preference test alongside side-by-side contact.</a:t>
            </a:r>
          </a:p>
          <a:p>
            <a:pPr algn="l">
              <a:lnSpc>
                <a:spcPct val="108000"/>
              </a:lnSpc>
              <a:spcAft>
                <a:spcPts val="960"/>
              </a:spcAft>
            </a:pPr>
            <a:r>
              <a:rPr sz="1600" b="0" i="0">
                <a:solidFill>
                  <a:srgbClr val="000000"/>
                </a:solidFill>
                <a:latin typeface="Arial"/>
              </a:rPr>
              <a:t>They did not find treatment-related entry-frequency differences that explained the partner-preference outcomes. Video review also confirmed the absence of mating during the six-hour exposure used for pharmacologically facilitated preference formation.</a:t>
            </a:r>
          </a:p>
          <a:p>
            <a:pPr algn="l">
              <a:lnSpc>
                <a:spcPct val="108000"/>
              </a:lnSpc>
              <a:spcAft>
                <a:spcPts val="960"/>
              </a:spcAft>
            </a:pPr>
            <a:r>
              <a:rPr sz="1600" b="0" i="0">
                <a:solidFill>
                  <a:srgbClr val="000000"/>
                </a:solidFill>
                <a:latin typeface="Arial"/>
              </a:rPr>
              <a:t>These controls separate the measured preference from coarse changes in locomotion or accidental mating exposure. They do not establish that every sensory, motivational, or motor variable was identical across groups; the justified conclusion is that the recorded movement and mating measures did not account for the observed selectivity.</a:t>
            </a:r>
          </a:p>
        </p:txBody>
      </p:sp>
      <p:pic>
        <p:nvPicPr>
          <p:cNvPr id="4" name="Picture 3" descr="l4.png"/>
          <p:cNvPicPr>
            <a:picLocks noChangeAspect="1"/>
          </p:cNvPicPr>
          <p:nvPr/>
        </p:nvPicPr>
        <p:blipFill>
          <a:blip r:embed="rId2"/>
          <a:stretch>
            <a:fillRect/>
          </a:stretch>
        </p:blipFill>
        <p:spPr>
          <a:xfrm>
            <a:off x="7029907" y="1280160"/>
            <a:ext cx="370332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&amp; Wang (2003), Fig. 4. Local quinpirole dose responses and receptor blockade</a:t>
            </a:r>
          </a:p>
        </p:txBody>
      </p:sp>
      <p:pic>
        <p:nvPicPr>
          <p:cNvPr id="6" name="Picture 5" descr="r1a.png"/>
          <p:cNvPicPr>
            <a:picLocks noChangeAspect="1"/>
          </p:cNvPicPr>
          <p:nvPr/>
        </p:nvPicPr>
        <p:blipFill>
          <a:blip r:embed="rId3"/>
          <a:stretch>
            <a:fillRect/>
          </a:stretch>
        </p:blipFill>
        <p:spPr>
          <a:xfrm>
            <a:off x="7376602" y="4297680"/>
            <a:ext cx="300993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1(A). Prairie vole accumbens receptor-transcript fluorescence</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&amp; Wang (2003)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Reciprocal blockade supports functional convergence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female pharmacology experiments establish reciprocal dependence: oxytocin antagonism prevents D2-type agonist facilitation, and D2-type antagonism prevents oxytocin facilitation. Local accumbens treatments reproduce both directions of that interaction.</a:t>
            </a:r>
          </a:p>
          <a:p>
            <a:pPr algn="l">
              <a:lnSpc>
                <a:spcPct val="108000"/>
              </a:lnSpc>
              <a:spcAft>
                <a:spcPts val="960"/>
              </a:spcAft>
            </a:pPr>
            <a:r>
              <a:rPr sz="1600" b="0" i="0">
                <a:solidFill>
                  <a:srgbClr val="000000"/>
                </a:solidFill>
                <a:latin typeface="Arial"/>
              </a:rPr>
              <a:t>Newer cellular maps locate Oxtr transcripts in several dopamine-receptor classes, including cells containing both Drd1 and Drd2. This anatomy supplies possible convergence sites without proving that those cells mediated the earlier pharmacological results.</a:t>
            </a:r>
          </a:p>
          <a:p>
            <a:pPr algn="l">
              <a:lnSpc>
                <a:spcPct val="108000"/>
              </a:lnSpc>
              <a:spcAft>
                <a:spcPts val="960"/>
              </a:spcAft>
            </a:pPr>
            <a:r>
              <a:rPr sz="1600" b="0" i="0">
                <a:solidFill>
                  <a:srgbClr val="000000"/>
                </a:solidFill>
                <a:latin typeface="Arial"/>
              </a:rPr>
              <a:t>The established finding is an interaction between receptor-sensitive processes during short-term preference formation. A particular intracellular pathway, receptor complex, or synaptic sequence remains untested by these experiments, and the later genetic findings require the necessity claim to remain tied to the acute treatment conditions.</a:t>
            </a:r>
          </a:p>
        </p:txBody>
      </p:sp>
      <p:pic>
        <p:nvPicPr>
          <p:cNvPr id="4" name="Picture 3" descr="l5.png"/>
          <p:cNvPicPr>
            <a:picLocks noChangeAspect="1"/>
          </p:cNvPicPr>
          <p:nvPr/>
        </p:nvPicPr>
        <p:blipFill>
          <a:blip r:embed="rId2"/>
          <a:stretch>
            <a:fillRect/>
          </a:stretch>
        </p:blipFill>
        <p:spPr>
          <a:xfrm>
            <a:off x="6955490" y="1280160"/>
            <a:ext cx="3852153"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&amp; Wang (2003), Fig. 5. Local oxytocin dose responses and receptor-selective blockade</a:t>
            </a:r>
          </a:p>
        </p:txBody>
      </p:sp>
      <p:pic>
        <p:nvPicPr>
          <p:cNvPr id="6" name="Picture 5" descr="r1a.png"/>
          <p:cNvPicPr>
            <a:picLocks noChangeAspect="1"/>
          </p:cNvPicPr>
          <p:nvPr/>
        </p:nvPicPr>
        <p:blipFill>
          <a:blip r:embed="rId3"/>
          <a:stretch>
            <a:fillRect/>
          </a:stretch>
        </p:blipFill>
        <p:spPr>
          <a:xfrm>
            <a:off x="7376602" y="4297680"/>
            <a:ext cx="300993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1(A). Prairie vole accumbens receptor-transcript fluorescence</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&amp; Wang (2003)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Recording population activity during social interaction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325160"/>
                </a:solidFill>
                <a:latin typeface="Arial"/>
              </a:rPr>
              <a:t>Local field potentials</a:t>
            </a:r>
            <a:r>
              <a:rPr sz="1500" b="0" i="0">
                <a:solidFill>
                  <a:srgbClr val="000000"/>
                </a:solidFill>
                <a:latin typeface="Arial"/>
              </a:rPr>
              <a:t> are extracellular voltage signals reflecting activity in nearby neural populations. Amadei and colleagues recorded simultaneously from medial prefrontal cortex and nucleus accumbens while female prairie voles interacted with a male during six hours of cohabitation.</a:t>
            </a:r>
          </a:p>
          <a:p>
            <a:pPr algn="l">
              <a:lnSpc>
                <a:spcPct val="108000"/>
              </a:lnSpc>
              <a:spcAft>
                <a:spcPts val="900"/>
              </a:spcAft>
            </a:pPr>
            <a:r>
              <a:rPr sz="1500" b="0" i="0">
                <a:solidFill>
                  <a:srgbClr val="000000"/>
                </a:solidFill>
                <a:latin typeface="Arial"/>
              </a:rPr>
              <a:t>Video scoring identified mating, huddling, and self-grooming. Histological placement divided recordings into accumbens hits and nearby non-hits, allowing behavioral associations to be compared with an anatomical control rather than assuming every electrode sampled the intended circuit.</a:t>
            </a:r>
          </a:p>
          <a:p>
            <a:pPr algn="l">
              <a:lnSpc>
                <a:spcPct val="108000"/>
              </a:lnSpc>
              <a:spcAft>
                <a:spcPts val="900"/>
              </a:spcAft>
            </a:pPr>
            <a:r>
              <a:rPr sz="1500" b="0" i="0">
                <a:solidFill>
                  <a:srgbClr val="000000"/>
                </a:solidFill>
                <a:latin typeface="Arial"/>
              </a:rPr>
              <a:t>Huddling latency varied across females, providing a quantitative measure of how quickly sustained affiliation emerged. Field recordings describe coordinated population activity; they do not identify which individual neurons released oxytocin or dopamine, and the observed signal cannot be assigned to one receptor class.</a:t>
            </a:r>
          </a:p>
        </p:txBody>
      </p:sp>
      <p:pic>
        <p:nvPicPr>
          <p:cNvPr id="4" name="Picture 3" descr="m1.png"/>
          <p:cNvPicPr>
            <a:picLocks noChangeAspect="1"/>
          </p:cNvPicPr>
          <p:nvPr/>
        </p:nvPicPr>
        <p:blipFill>
          <a:blip r:embed="rId2"/>
          <a:stretch>
            <a:fillRect/>
          </a:stretch>
        </p:blipFill>
        <p:spPr>
          <a:xfrm>
            <a:off x="6547470" y="1280160"/>
            <a:ext cx="4668194"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Amadei (2017), Fig. 1(a–g). Affiliation trajectories and behavior-dependent coherence</a:t>
            </a:r>
          </a:p>
        </p:txBody>
      </p:sp>
      <p:pic>
        <p:nvPicPr>
          <p:cNvPr id="6" name="Picture 5" descr="m4ab.png"/>
          <p:cNvPicPr>
            <a:picLocks noChangeAspect="1"/>
          </p:cNvPicPr>
          <p:nvPr/>
        </p:nvPicPr>
        <p:blipFill>
          <a:blip r:embed="rId3"/>
          <a:stretch>
            <a:fillRect/>
          </a:stretch>
        </p:blipFill>
        <p:spPr>
          <a:xfrm>
            <a:off x="8549584" y="4297680"/>
            <a:ext cx="663965"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Amadei (2017), Fig. 4(a–b). Prefrontal expression and accumbens projection terminals</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Amadei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Mating increases low-frequency coherence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325160"/>
                </a:solidFill>
                <a:latin typeface="Arial"/>
              </a:rPr>
              <a:t>Coherence</a:t>
            </a:r>
            <a:r>
              <a:rPr sz="1500" b="0" i="0">
                <a:solidFill>
                  <a:srgbClr val="000000"/>
                </a:solidFill>
                <a:latin typeface="Arial"/>
              </a:rPr>
              <a:t> measures how consistently two signals maintain a frequency-specific relationship. During mating, prefrontal and accumbens field potentials displayed greater low-frequency coherence near five hertz than during huddling or self-grooming in the recorded females.</a:t>
            </a:r>
          </a:p>
          <a:p>
            <a:pPr algn="l">
              <a:lnSpc>
                <a:spcPct val="108000"/>
              </a:lnSpc>
              <a:spcAft>
                <a:spcPts val="900"/>
              </a:spcAft>
            </a:pPr>
            <a:r>
              <a:rPr sz="1500" b="0" i="0">
                <a:solidFill>
                  <a:srgbClr val="000000"/>
                </a:solidFill>
                <a:latin typeface="Arial"/>
              </a:rPr>
              <a:t>Self-grooming supplied a behavior with movement but without the same social interaction. Nevertheless, mating-related coherence was also observed in recordings outside the targeted accumbens region, making anatomical comparison essential to interpreting the effect.</a:t>
            </a:r>
          </a:p>
          <a:p>
            <a:pPr algn="l">
              <a:lnSpc>
                <a:spcPct val="108000"/>
              </a:lnSpc>
              <a:spcAft>
                <a:spcPts val="900"/>
              </a:spcAft>
            </a:pPr>
            <a:r>
              <a:rPr sz="1500" b="0" i="0">
                <a:solidFill>
                  <a:srgbClr val="000000"/>
                </a:solidFill>
                <a:latin typeface="Arial"/>
              </a:rPr>
              <a:t>The measured change establishes behavior-dependent coordination, but coherence alone does not distinguish direct communication from common inputs. Its occurrence at non-hit sites limits its specificity as a bonding mechanism; a more selective relationship between circuit activity and subsequent affiliation was sought through cross-frequency analysis.</a:t>
            </a:r>
          </a:p>
        </p:txBody>
      </p:sp>
      <p:pic>
        <p:nvPicPr>
          <p:cNvPr id="4" name="Picture 3" descr="m1.png"/>
          <p:cNvPicPr>
            <a:picLocks noChangeAspect="1"/>
          </p:cNvPicPr>
          <p:nvPr/>
        </p:nvPicPr>
        <p:blipFill>
          <a:blip r:embed="rId2"/>
          <a:stretch>
            <a:fillRect/>
          </a:stretch>
        </p:blipFill>
        <p:spPr>
          <a:xfrm>
            <a:off x="6547470" y="1280160"/>
            <a:ext cx="4668194"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Amadei (2017), Fig. 1(a–g). Affiliation trajectories and behavior-dependent coherence</a:t>
            </a:r>
          </a:p>
        </p:txBody>
      </p:sp>
      <p:pic>
        <p:nvPicPr>
          <p:cNvPr id="6" name="Picture 5" descr="m4ab.png"/>
          <p:cNvPicPr>
            <a:picLocks noChangeAspect="1"/>
          </p:cNvPicPr>
          <p:nvPr/>
        </p:nvPicPr>
        <p:blipFill>
          <a:blip r:embed="rId3"/>
          <a:stretch>
            <a:fillRect/>
          </a:stretch>
        </p:blipFill>
        <p:spPr>
          <a:xfrm>
            <a:off x="8549584" y="4297680"/>
            <a:ext cx="663965"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Amadei (2017), Fig. 4(a–b). Prefrontal expression and accumbens projection terminals</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Amadei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Slow prefrontal phase relates to fast accumbens activity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325160"/>
                </a:solidFill>
                <a:latin typeface="Arial"/>
              </a:rPr>
              <a:t>Phase–amplitude coupling</a:t>
            </a:r>
            <a:r>
              <a:rPr sz="1500" b="0" i="0">
                <a:solidFill>
                  <a:srgbClr val="000000"/>
                </a:solidFill>
                <a:latin typeface="Arial"/>
              </a:rPr>
              <a:t> describes a relationship between the phase of a slower oscillation and the amplitude of a faster signal. Amadei and colleagues examined whether prefrontal oscillatory phase organized accumbens gamma activity during social interaction.</a:t>
            </a:r>
          </a:p>
          <a:p>
            <a:pPr algn="l">
              <a:lnSpc>
                <a:spcPct val="108000"/>
              </a:lnSpc>
              <a:spcAft>
                <a:spcPts val="900"/>
              </a:spcAft>
            </a:pPr>
            <a:r>
              <a:rPr sz="1500" b="0" i="0">
                <a:solidFill>
                  <a:srgbClr val="000000"/>
                </a:solidFill>
                <a:latin typeface="Arial"/>
              </a:rPr>
              <a:t>The principal relationship involved approximately five to six hertz prefrontal phase and eighty to eighty-four hertz accumbens amplitude. A net-modulation measure compared coupling in this direction with the reverse relationship between accumbens phase and prefrontal amplitude.</a:t>
            </a:r>
          </a:p>
          <a:p>
            <a:pPr algn="l">
              <a:lnSpc>
                <a:spcPct val="108000"/>
              </a:lnSpc>
              <a:spcAft>
                <a:spcPts val="900"/>
              </a:spcAft>
            </a:pPr>
            <a:r>
              <a:rPr sz="1500" b="0" i="0">
                <a:solidFill>
                  <a:srgbClr val="000000"/>
                </a:solidFill>
                <a:latin typeface="Arial"/>
              </a:rPr>
              <a:t>Targeted recordings showed behavioral modulation that was less evident at non-hit sites. The direction of this statistical relationship suggests functional organization, but it does not demonstrate a monosynaptic connection, establish which transmitter carries the signal, or exclude a third region coordinating both recorded populations.</a:t>
            </a:r>
          </a:p>
        </p:txBody>
      </p:sp>
      <p:pic>
        <p:nvPicPr>
          <p:cNvPr id="4" name="Picture 3" descr="m2.png"/>
          <p:cNvPicPr>
            <a:picLocks noChangeAspect="1"/>
          </p:cNvPicPr>
          <p:nvPr/>
        </p:nvPicPr>
        <p:blipFill>
          <a:blip r:embed="rId2"/>
          <a:stretch>
            <a:fillRect/>
          </a:stretch>
        </p:blipFill>
        <p:spPr>
          <a:xfrm>
            <a:off x="7515907" y="1280160"/>
            <a:ext cx="273132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Amadei (2017), Fig. 2(a–i). Cross-frequency coupling during social interactions</a:t>
            </a:r>
          </a:p>
        </p:txBody>
      </p:sp>
      <p:pic>
        <p:nvPicPr>
          <p:cNvPr id="6" name="Picture 5" descr="m4ab.png"/>
          <p:cNvPicPr>
            <a:picLocks noChangeAspect="1"/>
          </p:cNvPicPr>
          <p:nvPr/>
        </p:nvPicPr>
        <p:blipFill>
          <a:blip r:embed="rId3"/>
          <a:stretch>
            <a:fillRect/>
          </a:stretch>
        </p:blipFill>
        <p:spPr>
          <a:xfrm>
            <a:off x="8549584" y="4297680"/>
            <a:ext cx="663965"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Amadei (2017), Fig. 4(a–b). Prefrontal expression and accumbens projection terminals</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Amadei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Coupling predicts the latency to sustained affiliation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Amadei and colleagues related each female’s net-modulation measure to the time at which sustained huddling emerged. Stronger average coupling during nonhuddling periods was associated with a shorter subsequent huddling latency within the six-hour recording session.</a:t>
            </a:r>
          </a:p>
          <a:p>
            <a:pPr algn="l">
              <a:lnSpc>
                <a:spcPct val="108000"/>
              </a:lnSpc>
              <a:spcAft>
                <a:spcPts val="900"/>
              </a:spcAft>
            </a:pPr>
            <a:r>
              <a:rPr sz="1500" b="0" i="0">
                <a:solidFill>
                  <a:srgbClr val="000000"/>
                </a:solidFill>
                <a:latin typeface="Arial"/>
              </a:rPr>
              <a:t>The relationship was evaluated across the full recording and the first sixty minutes, with baseline and non-hit recordings supplying comparisons. Coupling measured during huddling itself did not provide the same predictive relationship as activity measured outside the affiliative behavior.</a:t>
            </a:r>
          </a:p>
          <a:p>
            <a:pPr algn="l">
              <a:lnSpc>
                <a:spcPct val="108000"/>
              </a:lnSpc>
              <a:spcAft>
                <a:spcPts val="900"/>
              </a:spcAft>
            </a:pPr>
            <a:r>
              <a:rPr sz="1500" b="0" i="0">
                <a:solidFill>
                  <a:srgbClr val="000000"/>
                </a:solidFill>
                <a:latin typeface="Arial"/>
              </a:rPr>
              <a:t>This temporal association helps separate a candidate antecedent signal from activity that merely accompanies body contact. It remains correlational: females could differ in motivation, prior experience, or another unmeasured circuit property that influences both coupling and how rapidly they begin to huddle.</a:t>
            </a:r>
          </a:p>
        </p:txBody>
      </p:sp>
      <p:pic>
        <p:nvPicPr>
          <p:cNvPr id="4" name="Picture 3" descr="m3.png"/>
          <p:cNvPicPr>
            <a:picLocks noChangeAspect="1"/>
          </p:cNvPicPr>
          <p:nvPr/>
        </p:nvPicPr>
        <p:blipFill>
          <a:blip r:embed="rId2"/>
          <a:stretch>
            <a:fillRect/>
          </a:stretch>
        </p:blipFill>
        <p:spPr>
          <a:xfrm>
            <a:off x="7610381" y="1280160"/>
            <a:ext cx="2542372"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Amadei (2017), Fig. 3(a–o). Coupling changes and subsequent huddling latency</a:t>
            </a:r>
          </a:p>
        </p:txBody>
      </p:sp>
      <p:pic>
        <p:nvPicPr>
          <p:cNvPr id="6" name="Picture 5" descr="m4ab.png"/>
          <p:cNvPicPr>
            <a:picLocks noChangeAspect="1"/>
          </p:cNvPicPr>
          <p:nvPr/>
        </p:nvPicPr>
        <p:blipFill>
          <a:blip r:embed="rId3"/>
          <a:stretch>
            <a:fillRect/>
          </a:stretch>
        </p:blipFill>
        <p:spPr>
          <a:xfrm>
            <a:off x="8549584" y="4297680"/>
            <a:ext cx="663965"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Amadei (2017), Fig. 4(a–b). Prefrontal expression and accumbens projection terminals</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Amadei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Mating-related changes precede later huddling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Within-session analysis asked whether coupling changed around mating and whether that change predicted subsequent affiliation. Net modulation was estimated in one-minute moving windows advanced in steps of one tenth of a minute during the recorded social encounters.</a:t>
            </a:r>
          </a:p>
          <a:p>
            <a:pPr algn="l">
              <a:lnSpc>
                <a:spcPct val="108000"/>
              </a:lnSpc>
              <a:spcAft>
                <a:spcPts val="900"/>
              </a:spcAft>
            </a:pPr>
            <a:r>
              <a:rPr sz="1500" b="0" i="0">
                <a:solidFill>
                  <a:srgbClr val="000000"/>
                </a:solidFill>
                <a:latin typeface="Arial"/>
              </a:rPr>
              <a:t>Changes after mating, including the approximately two-minute interval after the event, were related to later huddling latency after accounting for baseline coupling. Comparable self-grooming events and non-hit recordings did not show the same pattern, supplying behavioral and anatomical comparisons.</a:t>
            </a:r>
          </a:p>
          <a:p>
            <a:pPr algn="l">
              <a:lnSpc>
                <a:spcPct val="108000"/>
              </a:lnSpc>
              <a:spcAft>
                <a:spcPts val="900"/>
              </a:spcAft>
            </a:pPr>
            <a:r>
              <a:rPr sz="1500" b="0" i="0">
                <a:solidFill>
                  <a:srgbClr val="000000"/>
                </a:solidFill>
                <a:latin typeface="Arial"/>
              </a:rPr>
              <a:t>The result links a defined sociosexual event to a later behavioral transition rather than only comparing session averages. It does not establish that mating necessarily produces attachment through this signal, nor that the coupling change is required; an experimental manipulation is needed to address causal sufficiency.</a:t>
            </a:r>
          </a:p>
        </p:txBody>
      </p:sp>
      <p:pic>
        <p:nvPicPr>
          <p:cNvPr id="4" name="Picture 3" descr="m3.png"/>
          <p:cNvPicPr>
            <a:picLocks noChangeAspect="1"/>
          </p:cNvPicPr>
          <p:nvPr/>
        </p:nvPicPr>
        <p:blipFill>
          <a:blip r:embed="rId2"/>
          <a:stretch>
            <a:fillRect/>
          </a:stretch>
        </p:blipFill>
        <p:spPr>
          <a:xfrm>
            <a:off x="7610381" y="1280160"/>
            <a:ext cx="2542372"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Amadei (2017), Fig. 3(a–o). Coupling changes and subsequent huddling latency</a:t>
            </a:r>
          </a:p>
        </p:txBody>
      </p:sp>
      <p:pic>
        <p:nvPicPr>
          <p:cNvPr id="6" name="Picture 5" descr="m4ab.png"/>
          <p:cNvPicPr>
            <a:picLocks noChangeAspect="1"/>
          </p:cNvPicPr>
          <p:nvPr/>
        </p:nvPicPr>
        <p:blipFill>
          <a:blip r:embed="rId3"/>
          <a:stretch>
            <a:fillRect/>
          </a:stretch>
        </p:blipFill>
        <p:spPr>
          <a:xfrm>
            <a:off x="8549584" y="4297680"/>
            <a:ext cx="663965"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Amadei (2017), Fig. 4(a–b). Prefrontal expression and accumbens projection terminals</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Amadei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Light evokes excitatory pathway transmission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325160"/>
                </a:solidFill>
                <a:latin typeface="Arial"/>
              </a:rPr>
              <a:t>Optogenetics</a:t>
            </a:r>
            <a:r>
              <a:rPr sz="1500" b="0" i="0">
                <a:solidFill>
                  <a:srgbClr val="000000"/>
                </a:solidFill>
                <a:latin typeface="Arial"/>
              </a:rPr>
              <a:t> uses a light-sensitive protein to influence neural activity. Amadei and colleagues expressed channelrhodopsin-2 in prefrontal neurons and illuminated their projection terminals in accumbens, linking a specified pathway to a controllable experimental input.</a:t>
            </a:r>
          </a:p>
          <a:p>
            <a:pPr algn="l">
              <a:lnSpc>
                <a:spcPct val="108000"/>
              </a:lnSpc>
              <a:spcAft>
                <a:spcPts val="900"/>
              </a:spcAft>
            </a:pPr>
            <a:r>
              <a:rPr sz="1500" b="0" i="0">
                <a:solidFill>
                  <a:srgbClr val="000000"/>
                </a:solidFill>
                <a:latin typeface="Arial"/>
              </a:rPr>
              <a:t>Channelrhodopsin-2 is a light-gated ion channel: illumination opens the channel, depolarizes expressing membranes, and can drive terminal transmitter release. In brain slices, five-hertz light pulses evoked inward excitatory postsynaptic currents, measured in picoamperes.</a:t>
            </a:r>
          </a:p>
          <a:p>
            <a:pPr algn="l">
              <a:lnSpc>
                <a:spcPct val="108000"/>
              </a:lnSpc>
              <a:spcAft>
                <a:spcPts val="900"/>
              </a:spcAft>
            </a:pPr>
            <a:r>
              <a:rPr sz="1500" b="0" i="0">
                <a:solidFill>
                  <a:srgbClr val="000000"/>
                </a:solidFill>
                <a:latin typeface="Arial"/>
              </a:rPr>
              <a:t>DNQX, an antagonist of AMPA-type glutamate receptors, suppressed these currents. AMPA receptors are glutamate-gated cation channels that support excitatory transmission. This control supports an excitatory glutamatergic projection, while the slice response alone does not show that its natural activity produces a partner preference in an intact animal.</a:t>
            </a:r>
          </a:p>
        </p:txBody>
      </p:sp>
      <p:pic>
        <p:nvPicPr>
          <p:cNvPr id="4" name="Picture 3" descr="m4c.png"/>
          <p:cNvPicPr>
            <a:picLocks noChangeAspect="1"/>
          </p:cNvPicPr>
          <p:nvPr/>
        </p:nvPicPr>
        <p:blipFill>
          <a:blip r:embed="rId2"/>
          <a:stretch>
            <a:fillRect/>
          </a:stretch>
        </p:blipFill>
        <p:spPr>
          <a:xfrm>
            <a:off x="6382431" y="1280160"/>
            <a:ext cx="499827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Amadei (2017), Fig. 4(c). Light-evoked excitatory current and AMPA blockade</a:t>
            </a:r>
          </a:p>
        </p:txBody>
      </p:sp>
      <p:pic>
        <p:nvPicPr>
          <p:cNvPr id="6" name="Picture 5" descr="m4ab.png"/>
          <p:cNvPicPr>
            <a:picLocks noChangeAspect="1"/>
          </p:cNvPicPr>
          <p:nvPr/>
        </p:nvPicPr>
        <p:blipFill>
          <a:blip r:embed="rId3"/>
          <a:stretch>
            <a:fillRect/>
          </a:stretch>
        </p:blipFill>
        <p:spPr>
          <a:xfrm>
            <a:off x="8549584" y="4297680"/>
            <a:ext cx="663965"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Amadei (2017), Fig. 4(a–b). Prefrontal expression and accumbens projection terminals</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Amadei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Stimulation is contingent on a social encounter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To test behavioral sufficiency, females encountered a caged male during approximately two and a half to three hours of exposure. The barrier prevented mating while permitting social interaction, separating stimulation-assisted preference from the usual mating-associated experience.</a:t>
            </a:r>
          </a:p>
          <a:p>
            <a:pPr algn="l">
              <a:lnSpc>
                <a:spcPct val="108000"/>
              </a:lnSpc>
              <a:spcAft>
                <a:spcPts val="900"/>
              </a:spcAft>
            </a:pPr>
            <a:r>
              <a:rPr sz="1500" b="0" i="0">
                <a:solidFill>
                  <a:srgbClr val="000000"/>
                </a:solidFill>
                <a:latin typeface="Arial"/>
              </a:rPr>
              <a:t>Five- or six-hertz trains of five-millisecond light pulses were delivered when the female entered the social zone. Stimulation was available for up to one hour from the first social-zone entry, making pathway activation contingent on contact with the particular male.</a:t>
            </a:r>
          </a:p>
          <a:p>
            <a:pPr algn="l">
              <a:lnSpc>
                <a:spcPct val="108000"/>
              </a:lnSpc>
              <a:spcAft>
                <a:spcPts val="900"/>
              </a:spcAft>
            </a:pPr>
            <a:r>
              <a:rPr sz="1500" b="0" i="0">
                <a:solidFill>
                  <a:srgbClr val="000000"/>
                </a:solidFill>
                <a:latin typeface="Arial"/>
              </a:rPr>
              <a:t>Control females expressed EYFP, a fluorescent reporter without the light-gated channel, and received the corresponding illumination procedure. Comparable stimulation durations and zone occupancy reduce exposure-based explanations. The manipulation still combines neural activation with social experience, so it cannot be interpreted as attachment induced in the absence of a partner.</a:t>
            </a:r>
          </a:p>
        </p:txBody>
      </p:sp>
      <p:pic>
        <p:nvPicPr>
          <p:cNvPr id="4" name="Picture 3" descr="m4de.png"/>
          <p:cNvPicPr>
            <a:picLocks noChangeAspect="1"/>
          </p:cNvPicPr>
          <p:nvPr/>
        </p:nvPicPr>
        <p:blipFill>
          <a:blip r:embed="rId2"/>
          <a:stretch>
            <a:fillRect/>
          </a:stretch>
        </p:blipFill>
        <p:spPr>
          <a:xfrm>
            <a:off x="8380035" y="1280160"/>
            <a:ext cx="1003063"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Amadei (2017), Fig. 4(d–e). Stimulation controls and partner preference</a:t>
            </a:r>
          </a:p>
        </p:txBody>
      </p:sp>
      <p:pic>
        <p:nvPicPr>
          <p:cNvPr id="6" name="Picture 5" descr="m4ab.png"/>
          <p:cNvPicPr>
            <a:picLocks noChangeAspect="1"/>
          </p:cNvPicPr>
          <p:nvPr/>
        </p:nvPicPr>
        <p:blipFill>
          <a:blip r:embed="rId3"/>
          <a:stretch>
            <a:fillRect/>
          </a:stretch>
        </p:blipFill>
        <p:spPr>
          <a:xfrm>
            <a:off x="8549584" y="4297680"/>
            <a:ext cx="663965"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Amadei (2017), Fig. 4(a–b). Prefrontal expression and accumbens projection terminals</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Amadei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Pathway activation biases later partner preference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following day, females were tested for three hours with the previously encountered male and a stranger. Channelrhodopsin-expressing subjects showed greater partner-directed affiliation than the fluorescent-reporter controls after the socially contingent stimulation procedure.</a:t>
            </a:r>
          </a:p>
          <a:p>
            <a:pPr algn="l">
              <a:lnSpc>
                <a:spcPct val="108000"/>
              </a:lnSpc>
              <a:spcAft>
                <a:spcPts val="960"/>
              </a:spcAft>
            </a:pPr>
            <a:r>
              <a:rPr sz="1600" b="0" i="0">
                <a:solidFill>
                  <a:srgbClr val="000000"/>
                </a:solidFill>
                <a:latin typeface="Arial"/>
              </a:rPr>
              <a:t>The published data show partner-over-stranger huddling in eighty-three percent of the stimulated group and thirty-six percent of controls. These percentages describe the tested samples; the group comparison and the individual paired contact measurements are presented in the original figure.</a:t>
            </a:r>
          </a:p>
          <a:p>
            <a:pPr algn="l">
              <a:lnSpc>
                <a:spcPct val="108000"/>
              </a:lnSpc>
              <a:spcAft>
                <a:spcPts val="960"/>
              </a:spcAft>
            </a:pPr>
            <a:r>
              <a:rPr sz="1600" b="0" i="0">
                <a:solidFill>
                  <a:srgbClr val="000000"/>
                </a:solidFill>
                <a:latin typeface="Arial"/>
              </a:rPr>
              <a:t>The experiment supports sufficiency of this patterned pathway activation to bias preference under the specified social conditions. It does not establish necessity, prove that natural coupling is generated by the same imposed pattern, or identify an obligatory oxytocin–dopamine mechanism for the behavioral effect.</a:t>
            </a:r>
          </a:p>
        </p:txBody>
      </p:sp>
      <p:pic>
        <p:nvPicPr>
          <p:cNvPr id="4" name="Picture 3" descr="m4de.png"/>
          <p:cNvPicPr>
            <a:picLocks noChangeAspect="1"/>
          </p:cNvPicPr>
          <p:nvPr/>
        </p:nvPicPr>
        <p:blipFill>
          <a:blip r:embed="rId2"/>
          <a:stretch>
            <a:fillRect/>
          </a:stretch>
        </p:blipFill>
        <p:spPr>
          <a:xfrm>
            <a:off x="8380035" y="1280160"/>
            <a:ext cx="1003063"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Amadei (2017), Fig. 4(d–e). Stimulation controls and partner preference</a:t>
            </a:r>
          </a:p>
        </p:txBody>
      </p:sp>
      <p:pic>
        <p:nvPicPr>
          <p:cNvPr id="6" name="Picture 5" descr="m4ab.png"/>
          <p:cNvPicPr>
            <a:picLocks noChangeAspect="1"/>
          </p:cNvPicPr>
          <p:nvPr/>
        </p:nvPicPr>
        <p:blipFill>
          <a:blip r:embed="rId3"/>
          <a:stretch>
            <a:fillRect/>
          </a:stretch>
        </p:blipFill>
        <p:spPr>
          <a:xfrm>
            <a:off x="8549584" y="4297680"/>
            <a:ext cx="663965"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Amadei (2017), Fig. 4(a–b). Prefrontal expression and accumbens projection terminals</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Amadei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Pairing preserves broad receptor cell classes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Loth and colleagues compared sexually naïve and paired voles using the same multiplex transcript-labeling strategy. Behavioral testing established partner preference in paired prairie voles before tissue analyses examined accumbens core and shell subdivisions.</a:t>
            </a:r>
          </a:p>
          <a:p>
            <a:pPr algn="l">
              <a:lnSpc>
                <a:spcPct val="108000"/>
              </a:lnSpc>
              <a:spcAft>
                <a:spcPts val="900"/>
              </a:spcAft>
            </a:pPr>
            <a:r>
              <a:rPr sz="1500" b="0" i="0">
                <a:solidFill>
                  <a:srgbClr val="000000"/>
                </a:solidFill>
                <a:latin typeface="Arial"/>
              </a:rPr>
              <a:t>Cell classes were defined by the presence or absence of Drd1, Drd2, and Oxtr transcripts. Across the tested groups, pairing did not produce a broad redistribution of the receptor-positive classes, despite the behavioral difference between naïve and paired animals.</a:t>
            </a:r>
          </a:p>
          <a:p>
            <a:pPr algn="l">
              <a:lnSpc>
                <a:spcPct val="108000"/>
              </a:lnSpc>
              <a:spcAft>
                <a:spcPts val="900"/>
              </a:spcAft>
            </a:pPr>
            <a:r>
              <a:rPr sz="1500" b="0" i="0">
                <a:solidFill>
                  <a:srgbClr val="000000"/>
                </a:solidFill>
                <a:latin typeface="Arial"/>
              </a:rPr>
              <a:t>An unchanged proportion of labeled cells does not mean that receptor signaling or synaptic physiology was unchanged. Cell counts, transcript abundance within each cell, membrane receptor protein, and transmitter release are different measurements. This result constrains claims about wholesale changes in cell-class composition rather than excluding experience-dependent molecular plasticity.</a:t>
            </a:r>
          </a:p>
        </p:txBody>
      </p:sp>
      <p:pic>
        <p:nvPicPr>
          <p:cNvPr id="4" name="Picture 3" descr="r4.png"/>
          <p:cNvPicPr>
            <a:picLocks noChangeAspect="1"/>
          </p:cNvPicPr>
          <p:nvPr/>
        </p:nvPicPr>
        <p:blipFill>
          <a:blip r:embed="rId2"/>
          <a:stretch>
            <a:fillRect/>
          </a:stretch>
        </p:blipFill>
        <p:spPr>
          <a:xfrm>
            <a:off x="7646289" y="1280160"/>
            <a:ext cx="2470554"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4(A–C). Cell-class proportions before and after pairing</a:t>
            </a:r>
          </a:p>
        </p:txBody>
      </p:sp>
      <p:pic>
        <p:nvPicPr>
          <p:cNvPr id="6" name="Picture 5" descr="r1a.png"/>
          <p:cNvPicPr>
            <a:picLocks noChangeAspect="1"/>
          </p:cNvPicPr>
          <p:nvPr/>
        </p:nvPicPr>
        <p:blipFill>
          <a:blip r:embed="rId3"/>
          <a:stretch>
            <a:fillRect/>
          </a:stretch>
        </p:blipFill>
        <p:spPr>
          <a:xfrm>
            <a:off x="7376602" y="4297680"/>
            <a:ext cx="300993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1(A). Prairie vole accumbens receptor-transcript fluorescence</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Loth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Oxtr transcripts are enriched in double-positive cells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Cells containing both Drd1 and Drd2 transcripts are described as double-positive dopamine-receptor cells. Loth and colleagues quantified Oxtr labeling within these classes rather than assuming dopamine receptor populations were mutually exclusive.</a:t>
            </a:r>
          </a:p>
          <a:p>
            <a:pPr algn="l">
              <a:lnSpc>
                <a:spcPct val="108000"/>
              </a:lnSpc>
              <a:spcAft>
                <a:spcPts val="900"/>
              </a:spcAft>
            </a:pPr>
            <a:r>
              <a:rPr sz="1500" b="0" i="0">
                <a:solidFill>
                  <a:srgbClr val="000000"/>
                </a:solidFill>
                <a:latin typeface="Arial"/>
              </a:rPr>
              <a:t>An RNA </a:t>
            </a:r>
            <a:r>
              <a:rPr sz="1500" b="1" i="0">
                <a:solidFill>
                  <a:srgbClr val="325160"/>
                </a:solidFill>
                <a:latin typeface="Arial"/>
              </a:rPr>
              <a:t>punctum</a:t>
            </a:r>
            <a:r>
              <a:rPr sz="1500" b="0" i="0">
                <a:solidFill>
                  <a:srgbClr val="000000"/>
                </a:solidFill>
                <a:latin typeface="Arial"/>
              </a:rPr>
              <a:t> is a localized fluorescent signal associated with a detected transcript target. Oxtr puncta were enriched in double-positive cells in both naïve and paired prairie voles, supplying a cellular candidate for interaction between oxytocin-sensitive and dopamine-sensitive processes.</a:t>
            </a:r>
          </a:p>
          <a:p>
            <a:pPr algn="l">
              <a:lnSpc>
                <a:spcPct val="108000"/>
              </a:lnSpc>
              <a:spcAft>
                <a:spcPts val="900"/>
              </a:spcAft>
            </a:pPr>
            <a:r>
              <a:rPr sz="1500" b="0" i="0">
                <a:solidFill>
                  <a:srgbClr val="000000"/>
                </a:solidFill>
                <a:latin typeface="Arial"/>
              </a:rPr>
              <a:t>The fluorescence preserves the published channel colors and spatial scale. Transcript co-labeling does not measure receptor binding, prove simultaneous activation, or establish a receptor complex. Connecting this candidate population to attachment would require a manipulation that isolates the cells and tests behavior while controlling general activity and social exposure.</a:t>
            </a:r>
          </a:p>
        </p:txBody>
      </p:sp>
      <p:pic>
        <p:nvPicPr>
          <p:cNvPr id="4" name="Picture 3" descr="r3d.png"/>
          <p:cNvPicPr>
            <a:picLocks noChangeAspect="1"/>
          </p:cNvPicPr>
          <p:nvPr/>
        </p:nvPicPr>
        <p:blipFill>
          <a:blip r:embed="rId2"/>
          <a:stretch>
            <a:fillRect/>
          </a:stretch>
        </p:blipFill>
        <p:spPr>
          <a:xfrm>
            <a:off x="7156437" y="1280160"/>
            <a:ext cx="3450259"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3(D). Transcript co-labeling in naïve and paired prairie voles</a:t>
            </a:r>
          </a:p>
        </p:txBody>
      </p:sp>
      <p:pic>
        <p:nvPicPr>
          <p:cNvPr id="6" name="Picture 5" descr="r1a.png"/>
          <p:cNvPicPr>
            <a:picLocks noChangeAspect="1"/>
          </p:cNvPicPr>
          <p:nvPr/>
        </p:nvPicPr>
        <p:blipFill>
          <a:blip r:embed="rId3"/>
          <a:stretch>
            <a:fillRect/>
          </a:stretch>
        </p:blipFill>
        <p:spPr>
          <a:xfrm>
            <a:off x="7376602" y="4297680"/>
            <a:ext cx="300993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1(A). Prairie vole accumbens receptor-transcript fluorescence</a:t>
            </a:r>
          </a:p>
        </p:txBody>
      </p:sp>
      <p:sp>
        <p:nvSpPr>
          <p:cNvPr id="8" name="Rectangle 7"/>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Loth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Molecular cell classes refine the anatomical question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325160"/>
                </a:solidFill>
                <a:latin typeface="Arial"/>
              </a:rPr>
              <a:t>Single-nucleus RNA sequencing</a:t>
            </a:r>
            <a:r>
              <a:rPr sz="1500" b="0" i="0">
                <a:solidFill>
                  <a:srgbClr val="000000"/>
                </a:solidFill>
                <a:latin typeface="Arial"/>
              </a:rPr>
              <a:t> samples RNA from isolated nuclei and groups cells according to expression profiles. Loth and colleagues compared receptor expression across molecularly identified accumbens cell classes rather than relying only on region-level averages.</a:t>
            </a:r>
          </a:p>
          <a:p>
            <a:pPr algn="l">
              <a:lnSpc>
                <a:spcPct val="108000"/>
              </a:lnSpc>
              <a:spcAft>
                <a:spcPts val="900"/>
              </a:spcAft>
            </a:pPr>
            <a:r>
              <a:rPr sz="1500" b="0" i="0">
                <a:solidFill>
                  <a:srgbClr val="000000"/>
                </a:solidFill>
                <a:latin typeface="Arial"/>
              </a:rPr>
              <a:t>The analysis distinguished fifteen primary cell types, including medium spiny neurons and interneuron populations. A </a:t>
            </a:r>
            <a:r>
              <a:rPr sz="1500" b="1" i="0">
                <a:solidFill>
                  <a:srgbClr val="325160"/>
                </a:solidFill>
                <a:latin typeface="Arial"/>
              </a:rPr>
              <a:t>medium spiny neuron</a:t>
            </a:r>
            <a:r>
              <a:rPr sz="1500" b="0" i="0">
                <a:solidFill>
                  <a:srgbClr val="000000"/>
                </a:solidFill>
                <a:latin typeface="Arial"/>
              </a:rPr>
              <a:t> is a principal striatal projection neuron; the molecular classes provide a finer map of candidate receptor-bearing populations within accumbens tissue.</a:t>
            </a:r>
          </a:p>
          <a:p>
            <a:pPr algn="l">
              <a:lnSpc>
                <a:spcPct val="108000"/>
              </a:lnSpc>
              <a:spcAft>
                <a:spcPts val="900"/>
              </a:spcAft>
            </a:pPr>
            <a:r>
              <a:rPr sz="1500" b="0" i="0">
                <a:solidFill>
                  <a:srgbClr val="000000"/>
                </a:solidFill>
                <a:latin typeface="Arial"/>
              </a:rPr>
              <a:t>Receptor transcripts were distributed across multiple classes, preventing a simple identification of one universal oxytocin-responsive bonding cell. Molecular clustering is an anatomical and descriptive tool. It does not establish which population is recruited during mating, which cells receive a particular social signal, or which class is necessary for partner preference.</a:t>
            </a:r>
          </a:p>
        </p:txBody>
      </p:sp>
      <p:pic>
        <p:nvPicPr>
          <p:cNvPr id="4" name="Picture 3" descr="r5.png"/>
          <p:cNvPicPr>
            <a:picLocks noChangeAspect="1"/>
          </p:cNvPicPr>
          <p:nvPr/>
        </p:nvPicPr>
        <p:blipFill>
          <a:blip r:embed="rId2"/>
          <a:stretch>
            <a:fillRect/>
          </a:stretch>
        </p:blipFill>
        <p:spPr>
          <a:xfrm>
            <a:off x="7148333" y="1280160"/>
            <a:ext cx="383222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5(A–D). Receptor transcripts across molecular cell classes</a:t>
            </a:r>
          </a:p>
        </p:txBody>
      </p:sp>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Loth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Detection methods yield different receptor estimates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same receptor can appear rare or common depending on the measurement method. Loth and colleagues found Oxtr labeling in approximately thirty-four to thirty-eight percent of cells by fluorescent in situ hybridization, but in approximately one percent by single-nucleus sequencing.</a:t>
            </a:r>
          </a:p>
          <a:p>
            <a:pPr algn="l">
              <a:lnSpc>
                <a:spcPct val="108000"/>
              </a:lnSpc>
              <a:spcAft>
                <a:spcPts val="900"/>
              </a:spcAft>
            </a:pPr>
            <a:r>
              <a:rPr sz="1500" b="1" i="0">
                <a:solidFill>
                  <a:srgbClr val="325160"/>
                </a:solidFill>
                <a:latin typeface="Arial"/>
              </a:rPr>
              <a:t>Dropout</a:t>
            </a:r>
            <a:r>
              <a:rPr sz="1500" b="0" i="0">
                <a:solidFill>
                  <a:srgbClr val="000000"/>
                </a:solidFill>
                <a:latin typeface="Arial"/>
              </a:rPr>
              <a:t> is failure to detect a transcript that is present, especially when its abundance is low. Drd1 and Drd2 transcript levels were approximately ten to twenty times higher than several less abundant receptor targets, making detection sensitivity a substantial interpretive issue.</a:t>
            </a:r>
          </a:p>
          <a:p>
            <a:pPr algn="l">
              <a:lnSpc>
                <a:spcPct val="108000"/>
              </a:lnSpc>
              <a:spcAft>
                <a:spcPts val="900"/>
              </a:spcAft>
            </a:pPr>
            <a:r>
              <a:rPr sz="1500" b="0" i="0">
                <a:solidFill>
                  <a:srgbClr val="000000"/>
                </a:solidFill>
                <a:latin typeface="Arial"/>
              </a:rPr>
              <a:t>The discrepancy does not establish that the tissue contains two incompatible biological populations. It emphasizes that a sequencing-negative nucleus need not lack the receptor gene’s expression. Neither RNA method directly establishes membrane receptor abundance, and a negative transcript measurement must not be treated as proof that a cell cannot respond to oxytocin.</a:t>
            </a:r>
          </a:p>
        </p:txBody>
      </p:sp>
      <p:pic>
        <p:nvPicPr>
          <p:cNvPr id="4" name="Picture 3" descr="r5.png"/>
          <p:cNvPicPr>
            <a:picLocks noChangeAspect="1"/>
          </p:cNvPicPr>
          <p:nvPr/>
        </p:nvPicPr>
        <p:blipFill>
          <a:blip r:embed="rId2"/>
          <a:stretch>
            <a:fillRect/>
          </a:stretch>
        </p:blipFill>
        <p:spPr>
          <a:xfrm>
            <a:off x="7148333" y="1280160"/>
            <a:ext cx="383222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Loth (2025), Fig. 5(A–D). Receptor transcripts across molecular cell classes</a:t>
            </a:r>
          </a:p>
        </p:txBody>
      </p:sp>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Loth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Independent receptor-null alleles test a genetic claim</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Berendzen and colleagues used CRISPR-based gene editing to disrupt Oxtr in prairie voles. </a:t>
            </a:r>
            <a:r>
              <a:rPr sz="1600" b="1" i="0">
                <a:solidFill>
                  <a:srgbClr val="325160"/>
                </a:solidFill>
                <a:latin typeface="Arial"/>
              </a:rPr>
              <a:t>CRISPR</a:t>
            </a:r>
            <a:r>
              <a:rPr sz="1600" b="0" i="0">
                <a:solidFill>
                  <a:srgbClr val="000000"/>
                </a:solidFill>
                <a:latin typeface="Arial"/>
              </a:rPr>
              <a:t> employs a guide RNA and a DNA-cutting enzyme to target a genomic sequence; repair can create mutations that prevent production of a functional receptor.</a:t>
            </a:r>
          </a:p>
          <a:p>
            <a:pPr algn="l">
              <a:lnSpc>
                <a:spcPct val="108000"/>
              </a:lnSpc>
              <a:spcAft>
                <a:spcPts val="960"/>
              </a:spcAft>
            </a:pPr>
            <a:r>
              <a:rPr sz="1600" b="0" i="0">
                <a:solidFill>
                  <a:srgbClr val="000000"/>
                </a:solidFill>
                <a:latin typeface="Arial"/>
              </a:rPr>
              <a:t>Three independently generated lines carried different disruptive alleles, including a one-base insertion and a larger deletion. Outcrossing to wild-type animals and comparing independent lines reduced dependence on a single founder mutation or one shared unintended genetic change.</a:t>
            </a:r>
          </a:p>
          <a:p>
            <a:pPr algn="l">
              <a:lnSpc>
                <a:spcPct val="108000"/>
              </a:lnSpc>
              <a:spcAft>
                <a:spcPts val="960"/>
              </a:spcAft>
            </a:pPr>
            <a:r>
              <a:rPr sz="1600" b="0" i="0">
                <a:solidFill>
                  <a:srgbClr val="000000"/>
                </a:solidFill>
                <a:latin typeface="Arial"/>
              </a:rPr>
              <a:t>A </a:t>
            </a:r>
            <a:r>
              <a:rPr sz="1600" b="1" i="0">
                <a:solidFill>
                  <a:srgbClr val="325160"/>
                </a:solidFill>
                <a:latin typeface="Arial"/>
              </a:rPr>
              <a:t>null allele</a:t>
            </a:r>
            <a:r>
              <a:rPr sz="1600" b="0" i="0">
                <a:solidFill>
                  <a:srgbClr val="000000"/>
                </a:solidFill>
                <a:latin typeface="Arial"/>
              </a:rPr>
              <a:t> is an allele that lacks normal gene function. The genetic approach asks whether animals developing without functional oxytocin receptors can form a measured partner preference. Its lifelong perturbation differs from administering a receptor antagonist to an otherwise developed adult during a short social exposure.</a:t>
            </a:r>
          </a:p>
        </p:txBody>
      </p:sp>
      <p:pic>
        <p:nvPicPr>
          <p:cNvPr id="4" name="Picture 3" descr="b1.png"/>
          <p:cNvPicPr>
            <a:picLocks noChangeAspect="1"/>
          </p:cNvPicPr>
          <p:nvPr/>
        </p:nvPicPr>
        <p:blipFill>
          <a:blip r:embed="rId2"/>
          <a:stretch>
            <a:fillRect/>
          </a:stretch>
        </p:blipFill>
        <p:spPr>
          <a:xfrm>
            <a:off x="6504127" y="1280160"/>
            <a:ext cx="5120640" cy="3740560"/>
          </a:xfrm>
          <a:prstGeom prst="rect">
            <a:avLst/>
          </a:prstGeom>
        </p:spPr>
      </p:pic>
      <p:sp>
        <p:nvSpPr>
          <p:cNvPr id="5" name="Figure caption"/>
          <p:cNvSpPr txBox="1"/>
          <p:nvPr/>
        </p:nvSpPr>
        <p:spPr>
          <a:xfrm>
            <a:off x="6504127" y="511216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Berendzen (2023), Fig. 1(A–C). Published CRISPR preparation and receptor-null alleles</a:t>
            </a:r>
          </a:p>
        </p:txBody>
      </p:sp>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Berendzen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Binding assays verify loss of detectable receptor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25160"/>
                </a:solidFill>
                <a:latin typeface="Arial"/>
              </a:rPr>
              <a:t>radioligand</a:t>
            </a:r>
            <a:r>
              <a:rPr sz="1600" b="0" i="0">
                <a:solidFill>
                  <a:srgbClr val="000000"/>
                </a:solidFill>
                <a:latin typeface="Arial"/>
              </a:rPr>
              <a:t> is a radioactively labeled molecule used to measure binding sites in tissue. Berendzen and colleagues used iodine-125-labeled OVTA to examine oxytocin-receptor binding in wild-type and receptor-null vole brains.</a:t>
            </a:r>
          </a:p>
          <a:p>
            <a:pPr algn="l">
              <a:lnSpc>
                <a:spcPct val="108000"/>
              </a:lnSpc>
              <a:spcAft>
                <a:spcPts val="960"/>
              </a:spcAft>
            </a:pPr>
            <a:r>
              <a:rPr sz="1600" b="0" i="0">
                <a:solidFill>
                  <a:srgbClr val="000000"/>
                </a:solidFill>
                <a:latin typeface="Arial"/>
              </a:rPr>
              <a:t>Null animals lacked the detectable binding seen in wild-type prefrontal cortex, accumbens, and central amygdala across the independent lines and both sexes. Adjacent acetylcholinesterase-stained sections supplied an anatomical comparison, while the original plots report binding density in arbitrary units.</a:t>
            </a:r>
          </a:p>
          <a:p>
            <a:pPr algn="l">
              <a:lnSpc>
                <a:spcPct val="108000"/>
              </a:lnSpc>
              <a:spcAft>
                <a:spcPts val="960"/>
              </a:spcAft>
            </a:pPr>
            <a:r>
              <a:rPr sz="1600" b="0" i="0">
                <a:solidFill>
                  <a:srgbClr val="000000"/>
                </a:solidFill>
                <a:latin typeface="Arial"/>
              </a:rPr>
              <a:t>This validation makes preserved behavior more informative than an unverified gene-editing claim. It supports loss of detectable receptor binding under the assay conditions, rather than measuring every possible downstream adaptation. The comparison also illustrates why RNA co-labeling and ligand binding answer different questions about receptor-bearing tissue.</a:t>
            </a:r>
          </a:p>
        </p:txBody>
      </p:sp>
      <p:pic>
        <p:nvPicPr>
          <p:cNvPr id="4" name="Picture 3" descr="b2.png"/>
          <p:cNvPicPr>
            <a:picLocks noChangeAspect="1"/>
          </p:cNvPicPr>
          <p:nvPr/>
        </p:nvPicPr>
        <p:blipFill>
          <a:blip r:embed="rId2"/>
          <a:stretch>
            <a:fillRect/>
          </a:stretch>
        </p:blipFill>
        <p:spPr>
          <a:xfrm>
            <a:off x="6504127" y="1280160"/>
            <a:ext cx="5120640" cy="3448663"/>
          </a:xfrm>
          <a:prstGeom prst="rect">
            <a:avLst/>
          </a:prstGeom>
        </p:spPr>
      </p:pic>
      <p:sp>
        <p:nvSpPr>
          <p:cNvPr id="5" name="Figure caption"/>
          <p:cNvSpPr txBox="1"/>
          <p:nvPr/>
        </p:nvSpPr>
        <p:spPr>
          <a:xfrm>
            <a:off x="6504127" y="482026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Berendzen (2023), Fig. 2(A–E). Receptor-binding validation and anatomical controls</a:t>
            </a:r>
          </a:p>
        </p:txBody>
      </p:sp>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Berendzen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Receptor-null animals retain selective partner huddling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After seven days of cohabitation, male and female receptor-null prairie voles showed selective huddling with their partner. Berendzen and colleagues tested independent mutant lines in both branched and linear preference apparatuses.</a:t>
            </a:r>
          </a:p>
          <a:p>
            <a:pPr algn="l">
              <a:lnSpc>
                <a:spcPct val="108000"/>
              </a:lnSpc>
              <a:spcAft>
                <a:spcPts val="960"/>
              </a:spcAft>
            </a:pPr>
            <a:r>
              <a:rPr sz="1600" b="0" i="0">
                <a:solidFill>
                  <a:srgbClr val="000000"/>
                </a:solidFill>
                <a:latin typeface="Arial"/>
              </a:rPr>
              <a:t>The partner-versus-stranger comparison was retained, and the published individual data show the selective affiliation rather than only total contact time. Aggressive behavior was also measured; preservation of huddling preference should not be interpreted as proof that every social response was identical in mutants and controls.</a:t>
            </a:r>
          </a:p>
          <a:p>
            <a:pPr algn="l">
              <a:lnSpc>
                <a:spcPct val="108000"/>
              </a:lnSpc>
              <a:spcAft>
                <a:spcPts val="960"/>
              </a:spcAft>
            </a:pPr>
            <a:r>
              <a:rPr sz="1600" b="0" i="0">
                <a:solidFill>
                  <a:srgbClr val="000000"/>
                </a:solidFill>
                <a:latin typeface="Arial"/>
              </a:rPr>
              <a:t>The result demonstrates that detectable oxytocin-receptor function is not universally required for this preference outcome under seven-day pairing conditions. It does not establish that oxytocin has no influence in typical animals, that preference forms at the same rate, or that acute receptor blockade during six-hour exposure must have no effect.</a:t>
            </a:r>
          </a:p>
        </p:txBody>
      </p:sp>
      <p:pic>
        <p:nvPicPr>
          <p:cNvPr id="4" name="Picture 3" descr="b3.png"/>
          <p:cNvPicPr>
            <a:picLocks noChangeAspect="1"/>
          </p:cNvPicPr>
          <p:nvPr/>
        </p:nvPicPr>
        <p:blipFill>
          <a:blip r:embed="rId2"/>
          <a:stretch>
            <a:fillRect/>
          </a:stretch>
        </p:blipFill>
        <p:spPr>
          <a:xfrm>
            <a:off x="6504127" y="1280160"/>
            <a:ext cx="5120640" cy="3920754"/>
          </a:xfrm>
          <a:prstGeom prst="rect">
            <a:avLst/>
          </a:prstGeom>
        </p:spPr>
      </p:pic>
      <p:sp>
        <p:nvSpPr>
          <p:cNvPr id="5" name="Figure caption"/>
          <p:cNvSpPr txBox="1"/>
          <p:nvPr/>
        </p:nvSpPr>
        <p:spPr>
          <a:xfrm>
            <a:off x="6504127" y="529235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Berendzen (2023), Fig. 3(A–H). Partner preference and attacks in receptor-null animals</a:t>
            </a:r>
          </a:p>
        </p:txBody>
      </p:sp>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Berendzen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Acute blockade and lifelong loss test different conditions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acute female pharmacology experiments used six-hour nonmating exposure, while the receptor-null study used seven-day cohabitation. One interfered with receptor-sensitive processes during a defined adult interval; the other tested animals that developed without normal receptor function.</a:t>
            </a:r>
          </a:p>
          <a:p>
            <a:pPr algn="l">
              <a:lnSpc>
                <a:spcPct val="108000"/>
              </a:lnSpc>
              <a:spcAft>
                <a:spcPts val="900"/>
              </a:spcAft>
            </a:pPr>
            <a:r>
              <a:rPr sz="1500" b="0" i="0">
                <a:solidFill>
                  <a:srgbClr val="000000"/>
                </a:solidFill>
                <a:latin typeface="Arial"/>
              </a:rPr>
              <a:t>Developmental compensation, alternative signaling routes, different exposure durations, and pharmacological specificity are possible explanations for the contrasting outcomes. The genetic study does not establish which explanation resolves the discrepancy, and the earlier antagonist experiments do not exclude adaptation across development.</a:t>
            </a:r>
          </a:p>
          <a:p>
            <a:pPr algn="l">
              <a:lnSpc>
                <a:spcPct val="108000"/>
              </a:lnSpc>
              <a:spcAft>
                <a:spcPts val="900"/>
              </a:spcAft>
            </a:pPr>
            <a:r>
              <a:rPr sz="1500" b="0" i="0">
                <a:solidFill>
                  <a:srgbClr val="000000"/>
                </a:solidFill>
                <a:latin typeface="Arial"/>
              </a:rPr>
              <a:t>The defensible account is therefore conditional: accumbens oxytocin-sensitive and D2-type-sensitive processes interact in the short-exposure pharmacological paradigm, while receptor-null voles can express preference after longer pairing. A complete mechanism must explain both findings rather than treating one experimental design as a universal definition of attachment.</a:t>
            </a:r>
          </a:p>
        </p:txBody>
      </p:sp>
      <p:pic>
        <p:nvPicPr>
          <p:cNvPr id="4" name="Picture 3" descr="b3.png"/>
          <p:cNvPicPr>
            <a:picLocks noChangeAspect="1"/>
          </p:cNvPicPr>
          <p:nvPr/>
        </p:nvPicPr>
        <p:blipFill>
          <a:blip r:embed="rId2"/>
          <a:stretch>
            <a:fillRect/>
          </a:stretch>
        </p:blipFill>
        <p:spPr>
          <a:xfrm>
            <a:off x="6504127" y="1280160"/>
            <a:ext cx="5120640" cy="3920754"/>
          </a:xfrm>
          <a:prstGeom prst="rect">
            <a:avLst/>
          </a:prstGeom>
        </p:spPr>
      </p:pic>
      <p:sp>
        <p:nvSpPr>
          <p:cNvPr id="5" name="Figure caption"/>
          <p:cNvSpPr txBox="1"/>
          <p:nvPr/>
        </p:nvSpPr>
        <p:spPr>
          <a:xfrm>
            <a:off x="6504127" y="529235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Berendzen (2023), Fig. 3(A–H). Partner preference and attacks in receptor-null animals</a:t>
            </a:r>
          </a:p>
        </p:txBody>
      </p:sp>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Berendzen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25160"/>
                </a:solidFill>
                <a:latin typeface="Arial"/>
              </a:rPr>
              <a:t>Key takeaways</a:t>
            </a:r>
          </a:p>
        </p:txBody>
      </p:sp>
      <p:sp>
        <p:nvSpPr>
          <p:cNvPr id="3" name="Rectangle 2"/>
          <p:cNvSpPr/>
          <p:nvPr/>
        </p:nvSpPr>
        <p:spPr>
          <a:xfrm>
            <a:off x="566928" y="1234440"/>
            <a:ext cx="5391759" cy="1478279"/>
          </a:xfrm>
          <a:prstGeom prst="rect">
            <a:avLst/>
          </a:prstGeom>
          <a:solidFill>
            <a:srgbClr val="F2F6F8"/>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25160"/>
                </a:solidFill>
                <a:latin typeface="Arial"/>
              </a:rPr>
              <a:t>Selective affiliation:</a:t>
            </a:r>
            <a:r>
              <a:rPr sz="1600" b="0" i="0">
                <a:solidFill>
                  <a:srgbClr val="000000"/>
                </a:solidFill>
                <a:latin typeface="Arial"/>
              </a:rPr>
              <a:t> Partner preference compares partner-directed huddling with stranger contact; social approach alone is insufficient.</a:t>
            </a:r>
          </a:p>
        </p:txBody>
      </p:sp>
      <p:sp>
        <p:nvSpPr>
          <p:cNvPr id="5" name="Rectangle 4"/>
          <p:cNvSpPr/>
          <p:nvPr/>
        </p:nvSpPr>
        <p:spPr>
          <a:xfrm>
            <a:off x="6233007" y="1234440"/>
            <a:ext cx="5391759" cy="1478279"/>
          </a:xfrm>
          <a:prstGeom prst="rect">
            <a:avLst/>
          </a:prstGeom>
          <a:solidFill>
            <a:srgbClr val="F2F6F8"/>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25160"/>
                </a:solidFill>
                <a:latin typeface="Arial"/>
              </a:rPr>
              <a:t>Conditional receptor interaction:</a:t>
            </a:r>
            <a:r>
              <a:rPr sz="1600" b="0" i="0">
                <a:solidFill>
                  <a:srgbClr val="000000"/>
                </a:solidFill>
                <a:latin typeface="Arial"/>
              </a:rPr>
              <a:t> Acute accumbens oxytocin and D2-type manipulations interact during short nonmating exposure.</a:t>
            </a:r>
          </a:p>
        </p:txBody>
      </p:sp>
      <p:sp>
        <p:nvSpPr>
          <p:cNvPr id="7" name="Rectangle 6"/>
          <p:cNvSpPr/>
          <p:nvPr/>
        </p:nvSpPr>
        <p:spPr>
          <a:xfrm>
            <a:off x="566928" y="2987040"/>
            <a:ext cx="5391759" cy="1478279"/>
          </a:xfrm>
          <a:prstGeom prst="rect">
            <a:avLst/>
          </a:prstGeom>
          <a:solidFill>
            <a:srgbClr val="F2F6F8"/>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25160"/>
                </a:solidFill>
                <a:latin typeface="Arial"/>
              </a:rPr>
              <a:t>Candidate cellular convergence:</a:t>
            </a:r>
            <a:r>
              <a:rPr sz="1600" b="0" i="0">
                <a:solidFill>
                  <a:srgbClr val="000000"/>
                </a:solidFill>
                <a:latin typeface="Arial"/>
              </a:rPr>
              <a:t> Receptor transcript co-expression identifies possible interaction sites without proving receptor activity or behavioral causation.</a:t>
            </a:r>
          </a:p>
        </p:txBody>
      </p:sp>
      <p:sp>
        <p:nvSpPr>
          <p:cNvPr id="9" name="Rectangle 8"/>
          <p:cNvSpPr/>
          <p:nvPr/>
        </p:nvSpPr>
        <p:spPr>
          <a:xfrm>
            <a:off x="6233007" y="2987040"/>
            <a:ext cx="5391759" cy="1478279"/>
          </a:xfrm>
          <a:prstGeom prst="rect">
            <a:avLst/>
          </a:prstGeom>
          <a:solidFill>
            <a:srgbClr val="F2F6F8"/>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25160"/>
                </a:solidFill>
                <a:latin typeface="Arial"/>
              </a:rPr>
              <a:t>Circuit sufficiency:</a:t>
            </a:r>
            <a:r>
              <a:rPr sz="1600" b="0" i="0">
                <a:solidFill>
                  <a:srgbClr val="000000"/>
                </a:solidFill>
                <a:latin typeface="Arial"/>
              </a:rPr>
              <a:t> Socially contingent prefrontal–accumbens activation biases preference; coupling correlations alone establish neither necessity nor direct transmission.</a:t>
            </a:r>
          </a:p>
        </p:txBody>
      </p:sp>
      <p:sp>
        <p:nvSpPr>
          <p:cNvPr id="11" name="Rectangle 10"/>
          <p:cNvSpPr/>
          <p:nvPr/>
        </p:nvSpPr>
        <p:spPr>
          <a:xfrm>
            <a:off x="566928" y="4739640"/>
            <a:ext cx="5391759" cy="1478279"/>
          </a:xfrm>
          <a:prstGeom prst="rect">
            <a:avLst/>
          </a:prstGeom>
          <a:solidFill>
            <a:srgbClr val="F2F6F8"/>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25160"/>
                </a:solidFill>
                <a:latin typeface="Arial"/>
              </a:rPr>
              <a:t>Genetic qualification:</a:t>
            </a:r>
            <a:r>
              <a:rPr sz="1600" b="0" i="0">
                <a:solidFill>
                  <a:srgbClr val="000000"/>
                </a:solidFill>
                <a:latin typeface="Arial"/>
              </a:rPr>
              <a:t> Oxytocin-receptor-null voles retain preference after seven-day pairing, limiting universal necessity claims.</a:t>
            </a:r>
          </a:p>
        </p:txBody>
      </p:sp>
      <p:sp>
        <p:nvSpPr>
          <p:cNvPr id="13" name="Rectangle 12"/>
          <p:cNvSpPr/>
          <p:nvPr/>
        </p:nvSpPr>
        <p:spPr>
          <a:xfrm>
            <a:off x="6233007" y="4739640"/>
            <a:ext cx="5391759" cy="1478279"/>
          </a:xfrm>
          <a:prstGeom prst="rect">
            <a:avLst/>
          </a:prstGeom>
          <a:solidFill>
            <a:srgbClr val="F2F6F8"/>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25160"/>
                </a:solidFill>
                <a:latin typeface="Arial"/>
              </a:rPr>
              <a:t>Measurement and context:</a:t>
            </a:r>
            <a:r>
              <a:rPr sz="1600" b="0" i="0">
                <a:solidFill>
                  <a:srgbClr val="000000"/>
                </a:solidFill>
                <a:latin typeface="Arial"/>
              </a:rPr>
              <a:t> Exposure duration, controls, receptor-family specificity, and RNA detection sensitivity determine the justified inference.</a:t>
            </a:r>
          </a:p>
        </p:txBody>
      </p:sp>
      <p:sp>
        <p:nvSpPr>
          <p:cNvPr id="15" name="Rectangle 14"/>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&amp; Wang (2003); Amadei et al. (2017); Berendzen et al. (2023); Loth et al. (2025)</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Prairie voles I: partner preference, social attachment, and oxytocin–dopamine interactions during pair-bond formation</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