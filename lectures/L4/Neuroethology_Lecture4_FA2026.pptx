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Crayfish tail-flip: lateral and medial giant fiber circuits (Wine &amp; Krasne)</a:t>
            </a:r>
          </a:p>
          <a:p>
            <a:r>
              <a:t>Lecture 4. NEUR 411 · NEUROETHOLOGY · FALL 2026. Monday, August 31, 2026.</a:t>
            </a:r>
          </a:p>
          <a:p/>
          <a:p>
            <a:r>
              <a:t>Figure: Herberholz et al. (2011), Fig. 1(B). Juvenile Procambarus clarkii used in the imaging study.</a:t>
            </a:r>
          </a:p>
          <a:p>
            <a:r>
              <a:t>Figure source: https://doi.org/10.3389/fnbeh.2011.00016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tail flip is a rapid abdominal flexion that propels a crayfish through water. Wine and Krasne studied Procambarus clarkii with chronically implanted electrodes and high-speed film. The lateral giant, or LG, and medial giant, or MG, are large interneurons that recruit different escape movements.</a:t>
            </a:r>
          </a:p>
          <a:p>
            <a:r>
              <a:t>• An abdominal tap commonly activated LG and produced forward pitching with upward displacement. An anterior stimulus commonly activated MG and produced a backward dart. The published movement sequences retain frames approximately 10 ms apart, allowing the two trajectories to be compared with recorded giant-fiber activity.</a:t>
            </a:r>
          </a:p>
          <a:p>
            <a:r>
              <a:t>• The response depends on which circuit is recruited, rather than abdominal flexion having one obligatory direction. These experiments connected neural signals with freely moving behavior; they did not identify every synapse contributing to each appendage movement.</a:t>
            </a:r>
          </a:p>
          <a:p>
            <a:r>
              <a:t>• An interneuron links other neurons within the nervous system. LG and MG are interneurons rather than the motor neurons whose axons directly leave the nervous system to innervate muscles.</a:t>
            </a:r>
          </a:p>
          <a:p/>
          <a:p>
            <a:r>
              <a:t>References:</a:t>
            </a:r>
          </a:p>
          <a:p>
            <a:r>
              <a:t>J. J. Wine; F. B. Krasne (1972). The Organization of Escape Behaviour in the Crayfish. Journal of Experimental Biology 56(1):1–18. https://doi.org/10.1242/jeb.56.1.1</a:t>
            </a:r>
          </a:p>
          <a:p/>
          <a:p>
            <a:r>
              <a:t>Figure: Wine &amp; Krasne (1972), Fig. 5. Original tracings of filmed lateral- and medial-giant tail flips.</a:t>
            </a:r>
          </a:p>
          <a:p>
            <a:r>
              <a:t>Figure source: https://doi.org/10.1242/jeb.56.1.1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Wine and Krasne implanted pairs of 0.5 mm silver-ball electrodes near the nerve cord of crayfish 6–8 cm long. An extracellular recording measures voltage outside neurons and can detect passing action potentials. The animals subsequently moved freely while their escape responses were recorded.</a:t>
            </a:r>
          </a:p>
          <a:p>
            <a:r>
              <a:t>• Recordings from the anterior connectives and second abdominal segment separated descending MG activity from ascending LG activity. Spike polarity, relative amplitude, propagation direction, and escape trajectory provided converging identification criteria. Direct stimulation of visually identified giant fibers after behavioral testing checked the interpretation of the earlier records.</a:t>
            </a:r>
          </a:p>
          <a:p>
            <a:r>
              <a:t>• Giant spikes preceded major abdominal muscle potentials by about 2 ms. This timing supports a rapid neural-to-motor sequence, but an extracellular muscle potential is not itself the onset of body displacement. Ambiguous records were not treated as definitive evidence of pathway identity.</a:t>
            </a:r>
          </a:p>
          <a:p>
            <a:r>
              <a:t>• An action potential is a regenerative electrical signal propagated along a neuronal membrane. The implanted leads allowed the investigators to relate such signals to behavior without assuming that every tail flip used a giant neuron.</a:t>
            </a:r>
          </a:p>
          <a:p/>
          <a:p>
            <a:r>
              <a:t>References:</a:t>
            </a:r>
          </a:p>
          <a:p>
            <a:r>
              <a:t>J. J. Wine; F. B. Krasne (1972). The Organization of Escape Behaviour in the Crayfish. Journal of Experimental Biology 56(1):1–18. https://doi.org/10.1242/jeb.56.1.1</a:t>
            </a:r>
          </a:p>
          <a:p/>
          <a:p>
            <a:r>
              <a:t>Figure: Wine &amp; Krasne (1972), Fig. 2. Simultaneous connective and abdominal recordings of giant-fiber activity.</a:t>
            </a:r>
          </a:p>
          <a:p>
            <a:r>
              <a:t>Figure source: https://doi.org/10.1242/jeb.56.1.1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phasic stimulus changes abruptly rather than remaining sustained or rising gradually. Wine and Krasne compared abdominal taps with pinches whose pressure rose over 0.5–1 s. Stimuli were separated by five minutes, and tap strength was adjusted to make overall response probability comparable to pinching.</a:t>
            </a:r>
          </a:p>
          <a:p>
            <a:r>
              <a:t>• The two stimulus types produced similar frequencies of tail flips, yet taps usually recruited giant activity whereas pinches usually did not. Freely moving crayfish could respond to very light taps. For LG responses, the median latency from mechanical contact to the first giant spike was 7 ms.</a:t>
            </a:r>
          </a:p>
          <a:p>
            <a:r>
              <a:t>• These findings associate giant recruitment with stimulus timing, rather than a simple requirement for damaging intensity. The latency graph compares giant spikes with first major muscle potentials for nongiant responses, so its response markers are related but not identical.</a:t>
            </a:r>
          </a:p>
          <a:p>
            <a:r>
              <a:t>• Latency means the elapsed time between a defined stimulus event and a defined response event. The paper used a microphone on the stimulating rod to mark contact; it did not measure neuronal latency from an inferred subjective perception.</a:t>
            </a:r>
          </a:p>
          <a:p/>
          <a:p>
            <a:r>
              <a:t>References:</a:t>
            </a:r>
          </a:p>
          <a:p>
            <a:r>
              <a:t>J. J. Wine; F. B. Krasne (1972). The Organization of Escape Behaviour in the Crayfish. Journal of Experimental Biology 56(1):1–18. https://doi.org/10.1242/jeb.56.1.1</a:t>
            </a:r>
          </a:p>
          <a:p/>
          <a:p>
            <a:r>
              <a:t>Figure: Wine &amp; Krasne (1972), Fig. 4. Original distributions of giant-spike and nongiant muscle-response latency.</a:t>
            </a:r>
          </a:p>
          <a:p>
            <a:r>
              <a:t>Figure source: https://doi.org/10.1242/jeb.56.1.1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Nongiant escape is a tail flip produced without detected activity in either giant-fiber pathway. Wine and Krasne recorded sequences in which an anterior tap triggered an MG spike or an abdominal tap triggered an LG spike. Subsequent flexions generally occurred without corresponding giant spikes.</a:t>
            </a:r>
          </a:p>
          <a:p>
            <a:r>
              <a:t>• The implanted cord recordings retained both the large initial neural event and later muscle activity. In one sequence, swimming resumed after a 350 ms pause with a nongiant first flip. A sequence of similar-looking flexions therefore need not be a sequence of giant-mediated reflexes.</a:t>
            </a:r>
          </a:p>
          <a:p>
            <a:r>
              <a:t>• The giant circuits primarily initiated rapid escape in these observations, while nongiant circuits supported repeated swimming. Occasional giant activity during swimming could accompany a new collision or stimulus; the recordings do not establish absolute silence of giants during every possible swimming sequence.</a:t>
            </a:r>
          </a:p>
          <a:p>
            <a:r>
              <a:t>• The slower, larger voltage swings are muscle potentials. Distinguishing them from the narrow giant spikes prevents a motor recording from being mistaken for renewed giant-neuron firing.</a:t>
            </a:r>
          </a:p>
          <a:p/>
          <a:p>
            <a:r>
              <a:t>References:</a:t>
            </a:r>
          </a:p>
          <a:p>
            <a:r>
              <a:t>J. J. Wine; F. B. Krasne (1972). The Organization of Escape Behaviour in the Crayfish. Journal of Experimental Biology 56(1):1–18. https://doi.org/10.1242/jeb.56.1.1</a:t>
            </a:r>
          </a:p>
          <a:p/>
          <a:p>
            <a:r>
              <a:t>Figure: Wine &amp; Krasne (1972), Fig. 3(A,B). Giant-mediated initial responses followed by nongiant swimming.</a:t>
            </a:r>
          </a:p>
          <a:p>
            <a:r>
              <a:t>Figure source: https://doi.org/10.1242/jeb.56.1.1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truncated tail flip stops before completing full flexion or re-extension. Wine and Krasne filmed nongiant swimming and observed truncated movements, changes of direction, and flexions resembling either giant-mediated trajectory. Their published sequence contains tracings separated by about 10 ms.</a:t>
            </a:r>
          </a:p>
          <a:p>
            <a:r>
              <a:t>• Cord recordings associated most successive swimming flexions with nongiant activity. Nongiant responses to gradual stimulation had much longer latencies than giant-mediated responses, when a meaningful onset could be assigned. Some nongiant flips occurred without an immediately preceding abrupt stimulus.</a:t>
            </a:r>
          </a:p>
          <a:p>
            <a:r>
              <a:t>• This flexibility supports parallel motor-control pathways beyond the giants. The authors proposed that longer latency permits more sensory guidance, but their behavioral observations did not directly measure every guidance signal. Longer latency and variable trajectory do not establish conscious choice or eliminate the possibility of stereotyped components.</a:t>
            </a:r>
          </a:p>
          <a:p>
            <a:r>
              <a:t>• The paper uses spontaneous to describe a response without an obvious immediate change in the environment. That operational description does not establish absence of internal or previously sustained external causes.</a:t>
            </a:r>
          </a:p>
          <a:p/>
          <a:p>
            <a:r>
              <a:t>References:</a:t>
            </a:r>
          </a:p>
          <a:p>
            <a:r>
              <a:t>J. J. Wine; F. B. Krasne (1972). The Organization of Escape Behaviour in the Crayfish. Journal of Experimental Biology 56(1):1–18. https://doi.org/10.1242/jeb.56.1.1</a:t>
            </a:r>
          </a:p>
          <a:p/>
          <a:p>
            <a:r>
              <a:t>Figure: Wine &amp; Krasne (1972), Fig. 6. Filmed truncated tail flip during a swimming sequence.</a:t>
            </a:r>
          </a:p>
          <a:p>
            <a:r>
              <a:t>Figure source: https://doi.org/10.1242/jeb.56.1.1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transection severs a neural pathway to test whether signals crossing it are required for a response. Wine and Krasne cut the crayfish nerve cord at several levels and tested responses to taps, gradual caudal stimuli, and swimming. They spared nearby arteries during the operations.</a:t>
            </a:r>
          </a:p>
          <a:p>
            <a:r>
              <a:t>• Cuts below the suboesophageal ganglion complex abolished ordinary nongiant responses to gradual caudal stimulation and sustained swimming, while local giant-mediated responses to abdominal taps persisted. Cutting above that complex could leave nongiant responsiveness available. Some caudal nongiant responses returned after approximately a week following lower cuts.</a:t>
            </a:r>
          </a:p>
          <a:p>
            <a:r>
              <a:t>• The pattern supports an important initiating or facilitating contribution from anterior ganglia. Recovery and segmental responsiveness prevent a claim that all nongiant tail flips require one exclusive command site. Lesions identify pathway dependence but cannot alone distinguish initiation from tonic facilitation.</a:t>
            </a:r>
          </a:p>
          <a:p>
            <a:r>
              <a:t>• A ganglion is a concentration of neuronal cell bodies and neuropil. Neuropil contains the interwoven neuronal processes and synapses where much of the local circuit interaction occurs.</a:t>
            </a:r>
          </a:p>
          <a:p/>
          <a:p>
            <a:r>
              <a:t>References:</a:t>
            </a:r>
          </a:p>
          <a:p>
            <a:r>
              <a:t>J. J. Wine; F. B. Krasne (1972). The Organization of Escape Behaviour in the Crayfish. Journal of Experimental Biology 56(1):1–18. https://doi.org/10.1242/jeb.56.1.1</a:t>
            </a:r>
          </a:p>
          <a:p/>
          <a:p>
            <a:r>
              <a:t>Figure: Wine &amp; Krasne (1972), Fig. 8. Published locations of nerve-cord transections.</a:t>
            </a:r>
          </a:p>
          <a:p>
            <a:r>
              <a:t>Figure source: https://doi.org/10.1242/jeb.56.1.1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paired MG neurons originate in the brain, cross the midline, and continue along the ventral nerve cord to the final abdominal ganglion. Decussation means crossing from one side of the nervous system to the other. Wine and Krasne related this anatomy to anterior receptive fields and descending recorded activity.</a:t>
            </a:r>
          </a:p>
          <a:p>
            <a:r>
              <a:t>• MG axons can reach approximately 200 μm in diameter in the connectives surrounding the oesophagus, tapering in the abdomen. Rostral taps and sufficiently rapid approaching visual objects activated MG in free animals. Gradual anterior stimuli more often recruited nongiant responses.</a:t>
            </a:r>
          </a:p>
          <a:p>
            <a:r>
              <a:t>• Anatomical position and propagation direction support the identification of an anterior escape pathway. They do not establish that every anterior sensory modality uses the same synapse. Modern antenna II recordings isolate one sensory route, whereas the intact-animal stimuli often contained several physical components.</a:t>
            </a:r>
          </a:p>
          <a:p>
            <a:r>
              <a:t>• A receptive field is the part of the sensory surface or stimulus space capable of affecting a neuron. The anatomical arrangement in the modern MG paper concerns antenna II inputs; additional sensory pathways are explicitly omitted from that source diagram.</a:t>
            </a:r>
          </a:p>
          <a:p/>
          <a:p>
            <a:r>
              <a:t>References:</a:t>
            </a:r>
          </a:p>
          <a:p>
            <a:r>
              <a:t>J. J. Wine; F. B. Krasne (1972). The Organization of Escape Behaviour in the Crayfish. Journal of Experimental Biology 56(1):1–18. https://doi.org/10.1242/jeb.56.1.1</a:t>
            </a:r>
          </a:p>
          <a:p>
            <a:r>
              <a:t>M. E. Swierzbinski; J. Herberholz (2018). Effects of ethanol on sensory inputs to the medial giant interneurons of crayfish. Frontiers in Physiology 9:448. https://doi.org/10.3389/fphys.2018.00448</a:t>
            </a:r>
          </a:p>
          <a:p/>
          <a:p>
            <a:r>
              <a:t>Figure: Wine &amp; Krasne (1972), Fig. 1. Receptive fields and giant-axon cross sections.</a:t>
            </a:r>
          </a:p>
          <a:p>
            <a:r>
              <a:t>Figure source: https://doi.org/10.1242/jeb.56.1.1</a:t>
            </a:r>
          </a:p>
          <a:p/>
          <a:p>
            <a:r>
              <a:t>Figure: Swierzbinski &amp; Herberholz (2018), Fig. 1(A). Published anatomical arrangement of antenna II input and the MG neuron.</a:t>
            </a:r>
          </a:p>
          <a:p>
            <a:r>
              <a:t>Figure source: https://doi.org/10.3389/fphys.2018.00448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paired LG pathways contain serial neuronal segments associated with abdominal ganglia. Their dorsal giant axons are connected to ventral cell bodies and dendritic branches receiving local sensory input. Electrical coupling across segmental and contralateral junctions coordinates activity within the escape pathway.</a:t>
            </a:r>
          </a:p>
          <a:p>
            <a:r>
              <a:t>• Wine and Krasne reported LG diameters up to about 200 μm in the abdomen, with smaller diameters anteriorly. Abdominal taps recruited ascending activity and an upward-pitching response. Herberholz and colleagues later imaged the LG dendrites and their afferent contacts in the terminal abdominal ganglion.</a:t>
            </a:r>
          </a:p>
          <a:p>
            <a:r>
              <a:t>• A posterior stimulus can therefore gain access to a distributed giant pathway through local synaptic inputs. The large axon is only one part of the circuit. Its diameter does not specify which sensory inputs reach threshold or which segmental motor connections generate the movement.</a:t>
            </a:r>
          </a:p>
          <a:p>
            <a:r>
              <a:t>• A dendrite is a neuronal process that receives and distributes synaptic input. The color micrograph is an original confocal image of LG dendritic contacts, rather than a newly drawn representation of the segmental pathway.</a:t>
            </a:r>
          </a:p>
          <a:p/>
          <a:p>
            <a:r>
              <a:t>References:</a:t>
            </a:r>
          </a:p>
          <a:p>
            <a:r>
              <a:t>J. J. Wine; F. B. Krasne (1972). The Organization of Escape Behaviour in the Crayfish. Journal of Experimental Biology 56(1):1–18. https://doi.org/10.1242/jeb.56.1.1</a:t>
            </a:r>
          </a:p>
          <a:p>
            <a:r>
              <a:t>J. Herberholz; B. L. Antonsen; D. H. Edwards (2002). A lateral excitatory network in the escape circuit of crayfish. Journal of Neuroscience 22(20):9078–9085. https://doi.org/10.1523/JNEUROSCI.22-20-09078.2002</a:t>
            </a:r>
          </a:p>
          <a:p/>
          <a:p>
            <a:r>
              <a:t>Figure: Wine &amp; Krasne (1972), Fig. 1. Giant-axon organization and posterior receptive fields.</a:t>
            </a:r>
          </a:p>
          <a:p>
            <a:r>
              <a:t>Figure source: https://doi.org/10.1242/jeb.56.1.1</a:t>
            </a:r>
          </a:p>
          <a:p/>
          <a:p>
            <a:r>
              <a:t>Figure: Herberholz et al. (2002), Fig. 2(B). LG dendritic contacts with primary afferents; original 10 μm scale.</a:t>
            </a:r>
          </a:p>
          <a:p>
            <a:r>
              <a:t>Figure source: https://doi.org/10.1523/JNEUROSCI.22-20-09078.2002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Herberholz and colleagues used magnetic resonance imaging, or MRI, to examine the nervous system without dissecting away the animal’s surrounding tissues. Juvenile crayfish were injected with manganese chloride, allowed to move, and then held motionless in narrow imaging tubes.</a:t>
            </a:r>
          </a:p>
          <a:p>
            <a:r>
              <a:t>• A three-dimensional acquisition at 78 μm resolution in each dimension resolved the ventral nerve cord and individual thoracic and abdominal ganglia. The sagittal section retains the animal’s curled abdomen and the cord’s course through it. Manganese increased contrast between tissues and exposed anatomical features poorly separated in conventional scans.</a:t>
            </a:r>
          </a:p>
          <a:p>
            <a:r>
              <a:t>• Repeated ganglia provide the anatomical setting for segmental giant and motor circuitry. The scan does not resolve every neuronal connection or identify active LG spikes. Anatomical visibility and activity measurement are separate properties of the imaging method.</a:t>
            </a:r>
          </a:p>
          <a:p>
            <a:r>
              <a:t>• Sagittal sections cut along the animal’s front-to-back axis. The reported scan lasted four hours and thirty-three minutes, so its spatial detail must not be confused with millisecond temporal resolution.</a:t>
            </a:r>
          </a:p>
          <a:p/>
          <a:p>
            <a:r>
              <a:t>References:</a:t>
            </a:r>
          </a:p>
          <a:p>
            <a:r>
              <a:t>J. Herberholz; S. H. Mishra; D. Uma; M. W. Germann; D. H. Edwards; K. Potter (2011). Non-invasive imaging of neuroanatomical structures and neural activation with high-resolution MRI. Frontiers in Behavioral Neuroscience 5:16. https://doi.org/10.3389/fnbeh.2011.00016</a:t>
            </a:r>
          </a:p>
          <a:p/>
          <a:p>
            <a:r>
              <a:t>Figure: Herberholz et al. (2011), Fig. 2(D). Sagittal manganese-enhanced MRI of the ventral nerve cord.</a:t>
            </a:r>
          </a:p>
          <a:p>
            <a:r>
              <a:t>Figure source: https://doi.org/10.3389/fnbeh.2011.00016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Herberholz and colleagues pressure-injected LG with two fluorescent tracers. Large dextran-linked Texas Red remained predominantly within the injected neuron, whereas low-molecular-weight Neurobiotin could pass into electrically coupled cells. Fluorescent detection distinguished LG from its coupled partners.</a:t>
            </a:r>
          </a:p>
          <a:p>
            <a:r>
              <a:t>• The original confocal projection contains the major LG dendrite and primary afferent axons extending into the ganglionic nerves. Superposition of red and green signals produces yellow within the filled LG, while other coupled cells appear green. The figure retains its original 50 μm scale bar.</a:t>
            </a:r>
          </a:p>
          <a:p>
            <a:r>
              <a:t>• Dye coupling supports an intercellular pathway permeable to the tracer. It does not by itself measure synaptic current direction, conductance, or effectiveness at firing threshold. The investigators therefore combined the anatomy with paired electrical recordings rather than treating fluorescence as proof of every functional connection.</a:t>
            </a:r>
          </a:p>
          <a:p>
            <a:r>
              <a:t>• A primary afferent carries sensory information from a receptor toward the central nervous system. The published fluorescence colors are preserved exactly; they are labels of tracer distribution, not colors assigned to natural tissue.</a:t>
            </a:r>
          </a:p>
          <a:p/>
          <a:p>
            <a:r>
              <a:t>References:</a:t>
            </a:r>
          </a:p>
          <a:p>
            <a:r>
              <a:t>J. Herberholz; B. L. Antonsen; D. H. Edwards (2002). A lateral excitatory network in the escape circuit of crayfish. Journal of Neuroscience 22(20):9078–9085. https://doi.org/10.1523/JNEUROSCI.22-20-09078.2002</a:t>
            </a:r>
          </a:p>
          <a:p/>
          <a:p>
            <a:r>
              <a:t>Figure: Herberholz et al. (2002), Fig. 2(A). LG and dye-coupled neurons in the terminal ganglion.</a:t>
            </a:r>
          </a:p>
          <a:p>
            <a:r>
              <a:t>Figure source: https://doi.org/10.1523/JNEUROSCI.22-20-09078.2002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terminal ganglion receives sensory axons from touch-sensitive hairs and stretch receptors of the tail fan. Herberholz and colleagues traced these inputs into distinct parts of the LG dendritic tree. Input from different nerves was spatially segregated rather than uniformly mixed across every branch.</a:t>
            </a:r>
          </a:p>
          <a:p>
            <a:r>
              <a:t>• High-resolution confocal images revealed thin, vine-like LG processes wrapping around afferent axons. The original panel retains a 10 μm scale bar. These contacts occur near distal endings of the major LG dendritic branches, where sensory input enters the command neuron.</a:t>
            </a:r>
          </a:p>
          <a:p>
            <a:r>
              <a:t>• The anatomical arrangement creates a local substrate for synaptic interaction between afferents and LG. Contact in a projection is not enough to identify each membrane junction or its molecular channel. Functional recordings and tracer passage provide additional evidence for electrical coupling at these sites.</a:t>
            </a:r>
          </a:p>
          <a:p>
            <a:r>
              <a:t>• Distal means farther along a dendritic branch from the main axon or cell body. Because a confocal projection combines optical sections, apparent overlap must be interpreted with attention to separation in the depth dimension.</a:t>
            </a:r>
          </a:p>
          <a:p/>
          <a:p>
            <a:r>
              <a:t>References:</a:t>
            </a:r>
          </a:p>
          <a:p>
            <a:r>
              <a:t>J. Herberholz; B. L. Antonsen; D. H. Edwards (2002). A lateral excitatory network in the escape circuit of crayfish. Journal of Neuroscience 22(20):9078–9085. https://doi.org/10.1523/JNEUROSCI.22-20-09078.2002</a:t>
            </a:r>
          </a:p>
          <a:p/>
          <a:p>
            <a:r>
              <a:t>Figure: Herberholz et al. (2002), Fig. 2(B). Fine dendritic processes surrounding afferent axons.</a:t>
            </a:r>
          </a:p>
          <a:p>
            <a:r>
              <a:t>Figure source: https://doi.org/10.1523/JNEUROSCI.22-20-09078.2002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Herberholz and colleagues injected Neurobiotin into one primary afferent while filling LG separately with Texas Red. This preparation distinguished passage among sensory axons from tracer introduced directly into LG. The afferent labeling extended to neighboring sensory axons through central contacts.</a:t>
            </a:r>
          </a:p>
          <a:p>
            <a:r>
              <a:t>• Individual injected afferents were coupled to between one and twelve other afferents. Most labeled partners entered through the same sensory nerve, although some connections crossed between nerves. The enlarged published panel separates the afferent-coupling site from the nearby contact with LG.</a:t>
            </a:r>
          </a:p>
          <a:p>
            <a:r>
              <a:t>• The distribution supports a local sensory network capable of interaction before signals reach the command neuron. Dye passage alone does not establish that an unstimulated neighbor fires. The subsequent current-injection experiments tested whether this anatomical connectivity can transmit electrical excitation.</a:t>
            </a:r>
          </a:p>
          <a:p>
            <a:r>
              <a:t>• Lateral excitation means excitation spreading between neurons at a similar stage of processing. It differs from the common sensory arrangement of lateral inhibition, in which neighboring activity suppresses rather than recruits a response.</a:t>
            </a:r>
          </a:p>
          <a:p/>
          <a:p>
            <a:r>
              <a:t>References:</a:t>
            </a:r>
          </a:p>
          <a:p>
            <a:r>
              <a:t>J. Herberholz; B. L. Antonsen; D. H. Edwards (2002). A lateral excitatory network in the escape circuit of crayfish. Journal of Neuroscience 22(20):9078–9085. https://doi.org/10.1523/JNEUROSCI.22-20-09078.2002</a:t>
            </a:r>
          </a:p>
          <a:p/>
          <a:p>
            <a:r>
              <a:t>Figure: Herberholz et al. (2002), Fig. 3(A,B). A filled afferent and its coupled neighbors beside LG.</a:t>
            </a:r>
          </a:p>
          <a:p>
            <a:r>
              <a:t>Figure source: https://doi.org/10.1523/JNEUROSCI.22-20-09078.2002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excitatory postsynaptic potential, or EPSP, is a synaptic voltage change that promotes neuronal excitation. Herberholz and colleagues recorded a small, brief LG EPSP when an individual afferent fired after intracellular current injection. They also recorded simultaneously from pairs of afferent axons.</a:t>
            </a:r>
          </a:p>
          <a:p>
            <a:r>
              <a:t>• Depolarizing one afferent produced a smaller depolarization and corresponding EPSPs in its neighbor. Applying current to the other cell produced reciprocal effects. LG did not fire during these paired-afferent tests, excluding an LG spike as the required intermediary event.</a:t>
            </a:r>
          </a:p>
          <a:p>
            <a:r>
              <a:t>• The transfer of sustained voltage as well as spike-related signals supports electrical coupling among sensory terminals. These observations establish functional communication beyond dye passage. They do not identify the protein composition of the junctions or prove that every afferent pair has identical coupling strength.</a:t>
            </a:r>
          </a:p>
          <a:p>
            <a:r>
              <a:t>• Depolarization is a shift of membrane voltage in the positive direction relative to its resting value. An electrical synapse permits current flow through intercellular channels instead of requiring transmitter release at every signal transfer.</a:t>
            </a:r>
          </a:p>
          <a:p/>
          <a:p>
            <a:r>
              <a:t>References:</a:t>
            </a:r>
          </a:p>
          <a:p>
            <a:r>
              <a:t>J. Herberholz; B. L. Antonsen; D. H. Edwards (2002). A lateral excitatory network in the escape circuit of crayfish. Journal of Neuroscience 22(20):9078–9085. https://doi.org/10.1523/JNEUROSCI.22-20-09078.2002</a:t>
            </a:r>
          </a:p>
          <a:p/>
          <a:p>
            <a:r>
              <a:t>Figure: Herberholz et al. (2002), Fig. 3(C,D). Afferent-to-LG transmission and interactions between sensory axons.</a:t>
            </a:r>
          </a:p>
          <a:p>
            <a:r>
              <a:t>Figure source: https://doi.org/10.1523/JNEUROSCI.22-20-09078.2002</a:t>
            </a:r>
          </a:p>
          <a:p/>
          <a:p>
            <a:r>
              <a:t>Figure: Herberholz et al. (2002), Fig. 2(B). LG dendritic contacts with primary afferents; original 10 μm scale.</a:t>
            </a:r>
          </a:p>
          <a:p>
            <a:r>
              <a:t>Figure source: https://doi.org/10.1523/JNEUROSCI.22-20-09078.2002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Herberholz and colleagues increased the strength of sensory-nerve shocks while recording a particular afferent and LG. Below the recorded afferent’s direct stimulation threshold, smaller shocks already evoked EPSPs in that cell. The source therefore distinguished direct axonal stimulation from recruitment through other neurons.</a:t>
            </a:r>
          </a:p>
          <a:p>
            <a:r>
              <a:t>• As shock strength increased, the afferent EPSP rose in discrete steps. A recruited spike appeared before the stronger shock that directly activated the recorded axon, and its appearance coincided with additional LG excitation. Direct activation shortened the latency of the recorded afferent spike.</a:t>
            </a:r>
          </a:p>
          <a:p>
            <a:r>
              <a:t>• The experiment supports sensory amplification through a lateral network: activated afferents can enlist additional inputs. It does not convert shock voltage into a calibrated natural touch intensity. Electrode position and individual axonal thresholds affect which afferents the shock recruits first.</a:t>
            </a:r>
          </a:p>
          <a:p>
            <a:r>
              <a:t>• Threshold is the stimulus or membrane condition at which a defined response first appears. A direct nerve-shock threshold differs from the threshold at which an afferent fires after receiving an EPSP from its neighbors.</a:t>
            </a:r>
          </a:p>
          <a:p/>
          <a:p>
            <a:r>
              <a:t>References:</a:t>
            </a:r>
          </a:p>
          <a:p>
            <a:r>
              <a:t>J. Herberholz; B. L. Antonsen; D. H. Edwards (2002). A lateral excitatory network in the escape circuit of crayfish. Journal of Neuroscience 22(20):9078–9085. https://doi.org/10.1523/JNEUROSCI.22-20-09078.2002</a:t>
            </a:r>
          </a:p>
          <a:p/>
          <a:p>
            <a:r>
              <a:t>Figure: Herberholz et al. (2002), Fig. 4(A,B). Increasing nerve shocks recruit sensory EPSPs and afferent spikes.</a:t>
            </a:r>
          </a:p>
          <a:p>
            <a:r>
              <a:t>Figure source: https://doi.org/10.1523/JNEUROSCI.22-20-09078.2002</a:t>
            </a:r>
          </a:p>
          <a:p/>
          <a:p>
            <a:r>
              <a:t>Figure: Herberholz et al. (2002), Fig. 2(B). LG dendritic contacts with primary afferents; original 10 μm scale.</a:t>
            </a:r>
          </a:p>
          <a:p>
            <a:r>
              <a:t>Figure source: https://doi.org/10.1523/JNEUROSCI.22-20-09078.2002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Herberholz and colleagues held sensory stimulation constant while injecting current into LG. A sensory EPSP that normally remained below firing threshold in an afferent became suprathreshold when LG was depolarized. The imposed LG shift was approximately 10–20 mV at its initial segment.</a:t>
            </a:r>
          </a:p>
          <a:p>
            <a:r>
              <a:t>• The effect cannot be explained solely by adding voltage at the command neuron’s spike-generating membrane. It changed whether a presynaptic sensory axon fired. Current could spread from LG toward coupled afferent terminals, supplementing excitation arriving from neighboring sensory neurons.</a:t>
            </a:r>
          </a:p>
          <a:p>
            <a:r>
              <a:t>• This supports a feedback interaction between the developing LG response and recruitment of its own inputs. It does not establish the natural source of every equivalent depolarization in an intact animal. The causal manipulation was intracellular current injection in an exposed neural preparation.</a:t>
            </a:r>
          </a:p>
          <a:p>
            <a:r>
              <a:t>• Presynaptic and postsynaptic describe the conventional direction of information flow at a connection. Electrical junctions can also pass current opposite that direction, so the postsynaptic cell can influence neurons supplying its input.</a:t>
            </a:r>
          </a:p>
          <a:p/>
          <a:p>
            <a:r>
              <a:t>References:</a:t>
            </a:r>
          </a:p>
          <a:p>
            <a:r>
              <a:t>J. Herberholz; B. L. Antonsen; D. H. Edwards (2002). A lateral excitatory network in the escape circuit of crayfish. Journal of Neuroscience 22(20):9078–9085. https://doi.org/10.1523/JNEUROSCI.22-20-09078.2002</a:t>
            </a:r>
          </a:p>
          <a:p/>
          <a:p>
            <a:r>
              <a:t>Figure: Herberholz et al. (2002), Fig. 5(A,B). Opposite effects of LG depolarization and hyperpolarization.</a:t>
            </a:r>
          </a:p>
          <a:p>
            <a:r>
              <a:t>Figure source: https://doi.org/10.1523/JNEUROSCI.22-20-09078.2002</a:t>
            </a:r>
          </a:p>
          <a:p/>
          <a:p>
            <a:r>
              <a:t>Figure: Herberholz et al. (2002), Fig. 2(B). LG dendritic contacts with primary afferents; original 10 μm scale.</a:t>
            </a:r>
          </a:p>
          <a:p>
            <a:r>
              <a:t>Figure source: https://doi.org/10.1523/JNEUROSCI.22-20-09078.2002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Hyperpolarization shifts membrane voltage in the negative direction relative to its resting level. Herberholz and colleagues injected hyperpolarizing current into LG while presenting the same sensory-nerve stimulus. A previously suprathreshold afferent EPSP then failed to evoke its recruited spike.</a:t>
            </a:r>
          </a:p>
          <a:p>
            <a:r>
              <a:t>• This opposite manipulation complements the depolarization test. The stimulus delivered to the nerve did not need to be weakened to reduce sensory recruitment. LG membrane state altered the excitatory interaction between sensory axons and the command neuron through the electrically coupled circuit.</a:t>
            </a:r>
          </a:p>
          <a:p>
            <a:r>
              <a:t>• The result supports a distributed control of escape excitability rather than a threshold determined only at the final command cell. It does not imply that every LG hyperpolarization has an identical behavioral consequence. Which afferents are near threshold and how strongly they are coupled remain relevant.</a:t>
            </a:r>
          </a:p>
          <a:p>
            <a:r>
              <a:t>• The figure includes both current polarities from the original publication. The comparison retains the same sensory preparation and tests the effect of changing LG voltage rather than changing the external stimulus.</a:t>
            </a:r>
          </a:p>
          <a:p/>
          <a:p>
            <a:r>
              <a:t>References:</a:t>
            </a:r>
          </a:p>
          <a:p>
            <a:r>
              <a:t>J. Herberholz; B. L. Antonsen; D. H. Edwards (2002). A lateral excitatory network in the escape circuit of crayfish. Journal of Neuroscience 22(20):9078–9085. https://doi.org/10.1523/JNEUROSCI.22-20-09078.2002</a:t>
            </a:r>
          </a:p>
          <a:p/>
          <a:p>
            <a:r>
              <a:t>Figure: Herberholz et al. (2002), Fig. 5(B). Reduction of afferent recruitment during LG hyperpolarization.</a:t>
            </a:r>
          </a:p>
          <a:p>
            <a:r>
              <a:t>Figure source: https://doi.org/10.1523/JNEUROSCI.22-20-09078.2002</a:t>
            </a:r>
          </a:p>
          <a:p/>
          <a:p>
            <a:r>
              <a:t>Figure: Herberholz et al. (2002), Fig. 2(B). LG dendritic contacts with primary afferents; original 10 μm scale.</a:t>
            </a:r>
          </a:p>
          <a:p>
            <a:r>
              <a:t>Figure source: https://doi.org/10.1523/JNEUROSCI.22-20-09078.2002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first-order mechanosensory interneuron receives input from primary sensory afferents and can transmit excitation onward to LG. Herberholz and colleagues recorded interneuron A while altering LG voltage by current injection. They compared identical nerve stimuli at rest and during imposed voltage shifts.</a:t>
            </a:r>
          </a:p>
          <a:p>
            <a:r>
              <a:t>• LG depolarization made normally subthreshold interneuron responses generate spikes. Hyperpolarization could suppress a previously evoked spike. The interactions could arise through enhanced afferent recruitment and through current flowing directly from LG toward electrically coupled interneurons.</a:t>
            </a:r>
          </a:p>
          <a:p>
            <a:r>
              <a:t>• The sensory-to-command pathway therefore contains interconnected stages rather than a strictly one-way sequence. These results support feedback-sensitive recruitment but do not isolate the exact contribution of each route in every preparation. Both afferent-network excitation and direct electrical communication must be considered when explaining the recorded effect.</a:t>
            </a:r>
          </a:p>
          <a:p>
            <a:r>
              <a:t>• Interneuron A is an identified sensory interneuron with a known morphology and response pattern. Its recruitment adds the indirect afferent-to-interneuron-to-LG route to the direct afferent-to-LG route.</a:t>
            </a:r>
          </a:p>
          <a:p/>
          <a:p>
            <a:r>
              <a:t>References:</a:t>
            </a:r>
          </a:p>
          <a:p>
            <a:r>
              <a:t>J. Herberholz; B. L. Antonsen; D. H. Edwards (2002). A lateral excitatory network in the escape circuit of crayfish. Journal of Neuroscience 22(20):9078–9085. https://doi.org/10.1523/JNEUROSCI.22-20-09078.2002</a:t>
            </a:r>
          </a:p>
          <a:p/>
          <a:p>
            <a:r>
              <a:t>Figure: Herberholz et al. (2002), Fig. 6(A,B). LG voltage shifts alter the firing of interneuron A.</a:t>
            </a:r>
          </a:p>
          <a:p>
            <a:r>
              <a:t>Figure source: https://doi.org/10.1523/JNEUROSCI.22-20-09078.2002</a:t>
            </a:r>
          </a:p>
          <a:p/>
          <a:p>
            <a:r>
              <a:t>Figure: Herberholz et al. (2002), Fig. 2(B). LG dendritic contacts with primary afferents; original 10 μm scale.</a:t>
            </a:r>
          </a:p>
          <a:p>
            <a:r>
              <a:t>Figure source: https://doi.org/10.1523/JNEUROSCI.22-20-09078.2002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voltage clamp holds a neuron near a commanded membrane voltage while recording the current required to maintain it. Herberholz and colleagues compared LG responses to the same nerve stimulus during current injection and under two-electrode voltage clamp. This separated changes in voltage from changes in synaptic input.</a:t>
            </a:r>
          </a:p>
          <a:p>
            <a:r>
              <a:t>• LG depolarization enlarged the later, interneuron-mediated EPSP component and could bring LG to spike threshold. Under voltage clamp, the corresponding excitatory synaptic current also increased. The added response therefore included recruitment of input rather than merely a shifted starting voltage.</a:t>
            </a:r>
          </a:p>
          <a:p>
            <a:r>
              <a:t>• The result supports amplification within the coupled network. It must be distinguished from the effect of depolarization on an already active individual rectifying junction, which can reduce that junction’s input. Aggregate network recruitment and unitary synaptic transfer are different experimental measurements.</a:t>
            </a:r>
          </a:p>
          <a:p>
            <a:r>
              <a:t>• The alpha component includes the direct afferent pathway; the beta component includes first-order interneuron input. The source uses these labels for compound LG responses, not for two different LG neurons.</a:t>
            </a:r>
          </a:p>
          <a:p/>
          <a:p>
            <a:r>
              <a:t>References:</a:t>
            </a:r>
          </a:p>
          <a:p>
            <a:r>
              <a:t>J. Herberholz; B. L. Antonsen; D. H. Edwards (2002). A lateral excitatory network in the escape circuit of crayfish. Journal of Neuroscience 22(20):9078–9085. https://doi.org/10.1523/JNEUROSCI.22-20-09078.2002</a:t>
            </a:r>
          </a:p>
          <a:p/>
          <a:p>
            <a:r>
              <a:t>Figure: Herberholz et al. (2002), Fig. 7(A,B). LG voltage and synaptic-current responses during depolarization.</a:t>
            </a:r>
          </a:p>
          <a:p>
            <a:r>
              <a:t>Figure source: https://doi.org/10.1523/JNEUROSCI.22-20-09078.2002</a:t>
            </a:r>
          </a:p>
          <a:p/>
          <a:p>
            <a:r>
              <a:t>Figure: Herberholz et al. (2002), Fig. 2(B). LG dendritic contacts with primary afferents; original 10 μm scale.</a:t>
            </a:r>
          </a:p>
          <a:p>
            <a:r>
              <a:t>Figure source: https://doi.org/10.1523/JNEUROSCI.22-20-09078.2002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unitary synaptic response is the response associated with firing of a defined presynaptic neuron. Edwards and colleagues activated interneuron A while recording LG and imposed positive or negative shifts in LG voltage. This controlled presynaptic source differs from stimulating an entire sensory network.</a:t>
            </a:r>
          </a:p>
          <a:p>
            <a:r>
              <a:t>• Hyperpolarizing LG enlarged both the EPSP and measured excitatory synaptic current; depolarizing LG reduced them. At rest, the EPSP peaked within approximately 1 ms and decayed over the following 20 ms. The authors related these changes to voltage-sensitive electrical transmission.</a:t>
            </a:r>
          </a:p>
          <a:p>
            <a:r>
              <a:t>• The result supports a rectifying junction, whose conductance depends on the voltage difference across the connection. It does not contradict enhanced network recruitment during LG depolarization: one experiment measures a fixed unitary input, while the other allows additional afferents and interneurons to become active.</a:t>
            </a:r>
          </a:p>
          <a:p>
            <a:r>
              <a:t>• Conductance describes how readily current passes through a membrane or junction. A rectifying electrical synapse is not a fixed resistor: the relative voltages of its two cells influence the amount and direction of current.</a:t>
            </a:r>
          </a:p>
          <a:p/>
          <a:p>
            <a:r>
              <a:t>References:</a:t>
            </a:r>
          </a:p>
          <a:p>
            <a:r>
              <a:t>D. H. Edwards; W. J. Heitler; E. M. Leise; R. A. Fricke (1991). Postsynaptic modulation of rectifying electrical synaptic inputs to the LG escape command neuron in crayfish. Journal of Neuroscience 11(7):2117–2129. https://doi.org/10.1523/JNEUROSCI.11-07-02117.1991</a:t>
            </a:r>
          </a:p>
          <a:p>
            <a:r>
              <a:t>J. Herberholz; B. L. Antonsen; D. H. Edwards (2002). A lateral excitatory network in the escape circuit of crayfish. Journal of Neuroscience 22(20):9078–9085. https://doi.org/10.1523/JNEUROSCI.22-20-09078.2002</a:t>
            </a:r>
          </a:p>
          <a:p/>
          <a:p>
            <a:r>
              <a:t>Figure: Edwards et al. (1991), Fig. 3(A–D). Interneuron A transmission and voltage-dependent LG responses.</a:t>
            </a:r>
          </a:p>
          <a:p>
            <a:r>
              <a:t>Figure source: https://doi.org/10.1523/JNEUROSCI.11-07-02117.1991</a:t>
            </a:r>
          </a:p>
          <a:p/>
          <a:p>
            <a:r>
              <a:t>Figure: Herberholz et al. (2002), Fig. 2(B). LG dendritic contacts with primary afferents; original 10 μm scale.</a:t>
            </a:r>
          </a:p>
          <a:p>
            <a:r>
              <a:t>Figure source: https://doi.org/10.1523/JNEUROSCI.22-20-09078.2002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Orthodromic transmission follows the usual sensory-to-command direction, while antidromic transmission proceeds in the reverse direction. Edwards and colleagues recorded interneuron A while shifting LG voltage or evoking an LG action potential. They tested electrical communication in both directions across the same connection.</a:t>
            </a:r>
          </a:p>
          <a:p>
            <a:r>
              <a:t>• Steady hyperpolarization of LG spread into interneuron A, whereas steady LG depolarization transferred much less effectively. An LG spike produced an antidromic synaptic potential whose amplitude changed when the interneuron was depolarized or hyperpolarized. These observations support voltage-dependent coupling rather than absolute one-way isolation.</a:t>
            </a:r>
          </a:p>
          <a:p>
            <a:r>
              <a:t>• Rectification therefore biases transmission without preventing all reverse influence. The measured membrane effects do not identify the junctional channel proteins. Their interpretation concerns physiological properties of the connection and must remain separate from an untested molecular explanation of its asymmetry.</a:t>
            </a:r>
          </a:p>
          <a:p>
            <a:r>
              <a:t>• The paper controlled LG voltage with separate current-injection and recording electrodes. This reduces confusion between a true change in neuronal membrane potential and a voltage drop across the electrode itself.</a:t>
            </a:r>
          </a:p>
          <a:p/>
          <a:p>
            <a:r>
              <a:t>References:</a:t>
            </a:r>
          </a:p>
          <a:p>
            <a:r>
              <a:t>D. H. Edwards; W. J. Heitler; E. M. Leise; R. A. Fricke (1991). Postsynaptic modulation of rectifying electrical synaptic inputs to the LG escape command neuron in crayfish. Journal of Neuroscience 11(7):2117–2129. https://doi.org/10.1523/JNEUROSCI.11-07-02117.1991</a:t>
            </a:r>
          </a:p>
          <a:p>
            <a:r>
              <a:t>J. Herberholz; B. L. Antonsen; D. H. Edwards (2002). A lateral excitatory network in the escape circuit of crayfish. Journal of Neuroscience 22(20):9078–9085. https://doi.org/10.1523/JNEUROSCI.22-20-09078.2002</a:t>
            </a:r>
          </a:p>
          <a:p/>
          <a:p>
            <a:r>
              <a:t>Figure: Edwards et al. (1991), Fig. 4(A–C). Reverse transfer from LG to interneuron A.</a:t>
            </a:r>
          </a:p>
          <a:p>
            <a:r>
              <a:t>Figure source: https://doi.org/10.1523/JNEUROSCI.11-07-02117.1991</a:t>
            </a:r>
          </a:p>
          <a:p/>
          <a:p>
            <a:r>
              <a:t>Figure: Herberholz et al. (2002), Fig. 2(B). LG dendritic contacts with primary afferents; original 10 μm scale.</a:t>
            </a:r>
          </a:p>
          <a:p>
            <a:r>
              <a:t>Figure source: https://doi.org/10.1523/JNEUROSCI.22-20-09078.2002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Coincidence detection is preferential responsiveness to inputs arriving at nearly the same time. Edwards and colleagues stimulated two sensory nerves of the terminal ganglion in isolated juvenile crayfish preparations. Each nerve evoked a subthreshold LG EPSP, and paired shocks were presented with systematically varied delays.</a:t>
            </a:r>
          </a:p>
          <a:p>
            <a:r>
              <a:t>• Changing the relative delay from about 100 μs on one side of coincidence to about 100 μs on the other changed peak EPSP amplitude markedly. Across preparations, separating inputs by 0.1 ms reduced the normalized response relative to coincidence. The compound response was especially sensitive near zero relative delay.</a:t>
            </a:r>
          </a:p>
          <a:p>
            <a:r>
              <a:t>• The experiment establishes very precise timing sensitivity in sensory input to LG. It does not measure the timing of natural receptor spikes during every predator encounter. Nerve shocks synchronize recruited axons and provide a controlled test of the central integration mechanism.</a:t>
            </a:r>
          </a:p>
          <a:p>
            <a:r>
              <a:t>• The Greek μ in the original article denotes microseconds. One hundred microseconds is 0.1 ms, rather than the 100 ms that can appear in faulty text extraction from this PDF.</a:t>
            </a:r>
          </a:p>
          <a:p/>
          <a:p>
            <a:r>
              <a:t>References:</a:t>
            </a:r>
          </a:p>
          <a:p>
            <a:r>
              <a:t>D. H. Edwards; S.-R. Yeh; F. B. Krasne (1998). Neuronal coincidence detection by voltage-sensitive electrical synapses. Proceedings of the National Academy of Sciences USA 95(12):7145–7150. https://doi.org/10.1073/pnas.95.12.7145</a:t>
            </a:r>
          </a:p>
          <a:p>
            <a:r>
              <a:t>J. Herberholz; B. L. Antonsen; D. H. Edwards (2002). A lateral excitatory network in the escape circuit of crayfish. Journal of Neuroscience 22(20):9078–9085. https://doi.org/10.1523/JNEUROSCI.22-20-09078.2002</a:t>
            </a:r>
          </a:p>
          <a:p/>
          <a:p>
            <a:r>
              <a:t>Figure: Edwards et al. (1998), Fig. 3(B). LG EPSP amplitude as a function of sensory-input delay.</a:t>
            </a:r>
          </a:p>
          <a:p>
            <a:r>
              <a:t>Figure source: https://doi.org/10.1073/pnas.95.12.7145</a:t>
            </a:r>
          </a:p>
          <a:p/>
          <a:p>
            <a:r>
              <a:t>Figure: Herberholz et al. (2002), Fig. 2(B). LG dendritic contacts with primary afferents; original 10 μm scale.</a:t>
            </a:r>
          </a:p>
          <a:p>
            <a:r>
              <a:t>Figure source: https://doi.org/10.1523/JNEUROSCI.22-20-09078.2002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Edwards and colleagues asked whether precise timing sensitivity required excitation through sensory interneurons. They isolated the early alpha component, dominated by direct afferent-to-LG electrical input, either by weakening the nerve stimuli or by blocking nicotinic transmission with mecamylamine.</a:t>
            </a:r>
          </a:p>
          <a:p>
            <a:r>
              <a:t>• Acetylcholine is the transmitter implicated at the afferent-to-interneuron chemical synapses; a nicotinic receptor is an acetylcholine-gated ion channel. Mecamylamine reduced this chemical route. Even after the indirect pathway was suppressed, the alpha response remained largest for coincident inputs and declined with increasing delay.</a:t>
            </a:r>
          </a:p>
          <a:p>
            <a:r>
              <a:t>• The result supports coincidence selectivity within the direct electrical pathway. It does not imply that chemical sensory synapses are irrelevant to escape in the intact animal. They normally contribute additional excitation, while the pharmacological comparison isolates a specific mechanism of temporal integration.</a:t>
            </a:r>
          </a:p>
          <a:p>
            <a:r>
              <a:t>• The source reports 50 μM mecamylamine in the pharmacological isolation test. That concentration blocks nicotinic transmission in this preparation; the experiment does not establish that every crayfish chemical synapse is cholinergic.</a:t>
            </a:r>
          </a:p>
          <a:p/>
          <a:p>
            <a:r>
              <a:t>References:</a:t>
            </a:r>
          </a:p>
          <a:p>
            <a:r>
              <a:t>D. H. Edwards; S.-R. Yeh; F. B. Krasne (1998). Neuronal coincidence detection by voltage-sensitive electrical synapses. Proceedings of the National Academy of Sciences USA 95(12):7145–7150. https://doi.org/10.1073/pnas.95.12.7145</a:t>
            </a:r>
          </a:p>
          <a:p>
            <a:r>
              <a:t>J. Herberholz; B. L. Antonsen; D. H. Edwards (2002). A lateral excitatory network in the escape circuit of crayfish. Journal of Neuroscience 22(20):9078–9085. https://doi.org/10.1523/JNEUROSCI.22-20-09078.2002</a:t>
            </a:r>
          </a:p>
          <a:p/>
          <a:p>
            <a:r>
              <a:t>Figure: Edwards et al. (1998), Fig. 4(A–C). Timing sensitivity of full, alpha-only, and picrotoxin-treated responses.</a:t>
            </a:r>
          </a:p>
          <a:p>
            <a:r>
              <a:t>Figure source: https://doi.org/10.1073/pnas.95.12.7145</a:t>
            </a:r>
          </a:p>
          <a:p/>
          <a:p>
            <a:r>
              <a:t>Figure: Herberholz et al. (2002), Fig. 2(B). LG dendritic contacts with primary afferents; original 10 μm scale.</a:t>
            </a:r>
          </a:p>
          <a:p>
            <a:r>
              <a:t>Figure source: https://doi.org/10.1523/JNEUROSCI.22-20-09078.2002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Picrotoxin blocks the inhibitory channel mechanisms tested in these crayfish preparations. Edwards and colleagues applied 10 μM picrotoxin while comparing paired nerve inputs at different delays. They tested whether delayed inhibition could account for the very narrow coincidence peak.</a:t>
            </a:r>
          </a:p>
          <a:p>
            <a:r>
              <a:t>• Coincidence sensitivity remained and was sharper during picrotoxin treatment. Delays of 50 μs produced a measurable decrease from the coincident response, and larger delays exceeded that reduction. This timing is much shorter than the several milliseconds needed for the delayed feed-forward inhibition examined in separate experiments.</a:t>
            </a:r>
          </a:p>
          <a:p>
            <a:r>
              <a:t>• The result argues against that inhibitory pathway being necessary for the fastest selectivity. It does not eliminate inhibition’s contribution to later sensory filtering. The drug comparison distinguishes mechanisms acting on different timescales rather than establishing that the escape pathway lacks inhibitory synapses.</a:t>
            </a:r>
          </a:p>
          <a:p>
            <a:r>
              <a:t>• Feed-forward inhibition occurs when sensory excitation also recruits an inhibitory pathway to the target neuron. It can curtail later excitation even when the first fractions of a millisecond are filtered by electrical-junction properties.</a:t>
            </a:r>
          </a:p>
          <a:p/>
          <a:p>
            <a:r>
              <a:t>References:</a:t>
            </a:r>
          </a:p>
          <a:p>
            <a:r>
              <a:t>D. H. Edwards; S.-R. Yeh; F. B. Krasne (1998). Neuronal coincidence detection by voltage-sensitive electrical synapses. Proceedings of the National Academy of Sciences USA 95(12):7145–7150. https://doi.org/10.1073/pnas.95.12.7145</a:t>
            </a:r>
          </a:p>
          <a:p>
            <a:r>
              <a:t>J. Herberholz; B. L. Antonsen; D. H. Edwards (2002). A lateral excitatory network in the escape circuit of crayfish. Journal of Neuroscience 22(20):9078–9085. https://doi.org/10.1523/JNEUROSCI.22-20-09078.2002</a:t>
            </a:r>
          </a:p>
          <a:p/>
          <a:p>
            <a:r>
              <a:t>Figure: Edwards et al. (1998), Fig. 4(C). Coincidence sensitivity during picrotoxin superfusion.</a:t>
            </a:r>
          </a:p>
          <a:p>
            <a:r>
              <a:t>Figure source: https://doi.org/10.1073/pnas.95.12.7145</a:t>
            </a:r>
          </a:p>
          <a:p/>
          <a:p>
            <a:r>
              <a:t>Figure: Herberholz et al. (2002), Fig. 2(B). LG dendritic contacts with primary afferents; original 10 μm scale.</a:t>
            </a:r>
          </a:p>
          <a:p>
            <a:r>
              <a:t>Figure source: https://doi.org/10.1523/JNEUROSCI.22-20-09078.2002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Edwards and colleagues proposed two interacting consequences of rectifying electrical input. An early LG depolarization reduces the voltage difference that would open a later junction. Junctions already opened by the first afferent volley can also conduct current away from the postsynaptic neuron as those afferents repolarize.</a:t>
            </a:r>
          </a:p>
          <a:p>
            <a:r>
              <a:t>• Their computational comparisons reproduced reduced summation for short input delays with voltage-sensitive junctions. The experimental nerve-pair data confirmed sharp coincidence sensitivity, including a decrease for 0.1 ms separation. Shunting means diverting current through an available conductance so that it contributes less to the desired voltage response.</a:t>
            </a:r>
          </a:p>
          <a:p>
            <a:r>
              <a:t>• The model supplies a mechanistic account consistent with the recordings, not a direct measurement of every individual gap-junction current in vivo. Its assumed channel kinetics must remain distinguishable from the physiological evidence for timing-dependent EPSP reduction.</a:t>
            </a:r>
          </a:p>
          <a:p>
            <a:r>
              <a:t>• Repolarization is the return of a depolarized membrane toward its resting voltage. An open electrical connection can change its current direction as the voltage difference reverses; rectification does not prevent this while the junction remains conductive.</a:t>
            </a:r>
          </a:p>
          <a:p/>
          <a:p>
            <a:r>
              <a:t>References:</a:t>
            </a:r>
          </a:p>
          <a:p>
            <a:r>
              <a:t>D. H. Edwards; S.-R. Yeh; F. B. Krasne (1998). Neuronal coincidence detection by voltage-sensitive electrical synapses. Proceedings of the National Academy of Sciences USA 95(12):7145–7150. https://doi.org/10.1073/pnas.95.12.7145</a:t>
            </a:r>
          </a:p>
          <a:p>
            <a:r>
              <a:t>J. Herberholz; B. L. Antonsen; D. H. Edwards (2002). A lateral excitatory network in the escape circuit of crayfish. Journal of Neuroscience 22(20):9078–9085. https://doi.org/10.1523/JNEUROSCI.22-20-09078.2002</a:t>
            </a:r>
          </a:p>
          <a:p/>
          <a:p>
            <a:r>
              <a:t>Figure: Edwards et al. (1998), Fig. 3(B). Measured timing sensitivity used to test the rectifying-junction account.</a:t>
            </a:r>
          </a:p>
          <a:p>
            <a:r>
              <a:t>Figure source: https://doi.org/10.1073/pnas.95.12.7145</a:t>
            </a:r>
          </a:p>
          <a:p/>
          <a:p>
            <a:r>
              <a:t>Figure: Herberholz et al. (2002), Fig. 2(B). LG dendritic contacts with primary afferents; original 10 μm scale.</a:t>
            </a:r>
          </a:p>
          <a:p>
            <a:r>
              <a:t>Figure source: https://doi.org/10.1523/JNEUROSCI.22-20-09078.2002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Postexcitatory inhibition, or PEI, is inhibition that follows the early excitation evoked by sensory input. Vu and colleagues recorded LG in isolated crayfish abdomens and stimulated sensory roots. They compared the compound response before and during picrotoxin application.</a:t>
            </a:r>
          </a:p>
          <a:p>
            <a:r>
              <a:t>• The alpha and initial beta peaks changed relatively little at the tested dose, while the later falling response was enlarged or prolonged. The effect emerged after the early excitatory components, consistent with delayed inhibitory action. The experimental preparation excluded movement by cutting motor roots.</a:t>
            </a:r>
          </a:p>
          <a:p>
            <a:r>
              <a:t>• This supports a sensory-evoked inhibitory process that limits later LG excitation. Drug-induced enlargement alone does not establish its exact cellular location, because disinhibition could also affect upstream sensory neurons. The study therefore tested responses to defined input and injected currents within LG itself.</a:t>
            </a:r>
          </a:p>
          <a:p>
            <a:r>
              <a:t>• The original paper reports the effective picrotoxin range as 7–10 μM. Inhibitory pharmacology is interpreted together with the current-injection controls, rather than using one altered waveform to assign a complete circuit.</a:t>
            </a:r>
          </a:p>
          <a:p/>
          <a:p>
            <a:r>
              <a:t>References:</a:t>
            </a:r>
          </a:p>
          <a:p>
            <a:r>
              <a:t>E. T. Vu; A. Berkowitz; F. B. Krasne (1997). Postexcitatory inhibition of the crayfish lateral giant neuron: a mechanism for sensory temporal filtering. Journal of Neuroscience 17(22):8867–8879. https://doi.org/10.1523/JNEUROSCI.17-22-08867.1997</a:t>
            </a:r>
          </a:p>
          <a:p>
            <a:r>
              <a:t>J. Herberholz; B. L. Antonsen; D. H. Edwards (2002). A lateral excitatory network in the escape circuit of crayfish. Journal of Neuroscience 22(20):9078–9085. https://doi.org/10.1523/JNEUROSCI.22-20-09078.2002</a:t>
            </a:r>
          </a:p>
          <a:p/>
          <a:p>
            <a:r>
              <a:t>Figure: Vu et al. (1997), Fig. 2(A,B). Picrotoxin changes the late portion of a root-evoked LG response.</a:t>
            </a:r>
          </a:p>
          <a:p>
            <a:r>
              <a:t>Figure source: https://doi.org/10.1523/JNEUROSCI.17-22-08867.1997</a:t>
            </a:r>
          </a:p>
          <a:p/>
          <a:p>
            <a:r>
              <a:t>Figure: Herberholz et al. (2002), Fig. 2(B). LG dendritic contacts with primary afferents; original 10 μm scale.</a:t>
            </a:r>
          </a:p>
          <a:p>
            <a:r>
              <a:t>Figure source: https://doi.org/10.1523/JNEUROSCI.22-20-09078.2002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Vu and colleagues evoked a defined electrical EPSP by directly stimulating interneuron A. They compared this test response alone with the same response delivered during a sensory-root-evoked LG potential. The selected sensory root did not itself fire interneuron A in the tested ganglia.</a:t>
            </a:r>
          </a:p>
          <a:p>
            <a:r>
              <a:t>• The test EPSP was strongly reduced after the beta peak of the compound response. At an 8 ms delay from the root shock, its average reduction was approximately 47%. Because the experiment directly controlled the presynaptic test spike, failure to recruit that interneuron was not a sufficient explanation.</a:t>
            </a:r>
          </a:p>
          <a:p>
            <a:r>
              <a:t>• The result supports attenuation at or near the postsynaptic integration stage. It does not assign all attenuation to PEI: electrical-junction voltage dependence and presynaptic shunting can also reduce the test EPSP. Further pharmacological and conductance measurements separated these contributions.</a:t>
            </a:r>
          </a:p>
          <a:p>
            <a:r>
              <a:t>• The experiment avoids refractoriness of the test interneuron caused by the initial root stimulus. A refractory interval is a period after a spike when a neuron cannot fire again normally; here the test spike was separately evoked.</a:t>
            </a:r>
          </a:p>
          <a:p/>
          <a:p>
            <a:r>
              <a:t>References:</a:t>
            </a:r>
          </a:p>
          <a:p>
            <a:r>
              <a:t>E. T. Vu; A. Berkowitz; F. B. Krasne (1997). Postexcitatory inhibition of the crayfish lateral giant neuron: a mechanism for sensory temporal filtering. Journal of Neuroscience 17(22):8867–8879. https://doi.org/10.1523/JNEUROSCI.17-22-08867.1997</a:t>
            </a:r>
          </a:p>
          <a:p>
            <a:r>
              <a:t>J. Herberholz; B. L. Antonsen; D. H. Edwards (2002). A lateral excitatory network in the escape circuit of crayfish. Journal of Neuroscience 22(20):9078–9085. https://doi.org/10.1523/JNEUROSCI.22-20-09078.2002</a:t>
            </a:r>
          </a:p>
          <a:p/>
          <a:p>
            <a:r>
              <a:t>Figure: Vu et al. (1997), Fig. 3(A,B). Reduction of an interneuron A test EPSP at different delays.</a:t>
            </a:r>
          </a:p>
          <a:p>
            <a:r>
              <a:t>Figure source: https://doi.org/10.1523/JNEUROSCI.17-22-08867.1997</a:t>
            </a:r>
          </a:p>
          <a:p/>
          <a:p>
            <a:r>
              <a:t>Figure: Herberholz et al. (2002), Fig. 2(B). LG dendritic contacts with primary afferents; original 10 μm scale.</a:t>
            </a:r>
          </a:p>
          <a:p>
            <a:r>
              <a:t>Figure source: https://doi.org/10.1523/JNEUROSCI.22-20-09078.2002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Vu and colleagues repeated the interneuron A test during picrotoxin exposure. The test spike was timed so its LG EPSP occurred 8 ms after a sensory-root stimulus. The control comparison retained the same type of defined presynaptic input and compound LG response.</a:t>
            </a:r>
          </a:p>
          <a:p>
            <a:r>
              <a:t>• Picrotoxin reduced the average attenuation from approximately 47% to approximately 18%. This pharmacological release supports a substantial inhibitory contribution to the reduction after the early excitatory peak. The tested drug concentration did not alter LG’s resting voltage or resting input resistance appreciably.</a:t>
            </a:r>
          </a:p>
          <a:p>
            <a:r>
              <a:t>• The remaining attenuation prevents attributing the whole effect to one inhibitory mechanism. Voltage-sensitive electrical transmission and other concurrent conductances can still reduce an EPSP. Partial, slow washout also limits a simple assumption that drug effects are immediately reversible under every recording condition.</a:t>
            </a:r>
          </a:p>
          <a:p>
            <a:r>
              <a:t>• An antagonist reduces the action of a receptor or channel-mediated process. Picrotoxin acts on inhibitory channel function in this experiment; attenuation remaining during its application requires an explanation beyond complete removal of one GABAergic component.</a:t>
            </a:r>
          </a:p>
          <a:p/>
          <a:p>
            <a:r>
              <a:t>References:</a:t>
            </a:r>
          </a:p>
          <a:p>
            <a:r>
              <a:t>E. T. Vu; A. Berkowitz; F. B. Krasne (1997). Postexcitatory inhibition of the crayfish lateral giant neuron: a mechanism for sensory temporal filtering. Journal of Neuroscience 17(22):8867–8879. https://doi.org/10.1523/JNEUROSCI.17-22-08867.1997</a:t>
            </a:r>
          </a:p>
          <a:p>
            <a:r>
              <a:t>J. Herberholz; B. L. Antonsen; D. H. Edwards (2002). A lateral excitatory network in the escape circuit of crayfish. Journal of Neuroscience 22(20):9078–9085. https://doi.org/10.1523/JNEUROSCI.22-20-09078.2002</a:t>
            </a:r>
          </a:p>
          <a:p/>
          <a:p>
            <a:r>
              <a:t>Figure: Vu et al. (1997), Fig. 5(A,B). Test-EPSP attenuation before and during picrotoxin treatment.</a:t>
            </a:r>
          </a:p>
          <a:p>
            <a:r>
              <a:t>Figure source: https://doi.org/10.1523/JNEUROSCI.17-22-08867.1997</a:t>
            </a:r>
          </a:p>
          <a:p/>
          <a:p>
            <a:r>
              <a:t>Figure: Herberholz et al. (2002), Fig. 2(B). LG dendritic contacts with primary afferents; original 10 μm scale.</a:t>
            </a:r>
          </a:p>
          <a:p>
            <a:r>
              <a:t>Figure source: https://doi.org/10.1523/JNEUROSCI.22-20-09078.2002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Input resistance is the voltage response produced by an injected current, expressed relative to that current. A smaller response to the same current indicates that more current can escape through membrane conductance. Vu and colleagues measured this property during the sensory-evoked LG potential.</a:t>
            </a:r>
          </a:p>
          <a:p>
            <a:r>
              <a:t>• Current injected into one LG or its electrically coupled counterpart produced less voltage during the late response. Picrotoxin removed much of that reduction, particularly after the beta peak. The result supports an inhibitory conductance increase rather than simply withdrawal of an excitatory input.</a:t>
            </a:r>
          </a:p>
          <a:p>
            <a:r>
              <a:t>• GABA, gamma-aminobutyric acid, is the inhibitory transmitter implicated by the anatomy and pharmacology. GABA-associated chloride conductance can shunt excitation even when its reversal potential produces some depolarization. Thus the direction of a voltage change alone does not determine whether its net effect promotes firing.</a:t>
            </a:r>
          </a:p>
          <a:p>
            <a:r>
              <a:t>• A reversal potential is the membrane voltage at which the net current through a particular conductance changes direction. The study found the PEI reversal level more positive than rest but below spike threshold, consistent with depolarizing inhibition.</a:t>
            </a:r>
          </a:p>
          <a:p/>
          <a:p>
            <a:r>
              <a:t>References:</a:t>
            </a:r>
          </a:p>
          <a:p>
            <a:r>
              <a:t>E. T. Vu; A. Berkowitz; F. B. Krasne (1997). Postexcitatory inhibition of the crayfish lateral giant neuron: a mechanism for sensory temporal filtering. Journal of Neuroscience 17(22):8867–8879. https://doi.org/10.1523/JNEUROSCI.17-22-08867.1997</a:t>
            </a:r>
          </a:p>
          <a:p>
            <a:r>
              <a:t>J. Herberholz; B. L. Antonsen; D. H. Edwards (2002). A lateral excitatory network in the escape circuit of crayfish. Journal of Neuroscience 22(20):9078–9085. https://doi.org/10.1523/JNEUROSCI.22-20-09078.2002</a:t>
            </a:r>
          </a:p>
          <a:p/>
          <a:p>
            <a:r>
              <a:t>Figure: Vu et al. (1997), Fig. 6(A,B). Reduced attenuation of injected-current responses during picrotoxin.</a:t>
            </a:r>
          </a:p>
          <a:p>
            <a:r>
              <a:t>Figure source: https://doi.org/10.1523/JNEUROSCI.17-22-08867.1997</a:t>
            </a:r>
          </a:p>
          <a:p/>
          <a:p>
            <a:r>
              <a:t>Figure: Herberholz et al. (2002), Fig. 2(B). LG dendritic contacts with primary afferents; original 10 μm scale.</a:t>
            </a:r>
          </a:p>
          <a:p>
            <a:r>
              <a:t>Figure source: https://doi.org/10.1523/JNEUROSCI.22-20-09078.2002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Vu and colleagues compared pairs of sensory-root shocks separated by 8 ms. The second shock was delivered either to the same root or to a different root in the same ganglion. These roots supply partly distinct dendritic regions, allowing a test of spatial specificity.</a:t>
            </a:r>
          </a:p>
          <a:p>
            <a:r>
              <a:t>• The second compound response was attenuated more strongly in the same-root condition. Both local PEI and reduced chemical sensory transmission could contribute. Cadmium-containing saline suppressed the chemical component, providing a control for attenuation caused by its fatigue rather than by inhibition alone.</a:t>
            </a:r>
          </a:p>
          <a:p>
            <a:r>
              <a:t>• The results support a partly localized dendritic inhibitory process, rather than uniform suppression of all LG input. They do not establish one identified inhibitory neuron for each receptor. The paper proposed alternative local arrangements of inhibitory neurons, which remain different from directly observed anatomical wiring.</a:t>
            </a:r>
          </a:p>
          <a:p>
            <a:r>
              <a:t>• Distal dendritic inhibition can suppress sensory input where it enters LG. Recurrent inhibition near the spike-generating region has a different spatial effect, so the two inhibitory processes should not be treated as identical.</a:t>
            </a:r>
          </a:p>
          <a:p/>
          <a:p>
            <a:r>
              <a:t>References:</a:t>
            </a:r>
          </a:p>
          <a:p>
            <a:r>
              <a:t>E. T. Vu; A. Berkowitz; F. B. Krasne (1997). Postexcitatory inhibition of the crayfish lateral giant neuron: a mechanism for sensory temporal filtering. Journal of Neuroscience 17(22):8867–8879. https://doi.org/10.1523/JNEUROSCI.17-22-08867.1997</a:t>
            </a:r>
          </a:p>
          <a:p>
            <a:r>
              <a:t>J. Herberholz; B. L. Antonsen; D. H. Edwards (2002). A lateral excitatory network in the escape circuit of crayfish. Journal of Neuroscience 22(20):9078–9085. https://doi.org/10.1523/JNEUROSCI.22-20-09078.2002</a:t>
            </a:r>
          </a:p>
          <a:p/>
          <a:p>
            <a:r>
              <a:t>Figure: Vu et al. (1997), Fig. 11(A–E). Comparison of repeated same-root and different-root stimuli.</a:t>
            </a:r>
          </a:p>
          <a:p>
            <a:r>
              <a:t>Figure source: https://doi.org/10.1523/JNEUROSCI.17-22-08867.1997</a:t>
            </a:r>
          </a:p>
          <a:p/>
          <a:p>
            <a:r>
              <a:t>Figure: Herberholz et al. (2002), Fig. 2(B). LG dendritic contacts with primary afferents; original 10 μm scale.</a:t>
            </a:r>
          </a:p>
          <a:p>
            <a:r>
              <a:t>Figure source: https://doi.org/10.1523/JNEUROSCI.22-20-09078.2002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segmental giant, or SG, is a relay neuron through which giant-fiber activity excites many fast-flexor motor neurons. Fraser and Heitler filled SG with Lucifer Yellow and illuminated it to disrupt its function. This photoinactivation allowed them to test pathways normally obscured by the relay’s strong output.</a:t>
            </a:r>
          </a:p>
          <a:p>
            <a:r>
              <a:t>• As illumination continued, SG spikes broadened, developed long depolarized plateaus, and eventually failed. Giant-fiber stimulation no longer produced the normal strong fast-flexor response through the affected SG. Some residual input persisted, suggesting an additional connection rather than complete dependence on one relay.</a:t>
            </a:r>
          </a:p>
          <a:p>
            <a:r>
              <a:t>• Selective disruption supplies causal evidence about SG’s contribution. The evolving plateau can temporarily alter other electrically coupled cells, so intermediate stages are not equivalent to a clean instantaneous deletion. The study checked SG responsiveness before interpreting the residual motor input.</a:t>
            </a:r>
          </a:p>
          <a:p>
            <a:r>
              <a:t>• A motor neuron carries its axon out of the central nervous system toward an effector. SG has unusual motor-neuron-like anatomy but functions as an internal relay; the fast-flexor cells provide motor output to abdominal muscles.</a:t>
            </a:r>
          </a:p>
          <a:p/>
          <a:p>
            <a:r>
              <a:t>References:</a:t>
            </a:r>
          </a:p>
          <a:p>
            <a:r>
              <a:t>K. Fraser; W. J. Heitler (1991). Photoinactivation of the crayfish segmental giant neuron reveals a direct giant-fiber to fast-flexor connection with a chemical component. Journal of Neuroscience 11(1):59–71. https://doi.org/10.1523/JNEUROSCI.11-01-00059.1991</a:t>
            </a:r>
          </a:p>
          <a:p/>
          <a:p>
            <a:r>
              <a:t>Figure: Fraser &amp; Heitler (1991), Fig. 1(A–C). Recordings before and during dye-mediated segmental-giant inactivation.</a:t>
            </a:r>
          </a:p>
          <a:p>
            <a:r>
              <a:t>Figure source: https://doi.org/10.1523/JNEUROSCI.11-01-00059.1991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Fraser and Heitler photoinactivated SG on both sides of an abdominal ganglion. Removing only one SG would leave a contralateral route capable of exciting the recorded fast-flexor motor neuron. Bilateral manipulation therefore controlled an important parallel pathway.</a:t>
            </a:r>
          </a:p>
          <a:p>
            <a:r>
              <a:t>• After both SGs failed, LG stimulation still evoked a smaller fast-flexor EPSP. Injected current into LG could also spread to the motor neuron, especially for hyperpolarizing current, supporting an electrical component. The remaining response had a much shorter route than the usual giant-fiber-to-SG-to-motor-neuron pathway.</a:t>
            </a:r>
          </a:p>
          <a:p>
            <a:r>
              <a:t>• The experiment supports direct input beyond the dominant relay route. It does not imply that this small pathway alone normally produces a full escape. The intact circuit combines direct motor-giant activation, SG-mediated recruitment, and additional fast-flexor input; selectively removing SG reveals only part of that organization.</a:t>
            </a:r>
          </a:p>
          <a:p>
            <a:r>
              <a:t>• The motor giant, MoG, is a specialized abdominal flexor motor neuron with a powerful electrical input from the giant fibers. It is distinct from SG and from the broader group of nongiant fast-flexor motor neurons.</a:t>
            </a:r>
          </a:p>
          <a:p/>
          <a:p>
            <a:r>
              <a:t>References:</a:t>
            </a:r>
          </a:p>
          <a:p>
            <a:r>
              <a:t>K. Fraser; W. J. Heitler (1991). Photoinactivation of the crayfish segmental giant neuron reveals a direct giant-fiber to fast-flexor connection with a chemical component. Journal of Neuroscience 11(1):59–71. https://doi.org/10.1523/JNEUROSCI.11-01-00059.1991</a:t>
            </a:r>
          </a:p>
          <a:p/>
          <a:p>
            <a:r>
              <a:t>Figure: Fraser &amp; Heitler (1991), Fig. 2(A–C). Residual LG-to-fast-flexor responses after bilateral SG inactivation.</a:t>
            </a:r>
          </a:p>
          <a:p>
            <a:r>
              <a:t>Figure source: https://doi.org/10.1523/JNEUROSCI.11-01-00059.1991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Fraser and Heitler compared LG and MG responses in fast-flexor neurons after bilateral SG photoinactivation. Both giants normally recruit the relay, so intact recordings can obscure differences in their direct output. The experiment compared the pathways under the same relay-removal condition.</a:t>
            </a:r>
          </a:p>
          <a:p>
            <a:r>
              <a:t>• In anterior abdominal ganglia, LG retained appreciable direct excitatory input to fast-flexor neurons, whereas MG produced little or no comparable effect. The residual LG input declined toward posterior ganglia. These segmental differences parallel the distinct motor consequences of activating the two giant systems.</a:t>
            </a:r>
          </a:p>
          <a:p>
            <a:r>
              <a:t>• The result supports unequal output connectivity beneath the shared SG pathway. It does not reconstruct the circuit’s evolutionary history from physiology alone. The authors proposed an ancestral interpretation, but the measured evidence is the spatial distribution of residual synaptic effects in the manipulated living circuit.</a:t>
            </a:r>
          </a:p>
          <a:p>
            <a:r>
              <a:t>• A monosynaptic pathway crosses one synaptic connection; a disynaptic pathway crosses two. SG photoinactivation separates the dominant disynaptic relay contribution from a smaller direct connection, rather than proving that every remaining signal has one universal amplitude.</a:t>
            </a:r>
          </a:p>
          <a:p/>
          <a:p>
            <a:r>
              <a:t>References:</a:t>
            </a:r>
          </a:p>
          <a:p>
            <a:r>
              <a:t>K. Fraser; W. J. Heitler (1991). Photoinactivation of the crayfish segmental giant neuron reveals a direct giant-fiber to fast-flexor connection with a chemical component. Journal of Neuroscience 11(1):59–71. https://doi.org/10.1523/JNEUROSCI.11-01-00059.1991</a:t>
            </a:r>
          </a:p>
          <a:p/>
          <a:p>
            <a:r>
              <a:t>Figure: Fraser &amp; Heitler (1991), Fig. 4(A,B). Comparisons of LG and MG input after SG removal.</a:t>
            </a:r>
          </a:p>
          <a:p>
            <a:r>
              <a:t>Figure source: https://doi.org/10.1523/JNEUROSCI.11-01-00059.1991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chemical synapse releases a transmitter that acts on receptors of another cell, rather than transferring current directly through a junction. Fraser and Heitler tested the residual LG-to-fast-flexor input with cadmium after removing SG. Cadmium interferes with calcium-dependent transmitter release but can also affect other cellular properties.</a:t>
            </a:r>
          </a:p>
          <a:p>
            <a:r>
              <a:t>• At millimolar cadmium concentrations, the residual fast-flexor EPSP decreased while the obligatory electrical giant-fiber-to-motor-giant spike transmission persisted. The authors also checked antidromic fast-flexor spikes, which were not comparably lost. These controls distinguish reduced chemical input from complete failure of axonal conduction.</a:t>
            </a:r>
          </a:p>
          <a:p>
            <a:r>
              <a:t>• The findings support a chemical component alongside electrical coupling. They do not identify the released transmitter or its receptor subtype. Cadmium’s effects on spike duration and other membrane currents also require control, so pharmacology alone is not a complete molecular identification.</a:t>
            </a:r>
          </a:p>
          <a:p>
            <a:r>
              <a:t>• The source tested cadmium at 2–2.5 mM in the relevant preparations. Calcium-dependent release is a mechanistic class; the paper does not establish which calcium-channel subtype provides the presynaptic calcium entry.</a:t>
            </a:r>
          </a:p>
          <a:p/>
          <a:p>
            <a:r>
              <a:t>References:</a:t>
            </a:r>
          </a:p>
          <a:p>
            <a:r>
              <a:t>K. Fraser; W. J. Heitler (1991). Photoinactivation of the crayfish segmental giant neuron reveals a direct giant-fiber to fast-flexor connection with a chemical component. Journal of Neuroscience 11(1):59–71. https://doi.org/10.1523/JNEUROSCI.11-01-00059.1991</a:t>
            </a:r>
          </a:p>
          <a:p/>
          <a:p>
            <a:r>
              <a:t>Figure: Fraser &amp; Heitler (1991), Fig. 9(A,B). Residual LG-to-fast-flexor response during cadmium exposure.</a:t>
            </a:r>
          </a:p>
          <a:p>
            <a:r>
              <a:t>Figure source: https://doi.org/10.1523/JNEUROSCI.11-01-00059.1991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Fraser and Heitler cooled preparations with both SGs photoinactivated from approximately 20°C to approximately 7°C. Cooling changes spike shape and slows processes associated with chemical transmission. LG and a fast-flexor neuron were recorded together to relate the residual motor response to presynaptic activity.</a:t>
            </a:r>
          </a:p>
          <a:p>
            <a:r>
              <a:t>• At low temperature, an early EPSP component remained close to the LG spike, while a later component became more visibly separated. Adding cadmium removed the later component while leaving the early response. This combination supports distinct electrical and chemical contributions to the direct connection.</a:t>
            </a:r>
          </a:p>
          <a:p>
            <a:r>
              <a:t>• The inference rests on converging timing and pharmacological evidence, not on delay alone. Cooling affects several membrane processes and increased LG spike duration. The experiment does not establish that the cold response waveform occurs during ordinary escape in the freely behaving animal.</a:t>
            </a:r>
          </a:p>
          <a:p>
            <a:r>
              <a:t>• Temperature is an experimental manipulation here. The short-latency component is consistent with electrical transmission, while the longer-latency cadmium-sensitive component supports transmitter-mediated input; neither component is newly redrawn in the deck.</a:t>
            </a:r>
          </a:p>
          <a:p/>
          <a:p>
            <a:r>
              <a:t>References:</a:t>
            </a:r>
          </a:p>
          <a:p>
            <a:r>
              <a:t>K. Fraser; W. J. Heitler (1991). Photoinactivation of the crayfish segmental giant neuron reveals a direct giant-fiber to fast-flexor connection with a chemical component. Journal of Neuroscience 11(1):59–71. https://doi.org/10.1523/JNEUROSCI.11-01-00059.1991</a:t>
            </a:r>
          </a:p>
          <a:p/>
          <a:p>
            <a:r>
              <a:t>Figure: Fraser &amp; Heitler (1991), Fig. 10(A–C). Residual motor EPSPs at 20°C, 7°C, and with cadmium.</a:t>
            </a:r>
          </a:p>
          <a:p>
            <a:r>
              <a:t>Figure source: https://doi.org/10.1523/JNEUROSCI.11-01-00059.1991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Swierzbinski and Herberholz surgically exposed the crayfish brain and recorded MG while stimulating one antenna II nerve. An extracellular hook electrode monitored connective activity, and a sharp intracellular electrode measured MG voltage. This preparation isolated a defined anterior sensory route.</a:t>
            </a:r>
          </a:p>
          <a:p>
            <a:r>
              <a:t>• The authors quantified an early MG potential at 3 ms and a later potential at 6 ms after the stimulus artifact. Most single-nerve stimuli produced subthreshold potentials, even when their amplitude had saturated. The electrode stimulus was kept below the level that directly activated MG without synaptic transmission.</a:t>
            </a:r>
          </a:p>
          <a:p>
            <a:r>
              <a:t>• These recordings establish experimentally separable phases of MG input. The late potential contains interacting excitation and inhibition rather than an isolated pure inhibitory voltage. Failure to fire in the reduced preparation does not mean that the intact MG circuit cannot respond rapidly to anterior threats.</a:t>
            </a:r>
          </a:p>
          <a:p>
            <a:r>
              <a:t>• A stimulus artifact is the recorded electrical disturbance produced directly by the applied shock. The 3 ms and 6 ms measurements are delays from that artifact, not independent measurements of the first natural antenna movement.</a:t>
            </a:r>
          </a:p>
          <a:p/>
          <a:p>
            <a:r>
              <a:t>References:</a:t>
            </a:r>
          </a:p>
          <a:p>
            <a:r>
              <a:t>M. E. Swierzbinski; J. Herberholz (2018). Effects of ethanol on sensory inputs to the medial giant interneurons of crayfish. Frontiers in Physiology 9:448. https://doi.org/10.3389/fphys.2018.00448</a:t>
            </a:r>
          </a:p>
          <a:p/>
          <a:p>
            <a:r>
              <a:t>Figure: Swierzbinski &amp; Herberholz (2018), Fig. 1(B). Antenna II-evoked connective activity and intracellular MG potentials.</a:t>
            </a:r>
          </a:p>
          <a:p>
            <a:r>
              <a:t>Figure source: https://doi.org/10.3389/fphys.2018.00448</a:t>
            </a:r>
          </a:p>
          <a:p/>
          <a:p>
            <a:r>
              <a:t>Figure: Swierzbinski &amp; Herberholz (2018), Fig. 1(A). Published anatomical arrangement of antenna II input and the MG neuron.</a:t>
            </a:r>
          </a:p>
          <a:p>
            <a:r>
              <a:t>Figure source: https://doi.org/10.3389/fphys.2018.00448</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baseline control measures the preparation without the tested drug, allowing changes over time to be distinguished from treatment effects. Swierzbinski and Herberholz stimulated the antenna II nerve every 90 s while continuously superfusing the exposed MG preparation with normal crayfish saline.</a:t>
            </a:r>
          </a:p>
          <a:p>
            <a:r>
              <a:t>• After a ten-minute baseline, responses were followed for another 90 minutes. The early and late potentials fluctuated but did not undergo the major sustained increase seen with ethanol. The original published traces retain their color coding for successive recording times.</a:t>
            </a:r>
          </a:p>
          <a:p>
            <a:r>
              <a:t>• This control supports attributing the ethanol-associated enhancement to treatment rather than ordinary repeated stimulation alone. It does not prove that saline preparations are perfectly invariant or that each pharmacological condition has the same background drift. The comparison concerns the behavior of this reduced neural preparation over its recorded interval.</a:t>
            </a:r>
          </a:p>
          <a:p>
            <a:r>
              <a:t>• Superfusion continually replaces the solution bathing the tissue. The study kept flow at 5 ml per minute, making solution exchange a controlled part of the experiment rather than an unspecified exposure.</a:t>
            </a:r>
          </a:p>
          <a:p/>
          <a:p>
            <a:r>
              <a:t>References:</a:t>
            </a:r>
          </a:p>
          <a:p>
            <a:r>
              <a:t>M. E. Swierzbinski; J. Herberholz (2018). Effects of ethanol on sensory inputs to the medial giant interneurons of crayfish. Frontiers in Physiology 9:448. https://doi.org/10.3389/fphys.2018.00448</a:t>
            </a:r>
          </a:p>
          <a:p/>
          <a:p>
            <a:r>
              <a:t>Figure: Swierzbinski &amp; Herberholz (2018), Fig. 2(B). Early and late MG potentials during repeated saline stimulation.</a:t>
            </a:r>
          </a:p>
          <a:p>
            <a:r>
              <a:t>Figure source: https://doi.org/10.3389/fphys.2018.00448</a:t>
            </a:r>
          </a:p>
          <a:p/>
          <a:p>
            <a:r>
              <a:t>Figure: Swierzbinski &amp; Herberholz (2018), Fig. 1(A). Published anatomical arrangement of antenna II input and the MG neuron.</a:t>
            </a:r>
          </a:p>
          <a:p>
            <a:r>
              <a:t>Figure source: https://doi.org/10.3389/fphys.2018.00448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Swierzbinski and Herberholz superfused MG preparations with 100 mM ethanol, the alcohol molecule tested here, after a saline baseline. Antenna II stimuli remained 90 s apart. Early and late MG potentials were measured separately to avoid treating the compound response as a single uniform signal.</a:t>
            </a:r>
          </a:p>
          <a:p>
            <a:r>
              <a:t>• The early potential rose to roughly one-and-a-half times its baseline amplitude during ethanol exposure. Enhancement remained after 60 minutes of saline washout. The late component varied and did not provide comparably strong evidence for a sustained enhancement.</a:t>
            </a:r>
          </a:p>
          <a:p>
            <a:r>
              <a:t>• The effect supports increased excitability of an anterior sensory pathway under this treatment. It does not identify a single ethanol-binding receptor or establish a behavioral escape rate in these pinned preparations. A larger subthreshold potential and an increased probability of natural escape are related hypotheses, not the same measurement.</a:t>
            </a:r>
          </a:p>
          <a:p>
            <a:r>
              <a:t>• The source reports an early response of approximately 157% of baseline after 60 minutes of ethanol and approximately 156% after 60 minutes of washout. These values describe normalized potential amplitude, not percentage of animals escaping.</a:t>
            </a:r>
          </a:p>
          <a:p/>
          <a:p>
            <a:r>
              <a:t>References:</a:t>
            </a:r>
          </a:p>
          <a:p>
            <a:r>
              <a:t>M. E. Swierzbinski; J. Herberholz (2018). Effects of ethanol on sensory inputs to the medial giant interneurons of crayfish. Frontiers in Physiology 9:448. https://doi.org/10.3389/fphys.2018.00448</a:t>
            </a:r>
          </a:p>
          <a:p/>
          <a:p>
            <a:r>
              <a:t>Figure: Swierzbinski &amp; Herberholz (2018), Fig. 3. MG potential amplitudes before, during, and after ethanol exposure.</a:t>
            </a:r>
          </a:p>
          <a:p>
            <a:r>
              <a:t>Figure source: https://doi.org/10.3389/fphys.2018.00448</a:t>
            </a:r>
          </a:p>
          <a:p/>
          <a:p>
            <a:r>
              <a:t>Figure: Swierzbinski &amp; Herberholz (2018), Fig. 1(A). Published anatomical arrangement of antenna II input and the MG neuron.</a:t>
            </a:r>
          </a:p>
          <a:p>
            <a:r>
              <a:t>Figure source: https://doi.org/10.3389/fphys.2018.00448</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Swierzbinski and Herberholz applied 25 μM picrotoxin to test inhibitory-channel contributions to MG input. An antagonist reduces a receptor-associated process; this drug interferes with inhibitory ion-channel function. The experiment compared early and late sensory potentials with their saline baseline.</a:t>
            </a:r>
          </a:p>
          <a:p>
            <a:r>
              <a:t>• The early MG potential increased during the 30-minute treatment. Changes of the later potential during application were more variable. Higher picrotoxin concentrations could produce repeated MG spikes arising late in the compound response, so the investigators used the lower dose for their main comparisons.</a:t>
            </a:r>
          </a:p>
          <a:p>
            <a:r>
              <a:t>• The findings support inhibitory regulation of the MG sensory pathway. They do not assign every drug effect directly to channels on MG: upstream sensory neurons can also be affected. The late suppression during washout further cautions against treating the drug response as a simple, immediately reversible removal of one synapse.</a:t>
            </a:r>
          </a:p>
          <a:p>
            <a:r>
              <a:t>• GABAergic means mediated by GABA. The paper interprets its pharmacology in that framework, but receptor subunit composition and the precise cellular locations of all affected receptors were not directly identified.</a:t>
            </a:r>
          </a:p>
          <a:p/>
          <a:p>
            <a:r>
              <a:t>References:</a:t>
            </a:r>
          </a:p>
          <a:p>
            <a:r>
              <a:t>M. E. Swierzbinski; J. Herberholz (2018). Effects of ethanol on sensory inputs to the medial giant interneurons of crayfish. Frontiers in Physiology 9:448. https://doi.org/10.3389/fphys.2018.00448</a:t>
            </a:r>
          </a:p>
          <a:p/>
          <a:p>
            <a:r>
              <a:t>Figure: Swierzbinski &amp; Herberholz (2018), Fig. 4(B). Early and late MG potentials during picrotoxin and washout.</a:t>
            </a:r>
          </a:p>
          <a:p>
            <a:r>
              <a:t>Figure source: https://doi.org/10.3389/fphys.2018.00448</a:t>
            </a:r>
          </a:p>
          <a:p/>
          <a:p>
            <a:r>
              <a:t>Figure: Swierzbinski &amp; Herberholz (2018), Fig. 1(A). Published anatomical arrangement of antenna II input and the MG neuron.</a:t>
            </a:r>
          </a:p>
          <a:p>
            <a:r>
              <a:t>Figure source: https://doi.org/10.3389/fphys.2018.00448</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Muscimol is an agonist of ionotropic GABA receptors; an agonist activates a receptor-associated response. An ionotropic receptor directly gates an ion channel. Swierzbinski and Herberholz applied 25 μM muscimol for 30 minutes while repeatedly measuring antenna II-evoked MG potentials.</a:t>
            </a:r>
          </a:p>
          <a:p>
            <a:r>
              <a:t>• Potential amplitudes changed relatively little during treatment but declined during subsequent saline washout. The late potential reached approximately 32% of baseline after 60 minutes of washout. Separate measurements of MG input resistance changed only modestly during muscimol exposure, despite the later decline of sensory potentials.</a:t>
            </a:r>
          </a:p>
          <a:p>
            <a:r>
              <a:t>• The delayed response supports a more complex pharmacological interaction than immediate postsynaptic shunting alone. It does not establish the molecular origin of the persistent suppression. Direct receptor activation, upstream effects, and processes continuing after solution exchange must remain distinguishable from measured MG voltage changes.</a:t>
            </a:r>
          </a:p>
          <a:p>
            <a:r>
              <a:t>• The study measured input resistance with a second intracellular electrode and current steps from −40 to 40 nA. This tested MG membrane responsiveness, while the sensory potential also depended on the pathways supplying MG.</a:t>
            </a:r>
          </a:p>
          <a:p/>
          <a:p>
            <a:r>
              <a:t>References:</a:t>
            </a:r>
          </a:p>
          <a:p>
            <a:r>
              <a:t>M. E. Swierzbinski; J. Herberholz (2018). Effects of ethanol on sensory inputs to the medial giant interneurons of crayfish. Frontiers in Physiology 9:448. https://doi.org/10.3389/fphys.2018.00448</a:t>
            </a:r>
          </a:p>
          <a:p/>
          <a:p>
            <a:r>
              <a:t>Figure: Swierzbinski &amp; Herberholz (2018), Fig. 4(C). MG potentials during muscimol exposure and saline washout.</a:t>
            </a:r>
          </a:p>
          <a:p>
            <a:r>
              <a:t>Figure source: https://doi.org/10.3389/fphys.2018.00448</a:t>
            </a:r>
          </a:p>
          <a:p/>
          <a:p>
            <a:r>
              <a:t>Figure: Swierzbinski &amp; Herberholz (2018), Fig. 1(A). Published anatomical arrangement of antenna II input and the MG neuron.</a:t>
            </a:r>
          </a:p>
          <a:p>
            <a:r>
              <a:t>Figure source: https://doi.org/10.3389/fphys.2018.00448</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Swierzbinski and Herberholz exposed MG preparations to muscimol before applying ethanol. The sequence included a saline baseline, 30 minutes of 25 μM muscimol, 30 minutes of 100 mM ethanol, and 60 minutes of saline washout. Early and late sensory potentials were measured throughout.</a:t>
            </a:r>
          </a:p>
          <a:p>
            <a:r>
              <a:t>• Unlike ethanol alone, ethanol following muscimol did not produce a clear additional enhancement relative to baseline. The large washout suppression observed after muscimol alone was also absent in this sequential condition. The treatment history therefore altered both apparent facilitation and delayed suppression.</a:t>
            </a:r>
          </a:p>
          <a:p>
            <a:r>
              <a:t>• These interactions support state-dependent pharmacological modulation of sensory input. They do not prove that ethanol acts at exactly the same receptor-binding site as muscimol. The measurements concern compound synaptic potentials, and several sites within the anterior pathway could contribute to the history-dependent response.</a:t>
            </a:r>
          </a:p>
          <a:p>
            <a:r>
              <a:t>• Comparing treatment sequences distinguishes interaction from a claim that two drugs merely add independent effects. The source did not identify a unique biochemical pathway sufficient to account for the observed interaction.</a:t>
            </a:r>
          </a:p>
          <a:p/>
          <a:p>
            <a:r>
              <a:t>References:</a:t>
            </a:r>
          </a:p>
          <a:p>
            <a:r>
              <a:t>M. E. Swierzbinski; J. Herberholz (2018). Effects of ethanol on sensory inputs to the medial giant interneurons of crayfish. Frontiers in Physiology 9:448. https://doi.org/10.3389/fphys.2018.00448</a:t>
            </a:r>
          </a:p>
          <a:p/>
          <a:p>
            <a:r>
              <a:t>Figure: Swierzbinski &amp; Herberholz (2018), Fig. 5. MG responses to muscimol followed by ethanol.</a:t>
            </a:r>
          </a:p>
          <a:p>
            <a:r>
              <a:t>Figure source: https://doi.org/10.3389/fphys.2018.00448</a:t>
            </a:r>
          </a:p>
          <a:p/>
          <a:p>
            <a:r>
              <a:t>Figure: Swierzbinski &amp; Herberholz (2018), Fig. 1(A). Published anatomical arrangement of antenna II input and the MG neuron.</a:t>
            </a:r>
          </a:p>
          <a:p>
            <a:r>
              <a:t>Figure source: https://doi.org/10.3389/fphys.2018.00448</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Manganese-enhanced MRI, or MEMRI, uses manganese ions to increase tissue contrast and mark activity-associated uptake. Manganese can enter depolarized cells through voltage-gated calcium channels. Such channels open in response to membrane voltage and normally provide a route for calcium entry.</a:t>
            </a:r>
          </a:p>
          <a:p>
            <a:r>
              <a:t>• Herberholz and colleagues injected 40 μl of 25 mM manganese chloride and stimulated the antenna II nerve at 4 Hz. T1-weighted brain images at 31 μm in-plane resolution contained greater uptake on the stimulated side, including the antenna II nerve and accessory-lobe region.</a:t>
            </a:r>
          </a:p>
          <a:p>
            <a:r>
              <a:t>• The result relates controlled sensory stimulation to regional manganese accumulation. It does not identify the firing of a particular MG neuron or resolve individual spikes. The marker accumulates over an extended stimulation period, so its biological timescale differs from the millisecond escape recordings.</a:t>
            </a:r>
          </a:p>
          <a:p>
            <a:r>
              <a:t>• The published sections retain 1 mm scale bars and the original directional arrows. Manganese entry is used as an activity-related marker; these scans do not identify a calcium-channel subtype or a synapse-specific tracer transfer rate.</a:t>
            </a:r>
          </a:p>
          <a:p/>
          <a:p>
            <a:r>
              <a:t>References:</a:t>
            </a:r>
          </a:p>
          <a:p>
            <a:r>
              <a:t>J. Herberholz; S. H. Mishra; D. Uma; M. W. Germann; D. H. Edwards; K. Potter (2011). Non-invasive imaging of neuroanatomical structures and neural activation with high-resolution MRI. Frontiers in Behavioral Neuroscience 5:16. https://doi.org/10.3389/fnbeh.2011.00016</a:t>
            </a:r>
          </a:p>
          <a:p/>
          <a:p>
            <a:r>
              <a:t>Figure: Herberholz et al. (2011), Fig. 3(A,B). Axial brain sections after antenna II stimulation and manganese injection.</a:t>
            </a:r>
          </a:p>
          <a:p>
            <a:r>
              <a:t>Figure source: https://doi.org/10.3389/fnbeh.2011.00016</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Herberholz and colleagues compared stimulated and unstimulated animals receiving the same manganese dose. They examined both T1- and T2-weighted images, which emphasize different tissue-dependent magnetic relaxation properties. Regions of interest were held consistent across selected slices within each animal.</a:t>
            </a:r>
          </a:p>
          <a:p>
            <a:r>
              <a:t>• The stimulated animal’s T1-weighted images had greater intensity on the stimulated side, while the unstimulated control had more similar values across sides. T2-weighted images provided strong anatomical contrast but made the side difference less discrete. The comparison extended across a 400 μm axial region.</a:t>
            </a:r>
          </a:p>
          <a:p>
            <a:r>
              <a:t>• The control supports stimulation-associated uptake rather than assuming all visible contrast represents neural activity. It does not remove every potential anatomical or physiological source of between-animal variation. Imaging protocol, manganese exposure, anatomical position, and the regional comparison all affect what can be inferred.</a:t>
            </a:r>
          </a:p>
          <a:p>
            <a:r>
              <a:t>• T1 and T2 are different magnetic relaxation measures, not two neural pathways. An image with stronger overall contrast can be less informative about a subtle activity-associated difference between the two sides of the brain.</a:t>
            </a:r>
          </a:p>
          <a:p/>
          <a:p>
            <a:r>
              <a:t>References:</a:t>
            </a:r>
          </a:p>
          <a:p>
            <a:r>
              <a:t>J. Herberholz; S. H. Mishra; D. Uma; M. W. Germann; D. H. Edwards; K. Potter (2011). Non-invasive imaging of neuroanatomical structures and neural activation with high-resolution MRI. Frontiers in Behavioral Neuroscience 5:16. https://doi.org/10.3389/fnbeh.2011.00016</a:t>
            </a:r>
          </a:p>
          <a:p/>
          <a:p>
            <a:r>
              <a:t>Figure: Herberholz et al. (2011), Fig. 4. Original stimulated and unstimulated brain-image stacks.</a:t>
            </a:r>
          </a:p>
          <a:p>
            <a:r>
              <a:t>Figure source: https://doi.org/10.3389/fnbeh.2011.00016</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Herberholz and colleagues injected a modest manganese dose and stimulated the ventral nerve cord to elicit LG-mediated tail flips. The protocol used 60 shocks over 20 minutes, each evoking an escape response. Imaging followed the stimulation period rather than occurring during individual flips.</a:t>
            </a:r>
          </a:p>
          <a:p>
            <a:r>
              <a:t>• Manganese-enhanced sections resolved abdominal ganglia and associated nerve roots. Enlarged regions distinguished brighter ganglionic areas from surrounding tissue, with the published figures preserving 500 μm and 100 μm scale bars. The result extends activity-associated imaging beyond the anterior sensory preparation.</a:t>
            </a:r>
          </a:p>
          <a:p>
            <a:r>
              <a:t>• This provides a regional anatomical record associated with repeated escape-circuit activation. It does not establish which individual neuron accumulated the marker or which synapse transmitted each response. Intracellular electrophysiology supplies cellular timing and causal tests that this integrated imaging measurement cannot replace.</a:t>
            </a:r>
          </a:p>
          <a:p>
            <a:r>
              <a:t>• The injected dose was 10 μl of 50 mM manganese chloride. The investigators used a T1-weighted scan with 78 μm in-plane resolution for the cord overview and higher spatial detail in the enlarged ganglion acquisition.</a:t>
            </a:r>
          </a:p>
          <a:p/>
          <a:p>
            <a:r>
              <a:t>References:</a:t>
            </a:r>
          </a:p>
          <a:p>
            <a:r>
              <a:t>J. Herberholz; S. H. Mishra; D. Uma; M. W. Germann; D. H. Edwards; K. Potter (2011). Non-invasive imaging of neuroanatomical structures and neural activation with high-resolution MRI. Frontiers in Behavioral Neuroscience 5:16. https://doi.org/10.3389/fnbeh.2011.00016</a:t>
            </a:r>
          </a:p>
          <a:p/>
          <a:p>
            <a:r>
              <a:t>Figure: Herberholz et al. (2011), Fig. 5(A–C). Cord, ganglion, and enlarged neuropil after repeated escape stimulation.</a:t>
            </a:r>
          </a:p>
          <a:p>
            <a:r>
              <a:t>Figure source: https://doi.org/10.3389/fnbeh.2011.00016</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Wine and Krasne connected abrupt stimulus location with the giant circuit recruited and the resulting movement. Posterior taps commonly evoked LG-mediated upward pitching; anterior stimuli commonly evoked MG-mediated backward escape. More gradual stimuli generally recruited slower, more variable nongiant responses.</a:t>
            </a:r>
          </a:p>
          <a:p>
            <a:r>
              <a:t>• Controlled nerve-pair recordings later established timing selectivity at 0.1 ms input separation, while relay photoinactivation exposed differing LG and MG motor outputs. These experiments address separate stages: sensory integration determines recruitment, and output connectivity determines the muscle pattern once a pathway is active.</a:t>
            </a:r>
          </a:p>
          <a:p>
            <a:r>
              <a:t>• Speed and flexibility therefore depend on interacting parallel pathways rather than on giant-axon diameter alone. The rapid giant response is not the only escape available, and the presence of a tail flip is not sufficient to identify its neural cause. Pathway-specific recording or manipulation is required.</a:t>
            </a:r>
          </a:p>
          <a:p>
            <a:r>
              <a:t>• A command neuron is a neuron whose activity can initiate a defined motor program in the studied circuit. This functional term does not imply that the cell alone evaluates every sensory input, controls all later swimming, or determines the animal’s behavior independently of state.</a:t>
            </a:r>
          </a:p>
          <a:p/>
          <a:p>
            <a:r>
              <a:t>References:</a:t>
            </a:r>
          </a:p>
          <a:p>
            <a:r>
              <a:t>J. J. Wine; F. B. Krasne (1972). The Organization of Escape Behaviour in the Crayfish. Journal of Experimental Biology 56(1):1–18. https://doi.org/10.1242/jeb.56.1.1</a:t>
            </a:r>
          </a:p>
          <a:p>
            <a:r>
              <a:t>D. H. Edwards; S.-R. Yeh; F. B. Krasne (1998). Neuronal coincidence detection by voltage-sensitive electrical synapses. Proceedings of the National Academy of Sciences USA 95(12):7145–7150. https://doi.org/10.1073/pnas.95.12.7145</a:t>
            </a:r>
          </a:p>
          <a:p>
            <a:r>
              <a:t>K. Fraser; W. J. Heitler (1991). Photoinactivation of the crayfish segmental giant neuron reveals a direct giant-fiber to fast-flexor connection with a chemical component. Journal of Neuroscience 11(1):59–71. https://doi.org/10.1523/JNEUROSCI.11-01-00059.1991</a:t>
            </a:r>
          </a:p>
          <a:p/>
          <a:p>
            <a:r>
              <a:t>Figure: Wine &amp; Krasne (1972), Fig. 5. Distinct filmed LG and MG escape movements.</a:t>
            </a:r>
          </a:p>
          <a:p>
            <a:r>
              <a:t>Figure source: https://doi.org/10.1242/jeb.56.1.1</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 J. Wine; F. B. Krasne (1972). The Organization of Escape Behaviour in the Crayfish. Journal of Experimental Biology 56(1):1–18. https://doi.org/10.1242/jeb.56.1.1</a:t>
            </a:r>
          </a:p>
          <a:p/>
          <a:p>
            <a:r>
              <a:t>D. H. Edwards; S.-R. Yeh; F. B. Krasne (1998). Neuronal coincidence detection by voltage-sensitive electrical synapses. Proceedings of the National Academy of Sciences USA 95(12):7145–7150. https://doi.org/10.1073/pnas.95.12.7145</a:t>
            </a:r>
          </a:p>
          <a:p/>
          <a:p>
            <a:r>
              <a:t>E. T. Vu; A. Berkowitz; F. B. Krasne (1997). Postexcitatory inhibition of the crayfish lateral giant neuron: a mechanism for sensory temporal filtering. Journal of Neuroscience 17(22):8867–8879. https://doi.org/10.1523/JNEUROSCI.17-22-08867.1997</a:t>
            </a:r>
          </a:p>
          <a:p/>
          <a:p>
            <a:r>
              <a:t>K. Fraser; W. J. Heitler (1991). Photoinactivation of the crayfish segmental giant neuron reveals a direct giant-fiber to fast-flexor connection with a chemical component. Journal of Neuroscience 11(1):59–71. https://doi.org/10.1523/JNEUROSCI.11-01-00059.1991</a:t>
            </a:r>
          </a:p>
          <a:p/>
          <a:p>
            <a:r>
              <a:t>J. Herberholz; B. L. Antonsen; D. H. Edwards (2002). A lateral excitatory network in the escape circuit of crayfish. Journal of Neuroscience 22(20):9078–9085. https://doi.org/10.1523/JNEUROSCI.22-20-09078.2002</a:t>
            </a:r>
          </a:p>
          <a:p/>
          <a:p>
            <a:r>
              <a:t>M. E. Swierzbinski; J. Herberholz (2018). Effects of ethanol on sensory inputs to the medial giant interneurons of crayfish. Frontiers in Physiology 9:448. https://doi.org/10.3389/fphys.2018.00448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0.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0.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0.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0.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0.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0.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0.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0.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0.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0.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0.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10.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10.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10.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0.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9.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9.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9.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9.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9.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9.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0B2A45"/>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9FC4DE"/>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9FC4DE"/>
                </a:solidFill>
                <a:latin typeface="Arial"/>
              </a:rPr>
              <a:t>Lecture 4</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Crayfish tail-flip:</a:t>
            </a:r>
          </a:p>
          <a:p>
            <a:pPr algn="l">
              <a:lnSpc>
                <a:spcPct val="108000"/>
              </a:lnSpc>
              <a:spcAft>
                <a:spcPts val="0"/>
              </a:spcAft>
            </a:pPr>
            <a:r>
              <a:rPr sz="2700" b="1" i="0">
                <a:solidFill>
                  <a:srgbClr val="FFFFFF"/>
                </a:solidFill>
                <a:latin typeface="Arial"/>
              </a:rPr>
              <a:t>lateral and medial giant fiber circuits (Wine &amp; Krasne)</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9FC4DE"/>
                </a:solidFill>
                <a:latin typeface="Arial"/>
              </a:rPr>
              <a:t>Monday, August 31, 2026</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9FC4DE"/>
                </a:solidFill>
                <a:latin typeface="Arial"/>
              </a:rPr>
              <a:t>Jordan Lopez, Ph.D.</a:t>
            </a:r>
          </a:p>
          <a:p>
            <a:pPr algn="l">
              <a:lnSpc>
                <a:spcPct val="108000"/>
              </a:lnSpc>
              <a:spcAft>
                <a:spcPts val="200"/>
              </a:spcAft>
            </a:pPr>
            <a:r>
              <a:rPr sz="1200" b="0" i="0">
                <a:solidFill>
                  <a:srgbClr val="9FC4DE"/>
                </a:solidFill>
                <a:latin typeface="Arial"/>
              </a:rPr>
              <a:t>Professor of Neurobiology &amp; Biomedical Engineering</a:t>
            </a:r>
          </a:p>
        </p:txBody>
      </p:sp>
      <p:pic>
        <p:nvPicPr>
          <p:cNvPr id="8" name="Picture 7" descr="H11_1B.png"/>
          <p:cNvPicPr>
            <a:picLocks noChangeAspect="1"/>
          </p:cNvPicPr>
          <p:nvPr/>
        </p:nvPicPr>
        <p:blipFill>
          <a:blip r:embed="rId2"/>
          <a:stretch>
            <a:fillRect/>
          </a:stretch>
        </p:blipFill>
        <p:spPr>
          <a:xfrm>
            <a:off x="6553047" y="822960"/>
            <a:ext cx="5181447" cy="2782255"/>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(2011), Fig. 1(B). Juvenile Procambarus clarkii used in the imaging study.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Two giant pathways produce different escape trajectories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A </a:t>
            </a:r>
            <a:r>
              <a:rPr sz="1600" b="1" i="0">
                <a:solidFill>
                  <a:srgbClr val="0B4F7A"/>
                </a:solidFill>
                <a:latin typeface="Arial"/>
              </a:rPr>
              <a:t>tail flip</a:t>
            </a:r>
            <a:r>
              <a:rPr sz="1600" b="0" i="0">
                <a:solidFill>
                  <a:srgbClr val="1C242C"/>
                </a:solidFill>
                <a:latin typeface="Arial"/>
              </a:rPr>
              <a:t> is a rapid abdominal flexion that propels a crayfish through water. Wine and Krasne studied </a:t>
            </a:r>
            <a:r>
              <a:rPr sz="1600" b="0" i="1">
                <a:solidFill>
                  <a:srgbClr val="1C242C"/>
                </a:solidFill>
                <a:latin typeface="Arial"/>
              </a:rPr>
              <a:t>Procambarus clarkii</a:t>
            </a:r>
            <a:r>
              <a:rPr sz="1600" b="0" i="0">
                <a:solidFill>
                  <a:srgbClr val="1C242C"/>
                </a:solidFill>
                <a:latin typeface="Arial"/>
              </a:rPr>
              <a:t> with chronically implanted electrodes and high-speed film. The </a:t>
            </a:r>
            <a:r>
              <a:rPr sz="1600" b="1" i="0">
                <a:solidFill>
                  <a:srgbClr val="0B4F7A"/>
                </a:solidFill>
                <a:latin typeface="Arial"/>
              </a:rPr>
              <a:t>lateral giant</a:t>
            </a:r>
            <a:r>
              <a:rPr sz="1600" b="0" i="0">
                <a:solidFill>
                  <a:srgbClr val="1C242C"/>
                </a:solidFill>
                <a:latin typeface="Arial"/>
              </a:rPr>
              <a:t>, or LG, and </a:t>
            </a:r>
            <a:r>
              <a:rPr sz="1600" b="1" i="0">
                <a:solidFill>
                  <a:srgbClr val="0B4F7A"/>
                </a:solidFill>
                <a:latin typeface="Arial"/>
              </a:rPr>
              <a:t>medial giant</a:t>
            </a:r>
            <a:r>
              <a:rPr sz="1600" b="0" i="0">
                <a:solidFill>
                  <a:srgbClr val="1C242C"/>
                </a:solidFill>
                <a:latin typeface="Arial"/>
              </a:rPr>
              <a:t>, or MG, are large interneurons that recruit different escape movements.</a:t>
            </a:r>
          </a:p>
          <a:p>
            <a:pPr algn="l">
              <a:lnSpc>
                <a:spcPct val="108000"/>
              </a:lnSpc>
              <a:spcAft>
                <a:spcPts val="960"/>
              </a:spcAft>
            </a:pPr>
            <a:r>
              <a:rPr sz="1600" b="0" i="0">
                <a:solidFill>
                  <a:srgbClr val="1C242C"/>
                </a:solidFill>
                <a:latin typeface="Arial"/>
              </a:rPr>
              <a:t>An abdominal tap commonly activated LG and produced forward pitching with upward displacement. An anterior stimulus commonly activated MG and produced a backward dart. The published movement sequences retain frames approximately 10 ms apart, allowing the two trajectories to be compared with recorded giant-fiber activity.</a:t>
            </a:r>
          </a:p>
          <a:p>
            <a:pPr algn="l">
              <a:lnSpc>
                <a:spcPct val="108000"/>
              </a:lnSpc>
              <a:spcAft>
                <a:spcPts val="960"/>
              </a:spcAft>
            </a:pPr>
            <a:r>
              <a:rPr sz="1600" b="0" i="0">
                <a:solidFill>
                  <a:srgbClr val="1C242C"/>
                </a:solidFill>
                <a:latin typeface="Arial"/>
              </a:rPr>
              <a:t>The response depends on which circuit is recruited, rather than abdominal flexion having one obligatory direction. These experiments connected neural signals with freely moving behavior; they did not identify every synapse contributing to each appendage movement.</a:t>
            </a:r>
          </a:p>
        </p:txBody>
      </p:sp>
      <p:pic>
        <p:nvPicPr>
          <p:cNvPr id="4" name="Picture 3" descr="WK72_5.png"/>
          <p:cNvPicPr>
            <a:picLocks noChangeAspect="1"/>
          </p:cNvPicPr>
          <p:nvPr/>
        </p:nvPicPr>
        <p:blipFill>
          <a:blip r:embed="rId2"/>
          <a:stretch>
            <a:fillRect/>
          </a:stretch>
        </p:blipFill>
        <p:spPr>
          <a:xfrm>
            <a:off x="7563129" y="1280160"/>
            <a:ext cx="300263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Wine &amp; Krasne (1972), Fig. 5. Original tracings of filmed lateral- and medial-giant tail flips.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Wine &amp; Krasne (1972)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Implanted recordings identify the active giant pathway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Wine and Krasne implanted pairs of 0.5 mm silver-ball electrodes near the nerve cord of crayfish 6–8 cm long. An </a:t>
            </a:r>
            <a:r>
              <a:rPr sz="1500" b="1" i="0">
                <a:solidFill>
                  <a:srgbClr val="0B4F7A"/>
                </a:solidFill>
                <a:latin typeface="Arial"/>
              </a:rPr>
              <a:t>extracellular recording</a:t>
            </a:r>
            <a:r>
              <a:rPr sz="1500" b="0" i="0">
                <a:solidFill>
                  <a:srgbClr val="1C242C"/>
                </a:solidFill>
                <a:latin typeface="Arial"/>
              </a:rPr>
              <a:t> measures voltage outside neurons and can detect passing action potentials. The animals subsequently moved freely while their escape responses were recorded.</a:t>
            </a:r>
          </a:p>
          <a:p>
            <a:pPr algn="l">
              <a:lnSpc>
                <a:spcPct val="108000"/>
              </a:lnSpc>
              <a:spcAft>
                <a:spcPts val="900"/>
              </a:spcAft>
            </a:pPr>
            <a:r>
              <a:rPr sz="1500" b="0" i="0">
                <a:solidFill>
                  <a:srgbClr val="1C242C"/>
                </a:solidFill>
                <a:latin typeface="Arial"/>
              </a:rPr>
              <a:t>Recordings from the anterior connectives and second abdominal segment separated descending MG activity from ascending LG activity. Spike polarity, relative amplitude, propagation direction, and escape trajectory provided converging identification criteria. Direct stimulation of visually identified giant fibers after behavioral testing checked the interpretation of the earlier records.</a:t>
            </a:r>
          </a:p>
          <a:p>
            <a:pPr algn="l">
              <a:lnSpc>
                <a:spcPct val="108000"/>
              </a:lnSpc>
              <a:spcAft>
                <a:spcPts val="900"/>
              </a:spcAft>
            </a:pPr>
            <a:r>
              <a:rPr sz="1500" b="0" i="0">
                <a:solidFill>
                  <a:srgbClr val="1C242C"/>
                </a:solidFill>
                <a:latin typeface="Arial"/>
              </a:rPr>
              <a:t>Giant spikes preceded major abdominal muscle potentials by about 2 ms. This timing supports a rapid neural-to-motor sequence, but an extracellular muscle potential is not itself the onset of body displacement. Ambiguous records were not treated as definitive evidence of pathway identity.</a:t>
            </a:r>
          </a:p>
        </p:txBody>
      </p:sp>
      <p:pic>
        <p:nvPicPr>
          <p:cNvPr id="4" name="Picture 3" descr="WK72_2.png"/>
          <p:cNvPicPr>
            <a:picLocks noChangeAspect="1"/>
          </p:cNvPicPr>
          <p:nvPr/>
        </p:nvPicPr>
        <p:blipFill>
          <a:blip r:embed="rId2"/>
          <a:stretch>
            <a:fillRect/>
          </a:stretch>
        </p:blipFill>
        <p:spPr>
          <a:xfrm>
            <a:off x="6504127" y="1280160"/>
            <a:ext cx="5120640" cy="3485832"/>
          </a:xfrm>
          <a:prstGeom prst="rect">
            <a:avLst/>
          </a:prstGeom>
        </p:spPr>
      </p:pic>
      <p:sp>
        <p:nvSpPr>
          <p:cNvPr id="5" name="Figure caption"/>
          <p:cNvSpPr txBox="1"/>
          <p:nvPr/>
        </p:nvSpPr>
        <p:spPr>
          <a:xfrm>
            <a:off x="6504127" y="485743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Wine &amp; Krasne (1972), Fig. 2. Simultaneous connective and abdominal recordings of giant-fiber activity.</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Wine &amp; Krasne (1972)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Abruptness recruits giants more reliably than intensity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A </a:t>
            </a:r>
            <a:r>
              <a:rPr sz="1600" b="1" i="0">
                <a:solidFill>
                  <a:srgbClr val="0B4F7A"/>
                </a:solidFill>
                <a:latin typeface="Arial"/>
              </a:rPr>
              <a:t>phasic stimulus</a:t>
            </a:r>
            <a:r>
              <a:rPr sz="1600" b="0" i="0">
                <a:solidFill>
                  <a:srgbClr val="1C242C"/>
                </a:solidFill>
                <a:latin typeface="Arial"/>
              </a:rPr>
              <a:t> changes abruptly rather than remaining sustained or rising gradually. Wine and Krasne compared abdominal taps with pinches whose pressure rose over 0.5–1 s. Stimuli were separated by five minutes, and tap strength was adjusted to make overall response probability comparable to pinching.</a:t>
            </a:r>
          </a:p>
          <a:p>
            <a:pPr algn="l">
              <a:lnSpc>
                <a:spcPct val="108000"/>
              </a:lnSpc>
              <a:spcAft>
                <a:spcPts val="960"/>
              </a:spcAft>
            </a:pPr>
            <a:r>
              <a:rPr sz="1600" b="0" i="0">
                <a:solidFill>
                  <a:srgbClr val="1C242C"/>
                </a:solidFill>
                <a:latin typeface="Arial"/>
              </a:rPr>
              <a:t>The two stimulus types produced similar frequencies of tail flips, yet taps usually recruited giant activity whereas pinches usually did not. Freely moving crayfish could respond to very light taps. For LG responses, the median latency from mechanical contact to the first giant spike was 7 ms.</a:t>
            </a:r>
          </a:p>
          <a:p>
            <a:pPr algn="l">
              <a:lnSpc>
                <a:spcPct val="108000"/>
              </a:lnSpc>
              <a:spcAft>
                <a:spcPts val="960"/>
              </a:spcAft>
            </a:pPr>
            <a:r>
              <a:rPr sz="1600" b="0" i="0">
                <a:solidFill>
                  <a:srgbClr val="1C242C"/>
                </a:solidFill>
                <a:latin typeface="Arial"/>
              </a:rPr>
              <a:t>These findings associate giant recruitment with stimulus timing, rather than a simple requirement for damaging intensity. The latency graph compares giant spikes with first major muscle potentials for nongiant responses, so its response markers are related but not identical.</a:t>
            </a:r>
          </a:p>
        </p:txBody>
      </p:sp>
      <p:pic>
        <p:nvPicPr>
          <p:cNvPr id="4" name="Picture 3" descr="WK72_4.png"/>
          <p:cNvPicPr>
            <a:picLocks noChangeAspect="1"/>
          </p:cNvPicPr>
          <p:nvPr/>
        </p:nvPicPr>
        <p:blipFill>
          <a:blip r:embed="rId2"/>
          <a:stretch>
            <a:fillRect/>
          </a:stretch>
        </p:blipFill>
        <p:spPr>
          <a:xfrm>
            <a:off x="6504127" y="1280160"/>
            <a:ext cx="5120640" cy="3492127"/>
          </a:xfrm>
          <a:prstGeom prst="rect">
            <a:avLst/>
          </a:prstGeom>
        </p:spPr>
      </p:pic>
      <p:sp>
        <p:nvSpPr>
          <p:cNvPr id="5" name="Figure caption"/>
          <p:cNvSpPr txBox="1"/>
          <p:nvPr/>
        </p:nvSpPr>
        <p:spPr>
          <a:xfrm>
            <a:off x="6504127" y="486372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Wine &amp; Krasne (1972), Fig. 4. Original distributions of giant-spike and nongiant muscle-response latency.</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Wine &amp; Krasne (1972)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The initiating flip and later swimming use different paths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0B4F7A"/>
                </a:solidFill>
                <a:latin typeface="Arial"/>
              </a:rPr>
              <a:t>Nongiant escape</a:t>
            </a:r>
            <a:r>
              <a:rPr sz="1600" b="0" i="0">
                <a:solidFill>
                  <a:srgbClr val="1C242C"/>
                </a:solidFill>
                <a:latin typeface="Arial"/>
              </a:rPr>
              <a:t> is a tail flip produced without detected activity in either giant-fiber pathway. Wine and Krasne recorded sequences in which an anterior tap triggered an MG spike or an abdominal tap triggered an LG spike. Subsequent flexions generally occurred without corresponding giant spikes.</a:t>
            </a:r>
          </a:p>
          <a:p>
            <a:pPr algn="l">
              <a:lnSpc>
                <a:spcPct val="108000"/>
              </a:lnSpc>
              <a:spcAft>
                <a:spcPts val="960"/>
              </a:spcAft>
            </a:pPr>
            <a:r>
              <a:rPr sz="1600" b="0" i="0">
                <a:solidFill>
                  <a:srgbClr val="1C242C"/>
                </a:solidFill>
                <a:latin typeface="Arial"/>
              </a:rPr>
              <a:t>The implanted cord recordings retained both the large initial neural event and later muscle activity. In one sequence, swimming resumed after a 350 ms pause with a nongiant first flip. A sequence of similar-looking flexions therefore need not be a sequence of giant-mediated reflexes.</a:t>
            </a:r>
          </a:p>
          <a:p>
            <a:pPr algn="l">
              <a:lnSpc>
                <a:spcPct val="108000"/>
              </a:lnSpc>
              <a:spcAft>
                <a:spcPts val="960"/>
              </a:spcAft>
            </a:pPr>
            <a:r>
              <a:rPr sz="1600" b="0" i="0">
                <a:solidFill>
                  <a:srgbClr val="1C242C"/>
                </a:solidFill>
                <a:latin typeface="Arial"/>
              </a:rPr>
              <a:t>The giant circuits primarily initiated rapid escape in these observations, while nongiant circuits supported repeated swimming. Occasional giant activity during swimming could accompany a new collision or stimulus; the recordings do not establish absolute silence of giants during every possible swimming sequence.</a:t>
            </a:r>
          </a:p>
        </p:txBody>
      </p:sp>
      <p:pic>
        <p:nvPicPr>
          <p:cNvPr id="4" name="Picture 3" descr="WK72_3.png"/>
          <p:cNvPicPr>
            <a:picLocks noChangeAspect="1"/>
          </p:cNvPicPr>
          <p:nvPr/>
        </p:nvPicPr>
        <p:blipFill>
          <a:blip r:embed="rId2"/>
          <a:stretch>
            <a:fillRect/>
          </a:stretch>
        </p:blipFill>
        <p:spPr>
          <a:xfrm>
            <a:off x="6504127" y="1280160"/>
            <a:ext cx="5120640" cy="3741279"/>
          </a:xfrm>
          <a:prstGeom prst="rect">
            <a:avLst/>
          </a:prstGeom>
        </p:spPr>
      </p:pic>
      <p:sp>
        <p:nvSpPr>
          <p:cNvPr id="5" name="Figure caption"/>
          <p:cNvSpPr txBox="1"/>
          <p:nvPr/>
        </p:nvSpPr>
        <p:spPr>
          <a:xfrm>
            <a:off x="6504127" y="51128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Wine &amp; Krasne (1972), Fig. 3(A,B). Giant-mediated initial responses followed by nongiant swimming.</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Wine &amp; Krasne (1972)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Nongiant swimming permits varied abdominal movements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A </a:t>
            </a:r>
            <a:r>
              <a:rPr sz="1600" b="1" i="0">
                <a:solidFill>
                  <a:srgbClr val="0B4F7A"/>
                </a:solidFill>
                <a:latin typeface="Arial"/>
              </a:rPr>
              <a:t>truncated tail flip</a:t>
            </a:r>
            <a:r>
              <a:rPr sz="1600" b="0" i="0">
                <a:solidFill>
                  <a:srgbClr val="1C242C"/>
                </a:solidFill>
                <a:latin typeface="Arial"/>
              </a:rPr>
              <a:t> stops before completing full flexion or re-extension. Wine and Krasne filmed nongiant swimming and observed truncated movements, changes of direction, and flexions resembling either giant-mediated trajectory. Their published sequence contains tracings separated by about 10 ms.</a:t>
            </a:r>
          </a:p>
          <a:p>
            <a:pPr algn="l">
              <a:lnSpc>
                <a:spcPct val="108000"/>
              </a:lnSpc>
              <a:spcAft>
                <a:spcPts val="960"/>
              </a:spcAft>
            </a:pPr>
            <a:r>
              <a:rPr sz="1600" b="0" i="0">
                <a:solidFill>
                  <a:srgbClr val="1C242C"/>
                </a:solidFill>
                <a:latin typeface="Arial"/>
              </a:rPr>
              <a:t>Cord recordings associated most successive swimming flexions with nongiant activity. Nongiant responses to gradual stimulation had much longer latencies than giant-mediated responses, when a meaningful onset could be assigned. Some nongiant flips occurred without an immediately preceding abrupt stimulus.</a:t>
            </a:r>
          </a:p>
          <a:p>
            <a:pPr algn="l">
              <a:lnSpc>
                <a:spcPct val="108000"/>
              </a:lnSpc>
              <a:spcAft>
                <a:spcPts val="960"/>
              </a:spcAft>
            </a:pPr>
            <a:r>
              <a:rPr sz="1600" b="0" i="0">
                <a:solidFill>
                  <a:srgbClr val="1C242C"/>
                </a:solidFill>
                <a:latin typeface="Arial"/>
              </a:rPr>
              <a:t>This flexibility supports parallel motor-control pathways beyond the giants. The authors proposed that longer latency permits more sensory guidance, but their behavioral observations did not directly measure every guidance signal. Longer latency and variable trajectory do not establish conscious choice or eliminate the possibility of stereotyped components.</a:t>
            </a:r>
          </a:p>
        </p:txBody>
      </p:sp>
      <p:pic>
        <p:nvPicPr>
          <p:cNvPr id="4" name="Picture 3" descr="WK72_6.png"/>
          <p:cNvPicPr>
            <a:picLocks noChangeAspect="1"/>
          </p:cNvPicPr>
          <p:nvPr/>
        </p:nvPicPr>
        <p:blipFill>
          <a:blip r:embed="rId2"/>
          <a:stretch>
            <a:fillRect/>
          </a:stretch>
        </p:blipFill>
        <p:spPr>
          <a:xfrm>
            <a:off x="6504127" y="1280160"/>
            <a:ext cx="5120640" cy="2304000"/>
          </a:xfrm>
          <a:prstGeom prst="rect">
            <a:avLst/>
          </a:prstGeom>
        </p:spPr>
      </p:pic>
      <p:sp>
        <p:nvSpPr>
          <p:cNvPr id="5" name="Figure caption"/>
          <p:cNvSpPr txBox="1"/>
          <p:nvPr/>
        </p:nvSpPr>
        <p:spPr>
          <a:xfrm>
            <a:off x="6504127" y="367560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Wine &amp; Krasne (1972), Fig. 6. Filmed truncated tail flip during a swimming sequence.</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Wine &amp; Krasne (1972)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Cord lesions separate nongiant initiation from local escape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A </a:t>
            </a:r>
            <a:r>
              <a:rPr sz="1500" b="1" i="0">
                <a:solidFill>
                  <a:srgbClr val="0B4F7A"/>
                </a:solidFill>
                <a:latin typeface="Arial"/>
              </a:rPr>
              <a:t>transection</a:t>
            </a:r>
            <a:r>
              <a:rPr sz="1500" b="0" i="0">
                <a:solidFill>
                  <a:srgbClr val="1C242C"/>
                </a:solidFill>
                <a:latin typeface="Arial"/>
              </a:rPr>
              <a:t> severs a neural pathway to test whether signals crossing it are required for a response. Wine and Krasne cut the crayfish nerve cord at several levels and tested responses to taps, gradual caudal stimuli, and swimming. They spared nearby arteries during the operations.</a:t>
            </a:r>
          </a:p>
          <a:p>
            <a:pPr algn="l">
              <a:lnSpc>
                <a:spcPct val="108000"/>
              </a:lnSpc>
              <a:spcAft>
                <a:spcPts val="900"/>
              </a:spcAft>
            </a:pPr>
            <a:r>
              <a:rPr sz="1500" b="0" i="0">
                <a:solidFill>
                  <a:srgbClr val="1C242C"/>
                </a:solidFill>
                <a:latin typeface="Arial"/>
              </a:rPr>
              <a:t>Cuts below the suboesophageal ganglion complex abolished ordinary nongiant responses to gradual caudal stimulation and sustained swimming, while local giant-mediated responses to abdominal taps persisted. Cutting above that complex could leave nongiant responsiveness available. Some caudal nongiant responses returned after approximately a week following lower cuts.</a:t>
            </a:r>
          </a:p>
          <a:p>
            <a:pPr algn="l">
              <a:lnSpc>
                <a:spcPct val="108000"/>
              </a:lnSpc>
              <a:spcAft>
                <a:spcPts val="900"/>
              </a:spcAft>
            </a:pPr>
            <a:r>
              <a:rPr sz="1500" b="0" i="0">
                <a:solidFill>
                  <a:srgbClr val="1C242C"/>
                </a:solidFill>
                <a:latin typeface="Arial"/>
              </a:rPr>
              <a:t>The pattern supports an important initiating or facilitating contribution from anterior ganglia. Recovery and segmental responsiveness prevent a claim that all nongiant tail flips require one exclusive command site. Lesions identify pathway dependence but cannot alone distinguish initiation from tonic facilitation.</a:t>
            </a:r>
          </a:p>
        </p:txBody>
      </p:sp>
      <p:pic>
        <p:nvPicPr>
          <p:cNvPr id="4" name="Picture 3" descr="WK72_8.png"/>
          <p:cNvPicPr>
            <a:picLocks noChangeAspect="1"/>
          </p:cNvPicPr>
          <p:nvPr/>
        </p:nvPicPr>
        <p:blipFill>
          <a:blip r:embed="rId2"/>
          <a:stretch>
            <a:fillRect/>
          </a:stretch>
        </p:blipFill>
        <p:spPr>
          <a:xfrm>
            <a:off x="6504127" y="1280160"/>
            <a:ext cx="5120640" cy="1895419"/>
          </a:xfrm>
          <a:prstGeom prst="rect">
            <a:avLst/>
          </a:prstGeom>
        </p:spPr>
      </p:pic>
      <p:sp>
        <p:nvSpPr>
          <p:cNvPr id="5" name="Figure caption"/>
          <p:cNvSpPr txBox="1"/>
          <p:nvPr/>
        </p:nvSpPr>
        <p:spPr>
          <a:xfrm>
            <a:off x="6504127" y="326701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Wine &amp; Krasne (1972), Fig. 8. Published locations of nerve-cord transections.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Wine &amp; Krasne (1972)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Medial giants originate anteriorly and descend the cord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The paired MG neurons originate in the brain, cross the midline, and continue along the ventral nerve cord to the final abdominal ganglion. </a:t>
            </a:r>
            <a:r>
              <a:rPr sz="1500" b="1" i="0">
                <a:solidFill>
                  <a:srgbClr val="0B4F7A"/>
                </a:solidFill>
                <a:latin typeface="Arial"/>
              </a:rPr>
              <a:t>Decussation</a:t>
            </a:r>
            <a:r>
              <a:rPr sz="1500" b="0" i="0">
                <a:solidFill>
                  <a:srgbClr val="1C242C"/>
                </a:solidFill>
                <a:latin typeface="Arial"/>
              </a:rPr>
              <a:t> means crossing from one side of the nervous system to the other. Wine and Krasne related this anatomy to anterior receptive fields and descending recorded activity.</a:t>
            </a:r>
          </a:p>
          <a:p>
            <a:pPr algn="l">
              <a:lnSpc>
                <a:spcPct val="108000"/>
              </a:lnSpc>
              <a:spcAft>
                <a:spcPts val="900"/>
              </a:spcAft>
            </a:pPr>
            <a:r>
              <a:rPr sz="1500" b="0" i="0">
                <a:solidFill>
                  <a:srgbClr val="1C242C"/>
                </a:solidFill>
                <a:latin typeface="Arial"/>
              </a:rPr>
              <a:t>MG axons can reach approximately 200 μm in diameter in the connectives surrounding the oesophagus, tapering in the abdomen. Rostral taps and sufficiently rapid approaching visual objects activated MG in free animals. Gradual anterior stimuli more often recruited nongiant responses.</a:t>
            </a:r>
          </a:p>
          <a:p>
            <a:pPr algn="l">
              <a:lnSpc>
                <a:spcPct val="108000"/>
              </a:lnSpc>
              <a:spcAft>
                <a:spcPts val="900"/>
              </a:spcAft>
            </a:pPr>
            <a:r>
              <a:rPr sz="1500" b="0" i="0">
                <a:solidFill>
                  <a:srgbClr val="1C242C"/>
                </a:solidFill>
                <a:latin typeface="Arial"/>
              </a:rPr>
              <a:t>Anatomical position and propagation direction support the identification of an anterior escape pathway. They do not establish that every anterior sensory modality uses the same synapse. Modern antenna II recordings isolate one sensory route, whereas the intact-animal stimuli often contained several physical components.</a:t>
            </a:r>
          </a:p>
        </p:txBody>
      </p:sp>
      <p:pic>
        <p:nvPicPr>
          <p:cNvPr id="4" name="Picture 3" descr="WK72_1.png"/>
          <p:cNvPicPr>
            <a:picLocks noChangeAspect="1"/>
          </p:cNvPicPr>
          <p:nvPr/>
        </p:nvPicPr>
        <p:blipFill>
          <a:blip r:embed="rId2"/>
          <a:stretch>
            <a:fillRect/>
          </a:stretch>
        </p:blipFill>
        <p:spPr>
          <a:xfrm>
            <a:off x="7117749" y="1280160"/>
            <a:ext cx="3527634" cy="2194560"/>
          </a:xfrm>
          <a:prstGeom prst="rect">
            <a:avLst/>
          </a:prstGeom>
        </p:spPr>
      </p:pic>
      <p:sp>
        <p:nvSpPr>
          <p:cNvPr id="5" name="Figure caption"/>
          <p:cNvSpPr txBox="1"/>
          <p:nvPr/>
        </p:nvSpPr>
        <p:spPr>
          <a:xfrm>
            <a:off x="6138367" y="35661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Wine &amp; Krasne (1972), Fig. 1. Receptive fields and giant-axon cross sections.</a:t>
            </a:r>
          </a:p>
        </p:txBody>
      </p:sp>
      <p:pic>
        <p:nvPicPr>
          <p:cNvPr id="6" name="Picture 5" descr="M18_1A.png"/>
          <p:cNvPicPr>
            <a:picLocks noChangeAspect="1"/>
          </p:cNvPicPr>
          <p:nvPr/>
        </p:nvPicPr>
        <p:blipFill>
          <a:blip r:embed="rId3"/>
          <a:stretch>
            <a:fillRect/>
          </a:stretch>
        </p:blipFill>
        <p:spPr>
          <a:xfrm>
            <a:off x="8292946" y="4023360"/>
            <a:ext cx="1177241" cy="17373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Swierzbinski &amp; Herberholz (2018), Fig. 1(A). Published anatomical arrangement of antenna II input and the MG neuron.</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Wine &amp; Krasne (1972); Swierzbinski &amp; Herberholz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Lateral giants combine segmental neurons and local inputs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The paired LG pathways contain serial neuronal segments associated with abdominal ganglia. Their dorsal giant axons are connected to ventral cell bodies and dendritic branches receiving local sensory input. Electrical coupling across segmental and contralateral junctions coordinates activity within the escape pathway.</a:t>
            </a:r>
          </a:p>
          <a:p>
            <a:pPr algn="l">
              <a:lnSpc>
                <a:spcPct val="108000"/>
              </a:lnSpc>
              <a:spcAft>
                <a:spcPts val="900"/>
              </a:spcAft>
            </a:pPr>
            <a:r>
              <a:rPr sz="1500" b="0" i="0">
                <a:solidFill>
                  <a:srgbClr val="1C242C"/>
                </a:solidFill>
                <a:latin typeface="Arial"/>
              </a:rPr>
              <a:t>Wine and Krasne reported LG diameters up to about 200 μm in the abdomen, with smaller diameters anteriorly. Abdominal taps recruited ascending activity and an upward-pitching response. Herberholz and colleagues later imaged the LG dendrites and their afferent contacts in the terminal abdominal ganglion.</a:t>
            </a:r>
          </a:p>
          <a:p>
            <a:pPr algn="l">
              <a:lnSpc>
                <a:spcPct val="108000"/>
              </a:lnSpc>
              <a:spcAft>
                <a:spcPts val="900"/>
              </a:spcAft>
            </a:pPr>
            <a:r>
              <a:rPr sz="1500" b="0" i="0">
                <a:solidFill>
                  <a:srgbClr val="1C242C"/>
                </a:solidFill>
                <a:latin typeface="Arial"/>
              </a:rPr>
              <a:t>A posterior stimulus can therefore gain access to a distributed giant pathway through local synaptic inputs. The large axon is only one part of the circuit. Its diameter does not specify which sensory inputs reach threshold or which segmental motor connections generate the movement.</a:t>
            </a:r>
          </a:p>
        </p:txBody>
      </p:sp>
      <p:pic>
        <p:nvPicPr>
          <p:cNvPr id="4" name="Picture 3" descr="WK72_1.png"/>
          <p:cNvPicPr>
            <a:picLocks noChangeAspect="1"/>
          </p:cNvPicPr>
          <p:nvPr/>
        </p:nvPicPr>
        <p:blipFill>
          <a:blip r:embed="rId2"/>
          <a:stretch>
            <a:fillRect/>
          </a:stretch>
        </p:blipFill>
        <p:spPr>
          <a:xfrm>
            <a:off x="6529810" y="1280160"/>
            <a:ext cx="4703512"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Wine &amp; Krasne (1972), Fig. 1. Giant-axon organization and posterior receptive fields.</a:t>
            </a:r>
          </a:p>
        </p:txBody>
      </p:sp>
      <p:pic>
        <p:nvPicPr>
          <p:cNvPr id="6" name="Picture 5" descr="H02_2B.png"/>
          <p:cNvPicPr>
            <a:picLocks noChangeAspect="1"/>
          </p:cNvPicPr>
          <p:nvPr/>
        </p:nvPicPr>
        <p:blipFill>
          <a:blip r:embed="rId3"/>
          <a:stretch>
            <a:fillRect/>
          </a:stretch>
        </p:blipFill>
        <p:spPr>
          <a:xfrm>
            <a:off x="8407872" y="4754880"/>
            <a:ext cx="94738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2(B). LG dendritic contacts with primary afferents; original 10 μm scale.</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Wine &amp; Krasne (1972); Herberholz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The intact ventral cord contains repeated ganglia</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Herberholz and colleagues used </a:t>
            </a:r>
            <a:r>
              <a:rPr sz="1600" b="1" i="0">
                <a:solidFill>
                  <a:srgbClr val="0B4F7A"/>
                </a:solidFill>
                <a:latin typeface="Arial"/>
              </a:rPr>
              <a:t>magnetic resonance imaging</a:t>
            </a:r>
            <a:r>
              <a:rPr sz="1600" b="0" i="0">
                <a:solidFill>
                  <a:srgbClr val="1C242C"/>
                </a:solidFill>
                <a:latin typeface="Arial"/>
              </a:rPr>
              <a:t>, or MRI, to examine the nervous system without dissecting away the animal’s surrounding tissues. Juvenile crayfish were injected with manganese chloride, allowed to move, and then held motionless in narrow imaging tubes.</a:t>
            </a:r>
          </a:p>
          <a:p>
            <a:pPr algn="l">
              <a:lnSpc>
                <a:spcPct val="108000"/>
              </a:lnSpc>
              <a:spcAft>
                <a:spcPts val="960"/>
              </a:spcAft>
            </a:pPr>
            <a:r>
              <a:rPr sz="1600" b="0" i="0">
                <a:solidFill>
                  <a:srgbClr val="1C242C"/>
                </a:solidFill>
                <a:latin typeface="Arial"/>
              </a:rPr>
              <a:t>A three-dimensional acquisition at 78 μm resolution in each dimension resolved the ventral nerve cord and individual thoracic and abdominal ganglia. The sagittal section retains the animal’s curled abdomen and the cord’s course through it. Manganese increased contrast between tissues and exposed anatomical features poorly separated in conventional scans.</a:t>
            </a:r>
          </a:p>
          <a:p>
            <a:pPr algn="l">
              <a:lnSpc>
                <a:spcPct val="108000"/>
              </a:lnSpc>
              <a:spcAft>
                <a:spcPts val="960"/>
              </a:spcAft>
            </a:pPr>
            <a:r>
              <a:rPr sz="1600" b="0" i="0">
                <a:solidFill>
                  <a:srgbClr val="1C242C"/>
                </a:solidFill>
                <a:latin typeface="Arial"/>
              </a:rPr>
              <a:t>Repeated ganglia provide the anatomical setting for segmental giant and motor circuitry. The scan does not resolve every neuronal connection or identify active LG spikes. Anatomical visibility and activity measurement are separate properties of the imaging method.</a:t>
            </a:r>
          </a:p>
        </p:txBody>
      </p:sp>
      <p:pic>
        <p:nvPicPr>
          <p:cNvPr id="4" name="Picture 3" descr="H11_2D.png"/>
          <p:cNvPicPr>
            <a:picLocks noChangeAspect="1"/>
          </p:cNvPicPr>
          <p:nvPr/>
        </p:nvPicPr>
        <p:blipFill>
          <a:blip r:embed="rId2"/>
          <a:stretch>
            <a:fillRect/>
          </a:stretch>
        </p:blipFill>
        <p:spPr>
          <a:xfrm>
            <a:off x="6504127" y="1280160"/>
            <a:ext cx="5120640" cy="2176448"/>
          </a:xfrm>
          <a:prstGeom prst="rect">
            <a:avLst/>
          </a:prstGeom>
        </p:spPr>
      </p:pic>
      <p:sp>
        <p:nvSpPr>
          <p:cNvPr id="5" name="Figure caption"/>
          <p:cNvSpPr txBox="1"/>
          <p:nvPr/>
        </p:nvSpPr>
        <p:spPr>
          <a:xfrm>
            <a:off x="6504127" y="354804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(2011), Fig. 2(D). Sagittal manganese-enhanced MRI of the ventral nerve cord.</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Herberholz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Tracer size distinguishes the filled neuron from partners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Herberholz and colleagues pressure-injected LG with two fluorescent tracers. Large dextran-linked Texas Red remained predominantly within the injected neuron, whereas low-molecular-weight </a:t>
            </a:r>
            <a:r>
              <a:rPr sz="1600" b="1" i="0">
                <a:solidFill>
                  <a:srgbClr val="0B4F7A"/>
                </a:solidFill>
                <a:latin typeface="Arial"/>
              </a:rPr>
              <a:t>Neurobiotin</a:t>
            </a:r>
            <a:r>
              <a:rPr sz="1600" b="0" i="0">
                <a:solidFill>
                  <a:srgbClr val="1C242C"/>
                </a:solidFill>
                <a:latin typeface="Arial"/>
              </a:rPr>
              <a:t> could pass into electrically coupled cells. Fluorescent detection distinguished LG from its coupled partners.</a:t>
            </a:r>
          </a:p>
          <a:p>
            <a:pPr algn="l">
              <a:lnSpc>
                <a:spcPct val="108000"/>
              </a:lnSpc>
              <a:spcAft>
                <a:spcPts val="960"/>
              </a:spcAft>
            </a:pPr>
            <a:r>
              <a:rPr sz="1600" b="0" i="0">
                <a:solidFill>
                  <a:srgbClr val="1C242C"/>
                </a:solidFill>
                <a:latin typeface="Arial"/>
              </a:rPr>
              <a:t>The original confocal projection contains the major LG dendrite and primary afferent axons extending into the ganglionic nerves. Superposition of red and green signals produces yellow within the filled LG, while other coupled cells appear green. The figure retains its original 50 μm scale bar.</a:t>
            </a:r>
          </a:p>
          <a:p>
            <a:pPr algn="l">
              <a:lnSpc>
                <a:spcPct val="108000"/>
              </a:lnSpc>
              <a:spcAft>
                <a:spcPts val="960"/>
              </a:spcAft>
            </a:pPr>
            <a:r>
              <a:rPr sz="1600" b="1" i="0">
                <a:solidFill>
                  <a:srgbClr val="0B4F7A"/>
                </a:solidFill>
                <a:latin typeface="Arial"/>
              </a:rPr>
              <a:t>Dye coupling</a:t>
            </a:r>
            <a:r>
              <a:rPr sz="1600" b="0" i="0">
                <a:solidFill>
                  <a:srgbClr val="1C242C"/>
                </a:solidFill>
                <a:latin typeface="Arial"/>
              </a:rPr>
              <a:t> supports an intercellular pathway permeable to the tracer. It does not by itself measure synaptic current direction, conductance, or effectiveness at firing threshold. The investigators therefore combined the anatomy with paired electrical recordings rather than treating fluorescence as proof of every functional connection.</a:t>
            </a:r>
          </a:p>
        </p:txBody>
      </p:sp>
      <p:pic>
        <p:nvPicPr>
          <p:cNvPr id="4" name="Picture 3" descr="H02_2A.png"/>
          <p:cNvPicPr>
            <a:picLocks noChangeAspect="1"/>
          </p:cNvPicPr>
          <p:nvPr/>
        </p:nvPicPr>
        <p:blipFill>
          <a:blip r:embed="rId2"/>
          <a:stretch>
            <a:fillRect/>
          </a:stretch>
        </p:blipFill>
        <p:spPr>
          <a:xfrm>
            <a:off x="6988449" y="1280160"/>
            <a:ext cx="415199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2(A). LG and dye-coupled neurons in the terminal ganglion.</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Herberholz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Fine LG dendrites contact primary afferent terminals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The terminal ganglion receives sensory axons from touch-sensitive hairs and stretch receptors of the tail fan. Herberholz and colleagues traced these inputs into distinct parts of the LG dendritic tree. Input from different nerves was spatially segregated rather than uniformly mixed across every branch.</a:t>
            </a:r>
          </a:p>
          <a:p>
            <a:pPr algn="l">
              <a:lnSpc>
                <a:spcPct val="108000"/>
              </a:lnSpc>
              <a:spcAft>
                <a:spcPts val="960"/>
              </a:spcAft>
            </a:pPr>
            <a:r>
              <a:rPr sz="1600" b="0" i="0">
                <a:solidFill>
                  <a:srgbClr val="1C242C"/>
                </a:solidFill>
                <a:latin typeface="Arial"/>
              </a:rPr>
              <a:t>High-resolution confocal images revealed thin, vine-like LG processes wrapping around afferent axons. The original panel retains a 10 μm scale bar. These contacts occur near distal endings of the major LG dendritic branches, where sensory input enters the command neuron.</a:t>
            </a:r>
          </a:p>
          <a:p>
            <a:pPr algn="l">
              <a:lnSpc>
                <a:spcPct val="108000"/>
              </a:lnSpc>
              <a:spcAft>
                <a:spcPts val="960"/>
              </a:spcAft>
            </a:pPr>
            <a:r>
              <a:rPr sz="1600" b="0" i="0">
                <a:solidFill>
                  <a:srgbClr val="1C242C"/>
                </a:solidFill>
                <a:latin typeface="Arial"/>
              </a:rPr>
              <a:t>The anatomical arrangement creates a local substrate for synaptic interaction between afferents and LG. Contact in a projection is not enough to identify each membrane junction or its molecular channel. Functional recordings and tracer passage provide additional evidence for electrical coupling at these sites.</a:t>
            </a:r>
          </a:p>
        </p:txBody>
      </p:sp>
      <p:pic>
        <p:nvPicPr>
          <p:cNvPr id="4" name="Picture 3" descr="H02_2B.png"/>
          <p:cNvPicPr>
            <a:picLocks noChangeAspect="1"/>
          </p:cNvPicPr>
          <p:nvPr/>
        </p:nvPicPr>
        <p:blipFill>
          <a:blip r:embed="rId2"/>
          <a:stretch>
            <a:fillRect/>
          </a:stretch>
        </p:blipFill>
        <p:spPr>
          <a:xfrm>
            <a:off x="7040479" y="1280160"/>
            <a:ext cx="404793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2(B). Fine dendritic processes surrounding afferent axons.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Herberholz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Neighboring afferents form a dye-coupled network</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Herberholz and colleagues injected Neurobiotin into one primary afferent while filling LG separately with Texas Red. This preparation distinguished passage among sensory axons from tracer introduced directly into LG. The afferent labeling extended to neighboring sensory axons through central contacts.</a:t>
            </a:r>
          </a:p>
          <a:p>
            <a:pPr algn="l">
              <a:lnSpc>
                <a:spcPct val="108000"/>
              </a:lnSpc>
              <a:spcAft>
                <a:spcPts val="960"/>
              </a:spcAft>
            </a:pPr>
            <a:r>
              <a:rPr sz="1600" b="0" i="0">
                <a:solidFill>
                  <a:srgbClr val="1C242C"/>
                </a:solidFill>
                <a:latin typeface="Arial"/>
              </a:rPr>
              <a:t>Individual injected afferents were coupled to between one and twelve other afferents. Most labeled partners entered through the same sensory nerve, although some connections crossed between nerves. The enlarged published panel separates the afferent-coupling site from the nearby contact with LG.</a:t>
            </a:r>
          </a:p>
          <a:p>
            <a:pPr algn="l">
              <a:lnSpc>
                <a:spcPct val="108000"/>
              </a:lnSpc>
              <a:spcAft>
                <a:spcPts val="960"/>
              </a:spcAft>
            </a:pPr>
            <a:r>
              <a:rPr sz="1600" b="0" i="0">
                <a:solidFill>
                  <a:srgbClr val="1C242C"/>
                </a:solidFill>
                <a:latin typeface="Arial"/>
              </a:rPr>
              <a:t>The distribution supports a local sensory network capable of interaction before signals reach the command neuron. Dye passage alone does not establish that an unstimulated neighbor fires. The subsequent current-injection experiments tested whether this anatomical connectivity can transmit electrical excitation.</a:t>
            </a:r>
          </a:p>
        </p:txBody>
      </p:sp>
      <p:pic>
        <p:nvPicPr>
          <p:cNvPr id="4" name="Picture 3" descr="H02_3AB.png"/>
          <p:cNvPicPr>
            <a:picLocks noChangeAspect="1"/>
          </p:cNvPicPr>
          <p:nvPr/>
        </p:nvPicPr>
        <p:blipFill>
          <a:blip r:embed="rId2"/>
          <a:stretch>
            <a:fillRect/>
          </a:stretch>
        </p:blipFill>
        <p:spPr>
          <a:xfrm>
            <a:off x="6504127" y="1280160"/>
            <a:ext cx="5120640" cy="2487858"/>
          </a:xfrm>
          <a:prstGeom prst="rect">
            <a:avLst/>
          </a:prstGeom>
        </p:spPr>
      </p:pic>
      <p:sp>
        <p:nvSpPr>
          <p:cNvPr id="5" name="Figure caption"/>
          <p:cNvSpPr txBox="1"/>
          <p:nvPr/>
        </p:nvSpPr>
        <p:spPr>
          <a:xfrm>
            <a:off x="6504127" y="385945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3(A,B). A filled afferent and its coupled neighbors beside LG.</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Herberholz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Paired recordings establish electrical afferent coupling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An </a:t>
            </a:r>
            <a:r>
              <a:rPr sz="1500" b="1" i="0">
                <a:solidFill>
                  <a:srgbClr val="0B4F7A"/>
                </a:solidFill>
                <a:latin typeface="Arial"/>
              </a:rPr>
              <a:t>excitatory postsynaptic potential</a:t>
            </a:r>
            <a:r>
              <a:rPr sz="1500" b="0" i="0">
                <a:solidFill>
                  <a:srgbClr val="1C242C"/>
                </a:solidFill>
                <a:latin typeface="Arial"/>
              </a:rPr>
              <a:t>, or EPSP, is a synaptic voltage change that promotes neuronal excitation. Herberholz and colleagues recorded a small, brief LG EPSP when an individual afferent fired after intracellular current injection. They also recorded simultaneously from pairs of afferent axons.</a:t>
            </a:r>
          </a:p>
          <a:p>
            <a:pPr algn="l">
              <a:lnSpc>
                <a:spcPct val="108000"/>
              </a:lnSpc>
              <a:spcAft>
                <a:spcPts val="900"/>
              </a:spcAft>
            </a:pPr>
            <a:r>
              <a:rPr sz="1500" b="0" i="0">
                <a:solidFill>
                  <a:srgbClr val="1C242C"/>
                </a:solidFill>
                <a:latin typeface="Arial"/>
              </a:rPr>
              <a:t>Depolarizing one afferent produced a smaller depolarization and corresponding EPSPs in its neighbor. Applying current to the other cell produced reciprocal effects. LG did not fire during these paired-afferent tests, excluding an LG spike as the required intermediary event.</a:t>
            </a:r>
          </a:p>
          <a:p>
            <a:pPr algn="l">
              <a:lnSpc>
                <a:spcPct val="108000"/>
              </a:lnSpc>
              <a:spcAft>
                <a:spcPts val="900"/>
              </a:spcAft>
            </a:pPr>
            <a:r>
              <a:rPr sz="1500" b="0" i="0">
                <a:solidFill>
                  <a:srgbClr val="1C242C"/>
                </a:solidFill>
                <a:latin typeface="Arial"/>
              </a:rPr>
              <a:t>The transfer of sustained voltage as well as spike-related signals supports electrical coupling among sensory terminals. These observations establish functional communication beyond dye passage. They do not identify the protein composition of the junctions or prove that every afferent pair has identical coupling strength.</a:t>
            </a:r>
          </a:p>
        </p:txBody>
      </p:sp>
      <p:pic>
        <p:nvPicPr>
          <p:cNvPr id="4" name="Picture 3" descr="H02_3CD.png"/>
          <p:cNvPicPr>
            <a:picLocks noChangeAspect="1"/>
          </p:cNvPicPr>
          <p:nvPr/>
        </p:nvPicPr>
        <p:blipFill>
          <a:blip r:embed="rId2"/>
          <a:stretch>
            <a:fillRect/>
          </a:stretch>
        </p:blipFill>
        <p:spPr>
          <a:xfrm>
            <a:off x="6138367" y="1280160"/>
            <a:ext cx="5486400" cy="1588443"/>
          </a:xfrm>
          <a:prstGeom prst="rect">
            <a:avLst/>
          </a:prstGeom>
        </p:spPr>
      </p:pic>
      <p:sp>
        <p:nvSpPr>
          <p:cNvPr id="5" name="Figure caption"/>
          <p:cNvSpPr txBox="1"/>
          <p:nvPr/>
        </p:nvSpPr>
        <p:spPr>
          <a:xfrm>
            <a:off x="6138367" y="2960043"/>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3(C,D). Afferent-to-LG transmission and interactions between sensory axons.</a:t>
            </a:r>
          </a:p>
        </p:txBody>
      </p:sp>
      <p:pic>
        <p:nvPicPr>
          <p:cNvPr id="6" name="Picture 5" descr="H02_2B.png"/>
          <p:cNvPicPr>
            <a:picLocks noChangeAspect="1"/>
          </p:cNvPicPr>
          <p:nvPr/>
        </p:nvPicPr>
        <p:blipFill>
          <a:blip r:embed="rId3"/>
          <a:stretch>
            <a:fillRect/>
          </a:stretch>
        </p:blipFill>
        <p:spPr>
          <a:xfrm>
            <a:off x="8407872" y="4754880"/>
            <a:ext cx="94738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2(B). LG dendritic contacts with primary afferents; original 10 μm scale.</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Herberholz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Sensory stimulation can recruit an unstimulated afferent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Herberholz and colleagues increased the strength of sensory-nerve shocks while recording a particular afferent and LG. Below the recorded afferent’s direct stimulation threshold, smaller shocks already evoked EPSPs in that cell. The source therefore distinguished direct axonal stimulation from recruitment through other neurons.</a:t>
            </a:r>
          </a:p>
          <a:p>
            <a:pPr algn="l">
              <a:lnSpc>
                <a:spcPct val="108000"/>
              </a:lnSpc>
              <a:spcAft>
                <a:spcPts val="900"/>
              </a:spcAft>
            </a:pPr>
            <a:r>
              <a:rPr sz="1500" b="0" i="0">
                <a:solidFill>
                  <a:srgbClr val="1C242C"/>
                </a:solidFill>
                <a:latin typeface="Arial"/>
              </a:rPr>
              <a:t>As shock strength increased, the afferent EPSP rose in discrete steps. A recruited spike appeared before the stronger shock that directly activated the recorded axon, and its appearance coincided with additional LG excitation. Direct activation shortened the latency of the recorded afferent spike.</a:t>
            </a:r>
          </a:p>
          <a:p>
            <a:pPr algn="l">
              <a:lnSpc>
                <a:spcPct val="108000"/>
              </a:lnSpc>
              <a:spcAft>
                <a:spcPts val="900"/>
              </a:spcAft>
            </a:pPr>
            <a:r>
              <a:rPr sz="1500" b="0" i="0">
                <a:solidFill>
                  <a:srgbClr val="1C242C"/>
                </a:solidFill>
                <a:latin typeface="Arial"/>
              </a:rPr>
              <a:t>The experiment supports sensory amplification through a lateral network: activated afferents can enlist additional inputs. It does not convert shock voltage into a calibrated natural touch intensity. Electrode position and individual axonal thresholds affect which afferents the shock recruits first.</a:t>
            </a:r>
          </a:p>
        </p:txBody>
      </p:sp>
      <p:pic>
        <p:nvPicPr>
          <p:cNvPr id="4" name="Picture 3" descr="H02_4.png"/>
          <p:cNvPicPr>
            <a:picLocks noChangeAspect="1"/>
          </p:cNvPicPr>
          <p:nvPr/>
        </p:nvPicPr>
        <p:blipFill>
          <a:blip r:embed="rId2"/>
          <a:stretch>
            <a:fillRect/>
          </a:stretch>
        </p:blipFill>
        <p:spPr>
          <a:xfrm>
            <a:off x="6138367" y="1280160"/>
            <a:ext cx="5486400" cy="2860667"/>
          </a:xfrm>
          <a:prstGeom prst="rect">
            <a:avLst/>
          </a:prstGeom>
        </p:spPr>
      </p:pic>
      <p:sp>
        <p:nvSpPr>
          <p:cNvPr id="5" name="Figure caption"/>
          <p:cNvSpPr txBox="1"/>
          <p:nvPr/>
        </p:nvSpPr>
        <p:spPr>
          <a:xfrm>
            <a:off x="6138367" y="423226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4(A,B). Increasing nerve shocks recruit sensory EPSPs and afferent spikes.</a:t>
            </a:r>
          </a:p>
        </p:txBody>
      </p:sp>
      <p:pic>
        <p:nvPicPr>
          <p:cNvPr id="6" name="Picture 5" descr="H02_2B.png"/>
          <p:cNvPicPr>
            <a:picLocks noChangeAspect="1"/>
          </p:cNvPicPr>
          <p:nvPr/>
        </p:nvPicPr>
        <p:blipFill>
          <a:blip r:embed="rId3"/>
          <a:stretch>
            <a:fillRect/>
          </a:stretch>
        </p:blipFill>
        <p:spPr>
          <a:xfrm>
            <a:off x="8407872" y="4754880"/>
            <a:ext cx="94738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2(B). LG dendritic contacts with primary afferents; original 10 μm scale.</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Herberholz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LG depolarization enhances sensory-afferent recruitment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Herberholz and colleagues held sensory stimulation constant while injecting current into LG. A sensory EPSP that normally remained below firing threshold in an afferent became suprathreshold when LG was depolarized. The imposed LG shift was approximately 10–20 mV at its initial segment.</a:t>
            </a:r>
          </a:p>
          <a:p>
            <a:pPr algn="l">
              <a:lnSpc>
                <a:spcPct val="108000"/>
              </a:lnSpc>
              <a:spcAft>
                <a:spcPts val="960"/>
              </a:spcAft>
            </a:pPr>
            <a:r>
              <a:rPr sz="1600" b="0" i="0">
                <a:solidFill>
                  <a:srgbClr val="1C242C"/>
                </a:solidFill>
                <a:latin typeface="Arial"/>
              </a:rPr>
              <a:t>The effect cannot be explained solely by adding voltage at the command neuron’s spike-generating membrane. It changed whether a presynaptic sensory axon fired. Current could spread from LG toward coupled afferent terminals, supplementing excitation arriving from neighboring sensory neurons.</a:t>
            </a:r>
          </a:p>
          <a:p>
            <a:pPr algn="l">
              <a:lnSpc>
                <a:spcPct val="108000"/>
              </a:lnSpc>
              <a:spcAft>
                <a:spcPts val="960"/>
              </a:spcAft>
            </a:pPr>
            <a:r>
              <a:rPr sz="1600" b="0" i="0">
                <a:solidFill>
                  <a:srgbClr val="1C242C"/>
                </a:solidFill>
                <a:latin typeface="Arial"/>
              </a:rPr>
              <a:t>This supports a feedback interaction between the developing LG response and recruitment of its own inputs. It does not establish the natural source of every equivalent depolarization in an intact animal. The causal manipulation was intracellular current injection in an exposed neural preparation.</a:t>
            </a:r>
          </a:p>
        </p:txBody>
      </p:sp>
      <p:pic>
        <p:nvPicPr>
          <p:cNvPr id="4" name="Picture 3" descr="H02_5.png"/>
          <p:cNvPicPr>
            <a:picLocks noChangeAspect="1"/>
          </p:cNvPicPr>
          <p:nvPr/>
        </p:nvPicPr>
        <p:blipFill>
          <a:blip r:embed="rId2"/>
          <a:stretch>
            <a:fillRect/>
          </a:stretch>
        </p:blipFill>
        <p:spPr>
          <a:xfrm>
            <a:off x="6138367" y="1280160"/>
            <a:ext cx="5486400" cy="2792061"/>
          </a:xfrm>
          <a:prstGeom prst="rect">
            <a:avLst/>
          </a:prstGeom>
        </p:spPr>
      </p:pic>
      <p:sp>
        <p:nvSpPr>
          <p:cNvPr id="5" name="Figure caption"/>
          <p:cNvSpPr txBox="1"/>
          <p:nvPr/>
        </p:nvSpPr>
        <p:spPr>
          <a:xfrm>
            <a:off x="6138367" y="4163661"/>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5(A,B). Opposite effects of LG depolarization and hyperpolarization.</a:t>
            </a:r>
          </a:p>
        </p:txBody>
      </p:sp>
      <p:pic>
        <p:nvPicPr>
          <p:cNvPr id="6" name="Picture 5" descr="H02_2B.png"/>
          <p:cNvPicPr>
            <a:picLocks noChangeAspect="1"/>
          </p:cNvPicPr>
          <p:nvPr/>
        </p:nvPicPr>
        <p:blipFill>
          <a:blip r:embed="rId3"/>
          <a:stretch>
            <a:fillRect/>
          </a:stretch>
        </p:blipFill>
        <p:spPr>
          <a:xfrm>
            <a:off x="8407872" y="4754880"/>
            <a:ext cx="94738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2(B). LG dendritic contacts with primary afferents; original 10 μm scale.</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Herberholz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LG hyperpolarization suppresses recruited sensory spikes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0B4F7A"/>
                </a:solidFill>
                <a:latin typeface="Arial"/>
              </a:rPr>
              <a:t>Hyperpolarization</a:t>
            </a:r>
            <a:r>
              <a:rPr sz="1500" b="0" i="0">
                <a:solidFill>
                  <a:srgbClr val="1C242C"/>
                </a:solidFill>
                <a:latin typeface="Arial"/>
              </a:rPr>
              <a:t> shifts membrane voltage in the negative direction relative to its resting level. Herberholz and colleagues injected hyperpolarizing current into LG while presenting the same sensory-nerve stimulus. A previously suprathreshold afferent EPSP then failed to evoke its recruited spike.</a:t>
            </a:r>
          </a:p>
          <a:p>
            <a:pPr algn="l">
              <a:lnSpc>
                <a:spcPct val="108000"/>
              </a:lnSpc>
              <a:spcAft>
                <a:spcPts val="900"/>
              </a:spcAft>
            </a:pPr>
            <a:r>
              <a:rPr sz="1500" b="0" i="0">
                <a:solidFill>
                  <a:srgbClr val="1C242C"/>
                </a:solidFill>
                <a:latin typeface="Arial"/>
              </a:rPr>
              <a:t>This opposite manipulation complements the depolarization test. The stimulus delivered to the nerve did not need to be weakened to reduce sensory recruitment. LG membrane state altered the excitatory interaction between sensory axons and the command neuron through the electrically coupled circuit.</a:t>
            </a:r>
          </a:p>
          <a:p>
            <a:pPr algn="l">
              <a:lnSpc>
                <a:spcPct val="108000"/>
              </a:lnSpc>
              <a:spcAft>
                <a:spcPts val="900"/>
              </a:spcAft>
            </a:pPr>
            <a:r>
              <a:rPr sz="1500" b="0" i="0">
                <a:solidFill>
                  <a:srgbClr val="1C242C"/>
                </a:solidFill>
                <a:latin typeface="Arial"/>
              </a:rPr>
              <a:t>The result supports a distributed control of escape excitability rather than a threshold determined only at the final command cell. It does not imply that every LG hyperpolarization has an identical behavioral consequence. Which afferents are near threshold and how strongly they are coupled remain relevant.</a:t>
            </a:r>
          </a:p>
        </p:txBody>
      </p:sp>
      <p:pic>
        <p:nvPicPr>
          <p:cNvPr id="4" name="Picture 3" descr="H02_5.png"/>
          <p:cNvPicPr>
            <a:picLocks noChangeAspect="1"/>
          </p:cNvPicPr>
          <p:nvPr/>
        </p:nvPicPr>
        <p:blipFill>
          <a:blip r:embed="rId2"/>
          <a:stretch>
            <a:fillRect/>
          </a:stretch>
        </p:blipFill>
        <p:spPr>
          <a:xfrm>
            <a:off x="6138367" y="1280160"/>
            <a:ext cx="5486400" cy="2792061"/>
          </a:xfrm>
          <a:prstGeom prst="rect">
            <a:avLst/>
          </a:prstGeom>
        </p:spPr>
      </p:pic>
      <p:sp>
        <p:nvSpPr>
          <p:cNvPr id="5" name="Figure caption"/>
          <p:cNvSpPr txBox="1"/>
          <p:nvPr/>
        </p:nvSpPr>
        <p:spPr>
          <a:xfrm>
            <a:off x="6138367" y="4163661"/>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5(B). Reduction of afferent recruitment during LG hyperpolarization.</a:t>
            </a:r>
          </a:p>
        </p:txBody>
      </p:sp>
      <p:pic>
        <p:nvPicPr>
          <p:cNvPr id="6" name="Picture 5" descr="H02_2B.png"/>
          <p:cNvPicPr>
            <a:picLocks noChangeAspect="1"/>
          </p:cNvPicPr>
          <p:nvPr/>
        </p:nvPicPr>
        <p:blipFill>
          <a:blip r:embed="rId3"/>
          <a:stretch>
            <a:fillRect/>
          </a:stretch>
        </p:blipFill>
        <p:spPr>
          <a:xfrm>
            <a:off x="8407872" y="4754880"/>
            <a:ext cx="94738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2(B). LG dendritic contacts with primary afferents; original 10 μm scale.</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Herberholz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Command-neuron voltage also changes interneuron recruitment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1C242C"/>
                </a:solidFill>
                <a:latin typeface="Arial"/>
              </a:rPr>
              <a:t>A </a:t>
            </a:r>
            <a:r>
              <a:rPr sz="1400" b="1" i="0">
                <a:solidFill>
                  <a:srgbClr val="0B4F7A"/>
                </a:solidFill>
                <a:latin typeface="Arial"/>
              </a:rPr>
              <a:t>first-order mechanosensory interneuron</a:t>
            </a:r>
            <a:r>
              <a:rPr sz="1400" b="0" i="0">
                <a:solidFill>
                  <a:srgbClr val="1C242C"/>
                </a:solidFill>
                <a:latin typeface="Arial"/>
              </a:rPr>
              <a:t> receives input from primary sensory afferents and can transmit excitation onward to LG. Herberholz and colleagues recorded interneuron A while altering LG voltage by current injection. They compared identical nerve stimuli at rest and during imposed voltage shifts.</a:t>
            </a:r>
          </a:p>
          <a:p>
            <a:pPr algn="l">
              <a:lnSpc>
                <a:spcPct val="108000"/>
              </a:lnSpc>
              <a:spcAft>
                <a:spcPts val="840"/>
              </a:spcAft>
            </a:pPr>
            <a:r>
              <a:rPr sz="1400" b="0" i="0">
                <a:solidFill>
                  <a:srgbClr val="1C242C"/>
                </a:solidFill>
                <a:latin typeface="Arial"/>
              </a:rPr>
              <a:t>LG depolarization made normally subthreshold interneuron responses generate spikes. Hyperpolarization could suppress a previously evoked spike. The interactions could arise through enhanced afferent recruitment and through current flowing directly from LG toward electrically coupled interneurons.</a:t>
            </a:r>
          </a:p>
          <a:p>
            <a:pPr algn="l">
              <a:lnSpc>
                <a:spcPct val="108000"/>
              </a:lnSpc>
              <a:spcAft>
                <a:spcPts val="840"/>
              </a:spcAft>
            </a:pPr>
            <a:r>
              <a:rPr sz="1400" b="0" i="0">
                <a:solidFill>
                  <a:srgbClr val="1C242C"/>
                </a:solidFill>
                <a:latin typeface="Arial"/>
              </a:rPr>
              <a:t>The sensory-to-command pathway therefore contains interconnected stages rather than a strictly one-way sequence. These results support feedback-sensitive recruitment but do not isolate the exact contribution of each route in every preparation. Both afferent-network excitation and direct electrical communication must be considered when explaining the recorded effect.</a:t>
            </a:r>
          </a:p>
        </p:txBody>
      </p:sp>
      <p:pic>
        <p:nvPicPr>
          <p:cNvPr id="4" name="Picture 3" descr="H02_6.png"/>
          <p:cNvPicPr>
            <a:picLocks noChangeAspect="1"/>
          </p:cNvPicPr>
          <p:nvPr/>
        </p:nvPicPr>
        <p:blipFill>
          <a:blip r:embed="rId2"/>
          <a:stretch>
            <a:fillRect/>
          </a:stretch>
        </p:blipFill>
        <p:spPr>
          <a:xfrm>
            <a:off x="6138367" y="1280160"/>
            <a:ext cx="5486400" cy="2372308"/>
          </a:xfrm>
          <a:prstGeom prst="rect">
            <a:avLst/>
          </a:prstGeom>
        </p:spPr>
      </p:pic>
      <p:sp>
        <p:nvSpPr>
          <p:cNvPr id="5" name="Figure caption"/>
          <p:cNvSpPr txBox="1"/>
          <p:nvPr/>
        </p:nvSpPr>
        <p:spPr>
          <a:xfrm>
            <a:off x="6138367" y="374390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6(A,B). LG voltage shifts alter the firing of interneuron A.</a:t>
            </a:r>
          </a:p>
        </p:txBody>
      </p:sp>
      <p:pic>
        <p:nvPicPr>
          <p:cNvPr id="6" name="Picture 5" descr="H02_2B.png"/>
          <p:cNvPicPr>
            <a:picLocks noChangeAspect="1"/>
          </p:cNvPicPr>
          <p:nvPr/>
        </p:nvPicPr>
        <p:blipFill>
          <a:blip r:embed="rId3"/>
          <a:stretch>
            <a:fillRect/>
          </a:stretch>
        </p:blipFill>
        <p:spPr>
          <a:xfrm>
            <a:off x="8407872" y="4754880"/>
            <a:ext cx="94738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2(B). LG dendritic contacts with primary afferents; original 10 μm scale.</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Herberholz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Voltage clamp separates added current from voltage bias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1C242C"/>
                </a:solidFill>
                <a:latin typeface="Arial"/>
              </a:rPr>
              <a:t>A </a:t>
            </a:r>
            <a:r>
              <a:rPr sz="1400" b="1" i="0">
                <a:solidFill>
                  <a:srgbClr val="0B4F7A"/>
                </a:solidFill>
                <a:latin typeface="Arial"/>
              </a:rPr>
              <a:t>voltage clamp</a:t>
            </a:r>
            <a:r>
              <a:rPr sz="1400" b="0" i="0">
                <a:solidFill>
                  <a:srgbClr val="1C242C"/>
                </a:solidFill>
                <a:latin typeface="Arial"/>
              </a:rPr>
              <a:t> holds a neuron near a commanded membrane voltage while recording the current required to maintain it. Herberholz and colleagues compared LG responses to the same nerve stimulus during current injection and under two-electrode voltage clamp. This separated changes in voltage from changes in synaptic input.</a:t>
            </a:r>
          </a:p>
          <a:p>
            <a:pPr algn="l">
              <a:lnSpc>
                <a:spcPct val="108000"/>
              </a:lnSpc>
              <a:spcAft>
                <a:spcPts val="840"/>
              </a:spcAft>
            </a:pPr>
            <a:r>
              <a:rPr sz="1400" b="0" i="0">
                <a:solidFill>
                  <a:srgbClr val="1C242C"/>
                </a:solidFill>
                <a:latin typeface="Arial"/>
              </a:rPr>
              <a:t>LG depolarization enlarged the later, interneuron-mediated EPSP component and could bring LG to spike threshold. Under voltage clamp, the corresponding excitatory synaptic current also increased. The added response therefore included recruitment of input rather than merely a shifted starting voltage.</a:t>
            </a:r>
          </a:p>
          <a:p>
            <a:pPr algn="l">
              <a:lnSpc>
                <a:spcPct val="108000"/>
              </a:lnSpc>
              <a:spcAft>
                <a:spcPts val="840"/>
              </a:spcAft>
            </a:pPr>
            <a:r>
              <a:rPr sz="1400" b="0" i="0">
                <a:solidFill>
                  <a:srgbClr val="1C242C"/>
                </a:solidFill>
                <a:latin typeface="Arial"/>
              </a:rPr>
              <a:t>The result supports amplification within the coupled network. It must be distinguished from the effect of depolarization on an already active individual rectifying junction, which can reduce that junction’s input. Aggregate network recruitment and unitary synaptic transfer are different experimental measurements.</a:t>
            </a:r>
          </a:p>
        </p:txBody>
      </p:sp>
      <p:pic>
        <p:nvPicPr>
          <p:cNvPr id="4" name="Picture 3" descr="H02_7.png"/>
          <p:cNvPicPr>
            <a:picLocks noChangeAspect="1"/>
          </p:cNvPicPr>
          <p:nvPr/>
        </p:nvPicPr>
        <p:blipFill>
          <a:blip r:embed="rId2"/>
          <a:stretch>
            <a:fillRect/>
          </a:stretch>
        </p:blipFill>
        <p:spPr>
          <a:xfrm>
            <a:off x="6725799" y="1280160"/>
            <a:ext cx="4311534"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7(A,B). LG voltage and synaptic-current responses during depolarization.</a:t>
            </a:r>
          </a:p>
        </p:txBody>
      </p:sp>
      <p:pic>
        <p:nvPicPr>
          <p:cNvPr id="6" name="Picture 5" descr="H02_2B.png"/>
          <p:cNvPicPr>
            <a:picLocks noChangeAspect="1"/>
          </p:cNvPicPr>
          <p:nvPr/>
        </p:nvPicPr>
        <p:blipFill>
          <a:blip r:embed="rId3"/>
          <a:stretch>
            <a:fillRect/>
          </a:stretch>
        </p:blipFill>
        <p:spPr>
          <a:xfrm>
            <a:off x="8407872" y="4754880"/>
            <a:ext cx="94738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2(B). LG dendritic contacts with primary afferents; original 10 μm scale.</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Herberholz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Unitary electrical input depends on postsynaptic voltage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A </a:t>
            </a:r>
            <a:r>
              <a:rPr sz="1500" b="1" i="0">
                <a:solidFill>
                  <a:srgbClr val="0B4F7A"/>
                </a:solidFill>
                <a:latin typeface="Arial"/>
              </a:rPr>
              <a:t>unitary synaptic response</a:t>
            </a:r>
            <a:r>
              <a:rPr sz="1500" b="0" i="0">
                <a:solidFill>
                  <a:srgbClr val="1C242C"/>
                </a:solidFill>
                <a:latin typeface="Arial"/>
              </a:rPr>
              <a:t> is the response associated with firing of a defined presynaptic neuron. Edwards and colleagues activated interneuron A while recording LG and imposed positive or negative shifts in LG voltage. This controlled presynaptic source differs from stimulating an entire sensory network.</a:t>
            </a:r>
          </a:p>
          <a:p>
            <a:pPr algn="l">
              <a:lnSpc>
                <a:spcPct val="108000"/>
              </a:lnSpc>
              <a:spcAft>
                <a:spcPts val="900"/>
              </a:spcAft>
            </a:pPr>
            <a:r>
              <a:rPr sz="1500" b="0" i="0">
                <a:solidFill>
                  <a:srgbClr val="1C242C"/>
                </a:solidFill>
                <a:latin typeface="Arial"/>
              </a:rPr>
              <a:t>Hyperpolarizing LG enlarged both the EPSP and measured excitatory synaptic current; depolarizing LG reduced them. At rest, the EPSP peaked within approximately 1 ms and decayed over the following 20 ms. The authors related these changes to voltage-sensitive electrical transmission.</a:t>
            </a:r>
          </a:p>
          <a:p>
            <a:pPr algn="l">
              <a:lnSpc>
                <a:spcPct val="108000"/>
              </a:lnSpc>
              <a:spcAft>
                <a:spcPts val="900"/>
              </a:spcAft>
            </a:pPr>
            <a:r>
              <a:rPr sz="1500" b="0" i="0">
                <a:solidFill>
                  <a:srgbClr val="1C242C"/>
                </a:solidFill>
                <a:latin typeface="Arial"/>
              </a:rPr>
              <a:t>The result supports a </a:t>
            </a:r>
            <a:r>
              <a:rPr sz="1500" b="1" i="0">
                <a:solidFill>
                  <a:srgbClr val="0B4F7A"/>
                </a:solidFill>
                <a:latin typeface="Arial"/>
              </a:rPr>
              <a:t>rectifying junction</a:t>
            </a:r>
            <a:r>
              <a:rPr sz="1500" b="0" i="0">
                <a:solidFill>
                  <a:srgbClr val="1C242C"/>
                </a:solidFill>
                <a:latin typeface="Arial"/>
              </a:rPr>
              <a:t>, whose conductance depends on the voltage difference across the connection. It does not contradict enhanced network recruitment during LG depolarization: one experiment measures a fixed unitary input, while the other allows additional afferents and interneurons to become active.</a:t>
            </a:r>
          </a:p>
        </p:txBody>
      </p:sp>
      <p:pic>
        <p:nvPicPr>
          <p:cNvPr id="4" name="Picture 3" descr="E91_3.png"/>
          <p:cNvPicPr>
            <a:picLocks noChangeAspect="1"/>
          </p:cNvPicPr>
          <p:nvPr/>
        </p:nvPicPr>
        <p:blipFill>
          <a:blip r:embed="rId2"/>
          <a:stretch>
            <a:fillRect/>
          </a:stretch>
        </p:blipFill>
        <p:spPr>
          <a:xfrm>
            <a:off x="6311805" y="1280160"/>
            <a:ext cx="5139523"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Edwards et al. (1991), Fig. 3(A–D). Interneuron A transmission and voltage-dependent LG responses.</a:t>
            </a:r>
          </a:p>
        </p:txBody>
      </p:sp>
      <p:pic>
        <p:nvPicPr>
          <p:cNvPr id="6" name="Picture 5" descr="H02_2B.png"/>
          <p:cNvPicPr>
            <a:picLocks noChangeAspect="1"/>
          </p:cNvPicPr>
          <p:nvPr/>
        </p:nvPicPr>
        <p:blipFill>
          <a:blip r:embed="rId3"/>
          <a:stretch>
            <a:fillRect/>
          </a:stretch>
        </p:blipFill>
        <p:spPr>
          <a:xfrm>
            <a:off x="8407872" y="4754880"/>
            <a:ext cx="94738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2(B). LG dendritic contacts with primary afferents; original 10 μm scale.</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Edwards et al. (1991); Herberholz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Rectification permits selective reverse electrical transfer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0B4F7A"/>
                </a:solidFill>
                <a:latin typeface="Arial"/>
              </a:rPr>
              <a:t>Orthodromic</a:t>
            </a:r>
            <a:r>
              <a:rPr sz="1400" b="0" i="0">
                <a:solidFill>
                  <a:srgbClr val="1C242C"/>
                </a:solidFill>
                <a:latin typeface="Arial"/>
              </a:rPr>
              <a:t> transmission follows the usual sensory-to-command direction, while </a:t>
            </a:r>
            <a:r>
              <a:rPr sz="1400" b="1" i="0">
                <a:solidFill>
                  <a:srgbClr val="0B4F7A"/>
                </a:solidFill>
                <a:latin typeface="Arial"/>
              </a:rPr>
              <a:t>antidromic</a:t>
            </a:r>
            <a:r>
              <a:rPr sz="1400" b="0" i="0">
                <a:solidFill>
                  <a:srgbClr val="1C242C"/>
                </a:solidFill>
                <a:latin typeface="Arial"/>
              </a:rPr>
              <a:t> transmission proceeds in the reverse direction. Edwards and colleagues recorded interneuron A while shifting LG voltage or evoking an LG action potential. They tested electrical communication in both directions across the same connection.</a:t>
            </a:r>
          </a:p>
          <a:p>
            <a:pPr algn="l">
              <a:lnSpc>
                <a:spcPct val="108000"/>
              </a:lnSpc>
              <a:spcAft>
                <a:spcPts val="840"/>
              </a:spcAft>
            </a:pPr>
            <a:r>
              <a:rPr sz="1400" b="0" i="0">
                <a:solidFill>
                  <a:srgbClr val="1C242C"/>
                </a:solidFill>
                <a:latin typeface="Arial"/>
              </a:rPr>
              <a:t>Steady hyperpolarization of LG spread into interneuron A, whereas steady LG depolarization transferred much less effectively. An LG spike produced an antidromic synaptic potential whose amplitude changed when the interneuron was depolarized or hyperpolarized. These observations support voltage-dependent coupling rather than absolute one-way isolation.</a:t>
            </a:r>
          </a:p>
          <a:p>
            <a:pPr algn="l">
              <a:lnSpc>
                <a:spcPct val="108000"/>
              </a:lnSpc>
              <a:spcAft>
                <a:spcPts val="840"/>
              </a:spcAft>
            </a:pPr>
            <a:r>
              <a:rPr sz="1400" b="0" i="0">
                <a:solidFill>
                  <a:srgbClr val="1C242C"/>
                </a:solidFill>
                <a:latin typeface="Arial"/>
              </a:rPr>
              <a:t>Rectification therefore biases transmission without preventing all reverse influence. The measured membrane effects do not identify the junctional channel proteins. Their interpretation concerns physiological properties of the connection and must remain separate from an untested molecular explanation of its asymmetry.</a:t>
            </a:r>
          </a:p>
        </p:txBody>
      </p:sp>
      <p:pic>
        <p:nvPicPr>
          <p:cNvPr id="4" name="Picture 3" descr="E91_4.png"/>
          <p:cNvPicPr>
            <a:picLocks noChangeAspect="1"/>
          </p:cNvPicPr>
          <p:nvPr/>
        </p:nvPicPr>
        <p:blipFill>
          <a:blip r:embed="rId2"/>
          <a:stretch>
            <a:fillRect/>
          </a:stretch>
        </p:blipFill>
        <p:spPr>
          <a:xfrm>
            <a:off x="7348985" y="1280160"/>
            <a:ext cx="3065162"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Edwards et al. (1991), Fig. 4(A–C). Reverse transfer from LG to interneuron A.</a:t>
            </a:r>
          </a:p>
        </p:txBody>
      </p:sp>
      <p:pic>
        <p:nvPicPr>
          <p:cNvPr id="6" name="Picture 5" descr="H02_2B.png"/>
          <p:cNvPicPr>
            <a:picLocks noChangeAspect="1"/>
          </p:cNvPicPr>
          <p:nvPr/>
        </p:nvPicPr>
        <p:blipFill>
          <a:blip r:embed="rId3"/>
          <a:stretch>
            <a:fillRect/>
          </a:stretch>
        </p:blipFill>
        <p:spPr>
          <a:xfrm>
            <a:off x="8407872" y="4754880"/>
            <a:ext cx="94738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2(B). LG dendritic contacts with primary afferents; original 10 μm scale.</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Edwards et al. (1991); Herberholz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LG detects coincidence on a submillisecond scale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0B4F7A"/>
                </a:solidFill>
                <a:latin typeface="Arial"/>
              </a:rPr>
              <a:t>Coincidence detection</a:t>
            </a:r>
            <a:r>
              <a:rPr sz="1500" b="0" i="0">
                <a:solidFill>
                  <a:srgbClr val="1C242C"/>
                </a:solidFill>
                <a:latin typeface="Arial"/>
              </a:rPr>
              <a:t> is preferential responsiveness to inputs arriving at nearly the same time. Edwards and colleagues stimulated two sensory nerves of the terminal ganglion in isolated juvenile crayfish preparations. Each nerve evoked a subthreshold LG EPSP, and paired shocks were presented with systematically varied delays.</a:t>
            </a:r>
          </a:p>
          <a:p>
            <a:pPr algn="l">
              <a:lnSpc>
                <a:spcPct val="108000"/>
              </a:lnSpc>
              <a:spcAft>
                <a:spcPts val="900"/>
              </a:spcAft>
            </a:pPr>
            <a:r>
              <a:rPr sz="1500" b="0" i="0">
                <a:solidFill>
                  <a:srgbClr val="1C242C"/>
                </a:solidFill>
                <a:latin typeface="Arial"/>
              </a:rPr>
              <a:t>Changing the relative delay from about 100 μs on one side of coincidence to about 100 μs on the other changed peak EPSP amplitude markedly. Across preparations, separating inputs by 0.1 ms reduced the normalized response relative to coincidence. The compound response was especially sensitive near zero relative delay.</a:t>
            </a:r>
          </a:p>
          <a:p>
            <a:pPr algn="l">
              <a:lnSpc>
                <a:spcPct val="108000"/>
              </a:lnSpc>
              <a:spcAft>
                <a:spcPts val="900"/>
              </a:spcAft>
            </a:pPr>
            <a:r>
              <a:rPr sz="1500" b="0" i="0">
                <a:solidFill>
                  <a:srgbClr val="1C242C"/>
                </a:solidFill>
                <a:latin typeface="Arial"/>
              </a:rPr>
              <a:t>The experiment establishes very precise timing sensitivity in sensory input to LG. It does not measure the timing of natural receptor spikes during every predator encounter. Nerve shocks synchronize recruited axons and provide a controlled test of the central integration mechanism.</a:t>
            </a:r>
          </a:p>
        </p:txBody>
      </p:sp>
      <p:pic>
        <p:nvPicPr>
          <p:cNvPr id="4" name="Picture 3" descr="E98_3B.png"/>
          <p:cNvPicPr>
            <a:picLocks noChangeAspect="1"/>
          </p:cNvPicPr>
          <p:nvPr/>
        </p:nvPicPr>
        <p:blipFill>
          <a:blip r:embed="rId2"/>
          <a:stretch>
            <a:fillRect/>
          </a:stretch>
        </p:blipFill>
        <p:spPr>
          <a:xfrm>
            <a:off x="7006540" y="1280160"/>
            <a:ext cx="3750053"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Edwards et al. (1998), Fig. 3(B). LG EPSP amplitude as a function of sensory-input delay.</a:t>
            </a:r>
          </a:p>
        </p:txBody>
      </p:sp>
      <p:pic>
        <p:nvPicPr>
          <p:cNvPr id="6" name="Picture 5" descr="H02_2B.png"/>
          <p:cNvPicPr>
            <a:picLocks noChangeAspect="1"/>
          </p:cNvPicPr>
          <p:nvPr/>
        </p:nvPicPr>
        <p:blipFill>
          <a:blip r:embed="rId3"/>
          <a:stretch>
            <a:fillRect/>
          </a:stretch>
        </p:blipFill>
        <p:spPr>
          <a:xfrm>
            <a:off x="8407872" y="4754880"/>
            <a:ext cx="94738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2(B). LG dendritic contacts with primary afferents; original 10 μm scale.</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Edwards et al. (1998); Herberholz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The direct afferent pathway retains coincidence selectivity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Edwards and colleagues asked whether precise timing sensitivity required excitation through sensory interneurons. They isolated the early </a:t>
            </a:r>
            <a:r>
              <a:rPr sz="1500" b="1" i="0">
                <a:solidFill>
                  <a:srgbClr val="0B4F7A"/>
                </a:solidFill>
                <a:latin typeface="Arial"/>
              </a:rPr>
              <a:t>alpha component</a:t>
            </a:r>
            <a:r>
              <a:rPr sz="1500" b="0" i="0">
                <a:solidFill>
                  <a:srgbClr val="1C242C"/>
                </a:solidFill>
                <a:latin typeface="Arial"/>
              </a:rPr>
              <a:t>, dominated by direct afferent-to-LG electrical input, either by weakening the nerve stimuli or by blocking nicotinic transmission with mecamylamine.</a:t>
            </a:r>
          </a:p>
          <a:p>
            <a:pPr algn="l">
              <a:lnSpc>
                <a:spcPct val="108000"/>
              </a:lnSpc>
              <a:spcAft>
                <a:spcPts val="900"/>
              </a:spcAft>
            </a:pPr>
            <a:r>
              <a:rPr sz="1500" b="1" i="0">
                <a:solidFill>
                  <a:srgbClr val="0B4F7A"/>
                </a:solidFill>
                <a:latin typeface="Arial"/>
              </a:rPr>
              <a:t>Acetylcholine</a:t>
            </a:r>
            <a:r>
              <a:rPr sz="1500" b="0" i="0">
                <a:solidFill>
                  <a:srgbClr val="1C242C"/>
                </a:solidFill>
                <a:latin typeface="Arial"/>
              </a:rPr>
              <a:t> is the transmitter implicated at the afferent-to-interneuron chemical synapses; a </a:t>
            </a:r>
            <a:r>
              <a:rPr sz="1500" b="1" i="0">
                <a:solidFill>
                  <a:srgbClr val="0B4F7A"/>
                </a:solidFill>
                <a:latin typeface="Arial"/>
              </a:rPr>
              <a:t>nicotinic receptor</a:t>
            </a:r>
            <a:r>
              <a:rPr sz="1500" b="0" i="0">
                <a:solidFill>
                  <a:srgbClr val="1C242C"/>
                </a:solidFill>
                <a:latin typeface="Arial"/>
              </a:rPr>
              <a:t> is an acetylcholine-gated ion channel. Mecamylamine reduced this chemical route. Even after the indirect pathway was suppressed, the alpha response remained largest for coincident inputs and declined with increasing delay.</a:t>
            </a:r>
          </a:p>
          <a:p>
            <a:pPr algn="l">
              <a:lnSpc>
                <a:spcPct val="108000"/>
              </a:lnSpc>
              <a:spcAft>
                <a:spcPts val="900"/>
              </a:spcAft>
            </a:pPr>
            <a:r>
              <a:rPr sz="1500" b="0" i="0">
                <a:solidFill>
                  <a:srgbClr val="1C242C"/>
                </a:solidFill>
                <a:latin typeface="Arial"/>
              </a:rPr>
              <a:t>The result supports coincidence selectivity within the direct electrical pathway. It does not imply that chemical sensory synapses are irrelevant to escape in the intact animal. They normally contribute additional excitation, while the pharmacological comparison isolates a specific mechanism of temporal integration.</a:t>
            </a:r>
          </a:p>
        </p:txBody>
      </p:sp>
      <p:pic>
        <p:nvPicPr>
          <p:cNvPr id="4" name="Picture 3" descr="E98_4.png"/>
          <p:cNvPicPr>
            <a:picLocks noChangeAspect="1"/>
          </p:cNvPicPr>
          <p:nvPr/>
        </p:nvPicPr>
        <p:blipFill>
          <a:blip r:embed="rId2"/>
          <a:stretch>
            <a:fillRect/>
          </a:stretch>
        </p:blipFill>
        <p:spPr>
          <a:xfrm>
            <a:off x="7894865" y="1280160"/>
            <a:ext cx="1973402"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Edwards et al. (1998), Fig. 4(A–C). Timing sensitivity of full, alpha-only, and picrotoxin-treated responses.</a:t>
            </a:r>
          </a:p>
        </p:txBody>
      </p:sp>
      <p:pic>
        <p:nvPicPr>
          <p:cNvPr id="6" name="Picture 5" descr="H02_2B.png"/>
          <p:cNvPicPr>
            <a:picLocks noChangeAspect="1"/>
          </p:cNvPicPr>
          <p:nvPr/>
        </p:nvPicPr>
        <p:blipFill>
          <a:blip r:embed="rId3"/>
          <a:stretch>
            <a:fillRect/>
          </a:stretch>
        </p:blipFill>
        <p:spPr>
          <a:xfrm>
            <a:off x="8407872" y="4754880"/>
            <a:ext cx="94738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2(B). LG dendritic contacts with primary afferents; original 10 μm scale.</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Edwards et al. (1998); Herberholz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Fast coincidence selectivity survives inhibition blockade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0B4F7A"/>
                </a:solidFill>
                <a:latin typeface="Arial"/>
              </a:rPr>
              <a:t>Picrotoxin</a:t>
            </a:r>
            <a:r>
              <a:rPr sz="1500" b="0" i="0">
                <a:solidFill>
                  <a:srgbClr val="1C242C"/>
                </a:solidFill>
                <a:latin typeface="Arial"/>
              </a:rPr>
              <a:t> blocks the inhibitory channel mechanisms tested in these crayfish preparations. Edwards and colleagues applied 10 μM picrotoxin while comparing paired nerve inputs at different delays. They tested whether delayed inhibition could account for the very narrow coincidence peak.</a:t>
            </a:r>
          </a:p>
          <a:p>
            <a:pPr algn="l">
              <a:lnSpc>
                <a:spcPct val="108000"/>
              </a:lnSpc>
              <a:spcAft>
                <a:spcPts val="900"/>
              </a:spcAft>
            </a:pPr>
            <a:r>
              <a:rPr sz="1500" b="0" i="0">
                <a:solidFill>
                  <a:srgbClr val="1C242C"/>
                </a:solidFill>
                <a:latin typeface="Arial"/>
              </a:rPr>
              <a:t>Coincidence sensitivity remained and was sharper during picrotoxin treatment. Delays of 50 μs produced a measurable decrease from the coincident response, and larger delays exceeded that reduction. This timing is much shorter than the several milliseconds needed for the delayed feed-forward inhibition examined in separate experiments.</a:t>
            </a:r>
          </a:p>
          <a:p>
            <a:pPr algn="l">
              <a:lnSpc>
                <a:spcPct val="108000"/>
              </a:lnSpc>
              <a:spcAft>
                <a:spcPts val="900"/>
              </a:spcAft>
            </a:pPr>
            <a:r>
              <a:rPr sz="1500" b="0" i="0">
                <a:solidFill>
                  <a:srgbClr val="1C242C"/>
                </a:solidFill>
                <a:latin typeface="Arial"/>
              </a:rPr>
              <a:t>The result argues against that inhibitory pathway being necessary for the fastest selectivity. It does not eliminate inhibition’s contribution to later sensory filtering. The drug comparison distinguishes mechanisms acting on different timescales rather than establishing that the escape pathway lacks inhibitory synapses.</a:t>
            </a:r>
          </a:p>
        </p:txBody>
      </p:sp>
      <p:pic>
        <p:nvPicPr>
          <p:cNvPr id="4" name="Picture 3" descr="E98_4.png"/>
          <p:cNvPicPr>
            <a:picLocks noChangeAspect="1"/>
          </p:cNvPicPr>
          <p:nvPr/>
        </p:nvPicPr>
        <p:blipFill>
          <a:blip r:embed="rId2"/>
          <a:stretch>
            <a:fillRect/>
          </a:stretch>
        </p:blipFill>
        <p:spPr>
          <a:xfrm>
            <a:off x="7894865" y="1280160"/>
            <a:ext cx="1973402"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Edwards et al. (1998), Fig. 4(C). Coincidence sensitivity during picrotoxin superfusion.</a:t>
            </a:r>
          </a:p>
        </p:txBody>
      </p:sp>
      <p:pic>
        <p:nvPicPr>
          <p:cNvPr id="6" name="Picture 5" descr="H02_2B.png"/>
          <p:cNvPicPr>
            <a:picLocks noChangeAspect="1"/>
          </p:cNvPicPr>
          <p:nvPr/>
        </p:nvPicPr>
        <p:blipFill>
          <a:blip r:embed="rId3"/>
          <a:stretch>
            <a:fillRect/>
          </a:stretch>
        </p:blipFill>
        <p:spPr>
          <a:xfrm>
            <a:off x="8407872" y="4754880"/>
            <a:ext cx="94738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2(B). LG dendritic contacts with primary afferents; original 10 μm scale.</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Edwards et al. (1998); Herberholz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Opened electrical junctions can reduce late excitation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1C242C"/>
                </a:solidFill>
                <a:latin typeface="Arial"/>
              </a:rPr>
              <a:t>Edwards and colleagues proposed two interacting consequences of rectifying electrical input. An early LG depolarization reduces the voltage difference that would open a later junction. Junctions already opened by the first afferent volley can also conduct current away from the postsynaptic neuron as those afferents repolarize.</a:t>
            </a:r>
          </a:p>
          <a:p>
            <a:pPr algn="l">
              <a:lnSpc>
                <a:spcPct val="108000"/>
              </a:lnSpc>
              <a:spcAft>
                <a:spcPts val="840"/>
              </a:spcAft>
            </a:pPr>
            <a:r>
              <a:rPr sz="1400" b="0" i="0">
                <a:solidFill>
                  <a:srgbClr val="1C242C"/>
                </a:solidFill>
                <a:latin typeface="Arial"/>
              </a:rPr>
              <a:t>Their computational comparisons reproduced reduced summation for short input delays with voltage-sensitive junctions. The experimental nerve-pair data confirmed sharp coincidence sensitivity, including a decrease for 0.1 ms separation. </a:t>
            </a:r>
            <a:r>
              <a:rPr sz="1400" b="1" i="0">
                <a:solidFill>
                  <a:srgbClr val="0B4F7A"/>
                </a:solidFill>
                <a:latin typeface="Arial"/>
              </a:rPr>
              <a:t>Shunting</a:t>
            </a:r>
            <a:r>
              <a:rPr sz="1400" b="0" i="0">
                <a:solidFill>
                  <a:srgbClr val="1C242C"/>
                </a:solidFill>
                <a:latin typeface="Arial"/>
              </a:rPr>
              <a:t> means diverting current through an available conductance so that it contributes less to the desired voltage response.</a:t>
            </a:r>
          </a:p>
          <a:p>
            <a:pPr algn="l">
              <a:lnSpc>
                <a:spcPct val="108000"/>
              </a:lnSpc>
              <a:spcAft>
                <a:spcPts val="840"/>
              </a:spcAft>
            </a:pPr>
            <a:r>
              <a:rPr sz="1400" b="0" i="0">
                <a:solidFill>
                  <a:srgbClr val="1C242C"/>
                </a:solidFill>
                <a:latin typeface="Arial"/>
              </a:rPr>
              <a:t>The model supplies a mechanistic account consistent with the recordings, not a direct measurement of every individual gap-junction current in vivo. Its assumed channel kinetics must remain distinguishable from the physiological evidence for timing-dependent EPSP reduction.</a:t>
            </a:r>
          </a:p>
        </p:txBody>
      </p:sp>
      <p:pic>
        <p:nvPicPr>
          <p:cNvPr id="4" name="Picture 3" descr="E98_3B.png"/>
          <p:cNvPicPr>
            <a:picLocks noChangeAspect="1"/>
          </p:cNvPicPr>
          <p:nvPr/>
        </p:nvPicPr>
        <p:blipFill>
          <a:blip r:embed="rId2"/>
          <a:stretch>
            <a:fillRect/>
          </a:stretch>
        </p:blipFill>
        <p:spPr>
          <a:xfrm>
            <a:off x="7006540" y="1280160"/>
            <a:ext cx="3750053"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Edwards et al. (1998), Fig. 3(B). Measured timing sensitivity used to test the rectifying-junction account.</a:t>
            </a:r>
          </a:p>
        </p:txBody>
      </p:sp>
      <p:pic>
        <p:nvPicPr>
          <p:cNvPr id="6" name="Picture 5" descr="H02_2B.png"/>
          <p:cNvPicPr>
            <a:picLocks noChangeAspect="1"/>
          </p:cNvPicPr>
          <p:nvPr/>
        </p:nvPicPr>
        <p:blipFill>
          <a:blip r:embed="rId3"/>
          <a:stretch>
            <a:fillRect/>
          </a:stretch>
        </p:blipFill>
        <p:spPr>
          <a:xfrm>
            <a:off x="8407872" y="4754880"/>
            <a:ext cx="94738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2(B). LG dendritic contacts with primary afferents; original 10 μm scale.</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Edwards et al. (1998); Herberholz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Sensory excitation is followed by delayed LG inhibition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0B4F7A"/>
                </a:solidFill>
                <a:latin typeface="Arial"/>
              </a:rPr>
              <a:t>Postexcitatory inhibition</a:t>
            </a:r>
            <a:r>
              <a:rPr sz="1500" b="0" i="0">
                <a:solidFill>
                  <a:srgbClr val="1C242C"/>
                </a:solidFill>
                <a:latin typeface="Arial"/>
              </a:rPr>
              <a:t>, or PEI, is inhibition that follows the early excitation evoked by sensory input. Vu and colleagues recorded LG in isolated crayfish abdomens and stimulated sensory roots. They compared the compound response before and during picrotoxin application.</a:t>
            </a:r>
          </a:p>
          <a:p>
            <a:pPr algn="l">
              <a:lnSpc>
                <a:spcPct val="108000"/>
              </a:lnSpc>
              <a:spcAft>
                <a:spcPts val="900"/>
              </a:spcAft>
            </a:pPr>
            <a:r>
              <a:rPr sz="1500" b="0" i="0">
                <a:solidFill>
                  <a:srgbClr val="1C242C"/>
                </a:solidFill>
                <a:latin typeface="Arial"/>
              </a:rPr>
              <a:t>The alpha and initial beta peaks changed relatively little at the tested dose, while the later falling response was enlarged or prolonged. The effect emerged after the early excitatory components, consistent with delayed inhibitory action. The experimental preparation excluded movement by cutting motor roots.</a:t>
            </a:r>
          </a:p>
          <a:p>
            <a:pPr algn="l">
              <a:lnSpc>
                <a:spcPct val="108000"/>
              </a:lnSpc>
              <a:spcAft>
                <a:spcPts val="900"/>
              </a:spcAft>
            </a:pPr>
            <a:r>
              <a:rPr sz="1500" b="0" i="0">
                <a:solidFill>
                  <a:srgbClr val="1C242C"/>
                </a:solidFill>
                <a:latin typeface="Arial"/>
              </a:rPr>
              <a:t>This supports a sensory-evoked inhibitory process that limits later LG excitation. Drug-induced enlargement alone does not establish its exact cellular location, because disinhibition could also affect upstream sensory neurons. The study therefore tested responses to defined input and injected currents within LG itself.</a:t>
            </a:r>
          </a:p>
        </p:txBody>
      </p:sp>
      <p:pic>
        <p:nvPicPr>
          <p:cNvPr id="4" name="Picture 3" descr="V97_2.png"/>
          <p:cNvPicPr>
            <a:picLocks noChangeAspect="1"/>
          </p:cNvPicPr>
          <p:nvPr/>
        </p:nvPicPr>
        <p:blipFill>
          <a:blip r:embed="rId2"/>
          <a:stretch>
            <a:fillRect/>
          </a:stretch>
        </p:blipFill>
        <p:spPr>
          <a:xfrm>
            <a:off x="7998400" y="1280160"/>
            <a:ext cx="1766334"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Vu et al. (1997), Fig. 2(A,B). Picrotoxin changes the late portion of a root-evoked LG response.</a:t>
            </a:r>
          </a:p>
        </p:txBody>
      </p:sp>
      <p:pic>
        <p:nvPicPr>
          <p:cNvPr id="6" name="Picture 5" descr="H02_2B.png"/>
          <p:cNvPicPr>
            <a:picLocks noChangeAspect="1"/>
          </p:cNvPicPr>
          <p:nvPr/>
        </p:nvPicPr>
        <p:blipFill>
          <a:blip r:embed="rId3"/>
          <a:stretch>
            <a:fillRect/>
          </a:stretch>
        </p:blipFill>
        <p:spPr>
          <a:xfrm>
            <a:off x="8407872" y="4754880"/>
            <a:ext cx="94738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2(B). LG dendritic contacts with primary afferents; original 10 μm scale.</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Vu et al. (1997); Herberholz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A defined test EPSP is attenuated after sensory excitation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Vu and colleagues evoked a defined electrical EPSP by directly stimulating interneuron A. They compared this test response alone with the same response delivered during a sensory-root-evoked LG potential. The selected sensory root did not itself fire interneuron A in the tested ganglia.</a:t>
            </a:r>
          </a:p>
          <a:p>
            <a:pPr algn="l">
              <a:lnSpc>
                <a:spcPct val="108000"/>
              </a:lnSpc>
              <a:spcAft>
                <a:spcPts val="900"/>
              </a:spcAft>
            </a:pPr>
            <a:r>
              <a:rPr sz="1500" b="0" i="0">
                <a:solidFill>
                  <a:srgbClr val="1C242C"/>
                </a:solidFill>
                <a:latin typeface="Arial"/>
              </a:rPr>
              <a:t>The test EPSP was strongly reduced after the beta peak of the compound response. At an 8 ms delay from the root shock, its average reduction was approximately 47%. Because the experiment directly controlled the presynaptic test spike, failure to recruit that interneuron was not a sufficient explanation.</a:t>
            </a:r>
          </a:p>
          <a:p>
            <a:pPr algn="l">
              <a:lnSpc>
                <a:spcPct val="108000"/>
              </a:lnSpc>
              <a:spcAft>
                <a:spcPts val="900"/>
              </a:spcAft>
            </a:pPr>
            <a:r>
              <a:rPr sz="1500" b="0" i="0">
                <a:solidFill>
                  <a:srgbClr val="1C242C"/>
                </a:solidFill>
                <a:latin typeface="Arial"/>
              </a:rPr>
              <a:t>The result supports attenuation at or near the postsynaptic integration stage. It does not assign all attenuation to PEI: electrical-junction voltage dependence and presynaptic shunting can also reduce the test EPSP. Further pharmacological and conductance measurements separated these contributions.</a:t>
            </a:r>
          </a:p>
        </p:txBody>
      </p:sp>
      <p:pic>
        <p:nvPicPr>
          <p:cNvPr id="4" name="Picture 3" descr="V97_3.png"/>
          <p:cNvPicPr>
            <a:picLocks noChangeAspect="1"/>
          </p:cNvPicPr>
          <p:nvPr/>
        </p:nvPicPr>
        <p:blipFill>
          <a:blip r:embed="rId2"/>
          <a:stretch>
            <a:fillRect/>
          </a:stretch>
        </p:blipFill>
        <p:spPr>
          <a:xfrm>
            <a:off x="6138367" y="1280160"/>
            <a:ext cx="5486400" cy="2694038"/>
          </a:xfrm>
          <a:prstGeom prst="rect">
            <a:avLst/>
          </a:prstGeom>
        </p:spPr>
      </p:pic>
      <p:sp>
        <p:nvSpPr>
          <p:cNvPr id="5" name="Figure caption"/>
          <p:cNvSpPr txBox="1"/>
          <p:nvPr/>
        </p:nvSpPr>
        <p:spPr>
          <a:xfrm>
            <a:off x="6138367" y="406563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Vu et al. (1997), Fig. 3(A,B). Reduction of an interneuron A test EPSP at different delays.</a:t>
            </a:r>
          </a:p>
        </p:txBody>
      </p:sp>
      <p:pic>
        <p:nvPicPr>
          <p:cNvPr id="6" name="Picture 5" descr="H02_2B.png"/>
          <p:cNvPicPr>
            <a:picLocks noChangeAspect="1"/>
          </p:cNvPicPr>
          <p:nvPr/>
        </p:nvPicPr>
        <p:blipFill>
          <a:blip r:embed="rId3"/>
          <a:stretch>
            <a:fillRect/>
          </a:stretch>
        </p:blipFill>
        <p:spPr>
          <a:xfrm>
            <a:off x="8407872" y="4754880"/>
            <a:ext cx="94738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2(B). LG dendritic contacts with primary afferents; original 10 μm scale.</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Vu et al. (1997); Herberholz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Picrotoxin removes much of the delayed EPSP attenuation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Vu and colleagues repeated the interneuron A test during picrotoxin exposure. The test spike was timed so its LG EPSP occurred 8 ms after a sensory-root stimulus. The control comparison retained the same type of defined presynaptic input and compound LG response.</a:t>
            </a:r>
          </a:p>
          <a:p>
            <a:pPr algn="l">
              <a:lnSpc>
                <a:spcPct val="108000"/>
              </a:lnSpc>
              <a:spcAft>
                <a:spcPts val="900"/>
              </a:spcAft>
            </a:pPr>
            <a:r>
              <a:rPr sz="1500" b="0" i="0">
                <a:solidFill>
                  <a:srgbClr val="1C242C"/>
                </a:solidFill>
                <a:latin typeface="Arial"/>
              </a:rPr>
              <a:t>Picrotoxin reduced the average attenuation from approximately 47% to approximately 18%. This pharmacological release supports a substantial inhibitory contribution to the reduction after the early excitatory peak. The tested drug concentration did not alter LG’s resting voltage or resting input resistance appreciably.</a:t>
            </a:r>
          </a:p>
          <a:p>
            <a:pPr algn="l">
              <a:lnSpc>
                <a:spcPct val="108000"/>
              </a:lnSpc>
              <a:spcAft>
                <a:spcPts val="900"/>
              </a:spcAft>
            </a:pPr>
            <a:r>
              <a:rPr sz="1500" b="0" i="0">
                <a:solidFill>
                  <a:srgbClr val="1C242C"/>
                </a:solidFill>
                <a:latin typeface="Arial"/>
              </a:rPr>
              <a:t>The remaining attenuation prevents attributing the whole effect to one inhibitory mechanism. Voltage-sensitive electrical transmission and other concurrent conductances can still reduce an EPSP. Partial, slow washout also limits a simple assumption that drug effects are immediately reversible under every recording condition.</a:t>
            </a:r>
          </a:p>
        </p:txBody>
      </p:sp>
      <p:pic>
        <p:nvPicPr>
          <p:cNvPr id="4" name="Picture 3" descr="V97_5.png"/>
          <p:cNvPicPr>
            <a:picLocks noChangeAspect="1"/>
          </p:cNvPicPr>
          <p:nvPr/>
        </p:nvPicPr>
        <p:blipFill>
          <a:blip r:embed="rId2"/>
          <a:stretch>
            <a:fillRect/>
          </a:stretch>
        </p:blipFill>
        <p:spPr>
          <a:xfrm>
            <a:off x="6171885" y="1280160"/>
            <a:ext cx="5419363"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Vu et al. (1997), Fig. 5(A,B). Test-EPSP attenuation before and during picrotoxin treatment.</a:t>
            </a:r>
          </a:p>
        </p:txBody>
      </p:sp>
      <p:pic>
        <p:nvPicPr>
          <p:cNvPr id="6" name="Picture 5" descr="H02_2B.png"/>
          <p:cNvPicPr>
            <a:picLocks noChangeAspect="1"/>
          </p:cNvPicPr>
          <p:nvPr/>
        </p:nvPicPr>
        <p:blipFill>
          <a:blip r:embed="rId3"/>
          <a:stretch>
            <a:fillRect/>
          </a:stretch>
        </p:blipFill>
        <p:spPr>
          <a:xfrm>
            <a:off x="8407872" y="4754880"/>
            <a:ext cx="94738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2(B). LG dendritic contacts with primary afferents; original 10 μm scale.</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Vu et al. (1997); Herberholz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Delayed inhibition increases a shunting conductance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0B4F7A"/>
                </a:solidFill>
                <a:latin typeface="Arial"/>
              </a:rPr>
              <a:t>Input resistance</a:t>
            </a:r>
            <a:r>
              <a:rPr sz="1500" b="0" i="0">
                <a:solidFill>
                  <a:srgbClr val="1C242C"/>
                </a:solidFill>
                <a:latin typeface="Arial"/>
              </a:rPr>
              <a:t> is the voltage response produced by an injected current, expressed relative to that current. A smaller response to the same current indicates that more current can escape through membrane conductance. Vu and colleagues measured this property during the sensory-evoked LG potential.</a:t>
            </a:r>
          </a:p>
          <a:p>
            <a:pPr algn="l">
              <a:lnSpc>
                <a:spcPct val="108000"/>
              </a:lnSpc>
              <a:spcAft>
                <a:spcPts val="900"/>
              </a:spcAft>
            </a:pPr>
            <a:r>
              <a:rPr sz="1500" b="0" i="0">
                <a:solidFill>
                  <a:srgbClr val="1C242C"/>
                </a:solidFill>
                <a:latin typeface="Arial"/>
              </a:rPr>
              <a:t>Current injected into one LG or its electrically coupled counterpart produced less voltage during the late response. Picrotoxin removed much of that reduction, particularly after the beta peak. The result supports an inhibitory conductance increase rather than simply withdrawal of an excitatory input.</a:t>
            </a:r>
          </a:p>
          <a:p>
            <a:pPr algn="l">
              <a:lnSpc>
                <a:spcPct val="108000"/>
              </a:lnSpc>
              <a:spcAft>
                <a:spcPts val="900"/>
              </a:spcAft>
            </a:pPr>
            <a:r>
              <a:rPr sz="1500" b="1" i="0">
                <a:solidFill>
                  <a:srgbClr val="0B4F7A"/>
                </a:solidFill>
                <a:latin typeface="Arial"/>
              </a:rPr>
              <a:t>GABA</a:t>
            </a:r>
            <a:r>
              <a:rPr sz="1500" b="0" i="0">
                <a:solidFill>
                  <a:srgbClr val="1C242C"/>
                </a:solidFill>
                <a:latin typeface="Arial"/>
              </a:rPr>
              <a:t>, gamma-aminobutyric acid, is the inhibitory transmitter implicated by the anatomy and pharmacology. GABA-associated chloride conductance can shunt excitation even when its reversal potential produces some depolarization. Thus the direction of a voltage change alone does not determine whether its net effect promotes firing.</a:t>
            </a:r>
          </a:p>
        </p:txBody>
      </p:sp>
      <p:pic>
        <p:nvPicPr>
          <p:cNvPr id="4" name="Picture 3" descr="V97_6.png"/>
          <p:cNvPicPr>
            <a:picLocks noChangeAspect="1"/>
          </p:cNvPicPr>
          <p:nvPr/>
        </p:nvPicPr>
        <p:blipFill>
          <a:blip r:embed="rId2"/>
          <a:stretch>
            <a:fillRect/>
          </a:stretch>
        </p:blipFill>
        <p:spPr>
          <a:xfrm>
            <a:off x="6138367" y="1280160"/>
            <a:ext cx="5486400" cy="2334934"/>
          </a:xfrm>
          <a:prstGeom prst="rect">
            <a:avLst/>
          </a:prstGeom>
        </p:spPr>
      </p:pic>
      <p:sp>
        <p:nvSpPr>
          <p:cNvPr id="5" name="Figure caption"/>
          <p:cNvSpPr txBox="1"/>
          <p:nvPr/>
        </p:nvSpPr>
        <p:spPr>
          <a:xfrm>
            <a:off x="6138367" y="3706534"/>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Vu et al. (1997), Fig. 6(A,B). Reduced attenuation of injected-current responses during picrotoxin.</a:t>
            </a:r>
          </a:p>
        </p:txBody>
      </p:sp>
      <p:pic>
        <p:nvPicPr>
          <p:cNvPr id="6" name="Picture 5" descr="H02_2B.png"/>
          <p:cNvPicPr>
            <a:picLocks noChangeAspect="1"/>
          </p:cNvPicPr>
          <p:nvPr/>
        </p:nvPicPr>
        <p:blipFill>
          <a:blip r:embed="rId3"/>
          <a:stretch>
            <a:fillRect/>
          </a:stretch>
        </p:blipFill>
        <p:spPr>
          <a:xfrm>
            <a:off x="8407872" y="4754880"/>
            <a:ext cx="94738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2(B). LG dendritic contacts with primary afferents; original 10 μm scale.</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Vu et al. (1997); Herberholz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Dendritic inhibition is partly specific to input location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Vu and colleagues compared pairs of sensory-root shocks separated by 8 ms. The second shock was delivered either to the same root or to a different root in the same ganglion. These roots supply partly distinct dendritic regions, allowing a test of spatial specificity.</a:t>
            </a:r>
          </a:p>
          <a:p>
            <a:pPr algn="l">
              <a:lnSpc>
                <a:spcPct val="108000"/>
              </a:lnSpc>
              <a:spcAft>
                <a:spcPts val="900"/>
              </a:spcAft>
            </a:pPr>
            <a:r>
              <a:rPr sz="1500" b="0" i="0">
                <a:solidFill>
                  <a:srgbClr val="1C242C"/>
                </a:solidFill>
                <a:latin typeface="Arial"/>
              </a:rPr>
              <a:t>The second compound response was attenuated more strongly in the same-root condition. Both local PEI and reduced chemical sensory transmission could contribute. Cadmium-containing saline suppressed the chemical component, providing a control for attenuation caused by its fatigue rather than by inhibition alone.</a:t>
            </a:r>
          </a:p>
          <a:p>
            <a:pPr algn="l">
              <a:lnSpc>
                <a:spcPct val="108000"/>
              </a:lnSpc>
              <a:spcAft>
                <a:spcPts val="900"/>
              </a:spcAft>
            </a:pPr>
            <a:r>
              <a:rPr sz="1500" b="0" i="0">
                <a:solidFill>
                  <a:srgbClr val="1C242C"/>
                </a:solidFill>
                <a:latin typeface="Arial"/>
              </a:rPr>
              <a:t>The results support a partly localized dendritic inhibitory process, rather than uniform suppression of all LG input. They do not establish one identified inhibitory neuron for each receptor. The paper proposed alternative local arrangements of inhibitory neurons, which remain different from directly observed anatomical wiring.</a:t>
            </a:r>
          </a:p>
        </p:txBody>
      </p:sp>
      <p:pic>
        <p:nvPicPr>
          <p:cNvPr id="4" name="Picture 3" descr="V97_11.png"/>
          <p:cNvPicPr>
            <a:picLocks noChangeAspect="1"/>
          </p:cNvPicPr>
          <p:nvPr/>
        </p:nvPicPr>
        <p:blipFill>
          <a:blip r:embed="rId2"/>
          <a:stretch>
            <a:fillRect/>
          </a:stretch>
        </p:blipFill>
        <p:spPr>
          <a:xfrm>
            <a:off x="6958271" y="1280160"/>
            <a:ext cx="3846590"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Vu et al. (1997), Fig. 11(A–E). Comparison of repeated same-root and different-root stimuli.</a:t>
            </a:r>
          </a:p>
        </p:txBody>
      </p:sp>
      <p:pic>
        <p:nvPicPr>
          <p:cNvPr id="6" name="Picture 5" descr="H02_2B.png"/>
          <p:cNvPicPr>
            <a:picLocks noChangeAspect="1"/>
          </p:cNvPicPr>
          <p:nvPr/>
        </p:nvPicPr>
        <p:blipFill>
          <a:blip r:embed="rId3"/>
          <a:stretch>
            <a:fillRect/>
          </a:stretch>
        </p:blipFill>
        <p:spPr>
          <a:xfrm>
            <a:off x="8407872" y="4754880"/>
            <a:ext cx="94738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(2002), Fig. 2(B). LG dendritic contacts with primary afferents; original 10 μm scale.</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Vu et al. (1997); Herberholz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Photoinactivation removes a segmental giant relay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The </a:t>
            </a:r>
            <a:r>
              <a:rPr sz="1500" b="1" i="0">
                <a:solidFill>
                  <a:srgbClr val="0B4F7A"/>
                </a:solidFill>
                <a:latin typeface="Arial"/>
              </a:rPr>
              <a:t>segmental giant</a:t>
            </a:r>
            <a:r>
              <a:rPr sz="1500" b="0" i="0">
                <a:solidFill>
                  <a:srgbClr val="1C242C"/>
                </a:solidFill>
                <a:latin typeface="Arial"/>
              </a:rPr>
              <a:t>, or SG, is a relay neuron through which giant-fiber activity excites many fast-flexor motor neurons. Fraser and Heitler filled SG with Lucifer Yellow and illuminated it to disrupt its function. This </a:t>
            </a:r>
            <a:r>
              <a:rPr sz="1500" b="1" i="0">
                <a:solidFill>
                  <a:srgbClr val="0B4F7A"/>
                </a:solidFill>
                <a:latin typeface="Arial"/>
              </a:rPr>
              <a:t>photoinactivation</a:t>
            </a:r>
            <a:r>
              <a:rPr sz="1500" b="0" i="0">
                <a:solidFill>
                  <a:srgbClr val="1C242C"/>
                </a:solidFill>
                <a:latin typeface="Arial"/>
              </a:rPr>
              <a:t> allowed them to test pathways normally obscured by the relay’s strong output.</a:t>
            </a:r>
          </a:p>
          <a:p>
            <a:pPr algn="l">
              <a:lnSpc>
                <a:spcPct val="108000"/>
              </a:lnSpc>
              <a:spcAft>
                <a:spcPts val="900"/>
              </a:spcAft>
            </a:pPr>
            <a:r>
              <a:rPr sz="1500" b="0" i="0">
                <a:solidFill>
                  <a:srgbClr val="1C242C"/>
                </a:solidFill>
                <a:latin typeface="Arial"/>
              </a:rPr>
              <a:t>As illumination continued, SG spikes broadened, developed long depolarized plateaus, and eventually failed. Giant-fiber stimulation no longer produced the normal strong fast-flexor response through the affected SG. Some residual input persisted, suggesting an additional connection rather than complete dependence on one relay.</a:t>
            </a:r>
          </a:p>
          <a:p>
            <a:pPr algn="l">
              <a:lnSpc>
                <a:spcPct val="108000"/>
              </a:lnSpc>
              <a:spcAft>
                <a:spcPts val="900"/>
              </a:spcAft>
            </a:pPr>
            <a:r>
              <a:rPr sz="1500" b="0" i="0">
                <a:solidFill>
                  <a:srgbClr val="1C242C"/>
                </a:solidFill>
                <a:latin typeface="Arial"/>
              </a:rPr>
              <a:t>Selective disruption supplies causal evidence about SG’s contribution. The evolving plateau can temporarily alter other electrically coupled cells, so intermediate stages are not equivalent to a clean instantaneous deletion. The study checked SG responsiveness before interpreting the residual motor input.</a:t>
            </a:r>
          </a:p>
        </p:txBody>
      </p:sp>
      <p:pic>
        <p:nvPicPr>
          <p:cNvPr id="4" name="Picture 3" descr="F91_1.png"/>
          <p:cNvPicPr>
            <a:picLocks noChangeAspect="1"/>
          </p:cNvPicPr>
          <p:nvPr/>
        </p:nvPicPr>
        <p:blipFill>
          <a:blip r:embed="rId2"/>
          <a:stretch>
            <a:fillRect/>
          </a:stretch>
        </p:blipFill>
        <p:spPr>
          <a:xfrm>
            <a:off x="6504127" y="1280160"/>
            <a:ext cx="5120640" cy="3762363"/>
          </a:xfrm>
          <a:prstGeom prst="rect">
            <a:avLst/>
          </a:prstGeom>
        </p:spPr>
      </p:pic>
      <p:sp>
        <p:nvSpPr>
          <p:cNvPr id="5" name="Figure caption"/>
          <p:cNvSpPr txBox="1"/>
          <p:nvPr/>
        </p:nvSpPr>
        <p:spPr>
          <a:xfrm>
            <a:off x="6504127" y="513396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Fraser &amp; Heitler (1991), Fig. 1(A–C). Recordings before and during dye-mediated segmental-giant inactivation.</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Fraser &amp; Heitler (1991)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Bilateral relay removal exposes direct giant-fiber input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Fraser and Heitler photoinactivated SG on both sides of an abdominal ganglion. Removing only one SG would leave a contralateral route capable of exciting the recorded fast-flexor motor neuron. Bilateral manipulation therefore controlled an important parallel pathway.</a:t>
            </a:r>
          </a:p>
          <a:p>
            <a:pPr algn="l">
              <a:lnSpc>
                <a:spcPct val="108000"/>
              </a:lnSpc>
              <a:spcAft>
                <a:spcPts val="900"/>
              </a:spcAft>
            </a:pPr>
            <a:r>
              <a:rPr sz="1500" b="0" i="0">
                <a:solidFill>
                  <a:srgbClr val="1C242C"/>
                </a:solidFill>
                <a:latin typeface="Arial"/>
              </a:rPr>
              <a:t>After both SGs failed, LG stimulation still evoked a smaller fast-flexor EPSP. Injected current into LG could also spread to the motor neuron, especially for hyperpolarizing current, supporting an electrical component. The remaining response had a much shorter route than the usual giant-fiber-to-SG-to-motor-neuron pathway.</a:t>
            </a:r>
          </a:p>
          <a:p>
            <a:pPr algn="l">
              <a:lnSpc>
                <a:spcPct val="108000"/>
              </a:lnSpc>
              <a:spcAft>
                <a:spcPts val="900"/>
              </a:spcAft>
            </a:pPr>
            <a:r>
              <a:rPr sz="1500" b="0" i="0">
                <a:solidFill>
                  <a:srgbClr val="1C242C"/>
                </a:solidFill>
                <a:latin typeface="Arial"/>
              </a:rPr>
              <a:t>The experiment supports direct input beyond the dominant relay route. It does not imply that this small pathway alone normally produces a full escape. The intact circuit combines direct motor-giant activation, SG-mediated recruitment, and additional fast-flexor input; selectively removing SG reveals only part of that organization.</a:t>
            </a:r>
          </a:p>
        </p:txBody>
      </p:sp>
      <p:pic>
        <p:nvPicPr>
          <p:cNvPr id="4" name="Picture 3" descr="F91_2.png"/>
          <p:cNvPicPr>
            <a:picLocks noChangeAspect="1"/>
          </p:cNvPicPr>
          <p:nvPr/>
        </p:nvPicPr>
        <p:blipFill>
          <a:blip r:embed="rId2"/>
          <a:stretch>
            <a:fillRect/>
          </a:stretch>
        </p:blipFill>
        <p:spPr>
          <a:xfrm>
            <a:off x="6504127" y="1280160"/>
            <a:ext cx="5120640" cy="2720562"/>
          </a:xfrm>
          <a:prstGeom prst="rect">
            <a:avLst/>
          </a:prstGeom>
        </p:spPr>
      </p:pic>
      <p:sp>
        <p:nvSpPr>
          <p:cNvPr id="5" name="Figure caption"/>
          <p:cNvSpPr txBox="1"/>
          <p:nvPr/>
        </p:nvSpPr>
        <p:spPr>
          <a:xfrm>
            <a:off x="6504127" y="409216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Fraser &amp; Heitler (1991), Fig. 2(A–C). Residual LG-to-fast-flexor responses after bilateral SG inactivation.</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Fraser &amp; Heitler (1991)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LG and MG differ in their residual fast-flexor outputs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Fraser and Heitler compared LG and MG responses in fast-flexor neurons after bilateral SG photoinactivation. Both giants normally recruit the relay, so intact recordings can obscure differences in their direct output. The experiment compared the pathways under the same relay-removal condition.</a:t>
            </a:r>
          </a:p>
          <a:p>
            <a:pPr algn="l">
              <a:lnSpc>
                <a:spcPct val="108000"/>
              </a:lnSpc>
              <a:spcAft>
                <a:spcPts val="900"/>
              </a:spcAft>
            </a:pPr>
            <a:r>
              <a:rPr sz="1500" b="0" i="0">
                <a:solidFill>
                  <a:srgbClr val="1C242C"/>
                </a:solidFill>
                <a:latin typeface="Arial"/>
              </a:rPr>
              <a:t>In anterior abdominal ganglia, LG retained appreciable direct excitatory input to fast-flexor neurons, whereas MG produced little or no comparable effect. The residual LG input declined toward posterior ganglia. These segmental differences parallel the distinct motor consequences of activating the two giant systems.</a:t>
            </a:r>
          </a:p>
          <a:p>
            <a:pPr algn="l">
              <a:lnSpc>
                <a:spcPct val="108000"/>
              </a:lnSpc>
              <a:spcAft>
                <a:spcPts val="900"/>
              </a:spcAft>
            </a:pPr>
            <a:r>
              <a:rPr sz="1500" b="0" i="0">
                <a:solidFill>
                  <a:srgbClr val="1C242C"/>
                </a:solidFill>
                <a:latin typeface="Arial"/>
              </a:rPr>
              <a:t>The result supports unequal output connectivity beneath the shared SG pathway. It does not reconstruct the circuit’s evolutionary history from physiology alone. The authors proposed an ancestral interpretation, but the measured evidence is the spatial distribution of residual synaptic effects in the manipulated living circuit.</a:t>
            </a:r>
          </a:p>
        </p:txBody>
      </p:sp>
      <p:pic>
        <p:nvPicPr>
          <p:cNvPr id="4" name="Picture 3" descr="F91_4.png"/>
          <p:cNvPicPr>
            <a:picLocks noChangeAspect="1"/>
          </p:cNvPicPr>
          <p:nvPr/>
        </p:nvPicPr>
        <p:blipFill>
          <a:blip r:embed="rId2"/>
          <a:stretch>
            <a:fillRect/>
          </a:stretch>
        </p:blipFill>
        <p:spPr>
          <a:xfrm>
            <a:off x="6504127" y="1280160"/>
            <a:ext cx="5120640" cy="2514128"/>
          </a:xfrm>
          <a:prstGeom prst="rect">
            <a:avLst/>
          </a:prstGeom>
        </p:spPr>
      </p:pic>
      <p:sp>
        <p:nvSpPr>
          <p:cNvPr id="5" name="Figure caption"/>
          <p:cNvSpPr txBox="1"/>
          <p:nvPr/>
        </p:nvSpPr>
        <p:spPr>
          <a:xfrm>
            <a:off x="6504127" y="388572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Fraser &amp; Heitler (1991), Fig. 4(A,B). Comparisons of LG and MG input after SG removal.</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Fraser &amp; Heitler (1991)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Cadmium separates chemical from electrical motor input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A </a:t>
            </a:r>
            <a:r>
              <a:rPr sz="1500" b="1" i="0">
                <a:solidFill>
                  <a:srgbClr val="0B4F7A"/>
                </a:solidFill>
                <a:latin typeface="Arial"/>
              </a:rPr>
              <a:t>chemical synapse</a:t>
            </a:r>
            <a:r>
              <a:rPr sz="1500" b="0" i="0">
                <a:solidFill>
                  <a:srgbClr val="1C242C"/>
                </a:solidFill>
                <a:latin typeface="Arial"/>
              </a:rPr>
              <a:t> releases a transmitter that acts on receptors of another cell, rather than transferring current directly through a junction. Fraser and Heitler tested the residual LG-to-fast-flexor input with cadmium after removing SG. Cadmium interferes with calcium-dependent transmitter release but can also affect other cellular properties.</a:t>
            </a:r>
          </a:p>
          <a:p>
            <a:pPr algn="l">
              <a:lnSpc>
                <a:spcPct val="108000"/>
              </a:lnSpc>
              <a:spcAft>
                <a:spcPts val="900"/>
              </a:spcAft>
            </a:pPr>
            <a:r>
              <a:rPr sz="1500" b="0" i="0">
                <a:solidFill>
                  <a:srgbClr val="1C242C"/>
                </a:solidFill>
                <a:latin typeface="Arial"/>
              </a:rPr>
              <a:t>At millimolar cadmium concentrations, the residual fast-flexor EPSP decreased while the obligatory electrical giant-fiber-to-motor-giant spike transmission persisted. The authors also checked antidromic fast-flexor spikes, which were not comparably lost. These controls distinguish reduced chemical input from complete failure of axonal conduction.</a:t>
            </a:r>
          </a:p>
          <a:p>
            <a:pPr algn="l">
              <a:lnSpc>
                <a:spcPct val="108000"/>
              </a:lnSpc>
              <a:spcAft>
                <a:spcPts val="900"/>
              </a:spcAft>
            </a:pPr>
            <a:r>
              <a:rPr sz="1500" b="0" i="0">
                <a:solidFill>
                  <a:srgbClr val="1C242C"/>
                </a:solidFill>
                <a:latin typeface="Arial"/>
              </a:rPr>
              <a:t>The findings support a chemical component alongside electrical coupling. They do not identify the released transmitter or its receptor subtype. Cadmium’s effects on spike duration and other membrane currents also require control, so pharmacology alone is not a complete molecular identification.</a:t>
            </a:r>
          </a:p>
        </p:txBody>
      </p:sp>
      <p:pic>
        <p:nvPicPr>
          <p:cNvPr id="4" name="Picture 3" descr="F91_9.png"/>
          <p:cNvPicPr>
            <a:picLocks noChangeAspect="1"/>
          </p:cNvPicPr>
          <p:nvPr/>
        </p:nvPicPr>
        <p:blipFill>
          <a:blip r:embed="rId2"/>
          <a:stretch>
            <a:fillRect/>
          </a:stretch>
        </p:blipFill>
        <p:spPr>
          <a:xfrm>
            <a:off x="6504127" y="1280160"/>
            <a:ext cx="5120640" cy="2267965"/>
          </a:xfrm>
          <a:prstGeom prst="rect">
            <a:avLst/>
          </a:prstGeom>
        </p:spPr>
      </p:pic>
      <p:sp>
        <p:nvSpPr>
          <p:cNvPr id="5" name="Figure caption"/>
          <p:cNvSpPr txBox="1"/>
          <p:nvPr/>
        </p:nvSpPr>
        <p:spPr>
          <a:xfrm>
            <a:off x="6504127" y="363956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Fraser &amp; Heitler (1991), Fig. 9(A,B). Residual LG-to-fast-flexor response during cadmium exposure.</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Fraser &amp; Heitler (1991)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Cooling resolves components with different synaptic delays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Fraser and Heitler cooled preparations with both SGs photoinactivated from approximately 20°C to approximately 7°C. Cooling changes spike shape and slows processes associated with chemical transmission. LG and a fast-flexor neuron were recorded together to relate the residual motor response to presynaptic activity.</a:t>
            </a:r>
          </a:p>
          <a:p>
            <a:pPr algn="l">
              <a:lnSpc>
                <a:spcPct val="108000"/>
              </a:lnSpc>
              <a:spcAft>
                <a:spcPts val="960"/>
              </a:spcAft>
            </a:pPr>
            <a:r>
              <a:rPr sz="1600" b="0" i="0">
                <a:solidFill>
                  <a:srgbClr val="1C242C"/>
                </a:solidFill>
                <a:latin typeface="Arial"/>
              </a:rPr>
              <a:t>At low temperature, an early EPSP component remained close to the LG spike, while a later component became more visibly separated. Adding cadmium removed the later component while leaving the early response. This combination supports distinct electrical and chemical contributions to the direct connection.</a:t>
            </a:r>
          </a:p>
          <a:p>
            <a:pPr algn="l">
              <a:lnSpc>
                <a:spcPct val="108000"/>
              </a:lnSpc>
              <a:spcAft>
                <a:spcPts val="960"/>
              </a:spcAft>
            </a:pPr>
            <a:r>
              <a:rPr sz="1600" b="0" i="0">
                <a:solidFill>
                  <a:srgbClr val="1C242C"/>
                </a:solidFill>
                <a:latin typeface="Arial"/>
              </a:rPr>
              <a:t>The inference rests on converging timing and pharmacological evidence, not on delay alone. Cooling affects several membrane processes and increased LG spike duration. The experiment does not establish that the cold response waveform occurs during ordinary escape in the freely behaving animal.</a:t>
            </a:r>
          </a:p>
        </p:txBody>
      </p:sp>
      <p:pic>
        <p:nvPicPr>
          <p:cNvPr id="4" name="Picture 3" descr="F91_10.png"/>
          <p:cNvPicPr>
            <a:picLocks noChangeAspect="1"/>
          </p:cNvPicPr>
          <p:nvPr/>
        </p:nvPicPr>
        <p:blipFill>
          <a:blip r:embed="rId2"/>
          <a:stretch>
            <a:fillRect/>
          </a:stretch>
        </p:blipFill>
        <p:spPr>
          <a:xfrm>
            <a:off x="6504127" y="1280160"/>
            <a:ext cx="5120640" cy="3480674"/>
          </a:xfrm>
          <a:prstGeom prst="rect">
            <a:avLst/>
          </a:prstGeom>
        </p:spPr>
      </p:pic>
      <p:sp>
        <p:nvSpPr>
          <p:cNvPr id="5" name="Figure caption"/>
          <p:cNvSpPr txBox="1"/>
          <p:nvPr/>
        </p:nvSpPr>
        <p:spPr>
          <a:xfrm>
            <a:off x="6504127" y="485227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Fraser &amp; Heitler (1991), Fig. 10(A–C). Residual motor EPSPs at 20°C, 7°C, and with cadmium.</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Fraser &amp; Heitler (1991)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Antenna stimulation isolates measurable MG input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Swierzbinski and Herberholz surgically exposed the crayfish brain and recorded MG while stimulating one antenna II nerve. An extracellular hook electrode monitored connective activity, and a sharp intracellular electrode measured MG voltage. This preparation isolated a defined anterior sensory route.</a:t>
            </a:r>
          </a:p>
          <a:p>
            <a:pPr algn="l">
              <a:lnSpc>
                <a:spcPct val="108000"/>
              </a:lnSpc>
              <a:spcAft>
                <a:spcPts val="900"/>
              </a:spcAft>
            </a:pPr>
            <a:r>
              <a:rPr sz="1500" b="0" i="0">
                <a:solidFill>
                  <a:srgbClr val="1C242C"/>
                </a:solidFill>
                <a:latin typeface="Arial"/>
              </a:rPr>
              <a:t>The authors quantified an early MG potential at 3 ms and a later potential at 6 ms after the stimulus artifact. Most single-nerve stimuli produced subthreshold potentials, even when their amplitude had saturated. The electrode stimulus was kept below the level that directly activated MG without synaptic transmission.</a:t>
            </a:r>
          </a:p>
          <a:p>
            <a:pPr algn="l">
              <a:lnSpc>
                <a:spcPct val="108000"/>
              </a:lnSpc>
              <a:spcAft>
                <a:spcPts val="900"/>
              </a:spcAft>
            </a:pPr>
            <a:r>
              <a:rPr sz="1500" b="0" i="0">
                <a:solidFill>
                  <a:srgbClr val="1C242C"/>
                </a:solidFill>
                <a:latin typeface="Arial"/>
              </a:rPr>
              <a:t>These recordings establish experimentally separable phases of MG input. The late potential contains interacting excitation and inhibition rather than an isolated pure inhibitory voltage. Failure to fire in the reduced preparation does not mean that the intact MG circuit cannot respond rapidly to anterior threats.</a:t>
            </a:r>
          </a:p>
        </p:txBody>
      </p:sp>
      <p:pic>
        <p:nvPicPr>
          <p:cNvPr id="4" name="Picture 3" descr="M18_1B.png"/>
          <p:cNvPicPr>
            <a:picLocks noChangeAspect="1"/>
          </p:cNvPicPr>
          <p:nvPr/>
        </p:nvPicPr>
        <p:blipFill>
          <a:blip r:embed="rId2"/>
          <a:stretch>
            <a:fillRect/>
          </a:stretch>
        </p:blipFill>
        <p:spPr>
          <a:xfrm>
            <a:off x="7746449" y="1280160"/>
            <a:ext cx="2270234" cy="2194560"/>
          </a:xfrm>
          <a:prstGeom prst="rect">
            <a:avLst/>
          </a:prstGeom>
        </p:spPr>
      </p:pic>
      <p:sp>
        <p:nvSpPr>
          <p:cNvPr id="5" name="Figure caption"/>
          <p:cNvSpPr txBox="1"/>
          <p:nvPr/>
        </p:nvSpPr>
        <p:spPr>
          <a:xfrm>
            <a:off x="6138367" y="35661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Swierzbinski &amp; Herberholz (2018), Fig. 1(B). Antenna II-evoked connective activity and intracellular MG potentials.</a:t>
            </a:r>
          </a:p>
        </p:txBody>
      </p:sp>
      <p:pic>
        <p:nvPicPr>
          <p:cNvPr id="6" name="Picture 5" descr="M18_1A.png"/>
          <p:cNvPicPr>
            <a:picLocks noChangeAspect="1"/>
          </p:cNvPicPr>
          <p:nvPr/>
        </p:nvPicPr>
        <p:blipFill>
          <a:blip r:embed="rId3"/>
          <a:stretch>
            <a:fillRect/>
          </a:stretch>
        </p:blipFill>
        <p:spPr>
          <a:xfrm>
            <a:off x="8292946" y="4023360"/>
            <a:ext cx="1177241" cy="17373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Swierzbinski &amp; Herberholz (2018), Fig. 1(A). Published anatomical arrangement of antenna II input and the MG neuron.</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Swierzbinski &amp; Herberholz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Repeated saline trials control for recording drift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A </a:t>
            </a:r>
            <a:r>
              <a:rPr sz="1500" b="1" i="0">
                <a:solidFill>
                  <a:srgbClr val="0B4F7A"/>
                </a:solidFill>
                <a:latin typeface="Arial"/>
              </a:rPr>
              <a:t>baseline control</a:t>
            </a:r>
            <a:r>
              <a:rPr sz="1500" b="0" i="0">
                <a:solidFill>
                  <a:srgbClr val="1C242C"/>
                </a:solidFill>
                <a:latin typeface="Arial"/>
              </a:rPr>
              <a:t> measures the preparation without the tested drug, allowing changes over time to be distinguished from treatment effects. Swierzbinski and Herberholz stimulated the antenna II nerve every 90 s while continuously superfusing the exposed MG preparation with normal crayfish saline.</a:t>
            </a:r>
          </a:p>
          <a:p>
            <a:pPr algn="l">
              <a:lnSpc>
                <a:spcPct val="108000"/>
              </a:lnSpc>
              <a:spcAft>
                <a:spcPts val="900"/>
              </a:spcAft>
            </a:pPr>
            <a:r>
              <a:rPr sz="1500" b="0" i="0">
                <a:solidFill>
                  <a:srgbClr val="1C242C"/>
                </a:solidFill>
                <a:latin typeface="Arial"/>
              </a:rPr>
              <a:t>After a ten-minute baseline, responses were followed for another 90 minutes. The early and late potentials fluctuated but did not undergo the major sustained increase seen with ethanol. The original published traces retain their color coding for successive recording times.</a:t>
            </a:r>
          </a:p>
          <a:p>
            <a:pPr algn="l">
              <a:lnSpc>
                <a:spcPct val="108000"/>
              </a:lnSpc>
              <a:spcAft>
                <a:spcPts val="900"/>
              </a:spcAft>
            </a:pPr>
            <a:r>
              <a:rPr sz="1500" b="0" i="0">
                <a:solidFill>
                  <a:srgbClr val="1C242C"/>
                </a:solidFill>
                <a:latin typeface="Arial"/>
              </a:rPr>
              <a:t>This control supports attributing the ethanol-associated enhancement to treatment rather than ordinary repeated stimulation alone. It does not prove that saline preparations are perfectly invariant or that each pharmacological condition has the same background drift. The comparison concerns the behavior of this reduced neural preparation over its recorded interval.</a:t>
            </a:r>
          </a:p>
        </p:txBody>
      </p:sp>
      <p:pic>
        <p:nvPicPr>
          <p:cNvPr id="4" name="Picture 3" descr="M18_2B.png"/>
          <p:cNvPicPr>
            <a:picLocks noChangeAspect="1"/>
          </p:cNvPicPr>
          <p:nvPr/>
        </p:nvPicPr>
        <p:blipFill>
          <a:blip r:embed="rId2"/>
          <a:stretch>
            <a:fillRect/>
          </a:stretch>
        </p:blipFill>
        <p:spPr>
          <a:xfrm>
            <a:off x="6864182" y="1280160"/>
            <a:ext cx="4034769" cy="2194560"/>
          </a:xfrm>
          <a:prstGeom prst="rect">
            <a:avLst/>
          </a:prstGeom>
        </p:spPr>
      </p:pic>
      <p:sp>
        <p:nvSpPr>
          <p:cNvPr id="5" name="Figure caption"/>
          <p:cNvSpPr txBox="1"/>
          <p:nvPr/>
        </p:nvSpPr>
        <p:spPr>
          <a:xfrm>
            <a:off x="6138367" y="35661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Swierzbinski &amp; Herberholz (2018), Fig. 2(B). Early and late MG potentials during repeated saline stimulation.</a:t>
            </a:r>
          </a:p>
        </p:txBody>
      </p:sp>
      <p:pic>
        <p:nvPicPr>
          <p:cNvPr id="6" name="Picture 5" descr="M18_1A.png"/>
          <p:cNvPicPr>
            <a:picLocks noChangeAspect="1"/>
          </p:cNvPicPr>
          <p:nvPr/>
        </p:nvPicPr>
        <p:blipFill>
          <a:blip r:embed="rId3"/>
          <a:stretch>
            <a:fillRect/>
          </a:stretch>
        </p:blipFill>
        <p:spPr>
          <a:xfrm>
            <a:off x="8292946" y="4023360"/>
            <a:ext cx="1177241" cy="17373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Swierzbinski &amp; Herberholz (2018), Fig. 1(A). Published anatomical arrangement of antenna II input and the MG neuron.</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Swierzbinski &amp; Herberholz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Ethanol enhances the early MG sensory potential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Swierzbinski and Herberholz superfused MG preparations with 100 mM </a:t>
            </a:r>
            <a:r>
              <a:rPr sz="1500" b="1" i="0">
                <a:solidFill>
                  <a:srgbClr val="0B4F7A"/>
                </a:solidFill>
                <a:latin typeface="Arial"/>
              </a:rPr>
              <a:t>ethanol</a:t>
            </a:r>
            <a:r>
              <a:rPr sz="1500" b="0" i="0">
                <a:solidFill>
                  <a:srgbClr val="1C242C"/>
                </a:solidFill>
                <a:latin typeface="Arial"/>
              </a:rPr>
              <a:t>, the alcohol molecule tested here, after a saline baseline. Antenna II stimuli remained 90 s apart. Early and late MG potentials were measured separately to avoid treating the compound response as a single uniform signal.</a:t>
            </a:r>
          </a:p>
          <a:p>
            <a:pPr algn="l">
              <a:lnSpc>
                <a:spcPct val="108000"/>
              </a:lnSpc>
              <a:spcAft>
                <a:spcPts val="900"/>
              </a:spcAft>
            </a:pPr>
            <a:r>
              <a:rPr sz="1500" b="0" i="0">
                <a:solidFill>
                  <a:srgbClr val="1C242C"/>
                </a:solidFill>
                <a:latin typeface="Arial"/>
              </a:rPr>
              <a:t>The early potential rose to roughly one-and-a-half times its baseline amplitude during ethanol exposure. Enhancement remained after 60 minutes of saline washout. The late component varied and did not provide comparably strong evidence for a sustained enhancement.</a:t>
            </a:r>
          </a:p>
          <a:p>
            <a:pPr algn="l">
              <a:lnSpc>
                <a:spcPct val="108000"/>
              </a:lnSpc>
              <a:spcAft>
                <a:spcPts val="900"/>
              </a:spcAft>
            </a:pPr>
            <a:r>
              <a:rPr sz="1500" b="0" i="0">
                <a:solidFill>
                  <a:srgbClr val="1C242C"/>
                </a:solidFill>
                <a:latin typeface="Arial"/>
              </a:rPr>
              <a:t>The effect supports increased excitability of an anterior sensory pathway under this treatment. It does not identify a single ethanol-binding receptor or establish a behavioral escape rate in these pinned preparations. A larger subthreshold potential and an increased probability of natural escape are related hypotheses, not the same measurement.</a:t>
            </a:r>
          </a:p>
        </p:txBody>
      </p:sp>
      <p:pic>
        <p:nvPicPr>
          <p:cNvPr id="4" name="Picture 3" descr="M18_3.png"/>
          <p:cNvPicPr>
            <a:picLocks noChangeAspect="1"/>
          </p:cNvPicPr>
          <p:nvPr/>
        </p:nvPicPr>
        <p:blipFill>
          <a:blip r:embed="rId2"/>
          <a:stretch>
            <a:fillRect/>
          </a:stretch>
        </p:blipFill>
        <p:spPr>
          <a:xfrm>
            <a:off x="7132837" y="1280160"/>
            <a:ext cx="3497459" cy="2194560"/>
          </a:xfrm>
          <a:prstGeom prst="rect">
            <a:avLst/>
          </a:prstGeom>
        </p:spPr>
      </p:pic>
      <p:sp>
        <p:nvSpPr>
          <p:cNvPr id="5" name="Figure caption"/>
          <p:cNvSpPr txBox="1"/>
          <p:nvPr/>
        </p:nvSpPr>
        <p:spPr>
          <a:xfrm>
            <a:off x="6138367" y="35661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Swierzbinski &amp; Herberholz (2018), Fig. 3. MG potential amplitudes before, during, and after ethanol exposure.</a:t>
            </a:r>
          </a:p>
        </p:txBody>
      </p:sp>
      <p:pic>
        <p:nvPicPr>
          <p:cNvPr id="6" name="Picture 5" descr="M18_1A.png"/>
          <p:cNvPicPr>
            <a:picLocks noChangeAspect="1"/>
          </p:cNvPicPr>
          <p:nvPr/>
        </p:nvPicPr>
        <p:blipFill>
          <a:blip r:embed="rId3"/>
          <a:stretch>
            <a:fillRect/>
          </a:stretch>
        </p:blipFill>
        <p:spPr>
          <a:xfrm>
            <a:off x="8292946" y="4023360"/>
            <a:ext cx="1177241" cy="17373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Swierzbinski &amp; Herberholz (2018), Fig. 1(A). Published anatomical arrangement of antenna II input and the MG neuron.</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Swierzbinski &amp; Herberholz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Inhibitory-channel blockade changes MG sensory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Swierzbinski and Herberholz applied 25 μM picrotoxin to test inhibitory-channel contributions to MG input. An </a:t>
            </a:r>
            <a:r>
              <a:rPr sz="1500" b="1" i="0">
                <a:solidFill>
                  <a:srgbClr val="0B4F7A"/>
                </a:solidFill>
                <a:latin typeface="Arial"/>
              </a:rPr>
              <a:t>antagonist</a:t>
            </a:r>
            <a:r>
              <a:rPr sz="1500" b="0" i="0">
                <a:solidFill>
                  <a:srgbClr val="1C242C"/>
                </a:solidFill>
                <a:latin typeface="Arial"/>
              </a:rPr>
              <a:t> reduces a receptor-associated process; this drug interferes with inhibitory ion-channel function. The experiment compared early and late sensory potentials with their saline baseline.</a:t>
            </a:r>
          </a:p>
          <a:p>
            <a:pPr algn="l">
              <a:lnSpc>
                <a:spcPct val="108000"/>
              </a:lnSpc>
              <a:spcAft>
                <a:spcPts val="900"/>
              </a:spcAft>
            </a:pPr>
            <a:r>
              <a:rPr sz="1500" b="0" i="0">
                <a:solidFill>
                  <a:srgbClr val="1C242C"/>
                </a:solidFill>
                <a:latin typeface="Arial"/>
              </a:rPr>
              <a:t>The early MG potential increased during the 30-minute treatment. Changes of the later potential during application were more variable. Higher picrotoxin concentrations could produce repeated MG spikes arising late in the compound response, so the investigators used the lower dose for their main comparisons.</a:t>
            </a:r>
          </a:p>
          <a:p>
            <a:pPr algn="l">
              <a:lnSpc>
                <a:spcPct val="108000"/>
              </a:lnSpc>
              <a:spcAft>
                <a:spcPts val="900"/>
              </a:spcAft>
            </a:pPr>
            <a:r>
              <a:rPr sz="1500" b="0" i="0">
                <a:solidFill>
                  <a:srgbClr val="1C242C"/>
                </a:solidFill>
                <a:latin typeface="Arial"/>
              </a:rPr>
              <a:t>The findings support inhibitory regulation of the MG sensory pathway. They do not assign every drug effect directly to channels on MG: upstream sensory neurons can also be affected. The late suppression during washout further cautions against treating the drug response as a simple, immediately reversible removal of one synapse.</a:t>
            </a:r>
          </a:p>
        </p:txBody>
      </p:sp>
      <p:pic>
        <p:nvPicPr>
          <p:cNvPr id="4" name="Picture 3" descr="M18_4B.png"/>
          <p:cNvPicPr>
            <a:picLocks noChangeAspect="1"/>
          </p:cNvPicPr>
          <p:nvPr/>
        </p:nvPicPr>
        <p:blipFill>
          <a:blip r:embed="rId2"/>
          <a:stretch>
            <a:fillRect/>
          </a:stretch>
        </p:blipFill>
        <p:spPr>
          <a:xfrm>
            <a:off x="7303778" y="1280160"/>
            <a:ext cx="3155576" cy="2194560"/>
          </a:xfrm>
          <a:prstGeom prst="rect">
            <a:avLst/>
          </a:prstGeom>
        </p:spPr>
      </p:pic>
      <p:sp>
        <p:nvSpPr>
          <p:cNvPr id="5" name="Figure caption"/>
          <p:cNvSpPr txBox="1"/>
          <p:nvPr/>
        </p:nvSpPr>
        <p:spPr>
          <a:xfrm>
            <a:off x="6138367" y="35661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Swierzbinski &amp; Herberholz (2018), Fig. 4(B). Early and late MG potentials during picrotoxin and washout.</a:t>
            </a:r>
          </a:p>
        </p:txBody>
      </p:sp>
      <p:pic>
        <p:nvPicPr>
          <p:cNvPr id="6" name="Picture 5" descr="M18_1A.png"/>
          <p:cNvPicPr>
            <a:picLocks noChangeAspect="1"/>
          </p:cNvPicPr>
          <p:nvPr/>
        </p:nvPicPr>
        <p:blipFill>
          <a:blip r:embed="rId3"/>
          <a:stretch>
            <a:fillRect/>
          </a:stretch>
        </p:blipFill>
        <p:spPr>
          <a:xfrm>
            <a:off x="8292946" y="4023360"/>
            <a:ext cx="1177241" cy="17373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Swierzbinski &amp; Herberholz (2018), Fig. 1(A). Published anatomical arrangement of antenna II input and the MG neuron.</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Swierzbinski &amp; Herberholz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Muscimol produces delayed suppression during washout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0B4F7A"/>
                </a:solidFill>
                <a:latin typeface="Arial"/>
              </a:rPr>
              <a:t>Muscimol</a:t>
            </a:r>
            <a:r>
              <a:rPr sz="1500" b="0" i="0">
                <a:solidFill>
                  <a:srgbClr val="1C242C"/>
                </a:solidFill>
                <a:latin typeface="Arial"/>
              </a:rPr>
              <a:t> is an agonist of ionotropic GABA receptors; an agonist activates a receptor-associated response. An </a:t>
            </a:r>
            <a:r>
              <a:rPr sz="1500" b="1" i="0">
                <a:solidFill>
                  <a:srgbClr val="0B4F7A"/>
                </a:solidFill>
                <a:latin typeface="Arial"/>
              </a:rPr>
              <a:t>ionotropic receptor</a:t>
            </a:r>
            <a:r>
              <a:rPr sz="1500" b="0" i="0">
                <a:solidFill>
                  <a:srgbClr val="1C242C"/>
                </a:solidFill>
                <a:latin typeface="Arial"/>
              </a:rPr>
              <a:t> directly gates an ion channel. Swierzbinski and Herberholz applied 25 μM muscimol for 30 minutes while repeatedly measuring antenna II-evoked MG potentials.</a:t>
            </a:r>
          </a:p>
          <a:p>
            <a:pPr algn="l">
              <a:lnSpc>
                <a:spcPct val="108000"/>
              </a:lnSpc>
              <a:spcAft>
                <a:spcPts val="900"/>
              </a:spcAft>
            </a:pPr>
            <a:r>
              <a:rPr sz="1500" b="0" i="0">
                <a:solidFill>
                  <a:srgbClr val="1C242C"/>
                </a:solidFill>
                <a:latin typeface="Arial"/>
              </a:rPr>
              <a:t>Potential amplitudes changed relatively little during treatment but declined during subsequent saline washout. The late potential reached approximately 32% of baseline after 60 minutes of washout. Separate measurements of MG input resistance changed only modestly during muscimol exposure, despite the later decline of sensory potentials.</a:t>
            </a:r>
          </a:p>
          <a:p>
            <a:pPr algn="l">
              <a:lnSpc>
                <a:spcPct val="108000"/>
              </a:lnSpc>
              <a:spcAft>
                <a:spcPts val="900"/>
              </a:spcAft>
            </a:pPr>
            <a:r>
              <a:rPr sz="1500" b="0" i="0">
                <a:solidFill>
                  <a:srgbClr val="1C242C"/>
                </a:solidFill>
                <a:latin typeface="Arial"/>
              </a:rPr>
              <a:t>The delayed response supports a more complex pharmacological interaction than immediate postsynaptic shunting alone. It does not establish the molecular origin of the persistent suppression. Direct receptor activation, upstream effects, and processes continuing after solution exchange must remain distinguishable from measured MG voltage changes.</a:t>
            </a:r>
          </a:p>
        </p:txBody>
      </p:sp>
      <p:pic>
        <p:nvPicPr>
          <p:cNvPr id="4" name="Picture 3" descr="M18_4C.png"/>
          <p:cNvPicPr>
            <a:picLocks noChangeAspect="1"/>
          </p:cNvPicPr>
          <p:nvPr/>
        </p:nvPicPr>
        <p:blipFill>
          <a:blip r:embed="rId2"/>
          <a:stretch>
            <a:fillRect/>
          </a:stretch>
        </p:blipFill>
        <p:spPr>
          <a:xfrm>
            <a:off x="7243094" y="1280160"/>
            <a:ext cx="3276944" cy="2194560"/>
          </a:xfrm>
          <a:prstGeom prst="rect">
            <a:avLst/>
          </a:prstGeom>
        </p:spPr>
      </p:pic>
      <p:sp>
        <p:nvSpPr>
          <p:cNvPr id="5" name="Figure caption"/>
          <p:cNvSpPr txBox="1"/>
          <p:nvPr/>
        </p:nvSpPr>
        <p:spPr>
          <a:xfrm>
            <a:off x="6138367" y="35661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Swierzbinski &amp; Herberholz (2018), Fig. 4(C). MG potentials during muscimol exposure and saline washout.</a:t>
            </a:r>
          </a:p>
        </p:txBody>
      </p:sp>
      <p:pic>
        <p:nvPicPr>
          <p:cNvPr id="6" name="Picture 5" descr="M18_1A.png"/>
          <p:cNvPicPr>
            <a:picLocks noChangeAspect="1"/>
          </p:cNvPicPr>
          <p:nvPr/>
        </p:nvPicPr>
        <p:blipFill>
          <a:blip r:embed="rId3"/>
          <a:stretch>
            <a:fillRect/>
          </a:stretch>
        </p:blipFill>
        <p:spPr>
          <a:xfrm>
            <a:off x="8292946" y="4023360"/>
            <a:ext cx="1177241" cy="17373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Swierzbinski &amp; Herberholz (2018), Fig. 1(A). Published anatomical arrangement of antenna II input and the MG neuron.</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Swierzbinski &amp; Herberholz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Drug order alters the apparent ethanol response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Swierzbinski and Herberholz exposed MG preparations to muscimol before applying ethanol. The sequence included a saline baseline, 30 minutes of 25 μM muscimol, 30 minutes of 100 mM ethanol, and 60 minutes of saline washout. Early and late sensory potentials were measured throughout.</a:t>
            </a:r>
          </a:p>
          <a:p>
            <a:pPr algn="l">
              <a:lnSpc>
                <a:spcPct val="108000"/>
              </a:lnSpc>
              <a:spcAft>
                <a:spcPts val="900"/>
              </a:spcAft>
            </a:pPr>
            <a:r>
              <a:rPr sz="1500" b="0" i="0">
                <a:solidFill>
                  <a:srgbClr val="1C242C"/>
                </a:solidFill>
                <a:latin typeface="Arial"/>
              </a:rPr>
              <a:t>Unlike ethanol alone, ethanol following muscimol did not produce a clear additional enhancement relative to baseline. The large washout suppression observed after muscimol alone was also absent in this sequential condition. The treatment history therefore altered both apparent facilitation and delayed suppression.</a:t>
            </a:r>
          </a:p>
          <a:p>
            <a:pPr algn="l">
              <a:lnSpc>
                <a:spcPct val="108000"/>
              </a:lnSpc>
              <a:spcAft>
                <a:spcPts val="900"/>
              </a:spcAft>
            </a:pPr>
            <a:r>
              <a:rPr sz="1500" b="0" i="0">
                <a:solidFill>
                  <a:srgbClr val="1C242C"/>
                </a:solidFill>
                <a:latin typeface="Arial"/>
              </a:rPr>
              <a:t>These interactions support state-dependent pharmacological modulation of sensory input. They do not prove that ethanol acts at exactly the same receptor-binding site as muscimol. The measurements concern compound synaptic potentials, and several sites within the anterior pathway could contribute to the history-dependent response.</a:t>
            </a:r>
          </a:p>
        </p:txBody>
      </p:sp>
      <p:pic>
        <p:nvPicPr>
          <p:cNvPr id="4" name="Picture 3" descr="M18_5.png"/>
          <p:cNvPicPr>
            <a:picLocks noChangeAspect="1"/>
          </p:cNvPicPr>
          <p:nvPr/>
        </p:nvPicPr>
        <p:blipFill>
          <a:blip r:embed="rId2"/>
          <a:stretch>
            <a:fillRect/>
          </a:stretch>
        </p:blipFill>
        <p:spPr>
          <a:xfrm>
            <a:off x="7287823" y="1280160"/>
            <a:ext cx="3187487" cy="2194560"/>
          </a:xfrm>
          <a:prstGeom prst="rect">
            <a:avLst/>
          </a:prstGeom>
        </p:spPr>
      </p:pic>
      <p:sp>
        <p:nvSpPr>
          <p:cNvPr id="5" name="Figure caption"/>
          <p:cNvSpPr txBox="1"/>
          <p:nvPr/>
        </p:nvSpPr>
        <p:spPr>
          <a:xfrm>
            <a:off x="6138367" y="35661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Swierzbinski &amp; Herberholz (2018), Fig. 5. MG responses to muscimol followed by ethanol.</a:t>
            </a:r>
          </a:p>
        </p:txBody>
      </p:sp>
      <p:pic>
        <p:nvPicPr>
          <p:cNvPr id="6" name="Picture 5" descr="M18_1A.png"/>
          <p:cNvPicPr>
            <a:picLocks noChangeAspect="1"/>
          </p:cNvPicPr>
          <p:nvPr/>
        </p:nvPicPr>
        <p:blipFill>
          <a:blip r:embed="rId3"/>
          <a:stretch>
            <a:fillRect/>
          </a:stretch>
        </p:blipFill>
        <p:spPr>
          <a:xfrm>
            <a:off x="8292946" y="4023360"/>
            <a:ext cx="1177241" cy="17373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Swierzbinski &amp; Herberholz (2018), Fig. 1(A). Published anatomical arrangement of antenna II input and the MG neuron.</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Swierzbinski &amp; Herberholz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Manganese imaging links sensory stimulation to brain uptake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0B4F7A"/>
                </a:solidFill>
                <a:latin typeface="Arial"/>
              </a:rPr>
              <a:t>Manganese-enhanced MRI</a:t>
            </a:r>
            <a:r>
              <a:rPr sz="1500" b="0" i="0">
                <a:solidFill>
                  <a:srgbClr val="1C242C"/>
                </a:solidFill>
                <a:latin typeface="Arial"/>
              </a:rPr>
              <a:t>, or MEMRI, uses manganese ions to increase tissue contrast and mark activity-associated uptake. Manganese can enter depolarized cells through voltage-gated calcium channels. Such channels open in response to membrane voltage and normally provide a route for calcium entry.</a:t>
            </a:r>
          </a:p>
          <a:p>
            <a:pPr algn="l">
              <a:lnSpc>
                <a:spcPct val="108000"/>
              </a:lnSpc>
              <a:spcAft>
                <a:spcPts val="900"/>
              </a:spcAft>
            </a:pPr>
            <a:r>
              <a:rPr sz="1500" b="0" i="0">
                <a:solidFill>
                  <a:srgbClr val="1C242C"/>
                </a:solidFill>
                <a:latin typeface="Arial"/>
              </a:rPr>
              <a:t>Herberholz and colleagues injected 40 μl of 25 mM manganese chloride and stimulated the antenna II nerve at 4 Hz. T1-weighted brain images at 31 μm in-plane resolution contained greater uptake on the stimulated side, including the antenna II nerve and accessory-lobe region.</a:t>
            </a:r>
          </a:p>
          <a:p>
            <a:pPr algn="l">
              <a:lnSpc>
                <a:spcPct val="108000"/>
              </a:lnSpc>
              <a:spcAft>
                <a:spcPts val="900"/>
              </a:spcAft>
            </a:pPr>
            <a:r>
              <a:rPr sz="1500" b="0" i="0">
                <a:solidFill>
                  <a:srgbClr val="1C242C"/>
                </a:solidFill>
                <a:latin typeface="Arial"/>
              </a:rPr>
              <a:t>The result relates controlled sensory stimulation to regional manganese accumulation. It does not identify the firing of a particular MG neuron or resolve individual spikes. The marker accumulates over an extended stimulation period, so its biological timescale differs from the millisecond escape recordings.</a:t>
            </a:r>
          </a:p>
        </p:txBody>
      </p:sp>
      <p:pic>
        <p:nvPicPr>
          <p:cNvPr id="4" name="Picture 3" descr="H11_3AB.png"/>
          <p:cNvPicPr>
            <a:picLocks noChangeAspect="1"/>
          </p:cNvPicPr>
          <p:nvPr/>
        </p:nvPicPr>
        <p:blipFill>
          <a:blip r:embed="rId2"/>
          <a:stretch>
            <a:fillRect/>
          </a:stretch>
        </p:blipFill>
        <p:spPr>
          <a:xfrm>
            <a:off x="6504127" y="1280160"/>
            <a:ext cx="5120640" cy="2610882"/>
          </a:xfrm>
          <a:prstGeom prst="rect">
            <a:avLst/>
          </a:prstGeom>
        </p:spPr>
      </p:pic>
      <p:sp>
        <p:nvSpPr>
          <p:cNvPr id="5" name="Figure caption"/>
          <p:cNvSpPr txBox="1"/>
          <p:nvPr/>
        </p:nvSpPr>
        <p:spPr>
          <a:xfrm>
            <a:off x="6504127" y="398248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(2011), Fig. 3(A,B). Axial brain sections after antenna II stimulation and manganese injection.</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Herberholz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Unstimulated imaging controls constrain activity inference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Herberholz and colleagues compared stimulated and unstimulated animals receiving the same manganese dose. They examined both T1- and T2-weighted images, which emphasize different tissue-dependent magnetic relaxation properties. Regions of interest were held consistent across selected slices within each animal.</a:t>
            </a:r>
          </a:p>
          <a:p>
            <a:pPr algn="l">
              <a:lnSpc>
                <a:spcPct val="108000"/>
              </a:lnSpc>
              <a:spcAft>
                <a:spcPts val="960"/>
              </a:spcAft>
            </a:pPr>
            <a:r>
              <a:rPr sz="1600" b="0" i="0">
                <a:solidFill>
                  <a:srgbClr val="1C242C"/>
                </a:solidFill>
                <a:latin typeface="Arial"/>
              </a:rPr>
              <a:t>The stimulated animal’s T1-weighted images had greater intensity on the stimulated side, while the unstimulated control had more similar values across sides. T2-weighted images provided strong anatomical contrast but made the side difference less discrete. The comparison extended across a 400 μm axial region.</a:t>
            </a:r>
          </a:p>
          <a:p>
            <a:pPr algn="l">
              <a:lnSpc>
                <a:spcPct val="108000"/>
              </a:lnSpc>
              <a:spcAft>
                <a:spcPts val="960"/>
              </a:spcAft>
            </a:pPr>
            <a:r>
              <a:rPr sz="1600" b="0" i="0">
                <a:solidFill>
                  <a:srgbClr val="1C242C"/>
                </a:solidFill>
                <a:latin typeface="Arial"/>
              </a:rPr>
              <a:t>The control supports stimulation-associated uptake rather than assuming all visible contrast represents neural activity. It does not remove every potential anatomical or physiological source of between-animal variation. Imaging protocol, manganese exposure, anatomical position, and the regional comparison all affect what can be inferred.</a:t>
            </a:r>
          </a:p>
        </p:txBody>
      </p:sp>
      <p:pic>
        <p:nvPicPr>
          <p:cNvPr id="4" name="Picture 3" descr="H11_4.png"/>
          <p:cNvPicPr>
            <a:picLocks noChangeAspect="1"/>
          </p:cNvPicPr>
          <p:nvPr/>
        </p:nvPicPr>
        <p:blipFill>
          <a:blip r:embed="rId2"/>
          <a:stretch>
            <a:fillRect/>
          </a:stretch>
        </p:blipFill>
        <p:spPr>
          <a:xfrm>
            <a:off x="7303893" y="1280160"/>
            <a:ext cx="352110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(2011), Fig. 4. Original stimulated and unstimulated brain-image stacks.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Herberholz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Cord stimulation permits regional imaging of escape activity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Herberholz and colleagues injected a modest manganese dose and stimulated the ventral nerve cord to elicit LG-mediated tail flips. The protocol used 60 shocks over 20 minutes, each evoking an escape response. Imaging followed the stimulation period rather than occurring during individual flips.</a:t>
            </a:r>
          </a:p>
          <a:p>
            <a:pPr algn="l">
              <a:lnSpc>
                <a:spcPct val="108000"/>
              </a:lnSpc>
              <a:spcAft>
                <a:spcPts val="900"/>
              </a:spcAft>
            </a:pPr>
            <a:r>
              <a:rPr sz="1500" b="0" i="0">
                <a:solidFill>
                  <a:srgbClr val="1C242C"/>
                </a:solidFill>
                <a:latin typeface="Arial"/>
              </a:rPr>
              <a:t>Manganese-enhanced sections resolved abdominal ganglia and associated nerve roots. Enlarged regions distinguished brighter ganglionic areas from surrounding tissue, with the published figures preserving 500 μm and 100 μm scale bars. The result extends activity-associated imaging beyond the anterior sensory preparation.</a:t>
            </a:r>
          </a:p>
          <a:p>
            <a:pPr algn="l">
              <a:lnSpc>
                <a:spcPct val="108000"/>
              </a:lnSpc>
              <a:spcAft>
                <a:spcPts val="900"/>
              </a:spcAft>
            </a:pPr>
            <a:r>
              <a:rPr sz="1500" b="0" i="0">
                <a:solidFill>
                  <a:srgbClr val="1C242C"/>
                </a:solidFill>
                <a:latin typeface="Arial"/>
              </a:rPr>
              <a:t>This provides a regional anatomical record associated with repeated escape-circuit activation. It does not establish which individual neuron accumulated the marker or which synapse transmitted each response. Intracellular electrophysiology supplies cellular timing and causal tests that this integrated imaging measurement cannot replace.</a:t>
            </a:r>
          </a:p>
        </p:txBody>
      </p:sp>
      <p:pic>
        <p:nvPicPr>
          <p:cNvPr id="4" name="Picture 3" descr="H11_5.png"/>
          <p:cNvPicPr>
            <a:picLocks noChangeAspect="1"/>
          </p:cNvPicPr>
          <p:nvPr/>
        </p:nvPicPr>
        <p:blipFill>
          <a:blip r:embed="rId2"/>
          <a:stretch>
            <a:fillRect/>
          </a:stretch>
        </p:blipFill>
        <p:spPr>
          <a:xfrm>
            <a:off x="6950500" y="1280160"/>
            <a:ext cx="422789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Herberholz et al. (2011), Fig. 5(A–C). Cord, ganglion, and enlarged neuropil after repeated escape stimulation.</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Herberholz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Escape speed and flexibility arise from parallel circuits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Wine and Krasne connected abrupt stimulus location with the giant circuit recruited and the resulting movement. Posterior taps commonly evoked LG-mediated upward pitching; anterior stimuli commonly evoked MG-mediated backward escape. More gradual stimuli generally recruited slower, more variable nongiant responses.</a:t>
            </a:r>
          </a:p>
          <a:p>
            <a:pPr algn="l">
              <a:lnSpc>
                <a:spcPct val="108000"/>
              </a:lnSpc>
              <a:spcAft>
                <a:spcPts val="900"/>
              </a:spcAft>
            </a:pPr>
            <a:r>
              <a:rPr sz="1500" b="0" i="0">
                <a:solidFill>
                  <a:srgbClr val="1C242C"/>
                </a:solidFill>
                <a:latin typeface="Arial"/>
              </a:rPr>
              <a:t>Controlled nerve-pair recordings later established timing selectivity at 0.1 ms input separation, while relay photoinactivation exposed differing LG and MG motor outputs. These experiments address separate stages: sensory integration determines recruitment, and output connectivity determines the muscle pattern once a pathway is active.</a:t>
            </a:r>
          </a:p>
          <a:p>
            <a:pPr algn="l">
              <a:lnSpc>
                <a:spcPct val="108000"/>
              </a:lnSpc>
              <a:spcAft>
                <a:spcPts val="900"/>
              </a:spcAft>
            </a:pPr>
            <a:r>
              <a:rPr sz="1500" b="0" i="0">
                <a:solidFill>
                  <a:srgbClr val="1C242C"/>
                </a:solidFill>
                <a:latin typeface="Arial"/>
              </a:rPr>
              <a:t>Speed and flexibility therefore depend on interacting parallel pathways rather than on giant-axon diameter alone. The rapid giant response is not the only escape available, and the presence of a tail flip is not sufficient to identify its neural cause. Pathway-specific recording or manipulation is required.</a:t>
            </a:r>
          </a:p>
        </p:txBody>
      </p:sp>
      <p:pic>
        <p:nvPicPr>
          <p:cNvPr id="4" name="Picture 3" descr="WK72_5.png"/>
          <p:cNvPicPr>
            <a:picLocks noChangeAspect="1"/>
          </p:cNvPicPr>
          <p:nvPr/>
        </p:nvPicPr>
        <p:blipFill>
          <a:blip r:embed="rId2"/>
          <a:stretch>
            <a:fillRect/>
          </a:stretch>
        </p:blipFill>
        <p:spPr>
          <a:xfrm>
            <a:off x="7563129" y="1280160"/>
            <a:ext cx="300263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Wine &amp; Krasne (1972), Fig. 5. Distinct filmed LG and MG escape movements.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Wine &amp; Krasne (1972); Edwards et al. (1998); Fraser &amp; Heitler (1991)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Key takeaways</a:t>
            </a:r>
          </a:p>
        </p:txBody>
      </p:sp>
      <p:sp>
        <p:nvSpPr>
          <p:cNvPr id="3" name="Rectangle 2"/>
          <p:cNvSpPr/>
          <p:nvPr/>
        </p:nvSpPr>
        <p:spPr>
          <a:xfrm>
            <a:off x="566928" y="1234440"/>
            <a:ext cx="5391759" cy="1478279"/>
          </a:xfrm>
          <a:prstGeom prst="rect">
            <a:avLst/>
          </a:prstGeom>
          <a:solidFill>
            <a:srgbClr val="EAF4FA"/>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0B4F7A"/>
                </a:solidFill>
                <a:latin typeface="Arial"/>
              </a:rPr>
              <a:t>Stimulus timing and location.</a:t>
            </a:r>
            <a:r>
              <a:rPr sz="1500" b="0" i="0">
                <a:solidFill>
                  <a:srgbClr val="1C242C"/>
                </a:solidFill>
                <a:latin typeface="Arial"/>
              </a:rPr>
              <a:t> Abrupt posterior stimuli recruit LG-mediated upward pitching, while anterior stimuli can recruit MG-mediated backward escape; intensity alone does not determine the pathway.</a:t>
            </a:r>
          </a:p>
        </p:txBody>
      </p:sp>
      <p:sp>
        <p:nvSpPr>
          <p:cNvPr id="5" name="Rectangle 4"/>
          <p:cNvSpPr/>
          <p:nvPr/>
        </p:nvSpPr>
        <p:spPr>
          <a:xfrm>
            <a:off x="6233007" y="1234440"/>
            <a:ext cx="5391759" cy="1478279"/>
          </a:xfrm>
          <a:prstGeom prst="rect">
            <a:avLst/>
          </a:prstGeom>
          <a:solidFill>
            <a:srgbClr val="EAF4FA"/>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0B4F7A"/>
                </a:solidFill>
                <a:latin typeface="Arial"/>
              </a:rPr>
              <a:t>Parallel escape systems.</a:t>
            </a:r>
            <a:r>
              <a:rPr sz="1600" b="0" i="0">
                <a:solidFill>
                  <a:srgbClr val="1C242C"/>
                </a:solidFill>
                <a:latin typeface="Arial"/>
              </a:rPr>
              <a:t> Nongiant circuits mediate slower, flexible responses and most successive swimming flips, so a tail flip does not by itself establish giant-neuron activity.</a:t>
            </a:r>
          </a:p>
        </p:txBody>
      </p:sp>
      <p:sp>
        <p:nvSpPr>
          <p:cNvPr id="7" name="Rectangle 6"/>
          <p:cNvSpPr/>
          <p:nvPr/>
        </p:nvSpPr>
        <p:spPr>
          <a:xfrm>
            <a:off x="566928" y="2987040"/>
            <a:ext cx="5391759" cy="1478279"/>
          </a:xfrm>
          <a:prstGeom prst="rect">
            <a:avLst/>
          </a:prstGeom>
          <a:solidFill>
            <a:srgbClr val="EAF4FA"/>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0B4F7A"/>
                </a:solidFill>
                <a:latin typeface="Arial"/>
              </a:rPr>
              <a:t>Electrical integration.</a:t>
            </a:r>
            <a:r>
              <a:rPr sz="1500" b="0" i="0">
                <a:solidFill>
                  <a:srgbClr val="1C242C"/>
                </a:solidFill>
                <a:latin typeface="Arial"/>
              </a:rPr>
              <a:t> Voltage-sensitive rectifying junctions support submillisecond coincidence selectivity, while lateral afferent coupling and reverse current from LG can recruit additional sensory input.</a:t>
            </a:r>
          </a:p>
        </p:txBody>
      </p:sp>
      <p:sp>
        <p:nvSpPr>
          <p:cNvPr id="9" name="Rectangle 8"/>
          <p:cNvSpPr/>
          <p:nvPr/>
        </p:nvSpPr>
        <p:spPr>
          <a:xfrm>
            <a:off x="6233007" y="2987040"/>
            <a:ext cx="5391759" cy="1478279"/>
          </a:xfrm>
          <a:prstGeom prst="rect">
            <a:avLst/>
          </a:prstGeom>
          <a:solidFill>
            <a:srgbClr val="EAF4FA"/>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0B4F7A"/>
                </a:solidFill>
                <a:latin typeface="Arial"/>
              </a:rPr>
              <a:t>Delayed inhibition.</a:t>
            </a:r>
            <a:r>
              <a:rPr sz="1600" b="0" i="0">
                <a:solidFill>
                  <a:srgbClr val="1C242C"/>
                </a:solidFill>
                <a:latin typeface="Arial"/>
              </a:rPr>
              <a:t> Sensory-evoked GABAergic shunting curtails later LG excitation and is partly localized to dendritic input regions; inhibition can be depolarizing yet reduce firing.</a:t>
            </a:r>
          </a:p>
        </p:txBody>
      </p:sp>
      <p:sp>
        <p:nvSpPr>
          <p:cNvPr id="11" name="Rectangle 10"/>
          <p:cNvSpPr/>
          <p:nvPr/>
        </p:nvSpPr>
        <p:spPr>
          <a:xfrm>
            <a:off x="566928" y="4739640"/>
            <a:ext cx="5391759" cy="1478279"/>
          </a:xfrm>
          <a:prstGeom prst="rect">
            <a:avLst/>
          </a:prstGeom>
          <a:solidFill>
            <a:srgbClr val="EAF4FA"/>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0B4F7A"/>
                </a:solidFill>
                <a:latin typeface="Arial"/>
              </a:rPr>
              <a:t>Output connectivity.</a:t>
            </a:r>
            <a:r>
              <a:rPr sz="1500" b="0" i="0">
                <a:solidFill>
                  <a:srgbClr val="1C242C"/>
                </a:solidFill>
                <a:latin typeface="Arial"/>
              </a:rPr>
              <a:t> Motor-giant and segmental-giant pathways recruit abdominal flexion; removing SG exposes unequal residual LG and MG fast-flexor connections and a chemical component.</a:t>
            </a:r>
          </a:p>
        </p:txBody>
      </p:sp>
      <p:sp>
        <p:nvSpPr>
          <p:cNvPr id="13" name="Rectangle 12"/>
          <p:cNvSpPr/>
          <p:nvPr/>
        </p:nvSpPr>
        <p:spPr>
          <a:xfrm>
            <a:off x="6233007" y="4739640"/>
            <a:ext cx="5391759" cy="1478279"/>
          </a:xfrm>
          <a:prstGeom prst="rect">
            <a:avLst/>
          </a:prstGeom>
          <a:solidFill>
            <a:srgbClr val="EAF4FA"/>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0B4F7A"/>
                </a:solidFill>
                <a:latin typeface="Arial"/>
              </a:rPr>
              <a:t>Mechanistic evidence.</a:t>
            </a:r>
            <a:r>
              <a:rPr sz="1500" b="0" i="0">
                <a:solidFill>
                  <a:srgbClr val="1C242C"/>
                </a:solidFill>
                <a:latin typeface="Arial"/>
              </a:rPr>
              <a:t> Defined inputs, voltage control, pharmacology, and selective relay disruption test different causal stages; proposed channel or evolutionary explanations must remain separate from measured effects.</a:t>
            </a:r>
          </a:p>
        </p:txBody>
      </p:sp>
      <p:sp>
        <p:nvSpPr>
          <p:cNvPr id="15" name="Rectangle 14"/>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Wine &amp; Krasne (1972); Edwards et al. (1998); Vu et al. (1997); Fraser &amp; Heitler (1991)</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Crayfish tail-flip: lateral and medial giant fiber circuits (Wine &amp; Krasne)</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