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1038/nature21401"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242/jeb.55.2.371"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242/jeb.55.2.371"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242/jeb.55.2.371"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242/jeb.55.2.371"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242/jeb.205.23.3609"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242/jeb.205.23.3609"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242/jeb.205.23.3609"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242/jeb.205.23.3609"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242/jeb.205.23.3609"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242/jeb.205.23.3609"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1242/jeb.205.23.3609"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038/nature21401"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126/sciadv.1600112"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126/sciadv.1600112"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085/jgp.73.6.685"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1085/jgp.73.6.685"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085/jgp.73.6.685"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007/s003590050161" TargetMode="External"/><Relationship Id="rId4" Type="http://schemas.openxmlformats.org/officeDocument/2006/relationships/hyperlink" Target="https://doi.org/10.1038/nature21401"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007/s003590050161" TargetMode="External"/><Relationship Id="rId4" Type="http://schemas.openxmlformats.org/officeDocument/2006/relationships/hyperlink" Target="https://doi.org/10.1038/nature21401"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007/s003590050161" TargetMode="External"/><Relationship Id="rId4" Type="http://schemas.openxmlformats.org/officeDocument/2006/relationships/hyperlink" Target="https://doi.org/10.1038/nature21401"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007/s003590050161" TargetMode="External"/><Relationship Id="rId4" Type="http://schemas.openxmlformats.org/officeDocument/2006/relationships/hyperlink" Target="https://doi.org/10.1038/nature21401"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007/s003590050161" TargetMode="External"/><Relationship Id="rId4" Type="http://schemas.openxmlformats.org/officeDocument/2006/relationships/hyperlink" Target="https://doi.org/10.1038/nature21401"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007/s003590050161" TargetMode="External"/><Relationship Id="rId4" Type="http://schemas.openxmlformats.org/officeDocument/2006/relationships/hyperlink" Target="https://doi.org/10.1038/nature21401"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3390/cells12172125"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038/nature21401"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038/nature21401"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038/nature21401"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038/nature21401"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038/nature21401"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038/nature21401"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038/nature21401"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1038/nature21401"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038/nature21401"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038/nature21401"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038/s41586-018-0160-9" TargetMode="External"/><Relationship Id="rId4" Type="http://schemas.openxmlformats.org/officeDocument/2006/relationships/hyperlink" Target="https://doi.org/10.1038/nature21401"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038/s41586-018-0160-9" TargetMode="External"/><Relationship Id="rId4" Type="http://schemas.openxmlformats.org/officeDocument/2006/relationships/hyperlink" Target="https://doi.org/10.1038/nature21401"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038/s41586-018-0160-9" TargetMode="External"/><Relationship Id="rId4" Type="http://schemas.openxmlformats.org/officeDocument/2006/relationships/hyperlink" Target="https://doi.org/10.1038/nature21401"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038/s41586-018-0160-9" TargetMode="External"/><Relationship Id="rId4" Type="http://schemas.openxmlformats.org/officeDocument/2006/relationships/hyperlink" Target="https://doi.org/10.1038/nature21401"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038/s41586-018-0160-9" TargetMode="External"/><Relationship Id="rId4" Type="http://schemas.openxmlformats.org/officeDocument/2006/relationships/hyperlink" Target="https://doi.org/10.1038/nature21401"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038/s41586-018-0160-9" TargetMode="External"/><Relationship Id="rId4" Type="http://schemas.openxmlformats.org/officeDocument/2006/relationships/hyperlink" Target="https://doi.org/10.1038/nature21401"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038/s41586-018-0160-9"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038/s41586-018-0160-9"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1016/0304-3940(94)90007-8"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1523/jneurosci.20-22-08586.2000" TargetMode="External"/><Relationship Id="rId4" Type="http://schemas.openxmlformats.org/officeDocument/2006/relationships/hyperlink" Target="https://doi.org/10.1523/JNEUROSCI.20-22-08586.2000"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242/jeb.55.2.371" TargetMode="External"/><Relationship Id="rId4" Type="http://schemas.openxmlformats.org/officeDocument/2006/relationships/hyperlink" Target="https://doi.org/10.1242/jeb.205.23.3609" TargetMode="External"/><Relationship Id="rId5" Type="http://schemas.openxmlformats.org/officeDocument/2006/relationships/hyperlink" Target="https://doi.org/10.1007/s003590050161" TargetMode="External"/><Relationship Id="rId6" Type="http://schemas.openxmlformats.org/officeDocument/2006/relationships/hyperlink" Target="https://doi.org/10.1038/nature21401" TargetMode="External"/><Relationship Id="rId7" Type="http://schemas.openxmlformats.org/officeDocument/2006/relationships/hyperlink" Target="https://doi.org/10.1038/s41586-018-0160-9" TargetMode="External"/><Relationship Id="rId8" Type="http://schemas.openxmlformats.org/officeDocument/2006/relationships/hyperlink" Target="https://doi.org/10.1016/0304-3940(94)90007-8" TargetMode="External"/><Relationship Id="rId9" Type="http://schemas.openxmlformats.org/officeDocument/2006/relationships/hyperlink" Target="https://doi.org/10.1523/jneurosci.20-22-08586.2000"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Electroreception I: passive sensing in sharks and rays (ampullae of Lorenzini)</a:t>
            </a:r>
          </a:p>
          <a:p>
            <a:r>
              <a:rPr sz="1200">
                <a:latin typeface="Arial"/>
              </a:rPr>
              <a:t>Lecture 20. NEUR 411 · NEUROETHOLOGY · FALL 2026. Monday, October 12, 2026.</a:t>
            </a:r>
          </a:p>
          <a:p/>
          <a:p>
            <a:r>
              <a:rPr sz="1200">
                <a:latin typeface="Arial"/>
              </a:rPr>
              <a:t>Figure: Bellono et al. (2017), Fig. 1(a). Little skate (Leucoraja erinacea).</a:t>
            </a:r>
          </a:p>
          <a:p>
            <a:r>
              <a:rPr sz="1200">
                <a:latin typeface="Arial"/>
              </a:rPr>
              <a:t>Figure source: </a:t>
            </a:r>
            <a:r>
              <a:rPr sz="1200">
                <a:latin typeface="Arial"/>
                <a:hlinkClick r:id="rId3"/>
              </a:rPr>
              <a:t>https://doi.org/10.1038/nature21401</a:t>
            </a:r>
          </a:p>
          <a:p/>
          <a:p>
            <a:r>
              <a:rPr sz="1200">
                <a:latin typeface="Arial"/>
              </a:rPr>
              <a:t>• The little skate is one of the experimental animals studied here; the title image is an unmodified published photograph.</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Passive electroreception is detection of electric fields produced outside the sensing animal, without probing the environment with its own discharge. Kalmijn tested feeding in small-spotted catsharks, Scyliorhinus canicula, and thornback rays, Raja clavata, using living plaice concealed beneath sand.</a:t>
            </a:r>
          </a:p>
          <a:p>
            <a:r>
              <a:rPr sz="1200">
                <a:latin typeface="Arial"/>
              </a:rPr>
              <a:t>  – The plaice was a naturalistic bottom-dwelling prey item, 8–15 cm long. Whiting juice distributed through the pool promoted food searching without marking the prey’s precise location. The experimental question concerned directed attacks, rather than whether an animal could merely register the presence of another fish.</a:t>
            </a:r>
          </a:p>
          <a:p>
            <a:r>
              <a:rPr sz="1200">
                <a:latin typeface="Arial"/>
              </a:rPr>
              <a:t>• Catsharks made directed feeding turns when they passed within approximately 15 cm of buried prey. Because sand could still transmit odor and water movements, concealment alone did not isolate the sensory cue. Kalmijn therefore enclosed the plaice in electrically conductive agar and manipulated the information escaping from it.</a:t>
            </a:r>
          </a:p>
          <a:p>
            <a:r>
              <a:rPr sz="1200">
                <a:latin typeface="Arial"/>
              </a:rPr>
              <a:t>• Predators continued attacking the concealed living fish through agar, whereas pieces of whiting redirected searching toward the chamber’s water outlet. Electrical localization and odor-induced feeding motivation were experimentally separable. The result establishes short-range use of prey fields under these conditions, rather than unlimited detection through seawater.</a:t>
            </a:r>
          </a:p>
          <a:p/>
          <a:p>
            <a:r>
              <a:rPr sz="1200">
                <a:latin typeface="Arial"/>
              </a:rPr>
              <a:t>References:</a:t>
            </a:r>
          </a:p>
          <a:p>
            <a:r>
              <a:rPr sz="1200">
                <a:latin typeface="Arial"/>
              </a:rPr>
              <a:t>Kalmijn AJ (1971). The Electric Sense of Sharks and Rays. Journal of Experimental Biology 55(2):371-383. </a:t>
            </a:r>
            <a:r>
              <a:rPr sz="1200">
                <a:latin typeface="Arial"/>
                <a:hlinkClick r:id="rId3"/>
              </a:rPr>
              <a:t>https://doi.org/10.1242/jeb.55.2.371</a:t>
            </a:r>
          </a:p>
          <a:p/>
          <a:p>
            <a:r>
              <a:rPr sz="1200">
                <a:latin typeface="Arial"/>
              </a:rPr>
              <a:t>Figure: Kalmijn (1971), Fig. 2(b–c). Agar screening separates living prey from odor controls.</a:t>
            </a:r>
          </a:p>
          <a:p>
            <a:r>
              <a:rPr sz="1200">
                <a:latin typeface="Arial"/>
              </a:rPr>
              <a:t>Figure source: </a:t>
            </a:r>
            <a:r>
              <a:rPr sz="1200">
                <a:latin typeface="Arial"/>
                <a:hlinkClick r:id="rId3"/>
              </a:rPr>
              <a:t>https://doi.org/10.1242/jeb.55.2.371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electric field is a spatial voltage gradient that can drive current through a conductor. Kalmijn constructed a chamber from 3% agar in seawater, with thick sidewalls, a reinforced roof, and inlet and outlet tubes supplying the enclosed plaice with fresh seawater.</a:t>
            </a:r>
          </a:p>
          <a:p>
            <a:r>
              <a:rPr sz="1200">
                <a:latin typeface="Arial"/>
              </a:rPr>
              <a:t>  – The plastic pools and electrically isolated circulation system avoided metal-generated galvanic fields. Agar structures equilibrated in the pool for at least 12 hours. These preparation details reduced unintended electrical targets and helped assign the response to the experimentally enclosed source.</a:t>
            </a:r>
          </a:p>
          <a:p>
            <a:r>
              <a:rPr sz="1200">
                <a:latin typeface="Arial"/>
              </a:rPr>
              <a:t>• The chamber concealed the fish and attenuated mechanical disturbances while remaining conductive. A 1-Hz test current of 120 µA passed between electrodes 5 cm apart; field measurements with and without the chamber differed by no more than the reported 3% measurement limit.</a:t>
            </a:r>
          </a:p>
          <a:p>
            <a:r>
              <a:rPr sz="1200">
                <a:latin typeface="Arial"/>
              </a:rPr>
              <a:t>• Water carried potential odorants toward the outlet, yet attacks on living plaice were directed toward the agar-covered head region. The conductivity measurement was an essential control: a barrier cannot isolate an electrical cue unless its effect on that cue is tested independently. Agar screening reduced competing cues without denervating the predator.</a:t>
            </a:r>
          </a:p>
          <a:p/>
          <a:p>
            <a:r>
              <a:rPr sz="1200">
                <a:latin typeface="Arial"/>
              </a:rPr>
              <a:t>References:</a:t>
            </a:r>
          </a:p>
          <a:p>
            <a:r>
              <a:rPr sz="1200">
                <a:latin typeface="Arial"/>
              </a:rPr>
              <a:t>Kalmijn AJ (1971). The Electric Sense of Sharks and Rays. Journal of Experimental Biology 55(2):371-383. </a:t>
            </a:r>
            <a:r>
              <a:rPr sz="1200">
                <a:latin typeface="Arial"/>
                <a:hlinkClick r:id="rId3"/>
              </a:rPr>
              <a:t>https://doi.org/10.1242/jeb.55.2.371</a:t>
            </a:r>
          </a:p>
          <a:p/>
          <a:p>
            <a:r>
              <a:rPr sz="1200">
                <a:latin typeface="Arial"/>
              </a:rPr>
              <a:t>Figure: Kalmijn (1971), Fig. 1. Conductive agar chamber and seawater circulation.</a:t>
            </a:r>
          </a:p>
          <a:p>
            <a:r>
              <a:rPr sz="1200">
                <a:latin typeface="Arial"/>
              </a:rPr>
              <a:t>Figure source: </a:t>
            </a:r>
            <a:r>
              <a:rPr sz="1200">
                <a:latin typeface="Arial"/>
                <a:hlinkClick r:id="rId3"/>
              </a:rPr>
              <a:t>https://doi.org/10.1242/jeb.55.2.371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Kalmijn covered the conductive agar chamber with polyethylene approximately 10 µm thick, then replaced the sand. The living plaice remained inside, and diffuse whiting odor still motivated the predators to search. The critical manipulation was electrical insulation around an otherwise similar concealed target.</a:t>
            </a:r>
          </a:p>
          <a:p>
            <a:r>
              <a:rPr sz="1200">
                <a:latin typeface="Arial"/>
              </a:rPr>
              <a:t>  – The same predator could search vigorously while failing to localize the shielded plaice. Motivation and sensory access were thus distinct variables. Restoration after removing the film also limited explanations based on fatigue, permanent sensory injury, or an irreversible change in the prey.</a:t>
            </a:r>
          </a:p>
          <a:p>
            <a:r>
              <a:rPr sz="1200">
                <a:latin typeface="Arial"/>
              </a:rPr>
              <a:t>• Catsharks and rays passed close to the shielded fish without directed feeding responses. Removing the plastic restored attacks in control trials. The film had an area-specific resistance near 10¹² Ω·cm² and capacitance below 200 pF/cm², strongly attenuating direct-current and low-frequency fields.</a:t>
            </a:r>
          </a:p>
          <a:p>
            <a:r>
              <a:rPr sz="1200">
                <a:latin typeface="Arial"/>
              </a:rPr>
              <a:t>• The thin film added relatively little mechanical shielding compared with the reinforced agar roof. Reversible loss of localization therefore supports electrical guidance rather than an explanation based solely on sight, odor, or prey movement. This behavioral manipulation identifies a necessary available cue without measuring individual receptor-cell conductances.</a:t>
            </a:r>
          </a:p>
          <a:p/>
          <a:p>
            <a:r>
              <a:rPr sz="1200">
                <a:latin typeface="Arial"/>
              </a:rPr>
              <a:t>References:</a:t>
            </a:r>
          </a:p>
          <a:p>
            <a:r>
              <a:rPr sz="1200">
                <a:latin typeface="Arial"/>
              </a:rPr>
              <a:t>Kalmijn AJ (1971). The Electric Sense of Sharks and Rays. Journal of Experimental Biology 55(2):371-383. </a:t>
            </a:r>
            <a:r>
              <a:rPr sz="1200">
                <a:latin typeface="Arial"/>
                <a:hlinkClick r:id="rId3"/>
              </a:rPr>
              <a:t>https://doi.org/10.1242/jeb.55.2.371</a:t>
            </a:r>
          </a:p>
          <a:p/>
          <a:p>
            <a:r>
              <a:rPr sz="1200">
                <a:latin typeface="Arial"/>
              </a:rPr>
              <a:t>Figure: Kalmijn (1971), Fig. 2(d). Electrical shielding blocks directed attacks.</a:t>
            </a:r>
          </a:p>
          <a:p>
            <a:r>
              <a:rPr sz="1200">
                <a:latin typeface="Arial"/>
              </a:rPr>
              <a:t>Figure source: </a:t>
            </a:r>
            <a:r>
              <a:rPr sz="1200">
                <a:latin typeface="Arial"/>
                <a:hlinkClick r:id="rId3"/>
              </a:rPr>
              <a:t>https://doi.org/10.1242/jeb.55.2.371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electric dipole consists of a separated current source and sink. Kalmijn buried seawater-bridge outlets beneath sand and passed either a 1-Hz sinusoidal current or direct current of 4 µA between them, approximating the strength of a living plaice’s electrical signal.</a:t>
            </a:r>
          </a:p>
          <a:p>
            <a:r>
              <a:rPr sz="1200">
                <a:latin typeface="Arial"/>
              </a:rPr>
              <a:t>  – The electrodes were connected through long seawater bridges to reduce chemical and polarization artifacts near the target. The predators sometimes left the outlets exposed after digging, despite no food reward there. Accurate localization could therefore occur independently of successful prey capture.</a:t>
            </a:r>
          </a:p>
          <a:p>
            <a:r>
              <a:rPr sz="1200">
                <a:latin typeface="Arial"/>
              </a:rPr>
              <a:t>• After odor-induced arousal, catsharks and rays dug at the active outlets as though attacking prey. Identical buried outlets without current did not elicit these responses. In a competition test, a whiting piece 5 cm from the outlets supplied odor, but directed attacks favored the electrical source.</a:t>
            </a:r>
          </a:p>
          <a:p>
            <a:r>
              <a:rPr sz="1200">
                <a:latin typeface="Arial"/>
              </a:rPr>
              <a:t>• An artificial field was therefore sufficient for localization, while odor supplied a complementary motivational cue. Current-switching controls excluded the mere presence of electrodes as the target. The experiment does not establish that predators identify prey species from a dipole or that all natural bioelectric signals have the same waveform.</a:t>
            </a:r>
          </a:p>
          <a:p/>
          <a:p>
            <a:r>
              <a:rPr sz="1200">
                <a:latin typeface="Arial"/>
              </a:rPr>
              <a:t>References:</a:t>
            </a:r>
          </a:p>
          <a:p>
            <a:r>
              <a:rPr sz="1200">
                <a:latin typeface="Arial"/>
              </a:rPr>
              <a:t>Kalmijn AJ (1971). The Electric Sense of Sharks and Rays. Journal of Experimental Biology 55(2):371-383. </a:t>
            </a:r>
            <a:r>
              <a:rPr sz="1200">
                <a:latin typeface="Arial"/>
                <a:hlinkClick r:id="rId3"/>
              </a:rPr>
              <a:t>https://doi.org/10.1242/jeb.55.2.371</a:t>
            </a:r>
          </a:p>
          <a:p/>
          <a:p>
            <a:r>
              <a:rPr sz="1200">
                <a:latin typeface="Arial"/>
              </a:rPr>
              <a:t>Figure: Kalmijn (1971), Fig. 2(e–f). Artificial dipoles elicit attacks and compete with food odor.</a:t>
            </a:r>
          </a:p>
          <a:p>
            <a:r>
              <a:rPr sz="1200">
                <a:latin typeface="Arial"/>
              </a:rPr>
              <a:t>Figure source: </a:t>
            </a:r>
            <a:r>
              <a:rPr sz="1200">
                <a:latin typeface="Arial"/>
                <a:hlinkClick r:id="rId3"/>
              </a:rPr>
              <a:t>https://doi.org/10.1242/jeb.55.2.371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Kajiura and Holland compared juvenile scalloped hammerheads, Sphyrna lewini, with sandbar sharks, Carcharhinus plumbeus, in an enclosed reef habitat. Both species consume bottom-associated fishes and crustaceans, permitting comparison of similar feeding tasks despite markedly different head shapes.</a:t>
            </a:r>
          </a:p>
          <a:p>
            <a:r>
              <a:rPr sz="1200">
                <a:latin typeface="Arial"/>
              </a:rPr>
              <a:t>  – The surrounding pen included reef organisms and tidal exchange. Testing one shark at a time prevented a neighboring shark’s response from supplying the focal animal with an additional directional cue. The study measured behavioral orientation to an artificial prey-like source, rather than intracellular receptor sensitivity.</a:t>
            </a:r>
          </a:p>
          <a:p>
            <a:r>
              <a:rPr sz="1200">
                <a:latin typeface="Arial"/>
              </a:rPr>
              <a:t>• An overhead camera recorded sharks crossing an acrylic electrode plate in water less than 0.5 m deep. Each shark was isolated from companions during testing. Feeding odor encouraged searching, while electric current selected the active dipole independently of the other inactive targets.</a:t>
            </a:r>
          </a:p>
          <a:p>
            <a:r>
              <a:rPr sz="1200">
                <a:latin typeface="Arial"/>
              </a:rPr>
              <a:t>• Orientation was identified from a course change greater than 20° or a bite. Calibrated video allowed distance and trajectory measurements rather than relying only on observer descriptions. The semi-natural setting preserved swimming behavior, but odor stimulation and the plate constrained the encounter relative to unconstrained wild hunting.</a:t>
            </a:r>
          </a:p>
          <a:p/>
          <a:p>
            <a:r>
              <a:rPr sz="1200">
                <a:latin typeface="Arial"/>
              </a:rPr>
              <a:t>References:</a:t>
            </a:r>
          </a:p>
          <a:p>
            <a:r>
              <a:rPr sz="1200">
                <a:latin typeface="Arial"/>
              </a:rPr>
              <a:t>Kajiura SM, Holland KN (2002). Electroreception in juvenile scalloped hammerhead and sandbar sharks. Journal of Experimental Biology 205(23):3609-3621. </a:t>
            </a:r>
            <a:r>
              <a:rPr sz="1200">
                <a:latin typeface="Arial"/>
                <a:hlinkClick r:id="rId3"/>
              </a:rPr>
              <a:t>https://doi.org/10.1242/jeb.205.23.3609</a:t>
            </a:r>
          </a:p>
          <a:p/>
          <a:p>
            <a:r>
              <a:rPr sz="1200">
                <a:latin typeface="Arial"/>
              </a:rPr>
              <a:t>Figure: Kajiura &amp; Holland (2002), Fig. 2. Shallow-water arena, camera and electrode plate.</a:t>
            </a:r>
          </a:p>
          <a:p>
            <a:r>
              <a:rPr sz="1200">
                <a:latin typeface="Arial"/>
              </a:rPr>
              <a:t>Figure source: </a:t>
            </a:r>
            <a:r>
              <a:rPr sz="1200">
                <a:latin typeface="Arial"/>
                <a:hlinkClick r:id="rId3"/>
              </a:rPr>
              <a:t>https://doi.org/10.1242/jeb.205.23.3609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shark stimulus apparatus delivered a constant current of 6.0 µA through outlets separated by 1 cm. A battery-powered circuit and series ammeter controlled and monitored the stimulus. Four selectable dipoles allowed the experimenter to change the electrical target on the same plate.</a:t>
            </a:r>
          </a:p>
          <a:p>
            <a:r>
              <a:rPr sz="1200">
                <a:latin typeface="Arial"/>
              </a:rPr>
              <a:t>  – The 1-cm outlet spacing approximated a compact prey source. An ammeter verified delivered current, and the inactive pairs supplied spatial controls within the same apparatus. A shark’s response to the active pair cannot by itself specify the voltage acting across any one ampullary epithelium.</a:t>
            </a:r>
          </a:p>
          <a:p>
            <a:r>
              <a:rPr sz="1200">
                <a:latin typeface="Arial"/>
              </a:rPr>
              <a:t>• Seawater-filled tubing separated the metal electrodes from the nearby swimming animal, reducing local chemical cues. Both species bit the active dipole and ignored inactive dipoles; repeated biting stopped when current was switched off. Target position and electrical activation were therefore independently manipulable.</a:t>
            </a:r>
          </a:p>
          <a:p>
            <a:r>
              <a:rPr sz="1200">
                <a:latin typeface="Arial"/>
              </a:rPr>
              <a:t>• Current in microamperes describes the source, whereas field strength in microvolts per centimeter describes the local stimulus encountered by the shark. These quantities are not interchangeable. Behavioral sensitivity requires the source geometry, seawater properties, distance, and encounter direction to be considered alongside the measured response.</a:t>
            </a:r>
          </a:p>
          <a:p/>
          <a:p>
            <a:r>
              <a:rPr sz="1200">
                <a:latin typeface="Arial"/>
              </a:rPr>
              <a:t>References:</a:t>
            </a:r>
          </a:p>
          <a:p>
            <a:r>
              <a:rPr sz="1200">
                <a:latin typeface="Arial"/>
              </a:rPr>
              <a:t>Kajiura SM, Holland KN (2002). Electroreception in juvenile scalloped hammerhead and sandbar sharks. Journal of Experimental Biology 205(23):3609-3621. </a:t>
            </a:r>
            <a:r>
              <a:rPr sz="1200">
                <a:latin typeface="Arial"/>
                <a:hlinkClick r:id="rId3"/>
              </a:rPr>
              <a:t>https://doi.org/10.1242/jeb.205.23.3609</a:t>
            </a:r>
          </a:p>
          <a:p/>
          <a:p>
            <a:r>
              <a:rPr sz="1200">
                <a:latin typeface="Arial"/>
              </a:rPr>
              <a:t>Figure: Kajiura &amp; Holland (2002), Fig. 1. Battery-powered dipole stimulation and electrode array.</a:t>
            </a:r>
          </a:p>
          <a:p>
            <a:r>
              <a:rPr sz="1200">
                <a:latin typeface="Arial"/>
              </a:rPr>
              <a:t>Figure source: </a:t>
            </a:r>
            <a:r>
              <a:rPr sz="1200">
                <a:latin typeface="Arial"/>
                <a:hlinkClick r:id="rId3"/>
              </a:rPr>
              <a:t>https://doi.org/10.1242/jeb.205.23.3609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Kajiura and Holland measured distance from the dipole center when a shark initiated a directed turn. Hammerheads most often oriented within 5 cm, whereas sandbars most often oriented within 10 cm. The farthest responses were 30.6 cm and 31.6 cm, respectively.</a:t>
            </a:r>
          </a:p>
          <a:p>
            <a:r>
              <a:rPr sz="1200">
                <a:latin typeface="Arial"/>
              </a:rPr>
              <a:t>  – The animals’ swimming paths affected when and where they encountered the source. Detection range is consequently an organism-level measure that combines sensory input, movement, and response criteria. Equal farthest distances need not imply identical pore counts, receptor currents, or neural population responses.</a:t>
            </a:r>
          </a:p>
          <a:p>
            <a:r>
              <a:rPr sz="1200">
                <a:latin typeface="Arial"/>
              </a:rPr>
              <a:t>• The nearly identical maximum ranges did not support the prediction that the hammerhead’s expanded head necessarily produces a lower behavioral detection threshold. Both species searched the same apparatus with the same source current and dipole spacing, limiting differences caused by stimulus construction.</a:t>
            </a:r>
          </a:p>
          <a:p>
            <a:r>
              <a:rPr sz="1200">
                <a:latin typeface="Arial"/>
              </a:rPr>
              <a:t>• Maximum range and the most frequent response distance describe different aspects of performance. An occasional distant orientation does not imply that every encounter is detected there. The result applies to these juvenile species and motivated feeding conditions, rather than establishing identical sensitivity across all sharks or developmental stages.</a:t>
            </a:r>
          </a:p>
          <a:p/>
          <a:p>
            <a:r>
              <a:rPr sz="1200">
                <a:latin typeface="Arial"/>
              </a:rPr>
              <a:t>References:</a:t>
            </a:r>
          </a:p>
          <a:p>
            <a:r>
              <a:rPr sz="1200">
                <a:latin typeface="Arial"/>
              </a:rPr>
              <a:t>Kajiura SM, Holland KN (2002). Electroreception in juvenile scalloped hammerhead and sandbar sharks. Journal of Experimental Biology 205(23):3609-3621. </a:t>
            </a:r>
            <a:r>
              <a:rPr sz="1200">
                <a:latin typeface="Arial"/>
                <a:hlinkClick r:id="rId3"/>
              </a:rPr>
              <a:t>https://doi.org/10.1242/jeb.205.23.3609</a:t>
            </a:r>
          </a:p>
          <a:p/>
          <a:p>
            <a:r>
              <a:rPr sz="1200">
                <a:latin typeface="Arial"/>
              </a:rPr>
              <a:t>Figure: Kajiura &amp; Holland (2002), Fig. 5(A–B). Orientation distance distributions for both shark species.</a:t>
            </a:r>
          </a:p>
          <a:p>
            <a:r>
              <a:rPr sz="1200">
                <a:latin typeface="Arial"/>
              </a:rPr>
              <a:t>Figure source: </a:t>
            </a:r>
            <a:r>
              <a:rPr sz="1200">
                <a:latin typeface="Arial"/>
                <a:hlinkClick r:id="rId3"/>
              </a:rPr>
              <a:t>https://doi.org/10.1242/jeb.205.23.3609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dipole’s field depends on direction as well as distance. Kajiura and Holland measured each shark’s approach angle relative to the line joining the two outlets. Orientations began farther away at smaller angles, where the relevant field component was stronger.</a:t>
            </a:r>
          </a:p>
          <a:p>
            <a:r>
              <a:rPr sz="1200">
                <a:latin typeface="Arial"/>
              </a:rPr>
              <a:t>  – The original article calculated field intensity from a specified dipole model and measured seawater properties. The inference depends on those physical assumptions. Spatial sampling by a moving head also changes receptor input over time, even when the experimental current remains constant.</a:t>
            </a:r>
          </a:p>
          <a:p>
            <a:r>
              <a:rPr sz="1200">
                <a:latin typeface="Arial"/>
              </a:rPr>
              <a:t>• Both hammerheads and sandbars followed this relationship. Approaches nearer 90° required a closer encounter before an orientation began. Comparing orientation distance alone would therefore confound receptor sensitivity with the geometry of the sampled field; angle was needed to estimate the local electrical stimulus.</a:t>
            </a:r>
          </a:p>
          <a:p>
            <a:r>
              <a:rPr sz="1200">
                <a:latin typeface="Arial"/>
              </a:rPr>
              <a:t>• The two species encountered the source from many directions, so a distant response was not simply evidence of a preferred approach axis. The experiment relates swimming geometry to effective stimulation. It does not directly identify how downstream neurons combine the differing signals available at individual skin pores.</a:t>
            </a:r>
          </a:p>
          <a:p/>
          <a:p>
            <a:r>
              <a:rPr sz="1200">
                <a:latin typeface="Arial"/>
              </a:rPr>
              <a:t>References:</a:t>
            </a:r>
          </a:p>
          <a:p>
            <a:r>
              <a:rPr sz="1200">
                <a:latin typeface="Arial"/>
              </a:rPr>
              <a:t>Kajiura SM, Holland KN (2002). Electroreception in juvenile scalloped hammerhead and sandbar sharks. Journal of Experimental Biology 205(23):3609-3621. </a:t>
            </a:r>
            <a:r>
              <a:rPr sz="1200">
                <a:latin typeface="Arial"/>
                <a:hlinkClick r:id="rId3"/>
              </a:rPr>
              <a:t>https://doi.org/10.1242/jeb.205.23.3609</a:t>
            </a:r>
          </a:p>
          <a:p/>
          <a:p>
            <a:r>
              <a:rPr sz="1200">
                <a:latin typeface="Arial"/>
              </a:rPr>
              <a:t>Figure: Kajiura &amp; Holland (2002), Fig. 6. Orientation distance depends on dipole-axis angle.</a:t>
            </a:r>
          </a:p>
          <a:p>
            <a:r>
              <a:rPr sz="1200">
                <a:latin typeface="Arial"/>
              </a:rPr>
              <a:t>Figure source: </a:t>
            </a:r>
            <a:r>
              <a:rPr sz="1200">
                <a:latin typeface="Arial"/>
                <a:hlinkClick r:id="rId3"/>
              </a:rPr>
              <a:t>https://doi.org/10.1242/jeb.205.23.3609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Kajiura and Holland converted measured encounter geometry into estimated field intensity at orientation onset. Both shark species initiated approximately 70% of orientations below 0.1 µV/cm, and approximately 35–40% below 0.01 µV/cm. Their most sensitive responses were below 1 nV/cm.</a:t>
            </a:r>
          </a:p>
          <a:p>
            <a:r>
              <a:rPr sz="1200">
                <a:latin typeface="Arial"/>
              </a:rPr>
              <a:t>  – The published histogram concentrates on encounters below 0.1 µV/cm because most responses occurred in this weak-field range. A field gradient expressed per centimeter cannot be equated directly with a voltage-clamp command expressed in millivolts. The two measures describe different levels of the sensory pathway.</a:t>
            </a:r>
          </a:p>
          <a:p>
            <a:r>
              <a:rPr sz="1200">
                <a:latin typeface="Arial"/>
              </a:rPr>
              <a:t>• The 6.0-µA, 1-cm dipole and calibrated video provided the common reference for these estimates. Inactive outlets and current-switching trials constrained explanations involving visible target marks or electrode-associated cues. The distributions broadly overlapped despite the conspicuous difference in head morphology.</a:t>
            </a:r>
          </a:p>
          <a:p>
            <a:r>
              <a:rPr sz="1200">
                <a:latin typeface="Arial"/>
              </a:rPr>
              <a:t>• A behavioral threshold is defined by an observable response criterion; it is not necessarily the threshold of one sensory cell. The lowest measured responses depend on source modeling and motivation. Strong sensitivity is established, while exact comparisons with isolated-cell membrane voltages require additional physiological measurements.</a:t>
            </a:r>
          </a:p>
          <a:p/>
          <a:p>
            <a:r>
              <a:rPr sz="1200">
                <a:latin typeface="Arial"/>
              </a:rPr>
              <a:t>References:</a:t>
            </a:r>
          </a:p>
          <a:p>
            <a:r>
              <a:rPr sz="1200">
                <a:latin typeface="Arial"/>
              </a:rPr>
              <a:t>Kajiura SM, Holland KN (2002). Electroreception in juvenile scalloped hammerhead and sandbar sharks. Journal of Experimental Biology 205(23):3609-3621. </a:t>
            </a:r>
            <a:r>
              <a:rPr sz="1200">
                <a:latin typeface="Arial"/>
                <a:hlinkClick r:id="rId3"/>
              </a:rPr>
              <a:t>https://doi.org/10.1242/jeb.205.23.3609</a:t>
            </a:r>
          </a:p>
          <a:p/>
          <a:p>
            <a:r>
              <a:rPr sz="1200">
                <a:latin typeface="Arial"/>
              </a:rPr>
              <a:t>Figure: Kajiura &amp; Holland (2002), Fig. 8(A–B). Behavioral responses to fields below 0.1 µV/cm.</a:t>
            </a:r>
          </a:p>
          <a:p>
            <a:r>
              <a:rPr sz="1200">
                <a:latin typeface="Arial"/>
              </a:rPr>
              <a:t>Figure source: </a:t>
            </a:r>
            <a:r>
              <a:rPr sz="1200">
                <a:latin typeface="Arial"/>
                <a:hlinkClick r:id="rId3"/>
              </a:rPr>
              <a:t>https://doi.org/10.1242/jeb.205.23.3609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cephalofoil is the laterally expanded head of a hammerhead shark. Video sequences recorded the position of the head while a scalloped hammerhead turned toward the active dipole. The head edge nearest the source could remain nearly stationary as the trunk pivoted around it.</a:t>
            </a:r>
          </a:p>
          <a:p>
            <a:r>
              <a:rPr sz="1200">
                <a:latin typeface="Arial"/>
              </a:rPr>
              <a:t>  – The original photographs retain the temporal order of the approach and pivot. The investigators reconstructed paths from video instead of assuming that a straight approach followed field lines. Sensory detection and the motor maneuver that follows it can therefore vary independently between species.</a:t>
            </a:r>
          </a:p>
          <a:p>
            <a:r>
              <a:rPr sz="1200">
                <a:latin typeface="Arial"/>
              </a:rPr>
              <a:t>• Sandbar sharks generally followed broader arcs. Because the maximum orientation distances were similar, the different trajectories could not be attributed simply to earlier detection by hammerheads. Head shape and trunk flexibility changed how a detected electrical target was brought toward the mouth.</a:t>
            </a:r>
          </a:p>
          <a:p>
            <a:r>
              <a:rPr sz="1200">
                <a:latin typeface="Arial"/>
              </a:rPr>
              <a:t>• The cephalofoil also samples a wider lateral search area, potentially increasing encounters with sources beneath the animal. Improved search coverage and turning mechanics are distinct from greater receptor sensitivity. The proposed hydrodynamic explanation fits the observed trajectories but was not tested by directly manipulating head shape.</a:t>
            </a:r>
          </a:p>
          <a:p/>
          <a:p>
            <a:r>
              <a:rPr sz="1200">
                <a:latin typeface="Arial"/>
              </a:rPr>
              <a:t>References:</a:t>
            </a:r>
          </a:p>
          <a:p>
            <a:r>
              <a:rPr sz="1200">
                <a:latin typeface="Arial"/>
              </a:rPr>
              <a:t>Kajiura SM, Holland KN (2002). Electroreception in juvenile scalloped hammerhead and sandbar sharks. Journal of Experimental Biology 205(23):3609-3621. </a:t>
            </a:r>
            <a:r>
              <a:rPr sz="1200">
                <a:latin typeface="Arial"/>
                <a:hlinkClick r:id="rId3"/>
              </a:rPr>
              <a:t>https://doi.org/10.1242/jeb.205.23.3609</a:t>
            </a:r>
          </a:p>
          <a:p/>
          <a:p>
            <a:r>
              <a:rPr sz="1200">
                <a:latin typeface="Arial"/>
              </a:rPr>
              <a:t>Figure: Kajiura &amp; Holland (2002), Fig. 3(A–F). A hammerhead pivots toward an electric dipole.</a:t>
            </a:r>
          </a:p>
          <a:p>
            <a:r>
              <a:rPr sz="1200">
                <a:latin typeface="Arial"/>
              </a:rPr>
              <a:t>Figure source: </a:t>
            </a:r>
            <a:r>
              <a:rPr sz="1200">
                <a:latin typeface="Arial"/>
                <a:hlinkClick r:id="rId3"/>
              </a:rPr>
              <a:t>https://doi.org/10.1242/jeb.205.23.3609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Kajiura and Holland quantified maximum trunk flexure during feeding turns. The mean measured angle was 85.9° in scalloped hammerheads and 113.3° in sandbars; the smaller angle represented a tighter bend. Body configuration was measured from video rather than inferred from the detection threshold.</a:t>
            </a:r>
          </a:p>
          <a:p>
            <a:r>
              <a:rPr sz="1200">
                <a:latin typeface="Arial"/>
              </a:rPr>
              <a:t>  – The angle metric describes the geometry of body bending, so its direction must be interpreted correctly: a smaller included angle corresponds to stronger flexure. The article did not record motor-neuron activity or manipulate muscular force. Those causal steps cannot be assigned solely from behavioral images.</a:t>
            </a:r>
          </a:p>
          <a:p>
            <a:r>
              <a:rPr sz="1200">
                <a:latin typeface="Arial"/>
              </a:rPr>
              <a:t>• The greater flexure of hammerheads was consistent with their rapid pivot orientations. Sandbars had broader trunks and typically used wider turning paths. The shared electrode apparatus distinguished these motor differences from differences in artificial-source spacing, current, or target availability.</a:t>
            </a:r>
          </a:p>
          <a:p>
            <a:r>
              <a:rPr sz="1200">
                <a:latin typeface="Arial"/>
              </a:rPr>
              <a:t>• Electroreception contributes to prey capture through a sensory-to-motor transformation, not merely by triggering a generic response. This study directly measured posture and trajectory, while the mechanical contribution of particular muscles or hydrodynamic forces remained an interpretation. Equal detection range can coexist with different interception performance.</a:t>
            </a:r>
          </a:p>
          <a:p/>
          <a:p>
            <a:r>
              <a:rPr sz="1200">
                <a:latin typeface="Arial"/>
              </a:rPr>
              <a:t>References:</a:t>
            </a:r>
          </a:p>
          <a:p>
            <a:r>
              <a:rPr sz="1200">
                <a:latin typeface="Arial"/>
              </a:rPr>
              <a:t>Kajiura SM, Holland KN (2002). Electroreception in juvenile scalloped hammerhead and sandbar sharks. Journal of Experimental Biology 205(23):3609-3621. </a:t>
            </a:r>
            <a:r>
              <a:rPr sz="1200">
                <a:latin typeface="Arial"/>
                <a:hlinkClick r:id="rId3"/>
              </a:rPr>
              <a:t>https://doi.org/10.1242/jeb.205.23.3609</a:t>
            </a:r>
          </a:p>
          <a:p/>
          <a:p>
            <a:r>
              <a:rPr sz="1200">
                <a:latin typeface="Arial"/>
              </a:rPr>
              <a:t>Figure: Kajiura &amp; Holland (2002), Fig. 10. Body flexure differs between shark species.</a:t>
            </a:r>
          </a:p>
          <a:p>
            <a:r>
              <a:rPr sz="1200">
                <a:latin typeface="Arial"/>
              </a:rPr>
              <a:t>Figure source: </a:t>
            </a:r>
            <a:r>
              <a:rPr sz="1200">
                <a:latin typeface="Arial"/>
                <a:hlinkClick r:id="rId3"/>
              </a:rPr>
              <a:t>https://doi.org/10.1242/jeb.205.23.3609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ampullae of Lorenzini are sensory organs in which skin pores connect through jelly-filled canals to an internal receptor epithelium. Bellono and colleagues examined the little skate, Leucoraja erinacea, using canal staining, organ dissection, and recordings from individual electrosensory cells.</a:t>
            </a:r>
          </a:p>
          <a:p>
            <a:r>
              <a:rPr sz="1200">
                <a:latin typeface="Arial"/>
              </a:rPr>
              <a:t>  – The epithelium is a cellular sheet lining the sensory organ. Its lumen-facing surface and nerve-facing surface participate in different aspects of transduction and output. Maintaining an attached nerve in an organ preparation differs from dispersing cells for direct membrane-current measurements.</a:t>
            </a:r>
          </a:p>
          <a:p>
            <a:r>
              <a:rPr sz="1200">
                <a:latin typeface="Arial"/>
              </a:rPr>
              <a:t>• Alcian Blue revealed the ventral canal network. Isolated ampullae retained short canal segments and attached afferent nerves, which carry sensory signals toward the brain; the published organ image has a 400-µm scale bar. Dissociated receptor cells were accessible to patch-clamp electrodes, with a 5-µm scale bar in the cellular preparation.</a:t>
            </a:r>
          </a:p>
          <a:p>
            <a:r>
              <a:rPr sz="1200">
                <a:latin typeface="Arial"/>
              </a:rPr>
              <a:t>• The pore samples external voltage. Receptor cells convert it into activity and synaptic output, transmission to sensory nerves through released chemicals called neurotransmitters. Canal anatomy explains access to an environmental signal but does not by itself identify the channel that amplifies it. Dissection allows mechanistic control while removing the intact animal’s spatial sampling.</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1(a–d). Skate, canal network, isolated ampullae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Josberger and colleagues extracted ampullary jelly from sharks and skates and measured its electrical properties with controlled electrodes and humidity. A proton is a hydrogen ion, H⁺. Palladium-hydride contacts injected protons, whereas palladium contacts restricted their transfer into the sample.</a:t>
            </a:r>
          </a:p>
          <a:p>
            <a:r>
              <a:rPr sz="1200">
                <a:latin typeface="Arial"/>
              </a:rPr>
              <a:t>  – The jelly was hydrated before testing, and measurements controlled humidity because water content affects charge transport. A 1-V device stimulus is much larger than natural sensory signals. The preparation establishes a material property without identifying the receptor-cell mechanism or explaining a behavioral threshold.</a:t>
            </a:r>
          </a:p>
          <a:p>
            <a:r>
              <a:rPr sz="1200">
                <a:latin typeface="Arial"/>
              </a:rPr>
              <a:t>• At 75% relative humidity, a 1-V stimulus produced a proton-associated current peak near 250 nA, compared with approximately 10 nA for the ionic transient. Four-terminal measurements gave room-temperature proton conductivity near 2 mS/cm. Electrode comparisons separated charge-carrier behavior from a single undifferentiated current.</a:t>
            </a:r>
          </a:p>
          <a:p>
            <a:r>
              <a:rPr sz="1200">
                <a:latin typeface="Arial"/>
              </a:rPr>
              <a:t>• These are measurements of extracted material, not a direct recording of charge carriers traveling through a living canal during prey detection. The authors proposed that proton conduction may contribute to ampullary function. The intact organ’s physiological carrier balance and sensory advantage were not established by the material experiment.</a:t>
            </a:r>
          </a:p>
          <a:p/>
          <a:p>
            <a:r>
              <a:rPr sz="1200">
                <a:latin typeface="Arial"/>
              </a:rPr>
              <a:t>References:</a:t>
            </a:r>
          </a:p>
          <a:p>
            <a:r>
              <a:rPr sz="1200">
                <a:latin typeface="Arial"/>
              </a:rPr>
              <a:t>Josberger EE, Hassanzadeh P, Deng Y, Sohn J, Rego MJ, Amemiya CT, Rolandi M (2016). Proton conductivity in ampullae of Lorenzini jelly. Science Advances 2(5):e1600112. </a:t>
            </a:r>
            <a:r>
              <a:rPr sz="1200">
                <a:latin typeface="Arial"/>
                <a:hlinkClick r:id="rId3"/>
              </a:rPr>
              <a:t>https://doi.org/10.1126/sciadv.1600112</a:t>
            </a:r>
          </a:p>
          <a:p/>
          <a:p>
            <a:r>
              <a:rPr sz="1200">
                <a:latin typeface="Arial"/>
              </a:rPr>
              <a:t>Figure: Josberger et al. (2016), Fig. 2(A–F). Electrode controls and proton conductivity measurements.</a:t>
            </a:r>
          </a:p>
          <a:p>
            <a:r>
              <a:rPr sz="1200">
                <a:latin typeface="Arial"/>
              </a:rPr>
              <a:t>Figure source: </a:t>
            </a:r>
            <a:r>
              <a:rPr sz="1200">
                <a:latin typeface="Arial"/>
                <a:hlinkClick r:id="rId3"/>
              </a:rPr>
              <a:t>https://doi.org/10.1126/sciadv.1600112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Josberger and colleagues characterized the jelly as a hydrogel, a hydrated polymer network. Prepared samples contained approximately 97% water. Drying reduced sample volume by about 80%, making hydration an essential experimental variable rather than a minor handling detail.</a:t>
            </a:r>
          </a:p>
          <a:p>
            <a:r>
              <a:rPr sz="1200">
                <a:latin typeface="Arial"/>
              </a:rPr>
              <a:t>  – The authors treated the link between polymer chemistry and high proton conductivity as a proposed explanation. A constituent detected in extracted jelly need not be the only electrically relevant component. The results cannot establish a channel-mediated neuronal response because no living receptor epithelium was included.</a:t>
            </a:r>
          </a:p>
          <a:p>
            <a:r>
              <a:rPr sz="1200">
                <a:latin typeface="Arial"/>
              </a:rPr>
              <a:t>• Chemical analyses identified sugars and sulfate-containing components consistent with keratan sulfate, a sulfated carbohydrate polymer. The original article combined compositional chromatography with infrared measurements. Sulfate groups could provide proton donors within a hydrated network, offering a possible material basis for measured proton conduction.</a:t>
            </a:r>
          </a:p>
          <a:p>
            <a:r>
              <a:rPr sz="1200">
                <a:latin typeface="Arial"/>
              </a:rPr>
              <a:t>• Chemical composition and electrical measurement support a conductive matrix, but they do not prove that keratan sulfate alone carries physiological sensory current. Species differences, hydration, electrode interfaces, and the intact canal remain relevant limitations. Material conduction must also be distinguished from membrane ion-channel amplification in receptor cells.</a:t>
            </a:r>
          </a:p>
          <a:p/>
          <a:p>
            <a:r>
              <a:rPr sz="1200">
                <a:latin typeface="Arial"/>
              </a:rPr>
              <a:t>References:</a:t>
            </a:r>
          </a:p>
          <a:p>
            <a:r>
              <a:rPr sz="1200">
                <a:latin typeface="Arial"/>
              </a:rPr>
              <a:t>Josberger EE, Hassanzadeh P, Deng Y, Sohn J, Rego MJ, Amemiya CT, Rolandi M (2016). Proton conductivity in ampullae of Lorenzini jelly. Science Advances 2(5):e1600112. </a:t>
            </a:r>
            <a:r>
              <a:rPr sz="1200">
                <a:latin typeface="Arial"/>
                <a:hlinkClick r:id="rId3"/>
              </a:rPr>
              <a:t>https://doi.org/10.1126/sciadv.1600112</a:t>
            </a:r>
          </a:p>
          <a:p/>
          <a:p>
            <a:r>
              <a:rPr sz="1200">
                <a:latin typeface="Arial"/>
              </a:rPr>
              <a:t>Figure: Josberger et al. (2016), Fig. 3(A–C). Chemical analyses of ampullary jelly.</a:t>
            </a:r>
          </a:p>
          <a:p>
            <a:r>
              <a:rPr sz="1200">
                <a:latin typeface="Arial"/>
              </a:rPr>
              <a:t>Figure source: </a:t>
            </a:r>
            <a:r>
              <a:rPr sz="1200">
                <a:latin typeface="Arial"/>
                <a:hlinkClick r:id="rId3"/>
              </a:rPr>
              <a:t>https://doi.org/10.1126/sciadv.1600112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Clusin and Bennett isolated skate ampullae with canals and afferent nerves attached. Separate saline compartments allowed current and voltage measurements across the receptor epithelium. A salt bridge shunted the canal, keeping transampullary voltage close to its resting operating range.</a:t>
            </a:r>
          </a:p>
          <a:p>
            <a:r>
              <a:rPr sz="1200">
                <a:latin typeface="Arial"/>
              </a:rPr>
              <a:t>  – The canal’s resistance and the salt bridge influence how the imposed current produces a voltage across the epithelium. Recording nerve activity in a separate compartment prevents epithelial current from being mistaken for propagated afferent spikes. Electrical loading is therefore part of the experimental mechanism, not merely apparatus geometry.</a:t>
            </a:r>
          </a:p>
          <a:p>
            <a:r>
              <a:rPr sz="1200">
                <a:latin typeface="Arial"/>
              </a:rPr>
              <a:t>• Current delivered between compartments imposed small voltage stimuli without requiring a freely swimming animal. The investigators simultaneously monitored epithelial current and postsynaptic, or receiving-side, nerve responses. Removing or restoring the shunt changed the electrical load, allowing spontaneous activity to be separated from stimulus-induced output.</a:t>
            </a:r>
          </a:p>
          <a:p>
            <a:r>
              <a:rPr sz="1200">
                <a:latin typeface="Arial"/>
              </a:rPr>
              <a:t>• This preparation links an external electrical perturbation to receptor-organ current and a neural response. It preserves a tissue-level circuit but cannot independently voltage-clamp every receptor cell or distinguish all apical and basal conductances. Later single-cell recordings provide complementary channel-level evidence rather than replacing this organ-level result.</a:t>
            </a:r>
          </a:p>
          <a:p/>
          <a:p>
            <a:r>
              <a:rPr sz="1200">
                <a:latin typeface="Arial"/>
              </a:rPr>
              <a:t>References:</a:t>
            </a:r>
          </a:p>
          <a:p>
            <a:r>
              <a:rPr sz="1200">
                <a:latin typeface="Arial"/>
              </a:rPr>
              <a:t>Clusin WT, Bennett MVL (1979). The oscillatory responses of skate electroreceptors to small voltage stimuli. Journal of General Physiology 73(6):685-702. </a:t>
            </a:r>
            <a:r>
              <a:rPr sz="1200">
                <a:latin typeface="Arial"/>
                <a:hlinkClick r:id="rId3"/>
              </a:rPr>
              <a:t>https://doi.org/10.1085/jgp.73.6.685</a:t>
            </a:r>
          </a:p>
          <a:p/>
          <a:p>
            <a:r>
              <a:rPr sz="1200">
                <a:latin typeface="Arial"/>
              </a:rPr>
              <a:t>Figure: Clusin &amp; Bennett (1979), Fig. 1. Isolated ampulla, canal and recording compartments.</a:t>
            </a:r>
          </a:p>
          <a:p>
            <a:r>
              <a:rPr sz="1200">
                <a:latin typeface="Arial"/>
              </a:rPr>
              <a:t>Figure source: </a:t>
            </a:r>
            <a:r>
              <a:rPr sz="1200">
                <a:latin typeface="Arial"/>
                <a:hlinkClick r:id="rId3"/>
              </a:rPr>
              <a:t>https://doi.org/10.1085/jgp.73.6.685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Clusin and Bennett applied small voltage steps to a shunted skate ampulla. A lumen-negative stimulus of 5 µV depolarized the postsynaptic nerve, whereas a lumen-positive stimulus of 10 µV hyperpolarized it. Depolarization makes membrane voltage less negative; hyperpolarization makes it more negative.</a:t>
            </a:r>
          </a:p>
          <a:p>
            <a:r>
              <a:rPr sz="1200">
                <a:latin typeface="Arial"/>
              </a:rPr>
              <a:t>  – The stimulus sign refers to the ampullary lumen relative to the external compartment. It is not interchangeable with the polarity of an electrode source in an arbitrary swimming orientation. The experiment preserved simultaneous epithelial and neural recordings, giving two distinct measures of the same perturbation.</a:t>
            </a:r>
          </a:p>
          <a:p>
            <a:r>
              <a:rPr sz="1200">
                <a:latin typeface="Arial"/>
              </a:rPr>
              <a:t>• Tetrodotoxin at 0.1 µM abolished postsynaptic action potentials so the underlying synaptic response could be measured. Small stimuli changed nerve potential without a comparably large change in total epithelial current. The same organ therefore transmitted changes much smaller than ordinary cellular membrane-voltage excursions.</a:t>
            </a:r>
          </a:p>
          <a:p>
            <a:r>
              <a:rPr sz="1200">
                <a:latin typeface="Arial"/>
              </a:rPr>
              <a:t>• Opposite response signs constrain how the receptor converts an environmental voltage into afferent drive. Tetrodotoxin separates sodium-dependent spikes from the preceding synaptic potential; it does not identify the released neurotransmitter or its postsynaptic receptor. Those molecular identities should not be inferred from response polarity alone.</a:t>
            </a:r>
          </a:p>
          <a:p/>
          <a:p>
            <a:r>
              <a:rPr sz="1200">
                <a:latin typeface="Arial"/>
              </a:rPr>
              <a:t>References:</a:t>
            </a:r>
          </a:p>
          <a:p>
            <a:r>
              <a:rPr sz="1200">
                <a:latin typeface="Arial"/>
              </a:rPr>
              <a:t>Clusin WT, Bennett MVL (1979). The oscillatory responses of skate electroreceptors to small voltage stimuli. Journal of General Physiology 73(6):685-702. </a:t>
            </a:r>
            <a:r>
              <a:rPr sz="1200">
                <a:latin typeface="Arial"/>
                <a:hlinkClick r:id="rId3"/>
              </a:rPr>
              <a:t>https://doi.org/10.1085/jgp.73.6.685</a:t>
            </a:r>
          </a:p>
          <a:p/>
          <a:p>
            <a:r>
              <a:rPr sz="1200">
                <a:latin typeface="Arial"/>
              </a:rPr>
              <a:t>Figure: Clusin &amp; Bennett (1979), Fig. 3(A–D). Opposite stimulus polarities alter postsynaptic potential.</a:t>
            </a:r>
          </a:p>
          <a:p>
            <a:r>
              <a:rPr sz="1200">
                <a:latin typeface="Arial"/>
              </a:rPr>
              <a:t>Figure source: </a:t>
            </a:r>
            <a:r>
              <a:rPr sz="1200">
                <a:latin typeface="Arial"/>
                <a:hlinkClick r:id="rId3"/>
              </a:rPr>
              <a:t>https://doi.org/10.1085/jgp.73.6.685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membrane oscillation is a repeated fluctuation in electrical activity. Clusin and Bennett recorded small spontaneous currents in shunted skate ampullae. Their frequency lay approximately between 1 and 8 Hz under the reported conditions, even without a deliberately applied sensory stimulus.</a:t>
            </a:r>
          </a:p>
          <a:p>
            <a:r>
              <a:rPr sz="1200">
                <a:latin typeface="Arial"/>
              </a:rPr>
              <a:t>  – A tonic current persists without periodic stimulation, whereas an oscillatory current repeatedly changes around its operating point. The receptor organ exhibited both. Altering the canal shunt also altered its electrical loading, so these records cannot be treated as unmodified measurements of a freely behaving skate.</a:t>
            </a:r>
          </a:p>
          <a:p>
            <a:r>
              <a:rPr sz="1200">
                <a:latin typeface="Arial"/>
              </a:rPr>
              <a:t>• Lifting the salt bridge interrupted canal current and exposed the organ’s steady receptor current. Comparing the shunted and unshunted conditions separated the small oscillatory component from the larger tonic current. The observations established endogenous epithelial activity rather than motion-induced electrical fluctuations in a swimming animal.</a:t>
            </a:r>
          </a:p>
          <a:p>
            <a:r>
              <a:rPr sz="1200">
                <a:latin typeface="Arial"/>
              </a:rPr>
              <a:t>• Oscillations provide a time-varying presynaptic state upon which weak signals can act. Their presence does not alone specify which membrane or channel generates them, and intact epithelial measurements combine many cells. Later molecular experiments directly tested calcium and potassium currents that could produce this activity in single receptor cells.</a:t>
            </a:r>
          </a:p>
          <a:p/>
          <a:p>
            <a:r>
              <a:rPr sz="1200">
                <a:latin typeface="Arial"/>
              </a:rPr>
              <a:t>References:</a:t>
            </a:r>
          </a:p>
          <a:p>
            <a:r>
              <a:rPr sz="1200">
                <a:latin typeface="Arial"/>
              </a:rPr>
              <a:t>Clusin WT, Bennett MVL (1979). The oscillatory responses of skate electroreceptors to small voltage stimuli. Journal of General Physiology 73(6):685-702. </a:t>
            </a:r>
            <a:r>
              <a:rPr sz="1200">
                <a:latin typeface="Arial"/>
                <a:hlinkClick r:id="rId3"/>
              </a:rPr>
              <a:t>https://doi.org/10.1085/jgp.73.6.685</a:t>
            </a:r>
          </a:p>
          <a:p/>
          <a:p>
            <a:r>
              <a:rPr sz="1200">
                <a:latin typeface="Arial"/>
              </a:rPr>
              <a:t>Figure: Clusin &amp; Bennett (1979), Fig. 2(A1–A3, B–E). Spontaneous epithelial currents and oscillations.</a:t>
            </a:r>
          </a:p>
          <a:p>
            <a:r>
              <a:rPr sz="1200">
                <a:latin typeface="Arial"/>
              </a:rPr>
              <a:t>Figure source: </a:t>
            </a:r>
            <a:r>
              <a:rPr sz="1200">
                <a:latin typeface="Arial"/>
                <a:hlinkClick r:id="rId3"/>
              </a:rPr>
              <a:t>https://doi.org/10.1085/jgp.73.6.685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primary afferent is a sensory neuron carrying receptor output toward the central nervous system. Tricas and New recorded these neurons in immobilized round stingrays, Urolophus halleri, while uniform electric fields were applied across the body and artificial ventilation maintained respiration.</a:t>
            </a:r>
          </a:p>
          <a:p>
            <a:r>
              <a:rPr sz="1200">
                <a:latin typeface="Arial"/>
              </a:rPr>
              <a:t>  – The investigators cut sensory and motor branches that would otherwise permit bodily movements to contaminate the applied field. The uniform stimulus controlled field direction, but lacked the spatial complexity of an actual prey dipole. A primary nerve recording also includes receptor and synaptic processing before spikes are observed.</a:t>
            </a:r>
          </a:p>
          <a:p>
            <a:r>
              <a:rPr sz="1200">
                <a:latin typeface="Arial"/>
              </a:rPr>
              <a:t>• A 1-Hz sinusoid modulated a regular resting spike train. Increasing peak-to-peak field intensity from 0.05 to 0.26 µV/cm increased firing during one phase and progressively silenced the neuron during the opposite phase. Period histograms aligned spikes to the recurring stimulus cycle.</a:t>
            </a:r>
          </a:p>
          <a:p>
            <a:r>
              <a:rPr sz="1200">
                <a:latin typeface="Arial"/>
              </a:rPr>
              <a:t>• Phase-dependent increases and decreases carry directional electrical information relative to spontaneous activity. At stronger stimulation, pauses can become complete even while firing during the excitatory phase remains high. Afferent output is therefore a temporally structured spike train, not simply a binary indication that an electric source exists.</a:t>
            </a:r>
          </a:p>
          <a:p/>
          <a:p>
            <a:r>
              <a:rPr sz="1200">
                <a:latin typeface="Arial"/>
              </a:rPr>
              <a:t>References:</a:t>
            </a:r>
          </a:p>
          <a:p>
            <a:r>
              <a:rPr sz="1200">
                <a:latin typeface="Arial"/>
              </a:rPr>
              <a:t>Tricas TC, New JG (1998). Sensitivity and response dynamics of elasmobranch electrosensory primary afferent neurons to near threshold fields. Journal of Comparative Physiology A: Sensory, Neural, and Behavioral Physiology 182(1):89-101. </a:t>
            </a:r>
            <a:r>
              <a:rPr sz="1200">
                <a:latin typeface="Arial"/>
                <a:hlinkClick r:id="rId3"/>
              </a:rPr>
              <a:t>https://doi.org/10.1007/s003590050161</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Tricas &amp; New (1998), Fig. 2(A–C). Resting firing and phase-dependent afferent modulation.</a:t>
            </a:r>
          </a:p>
          <a:p>
            <a:r>
              <a:rPr sz="1200">
                <a:latin typeface="Arial"/>
              </a:rPr>
              <a:t>Figure source: </a:t>
            </a:r>
            <a:r>
              <a:rPr sz="1200">
                <a:latin typeface="Arial"/>
                <a:hlinkClick r:id="rId3"/>
              </a:rPr>
              <a:t>https://doi.org/10.1007/s003590050161</a:t>
            </a:r>
          </a:p>
          <a:p/>
          <a:p>
            <a:r>
              <a:rPr sz="1200">
                <a:latin typeface="Arial"/>
              </a:rPr>
              <a:t>Figure: Bellono et al. (2017), Fig. 1(c–d). Isolated ampulla and receptor cell.</a:t>
            </a:r>
          </a:p>
          <a:p>
            <a:r>
              <a:rPr sz="1200">
                <a:latin typeface="Arial"/>
              </a:rPr>
              <a:t>Figure source: </a:t>
            </a:r>
            <a:r>
              <a:rPr sz="1200">
                <a:latin typeface="Arial"/>
                <a:hlinkClick r:id="rId4"/>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Gain describes how strongly a neural response changes for a change in stimulus intensity. Tricas and New measured peak firing and resting firing while increasing a 1-Hz electric field. Different afferents had markedly different rate–intensity relationships under the same general preparation.</a:t>
            </a:r>
          </a:p>
          <a:p>
            <a:r>
              <a:rPr sz="1200">
                <a:latin typeface="Arial"/>
              </a:rPr>
              <a:t>  – Peak firing above the spontaneous rate and total peak firing are different quantities. Subtracting baseline isolates modulation, while the absolute spike rate indicates how much activity reaches the brain. The authors emphasized weak-field measurements because strong stimuli can conceal this variation through saturation.</a:t>
            </a:r>
          </a:p>
          <a:p>
            <a:r>
              <a:rPr sz="1200">
                <a:latin typeface="Arial"/>
              </a:rPr>
              <a:t>• A high-gain example reached strong modulation near 0.5 µV/cm, while lower-gain units required larger gradients. The most sensitive afferents encoded peak gradients of approximately 20 nV/cm or less. Measuring the field rather than source current allowed neural sensitivity to be related to the local applied stimulus.</a:t>
            </a:r>
          </a:p>
          <a:p>
            <a:r>
              <a:rPr sz="1200">
                <a:latin typeface="Arial"/>
              </a:rPr>
              <a:t>• Higher sensitivity at weak fields does not imply unlimited encoding of stronger inputs. An afferent can reach a saturated response before another neuron becomes strongly modulated. Population diversity could therefore support detection and intensity representation over different ranges, although the study did not directly test the downstream population decoder.</a:t>
            </a:r>
          </a:p>
          <a:p/>
          <a:p>
            <a:r>
              <a:rPr sz="1200">
                <a:latin typeface="Arial"/>
              </a:rPr>
              <a:t>References:</a:t>
            </a:r>
          </a:p>
          <a:p>
            <a:r>
              <a:rPr sz="1200">
                <a:latin typeface="Arial"/>
              </a:rPr>
              <a:t>Tricas TC, New JG (1998). Sensitivity and response dynamics of elasmobranch electrosensory primary afferent neurons to near threshold fields. Journal of Comparative Physiology A: Sensory, Neural, and Behavioral Physiology 182(1):89-101. </a:t>
            </a:r>
            <a:r>
              <a:rPr sz="1200">
                <a:latin typeface="Arial"/>
                <a:hlinkClick r:id="rId3"/>
              </a:rPr>
              <a:t>https://doi.org/10.1007/s003590050161</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Tricas &amp; New (1998), Fig. 5. Rate–intensity curves span distinct afferent gains.</a:t>
            </a:r>
          </a:p>
          <a:p>
            <a:r>
              <a:rPr sz="1200">
                <a:latin typeface="Arial"/>
              </a:rPr>
              <a:t>Figure source: </a:t>
            </a:r>
            <a:r>
              <a:rPr sz="1200">
                <a:latin typeface="Arial"/>
                <a:hlinkClick r:id="rId3"/>
              </a:rPr>
              <a:t>https://doi.org/10.1007/s003590050161</a:t>
            </a:r>
          </a:p>
          <a:p/>
          <a:p>
            <a:r>
              <a:rPr sz="1200">
                <a:latin typeface="Arial"/>
              </a:rPr>
              <a:t>Figure: Bellono et al. (2017), Fig. 1(c–d). Isolated ampulla and receptor cell.</a:t>
            </a:r>
          </a:p>
          <a:p>
            <a:r>
              <a:rPr sz="1200">
                <a:latin typeface="Arial"/>
              </a:rPr>
              <a:t>Figure source: </a:t>
            </a:r>
            <a:r>
              <a:rPr sz="1200">
                <a:latin typeface="Arial"/>
                <a:hlinkClick r:id="rId4"/>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Tricas and New calculated local slopes of each rate–intensity curve across successive stimulus intervals. The most sensitive example maintained a steep response only over the weakest range, then lost incremental gain as field intensity increased. Lower-gain afferents declined over different operating ranges.</a:t>
            </a:r>
          </a:p>
          <a:p>
            <a:r>
              <a:rPr sz="1200">
                <a:latin typeface="Arial"/>
              </a:rPr>
              <a:t>  – The analysis used successive portions of a measured response curve rather than assuming one linear gain for its full extent. A neuron’s weak-field slope can consequently overestimate its sensitivity to stronger fields. This distinction matters when comparing thresholds from experiments using very different stimulus amplitudes.</a:t>
            </a:r>
          </a:p>
          <a:p>
            <a:r>
              <a:rPr sz="1200">
                <a:latin typeface="Arial"/>
              </a:rPr>
              <a:t>• For many units, peak-rate intensity encoding was lost below 1 µV/cm when peak firing roughly doubled resting discharge. Inhibitory phases were also clipped at zero spikes. A physical increase in the electric field therefore did not guarantee a proportional increase in the neuron’s available rate modulation.</a:t>
            </a:r>
          </a:p>
          <a:p>
            <a:r>
              <a:rPr sz="1200">
                <a:latin typeface="Arial"/>
              </a:rPr>
              <a:t>• Saturation means that a response approaches a limit despite continued stimulus increase. It constrains what one afferent can report about source strength, but need not abolish all temporal information or population information. The study measured single-unit encoding; it did not establish the limits of behavioral intensity discrimination.</a:t>
            </a:r>
          </a:p>
          <a:p/>
          <a:p>
            <a:r>
              <a:rPr sz="1200">
                <a:latin typeface="Arial"/>
              </a:rPr>
              <a:t>References:</a:t>
            </a:r>
          </a:p>
          <a:p>
            <a:r>
              <a:rPr sz="1200">
                <a:latin typeface="Arial"/>
              </a:rPr>
              <a:t>Tricas TC, New JG (1998). Sensitivity and response dynamics of elasmobranch electrosensory primary afferent neurons to near threshold fields. Journal of Comparative Physiology A: Sensory, Neural, and Behavioral Physiology 182(1):89-101. </a:t>
            </a:r>
            <a:r>
              <a:rPr sz="1200">
                <a:latin typeface="Arial"/>
                <a:hlinkClick r:id="rId3"/>
              </a:rPr>
              <a:t>https://doi.org/10.1007/s003590050161</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Tricas &amp; New (1998), Fig. 6. Incremental sensitivity falls as stimulus strength increases.</a:t>
            </a:r>
          </a:p>
          <a:p>
            <a:r>
              <a:rPr sz="1200">
                <a:latin typeface="Arial"/>
              </a:rPr>
              <a:t>Figure source: </a:t>
            </a:r>
            <a:r>
              <a:rPr sz="1200">
                <a:latin typeface="Arial"/>
                <a:hlinkClick r:id="rId3"/>
              </a:rPr>
              <a:t>https://doi.org/10.1007/s003590050161</a:t>
            </a:r>
          </a:p>
          <a:p/>
          <a:p>
            <a:r>
              <a:rPr sz="1200">
                <a:latin typeface="Arial"/>
              </a:rPr>
              <a:t>Figure: Bellono et al. (2017), Fig. 1(c–d). Isolated ampulla and receptor cell.</a:t>
            </a:r>
          </a:p>
          <a:p>
            <a:r>
              <a:rPr sz="1200">
                <a:latin typeface="Arial"/>
              </a:rPr>
              <a:t>Figure source: </a:t>
            </a:r>
            <a:r>
              <a:rPr sz="1200">
                <a:latin typeface="Arial"/>
                <a:hlinkClick r:id="rId4"/>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Tricas and New varied both sinusoidal frequency and field intensity for individual round-stingray afferents. A period histogram groups spikes by their position within one stimulus cycle. It separates changes in temporal locking from a change in overall spontaneous discharge.</a:t>
            </a:r>
          </a:p>
          <a:p>
            <a:r>
              <a:rPr sz="1200">
                <a:latin typeface="Arial"/>
              </a:rPr>
              <a:t>  – At high frequencies the same amplitude could elicit much less modulation than near the best frequency. A best frequency is the stimulus rate yielding the strongest response under a specified condition, not a preferred acoustic tone. The tested input was an electric field changing over time.</a:t>
            </a:r>
          </a:p>
          <a:p>
            <a:r>
              <a:rPr sz="1200">
                <a:latin typeface="Arial"/>
              </a:rPr>
              <a:t>• The published response matrix includes frequencies from 0.05 to 20 Hz and fields from 0.08 to 0.51 µV/cm. A representative unit was most sensitive near 1 Hz: approximately 0.08 µV/cm produced weak modulation, whereas around 0.4 µV/cm produced full modulation.</a:t>
            </a:r>
          </a:p>
          <a:p>
            <a:r>
              <a:rPr sz="1200">
                <a:latin typeface="Arial"/>
              </a:rPr>
              <a:t>• Frequency selectivity therefore depends on the response range used to measure it. Strong signals can saturate firing at favorable frequencies and conceal differences that are evident near threshold. These recordings connect receptor output to slow natural electrical fluctuations but do not directly measure behavioral discrimination between prey-generated waveforms.</a:t>
            </a:r>
          </a:p>
          <a:p/>
          <a:p>
            <a:r>
              <a:rPr sz="1200">
                <a:latin typeface="Arial"/>
              </a:rPr>
              <a:t>References:</a:t>
            </a:r>
          </a:p>
          <a:p>
            <a:r>
              <a:rPr sz="1200">
                <a:latin typeface="Arial"/>
              </a:rPr>
              <a:t>Tricas TC, New JG (1998). Sensitivity and response dynamics of elasmobranch electrosensory primary afferent neurons to near threshold fields. Journal of Comparative Physiology A: Sensory, Neural, and Behavioral Physiology 182(1):89-101. </a:t>
            </a:r>
            <a:r>
              <a:rPr sz="1200">
                <a:latin typeface="Arial"/>
                <a:hlinkClick r:id="rId3"/>
              </a:rPr>
              <a:t>https://doi.org/10.1007/s003590050161</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Tricas &amp; New (1998), Fig. 7. Frequency and amplitude jointly determine afferent discharge.</a:t>
            </a:r>
          </a:p>
          <a:p>
            <a:r>
              <a:rPr sz="1200">
                <a:latin typeface="Arial"/>
              </a:rPr>
              <a:t>Figure source: </a:t>
            </a:r>
            <a:r>
              <a:rPr sz="1200">
                <a:latin typeface="Arial"/>
                <a:hlinkClick r:id="rId3"/>
              </a:rPr>
              <a:t>https://doi.org/10.1007/s003590050161</a:t>
            </a:r>
          </a:p>
          <a:p/>
          <a:p>
            <a:r>
              <a:rPr sz="1200">
                <a:latin typeface="Arial"/>
              </a:rPr>
              <a:t>Figure: Bellono et al. (2017), Fig. 1(c–d). Isolated ampulla and receptor cell.</a:t>
            </a:r>
          </a:p>
          <a:p>
            <a:r>
              <a:rPr sz="1200">
                <a:latin typeface="Arial"/>
              </a:rPr>
              <a:t>Figure source: </a:t>
            </a:r>
            <a:r>
              <a:rPr sz="1200">
                <a:latin typeface="Arial"/>
                <a:hlinkClick r:id="rId4"/>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Adaptation is a decline in response during maintained stimulation. Tricas and New applied direct-current field steps lasting 60 s to round-stingray afferents. A representative 2.2-µV/cm step caused a large initial increase in spike rate followed by a return toward the resting rate.</a:t>
            </a:r>
          </a:p>
          <a:p>
            <a:r>
              <a:rPr sz="1200">
                <a:latin typeface="Arial"/>
              </a:rPr>
              <a:t>  – A time constant describes how rapidly the measured response approaches its adapted level. It does not mean that the stimulus lasted only four seconds or that all afferents adapt identically. The 60-second step was deliberately long enough to separate the initial response from sustained output.</a:t>
            </a:r>
          </a:p>
          <a:p>
            <a:r>
              <a:rPr sz="1200">
                <a:latin typeface="Arial"/>
              </a:rPr>
              <a:t>• The measured decay had a time constant of approximately 4 s. Repeating steps allowed the response time course to be averaged without relying on a single spike train. The maintained physical input therefore differed from the transient information conveyed by the afferent output.</a:t>
            </a:r>
          </a:p>
          <a:p>
            <a:r>
              <a:rPr sz="1200">
                <a:latin typeface="Arial"/>
              </a:rPr>
              <a:t>• An adapting system can still detect a spatially stationary prey source because swimming changes the electrical input sampled at the pores. The physiological finding is the step-response decline; applying it to natural movement is an interpretation about stimulus sampling. The experiment did not track receptor signals during an unconstrained hunting trajectory.</a:t>
            </a:r>
          </a:p>
          <a:p/>
          <a:p>
            <a:r>
              <a:rPr sz="1200">
                <a:latin typeface="Arial"/>
              </a:rPr>
              <a:t>References:</a:t>
            </a:r>
          </a:p>
          <a:p>
            <a:r>
              <a:rPr sz="1200">
                <a:latin typeface="Arial"/>
              </a:rPr>
              <a:t>Tricas TC, New JG (1998). Sensitivity and response dynamics of elasmobranch electrosensory primary afferent neurons to near threshold fields. Journal of Comparative Physiology A: Sensory, Neural, and Behavioral Physiology 182(1):89-101. </a:t>
            </a:r>
            <a:r>
              <a:rPr sz="1200">
                <a:latin typeface="Arial"/>
                <a:hlinkClick r:id="rId3"/>
              </a:rPr>
              <a:t>https://doi.org/10.1007/s003590050161</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Tricas &amp; New (1998), Fig. 9. Response to a sustained field adapts over seconds.</a:t>
            </a:r>
          </a:p>
          <a:p>
            <a:r>
              <a:rPr sz="1200">
                <a:latin typeface="Arial"/>
              </a:rPr>
              <a:t>Figure source: </a:t>
            </a:r>
            <a:r>
              <a:rPr sz="1200">
                <a:latin typeface="Arial"/>
                <a:hlinkClick r:id="rId3"/>
              </a:rPr>
              <a:t>https://doi.org/10.1007/s003590050161</a:t>
            </a:r>
          </a:p>
          <a:p/>
          <a:p>
            <a:r>
              <a:rPr sz="1200">
                <a:latin typeface="Arial"/>
              </a:rPr>
              <a:t>Figure: Bellono et al. (2017), Fig. 1(c–d). Isolated ampulla and receptor cell.</a:t>
            </a:r>
          </a:p>
          <a:p>
            <a:r>
              <a:rPr sz="1200">
                <a:latin typeface="Arial"/>
              </a:rPr>
              <a:t>Figure source: </a:t>
            </a:r>
            <a:r>
              <a:rPr sz="1200">
                <a:latin typeface="Arial"/>
                <a:hlinkClick r:id="rId4"/>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Tricas and New measured response gain across sinusoidal electric-field frequencies while keeping stimulation weak enough to limit saturation. Nearly all tested round-stingray afferents had their best sensitivity at approximately 1–2 Hz. Responses fell at frequencies both below and above this range.</a:t>
            </a:r>
          </a:p>
          <a:p>
            <a:r>
              <a:rPr sz="1200">
                <a:latin typeface="Arial"/>
              </a:rPr>
              <a:t>  – A phase plot measures whether peak neural activity occurs before, with, or after a particular phase of the applied sinusoid. The representative population response was approximately in phase near 1 Hz. Frequency-dependent phase and gain together describe how an afferent transforms a changing field.</a:t>
            </a:r>
          </a:p>
          <a:p>
            <a:r>
              <a:rPr sz="1200">
                <a:latin typeface="Arial"/>
              </a:rPr>
              <a:t>• The normalized frequency response declined by 3 dB near 0.5 Hz and 4 Hz. Its low-frequency slope was approximately 8 dB per decade, and its high-frequency slope approximately −23 dB per decade. Normalizing each unit to its own maximum separated tuning shape from differences in absolute gain.</a:t>
            </a:r>
          </a:p>
          <a:p>
            <a:r>
              <a:rPr sz="1200">
                <a:latin typeface="Arial"/>
              </a:rPr>
              <a:t>• This band-pass tuning favors changes over a limited frequency range rather than either constant fields or arbitrarily rapid fluctuations. Slow prey and conspecific ventilation can supply relevant inputs. The recordings establish afferent tuning in this species; they do not prove an identical frequency optimum for all sharks, rays, or behaviors.</a:t>
            </a:r>
          </a:p>
          <a:p/>
          <a:p>
            <a:r>
              <a:rPr sz="1200">
                <a:latin typeface="Arial"/>
              </a:rPr>
              <a:t>References:</a:t>
            </a:r>
          </a:p>
          <a:p>
            <a:r>
              <a:rPr sz="1200">
                <a:latin typeface="Arial"/>
              </a:rPr>
              <a:t>Tricas TC, New JG (1998). Sensitivity and response dynamics of elasmobranch electrosensory primary afferent neurons to near threshold fields. Journal of Comparative Physiology A: Sensory, Neural, and Behavioral Physiology 182(1):89-101. </a:t>
            </a:r>
            <a:r>
              <a:rPr sz="1200">
                <a:latin typeface="Arial"/>
                <a:hlinkClick r:id="rId3"/>
              </a:rPr>
              <a:t>https://doi.org/10.1007/s003590050161</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Tricas &amp; New (1998), Fig. 10. Frequency-dependent gain and phase of primary afferents.</a:t>
            </a:r>
          </a:p>
          <a:p>
            <a:r>
              <a:rPr sz="1200">
                <a:latin typeface="Arial"/>
              </a:rPr>
              <a:t>Figure source: </a:t>
            </a:r>
            <a:r>
              <a:rPr sz="1200">
                <a:latin typeface="Arial"/>
                <a:hlinkClick r:id="rId3"/>
              </a:rPr>
              <a:t>https://doi.org/10.1007/s003590050161</a:t>
            </a:r>
          </a:p>
          <a:p/>
          <a:p>
            <a:r>
              <a:rPr sz="1200">
                <a:latin typeface="Arial"/>
              </a:rPr>
              <a:t>Figure: Bellono et al. (2017), Fig. 1(c–d). Isolated ampulla and receptor cell.</a:t>
            </a:r>
          </a:p>
          <a:p>
            <a:r>
              <a:rPr sz="1200">
                <a:latin typeface="Arial"/>
              </a:rPr>
              <a:t>Figure source: </a:t>
            </a:r>
            <a:r>
              <a:rPr sz="1200">
                <a:latin typeface="Arial"/>
                <a:hlinkClick r:id="rId4"/>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Chen and colleagues used whole-mount confocal microscopy to localize channel proteins in intact little-skate ampullae. CaV1.3 is a voltage-gated calcium channel; BK is a calcium-activated potassium channel. Antibody staining was combined with DAPI, a fluorescent label for nuclear DNA.</a:t>
            </a:r>
          </a:p>
          <a:p>
            <a:r>
              <a:rPr sz="1200">
                <a:latin typeface="Arial"/>
              </a:rPr>
              <a:t>  – A plasma membrane separates cytoplasm from extracellular fluid, whereas the nuclear envelope surrounds the nucleus. The same channel protein can occupy both compartments. Confocal sections distinguish their locations, but electrophysiology is still needed to assign each population a specific contribution to receptor signaling.</a:t>
            </a:r>
          </a:p>
          <a:p>
            <a:r>
              <a:rPr sz="1200">
                <a:latin typeface="Arial"/>
              </a:rPr>
              <a:t>• CaV1.3 and BK immunoreactivity occurred in receptor plasma membranes, nuclear envelopes, and kinocilia, the ciliary projections facing the lumen. Overlapping signals were measured in the preserved sensory epithelium rather than inferred solely from tissue-wide RNA expression. Blocking-peptide experiments supplied controls for the BK antibody.</a:t>
            </a:r>
          </a:p>
          <a:p>
            <a:r>
              <a:rPr sz="1200">
                <a:latin typeface="Arial"/>
              </a:rPr>
              <a:t>• Localization establishes candidate cellular sites but does not prove functional current at every stained compartment. The proposed trafficking mechanism includes a nuclear-localization sequence tested through mutations in transfected cells. Kinociliary staining should not be treated as direct evidence that ciliary channels alone explain nanovolt sensitivity or synaptic output.</a:t>
            </a:r>
          </a:p>
          <a:p/>
          <a:p>
            <a:r>
              <a:rPr sz="1200">
                <a:latin typeface="Arial"/>
              </a:rPr>
              <a:t>References:</a:t>
            </a:r>
          </a:p>
          <a:p>
            <a:r>
              <a:rPr sz="1200">
                <a:latin typeface="Arial"/>
              </a:rPr>
              <a:t>Chen AL, Wu TH, Shi L, Clusin WT, Kao PN (2023). Calcium-Activated Big-Conductance (BK) Potassium Channels Traffic through Nuclear Envelopes into Kinocilia in Ray Electrosensory Cells. Cells 12(17):2125. </a:t>
            </a:r>
            <a:r>
              <a:rPr sz="1200">
                <a:latin typeface="Arial"/>
                <a:hlinkClick r:id="rId3"/>
              </a:rPr>
              <a:t>https://doi.org/10.3390/cells12172125</a:t>
            </a:r>
          </a:p>
          <a:p/>
          <a:p>
            <a:r>
              <a:rPr sz="1200">
                <a:latin typeface="Arial"/>
              </a:rPr>
              <a:t>Figure: Chen et al. (2023), Fig. 2(A–D). CaV1.3 and BK localization in receptor epithelium.</a:t>
            </a:r>
          </a:p>
          <a:p>
            <a:r>
              <a:rPr sz="1200">
                <a:latin typeface="Arial"/>
              </a:rPr>
              <a:t>Figure source: </a:t>
            </a:r>
            <a:r>
              <a:rPr sz="1200">
                <a:latin typeface="Arial"/>
                <a:hlinkClick r:id="rId3"/>
              </a:rPr>
              <a:t>https://doi.org/10.3390/cells12172125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patch-clamped dissociated little-skate electrosensory cells. Voltage clamp holds membrane voltage at commanded values while measuring current. Intracellular cesium suppressed potassium currents, revealing an inward calcium current activated at unusually negative membrane potentials.</a:t>
            </a:r>
          </a:p>
          <a:p>
            <a:r>
              <a:rPr sz="1200">
                <a:latin typeface="Arial"/>
              </a:rPr>
              <a:t>  – An inward current reflects positive charge entering the cell under these conditions. Activation and inactivation were measured with distinct pulse protocols, so their overlap describes available sustained current rather than a separate ion-channel species. Direct membrane measurements complement organ-level amplification experiments.</a:t>
            </a:r>
          </a:p>
          <a:p>
            <a:r>
              <a:rPr sz="1200">
                <a:latin typeface="Arial"/>
              </a:rPr>
              <a:t>• Native calcium conductance reached half-maximal activation near −52 mV. Inactivation reduces channel availability during sustained stimulation. Its slow development left a window current, persistent activity where activation and availability overlap, between approximately −70 and −30 mV. The window peaked near −58 mV, close to the receptor’s normal operating voltage.</a:t>
            </a:r>
          </a:p>
          <a:p>
            <a:r>
              <a:rPr sz="1200">
                <a:latin typeface="Arial"/>
              </a:rPr>
              <a:t>• L-type calcium-channel modulators altered this current, whereas tested sodium-channel and several other calcium-channel antagonists did not. Pharmacology identified a functional channel class; transcript measurements subsequently implicated CaV1.3. Calcium entry can depolarize the receptor and drive release, but these recordings do not equate membrane voltage with environmental field gradient.</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1(e–g). Low-threshold calcium currents and channel pharmacology.</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replaced the cesium-based recording solution with a potassium-based solution to measure receptor outward currents. Calcium-activated potassium channels open more readily when intracellular calcium rises. Potassium efflux counteracts calcium-driven depolarization and can return the membrane toward negative voltages.</a:t>
            </a:r>
          </a:p>
          <a:p>
            <a:r>
              <a:rPr sz="1200">
                <a:latin typeface="Arial"/>
              </a:rPr>
              <a:t>  – The receptor’s outward current depended on calcium availability, distinguishing it from a purely voltage-gated potassium conductance. Drug effects were assessed on measured currents rather than assigned solely from gene names. A feedback relationship can exist through local calcium signaling without requiring a stable channel complex.</a:t>
            </a:r>
          </a:p>
          <a:p>
            <a:r>
              <a:rPr sz="1200">
                <a:latin typeface="Arial"/>
              </a:rPr>
              <a:t>• The outward current was reduced by tetraethylammonium and selective BK antagonists, including iberiotoxin and charybdotoxin. Calcium-channel inhibition also reduced it, whereas enhancing calcium entry increased potassium current. These linked perturbations support functional coupling between inward calcium current and BK-mediated outward current.</a:t>
            </a:r>
          </a:p>
          <a:p>
            <a:r>
              <a:rPr sz="1200">
                <a:latin typeface="Arial"/>
              </a:rPr>
              <a:t>• The coupling supplies negative feedback: depolarization opens calcium channels, calcium recruits BK, and potassium current promotes repolarization. Blocker sensitivity does not establish that every potassium channel in the organ is BK or determine a direct physical binding between channel proteins. The evidence concerns the dominant measured receptor-cell current.</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1(h–i). Calcium-dependent potassium current and BK blockade.</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sequenced RNA from little-skate ampullary organs and comparison tissues. A transcript is an RNA copy of a gene. The gene cacna1d, encoding CaV1.3’s pore-forming subunit, was enriched more than 90-fold relative to other tissues examined.</a:t>
            </a:r>
          </a:p>
          <a:p>
            <a:r>
              <a:rPr sz="1200">
                <a:latin typeface="Arial"/>
              </a:rPr>
              <a:t>  – In situ hybridization uses complementary probes to locate particular RNA sequences in tissue. It differs from antibody staining of protein and from whole-tissue sequencing. Combining these methods reduces the possibility that an abundant transcript originated only from an unrelated cell type within the sampled organ.</a:t>
            </a:r>
          </a:p>
          <a:p>
            <a:r>
              <a:rPr sz="1200">
                <a:latin typeface="Arial"/>
              </a:rPr>
              <a:t>• The BK pore-forming gene kcnma1 was expressed more than 35-fold above other calcium-activated potassium-channel genes in ampullae. In situ hybridization localized CaV1.3 and BK transcripts together in electrosensory cells, with little detectable signal in supporting cells or canal structures.</a:t>
            </a:r>
          </a:p>
          <a:p>
            <a:r>
              <a:rPr sz="1200">
                <a:latin typeface="Arial"/>
              </a:rPr>
              <a:t>• Expression specificity links the pharmacologically identified currents to molecular candidates in the appropriate cells. RNA abundance alone neither measures membrane-channel number nor proves channel function. Agreement among current recordings, blocker responses, expression, and cellular localization strengthens the assignment while leaving minor conductances or additional regulatory proteins possible.</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1(j–k). Channel transcript enrichment and cellular colocalization.</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expressed cloned skate and rat CaV1.3 channels in HEK293 cells, a mammalian cell line used for controlled channel measurements. Matched recording conditions tested whether low-threshold activation was intrinsic to the skate channel rather than unique to the intact receptor environment.</a:t>
            </a:r>
          </a:p>
          <a:p>
            <a:r>
              <a:rPr sz="1200">
                <a:latin typeface="Arial"/>
              </a:rPr>
              <a:t>  – Conductance describes the channel-mediated relation between electrical driving force and current. Normalization permits comparison of opening behavior despite differences in expression level. The rat comparison was to a specified isoform, so it should not be generalized to every mammalian CaV1.3 splice variant.</a:t>
            </a:r>
          </a:p>
          <a:p>
            <a:r>
              <a:rPr sz="1200">
                <a:latin typeface="Arial"/>
              </a:rPr>
              <a:t>• Half-maximal activation was approximately −42.7 mV for skate CaV1.3 and −18.2 mV for the rat long isoform. Their inactivation relations were similar, so the negative shift in activation enlarged the skate channel’s window-current range. Current traces and normalized conductance curves supported the same comparison.</a:t>
            </a:r>
          </a:p>
          <a:p>
            <a:r>
              <a:rPr sz="1200">
                <a:latin typeface="Arial"/>
              </a:rPr>
              <a:t>• The channel sequence therefore contributes directly to low-voltage opening. The cloned channel’s activation value differs from the native receptor value near −52 mV because experimental context and associated proteins can modify gating. Heterologous expression isolates molecular properties but does not reproduce the entire ampullary epithelium or sensory pathway.</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2(a–d). Skate and rat CaV1.3 activation properties.</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voltage-gated channel contains voltage-sensitive elements coupled to an ion-conducting pore. Gating current records charge movement within these elements rather than ion flow through the open pore. Bellono and colleagues measured both gating charge and ionic conductance in cells expressing skate or rat CaV1.3.</a:t>
            </a:r>
          </a:p>
          <a:p>
            <a:r>
              <a:rPr sz="1200">
                <a:latin typeface="Arial"/>
              </a:rPr>
              <a:t>  – A voltage sensor can move without producing maximal pore opening if coupling is inefficient. Ionic and gating recordings separate these two steps experimentally. The authors subsequently used sequence mutations to identify a region capable of changing that coupling, rather than relying on the comparison alone.</a:t>
            </a:r>
          </a:p>
          <a:p>
            <a:r>
              <a:rPr sz="1200">
                <a:latin typeface="Arial"/>
              </a:rPr>
              <a:t>• Their voltage-dependent charge movement was broadly similar, yet skate channels achieved substantial conductance with less relative sensor movement. Returning from a depolarizing command to −100 mV also produced larger skate tail currents for comparable gating charge. A tail current reports open channels after the voltage change.</a:t>
            </a:r>
          </a:p>
          <a:p>
            <a:r>
              <a:rPr sz="1200">
                <a:latin typeface="Arial"/>
              </a:rPr>
              <a:t>• The low threshold therefore reflects enhanced coupling between sensor movement and pore opening, rather than merely a larger number of moving charges. These functional measurements constrain gating mechanisms without resolving the channel’s complete three-dimensional structure. A small domain-specific sensor shift could also escape measurements combining all four channel domains.</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2(e–g). Gating charge and pore-opening efficiency.</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Comparing CaV1.3 sequences identified a skate insertion in an intracellular loop of domain IV. A motif is a short sequence with a characteristic structural or functional role. The insertion KKKER adds net positive charge between transmembrane segments S2 and S3.</a:t>
            </a:r>
          </a:p>
          <a:p>
            <a:r>
              <a:rPr sz="1200">
                <a:latin typeface="Arial"/>
              </a:rPr>
              <a:t>  – A mutation changes the tested channel sequence while the expression system and recording protocol remain matched. The result concerns the effect of the charged insertion within this molecular background. Its causal importance does not imply that it is the only residue or regulatory influence governing native receptor sensitivity.</a:t>
            </a:r>
          </a:p>
          <a:p>
            <a:r>
              <a:rPr sz="1200">
                <a:latin typeface="Arial"/>
              </a:rPr>
              <a:t>• Bellono and colleagues replaced its charged residues with neutral glutamines, producing QQQQQ. In the matched mutation experiment, half-maximal activation shifted from approximately −37.2 mV in the wild-type skate channel to −26.0 mV in the neutralized channel. Sensor–pore coupling also weakened without a comparable change in total gating-charge behavior.</a:t>
            </a:r>
          </a:p>
          <a:p>
            <a:r>
              <a:rPr sz="1200">
                <a:latin typeface="Arial"/>
              </a:rPr>
              <a:t>• The controlled substitution establishes a causal contribution of these residues to low-threshold activation. Electrostatic repulsion of the nearby voltage sensor was proposed as an explanation, supported by kinetic tests. The study did not directly image that interaction, and sequence-dependent gating should be distinguished from a solved structural mechanism.</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3(a–e). Charge-neutralization tests the skate channel motif.</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inserted the charged skate motif into rat CaV1.3 and compared it with an otherwise comparable neutral insertion. This gain-of-function experiment asks whether the sequence can confer a property on a channel that normally lacks it, complementing its neutralization in skate.</a:t>
            </a:r>
          </a:p>
          <a:p>
            <a:r>
              <a:rPr sz="1200">
                <a:latin typeface="Arial"/>
              </a:rPr>
              <a:t>  – The neutral insertion controlled for adding a short sequence without its positive charge. Comparisons within each experiment avoid treating values from different expression protocols as a single absolute threshold. The molecular result supplies a plausible amplification component rather than a complete explanation of behavioral field sensitivity.</a:t>
            </a:r>
          </a:p>
          <a:p>
            <a:r>
              <a:rPr sz="1200">
                <a:latin typeface="Arial"/>
              </a:rPr>
              <a:t>• The charged rat construct activated at more negative potentials than the neutral construct; reported half-activation values were approximately −37.2 and −19.6 mV. Conductance required less relative gating charge, and tail currents increased for comparable charge movement. The transferred motif altered coupling as well as the activation curve.</a:t>
            </a:r>
          </a:p>
          <a:p>
            <a:r>
              <a:rPr sz="1200">
                <a:latin typeface="Arial"/>
              </a:rPr>
              <a:t>• Necessity and transfer experiments together provide stronger causal evidence than sequence correlation alone. Their measurements concern cloned channels in transfected cells, not a genetically modified hunting skate. The authors’ voltage-sensor priming model remains a mechanistic interpretation requiring structural confirmation despite the established sequence-dependent functional change.</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3(f–i). Transfer of the skate motif alters rat channel gating.</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recorded individual BK channels in excised membrane patches from cells expressing skate or mouse subunits. Single-channel conductance measures current carried by one open channel for a specified driving force. This separates molecular pore behavior from whole-cell channel abundance.</a:t>
            </a:r>
          </a:p>
          <a:p>
            <a:r>
              <a:rPr sz="1200">
                <a:latin typeface="Arial"/>
              </a:rPr>
              <a:t>  – Channel openings appear as discrete current steps in the original recordings. Their amplitudes and durations answer different questions: how rapidly ions pass through an open pore, and how long the pore remains open. Both can change the amount of potassium charge crossing the membrane.</a:t>
            </a:r>
          </a:p>
          <a:p>
            <a:r>
              <a:rPr sz="1200">
                <a:latin typeface="Arial"/>
              </a:rPr>
              <a:t>• The skate channel had smaller current amplitudes and shorter openings than mouse BK. At 80 mV, open-time constants were approximately 1.09 ms and 5.06 ms, respectively. Their calcium sensitivity was broadly similar, so the difference was not simply a failure of skate channels to respond to calcium.</a:t>
            </a:r>
          </a:p>
          <a:p>
            <a:r>
              <a:rPr sz="1200">
                <a:latin typeface="Arial"/>
              </a:rPr>
              <a:t>• Smaller and briefer potassium currents can restrain, rather than immediately terminate, calcium-driven depolarization. This provides a mechanism for tuning receptor oscillations. The functional consequence in native cells requires further perturbation because excised patches lack the receptor’s calcium gradients, accessory proteins, and intact membrane geometry.</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4(a–b). Single-channel currents and open-time distributions.</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substituted two skate BK residues with their mouse counterparts and performed the reciprocal substitutions in mouse BK. These residues lie near the intracellular pore, where local charge can influence potassium concentration. The comparison tested functional effects rather than sequence similarity alone.</a:t>
            </a:r>
          </a:p>
          <a:p>
            <a:r>
              <a:rPr sz="1200">
                <a:latin typeface="Arial"/>
              </a:rPr>
              <a:t>  – A picosiemens is a unit of electrical conductance. The effect of a substitution on current amplitude was examined alongside opening duration, and the two properties were not assumed identical. High-potassium experiments tested whether the channels retained a common maximum ion-passage capacity.</a:t>
            </a:r>
          </a:p>
          <a:p>
            <a:r>
              <a:rPr sz="1200">
                <a:latin typeface="Arial"/>
              </a:rPr>
              <a:t>• Wild-type skate conductance was approximately 104 pS, versus 263 pS for mouse BK. The double-mutant skate channel reached approximately 287 pS, while the reciprocal mouse construct fell near 97 pS. Open-time behavior also shifted toward the species supplying the substituted residues.</a:t>
            </a:r>
          </a:p>
          <a:p>
            <a:r>
              <a:rPr sz="1200">
                <a:latin typeface="Arial"/>
              </a:rPr>
              <a:t>• Increasing intracellular potassium to a saturating 3.14 M equalized current amplitudes, supporting an electrostatic contribution to local ion availability rather than an intrinsically impassable skate pore. The very high potassium condition is an experimental probe, not a physiological receptor concentration. Reciprocal mutations establish sequence-dependent function without proving adaptive history directly.</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5(a–e). Reciprocal mutations alter BK conductance and kinetics.</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recorded spontaneous voltage oscillations in little-skate receptors and then manipulated channel activity. Nifedipine reduced calcium-dependent activity; BK blockade disrupted oscillations. The BK activator NS11021 reduced oscillation amplitude while increasing frequency, consistent with stronger repolarizing current.</a:t>
            </a:r>
          </a:p>
          <a:p>
            <a:r>
              <a:rPr sz="1200">
                <a:latin typeface="Arial"/>
              </a:rPr>
              <a:t>  – A BK activator is not equivalent to removing potassium feedback: stronger activity changes the balance between calcium-driven depolarization and repolarization. The behavioral result depends on that balance, rather than simply on the presence or absence of any potassium channel. Pharmacological specificity must be evaluated at both cellular and organismal levels.</a:t>
            </a:r>
          </a:p>
          <a:p>
            <a:r>
              <a:rPr sz="1200">
                <a:latin typeface="Arial"/>
              </a:rPr>
              <a:t>• Behaving skates were tested for preference toward a buried dipole during 30-minute trials. Vehicle and a calcium-channel drug ineffective against the measured current preserved target preference, whereas nifedipine and NS11021 reduced time near the active electrode. Subsequent startle tests checked for gross mobility impairment.</a:t>
            </a:r>
          </a:p>
          <a:p>
            <a:r>
              <a:rPr sz="1200">
                <a:latin typeface="Arial"/>
              </a:rPr>
              <a:t>• The paired physiological and behavioral perturbations connect channel activity to electrosensory performance. Whole-animal drug exposure is not restricted to the ampullae, so it does not prove that every behavioral effect originates exclusively in receptor cells. Startle controls limit a general motor explanation while leaving more specific sensory or systemic effects possible.</a:t>
            </a:r>
          </a:p>
          <a:p/>
          <a:p>
            <a:r>
              <a:rPr sz="1200">
                <a:latin typeface="Arial"/>
              </a:rPr>
              <a:t>References:</a:t>
            </a:r>
          </a:p>
          <a:p>
            <a:r>
              <a:rPr sz="1200">
                <a:latin typeface="Arial"/>
              </a:rPr>
              <a:t>Bellono NW, Leitch DB, Julius D (2017). Molecular basis of ancestral vertebrate electroreception. Nature 543(7645):391-396. </a:t>
            </a:r>
            <a:r>
              <a:rPr sz="1200">
                <a:latin typeface="Arial"/>
                <a:hlinkClick r:id="rId3"/>
              </a:rPr>
              <a:t>https://doi.org/10.1038/nature21401</a:t>
            </a:r>
          </a:p>
          <a:p/>
          <a:p>
            <a:r>
              <a:rPr sz="1200">
                <a:latin typeface="Arial"/>
              </a:rPr>
              <a:t>Figure: Bellono et al. (2017), Fig. 6(d–i). Channel modulation alters oscillations and dipole-zone preference.</a:t>
            </a:r>
          </a:p>
          <a:p>
            <a:r>
              <a:rPr sz="1200">
                <a:latin typeface="Arial"/>
              </a:rPr>
              <a:t>Figure source: </a:t>
            </a:r>
            <a:r>
              <a:rPr sz="1200">
                <a:latin typeface="Arial"/>
                <a:hlinkClick r:id="rId3"/>
              </a:rPr>
              <a:t>https://doi.org/10.1038/nature21401</a:t>
            </a:r>
          </a:p>
          <a:p/>
          <a:p>
            <a:r>
              <a:rPr sz="1200">
                <a:latin typeface="Arial"/>
              </a:rPr>
              <a:t>Figure: Bellono et al. (2017), Fig. 1(c–d). Isolated ampulla and receptor cell.</a:t>
            </a:r>
          </a:p>
          <a:p>
            <a:r>
              <a:rPr sz="1200">
                <a:latin typeface="Arial"/>
              </a:rPr>
              <a:t>Figure source: </a:t>
            </a:r>
            <a:r>
              <a:rPr sz="1200">
                <a:latin typeface="Arial"/>
                <a:hlinkClick r:id="rId3"/>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compared chain catshark, Scyliorhinus retifer, receptors with little-skate receptors. Shark outward current activated at more positive voltages than the calcium current. Unlike skate current, it was not reduced by calcium-current blockade or the tested BK antagonist.</a:t>
            </a:r>
          </a:p>
          <a:p>
            <a:r>
              <a:rPr sz="1200">
                <a:latin typeface="Arial"/>
              </a:rPr>
              <a:t>  – An outward potassium current can be activated directly by voltage or indirectly through rising calcium. Blocker comparisons and calcium dependence distinguish these alternatives experimentally. A calcium-channel antagonist served as a causal test of functional coupling, rather than treating all receptor potassium currents as interchangeable.</a:t>
            </a:r>
          </a:p>
          <a:p>
            <a:r>
              <a:rPr sz="1200">
                <a:latin typeface="Arial"/>
              </a:rPr>
              <a:t>• The voltage-gated potassium blocker 4-aminopyridine, or 4-AP, inhibited shark outward current. Rapid activation and deactivation, together with weak slow inactivation, supported repetitive responses. Repeated depolarizing commands did not appreciably diminish the measured outward-current amplitude under the tested conditions.</a:t>
            </a:r>
          </a:p>
          <a:p>
            <a:r>
              <a:rPr sz="1200">
                <a:latin typeface="Arial"/>
              </a:rPr>
              <a:t>• The results identify a different functional potassium mechanism despite both species using low-threshold calcium entry. BK transcripts in shark tissue did not establish a dominant BK current. The conclusion concerns the measured species and preparation; channel contributions may differ with developmental stage, cellular compartment, or physiological state.</a:t>
            </a:r>
          </a:p>
          <a:p/>
          <a:p>
            <a:r>
              <a:rPr sz="1200">
                <a:latin typeface="Arial"/>
              </a:rPr>
              <a:t>References:</a:t>
            </a:r>
          </a:p>
          <a:p>
            <a:r>
              <a:rPr sz="1200">
                <a:latin typeface="Arial"/>
              </a:rPr>
              <a:t>Bellono NW, Leitch DB, Julius D (2018). Molecular tuning of electroreception in sharks and skates. Nature 558(7708):122-126. </a:t>
            </a:r>
            <a:r>
              <a:rPr sz="1200">
                <a:latin typeface="Arial"/>
                <a:hlinkClick r:id="rId3"/>
              </a:rPr>
              <a:t>https://doi.org/10.1038/s41586-018-0160-9</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Bellono et al. (2018), Fig. 1(b–c). Shark potassium current activation and blocker sensitivity.</a:t>
            </a:r>
          </a:p>
          <a:p>
            <a:r>
              <a:rPr sz="1200">
                <a:latin typeface="Arial"/>
              </a:rPr>
              <a:t>Figure source: </a:t>
            </a:r>
            <a:r>
              <a:rPr sz="1200">
                <a:latin typeface="Arial"/>
                <a:hlinkClick r:id="rId3"/>
              </a:rPr>
              <a:t>https://doi.org/10.1038/s41586-018-0160-9</a:t>
            </a:r>
          </a:p>
          <a:p/>
          <a:p>
            <a:r>
              <a:rPr sz="1200">
                <a:latin typeface="Arial"/>
              </a:rPr>
              <a:t>Figure: Bellono et al. (2018), Fig. 1(g). Catshark receptor cells: CaV1.3 and KV1.3 transcripts.</a:t>
            </a:r>
          </a:p>
          <a:p>
            <a:r>
              <a:rPr sz="1200">
                <a:latin typeface="Arial"/>
              </a:rPr>
              <a:t>Figure source: </a:t>
            </a:r>
            <a:r>
              <a:rPr sz="1200">
                <a:latin typeface="Arial"/>
                <a:hlinkClick r:id="rId3"/>
              </a:rPr>
              <a:t>https://doi.org/10.1038/s41586-018-0160-9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KV1.3 is a voltage-gated potassium channel assembled from pore-forming subunits encoded by a specific gene. Bellono and colleagues found its transcript predominant among voltage-gated potassium channels in chain-catshark ampullary organs. In situ hybridization localized KV1.3 together with CaV1.3 in receptor cells.</a:t>
            </a:r>
          </a:p>
          <a:p>
            <a:r>
              <a:rPr sz="1200">
                <a:latin typeface="Arial"/>
              </a:rPr>
              <a:t>  – The shark brain expressed a truncated KV1.3 transcript lacking an essential assembly region rather than the same full-length receptor form. Tissue expression patterns must therefore distinguish isoforms as well as gene identity. The study did not establish that the receptor form contributes identically in every organ.</a:t>
            </a:r>
          </a:p>
          <a:p>
            <a:r>
              <a:rPr sz="1200">
                <a:latin typeface="Arial"/>
              </a:rPr>
              <a:t>• Shark KV1.3 expression was not detected in the tested skate ampullae, where BK dominated functional potassium feedback. Catshark receptor currents closed rapidly after repolarization and remained available during repeated stimulation. The expressed shark channel reproduced many native current properties when tested independently.</a:t>
            </a:r>
          </a:p>
          <a:p>
            <a:r>
              <a:rPr sz="1200">
                <a:latin typeface="Arial"/>
              </a:rPr>
              <a:t>• Agreement among cellular localization, pharmacology, and cloned-channel function supports KV1.3 as the major measured shark potassium conductance. Native currents deactivated faster than cloned currents at some voltages, leaving accessory subunits or other cellular factors relevant. The transcript assignment therefore explains much of the mechanism without implying complete molecular sufficiency.</a:t>
            </a:r>
          </a:p>
          <a:p/>
          <a:p>
            <a:r>
              <a:rPr sz="1200">
                <a:latin typeface="Arial"/>
              </a:rPr>
              <a:t>References:</a:t>
            </a:r>
          </a:p>
          <a:p>
            <a:r>
              <a:rPr sz="1200">
                <a:latin typeface="Arial"/>
              </a:rPr>
              <a:t>Bellono NW, Leitch DB, Julius D (2018). Molecular tuning of electroreception in sharks and skates. Nature 558(7708):122-126. </a:t>
            </a:r>
            <a:r>
              <a:rPr sz="1200">
                <a:latin typeface="Arial"/>
                <a:hlinkClick r:id="rId3"/>
              </a:rPr>
              <a:t>https://doi.org/10.1038/s41586-018-0160-9</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Bellono et al. (2018), Fig. 1(d–g). Fast deactivation, transcript enrichment and receptor localization.</a:t>
            </a:r>
          </a:p>
          <a:p>
            <a:r>
              <a:rPr sz="1200">
                <a:latin typeface="Arial"/>
              </a:rPr>
              <a:t>Figure source: </a:t>
            </a:r>
            <a:r>
              <a:rPr sz="1200">
                <a:latin typeface="Arial"/>
                <a:hlinkClick r:id="rId3"/>
              </a:rPr>
              <a:t>https://doi.org/10.1038/s41586-018-0160-9</a:t>
            </a:r>
          </a:p>
          <a:p/>
          <a:p>
            <a:r>
              <a:rPr sz="1200">
                <a:latin typeface="Arial"/>
              </a:rPr>
              <a:t>Figure: Bellono et al. (2018), Fig. 1(g). Catshark receptor cells: CaV1.3 and KV1.3 transcripts.</a:t>
            </a:r>
          </a:p>
          <a:p>
            <a:r>
              <a:rPr sz="1200">
                <a:latin typeface="Arial"/>
              </a:rPr>
              <a:t>Figure source: </a:t>
            </a:r>
            <a:r>
              <a:rPr sz="1200">
                <a:latin typeface="Arial"/>
                <a:hlinkClick r:id="rId3"/>
              </a:rPr>
              <a:t>https://doi.org/10.1038/s41586-018-0160-9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expressed shark and human KV1.3 channels under matched recording conditions. Shark half-maximal activation occurred near −5.4 mV, compared with −30.7 mV for human KV1.3. The shark channel therefore supplied outward current only after substantially greater depolarization.</a:t>
            </a:r>
          </a:p>
          <a:p>
            <a:r>
              <a:rPr sz="1200">
                <a:latin typeface="Arial"/>
              </a:rPr>
              <a:t>  – Inactivation limits availability during sustained stimulation, whereas deactivation closes channels as voltage returns toward rest. A channel can deactivate rapidly yet remain ready to reopen. The distinction explains why repetitive currents can remain large without requiring channels to stay continuously open.</a:t>
            </a:r>
          </a:p>
          <a:p>
            <a:r>
              <a:rPr sz="1200">
                <a:latin typeface="Arial"/>
              </a:rPr>
              <a:t>• Shark channels returned rapidly to a closed state and showed weak, slow inactivation during prolonged or repeated commands. Human channels progressively lost current during repetitive stimulation. The comparison separated activation threshold, deactivation, and inactivation, three distinct properties that jointly influence sustained receptor activity.</a:t>
            </a:r>
          </a:p>
          <a:p>
            <a:r>
              <a:rPr sz="1200">
                <a:latin typeface="Arial"/>
              </a:rPr>
              <a:t>• High activation voltage permits strong calcium-driven depolarization before potassium feedback intervenes; rapid closure then releases the membrane for another cycle. Sequence-swapping experiments implicated voltage-sensor regions and the outer pore in different properties. Reduced voltage-sensor relaxation was proposed from kinetic evidence, rather than directly observed as a resolved structural rearrangement.</a:t>
            </a:r>
          </a:p>
          <a:p/>
          <a:p>
            <a:r>
              <a:rPr sz="1200">
                <a:latin typeface="Arial"/>
              </a:rPr>
              <a:t>References:</a:t>
            </a:r>
          </a:p>
          <a:p>
            <a:r>
              <a:rPr sz="1200">
                <a:latin typeface="Arial"/>
              </a:rPr>
              <a:t>Bellono NW, Leitch DB, Julius D (2018). Molecular tuning of electroreception in sharks and skates. Nature 558(7708):122-126. </a:t>
            </a:r>
            <a:r>
              <a:rPr sz="1200">
                <a:latin typeface="Arial"/>
                <a:hlinkClick r:id="rId3"/>
              </a:rPr>
              <a:t>https://doi.org/10.1038/s41586-018-0160-9</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Bellono et al. (2018), Fig. 2(a–e). Shark and human KV1.3 gating under matched stimulation.</a:t>
            </a:r>
          </a:p>
          <a:p>
            <a:r>
              <a:rPr sz="1200">
                <a:latin typeface="Arial"/>
              </a:rPr>
              <a:t>Figure source: </a:t>
            </a:r>
            <a:r>
              <a:rPr sz="1200">
                <a:latin typeface="Arial"/>
                <a:hlinkClick r:id="rId3"/>
              </a:rPr>
              <a:t>https://doi.org/10.1038/s41586-018-0160-9</a:t>
            </a:r>
          </a:p>
          <a:p/>
          <a:p>
            <a:r>
              <a:rPr sz="1200">
                <a:latin typeface="Arial"/>
              </a:rPr>
              <a:t>Figure: Bellono et al. (2018), Fig. 1(g). Catshark receptor cells: CaV1.3 and KV1.3 transcripts.</a:t>
            </a:r>
          </a:p>
          <a:p>
            <a:r>
              <a:rPr sz="1200">
                <a:latin typeface="Arial"/>
              </a:rPr>
              <a:t>Figure source: </a:t>
            </a:r>
            <a:r>
              <a:rPr sz="1200">
                <a:latin typeface="Arial"/>
                <a:hlinkClick r:id="rId3"/>
              </a:rPr>
              <a:t>https://doi.org/10.1038/s41586-018-0160-9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Current clamp measures membrane voltage while current is injected to change the cell’s operating point. Bellono and colleagues compared shark and skate receptor activity across matched voltage ranges. Average resting voltage was approximately −66 mV in shark cells and −54 mV in skate cells.</a:t>
            </a:r>
          </a:p>
          <a:p>
            <a:r>
              <a:rPr sz="1200">
                <a:latin typeface="Arial"/>
              </a:rPr>
              <a:t>  – The cells were placed at different membrane potentials by fixed current injection, rather than by changing the surrounding natural field. This controls the operating point and tests voltage-dependent dynamics directly. The same command can expose a different balance of inward and outward conductances in the two species.</a:t>
            </a:r>
          </a:p>
          <a:p>
            <a:r>
              <a:rPr sz="1200">
                <a:latin typeface="Arial"/>
              </a:rPr>
              <a:t>• Depolarizing shark cells into the calcium-current range triggered large repetitive voltage spikes. Skate cells generated smaller oscillations whose amplitude and frequency varied more strongly with membrane voltage. Nifedipine blocked shark depolarization, and 4-AP prevented or markedly slowed repolarization.</a:t>
            </a:r>
          </a:p>
          <a:p>
            <a:r>
              <a:rPr sz="1200">
                <a:latin typeface="Arial"/>
              </a:rPr>
              <a:t>• These receptor spikes are calcium-driven membrane events and should not be confused with sodium-dependent action potentials propagated by afferent nerves. The shared calcium mechanism and differing potassium feedback produce distinct cellular dynamics. Isolated-cell activity establishes a physiological difference, while its effect on natural stimulus discrimination requires synaptic and organismal tests.</a:t>
            </a:r>
          </a:p>
          <a:p/>
          <a:p>
            <a:r>
              <a:rPr sz="1200">
                <a:latin typeface="Arial"/>
              </a:rPr>
              <a:t>References:</a:t>
            </a:r>
          </a:p>
          <a:p>
            <a:r>
              <a:rPr sz="1200">
                <a:latin typeface="Arial"/>
              </a:rPr>
              <a:t>Bellono NW, Leitch DB, Julius D (2018). Molecular tuning of electroreception in sharks and skates. Nature 558(7708):122-126. </a:t>
            </a:r>
            <a:r>
              <a:rPr sz="1200">
                <a:latin typeface="Arial"/>
                <a:hlinkClick r:id="rId3"/>
              </a:rPr>
              <a:t>https://doi.org/10.1038/s41586-018-0160-9</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Bellono et al. (2018), Fig. 3(a–c). Shark spikes and skate oscillations under current clamp.</a:t>
            </a:r>
          </a:p>
          <a:p>
            <a:r>
              <a:rPr sz="1200">
                <a:latin typeface="Arial"/>
              </a:rPr>
              <a:t>Figure source: </a:t>
            </a:r>
            <a:r>
              <a:rPr sz="1200">
                <a:latin typeface="Arial"/>
                <a:hlinkClick r:id="rId3"/>
              </a:rPr>
              <a:t>https://doi.org/10.1038/s41586-018-0160-9</a:t>
            </a:r>
          </a:p>
          <a:p/>
          <a:p>
            <a:r>
              <a:rPr sz="1200">
                <a:latin typeface="Arial"/>
              </a:rPr>
              <a:t>Figure: Bellono et al. (2018), Fig. 1(g). Catshark receptor cells: CaV1.3 and KV1.3 transcripts.</a:t>
            </a:r>
          </a:p>
          <a:p>
            <a:r>
              <a:rPr sz="1200">
                <a:latin typeface="Arial"/>
              </a:rPr>
              <a:t>Figure source: </a:t>
            </a:r>
            <a:r>
              <a:rPr sz="1200">
                <a:latin typeface="Arial"/>
                <a:hlinkClick r:id="rId3"/>
              </a:rPr>
              <a:t>https://doi.org/10.1038/s41586-018-0160-9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imposed voltage commands resembling recorded shark receptor spikes while measuring ionic currents. This protocol tested whether the identified currents could follow the timing of actual membrane activity. Inward calcium current preceded outward potassium current during the repeated commands.</a:t>
            </a:r>
          </a:p>
          <a:p>
            <a:r>
              <a:rPr sz="1200">
                <a:latin typeface="Arial"/>
              </a:rPr>
              <a:t>  – A voltage-clamp command controls the membrane trajectory rather than allowing currents to determine it. Recording currents along that trajectory tests their timing and persistence. It is therefore complementary to current clamp, which records the voltage trajectory produced by the cell’s own conductances.</a:t>
            </a:r>
          </a:p>
          <a:p>
            <a:r>
              <a:rPr sz="1200">
                <a:latin typeface="Arial"/>
              </a:rPr>
              <a:t>• At approximately −65 mV, calcium current was small; depolarization increased it before higher-voltage potassium activation opposed the inward flow. 4-AP removed the outward component and exposed renewed calcium current during the return toward negative voltage. Both conductances remained available across repeated cycles.</a:t>
            </a:r>
          </a:p>
          <a:p>
            <a:r>
              <a:rPr sz="1200">
                <a:latin typeface="Arial"/>
              </a:rPr>
              <a:t>• The measured sequence supports calcium-driven depolarization followed by KV-mediated repolarization, with rapidly closing potassium channels allowing another depolarizing cycle. The applied waveform was an experimental command reported by the paper, not proof of every process generating a spontaneous spike. Calcium buffering and accessory proteins may also regulate the native response.</a:t>
            </a:r>
          </a:p>
          <a:p/>
          <a:p>
            <a:r>
              <a:rPr sz="1200">
                <a:latin typeface="Arial"/>
              </a:rPr>
              <a:t>References:</a:t>
            </a:r>
          </a:p>
          <a:p>
            <a:r>
              <a:rPr sz="1200">
                <a:latin typeface="Arial"/>
              </a:rPr>
              <a:t>Bellono NW, Leitch DB, Julius D (2018). Molecular tuning of electroreception in sharks and skates. Nature 558(7708):122-126. </a:t>
            </a:r>
            <a:r>
              <a:rPr sz="1200">
                <a:latin typeface="Arial"/>
                <a:hlinkClick r:id="rId3"/>
              </a:rPr>
              <a:t>https://doi.org/10.1038/s41586-018-0160-9</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Bellono et al. (2018), Fig. 3(d). Calcium and potassium currents during voltage-spike commands.</a:t>
            </a:r>
          </a:p>
          <a:p>
            <a:r>
              <a:rPr sz="1200">
                <a:latin typeface="Arial"/>
              </a:rPr>
              <a:t>Figure source: </a:t>
            </a:r>
            <a:r>
              <a:rPr sz="1200">
                <a:latin typeface="Arial"/>
                <a:hlinkClick r:id="rId3"/>
              </a:rPr>
              <a:t>https://doi.org/10.1038/s41586-018-0160-9</a:t>
            </a:r>
          </a:p>
          <a:p/>
          <a:p>
            <a:r>
              <a:rPr sz="1200">
                <a:latin typeface="Arial"/>
              </a:rPr>
              <a:t>Figure: Bellono et al. (2018), Fig. 1(g). Catshark receptor cells: CaV1.3 and KV1.3 transcripts.</a:t>
            </a:r>
          </a:p>
          <a:p>
            <a:r>
              <a:rPr sz="1200">
                <a:latin typeface="Arial"/>
              </a:rPr>
              <a:t>Figure source: </a:t>
            </a:r>
            <a:r>
              <a:rPr sz="1200">
                <a:latin typeface="Arial"/>
                <a:hlinkClick r:id="rId3"/>
              </a:rPr>
              <a:t>https://doi.org/10.1038/s41586-018-0160-9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measured membrane capacitance, the membrane’s ability to store charge, as a readout of synaptic-vesicle fusion. Fusion adds vesicle membrane to the cell surface. A 200-ms pulse to −20 mV elicited calcium current and a capacitance increase in both shark and skate receptors.</a:t>
            </a:r>
          </a:p>
          <a:p>
            <a:r>
              <a:rPr sz="1200">
                <a:latin typeface="Arial"/>
              </a:rPr>
              <a:t>  – Exocytosis means fusion of an intracellular vesicle with the plasma membrane. Cadmium is a calcium-channel pore blocker, so its effect links release to calcium entry under this protocol. A change in membrane conductance can interfere with capacitance estimates, making the reported conductance checks essential.</a:t>
            </a:r>
          </a:p>
          <a:p>
            <a:r>
              <a:rPr sz="1200">
                <a:latin typeface="Arial"/>
              </a:rPr>
              <a:t>• Cadmium blocked the inward current and capacitance change, supporting calcium-dependent release. Increasing stimulus duration produced larger release-associated responses, but shark responses approached saturation more rapidly; skate capacitance increased more steadily with duration. Membrane-conductance controls limited recording artifacts that could mimic capacitance changes.</a:t>
            </a:r>
          </a:p>
          <a:p>
            <a:r>
              <a:rPr sz="1200">
                <a:latin typeface="Arial"/>
              </a:rPr>
              <a:t>• The assay measures membrane addition associated with exocytosis rather than directly counting transmitter molecules or postsynaptic receptor openings. These papers did not determine the transmitter identity or receptor subtype from capacitance alone. Calcium entry and vesicle fusion are established steps; the downstream chemical response requires separate synaptic measurements.</a:t>
            </a:r>
          </a:p>
          <a:p/>
          <a:p>
            <a:r>
              <a:rPr sz="1200">
                <a:latin typeface="Arial"/>
              </a:rPr>
              <a:t>References:</a:t>
            </a:r>
          </a:p>
          <a:p>
            <a:r>
              <a:rPr sz="1200">
                <a:latin typeface="Arial"/>
              </a:rPr>
              <a:t>Bellono NW, Leitch DB, Julius D (2018). Molecular tuning of electroreception in sharks and skates. Nature 558(7708):122-126. </a:t>
            </a:r>
            <a:r>
              <a:rPr sz="1200">
                <a:latin typeface="Arial"/>
                <a:hlinkClick r:id="rId3"/>
              </a:rPr>
              <a:t>https://doi.org/10.1038/s41586-018-0160-9</a:t>
            </a:r>
          </a:p>
          <a:p>
            <a:r>
              <a:rPr sz="1200">
                <a:latin typeface="Arial"/>
              </a:rPr>
              <a:t>Bellono NW, Leitch DB, Julius D (2017). Molecular basis of ancestral vertebrate electroreception. Nature 543(7645):391-396. </a:t>
            </a:r>
            <a:r>
              <a:rPr sz="1200">
                <a:latin typeface="Arial"/>
                <a:hlinkClick r:id="rId4"/>
              </a:rPr>
              <a:t>https://doi.org/10.1038/nature21401</a:t>
            </a:r>
          </a:p>
          <a:p/>
          <a:p>
            <a:r>
              <a:rPr sz="1200">
                <a:latin typeface="Arial"/>
              </a:rPr>
              <a:t>Figure: Bellono et al. (2018), Fig. 4(a–b). Calcium-dependent capacitance changes during vesicle fusion.</a:t>
            </a:r>
          </a:p>
          <a:p>
            <a:r>
              <a:rPr sz="1200">
                <a:latin typeface="Arial"/>
              </a:rPr>
              <a:t>Figure source: </a:t>
            </a:r>
            <a:r>
              <a:rPr sz="1200">
                <a:latin typeface="Arial"/>
                <a:hlinkClick r:id="rId3"/>
              </a:rPr>
              <a:t>https://doi.org/10.1038/s41586-018-0160-9</a:t>
            </a:r>
          </a:p>
          <a:p/>
          <a:p>
            <a:r>
              <a:rPr sz="1200">
                <a:latin typeface="Arial"/>
              </a:rPr>
              <a:t>Figure: Bellono et al. (2017), Fig. 1(c–d). Isolated ampulla and receptor cell.</a:t>
            </a:r>
          </a:p>
          <a:p>
            <a:r>
              <a:rPr sz="1200">
                <a:latin typeface="Arial"/>
              </a:rPr>
              <a:t>Figure source: </a:t>
            </a:r>
            <a:r>
              <a:rPr sz="1200">
                <a:latin typeface="Arial"/>
                <a:hlinkClick r:id="rId4"/>
              </a:rPr>
              <a:t>https://doi.org/10.1038/nature21401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ribbon synapse contains an intracellular structure that tethers vesicles near the release membrane. Bellono and colleagues used electron microscopy to examine shark and skate receptor synapses. Both species contained unusually long ribbons associated with vesicles and postsynaptic afferent endings.</a:t>
            </a:r>
          </a:p>
          <a:p>
            <a:r>
              <a:rPr sz="1200">
                <a:latin typeface="Arial"/>
              </a:rPr>
              <a:t>  – A readily releasable pool is positioned for rapid fusion, whereas a refilling pool can replenish release sites over time. The reported anatomical differences are compatible with these functional distinctions. They do not directly measure the recycling history or neurotransmitter content of every imaged vesicle.</a:t>
            </a:r>
          </a:p>
          <a:p>
            <a:r>
              <a:rPr sz="1200">
                <a:latin typeface="Arial"/>
              </a:rPr>
              <a:t>• The ribbons had similar shapes and tethered vesicles of comparable size and number. Shark receptors contained a larger readily releasable vesicle pool, whereas skate receptors contained more free cytoplasmic vesicles. The anatomical comparison accompanied measurements of faster release saturation in shark cells and more sustained responses in skate cells.</a:t>
            </a:r>
          </a:p>
          <a:p>
            <a:r>
              <a:rPr sz="1200">
                <a:latin typeface="Arial"/>
              </a:rPr>
              <a:t>• Pool organization offers a plausible explanation for release dynamics, but morphology alone cannot assign every vesicle’s eventual fate. The proposed refilling role of free vesicles draws on comparison with other ribbon synapses. Electron microscopy establishes synaptic architecture while capacitance and current recordings test its functional output.</a:t>
            </a:r>
          </a:p>
          <a:p/>
          <a:p>
            <a:r>
              <a:rPr sz="1200">
                <a:latin typeface="Arial"/>
              </a:rPr>
              <a:t>References:</a:t>
            </a:r>
          </a:p>
          <a:p>
            <a:r>
              <a:rPr sz="1200">
                <a:latin typeface="Arial"/>
              </a:rPr>
              <a:t>Bellono NW, Leitch DB, Julius D (2018). Molecular tuning of electroreception in sharks and skates. Nature 558(7708):122-126. </a:t>
            </a:r>
            <a:r>
              <a:rPr sz="1200">
                <a:latin typeface="Arial"/>
                <a:hlinkClick r:id="rId3"/>
              </a:rPr>
              <a:t>https://doi.org/10.1038/s41586-018-0160-9</a:t>
            </a:r>
          </a:p>
          <a:p/>
          <a:p>
            <a:r>
              <a:rPr sz="1200">
                <a:latin typeface="Arial"/>
              </a:rPr>
              <a:t>Figure: Bellono et al. (2018), Fig. 4(c–d). Electron microscopy of shark and skate ribbon synapses.</a:t>
            </a:r>
          </a:p>
          <a:p>
            <a:r>
              <a:rPr sz="1200">
                <a:latin typeface="Arial"/>
              </a:rPr>
              <a:t>Figure source: </a:t>
            </a:r>
            <a:r>
              <a:rPr sz="1200">
                <a:latin typeface="Arial"/>
                <a:hlinkClick r:id="rId3"/>
              </a:rPr>
              <a:t>https://doi.org/10.1038/s41586-018-0160-9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Bellono and colleagues compared electrically evoked ventilation in chain catsharks and little skates, using equal-strength stimuli across frequencies. Ventilation is movement of water over the gills for gas exchange. Food odor supplied a comparison stimulus that verified a measurable response in both species.</a:t>
            </a:r>
          </a:p>
          <a:p>
            <a:r>
              <a:rPr sz="1200">
                <a:latin typeface="Arial"/>
              </a:rPr>
              <a:t>  – The estimated fusion difference used measured calcium charge, capacitance changes, and vesicle diameter, not direct visual counting during a spike. Equal maximal odor responses helped compare the two species’ ventilatory readout. Species-specific ecology is a hypothesis informed by these results, not an experimentally manipulated variable.</a:t>
            </a:r>
          </a:p>
          <a:p>
            <a:r>
              <a:rPr sz="1200">
                <a:latin typeface="Arial"/>
              </a:rPr>
              <a:t>• Catsharks increased ventilation similarly across the tested electrical frequencies, whereas skates responded most strongly at lower frequencies. Cell measurements separately suggested at least tenfold greater vesicle release for a shark voltage spike than for a skate oscillation, based on calcium–capacitance relationships and vesicle-size estimates.</a:t>
            </a:r>
          </a:p>
          <a:p>
            <a:r>
              <a:rPr sz="1200">
                <a:latin typeface="Arial"/>
              </a:rPr>
              <a:t>• The physiological and organismal comparisons support broad threshold-like detection in sharks and more selective tuning in skates. The vesicle number is an estimate, and ventilation is not a prey-identification task. A causal explanation linking each channel adaptation to natural communication or predation remains proposed rather than fully established.</a:t>
            </a:r>
          </a:p>
          <a:p/>
          <a:p>
            <a:r>
              <a:rPr sz="1200">
                <a:latin typeface="Arial"/>
              </a:rPr>
              <a:t>References:</a:t>
            </a:r>
          </a:p>
          <a:p>
            <a:r>
              <a:rPr sz="1200">
                <a:latin typeface="Arial"/>
              </a:rPr>
              <a:t>Bellono NW, Leitch DB, Julius D (2018). Molecular tuning of electroreception in sharks and skates. Nature 558(7708):122-126. </a:t>
            </a:r>
            <a:r>
              <a:rPr sz="1200">
                <a:latin typeface="Arial"/>
                <a:hlinkClick r:id="rId3"/>
              </a:rPr>
              <a:t>https://doi.org/10.1038/s41586-018-0160-9</a:t>
            </a:r>
          </a:p>
          <a:p/>
          <a:p>
            <a:r>
              <a:rPr sz="1200">
                <a:latin typeface="Arial"/>
              </a:rPr>
              <a:t>Figure: Bellono et al. (2018), Fig. 4(e–g). Calcium–release relationships and frequency-dependent ventilation.</a:t>
            </a:r>
          </a:p>
          <a:p>
            <a:r>
              <a:rPr sz="1200">
                <a:latin typeface="Arial"/>
              </a:rPr>
              <a:t>Figure source: </a:t>
            </a:r>
            <a:r>
              <a:rPr sz="1200">
                <a:latin typeface="Arial"/>
                <a:hlinkClick r:id="rId3"/>
              </a:rPr>
              <a:t>https://doi.org/10.1038/s41586-018-0160-9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Reafference is sensory stimulation caused by an animal’s own movement. Montgomery and Bodznick recorded ascending efferent neurons in the little skate’s dorsal octavolateralis nucleus, or DON, the first medullary electrosensory processing nucleus. Ventilation timing was measured with a force transducer near the gills.</a:t>
            </a:r>
          </a:p>
          <a:p>
            <a:r>
              <a:rPr sz="1200">
                <a:latin typeface="Arial"/>
              </a:rPr>
              <a:t>  – The animals were decerebrated and spinal cords transected, while natural ventilation continued. This reduced other movements but limits generalization to an intact hunting skate. Parallel fibers arise from cerebellar granule cells and can supply movement-related information to the same output neuron receiving electrical sensory input. When an expected signal is removed, the learned cancellation persists temporarily and becomes observable. The original article’s anatomical drawing is retained as a published source, not reconstructed.</a:t>
            </a:r>
          </a:p>
          <a:p>
            <a:r>
              <a:rPr sz="1200">
                <a:latin typeface="Arial"/>
              </a:rPr>
              <a:t>• A 2-µV dipole stimulus at the skin was repeatedly coupled to ventilation. Neural responses declined over minutes; uncoupled presentations still evoked responses. After 10 minutes of coupling, the mean reduction in responsive neurons was 44.3%. Turning the stimulus off revealed an opposite-sign cancellation response at the trained respiratory phase.</a:t>
            </a:r>
          </a:p>
          <a:p>
            <a:r>
              <a:rPr sz="1200">
                <a:latin typeface="Arial"/>
              </a:rPr>
              <a:t>• The controls distinguish learned temporal cancellation from generalized fatigue. Primary afferents contact basal dendrites, while cerebellar parallel fibers and inhibitory interneurons contact apical dendrites. Plasticity in this circuit was proposed to generate the cancellation signal; this experiment established adaptive filtering without identifying its complete synaptic learning rule or transmitter mechanism.</a:t>
            </a:r>
          </a:p>
          <a:p/>
          <a:p>
            <a:r>
              <a:rPr sz="1200">
                <a:latin typeface="Arial"/>
              </a:rPr>
              <a:t>References:</a:t>
            </a:r>
          </a:p>
          <a:p>
            <a:r>
              <a:rPr sz="1200">
                <a:latin typeface="Arial"/>
              </a:rPr>
              <a:t>Montgomery JC, Bodznick D (1994). An adaptive filter that cancels self-induced noise in the electrosensory and lateral line mechanosensory systems of fish. Neuroscience Letters 174(2):145-148. </a:t>
            </a:r>
            <a:r>
              <a:rPr sz="1200">
                <a:latin typeface="Arial"/>
                <a:hlinkClick r:id="rId3"/>
              </a:rPr>
              <a:t>https://doi.org/10.1016/0304-3940(94)90007-8</a:t>
            </a:r>
          </a:p>
          <a:p/>
          <a:p>
            <a:r>
              <a:rPr sz="1200">
                <a:latin typeface="Arial"/>
              </a:rPr>
              <a:t>Figure: Montgomery &amp; Bodznick (1994), Fig. 1. Ventilation-coupled stimulation induces adaptive cancellation.</a:t>
            </a:r>
          </a:p>
          <a:p>
            <a:r>
              <a:rPr sz="1200">
                <a:latin typeface="Arial"/>
              </a:rPr>
              <a:t>Figure source: </a:t>
            </a:r>
            <a:r>
              <a:rPr sz="1200">
                <a:latin typeface="Arial"/>
                <a:hlinkClick r:id="rId3"/>
              </a:rPr>
              <a:t>https://doi.org/10.1016/0304-3940(94)90007-8</a:t>
            </a:r>
          </a:p>
          <a:p/>
          <a:p>
            <a:r>
              <a:rPr sz="1200">
                <a:latin typeface="Arial"/>
              </a:rPr>
              <a:t>Figure: Montgomery &amp; Bodznick (1994), Fig. 3. Original published medullary anatomy.</a:t>
            </a:r>
          </a:p>
          <a:p>
            <a:r>
              <a:rPr sz="1200">
                <a:latin typeface="Arial"/>
              </a:rPr>
              <a:t>Figure source: </a:t>
            </a:r>
            <a:r>
              <a:rPr sz="1200">
                <a:latin typeface="Arial"/>
                <a:hlinkClick r:id="rId3"/>
              </a:rPr>
              <a:t>https://doi.org/10.1016/0304-3940(94)90007-8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Sisneros and Tricas implanted male Atlantic stingrays, Dasyatis sabina, with dihydrotestosterone, or DHT, an androgen hormone. Empty implants provided treatment controls. After 10–21 days, they recorded electrosensory afferents while varying the frequency of uniform electric-field stimulation.</a:t>
            </a:r>
          </a:p>
          <a:p>
            <a:r>
              <a:rPr sz="1200">
                <a:latin typeface="Arial"/>
              </a:rPr>
              <a:t>  – An androgen is a steroid hormone involved in reproductive state. Empty capsules controlled the implantation procedure, and the experiments distinguished short and long canal groups. Differences from round-stingray and little-skate results should preserve species, hormone state, canal identity, and preparation rather than be merged into one universal best frequency.</a:t>
            </a:r>
          </a:p>
          <a:p>
            <a:r>
              <a:rPr sz="1200">
                <a:latin typeface="Arial"/>
              </a:rPr>
              <a:t>• Control afferents had peak sensitivity near 7–8 Hz, compared with approximately 5–6 Hz after DHT treatment. Responses from 0.5 to 4 Hz were approximately 2–4 dB higher in treated animals. Canal-group comparisons associated different tuning patterns with receptor anatomy and canal length.</a:t>
            </a:r>
          </a:p>
          <a:p>
            <a:r>
              <a:rPr sz="1200">
                <a:latin typeface="Arial"/>
              </a:rPr>
              <a:t>• The manipulation establishes hormonal modulation of peripheral sensory coding rather than a fixed species-wide frequency filter. The study did not identify the specific androgen-regulated channel or prove improved mating performance. Ecological tuning to conspecific ventilation is supported as an interpretation, while the recorded frequency shift is directly experimental.</a:t>
            </a:r>
          </a:p>
          <a:p/>
          <a:p>
            <a:r>
              <a:rPr sz="1200">
                <a:latin typeface="Arial"/>
              </a:rPr>
              <a:t>References:</a:t>
            </a:r>
          </a:p>
          <a:p>
            <a:r>
              <a:rPr sz="1200">
                <a:latin typeface="Arial"/>
              </a:rPr>
              <a:t>Sisneros JA, Tricas TC (2000). Androgen-Induced Changes in the Response Dynamics of Ampullary Electrosensory Primary Afferent Neurons. The Journal of Neuroscience 20(22):8586-8595. </a:t>
            </a:r>
            <a:r>
              <a:rPr sz="1200">
                <a:latin typeface="Arial"/>
                <a:hlinkClick r:id="rId3"/>
              </a:rPr>
              <a:t>https://doi.org/10.1523/jneurosci.20-22-08586.2000</a:t>
            </a:r>
          </a:p>
          <a:p/>
          <a:p>
            <a:r>
              <a:rPr sz="1200">
                <a:latin typeface="Arial"/>
              </a:rPr>
              <a:t>Figure: Sisneros &amp; Tricas (2000), Fig. 6. Androgen treatment shifts afferent frequency response.</a:t>
            </a:r>
          </a:p>
          <a:p>
            <a:r>
              <a:rPr sz="1200">
                <a:latin typeface="Arial"/>
              </a:rPr>
              <a:t>Figure source: </a:t>
            </a:r>
            <a:r>
              <a:rPr sz="1200">
                <a:latin typeface="Arial"/>
                <a:hlinkClick r:id="rId3"/>
              </a:rPr>
              <a:t>https://doi.org/10.1523/jneurosci.20-22-08586.2000</a:t>
            </a:r>
          </a:p>
          <a:p/>
          <a:p>
            <a:r>
              <a:rPr sz="1200">
                <a:latin typeface="Arial"/>
              </a:rPr>
              <a:t>Figure: Sisneros &amp; Tricas (2000), Fig. 9. Ampullary canal distribution.</a:t>
            </a:r>
          </a:p>
          <a:p>
            <a:r>
              <a:rPr sz="1200">
                <a:latin typeface="Arial"/>
              </a:rPr>
              <a:t>Figure source: </a:t>
            </a:r>
            <a:r>
              <a:rPr sz="1200">
                <a:latin typeface="Arial"/>
                <a:hlinkClick r:id="rId4"/>
              </a:rPr>
              <a:t>https://doi.org/10.1523/JNEUROSCI.20-22-08586.2000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Electrical guidance is experimentally isolated. Conductive agar preserves attacks, insulation blocks them, and active dipoles restore directed feeding independently of target odor.</a:t>
            </a:r>
          </a:p>
          <a:p>
            <a:r>
              <a:rPr sz="1200">
                <a:latin typeface="Arial"/>
              </a:rPr>
              <a:t>• Sensitivity depends on geometry and sampling. Nanovolt-gradient responses require source geometry, encounter angle and movement to be distinguished from cellular voltage thresholds.</a:t>
            </a:r>
          </a:p>
          <a:p>
            <a:r>
              <a:rPr sz="1200">
                <a:latin typeface="Arial"/>
              </a:rPr>
              <a:t>• Receptors amplify weak inputs. Low-threshold CaV1.3 supports calcium entry; BK feedback in skates and KV1.3 feedback in catsharks produce distinct membrane dynamics.</a:t>
            </a:r>
          </a:p>
          <a:p>
            <a:r>
              <a:rPr sz="1200">
                <a:latin typeface="Arial"/>
              </a:rPr>
              <a:t>• Sequence changes alter channel function. Neutralization and reciprocal mutations causally link particular CaV1.3 and BK residues to activation, conductance and opening behavior.</a:t>
            </a:r>
          </a:p>
          <a:p>
            <a:r>
              <a:rPr sz="1200">
                <a:latin typeface="Arial"/>
              </a:rPr>
              <a:t>• Synapses transform cellular activity into output. Calcium-dependent ribbon-synapse release differs between shark and skate receptors; vesicle estimates and ventilation do not alone prove ecological function.</a:t>
            </a:r>
          </a:p>
          <a:p>
            <a:r>
              <a:rPr sz="1200">
                <a:latin typeface="Arial"/>
              </a:rPr>
              <a:t>• Sensory coding is adaptable. Afferents saturate and adapt; hindbrain filtering cancels ventilation-linked input, and androgen treatment changes peripheral frequency tuning.</a:t>
            </a:r>
          </a:p>
          <a:p/>
          <a:p>
            <a:r>
              <a:rPr sz="1200">
                <a:latin typeface="Arial"/>
              </a:rPr>
              <a:t>References:</a:t>
            </a:r>
          </a:p>
          <a:p>
            <a:r>
              <a:rPr sz="1200">
                <a:latin typeface="Arial"/>
              </a:rPr>
              <a:t>Kalmijn AJ (1971). The Electric Sense of Sharks and Rays. Journal of Experimental Biology 55(2):371-383. </a:t>
            </a:r>
            <a:r>
              <a:rPr sz="1200">
                <a:latin typeface="Arial"/>
                <a:hlinkClick r:id="rId3"/>
              </a:rPr>
              <a:t>https://doi.org/10.1242/jeb.55.2.371</a:t>
            </a:r>
          </a:p>
          <a:p>
            <a:r>
              <a:rPr sz="1200">
                <a:latin typeface="Arial"/>
              </a:rPr>
              <a:t>Kajiura SM, Holland KN (2002). Electroreception in juvenile scalloped hammerhead and sandbar sharks. Journal of Experimental Biology 205(23):3609-3621. </a:t>
            </a:r>
            <a:r>
              <a:rPr sz="1200">
                <a:latin typeface="Arial"/>
                <a:hlinkClick r:id="rId4"/>
              </a:rPr>
              <a:t>https://doi.org/10.1242/jeb.205.23.3609</a:t>
            </a:r>
          </a:p>
          <a:p>
            <a:r>
              <a:rPr sz="1200">
                <a:latin typeface="Arial"/>
              </a:rPr>
              <a:t>Tricas TC, New JG (1998). Sensitivity and response dynamics of elasmobranch electrosensory primary afferent neurons to near threshold fields. Journal of Comparative Physiology A: Sensory, Neural, and Behavioral Physiology 182(1):89-101. </a:t>
            </a:r>
            <a:r>
              <a:rPr sz="1200">
                <a:latin typeface="Arial"/>
                <a:hlinkClick r:id="rId5"/>
              </a:rPr>
              <a:t>https://doi.org/10.1007/s003590050161</a:t>
            </a:r>
          </a:p>
          <a:p>
            <a:r>
              <a:rPr sz="1200">
                <a:latin typeface="Arial"/>
              </a:rPr>
              <a:t>Bellono NW, Leitch DB, Julius D (2017). Molecular basis of ancestral vertebrate electroreception. Nature 543(7645):391-396. </a:t>
            </a:r>
            <a:r>
              <a:rPr sz="1200">
                <a:latin typeface="Arial"/>
                <a:hlinkClick r:id="rId6"/>
              </a:rPr>
              <a:t>https://doi.org/10.1038/nature21401</a:t>
            </a:r>
          </a:p>
          <a:p>
            <a:r>
              <a:rPr sz="1200">
                <a:latin typeface="Arial"/>
              </a:rPr>
              <a:t>Bellono NW, Leitch DB, Julius D (2018). Molecular tuning of electroreception in sharks and skates. Nature 558(7708):122-126. </a:t>
            </a:r>
            <a:r>
              <a:rPr sz="1200">
                <a:latin typeface="Arial"/>
                <a:hlinkClick r:id="rId7"/>
              </a:rPr>
              <a:t>https://doi.org/10.1038/s41586-018-0160-9</a:t>
            </a:r>
          </a:p>
          <a:p>
            <a:r>
              <a:rPr sz="1200">
                <a:latin typeface="Arial"/>
              </a:rPr>
              <a:t>Montgomery JC, Bodznick D (1994). An adaptive filter that cancels self-induced noise in the electrosensory and lateral line mechanosensory systems of fish. Neuroscience Letters 174(2):145-148. </a:t>
            </a:r>
            <a:r>
              <a:rPr sz="1200">
                <a:latin typeface="Arial"/>
                <a:hlinkClick r:id="rId8"/>
              </a:rPr>
              <a:t>https://doi.org/10.1016/0304-3940(94)90007-8</a:t>
            </a:r>
          </a:p>
          <a:p>
            <a:r>
              <a:rPr sz="1200">
                <a:latin typeface="Arial"/>
              </a:rPr>
              <a:t>Sisneros JA, Tricas TC (2000). Androgen-Induced Changes in the Response Dynamics of Ampullary Electrosensory Primary Afferent Neurons. The Journal of Neuroscience 20(22):8586-8595. </a:t>
            </a:r>
            <a:r>
              <a:rPr sz="1200">
                <a:latin typeface="Arial"/>
                <a:hlinkClick r:id="rId9"/>
              </a:rPr>
              <a:t>https://doi.org/10.1523/jneurosci.20-22-08586.2000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0.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0.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0.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0.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0.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20.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0.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3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38.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0B2A4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9FC4D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9FC4DE"/>
                </a:solidFill>
                <a:latin typeface="Arial"/>
              </a:rPr>
              <a:t>Lecture 20</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400" b="1">
                <a:solidFill>
                  <a:srgbClr val="FFFFFF"/>
                </a:solidFill>
                <a:latin typeface="Arial"/>
              </a:rPr>
              <a:t>Electroreception I: passive sensing in sharks and rays (ampullae of Lorenzini)</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9FC4DE"/>
                </a:solidFill>
                <a:latin typeface="Arial"/>
              </a:rPr>
              <a:t>Monday, October 12,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9FC4DE"/>
                </a:solidFill>
                <a:latin typeface="Arial"/>
              </a:rPr>
              <a:t>Jordan Lopez, Ph.D.</a:t>
            </a:r>
          </a:p>
          <a:p>
            <a:pPr algn="l">
              <a:lnSpc>
                <a:spcPct val="108000"/>
              </a:lnSpc>
              <a:spcAft>
                <a:spcPts val="200"/>
              </a:spcAft>
            </a:pPr>
            <a:r>
              <a:rPr sz="1200" b="0" i="0">
                <a:solidFill>
                  <a:srgbClr val="9FC4DE"/>
                </a:solidFill>
                <a:latin typeface="Arial"/>
              </a:rPr>
              <a:t>Professor of Neurobiology &amp; Biomedical Engineering</a:t>
            </a:r>
          </a:p>
        </p:txBody>
      </p:sp>
      <p:pic>
        <p:nvPicPr>
          <p:cNvPr id="8" name="Picture 7" descr="title-skate.png"/>
          <p:cNvPicPr>
            <a:picLocks noChangeAspect="1"/>
          </p:cNvPicPr>
          <p:nvPr/>
        </p:nvPicPr>
        <p:blipFill>
          <a:blip r:embed="rId2"/>
          <a:stretch>
            <a:fillRect/>
          </a:stretch>
        </p:blipFill>
        <p:spPr>
          <a:xfrm>
            <a:off x="7550702" y="822960"/>
            <a:ext cx="3186138"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1(a). Little skate (Leucoraja erinacea).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Hidden prey are located through their electric fields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Passive electroreception</a:t>
            </a:r>
            <a:r>
              <a:rPr sz="1600" b="0" i="0">
                <a:solidFill>
                  <a:srgbClr val="1C242C"/>
                </a:solidFill>
                <a:latin typeface="Arial"/>
              </a:rPr>
              <a:t> is detection of electric fields produced outside the sensing animal, without probing the environment with its own discharge. Kalmijn tested feeding in small-spotted catsharks, </a:t>
            </a:r>
            <a:r>
              <a:rPr sz="1600" b="0" i="1">
                <a:solidFill>
                  <a:srgbClr val="1C242C"/>
                </a:solidFill>
                <a:latin typeface="Arial"/>
              </a:rPr>
              <a:t>Scyliorhinus canicula</a:t>
            </a:r>
            <a:r>
              <a:rPr sz="1600" b="0" i="0">
                <a:solidFill>
                  <a:srgbClr val="1C242C"/>
                </a:solidFill>
                <a:latin typeface="Arial"/>
              </a:rPr>
              <a:t>, and thornback rays, </a:t>
            </a:r>
            <a:r>
              <a:rPr sz="1600" b="0" i="1">
                <a:solidFill>
                  <a:srgbClr val="1C242C"/>
                </a:solidFill>
                <a:latin typeface="Arial"/>
              </a:rPr>
              <a:t>Raja clavata</a:t>
            </a:r>
            <a:r>
              <a:rPr sz="1600" b="0" i="0">
                <a:solidFill>
                  <a:srgbClr val="1C242C"/>
                </a:solidFill>
                <a:latin typeface="Arial"/>
              </a:rPr>
              <a:t>, using living plaice concealed beneath sand.</a:t>
            </a:r>
          </a:p>
          <a:p>
            <a:pPr algn="l">
              <a:lnSpc>
                <a:spcPct val="108000"/>
              </a:lnSpc>
              <a:spcAft>
                <a:spcPts val="960"/>
              </a:spcAft>
            </a:pPr>
            <a:r>
              <a:rPr sz="1600" b="0" i="0">
                <a:solidFill>
                  <a:srgbClr val="1C242C"/>
                </a:solidFill>
                <a:latin typeface="Arial"/>
              </a:rPr>
              <a:t>Catsharks made directed feeding turns when they passed within approximately 15 cm of buried prey. Because sand could still transmit odor and water movements, concealment alone did not isolate the sensory cue. Kalmijn therefore enclosed the plaice in electrically conductive agar and manipulated the information escaping from it.</a:t>
            </a:r>
          </a:p>
          <a:p>
            <a:pPr algn="l">
              <a:lnSpc>
                <a:spcPct val="108000"/>
              </a:lnSpc>
              <a:spcAft>
                <a:spcPts val="960"/>
              </a:spcAft>
            </a:pPr>
            <a:r>
              <a:rPr sz="1600" b="0" i="0">
                <a:solidFill>
                  <a:srgbClr val="1C242C"/>
                </a:solidFill>
                <a:latin typeface="Arial"/>
              </a:rPr>
              <a:t>Predators continued attacking the concealed living fish through agar, whereas pieces of whiting redirected searching toward the chamber’s water outlet. Electrical localization and odor-induced feeding motivation were experimentally separable. The result establishes short-range use of prey fields under these conditions, rather than unlimited detection through seawater.</a:t>
            </a:r>
          </a:p>
        </p:txBody>
      </p:sp>
      <p:pic>
        <p:nvPicPr>
          <p:cNvPr id="4" name="Picture 3" descr="01_kalmijn71.png"/>
          <p:cNvPicPr>
            <a:picLocks noChangeAspect="1"/>
          </p:cNvPicPr>
          <p:nvPr/>
        </p:nvPicPr>
        <p:blipFill>
          <a:blip r:embed="rId2"/>
          <a:stretch>
            <a:fillRect/>
          </a:stretch>
        </p:blipFill>
        <p:spPr>
          <a:xfrm>
            <a:off x="6869887" y="1280160"/>
            <a:ext cx="4754880" cy="2359374"/>
          </a:xfrm>
          <a:prstGeom prst="rect">
            <a:avLst/>
          </a:prstGeom>
        </p:spPr>
      </p:pic>
      <p:sp>
        <p:nvSpPr>
          <p:cNvPr id="5" name="Figure caption"/>
          <p:cNvSpPr txBox="1"/>
          <p:nvPr/>
        </p:nvSpPr>
        <p:spPr>
          <a:xfrm>
            <a:off x="6869887" y="373097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Kalmijn (1971), Fig. 2(b–c). Agar screening separates living prey from odor controls.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Kalmijn (1971)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Conductive agar isolates the prey’s electrical cue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An </a:t>
            </a:r>
            <a:r>
              <a:rPr sz="1600" b="1" i="0">
                <a:solidFill>
                  <a:srgbClr val="0B4F7A"/>
                </a:solidFill>
                <a:latin typeface="Arial"/>
              </a:rPr>
              <a:t>electric field</a:t>
            </a:r>
            <a:r>
              <a:rPr sz="1600" b="0" i="0">
                <a:solidFill>
                  <a:srgbClr val="1C242C"/>
                </a:solidFill>
                <a:latin typeface="Arial"/>
              </a:rPr>
              <a:t> is a spatial voltage gradient that can drive current through a conductor. Kalmijn constructed a chamber from 3% agar in seawater, with thick sidewalls, a reinforced roof, and inlet and outlet tubes supplying the enclosed plaice with fresh seawater.</a:t>
            </a:r>
          </a:p>
          <a:p>
            <a:pPr algn="l">
              <a:lnSpc>
                <a:spcPct val="108000"/>
              </a:lnSpc>
              <a:spcAft>
                <a:spcPts val="960"/>
              </a:spcAft>
            </a:pPr>
            <a:r>
              <a:rPr sz="1600" b="0" i="0">
                <a:solidFill>
                  <a:srgbClr val="1C242C"/>
                </a:solidFill>
                <a:latin typeface="Arial"/>
              </a:rPr>
              <a:t>The chamber concealed the fish and attenuated mechanical disturbances while remaining conductive. A 1-Hz test current of 120 µA passed between electrodes 5 cm apart; field measurements with and without the chamber differed by no more than the reported 3% measurement limit.</a:t>
            </a:r>
          </a:p>
          <a:p>
            <a:pPr algn="l">
              <a:lnSpc>
                <a:spcPct val="108000"/>
              </a:lnSpc>
              <a:spcAft>
                <a:spcPts val="960"/>
              </a:spcAft>
            </a:pPr>
            <a:r>
              <a:rPr sz="1600" b="0" i="0">
                <a:solidFill>
                  <a:srgbClr val="1C242C"/>
                </a:solidFill>
                <a:latin typeface="Arial"/>
              </a:rPr>
              <a:t>Water carried potential odorants toward the outlet, yet attacks on living plaice were directed toward the agar-covered head region. The conductivity measurement was an essential control: a barrier cannot isolate an electrical cue unless its effect on that cue is tested independently. Agar screening reduced competing cues without denervating the predator.</a:t>
            </a:r>
          </a:p>
        </p:txBody>
      </p:sp>
      <p:pic>
        <p:nvPicPr>
          <p:cNvPr id="4" name="Picture 3" descr="02_kalmijn71.png"/>
          <p:cNvPicPr>
            <a:picLocks noChangeAspect="1"/>
          </p:cNvPicPr>
          <p:nvPr/>
        </p:nvPicPr>
        <p:blipFill>
          <a:blip r:embed="rId2"/>
          <a:stretch>
            <a:fillRect/>
          </a:stretch>
        </p:blipFill>
        <p:spPr>
          <a:xfrm>
            <a:off x="6869887" y="1280160"/>
            <a:ext cx="4754880" cy="2066834"/>
          </a:xfrm>
          <a:prstGeom prst="rect">
            <a:avLst/>
          </a:prstGeom>
        </p:spPr>
      </p:pic>
      <p:sp>
        <p:nvSpPr>
          <p:cNvPr id="5" name="Figure caption"/>
          <p:cNvSpPr txBox="1"/>
          <p:nvPr/>
        </p:nvSpPr>
        <p:spPr>
          <a:xfrm>
            <a:off x="6869887" y="343843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Kalmijn (1971), Fig. 1. Conductive agar chamber and seawater circulation.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Kalmijn (1971)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Electrical insulation abolishes directed attacks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Kalmijn covered the conductive agar chamber with polyethylene approximately 10 µm thick, then replaced the sand. The living plaice remained inside, and diffuse whiting odor still motivated the predators to search. The critical manipulation was electrical insulation around an otherwise similar concealed target.</a:t>
            </a:r>
          </a:p>
          <a:p>
            <a:pPr algn="l">
              <a:lnSpc>
                <a:spcPct val="108000"/>
              </a:lnSpc>
              <a:spcAft>
                <a:spcPts val="960"/>
              </a:spcAft>
            </a:pPr>
            <a:r>
              <a:rPr sz="1600" b="0" i="0">
                <a:solidFill>
                  <a:srgbClr val="1C242C"/>
                </a:solidFill>
                <a:latin typeface="Arial"/>
              </a:rPr>
              <a:t>Catsharks and rays passed close to the shielded fish without directed feeding responses. Removing the plastic restored attacks in control trials. The film had an area-specific resistance near 10¹² Ω·cm² and capacitance below 200 pF/cm², strongly attenuating direct-current and low-frequency fields.</a:t>
            </a:r>
          </a:p>
          <a:p>
            <a:pPr algn="l">
              <a:lnSpc>
                <a:spcPct val="108000"/>
              </a:lnSpc>
              <a:spcAft>
                <a:spcPts val="960"/>
              </a:spcAft>
            </a:pPr>
            <a:r>
              <a:rPr sz="1600" b="0" i="0">
                <a:solidFill>
                  <a:srgbClr val="1C242C"/>
                </a:solidFill>
                <a:latin typeface="Arial"/>
              </a:rPr>
              <a:t>The thin film added relatively little mechanical shielding compared with the reinforced agar roof. Reversible loss of localization therefore supports electrical guidance rather than an explanation based solely on sight, odor, or prey movement. This behavioral manipulation identifies a necessary available cue without measuring individual receptor-cell conductances.</a:t>
            </a:r>
          </a:p>
        </p:txBody>
      </p:sp>
      <p:pic>
        <p:nvPicPr>
          <p:cNvPr id="4" name="Picture 3" descr="03_kalmijn71.png"/>
          <p:cNvPicPr>
            <a:picLocks noChangeAspect="1"/>
          </p:cNvPicPr>
          <p:nvPr/>
        </p:nvPicPr>
        <p:blipFill>
          <a:blip r:embed="rId2"/>
          <a:stretch>
            <a:fillRect/>
          </a:stretch>
        </p:blipFill>
        <p:spPr>
          <a:xfrm>
            <a:off x="6869887" y="1280160"/>
            <a:ext cx="4754880" cy="1152588"/>
          </a:xfrm>
          <a:prstGeom prst="rect">
            <a:avLst/>
          </a:prstGeom>
        </p:spPr>
      </p:pic>
      <p:sp>
        <p:nvSpPr>
          <p:cNvPr id="5" name="Figure caption"/>
          <p:cNvSpPr txBox="1"/>
          <p:nvPr/>
        </p:nvSpPr>
        <p:spPr>
          <a:xfrm>
            <a:off x="6869887" y="252418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Kalmijn (1971), Fig. 2(d). Electrical shielding blocks directed attacks.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Kalmijn (1971)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Artificial dipoles are sufficient to direct feeding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An </a:t>
            </a:r>
            <a:r>
              <a:rPr sz="1600" b="1" i="0">
                <a:solidFill>
                  <a:srgbClr val="0B4F7A"/>
                </a:solidFill>
                <a:latin typeface="Arial"/>
              </a:rPr>
              <a:t>electric dipole</a:t>
            </a:r>
            <a:r>
              <a:rPr sz="1600" b="0" i="0">
                <a:solidFill>
                  <a:srgbClr val="1C242C"/>
                </a:solidFill>
                <a:latin typeface="Arial"/>
              </a:rPr>
              <a:t> consists of a separated current source and sink. Kalmijn buried seawater-bridge outlets beneath sand and passed either a 1-Hz sinusoidal current or direct current of 4 µA between them, approximating the strength of a living plaice’s electrical signal.</a:t>
            </a:r>
          </a:p>
          <a:p>
            <a:pPr algn="l">
              <a:lnSpc>
                <a:spcPct val="108000"/>
              </a:lnSpc>
              <a:spcAft>
                <a:spcPts val="960"/>
              </a:spcAft>
            </a:pPr>
            <a:r>
              <a:rPr sz="1600" b="0" i="0">
                <a:solidFill>
                  <a:srgbClr val="1C242C"/>
                </a:solidFill>
                <a:latin typeface="Arial"/>
              </a:rPr>
              <a:t>After odor-induced arousal, catsharks and rays dug at the active outlets as though attacking prey. Identical buried outlets without current did not elicit these responses. In a competition test, a whiting piece 5 cm from the outlets supplied odor, but directed attacks favored the electrical source.</a:t>
            </a:r>
          </a:p>
          <a:p>
            <a:pPr algn="l">
              <a:lnSpc>
                <a:spcPct val="108000"/>
              </a:lnSpc>
              <a:spcAft>
                <a:spcPts val="960"/>
              </a:spcAft>
            </a:pPr>
            <a:r>
              <a:rPr sz="1600" b="0" i="0">
                <a:solidFill>
                  <a:srgbClr val="1C242C"/>
                </a:solidFill>
                <a:latin typeface="Arial"/>
              </a:rPr>
              <a:t>An artificial field was therefore sufficient for localization, while odor supplied a complementary motivational cue. Current-switching controls excluded the mere presence of electrodes as the target. The experiment does not establish that predators identify prey species from a dipole or that all natural bioelectric signals have the same waveform.</a:t>
            </a:r>
          </a:p>
        </p:txBody>
      </p:sp>
      <p:pic>
        <p:nvPicPr>
          <p:cNvPr id="4" name="Picture 3" descr="04_kalmijn71.png"/>
          <p:cNvPicPr>
            <a:picLocks noChangeAspect="1"/>
          </p:cNvPicPr>
          <p:nvPr/>
        </p:nvPicPr>
        <p:blipFill>
          <a:blip r:embed="rId2"/>
          <a:stretch>
            <a:fillRect/>
          </a:stretch>
        </p:blipFill>
        <p:spPr>
          <a:xfrm>
            <a:off x="6869887" y="1280160"/>
            <a:ext cx="4754880" cy="2409958"/>
          </a:xfrm>
          <a:prstGeom prst="rect">
            <a:avLst/>
          </a:prstGeom>
        </p:spPr>
      </p:pic>
      <p:sp>
        <p:nvSpPr>
          <p:cNvPr id="5" name="Figure caption"/>
          <p:cNvSpPr txBox="1"/>
          <p:nvPr/>
        </p:nvSpPr>
        <p:spPr>
          <a:xfrm>
            <a:off x="6869887" y="3781558"/>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Kalmijn (1971), Fig. 2(e–f). Artificial dipoles elicit attacks and compete with food odor.</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Kalmijn (1971)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 semi-natural arena measures shark orientation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Kajiura and Holland compared juvenile scalloped hammerheads, </a:t>
            </a:r>
            <a:r>
              <a:rPr sz="1600" b="0" i="1">
                <a:solidFill>
                  <a:srgbClr val="1C242C"/>
                </a:solidFill>
                <a:latin typeface="Arial"/>
              </a:rPr>
              <a:t>Sphyrna lewini</a:t>
            </a:r>
            <a:r>
              <a:rPr sz="1600" b="0" i="0">
                <a:solidFill>
                  <a:srgbClr val="1C242C"/>
                </a:solidFill>
                <a:latin typeface="Arial"/>
              </a:rPr>
              <a:t>, with sandbar sharks, </a:t>
            </a:r>
            <a:r>
              <a:rPr sz="1600" b="0" i="1">
                <a:solidFill>
                  <a:srgbClr val="1C242C"/>
                </a:solidFill>
                <a:latin typeface="Arial"/>
              </a:rPr>
              <a:t>Carcharhinus plumbeus</a:t>
            </a:r>
            <a:r>
              <a:rPr sz="1600" b="0" i="0">
                <a:solidFill>
                  <a:srgbClr val="1C242C"/>
                </a:solidFill>
                <a:latin typeface="Arial"/>
              </a:rPr>
              <a:t>, in an enclosed reef habitat. Both species consume bottom-associated fishes and crustaceans, permitting comparison of similar feeding tasks despite markedly different head shapes.</a:t>
            </a:r>
          </a:p>
          <a:p>
            <a:pPr algn="l">
              <a:lnSpc>
                <a:spcPct val="108000"/>
              </a:lnSpc>
              <a:spcAft>
                <a:spcPts val="960"/>
              </a:spcAft>
            </a:pPr>
            <a:r>
              <a:rPr sz="1600" b="0" i="0">
                <a:solidFill>
                  <a:srgbClr val="1C242C"/>
                </a:solidFill>
                <a:latin typeface="Arial"/>
              </a:rPr>
              <a:t>An overhead camera recorded sharks crossing an acrylic electrode plate in water less than 0.5 m deep. Each shark was isolated from companions during testing. Feeding odor encouraged searching, while electric current selected the active dipole independently of the other inactive targets.</a:t>
            </a:r>
          </a:p>
          <a:p>
            <a:pPr algn="l">
              <a:lnSpc>
                <a:spcPct val="108000"/>
              </a:lnSpc>
              <a:spcAft>
                <a:spcPts val="960"/>
              </a:spcAft>
            </a:pPr>
            <a:r>
              <a:rPr sz="1600" b="0" i="0">
                <a:solidFill>
                  <a:srgbClr val="1C242C"/>
                </a:solidFill>
                <a:latin typeface="Arial"/>
              </a:rPr>
              <a:t>Orientation was identified from a course change greater than 20° or a bite. Calibrated video allowed distance and trajectory measurements rather than relying only on observer descriptions. The semi-natural setting preserved swimming behavior, but odor stimulation and the plate constrained the encounter relative to unconstrained wild hunting.</a:t>
            </a:r>
          </a:p>
        </p:txBody>
      </p:sp>
      <p:pic>
        <p:nvPicPr>
          <p:cNvPr id="4" name="Picture 3" descr="05_kajiura02.png"/>
          <p:cNvPicPr>
            <a:picLocks noChangeAspect="1"/>
          </p:cNvPicPr>
          <p:nvPr/>
        </p:nvPicPr>
        <p:blipFill>
          <a:blip r:embed="rId2"/>
          <a:stretch>
            <a:fillRect/>
          </a:stretch>
        </p:blipFill>
        <p:spPr>
          <a:xfrm>
            <a:off x="6869887" y="1280160"/>
            <a:ext cx="4754880" cy="3417477"/>
          </a:xfrm>
          <a:prstGeom prst="rect">
            <a:avLst/>
          </a:prstGeom>
        </p:spPr>
      </p:pic>
      <p:sp>
        <p:nvSpPr>
          <p:cNvPr id="5" name="Figure caption"/>
          <p:cNvSpPr txBox="1"/>
          <p:nvPr/>
        </p:nvSpPr>
        <p:spPr>
          <a:xfrm>
            <a:off x="6869887" y="4789077"/>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Kajiura &amp; Holland (2002), Fig. 2. Shallow-water arena, camera and electrode plate.</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Kajiura &amp; Holland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Controlled dipoles separate current from target position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The shark stimulus apparatus delivered a constant current of 6.0 µA through outlets separated by 1 cm. A battery-powered circuit and series ammeter controlled and monitored the stimulus. Four selectable dipoles allowed the experimenter to change the electrical target on the same plate.</a:t>
            </a:r>
          </a:p>
          <a:p>
            <a:pPr algn="l">
              <a:lnSpc>
                <a:spcPct val="108000"/>
              </a:lnSpc>
              <a:spcAft>
                <a:spcPts val="960"/>
              </a:spcAft>
            </a:pPr>
            <a:r>
              <a:rPr sz="1600" b="0" i="0">
                <a:solidFill>
                  <a:srgbClr val="1C242C"/>
                </a:solidFill>
                <a:latin typeface="Arial"/>
              </a:rPr>
              <a:t>Seawater-filled tubing separated the metal electrodes from the nearby swimming animal, reducing local chemical cues. Both species bit the active dipole and ignored inactive dipoles; repeated biting stopped when current was switched off. Target position and electrical activation were therefore independently manipulable.</a:t>
            </a:r>
          </a:p>
          <a:p>
            <a:pPr algn="l">
              <a:lnSpc>
                <a:spcPct val="108000"/>
              </a:lnSpc>
              <a:spcAft>
                <a:spcPts val="960"/>
              </a:spcAft>
            </a:pPr>
            <a:r>
              <a:rPr sz="1600" b="0" i="0">
                <a:solidFill>
                  <a:srgbClr val="1C242C"/>
                </a:solidFill>
                <a:latin typeface="Arial"/>
              </a:rPr>
              <a:t>Current in microamperes describes the source, whereas field strength in microvolts per centimeter describes the local stimulus encountered by the shark. These quantities are not interchangeable. Behavioral sensitivity requires the source geometry, seawater properties, distance, and encounter direction to be considered alongside the measured response.</a:t>
            </a:r>
          </a:p>
        </p:txBody>
      </p:sp>
      <p:pic>
        <p:nvPicPr>
          <p:cNvPr id="4" name="Picture 3" descr="06_kajiura02.png"/>
          <p:cNvPicPr>
            <a:picLocks noChangeAspect="1"/>
          </p:cNvPicPr>
          <p:nvPr/>
        </p:nvPicPr>
        <p:blipFill>
          <a:blip r:embed="rId2"/>
          <a:stretch>
            <a:fillRect/>
          </a:stretch>
        </p:blipFill>
        <p:spPr>
          <a:xfrm>
            <a:off x="7835807" y="1280160"/>
            <a:ext cx="2823038"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Kajiura &amp; Holland (2002), Fig. 1. Battery-powered dipole stimulation and electrode array.</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Kajiura &amp; Holland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Hammerheads and sandbars have similar detection range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Kajiura and Holland measured distance from the dipole center when a shark initiated a directed turn. Hammerheads most often oriented within 5 cm, whereas sandbars most often oriented within 10 cm. The farthest responses were 30.6 cm and 31.6 cm, respectively.</a:t>
            </a:r>
          </a:p>
          <a:p>
            <a:pPr algn="l">
              <a:lnSpc>
                <a:spcPct val="108000"/>
              </a:lnSpc>
              <a:spcAft>
                <a:spcPts val="960"/>
              </a:spcAft>
            </a:pPr>
            <a:r>
              <a:rPr sz="1600" b="0" i="0">
                <a:solidFill>
                  <a:srgbClr val="1C242C"/>
                </a:solidFill>
                <a:latin typeface="Arial"/>
              </a:rPr>
              <a:t>The nearly identical maximum ranges did not support the prediction that the hammerhead’s expanded head necessarily produces a lower behavioral detection threshold. Both species searched the same apparatus with the same source current and dipole spacing, limiting differences caused by stimulus construction.</a:t>
            </a:r>
          </a:p>
          <a:p>
            <a:pPr algn="l">
              <a:lnSpc>
                <a:spcPct val="108000"/>
              </a:lnSpc>
              <a:spcAft>
                <a:spcPts val="960"/>
              </a:spcAft>
            </a:pPr>
            <a:r>
              <a:rPr sz="1600" b="0" i="0">
                <a:solidFill>
                  <a:srgbClr val="1C242C"/>
                </a:solidFill>
                <a:latin typeface="Arial"/>
              </a:rPr>
              <a:t>Maximum range and the most frequent response distance describe different aspects of performance. An occasional distant orientation does not imply that every encounter is detected there. The result applies to these juvenile species and motivated feeding conditions, rather than establishing identical sensitivity across all sharks or developmental stages.</a:t>
            </a:r>
          </a:p>
        </p:txBody>
      </p:sp>
      <p:pic>
        <p:nvPicPr>
          <p:cNvPr id="4" name="Picture 3" descr="07_kajiura02.png"/>
          <p:cNvPicPr>
            <a:picLocks noChangeAspect="1"/>
          </p:cNvPicPr>
          <p:nvPr/>
        </p:nvPicPr>
        <p:blipFill>
          <a:blip r:embed="rId2"/>
          <a:stretch>
            <a:fillRect/>
          </a:stretch>
        </p:blipFill>
        <p:spPr>
          <a:xfrm>
            <a:off x="7397625" y="1280160"/>
            <a:ext cx="369940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Kajiura &amp; Holland (2002), Fig. 5(A–B). Orientation distance distributions for both shark species.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Kajiura &amp; Holland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Encounter angle changes the detectable dipole field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 dipole’s field depends on direction as well as distance. Kajiura and Holland measured each shark’s approach angle relative to the line joining the two outlets. Orientations began farther away at smaller angles, where the relevant field component was stronger.</a:t>
            </a:r>
          </a:p>
          <a:p>
            <a:pPr algn="l">
              <a:lnSpc>
                <a:spcPct val="108000"/>
              </a:lnSpc>
              <a:spcAft>
                <a:spcPts val="960"/>
              </a:spcAft>
            </a:pPr>
            <a:r>
              <a:rPr sz="1600" b="0" i="0">
                <a:solidFill>
                  <a:srgbClr val="1C242C"/>
                </a:solidFill>
                <a:latin typeface="Arial"/>
              </a:rPr>
              <a:t>Both hammerheads and sandbars followed this relationship. Approaches nearer 90° required a closer encounter before an orientation began. Comparing orientation distance alone would therefore confound receptor sensitivity with the geometry of the sampled field; angle was needed to estimate the local electrical stimulus.</a:t>
            </a:r>
          </a:p>
          <a:p>
            <a:pPr algn="l">
              <a:lnSpc>
                <a:spcPct val="108000"/>
              </a:lnSpc>
              <a:spcAft>
                <a:spcPts val="960"/>
              </a:spcAft>
            </a:pPr>
            <a:r>
              <a:rPr sz="1600" b="0" i="0">
                <a:solidFill>
                  <a:srgbClr val="1C242C"/>
                </a:solidFill>
                <a:latin typeface="Arial"/>
              </a:rPr>
              <a:t>The two species encountered the source from many directions, so a distant response was not simply evidence of a preferred approach axis. The experiment relates swimming geometry to effective stimulation. It does not directly identify how downstream neurons combine the differing signals available at individual skin pores.</a:t>
            </a:r>
          </a:p>
        </p:txBody>
      </p:sp>
      <p:pic>
        <p:nvPicPr>
          <p:cNvPr id="4" name="Picture 3" descr="08_kajiura02.png"/>
          <p:cNvPicPr>
            <a:picLocks noChangeAspect="1"/>
          </p:cNvPicPr>
          <p:nvPr/>
        </p:nvPicPr>
        <p:blipFill>
          <a:blip r:embed="rId2"/>
          <a:stretch>
            <a:fillRect/>
          </a:stretch>
        </p:blipFill>
        <p:spPr>
          <a:xfrm>
            <a:off x="6869887" y="1280160"/>
            <a:ext cx="4754880" cy="3516213"/>
          </a:xfrm>
          <a:prstGeom prst="rect">
            <a:avLst/>
          </a:prstGeom>
        </p:spPr>
      </p:pic>
      <p:sp>
        <p:nvSpPr>
          <p:cNvPr id="5" name="Figure caption"/>
          <p:cNvSpPr txBox="1"/>
          <p:nvPr/>
        </p:nvSpPr>
        <p:spPr>
          <a:xfrm>
            <a:off x="6869887" y="488781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Kajiura &amp; Holland (2002), Fig. 6. Orientation distance depends on dipole-axis angle.</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Kajiura &amp; Holland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Feeding responses occur at nanovolt gradients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Kajiura and Holland converted measured encounter geometry into estimated field intensity at orientation onset. Both shark species initiated approximately 70% of orientations below 0.1 µV/cm, and approximately 35–40% below 0.01 µV/cm. Their most sensitive responses were below 1 nV/cm.</a:t>
            </a:r>
          </a:p>
          <a:p>
            <a:pPr algn="l">
              <a:lnSpc>
                <a:spcPct val="108000"/>
              </a:lnSpc>
              <a:spcAft>
                <a:spcPts val="960"/>
              </a:spcAft>
            </a:pPr>
            <a:r>
              <a:rPr sz="1600" b="0" i="0">
                <a:solidFill>
                  <a:srgbClr val="1C242C"/>
                </a:solidFill>
                <a:latin typeface="Arial"/>
              </a:rPr>
              <a:t>The 6.0-µA, 1-cm dipole and calibrated video provided the common reference for these estimates. Inactive outlets and current-switching trials constrained explanations involving visible target marks or electrode-associated cues. The distributions broadly overlapped despite the conspicuous difference in head morphology.</a:t>
            </a:r>
          </a:p>
          <a:p>
            <a:pPr algn="l">
              <a:lnSpc>
                <a:spcPct val="108000"/>
              </a:lnSpc>
              <a:spcAft>
                <a:spcPts val="960"/>
              </a:spcAft>
            </a:pPr>
            <a:r>
              <a:rPr sz="1600" b="0" i="0">
                <a:solidFill>
                  <a:srgbClr val="1C242C"/>
                </a:solidFill>
                <a:latin typeface="Arial"/>
              </a:rPr>
              <a:t>A </a:t>
            </a:r>
            <a:r>
              <a:rPr sz="1600" b="1" i="0">
                <a:solidFill>
                  <a:srgbClr val="0B4F7A"/>
                </a:solidFill>
                <a:latin typeface="Arial"/>
              </a:rPr>
              <a:t>behavioral threshold</a:t>
            </a:r>
            <a:r>
              <a:rPr sz="1600" b="0" i="0">
                <a:solidFill>
                  <a:srgbClr val="1C242C"/>
                </a:solidFill>
                <a:latin typeface="Arial"/>
              </a:rPr>
              <a:t> is defined by an observable response criterion; it is not necessarily the threshold of one sensory cell. The lowest measured responses depend on source modeling and motivation. Strong sensitivity is established, while exact comparisons with isolated-cell membrane voltages require additional physiological measurements.</a:t>
            </a:r>
          </a:p>
        </p:txBody>
      </p:sp>
      <p:pic>
        <p:nvPicPr>
          <p:cNvPr id="4" name="Picture 3" descr="09_kajiura02.png"/>
          <p:cNvPicPr>
            <a:picLocks noChangeAspect="1"/>
          </p:cNvPicPr>
          <p:nvPr/>
        </p:nvPicPr>
        <p:blipFill>
          <a:blip r:embed="rId2"/>
          <a:stretch>
            <a:fillRect/>
          </a:stretch>
        </p:blipFill>
        <p:spPr>
          <a:xfrm>
            <a:off x="7357143" y="1280160"/>
            <a:ext cx="3780366"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Kajiura &amp; Holland (2002), Fig. 8(A–B). Behavioral responses to fields below 0.1 µV/cm.</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Kajiura &amp; Holland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 broad head changes the mechanics of orientation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The </a:t>
            </a:r>
            <a:r>
              <a:rPr sz="1600" b="1" i="0">
                <a:solidFill>
                  <a:srgbClr val="0B4F7A"/>
                </a:solidFill>
                <a:latin typeface="Arial"/>
              </a:rPr>
              <a:t>cephalofoil</a:t>
            </a:r>
            <a:r>
              <a:rPr sz="1600" b="0" i="0">
                <a:solidFill>
                  <a:srgbClr val="1C242C"/>
                </a:solidFill>
                <a:latin typeface="Arial"/>
              </a:rPr>
              <a:t> is the laterally expanded head of a hammerhead shark. Video sequences recorded the position of the head while a scalloped hammerhead turned toward the active dipole. The head edge nearest the source could remain nearly stationary as the trunk pivoted around it.</a:t>
            </a:r>
          </a:p>
          <a:p>
            <a:pPr algn="l">
              <a:lnSpc>
                <a:spcPct val="108000"/>
              </a:lnSpc>
              <a:spcAft>
                <a:spcPts val="960"/>
              </a:spcAft>
            </a:pPr>
            <a:r>
              <a:rPr sz="1600" b="0" i="0">
                <a:solidFill>
                  <a:srgbClr val="1C242C"/>
                </a:solidFill>
                <a:latin typeface="Arial"/>
              </a:rPr>
              <a:t>Sandbar sharks generally followed broader arcs. Because the maximum orientation distances were similar, the different trajectories could not be attributed simply to earlier detection by hammerheads. Head shape and trunk flexibility changed how a detected electrical target was brought toward the mouth.</a:t>
            </a:r>
          </a:p>
          <a:p>
            <a:pPr algn="l">
              <a:lnSpc>
                <a:spcPct val="108000"/>
              </a:lnSpc>
              <a:spcAft>
                <a:spcPts val="960"/>
              </a:spcAft>
            </a:pPr>
            <a:r>
              <a:rPr sz="1600" b="0" i="0">
                <a:solidFill>
                  <a:srgbClr val="1C242C"/>
                </a:solidFill>
                <a:latin typeface="Arial"/>
              </a:rPr>
              <a:t>The cephalofoil also samples a wider lateral search area, potentially increasing encounters with sources beneath the animal. Improved search coverage and turning mechanics are distinct from greater receptor sensitivity. The proposed hydrodynamic explanation fits the observed trajectories but was not tested by directly manipulating head shape.</a:t>
            </a:r>
          </a:p>
        </p:txBody>
      </p:sp>
      <p:pic>
        <p:nvPicPr>
          <p:cNvPr id="4" name="Picture 3" descr="10_kajiura02.png"/>
          <p:cNvPicPr>
            <a:picLocks noChangeAspect="1"/>
          </p:cNvPicPr>
          <p:nvPr/>
        </p:nvPicPr>
        <p:blipFill>
          <a:blip r:embed="rId2"/>
          <a:stretch>
            <a:fillRect/>
          </a:stretch>
        </p:blipFill>
        <p:spPr>
          <a:xfrm>
            <a:off x="7320699" y="1280160"/>
            <a:ext cx="3853255"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Kajiura &amp; Holland (2002), Fig. 3(A–F). A hammerhead pivots toward an electric dipole.</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Kajiura &amp; Holland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Body flexibility contributes to electrical prey capture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Kajiura and Holland quantified maximum trunk flexure during feeding turns. The mean measured angle was 85.9° in scalloped hammerheads and 113.3° in sandbars; the smaller angle represented a tighter bend. Body configuration was measured from video rather than inferred from the detection threshold.</a:t>
            </a:r>
          </a:p>
          <a:p>
            <a:pPr algn="l">
              <a:lnSpc>
                <a:spcPct val="108000"/>
              </a:lnSpc>
              <a:spcAft>
                <a:spcPts val="960"/>
              </a:spcAft>
            </a:pPr>
            <a:r>
              <a:rPr sz="1600" b="0" i="0">
                <a:solidFill>
                  <a:srgbClr val="1C242C"/>
                </a:solidFill>
                <a:latin typeface="Arial"/>
              </a:rPr>
              <a:t>The greater flexure of hammerheads was consistent with their rapid pivot orientations. Sandbars had broader trunks and typically used wider turning paths. The shared electrode apparatus distinguished these motor differences from differences in artificial-source spacing, current, or target availability.</a:t>
            </a:r>
          </a:p>
          <a:p>
            <a:pPr algn="l">
              <a:lnSpc>
                <a:spcPct val="108000"/>
              </a:lnSpc>
              <a:spcAft>
                <a:spcPts val="960"/>
              </a:spcAft>
            </a:pPr>
            <a:r>
              <a:rPr sz="1600" b="0" i="0">
                <a:solidFill>
                  <a:srgbClr val="1C242C"/>
                </a:solidFill>
                <a:latin typeface="Arial"/>
              </a:rPr>
              <a:t>Electroreception contributes to prey capture through a sensory-to-motor transformation, not merely by triggering a generic response. This study directly measured posture and trajectory, while the mechanical contribution of particular muscles or hydrodynamic forces remained an interpretation. Equal detection range can coexist with different interception performance.</a:t>
            </a:r>
          </a:p>
        </p:txBody>
      </p:sp>
      <p:pic>
        <p:nvPicPr>
          <p:cNvPr id="4" name="Picture 3" descr="11_kajiura02.png"/>
          <p:cNvPicPr>
            <a:picLocks noChangeAspect="1"/>
          </p:cNvPicPr>
          <p:nvPr/>
        </p:nvPicPr>
        <p:blipFill>
          <a:blip r:embed="rId2"/>
          <a:stretch>
            <a:fillRect/>
          </a:stretch>
        </p:blipFill>
        <p:spPr>
          <a:xfrm>
            <a:off x="6869887" y="1280160"/>
            <a:ext cx="4754880" cy="3303390"/>
          </a:xfrm>
          <a:prstGeom prst="rect">
            <a:avLst/>
          </a:prstGeom>
        </p:spPr>
      </p:pic>
      <p:sp>
        <p:nvSpPr>
          <p:cNvPr id="5" name="Figure caption"/>
          <p:cNvSpPr txBox="1"/>
          <p:nvPr/>
        </p:nvSpPr>
        <p:spPr>
          <a:xfrm>
            <a:off x="6869887" y="467499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Kajiura &amp; Holland (2002), Fig. 10. Body flexure differs between shark species.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Kajiura &amp; Holland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Skin pores connect to internal ampullary epithelia</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The </a:t>
            </a:r>
            <a:r>
              <a:rPr sz="1500" b="1" i="0">
                <a:solidFill>
                  <a:srgbClr val="0B4F7A"/>
                </a:solidFill>
                <a:latin typeface="Arial"/>
              </a:rPr>
              <a:t>ampullae of Lorenzini</a:t>
            </a:r>
            <a:r>
              <a:rPr sz="1500" b="0" i="0">
                <a:solidFill>
                  <a:srgbClr val="1C242C"/>
                </a:solidFill>
                <a:latin typeface="Arial"/>
              </a:rPr>
              <a:t> are sensory organs in which skin pores connect through jelly-filled canals to an internal receptor epithelium. Bellono and colleagues examined the little skate, </a:t>
            </a:r>
            <a:r>
              <a:rPr sz="1500" b="0" i="1">
                <a:solidFill>
                  <a:srgbClr val="1C242C"/>
                </a:solidFill>
                <a:latin typeface="Arial"/>
              </a:rPr>
              <a:t>Leucoraja erinacea</a:t>
            </a:r>
            <a:r>
              <a:rPr sz="1500" b="0" i="0">
                <a:solidFill>
                  <a:srgbClr val="1C242C"/>
                </a:solidFill>
                <a:latin typeface="Arial"/>
              </a:rPr>
              <a:t>, using canal staining, organ dissection, and recordings from individual electrosensory cells.</a:t>
            </a:r>
          </a:p>
          <a:p>
            <a:pPr algn="l">
              <a:lnSpc>
                <a:spcPct val="108000"/>
              </a:lnSpc>
              <a:spcAft>
                <a:spcPts val="900"/>
              </a:spcAft>
            </a:pPr>
            <a:r>
              <a:rPr sz="1500" b="0" i="0">
                <a:solidFill>
                  <a:srgbClr val="1C242C"/>
                </a:solidFill>
                <a:latin typeface="Arial"/>
              </a:rPr>
              <a:t>Alcian Blue revealed the ventral canal network. Isolated ampullae retained short canal segments and attached afferent nerves, which carry sensory signals toward the brain; the published organ image has a 400-µm scale bar. Dissociated receptor cells were accessible to patch-clamp electrodes, with a 5-µm scale bar in the cellular preparation.</a:t>
            </a:r>
          </a:p>
          <a:p>
            <a:pPr algn="l">
              <a:lnSpc>
                <a:spcPct val="108000"/>
              </a:lnSpc>
              <a:spcAft>
                <a:spcPts val="900"/>
              </a:spcAft>
            </a:pPr>
            <a:r>
              <a:rPr sz="1500" b="0" i="0">
                <a:solidFill>
                  <a:srgbClr val="1C242C"/>
                </a:solidFill>
                <a:latin typeface="Arial"/>
              </a:rPr>
              <a:t>The pore samples external voltage. Receptor cells convert it into activity and </a:t>
            </a:r>
            <a:r>
              <a:rPr sz="1500" b="1" i="0">
                <a:solidFill>
                  <a:srgbClr val="0B4F7A"/>
                </a:solidFill>
                <a:latin typeface="Arial"/>
              </a:rPr>
              <a:t>synaptic output</a:t>
            </a:r>
            <a:r>
              <a:rPr sz="1500" b="0" i="0">
                <a:solidFill>
                  <a:srgbClr val="1C242C"/>
                </a:solidFill>
                <a:latin typeface="Arial"/>
              </a:rPr>
              <a:t>, transmission to sensory nerves through released chemicals called </a:t>
            </a:r>
            <a:r>
              <a:rPr sz="1500" b="1" i="0">
                <a:solidFill>
                  <a:srgbClr val="0B4F7A"/>
                </a:solidFill>
                <a:latin typeface="Arial"/>
              </a:rPr>
              <a:t>neurotransmitters</a:t>
            </a:r>
            <a:r>
              <a:rPr sz="1500" b="0" i="0">
                <a:solidFill>
                  <a:srgbClr val="1C242C"/>
                </a:solidFill>
                <a:latin typeface="Arial"/>
              </a:rPr>
              <a:t>. Canal anatomy explains access to an environmental signal but does not by itself identify the channel that amplifies it. Dissection allows mechanistic control while removing the intact animal’s spatial sampling.</a:t>
            </a:r>
          </a:p>
        </p:txBody>
      </p:sp>
      <p:pic>
        <p:nvPicPr>
          <p:cNvPr id="4" name="Picture 3" descr="12_bellono17.png"/>
          <p:cNvPicPr>
            <a:picLocks noChangeAspect="1"/>
          </p:cNvPicPr>
          <p:nvPr/>
        </p:nvPicPr>
        <p:blipFill>
          <a:blip r:embed="rId2"/>
          <a:stretch>
            <a:fillRect/>
          </a:stretch>
        </p:blipFill>
        <p:spPr>
          <a:xfrm>
            <a:off x="6869887" y="1280160"/>
            <a:ext cx="4754880" cy="1931856"/>
          </a:xfrm>
          <a:prstGeom prst="rect">
            <a:avLst/>
          </a:prstGeom>
        </p:spPr>
      </p:pic>
      <p:sp>
        <p:nvSpPr>
          <p:cNvPr id="5" name="Figure caption"/>
          <p:cNvSpPr txBox="1"/>
          <p:nvPr/>
        </p:nvSpPr>
        <p:spPr>
          <a:xfrm>
            <a:off x="6869887" y="330345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1(a–d). Skate, canal network, isolated ampullae and receptor cell.</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Ampullary jelly can conduct protons in vitro</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Josberger and colleagues extracted ampullary jelly from sharks and skates and measured its electrical properties with controlled electrodes and humidity. A </a:t>
            </a:r>
            <a:r>
              <a:rPr sz="1500" b="1" i="0">
                <a:solidFill>
                  <a:srgbClr val="0B4F7A"/>
                </a:solidFill>
                <a:latin typeface="Arial"/>
              </a:rPr>
              <a:t>proton</a:t>
            </a:r>
            <a:r>
              <a:rPr sz="1500" b="0" i="0">
                <a:solidFill>
                  <a:srgbClr val="1C242C"/>
                </a:solidFill>
                <a:latin typeface="Arial"/>
              </a:rPr>
              <a:t> is a hydrogen ion, H⁺. Palladium-hydride contacts injected protons, whereas palladium contacts restricted their transfer into the sample.</a:t>
            </a:r>
          </a:p>
          <a:p>
            <a:pPr algn="l">
              <a:lnSpc>
                <a:spcPct val="108000"/>
              </a:lnSpc>
              <a:spcAft>
                <a:spcPts val="900"/>
              </a:spcAft>
            </a:pPr>
            <a:r>
              <a:rPr sz="1500" b="0" i="0">
                <a:solidFill>
                  <a:srgbClr val="1C242C"/>
                </a:solidFill>
                <a:latin typeface="Arial"/>
              </a:rPr>
              <a:t>At 75% relative humidity, a 1-V stimulus produced a proton-associated current peak near 250 nA, compared with approximately 10 nA for the ionic transient. Four-terminal measurements gave room-temperature proton conductivity near 2 mS/cm. Electrode comparisons separated charge-carrier behavior from a single undifferentiated current.</a:t>
            </a:r>
          </a:p>
          <a:p>
            <a:pPr algn="l">
              <a:lnSpc>
                <a:spcPct val="108000"/>
              </a:lnSpc>
              <a:spcAft>
                <a:spcPts val="900"/>
              </a:spcAft>
            </a:pPr>
            <a:r>
              <a:rPr sz="1500" b="0" i="0">
                <a:solidFill>
                  <a:srgbClr val="1C242C"/>
                </a:solidFill>
                <a:latin typeface="Arial"/>
              </a:rPr>
              <a:t>These are measurements of extracted material, not a direct recording of charge carriers traveling through a living canal during prey detection. The authors proposed that proton conduction may contribute to ampullary function. The intact organ’s physiological carrier balance and sensory advantage were not established by the material experiment.</a:t>
            </a:r>
          </a:p>
        </p:txBody>
      </p:sp>
      <p:pic>
        <p:nvPicPr>
          <p:cNvPr id="4" name="Picture 3" descr="13_josberger16.png"/>
          <p:cNvPicPr>
            <a:picLocks noChangeAspect="1"/>
          </p:cNvPicPr>
          <p:nvPr/>
        </p:nvPicPr>
        <p:blipFill>
          <a:blip r:embed="rId2"/>
          <a:stretch>
            <a:fillRect/>
          </a:stretch>
        </p:blipFill>
        <p:spPr>
          <a:xfrm>
            <a:off x="7395461" y="1280160"/>
            <a:ext cx="3703730"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Josberger et al. (2016), Fig. 2(A–F). Electrode controls and proton conductivity measurements.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Josberger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Jelly chemistry supports a conductive hydrogel</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Josberger and colleagues characterized the jelly as a </a:t>
            </a:r>
            <a:r>
              <a:rPr sz="1600" b="1" i="0">
                <a:solidFill>
                  <a:srgbClr val="0B4F7A"/>
                </a:solidFill>
                <a:latin typeface="Arial"/>
              </a:rPr>
              <a:t>hydrogel</a:t>
            </a:r>
            <a:r>
              <a:rPr sz="1600" b="0" i="0">
                <a:solidFill>
                  <a:srgbClr val="1C242C"/>
                </a:solidFill>
                <a:latin typeface="Arial"/>
              </a:rPr>
              <a:t>, a hydrated polymer network. Prepared samples contained approximately 97% water. Drying reduced sample volume by about 80%, making hydration an essential experimental variable rather than a minor handling detail.</a:t>
            </a:r>
          </a:p>
          <a:p>
            <a:pPr algn="l">
              <a:lnSpc>
                <a:spcPct val="108000"/>
              </a:lnSpc>
              <a:spcAft>
                <a:spcPts val="960"/>
              </a:spcAft>
            </a:pPr>
            <a:r>
              <a:rPr sz="1600" b="0" i="0">
                <a:solidFill>
                  <a:srgbClr val="1C242C"/>
                </a:solidFill>
                <a:latin typeface="Arial"/>
              </a:rPr>
              <a:t>Chemical analyses identified sugars and sulfate-containing components consistent with keratan sulfate, a sulfated carbohydrate polymer. The original article combined compositional chromatography with infrared measurements. Sulfate groups could provide proton donors within a hydrated network, offering a possible material basis for measured proton conduction.</a:t>
            </a:r>
          </a:p>
          <a:p>
            <a:pPr algn="l">
              <a:lnSpc>
                <a:spcPct val="108000"/>
              </a:lnSpc>
              <a:spcAft>
                <a:spcPts val="960"/>
              </a:spcAft>
            </a:pPr>
            <a:r>
              <a:rPr sz="1600" b="0" i="0">
                <a:solidFill>
                  <a:srgbClr val="1C242C"/>
                </a:solidFill>
                <a:latin typeface="Arial"/>
              </a:rPr>
              <a:t>Chemical composition and electrical measurement support a conductive matrix, but they do not prove that keratan sulfate alone carries physiological sensory current. Species differences, hydration, electrode interfaces, and the intact canal remain relevant limitations. Material conduction must also be distinguished from membrane ion-channel amplification in receptor cells.</a:t>
            </a:r>
          </a:p>
        </p:txBody>
      </p:sp>
      <p:pic>
        <p:nvPicPr>
          <p:cNvPr id="4" name="Picture 3" descr="14_josberger16.png"/>
          <p:cNvPicPr>
            <a:picLocks noChangeAspect="1"/>
          </p:cNvPicPr>
          <p:nvPr/>
        </p:nvPicPr>
        <p:blipFill>
          <a:blip r:embed="rId2"/>
          <a:stretch>
            <a:fillRect/>
          </a:stretch>
        </p:blipFill>
        <p:spPr>
          <a:xfrm>
            <a:off x="8114430" y="1280160"/>
            <a:ext cx="2265793" cy="4297679"/>
          </a:xfrm>
          <a:prstGeom prst="rect">
            <a:avLst/>
          </a:prstGeom>
        </p:spPr>
      </p:pic>
      <p:sp>
        <p:nvSpPr>
          <p:cNvPr id="5" name="Figure caption"/>
          <p:cNvSpPr txBox="1"/>
          <p:nvPr/>
        </p:nvSpPr>
        <p:spPr>
          <a:xfrm>
            <a:off x="6869887" y="56692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Josberger et al. (2016), Fig. 3(A–C). Chemical analyses of ampullary jelly.</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Josberger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An isolated ampulla separates epithelial and nerve signals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Clusin and Bennett isolated skate ampullae with canals and afferent nerves attached. Separate saline compartments allowed current and voltage measurements across the receptor epithelium. A salt bridge shunted the canal, keeping transampullary voltage close to its resting operating range.</a:t>
            </a:r>
          </a:p>
          <a:p>
            <a:pPr algn="l">
              <a:lnSpc>
                <a:spcPct val="108000"/>
              </a:lnSpc>
              <a:spcAft>
                <a:spcPts val="900"/>
              </a:spcAft>
            </a:pPr>
            <a:r>
              <a:rPr sz="1500" b="0" i="0">
                <a:solidFill>
                  <a:srgbClr val="1C242C"/>
                </a:solidFill>
                <a:latin typeface="Arial"/>
              </a:rPr>
              <a:t>Current delivered between compartments imposed small voltage stimuli without requiring a freely swimming animal. The investigators simultaneously monitored epithelial current and postsynaptic, or receiving-side, nerve responses. Removing or restoring the shunt changed the electrical load, allowing spontaneous activity to be separated from stimulus-induced output.</a:t>
            </a:r>
          </a:p>
          <a:p>
            <a:pPr algn="l">
              <a:lnSpc>
                <a:spcPct val="108000"/>
              </a:lnSpc>
              <a:spcAft>
                <a:spcPts val="900"/>
              </a:spcAft>
            </a:pPr>
            <a:r>
              <a:rPr sz="1500" b="0" i="0">
                <a:solidFill>
                  <a:srgbClr val="1C242C"/>
                </a:solidFill>
                <a:latin typeface="Arial"/>
              </a:rPr>
              <a:t>This preparation links an external electrical perturbation to receptor-organ current and a neural response. It preserves a tissue-level circuit but cannot independently voltage-clamp every receptor cell or distinguish all apical and basal conductances. Later single-cell recordings provide complementary channel-level evidence rather than replacing this organ-level result.</a:t>
            </a:r>
          </a:p>
        </p:txBody>
      </p:sp>
      <p:pic>
        <p:nvPicPr>
          <p:cNvPr id="4" name="Picture 3" descr="15_clusin79a.png"/>
          <p:cNvPicPr>
            <a:picLocks noChangeAspect="1"/>
          </p:cNvPicPr>
          <p:nvPr/>
        </p:nvPicPr>
        <p:blipFill>
          <a:blip r:embed="rId2"/>
          <a:stretch>
            <a:fillRect/>
          </a:stretch>
        </p:blipFill>
        <p:spPr>
          <a:xfrm>
            <a:off x="6869887" y="1280160"/>
            <a:ext cx="4754880" cy="1781415"/>
          </a:xfrm>
          <a:prstGeom prst="rect">
            <a:avLst/>
          </a:prstGeom>
        </p:spPr>
      </p:pic>
      <p:sp>
        <p:nvSpPr>
          <p:cNvPr id="5" name="Figure caption"/>
          <p:cNvSpPr txBox="1"/>
          <p:nvPr/>
        </p:nvSpPr>
        <p:spPr>
          <a:xfrm>
            <a:off x="6869887" y="3153015"/>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Clusin &amp; Bennett (1979), Fig. 1. Isolated ampulla, canal and recording compartments.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Clusin &amp; Bennett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Stimulus polarity changes synaptic drive to afferents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Clusin and Bennett applied small voltage steps to a shunted skate ampulla. A lumen-negative stimulus of 5 µV depolarized the postsynaptic nerve, whereas a lumen-positive stimulus of 10 µV hyperpolarized it. </a:t>
            </a:r>
            <a:r>
              <a:rPr sz="1600" b="1" i="0">
                <a:solidFill>
                  <a:srgbClr val="0B4F7A"/>
                </a:solidFill>
                <a:latin typeface="Arial"/>
              </a:rPr>
              <a:t>Depolarization</a:t>
            </a:r>
            <a:r>
              <a:rPr sz="1600" b="0" i="0">
                <a:solidFill>
                  <a:srgbClr val="1C242C"/>
                </a:solidFill>
                <a:latin typeface="Arial"/>
              </a:rPr>
              <a:t> makes membrane voltage less negative; </a:t>
            </a:r>
            <a:r>
              <a:rPr sz="1600" b="1" i="0">
                <a:solidFill>
                  <a:srgbClr val="0B4F7A"/>
                </a:solidFill>
                <a:latin typeface="Arial"/>
              </a:rPr>
              <a:t>hyperpolarization</a:t>
            </a:r>
            <a:r>
              <a:rPr sz="1600" b="0" i="0">
                <a:solidFill>
                  <a:srgbClr val="1C242C"/>
                </a:solidFill>
                <a:latin typeface="Arial"/>
              </a:rPr>
              <a:t> makes it more negative.</a:t>
            </a:r>
          </a:p>
          <a:p>
            <a:pPr algn="l">
              <a:lnSpc>
                <a:spcPct val="108000"/>
              </a:lnSpc>
              <a:spcAft>
                <a:spcPts val="960"/>
              </a:spcAft>
            </a:pPr>
            <a:r>
              <a:rPr sz="1600" b="0" i="0">
                <a:solidFill>
                  <a:srgbClr val="1C242C"/>
                </a:solidFill>
                <a:latin typeface="Arial"/>
              </a:rPr>
              <a:t>Tetrodotoxin at 0.1 µM abolished postsynaptic action potentials so the underlying synaptic response could be measured. Small stimuli changed nerve potential without a comparably large change in total epithelial current. The same organ therefore transmitted changes much smaller than ordinary cellular membrane-voltage excursions.</a:t>
            </a:r>
          </a:p>
          <a:p>
            <a:pPr algn="l">
              <a:lnSpc>
                <a:spcPct val="108000"/>
              </a:lnSpc>
              <a:spcAft>
                <a:spcPts val="960"/>
              </a:spcAft>
            </a:pPr>
            <a:r>
              <a:rPr sz="1600" b="0" i="0">
                <a:solidFill>
                  <a:srgbClr val="1C242C"/>
                </a:solidFill>
                <a:latin typeface="Arial"/>
              </a:rPr>
              <a:t>Opposite response signs constrain how the receptor converts an environmental voltage into afferent drive. Tetrodotoxin separates sodium-dependent spikes from the preceding synaptic potential; it does not identify the released neurotransmitter or its postsynaptic receptor. Those molecular identities should not be inferred from response polarity alone.</a:t>
            </a:r>
          </a:p>
        </p:txBody>
      </p:sp>
      <p:pic>
        <p:nvPicPr>
          <p:cNvPr id="4" name="Picture 3" descr="16_clusin79a.png"/>
          <p:cNvPicPr>
            <a:picLocks noChangeAspect="1"/>
          </p:cNvPicPr>
          <p:nvPr/>
        </p:nvPicPr>
        <p:blipFill>
          <a:blip r:embed="rId2"/>
          <a:stretch>
            <a:fillRect/>
          </a:stretch>
        </p:blipFill>
        <p:spPr>
          <a:xfrm>
            <a:off x="6869887" y="1280160"/>
            <a:ext cx="4754880" cy="2440705"/>
          </a:xfrm>
          <a:prstGeom prst="rect">
            <a:avLst/>
          </a:prstGeom>
        </p:spPr>
      </p:pic>
      <p:sp>
        <p:nvSpPr>
          <p:cNvPr id="5" name="Figure caption"/>
          <p:cNvSpPr txBox="1"/>
          <p:nvPr/>
        </p:nvSpPr>
        <p:spPr>
          <a:xfrm>
            <a:off x="6869887" y="3812305"/>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Clusin &amp; Bennett (1979), Fig. 3(A–D). Opposite stimulus polarities alter postsynaptic potential.</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Clusin &amp; Bennett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receptor epithelium generates spontaneous oscillations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 </a:t>
            </a:r>
            <a:r>
              <a:rPr sz="1500" b="1" i="0">
                <a:solidFill>
                  <a:srgbClr val="0B4F7A"/>
                </a:solidFill>
                <a:latin typeface="Arial"/>
              </a:rPr>
              <a:t>membrane oscillation</a:t>
            </a:r>
            <a:r>
              <a:rPr sz="1500" b="0" i="0">
                <a:solidFill>
                  <a:srgbClr val="1C242C"/>
                </a:solidFill>
                <a:latin typeface="Arial"/>
              </a:rPr>
              <a:t> is a repeated fluctuation in electrical activity. Clusin and Bennett recorded small spontaneous currents in shunted skate ampullae. Their frequency lay approximately between 1 and 8 Hz under the reported conditions, even without a deliberately applied sensory stimulus.</a:t>
            </a:r>
          </a:p>
          <a:p>
            <a:pPr algn="l">
              <a:lnSpc>
                <a:spcPct val="108000"/>
              </a:lnSpc>
              <a:spcAft>
                <a:spcPts val="900"/>
              </a:spcAft>
            </a:pPr>
            <a:r>
              <a:rPr sz="1500" b="0" i="0">
                <a:solidFill>
                  <a:srgbClr val="1C242C"/>
                </a:solidFill>
                <a:latin typeface="Arial"/>
              </a:rPr>
              <a:t>Lifting the salt bridge interrupted canal current and exposed the organ’s steady receptor current. Comparing the shunted and unshunted conditions separated the small oscillatory component from the larger tonic current. The observations established endogenous epithelial activity rather than motion-induced electrical fluctuations in a swimming animal.</a:t>
            </a:r>
          </a:p>
          <a:p>
            <a:pPr algn="l">
              <a:lnSpc>
                <a:spcPct val="108000"/>
              </a:lnSpc>
              <a:spcAft>
                <a:spcPts val="900"/>
              </a:spcAft>
            </a:pPr>
            <a:r>
              <a:rPr sz="1500" b="0" i="0">
                <a:solidFill>
                  <a:srgbClr val="1C242C"/>
                </a:solidFill>
                <a:latin typeface="Arial"/>
              </a:rPr>
              <a:t>Oscillations provide a time-varying presynaptic state upon which weak signals can act. Their presence does not alone specify which membrane or channel generates them, and intact epithelial measurements combine many cells. Later molecular experiments directly tested calcium and potassium currents that could produce this activity in single receptor cells.</a:t>
            </a:r>
          </a:p>
        </p:txBody>
      </p:sp>
      <p:pic>
        <p:nvPicPr>
          <p:cNvPr id="4" name="Picture 3" descr="17_clusin79a.png"/>
          <p:cNvPicPr>
            <a:picLocks noChangeAspect="1"/>
          </p:cNvPicPr>
          <p:nvPr/>
        </p:nvPicPr>
        <p:blipFill>
          <a:blip r:embed="rId2"/>
          <a:stretch>
            <a:fillRect/>
          </a:stretch>
        </p:blipFill>
        <p:spPr>
          <a:xfrm>
            <a:off x="6869887" y="1280160"/>
            <a:ext cx="4754880" cy="2207622"/>
          </a:xfrm>
          <a:prstGeom prst="rect">
            <a:avLst/>
          </a:prstGeom>
        </p:spPr>
      </p:pic>
      <p:sp>
        <p:nvSpPr>
          <p:cNvPr id="5" name="Figure caption"/>
          <p:cNvSpPr txBox="1"/>
          <p:nvPr/>
        </p:nvSpPr>
        <p:spPr>
          <a:xfrm>
            <a:off x="6869887" y="357922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Clusin &amp; Bennett (1979), Fig. 2(A1–A3, B–E). Spontaneous epithelial currents and oscillations.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Clusin &amp; Bennett (1979)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Afferent spikes encode electric-field phase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A </a:t>
            </a:r>
            <a:r>
              <a:rPr sz="1600" b="1" i="0">
                <a:solidFill>
                  <a:srgbClr val="0B4F7A"/>
                </a:solidFill>
                <a:latin typeface="Arial"/>
              </a:rPr>
              <a:t>primary afferent</a:t>
            </a:r>
            <a:r>
              <a:rPr sz="1600" b="0" i="0">
                <a:solidFill>
                  <a:srgbClr val="1C242C"/>
                </a:solidFill>
                <a:latin typeface="Arial"/>
              </a:rPr>
              <a:t> is a sensory neuron carrying receptor output toward the central nervous system. Tricas and New recorded these neurons in immobilized round stingrays, </a:t>
            </a:r>
            <a:r>
              <a:rPr sz="1600" b="0" i="1">
                <a:solidFill>
                  <a:srgbClr val="1C242C"/>
                </a:solidFill>
                <a:latin typeface="Arial"/>
              </a:rPr>
              <a:t>Urolophus halleri</a:t>
            </a:r>
            <a:r>
              <a:rPr sz="1600" b="0" i="0">
                <a:solidFill>
                  <a:srgbClr val="1C242C"/>
                </a:solidFill>
                <a:latin typeface="Arial"/>
              </a:rPr>
              <a:t>, while uniform electric fields were applied across the body and artificial ventilation maintained respiration.</a:t>
            </a:r>
          </a:p>
          <a:p>
            <a:pPr algn="l">
              <a:lnSpc>
                <a:spcPct val="108000"/>
              </a:lnSpc>
              <a:spcAft>
                <a:spcPts val="960"/>
              </a:spcAft>
            </a:pPr>
            <a:r>
              <a:rPr sz="1600" b="0" i="0">
                <a:solidFill>
                  <a:srgbClr val="1C242C"/>
                </a:solidFill>
                <a:latin typeface="Arial"/>
              </a:rPr>
              <a:t>A 1-Hz sinusoid modulated a regular resting spike train. Increasing peak-to-peak field intensity from 0.05 to 0.26 µV/cm increased firing during one phase and progressively silenced the neuron during the opposite phase. Period histograms aligned spikes to the recurring stimulus cycle.</a:t>
            </a:r>
          </a:p>
          <a:p>
            <a:pPr algn="l">
              <a:lnSpc>
                <a:spcPct val="108000"/>
              </a:lnSpc>
              <a:spcAft>
                <a:spcPts val="960"/>
              </a:spcAft>
            </a:pPr>
            <a:r>
              <a:rPr sz="1600" b="0" i="0">
                <a:solidFill>
                  <a:srgbClr val="1C242C"/>
                </a:solidFill>
                <a:latin typeface="Arial"/>
              </a:rPr>
              <a:t>Phase-dependent increases and decreases carry directional electrical information relative to spontaneous activity. At stronger stimulation, pauses can become complete even while firing during the excitatory phase remains high. Afferent output is therefore a temporally structured spike train, not simply a binary indication that an electric source exists.</a:t>
            </a:r>
          </a:p>
        </p:txBody>
      </p:sp>
      <p:pic>
        <p:nvPicPr>
          <p:cNvPr id="4" name="Picture 3" descr="18_tricas98.png"/>
          <p:cNvPicPr>
            <a:picLocks noChangeAspect="1"/>
          </p:cNvPicPr>
          <p:nvPr/>
        </p:nvPicPr>
        <p:blipFill>
          <a:blip r:embed="rId2"/>
          <a:stretch>
            <a:fillRect/>
          </a:stretch>
        </p:blipFill>
        <p:spPr>
          <a:xfrm>
            <a:off x="8061459" y="1280160"/>
            <a:ext cx="2371736"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Tricas &amp; New (1998), Fig. 2(A–C). Resting firing and phase-dependent afferent modulation.</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Tricas &amp; New (1998);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Near-threshold afferents have different response gains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Gain</a:t>
            </a:r>
            <a:r>
              <a:rPr sz="1600" b="0" i="0">
                <a:solidFill>
                  <a:srgbClr val="1C242C"/>
                </a:solidFill>
                <a:latin typeface="Arial"/>
              </a:rPr>
              <a:t> describes how strongly a neural response changes for a change in stimulus intensity. Tricas and New measured peak firing and resting firing while increasing a 1-Hz electric field. Different afferents had markedly different rate–intensity relationships under the same general preparation.</a:t>
            </a:r>
          </a:p>
          <a:p>
            <a:pPr algn="l">
              <a:lnSpc>
                <a:spcPct val="108000"/>
              </a:lnSpc>
              <a:spcAft>
                <a:spcPts val="960"/>
              </a:spcAft>
            </a:pPr>
            <a:r>
              <a:rPr sz="1600" b="0" i="0">
                <a:solidFill>
                  <a:srgbClr val="1C242C"/>
                </a:solidFill>
                <a:latin typeface="Arial"/>
              </a:rPr>
              <a:t>A high-gain example reached strong modulation near 0.5 µV/cm, while lower-gain units required larger gradients. The most sensitive afferents encoded peak gradients of approximately 20 nV/cm or less. Measuring the field rather than source current allowed neural sensitivity to be related to the local applied stimulus.</a:t>
            </a:r>
          </a:p>
          <a:p>
            <a:pPr algn="l">
              <a:lnSpc>
                <a:spcPct val="108000"/>
              </a:lnSpc>
              <a:spcAft>
                <a:spcPts val="960"/>
              </a:spcAft>
            </a:pPr>
            <a:r>
              <a:rPr sz="1600" b="0" i="0">
                <a:solidFill>
                  <a:srgbClr val="1C242C"/>
                </a:solidFill>
                <a:latin typeface="Arial"/>
              </a:rPr>
              <a:t>Higher sensitivity at weak fields does not imply unlimited encoding of stronger inputs. An afferent can reach a saturated response before another neuron becomes strongly modulated. Population diversity could therefore support detection and intensity representation over different ranges, although the study did not directly test the downstream population decoder.</a:t>
            </a:r>
          </a:p>
        </p:txBody>
      </p:sp>
      <p:pic>
        <p:nvPicPr>
          <p:cNvPr id="4" name="Picture 3" descr="19_tricas98.png"/>
          <p:cNvPicPr>
            <a:picLocks noChangeAspect="1"/>
          </p:cNvPicPr>
          <p:nvPr/>
        </p:nvPicPr>
        <p:blipFill>
          <a:blip r:embed="rId2"/>
          <a:stretch>
            <a:fillRect/>
          </a:stretch>
        </p:blipFill>
        <p:spPr>
          <a:xfrm>
            <a:off x="7873194" y="1280160"/>
            <a:ext cx="2748266"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Tricas &amp; New (1998), Fig. 5. Rate–intensity curves span distinct afferent gains.</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Tricas &amp; New (1998);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Saturation limits rate-based intensity encoding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Tricas and New calculated local slopes of each rate–intensity curve across successive stimulus intervals. The most sensitive example maintained a steep response only over the weakest range, then lost incremental gain as field intensity increased. Lower-gain afferents declined over different operating ranges.</a:t>
            </a:r>
          </a:p>
          <a:p>
            <a:pPr algn="l">
              <a:lnSpc>
                <a:spcPct val="108000"/>
              </a:lnSpc>
              <a:spcAft>
                <a:spcPts val="960"/>
              </a:spcAft>
            </a:pPr>
            <a:r>
              <a:rPr sz="1600" b="0" i="0">
                <a:solidFill>
                  <a:srgbClr val="1C242C"/>
                </a:solidFill>
                <a:latin typeface="Arial"/>
              </a:rPr>
              <a:t>For many units, peak-rate intensity encoding was lost below 1 µV/cm when peak firing roughly doubled resting discharge. Inhibitory phases were also clipped at zero spikes. A physical increase in the electric field therefore did not guarantee a proportional increase in the neuron’s available rate modulation.</a:t>
            </a:r>
          </a:p>
          <a:p>
            <a:pPr algn="l">
              <a:lnSpc>
                <a:spcPct val="108000"/>
              </a:lnSpc>
              <a:spcAft>
                <a:spcPts val="960"/>
              </a:spcAft>
            </a:pPr>
            <a:r>
              <a:rPr sz="1600" b="1" i="0">
                <a:solidFill>
                  <a:srgbClr val="0B4F7A"/>
                </a:solidFill>
                <a:latin typeface="Arial"/>
              </a:rPr>
              <a:t>Saturation</a:t>
            </a:r>
            <a:r>
              <a:rPr sz="1600" b="0" i="0">
                <a:solidFill>
                  <a:srgbClr val="1C242C"/>
                </a:solidFill>
                <a:latin typeface="Arial"/>
              </a:rPr>
              <a:t> means that a response approaches a limit despite continued stimulus increase. It constrains what one afferent can report about source strength, but need not abolish all temporal information or population information. The study measured single-unit encoding; it did not establish the limits of behavioral intensity discrimination.</a:t>
            </a:r>
          </a:p>
        </p:txBody>
      </p:sp>
      <p:pic>
        <p:nvPicPr>
          <p:cNvPr id="4" name="Picture 3" descr="20_tricas98.png"/>
          <p:cNvPicPr>
            <a:picLocks noChangeAspect="1"/>
          </p:cNvPicPr>
          <p:nvPr/>
        </p:nvPicPr>
        <p:blipFill>
          <a:blip r:embed="rId2"/>
          <a:stretch>
            <a:fillRect/>
          </a:stretch>
        </p:blipFill>
        <p:spPr>
          <a:xfrm>
            <a:off x="7536921" y="1280160"/>
            <a:ext cx="3420812"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Tricas &amp; New (1998), Fig. 6. Incremental sensitivity falls as stimulus strength increases.</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Tricas &amp; New (1998);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Frequency and intensity interact in afferent responses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Tricas and New varied both sinusoidal frequency and field intensity for individual round-stingray afferents. A </a:t>
            </a:r>
            <a:r>
              <a:rPr sz="1600" b="1" i="0">
                <a:solidFill>
                  <a:srgbClr val="0B4F7A"/>
                </a:solidFill>
                <a:latin typeface="Arial"/>
              </a:rPr>
              <a:t>period histogram</a:t>
            </a:r>
            <a:r>
              <a:rPr sz="1600" b="0" i="0">
                <a:solidFill>
                  <a:srgbClr val="1C242C"/>
                </a:solidFill>
                <a:latin typeface="Arial"/>
              </a:rPr>
              <a:t> groups spikes by their position within one stimulus cycle. It separates changes in temporal locking from a change in overall spontaneous discharge.</a:t>
            </a:r>
          </a:p>
          <a:p>
            <a:pPr algn="l">
              <a:lnSpc>
                <a:spcPct val="108000"/>
              </a:lnSpc>
              <a:spcAft>
                <a:spcPts val="960"/>
              </a:spcAft>
            </a:pPr>
            <a:r>
              <a:rPr sz="1600" b="0" i="0">
                <a:solidFill>
                  <a:srgbClr val="1C242C"/>
                </a:solidFill>
                <a:latin typeface="Arial"/>
              </a:rPr>
              <a:t>The published response matrix includes frequencies from 0.05 to 20 Hz and fields from 0.08 to 0.51 µV/cm. A representative unit was most sensitive near 1 Hz: approximately 0.08 µV/cm produced weak modulation, whereas around 0.4 µV/cm produced full modulation.</a:t>
            </a:r>
          </a:p>
          <a:p>
            <a:pPr algn="l">
              <a:lnSpc>
                <a:spcPct val="108000"/>
              </a:lnSpc>
              <a:spcAft>
                <a:spcPts val="960"/>
              </a:spcAft>
            </a:pPr>
            <a:r>
              <a:rPr sz="1600" b="0" i="0">
                <a:solidFill>
                  <a:srgbClr val="1C242C"/>
                </a:solidFill>
                <a:latin typeface="Arial"/>
              </a:rPr>
              <a:t>Frequency selectivity therefore depends on the response range used to measure it. Strong signals can saturate firing at favorable frequencies and conceal differences that are evident near threshold. These recordings connect receptor output to slow natural electrical fluctuations but do not directly measure behavioral discrimination between prey-generated waveforms.</a:t>
            </a:r>
          </a:p>
        </p:txBody>
      </p:sp>
      <p:pic>
        <p:nvPicPr>
          <p:cNvPr id="4" name="Picture 3" descr="21_tricas98.png"/>
          <p:cNvPicPr>
            <a:picLocks noChangeAspect="1"/>
          </p:cNvPicPr>
          <p:nvPr/>
        </p:nvPicPr>
        <p:blipFill>
          <a:blip r:embed="rId2"/>
          <a:stretch>
            <a:fillRect/>
          </a:stretch>
        </p:blipFill>
        <p:spPr>
          <a:xfrm>
            <a:off x="7158115" y="1280160"/>
            <a:ext cx="4178423"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Tricas &amp; New (1998), Fig. 7. Frequency and amplitude jointly determine afferent discharge.</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Tricas &amp; New (1998);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Sustained fields evoke adapting neural responses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Adaptation</a:t>
            </a:r>
            <a:r>
              <a:rPr sz="1600" b="0" i="0">
                <a:solidFill>
                  <a:srgbClr val="1C242C"/>
                </a:solidFill>
                <a:latin typeface="Arial"/>
              </a:rPr>
              <a:t> is a decline in response during maintained stimulation. Tricas and New applied direct-current field steps lasting 60 s to round-stingray afferents. A representative 2.2-µV/cm step caused a large initial increase in spike rate followed by a return toward the resting rate.</a:t>
            </a:r>
          </a:p>
          <a:p>
            <a:pPr algn="l">
              <a:lnSpc>
                <a:spcPct val="108000"/>
              </a:lnSpc>
              <a:spcAft>
                <a:spcPts val="960"/>
              </a:spcAft>
            </a:pPr>
            <a:r>
              <a:rPr sz="1600" b="0" i="0">
                <a:solidFill>
                  <a:srgbClr val="1C242C"/>
                </a:solidFill>
                <a:latin typeface="Arial"/>
              </a:rPr>
              <a:t>The measured decay had a time constant of approximately 4 s. Repeating steps allowed the response time course to be averaged without relying on a single spike train. The maintained physical input therefore differed from the transient information conveyed by the afferent output.</a:t>
            </a:r>
          </a:p>
          <a:p>
            <a:pPr algn="l">
              <a:lnSpc>
                <a:spcPct val="108000"/>
              </a:lnSpc>
              <a:spcAft>
                <a:spcPts val="960"/>
              </a:spcAft>
            </a:pPr>
            <a:r>
              <a:rPr sz="1600" b="0" i="0">
                <a:solidFill>
                  <a:srgbClr val="1C242C"/>
                </a:solidFill>
                <a:latin typeface="Arial"/>
              </a:rPr>
              <a:t>An adapting system can still detect a spatially stationary prey source because swimming changes the electrical input sampled at the pores. The physiological finding is the step-response decline; applying it to natural movement is an interpretation about stimulus sampling. The experiment did not track receptor signals during an unconstrained hunting trajectory.</a:t>
            </a:r>
          </a:p>
        </p:txBody>
      </p:sp>
      <p:pic>
        <p:nvPicPr>
          <p:cNvPr id="4" name="Picture 3" descr="22_tricas98.png"/>
          <p:cNvPicPr>
            <a:picLocks noChangeAspect="1"/>
          </p:cNvPicPr>
          <p:nvPr/>
        </p:nvPicPr>
        <p:blipFill>
          <a:blip r:embed="rId2"/>
          <a:stretch>
            <a:fillRect/>
          </a:stretch>
        </p:blipFill>
        <p:spPr>
          <a:xfrm>
            <a:off x="7657265" y="1280160"/>
            <a:ext cx="3180122"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Tricas &amp; New (1998), Fig. 9. Response to a sustained field adapts over seconds.</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Tricas &amp; New (1998);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Round-stingray afferents favor slow field changes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Tricas and New measured response gain across sinusoidal electric-field frequencies while keeping stimulation weak enough to limit saturation. Nearly all tested round-stingray afferents had their best sensitivity at approximately 1–2 Hz. Responses fell at frequencies both below and above this range.</a:t>
            </a:r>
          </a:p>
          <a:p>
            <a:pPr algn="l">
              <a:lnSpc>
                <a:spcPct val="108000"/>
              </a:lnSpc>
              <a:spcAft>
                <a:spcPts val="960"/>
              </a:spcAft>
            </a:pPr>
            <a:r>
              <a:rPr sz="1600" b="0" i="0">
                <a:solidFill>
                  <a:srgbClr val="1C242C"/>
                </a:solidFill>
                <a:latin typeface="Arial"/>
              </a:rPr>
              <a:t>The normalized frequency response declined by 3 dB near 0.5 Hz and 4 Hz. Its low-frequency slope was approximately 8 dB per decade, and its high-frequency slope approximately −23 dB per decade. Normalizing each unit to its own maximum separated tuning shape from differences in absolute gain.</a:t>
            </a:r>
          </a:p>
          <a:p>
            <a:pPr algn="l">
              <a:lnSpc>
                <a:spcPct val="108000"/>
              </a:lnSpc>
              <a:spcAft>
                <a:spcPts val="960"/>
              </a:spcAft>
            </a:pPr>
            <a:r>
              <a:rPr sz="1600" b="0" i="0">
                <a:solidFill>
                  <a:srgbClr val="1C242C"/>
                </a:solidFill>
                <a:latin typeface="Arial"/>
              </a:rPr>
              <a:t>This </a:t>
            </a:r>
            <a:r>
              <a:rPr sz="1600" b="1" i="0">
                <a:solidFill>
                  <a:srgbClr val="0B4F7A"/>
                </a:solidFill>
                <a:latin typeface="Arial"/>
              </a:rPr>
              <a:t>band-pass tuning</a:t>
            </a:r>
            <a:r>
              <a:rPr sz="1600" b="0" i="0">
                <a:solidFill>
                  <a:srgbClr val="1C242C"/>
                </a:solidFill>
                <a:latin typeface="Arial"/>
              </a:rPr>
              <a:t> favors changes over a limited frequency range rather than either constant fields or arbitrarily rapid fluctuations. Slow prey and conspecific ventilation can supply relevant inputs. The recordings establish afferent tuning in this species; they do not prove an identical frequency optimum for all sharks, rays, or behaviors.</a:t>
            </a:r>
          </a:p>
        </p:txBody>
      </p:sp>
      <p:pic>
        <p:nvPicPr>
          <p:cNvPr id="4" name="Picture 3" descr="23_tricas98.png"/>
          <p:cNvPicPr>
            <a:picLocks noChangeAspect="1"/>
          </p:cNvPicPr>
          <p:nvPr/>
        </p:nvPicPr>
        <p:blipFill>
          <a:blip r:embed="rId2"/>
          <a:stretch>
            <a:fillRect/>
          </a:stretch>
        </p:blipFill>
        <p:spPr>
          <a:xfrm>
            <a:off x="7811736" y="1280160"/>
            <a:ext cx="2871181"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Tricas &amp; New (1998), Fig. 10. Frequency-dependent gain and phase of primary afferents.</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Tricas &amp; New (1998);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Channel proteins occupy specific receptor compartments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Chen and colleagues used whole-mount confocal microscopy to localize channel proteins in intact little-skate ampullae. </a:t>
            </a:r>
            <a:r>
              <a:rPr sz="1500" b="1" i="0">
                <a:solidFill>
                  <a:srgbClr val="0B4F7A"/>
                </a:solidFill>
                <a:latin typeface="Arial"/>
              </a:rPr>
              <a:t>CaV1.3</a:t>
            </a:r>
            <a:r>
              <a:rPr sz="1500" b="0" i="0">
                <a:solidFill>
                  <a:srgbClr val="1C242C"/>
                </a:solidFill>
                <a:latin typeface="Arial"/>
              </a:rPr>
              <a:t> is a voltage-gated calcium channel; </a:t>
            </a:r>
            <a:r>
              <a:rPr sz="1500" b="1" i="0">
                <a:solidFill>
                  <a:srgbClr val="0B4F7A"/>
                </a:solidFill>
                <a:latin typeface="Arial"/>
              </a:rPr>
              <a:t>BK</a:t>
            </a:r>
            <a:r>
              <a:rPr sz="1500" b="0" i="0">
                <a:solidFill>
                  <a:srgbClr val="1C242C"/>
                </a:solidFill>
                <a:latin typeface="Arial"/>
              </a:rPr>
              <a:t> is a calcium-activated potassium channel. Antibody staining was combined with DAPI, a fluorescent label for nuclear DNA.</a:t>
            </a:r>
          </a:p>
          <a:p>
            <a:pPr algn="l">
              <a:lnSpc>
                <a:spcPct val="108000"/>
              </a:lnSpc>
              <a:spcAft>
                <a:spcPts val="900"/>
              </a:spcAft>
            </a:pPr>
            <a:r>
              <a:rPr sz="1500" b="0" i="0">
                <a:solidFill>
                  <a:srgbClr val="1C242C"/>
                </a:solidFill>
                <a:latin typeface="Arial"/>
              </a:rPr>
              <a:t>CaV1.3 and BK immunoreactivity occurred in receptor plasma membranes, nuclear envelopes, and kinocilia, the ciliary projections facing the lumen. Overlapping signals were measured in the preserved sensory epithelium rather than inferred solely from tissue-wide RNA expression. Blocking-peptide experiments supplied controls for the BK antibody.</a:t>
            </a:r>
          </a:p>
          <a:p>
            <a:pPr algn="l">
              <a:lnSpc>
                <a:spcPct val="108000"/>
              </a:lnSpc>
              <a:spcAft>
                <a:spcPts val="900"/>
              </a:spcAft>
            </a:pPr>
            <a:r>
              <a:rPr sz="1500" b="0" i="0">
                <a:solidFill>
                  <a:srgbClr val="1C242C"/>
                </a:solidFill>
                <a:latin typeface="Arial"/>
              </a:rPr>
              <a:t>Localization establishes candidate cellular sites but does not prove functional current at every stained compartment. The proposed trafficking mechanism includes a nuclear-localization sequence tested through mutations in transfected cells. Kinociliary staining should not be treated as direct evidence that ciliary channels alone explain nanovolt sensitivity or synaptic output.</a:t>
            </a:r>
          </a:p>
        </p:txBody>
      </p:sp>
      <p:pic>
        <p:nvPicPr>
          <p:cNvPr id="4" name="Picture 3" descr="24_chen23.png"/>
          <p:cNvPicPr>
            <a:picLocks noChangeAspect="1"/>
          </p:cNvPicPr>
          <p:nvPr/>
        </p:nvPicPr>
        <p:blipFill>
          <a:blip r:embed="rId2"/>
          <a:stretch>
            <a:fillRect/>
          </a:stretch>
        </p:blipFill>
        <p:spPr>
          <a:xfrm>
            <a:off x="6869887" y="1280160"/>
            <a:ext cx="4754880" cy="4261542"/>
          </a:xfrm>
          <a:prstGeom prst="rect">
            <a:avLst/>
          </a:prstGeom>
        </p:spPr>
      </p:pic>
      <p:sp>
        <p:nvSpPr>
          <p:cNvPr id="5" name="Figure caption"/>
          <p:cNvSpPr txBox="1"/>
          <p:nvPr/>
        </p:nvSpPr>
        <p:spPr>
          <a:xfrm>
            <a:off x="6869887" y="563314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Chen et al. (2023), Fig. 2(A–D). CaV1.3 and BK localization in receptor epithelium.</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Chen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Low-threshold calcium current initiates receptor activity</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patch-clamped dissociated little-skate electrosensory cells. </a:t>
            </a:r>
            <a:r>
              <a:rPr sz="1500" b="1" i="0">
                <a:solidFill>
                  <a:srgbClr val="0B4F7A"/>
                </a:solidFill>
                <a:latin typeface="Arial"/>
              </a:rPr>
              <a:t>Voltage clamp</a:t>
            </a:r>
            <a:r>
              <a:rPr sz="1500" b="0" i="0">
                <a:solidFill>
                  <a:srgbClr val="1C242C"/>
                </a:solidFill>
                <a:latin typeface="Arial"/>
              </a:rPr>
              <a:t> holds membrane voltage at commanded values while measuring current. Intracellular cesium suppressed potassium currents, revealing an inward calcium current activated at unusually negative membrane potentials.</a:t>
            </a:r>
          </a:p>
          <a:p>
            <a:pPr algn="l">
              <a:lnSpc>
                <a:spcPct val="108000"/>
              </a:lnSpc>
              <a:spcAft>
                <a:spcPts val="900"/>
              </a:spcAft>
            </a:pPr>
            <a:r>
              <a:rPr sz="1500" b="0" i="0">
                <a:solidFill>
                  <a:srgbClr val="1C242C"/>
                </a:solidFill>
                <a:latin typeface="Arial"/>
              </a:rPr>
              <a:t>Native calcium conductance reached half-maximal activation near −52 mV. Inactivation reduces channel availability during sustained stimulation. Its slow development left a </a:t>
            </a:r>
            <a:r>
              <a:rPr sz="1500" b="1" i="0">
                <a:solidFill>
                  <a:srgbClr val="0B4F7A"/>
                </a:solidFill>
                <a:latin typeface="Arial"/>
              </a:rPr>
              <a:t>window current</a:t>
            </a:r>
            <a:r>
              <a:rPr sz="1500" b="0" i="0">
                <a:solidFill>
                  <a:srgbClr val="1C242C"/>
                </a:solidFill>
                <a:latin typeface="Arial"/>
              </a:rPr>
              <a:t>, persistent activity where activation and availability overlap, between approximately −70 and −30 mV. The window peaked near −58 mV, close to the receptor’s normal operating voltage.</a:t>
            </a:r>
          </a:p>
          <a:p>
            <a:pPr algn="l">
              <a:lnSpc>
                <a:spcPct val="108000"/>
              </a:lnSpc>
              <a:spcAft>
                <a:spcPts val="900"/>
              </a:spcAft>
            </a:pPr>
            <a:r>
              <a:rPr sz="1500" b="0" i="0">
                <a:solidFill>
                  <a:srgbClr val="1C242C"/>
                </a:solidFill>
                <a:latin typeface="Arial"/>
              </a:rPr>
              <a:t>L-type calcium-channel modulators altered this current, whereas tested sodium-channel and several other calcium-channel antagonists did not. Pharmacology identified a functional channel class; transcript measurements subsequently implicated CaV1.3. Calcium entry can depolarize the receptor and drive release, but these recordings do not equate membrane voltage with environmental field gradient.</a:t>
            </a:r>
          </a:p>
        </p:txBody>
      </p:sp>
      <p:pic>
        <p:nvPicPr>
          <p:cNvPr id="4" name="Picture 3" descr="25_bellono17.png"/>
          <p:cNvPicPr>
            <a:picLocks noChangeAspect="1"/>
          </p:cNvPicPr>
          <p:nvPr/>
        </p:nvPicPr>
        <p:blipFill>
          <a:blip r:embed="rId2"/>
          <a:stretch>
            <a:fillRect/>
          </a:stretch>
        </p:blipFill>
        <p:spPr>
          <a:xfrm>
            <a:off x="6869887" y="1280160"/>
            <a:ext cx="4754880" cy="1809379"/>
          </a:xfrm>
          <a:prstGeom prst="rect">
            <a:avLst/>
          </a:prstGeom>
        </p:spPr>
      </p:pic>
      <p:sp>
        <p:nvSpPr>
          <p:cNvPr id="5" name="Figure caption"/>
          <p:cNvSpPr txBox="1"/>
          <p:nvPr/>
        </p:nvSpPr>
        <p:spPr>
          <a:xfrm>
            <a:off x="6869887" y="3180979"/>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1(e–g). Low-threshold calcium currents and channel pharmacology.</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Calcium entry recruits an outward BK current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replaced the cesium-based recording solution with a potassium-based solution to measure receptor outward currents. </a:t>
            </a:r>
            <a:r>
              <a:rPr sz="1500" b="1" i="0">
                <a:solidFill>
                  <a:srgbClr val="0B4F7A"/>
                </a:solidFill>
                <a:latin typeface="Arial"/>
              </a:rPr>
              <a:t>Calcium-activated potassium channels</a:t>
            </a:r>
            <a:r>
              <a:rPr sz="1500" b="0" i="0">
                <a:solidFill>
                  <a:srgbClr val="1C242C"/>
                </a:solidFill>
                <a:latin typeface="Arial"/>
              </a:rPr>
              <a:t> open more readily when intracellular calcium rises. Potassium efflux counteracts calcium-driven depolarization and can return the membrane toward negative voltages.</a:t>
            </a:r>
          </a:p>
          <a:p>
            <a:pPr algn="l">
              <a:lnSpc>
                <a:spcPct val="108000"/>
              </a:lnSpc>
              <a:spcAft>
                <a:spcPts val="900"/>
              </a:spcAft>
            </a:pPr>
            <a:r>
              <a:rPr sz="1500" b="0" i="0">
                <a:solidFill>
                  <a:srgbClr val="1C242C"/>
                </a:solidFill>
                <a:latin typeface="Arial"/>
              </a:rPr>
              <a:t>The outward current was reduced by tetraethylammonium and selective BK antagonists, including iberiotoxin and charybdotoxin. Calcium-channel inhibition also reduced it, whereas enhancing calcium entry increased potassium current. These linked perturbations support functional coupling between inward calcium current and BK-mediated outward current.</a:t>
            </a:r>
          </a:p>
          <a:p>
            <a:pPr algn="l">
              <a:lnSpc>
                <a:spcPct val="108000"/>
              </a:lnSpc>
              <a:spcAft>
                <a:spcPts val="900"/>
              </a:spcAft>
            </a:pPr>
            <a:r>
              <a:rPr sz="1500" b="0" i="0">
                <a:solidFill>
                  <a:srgbClr val="1C242C"/>
                </a:solidFill>
                <a:latin typeface="Arial"/>
              </a:rPr>
              <a:t>The coupling supplies negative feedback: depolarization opens calcium channels, calcium recruits BK, and potassium current promotes repolarization. Blocker sensitivity does not establish that every potassium channel in the organ is BK or determine a direct physical binding between channel proteins. The evidence concerns the dominant measured receptor-cell current.</a:t>
            </a:r>
          </a:p>
        </p:txBody>
      </p:sp>
      <p:pic>
        <p:nvPicPr>
          <p:cNvPr id="4" name="Picture 3" descr="26_bellono17.png"/>
          <p:cNvPicPr>
            <a:picLocks noChangeAspect="1"/>
          </p:cNvPicPr>
          <p:nvPr/>
        </p:nvPicPr>
        <p:blipFill>
          <a:blip r:embed="rId2"/>
          <a:stretch>
            <a:fillRect/>
          </a:stretch>
        </p:blipFill>
        <p:spPr>
          <a:xfrm>
            <a:off x="6869887" y="1280160"/>
            <a:ext cx="4754880" cy="1647076"/>
          </a:xfrm>
          <a:prstGeom prst="rect">
            <a:avLst/>
          </a:prstGeom>
        </p:spPr>
      </p:pic>
      <p:sp>
        <p:nvSpPr>
          <p:cNvPr id="5" name="Figure caption"/>
          <p:cNvSpPr txBox="1"/>
          <p:nvPr/>
        </p:nvSpPr>
        <p:spPr>
          <a:xfrm>
            <a:off x="6869887" y="301867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1(h–i). Calcium-dependent potassium current and BK blockade.</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Receptor cells strongly enrich CaV1.3 and BK transcripts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Bellono and colleagues sequenced RNA from little-skate ampullary organs and comparison tissues. A </a:t>
            </a:r>
            <a:r>
              <a:rPr sz="1600" b="1" i="0">
                <a:solidFill>
                  <a:srgbClr val="0B4F7A"/>
                </a:solidFill>
                <a:latin typeface="Arial"/>
              </a:rPr>
              <a:t>transcript</a:t>
            </a:r>
            <a:r>
              <a:rPr sz="1600" b="0" i="0">
                <a:solidFill>
                  <a:srgbClr val="1C242C"/>
                </a:solidFill>
                <a:latin typeface="Arial"/>
              </a:rPr>
              <a:t> is an RNA copy of a gene. The gene cacna1d, encoding CaV1.3’s pore-forming subunit, was enriched more than 90-fold relative to other tissues examined.</a:t>
            </a:r>
          </a:p>
          <a:p>
            <a:pPr algn="l">
              <a:lnSpc>
                <a:spcPct val="108000"/>
              </a:lnSpc>
              <a:spcAft>
                <a:spcPts val="960"/>
              </a:spcAft>
            </a:pPr>
            <a:r>
              <a:rPr sz="1600" b="0" i="0">
                <a:solidFill>
                  <a:srgbClr val="1C242C"/>
                </a:solidFill>
                <a:latin typeface="Arial"/>
              </a:rPr>
              <a:t>The BK pore-forming gene kcnma1 was expressed more than 35-fold above other calcium-activated potassium-channel genes in ampullae. In situ hybridization localized CaV1.3 and BK transcripts together in electrosensory cells, with little detectable signal in supporting cells or canal structures.</a:t>
            </a:r>
          </a:p>
          <a:p>
            <a:pPr algn="l">
              <a:lnSpc>
                <a:spcPct val="108000"/>
              </a:lnSpc>
              <a:spcAft>
                <a:spcPts val="960"/>
              </a:spcAft>
            </a:pPr>
            <a:r>
              <a:rPr sz="1600" b="0" i="0">
                <a:solidFill>
                  <a:srgbClr val="1C242C"/>
                </a:solidFill>
                <a:latin typeface="Arial"/>
              </a:rPr>
              <a:t>Expression specificity links the pharmacologically identified currents to molecular candidates in the appropriate cells. RNA abundance alone neither measures membrane-channel number nor proves channel function. Agreement among current recordings, blocker responses, expression, and cellular localization strengthens the assignment while leaving minor conductances or additional regulatory proteins possible.</a:t>
            </a:r>
          </a:p>
        </p:txBody>
      </p:sp>
      <p:pic>
        <p:nvPicPr>
          <p:cNvPr id="4" name="Picture 3" descr="27_bellono17.png"/>
          <p:cNvPicPr>
            <a:picLocks noChangeAspect="1"/>
          </p:cNvPicPr>
          <p:nvPr/>
        </p:nvPicPr>
        <p:blipFill>
          <a:blip r:embed="rId2"/>
          <a:stretch>
            <a:fillRect/>
          </a:stretch>
        </p:blipFill>
        <p:spPr>
          <a:xfrm>
            <a:off x="6869887" y="1280160"/>
            <a:ext cx="4754880" cy="1881513"/>
          </a:xfrm>
          <a:prstGeom prst="rect">
            <a:avLst/>
          </a:prstGeom>
        </p:spPr>
      </p:pic>
      <p:sp>
        <p:nvSpPr>
          <p:cNvPr id="5" name="Figure caption"/>
          <p:cNvSpPr txBox="1"/>
          <p:nvPr/>
        </p:nvSpPr>
        <p:spPr>
          <a:xfrm>
            <a:off x="6869887" y="3253113"/>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1(j–k). Channel transcript enrichment and cellular colocalization.</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Skate CaV1.3 opens at more negative voltages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Bellono and colleagues expressed cloned skate and rat CaV1.3 channels in HEK293 cells, a mammalian cell line used for controlled channel measurements. Matched recording conditions tested whether low-threshold activation was intrinsic to the skate channel rather than unique to the intact receptor environment.</a:t>
            </a:r>
          </a:p>
          <a:p>
            <a:pPr algn="l">
              <a:lnSpc>
                <a:spcPct val="108000"/>
              </a:lnSpc>
              <a:spcAft>
                <a:spcPts val="960"/>
              </a:spcAft>
            </a:pPr>
            <a:r>
              <a:rPr sz="1600" b="0" i="0">
                <a:solidFill>
                  <a:srgbClr val="1C242C"/>
                </a:solidFill>
                <a:latin typeface="Arial"/>
              </a:rPr>
              <a:t>Half-maximal activation was approximately −42.7 mV for skate CaV1.3 and −18.2 mV for the rat long isoform. Their inactivation relations were similar, so the negative shift in activation enlarged the skate channel’s window-current range. Current traces and normalized conductance curves supported the same comparison.</a:t>
            </a:r>
          </a:p>
          <a:p>
            <a:pPr algn="l">
              <a:lnSpc>
                <a:spcPct val="108000"/>
              </a:lnSpc>
              <a:spcAft>
                <a:spcPts val="960"/>
              </a:spcAft>
            </a:pPr>
            <a:r>
              <a:rPr sz="1600" b="0" i="0">
                <a:solidFill>
                  <a:srgbClr val="1C242C"/>
                </a:solidFill>
                <a:latin typeface="Arial"/>
              </a:rPr>
              <a:t>The channel sequence therefore contributes directly to low-voltage opening. The cloned channel’s activation value differs from the native receptor value near −52 mV because experimental context and associated proteins can modify gating. Heterologous expression isolates molecular properties but does not reproduce the entire ampullary epithelium or sensory pathway.</a:t>
            </a:r>
          </a:p>
        </p:txBody>
      </p:sp>
      <p:pic>
        <p:nvPicPr>
          <p:cNvPr id="4" name="Picture 3" descr="28_bellono17.png"/>
          <p:cNvPicPr>
            <a:picLocks noChangeAspect="1"/>
          </p:cNvPicPr>
          <p:nvPr/>
        </p:nvPicPr>
        <p:blipFill>
          <a:blip r:embed="rId2"/>
          <a:stretch>
            <a:fillRect/>
          </a:stretch>
        </p:blipFill>
        <p:spPr>
          <a:xfrm>
            <a:off x="6869887" y="1280160"/>
            <a:ext cx="4754880" cy="1588844"/>
          </a:xfrm>
          <a:prstGeom prst="rect">
            <a:avLst/>
          </a:prstGeom>
        </p:spPr>
      </p:pic>
      <p:sp>
        <p:nvSpPr>
          <p:cNvPr id="5" name="Figure caption"/>
          <p:cNvSpPr txBox="1"/>
          <p:nvPr/>
        </p:nvSpPr>
        <p:spPr>
          <a:xfrm>
            <a:off x="6869887" y="296044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2(a–d). Skate and rat CaV1.3 activation properties.</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Efficient sensor–pore coupling lowers activation voltage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 voltage-gated channel contains voltage-sensitive elements coupled to an ion-conducting pore. </a:t>
            </a:r>
            <a:r>
              <a:rPr sz="1500" b="1" i="0">
                <a:solidFill>
                  <a:srgbClr val="0B4F7A"/>
                </a:solidFill>
                <a:latin typeface="Arial"/>
              </a:rPr>
              <a:t>Gating current</a:t>
            </a:r>
            <a:r>
              <a:rPr sz="1500" b="0" i="0">
                <a:solidFill>
                  <a:srgbClr val="1C242C"/>
                </a:solidFill>
                <a:latin typeface="Arial"/>
              </a:rPr>
              <a:t> records charge movement within these elements rather than ion flow through the open pore. Bellono and colleagues measured both gating charge and ionic conductance in cells expressing skate or rat CaV1.3.</a:t>
            </a:r>
          </a:p>
          <a:p>
            <a:pPr algn="l">
              <a:lnSpc>
                <a:spcPct val="108000"/>
              </a:lnSpc>
              <a:spcAft>
                <a:spcPts val="900"/>
              </a:spcAft>
            </a:pPr>
            <a:r>
              <a:rPr sz="1500" b="0" i="0">
                <a:solidFill>
                  <a:srgbClr val="1C242C"/>
                </a:solidFill>
                <a:latin typeface="Arial"/>
              </a:rPr>
              <a:t>Their voltage-dependent charge movement was broadly similar, yet skate channels achieved substantial conductance with less relative sensor movement. Returning from a depolarizing command to −100 mV also produced larger skate tail currents for comparable gating charge. A tail current reports open channels after the voltage change.</a:t>
            </a:r>
          </a:p>
          <a:p>
            <a:pPr algn="l">
              <a:lnSpc>
                <a:spcPct val="108000"/>
              </a:lnSpc>
              <a:spcAft>
                <a:spcPts val="900"/>
              </a:spcAft>
            </a:pPr>
            <a:r>
              <a:rPr sz="1500" b="0" i="0">
                <a:solidFill>
                  <a:srgbClr val="1C242C"/>
                </a:solidFill>
                <a:latin typeface="Arial"/>
              </a:rPr>
              <a:t>The low threshold therefore reflects enhanced coupling between sensor movement and pore opening, rather than merely a larger number of moving charges. These functional measurements constrain gating mechanisms without resolving the channel’s complete three-dimensional structure. A small domain-specific sensor shift could also escape measurements combining all four channel domains.</a:t>
            </a:r>
          </a:p>
        </p:txBody>
      </p:sp>
      <p:pic>
        <p:nvPicPr>
          <p:cNvPr id="4" name="Picture 3" descr="29_bellono17.png"/>
          <p:cNvPicPr>
            <a:picLocks noChangeAspect="1"/>
          </p:cNvPicPr>
          <p:nvPr/>
        </p:nvPicPr>
        <p:blipFill>
          <a:blip r:embed="rId2"/>
          <a:stretch>
            <a:fillRect/>
          </a:stretch>
        </p:blipFill>
        <p:spPr>
          <a:xfrm>
            <a:off x="6869887" y="1280160"/>
            <a:ext cx="4754880" cy="1701501"/>
          </a:xfrm>
          <a:prstGeom prst="rect">
            <a:avLst/>
          </a:prstGeom>
        </p:spPr>
      </p:pic>
      <p:sp>
        <p:nvSpPr>
          <p:cNvPr id="5" name="Figure caption"/>
          <p:cNvSpPr txBox="1"/>
          <p:nvPr/>
        </p:nvSpPr>
        <p:spPr>
          <a:xfrm>
            <a:off x="6869887" y="307310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2(e–g). Gating charge and pore-opening efficiency.</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 charged CaV1.3 motif is necessary for low threshold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Comparing CaV1.3 sequences identified a skate insertion in an intracellular loop of domain IV. A </a:t>
            </a:r>
            <a:r>
              <a:rPr sz="1600" b="1" i="0">
                <a:solidFill>
                  <a:srgbClr val="0B4F7A"/>
                </a:solidFill>
                <a:latin typeface="Arial"/>
              </a:rPr>
              <a:t>motif</a:t>
            </a:r>
            <a:r>
              <a:rPr sz="1600" b="0" i="0">
                <a:solidFill>
                  <a:srgbClr val="1C242C"/>
                </a:solidFill>
                <a:latin typeface="Arial"/>
              </a:rPr>
              <a:t> is a short sequence with a characteristic structural or functional role. The insertion KKKER adds net positive charge between transmembrane segments S2 and S3.</a:t>
            </a:r>
          </a:p>
          <a:p>
            <a:pPr algn="l">
              <a:lnSpc>
                <a:spcPct val="108000"/>
              </a:lnSpc>
              <a:spcAft>
                <a:spcPts val="960"/>
              </a:spcAft>
            </a:pPr>
            <a:r>
              <a:rPr sz="1600" b="0" i="0">
                <a:solidFill>
                  <a:srgbClr val="1C242C"/>
                </a:solidFill>
                <a:latin typeface="Arial"/>
              </a:rPr>
              <a:t>Bellono and colleagues replaced its charged residues with neutral glutamines, producing QQQQQ. In the matched mutation experiment, half-maximal activation shifted from approximately −37.2 mV in the wild-type skate channel to −26.0 mV in the neutralized channel. Sensor–pore coupling also weakened without a comparable change in total gating-charge behavior.</a:t>
            </a:r>
          </a:p>
          <a:p>
            <a:pPr algn="l">
              <a:lnSpc>
                <a:spcPct val="108000"/>
              </a:lnSpc>
              <a:spcAft>
                <a:spcPts val="960"/>
              </a:spcAft>
            </a:pPr>
            <a:r>
              <a:rPr sz="1600" b="0" i="0">
                <a:solidFill>
                  <a:srgbClr val="1C242C"/>
                </a:solidFill>
                <a:latin typeface="Arial"/>
              </a:rPr>
              <a:t>The controlled substitution establishes a causal contribution of these residues to low-threshold activation. Electrostatic repulsion of the nearby voltage sensor was proposed as an explanation, supported by kinetic tests. The study did not directly image that interaction, and sequence-dependent gating should be distinguished from a solved structural mechanism.</a:t>
            </a:r>
          </a:p>
        </p:txBody>
      </p:sp>
      <p:pic>
        <p:nvPicPr>
          <p:cNvPr id="4" name="Picture 3" descr="30_bellono17.png"/>
          <p:cNvPicPr>
            <a:picLocks noChangeAspect="1"/>
          </p:cNvPicPr>
          <p:nvPr/>
        </p:nvPicPr>
        <p:blipFill>
          <a:blip r:embed="rId2"/>
          <a:stretch>
            <a:fillRect/>
          </a:stretch>
        </p:blipFill>
        <p:spPr>
          <a:xfrm>
            <a:off x="6869887" y="1280160"/>
            <a:ext cx="4754880" cy="2719294"/>
          </a:xfrm>
          <a:prstGeom prst="rect">
            <a:avLst/>
          </a:prstGeom>
        </p:spPr>
      </p:pic>
      <p:sp>
        <p:nvSpPr>
          <p:cNvPr id="5" name="Figure caption"/>
          <p:cNvSpPr txBox="1"/>
          <p:nvPr/>
        </p:nvSpPr>
        <p:spPr>
          <a:xfrm>
            <a:off x="6869887" y="409089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3(a–e). Charge-neutralization tests the skate channel motif.</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skate motif transfers sensitivity to a rat channel</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inserted the charged skate motif into rat CaV1.3 and compared it with an otherwise comparable neutral insertion. This </a:t>
            </a:r>
            <a:r>
              <a:rPr sz="1500" b="1" i="0">
                <a:solidFill>
                  <a:srgbClr val="0B4F7A"/>
                </a:solidFill>
                <a:latin typeface="Arial"/>
              </a:rPr>
              <a:t>gain-of-function</a:t>
            </a:r>
            <a:r>
              <a:rPr sz="1500" b="0" i="0">
                <a:solidFill>
                  <a:srgbClr val="1C242C"/>
                </a:solidFill>
                <a:latin typeface="Arial"/>
              </a:rPr>
              <a:t> experiment asks whether the sequence can confer a property on a channel that normally lacks it, complementing its neutralization in skate.</a:t>
            </a:r>
          </a:p>
          <a:p>
            <a:pPr algn="l">
              <a:lnSpc>
                <a:spcPct val="108000"/>
              </a:lnSpc>
              <a:spcAft>
                <a:spcPts val="900"/>
              </a:spcAft>
            </a:pPr>
            <a:r>
              <a:rPr sz="1500" b="0" i="0">
                <a:solidFill>
                  <a:srgbClr val="1C242C"/>
                </a:solidFill>
                <a:latin typeface="Arial"/>
              </a:rPr>
              <a:t>The charged rat construct activated at more negative potentials than the neutral construct; reported half-activation values were approximately −37.2 and −19.6 mV. Conductance required less relative gating charge, and tail currents increased for comparable charge movement. The transferred motif altered coupling as well as the activation curve.</a:t>
            </a:r>
          </a:p>
          <a:p>
            <a:pPr algn="l">
              <a:lnSpc>
                <a:spcPct val="108000"/>
              </a:lnSpc>
              <a:spcAft>
                <a:spcPts val="900"/>
              </a:spcAft>
            </a:pPr>
            <a:r>
              <a:rPr sz="1500" b="0" i="0">
                <a:solidFill>
                  <a:srgbClr val="1C242C"/>
                </a:solidFill>
                <a:latin typeface="Arial"/>
              </a:rPr>
              <a:t>Necessity and transfer experiments together provide stronger causal evidence than sequence correlation alone. Their measurements concern cloned channels in transfected cells, not a genetically modified hunting skate. The authors’ voltage-sensor priming model remains a mechanistic interpretation requiring structural confirmation despite the established sequence-dependent functional change.</a:t>
            </a:r>
          </a:p>
        </p:txBody>
      </p:sp>
      <p:pic>
        <p:nvPicPr>
          <p:cNvPr id="4" name="Picture 3" descr="31_bellono17.png"/>
          <p:cNvPicPr>
            <a:picLocks noChangeAspect="1"/>
          </p:cNvPicPr>
          <p:nvPr/>
        </p:nvPicPr>
        <p:blipFill>
          <a:blip r:embed="rId2"/>
          <a:stretch>
            <a:fillRect/>
          </a:stretch>
        </p:blipFill>
        <p:spPr>
          <a:xfrm>
            <a:off x="6869887" y="1280160"/>
            <a:ext cx="4754880" cy="1577190"/>
          </a:xfrm>
          <a:prstGeom prst="rect">
            <a:avLst/>
          </a:prstGeom>
        </p:spPr>
      </p:pic>
      <p:sp>
        <p:nvSpPr>
          <p:cNvPr id="5" name="Figure caption"/>
          <p:cNvSpPr txBox="1"/>
          <p:nvPr/>
        </p:nvSpPr>
        <p:spPr>
          <a:xfrm>
            <a:off x="6869887" y="294879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3(f–i). Transfer of the skate motif alters rat channel gating.</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Skate BK passes less current per channel opening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Bellono and colleagues recorded individual BK channels in excised membrane patches from cells expressing skate or mouse subunits. </a:t>
            </a:r>
            <a:r>
              <a:rPr sz="1600" b="1" i="0">
                <a:solidFill>
                  <a:srgbClr val="0B4F7A"/>
                </a:solidFill>
                <a:latin typeface="Arial"/>
              </a:rPr>
              <a:t>Single-channel conductance</a:t>
            </a:r>
            <a:r>
              <a:rPr sz="1600" b="0" i="0">
                <a:solidFill>
                  <a:srgbClr val="1C242C"/>
                </a:solidFill>
                <a:latin typeface="Arial"/>
              </a:rPr>
              <a:t> measures current carried by one open channel for a specified driving force. This separates molecular pore behavior from whole-cell channel abundance.</a:t>
            </a:r>
          </a:p>
          <a:p>
            <a:pPr algn="l">
              <a:lnSpc>
                <a:spcPct val="108000"/>
              </a:lnSpc>
              <a:spcAft>
                <a:spcPts val="960"/>
              </a:spcAft>
            </a:pPr>
            <a:r>
              <a:rPr sz="1600" b="0" i="0">
                <a:solidFill>
                  <a:srgbClr val="1C242C"/>
                </a:solidFill>
                <a:latin typeface="Arial"/>
              </a:rPr>
              <a:t>The skate channel had smaller current amplitudes and shorter openings than mouse BK. At 80 mV, open-time constants were approximately 1.09 ms and 5.06 ms, respectively. Their calcium sensitivity was broadly similar, so the difference was not simply a failure of skate channels to respond to calcium.</a:t>
            </a:r>
          </a:p>
          <a:p>
            <a:pPr algn="l">
              <a:lnSpc>
                <a:spcPct val="108000"/>
              </a:lnSpc>
              <a:spcAft>
                <a:spcPts val="960"/>
              </a:spcAft>
            </a:pPr>
            <a:r>
              <a:rPr sz="1600" b="0" i="0">
                <a:solidFill>
                  <a:srgbClr val="1C242C"/>
                </a:solidFill>
                <a:latin typeface="Arial"/>
              </a:rPr>
              <a:t>Smaller and briefer potassium currents can restrain, rather than immediately terminate, calcium-driven depolarization. This provides a mechanism for tuning receptor oscillations. The functional consequence in native cells requires further perturbation because excised patches lack the receptor’s calcium gradients, accessory proteins, and intact membrane geometry.</a:t>
            </a:r>
          </a:p>
        </p:txBody>
      </p:sp>
      <p:pic>
        <p:nvPicPr>
          <p:cNvPr id="4" name="Picture 3" descr="32_bellono17.png"/>
          <p:cNvPicPr>
            <a:picLocks noChangeAspect="1"/>
          </p:cNvPicPr>
          <p:nvPr/>
        </p:nvPicPr>
        <p:blipFill>
          <a:blip r:embed="rId2"/>
          <a:stretch>
            <a:fillRect/>
          </a:stretch>
        </p:blipFill>
        <p:spPr>
          <a:xfrm>
            <a:off x="7275123" y="1280160"/>
            <a:ext cx="3944407"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4(a–b). Single-channel currents and open-time distributions.</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Reciprocal BK mutations identify pore adaptations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substituted two skate BK residues with their mouse counterparts and performed the reciprocal substitutions in mouse BK. These residues lie near the intracellular pore, where local charge can influence potassium concentration. The comparison tested functional effects rather than sequence similarity alone.</a:t>
            </a:r>
          </a:p>
          <a:p>
            <a:pPr algn="l">
              <a:lnSpc>
                <a:spcPct val="108000"/>
              </a:lnSpc>
              <a:spcAft>
                <a:spcPts val="900"/>
              </a:spcAft>
            </a:pPr>
            <a:r>
              <a:rPr sz="1500" b="0" i="0">
                <a:solidFill>
                  <a:srgbClr val="1C242C"/>
                </a:solidFill>
                <a:latin typeface="Arial"/>
              </a:rPr>
              <a:t>Wild-type skate conductance was approximately 104 pS, versus 263 pS for mouse BK. The double-mutant skate channel reached approximately 287 pS, while the reciprocal mouse construct fell near 97 pS. Open-time behavior also shifted toward the species supplying the substituted residues.</a:t>
            </a:r>
          </a:p>
          <a:p>
            <a:pPr algn="l">
              <a:lnSpc>
                <a:spcPct val="108000"/>
              </a:lnSpc>
              <a:spcAft>
                <a:spcPts val="900"/>
              </a:spcAft>
            </a:pPr>
            <a:r>
              <a:rPr sz="1500" b="0" i="0">
                <a:solidFill>
                  <a:srgbClr val="1C242C"/>
                </a:solidFill>
                <a:latin typeface="Arial"/>
              </a:rPr>
              <a:t>Increasing intracellular potassium to a saturating 3.14 M equalized current amplitudes, supporting an electrostatic contribution to local ion availability rather than an intrinsically impassable skate pore. The very high potassium condition is an experimental probe, not a physiological receptor concentration. Reciprocal mutations establish sequence-dependent function without proving adaptive history directly.</a:t>
            </a:r>
          </a:p>
        </p:txBody>
      </p:sp>
      <p:pic>
        <p:nvPicPr>
          <p:cNvPr id="4" name="Picture 3" descr="33_bellono17.png"/>
          <p:cNvPicPr>
            <a:picLocks noChangeAspect="1"/>
          </p:cNvPicPr>
          <p:nvPr/>
        </p:nvPicPr>
        <p:blipFill>
          <a:blip r:embed="rId2"/>
          <a:stretch>
            <a:fillRect/>
          </a:stretch>
        </p:blipFill>
        <p:spPr>
          <a:xfrm>
            <a:off x="7376103" y="1280160"/>
            <a:ext cx="3742447"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5(a–e). Reciprocal mutations alter BK conductance and kinetics.</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Channel modulation changes oscillations and behavior</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recorded spontaneous voltage oscillations in little-skate receptors and then manipulated channel activity. Nifedipine reduced calcium-dependent activity; BK blockade disrupted oscillations. The BK activator NS11021 reduced oscillation amplitude while increasing frequency, consistent with stronger repolarizing current.</a:t>
            </a:r>
          </a:p>
          <a:p>
            <a:pPr algn="l">
              <a:lnSpc>
                <a:spcPct val="108000"/>
              </a:lnSpc>
              <a:spcAft>
                <a:spcPts val="900"/>
              </a:spcAft>
            </a:pPr>
            <a:r>
              <a:rPr sz="1500" b="0" i="0">
                <a:solidFill>
                  <a:srgbClr val="1C242C"/>
                </a:solidFill>
                <a:latin typeface="Arial"/>
              </a:rPr>
              <a:t>Behaving skates were tested for preference toward a buried dipole during 30-minute trials. Vehicle and a calcium-channel drug ineffective against the measured current preserved target preference, whereas nifedipine and NS11021 reduced time near the active electrode. Subsequent startle tests checked for gross mobility impairment.</a:t>
            </a:r>
          </a:p>
          <a:p>
            <a:pPr algn="l">
              <a:lnSpc>
                <a:spcPct val="108000"/>
              </a:lnSpc>
              <a:spcAft>
                <a:spcPts val="900"/>
              </a:spcAft>
            </a:pPr>
            <a:r>
              <a:rPr sz="1500" b="0" i="0">
                <a:solidFill>
                  <a:srgbClr val="1C242C"/>
                </a:solidFill>
                <a:latin typeface="Arial"/>
              </a:rPr>
              <a:t>The paired physiological and behavioral perturbations connect channel activity to electrosensory performance. Whole-animal drug exposure is not restricted to the ampullae, so it does not prove that every behavioral effect originates exclusively in receptor cells. Startle controls limit a general motor explanation while leaving more specific sensory or systemic effects possible.</a:t>
            </a:r>
          </a:p>
        </p:txBody>
      </p:sp>
      <p:pic>
        <p:nvPicPr>
          <p:cNvPr id="4" name="Picture 3" descr="34_bellono17.png"/>
          <p:cNvPicPr>
            <a:picLocks noChangeAspect="1"/>
          </p:cNvPicPr>
          <p:nvPr/>
        </p:nvPicPr>
        <p:blipFill>
          <a:blip r:embed="rId2"/>
          <a:stretch>
            <a:fillRect/>
          </a:stretch>
        </p:blipFill>
        <p:spPr>
          <a:xfrm>
            <a:off x="7376126" y="1280160"/>
            <a:ext cx="3742400"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6(d–i). Channel modulation alters oscillations and dipole-zone preference.</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Shark receptor potassium current is voltage-gated</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Bellono and colleagues compared chain catshark, </a:t>
            </a:r>
            <a:r>
              <a:rPr sz="1600" b="0" i="1">
                <a:solidFill>
                  <a:srgbClr val="1C242C"/>
                </a:solidFill>
                <a:latin typeface="Arial"/>
              </a:rPr>
              <a:t>Scyliorhinus retifer</a:t>
            </a:r>
            <a:r>
              <a:rPr sz="1600" b="0" i="0">
                <a:solidFill>
                  <a:srgbClr val="1C242C"/>
                </a:solidFill>
                <a:latin typeface="Arial"/>
              </a:rPr>
              <a:t>, receptors with little-skate receptors. Shark outward current activated at more positive voltages than the calcium current. Unlike skate current, it was not reduced by calcium-current blockade or the tested BK antagonist.</a:t>
            </a:r>
          </a:p>
          <a:p>
            <a:pPr algn="l">
              <a:lnSpc>
                <a:spcPct val="108000"/>
              </a:lnSpc>
              <a:spcAft>
                <a:spcPts val="960"/>
              </a:spcAft>
            </a:pPr>
            <a:r>
              <a:rPr sz="1600" b="0" i="0">
                <a:solidFill>
                  <a:srgbClr val="1C242C"/>
                </a:solidFill>
                <a:latin typeface="Arial"/>
              </a:rPr>
              <a:t>The voltage-gated potassium blocker 4-aminopyridine, or 4-AP, inhibited shark outward current. Rapid activation and deactivation, together with weak slow inactivation, supported repetitive responses. Repeated depolarizing commands did not appreciably diminish the measured outward-current amplitude under the tested conditions.</a:t>
            </a:r>
          </a:p>
          <a:p>
            <a:pPr algn="l">
              <a:lnSpc>
                <a:spcPct val="108000"/>
              </a:lnSpc>
              <a:spcAft>
                <a:spcPts val="960"/>
              </a:spcAft>
            </a:pPr>
            <a:r>
              <a:rPr sz="1600" b="0" i="0">
                <a:solidFill>
                  <a:srgbClr val="1C242C"/>
                </a:solidFill>
                <a:latin typeface="Arial"/>
              </a:rPr>
              <a:t>The results identify a different functional potassium mechanism despite both species using low-threshold calcium entry. BK transcripts in shark tissue did not establish a dominant BK current. The conclusion concerns the measured species and preparation; channel contributions may differ with developmental stage, cellular compartment, or physiological state.</a:t>
            </a:r>
          </a:p>
        </p:txBody>
      </p:sp>
      <p:pic>
        <p:nvPicPr>
          <p:cNvPr id="4" name="Picture 3" descr="35_bellono18.png"/>
          <p:cNvPicPr>
            <a:picLocks noChangeAspect="1"/>
          </p:cNvPicPr>
          <p:nvPr/>
        </p:nvPicPr>
        <p:blipFill>
          <a:blip r:embed="rId2"/>
          <a:stretch>
            <a:fillRect/>
          </a:stretch>
        </p:blipFill>
        <p:spPr>
          <a:xfrm>
            <a:off x="6869887" y="1280160"/>
            <a:ext cx="4754880" cy="1852984"/>
          </a:xfrm>
          <a:prstGeom prst="rect">
            <a:avLst/>
          </a:prstGeom>
        </p:spPr>
      </p:pic>
      <p:sp>
        <p:nvSpPr>
          <p:cNvPr id="5" name="Figure caption"/>
          <p:cNvSpPr txBox="1"/>
          <p:nvPr/>
        </p:nvSpPr>
        <p:spPr>
          <a:xfrm>
            <a:off x="6869887" y="3224584"/>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1(b–c). Shark potassium current activation and blocker sensitivity.</a:t>
            </a:r>
          </a:p>
        </p:txBody>
      </p:sp>
      <p:pic>
        <p:nvPicPr>
          <p:cNvPr id="6" name="Picture 5" descr="shark-receptor.png"/>
          <p:cNvPicPr>
            <a:picLocks noChangeAspect="1"/>
          </p:cNvPicPr>
          <p:nvPr/>
        </p:nvPicPr>
        <p:blipFill>
          <a:blip r:embed="rId3"/>
          <a:stretch>
            <a:fillRect/>
          </a:stretch>
        </p:blipFill>
        <p:spPr>
          <a:xfrm>
            <a:off x="8678627" y="4754880"/>
            <a:ext cx="1137398"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1(g). Catshark receptor cells: CaV1.3 and KV1.3 transcripts.</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Catshark electrosensory cells enrich KV1.3</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KV1.3</a:t>
            </a:r>
            <a:r>
              <a:rPr sz="1500" b="0" i="0">
                <a:solidFill>
                  <a:srgbClr val="1C242C"/>
                </a:solidFill>
                <a:latin typeface="Arial"/>
              </a:rPr>
              <a:t> is a voltage-gated potassium channel assembled from pore-forming subunits encoded by a specific gene. Bellono and colleagues found its transcript predominant among voltage-gated potassium channels in chain-catshark ampullary organs. In situ hybridization localized KV1.3 together with CaV1.3 in receptor cells.</a:t>
            </a:r>
          </a:p>
          <a:p>
            <a:pPr algn="l">
              <a:lnSpc>
                <a:spcPct val="108000"/>
              </a:lnSpc>
              <a:spcAft>
                <a:spcPts val="900"/>
              </a:spcAft>
            </a:pPr>
            <a:r>
              <a:rPr sz="1500" b="0" i="0">
                <a:solidFill>
                  <a:srgbClr val="1C242C"/>
                </a:solidFill>
                <a:latin typeface="Arial"/>
              </a:rPr>
              <a:t>Shark KV1.3 expression was not detected in the tested skate ampullae, where BK dominated functional potassium feedback. Catshark receptor currents closed rapidly after repolarization and remained available during repeated stimulation. The expressed shark channel reproduced many native current properties when tested independently.</a:t>
            </a:r>
          </a:p>
          <a:p>
            <a:pPr algn="l">
              <a:lnSpc>
                <a:spcPct val="108000"/>
              </a:lnSpc>
              <a:spcAft>
                <a:spcPts val="900"/>
              </a:spcAft>
            </a:pPr>
            <a:r>
              <a:rPr sz="1500" b="0" i="0">
                <a:solidFill>
                  <a:srgbClr val="1C242C"/>
                </a:solidFill>
                <a:latin typeface="Arial"/>
              </a:rPr>
              <a:t>Agreement among cellular localization, pharmacology, and cloned-channel function supports KV1.3 as the major measured shark potassium conductance. Native currents deactivated faster than cloned currents at some voltages, leaving accessory subunits or other cellular factors relevant. The transcript assignment therefore explains much of the mechanism without implying complete molecular sufficiency.</a:t>
            </a:r>
          </a:p>
        </p:txBody>
      </p:sp>
      <p:pic>
        <p:nvPicPr>
          <p:cNvPr id="4" name="Picture 3" descr="36_bellono18.png"/>
          <p:cNvPicPr>
            <a:picLocks noChangeAspect="1"/>
          </p:cNvPicPr>
          <p:nvPr/>
        </p:nvPicPr>
        <p:blipFill>
          <a:blip r:embed="rId2"/>
          <a:stretch>
            <a:fillRect/>
          </a:stretch>
        </p:blipFill>
        <p:spPr>
          <a:xfrm>
            <a:off x="6869887" y="1280160"/>
            <a:ext cx="4754880" cy="1472026"/>
          </a:xfrm>
          <a:prstGeom prst="rect">
            <a:avLst/>
          </a:prstGeom>
        </p:spPr>
      </p:pic>
      <p:sp>
        <p:nvSpPr>
          <p:cNvPr id="5" name="Figure caption"/>
          <p:cNvSpPr txBox="1"/>
          <p:nvPr/>
        </p:nvSpPr>
        <p:spPr>
          <a:xfrm>
            <a:off x="6869887" y="2843626"/>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1(d–g). Fast deactivation, transcript enrichment and receptor localization.</a:t>
            </a:r>
          </a:p>
        </p:txBody>
      </p:sp>
      <p:pic>
        <p:nvPicPr>
          <p:cNvPr id="6" name="Picture 5" descr="shark-receptor.png"/>
          <p:cNvPicPr>
            <a:picLocks noChangeAspect="1"/>
          </p:cNvPicPr>
          <p:nvPr/>
        </p:nvPicPr>
        <p:blipFill>
          <a:blip r:embed="rId3"/>
          <a:stretch>
            <a:fillRect/>
          </a:stretch>
        </p:blipFill>
        <p:spPr>
          <a:xfrm>
            <a:off x="8678627" y="4754880"/>
            <a:ext cx="1137398"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1(g). Catshark receptor cells: CaV1.3 and KV1.3 transcripts.</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Shark KV1.3 closes rapidly and resists inactivation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expressed shark and human KV1.3 channels under matched recording conditions. Shark half-maximal activation occurred near −5.4 mV, compared with −30.7 mV for human KV1.3. The shark channel therefore supplied outward current only after substantially greater depolarization.</a:t>
            </a:r>
          </a:p>
          <a:p>
            <a:pPr algn="l">
              <a:lnSpc>
                <a:spcPct val="108000"/>
              </a:lnSpc>
              <a:spcAft>
                <a:spcPts val="900"/>
              </a:spcAft>
            </a:pPr>
            <a:r>
              <a:rPr sz="1500" b="0" i="0">
                <a:solidFill>
                  <a:srgbClr val="1C242C"/>
                </a:solidFill>
                <a:latin typeface="Arial"/>
              </a:rPr>
              <a:t>Shark channels returned rapidly to a closed state and showed weak, slow inactivation during prolonged or repeated commands. Human channels progressively lost current during repetitive stimulation. The comparison separated activation threshold, deactivation, and inactivation, three distinct properties that jointly influence sustained receptor activity.</a:t>
            </a:r>
          </a:p>
          <a:p>
            <a:pPr algn="l">
              <a:lnSpc>
                <a:spcPct val="108000"/>
              </a:lnSpc>
              <a:spcAft>
                <a:spcPts val="900"/>
              </a:spcAft>
            </a:pPr>
            <a:r>
              <a:rPr sz="1500" b="0" i="0">
                <a:solidFill>
                  <a:srgbClr val="1C242C"/>
                </a:solidFill>
                <a:latin typeface="Arial"/>
              </a:rPr>
              <a:t>High activation voltage permits strong calcium-driven depolarization before potassium feedback intervenes; rapid closure then releases the membrane for another cycle. Sequence-swapping experiments implicated voltage-sensor regions and the outer pore in different properties. Reduced voltage-sensor relaxation was proposed from kinetic evidence, rather than directly observed as a resolved structural rearrangement.</a:t>
            </a:r>
          </a:p>
        </p:txBody>
      </p:sp>
      <p:pic>
        <p:nvPicPr>
          <p:cNvPr id="4" name="Picture 3" descr="37_bellono18.png"/>
          <p:cNvPicPr>
            <a:picLocks noChangeAspect="1"/>
          </p:cNvPicPr>
          <p:nvPr/>
        </p:nvPicPr>
        <p:blipFill>
          <a:blip r:embed="rId2"/>
          <a:stretch>
            <a:fillRect/>
          </a:stretch>
        </p:blipFill>
        <p:spPr>
          <a:xfrm>
            <a:off x="7099318" y="1280160"/>
            <a:ext cx="4296017"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2(a–e). Shark and human KV1.3 gating under matched stimulation.</a:t>
            </a:r>
          </a:p>
        </p:txBody>
      </p:sp>
      <p:pic>
        <p:nvPicPr>
          <p:cNvPr id="6" name="Picture 5" descr="shark-receptor.png"/>
          <p:cNvPicPr>
            <a:picLocks noChangeAspect="1"/>
          </p:cNvPicPr>
          <p:nvPr/>
        </p:nvPicPr>
        <p:blipFill>
          <a:blip r:embed="rId3"/>
          <a:stretch>
            <a:fillRect/>
          </a:stretch>
        </p:blipFill>
        <p:spPr>
          <a:xfrm>
            <a:off x="8678627" y="4754880"/>
            <a:ext cx="1137398"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1(g). Catshark receptor cells: CaV1.3 and KV1.3 transcripts.</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Shark cells spike while skate cells oscillate</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Current clamp</a:t>
            </a:r>
            <a:r>
              <a:rPr sz="1500" b="0" i="0">
                <a:solidFill>
                  <a:srgbClr val="1C242C"/>
                </a:solidFill>
                <a:latin typeface="Arial"/>
              </a:rPr>
              <a:t> measures membrane voltage while current is injected to change the cell’s operating point. Bellono and colleagues compared shark and skate receptor activity across matched voltage ranges. Average resting voltage was approximately −66 mV in shark cells and −54 mV in skate cells.</a:t>
            </a:r>
          </a:p>
          <a:p>
            <a:pPr algn="l">
              <a:lnSpc>
                <a:spcPct val="108000"/>
              </a:lnSpc>
              <a:spcAft>
                <a:spcPts val="900"/>
              </a:spcAft>
            </a:pPr>
            <a:r>
              <a:rPr sz="1500" b="0" i="0">
                <a:solidFill>
                  <a:srgbClr val="1C242C"/>
                </a:solidFill>
                <a:latin typeface="Arial"/>
              </a:rPr>
              <a:t>Depolarizing shark cells into the calcium-current range triggered large repetitive voltage spikes. Skate cells generated smaller oscillations whose amplitude and frequency varied more strongly with membrane voltage. Nifedipine blocked shark depolarization, and 4-AP prevented or markedly slowed repolarization.</a:t>
            </a:r>
          </a:p>
          <a:p>
            <a:pPr algn="l">
              <a:lnSpc>
                <a:spcPct val="108000"/>
              </a:lnSpc>
              <a:spcAft>
                <a:spcPts val="900"/>
              </a:spcAft>
            </a:pPr>
            <a:r>
              <a:rPr sz="1500" b="0" i="0">
                <a:solidFill>
                  <a:srgbClr val="1C242C"/>
                </a:solidFill>
                <a:latin typeface="Arial"/>
              </a:rPr>
              <a:t>These receptor spikes are calcium-driven membrane events and should not be confused with sodium-dependent action potentials propagated by afferent nerves. The shared calcium mechanism and differing potassium feedback produce distinct cellular dynamics. Isolated-cell activity establishes a physiological difference, while its effect on natural stimulus discrimination requires synaptic and organismal tests.</a:t>
            </a:r>
          </a:p>
        </p:txBody>
      </p:sp>
      <p:pic>
        <p:nvPicPr>
          <p:cNvPr id="4" name="Picture 3" descr="38_bellono18.png"/>
          <p:cNvPicPr>
            <a:picLocks noChangeAspect="1"/>
          </p:cNvPicPr>
          <p:nvPr/>
        </p:nvPicPr>
        <p:blipFill>
          <a:blip r:embed="rId2"/>
          <a:stretch>
            <a:fillRect/>
          </a:stretch>
        </p:blipFill>
        <p:spPr>
          <a:xfrm>
            <a:off x="7906099" y="1280160"/>
            <a:ext cx="2682455" cy="2926080"/>
          </a:xfrm>
          <a:prstGeom prst="rect">
            <a:avLst/>
          </a:prstGeom>
        </p:spPr>
      </p:pic>
      <p:sp>
        <p:nvSpPr>
          <p:cNvPr id="5" name="Figure caption"/>
          <p:cNvSpPr txBox="1"/>
          <p:nvPr/>
        </p:nvSpPr>
        <p:spPr>
          <a:xfrm>
            <a:off x="6869887" y="429768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3(a–c). Shark spikes and skate oscillations under current clamp.</a:t>
            </a:r>
          </a:p>
        </p:txBody>
      </p:sp>
      <p:pic>
        <p:nvPicPr>
          <p:cNvPr id="6" name="Picture 5" descr="shark-receptor.png"/>
          <p:cNvPicPr>
            <a:picLocks noChangeAspect="1"/>
          </p:cNvPicPr>
          <p:nvPr/>
        </p:nvPicPr>
        <p:blipFill>
          <a:blip r:embed="rId3"/>
          <a:stretch>
            <a:fillRect/>
          </a:stretch>
        </p:blipFill>
        <p:spPr>
          <a:xfrm>
            <a:off x="8678627" y="4754880"/>
            <a:ext cx="1137398"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1(g). Catshark receptor cells: CaV1.3 and KV1.3 transcripts.</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Sequential currents support repetitive shark spikes</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imposed voltage commands resembling recorded shark receptor spikes while measuring ionic currents. This protocol tested whether the identified currents could follow the timing of actual membrane activity. Inward calcium current preceded outward potassium current during the repeated commands.</a:t>
            </a:r>
          </a:p>
          <a:p>
            <a:pPr algn="l">
              <a:lnSpc>
                <a:spcPct val="108000"/>
              </a:lnSpc>
              <a:spcAft>
                <a:spcPts val="900"/>
              </a:spcAft>
            </a:pPr>
            <a:r>
              <a:rPr sz="1500" b="0" i="0">
                <a:solidFill>
                  <a:srgbClr val="1C242C"/>
                </a:solidFill>
                <a:latin typeface="Arial"/>
              </a:rPr>
              <a:t>At approximately −65 mV, calcium current was small; depolarization increased it before higher-voltage potassium activation opposed the inward flow. 4-AP removed the outward component and exposed renewed calcium current during the return toward negative voltage. Both conductances remained available across repeated cycles.</a:t>
            </a:r>
          </a:p>
          <a:p>
            <a:pPr algn="l">
              <a:lnSpc>
                <a:spcPct val="108000"/>
              </a:lnSpc>
              <a:spcAft>
                <a:spcPts val="900"/>
              </a:spcAft>
            </a:pPr>
            <a:r>
              <a:rPr sz="1500" b="0" i="0">
                <a:solidFill>
                  <a:srgbClr val="1C242C"/>
                </a:solidFill>
                <a:latin typeface="Arial"/>
              </a:rPr>
              <a:t>The measured sequence supports calcium-driven depolarization followed by KV-mediated repolarization, with rapidly closing potassium channels allowing another depolarizing cycle. The applied waveform was an experimental command reported by the paper, not proof of every process generating a spontaneous spike. Calcium buffering and accessory proteins may also regulate the native response.</a:t>
            </a:r>
          </a:p>
        </p:txBody>
      </p:sp>
      <p:pic>
        <p:nvPicPr>
          <p:cNvPr id="4" name="Picture 3" descr="39_bellono18.png"/>
          <p:cNvPicPr>
            <a:picLocks noChangeAspect="1"/>
          </p:cNvPicPr>
          <p:nvPr/>
        </p:nvPicPr>
        <p:blipFill>
          <a:blip r:embed="rId2"/>
          <a:stretch>
            <a:fillRect/>
          </a:stretch>
        </p:blipFill>
        <p:spPr>
          <a:xfrm>
            <a:off x="6869887" y="1280160"/>
            <a:ext cx="4754880" cy="1456325"/>
          </a:xfrm>
          <a:prstGeom prst="rect">
            <a:avLst/>
          </a:prstGeom>
        </p:spPr>
      </p:pic>
      <p:sp>
        <p:nvSpPr>
          <p:cNvPr id="5" name="Figure caption"/>
          <p:cNvSpPr txBox="1"/>
          <p:nvPr/>
        </p:nvSpPr>
        <p:spPr>
          <a:xfrm>
            <a:off x="6869887" y="2827925"/>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3(d). Calcium and potassium currents during voltage-spike commands.</a:t>
            </a:r>
          </a:p>
        </p:txBody>
      </p:sp>
      <p:pic>
        <p:nvPicPr>
          <p:cNvPr id="6" name="Picture 5" descr="shark-receptor.png"/>
          <p:cNvPicPr>
            <a:picLocks noChangeAspect="1"/>
          </p:cNvPicPr>
          <p:nvPr/>
        </p:nvPicPr>
        <p:blipFill>
          <a:blip r:embed="rId3"/>
          <a:stretch>
            <a:fillRect/>
          </a:stretch>
        </p:blipFill>
        <p:spPr>
          <a:xfrm>
            <a:off x="8678627" y="4754880"/>
            <a:ext cx="1137398"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1(g). Catshark receptor cells: CaV1.3 and KV1.3 transcripts.</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Calcium influx triggers vesicular membrane fusion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measured </a:t>
            </a:r>
            <a:r>
              <a:rPr sz="1500" b="1" i="0">
                <a:solidFill>
                  <a:srgbClr val="0B4F7A"/>
                </a:solidFill>
                <a:latin typeface="Arial"/>
              </a:rPr>
              <a:t>membrane capacitance</a:t>
            </a:r>
            <a:r>
              <a:rPr sz="1500" b="0" i="0">
                <a:solidFill>
                  <a:srgbClr val="1C242C"/>
                </a:solidFill>
                <a:latin typeface="Arial"/>
              </a:rPr>
              <a:t>, the membrane’s ability to store charge, as a readout of synaptic-vesicle fusion. Fusion adds vesicle membrane to the cell surface. A 200-ms pulse to −20 mV elicited calcium current and a capacitance increase in both shark and skate receptors.</a:t>
            </a:r>
          </a:p>
          <a:p>
            <a:pPr algn="l">
              <a:lnSpc>
                <a:spcPct val="108000"/>
              </a:lnSpc>
              <a:spcAft>
                <a:spcPts val="900"/>
              </a:spcAft>
            </a:pPr>
            <a:r>
              <a:rPr sz="1500" b="0" i="0">
                <a:solidFill>
                  <a:srgbClr val="1C242C"/>
                </a:solidFill>
                <a:latin typeface="Arial"/>
              </a:rPr>
              <a:t>Cadmium blocked the inward current and capacitance change, supporting calcium-dependent release. Increasing stimulus duration produced larger release-associated responses, but shark responses approached saturation more rapidly; skate capacitance increased more steadily with duration. Membrane-conductance controls limited recording artifacts that could mimic capacitance changes.</a:t>
            </a:r>
          </a:p>
          <a:p>
            <a:pPr algn="l">
              <a:lnSpc>
                <a:spcPct val="108000"/>
              </a:lnSpc>
              <a:spcAft>
                <a:spcPts val="900"/>
              </a:spcAft>
            </a:pPr>
            <a:r>
              <a:rPr sz="1500" b="0" i="0">
                <a:solidFill>
                  <a:srgbClr val="1C242C"/>
                </a:solidFill>
                <a:latin typeface="Arial"/>
              </a:rPr>
              <a:t>The assay measures membrane addition associated with exocytosis rather than directly counting transmitter molecules or postsynaptic receptor openings. These papers did not determine the transmitter identity or receptor subtype from capacitance alone. Calcium entry and vesicle fusion are established steps; the downstream chemical response requires separate synaptic measurements.</a:t>
            </a:r>
          </a:p>
        </p:txBody>
      </p:sp>
      <p:pic>
        <p:nvPicPr>
          <p:cNvPr id="4" name="Picture 3" descr="40_bellono18.png"/>
          <p:cNvPicPr>
            <a:picLocks noChangeAspect="1"/>
          </p:cNvPicPr>
          <p:nvPr/>
        </p:nvPicPr>
        <p:blipFill>
          <a:blip r:embed="rId2"/>
          <a:stretch>
            <a:fillRect/>
          </a:stretch>
        </p:blipFill>
        <p:spPr>
          <a:xfrm>
            <a:off x="6869887" y="1280160"/>
            <a:ext cx="4754880" cy="2294532"/>
          </a:xfrm>
          <a:prstGeom prst="rect">
            <a:avLst/>
          </a:prstGeom>
        </p:spPr>
      </p:pic>
      <p:sp>
        <p:nvSpPr>
          <p:cNvPr id="5" name="Figure caption"/>
          <p:cNvSpPr txBox="1"/>
          <p:nvPr/>
        </p:nvSpPr>
        <p:spPr>
          <a:xfrm>
            <a:off x="6869887" y="366613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4(a–b). Calcium-dependent capacitance changes during vesicle fusion.</a:t>
            </a:r>
          </a:p>
        </p:txBody>
      </p:sp>
      <p:pic>
        <p:nvPicPr>
          <p:cNvPr id="6" name="Picture 5" descr="receptor-cell.png"/>
          <p:cNvPicPr>
            <a:picLocks noChangeAspect="1"/>
          </p:cNvPicPr>
          <p:nvPr/>
        </p:nvPicPr>
        <p:blipFill>
          <a:blip r:embed="rId3"/>
          <a:stretch>
            <a:fillRect/>
          </a:stretch>
        </p:blipFill>
        <p:spPr>
          <a:xfrm>
            <a:off x="8934787" y="4754880"/>
            <a:ext cx="625080" cy="100583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(2017), Fig. 1(c–d). Isolated ampulla and receptor cell.</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(2018); Bellono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Ribbon synapses organize receptor-to-nerve output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A </a:t>
            </a:r>
            <a:r>
              <a:rPr sz="1500" b="1" i="0">
                <a:solidFill>
                  <a:srgbClr val="0B4F7A"/>
                </a:solidFill>
                <a:latin typeface="Arial"/>
              </a:rPr>
              <a:t>ribbon synapse</a:t>
            </a:r>
            <a:r>
              <a:rPr sz="1500" b="0" i="0">
                <a:solidFill>
                  <a:srgbClr val="1C242C"/>
                </a:solidFill>
                <a:latin typeface="Arial"/>
              </a:rPr>
              <a:t> contains an intracellular structure that tethers vesicles near the release membrane. Bellono and colleagues used electron microscopy to examine shark and skate receptor synapses. Both species contained unusually long ribbons associated with vesicles and postsynaptic afferent endings.</a:t>
            </a:r>
          </a:p>
          <a:p>
            <a:pPr algn="l">
              <a:lnSpc>
                <a:spcPct val="108000"/>
              </a:lnSpc>
              <a:spcAft>
                <a:spcPts val="900"/>
              </a:spcAft>
            </a:pPr>
            <a:r>
              <a:rPr sz="1500" b="0" i="0">
                <a:solidFill>
                  <a:srgbClr val="1C242C"/>
                </a:solidFill>
                <a:latin typeface="Arial"/>
              </a:rPr>
              <a:t>The ribbons had similar shapes and tethered vesicles of comparable size and number. Shark receptors contained a larger readily releasable vesicle pool, whereas skate receptors contained more free cytoplasmic vesicles. The anatomical comparison accompanied measurements of faster release saturation in shark cells and more sustained responses in skate cells.</a:t>
            </a:r>
          </a:p>
          <a:p>
            <a:pPr algn="l">
              <a:lnSpc>
                <a:spcPct val="108000"/>
              </a:lnSpc>
              <a:spcAft>
                <a:spcPts val="900"/>
              </a:spcAft>
            </a:pPr>
            <a:r>
              <a:rPr sz="1500" b="0" i="0">
                <a:solidFill>
                  <a:srgbClr val="1C242C"/>
                </a:solidFill>
                <a:latin typeface="Arial"/>
              </a:rPr>
              <a:t>Pool organization offers a plausible explanation for release dynamics, but morphology alone cannot assign every vesicle’s eventual fate. The proposed refilling role of free vesicles draws on comparison with other ribbon synapses. Electron microscopy establishes synaptic architecture while capacitance and current recordings test its functional output.</a:t>
            </a:r>
          </a:p>
        </p:txBody>
      </p:sp>
      <p:pic>
        <p:nvPicPr>
          <p:cNvPr id="4" name="Picture 3" descr="41_bellono18.png"/>
          <p:cNvPicPr>
            <a:picLocks noChangeAspect="1"/>
          </p:cNvPicPr>
          <p:nvPr/>
        </p:nvPicPr>
        <p:blipFill>
          <a:blip r:embed="rId2"/>
          <a:stretch>
            <a:fillRect/>
          </a:stretch>
        </p:blipFill>
        <p:spPr>
          <a:xfrm>
            <a:off x="6869887" y="1280160"/>
            <a:ext cx="4754880" cy="1788121"/>
          </a:xfrm>
          <a:prstGeom prst="rect">
            <a:avLst/>
          </a:prstGeom>
        </p:spPr>
      </p:pic>
      <p:sp>
        <p:nvSpPr>
          <p:cNvPr id="5" name="Figure caption"/>
          <p:cNvSpPr txBox="1"/>
          <p:nvPr/>
        </p:nvSpPr>
        <p:spPr>
          <a:xfrm>
            <a:off x="6869887" y="315972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4(c–d). Electron microscopy of shark and skate ribbon synapses.</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Cellular tuning parallels species-specific ventilation</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0" i="0">
                <a:solidFill>
                  <a:srgbClr val="1C242C"/>
                </a:solidFill>
                <a:latin typeface="Arial"/>
              </a:rPr>
              <a:t>Bellono and colleagues compared electrically evoked ventilation in chain catsharks and little skates, using equal-strength stimuli across frequencies. </a:t>
            </a:r>
            <a:r>
              <a:rPr sz="1500" b="1" i="0">
                <a:solidFill>
                  <a:srgbClr val="0B4F7A"/>
                </a:solidFill>
                <a:latin typeface="Arial"/>
              </a:rPr>
              <a:t>Ventilation</a:t>
            </a:r>
            <a:r>
              <a:rPr sz="1500" b="0" i="0">
                <a:solidFill>
                  <a:srgbClr val="1C242C"/>
                </a:solidFill>
                <a:latin typeface="Arial"/>
              </a:rPr>
              <a:t> is movement of water over the gills for gas exchange. Food odor supplied a comparison stimulus that verified a measurable response in both species.</a:t>
            </a:r>
          </a:p>
          <a:p>
            <a:pPr algn="l">
              <a:lnSpc>
                <a:spcPct val="108000"/>
              </a:lnSpc>
              <a:spcAft>
                <a:spcPts val="900"/>
              </a:spcAft>
            </a:pPr>
            <a:r>
              <a:rPr sz="1500" b="0" i="0">
                <a:solidFill>
                  <a:srgbClr val="1C242C"/>
                </a:solidFill>
                <a:latin typeface="Arial"/>
              </a:rPr>
              <a:t>Catsharks increased ventilation similarly across the tested electrical frequencies, whereas skates responded most strongly at lower frequencies. Cell measurements separately suggested at least tenfold greater vesicle release for a shark voltage spike than for a skate oscillation, based on calcium–capacitance relationships and vesicle-size estimates.</a:t>
            </a:r>
          </a:p>
          <a:p>
            <a:pPr algn="l">
              <a:lnSpc>
                <a:spcPct val="108000"/>
              </a:lnSpc>
              <a:spcAft>
                <a:spcPts val="900"/>
              </a:spcAft>
            </a:pPr>
            <a:r>
              <a:rPr sz="1500" b="0" i="0">
                <a:solidFill>
                  <a:srgbClr val="1C242C"/>
                </a:solidFill>
                <a:latin typeface="Arial"/>
              </a:rPr>
              <a:t>The physiological and organismal comparisons support broad threshold-like detection in sharks and more selective tuning in skates. The vesicle number is an estimate, and ventilation is not a prey-identification task. A causal explanation linking each channel adaptation to natural communication or predation remains proposed rather than fully established.</a:t>
            </a:r>
          </a:p>
        </p:txBody>
      </p:sp>
      <p:pic>
        <p:nvPicPr>
          <p:cNvPr id="4" name="Picture 3" descr="42_bellono18.png"/>
          <p:cNvPicPr>
            <a:picLocks noChangeAspect="1"/>
          </p:cNvPicPr>
          <p:nvPr/>
        </p:nvPicPr>
        <p:blipFill>
          <a:blip r:embed="rId2"/>
          <a:stretch>
            <a:fillRect/>
          </a:stretch>
        </p:blipFill>
        <p:spPr>
          <a:xfrm>
            <a:off x="6869887" y="1280160"/>
            <a:ext cx="4754880" cy="1698491"/>
          </a:xfrm>
          <a:prstGeom prst="rect">
            <a:avLst/>
          </a:prstGeom>
        </p:spPr>
      </p:pic>
      <p:sp>
        <p:nvSpPr>
          <p:cNvPr id="5" name="Figure caption"/>
          <p:cNvSpPr txBox="1"/>
          <p:nvPr/>
        </p:nvSpPr>
        <p:spPr>
          <a:xfrm>
            <a:off x="6869887" y="3070091"/>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Bellono et al. (2018), Fig. 4(e–g). Calcium–release relationships and frequency-dependent ventilation.</a:t>
            </a:r>
          </a:p>
        </p:txBody>
      </p:sp>
      <p:sp>
        <p:nvSpPr>
          <p:cNvPr id="6" name="Rectangle 5"/>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Bellono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The hindbrain learns to cancel predictable self-input</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Reafference</a:t>
            </a:r>
            <a:r>
              <a:rPr sz="1500" b="0" i="0">
                <a:solidFill>
                  <a:srgbClr val="1C242C"/>
                </a:solidFill>
                <a:latin typeface="Arial"/>
              </a:rPr>
              <a:t> is sensory stimulation caused by an animal’s own movement. Montgomery and Bodznick recorded ascending efferent neurons in the little skate’s dorsal octavolateralis nucleus, or DON, the first medullary electrosensory processing nucleus. Ventilation timing was measured with a force transducer near the gills.</a:t>
            </a:r>
          </a:p>
          <a:p>
            <a:pPr algn="l">
              <a:lnSpc>
                <a:spcPct val="108000"/>
              </a:lnSpc>
              <a:spcAft>
                <a:spcPts val="900"/>
              </a:spcAft>
            </a:pPr>
            <a:r>
              <a:rPr sz="1500" b="0" i="0">
                <a:solidFill>
                  <a:srgbClr val="1C242C"/>
                </a:solidFill>
                <a:latin typeface="Arial"/>
              </a:rPr>
              <a:t>A 2-µV dipole stimulus at the skin was repeatedly coupled to ventilation. Neural responses declined over minutes; uncoupled presentations still evoked responses. After 10 minutes of coupling, the mean reduction in responsive neurons was 44.3%. Turning the stimulus off revealed an opposite-sign cancellation response at the trained respiratory phase.</a:t>
            </a:r>
          </a:p>
          <a:p>
            <a:pPr algn="l">
              <a:lnSpc>
                <a:spcPct val="108000"/>
              </a:lnSpc>
              <a:spcAft>
                <a:spcPts val="900"/>
              </a:spcAft>
            </a:pPr>
            <a:r>
              <a:rPr sz="1500" b="0" i="0">
                <a:solidFill>
                  <a:srgbClr val="1C242C"/>
                </a:solidFill>
                <a:latin typeface="Arial"/>
              </a:rPr>
              <a:t>The controls distinguish learned temporal cancellation from generalized fatigue. Primary afferents contact basal dendrites, while cerebellar parallel fibers and inhibitory interneurons contact apical dendrites. Plasticity in this circuit was proposed to generate the cancellation signal; this experiment established adaptive filtering without identifying its complete synaptic learning rule or transmitter mechanism.</a:t>
            </a:r>
          </a:p>
        </p:txBody>
      </p:sp>
      <p:pic>
        <p:nvPicPr>
          <p:cNvPr id="4" name="Picture 3" descr="43_montgomery94.png"/>
          <p:cNvPicPr>
            <a:picLocks noChangeAspect="1"/>
          </p:cNvPicPr>
          <p:nvPr/>
        </p:nvPicPr>
        <p:blipFill>
          <a:blip r:embed="rId2"/>
          <a:stretch>
            <a:fillRect/>
          </a:stretch>
        </p:blipFill>
        <p:spPr>
          <a:xfrm>
            <a:off x="8215843" y="1280160"/>
            <a:ext cx="2062966" cy="2834640"/>
          </a:xfrm>
          <a:prstGeom prst="rect">
            <a:avLst/>
          </a:prstGeom>
        </p:spPr>
      </p:pic>
      <p:sp>
        <p:nvSpPr>
          <p:cNvPr id="5" name="Figure caption"/>
          <p:cNvSpPr txBox="1"/>
          <p:nvPr/>
        </p:nvSpPr>
        <p:spPr>
          <a:xfrm>
            <a:off x="6869887" y="420624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Montgomery &amp; Bodznick (1994), Fig. 1. Ventilation-coupled stimulation induces adaptive cancellation.</a:t>
            </a:r>
          </a:p>
        </p:txBody>
      </p:sp>
      <p:pic>
        <p:nvPicPr>
          <p:cNvPr id="6" name="Picture 5" descr="don-anatomy.png"/>
          <p:cNvPicPr>
            <a:picLocks noChangeAspect="1"/>
          </p:cNvPicPr>
          <p:nvPr/>
        </p:nvPicPr>
        <p:blipFill>
          <a:blip r:embed="rId3"/>
          <a:stretch>
            <a:fillRect/>
          </a:stretch>
        </p:blipFill>
        <p:spPr>
          <a:xfrm>
            <a:off x="8608964" y="4663440"/>
            <a:ext cx="1276724" cy="109727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Montgomery &amp; Bodznick (1994), Fig. 3. Original published medullary anatomy.</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Montgomery &amp; Bodznick (1994)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Androgen state alters afferent frequency tuning</a:t>
            </a:r>
          </a:p>
        </p:txBody>
      </p:sp>
      <p:sp>
        <p:nvSpPr>
          <p:cNvPr id="3" name="Body"/>
          <p:cNvSpPr txBox="1"/>
          <p:nvPr/>
        </p:nvSpPr>
        <p:spPr>
          <a:xfrm>
            <a:off x="566928" y="1234440"/>
            <a:ext cx="5937199" cy="4983479"/>
          </a:xfrm>
          <a:prstGeom prst="rect">
            <a:avLst/>
          </a:prstGeom>
          <a:noFill/>
        </p:spPr>
        <p:txBody>
          <a:bodyPr wrap="square" lIns="0" rIns="0" tIns="0" bIns="0">
            <a:spAutoFit/>
          </a:bodyPr>
          <a:lstStyle/>
          <a:p>
            <a:pPr algn="l">
              <a:lnSpc>
                <a:spcPct val="108000"/>
              </a:lnSpc>
              <a:spcAft>
                <a:spcPts val="960"/>
              </a:spcAft>
            </a:pPr>
            <a:r>
              <a:rPr sz="1600" b="0" i="0">
                <a:solidFill>
                  <a:srgbClr val="1C242C"/>
                </a:solidFill>
                <a:latin typeface="Arial"/>
              </a:rPr>
              <a:t>Sisneros and Tricas implanted male Atlantic stingrays, </a:t>
            </a:r>
            <a:r>
              <a:rPr sz="1600" b="0" i="1">
                <a:solidFill>
                  <a:srgbClr val="1C242C"/>
                </a:solidFill>
                <a:latin typeface="Arial"/>
              </a:rPr>
              <a:t>Dasyatis sabina</a:t>
            </a:r>
            <a:r>
              <a:rPr sz="1600" b="0" i="0">
                <a:solidFill>
                  <a:srgbClr val="1C242C"/>
                </a:solidFill>
                <a:latin typeface="Arial"/>
              </a:rPr>
              <a:t>, with dihydrotestosterone, or DHT, an androgen hormone. Empty implants provided treatment controls. After 10–21 days, they recorded electrosensory afferents while varying the frequency of uniform electric-field stimulation.</a:t>
            </a:r>
          </a:p>
          <a:p>
            <a:pPr algn="l">
              <a:lnSpc>
                <a:spcPct val="108000"/>
              </a:lnSpc>
              <a:spcAft>
                <a:spcPts val="960"/>
              </a:spcAft>
            </a:pPr>
            <a:r>
              <a:rPr sz="1600" b="0" i="0">
                <a:solidFill>
                  <a:srgbClr val="1C242C"/>
                </a:solidFill>
                <a:latin typeface="Arial"/>
              </a:rPr>
              <a:t>Control afferents had peak sensitivity near 7–8 Hz, compared with approximately 5–6 Hz after DHT treatment. Responses from 0.5 to 4 Hz were approximately 2–4 dB higher in treated animals. Canal-group comparisons associated different tuning patterns with receptor anatomy and canal length.</a:t>
            </a:r>
          </a:p>
          <a:p>
            <a:pPr algn="l">
              <a:lnSpc>
                <a:spcPct val="108000"/>
              </a:lnSpc>
              <a:spcAft>
                <a:spcPts val="960"/>
              </a:spcAft>
            </a:pPr>
            <a:r>
              <a:rPr sz="1600" b="0" i="0">
                <a:solidFill>
                  <a:srgbClr val="1C242C"/>
                </a:solidFill>
                <a:latin typeface="Arial"/>
              </a:rPr>
              <a:t>The manipulation establishes hormonal modulation of peripheral sensory coding rather than a fixed species-wide frequency filter. The study did not identify the specific androgen-regulated channel or prove improved mating performance. Ecological tuning to conspecific ventilation is supported as an interpretation, while the recorded frequency shift is directly experimental.</a:t>
            </a:r>
          </a:p>
        </p:txBody>
      </p:sp>
      <p:pic>
        <p:nvPicPr>
          <p:cNvPr id="4" name="Picture 3" descr="44_sisneros00.png"/>
          <p:cNvPicPr>
            <a:picLocks noChangeAspect="1"/>
          </p:cNvPicPr>
          <p:nvPr/>
        </p:nvPicPr>
        <p:blipFill>
          <a:blip r:embed="rId2"/>
          <a:stretch>
            <a:fillRect/>
          </a:stretch>
        </p:blipFill>
        <p:spPr>
          <a:xfrm>
            <a:off x="8146951" y="1280160"/>
            <a:ext cx="2200752" cy="2834640"/>
          </a:xfrm>
          <a:prstGeom prst="rect">
            <a:avLst/>
          </a:prstGeom>
        </p:spPr>
      </p:pic>
      <p:sp>
        <p:nvSpPr>
          <p:cNvPr id="5" name="Figure caption"/>
          <p:cNvSpPr txBox="1"/>
          <p:nvPr/>
        </p:nvSpPr>
        <p:spPr>
          <a:xfrm>
            <a:off x="6869887" y="4206240"/>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Sisneros &amp; Tricas (2000), Fig. 6. Androgen treatment shifts afferent frequency response.</a:t>
            </a:r>
          </a:p>
        </p:txBody>
      </p:sp>
      <p:pic>
        <p:nvPicPr>
          <p:cNvPr id="6" name="Picture 5" descr="stingray-canals.png"/>
          <p:cNvPicPr>
            <a:picLocks noChangeAspect="1"/>
          </p:cNvPicPr>
          <p:nvPr/>
        </p:nvPicPr>
        <p:blipFill>
          <a:blip r:embed="rId3"/>
          <a:stretch>
            <a:fillRect/>
          </a:stretch>
        </p:blipFill>
        <p:spPr>
          <a:xfrm>
            <a:off x="8465283" y="4663440"/>
            <a:ext cx="1564086" cy="1097279"/>
          </a:xfrm>
          <a:prstGeom prst="rect">
            <a:avLst/>
          </a:prstGeom>
        </p:spPr>
      </p:pic>
      <p:sp>
        <p:nvSpPr>
          <p:cNvPr id="7" name="Figure caption"/>
          <p:cNvSpPr txBox="1"/>
          <p:nvPr/>
        </p:nvSpPr>
        <p:spPr>
          <a:xfrm>
            <a:off x="6869887" y="5833872"/>
            <a:ext cx="4754880" cy="502920"/>
          </a:xfrm>
          <a:prstGeom prst="rect">
            <a:avLst/>
          </a:prstGeom>
          <a:noFill/>
        </p:spPr>
        <p:txBody>
          <a:bodyPr wrap="square" lIns="0" rIns="0" tIns="0" bIns="0">
            <a:spAutoFit/>
          </a:bodyPr>
          <a:lstStyle/>
          <a:p>
            <a:pPr algn="l">
              <a:lnSpc>
                <a:spcPct val="108000"/>
              </a:lnSpc>
              <a:spcAft>
                <a:spcPts val="0"/>
              </a:spcAft>
            </a:pPr>
            <a:r>
              <a:rPr sz="1000" b="0" i="0">
                <a:solidFill>
                  <a:srgbClr val="56636F"/>
                </a:solidFill>
                <a:latin typeface="Arial"/>
              </a:rPr>
              <a:t>Sisneros &amp; Tricas (2000), Fig. 9. Ampullary canal distribution.</a:t>
            </a:r>
          </a:p>
        </p:txBody>
      </p:sp>
      <p:sp>
        <p:nvSpPr>
          <p:cNvPr id="8" name="Rectangle 7"/>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Sisneros &amp; Tricas (2000)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B4F7A"/>
                </a:solidFill>
                <a:latin typeface="Arial"/>
              </a:rPr>
              <a:t>Key takeaways</a:t>
            </a:r>
          </a:p>
        </p:txBody>
      </p:sp>
      <p:sp>
        <p:nvSpPr>
          <p:cNvPr id="3" name="Rectangle 2"/>
          <p:cNvSpPr/>
          <p:nvPr/>
        </p:nvSpPr>
        <p:spPr>
          <a:xfrm>
            <a:off x="566928" y="1234440"/>
            <a:ext cx="5391759" cy="1478279"/>
          </a:xfrm>
          <a:prstGeom prst="rect">
            <a:avLst/>
          </a:prstGeom>
          <a:solidFill>
            <a:srgbClr val="EAF4FA"/>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Electrical guidance is experimentally isolated</a:t>
            </a:r>
            <a:r>
              <a:rPr sz="1600" b="0" i="0">
                <a:solidFill>
                  <a:srgbClr val="1C242C"/>
                </a:solidFill>
                <a:latin typeface="Arial"/>
              </a:rPr>
              <a:t> Conductive agar preserves attacks, insulation blocks them, and active dipoles restore directed feeding independently of target odor.</a:t>
            </a:r>
          </a:p>
        </p:txBody>
      </p:sp>
      <p:sp>
        <p:nvSpPr>
          <p:cNvPr id="5" name="Rectangle 4"/>
          <p:cNvSpPr/>
          <p:nvPr/>
        </p:nvSpPr>
        <p:spPr>
          <a:xfrm>
            <a:off x="6233007" y="1234440"/>
            <a:ext cx="5391759" cy="1478279"/>
          </a:xfrm>
          <a:prstGeom prst="rect">
            <a:avLst/>
          </a:prstGeom>
          <a:solidFill>
            <a:srgbClr val="EAF4FA"/>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Sensitivity depends on geometry and sampling</a:t>
            </a:r>
            <a:r>
              <a:rPr sz="1600" b="0" i="0">
                <a:solidFill>
                  <a:srgbClr val="1C242C"/>
                </a:solidFill>
                <a:latin typeface="Arial"/>
              </a:rPr>
              <a:t> Nanovolt-gradient responses require source geometry, encounter angle and movement to be distinguished from cellular voltage thresholds.</a:t>
            </a:r>
          </a:p>
        </p:txBody>
      </p:sp>
      <p:sp>
        <p:nvSpPr>
          <p:cNvPr id="7" name="Rectangle 6"/>
          <p:cNvSpPr/>
          <p:nvPr/>
        </p:nvSpPr>
        <p:spPr>
          <a:xfrm>
            <a:off x="566928" y="2987040"/>
            <a:ext cx="5391759" cy="1478279"/>
          </a:xfrm>
          <a:prstGeom prst="rect">
            <a:avLst/>
          </a:prstGeom>
          <a:solidFill>
            <a:srgbClr val="EAF4FA"/>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Receptors amplify weak inputs</a:t>
            </a:r>
            <a:r>
              <a:rPr sz="1600" b="0" i="0">
                <a:solidFill>
                  <a:srgbClr val="1C242C"/>
                </a:solidFill>
                <a:latin typeface="Arial"/>
              </a:rPr>
              <a:t> Low-threshold CaV1.3 supports calcium entry; BK feedback in skates and KV1.3 feedback in catsharks produce distinct membrane dynamics.</a:t>
            </a:r>
          </a:p>
        </p:txBody>
      </p:sp>
      <p:sp>
        <p:nvSpPr>
          <p:cNvPr id="9" name="Rectangle 8"/>
          <p:cNvSpPr/>
          <p:nvPr/>
        </p:nvSpPr>
        <p:spPr>
          <a:xfrm>
            <a:off x="6233007" y="2987040"/>
            <a:ext cx="5391759" cy="1478279"/>
          </a:xfrm>
          <a:prstGeom prst="rect">
            <a:avLst/>
          </a:prstGeom>
          <a:solidFill>
            <a:srgbClr val="EAF4FA"/>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Sequence changes alter channel function</a:t>
            </a:r>
            <a:r>
              <a:rPr sz="1600" b="0" i="0">
                <a:solidFill>
                  <a:srgbClr val="1C242C"/>
                </a:solidFill>
                <a:latin typeface="Arial"/>
              </a:rPr>
              <a:t> Neutralization and reciprocal mutations causally link particular CaV1.3 and BK residues to activation, conductance and opening behavior.</a:t>
            </a:r>
          </a:p>
        </p:txBody>
      </p:sp>
      <p:sp>
        <p:nvSpPr>
          <p:cNvPr id="11" name="Rectangle 10"/>
          <p:cNvSpPr/>
          <p:nvPr/>
        </p:nvSpPr>
        <p:spPr>
          <a:xfrm>
            <a:off x="566928" y="4739640"/>
            <a:ext cx="5391759" cy="1478279"/>
          </a:xfrm>
          <a:prstGeom prst="rect">
            <a:avLst/>
          </a:prstGeom>
          <a:solidFill>
            <a:srgbClr val="EAF4FA"/>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B4F7A"/>
                </a:solidFill>
                <a:latin typeface="Arial"/>
              </a:rPr>
              <a:t>Synapses transform cellular activity into output</a:t>
            </a:r>
            <a:r>
              <a:rPr sz="1500" b="0" i="0">
                <a:solidFill>
                  <a:srgbClr val="1C242C"/>
                </a:solidFill>
                <a:latin typeface="Arial"/>
              </a:rPr>
              <a:t> Calcium-dependent ribbon-synapse release differs between shark and skate receptors; vesicle estimates and ventilation do not alone prove ecological function.</a:t>
            </a:r>
          </a:p>
        </p:txBody>
      </p:sp>
      <p:sp>
        <p:nvSpPr>
          <p:cNvPr id="13" name="Rectangle 12"/>
          <p:cNvSpPr/>
          <p:nvPr/>
        </p:nvSpPr>
        <p:spPr>
          <a:xfrm>
            <a:off x="6233007" y="4739640"/>
            <a:ext cx="5391759" cy="1478279"/>
          </a:xfrm>
          <a:prstGeom prst="rect">
            <a:avLst/>
          </a:prstGeom>
          <a:solidFill>
            <a:srgbClr val="EAF4FA"/>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B4F7A"/>
                </a:solidFill>
                <a:latin typeface="Arial"/>
              </a:rPr>
              <a:t>Sensory coding is adaptable</a:t>
            </a:r>
            <a:r>
              <a:rPr sz="1600" b="0" i="0">
                <a:solidFill>
                  <a:srgbClr val="1C242C"/>
                </a:solidFill>
                <a:latin typeface="Arial"/>
              </a:rPr>
              <a:t> Afferents saturate and adapt; hindbrain filtering cancels ventilation-linked input, and androgen treatment changes peripheral frequency tuning.</a:t>
            </a:r>
          </a:p>
        </p:txBody>
      </p:sp>
      <p:sp>
        <p:nvSpPr>
          <p:cNvPr id="15" name="Rectangle 14"/>
          <p:cNvSpPr/>
          <p:nvPr/>
        </p:nvSpPr>
        <p:spPr>
          <a:xfrm>
            <a:off x="566928" y="6382512"/>
            <a:ext cx="11057839" cy="9144"/>
          </a:xfrm>
          <a:prstGeom prst="rect">
            <a:avLst/>
          </a:prstGeom>
          <a:solidFill>
            <a:srgbClr val="C3D7E5"/>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6636F"/>
                </a:solidFill>
                <a:latin typeface="Arial"/>
              </a:rPr>
              <a:t>Kalmijn (1971); Bellono et al. (2017, 2018); Montgomery &amp; Bodznick (1994)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6636F"/>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Electroreception I: passive sensing in sharks and rays (ampullae of Lorenzini)</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