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Computational Methods in Animal Research I: Welfare across species, Computer vision meets animal vision, tracking, virtual prey, and Designing games for animal minds, perception, agency, motivation</a:t>
            </a:r>
          </a:p>
          <a:p>
            <a:r>
              <a:t>Lecture 86. NEUR 411 · NEUROETHOLOGY · FALL 2026. Date TBD.</a:t>
            </a:r>
          </a:p>
          <a:p/>
          <a:p>
            <a:r>
              <a:t>Figure: Pereira et al. (2022), Extended Data Fig. 1(a–f). Study animals and species-specific body landmarks.</a:t>
            </a:r>
          </a:p>
          <a:p>
            <a:r>
              <a:t>Figure source: https://doi.org/10.1038/s41592-022-01426-1</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Spontaneous pain is pain expressed without an experimenter applying a test stimulus. Tuttle and colleagues measured it through changes in mouse facial appearance after inflammatory injury or surgery. A face-based measure samples ongoing behavior rather than the withdrawal response to a newly applied stimulus.</a:t>
            </a:r>
          </a:p>
          <a:p>
            <a:r>
              <a:t>• The Mouse Grimace Scale scores orbital tightening, nose bulge, cheek bulge, ear position and whisker changes. Each facial action unit receives a score for an absent, moderate or marked change. These defined features make the classification depend on specified facial configurations rather than a general impression that a mouse looks uncomfortable.</a:t>
            </a:r>
          </a:p>
          <a:p>
            <a:r>
              <a:t>• Blinded human scoring supplied the labels for an automated classifier. The computer learned associations between recorded faces and those labels; subsequent testing used new images and experimental conditions. Welfare measurement therefore connected a visible phenotype to a validated injury-and-treatment comparison.</a:t>
            </a:r>
          </a:p>
          <a:p/>
          <a:p>
            <a:r>
              <a:t>References:</a:t>
            </a:r>
          </a:p>
          <a:p>
            <a:r>
              <a:t>Tuttle AH, Molinaro MJ, Jethwa JF, Sotocinal SG, Prieto JC, Styner MA, Mogil JS, Zylka MJ (2018). A deep neural network to assess spontaneous pain from mouse facial expressions. Molecular Pain 14:1744806918763658. https://doi.org/10.1177/1744806918763658</a:t>
            </a:r>
          </a:p>
          <a:p/>
          <a:p>
            <a:r>
              <a:t>Figure: Tuttle et al. (2018), Fig. 1(a–b). Mouse faces and recording arrangements.</a:t>
            </a:r>
          </a:p>
          <a:p>
            <a:r>
              <a:t>Figure source: https://doi.org/10.1177/1744806918763658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Clear views of the eyes and ears are necessary for scoring grimacing. In the traditional arrangement, transparent walls allowed cameras to view a mouse from two directions, but reflections could obscure facial detail. Animals also changed their orientation, so many recorded frames lacked an adequately visible face.</a:t>
            </a:r>
          </a:p>
          <a:p>
            <a:r>
              <a:t>• Tuttle and colleagues used an open-front elevated arrangement that encouraged mice to face the camera. Recording through air reduced reflections, and one camera could capture usable faces more consistently. The change in recording geometry also changed the animal’s immediate surroundings, including its exposure to an edge.</a:t>
            </a:r>
          </a:p>
          <a:p>
            <a:r>
              <a:t>• Face extraction selected usable images rather than counting every frame as an independent observation. Frames were sampled at intervals, and blurred or obscured faces were excluded. The resulting measurement depended on both the mouse’s expression and the conditions under which its face became visible.</a:t>
            </a:r>
          </a:p>
          <a:p/>
          <a:p>
            <a:r>
              <a:t>References:</a:t>
            </a:r>
          </a:p>
          <a:p>
            <a:r>
              <a:t>Tuttle AH, Molinaro MJ, Jethwa JF, Sotocinal SG, Prieto JC, Styner MA, Mogil JS, Zylka MJ (2018). A deep neural network to assess spontaneous pain from mouse facial expressions. Molecular Pain 14:1744806918763658. https://doi.org/10.1177/1744806918763658</a:t>
            </a:r>
          </a:p>
          <a:p/>
          <a:p>
            <a:r>
              <a:t>Figure: Tuttle et al. (2018), Fig. 1(a–b). Enclosed and open-front recording conditions.</a:t>
            </a:r>
          </a:p>
          <a:p>
            <a:r>
              <a:t>Figure source: https://doi.org/10.1177/1744806918763658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Transfer learning adapts a model previously trained on another image task. Tuttle and colleagues used InceptionV3, a convolutional neural network, and retrained its final classification layers with mouse facial images. A convolutional network extracts spatial patterns from neighboring pixels and combines them into progressively more complex features.</a:t>
            </a:r>
          </a:p>
          <a:p>
            <a:r>
              <a:t>• The training images carried human-assigned pain or no-pain labels. Separate held-out images tested whether the classifier recognized new faces rather than merely reproducing its training labels. The output included a category and a confidence score, the model’s strength of preference for its selected category.</a:t>
            </a:r>
          </a:p>
          <a:p>
            <a:r>
              <a:t>• Classification accuracy increased when analysis retained only high-confidence predictions. That filtering also removed uncertain images from the evaluated set. A stricter threshold therefore trades coverage of the recording for more reliable classification among the retained faces, rather than improving every ambiguous frame.</a:t>
            </a:r>
          </a:p>
          <a:p/>
          <a:p>
            <a:r>
              <a:t>References:</a:t>
            </a:r>
          </a:p>
          <a:p>
            <a:r>
              <a:t>Tuttle AH, Molinaro MJ, Jethwa JF, Sotocinal SG, Prieto JC, Styner MA, Mogil JS, Zylka MJ (2018). A deep neural network to assess spontaneous pain from mouse facial expressions. Molecular Pain 14:1744806918763658. https://doi.org/10.1177/1744806918763658</a:t>
            </a:r>
          </a:p>
          <a:p/>
          <a:p>
            <a:r>
              <a:t>Figure: Tuttle et al. (2018), Fig. 2. Human and automated grimace classification.</a:t>
            </a:r>
          </a:p>
          <a:p>
            <a:r>
              <a:t>Figure source: https://doi.org/10.1177/1744806918763658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laparotomy, an incision into the abdominal cavity, produced postoperative facial changes that the automated method classified as pain. Sham-treated animals underwent comparison procedures without the same surgical injury. Recording before and after the intervention tied changes in facial behavior to an experimentally defined event.</a:t>
            </a:r>
          </a:p>
          <a:p>
            <a:r>
              <a:t>• Carprofen is a nonsteroidal anti-inflammatory analgesic. In the study, treatment reduced postoperative grimacing by the later observation period, approximately 60 minutes after surgery. The treatment comparison linked the facial signal to a response expected when pain is relieved, rather than only to a difference between preoperative and postoperative images.</a:t>
            </a:r>
          </a:p>
          <a:p>
            <a:r>
              <a:t>• Sham procedures and anesthesia also affected early facial classifications. The timing of measurement consequently altered the interpretation of the same visual features. Behavioral monitoring can distinguish injury-related change more effectively when baseline recordings, procedure controls and treatment responses are evaluated together.</a:t>
            </a:r>
          </a:p>
          <a:p/>
          <a:p>
            <a:r>
              <a:t>References:</a:t>
            </a:r>
          </a:p>
          <a:p>
            <a:r>
              <a:t>Tuttle AH, Molinaro MJ, Jethwa JF, Sotocinal SG, Prieto JC, Styner MA, Mogil JS, Zylka MJ (2018). A deep neural network to assess spontaneous pain from mouse facial expressions. Molecular Pain 14:1744806918763658. https://doi.org/10.1177/1744806918763658</a:t>
            </a:r>
          </a:p>
          <a:p/>
          <a:p>
            <a:r>
              <a:t>Figure: Tuttle et al. (2018), Fig. 3. Postoperative grimacing and carprofen treatment.</a:t>
            </a:r>
          </a:p>
          <a:p>
            <a:r>
              <a:t>Figure source: https://doi.org/10.1177/1744806918763658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automated grimace model was trained and tested on mouse faces. Facial action units provided species-specific labels, and validation included novel images from different laboratories. Differences in camera arrangement and experimental condition tested whether the learned classification transferred beyond a single recording session.</a:t>
            </a:r>
          </a:p>
          <a:p>
            <a:r>
              <a:t>• Narrowed eyes can also occur during sleep, and the authors identified sleep-related facial configurations as a potential source of confusion. A label derived from facial appearance therefore acquires biological meaning through the animal’s state and the experimental context, including injury, anesthesia and analgesic treatment.</a:t>
            </a:r>
          </a:p>
          <a:p>
            <a:r>
              <a:t>• The study used both inflammation and postoperative conditions to evaluate the classifier. Agreement with trained human scorers and a reduction after analgesia supplied complementary evidence. Cross-species welfare measurement requires equivalent validation of the relevant animal’s own expressions rather than applying mouse facial categories unchanged.</a:t>
            </a:r>
          </a:p>
          <a:p/>
          <a:p>
            <a:r>
              <a:t>References:</a:t>
            </a:r>
          </a:p>
          <a:p>
            <a:r>
              <a:t>Tuttle AH, Molinaro MJ, Jethwa JF, Sotocinal SG, Prieto JC, Styner MA, Mogil JS, Zylka MJ (2018). A deep neural network to assess spontaneous pain from mouse facial expressions. Molecular Pain 14:1744806918763658. https://doi.org/10.1177/1744806918763658</a:t>
            </a:r>
          </a:p>
          <a:p/>
          <a:p>
            <a:r>
              <a:t>Figure: Tuttle et al. (2018), Fig. 2. Validation against manually scored mouse faces.</a:t>
            </a:r>
          </a:p>
          <a:p>
            <a:r>
              <a:t>Figure source: https://doi.org/10.1177/1744806918763658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Pose estimation measures the positions of selected body landmarks, such as the snout, paws or tail. A single center point reports where an animal is, but multiple landmarks also describe its orientation and configuration. Lauer and colleagues developed multi-animal DeepLabCut to recover those landmarks in animals sharing a recording.</a:t>
            </a:r>
          </a:p>
          <a:p>
            <a:r>
              <a:t>• Their open-field mouse data included close approaches, contact and overlapping bodies. Detecting a paw was only one part of the task: the system also had to assign that paw to the correct mouse. Instance assembly groups detected landmarks into separate animal bodies within each frame.</a:t>
            </a:r>
          </a:p>
          <a:p>
            <a:r>
              <a:t>• The original supplementary recording contains predicted poses during movement and contact. Landmark trajectories preserve changes in body configuration that a center-point trajectory discards. Distinguishing localization, assembly and identity makes each stage of the behavioral measurement separately testable.</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Fig. 1(a). Annotated mice, marmosets and schooling fish.</a:t>
            </a:r>
          </a:p>
          <a:p>
            <a:r>
              <a:t>Figure source: https://doi.org/10.1038/s41592-022-01443-0</a:t>
            </a:r>
          </a:p>
          <a:p/>
          <a:p>
            <a:r>
              <a:t>Article-provided recording:</a:t>
            </a:r>
          </a:p>
          <a:p>
            <a:r>
              <a:t>Lauer et al. (2022), Supplementary Video 1. Tri-mouse pose predictions.</a:t>
            </a:r>
          </a:p>
          <a:p>
            <a:r>
              <a:t>Article DOI: https://doi.org/10.1038/s41592-022-01443-0</a:t>
            </a:r>
          </a:p>
          <a:p>
            <a:r>
              <a:t>Original media: https://media.springernature.com/original/springer-static/esm/art%3A10.1038%2Fs41592-022-01443-0/MediaObjects/41592_2022_1443_MOESM3_ESM.mov</a:t>
            </a:r>
          </a:p>
          <a:p>
            <a:r>
              <a:t>Original filename: 41592_2022_1443_MOESM3_ESM.mov</a:t>
            </a:r>
          </a:p>
          <a:p>
            <a:r>
              <a:t>Credit: Lauer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parenting mouse and its pups differ substantially in size and posture. The parenting dataset used separate landmark sets for the adult and the pups, rather than imposing the adult body description on every animal. Body definitions therefore reflected the visible anatomy of the individuals being tracked.</a:t>
            </a:r>
          </a:p>
          <a:p>
            <a:r>
              <a:t>• Contact with pups and the nesting material obscured landmarks. Occlusion occurs when another object or body blocks a feature from the camera. The system combined detected parts with evidence about their connections, allowing visible fragments to contribute to an assembled body instead of requiring a complete unobstructed silhouette.</a:t>
            </a:r>
          </a:p>
          <a:p>
            <a:r>
              <a:t>• The article-provided parenting recording retains the nest, adult and pups in the scene. These interactions make the distinction between an absent detection and an absent animal biologically consequential: a hidden pup remains in the nest even when its full body cannot be localized in that frame.</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Fig. 1(a). Parenting mice among the annotated datasets.</a:t>
            </a:r>
          </a:p>
          <a:p>
            <a:r>
              <a:t>Figure source: https://doi.org/10.1038/s41592-022-01443-0</a:t>
            </a:r>
          </a:p>
          <a:p/>
          <a:p>
            <a:r>
              <a:t>Article-provided recording:</a:t>
            </a:r>
          </a:p>
          <a:p>
            <a:r>
              <a:t>Lauer et al. (2022), Supplementary Video 2. Parenting mouse and pup predictions.</a:t>
            </a:r>
          </a:p>
          <a:p>
            <a:r>
              <a:t>Article DOI: https://doi.org/10.1038/s41592-022-01443-0</a:t>
            </a:r>
          </a:p>
          <a:p>
            <a:r>
              <a:t>Original media: https://media.springernature.com/original/springer-static/esm/art%3A10.1038%2Fs41592-022-01443-0/MediaObjects/41592_2022_1443_MOESM4_ESM.mp4</a:t>
            </a:r>
          </a:p>
          <a:p>
            <a:r>
              <a:t>Original filename: 41592_2022_1443_MOESM4_ESM.mp4</a:t>
            </a:r>
          </a:p>
          <a:p>
            <a:r>
              <a:t>Credit: Lauer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Individual identity connects an animal’s pose in one frame to that same animal in later frames. Lauer and colleagues tracked pairs of marmosets in an enclosure with changing positions, postures and occasional occlusion. Visible appearance provided information in addition to the expected location of the animal.</a:t>
            </a:r>
          </a:p>
          <a:p>
            <a:r>
              <a:t>• Identity predictions were more reliable near the head than at distal body parts. A hand can cross another animal’s body, while head features retain more distinctive appearance. Identity evidence consequently varies across the body instead of being equally informative at every detected landmark.</a:t>
            </a:r>
          </a:p>
          <a:p>
            <a:r>
              <a:t>• The study related each marmoset’s posture to the position of its partner. Body-centered coordinates expressed where one animal stood relative to the other, separating their social arrangement from their absolute cage locations. Persistent identities allowed those spatial relationships to be assigned to the correct individuals over time.</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Fig. 5(d). Marmoset body postures and original landmark assignments.</a:t>
            </a:r>
          </a:p>
          <a:p>
            <a:r>
              <a:t>Figure source: https://doi.org/10.1038/s41592-022-01443-0</a:t>
            </a:r>
          </a:p>
          <a:p/>
          <a:p>
            <a:r>
              <a:t>Article-provided recording:</a:t>
            </a:r>
          </a:p>
          <a:p>
            <a:r>
              <a:t>Lauer et al. (2022), Supplementary Video 3. Marmoset pose predictions.</a:t>
            </a:r>
          </a:p>
          <a:p>
            <a:r>
              <a:t>Article DOI: https://doi.org/10.1038/s41592-022-01443-0</a:t>
            </a:r>
          </a:p>
          <a:p>
            <a:r>
              <a:t>Original media: https://media.springernature.com/original/springer-static/esm/art%3A10.1038%2Fs41592-022-01443-0/MediaObjects/41592_2022_1443_MOESM5_ESM.mp4</a:t>
            </a:r>
          </a:p>
          <a:p>
            <a:r>
              <a:t>Original filename: 41592_2022_1443_MOESM5_ESM.mp4</a:t>
            </a:r>
          </a:p>
          <a:p>
            <a:r>
              <a:t>Credit: Lauer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Schooling fish move through a three-dimensional tank while a camera records a two-dimensional projection. Fish can overlap in the image without occupying the same depth. Similar appearance and rapid changes in orientation make position alone an unreliable cue for preserving identity during a crossing.</a:t>
            </a:r>
          </a:p>
          <a:p>
            <a:r>
              <a:t>• Lauer and colleagues combined locally tracked body poses with re-identification, a method that matches the same individual across interrupted tracks. A learned representation of appearance helped link separated observations. Crowded frames tested the method under conditions in which animals were difficult to distinguish.</a:t>
            </a:r>
          </a:p>
          <a:p>
            <a:r>
              <a:t>• The supplied fish recording contains the original tracking predictions during schooling. Short fragments can retain useful movement information even when a full continuous identity track is interrupted. Reconnecting fragments improves the assignment of later movements to the fish that produced the earlier movements.</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Fig. 4. Re-identification during crowded fish recordings.</a:t>
            </a:r>
          </a:p>
          <a:p>
            <a:r>
              <a:t>Figure source: https://doi.org/10.1038/s41592-022-01443-0</a:t>
            </a:r>
          </a:p>
          <a:p/>
          <a:p>
            <a:r>
              <a:t>Article-provided recording:</a:t>
            </a:r>
          </a:p>
          <a:p>
            <a:r>
              <a:t>Lauer et al. (2022), Supplementary Video 4. Schooling fish pose predictions.</a:t>
            </a:r>
          </a:p>
          <a:p>
            <a:r>
              <a:t>Article DOI: https://doi.org/10.1038/s41592-022-01443-0</a:t>
            </a:r>
          </a:p>
          <a:p>
            <a:r>
              <a:t>Original media: https://media.springernature.com/original/springer-static/esm/art%3A10.1038%2Fs41592-022-01443-0/MediaObjects/41592_2022_1443_MOESM6_ESM.m4v</a:t>
            </a:r>
          </a:p>
          <a:p>
            <a:r>
              <a:t>Original filename: 41592_2022_1443_MOESM6_ESM.m4v</a:t>
            </a:r>
          </a:p>
          <a:p>
            <a:r>
              <a:t>Credit: Lauer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Part-affinity fields encode the orientation of a connection between two body landmarks. For example, a connection between a shoulder and a hand contributes evidence that the two belong to the same animal. These fields supplement the probability that a landmark occupies a particular image location.</a:t>
            </a:r>
          </a:p>
          <a:p>
            <a:r>
              <a:t>• A computational skeleton is the set of landmark connections used for assembly, rather than a reconstruction of bones. The study compared a user-selected graph with data-driven connection selection. Some connections distinguished parts of one animal from neighboring animals more effectively than others.</a:t>
            </a:r>
          </a:p>
          <a:p>
            <a:r>
              <a:t>• Choosing informative connections improved assembly while limiting unnecessary comparisons. A collection of accurate landmark detections can still produce an incorrect animal if its parts are grouped wrongly. Evaluating detection and grouping separately exposes that distinction in multi-animal behavioral measurements.</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Fig. 2. Detection and grouping with alternative landmark graphs.</a:t>
            </a:r>
          </a:p>
          <a:p>
            <a:r>
              <a:t>Figure source: https://doi.org/10.1038/s41592-022-01443-0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Generalization is performance on conditions outside those used for training. Lauer and colleagues examined marmoset tracking in additional cage environments, where the background, lighting and visible posture could differ from the original annotated data. Testing only neighboring frames from one scene would leave those changes largely unchallenged.</a:t>
            </a:r>
          </a:p>
          <a:p>
            <a:r>
              <a:t>• The benchmark measured landmark localization against manually annotated positions. Errors in pixels describe image-space accuracy, but their biological impact depends on animal size and on the behavior being measured. A small displacement at a paw can alter a contact estimate even when the animal’s overall location is accurate.</a:t>
            </a:r>
          </a:p>
          <a:p>
            <a:r>
              <a:t>• The study’s datasets included open-field mice, parenting mice, marmosets and fish. Each required annotations matching its recording conditions and body landmarks. Transfer across environments therefore involved validating the measurement in the new scene, rather than assuming that a successful training result established universal performance.</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Extended Data Fig. 6. Tracking generalization across recording settings.</a:t>
            </a:r>
          </a:p>
          <a:p>
            <a:r>
              <a:t>Figure source: https://doi.org/10.1038/s41592-022-01443-0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Segmentation separates an animal’s pixels from the background. A silhouette-based identity tracker depends on that separation before it can describe the animal’s appearance. Nonuniform lighting, enclosure features and overlapping bodies can disrupt segmentation even when a human observer can still recognize the animals.</a:t>
            </a:r>
          </a:p>
          <a:p>
            <a:r>
              <a:t>• Lauer and colleagues compared pose tracking with idtracker.ai in the mouse and marmoset recordings. The original comparison movie preserves the competing predictions in their recording contexts. Pose-based detection uses local body-part evidence, whereas silhouette-based tracking first depends on identifying a suitable animal region.</a:t>
            </a:r>
          </a:p>
          <a:p>
            <a:r>
              <a:t>• Failure at an early image-processing stage changes the information available to subsequent identity matching. Correcting an identity label cannot restore a body that was not separated from the background. Comparing these failure modes connects the choice of tracking method to the actual scene and social behavior being recorded.</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Extended Data Fig. 8(a–c). Segmentation in mouse and marmoset recordings.</a:t>
            </a:r>
          </a:p>
          <a:p>
            <a:r>
              <a:t>Figure source: https://doi.org/10.1038/s41592-022-01443-0</a:t>
            </a:r>
          </a:p>
          <a:p/>
          <a:p>
            <a:r>
              <a:t>Article-provided recording:</a:t>
            </a:r>
          </a:p>
          <a:p>
            <a:r>
              <a:t>Lauer et al. (2022), Supplementary Video 5. idtracker.ai on mice and marmosets.</a:t>
            </a:r>
          </a:p>
          <a:p>
            <a:r>
              <a:t>Article DOI: https://doi.org/10.1038/s41592-022-01443-0</a:t>
            </a:r>
          </a:p>
          <a:p>
            <a:r>
              <a:t>Original media: https://media.springernature.com/original/springer-static/esm/art%3A10.1038%2Fs41592-022-01443-0/MediaObjects/41592_2022_1443_MOESM7_ESM.mp4</a:t>
            </a:r>
          </a:p>
          <a:p>
            <a:r>
              <a:t>Original filename: 41592_2022_1443_MOESM7_ESM.mp4</a:t>
            </a:r>
          </a:p>
          <a:p>
            <a:r>
              <a:t>Credit: Lauer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tracklet is a short sequence of detections linked as belonging to one animal. Occlusion can end a tracklet even though the animal remains in the scene. Lauer and colleagues first established local connections between neighboring frames, then evaluated how separated fragments could be reconnected.</a:t>
            </a:r>
          </a:p>
          <a:p>
            <a:r>
              <a:t>• The stitching procedure used shape similarity, spatial proximity, movement predictions and similarities in trajectory dynamics. Each supplied a different kind of evidence that two fragments belonged to the same individual. A nearby fragment could still be the wrong match if its shape or movement conflicted with the earlier animal.</a:t>
            </a:r>
          </a:p>
          <a:p>
            <a:r>
              <a:t>• The study compared stitched tracks with simpler box and ellipse trackers. Combining fragments improved continuity and reduced identity switches. Explicitly separating local tracking from later stitching made long behavioral records recoverable when uninterrupted frame-to-frame matching failed.</a:t>
            </a:r>
          </a:p>
          <a:p/>
          <a:p>
            <a:r>
              <a:t>References:</a:t>
            </a:r>
          </a:p>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Figure: Lauer et al. (2022), Fig. 3(a–e). Ground-truth tracks, reconstructed tracks and local matching.</a:t>
            </a:r>
          </a:p>
          <a:p>
            <a:r>
              <a:t>Figure source: https://doi.org/10.1038/s41592-022-01443-0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Pereira and colleagues developed SLEAP, a system for multi-animal pose tracking across different recording preparations. Fly courtship, bees on a honeycomb floor, open-field mice and home-cage animals presented different body forms, textures and camera views. The shared software operated on landmark definitions selected for each dataset.</a:t>
            </a:r>
          </a:p>
          <a:p>
            <a:r>
              <a:t>• The recorded body landmarks described anatomical locations rather than a universal list of points. A bee’s body and appendages required a different annotation scheme from a mouse viewed from below. Camera orientation also changed which features were visible and which could support a reliable measurement.</a:t>
            </a:r>
          </a:p>
          <a:p>
            <a:r>
              <a:t>• The original supplementary video contains predictions across these preparations before manual proofreading. The output preserves both successful tracking and errors. Cross-species automation therefore combines a common computational procedure with species- and view-specific definitions of the behaviorally relevant body features.</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Extended Data Fig. 1(a–f). Flies, bees, mice and gerbils in their recording settings.</a:t>
            </a:r>
          </a:p>
          <a:p>
            <a:r>
              <a:t>Figure source: https://doi.org/10.1038/s41592-022-01426-1</a:t>
            </a:r>
          </a:p>
          <a:p/>
          <a:p>
            <a:r>
              <a:t>Article-provided recording:</a:t>
            </a:r>
          </a:p>
          <a:p>
            <a:r>
              <a:t>Pereira et al. (2022), Supplementary Video 1. Uncorrected predictions across species.</a:t>
            </a:r>
          </a:p>
          <a:p>
            <a:r>
              <a:t>Article DOI: https://doi.org/10.1038/s41592-022-01426-1</a:t>
            </a:r>
          </a:p>
          <a:p>
            <a:r>
              <a:t>Original media: https://media.springernature.com/original/springer-static/esm/art%3A10.1038%2Fs41592-022-01426-1/MediaObjects/41592_2022_1426_MOESM4_ESM.mp4</a:t>
            </a:r>
          </a:p>
          <a:p>
            <a:r>
              <a:t>Original filename: 41592_2022_1426_MOESM4_ESM.mp4</a:t>
            </a:r>
          </a:p>
          <a:p>
            <a:r>
              <a:t>Credit: Pereira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Annotation assigns named landmarks to visible locations in a recorded frame. In SLEAP, a researcher labels selected images, trains a model and then inspects its predictions. The supplied labeling-workflow recording documents that sequence using the authors’ own interface and animal footage.</a:t>
            </a:r>
          </a:p>
          <a:p>
            <a:r>
              <a:t>• Labels need consistent anatomical meaning across changes in posture. A left-side landmark remains associated with the animal’s left side even when its projected position crosses the image midline. Visibility and occlusion also require consistent handling so that uncertain locations are not treated as reliable observations.</a:t>
            </a:r>
          </a:p>
          <a:p>
            <a:r>
              <a:t>• Model-assisted labeling uses predicted landmarks as an editable starting point for additional training frames. Correcting mistakes supplies examples from difficult scenes rather than repeatedly labeling only easy poses. The measurement definition remains grounded in the anatomical assignments made by the researcher.</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Extended Data Fig. 2. The original annotation interface and body landmarks.</a:t>
            </a:r>
          </a:p>
          <a:p>
            <a:r>
              <a:t>Figure source: https://doi.org/10.1038/s41592-022-01426-1</a:t>
            </a:r>
          </a:p>
          <a:p/>
          <a:p>
            <a:r>
              <a:t>Article-provided recording:</a:t>
            </a:r>
          </a:p>
          <a:p>
            <a:r>
              <a:t>Pereira et al. (2022), Supplementary Video 2. Original labeling-session screencast.</a:t>
            </a:r>
          </a:p>
          <a:p>
            <a:r>
              <a:t>Article DOI: https://doi.org/10.1038/s41592-022-01426-1</a:t>
            </a:r>
          </a:p>
          <a:p>
            <a:r>
              <a:t>Original media: https://media.springernature.com/original/springer-static/esm/art%3A10.1038%2Fs41592-022-01426-1/MediaObjects/41592_2022_1426_MOESM5_ESM.mp4</a:t>
            </a:r>
          </a:p>
          <a:p>
            <a:r>
              <a:t>Original filename: 41592_2022_1426_MOESM5_ESM.mp4</a:t>
            </a:r>
          </a:p>
          <a:p>
            <a:r>
              <a:t>Credit: Pereira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SLEAP implements bottom-up and top-down pose estimation. A bottom-up model detects body parts across the entire frame, then groups the parts into animals using connection evidence. A top-down model first locates an anchor for each animal, then estimates its body parts within a crop centered on that animal.</a:t>
            </a:r>
          </a:p>
          <a:p>
            <a:r>
              <a:t>• Top-down inference repeats the second stage for each detected individual. Its computational cost therefore increases with the number of animals. Bottom-up inference processes the full scene in one main detection stage, although assembling the resulting landmarks also consumes computation.</a:t>
            </a:r>
          </a:p>
          <a:p>
            <a:r>
              <a:t>• The study compared both approaches on held-out animal images. Their relative performance depended on the dataset, including body appearance, clutter and animal count. The authors’ original methods movie traces these processing stages, linking the order of computations to the grouping problems encountered in real recordings.</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Fig. 3(a–b). Bottom-up and top-down pose processing stages.</a:t>
            </a:r>
          </a:p>
          <a:p>
            <a:r>
              <a:t>Figure source: https://doi.org/10.1038/s41592-022-01426-1</a:t>
            </a:r>
          </a:p>
          <a:p/>
          <a:p>
            <a:r>
              <a:t>Article-provided recording:</a:t>
            </a:r>
          </a:p>
          <a:p>
            <a:r>
              <a:t>Pereira et al. (2022), Supplementary Video 3. Original authors’ pose-processing explanation.</a:t>
            </a:r>
          </a:p>
          <a:p>
            <a:r>
              <a:t>Article DOI: https://doi.org/10.1038/s41592-022-01426-1</a:t>
            </a:r>
          </a:p>
          <a:p>
            <a:r>
              <a:t>Original media: https://media.springernature.com/original/springer-static/esm/art%3A10.1038%2Fs41592-022-01426-1/MediaObjects/41592_2022_1426_MOESM6_ESM.mp4</a:t>
            </a:r>
          </a:p>
          <a:p>
            <a:r>
              <a:t>Original filename: 41592_2022_1426_MOESM6_ESM.mp4</a:t>
            </a:r>
          </a:p>
          <a:p>
            <a:r>
              <a:t>Credit: Pereira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network’s receptive field is the region of input pixels that can influence a particular output. A very small field may contain a leg segment without enough neighboring anatomy to identify which leg it is. Increasing context allows the model to use the surrounding body configuration.</a:t>
            </a:r>
          </a:p>
          <a:p>
            <a:r>
              <a:t>• SLEAP varied receptive-field size and measured pose-estimation accuracy in flies, mice and bees. Optimal sizes differed among datasets. Body scale, magnification and the distance between landmarks changed how much image context was needed to distinguish the relevant parts.</a:t>
            </a:r>
          </a:p>
          <a:p>
            <a:r>
              <a:t>• Adding context also increased the computational work of the tested network configurations. Receptive-field choice consequently affected both recognition and processing speed. The published overlays retain the original animal scenes, making the amount of sampled visual context explicit without equating it with an animal’s own sensory field.</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Extended Data Fig. 4(a–c). Network receptive fields over flies, mice and bees.</a:t>
            </a:r>
          </a:p>
          <a:p>
            <a:r>
              <a:t>Figure source: https://doi.org/10.1038/s41592-022-01426-1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Inference is the computation that turns a new image into a model prediction. SLEAP measured inference speed alongside landmark accuracy, because a fast but misplaced body estimate can trigger an experimental event at the wrong location. Conversely, accurate predictions produced too late can miss the relevant action.</a:t>
            </a:r>
          </a:p>
          <a:p>
            <a:r>
              <a:t>• Offline processing can use batches of recorded images to improve throughput. A real-time experiment receives new frames sequentially and must act on the current scene. High batch-processing speed therefore differs from the delay between one newly acquired frame and a usable prediction.</a:t>
            </a:r>
          </a:p>
          <a:p>
            <a:r>
              <a:t>• The study evaluated body-part errors against held-out manual labels and compared speed across model configurations. Both measurements belonged to the actual recording and computational setup. Selecting a model for a behavioral task required the combination of sufficient anatomical accuracy and timely output.</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Fig. 2(a–g). Speed, training efficiency and landmark errors.</a:t>
            </a:r>
          </a:p>
          <a:p>
            <a:r>
              <a:t>Figure source: https://doi.org/10.1038/s41592-022-01426-1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tracking matches current poses to earlier poses using expected movement. SLEAP’s flow-shift method estimated how earlier body configurations moved into the new frame. That prediction made identity assignment possible without requiring every individual to have a distinctive visible mark.</a:t>
            </a:r>
          </a:p>
          <a:p>
            <a:r>
              <a:t>• When two animals cross, an incorrect assignment can propagate into subsequent frames. Later poses may be localized accurately while remaining attached to the wrong identity. The article’s tracking-comparison movie preserves this distinction between recovering a body configuration and assigning it to the correct individual.</a:t>
            </a:r>
          </a:p>
          <a:p>
            <a:r>
              <a:t>• An appearance-based identity model instead predicts an individual’s label from visible features. Because it can classify each frame independently, it can recover after a temporary switch when those features become informative again. Temporal continuity and appearance thus provide different forms of evidence for individual recognition.</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Fig. 5(a–b). Frame-to-frame identity matching and tracking errors.</a:t>
            </a:r>
          </a:p>
          <a:p>
            <a:r>
              <a:t>Figure source: https://doi.org/10.1038/s41592-022-01426-1</a:t>
            </a:r>
          </a:p>
          <a:p/>
          <a:p>
            <a:r>
              <a:t>Article-provided recording:</a:t>
            </a:r>
          </a:p>
          <a:p>
            <a:r>
              <a:t>Pereira et al. (2022), Supplementary Video 4. Temporal versus appearance identity tracking.</a:t>
            </a:r>
          </a:p>
          <a:p>
            <a:r>
              <a:t>Article DOI: https://doi.org/10.1038/s41592-022-01426-1</a:t>
            </a:r>
          </a:p>
          <a:p>
            <a:r>
              <a:t>Original media: https://media.springernature.com/original/springer-static/esm/art%3A10.1038%2Fs41592-022-01426-1/MediaObjects/41592_2022_1426_MOESM7_ESM.mp4</a:t>
            </a:r>
          </a:p>
          <a:p>
            <a:r>
              <a:t>Original filename: 41592_2022_1426_MOESM7_ESM.mp4</a:t>
            </a:r>
          </a:p>
          <a:p>
            <a:r>
              <a:t>Credit: Pereira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Pereira and colleagues timed a live tracking pipeline that measured distance between two flies and passed its output through a data-acquisition loop. The round-trip delay was approximately 71 milliseconds. Aligning the online measurement with the offline trace quantified how old the reported body configuration was when it became available to the controller.</a:t>
            </a:r>
          </a:p>
          <a:p>
            <a:r>
              <a:t>• The model’s single-image inference time was approximately 3.45 milliseconds in the tested configuration. The longer round-trip delay included other stages in acquisition, processing and communication. A model-speed benchmark therefore measured a component of the system rather than the entire sensor-to-action interval.</a:t>
            </a:r>
          </a:p>
          <a:p>
            <a:r>
              <a:t>• Comparing the online distance trace with the offline trace exposed the lag of the full pipeline. A trigger based on an earlier pose acts on animals that have continued moving. Delay calibration connected the timestamp of a tracked social configuration to the experimental event delivered in response, rather than treating model speed as the complete timing measurement.</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Fig. 6(a–d). Measured online tracking and inference latencies.</a:t>
            </a:r>
          </a:p>
          <a:p>
            <a:r>
              <a:t>Figure source: https://doi.org/10.1038/s41592-022-01426-1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SLEAP detected a male fly approaching a female from behind using their relative positions and orientations. That pose-defined event triggered red light in an optogenetic experiment, which uses a genetically expressed light-sensitive protein to change neuronal activity. The trigger depended on social geometry rather than merely detecting two nearby flies.</a:t>
            </a:r>
          </a:p>
          <a:p>
            <a:r>
              <a:t>• The light-sensitive protein csChrimson is a cation channel, a membrane protein that passes positively charged ions. Light opens the channel in targeted cells, changing their electrical activity. In the tested females, activation elicited extrusion of the ovipositor, the terminal egg-laying structure, while comparison females lacking the experimental channel did not acquire the same triggered response.</a:t>
            </a:r>
          </a:p>
          <a:p>
            <a:r>
              <a:t>• The social-control system contributed about 77 milliseconds of delay, and the behavioral response followed light onset after about 249 milliseconds. Their combined delay was about 326 milliseconds. The observed response therefore reflected both electronic processing and the animal’s own time to produce the movement.</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Fig. 6(e–h). Approach-triggered light and female ovipositor extrusion.</a:t>
            </a:r>
          </a:p>
          <a:p>
            <a:r>
              <a:t>Figure source: https://doi.org/10.1038/s41592-022-01426-1</a:t>
            </a:r>
          </a:p>
          <a:p/>
          <a:p>
            <a:r>
              <a:t>Article-provided recording:</a:t>
            </a:r>
          </a:p>
          <a:p>
            <a:r>
              <a:t>Pereira et al. (2022), Supplementary Video 5. Approach-triggered ovipositor extrusion.</a:t>
            </a:r>
          </a:p>
          <a:p>
            <a:r>
              <a:t>Article DOI: https://doi.org/10.1038/s41592-022-01426-1</a:t>
            </a:r>
          </a:p>
          <a:p>
            <a:r>
              <a:t>Original media: https://media.springernature.com/original/springer-static/esm/art%3A10.1038%2Fs41592-022-01426-1/MediaObjects/41592_2022_1426_MOESM8_ESM.mp4</a:t>
            </a:r>
          </a:p>
          <a:p>
            <a:r>
              <a:t>Original filename: 41592_2022_1426_MOESM8_ESM.mp4</a:t>
            </a:r>
          </a:p>
          <a:p>
            <a:r>
              <a:t>Credit: Pereira et al. and the original study authors; Nature Methods</a:t>
            </a:r>
          </a:p>
          <a:p>
            <a:r>
              <a:t>License: CC BY 4.0, original article supplementary material</a:t>
            </a:r>
          </a:p>
          <a:p>
            <a:r>
              <a:t>H.264 at original dimensions, original timestamps and frame sequence; no crop, recoloring, overlays or speed change. Audio copied if present. Unedited source frame used as poster.</a:t>
            </a:r>
          </a:p>
          <a:p>
            <a:r>
              <a:t>Click the recording in PowerPoint Slide Show for full-screen playback. The separate figure remains the credited static evidence. Embedded relationships and full media decoding were verified; PowerPoint GUI playback was unavailable. Google Slides imports can omit embedded videos: upload the separately supplied MP4 to Drive and insert it as a video. The PDF preview is static.</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SLEAP evaluated predicted landmarks against manual locations in held-out frames. A localization error is the distance between those positions in the image. Measuring errors for individual body parts exposed differences that a single average accuracy could conceal.</a:t>
            </a:r>
          </a:p>
          <a:p>
            <a:r>
              <a:t>• Visible appendages, overlapping limbs and changes in body orientation created different recognition demands. The distributions included both small common deviations and less frequent larger mistakes. Reporting an upper portion of the error distribution described difficult frames as well as typical performance.</a:t>
            </a:r>
          </a:p>
          <a:p>
            <a:r>
              <a:t>• The study also expressed errors relative to body size, linking pixels to the animal being recorded. A distance in image coordinates acquires behavioral significance through anatomical scale. Part-specific evaluation connected the tracker’s output to the precision needed for posture or contact measurements.</a:t>
            </a:r>
          </a:p>
          <a:p/>
          <a:p>
            <a:r>
              <a:t>References:</a:t>
            </a:r>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Figure: Pereira et al. (2022), Fig. 2(a–g). Body-part localization errors and manually annotated landmarks.</a:t>
            </a:r>
          </a:p>
          <a:p>
            <a:r>
              <a:t>Figure source: https://doi.org/10.1038/s41592-022-01426-1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Erskine and colleagues built AutonoMouse, an automated operant system connected to a shared home cage. Mice could enter an upper task chamber at times they selected. Food remained available in the common cage, and the task supplied water rewards during successful trials.</a:t>
            </a:r>
          </a:p>
          <a:p>
            <a:r>
              <a:t>• Radio-frequency identification, or RFID, read each animal’s implanted transponder when it entered the chamber. The computer then selected that individual’s task and recorded its responses. Individual recognition allowed animals with different learning histories to share the apparatus without receiving identical trial sequences.</a:t>
            </a:r>
          </a:p>
          <a:p>
            <a:r>
              <a:t>• The system reduced the need to remove an animal from its social housing for every session. Its door and infrared sensors controlled access to the task area, while the animal controlled when it approached. Self-initiated entry made participation measurable as part of behavior rather than fixing every session to an experimenter’s schedule.</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1(a–d). Home-cage access and the behavioral task.</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operant task makes an outcome depend on an animal’s action. In AutonoMouse, entry and a nose-position sensor initiated odor presentation. A go/no-go discrimination paired one odor with a licking response and another with withholding that response.</a:t>
            </a:r>
          </a:p>
          <a:p>
            <a:r>
              <a:t>• The computer divided the response period into quarters and assessed licking across them. Licking during enough of the response period to the rewarded odor produced water. Withholding licking to the other odor counted as a correct rejection, distinguishing stimulus discrimination from indiscriminate responding.</a:t>
            </a:r>
          </a:p>
          <a:p>
            <a:r>
              <a:t>• Automated trial records linked stimulus identity, response timing and reward delivery for each mouse. Learning involved acquiring the appropriate response rule as well as recognizing the odor pair. A task’s contingency, the action-to-outcome relationship, therefore formed part of what the animal learned.</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1(a–d). Trial timing, responses and reward rules.</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olfactometer controls the delivery of odorized air. AutonoMouse combined odor sources, regulated airflow and valves to supply the intended stimulus at the nose port. The authors measured the delivered odor signal with a detector rather than assuming that a software command immediately produced the requested concentration.</a:t>
            </a:r>
          </a:p>
          <a:p>
            <a:r>
              <a:t>• Valve sounds, source position or residual odor could provide unintended cues to reward. The study changed valve assignments and bottle arrangements, then assessed whether mice retained discrimination. Diverting the odor stream away from the animal disrupted performance even though the apparatus still operated.</a:t>
            </a:r>
          </a:p>
          <a:p>
            <a:r>
              <a:t>• Changing airflow dilution produced measurable differences in the odor pulse. Calibration tied the programmed stimulus to the signal reaching the animal. The control experiments connected correct choices to odor availability rather than to a predictable mechanical event elsewhere in the device.</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3(a–i). Odor delivery calibration and cue-control experiments.</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Mice first had to learn both an odor discrimination and the task’s response rules. After acquiring that initial task, they learned a new odor pair more rapidly. The same licking-and-reward structure remained in place while the sensory identities changed.</a:t>
            </a:r>
          </a:p>
          <a:p>
            <a:r>
              <a:t>• Performance on a familiar odor pair recovered quickly because the animals had already learned which stimulus required which action. Transfer of task experience differs from remembering a particular odor association: the former supports acquisition with new stimuli, while the latter preserves an already learned choice.</a:t>
            </a:r>
          </a:p>
          <a:p>
            <a:r>
              <a:t>• The study compared initial, novel and familiar discrimination within the same automated system. Their different learning trajectories separated sensory novelty from familiarity with the action requirements. Reusing an interface can therefore change acquisition speed even when the new sensory distinction remains to be learned.</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4(a–e). Initial, novel, familiar and mixture discrimination.</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AutonoMouse recorded enough trials to follow animals through early acquisition and later performance. Mice classified as slow early learners initially chose less accurately than faster learners. Continued training brought the groups to comparable maximum discrimination performance.</a:t>
            </a:r>
          </a:p>
          <a:p>
            <a:r>
              <a:t>• The task also changed difficulty by presenting mixtures containing the same two odorants in different proportions. A 60:40 mixture and its 40:60 counterpart shared both components, requiring discrimination of their relative contributions rather than recognition of completely different substances.</a:t>
            </a:r>
          </a:p>
          <a:p>
            <a:r>
              <a:t>• Learning speed varied across the initial, novel and mixture tasks. An animal’s performance depended on the particular sensory problem and its training history. Longitudinal measurement separated a temporarily difficult acquisition period from the level of discrimination the animal eventually achieved.</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4(c–e). Learning trajectories and final discrimination levels.</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AutonoMouse supplied daily water through successful task participation without imposing a separate water-restriction schedule. The authors varied the volume delivered on each correct trial. At the baseline reward of 12 microliters, mice performed repeated self-initiated trials throughout their active periods.</a:t>
            </a:r>
          </a:p>
          <a:p>
            <a:r>
              <a:t>• Larger water rewards reduced the number of trials animals chose to perform. Their behavior approximately maintained daily water acquisition by changing participation. Motivation was therefore expressed through the relation between physiological demand, reward magnitude and the number of actions performed.</a:t>
            </a:r>
          </a:p>
          <a:p>
            <a:r>
              <a:t>• Reducing rewards substantially below 12 microliters did not produce enough extra trials to fully compensate. Voluntary entry consequently differed from unlimited willingness to work for smaller rewards. The measured reward-response relation supplied a concrete constraint on designing self-paced tasks that also provide essential resources.</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5(a–b). Water reward size, trial numbers and body weight.</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olfactory bulbs are forebrain structures required for the odor tasks tested in AutonoMouse. Erskine and colleagues produced graded excitotoxic lesions, damage caused by excessive activation, and measured the remaining bulb tissue using micro-computed tomography. Published anatomical sections localized the tissue affected by the intervention.</a:t>
            </a:r>
          </a:p>
          <a:p>
            <a:r>
              <a:t>• Extensive bilateral lesions abolished accurate odor detection and discrimination. Sham-treated mice retained the learned discriminations and acquired new ones. The affected animals still performed auditory discrimination tasks using the same general response apparatus, linking the deficit to the sensory modality rather than a loss of all task performance.</a:t>
            </a:r>
          </a:p>
          <a:p>
            <a:r>
              <a:t>• The anatomy and behavior were measured together. Bulb volume was normalized to skull volume to compare injury across animals of different sizes. The preserved auditory behavior provided a positive control for responding, learning and obtaining rewards after the olfactory intervention.</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6(a–g). Odor discrimination before and after large lesions.</a:t>
            </a:r>
          </a:p>
          <a:p>
            <a:r>
              <a:t>Figure source: https://doi.org/10.1371/journal.pone.0211571</a:t>
            </a:r>
          </a:p>
          <a:p/>
          <a:p>
            <a:r>
              <a:t>Figure: Erskine et al. (2019), Supplementary Fig. S4(a–d). Original CT sections and olfactory-bulb volume measurements.</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Partial olfactory-bulb damage affected odor tasks differently from extensive lesions. Mice with smaller lesions could still learn simple novel odor pairs. More demanding mixture discriminations exposed deficits that were less evident when the two stimuli were chemically distinct.</a:t>
            </a:r>
          </a:p>
          <a:p>
            <a:r>
              <a:t>• The study compared familiar discrimination, acquisition with novel odors and discrimination of overlapping mixtures. These conditions varied the sensory information and learning demand while retaining the same general licking response. Familiar associations and new discrimination problems therefore placed different requirements on the remaining olfactory tissue.</a:t>
            </a:r>
          </a:p>
          <a:p>
            <a:r>
              <a:t>• Task difficulty changed the sensitivity of the behavioral assay to injury. A simple successful choice could coexist with impairment on a more demanding distinction. Anatomical volume measurements and multiple task conditions connected the extent of bulb disruption to the particular behavior being assessed.</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7(a–d). Discrimination following graded olfactory-bulb lesions.</a:t>
            </a:r>
          </a:p>
          <a:p>
            <a:r>
              <a:t>Figure source: https://doi.org/10.1371/journal.pone.0211571</a:t>
            </a:r>
          </a:p>
          <a:p/>
          <a:p>
            <a:r>
              <a:t>Figure: Erskine et al. (2019), Supplementary Fig. S4(a–d). CT localization and measurement of intact olfactory-bulb tissue.</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AutonoMouse logged when each individually identified mouse entered the task and completed trials. Animals performed more trials during their dark-phase activity period. Continuous monitoring captured these self-selected schedules instead of restricting observation to a fixed daytime session.</a:t>
            </a:r>
          </a:p>
          <a:p>
            <a:r>
              <a:t>• Trial frequency and discrimination accuracy were measured separately across the daily cycle. More participation at a particular hour did not translate into a matching systematic rise in accuracy. The amount of recorded behavior and the quality of stimulus discrimination therefore described different features of the animal’s activity.</a:t>
            </a:r>
          </a:p>
          <a:p>
            <a:r>
              <a:t>• Animals often performed runs of consecutive trials, then returned to the shared cage. Linking those bouts to individual identity preserved differences in participation schedules. Automated longitudinal records connected access, activity and task performance without equating frequent participation with better discrimination.</a:t>
            </a:r>
          </a:p>
          <a:p/>
          <a:p>
            <a:r>
              <a:t>References:</a:t>
            </a:r>
          </a:p>
          <a:p>
            <a:r>
              <a:t>Erskine A, Bus T, Herb JT, Schaefer AT (2019). AutonoMouse: High throughput operant conditioning reveals progressive impairment with graded olfactory bulb lesions. PLOS ONE 14:e0211571. https://doi.org/10.1371/journal.pone.0211571</a:t>
            </a:r>
          </a:p>
          <a:p/>
          <a:p>
            <a:r>
              <a:t>Figure: Erskine et al. (2019), Fig. 2(a–f). Self-initiated trials and discrimination across the daily cycle.</a:t>
            </a:r>
          </a:p>
          <a:p>
            <a:r>
              <a:t>Figure source: https://doi.org/10.1371/journal.pone.0211571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Trivedi and Bollmann recorded larval zebrafish capturing live paramecia with high-speed video. Capture consisted of separate swimming bouts interrupted by pauses. Early movements oriented the body toward prey, and later movements advanced the fish until a final capture swim.</a:t>
            </a:r>
          </a:p>
          <a:p>
            <a:r>
              <a:t>• Automated measurements tracked the fish’s body, the prey and the angles of both eyes. Eye convergence rotates the eyes toward a more forward-facing configuration during capture. The body-to-prey distance declined through the sequence while the prey occupied a progressively larger angle in the visual field.</a:t>
            </a:r>
          </a:p>
          <a:p>
            <a:r>
              <a:t>• The pauses between bouts shortened as capture progressed. Approaching prey also moved faster across the visual field and increased in angular size. Recording these coupled changes established the sensory and motor conditions that a controlled virtual-prey task needed to reproduce.</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1(a–h). Zebrafish prey capture, eye angles and approach measures.</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Kinematics describes movement without specifying the forces that produce it. Trivedi and Bollmann fitted a segmented midline to larval zebrafish images and measured the deviations of successive tail segments from the body axis. The resulting angle traces distinguished the timing and shape of individual swimming bouts.</a:t>
            </a:r>
          </a:p>
          <a:p>
            <a:r>
              <a:t>• Prey position was expressed relative to the fish’s heading, rather than only in camera coordinates. A target to one side required an orienting movement toward that side. The angular change produced by a swim depended on the target’s position immediately before the bout.</a:t>
            </a:r>
          </a:p>
          <a:p>
            <a:r>
              <a:t>• Frame-by-frame body measurements linked tail configuration to the change in orientation after each swim. The same parameter definitions could then be applied to restrained larvae responding to displayed prey. A common kinematic description connected the natural behavior with its experimentally controlled counterpart.</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2(a–h). Body midline, tail angles and target-directed turns.</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Spectral analysis separates a changing signal into contributions at different frequencies. Applying it to the zebrafish tail-angle traces identified a low-frequency component near 4 hertz and a higher-frequency component. These components captured different features of the swimming bout.</a:t>
            </a:r>
          </a:p>
          <a:p>
            <a:r>
              <a:t>• The low-frequency amplitude increased with the change in body orientation. A pronounced slower bending component therefore accompanied stronger turning. The higher-frequency amplitude was related to the change in fish-to-prey distance, linking faster tail oscillation to approach displacement.</a:t>
            </a:r>
          </a:p>
          <a:p>
            <a:r>
              <a:t>• The authors measured these relationships in freely swimming larvae and compared them with responses in a restrained preparation. Similar signal components allowed a tail movement to be classified by its orienting or propulsive contribution. Tracking thus extracted distinct motor features instead of treating every detected bout as equivalent.</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3(a–g). Tail-angle spectra and relationships to movement.</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Minimal restraint kept the larva’s eyes and tail free while holding its position relative to a visual display. The experimenters presented moving rectangles with controlled angular size and speed. Angular size measures the extent of a stimulus in the animal’s visual field rather than its physical dimensions on the screen.</a:t>
            </a:r>
          </a:p>
          <a:p>
            <a:r>
              <a:t>• A small target measuring 2 by 1 degrees and moving at 20 degrees per second elicited target-directed turning. A larger target measuring 8 by 4 degrees and moving at 40 degrees per second elicited turning away. Eye movements and tail-angle analysis accompanied these different motor responses.</a:t>
            </a:r>
          </a:p>
          <a:p>
            <a:r>
              <a:t>• Systematic variation of size and velocity identified combinations that promoted approach or avoidance. A visual object consequently acquired behavioral meaning through its sensory parameters. Calling an object virtual prey required evidence from the animal’s response rather than resemblance to prey from a human observer’s perspective.</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4(a–f). Restrained larvae responding to different visual targets.</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position-sensitive detector measured an optical signal associated with tail movement in restrained zebrafish. Trivedi and Bollmann compared this signal with tail angles extracted from high-speed video. A threshold crossing supplied a rapid bout-detection event while the video retained the movement’s detailed shape.</a:t>
            </a:r>
          </a:p>
          <a:p>
            <a:r>
              <a:t>• The two readouts served different measurement purposes. The detector identified an event quickly enough to trigger a display update; body tracking described which tail segments moved and when. Aligning their time courses tied the fast sensor event to the motor behavior visible in the recording.</a:t>
            </a:r>
          </a:p>
          <a:p>
            <a:r>
              <a:t>• The resulting alignment placed stimulus position, detector voltage and tail-angle changes on a common time axis. That synchronization made the timing of a sensory intervention experimentally interpretable. A sensor threshold alone would identify an event without preserving the full kinematic evidence for the action that caused it.</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5(a–g). Swim detection and stimulus updates in the closed loop.</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Trivedi and Bollmann compared eye angles during capture of real paramecia with angles during virtual-prey sequences. The restrained preparation permitted high-resolution tracking while the displayed target changed after detected swims. Eye convergence supplied an additional motor readout beyond the presence of a tail bout.</a:t>
            </a:r>
          </a:p>
          <a:p>
            <a:r>
              <a:t>• Larvae produced repeated target-directed swims and increasing eye convergence in this closed-loop condition. The resulting sequence resembled the progressive approach measured with live prey. Sensory changes caused by one bout helped organize the timing and configuration of later bouts.</a:t>
            </a:r>
          </a:p>
          <a:p>
            <a:r>
              <a:t>• A comparison condition held target size and speed constant. Its altered inter-bout timing connected the sequence to updated visual information rather than to a fixed count of preceding swims. Combining eye angles and bout timing distinguished a coordinated capture-like sequence from an isolated orienting movement.</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5(a–g). Increasing target size and speed during virtual-prey approach.</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Turning error is the target’s angular displacement from the heading after an orienting movement. Trivedi and Bollmann imposed different apparent outcomes of a detected swim: the target could remain short of the midline, arrive at the midline or pass beyond it. These updates simulated undershoot, alignment and overshoot.</a:t>
            </a:r>
          </a:p>
          <a:p>
            <a:r>
              <a:t>• The interval before the next swim was shortest when the target was near alignment. Updates approximately 10 degrees short of or beyond the midline delayed the subsequent bout. Real prey-capture recordings also linked shorter intervals to smaller residual turning error.</a:t>
            </a:r>
          </a:p>
          <a:p>
            <a:r>
              <a:t>• Changing the feedback mapping altered the motor sequence even though the detected action had already occurred. The next bout depended on the target’s updated sensory position. Closed-loop mapping therefore formed part of the behavioral mechanism, rather than serving only as a display convenience.</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6(a–e). Undershoot, alignment and overshoot in the virtual task.</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presented a second target at different times relative to the end of an initial swim. Inter-bout interval is the elapsed time between successive motor bouts, while reaction time is measured from the appearance of the new stimulus. These measures use different temporal reference points.</a:t>
            </a:r>
          </a:p>
          <a:p>
            <a:r>
              <a:t>• Presenting the target near the end of the first bout produced the shortest inter-bout intervals. Earlier or later presentation lengthened the sequence’s pause. The result linked stimulus timing to ongoing motor activity, rather than treating a visual response as independent of the preceding movement.</a:t>
            </a:r>
          </a:p>
          <a:p>
            <a:r>
              <a:t>• A larger, faster second target produced shorter reaction times than the smaller, slower comparison. Both the timing and sensory properties of feedback shaped the next action. A virtual task therefore needed to preserve the relation between movement phase and the visual event delivered in response.</a:t>
            </a:r>
          </a:p>
          <a:p/>
          <a:p>
            <a:r>
              <a:t>References:</a:t>
            </a:r>
          </a:p>
          <a:p>
            <a:r>
              <a:t>Trivedi CA, Bollmann JH (2013). Visually driven chaining of elementary swim patterns into a goal-directed motor sequence: a virtual reality study of zebrafish prey capture. Frontiers in Neural Circuits 7:86. https://doi.org/10.3389/fncir.2013.00086</a:t>
            </a:r>
          </a:p>
          <a:p/>
          <a:p>
            <a:r>
              <a:t>Figure: Trivedi &amp; Bollmann (2013), Fig. 7(a–g). Stimulus timing and the interval between swims.</a:t>
            </a:r>
          </a:p>
          <a:p>
            <a:r>
              <a:t>Figure source: https://doi.org/10.3389/fncir.2013.00086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Feord and colleagues delivered eye-specific moving shrimp images to cuttlefish through colored filters. Binocular disparity, the difference between the two eyes’ images, ranged from negative to positive values. Increasing positive disparity placed the apparent prey in front of the screen under the tested geometry. Cuttlefish positioned themselves farther from the screen before launching their tentacles.</a:t>
            </a:r>
          </a:p>
          <a:p>
            <a:r>
              <a:t>• A ballistic movement is a rapid movement whose initial execution depends strongly on the preceding preparation. The experiment measured eye-to-screen distance when this strike began. Incorporating each animal’s interocular distance, the separation between its eyes, allowed comparison with the target location predicted from stereoscopic geometry.</a:t>
            </a:r>
          </a:p>
          <a:p>
            <a:r>
              <a:t>• The animals maintained a consistent relationship to the inferred prey position across disparity conditions. Their body placement therefore changed with the eye-specific depth cue. The physical monitor remained fixed while the animal behaved as though the relevant target distance had changed.</a:t>
            </a:r>
          </a:p>
          <a:p/>
          <a:p>
            <a:r>
              <a:t>References:</a:t>
            </a:r>
          </a:p>
          <a:p>
            <a:r>
              <a:t>Feord RC, Sumner ME, Pusdekar S, Kalra L, Gonzalez-Bellido PT, Wardill TJ (2020). Cuttlefish use stereopsis to strike at prey. Science Advances 6:eaay6036. https://doi.org/10.1126/sciadv.aay6036</a:t>
            </a:r>
          </a:p>
          <a:p/>
          <a:p>
            <a:r>
              <a:t>Figure: Feord et al. (2020), Fig. 1(a–h). Strike position and tentacle extension versus disparity.</a:t>
            </a:r>
          </a:p>
          <a:p>
            <a:r>
              <a:t>Figure source: https://doi.org/10.1126/sciadv.aay6036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Cuttlefish hunting was divided into detection, positioning, strike initiation and prey seizure. Detection began with the first reaction to the displayed target. Positioning included movement into the location and orientation used to launch the tentacles.</a:t>
            </a:r>
          </a:p>
          <a:p>
            <a:r>
              <a:t>• The researchers measured elapsed time, distance traveled and eye-to-screen distance in each stage. These separate readouts distinguished finding the target from deciding where to strike it. A total trial duration would combine processes that responded differently to changes in visual information.</a:t>
            </a:r>
          </a:p>
          <a:p>
            <a:r>
              <a:t>• Comparing the stages localized the effect of reduced binocular information mainly to positioning. Detection and later strike phases were more similar across the tested conditions. The behavioral sequence therefore supplied a more specific account of sensory use than a single success-or-failure score.</a:t>
            </a:r>
          </a:p>
          <a:p/>
          <a:p>
            <a:r>
              <a:t>References:</a:t>
            </a:r>
          </a:p>
          <a:p>
            <a:r>
              <a:t>Feord RC, Sumner ME, Pusdekar S, Kalra L, Gonzalez-Bellido PT, Wardill TJ (2020). Cuttlefish use stereopsis to strike at prey. Science Advances 6:eaay6036. https://doi.org/10.1126/sciadv.aay6036</a:t>
            </a:r>
          </a:p>
          <a:p/>
          <a:p>
            <a:r>
              <a:t>Figure: Feord et al. (2020), Fig. 2(a–d). Detection, positioning, strike and seizure stages.</a:t>
            </a:r>
          </a:p>
          <a:p>
            <a:r>
              <a:t>Figure source: https://doi.org/10.1126/sciadv.aay6036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concealed a shrimp-shaped region within a background of random dots. In a static frame, the target had no ordinary outline or contrasting fill. Its motion created information that distinguished the prey region from the surrounding pattern.</a:t>
            </a:r>
          </a:p>
          <a:p>
            <a:r>
              <a:t>• The two eyes received manipulated versions of the dot display. Correlation described whether corresponding dots had matching contrast across the eyes. Disparity could then be changed while the prey remained defined through movement rather than a conventional colored silhouette.</a:t>
            </a:r>
          </a:p>
          <a:p>
            <a:r>
              <a:t>• Cuttlefish detected and struck at targets in appropriate correlated conditions. Motion-defined prey thus provided usable information even when a human-designed static outline was removed. The experiment tested the animal’s visual computation through controlled image relationships, rather than judging stimulus suitability solely by human appearance.</a:t>
            </a:r>
          </a:p>
          <a:p/>
          <a:p>
            <a:r>
              <a:t>References:</a:t>
            </a:r>
          </a:p>
          <a:p>
            <a:r>
              <a:t>Feord RC, Sumner ME, Pusdekar S, Kalra L, Gonzalez-Bellido PT, Wardill TJ (2020). Cuttlefish use stereopsis to strike at prey. Science Advances 6:eaay6036. https://doi.org/10.1126/sciadv.aay6036</a:t>
            </a:r>
          </a:p>
          <a:p/>
          <a:p>
            <a:r>
              <a:t>Figure: Feord et al. (2020), Fig. 3(a–b). Correlated and anticorrelated dot stimuli.</a:t>
            </a:r>
          </a:p>
          <a:p>
            <a:r>
              <a:t>Figure source: https://doi.org/10.1126/sciadv.aay6036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an anticorrelated display, a bright dot in one eye’s image corresponded to a dark dot in the other eye’s image. This reverses local contrast while retaining a systematic relation between the two images. An uncorrelated display instead supplied unrelated dot patterns to the two eyes.</a:t>
            </a:r>
          </a:p>
          <a:p>
            <a:r>
              <a:t>• Cuttlefish adjusted their strike position appropriately with correlated and anticorrelated prey patterns. Uncorrelated patterns did not support the same depth-dependent response. The presence of an organized interocular relationship mattered even when the signs of corresponding contrasts were reversed.</a:t>
            </a:r>
          </a:p>
          <a:p>
            <a:r>
              <a:t>• The authors used these conditions to probe the computation underlying stereopsis. The behavioral result distinguished sensitivity to matching image structure from a requirement that matching points have identical brightness. A proposed explanation of the mechanism must account for both successful contrast reversal and failure with unrelated patterns.</a:t>
            </a:r>
          </a:p>
          <a:p/>
          <a:p>
            <a:r>
              <a:t>References:</a:t>
            </a:r>
          </a:p>
          <a:p>
            <a:r>
              <a:t>Feord RC, Sumner ME, Pusdekar S, Kalra L, Gonzalez-Bellido PT, Wardill TJ (2020). Cuttlefish use stereopsis to strike at prey. Science Advances 6:eaay6036. https://doi.org/10.1126/sciadv.aay6036</a:t>
            </a:r>
          </a:p>
          <a:p/>
          <a:p>
            <a:r>
              <a:t>Figure: Feord et al. (2020), Fig. 3(a–b). Depth responses to interocular dot relationships.</a:t>
            </a:r>
          </a:p>
          <a:p>
            <a:r>
              <a:t>Figure source: https://doi.org/10.1126/sciadv.aay6036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Feord and colleagues measured the orientation of both cuttlefish eyes during hunting. Vergence describes the relative angle of the eyes, which determines how their visual fields overlap. The eyes moved independently rather than remaining locked into a symmetric orientation throughout the approach.</a:t>
            </a:r>
          </a:p>
          <a:p>
            <a:r>
              <a:t>• Immediately before a strike, eye orientation could differ by as much as about 10 degrees from the midline. Binocular depth-guided behavior therefore occurred alongside asymmetric eye positions. The experiment measured actual gaze geometry instead of assuming that the animal always centered both eyes identically on the displayed target.</a:t>
            </a:r>
          </a:p>
          <a:p>
            <a:r>
              <a:t>• Eye-specific stimulation, body positioning and tentacle extension together connected sensory input to action. Tracking the relevant organs was necessary for describing the input that the animal received. An interactive visual task depended on the animal’s own viewing geometry as well as the computer’s programmed images.</a:t>
            </a:r>
          </a:p>
          <a:p/>
          <a:p>
            <a:r>
              <a:t>References:</a:t>
            </a:r>
          </a:p>
          <a:p>
            <a:r>
              <a:t>Feord RC, Sumner ME, Pusdekar S, Kalra L, Gonzalez-Bellido PT, Wardill TJ (2020). Cuttlefish use stereopsis to strike at prey. Science Advances 6:eaay6036. https://doi.org/10.1126/sciadv.aay6036</a:t>
            </a:r>
          </a:p>
          <a:p/>
          <a:p>
            <a:r>
              <a:t>Figure: Feord et al. (2020), Fig. 4(a–c). Eye positions and asymmetry during prey strikes.</a:t>
            </a:r>
          </a:p>
          <a:p>
            <a:r>
              <a:t>Figure source: https://doi.org/10.1126/sciadv.aay6036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Lauer J, Zhou M, Ye S, Menegas W, Schneider S, Nath T, Rahman MM, Di Santo V, Soberanes D, Feng G, Murthy VN, Lauder G, Dulac C, Mathis MW, Mathis A (2022). Multi-animal pose estimation, identification and tracking with DeepLabCut. Nature Methods 19:496-504. https://doi.org/10.1038/s41592-022-01443-0</a:t>
            </a:r>
          </a:p>
          <a:p/>
          <a:p>
            <a:r>
              <a:t>Pereira TD, Tabris N, Matsliah A, Turner DM, Li J, Ravindranath S, Papadoyannis ES, Normand E, Deutsch DS, Wang ZY, McKenzie-Smith GC, Mitelut CC, Castro MD, D’Uva J, Kislin M, Sanes DH, Kocher SD, Wang SSH, Falkner AL, Shaevitz JW, Murthy M (2022). SLEAP: A deep learning system for multi-animal pose tracking. Nature Methods 19:486-495. https://doi.org/10.1038/s41592-022-01426-1</a:t>
            </a:r>
          </a:p>
          <a:p/>
          <a:p>
            <a:r>
              <a:t>Tuttle AH, Molinaro MJ, Jethwa JF, Sotocinal SG, Prieto JC, Styner MA, Mogil JS, Zylka MJ (2018). A deep neural network to assess spontaneous pain from mouse facial expressions. Molecular Pain 14:1744806918763658. https://doi.org/10.1177/1744806918763658</a:t>
            </a:r>
          </a:p>
          <a:p/>
          <a:p>
            <a:r>
              <a:t>Erskine A, Bus T, Herb JT, Schaefer AT (2019). AutonoMouse: High throughput operant conditioning reveals progressive impairment with graded olfactory bulb lesions. PLOS ONE 14:e0211571. https://doi.org/10.1371/journal.pone.0211571</a:t>
            </a:r>
          </a:p>
          <a:p/>
          <a:p>
            <a:r>
              <a:t>Trivedi CA, Bollmann JH (2013). Visually driven chaining of elementary swim patterns into a goal-directed motor sequence: a virtual reality study of zebrafish prey capture. Frontiers in Neural Circuits 7:86. https://doi.org/10.3389/fncir.2013.00086</a:t>
            </a:r>
          </a:p>
          <a:p/>
          <a:p>
            <a:r>
              <a:t>Feord RC, Sumner ME, Pusdekar S, Kalra L, Gonzalez-Bellido PT, Wardill TJ (2020). Cuttlefish use stereopsis to strike at prey. Science Advances 6:eaay6036. https://doi.org/10.1126/sciadv.aay6036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 Id="rId4" Type="http://schemas.openxmlformats.org/officeDocument/2006/relationships/image" Target="../media/image38.jpg"/><Relationship Id="rId5" Type="http://schemas.microsoft.com/office/2007/relationships/media" Target="../media/media1.mp4"/><Relationship Id="rId6" Type="http://schemas.openxmlformats.org/officeDocument/2006/relationships/video" Target="../media/media1.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 Id="rId4" Type="http://schemas.openxmlformats.org/officeDocument/2006/relationships/image" Target="../media/image39.jpg"/><Relationship Id="rId5" Type="http://schemas.microsoft.com/office/2007/relationships/media" Target="../media/media2.mp4"/><Relationship Id="rId6" Type="http://schemas.openxmlformats.org/officeDocument/2006/relationships/video" Target="../media/media2.mp4"/></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 Id="rId4" Type="http://schemas.openxmlformats.org/officeDocument/2006/relationships/image" Target="../media/image40.jpg"/><Relationship Id="rId5" Type="http://schemas.microsoft.com/office/2007/relationships/media" Target="../media/media3.mp4"/><Relationship Id="rId6" Type="http://schemas.openxmlformats.org/officeDocument/2006/relationships/video" Target="../media/media3.mp4"/></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 Id="rId4" Type="http://schemas.openxmlformats.org/officeDocument/2006/relationships/image" Target="../media/image41.jpg"/><Relationship Id="rId5" Type="http://schemas.microsoft.com/office/2007/relationships/media" Target="../media/media4.mp4"/><Relationship Id="rId6" Type="http://schemas.openxmlformats.org/officeDocument/2006/relationships/video" Target="../media/media4.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 Id="rId4" Type="http://schemas.openxmlformats.org/officeDocument/2006/relationships/image" Target="../media/image44.jpg"/><Relationship Id="rId5" Type="http://schemas.microsoft.com/office/2007/relationships/media" Target="../media/media7.mp4"/><Relationship Id="rId6" Type="http://schemas.openxmlformats.org/officeDocument/2006/relationships/video" Target="../media/media7.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45.jpg"/><Relationship Id="rId5" Type="http://schemas.microsoft.com/office/2007/relationships/media" Target="../media/media8.mp4"/><Relationship Id="rId6" Type="http://schemas.openxmlformats.org/officeDocument/2006/relationships/video" Target="../media/media8.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 Id="rId4" Type="http://schemas.openxmlformats.org/officeDocument/2006/relationships/image" Target="../media/image46.jpg"/><Relationship Id="rId5" Type="http://schemas.microsoft.com/office/2007/relationships/media" Target="../media/media9.mp4"/><Relationship Id="rId6" Type="http://schemas.openxmlformats.org/officeDocument/2006/relationships/video" Target="../media/media9.mp4"/></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 Id="rId4" Type="http://schemas.openxmlformats.org/officeDocument/2006/relationships/image" Target="../media/image47.jpg"/><Relationship Id="rId5" Type="http://schemas.microsoft.com/office/2007/relationships/media" Target="../media/media10.mp4"/><Relationship Id="rId6" Type="http://schemas.openxmlformats.org/officeDocument/2006/relationships/video" Target="../media/media10.mp4"/></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 Id="rId4" Type="http://schemas.openxmlformats.org/officeDocument/2006/relationships/image" Target="../media/image42.jpg"/><Relationship Id="rId5" Type="http://schemas.microsoft.com/office/2007/relationships/media" Target="../media/media5.mp4"/><Relationship Id="rId6" Type="http://schemas.openxmlformats.org/officeDocument/2006/relationships/video" Target="../media/media5.mp4"/></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 Id="rId4" Type="http://schemas.openxmlformats.org/officeDocument/2006/relationships/image" Target="../media/image43.jpg"/><Relationship Id="rId5" Type="http://schemas.microsoft.com/office/2007/relationships/media" Target="../media/media6.mp4"/><Relationship Id="rId6" Type="http://schemas.openxmlformats.org/officeDocument/2006/relationships/video" Target="../media/media6.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3655F"/>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BE5E2"/>
                </a:solidFill>
                <a:latin typeface="Arial"/>
              </a:rPr>
              <a:t>NEUR 411 · NEUROETHOLOGY · FALL 2026</a:t>
            </a:r>
          </a:p>
        </p:txBody>
      </p:sp>
      <p:sp>
        <p:nvSpPr>
          <p:cNvPr id="4" name="TextBox 3"/>
          <p:cNvSpPr txBox="1"/>
          <p:nvPr/>
        </p:nvSpPr>
        <p:spPr>
          <a:xfrm>
            <a:off x="685800" y="114300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BE5E2"/>
                </a:solidFill>
                <a:latin typeface="Arial"/>
              </a:rPr>
              <a:t>Lecture 86</a:t>
            </a:r>
          </a:p>
        </p:txBody>
      </p:sp>
      <p:sp>
        <p:nvSpPr>
          <p:cNvPr id="5" name="Lecture title"/>
          <p:cNvSpPr txBox="1"/>
          <p:nvPr/>
        </p:nvSpPr>
        <p:spPr>
          <a:xfrm>
            <a:off x="685800" y="1691640"/>
            <a:ext cx="4724247" cy="3337560"/>
          </a:xfrm>
          <a:prstGeom prst="rect">
            <a:avLst/>
          </a:prstGeom>
          <a:noFill/>
        </p:spPr>
        <p:txBody>
          <a:bodyPr wrap="square" lIns="0" rIns="0" tIns="0" bIns="0">
            <a:spAutoFit/>
          </a:bodyPr>
          <a:lstStyle/>
          <a:p>
            <a:pPr algn="l">
              <a:lnSpc>
                <a:spcPct val="108000"/>
              </a:lnSpc>
              <a:spcAft>
                <a:spcPts val="0"/>
              </a:spcAft>
            </a:pPr>
            <a:r>
              <a:rPr sz="2500" b="1" i="0">
                <a:solidFill>
                  <a:srgbClr val="FFFFFF"/>
                </a:solidFill>
                <a:latin typeface="Arial"/>
              </a:rPr>
              <a:t>Computational Methods in Animal Research I:</a:t>
            </a:r>
          </a:p>
          <a:p>
            <a:pPr algn="l">
              <a:lnSpc>
                <a:spcPct val="108000"/>
              </a:lnSpc>
              <a:spcAft>
                <a:spcPts val="0"/>
              </a:spcAft>
            </a:pPr>
            <a:r>
              <a:rPr sz="2500" b="1" i="0">
                <a:solidFill>
                  <a:srgbClr val="FFFFFF"/>
                </a:solidFill>
                <a:latin typeface="Arial"/>
              </a:rPr>
              <a:t>Welfare across species, Computer vision meets animal vision, tracking, virtual prey, and Designing games for animal minds, perception, agency, motivation</a:t>
            </a:r>
          </a:p>
        </p:txBody>
      </p:sp>
      <p:sp>
        <p:nvSpPr>
          <p:cNvPr id="6" name="TextBox 5"/>
          <p:cNvSpPr txBox="1"/>
          <p:nvPr/>
        </p:nvSpPr>
        <p:spPr>
          <a:xfrm>
            <a:off x="685800" y="5504688"/>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BE5E2"/>
                </a:solidFill>
                <a:latin typeface="Arial"/>
              </a:rPr>
              <a:t>Date TBD</a:t>
            </a:r>
          </a:p>
        </p:txBody>
      </p:sp>
      <p:sp>
        <p:nvSpPr>
          <p:cNvPr id="7" name="TextBox 6"/>
          <p:cNvSpPr txBox="1"/>
          <p:nvPr/>
        </p:nvSpPr>
        <p:spPr>
          <a:xfrm>
            <a:off x="685800" y="6126480"/>
            <a:ext cx="4724247" cy="502920"/>
          </a:xfrm>
          <a:prstGeom prst="rect">
            <a:avLst/>
          </a:prstGeom>
          <a:noFill/>
        </p:spPr>
        <p:txBody>
          <a:bodyPr wrap="square" lIns="0" rIns="0" tIns="0" bIns="0">
            <a:spAutoFit/>
          </a:bodyPr>
          <a:lstStyle/>
          <a:p>
            <a:pPr algn="l">
              <a:lnSpc>
                <a:spcPct val="108000"/>
              </a:lnSpc>
              <a:spcAft>
                <a:spcPts val="200"/>
              </a:spcAft>
            </a:pPr>
            <a:r>
              <a:rPr sz="1000" b="0" i="0">
                <a:solidFill>
                  <a:srgbClr val="EBE5E2"/>
                </a:solidFill>
                <a:latin typeface="Arial"/>
              </a:rPr>
              <a:t>Jordan Lopez, Ph.D.</a:t>
            </a:r>
          </a:p>
          <a:p>
            <a:pPr algn="l">
              <a:lnSpc>
                <a:spcPct val="108000"/>
              </a:lnSpc>
              <a:spcAft>
                <a:spcPts val="200"/>
              </a:spcAft>
            </a:pPr>
            <a:r>
              <a:rPr sz="1000" b="0" i="0">
                <a:solidFill>
                  <a:srgbClr val="EBE5E2"/>
                </a:solidFill>
                <a:latin typeface="Arial"/>
              </a:rPr>
              <a:t>Professor of Neurobiology &amp; Biomedical Engineering</a:t>
            </a:r>
          </a:p>
        </p:txBody>
      </p:sp>
      <p:pic>
        <p:nvPicPr>
          <p:cNvPr id="8" name="Picture 7" descr="sleap_ed1.png"/>
          <p:cNvPicPr>
            <a:picLocks noChangeAspect="1"/>
          </p:cNvPicPr>
          <p:nvPr/>
        </p:nvPicPr>
        <p:blipFill>
          <a:blip r:embed="rId2"/>
          <a:stretch>
            <a:fillRect/>
          </a:stretch>
        </p:blipFill>
        <p:spPr>
          <a:xfrm>
            <a:off x="6553047" y="822960"/>
            <a:ext cx="5181447" cy="394613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(2022), Extended Data Fig. 1(a–f). Study animals and species-specific body landmarks.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Facial changes provide a measurable pain indicator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Spontaneous pain</a:t>
            </a:r>
            <a:r>
              <a:rPr sz="1500" b="0" i="0">
                <a:solidFill>
                  <a:srgbClr val="000000"/>
                </a:solidFill>
                <a:latin typeface="Arial"/>
              </a:rPr>
              <a:t> is pain expressed without an experimenter applying a test stimulus. Tuttle and colleagues measured it through changes in mouse facial appearance after inflammatory injury or surgery. A face-based measure samples ongoing behavior rather than the withdrawal response to a newly applied stimulus.</a:t>
            </a:r>
          </a:p>
          <a:p>
            <a:pPr algn="l">
              <a:lnSpc>
                <a:spcPct val="108000"/>
              </a:lnSpc>
              <a:spcAft>
                <a:spcPts val="900"/>
              </a:spcAft>
            </a:pPr>
            <a:r>
              <a:rPr sz="1500" b="0" i="0">
                <a:solidFill>
                  <a:srgbClr val="000000"/>
                </a:solidFill>
                <a:latin typeface="Arial"/>
              </a:rPr>
              <a:t>The </a:t>
            </a:r>
            <a:r>
              <a:rPr sz="1500" b="1" i="0">
                <a:solidFill>
                  <a:srgbClr val="544A45"/>
                </a:solidFill>
                <a:latin typeface="Arial"/>
              </a:rPr>
              <a:t>Mouse Grimace Scale</a:t>
            </a:r>
            <a:r>
              <a:rPr sz="1500" b="0" i="0">
                <a:solidFill>
                  <a:srgbClr val="000000"/>
                </a:solidFill>
                <a:latin typeface="Arial"/>
              </a:rPr>
              <a:t> scores orbital tightening, nose bulge, cheek bulge, ear position and whisker changes. Each facial action unit receives a score for an absent, moderate or marked change. These defined features make the classification depend on specified facial configurations rather than a general impression that a mouse looks uncomfortable.</a:t>
            </a:r>
          </a:p>
          <a:p>
            <a:pPr algn="l">
              <a:lnSpc>
                <a:spcPct val="108000"/>
              </a:lnSpc>
              <a:spcAft>
                <a:spcPts val="900"/>
              </a:spcAft>
            </a:pPr>
            <a:r>
              <a:rPr sz="1500" b="0" i="0">
                <a:solidFill>
                  <a:srgbClr val="000000"/>
                </a:solidFill>
                <a:latin typeface="Arial"/>
              </a:rPr>
              <a:t>Blinded human scoring supplied the labels for an automated classifier. The computer learned associations between recorded faces and those labels; subsequent testing used new images and experimental conditions. Welfare measurement therefore connected a visible phenotype to a validated injury-and-treatment comparison.</a:t>
            </a:r>
          </a:p>
        </p:txBody>
      </p:sp>
      <p:pic>
        <p:nvPicPr>
          <p:cNvPr id="4" name="Picture 3" descr="pain1.png"/>
          <p:cNvPicPr>
            <a:picLocks noChangeAspect="1"/>
          </p:cNvPicPr>
          <p:nvPr/>
        </p:nvPicPr>
        <p:blipFill>
          <a:blip r:embed="rId2"/>
          <a:stretch>
            <a:fillRect/>
          </a:stretch>
        </p:blipFill>
        <p:spPr>
          <a:xfrm>
            <a:off x="6412687" y="1280160"/>
            <a:ext cx="5212080" cy="1430489"/>
          </a:xfrm>
          <a:prstGeom prst="rect">
            <a:avLst/>
          </a:prstGeom>
        </p:spPr>
      </p:pic>
      <p:sp>
        <p:nvSpPr>
          <p:cNvPr id="5" name="Figure caption"/>
          <p:cNvSpPr txBox="1"/>
          <p:nvPr/>
        </p:nvSpPr>
        <p:spPr>
          <a:xfrm>
            <a:off x="6412687" y="280208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Tuttle et al. (2018), Fig. 1(a–b). Mouse faces and recording arrangements.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Tuttle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The recording environment changes the available faces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Clear views of the eyes and ears are necessary for scoring grimacing. In the traditional arrangement, transparent walls allowed cameras to view a mouse from two directions, but reflections could obscure facial detail. Animals also changed their orientation, so many recorded frames lacked an adequately visible face.</a:t>
            </a:r>
          </a:p>
          <a:p>
            <a:pPr algn="l">
              <a:lnSpc>
                <a:spcPct val="108000"/>
              </a:lnSpc>
              <a:spcAft>
                <a:spcPts val="900"/>
              </a:spcAft>
            </a:pPr>
            <a:r>
              <a:rPr sz="1500" b="0" i="0">
                <a:solidFill>
                  <a:srgbClr val="000000"/>
                </a:solidFill>
                <a:latin typeface="Arial"/>
              </a:rPr>
              <a:t>Tuttle and colleagues used an open-front elevated arrangement that encouraged mice to face the camera. Recording through air reduced reflections, and one camera could capture usable faces more consistently. The change in recording geometry also changed the animal’s immediate surroundings, including its exposure to an edge.</a:t>
            </a:r>
          </a:p>
          <a:p>
            <a:pPr algn="l">
              <a:lnSpc>
                <a:spcPct val="108000"/>
              </a:lnSpc>
              <a:spcAft>
                <a:spcPts val="900"/>
              </a:spcAft>
            </a:pPr>
            <a:r>
              <a:rPr sz="1500" b="0" i="0">
                <a:solidFill>
                  <a:srgbClr val="000000"/>
                </a:solidFill>
                <a:latin typeface="Arial"/>
              </a:rPr>
              <a:t>Face extraction selected usable images rather than counting every frame as an independent observation. Frames were sampled at intervals, and blurred or obscured faces were excluded. The resulting measurement depended on both the mouse’s expression and the conditions under which its face became visible.</a:t>
            </a:r>
          </a:p>
        </p:txBody>
      </p:sp>
      <p:pic>
        <p:nvPicPr>
          <p:cNvPr id="4" name="Picture 3" descr="pain1.png"/>
          <p:cNvPicPr>
            <a:picLocks noChangeAspect="1"/>
          </p:cNvPicPr>
          <p:nvPr/>
        </p:nvPicPr>
        <p:blipFill>
          <a:blip r:embed="rId2"/>
          <a:stretch>
            <a:fillRect/>
          </a:stretch>
        </p:blipFill>
        <p:spPr>
          <a:xfrm>
            <a:off x="6412687" y="1280160"/>
            <a:ext cx="5212080" cy="1430489"/>
          </a:xfrm>
          <a:prstGeom prst="rect">
            <a:avLst/>
          </a:prstGeom>
        </p:spPr>
      </p:pic>
      <p:sp>
        <p:nvSpPr>
          <p:cNvPr id="5" name="Figure caption"/>
          <p:cNvSpPr txBox="1"/>
          <p:nvPr/>
        </p:nvSpPr>
        <p:spPr>
          <a:xfrm>
            <a:off x="6412687" y="280208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Tuttle et al. (2018), Fig. 1(a–b). Enclosed and open-front recording conditions.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Tuttle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Transfer learning reuses visual features for scoring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Transfer learning</a:t>
            </a:r>
            <a:r>
              <a:rPr sz="1500" b="0" i="0">
                <a:solidFill>
                  <a:srgbClr val="000000"/>
                </a:solidFill>
                <a:latin typeface="Arial"/>
              </a:rPr>
              <a:t> adapts a model previously trained on another image task. Tuttle and colleagues used InceptionV3, a convolutional neural network, and retrained its final classification layers with mouse facial images. A convolutional network extracts spatial patterns from neighboring pixels and combines them into progressively more complex features.</a:t>
            </a:r>
          </a:p>
          <a:p>
            <a:pPr algn="l">
              <a:lnSpc>
                <a:spcPct val="108000"/>
              </a:lnSpc>
              <a:spcAft>
                <a:spcPts val="900"/>
              </a:spcAft>
            </a:pPr>
            <a:r>
              <a:rPr sz="1500" b="0" i="0">
                <a:solidFill>
                  <a:srgbClr val="000000"/>
                </a:solidFill>
                <a:latin typeface="Arial"/>
              </a:rPr>
              <a:t>The training images carried human-assigned pain or no-pain labels. Separate held-out images tested whether the classifier recognized new faces rather than merely reproducing its training labels. The output included a category and a confidence score, the model’s strength of preference for its selected category.</a:t>
            </a:r>
          </a:p>
          <a:p>
            <a:pPr algn="l">
              <a:lnSpc>
                <a:spcPct val="108000"/>
              </a:lnSpc>
              <a:spcAft>
                <a:spcPts val="900"/>
              </a:spcAft>
            </a:pPr>
            <a:r>
              <a:rPr sz="1500" b="0" i="0">
                <a:solidFill>
                  <a:srgbClr val="000000"/>
                </a:solidFill>
                <a:latin typeface="Arial"/>
              </a:rPr>
              <a:t>Classification accuracy increased when analysis retained only high-confidence predictions. That filtering also removed uncertain images from the evaluated set. A stricter threshold therefore trades coverage of the recording for more reliable classification among the retained faces, rather than improving every ambiguous frame.</a:t>
            </a:r>
          </a:p>
        </p:txBody>
      </p:sp>
      <p:pic>
        <p:nvPicPr>
          <p:cNvPr id="4" name="Picture 3" descr="pain2.png"/>
          <p:cNvPicPr>
            <a:picLocks noChangeAspect="1"/>
          </p:cNvPicPr>
          <p:nvPr/>
        </p:nvPicPr>
        <p:blipFill>
          <a:blip r:embed="rId2"/>
          <a:stretch>
            <a:fillRect/>
          </a:stretch>
        </p:blipFill>
        <p:spPr>
          <a:xfrm>
            <a:off x="6412687" y="1280160"/>
            <a:ext cx="5212080" cy="3596929"/>
          </a:xfrm>
          <a:prstGeom prst="rect">
            <a:avLst/>
          </a:prstGeom>
        </p:spPr>
      </p:pic>
      <p:sp>
        <p:nvSpPr>
          <p:cNvPr id="5" name="Figure caption"/>
          <p:cNvSpPr txBox="1"/>
          <p:nvPr/>
        </p:nvSpPr>
        <p:spPr>
          <a:xfrm>
            <a:off x="6412687" y="496852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Tuttle et al. (2018), Fig. 2. Human and automated grimace classification.</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Tuttle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Analgesic responses validate a behavioral indicator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44A45"/>
                </a:solidFill>
                <a:latin typeface="Arial"/>
              </a:rPr>
              <a:t>laparotomy</a:t>
            </a:r>
            <a:r>
              <a:rPr sz="1500" b="0" i="0">
                <a:solidFill>
                  <a:srgbClr val="000000"/>
                </a:solidFill>
                <a:latin typeface="Arial"/>
              </a:rPr>
              <a:t>, an incision into the abdominal cavity, produced postoperative facial changes that the automated method classified as pain. Sham-treated animals underwent comparison procedures without the same surgical injury. Recording before and after the intervention tied changes in facial behavior to an experimentally defined event.</a:t>
            </a:r>
          </a:p>
          <a:p>
            <a:pPr algn="l">
              <a:lnSpc>
                <a:spcPct val="108000"/>
              </a:lnSpc>
              <a:spcAft>
                <a:spcPts val="900"/>
              </a:spcAft>
            </a:pPr>
            <a:r>
              <a:rPr sz="1500" b="1" i="0">
                <a:solidFill>
                  <a:srgbClr val="544A45"/>
                </a:solidFill>
                <a:latin typeface="Arial"/>
              </a:rPr>
              <a:t>Carprofen</a:t>
            </a:r>
            <a:r>
              <a:rPr sz="1500" b="0" i="0">
                <a:solidFill>
                  <a:srgbClr val="000000"/>
                </a:solidFill>
                <a:latin typeface="Arial"/>
              </a:rPr>
              <a:t> is a nonsteroidal anti-inflammatory analgesic. In the study, treatment reduced postoperative grimacing by the later observation period, approximately 60 minutes after surgery. The treatment comparison linked the facial signal to a response expected when pain is relieved, rather than only to a difference between preoperative and postoperative images.</a:t>
            </a:r>
          </a:p>
          <a:p>
            <a:pPr algn="l">
              <a:lnSpc>
                <a:spcPct val="108000"/>
              </a:lnSpc>
              <a:spcAft>
                <a:spcPts val="900"/>
              </a:spcAft>
            </a:pPr>
            <a:r>
              <a:rPr sz="1500" b="0" i="0">
                <a:solidFill>
                  <a:srgbClr val="000000"/>
                </a:solidFill>
                <a:latin typeface="Arial"/>
              </a:rPr>
              <a:t>Sham procedures and anesthesia also affected early facial classifications. The timing of measurement consequently altered the interpretation of the same visual features. Behavioral monitoring can distinguish injury-related change more effectively when baseline recordings, procedure controls and treatment responses are evaluated together.</a:t>
            </a:r>
          </a:p>
        </p:txBody>
      </p:sp>
      <p:pic>
        <p:nvPicPr>
          <p:cNvPr id="4" name="Picture 3" descr="pain3.png"/>
          <p:cNvPicPr>
            <a:picLocks noChangeAspect="1"/>
          </p:cNvPicPr>
          <p:nvPr/>
        </p:nvPicPr>
        <p:blipFill>
          <a:blip r:embed="rId2"/>
          <a:stretch>
            <a:fillRect/>
          </a:stretch>
        </p:blipFill>
        <p:spPr>
          <a:xfrm>
            <a:off x="6412687" y="1280160"/>
            <a:ext cx="5212080" cy="2190352"/>
          </a:xfrm>
          <a:prstGeom prst="rect">
            <a:avLst/>
          </a:prstGeom>
        </p:spPr>
      </p:pic>
      <p:sp>
        <p:nvSpPr>
          <p:cNvPr id="5" name="Figure caption"/>
          <p:cNvSpPr txBox="1"/>
          <p:nvPr/>
        </p:nvSpPr>
        <p:spPr>
          <a:xfrm>
            <a:off x="6412687" y="35619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Tuttle et al. (2018), Fig. 3. Postoperative grimacing and carprofen treatment.</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Tuttle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 welfare classifier depends on species and state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automated grimace model was trained and tested on mouse faces. Facial action units provided species-specific labels, and validation included novel images from different laboratories. Differences in camera arrangement and experimental condition tested whether the learned classification transferred beyond a single recording session.</a:t>
            </a:r>
          </a:p>
          <a:p>
            <a:pPr algn="l">
              <a:lnSpc>
                <a:spcPct val="108000"/>
              </a:lnSpc>
              <a:spcAft>
                <a:spcPts val="900"/>
              </a:spcAft>
            </a:pPr>
            <a:r>
              <a:rPr sz="1500" b="0" i="0">
                <a:solidFill>
                  <a:srgbClr val="000000"/>
                </a:solidFill>
                <a:latin typeface="Arial"/>
              </a:rPr>
              <a:t>Narrowed eyes can also occur during sleep, and the authors identified sleep-related facial configurations as a potential source of confusion. A label derived from facial appearance therefore acquires biological meaning through the animal’s state and the experimental context, including injury, anesthesia and analgesic treatment.</a:t>
            </a:r>
          </a:p>
          <a:p>
            <a:pPr algn="l">
              <a:lnSpc>
                <a:spcPct val="108000"/>
              </a:lnSpc>
              <a:spcAft>
                <a:spcPts val="900"/>
              </a:spcAft>
            </a:pPr>
            <a:r>
              <a:rPr sz="1500" b="0" i="0">
                <a:solidFill>
                  <a:srgbClr val="000000"/>
                </a:solidFill>
                <a:latin typeface="Arial"/>
              </a:rPr>
              <a:t>The study used both inflammation and postoperative conditions to evaluate the classifier. Agreement with trained human scorers and a reduction after analgesia supplied complementary evidence. Cross-species welfare measurement requires equivalent validation of the relevant animal’s own expressions rather than applying mouse facial categories unchanged.</a:t>
            </a:r>
          </a:p>
        </p:txBody>
      </p:sp>
      <p:pic>
        <p:nvPicPr>
          <p:cNvPr id="4" name="Picture 3" descr="pain2.png"/>
          <p:cNvPicPr>
            <a:picLocks noChangeAspect="1"/>
          </p:cNvPicPr>
          <p:nvPr/>
        </p:nvPicPr>
        <p:blipFill>
          <a:blip r:embed="rId2"/>
          <a:stretch>
            <a:fillRect/>
          </a:stretch>
        </p:blipFill>
        <p:spPr>
          <a:xfrm>
            <a:off x="6412687" y="1280160"/>
            <a:ext cx="5212080" cy="3596929"/>
          </a:xfrm>
          <a:prstGeom prst="rect">
            <a:avLst/>
          </a:prstGeom>
        </p:spPr>
      </p:pic>
      <p:sp>
        <p:nvSpPr>
          <p:cNvPr id="5" name="Figure caption"/>
          <p:cNvSpPr txBox="1"/>
          <p:nvPr/>
        </p:nvSpPr>
        <p:spPr>
          <a:xfrm>
            <a:off x="6412687" y="496852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Tuttle et al. (2018), Fig. 2. Validation against manually scored mouse faces.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Tuttle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Pose separates body configuration from location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Pose estimation</a:t>
            </a:r>
            <a:r>
              <a:rPr sz="1500" b="0" i="0">
                <a:solidFill>
                  <a:srgbClr val="000000"/>
                </a:solidFill>
                <a:latin typeface="Arial"/>
              </a:rPr>
              <a:t> measures the positions of selected body landmarks, such as the snout, paws or tail. A single center point reports where an animal is, but multiple landmarks also describe its orientation and configuration. Lauer and colleagues developed multi-animal DeepLabCut to recover those landmarks in animals sharing a recording.</a:t>
            </a:r>
          </a:p>
          <a:p>
            <a:pPr algn="l">
              <a:lnSpc>
                <a:spcPct val="108000"/>
              </a:lnSpc>
              <a:spcAft>
                <a:spcPts val="900"/>
              </a:spcAft>
            </a:pPr>
            <a:r>
              <a:rPr sz="1500" b="0" i="0">
                <a:solidFill>
                  <a:srgbClr val="000000"/>
                </a:solidFill>
                <a:latin typeface="Arial"/>
              </a:rPr>
              <a:t>Their open-field mouse data included close approaches, contact and overlapping bodies. Detecting a paw was only one part of the task: the system also had to assign that paw to the correct mouse. </a:t>
            </a:r>
            <a:r>
              <a:rPr sz="1500" b="1" i="0">
                <a:solidFill>
                  <a:srgbClr val="544A45"/>
                </a:solidFill>
                <a:latin typeface="Arial"/>
              </a:rPr>
              <a:t>Instance assembly</a:t>
            </a:r>
            <a:r>
              <a:rPr sz="1500" b="0" i="0">
                <a:solidFill>
                  <a:srgbClr val="000000"/>
                </a:solidFill>
                <a:latin typeface="Arial"/>
              </a:rPr>
              <a:t> groups detected landmarks into separate animal bodies within each frame.</a:t>
            </a:r>
          </a:p>
          <a:p>
            <a:pPr algn="l">
              <a:lnSpc>
                <a:spcPct val="108000"/>
              </a:lnSpc>
              <a:spcAft>
                <a:spcPts val="900"/>
              </a:spcAft>
            </a:pPr>
            <a:r>
              <a:rPr sz="1500" b="0" i="0">
                <a:solidFill>
                  <a:srgbClr val="000000"/>
                </a:solidFill>
                <a:latin typeface="Arial"/>
              </a:rPr>
              <a:t>The original supplementary recording contains predicted poses during movement and contact. Landmark trajectories preserve changes in body configuration that a center-point trajectory discards. Distinguishing localization, assembly and identity makes each stage of the behavioral measurement separately testable.</a:t>
            </a:r>
          </a:p>
        </p:txBody>
      </p:sp>
      <p:pic>
        <p:nvPicPr>
          <p:cNvPr id="4" name="Picture 3" descr="dlc_animals.png"/>
          <p:cNvPicPr>
            <a:picLocks noChangeAspect="1"/>
          </p:cNvPicPr>
          <p:nvPr/>
        </p:nvPicPr>
        <p:blipFill>
          <a:blip r:embed="rId2"/>
          <a:stretch>
            <a:fillRect/>
          </a:stretch>
        </p:blipFill>
        <p:spPr>
          <a:xfrm>
            <a:off x="6473952" y="1569806"/>
            <a:ext cx="5166360" cy="1322659"/>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Lauer et al. (2022), Fig. 1(a). Annotated mice, marmosets and schooling fish.</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pic>
        <p:nvPicPr>
          <p:cNvPr id="9" name="Picture 8" descr="dlc_video1_poster.jpg"/>
          <p:cNvPicPr>
            <a:picLocks noChangeAspect="1"/>
          </p:cNvPicPr>
          <p:nvPr/>
        </p:nvPicPr>
        <p:blipFill>
          <a:blip r:embed="rId4"/>
          <a:stretch>
            <a:fillRect/>
          </a:stretch>
        </p:blipFill>
        <p:spPr>
          <a:xfrm>
            <a:off x="7642860" y="3822191"/>
            <a:ext cx="2828543" cy="2121408"/>
          </a:xfrm>
          <a:prstGeom prst="rect">
            <a:avLst/>
          </a:prstGeom>
        </p:spPr>
      </p:pic>
      <p:pic>
        <p:nvPicPr>
          <p:cNvPr id="10" name="dlc_video1.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42860" y="3822191"/>
            <a:ext cx="2828543"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Lauer et al. (2022), Supplementary Video 1. Tri-mouse pose predictions.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Parenting creates overlap between unlike bodies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parenting mouse and its pups differ substantially in size and posture. The parenting dataset used separate landmark sets for the adult and the pups, rather than imposing the adult body description on every animal. Body definitions therefore reflected the visible anatomy of the individuals being tracked.</a:t>
            </a:r>
          </a:p>
          <a:p>
            <a:pPr algn="l">
              <a:lnSpc>
                <a:spcPct val="108000"/>
              </a:lnSpc>
              <a:spcAft>
                <a:spcPts val="960"/>
              </a:spcAft>
            </a:pPr>
            <a:r>
              <a:rPr sz="1600" b="0" i="0">
                <a:solidFill>
                  <a:srgbClr val="000000"/>
                </a:solidFill>
                <a:latin typeface="Arial"/>
              </a:rPr>
              <a:t>Contact with pups and the nesting material obscured landmarks. </a:t>
            </a:r>
            <a:r>
              <a:rPr sz="1600" b="1" i="0">
                <a:solidFill>
                  <a:srgbClr val="544A45"/>
                </a:solidFill>
                <a:latin typeface="Arial"/>
              </a:rPr>
              <a:t>Occlusion</a:t>
            </a:r>
            <a:r>
              <a:rPr sz="1600" b="0" i="0">
                <a:solidFill>
                  <a:srgbClr val="000000"/>
                </a:solidFill>
                <a:latin typeface="Arial"/>
              </a:rPr>
              <a:t> occurs when another object or body blocks a feature from the camera. The system combined detected parts with evidence about their connections, allowing visible fragments to contribute to an assembled body instead of requiring a complete unobstructed silhouette.</a:t>
            </a:r>
          </a:p>
          <a:p>
            <a:pPr algn="l">
              <a:lnSpc>
                <a:spcPct val="108000"/>
              </a:lnSpc>
              <a:spcAft>
                <a:spcPts val="960"/>
              </a:spcAft>
            </a:pPr>
            <a:r>
              <a:rPr sz="1600" b="0" i="0">
                <a:solidFill>
                  <a:srgbClr val="000000"/>
                </a:solidFill>
                <a:latin typeface="Arial"/>
              </a:rPr>
              <a:t>The article-provided parenting recording retains the nest, adult and pups in the scene. These interactions make the distinction between an absent detection and an absent animal biologically consequential: a hidden pup remains in the nest even when its full body cannot be localized in that frame.</a:t>
            </a:r>
          </a:p>
        </p:txBody>
      </p:sp>
      <p:pic>
        <p:nvPicPr>
          <p:cNvPr id="4" name="Picture 3" descr="dlc_animals.png"/>
          <p:cNvPicPr>
            <a:picLocks noChangeAspect="1"/>
          </p:cNvPicPr>
          <p:nvPr/>
        </p:nvPicPr>
        <p:blipFill>
          <a:blip r:embed="rId2"/>
          <a:stretch>
            <a:fillRect/>
          </a:stretch>
        </p:blipFill>
        <p:spPr>
          <a:xfrm>
            <a:off x="6473952" y="1569806"/>
            <a:ext cx="5166360" cy="1322659"/>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Lauer et al. (2022), Fig. 1(a). Parenting mice among the annotated datasets.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pic>
        <p:nvPicPr>
          <p:cNvPr id="9" name="Picture 8" descr="dlc_video2_poster.jpg"/>
          <p:cNvPicPr>
            <a:picLocks noChangeAspect="1"/>
          </p:cNvPicPr>
          <p:nvPr/>
        </p:nvPicPr>
        <p:blipFill>
          <a:blip r:embed="rId4"/>
          <a:stretch>
            <a:fillRect/>
          </a:stretch>
        </p:blipFill>
        <p:spPr>
          <a:xfrm>
            <a:off x="7171436" y="3822191"/>
            <a:ext cx="3771392" cy="2121408"/>
          </a:xfrm>
          <a:prstGeom prst="rect">
            <a:avLst/>
          </a:prstGeom>
        </p:spPr>
      </p:pic>
      <p:pic>
        <p:nvPicPr>
          <p:cNvPr id="10" name="dlc_video2.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71436" y="3822191"/>
            <a:ext cx="3771392"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Lauer et al. (2022), Supplementary Video 2. Parenting mouse and pup predictions.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Appearance helps preserve identity during social contact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Individual identity</a:t>
            </a:r>
            <a:r>
              <a:rPr sz="1600" b="0" i="0">
                <a:solidFill>
                  <a:srgbClr val="000000"/>
                </a:solidFill>
                <a:latin typeface="Arial"/>
              </a:rPr>
              <a:t> connects an animal’s pose in one frame to that same animal in later frames. Lauer and colleagues tracked pairs of marmosets in an enclosure with changing positions, postures and occasional occlusion. Visible appearance provided information in addition to the expected location of the animal.</a:t>
            </a:r>
          </a:p>
          <a:p>
            <a:pPr algn="l">
              <a:lnSpc>
                <a:spcPct val="108000"/>
              </a:lnSpc>
              <a:spcAft>
                <a:spcPts val="960"/>
              </a:spcAft>
            </a:pPr>
            <a:r>
              <a:rPr sz="1600" b="0" i="0">
                <a:solidFill>
                  <a:srgbClr val="000000"/>
                </a:solidFill>
                <a:latin typeface="Arial"/>
              </a:rPr>
              <a:t>Identity predictions were more reliable near the head than at distal body parts. A hand can cross another animal’s body, while head features retain more distinctive appearance. Identity evidence consequently varies across the body instead of being equally informative at every detected landmark.</a:t>
            </a:r>
          </a:p>
          <a:p>
            <a:pPr algn="l">
              <a:lnSpc>
                <a:spcPct val="108000"/>
              </a:lnSpc>
              <a:spcAft>
                <a:spcPts val="960"/>
              </a:spcAft>
            </a:pPr>
            <a:r>
              <a:rPr sz="1600" b="0" i="0">
                <a:solidFill>
                  <a:srgbClr val="000000"/>
                </a:solidFill>
                <a:latin typeface="Arial"/>
              </a:rPr>
              <a:t>The study related each marmoset’s posture to the position of its partner. Body-centered coordinates expressed where one animal stood relative to the other, separating their social arrangement from their absolute cage locations. Persistent identities allowed those spatial relationships to be assigned to the correct individuals over time.</a:t>
            </a:r>
          </a:p>
        </p:txBody>
      </p:sp>
      <p:pic>
        <p:nvPicPr>
          <p:cNvPr id="4" name="Picture 3" descr="dlc5d.png"/>
          <p:cNvPicPr>
            <a:picLocks noChangeAspect="1"/>
          </p:cNvPicPr>
          <p:nvPr/>
        </p:nvPicPr>
        <p:blipFill>
          <a:blip r:embed="rId2"/>
          <a:stretch>
            <a:fillRect/>
          </a:stretch>
        </p:blipFill>
        <p:spPr>
          <a:xfrm>
            <a:off x="7426354" y="1234440"/>
            <a:ext cx="3261554"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Lauer et al. (2022), Fig. 5(d). Marmoset body postures and original landmark assignments.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pic>
        <p:nvPicPr>
          <p:cNvPr id="9" name="Picture 8" descr="dlc_video3_poster.jpg"/>
          <p:cNvPicPr>
            <a:picLocks noChangeAspect="1"/>
          </p:cNvPicPr>
          <p:nvPr/>
        </p:nvPicPr>
        <p:blipFill>
          <a:blip r:embed="rId4"/>
          <a:stretch>
            <a:fillRect/>
          </a:stretch>
        </p:blipFill>
        <p:spPr>
          <a:xfrm>
            <a:off x="7911964" y="3822191"/>
            <a:ext cx="2290334" cy="2121408"/>
          </a:xfrm>
          <a:prstGeom prst="rect">
            <a:avLst/>
          </a:prstGeom>
        </p:spPr>
      </p:pic>
      <p:pic>
        <p:nvPicPr>
          <p:cNvPr id="10" name="dlc_video3.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11964" y="3822191"/>
            <a:ext cx="2290334"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Lauer et al. (2022), Supplementary Video 3. Marmoset pose predictions.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Schooling fish challenge a two-dimensional tracker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Schooling fish move through a three-dimensional tank while a camera records a two-dimensional projection. Fish can overlap in the image without occupying the same depth. Similar appearance and rapid changes in orientation make position alone an unreliable cue for preserving identity during a crossing.</a:t>
            </a:r>
          </a:p>
          <a:p>
            <a:pPr algn="l">
              <a:lnSpc>
                <a:spcPct val="108000"/>
              </a:lnSpc>
              <a:spcAft>
                <a:spcPts val="900"/>
              </a:spcAft>
            </a:pPr>
            <a:r>
              <a:rPr sz="1500" b="0" i="0">
                <a:solidFill>
                  <a:srgbClr val="000000"/>
                </a:solidFill>
                <a:latin typeface="Arial"/>
              </a:rPr>
              <a:t>Lauer and colleagues combined locally tracked body poses with </a:t>
            </a:r>
            <a:r>
              <a:rPr sz="1500" b="1" i="0">
                <a:solidFill>
                  <a:srgbClr val="544A45"/>
                </a:solidFill>
                <a:latin typeface="Arial"/>
              </a:rPr>
              <a:t>re-identification</a:t>
            </a:r>
            <a:r>
              <a:rPr sz="1500" b="0" i="0">
                <a:solidFill>
                  <a:srgbClr val="000000"/>
                </a:solidFill>
                <a:latin typeface="Arial"/>
              </a:rPr>
              <a:t>, a method that matches the same individual across interrupted tracks. A learned representation of appearance helped link separated observations. Crowded frames tested the method under conditions in which animals were difficult to distinguish.</a:t>
            </a:r>
          </a:p>
          <a:p>
            <a:pPr algn="l">
              <a:lnSpc>
                <a:spcPct val="108000"/>
              </a:lnSpc>
              <a:spcAft>
                <a:spcPts val="900"/>
              </a:spcAft>
            </a:pPr>
            <a:r>
              <a:rPr sz="1500" b="0" i="0">
                <a:solidFill>
                  <a:srgbClr val="000000"/>
                </a:solidFill>
                <a:latin typeface="Arial"/>
              </a:rPr>
              <a:t>The supplied fish recording contains the original tracking predictions during schooling. Short fragments can retain useful movement information even when a full continuous identity track is interrupted. Reconnecting fragments improves the assignment of later movements to the fish that produced the earlier movements.</a:t>
            </a:r>
          </a:p>
        </p:txBody>
      </p:sp>
      <p:pic>
        <p:nvPicPr>
          <p:cNvPr id="4" name="Picture 3" descr="dlc4.png"/>
          <p:cNvPicPr>
            <a:picLocks noChangeAspect="1"/>
          </p:cNvPicPr>
          <p:nvPr/>
        </p:nvPicPr>
        <p:blipFill>
          <a:blip r:embed="rId2"/>
          <a:stretch>
            <a:fillRect/>
          </a:stretch>
        </p:blipFill>
        <p:spPr>
          <a:xfrm>
            <a:off x="7655105" y="1234440"/>
            <a:ext cx="2804052"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Lauer et al. (2022), Fig. 4. Re-identification during crowded fish recordings.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pic>
        <p:nvPicPr>
          <p:cNvPr id="9" name="Picture 8" descr="dlc_video4_poster.jpg"/>
          <p:cNvPicPr>
            <a:picLocks noChangeAspect="1"/>
          </p:cNvPicPr>
          <p:nvPr/>
        </p:nvPicPr>
        <p:blipFill>
          <a:blip r:embed="rId4"/>
          <a:stretch>
            <a:fillRect/>
          </a:stretch>
        </p:blipFill>
        <p:spPr>
          <a:xfrm>
            <a:off x="7996428" y="3822191"/>
            <a:ext cx="2121408" cy="2121408"/>
          </a:xfrm>
          <a:prstGeom prst="rect">
            <a:avLst/>
          </a:prstGeom>
        </p:spPr>
      </p:pic>
      <p:pic>
        <p:nvPicPr>
          <p:cNvPr id="10" name="dlc_video4.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96428" y="3822191"/>
            <a:ext cx="2121408"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Lauer et al. (2022), Supplementary Video 4. Schooling fish pose predictions.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Landmark connections determine whole-body assembly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Part-affinity fields</a:t>
            </a:r>
            <a:r>
              <a:rPr sz="1500" b="0" i="0">
                <a:solidFill>
                  <a:srgbClr val="000000"/>
                </a:solidFill>
                <a:latin typeface="Arial"/>
              </a:rPr>
              <a:t> encode the orientation of a connection between two body landmarks. For example, a connection between a shoulder and a hand contributes evidence that the two belong to the same animal. These fields supplement the probability that a landmark occupies a particular image location.</a:t>
            </a:r>
          </a:p>
          <a:p>
            <a:pPr algn="l">
              <a:lnSpc>
                <a:spcPct val="108000"/>
              </a:lnSpc>
              <a:spcAft>
                <a:spcPts val="900"/>
              </a:spcAft>
            </a:pPr>
            <a:r>
              <a:rPr sz="1500" b="0" i="0">
                <a:solidFill>
                  <a:srgbClr val="000000"/>
                </a:solidFill>
                <a:latin typeface="Arial"/>
              </a:rPr>
              <a:t>A computational </a:t>
            </a:r>
            <a:r>
              <a:rPr sz="1500" b="1" i="0">
                <a:solidFill>
                  <a:srgbClr val="544A45"/>
                </a:solidFill>
                <a:latin typeface="Arial"/>
              </a:rPr>
              <a:t>skeleton</a:t>
            </a:r>
            <a:r>
              <a:rPr sz="1500" b="0" i="0">
                <a:solidFill>
                  <a:srgbClr val="000000"/>
                </a:solidFill>
                <a:latin typeface="Arial"/>
              </a:rPr>
              <a:t> is the set of landmark connections used for assembly, rather than a reconstruction of bones. The study compared a user-selected graph with data-driven connection selection. Some connections distinguished parts of one animal from neighboring animals more effectively than others.</a:t>
            </a:r>
          </a:p>
          <a:p>
            <a:pPr algn="l">
              <a:lnSpc>
                <a:spcPct val="108000"/>
              </a:lnSpc>
              <a:spcAft>
                <a:spcPts val="900"/>
              </a:spcAft>
            </a:pPr>
            <a:r>
              <a:rPr sz="1500" b="0" i="0">
                <a:solidFill>
                  <a:srgbClr val="000000"/>
                </a:solidFill>
                <a:latin typeface="Arial"/>
              </a:rPr>
              <a:t>Choosing informative connections improved assembly while limiting unnecessary comparisons. A collection of accurate landmark detections can still produce an incorrect animal if its parts are grouped wrongly. Evaluating detection and grouping separately exposes that distinction in multi-animal behavioral measurements.</a:t>
            </a:r>
          </a:p>
        </p:txBody>
      </p:sp>
      <p:pic>
        <p:nvPicPr>
          <p:cNvPr id="4" name="Picture 3" descr="dlc2bc.png"/>
          <p:cNvPicPr>
            <a:picLocks noChangeAspect="1"/>
          </p:cNvPicPr>
          <p:nvPr/>
        </p:nvPicPr>
        <p:blipFill>
          <a:blip r:embed="rId2"/>
          <a:stretch>
            <a:fillRect/>
          </a:stretch>
        </p:blipFill>
        <p:spPr>
          <a:xfrm>
            <a:off x="7383685" y="1280160"/>
            <a:ext cx="327008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et al. (2022), Fig. 2. Detection and grouping with alternative landmark graphs.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 new cage tests generalization beyond training images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Generalization</a:t>
            </a:r>
            <a:r>
              <a:rPr sz="1500" b="0" i="0">
                <a:solidFill>
                  <a:srgbClr val="000000"/>
                </a:solidFill>
                <a:latin typeface="Arial"/>
              </a:rPr>
              <a:t> is performance on conditions outside those used for training. Lauer and colleagues examined marmoset tracking in additional cage environments, where the background, lighting and visible posture could differ from the original annotated data. Testing only neighboring frames from one scene would leave those changes largely unchallenged.</a:t>
            </a:r>
          </a:p>
          <a:p>
            <a:pPr algn="l">
              <a:lnSpc>
                <a:spcPct val="108000"/>
              </a:lnSpc>
              <a:spcAft>
                <a:spcPts val="900"/>
              </a:spcAft>
            </a:pPr>
            <a:r>
              <a:rPr sz="1500" b="0" i="0">
                <a:solidFill>
                  <a:srgbClr val="000000"/>
                </a:solidFill>
                <a:latin typeface="Arial"/>
              </a:rPr>
              <a:t>The benchmark measured landmark localization against manually annotated positions. Errors in pixels describe image-space accuracy, but their biological impact depends on animal size and on the behavior being measured. A small displacement at a paw can alter a contact estimate even when the animal’s overall location is accurate.</a:t>
            </a:r>
          </a:p>
          <a:p>
            <a:pPr algn="l">
              <a:lnSpc>
                <a:spcPct val="108000"/>
              </a:lnSpc>
              <a:spcAft>
                <a:spcPts val="900"/>
              </a:spcAft>
            </a:pPr>
            <a:r>
              <a:rPr sz="1500" b="0" i="0">
                <a:solidFill>
                  <a:srgbClr val="000000"/>
                </a:solidFill>
                <a:latin typeface="Arial"/>
              </a:rPr>
              <a:t>The study’s datasets included open-field mice, parenting mice, marmosets and fish. Each required annotations matching its recording conditions and body landmarks. Transfer across environments therefore involved validating the measurement in the new scene, rather than assuming that a successful training result established universal performance.</a:t>
            </a:r>
          </a:p>
        </p:txBody>
      </p:sp>
      <p:pic>
        <p:nvPicPr>
          <p:cNvPr id="4" name="Picture 3" descr="dlc_ed6.png"/>
          <p:cNvPicPr>
            <a:picLocks noChangeAspect="1"/>
          </p:cNvPicPr>
          <p:nvPr/>
        </p:nvPicPr>
        <p:blipFill>
          <a:blip r:embed="rId2"/>
          <a:stretch>
            <a:fillRect/>
          </a:stretch>
        </p:blipFill>
        <p:spPr>
          <a:xfrm>
            <a:off x="6630931" y="1280160"/>
            <a:ext cx="477559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et al. (2022), Extended Data Fig. 6. Tracking generalization across recording settings.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Silhouette tracking fails differently from pose tracking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Segmentation</a:t>
            </a:r>
            <a:r>
              <a:rPr sz="1500" b="0" i="0">
                <a:solidFill>
                  <a:srgbClr val="000000"/>
                </a:solidFill>
                <a:latin typeface="Arial"/>
              </a:rPr>
              <a:t> separates an animal’s pixels from the background. A silhouette-based identity tracker depends on that separation before it can describe the animal’s appearance. Nonuniform lighting, enclosure features and overlapping bodies can disrupt segmentation even when a human observer can still recognize the animals.</a:t>
            </a:r>
          </a:p>
          <a:p>
            <a:pPr algn="l">
              <a:lnSpc>
                <a:spcPct val="108000"/>
              </a:lnSpc>
              <a:spcAft>
                <a:spcPts val="900"/>
              </a:spcAft>
            </a:pPr>
            <a:r>
              <a:rPr sz="1500" b="0" i="0">
                <a:solidFill>
                  <a:srgbClr val="000000"/>
                </a:solidFill>
                <a:latin typeface="Arial"/>
              </a:rPr>
              <a:t>Lauer and colleagues compared pose tracking with idtracker.ai in the mouse and marmoset recordings. The original comparison movie preserves the competing predictions in their recording contexts. Pose-based detection uses local body-part evidence, whereas silhouette-based tracking first depends on identifying a suitable animal region.</a:t>
            </a:r>
          </a:p>
          <a:p>
            <a:pPr algn="l">
              <a:lnSpc>
                <a:spcPct val="108000"/>
              </a:lnSpc>
              <a:spcAft>
                <a:spcPts val="900"/>
              </a:spcAft>
            </a:pPr>
            <a:r>
              <a:rPr sz="1500" b="0" i="0">
                <a:solidFill>
                  <a:srgbClr val="000000"/>
                </a:solidFill>
                <a:latin typeface="Arial"/>
              </a:rPr>
              <a:t>Failure at an early image-processing stage changes the information available to subsequent identity matching. Correcting an identity label cannot restore a body that was not separated from the background. Comparing these failure modes connects the choice of tracking method to the actual scene and social behavior being recorded.</a:t>
            </a:r>
          </a:p>
        </p:txBody>
      </p:sp>
      <p:pic>
        <p:nvPicPr>
          <p:cNvPr id="4" name="Picture 3" descr="dlc_ed8ac.png"/>
          <p:cNvPicPr>
            <a:picLocks noChangeAspect="1"/>
          </p:cNvPicPr>
          <p:nvPr/>
        </p:nvPicPr>
        <p:blipFill>
          <a:blip r:embed="rId2"/>
          <a:stretch>
            <a:fillRect/>
          </a:stretch>
        </p:blipFill>
        <p:spPr>
          <a:xfrm>
            <a:off x="7444619" y="1234440"/>
            <a:ext cx="3225024"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Lauer et al. (2022), Extended Data Fig. 8(a–c). Segmentation in mouse and marmoset recordings.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pic>
        <p:nvPicPr>
          <p:cNvPr id="9" name="Picture 8" descr="dlc_video5_poster.jpg"/>
          <p:cNvPicPr>
            <a:picLocks noChangeAspect="1"/>
          </p:cNvPicPr>
          <p:nvPr/>
        </p:nvPicPr>
        <p:blipFill>
          <a:blip r:embed="rId4"/>
          <a:stretch>
            <a:fillRect/>
          </a:stretch>
        </p:blipFill>
        <p:spPr>
          <a:xfrm>
            <a:off x="7174382" y="3822191"/>
            <a:ext cx="3765499" cy="2121408"/>
          </a:xfrm>
          <a:prstGeom prst="rect">
            <a:avLst/>
          </a:prstGeom>
        </p:spPr>
      </p:pic>
      <p:pic>
        <p:nvPicPr>
          <p:cNvPr id="10" name="dlc_video5.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74382" y="3822191"/>
            <a:ext cx="3765499"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Lauer et al. (2022), Supplementary Video 5. idtracker.ai on mice and marmosets.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Track fragments require explicit reconnection evidence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44A45"/>
                </a:solidFill>
                <a:latin typeface="Arial"/>
              </a:rPr>
              <a:t>tracklet</a:t>
            </a:r>
            <a:r>
              <a:rPr sz="1500" b="0" i="0">
                <a:solidFill>
                  <a:srgbClr val="000000"/>
                </a:solidFill>
                <a:latin typeface="Arial"/>
              </a:rPr>
              <a:t> is a short sequence of detections linked as belonging to one animal. Occlusion can end a tracklet even though the animal remains in the scene. Lauer and colleagues first established local connections between neighboring frames, then evaluated how separated fragments could be reconnected.</a:t>
            </a:r>
          </a:p>
          <a:p>
            <a:pPr algn="l">
              <a:lnSpc>
                <a:spcPct val="108000"/>
              </a:lnSpc>
              <a:spcAft>
                <a:spcPts val="900"/>
              </a:spcAft>
            </a:pPr>
            <a:r>
              <a:rPr sz="1500" b="0" i="0">
                <a:solidFill>
                  <a:srgbClr val="000000"/>
                </a:solidFill>
                <a:latin typeface="Arial"/>
              </a:rPr>
              <a:t>The stitching procedure used shape similarity, spatial proximity, movement predictions and similarities in trajectory dynamics. Each supplied a different kind of evidence that two fragments belonged to the same individual. A nearby fragment could still be the wrong match if its shape or movement conflicted with the earlier animal.</a:t>
            </a:r>
          </a:p>
          <a:p>
            <a:pPr algn="l">
              <a:lnSpc>
                <a:spcPct val="108000"/>
              </a:lnSpc>
              <a:spcAft>
                <a:spcPts val="900"/>
              </a:spcAft>
            </a:pPr>
            <a:r>
              <a:rPr sz="1500" b="0" i="0">
                <a:solidFill>
                  <a:srgbClr val="000000"/>
                </a:solidFill>
                <a:latin typeface="Arial"/>
              </a:rPr>
              <a:t>The study compared stitched tracks with simpler box and ellipse trackers. Combining fragments improved continuity and reduced identity switches. Explicitly separating local tracking from later stitching made long behavioral records recoverable when uninterrupted frame-to-frame matching failed.</a:t>
            </a:r>
          </a:p>
        </p:txBody>
      </p:sp>
      <p:pic>
        <p:nvPicPr>
          <p:cNvPr id="4" name="Picture 3" descr="dlc3ab.png"/>
          <p:cNvPicPr>
            <a:picLocks noChangeAspect="1"/>
          </p:cNvPicPr>
          <p:nvPr/>
        </p:nvPicPr>
        <p:blipFill>
          <a:blip r:embed="rId2"/>
          <a:stretch>
            <a:fillRect/>
          </a:stretch>
        </p:blipFill>
        <p:spPr>
          <a:xfrm>
            <a:off x="7270693" y="1280160"/>
            <a:ext cx="349606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et al. (2022), Fig. 3(a–e). Ground-truth tracks, reconstructed tracks and local matching.</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 shared tracking system needs different body definitions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Pereira and colleagues developed </a:t>
            </a:r>
            <a:r>
              <a:rPr sz="1500" b="1" i="0">
                <a:solidFill>
                  <a:srgbClr val="544A45"/>
                </a:solidFill>
                <a:latin typeface="Arial"/>
              </a:rPr>
              <a:t>SLEAP</a:t>
            </a:r>
            <a:r>
              <a:rPr sz="1500" b="0" i="0">
                <a:solidFill>
                  <a:srgbClr val="000000"/>
                </a:solidFill>
                <a:latin typeface="Arial"/>
              </a:rPr>
              <a:t>, a system for multi-animal pose tracking across different recording preparations. Fly courtship, bees on a honeycomb floor, open-field mice and home-cage animals presented different body forms, textures and camera views. The shared software operated on landmark definitions selected for each dataset.</a:t>
            </a:r>
          </a:p>
          <a:p>
            <a:pPr algn="l">
              <a:lnSpc>
                <a:spcPct val="108000"/>
              </a:lnSpc>
              <a:spcAft>
                <a:spcPts val="900"/>
              </a:spcAft>
            </a:pPr>
            <a:r>
              <a:rPr sz="1500" b="0" i="0">
                <a:solidFill>
                  <a:srgbClr val="000000"/>
                </a:solidFill>
                <a:latin typeface="Arial"/>
              </a:rPr>
              <a:t>The recorded body landmarks described anatomical locations rather than a universal list of points. A bee’s body and appendages required a different annotation scheme from a mouse viewed from below. Camera orientation also changed which features were visible and which could support a reliable measurement.</a:t>
            </a:r>
          </a:p>
          <a:p>
            <a:pPr algn="l">
              <a:lnSpc>
                <a:spcPct val="108000"/>
              </a:lnSpc>
              <a:spcAft>
                <a:spcPts val="900"/>
              </a:spcAft>
            </a:pPr>
            <a:r>
              <a:rPr sz="1500" b="0" i="0">
                <a:solidFill>
                  <a:srgbClr val="000000"/>
                </a:solidFill>
                <a:latin typeface="Arial"/>
              </a:rPr>
              <a:t>The original supplementary video contains predictions across these preparations before manual proofreading. The output preserves both successful tracking and errors. Cross-species automation therefore combines a common computational procedure with species- and view-specific definitions of the behaviorally relevant body features.</a:t>
            </a:r>
          </a:p>
        </p:txBody>
      </p:sp>
      <p:pic>
        <p:nvPicPr>
          <p:cNvPr id="4" name="Picture 3" descr="sleap_ed1.png"/>
          <p:cNvPicPr>
            <a:picLocks noChangeAspect="1"/>
          </p:cNvPicPr>
          <p:nvPr/>
        </p:nvPicPr>
        <p:blipFill>
          <a:blip r:embed="rId2"/>
          <a:stretch>
            <a:fillRect/>
          </a:stretch>
        </p:blipFill>
        <p:spPr>
          <a:xfrm>
            <a:off x="7748426" y="1234440"/>
            <a:ext cx="2617410"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Pereira et al. (2022), Extended Data Fig. 1(a–f). Flies, bees, mice and gerbils in their recording settings.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pic>
        <p:nvPicPr>
          <p:cNvPr id="9" name="Picture 8" descr="sleap_video1_poster.jpg"/>
          <p:cNvPicPr>
            <a:picLocks noChangeAspect="1"/>
          </p:cNvPicPr>
          <p:nvPr/>
        </p:nvPicPr>
        <p:blipFill>
          <a:blip r:embed="rId4"/>
          <a:stretch>
            <a:fillRect/>
          </a:stretch>
        </p:blipFill>
        <p:spPr>
          <a:xfrm>
            <a:off x="7466076" y="3822191"/>
            <a:ext cx="3182111" cy="2121408"/>
          </a:xfrm>
          <a:prstGeom prst="rect">
            <a:avLst/>
          </a:prstGeom>
        </p:spPr>
      </p:pic>
      <p:pic>
        <p:nvPicPr>
          <p:cNvPr id="10" name="sleap_video1.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466076" y="3822191"/>
            <a:ext cx="3182111"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Pereira et al. (2022), Supplementary Video 1. Uncorrected predictions across species.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Human labels define what the computer learns to measure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Annotation</a:t>
            </a:r>
            <a:r>
              <a:rPr sz="1500" b="0" i="0">
                <a:solidFill>
                  <a:srgbClr val="000000"/>
                </a:solidFill>
                <a:latin typeface="Arial"/>
              </a:rPr>
              <a:t> assigns named landmarks to visible locations in a recorded frame. In SLEAP, a researcher labels selected images, trains a model and then inspects its predictions. The supplied labeling-workflow recording documents that sequence using the authors’ own interface and animal footage.</a:t>
            </a:r>
          </a:p>
          <a:p>
            <a:pPr algn="l">
              <a:lnSpc>
                <a:spcPct val="108000"/>
              </a:lnSpc>
              <a:spcAft>
                <a:spcPts val="900"/>
              </a:spcAft>
            </a:pPr>
            <a:r>
              <a:rPr sz="1500" b="0" i="0">
                <a:solidFill>
                  <a:srgbClr val="000000"/>
                </a:solidFill>
                <a:latin typeface="Arial"/>
              </a:rPr>
              <a:t>Labels need consistent anatomical meaning across changes in posture. A left-side landmark remains associated with the animal’s left side even when its projected position crosses the image midline. Visibility and occlusion also require consistent handling so that uncertain locations are not treated as reliable observations.</a:t>
            </a:r>
          </a:p>
          <a:p>
            <a:pPr algn="l">
              <a:lnSpc>
                <a:spcPct val="108000"/>
              </a:lnSpc>
              <a:spcAft>
                <a:spcPts val="900"/>
              </a:spcAft>
            </a:pPr>
            <a:r>
              <a:rPr sz="1500" b="0" i="0">
                <a:solidFill>
                  <a:srgbClr val="000000"/>
                </a:solidFill>
                <a:latin typeface="Arial"/>
              </a:rPr>
              <a:t>Model-assisted labeling uses predicted landmarks as an editable starting point for additional training frames. Correcting mistakes supplies examples from difficult scenes rather than repeatedly labeling only easy poses. The measurement definition remains grounded in the anatomical assignments made by the researcher.</a:t>
            </a:r>
          </a:p>
        </p:txBody>
      </p:sp>
      <p:pic>
        <p:nvPicPr>
          <p:cNvPr id="4" name="Picture 3" descr="sleap_ed2.png"/>
          <p:cNvPicPr>
            <a:picLocks noChangeAspect="1"/>
          </p:cNvPicPr>
          <p:nvPr/>
        </p:nvPicPr>
        <p:blipFill>
          <a:blip r:embed="rId2"/>
          <a:stretch>
            <a:fillRect/>
          </a:stretch>
        </p:blipFill>
        <p:spPr>
          <a:xfrm>
            <a:off x="7703975" y="1234440"/>
            <a:ext cx="2706313"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Pereira et al. (2022), Extended Data Fig. 2. The original annotation interface and body landmarks.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pic>
        <p:nvPicPr>
          <p:cNvPr id="9" name="Picture 8" descr="sleap_video2_poster.jpg"/>
          <p:cNvPicPr>
            <a:picLocks noChangeAspect="1"/>
          </p:cNvPicPr>
          <p:nvPr/>
        </p:nvPicPr>
        <p:blipFill>
          <a:blip r:embed="rId4"/>
          <a:stretch>
            <a:fillRect/>
          </a:stretch>
        </p:blipFill>
        <p:spPr>
          <a:xfrm>
            <a:off x="7125640" y="3822191"/>
            <a:ext cx="3862982" cy="2121408"/>
          </a:xfrm>
          <a:prstGeom prst="rect">
            <a:avLst/>
          </a:prstGeom>
        </p:spPr>
      </p:pic>
      <p:pic>
        <p:nvPicPr>
          <p:cNvPr id="10" name="sleap_video2.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25640" y="3822191"/>
            <a:ext cx="3862982"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Pereira et al. (2022), Supplementary Video 2. Original labeling-session screencast.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Grouping can precede or follow animal localization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SLEAP implements </a:t>
            </a:r>
            <a:r>
              <a:rPr sz="1500" b="1" i="0">
                <a:solidFill>
                  <a:srgbClr val="544A45"/>
                </a:solidFill>
                <a:latin typeface="Arial"/>
              </a:rPr>
              <a:t>bottom-up</a:t>
            </a:r>
            <a:r>
              <a:rPr sz="1500" b="0" i="0">
                <a:solidFill>
                  <a:srgbClr val="000000"/>
                </a:solidFill>
                <a:latin typeface="Arial"/>
              </a:rPr>
              <a:t> and </a:t>
            </a:r>
            <a:r>
              <a:rPr sz="1500" b="1" i="0">
                <a:solidFill>
                  <a:srgbClr val="544A45"/>
                </a:solidFill>
                <a:latin typeface="Arial"/>
              </a:rPr>
              <a:t>top-down</a:t>
            </a:r>
            <a:r>
              <a:rPr sz="1500" b="0" i="0">
                <a:solidFill>
                  <a:srgbClr val="000000"/>
                </a:solidFill>
                <a:latin typeface="Arial"/>
              </a:rPr>
              <a:t> pose estimation. A bottom-up model detects body parts across the entire frame, then groups the parts into animals using connection evidence. A top-down model first locates an anchor for each animal, then estimates its body parts within a crop centered on that animal.</a:t>
            </a:r>
          </a:p>
          <a:p>
            <a:pPr algn="l">
              <a:lnSpc>
                <a:spcPct val="108000"/>
              </a:lnSpc>
              <a:spcAft>
                <a:spcPts val="900"/>
              </a:spcAft>
            </a:pPr>
            <a:r>
              <a:rPr sz="1500" b="0" i="0">
                <a:solidFill>
                  <a:srgbClr val="000000"/>
                </a:solidFill>
                <a:latin typeface="Arial"/>
              </a:rPr>
              <a:t>Top-down inference repeats the second stage for each detected individual. Its computational cost therefore increases with the number of animals. Bottom-up inference processes the full scene in one main detection stage, although assembling the resulting landmarks also consumes computation.</a:t>
            </a:r>
          </a:p>
          <a:p>
            <a:pPr algn="l">
              <a:lnSpc>
                <a:spcPct val="108000"/>
              </a:lnSpc>
              <a:spcAft>
                <a:spcPts val="900"/>
              </a:spcAft>
            </a:pPr>
            <a:r>
              <a:rPr sz="1500" b="0" i="0">
                <a:solidFill>
                  <a:srgbClr val="000000"/>
                </a:solidFill>
                <a:latin typeface="Arial"/>
              </a:rPr>
              <a:t>The study compared both approaches on held-out animal images. Their relative performance depended on the dataset, including body appearance, clutter and animal count. The authors’ original methods movie traces these processing stages, linking the order of computations to the grouping problems encountered in real recordings.</a:t>
            </a:r>
          </a:p>
        </p:txBody>
      </p:sp>
      <p:pic>
        <p:nvPicPr>
          <p:cNvPr id="4" name="Picture 3" descr="sleap3ab.png"/>
          <p:cNvPicPr>
            <a:picLocks noChangeAspect="1"/>
          </p:cNvPicPr>
          <p:nvPr/>
        </p:nvPicPr>
        <p:blipFill>
          <a:blip r:embed="rId2"/>
          <a:stretch>
            <a:fillRect/>
          </a:stretch>
        </p:blipFill>
        <p:spPr>
          <a:xfrm>
            <a:off x="7815329" y="1234440"/>
            <a:ext cx="2483605"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Pereira et al. (2022), Fig. 3(a–b). Bottom-up and top-down pose processing stages.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pic>
        <p:nvPicPr>
          <p:cNvPr id="9" name="Picture 8" descr="sleap_video3_poster.jpg"/>
          <p:cNvPicPr>
            <a:picLocks noChangeAspect="1"/>
          </p:cNvPicPr>
          <p:nvPr/>
        </p:nvPicPr>
        <p:blipFill>
          <a:blip r:embed="rId4"/>
          <a:stretch>
            <a:fillRect/>
          </a:stretch>
        </p:blipFill>
        <p:spPr>
          <a:xfrm>
            <a:off x="7171436" y="3822191"/>
            <a:ext cx="3771392" cy="2121408"/>
          </a:xfrm>
          <a:prstGeom prst="rect">
            <a:avLst/>
          </a:prstGeom>
        </p:spPr>
      </p:pic>
      <p:pic>
        <p:nvPicPr>
          <p:cNvPr id="10" name="sleap_video3.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71436" y="3822191"/>
            <a:ext cx="3771392"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Pereira et al. (2022), Supplementary Video 3. Original authors’ pose-processing explanation.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Visual context changes landmark recognition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network’s </a:t>
            </a:r>
            <a:r>
              <a:rPr sz="1600" b="1" i="0">
                <a:solidFill>
                  <a:srgbClr val="544A45"/>
                </a:solidFill>
                <a:latin typeface="Arial"/>
              </a:rPr>
              <a:t>receptive field</a:t>
            </a:r>
            <a:r>
              <a:rPr sz="1600" b="0" i="0">
                <a:solidFill>
                  <a:srgbClr val="000000"/>
                </a:solidFill>
                <a:latin typeface="Arial"/>
              </a:rPr>
              <a:t> is the region of input pixels that can influence a particular output. A very small field may contain a leg segment without enough neighboring anatomy to identify which leg it is. Increasing context allows the model to use the surrounding body configuration.</a:t>
            </a:r>
          </a:p>
          <a:p>
            <a:pPr algn="l">
              <a:lnSpc>
                <a:spcPct val="108000"/>
              </a:lnSpc>
              <a:spcAft>
                <a:spcPts val="960"/>
              </a:spcAft>
            </a:pPr>
            <a:r>
              <a:rPr sz="1600" b="0" i="0">
                <a:solidFill>
                  <a:srgbClr val="000000"/>
                </a:solidFill>
                <a:latin typeface="Arial"/>
              </a:rPr>
              <a:t>SLEAP varied receptive-field size and measured pose-estimation accuracy in flies, mice and bees. Optimal sizes differed among datasets. Body scale, magnification and the distance between landmarks changed how much image context was needed to distinguish the relevant parts.</a:t>
            </a:r>
          </a:p>
          <a:p>
            <a:pPr algn="l">
              <a:lnSpc>
                <a:spcPct val="108000"/>
              </a:lnSpc>
              <a:spcAft>
                <a:spcPts val="960"/>
              </a:spcAft>
            </a:pPr>
            <a:r>
              <a:rPr sz="1600" b="0" i="0">
                <a:solidFill>
                  <a:srgbClr val="000000"/>
                </a:solidFill>
                <a:latin typeface="Arial"/>
              </a:rPr>
              <a:t>Adding context also increased the computational work of the tested network configurations. Receptive-field choice consequently affected both recognition and processing speed. The published overlays retain the original animal scenes, making the amount of sampled visual context explicit without equating it with an animal’s own sensory field.</a:t>
            </a:r>
          </a:p>
        </p:txBody>
      </p:sp>
      <p:pic>
        <p:nvPicPr>
          <p:cNvPr id="4" name="Picture 3" descr="sleap_ed4.png"/>
          <p:cNvPicPr>
            <a:picLocks noChangeAspect="1"/>
          </p:cNvPicPr>
          <p:nvPr/>
        </p:nvPicPr>
        <p:blipFill>
          <a:blip r:embed="rId2"/>
          <a:stretch>
            <a:fillRect/>
          </a:stretch>
        </p:blipFill>
        <p:spPr>
          <a:xfrm>
            <a:off x="6412687" y="1280160"/>
            <a:ext cx="5212080" cy="1691337"/>
          </a:xfrm>
          <a:prstGeom prst="rect">
            <a:avLst/>
          </a:prstGeom>
        </p:spPr>
      </p:pic>
      <p:sp>
        <p:nvSpPr>
          <p:cNvPr id="5" name="Figure caption"/>
          <p:cNvSpPr txBox="1"/>
          <p:nvPr/>
        </p:nvSpPr>
        <p:spPr>
          <a:xfrm>
            <a:off x="6412687" y="306293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(2022), Extended Data Fig. 4(a–c). Network receptive fields over flies, mice and bees.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Processing speed must match the behavioral task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Inference</a:t>
            </a:r>
            <a:r>
              <a:rPr sz="1600" b="0" i="0">
                <a:solidFill>
                  <a:srgbClr val="000000"/>
                </a:solidFill>
                <a:latin typeface="Arial"/>
              </a:rPr>
              <a:t> is the computation that turns a new image into a model prediction. SLEAP measured inference speed alongside landmark accuracy, because a fast but misplaced body estimate can trigger an experimental event at the wrong location. Conversely, accurate predictions produced too late can miss the relevant action.</a:t>
            </a:r>
          </a:p>
          <a:p>
            <a:pPr algn="l">
              <a:lnSpc>
                <a:spcPct val="108000"/>
              </a:lnSpc>
              <a:spcAft>
                <a:spcPts val="960"/>
              </a:spcAft>
            </a:pPr>
            <a:r>
              <a:rPr sz="1600" b="0" i="0">
                <a:solidFill>
                  <a:srgbClr val="000000"/>
                </a:solidFill>
                <a:latin typeface="Arial"/>
              </a:rPr>
              <a:t>Offline processing can use batches of recorded images to improve throughput. A real-time experiment receives new frames sequentially and must act on the current scene. High batch-processing speed therefore differs from the delay between one newly acquired frame and a usable prediction.</a:t>
            </a:r>
          </a:p>
          <a:p>
            <a:pPr algn="l">
              <a:lnSpc>
                <a:spcPct val="108000"/>
              </a:lnSpc>
              <a:spcAft>
                <a:spcPts val="960"/>
              </a:spcAft>
            </a:pPr>
            <a:r>
              <a:rPr sz="1600" b="0" i="0">
                <a:solidFill>
                  <a:srgbClr val="000000"/>
                </a:solidFill>
                <a:latin typeface="Arial"/>
              </a:rPr>
              <a:t>The study evaluated body-part errors against held-out manual labels and compared speed across model configurations. Both measurements belonged to the actual recording and computational setup. Selecting a model for a behavioral task required the combination of sufficient anatomical accuracy and timely output.</a:t>
            </a:r>
          </a:p>
        </p:txBody>
      </p:sp>
      <p:pic>
        <p:nvPicPr>
          <p:cNvPr id="4" name="Picture 3" descr="sleap2.png"/>
          <p:cNvPicPr>
            <a:picLocks noChangeAspect="1"/>
          </p:cNvPicPr>
          <p:nvPr/>
        </p:nvPicPr>
        <p:blipFill>
          <a:blip r:embed="rId2"/>
          <a:stretch>
            <a:fillRect/>
          </a:stretch>
        </p:blipFill>
        <p:spPr>
          <a:xfrm>
            <a:off x="6412687" y="1280160"/>
            <a:ext cx="5212079" cy="3545292"/>
          </a:xfrm>
          <a:prstGeom prst="rect">
            <a:avLst/>
          </a:prstGeom>
        </p:spPr>
      </p:pic>
      <p:sp>
        <p:nvSpPr>
          <p:cNvPr id="5" name="Figure caption"/>
          <p:cNvSpPr txBox="1"/>
          <p:nvPr/>
        </p:nvSpPr>
        <p:spPr>
          <a:xfrm>
            <a:off x="6412687" y="491689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(2022), Fig. 2(a–g). Speed, training efficiency and landmark errors.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An identity error can persist after animals separate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Temporal tracking</a:t>
            </a:r>
            <a:r>
              <a:rPr sz="1500" b="0" i="0">
                <a:solidFill>
                  <a:srgbClr val="000000"/>
                </a:solidFill>
                <a:latin typeface="Arial"/>
              </a:rPr>
              <a:t> matches current poses to earlier poses using expected movement. SLEAP’s flow-shift method estimated how earlier body configurations moved into the new frame. That prediction made identity assignment possible without requiring every individual to have a distinctive visible mark.</a:t>
            </a:r>
          </a:p>
          <a:p>
            <a:pPr algn="l">
              <a:lnSpc>
                <a:spcPct val="108000"/>
              </a:lnSpc>
              <a:spcAft>
                <a:spcPts val="900"/>
              </a:spcAft>
            </a:pPr>
            <a:r>
              <a:rPr sz="1500" b="0" i="0">
                <a:solidFill>
                  <a:srgbClr val="000000"/>
                </a:solidFill>
                <a:latin typeface="Arial"/>
              </a:rPr>
              <a:t>When two animals cross, an incorrect assignment can propagate into subsequent frames. Later poses may be localized accurately while remaining attached to the wrong identity. The article’s tracking-comparison movie preserves this distinction between recovering a body configuration and assigning it to the correct individual.</a:t>
            </a:r>
          </a:p>
          <a:p>
            <a:pPr algn="l">
              <a:lnSpc>
                <a:spcPct val="108000"/>
              </a:lnSpc>
              <a:spcAft>
                <a:spcPts val="900"/>
              </a:spcAft>
            </a:pPr>
            <a:r>
              <a:rPr sz="1500" b="0" i="0">
                <a:solidFill>
                  <a:srgbClr val="000000"/>
                </a:solidFill>
                <a:latin typeface="Arial"/>
              </a:rPr>
              <a:t>An </a:t>
            </a:r>
            <a:r>
              <a:rPr sz="1500" b="1" i="0">
                <a:solidFill>
                  <a:srgbClr val="544A45"/>
                </a:solidFill>
                <a:latin typeface="Arial"/>
              </a:rPr>
              <a:t>appearance-based identity model</a:t>
            </a:r>
            <a:r>
              <a:rPr sz="1500" b="0" i="0">
                <a:solidFill>
                  <a:srgbClr val="000000"/>
                </a:solidFill>
                <a:latin typeface="Arial"/>
              </a:rPr>
              <a:t> instead predicts an individual’s label from visible features. Because it can classify each frame independently, it can recover after a temporary switch when those features become informative again. Temporal continuity and appearance thus provide different forms of evidence for individual recognition.</a:t>
            </a:r>
          </a:p>
        </p:txBody>
      </p:sp>
      <p:pic>
        <p:nvPicPr>
          <p:cNvPr id="4" name="Picture 3" descr="sleap5ab.png"/>
          <p:cNvPicPr>
            <a:picLocks noChangeAspect="1"/>
          </p:cNvPicPr>
          <p:nvPr/>
        </p:nvPicPr>
        <p:blipFill>
          <a:blip r:embed="rId2"/>
          <a:stretch>
            <a:fillRect/>
          </a:stretch>
        </p:blipFill>
        <p:spPr>
          <a:xfrm>
            <a:off x="6473952" y="1436768"/>
            <a:ext cx="5166360" cy="1588734"/>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Pereira et al. (2022), Fig. 5(a–b). Frame-to-frame identity matching and tracking errors.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pic>
        <p:nvPicPr>
          <p:cNvPr id="9" name="Picture 8" descr="sleap_video4_poster.jpg"/>
          <p:cNvPicPr>
            <a:picLocks noChangeAspect="1"/>
          </p:cNvPicPr>
          <p:nvPr/>
        </p:nvPicPr>
        <p:blipFill>
          <a:blip r:embed="rId4"/>
          <a:stretch>
            <a:fillRect/>
          </a:stretch>
        </p:blipFill>
        <p:spPr>
          <a:xfrm>
            <a:off x="7171436" y="3822191"/>
            <a:ext cx="3771392" cy="2121408"/>
          </a:xfrm>
          <a:prstGeom prst="rect">
            <a:avLst/>
          </a:prstGeom>
        </p:spPr>
      </p:pic>
      <p:pic>
        <p:nvPicPr>
          <p:cNvPr id="10" name="sleap_video4.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71436" y="3822191"/>
            <a:ext cx="3771392"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Pereira et al. (2022), Supplementary Video 4. Temporal versus appearance identity tracking.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Measured delay differs from model inference speed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Pereira and colleagues timed a live tracking pipeline that measured distance between two flies and passed its output through a data-acquisition loop. The round-trip delay was approximately 71 milliseconds. Aligning the online measurement with the offline trace quantified how old the reported body configuration was when it became available to the controller.</a:t>
            </a:r>
          </a:p>
          <a:p>
            <a:pPr algn="l">
              <a:lnSpc>
                <a:spcPct val="108000"/>
              </a:lnSpc>
              <a:spcAft>
                <a:spcPts val="900"/>
              </a:spcAft>
            </a:pPr>
            <a:r>
              <a:rPr sz="1500" b="0" i="0">
                <a:solidFill>
                  <a:srgbClr val="000000"/>
                </a:solidFill>
                <a:latin typeface="Arial"/>
              </a:rPr>
              <a:t>The model’s single-image inference time was approximately 3.45 milliseconds in the tested configuration. The longer round-trip delay included other stages in acquisition, processing and communication. A model-speed benchmark therefore measured a component of the system rather than the entire sensor-to-action interval.</a:t>
            </a:r>
          </a:p>
          <a:p>
            <a:pPr algn="l">
              <a:lnSpc>
                <a:spcPct val="108000"/>
              </a:lnSpc>
              <a:spcAft>
                <a:spcPts val="900"/>
              </a:spcAft>
            </a:pPr>
            <a:r>
              <a:rPr sz="1500" b="0" i="0">
                <a:solidFill>
                  <a:srgbClr val="000000"/>
                </a:solidFill>
                <a:latin typeface="Arial"/>
              </a:rPr>
              <a:t>Comparing the online distance trace with the offline trace exposed the lag of the full pipeline. A trigger based on an earlier pose acts on animals that have continued moving. Delay calibration connected the timestamp of a tracked social configuration to the experimental event delivered in response, rather than treating model speed as the complete timing measurement.</a:t>
            </a:r>
          </a:p>
        </p:txBody>
      </p:sp>
      <p:pic>
        <p:nvPicPr>
          <p:cNvPr id="4" name="Picture 3" descr="sleap6abcd.png"/>
          <p:cNvPicPr>
            <a:picLocks noChangeAspect="1"/>
          </p:cNvPicPr>
          <p:nvPr/>
        </p:nvPicPr>
        <p:blipFill>
          <a:blip r:embed="rId2"/>
          <a:stretch>
            <a:fillRect/>
          </a:stretch>
        </p:blipFill>
        <p:spPr>
          <a:xfrm>
            <a:off x="6412687" y="1280160"/>
            <a:ext cx="5212079" cy="1412727"/>
          </a:xfrm>
          <a:prstGeom prst="rect">
            <a:avLst/>
          </a:prstGeom>
        </p:spPr>
      </p:pic>
      <p:sp>
        <p:nvSpPr>
          <p:cNvPr id="5" name="Figure caption"/>
          <p:cNvSpPr txBox="1"/>
          <p:nvPr/>
        </p:nvSpPr>
        <p:spPr>
          <a:xfrm>
            <a:off x="6412687" y="278432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(2022), Fig. 6(a–d). Measured online tracking and inference latencies.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Social geometry specifies an intervention trigger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SLEAP detected a male fly approaching a female from behind using their relative positions and orientations. That pose-defined event triggered red light in an </a:t>
            </a:r>
            <a:r>
              <a:rPr sz="1400" b="1" i="0">
                <a:solidFill>
                  <a:srgbClr val="544A45"/>
                </a:solidFill>
                <a:latin typeface="Arial"/>
              </a:rPr>
              <a:t>optogenetic</a:t>
            </a:r>
            <a:r>
              <a:rPr sz="1400" b="0" i="0">
                <a:solidFill>
                  <a:srgbClr val="000000"/>
                </a:solidFill>
                <a:latin typeface="Arial"/>
              </a:rPr>
              <a:t> experiment, which uses a genetically expressed light-sensitive protein to change neuronal activity. The trigger depended on social geometry rather than merely detecting two nearby flies.</a:t>
            </a:r>
          </a:p>
          <a:p>
            <a:pPr algn="l">
              <a:lnSpc>
                <a:spcPct val="108000"/>
              </a:lnSpc>
              <a:spcAft>
                <a:spcPts val="840"/>
              </a:spcAft>
            </a:pPr>
            <a:r>
              <a:rPr sz="1400" b="0" i="0">
                <a:solidFill>
                  <a:srgbClr val="000000"/>
                </a:solidFill>
                <a:latin typeface="Arial"/>
              </a:rPr>
              <a:t>The light-sensitive protein </a:t>
            </a:r>
            <a:r>
              <a:rPr sz="1400" b="1" i="0">
                <a:solidFill>
                  <a:srgbClr val="544A45"/>
                </a:solidFill>
                <a:latin typeface="Arial"/>
              </a:rPr>
              <a:t>csChrimson</a:t>
            </a:r>
            <a:r>
              <a:rPr sz="1400" b="0" i="0">
                <a:solidFill>
                  <a:srgbClr val="000000"/>
                </a:solidFill>
                <a:latin typeface="Arial"/>
              </a:rPr>
              <a:t> is a cation channel, a membrane protein that passes positively charged ions. Light opens the channel in targeted cells, changing their electrical activity. In the tested females, activation elicited extrusion of the </a:t>
            </a:r>
            <a:r>
              <a:rPr sz="1400" b="1" i="0">
                <a:solidFill>
                  <a:srgbClr val="544A45"/>
                </a:solidFill>
                <a:latin typeface="Arial"/>
              </a:rPr>
              <a:t>ovipositor</a:t>
            </a:r>
            <a:r>
              <a:rPr sz="1400" b="0" i="0">
                <a:solidFill>
                  <a:srgbClr val="000000"/>
                </a:solidFill>
                <a:latin typeface="Arial"/>
              </a:rPr>
              <a:t>, the terminal egg-laying structure, while comparison females lacking the experimental channel did not acquire the same triggered response.</a:t>
            </a:r>
          </a:p>
          <a:p>
            <a:pPr algn="l">
              <a:lnSpc>
                <a:spcPct val="108000"/>
              </a:lnSpc>
              <a:spcAft>
                <a:spcPts val="840"/>
              </a:spcAft>
            </a:pPr>
            <a:r>
              <a:rPr sz="1400" b="0" i="0">
                <a:solidFill>
                  <a:srgbClr val="000000"/>
                </a:solidFill>
                <a:latin typeface="Arial"/>
              </a:rPr>
              <a:t>The social-control system contributed about 77 milliseconds of delay, and the behavioral response followed light onset after about 249 milliseconds. Their combined delay was about 326 milliseconds. The observed response therefore reflected both electronic processing and the animal’s own time to produce the movement.</a:t>
            </a:r>
          </a:p>
        </p:txBody>
      </p:sp>
      <p:pic>
        <p:nvPicPr>
          <p:cNvPr id="4" name="Picture 3" descr="sleap6efgh.png"/>
          <p:cNvPicPr>
            <a:picLocks noChangeAspect="1"/>
          </p:cNvPicPr>
          <p:nvPr/>
        </p:nvPicPr>
        <p:blipFill>
          <a:blip r:embed="rId2"/>
          <a:stretch>
            <a:fillRect/>
          </a:stretch>
        </p:blipFill>
        <p:spPr>
          <a:xfrm>
            <a:off x="6984126" y="1234440"/>
            <a:ext cx="4146010" cy="1993392"/>
          </a:xfrm>
          <a:prstGeom prst="rect">
            <a:avLst/>
          </a:prstGeom>
        </p:spPr>
      </p:pic>
      <p:sp>
        <p:nvSpPr>
          <p:cNvPr id="5" name="Figure caption"/>
          <p:cNvSpPr txBox="1"/>
          <p:nvPr/>
        </p:nvSpPr>
        <p:spPr>
          <a:xfrm>
            <a:off x="6473952" y="3264408"/>
            <a:ext cx="5166360" cy="512064"/>
          </a:xfrm>
          <a:prstGeom prst="rect">
            <a:avLst/>
          </a:prstGeom>
          <a:noFill/>
        </p:spPr>
        <p:txBody>
          <a:bodyPr wrap="square" lIns="0" rIns="0" tIns="0" bIns="0">
            <a:spAutoFit/>
          </a:bodyPr>
          <a:lstStyle/>
          <a:p>
            <a:pPr algn="l">
              <a:lnSpc>
                <a:spcPct val="108000"/>
              </a:lnSpc>
              <a:spcAft>
                <a:spcPts val="0"/>
              </a:spcAft>
            </a:pPr>
            <a:r>
              <a:rPr sz="950" b="0" i="0">
                <a:solidFill>
                  <a:srgbClr val="000000"/>
                </a:solidFill>
                <a:latin typeface="Arial"/>
              </a:rPr>
              <a:t>Pereira et al. (2022), Fig. 6(e–h). Approach-triggered light and female ovipositor extrusion.</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pic>
        <p:nvPicPr>
          <p:cNvPr id="9" name="Picture 8" descr="sleap_video5_poster.jpg"/>
          <p:cNvPicPr>
            <a:picLocks noChangeAspect="1"/>
          </p:cNvPicPr>
          <p:nvPr/>
        </p:nvPicPr>
        <p:blipFill>
          <a:blip r:embed="rId4"/>
          <a:stretch>
            <a:fillRect/>
          </a:stretch>
        </p:blipFill>
        <p:spPr>
          <a:xfrm>
            <a:off x="7996428" y="3822191"/>
            <a:ext cx="2121408" cy="2121408"/>
          </a:xfrm>
          <a:prstGeom prst="rect">
            <a:avLst/>
          </a:prstGeom>
        </p:spPr>
      </p:pic>
      <p:pic>
        <p:nvPicPr>
          <p:cNvPr id="10" name="sleap_video5.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96428" y="3822191"/>
            <a:ext cx="2121408" cy="2121408"/>
          </a:xfrm>
          <a:prstGeom prst="rect">
            <a:avLst/>
          </a:prstGeom>
        </p:spPr>
      </p:pic>
      <p:sp>
        <p:nvSpPr>
          <p:cNvPr id="11" name="TextBox 10"/>
          <p:cNvSpPr txBox="1"/>
          <p:nvPr/>
        </p:nvSpPr>
        <p:spPr>
          <a:xfrm>
            <a:off x="6473952" y="5980176"/>
            <a:ext cx="5166360" cy="301752"/>
          </a:xfrm>
          <a:prstGeom prst="rect">
            <a:avLst/>
          </a:prstGeom>
          <a:noFill/>
        </p:spPr>
        <p:txBody>
          <a:bodyPr wrap="none" lIns="0" rIns="0" tIns="0" bIns="0">
            <a:spAutoFit/>
          </a:bodyPr>
          <a:lstStyle/>
          <a:p>
            <a:pPr>
              <a:defRPr sz="850">
                <a:solidFill>
                  <a:srgbClr val="000000"/>
                </a:solidFill>
                <a:latin typeface="Arial"/>
              </a:defRPr>
            </a:pPr>
            <a:r>
              <a:t>Pereira et al. (2022), Supplementary Video 5. Approach-triggered ovipositor extrusion.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Error distributions locate difficult anatomical landmarks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SLEAP evaluated predicted landmarks against manual locations in held-out frames. A </a:t>
            </a:r>
            <a:r>
              <a:rPr sz="1600" b="1" i="0">
                <a:solidFill>
                  <a:srgbClr val="544A45"/>
                </a:solidFill>
                <a:latin typeface="Arial"/>
              </a:rPr>
              <a:t>localization error</a:t>
            </a:r>
            <a:r>
              <a:rPr sz="1600" b="0" i="0">
                <a:solidFill>
                  <a:srgbClr val="000000"/>
                </a:solidFill>
                <a:latin typeface="Arial"/>
              </a:rPr>
              <a:t> is the distance between those positions in the image. Measuring errors for individual body parts exposed differences that a single average accuracy could conceal.</a:t>
            </a:r>
          </a:p>
          <a:p>
            <a:pPr algn="l">
              <a:lnSpc>
                <a:spcPct val="108000"/>
              </a:lnSpc>
              <a:spcAft>
                <a:spcPts val="960"/>
              </a:spcAft>
            </a:pPr>
            <a:r>
              <a:rPr sz="1600" b="0" i="0">
                <a:solidFill>
                  <a:srgbClr val="000000"/>
                </a:solidFill>
                <a:latin typeface="Arial"/>
              </a:rPr>
              <a:t>Visible appendages, overlapping limbs and changes in body orientation created different recognition demands. The distributions included both small common deviations and less frequent larger mistakes. Reporting an upper portion of the error distribution described difficult frames as well as typical performance.</a:t>
            </a:r>
          </a:p>
          <a:p>
            <a:pPr algn="l">
              <a:lnSpc>
                <a:spcPct val="108000"/>
              </a:lnSpc>
              <a:spcAft>
                <a:spcPts val="960"/>
              </a:spcAft>
            </a:pPr>
            <a:r>
              <a:rPr sz="1600" b="0" i="0">
                <a:solidFill>
                  <a:srgbClr val="000000"/>
                </a:solidFill>
                <a:latin typeface="Arial"/>
              </a:rPr>
              <a:t>The study also expressed errors relative to body size, linking pixels to the animal being recorded. A distance in image coordinates acquires behavioral significance through anatomical scale. Part-specific evaluation connected the tracker’s output to the precision needed for posture or contact measurements.</a:t>
            </a:r>
          </a:p>
        </p:txBody>
      </p:sp>
      <p:pic>
        <p:nvPicPr>
          <p:cNvPr id="4" name="Picture 3" descr="sleap2.png"/>
          <p:cNvPicPr>
            <a:picLocks noChangeAspect="1"/>
          </p:cNvPicPr>
          <p:nvPr/>
        </p:nvPicPr>
        <p:blipFill>
          <a:blip r:embed="rId2"/>
          <a:stretch>
            <a:fillRect/>
          </a:stretch>
        </p:blipFill>
        <p:spPr>
          <a:xfrm>
            <a:off x="6412687" y="1280160"/>
            <a:ext cx="5212079" cy="3545292"/>
          </a:xfrm>
          <a:prstGeom prst="rect">
            <a:avLst/>
          </a:prstGeom>
        </p:spPr>
      </p:pic>
      <p:sp>
        <p:nvSpPr>
          <p:cNvPr id="5" name="Figure caption"/>
          <p:cNvSpPr txBox="1"/>
          <p:nvPr/>
        </p:nvSpPr>
        <p:spPr>
          <a:xfrm>
            <a:off x="6412687" y="491689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Pereira et al. (2022), Fig. 2(a–g). Body-part localization errors and manually annotated landmarks.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Pereira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Mice can initiate tasks from a shared home cage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Erskine and colleagues built </a:t>
            </a:r>
            <a:r>
              <a:rPr sz="1500" b="1" i="0">
                <a:solidFill>
                  <a:srgbClr val="544A45"/>
                </a:solidFill>
                <a:latin typeface="Arial"/>
              </a:rPr>
              <a:t>AutonoMouse</a:t>
            </a:r>
            <a:r>
              <a:rPr sz="1500" b="0" i="0">
                <a:solidFill>
                  <a:srgbClr val="000000"/>
                </a:solidFill>
                <a:latin typeface="Arial"/>
              </a:rPr>
              <a:t>, an automated operant system connected to a shared home cage. Mice could enter an upper task chamber at times they selected. Food remained available in the common cage, and the task supplied water rewards during successful trials.</a:t>
            </a:r>
          </a:p>
          <a:p>
            <a:pPr algn="l">
              <a:lnSpc>
                <a:spcPct val="108000"/>
              </a:lnSpc>
              <a:spcAft>
                <a:spcPts val="900"/>
              </a:spcAft>
            </a:pPr>
            <a:r>
              <a:rPr sz="1500" b="1" i="0">
                <a:solidFill>
                  <a:srgbClr val="544A45"/>
                </a:solidFill>
                <a:latin typeface="Arial"/>
              </a:rPr>
              <a:t>Radio-frequency identification</a:t>
            </a:r>
            <a:r>
              <a:rPr sz="1500" b="0" i="0">
                <a:solidFill>
                  <a:srgbClr val="000000"/>
                </a:solidFill>
                <a:latin typeface="Arial"/>
              </a:rPr>
              <a:t>, or RFID, read each animal’s implanted transponder when it entered the chamber. The computer then selected that individual’s task and recorded its responses. Individual recognition allowed animals with different learning histories to share the apparatus without receiving identical trial sequences.</a:t>
            </a:r>
          </a:p>
          <a:p>
            <a:pPr algn="l">
              <a:lnSpc>
                <a:spcPct val="108000"/>
              </a:lnSpc>
              <a:spcAft>
                <a:spcPts val="900"/>
              </a:spcAft>
            </a:pPr>
            <a:r>
              <a:rPr sz="1500" b="0" i="0">
                <a:solidFill>
                  <a:srgbClr val="000000"/>
                </a:solidFill>
                <a:latin typeface="Arial"/>
              </a:rPr>
              <a:t>The system reduced the need to remove an animal from its social housing for every session. Its door and infrared sensors controlled access to the task area, while the animal controlled when it approached. Self-initiated entry made participation measurable as part of behavior rather than fixing every session to an experimenter’s schedule.</a:t>
            </a:r>
          </a:p>
        </p:txBody>
      </p:sp>
      <p:pic>
        <p:nvPicPr>
          <p:cNvPr id="4" name="Picture 3" descr="auto1.png"/>
          <p:cNvPicPr>
            <a:picLocks noChangeAspect="1"/>
          </p:cNvPicPr>
          <p:nvPr/>
        </p:nvPicPr>
        <p:blipFill>
          <a:blip r:embed="rId2"/>
          <a:stretch>
            <a:fillRect/>
          </a:stretch>
        </p:blipFill>
        <p:spPr>
          <a:xfrm>
            <a:off x="7430111" y="1280160"/>
            <a:ext cx="317723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1(a–d). Home-cage access and the behavioral task.</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A go/no-go task links odor choices to water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44A45"/>
                </a:solidFill>
                <a:latin typeface="Arial"/>
              </a:rPr>
              <a:t>operant task</a:t>
            </a:r>
            <a:r>
              <a:rPr sz="1600" b="0" i="0">
                <a:solidFill>
                  <a:srgbClr val="000000"/>
                </a:solidFill>
                <a:latin typeface="Arial"/>
              </a:rPr>
              <a:t> makes an outcome depend on an animal’s action. In AutonoMouse, entry and a nose-position sensor initiated odor presentation. A </a:t>
            </a:r>
            <a:r>
              <a:rPr sz="1600" b="1" i="0">
                <a:solidFill>
                  <a:srgbClr val="544A45"/>
                </a:solidFill>
                <a:latin typeface="Arial"/>
              </a:rPr>
              <a:t>go/no-go discrimination</a:t>
            </a:r>
            <a:r>
              <a:rPr sz="1600" b="0" i="0">
                <a:solidFill>
                  <a:srgbClr val="000000"/>
                </a:solidFill>
                <a:latin typeface="Arial"/>
              </a:rPr>
              <a:t> paired one odor with a licking response and another with withholding that response.</a:t>
            </a:r>
          </a:p>
          <a:p>
            <a:pPr algn="l">
              <a:lnSpc>
                <a:spcPct val="108000"/>
              </a:lnSpc>
              <a:spcAft>
                <a:spcPts val="960"/>
              </a:spcAft>
            </a:pPr>
            <a:r>
              <a:rPr sz="1600" b="0" i="0">
                <a:solidFill>
                  <a:srgbClr val="000000"/>
                </a:solidFill>
                <a:latin typeface="Arial"/>
              </a:rPr>
              <a:t>The computer divided the response period into quarters and assessed licking across them. Licking during enough of the response period to the rewarded odor produced water. Withholding licking to the other odor counted as a correct rejection, distinguishing stimulus discrimination from indiscriminate responding.</a:t>
            </a:r>
          </a:p>
          <a:p>
            <a:pPr algn="l">
              <a:lnSpc>
                <a:spcPct val="108000"/>
              </a:lnSpc>
              <a:spcAft>
                <a:spcPts val="960"/>
              </a:spcAft>
            </a:pPr>
            <a:r>
              <a:rPr sz="1600" b="0" i="0">
                <a:solidFill>
                  <a:srgbClr val="000000"/>
                </a:solidFill>
                <a:latin typeface="Arial"/>
              </a:rPr>
              <a:t>Automated trial records linked stimulus identity, response timing and reward delivery for each mouse. Learning involved acquiring the appropriate response rule as well as recognizing the odor pair. A task’s contingency, the action-to-outcome relationship, therefore formed part of what the animal learned.</a:t>
            </a:r>
          </a:p>
        </p:txBody>
      </p:sp>
      <p:pic>
        <p:nvPicPr>
          <p:cNvPr id="4" name="Picture 3" descr="auto1.png"/>
          <p:cNvPicPr>
            <a:picLocks noChangeAspect="1"/>
          </p:cNvPicPr>
          <p:nvPr/>
        </p:nvPicPr>
        <p:blipFill>
          <a:blip r:embed="rId2"/>
          <a:stretch>
            <a:fillRect/>
          </a:stretch>
        </p:blipFill>
        <p:spPr>
          <a:xfrm>
            <a:off x="7430111" y="1280160"/>
            <a:ext cx="317723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1(a–d). Trial timing, responses and reward rules.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The delivered stimulus must match the programmed odor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44A45"/>
                </a:solidFill>
                <a:latin typeface="Arial"/>
              </a:rPr>
              <a:t>olfactometer</a:t>
            </a:r>
            <a:r>
              <a:rPr sz="1500" b="0" i="0">
                <a:solidFill>
                  <a:srgbClr val="000000"/>
                </a:solidFill>
                <a:latin typeface="Arial"/>
              </a:rPr>
              <a:t> controls the delivery of odorized air. AutonoMouse combined odor sources, regulated airflow and valves to supply the intended stimulus at the nose port. The authors measured the delivered odor signal with a detector rather than assuming that a software command immediately produced the requested concentration.</a:t>
            </a:r>
          </a:p>
          <a:p>
            <a:pPr algn="l">
              <a:lnSpc>
                <a:spcPct val="108000"/>
              </a:lnSpc>
              <a:spcAft>
                <a:spcPts val="900"/>
              </a:spcAft>
            </a:pPr>
            <a:r>
              <a:rPr sz="1500" b="0" i="0">
                <a:solidFill>
                  <a:srgbClr val="000000"/>
                </a:solidFill>
                <a:latin typeface="Arial"/>
              </a:rPr>
              <a:t>Valve sounds, source position or residual odor could provide unintended cues to reward. The study changed valve assignments and bottle arrangements, then assessed whether mice retained discrimination. Diverting the odor stream away from the animal disrupted performance even though the apparatus still operated.</a:t>
            </a:r>
          </a:p>
          <a:p>
            <a:pPr algn="l">
              <a:lnSpc>
                <a:spcPct val="108000"/>
              </a:lnSpc>
              <a:spcAft>
                <a:spcPts val="900"/>
              </a:spcAft>
            </a:pPr>
            <a:r>
              <a:rPr sz="1500" b="0" i="0">
                <a:solidFill>
                  <a:srgbClr val="000000"/>
                </a:solidFill>
                <a:latin typeface="Arial"/>
              </a:rPr>
              <a:t>Changing airflow dilution produced measurable differences in the odor pulse. Calibration tied the programmed stimulus to the signal reaching the animal. The control experiments connected correct choices to odor availability rather than to a predictable mechanical event elsewhere in the device.</a:t>
            </a:r>
          </a:p>
        </p:txBody>
      </p:sp>
      <p:pic>
        <p:nvPicPr>
          <p:cNvPr id="4" name="Picture 3" descr="auto3.png"/>
          <p:cNvPicPr>
            <a:picLocks noChangeAspect="1"/>
          </p:cNvPicPr>
          <p:nvPr/>
        </p:nvPicPr>
        <p:blipFill>
          <a:blip r:embed="rId2"/>
          <a:stretch>
            <a:fillRect/>
          </a:stretch>
        </p:blipFill>
        <p:spPr>
          <a:xfrm>
            <a:off x="7208329" y="1280160"/>
            <a:ext cx="362079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3(a–i). Odor delivery calibration and cue-control experiments.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Task experience accelerates learning of new odor pairs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Mice first had to learn both an odor discrimination and the task’s response rules. After acquiring that initial task, they learned a new odor pair more rapidly. The same licking-and-reward structure remained in place while the sensory identities changed.</a:t>
            </a:r>
          </a:p>
          <a:p>
            <a:pPr algn="l">
              <a:lnSpc>
                <a:spcPct val="108000"/>
              </a:lnSpc>
              <a:spcAft>
                <a:spcPts val="900"/>
              </a:spcAft>
            </a:pPr>
            <a:r>
              <a:rPr sz="1500" b="0" i="0">
                <a:solidFill>
                  <a:srgbClr val="000000"/>
                </a:solidFill>
                <a:latin typeface="Arial"/>
              </a:rPr>
              <a:t>Performance on a familiar odor pair recovered quickly because the animals had already learned which stimulus required which action. </a:t>
            </a:r>
            <a:r>
              <a:rPr sz="1500" b="1" i="0">
                <a:solidFill>
                  <a:srgbClr val="544A45"/>
                </a:solidFill>
                <a:latin typeface="Arial"/>
              </a:rPr>
              <a:t>Transfer of task experience</a:t>
            </a:r>
            <a:r>
              <a:rPr sz="1500" b="0" i="0">
                <a:solidFill>
                  <a:srgbClr val="000000"/>
                </a:solidFill>
                <a:latin typeface="Arial"/>
              </a:rPr>
              <a:t> differs from remembering a particular odor association: the former supports acquisition with new stimuli, while the latter preserves an already learned choice.</a:t>
            </a:r>
          </a:p>
          <a:p>
            <a:pPr algn="l">
              <a:lnSpc>
                <a:spcPct val="108000"/>
              </a:lnSpc>
              <a:spcAft>
                <a:spcPts val="900"/>
              </a:spcAft>
            </a:pPr>
            <a:r>
              <a:rPr sz="1500" b="0" i="0">
                <a:solidFill>
                  <a:srgbClr val="000000"/>
                </a:solidFill>
                <a:latin typeface="Arial"/>
              </a:rPr>
              <a:t>The study compared initial, novel and familiar discrimination within the same automated system. Their different learning trajectories separated sensory novelty from familiarity with the action requirements. Reusing an interface can therefore change acquisition speed even when the new sensory distinction remains to be learned.</a:t>
            </a:r>
          </a:p>
        </p:txBody>
      </p:sp>
      <p:pic>
        <p:nvPicPr>
          <p:cNvPr id="4" name="Picture 3" descr="auto4.png"/>
          <p:cNvPicPr>
            <a:picLocks noChangeAspect="1"/>
          </p:cNvPicPr>
          <p:nvPr/>
        </p:nvPicPr>
        <p:blipFill>
          <a:blip r:embed="rId2"/>
          <a:stretch>
            <a:fillRect/>
          </a:stretch>
        </p:blipFill>
        <p:spPr>
          <a:xfrm>
            <a:off x="6586622" y="1280160"/>
            <a:ext cx="486420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4(a–e). Initial, novel, familiar and mixture discrimination.</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Early learning speed does not fix eventual performance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AutonoMouse recorded enough trials to follow animals through early acquisition and later performance. Mice classified as slow early learners initially chose less accurately than faster learners. Continued training brought the groups to comparable maximum discrimination performance.</a:t>
            </a:r>
          </a:p>
          <a:p>
            <a:pPr algn="l">
              <a:lnSpc>
                <a:spcPct val="108000"/>
              </a:lnSpc>
              <a:spcAft>
                <a:spcPts val="960"/>
              </a:spcAft>
            </a:pPr>
            <a:r>
              <a:rPr sz="1600" b="0" i="0">
                <a:solidFill>
                  <a:srgbClr val="000000"/>
                </a:solidFill>
                <a:latin typeface="Arial"/>
              </a:rPr>
              <a:t>The task also changed difficulty by presenting mixtures containing the same two odorants in different proportions. A 60:40 mixture and its 40:60 counterpart shared both components, requiring discrimination of their relative contributions rather than recognition of completely different substances.</a:t>
            </a:r>
          </a:p>
          <a:p>
            <a:pPr algn="l">
              <a:lnSpc>
                <a:spcPct val="108000"/>
              </a:lnSpc>
              <a:spcAft>
                <a:spcPts val="960"/>
              </a:spcAft>
            </a:pPr>
            <a:r>
              <a:rPr sz="1600" b="0" i="0">
                <a:solidFill>
                  <a:srgbClr val="000000"/>
                </a:solidFill>
                <a:latin typeface="Arial"/>
              </a:rPr>
              <a:t>Learning speed varied across the initial, novel and mixture tasks. An animal’s performance depended on the particular sensory problem and its training history. Longitudinal measurement separated a temporarily difficult acquisition period from the level of discrimination the animal eventually achieved.</a:t>
            </a:r>
          </a:p>
        </p:txBody>
      </p:sp>
      <p:pic>
        <p:nvPicPr>
          <p:cNvPr id="4" name="Picture 3" descr="auto4.png"/>
          <p:cNvPicPr>
            <a:picLocks noChangeAspect="1"/>
          </p:cNvPicPr>
          <p:nvPr/>
        </p:nvPicPr>
        <p:blipFill>
          <a:blip r:embed="rId2"/>
          <a:stretch>
            <a:fillRect/>
          </a:stretch>
        </p:blipFill>
        <p:spPr>
          <a:xfrm>
            <a:off x="6586622" y="1280160"/>
            <a:ext cx="486420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4(c–e). Learning trajectories and final discrimination levels.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Reward size changes self-selected participation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AutonoMouse supplied daily water through successful task participation without imposing a separate water-restriction schedule. The authors varied the volume delivered on each correct trial. At the baseline reward of 12 microliters, mice performed repeated self-initiated trials throughout their active periods.</a:t>
            </a:r>
          </a:p>
          <a:p>
            <a:pPr algn="l">
              <a:lnSpc>
                <a:spcPct val="108000"/>
              </a:lnSpc>
              <a:spcAft>
                <a:spcPts val="900"/>
              </a:spcAft>
            </a:pPr>
            <a:r>
              <a:rPr sz="1500" b="0" i="0">
                <a:solidFill>
                  <a:srgbClr val="000000"/>
                </a:solidFill>
                <a:latin typeface="Arial"/>
              </a:rPr>
              <a:t>Larger water rewards reduced the number of trials animals chose to perform. Their behavior approximately maintained daily water acquisition by changing participation. </a:t>
            </a:r>
            <a:r>
              <a:rPr sz="1500" b="1" i="0">
                <a:solidFill>
                  <a:srgbClr val="544A45"/>
                </a:solidFill>
                <a:latin typeface="Arial"/>
              </a:rPr>
              <a:t>Motivation</a:t>
            </a:r>
            <a:r>
              <a:rPr sz="1500" b="0" i="0">
                <a:solidFill>
                  <a:srgbClr val="000000"/>
                </a:solidFill>
                <a:latin typeface="Arial"/>
              </a:rPr>
              <a:t> was therefore expressed through the relation between physiological demand, reward magnitude and the number of actions performed.</a:t>
            </a:r>
          </a:p>
          <a:p>
            <a:pPr algn="l">
              <a:lnSpc>
                <a:spcPct val="108000"/>
              </a:lnSpc>
              <a:spcAft>
                <a:spcPts val="900"/>
              </a:spcAft>
            </a:pPr>
            <a:r>
              <a:rPr sz="1500" b="0" i="0">
                <a:solidFill>
                  <a:srgbClr val="000000"/>
                </a:solidFill>
                <a:latin typeface="Arial"/>
              </a:rPr>
              <a:t>Reducing rewards substantially below 12 microliters did not produce enough extra trials to fully compensate. Voluntary entry consequently differed from unlimited willingness to work for smaller rewards. The measured reward-response relation supplied a concrete constraint on designing self-paced tasks that also provide essential resources.</a:t>
            </a:r>
          </a:p>
        </p:txBody>
      </p:sp>
      <p:pic>
        <p:nvPicPr>
          <p:cNvPr id="4" name="Picture 3" descr="auto5.png"/>
          <p:cNvPicPr>
            <a:picLocks noChangeAspect="1"/>
          </p:cNvPicPr>
          <p:nvPr/>
        </p:nvPicPr>
        <p:blipFill>
          <a:blip r:embed="rId2"/>
          <a:stretch>
            <a:fillRect/>
          </a:stretch>
        </p:blipFill>
        <p:spPr>
          <a:xfrm>
            <a:off x="6412687" y="1280160"/>
            <a:ext cx="5212079" cy="2072459"/>
          </a:xfrm>
          <a:prstGeom prst="rect">
            <a:avLst/>
          </a:prstGeom>
        </p:spPr>
      </p:pic>
      <p:sp>
        <p:nvSpPr>
          <p:cNvPr id="5" name="Figure caption"/>
          <p:cNvSpPr txBox="1"/>
          <p:nvPr/>
        </p:nvSpPr>
        <p:spPr>
          <a:xfrm>
            <a:off x="6412687" y="344405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5(a–b). Water reward size, trial numbers and body weight.</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Bulb injury separates sensory loss from task failure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44A45"/>
                </a:solidFill>
                <a:latin typeface="Arial"/>
              </a:rPr>
              <a:t>olfactory bulbs</a:t>
            </a:r>
            <a:r>
              <a:rPr sz="1500" b="0" i="0">
                <a:solidFill>
                  <a:srgbClr val="000000"/>
                </a:solidFill>
                <a:latin typeface="Arial"/>
              </a:rPr>
              <a:t> are forebrain structures required for the odor tasks tested in AutonoMouse. Erskine and colleagues produced graded excitotoxic lesions, damage caused by excessive activation, and measured the remaining bulb tissue using micro-computed tomography. Published anatomical sections localized the tissue affected by the intervention.</a:t>
            </a:r>
          </a:p>
          <a:p>
            <a:pPr algn="l">
              <a:lnSpc>
                <a:spcPct val="108000"/>
              </a:lnSpc>
              <a:spcAft>
                <a:spcPts val="900"/>
              </a:spcAft>
            </a:pPr>
            <a:r>
              <a:rPr sz="1500" b="0" i="0">
                <a:solidFill>
                  <a:srgbClr val="000000"/>
                </a:solidFill>
                <a:latin typeface="Arial"/>
              </a:rPr>
              <a:t>Extensive bilateral lesions abolished accurate odor detection and discrimination. Sham-treated mice retained the learned discriminations and acquired new ones. The affected animals still performed auditory discrimination tasks using the same general response apparatus, linking the deficit to the sensory modality rather than a loss of all task performance.</a:t>
            </a:r>
          </a:p>
          <a:p>
            <a:pPr algn="l">
              <a:lnSpc>
                <a:spcPct val="108000"/>
              </a:lnSpc>
              <a:spcAft>
                <a:spcPts val="900"/>
              </a:spcAft>
            </a:pPr>
            <a:r>
              <a:rPr sz="1500" b="0" i="0">
                <a:solidFill>
                  <a:srgbClr val="000000"/>
                </a:solidFill>
                <a:latin typeface="Arial"/>
              </a:rPr>
              <a:t>The anatomy and behavior were measured together. Bulb volume was normalized to skull volume to compare injury across animals of different sizes. The preserved auditory behavior provided a positive control for responding, learning and obtaining rewards after the olfactory intervention.</a:t>
            </a:r>
          </a:p>
        </p:txBody>
      </p:sp>
      <p:pic>
        <p:nvPicPr>
          <p:cNvPr id="4" name="Picture 3" descr="auto6.png"/>
          <p:cNvPicPr>
            <a:picLocks noChangeAspect="1"/>
          </p:cNvPicPr>
          <p:nvPr/>
        </p:nvPicPr>
        <p:blipFill>
          <a:blip r:embed="rId2"/>
          <a:stretch>
            <a:fillRect/>
          </a:stretch>
        </p:blipFill>
        <p:spPr>
          <a:xfrm>
            <a:off x="7995875" y="1280160"/>
            <a:ext cx="2045704" cy="2377440"/>
          </a:xfrm>
          <a:prstGeom prst="rect">
            <a:avLst/>
          </a:prstGeom>
        </p:spPr>
      </p:pic>
      <p:sp>
        <p:nvSpPr>
          <p:cNvPr id="5" name="Figure caption"/>
          <p:cNvSpPr txBox="1"/>
          <p:nvPr/>
        </p:nvSpPr>
        <p:spPr>
          <a:xfrm>
            <a:off x="6412687" y="374903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6(a–g). Odor discrimination before and after large lesions.</a:t>
            </a:r>
          </a:p>
        </p:txBody>
      </p:sp>
      <p:pic>
        <p:nvPicPr>
          <p:cNvPr id="6" name="Picture 5" descr="auto_s4.png"/>
          <p:cNvPicPr>
            <a:picLocks noChangeAspect="1"/>
          </p:cNvPicPr>
          <p:nvPr/>
        </p:nvPicPr>
        <p:blipFill>
          <a:blip r:embed="rId3"/>
          <a:stretch>
            <a:fillRect/>
          </a:stretch>
        </p:blipFill>
        <p:spPr>
          <a:xfrm>
            <a:off x="8468481" y="4206240"/>
            <a:ext cx="1100492" cy="15544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Supplementary Fig. S4(a–d). Original CT sections and olfactory-bulb volume measurements.</a:t>
            </a:r>
          </a:p>
        </p:txBody>
      </p:sp>
      <p:sp>
        <p:nvSpPr>
          <p:cNvPr id="8" name="Rectangle 7"/>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More demanding odor tasks expose partial impairment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Partial olfactory-bulb damage affected odor tasks differently from extensive lesions. Mice with smaller lesions could still learn simple novel odor pairs. More demanding mixture discriminations exposed deficits that were less evident when the two stimuli were chemically distinct.</a:t>
            </a:r>
          </a:p>
          <a:p>
            <a:pPr algn="l">
              <a:lnSpc>
                <a:spcPct val="108000"/>
              </a:lnSpc>
              <a:spcAft>
                <a:spcPts val="900"/>
              </a:spcAft>
            </a:pPr>
            <a:r>
              <a:rPr sz="1500" b="0" i="0">
                <a:solidFill>
                  <a:srgbClr val="000000"/>
                </a:solidFill>
                <a:latin typeface="Arial"/>
              </a:rPr>
              <a:t>The study compared familiar discrimination, acquisition with novel odors and discrimination of overlapping mixtures. These conditions varied the sensory information and learning demand while retaining the same general licking response. Familiar associations and new discrimination problems therefore placed different requirements on the remaining olfactory tissue.</a:t>
            </a:r>
          </a:p>
          <a:p>
            <a:pPr algn="l">
              <a:lnSpc>
                <a:spcPct val="108000"/>
              </a:lnSpc>
              <a:spcAft>
                <a:spcPts val="900"/>
              </a:spcAft>
            </a:pPr>
            <a:r>
              <a:rPr sz="1500" b="0" i="0">
                <a:solidFill>
                  <a:srgbClr val="000000"/>
                </a:solidFill>
                <a:latin typeface="Arial"/>
              </a:rPr>
              <a:t>Task difficulty changed the sensitivity of the behavioral assay to injury. A simple successful choice could coexist with impairment on a more demanding distinction. Anatomical volume measurements and multiple task conditions connected the extent of bulb disruption to the particular behavior being assessed.</a:t>
            </a:r>
          </a:p>
        </p:txBody>
      </p:sp>
      <p:pic>
        <p:nvPicPr>
          <p:cNvPr id="4" name="Picture 3" descr="auto7.png"/>
          <p:cNvPicPr>
            <a:picLocks noChangeAspect="1"/>
          </p:cNvPicPr>
          <p:nvPr/>
        </p:nvPicPr>
        <p:blipFill>
          <a:blip r:embed="rId2"/>
          <a:stretch>
            <a:fillRect/>
          </a:stretch>
        </p:blipFill>
        <p:spPr>
          <a:xfrm>
            <a:off x="7890280" y="1280160"/>
            <a:ext cx="2256893" cy="2377440"/>
          </a:xfrm>
          <a:prstGeom prst="rect">
            <a:avLst/>
          </a:prstGeom>
        </p:spPr>
      </p:pic>
      <p:sp>
        <p:nvSpPr>
          <p:cNvPr id="5" name="Figure caption"/>
          <p:cNvSpPr txBox="1"/>
          <p:nvPr/>
        </p:nvSpPr>
        <p:spPr>
          <a:xfrm>
            <a:off x="6412687" y="374903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7(a–d). Discrimination following graded olfactory-bulb lesions.</a:t>
            </a:r>
          </a:p>
        </p:txBody>
      </p:sp>
      <p:pic>
        <p:nvPicPr>
          <p:cNvPr id="6" name="Picture 5" descr="auto_s4.png"/>
          <p:cNvPicPr>
            <a:picLocks noChangeAspect="1"/>
          </p:cNvPicPr>
          <p:nvPr/>
        </p:nvPicPr>
        <p:blipFill>
          <a:blip r:embed="rId3"/>
          <a:stretch>
            <a:fillRect/>
          </a:stretch>
        </p:blipFill>
        <p:spPr>
          <a:xfrm>
            <a:off x="8468481" y="4206240"/>
            <a:ext cx="1100492" cy="15544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Supplementary Fig. S4(a–d). CT localization and measurement of intact olfactory-bulb tissue.</a:t>
            </a:r>
          </a:p>
        </p:txBody>
      </p:sp>
      <p:sp>
        <p:nvSpPr>
          <p:cNvPr id="8" name="Rectangle 7"/>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Participation timing separates activity from accuracy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AutonoMouse logged when each individually identified mouse entered the task and completed trials. Animals performed more trials during their dark-phase activity period. Continuous monitoring captured these self-selected schedules instead of restricting observation to a fixed daytime session.</a:t>
            </a:r>
          </a:p>
          <a:p>
            <a:pPr algn="l">
              <a:lnSpc>
                <a:spcPct val="108000"/>
              </a:lnSpc>
              <a:spcAft>
                <a:spcPts val="900"/>
              </a:spcAft>
            </a:pPr>
            <a:r>
              <a:rPr sz="1500" b="0" i="0">
                <a:solidFill>
                  <a:srgbClr val="000000"/>
                </a:solidFill>
                <a:latin typeface="Arial"/>
              </a:rPr>
              <a:t>Trial frequency and discrimination accuracy were measured separately across the daily cycle. More participation at a particular hour did not translate into a matching systematic rise in accuracy. The amount of recorded behavior and the quality of stimulus discrimination therefore described different features of the animal’s activity.</a:t>
            </a:r>
          </a:p>
          <a:p>
            <a:pPr algn="l">
              <a:lnSpc>
                <a:spcPct val="108000"/>
              </a:lnSpc>
              <a:spcAft>
                <a:spcPts val="900"/>
              </a:spcAft>
            </a:pPr>
            <a:r>
              <a:rPr sz="1500" b="0" i="0">
                <a:solidFill>
                  <a:srgbClr val="000000"/>
                </a:solidFill>
                <a:latin typeface="Arial"/>
              </a:rPr>
              <a:t>Animals often performed runs of consecutive trials, then returned to the shared cage. Linking those bouts to individual identity preserved differences in participation schedules. Automated longitudinal records connected access, activity and task performance without equating frequent participation with better discrimination.</a:t>
            </a:r>
          </a:p>
        </p:txBody>
      </p:sp>
      <p:pic>
        <p:nvPicPr>
          <p:cNvPr id="4" name="Picture 3" descr="auto2.png"/>
          <p:cNvPicPr>
            <a:picLocks noChangeAspect="1"/>
          </p:cNvPicPr>
          <p:nvPr/>
        </p:nvPicPr>
        <p:blipFill>
          <a:blip r:embed="rId2"/>
          <a:stretch>
            <a:fillRect/>
          </a:stretch>
        </p:blipFill>
        <p:spPr>
          <a:xfrm>
            <a:off x="7136572" y="1280160"/>
            <a:ext cx="376430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Erskine et al. (2019), Fig. 2(a–f). Self-initiated trials and discrimination across the daily cycle.</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Erskine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Real prey capture establishes the motor sequence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Trivedi and Bollmann recorded larval zebrafish capturing live paramecia with high-speed video. Capture consisted of separate swimming bouts interrupted by pauses. Early movements oriented the body toward prey, and later movements advanced the fish until a final capture swim.</a:t>
            </a:r>
          </a:p>
          <a:p>
            <a:pPr algn="l">
              <a:lnSpc>
                <a:spcPct val="108000"/>
              </a:lnSpc>
              <a:spcAft>
                <a:spcPts val="960"/>
              </a:spcAft>
            </a:pPr>
            <a:r>
              <a:rPr sz="1600" b="0" i="0">
                <a:solidFill>
                  <a:srgbClr val="000000"/>
                </a:solidFill>
                <a:latin typeface="Arial"/>
              </a:rPr>
              <a:t>Automated measurements tracked the fish’s body, the prey and the angles of both eyes. </a:t>
            </a:r>
            <a:r>
              <a:rPr sz="1600" b="1" i="0">
                <a:solidFill>
                  <a:srgbClr val="544A45"/>
                </a:solidFill>
                <a:latin typeface="Arial"/>
              </a:rPr>
              <a:t>Eye convergence</a:t>
            </a:r>
            <a:r>
              <a:rPr sz="1600" b="0" i="0">
                <a:solidFill>
                  <a:srgbClr val="000000"/>
                </a:solidFill>
                <a:latin typeface="Arial"/>
              </a:rPr>
              <a:t> rotates the eyes toward a more forward-facing configuration during capture. The body-to-prey distance declined through the sequence while the prey occupied a progressively larger angle in the visual field.</a:t>
            </a:r>
          </a:p>
          <a:p>
            <a:pPr algn="l">
              <a:lnSpc>
                <a:spcPct val="108000"/>
              </a:lnSpc>
              <a:spcAft>
                <a:spcPts val="960"/>
              </a:spcAft>
            </a:pPr>
            <a:r>
              <a:rPr sz="1600" b="0" i="0">
                <a:solidFill>
                  <a:srgbClr val="000000"/>
                </a:solidFill>
                <a:latin typeface="Arial"/>
              </a:rPr>
              <a:t>The pauses between bouts shortened as capture progressed. Approaching prey also moved faster across the visual field and increased in angular size. Recording these coupled changes established the sensory and motor conditions that a controlled virtual-prey task needed to reproduce.</a:t>
            </a:r>
          </a:p>
        </p:txBody>
      </p:sp>
      <p:pic>
        <p:nvPicPr>
          <p:cNvPr id="4" name="Picture 3" descr="fish1.png"/>
          <p:cNvPicPr>
            <a:picLocks noChangeAspect="1"/>
          </p:cNvPicPr>
          <p:nvPr/>
        </p:nvPicPr>
        <p:blipFill>
          <a:blip r:embed="rId2"/>
          <a:stretch>
            <a:fillRect/>
          </a:stretch>
        </p:blipFill>
        <p:spPr>
          <a:xfrm>
            <a:off x="7725137" y="1280160"/>
            <a:ext cx="258717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1(a–h). Zebrafish prey capture, eye angles and approach measures.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Body landmarks convert a swim into measurable kinematics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44A45"/>
                </a:solidFill>
                <a:latin typeface="Arial"/>
              </a:rPr>
              <a:t>Kinematics</a:t>
            </a:r>
            <a:r>
              <a:rPr sz="1500" b="0" i="0">
                <a:solidFill>
                  <a:srgbClr val="000000"/>
                </a:solidFill>
                <a:latin typeface="Arial"/>
              </a:rPr>
              <a:t> describes movement without specifying the forces that produce it. Trivedi and Bollmann fitted a segmented midline to larval zebrafish images and measured the deviations of successive tail segments from the body axis. The resulting angle traces distinguished the timing and shape of individual swimming bouts.</a:t>
            </a:r>
          </a:p>
          <a:p>
            <a:pPr algn="l">
              <a:lnSpc>
                <a:spcPct val="108000"/>
              </a:lnSpc>
              <a:spcAft>
                <a:spcPts val="900"/>
              </a:spcAft>
            </a:pPr>
            <a:r>
              <a:rPr sz="1500" b="0" i="0">
                <a:solidFill>
                  <a:srgbClr val="000000"/>
                </a:solidFill>
                <a:latin typeface="Arial"/>
              </a:rPr>
              <a:t>Prey position was expressed relative to the fish’s heading, rather than only in camera coordinates. A target to one side required an orienting movement toward that side. The angular change produced by a swim depended on the target’s position immediately before the bout.</a:t>
            </a:r>
          </a:p>
          <a:p>
            <a:pPr algn="l">
              <a:lnSpc>
                <a:spcPct val="108000"/>
              </a:lnSpc>
              <a:spcAft>
                <a:spcPts val="900"/>
              </a:spcAft>
            </a:pPr>
            <a:r>
              <a:rPr sz="1500" b="0" i="0">
                <a:solidFill>
                  <a:srgbClr val="000000"/>
                </a:solidFill>
                <a:latin typeface="Arial"/>
              </a:rPr>
              <a:t>Frame-by-frame body measurements linked tail configuration to the change in orientation after each swim. The same parameter definitions could then be applied to restrained larvae responding to displayed prey. A common kinematic description connected the natural behavior with its experimentally controlled counterpart.</a:t>
            </a:r>
          </a:p>
        </p:txBody>
      </p:sp>
      <p:pic>
        <p:nvPicPr>
          <p:cNvPr id="4" name="Picture 3" descr="fish2.png"/>
          <p:cNvPicPr>
            <a:picLocks noChangeAspect="1"/>
          </p:cNvPicPr>
          <p:nvPr/>
        </p:nvPicPr>
        <p:blipFill>
          <a:blip r:embed="rId2"/>
          <a:stretch>
            <a:fillRect/>
          </a:stretch>
        </p:blipFill>
        <p:spPr>
          <a:xfrm>
            <a:off x="7206255" y="1280160"/>
            <a:ext cx="362494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2(a–h). Body midline, tail angles and target-directed turns.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Tail rhythms distinguish orientation from displacement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Spectral analysis</a:t>
            </a:r>
            <a:r>
              <a:rPr sz="1600" b="0" i="0">
                <a:solidFill>
                  <a:srgbClr val="000000"/>
                </a:solidFill>
                <a:latin typeface="Arial"/>
              </a:rPr>
              <a:t> separates a changing signal into contributions at different frequencies. Applying it to the zebrafish tail-angle traces identified a low-frequency component near 4 hertz and a higher-frequency component. These components captured different features of the swimming bout.</a:t>
            </a:r>
          </a:p>
          <a:p>
            <a:pPr algn="l">
              <a:lnSpc>
                <a:spcPct val="108000"/>
              </a:lnSpc>
              <a:spcAft>
                <a:spcPts val="960"/>
              </a:spcAft>
            </a:pPr>
            <a:r>
              <a:rPr sz="1600" b="0" i="0">
                <a:solidFill>
                  <a:srgbClr val="000000"/>
                </a:solidFill>
                <a:latin typeface="Arial"/>
              </a:rPr>
              <a:t>The low-frequency amplitude increased with the change in body orientation. A pronounced slower bending component therefore accompanied stronger turning. The higher-frequency amplitude was related to the change in fish-to-prey distance, linking faster tail oscillation to approach displacement.</a:t>
            </a:r>
          </a:p>
          <a:p>
            <a:pPr algn="l">
              <a:lnSpc>
                <a:spcPct val="108000"/>
              </a:lnSpc>
              <a:spcAft>
                <a:spcPts val="960"/>
              </a:spcAft>
            </a:pPr>
            <a:r>
              <a:rPr sz="1600" b="0" i="0">
                <a:solidFill>
                  <a:srgbClr val="000000"/>
                </a:solidFill>
                <a:latin typeface="Arial"/>
              </a:rPr>
              <a:t>The authors measured these relationships in freely swimming larvae and compared them with responses in a restrained preparation. Similar signal components allowed a tail movement to be classified by its orienting or propulsive contribution. Tracking thus extracted distinct motor features instead of treating every detected bout as equivalent.</a:t>
            </a:r>
          </a:p>
        </p:txBody>
      </p:sp>
      <p:pic>
        <p:nvPicPr>
          <p:cNvPr id="4" name="Picture 3" descr="fish3.png"/>
          <p:cNvPicPr>
            <a:picLocks noChangeAspect="1"/>
          </p:cNvPicPr>
          <p:nvPr/>
        </p:nvPicPr>
        <p:blipFill>
          <a:blip r:embed="rId2"/>
          <a:stretch>
            <a:fillRect/>
          </a:stretch>
        </p:blipFill>
        <p:spPr>
          <a:xfrm>
            <a:off x="7388175" y="1280160"/>
            <a:ext cx="326110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3(a–g). Tail-angle spectra and relationships to movement.</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Target geometry can switch approach into avoidance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Minimal restraint kept the larva’s eyes and tail free while holding its position relative to a visual display. The experimenters presented moving rectangles with controlled angular size and speed. </a:t>
            </a:r>
            <a:r>
              <a:rPr sz="1500" b="1" i="0">
                <a:solidFill>
                  <a:srgbClr val="544A45"/>
                </a:solidFill>
                <a:latin typeface="Arial"/>
              </a:rPr>
              <a:t>Angular size</a:t>
            </a:r>
            <a:r>
              <a:rPr sz="1500" b="0" i="0">
                <a:solidFill>
                  <a:srgbClr val="000000"/>
                </a:solidFill>
                <a:latin typeface="Arial"/>
              </a:rPr>
              <a:t> measures the extent of a stimulus in the animal’s visual field rather than its physical dimensions on the screen.</a:t>
            </a:r>
          </a:p>
          <a:p>
            <a:pPr algn="l">
              <a:lnSpc>
                <a:spcPct val="108000"/>
              </a:lnSpc>
              <a:spcAft>
                <a:spcPts val="900"/>
              </a:spcAft>
            </a:pPr>
            <a:r>
              <a:rPr sz="1500" b="0" i="0">
                <a:solidFill>
                  <a:srgbClr val="000000"/>
                </a:solidFill>
                <a:latin typeface="Arial"/>
              </a:rPr>
              <a:t>A small target measuring 2 by 1 degrees and moving at 20 degrees per second elicited target-directed turning. A larger target measuring 8 by 4 degrees and moving at 40 degrees per second elicited turning away. Eye movements and tail-angle analysis accompanied these different motor responses.</a:t>
            </a:r>
          </a:p>
          <a:p>
            <a:pPr algn="l">
              <a:lnSpc>
                <a:spcPct val="108000"/>
              </a:lnSpc>
              <a:spcAft>
                <a:spcPts val="900"/>
              </a:spcAft>
            </a:pPr>
            <a:r>
              <a:rPr sz="1500" b="0" i="0">
                <a:solidFill>
                  <a:srgbClr val="000000"/>
                </a:solidFill>
                <a:latin typeface="Arial"/>
              </a:rPr>
              <a:t>Systematic variation of size and velocity identified combinations that promoted approach or avoidance. A visual object consequently acquired behavioral meaning through its sensory parameters. Calling an object virtual prey required evidence from the animal’s response rather than resemblance to prey from a human observer’s perspective.</a:t>
            </a:r>
          </a:p>
        </p:txBody>
      </p:sp>
      <p:pic>
        <p:nvPicPr>
          <p:cNvPr id="4" name="Picture 3" descr="fish4.png"/>
          <p:cNvPicPr>
            <a:picLocks noChangeAspect="1"/>
          </p:cNvPicPr>
          <p:nvPr/>
        </p:nvPicPr>
        <p:blipFill>
          <a:blip r:embed="rId2"/>
          <a:stretch>
            <a:fillRect/>
          </a:stretch>
        </p:blipFill>
        <p:spPr>
          <a:xfrm>
            <a:off x="6885458" y="1280160"/>
            <a:ext cx="426653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4(a–f). Restrained larvae responding to different visual targets.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Optical signals align detected bouts with video</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44A45"/>
                </a:solidFill>
                <a:latin typeface="Arial"/>
              </a:rPr>
              <a:t>position-sensitive detector</a:t>
            </a:r>
            <a:r>
              <a:rPr sz="1500" b="0" i="0">
                <a:solidFill>
                  <a:srgbClr val="000000"/>
                </a:solidFill>
                <a:latin typeface="Arial"/>
              </a:rPr>
              <a:t> measured an optical signal associated with tail movement in restrained zebrafish. Trivedi and Bollmann compared this signal with tail angles extracted from high-speed video. A threshold crossing supplied a rapid bout-detection event while the video retained the movement’s detailed shape.</a:t>
            </a:r>
          </a:p>
          <a:p>
            <a:pPr algn="l">
              <a:lnSpc>
                <a:spcPct val="108000"/>
              </a:lnSpc>
              <a:spcAft>
                <a:spcPts val="900"/>
              </a:spcAft>
            </a:pPr>
            <a:r>
              <a:rPr sz="1500" b="0" i="0">
                <a:solidFill>
                  <a:srgbClr val="000000"/>
                </a:solidFill>
                <a:latin typeface="Arial"/>
              </a:rPr>
              <a:t>The two readouts served different measurement purposes. The detector identified an event quickly enough to trigger a display update; body tracking described which tail segments moved and when. Aligning their time courses tied the fast sensor event to the motor behavior visible in the recording.</a:t>
            </a:r>
          </a:p>
          <a:p>
            <a:pPr algn="l">
              <a:lnSpc>
                <a:spcPct val="108000"/>
              </a:lnSpc>
              <a:spcAft>
                <a:spcPts val="900"/>
              </a:spcAft>
            </a:pPr>
            <a:r>
              <a:rPr sz="1500" b="0" i="0">
                <a:solidFill>
                  <a:srgbClr val="000000"/>
                </a:solidFill>
                <a:latin typeface="Arial"/>
              </a:rPr>
              <a:t>The resulting alignment placed stimulus position, detector voltage and tail-angle changes on a common time axis. That synchronization made the timing of a sensory intervention experimentally interpretable. A sensor threshold alone would identify an event without preserving the full kinematic evidence for the action that caused it.</a:t>
            </a:r>
          </a:p>
        </p:txBody>
      </p:sp>
      <p:pic>
        <p:nvPicPr>
          <p:cNvPr id="4" name="Picture 3" descr="fish5.png"/>
          <p:cNvPicPr>
            <a:picLocks noChangeAspect="1"/>
          </p:cNvPicPr>
          <p:nvPr/>
        </p:nvPicPr>
        <p:blipFill>
          <a:blip r:embed="rId2"/>
          <a:stretch>
            <a:fillRect/>
          </a:stretch>
        </p:blipFill>
        <p:spPr>
          <a:xfrm>
            <a:off x="7438191" y="1280160"/>
            <a:ext cx="316107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5(a–g). Swim detection and stimulus updates in the closed loop.</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Eye convergence accompanies the simulated approach</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Trivedi and Bollmann compared eye angles during capture of real paramecia with angles during virtual-prey sequences. The restrained preparation permitted high-resolution tracking while the displayed target changed after detected swims. Eye convergence supplied an additional motor readout beyond the presence of a tail bout.</a:t>
            </a:r>
          </a:p>
          <a:p>
            <a:pPr algn="l">
              <a:lnSpc>
                <a:spcPct val="108000"/>
              </a:lnSpc>
              <a:spcAft>
                <a:spcPts val="900"/>
              </a:spcAft>
            </a:pPr>
            <a:r>
              <a:rPr sz="1500" b="0" i="0">
                <a:solidFill>
                  <a:srgbClr val="000000"/>
                </a:solidFill>
                <a:latin typeface="Arial"/>
              </a:rPr>
              <a:t>Larvae produced repeated target-directed swims and increasing eye convergence in this closed-loop condition. The resulting sequence resembled the progressive approach measured with live prey. Sensory changes caused by one bout helped organize the timing and configuration of later bouts.</a:t>
            </a:r>
          </a:p>
          <a:p>
            <a:pPr algn="l">
              <a:lnSpc>
                <a:spcPct val="108000"/>
              </a:lnSpc>
              <a:spcAft>
                <a:spcPts val="900"/>
              </a:spcAft>
            </a:pPr>
            <a:r>
              <a:rPr sz="1500" b="0" i="0">
                <a:solidFill>
                  <a:srgbClr val="000000"/>
                </a:solidFill>
                <a:latin typeface="Arial"/>
              </a:rPr>
              <a:t>A comparison condition held target size and speed constant. Its altered inter-bout timing connected the sequence to updated visual information rather than to a fixed count of preceding swims. Combining eye angles and bout timing distinguished a coordinated capture-like sequence from an isolated orienting movement.</a:t>
            </a:r>
          </a:p>
        </p:txBody>
      </p:sp>
      <p:pic>
        <p:nvPicPr>
          <p:cNvPr id="4" name="Picture 3" descr="fish5.png"/>
          <p:cNvPicPr>
            <a:picLocks noChangeAspect="1"/>
          </p:cNvPicPr>
          <p:nvPr/>
        </p:nvPicPr>
        <p:blipFill>
          <a:blip r:embed="rId2"/>
          <a:stretch>
            <a:fillRect/>
          </a:stretch>
        </p:blipFill>
        <p:spPr>
          <a:xfrm>
            <a:off x="7438191" y="1280160"/>
            <a:ext cx="316107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5(a–g). Increasing target size and speed during virtual-prey approach.</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Residual target error predicts motor readiness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Turning error</a:t>
            </a:r>
            <a:r>
              <a:rPr sz="1600" b="0" i="0">
                <a:solidFill>
                  <a:srgbClr val="000000"/>
                </a:solidFill>
                <a:latin typeface="Arial"/>
              </a:rPr>
              <a:t> is the target’s angular displacement from the heading after an orienting movement. Trivedi and Bollmann imposed different apparent outcomes of a detected swim: the target could remain short of the midline, arrive at the midline or pass beyond it. These updates simulated undershoot, alignment and overshoot.</a:t>
            </a:r>
          </a:p>
          <a:p>
            <a:pPr algn="l">
              <a:lnSpc>
                <a:spcPct val="108000"/>
              </a:lnSpc>
              <a:spcAft>
                <a:spcPts val="960"/>
              </a:spcAft>
            </a:pPr>
            <a:r>
              <a:rPr sz="1600" b="0" i="0">
                <a:solidFill>
                  <a:srgbClr val="000000"/>
                </a:solidFill>
                <a:latin typeface="Arial"/>
              </a:rPr>
              <a:t>The interval before the next swim was shortest when the target was near alignment. Updates approximately 10 degrees short of or beyond the midline delayed the subsequent bout. Real prey-capture recordings also linked shorter intervals to smaller residual turning error.</a:t>
            </a:r>
          </a:p>
          <a:p>
            <a:pPr algn="l">
              <a:lnSpc>
                <a:spcPct val="108000"/>
              </a:lnSpc>
              <a:spcAft>
                <a:spcPts val="960"/>
              </a:spcAft>
            </a:pPr>
            <a:r>
              <a:rPr sz="1600" b="0" i="0">
                <a:solidFill>
                  <a:srgbClr val="000000"/>
                </a:solidFill>
                <a:latin typeface="Arial"/>
              </a:rPr>
              <a:t>Changing the feedback mapping altered the motor sequence even though the detected action had already occurred. The next bout depended on the target’s updated sensory position. Closed-loop mapping therefore formed part of the behavioral mechanism, rather than serving only as a display convenience.</a:t>
            </a:r>
          </a:p>
        </p:txBody>
      </p:sp>
      <p:pic>
        <p:nvPicPr>
          <p:cNvPr id="4" name="Picture 3" descr="fish6.png"/>
          <p:cNvPicPr>
            <a:picLocks noChangeAspect="1"/>
          </p:cNvPicPr>
          <p:nvPr/>
        </p:nvPicPr>
        <p:blipFill>
          <a:blip r:embed="rId2"/>
          <a:stretch>
            <a:fillRect/>
          </a:stretch>
        </p:blipFill>
        <p:spPr>
          <a:xfrm>
            <a:off x="6412687" y="1280160"/>
            <a:ext cx="5212080" cy="3670900"/>
          </a:xfrm>
          <a:prstGeom prst="rect">
            <a:avLst/>
          </a:prstGeom>
        </p:spPr>
      </p:pic>
      <p:sp>
        <p:nvSpPr>
          <p:cNvPr id="5" name="Figure caption"/>
          <p:cNvSpPr txBox="1"/>
          <p:nvPr/>
        </p:nvSpPr>
        <p:spPr>
          <a:xfrm>
            <a:off x="6412687" y="504250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6(a–e). Undershoot, alignment and overshoot in the virtual task.</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Movement phase changes visual reaction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investigators presented a second target at different times relative to the end of an initial swim. </a:t>
            </a:r>
            <a:r>
              <a:rPr sz="1600" b="1" i="0">
                <a:solidFill>
                  <a:srgbClr val="544A45"/>
                </a:solidFill>
                <a:latin typeface="Arial"/>
              </a:rPr>
              <a:t>Inter-bout interval</a:t>
            </a:r>
            <a:r>
              <a:rPr sz="1600" b="0" i="0">
                <a:solidFill>
                  <a:srgbClr val="000000"/>
                </a:solidFill>
                <a:latin typeface="Arial"/>
              </a:rPr>
              <a:t> is the elapsed time between successive motor bouts, while reaction time is measured from the appearance of the new stimulus. These measures use different temporal reference points.</a:t>
            </a:r>
          </a:p>
          <a:p>
            <a:pPr algn="l">
              <a:lnSpc>
                <a:spcPct val="108000"/>
              </a:lnSpc>
              <a:spcAft>
                <a:spcPts val="960"/>
              </a:spcAft>
            </a:pPr>
            <a:r>
              <a:rPr sz="1600" b="0" i="0">
                <a:solidFill>
                  <a:srgbClr val="000000"/>
                </a:solidFill>
                <a:latin typeface="Arial"/>
              </a:rPr>
              <a:t>Presenting the target near the end of the first bout produced the shortest inter-bout intervals. Earlier or later presentation lengthened the sequence’s pause. The result linked stimulus timing to ongoing motor activity, rather than treating a visual response as independent of the preceding movement.</a:t>
            </a:r>
          </a:p>
          <a:p>
            <a:pPr algn="l">
              <a:lnSpc>
                <a:spcPct val="108000"/>
              </a:lnSpc>
              <a:spcAft>
                <a:spcPts val="960"/>
              </a:spcAft>
            </a:pPr>
            <a:r>
              <a:rPr sz="1600" b="0" i="0">
                <a:solidFill>
                  <a:srgbClr val="000000"/>
                </a:solidFill>
                <a:latin typeface="Arial"/>
              </a:rPr>
              <a:t>A larger, faster second target produced shorter reaction times than the smaller, slower comparison. Both the timing and sensory properties of feedback shaped the next action. A virtual task therefore needed to preserve the relation between movement phase and the visual event delivered in response.</a:t>
            </a:r>
          </a:p>
        </p:txBody>
      </p:sp>
      <p:pic>
        <p:nvPicPr>
          <p:cNvPr id="4" name="Picture 3" descr="fish7.png"/>
          <p:cNvPicPr>
            <a:picLocks noChangeAspect="1"/>
          </p:cNvPicPr>
          <p:nvPr/>
        </p:nvPicPr>
        <p:blipFill>
          <a:blip r:embed="rId2"/>
          <a:stretch>
            <a:fillRect/>
          </a:stretch>
        </p:blipFill>
        <p:spPr>
          <a:xfrm>
            <a:off x="7330587" y="1280160"/>
            <a:ext cx="337627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Trivedi &amp; Bollmann (2013), Fig. 7(a–g). Stimulus timing and the interval between swims.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Trivedi &amp; Bollmann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Body placement provides a depth-dependent readout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Feord and colleagues delivered eye-specific moving shrimp images to cuttlefish through colored filters. </a:t>
            </a:r>
            <a:r>
              <a:rPr sz="1400" b="1" i="0">
                <a:solidFill>
                  <a:srgbClr val="544A45"/>
                </a:solidFill>
                <a:latin typeface="Arial"/>
              </a:rPr>
              <a:t>Binocular disparity</a:t>
            </a:r>
            <a:r>
              <a:rPr sz="1400" b="0" i="0">
                <a:solidFill>
                  <a:srgbClr val="000000"/>
                </a:solidFill>
                <a:latin typeface="Arial"/>
              </a:rPr>
              <a:t>, the difference between the two eyes’ images, ranged from negative to positive values. Increasing positive disparity placed the apparent prey in front of the screen under the tested geometry. Cuttlefish positioned themselves farther from the screen before launching their tentacles.</a:t>
            </a:r>
          </a:p>
          <a:p>
            <a:pPr algn="l">
              <a:lnSpc>
                <a:spcPct val="108000"/>
              </a:lnSpc>
              <a:spcAft>
                <a:spcPts val="840"/>
              </a:spcAft>
            </a:pPr>
            <a:r>
              <a:rPr sz="1400" b="0" i="0">
                <a:solidFill>
                  <a:srgbClr val="000000"/>
                </a:solidFill>
                <a:latin typeface="Arial"/>
              </a:rPr>
              <a:t>A </a:t>
            </a:r>
            <a:r>
              <a:rPr sz="1400" b="1" i="0">
                <a:solidFill>
                  <a:srgbClr val="544A45"/>
                </a:solidFill>
                <a:latin typeface="Arial"/>
              </a:rPr>
              <a:t>ballistic movement</a:t>
            </a:r>
            <a:r>
              <a:rPr sz="1400" b="0" i="0">
                <a:solidFill>
                  <a:srgbClr val="000000"/>
                </a:solidFill>
                <a:latin typeface="Arial"/>
              </a:rPr>
              <a:t> is a rapid movement whose initial execution depends strongly on the preceding preparation. The experiment measured eye-to-screen distance when this strike began. Incorporating each animal’s interocular distance, the separation between its eyes, allowed comparison with the target location predicted from stereoscopic geometry.</a:t>
            </a:r>
          </a:p>
          <a:p>
            <a:pPr algn="l">
              <a:lnSpc>
                <a:spcPct val="108000"/>
              </a:lnSpc>
              <a:spcAft>
                <a:spcPts val="840"/>
              </a:spcAft>
            </a:pPr>
            <a:r>
              <a:rPr sz="1400" b="0" i="0">
                <a:solidFill>
                  <a:srgbClr val="000000"/>
                </a:solidFill>
                <a:latin typeface="Arial"/>
              </a:rPr>
              <a:t>The animals maintained a consistent relationship to the inferred prey position across disparity conditions. Their body placement therefore changed with the eye-specific depth cue. The physical monitor remained fixed while the animal behaved as though the relevant target distance had changed.</a:t>
            </a:r>
          </a:p>
        </p:txBody>
      </p:sp>
      <p:pic>
        <p:nvPicPr>
          <p:cNvPr id="4" name="Picture 3" descr="cuttle1.png"/>
          <p:cNvPicPr>
            <a:picLocks noChangeAspect="1"/>
          </p:cNvPicPr>
          <p:nvPr/>
        </p:nvPicPr>
        <p:blipFill>
          <a:blip r:embed="rId2"/>
          <a:stretch>
            <a:fillRect/>
          </a:stretch>
        </p:blipFill>
        <p:spPr>
          <a:xfrm>
            <a:off x="6412687" y="1280160"/>
            <a:ext cx="5212080" cy="2720488"/>
          </a:xfrm>
          <a:prstGeom prst="rect">
            <a:avLst/>
          </a:prstGeom>
        </p:spPr>
      </p:pic>
      <p:sp>
        <p:nvSpPr>
          <p:cNvPr id="5" name="Figure caption"/>
          <p:cNvSpPr txBox="1"/>
          <p:nvPr/>
        </p:nvSpPr>
        <p:spPr>
          <a:xfrm>
            <a:off x="6412687" y="409208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Feord et al. (2020), Fig. 1(a–h). Strike position and tentacle extension versus disparity.</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Time budgets localize a perceptual impairment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Cuttlefish hunting was divided into detection, positioning, strike initiation and prey seizure. Detection began with the first reaction to the displayed target. Positioning included movement into the location and orientation used to launch the tentacles.</a:t>
            </a:r>
          </a:p>
          <a:p>
            <a:pPr algn="l">
              <a:lnSpc>
                <a:spcPct val="108000"/>
              </a:lnSpc>
              <a:spcAft>
                <a:spcPts val="960"/>
              </a:spcAft>
            </a:pPr>
            <a:r>
              <a:rPr sz="1600" b="0" i="0">
                <a:solidFill>
                  <a:srgbClr val="000000"/>
                </a:solidFill>
                <a:latin typeface="Arial"/>
              </a:rPr>
              <a:t>The researchers measured elapsed time, distance traveled and eye-to-screen distance in each stage. These separate readouts distinguished finding the target from deciding where to strike it. A total trial duration would combine processes that responded differently to changes in visual information.</a:t>
            </a:r>
          </a:p>
          <a:p>
            <a:pPr algn="l">
              <a:lnSpc>
                <a:spcPct val="108000"/>
              </a:lnSpc>
              <a:spcAft>
                <a:spcPts val="960"/>
              </a:spcAft>
            </a:pPr>
            <a:r>
              <a:rPr sz="1600" b="0" i="0">
                <a:solidFill>
                  <a:srgbClr val="000000"/>
                </a:solidFill>
                <a:latin typeface="Arial"/>
              </a:rPr>
              <a:t>Comparing the stages localized the effect of reduced binocular information mainly to positioning. Detection and later strike phases were more similar across the tested conditions. The behavioral sequence therefore supplied a more specific account of sensory use than a single success-or-failure score.</a:t>
            </a:r>
          </a:p>
        </p:txBody>
      </p:sp>
      <p:pic>
        <p:nvPicPr>
          <p:cNvPr id="4" name="Picture 3" descr="cuttle2.png"/>
          <p:cNvPicPr>
            <a:picLocks noChangeAspect="1"/>
          </p:cNvPicPr>
          <p:nvPr/>
        </p:nvPicPr>
        <p:blipFill>
          <a:blip r:embed="rId2"/>
          <a:stretch>
            <a:fillRect/>
          </a:stretch>
        </p:blipFill>
        <p:spPr>
          <a:xfrm>
            <a:off x="6412687" y="1280160"/>
            <a:ext cx="5212080" cy="3294604"/>
          </a:xfrm>
          <a:prstGeom prst="rect">
            <a:avLst/>
          </a:prstGeom>
        </p:spPr>
      </p:pic>
      <p:sp>
        <p:nvSpPr>
          <p:cNvPr id="5" name="Figure caption"/>
          <p:cNvSpPr txBox="1"/>
          <p:nvPr/>
        </p:nvSpPr>
        <p:spPr>
          <a:xfrm>
            <a:off x="6412687" y="466620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Feord et al. (2020), Fig. 2(a–d). Detection, positioning, strike and seizure stages.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Motion can reveal prey hidden in a dot pattern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researchers concealed a shrimp-shaped region within a background of random dots. In a static frame, the target had no ordinary outline or contrasting fill. Its motion created information that distinguished the prey region from the surrounding pattern.</a:t>
            </a:r>
          </a:p>
          <a:p>
            <a:pPr algn="l">
              <a:lnSpc>
                <a:spcPct val="108000"/>
              </a:lnSpc>
              <a:spcAft>
                <a:spcPts val="900"/>
              </a:spcAft>
            </a:pPr>
            <a:r>
              <a:rPr sz="1500" b="0" i="0">
                <a:solidFill>
                  <a:srgbClr val="000000"/>
                </a:solidFill>
                <a:latin typeface="Arial"/>
              </a:rPr>
              <a:t>The two eyes received manipulated versions of the dot display. </a:t>
            </a:r>
            <a:r>
              <a:rPr sz="1500" b="1" i="0">
                <a:solidFill>
                  <a:srgbClr val="544A45"/>
                </a:solidFill>
                <a:latin typeface="Arial"/>
              </a:rPr>
              <a:t>Correlation</a:t>
            </a:r>
            <a:r>
              <a:rPr sz="1500" b="0" i="0">
                <a:solidFill>
                  <a:srgbClr val="000000"/>
                </a:solidFill>
                <a:latin typeface="Arial"/>
              </a:rPr>
              <a:t> described whether corresponding dots had matching contrast across the eyes. Disparity could then be changed while the prey remained defined through movement rather than a conventional colored silhouette.</a:t>
            </a:r>
          </a:p>
          <a:p>
            <a:pPr algn="l">
              <a:lnSpc>
                <a:spcPct val="108000"/>
              </a:lnSpc>
              <a:spcAft>
                <a:spcPts val="900"/>
              </a:spcAft>
            </a:pPr>
            <a:r>
              <a:rPr sz="1500" b="0" i="0">
                <a:solidFill>
                  <a:srgbClr val="000000"/>
                </a:solidFill>
                <a:latin typeface="Arial"/>
              </a:rPr>
              <a:t>Cuttlefish detected and struck at targets in appropriate correlated conditions. Motion-defined prey thus provided usable information even when a human-designed static outline was removed. The experiment tested the animal’s visual computation through controlled image relationships, rather than judging stimulus suitability solely by human appearance.</a:t>
            </a:r>
          </a:p>
        </p:txBody>
      </p:sp>
      <p:pic>
        <p:nvPicPr>
          <p:cNvPr id="4" name="Picture 3" descr="cuttle3.png"/>
          <p:cNvPicPr>
            <a:picLocks noChangeAspect="1"/>
          </p:cNvPicPr>
          <p:nvPr/>
        </p:nvPicPr>
        <p:blipFill>
          <a:blip r:embed="rId2"/>
          <a:stretch>
            <a:fillRect/>
          </a:stretch>
        </p:blipFill>
        <p:spPr>
          <a:xfrm>
            <a:off x="7523349" y="1280160"/>
            <a:ext cx="299075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Feord et al. (2020), Fig. 3(a–b). Correlated and anticorrelated dot stimuli.</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Contrast reversal tests interocular image comparison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an </a:t>
            </a:r>
            <a:r>
              <a:rPr sz="1500" b="1" i="0">
                <a:solidFill>
                  <a:srgbClr val="544A45"/>
                </a:solidFill>
                <a:latin typeface="Arial"/>
              </a:rPr>
              <a:t>anticorrelated</a:t>
            </a:r>
            <a:r>
              <a:rPr sz="1500" b="0" i="0">
                <a:solidFill>
                  <a:srgbClr val="000000"/>
                </a:solidFill>
                <a:latin typeface="Arial"/>
              </a:rPr>
              <a:t> display, a bright dot in one eye’s image corresponded to a dark dot in the other eye’s image. This reverses local contrast while retaining a systematic relation between the two images. An </a:t>
            </a:r>
            <a:r>
              <a:rPr sz="1500" b="1" i="0">
                <a:solidFill>
                  <a:srgbClr val="544A45"/>
                </a:solidFill>
                <a:latin typeface="Arial"/>
              </a:rPr>
              <a:t>uncorrelated</a:t>
            </a:r>
            <a:r>
              <a:rPr sz="1500" b="0" i="0">
                <a:solidFill>
                  <a:srgbClr val="000000"/>
                </a:solidFill>
                <a:latin typeface="Arial"/>
              </a:rPr>
              <a:t> display instead supplied unrelated dot patterns to the two eyes.</a:t>
            </a:r>
          </a:p>
          <a:p>
            <a:pPr algn="l">
              <a:lnSpc>
                <a:spcPct val="108000"/>
              </a:lnSpc>
              <a:spcAft>
                <a:spcPts val="900"/>
              </a:spcAft>
            </a:pPr>
            <a:r>
              <a:rPr sz="1500" b="0" i="0">
                <a:solidFill>
                  <a:srgbClr val="000000"/>
                </a:solidFill>
                <a:latin typeface="Arial"/>
              </a:rPr>
              <a:t>Cuttlefish adjusted their strike position appropriately with correlated and anticorrelated prey patterns. Uncorrelated patterns did not support the same depth-dependent response. The presence of an organized interocular relationship mattered even when the signs of corresponding contrasts were reversed.</a:t>
            </a:r>
          </a:p>
          <a:p>
            <a:pPr algn="l">
              <a:lnSpc>
                <a:spcPct val="108000"/>
              </a:lnSpc>
              <a:spcAft>
                <a:spcPts val="900"/>
              </a:spcAft>
            </a:pPr>
            <a:r>
              <a:rPr sz="1500" b="0" i="0">
                <a:solidFill>
                  <a:srgbClr val="000000"/>
                </a:solidFill>
                <a:latin typeface="Arial"/>
              </a:rPr>
              <a:t>The authors used these conditions to probe the computation underlying stereopsis. The behavioral result distinguished sensitivity to matching image structure from a requirement that matching points have identical brightness. A proposed explanation of the mechanism must account for both successful contrast reversal and failure with unrelated patterns.</a:t>
            </a:r>
          </a:p>
        </p:txBody>
      </p:sp>
      <p:pic>
        <p:nvPicPr>
          <p:cNvPr id="4" name="Picture 3" descr="cuttle3.png"/>
          <p:cNvPicPr>
            <a:picLocks noChangeAspect="1"/>
          </p:cNvPicPr>
          <p:nvPr/>
        </p:nvPicPr>
        <p:blipFill>
          <a:blip r:embed="rId2"/>
          <a:stretch>
            <a:fillRect/>
          </a:stretch>
        </p:blipFill>
        <p:spPr>
          <a:xfrm>
            <a:off x="7523349" y="1280160"/>
            <a:ext cx="299075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Feord et al. (2020), Fig. 3(a–b). Depth responses to interocular dot relationships.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Independent eye movements accompany binocular hunting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Feord and colleagues measured the orientation of both cuttlefish eyes during hunting. </a:t>
            </a:r>
            <a:r>
              <a:rPr sz="1500" b="1" i="0">
                <a:solidFill>
                  <a:srgbClr val="544A45"/>
                </a:solidFill>
                <a:latin typeface="Arial"/>
              </a:rPr>
              <a:t>Vergence</a:t>
            </a:r>
            <a:r>
              <a:rPr sz="1500" b="0" i="0">
                <a:solidFill>
                  <a:srgbClr val="000000"/>
                </a:solidFill>
                <a:latin typeface="Arial"/>
              </a:rPr>
              <a:t> describes the relative angle of the eyes, which determines how their visual fields overlap. The eyes moved independently rather than remaining locked into a symmetric orientation throughout the approach.</a:t>
            </a:r>
          </a:p>
          <a:p>
            <a:pPr algn="l">
              <a:lnSpc>
                <a:spcPct val="108000"/>
              </a:lnSpc>
              <a:spcAft>
                <a:spcPts val="900"/>
              </a:spcAft>
            </a:pPr>
            <a:r>
              <a:rPr sz="1500" b="0" i="0">
                <a:solidFill>
                  <a:srgbClr val="000000"/>
                </a:solidFill>
                <a:latin typeface="Arial"/>
              </a:rPr>
              <a:t>Immediately before a strike, eye orientation could differ by as much as about 10 degrees from the midline. Binocular depth-guided behavior therefore occurred alongside asymmetric eye positions. The experiment measured actual gaze geometry instead of assuming that the animal always centered both eyes identically on the displayed target.</a:t>
            </a:r>
          </a:p>
          <a:p>
            <a:pPr algn="l">
              <a:lnSpc>
                <a:spcPct val="108000"/>
              </a:lnSpc>
              <a:spcAft>
                <a:spcPts val="900"/>
              </a:spcAft>
            </a:pPr>
            <a:r>
              <a:rPr sz="1500" b="0" i="0">
                <a:solidFill>
                  <a:srgbClr val="000000"/>
                </a:solidFill>
                <a:latin typeface="Arial"/>
              </a:rPr>
              <a:t>Eye-specific stimulation, body positioning and tentacle extension together connected sensory input to action. Tracking the relevant organs was necessary for describing the input that the animal received. An interactive visual task depended on the animal’s own viewing geometry as well as the computer’s programmed images.</a:t>
            </a:r>
          </a:p>
        </p:txBody>
      </p:sp>
      <p:pic>
        <p:nvPicPr>
          <p:cNvPr id="4" name="Picture 3" descr="cuttle4.png"/>
          <p:cNvPicPr>
            <a:picLocks noChangeAspect="1"/>
          </p:cNvPicPr>
          <p:nvPr/>
        </p:nvPicPr>
        <p:blipFill>
          <a:blip r:embed="rId2"/>
          <a:stretch>
            <a:fillRect/>
          </a:stretch>
        </p:blipFill>
        <p:spPr>
          <a:xfrm>
            <a:off x="7353926" y="1280160"/>
            <a:ext cx="332960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Feord et al. (2020), Fig. 4(a–c). Eye positions and asymmetry during prey strikes.</a:t>
            </a:r>
          </a:p>
        </p:txBody>
      </p:sp>
      <p:sp>
        <p:nvSpPr>
          <p:cNvPr id="6" name="Rectangle 5"/>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Feord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44A45"/>
                </a:solidFill>
                <a:latin typeface="Arial"/>
              </a:rPr>
              <a:t>Key takeaways</a:t>
            </a:r>
          </a:p>
        </p:txBody>
      </p:sp>
      <p:sp>
        <p:nvSpPr>
          <p:cNvPr id="3" name="Rectangle 2"/>
          <p:cNvSpPr/>
          <p:nvPr/>
        </p:nvSpPr>
        <p:spPr>
          <a:xfrm>
            <a:off x="566928" y="1234440"/>
            <a:ext cx="5391759" cy="1478279"/>
          </a:xfrm>
          <a:prstGeom prst="rect">
            <a:avLst/>
          </a:prstGeom>
          <a:solidFill>
            <a:srgbClr val="F6F4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Validated welfare indicators</a:t>
            </a:r>
            <a:r>
              <a:rPr sz="1600" b="0" i="0">
                <a:solidFill>
                  <a:srgbClr val="000000"/>
                </a:solidFill>
                <a:latin typeface="Arial"/>
              </a:rPr>
              <a:t> Mouse facial classification gains biological meaning from baseline, injury, state and analgesic comparisons.</a:t>
            </a:r>
          </a:p>
        </p:txBody>
      </p:sp>
      <p:sp>
        <p:nvSpPr>
          <p:cNvPr id="5" name="Rectangle 4"/>
          <p:cNvSpPr/>
          <p:nvPr/>
        </p:nvSpPr>
        <p:spPr>
          <a:xfrm>
            <a:off x="6233007" y="1234440"/>
            <a:ext cx="5391759" cy="1478279"/>
          </a:xfrm>
          <a:prstGeom prst="rect">
            <a:avLst/>
          </a:prstGeom>
          <a:solidFill>
            <a:srgbClr val="F6F4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Pose and identity</a:t>
            </a:r>
            <a:r>
              <a:rPr sz="1600" b="0" i="0">
                <a:solidFill>
                  <a:srgbClr val="000000"/>
                </a:solidFill>
                <a:latin typeface="Arial"/>
              </a:rPr>
              <a:t> Landmark localization, grouping into bodies and identification across time are distinct computational problems.</a:t>
            </a:r>
          </a:p>
        </p:txBody>
      </p:sp>
      <p:sp>
        <p:nvSpPr>
          <p:cNvPr id="7" name="Rectangle 6"/>
          <p:cNvSpPr/>
          <p:nvPr/>
        </p:nvSpPr>
        <p:spPr>
          <a:xfrm>
            <a:off x="566928" y="2987040"/>
            <a:ext cx="5391759" cy="1478279"/>
          </a:xfrm>
          <a:prstGeom prst="rect">
            <a:avLst/>
          </a:prstGeom>
          <a:solidFill>
            <a:srgbClr val="F6F4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Measurement timing</a:t>
            </a:r>
            <a:r>
              <a:rPr sz="1600" b="0" i="0">
                <a:solidFill>
                  <a:srgbClr val="000000"/>
                </a:solidFill>
                <a:latin typeface="Arial"/>
              </a:rPr>
              <a:t> Inference benchmarks, hardware delay and behavioral response latency measure different parts of an intervention pipeline.</a:t>
            </a:r>
          </a:p>
        </p:txBody>
      </p:sp>
      <p:sp>
        <p:nvSpPr>
          <p:cNvPr id="9" name="Rectangle 8"/>
          <p:cNvSpPr/>
          <p:nvPr/>
        </p:nvSpPr>
        <p:spPr>
          <a:xfrm>
            <a:off x="6233007" y="2987040"/>
            <a:ext cx="5391759" cy="1478279"/>
          </a:xfrm>
          <a:prstGeom prst="rect">
            <a:avLst/>
          </a:prstGeom>
          <a:solidFill>
            <a:srgbClr val="F6F4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Participation and motivation</a:t>
            </a:r>
            <a:r>
              <a:rPr sz="1600" b="0" i="0">
                <a:solidFill>
                  <a:srgbClr val="000000"/>
                </a:solidFill>
                <a:latin typeface="Arial"/>
              </a:rPr>
              <a:t> Self-initiated task entry and reward-dependent trial numbers measure participation; essential-resource contingencies still constrain task design.</a:t>
            </a:r>
          </a:p>
        </p:txBody>
      </p:sp>
      <p:sp>
        <p:nvSpPr>
          <p:cNvPr id="11" name="Rectangle 10"/>
          <p:cNvSpPr/>
          <p:nvPr/>
        </p:nvSpPr>
        <p:spPr>
          <a:xfrm>
            <a:off x="566928" y="4739640"/>
            <a:ext cx="5391759" cy="1478279"/>
          </a:xfrm>
          <a:prstGeom prst="rect">
            <a:avLst/>
          </a:prstGeom>
          <a:solidFill>
            <a:srgbClr val="F6F4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Kinematic validation</a:t>
            </a:r>
            <a:r>
              <a:rPr sz="1600" b="0" i="0">
                <a:solidFill>
                  <a:srgbClr val="000000"/>
                </a:solidFill>
                <a:latin typeface="Arial"/>
              </a:rPr>
              <a:t> Zebrafish eye angles, tail rhythms and bout intervals distinguish coordinated capture-like behavior from any detected movement.</a:t>
            </a:r>
          </a:p>
        </p:txBody>
      </p:sp>
      <p:sp>
        <p:nvSpPr>
          <p:cNvPr id="13" name="Rectangle 12"/>
          <p:cNvSpPr/>
          <p:nvPr/>
        </p:nvSpPr>
        <p:spPr>
          <a:xfrm>
            <a:off x="6233007" y="4739640"/>
            <a:ext cx="5391759" cy="1478279"/>
          </a:xfrm>
          <a:prstGeom prst="rect">
            <a:avLst/>
          </a:prstGeom>
          <a:solidFill>
            <a:srgbClr val="F6F4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44A45"/>
                </a:solidFill>
                <a:latin typeface="Arial"/>
              </a:rPr>
              <a:t>Animal-specific perception</a:t>
            </a:r>
            <a:r>
              <a:rPr sz="1600" b="0" i="0">
                <a:solidFill>
                  <a:srgbClr val="000000"/>
                </a:solidFill>
                <a:latin typeface="Arial"/>
              </a:rPr>
              <a:t> Cuttlefish disparity and motion-defined targets test visual computations through the animal’s behavior and viewing geometry.</a:t>
            </a:r>
          </a:p>
        </p:txBody>
      </p:sp>
      <p:sp>
        <p:nvSpPr>
          <p:cNvPr id="15" name="Rectangle 14"/>
          <p:cNvSpPr/>
          <p:nvPr/>
        </p:nvSpPr>
        <p:spPr>
          <a:xfrm>
            <a:off x="566928" y="6382512"/>
            <a:ext cx="11057839" cy="9144"/>
          </a:xfrm>
          <a:prstGeom prst="rect">
            <a:avLst/>
          </a:prstGeom>
          <a:solidFill>
            <a:srgbClr val="DAD5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Tuttle et al. (2018); Lauer et al. (2022); Pereira et al. (2022); Erskine et al. (2019); Trivedi &amp; Bollmann (2013); Feord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Methods in Animal Research I: Welfare across species, Computer vision meets animal vision, tracking, virtual prey, and Designing games for animal minds, perception, agency, motivation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