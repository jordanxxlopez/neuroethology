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t/8Y9pu5DZbltxKWrkd4Vd+lD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Archerfish: predictive aiming and ballistic prey capture</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27. NEUR 411 · NEUROETHOLOGY · FALL 2026. Wednesday, October 28,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Reichenthal et al. (2018), Fig. 1(A). Archerfish directing a water jet toward an aerial insect.</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https://doi.org/10.3389/fncir.2018.00018</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Archerfish dislodge aerial prey with controlled water jets and initiate predictive starts toward a future water-entry point. The title photograph is Reichenthal et al. (2018),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Archerfish are aquatic predators that dislodge aerial prey with a directed water jet. In Toxotes jaculatrix, a successful shot releases an insect into a falling trajectory. Securing the food then requires reaching the water-entry point before another fish does; the shooter and nearby bystanders can both respond.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photographed fish belongs to the visual-physiology preparation of Reichenthal and colleagues. The interception measurements and jet measurements come from separate primary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separately recorded shots at controlled target heights of 20, 40 and 60 cm. These experiments measured jet control and prey interception directly; neither behavior alone identifies the neurons that compute a successful aim.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1(A). Archerfish directing a water jet toward an aerial insect.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ballistic trajectory is motion dominated by initial velocity and gravity after release. Rossel and colleagues attached wet flies, approximately 50 mg, beneath a disk positioned 20 or 40 cm above the water. Overhead video sampled prey and fish positions at 20-ms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errors are defined in the authors’ original preparation. The study did not record a neural representation of either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separates prediction from pursuit of the currently visible target. Trials with obstructed turns were excluded, and initial misalignment exceeded 10° so turn onset and completion could be identified. Temporal resolution limits the precision assigned to individual response latencies.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1(A–B). Published preparation and definitions of landing-point and current-position errors.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contains both measured landings and the authors’ theoretical curves. No values have been replotted or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ballistic approximation was checked against actual prey paths rather than imposed without measurement. Its success applies to the wet flies and release conditions tested. It does not establish that every natural insect, especially one actively flying or falling with substantial drag, follows the same trajectory.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2. Landing distance versus horizontal take-off velocity at 20 and 40 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broad orientation distributions are separate from the later, higher-resolution measurements of C-start kinematics.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behavioral flexibility rules out a fixed turn angle as an adequate explanation of interception. It does not reveal the particular coordinate transformation performed by the nervous system. The analysis considered unobstructed first responders, so it does not describe every maneuver made in a crowded group.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3(A–B). Initial orientations sampled during prey interception.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Rossel and colleagues measured where the fish’s final heading intersected the prey’s projected horizontal path. Errors relative to the future water-entry point were centered near zero at both tested heights, across the naturally occurring range of horizontal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original error graphs use the same prey trajectories and turn responses, making the alternative aiming hypotheses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prediction of the landing destination before impact. It is stronger than merely observing that fish eventually catch prey, because later swimming corrections cannot account for the initial heading. It does not specify whether prediction uses an explicit internal trajectory or a learned relation between sensory variables and destination.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5(A–B). Errors relative to the future landing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6(A–B). Errors relative to the prey position at turn completion.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To test dependence on continuing visual feedback, Rossel and colleagues tethered prey with a thin filament. The fly initially moved freely for slightly more than 100 ms, then stopped and reversed its direction when the filament became taut.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figure is the published free-flight latency distribution, not an invented reversal graph. The filament result is reported separately in the article 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an initially programmed turn and acceleration rather than continuous tracking during that phase. It does not imply that the entire hunt is permanently open loop. The paper reports the reversal experiment in text without a separate data panel; the accompanying original latency panel documents the timing of the normal turn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4(A–B). Turn onset and completion relative to prey landing.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Rossel and colleagues placed prey on a transparent horizontal glass screen at 20 or 40 cm height. Air from a blast pipe moved the object horizontally at speeds within the natural take-off range. The target therefore moved without descending toward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Preventing descent changes the spatial trajectory while retaining the initial horizontal motion cue. That intervention separates trajectory continuation from a landing-point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nevertheless turned toward the virtual landing point, the destination at which prey with that initial height and horizontal velocity would have entered the water if allowed to fall. Errors relative to this virtual point were centered near zero at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Straight extrapolation of the actual horizontal trajectory cannot supply a finite water-entry point in this preparation. The result instead supports a relation built from initial height, speed and direction. It establishes the behavioral input–output relation while leaving the neural implementation of that relation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7(A–B). Turns toward virtual landing points for targets moving horizontally.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C-start is a rapid maneuver in which the body first bends into a C-like shape and then straightens with an opposite tail movement. Wöhl and Schuster filmed predictive starts from above at 500 frames per second, resolving consecutive body positions every 2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silhouettes are the authors’ published high-speed sequence, including their stage colors and measured center-of-mass markers.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defined the first stage by bending toward the chosen destination and the second by straightening. In an original example, a fish rotated 43.6° within 22 ms and subsequently reached a take-off speed of 1.225 m/s. The center of mass and body axis were measured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Thus, displacement and rotation are coordinated within a recognizable two-stage motor pattern. The timing definitions matter: the end of bending does not necessarily mark completion of the turn, because large turns can continue during straightening. Body kinematics alone cannot prove which descending neurons initiate the maneuver.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3. Original 2-ms silhouettes of bending, straightening and take-off.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Wöhl and Schuster reconstructed angular and linear motion from high-speed video. Predictive starts reached angular speeds above 4500°/s and linear speeds as high as 2.1 m/s. Their measured peak linear acceleration reached 120 m/s².</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Angular speed measures change in body orientation per unit time; linear speed measures translation of the center of mass. The published profiles should not be treated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measured ranges across demanding interception responses, not a claim that every start achieves the maxima simultaneously. The estimates required smoothing position records before differentiating them. They establish unusually high motor performance, while leaving the neuronal commands and muscle recruitment pattern unmeasured.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5(A–B). Angular speed and acceleration during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6(A–B). Linear speed and acceleration for different required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Wöhl and Schuster elicited escape C-starts in the same fish and compared them with prey-directed predictive starts. Both behaviors contained rapid bending followed by straightening, and their ranges of stage durations and performance substantially overlapped.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compares actual predictive and experimentally elicited escape movements in the same preparation; circuit identity remains an inference from their similar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Predictive starts were not systematically slower despite requiring a heading appropriate for a future catch point. Escape starts also varied in turn angle and speed, so neither behavioral category could be described adequately as a single stereotyped body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shared kinematics support possible recruitment of overlapping fast-start circuitry. They do not directly demonstrate that the same identified neuron fires in both contexts. Establishing that causal link requires recordings during the behavior or a selective intervention, rather than resemblance between published body silhouettes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12(A–B). Original comparison of predictive and escape C-start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Predictive starts had to produce turns from 4° to 156° and take-off speeds from 0.4 to 2.1 m/s in Wöhl and Schuster’s recordings. Turn size was most closely associated with the maximum body bending reached at the end of the first stage.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relation compares required turn angle with the extent of bending. No graph has been generated from the reported angle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larger turns, further rotation could occur during straightening. Changes in stage durations, angular speed and displacement contributed additional variability. The motor pattern was therefore flexibly adjusted rather than selected from a small set of identical movements.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Maximum bending is a kinematic predictor, not itself a demonstrated neural command variable. Correlations among body measurements cannot determine the order in which the nervous system specifies them. The findings constrain circuit explanations: any adequate mechanism must allow rapid movement with continuously variable turning and speed.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9. Maximum bending predicts the required turn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Gerullis and Schuster trained Toxotes jaculatrix to shoot from a restricted channel at targets 20, 40 or 60 cm above the water. Small black spheres provided reproducible targets, and successful shots were rewarded with flies delivered in front of the shooter.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Target spheres were 5 mm in diameter. The restricted channel reduced variation in position and camera angle across the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Side-view recordings reached 5000 frames per second, allowing the investigators to follow the water from emergence to impact. The fish tolerated the illumination needed for these recordings and maintained a nearly fixed mouth-tip position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the target’s range from the fish’s shooting position. It also extends beyond the very short distances used in earlier jet measurements. The controlled target and constrained firing geometry improve measurement, but they do not reproduce every angle, target attachment or wind condition of a natural hunt.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1(D). Preimpact tips at 20, 40 and 60 cm; original 1-cm scale bar.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shots aimed at a target 60 cm high, the water had not finished assembling at the jet tip after 30 cm of travel. Near impact, the tip became concentrated. By contrast, a shot aimed at 20 cm was already focused at that closer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photographs are different phases of a shot to the same 60-cm target, with the article’s original scale bar preserved.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compared original high-speed images at equivalent travel positions and at the preimpact phase. Preimpact tips were similarly concentrated across the three target heights, whereas the intermediate shapes differed according to the intended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rejects a fixed-distance focusing account in which water always assembles near the mouth and the finished tip simply travels onward. It supports active adjustment of the focusing distance. Image comparisons establish the jet’s spatial organization, but they do not by themselves identify the muscular or neural control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1(A–B). A 60-cm shot midway through travel and just before impact.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comparison preserves a common travel distance. Missed short-range targets supplied the required uninterrupted jets for that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close targets, rare missed shots allowed observation beyond the intended impact point without collision with the target. This control matters because a jet that struck a target could break up as a consequence of the collision rather than its original hydrodynamic design.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differences support coordinated control of stability and focusing range. They do not show that smoothness alone determines impact force. Tip speed, water concentration and the duration of water release are separate measured properties, and their contributions must be evaluated rather than inferred from a single shaft image.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1(E). Shaft stability after a common 30-cm path.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Gerullis and Schuster measured the tip speed during the first 20 ms of jet formation. The tip accelerated even while the jet rose against gravity, because it remained connected to subsequently emitted water moving faster than the early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curves are the original published fits and data. The slides describe their parameters without calculating or drawing a new jet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Published fits yielded hypothetical limiting speeds of 5.8–6.8 m/s, total speed increments of 2.7–3.8 m/s, and time constants of 6.6–20.0 ms. The speed increment increased with target height, linking the early-to-late velocity difference to the intended shooting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limiting speed is a fitted parameter describing continued flow, not necessarily a speed directly reached by every observed shot. The data support adjustable velocity gradients and reject an ordinary rigid-projectile description of the jet. These measurements do not yet explain how the mouth changes its effective outlet during emission.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2(A–C). Tip acceleration during the first 20 ms at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2(D). Speed increment increases with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To test whether tip acceleration alone explains coherence, Gerullis and Schuster produced upward jets with a fixed disposable syringe. High-speed recordings captured both jets that remained coherent during release and jets that broke up before all the water had emerged.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Stable and broken syringe jets are original experimental controls in the paper. Their similar speed fits do not establish that the syringe duplicates every biological flow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living fish must coordinate properties beyond the acceleration profile if it maintains stable, focused impacts over different ranges. The syringe comparison supports that requirement but does not isolate a particular anatomical feature. The manually operated syringe also differs from the biological mouth in outlet geometry and pressure generation.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2(E–F). Stable and unstable syringe jets with similar tip-speed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Gerullis and Schuster collected water fired by the fish and compared it with control water. Shot viscosity was 0.867 mPa·s and control viscosity 0.869 mPa·s; surface tension was 70.37 versus 70.49 mN/m. No detectable change in these properties supported chemical tuning of the fluid.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Viscosity measures resistance to shear and surface tension measures the energetic cost of the water–air interface. The measured shot water retained the tested properties of ordinary control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narrow the candidate mechanisms without proving that every possible chemical or mechanical variable is absent. Their direct measurements motivate examination of the time-varying mouth opening rather than assuming that water composition or whole-body motion supplies the range adjustment.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3(A). Water-shot viscosity and surface tension compared with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3(C). Mouth-tip drift and body rotation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mouth opening changed continuously during a shot; it did not form a constant aperture that simply opened and shut. Gerullis and Schuster measured opening and closing at 20-, 40- and 60-cm target heights, aligning records to the onset of water emergence.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aperture is the opening through which water exits. The invariant maximum width separates timing adjustments from a simple increase in mouth-opening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pattern supports active control of a time-dependent outlet to coordinate jet formation and range. The mouth measurements constrain a mechanical mechanism but do not directly record its motor neurons or pressure profile. Correlated changes in aperture and focusing are evidence for control, not a complete causal reconstruction of the fluid dynamics.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4(C). Mouth-opening time courses for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4(A–B). Range-dependent onset-to-closure time and final closure after the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Temple and colleagues mapped cones and retinal ganglion cells in Toxotes chatareus using retinal preparations and anatomical counts. A ventral high-density region aligned with the up-forward visual direction used during spitting, rather than providing equal sampling across the entire visual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Cone photoreceptors sample incident light, whereas ganglion cells form the retina’s output population. The anatomical estimate depends on cell spacing and optical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cycle is one bright–dark repetition in a spatial pattern; more cycles per degree indicate finer anatomical sampling. These estimates connect retinal organization to the preferred shooting direction. They do not measure behavioral acuity directly or establish that a particular prey discrimination uses every available anatomical sampling unit.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Microspectrophotometry measures how absorption varies with wavelength in a selected receptor. The original curves remain unchanged, including their axes and relative sensitivity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photopigment is a light-absorbing receptor molecule that initiates a photoreceptor response. Regional sensitivity can shape which contrasts are available against an aerial background, but these spectra alone do not prove color perception or explain compensation for refraction. Spectral sensitivity and the spatial resolving power measured anatomically are distinct constraints on visual aiming.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2(A–C). Regional cone absorptance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multielectrode array records extracellular spikes from several retinal output cells simultaneously. It samples activity without recording the whole animal’s aiming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tests information available at retinal output before central processing. Velocities were expressed as those of an external object approximately 30 cm from the eye, not as literal movement speeds across the retinal surface. An isolated retina cannot establish which output features the intact brain actually reads during interception.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1(A–G). Recorded retinal ganglion-cell responses and grating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first-spike latency is the interval from a reference event to the first action potential in a response. Kretschmer and colleagues compared ganglion-cell latencies across the moving-grating velocities. The shortest median absolute latencies were about 22 ms at stimulus speeds around 5–6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action potential is a brief electrical spike used for neuronal signaling. The earliest available spike can transmit information before a long counting window is complete.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Absolute latency requires knowledge of stimulus onset, which the experimenter possesses but the brain must infer from its own signals. The decoding result identifies available information rather than proving an implemented biological decoder. It also does not equate grating responses with responses to every natural falling insect.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First-spike latency varies with stimulus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Kretschmer and colleagues compared absolute latency with first interspike interval, spike rate over 100 ms, and latency relative to population response onset. An interspike interval is the elapsed time between consecutive action potentials; a firing rate counts spikes per unit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decoding panels are the authors’ original analysis. Relative latencies reference the onset of the recorded population response, not the animal’s motor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population timing as a plausible fast signal. It does not rule out every rate code, stimulus condition or longer integration period. The tested 100-ms window is particularly relevant because predictive behavior can begin before an extended spike-count estimate becomes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Published decoding based on latency, interval, rate and relative latency.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Kretschmer and colleagues repeatedly decoded velocity while increasing the number of recorded ganglion cells included. Published reconstruction errors fell as the population grew, but the gain was steepest for the first few cells and became smaller with additional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error curves are published analyses of recorded spikes. Their flattening describes diminishing informational returns under this decoder, not an anatomical proof of redundant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analysis supports distributed retinal information and a limited benefit from progressively larger samples. It does not identify the actual downstream convergence pattern or the synapses that read these spikes. Recorded cells were added computationally; no central neuron was shown to perform the same decoding operation.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7(A–B). Decoding error as more ganglion cells are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0" name="Google Shape;360;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optic tectum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spike-triggered average is the average stimulus history before spikes, compared with the overall stimulus ensemble. Its positive and negative lobes describe contrast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Receptive fields ranged from nearly circular to elongated. About 68% of the sampled cells had a monophasic temporal profile, whereas the remaining group had two phases with opposite contrast signs. Mean estimated response latencies were 54.5 ms and 60 ms for these groups.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distinguish spatial sampling from the temporal contrast sequence associated with firing. A receptive field is the stimulus region and pattern that changes a neuron’s activity. The assay characterizes responses to controlled visual stimuli; it does not prove that an identified tectal cell computes the prey’s complete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2(A–H). Spatial and temporal receptive fields of tectal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5" name="Google Shape;37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temporal filter weights portions of the preceding light history. The published eigenvectors belong to an analytical response model, not a reconstructed anatomical circuit.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Those terms describe a model’s stimulus selectivity and do not identify excitatory transmitters, inhibitory receptors or anatomical synapses. The analysis adds information missed by an average alone, but its success remains constrained by the stimuli presented and the amount of recorded activity. It does not locate the circuit generating the inferred filters.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4(A–B). Published covariance analysis and significant stimulus filters.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Reichenthal and colleagues fitted models that combined the recovered temporal filters through nonlinear response functions. A nonlinearity means the response cannot be described simply by proportional addition of all filter outputs; the joint values can change how strongly the neuron fires.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displayed response surfaces and traces are the original published models and recordings. No surface, trace or model curve has been recreated.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phenomenological models: compact descriptions of measured input–output relationships. They do not establish the corresponding ion channels, synapses or behavioral function. The diverse combinations provide candidate transformations of visual timing before a motor decision, while leaving their causal contribution to predictive aiming untested.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7(A–D). Original two-filter nonlinear response models and neural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Karoubi and colleagues examined Toxotes chatareus brains with Nissl staining and immunohistochemistry. Nissl staining labels cell-rich tissue and helps distinguish nuclei and layers; immunohistochemistry uses antibodies to locate selected molecular markers within the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Serial anatomy supplies a coordinate framework for physiological studies. The atlas does not trace a complete retinal-to-Mauthner interception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also maps catecholaminergic and cholinergic markers, but anatomical labeling does not show that those cells control shooting or predictive starts. A cholinergic neuron uses acetylcholine; marker localization alone does not specify the postsynaptic receptor or the behavioral effect of transmitter release.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2(A–D). Lateral view and reconstruction of the archerfish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Mauthner cell is a large hindbrain neuron with a descending axon associated with fast-start behavior in fishes. Machnik and colleagues stimulated the spinal cord and searched the archerfish hindbrain for a characteristic short-latency, all-or-none extracellular field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All-or-none refers to the recruitment of a spike once threshold is reached. The focused extracellular signal also depends on the axon-cap geometry around the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connects an electrical signature to anatomy instead of relying only on cell size. It establishes an experimentally accessible Mauthner neuron in archerfish. Antidromic stimulation, traveling backward from axon toward cell body, does not show that the cell normally fires during a predictive prey-directed 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2(A–D). All-or-none field potential used to locate the Mauthner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Machnik and colleagues filled identified Mauthner neurons and compared archerfish with similarly sized goldfish processed by the same method. The soma is the neuronal cell body; dendrites receive and integrate inputs before signals reach the spike-initiation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and blue cell reconstructions are original published anatomical reconstructions. Their colors and dimensions have not been 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soma diameters ranged from 45 to 63 µm, compared with 47–66 µm in goldfish. Both had prominent lateral and ventral dendrites, an axon hillock, and smaller branches. The broad similarity persisted despite the archerfish’s specialized interception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matched preparation controls for major differences caused by animal size and staining method. It argues against a dramatically enlarged or uniquely shaped Mauthner neuron as a necessary explanation of the archerfish skill. Similar morphology does not imply identical connectivity, synaptic strengths or recruitment during natural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6" name="Google Shape;446;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staining identified cells, Machnik and colleagues followed the Mauthner axons across the hindbrain midline and into the opposite spinal cord. Unstained cross-sections independently contained two exceptionally large axons in the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stained and unstained sections provide complementary identification controls. Crossing means that an axon descends on the side opposite its hindbrain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 axon can support rapid conduction, making this anatomy compatible with a fast motor command. The comparison does not exclude smaller neurons contributing to turn selection or speed adjustment. Nor does it prove that a particular giant axon generates the predictive start; anatomical availability and behavioral recruitment are different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Machnik and colleagues obtained intracellular recordings from identified archerfish Mauthner cells. Mean resting voltage was −79.5 mV, antidromic spike onset latency was 0.265 ms, and the somatically recorded spike had a half-maximal duration of 0.54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transmembrane potential is the voltage inside the cell relative to the immediately adjacent extracellular space. The distant reference can include the local spike-associated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recordings remained stable for approximately 2–3 hours, permitting repeated sensory and inhibitory tests within one cell. An action potential is the regenerative electrical event that can propagate down the axon. The experiment measures excitability and conduction following imposed stimulation, rather than the timing of spontaneous commands during a free-swimming hunt.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1(B–C). Antidromic spike and correction for the extracellular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2(A–E). Intracellular recording stability and action-potential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Machnik and colleagues delivered brief acoustic bursts while recording the Mauthner cell. A postsynaptic potential, or PSP, is a membrane-voltage change associated with synaptic input. Under their stimulus conditions, detectable acoustic PSPs began after 7.4–15.1 ms in archerfish.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Depolarization is movement of membrane voltage toward less negative values. The original recordings compare acoustic responses in archerfish and goldfish under the same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earlier onset does not imply a stronger influence on firing: latency and amplitude measure different properties of input. The findings concern the selected acoustic burst, not the full hearing sensitivity of either species. They establish access to mechanosensory input without identifying every upstream receptor or intervening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4(A–B). Sound- and light-evoked postsynaptic potentials in the same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Machnik and colleagues presented 7-ms light flashes while recording the same identified Mauthner cells. Visual PSP amplitudes ranged from 5.3 to 28.2 mV, with a mean of 17.1 mV. Onset latencies ranged from 27.5 to 54.2 ms, averaging 39.4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flashes had an intensity of 100 cd/m² with maximum intensity at 569 nm. Species differences apply to this selected visual and acoustic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late portions of the visual PSPs varied more than their initial rise, consistent with additional network input. These flashes sometimes elicited spikes, but they did not reproduce the full prey-motion stimulus. Strong visual access supports a role in visuomotor processing while leaving recruitment during predictive starts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5(A–C). Visual and acoustic PSP amplitude and latency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Machnik and colleagues recorded at different positions along the Mauthner lateral dendrite and corrected the signals for the nearby extracellular field. Reconstructed spike amplitude decayed passively with length constants of 141–164 µm in the tested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Proximal and distal recordings were approximately 50 and 150 µm lateral to the axon hillock. Different gradients are interpreted using independently measured passive decay.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length constant describes the distance over which passive voltage spread is attenuated. The gradients constrain where inputs enter but do not anatomically trace each presynaptic axon. They also do not prove that the visual and acoustic pathways use identical receptors or that these entry sites encode the prey’s predicted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6(A–D). Passive dendritic decay and locations of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Recurrent inhibition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chloride-loaded electrode contained 3 mol/L KCl. A change in apparent potential polarity after chloride loading must not be mistaken for a change from inhibitory to excitatory network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Voltage-gated sodium-channel inactivation temporarily reduces the ability to generate another spike; chloride loading can change the polarity of a chloride-dependent synaptic potential. The comparable physiology supports functionally similar inhibitory networks. It does not directly identify every archerfish inhibitory transmitter or prove that the paired-spike experiment reproduces natural predictive-start selection.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7(A–D). Paired-spike tests and chloride-loaded recordings of recurrent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Feed-forward inhibition occurs when sensory input excites inhibitory pathways alongside the pathway to a target neuron. Machnik and colleagues elicited an antidromic spike at different times during a visual or acoustic PSP, using its reduction as a probe of sensory-driven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PSP and inhibition can overlap in time. Reduction of the probe spike is an operational measurement of that inhibition, not a direct recording from the interneurons supplying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method measures a functional inhibitory effect during synaptic input, but it does not trace the entire pathway or identify its transmitter receptors. Similar time courses can arise from different underlying circuits. The authors consequently treat a shared inhibitory network as a parsimonious explanation, while acknowledging that the observed equivalence is not an anatomical demonstration.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8(A–C). Sensory-driven inhibition measured during visual and acoustic 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Volotsky and colleagues trained Toxotes chatareus to shoot at an aerial target and introduced horizontal airflow above the water. The air deflected the jet while the fish remained in water, creating an aiming error without moving the visible target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setup includes a real video frame of the water jet. Airflow acted on the aerial water stream while the target location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adaptation is adjustment of a movement in response to systematic errors caused by changed conditions. The measured correction supports flexible calibration of the shooting action. It does not identify the learning circuit or establish that fish directly sensed airflow; the apparatus was designed to keep the blower outside their visual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2(A–B). Original airflow apparatus and photographed water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2" name="Google Shape;56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the airflow perturbation ended, Volotsky and colleagues observed errors in the opposite direction. These aftereffects declined over several subsequent shots. A compensation learned during the perturbation therefore initially persisted when the physical deflection was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Washout refers to trials after the perturbation is removed. The original error records preserve their units and condition colors, without replacing them with a simulated adaptation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altered motor commands anticipating a recurring perturbation. It does not establish a specific internal forward model or identify its neural location. The authors also could not make a definite claim about savings across sessions because the data were too noisy to resolve that additional learning effect.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3(C–F). Trial-by-trial error reduction and aftereffects in both airflow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egocentric reference frame expresses a relation relative to the animal’s body; an allocentric frame expresses it relative to the external environment. Volotsky and colleagues rotated the shooting access so a trained fish changed its body orientation while airflow direction remained fixed in the tank.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distinction concerns the transfer of learned correction. A fixed environmental wind becomes an opposite body-relative disturbance when the fish reverses its shooting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body-centered adaptation under conditions lacking direct cues to airflow direction. It does not show that every component of archerfish aiming is egocentric, nor that fish cannot learn external spatial relations. The result specifically constrains how an acquired shooting compensation transfers when the body–disturbance relation changes.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5(A–E). Body-direction reversal tests of the adaptation reference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8" name="Google Shape;58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task retains an objective predicted landing point while allowing the investigators to change the motion-to-reward relation independently of physical falling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 remained a rapid predictive start rather than being replaced by a slow approach. This establishes plasticity in the relation between early motion and chosen destination. It does not show where the learned rule is stored, and it does not prove that the animal represents the rule in a human verbal or mathematical form.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4(A–K). Original deflection training, transfer tests and latency–accuracy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Krause and colleagues tested whether learning only replaced familiar stimulus–response associations. Fish trained at one height were challenged at different heights where the old training-height response and the new rule predicted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Generalization means that a learned relation supports responses to inputs not previously trained. The tests were selected so alternative stored associations predicted different initial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Immediate transfer supports a more general representation than a lookup list restricted to trained cases. It does not uniquely identify the algorithm or its neural substrate. The interpretation depends on comparing competing predicted destinations in these controlled transfer trials, rather than equating any successful catch with abstract reasoning.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5(A–G). Transfer to untrained speed, angle, size and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4" name="Google Shape;61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object cue chooses a rule, while current motion and geometry still determine the required heading. The rule is not equivalent to one fixed body turn per shape.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is stronger evidence than learning one fixed turn toward each shape, because required turns also depended on prey speed, direction, height and fish position. Nevertheless, shape-dependent performance does not identify the cells that recognize the object or the synapses that switch the motor computation. Those circuit mechanisms remain to be determined.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6(A–J). Shape cues select between learned and ballistic interception rules.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7" name="Google Shape;62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Krause and colleagues tested whether a shape cue had to appear before prey motion to prepare the appropriate decision. A neutral cross remained stationary for 2 seconds, then changed into the relevant disk or triangle exactly when movement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Late cue means identity becomes available at motion onset, rather than before it. The paper compares that condition with an advance cue while holding the interception rules and initial motion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finding adds conditional flexibility to a response made in less than 100 ms under the tested conditions. It does not establish that rapid choice is unlimited or independent of training. Together with the transfer tests, it constrains simplistic accounts of a fixed reflex while leaving the underlying visual recognition and command-selection circuitry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7(A–E). Rule selection when an object changes appearance after motion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Prediction targets future impact. Early height and horizontal motion guide the initial turn toward a landing point, including a virtual landing point when descent is prevented.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starts remain flexible. Predictive C-starts bend and straighten rapidly while adjusting heading and take-off speed; similar escape kinematics do not alone prove a shared command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Jet control is active. Range-dependent velocity gradients, stability and mouth-opening timing focus water near impact; the tested shot chemistry and body drift do not explain the adjustment.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carries retinal information. First-spike population timing decodes motion velocity better than the tested rate or interval measures; biological use of the decoder remains unproven.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Neural anatomy and causation differ. Archerfish have identifiable Mauthner cells with strong visual access and inhibitory controls, but these studies do not directly establish their recruitment in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Learning changes rapid control. Shooting shows adaptive aftereffects; predictive starts can learn, generalize and select between context-dependent interception rules without abandoning rapid decisions.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7.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4.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2.png"/><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8.png"/><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0.png"/><Relationship Id="rId4"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8761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D9EAD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a:solidFill>
                  <a:srgbClr val="D9EAD3"/>
                </a:solidFill>
                <a:latin typeface="Arial"/>
                <a:ea typeface="Arial"/>
                <a:cs typeface="Arial"/>
                <a:sym typeface="Arial"/>
              </a:rPr>
              <a:t>NEUR 411 · NEUROETHOLOGY · FALL 2026</a:t>
            </a:r>
            <a:endParaRPr sz="1800">
              <a:solidFill>
                <a:srgbClr val="D9EAD3"/>
              </a:solidFill>
              <a:latin typeface="Calibri"/>
              <a:ea typeface="Calibri"/>
              <a:cs typeface="Calibri"/>
              <a:sym typeface="Calibri"/>
            </a:endParaRPr>
          </a:p>
        </p:txBody>
      </p:sp>
      <p:sp>
        <p:nvSpPr>
          <p:cNvPr id="21" name="Google Shape;21;p1"/>
          <p:cNvSpPr/>
          <p:nvPr/>
        </p:nvSpPr>
        <p:spPr>
          <a:xfrm>
            <a:off x="685800" y="1782961"/>
            <a:ext cx="4743450" cy="24675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800"/>
              <a:buFont typeface="Arial"/>
              <a:buNone/>
            </a:pPr>
            <a:r>
              <a:rPr b="0" i="0" lang="en-US" sz="1800">
                <a:solidFill>
                  <a:srgbClr val="D9EAD3"/>
                </a:solidFill>
                <a:latin typeface="Arial"/>
                <a:ea typeface="Arial"/>
                <a:cs typeface="Arial"/>
                <a:sym typeface="Arial"/>
              </a:rPr>
              <a:t>Lecture 27</a:t>
            </a:r>
            <a:endParaRPr sz="1800">
              <a:solidFill>
                <a:srgbClr val="D9EAD3"/>
              </a:solidFill>
              <a:latin typeface="Calibri"/>
              <a:ea typeface="Calibri"/>
              <a:cs typeface="Calibri"/>
              <a:sym typeface="Calibri"/>
            </a:endParaRPr>
          </a:p>
        </p:txBody>
      </p:sp>
      <p:sp>
        <p:nvSpPr>
          <p:cNvPr id="22" name="Google Shape;22;p1"/>
          <p:cNvSpPr/>
          <p:nvPr/>
        </p:nvSpPr>
        <p:spPr>
          <a:xfrm>
            <a:off x="685800" y="2331690"/>
            <a:ext cx="4743450" cy="6855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E50"/>
              </a:buClr>
              <a:buSzPts val="2500"/>
              <a:buFont typeface="Arial"/>
              <a:buNone/>
            </a:pPr>
            <a:r>
              <a:rPr b="1" i="0" lang="en-US" sz="2500">
                <a:solidFill>
                  <a:schemeClr val="dk1"/>
                </a:solidFill>
                <a:latin typeface="Arial"/>
                <a:ea typeface="Arial"/>
                <a:cs typeface="Arial"/>
                <a:sym typeface="Arial"/>
              </a:rPr>
              <a:t>Archerfish: predictive aiming and ballistic prey capture</a:t>
            </a:r>
            <a:endParaRPr sz="1800">
              <a:solidFill>
                <a:schemeClr val="dk1"/>
              </a:solidFill>
              <a:latin typeface="Calibri"/>
              <a:ea typeface="Calibri"/>
              <a:cs typeface="Calibri"/>
              <a:sym typeface="Calibri"/>
            </a:endParaRPr>
          </a:p>
        </p:txBody>
      </p:sp>
      <p:sp>
        <p:nvSpPr>
          <p:cNvPr id="23" name="Google Shape;23;p1"/>
          <p:cNvSpPr/>
          <p:nvPr/>
        </p:nvSpPr>
        <p:spPr>
          <a:xfrm>
            <a:off x="685800" y="4465588"/>
            <a:ext cx="4743450" cy="21937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600"/>
              <a:buFont typeface="Arial"/>
              <a:buNone/>
            </a:pPr>
            <a:r>
              <a:rPr b="0" i="0" lang="en-US" sz="1600">
                <a:solidFill>
                  <a:srgbClr val="D9EAD3"/>
                </a:solidFill>
                <a:latin typeface="Arial"/>
                <a:ea typeface="Arial"/>
                <a:cs typeface="Arial"/>
                <a:sym typeface="Arial"/>
              </a:rPr>
              <a:t>Wednesday, October 28, 2026</a:t>
            </a:r>
            <a:endParaRPr sz="1800">
              <a:solidFill>
                <a:srgbClr val="D9EAD3"/>
              </a:solidFill>
              <a:latin typeface="Calibri"/>
              <a:ea typeface="Calibri"/>
              <a:cs typeface="Calibri"/>
              <a:sym typeface="Calibri"/>
            </a:endParaRPr>
          </a:p>
        </p:txBody>
      </p:sp>
      <p:sp>
        <p:nvSpPr>
          <p:cNvPr id="24" name="Google Shape;24;p1"/>
          <p:cNvSpPr/>
          <p:nvPr/>
        </p:nvSpPr>
        <p:spPr>
          <a:xfrm>
            <a:off x="685800" y="5394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a:solidFill>
                  <a:srgbClr val="D9EAD3"/>
                </a:solidFill>
                <a:latin typeface="Arial"/>
                <a:ea typeface="Arial"/>
                <a:cs typeface="Arial"/>
                <a:sym typeface="Arial"/>
              </a:rPr>
              <a:t>Jordan Lopez, Ph.D.</a:t>
            </a:r>
            <a:endParaRPr sz="1800">
              <a:solidFill>
                <a:srgbClr val="D9EAD3"/>
              </a:solidFill>
              <a:latin typeface="Calibri"/>
              <a:ea typeface="Calibri"/>
              <a:cs typeface="Calibri"/>
              <a:sym typeface="Calibri"/>
            </a:endParaRPr>
          </a:p>
        </p:txBody>
      </p:sp>
      <p:sp>
        <p:nvSpPr>
          <p:cNvPr id="25" name="Google Shape;25;p1"/>
          <p:cNvSpPr/>
          <p:nvPr/>
        </p:nvSpPr>
        <p:spPr>
          <a:xfrm>
            <a:off x="685800" y="5584627"/>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a:solidFill>
                  <a:srgbClr val="D9EAD3"/>
                </a:solidFill>
                <a:latin typeface="Arial"/>
                <a:ea typeface="Arial"/>
                <a:cs typeface="Arial"/>
                <a:sym typeface="Arial"/>
              </a:rPr>
              <a:t>Professor of Neurobiology &amp; Biomedical Engineering</a:t>
            </a:r>
            <a:endParaRPr sz="1800">
              <a:solidFill>
                <a:srgbClr val="D9EAD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23937" y="822871"/>
            <a:ext cx="3240126"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667279"/>
                </a:solidFill>
                <a:latin typeface="Arial"/>
                <a:ea typeface="Arial"/>
                <a:cs typeface="Arial"/>
                <a:sym typeface="Arial"/>
              </a:rPr>
              <a:t>Reichenthal et al. (2018), Fig. 1(A). Archerfish directing a water jet toward an aerial insect.</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 water shot and a predictive start secure aerial prey</a:t>
            </a:r>
            <a:endParaRPr sz="1800">
              <a:solidFill>
                <a:srgbClr val="274E13"/>
              </a:solidFill>
              <a:latin typeface="Calibri"/>
              <a:ea typeface="Calibri"/>
              <a:cs typeface="Calibri"/>
              <a:sym typeface="Calibri"/>
            </a:endParaRPr>
          </a:p>
        </p:txBody>
      </p:sp>
      <p:sp>
        <p:nvSpPr>
          <p:cNvPr id="33" name="Google Shape;33;p2"/>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Archerfish are aquatic predators that dislodge aerial prey with a directed water jet. In </a:t>
            </a:r>
            <a:r>
              <a:rPr b="0" i="1" lang="en-US" sz="1600">
                <a:solidFill>
                  <a:srgbClr val="000000"/>
                </a:solidFill>
                <a:latin typeface="Arial"/>
                <a:ea typeface="Arial"/>
                <a:cs typeface="Arial"/>
                <a:sym typeface="Arial"/>
              </a:rPr>
              <a:t>Toxotes jaculatrix</a:t>
            </a:r>
            <a:r>
              <a:rPr b="0" i="0" lang="en-US" sz="1600">
                <a:solidFill>
                  <a:srgbClr val="000000"/>
                </a:solidFill>
                <a:latin typeface="Arial"/>
                <a:ea typeface="Arial"/>
                <a:cs typeface="Arial"/>
                <a:sym typeface="Arial"/>
              </a:rPr>
              <a:t>, a successful shot releases an insect into a falling trajectory. Securing the food then requires reaching the water-entry point before another fish does; the shooter and nearby bystanders can both respond.</a:t>
            </a:r>
            <a:endParaRPr sz="1800">
              <a:solidFill>
                <a:schemeClr val="dk1"/>
              </a:solidFill>
              <a:latin typeface="Calibri"/>
              <a:ea typeface="Calibri"/>
              <a:cs typeface="Calibri"/>
              <a:sym typeface="Calibri"/>
            </a:endParaRPr>
          </a:p>
        </p:txBody>
      </p:sp>
      <p:sp>
        <p:nvSpPr>
          <p:cNvPr id="34" name="Google Shape;34;p2"/>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endParaRPr sz="1800">
              <a:solidFill>
                <a:schemeClr val="dk1"/>
              </a:solidFill>
              <a:latin typeface="Calibri"/>
              <a:ea typeface="Calibri"/>
              <a:cs typeface="Calibri"/>
              <a:sym typeface="Calibri"/>
            </a:endParaRPr>
          </a:p>
        </p:txBody>
      </p:sp>
      <p:sp>
        <p:nvSpPr>
          <p:cNvPr id="35" name="Google Shape;35;p2"/>
          <p:cNvSpPr/>
          <p:nvPr/>
        </p:nvSpPr>
        <p:spPr>
          <a:xfrm>
            <a:off x="566886" y="4110633"/>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Gerullis and Schuster separately recorded shots at controlled target heights of 20, 40 and 60 cm. These experiments measured jet control and prey interception directly; neither behavior alone identifies the neurons that compute a successful aim.</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Reichenthal et al. (2018), Fig. 1(A). Archerfish directing a water jet toward an aerial insect.</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 Gerullis &amp; Schuster (2014)</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Controlled prey release separates two possible aims</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 </a:t>
            </a:r>
            <a:r>
              <a:rPr b="1" i="0" lang="en-US" sz="1600">
                <a:solidFill>
                  <a:srgbClr val="252D35"/>
                </a:solidFill>
                <a:latin typeface="Arial"/>
                <a:ea typeface="Arial"/>
                <a:cs typeface="Arial"/>
                <a:sym typeface="Arial"/>
              </a:rPr>
              <a:t>ballistic trajectory</a:t>
            </a:r>
            <a:r>
              <a:rPr b="0" i="0" lang="en-US" sz="1600">
                <a:solidFill>
                  <a:srgbClr val="000000"/>
                </a:solidFill>
                <a:latin typeface="Arial"/>
                <a:ea typeface="Arial"/>
                <a:cs typeface="Arial"/>
                <a:sym typeface="Arial"/>
              </a:rPr>
              <a:t> is motion dominated by initial velocity and gravity after release. Rossel and colleagues attached wet flies, approximately 50 mg, beneath a disk positioned 20 or 40 cm above the water. Overhead video sampled prey and fish positions at 20-ms intervals.</a:t>
            </a:r>
            <a:endParaRPr sz="1800">
              <a:solidFill>
                <a:schemeClr val="dk1"/>
              </a:solidFill>
              <a:latin typeface="Calibri"/>
              <a:ea typeface="Calibri"/>
              <a:cs typeface="Calibri"/>
              <a:sym typeface="Calibri"/>
            </a:endParaRPr>
          </a:p>
        </p:txBody>
      </p:sp>
      <p:sp>
        <p:nvSpPr>
          <p:cNvPr id="47" name="Google Shape;47;p3"/>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endParaRPr sz="1800">
              <a:solidFill>
                <a:schemeClr val="dk1"/>
              </a:solidFill>
              <a:latin typeface="Calibri"/>
              <a:ea typeface="Calibri"/>
              <a:cs typeface="Calibri"/>
              <a:sym typeface="Calibri"/>
            </a:endParaRPr>
          </a:p>
        </p:txBody>
      </p:sp>
      <p:sp>
        <p:nvSpPr>
          <p:cNvPr id="48" name="Google Shape;48;p3"/>
          <p:cNvSpPr/>
          <p:nvPr/>
        </p:nvSpPr>
        <p:spPr>
          <a:xfrm>
            <a:off x="566886" y="389126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This comparison separates prediction from pursuit of the currently visible target. Trials with obstructed turns were excluded, and initial misalignment exceeded 10° so turn onset and completion could be identified. Temporal resolution limits the precision assigned to individual response latencies.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80153" y="1280071"/>
            <a:ext cx="3631675" cy="4297561"/>
          </a:xfrm>
          <a:prstGeom prst="rect">
            <a:avLst/>
          </a:prstGeom>
          <a:noFill/>
          <a:ln>
            <a:noFill/>
          </a:ln>
        </p:spPr>
      </p:pic>
      <p:sp>
        <p:nvSpPr>
          <p:cNvPr id="50" name="Google Shape;50;p3"/>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1(A–B). Published preparation and definitions of landing-point and current-position errors.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Initial height and velocity constrain the landing point</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endParaRPr sz="1800">
              <a:solidFill>
                <a:schemeClr val="dk1"/>
              </a:solidFill>
              <a:latin typeface="Calibri"/>
              <a:ea typeface="Calibri"/>
              <a:cs typeface="Calibri"/>
              <a:sym typeface="Calibri"/>
            </a:endParaRPr>
          </a:p>
        </p:txBody>
      </p:sp>
      <p:sp>
        <p:nvSpPr>
          <p:cNvPr id="60" name="Google Shape;60;p4"/>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endParaRPr sz="1800">
              <a:solidFill>
                <a:schemeClr val="dk1"/>
              </a:solidFill>
              <a:latin typeface="Calibri"/>
              <a:ea typeface="Calibri"/>
              <a:cs typeface="Calibri"/>
              <a:sym typeface="Calibri"/>
            </a:endParaRPr>
          </a:p>
        </p:txBody>
      </p:sp>
      <p:sp>
        <p:nvSpPr>
          <p:cNvPr id="61" name="Google Shape;61;p4"/>
          <p:cNvSpPr/>
          <p:nvPr/>
        </p:nvSpPr>
        <p:spPr>
          <a:xfrm>
            <a:off x="566886" y="393114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ballistic approximation was checked against actual prey paths rather than imposed without measurement. Its success applies to the wet flies and release conditions tested. It does not establish that every natural insect, especially one actively flying or falling with substantial drag, follows the same trajectory.</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367097" y="1280071"/>
            <a:ext cx="5257638" cy="2661493"/>
          </a:xfrm>
          <a:prstGeom prst="rect">
            <a:avLst/>
          </a:prstGeom>
          <a:noFill/>
          <a:ln>
            <a:noFill/>
          </a:ln>
        </p:spPr>
      </p:pic>
      <p:sp>
        <p:nvSpPr>
          <p:cNvPr id="63" name="Google Shape;63;p4"/>
          <p:cNvSpPr/>
          <p:nvPr/>
        </p:nvSpPr>
        <p:spPr>
          <a:xfrm>
            <a:off x="6367016" y="40330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2. Landing distance versus horizontal take-off velocity at 20 and 40 cm.</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Interception works across widely different initial headings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endParaRPr sz="1800">
              <a:solidFill>
                <a:schemeClr val="dk1"/>
              </a:solidFill>
              <a:latin typeface="Calibri"/>
              <a:ea typeface="Calibri"/>
              <a:cs typeface="Calibri"/>
              <a:sym typeface="Calibri"/>
            </a:endParaRPr>
          </a:p>
        </p:txBody>
      </p:sp>
      <p:sp>
        <p:nvSpPr>
          <p:cNvPr id="73" name="Google Shape;73;p5"/>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endParaRPr sz="1800">
              <a:solidFill>
                <a:schemeClr val="dk1"/>
              </a:solidFill>
              <a:latin typeface="Calibri"/>
              <a:ea typeface="Calibri"/>
              <a:cs typeface="Calibri"/>
              <a:sym typeface="Calibri"/>
            </a:endParaRPr>
          </a:p>
        </p:txBody>
      </p:sp>
      <p:sp>
        <p:nvSpPr>
          <p:cNvPr id="74" name="Google Shape;74;p5"/>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behavioral flexibility rules out a fixed turn angle as an adequate explanation of interception. It does not reveal the particular coordinate transformation performed by the nervous system. The analysis considered unobstructed first responders, so it does not describe every maneuver made in a crowded group.</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3(A–B). Initial orientations sampled during prey interception.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Turns target future impact rather than current prey position</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Rossel and colleagues measured where the fish’s final heading intersected the prey’s projected horizontal path. Errors relative to the future water-entry point were centered near zero at both tested heights, across the naturally occurring range of horizontal take-off speeds.</a:t>
            </a:r>
            <a:endParaRPr sz="1800">
              <a:solidFill>
                <a:schemeClr val="dk1"/>
              </a:solidFill>
              <a:latin typeface="Calibri"/>
              <a:ea typeface="Calibri"/>
              <a:cs typeface="Calibri"/>
              <a:sym typeface="Calibri"/>
            </a:endParaRPr>
          </a:p>
        </p:txBody>
      </p:sp>
      <p:sp>
        <p:nvSpPr>
          <p:cNvPr id="86" name="Google Shape;86;p6"/>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endParaRPr sz="1800">
              <a:solidFill>
                <a:schemeClr val="dk1"/>
              </a:solidFill>
              <a:latin typeface="Calibri"/>
              <a:ea typeface="Calibri"/>
              <a:cs typeface="Calibri"/>
              <a:sym typeface="Calibri"/>
            </a:endParaRPr>
          </a:p>
        </p:txBody>
      </p:sp>
      <p:sp>
        <p:nvSpPr>
          <p:cNvPr id="87" name="Google Shape;87;p6"/>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result supports prediction of the landing destination before impact. It is stronger than merely observing that fish eventually catch prey, because later swimming corrections cannot account for the initial heading. It does not specify whether prediction uses an explicit internal trajectory or a learned relation between sensory variables and destination.</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900446" y="1280071"/>
            <a:ext cx="2191088" cy="2468761"/>
          </a:xfrm>
          <a:prstGeom prst="rect">
            <a:avLst/>
          </a:prstGeom>
          <a:noFill/>
          <a:ln>
            <a:noFill/>
          </a:ln>
        </p:spPr>
      </p:pic>
      <p:sp>
        <p:nvSpPr>
          <p:cNvPr id="89" name="Google Shape;89;p6"/>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5(A–B). Errors relative to the future landing point.</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4">
            <a:alphaModFix/>
          </a:blip>
          <a:srcRect b="0" l="0" r="0" t="0"/>
          <a:stretch/>
        </p:blipFill>
        <p:spPr>
          <a:xfrm>
            <a:off x="8347472" y="4297588"/>
            <a:ext cx="1296888" cy="1462926"/>
          </a:xfrm>
          <a:prstGeom prst="rect">
            <a:avLst/>
          </a:prstGeom>
          <a:noFill/>
          <a:ln>
            <a:noFill/>
          </a:ln>
        </p:spPr>
      </p:pic>
      <p:sp>
        <p:nvSpPr>
          <p:cNvPr id="91" name="Google Shape;91;p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6(A–B). Errors relative to the prey position at turn completion.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Reversing prey motion exposes an initial motor commitment</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To test dependence on continuing visual feedback, Rossel and colleagues tethered prey with a thin filament. The fly initially moved freely for slightly more than 100 ms, then stopped and reversed its direction when the filament became taut.</a:t>
            </a:r>
            <a:endParaRPr sz="1800">
              <a:solidFill>
                <a:schemeClr val="dk1"/>
              </a:solidFill>
              <a:latin typeface="Calibri"/>
              <a:ea typeface="Calibri"/>
              <a:cs typeface="Calibri"/>
              <a:sym typeface="Calibri"/>
            </a:endParaRPr>
          </a:p>
        </p:txBody>
      </p:sp>
      <p:sp>
        <p:nvSpPr>
          <p:cNvPr id="101" name="Google Shape;101;p7"/>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endParaRPr sz="1800">
              <a:solidFill>
                <a:schemeClr val="dk1"/>
              </a:solidFill>
              <a:latin typeface="Calibri"/>
              <a:ea typeface="Calibri"/>
              <a:cs typeface="Calibri"/>
              <a:sym typeface="Calibri"/>
            </a:endParaRPr>
          </a:p>
        </p:txBody>
      </p:sp>
      <p:sp>
        <p:nvSpPr>
          <p:cNvPr id="102" name="Google Shape;102;p7"/>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This manipulation supports an initially programmed turn and acceleration rather than continuous tracking during that phase. It does not imply that the entire hunt is permanently open loop. The paper reports the reversal experiment in text without a separate data panel; the accompanying original latency panel documents the timing of the normal turn preparation.</a:t>
            </a:r>
            <a:endParaRPr sz="18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4(A–B). Turn onset and completion relative to prey landing.</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Horizontal motion evokes a virtual landing prediction</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Rossel and colleagues placed prey on a transparent horizontal glass screen at 20 or 40 cm height. Air from a blast pipe moved the object horizontally at speeds within the natural take-off range. The target therefore moved without descending toward the water.</a:t>
            </a:r>
            <a:endParaRPr sz="1800">
              <a:solidFill>
                <a:schemeClr val="dk1"/>
              </a:solidFill>
              <a:latin typeface="Calibri"/>
              <a:ea typeface="Calibri"/>
              <a:cs typeface="Calibri"/>
              <a:sym typeface="Calibri"/>
            </a:endParaRPr>
          </a:p>
        </p:txBody>
      </p:sp>
      <p:sp>
        <p:nvSpPr>
          <p:cNvPr id="114" name="Google Shape;114;p8"/>
          <p:cNvSpPr/>
          <p:nvPr/>
        </p:nvSpPr>
        <p:spPr>
          <a:xfrm>
            <a:off x="566886" y="2453134"/>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Fish nevertheless turned toward the </a:t>
            </a:r>
            <a:r>
              <a:rPr b="1" i="0" lang="en-US" sz="1600">
                <a:solidFill>
                  <a:srgbClr val="252D35"/>
                </a:solidFill>
                <a:latin typeface="Arial"/>
                <a:ea typeface="Arial"/>
                <a:cs typeface="Arial"/>
                <a:sym typeface="Arial"/>
              </a:rPr>
              <a:t>virtual landing point</a:t>
            </a:r>
            <a:r>
              <a:rPr b="0" i="0" lang="en-US" sz="1600">
                <a:solidFill>
                  <a:srgbClr val="000000"/>
                </a:solidFill>
                <a:latin typeface="Arial"/>
                <a:ea typeface="Arial"/>
                <a:cs typeface="Arial"/>
                <a:sym typeface="Arial"/>
              </a:rPr>
              <a:t>, the destination at which prey with that initial height and horizontal velocity would have entered the water if allowed to fall. Errors relative to this virtual point were centered near zero at both heights.</a:t>
            </a:r>
            <a:endParaRPr sz="1800">
              <a:solidFill>
                <a:schemeClr val="dk1"/>
              </a:solidFill>
              <a:latin typeface="Calibri"/>
              <a:ea typeface="Calibri"/>
              <a:cs typeface="Calibri"/>
              <a:sym typeface="Calibri"/>
            </a:endParaRPr>
          </a:p>
        </p:txBody>
      </p:sp>
      <p:sp>
        <p:nvSpPr>
          <p:cNvPr id="115" name="Google Shape;115;p8"/>
          <p:cNvSpPr/>
          <p:nvPr/>
        </p:nvSpPr>
        <p:spPr>
          <a:xfrm>
            <a:off x="566886" y="3671888"/>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Straight extrapolation of the actual horizontal trajectory cannot supply a finite water-entry point in this preparation. The result instead supports a relation built from initial height, speed and direction. It establishes the behavioral input–output relation while leaving the neural implementation of that relation unresolved.</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Rossel et al. (2002), Fig. 7(A–B). Turns toward virtual landing points for targets moving horizontally.</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a:t>
            </a:r>
            <a:endParaRPr sz="1800">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Predictive starts bend and then straighten the body</a:t>
            </a:r>
            <a:endParaRPr sz="1800">
              <a:solidFill>
                <a:schemeClr val="dk1"/>
              </a:solidFill>
              <a:latin typeface="Calibri"/>
              <a:ea typeface="Calibri"/>
              <a:cs typeface="Calibri"/>
              <a:sym typeface="Calibri"/>
            </a:endParaRPr>
          </a:p>
        </p:txBody>
      </p:sp>
      <p:sp>
        <p:nvSpPr>
          <p:cNvPr id="126" name="Google Shape;126;p9"/>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 </a:t>
            </a:r>
            <a:r>
              <a:rPr b="1" i="0" lang="en-US" sz="1600">
                <a:solidFill>
                  <a:srgbClr val="252D35"/>
                </a:solidFill>
                <a:latin typeface="Arial"/>
                <a:ea typeface="Arial"/>
                <a:cs typeface="Arial"/>
                <a:sym typeface="Arial"/>
              </a:rPr>
              <a:t>C-start</a:t>
            </a:r>
            <a:r>
              <a:rPr b="0" i="0" lang="en-US" sz="1600">
                <a:solidFill>
                  <a:srgbClr val="000000"/>
                </a:solidFill>
                <a:latin typeface="Arial"/>
                <a:ea typeface="Arial"/>
                <a:cs typeface="Arial"/>
                <a:sym typeface="Arial"/>
              </a:rPr>
              <a:t> is a rapid maneuver in which the body first bends into a C-like shape and then straightens with an opposite tail movement. Wöhl and Schuster filmed predictive starts from above at 500 frames per second, resolving consecutive body positions every 2 ms.</a:t>
            </a:r>
            <a:endParaRPr sz="1800">
              <a:solidFill>
                <a:schemeClr val="dk1"/>
              </a:solidFill>
              <a:latin typeface="Calibri"/>
              <a:ea typeface="Calibri"/>
              <a:cs typeface="Calibri"/>
              <a:sym typeface="Calibri"/>
            </a:endParaRPr>
          </a:p>
        </p:txBody>
      </p:sp>
      <p:sp>
        <p:nvSpPr>
          <p:cNvPr id="127" name="Google Shape;127;p9"/>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They defined the first stage by bending toward the chosen destination and the second by straightening. In an original example, a fish rotated 43.6° within 22 ms and subsequently reached a take-off speed of 1.225 m/s. The center of mass and body axis were measured independently.</a:t>
            </a:r>
            <a:endParaRPr sz="1800">
              <a:solidFill>
                <a:schemeClr val="dk1"/>
              </a:solidFill>
              <a:latin typeface="Calibri"/>
              <a:ea typeface="Calibri"/>
              <a:cs typeface="Calibri"/>
              <a:sym typeface="Calibri"/>
            </a:endParaRPr>
          </a:p>
        </p:txBody>
      </p:sp>
      <p:sp>
        <p:nvSpPr>
          <p:cNvPr id="128" name="Google Shape;128;p9"/>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Thus, displacement and rotation are coordinated within a recognizable two-stage motor pattern. The timing definitions matter: the end of bending does not necessarily mark completion of the turn, because large turns can continue during straightening. Body kinematics alone cannot prove which descending neurons initiate the maneuver.</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367099" y="1280071"/>
            <a:ext cx="5257634" cy="3081635"/>
          </a:xfrm>
          <a:prstGeom prst="rect">
            <a:avLst/>
          </a:prstGeom>
          <a:noFill/>
          <a:ln>
            <a:noFill/>
          </a:ln>
        </p:spPr>
      </p:pic>
      <p:sp>
        <p:nvSpPr>
          <p:cNvPr id="130" name="Google Shape;130;p9"/>
          <p:cNvSpPr/>
          <p:nvPr/>
        </p:nvSpPr>
        <p:spPr>
          <a:xfrm>
            <a:off x="6367016" y="445323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Wöhl &amp; Schuster (2007), Fig. 3. Original 2-ms silhouettes of bending, straightening and take-off.</a:t>
            </a:r>
            <a:endParaRPr sz="1800">
              <a:solidFill>
                <a:schemeClr val="dk1"/>
              </a:solidFill>
              <a:latin typeface="Calibri"/>
              <a:ea typeface="Calibri"/>
              <a:cs typeface="Calibri"/>
              <a:sym typeface="Calibri"/>
            </a:endParaRPr>
          </a:p>
        </p:txBody>
      </p:sp>
      <p:sp>
        <p:nvSpPr>
          <p:cNvPr id="131" name="Google Shape;131;p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2" name="Google Shape;132;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Wöhl &amp; Schuster (2007)</a:t>
            </a:r>
            <a:endParaRPr sz="1800">
              <a:solidFill>
                <a:schemeClr val="dk1"/>
              </a:solidFill>
              <a:latin typeface="Calibri"/>
              <a:ea typeface="Calibri"/>
              <a:cs typeface="Calibri"/>
              <a:sym typeface="Calibri"/>
            </a:endParaRPr>
          </a:p>
        </p:txBody>
      </p:sp>
      <p:sp>
        <p:nvSpPr>
          <p:cNvPr id="133" name="Google Shape;133;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Fast starts combine rapid rotation with strong acceleration</a:t>
            </a:r>
            <a:endParaRPr sz="1800">
              <a:solidFill>
                <a:schemeClr val="dk1"/>
              </a:solidFill>
              <a:latin typeface="Calibri"/>
              <a:ea typeface="Calibri"/>
              <a:cs typeface="Calibri"/>
              <a:sym typeface="Calibri"/>
            </a:endParaRPr>
          </a:p>
        </p:txBody>
      </p:sp>
      <p:sp>
        <p:nvSpPr>
          <p:cNvPr id="139" name="Google Shape;139;p10"/>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Wöhl and Schuster reconstructed angular and linear motion from high-speed video. Predictive starts reached angular speeds above 4500°/s and linear speeds as high as 2.1 m/s. Their measured peak linear acceleration reached 120 m/s².</a:t>
            </a:r>
            <a:endParaRPr sz="1800">
              <a:solidFill>
                <a:schemeClr val="dk1"/>
              </a:solidFill>
              <a:latin typeface="Calibri"/>
              <a:ea typeface="Calibri"/>
              <a:cs typeface="Calibri"/>
              <a:sym typeface="Calibri"/>
            </a:endParaRPr>
          </a:p>
        </p:txBody>
      </p:sp>
      <p:sp>
        <p:nvSpPr>
          <p:cNvPr id="140" name="Google Shape;140;p10"/>
          <p:cNvSpPr/>
          <p:nvPr/>
        </p:nvSpPr>
        <p:spPr>
          <a:xfrm>
            <a:off x="566886" y="2453134"/>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endParaRPr sz="1800">
              <a:solidFill>
                <a:schemeClr val="dk1"/>
              </a:solidFill>
              <a:latin typeface="Calibri"/>
              <a:ea typeface="Calibri"/>
              <a:cs typeface="Calibri"/>
              <a:sym typeface="Calibri"/>
            </a:endParaRPr>
          </a:p>
        </p:txBody>
      </p:sp>
      <p:sp>
        <p:nvSpPr>
          <p:cNvPr id="141" name="Google Shape;141;p10"/>
          <p:cNvSpPr/>
          <p:nvPr/>
        </p:nvSpPr>
        <p:spPr>
          <a:xfrm>
            <a:off x="566886" y="4110633"/>
            <a:ext cx="5453360" cy="175498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These are measured ranges across demanding interception responses, not a claim that every start achieves the maxima simultaneously. The estimates required smoothing position records before differentiating them. They establish unusually high motor performance, while leaving the neuronal commands and muscle recruitment pattern unmeasured.</a:t>
            </a:r>
            <a:endParaRPr sz="1800">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3">
            <a:alphaModFix/>
          </a:blip>
          <a:srcRect b="0" l="0" r="0" t="0"/>
          <a:stretch/>
        </p:blipFill>
        <p:spPr>
          <a:xfrm>
            <a:off x="8284518" y="1280072"/>
            <a:ext cx="1422797" cy="2468758"/>
          </a:xfrm>
          <a:prstGeom prst="rect">
            <a:avLst/>
          </a:prstGeom>
          <a:noFill/>
          <a:ln>
            <a:noFill/>
          </a:ln>
        </p:spPr>
      </p:pic>
      <p:sp>
        <p:nvSpPr>
          <p:cNvPr id="143" name="Google Shape;143;p1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Wöhl &amp; Schuster (2007), Fig. 5(A–B). Angular speed and acceleration during predictive starts.</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4">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Wöhl &amp; Schuster (2007), Fig. 6(A–B). Linear speed and acceleration for different required take-off speeds.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Wöhl &amp; Schuster (2007)</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Predictive and escape starts share a fast motor pattern</a:t>
            </a:r>
            <a:endParaRPr sz="1800">
              <a:solidFill>
                <a:schemeClr val="dk1"/>
              </a:solidFill>
              <a:latin typeface="Calibri"/>
              <a:ea typeface="Calibri"/>
              <a:cs typeface="Calibri"/>
              <a:sym typeface="Calibri"/>
            </a:endParaRPr>
          </a:p>
        </p:txBody>
      </p:sp>
      <p:sp>
        <p:nvSpPr>
          <p:cNvPr id="154" name="Google Shape;154;p11"/>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Wöhl and Schuster elicited escape C-starts in the same fish and compared them with prey-directed predictive starts. Both behaviors contained rapid bending followed by straightening, and their ranges of stage durations and performance substantially overlapped.</a:t>
            </a:r>
            <a:endParaRPr sz="1800">
              <a:solidFill>
                <a:schemeClr val="dk1"/>
              </a:solidFill>
              <a:latin typeface="Calibri"/>
              <a:ea typeface="Calibri"/>
              <a:cs typeface="Calibri"/>
              <a:sym typeface="Calibri"/>
            </a:endParaRPr>
          </a:p>
        </p:txBody>
      </p:sp>
      <p:sp>
        <p:nvSpPr>
          <p:cNvPr id="155" name="Google Shape;155;p11"/>
          <p:cNvSpPr/>
          <p:nvPr/>
        </p:nvSpPr>
        <p:spPr>
          <a:xfrm>
            <a:off x="566886" y="2453134"/>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Predictive starts were not systematically slower despite requiring a heading appropriate for a future catch point. Escape starts also varied in turn angle and speed, so neither behavioral category could be described adequately as a single stereotyped body movement.</a:t>
            </a:r>
            <a:endParaRPr sz="1800">
              <a:solidFill>
                <a:schemeClr val="dk1"/>
              </a:solidFill>
              <a:latin typeface="Calibri"/>
              <a:ea typeface="Calibri"/>
              <a:cs typeface="Calibri"/>
              <a:sym typeface="Calibri"/>
            </a:endParaRPr>
          </a:p>
        </p:txBody>
      </p:sp>
      <p:sp>
        <p:nvSpPr>
          <p:cNvPr id="156" name="Google Shape;156;p11"/>
          <p:cNvSpPr/>
          <p:nvPr/>
        </p:nvSpPr>
        <p:spPr>
          <a:xfrm>
            <a:off x="566886" y="3671888"/>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shared kinematics support possible recruitment of overlapping fast-start circuitry. They do not directly demonstrate that the same identified neuron fires in both contexts. Establishing that causal link requires recordings during the behavior or a selective intervention, rather than resemblance between published body silhouettes alone.</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6367131" y="1280071"/>
            <a:ext cx="5257569" cy="824657"/>
          </a:xfrm>
          <a:prstGeom prst="rect">
            <a:avLst/>
          </a:prstGeom>
          <a:noFill/>
          <a:ln>
            <a:noFill/>
          </a:ln>
        </p:spPr>
      </p:pic>
      <p:sp>
        <p:nvSpPr>
          <p:cNvPr id="158" name="Google Shape;158;p11"/>
          <p:cNvSpPr/>
          <p:nvPr/>
        </p:nvSpPr>
        <p:spPr>
          <a:xfrm>
            <a:off x="6367016" y="219625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Wöhl &amp; Schuster (2007), Fig. 12(A–B). Original comparison of predictive and escape C-start sequences.</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Wöhl &amp; Schuster (2007)</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The amount of body bending helps set the turn angle</a:t>
            </a:r>
            <a:endParaRPr sz="1800">
              <a:solidFill>
                <a:schemeClr val="dk1"/>
              </a:solidFill>
              <a:latin typeface="Calibri"/>
              <a:ea typeface="Calibri"/>
              <a:cs typeface="Calibri"/>
              <a:sym typeface="Calibri"/>
            </a:endParaRPr>
          </a:p>
        </p:txBody>
      </p:sp>
      <p:sp>
        <p:nvSpPr>
          <p:cNvPr id="167" name="Google Shape;167;p12"/>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Predictive starts had to produce turns from 4° to 156° and take-off speeds from 0.4 to 2.1 m/s in Wöhl and Schuster’s recordings. Turn size was most closely associated with the maximum body bending reached at the end of the first stage.</a:t>
            </a:r>
            <a:endParaRPr sz="1800">
              <a:solidFill>
                <a:schemeClr val="dk1"/>
              </a:solidFill>
              <a:latin typeface="Calibri"/>
              <a:ea typeface="Calibri"/>
              <a:cs typeface="Calibri"/>
              <a:sym typeface="Calibri"/>
            </a:endParaRPr>
          </a:p>
        </p:txBody>
      </p:sp>
      <p:sp>
        <p:nvSpPr>
          <p:cNvPr id="168" name="Google Shape;168;p12"/>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For larger turns, further rotation could occur during straightening. Changes in stage durations, angular speed and displacement contributed additional variability. The motor pattern was therefore flexibly adjusted rather than selected from a small set of identical movements.</a:t>
            </a:r>
            <a:endParaRPr sz="1800">
              <a:solidFill>
                <a:schemeClr val="dk1"/>
              </a:solidFill>
              <a:latin typeface="Calibri"/>
              <a:ea typeface="Calibri"/>
              <a:cs typeface="Calibri"/>
              <a:sym typeface="Calibri"/>
            </a:endParaRPr>
          </a:p>
        </p:txBody>
      </p:sp>
      <p:sp>
        <p:nvSpPr>
          <p:cNvPr id="169" name="Google Shape;169;p12"/>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Maximum bending is a kinematic predictor, not itself a demonstrated neural command variable. Correlations among body measurements cannot determine the order in which the nervous system specifies them. The findings constrain circuit explanations: any adequate mechanism must allow rapid movement with continuously variable turning and speed.</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26415" y="1280071"/>
            <a:ext cx="4339150" cy="4297561"/>
          </a:xfrm>
          <a:prstGeom prst="rect">
            <a:avLst/>
          </a:prstGeom>
          <a:noFill/>
          <a:ln>
            <a:noFill/>
          </a:ln>
        </p:spPr>
      </p:pic>
      <p:sp>
        <p:nvSpPr>
          <p:cNvPr id="171" name="Google Shape;171;p12"/>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Wöhl &amp; Schuster (2007), Fig. 9. Maximum bending predicts the required turn angle.</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Wöhl &amp; Schuster (2007)</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Target height changes jet control</a:t>
            </a:r>
            <a:endParaRPr sz="1800">
              <a:solidFill>
                <a:schemeClr val="dk1"/>
              </a:solidFill>
              <a:latin typeface="Calibri"/>
              <a:ea typeface="Calibri"/>
              <a:cs typeface="Calibri"/>
              <a:sym typeface="Calibri"/>
            </a:endParaRPr>
          </a:p>
        </p:txBody>
      </p:sp>
      <p:sp>
        <p:nvSpPr>
          <p:cNvPr id="180" name="Google Shape;180;p13"/>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Gerullis and Schuster trained </a:t>
            </a:r>
            <a:r>
              <a:rPr b="0" i="1" lang="en-US" sz="1600">
                <a:solidFill>
                  <a:srgbClr val="000000"/>
                </a:solidFill>
                <a:latin typeface="Arial"/>
                <a:ea typeface="Arial"/>
                <a:cs typeface="Arial"/>
                <a:sym typeface="Arial"/>
              </a:rPr>
              <a:t>Toxotes jaculatrix</a:t>
            </a:r>
            <a:r>
              <a:rPr b="0" i="0" lang="en-US" sz="1600">
                <a:solidFill>
                  <a:srgbClr val="000000"/>
                </a:solidFill>
                <a:latin typeface="Arial"/>
                <a:ea typeface="Arial"/>
                <a:cs typeface="Arial"/>
                <a:sym typeface="Arial"/>
              </a:rPr>
              <a:t> to shoot from a restricted channel at targets 20, 40 or 60 cm above the water. Small black spheres provided reproducible targets, and successful shots were rewarded with flies delivered in front of the shooter.</a:t>
            </a:r>
            <a:endParaRPr sz="1800">
              <a:solidFill>
                <a:schemeClr val="dk1"/>
              </a:solidFill>
              <a:latin typeface="Calibri"/>
              <a:ea typeface="Calibri"/>
              <a:cs typeface="Calibri"/>
              <a:sym typeface="Calibri"/>
            </a:endParaRPr>
          </a:p>
        </p:txBody>
      </p:sp>
      <p:sp>
        <p:nvSpPr>
          <p:cNvPr id="181" name="Google Shape;181;p13"/>
          <p:cNvSpPr/>
          <p:nvPr/>
        </p:nvSpPr>
        <p:spPr>
          <a:xfrm>
            <a:off x="566886" y="2453134"/>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Side-view recordings reached 5000 frames per second, allowing the investigators to follow the water from emergence to impact. The fish tolerated the illumination needed for these recordings and maintained a nearly fixed mouth-tip position during water release.</a:t>
            </a:r>
            <a:endParaRPr sz="1800">
              <a:solidFill>
                <a:schemeClr val="dk1"/>
              </a:solidFill>
              <a:latin typeface="Calibri"/>
              <a:ea typeface="Calibri"/>
              <a:cs typeface="Calibri"/>
              <a:sym typeface="Calibri"/>
            </a:endParaRPr>
          </a:p>
        </p:txBody>
      </p:sp>
      <p:sp>
        <p:nvSpPr>
          <p:cNvPr id="182" name="Google Shape;182;p13"/>
          <p:cNvSpPr/>
          <p:nvPr/>
        </p:nvSpPr>
        <p:spPr>
          <a:xfrm>
            <a:off x="566886" y="3671888"/>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This preparation separates the target’s range from the fish’s shooting position. It also extends beyond the very short distances used in earlier jet measurements. The controlled target and constrained firing geometry improve measurement, but they do not reproduce every angle, target attachment or wind condition of a natural hunt.</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367087" y="1280071"/>
            <a:ext cx="5257658" cy="2994868"/>
          </a:xfrm>
          <a:prstGeom prst="rect">
            <a:avLst/>
          </a:prstGeom>
          <a:noFill/>
          <a:ln>
            <a:noFill/>
          </a:ln>
        </p:spPr>
      </p:pic>
      <p:sp>
        <p:nvSpPr>
          <p:cNvPr id="184" name="Google Shape;184;p13"/>
          <p:cNvSpPr/>
          <p:nvPr/>
        </p:nvSpPr>
        <p:spPr>
          <a:xfrm>
            <a:off x="6367016" y="436646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1(D). Preimpact tips at 20, 40 and 60 cm; original 1-cm scale bar.</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The jet focuses just before impact at the chosen range</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In shots aimed at a target 60 cm high, the water had not finished assembling at the jet tip after 30 cm of travel. Near impact, the tip became concentrated. By contrast, a shot aimed at 20 cm was already focused at that closer target height.</a:t>
            </a:r>
            <a:endParaRPr sz="1800">
              <a:solidFill>
                <a:schemeClr val="dk1"/>
              </a:solidFill>
              <a:latin typeface="Calibri"/>
              <a:ea typeface="Calibri"/>
              <a:cs typeface="Calibri"/>
              <a:sym typeface="Calibri"/>
            </a:endParaRPr>
          </a:p>
        </p:txBody>
      </p:sp>
      <p:sp>
        <p:nvSpPr>
          <p:cNvPr id="194" name="Google Shape;194;p14"/>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Gerullis and Schuster compared original high-speed images at equivalent travel positions and at the preimpact phase. Preimpact tips were similarly concentrated across the three target heights, whereas the intermediate shapes differed according to the intended range.</a:t>
            </a:r>
            <a:endParaRPr sz="1800">
              <a:solidFill>
                <a:schemeClr val="dk1"/>
              </a:solidFill>
              <a:latin typeface="Calibri"/>
              <a:ea typeface="Calibri"/>
              <a:cs typeface="Calibri"/>
              <a:sym typeface="Calibri"/>
            </a:endParaRPr>
          </a:p>
        </p:txBody>
      </p:sp>
      <p:sp>
        <p:nvSpPr>
          <p:cNvPr id="195" name="Google Shape;195;p14"/>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result rejects a fixed-distance focusing account in which water always assembles near the mouth and the finished tip simply travels onward. It supports active adjustment of the focusing distance. Image comparisons establish the jet’s spatial organization, but they do not by themselves identify the muscular or neural control signals.</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1(A–B). A 60-cm shot midway through travel and just before impact.</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Jet stability also depends on intended target distance</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endParaRPr sz="1800">
              <a:solidFill>
                <a:schemeClr val="dk1"/>
              </a:solidFill>
              <a:latin typeface="Calibri"/>
              <a:ea typeface="Calibri"/>
              <a:cs typeface="Calibri"/>
              <a:sym typeface="Calibri"/>
            </a:endParaRPr>
          </a:p>
        </p:txBody>
      </p:sp>
      <p:sp>
        <p:nvSpPr>
          <p:cNvPr id="207" name="Google Shape;207;p15"/>
          <p:cNvSpPr/>
          <p:nvPr/>
        </p:nvSpPr>
        <p:spPr>
          <a:xfrm>
            <a:off x="566886" y="2672507"/>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For close targets, rare missed shots allowed observation beyond the intended impact point without collision with the target. This control matters because a jet that struck a target could break up as a consequence of the collision rather than its original hydrodynamic design.</a:t>
            </a:r>
            <a:endParaRPr sz="1800">
              <a:solidFill>
                <a:schemeClr val="dk1"/>
              </a:solidFill>
              <a:latin typeface="Calibri"/>
              <a:ea typeface="Calibri"/>
              <a:cs typeface="Calibri"/>
              <a:sym typeface="Calibri"/>
            </a:endParaRPr>
          </a:p>
        </p:txBody>
      </p:sp>
      <p:sp>
        <p:nvSpPr>
          <p:cNvPr id="208" name="Google Shape;208;p15"/>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resulting differences support coordinated control of stability and focusing range. They do not show that smoothness alone determines impact force. Tip speed, water concentration and the duration of water release are separate measured properties, and their contributions must be evaluated rather than inferred from a single shaft image.</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6425128" y="1280071"/>
            <a:ext cx="5141725" cy="4297561"/>
          </a:xfrm>
          <a:prstGeom prst="rect">
            <a:avLst/>
          </a:prstGeom>
          <a:noFill/>
          <a:ln>
            <a:noFill/>
          </a:ln>
        </p:spPr>
      </p:pic>
      <p:sp>
        <p:nvSpPr>
          <p:cNvPr id="210" name="Google Shape;210;p1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1(E). Shaft stability after a common 30-cm path.</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Later-emerging water accelerates the jet tip</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Gerullis and Schuster measured the tip speed during the first 20 ms of jet formation. The tip accelerated even while the jet rose against gravity, because it remained connected to subsequently emitted water moving faster than the early water.</a:t>
            </a:r>
            <a:endParaRPr sz="1800">
              <a:solidFill>
                <a:schemeClr val="dk1"/>
              </a:solidFill>
              <a:latin typeface="Calibri"/>
              <a:ea typeface="Calibri"/>
              <a:cs typeface="Calibri"/>
              <a:sym typeface="Calibri"/>
            </a:endParaRPr>
          </a:p>
        </p:txBody>
      </p:sp>
      <p:sp>
        <p:nvSpPr>
          <p:cNvPr id="220" name="Google Shape;220;p16"/>
          <p:cNvSpPr/>
          <p:nvPr/>
        </p:nvSpPr>
        <p:spPr>
          <a:xfrm>
            <a:off x="566886" y="2453134"/>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Published fits yielded hypothetical limiting speeds of 5.8–6.8 m/s, total speed increments of 2.7–3.8 m/s, and time constants of 6.6–20.0 ms. The speed increment increased with target height, linking the early-to-late velocity difference to the intended shooting range.</a:t>
            </a:r>
            <a:endParaRPr sz="1800">
              <a:solidFill>
                <a:schemeClr val="dk1"/>
              </a:solidFill>
              <a:latin typeface="Calibri"/>
              <a:ea typeface="Calibri"/>
              <a:cs typeface="Calibri"/>
              <a:sym typeface="Calibri"/>
            </a:endParaRPr>
          </a:p>
        </p:txBody>
      </p:sp>
      <p:sp>
        <p:nvSpPr>
          <p:cNvPr id="221" name="Google Shape;221;p16"/>
          <p:cNvSpPr/>
          <p:nvPr/>
        </p:nvSpPr>
        <p:spPr>
          <a:xfrm>
            <a:off x="566886" y="3671888"/>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limiting speed is a fitted parameter describing continued flow, not necessarily a speed directly reached by every observed shot. The data support adjustable velocity gradients and reject an ordinary rigid-projectile description of the jet. These measurements do not yet explain how the mouth changes its effective outlet during emission.</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2(A–C). Tip acceleration during the first 20 ms at three target heights.</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4">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2(D). Speed increment increases with target height.</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 matching speed profile does not guarantee a stable jet</a:t>
            </a:r>
            <a:endParaRPr sz="1800">
              <a:solidFill>
                <a:schemeClr val="dk1"/>
              </a:solidFill>
              <a:latin typeface="Calibri"/>
              <a:ea typeface="Calibri"/>
              <a:cs typeface="Calibri"/>
              <a:sym typeface="Calibri"/>
            </a:endParaRPr>
          </a:p>
        </p:txBody>
      </p:sp>
      <p:sp>
        <p:nvSpPr>
          <p:cNvPr id="234" name="Google Shape;234;p17"/>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To test whether tip acceleration alone explains coherence, Gerullis and Schuster produced upward jets with a fixed disposable syringe. High-speed recordings captured both jets that remained coherent during release and jets that broke up before all the water had emerged.</a:t>
            </a:r>
            <a:endParaRPr sz="1800">
              <a:solidFill>
                <a:schemeClr val="dk1"/>
              </a:solidFill>
              <a:latin typeface="Calibri"/>
              <a:ea typeface="Calibri"/>
              <a:cs typeface="Calibri"/>
              <a:sym typeface="Calibri"/>
            </a:endParaRPr>
          </a:p>
        </p:txBody>
      </p:sp>
      <p:sp>
        <p:nvSpPr>
          <p:cNvPr id="235" name="Google Shape;235;p17"/>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endParaRPr sz="1800">
              <a:solidFill>
                <a:schemeClr val="dk1"/>
              </a:solidFill>
              <a:latin typeface="Calibri"/>
              <a:ea typeface="Calibri"/>
              <a:cs typeface="Calibri"/>
              <a:sym typeface="Calibri"/>
            </a:endParaRPr>
          </a:p>
        </p:txBody>
      </p:sp>
      <p:sp>
        <p:nvSpPr>
          <p:cNvPr id="236" name="Google Shape;236;p17"/>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 living fish must coordinate properties beyond the acceleration profile if it maintains stable, focused impacts over different ranges. The syringe comparison supports that requirement but does not isolate a particular anatomical feature. The manually operated syringe also differs from the biological mouth in outlet geometry and pressure generation.</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6367166" y="1280071"/>
            <a:ext cx="5257500" cy="2672507"/>
          </a:xfrm>
          <a:prstGeom prst="rect">
            <a:avLst/>
          </a:prstGeom>
          <a:noFill/>
          <a:ln>
            <a:noFill/>
          </a:ln>
        </p:spPr>
      </p:pic>
      <p:sp>
        <p:nvSpPr>
          <p:cNvPr id="238" name="Google Shape;238;p17"/>
          <p:cNvSpPr/>
          <p:nvPr/>
        </p:nvSpPr>
        <p:spPr>
          <a:xfrm>
            <a:off x="6367016" y="404410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2(E–F). Stable and unstable syringe jets with similar tip-speed profiles.</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Shot chemistry and body drift do not explain range tuning</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Gerullis and Schuster collected water fired by the fish and compared it with control water. Shot viscosity was 0.867 mPa·s and control viscosity 0.869 mPa·s; surface tension was 70.37 versus 70.49 mN/m. No detectable change in these properties supported chemical tuning of the fluid.</a:t>
            </a:r>
            <a:endParaRPr sz="1800">
              <a:solidFill>
                <a:schemeClr val="dk1"/>
              </a:solidFill>
              <a:latin typeface="Calibri"/>
              <a:ea typeface="Calibri"/>
              <a:cs typeface="Calibri"/>
              <a:sym typeface="Calibri"/>
            </a:endParaRPr>
          </a:p>
        </p:txBody>
      </p:sp>
      <p:sp>
        <p:nvSpPr>
          <p:cNvPr id="248" name="Google Shape;248;p18"/>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endParaRPr sz="1800">
              <a:solidFill>
                <a:schemeClr val="dk1"/>
              </a:solidFill>
              <a:latin typeface="Calibri"/>
              <a:ea typeface="Calibri"/>
              <a:cs typeface="Calibri"/>
              <a:sym typeface="Calibri"/>
            </a:endParaRPr>
          </a:p>
        </p:txBody>
      </p:sp>
      <p:sp>
        <p:nvSpPr>
          <p:cNvPr id="249" name="Google Shape;249;p18"/>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These controls narrow the candidate mechanisms without proving that every possible chemical or mechanical variable is absent. Their direct measurements motivate examination of the time-varying mouth opening rather than assuming that water composition or whole-body motion supplies the range adjustment.</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93010" y="1280071"/>
            <a:ext cx="3006109" cy="2468761"/>
          </a:xfrm>
          <a:prstGeom prst="rect">
            <a:avLst/>
          </a:prstGeom>
          <a:noFill/>
          <a:ln>
            <a:noFill/>
          </a:ln>
        </p:spPr>
      </p:pic>
      <p:sp>
        <p:nvSpPr>
          <p:cNvPr id="251" name="Google Shape;251;p1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3(A). Water-shot viscosity and surface tension compared with controls.</a:t>
            </a:r>
            <a:endParaRPr sz="1800">
              <a:solidFill>
                <a:schemeClr val="dk1"/>
              </a:solidFill>
              <a:latin typeface="Calibri"/>
              <a:ea typeface="Calibri"/>
              <a:cs typeface="Calibri"/>
              <a:sym typeface="Calibri"/>
            </a:endParaRPr>
          </a:p>
        </p:txBody>
      </p:sp>
      <p:pic>
        <p:nvPicPr>
          <p:cNvPr id="252" name="Google Shape;252;p18"/>
          <p:cNvPicPr preferRelativeResize="0"/>
          <p:nvPr/>
        </p:nvPicPr>
        <p:blipFill rotWithShape="1">
          <a:blip r:embed="rId4">
            <a:alphaModFix/>
          </a:blip>
          <a:srcRect b="0" l="0" r="0" t="0"/>
          <a:stretch/>
        </p:blipFill>
        <p:spPr>
          <a:xfrm>
            <a:off x="8028407" y="4297561"/>
            <a:ext cx="1935018" cy="1462980"/>
          </a:xfrm>
          <a:prstGeom prst="rect">
            <a:avLst/>
          </a:prstGeom>
          <a:noFill/>
          <a:ln>
            <a:noFill/>
          </a:ln>
        </p:spPr>
      </p:pic>
      <p:sp>
        <p:nvSpPr>
          <p:cNvPr id="253" name="Google Shape;253;p1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3(C). Mouth-tip drift and body rotation during water release.</a:t>
            </a:r>
            <a:endParaRPr sz="1800">
              <a:solidFill>
                <a:schemeClr val="dk1"/>
              </a:solidFill>
              <a:latin typeface="Calibri"/>
              <a:ea typeface="Calibri"/>
              <a:cs typeface="Calibri"/>
              <a:sym typeface="Calibri"/>
            </a:endParaRPr>
          </a:p>
        </p:txBody>
      </p:sp>
      <p:sp>
        <p:nvSpPr>
          <p:cNvPr id="254" name="Google Shape;254;p1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5" name="Google Shape;255;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56" name="Google Shape;256;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19"/>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Mouth-opening dynamics tune the duration of water release</a:t>
            </a:r>
            <a:endParaRPr sz="1800">
              <a:solidFill>
                <a:schemeClr val="dk1"/>
              </a:solidFill>
              <a:latin typeface="Calibri"/>
              <a:ea typeface="Calibri"/>
              <a:cs typeface="Calibri"/>
              <a:sym typeface="Calibri"/>
            </a:endParaRPr>
          </a:p>
        </p:txBody>
      </p:sp>
      <p:sp>
        <p:nvSpPr>
          <p:cNvPr id="262" name="Google Shape;262;p19"/>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mouth opening changed continuously during a shot; it did not form a constant aperture that simply opened and shut. Gerullis and Schuster measured opening and closing at 20-, 40- and 60-cm target heights, aligning records to the onset of water emergence.</a:t>
            </a:r>
            <a:endParaRPr sz="1800">
              <a:solidFill>
                <a:schemeClr val="dk1"/>
              </a:solidFill>
              <a:latin typeface="Calibri"/>
              <a:ea typeface="Calibri"/>
              <a:cs typeface="Calibri"/>
              <a:sym typeface="Calibri"/>
            </a:endParaRPr>
          </a:p>
        </p:txBody>
      </p:sp>
      <p:sp>
        <p:nvSpPr>
          <p:cNvPr id="263" name="Google Shape;263;p19"/>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endParaRPr sz="1800">
              <a:solidFill>
                <a:schemeClr val="dk1"/>
              </a:solidFill>
              <a:latin typeface="Calibri"/>
              <a:ea typeface="Calibri"/>
              <a:cs typeface="Calibri"/>
              <a:sym typeface="Calibri"/>
            </a:endParaRPr>
          </a:p>
        </p:txBody>
      </p:sp>
      <p:sp>
        <p:nvSpPr>
          <p:cNvPr id="264" name="Google Shape;264;p19"/>
          <p:cNvSpPr/>
          <p:nvPr/>
        </p:nvSpPr>
        <p:spPr>
          <a:xfrm>
            <a:off x="566886" y="372546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pattern supports active control of a time-dependent outlet to coordinate jet formation and range. The mouth measurements constrain a mechanical mechanism but do not directly record its motor neurons or pressure profile. Correlated changes in aperture and focusing are evidence for control, not a complete causal reconstruction of the fluid dynamics.</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8070548" y="1280071"/>
            <a:ext cx="1851034" cy="2468761"/>
          </a:xfrm>
          <a:prstGeom prst="rect">
            <a:avLst/>
          </a:prstGeom>
          <a:noFill/>
          <a:ln>
            <a:noFill/>
          </a:ln>
        </p:spPr>
      </p:pic>
      <p:sp>
        <p:nvSpPr>
          <p:cNvPr id="266" name="Google Shape;266;p19"/>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4(C). Mouth-opening time courses for three target heights.</a:t>
            </a:r>
            <a:endParaRPr sz="1800">
              <a:solidFill>
                <a:schemeClr val="dk1"/>
              </a:solidFill>
              <a:latin typeface="Calibri"/>
              <a:ea typeface="Calibri"/>
              <a:cs typeface="Calibri"/>
              <a:sym typeface="Calibri"/>
            </a:endParaRPr>
          </a:p>
        </p:txBody>
      </p:sp>
      <p:pic>
        <p:nvPicPr>
          <p:cNvPr id="267" name="Google Shape;267;p19"/>
          <p:cNvPicPr preferRelativeResize="0"/>
          <p:nvPr/>
        </p:nvPicPr>
        <p:blipFill rotWithShape="1">
          <a:blip r:embed="rId4">
            <a:alphaModFix/>
          </a:blip>
          <a:srcRect b="0" l="0" r="0" t="0"/>
          <a:stretch/>
        </p:blipFill>
        <p:spPr>
          <a:xfrm>
            <a:off x="7509157" y="4297561"/>
            <a:ext cx="2973815" cy="1462980"/>
          </a:xfrm>
          <a:prstGeom prst="rect">
            <a:avLst/>
          </a:prstGeom>
          <a:noFill/>
          <a:ln>
            <a:noFill/>
          </a:ln>
        </p:spPr>
      </p:pic>
      <p:sp>
        <p:nvSpPr>
          <p:cNvPr id="268" name="Google Shape;268;p19"/>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Gerullis &amp; Schuster (2014), Fig. 4(A–B). Range-dependent onset-to-closure time and final closure after the jet.</a:t>
            </a:r>
            <a:endParaRPr sz="1800">
              <a:solidFill>
                <a:schemeClr val="dk1"/>
              </a:solidFill>
              <a:latin typeface="Calibri"/>
              <a:ea typeface="Calibri"/>
              <a:cs typeface="Calibri"/>
              <a:sym typeface="Calibri"/>
            </a:endParaRPr>
          </a:p>
        </p:txBody>
      </p:sp>
      <p:sp>
        <p:nvSpPr>
          <p:cNvPr id="269" name="Google Shape;269;p1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0" name="Google Shape;27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Gerullis &amp; Schuster (2014)</a:t>
            </a:r>
            <a:endParaRPr sz="1800">
              <a:solidFill>
                <a:schemeClr val="dk1"/>
              </a:solidFill>
              <a:latin typeface="Calibri"/>
              <a:ea typeface="Calibri"/>
              <a:cs typeface="Calibri"/>
              <a:sym typeface="Calibri"/>
            </a:endParaRPr>
          </a:p>
        </p:txBody>
      </p:sp>
      <p:sp>
        <p:nvSpPr>
          <p:cNvPr id="271" name="Google Shape;27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 retinal high-density region aligns with aerial aiming</a:t>
            </a:r>
            <a:endParaRPr sz="1800">
              <a:solidFill>
                <a:schemeClr val="dk1"/>
              </a:solidFill>
              <a:latin typeface="Calibri"/>
              <a:ea typeface="Calibri"/>
              <a:cs typeface="Calibri"/>
              <a:sym typeface="Calibri"/>
            </a:endParaRPr>
          </a:p>
        </p:txBody>
      </p:sp>
      <p:sp>
        <p:nvSpPr>
          <p:cNvPr id="277" name="Google Shape;277;p20"/>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Temple and colleagues mapped cones and retinal ganglion cells in </a:t>
            </a:r>
            <a:r>
              <a:rPr b="0" i="1" lang="en-US" sz="1500">
                <a:solidFill>
                  <a:srgbClr val="000000"/>
                </a:solidFill>
                <a:latin typeface="Arial"/>
                <a:ea typeface="Arial"/>
                <a:cs typeface="Arial"/>
                <a:sym typeface="Arial"/>
              </a:rPr>
              <a:t>Toxotes chatareus</a:t>
            </a:r>
            <a:r>
              <a:rPr b="0" i="0" lang="en-US" sz="1500">
                <a:solidFill>
                  <a:srgbClr val="000000"/>
                </a:solidFill>
                <a:latin typeface="Arial"/>
                <a:ea typeface="Arial"/>
                <a:cs typeface="Arial"/>
                <a:sym typeface="Arial"/>
              </a:rPr>
              <a:t> using retinal preparations and anatomical counts. A ventral high-density region aligned with the up-forward visual direction used during spitting, rather than providing equal sampling across the entire visual field.</a:t>
            </a:r>
            <a:endParaRPr sz="1800">
              <a:solidFill>
                <a:schemeClr val="dk1"/>
              </a:solidFill>
              <a:latin typeface="Calibri"/>
              <a:ea typeface="Calibri"/>
              <a:cs typeface="Calibri"/>
              <a:sym typeface="Calibri"/>
            </a:endParaRPr>
          </a:p>
        </p:txBody>
      </p:sp>
      <p:sp>
        <p:nvSpPr>
          <p:cNvPr id="278" name="Google Shape;278;p20"/>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endParaRPr sz="1800">
              <a:solidFill>
                <a:schemeClr val="dk1"/>
              </a:solidFill>
              <a:latin typeface="Calibri"/>
              <a:ea typeface="Calibri"/>
              <a:cs typeface="Calibri"/>
              <a:sym typeface="Calibri"/>
            </a:endParaRPr>
          </a:p>
        </p:txBody>
      </p:sp>
      <p:sp>
        <p:nvSpPr>
          <p:cNvPr id="279" name="Google Shape;279;p20"/>
          <p:cNvSpPr/>
          <p:nvPr/>
        </p:nvSpPr>
        <p:spPr>
          <a:xfrm>
            <a:off x="566886" y="393114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a:t>
            </a:r>
            <a:r>
              <a:rPr b="1" i="0" lang="en-US" sz="1500">
                <a:solidFill>
                  <a:srgbClr val="252D35"/>
                </a:solidFill>
                <a:latin typeface="Arial"/>
                <a:ea typeface="Arial"/>
                <a:cs typeface="Arial"/>
                <a:sym typeface="Arial"/>
              </a:rPr>
              <a:t>cycle</a:t>
            </a:r>
            <a:r>
              <a:rPr b="0" i="0" lang="en-US" sz="1500">
                <a:solidFill>
                  <a:srgbClr val="000000"/>
                </a:solidFill>
                <a:latin typeface="Arial"/>
                <a:ea typeface="Arial"/>
                <a:cs typeface="Arial"/>
                <a:sym typeface="Arial"/>
              </a:rPr>
              <a:t> is one bright–dark repetition in a spatial pattern; more cycles per degree indicate finer anatomical sampling. These estimates connect retinal organization to the preferred shooting direction. They do not measure behavioral acuity directly or establish that a particular prey discrimination uses every available anatomical sampling unit.</a:t>
            </a:r>
            <a:endParaRPr sz="1800">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3">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3. Ganglion-cell topography aligned with the preferred shooting axis.</a:t>
            </a:r>
            <a:endParaRPr sz="1800">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Temple et al. (2010)</a:t>
            </a:r>
            <a:endParaRPr sz="1800">
              <a:solidFill>
                <a:schemeClr val="dk1"/>
              </a:solidFill>
              <a:latin typeface="Calibri"/>
              <a:ea typeface="Calibri"/>
              <a:cs typeface="Calibri"/>
              <a:sym typeface="Calibri"/>
            </a:endParaRPr>
          </a:p>
        </p:txBody>
      </p:sp>
      <p:sp>
        <p:nvSpPr>
          <p:cNvPr id="284" name="Google Shape;28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8" name="Shape 288"/>
        <p:cNvGrpSpPr/>
        <p:nvPr/>
      </p:nvGrpSpPr>
      <p:grpSpPr>
        <a:xfrm>
          <a:off x="0" y="0"/>
          <a:ext cx="0" cy="0"/>
          <a:chOff x="0" y="0"/>
          <a:chExt cx="0" cy="0"/>
        </a:xfrm>
      </p:grpSpPr>
      <p:sp>
        <p:nvSpPr>
          <p:cNvPr id="289" name="Google Shape;28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Cone spectral sensitivity differs across retinal regions</a:t>
            </a:r>
            <a:endParaRPr sz="1800">
              <a:solidFill>
                <a:schemeClr val="dk1"/>
              </a:solidFill>
              <a:latin typeface="Calibri"/>
              <a:ea typeface="Calibri"/>
              <a:cs typeface="Calibri"/>
              <a:sym typeface="Calibri"/>
            </a:endParaRPr>
          </a:p>
        </p:txBody>
      </p:sp>
      <p:sp>
        <p:nvSpPr>
          <p:cNvPr id="290" name="Google Shape;290;p21"/>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endParaRPr sz="1800">
              <a:solidFill>
                <a:schemeClr val="dk1"/>
              </a:solidFill>
              <a:latin typeface="Calibri"/>
              <a:ea typeface="Calibri"/>
              <a:cs typeface="Calibri"/>
              <a:sym typeface="Calibri"/>
            </a:endParaRPr>
          </a:p>
        </p:txBody>
      </p:sp>
      <p:sp>
        <p:nvSpPr>
          <p:cNvPr id="291" name="Google Shape;291;p21"/>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endParaRPr sz="1800">
              <a:solidFill>
                <a:schemeClr val="dk1"/>
              </a:solidFill>
              <a:latin typeface="Calibri"/>
              <a:ea typeface="Calibri"/>
              <a:cs typeface="Calibri"/>
              <a:sym typeface="Calibri"/>
            </a:endParaRPr>
          </a:p>
        </p:txBody>
      </p:sp>
      <p:sp>
        <p:nvSpPr>
          <p:cNvPr id="292" name="Google Shape;292;p21"/>
          <p:cNvSpPr/>
          <p:nvPr/>
        </p:nvSpPr>
        <p:spPr>
          <a:xfrm>
            <a:off x="566886" y="393114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a:t>
            </a:r>
            <a:r>
              <a:rPr b="1" i="0" lang="en-US" sz="1500">
                <a:solidFill>
                  <a:srgbClr val="252D35"/>
                </a:solidFill>
                <a:latin typeface="Arial"/>
                <a:ea typeface="Arial"/>
                <a:cs typeface="Arial"/>
                <a:sym typeface="Arial"/>
              </a:rPr>
              <a:t>photopigment</a:t>
            </a:r>
            <a:r>
              <a:rPr b="0" i="0" lang="en-US" sz="1500">
                <a:solidFill>
                  <a:srgbClr val="000000"/>
                </a:solidFill>
                <a:latin typeface="Arial"/>
                <a:ea typeface="Arial"/>
                <a:cs typeface="Arial"/>
                <a:sym typeface="Arial"/>
              </a:rPr>
              <a:t> is a light-absorbing receptor molecule that initiates a photoreceptor response. Regional sensitivity can shape which contrasts are available against an aerial background, but these spectra alone do not prove color perception or explain compensation for refraction. Spectral sensitivity and the spatial resolving power measured anatomically are distinct constraints on visual aiming.</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7079511" y="1280071"/>
            <a:ext cx="3832960" cy="4297561"/>
          </a:xfrm>
          <a:prstGeom prst="rect">
            <a:avLst/>
          </a:prstGeom>
          <a:noFill/>
          <a:ln>
            <a:noFill/>
          </a:ln>
        </p:spPr>
      </p:pic>
      <p:sp>
        <p:nvSpPr>
          <p:cNvPr id="294" name="Google Shape;294;p21"/>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2(A–C). Regional cone absorptance spectra.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Temple et al. (2010)</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Isolated retinal recordings test rapid motion information</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endParaRPr sz="1800">
              <a:solidFill>
                <a:schemeClr val="dk1"/>
              </a:solidFill>
              <a:latin typeface="Calibri"/>
              <a:ea typeface="Calibri"/>
              <a:cs typeface="Calibri"/>
              <a:sym typeface="Calibri"/>
            </a:endParaRPr>
          </a:p>
        </p:txBody>
      </p:sp>
      <p:sp>
        <p:nvSpPr>
          <p:cNvPr id="304" name="Google Shape;304;p22"/>
          <p:cNvSpPr/>
          <p:nvPr/>
        </p:nvSpPr>
        <p:spPr>
          <a:xfrm>
            <a:off x="566886" y="2582763"/>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endParaRPr sz="1800">
              <a:solidFill>
                <a:schemeClr val="dk1"/>
              </a:solidFill>
              <a:latin typeface="Calibri"/>
              <a:ea typeface="Calibri"/>
              <a:cs typeface="Calibri"/>
              <a:sym typeface="Calibri"/>
            </a:endParaRPr>
          </a:p>
        </p:txBody>
      </p:sp>
      <p:sp>
        <p:nvSpPr>
          <p:cNvPr id="305" name="Google Shape;305;p22"/>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preparation tests information available at retinal output before central processing. Velocities were expressed as those of an external object approximately 30 cm from the eye, not as literal movement speeds across the retinal surface. An isolated retina cannot establish which output features the intact brain actually reads during interception.</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Kretschmer et al. (2012), Fig. 1(A–G). Recorded retinal ganglion-cell responses and grating stimulus.</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3. Ganglion-cell topography aligned with the preferred shooting axis.</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Kretschmer et al. (2012)</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First-spike timing carries information about velocity</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a:t>
            </a:r>
            <a:r>
              <a:rPr b="1" i="0" lang="en-US" sz="1500">
                <a:solidFill>
                  <a:srgbClr val="252D35"/>
                </a:solidFill>
                <a:latin typeface="Arial"/>
                <a:ea typeface="Arial"/>
                <a:cs typeface="Arial"/>
                <a:sym typeface="Arial"/>
              </a:rPr>
              <a:t>first-spike latency</a:t>
            </a:r>
            <a:r>
              <a:rPr b="0" i="0" lang="en-US" sz="1500">
                <a:solidFill>
                  <a:srgbClr val="000000"/>
                </a:solidFill>
                <a:latin typeface="Arial"/>
                <a:ea typeface="Arial"/>
                <a:cs typeface="Arial"/>
                <a:sym typeface="Arial"/>
              </a:rPr>
              <a:t> is the interval from a reference event to the first action potential in a response. Kretschmer and colleagues compared ganglion-cell latencies across the moving-grating velocities. The shortest median absolute latencies were about 22 ms at stimulus speeds around 5–6 m/s.</a:t>
            </a:r>
            <a:endParaRPr sz="1800">
              <a:solidFill>
                <a:schemeClr val="dk1"/>
              </a:solidFill>
              <a:latin typeface="Calibri"/>
              <a:ea typeface="Calibri"/>
              <a:cs typeface="Calibri"/>
              <a:sym typeface="Calibri"/>
            </a:endParaRPr>
          </a:p>
        </p:txBody>
      </p:sp>
      <p:sp>
        <p:nvSpPr>
          <p:cNvPr id="319" name="Google Shape;319;p23"/>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endParaRPr sz="1800">
              <a:solidFill>
                <a:schemeClr val="dk1"/>
              </a:solidFill>
              <a:latin typeface="Calibri"/>
              <a:ea typeface="Calibri"/>
              <a:cs typeface="Calibri"/>
              <a:sym typeface="Calibri"/>
            </a:endParaRPr>
          </a:p>
        </p:txBody>
      </p:sp>
      <p:sp>
        <p:nvSpPr>
          <p:cNvPr id="320" name="Google Shape;320;p23"/>
          <p:cNvSpPr/>
          <p:nvPr/>
        </p:nvSpPr>
        <p:spPr>
          <a:xfrm>
            <a:off x="566886" y="393114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Absolute latency requires knowledge of stimulus onset, which the experimenter possesses but the brain must infer from its own signals. The decoding result identifies available information rather than proving an implemented biological decoder. It also does not equate grating responses with responses to every natural falling insect.</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22" name="Google Shape;322;p23"/>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Kretschmer et al. (2012), Fig. 2(A–L). First-spike latency varies with stimulus velocity.</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24" name="Google Shape;324;p2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3. Ganglion-cell topography aligned with the preferred shooting axis.</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Kretschmer et al. (2012)</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Relative timing outperforms the tested rate code</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Kretschmer and colleagues compared absolute latency with first interspike interval, spike rate over 100 ms, and latency relative to population response onset. An </a:t>
            </a:r>
            <a:r>
              <a:rPr b="1" i="0" lang="en-US" sz="1500">
                <a:solidFill>
                  <a:srgbClr val="252D35"/>
                </a:solidFill>
                <a:latin typeface="Arial"/>
                <a:ea typeface="Arial"/>
                <a:cs typeface="Arial"/>
                <a:sym typeface="Arial"/>
              </a:rPr>
              <a:t>interspike interval</a:t>
            </a:r>
            <a:r>
              <a:rPr b="0" i="0" lang="en-US" sz="1500">
                <a:solidFill>
                  <a:srgbClr val="000000"/>
                </a:solidFill>
                <a:latin typeface="Arial"/>
                <a:ea typeface="Arial"/>
                <a:cs typeface="Arial"/>
                <a:sym typeface="Arial"/>
              </a:rPr>
              <a:t> is the elapsed time between consecutive action potentials; a firing rate counts spikes per unit time.</a:t>
            </a:r>
            <a:endParaRPr sz="1800">
              <a:solidFill>
                <a:schemeClr val="dk1"/>
              </a:solidFill>
              <a:latin typeface="Calibri"/>
              <a:ea typeface="Calibri"/>
              <a:cs typeface="Calibri"/>
              <a:sym typeface="Calibri"/>
            </a:endParaRPr>
          </a:p>
        </p:txBody>
      </p:sp>
      <p:sp>
        <p:nvSpPr>
          <p:cNvPr id="334" name="Google Shape;334;p24"/>
          <p:cNvSpPr/>
          <p:nvPr/>
        </p:nvSpPr>
        <p:spPr>
          <a:xfrm>
            <a:off x="566886" y="2377083"/>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endParaRPr sz="1800">
              <a:solidFill>
                <a:schemeClr val="dk1"/>
              </a:solidFill>
              <a:latin typeface="Calibri"/>
              <a:ea typeface="Calibri"/>
              <a:cs typeface="Calibri"/>
              <a:sym typeface="Calibri"/>
            </a:endParaRPr>
          </a:p>
        </p:txBody>
      </p:sp>
      <p:sp>
        <p:nvSpPr>
          <p:cNvPr id="335" name="Google Shape;335;p24"/>
          <p:cNvSpPr/>
          <p:nvPr/>
        </p:nvSpPr>
        <p:spPr>
          <a:xfrm>
            <a:off x="566886" y="393114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comparison supports population timing as a plausible fast signal. It does not rule out every rate code, stimulus condition or longer integration period. The tested 100-ms window is particularly relevant because predictive behavior can begin before an extended spike-count estimate becomes available.</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Kretschmer et al. (2012), Fig. 2(A–L). Published decoding based on latency, interval, rate and relative latency.</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3. Ganglion-cell topography aligned with the preferred shooting axis.</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Kretschmer et al. (2012)</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Combining ganglion cells improves velocity estimates</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Kretschmer and colleagues repeatedly decoded velocity while increasing the number of recorded ganglion cells included. Published reconstruction errors fell as the population grew, but the gain was steepest for the first few cells and became smaller with additional cells.</a:t>
            </a:r>
            <a:endParaRPr sz="1800">
              <a:solidFill>
                <a:schemeClr val="dk1"/>
              </a:solidFill>
              <a:latin typeface="Calibri"/>
              <a:ea typeface="Calibri"/>
              <a:cs typeface="Calibri"/>
              <a:sym typeface="Calibri"/>
            </a:endParaRPr>
          </a:p>
        </p:txBody>
      </p:sp>
      <p:sp>
        <p:nvSpPr>
          <p:cNvPr id="349" name="Google Shape;349;p25"/>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endParaRPr sz="1800">
              <a:solidFill>
                <a:schemeClr val="dk1"/>
              </a:solidFill>
              <a:latin typeface="Calibri"/>
              <a:ea typeface="Calibri"/>
              <a:cs typeface="Calibri"/>
              <a:sym typeface="Calibri"/>
            </a:endParaRPr>
          </a:p>
        </p:txBody>
      </p:sp>
      <p:sp>
        <p:nvSpPr>
          <p:cNvPr id="350" name="Google Shape;350;p25"/>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analysis supports distributed retinal information and a limited benefit from progressively larger samples. It does not identify the actual downstream convergence pattern or the synapses that read these spikes. Recorded cells were added computationally; no central neuron was shown to perform the same decoding operation.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7427351" y="1280071"/>
            <a:ext cx="3137279" cy="2468761"/>
          </a:xfrm>
          <a:prstGeom prst="rect">
            <a:avLst/>
          </a:prstGeom>
          <a:noFill/>
          <a:ln>
            <a:noFill/>
          </a:ln>
        </p:spPr>
      </p:pic>
      <p:sp>
        <p:nvSpPr>
          <p:cNvPr id="352" name="Google Shape;352;p25"/>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Kretschmer et al. (2012), Fig. 7(A–B). Decoding error as more ganglion cells are added.</a:t>
            </a:r>
            <a:endParaRPr sz="1800">
              <a:solidFill>
                <a:schemeClr val="dk1"/>
              </a:solidFill>
              <a:latin typeface="Calibri"/>
              <a:ea typeface="Calibri"/>
              <a:cs typeface="Calibri"/>
              <a:sym typeface="Calibri"/>
            </a:endParaRPr>
          </a:p>
        </p:txBody>
      </p:sp>
      <p:pic>
        <p:nvPicPr>
          <p:cNvPr id="353" name="Google Shape;353;p25"/>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54" name="Google Shape;354;p2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Temple et al. (2010), Fig. 3. Ganglion-cell topography aligned with the preferred shooting axis.</a:t>
            </a:r>
            <a:endParaRPr sz="1800">
              <a:solidFill>
                <a:schemeClr val="dk1"/>
              </a:solidFill>
              <a:latin typeface="Calibri"/>
              <a:ea typeface="Calibri"/>
              <a:cs typeface="Calibri"/>
              <a:sym typeface="Calibri"/>
            </a:endParaRPr>
          </a:p>
        </p:txBody>
      </p:sp>
      <p:sp>
        <p:nvSpPr>
          <p:cNvPr id="355" name="Google Shape;355;p2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6" name="Google Shape;356;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Kretschmer et al. (2012)</a:t>
            </a:r>
            <a:endParaRPr sz="1800">
              <a:solidFill>
                <a:schemeClr val="dk1"/>
              </a:solidFill>
              <a:latin typeface="Calibri"/>
              <a:ea typeface="Calibri"/>
              <a:cs typeface="Calibri"/>
              <a:sym typeface="Calibri"/>
            </a:endParaRPr>
          </a:p>
        </p:txBody>
      </p:sp>
      <p:sp>
        <p:nvSpPr>
          <p:cNvPr id="357" name="Google Shape;357;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Tectal neurons integrate spatial and temporal contrast</a:t>
            </a:r>
            <a:endParaRPr sz="1800">
              <a:solidFill>
                <a:schemeClr val="dk1"/>
              </a:solidFill>
              <a:latin typeface="Calibri"/>
              <a:ea typeface="Calibri"/>
              <a:cs typeface="Calibri"/>
              <a:sym typeface="Calibri"/>
            </a:endParaRPr>
          </a:p>
        </p:txBody>
      </p:sp>
      <p:sp>
        <p:nvSpPr>
          <p:cNvPr id="363" name="Google Shape;363;p26"/>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a:t>
            </a:r>
            <a:r>
              <a:rPr b="1" i="0" lang="en-US" sz="1500">
                <a:solidFill>
                  <a:srgbClr val="252D35"/>
                </a:solidFill>
                <a:latin typeface="Arial"/>
                <a:ea typeface="Arial"/>
                <a:cs typeface="Arial"/>
                <a:sym typeface="Arial"/>
              </a:rPr>
              <a:t>optic tectum</a:t>
            </a:r>
            <a:r>
              <a:rPr b="0" i="0" lang="en-US" sz="1500">
                <a:solidFill>
                  <a:srgbClr val="000000"/>
                </a:solidFill>
                <a:latin typeface="Arial"/>
                <a:ea typeface="Arial"/>
                <a:cs typeface="Arial"/>
                <a:sym typeface="Arial"/>
              </a:rPr>
              <a:t>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endParaRPr sz="1800">
              <a:solidFill>
                <a:schemeClr val="dk1"/>
              </a:solidFill>
              <a:latin typeface="Calibri"/>
              <a:ea typeface="Calibri"/>
              <a:cs typeface="Calibri"/>
              <a:sym typeface="Calibri"/>
            </a:endParaRPr>
          </a:p>
        </p:txBody>
      </p:sp>
      <p:sp>
        <p:nvSpPr>
          <p:cNvPr id="364" name="Google Shape;364;p26"/>
          <p:cNvSpPr/>
          <p:nvPr/>
        </p:nvSpPr>
        <p:spPr>
          <a:xfrm>
            <a:off x="566886" y="2582763"/>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Receptive fields ranged from nearly circular to elongated. About 68% of the sampled cells had a monophasic temporal profile, whereas the remaining group had two phases with opposite contrast signs. Mean estimated response latencies were 54.5 ms and 60 ms for these groups.</a:t>
            </a:r>
            <a:endParaRPr sz="1800">
              <a:solidFill>
                <a:schemeClr val="dk1"/>
              </a:solidFill>
              <a:latin typeface="Calibri"/>
              <a:ea typeface="Calibri"/>
              <a:cs typeface="Calibri"/>
              <a:sym typeface="Calibri"/>
            </a:endParaRPr>
          </a:p>
        </p:txBody>
      </p:sp>
      <p:sp>
        <p:nvSpPr>
          <p:cNvPr id="365" name="Google Shape;365;p26"/>
          <p:cNvSpPr/>
          <p:nvPr/>
        </p:nvSpPr>
        <p:spPr>
          <a:xfrm>
            <a:off x="566886" y="372546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These measurements distinguish spatial sampling from the temporal contrast sequence associated with firing. A </a:t>
            </a:r>
            <a:r>
              <a:rPr b="1" i="0" lang="en-US" sz="1500">
                <a:solidFill>
                  <a:srgbClr val="252D35"/>
                </a:solidFill>
                <a:latin typeface="Arial"/>
                <a:ea typeface="Arial"/>
                <a:cs typeface="Arial"/>
                <a:sym typeface="Arial"/>
              </a:rPr>
              <a:t>receptive field</a:t>
            </a:r>
            <a:r>
              <a:rPr b="0" i="0" lang="en-US" sz="1500">
                <a:solidFill>
                  <a:srgbClr val="000000"/>
                </a:solidFill>
                <a:latin typeface="Arial"/>
                <a:ea typeface="Arial"/>
                <a:cs typeface="Arial"/>
                <a:sym typeface="Arial"/>
              </a:rPr>
              <a:t> is the stimulus region and pattern that changes a neuron’s activity. The assay characterizes responses to controlled visual stimuli; it does not prove that an identified tectal cell computes the prey’s complete landing point.</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089106" y="1280077"/>
            <a:ext cx="1813917" cy="2468748"/>
          </a:xfrm>
          <a:prstGeom prst="rect">
            <a:avLst/>
          </a:prstGeom>
          <a:noFill/>
          <a:ln>
            <a:noFill/>
          </a:ln>
        </p:spPr>
      </p:pic>
      <p:sp>
        <p:nvSpPr>
          <p:cNvPr id="367" name="Google Shape;367;p2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Reichenthal et al. (2018), Fig. 2(A–H). Spatial and temporal receptive fields of tectal neurons.</a:t>
            </a:r>
            <a:endParaRPr sz="1800">
              <a:solidFill>
                <a:schemeClr val="dk1"/>
              </a:solidFill>
              <a:latin typeface="Calibri"/>
              <a:ea typeface="Calibri"/>
              <a:cs typeface="Calibri"/>
              <a:sym typeface="Calibri"/>
            </a:endParaRPr>
          </a:p>
        </p:txBody>
      </p:sp>
      <p:pic>
        <p:nvPicPr>
          <p:cNvPr id="368" name="Google Shape;368;p26"/>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Karoubi et al. (2016), Fig. 3(Q–R). Published Nissl-stained sections and labeled brain structures.</a:t>
            </a:r>
            <a:endParaRPr sz="1800">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Reichenthal et al. (2018)</a:t>
            </a:r>
            <a:endParaRPr sz="1800">
              <a:solidFill>
                <a:schemeClr val="dk1"/>
              </a:solidFill>
              <a:latin typeface="Calibri"/>
              <a:ea typeface="Calibri"/>
              <a:cs typeface="Calibri"/>
              <a:sym typeface="Calibri"/>
            </a:endParaRPr>
          </a:p>
        </p:txBody>
      </p:sp>
      <p:sp>
        <p:nvSpPr>
          <p:cNvPr id="372" name="Google Shape;37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6" name="Shape 376"/>
        <p:cNvGrpSpPr/>
        <p:nvPr/>
      </p:nvGrpSpPr>
      <p:grpSpPr>
        <a:xfrm>
          <a:off x="0" y="0"/>
          <a:ext cx="0" cy="0"/>
          <a:chOff x="0" y="0"/>
          <a:chExt cx="0" cy="0"/>
        </a:xfrm>
      </p:grpSpPr>
      <p:sp>
        <p:nvSpPr>
          <p:cNvPr id="377" name="Google Shape;37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Additional temporal filters capture tectal selectivity</a:t>
            </a:r>
            <a:endParaRPr sz="1800">
              <a:solidFill>
                <a:schemeClr val="dk1"/>
              </a:solidFill>
              <a:latin typeface="Calibri"/>
              <a:ea typeface="Calibri"/>
              <a:cs typeface="Calibri"/>
              <a:sym typeface="Calibri"/>
            </a:endParaRPr>
          </a:p>
        </p:txBody>
      </p:sp>
      <p:sp>
        <p:nvSpPr>
          <p:cNvPr id="378" name="Google Shape;378;p27"/>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endParaRPr sz="1800">
              <a:solidFill>
                <a:schemeClr val="dk1"/>
              </a:solidFill>
              <a:latin typeface="Calibri"/>
              <a:ea typeface="Calibri"/>
              <a:cs typeface="Calibri"/>
              <a:sym typeface="Calibri"/>
            </a:endParaRPr>
          </a:p>
        </p:txBody>
      </p:sp>
      <p:sp>
        <p:nvSpPr>
          <p:cNvPr id="379" name="Google Shape;379;p27"/>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endParaRPr sz="1800">
              <a:solidFill>
                <a:schemeClr val="dk1"/>
              </a:solidFill>
              <a:latin typeface="Calibri"/>
              <a:ea typeface="Calibri"/>
              <a:cs typeface="Calibri"/>
              <a:sym typeface="Calibri"/>
            </a:endParaRPr>
          </a:p>
        </p:txBody>
      </p:sp>
      <p:sp>
        <p:nvSpPr>
          <p:cNvPr id="380" name="Google Shape;380;p27"/>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Those terms describe a model’s stimulus selectivity and do not identify excitatory transmitters, inhibitory receptors or anatomical synapses. The analysis adds information missed by an average alone, but its success remains constrained by the stimuli presented and the amount of recorded activity. It does not locate the circuit generating the inferred filters.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6367149" y="1280071"/>
            <a:ext cx="5257534" cy="1991618"/>
          </a:xfrm>
          <a:prstGeom prst="rect">
            <a:avLst/>
          </a:prstGeom>
          <a:noFill/>
          <a:ln>
            <a:noFill/>
          </a:ln>
        </p:spPr>
      </p:pic>
      <p:sp>
        <p:nvSpPr>
          <p:cNvPr id="382" name="Google Shape;382;p27"/>
          <p:cNvSpPr/>
          <p:nvPr/>
        </p:nvSpPr>
        <p:spPr>
          <a:xfrm>
            <a:off x="6367016" y="336321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Reichenthal et al. (2018), Fig. 4(A–B). Published covariance analysis and significant stimulus filters.</a:t>
            </a:r>
            <a:endParaRPr sz="1800">
              <a:solidFill>
                <a:schemeClr val="dk1"/>
              </a:solidFill>
              <a:latin typeface="Calibri"/>
              <a:ea typeface="Calibri"/>
              <a:cs typeface="Calibri"/>
              <a:sym typeface="Calibri"/>
            </a:endParaRPr>
          </a:p>
        </p:txBody>
      </p:sp>
      <p:pic>
        <p:nvPicPr>
          <p:cNvPr id="383" name="Google Shape;383;p27"/>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84" name="Google Shape;384;p2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Karoubi et al. (2016), Fig. 3(Q–R). Published Nissl-stained sections and labeled brain structures.</a:t>
            </a:r>
            <a:endParaRPr sz="1800">
              <a:solidFill>
                <a:schemeClr val="dk1"/>
              </a:solidFill>
              <a:latin typeface="Calibri"/>
              <a:ea typeface="Calibri"/>
              <a:cs typeface="Calibri"/>
              <a:sym typeface="Calibri"/>
            </a:endParaRPr>
          </a:p>
        </p:txBody>
      </p:sp>
      <p:sp>
        <p:nvSpPr>
          <p:cNvPr id="385" name="Google Shape;385;p2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6" name="Google Shape;386;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Reichenthal et al. (2018)</a:t>
            </a:r>
            <a:endParaRPr sz="1800">
              <a:solidFill>
                <a:schemeClr val="dk1"/>
              </a:solidFill>
              <a:latin typeface="Calibri"/>
              <a:ea typeface="Calibri"/>
              <a:cs typeface="Calibri"/>
              <a:sym typeface="Calibri"/>
            </a:endParaRPr>
          </a:p>
        </p:txBody>
      </p:sp>
      <p:sp>
        <p:nvSpPr>
          <p:cNvPr id="387" name="Google Shape;387;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Nonlinear combinations predict different tectal responses</a:t>
            </a:r>
            <a:endParaRPr sz="1800">
              <a:solidFill>
                <a:schemeClr val="dk1"/>
              </a:solidFill>
              <a:latin typeface="Calibri"/>
              <a:ea typeface="Calibri"/>
              <a:cs typeface="Calibri"/>
              <a:sym typeface="Calibri"/>
            </a:endParaRPr>
          </a:p>
        </p:txBody>
      </p:sp>
      <p:sp>
        <p:nvSpPr>
          <p:cNvPr id="393" name="Google Shape;393;p28"/>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Reichenthal and colleagues fitted models that combined the recovered temporal filters through nonlinear response functions. A </a:t>
            </a:r>
            <a:r>
              <a:rPr b="1" i="0" lang="en-US" sz="1500">
                <a:solidFill>
                  <a:srgbClr val="252D35"/>
                </a:solidFill>
                <a:latin typeface="Arial"/>
                <a:ea typeface="Arial"/>
                <a:cs typeface="Arial"/>
                <a:sym typeface="Arial"/>
              </a:rPr>
              <a:t>nonlinearity</a:t>
            </a:r>
            <a:r>
              <a:rPr b="0" i="0" lang="en-US" sz="1500">
                <a:solidFill>
                  <a:srgbClr val="000000"/>
                </a:solidFill>
                <a:latin typeface="Arial"/>
                <a:ea typeface="Arial"/>
                <a:cs typeface="Arial"/>
                <a:sym typeface="Arial"/>
              </a:rPr>
              <a:t> means the response cannot be described simply by proportional addition of all filter outputs; the joint values can change how strongly the neuron fires.</a:t>
            </a:r>
            <a:endParaRPr sz="1800">
              <a:solidFill>
                <a:schemeClr val="dk1"/>
              </a:solidFill>
              <a:latin typeface="Calibri"/>
              <a:ea typeface="Calibri"/>
              <a:cs typeface="Calibri"/>
              <a:sym typeface="Calibri"/>
            </a:endParaRPr>
          </a:p>
        </p:txBody>
      </p:sp>
      <p:sp>
        <p:nvSpPr>
          <p:cNvPr id="394" name="Google Shape;394;p28"/>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endParaRPr sz="1800">
              <a:solidFill>
                <a:schemeClr val="dk1"/>
              </a:solidFill>
              <a:latin typeface="Calibri"/>
              <a:ea typeface="Calibri"/>
              <a:cs typeface="Calibri"/>
              <a:sym typeface="Calibri"/>
            </a:endParaRPr>
          </a:p>
        </p:txBody>
      </p:sp>
      <p:sp>
        <p:nvSpPr>
          <p:cNvPr id="395" name="Google Shape;395;p28"/>
          <p:cNvSpPr/>
          <p:nvPr/>
        </p:nvSpPr>
        <p:spPr>
          <a:xfrm>
            <a:off x="566886" y="393114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These are phenomenological models: compact descriptions of measured input–output relationships. They do not establish the corresponding ion channels, synapses or behavioral function. The diverse combinations provide candidate transformations of visual timing before a motor decision, while leaving their causal contribution to predictive aiming untested.</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150470" y="1280071"/>
            <a:ext cx="1691189" cy="2468761"/>
          </a:xfrm>
          <a:prstGeom prst="rect">
            <a:avLst/>
          </a:prstGeom>
          <a:noFill/>
          <a:ln>
            <a:noFill/>
          </a:ln>
        </p:spPr>
      </p:pic>
      <p:sp>
        <p:nvSpPr>
          <p:cNvPr id="397" name="Google Shape;397;p2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Reichenthal et al. (2018), Fig. 7(A–D). Original two-filter nonlinear response models and neural recordings.</a:t>
            </a:r>
            <a:endParaRPr sz="1800">
              <a:solidFill>
                <a:schemeClr val="dk1"/>
              </a:solidFill>
              <a:latin typeface="Calibri"/>
              <a:ea typeface="Calibri"/>
              <a:cs typeface="Calibri"/>
              <a:sym typeface="Calibri"/>
            </a:endParaRPr>
          </a:p>
        </p:txBody>
      </p:sp>
      <p:pic>
        <p:nvPicPr>
          <p:cNvPr id="398" name="Google Shape;398;p28"/>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99" name="Google Shape;399;p2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Karoubi et al. (2016), Fig. 3(Q–R). Published Nissl-stained sections and labeled brain structures.</a:t>
            </a:r>
            <a:endParaRPr sz="1800">
              <a:solidFill>
                <a:schemeClr val="dk1"/>
              </a:solidFill>
              <a:latin typeface="Calibri"/>
              <a:ea typeface="Calibri"/>
              <a:cs typeface="Calibri"/>
              <a:sym typeface="Calibri"/>
            </a:endParaRPr>
          </a:p>
        </p:txBody>
      </p:sp>
      <p:sp>
        <p:nvSpPr>
          <p:cNvPr id="400" name="Google Shape;400;p2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Reichenthal et al. (2018)</a:t>
            </a:r>
            <a:endParaRPr sz="1800">
              <a:solidFill>
                <a:schemeClr val="dk1"/>
              </a:solidFill>
              <a:latin typeface="Calibri"/>
              <a:ea typeface="Calibri"/>
              <a:cs typeface="Calibri"/>
              <a:sym typeface="Calibri"/>
            </a:endParaRPr>
          </a:p>
        </p:txBody>
      </p:sp>
      <p:sp>
        <p:nvSpPr>
          <p:cNvPr id="402" name="Google Shape;402;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 brain atlas separates visual and descending structures</a:t>
            </a:r>
            <a:endParaRPr sz="1800">
              <a:solidFill>
                <a:schemeClr val="dk1"/>
              </a:solidFill>
              <a:latin typeface="Calibri"/>
              <a:ea typeface="Calibri"/>
              <a:cs typeface="Calibri"/>
              <a:sym typeface="Calibri"/>
            </a:endParaRPr>
          </a:p>
        </p:txBody>
      </p:sp>
      <p:sp>
        <p:nvSpPr>
          <p:cNvPr id="408" name="Google Shape;408;p29"/>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Karoubi and colleagues examined </a:t>
            </a:r>
            <a:r>
              <a:rPr b="0" i="1" lang="en-US" sz="1500">
                <a:solidFill>
                  <a:srgbClr val="000000"/>
                </a:solidFill>
                <a:latin typeface="Arial"/>
                <a:ea typeface="Arial"/>
                <a:cs typeface="Arial"/>
                <a:sym typeface="Arial"/>
              </a:rPr>
              <a:t>Toxotes chatareus</a:t>
            </a:r>
            <a:r>
              <a:rPr b="0" i="0" lang="en-US" sz="1500">
                <a:solidFill>
                  <a:srgbClr val="000000"/>
                </a:solidFill>
                <a:latin typeface="Arial"/>
                <a:ea typeface="Arial"/>
                <a:cs typeface="Arial"/>
                <a:sym typeface="Arial"/>
              </a:rPr>
              <a:t> brains with Nissl staining and immunohistochemistry. </a:t>
            </a:r>
            <a:r>
              <a:rPr b="1" i="0" lang="en-US" sz="1500">
                <a:solidFill>
                  <a:srgbClr val="252D35"/>
                </a:solidFill>
                <a:latin typeface="Arial"/>
                <a:ea typeface="Arial"/>
                <a:cs typeface="Arial"/>
                <a:sym typeface="Arial"/>
              </a:rPr>
              <a:t>Nissl staining</a:t>
            </a:r>
            <a:r>
              <a:rPr b="0" i="0" lang="en-US" sz="1500">
                <a:solidFill>
                  <a:srgbClr val="000000"/>
                </a:solidFill>
                <a:latin typeface="Arial"/>
                <a:ea typeface="Arial"/>
                <a:cs typeface="Arial"/>
                <a:sym typeface="Arial"/>
              </a:rPr>
              <a:t> labels cell-rich tissue and helps distinguish nuclei and layers; immunohistochemistry uses antibodies to locate selected molecular markers within the tissue.</a:t>
            </a:r>
            <a:endParaRPr sz="1800">
              <a:solidFill>
                <a:schemeClr val="dk1"/>
              </a:solidFill>
              <a:latin typeface="Calibri"/>
              <a:ea typeface="Calibri"/>
              <a:cs typeface="Calibri"/>
              <a:sym typeface="Calibri"/>
            </a:endParaRPr>
          </a:p>
        </p:txBody>
      </p:sp>
      <p:sp>
        <p:nvSpPr>
          <p:cNvPr id="409" name="Google Shape;409;p29"/>
          <p:cNvSpPr/>
          <p:nvPr/>
        </p:nvSpPr>
        <p:spPr>
          <a:xfrm>
            <a:off x="566886" y="2377083"/>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endParaRPr sz="1800">
              <a:solidFill>
                <a:schemeClr val="dk1"/>
              </a:solidFill>
              <a:latin typeface="Calibri"/>
              <a:ea typeface="Calibri"/>
              <a:cs typeface="Calibri"/>
              <a:sym typeface="Calibri"/>
            </a:endParaRPr>
          </a:p>
        </p:txBody>
      </p:sp>
      <p:sp>
        <p:nvSpPr>
          <p:cNvPr id="410" name="Google Shape;410;p29"/>
          <p:cNvSpPr/>
          <p:nvPr/>
        </p:nvSpPr>
        <p:spPr>
          <a:xfrm>
            <a:off x="566886" y="393114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atlas also maps catecholaminergic and cholinergic markers, but anatomical labeling does not show that those cells control shooting or predictive starts. A </a:t>
            </a:r>
            <a:r>
              <a:rPr b="1" i="0" lang="en-US" sz="1500">
                <a:solidFill>
                  <a:srgbClr val="252D35"/>
                </a:solidFill>
                <a:latin typeface="Arial"/>
                <a:ea typeface="Arial"/>
                <a:cs typeface="Arial"/>
                <a:sym typeface="Arial"/>
              </a:rPr>
              <a:t>cholinergic</a:t>
            </a:r>
            <a:r>
              <a:rPr b="0" i="0" lang="en-US" sz="1500">
                <a:solidFill>
                  <a:srgbClr val="000000"/>
                </a:solidFill>
                <a:latin typeface="Arial"/>
                <a:ea typeface="Arial"/>
                <a:cs typeface="Arial"/>
                <a:sym typeface="Arial"/>
              </a:rPr>
              <a:t> neuron uses acetylcholine; marker localization alone does not specify the postsynaptic receptor or the behavioral effect of transmitter release.</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3">
            <a:alphaModFix/>
          </a:blip>
          <a:srcRect b="0" l="0" r="0" t="0"/>
          <a:stretch/>
        </p:blipFill>
        <p:spPr>
          <a:xfrm>
            <a:off x="6367029" y="1280071"/>
            <a:ext cx="5257774" cy="2803922"/>
          </a:xfrm>
          <a:prstGeom prst="rect">
            <a:avLst/>
          </a:prstGeom>
          <a:noFill/>
          <a:ln>
            <a:noFill/>
          </a:ln>
        </p:spPr>
      </p:pic>
      <p:sp>
        <p:nvSpPr>
          <p:cNvPr id="412" name="Google Shape;412;p29"/>
          <p:cNvSpPr/>
          <p:nvPr/>
        </p:nvSpPr>
        <p:spPr>
          <a:xfrm>
            <a:off x="6367016" y="4175522"/>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Karoubi et al. (2016), Fig. 2(A–D). Lateral view and reconstruction of the archerfish brain.</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Karoubi et al. (2016)</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An electrical field signature locates the Mauthner cell</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a:t>
            </a:r>
            <a:r>
              <a:rPr b="1" i="0" lang="en-US" sz="1500">
                <a:solidFill>
                  <a:srgbClr val="252D35"/>
                </a:solidFill>
                <a:latin typeface="Arial"/>
                <a:ea typeface="Arial"/>
                <a:cs typeface="Arial"/>
                <a:sym typeface="Arial"/>
              </a:rPr>
              <a:t>Mauthner cell</a:t>
            </a:r>
            <a:r>
              <a:rPr b="0" i="0" lang="en-US" sz="1500">
                <a:solidFill>
                  <a:srgbClr val="000000"/>
                </a:solidFill>
                <a:latin typeface="Arial"/>
                <a:ea typeface="Arial"/>
                <a:cs typeface="Arial"/>
                <a:sym typeface="Arial"/>
              </a:rPr>
              <a:t> is a large hindbrain neuron with a descending axon associated with fast-start behavior in fishes. Machnik and colleagues stimulated the spinal cord and searched the archerfish hindbrain for a characteristic short-latency, all-or-none extracellular field potential.</a:t>
            </a:r>
            <a:endParaRPr sz="1800">
              <a:solidFill>
                <a:schemeClr val="dk1"/>
              </a:solidFill>
              <a:latin typeface="Calibri"/>
              <a:ea typeface="Calibri"/>
              <a:cs typeface="Calibri"/>
              <a:sym typeface="Calibri"/>
            </a:endParaRPr>
          </a:p>
        </p:txBody>
      </p:sp>
      <p:sp>
        <p:nvSpPr>
          <p:cNvPr id="422" name="Google Shape;422;p30"/>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endParaRPr sz="1800">
              <a:solidFill>
                <a:schemeClr val="dk1"/>
              </a:solidFill>
              <a:latin typeface="Calibri"/>
              <a:ea typeface="Calibri"/>
              <a:cs typeface="Calibri"/>
              <a:sym typeface="Calibri"/>
            </a:endParaRPr>
          </a:p>
        </p:txBody>
      </p:sp>
      <p:sp>
        <p:nvSpPr>
          <p:cNvPr id="423" name="Google Shape;423;p30"/>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approach connects an electrical signature to anatomy instead of relying only on cell size. It establishes an experimentally accessible Mauthner neuron in archerfish. Antidromic stimulation, traveling backward from axon toward cell body, does not show that the cell normally fires during a predictive prey-directed turn.</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8063061" y="1280082"/>
            <a:ext cx="1865709" cy="2468738"/>
          </a:xfrm>
          <a:prstGeom prst="rect">
            <a:avLst/>
          </a:prstGeom>
          <a:noFill/>
          <a:ln>
            <a:noFill/>
          </a:ln>
        </p:spPr>
      </p:pic>
      <p:sp>
        <p:nvSpPr>
          <p:cNvPr id="425" name="Google Shape;425;p3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2(A–D). All-or-none field potential used to locate the Mauthner cell.</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6(A–E). Hindbrain Mauthner cell and giant crossed spinal axons.</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(2018a)</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Mauthner morphology resembles that of goldfish</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Machnik and colleagues filled identified Mauthner neurons and compared archerfish with similarly sized goldfish processed by the same method. The </a:t>
            </a:r>
            <a:r>
              <a:rPr b="1" i="0" lang="en-US" sz="1500">
                <a:solidFill>
                  <a:srgbClr val="252D35"/>
                </a:solidFill>
                <a:latin typeface="Arial"/>
                <a:ea typeface="Arial"/>
                <a:cs typeface="Arial"/>
                <a:sym typeface="Arial"/>
              </a:rPr>
              <a:t>soma</a:t>
            </a:r>
            <a:r>
              <a:rPr b="0" i="0" lang="en-US" sz="1500">
                <a:solidFill>
                  <a:srgbClr val="000000"/>
                </a:solidFill>
                <a:latin typeface="Arial"/>
                <a:ea typeface="Arial"/>
                <a:cs typeface="Arial"/>
                <a:sym typeface="Arial"/>
              </a:rPr>
              <a:t> is the neuronal cell body; </a:t>
            </a:r>
            <a:r>
              <a:rPr b="1" i="0" lang="en-US" sz="1500">
                <a:solidFill>
                  <a:srgbClr val="252D35"/>
                </a:solidFill>
                <a:latin typeface="Arial"/>
                <a:ea typeface="Arial"/>
                <a:cs typeface="Arial"/>
                <a:sym typeface="Arial"/>
              </a:rPr>
              <a:t>dendrites</a:t>
            </a:r>
            <a:r>
              <a:rPr b="0" i="0" lang="en-US" sz="1500">
                <a:solidFill>
                  <a:srgbClr val="000000"/>
                </a:solidFill>
                <a:latin typeface="Arial"/>
                <a:ea typeface="Arial"/>
                <a:cs typeface="Arial"/>
                <a:sym typeface="Arial"/>
              </a:rPr>
              <a:t> receive and integrate inputs before signals reach the spike-initiation region.</a:t>
            </a:r>
            <a:endParaRPr sz="1800">
              <a:solidFill>
                <a:schemeClr val="dk1"/>
              </a:solidFill>
              <a:latin typeface="Calibri"/>
              <a:ea typeface="Calibri"/>
              <a:cs typeface="Calibri"/>
              <a:sym typeface="Calibri"/>
            </a:endParaRPr>
          </a:p>
        </p:txBody>
      </p:sp>
      <p:sp>
        <p:nvSpPr>
          <p:cNvPr id="437" name="Google Shape;437;p31"/>
          <p:cNvSpPr/>
          <p:nvPr/>
        </p:nvSpPr>
        <p:spPr>
          <a:xfrm>
            <a:off x="566886" y="2377083"/>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Archerfish soma diameters ranged from 45 to 63 µm, compared with 47–66 µm in goldfish. Both had prominent lateral and ventral dendrites, an axon hillock, and smaller branches. The broad similarity persisted despite the archerfish’s specialized interception demands.</a:t>
            </a:r>
            <a:endParaRPr sz="1800">
              <a:solidFill>
                <a:schemeClr val="dk1"/>
              </a:solidFill>
              <a:latin typeface="Calibri"/>
              <a:ea typeface="Calibri"/>
              <a:cs typeface="Calibri"/>
              <a:sym typeface="Calibri"/>
            </a:endParaRPr>
          </a:p>
        </p:txBody>
      </p:sp>
      <p:sp>
        <p:nvSpPr>
          <p:cNvPr id="438" name="Google Shape;438;p31"/>
          <p:cNvSpPr/>
          <p:nvPr/>
        </p:nvSpPr>
        <p:spPr>
          <a:xfrm>
            <a:off x="566886" y="3519785"/>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matched preparation controls for major differences caused by animal size and staining method. It argues against a dramatically enlarged or uniquely shaped Mauthner neuron as a necessary explanation of the archerfish skill. Similar morphology does not imply identical connectivity, synaptic strengths or recruitment during natural behavior.</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705968" y="1280071"/>
            <a:ext cx="4580045" cy="4297561"/>
          </a:xfrm>
          <a:prstGeom prst="rect">
            <a:avLst/>
          </a:prstGeom>
          <a:noFill/>
          <a:ln>
            <a:noFill/>
          </a:ln>
        </p:spPr>
      </p:pic>
      <p:sp>
        <p:nvSpPr>
          <p:cNvPr id="440" name="Google Shape;440;p3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5(A–E). Published cell reconstructions and soma/dendrite comparisons.</a:t>
            </a:r>
            <a:endParaRPr sz="1800">
              <a:solidFill>
                <a:schemeClr val="dk1"/>
              </a:solidFill>
              <a:latin typeface="Calibri"/>
              <a:ea typeface="Calibri"/>
              <a:cs typeface="Calibri"/>
              <a:sym typeface="Calibri"/>
            </a:endParaRPr>
          </a:p>
        </p:txBody>
      </p:sp>
      <p:sp>
        <p:nvSpPr>
          <p:cNvPr id="441" name="Google Shape;441;p3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2" name="Google Shape;442;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(2018a)</a:t>
            </a:r>
            <a:endParaRPr sz="1800">
              <a:solidFill>
                <a:schemeClr val="dk1"/>
              </a:solidFill>
              <a:latin typeface="Calibri"/>
              <a:ea typeface="Calibri"/>
              <a:cs typeface="Calibri"/>
              <a:sym typeface="Calibri"/>
            </a:endParaRPr>
          </a:p>
        </p:txBody>
      </p:sp>
      <p:sp>
        <p:nvSpPr>
          <p:cNvPr id="443" name="Google Shape;443;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Two crossed giant axons dominate the spinal cord</a:t>
            </a:r>
            <a:endParaRPr sz="1800">
              <a:solidFill>
                <a:schemeClr val="dk1"/>
              </a:solidFill>
              <a:latin typeface="Calibri"/>
              <a:ea typeface="Calibri"/>
              <a:cs typeface="Calibri"/>
              <a:sym typeface="Calibri"/>
            </a:endParaRPr>
          </a:p>
        </p:txBody>
      </p:sp>
      <p:sp>
        <p:nvSpPr>
          <p:cNvPr id="449" name="Google Shape;449;p32"/>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After staining identified cells, Machnik and colleagues followed the Mauthner axons across the hindbrain midline and into the opposite spinal cord. Unstained cross-sections independently contained two exceptionally large axons in the corresponding positions.</a:t>
            </a:r>
            <a:endParaRPr sz="1800">
              <a:solidFill>
                <a:schemeClr val="dk1"/>
              </a:solidFill>
              <a:latin typeface="Calibri"/>
              <a:ea typeface="Calibri"/>
              <a:cs typeface="Calibri"/>
              <a:sym typeface="Calibri"/>
            </a:endParaRPr>
          </a:p>
        </p:txBody>
      </p:sp>
      <p:sp>
        <p:nvSpPr>
          <p:cNvPr id="450" name="Google Shape;450;p32"/>
          <p:cNvSpPr/>
          <p:nvPr/>
        </p:nvSpPr>
        <p:spPr>
          <a:xfrm>
            <a:off x="566886" y="2377083"/>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endParaRPr sz="1800">
              <a:solidFill>
                <a:schemeClr val="dk1"/>
              </a:solidFill>
              <a:latin typeface="Calibri"/>
              <a:ea typeface="Calibri"/>
              <a:cs typeface="Calibri"/>
              <a:sym typeface="Calibri"/>
            </a:endParaRPr>
          </a:p>
        </p:txBody>
      </p:sp>
      <p:sp>
        <p:nvSpPr>
          <p:cNvPr id="451" name="Google Shape;451;p32"/>
          <p:cNvSpPr/>
          <p:nvPr/>
        </p:nvSpPr>
        <p:spPr>
          <a:xfrm>
            <a:off x="566886" y="3519785"/>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large axon can support rapid conduction, making this anatomy compatible with a fast motor command. The comparison does not exclude smaller neurons contributing to turn selection or speed adjustment. Nor does it prove that a particular giant axon generates the predictive start; anatomical availability and behavioral recruitment are different questions.</a:t>
            </a:r>
            <a:endParaRPr sz="1800">
              <a:solidFill>
                <a:schemeClr val="dk1"/>
              </a:solidFill>
              <a:latin typeface="Calibri"/>
              <a:ea typeface="Calibri"/>
              <a:cs typeface="Calibri"/>
              <a:sym typeface="Calibri"/>
            </a:endParaRPr>
          </a:p>
        </p:txBody>
      </p:sp>
      <p:pic>
        <p:nvPicPr>
          <p:cNvPr id="452" name="Google Shape;452;p32"/>
          <p:cNvPicPr preferRelativeResize="0"/>
          <p:nvPr/>
        </p:nvPicPr>
        <p:blipFill rotWithShape="1">
          <a:blip r:embed="rId3">
            <a:alphaModFix/>
          </a:blip>
          <a:srcRect b="0" l="0" r="0" t="0"/>
          <a:stretch/>
        </p:blipFill>
        <p:spPr>
          <a:xfrm>
            <a:off x="7025894" y="1280071"/>
            <a:ext cx="3940043" cy="4297561"/>
          </a:xfrm>
          <a:prstGeom prst="rect">
            <a:avLst/>
          </a:prstGeom>
          <a:noFill/>
          <a:ln>
            <a:noFill/>
          </a:ln>
        </p:spPr>
      </p:pic>
      <p:sp>
        <p:nvSpPr>
          <p:cNvPr id="453" name="Google Shape;453;p3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6(A–E). Hindbrain Mauthner cell and giant crossed spinal axons.</a:t>
            </a:r>
            <a:endParaRPr sz="1800">
              <a:solidFill>
                <a:schemeClr val="dk1"/>
              </a:solidFill>
              <a:latin typeface="Calibri"/>
              <a:ea typeface="Calibri"/>
              <a:cs typeface="Calibri"/>
              <a:sym typeface="Calibri"/>
            </a:endParaRPr>
          </a:p>
        </p:txBody>
      </p:sp>
      <p:sp>
        <p:nvSpPr>
          <p:cNvPr id="454" name="Google Shape;454;p3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5" name="Google Shape;455;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(2018a)</a:t>
            </a:r>
            <a:endParaRPr sz="1800">
              <a:solidFill>
                <a:schemeClr val="dk1"/>
              </a:solidFill>
              <a:latin typeface="Calibri"/>
              <a:ea typeface="Calibri"/>
              <a:cs typeface="Calibri"/>
              <a:sym typeface="Calibri"/>
            </a:endParaRPr>
          </a:p>
        </p:txBody>
      </p:sp>
      <p:sp>
        <p:nvSpPr>
          <p:cNvPr id="456" name="Google Shape;456;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3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Intracellular spikes reveal a rapid excitable output neuron</a:t>
            </a:r>
            <a:endParaRPr sz="1800">
              <a:solidFill>
                <a:schemeClr val="dk1"/>
              </a:solidFill>
              <a:latin typeface="Calibri"/>
              <a:ea typeface="Calibri"/>
              <a:cs typeface="Calibri"/>
              <a:sym typeface="Calibri"/>
            </a:endParaRPr>
          </a:p>
        </p:txBody>
      </p:sp>
      <p:sp>
        <p:nvSpPr>
          <p:cNvPr id="462" name="Google Shape;462;p33"/>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Machnik and colleagues obtained intracellular recordings from identified archerfish Mauthner cells. Mean resting voltage was −79.5 mV, antidromic spike onset latency was 0.265 ms, and the somatically recorded spike had a half-maximal duration of 0.54 ms.</a:t>
            </a:r>
            <a:endParaRPr sz="1800">
              <a:solidFill>
                <a:schemeClr val="dk1"/>
              </a:solidFill>
              <a:latin typeface="Calibri"/>
              <a:ea typeface="Calibri"/>
              <a:cs typeface="Calibri"/>
              <a:sym typeface="Calibri"/>
            </a:endParaRPr>
          </a:p>
        </p:txBody>
      </p:sp>
      <p:sp>
        <p:nvSpPr>
          <p:cNvPr id="463" name="Google Shape;463;p33"/>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endParaRPr sz="1800">
              <a:solidFill>
                <a:schemeClr val="dk1"/>
              </a:solidFill>
              <a:latin typeface="Calibri"/>
              <a:ea typeface="Calibri"/>
              <a:cs typeface="Calibri"/>
              <a:sym typeface="Calibri"/>
            </a:endParaRPr>
          </a:p>
        </p:txBody>
      </p:sp>
      <p:sp>
        <p:nvSpPr>
          <p:cNvPr id="464" name="Google Shape;464;p33"/>
          <p:cNvSpPr/>
          <p:nvPr/>
        </p:nvSpPr>
        <p:spPr>
          <a:xfrm>
            <a:off x="566886" y="372546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These recordings remained stable for approximately 2–3 hours, permitting repeated sensory and inhibitory tests within one cell. An </a:t>
            </a:r>
            <a:r>
              <a:rPr b="1" i="0" lang="en-US" sz="1500">
                <a:solidFill>
                  <a:srgbClr val="252D35"/>
                </a:solidFill>
                <a:latin typeface="Arial"/>
                <a:ea typeface="Arial"/>
                <a:cs typeface="Arial"/>
                <a:sym typeface="Arial"/>
              </a:rPr>
              <a:t>action potential</a:t>
            </a:r>
            <a:r>
              <a:rPr b="0" i="0" lang="en-US" sz="1500">
                <a:solidFill>
                  <a:srgbClr val="000000"/>
                </a:solidFill>
                <a:latin typeface="Arial"/>
                <a:ea typeface="Arial"/>
                <a:cs typeface="Arial"/>
                <a:sym typeface="Arial"/>
              </a:rPr>
              <a:t> is the regenerative electrical event that can propagate down the axon. The experiment measures excitability and conduction following imposed stimulation, rather than the timing of spontaneous commands during a free-swimming hunt.</a:t>
            </a:r>
            <a:endParaRPr sz="1800">
              <a:solidFill>
                <a:schemeClr val="dk1"/>
              </a:solidFill>
              <a:latin typeface="Calibri"/>
              <a:ea typeface="Calibri"/>
              <a:cs typeface="Calibri"/>
              <a:sym typeface="Calibri"/>
            </a:endParaRPr>
          </a:p>
        </p:txBody>
      </p:sp>
      <p:pic>
        <p:nvPicPr>
          <p:cNvPr id="465" name="Google Shape;465;p33"/>
          <p:cNvPicPr preferRelativeResize="0"/>
          <p:nvPr/>
        </p:nvPicPr>
        <p:blipFill rotWithShape="1">
          <a:blip r:embed="rId3">
            <a:alphaModFix/>
          </a:blip>
          <a:srcRect b="0" l="0" r="0" t="0"/>
          <a:stretch/>
        </p:blipFill>
        <p:spPr>
          <a:xfrm>
            <a:off x="7619462" y="1280071"/>
            <a:ext cx="2752908" cy="2468761"/>
          </a:xfrm>
          <a:prstGeom prst="rect">
            <a:avLst/>
          </a:prstGeom>
          <a:noFill/>
          <a:ln>
            <a:noFill/>
          </a:ln>
        </p:spPr>
      </p:pic>
      <p:sp>
        <p:nvSpPr>
          <p:cNvPr id="466" name="Google Shape;466;p33"/>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1(B–C). Antidromic spike and correction for the extracellular field.</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4">
            <a:alphaModFix/>
          </a:blip>
          <a:srcRect b="0" l="0" r="0" t="0"/>
          <a:stretch/>
        </p:blipFill>
        <p:spPr>
          <a:xfrm>
            <a:off x="8772253" y="4297561"/>
            <a:ext cx="447623" cy="1462980"/>
          </a:xfrm>
          <a:prstGeom prst="rect">
            <a:avLst/>
          </a:prstGeom>
          <a:noFill/>
          <a:ln>
            <a:noFill/>
          </a:ln>
        </p:spPr>
      </p:pic>
      <p:sp>
        <p:nvSpPr>
          <p:cNvPr id="468" name="Google Shape;468;p3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2(A–E). Intracellular recording stability and action-potential measurements.</a:t>
            </a:r>
            <a:endParaRPr sz="1800">
              <a:solidFill>
                <a:schemeClr val="dk1"/>
              </a:solidFill>
              <a:latin typeface="Calibri"/>
              <a:ea typeface="Calibri"/>
              <a:cs typeface="Calibri"/>
              <a:sym typeface="Calibri"/>
            </a:endParaRPr>
          </a:p>
        </p:txBody>
      </p:sp>
      <p:sp>
        <p:nvSpPr>
          <p:cNvPr id="469" name="Google Shape;469;p3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471" name="Google Shape;471;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sp>
        <p:nvSpPr>
          <p:cNvPr id="476" name="Google Shape;476;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Acoustic stimuli evoke early Mauthner depolarization</a:t>
            </a:r>
            <a:endParaRPr sz="1800">
              <a:solidFill>
                <a:schemeClr val="dk1"/>
              </a:solidFill>
              <a:latin typeface="Calibri"/>
              <a:ea typeface="Calibri"/>
              <a:cs typeface="Calibri"/>
              <a:sym typeface="Calibri"/>
            </a:endParaRPr>
          </a:p>
        </p:txBody>
      </p:sp>
      <p:sp>
        <p:nvSpPr>
          <p:cNvPr id="477" name="Google Shape;477;p34"/>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Machnik and colleagues delivered brief acoustic bursts while recording the Mauthner cell. A </a:t>
            </a:r>
            <a:r>
              <a:rPr b="1" i="0" lang="en-US" sz="1600">
                <a:solidFill>
                  <a:srgbClr val="252D35"/>
                </a:solidFill>
                <a:latin typeface="Arial"/>
                <a:ea typeface="Arial"/>
                <a:cs typeface="Arial"/>
                <a:sym typeface="Arial"/>
              </a:rPr>
              <a:t>postsynaptic potential</a:t>
            </a:r>
            <a:r>
              <a:rPr b="0" i="0" lang="en-US" sz="1600">
                <a:solidFill>
                  <a:srgbClr val="000000"/>
                </a:solidFill>
                <a:latin typeface="Arial"/>
                <a:ea typeface="Arial"/>
                <a:cs typeface="Arial"/>
                <a:sym typeface="Arial"/>
              </a:rPr>
              <a:t>, or PSP, is a membrane-voltage change associated with synaptic input. Under their stimulus conditions, detectable acoustic PSPs began after 7.4–15.1 ms in archerfish.</a:t>
            </a:r>
            <a:endParaRPr sz="1800">
              <a:solidFill>
                <a:schemeClr val="dk1"/>
              </a:solidFill>
              <a:latin typeface="Calibri"/>
              <a:ea typeface="Calibri"/>
              <a:cs typeface="Calibri"/>
              <a:sym typeface="Calibri"/>
            </a:endParaRPr>
          </a:p>
        </p:txBody>
      </p:sp>
      <p:sp>
        <p:nvSpPr>
          <p:cNvPr id="478" name="Google Shape;478;p34"/>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endParaRPr sz="1800">
              <a:solidFill>
                <a:schemeClr val="dk1"/>
              </a:solidFill>
              <a:latin typeface="Calibri"/>
              <a:ea typeface="Calibri"/>
              <a:cs typeface="Calibri"/>
              <a:sym typeface="Calibri"/>
            </a:endParaRPr>
          </a:p>
        </p:txBody>
      </p:sp>
      <p:sp>
        <p:nvSpPr>
          <p:cNvPr id="479" name="Google Shape;479;p34"/>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An earlier onset does not imply a stronger influence on firing: latency and amplitude measure different properties of input. The findings concern the selected acoustic burst, not the full hearing sensitivity of either species. They establish access to mechanosensory input without identifying every upstream receptor or intervening synapse.</a:t>
            </a:r>
            <a:endParaRPr sz="1800">
              <a:solidFill>
                <a:schemeClr val="dk1"/>
              </a:solidFill>
              <a:latin typeface="Calibri"/>
              <a:ea typeface="Calibri"/>
              <a:cs typeface="Calibri"/>
              <a:sym typeface="Calibri"/>
            </a:endParaRPr>
          </a:p>
        </p:txBody>
      </p:sp>
      <p:pic>
        <p:nvPicPr>
          <p:cNvPr id="480" name="Google Shape;480;p34"/>
          <p:cNvPicPr preferRelativeResize="0"/>
          <p:nvPr/>
        </p:nvPicPr>
        <p:blipFill rotWithShape="1">
          <a:blip r:embed="rId3">
            <a:alphaModFix/>
          </a:blip>
          <a:srcRect b="0" l="0" r="0" t="0"/>
          <a:stretch/>
        </p:blipFill>
        <p:spPr>
          <a:xfrm>
            <a:off x="6367100" y="1280071"/>
            <a:ext cx="5257633" cy="2316063"/>
          </a:xfrm>
          <a:prstGeom prst="rect">
            <a:avLst/>
          </a:prstGeom>
          <a:noFill/>
          <a:ln>
            <a:noFill/>
          </a:ln>
        </p:spPr>
      </p:pic>
      <p:sp>
        <p:nvSpPr>
          <p:cNvPr id="481" name="Google Shape;481;p34"/>
          <p:cNvSpPr/>
          <p:nvPr/>
        </p:nvSpPr>
        <p:spPr>
          <a:xfrm>
            <a:off x="6367016" y="36876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4(A–B). Sound- and light-evoked postsynaptic potentials in the same preparations.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83" name="Google Shape;483;p3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5(A–E). Published cell reconstructions and soma/dendrite comparisons.</a:t>
            </a:r>
            <a:endParaRPr sz="1800">
              <a:solidFill>
                <a:schemeClr val="dk1"/>
              </a:solidFill>
              <a:latin typeface="Calibri"/>
              <a:ea typeface="Calibri"/>
              <a:cs typeface="Calibri"/>
              <a:sym typeface="Calibri"/>
            </a:endParaRPr>
          </a:p>
        </p:txBody>
      </p:sp>
      <p:sp>
        <p:nvSpPr>
          <p:cNvPr id="484" name="Google Shape;484;p3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5" name="Google Shape;48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486" name="Google Shape;48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Light flashes evoke stronger but later visual inputs</a:t>
            </a:r>
            <a:endParaRPr sz="1800">
              <a:solidFill>
                <a:schemeClr val="dk1"/>
              </a:solidFill>
              <a:latin typeface="Calibri"/>
              <a:ea typeface="Calibri"/>
              <a:cs typeface="Calibri"/>
              <a:sym typeface="Calibri"/>
            </a:endParaRPr>
          </a:p>
        </p:txBody>
      </p:sp>
      <p:sp>
        <p:nvSpPr>
          <p:cNvPr id="492" name="Google Shape;492;p35"/>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Machnik and colleagues presented 7-ms light flashes while recording the same identified Mauthner cells. Visual PSP amplitudes ranged from 5.3 to 28.2 mV, with a mean of 17.1 mV. Onset latencies ranged from 27.5 to 54.2 ms, averaging 39.4 ms.</a:t>
            </a:r>
            <a:endParaRPr sz="1800">
              <a:solidFill>
                <a:schemeClr val="dk1"/>
              </a:solidFill>
              <a:latin typeface="Calibri"/>
              <a:ea typeface="Calibri"/>
              <a:cs typeface="Calibri"/>
              <a:sym typeface="Calibri"/>
            </a:endParaRPr>
          </a:p>
        </p:txBody>
      </p:sp>
      <p:sp>
        <p:nvSpPr>
          <p:cNvPr id="493" name="Google Shape;493;p35"/>
          <p:cNvSpPr/>
          <p:nvPr/>
        </p:nvSpPr>
        <p:spPr>
          <a:xfrm>
            <a:off x="566886" y="2453134"/>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endParaRPr sz="1800">
              <a:solidFill>
                <a:schemeClr val="dk1"/>
              </a:solidFill>
              <a:latin typeface="Calibri"/>
              <a:ea typeface="Calibri"/>
              <a:cs typeface="Calibri"/>
              <a:sym typeface="Calibri"/>
            </a:endParaRPr>
          </a:p>
        </p:txBody>
      </p:sp>
      <p:sp>
        <p:nvSpPr>
          <p:cNvPr id="494" name="Google Shape;494;p35"/>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late portions of the visual PSPs varied more than their initial rise, consistent with additional network input. These flashes sometimes elicited spikes, but they did not reproduce the full prey-motion stimulus. Strong visual access supports a role in visuomotor processing while leaving recruitment during predictive starts unresolved.</a:t>
            </a:r>
            <a:endParaRPr sz="1800">
              <a:solidFill>
                <a:schemeClr val="dk1"/>
              </a:solidFill>
              <a:latin typeface="Calibri"/>
              <a:ea typeface="Calibri"/>
              <a:cs typeface="Calibri"/>
              <a:sym typeface="Calibri"/>
            </a:endParaRPr>
          </a:p>
        </p:txBody>
      </p:sp>
      <p:pic>
        <p:nvPicPr>
          <p:cNvPr id="495" name="Google Shape;495;p35"/>
          <p:cNvPicPr preferRelativeResize="0"/>
          <p:nvPr/>
        </p:nvPicPr>
        <p:blipFill rotWithShape="1">
          <a:blip r:embed="rId3">
            <a:alphaModFix/>
          </a:blip>
          <a:srcRect b="0" l="0" r="0" t="0"/>
          <a:stretch/>
        </p:blipFill>
        <p:spPr>
          <a:xfrm>
            <a:off x="6595039" y="1280071"/>
            <a:ext cx="4801754" cy="2468761"/>
          </a:xfrm>
          <a:prstGeom prst="rect">
            <a:avLst/>
          </a:prstGeom>
          <a:noFill/>
          <a:ln>
            <a:noFill/>
          </a:ln>
        </p:spPr>
      </p:pic>
      <p:sp>
        <p:nvSpPr>
          <p:cNvPr id="496" name="Google Shape;496;p35"/>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5(A–C). Visual and acoustic PSP amplitude and latency comparisons.</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98" name="Google Shape;498;p3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5(A–E). Published cell reconstructions and soma/dendrite comparisons.</a:t>
            </a:r>
            <a:endParaRPr sz="1800">
              <a:solidFill>
                <a:schemeClr val="dk1"/>
              </a:solidFill>
              <a:latin typeface="Calibri"/>
              <a:ea typeface="Calibri"/>
              <a:cs typeface="Calibri"/>
              <a:sym typeface="Calibri"/>
            </a:endParaRPr>
          </a:p>
        </p:txBody>
      </p:sp>
      <p:sp>
        <p:nvSpPr>
          <p:cNvPr id="499" name="Google Shape;499;p3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0" name="Google Shape;50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501" name="Google Shape;50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Dendritic decay separates visual from acoustic entry sites</a:t>
            </a:r>
            <a:endParaRPr sz="1800">
              <a:solidFill>
                <a:schemeClr val="dk1"/>
              </a:solidFill>
              <a:latin typeface="Calibri"/>
              <a:ea typeface="Calibri"/>
              <a:cs typeface="Calibri"/>
              <a:sym typeface="Calibri"/>
            </a:endParaRPr>
          </a:p>
        </p:txBody>
      </p:sp>
      <p:sp>
        <p:nvSpPr>
          <p:cNvPr id="507" name="Google Shape;507;p36"/>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141–164 µm in the tested cells.</a:t>
            </a:r>
            <a:endParaRPr sz="1800">
              <a:solidFill>
                <a:schemeClr val="dk1"/>
              </a:solidFill>
              <a:latin typeface="Calibri"/>
              <a:ea typeface="Calibri"/>
              <a:cs typeface="Calibri"/>
              <a:sym typeface="Calibri"/>
            </a:endParaRPr>
          </a:p>
        </p:txBody>
      </p:sp>
      <p:sp>
        <p:nvSpPr>
          <p:cNvPr id="508" name="Google Shape;508;p36"/>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endParaRPr sz="1800">
              <a:solidFill>
                <a:schemeClr val="dk1"/>
              </a:solidFill>
              <a:latin typeface="Calibri"/>
              <a:ea typeface="Calibri"/>
              <a:cs typeface="Calibri"/>
              <a:sym typeface="Calibri"/>
            </a:endParaRPr>
          </a:p>
        </p:txBody>
      </p:sp>
      <p:sp>
        <p:nvSpPr>
          <p:cNvPr id="509" name="Google Shape;509;p36"/>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 </a:t>
            </a:r>
            <a:r>
              <a:rPr b="1" i="0" lang="en-US" sz="1500">
                <a:solidFill>
                  <a:srgbClr val="252D35"/>
                </a:solidFill>
                <a:latin typeface="Arial"/>
                <a:ea typeface="Arial"/>
                <a:cs typeface="Arial"/>
                <a:sym typeface="Arial"/>
              </a:rPr>
              <a:t>length constant</a:t>
            </a:r>
            <a:r>
              <a:rPr b="0" i="0" lang="en-US" sz="1500">
                <a:solidFill>
                  <a:srgbClr val="000000"/>
                </a:solidFill>
                <a:latin typeface="Arial"/>
                <a:ea typeface="Arial"/>
                <a:cs typeface="Arial"/>
                <a:sym typeface="Arial"/>
              </a:rPr>
              <a:t> describes the distance over which passive voltage spread is attenuated. The gradients constrain where inputs enter but do not anatomically trace each presynaptic axon. They also do not prove that the visual and acoustic pathways use identical receptors or that these entry sites encode the prey’s predicted landing point.</a:t>
            </a:r>
            <a:endParaRPr sz="1800">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3">
            <a:alphaModFix/>
          </a:blip>
          <a:srcRect b="0" l="0" r="0" t="0"/>
          <a:stretch/>
        </p:blipFill>
        <p:spPr>
          <a:xfrm>
            <a:off x="8531572" y="1280107"/>
            <a:ext cx="928836" cy="2468687"/>
          </a:xfrm>
          <a:prstGeom prst="rect">
            <a:avLst/>
          </a:prstGeom>
          <a:noFill/>
          <a:ln>
            <a:noFill/>
          </a:ln>
        </p:spPr>
      </p:pic>
      <p:sp>
        <p:nvSpPr>
          <p:cNvPr id="511" name="Google Shape;511;p3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6(A–D). Passive dendritic decay and locations of sensory input.</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5(A–E). Published cell reconstructions and soma/dendrite comparisons.</a:t>
            </a:r>
            <a:endParaRPr sz="1800">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516" name="Google Shape;51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Recurrent inhibition limits repeated Mauthner firing</a:t>
            </a:r>
            <a:endParaRPr sz="1800">
              <a:solidFill>
                <a:schemeClr val="dk1"/>
              </a:solidFill>
              <a:latin typeface="Calibri"/>
              <a:ea typeface="Calibri"/>
              <a:cs typeface="Calibri"/>
              <a:sym typeface="Calibri"/>
            </a:endParaRPr>
          </a:p>
        </p:txBody>
      </p:sp>
      <p:sp>
        <p:nvSpPr>
          <p:cNvPr id="522" name="Google Shape;522;p37"/>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Recurrent inhibition</a:t>
            </a:r>
            <a:r>
              <a:rPr b="0" i="0" lang="en-US" sz="1500">
                <a:solidFill>
                  <a:srgbClr val="000000"/>
                </a:solidFill>
                <a:latin typeface="Arial"/>
                <a:ea typeface="Arial"/>
                <a:cs typeface="Arial"/>
                <a:sym typeface="Arial"/>
              </a:rPr>
              <a:t>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endParaRPr sz="1800">
              <a:solidFill>
                <a:schemeClr val="dk1"/>
              </a:solidFill>
              <a:latin typeface="Calibri"/>
              <a:ea typeface="Calibri"/>
              <a:cs typeface="Calibri"/>
              <a:sym typeface="Calibri"/>
            </a:endParaRPr>
          </a:p>
        </p:txBody>
      </p:sp>
      <p:sp>
        <p:nvSpPr>
          <p:cNvPr id="523" name="Google Shape;523;p37"/>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endParaRPr sz="1800">
              <a:solidFill>
                <a:schemeClr val="dk1"/>
              </a:solidFill>
              <a:latin typeface="Calibri"/>
              <a:ea typeface="Calibri"/>
              <a:cs typeface="Calibri"/>
              <a:sym typeface="Calibri"/>
            </a:endParaRPr>
          </a:p>
        </p:txBody>
      </p:sp>
      <p:sp>
        <p:nvSpPr>
          <p:cNvPr id="524" name="Google Shape;524;p37"/>
          <p:cNvSpPr/>
          <p:nvPr/>
        </p:nvSpPr>
        <p:spPr>
          <a:xfrm>
            <a:off x="566886" y="3931146"/>
            <a:ext cx="5453360" cy="164544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Voltage-gated sodium-channel inactivation temporarily reduces the ability to generate another spike; chloride loading can change the polarity of a chloride-dependent synaptic potential. The comparable physiology supports functionally similar inhibitory networks. It does not directly identify every archerfish inhibitory transmitter or prove that the paired-spike experiment reproduces natural predictive-start selection.</a:t>
            </a:r>
            <a:endParaRPr sz="1800">
              <a:solidFill>
                <a:schemeClr val="dk1"/>
              </a:solidFill>
              <a:latin typeface="Calibri"/>
              <a:ea typeface="Calibri"/>
              <a:cs typeface="Calibri"/>
              <a:sym typeface="Calibri"/>
            </a:endParaRPr>
          </a:p>
        </p:txBody>
      </p:sp>
      <p:pic>
        <p:nvPicPr>
          <p:cNvPr id="525" name="Google Shape;525;p37"/>
          <p:cNvPicPr preferRelativeResize="0"/>
          <p:nvPr/>
        </p:nvPicPr>
        <p:blipFill rotWithShape="1">
          <a:blip r:embed="rId3">
            <a:alphaModFix/>
          </a:blip>
          <a:srcRect b="0" l="0" r="0" t="0"/>
          <a:stretch/>
        </p:blipFill>
        <p:spPr>
          <a:xfrm>
            <a:off x="8486775" y="1280071"/>
            <a:ext cx="1018580" cy="2468761"/>
          </a:xfrm>
          <a:prstGeom prst="rect">
            <a:avLst/>
          </a:prstGeom>
          <a:noFill/>
          <a:ln>
            <a:noFill/>
          </a:ln>
        </p:spPr>
      </p:pic>
      <p:sp>
        <p:nvSpPr>
          <p:cNvPr id="526" name="Google Shape;526;p37"/>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7(A–D). Paired-spike tests and chloride-loaded recordings of recurrent inhibition.</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528" name="Google Shape;528;p3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6(A–E). Hindbrain Mauthner cell and giant crossed spinal axons.</a:t>
            </a:r>
            <a:endParaRPr sz="1800">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Sensory input recruits inhibition as well as excitation</a:t>
            </a:r>
            <a:endParaRPr sz="1800">
              <a:solidFill>
                <a:schemeClr val="dk1"/>
              </a:solidFill>
              <a:latin typeface="Calibri"/>
              <a:ea typeface="Calibri"/>
              <a:cs typeface="Calibri"/>
              <a:sym typeface="Calibri"/>
            </a:endParaRPr>
          </a:p>
        </p:txBody>
      </p:sp>
      <p:sp>
        <p:nvSpPr>
          <p:cNvPr id="537" name="Google Shape;537;p38"/>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Feed-forward inhibition</a:t>
            </a:r>
            <a:r>
              <a:rPr b="0" i="0" lang="en-US" sz="1500">
                <a:solidFill>
                  <a:srgbClr val="000000"/>
                </a:solidFill>
                <a:latin typeface="Arial"/>
                <a:ea typeface="Arial"/>
                <a:cs typeface="Arial"/>
                <a:sym typeface="Arial"/>
              </a:rPr>
              <a:t> occurs when sensory input excites inhibitory pathways alongside the pathway to a target neuron. Machnik and colleagues elicited an antidromic spike at different times during a visual or acoustic PSP, using its reduction as a probe of sensory-driven inhibition.</a:t>
            </a:r>
            <a:endParaRPr sz="1800">
              <a:solidFill>
                <a:schemeClr val="dk1"/>
              </a:solidFill>
              <a:latin typeface="Calibri"/>
              <a:ea typeface="Calibri"/>
              <a:cs typeface="Calibri"/>
              <a:sym typeface="Calibri"/>
            </a:endParaRPr>
          </a:p>
        </p:txBody>
      </p:sp>
      <p:sp>
        <p:nvSpPr>
          <p:cNvPr id="538" name="Google Shape;538;p38"/>
          <p:cNvSpPr/>
          <p:nvPr/>
        </p:nvSpPr>
        <p:spPr>
          <a:xfrm>
            <a:off x="566886" y="2377083"/>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endParaRPr sz="1800">
              <a:solidFill>
                <a:schemeClr val="dk1"/>
              </a:solidFill>
              <a:latin typeface="Calibri"/>
              <a:ea typeface="Calibri"/>
              <a:cs typeface="Calibri"/>
              <a:sym typeface="Calibri"/>
            </a:endParaRPr>
          </a:p>
        </p:txBody>
      </p:sp>
      <p:sp>
        <p:nvSpPr>
          <p:cNvPr id="539" name="Google Shape;539;p38"/>
          <p:cNvSpPr/>
          <p:nvPr/>
        </p:nvSpPr>
        <p:spPr>
          <a:xfrm>
            <a:off x="566886" y="3519785"/>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The method measures a functional inhibitory effect during synaptic input, but it does not trace the entire pathway or identify its transmitter receptors. Similar time courses can arise from different underlying circuits. The authors consequently treat a shared inhibitory network as a parsimonious explanation, while acknowledging that the observed equivalence is not an anatomical demonstration.</a:t>
            </a:r>
            <a:endParaRPr sz="1800">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8598694" y="1280118"/>
            <a:ext cx="794445" cy="2468667"/>
          </a:xfrm>
          <a:prstGeom prst="rect">
            <a:avLst/>
          </a:prstGeom>
          <a:noFill/>
          <a:ln>
            <a:noFill/>
          </a:ln>
        </p:spPr>
      </p:pic>
      <p:sp>
        <p:nvSpPr>
          <p:cNvPr id="541" name="Google Shape;541;p3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(2018b), Fig. 8(A–C). Sensory-driven inhibition measured during visual and acoustic PSPs.</a:t>
            </a:r>
            <a:endParaRPr sz="1800">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43" name="Google Shape;543;p3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Machnik et al. (2018a), Fig. 5(A–E). Published cell reconstructions and soma/dendrite comparisons.</a:t>
            </a:r>
            <a:endParaRPr sz="1800">
              <a:solidFill>
                <a:schemeClr val="dk1"/>
              </a:solidFill>
              <a:latin typeface="Calibri"/>
              <a:ea typeface="Calibri"/>
              <a:cs typeface="Calibri"/>
              <a:sym typeface="Calibri"/>
            </a:endParaRPr>
          </a:p>
        </p:txBody>
      </p:sp>
      <p:sp>
        <p:nvSpPr>
          <p:cNvPr id="544" name="Google Shape;544;p3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5" name="Google Shape;54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Machnik et al. (2018b)</a:t>
            </a:r>
            <a:endParaRPr sz="1800">
              <a:solidFill>
                <a:schemeClr val="dk1"/>
              </a:solidFill>
              <a:latin typeface="Calibri"/>
              <a:ea typeface="Calibri"/>
              <a:cs typeface="Calibri"/>
              <a:sym typeface="Calibri"/>
            </a:endParaRPr>
          </a:p>
        </p:txBody>
      </p:sp>
      <p:sp>
        <p:nvSpPr>
          <p:cNvPr id="546" name="Google Shape;54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0" name="Shape 550"/>
        <p:cNvGrpSpPr/>
        <p:nvPr/>
      </p:nvGrpSpPr>
      <p:grpSpPr>
        <a:xfrm>
          <a:off x="0" y="0"/>
          <a:ext cx="0" cy="0"/>
          <a:chOff x="0" y="0"/>
          <a:chExt cx="0" cy="0"/>
        </a:xfrm>
      </p:grpSpPr>
      <p:sp>
        <p:nvSpPr>
          <p:cNvPr id="551" name="Google Shape;55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Airflow perturbation tests adaptation of shooting aim</a:t>
            </a:r>
            <a:endParaRPr sz="1800">
              <a:solidFill>
                <a:schemeClr val="dk1"/>
              </a:solidFill>
              <a:latin typeface="Calibri"/>
              <a:ea typeface="Calibri"/>
              <a:cs typeface="Calibri"/>
              <a:sym typeface="Calibri"/>
            </a:endParaRPr>
          </a:p>
        </p:txBody>
      </p:sp>
      <p:sp>
        <p:nvSpPr>
          <p:cNvPr id="552" name="Google Shape;552;p39"/>
          <p:cNvSpPr/>
          <p:nvPr/>
        </p:nvSpPr>
        <p:spPr>
          <a:xfrm>
            <a:off x="566886" y="1234380"/>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Volotsky and colleagues trained </a:t>
            </a:r>
            <a:r>
              <a:rPr b="0" i="1" lang="en-US" sz="1600">
                <a:solidFill>
                  <a:srgbClr val="000000"/>
                </a:solidFill>
                <a:latin typeface="Arial"/>
                <a:ea typeface="Arial"/>
                <a:cs typeface="Arial"/>
                <a:sym typeface="Arial"/>
              </a:rPr>
              <a:t>Toxotes chatareus</a:t>
            </a:r>
            <a:r>
              <a:rPr b="0" i="0" lang="en-US" sz="1600">
                <a:solidFill>
                  <a:srgbClr val="000000"/>
                </a:solidFill>
                <a:latin typeface="Arial"/>
                <a:ea typeface="Arial"/>
                <a:cs typeface="Arial"/>
                <a:sym typeface="Arial"/>
              </a:rPr>
              <a:t> to shoot at an aerial target and introduced horizontal airflow above the water. The air deflected the jet while the fish remained in water, creating an aiming error without moving the visible target itself.</a:t>
            </a:r>
            <a:endParaRPr sz="1800">
              <a:solidFill>
                <a:schemeClr val="dk1"/>
              </a:solidFill>
              <a:latin typeface="Calibri"/>
              <a:ea typeface="Calibri"/>
              <a:cs typeface="Calibri"/>
              <a:sym typeface="Calibri"/>
            </a:endParaRPr>
          </a:p>
        </p:txBody>
      </p:sp>
      <p:sp>
        <p:nvSpPr>
          <p:cNvPr id="553" name="Google Shape;553;p39"/>
          <p:cNvSpPr/>
          <p:nvPr/>
        </p:nvSpPr>
        <p:spPr>
          <a:xfrm>
            <a:off x="566886" y="2453134"/>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endParaRPr sz="1800">
              <a:solidFill>
                <a:schemeClr val="dk1"/>
              </a:solidFill>
              <a:latin typeface="Calibri"/>
              <a:ea typeface="Calibri"/>
              <a:cs typeface="Calibri"/>
              <a:sym typeface="Calibri"/>
            </a:endParaRPr>
          </a:p>
        </p:txBody>
      </p:sp>
      <p:sp>
        <p:nvSpPr>
          <p:cNvPr id="554" name="Google Shape;554;p39"/>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a:solidFill>
                  <a:srgbClr val="252D35"/>
                </a:solidFill>
                <a:latin typeface="Arial"/>
                <a:ea typeface="Arial"/>
                <a:cs typeface="Arial"/>
                <a:sym typeface="Arial"/>
              </a:rPr>
              <a:t>Motor adaptation</a:t>
            </a:r>
            <a:r>
              <a:rPr b="0" i="0" lang="en-US" sz="1600">
                <a:solidFill>
                  <a:srgbClr val="000000"/>
                </a:solidFill>
                <a:latin typeface="Arial"/>
                <a:ea typeface="Arial"/>
                <a:cs typeface="Arial"/>
                <a:sym typeface="Arial"/>
              </a:rPr>
              <a:t> is adjustment of a movement in response to systematic errors caused by changed conditions. The measured correction supports flexible calibration of the shooting action. It does not identify the learning circuit or establish that fish directly sensed airflow; the apparatus was designed to keep the blower outside their visual field.</a:t>
            </a:r>
            <a:endParaRPr sz="1800">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3">
            <a:alphaModFix/>
          </a:blip>
          <a:srcRect b="0" l="0" r="0" t="0"/>
          <a:stretch/>
        </p:blipFill>
        <p:spPr>
          <a:xfrm>
            <a:off x="6367039" y="1280071"/>
            <a:ext cx="5257753" cy="3308598"/>
          </a:xfrm>
          <a:prstGeom prst="rect">
            <a:avLst/>
          </a:prstGeom>
          <a:noFill/>
          <a:ln>
            <a:noFill/>
          </a:ln>
        </p:spPr>
      </p:pic>
      <p:sp>
        <p:nvSpPr>
          <p:cNvPr id="556" name="Google Shape;556;p39"/>
          <p:cNvSpPr/>
          <p:nvPr/>
        </p:nvSpPr>
        <p:spPr>
          <a:xfrm>
            <a:off x="6367016" y="468019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Volotsky et al. (2023), Fig. 2(A–B). Original airflow apparatus and photographed water jet.</a:t>
            </a:r>
            <a:endParaRPr sz="1800">
              <a:solidFill>
                <a:schemeClr val="dk1"/>
              </a:solidFill>
              <a:latin typeface="Calibri"/>
              <a:ea typeface="Calibri"/>
              <a:cs typeface="Calibri"/>
              <a:sym typeface="Calibri"/>
            </a:endParaRPr>
          </a:p>
        </p:txBody>
      </p:sp>
      <p:sp>
        <p:nvSpPr>
          <p:cNvPr id="557" name="Google Shape;557;p3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Volotsky et al. (2023)</a:t>
            </a:r>
            <a:endParaRPr sz="1800">
              <a:solidFill>
                <a:schemeClr val="dk1"/>
              </a:solidFill>
              <a:latin typeface="Calibri"/>
              <a:ea typeface="Calibri"/>
              <a:cs typeface="Calibri"/>
              <a:sym typeface="Calibri"/>
            </a:endParaRPr>
          </a:p>
        </p:txBody>
      </p:sp>
      <p:sp>
        <p:nvSpPr>
          <p:cNvPr id="559" name="Google Shape;55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Opposite washout errors reveal retained compensation</a:t>
            </a:r>
            <a:endParaRPr sz="1800">
              <a:solidFill>
                <a:schemeClr val="dk1"/>
              </a:solidFill>
              <a:latin typeface="Calibri"/>
              <a:ea typeface="Calibri"/>
              <a:cs typeface="Calibri"/>
              <a:sym typeface="Calibri"/>
            </a:endParaRPr>
          </a:p>
        </p:txBody>
      </p:sp>
      <p:sp>
        <p:nvSpPr>
          <p:cNvPr id="565" name="Google Shape;565;p40"/>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After the airflow perturbation ended, Volotsky and colleagues observed errors in the opposite direction. These </a:t>
            </a:r>
            <a:r>
              <a:rPr b="1" i="0" lang="en-US" sz="1600">
                <a:solidFill>
                  <a:srgbClr val="252D35"/>
                </a:solidFill>
                <a:latin typeface="Arial"/>
                <a:ea typeface="Arial"/>
                <a:cs typeface="Arial"/>
                <a:sym typeface="Arial"/>
              </a:rPr>
              <a:t>aftereffects</a:t>
            </a:r>
            <a:r>
              <a:rPr b="0" i="0" lang="en-US" sz="1600">
                <a:solidFill>
                  <a:srgbClr val="000000"/>
                </a:solidFill>
                <a:latin typeface="Arial"/>
                <a:ea typeface="Arial"/>
                <a:cs typeface="Arial"/>
                <a:sym typeface="Arial"/>
              </a:rPr>
              <a:t> declined over several subsequent shots. A compensation learned during the perturbation therefore initially persisted when the physical deflection was removed.</a:t>
            </a:r>
            <a:endParaRPr sz="1800">
              <a:solidFill>
                <a:schemeClr val="dk1"/>
              </a:solidFill>
              <a:latin typeface="Calibri"/>
              <a:ea typeface="Calibri"/>
              <a:cs typeface="Calibri"/>
              <a:sym typeface="Calibri"/>
            </a:endParaRPr>
          </a:p>
        </p:txBody>
      </p:sp>
      <p:sp>
        <p:nvSpPr>
          <p:cNvPr id="566" name="Google Shape;566;p40"/>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endParaRPr sz="1800">
              <a:solidFill>
                <a:schemeClr val="dk1"/>
              </a:solidFill>
              <a:latin typeface="Calibri"/>
              <a:ea typeface="Calibri"/>
              <a:cs typeface="Calibri"/>
              <a:sym typeface="Calibri"/>
            </a:endParaRPr>
          </a:p>
        </p:txBody>
      </p:sp>
      <p:sp>
        <p:nvSpPr>
          <p:cNvPr id="567" name="Google Shape;567;p40"/>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result supports altered motor commands anticipating a recurring perturbation. It does not establish a specific internal forward model or identify its neural location. The authors also could not make a definite claim about savings across sessions because the data were too noisy to resolve that additional learning effect.</a:t>
            </a:r>
            <a:endParaRPr sz="1800">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3">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Volotsky et al. (2023), Fig. 3(C–F). Trial-by-trial error reduction and aftereffects in both airflow directions.</a:t>
            </a:r>
            <a:endParaRPr sz="1800">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Volotsky et al. (2023)</a:t>
            </a:r>
            <a:endParaRPr sz="1800">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Reversing body direction reveals an egocentric adjustment</a:t>
            </a:r>
            <a:endParaRPr sz="1800">
              <a:solidFill>
                <a:schemeClr val="dk1"/>
              </a:solidFill>
              <a:latin typeface="Calibri"/>
              <a:ea typeface="Calibri"/>
              <a:cs typeface="Calibri"/>
              <a:sym typeface="Calibri"/>
            </a:endParaRPr>
          </a:p>
        </p:txBody>
      </p:sp>
      <p:sp>
        <p:nvSpPr>
          <p:cNvPr id="578" name="Google Shape;578;p41"/>
          <p:cNvSpPr/>
          <p:nvPr/>
        </p:nvSpPr>
        <p:spPr>
          <a:xfrm>
            <a:off x="566886" y="1234380"/>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An </a:t>
            </a:r>
            <a:r>
              <a:rPr b="1" i="0" lang="en-US" sz="1500">
                <a:solidFill>
                  <a:srgbClr val="252D35"/>
                </a:solidFill>
                <a:latin typeface="Arial"/>
                <a:ea typeface="Arial"/>
                <a:cs typeface="Arial"/>
                <a:sym typeface="Arial"/>
              </a:rPr>
              <a:t>egocentric reference frame</a:t>
            </a:r>
            <a:r>
              <a:rPr b="0" i="0" lang="en-US" sz="1500">
                <a:solidFill>
                  <a:srgbClr val="000000"/>
                </a:solidFill>
                <a:latin typeface="Arial"/>
                <a:ea typeface="Arial"/>
                <a:cs typeface="Arial"/>
                <a:sym typeface="Arial"/>
              </a:rPr>
              <a:t> expresses a relation relative to the animal’s body; an allocentric frame expresses it relative to the external environment. Volotsky and colleagues rotated the shooting access so a trained fish changed its body orientation while airflow direction remained fixed in the tank.</a:t>
            </a:r>
            <a:endParaRPr sz="1800">
              <a:solidFill>
                <a:schemeClr val="dk1"/>
              </a:solidFill>
              <a:latin typeface="Calibri"/>
              <a:ea typeface="Calibri"/>
              <a:cs typeface="Calibri"/>
              <a:sym typeface="Calibri"/>
            </a:endParaRPr>
          </a:p>
        </p:txBody>
      </p:sp>
      <p:sp>
        <p:nvSpPr>
          <p:cNvPr id="579" name="Google Shape;579;p41"/>
          <p:cNvSpPr/>
          <p:nvPr/>
        </p:nvSpPr>
        <p:spPr>
          <a:xfrm>
            <a:off x="566886" y="258276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endParaRPr sz="1800">
              <a:solidFill>
                <a:schemeClr val="dk1"/>
              </a:solidFill>
              <a:latin typeface="Calibri"/>
              <a:ea typeface="Calibri"/>
              <a:cs typeface="Calibri"/>
              <a:sym typeface="Calibri"/>
            </a:endParaRPr>
          </a:p>
        </p:txBody>
      </p:sp>
      <p:sp>
        <p:nvSpPr>
          <p:cNvPr id="580" name="Google Shape;580;p41"/>
          <p:cNvSpPr/>
          <p:nvPr/>
        </p:nvSpPr>
        <p:spPr>
          <a:xfrm>
            <a:off x="566886" y="393114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manipulation supports body-centered adaptation under conditions lacking direct cues to airflow direction. It does not show that every component of archerfish aiming is egocentric, nor that fish cannot learn external spatial relations. The result specifically constrains how an acquired shooting compensation transfers when the body–disturbance relation changes.</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7610977" y="1280071"/>
            <a:ext cx="2769878" cy="4297561"/>
          </a:xfrm>
          <a:prstGeom prst="rect">
            <a:avLst/>
          </a:prstGeom>
          <a:noFill/>
          <a:ln>
            <a:noFill/>
          </a:ln>
        </p:spPr>
      </p:pic>
      <p:sp>
        <p:nvSpPr>
          <p:cNvPr id="582" name="Google Shape;582;p4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Volotsky et al. (2023), Fig. 5(A–E). Body-direction reversal tests of the adaptation reference frame.</a:t>
            </a:r>
            <a:endParaRPr sz="1800">
              <a:solidFill>
                <a:schemeClr val="dk1"/>
              </a:solidFill>
              <a:latin typeface="Calibri"/>
              <a:ea typeface="Calibri"/>
              <a:cs typeface="Calibri"/>
              <a:sym typeface="Calibri"/>
            </a:endParaRPr>
          </a:p>
        </p:txBody>
      </p:sp>
      <p:sp>
        <p:nvSpPr>
          <p:cNvPr id="583" name="Google Shape;583;p4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Volotsky et al. (2023)</a:t>
            </a:r>
            <a:endParaRPr sz="1800">
              <a:solidFill>
                <a:schemeClr val="dk1"/>
              </a:solidFill>
              <a:latin typeface="Calibri"/>
              <a:ea typeface="Calibri"/>
              <a:cs typeface="Calibri"/>
              <a:sym typeface="Calibri"/>
            </a:endParaRPr>
          </a:p>
        </p:txBody>
      </p:sp>
      <p:sp>
        <p:nvSpPr>
          <p:cNvPr id="585" name="Google Shape;58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Predictive starts can learn a different interception rule</a:t>
            </a:r>
            <a:endParaRPr sz="1800">
              <a:solidFill>
                <a:schemeClr val="dk1"/>
              </a:solidFill>
              <a:latin typeface="Calibri"/>
              <a:ea typeface="Calibri"/>
              <a:cs typeface="Calibri"/>
              <a:sym typeface="Calibri"/>
            </a:endParaRPr>
          </a:p>
        </p:txBody>
      </p:sp>
      <p:sp>
        <p:nvSpPr>
          <p:cNvPr id="591" name="Google Shape;591;p42"/>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endParaRPr sz="1800">
              <a:solidFill>
                <a:schemeClr val="dk1"/>
              </a:solidFill>
              <a:latin typeface="Calibri"/>
              <a:ea typeface="Calibri"/>
              <a:cs typeface="Calibri"/>
              <a:sym typeface="Calibri"/>
            </a:endParaRPr>
          </a:p>
        </p:txBody>
      </p:sp>
      <p:sp>
        <p:nvSpPr>
          <p:cNvPr id="592" name="Google Shape;592;p42"/>
          <p:cNvSpPr/>
          <p:nvPr/>
        </p:nvSpPr>
        <p:spPr>
          <a:xfrm>
            <a:off x="566886" y="2672507"/>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endParaRPr sz="1800">
              <a:solidFill>
                <a:schemeClr val="dk1"/>
              </a:solidFill>
              <a:latin typeface="Calibri"/>
              <a:ea typeface="Calibri"/>
              <a:cs typeface="Calibri"/>
              <a:sym typeface="Calibri"/>
            </a:endParaRPr>
          </a:p>
        </p:txBody>
      </p:sp>
      <p:sp>
        <p:nvSpPr>
          <p:cNvPr id="593" name="Google Shape;593;p42"/>
          <p:cNvSpPr/>
          <p:nvPr/>
        </p:nvSpPr>
        <p:spPr>
          <a:xfrm>
            <a:off x="566886" y="4110633"/>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The response remained a rapid predictive start rather than being replaced by a slow approach. This establishes plasticity in the relation between early motion and chosen destination. It does not show where the learned rule is stored, and it does not prove that the animal represents the rule in a human verbal or mathematical form.</a:t>
            </a:r>
            <a:endParaRPr sz="1800">
              <a:solidFill>
                <a:schemeClr val="dk1"/>
              </a:solidFill>
              <a:latin typeface="Calibri"/>
              <a:ea typeface="Calibri"/>
              <a:cs typeface="Calibri"/>
              <a:sym typeface="Calibri"/>
            </a:endParaRPr>
          </a:p>
        </p:txBody>
      </p:sp>
      <p:pic>
        <p:nvPicPr>
          <p:cNvPr id="594" name="Google Shape;594;p42"/>
          <p:cNvPicPr preferRelativeResize="0"/>
          <p:nvPr/>
        </p:nvPicPr>
        <p:blipFill rotWithShape="1">
          <a:blip r:embed="rId3">
            <a:alphaModFix/>
          </a:blip>
          <a:srcRect b="0" l="0" r="0" t="0"/>
          <a:stretch/>
        </p:blipFill>
        <p:spPr>
          <a:xfrm>
            <a:off x="6732435" y="1280071"/>
            <a:ext cx="4527111" cy="4297561"/>
          </a:xfrm>
          <a:prstGeom prst="rect">
            <a:avLst/>
          </a:prstGeom>
          <a:noFill/>
          <a:ln>
            <a:noFill/>
          </a:ln>
        </p:spPr>
      </p:pic>
      <p:sp>
        <p:nvSpPr>
          <p:cNvPr id="595" name="Google Shape;595;p4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Krause et al. (2024), Fig. 4(A–K). Original deflection training, transfer tests and latency–accuracy results.</a:t>
            </a:r>
            <a:endParaRPr sz="1800">
              <a:solidFill>
                <a:schemeClr val="dk1"/>
              </a:solidFill>
              <a:latin typeface="Calibri"/>
              <a:ea typeface="Calibri"/>
              <a:cs typeface="Calibri"/>
              <a:sym typeface="Calibri"/>
            </a:endParaRPr>
          </a:p>
        </p:txBody>
      </p:sp>
      <p:sp>
        <p:nvSpPr>
          <p:cNvPr id="596" name="Google Shape;596;p4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7" name="Google Shape;59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Krause et al. (2024)</a:t>
            </a:r>
            <a:endParaRPr sz="1800">
              <a:solidFill>
                <a:schemeClr val="dk1"/>
              </a:solidFill>
              <a:latin typeface="Calibri"/>
              <a:ea typeface="Calibri"/>
              <a:cs typeface="Calibri"/>
              <a:sym typeface="Calibri"/>
            </a:endParaRPr>
          </a:p>
        </p:txBody>
      </p:sp>
      <p:sp>
        <p:nvSpPr>
          <p:cNvPr id="598" name="Google Shape;59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2" name="Shape 602"/>
        <p:cNvGrpSpPr/>
        <p:nvPr/>
      </p:nvGrpSpPr>
      <p:grpSpPr>
        <a:xfrm>
          <a:off x="0" y="0"/>
          <a:ext cx="0" cy="0"/>
          <a:chOff x="0" y="0"/>
          <a:chExt cx="0" cy="0"/>
        </a:xfrm>
      </p:grpSpPr>
      <p:sp>
        <p:nvSpPr>
          <p:cNvPr id="603" name="Google Shape;603;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The learned rule transfers to untrained input combinations</a:t>
            </a:r>
            <a:endParaRPr sz="1800">
              <a:solidFill>
                <a:schemeClr val="dk1"/>
              </a:solidFill>
              <a:latin typeface="Calibri"/>
              <a:ea typeface="Calibri"/>
              <a:cs typeface="Calibri"/>
              <a:sym typeface="Calibri"/>
            </a:endParaRPr>
          </a:p>
        </p:txBody>
      </p:sp>
      <p:sp>
        <p:nvSpPr>
          <p:cNvPr id="604" name="Google Shape;604;p43"/>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Krause and colleagues tested whether learning only replaced familiar stimulus–response associations. Fish trained at one height were challenged at different heights where the old training-height response and the new rule predicted different destinations.</a:t>
            </a:r>
            <a:endParaRPr sz="1800">
              <a:solidFill>
                <a:schemeClr val="dk1"/>
              </a:solidFill>
              <a:latin typeface="Calibri"/>
              <a:ea typeface="Calibri"/>
              <a:cs typeface="Calibri"/>
              <a:sym typeface="Calibri"/>
            </a:endParaRPr>
          </a:p>
        </p:txBody>
      </p:sp>
      <p:sp>
        <p:nvSpPr>
          <p:cNvPr id="605" name="Google Shape;605;p43"/>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endParaRPr sz="1800">
              <a:solidFill>
                <a:schemeClr val="dk1"/>
              </a:solidFill>
              <a:latin typeface="Calibri"/>
              <a:ea typeface="Calibri"/>
              <a:cs typeface="Calibri"/>
              <a:sym typeface="Calibri"/>
            </a:endParaRPr>
          </a:p>
        </p:txBody>
      </p:sp>
      <p:sp>
        <p:nvSpPr>
          <p:cNvPr id="606" name="Google Shape;606;p43"/>
          <p:cNvSpPr/>
          <p:nvPr/>
        </p:nvSpPr>
        <p:spPr>
          <a:xfrm>
            <a:off x="566886" y="3725466"/>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Immediate transfer supports a more general representation than a lookup list restricted to trained cases. It does not uniquely identify the algorithm or its neural substrate. The interpretation depends on comparing competing predicted destinations in these controlled transfer trials, rather than equating any successful catch with abstract reasoning.</a:t>
            </a:r>
            <a:endParaRPr sz="1800">
              <a:solidFill>
                <a:schemeClr val="dk1"/>
              </a:solidFill>
              <a:latin typeface="Calibri"/>
              <a:ea typeface="Calibri"/>
              <a:cs typeface="Calibri"/>
              <a:sym typeface="Calibri"/>
            </a:endParaRPr>
          </a:p>
        </p:txBody>
      </p:sp>
      <p:pic>
        <p:nvPicPr>
          <p:cNvPr id="607" name="Google Shape;607;p43"/>
          <p:cNvPicPr preferRelativeResize="0"/>
          <p:nvPr/>
        </p:nvPicPr>
        <p:blipFill rotWithShape="1">
          <a:blip r:embed="rId3">
            <a:alphaModFix/>
          </a:blip>
          <a:srcRect b="0" l="0" r="0" t="0"/>
          <a:stretch/>
        </p:blipFill>
        <p:spPr>
          <a:xfrm>
            <a:off x="7613006" y="1280071"/>
            <a:ext cx="2765671" cy="4297561"/>
          </a:xfrm>
          <a:prstGeom prst="rect">
            <a:avLst/>
          </a:prstGeom>
          <a:noFill/>
          <a:ln>
            <a:noFill/>
          </a:ln>
        </p:spPr>
      </p:pic>
      <p:sp>
        <p:nvSpPr>
          <p:cNvPr id="608" name="Google Shape;608;p43"/>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Krause et al. (2024), Fig. 5(A–G). Transfer to untrained speed, angle, size and height.</a:t>
            </a:r>
            <a:endParaRPr sz="1800">
              <a:solidFill>
                <a:schemeClr val="dk1"/>
              </a:solidFill>
              <a:latin typeface="Calibri"/>
              <a:ea typeface="Calibri"/>
              <a:cs typeface="Calibri"/>
              <a:sym typeface="Calibri"/>
            </a:endParaRPr>
          </a:p>
        </p:txBody>
      </p:sp>
      <p:sp>
        <p:nvSpPr>
          <p:cNvPr id="609" name="Google Shape;609;p4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0" name="Google Shape;61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Krause et al. (2024)</a:t>
            </a:r>
            <a:endParaRPr sz="1800">
              <a:solidFill>
                <a:schemeClr val="dk1"/>
              </a:solidFill>
              <a:latin typeface="Calibri"/>
              <a:ea typeface="Calibri"/>
              <a:cs typeface="Calibri"/>
              <a:sym typeface="Calibri"/>
            </a:endParaRPr>
          </a:p>
        </p:txBody>
      </p:sp>
      <p:sp>
        <p:nvSpPr>
          <p:cNvPr id="611" name="Google Shape;61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5" name="Shape 615"/>
        <p:cNvGrpSpPr/>
        <p:nvPr/>
      </p:nvGrpSpPr>
      <p:grpSpPr>
        <a:xfrm>
          <a:off x="0" y="0"/>
          <a:ext cx="0" cy="0"/>
          <a:chOff x="0" y="0"/>
          <a:chExt cx="0" cy="0"/>
        </a:xfrm>
      </p:grpSpPr>
      <p:sp>
        <p:nvSpPr>
          <p:cNvPr id="616" name="Google Shape;61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Object shape selects between two interception rules</a:t>
            </a:r>
            <a:endParaRPr sz="1800">
              <a:solidFill>
                <a:schemeClr val="dk1"/>
              </a:solidFill>
              <a:latin typeface="Calibri"/>
              <a:ea typeface="Calibri"/>
              <a:cs typeface="Calibri"/>
              <a:sym typeface="Calibri"/>
            </a:endParaRPr>
          </a:p>
        </p:txBody>
      </p:sp>
      <p:sp>
        <p:nvSpPr>
          <p:cNvPr id="617" name="Google Shape;617;p44"/>
          <p:cNvSpPr/>
          <p:nvPr/>
        </p:nvSpPr>
        <p:spPr>
          <a:xfrm>
            <a:off x="566886" y="1234380"/>
            <a:ext cx="545336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endParaRPr sz="1800">
              <a:solidFill>
                <a:schemeClr val="dk1"/>
              </a:solidFill>
              <a:latin typeface="Calibri"/>
              <a:ea typeface="Calibri"/>
              <a:cs typeface="Calibri"/>
              <a:sym typeface="Calibri"/>
            </a:endParaRPr>
          </a:p>
        </p:txBody>
      </p:sp>
      <p:sp>
        <p:nvSpPr>
          <p:cNvPr id="618" name="Google Shape;618;p44"/>
          <p:cNvSpPr/>
          <p:nvPr/>
        </p:nvSpPr>
        <p:spPr>
          <a:xfrm>
            <a:off x="566886" y="2672507"/>
            <a:ext cx="545336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endParaRPr sz="1800">
              <a:solidFill>
                <a:schemeClr val="dk1"/>
              </a:solidFill>
              <a:latin typeface="Calibri"/>
              <a:ea typeface="Calibri"/>
              <a:cs typeface="Calibri"/>
              <a:sym typeface="Calibri"/>
            </a:endParaRPr>
          </a:p>
        </p:txBody>
      </p:sp>
      <p:sp>
        <p:nvSpPr>
          <p:cNvPr id="619" name="Google Shape;619;p44"/>
          <p:cNvSpPr/>
          <p:nvPr/>
        </p:nvSpPr>
        <p:spPr>
          <a:xfrm>
            <a:off x="566886" y="3891260"/>
            <a:ext cx="5453360" cy="153560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600"/>
              <a:buFont typeface="Arial"/>
              <a:buNone/>
            </a:pPr>
            <a:r>
              <a:rPr b="0" i="0" lang="en-US" sz="1600">
                <a:solidFill>
                  <a:srgbClr val="000000"/>
                </a:solidFill>
                <a:latin typeface="Arial"/>
                <a:ea typeface="Arial"/>
                <a:cs typeface="Arial"/>
                <a:sym typeface="Arial"/>
              </a:rPr>
              <a:t>This is stronger evidence than learning one fixed turn toward each shape, because required turns also depended on prey speed, direction, height and fish position. Nevertheless, shape-dependent performance does not identify the cells that recognize the object or the synapses that switch the motor computation. Those circuit mechanisms remain to be determined.</a:t>
            </a:r>
            <a:endParaRPr sz="1800">
              <a:solidFill>
                <a:schemeClr val="dk1"/>
              </a:solidFill>
              <a:latin typeface="Calibri"/>
              <a:ea typeface="Calibri"/>
              <a:cs typeface="Calibri"/>
              <a:sym typeface="Calibri"/>
            </a:endParaRPr>
          </a:p>
        </p:txBody>
      </p:sp>
      <p:pic>
        <p:nvPicPr>
          <p:cNvPr id="620" name="Google Shape;620;p44"/>
          <p:cNvPicPr preferRelativeResize="0"/>
          <p:nvPr/>
        </p:nvPicPr>
        <p:blipFill rotWithShape="1">
          <a:blip r:embed="rId3">
            <a:alphaModFix/>
          </a:blip>
          <a:srcRect b="0" l="0" r="0" t="0"/>
          <a:stretch/>
        </p:blipFill>
        <p:spPr>
          <a:xfrm>
            <a:off x="7721088" y="1280071"/>
            <a:ext cx="2549954" cy="4297561"/>
          </a:xfrm>
          <a:prstGeom prst="rect">
            <a:avLst/>
          </a:prstGeom>
          <a:noFill/>
          <a:ln>
            <a:noFill/>
          </a:ln>
        </p:spPr>
      </p:pic>
      <p:sp>
        <p:nvSpPr>
          <p:cNvPr id="621" name="Google Shape;621;p4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Krause et al. (2024), Fig. 6(A–J). Shape cues select between learned and ballistic interception rules.</a:t>
            </a:r>
            <a:endParaRPr sz="1800">
              <a:solidFill>
                <a:schemeClr val="dk1"/>
              </a:solidFill>
              <a:latin typeface="Calibri"/>
              <a:ea typeface="Calibri"/>
              <a:cs typeface="Calibri"/>
              <a:sym typeface="Calibri"/>
            </a:endParaRPr>
          </a:p>
        </p:txBody>
      </p:sp>
      <p:sp>
        <p:nvSpPr>
          <p:cNvPr id="622" name="Google Shape;622;p4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3" name="Google Shape;62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Krause et al. (2024)</a:t>
            </a:r>
            <a:endParaRPr sz="1800">
              <a:solidFill>
                <a:schemeClr val="dk1"/>
              </a:solidFill>
              <a:latin typeface="Calibri"/>
              <a:ea typeface="Calibri"/>
              <a:cs typeface="Calibri"/>
              <a:sym typeface="Calibri"/>
            </a:endParaRPr>
          </a:p>
        </p:txBody>
      </p:sp>
      <p:sp>
        <p:nvSpPr>
          <p:cNvPr id="624" name="Google Shape;62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8" name="Shape 628"/>
        <p:cNvGrpSpPr/>
        <p:nvPr/>
      </p:nvGrpSpPr>
      <p:grpSpPr>
        <a:xfrm>
          <a:off x="0" y="0"/>
          <a:ext cx="0" cy="0"/>
          <a:chOff x="0" y="0"/>
          <a:chExt cx="0" cy="0"/>
        </a:xfrm>
      </p:grpSpPr>
      <p:sp>
        <p:nvSpPr>
          <p:cNvPr id="629" name="Google Shape;62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A late shape cue can still select the correct rule</a:t>
            </a:r>
            <a:endParaRPr sz="1800">
              <a:solidFill>
                <a:schemeClr val="dk1"/>
              </a:solidFill>
              <a:latin typeface="Calibri"/>
              <a:ea typeface="Calibri"/>
              <a:cs typeface="Calibri"/>
              <a:sym typeface="Calibri"/>
            </a:endParaRPr>
          </a:p>
        </p:txBody>
      </p:sp>
      <p:sp>
        <p:nvSpPr>
          <p:cNvPr id="630" name="Google Shape;630;p45"/>
          <p:cNvSpPr/>
          <p:nvPr/>
        </p:nvSpPr>
        <p:spPr>
          <a:xfrm>
            <a:off x="566886" y="1234380"/>
            <a:ext cx="5453360"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Krause and colleagues tested whether a shape cue had to appear before prey motion to prepare the appropriate decision. A neutral cross remained stationary for 2 seconds, then changed into the relevant disk or triangle exactly when movement began.</a:t>
            </a:r>
            <a:endParaRPr sz="1800">
              <a:solidFill>
                <a:schemeClr val="dk1"/>
              </a:solidFill>
              <a:latin typeface="Calibri"/>
              <a:ea typeface="Calibri"/>
              <a:cs typeface="Calibri"/>
              <a:sym typeface="Calibri"/>
            </a:endParaRPr>
          </a:p>
        </p:txBody>
      </p:sp>
      <p:sp>
        <p:nvSpPr>
          <p:cNvPr id="631" name="Google Shape;631;p45"/>
          <p:cNvSpPr/>
          <p:nvPr/>
        </p:nvSpPr>
        <p:spPr>
          <a:xfrm>
            <a:off x="566886" y="2377083"/>
            <a:ext cx="545336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endParaRPr sz="1800">
              <a:solidFill>
                <a:schemeClr val="dk1"/>
              </a:solidFill>
              <a:latin typeface="Calibri"/>
              <a:ea typeface="Calibri"/>
              <a:cs typeface="Calibri"/>
              <a:sym typeface="Calibri"/>
            </a:endParaRPr>
          </a:p>
        </p:txBody>
      </p:sp>
      <p:sp>
        <p:nvSpPr>
          <p:cNvPr id="632" name="Google Shape;632;p45"/>
          <p:cNvSpPr/>
          <p:nvPr/>
        </p:nvSpPr>
        <p:spPr>
          <a:xfrm>
            <a:off x="566886" y="3725466"/>
            <a:ext cx="545336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9343B"/>
              </a:buClr>
              <a:buSzPts val="1500"/>
              <a:buFont typeface="Arial"/>
              <a:buNone/>
            </a:pPr>
            <a:r>
              <a:rPr b="0" i="0" lang="en-US" sz="1500">
                <a:solidFill>
                  <a:srgbClr val="000000"/>
                </a:solidFill>
                <a:latin typeface="Arial"/>
                <a:ea typeface="Arial"/>
                <a:cs typeface="Arial"/>
                <a:sym typeface="Arial"/>
              </a:rPr>
              <a:t>This finding adds conditional flexibility to a response made in less than 100 ms under the tested conditions. It does not establish that rapid choice is unlimited or independent of training. Together with the transfer tests, it constrains simplistic accounts of a fixed reflex while leaving the underlying visual recognition and command-selection circuitry unresolved.</a:t>
            </a:r>
            <a:endParaRPr sz="1800">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3">
            <a:alphaModFix/>
          </a:blip>
          <a:srcRect b="0" l="0" r="0" t="0"/>
          <a:stretch/>
        </p:blipFill>
        <p:spPr>
          <a:xfrm>
            <a:off x="6367079" y="1280071"/>
            <a:ext cx="5257674" cy="3474393"/>
          </a:xfrm>
          <a:prstGeom prst="rect">
            <a:avLst/>
          </a:prstGeom>
          <a:noFill/>
          <a:ln>
            <a:noFill/>
          </a:ln>
        </p:spPr>
      </p:pic>
      <p:sp>
        <p:nvSpPr>
          <p:cNvPr id="634" name="Google Shape;634;p45"/>
          <p:cNvSpPr/>
          <p:nvPr/>
        </p:nvSpPr>
        <p:spPr>
          <a:xfrm>
            <a:off x="6367016" y="48459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a:solidFill>
                  <a:srgbClr val="000000"/>
                </a:solidFill>
                <a:latin typeface="Arial"/>
                <a:ea typeface="Arial"/>
                <a:cs typeface="Arial"/>
                <a:sym typeface="Arial"/>
              </a:rPr>
              <a:t>Krause et al. (2024), Fig. 7(A–E). Rule selection when an object changes appearance after motion onset.</a:t>
            </a:r>
            <a:endParaRPr sz="1800">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Krause et al. (2024)</a:t>
            </a:r>
            <a:endParaRPr sz="1800">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a:solidFill>
                  <a:srgbClr val="274E1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a:solidFill>
                  <a:srgbClr val="252D35"/>
                </a:solidFill>
                <a:latin typeface="Arial"/>
                <a:ea typeface="Arial"/>
                <a:cs typeface="Arial"/>
                <a:sym typeface="Arial"/>
              </a:rPr>
              <a:t>Prediction targets future impact</a:t>
            </a:r>
            <a:r>
              <a:rPr b="0" i="0" lang="en-US" sz="1600">
                <a:solidFill>
                  <a:srgbClr val="000000"/>
                </a:solidFill>
                <a:latin typeface="Arial"/>
                <a:ea typeface="Arial"/>
                <a:cs typeface="Arial"/>
                <a:sym typeface="Arial"/>
              </a:rPr>
              <a:t> Early height and horizontal motion guide the initial turn toward a landing point, including a virtual landing point when descent is prevented.</a:t>
            </a:r>
            <a:endParaRPr sz="1800">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Fast starts remain flexible</a:t>
            </a:r>
            <a:r>
              <a:rPr b="0" i="0" lang="en-US" sz="1500">
                <a:solidFill>
                  <a:srgbClr val="000000"/>
                </a:solidFill>
                <a:latin typeface="Arial"/>
                <a:ea typeface="Arial"/>
                <a:cs typeface="Arial"/>
                <a:sym typeface="Arial"/>
              </a:rPr>
              <a:t> Predictive C-starts bend and straighten rapidly while adjusting heading and take-off speed; similar escape kinematics do not alone prove a shared command neuron.</a:t>
            </a:r>
            <a:endParaRPr sz="1800">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8" name="Google Shape;648;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Jet control is active</a:t>
            </a:r>
            <a:r>
              <a:rPr b="0" i="0" lang="en-US" sz="1500">
                <a:solidFill>
                  <a:srgbClr val="000000"/>
                </a:solidFill>
                <a:latin typeface="Arial"/>
                <a:ea typeface="Arial"/>
                <a:cs typeface="Arial"/>
                <a:sym typeface="Arial"/>
              </a:rPr>
              <a:t> Range-dependent velocity gradients, stability and mouth-opening timing focus water near impact; the tested shot chemistry and body drift do not explain the adjustment.</a:t>
            </a:r>
            <a:endParaRPr sz="1800">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a:solidFill>
                  <a:srgbClr val="252D35"/>
                </a:solidFill>
                <a:latin typeface="Arial"/>
                <a:ea typeface="Arial"/>
                <a:cs typeface="Arial"/>
                <a:sym typeface="Arial"/>
              </a:rPr>
              <a:t>Timing carries retinal information</a:t>
            </a:r>
            <a:r>
              <a:rPr b="0" i="0" lang="en-US" sz="1600">
                <a:solidFill>
                  <a:srgbClr val="000000"/>
                </a:solidFill>
                <a:latin typeface="Arial"/>
                <a:ea typeface="Arial"/>
                <a:cs typeface="Arial"/>
                <a:sym typeface="Arial"/>
              </a:rPr>
              <a:t> First-spike population timing decodes motion velocity better than the tested rate or interval measures; biological use of the decoder remains unproven.</a:t>
            </a:r>
            <a:endParaRPr sz="1800">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Neural anatomy and causation differ</a:t>
            </a:r>
            <a:r>
              <a:rPr b="0" i="0" lang="en-US" sz="1500">
                <a:solidFill>
                  <a:srgbClr val="000000"/>
                </a:solidFill>
                <a:latin typeface="Arial"/>
                <a:ea typeface="Arial"/>
                <a:cs typeface="Arial"/>
                <a:sym typeface="Arial"/>
              </a:rPr>
              <a:t> Archerfish have identifiable Mauthner cells with strong visual access and inhibitory controls, but these studies do not directly establish their recruitment in predictive starts.</a:t>
            </a:r>
            <a:endParaRPr sz="1800">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a:solidFill>
                  <a:srgbClr val="252D35"/>
                </a:solidFill>
                <a:latin typeface="Arial"/>
                <a:ea typeface="Arial"/>
                <a:cs typeface="Arial"/>
                <a:sym typeface="Arial"/>
              </a:rPr>
              <a:t>Learning changes rapid control</a:t>
            </a:r>
            <a:r>
              <a:rPr b="0" i="0" lang="en-US" sz="1500">
                <a:solidFill>
                  <a:srgbClr val="000000"/>
                </a:solidFill>
                <a:latin typeface="Arial"/>
                <a:ea typeface="Arial"/>
                <a:cs typeface="Arial"/>
                <a:sym typeface="Arial"/>
              </a:rPr>
              <a:t> Shooting shows adaptive aftereffects; predictive starts can learn, generalize and select between context-dependent interception rules without abandoning rapid decisions.</a:t>
            </a:r>
            <a:endParaRPr sz="1800">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Rossel et al. (2002); Wöhl &amp; Schuster (2007); Gerullis &amp; Schuster (2014); Kretschmer et al. (2012); Machnik et al. (2018a); Machnik et al. (2018b); Volotsky et al. (2023); Krause et al. (2024)</a:t>
            </a:r>
            <a:endParaRPr sz="1800">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a:solidFill>
                  <a:srgbClr val="000000"/>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2026-10-08T21:36:15.089Z</dcterms:created>
  <dc:creator>Presenton</dc:creator>
</cp:coreProperties>
</file>