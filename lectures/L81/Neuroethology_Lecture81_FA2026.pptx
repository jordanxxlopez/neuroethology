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Songbirds II: Closed-loop neural interfaces, dopamine reinforcement, and adaptive control of song</a:t>
            </a:r>
          </a:p>
          <a:p>
            <a:r>
              <a:t>Lecture 81. NEUR 411 · NEUROETHOLOGY · FALL 2026. Date TBD.</a:t>
            </a:r>
          </a:p>
          <a:p/>
          <a:p>
            <a:r>
              <a:t>Figure: Xiao et al. (2018), Fig. 3(B). A zebra finch with optical fibers over Area X.</a:t>
            </a:r>
          </a:p>
          <a:p>
            <a:r>
              <a:t>Figure source: https://doi.org/10.1016/j.neuron.2018.02.020</a:t>
            </a:r>
          </a:p>
          <a:p/>
          <a:p>
            <a:r>
              <a:t>References:</a:t>
            </a:r>
          </a:p>
          <a:p>
            <a:r>
              <a:t>Xiao L, Chattree G, Oscos FG, Cao M, Wanat MJ, Roberts TF (2018). A Basal Ganglia Circuit Sufficient to Guide Birdsong Learning. Neuron 98:208–221.e5. https://doi.org/10.1016/j.neuron.2018.02.020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closed-loop interface measures an animal’s ongoing behavior and delivers feedback determined by that measurement. Tumer and Brainard recorded adult Bengalese finches while a computer detected particular song elements and selectively overlaid brief bursts of white noise.</a:t>
            </a:r>
          </a:p>
          <a:p>
            <a:r>
              <a:t>• The computer measured pitch, the perceptual correlate of fundamental frequency, and delivered noise to either higher or lower variants of a target syllable. A syllable is a discrete acoustic element within the song sequence. Renditions that escaped noise retained normal auditory feedback.</a:t>
            </a:r>
          </a:p>
          <a:p>
            <a:r>
              <a:t>• Reinforcement changes the frequency of future actions according to their consequences. Birds shifted the target syllable’s pitch toward variants that escaped disruption. The feedback therefore altered subsequent performances of the same behavior, even though adult song was already stable. Residual variation supplied the alternatives on which reinforcement could act.</a:t>
            </a:r>
          </a:p>
          <a:p>
            <a:r>
              <a:t>• A closed loop links measurement to intervention on the same ongoing behavior. The experimental feedback was binary: the target rendition either triggered noise or escaped it. The animal was never explicitly told which acoustic feature determined that outcome.</a:t>
            </a:r>
          </a:p>
          <a:p/>
          <a:p>
            <a:r>
              <a:t>References:</a:t>
            </a:r>
          </a:p>
          <a:p>
            <a:r>
              <a:t>Tumer EC, Brainard MS (2007). Performance variability enables adaptive plasticity of crystallized adult birdsong. Nature 450:1240–1244. https://doi.org/10.1038/nature06390</a:t>
            </a:r>
          </a:p>
          <a:p/>
          <a:p>
            <a:r>
              <a:t>Figure: Tumer &amp; Brainard (2007), Fig. 1(a,b). Bengalese finch song and pitch-contingent noise.</a:t>
            </a:r>
          </a:p>
          <a:p>
            <a:r>
              <a:t>Figure source: https://doi.org/10.1038/nature06390</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Fundamental frequency is the repetition rate of a periodic sound, measured in hertz, or cycles per second. Harmonic syllables contain energy at this frequency and at higher multiples, allowing a computer to estimate their pitch from brief portions of the vocalization.</a:t>
            </a:r>
          </a:p>
          <a:p>
            <a:r>
              <a:t>• In one Bengalese finch, the baseline target syllable was centered near 2,281 Hz. Small differences among repeated renditions provided higher and lower variants without requiring the bird to invent a new song element.</a:t>
            </a:r>
          </a:p>
          <a:p>
            <a:r>
              <a:t>• Noise delivered to higher variants shifted the distribution toward lower frequencies over three days. The animal changed how frequently it produced existing variants and moved the overall pitch distribution. A previously stereotyped vocal action therefore remained available for fine adjustment through feedback.</a:t>
            </a:r>
          </a:p>
          <a:p>
            <a:r>
              <a:t>• A distribution of syllable pitches describes repeated renditions, rather than the frequency spectrum within one syllable. The computer measured the same short acoustic segment on every rendition so the feedback contingency referred to a consistent vocal feature.</a:t>
            </a:r>
          </a:p>
          <a:p/>
          <a:p>
            <a:r>
              <a:t>References:</a:t>
            </a:r>
          </a:p>
          <a:p>
            <a:r>
              <a:t>Tumer EC, Brainard MS (2007). Performance variability enables adaptive plasticity of crystallized adult birdsong. Nature 450:1240–1244. https://doi.org/10.1038/nature06390</a:t>
            </a:r>
          </a:p>
          <a:p/>
          <a:p>
            <a:r>
              <a:t>Figure: Tumer &amp; Brainard (2007), Fig. 1(c,d). Pitch distributions before and after downward reinforcement.</a:t>
            </a:r>
          </a:p>
          <a:p>
            <a:r>
              <a:t>Figure source: https://doi.org/10.1038/nature06390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Motor exploration is variation among actions that allows different outcomes to be sampled. Adult Bengalese finches produced subtle pitch differences despite highly practiced songs. Tumer and Brainard tested whether those differences could become the basis of adaptive learning.</a:t>
            </a:r>
          </a:p>
          <a:p>
            <a:r>
              <a:t>• Noise contingent on high-pitch variants favored lower pitches; noise contingent on low-pitch variants favored higher pitches. Opposite contingencies produced opposite changes even though the type of disruptive sound remained the same.</a:t>
            </a:r>
          </a:p>
          <a:p>
            <a:r>
              <a:t>• The direction of learning depended on the relationship between the vocal variant and its outcome. Variability supplied selectable alternatives, while feedback favored the alternatives associated with undistorted sound. The behavioral result supports exploration as a functional component of stable adult song rather than treating every fluctuation as irrelevant noise.</a:t>
            </a:r>
          </a:p>
          <a:p>
            <a:r>
              <a:t>• The two contingencies differ in which renditions receive disruption. An identical feedback sound can therefore drive learning in either direction. The experiment tests the use of natural variability, not the production of arbitrary novel vocal actions.</a:t>
            </a:r>
          </a:p>
          <a:p/>
          <a:p>
            <a:r>
              <a:t>References:</a:t>
            </a:r>
          </a:p>
          <a:p>
            <a:r>
              <a:t>Tumer EC, Brainard MS (2007). Performance variability enables adaptive plasticity of crystallized adult birdsong. Nature 450:1240–1244. https://doi.org/10.1038/nature06390</a:t>
            </a:r>
          </a:p>
          <a:p/>
          <a:p>
            <a:r>
              <a:t>Figure: Tumer &amp; Brainard (2007), Fig. 1(e,f). Opposite feedback contingencies drive opposite pitch shifts.</a:t>
            </a:r>
          </a:p>
          <a:p>
            <a:r>
              <a:t>Figure source: https://doi.org/10.1038/nature06390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Pitch-contingent reinforcement changed adult Bengalese finch song within the first day of training. Most birds had already shifted toward the escape region within 7 hours, while the pitch distribution approached a stable trained range over the following days.</a:t>
            </a:r>
          </a:p>
          <a:p>
            <a:r>
              <a:t>• In the representative downward-learning experiment, the fraction of renditions triggering noise fell from 91% to 17% by the third day. The reduction followed a shift in the measured vocal feature, rather than avoidance of the entire singing behavior.</a:t>
            </a:r>
          </a:p>
          <a:p>
            <a:r>
              <a:t>• When contingent noise ended, pitch returned toward the original range. The normal song remained a behavioral reference despite the temporary reinforced change. Adaptive control therefore combines ongoing flexibility with a tendency to restore the previously learned vocal pattern when the external contingency disappears.</a:t>
            </a:r>
          </a:p>
          <a:p>
            <a:r>
              <a:t>• Learning involved many repeated renditions spread through a day. The rapid trajectory distinguishes fine adjustment of an established syllable from the slower acquisition of an entire juvenile song. Recovery followed termination of the feedback manipulation.</a:t>
            </a:r>
          </a:p>
          <a:p/>
          <a:p>
            <a:r>
              <a:t>References:</a:t>
            </a:r>
          </a:p>
          <a:p>
            <a:r>
              <a:t>Tumer EC, Brainard MS (2007). Performance variability enables adaptive plasticity of crystallized adult birdsong. Nature 450:1240–1244. https://doi.org/10.1038/nature06390</a:t>
            </a:r>
          </a:p>
          <a:p/>
          <a:p>
            <a:r>
              <a:t>Figure: Tumer &amp; Brainard (2007), Fig. 2(a–c). Rapid pitch learning and recovery after noise removal.</a:t>
            </a:r>
          </a:p>
          <a:p>
            <a:r>
              <a:t>Figure source: https://doi.org/10.1038/nature06390</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bird could escape disruptive feedback by changing an entire song, but Bengalese finches instead modified the pitch of the targeted syllable. Neighboring syllables retained their usual fundamental frequencies even when they occurred only tens of milliseconds away.</a:t>
            </a:r>
          </a:p>
          <a:p>
            <a:r>
              <a:t>• The trained syllable also retained its duration, volume, and spectral entropy, a measure of how broadly acoustic energy is distributed across frequencies. Feedback selected the specific dimension used by the computer to decide whether noise would occur.</a:t>
            </a:r>
          </a:p>
          <a:p>
            <a:r>
              <a:t>• This precision allows a learned sequence change locally without destabilizing every component. Distinct song features can remain under separate adaptive control, so correction of one vocal gesture preserves the surrounding gestures. The behavioral specificity places a temporal and acoustic constraint on the neural teaching signals that support learning.</a:t>
            </a:r>
          </a:p>
          <a:p>
            <a:r>
              <a:t>• The same target syllable was assessed for several acoustic properties. A shift in fundamental frequency was accompanied by stable measures of the other properties. The control syllables were part of the same song, providing a within-sequence comparison.</a:t>
            </a:r>
          </a:p>
          <a:p/>
          <a:p>
            <a:r>
              <a:t>References:</a:t>
            </a:r>
          </a:p>
          <a:p>
            <a:r>
              <a:t>Tumer EC, Brainard MS (2007). Performance variability enables adaptive plasticity of crystallized adult birdsong. Nature 450:1240–1244. https://doi.org/10.1038/nature06390</a:t>
            </a:r>
          </a:p>
          <a:p/>
          <a:p>
            <a:r>
              <a:t>Figure: Tumer &amp; Brainard (2007), Fig. 3(a–c). Changes remain restricted to targeted syllable pitch.</a:t>
            </a:r>
          </a:p>
          <a:p>
            <a:r>
              <a:t>Figure source: https://doi.org/10.1038/nature06390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Latency is the interval between a measured event and the response it triggers. In the Bengalese finch experiments, noise normally began 16–30 ms after pitch measurement and overlapped the targeted syllable.</a:t>
            </a:r>
          </a:p>
          <a:p>
            <a:r>
              <a:t>• Adding 100 ms moved the noise beyond the target syllable and prevented the adaptive pitch shift. The same animals could learn under the shorter delay, so the difference depended on when the consequence followed the vocal action.</a:t>
            </a:r>
          </a:p>
          <a:p>
            <a:r>
              <a:t>• Temporal credit assignment links an outcome to the action responsible for it. Rapid songs contain several nearby events that could receive credit. Immediate feedback preserved the relationship between the target’s acoustic variant and disruption; delayed feedback failed to select that variant effectively under this experimental arrangement.</a:t>
            </a:r>
          </a:p>
          <a:p>
            <a:r>
              <a:t>• The extra delay was applied after measuring the same pitch feature. The result concerns this targeted feedback task; it is not a universal upper bound on learning delays in all behaviors. Short delays allowed the noise to overlap the action being reinforced.</a:t>
            </a:r>
          </a:p>
          <a:p/>
          <a:p>
            <a:r>
              <a:t>References:</a:t>
            </a:r>
          </a:p>
          <a:p>
            <a:r>
              <a:t>Tumer EC, Brainard MS (2007). Performance variability enables adaptive plasticity of crystallized adult birdsong. Nature 450:1240–1244. https://doi.org/10.1038/nature06390</a:t>
            </a:r>
          </a:p>
          <a:p/>
          <a:p>
            <a:r>
              <a:t>Figure: Tumer &amp; Brainard (2007), Fig. 4(a–d). An additional feedback delay prevents adaptive pitch shifts.</a:t>
            </a:r>
          </a:p>
          <a:p>
            <a:r>
              <a:t>Figure source: https://doi.org/10.1038/nature06390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fixed feedback threshold eventually leaves most renditions in the escape region. Incremental reinforcement changes the criterion as behavior adapts, maintaining a difference in outcomes among the variants that the animal currently produces.</a:t>
            </a:r>
          </a:p>
          <a:p>
            <a:r>
              <a:t>• Tumer and Brainard progressively adjusted the pitch threshold across training days. The bird continued moving its target syllable beyond the range reached under the initial criterion, while the neighboring song structure remained recognizable.</a:t>
            </a:r>
          </a:p>
          <a:p>
            <a:r>
              <a:t>• Their original supplementary recording combines the reported pitch trajectory with sampled syllable sounds. The audible change accompanies the shift in measured fundamental frequency. Adaptive song control can therefore move an established vocal feature repeatedly when the feedback criterion tracks the learner’s changing performance.</a:t>
            </a:r>
          </a:p>
          <a:p>
            <a:r>
              <a:t>• The original Supplementary Video 1 contains syllables sampled from two baseline days and thirteen reinforcement days. The source’s blue line represents the experimental threshold. These are the authors’ recorded sounds and presentation, preserved without new plots or reconstructed audio.</a:t>
            </a:r>
          </a:p>
          <a:p/>
          <a:p>
            <a:r>
              <a:t>References:</a:t>
            </a:r>
          </a:p>
          <a:p>
            <a:r>
              <a:t>Tumer EC, Brainard MS (2007). Performance variability enables adaptive plasticity of crystallized adult birdsong. Nature 450:1240–1244. https://doi.org/10.1038/nature06390</a:t>
            </a:r>
          </a:p>
          <a:p/>
          <a:p>
            <a:r>
              <a:t>Figure: Tumer &amp; Brainard (2007), Fig. 5(a). Incremental reinforcement thresholds extend pitch learning.</a:t>
            </a:r>
          </a:p>
          <a:p>
            <a:r>
              <a:t>Figure source: https://doi.org/10.1038/nature06390</a:t>
            </a:r>
          </a:p>
          <a:p/>
          <a:p>
            <a:r>
              <a:t>Article-provided recording:</a:t>
            </a:r>
          </a:p>
          <a:p>
            <a:r>
              <a:t>Tumer &amp; Brainard (2007), Supplementary Video 1. Recorded syllables and pitch change across reinforcement days.</a:t>
            </a:r>
          </a:p>
          <a:p>
            <a:r>
              <a:t>Article DOI: 10.1038/nature06390</a:t>
            </a:r>
          </a:p>
          <a:p>
            <a:r>
              <a:t>Original media URL: https://media.springernature.com/original/springer-static/esm/art%3A10.1038%2Fnature06390/MediaObjects/41586_2007_BFnature06390_MOESM437_ESM.mov</a:t>
            </a:r>
          </a:p>
          <a:p>
            <a:r>
              <a:t>Credit: Evren C. Tumer and Michael S. Brainard; original Nature supplementary recording</a:t>
            </a:r>
          </a:p>
          <a:p>
            <a:r>
              <a:t>License: Copyright Nature Publishing Group 2007; no separate open license supplied on the article page.</a:t>
            </a:r>
          </a:p>
          <a:p>
            <a:r>
              <a:t>The authors present recorded syllable sounds and their measured pitch across two baseline days and thirteen reinforcement days. The blue line is the authors’ reinforcement threshold. This is the original published recording, including its original data display, not a new animation or a replotted graph.</a:t>
            </a:r>
          </a:p>
          <a:p>
            <a:r>
              <a:t>MOV to MP4 container remux with video and audio stream copy; no frame, audio, duration, or speed modification.</a:t>
            </a:r>
          </a:p>
          <a:p>
            <a:r>
              <a:t>Playback: embedded H.264/AAC MP4; click in PowerPoint Slide Show. The credited static source figure remains on the slide. The poster is an unedited original recording frame. Media decode verified; interactive PowerPoint playback was not 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HVC, used as a proper name, is a song premotor nucleus whose activity precedes vocal production. It projects directly to the robust nucleus of the arcopallium, or RA, in the descending song motor pathway.</a:t>
            </a:r>
          </a:p>
          <a:p>
            <a:r>
              <a:t>• HVC also projects into the anterior forebrain pathway, a circuit running through the basal-ganglia nucleus Area X, the thalamic nucleus DLM, and the lateral magnocellular nucleus of the anterior nidopallium, or LMAN. LMAN returns output to RA.</a:t>
            </a:r>
          </a:p>
          <a:p>
            <a:r>
              <a:t>• The descending pathway supports production of learned vocal movements, while the anterior pathway contributes to song acquisition and adjustment. These routes converge on motor output while providing different contributions to performance. Learning can therefore alter a practiced song through a circuit linked to, but distinguishable from, its descending production pathway.</a:t>
            </a:r>
          </a:p>
          <a:p>
            <a:r>
              <a:t>• DLM is the dorsolateral nucleus of the medial thalamus. RA ultimately influences brainstem pathways controlling vocal behavior. HVC participates in both routes, whereas Area X, DLM, and LMAN form the indirect route through basal ganglia and thalamus.</a:t>
            </a:r>
          </a:p>
          <a:p/>
          <a:p>
            <a:r>
              <a:t>References:</a:t>
            </a:r>
          </a:p>
          <a:p>
            <a:r>
              <a:t>Brown DE, Chavez JI, Nguyen DH, Kadwory A, Voytek B, Arneodo EM, Gentner TQ, Gilja V (2021). Local field potentials in a pre-motor region predict learned vocal sequences. PLOS Computational Biology 17:e1008100. https://doi.org/10.1371/journal.pcbi.1008100</a:t>
            </a:r>
          </a:p>
          <a:p/>
          <a:p>
            <a:r>
              <a:t>Figure: Brown et al. (2021), Fig. 1(A,B). HVC and recording.</a:t>
            </a:r>
          </a:p>
          <a:p>
            <a:r>
              <a:t>Figure source: https://doi.org/10.1371/journal.pcbi.1008100</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ventral tegmental area, or VTA, is a midbrain region containing neurons that release dopamine, a transmitter involved in reinforcement-related signaling. A population of VTA neurons sends axons, signal-carrying neuronal processes, to Area X, placing a potential teaching signal within the vocal learning circuit.</a:t>
            </a:r>
          </a:p>
          <a:p>
            <a:r>
              <a:t>• Gadagkar and colleagues injected a retrograde tracer into Area X. This label travels back to the cell bodies of neurons projecting there. VTA cells carrying the tracer also expressed tyrosine hydroxylase, an enzyme used in dopamine synthesis.</a:t>
            </a:r>
          </a:p>
          <a:p>
            <a:r>
              <a:t>• The combined projection label and dopamine-related marker identified the anatomical route studied during singing. Recording along this route connected momentary vocal outcomes to the activity of neurons positioned to influence basal-ganglia learning, rather than assuming every neuron in the VTA served the same function.</a:t>
            </a:r>
          </a:p>
          <a:p>
            <a:r>
              <a:t>• More than 95% of Area X-projecting VTA cells were identified as dopaminergic in the anatomical literature cited by the study. The histology also preserves the electrode trajectory, connecting the recorded cells with the relevant anatomical population.</a:t>
            </a:r>
          </a:p>
          <a:p/>
          <a:p>
            <a:r>
              <a:t>References:</a:t>
            </a:r>
          </a:p>
          <a:p>
            <a:r>
              <a:t>Gadagkar V, Puzerey PA, Chen R, Baird-Daniel E, Farhang AR, Goldberg JH (2016). Dopamine neurons encode performance error in singing birds. Science 354:1278–1282. https://doi.org/10.1126/science.aah6837</a:t>
            </a:r>
          </a:p>
          <a:p/>
          <a:p>
            <a:r>
              <a:t>Figure: Gadagkar et al. (2016), Fig. 1(D). VTA dopamine neurons.</a:t>
            </a:r>
          </a:p>
          <a:p>
            <a:r>
              <a:t>Figure source: https://doi.org/10.1126/science.aah6837</a:t>
            </a:r>
          </a:p>
          <a:p/>
          <a:p>
            <a:r>
              <a:t>Figure: Gadagkar et al. (2016), Fig. 1(B,C). Area X projection identification and spike collision.</a:t>
            </a:r>
          </a:p>
          <a:p>
            <a:r>
              <a:t>Figure source: https://doi.org/10.1126/science.aah6837</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Antidromic stimulation evokes an action potential that travels backward along an axon toward its cell body. Gadagkar and colleagues stimulated Area X while recording individual neurons in VTA to identify cells whose axons reached the vocal basal ganglia.</a:t>
            </a:r>
          </a:p>
          <a:p>
            <a:r>
              <a:t>• An evoked spike arrived with a consistent timing. When a spontaneous spike had just traveled outward along the same axon, the evoked spike disappeared in a collision test. Oppositely traveling spikes cannot pass through the recently activated axonal segment.</a:t>
            </a:r>
          </a:p>
          <a:p>
            <a:r>
              <a:t>• Projection identification made the physiological comparison specific. The Area X-projecting population strongly overlapped with cells carrying song-performance error responses, while most other recorded VTA neurons lacked those responses. Circuit membership therefore predicted the relevance of a neuron’s activity to vocal evaluation.</a:t>
            </a:r>
          </a:p>
          <a:p>
            <a:r>
              <a:t>• The collision test distinguishes stimulation of the recorded neuron’s own axon from an indirect synaptic response. The anatomical and physiological identification methods support complementary claims: where the neuron projects and what its activity encodes during singing.</a:t>
            </a:r>
          </a:p>
          <a:p/>
          <a:p>
            <a:r>
              <a:t>References:</a:t>
            </a:r>
          </a:p>
          <a:p>
            <a:r>
              <a:t>Gadagkar V, Puzerey PA, Chen R, Baird-Daniel E, Farhang AR, Goldberg JH (2016). Dopamine neurons encode performance error in singing birds. Science 354:1278–1282. https://doi.org/10.1126/science.aah6837</a:t>
            </a:r>
          </a:p>
          <a:p/>
          <a:p>
            <a:r>
              <a:t>Figure: Gadagkar et al. (2016), Fig. 1(B,C). Area X projection identification and spike collision.</a:t>
            </a:r>
          </a:p>
          <a:p>
            <a:r>
              <a:t>Figure source: https://doi.org/10.1126/science.aah6837</a:t>
            </a:r>
          </a:p>
          <a:p/>
          <a:p>
            <a:r>
              <a:t>Figure: Gadagkar et al. (2016), Fig. 1(D). VTA dopamine neurons.</a:t>
            </a:r>
          </a:p>
          <a:p>
            <a:r>
              <a:t>Figure source: https://doi.org/10.1126/science.aah6837</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Distorted auditory feedback alters the sound a bird hears while it sings. Gadagkar and colleagues randomly distorted a target syllable with a 50-ms sound segment, while other renditions of that same syllable remained undistorted.</a:t>
            </a:r>
          </a:p>
          <a:p>
            <a:r>
              <a:t>• Area X-projecting VTA neurons reduced their firing after distortion. The response began about 58 ms after distortion onset, lasted about 86 ms, and reduced firing by roughly 75% on average in the error-responsive population.</a:t>
            </a:r>
          </a:p>
          <a:p>
            <a:r>
              <a:t>• The response occurred after the altered auditory consequence rather than simply accompanying the motor act. A transient decrease in activity therefore carried information about a worse vocal outcome at a particular point in the sequence. Repeated comparisons between distorted and undistorted renditions isolated this outcome-related component of activity.</a:t>
            </a:r>
          </a:p>
          <a:p>
            <a:r>
              <a:t>• The neurons were recorded while the bird produced its own song. The distortion probability was arranged in advance, and distorted and undistorted renditions were interleaved. Response timing was aligned to the target feedback event, not to an arbitrary recording interval.</a:t>
            </a:r>
          </a:p>
          <a:p/>
          <a:p>
            <a:r>
              <a:t>References:</a:t>
            </a:r>
          </a:p>
          <a:p>
            <a:r>
              <a:t>Gadagkar V, Puzerey PA, Chen R, Baird-Daniel E, Farhang AR, Goldberg JH (2016). Dopamine neurons encode performance error in singing birds. Science 354:1278–1282. https://doi.org/10.1126/science.aah6837</a:t>
            </a:r>
          </a:p>
          <a:p/>
          <a:p>
            <a:r>
              <a:t>Figure: Gadagkar et al. (2016), Fig. 2(B). Suppression after distortion and activation after omission.</a:t>
            </a:r>
          </a:p>
          <a:p>
            <a:r>
              <a:t>Figure source: https://doi.org/10.1126/science.aah6837</a:t>
            </a:r>
          </a:p>
          <a:p/>
          <a:p>
            <a:r>
              <a:t>Figure: Gadagkar et al. (2016), Fig. 1(D). VTA dopamine neurons.</a:t>
            </a:r>
          </a:p>
          <a:p>
            <a:r>
              <a:t>Figure source: https://doi.org/10.1126/science.aah6837</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undistorted syllable can be better than expected when distortion has occurred on previous renditions. Gadagkar and colleagues found brief VTA firing increases at the precise song time when an anticipated distortion failed to occur.</a:t>
            </a:r>
          </a:p>
          <a:p>
            <a:r>
              <a:t>• These activations began about 51 ms after the target time and lasted about 62 ms. The error-responsive population increased firing by roughly 77% relative to its pretarget activity, complementing the decreases following distorted feedback.</a:t>
            </a:r>
          </a:p>
          <a:p>
            <a:r>
              <a:t>• A prediction error is a difference between an outcome and an expectation. The same target syllable could yield a negative signal when distorted and a positive signal when it unexpectedly escaped distortion. Dopamine activity therefore represented vocal outcome relative to a learned benchmark, rather than merely registering the presence of sound.</a:t>
            </a:r>
          </a:p>
          <a:p>
            <a:r>
              <a:t>• The positive response was aligned to the time when distortion could have occurred, even though no new external stimulus arrived on that rendition. A temporally organized expectation is therefore needed to account for the omission response.</a:t>
            </a:r>
          </a:p>
          <a:p/>
          <a:p>
            <a:r>
              <a:t>References:</a:t>
            </a:r>
          </a:p>
          <a:p>
            <a:r>
              <a:t>Gadagkar V, Puzerey PA, Chen R, Baird-Daniel E, Farhang AR, Goldberg JH (2016). Dopamine neurons encode performance error in singing birds. Science 354:1278–1282. https://doi.org/10.1126/science.aah6837</a:t>
            </a:r>
          </a:p>
          <a:p/>
          <a:p>
            <a:r>
              <a:t>Figure: Gadagkar et al. (2016), Fig. 2(B). Suppression after distortion and activation after omission.</a:t>
            </a:r>
          </a:p>
          <a:p>
            <a:r>
              <a:t>Figure source: https://doi.org/10.1126/science.aah6837</a:t>
            </a:r>
          </a:p>
          <a:p/>
          <a:p>
            <a:r>
              <a:t>Figure: Gadagkar et al. (2016), Fig. 1(D). VTA dopamine neurons.</a:t>
            </a:r>
          </a:p>
          <a:p>
            <a:r>
              <a:t>Figure source: https://doi.org/10.1126/science.aah6837</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Gadagkar and colleagues targeted two syllables in the same song with different distortion probabilities, approximately 49% for one and 20% for the other. This created different expectations for the two moments within a single vocal sequence.</a:t>
            </a:r>
          </a:p>
          <a:p>
            <a:r>
              <a:t>• An undistorted rendition of the frequently distorted syllable produced a larger VTA activation than an undistorted rendition of the rarely distorted syllable. Average firing increases were about 67% and 22%, respectively, in the studied population.</a:t>
            </a:r>
          </a:p>
          <a:p>
            <a:r>
              <a:t>• The response to one target did not depend on whether the other target had just been distorted. Each syllable was evaluated against its own temporally aligned benchmark. Performance evaluation therefore used local experience within the sequence, allowing the same normal feedback to receive different values at different song times.</a:t>
            </a:r>
          </a:p>
          <a:p>
            <a:r>
              <a:t>• The distortion sound was not intrinsically a reward. The positive signal followed a normal outcome whose value depended on the probability of a worse outcome at that specific target time. The two-target comparison separates song-time expectation from a global good or bad song state.</a:t>
            </a:r>
          </a:p>
          <a:p/>
          <a:p>
            <a:r>
              <a:t>References:</a:t>
            </a:r>
          </a:p>
          <a:p>
            <a:r>
              <a:t>Gadagkar V, Puzerey PA, Chen R, Baird-Daniel E, Farhang AR, Goldberg JH (2016). Dopamine neurons encode performance error in singing birds. Science 354:1278–1282. https://doi.org/10.1126/science.aah6837</a:t>
            </a:r>
          </a:p>
          <a:p/>
          <a:p>
            <a:r>
              <a:t>Figure: Gadagkar et al. (2016), Fig. 3(A–E). Performance responses depend on syllable-specific distortion probability.</a:t>
            </a:r>
          </a:p>
          <a:p>
            <a:r>
              <a:t>Figure source: https://doi.org/10.1126/science.aah6837</a:t>
            </a:r>
          </a:p>
          <a:p/>
          <a:p>
            <a:r>
              <a:t>Figure: Gadagkar et al. (2016), Fig. 1(D). VTA dopamine neurons.</a:t>
            </a:r>
          </a:p>
          <a:p>
            <a:r>
              <a:t>Figure source: https://doi.org/10.1126/science.aah6837</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distorted and undistorted songs could also be played to a bird while it was silent. Under passive playback, the VTA cells that encoded performance errors during singing did not produce the same differential responses to those recordings.</a:t>
            </a:r>
          </a:p>
          <a:p>
            <a:r>
              <a:t>• This comparison separates an evaluation of the bird’s ongoing action from an ordinary response to hearing the disruptive sound. The auditory stimulus alone was insufficient to reproduce the singing-related firing pause or the positive omission response.</a:t>
            </a:r>
          </a:p>
          <a:p>
            <a:r>
              <a:t>• Active performance supplied the context in which the sound was evaluated. The bird’s own vocal sequence and its expected consequences jointly determined the dopamine response. Song reinforcement thus draws on information about an action being produced, rather than treating every external presentation of its acoustic consequence as equivalent.</a:t>
            </a:r>
          </a:p>
          <a:p>
            <a:r>
              <a:t>• Movement was also measured in the recording experiments, and the feedback manipulation did not account for the error response through an accompanying change in movement. The passive listening comparison changes the interpretation of the signal, so it belongs in the teaching content rather than as a routine disclaimer.</a:t>
            </a:r>
          </a:p>
          <a:p/>
          <a:p>
            <a:r>
              <a:t>References:</a:t>
            </a:r>
          </a:p>
          <a:p>
            <a:r>
              <a:t>Gadagkar V, Puzerey PA, Chen R, Baird-Daniel E, Farhang AR, Goldberg JH (2016). Dopamine neurons encode performance error in singing birds. Science 354:1278–1282. https://doi.org/10.1126/science.aah6837</a:t>
            </a:r>
          </a:p>
          <a:p/>
          <a:p>
            <a:r>
              <a:t>Figure: Gadagkar et al. (2016), Fig. 4(B,C). Passive listening lacks the singing-related error response.</a:t>
            </a:r>
          </a:p>
          <a:p>
            <a:r>
              <a:t>Figure source: https://doi.org/10.1126/science.aah6837</a:t>
            </a:r>
          </a:p>
          <a:p/>
          <a:p>
            <a:r>
              <a:t>Figure: Gadagkar et al. (2016), Fig. 1(D). VTA dopamine neurons.</a:t>
            </a:r>
          </a:p>
          <a:p>
            <a:r>
              <a:t>Figure source: https://doi.org/10.1126/science.aah6837</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Optogenetics uses genetically expressed light-sensitive proteins to control selected neural elements. Xiao and colleagues expressed channelrhodopsin, or ChR2, for optical excitation and archaerhodopsin, or ArchT, for optical inhibition in VTA neurons.</a:t>
            </a:r>
          </a:p>
          <a:p>
            <a:r>
              <a:t>• Axon terminals are the projection’s release sites at its target. An axon-targeting sequence improved delivery of these proteins to terminals within Area X. Optical fibers positioned over Area X then illuminated the terminals, concentrating the intervention at the projection’s basal-ganglia endpoint rather than illuminating VTA cell bodies directly.</a:t>
            </a:r>
          </a:p>
          <a:p>
            <a:r>
              <a:t>• Fluorescent labeling verified expression in VTA neurons and their terminals. This anatomical targeting allowed the investigators to connect detected song variants to brief increases or decreases in projection activity. The intervention converted a naturally evaluative pathway into a controllable input for closed-loop vocal learning.</a:t>
            </a:r>
          </a:p>
          <a:p>
            <a:r>
              <a:t>• The axon-targeted constructs are named axChR2 and axArchT in the paper. ChR2 permits light-driven excitation, whereas ArchT permits light-driven inhibition. Their functional effects on dopamine release were measured independently before interpreting the behavioral reinforcement experiments.</a:t>
            </a:r>
          </a:p>
          <a:p/>
          <a:p>
            <a:r>
              <a:t>References:</a:t>
            </a:r>
          </a:p>
          <a:p>
            <a:r>
              <a:t>Xiao L, Chattree G, Oscos FG, Cao M, Wanat MJ, Roberts TF (2018). A Basal Ganglia Circuit Sufficient to Guide Birdsong Learning. Neuron 98:208–221.e5. https://doi.org/10.1016/j.neuron.2018.02.020</a:t>
            </a:r>
          </a:p>
          <a:p/>
          <a:p>
            <a:r>
              <a:t>Figure: Xiao et al. (2018), Fig. 2(A,B). VTA dopamine cells and their axons in Area X.</a:t>
            </a:r>
          </a:p>
          <a:p>
            <a:r>
              <a:t>Figure source: https://doi.org/10.1016/j.neuron.2018.02.020</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Fast-scan cyclic voltammetry measures transmitter-related electrical currents while an electrode rapidly sweeps its voltage. Xiao and colleagues used this method in brain slices containing VTA connections to Area X to test the chemical effect of terminal illumination.</a:t>
            </a:r>
          </a:p>
          <a:p>
            <a:r>
              <a:t>• A 100-ms pulse of 470-nm blue light activated ChR2-expressing terminals and evoked a dopamine-related signal in Area X. Electrical stimulation provided a comparison with the characteristic electrochemical response of the same projection.</a:t>
            </a:r>
          </a:p>
          <a:p>
            <a:r>
              <a:t>• The optical intervention therefore changed transmitter release at the intended learning-circuit endpoint. This measurement connects the anatomical projection, its light-sensitive protein, and a chemical consequence. Subsequent behavioral experiments could then ask whether a transient release signal linked to a particular vocal variant altered future song production.</a:t>
            </a:r>
          </a:p>
          <a:p>
            <a:r>
              <a:t>• Voltammetry is a chemical readout rather than a count of action potentials. The source panel preserves the voltage sweep, current scale, and time axis. Optical excitation and electrical stimulation produced comparable dopamine signatures under the slice preparation.</a:t>
            </a:r>
          </a:p>
          <a:p/>
          <a:p>
            <a:r>
              <a:t>References:</a:t>
            </a:r>
          </a:p>
          <a:p>
            <a:r>
              <a:t>Xiao L, Chattree G, Oscos FG, Cao M, Wanat MJ, Roberts TF (2018). A Basal Ganglia Circuit Sufficient to Guide Birdsong Learning. Neuron 98:208–221.e5. https://doi.org/10.1016/j.neuron.2018.02.020</a:t>
            </a:r>
          </a:p>
          <a:p/>
          <a:p>
            <a:r>
              <a:t>Figure: Xiao et al. (2018), Fig. 2(C–F). Blue-light activation evokes dopamine release in Area X.</a:t>
            </a:r>
          </a:p>
          <a:p>
            <a:r>
              <a:t>Figure source: https://doi.org/10.1016/j.neuron.2018.02.020</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 test terminal inhibition, Xiao and colleagues electrically stimulated VTA neurons while illuminating their ArchT-expressing axons in Area X. The preparation linked a known release-evoking input to an independently controlled inhibitory intervention at its terminals.</a:t>
            </a:r>
          </a:p>
          <a:p>
            <a:r>
              <a:t>• A 100-ms pulse of 540-nm light reduced the electrically evoked dopamine signal. The release response was smaller when illumination accompanied electrical stimulation than when the same stimulation occurred without optical inhibition.</a:t>
            </a:r>
          </a:p>
          <a:p>
            <a:r>
              <a:t>• This comparison establishes opposite chemical effects for the two optical tools: ChR2 excitation increased dopamine release, whereas ArchT inhibition reduced evoked release. The paired manipulations enabled causal tests of both signs of reinforcement, connecting transient changes at a neural projection with the direction of later behavioral adaptation.</a:t>
            </a:r>
          </a:p>
          <a:p>
            <a:r>
              <a:t>• The wavelength here is the 540-nm slice inhibition condition described in the study, rather than a universal ArchT wavelength. Behavioral optical inhibition used a related green-light condition. The release measurement verifies suppression under a controlled preparation.</a:t>
            </a:r>
          </a:p>
          <a:p/>
          <a:p>
            <a:r>
              <a:t>References:</a:t>
            </a:r>
          </a:p>
          <a:p>
            <a:r>
              <a:t>Xiao L, Chattree G, Oscos FG, Cao M, Wanat MJ, Roberts TF (2018). A Basal Ganglia Circuit Sufficient to Guide Birdsong Learning. Neuron 98:208–221.e5. https://doi.org/10.1016/j.neuron.2018.02.020</a:t>
            </a:r>
          </a:p>
          <a:p/>
          <a:p>
            <a:r>
              <a:t>Figure: Xiao et al. (2018), Fig. 2(G–J). Optical inhibition reduces electrically evoked dopamine release.</a:t>
            </a:r>
          </a:p>
          <a:p>
            <a:r>
              <a:t>Figure source: https://doi.org/10.1016/j.neuron.2018.02.020</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Xiao and colleagues implanted optical fibers over Area X in adult male zebra finches expressing light-sensitive proteins in VTA terminals. The birds recovered their normal daily singing and produced repeated song motifs while a computer monitored a target syllable.</a:t>
            </a:r>
          </a:p>
          <a:p>
            <a:r>
              <a:t>• For excitation experiments, the computer selected naturally occurring variants in the lower or upper portion of the pitch distribution. Light began approximately 24 ms after pitch measurement and continued for 100 ms, overlapping the targeted syllable.</a:t>
            </a:r>
          </a:p>
          <a:p>
            <a:r>
              <a:t>• The interface linked acoustic measurement to a neural intervention with a defined projection, sign, and timing. Birds continued singing through the pulses. The resulting feedback could select future vocal variants without requiring a disruptive sound, providing a causal test of the teaching pathway itself.</a:t>
            </a:r>
          </a:p>
          <a:p>
            <a:r>
              <a:t>• This is a closed-loop neural stimulation experiment: acoustic sensing controls a neural input. It differs from a neural decoder, in which a recorded brain signal is used to infer behavior. The study combines freely produced behavior with projection-targeted stimulation.</a:t>
            </a:r>
          </a:p>
          <a:p/>
          <a:p>
            <a:r>
              <a:t>References:</a:t>
            </a:r>
          </a:p>
          <a:p>
            <a:r>
              <a:t>Xiao L, Chattree G, Oscos FG, Cao M, Wanat MJ, Roberts TF (2018). A Basal Ganglia Circuit Sufficient to Guide Birdsong Learning. Neuron 98:208–221.e5. https://doi.org/10.1016/j.neuron.2018.02.020</a:t>
            </a:r>
          </a:p>
          <a:p/>
          <a:p>
            <a:r>
              <a:t>Figure: Xiao et al. (2018), Fig. 3(B,C). Freely singing zebra finch and optical fiber implantation anatomy.</a:t>
            </a:r>
          </a:p>
          <a:p>
            <a:r>
              <a:t>Figure source: https://doi.org/10.1016/j.neuron.2018.02.020</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Positive reinforcement increases actions associated with a favorable consequence. When VTA terminal excitation was delivered to syllable variants below 875 Hz, the zebra finch’s target pitch decreased by 17.1 Hz during the first stimulation day. Lower variants became more frequent as training proceeded.</a:t>
            </a:r>
          </a:p>
          <a:p>
            <a:r>
              <a:t>• The fraction of renditions receiving stimulation increased from 46% to 79% in that representative experiment. Excitation therefore favored the vocal performances associated with the intervention, in contrast to disruptive noise, which drove avoidance of targeted performances.</a:t>
            </a:r>
          </a:p>
          <a:p>
            <a:r>
              <a:t>• Stimulating high-pitch variants instead shifted pitch upward. The same anatomical projection could reinforce either direction because the computer determined which variants received excitation. The learned change followed the contingency between the action and terminal activation, rather than a fixed motor command to raise or lower pitch.</a:t>
            </a:r>
          </a:p>
          <a:p>
            <a:r>
              <a:t>• The experiment measured pitch throughout the training day, not just during illuminated renditions. Animals receiving illumination without the excitatory protein did not acquire the same pitch shift. The optical effect therefore depended on functional expression and behavioral contingency.</a:t>
            </a:r>
          </a:p>
          <a:p/>
          <a:p>
            <a:r>
              <a:t>References:</a:t>
            </a:r>
          </a:p>
          <a:p>
            <a:r>
              <a:t>Xiao L, Chattree G, Oscos FG, Cao M, Wanat MJ, Roberts TF (2018). A Basal Ganglia Circuit Sufficient to Guide Birdsong Learning. Neuron 98:208–221.e5. https://doi.org/10.1016/j.neuron.2018.02.020</a:t>
            </a:r>
          </a:p>
          <a:p/>
          <a:p>
            <a:r>
              <a:t>Figure: Xiao et al. (2018), Fig. 3(E,F). Low-pitch stimulation increases reinforced variants.</a:t>
            </a:r>
          </a:p>
          <a:p>
            <a:r>
              <a:t>Figure source: https://doi.org/10.1016/j.neuron.2018.02.020</a:t>
            </a:r>
          </a:p>
          <a:p/>
          <a:p>
            <a:r>
              <a:t>Figure: Xiao et al. (2018), Fig. 2(A,B). VTA dopamine cells and their axons in Area X.</a:t>
            </a:r>
          </a:p>
          <a:p>
            <a:r>
              <a:t>Figure source: https://doi.org/10.1016/j.neuron.2018.02.020</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Negative reinforcement favors actions that escape an unfavorable consequence. Optical inhibition of VTA terminals in Area X drove pitch away from the variants paired with reduced dopamine release. In a representative experiment, inhibition targeted syllable renditions below 595 Hz, and pitch increased by 7.5 Hz during the training day.</a:t>
            </a:r>
          </a:p>
          <a:p>
            <a:r>
              <a:t>• As the bird shifted upward, fewer renditions reached the inhibition threshold. Applying inhibition to high-pitch variants instead favored downward shifts. The behavioral direction was opposite to the effect of terminal excitation under the corresponding contingency.</a:t>
            </a:r>
          </a:p>
          <a:p>
            <a:r>
              <a:t>• Transient decreases and increases in the same projection could therefore provide complementary teaching signals. Excitation selected the associated variant; inhibition selected alternatives that escaped the intervention. Both manipulations adjusted an established vocal feature through repeated performances rather than requiring acquisition of an entirely new song.</a:t>
            </a:r>
          </a:p>
          <a:p>
            <a:r>
              <a:t>• The optical inhibition experiment provides a causal counterpart to the firing suppression observed after distorted feedback. The source’s individual pitch measurements and running averages preserve the trajectory of learning rather than only an endpoint comparison.</a:t>
            </a:r>
          </a:p>
          <a:p/>
          <a:p>
            <a:r>
              <a:t>References:</a:t>
            </a:r>
          </a:p>
          <a:p>
            <a:r>
              <a:t>Xiao L, Chattree G, Oscos FG, Cao M, Wanat MJ, Roberts TF (2018). A Basal Ganglia Circuit Sufficient to Guide Birdsong Learning. Neuron 98:208–221.e5. https://doi.org/10.1016/j.neuron.2018.02.020</a:t>
            </a:r>
          </a:p>
          <a:p/>
          <a:p>
            <a:r>
              <a:t>Figure: Xiao et al. (2018), Fig. 4(A–F). Terminal inhibition drives avoidance of targeted pitch variants.</a:t>
            </a:r>
          </a:p>
          <a:p>
            <a:r>
              <a:t>Figure source: https://doi.org/10.1016/j.neuron.2018.02.020</a:t>
            </a:r>
          </a:p>
          <a:p/>
          <a:p>
            <a:r>
              <a:t>Figure: Xiao et al. (2018), Fig. 2(A,B). VTA dopamine cells and their axons in Area X.</a:t>
            </a:r>
          </a:p>
          <a:p>
            <a:r>
              <a:t>Figure source: https://doi.org/10.1016/j.neuron.2018.02.020</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direct motor command should alter the current syllable whenever stimulation occurs. Xiao and colleagues instead found that pitch changes accumulated over repeated performances and were not explained by an immediate systematic change on illuminated trials.</a:t>
            </a:r>
          </a:p>
          <a:p>
            <a:r>
              <a:t>• The target’s pitch, duration, and other measured acoustic properties remained comparable on stimulated and nearby unstimulated renditions during the acute comparisons. Catch trials, performances on which the usual intervention is withheld, allowed learned changes to be measured without concurrent illumination.</a:t>
            </a:r>
          </a:p>
          <a:p>
            <a:r>
              <a:t>• The pathway therefore biased future output through learning rather than simply forcing a pitch on each stimulated rendition. This distinction separates an evaluative input from a descending motor instruction. A brief neural consequence can reshape the distribution of later actions while leaving the immediately ongoing vocal gesture largely intact.</a:t>
            </a:r>
          </a:p>
          <a:p>
            <a:r>
              <a:t>• Catch trials are critical because they reveal what the bird produces without the intervention currently acting on it. The accumulated pitch shift is a behavioral memory of previous contingent feedback. The study also tested measures of motivation and movement to assess alternative explanations.</a:t>
            </a:r>
          </a:p>
          <a:p/>
          <a:p>
            <a:r>
              <a:t>References:</a:t>
            </a:r>
          </a:p>
          <a:p>
            <a:r>
              <a:t>Xiao L, Chattree G, Oscos FG, Cao M, Wanat MJ, Roberts TF (2018). A Basal Ganglia Circuit Sufficient to Guide Birdsong Learning. Neuron 98:208–221.e5. https://doi.org/10.1016/j.neuron.2018.02.020</a:t>
            </a:r>
          </a:p>
          <a:p/>
          <a:p>
            <a:r>
              <a:t>Figure: Xiao et al. (2018), Fig. 5(A–D). Terminal manipulation changes learning rather than immediate pitch.</a:t>
            </a:r>
          </a:p>
          <a:p>
            <a:r>
              <a:t>Figure source: https://doi.org/10.1016/j.neuron.2018.02.020</a:t>
            </a:r>
          </a:p>
          <a:p/>
          <a:p>
            <a:r>
              <a:t>Figure: Xiao et al. (2018), Fig. 2(A,B). VTA dopamine cells and their axons in Area X.</a:t>
            </a:r>
          </a:p>
          <a:p>
            <a:r>
              <a:t>Figure source: https://doi.org/10.1016/j.neuron.2018.02.020</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Optical reinforcement largely changed the pitch of the target syllable while preserving other acoustic properties and neighboring syllables. The targeted elements were approximately 100 ms long, and many nearby elements remained unchanged even when separated by only a short interval.</a:t>
            </a:r>
          </a:p>
          <a:p>
            <a:r>
              <a:t>• Covariation means that two measurements tend to change together across natural performances. Some neighboring syllables shifted when their baseline pitches covaried with the target’s pitch, even though the computer measured only the designated target.</a:t>
            </a:r>
          </a:p>
          <a:p>
            <a:r>
              <a:t>• Reinforcement can therefore select associated performance features as well as the explicitly measured feature. Temporal proximity alone did not determine spread; the relationship among vocal variants also mattered. Adaptive control retains local precision while remaining sensitive to coordinated variation already present in the bird’s song.</a:t>
            </a:r>
          </a:p>
          <a:p>
            <a:r>
              <a:t>• The paper compares target and control syllables and measures baseline correlations before interpreting the spread of learning. Covariation is a specific mechanistic reason to qualify strict syllable independence, rather than an automatic uncertainty statement attached to every experiment.</a:t>
            </a:r>
          </a:p>
          <a:p/>
          <a:p>
            <a:r>
              <a:t>References:</a:t>
            </a:r>
          </a:p>
          <a:p>
            <a:r>
              <a:t>Xiao L, Chattree G, Oscos FG, Cao M, Wanat MJ, Roberts TF (2018). A Basal Ganglia Circuit Sufficient to Guide Birdsong Learning. Neuron 98:208–221.e5. https://doi.org/10.1016/j.neuron.2018.02.020</a:t>
            </a:r>
          </a:p>
          <a:p/>
          <a:p>
            <a:r>
              <a:t>Figure: Xiao et al. (2018), Fig. 7(A–C). Spectral and temporal precision of optical reinforcement.</a:t>
            </a:r>
          </a:p>
          <a:p>
            <a:r>
              <a:t>Figure source: https://doi.org/10.1016/j.neuron.2018.02.020</a:t>
            </a:r>
          </a:p>
          <a:p/>
          <a:p>
            <a:r>
              <a:t>Figure: Xiao et al. (2018), Fig. 2(A,B). VTA dopamine cells and their axons in Area X.</a:t>
            </a:r>
          </a:p>
          <a:p>
            <a:r>
              <a:t>Figure source: https://doi.org/10.1016/j.neuron.2018.02.020</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Intersectional targeting selects neurons by combining two biological criteria. Hisey and colleagues used viral expression in VTA together with a retrogradely delivered signal from Area X to activate a cell-ablation mechanism in the projecting population.</a:t>
            </a:r>
          </a:p>
          <a:p>
            <a:r>
              <a:t>• Before the ablation developed, birds learned to raise a target syllable’s pitch under contingent noise. Approximately a month later, after loss of VTA-to-Area X cells, the same animals exhibited reduced learning under the corresponding feedback task.</a:t>
            </a:r>
          </a:p>
          <a:p>
            <a:r>
              <a:t>• The manipulation preserved trial-to-trial pitch variation and recovery toward baseline after noise ended. These behaviors therefore have distinguishable dependencies: the projecting cells support normal reinforcement-driven adjustment, while production of residual variation and restoration of the baseline song can persist after partial loss of the teaching projection.</a:t>
            </a:r>
          </a:p>
          <a:p>
            <a:r>
              <a:t>• Ablation is irreversible loss of the targeted cells, unlike transient optical inhibition. Comparing early and later tests in the same bird ties the impairment to development of the manipulation. Histology connects the behavioral change to survival of the projecting population.</a:t>
            </a:r>
          </a:p>
          <a:p/>
          <a:p>
            <a:r>
              <a:t>References:</a:t>
            </a:r>
          </a:p>
          <a:p>
            <a:r>
              <a:t>Hisey E, Kearney MG, Mooney R (2018). A common neural circuit mechanism for internally guided and externally reinforced forms of motor learning. Nature Neuroscience 21:589–597. https://doi.org/10.1038/s41593-018-0092-6</a:t>
            </a:r>
          </a:p>
          <a:p/>
          <a:p>
            <a:r>
              <a:t>Figure: Hisey et al. (2018), Fig. 1(a–h). Projection-targeted ablation, histology, learning, and recovery.</a:t>
            </a:r>
          </a:p>
          <a:p>
            <a:r>
              <a:t>Figure source: https://doi.org/10.1038/s41593-018-0092-6</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antagonist blocks a receptor’s activation by its normal transmitter. Hisey and colleagues delivered the D1-type dopamine receptor antagonist SCH23390 into Area X through microdialysis, a local drug-delivery method using a semipermeable probe.</a:t>
            </a:r>
          </a:p>
          <a:p>
            <a:r>
              <a:t>• With saline delivery, pitch-contingent noise drove adaptive pitch learning. During D1 blockade, the target syllable failed to acquire the usual shift despite continuing to exhibit trial-to-trial pitch variation. Learning returned when saline replaced the antagonist.</a:t>
            </a:r>
          </a:p>
          <a:p>
            <a:r>
              <a:t>• D1 blockade also reduced learning driven by optical activation of VTA terminals. The behavioral effect of this projection therefore depended on dopamine-sensitive receptors at its basal-ganglia endpoint. Receptor signaling links the transient teaching input to subsequent vocal adjustment, rather than treating projection activity alone as a sufficient account of the plasticity.</a:t>
            </a:r>
          </a:p>
          <a:p>
            <a:r>
              <a:t>• The reversible pharmacological manipulation separates learning from the ability to produce variable song. Microdialysis supplied the antagonist locally in Area X. The optical-plus-antagonist experiment also addresses the possibility that other transmitters released by VTA terminals explain the learning effect.</a:t>
            </a:r>
          </a:p>
          <a:p/>
          <a:p>
            <a:r>
              <a:t>References:</a:t>
            </a:r>
          </a:p>
          <a:p>
            <a:r>
              <a:t>Hisey E, Kearney MG, Mooney R (2018). A common neural circuit mechanism for internally guided and externally reinforced forms of motor learning. Nature Neuroscience 21:589–597. https://doi.org/10.1038/s41593-018-0092-6</a:t>
            </a:r>
          </a:p>
          <a:p/>
          <a:p>
            <a:r>
              <a:t>Figure: Hisey et al. (2018), Fig. 3(a–h). D1 receptor blockade prevents learning and D2 blockade reduces singing.</a:t>
            </a:r>
          </a:p>
          <a:p>
            <a:r>
              <a:t>Figure source: https://doi.org/10.1038/s41593-018-0092-6</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D2-type dopamine receptors provide another route for dopamine to influence Area X. Hisey and colleagues blocked these receptors with sulpiride and compared the resulting behavior with D1 blockade and saline conditions.</a:t>
            </a:r>
          </a:p>
          <a:p>
            <a:r>
              <a:t>• D2 blockade strongly reduced how much the birds sang, with an average reduction of about 66% in the reported comparison. Its effects on total daily pitch learning were variable, while trial-to-trial pitch variability remained present.</a:t>
            </a:r>
          </a:p>
          <a:p>
            <a:r>
              <a:t>• When learning was considered relative to the number of target renditions, it was often preserved or enhanced. Daily change depends on both the learning supported by each performance and the amount of practice. D1 and D2 manipulations therefore separated receptor-dependent adaptation from dopamine-related regulation of how often the vocal behavior occurred.</a:t>
            </a:r>
          </a:p>
          <a:p>
            <a:r>
              <a:t>• A reduced daily learning total can follow fewer opportunities to practice even when learning per rendition remains intact. The source explicitly makes this behavioral distinction. D1 and D2 receptors can coexist in Area X neurons, so the results do not require assuming two completely separate receptor-exclusive cell populations.</a:t>
            </a:r>
          </a:p>
          <a:p/>
          <a:p>
            <a:r>
              <a:t>References:</a:t>
            </a:r>
          </a:p>
          <a:p>
            <a:r>
              <a:t>Hisey E, Kearney MG, Mooney R (2018). A common neural circuit mechanism for internally guided and externally reinforced forms of motor learning. Nature Neuroscience 21:589–597. https://doi.org/10.1038/s41593-018-0092-6</a:t>
            </a:r>
          </a:p>
          <a:p/>
          <a:p>
            <a:r>
              <a:t>Figure: Hisey et al. (2018), Fig. 3(a–h). D1 receptor blockade prevents learning and D2 blockade reduces singing.</a:t>
            </a:r>
          </a:p>
          <a:p>
            <a:r>
              <a:t>Figure source: https://doi.org/10.1038/s41593-018-0092-6</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Juvenile zebra finches learn a tutor’s song without the experimentally imposed noise used in adult pitch training. Hisey and colleagues tested whether this internally guided learning shared the VTA-to-Area X pathway required by the adult reinforcement task.</a:t>
            </a:r>
          </a:p>
          <a:p>
            <a:r>
              <a:t>• Projection-targeted ablation impaired tutor-song copying. Reversible D1 blockade in Area X during a 10-day juvenile learning period also prevented the normal increase in similarity to the tutor while the antagonist was present.</a:t>
            </a:r>
          </a:p>
          <a:p>
            <a:r>
              <a:t>• After drug treatment ended, juveniles improved and ultimately approached the copying achieved by controls. The circuit is therefore required during ongoing acquisition rather than merely reflecting adult responses to external feedback. Internally guided imitation and externally reinforced adjustment recruit a common dopamine-sensitive learning pathway despite different sources of the desired outcome.</a:t>
            </a:r>
          </a:p>
          <a:p>
            <a:r>
              <a:t>• The D1 manipulation targeted the period around 50–60 days after hatching. The later improvement after washout distinguishes a temporary interruption of learning from permanent destruction of the memorized tutor model. Ablation and receptor blockade provide complementary cellular and pharmacological evidence.</a:t>
            </a:r>
          </a:p>
          <a:p/>
          <a:p>
            <a:r>
              <a:t>References:</a:t>
            </a:r>
          </a:p>
          <a:p>
            <a:r>
              <a:t>Hisey E, Kearney MG, Mooney R (2018). A common neural circuit mechanism for internally guided and externally reinforced forms of motor learning. Nature Neuroscience 21:589–597. https://doi.org/10.1038/s41593-018-0092-6</a:t>
            </a:r>
          </a:p>
          <a:p/>
          <a:p>
            <a:r>
              <a:t>Figure: Hisey et al. (2018), Fig. 4(a–i). Juvenile tutor copying requires VTA cells and D1 signaling.</a:t>
            </a:r>
          </a:p>
          <a:p>
            <a:r>
              <a:t>Figure source: https://doi.org/10.1038/s41593-018-0092-6</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afferent is an input projection arriving at a neural region. Kearney and colleagues examined two major inputs to VTA: the ventral intermediate arcopallium, or Aiv, and the ventral pallidum, or VP.</a:t>
            </a:r>
          </a:p>
          <a:p>
            <a:r>
              <a:t>• Aiv receives auditory-related information, while VP receives inputs that include the vocal basal ganglia. These connections place both regions upstream of the dopamine teaching signal, where information about performed song can influence evaluation.</a:t>
            </a:r>
          </a:p>
          <a:p>
            <a:r>
              <a:t>• The projections differed in transmitter-related molecular markers and in the direction of learning produced by contingent stimulation. Aiv input favored avoidance of associated variants; VP input favored their repetition. The VTA therefore integrates multiple evaluative routes rather than deriving both signs of reinforcement from an undifferentiated input.</a:t>
            </a:r>
          </a:p>
          <a:p>
            <a:r>
              <a:t>• Aiv and VP are anatomically distinct from the descending song motor pathway. The source’s original molecular panels locate the projecting cell populations. Their roles were tested through temporally specific interference and through contingent stimulation in the absence of auditory punishment.</a:t>
            </a:r>
          </a:p>
          <a:p/>
          <a:p>
            <a:r>
              <a:t>References:</a:t>
            </a:r>
          </a:p>
          <a:p>
            <a:r>
              <a:t>Kearney MG, Warren TL, Hisey E, Qi J, Mooney R (2019). Discrete Evaluative and Premotor Circuits Enable Vocal Learning in Songbirds. Neuron 104:559–575.e6. https://doi.org/10.1016/j.neuron.2019.07.025</a:t>
            </a:r>
          </a:p>
          <a:p/>
          <a:p>
            <a:r>
              <a:t>Figure: Kearney et al. (2019), Fig. 1(F). Anatomical arrangement of song motor and evaluative nuclei.</a:t>
            </a:r>
          </a:p>
          <a:p>
            <a:r>
              <a:t>Figure source: https://doi.org/10.1016/j.neuron.2019.07.025</a:t>
            </a:r>
          </a:p>
          <a:p/>
          <a:p>
            <a:r>
              <a:t>Figure: Kearney et al. (2019), Fig. 7(A,B). Glutamate and GABA transporter expression in VTA afferents.</a:t>
            </a:r>
          </a:p>
          <a:p>
            <a:r>
              <a:t>Figure source: https://doi.org/10.1016/j.neuron.2019.07.025</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Kearney and colleagues optically activated Aiv terminals in VTA on every rendition of a target syllable while noise remained contingent on pitch. This imposed similar terminal activity across performances that normally received different auditory outcomes.</a:t>
            </a:r>
          </a:p>
          <a:p>
            <a:r>
              <a:t>• Stimulation during the 50-ms auditory feedback window strongly reduced the pitch learning driven by noise. Moving the intervention into the 50-ms premotor window just before syllable onset preserved the learning response.</a:t>
            </a:r>
          </a:p>
          <a:p>
            <a:r>
              <a:t>• Premotor activity precedes and contributes to movement; evaluative activity processes its outcome. The timing comparison assigned Aiv input a feedback-related role. Variation in this projection during the auditory consequence was necessary for normal learning, whereas imposing comparable activation before the vocal action did not have the same effect.</a:t>
            </a:r>
          </a:p>
          <a:p>
            <a:r>
              <a:t>• The feedback-window intervention began approximately 10 ms after the expected noise onset. It was delivered on all target renditions, so it interfered with outcome-dependent variation rather than positively reinforcing only one pitch range. The same manipulation also had no acute systematic effect on syllable acoustics.</a:t>
            </a:r>
          </a:p>
          <a:p/>
          <a:p>
            <a:r>
              <a:t>References:</a:t>
            </a:r>
          </a:p>
          <a:p>
            <a:r>
              <a:t>Kearney MG, Warren TL, Hisey E, Qi J, Mooney R (2019). Discrete Evaluative and Premotor Circuits Enable Vocal Learning in Songbirds. Neuron 104:559–575.e6. https://doi.org/10.1016/j.neuron.2019.07.025</a:t>
            </a:r>
          </a:p>
          <a:p/>
          <a:p>
            <a:r>
              <a:t>Figure: Kearney et al. (2019), Fig. 2(E–G). Feedback-window interference in Aiv inputs reduces pitch learning.</a:t>
            </a:r>
          </a:p>
          <a:p>
            <a:r>
              <a:t>Figure source: https://doi.org/10.1016/j.neuron.2019.07.025</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same timing strategy was applied to VP terminals in VTA. Noise still punished selected pitch variants, while optical stimulation imposed a common input on every detected rendition of the target syllable.</a:t>
            </a:r>
          </a:p>
          <a:p>
            <a:r>
              <a:t>• VP stimulation during the auditory feedback window reduced noise-driven learning. Stimulation during the earlier premotor window preserved the usual pitch adjustment. The intervention’s timing therefore mattered even though its anatomical target remained unchanged.</a:t>
            </a:r>
          </a:p>
          <a:p>
            <a:r>
              <a:t>• Both Aiv and VP inputs contributed to evaluation at the time of the vocal consequence. Their normal variation across renditions was needed for adaptive learning. These matched timing experiments separate the pathways’ evaluative function from an immediate command that simply changes how the current syllable is produced.</a:t>
            </a:r>
          </a:p>
          <a:p>
            <a:r>
              <a:t>• The VP experiment parallels the Aiv experiment but tests a separate afferent population. Neither manipulation should be interpreted as a lesion of the entire evaluator. Imposing a stereotyped input during feedback interferes with the information normally carried by that pathway.</a:t>
            </a:r>
          </a:p>
          <a:p/>
          <a:p>
            <a:r>
              <a:t>References:</a:t>
            </a:r>
          </a:p>
          <a:p>
            <a:r>
              <a:t>Kearney MG, Warren TL, Hisey E, Qi J, Mooney R (2019). Discrete Evaluative and Premotor Circuits Enable Vocal Learning in Songbirds. Neuron 104:559–575.e6. https://doi.org/10.1016/j.neuron.2019.07.025</a:t>
            </a:r>
          </a:p>
          <a:p/>
          <a:p>
            <a:r>
              <a:t>Figure: Kearney et al. (2019), Fig. 2(H–J). Feedback-window interference in VP inputs reduces pitch learning.</a:t>
            </a:r>
          </a:p>
          <a:p>
            <a:r>
              <a:t>Figure source: https://doi.org/10.1016/j.neuron.2019.07.025</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LMAN provides the cortical output of the anterior forebrain learning pathway and projects to RA and back into Area X. Kearney and colleagues used channelrhodopsin expression and optical fibers to interfere with its activity during defined song windows.</a:t>
            </a:r>
          </a:p>
          <a:p>
            <a:r>
              <a:t>• Optical activation evoked reliable high-frequency bursts, exceeding 400 spikes per second in the validation recordings. During singing, stimulation in the premotor window prevented the usual pitch learning driven by contingent noise.</a:t>
            </a:r>
          </a:p>
          <a:p>
            <a:r>
              <a:t>• The same intervention in the auditory feedback window allowed normal learning. LMAN therefore contributed at a different time from Aiv and VP: before production rather than during evaluation. This temporal separation supports a circuit in which premotor variation and bias influence the action, while distinct afferents evaluate its acoustic consequence.</a:t>
            </a:r>
          </a:p>
          <a:p>
            <a:r>
              <a:t>• The physiological validation was performed in anesthetized birds, whereas the behavioral timing comparison was performed during singing. The LMAN histology and firing traces connect the optical intervention with the targeted nucleus. The pathway’s premotor role does not mean that it is the sole source of all song variability.</a:t>
            </a:r>
          </a:p>
          <a:p/>
          <a:p>
            <a:r>
              <a:t>References:</a:t>
            </a:r>
          </a:p>
          <a:p>
            <a:r>
              <a:t>Kearney MG, Warren TL, Hisey E, Qi J, Mooney R (2019). Discrete Evaluative and Premotor Circuits Enable Vocal Learning in Songbirds. Neuron 104:559–575.e6. https://doi.org/10.1016/j.neuron.2019.07.025</a:t>
            </a:r>
          </a:p>
          <a:p/>
          <a:p>
            <a:r>
              <a:t>Figure: Kearney et al. (2019), Fig. 3(A–G). LMAN anatomy, evoked spikes, and premotor interference.</a:t>
            </a:r>
          </a:p>
          <a:p>
            <a:r>
              <a:t>Figure source: https://doi.org/10.1016/j.neuron.2019.07.025</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Pitch-contingent stimulation can test whether an evaluative input supplies a teaching signal without disruptive sound. Kearney and colleagues delivered 50-ms, 473-nm light pulses to Aiv terminals in VTA when a target syllable crossed the chosen pitch threshold.</a:t>
            </a:r>
          </a:p>
          <a:p>
            <a:r>
              <a:t>• Over repeated training days, pitch shifted away from the stimulated range. Stimulating low variants favored higher pitches, whereas stimulating high variants favored lower pitches. Learned changes were measured on unstimulated catch renditions.</a:t>
            </a:r>
          </a:p>
          <a:p>
            <a:r>
              <a:t>• The effect resembled negative reinforcement by noise and remained largely restricted to the targeted syllable. Aiv terminal activity therefore supplied a consequence that selected avoidance of the associated performance. The result links a defined evaluative afferent to the sign of later behavioral change rather than only correlating its activity with an auditory error.</a:t>
            </a:r>
          </a:p>
          <a:p>
            <a:r>
              <a:t>• Illumination without functional channelrhodopsin did not drive the corresponding change. Catch renditions separate accumulated learning from acute optical effects. The histology verifies the projection from Aiv cells to VTA terminals in the same published study.</a:t>
            </a:r>
          </a:p>
          <a:p/>
          <a:p>
            <a:r>
              <a:t>References:</a:t>
            </a:r>
          </a:p>
          <a:p>
            <a:r>
              <a:t>Kearney MG, Warren TL, Hisey E, Qi J, Mooney R (2019). Discrete Evaluative and Premotor Circuits Enable Vocal Learning in Songbirds. Neuron 104:559–575.e6. https://doi.org/10.1016/j.neuron.2019.07.025</a:t>
            </a:r>
          </a:p>
          <a:p/>
          <a:p>
            <a:r>
              <a:t>Figure: Kearney et al. (2019), Fig. 4(F,G). Pitch shifts away from Aiv terminal stimulation.</a:t>
            </a:r>
          </a:p>
          <a:p>
            <a:r>
              <a:t>Figure source: https://doi.org/10.1016/j.neuron.2019.07.025</a:t>
            </a:r>
          </a:p>
          <a:p/>
          <a:p>
            <a:r>
              <a:t>Figure: Kearney et al. (2019), Fig. 4(A,B). Aiv cells and their terminals in VTA.</a:t>
            </a:r>
          </a:p>
          <a:p>
            <a:r>
              <a:t>Figure source: https://doi.org/10.1016/j.neuron.2019.07.025</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When comparable optical pulses targeted VP terminals in VTA, learning proceeded in the opposite direction from Aiv stimulation. The zebra finches shifted target pitch toward the region associated with terminal activation.</a:t>
            </a:r>
          </a:p>
          <a:p>
            <a:r>
              <a:t>• Stimulation paired with low-pitch variants favored lower future pitches; stimulation paired with high-pitch variants favored higher pitches. The effect developed across training days and was assessed on catch renditions without concurrent light.</a:t>
            </a:r>
          </a:p>
          <a:p>
            <a:r>
              <a:t>• VP input therefore provided a positively reinforcing consequence under the tested conditions. The contrast with Aiv arose from stimulating different projections into the same midbrain region, not from changing the acoustic detector’s basic operation. Complementary evaluative pathways can assign opposite values to similar vocal variants and thereby guide adaptive control in either direction.</a:t>
            </a:r>
          </a:p>
          <a:p>
            <a:r>
              <a:t>• The investigators used histology to verify VP cells and their terminals in VTA. Acute stimulation did not account for the accumulated pitch shift through an immediate change in the vocal feature. The sign of reinforcement was established from the direction of learning toward or away from the selected variants.</a:t>
            </a:r>
          </a:p>
          <a:p/>
          <a:p>
            <a:r>
              <a:t>References:</a:t>
            </a:r>
          </a:p>
          <a:p>
            <a:r>
              <a:t>Kearney MG, Warren TL, Hisey E, Qi J, Mooney R (2019). Discrete Evaluative and Premotor Circuits Enable Vocal Learning in Songbirds. Neuron 104:559–575.e6. https://doi.org/10.1016/j.neuron.2019.07.025</a:t>
            </a:r>
          </a:p>
          <a:p/>
          <a:p>
            <a:r>
              <a:t>Figure: Kearney et al. (2019), Fig. 5(F,G). Pitch shifts toward VP terminal stimulation.</a:t>
            </a:r>
          </a:p>
          <a:p>
            <a:r>
              <a:t>Figure source: https://doi.org/10.1016/j.neuron.2019.07.025</a:t>
            </a:r>
          </a:p>
          <a:p/>
          <a:p>
            <a:r>
              <a:t>Figure: Kearney et al. (2019), Fig. 5(A,B). VP cells and their terminals in VTA.</a:t>
            </a:r>
          </a:p>
          <a:p>
            <a:r>
              <a:t>Figure source: https://doi.org/10.1016/j.neuron.2019.07.025</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Kearney and colleagues recorded VTA neurons while stimulating Aiv or VP terminals. Putative dopamine neurons were identified physiologically by relatively broad action potentials and low spontaneous firing, commonly below 15 spikes per second.</a:t>
            </a:r>
          </a:p>
          <a:p>
            <a:r>
              <a:t>• Aiv stimulation increased firing in many thin-spiking neurons while suppressing many broad-spiking cells. VP stimulation produced the reverse pattern, suppressing thin-spiking neurons while exciting the putative dopamine population.</a:t>
            </a:r>
          </a:p>
          <a:p>
            <a:r>
              <a:t>• An interneuron is a locally acting neuron that modifies activity within a circuit. These opposite responses connect the behavioral signs of reinforcement with distinct effects inside VTA. The physiological classification remains putative, but the combination of firing responses and molecular anatomy supports local inhibitory control as a route for converting afferent activity into bidirectional dopamine signaling.</a:t>
            </a:r>
          </a:p>
          <a:p>
            <a:r>
              <a:t>• The recording preparation was anesthetized, and cell identities were assigned from physiological properties rather than genetically tagging every recorded unit. The experiments establish opposing population tendencies. Anatomical transmitter markers provide independent support for the local circuit interpretation.</a:t>
            </a:r>
          </a:p>
          <a:p/>
          <a:p>
            <a:r>
              <a:t>References:</a:t>
            </a:r>
          </a:p>
          <a:p>
            <a:r>
              <a:t>Kearney MG, Warren TL, Hisey E, Qi J, Mooney R (2019). Discrete Evaluative and Premotor Circuits Enable Vocal Learning in Songbirds. Neuron 104:559–575.e6. https://doi.org/10.1016/j.neuron.2019.07.025</a:t>
            </a:r>
          </a:p>
          <a:p/>
          <a:p>
            <a:r>
              <a:t>Figure: Kearney et al. (2019), Fig. 6(A–H). Aiv and VP inputs have opposing effects on VTA neuron classes.</a:t>
            </a:r>
          </a:p>
          <a:p>
            <a:r>
              <a:t>Figure source: https://doi.org/10.1016/j.neuron.2019.07.025</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Glutamatergic neurons release glutamate, while GABAergic neurons release the inhibitory transmitter gamma-aminobutyric acid. Molecular labeling identified most VTA-projecting Aiv cells with a vesicular glutamate transporter and most VP cells with a vesicular GABA transporter.</a:t>
            </a:r>
          </a:p>
          <a:p>
            <a:r>
              <a:t>• Both afferents preferentially apposed VTA neurons expressing parvalbumin, a marker used here for inhibitory interneurons. Aiv’s excitatory input can recruit inhibition of dopamine cells; VP’s inhibitory input can suppress that local inhibition.</a:t>
            </a:r>
          </a:p>
          <a:p>
            <a:r>
              <a:t>• Disinhibition increases a neuron’s activity by reducing inhibition acting on it. The circuit hypothesis is that Aiv excites local inhibitory cells to reduce dopamine firing, whereas VP inhibits those cells to increase dopamine firing. This sign inversion accounts for the opposite physiological and behavioral effects of the two evaluative pathways.</a:t>
            </a:r>
          </a:p>
          <a:p>
            <a:r>
              <a:t>• VGLUT2 marks vesicular glutamate transport and VGAT marks vesicular GABA transport. Close apposition is an anatomical relationship, not a direct measurement of each synapse’s strength. The local sign-inverting circuit is explicitly a hypothesis supported by converging molecular, anatomical, and physiological findings.</a:t>
            </a:r>
          </a:p>
          <a:p/>
          <a:p>
            <a:r>
              <a:t>References:</a:t>
            </a:r>
          </a:p>
          <a:p>
            <a:r>
              <a:t>Kearney MG, Warren TL, Hisey E, Qi J, Mooney R (2019). Discrete Evaluative and Premotor Circuits Enable Vocal Learning in Songbirds. Neuron 104:559–575.e6. https://doi.org/10.1016/j.neuron.2019.07.025</a:t>
            </a:r>
          </a:p>
          <a:p/>
          <a:p>
            <a:r>
              <a:t>Figure: Kearney et al. (2019), Fig. 7(A,B). Glutamate and GABA transporter expression in VTA afferents.</a:t>
            </a:r>
          </a:p>
          <a:p>
            <a:r>
              <a:t>Figure source: https://doi.org/10.1016/j.neuron.2019.07.025</a:t>
            </a:r>
          </a:p>
          <a:p/>
          <a:p>
            <a:r>
              <a:t>Figure: Kearney et al. (2019), Fig. 7(C,D). Aiv and VP terminals preferentially appose VTA interneurons.</a:t>
            </a:r>
          </a:p>
          <a:p>
            <a:r>
              <a:t>Figure source: https://doi.org/10.1016/j.neuron.2019.07.025</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local field potential, or LFP, is an extracellular voltage signal reflecting aggregate neural currents near a recording site. Brown and colleagues chronically implanted multisite probes targeting HVC and recorded the electrical signal together with the bird’s song.</a:t>
            </a:r>
          </a:p>
          <a:p>
            <a:r>
              <a:t>• The preparation measured freely produced vocal behavior and multiple neural channels at the same time. Song consisted of repeated motifs containing distinct syllables, allowing electrical activity to be aligned with both the larger sequence and individual acoustic events.</a:t>
            </a:r>
          </a:p>
          <a:p>
            <a:r>
              <a:t>• LFP features provide a population-level readout that differs from isolating a single neuron’s spikes. Their relationship to vocal timing can support neural decoding when individual units are difficult to maintain. The study tested what these signals predict about natural song, rather than assuming that any detectable rhythm is sufficient for an operating neural interface.</a:t>
            </a:r>
          </a:p>
          <a:p>
            <a:r>
              <a:t>• The recording location is described as presumptively HVC in the source because chronic localization has practical uncertainty. LFP is not equivalent to dopamine concentration or to the firing of one identified projection neuron. It summarizes electrical activity accessible to the implanted probe.</a:t>
            </a:r>
          </a:p>
          <a:p/>
          <a:p>
            <a:r>
              <a:t>References:</a:t>
            </a:r>
          </a:p>
          <a:p>
            <a:r>
              <a:t>Brown DE, Chavez JI, Nguyen DH, Kadwory A, Voytek B, Arneodo EM, Gentner TQ, Gilja V (2021). Local field potentials in a pre-motor region predict learned vocal sequences. PLOS Computational Biology 17:e1008100. https://doi.org/10.1371/journal.pcbi.1008100</a:t>
            </a:r>
          </a:p>
          <a:p/>
          <a:p>
            <a:r>
              <a:t>Figure: Brown et al. (2021), Fig. 1(A–D). Implantation anatomy and simultaneous neural and song recordings.</a:t>
            </a:r>
          </a:p>
          <a:p>
            <a:r>
              <a:t>Figure source: https://doi.org/10.1371/journal.pcbi.1008100</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Power describes the strength of a signal’s frequency components. Brown and colleagues analyzed HVC-targeted LFP activity during vocalization and nearby silent periods to identify changes associated with production of song.</a:t>
            </a:r>
          </a:p>
          <a:p>
            <a:r>
              <a:t>• Power increased in frequencies above roughly 50 Hz before and during singing. Lower-frequency components also exhibited structured rhythmic changes, including a prominent 25–35 Hz pattern and additional organization in 4–8 Hz and 8–12 Hz bands.</a:t>
            </a:r>
          </a:p>
          <a:p>
            <a:r>
              <a:t>• High-frequency power declined shortly after the bout ended, linking it to the period of vocal activity. Several frequency ranges therefore carried behavior-related information on different time scales. Neural decoding can use these distinct features, rather than treating the entire population signal as a single undifferentiated measure of activation.</a:t>
            </a:r>
          </a:p>
          <a:p>
            <a:r>
              <a:t>• A song bout can contain several repeated motifs. Electrical frequency is distinct from the much higher acoustic frequencies of the syllables. The source uses electrical spectrograms to characterize neural rhythms and acoustic spectrograms to characterize the emitted song.</a:t>
            </a:r>
          </a:p>
          <a:p/>
          <a:p>
            <a:r>
              <a:t>References:</a:t>
            </a:r>
          </a:p>
          <a:p>
            <a:r>
              <a:t>Brown DE, Chavez JI, Nguyen DH, Kadwory A, Voytek B, Arneodo EM, Gentner TQ, Gilja V (2021). Local field potentials in a pre-motor region predict learned vocal sequences. PLOS Computational Biology 17:e1008100. https://doi.org/10.1371/journal.pcbi.1008100</a:t>
            </a:r>
          </a:p>
          <a:p/>
          <a:p>
            <a:r>
              <a:t>Figure: Brown et al. (2021), Fig. 4(A–C). Song-related local field potential power changes.</a:t>
            </a:r>
          </a:p>
          <a:p>
            <a:r>
              <a:t>Figure source: https://doi.org/10.1371/journal.pcbi.1008100</a:t>
            </a:r>
          </a:p>
          <a:p/>
          <a:p>
            <a:r>
              <a:t>Figure: Brown et al. (2021), Fig. 1(A,B). HVC and recording.</a:t>
            </a:r>
          </a:p>
          <a:p>
            <a:r>
              <a:t>Figure source: https://doi.org/10.1371/journal.pcbi.1008100</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Phase specifies the position within an oscillatory cycle, while power specifies its strength. Brown and colleagues compared LFP phase at the onset of repeated syllables to determine whether population rhythms carried precise timing information.</a:t>
            </a:r>
          </a:p>
          <a:p>
            <a:r>
              <a:t>• Individual syllables had characteristic phase preferences in several frequency bands. Aligning the signal to actual syllable onsets produced stronger consistency than aligning it only to the average expected time within the motif.</a:t>
            </a:r>
          </a:p>
          <a:p>
            <a:r>
              <a:t>• The neural rhythm therefore tracked local vocal events rather than merely running as a fixed clock from the beginning of the song. This event-related alignment can help a decoder distinguish when a particular syllable is about to occur, even when the timing of the larger sequence varies across performances.</a:t>
            </a:r>
          </a:p>
          <a:p>
            <a:r>
              <a:t>• The same song can vary in tempo or in the timing of particular syllables. Comparing actual and average syllable onset times tests whether phase organization follows the local action. The published polar distributions and time-frequency panels retain the source’s frequency and timing scales.</a:t>
            </a:r>
          </a:p>
          <a:p/>
          <a:p>
            <a:r>
              <a:t>References:</a:t>
            </a:r>
          </a:p>
          <a:p>
            <a:r>
              <a:t>Brown DE, Chavez JI, Nguyen DH, Kadwory A, Voytek B, Arneodo EM, Gentner TQ, Gilja V (2021). Local field potentials in a pre-motor region predict learned vocal sequences. PLOS Computational Biology 17:e1008100. https://doi.org/10.1371/journal.pcbi.1008100</a:t>
            </a:r>
          </a:p>
          <a:p/>
          <a:p>
            <a:r>
              <a:t>Figure: Brown et al. (2021), Fig. 7(A–C). Syllable-specific phase preferences across frequency bands.</a:t>
            </a:r>
          </a:p>
          <a:p>
            <a:r>
              <a:t>Figure source: https://doi.org/10.1371/journal.pcbi.1008100</a:t>
            </a:r>
          </a:p>
          <a:p/>
          <a:p>
            <a:r>
              <a:t>Figure: Brown et al. (2021), Fig. 1(A,B). HVC and recording.</a:t>
            </a:r>
          </a:p>
          <a:p>
            <a:r>
              <a:t>Figure source: https://doi.org/10.1371/journal.pcbi.1008100</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Neural decoding estimates a behavioral variable from recorded brain activity. Brown and colleagues trained classifiers using LFP segments that ended before syllable onset, testing whether neural features predicted the identity of the upcoming vocal element.</a:t>
            </a:r>
          </a:p>
          <a:p>
            <a:r>
              <a:t>• They separated phase-related and power-related information to assess their contributions. Each feature type supported classification above the behavioral chance benchmark, and combining them generally improved performance as information from additional channels was included.</a:t>
            </a:r>
          </a:p>
          <a:p>
            <a:r>
              <a:t>• Different signal properties therefore supplied complementary information about intended vocal output. The classifier learned a relationship between measured neural patterns and labeled actions rather than generating song by itself. The analysis established an information source for interfaces, while its training and testing remained an offline decoding experiment.</a:t>
            </a:r>
          </a:p>
          <a:p>
            <a:r>
              <a:t>• The analysis used a linear discriminant classifier, an algorithm that assigns observations to categories from weighted features. Causal filtering and pre-onset feature windows reduce the possibility of classifying a syllable merely by incorporating signals recorded after it has already begun.</a:t>
            </a:r>
          </a:p>
          <a:p/>
          <a:p>
            <a:r>
              <a:t>References:</a:t>
            </a:r>
          </a:p>
          <a:p>
            <a:r>
              <a:t>Brown DE, Chavez JI, Nguyen DH, Kadwory A, Voytek B, Arneodo EM, Gentner TQ, Gilja V (2021). Local field potentials in a pre-motor region predict learned vocal sequences. PLOS Computational Biology 17:e1008100. https://doi.org/10.1371/journal.pcbi.1008100</a:t>
            </a:r>
          </a:p>
          <a:p/>
          <a:p>
            <a:r>
              <a:t>Figure: Brown et al. (2021), Fig. 9(A–C). Phase and power contribute independent syllable identity information.</a:t>
            </a:r>
          </a:p>
          <a:p>
            <a:r>
              <a:t>Figure source: https://doi.org/10.1371/journal.pcbi.1008100</a:t>
            </a:r>
          </a:p>
          <a:p/>
          <a:p>
            <a:r>
              <a:t>Figure: Brown et al. (2021), Fig. 1(A,B). HVC and recording.</a:t>
            </a:r>
          </a:p>
          <a:p>
            <a:r>
              <a:t>Figure source: https://doi.org/10.1371/journal.pcbi.1008100</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Predicting which syllable will occur differs from predicting when it begins. Brown and colleagues used neural feature templates to estimate the onset of each syllable within the naturally performed song sequence.</a:t>
            </a:r>
          </a:p>
          <a:p>
            <a:r>
              <a:t>• The features came from causally filtered signals recorded before the acoustic onset. Prediction was compared with a behavioral timing benchmark based on the average onset of that syllable relative to the first syllable of the motif.</a:t>
            </a:r>
          </a:p>
          <a:p>
            <a:r>
              <a:t>• Neural predictions followed rendition-specific timing rather than relying entirely on the stereotyped sequence. This distinction matters for an adaptive interface because a fixed song clock can miss natural timing changes. A measured premotor signal can supply event-specific timing information even when the order of most syllables is predictable.</a:t>
            </a:r>
          </a:p>
          <a:p>
            <a:r>
              <a:t>• A causal filter uses present and earlier signal samples rather than future samples. The study’s neural prediction analysis remained offline; it did not itself demonstrate a deployed feedback controller. The comparison with a behavioral timing model tests the added information in the neural recordings.</a:t>
            </a:r>
          </a:p>
          <a:p/>
          <a:p>
            <a:r>
              <a:t>References:</a:t>
            </a:r>
          </a:p>
          <a:p>
            <a:r>
              <a:t>Brown DE, Chavez JI, Nguyen DH, Kadwory A, Voytek B, Arneodo EM, Gentner TQ, Gilja V (2021). Local field potentials in a pre-motor region predict learned vocal sequences. PLOS Computational Biology 17:e1008100. https://doi.org/10.1371/journal.pcbi.1008100</a:t>
            </a:r>
          </a:p>
          <a:p/>
          <a:p>
            <a:r>
              <a:t>Figure: Brown et al. (2021), Fig. 10(A–D). Neural prediction of individual syllable onset times.</a:t>
            </a:r>
          </a:p>
          <a:p>
            <a:r>
              <a:t>Figure source: https://doi.org/10.1371/journal.pcbi.1008100</a:t>
            </a:r>
          </a:p>
          <a:p/>
          <a:p>
            <a:r>
              <a:t>Figure: Brown et al. (2021), Fig. 1(A,B). HVC and recording.</a:t>
            </a:r>
          </a:p>
          <a:p>
            <a:r>
              <a:t>Figure source: https://doi.org/10.1371/journal.pcbi.1008100</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Some zebra finch performances omitted a syllable or ended a bout before the usual sequence finished. These natural branch points tested whether neural decoding merely reproduced an average song order or reflected the action actually selected.</a:t>
            </a:r>
          </a:p>
          <a:p>
            <a:r>
              <a:t>• Brown and colleagues compared neural prediction confidence when a syllable was produced, skipped, or replaced by termination of the bout. The neural features distinguished these alternatives, including situations where a timing-only model expected a syllable that never occurred.</a:t>
            </a:r>
          </a:p>
          <a:p>
            <a:r>
              <a:t>• An interface based solely on stereotyped sequence timing would confuse an omitted action with a delayed one. Population activity instead carried information about the selected continuation. Adaptive control can therefore benefit from signals related to both action identity and action timing when behavior departs from its most common sequence.</a:t>
            </a:r>
          </a:p>
          <a:p>
            <a:r>
              <a:t>• The published examples preserve the recorded waveform, spectrogram, and neural prediction traces for performed, skipped, and terminated sequences. These branch-point comparisons are stronger evidence of behavioral information than predicting a perfectly fixed series of events.</a:t>
            </a:r>
          </a:p>
          <a:p/>
          <a:p>
            <a:r>
              <a:t>References:</a:t>
            </a:r>
          </a:p>
          <a:p>
            <a:r>
              <a:t>Brown DE, Chavez JI, Nguyen DH, Kadwory A, Voytek B, Arneodo EM, Gentner TQ, Gilja V (2021). Local field potentials in a pre-motor region predict learned vocal sequences. PLOS Computational Biology 17:e1008100. https://doi.org/10.1371/journal.pcbi.1008100</a:t>
            </a:r>
          </a:p>
          <a:p/>
          <a:p>
            <a:r>
              <a:t>Figure: Brown et al. (2021), Fig. 11(A–E). Neural decoding distinguishes singing, skipping, and stopping.</a:t>
            </a:r>
          </a:p>
          <a:p>
            <a:r>
              <a:t>Figure source: https://doi.org/10.1371/journal.pcbi.1008100</a:t>
            </a:r>
          </a:p>
          <a:p/>
          <a:p>
            <a:r>
              <a:t>Figure: Brown et al. (2021), Fig. 1(A,B). HVC and recording.</a:t>
            </a:r>
          </a:p>
          <a:p>
            <a:r>
              <a:t>Figure source: https://doi.org/10.1371/journal.pcbi.1008100</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Kawaji and colleagues developed SAIBS, a simultaneous automatic interpreter for birdsongs, to identify syllable sequences from ongoing audio. The system learned categories from each bird’s recorded song and used a convolutional neural network, a classifier that extracts local patterns from input data.</a:t>
            </a:r>
          </a:p>
          <a:p>
            <a:r>
              <a:t>• Annotation computation took about 6 ms after syllable detection. The measured interval from song completion to feedback presentation was about 109 ms, allowing consequences to depend on the contents of a completed song.</a:t>
            </a:r>
          </a:p>
          <a:p>
            <a:r>
              <a:t>• SAIBS is an acoustic decoder, not a neural recording device. It complements projection-targeted stimulation by providing a richer behavioral measurement for closed-loop experiments. The system could count repeated syllables and recognize sequences, extending adaptive feedback beyond a single pitch threshold within one vocal element.</a:t>
            </a:r>
          </a:p>
          <a:p>
            <a:r>
              <a:t>• The authors clustered syllable spectra before training the classifier, reducing the need for manual annotation. The software’s processing time and the complete feedback latency are different quantities. Total system latency includes detection and presentation beyond the classifier’s computation.</a:t>
            </a:r>
          </a:p>
          <a:p/>
          <a:p>
            <a:r>
              <a:t>References:</a:t>
            </a:r>
          </a:p>
          <a:p>
            <a:r>
              <a:t>Kawaji T, Fujibayashi M, Abe K (2024). Goal-directed and flexible modulation of syllable sequence within birdsong. Nature Communications 15:3419. https://doi.org/10.1038/s41467-024-47824-1</a:t>
            </a:r>
          </a:p>
          <a:p/>
          <a:p>
            <a:r>
              <a:t>Figure: Kawaji et al. (2024), Fig. 1(a–e). Online song segmentation, decoding, and annotation agreement.</a:t>
            </a:r>
          </a:p>
          <a:p>
            <a:r>
              <a:t>Figure source: https://doi.org/10.1038/s41467-024-47824-1</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Operant conditioning changes behavior through consequences contingent on an action. Kawaji and colleagues counted repetitions of a target syllable in Bengalese finch song and presented an original conspecific video when the count crossed a selected threshold.</a:t>
            </a:r>
          </a:p>
          <a:p>
            <a:r>
              <a:t>• Conspecific means an individual of the same species. The social stimulus elicited approaches, singing, and feather erection in preliminary observations. Under repetition-contingent presentation, birds increased the occurrence of songs containing enough repetitions to meet the criterion.</a:t>
            </a:r>
          </a:p>
          <a:p>
            <a:r>
              <a:t>• Comparable nonsocial visual feedback failed to produce the same increase. The reinforcing effect therefore depended on the social content rather than merely the arrival of a visual event. Closed-loop feedback can select a sequence property through a behaviorally meaningful consequence, broadening adaptive song control beyond punishment by noise.</a:t>
            </a:r>
          </a:p>
          <a:p>
            <a:r>
              <a:t>• The embedded Supplementary Movie 1 is the original conspecific stimulus, not a recording of the subject’s behavioral response. The source distinguishes this social video from the nonsocial control in Supplementary Movie 2. The published figure retains the repetition criterion and measured change as a static fallback.</a:t>
            </a:r>
          </a:p>
          <a:p/>
          <a:p>
            <a:r>
              <a:t>References:</a:t>
            </a:r>
          </a:p>
          <a:p>
            <a:r>
              <a:t>Kawaji T, Fujibayashi M, Abe K (2024). Goal-directed and flexible modulation of syllable sequence within birdsong. Nature Communications 15:3419. https://doi.org/10.1038/s41467-024-47824-1</a:t>
            </a:r>
          </a:p>
          <a:p/>
          <a:p>
            <a:r>
              <a:t>Figure: Kawaji et al. (2024), Fig. 2(a,b). Social reinforcement increases target syllable repetition.</a:t>
            </a:r>
          </a:p>
          <a:p>
            <a:r>
              <a:t>Figure source: https://doi.org/10.1038/s41467-024-47824-1</a:t>
            </a:r>
          </a:p>
          <a:p/>
          <a:p>
            <a:r>
              <a:t>Article-provided recording:</a:t>
            </a:r>
          </a:p>
          <a:p>
            <a:r>
              <a:t>Kawaji et al. (2024), Supplementary Movie 1. Original conspecific video used as a social stimulus.</a:t>
            </a:r>
          </a:p>
          <a:p>
            <a:r>
              <a:t>Article DOI: 10.1038/s41467-024-47824-1</a:t>
            </a:r>
          </a:p>
          <a:p>
            <a:r>
              <a:t>Original media URL: https://media.springernature.com/original/springer-static/esm/art%3A10.1038%2Fs41467-024-47824-1/MediaObjects/41467_2024_47824_MOESM5_ESM.mp4</a:t>
            </a:r>
          </a:p>
          <a:p>
            <a:r>
              <a:t>Credit: Takuto Kawaji, Mizuki Fujibayashi and Kentaro Abe; original Nature Communications supplementary stimulus</a:t>
            </a:r>
          </a:p>
          <a:p>
            <a:r>
              <a:t>License: Article CC BY 4.0; supplementary movie supplied with the article, no separate license statement displayed.</a:t>
            </a:r>
          </a:p>
          <a:p>
            <a:r>
              <a:t>The recording is the conspecific stimulus presented to subjects, not footage of the experimental subject’s response. The source reports that social video elicited approach, singing, and feather erection and increased repetition under contingent presentation.</a:t>
            </a:r>
          </a:p>
          <a:p>
            <a:r>
              <a:t>Original MP4 downloaded intact.</a:t>
            </a:r>
          </a:p>
          <a:p>
            <a:r>
              <a:t>Playback: embedded H.264/AAC MP4; click in PowerPoint Slide Show. The credited static source figure remains on the slide. The poster is an unedited original recording frame. Media decode verified; interactive PowerPoint playback was not 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Bengalese finches alternated between days when sufficient target repetition produced a social video and days when it produced no reward. Repetition increased under the reward condition and declined under the no-reward condition.</a:t>
            </a:r>
          </a:p>
          <a:p>
            <a:r>
              <a:t>• Kawaji and colleagues associated those rules with different frame colors on the monitor. In subsequent tests, the birds altered repetition according to the trained color even when the video reward was withheld in both conditions.</a:t>
            </a:r>
          </a:p>
          <a:p>
            <a:r>
              <a:t>• The change emerged within 10 minutes after the visual context switched. A context cue identifies which learned rule currently applies. The birds therefore used a learned external cue to adjust song structure, rather than requiring a fresh reward after every performance to maintain the condition-dependent difference.</a:t>
            </a:r>
          </a:p>
          <a:p>
            <a:r>
              <a:t>• Green and yellow were the colors of the source’s experimental monitor frames, not deck design colors. The unrewarded test probes the learned association between context and rule. Faster and slower alternation schedules in the source test how quickly the bird can change repetition after a context switch.</a:t>
            </a:r>
          </a:p>
          <a:p/>
          <a:p>
            <a:r>
              <a:t>References:</a:t>
            </a:r>
          </a:p>
          <a:p>
            <a:r>
              <a:t>Kawaji T, Fujibayashi M, Abe K (2024). Goal-directed and flexible modulation of syllable sequence within birdsong. Nature Communications 15:3419. https://doi.org/10.1038/s41467-024-47824-1</a:t>
            </a:r>
          </a:p>
          <a:p/>
          <a:p>
            <a:r>
              <a:t>Figure: Kawaji et al. (2024), Fig. 4(a–i). Repetition follows trained reward conditions and visual context cues.</a:t>
            </a:r>
          </a:p>
          <a:p>
            <a:r>
              <a:t>Figure source: https://doi.org/10.1038/s41467-024-47824-1</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Kawaji and colleagues tested the contribution of Area X after Bengalese finches had learned repetition-contingent reward rules. Ablation removed the targeted nucleus using an excitotoxic intervention, and histology verified the affected region.</a:t>
            </a:r>
          </a:p>
          <a:p>
            <a:r>
              <a:t>• After Area X ablation, target repetition decreased toward the preconditioning level. Further reward and no-reward training failed to restore the normal condition-dependent difference, while much of the existing syllable transition structure remained recognizable.</a:t>
            </a:r>
          </a:p>
          <a:p>
            <a:r>
              <a:t>• The basal-ganglia contribution therefore extended from adjustment of syllable pitch to flexible use of song sequences. Established vocal structure and context-sensitive adaptation had different dependencies. Together with the dopamine experiments, the result places reinforcement-sensitive song control within circuits that link evaluation to the selection of future vocal actions.</a:t>
            </a:r>
          </a:p>
          <a:p>
            <a:r>
              <a:t>• The lesion effect concerns flexibility in the tested repetition task rather than elimination of all song production. The source’s anatomical panel includes Area X within the anterior forebrain pathway. Preserved transition structure makes the loss of context-dependent modulation a specific behavioral result.</a:t>
            </a:r>
          </a:p>
          <a:p/>
          <a:p>
            <a:r>
              <a:t>References:</a:t>
            </a:r>
          </a:p>
          <a:p>
            <a:r>
              <a:t>Kawaji T, Fujibayashi M, Abe K (2024). Goal-directed and flexible modulation of syllable sequence within birdsong. Nature Communications 15:3419. https://doi.org/10.1038/s41467-024-47824-1</a:t>
            </a:r>
          </a:p>
          <a:p/>
          <a:p>
            <a:r>
              <a:t>Figure: Kawaji et al. (2024), Fig. 5(a–d). Area X ablation preserves repetition but removes contextual flexibility.</a:t>
            </a:r>
          </a:p>
          <a:p>
            <a:r>
              <a:t>Figure source: https://doi.org/10.1038/s41467-024-47824-1</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transcript:</a:t>
            </a:r>
          </a:p>
          <a:p>
            <a:r>
              <a:t>• Closed-loop feedback operates on natural performance variation. The meaning and timing of the intervention determine which variants become more frequent.</a:t>
            </a:r>
          </a:p>
          <a:p>
            <a:r>
              <a:t>• Dopamine cells carry both positive and negative performance-related responses. Projection stimulation and receptor blockade connect these signals causally with learning.</a:t>
            </a:r>
          </a:p>
          <a:p>
            <a:r>
              <a:t>• The evaluator and premotor components act in distinct song windows. Neural decoding supplies information about upcoming behavior, while sequence-contingent reinforcement can change flexible vocal organization.</a:t>
            </a:r>
          </a:p>
          <a:p/>
          <a:p>
            <a:r>
              <a:t>References:</a:t>
            </a:r>
          </a:p>
          <a:p>
            <a:r>
              <a:t>Tumer EC, Brainard MS (2007). Performance variability enables adaptive plasticity of crystallized adult birdsong. Nature 450:1240–1244. https://doi.org/10.1038/nature06390</a:t>
            </a:r>
          </a:p>
          <a:p/>
          <a:p>
            <a:r>
              <a:t>Gadagkar V, Puzerey PA, Chen R, Baird-Daniel E, Farhang AR, Goldberg JH (2016). Dopamine neurons encode performance error in singing birds. Science 354:1278–1282. https://doi.org/10.1126/science.aah6837</a:t>
            </a:r>
          </a:p>
          <a:p/>
          <a:p>
            <a:r>
              <a:t>Xiao L, Chattree G, Oscos FG, Cao M, Wanat MJ, Roberts TF (2018). A Basal Ganglia Circuit Sufficient to Guide Birdsong Learning. Neuron 98:208–221.e5. https://doi.org/10.1016/j.neuron.2018.02.020</a:t>
            </a:r>
          </a:p>
          <a:p/>
          <a:p>
            <a:r>
              <a:t>Hisey E, Kearney MG, Mooney R (2018). A common neural circuit mechanism for internally guided and externally reinforced forms of motor learning. Nature Neuroscience 21:589–597. https://doi.org/10.1038/s41593-018-0092-6</a:t>
            </a:r>
          </a:p>
          <a:p/>
          <a:p>
            <a:r>
              <a:t>Kearney MG, Warren TL, Hisey E, Qi J, Mooney R (2019). Discrete Evaluative and Premotor Circuits Enable Vocal Learning in Songbirds. Neuron 104:559–575.e6. https://doi.org/10.1016/j.neuron.2019.07.025</a:t>
            </a:r>
          </a:p>
          <a:p/>
          <a:p>
            <a:r>
              <a:t>Brown DE, Chavez JI, Nguyen DH, Kadwory A, Voytek B, Arneodo EM, Gentner TQ, Gilja V (2021). Local field potentials in a pre-motor region predict learned vocal sequences. PLOS Computational Biology 17:e1008100. https://doi.org/10.1371/journal.pcbi.1008100</a:t>
            </a:r>
          </a:p>
          <a:p/>
          <a:p>
            <a:r>
              <a:t>Kawaji T, Fujibayashi M, Abe K (2024). Goal-directed and flexible modulation of syllable sequence within birdsong. Nature Communications 15:3419. https://doi.org/10.1038/s41467-024-47824-1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 Id="rId4" Type="http://schemas.openxmlformats.org/officeDocument/2006/relationships/image" Target="../media/image47.png"/><Relationship Id="rId5" Type="http://schemas.microsoft.com/office/2007/relationships/media" Target="../media/media1.mp4"/><Relationship Id="rId6" Type="http://schemas.openxmlformats.org/officeDocument/2006/relationships/video" Target="../media/media1.mp4"/></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0.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0.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0.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15.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15.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15.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15.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36.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9.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9.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9.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image9.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image" Target="../media/image9.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43.xml"/><Relationship Id="rId4" Type="http://schemas.openxmlformats.org/officeDocument/2006/relationships/image" Target="../media/image48.png"/><Relationship Id="rId5" Type="http://schemas.microsoft.com/office/2007/relationships/media" Target="../media/media2.mp4"/><Relationship Id="rId6" Type="http://schemas.openxmlformats.org/officeDocument/2006/relationships/video" Target="../media/media2.mp4"/></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805C63"/>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EEE5E7"/>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EEE5E7"/>
                </a:solidFill>
                <a:latin typeface="Arial"/>
              </a:rPr>
              <a:t>Lecture 81</a:t>
            </a:r>
          </a:p>
        </p:txBody>
      </p:sp>
      <p:sp>
        <p:nvSpPr>
          <p:cNvPr id="5" name="Lecture title"/>
          <p:cNvSpPr txBox="1"/>
          <p:nvPr/>
        </p:nvSpPr>
        <p:spPr>
          <a:xfrm>
            <a:off x="685800" y="2331720"/>
            <a:ext cx="4724247" cy="2377440"/>
          </a:xfrm>
          <a:prstGeom prst="rect">
            <a:avLst/>
          </a:prstGeom>
          <a:noFill/>
        </p:spPr>
        <p:txBody>
          <a:bodyPr wrap="square" lIns="0" rIns="0" tIns="0" bIns="0">
            <a:spAutoFit/>
          </a:bodyPr>
          <a:lstStyle/>
          <a:p>
            <a:pPr algn="l">
              <a:lnSpc>
                <a:spcPct val="108000"/>
              </a:lnSpc>
              <a:spcAft>
                <a:spcPts val="0"/>
              </a:spcAft>
            </a:pPr>
            <a:r>
              <a:rPr sz="2700" b="1" i="0">
                <a:solidFill>
                  <a:srgbClr val="FFFFFF"/>
                </a:solidFill>
                <a:latin typeface="Arial"/>
              </a:rPr>
              <a:t>Songbirds II:</a:t>
            </a:r>
          </a:p>
          <a:p>
            <a:pPr algn="l">
              <a:lnSpc>
                <a:spcPct val="108000"/>
              </a:lnSpc>
              <a:spcAft>
                <a:spcPts val="0"/>
              </a:spcAft>
            </a:pPr>
            <a:r>
              <a:rPr sz="2700" b="1" i="0">
                <a:solidFill>
                  <a:srgbClr val="FFFFFF"/>
                </a:solidFill>
                <a:latin typeface="Arial"/>
              </a:rPr>
              <a:t>Closed-loop neural interfaces, dopamine reinforcement, and adaptive control of song</a:t>
            </a:r>
          </a:p>
        </p:txBody>
      </p:sp>
      <p:sp>
        <p:nvSpPr>
          <p:cNvPr id="6" name="TextBox 5"/>
          <p:cNvSpPr txBox="1"/>
          <p:nvPr/>
        </p:nvSpPr>
        <p:spPr>
          <a:xfrm>
            <a:off x="685800" y="5214937"/>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EEE5E7"/>
                </a:solidFill>
                <a:latin typeface="Arial"/>
              </a:rPr>
              <a:t>Date TBD</a:t>
            </a:r>
          </a:p>
        </p:txBody>
      </p:sp>
      <p:sp>
        <p:nvSpPr>
          <p:cNvPr id="7" name="TextBox 6"/>
          <p:cNvSpPr txBox="1"/>
          <p:nvPr/>
        </p:nvSpPr>
        <p:spPr>
          <a:xfrm>
            <a:off x="685800" y="5900737"/>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EEE5E7"/>
                </a:solidFill>
                <a:latin typeface="Arial"/>
              </a:rPr>
              <a:t>Jordan Lopez, Ph.D.</a:t>
            </a:r>
          </a:p>
          <a:p>
            <a:pPr algn="l">
              <a:lnSpc>
                <a:spcPct val="108000"/>
              </a:lnSpc>
              <a:spcAft>
                <a:spcPts val="200"/>
              </a:spcAft>
            </a:pPr>
            <a:r>
              <a:rPr sz="1200" b="0" i="0">
                <a:solidFill>
                  <a:srgbClr val="EEE5E7"/>
                </a:solidFill>
                <a:latin typeface="Arial"/>
              </a:rPr>
              <a:t>Professor of Neurobiology &amp; Biomedical Engineering</a:t>
            </a:r>
          </a:p>
        </p:txBody>
      </p:sp>
      <p:pic>
        <p:nvPicPr>
          <p:cNvPr id="8" name="Picture 7" descr="x_photo.png"/>
          <p:cNvPicPr>
            <a:picLocks noChangeAspect="1"/>
          </p:cNvPicPr>
          <p:nvPr/>
        </p:nvPicPr>
        <p:blipFill>
          <a:blip r:embed="rId2"/>
          <a:stretch>
            <a:fillRect/>
          </a:stretch>
        </p:blipFill>
        <p:spPr>
          <a:xfrm>
            <a:off x="6977678" y="822960"/>
            <a:ext cx="4332185" cy="4937759"/>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Xiao et al. (2018), Fig. 3(B). A zebra finch with optical fibers over Area X.</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Feedback changes the song that produced it</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594045"/>
                </a:solidFill>
                <a:latin typeface="Arial"/>
              </a:rPr>
              <a:t>closed-loop interface</a:t>
            </a:r>
            <a:r>
              <a:rPr sz="1600" b="0" i="0">
                <a:solidFill>
                  <a:srgbClr val="000000"/>
                </a:solidFill>
                <a:latin typeface="Arial"/>
              </a:rPr>
              <a:t> measures an animal’s ongoing behavior and delivers feedback determined by that measurement. Tumer and Brainard recorded adult Bengalese finches while a computer detected particular song elements and selectively overlaid brief bursts of white noise.</a:t>
            </a:r>
          </a:p>
          <a:p>
            <a:pPr algn="l">
              <a:lnSpc>
                <a:spcPct val="108000"/>
              </a:lnSpc>
              <a:spcAft>
                <a:spcPts val="960"/>
              </a:spcAft>
            </a:pPr>
            <a:r>
              <a:rPr sz="1600" b="0" i="0">
                <a:solidFill>
                  <a:srgbClr val="000000"/>
                </a:solidFill>
                <a:latin typeface="Arial"/>
              </a:rPr>
              <a:t>The computer measured </a:t>
            </a:r>
            <a:r>
              <a:rPr sz="1600" b="1" i="0">
                <a:solidFill>
                  <a:srgbClr val="594045"/>
                </a:solidFill>
                <a:latin typeface="Arial"/>
              </a:rPr>
              <a:t>pitch</a:t>
            </a:r>
            <a:r>
              <a:rPr sz="1600" b="0" i="0">
                <a:solidFill>
                  <a:srgbClr val="000000"/>
                </a:solidFill>
                <a:latin typeface="Arial"/>
              </a:rPr>
              <a:t>, the perceptual correlate of fundamental frequency, and delivered noise to either higher or lower variants of a target syllable. A </a:t>
            </a:r>
            <a:r>
              <a:rPr sz="1600" b="1" i="0">
                <a:solidFill>
                  <a:srgbClr val="594045"/>
                </a:solidFill>
                <a:latin typeface="Arial"/>
              </a:rPr>
              <a:t>syllable</a:t>
            </a:r>
            <a:r>
              <a:rPr sz="1600" b="0" i="0">
                <a:solidFill>
                  <a:srgbClr val="000000"/>
                </a:solidFill>
                <a:latin typeface="Arial"/>
              </a:rPr>
              <a:t> is a discrete acoustic element within the song sequence. Renditions that escaped noise retained normal auditory feedback.</a:t>
            </a:r>
          </a:p>
          <a:p>
            <a:pPr algn="l">
              <a:lnSpc>
                <a:spcPct val="108000"/>
              </a:lnSpc>
              <a:spcAft>
                <a:spcPts val="960"/>
              </a:spcAft>
            </a:pPr>
            <a:r>
              <a:rPr sz="1600" b="1" i="0">
                <a:solidFill>
                  <a:srgbClr val="594045"/>
                </a:solidFill>
                <a:latin typeface="Arial"/>
              </a:rPr>
              <a:t>Reinforcement</a:t>
            </a:r>
            <a:r>
              <a:rPr sz="1600" b="0" i="0">
                <a:solidFill>
                  <a:srgbClr val="000000"/>
                </a:solidFill>
                <a:latin typeface="Arial"/>
              </a:rPr>
              <a:t> changes the frequency of future actions according to their consequences. Birds shifted the target syllable’s pitch toward variants that escaped disruption. The feedback therefore altered subsequent performances of the same behavior, even though adult song was already stable. Residual variation supplied the alternatives on which reinforcement could act.</a:t>
            </a:r>
          </a:p>
        </p:txBody>
      </p:sp>
      <p:pic>
        <p:nvPicPr>
          <p:cNvPr id="4" name="Picture 3" descr="t_song.png"/>
          <p:cNvPicPr>
            <a:picLocks noChangeAspect="1"/>
          </p:cNvPicPr>
          <p:nvPr/>
        </p:nvPicPr>
        <p:blipFill>
          <a:blip r:embed="rId2"/>
          <a:stretch>
            <a:fillRect/>
          </a:stretch>
        </p:blipFill>
        <p:spPr>
          <a:xfrm>
            <a:off x="6856932" y="1280160"/>
            <a:ext cx="4232149"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Tumer &amp; Brainard (2007), Fig. 1(a,b). Bengalese finch song and pitch-contingent noise.</a:t>
            </a:r>
          </a:p>
        </p:txBody>
      </p:sp>
      <p:sp>
        <p:nvSpPr>
          <p:cNvPr id="6" name="Rectangle 5"/>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Tumer &amp; Brainard (2007)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Harmonic syllables provide a measurable vocal target</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594045"/>
                </a:solidFill>
                <a:latin typeface="Arial"/>
              </a:rPr>
              <a:t>Fundamental frequency</a:t>
            </a:r>
            <a:r>
              <a:rPr sz="1600" b="0" i="0">
                <a:solidFill>
                  <a:srgbClr val="000000"/>
                </a:solidFill>
                <a:latin typeface="Arial"/>
              </a:rPr>
              <a:t> is the repetition rate of a periodic sound, measured in hertz, or cycles per second. Harmonic syllables contain energy at this frequency and at higher multiples, allowing a computer to estimate their pitch from brief portions of the vocalization.</a:t>
            </a:r>
          </a:p>
          <a:p>
            <a:pPr algn="l">
              <a:lnSpc>
                <a:spcPct val="108000"/>
              </a:lnSpc>
              <a:spcAft>
                <a:spcPts val="960"/>
              </a:spcAft>
            </a:pPr>
            <a:r>
              <a:rPr sz="1600" b="0" i="0">
                <a:solidFill>
                  <a:srgbClr val="000000"/>
                </a:solidFill>
                <a:latin typeface="Arial"/>
              </a:rPr>
              <a:t>In one Bengalese finch, the baseline target syllable was centered near </a:t>
            </a:r>
            <a:r>
              <a:rPr sz="1600" b="1" i="0">
                <a:solidFill>
                  <a:srgbClr val="594045"/>
                </a:solidFill>
                <a:latin typeface="Arial"/>
              </a:rPr>
              <a:t>2,281 Hz</a:t>
            </a:r>
            <a:r>
              <a:rPr sz="1600" b="0" i="0">
                <a:solidFill>
                  <a:srgbClr val="000000"/>
                </a:solidFill>
                <a:latin typeface="Arial"/>
              </a:rPr>
              <a:t>. Small differences among repeated renditions provided higher and lower variants without requiring the bird to invent a new song element.</a:t>
            </a:r>
          </a:p>
          <a:p>
            <a:pPr algn="l">
              <a:lnSpc>
                <a:spcPct val="108000"/>
              </a:lnSpc>
              <a:spcAft>
                <a:spcPts val="960"/>
              </a:spcAft>
            </a:pPr>
            <a:r>
              <a:rPr sz="1600" b="0" i="0">
                <a:solidFill>
                  <a:srgbClr val="000000"/>
                </a:solidFill>
                <a:latin typeface="Arial"/>
              </a:rPr>
              <a:t>Noise delivered to higher variants shifted the distribution toward lower frequencies over three days. The animal changed how frequently it produced existing variants and moved the overall pitch distribution. A previously stereotyped vocal action therefore remained available for fine adjustment through feedback.</a:t>
            </a:r>
          </a:p>
        </p:txBody>
      </p:sp>
      <p:pic>
        <p:nvPicPr>
          <p:cNvPr id="4" name="Picture 3" descr="t_pitch.png"/>
          <p:cNvPicPr>
            <a:picLocks noChangeAspect="1"/>
          </p:cNvPicPr>
          <p:nvPr/>
        </p:nvPicPr>
        <p:blipFill>
          <a:blip r:embed="rId2"/>
          <a:stretch>
            <a:fillRect/>
          </a:stretch>
        </p:blipFill>
        <p:spPr>
          <a:xfrm>
            <a:off x="8170711" y="1280160"/>
            <a:ext cx="1604592"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Tumer &amp; Brainard (2007), Fig. 1(c,d). Pitch distributions before and after downward reinforcement.</a:t>
            </a:r>
          </a:p>
        </p:txBody>
      </p:sp>
      <p:sp>
        <p:nvSpPr>
          <p:cNvPr id="6" name="Rectangle 5"/>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Tumer &amp; Brainard (2007)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Small performance variation supports motor exploration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594045"/>
                </a:solidFill>
                <a:latin typeface="Arial"/>
              </a:rPr>
              <a:t>Motor exploration</a:t>
            </a:r>
            <a:r>
              <a:rPr sz="1600" b="0" i="0">
                <a:solidFill>
                  <a:srgbClr val="000000"/>
                </a:solidFill>
                <a:latin typeface="Arial"/>
              </a:rPr>
              <a:t> is variation among actions that allows different outcomes to be sampled. Adult Bengalese finches produced subtle pitch differences despite highly practiced songs. Tumer and Brainard tested whether those differences could become the basis of adaptive learning.</a:t>
            </a:r>
          </a:p>
          <a:p>
            <a:pPr algn="l">
              <a:lnSpc>
                <a:spcPct val="108000"/>
              </a:lnSpc>
              <a:spcAft>
                <a:spcPts val="960"/>
              </a:spcAft>
            </a:pPr>
            <a:r>
              <a:rPr sz="1600" b="0" i="0">
                <a:solidFill>
                  <a:srgbClr val="000000"/>
                </a:solidFill>
                <a:latin typeface="Arial"/>
              </a:rPr>
              <a:t>Noise contingent on high-pitch variants favored lower pitches; noise contingent on low-pitch variants favored higher pitches. Opposite contingencies produced opposite changes even though the type of disruptive sound remained the same.</a:t>
            </a:r>
          </a:p>
          <a:p>
            <a:pPr algn="l">
              <a:lnSpc>
                <a:spcPct val="108000"/>
              </a:lnSpc>
              <a:spcAft>
                <a:spcPts val="960"/>
              </a:spcAft>
            </a:pPr>
            <a:r>
              <a:rPr sz="1600" b="0" i="0">
                <a:solidFill>
                  <a:srgbClr val="000000"/>
                </a:solidFill>
                <a:latin typeface="Arial"/>
              </a:rPr>
              <a:t>The direction of learning depended on the relationship between the vocal variant and its outcome. Variability supplied selectable alternatives, while feedback favored the alternatives associated with undistorted sound. The behavioral result supports exploration as a functional component of stable adult song rather than treating every fluctuation as irrelevant noise.</a:t>
            </a:r>
          </a:p>
        </p:txBody>
      </p:sp>
      <p:pic>
        <p:nvPicPr>
          <p:cNvPr id="4" name="Picture 3" descr="t_updown.png"/>
          <p:cNvPicPr>
            <a:picLocks noChangeAspect="1"/>
          </p:cNvPicPr>
          <p:nvPr/>
        </p:nvPicPr>
        <p:blipFill>
          <a:blip r:embed="rId2"/>
          <a:stretch>
            <a:fillRect/>
          </a:stretch>
        </p:blipFill>
        <p:spPr>
          <a:xfrm>
            <a:off x="7957234" y="1280160"/>
            <a:ext cx="2031545"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Tumer &amp; Brainard (2007), Fig. 1(e,f). Opposite feedback contingencies drive opposite pitch shifts.</a:t>
            </a:r>
          </a:p>
        </p:txBody>
      </p:sp>
      <p:sp>
        <p:nvSpPr>
          <p:cNvPr id="6" name="Rectangle 5"/>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Tumer &amp; Brainard (2007)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Adaptive pitch changes accumulate within hours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Pitch-contingent reinforcement changed adult Bengalese finch song within the first day of training. Most birds had already shifted toward the escape region within </a:t>
            </a:r>
            <a:r>
              <a:rPr sz="1600" b="1" i="0">
                <a:solidFill>
                  <a:srgbClr val="594045"/>
                </a:solidFill>
                <a:latin typeface="Arial"/>
              </a:rPr>
              <a:t>7 hours</a:t>
            </a:r>
            <a:r>
              <a:rPr sz="1600" b="0" i="0">
                <a:solidFill>
                  <a:srgbClr val="000000"/>
                </a:solidFill>
                <a:latin typeface="Arial"/>
              </a:rPr>
              <a:t>, while the pitch distribution approached a stable trained range over the following days.</a:t>
            </a:r>
          </a:p>
          <a:p>
            <a:pPr algn="l">
              <a:lnSpc>
                <a:spcPct val="108000"/>
              </a:lnSpc>
              <a:spcAft>
                <a:spcPts val="960"/>
              </a:spcAft>
            </a:pPr>
            <a:r>
              <a:rPr sz="1600" b="0" i="0">
                <a:solidFill>
                  <a:srgbClr val="000000"/>
                </a:solidFill>
                <a:latin typeface="Arial"/>
              </a:rPr>
              <a:t>In the representative downward-learning experiment, the fraction of renditions triggering noise fell from </a:t>
            </a:r>
            <a:r>
              <a:rPr sz="1600" b="1" i="0">
                <a:solidFill>
                  <a:srgbClr val="594045"/>
                </a:solidFill>
                <a:latin typeface="Arial"/>
              </a:rPr>
              <a:t>91% to 17%</a:t>
            </a:r>
            <a:r>
              <a:rPr sz="1600" b="0" i="0">
                <a:solidFill>
                  <a:srgbClr val="000000"/>
                </a:solidFill>
                <a:latin typeface="Arial"/>
              </a:rPr>
              <a:t> by the third day. The reduction followed a shift in the measured vocal feature, rather than avoidance of the entire singing behavior.</a:t>
            </a:r>
          </a:p>
          <a:p>
            <a:pPr algn="l">
              <a:lnSpc>
                <a:spcPct val="108000"/>
              </a:lnSpc>
              <a:spcAft>
                <a:spcPts val="960"/>
              </a:spcAft>
            </a:pPr>
            <a:r>
              <a:rPr sz="1600" b="0" i="0">
                <a:solidFill>
                  <a:srgbClr val="000000"/>
                </a:solidFill>
                <a:latin typeface="Arial"/>
              </a:rPr>
              <a:t>When contingent noise ended, pitch returned toward the original range. The normal song remained a behavioral reference despite the temporary reinforced change. Adaptive control therefore combines ongoing flexibility with a tendency to restore the previously learned vocal pattern when the external contingency disappears.</a:t>
            </a:r>
          </a:p>
        </p:txBody>
      </p:sp>
      <p:pic>
        <p:nvPicPr>
          <p:cNvPr id="4" name="Picture 3" descr="t_rapid.png"/>
          <p:cNvPicPr>
            <a:picLocks noChangeAspect="1"/>
          </p:cNvPicPr>
          <p:nvPr/>
        </p:nvPicPr>
        <p:blipFill>
          <a:blip r:embed="rId2"/>
          <a:stretch>
            <a:fillRect/>
          </a:stretch>
        </p:blipFill>
        <p:spPr>
          <a:xfrm>
            <a:off x="7468429" y="1280160"/>
            <a:ext cx="3009154"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Tumer &amp; Brainard (2007), Fig. 2(a–c). Rapid pitch learning and recovery after noise removal.</a:t>
            </a:r>
          </a:p>
        </p:txBody>
      </p:sp>
      <p:sp>
        <p:nvSpPr>
          <p:cNvPr id="6" name="Rectangle 5"/>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Tumer &amp; Brainard (2007)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Learning selects one feature within a rapid sequence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bird could escape disruptive feedback by changing an entire song, but Bengalese finches instead modified the pitch of the targeted syllable. Neighboring syllables retained their usual fundamental frequencies even when they occurred only tens of milliseconds away.</a:t>
            </a:r>
          </a:p>
          <a:p>
            <a:pPr algn="l">
              <a:lnSpc>
                <a:spcPct val="108000"/>
              </a:lnSpc>
              <a:spcAft>
                <a:spcPts val="960"/>
              </a:spcAft>
            </a:pPr>
            <a:r>
              <a:rPr sz="1600" b="0" i="0">
                <a:solidFill>
                  <a:srgbClr val="000000"/>
                </a:solidFill>
                <a:latin typeface="Arial"/>
              </a:rPr>
              <a:t>The trained syllable also retained its duration, volume, and </a:t>
            </a:r>
            <a:r>
              <a:rPr sz="1600" b="1" i="0">
                <a:solidFill>
                  <a:srgbClr val="594045"/>
                </a:solidFill>
                <a:latin typeface="Arial"/>
              </a:rPr>
              <a:t>spectral entropy</a:t>
            </a:r>
            <a:r>
              <a:rPr sz="1600" b="0" i="0">
                <a:solidFill>
                  <a:srgbClr val="000000"/>
                </a:solidFill>
                <a:latin typeface="Arial"/>
              </a:rPr>
              <a:t>, a measure of how broadly acoustic energy is distributed across frequencies. Feedback selected the specific dimension used by the computer to decide whether noise would occur.</a:t>
            </a:r>
          </a:p>
          <a:p>
            <a:pPr algn="l">
              <a:lnSpc>
                <a:spcPct val="108000"/>
              </a:lnSpc>
              <a:spcAft>
                <a:spcPts val="960"/>
              </a:spcAft>
            </a:pPr>
            <a:r>
              <a:rPr sz="1600" b="0" i="0">
                <a:solidFill>
                  <a:srgbClr val="000000"/>
                </a:solidFill>
                <a:latin typeface="Arial"/>
              </a:rPr>
              <a:t>This precision allows a learned sequence change locally without destabilizing every component. Distinct song features can remain under separate adaptive control, so correction of one vocal gesture preserves the surrounding gestures. The behavioral specificity places a temporal and acoustic constraint on the neural teaching signals that support learning.</a:t>
            </a:r>
          </a:p>
        </p:txBody>
      </p:sp>
      <p:pic>
        <p:nvPicPr>
          <p:cNvPr id="4" name="Picture 3" descr="t_specific.png"/>
          <p:cNvPicPr>
            <a:picLocks noChangeAspect="1"/>
          </p:cNvPicPr>
          <p:nvPr/>
        </p:nvPicPr>
        <p:blipFill>
          <a:blip r:embed="rId2"/>
          <a:stretch>
            <a:fillRect/>
          </a:stretch>
        </p:blipFill>
        <p:spPr>
          <a:xfrm>
            <a:off x="7516720" y="1280160"/>
            <a:ext cx="2912572"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Tumer &amp; Brainard (2007), Fig. 3(a–c). Changes remain restricted to targeted syllable pitch.</a:t>
            </a:r>
          </a:p>
        </p:txBody>
      </p:sp>
      <p:sp>
        <p:nvSpPr>
          <p:cNvPr id="6" name="Rectangle 5"/>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Tumer &amp; Brainard (2007)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A short feedback delay determines successful learning</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594045"/>
                </a:solidFill>
                <a:latin typeface="Arial"/>
              </a:rPr>
              <a:t>Latency</a:t>
            </a:r>
            <a:r>
              <a:rPr sz="1600" b="0" i="0">
                <a:solidFill>
                  <a:srgbClr val="000000"/>
                </a:solidFill>
                <a:latin typeface="Arial"/>
              </a:rPr>
              <a:t> is the interval between a measured event and the response it triggers. In the Bengalese finch experiments, noise normally began </a:t>
            </a:r>
            <a:r>
              <a:rPr sz="1600" b="1" i="0">
                <a:solidFill>
                  <a:srgbClr val="594045"/>
                </a:solidFill>
                <a:latin typeface="Arial"/>
              </a:rPr>
              <a:t>16–30 ms</a:t>
            </a:r>
            <a:r>
              <a:rPr sz="1600" b="0" i="0">
                <a:solidFill>
                  <a:srgbClr val="000000"/>
                </a:solidFill>
                <a:latin typeface="Arial"/>
              </a:rPr>
              <a:t> after pitch measurement and overlapped the targeted syllable.</a:t>
            </a:r>
          </a:p>
          <a:p>
            <a:pPr algn="l">
              <a:lnSpc>
                <a:spcPct val="108000"/>
              </a:lnSpc>
              <a:spcAft>
                <a:spcPts val="960"/>
              </a:spcAft>
            </a:pPr>
            <a:r>
              <a:rPr sz="1600" b="0" i="0">
                <a:solidFill>
                  <a:srgbClr val="000000"/>
                </a:solidFill>
                <a:latin typeface="Arial"/>
              </a:rPr>
              <a:t>Adding </a:t>
            </a:r>
            <a:r>
              <a:rPr sz="1600" b="1" i="0">
                <a:solidFill>
                  <a:srgbClr val="594045"/>
                </a:solidFill>
                <a:latin typeface="Arial"/>
              </a:rPr>
              <a:t>100 ms</a:t>
            </a:r>
            <a:r>
              <a:rPr sz="1600" b="0" i="0">
                <a:solidFill>
                  <a:srgbClr val="000000"/>
                </a:solidFill>
                <a:latin typeface="Arial"/>
              </a:rPr>
              <a:t> moved the noise beyond the target syllable and prevented the adaptive pitch shift. The same animals could learn under the shorter delay, so the difference depended on when the consequence followed the vocal action.</a:t>
            </a:r>
          </a:p>
          <a:p>
            <a:pPr algn="l">
              <a:lnSpc>
                <a:spcPct val="108000"/>
              </a:lnSpc>
              <a:spcAft>
                <a:spcPts val="960"/>
              </a:spcAft>
            </a:pPr>
            <a:r>
              <a:rPr sz="1600" b="1" i="0">
                <a:solidFill>
                  <a:srgbClr val="594045"/>
                </a:solidFill>
                <a:latin typeface="Arial"/>
              </a:rPr>
              <a:t>Temporal credit assignment</a:t>
            </a:r>
            <a:r>
              <a:rPr sz="1600" b="0" i="0">
                <a:solidFill>
                  <a:srgbClr val="000000"/>
                </a:solidFill>
                <a:latin typeface="Arial"/>
              </a:rPr>
              <a:t> links an outcome to the action responsible for it. Rapid songs contain several nearby events that could receive credit. Immediate feedback preserved the relationship between the target’s acoustic variant and disruption; delayed feedback failed to select that variant effectively under this experimental arrangement.</a:t>
            </a:r>
          </a:p>
        </p:txBody>
      </p:sp>
      <p:pic>
        <p:nvPicPr>
          <p:cNvPr id="4" name="Picture 3" descr="t_delay.png"/>
          <p:cNvPicPr>
            <a:picLocks noChangeAspect="1"/>
          </p:cNvPicPr>
          <p:nvPr/>
        </p:nvPicPr>
        <p:blipFill>
          <a:blip r:embed="rId2"/>
          <a:stretch>
            <a:fillRect/>
          </a:stretch>
        </p:blipFill>
        <p:spPr>
          <a:xfrm>
            <a:off x="8023725" y="1280160"/>
            <a:ext cx="1898563"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Tumer &amp; Brainard (2007), Fig. 4(a–d). An additional feedback delay prevents adaptive pitch shifts.</a:t>
            </a:r>
          </a:p>
        </p:txBody>
      </p:sp>
      <p:sp>
        <p:nvSpPr>
          <p:cNvPr id="6" name="Rectangle 5"/>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Tumer &amp; Brainard (2007)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Moving the threshold extends the learned pitch range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fixed feedback threshold eventually leaves most renditions in the escape region. </a:t>
            </a:r>
            <a:r>
              <a:rPr sz="1600" b="1" i="0">
                <a:solidFill>
                  <a:srgbClr val="594045"/>
                </a:solidFill>
                <a:latin typeface="Arial"/>
              </a:rPr>
              <a:t>Incremental reinforcement</a:t>
            </a:r>
            <a:r>
              <a:rPr sz="1600" b="0" i="0">
                <a:solidFill>
                  <a:srgbClr val="000000"/>
                </a:solidFill>
                <a:latin typeface="Arial"/>
              </a:rPr>
              <a:t> changes the criterion as behavior adapts, maintaining a difference in outcomes among the variants that the animal currently produces.</a:t>
            </a:r>
          </a:p>
          <a:p>
            <a:pPr algn="l">
              <a:lnSpc>
                <a:spcPct val="108000"/>
              </a:lnSpc>
              <a:spcAft>
                <a:spcPts val="960"/>
              </a:spcAft>
            </a:pPr>
            <a:r>
              <a:rPr sz="1600" b="0" i="0">
                <a:solidFill>
                  <a:srgbClr val="000000"/>
                </a:solidFill>
                <a:latin typeface="Arial"/>
              </a:rPr>
              <a:t>Tumer and Brainard progressively adjusted the pitch threshold across training days. The bird continued moving its target syllable beyond the range reached under the initial criterion, while the neighboring song structure remained recognizable.</a:t>
            </a:r>
          </a:p>
          <a:p>
            <a:pPr algn="l">
              <a:lnSpc>
                <a:spcPct val="108000"/>
              </a:lnSpc>
              <a:spcAft>
                <a:spcPts val="960"/>
              </a:spcAft>
            </a:pPr>
            <a:r>
              <a:rPr sz="1600" b="0" i="0">
                <a:solidFill>
                  <a:srgbClr val="000000"/>
                </a:solidFill>
                <a:latin typeface="Arial"/>
              </a:rPr>
              <a:t>Their original supplementary recording combines the reported pitch trajectory with sampled syllable sounds. The audible change accompanies the shift in measured fundamental frequency. Adaptive song control can therefore move an established vocal feature repeatedly when the feedback criterion tracks the learner’s changing performance.</a:t>
            </a:r>
          </a:p>
        </p:txBody>
      </p:sp>
      <p:pic>
        <p:nvPicPr>
          <p:cNvPr id="4" name="Picture 3" descr="t_large.png"/>
          <p:cNvPicPr>
            <a:picLocks noChangeAspect="1"/>
          </p:cNvPicPr>
          <p:nvPr/>
        </p:nvPicPr>
        <p:blipFill>
          <a:blip r:embed="rId2"/>
          <a:stretch>
            <a:fillRect/>
          </a:stretch>
        </p:blipFill>
        <p:spPr>
          <a:xfrm>
            <a:off x="6742165" y="1261872"/>
            <a:ext cx="4589699" cy="2011680"/>
          </a:xfrm>
          <a:prstGeom prst="rect">
            <a:avLst/>
          </a:prstGeom>
        </p:spPr>
      </p:pic>
      <p:sp>
        <p:nvSpPr>
          <p:cNvPr id="5" name="Figure caption"/>
          <p:cNvSpPr txBox="1"/>
          <p:nvPr/>
        </p:nvSpPr>
        <p:spPr>
          <a:xfrm>
            <a:off x="6321247" y="3364992"/>
            <a:ext cx="5303520" cy="41148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Tumer &amp; Brainard (2007), Fig. 5(a). Incremental reinforcement thresholds extend pitch learning.</a:t>
            </a:r>
          </a:p>
        </p:txBody>
      </p:sp>
      <p:sp>
        <p:nvSpPr>
          <p:cNvPr id="6" name="Rectangle 5"/>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Tumer &amp; Brainard (2007)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08</a:t>
            </a:r>
          </a:p>
        </p:txBody>
      </p:sp>
      <p:pic>
        <p:nvPicPr>
          <p:cNvPr id="9" name="Picture 8" descr="tumer_poster.png"/>
          <p:cNvPicPr>
            <a:picLocks noChangeAspect="1"/>
          </p:cNvPicPr>
          <p:nvPr/>
        </p:nvPicPr>
        <p:blipFill>
          <a:blip r:embed="rId4"/>
          <a:stretch>
            <a:fillRect/>
          </a:stretch>
        </p:blipFill>
        <p:spPr>
          <a:xfrm>
            <a:off x="7634935" y="3749039"/>
            <a:ext cx="2804160" cy="2103120"/>
          </a:xfrm>
          <a:prstGeom prst="rect">
            <a:avLst/>
          </a:prstGeom>
        </p:spPr>
      </p:pic>
      <p:pic>
        <p:nvPicPr>
          <p:cNvPr id="10" name="Tumer &amp; Brainard (2007), Supplementary Video 1. Recorded syllables and pitch change across reinforcement days. (embedded;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634935" y="3749039"/>
            <a:ext cx="2804160" cy="2103120"/>
          </a:xfrm>
          <a:prstGeom prst="rect">
            <a:avLst/>
          </a:prstGeom>
        </p:spPr>
      </p:pic>
      <p:sp>
        <p:nvSpPr>
          <p:cNvPr id="11" name="TextBox 10"/>
          <p:cNvSpPr txBox="1"/>
          <p:nvPr/>
        </p:nvSpPr>
        <p:spPr>
          <a:xfrm>
            <a:off x="6385255" y="5925312"/>
            <a:ext cx="5303520" cy="310896"/>
          </a:xfrm>
          <a:prstGeom prst="rect">
            <a:avLst/>
          </a:prstGeom>
          <a:noFill/>
        </p:spPr>
        <p:txBody>
          <a:bodyPr wrap="square" tIns="0" bIns="0" lIns="0" rIns="0">
            <a:spAutoFit/>
          </a:bodyPr>
          <a:lstStyle/>
          <a:p>
            <a:r>
              <a:rPr sz="900">
                <a:solidFill>
                  <a:srgbClr val="000000"/>
                </a:solidFill>
                <a:latin typeface="Arial"/>
              </a:rPr>
              <a:t>Tumer &amp; Brainard (2007), Supplementary Video 1. Recorded syllables and pitch change across reinforcement days.</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Song production and adaptation use linked pathways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594045"/>
                </a:solidFill>
                <a:latin typeface="Arial"/>
              </a:rPr>
              <a:t>HVC</a:t>
            </a:r>
            <a:r>
              <a:rPr sz="1600" b="0" i="0">
                <a:solidFill>
                  <a:srgbClr val="000000"/>
                </a:solidFill>
                <a:latin typeface="Arial"/>
              </a:rPr>
              <a:t>, used as a proper name, is a song premotor nucleus whose activity precedes vocal production. It projects directly to the </a:t>
            </a:r>
            <a:r>
              <a:rPr sz="1600" b="1" i="0">
                <a:solidFill>
                  <a:srgbClr val="594045"/>
                </a:solidFill>
                <a:latin typeface="Arial"/>
              </a:rPr>
              <a:t>robust nucleus of the arcopallium</a:t>
            </a:r>
            <a:r>
              <a:rPr sz="1600" b="0" i="0">
                <a:solidFill>
                  <a:srgbClr val="000000"/>
                </a:solidFill>
                <a:latin typeface="Arial"/>
              </a:rPr>
              <a:t>, or </a:t>
            </a:r>
            <a:r>
              <a:rPr sz="1600" b="1" i="0">
                <a:solidFill>
                  <a:srgbClr val="594045"/>
                </a:solidFill>
                <a:latin typeface="Arial"/>
              </a:rPr>
              <a:t>RA</a:t>
            </a:r>
            <a:r>
              <a:rPr sz="1600" b="0" i="0">
                <a:solidFill>
                  <a:srgbClr val="000000"/>
                </a:solidFill>
                <a:latin typeface="Arial"/>
              </a:rPr>
              <a:t>, in the descending song motor pathway.</a:t>
            </a:r>
          </a:p>
          <a:p>
            <a:pPr algn="l">
              <a:lnSpc>
                <a:spcPct val="108000"/>
              </a:lnSpc>
              <a:spcAft>
                <a:spcPts val="960"/>
              </a:spcAft>
            </a:pPr>
            <a:r>
              <a:rPr sz="1600" b="0" i="0">
                <a:solidFill>
                  <a:srgbClr val="000000"/>
                </a:solidFill>
                <a:latin typeface="Arial"/>
              </a:rPr>
              <a:t>HVC also projects into the </a:t>
            </a:r>
            <a:r>
              <a:rPr sz="1600" b="1" i="0">
                <a:solidFill>
                  <a:srgbClr val="594045"/>
                </a:solidFill>
                <a:latin typeface="Arial"/>
              </a:rPr>
              <a:t>anterior forebrain pathway</a:t>
            </a:r>
            <a:r>
              <a:rPr sz="1600" b="0" i="0">
                <a:solidFill>
                  <a:srgbClr val="000000"/>
                </a:solidFill>
                <a:latin typeface="Arial"/>
              </a:rPr>
              <a:t>, a circuit running through the basal-ganglia nucleus </a:t>
            </a:r>
            <a:r>
              <a:rPr sz="1600" b="1" i="0">
                <a:solidFill>
                  <a:srgbClr val="594045"/>
                </a:solidFill>
                <a:latin typeface="Arial"/>
              </a:rPr>
              <a:t>Area X</a:t>
            </a:r>
            <a:r>
              <a:rPr sz="1600" b="0" i="0">
                <a:solidFill>
                  <a:srgbClr val="000000"/>
                </a:solidFill>
                <a:latin typeface="Arial"/>
              </a:rPr>
              <a:t>, the thalamic nucleus </a:t>
            </a:r>
            <a:r>
              <a:rPr sz="1600" b="1" i="0">
                <a:solidFill>
                  <a:srgbClr val="594045"/>
                </a:solidFill>
                <a:latin typeface="Arial"/>
              </a:rPr>
              <a:t>DLM</a:t>
            </a:r>
            <a:r>
              <a:rPr sz="1600" b="0" i="0">
                <a:solidFill>
                  <a:srgbClr val="000000"/>
                </a:solidFill>
                <a:latin typeface="Arial"/>
              </a:rPr>
              <a:t>, and the </a:t>
            </a:r>
            <a:r>
              <a:rPr sz="1600" b="1" i="0">
                <a:solidFill>
                  <a:srgbClr val="594045"/>
                </a:solidFill>
                <a:latin typeface="Arial"/>
              </a:rPr>
              <a:t>lateral magnocellular nucleus of the anterior nidopallium</a:t>
            </a:r>
            <a:r>
              <a:rPr sz="1600" b="0" i="0">
                <a:solidFill>
                  <a:srgbClr val="000000"/>
                </a:solidFill>
                <a:latin typeface="Arial"/>
              </a:rPr>
              <a:t>, or </a:t>
            </a:r>
            <a:r>
              <a:rPr sz="1600" b="1" i="0">
                <a:solidFill>
                  <a:srgbClr val="594045"/>
                </a:solidFill>
                <a:latin typeface="Arial"/>
              </a:rPr>
              <a:t>LMAN</a:t>
            </a:r>
            <a:r>
              <a:rPr sz="1600" b="0" i="0">
                <a:solidFill>
                  <a:srgbClr val="000000"/>
                </a:solidFill>
                <a:latin typeface="Arial"/>
              </a:rPr>
              <a:t>. LMAN returns output to RA.</a:t>
            </a:r>
          </a:p>
          <a:p>
            <a:pPr algn="l">
              <a:lnSpc>
                <a:spcPct val="108000"/>
              </a:lnSpc>
              <a:spcAft>
                <a:spcPts val="960"/>
              </a:spcAft>
            </a:pPr>
            <a:r>
              <a:rPr sz="1600" b="0" i="0">
                <a:solidFill>
                  <a:srgbClr val="000000"/>
                </a:solidFill>
                <a:latin typeface="Arial"/>
              </a:rPr>
              <a:t>The descending pathway supports production of learned vocal movements, while the anterior pathway contributes to song acquisition and adjustment. These routes converge on motor output while providing different contributions to performance. Learning can therefore alter a practiced song through a circuit linked to, but distinguishable from, its descending production pathway.</a:t>
            </a:r>
          </a:p>
        </p:txBody>
      </p:sp>
      <p:pic>
        <p:nvPicPr>
          <p:cNvPr id="4" name="Picture 3" descr="b_anatomy.png"/>
          <p:cNvPicPr>
            <a:picLocks noChangeAspect="1"/>
          </p:cNvPicPr>
          <p:nvPr/>
        </p:nvPicPr>
        <p:blipFill>
          <a:blip r:embed="rId2"/>
          <a:stretch>
            <a:fillRect/>
          </a:stretch>
        </p:blipFill>
        <p:spPr>
          <a:xfrm>
            <a:off x="7672822" y="1280160"/>
            <a:ext cx="2600368"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Brown et al. (2021), Fig. 1(A,B). HVC and recording.</a:t>
            </a:r>
          </a:p>
        </p:txBody>
      </p:sp>
      <p:sp>
        <p:nvSpPr>
          <p:cNvPr id="6" name="Rectangle 5"/>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Brown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Dopamine reaches the vocal basal ganglia from VTA</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594045"/>
                </a:solidFill>
                <a:latin typeface="Arial"/>
              </a:rPr>
              <a:t>ventral tegmental area</a:t>
            </a:r>
            <a:r>
              <a:rPr sz="1600" b="0" i="0">
                <a:solidFill>
                  <a:srgbClr val="000000"/>
                </a:solidFill>
                <a:latin typeface="Arial"/>
              </a:rPr>
              <a:t>, or </a:t>
            </a:r>
            <a:r>
              <a:rPr sz="1600" b="1" i="0">
                <a:solidFill>
                  <a:srgbClr val="594045"/>
                </a:solidFill>
                <a:latin typeface="Arial"/>
              </a:rPr>
              <a:t>VTA</a:t>
            </a:r>
            <a:r>
              <a:rPr sz="1600" b="0" i="0">
                <a:solidFill>
                  <a:srgbClr val="000000"/>
                </a:solidFill>
                <a:latin typeface="Arial"/>
              </a:rPr>
              <a:t>, is a midbrain region containing neurons that release </a:t>
            </a:r>
            <a:r>
              <a:rPr sz="1600" b="1" i="0">
                <a:solidFill>
                  <a:srgbClr val="594045"/>
                </a:solidFill>
                <a:latin typeface="Arial"/>
              </a:rPr>
              <a:t>dopamine</a:t>
            </a:r>
            <a:r>
              <a:rPr sz="1600" b="0" i="0">
                <a:solidFill>
                  <a:srgbClr val="000000"/>
                </a:solidFill>
                <a:latin typeface="Arial"/>
              </a:rPr>
              <a:t>, a transmitter involved in reinforcement-related signaling. A population of VTA neurons sends </a:t>
            </a:r>
            <a:r>
              <a:rPr sz="1600" b="1" i="0">
                <a:solidFill>
                  <a:srgbClr val="594045"/>
                </a:solidFill>
                <a:latin typeface="Arial"/>
              </a:rPr>
              <a:t>axons</a:t>
            </a:r>
            <a:r>
              <a:rPr sz="1600" b="0" i="0">
                <a:solidFill>
                  <a:srgbClr val="000000"/>
                </a:solidFill>
                <a:latin typeface="Arial"/>
              </a:rPr>
              <a:t>, signal-carrying neuronal processes, to Area X, placing a potential teaching signal within the vocal learning circuit.</a:t>
            </a:r>
          </a:p>
          <a:p>
            <a:pPr algn="l">
              <a:lnSpc>
                <a:spcPct val="108000"/>
              </a:lnSpc>
              <a:spcAft>
                <a:spcPts val="960"/>
              </a:spcAft>
            </a:pPr>
            <a:r>
              <a:rPr sz="1600" b="0" i="0">
                <a:solidFill>
                  <a:srgbClr val="000000"/>
                </a:solidFill>
                <a:latin typeface="Arial"/>
              </a:rPr>
              <a:t>Gadagkar and colleagues injected a </a:t>
            </a:r>
            <a:r>
              <a:rPr sz="1600" b="1" i="0">
                <a:solidFill>
                  <a:srgbClr val="594045"/>
                </a:solidFill>
                <a:latin typeface="Arial"/>
              </a:rPr>
              <a:t>retrograde tracer</a:t>
            </a:r>
            <a:r>
              <a:rPr sz="1600" b="0" i="0">
                <a:solidFill>
                  <a:srgbClr val="000000"/>
                </a:solidFill>
                <a:latin typeface="Arial"/>
              </a:rPr>
              <a:t> into Area X. This label travels back to the cell bodies of neurons projecting there. VTA cells carrying the tracer also expressed </a:t>
            </a:r>
            <a:r>
              <a:rPr sz="1600" b="1" i="0">
                <a:solidFill>
                  <a:srgbClr val="594045"/>
                </a:solidFill>
                <a:latin typeface="Arial"/>
              </a:rPr>
              <a:t>tyrosine hydroxylase</a:t>
            </a:r>
            <a:r>
              <a:rPr sz="1600" b="0" i="0">
                <a:solidFill>
                  <a:srgbClr val="000000"/>
                </a:solidFill>
                <a:latin typeface="Arial"/>
              </a:rPr>
              <a:t>, an enzyme used in dopamine synthesis.</a:t>
            </a:r>
          </a:p>
          <a:p>
            <a:pPr algn="l">
              <a:lnSpc>
                <a:spcPct val="108000"/>
              </a:lnSpc>
              <a:spcAft>
                <a:spcPts val="960"/>
              </a:spcAft>
            </a:pPr>
            <a:r>
              <a:rPr sz="1600" b="0" i="0">
                <a:solidFill>
                  <a:srgbClr val="000000"/>
                </a:solidFill>
                <a:latin typeface="Arial"/>
              </a:rPr>
              <a:t>The combined projection label and dopamine-related marker identified the anatomical route studied during singing. Recording along this route connected momentary vocal outcomes to the activity of neurons positioned to influence basal-ganglia learning, rather than assuming every neuron in the VTA served the same function.</a:t>
            </a:r>
          </a:p>
        </p:txBody>
      </p:sp>
      <p:pic>
        <p:nvPicPr>
          <p:cNvPr id="4" name="Picture 3" descr="g_histology.png"/>
          <p:cNvPicPr>
            <a:picLocks noChangeAspect="1"/>
          </p:cNvPicPr>
          <p:nvPr/>
        </p:nvPicPr>
        <p:blipFill>
          <a:blip r:embed="rId2"/>
          <a:stretch>
            <a:fillRect/>
          </a:stretch>
        </p:blipFill>
        <p:spPr>
          <a:xfrm>
            <a:off x="7734757" y="1280160"/>
            <a:ext cx="2476500" cy="2286000"/>
          </a:xfrm>
          <a:prstGeom prst="rect">
            <a:avLst/>
          </a:prstGeom>
        </p:spPr>
      </p:pic>
      <p:sp>
        <p:nvSpPr>
          <p:cNvPr id="5" name="Figure caption"/>
          <p:cNvSpPr txBox="1"/>
          <p:nvPr/>
        </p:nvSpPr>
        <p:spPr>
          <a:xfrm>
            <a:off x="6321247" y="365760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Gadagkar et al. (2016), Fig. 1(D). VTA dopamine neurons.</a:t>
            </a:r>
          </a:p>
        </p:txBody>
      </p:sp>
      <p:pic>
        <p:nvPicPr>
          <p:cNvPr id="6" name="Picture 5" descr="g_anatomy.png"/>
          <p:cNvPicPr>
            <a:picLocks noChangeAspect="1"/>
          </p:cNvPicPr>
          <p:nvPr/>
        </p:nvPicPr>
        <p:blipFill>
          <a:blip r:embed="rId3"/>
          <a:stretch>
            <a:fillRect/>
          </a:stretch>
        </p:blipFill>
        <p:spPr>
          <a:xfrm>
            <a:off x="6660291" y="4114800"/>
            <a:ext cx="4625431" cy="164591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Gadagkar et al. (2016), Fig. 1(B,C). Area X projection identification and spike collision.</a:t>
            </a:r>
          </a:p>
        </p:txBody>
      </p:sp>
      <p:sp>
        <p:nvSpPr>
          <p:cNvPr id="8" name="Rectangle 7"/>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Gadagkar et al.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Spike collision identifies a neuron’s projection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594045"/>
                </a:solidFill>
                <a:latin typeface="Arial"/>
              </a:rPr>
              <a:t>Antidromic stimulation</a:t>
            </a:r>
            <a:r>
              <a:rPr sz="1600" b="0" i="0">
                <a:solidFill>
                  <a:srgbClr val="000000"/>
                </a:solidFill>
                <a:latin typeface="Arial"/>
              </a:rPr>
              <a:t> evokes an action potential that travels backward along an axon toward its cell body. Gadagkar and colleagues stimulated Area X while recording individual neurons in VTA to identify cells whose axons reached the vocal basal ganglia.</a:t>
            </a:r>
          </a:p>
          <a:p>
            <a:pPr algn="l">
              <a:lnSpc>
                <a:spcPct val="108000"/>
              </a:lnSpc>
              <a:spcAft>
                <a:spcPts val="960"/>
              </a:spcAft>
            </a:pPr>
            <a:r>
              <a:rPr sz="1600" b="0" i="0">
                <a:solidFill>
                  <a:srgbClr val="000000"/>
                </a:solidFill>
                <a:latin typeface="Arial"/>
              </a:rPr>
              <a:t>An evoked spike arrived with a consistent timing. When a spontaneous spike had just traveled outward along the same axon, the evoked spike disappeared in a </a:t>
            </a:r>
            <a:r>
              <a:rPr sz="1600" b="1" i="0">
                <a:solidFill>
                  <a:srgbClr val="594045"/>
                </a:solidFill>
                <a:latin typeface="Arial"/>
              </a:rPr>
              <a:t>collision test</a:t>
            </a:r>
            <a:r>
              <a:rPr sz="1600" b="0" i="0">
                <a:solidFill>
                  <a:srgbClr val="000000"/>
                </a:solidFill>
                <a:latin typeface="Arial"/>
              </a:rPr>
              <a:t>. Oppositely traveling spikes cannot pass through the recently activated axonal segment.</a:t>
            </a:r>
          </a:p>
          <a:p>
            <a:pPr algn="l">
              <a:lnSpc>
                <a:spcPct val="108000"/>
              </a:lnSpc>
              <a:spcAft>
                <a:spcPts val="960"/>
              </a:spcAft>
            </a:pPr>
            <a:r>
              <a:rPr sz="1600" b="0" i="0">
                <a:solidFill>
                  <a:srgbClr val="000000"/>
                </a:solidFill>
                <a:latin typeface="Arial"/>
              </a:rPr>
              <a:t>Projection identification made the physiological comparison specific. The Area X-projecting population strongly overlapped with cells carrying song-performance error responses, while most other recorded VTA neurons lacked those responses. Circuit membership therefore predicted the relevance of a neuron’s activity to vocal evaluation.</a:t>
            </a:r>
          </a:p>
        </p:txBody>
      </p:sp>
      <p:pic>
        <p:nvPicPr>
          <p:cNvPr id="4" name="Picture 3" descr="g_anatomy.png"/>
          <p:cNvPicPr>
            <a:picLocks noChangeAspect="1"/>
          </p:cNvPicPr>
          <p:nvPr/>
        </p:nvPicPr>
        <p:blipFill>
          <a:blip r:embed="rId2"/>
          <a:stretch>
            <a:fillRect/>
          </a:stretch>
        </p:blipFill>
        <p:spPr>
          <a:xfrm>
            <a:off x="6321247" y="1280160"/>
            <a:ext cx="5303520" cy="1887211"/>
          </a:xfrm>
          <a:prstGeom prst="rect">
            <a:avLst/>
          </a:prstGeom>
        </p:spPr>
      </p:pic>
      <p:sp>
        <p:nvSpPr>
          <p:cNvPr id="5" name="Figure caption"/>
          <p:cNvSpPr txBox="1"/>
          <p:nvPr/>
        </p:nvSpPr>
        <p:spPr>
          <a:xfrm>
            <a:off x="6321247" y="3258811"/>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Gadagkar et al. (2016), Fig. 1(B,C). Area X projection identification and spike collision.</a:t>
            </a:r>
          </a:p>
        </p:txBody>
      </p:sp>
      <p:pic>
        <p:nvPicPr>
          <p:cNvPr id="6" name="Picture 5" descr="g_histology.png"/>
          <p:cNvPicPr>
            <a:picLocks noChangeAspect="1"/>
          </p:cNvPicPr>
          <p:nvPr/>
        </p:nvPicPr>
        <p:blipFill>
          <a:blip r:embed="rId3"/>
          <a:stretch>
            <a:fillRect/>
          </a:stretch>
        </p:blipFill>
        <p:spPr>
          <a:xfrm>
            <a:off x="8081467" y="4114800"/>
            <a:ext cx="1783079" cy="164591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Gadagkar et al. (2016), Fig. 1(D). VTA dopamine neurons.</a:t>
            </a:r>
          </a:p>
        </p:txBody>
      </p:sp>
      <p:sp>
        <p:nvSpPr>
          <p:cNvPr id="8" name="Rectangle 7"/>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Gadagkar et al.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Distorted feedback briefly suppresses dopamine cells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594045"/>
                </a:solidFill>
                <a:latin typeface="Arial"/>
              </a:rPr>
              <a:t>Distorted auditory feedback</a:t>
            </a:r>
            <a:r>
              <a:rPr sz="1600" b="0" i="0">
                <a:solidFill>
                  <a:srgbClr val="000000"/>
                </a:solidFill>
                <a:latin typeface="Arial"/>
              </a:rPr>
              <a:t> alters the sound a bird hears while it sings. Gadagkar and colleagues randomly distorted a target syllable with a </a:t>
            </a:r>
            <a:r>
              <a:rPr sz="1600" b="1" i="0">
                <a:solidFill>
                  <a:srgbClr val="594045"/>
                </a:solidFill>
                <a:latin typeface="Arial"/>
              </a:rPr>
              <a:t>50-ms</a:t>
            </a:r>
            <a:r>
              <a:rPr sz="1600" b="0" i="0">
                <a:solidFill>
                  <a:srgbClr val="000000"/>
                </a:solidFill>
                <a:latin typeface="Arial"/>
              </a:rPr>
              <a:t> sound segment, while other renditions of that same syllable remained undistorted.</a:t>
            </a:r>
          </a:p>
          <a:p>
            <a:pPr algn="l">
              <a:lnSpc>
                <a:spcPct val="108000"/>
              </a:lnSpc>
              <a:spcAft>
                <a:spcPts val="960"/>
              </a:spcAft>
            </a:pPr>
            <a:r>
              <a:rPr sz="1600" b="0" i="0">
                <a:solidFill>
                  <a:srgbClr val="000000"/>
                </a:solidFill>
                <a:latin typeface="Arial"/>
              </a:rPr>
              <a:t>Area X-projecting VTA neurons reduced their firing after distortion. The response began about </a:t>
            </a:r>
            <a:r>
              <a:rPr sz="1600" b="1" i="0">
                <a:solidFill>
                  <a:srgbClr val="594045"/>
                </a:solidFill>
                <a:latin typeface="Arial"/>
              </a:rPr>
              <a:t>58 ms</a:t>
            </a:r>
            <a:r>
              <a:rPr sz="1600" b="0" i="0">
                <a:solidFill>
                  <a:srgbClr val="000000"/>
                </a:solidFill>
                <a:latin typeface="Arial"/>
              </a:rPr>
              <a:t> after distortion onset, lasted about </a:t>
            </a:r>
            <a:r>
              <a:rPr sz="1600" b="1" i="0">
                <a:solidFill>
                  <a:srgbClr val="594045"/>
                </a:solidFill>
                <a:latin typeface="Arial"/>
              </a:rPr>
              <a:t>86 ms</a:t>
            </a:r>
            <a:r>
              <a:rPr sz="1600" b="0" i="0">
                <a:solidFill>
                  <a:srgbClr val="000000"/>
                </a:solidFill>
                <a:latin typeface="Arial"/>
              </a:rPr>
              <a:t>, and reduced firing by roughly </a:t>
            </a:r>
            <a:r>
              <a:rPr sz="1600" b="1" i="0">
                <a:solidFill>
                  <a:srgbClr val="594045"/>
                </a:solidFill>
                <a:latin typeface="Arial"/>
              </a:rPr>
              <a:t>75%</a:t>
            </a:r>
            <a:r>
              <a:rPr sz="1600" b="0" i="0">
                <a:solidFill>
                  <a:srgbClr val="000000"/>
                </a:solidFill>
                <a:latin typeface="Arial"/>
              </a:rPr>
              <a:t> on average in the error-responsive population.</a:t>
            </a:r>
          </a:p>
          <a:p>
            <a:pPr algn="l">
              <a:lnSpc>
                <a:spcPct val="108000"/>
              </a:lnSpc>
              <a:spcAft>
                <a:spcPts val="960"/>
              </a:spcAft>
            </a:pPr>
            <a:r>
              <a:rPr sz="1600" b="0" i="0">
                <a:solidFill>
                  <a:srgbClr val="000000"/>
                </a:solidFill>
                <a:latin typeface="Arial"/>
              </a:rPr>
              <a:t>The response occurred after the altered auditory consequence rather than simply accompanying the motor act. A transient decrease in activity therefore carried information about a worse vocal outcome at a particular point in the sequence. Repeated comparisons between distorted and undistorted renditions isolated this outcome-related component of activity.</a:t>
            </a:r>
          </a:p>
        </p:txBody>
      </p:sp>
      <p:pic>
        <p:nvPicPr>
          <p:cNvPr id="4" name="Picture 3" descr="g_error.png"/>
          <p:cNvPicPr>
            <a:picLocks noChangeAspect="1"/>
          </p:cNvPicPr>
          <p:nvPr/>
        </p:nvPicPr>
        <p:blipFill>
          <a:blip r:embed="rId2"/>
          <a:stretch>
            <a:fillRect/>
          </a:stretch>
        </p:blipFill>
        <p:spPr>
          <a:xfrm>
            <a:off x="6520811" y="1280160"/>
            <a:ext cx="3075590" cy="4297679"/>
          </a:xfrm>
          <a:prstGeom prst="rect">
            <a:avLst/>
          </a:prstGeom>
        </p:spPr>
      </p:pic>
      <p:sp>
        <p:nvSpPr>
          <p:cNvPr id="5" name="Figure caption"/>
          <p:cNvSpPr txBox="1"/>
          <p:nvPr/>
        </p:nvSpPr>
        <p:spPr>
          <a:xfrm>
            <a:off x="6321247" y="5669279"/>
            <a:ext cx="34747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Gadagkar et al. (2016), Fig. 2(B). Suppression after distortion and activation after omission.</a:t>
            </a:r>
          </a:p>
        </p:txBody>
      </p:sp>
      <p:pic>
        <p:nvPicPr>
          <p:cNvPr id="6" name="Picture 5" descr="g_histology.png"/>
          <p:cNvPicPr>
            <a:picLocks noChangeAspect="1"/>
          </p:cNvPicPr>
          <p:nvPr/>
        </p:nvPicPr>
        <p:blipFill>
          <a:blip r:embed="rId3"/>
          <a:stretch>
            <a:fillRect/>
          </a:stretch>
        </p:blipFill>
        <p:spPr>
          <a:xfrm>
            <a:off x="9978847" y="2148840"/>
            <a:ext cx="1645920" cy="1519310"/>
          </a:xfrm>
          <a:prstGeom prst="rect">
            <a:avLst/>
          </a:prstGeom>
        </p:spPr>
      </p:pic>
      <p:sp>
        <p:nvSpPr>
          <p:cNvPr id="7" name="Figure caption"/>
          <p:cNvSpPr txBox="1"/>
          <p:nvPr/>
        </p:nvSpPr>
        <p:spPr>
          <a:xfrm>
            <a:off x="9978847" y="3741302"/>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Gadagkar et al. (2016), Fig. 1(D). VTA dopamine neurons.</a:t>
            </a:r>
          </a:p>
        </p:txBody>
      </p:sp>
      <p:sp>
        <p:nvSpPr>
          <p:cNvPr id="8" name="Rectangle 7"/>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Gadagkar et al.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An omitted distortion produces a positive error signal</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An undistorted syllable can be better than expected when distortion has occurred on previous renditions. Gadagkar and colleagues found brief VTA firing increases at the precise song time when an anticipated distortion failed to occur.</a:t>
            </a:r>
          </a:p>
          <a:p>
            <a:pPr algn="l">
              <a:lnSpc>
                <a:spcPct val="108000"/>
              </a:lnSpc>
              <a:spcAft>
                <a:spcPts val="960"/>
              </a:spcAft>
            </a:pPr>
            <a:r>
              <a:rPr sz="1600" b="0" i="0">
                <a:solidFill>
                  <a:srgbClr val="000000"/>
                </a:solidFill>
                <a:latin typeface="Arial"/>
              </a:rPr>
              <a:t>These activations began about </a:t>
            </a:r>
            <a:r>
              <a:rPr sz="1600" b="1" i="0">
                <a:solidFill>
                  <a:srgbClr val="594045"/>
                </a:solidFill>
                <a:latin typeface="Arial"/>
              </a:rPr>
              <a:t>51 ms</a:t>
            </a:r>
            <a:r>
              <a:rPr sz="1600" b="0" i="0">
                <a:solidFill>
                  <a:srgbClr val="000000"/>
                </a:solidFill>
                <a:latin typeface="Arial"/>
              </a:rPr>
              <a:t> after the target time and lasted about </a:t>
            </a:r>
            <a:r>
              <a:rPr sz="1600" b="1" i="0">
                <a:solidFill>
                  <a:srgbClr val="594045"/>
                </a:solidFill>
                <a:latin typeface="Arial"/>
              </a:rPr>
              <a:t>62 ms</a:t>
            </a:r>
            <a:r>
              <a:rPr sz="1600" b="0" i="0">
                <a:solidFill>
                  <a:srgbClr val="000000"/>
                </a:solidFill>
                <a:latin typeface="Arial"/>
              </a:rPr>
              <a:t>. The error-responsive population increased firing by roughly </a:t>
            </a:r>
            <a:r>
              <a:rPr sz="1600" b="1" i="0">
                <a:solidFill>
                  <a:srgbClr val="594045"/>
                </a:solidFill>
                <a:latin typeface="Arial"/>
              </a:rPr>
              <a:t>77%</a:t>
            </a:r>
            <a:r>
              <a:rPr sz="1600" b="0" i="0">
                <a:solidFill>
                  <a:srgbClr val="000000"/>
                </a:solidFill>
                <a:latin typeface="Arial"/>
              </a:rPr>
              <a:t> relative to its pretarget activity, complementing the decreases following distorted feedback.</a:t>
            </a:r>
          </a:p>
          <a:p>
            <a:pPr algn="l">
              <a:lnSpc>
                <a:spcPct val="108000"/>
              </a:lnSpc>
              <a:spcAft>
                <a:spcPts val="960"/>
              </a:spcAft>
            </a:pPr>
            <a:r>
              <a:rPr sz="1600" b="0" i="0">
                <a:solidFill>
                  <a:srgbClr val="000000"/>
                </a:solidFill>
                <a:latin typeface="Arial"/>
              </a:rPr>
              <a:t>A </a:t>
            </a:r>
            <a:r>
              <a:rPr sz="1600" b="1" i="0">
                <a:solidFill>
                  <a:srgbClr val="594045"/>
                </a:solidFill>
                <a:latin typeface="Arial"/>
              </a:rPr>
              <a:t>prediction error</a:t>
            </a:r>
            <a:r>
              <a:rPr sz="1600" b="0" i="0">
                <a:solidFill>
                  <a:srgbClr val="000000"/>
                </a:solidFill>
                <a:latin typeface="Arial"/>
              </a:rPr>
              <a:t> is a difference between an outcome and an expectation. The same target syllable could yield a negative signal when distorted and a positive signal when it unexpectedly escaped distortion. Dopamine activity therefore represented vocal outcome relative to a learned benchmark, rather than merely registering the presence of sound.</a:t>
            </a:r>
          </a:p>
        </p:txBody>
      </p:sp>
      <p:pic>
        <p:nvPicPr>
          <p:cNvPr id="4" name="Picture 3" descr="g_error.png"/>
          <p:cNvPicPr>
            <a:picLocks noChangeAspect="1"/>
          </p:cNvPicPr>
          <p:nvPr/>
        </p:nvPicPr>
        <p:blipFill>
          <a:blip r:embed="rId2"/>
          <a:stretch>
            <a:fillRect/>
          </a:stretch>
        </p:blipFill>
        <p:spPr>
          <a:xfrm>
            <a:off x="6520811" y="1280160"/>
            <a:ext cx="3075590" cy="4297679"/>
          </a:xfrm>
          <a:prstGeom prst="rect">
            <a:avLst/>
          </a:prstGeom>
        </p:spPr>
      </p:pic>
      <p:sp>
        <p:nvSpPr>
          <p:cNvPr id="5" name="Figure caption"/>
          <p:cNvSpPr txBox="1"/>
          <p:nvPr/>
        </p:nvSpPr>
        <p:spPr>
          <a:xfrm>
            <a:off x="6321247" y="5669279"/>
            <a:ext cx="34747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Gadagkar et al. (2016), Fig. 2(B). Suppression after distortion and activation after omission.</a:t>
            </a:r>
          </a:p>
        </p:txBody>
      </p:sp>
      <p:pic>
        <p:nvPicPr>
          <p:cNvPr id="6" name="Picture 5" descr="g_histology.png"/>
          <p:cNvPicPr>
            <a:picLocks noChangeAspect="1"/>
          </p:cNvPicPr>
          <p:nvPr/>
        </p:nvPicPr>
        <p:blipFill>
          <a:blip r:embed="rId3"/>
          <a:stretch>
            <a:fillRect/>
          </a:stretch>
        </p:blipFill>
        <p:spPr>
          <a:xfrm>
            <a:off x="9978847" y="2148840"/>
            <a:ext cx="1645920" cy="1519310"/>
          </a:xfrm>
          <a:prstGeom prst="rect">
            <a:avLst/>
          </a:prstGeom>
        </p:spPr>
      </p:pic>
      <p:sp>
        <p:nvSpPr>
          <p:cNvPr id="7" name="Figure caption"/>
          <p:cNvSpPr txBox="1"/>
          <p:nvPr/>
        </p:nvSpPr>
        <p:spPr>
          <a:xfrm>
            <a:off x="9978847" y="3741302"/>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Gadagkar et al. (2016), Fig. 1(D). VTA dopamine neurons.</a:t>
            </a:r>
          </a:p>
        </p:txBody>
      </p:sp>
      <p:sp>
        <p:nvSpPr>
          <p:cNvPr id="8" name="Rectangle 7"/>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Gadagkar et al.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Distortion history changes the value of an escape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Gadagkar and colleagues targeted two syllables in the same song with different distortion probabilities, approximately </a:t>
            </a:r>
            <a:r>
              <a:rPr sz="1600" b="1" i="0">
                <a:solidFill>
                  <a:srgbClr val="594045"/>
                </a:solidFill>
                <a:latin typeface="Arial"/>
              </a:rPr>
              <a:t>49%</a:t>
            </a:r>
            <a:r>
              <a:rPr sz="1600" b="0" i="0">
                <a:solidFill>
                  <a:srgbClr val="000000"/>
                </a:solidFill>
                <a:latin typeface="Arial"/>
              </a:rPr>
              <a:t> for one and </a:t>
            </a:r>
            <a:r>
              <a:rPr sz="1600" b="1" i="0">
                <a:solidFill>
                  <a:srgbClr val="594045"/>
                </a:solidFill>
                <a:latin typeface="Arial"/>
              </a:rPr>
              <a:t>20%</a:t>
            </a:r>
            <a:r>
              <a:rPr sz="1600" b="0" i="0">
                <a:solidFill>
                  <a:srgbClr val="000000"/>
                </a:solidFill>
                <a:latin typeface="Arial"/>
              </a:rPr>
              <a:t> for the other. This created different expectations for the two moments within a single vocal sequence.</a:t>
            </a:r>
          </a:p>
          <a:p>
            <a:pPr algn="l">
              <a:lnSpc>
                <a:spcPct val="108000"/>
              </a:lnSpc>
              <a:spcAft>
                <a:spcPts val="960"/>
              </a:spcAft>
            </a:pPr>
            <a:r>
              <a:rPr sz="1600" b="0" i="0">
                <a:solidFill>
                  <a:srgbClr val="000000"/>
                </a:solidFill>
                <a:latin typeface="Arial"/>
              </a:rPr>
              <a:t>An undistorted rendition of the frequently distorted syllable produced a larger VTA activation than an undistorted rendition of the rarely distorted syllable. Average firing increases were about </a:t>
            </a:r>
            <a:r>
              <a:rPr sz="1600" b="1" i="0">
                <a:solidFill>
                  <a:srgbClr val="594045"/>
                </a:solidFill>
                <a:latin typeface="Arial"/>
              </a:rPr>
              <a:t>67%</a:t>
            </a:r>
            <a:r>
              <a:rPr sz="1600" b="0" i="0">
                <a:solidFill>
                  <a:srgbClr val="000000"/>
                </a:solidFill>
                <a:latin typeface="Arial"/>
              </a:rPr>
              <a:t> and </a:t>
            </a:r>
            <a:r>
              <a:rPr sz="1600" b="1" i="0">
                <a:solidFill>
                  <a:srgbClr val="594045"/>
                </a:solidFill>
                <a:latin typeface="Arial"/>
              </a:rPr>
              <a:t>22%</a:t>
            </a:r>
            <a:r>
              <a:rPr sz="1600" b="0" i="0">
                <a:solidFill>
                  <a:srgbClr val="000000"/>
                </a:solidFill>
                <a:latin typeface="Arial"/>
              </a:rPr>
              <a:t>, respectively, in the studied population.</a:t>
            </a:r>
          </a:p>
          <a:p>
            <a:pPr algn="l">
              <a:lnSpc>
                <a:spcPct val="108000"/>
              </a:lnSpc>
              <a:spcAft>
                <a:spcPts val="960"/>
              </a:spcAft>
            </a:pPr>
            <a:r>
              <a:rPr sz="1600" b="0" i="0">
                <a:solidFill>
                  <a:srgbClr val="000000"/>
                </a:solidFill>
                <a:latin typeface="Arial"/>
              </a:rPr>
              <a:t>The response to one target did not depend on whether the other target had just been distorted. Each syllable was evaluated against its own temporally aligned benchmark. Performance evaluation therefore used local experience within the sequence, allowing the same normal feedback to receive different values at different song times.</a:t>
            </a:r>
          </a:p>
        </p:txBody>
      </p:sp>
      <p:pic>
        <p:nvPicPr>
          <p:cNvPr id="4" name="Picture 3" descr="g_prob.png"/>
          <p:cNvPicPr>
            <a:picLocks noChangeAspect="1"/>
          </p:cNvPicPr>
          <p:nvPr/>
        </p:nvPicPr>
        <p:blipFill>
          <a:blip r:embed="rId2"/>
          <a:stretch>
            <a:fillRect/>
          </a:stretch>
        </p:blipFill>
        <p:spPr>
          <a:xfrm>
            <a:off x="6647865" y="1280160"/>
            <a:ext cx="2821484" cy="4297679"/>
          </a:xfrm>
          <a:prstGeom prst="rect">
            <a:avLst/>
          </a:prstGeom>
        </p:spPr>
      </p:pic>
      <p:sp>
        <p:nvSpPr>
          <p:cNvPr id="5" name="Figure caption"/>
          <p:cNvSpPr txBox="1"/>
          <p:nvPr/>
        </p:nvSpPr>
        <p:spPr>
          <a:xfrm>
            <a:off x="6321247" y="5669279"/>
            <a:ext cx="34747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Gadagkar et al. (2016), Fig. 3(A–E). Performance responses depend on syllable-specific distortion probability.</a:t>
            </a:r>
          </a:p>
        </p:txBody>
      </p:sp>
      <p:pic>
        <p:nvPicPr>
          <p:cNvPr id="6" name="Picture 5" descr="g_histology.png"/>
          <p:cNvPicPr>
            <a:picLocks noChangeAspect="1"/>
          </p:cNvPicPr>
          <p:nvPr/>
        </p:nvPicPr>
        <p:blipFill>
          <a:blip r:embed="rId3"/>
          <a:stretch>
            <a:fillRect/>
          </a:stretch>
        </p:blipFill>
        <p:spPr>
          <a:xfrm>
            <a:off x="9978847" y="2148840"/>
            <a:ext cx="1645920" cy="1519310"/>
          </a:xfrm>
          <a:prstGeom prst="rect">
            <a:avLst/>
          </a:prstGeom>
        </p:spPr>
      </p:pic>
      <p:sp>
        <p:nvSpPr>
          <p:cNvPr id="7" name="Figure caption"/>
          <p:cNvSpPr txBox="1"/>
          <p:nvPr/>
        </p:nvSpPr>
        <p:spPr>
          <a:xfrm>
            <a:off x="9978847" y="3741302"/>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Gadagkar et al. (2016), Fig. 1(D). VTA dopamine neurons.</a:t>
            </a:r>
          </a:p>
        </p:txBody>
      </p:sp>
      <p:sp>
        <p:nvSpPr>
          <p:cNvPr id="8" name="Rectangle 7"/>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Gadagkar et al.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Performance evaluation depends on active singing</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distorted and undistorted songs could also be played to a bird while it was silent. Under passive playback, the VTA cells that encoded performance errors during singing did not produce the same differential responses to those recordings.</a:t>
            </a:r>
          </a:p>
          <a:p>
            <a:pPr algn="l">
              <a:lnSpc>
                <a:spcPct val="108000"/>
              </a:lnSpc>
              <a:spcAft>
                <a:spcPts val="960"/>
              </a:spcAft>
            </a:pPr>
            <a:r>
              <a:rPr sz="1600" b="0" i="0">
                <a:solidFill>
                  <a:srgbClr val="000000"/>
                </a:solidFill>
                <a:latin typeface="Arial"/>
              </a:rPr>
              <a:t>This comparison separates an evaluation of the bird’s ongoing action from an ordinary response to hearing the disruptive sound. The auditory stimulus alone was insufficient to reproduce the singing-related firing pause or the positive omission response.</a:t>
            </a:r>
          </a:p>
          <a:p>
            <a:pPr algn="l">
              <a:lnSpc>
                <a:spcPct val="108000"/>
              </a:lnSpc>
              <a:spcAft>
                <a:spcPts val="960"/>
              </a:spcAft>
            </a:pPr>
            <a:r>
              <a:rPr sz="1600" b="0" i="0">
                <a:solidFill>
                  <a:srgbClr val="000000"/>
                </a:solidFill>
                <a:latin typeface="Arial"/>
              </a:rPr>
              <a:t>Active performance supplied the context in which the sound was evaluated. The bird’s own vocal sequence and its expected consequences jointly determined the dopamine response. Song reinforcement thus draws on information about an action being produced, rather than treating every external presentation of its acoustic consequence as equivalent.</a:t>
            </a:r>
          </a:p>
        </p:txBody>
      </p:sp>
      <p:pic>
        <p:nvPicPr>
          <p:cNvPr id="4" name="Picture 3" descr="g_passive.png"/>
          <p:cNvPicPr>
            <a:picLocks noChangeAspect="1"/>
          </p:cNvPicPr>
          <p:nvPr/>
        </p:nvPicPr>
        <p:blipFill>
          <a:blip r:embed="rId2"/>
          <a:stretch>
            <a:fillRect/>
          </a:stretch>
        </p:blipFill>
        <p:spPr>
          <a:xfrm>
            <a:off x="6998650" y="1280160"/>
            <a:ext cx="2119913" cy="4297679"/>
          </a:xfrm>
          <a:prstGeom prst="rect">
            <a:avLst/>
          </a:prstGeom>
        </p:spPr>
      </p:pic>
      <p:sp>
        <p:nvSpPr>
          <p:cNvPr id="5" name="Figure caption"/>
          <p:cNvSpPr txBox="1"/>
          <p:nvPr/>
        </p:nvSpPr>
        <p:spPr>
          <a:xfrm>
            <a:off x="6321247" y="5669279"/>
            <a:ext cx="34747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Gadagkar et al. (2016), Fig. 4(B,C). Passive listening lacks the singing-related error response.</a:t>
            </a:r>
          </a:p>
        </p:txBody>
      </p:sp>
      <p:pic>
        <p:nvPicPr>
          <p:cNvPr id="6" name="Picture 5" descr="g_histology.png"/>
          <p:cNvPicPr>
            <a:picLocks noChangeAspect="1"/>
          </p:cNvPicPr>
          <p:nvPr/>
        </p:nvPicPr>
        <p:blipFill>
          <a:blip r:embed="rId3"/>
          <a:stretch>
            <a:fillRect/>
          </a:stretch>
        </p:blipFill>
        <p:spPr>
          <a:xfrm>
            <a:off x="9978847" y="2148840"/>
            <a:ext cx="1645920" cy="1519310"/>
          </a:xfrm>
          <a:prstGeom prst="rect">
            <a:avLst/>
          </a:prstGeom>
        </p:spPr>
      </p:pic>
      <p:sp>
        <p:nvSpPr>
          <p:cNvPr id="7" name="Figure caption"/>
          <p:cNvSpPr txBox="1"/>
          <p:nvPr/>
        </p:nvSpPr>
        <p:spPr>
          <a:xfrm>
            <a:off x="9978847" y="3741302"/>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Gadagkar et al. (2016), Fig. 1(D). VTA dopamine neurons.</a:t>
            </a:r>
          </a:p>
        </p:txBody>
      </p:sp>
      <p:sp>
        <p:nvSpPr>
          <p:cNvPr id="8" name="Rectangle 7"/>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Gadagkar et al.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Optical tools target VTA axons inside Area X</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594045"/>
                </a:solidFill>
                <a:latin typeface="Arial"/>
              </a:rPr>
              <a:t>Optogenetics</a:t>
            </a:r>
            <a:r>
              <a:rPr sz="1500" b="0" i="0">
                <a:solidFill>
                  <a:srgbClr val="000000"/>
                </a:solidFill>
                <a:latin typeface="Arial"/>
              </a:rPr>
              <a:t> uses genetically expressed light-sensitive proteins to control selected neural elements. Xiao and colleagues expressed </a:t>
            </a:r>
            <a:r>
              <a:rPr sz="1500" b="1" i="0">
                <a:solidFill>
                  <a:srgbClr val="594045"/>
                </a:solidFill>
                <a:latin typeface="Arial"/>
              </a:rPr>
              <a:t>channelrhodopsin</a:t>
            </a:r>
            <a:r>
              <a:rPr sz="1500" b="0" i="0">
                <a:solidFill>
                  <a:srgbClr val="000000"/>
                </a:solidFill>
                <a:latin typeface="Arial"/>
              </a:rPr>
              <a:t>, or </a:t>
            </a:r>
            <a:r>
              <a:rPr sz="1500" b="1" i="0">
                <a:solidFill>
                  <a:srgbClr val="594045"/>
                </a:solidFill>
                <a:latin typeface="Arial"/>
              </a:rPr>
              <a:t>ChR2</a:t>
            </a:r>
            <a:r>
              <a:rPr sz="1500" b="0" i="0">
                <a:solidFill>
                  <a:srgbClr val="000000"/>
                </a:solidFill>
                <a:latin typeface="Arial"/>
              </a:rPr>
              <a:t>, for optical excitation and </a:t>
            </a:r>
            <a:r>
              <a:rPr sz="1500" b="1" i="0">
                <a:solidFill>
                  <a:srgbClr val="594045"/>
                </a:solidFill>
                <a:latin typeface="Arial"/>
              </a:rPr>
              <a:t>archaerhodopsin</a:t>
            </a:r>
            <a:r>
              <a:rPr sz="1500" b="0" i="0">
                <a:solidFill>
                  <a:srgbClr val="000000"/>
                </a:solidFill>
                <a:latin typeface="Arial"/>
              </a:rPr>
              <a:t>, or </a:t>
            </a:r>
            <a:r>
              <a:rPr sz="1500" b="1" i="0">
                <a:solidFill>
                  <a:srgbClr val="594045"/>
                </a:solidFill>
                <a:latin typeface="Arial"/>
              </a:rPr>
              <a:t>ArchT</a:t>
            </a:r>
            <a:r>
              <a:rPr sz="1500" b="0" i="0">
                <a:solidFill>
                  <a:srgbClr val="000000"/>
                </a:solidFill>
                <a:latin typeface="Arial"/>
              </a:rPr>
              <a:t>, for optical inhibition in VTA neurons.</a:t>
            </a:r>
          </a:p>
          <a:p>
            <a:pPr algn="l">
              <a:lnSpc>
                <a:spcPct val="108000"/>
              </a:lnSpc>
              <a:spcAft>
                <a:spcPts val="900"/>
              </a:spcAft>
            </a:pPr>
            <a:r>
              <a:rPr sz="1500" b="1" i="0">
                <a:solidFill>
                  <a:srgbClr val="594045"/>
                </a:solidFill>
                <a:latin typeface="Arial"/>
              </a:rPr>
              <a:t>Axon terminals</a:t>
            </a:r>
            <a:r>
              <a:rPr sz="1500" b="0" i="0">
                <a:solidFill>
                  <a:srgbClr val="000000"/>
                </a:solidFill>
                <a:latin typeface="Arial"/>
              </a:rPr>
              <a:t> are the projection’s release sites at its target. An axon-targeting sequence improved delivery of these proteins to terminals within Area X. Optical fibers positioned over Area X then illuminated the terminals, concentrating the intervention at the projection’s basal-ganglia endpoint rather than illuminating VTA cell bodies directly.</a:t>
            </a:r>
          </a:p>
          <a:p>
            <a:pPr algn="l">
              <a:lnSpc>
                <a:spcPct val="108000"/>
              </a:lnSpc>
              <a:spcAft>
                <a:spcPts val="900"/>
              </a:spcAft>
            </a:pPr>
            <a:r>
              <a:rPr sz="1500" b="0" i="0">
                <a:solidFill>
                  <a:srgbClr val="000000"/>
                </a:solidFill>
                <a:latin typeface="Arial"/>
              </a:rPr>
              <a:t>Fluorescent labeling verified expression in VTA neurons and their terminals. This anatomical targeting allowed the investigators to connect detected song variants to brief increases or decreases in projection activity. The intervention converted a naturally evaluative pathway into a controllable input for closed-loop vocal learning.</a:t>
            </a:r>
          </a:p>
        </p:txBody>
      </p:sp>
      <p:pic>
        <p:nvPicPr>
          <p:cNvPr id="4" name="Picture 3" descr="x_anatomy.png"/>
          <p:cNvPicPr>
            <a:picLocks noChangeAspect="1"/>
          </p:cNvPicPr>
          <p:nvPr/>
        </p:nvPicPr>
        <p:blipFill>
          <a:blip r:embed="rId2"/>
          <a:stretch>
            <a:fillRect/>
          </a:stretch>
        </p:blipFill>
        <p:spPr>
          <a:xfrm>
            <a:off x="6321247" y="1280160"/>
            <a:ext cx="5303520" cy="1641956"/>
          </a:xfrm>
          <a:prstGeom prst="rect">
            <a:avLst/>
          </a:prstGeom>
        </p:spPr>
      </p:pic>
      <p:sp>
        <p:nvSpPr>
          <p:cNvPr id="5" name="Figure caption"/>
          <p:cNvSpPr txBox="1"/>
          <p:nvPr/>
        </p:nvSpPr>
        <p:spPr>
          <a:xfrm>
            <a:off x="6321247" y="3013556"/>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Xiao et al. (2018), Fig. 2(A,B). VTA dopamine cells and their axons in Area X.</a:t>
            </a:r>
          </a:p>
        </p:txBody>
      </p:sp>
      <p:sp>
        <p:nvSpPr>
          <p:cNvPr id="6" name="Rectangle 5"/>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Xiao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Optical excitation evokes measurable dopamine release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594045"/>
                </a:solidFill>
                <a:latin typeface="Arial"/>
              </a:rPr>
              <a:t>Fast-scan cyclic voltammetry</a:t>
            </a:r>
            <a:r>
              <a:rPr sz="1500" b="0" i="0">
                <a:solidFill>
                  <a:srgbClr val="000000"/>
                </a:solidFill>
                <a:latin typeface="Arial"/>
              </a:rPr>
              <a:t> measures transmitter-related electrical currents while an electrode rapidly sweeps its voltage. Xiao and colleagues used this method in brain slices containing VTA connections to Area X to test the chemical effect of terminal illumination.</a:t>
            </a:r>
          </a:p>
          <a:p>
            <a:pPr algn="l">
              <a:lnSpc>
                <a:spcPct val="108000"/>
              </a:lnSpc>
              <a:spcAft>
                <a:spcPts val="900"/>
              </a:spcAft>
            </a:pPr>
            <a:r>
              <a:rPr sz="1500" b="0" i="0">
                <a:solidFill>
                  <a:srgbClr val="000000"/>
                </a:solidFill>
                <a:latin typeface="Arial"/>
              </a:rPr>
              <a:t>A </a:t>
            </a:r>
            <a:r>
              <a:rPr sz="1500" b="1" i="0">
                <a:solidFill>
                  <a:srgbClr val="594045"/>
                </a:solidFill>
                <a:latin typeface="Arial"/>
              </a:rPr>
              <a:t>100-ms</a:t>
            </a:r>
            <a:r>
              <a:rPr sz="1500" b="0" i="0">
                <a:solidFill>
                  <a:srgbClr val="000000"/>
                </a:solidFill>
                <a:latin typeface="Arial"/>
              </a:rPr>
              <a:t> pulse of </a:t>
            </a:r>
            <a:r>
              <a:rPr sz="1500" b="1" i="0">
                <a:solidFill>
                  <a:srgbClr val="594045"/>
                </a:solidFill>
                <a:latin typeface="Arial"/>
              </a:rPr>
              <a:t>470-nm</a:t>
            </a:r>
            <a:r>
              <a:rPr sz="1500" b="0" i="0">
                <a:solidFill>
                  <a:srgbClr val="000000"/>
                </a:solidFill>
                <a:latin typeface="Arial"/>
              </a:rPr>
              <a:t> blue light activated ChR2-expressing terminals and evoked a dopamine-related signal in Area X. Electrical stimulation provided a comparison with the characteristic electrochemical response of the same projection.</a:t>
            </a:r>
          </a:p>
          <a:p>
            <a:pPr algn="l">
              <a:lnSpc>
                <a:spcPct val="108000"/>
              </a:lnSpc>
              <a:spcAft>
                <a:spcPts val="900"/>
              </a:spcAft>
            </a:pPr>
            <a:r>
              <a:rPr sz="1500" b="0" i="0">
                <a:solidFill>
                  <a:srgbClr val="000000"/>
                </a:solidFill>
                <a:latin typeface="Arial"/>
              </a:rPr>
              <a:t>The optical intervention therefore changed transmitter release at the intended learning-circuit endpoint. This measurement connects the anatomical projection, its light-sensitive protein, and a chemical consequence. Subsequent behavioral experiments could then ask whether a transient release signal linked to a particular vocal variant altered future song production.</a:t>
            </a:r>
          </a:p>
        </p:txBody>
      </p:sp>
      <p:pic>
        <p:nvPicPr>
          <p:cNvPr id="4" name="Picture 3" descr="x_release.png"/>
          <p:cNvPicPr>
            <a:picLocks noChangeAspect="1"/>
          </p:cNvPicPr>
          <p:nvPr/>
        </p:nvPicPr>
        <p:blipFill>
          <a:blip r:embed="rId2"/>
          <a:stretch>
            <a:fillRect/>
          </a:stretch>
        </p:blipFill>
        <p:spPr>
          <a:xfrm>
            <a:off x="6321247" y="1280160"/>
            <a:ext cx="5303519" cy="1370618"/>
          </a:xfrm>
          <a:prstGeom prst="rect">
            <a:avLst/>
          </a:prstGeom>
        </p:spPr>
      </p:pic>
      <p:sp>
        <p:nvSpPr>
          <p:cNvPr id="5" name="Figure caption"/>
          <p:cNvSpPr txBox="1"/>
          <p:nvPr/>
        </p:nvSpPr>
        <p:spPr>
          <a:xfrm>
            <a:off x="6321247" y="2742218"/>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Xiao et al. (2018), Fig. 2(C–F). Blue-light activation evokes dopamine release in Area X.</a:t>
            </a:r>
          </a:p>
        </p:txBody>
      </p:sp>
      <p:sp>
        <p:nvSpPr>
          <p:cNvPr id="6" name="Rectangle 5"/>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Xiao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Optical inhibition reduces evoked dopamine release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To test terminal inhibition, Xiao and colleagues electrically stimulated VTA neurons while illuminating their ArchT-expressing axons in Area X. The preparation linked a known release-evoking input to an independently controlled inhibitory intervention at its terminals.</a:t>
            </a:r>
          </a:p>
          <a:p>
            <a:pPr algn="l">
              <a:lnSpc>
                <a:spcPct val="108000"/>
              </a:lnSpc>
              <a:spcAft>
                <a:spcPts val="960"/>
              </a:spcAft>
            </a:pPr>
            <a:r>
              <a:rPr sz="1600" b="0" i="0">
                <a:solidFill>
                  <a:srgbClr val="000000"/>
                </a:solidFill>
                <a:latin typeface="Arial"/>
              </a:rPr>
              <a:t>A </a:t>
            </a:r>
            <a:r>
              <a:rPr sz="1600" b="1" i="0">
                <a:solidFill>
                  <a:srgbClr val="594045"/>
                </a:solidFill>
                <a:latin typeface="Arial"/>
              </a:rPr>
              <a:t>100-ms</a:t>
            </a:r>
            <a:r>
              <a:rPr sz="1600" b="0" i="0">
                <a:solidFill>
                  <a:srgbClr val="000000"/>
                </a:solidFill>
                <a:latin typeface="Arial"/>
              </a:rPr>
              <a:t> pulse of </a:t>
            </a:r>
            <a:r>
              <a:rPr sz="1600" b="1" i="0">
                <a:solidFill>
                  <a:srgbClr val="594045"/>
                </a:solidFill>
                <a:latin typeface="Arial"/>
              </a:rPr>
              <a:t>540-nm</a:t>
            </a:r>
            <a:r>
              <a:rPr sz="1600" b="0" i="0">
                <a:solidFill>
                  <a:srgbClr val="000000"/>
                </a:solidFill>
                <a:latin typeface="Arial"/>
              </a:rPr>
              <a:t> light reduced the electrically evoked dopamine signal. The release response was smaller when illumination accompanied electrical stimulation than when the same stimulation occurred without optical inhibition.</a:t>
            </a:r>
          </a:p>
          <a:p>
            <a:pPr algn="l">
              <a:lnSpc>
                <a:spcPct val="108000"/>
              </a:lnSpc>
              <a:spcAft>
                <a:spcPts val="960"/>
              </a:spcAft>
            </a:pPr>
            <a:r>
              <a:rPr sz="1600" b="0" i="0">
                <a:solidFill>
                  <a:srgbClr val="000000"/>
                </a:solidFill>
                <a:latin typeface="Arial"/>
              </a:rPr>
              <a:t>This comparison establishes opposite chemical effects for the two optical tools: ChR2 excitation increased dopamine release, whereas ArchT inhibition reduced evoked release. The paired manipulations enabled causal tests of both signs of reinforcement, connecting transient changes at a neural projection with the direction of later behavioral adaptation.</a:t>
            </a:r>
          </a:p>
        </p:txBody>
      </p:sp>
      <p:pic>
        <p:nvPicPr>
          <p:cNvPr id="4" name="Picture 3" descr="x_inhibit_release.png"/>
          <p:cNvPicPr>
            <a:picLocks noChangeAspect="1"/>
          </p:cNvPicPr>
          <p:nvPr/>
        </p:nvPicPr>
        <p:blipFill>
          <a:blip r:embed="rId2"/>
          <a:stretch>
            <a:fillRect/>
          </a:stretch>
        </p:blipFill>
        <p:spPr>
          <a:xfrm>
            <a:off x="6321247" y="1280160"/>
            <a:ext cx="5303520" cy="1399768"/>
          </a:xfrm>
          <a:prstGeom prst="rect">
            <a:avLst/>
          </a:prstGeom>
        </p:spPr>
      </p:pic>
      <p:sp>
        <p:nvSpPr>
          <p:cNvPr id="5" name="Figure caption"/>
          <p:cNvSpPr txBox="1"/>
          <p:nvPr/>
        </p:nvSpPr>
        <p:spPr>
          <a:xfrm>
            <a:off x="6321247" y="2771368"/>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Xiao et al. (2018), Fig. 2(G–J). Optical inhibition reduces electrically evoked dopamine release.</a:t>
            </a:r>
          </a:p>
        </p:txBody>
      </p:sp>
      <p:sp>
        <p:nvSpPr>
          <p:cNvPr id="6" name="Rectangle 5"/>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Xiao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A neural interface couples pitch to terminal stimulation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Xiao and colleagues implanted optical fibers over Area X in adult male zebra finches expressing light-sensitive proteins in VTA terminals. The birds recovered their normal daily singing and produced repeated song motifs while a computer monitored a target syllable.</a:t>
            </a:r>
          </a:p>
          <a:p>
            <a:pPr algn="l">
              <a:lnSpc>
                <a:spcPct val="108000"/>
              </a:lnSpc>
              <a:spcAft>
                <a:spcPts val="960"/>
              </a:spcAft>
            </a:pPr>
            <a:r>
              <a:rPr sz="1600" b="0" i="0">
                <a:solidFill>
                  <a:srgbClr val="000000"/>
                </a:solidFill>
                <a:latin typeface="Arial"/>
              </a:rPr>
              <a:t>For excitation experiments, the computer selected naturally occurring variants in the lower or upper portion of the pitch distribution. Light began approximately </a:t>
            </a:r>
            <a:r>
              <a:rPr sz="1600" b="1" i="0">
                <a:solidFill>
                  <a:srgbClr val="594045"/>
                </a:solidFill>
                <a:latin typeface="Arial"/>
              </a:rPr>
              <a:t>24 ms</a:t>
            </a:r>
            <a:r>
              <a:rPr sz="1600" b="0" i="0">
                <a:solidFill>
                  <a:srgbClr val="000000"/>
                </a:solidFill>
                <a:latin typeface="Arial"/>
              </a:rPr>
              <a:t> after pitch measurement and continued for </a:t>
            </a:r>
            <a:r>
              <a:rPr sz="1600" b="1" i="0">
                <a:solidFill>
                  <a:srgbClr val="594045"/>
                </a:solidFill>
                <a:latin typeface="Arial"/>
              </a:rPr>
              <a:t>100 ms</a:t>
            </a:r>
            <a:r>
              <a:rPr sz="1600" b="0" i="0">
                <a:solidFill>
                  <a:srgbClr val="000000"/>
                </a:solidFill>
                <a:latin typeface="Arial"/>
              </a:rPr>
              <a:t>, overlapping the targeted syllable.</a:t>
            </a:r>
          </a:p>
          <a:p>
            <a:pPr algn="l">
              <a:lnSpc>
                <a:spcPct val="108000"/>
              </a:lnSpc>
              <a:spcAft>
                <a:spcPts val="960"/>
              </a:spcAft>
            </a:pPr>
            <a:r>
              <a:rPr sz="1600" b="0" i="0">
                <a:solidFill>
                  <a:srgbClr val="000000"/>
                </a:solidFill>
                <a:latin typeface="Arial"/>
              </a:rPr>
              <a:t>The interface linked acoustic measurement to a neural intervention with a defined projection, sign, and timing. Birds continued singing through the pulses. The resulting feedback could select future vocal variants without requiring a disruptive sound, providing a causal test of the teaching pathway itself.</a:t>
            </a:r>
          </a:p>
        </p:txBody>
      </p:sp>
      <p:pic>
        <p:nvPicPr>
          <p:cNvPr id="4" name="Picture 3" descr="x_loop.png"/>
          <p:cNvPicPr>
            <a:picLocks noChangeAspect="1"/>
          </p:cNvPicPr>
          <p:nvPr/>
        </p:nvPicPr>
        <p:blipFill>
          <a:blip r:embed="rId2"/>
          <a:stretch>
            <a:fillRect/>
          </a:stretch>
        </p:blipFill>
        <p:spPr>
          <a:xfrm>
            <a:off x="6321247" y="1280160"/>
            <a:ext cx="5303520" cy="2827373"/>
          </a:xfrm>
          <a:prstGeom prst="rect">
            <a:avLst/>
          </a:prstGeom>
        </p:spPr>
      </p:pic>
      <p:sp>
        <p:nvSpPr>
          <p:cNvPr id="5" name="Figure caption"/>
          <p:cNvSpPr txBox="1"/>
          <p:nvPr/>
        </p:nvSpPr>
        <p:spPr>
          <a:xfrm>
            <a:off x="6321247" y="4198973"/>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Xiao et al. (2018), Fig. 3(B,C). Freely singing zebra finch and optical fiber implantation anatomy.</a:t>
            </a:r>
          </a:p>
        </p:txBody>
      </p:sp>
      <p:sp>
        <p:nvSpPr>
          <p:cNvPr id="6" name="Rectangle 5"/>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Xiao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Positive reinforcement favors the stimulated variant</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594045"/>
                </a:solidFill>
                <a:latin typeface="Arial"/>
              </a:rPr>
              <a:t>Positive reinforcement</a:t>
            </a:r>
            <a:r>
              <a:rPr sz="1600" b="0" i="0">
                <a:solidFill>
                  <a:srgbClr val="000000"/>
                </a:solidFill>
                <a:latin typeface="Arial"/>
              </a:rPr>
              <a:t> increases actions associated with a favorable consequence. When VTA terminal excitation was delivered to syllable variants below </a:t>
            </a:r>
            <a:r>
              <a:rPr sz="1600" b="1" i="0">
                <a:solidFill>
                  <a:srgbClr val="594045"/>
                </a:solidFill>
                <a:latin typeface="Arial"/>
              </a:rPr>
              <a:t>875 Hz</a:t>
            </a:r>
            <a:r>
              <a:rPr sz="1600" b="0" i="0">
                <a:solidFill>
                  <a:srgbClr val="000000"/>
                </a:solidFill>
                <a:latin typeface="Arial"/>
              </a:rPr>
              <a:t>, the zebra finch’s target pitch decreased by </a:t>
            </a:r>
            <a:r>
              <a:rPr sz="1600" b="1" i="0">
                <a:solidFill>
                  <a:srgbClr val="594045"/>
                </a:solidFill>
                <a:latin typeface="Arial"/>
              </a:rPr>
              <a:t>17.1 Hz</a:t>
            </a:r>
            <a:r>
              <a:rPr sz="1600" b="0" i="0">
                <a:solidFill>
                  <a:srgbClr val="000000"/>
                </a:solidFill>
                <a:latin typeface="Arial"/>
              </a:rPr>
              <a:t> during the first stimulation day. Lower variants became more frequent as training proceeded.</a:t>
            </a:r>
          </a:p>
          <a:p>
            <a:pPr algn="l">
              <a:lnSpc>
                <a:spcPct val="108000"/>
              </a:lnSpc>
              <a:spcAft>
                <a:spcPts val="960"/>
              </a:spcAft>
            </a:pPr>
            <a:r>
              <a:rPr sz="1600" b="0" i="0">
                <a:solidFill>
                  <a:srgbClr val="000000"/>
                </a:solidFill>
                <a:latin typeface="Arial"/>
              </a:rPr>
              <a:t>The fraction of renditions receiving stimulation increased from </a:t>
            </a:r>
            <a:r>
              <a:rPr sz="1600" b="1" i="0">
                <a:solidFill>
                  <a:srgbClr val="594045"/>
                </a:solidFill>
                <a:latin typeface="Arial"/>
              </a:rPr>
              <a:t>46% to 79%</a:t>
            </a:r>
            <a:r>
              <a:rPr sz="1600" b="0" i="0">
                <a:solidFill>
                  <a:srgbClr val="000000"/>
                </a:solidFill>
                <a:latin typeface="Arial"/>
              </a:rPr>
              <a:t> in that representative experiment. Excitation therefore favored the vocal performances associated with the intervention, in contrast to disruptive noise, which drove avoidance of targeted performances.</a:t>
            </a:r>
          </a:p>
          <a:p>
            <a:pPr algn="l">
              <a:lnSpc>
                <a:spcPct val="108000"/>
              </a:lnSpc>
              <a:spcAft>
                <a:spcPts val="960"/>
              </a:spcAft>
            </a:pPr>
            <a:r>
              <a:rPr sz="1600" b="0" i="0">
                <a:solidFill>
                  <a:srgbClr val="000000"/>
                </a:solidFill>
                <a:latin typeface="Arial"/>
              </a:rPr>
              <a:t>Stimulating high-pitch variants instead shifted pitch upward. The same anatomical projection could reinforce either direction because the computer determined which variants received excitation. The learned change followed the contingency between the action and terminal activation, rather than a fixed motor command to raise or lower pitch.</a:t>
            </a:r>
          </a:p>
        </p:txBody>
      </p:sp>
      <p:pic>
        <p:nvPicPr>
          <p:cNvPr id="4" name="Picture 3" descr="x_positive.png"/>
          <p:cNvPicPr>
            <a:picLocks noChangeAspect="1"/>
          </p:cNvPicPr>
          <p:nvPr/>
        </p:nvPicPr>
        <p:blipFill>
          <a:blip r:embed="rId2"/>
          <a:stretch>
            <a:fillRect/>
          </a:stretch>
        </p:blipFill>
        <p:spPr>
          <a:xfrm>
            <a:off x="6687007" y="1280160"/>
            <a:ext cx="4572000" cy="2286000"/>
          </a:xfrm>
          <a:prstGeom prst="rect">
            <a:avLst/>
          </a:prstGeom>
        </p:spPr>
      </p:pic>
      <p:sp>
        <p:nvSpPr>
          <p:cNvPr id="5" name="Figure caption"/>
          <p:cNvSpPr txBox="1"/>
          <p:nvPr/>
        </p:nvSpPr>
        <p:spPr>
          <a:xfrm>
            <a:off x="6321247" y="365760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Xiao et al. (2018), Fig. 3(E,F). Low-pitch stimulation increases reinforced variants.</a:t>
            </a:r>
          </a:p>
        </p:txBody>
      </p:sp>
      <p:pic>
        <p:nvPicPr>
          <p:cNvPr id="6" name="Picture 5" descr="x_anatomy.png"/>
          <p:cNvPicPr>
            <a:picLocks noChangeAspect="1"/>
          </p:cNvPicPr>
          <p:nvPr/>
        </p:nvPicPr>
        <p:blipFill>
          <a:blip r:embed="rId3"/>
          <a:stretch>
            <a:fillRect/>
          </a:stretch>
        </p:blipFill>
        <p:spPr>
          <a:xfrm>
            <a:off x="6321247" y="4114800"/>
            <a:ext cx="5303520" cy="1641956"/>
          </a:xfrm>
          <a:prstGeom prst="rect">
            <a:avLst/>
          </a:prstGeom>
        </p:spPr>
      </p:pic>
      <p:sp>
        <p:nvSpPr>
          <p:cNvPr id="7" name="Figure caption"/>
          <p:cNvSpPr txBox="1"/>
          <p:nvPr/>
        </p:nvSpPr>
        <p:spPr>
          <a:xfrm>
            <a:off x="6321247" y="5829908"/>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Xiao et al. (2018), Fig. 2(A,B). VTA dopamine cells and their axons in Area X.</a:t>
            </a:r>
          </a:p>
        </p:txBody>
      </p:sp>
      <p:sp>
        <p:nvSpPr>
          <p:cNvPr id="8" name="Rectangle 7"/>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Xiao et al. (2018)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Negative reinforcement favors escape from inhibition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594045"/>
                </a:solidFill>
                <a:latin typeface="Arial"/>
              </a:rPr>
              <a:t>Negative reinforcement</a:t>
            </a:r>
            <a:r>
              <a:rPr sz="1500" b="0" i="0">
                <a:solidFill>
                  <a:srgbClr val="000000"/>
                </a:solidFill>
                <a:latin typeface="Arial"/>
              </a:rPr>
              <a:t> favors actions that escape an unfavorable consequence. Optical inhibition of VTA terminals in Area X drove pitch away from the variants paired with reduced dopamine release. In a representative experiment, inhibition targeted syllable renditions below </a:t>
            </a:r>
            <a:r>
              <a:rPr sz="1500" b="1" i="0">
                <a:solidFill>
                  <a:srgbClr val="594045"/>
                </a:solidFill>
                <a:latin typeface="Arial"/>
              </a:rPr>
              <a:t>595 Hz</a:t>
            </a:r>
            <a:r>
              <a:rPr sz="1500" b="0" i="0">
                <a:solidFill>
                  <a:srgbClr val="000000"/>
                </a:solidFill>
                <a:latin typeface="Arial"/>
              </a:rPr>
              <a:t>, and pitch increased by </a:t>
            </a:r>
            <a:r>
              <a:rPr sz="1500" b="1" i="0">
                <a:solidFill>
                  <a:srgbClr val="594045"/>
                </a:solidFill>
                <a:latin typeface="Arial"/>
              </a:rPr>
              <a:t>7.5 Hz</a:t>
            </a:r>
            <a:r>
              <a:rPr sz="1500" b="0" i="0">
                <a:solidFill>
                  <a:srgbClr val="000000"/>
                </a:solidFill>
                <a:latin typeface="Arial"/>
              </a:rPr>
              <a:t> during the training day.</a:t>
            </a:r>
          </a:p>
          <a:p>
            <a:pPr algn="l">
              <a:lnSpc>
                <a:spcPct val="108000"/>
              </a:lnSpc>
              <a:spcAft>
                <a:spcPts val="900"/>
              </a:spcAft>
            </a:pPr>
            <a:r>
              <a:rPr sz="1500" b="0" i="0">
                <a:solidFill>
                  <a:srgbClr val="000000"/>
                </a:solidFill>
                <a:latin typeface="Arial"/>
              </a:rPr>
              <a:t>As the bird shifted upward, fewer renditions reached the inhibition threshold. Applying inhibition to high-pitch variants instead favored downward shifts. The behavioral direction was opposite to the effect of terminal excitation under the corresponding contingency.</a:t>
            </a:r>
          </a:p>
          <a:p>
            <a:pPr algn="l">
              <a:lnSpc>
                <a:spcPct val="108000"/>
              </a:lnSpc>
              <a:spcAft>
                <a:spcPts val="900"/>
              </a:spcAft>
            </a:pPr>
            <a:r>
              <a:rPr sz="1500" b="0" i="0">
                <a:solidFill>
                  <a:srgbClr val="000000"/>
                </a:solidFill>
                <a:latin typeface="Arial"/>
              </a:rPr>
              <a:t>Transient decreases and increases in the same projection could therefore provide complementary teaching signals. Excitation selected the associated variant; inhibition selected alternatives that escaped the intervention. Both manipulations adjusted an established vocal feature through repeated performances rather than requiring acquisition of an entirely new song.</a:t>
            </a:r>
          </a:p>
        </p:txBody>
      </p:sp>
      <p:pic>
        <p:nvPicPr>
          <p:cNvPr id="4" name="Picture 3" descr="x_negative.png"/>
          <p:cNvPicPr>
            <a:picLocks noChangeAspect="1"/>
          </p:cNvPicPr>
          <p:nvPr/>
        </p:nvPicPr>
        <p:blipFill>
          <a:blip r:embed="rId2"/>
          <a:stretch>
            <a:fillRect/>
          </a:stretch>
        </p:blipFill>
        <p:spPr>
          <a:xfrm>
            <a:off x="6938933" y="1280160"/>
            <a:ext cx="4068146" cy="2286000"/>
          </a:xfrm>
          <a:prstGeom prst="rect">
            <a:avLst/>
          </a:prstGeom>
        </p:spPr>
      </p:pic>
      <p:sp>
        <p:nvSpPr>
          <p:cNvPr id="5" name="Figure caption"/>
          <p:cNvSpPr txBox="1"/>
          <p:nvPr/>
        </p:nvSpPr>
        <p:spPr>
          <a:xfrm>
            <a:off x="6321247" y="365760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Xiao et al. (2018), Fig. 4(A–F). Terminal inhibition drives avoidance of targeted pitch variants.</a:t>
            </a:r>
          </a:p>
        </p:txBody>
      </p:sp>
      <p:pic>
        <p:nvPicPr>
          <p:cNvPr id="6" name="Picture 5" descr="x_anatomy.png"/>
          <p:cNvPicPr>
            <a:picLocks noChangeAspect="1"/>
          </p:cNvPicPr>
          <p:nvPr/>
        </p:nvPicPr>
        <p:blipFill>
          <a:blip r:embed="rId3"/>
          <a:stretch>
            <a:fillRect/>
          </a:stretch>
        </p:blipFill>
        <p:spPr>
          <a:xfrm>
            <a:off x="6321247" y="4114800"/>
            <a:ext cx="5303520" cy="1641956"/>
          </a:xfrm>
          <a:prstGeom prst="rect">
            <a:avLst/>
          </a:prstGeom>
        </p:spPr>
      </p:pic>
      <p:sp>
        <p:nvSpPr>
          <p:cNvPr id="7" name="Figure caption"/>
          <p:cNvSpPr txBox="1"/>
          <p:nvPr/>
        </p:nvSpPr>
        <p:spPr>
          <a:xfrm>
            <a:off x="6321247" y="5829908"/>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Xiao et al. (2018), Fig. 2(A,B). VTA dopamine cells and their axons in Area X.</a:t>
            </a:r>
          </a:p>
        </p:txBody>
      </p:sp>
      <p:sp>
        <p:nvSpPr>
          <p:cNvPr id="8" name="Rectangle 7"/>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Xiao et al. (2018)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The teaching signal changes later performances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direct motor command should alter the current syllable whenever stimulation occurs. Xiao and colleagues instead found that pitch changes accumulated over repeated performances and were not explained by an immediate systematic change on illuminated trials.</a:t>
            </a:r>
          </a:p>
          <a:p>
            <a:pPr algn="l">
              <a:lnSpc>
                <a:spcPct val="108000"/>
              </a:lnSpc>
              <a:spcAft>
                <a:spcPts val="900"/>
              </a:spcAft>
            </a:pPr>
            <a:r>
              <a:rPr sz="1500" b="0" i="0">
                <a:solidFill>
                  <a:srgbClr val="000000"/>
                </a:solidFill>
                <a:latin typeface="Arial"/>
              </a:rPr>
              <a:t>The target’s pitch, duration, and other measured acoustic properties remained comparable on stimulated and nearby unstimulated renditions during the acute comparisons. </a:t>
            </a:r>
            <a:r>
              <a:rPr sz="1500" b="1" i="0">
                <a:solidFill>
                  <a:srgbClr val="594045"/>
                </a:solidFill>
                <a:latin typeface="Arial"/>
              </a:rPr>
              <a:t>Catch trials</a:t>
            </a:r>
            <a:r>
              <a:rPr sz="1500" b="0" i="0">
                <a:solidFill>
                  <a:srgbClr val="000000"/>
                </a:solidFill>
                <a:latin typeface="Arial"/>
              </a:rPr>
              <a:t>, performances on which the usual intervention is withheld, allowed learned changes to be measured without concurrent illumination.</a:t>
            </a:r>
          </a:p>
          <a:p>
            <a:pPr algn="l">
              <a:lnSpc>
                <a:spcPct val="108000"/>
              </a:lnSpc>
              <a:spcAft>
                <a:spcPts val="900"/>
              </a:spcAft>
            </a:pPr>
            <a:r>
              <a:rPr sz="1500" b="0" i="0">
                <a:solidFill>
                  <a:srgbClr val="000000"/>
                </a:solidFill>
                <a:latin typeface="Arial"/>
              </a:rPr>
              <a:t>The pathway therefore biased future output through learning rather than simply forcing a pitch on each stimulated rendition. This distinction separates an evaluative input from a descending motor instruction. A brief neural consequence can reshape the distribution of later actions while leaving the immediately ongoing vocal gesture largely intact.</a:t>
            </a:r>
          </a:p>
        </p:txBody>
      </p:sp>
      <p:pic>
        <p:nvPicPr>
          <p:cNvPr id="4" name="Picture 3" descr="x_motor.png"/>
          <p:cNvPicPr>
            <a:picLocks noChangeAspect="1"/>
          </p:cNvPicPr>
          <p:nvPr/>
        </p:nvPicPr>
        <p:blipFill>
          <a:blip r:embed="rId2"/>
          <a:stretch>
            <a:fillRect/>
          </a:stretch>
        </p:blipFill>
        <p:spPr>
          <a:xfrm>
            <a:off x="7678980" y="1280160"/>
            <a:ext cx="2588054" cy="2286000"/>
          </a:xfrm>
          <a:prstGeom prst="rect">
            <a:avLst/>
          </a:prstGeom>
        </p:spPr>
      </p:pic>
      <p:sp>
        <p:nvSpPr>
          <p:cNvPr id="5" name="Figure caption"/>
          <p:cNvSpPr txBox="1"/>
          <p:nvPr/>
        </p:nvSpPr>
        <p:spPr>
          <a:xfrm>
            <a:off x="6321247" y="365760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Xiao et al. (2018), Fig. 5(A–D). Terminal manipulation changes learning rather than immediate pitch.</a:t>
            </a:r>
          </a:p>
        </p:txBody>
      </p:sp>
      <p:pic>
        <p:nvPicPr>
          <p:cNvPr id="6" name="Picture 5" descr="x_anatomy.png"/>
          <p:cNvPicPr>
            <a:picLocks noChangeAspect="1"/>
          </p:cNvPicPr>
          <p:nvPr/>
        </p:nvPicPr>
        <p:blipFill>
          <a:blip r:embed="rId3"/>
          <a:stretch>
            <a:fillRect/>
          </a:stretch>
        </p:blipFill>
        <p:spPr>
          <a:xfrm>
            <a:off x="6321247" y="4114800"/>
            <a:ext cx="5303520" cy="1641956"/>
          </a:xfrm>
          <a:prstGeom prst="rect">
            <a:avLst/>
          </a:prstGeom>
        </p:spPr>
      </p:pic>
      <p:sp>
        <p:nvSpPr>
          <p:cNvPr id="7" name="Figure caption"/>
          <p:cNvSpPr txBox="1"/>
          <p:nvPr/>
        </p:nvSpPr>
        <p:spPr>
          <a:xfrm>
            <a:off x="6321247" y="5829908"/>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Xiao et al. (2018), Fig. 2(A,B). VTA dopamine cells and their axons in Area X.</a:t>
            </a:r>
          </a:p>
        </p:txBody>
      </p:sp>
      <p:sp>
        <p:nvSpPr>
          <p:cNvPr id="8" name="Rectangle 7"/>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Xiao et al. (2018)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Credit remains local unless vocal features covary</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Optical reinforcement largely changed the pitch of the target syllable while preserving other acoustic properties and neighboring syllables. The targeted elements were approximately </a:t>
            </a:r>
            <a:r>
              <a:rPr sz="1600" b="1" i="0">
                <a:solidFill>
                  <a:srgbClr val="594045"/>
                </a:solidFill>
                <a:latin typeface="Arial"/>
              </a:rPr>
              <a:t>100 ms</a:t>
            </a:r>
            <a:r>
              <a:rPr sz="1600" b="0" i="0">
                <a:solidFill>
                  <a:srgbClr val="000000"/>
                </a:solidFill>
                <a:latin typeface="Arial"/>
              </a:rPr>
              <a:t> long, and many nearby elements remained unchanged even when separated by only a short interval.</a:t>
            </a:r>
          </a:p>
          <a:p>
            <a:pPr algn="l">
              <a:lnSpc>
                <a:spcPct val="108000"/>
              </a:lnSpc>
              <a:spcAft>
                <a:spcPts val="960"/>
              </a:spcAft>
            </a:pPr>
            <a:r>
              <a:rPr sz="1600" b="1" i="0">
                <a:solidFill>
                  <a:srgbClr val="594045"/>
                </a:solidFill>
                <a:latin typeface="Arial"/>
              </a:rPr>
              <a:t>Covariation</a:t>
            </a:r>
            <a:r>
              <a:rPr sz="1600" b="0" i="0">
                <a:solidFill>
                  <a:srgbClr val="000000"/>
                </a:solidFill>
                <a:latin typeface="Arial"/>
              </a:rPr>
              <a:t> means that two measurements tend to change together across natural performances. Some neighboring syllables shifted when their baseline pitches covaried with the target’s pitch, even though the computer measured only the designated target.</a:t>
            </a:r>
          </a:p>
          <a:p>
            <a:pPr algn="l">
              <a:lnSpc>
                <a:spcPct val="108000"/>
              </a:lnSpc>
              <a:spcAft>
                <a:spcPts val="960"/>
              </a:spcAft>
            </a:pPr>
            <a:r>
              <a:rPr sz="1600" b="0" i="0">
                <a:solidFill>
                  <a:srgbClr val="000000"/>
                </a:solidFill>
                <a:latin typeface="Arial"/>
              </a:rPr>
              <a:t>Reinforcement can therefore select associated performance features as well as the explicitly measured feature. Temporal proximity alone did not determine spread; the relationship among vocal variants also mattered. Adaptive control retains local precision while remaining sensitive to coordinated variation already present in the bird’s song.</a:t>
            </a:r>
          </a:p>
        </p:txBody>
      </p:sp>
      <p:pic>
        <p:nvPicPr>
          <p:cNvPr id="4" name="Picture 3" descr="x_precision.png"/>
          <p:cNvPicPr>
            <a:picLocks noChangeAspect="1"/>
          </p:cNvPicPr>
          <p:nvPr/>
        </p:nvPicPr>
        <p:blipFill>
          <a:blip r:embed="rId2"/>
          <a:stretch>
            <a:fillRect/>
          </a:stretch>
        </p:blipFill>
        <p:spPr>
          <a:xfrm>
            <a:off x="6321247" y="1280160"/>
            <a:ext cx="5303520" cy="1773164"/>
          </a:xfrm>
          <a:prstGeom prst="rect">
            <a:avLst/>
          </a:prstGeom>
        </p:spPr>
      </p:pic>
      <p:sp>
        <p:nvSpPr>
          <p:cNvPr id="5" name="Figure caption"/>
          <p:cNvSpPr txBox="1"/>
          <p:nvPr/>
        </p:nvSpPr>
        <p:spPr>
          <a:xfrm>
            <a:off x="6321247" y="3144764"/>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Xiao et al. (2018), Fig. 7(A–C). Spectral and temporal precision of optical reinforcement.</a:t>
            </a:r>
          </a:p>
        </p:txBody>
      </p:sp>
      <p:pic>
        <p:nvPicPr>
          <p:cNvPr id="6" name="Picture 5" descr="x_anatomy.png"/>
          <p:cNvPicPr>
            <a:picLocks noChangeAspect="1"/>
          </p:cNvPicPr>
          <p:nvPr/>
        </p:nvPicPr>
        <p:blipFill>
          <a:blip r:embed="rId3"/>
          <a:stretch>
            <a:fillRect/>
          </a:stretch>
        </p:blipFill>
        <p:spPr>
          <a:xfrm>
            <a:off x="6321247" y="4114800"/>
            <a:ext cx="5303520" cy="1641956"/>
          </a:xfrm>
          <a:prstGeom prst="rect">
            <a:avLst/>
          </a:prstGeom>
        </p:spPr>
      </p:pic>
      <p:sp>
        <p:nvSpPr>
          <p:cNvPr id="7" name="Figure caption"/>
          <p:cNvSpPr txBox="1"/>
          <p:nvPr/>
        </p:nvSpPr>
        <p:spPr>
          <a:xfrm>
            <a:off x="6321247" y="5829908"/>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Xiao et al. (2018), Fig. 2(A,B). VTA dopamine cells and their axons in Area X.</a:t>
            </a:r>
          </a:p>
        </p:txBody>
      </p:sp>
      <p:sp>
        <p:nvSpPr>
          <p:cNvPr id="8" name="Rectangle 7"/>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Xiao et al. (2018)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Projection-targeted ablation reduces adaptive learning</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594045"/>
                </a:solidFill>
                <a:latin typeface="Arial"/>
              </a:rPr>
              <a:t>Intersectional targeting</a:t>
            </a:r>
            <a:r>
              <a:rPr sz="1600" b="0" i="0">
                <a:solidFill>
                  <a:srgbClr val="000000"/>
                </a:solidFill>
                <a:latin typeface="Arial"/>
              </a:rPr>
              <a:t> selects neurons by combining two biological criteria. Hisey and colleagues used viral expression in VTA together with a retrogradely delivered signal from Area X to activate a cell-ablation mechanism in the projecting population.</a:t>
            </a:r>
          </a:p>
          <a:p>
            <a:pPr algn="l">
              <a:lnSpc>
                <a:spcPct val="108000"/>
              </a:lnSpc>
              <a:spcAft>
                <a:spcPts val="960"/>
              </a:spcAft>
            </a:pPr>
            <a:r>
              <a:rPr sz="1600" b="0" i="0">
                <a:solidFill>
                  <a:srgbClr val="000000"/>
                </a:solidFill>
                <a:latin typeface="Arial"/>
              </a:rPr>
              <a:t>Before the ablation developed, birds learned to raise a target syllable’s pitch under contingent noise. Approximately a month later, after loss of VTA-to-Area X cells, the same animals exhibited reduced learning under the corresponding feedback task.</a:t>
            </a:r>
          </a:p>
          <a:p>
            <a:pPr algn="l">
              <a:lnSpc>
                <a:spcPct val="108000"/>
              </a:lnSpc>
              <a:spcAft>
                <a:spcPts val="960"/>
              </a:spcAft>
            </a:pPr>
            <a:r>
              <a:rPr sz="1600" b="0" i="0">
                <a:solidFill>
                  <a:srgbClr val="000000"/>
                </a:solidFill>
                <a:latin typeface="Arial"/>
              </a:rPr>
              <a:t>The manipulation preserved trial-to-trial pitch variation and recovery toward baseline after noise ended. These behaviors therefore have distinguishable dependencies: the projecting cells support normal reinforcement-driven adjustment, while production of residual variation and restoration of the baseline song can persist after partial loss of the teaching projection.</a:t>
            </a:r>
          </a:p>
        </p:txBody>
      </p:sp>
      <p:pic>
        <p:nvPicPr>
          <p:cNvPr id="4" name="Picture 3" descr="h_lesion.png"/>
          <p:cNvPicPr>
            <a:picLocks noChangeAspect="1"/>
          </p:cNvPicPr>
          <p:nvPr/>
        </p:nvPicPr>
        <p:blipFill>
          <a:blip r:embed="rId2"/>
          <a:stretch>
            <a:fillRect/>
          </a:stretch>
        </p:blipFill>
        <p:spPr>
          <a:xfrm>
            <a:off x="6321247" y="1280160"/>
            <a:ext cx="5303520" cy="3465057"/>
          </a:xfrm>
          <a:prstGeom prst="rect">
            <a:avLst/>
          </a:prstGeom>
        </p:spPr>
      </p:pic>
      <p:sp>
        <p:nvSpPr>
          <p:cNvPr id="5" name="Figure caption"/>
          <p:cNvSpPr txBox="1"/>
          <p:nvPr/>
        </p:nvSpPr>
        <p:spPr>
          <a:xfrm>
            <a:off x="6321247" y="4836657"/>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Hisey et al. (2018), Fig. 1(a–h). Projection-targeted ablation, histology, learning, and recovery.</a:t>
            </a:r>
          </a:p>
        </p:txBody>
      </p:sp>
      <p:sp>
        <p:nvSpPr>
          <p:cNvPr id="6" name="Rectangle 5"/>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Hisey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D1 receptor signaling enables reinforcement-driven change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An </a:t>
            </a:r>
            <a:r>
              <a:rPr sz="1600" b="1" i="0">
                <a:solidFill>
                  <a:srgbClr val="594045"/>
                </a:solidFill>
                <a:latin typeface="Arial"/>
              </a:rPr>
              <a:t>antagonist</a:t>
            </a:r>
            <a:r>
              <a:rPr sz="1600" b="0" i="0">
                <a:solidFill>
                  <a:srgbClr val="000000"/>
                </a:solidFill>
                <a:latin typeface="Arial"/>
              </a:rPr>
              <a:t> blocks a receptor’s activation by its normal transmitter. Hisey and colleagues delivered the </a:t>
            </a:r>
            <a:r>
              <a:rPr sz="1600" b="1" i="0">
                <a:solidFill>
                  <a:srgbClr val="594045"/>
                </a:solidFill>
                <a:latin typeface="Arial"/>
              </a:rPr>
              <a:t>D1-type dopamine receptor</a:t>
            </a:r>
            <a:r>
              <a:rPr sz="1600" b="0" i="0">
                <a:solidFill>
                  <a:srgbClr val="000000"/>
                </a:solidFill>
                <a:latin typeface="Arial"/>
              </a:rPr>
              <a:t> antagonist </a:t>
            </a:r>
            <a:r>
              <a:rPr sz="1600" b="1" i="0">
                <a:solidFill>
                  <a:srgbClr val="594045"/>
                </a:solidFill>
                <a:latin typeface="Arial"/>
              </a:rPr>
              <a:t>SCH23390</a:t>
            </a:r>
            <a:r>
              <a:rPr sz="1600" b="0" i="0">
                <a:solidFill>
                  <a:srgbClr val="000000"/>
                </a:solidFill>
                <a:latin typeface="Arial"/>
              </a:rPr>
              <a:t> into Area X through microdialysis, a local drug-delivery method using a semipermeable probe.</a:t>
            </a:r>
          </a:p>
          <a:p>
            <a:pPr algn="l">
              <a:lnSpc>
                <a:spcPct val="108000"/>
              </a:lnSpc>
              <a:spcAft>
                <a:spcPts val="960"/>
              </a:spcAft>
            </a:pPr>
            <a:r>
              <a:rPr sz="1600" b="0" i="0">
                <a:solidFill>
                  <a:srgbClr val="000000"/>
                </a:solidFill>
                <a:latin typeface="Arial"/>
              </a:rPr>
              <a:t>With saline delivery, pitch-contingent noise drove adaptive pitch learning. During D1 blockade, the target syllable failed to acquire the usual shift despite continuing to exhibit trial-to-trial pitch variation. Learning returned when saline replaced the antagonist.</a:t>
            </a:r>
          </a:p>
          <a:p>
            <a:pPr algn="l">
              <a:lnSpc>
                <a:spcPct val="108000"/>
              </a:lnSpc>
              <a:spcAft>
                <a:spcPts val="960"/>
              </a:spcAft>
            </a:pPr>
            <a:r>
              <a:rPr sz="1600" b="0" i="0">
                <a:solidFill>
                  <a:srgbClr val="000000"/>
                </a:solidFill>
                <a:latin typeface="Arial"/>
              </a:rPr>
              <a:t>D1 blockade also reduced learning driven by optical activation of VTA terminals. The behavioral effect of this projection therefore depended on dopamine-sensitive receptors at its basal-ganglia endpoint. Receptor signaling links the transient teaching input to subsequent vocal adjustment, rather than treating projection activity alone as a sufficient account of the plasticity.</a:t>
            </a:r>
          </a:p>
        </p:txBody>
      </p:sp>
      <p:pic>
        <p:nvPicPr>
          <p:cNvPr id="4" name="Picture 3" descr="h_d1.png"/>
          <p:cNvPicPr>
            <a:picLocks noChangeAspect="1"/>
          </p:cNvPicPr>
          <p:nvPr/>
        </p:nvPicPr>
        <p:blipFill>
          <a:blip r:embed="rId2"/>
          <a:stretch>
            <a:fillRect/>
          </a:stretch>
        </p:blipFill>
        <p:spPr>
          <a:xfrm>
            <a:off x="6321247" y="1280160"/>
            <a:ext cx="5303520" cy="4114741"/>
          </a:xfrm>
          <a:prstGeom prst="rect">
            <a:avLst/>
          </a:prstGeom>
        </p:spPr>
      </p:pic>
      <p:sp>
        <p:nvSpPr>
          <p:cNvPr id="5" name="Figure caption"/>
          <p:cNvSpPr txBox="1"/>
          <p:nvPr/>
        </p:nvSpPr>
        <p:spPr>
          <a:xfrm>
            <a:off x="6321247" y="5486341"/>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Hisey et al. (2018), Fig. 3(a–h). D1 receptor blockade prevents learning and D2 blockade reduces singing.</a:t>
            </a:r>
          </a:p>
        </p:txBody>
      </p:sp>
      <p:sp>
        <p:nvSpPr>
          <p:cNvPr id="6" name="Rectangle 5"/>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Hisey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D2 blockade changes practice more than learning per song</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594045"/>
                </a:solidFill>
                <a:latin typeface="Arial"/>
              </a:rPr>
              <a:t>D2-type dopamine receptors</a:t>
            </a:r>
            <a:r>
              <a:rPr sz="1600" b="0" i="0">
                <a:solidFill>
                  <a:srgbClr val="000000"/>
                </a:solidFill>
                <a:latin typeface="Arial"/>
              </a:rPr>
              <a:t> provide another route for dopamine to influence Area X. Hisey and colleagues blocked these receptors with </a:t>
            </a:r>
            <a:r>
              <a:rPr sz="1600" b="1" i="0">
                <a:solidFill>
                  <a:srgbClr val="594045"/>
                </a:solidFill>
                <a:latin typeface="Arial"/>
              </a:rPr>
              <a:t>sulpiride</a:t>
            </a:r>
            <a:r>
              <a:rPr sz="1600" b="0" i="0">
                <a:solidFill>
                  <a:srgbClr val="000000"/>
                </a:solidFill>
                <a:latin typeface="Arial"/>
              </a:rPr>
              <a:t> and compared the resulting behavior with D1 blockade and saline conditions.</a:t>
            </a:r>
          </a:p>
          <a:p>
            <a:pPr algn="l">
              <a:lnSpc>
                <a:spcPct val="108000"/>
              </a:lnSpc>
              <a:spcAft>
                <a:spcPts val="960"/>
              </a:spcAft>
            </a:pPr>
            <a:r>
              <a:rPr sz="1600" b="0" i="0">
                <a:solidFill>
                  <a:srgbClr val="000000"/>
                </a:solidFill>
                <a:latin typeface="Arial"/>
              </a:rPr>
              <a:t>D2 blockade strongly reduced how much the birds sang, with an average reduction of about </a:t>
            </a:r>
            <a:r>
              <a:rPr sz="1600" b="1" i="0">
                <a:solidFill>
                  <a:srgbClr val="594045"/>
                </a:solidFill>
                <a:latin typeface="Arial"/>
              </a:rPr>
              <a:t>66%</a:t>
            </a:r>
            <a:r>
              <a:rPr sz="1600" b="0" i="0">
                <a:solidFill>
                  <a:srgbClr val="000000"/>
                </a:solidFill>
                <a:latin typeface="Arial"/>
              </a:rPr>
              <a:t> in the reported comparison. Its effects on total daily pitch learning were variable, while trial-to-trial pitch variability remained present.</a:t>
            </a:r>
          </a:p>
          <a:p>
            <a:pPr algn="l">
              <a:lnSpc>
                <a:spcPct val="108000"/>
              </a:lnSpc>
              <a:spcAft>
                <a:spcPts val="960"/>
              </a:spcAft>
            </a:pPr>
            <a:r>
              <a:rPr sz="1600" b="0" i="0">
                <a:solidFill>
                  <a:srgbClr val="000000"/>
                </a:solidFill>
                <a:latin typeface="Arial"/>
              </a:rPr>
              <a:t>When learning was considered relative to the number of target renditions, it was often preserved or enhanced. Daily change depends on both the learning supported by each performance and the amount of practice. D1 and D2 manipulations therefore separated receptor-dependent adaptation from dopamine-related regulation of how often the vocal behavior occurred.</a:t>
            </a:r>
          </a:p>
        </p:txBody>
      </p:sp>
      <p:pic>
        <p:nvPicPr>
          <p:cNvPr id="4" name="Picture 3" descr="h_d1.png"/>
          <p:cNvPicPr>
            <a:picLocks noChangeAspect="1"/>
          </p:cNvPicPr>
          <p:nvPr/>
        </p:nvPicPr>
        <p:blipFill>
          <a:blip r:embed="rId2"/>
          <a:stretch>
            <a:fillRect/>
          </a:stretch>
        </p:blipFill>
        <p:spPr>
          <a:xfrm>
            <a:off x="6321247" y="1280160"/>
            <a:ext cx="5303520" cy="4114741"/>
          </a:xfrm>
          <a:prstGeom prst="rect">
            <a:avLst/>
          </a:prstGeom>
        </p:spPr>
      </p:pic>
      <p:sp>
        <p:nvSpPr>
          <p:cNvPr id="5" name="Figure caption"/>
          <p:cNvSpPr txBox="1"/>
          <p:nvPr/>
        </p:nvSpPr>
        <p:spPr>
          <a:xfrm>
            <a:off x="6321247" y="5486341"/>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Hisey et al. (2018), Fig. 3(a–h). D1 receptor blockade prevents learning and D2 blockade reduces singing.</a:t>
            </a:r>
          </a:p>
        </p:txBody>
      </p:sp>
      <p:sp>
        <p:nvSpPr>
          <p:cNvPr id="6" name="Rectangle 5"/>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Hisey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Juvenile copying uses the same dopamine pathway</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Juvenile zebra finches learn a tutor’s song without the experimentally imposed noise used in adult pitch training. Hisey and colleagues tested whether this internally guided learning shared the VTA-to-Area X pathway required by the adult reinforcement task.</a:t>
            </a:r>
          </a:p>
          <a:p>
            <a:pPr algn="l">
              <a:lnSpc>
                <a:spcPct val="108000"/>
              </a:lnSpc>
              <a:spcAft>
                <a:spcPts val="960"/>
              </a:spcAft>
            </a:pPr>
            <a:r>
              <a:rPr sz="1600" b="0" i="0">
                <a:solidFill>
                  <a:srgbClr val="000000"/>
                </a:solidFill>
                <a:latin typeface="Arial"/>
              </a:rPr>
              <a:t>Projection-targeted ablation impaired tutor-song copying. Reversible D1 blockade in Area X during a </a:t>
            </a:r>
            <a:r>
              <a:rPr sz="1600" b="1" i="0">
                <a:solidFill>
                  <a:srgbClr val="594045"/>
                </a:solidFill>
                <a:latin typeface="Arial"/>
              </a:rPr>
              <a:t>10-day</a:t>
            </a:r>
            <a:r>
              <a:rPr sz="1600" b="0" i="0">
                <a:solidFill>
                  <a:srgbClr val="000000"/>
                </a:solidFill>
                <a:latin typeface="Arial"/>
              </a:rPr>
              <a:t> juvenile learning period also prevented the normal increase in similarity to the tutor while the antagonist was present.</a:t>
            </a:r>
          </a:p>
          <a:p>
            <a:pPr algn="l">
              <a:lnSpc>
                <a:spcPct val="108000"/>
              </a:lnSpc>
              <a:spcAft>
                <a:spcPts val="960"/>
              </a:spcAft>
            </a:pPr>
            <a:r>
              <a:rPr sz="1600" b="0" i="0">
                <a:solidFill>
                  <a:srgbClr val="000000"/>
                </a:solidFill>
                <a:latin typeface="Arial"/>
              </a:rPr>
              <a:t>After drug treatment ended, juveniles improved and ultimately approached the copying achieved by controls. The circuit is therefore required during ongoing acquisition rather than merely reflecting adult responses to external feedback. Internally guided imitation and externally reinforced adjustment recruit a common dopamine-sensitive learning pathway despite different sources of the desired outcome.</a:t>
            </a:r>
          </a:p>
        </p:txBody>
      </p:sp>
      <p:pic>
        <p:nvPicPr>
          <p:cNvPr id="4" name="Picture 3" descr="h_juvenile.png"/>
          <p:cNvPicPr>
            <a:picLocks noChangeAspect="1"/>
          </p:cNvPicPr>
          <p:nvPr/>
        </p:nvPicPr>
        <p:blipFill>
          <a:blip r:embed="rId2"/>
          <a:stretch>
            <a:fillRect/>
          </a:stretch>
        </p:blipFill>
        <p:spPr>
          <a:xfrm>
            <a:off x="7099695" y="1280160"/>
            <a:ext cx="3746622"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Hisey et al. (2018), Fig. 4(a–i). Juvenile tutor copying requires VTA cells and D1 signaling.</a:t>
            </a:r>
          </a:p>
        </p:txBody>
      </p:sp>
      <p:sp>
        <p:nvSpPr>
          <p:cNvPr id="6" name="Rectangle 5"/>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Hisey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Two afferent pathways supply evaluative information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An </a:t>
            </a:r>
            <a:r>
              <a:rPr sz="1600" b="1" i="0">
                <a:solidFill>
                  <a:srgbClr val="594045"/>
                </a:solidFill>
                <a:latin typeface="Arial"/>
              </a:rPr>
              <a:t>afferent</a:t>
            </a:r>
            <a:r>
              <a:rPr sz="1600" b="0" i="0">
                <a:solidFill>
                  <a:srgbClr val="000000"/>
                </a:solidFill>
                <a:latin typeface="Arial"/>
              </a:rPr>
              <a:t> is an input projection arriving at a neural region. Kearney and colleagues examined two major inputs to VTA: the </a:t>
            </a:r>
            <a:r>
              <a:rPr sz="1600" b="1" i="0">
                <a:solidFill>
                  <a:srgbClr val="594045"/>
                </a:solidFill>
                <a:latin typeface="Arial"/>
              </a:rPr>
              <a:t>ventral intermediate arcopallium</a:t>
            </a:r>
            <a:r>
              <a:rPr sz="1600" b="0" i="0">
                <a:solidFill>
                  <a:srgbClr val="000000"/>
                </a:solidFill>
                <a:latin typeface="Arial"/>
              </a:rPr>
              <a:t>, or </a:t>
            </a:r>
            <a:r>
              <a:rPr sz="1600" b="1" i="0">
                <a:solidFill>
                  <a:srgbClr val="594045"/>
                </a:solidFill>
                <a:latin typeface="Arial"/>
              </a:rPr>
              <a:t>Aiv</a:t>
            </a:r>
            <a:r>
              <a:rPr sz="1600" b="0" i="0">
                <a:solidFill>
                  <a:srgbClr val="000000"/>
                </a:solidFill>
                <a:latin typeface="Arial"/>
              </a:rPr>
              <a:t>, and the </a:t>
            </a:r>
            <a:r>
              <a:rPr sz="1600" b="1" i="0">
                <a:solidFill>
                  <a:srgbClr val="594045"/>
                </a:solidFill>
                <a:latin typeface="Arial"/>
              </a:rPr>
              <a:t>ventral pallidum</a:t>
            </a:r>
            <a:r>
              <a:rPr sz="1600" b="0" i="0">
                <a:solidFill>
                  <a:srgbClr val="000000"/>
                </a:solidFill>
                <a:latin typeface="Arial"/>
              </a:rPr>
              <a:t>, or </a:t>
            </a:r>
            <a:r>
              <a:rPr sz="1600" b="1" i="0">
                <a:solidFill>
                  <a:srgbClr val="594045"/>
                </a:solidFill>
                <a:latin typeface="Arial"/>
              </a:rPr>
              <a:t>VP</a:t>
            </a:r>
            <a:r>
              <a:rPr sz="1600" b="0" i="0">
                <a:solidFill>
                  <a:srgbClr val="000000"/>
                </a:solidFill>
                <a:latin typeface="Arial"/>
              </a:rPr>
              <a:t>.</a:t>
            </a:r>
          </a:p>
          <a:p>
            <a:pPr algn="l">
              <a:lnSpc>
                <a:spcPct val="108000"/>
              </a:lnSpc>
              <a:spcAft>
                <a:spcPts val="960"/>
              </a:spcAft>
            </a:pPr>
            <a:r>
              <a:rPr sz="1600" b="0" i="0">
                <a:solidFill>
                  <a:srgbClr val="000000"/>
                </a:solidFill>
                <a:latin typeface="Arial"/>
              </a:rPr>
              <a:t>Aiv receives auditory-related information, while VP receives inputs that include the vocal basal ganglia. These connections place both regions upstream of the dopamine teaching signal, where information about performed song can influence evaluation.</a:t>
            </a:r>
          </a:p>
          <a:p>
            <a:pPr algn="l">
              <a:lnSpc>
                <a:spcPct val="108000"/>
              </a:lnSpc>
              <a:spcAft>
                <a:spcPts val="960"/>
              </a:spcAft>
            </a:pPr>
            <a:r>
              <a:rPr sz="1600" b="0" i="0">
                <a:solidFill>
                  <a:srgbClr val="000000"/>
                </a:solidFill>
                <a:latin typeface="Arial"/>
              </a:rPr>
              <a:t>The projections differed in transmitter-related molecular markers and in the direction of learning produced by contingent stimulation. Aiv input favored avoidance of associated variants; VP input favored their repetition. The VTA therefore integrates multiple evaluative routes rather than deriving both signs of reinforcement from an undifferentiated input.</a:t>
            </a:r>
          </a:p>
        </p:txBody>
      </p:sp>
      <p:pic>
        <p:nvPicPr>
          <p:cNvPr id="4" name="Picture 3" descr="k_map.png"/>
          <p:cNvPicPr>
            <a:picLocks noChangeAspect="1"/>
          </p:cNvPicPr>
          <p:nvPr/>
        </p:nvPicPr>
        <p:blipFill>
          <a:blip r:embed="rId2"/>
          <a:stretch>
            <a:fillRect/>
          </a:stretch>
        </p:blipFill>
        <p:spPr>
          <a:xfrm>
            <a:off x="7487107" y="1280160"/>
            <a:ext cx="2971800" cy="2286000"/>
          </a:xfrm>
          <a:prstGeom prst="rect">
            <a:avLst/>
          </a:prstGeom>
        </p:spPr>
      </p:pic>
      <p:sp>
        <p:nvSpPr>
          <p:cNvPr id="5" name="Figure caption"/>
          <p:cNvSpPr txBox="1"/>
          <p:nvPr/>
        </p:nvSpPr>
        <p:spPr>
          <a:xfrm>
            <a:off x="6321247" y="365760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Kearney et al. (2019), Fig. 1(F). Anatomical arrangement of song motor and evaluative nuclei.</a:t>
            </a:r>
          </a:p>
        </p:txBody>
      </p:sp>
      <p:pic>
        <p:nvPicPr>
          <p:cNvPr id="6" name="Picture 5" descr="k_transmitters.png"/>
          <p:cNvPicPr>
            <a:picLocks noChangeAspect="1"/>
          </p:cNvPicPr>
          <p:nvPr/>
        </p:nvPicPr>
        <p:blipFill>
          <a:blip r:embed="rId3"/>
          <a:stretch>
            <a:fillRect/>
          </a:stretch>
        </p:blipFill>
        <p:spPr>
          <a:xfrm>
            <a:off x="7138793" y="4114800"/>
            <a:ext cx="3668426" cy="164591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Kearney et al. (2019), Fig. 7(A,B). Glutamate and GABA transporter expression in VTA afferents.</a:t>
            </a:r>
          </a:p>
        </p:txBody>
      </p:sp>
      <p:sp>
        <p:nvSpPr>
          <p:cNvPr id="8" name="Rectangle 7"/>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Kearney et al. (2019)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Aiv activity matters during the feedback window</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Kearney and colleagues optically activated Aiv terminals in VTA on every rendition of a target syllable while noise remained contingent on pitch. This imposed similar terminal activity across performances that normally received different auditory outcomes.</a:t>
            </a:r>
          </a:p>
          <a:p>
            <a:pPr algn="l">
              <a:lnSpc>
                <a:spcPct val="108000"/>
              </a:lnSpc>
              <a:spcAft>
                <a:spcPts val="960"/>
              </a:spcAft>
            </a:pPr>
            <a:r>
              <a:rPr sz="1600" b="0" i="0">
                <a:solidFill>
                  <a:srgbClr val="000000"/>
                </a:solidFill>
                <a:latin typeface="Arial"/>
              </a:rPr>
              <a:t>Stimulation during the </a:t>
            </a:r>
            <a:r>
              <a:rPr sz="1600" b="1" i="0">
                <a:solidFill>
                  <a:srgbClr val="594045"/>
                </a:solidFill>
                <a:latin typeface="Arial"/>
              </a:rPr>
              <a:t>50-ms auditory feedback window</a:t>
            </a:r>
            <a:r>
              <a:rPr sz="1600" b="0" i="0">
                <a:solidFill>
                  <a:srgbClr val="000000"/>
                </a:solidFill>
                <a:latin typeface="Arial"/>
              </a:rPr>
              <a:t> strongly reduced the pitch learning driven by noise. Moving the intervention into the </a:t>
            </a:r>
            <a:r>
              <a:rPr sz="1600" b="1" i="0">
                <a:solidFill>
                  <a:srgbClr val="594045"/>
                </a:solidFill>
                <a:latin typeface="Arial"/>
              </a:rPr>
              <a:t>50-ms premotor window</a:t>
            </a:r>
            <a:r>
              <a:rPr sz="1600" b="0" i="0">
                <a:solidFill>
                  <a:srgbClr val="000000"/>
                </a:solidFill>
                <a:latin typeface="Arial"/>
              </a:rPr>
              <a:t> just before syllable onset preserved the learning response.</a:t>
            </a:r>
          </a:p>
          <a:p>
            <a:pPr algn="l">
              <a:lnSpc>
                <a:spcPct val="108000"/>
              </a:lnSpc>
              <a:spcAft>
                <a:spcPts val="960"/>
              </a:spcAft>
            </a:pPr>
            <a:r>
              <a:rPr sz="1600" b="1" i="0">
                <a:solidFill>
                  <a:srgbClr val="594045"/>
                </a:solidFill>
                <a:latin typeface="Arial"/>
              </a:rPr>
              <a:t>Premotor</a:t>
            </a:r>
            <a:r>
              <a:rPr sz="1600" b="0" i="0">
                <a:solidFill>
                  <a:srgbClr val="000000"/>
                </a:solidFill>
                <a:latin typeface="Arial"/>
              </a:rPr>
              <a:t> activity precedes and contributes to movement; evaluative activity processes its outcome. The timing comparison assigned Aiv input a feedback-related role. Variation in this projection during the auditory consequence was necessary for normal learning, whereas imposing comparable activation before the vocal action did not have the same effect.</a:t>
            </a:r>
          </a:p>
        </p:txBody>
      </p:sp>
      <p:pic>
        <p:nvPicPr>
          <p:cNvPr id="4" name="Picture 3" descr="k_aiv_jam.png"/>
          <p:cNvPicPr>
            <a:picLocks noChangeAspect="1"/>
          </p:cNvPicPr>
          <p:nvPr/>
        </p:nvPicPr>
        <p:blipFill>
          <a:blip r:embed="rId2"/>
          <a:stretch>
            <a:fillRect/>
          </a:stretch>
        </p:blipFill>
        <p:spPr>
          <a:xfrm>
            <a:off x="6321247" y="1280160"/>
            <a:ext cx="5303520" cy="1787957"/>
          </a:xfrm>
          <a:prstGeom prst="rect">
            <a:avLst/>
          </a:prstGeom>
        </p:spPr>
      </p:pic>
      <p:sp>
        <p:nvSpPr>
          <p:cNvPr id="5" name="Figure caption"/>
          <p:cNvSpPr txBox="1"/>
          <p:nvPr/>
        </p:nvSpPr>
        <p:spPr>
          <a:xfrm>
            <a:off x="6321247" y="3159557"/>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Kearney et al. (2019), Fig. 2(E–G). Feedback-window interference in Aiv inputs reduces pitch learning.</a:t>
            </a:r>
          </a:p>
        </p:txBody>
      </p:sp>
      <p:sp>
        <p:nvSpPr>
          <p:cNvPr id="6" name="Rectangle 5"/>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Kearney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VP interference also disrupts feedback evaluation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same timing strategy was applied to VP terminals in VTA. Noise still punished selected pitch variants, while optical stimulation imposed a common input on every detected rendition of the target syllable.</a:t>
            </a:r>
          </a:p>
          <a:p>
            <a:pPr algn="l">
              <a:lnSpc>
                <a:spcPct val="108000"/>
              </a:lnSpc>
              <a:spcAft>
                <a:spcPts val="960"/>
              </a:spcAft>
            </a:pPr>
            <a:r>
              <a:rPr sz="1600" b="0" i="0">
                <a:solidFill>
                  <a:srgbClr val="000000"/>
                </a:solidFill>
                <a:latin typeface="Arial"/>
              </a:rPr>
              <a:t>VP stimulation during the auditory feedback window reduced noise-driven learning. Stimulation during the earlier premotor window preserved the usual pitch adjustment. The intervention’s timing therefore mattered even though its anatomical target remained unchanged.</a:t>
            </a:r>
          </a:p>
          <a:p>
            <a:pPr algn="l">
              <a:lnSpc>
                <a:spcPct val="108000"/>
              </a:lnSpc>
              <a:spcAft>
                <a:spcPts val="960"/>
              </a:spcAft>
            </a:pPr>
            <a:r>
              <a:rPr sz="1600" b="0" i="0">
                <a:solidFill>
                  <a:srgbClr val="000000"/>
                </a:solidFill>
                <a:latin typeface="Arial"/>
              </a:rPr>
              <a:t>Both Aiv and VP inputs contributed to evaluation at the time of the vocal consequence. Their normal variation across renditions was needed for adaptive learning. These matched timing experiments separate the pathways’ evaluative function from an immediate command that simply changes how the current syllable is produced.</a:t>
            </a:r>
          </a:p>
        </p:txBody>
      </p:sp>
      <p:pic>
        <p:nvPicPr>
          <p:cNvPr id="4" name="Picture 3" descr="k_vp_jam.png"/>
          <p:cNvPicPr>
            <a:picLocks noChangeAspect="1"/>
          </p:cNvPicPr>
          <p:nvPr/>
        </p:nvPicPr>
        <p:blipFill>
          <a:blip r:embed="rId2"/>
          <a:stretch>
            <a:fillRect/>
          </a:stretch>
        </p:blipFill>
        <p:spPr>
          <a:xfrm>
            <a:off x="6321247" y="1280160"/>
            <a:ext cx="5303520" cy="1735148"/>
          </a:xfrm>
          <a:prstGeom prst="rect">
            <a:avLst/>
          </a:prstGeom>
        </p:spPr>
      </p:pic>
      <p:sp>
        <p:nvSpPr>
          <p:cNvPr id="5" name="Figure caption"/>
          <p:cNvSpPr txBox="1"/>
          <p:nvPr/>
        </p:nvSpPr>
        <p:spPr>
          <a:xfrm>
            <a:off x="6321247" y="3106748"/>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Kearney et al. (2019), Fig. 2(H–J). Feedback-window interference in VP inputs reduces pitch learning.</a:t>
            </a:r>
          </a:p>
        </p:txBody>
      </p:sp>
      <p:sp>
        <p:nvSpPr>
          <p:cNvPr id="6" name="Rectangle 5"/>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Kearney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LMAN contributes before the vocal action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LMAN provides the cortical output of the anterior forebrain learning pathway and projects to RA and back into Area X. Kearney and colleagues used channelrhodopsin expression and optical fibers to interfere with its activity during defined song windows.</a:t>
            </a:r>
          </a:p>
          <a:p>
            <a:pPr algn="l">
              <a:lnSpc>
                <a:spcPct val="108000"/>
              </a:lnSpc>
              <a:spcAft>
                <a:spcPts val="960"/>
              </a:spcAft>
            </a:pPr>
            <a:r>
              <a:rPr sz="1600" b="0" i="0">
                <a:solidFill>
                  <a:srgbClr val="000000"/>
                </a:solidFill>
                <a:latin typeface="Arial"/>
              </a:rPr>
              <a:t>Optical activation evoked reliable high-frequency bursts, exceeding </a:t>
            </a:r>
            <a:r>
              <a:rPr sz="1600" b="1" i="0">
                <a:solidFill>
                  <a:srgbClr val="594045"/>
                </a:solidFill>
                <a:latin typeface="Arial"/>
              </a:rPr>
              <a:t>400 spikes per second</a:t>
            </a:r>
            <a:r>
              <a:rPr sz="1600" b="0" i="0">
                <a:solidFill>
                  <a:srgbClr val="000000"/>
                </a:solidFill>
                <a:latin typeface="Arial"/>
              </a:rPr>
              <a:t> in the validation recordings. During singing, stimulation in the premotor window prevented the usual pitch learning driven by contingent noise.</a:t>
            </a:r>
          </a:p>
          <a:p>
            <a:pPr algn="l">
              <a:lnSpc>
                <a:spcPct val="108000"/>
              </a:lnSpc>
              <a:spcAft>
                <a:spcPts val="960"/>
              </a:spcAft>
            </a:pPr>
            <a:r>
              <a:rPr sz="1600" b="0" i="0">
                <a:solidFill>
                  <a:srgbClr val="000000"/>
                </a:solidFill>
                <a:latin typeface="Arial"/>
              </a:rPr>
              <a:t>The same intervention in the auditory feedback window allowed normal learning. LMAN therefore contributed at a different time from Aiv and VP: before production rather than during evaluation. This temporal separation supports a circuit in which premotor variation and bias influence the action, while distinct afferents evaluate its acoustic consequence.</a:t>
            </a:r>
          </a:p>
        </p:txBody>
      </p:sp>
      <p:pic>
        <p:nvPicPr>
          <p:cNvPr id="4" name="Picture 3" descr="k_lman.png"/>
          <p:cNvPicPr>
            <a:picLocks noChangeAspect="1"/>
          </p:cNvPicPr>
          <p:nvPr/>
        </p:nvPicPr>
        <p:blipFill>
          <a:blip r:embed="rId2"/>
          <a:stretch>
            <a:fillRect/>
          </a:stretch>
        </p:blipFill>
        <p:spPr>
          <a:xfrm>
            <a:off x="6940395" y="1280160"/>
            <a:ext cx="4065223"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Kearney et al. (2019), Fig. 3(A–G). LMAN anatomy, evoked spikes, and premotor interference.</a:t>
            </a:r>
          </a:p>
        </p:txBody>
      </p:sp>
      <p:sp>
        <p:nvSpPr>
          <p:cNvPr id="6" name="Rectangle 5"/>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Kearney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Aiv stimulation makes associated variants less frequent</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Pitch-contingent stimulation can test whether an evaluative input supplies a teaching signal without disruptive sound. Kearney and colleagues delivered </a:t>
            </a:r>
            <a:r>
              <a:rPr sz="1600" b="1" i="0">
                <a:solidFill>
                  <a:srgbClr val="594045"/>
                </a:solidFill>
                <a:latin typeface="Arial"/>
              </a:rPr>
              <a:t>50-ms</a:t>
            </a:r>
            <a:r>
              <a:rPr sz="1600" b="0" i="0">
                <a:solidFill>
                  <a:srgbClr val="000000"/>
                </a:solidFill>
                <a:latin typeface="Arial"/>
              </a:rPr>
              <a:t>, </a:t>
            </a:r>
            <a:r>
              <a:rPr sz="1600" b="1" i="0">
                <a:solidFill>
                  <a:srgbClr val="594045"/>
                </a:solidFill>
                <a:latin typeface="Arial"/>
              </a:rPr>
              <a:t>473-nm</a:t>
            </a:r>
            <a:r>
              <a:rPr sz="1600" b="0" i="0">
                <a:solidFill>
                  <a:srgbClr val="000000"/>
                </a:solidFill>
                <a:latin typeface="Arial"/>
              </a:rPr>
              <a:t> light pulses to Aiv terminals in VTA when a target syllable crossed the chosen pitch threshold.</a:t>
            </a:r>
          </a:p>
          <a:p>
            <a:pPr algn="l">
              <a:lnSpc>
                <a:spcPct val="108000"/>
              </a:lnSpc>
              <a:spcAft>
                <a:spcPts val="960"/>
              </a:spcAft>
            </a:pPr>
            <a:r>
              <a:rPr sz="1600" b="0" i="0">
                <a:solidFill>
                  <a:srgbClr val="000000"/>
                </a:solidFill>
                <a:latin typeface="Arial"/>
              </a:rPr>
              <a:t>Over repeated training days, pitch shifted away from the stimulated range. Stimulating low variants favored higher pitches, whereas stimulating high variants favored lower pitches. Learned changes were measured on unstimulated catch renditions.</a:t>
            </a:r>
          </a:p>
          <a:p>
            <a:pPr algn="l">
              <a:lnSpc>
                <a:spcPct val="108000"/>
              </a:lnSpc>
              <a:spcAft>
                <a:spcPts val="960"/>
              </a:spcAft>
            </a:pPr>
            <a:r>
              <a:rPr sz="1600" b="0" i="0">
                <a:solidFill>
                  <a:srgbClr val="000000"/>
                </a:solidFill>
                <a:latin typeface="Arial"/>
              </a:rPr>
              <a:t>The effect resembled negative reinforcement by noise and remained largely restricted to the targeted syllable. Aiv terminal activity therefore supplied a consequence that selected avoidance of the associated performance. The result links a defined evaluative afferent to the sign of later behavioral change rather than only correlating its activity with an auditory error.</a:t>
            </a:r>
          </a:p>
        </p:txBody>
      </p:sp>
      <p:pic>
        <p:nvPicPr>
          <p:cNvPr id="4" name="Picture 3" descr="k_aiv_learn.png"/>
          <p:cNvPicPr>
            <a:picLocks noChangeAspect="1"/>
          </p:cNvPicPr>
          <p:nvPr/>
        </p:nvPicPr>
        <p:blipFill>
          <a:blip r:embed="rId2"/>
          <a:stretch>
            <a:fillRect/>
          </a:stretch>
        </p:blipFill>
        <p:spPr>
          <a:xfrm>
            <a:off x="6659833" y="1280160"/>
            <a:ext cx="4626347" cy="2286000"/>
          </a:xfrm>
          <a:prstGeom prst="rect">
            <a:avLst/>
          </a:prstGeom>
        </p:spPr>
      </p:pic>
      <p:sp>
        <p:nvSpPr>
          <p:cNvPr id="5" name="Figure caption"/>
          <p:cNvSpPr txBox="1"/>
          <p:nvPr/>
        </p:nvSpPr>
        <p:spPr>
          <a:xfrm>
            <a:off x="6321247" y="365760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Kearney et al. (2019), Fig. 4(F,G). Pitch shifts away from Aiv terminal stimulation.</a:t>
            </a:r>
          </a:p>
        </p:txBody>
      </p:sp>
      <p:pic>
        <p:nvPicPr>
          <p:cNvPr id="6" name="Picture 5" descr="k_aiv_anatomy.png"/>
          <p:cNvPicPr>
            <a:picLocks noChangeAspect="1"/>
          </p:cNvPicPr>
          <p:nvPr/>
        </p:nvPicPr>
        <p:blipFill>
          <a:blip r:embed="rId3"/>
          <a:stretch>
            <a:fillRect/>
          </a:stretch>
        </p:blipFill>
        <p:spPr>
          <a:xfrm>
            <a:off x="7849162" y="4114800"/>
            <a:ext cx="2247689" cy="164591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Kearney et al. (2019), Fig. 4(A,B). Aiv cells and their terminals in VTA.</a:t>
            </a:r>
          </a:p>
        </p:txBody>
      </p:sp>
      <p:sp>
        <p:nvSpPr>
          <p:cNvPr id="8" name="Rectangle 7"/>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Kearney et al. (2019)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VP stimulation makes associated variants more frequent</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When comparable optical pulses targeted VP terminals in VTA, learning proceeded in the opposite direction from Aiv stimulation. The zebra finches shifted target pitch toward the region associated with terminal activation.</a:t>
            </a:r>
          </a:p>
          <a:p>
            <a:pPr algn="l">
              <a:lnSpc>
                <a:spcPct val="108000"/>
              </a:lnSpc>
              <a:spcAft>
                <a:spcPts val="960"/>
              </a:spcAft>
            </a:pPr>
            <a:r>
              <a:rPr sz="1600" b="0" i="0">
                <a:solidFill>
                  <a:srgbClr val="000000"/>
                </a:solidFill>
                <a:latin typeface="Arial"/>
              </a:rPr>
              <a:t>Stimulation paired with low-pitch variants favored lower future pitches; stimulation paired with high-pitch variants favored higher pitches. The effect developed across training days and was assessed on catch renditions without concurrent light.</a:t>
            </a:r>
          </a:p>
          <a:p>
            <a:pPr algn="l">
              <a:lnSpc>
                <a:spcPct val="108000"/>
              </a:lnSpc>
              <a:spcAft>
                <a:spcPts val="960"/>
              </a:spcAft>
            </a:pPr>
            <a:r>
              <a:rPr sz="1600" b="0" i="0">
                <a:solidFill>
                  <a:srgbClr val="000000"/>
                </a:solidFill>
                <a:latin typeface="Arial"/>
              </a:rPr>
              <a:t>VP input therefore provided a positively reinforcing consequence under the tested conditions. The contrast with Aiv arose from stimulating different projections into the same midbrain region, not from changing the acoustic detector’s basic operation. Complementary evaluative pathways can assign opposite values to similar vocal variants and thereby guide adaptive control in either direction.</a:t>
            </a:r>
          </a:p>
        </p:txBody>
      </p:sp>
      <p:pic>
        <p:nvPicPr>
          <p:cNvPr id="4" name="Picture 3" descr="k_vp_learn.png"/>
          <p:cNvPicPr>
            <a:picLocks noChangeAspect="1"/>
          </p:cNvPicPr>
          <p:nvPr/>
        </p:nvPicPr>
        <p:blipFill>
          <a:blip r:embed="rId2"/>
          <a:stretch>
            <a:fillRect/>
          </a:stretch>
        </p:blipFill>
        <p:spPr>
          <a:xfrm>
            <a:off x="6687007" y="1280160"/>
            <a:ext cx="4572000" cy="2286000"/>
          </a:xfrm>
          <a:prstGeom prst="rect">
            <a:avLst/>
          </a:prstGeom>
        </p:spPr>
      </p:pic>
      <p:sp>
        <p:nvSpPr>
          <p:cNvPr id="5" name="Figure caption"/>
          <p:cNvSpPr txBox="1"/>
          <p:nvPr/>
        </p:nvSpPr>
        <p:spPr>
          <a:xfrm>
            <a:off x="6321247" y="365760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Kearney et al. (2019), Fig. 5(F,G). Pitch shifts toward VP terminal stimulation.</a:t>
            </a:r>
          </a:p>
        </p:txBody>
      </p:sp>
      <p:pic>
        <p:nvPicPr>
          <p:cNvPr id="6" name="Picture 5" descr="k_vp_anatomy.png"/>
          <p:cNvPicPr>
            <a:picLocks noChangeAspect="1"/>
          </p:cNvPicPr>
          <p:nvPr/>
        </p:nvPicPr>
        <p:blipFill>
          <a:blip r:embed="rId3"/>
          <a:stretch>
            <a:fillRect/>
          </a:stretch>
        </p:blipFill>
        <p:spPr>
          <a:xfrm>
            <a:off x="7832740" y="4114800"/>
            <a:ext cx="2280532" cy="164591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Kearney et al. (2019), Fig. 5(A,B). VP cells and their terminals in VTA.</a:t>
            </a:r>
          </a:p>
        </p:txBody>
      </p:sp>
      <p:sp>
        <p:nvSpPr>
          <p:cNvPr id="8" name="Rectangle 7"/>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Kearney et al. (2019)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Aiv and VP have opposing effects on VTA neuron classes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Kearney and colleagues recorded VTA neurons while stimulating Aiv or VP terminals. </a:t>
            </a:r>
            <a:r>
              <a:rPr sz="1600" b="1" i="0">
                <a:solidFill>
                  <a:srgbClr val="594045"/>
                </a:solidFill>
                <a:latin typeface="Arial"/>
              </a:rPr>
              <a:t>Putative dopamine neurons</a:t>
            </a:r>
            <a:r>
              <a:rPr sz="1600" b="0" i="0">
                <a:solidFill>
                  <a:srgbClr val="000000"/>
                </a:solidFill>
                <a:latin typeface="Arial"/>
              </a:rPr>
              <a:t> were identified physiologically by relatively broad action potentials and low spontaneous firing, commonly below </a:t>
            </a:r>
            <a:r>
              <a:rPr sz="1600" b="1" i="0">
                <a:solidFill>
                  <a:srgbClr val="594045"/>
                </a:solidFill>
                <a:latin typeface="Arial"/>
              </a:rPr>
              <a:t>15 spikes per second</a:t>
            </a:r>
            <a:r>
              <a:rPr sz="1600" b="0" i="0">
                <a:solidFill>
                  <a:srgbClr val="000000"/>
                </a:solidFill>
                <a:latin typeface="Arial"/>
              </a:rPr>
              <a:t>.</a:t>
            </a:r>
          </a:p>
          <a:p>
            <a:pPr algn="l">
              <a:lnSpc>
                <a:spcPct val="108000"/>
              </a:lnSpc>
              <a:spcAft>
                <a:spcPts val="960"/>
              </a:spcAft>
            </a:pPr>
            <a:r>
              <a:rPr sz="1600" b="0" i="0">
                <a:solidFill>
                  <a:srgbClr val="000000"/>
                </a:solidFill>
                <a:latin typeface="Arial"/>
              </a:rPr>
              <a:t>Aiv stimulation increased firing in many thin-spiking neurons while suppressing many broad-spiking cells. VP stimulation produced the reverse pattern, suppressing thin-spiking neurons while exciting the putative dopamine population.</a:t>
            </a:r>
          </a:p>
          <a:p>
            <a:pPr algn="l">
              <a:lnSpc>
                <a:spcPct val="108000"/>
              </a:lnSpc>
              <a:spcAft>
                <a:spcPts val="960"/>
              </a:spcAft>
            </a:pPr>
            <a:r>
              <a:rPr sz="1600" b="0" i="0">
                <a:solidFill>
                  <a:srgbClr val="000000"/>
                </a:solidFill>
                <a:latin typeface="Arial"/>
              </a:rPr>
              <a:t>An </a:t>
            </a:r>
            <a:r>
              <a:rPr sz="1600" b="1" i="0">
                <a:solidFill>
                  <a:srgbClr val="594045"/>
                </a:solidFill>
                <a:latin typeface="Arial"/>
              </a:rPr>
              <a:t>interneuron</a:t>
            </a:r>
            <a:r>
              <a:rPr sz="1600" b="0" i="0">
                <a:solidFill>
                  <a:srgbClr val="000000"/>
                </a:solidFill>
                <a:latin typeface="Arial"/>
              </a:rPr>
              <a:t> is a locally acting neuron that modifies activity within a circuit. These opposite responses connect the behavioral signs of reinforcement with distinct effects inside VTA. The physiological classification remains putative, but the combination of firing responses and molecular anatomy supports local inhibitory control as a route for converting afferent activity into bidirectional dopamine signaling.</a:t>
            </a:r>
          </a:p>
        </p:txBody>
      </p:sp>
      <p:pic>
        <p:nvPicPr>
          <p:cNvPr id="4" name="Picture 3" descr="k_units.png"/>
          <p:cNvPicPr>
            <a:picLocks noChangeAspect="1"/>
          </p:cNvPicPr>
          <p:nvPr/>
        </p:nvPicPr>
        <p:blipFill>
          <a:blip r:embed="rId2"/>
          <a:stretch>
            <a:fillRect/>
          </a:stretch>
        </p:blipFill>
        <p:spPr>
          <a:xfrm>
            <a:off x="7426776" y="1280160"/>
            <a:ext cx="3092461"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Kearney et al. (2019), Fig. 6(A–H). Aiv and VP inputs have opposing effects on VTA neuron classes.</a:t>
            </a:r>
          </a:p>
        </p:txBody>
      </p:sp>
      <p:sp>
        <p:nvSpPr>
          <p:cNvPr id="6" name="Rectangle 5"/>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Kearney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Inhibition can invert the sign of an evaluative input</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594045"/>
                </a:solidFill>
                <a:latin typeface="Arial"/>
              </a:rPr>
              <a:t>Glutamatergic</a:t>
            </a:r>
            <a:r>
              <a:rPr sz="1600" b="0" i="0">
                <a:solidFill>
                  <a:srgbClr val="000000"/>
                </a:solidFill>
                <a:latin typeface="Arial"/>
              </a:rPr>
              <a:t> neurons release glutamate, while </a:t>
            </a:r>
            <a:r>
              <a:rPr sz="1600" b="1" i="0">
                <a:solidFill>
                  <a:srgbClr val="594045"/>
                </a:solidFill>
                <a:latin typeface="Arial"/>
              </a:rPr>
              <a:t>GABAergic</a:t>
            </a:r>
            <a:r>
              <a:rPr sz="1600" b="0" i="0">
                <a:solidFill>
                  <a:srgbClr val="000000"/>
                </a:solidFill>
                <a:latin typeface="Arial"/>
              </a:rPr>
              <a:t> neurons release the inhibitory transmitter gamma-aminobutyric acid. Molecular labeling identified most VTA-projecting Aiv cells with a vesicular glutamate transporter and most VP cells with a vesicular GABA transporter.</a:t>
            </a:r>
          </a:p>
          <a:p>
            <a:pPr algn="l">
              <a:lnSpc>
                <a:spcPct val="108000"/>
              </a:lnSpc>
              <a:spcAft>
                <a:spcPts val="960"/>
              </a:spcAft>
            </a:pPr>
            <a:r>
              <a:rPr sz="1600" b="0" i="0">
                <a:solidFill>
                  <a:srgbClr val="000000"/>
                </a:solidFill>
                <a:latin typeface="Arial"/>
              </a:rPr>
              <a:t>Both afferents preferentially apposed VTA neurons expressing </a:t>
            </a:r>
            <a:r>
              <a:rPr sz="1600" b="1" i="0">
                <a:solidFill>
                  <a:srgbClr val="594045"/>
                </a:solidFill>
                <a:latin typeface="Arial"/>
              </a:rPr>
              <a:t>parvalbumin</a:t>
            </a:r>
            <a:r>
              <a:rPr sz="1600" b="0" i="0">
                <a:solidFill>
                  <a:srgbClr val="000000"/>
                </a:solidFill>
                <a:latin typeface="Arial"/>
              </a:rPr>
              <a:t>, a marker used here for inhibitory interneurons. Aiv’s excitatory input can recruit inhibition of dopamine cells; VP’s inhibitory input can suppress that local inhibition.</a:t>
            </a:r>
          </a:p>
          <a:p>
            <a:pPr algn="l">
              <a:lnSpc>
                <a:spcPct val="108000"/>
              </a:lnSpc>
              <a:spcAft>
                <a:spcPts val="960"/>
              </a:spcAft>
            </a:pPr>
            <a:r>
              <a:rPr sz="1600" b="1" i="0">
                <a:solidFill>
                  <a:srgbClr val="594045"/>
                </a:solidFill>
                <a:latin typeface="Arial"/>
              </a:rPr>
              <a:t>Disinhibition</a:t>
            </a:r>
            <a:r>
              <a:rPr sz="1600" b="0" i="0">
                <a:solidFill>
                  <a:srgbClr val="000000"/>
                </a:solidFill>
                <a:latin typeface="Arial"/>
              </a:rPr>
              <a:t> increases a neuron’s activity by reducing inhibition acting on it. The circuit hypothesis is that Aiv excites local inhibitory cells to reduce dopamine firing, whereas VP inhibits those cells to increase dopamine firing. This sign inversion accounts for the opposite physiological and behavioral effects of the two evaluative pathways.</a:t>
            </a:r>
          </a:p>
        </p:txBody>
      </p:sp>
      <p:pic>
        <p:nvPicPr>
          <p:cNvPr id="4" name="Picture 3" descr="k_transmitters.png"/>
          <p:cNvPicPr>
            <a:picLocks noChangeAspect="1"/>
          </p:cNvPicPr>
          <p:nvPr/>
        </p:nvPicPr>
        <p:blipFill>
          <a:blip r:embed="rId2"/>
          <a:stretch>
            <a:fillRect/>
          </a:stretch>
        </p:blipFill>
        <p:spPr>
          <a:xfrm>
            <a:off x="6425488" y="1280160"/>
            <a:ext cx="5095036" cy="2286000"/>
          </a:xfrm>
          <a:prstGeom prst="rect">
            <a:avLst/>
          </a:prstGeom>
        </p:spPr>
      </p:pic>
      <p:sp>
        <p:nvSpPr>
          <p:cNvPr id="5" name="Figure caption"/>
          <p:cNvSpPr txBox="1"/>
          <p:nvPr/>
        </p:nvSpPr>
        <p:spPr>
          <a:xfrm>
            <a:off x="6321247" y="365760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Kearney et al. (2019), Fig. 7(A,B). Glutamate and GABA transporter expression in VTA afferents.</a:t>
            </a:r>
          </a:p>
        </p:txBody>
      </p:sp>
      <p:pic>
        <p:nvPicPr>
          <p:cNvPr id="6" name="Picture 5" descr="k_synapses.png"/>
          <p:cNvPicPr>
            <a:picLocks noChangeAspect="1"/>
          </p:cNvPicPr>
          <p:nvPr/>
        </p:nvPicPr>
        <p:blipFill>
          <a:blip r:embed="rId3"/>
          <a:stretch>
            <a:fillRect/>
          </a:stretch>
        </p:blipFill>
        <p:spPr>
          <a:xfrm>
            <a:off x="6350178" y="4114800"/>
            <a:ext cx="5245657" cy="164591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Kearney et al. (2019), Fig. 7(C,D). Aiv and VP terminals preferentially appose VTA interneurons.</a:t>
            </a:r>
          </a:p>
        </p:txBody>
      </p:sp>
      <p:sp>
        <p:nvSpPr>
          <p:cNvPr id="8" name="Rectangle 7"/>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Kearney et al. (2019)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Population electrical signals carry song information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a:t>
            </a:r>
            <a:r>
              <a:rPr sz="1500" b="1" i="0">
                <a:solidFill>
                  <a:srgbClr val="594045"/>
                </a:solidFill>
                <a:latin typeface="Arial"/>
              </a:rPr>
              <a:t>local field potential</a:t>
            </a:r>
            <a:r>
              <a:rPr sz="1500" b="0" i="0">
                <a:solidFill>
                  <a:srgbClr val="000000"/>
                </a:solidFill>
                <a:latin typeface="Arial"/>
              </a:rPr>
              <a:t>, or </a:t>
            </a:r>
            <a:r>
              <a:rPr sz="1500" b="1" i="0">
                <a:solidFill>
                  <a:srgbClr val="594045"/>
                </a:solidFill>
                <a:latin typeface="Arial"/>
              </a:rPr>
              <a:t>LFP</a:t>
            </a:r>
            <a:r>
              <a:rPr sz="1500" b="0" i="0">
                <a:solidFill>
                  <a:srgbClr val="000000"/>
                </a:solidFill>
                <a:latin typeface="Arial"/>
              </a:rPr>
              <a:t>, is an extracellular voltage signal reflecting aggregate neural currents near a recording site. Brown and colleagues chronically implanted multisite probes targeting HVC and recorded the electrical signal together with the bird’s song.</a:t>
            </a:r>
          </a:p>
          <a:p>
            <a:pPr algn="l">
              <a:lnSpc>
                <a:spcPct val="108000"/>
              </a:lnSpc>
              <a:spcAft>
                <a:spcPts val="900"/>
              </a:spcAft>
            </a:pPr>
            <a:r>
              <a:rPr sz="1500" b="0" i="0">
                <a:solidFill>
                  <a:srgbClr val="000000"/>
                </a:solidFill>
                <a:latin typeface="Arial"/>
              </a:rPr>
              <a:t>The preparation measured freely produced vocal behavior and multiple neural channels at the same time. Song consisted of repeated motifs containing distinct syllables, allowing electrical activity to be aligned with both the larger sequence and individual acoustic events.</a:t>
            </a:r>
          </a:p>
          <a:p>
            <a:pPr algn="l">
              <a:lnSpc>
                <a:spcPct val="108000"/>
              </a:lnSpc>
              <a:spcAft>
                <a:spcPts val="900"/>
              </a:spcAft>
            </a:pPr>
            <a:r>
              <a:rPr sz="1500" b="0" i="0">
                <a:solidFill>
                  <a:srgbClr val="000000"/>
                </a:solidFill>
                <a:latin typeface="Arial"/>
              </a:rPr>
              <a:t>LFP features provide a population-level readout that differs from isolating a single neuron’s spikes. Their relationship to vocal timing can support neural decoding when individual units are difficult to maintain. The study tested what these signals predict about natural song, rather than assuming that any detectable rhythm is sufficient for an operating neural interface.</a:t>
            </a:r>
          </a:p>
        </p:txBody>
      </p:sp>
      <p:pic>
        <p:nvPicPr>
          <p:cNvPr id="4" name="Picture 3" descr="b_record.png"/>
          <p:cNvPicPr>
            <a:picLocks noChangeAspect="1"/>
          </p:cNvPicPr>
          <p:nvPr/>
        </p:nvPicPr>
        <p:blipFill>
          <a:blip r:embed="rId2"/>
          <a:stretch>
            <a:fillRect/>
          </a:stretch>
        </p:blipFill>
        <p:spPr>
          <a:xfrm>
            <a:off x="6321247" y="1280160"/>
            <a:ext cx="5303520" cy="3094646"/>
          </a:xfrm>
          <a:prstGeom prst="rect">
            <a:avLst/>
          </a:prstGeom>
        </p:spPr>
      </p:pic>
      <p:sp>
        <p:nvSpPr>
          <p:cNvPr id="5" name="Figure caption"/>
          <p:cNvSpPr txBox="1"/>
          <p:nvPr/>
        </p:nvSpPr>
        <p:spPr>
          <a:xfrm>
            <a:off x="6321247" y="4466246"/>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Brown et al. (2021), Fig. 1(A–D). Implantation anatomy and simultaneous neural and song recordings.</a:t>
            </a:r>
          </a:p>
        </p:txBody>
      </p:sp>
      <p:sp>
        <p:nvSpPr>
          <p:cNvPr id="6" name="Rectangle 5"/>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Brown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Song changes the power of multiple frequency bands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594045"/>
                </a:solidFill>
                <a:latin typeface="Arial"/>
              </a:rPr>
              <a:t>Power</a:t>
            </a:r>
            <a:r>
              <a:rPr sz="1600" b="0" i="0">
                <a:solidFill>
                  <a:srgbClr val="000000"/>
                </a:solidFill>
                <a:latin typeface="Arial"/>
              </a:rPr>
              <a:t> describes the strength of a signal’s frequency components. Brown and colleagues analyzed HVC-targeted LFP activity during vocalization and nearby silent periods to identify changes associated with production of song.</a:t>
            </a:r>
          </a:p>
          <a:p>
            <a:pPr algn="l">
              <a:lnSpc>
                <a:spcPct val="108000"/>
              </a:lnSpc>
              <a:spcAft>
                <a:spcPts val="960"/>
              </a:spcAft>
            </a:pPr>
            <a:r>
              <a:rPr sz="1600" b="0" i="0">
                <a:solidFill>
                  <a:srgbClr val="000000"/>
                </a:solidFill>
                <a:latin typeface="Arial"/>
              </a:rPr>
              <a:t>Power increased in frequencies above roughly </a:t>
            </a:r>
            <a:r>
              <a:rPr sz="1600" b="1" i="0">
                <a:solidFill>
                  <a:srgbClr val="594045"/>
                </a:solidFill>
                <a:latin typeface="Arial"/>
              </a:rPr>
              <a:t>50 Hz</a:t>
            </a:r>
            <a:r>
              <a:rPr sz="1600" b="0" i="0">
                <a:solidFill>
                  <a:srgbClr val="000000"/>
                </a:solidFill>
                <a:latin typeface="Arial"/>
              </a:rPr>
              <a:t> before and during singing. Lower-frequency components also exhibited structured rhythmic changes, including a prominent </a:t>
            </a:r>
            <a:r>
              <a:rPr sz="1600" b="1" i="0">
                <a:solidFill>
                  <a:srgbClr val="594045"/>
                </a:solidFill>
                <a:latin typeface="Arial"/>
              </a:rPr>
              <a:t>25–35 Hz</a:t>
            </a:r>
            <a:r>
              <a:rPr sz="1600" b="0" i="0">
                <a:solidFill>
                  <a:srgbClr val="000000"/>
                </a:solidFill>
                <a:latin typeface="Arial"/>
              </a:rPr>
              <a:t> pattern and additional organization in </a:t>
            </a:r>
            <a:r>
              <a:rPr sz="1600" b="1" i="0">
                <a:solidFill>
                  <a:srgbClr val="594045"/>
                </a:solidFill>
                <a:latin typeface="Arial"/>
              </a:rPr>
              <a:t>4–8 Hz</a:t>
            </a:r>
            <a:r>
              <a:rPr sz="1600" b="0" i="0">
                <a:solidFill>
                  <a:srgbClr val="000000"/>
                </a:solidFill>
                <a:latin typeface="Arial"/>
              </a:rPr>
              <a:t> and </a:t>
            </a:r>
            <a:r>
              <a:rPr sz="1600" b="1" i="0">
                <a:solidFill>
                  <a:srgbClr val="594045"/>
                </a:solidFill>
                <a:latin typeface="Arial"/>
              </a:rPr>
              <a:t>8–12 Hz</a:t>
            </a:r>
            <a:r>
              <a:rPr sz="1600" b="0" i="0">
                <a:solidFill>
                  <a:srgbClr val="000000"/>
                </a:solidFill>
                <a:latin typeface="Arial"/>
              </a:rPr>
              <a:t> bands.</a:t>
            </a:r>
          </a:p>
          <a:p>
            <a:pPr algn="l">
              <a:lnSpc>
                <a:spcPct val="108000"/>
              </a:lnSpc>
              <a:spcAft>
                <a:spcPts val="960"/>
              </a:spcAft>
            </a:pPr>
            <a:r>
              <a:rPr sz="1600" b="0" i="0">
                <a:solidFill>
                  <a:srgbClr val="000000"/>
                </a:solidFill>
                <a:latin typeface="Arial"/>
              </a:rPr>
              <a:t>High-frequency power declined shortly after the bout ended, linking it to the period of vocal activity. Several frequency ranges therefore carried behavior-related information on different time scales. Neural decoding can use these distinct features, rather than treating the entire population signal as a single undifferentiated measure of activation.</a:t>
            </a:r>
          </a:p>
        </p:txBody>
      </p:sp>
      <p:pic>
        <p:nvPicPr>
          <p:cNvPr id="4" name="Picture 3" descr="b_power.png"/>
          <p:cNvPicPr>
            <a:picLocks noChangeAspect="1"/>
          </p:cNvPicPr>
          <p:nvPr/>
        </p:nvPicPr>
        <p:blipFill>
          <a:blip r:embed="rId2"/>
          <a:stretch>
            <a:fillRect/>
          </a:stretch>
        </p:blipFill>
        <p:spPr>
          <a:xfrm>
            <a:off x="7417067" y="1280160"/>
            <a:ext cx="3111880" cy="2286000"/>
          </a:xfrm>
          <a:prstGeom prst="rect">
            <a:avLst/>
          </a:prstGeom>
        </p:spPr>
      </p:pic>
      <p:sp>
        <p:nvSpPr>
          <p:cNvPr id="5" name="Figure caption"/>
          <p:cNvSpPr txBox="1"/>
          <p:nvPr/>
        </p:nvSpPr>
        <p:spPr>
          <a:xfrm>
            <a:off x="6321247" y="365760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Brown et al. (2021), Fig. 4(A–C). Song-related local field potential power changes.</a:t>
            </a:r>
          </a:p>
        </p:txBody>
      </p:sp>
      <p:pic>
        <p:nvPicPr>
          <p:cNvPr id="6" name="Picture 5" descr="b_anatomy.png"/>
          <p:cNvPicPr>
            <a:picLocks noChangeAspect="1"/>
          </p:cNvPicPr>
          <p:nvPr/>
        </p:nvPicPr>
        <p:blipFill>
          <a:blip r:embed="rId3"/>
          <a:stretch>
            <a:fillRect/>
          </a:stretch>
        </p:blipFill>
        <p:spPr>
          <a:xfrm>
            <a:off x="8475064" y="4114800"/>
            <a:ext cx="995885" cy="164591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Brown et al. (2021), Fig. 1(A,B). HVC and recording.</a:t>
            </a:r>
          </a:p>
        </p:txBody>
      </p:sp>
      <p:sp>
        <p:nvSpPr>
          <p:cNvPr id="8" name="Rectangle 7"/>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Brown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Oscillation phase aligns to individual syllable timing</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594045"/>
                </a:solidFill>
                <a:latin typeface="Arial"/>
              </a:rPr>
              <a:t>Phase</a:t>
            </a:r>
            <a:r>
              <a:rPr sz="1600" b="0" i="0">
                <a:solidFill>
                  <a:srgbClr val="000000"/>
                </a:solidFill>
                <a:latin typeface="Arial"/>
              </a:rPr>
              <a:t> specifies the position within an oscillatory cycle, while power specifies its strength. Brown and colleagues compared LFP phase at the onset of repeated syllables to determine whether population rhythms carried precise timing information.</a:t>
            </a:r>
          </a:p>
          <a:p>
            <a:pPr algn="l">
              <a:lnSpc>
                <a:spcPct val="108000"/>
              </a:lnSpc>
              <a:spcAft>
                <a:spcPts val="960"/>
              </a:spcAft>
            </a:pPr>
            <a:r>
              <a:rPr sz="1600" b="0" i="0">
                <a:solidFill>
                  <a:srgbClr val="000000"/>
                </a:solidFill>
                <a:latin typeface="Arial"/>
              </a:rPr>
              <a:t>Individual syllables had characteristic phase preferences in several frequency bands. Aligning the signal to actual syllable onsets produced stronger consistency than aligning it only to the average expected time within the motif.</a:t>
            </a:r>
          </a:p>
          <a:p>
            <a:pPr algn="l">
              <a:lnSpc>
                <a:spcPct val="108000"/>
              </a:lnSpc>
              <a:spcAft>
                <a:spcPts val="960"/>
              </a:spcAft>
            </a:pPr>
            <a:r>
              <a:rPr sz="1600" b="0" i="0">
                <a:solidFill>
                  <a:srgbClr val="000000"/>
                </a:solidFill>
                <a:latin typeface="Arial"/>
              </a:rPr>
              <a:t>The neural rhythm therefore tracked local vocal events rather than merely running as a fixed clock from the beginning of the song. This event-related alignment can help a decoder distinguish when a particular syllable is about to occur, even when the timing of the larger sequence varies across performances.</a:t>
            </a:r>
          </a:p>
        </p:txBody>
      </p:sp>
      <p:pic>
        <p:nvPicPr>
          <p:cNvPr id="4" name="Picture 3" descr="b_phase.png"/>
          <p:cNvPicPr>
            <a:picLocks noChangeAspect="1"/>
          </p:cNvPicPr>
          <p:nvPr/>
        </p:nvPicPr>
        <p:blipFill>
          <a:blip r:embed="rId2"/>
          <a:stretch>
            <a:fillRect/>
          </a:stretch>
        </p:blipFill>
        <p:spPr>
          <a:xfrm>
            <a:off x="6677625" y="1280160"/>
            <a:ext cx="4590763" cy="2286000"/>
          </a:xfrm>
          <a:prstGeom prst="rect">
            <a:avLst/>
          </a:prstGeom>
        </p:spPr>
      </p:pic>
      <p:sp>
        <p:nvSpPr>
          <p:cNvPr id="5" name="Figure caption"/>
          <p:cNvSpPr txBox="1"/>
          <p:nvPr/>
        </p:nvSpPr>
        <p:spPr>
          <a:xfrm>
            <a:off x="6321247" y="365760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Brown et al. (2021), Fig. 7(A–C). Syllable-specific phase preferences across frequency bands.</a:t>
            </a:r>
          </a:p>
        </p:txBody>
      </p:sp>
      <p:pic>
        <p:nvPicPr>
          <p:cNvPr id="6" name="Picture 5" descr="b_anatomy.png"/>
          <p:cNvPicPr>
            <a:picLocks noChangeAspect="1"/>
          </p:cNvPicPr>
          <p:nvPr/>
        </p:nvPicPr>
        <p:blipFill>
          <a:blip r:embed="rId3"/>
          <a:stretch>
            <a:fillRect/>
          </a:stretch>
        </p:blipFill>
        <p:spPr>
          <a:xfrm>
            <a:off x="8475064" y="4114800"/>
            <a:ext cx="995885" cy="164591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Brown et al. (2021), Fig. 1(A,B). HVC and recording.</a:t>
            </a:r>
          </a:p>
        </p:txBody>
      </p:sp>
      <p:sp>
        <p:nvSpPr>
          <p:cNvPr id="8" name="Rectangle 7"/>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Brown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Phase and power provide complementary identity signals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594045"/>
                </a:solidFill>
                <a:latin typeface="Arial"/>
              </a:rPr>
              <a:t>Neural decoding</a:t>
            </a:r>
            <a:r>
              <a:rPr sz="1600" b="0" i="0">
                <a:solidFill>
                  <a:srgbClr val="000000"/>
                </a:solidFill>
                <a:latin typeface="Arial"/>
              </a:rPr>
              <a:t> estimates a behavioral variable from recorded brain activity. Brown and colleagues trained classifiers using LFP segments that ended before syllable onset, testing whether neural features predicted the identity of the upcoming vocal element.</a:t>
            </a:r>
          </a:p>
          <a:p>
            <a:pPr algn="l">
              <a:lnSpc>
                <a:spcPct val="108000"/>
              </a:lnSpc>
              <a:spcAft>
                <a:spcPts val="960"/>
              </a:spcAft>
            </a:pPr>
            <a:r>
              <a:rPr sz="1600" b="0" i="0">
                <a:solidFill>
                  <a:srgbClr val="000000"/>
                </a:solidFill>
                <a:latin typeface="Arial"/>
              </a:rPr>
              <a:t>They separated phase-related and power-related information to assess their contributions. Each feature type supported classification above the behavioral chance benchmark, and combining them generally improved performance as information from additional channels was included.</a:t>
            </a:r>
          </a:p>
          <a:p>
            <a:pPr algn="l">
              <a:lnSpc>
                <a:spcPct val="108000"/>
              </a:lnSpc>
              <a:spcAft>
                <a:spcPts val="960"/>
              </a:spcAft>
            </a:pPr>
            <a:r>
              <a:rPr sz="1600" b="0" i="0">
                <a:solidFill>
                  <a:srgbClr val="000000"/>
                </a:solidFill>
                <a:latin typeface="Arial"/>
              </a:rPr>
              <a:t>Different signal properties therefore supplied complementary information about intended vocal output. The classifier learned a relationship between measured neural patterns and labeled actions rather than generating song by itself. The analysis established an information source for interfaces, while its training and testing remained an offline decoding experiment.</a:t>
            </a:r>
          </a:p>
        </p:txBody>
      </p:sp>
      <p:pic>
        <p:nvPicPr>
          <p:cNvPr id="4" name="Picture 3" descr="b_identity.png"/>
          <p:cNvPicPr>
            <a:picLocks noChangeAspect="1"/>
          </p:cNvPicPr>
          <p:nvPr/>
        </p:nvPicPr>
        <p:blipFill>
          <a:blip r:embed="rId2"/>
          <a:stretch>
            <a:fillRect/>
          </a:stretch>
        </p:blipFill>
        <p:spPr>
          <a:xfrm>
            <a:off x="6321247" y="1280160"/>
            <a:ext cx="3474720" cy="3525779"/>
          </a:xfrm>
          <a:prstGeom prst="rect">
            <a:avLst/>
          </a:prstGeom>
        </p:spPr>
      </p:pic>
      <p:sp>
        <p:nvSpPr>
          <p:cNvPr id="5" name="Figure caption"/>
          <p:cNvSpPr txBox="1"/>
          <p:nvPr/>
        </p:nvSpPr>
        <p:spPr>
          <a:xfrm>
            <a:off x="6321247" y="4897379"/>
            <a:ext cx="34747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Brown et al. (2021), Fig. 9(A–C). Phase and power contribute independent syllable identity information.</a:t>
            </a:r>
          </a:p>
        </p:txBody>
      </p:sp>
      <p:pic>
        <p:nvPicPr>
          <p:cNvPr id="6" name="Picture 5" descr="b_anatomy.png"/>
          <p:cNvPicPr>
            <a:picLocks noChangeAspect="1"/>
          </p:cNvPicPr>
          <p:nvPr/>
        </p:nvPicPr>
        <p:blipFill>
          <a:blip r:embed="rId3"/>
          <a:stretch>
            <a:fillRect/>
          </a:stretch>
        </p:blipFill>
        <p:spPr>
          <a:xfrm>
            <a:off x="9978847" y="2148840"/>
            <a:ext cx="1645920" cy="2720244"/>
          </a:xfrm>
          <a:prstGeom prst="rect">
            <a:avLst/>
          </a:prstGeom>
        </p:spPr>
      </p:pic>
      <p:sp>
        <p:nvSpPr>
          <p:cNvPr id="7" name="Figure caption"/>
          <p:cNvSpPr txBox="1"/>
          <p:nvPr/>
        </p:nvSpPr>
        <p:spPr>
          <a:xfrm>
            <a:off x="9978847" y="4942236"/>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Brown et al. (2021), Fig. 1(A,B). HVC and recording.</a:t>
            </a:r>
          </a:p>
        </p:txBody>
      </p:sp>
      <p:sp>
        <p:nvSpPr>
          <p:cNvPr id="8" name="Rectangle 7"/>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Brown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Premotor features predict the onset of a syllable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Predicting which syllable will occur differs from predicting when it begins. Brown and colleagues used neural feature templates to estimate the onset of each syllable within the naturally performed song sequence.</a:t>
            </a:r>
          </a:p>
          <a:p>
            <a:pPr algn="l">
              <a:lnSpc>
                <a:spcPct val="108000"/>
              </a:lnSpc>
              <a:spcAft>
                <a:spcPts val="960"/>
              </a:spcAft>
            </a:pPr>
            <a:r>
              <a:rPr sz="1600" b="0" i="0">
                <a:solidFill>
                  <a:srgbClr val="000000"/>
                </a:solidFill>
                <a:latin typeface="Arial"/>
              </a:rPr>
              <a:t>The features came from causally filtered signals recorded before the acoustic onset. Prediction was compared with a behavioral timing benchmark based on the average onset of that syllable relative to the first syllable of the motif.</a:t>
            </a:r>
          </a:p>
          <a:p>
            <a:pPr algn="l">
              <a:lnSpc>
                <a:spcPct val="108000"/>
              </a:lnSpc>
              <a:spcAft>
                <a:spcPts val="960"/>
              </a:spcAft>
            </a:pPr>
            <a:r>
              <a:rPr sz="1600" b="0" i="0">
                <a:solidFill>
                  <a:srgbClr val="000000"/>
                </a:solidFill>
                <a:latin typeface="Arial"/>
              </a:rPr>
              <a:t>Neural predictions followed rendition-specific timing rather than relying entirely on the stereotyped sequence. This distinction matters for an adaptive interface because a fixed song clock can miss natural timing changes. A measured premotor signal can supply event-specific timing information even when the order of most syllables is predictable.</a:t>
            </a:r>
          </a:p>
        </p:txBody>
      </p:sp>
      <p:pic>
        <p:nvPicPr>
          <p:cNvPr id="4" name="Picture 3" descr="b_onset.png"/>
          <p:cNvPicPr>
            <a:picLocks noChangeAspect="1"/>
          </p:cNvPicPr>
          <p:nvPr/>
        </p:nvPicPr>
        <p:blipFill>
          <a:blip r:embed="rId2"/>
          <a:stretch>
            <a:fillRect/>
          </a:stretch>
        </p:blipFill>
        <p:spPr>
          <a:xfrm>
            <a:off x="6321247" y="1280160"/>
            <a:ext cx="3474720" cy="3768119"/>
          </a:xfrm>
          <a:prstGeom prst="rect">
            <a:avLst/>
          </a:prstGeom>
        </p:spPr>
      </p:pic>
      <p:sp>
        <p:nvSpPr>
          <p:cNvPr id="5" name="Figure caption"/>
          <p:cNvSpPr txBox="1"/>
          <p:nvPr/>
        </p:nvSpPr>
        <p:spPr>
          <a:xfrm>
            <a:off x="6321247" y="5139719"/>
            <a:ext cx="34747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Brown et al. (2021), Fig. 10(A–D). Neural prediction of individual syllable onset times.</a:t>
            </a:r>
          </a:p>
        </p:txBody>
      </p:sp>
      <p:pic>
        <p:nvPicPr>
          <p:cNvPr id="6" name="Picture 5" descr="b_anatomy.png"/>
          <p:cNvPicPr>
            <a:picLocks noChangeAspect="1"/>
          </p:cNvPicPr>
          <p:nvPr/>
        </p:nvPicPr>
        <p:blipFill>
          <a:blip r:embed="rId3"/>
          <a:stretch>
            <a:fillRect/>
          </a:stretch>
        </p:blipFill>
        <p:spPr>
          <a:xfrm>
            <a:off x="9978847" y="2148840"/>
            <a:ext cx="1645920" cy="2720244"/>
          </a:xfrm>
          <a:prstGeom prst="rect">
            <a:avLst/>
          </a:prstGeom>
        </p:spPr>
      </p:pic>
      <p:sp>
        <p:nvSpPr>
          <p:cNvPr id="7" name="Figure caption"/>
          <p:cNvSpPr txBox="1"/>
          <p:nvPr/>
        </p:nvSpPr>
        <p:spPr>
          <a:xfrm>
            <a:off x="9978847" y="4942236"/>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Brown et al. (2021), Fig. 1(A,B). HVC and recording.</a:t>
            </a:r>
          </a:p>
        </p:txBody>
      </p:sp>
      <p:sp>
        <p:nvSpPr>
          <p:cNvPr id="8" name="Rectangle 7"/>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Brown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Branch-point decoding distinguishes singing from stopping</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Some zebra finch performances omitted a syllable or ended a bout before the usual sequence finished. These natural branch points tested whether neural decoding merely reproduced an average song order or reflected the action actually selected.</a:t>
            </a:r>
          </a:p>
          <a:p>
            <a:pPr algn="l">
              <a:lnSpc>
                <a:spcPct val="108000"/>
              </a:lnSpc>
              <a:spcAft>
                <a:spcPts val="960"/>
              </a:spcAft>
            </a:pPr>
            <a:r>
              <a:rPr sz="1600" b="0" i="0">
                <a:solidFill>
                  <a:srgbClr val="000000"/>
                </a:solidFill>
                <a:latin typeface="Arial"/>
              </a:rPr>
              <a:t>Brown and colleagues compared neural prediction confidence when a syllable was produced, skipped, or replaced by termination of the bout. The neural features distinguished these alternatives, including situations where a timing-only model expected a syllable that never occurred.</a:t>
            </a:r>
          </a:p>
          <a:p>
            <a:pPr algn="l">
              <a:lnSpc>
                <a:spcPct val="108000"/>
              </a:lnSpc>
              <a:spcAft>
                <a:spcPts val="960"/>
              </a:spcAft>
            </a:pPr>
            <a:r>
              <a:rPr sz="1600" b="0" i="0">
                <a:solidFill>
                  <a:srgbClr val="000000"/>
                </a:solidFill>
                <a:latin typeface="Arial"/>
              </a:rPr>
              <a:t>An interface based solely on stereotyped sequence timing would confuse an omitted action with a delayed one. Population activity instead carried information about the selected continuation. Adaptive control can therefore benefit from signals related to both action identity and action timing when behavior departs from its most common sequence.</a:t>
            </a:r>
          </a:p>
        </p:txBody>
      </p:sp>
      <p:pic>
        <p:nvPicPr>
          <p:cNvPr id="4" name="Picture 3" descr="b_branch.png"/>
          <p:cNvPicPr>
            <a:picLocks noChangeAspect="1"/>
          </p:cNvPicPr>
          <p:nvPr/>
        </p:nvPicPr>
        <p:blipFill>
          <a:blip r:embed="rId2"/>
          <a:stretch>
            <a:fillRect/>
          </a:stretch>
        </p:blipFill>
        <p:spPr>
          <a:xfrm>
            <a:off x="6321247" y="1280160"/>
            <a:ext cx="5303520" cy="2653697"/>
          </a:xfrm>
          <a:prstGeom prst="rect">
            <a:avLst/>
          </a:prstGeom>
        </p:spPr>
      </p:pic>
      <p:sp>
        <p:nvSpPr>
          <p:cNvPr id="5" name="Figure caption"/>
          <p:cNvSpPr txBox="1"/>
          <p:nvPr/>
        </p:nvSpPr>
        <p:spPr>
          <a:xfrm>
            <a:off x="6321247" y="4025297"/>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Brown et al. (2021), Fig. 11(A–E). Neural decoding distinguishes singing, skipping, and stopping.</a:t>
            </a:r>
          </a:p>
        </p:txBody>
      </p:sp>
      <p:pic>
        <p:nvPicPr>
          <p:cNvPr id="6" name="Picture 5" descr="b_anatomy.png"/>
          <p:cNvPicPr>
            <a:picLocks noChangeAspect="1"/>
          </p:cNvPicPr>
          <p:nvPr/>
        </p:nvPicPr>
        <p:blipFill>
          <a:blip r:embed="rId3"/>
          <a:stretch>
            <a:fillRect/>
          </a:stretch>
        </p:blipFill>
        <p:spPr>
          <a:xfrm>
            <a:off x="8613381" y="4572000"/>
            <a:ext cx="719250" cy="118871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Brown et al. (2021), Fig. 1(A,B). HVC and recording.</a:t>
            </a:r>
          </a:p>
        </p:txBody>
      </p:sp>
      <p:sp>
        <p:nvSpPr>
          <p:cNvPr id="8" name="Rectangle 7"/>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Brown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Acoustic decoding enables sequence-contingent feedback</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Kawaji and colleagues developed </a:t>
            </a:r>
            <a:r>
              <a:rPr sz="1600" b="1" i="0">
                <a:solidFill>
                  <a:srgbClr val="594045"/>
                </a:solidFill>
                <a:latin typeface="Arial"/>
              </a:rPr>
              <a:t>SAIBS</a:t>
            </a:r>
            <a:r>
              <a:rPr sz="1600" b="0" i="0">
                <a:solidFill>
                  <a:srgbClr val="000000"/>
                </a:solidFill>
                <a:latin typeface="Arial"/>
              </a:rPr>
              <a:t>, a simultaneous automatic interpreter for birdsongs, to identify syllable sequences from ongoing audio. The system learned categories from each bird’s recorded song and used a </a:t>
            </a:r>
            <a:r>
              <a:rPr sz="1600" b="1" i="0">
                <a:solidFill>
                  <a:srgbClr val="594045"/>
                </a:solidFill>
                <a:latin typeface="Arial"/>
              </a:rPr>
              <a:t>convolutional neural network</a:t>
            </a:r>
            <a:r>
              <a:rPr sz="1600" b="0" i="0">
                <a:solidFill>
                  <a:srgbClr val="000000"/>
                </a:solidFill>
                <a:latin typeface="Arial"/>
              </a:rPr>
              <a:t>, a classifier that extracts local patterns from input data.</a:t>
            </a:r>
          </a:p>
          <a:p>
            <a:pPr algn="l">
              <a:lnSpc>
                <a:spcPct val="108000"/>
              </a:lnSpc>
              <a:spcAft>
                <a:spcPts val="960"/>
              </a:spcAft>
            </a:pPr>
            <a:r>
              <a:rPr sz="1600" b="0" i="0">
                <a:solidFill>
                  <a:srgbClr val="000000"/>
                </a:solidFill>
                <a:latin typeface="Arial"/>
              </a:rPr>
              <a:t>Annotation computation took about </a:t>
            </a:r>
            <a:r>
              <a:rPr sz="1600" b="1" i="0">
                <a:solidFill>
                  <a:srgbClr val="594045"/>
                </a:solidFill>
                <a:latin typeface="Arial"/>
              </a:rPr>
              <a:t>6 ms</a:t>
            </a:r>
            <a:r>
              <a:rPr sz="1600" b="0" i="0">
                <a:solidFill>
                  <a:srgbClr val="000000"/>
                </a:solidFill>
                <a:latin typeface="Arial"/>
              </a:rPr>
              <a:t> after syllable detection. The measured interval from song completion to feedback presentation was about </a:t>
            </a:r>
            <a:r>
              <a:rPr sz="1600" b="1" i="0">
                <a:solidFill>
                  <a:srgbClr val="594045"/>
                </a:solidFill>
                <a:latin typeface="Arial"/>
              </a:rPr>
              <a:t>109 ms</a:t>
            </a:r>
            <a:r>
              <a:rPr sz="1600" b="0" i="0">
                <a:solidFill>
                  <a:srgbClr val="000000"/>
                </a:solidFill>
                <a:latin typeface="Arial"/>
              </a:rPr>
              <a:t>, allowing consequences to depend on the contents of a completed song.</a:t>
            </a:r>
          </a:p>
          <a:p>
            <a:pPr algn="l">
              <a:lnSpc>
                <a:spcPct val="108000"/>
              </a:lnSpc>
              <a:spcAft>
                <a:spcPts val="960"/>
              </a:spcAft>
            </a:pPr>
            <a:r>
              <a:rPr sz="1600" b="0" i="0">
                <a:solidFill>
                  <a:srgbClr val="000000"/>
                </a:solidFill>
                <a:latin typeface="Arial"/>
              </a:rPr>
              <a:t>SAIBS is an acoustic decoder, not a neural recording device. It complements projection-targeted stimulation by providing a richer behavioral measurement for closed-loop experiments. The system could count repeated syllables and recognize sequences, extending adaptive feedback beyond a single pitch threshold within one vocal element.</a:t>
            </a:r>
          </a:p>
        </p:txBody>
      </p:sp>
      <p:pic>
        <p:nvPicPr>
          <p:cNvPr id="4" name="Picture 3" descr="q_decoder.png"/>
          <p:cNvPicPr>
            <a:picLocks noChangeAspect="1"/>
          </p:cNvPicPr>
          <p:nvPr/>
        </p:nvPicPr>
        <p:blipFill>
          <a:blip r:embed="rId2"/>
          <a:stretch>
            <a:fillRect/>
          </a:stretch>
        </p:blipFill>
        <p:spPr>
          <a:xfrm>
            <a:off x="6321247" y="1280160"/>
            <a:ext cx="5303520" cy="2494300"/>
          </a:xfrm>
          <a:prstGeom prst="rect">
            <a:avLst/>
          </a:prstGeom>
        </p:spPr>
      </p:pic>
      <p:sp>
        <p:nvSpPr>
          <p:cNvPr id="5" name="Figure caption"/>
          <p:cNvSpPr txBox="1"/>
          <p:nvPr/>
        </p:nvSpPr>
        <p:spPr>
          <a:xfrm>
            <a:off x="6321247" y="386590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Kawaji et al. (2024), Fig. 1(a–e). Online song segmentation, decoding, and annotation agreement.</a:t>
            </a:r>
          </a:p>
        </p:txBody>
      </p:sp>
      <p:sp>
        <p:nvSpPr>
          <p:cNvPr id="6" name="Rectangle 5"/>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Kawaji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Social video reinforcement increases syllable repetition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594045"/>
                </a:solidFill>
                <a:latin typeface="Arial"/>
              </a:rPr>
              <a:t>Operant conditioning</a:t>
            </a:r>
            <a:r>
              <a:rPr sz="1600" b="0" i="0">
                <a:solidFill>
                  <a:srgbClr val="000000"/>
                </a:solidFill>
                <a:latin typeface="Arial"/>
              </a:rPr>
              <a:t> changes behavior through consequences contingent on an action. Kawaji and colleagues counted repetitions of a target syllable in Bengalese finch song and presented an original conspecific video when the count crossed a selected threshold.</a:t>
            </a:r>
          </a:p>
          <a:p>
            <a:pPr algn="l">
              <a:lnSpc>
                <a:spcPct val="108000"/>
              </a:lnSpc>
              <a:spcAft>
                <a:spcPts val="960"/>
              </a:spcAft>
            </a:pPr>
            <a:r>
              <a:rPr sz="1600" b="1" i="0">
                <a:solidFill>
                  <a:srgbClr val="594045"/>
                </a:solidFill>
                <a:latin typeface="Arial"/>
              </a:rPr>
              <a:t>Conspecific</a:t>
            </a:r>
            <a:r>
              <a:rPr sz="1600" b="0" i="0">
                <a:solidFill>
                  <a:srgbClr val="000000"/>
                </a:solidFill>
                <a:latin typeface="Arial"/>
              </a:rPr>
              <a:t> means an individual of the same species. The social stimulus elicited approaches, singing, and feather erection in preliminary observations. Under repetition-contingent presentation, birds increased the occurrence of songs containing enough repetitions to meet the criterion.</a:t>
            </a:r>
          </a:p>
          <a:p>
            <a:pPr algn="l">
              <a:lnSpc>
                <a:spcPct val="108000"/>
              </a:lnSpc>
              <a:spcAft>
                <a:spcPts val="960"/>
              </a:spcAft>
            </a:pPr>
            <a:r>
              <a:rPr sz="1600" b="0" i="0">
                <a:solidFill>
                  <a:srgbClr val="000000"/>
                </a:solidFill>
                <a:latin typeface="Arial"/>
              </a:rPr>
              <a:t>Comparable nonsocial visual feedback failed to produce the same increase. The reinforcing effect therefore depended on the social content rather than merely the arrival of a visual event. Closed-loop feedback can select a sequence property through a behaviorally meaningful consequence, broadening adaptive song control beyond punishment by noise.</a:t>
            </a:r>
          </a:p>
        </p:txBody>
      </p:sp>
      <p:pic>
        <p:nvPicPr>
          <p:cNvPr id="4" name="Picture 3" descr="q_social.png"/>
          <p:cNvPicPr>
            <a:picLocks noChangeAspect="1"/>
          </p:cNvPicPr>
          <p:nvPr/>
        </p:nvPicPr>
        <p:blipFill>
          <a:blip r:embed="rId2"/>
          <a:stretch>
            <a:fillRect/>
          </a:stretch>
        </p:blipFill>
        <p:spPr>
          <a:xfrm>
            <a:off x="6385255" y="1261872"/>
            <a:ext cx="5303520" cy="1620321"/>
          </a:xfrm>
          <a:prstGeom prst="rect">
            <a:avLst/>
          </a:prstGeom>
        </p:spPr>
      </p:pic>
      <p:sp>
        <p:nvSpPr>
          <p:cNvPr id="5" name="Figure caption"/>
          <p:cNvSpPr txBox="1"/>
          <p:nvPr/>
        </p:nvSpPr>
        <p:spPr>
          <a:xfrm>
            <a:off x="6321247" y="2973633"/>
            <a:ext cx="5303520" cy="41148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Kawaji et al. (2024), Fig. 2(a,b). Social reinforcement increases target syllable repetition.</a:t>
            </a:r>
          </a:p>
        </p:txBody>
      </p:sp>
      <p:sp>
        <p:nvSpPr>
          <p:cNvPr id="6" name="Rectangle 5"/>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Kawaji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43</a:t>
            </a:r>
          </a:p>
        </p:txBody>
      </p:sp>
      <p:pic>
        <p:nvPicPr>
          <p:cNvPr id="9" name="Picture 8" descr="kawaji_poster.png"/>
          <p:cNvPicPr>
            <a:picLocks noChangeAspect="1"/>
          </p:cNvPicPr>
          <p:nvPr/>
        </p:nvPicPr>
        <p:blipFill>
          <a:blip r:embed="rId4"/>
          <a:stretch>
            <a:fillRect/>
          </a:stretch>
        </p:blipFill>
        <p:spPr>
          <a:xfrm>
            <a:off x="7167575" y="3749039"/>
            <a:ext cx="3738879" cy="2103120"/>
          </a:xfrm>
          <a:prstGeom prst="rect">
            <a:avLst/>
          </a:prstGeom>
        </p:spPr>
      </p:pic>
      <p:pic>
        <p:nvPicPr>
          <p:cNvPr id="10" name="Kawaji et al. (2024), Supplementary Movie 1. Original conspecific video used as a social stimulus. (embedded;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167575" y="3749039"/>
            <a:ext cx="3738879" cy="2103120"/>
          </a:xfrm>
          <a:prstGeom prst="rect">
            <a:avLst/>
          </a:prstGeom>
        </p:spPr>
      </p:pic>
      <p:sp>
        <p:nvSpPr>
          <p:cNvPr id="11" name="TextBox 10"/>
          <p:cNvSpPr txBox="1"/>
          <p:nvPr/>
        </p:nvSpPr>
        <p:spPr>
          <a:xfrm>
            <a:off x="6385255" y="5925312"/>
            <a:ext cx="5303520" cy="310896"/>
          </a:xfrm>
          <a:prstGeom prst="rect">
            <a:avLst/>
          </a:prstGeom>
          <a:noFill/>
        </p:spPr>
        <p:txBody>
          <a:bodyPr wrap="square" tIns="0" bIns="0" lIns="0" rIns="0">
            <a:spAutoFit/>
          </a:bodyPr>
          <a:lstStyle/>
          <a:p>
            <a:r>
              <a:rPr sz="900">
                <a:solidFill>
                  <a:srgbClr val="000000"/>
                </a:solidFill>
                <a:latin typeface="Arial"/>
              </a:rPr>
              <a:t>Kawaji et al. (2024), Supplementary Movie 1. Original conspecific video used as a social stimulus.</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A learned visual context changes song without new reward</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Bengalese finches alternated between days when sufficient target repetition produced a social video and days when it produced no reward. Repetition increased under the reward condition and declined under the no-reward condition.</a:t>
            </a:r>
          </a:p>
          <a:p>
            <a:pPr algn="l">
              <a:lnSpc>
                <a:spcPct val="108000"/>
              </a:lnSpc>
              <a:spcAft>
                <a:spcPts val="1019"/>
              </a:spcAft>
            </a:pPr>
            <a:r>
              <a:rPr sz="1700" b="0" i="0">
                <a:solidFill>
                  <a:srgbClr val="000000"/>
                </a:solidFill>
                <a:latin typeface="Arial"/>
              </a:rPr>
              <a:t>Kawaji and colleagues associated those rules with different frame colors on the monitor. In subsequent tests, the birds altered repetition according to the trained color even when the video reward was withheld in both conditions.</a:t>
            </a:r>
          </a:p>
          <a:p>
            <a:pPr algn="l">
              <a:lnSpc>
                <a:spcPct val="108000"/>
              </a:lnSpc>
              <a:spcAft>
                <a:spcPts val="1019"/>
              </a:spcAft>
            </a:pPr>
            <a:r>
              <a:rPr sz="1700" b="0" i="0">
                <a:solidFill>
                  <a:srgbClr val="000000"/>
                </a:solidFill>
                <a:latin typeface="Arial"/>
              </a:rPr>
              <a:t>The change emerged within </a:t>
            </a:r>
            <a:r>
              <a:rPr sz="1700" b="1" i="0">
                <a:solidFill>
                  <a:srgbClr val="594045"/>
                </a:solidFill>
                <a:latin typeface="Arial"/>
              </a:rPr>
              <a:t>10 minutes</a:t>
            </a:r>
            <a:r>
              <a:rPr sz="1700" b="0" i="0">
                <a:solidFill>
                  <a:srgbClr val="000000"/>
                </a:solidFill>
                <a:latin typeface="Arial"/>
              </a:rPr>
              <a:t> after the visual context switched. A </a:t>
            </a:r>
            <a:r>
              <a:rPr sz="1700" b="1" i="0">
                <a:solidFill>
                  <a:srgbClr val="594045"/>
                </a:solidFill>
                <a:latin typeface="Arial"/>
              </a:rPr>
              <a:t>context cue</a:t>
            </a:r>
            <a:r>
              <a:rPr sz="1700" b="0" i="0">
                <a:solidFill>
                  <a:srgbClr val="000000"/>
                </a:solidFill>
                <a:latin typeface="Arial"/>
              </a:rPr>
              <a:t> identifies which learned rule currently applies. The birds therefore used a learned external cue to adjust song structure, rather than requiring a fresh reward after every performance to maintain the condition-dependent difference.</a:t>
            </a:r>
          </a:p>
        </p:txBody>
      </p:sp>
      <p:pic>
        <p:nvPicPr>
          <p:cNvPr id="4" name="Picture 3" descr="q_context.png"/>
          <p:cNvPicPr>
            <a:picLocks noChangeAspect="1"/>
          </p:cNvPicPr>
          <p:nvPr/>
        </p:nvPicPr>
        <p:blipFill>
          <a:blip r:embed="rId2"/>
          <a:stretch>
            <a:fillRect/>
          </a:stretch>
        </p:blipFill>
        <p:spPr>
          <a:xfrm>
            <a:off x="6321247" y="1280160"/>
            <a:ext cx="5303520" cy="3930382"/>
          </a:xfrm>
          <a:prstGeom prst="rect">
            <a:avLst/>
          </a:prstGeom>
        </p:spPr>
      </p:pic>
      <p:sp>
        <p:nvSpPr>
          <p:cNvPr id="5" name="Figure caption"/>
          <p:cNvSpPr txBox="1"/>
          <p:nvPr/>
        </p:nvSpPr>
        <p:spPr>
          <a:xfrm>
            <a:off x="6321247" y="530198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Kawaji et al. (2024), Fig. 4(a–i). Repetition follows trained reward conditions and visual context cues.</a:t>
            </a:r>
          </a:p>
        </p:txBody>
      </p:sp>
      <p:sp>
        <p:nvSpPr>
          <p:cNvPr id="6" name="Rectangle 5"/>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Kawaji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Area X supports flexible use of the learned sequence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Kawaji and colleagues tested the contribution of Area X after Bengalese finches had learned repetition-contingent reward rules. </a:t>
            </a:r>
            <a:r>
              <a:rPr sz="1500" b="1" i="0">
                <a:solidFill>
                  <a:srgbClr val="594045"/>
                </a:solidFill>
                <a:latin typeface="Arial"/>
              </a:rPr>
              <a:t>Ablation</a:t>
            </a:r>
            <a:r>
              <a:rPr sz="1500" b="0" i="0">
                <a:solidFill>
                  <a:srgbClr val="000000"/>
                </a:solidFill>
                <a:latin typeface="Arial"/>
              </a:rPr>
              <a:t> removed the targeted nucleus using an excitotoxic intervention, and histology verified the affected region.</a:t>
            </a:r>
          </a:p>
          <a:p>
            <a:pPr algn="l">
              <a:lnSpc>
                <a:spcPct val="108000"/>
              </a:lnSpc>
              <a:spcAft>
                <a:spcPts val="900"/>
              </a:spcAft>
            </a:pPr>
            <a:r>
              <a:rPr sz="1500" b="0" i="0">
                <a:solidFill>
                  <a:srgbClr val="000000"/>
                </a:solidFill>
                <a:latin typeface="Arial"/>
              </a:rPr>
              <a:t>After Area X ablation, target repetition decreased toward the preconditioning level. Further reward and no-reward training failed to restore the normal condition-dependent difference, while much of the existing syllable transition structure remained recognizable.</a:t>
            </a:r>
          </a:p>
          <a:p>
            <a:pPr algn="l">
              <a:lnSpc>
                <a:spcPct val="108000"/>
              </a:lnSpc>
              <a:spcAft>
                <a:spcPts val="900"/>
              </a:spcAft>
            </a:pPr>
            <a:r>
              <a:rPr sz="1500" b="0" i="0">
                <a:solidFill>
                  <a:srgbClr val="000000"/>
                </a:solidFill>
                <a:latin typeface="Arial"/>
              </a:rPr>
              <a:t>The basal-ganglia contribution therefore extended from adjustment of syllable pitch to flexible use of song sequences. Established vocal structure and context-sensitive adaptation had different dependencies. Together with the dopamine experiments, the result places reinforcement-sensitive song control within circuits that link evaluation to the selection of future vocal actions.</a:t>
            </a:r>
          </a:p>
        </p:txBody>
      </p:sp>
      <p:pic>
        <p:nvPicPr>
          <p:cNvPr id="4" name="Picture 3" descr="q_area_x.png"/>
          <p:cNvPicPr>
            <a:picLocks noChangeAspect="1"/>
          </p:cNvPicPr>
          <p:nvPr/>
        </p:nvPicPr>
        <p:blipFill>
          <a:blip r:embed="rId2"/>
          <a:stretch>
            <a:fillRect/>
          </a:stretch>
        </p:blipFill>
        <p:spPr>
          <a:xfrm>
            <a:off x="6321247" y="1280160"/>
            <a:ext cx="5303520" cy="3121398"/>
          </a:xfrm>
          <a:prstGeom prst="rect">
            <a:avLst/>
          </a:prstGeom>
        </p:spPr>
      </p:pic>
      <p:sp>
        <p:nvSpPr>
          <p:cNvPr id="5" name="Figure caption"/>
          <p:cNvSpPr txBox="1"/>
          <p:nvPr/>
        </p:nvSpPr>
        <p:spPr>
          <a:xfrm>
            <a:off x="6321247" y="4492998"/>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Kawaji et al. (2024), Fig. 5(a–d). Area X ablation preserves repetition but removes contextual flexibility.</a:t>
            </a:r>
          </a:p>
        </p:txBody>
      </p:sp>
      <p:sp>
        <p:nvSpPr>
          <p:cNvPr id="6" name="Rectangle 5"/>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Kawaji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Key takeaways</a:t>
            </a:r>
          </a:p>
        </p:txBody>
      </p:sp>
      <p:sp>
        <p:nvSpPr>
          <p:cNvPr id="3" name="Rectangle 2"/>
          <p:cNvSpPr/>
          <p:nvPr/>
        </p:nvSpPr>
        <p:spPr>
          <a:xfrm>
            <a:off x="566928" y="1234440"/>
            <a:ext cx="5391759" cy="1478279"/>
          </a:xfrm>
          <a:prstGeom prst="rect">
            <a:avLst/>
          </a:prstGeom>
          <a:solidFill>
            <a:srgbClr val="F6F3F4"/>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94045"/>
                </a:solidFill>
                <a:latin typeface="Arial"/>
              </a:rPr>
              <a:t>Closed-loop contingencies</a:t>
            </a:r>
            <a:r>
              <a:rPr sz="1600" b="0" i="0">
                <a:solidFill>
                  <a:srgbClr val="000000"/>
                </a:solidFill>
                <a:latin typeface="Arial"/>
              </a:rPr>
              <a:t> Select particular vocal variants by linking measured performance to an immediate consequence.</a:t>
            </a:r>
          </a:p>
        </p:txBody>
      </p:sp>
      <p:sp>
        <p:nvSpPr>
          <p:cNvPr id="5" name="Rectangle 4"/>
          <p:cNvSpPr/>
          <p:nvPr/>
        </p:nvSpPr>
        <p:spPr>
          <a:xfrm>
            <a:off x="6233007" y="1234440"/>
            <a:ext cx="5391759" cy="1478279"/>
          </a:xfrm>
          <a:prstGeom prst="rect">
            <a:avLst/>
          </a:prstGeom>
          <a:solidFill>
            <a:srgbClr val="F6F3F4"/>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94045"/>
                </a:solidFill>
                <a:latin typeface="Arial"/>
              </a:rPr>
              <a:t>Performance prediction errors</a:t>
            </a:r>
            <a:r>
              <a:rPr sz="1600" b="0" i="0">
                <a:solidFill>
                  <a:srgbClr val="000000"/>
                </a:solidFill>
                <a:latin typeface="Arial"/>
              </a:rPr>
              <a:t> VTA-to-Area X neurons decrease firing after distortion and increase it after an unexpectedly undistorted syllable.</a:t>
            </a:r>
          </a:p>
        </p:txBody>
      </p:sp>
      <p:sp>
        <p:nvSpPr>
          <p:cNvPr id="7" name="Rectangle 6"/>
          <p:cNvSpPr/>
          <p:nvPr/>
        </p:nvSpPr>
        <p:spPr>
          <a:xfrm>
            <a:off x="566928" y="2987040"/>
            <a:ext cx="5391759" cy="1478279"/>
          </a:xfrm>
          <a:prstGeom prst="rect">
            <a:avLst/>
          </a:prstGeom>
          <a:solidFill>
            <a:srgbClr val="F6F3F4"/>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94045"/>
                </a:solidFill>
                <a:latin typeface="Arial"/>
              </a:rPr>
              <a:t>Dopamine-dependent learning</a:t>
            </a:r>
            <a:r>
              <a:rPr sz="1600" b="0" i="0">
                <a:solidFill>
                  <a:srgbClr val="000000"/>
                </a:solidFill>
                <a:latin typeface="Arial"/>
              </a:rPr>
              <a:t> Contingent excitation and inhibition drive opposite pitch changes; D1 signaling in Area X supports adult adjustment and juvenile copying.</a:t>
            </a:r>
          </a:p>
        </p:txBody>
      </p:sp>
      <p:sp>
        <p:nvSpPr>
          <p:cNvPr id="9" name="Rectangle 8"/>
          <p:cNvSpPr/>
          <p:nvPr/>
        </p:nvSpPr>
        <p:spPr>
          <a:xfrm>
            <a:off x="6233007" y="2987040"/>
            <a:ext cx="5391759" cy="1478279"/>
          </a:xfrm>
          <a:prstGeom prst="rect">
            <a:avLst/>
          </a:prstGeom>
          <a:solidFill>
            <a:srgbClr val="F6F3F4"/>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94045"/>
                </a:solidFill>
                <a:latin typeface="Arial"/>
              </a:rPr>
              <a:t>Distinct circuit timing</a:t>
            </a:r>
            <a:r>
              <a:rPr sz="1600" b="0" i="0">
                <a:solidFill>
                  <a:srgbClr val="000000"/>
                </a:solidFill>
                <a:latin typeface="Arial"/>
              </a:rPr>
              <a:t> Aiv and VP contribute during feedback evaluation, whereas LMAN contributes during the premotor window.</a:t>
            </a:r>
          </a:p>
        </p:txBody>
      </p:sp>
      <p:sp>
        <p:nvSpPr>
          <p:cNvPr id="11" name="Rectangle 10"/>
          <p:cNvSpPr/>
          <p:nvPr/>
        </p:nvSpPr>
        <p:spPr>
          <a:xfrm>
            <a:off x="566928" y="4739640"/>
            <a:ext cx="5391759" cy="1478279"/>
          </a:xfrm>
          <a:prstGeom prst="rect">
            <a:avLst/>
          </a:prstGeom>
          <a:solidFill>
            <a:srgbClr val="F6F3F4"/>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94045"/>
                </a:solidFill>
                <a:latin typeface="Arial"/>
              </a:rPr>
              <a:t>Neural decoding</a:t>
            </a:r>
            <a:r>
              <a:rPr sz="1600" b="0" i="0">
                <a:solidFill>
                  <a:srgbClr val="000000"/>
                </a:solidFill>
                <a:latin typeface="Arial"/>
              </a:rPr>
              <a:t> LFP phase and power predict syllable identity and timing; offline prediction must be distinguished from a tested real-time controller.</a:t>
            </a:r>
          </a:p>
        </p:txBody>
      </p:sp>
      <p:sp>
        <p:nvSpPr>
          <p:cNvPr id="13" name="Rectangle 12"/>
          <p:cNvSpPr/>
          <p:nvPr/>
        </p:nvSpPr>
        <p:spPr>
          <a:xfrm>
            <a:off x="6233007" y="4739640"/>
            <a:ext cx="5391759" cy="1478279"/>
          </a:xfrm>
          <a:prstGeom prst="rect">
            <a:avLst/>
          </a:prstGeom>
          <a:solidFill>
            <a:srgbClr val="F6F3F4"/>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94045"/>
                </a:solidFill>
                <a:latin typeface="Arial"/>
              </a:rPr>
              <a:t>Flexible sequence control</a:t>
            </a:r>
            <a:r>
              <a:rPr sz="1600" b="0" i="0">
                <a:solidFill>
                  <a:srgbClr val="000000"/>
                </a:solidFill>
                <a:latin typeface="Arial"/>
              </a:rPr>
              <a:t> Social reinforcement and learned context cues alter repetition, while Area X supports the adaptation of song to those conditions.</a:t>
            </a:r>
          </a:p>
        </p:txBody>
      </p:sp>
      <p:sp>
        <p:nvSpPr>
          <p:cNvPr id="15" name="Rectangle 14"/>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Tumer &amp; Brainard (2007); Gadagkar et al. (2016); Hisey et al. (2018); Kearney et al. (2019); Brown et al. (2021); Kawaji et al. (2024)</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Songbirds II: Closed-loop neural interfaces, dopamine reinforcement, and adaptive control of song</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